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9"/>
  </p:notesMasterIdLst>
  <p:sldIdLst>
    <p:sldId id="379" r:id="rId2"/>
    <p:sldId id="381" r:id="rId3"/>
    <p:sldId id="382" r:id="rId4"/>
    <p:sldId id="383" r:id="rId5"/>
    <p:sldId id="388" r:id="rId6"/>
    <p:sldId id="384" r:id="rId7"/>
    <p:sldId id="385" r:id="rId8"/>
    <p:sldId id="386" r:id="rId9"/>
    <p:sldId id="387" r:id="rId10"/>
    <p:sldId id="389" r:id="rId11"/>
    <p:sldId id="390" r:id="rId12"/>
    <p:sldId id="391" r:id="rId13"/>
    <p:sldId id="392" r:id="rId14"/>
    <p:sldId id="393" r:id="rId15"/>
    <p:sldId id="394" r:id="rId16"/>
    <p:sldId id="396" r:id="rId17"/>
    <p:sldId id="397" r:id="rId18"/>
    <p:sldId id="398" r:id="rId19"/>
    <p:sldId id="399" r:id="rId20"/>
    <p:sldId id="400" r:id="rId21"/>
    <p:sldId id="401" r:id="rId22"/>
    <p:sldId id="402" r:id="rId23"/>
    <p:sldId id="403" r:id="rId24"/>
    <p:sldId id="404" r:id="rId25"/>
    <p:sldId id="405" r:id="rId26"/>
    <p:sldId id="406" r:id="rId27"/>
    <p:sldId id="407" r:id="rId28"/>
    <p:sldId id="408" r:id="rId29"/>
    <p:sldId id="409" r:id="rId30"/>
    <p:sldId id="410" r:id="rId31"/>
    <p:sldId id="411" r:id="rId32"/>
    <p:sldId id="395" r:id="rId33"/>
    <p:sldId id="412" r:id="rId34"/>
    <p:sldId id="413" r:id="rId35"/>
    <p:sldId id="414" r:id="rId36"/>
    <p:sldId id="415" r:id="rId37"/>
    <p:sldId id="416" r:id="rId38"/>
    <p:sldId id="417" r:id="rId39"/>
    <p:sldId id="418" r:id="rId40"/>
    <p:sldId id="419" r:id="rId41"/>
    <p:sldId id="420" r:id="rId42"/>
    <p:sldId id="421" r:id="rId43"/>
    <p:sldId id="422" r:id="rId44"/>
    <p:sldId id="423" r:id="rId45"/>
    <p:sldId id="425" r:id="rId46"/>
    <p:sldId id="424" r:id="rId47"/>
    <p:sldId id="427" r:id="rId48"/>
    <p:sldId id="426" r:id="rId49"/>
    <p:sldId id="429" r:id="rId50"/>
    <p:sldId id="428" r:id="rId51"/>
    <p:sldId id="430" r:id="rId52"/>
    <p:sldId id="431" r:id="rId53"/>
    <p:sldId id="432" r:id="rId54"/>
    <p:sldId id="433" r:id="rId55"/>
    <p:sldId id="434" r:id="rId56"/>
    <p:sldId id="435" r:id="rId57"/>
    <p:sldId id="436" r:id="rId58"/>
    <p:sldId id="438" r:id="rId59"/>
    <p:sldId id="437" r:id="rId60"/>
    <p:sldId id="439" r:id="rId61"/>
    <p:sldId id="440" r:id="rId62"/>
    <p:sldId id="441" r:id="rId63"/>
    <p:sldId id="442" r:id="rId64"/>
    <p:sldId id="443" r:id="rId65"/>
    <p:sldId id="444" r:id="rId66"/>
    <p:sldId id="445" r:id="rId67"/>
    <p:sldId id="446" r:id="rId68"/>
    <p:sldId id="447" r:id="rId69"/>
    <p:sldId id="448" r:id="rId70"/>
    <p:sldId id="449" r:id="rId71"/>
    <p:sldId id="450" r:id="rId72"/>
    <p:sldId id="451" r:id="rId73"/>
    <p:sldId id="452" r:id="rId74"/>
    <p:sldId id="453" r:id="rId75"/>
    <p:sldId id="454" r:id="rId76"/>
    <p:sldId id="455" r:id="rId77"/>
    <p:sldId id="456" r:id="rId78"/>
    <p:sldId id="458" r:id="rId79"/>
    <p:sldId id="459" r:id="rId80"/>
    <p:sldId id="460" r:id="rId81"/>
    <p:sldId id="461" r:id="rId82"/>
    <p:sldId id="463" r:id="rId83"/>
    <p:sldId id="462" r:id="rId84"/>
    <p:sldId id="464" r:id="rId85"/>
    <p:sldId id="465" r:id="rId86"/>
    <p:sldId id="466" r:id="rId87"/>
    <p:sldId id="467" r:id="rId88"/>
    <p:sldId id="468" r:id="rId89"/>
    <p:sldId id="469" r:id="rId90"/>
    <p:sldId id="470" r:id="rId91"/>
    <p:sldId id="471" r:id="rId92"/>
    <p:sldId id="472" r:id="rId93"/>
    <p:sldId id="473" r:id="rId94"/>
    <p:sldId id="474" r:id="rId95"/>
    <p:sldId id="475" r:id="rId96"/>
    <p:sldId id="476" r:id="rId97"/>
    <p:sldId id="477" r:id="rId98"/>
    <p:sldId id="478" r:id="rId99"/>
    <p:sldId id="479" r:id="rId100"/>
    <p:sldId id="480" r:id="rId101"/>
    <p:sldId id="481" r:id="rId102"/>
    <p:sldId id="482" r:id="rId103"/>
    <p:sldId id="483" r:id="rId104"/>
    <p:sldId id="484" r:id="rId105"/>
    <p:sldId id="485" r:id="rId106"/>
    <p:sldId id="486" r:id="rId107"/>
    <p:sldId id="487" r:id="rId108"/>
    <p:sldId id="488" r:id="rId109"/>
    <p:sldId id="489" r:id="rId110"/>
    <p:sldId id="493" r:id="rId111"/>
    <p:sldId id="494" r:id="rId112"/>
    <p:sldId id="495" r:id="rId113"/>
    <p:sldId id="496" r:id="rId114"/>
    <p:sldId id="497" r:id="rId115"/>
    <p:sldId id="498" r:id="rId116"/>
    <p:sldId id="499" r:id="rId117"/>
    <p:sldId id="500" r:id="rId118"/>
    <p:sldId id="501" r:id="rId119"/>
    <p:sldId id="502" r:id="rId120"/>
    <p:sldId id="503" r:id="rId121"/>
    <p:sldId id="504" r:id="rId122"/>
    <p:sldId id="505" r:id="rId123"/>
    <p:sldId id="506" r:id="rId124"/>
    <p:sldId id="507" r:id="rId125"/>
    <p:sldId id="508" r:id="rId126"/>
    <p:sldId id="509" r:id="rId127"/>
    <p:sldId id="510" r:id="rId128"/>
    <p:sldId id="511" r:id="rId129"/>
    <p:sldId id="512" r:id="rId130"/>
    <p:sldId id="513" r:id="rId131"/>
    <p:sldId id="514" r:id="rId132"/>
    <p:sldId id="515" r:id="rId133"/>
    <p:sldId id="517" r:id="rId134"/>
    <p:sldId id="518" r:id="rId135"/>
    <p:sldId id="516" r:id="rId136"/>
    <p:sldId id="519" r:id="rId137"/>
    <p:sldId id="520" r:id="rId138"/>
    <p:sldId id="521" r:id="rId139"/>
    <p:sldId id="522" r:id="rId140"/>
    <p:sldId id="523" r:id="rId141"/>
    <p:sldId id="524" r:id="rId142"/>
    <p:sldId id="525" r:id="rId143"/>
    <p:sldId id="526" r:id="rId144"/>
    <p:sldId id="527" r:id="rId145"/>
    <p:sldId id="528" r:id="rId146"/>
    <p:sldId id="529" r:id="rId147"/>
    <p:sldId id="530" r:id="rId148"/>
    <p:sldId id="531" r:id="rId149"/>
    <p:sldId id="532" r:id="rId150"/>
    <p:sldId id="533" r:id="rId151"/>
    <p:sldId id="534" r:id="rId152"/>
    <p:sldId id="535" r:id="rId153"/>
    <p:sldId id="536" r:id="rId154"/>
    <p:sldId id="537" r:id="rId155"/>
    <p:sldId id="538" r:id="rId156"/>
    <p:sldId id="539" r:id="rId157"/>
    <p:sldId id="545" r:id="rId158"/>
    <p:sldId id="540" r:id="rId159"/>
    <p:sldId id="541" r:id="rId160"/>
    <p:sldId id="542" r:id="rId161"/>
    <p:sldId id="543" r:id="rId162"/>
    <p:sldId id="544" r:id="rId163"/>
    <p:sldId id="561" r:id="rId164"/>
    <p:sldId id="562" r:id="rId165"/>
    <p:sldId id="563" r:id="rId166"/>
    <p:sldId id="564" r:id="rId167"/>
    <p:sldId id="565" r:id="rId168"/>
    <p:sldId id="546" r:id="rId169"/>
    <p:sldId id="547" r:id="rId170"/>
    <p:sldId id="548" r:id="rId171"/>
    <p:sldId id="549" r:id="rId172"/>
    <p:sldId id="550" r:id="rId173"/>
    <p:sldId id="551" r:id="rId174"/>
    <p:sldId id="552" r:id="rId175"/>
    <p:sldId id="553" r:id="rId176"/>
    <p:sldId id="554" r:id="rId177"/>
    <p:sldId id="555" r:id="rId178"/>
    <p:sldId id="556" r:id="rId179"/>
    <p:sldId id="557" r:id="rId180"/>
    <p:sldId id="558" r:id="rId181"/>
    <p:sldId id="559" r:id="rId182"/>
    <p:sldId id="566" r:id="rId183"/>
    <p:sldId id="567" r:id="rId184"/>
    <p:sldId id="568" r:id="rId185"/>
    <p:sldId id="569" r:id="rId186"/>
    <p:sldId id="560" r:id="rId187"/>
    <p:sldId id="570" r:id="rId1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5307B79-9052-45AF-9247-F0AA5643A216}">
          <p14:sldIdLst>
            <p14:sldId id="379"/>
            <p14:sldId id="381"/>
            <p14:sldId id="382"/>
            <p14:sldId id="383"/>
            <p14:sldId id="388"/>
            <p14:sldId id="384"/>
            <p14:sldId id="385"/>
            <p14:sldId id="386"/>
            <p14:sldId id="387"/>
            <p14:sldId id="389"/>
            <p14:sldId id="390"/>
            <p14:sldId id="391"/>
            <p14:sldId id="392"/>
            <p14:sldId id="393"/>
            <p14:sldId id="394"/>
          </p14:sldIdLst>
        </p14:section>
        <p14:section name="Физический уровень" id="{7D3D2566-0498-4CAD-9A45-BCA8D31D1BEF}">
          <p14:sldIdLst>
            <p14:sldId id="396"/>
            <p14:sldId id="397"/>
            <p14:sldId id="398"/>
            <p14:sldId id="399"/>
            <p14:sldId id="400"/>
            <p14:sldId id="401"/>
            <p14:sldId id="402"/>
            <p14:sldId id="403"/>
            <p14:sldId id="404"/>
            <p14:sldId id="405"/>
            <p14:sldId id="406"/>
            <p14:sldId id="407"/>
            <p14:sldId id="408"/>
            <p14:sldId id="409"/>
            <p14:sldId id="410"/>
            <p14:sldId id="411"/>
            <p14:sldId id="395"/>
            <p14:sldId id="412"/>
            <p14:sldId id="413"/>
            <p14:sldId id="414"/>
            <p14:sldId id="415"/>
            <p14:sldId id="416"/>
            <p14:sldId id="417"/>
            <p14:sldId id="418"/>
            <p14:sldId id="419"/>
            <p14:sldId id="420"/>
            <p14:sldId id="421"/>
          </p14:sldIdLst>
        </p14:section>
        <p14:section name="Канальный уровень" id="{1B07BDC6-9198-4FAA-B110-7CA562AA855A}">
          <p14:sldIdLst>
            <p14:sldId id="422"/>
            <p14:sldId id="423"/>
            <p14:sldId id="425"/>
            <p14:sldId id="424"/>
            <p14:sldId id="427"/>
            <p14:sldId id="426"/>
            <p14:sldId id="429"/>
            <p14:sldId id="428"/>
            <p14:sldId id="430"/>
            <p14:sldId id="431"/>
            <p14:sldId id="432"/>
            <p14:sldId id="433"/>
            <p14:sldId id="434"/>
            <p14:sldId id="435"/>
            <p14:sldId id="436"/>
            <p14:sldId id="438"/>
            <p14:sldId id="437"/>
            <p14:sldId id="439"/>
            <p14:sldId id="440"/>
            <p14:sldId id="441"/>
            <p14:sldId id="442"/>
            <p14:sldId id="443"/>
            <p14:sldId id="444"/>
            <p14:sldId id="445"/>
            <p14:sldId id="446"/>
            <p14:sldId id="447"/>
            <p14:sldId id="448"/>
            <p14:sldId id="449"/>
            <p14:sldId id="450"/>
            <p14:sldId id="451"/>
            <p14:sldId id="452"/>
            <p14:sldId id="453"/>
            <p14:sldId id="454"/>
            <p14:sldId id="455"/>
            <p14:sldId id="456"/>
            <p14:sldId id="458"/>
            <p14:sldId id="459"/>
            <p14:sldId id="460"/>
            <p14:sldId id="461"/>
            <p14:sldId id="463"/>
            <p14:sldId id="462"/>
            <p14:sldId id="464"/>
            <p14:sldId id="465"/>
            <p14:sldId id="466"/>
            <p14:sldId id="467"/>
            <p14:sldId id="468"/>
            <p14:sldId id="469"/>
            <p14:sldId id="470"/>
            <p14:sldId id="471"/>
            <p14:sldId id="472"/>
            <p14:sldId id="473"/>
            <p14:sldId id="474"/>
            <p14:sldId id="475"/>
            <p14:sldId id="476"/>
            <p14:sldId id="477"/>
            <p14:sldId id="478"/>
            <p14:sldId id="479"/>
            <p14:sldId id="480"/>
            <p14:sldId id="481"/>
            <p14:sldId id="482"/>
            <p14:sldId id="483"/>
            <p14:sldId id="484"/>
            <p14:sldId id="485"/>
            <p14:sldId id="486"/>
            <p14:sldId id="487"/>
            <p14:sldId id="488"/>
            <p14:sldId id="489"/>
            <p14:sldId id="493"/>
            <p14:sldId id="494"/>
            <p14:sldId id="495"/>
            <p14:sldId id="496"/>
            <p14:sldId id="497"/>
            <p14:sldId id="498"/>
            <p14:sldId id="499"/>
            <p14:sldId id="500"/>
            <p14:sldId id="501"/>
            <p14:sldId id="502"/>
            <p14:sldId id="503"/>
            <p14:sldId id="504"/>
            <p14:sldId id="505"/>
            <p14:sldId id="506"/>
            <p14:sldId id="507"/>
            <p14:sldId id="508"/>
            <p14:sldId id="509"/>
            <p14:sldId id="510"/>
          </p14:sldIdLst>
        </p14:section>
        <p14:section name="Транспортный уровень" id="{FE2905BE-E7B2-48FA-93E0-F9EC92915DD4}">
          <p14:sldIdLst>
            <p14:sldId id="511"/>
            <p14:sldId id="512"/>
            <p14:sldId id="513"/>
            <p14:sldId id="514"/>
            <p14:sldId id="515"/>
            <p14:sldId id="517"/>
            <p14:sldId id="518"/>
            <p14:sldId id="516"/>
            <p14:sldId id="519"/>
            <p14:sldId id="520"/>
            <p14:sldId id="521"/>
            <p14:sldId id="522"/>
            <p14:sldId id="523"/>
            <p14:sldId id="524"/>
            <p14:sldId id="525"/>
            <p14:sldId id="526"/>
            <p14:sldId id="527"/>
            <p14:sldId id="528"/>
            <p14:sldId id="529"/>
            <p14:sldId id="530"/>
            <p14:sldId id="531"/>
            <p14:sldId id="532"/>
            <p14:sldId id="533"/>
            <p14:sldId id="534"/>
            <p14:sldId id="535"/>
            <p14:sldId id="536"/>
            <p14:sldId id="537"/>
            <p14:sldId id="538"/>
          </p14:sldIdLst>
        </p14:section>
        <p14:section name="Прикладной уровень" id="{27E0EF76-B286-4DC7-AE71-990966B05DD3}">
          <p14:sldIdLst>
            <p14:sldId id="539"/>
            <p14:sldId id="545"/>
            <p14:sldId id="540"/>
            <p14:sldId id="541"/>
            <p14:sldId id="542"/>
            <p14:sldId id="543"/>
            <p14:sldId id="544"/>
            <p14:sldId id="561"/>
            <p14:sldId id="562"/>
            <p14:sldId id="563"/>
            <p14:sldId id="564"/>
            <p14:sldId id="565"/>
            <p14:sldId id="546"/>
            <p14:sldId id="547"/>
            <p14:sldId id="548"/>
            <p14:sldId id="549"/>
            <p14:sldId id="550"/>
            <p14:sldId id="551"/>
            <p14:sldId id="552"/>
            <p14:sldId id="553"/>
            <p14:sldId id="554"/>
            <p14:sldId id="555"/>
            <p14:sldId id="556"/>
            <p14:sldId id="557"/>
            <p14:sldId id="558"/>
            <p14:sldId id="559"/>
            <p14:sldId id="566"/>
            <p14:sldId id="567"/>
            <p14:sldId id="568"/>
            <p14:sldId id="569"/>
            <p14:sldId id="560"/>
            <p14:sldId id="57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420" autoAdjust="0"/>
    <p:restoredTop sz="64927" autoAdjust="0"/>
  </p:normalViewPr>
  <p:slideViewPr>
    <p:cSldViewPr snapToGrid="0" showGuides="1">
      <p:cViewPr varScale="1">
        <p:scale>
          <a:sx n="51" d="100"/>
          <a:sy n="51" d="100"/>
        </p:scale>
        <p:origin x="78" y="44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theme" Target="theme/theme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tableStyles" Target="tableStyle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00E8BE-68AB-405A-8BC3-FBE3BEE41FD3}" type="datetimeFigureOut">
              <a:rPr lang="en-US" smtClean="0"/>
              <a:t>2/14/2026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384885-B771-4961-99C6-DBB22F186DFF}" type="slidenum">
              <a:rPr lang="en-US" smtClean="0"/>
              <a:t>‹#›</a:t>
            </a:fld>
            <a:endParaRPr lang="en-US"/>
          </a:p>
        </p:txBody>
      </p:sp>
    </p:spTree>
    <p:extLst>
      <p:ext uri="{BB962C8B-B14F-4D97-AF65-F5344CB8AC3E}">
        <p14:creationId xmlns:p14="http://schemas.microsoft.com/office/powerpoint/2010/main" val="1623196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1</a:t>
            </a:fld>
            <a:endParaRPr lang="en-US"/>
          </a:p>
        </p:txBody>
      </p:sp>
    </p:spTree>
    <p:extLst>
      <p:ext uri="{BB962C8B-B14F-4D97-AF65-F5344CB8AC3E}">
        <p14:creationId xmlns:p14="http://schemas.microsoft.com/office/powerpoint/2010/main" val="2991824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Многоуровневая архитектура — это фундаментальный подход в построении сетей. Он позволяет разделить сложную систему на логические слои, где каждый выполняет свои функции и скрывает детали реализации от других уровней.</a:t>
            </a:r>
            <a:endParaRPr lang="en-US" dirty="0"/>
          </a:p>
          <a:p>
            <a:endParaRPr lang="ru-RU" dirty="0"/>
          </a:p>
          <a:p>
            <a:r>
              <a:rPr lang="ru-RU" dirty="0"/>
              <a:t>Эталонные модели помогают нам согласовать взгляды на то, какие обязанности у каждого уровня, какие данные он передаёт, и через какие интерфейсы это происходит.</a:t>
            </a:r>
          </a:p>
          <a:p>
            <a:r>
              <a:rPr lang="ru-RU" dirty="0"/>
              <a:t>В этом разделе мы рассмотрим две главные модели — </a:t>
            </a:r>
            <a:r>
              <a:rPr lang="ru-RU" b="1" dirty="0"/>
              <a:t>OSI</a:t>
            </a:r>
            <a:r>
              <a:rPr lang="ru-RU" dirty="0"/>
              <a:t>, созданную для строгой стандартизации, и </a:t>
            </a:r>
            <a:r>
              <a:rPr lang="ru-RU" b="1" dirty="0"/>
              <a:t>TCP/IP</a:t>
            </a:r>
            <a:r>
              <a:rPr lang="ru-RU" dirty="0"/>
              <a:t>, родившуюся из реальной практики интернета. Каждая из них сыграла свою роль в истории сетей.</a:t>
            </a:r>
          </a:p>
          <a:p>
            <a:r>
              <a:rPr lang="ru-RU" dirty="0"/>
              <a:t>Чтобы получить сбалансированный подход, в книге используется </a:t>
            </a:r>
            <a:r>
              <a:rPr lang="ru-RU" b="1" dirty="0"/>
              <a:t>гибридная модель</a:t>
            </a:r>
            <a:r>
              <a:rPr lang="ru-RU" dirty="0"/>
              <a:t>, объединяющая лучшую структуру OSI с практическими протоколами TCP/IP.</a:t>
            </a:r>
          </a:p>
        </p:txBody>
      </p:sp>
      <p:sp>
        <p:nvSpPr>
          <p:cNvPr id="4" name="Slide Number Placeholder 3"/>
          <p:cNvSpPr>
            <a:spLocks noGrp="1"/>
          </p:cNvSpPr>
          <p:nvPr>
            <p:ph type="sldNum" sz="quarter" idx="5"/>
          </p:nvPr>
        </p:nvSpPr>
        <p:spPr/>
        <p:txBody>
          <a:bodyPr/>
          <a:lstStyle/>
          <a:p>
            <a:fld id="{CF3F5FF5-003D-49C7-8AA8-32F0386C2E23}" type="slidenum">
              <a:rPr lang="en-US" smtClean="0"/>
              <a:t>2</a:t>
            </a:fld>
            <a:endParaRPr lang="en-US"/>
          </a:p>
        </p:txBody>
      </p:sp>
    </p:spTree>
    <p:extLst>
      <p:ext uri="{BB962C8B-B14F-4D97-AF65-F5344CB8AC3E}">
        <p14:creationId xmlns:p14="http://schemas.microsoft.com/office/powerpoint/2010/main" val="3351133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Модель OSI — это, скорее, теоретическая архитектура, созданная Международной организацией по стандартизации. Её цель — определить универсальные принципы построения сетей и сделать возможной интероперабельность устройств разных производителей.</a:t>
            </a:r>
            <a:endParaRPr lang="en-US" dirty="0"/>
          </a:p>
          <a:p>
            <a:endParaRPr lang="ru-RU" dirty="0"/>
          </a:p>
          <a:p>
            <a:r>
              <a:rPr lang="ru-RU" dirty="0"/>
              <a:t>Модель состоит из </a:t>
            </a:r>
            <a:r>
              <a:rPr lang="ru-RU" b="1" dirty="0"/>
              <a:t>семи уровней</a:t>
            </a:r>
            <a:r>
              <a:rPr lang="ru-RU" dirty="0"/>
              <a:t>, каждый из которых описывает определённую функцию — от физического переноса битов до работы прикладных протоколов. Такой подход не только структурирует задачи, но и позволяет чётко различать </a:t>
            </a:r>
            <a:r>
              <a:rPr lang="ru-RU" b="1" dirty="0"/>
              <a:t>службы, интерфейсы и протоколы</a:t>
            </a:r>
            <a:r>
              <a:rPr lang="ru-RU" dirty="0"/>
              <a:t>, что часто игнорируется в реальных стеках.</a:t>
            </a:r>
            <a:endParaRPr lang="en-US" dirty="0"/>
          </a:p>
          <a:p>
            <a:endParaRPr lang="ru-RU" dirty="0"/>
          </a:p>
          <a:p>
            <a:r>
              <a:rPr lang="ru-RU" dirty="0"/>
              <a:t>Главная сила OSI — </a:t>
            </a:r>
            <a:r>
              <a:rPr lang="ru-RU" b="1" dirty="0"/>
              <a:t>чистота архитектуры</a:t>
            </a:r>
            <a:r>
              <a:rPr lang="ru-RU" dirty="0"/>
              <a:t>. В ней очень тщательно определено, что делает каждый уровень и какие обязанности он НЕ должен выполнять. Это делает модель важным инструментом обучения и анализа, даже если в реальности она не используется полностью.</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3</a:t>
            </a:fld>
            <a:endParaRPr lang="en-US"/>
          </a:p>
        </p:txBody>
      </p:sp>
    </p:spTree>
    <p:extLst>
      <p:ext uri="{BB962C8B-B14F-4D97-AF65-F5344CB8AC3E}">
        <p14:creationId xmlns:p14="http://schemas.microsoft.com/office/powerpoint/2010/main" val="3951399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TCP/IP родилась в контексте реального проекта — ARPANET. Перед инженерами стояла задача объединить разные типы сетей: проводные, радиосети, спутниковые линии. Поэтому архитектура должна была быть гибкой, отказоустойчивой и способной пережить сбои оборудования.</a:t>
            </a:r>
          </a:p>
          <a:p>
            <a:endParaRPr lang="ru-RU" dirty="0"/>
          </a:p>
          <a:p>
            <a:r>
              <a:rPr lang="ru-RU" dirty="0"/>
              <a:t>Центральным элементом стал </a:t>
            </a:r>
            <a:r>
              <a:rPr lang="ru-RU" b="1" dirty="0"/>
              <a:t>межсетевой уровень</a:t>
            </a:r>
            <a:r>
              <a:rPr lang="ru-RU" dirty="0"/>
              <a:t> — уровень IP, который обеспечивает доставку пакетов «как получится»: они могут идти разными путями, менять порядок, задерживаться. Именно поэтому в модели есть отдельный </a:t>
            </a:r>
            <a:r>
              <a:rPr lang="ru-RU" b="1" dirty="0"/>
              <a:t>транспортный уровень</a:t>
            </a:r>
            <a:r>
              <a:rPr lang="ru-RU" dirty="0"/>
              <a:t>, представленный TCP и UDP.</a:t>
            </a:r>
          </a:p>
          <a:p>
            <a:endParaRPr lang="ru-RU" dirty="0"/>
          </a:p>
          <a:p>
            <a:r>
              <a:rPr lang="ru-RU" dirty="0"/>
              <a:t>Модель TCP/IP очень проста: всего несколько уровней, и каждый выполняет чёткую задачу. Прикладной уровень огромен и включает множество различных протоколов — от HTTP до DNS.</a:t>
            </a:r>
          </a:p>
          <a:p>
            <a:r>
              <a:rPr lang="ru-RU" dirty="0"/>
              <a:t>Несмотря на простоту и несовершенства, именно TCP/IP стала основой глобального интернета, и её принципы используются до сих пор.</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4</a:t>
            </a:fld>
            <a:endParaRPr lang="en-US"/>
          </a:p>
        </p:txBody>
      </p:sp>
    </p:spTree>
    <p:extLst>
      <p:ext uri="{BB962C8B-B14F-4D97-AF65-F5344CB8AC3E}">
        <p14:creationId xmlns:p14="http://schemas.microsoft.com/office/powerpoint/2010/main" val="23268826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Модель TCP/IP состоит из четырёх уровней, каждый из которых отвечает за определённый участок сетевой обработки данных. В отличие от OSI, эта модель возникла не как теоретический стандарт, а как практическая архитектура, разработанная под нужды ARPANET. Именно поэтому уровней меньше, а границы между ними более гибкие.</a:t>
            </a:r>
            <a:endParaRPr lang="en-US" dirty="0"/>
          </a:p>
          <a:p>
            <a:endParaRPr lang="ru-RU" dirty="0"/>
          </a:p>
          <a:p>
            <a:r>
              <a:rPr lang="ru-RU" dirty="0"/>
              <a:t>Первый уровень — </a:t>
            </a:r>
            <a:r>
              <a:rPr lang="ru-RU" b="1" dirty="0"/>
              <a:t>канальный</a:t>
            </a:r>
            <a:r>
              <a:rPr lang="ru-RU" dirty="0"/>
              <a:t>, он фактически связывает устройство с локальной сетью. Здесь определяются правила формирования кадров, способы их передачи и базовые механизмы обнаружения ошибок на одном участке сети.</a:t>
            </a:r>
            <a:endParaRPr lang="en-US" dirty="0"/>
          </a:p>
          <a:p>
            <a:endParaRPr lang="ru-RU" dirty="0"/>
          </a:p>
          <a:p>
            <a:r>
              <a:rPr lang="ru-RU" dirty="0"/>
              <a:t>Следующий — </a:t>
            </a:r>
            <a:r>
              <a:rPr lang="ru-RU" b="1" dirty="0"/>
              <a:t>межсетевой уровень</a:t>
            </a:r>
            <a:r>
              <a:rPr lang="ru-RU" dirty="0"/>
              <a:t>, где работает IP — протокол, который делает сети «интерсетями». Он отвечает за маршрутизацию пакетов между разными сетями и позволяет интернету существовать как объединению множества технологий.</a:t>
            </a:r>
            <a:endParaRPr lang="en-US" dirty="0"/>
          </a:p>
          <a:p>
            <a:endParaRPr lang="ru-RU" dirty="0"/>
          </a:p>
          <a:p>
            <a:r>
              <a:rPr lang="ru-RU" dirty="0"/>
              <a:t>Над ним расположен </a:t>
            </a:r>
            <a:r>
              <a:rPr lang="ru-RU" b="1" dirty="0"/>
              <a:t>транспортный уровень</a:t>
            </a:r>
            <a:r>
              <a:rPr lang="ru-RU" dirty="0"/>
              <a:t>, в котором работают TCP и UDP. TCP нужен для приложений, где важны надёжность и порядок доставки, а UDP выбирают, когда главное — скорость и минимум задержек, например для </a:t>
            </a:r>
            <a:r>
              <a:rPr lang="ru-RU" dirty="0" err="1"/>
              <a:t>медиастриминга</a:t>
            </a:r>
            <a:r>
              <a:rPr lang="ru-RU" dirty="0"/>
              <a:t>.</a:t>
            </a:r>
            <a:endParaRPr lang="en-US" dirty="0"/>
          </a:p>
          <a:p>
            <a:endParaRPr lang="ru-RU" dirty="0"/>
          </a:p>
          <a:p>
            <a:r>
              <a:rPr lang="ru-RU" dirty="0"/>
              <a:t>И, наконец, </a:t>
            </a:r>
            <a:r>
              <a:rPr lang="ru-RU" b="1" dirty="0"/>
              <a:t>прикладной уровень</a:t>
            </a:r>
            <a:r>
              <a:rPr lang="ru-RU" dirty="0"/>
              <a:t>, который содержит огромное количество протоколов, реализующих логику конкретных приложений — от просмотра веб-страниц до отправки электронной почты. Этот уровень наиболее разнообразен, и его расширение обеспечивает развитие современных интернет-сервисов.</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5</a:t>
            </a:fld>
            <a:endParaRPr lang="en-US"/>
          </a:p>
        </p:txBody>
      </p:sp>
    </p:spTree>
    <p:extLst>
      <p:ext uri="{BB962C8B-B14F-4D97-AF65-F5344CB8AC3E}">
        <p14:creationId xmlns:p14="http://schemas.microsoft.com/office/powerpoint/2010/main" val="34167082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Хотя OSI была разработана как универсальный, открытый и стандартный подход, она появилась </a:t>
            </a:r>
            <a:r>
              <a:rPr lang="ru-RU" b="1" dirty="0"/>
              <a:t>слишком поздно</a:t>
            </a:r>
            <a:r>
              <a:rPr lang="ru-RU" dirty="0"/>
              <a:t>. К тому моменту интеллектуальные центры — университеты, исследовательские лаборатории — уже активно использовали TCP/IP.</a:t>
            </a:r>
          </a:p>
          <a:p>
            <a:endParaRPr lang="ru-RU" dirty="0"/>
          </a:p>
          <a:p>
            <a:r>
              <a:rPr lang="ru-RU" dirty="0"/>
              <a:t>Кроме того, OSI отличалась избыточной сложностью. Семь уровней выглядели красиво в теории, но не соответствовали практическим задачам. Некоторые уровни оказались «пустыми», в то время как другие были перегружены функциями.</a:t>
            </a:r>
          </a:p>
          <a:p>
            <a:endParaRPr lang="ru-RU" dirty="0"/>
          </a:p>
          <a:p>
            <a:r>
              <a:rPr lang="ru-RU" dirty="0"/>
              <a:t>Первые реализации OSI были тяжелыми, медленными и неэффективными, что сформировало негативное восприятие. Параллельно TCP/IP уже имела удобную, бесплатную реализацию в </a:t>
            </a:r>
            <a:r>
              <a:rPr lang="ru-RU" dirty="0" err="1"/>
              <a:t>Berkeley</a:t>
            </a:r>
            <a:r>
              <a:rPr lang="ru-RU" dirty="0"/>
              <a:t> UNIX, что обеспечило ей мгновенную популярность.</a:t>
            </a:r>
          </a:p>
          <a:p>
            <a:endParaRPr lang="ru-RU" dirty="0"/>
          </a:p>
          <a:p>
            <a:r>
              <a:rPr lang="ru-RU" dirty="0"/>
              <a:t>Политический фактор тоже сыграл свою роль: OSI воспринимали как бюрократический проект, продвигаемый сверху, а TCP/IP — как практический инструмент инженеров и исследователей.</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6</a:t>
            </a:fld>
            <a:endParaRPr lang="en-US"/>
          </a:p>
        </p:txBody>
      </p:sp>
    </p:spTree>
    <p:extLst>
      <p:ext uri="{BB962C8B-B14F-4D97-AF65-F5344CB8AC3E}">
        <p14:creationId xmlns:p14="http://schemas.microsoft.com/office/powerpoint/2010/main" val="1511821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Несмотря на практический успех, TCP/IP как архитектурная модель имеет ряд серьёзных недостатков. Прежде всего, </a:t>
            </a:r>
            <a:r>
              <a:rPr lang="ru-RU" b="1" dirty="0"/>
              <a:t>она не проводит чёткого различия между службами, интерфейсами и протоколами</a:t>
            </a:r>
            <a:r>
              <a:rPr lang="ru-RU" dirty="0"/>
              <a:t>, что усложняет проектирование новых систем.</a:t>
            </a:r>
          </a:p>
          <a:p>
            <a:endParaRPr lang="ru-RU" dirty="0"/>
          </a:p>
          <a:p>
            <a:r>
              <a:rPr lang="ru-RU" dirty="0"/>
              <a:t>Она тоже далеко не универсальна — например, Bluetooth или многие промышленные сети невозможно корректно описать в её терминах.</a:t>
            </a:r>
          </a:p>
          <a:p>
            <a:endParaRPr lang="ru-RU" dirty="0"/>
          </a:p>
          <a:p>
            <a:r>
              <a:rPr lang="ru-RU" dirty="0"/>
              <a:t>Канальный уровень в TCP/IP по сути не является уровнем — это просто переход между сетевым уровнем и физической средой. А физический и канальный уровни в модели даже не разделены, что плохо отражает реальность.</a:t>
            </a:r>
          </a:p>
          <a:p>
            <a:endParaRPr lang="ru-RU" dirty="0"/>
          </a:p>
          <a:p>
            <a:r>
              <a:rPr lang="ru-RU" dirty="0"/>
              <a:t>Наконец, ранние протоколы, вроде TELNET, создавались в спешке и сегодня выглядят архаично. Но в силу исторической инерции заменить их трудно: они слишком глубоко встроены в программную экосистему.</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7</a:t>
            </a:fld>
            <a:endParaRPr lang="en-US"/>
          </a:p>
        </p:txBody>
      </p:sp>
    </p:spTree>
    <p:extLst>
      <p:ext uri="{BB962C8B-B14F-4D97-AF65-F5344CB8AC3E}">
        <p14:creationId xmlns:p14="http://schemas.microsoft.com/office/powerpoint/2010/main" val="2563960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Авторы книги предлагают гибридную модель, которая сочетает концептуальную ясность OSI и практическую полезность TCP/IP.</a:t>
            </a:r>
          </a:p>
          <a:p>
            <a:endParaRPr lang="ru-RU" dirty="0"/>
          </a:p>
          <a:p>
            <a:r>
              <a:rPr lang="ru-RU" dirty="0"/>
              <a:t>Она включает пять уровней, каждый из которых соответствует реальному блоку сетевых технологий.</a:t>
            </a:r>
            <a:br>
              <a:rPr lang="ru-RU" dirty="0"/>
            </a:br>
            <a:r>
              <a:rPr lang="ru-RU" dirty="0"/>
              <a:t>• Физический уровень описывает передачу битов по среде.</a:t>
            </a:r>
            <a:br>
              <a:rPr lang="ru-RU" dirty="0"/>
            </a:br>
            <a:r>
              <a:rPr lang="ru-RU" dirty="0"/>
              <a:t>• Канальный уровень определяет правила передачи кадров между соседними узлами.</a:t>
            </a:r>
            <a:br>
              <a:rPr lang="ru-RU" dirty="0"/>
            </a:br>
            <a:r>
              <a:rPr lang="ru-RU" dirty="0"/>
              <a:t>• Сетевой уровень объединяет сегменты в интерсети и направляет пакеты к конечному адресату.</a:t>
            </a:r>
            <a:br>
              <a:rPr lang="ru-RU" dirty="0"/>
            </a:br>
            <a:r>
              <a:rPr lang="ru-RU" dirty="0"/>
              <a:t>• Транспортный уровень обеспечивает надёжность и управление потоками.</a:t>
            </a:r>
            <a:br>
              <a:rPr lang="ru-RU" dirty="0"/>
            </a:br>
            <a:r>
              <a:rPr lang="ru-RU" dirty="0"/>
              <a:t>• Прикладной уровень включает всё, чем пользуются программы: HTTP, DNS и др.</a:t>
            </a:r>
          </a:p>
          <a:p>
            <a:r>
              <a:rPr lang="ru-RU" dirty="0"/>
              <a:t>Эта модель достаточно проста, чтобы быть практичной, и достаточно структурирована, чтобы помогать изучению.</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8</a:t>
            </a:fld>
            <a:endParaRPr lang="en-US"/>
          </a:p>
        </p:txBody>
      </p:sp>
    </p:spTree>
    <p:extLst>
      <p:ext uri="{BB962C8B-B14F-4D97-AF65-F5344CB8AC3E}">
        <p14:creationId xmlns:p14="http://schemas.microsoft.com/office/powerpoint/2010/main" val="2731526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Модель OSI не стала массовой, но она уникальна в своей строгости и дисциплине разделения функций. Она помогает понять, </a:t>
            </a:r>
            <a:r>
              <a:rPr lang="ru-RU" i="1" dirty="0"/>
              <a:t>как следует проектировать</a:t>
            </a:r>
            <a:r>
              <a:rPr lang="ru-RU" dirty="0"/>
              <a:t> сетевые архитектуры.</a:t>
            </a:r>
            <a:endParaRPr lang="en-US" dirty="0"/>
          </a:p>
          <a:p>
            <a:endParaRPr lang="ru-RU" dirty="0"/>
          </a:p>
          <a:p>
            <a:r>
              <a:rPr lang="ru-RU" dirty="0"/>
              <a:t>TCP/IP, напротив, возникла из практической необходимости и стала основой глобального интернета. Она доказала свою работоспособность миллиардами устройств.</a:t>
            </a:r>
            <a:endParaRPr lang="en-US" dirty="0"/>
          </a:p>
          <a:p>
            <a:endParaRPr lang="ru-RU" dirty="0"/>
          </a:p>
          <a:p>
            <a:r>
              <a:rPr lang="ru-RU" dirty="0"/>
              <a:t>Гибридная модель представляет собой удобный мост между ними: она оставляет сильные стороны OSI — чистую структуру — и использует сильные стороны TCP/IP — реальные работающие протоколы.</a:t>
            </a:r>
            <a:endParaRPr lang="en-US" dirty="0"/>
          </a:p>
          <a:p>
            <a:endParaRPr lang="ru-RU" dirty="0"/>
          </a:p>
          <a:p>
            <a:r>
              <a:rPr lang="ru-RU" dirty="0"/>
              <a:t>Эта модель станет каркасом для понимания всего остального материала книги.</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9</a:t>
            </a:fld>
            <a:endParaRPr lang="en-US"/>
          </a:p>
        </p:txBody>
      </p:sp>
    </p:spTree>
    <p:extLst>
      <p:ext uri="{BB962C8B-B14F-4D97-AF65-F5344CB8AC3E}">
        <p14:creationId xmlns:p14="http://schemas.microsoft.com/office/powerpoint/2010/main" val="10943989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10</a:t>
            </a:fld>
            <a:endParaRPr lang="en-US"/>
          </a:p>
        </p:txBody>
      </p:sp>
    </p:spTree>
    <p:extLst>
      <p:ext uri="{BB962C8B-B14F-4D97-AF65-F5344CB8AC3E}">
        <p14:creationId xmlns:p14="http://schemas.microsoft.com/office/powerpoint/2010/main" val="422748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Стандартизация — фундамент сетевых технологий. Без согласованных правил разные устройства и программы просто не смогли бы взаимодействовать. Производители всегда стремятся внедрять собственные решения, но без единых стандартов рынок бы превратился в хаос: одно оборудование не работало бы с другим, а пользователи были бы привязаны к одному вендору.</a:t>
            </a:r>
          </a:p>
          <a:p>
            <a:endParaRPr lang="ru-RU" dirty="0"/>
          </a:p>
          <a:p>
            <a:r>
              <a:rPr lang="ru-RU" dirty="0"/>
              <a:t>Стандарт описывает только требуемое поведение протокола на уровне взаимодействия — то есть то, как данные должны передаваться, какие форматы допустимы, какие поля должны быть в пакете. Но он никогда не предписывает внутреннюю реализацию. Это даёт производителям свободу оптимизации, но при этом гарантирует совместимость.</a:t>
            </a:r>
          </a:p>
          <a:p>
            <a:endParaRPr lang="ru-RU" dirty="0"/>
          </a:p>
          <a:p>
            <a:r>
              <a:rPr lang="ru-RU" dirty="0"/>
              <a:t>Также важно различать стандарты «де-факто» — те, которые просто победили на рынке благодаря удобству или широкому распространению, — и стандарты «де-юре», принятые официальными комитетами. </a:t>
            </a:r>
            <a:endParaRPr lang="en-US" dirty="0"/>
          </a:p>
          <a:p>
            <a:endParaRPr lang="en-US" dirty="0"/>
          </a:p>
          <a:p>
            <a:r>
              <a:rPr lang="ru-RU" dirty="0"/>
              <a:t>В современном мире всё чаще появляются гибридные модели, когда популярная технология сначала распространяется как де-факто (например, HTTP или </a:t>
            </a:r>
            <a:r>
              <a:rPr lang="ru-RU" dirty="0" err="1"/>
              <a:t>Wi</a:t>
            </a:r>
            <a:r>
              <a:rPr lang="ru-RU" dirty="0"/>
              <a:t>-Fi), а затем закрепляется формально через рабочие группы, альянсы и международные организации.</a:t>
            </a:r>
          </a:p>
        </p:txBody>
      </p:sp>
      <p:sp>
        <p:nvSpPr>
          <p:cNvPr id="4" name="Slide Number Placeholder 3"/>
          <p:cNvSpPr>
            <a:spLocks noGrp="1"/>
          </p:cNvSpPr>
          <p:nvPr>
            <p:ph type="sldNum" sz="quarter" idx="5"/>
          </p:nvPr>
        </p:nvSpPr>
        <p:spPr/>
        <p:txBody>
          <a:bodyPr/>
          <a:lstStyle/>
          <a:p>
            <a:fld id="{CF3F5FF5-003D-49C7-8AA8-32F0386C2E23}" type="slidenum">
              <a:rPr lang="en-US" smtClean="0"/>
              <a:t>11</a:t>
            </a:fld>
            <a:endParaRPr lang="en-US"/>
          </a:p>
        </p:txBody>
      </p:sp>
    </p:spTree>
    <p:extLst>
      <p:ext uri="{BB962C8B-B14F-4D97-AF65-F5344CB8AC3E}">
        <p14:creationId xmlns:p14="http://schemas.microsoft.com/office/powerpoint/2010/main" val="1257121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ITU — одна из старейших международных организаций, регулирующих глобальные телекоммуникации. Её роль трудно переоценить: именно она обеспечивает совместимость телефонных, спутниковых, радиосетей и цифровых технологий между странами.</a:t>
            </a:r>
          </a:p>
          <a:p>
            <a:r>
              <a:rPr lang="ru-RU" dirty="0"/>
              <a:t>ITU разделена на три сектора, и каждый из них занимается собственным направлением:</a:t>
            </a:r>
          </a:p>
          <a:p>
            <a:pPr marL="171450" indent="-171450">
              <a:buFont typeface="Arial" panose="020B0604020202020204" pitchFamily="34" charset="0"/>
              <a:buChar char="•"/>
            </a:pPr>
            <a:r>
              <a:rPr lang="ru-RU" b="1" dirty="0"/>
              <a:t>ITU-T</a:t>
            </a:r>
            <a:r>
              <a:rPr lang="ru-RU" dirty="0"/>
              <a:t> выпускает технические рекомендации, которые затем превращаются в глобальные стандарты для телефонии и передачи данных;</a:t>
            </a:r>
          </a:p>
          <a:p>
            <a:pPr marL="171450" indent="-171450">
              <a:buFont typeface="Arial" panose="020B0604020202020204" pitchFamily="34" charset="0"/>
              <a:buChar char="•"/>
            </a:pPr>
            <a:r>
              <a:rPr lang="ru-RU" b="1" dirty="0"/>
              <a:t>ITU-R</a:t>
            </a:r>
            <a:r>
              <a:rPr lang="ru-RU" dirty="0"/>
              <a:t> распределяет радиочастоты — это критически важно, ведь все беспроводные сети должны использовать согласованные диапазоны;</a:t>
            </a:r>
          </a:p>
          <a:p>
            <a:pPr marL="171450" indent="-171450">
              <a:buFont typeface="Arial" panose="020B0604020202020204" pitchFamily="34" charset="0"/>
              <a:buChar char="•"/>
            </a:pPr>
            <a:r>
              <a:rPr lang="ru-RU" b="1" dirty="0"/>
              <a:t>ITU-D</a:t>
            </a:r>
            <a:r>
              <a:rPr lang="ru-RU" dirty="0"/>
              <a:t> помогает развивать телекоммуникационную инфраструктуру в странах с недостаточным технологическим уровнем.</a:t>
            </a:r>
          </a:p>
          <a:p>
            <a:r>
              <a:rPr lang="ru-RU" dirty="0"/>
              <a:t>Несмотря на бюрократичность, ITU выдаёт жизненно важные стандарты — например, видеокодек H.264 или систему сертификатов X.509, которая используется для HTTPS, цифровых подписей и всех современных протоколов безопасности.</a:t>
            </a:r>
          </a:p>
        </p:txBody>
      </p:sp>
      <p:sp>
        <p:nvSpPr>
          <p:cNvPr id="4" name="Slide Number Placeholder 3"/>
          <p:cNvSpPr>
            <a:spLocks noGrp="1"/>
          </p:cNvSpPr>
          <p:nvPr>
            <p:ph type="sldNum" sz="quarter" idx="5"/>
          </p:nvPr>
        </p:nvSpPr>
        <p:spPr/>
        <p:txBody>
          <a:bodyPr/>
          <a:lstStyle/>
          <a:p>
            <a:fld id="{CF3F5FF5-003D-49C7-8AA8-32F0386C2E23}" type="slidenum">
              <a:rPr lang="en-US" smtClean="0"/>
              <a:t>12</a:t>
            </a:fld>
            <a:endParaRPr lang="en-US"/>
          </a:p>
        </p:txBody>
      </p:sp>
    </p:spTree>
    <p:extLst>
      <p:ext uri="{BB962C8B-B14F-4D97-AF65-F5344CB8AC3E}">
        <p14:creationId xmlns:p14="http://schemas.microsoft.com/office/powerpoint/2010/main" val="33030345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ISO — это глобальная организация, занимающаяся разработкой международных стандартов во всех областях — от резьбы на болтах до сетевых протоколов. В отличие от ITU, ISO строит работу через обширную сеть комитетов, подкомитетов и рабочих групп, в которых участвуют эксперты со всего мира. Процесс принятия стандарта очень строгий: документ проходит несколько стадий обсуждений и голосований, что позволяет добиться консенсуса и надёжности.</a:t>
            </a:r>
          </a:p>
          <a:p>
            <a:endParaRPr lang="ru-RU" dirty="0"/>
          </a:p>
          <a:p>
            <a:r>
              <a:rPr lang="ru-RU" dirty="0"/>
              <a:t>IEEE — это совершенно другой подход. Это сообщество инженеров, ориентированное на практику и быстрый результат. Именно IEEE разработал стандарты семейства 802, включая Ethernet и </a:t>
            </a:r>
            <a:r>
              <a:rPr lang="ru-RU" dirty="0" err="1"/>
              <a:t>Wi</a:t>
            </a:r>
            <a:r>
              <a:rPr lang="ru-RU" dirty="0"/>
              <a:t>-Fi — две наиболее успешные технологии сетевого доступа в истории. Стандарты IEEE создаются рабочими группами, которые регулярно обновляют спецификации, улучшая скорости, безопасность и совместимость оборудования.</a:t>
            </a:r>
          </a:p>
          <a:p>
            <a:endParaRPr lang="ru-RU" dirty="0"/>
          </a:p>
          <a:p>
            <a:r>
              <a:rPr lang="ru-RU" dirty="0"/>
              <a:t>Таким образом, ISO обеспечивает фундаментальную базу для долгосрочной стандартизации, а IEEE — быстрые, технологичные и широко востребованные стандарты, ориентированные на реальное оборудование.</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13</a:t>
            </a:fld>
            <a:endParaRPr lang="en-US"/>
          </a:p>
        </p:txBody>
      </p:sp>
    </p:spTree>
    <p:extLst>
      <p:ext uri="{BB962C8B-B14F-4D97-AF65-F5344CB8AC3E}">
        <p14:creationId xmlns:p14="http://schemas.microsoft.com/office/powerpoint/2010/main" val="2121217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Интернет развивался не под контролем государственных организаций, а через инициативы исследовательских сообществ. Именно поэтому IETF представляет собой уникальную модель стандартизации: открытое участие, минимум бюрократии, главное — рабочая реализация. Девиз IETF стал культовым: </a:t>
            </a:r>
            <a:r>
              <a:rPr lang="ru-RU" i="1" dirty="0"/>
              <a:t>«приблизительный консенсус и работающий код»</a:t>
            </a:r>
            <a:r>
              <a:rPr lang="ru-RU" dirty="0"/>
              <a:t>.</a:t>
            </a:r>
          </a:p>
          <a:p>
            <a:endParaRPr lang="ru-RU" dirty="0"/>
          </a:p>
          <a:p>
            <a:r>
              <a:rPr lang="ru-RU" dirty="0"/>
              <a:t>IETF публикует стандарты в формате RFC — это документы, в которых описываются протоколы, алгоритмы и практики работы интернета. Любой человек может скачать RFC, изучить его и даже предложить изменения через соответствующие рабочие группы.</a:t>
            </a:r>
          </a:p>
          <a:p>
            <a:endParaRPr lang="ru-RU" dirty="0"/>
          </a:p>
          <a:p>
            <a:r>
              <a:rPr lang="ru-RU" dirty="0"/>
              <a:t>Параллельно существует IRTF — исследовательская структура, занимающаяся долгосрочными проектами: новыми архитектурами, безопасностью, криптографией, сетями будущего.</a:t>
            </a:r>
          </a:p>
          <a:p>
            <a:r>
              <a:rPr lang="ru-RU" dirty="0"/>
              <a:t>W3C решает другие задачи: оно отвечает за стандарты Всемирной паутины. HTML, CSS, DOM, </a:t>
            </a:r>
            <a:r>
              <a:rPr lang="ru-RU" dirty="0" err="1"/>
              <a:t>WebAuthn</a:t>
            </a:r>
            <a:r>
              <a:rPr lang="ru-RU" dirty="0"/>
              <a:t>, протоколы приватности — всё это создаётся в W3C. Иначе говоря, IETF стандартизирует сеть на уровне протоколов, а W3C — на уровне веб-сервисов и пользовательских технологий.</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14</a:t>
            </a:fld>
            <a:endParaRPr lang="en-US"/>
          </a:p>
        </p:txBody>
      </p:sp>
    </p:spTree>
    <p:extLst>
      <p:ext uri="{BB962C8B-B14F-4D97-AF65-F5344CB8AC3E}">
        <p14:creationId xmlns:p14="http://schemas.microsoft.com/office/powerpoint/2010/main" val="7345122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Современные сетевые технологии развиваются в сложной экосистеме, где участвуют и международные организации, и промышленные альянсы, и </a:t>
            </a:r>
            <a:r>
              <a:rPr lang="ru-RU" dirty="0" err="1"/>
              <a:t>open</a:t>
            </a:r>
            <a:r>
              <a:rPr lang="ru-RU" dirty="0"/>
              <a:t>-</a:t>
            </a:r>
            <a:r>
              <a:rPr lang="ru-RU" dirty="0" err="1"/>
              <a:t>source</a:t>
            </a:r>
            <a:r>
              <a:rPr lang="ru-RU" dirty="0"/>
              <a:t>-сообщества. Успех любой технологии зависит от способности обеспечить совместимость, масштабируемость и лёгкость интеграции в существующие решения.</a:t>
            </a:r>
          </a:p>
          <a:p>
            <a:endParaRPr lang="ru-RU" dirty="0"/>
          </a:p>
          <a:p>
            <a:r>
              <a:rPr lang="ru-RU" dirty="0"/>
              <a:t>Коммерческие союзы — такие как </a:t>
            </a:r>
            <a:r>
              <a:rPr lang="ru-RU" dirty="0" err="1"/>
              <a:t>Wi</a:t>
            </a:r>
            <a:r>
              <a:rPr lang="ru-RU" dirty="0"/>
              <a:t>-Fi Alliance, Bluetooth SIG, 3GPP — фактически обеспечивают практическую часть стандартизации. Они не только публикуют спецификации, но и тестируют реальные устройства на совместимость. Благодаря этому мы можем взять телефон любого производителя и подключиться к любой </a:t>
            </a:r>
            <a:r>
              <a:rPr lang="ru-RU" dirty="0" err="1"/>
              <a:t>Wi</a:t>
            </a:r>
            <a:r>
              <a:rPr lang="ru-RU" dirty="0"/>
              <a:t>-Fi сети или использовать любое Bluetooth-устройство.</a:t>
            </a:r>
          </a:p>
          <a:p>
            <a:endParaRPr lang="ru-RU" dirty="0"/>
          </a:p>
          <a:p>
            <a:r>
              <a:rPr lang="ru-RU" dirty="0"/>
              <a:t>Стандарты де-факто, такие как HTTP или JSON, показывают, что удобство и скорость распространения иногда побеждают формальность. Но рано или поздно эти технологии проходят процесс формальной стандартизации, чтобы обеспечить стабильность и поддержку в долгосрочной перспективе.</a:t>
            </a:r>
          </a:p>
          <a:p>
            <a:endParaRPr lang="ru-RU" dirty="0"/>
          </a:p>
          <a:p>
            <a:r>
              <a:rPr lang="ru-RU" dirty="0"/>
              <a:t>Таким образом, экосистема стандартов — это не только документы. Это живой процесс взаимодействия компаний, исследователей и международных организаций, который делает возможной глобальную сеть, доступную каждому пользователю.</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15</a:t>
            </a:fld>
            <a:endParaRPr lang="en-US"/>
          </a:p>
        </p:txBody>
      </p:sp>
    </p:spTree>
    <p:extLst>
      <p:ext uri="{BB962C8B-B14F-4D97-AF65-F5344CB8AC3E}">
        <p14:creationId xmlns:p14="http://schemas.microsoft.com/office/powerpoint/2010/main" val="27036161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16</a:t>
            </a:fld>
            <a:endParaRPr lang="en-US"/>
          </a:p>
        </p:txBody>
      </p:sp>
    </p:spTree>
    <p:extLst>
      <p:ext uri="{BB962C8B-B14F-4D97-AF65-F5344CB8AC3E}">
        <p14:creationId xmlns:p14="http://schemas.microsoft.com/office/powerpoint/2010/main" val="15239054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Физический - </a:t>
            </a:r>
            <a:r>
              <a:rPr lang="ru-RU" b="1" dirty="0"/>
              <a:t>самый нижний уровень</a:t>
            </a:r>
            <a:r>
              <a:rPr lang="ru-RU" dirty="0"/>
              <a:t> модели: все, что выше — канальный, сетевой, транспортный и так далее — опирается именно на него.</a:t>
            </a:r>
            <a:endParaRPr lang="en-US" dirty="0"/>
          </a:p>
          <a:p>
            <a:br>
              <a:rPr lang="ru-RU" dirty="0"/>
            </a:br>
            <a:r>
              <a:rPr lang="ru-RU" dirty="0"/>
              <a:t>Основная задача физического уровня — </a:t>
            </a:r>
            <a:r>
              <a:rPr lang="ru-RU" b="1" dirty="0"/>
              <a:t>передача отдельных битов</a:t>
            </a:r>
            <a:r>
              <a:rPr lang="ru-RU" dirty="0"/>
              <a:t> от одного устройства к другому. Причём биты существуют здесь не как абстрактные нули и единицы, а как </a:t>
            </a:r>
            <a:r>
              <a:rPr lang="ru-RU" b="1" dirty="0"/>
              <a:t>электрические, оптические или радиосигналы</a:t>
            </a:r>
            <a:r>
              <a:rPr lang="ru-RU" dirty="0"/>
              <a:t> в конкретной физической среде.</a:t>
            </a:r>
          </a:p>
          <a:p>
            <a:r>
              <a:rPr lang="ru-RU" dirty="0"/>
              <a:t>Очень важно понимать, что именно физический уровень задаёт ключевые характеристики канала:</a:t>
            </a:r>
          </a:p>
          <a:p>
            <a:pPr marL="171450" indent="-171450">
              <a:buFont typeface="Arial" panose="020B0604020202020204" pitchFamily="34" charset="0"/>
              <a:buChar char="•"/>
            </a:pPr>
            <a:r>
              <a:rPr lang="ru-RU" b="1" dirty="0"/>
              <a:t>Пропускная способность</a:t>
            </a:r>
            <a:r>
              <a:rPr lang="ru-RU" dirty="0"/>
              <a:t> — сколько информации можно передать за единицу времени;</a:t>
            </a:r>
          </a:p>
          <a:p>
            <a:pPr marL="171450" indent="-171450">
              <a:buFont typeface="Arial" panose="020B0604020202020204" pitchFamily="34" charset="0"/>
              <a:buChar char="•"/>
            </a:pPr>
            <a:r>
              <a:rPr lang="ru-RU" b="1" dirty="0"/>
              <a:t>Задержка</a:t>
            </a:r>
            <a:r>
              <a:rPr lang="ru-RU" dirty="0"/>
              <a:t> — сколько времени требуется, чтобы данные дошли от отправителя до получателя;</a:t>
            </a:r>
          </a:p>
          <a:p>
            <a:pPr marL="171450" indent="-171450">
              <a:buFont typeface="Arial" panose="020B0604020202020204" pitchFamily="34" charset="0"/>
              <a:buChar char="•"/>
            </a:pPr>
            <a:r>
              <a:rPr lang="ru-RU" b="1" dirty="0"/>
              <a:t>Частота ошибок</a:t>
            </a:r>
            <a:r>
              <a:rPr lang="ru-RU" dirty="0"/>
              <a:t> — как часто биты приходят искаженными.</a:t>
            </a:r>
          </a:p>
          <a:p>
            <a:r>
              <a:rPr lang="ru-RU" dirty="0"/>
              <a:t>Все эти параметры напрямую зависят от того, </a:t>
            </a:r>
            <a:r>
              <a:rPr lang="ru-RU" b="1" dirty="0"/>
              <a:t>какая среда передачи используется</a:t>
            </a:r>
            <a:r>
              <a:rPr lang="ru-RU" dirty="0"/>
              <a:t>. Мы будем рассматривать три больших класса:</a:t>
            </a:r>
            <a:br>
              <a:rPr lang="ru-RU" dirty="0"/>
            </a:br>
            <a:r>
              <a:rPr lang="ru-RU" dirty="0"/>
              <a:t>проводные среды (медь, коаксиал, оптоволокно), беспроводные каналы (земная радиосвязь) и спутниковые каналы. У каждой из этих сред свои достоинства и ограничения, и их выбор сильно влияет на архитектуру и производительность сети.</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17</a:t>
            </a:fld>
            <a:endParaRPr lang="en-US"/>
          </a:p>
        </p:txBody>
      </p:sp>
    </p:spTree>
    <p:extLst>
      <p:ext uri="{BB962C8B-B14F-4D97-AF65-F5344CB8AC3E}">
        <p14:creationId xmlns:p14="http://schemas.microsoft.com/office/powerpoint/2010/main" val="19116557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Теперь давайте чуть подробнее посмотрим, </a:t>
            </a:r>
            <a:r>
              <a:rPr lang="ru-RU" b="1" dirty="0"/>
              <a:t>какие вообще бывают среды передачи</a:t>
            </a:r>
            <a:r>
              <a:rPr lang="ru-RU" dirty="0"/>
              <a:t>.</a:t>
            </a:r>
            <a:endParaRPr lang="en-US" dirty="0"/>
          </a:p>
          <a:p>
            <a:br>
              <a:rPr lang="ru-RU" dirty="0"/>
            </a:br>
            <a:r>
              <a:rPr lang="ru-RU" dirty="0"/>
              <a:t>Во-первых, это </a:t>
            </a:r>
            <a:r>
              <a:rPr lang="ru-RU" b="1" dirty="0"/>
              <a:t>проводные или направляемые среды</a:t>
            </a:r>
            <a:r>
              <a:rPr lang="ru-RU" dirty="0"/>
              <a:t>. Здесь сигнал физически «ведут» по кабелю:</a:t>
            </a:r>
          </a:p>
          <a:p>
            <a:pPr marL="171450" indent="-171450">
              <a:buFont typeface="Arial" panose="020B0604020202020204" pitchFamily="34" charset="0"/>
              <a:buChar char="•"/>
            </a:pPr>
            <a:r>
              <a:rPr lang="ru-RU" dirty="0"/>
              <a:t>обычная медная витая пара;</a:t>
            </a:r>
          </a:p>
          <a:p>
            <a:pPr marL="171450" indent="-171450">
              <a:buFont typeface="Arial" panose="020B0604020202020204" pitchFamily="34" charset="0"/>
              <a:buChar char="•"/>
            </a:pPr>
            <a:r>
              <a:rPr lang="ru-RU" dirty="0"/>
              <a:t>коаксиальный кабель;</a:t>
            </a:r>
          </a:p>
          <a:p>
            <a:pPr marL="171450" indent="-171450">
              <a:buFont typeface="Arial" panose="020B0604020202020204" pitchFamily="34" charset="0"/>
              <a:buChar char="•"/>
            </a:pPr>
            <a:r>
              <a:rPr lang="ru-RU" dirty="0"/>
              <a:t>и оптоволоконные линии.</a:t>
            </a:r>
            <a:endParaRPr lang="en-US" dirty="0"/>
          </a:p>
          <a:p>
            <a:pPr marL="0" indent="0">
              <a:buFont typeface="Arial" panose="020B0604020202020204" pitchFamily="34" charset="0"/>
              <a:buNone/>
            </a:pPr>
            <a:endParaRPr lang="ru-RU" dirty="0"/>
          </a:p>
          <a:p>
            <a:r>
              <a:rPr lang="ru-RU" dirty="0"/>
              <a:t>Во-вторых, это </a:t>
            </a:r>
            <a:r>
              <a:rPr lang="ru-RU" b="1" dirty="0"/>
              <a:t>беспроводные каналы</a:t>
            </a:r>
            <a:r>
              <a:rPr lang="ru-RU" dirty="0"/>
              <a:t>, в основном радиосвязь. В этом случае сигнал распространяется в пространстве, а не по проводнику. И, наконец, </a:t>
            </a:r>
            <a:r>
              <a:rPr lang="ru-RU" b="1" dirty="0"/>
              <a:t>спутниковые системы</a:t>
            </a:r>
            <a:r>
              <a:rPr lang="ru-RU" dirty="0"/>
              <a:t>, где передача идёт через спутники связи, обычно на больших расстояниях и с заметными задержками.</a:t>
            </a:r>
            <a:endParaRPr lang="en-US" dirty="0"/>
          </a:p>
          <a:p>
            <a:endParaRPr lang="ru-RU" dirty="0"/>
          </a:p>
          <a:p>
            <a:r>
              <a:rPr lang="ru-RU" dirty="0"/>
              <a:t>Для любой среды нас интересует набор параметров:</a:t>
            </a:r>
          </a:p>
          <a:p>
            <a:pPr marL="171450" indent="-171450">
              <a:buFont typeface="Arial" panose="020B0604020202020204" pitchFamily="34" charset="0"/>
              <a:buChar char="•"/>
            </a:pPr>
            <a:r>
              <a:rPr lang="ru-RU" b="1" dirty="0"/>
              <a:t>Полоса пропускания</a:t>
            </a:r>
            <a:r>
              <a:rPr lang="ru-RU" dirty="0"/>
              <a:t>, измеряемая в герцах — это диапазон частот, которые могут быть использованы для передачи сигналов, и она напрямую связана с максимально достижимой скоростью передачи данных.</a:t>
            </a:r>
          </a:p>
          <a:p>
            <a:pPr marL="171450" indent="-171450">
              <a:buFont typeface="Arial" panose="020B0604020202020204" pitchFamily="34" charset="0"/>
              <a:buChar char="•"/>
            </a:pPr>
            <a:r>
              <a:rPr lang="ru-RU" b="1" dirty="0"/>
              <a:t>Стоимость и сложность установки</a:t>
            </a:r>
            <a:r>
              <a:rPr lang="ru-RU" dirty="0"/>
              <a:t>: протянуть оптоволокно через океан гораздо дороже, чем кинуть витую пару внутри офиса.</a:t>
            </a:r>
          </a:p>
          <a:p>
            <a:pPr marL="171450" indent="-171450">
              <a:buFont typeface="Arial" panose="020B0604020202020204" pitchFamily="34" charset="0"/>
              <a:buChar char="•"/>
            </a:pPr>
            <a:r>
              <a:rPr lang="ru-RU" b="1" dirty="0"/>
              <a:t>Дальность и задержка</a:t>
            </a:r>
            <a:r>
              <a:rPr lang="ru-RU" dirty="0"/>
              <a:t>: например, спутниковая связь позволяет передавать на тысячи километров, но с высокой задержкой.</a:t>
            </a:r>
          </a:p>
          <a:p>
            <a:pPr marL="171450" indent="-171450">
              <a:buFont typeface="Arial" panose="020B0604020202020204" pitchFamily="34" charset="0"/>
              <a:buChar char="•"/>
            </a:pPr>
            <a:r>
              <a:rPr lang="ru-RU" b="1" dirty="0"/>
              <a:t>Устойчивость к помехам</a:t>
            </a:r>
            <a:r>
              <a:rPr lang="ru-RU" dirty="0"/>
              <a:t>: одни среды хорошо защищены от внешних воздействий, другие сильно «шумят».</a:t>
            </a:r>
          </a:p>
          <a:p>
            <a:r>
              <a:rPr lang="ru-RU" dirty="0"/>
              <a:t>Все эти факторы обязательно нужно учитывать при проектировании сетей и выборе технологий для конкретной задачи.</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18</a:t>
            </a:fld>
            <a:endParaRPr lang="en-US"/>
          </a:p>
        </p:txBody>
      </p:sp>
    </p:spTree>
    <p:extLst>
      <p:ext uri="{BB962C8B-B14F-4D97-AF65-F5344CB8AC3E}">
        <p14:creationId xmlns:p14="http://schemas.microsoft.com/office/powerpoint/2010/main" val="16115902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Немного нестандартный, но очень показательный метод передачи данных: </a:t>
            </a:r>
            <a:r>
              <a:rPr lang="ru-RU" b="1" dirty="0"/>
              <a:t>физическая транспортировка носителей</a:t>
            </a:r>
            <a:r>
              <a:rPr lang="ru-RU" dirty="0"/>
              <a:t>. Идея проста: мы записываем данные, например, на магнитные картриджи, грузим их в коробки, коробки — в грузовик, и отправляем их физически в нужный дата-центр.</a:t>
            </a:r>
          </a:p>
          <a:p>
            <a:endParaRPr lang="ru-RU" dirty="0"/>
          </a:p>
          <a:p>
            <a:r>
              <a:rPr lang="ru-RU" dirty="0"/>
              <a:t>Возьмём конкретные числа. Один картридж </a:t>
            </a:r>
            <a:r>
              <a:rPr lang="ru-RU" dirty="0" err="1"/>
              <a:t>Ultrium</a:t>
            </a:r>
            <a:r>
              <a:rPr lang="ru-RU" dirty="0"/>
              <a:t> способен хранить до </a:t>
            </a:r>
            <a:r>
              <a:rPr lang="ru-RU" b="1" dirty="0"/>
              <a:t>30 Тбайт</a:t>
            </a:r>
            <a:r>
              <a:rPr lang="ru-RU" dirty="0"/>
              <a:t> данных. Если мы наполняем коробку примерно </a:t>
            </a:r>
            <a:r>
              <a:rPr lang="ru-RU" b="1" dirty="0"/>
              <a:t>1000 такими картриджами</a:t>
            </a:r>
            <a:r>
              <a:rPr lang="ru-RU" dirty="0"/>
              <a:t>, общий объём получается около </a:t>
            </a:r>
            <a:r>
              <a:rPr lang="ru-RU" b="1" dirty="0"/>
              <a:t>240 </a:t>
            </a:r>
            <a:r>
              <a:rPr lang="ru-RU" b="1" dirty="0" err="1"/>
              <a:t>петабит</a:t>
            </a:r>
            <a:r>
              <a:rPr lang="ru-RU" dirty="0"/>
              <a:t>. Если такой груз доставить, скажем, за сутки, то простое деление объёма на время даёт </a:t>
            </a:r>
            <a:r>
              <a:rPr lang="ru-RU" b="1" dirty="0"/>
              <a:t>эффективную пропускную способность порядка тысяч гигабит в секунду</a:t>
            </a:r>
            <a:r>
              <a:rPr lang="ru-RU" dirty="0"/>
              <a:t>. Если расстояние небольшое, и дорога занимает около часа, пропускная способность оказывается ещё на порядке выше — десятки терабит в секунду.</a:t>
            </a:r>
          </a:p>
          <a:p>
            <a:r>
              <a:rPr lang="ru-RU" dirty="0"/>
              <a:t>По стоимости ситуация аналогичная: при массовых поставках носителей и единовременной транспортировке гигантских объёмов данных </a:t>
            </a:r>
            <a:r>
              <a:rPr lang="ru-RU" b="1" dirty="0"/>
              <a:t>стоимость пересылки одного гигабайта получается очень низкой</a:t>
            </a:r>
            <a:r>
              <a:rPr lang="ru-RU" dirty="0"/>
              <a:t>, значительно ниже стоимости передачи того же объёма по сети.</a:t>
            </a:r>
          </a:p>
          <a:p>
            <a:r>
              <a:rPr lang="ru-RU" dirty="0"/>
              <a:t>Практический пример — сервис </a:t>
            </a:r>
            <a:r>
              <a:rPr lang="ru-RU" b="1" dirty="0"/>
              <a:t>Amazon </a:t>
            </a:r>
            <a:r>
              <a:rPr lang="ru-RU" b="1" dirty="0" err="1"/>
              <a:t>Snowmobile</a:t>
            </a:r>
            <a:r>
              <a:rPr lang="ru-RU" dirty="0"/>
              <a:t>: это буквально грузовик, заполненный накопителями, общая ёмкость которого достигает </a:t>
            </a:r>
            <a:r>
              <a:rPr lang="ru-RU" b="1" dirty="0"/>
              <a:t>100 Пбайт</a:t>
            </a:r>
            <a:r>
              <a:rPr lang="ru-RU" dirty="0"/>
              <a:t>. Такой подход используют компании, которые хотят перенести огромные массивы данных в облако и сделать это быстрее и дешевле, чем по сети.</a:t>
            </a:r>
            <a:br>
              <a:rPr lang="ru-RU" dirty="0"/>
            </a:br>
            <a:r>
              <a:rPr lang="ru-RU" dirty="0"/>
              <a:t>Вывод, который часто цитируют: </a:t>
            </a:r>
            <a:r>
              <a:rPr lang="ru-RU" i="1" dirty="0"/>
              <a:t>«Никогда не недооценивайте пропускную способность грузовика, несущегося по шоссе, набитого магнитными лентами»</a:t>
            </a:r>
            <a:r>
              <a:rPr lang="ru-RU" dirty="0"/>
              <a:t>.</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19</a:t>
            </a:fld>
            <a:endParaRPr lang="en-US"/>
          </a:p>
        </p:txBody>
      </p:sp>
    </p:spTree>
    <p:extLst>
      <p:ext uri="{BB962C8B-B14F-4D97-AF65-F5344CB8AC3E}">
        <p14:creationId xmlns:p14="http://schemas.microsoft.com/office/powerpoint/2010/main" val="8357105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Витая пара — одна из самых старых и до сих пор </a:t>
            </a:r>
            <a:r>
              <a:rPr lang="ru-RU" b="1" dirty="0"/>
              <a:t>самых массовых сред передачи данных</a:t>
            </a:r>
            <a:r>
              <a:rPr lang="ru-RU" dirty="0"/>
              <a:t>. Она представляет собой </a:t>
            </a:r>
            <a:r>
              <a:rPr lang="ru-RU" b="1" dirty="0"/>
              <a:t>два медных проводника</a:t>
            </a:r>
            <a:r>
              <a:rPr lang="ru-RU" dirty="0"/>
              <a:t>, каждый в своей изоляции, скрученных друг с другом спиралью. Такое скручивание нужно не для красоты: если провода идут параллельно, они образуют хорошую антенну и сильно улавливают помехи. Скрученная структура позволяет </a:t>
            </a:r>
            <a:r>
              <a:rPr lang="ru-RU" b="1" dirty="0"/>
              <a:t>частично компенсировать внешние электромагнитные воздействия</a:t>
            </a:r>
            <a:r>
              <a:rPr lang="ru-RU" dirty="0"/>
              <a:t>, так как шум примерно одинаково влияет на оба проводника.</a:t>
            </a:r>
            <a:endParaRPr lang="en-US" dirty="0"/>
          </a:p>
          <a:p>
            <a:endParaRPr lang="ru-RU" dirty="0"/>
          </a:p>
          <a:p>
            <a:r>
              <a:rPr lang="ru-RU" dirty="0"/>
              <a:t>Сигнал в такой линии передаётся не как абсолютное напряжение относительно земли, а как </a:t>
            </a:r>
            <a:r>
              <a:rPr lang="ru-RU" b="1" dirty="0"/>
              <a:t>разность потенциалов между двумя проводами</a:t>
            </a:r>
            <a:r>
              <a:rPr lang="ru-RU" dirty="0"/>
              <a:t>. Это дополнительно повышает устойчивость к помехам, потому что общий шум вычитается.</a:t>
            </a:r>
            <a:endParaRPr lang="en-US" dirty="0"/>
          </a:p>
          <a:p>
            <a:endParaRPr lang="ru-RU" dirty="0"/>
          </a:p>
          <a:p>
            <a:r>
              <a:rPr lang="ru-RU" dirty="0"/>
              <a:t>Исторически витая пара широко использовалась в </a:t>
            </a:r>
            <a:r>
              <a:rPr lang="ru-RU" b="1" dirty="0"/>
              <a:t>телефонных сетях</a:t>
            </a:r>
            <a:r>
              <a:rPr lang="ru-RU" dirty="0"/>
              <a:t>: большинство телефонных линий — это именно витая пара. Сегодня по этим же проводам часто идёт и телефонный трафик, и доступ в интернет по технологиям DSL. В локальных сетях витая пара — основа стандартов </a:t>
            </a:r>
            <a:r>
              <a:rPr lang="ru-RU" b="1" dirty="0"/>
              <a:t>Ethernet</a:t>
            </a:r>
            <a:r>
              <a:rPr lang="ru-RU" dirty="0"/>
              <a:t>: сначала для скоростей 10 и 100 Мбит/с, затем 1 Гбит/с и выше.</a:t>
            </a:r>
            <a:endParaRPr lang="en-US" dirty="0"/>
          </a:p>
          <a:p>
            <a:endParaRPr lang="ru-RU" dirty="0"/>
          </a:p>
          <a:p>
            <a:r>
              <a:rPr lang="ru-RU" dirty="0"/>
              <a:t>Существует несколько категорий кабелей:</a:t>
            </a:r>
          </a:p>
          <a:p>
            <a:r>
              <a:rPr lang="ru-RU" b="1" dirty="0" err="1"/>
              <a:t>Cat</a:t>
            </a:r>
            <a:r>
              <a:rPr lang="ru-RU" b="1" dirty="0"/>
              <a:t> 3</a:t>
            </a:r>
            <a:r>
              <a:rPr lang="ru-RU" dirty="0"/>
              <a:t> — старые малоскоростные решения;</a:t>
            </a:r>
          </a:p>
          <a:p>
            <a:r>
              <a:rPr lang="ru-RU" b="1" dirty="0" err="1"/>
              <a:t>Cat</a:t>
            </a:r>
            <a:r>
              <a:rPr lang="ru-RU" b="1" dirty="0"/>
              <a:t> 5 и 5e</a:t>
            </a:r>
            <a:r>
              <a:rPr lang="ru-RU" dirty="0"/>
              <a:t> — наиболее распространены для 100 Мбит/с и 1 Гбит/с;</a:t>
            </a:r>
          </a:p>
          <a:p>
            <a:r>
              <a:rPr lang="ru-RU" b="1" dirty="0" err="1"/>
              <a:t>Cat</a:t>
            </a:r>
            <a:r>
              <a:rPr lang="ru-RU" b="1" dirty="0"/>
              <a:t> 6/6A, 7, 8</a:t>
            </a:r>
            <a:r>
              <a:rPr lang="ru-RU" dirty="0"/>
              <a:t> — рассчитаны на ещё более высокие частоты и скорости, вплоть до 10 Гбит/с и выше на ограниченных расстояниях.</a:t>
            </a:r>
          </a:p>
          <a:p>
            <a:r>
              <a:rPr lang="ru-RU" dirty="0"/>
              <a:t>Здесь же важно вспомнить термины </a:t>
            </a:r>
            <a:r>
              <a:rPr lang="ru-RU" b="1" dirty="0" err="1"/>
              <a:t>simplex</a:t>
            </a:r>
            <a:r>
              <a:rPr lang="ru-RU" b="1" dirty="0"/>
              <a:t>, </a:t>
            </a:r>
            <a:r>
              <a:rPr lang="ru-RU" b="1" dirty="0" err="1"/>
              <a:t>half-duplex</a:t>
            </a:r>
            <a:r>
              <a:rPr lang="ru-RU" b="1" dirty="0"/>
              <a:t> и </a:t>
            </a:r>
            <a:r>
              <a:rPr lang="ru-RU" b="1" dirty="0" err="1"/>
              <a:t>full-duplex</a:t>
            </a:r>
            <a:r>
              <a:rPr lang="ru-RU" dirty="0"/>
              <a:t>:</a:t>
            </a:r>
          </a:p>
          <a:p>
            <a:r>
              <a:rPr lang="ru-RU" dirty="0" err="1"/>
              <a:t>simplex</a:t>
            </a:r>
            <a:r>
              <a:rPr lang="ru-RU" dirty="0"/>
              <a:t> — передача только в одном направлении;</a:t>
            </a:r>
          </a:p>
          <a:p>
            <a:r>
              <a:rPr lang="ru-RU" dirty="0" err="1"/>
              <a:t>half-duplex</a:t>
            </a:r>
            <a:r>
              <a:rPr lang="ru-RU" dirty="0"/>
              <a:t> — в оба направления, но не одновременно;</a:t>
            </a:r>
          </a:p>
          <a:p>
            <a:r>
              <a:rPr lang="ru-RU" dirty="0" err="1"/>
              <a:t>full-duplex</a:t>
            </a:r>
            <a:r>
              <a:rPr lang="ru-RU" dirty="0"/>
              <a:t> — одновременная передача в обе стороны.</a:t>
            </a:r>
            <a:br>
              <a:rPr lang="ru-RU" dirty="0"/>
            </a:br>
            <a:r>
              <a:rPr lang="ru-RU" dirty="0"/>
              <a:t>Современные Ethernet-сети по витой паре, как правило, работают в режиме </a:t>
            </a:r>
            <a:r>
              <a:rPr lang="ru-RU" dirty="0" err="1"/>
              <a:t>full-duplex</a:t>
            </a:r>
            <a:r>
              <a:rPr lang="ru-RU" dirty="0"/>
              <a:t>.</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20</a:t>
            </a:fld>
            <a:endParaRPr lang="en-US"/>
          </a:p>
        </p:txBody>
      </p:sp>
    </p:spTree>
    <p:extLst>
      <p:ext uri="{BB962C8B-B14F-4D97-AF65-F5344CB8AC3E}">
        <p14:creationId xmlns:p14="http://schemas.microsoft.com/office/powerpoint/2010/main" val="15428756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Коаксиальный кабель устроен сложнее, чем витая пара. Внутри находится </a:t>
            </a:r>
            <a:r>
              <a:rPr lang="ru-RU" b="1" dirty="0"/>
              <a:t>жёсткая центральная жила</a:t>
            </a:r>
            <a:r>
              <a:rPr lang="ru-RU" dirty="0"/>
              <a:t>, вокруг неё — изоляционный слой, а затем — </a:t>
            </a:r>
            <a:r>
              <a:rPr lang="ru-RU" b="1" dirty="0"/>
              <a:t>цилиндрический внешний проводник</a:t>
            </a:r>
            <a:r>
              <a:rPr lang="ru-RU" dirty="0"/>
              <a:t>, обычно в виде металлической оплётки. Сверху — защитная оболочка. Такое строение обеспечивает хорошее экранирование, то есть защита от внешних электромагнитных помех гораздо лучше, чем у неэкранированной витой пары.</a:t>
            </a:r>
          </a:p>
          <a:p>
            <a:endParaRPr lang="ru-RU" dirty="0"/>
          </a:p>
          <a:p>
            <a:r>
              <a:rPr lang="ru-RU" dirty="0"/>
              <a:t>Благодаря экранированию и геометрии коаксиал обладает </a:t>
            </a:r>
            <a:r>
              <a:rPr lang="ru-RU" b="1" dirty="0"/>
              <a:t>широкой полосой пропускания</a:t>
            </a:r>
            <a:r>
              <a:rPr lang="ru-RU" dirty="0"/>
              <a:t> — современные кабели поддерживают частоты вплоть до нескольких гигагерц. Этого достаточно, чтобы по одному кабелю передавать множество каналов — например, телевизионных программ или потоки данных.</a:t>
            </a:r>
          </a:p>
          <a:p>
            <a:endParaRPr lang="ru-RU" dirty="0"/>
          </a:p>
          <a:p>
            <a:r>
              <a:rPr lang="ru-RU" dirty="0"/>
              <a:t>Исторически сложилось разделение на два основных типа:</a:t>
            </a:r>
          </a:p>
          <a:p>
            <a:r>
              <a:rPr lang="ru-RU" b="1" dirty="0"/>
              <a:t>50-омные кабели</a:t>
            </a:r>
            <a:r>
              <a:rPr lang="ru-RU" dirty="0"/>
              <a:t> — чаще для цифровых данных;</a:t>
            </a:r>
          </a:p>
          <a:p>
            <a:r>
              <a:rPr lang="ru-RU" b="1" dirty="0"/>
              <a:t>75-омные</a:t>
            </a:r>
            <a:r>
              <a:rPr lang="ru-RU" dirty="0"/>
              <a:t> — для аналоговых сигналов и кабельного телевидения.</a:t>
            </a:r>
            <a:br>
              <a:rPr lang="ru-RU" dirty="0"/>
            </a:br>
            <a:r>
              <a:rPr lang="ru-RU" dirty="0"/>
              <a:t>Сегодня такие кабели широко используются для </a:t>
            </a:r>
            <a:r>
              <a:rPr lang="ru-RU" b="1" dirty="0"/>
              <a:t>кабельного ТВ</a:t>
            </a:r>
            <a:r>
              <a:rPr lang="ru-RU" dirty="0"/>
              <a:t> и </a:t>
            </a:r>
            <a:r>
              <a:rPr lang="ru-RU" b="1" dirty="0"/>
              <a:t>широкополосного доступа в интернет</a:t>
            </a:r>
            <a:r>
              <a:rPr lang="ru-RU" dirty="0"/>
              <a:t>.</a:t>
            </a:r>
          </a:p>
          <a:p>
            <a:endParaRPr lang="ru-RU" dirty="0"/>
          </a:p>
          <a:p>
            <a:r>
              <a:rPr lang="ru-RU" dirty="0"/>
              <a:t>Теперь про </a:t>
            </a:r>
            <a:r>
              <a:rPr lang="ru-RU" b="1" dirty="0"/>
              <a:t>линии электропередач</a:t>
            </a:r>
            <a:r>
              <a:rPr lang="ru-RU" dirty="0"/>
              <a:t>. Идея кажется очень привлекательной: проводка в доме уже есть, значит, можно передавать по ней не только энергию, но и данные. Для этого к обычному низкочастотному сигналу сети (50–60 Гц) добавляют высокочастотный информационный сигнал.</a:t>
            </a:r>
          </a:p>
          <a:p>
            <a:r>
              <a:rPr lang="ru-RU" dirty="0"/>
              <a:t>Плюс очевиден: не нужно прокладывать новые кабели, достаточно воткнуть адаптер в розетку. Но минусов тоже много: </a:t>
            </a:r>
          </a:p>
          <a:p>
            <a:pPr marL="171450" indent="-171450">
              <a:buFont typeface="Arial" panose="020B0604020202020204" pitchFamily="34" charset="0"/>
              <a:buChar char="•"/>
            </a:pPr>
            <a:r>
              <a:rPr lang="ru-RU" dirty="0"/>
              <a:t>домашняя электропроводка </a:t>
            </a:r>
            <a:r>
              <a:rPr lang="ru-RU" b="1" dirty="0"/>
              <a:t>не рассчитана на высокочастотные сигналы</a:t>
            </a:r>
            <a:r>
              <a:rPr lang="ru-RU" dirty="0"/>
              <a:t>, поэтому они сильно затухают;</a:t>
            </a:r>
          </a:p>
          <a:p>
            <a:pPr marL="171450" indent="-171450">
              <a:buFont typeface="Arial" panose="020B0604020202020204" pitchFamily="34" charset="0"/>
              <a:buChar char="•"/>
            </a:pPr>
            <a:r>
              <a:rPr lang="ru-RU" dirty="0"/>
              <a:t>включение и выключение бытовых приборов создаёт </a:t>
            </a:r>
            <a:r>
              <a:rPr lang="ru-RU" b="1" dirty="0"/>
              <a:t>широкополосный шум</a:t>
            </a:r>
            <a:r>
              <a:rPr lang="ru-RU" dirty="0"/>
              <a:t>;</a:t>
            </a:r>
          </a:p>
          <a:p>
            <a:pPr marL="171450" indent="-171450">
              <a:buFont typeface="Arial" panose="020B0604020202020204" pitchFamily="34" charset="0"/>
              <a:buChar char="•"/>
            </a:pPr>
            <a:r>
              <a:rPr lang="ru-RU" dirty="0"/>
              <a:t>проводка часто работает как антенна, улавливая внешние помехи и излучая собственные.</a:t>
            </a:r>
          </a:p>
          <a:p>
            <a:r>
              <a:rPr lang="ru-RU" dirty="0"/>
              <a:t>Тем не менее при современном уровне технологий можно добиться скоростей </a:t>
            </a:r>
            <a:r>
              <a:rPr lang="ru-RU" b="1" dirty="0"/>
              <a:t>сотни мегабит в секунду</a:t>
            </a:r>
            <a:r>
              <a:rPr lang="ru-RU" dirty="0"/>
              <a:t> на коротких расстояниях внутри помещения. Поэтому такие решения используются, например, для организации домашней сети по существующей электропроводке.</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21</a:t>
            </a:fld>
            <a:endParaRPr lang="en-US"/>
          </a:p>
        </p:txBody>
      </p:sp>
    </p:spTree>
    <p:extLst>
      <p:ext uri="{BB962C8B-B14F-4D97-AF65-F5344CB8AC3E}">
        <p14:creationId xmlns:p14="http://schemas.microsoft.com/office/powerpoint/2010/main" val="31329086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Оптоволокно — это среда, где данные передаются </a:t>
            </a:r>
            <a:r>
              <a:rPr lang="ru-RU" b="1" dirty="0"/>
              <a:t>светом</a:t>
            </a:r>
            <a:r>
              <a:rPr lang="ru-RU" dirty="0"/>
              <a:t>, а не электрическим током. Конструкция типичного оптоволоконного кабеля включает </a:t>
            </a:r>
            <a:r>
              <a:rPr lang="ru-RU" b="1" dirty="0"/>
              <a:t>стеклянный сердечник</a:t>
            </a:r>
            <a:r>
              <a:rPr lang="ru-RU" dirty="0"/>
              <a:t>, по которому распространяется свет, и окружающую его оболочку из материала с </a:t>
            </a:r>
            <a:r>
              <a:rPr lang="ru-RU" b="1" dirty="0"/>
              <a:t>меньшим коэффициентом преломления</a:t>
            </a:r>
            <a:r>
              <a:rPr lang="ru-RU" dirty="0"/>
              <a:t>. Именно разница в коэффициентах преломления создаёт условия для </a:t>
            </a:r>
            <a:r>
              <a:rPr lang="ru-RU" b="1" dirty="0"/>
              <a:t>полного внутреннего отражения</a:t>
            </a:r>
            <a:r>
              <a:rPr lang="ru-RU" dirty="0"/>
              <a:t>: свет, попадая на границу под достаточным углом, не выходит наружу, а многократно отражается и «заперт» внутри сердечника.</a:t>
            </a:r>
          </a:p>
          <a:p>
            <a:endParaRPr lang="ru-RU" dirty="0"/>
          </a:p>
          <a:p>
            <a:r>
              <a:rPr lang="ru-RU" dirty="0"/>
              <a:t>Различают два основных типа волокна:</a:t>
            </a:r>
          </a:p>
          <a:p>
            <a:pPr marL="171450" indent="-171450">
              <a:buFont typeface="Arial" panose="020B0604020202020204" pitchFamily="34" charset="0"/>
              <a:buChar char="•"/>
            </a:pPr>
            <a:r>
              <a:rPr lang="ru-RU" b="1" dirty="0"/>
              <a:t>Многомодовое</a:t>
            </a:r>
            <a:r>
              <a:rPr lang="ru-RU" dirty="0"/>
              <a:t>. Диаметр сердечника порядка 50 микрометров — это примерно толщина человеческого волоса. В нём могут распространяться лучи света под разными углами, то есть по разным «модам», поэтому оно подходит для сравнительно небольших расстояний.</a:t>
            </a:r>
          </a:p>
          <a:p>
            <a:pPr marL="171450" indent="-171450">
              <a:buFont typeface="Arial" panose="020B0604020202020204" pitchFamily="34" charset="0"/>
              <a:buChar char="•"/>
            </a:pPr>
            <a:r>
              <a:rPr lang="ru-RU" b="1" dirty="0"/>
              <a:t>Одномодовое</a:t>
            </a:r>
            <a:r>
              <a:rPr lang="ru-RU" dirty="0"/>
              <a:t>. Здесь диаметр сердечника гораздо меньше — около 8–10 микрометров. В таких волокнах поддерживается только один режим распространения света, без множественных отражений под разными углами. Это позволяет передавать сигналы на </a:t>
            </a:r>
            <a:r>
              <a:rPr lang="ru-RU" b="1" dirty="0"/>
              <a:t>гораздо большие расстояния — до десятков и сотен километров без усиления</a:t>
            </a:r>
            <a:r>
              <a:rPr lang="ru-RU" dirty="0"/>
              <a:t> и с высокой скоростью.</a:t>
            </a:r>
          </a:p>
          <a:p>
            <a:endParaRPr lang="ru-RU" dirty="0"/>
          </a:p>
          <a:p>
            <a:r>
              <a:rPr lang="ru-RU" dirty="0"/>
              <a:t>Оптоволоконные системы используют несколько </a:t>
            </a:r>
            <a:r>
              <a:rPr lang="ru-RU" b="1" dirty="0"/>
              <a:t>рабочих диапазонов длин волн</a:t>
            </a:r>
            <a:r>
              <a:rPr lang="ru-RU" dirty="0"/>
              <a:t>: примерно 0.85, 1.30 и 1.55 микрометра. Эти диапазоны выбраны так, чтобы затухание при прохождении через стекло было минимальным.</a:t>
            </a:r>
          </a:p>
          <a:p>
            <a:endParaRPr lang="ru-RU" dirty="0"/>
          </a:p>
          <a:p>
            <a:r>
              <a:rPr lang="ru-RU" dirty="0"/>
              <a:t>Существует проблема, называемая </a:t>
            </a:r>
            <a:r>
              <a:rPr lang="ru-RU" b="1" dirty="0"/>
              <a:t>хроматической дисперсией</a:t>
            </a:r>
            <a:r>
              <a:rPr lang="ru-RU" dirty="0"/>
              <a:t>: световые импульсы со временем «растягиваются» по длине, поскольку разные частоты (длины волн) распространяются немного по-разному. Из-за этого импульсы могут начать накладываться друг на друга, что ограничивает максимальную скорость передачи.</a:t>
            </a:r>
          </a:p>
          <a:p>
            <a:br>
              <a:rPr lang="ru-RU" dirty="0"/>
            </a:br>
            <a:r>
              <a:rPr lang="ru-RU" dirty="0"/>
              <a:t>Однако оказалось, что если формировать импульсы специальной формы, так называемые </a:t>
            </a:r>
            <a:r>
              <a:rPr lang="ru-RU" b="1" dirty="0"/>
              <a:t>солитоны</a:t>
            </a:r>
            <a:r>
              <a:rPr lang="ru-RU" dirty="0"/>
              <a:t>, то эффекты дисперсии можно практически компенсировать, и сигналы могут проходить на большие расстояния без значительных искажений формы.</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22</a:t>
            </a:fld>
            <a:endParaRPr lang="en-US"/>
          </a:p>
        </p:txBody>
      </p:sp>
    </p:spTree>
    <p:extLst>
      <p:ext uri="{BB962C8B-B14F-4D97-AF65-F5344CB8AC3E}">
        <p14:creationId xmlns:p14="http://schemas.microsoft.com/office/powerpoint/2010/main" val="42780512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Завершим этот блок сравнением оптоволокна с традиционными медными проводами.</a:t>
            </a:r>
            <a:br>
              <a:rPr lang="ru-RU" dirty="0"/>
            </a:br>
            <a:r>
              <a:rPr lang="ru-RU" dirty="0"/>
              <a:t>Первое и главное преимущество оптоволокна — </a:t>
            </a:r>
            <a:r>
              <a:rPr lang="ru-RU" b="1" dirty="0"/>
              <a:t>огромная потенциальная полоса пропускания</a:t>
            </a:r>
            <a:r>
              <a:rPr lang="ru-RU" dirty="0"/>
              <a:t>. Теоретически она измеряется десятками терабит в секунду для одного волокна. Это на порядки больше, чем у медных кабелей, и делает оптоволокно естественным выбором для магистральных линий и высокоскоростного интернета.</a:t>
            </a:r>
          </a:p>
          <a:p>
            <a:endParaRPr lang="ru-RU" dirty="0"/>
          </a:p>
          <a:p>
            <a:r>
              <a:rPr lang="ru-RU" dirty="0"/>
              <a:t>Второе важное преимущество — </a:t>
            </a:r>
            <a:r>
              <a:rPr lang="ru-RU" b="1" dirty="0"/>
              <a:t>низкое затухание сигнала</a:t>
            </a:r>
            <a:r>
              <a:rPr lang="ru-RU" dirty="0"/>
              <a:t>. Для междугородних линий достаточно устанавливать усилители примерно раз в 50 км, тогда как для медных линий повторители требуются гораздо чаще — примерно каждые 5 км. Это напрямую влияет на стоимость эксплуатации.</a:t>
            </a:r>
          </a:p>
          <a:p>
            <a:r>
              <a:rPr lang="ru-RU" dirty="0"/>
              <a:t>Третье — устойчивость к внешним воздействиям. Оптоволокно </a:t>
            </a:r>
            <a:r>
              <a:rPr lang="ru-RU" b="1" dirty="0"/>
              <a:t>не чувствительно к электромагнитным помехам</a:t>
            </a:r>
            <a:r>
              <a:rPr lang="ru-RU" dirty="0"/>
              <a:t>, не боится ударов молний и скачков напряжения. Кроме того, стекло не подвержено коррозии, в отличие от металла, что особенно важно в агрессивных средах.</a:t>
            </a:r>
          </a:p>
          <a:p>
            <a:endParaRPr lang="ru-RU" dirty="0"/>
          </a:p>
          <a:p>
            <a:r>
              <a:rPr lang="ru-RU" dirty="0"/>
              <a:t>Отдельный плюс — </a:t>
            </a:r>
            <a:r>
              <a:rPr lang="ru-RU" b="1" dirty="0"/>
              <a:t>вес и размеры</a:t>
            </a:r>
            <a:r>
              <a:rPr lang="ru-RU" dirty="0"/>
              <a:t>. Пучок </a:t>
            </a:r>
            <a:r>
              <a:rPr lang="ru-RU" dirty="0" err="1"/>
              <a:t>оптоволокон</a:t>
            </a:r>
            <a:r>
              <a:rPr lang="ru-RU" dirty="0"/>
              <a:t> с огромной суммарной пропускной способностью может быть намного легче и тоньше, чем пучок медных кабелей с существенно меньшей скоростью передачи. Это упрощает прокладку магистралей и разгружает кабель-каналы, которые часто уже забиты медью.</a:t>
            </a:r>
          </a:p>
          <a:p>
            <a:endParaRPr lang="ru-RU" dirty="0"/>
          </a:p>
          <a:p>
            <a:r>
              <a:rPr lang="ru-RU" dirty="0"/>
              <a:t>Наконец, оптоволокно сложнее </a:t>
            </a:r>
            <a:r>
              <a:rPr lang="ru-RU" b="1" dirty="0"/>
              <a:t>прослушать</a:t>
            </a:r>
            <a:r>
              <a:rPr lang="ru-RU" dirty="0"/>
              <a:t>: оно практически не излучает энергию наружу, поэтому незаметно «подключиться» и перехватывать трафик гораздо сложнее, чем к медному кабелю.</a:t>
            </a:r>
          </a:p>
          <a:p>
            <a:r>
              <a:rPr lang="ru-RU" dirty="0"/>
              <a:t>Однако есть и недостатки. Монтаж оптоволокна требует </a:t>
            </a:r>
            <a:r>
              <a:rPr lang="ru-RU" b="1" dirty="0"/>
              <a:t>специальной квалификации</a:t>
            </a:r>
            <a:r>
              <a:rPr lang="ru-RU" dirty="0"/>
              <a:t>: работы по сварке, сращиванию, аккуратной укладке. Волокно легко повредить при сильном изгибе — это хрупкий материал.</a:t>
            </a:r>
          </a:p>
          <a:p>
            <a:br>
              <a:rPr lang="ru-RU" dirty="0"/>
            </a:br>
            <a:r>
              <a:rPr lang="ru-RU" dirty="0"/>
              <a:t>Кроме того, оптическая передача по своей природе </a:t>
            </a:r>
            <a:r>
              <a:rPr lang="ru-RU" b="1" dirty="0"/>
              <a:t>однонаправленная</a:t>
            </a:r>
            <a:r>
              <a:rPr lang="ru-RU" dirty="0"/>
              <a:t>: чтобы обеспечить двусторонний обмен, нужны либо два волокна, либо использование разных длин волн в одном волокне. И, наконец, </a:t>
            </a:r>
            <a:r>
              <a:rPr lang="ru-RU" b="1" dirty="0"/>
              <a:t>оптические модули, коннекторы и активное оборудование</a:t>
            </a:r>
            <a:r>
              <a:rPr lang="ru-RU" dirty="0"/>
              <a:t> обычно стоят дороже, чем аналогичная медная электроника.</a:t>
            </a:r>
          </a:p>
          <a:p>
            <a:endParaRPr lang="ru-RU" dirty="0"/>
          </a:p>
          <a:p>
            <a:r>
              <a:rPr lang="ru-RU" dirty="0"/>
              <a:t>Несмотря на это, почти всё </a:t>
            </a:r>
            <a:r>
              <a:rPr lang="ru-RU" b="1" dirty="0"/>
              <a:t>дальнемагистральное и операторское</a:t>
            </a:r>
            <a:r>
              <a:rPr lang="ru-RU" dirty="0"/>
              <a:t> связное оборудование в мире уже перешло или переходит на оптоволокно, и эта тенденция будет только усиливаться.</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23</a:t>
            </a:fld>
            <a:endParaRPr lang="en-US"/>
          </a:p>
        </p:txBody>
      </p:sp>
    </p:spTree>
    <p:extLst>
      <p:ext uri="{BB962C8B-B14F-4D97-AF65-F5344CB8AC3E}">
        <p14:creationId xmlns:p14="http://schemas.microsoft.com/office/powerpoint/2010/main" val="3884225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24</a:t>
            </a:fld>
            <a:endParaRPr lang="en-US"/>
          </a:p>
        </p:txBody>
      </p:sp>
    </p:spTree>
    <p:extLst>
      <p:ext uri="{BB962C8B-B14F-4D97-AF65-F5344CB8AC3E}">
        <p14:creationId xmlns:p14="http://schemas.microsoft.com/office/powerpoint/2010/main" val="2252786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я хочу напомнить, насколько сильно мы уже зависим от беспроводной связи. Её используют не только смартфоны и ноутбуки — но и «умные» часы, браслеты, датчики, камеры, бытовая техника, элементы «умного дома». Все эти устройства постоянно обмениваются данными между собой и с удалёнными серверами.</a:t>
            </a:r>
          </a:p>
          <a:p>
            <a:endParaRPr lang="ru-RU" dirty="0"/>
          </a:p>
          <a:p>
            <a:r>
              <a:rPr lang="ru-RU" dirty="0"/>
              <a:t>Важно понимать, что беспроводная связь нужна </a:t>
            </a:r>
            <a:r>
              <a:rPr lang="ru-RU" b="1" dirty="0"/>
              <a:t>не только мобильным устройствам</a:t>
            </a:r>
            <a:r>
              <a:rPr lang="ru-RU" dirty="0"/>
              <a:t>. Иногда даже для стационарных систем проще и дешевле использовать радиоканал, чем прокладывать кабель. Типичные примеры — сложный рельеф, труднодоступная местность: горы, джунгли, болота, удалённые поселения. Там протянуть оптоволокно дорого или физически сложно, а установить радиосистему — вполне реально.</a:t>
            </a:r>
          </a:p>
          <a:p>
            <a:endParaRPr lang="ru-RU" dirty="0"/>
          </a:p>
          <a:p>
            <a:r>
              <a:rPr lang="ru-RU" dirty="0"/>
              <a:t>Исторически современная беспроводная передача данных в сетевом смысле начала активно развиваться в 1970-е годы. Один из ключевых проектов — </a:t>
            </a:r>
            <a:r>
              <a:rPr lang="ru-RU" b="1" dirty="0"/>
              <a:t>ALOHA</a:t>
            </a:r>
            <a:r>
              <a:rPr lang="ru-RU" dirty="0"/>
              <a:t> профессора Нормана Абрамсона на Гавайях. Острова были отделены океаном, телефонная инфраструктура была слабой, и это подтолкнуло к разработке радиосети для обмена данными. </a:t>
            </a:r>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25</a:t>
            </a:fld>
            <a:endParaRPr lang="en-US"/>
          </a:p>
        </p:txBody>
      </p:sp>
    </p:spTree>
    <p:extLst>
      <p:ext uri="{BB962C8B-B14F-4D97-AF65-F5344CB8AC3E}">
        <p14:creationId xmlns:p14="http://schemas.microsoft.com/office/powerpoint/2010/main" val="16190552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Чтобы понимать беспроводную связь, нужно вспомнить базовую физику электромагнитных волн. Любое ускоренное движение заряда, в частности электрона, порождает </a:t>
            </a:r>
            <a:r>
              <a:rPr lang="ru-RU" b="1" dirty="0"/>
              <a:t>электромагнитную волну</a:t>
            </a:r>
            <a:r>
              <a:rPr lang="ru-RU" dirty="0"/>
              <a:t>, которая может распространяться даже в вакууме — без проводников и среды.</a:t>
            </a:r>
          </a:p>
          <a:p>
            <a:endParaRPr lang="ru-RU" dirty="0"/>
          </a:p>
          <a:p>
            <a:r>
              <a:rPr lang="ru-RU" dirty="0"/>
              <a:t>У любой волны есть </a:t>
            </a:r>
            <a:r>
              <a:rPr lang="ru-RU" b="1" dirty="0"/>
              <a:t>частота f</a:t>
            </a:r>
            <a:r>
              <a:rPr lang="ru-RU" dirty="0"/>
              <a:t>, измеряемая в герцах — это число колебаний в секунду, и есть </a:t>
            </a:r>
            <a:r>
              <a:rPr lang="ru-RU" b="1" dirty="0"/>
              <a:t>длина волны λ</a:t>
            </a:r>
            <a:r>
              <a:rPr lang="ru-RU" dirty="0"/>
              <a:t> — расстояние между соседними максимумами (или минимумами) волны. В вакууме все электромагнитные волны, независимо от частоты, распространяются с одной и той же скоростью — </a:t>
            </a:r>
            <a:r>
              <a:rPr lang="ru-RU" b="1" dirty="0"/>
              <a:t>скоростью света</a:t>
            </a:r>
            <a:r>
              <a:rPr lang="ru-RU" dirty="0"/>
              <a:t>, примерно 3 × 10⁸ м/с.</a:t>
            </a:r>
          </a:p>
          <a:p>
            <a:endParaRPr lang="ru-RU" dirty="0"/>
          </a:p>
          <a:p>
            <a:r>
              <a:rPr lang="ru-RU" dirty="0"/>
              <a:t>Эти величины связаны очень простой формулой:</a:t>
            </a:r>
            <a:br>
              <a:rPr lang="ru-RU" dirty="0"/>
            </a:br>
            <a:r>
              <a:rPr lang="ru-RU" b="1" dirty="0"/>
              <a:t>λ · f = c</a:t>
            </a:r>
            <a:r>
              <a:rPr lang="ru-RU" dirty="0"/>
              <a:t>.</a:t>
            </a:r>
            <a:br>
              <a:rPr lang="ru-RU" dirty="0"/>
            </a:br>
            <a:r>
              <a:rPr lang="ru-RU" dirty="0"/>
              <a:t>То есть, если мы знаем частоту, можем посчитать длину волны, и наоборот. Для практики удобно эмпирическое правило: если </a:t>
            </a:r>
            <a:r>
              <a:rPr lang="ru-RU" b="1" dirty="0"/>
              <a:t>λ в метрах</a:t>
            </a:r>
            <a:r>
              <a:rPr lang="ru-RU" dirty="0"/>
              <a:t>, а </a:t>
            </a:r>
            <a:r>
              <a:rPr lang="ru-RU" b="1" dirty="0"/>
              <a:t>f в мегагерцах</a:t>
            </a:r>
            <a:r>
              <a:rPr lang="ru-RU" dirty="0"/>
              <a:t>, то произведение примерно равно 300. Например:</a:t>
            </a:r>
          </a:p>
          <a:p>
            <a:pPr marL="171450" indent="-171450">
              <a:buFont typeface="Arial" panose="020B0604020202020204" pitchFamily="34" charset="0"/>
              <a:buChar char="•"/>
            </a:pPr>
            <a:r>
              <a:rPr lang="ru-RU" dirty="0"/>
              <a:t>100 МГц → λ ≈ 3 м,</a:t>
            </a:r>
          </a:p>
          <a:p>
            <a:pPr marL="171450" indent="-171450">
              <a:buFont typeface="Arial" panose="020B0604020202020204" pitchFamily="34" charset="0"/>
              <a:buChar char="•"/>
            </a:pPr>
            <a:r>
              <a:rPr lang="ru-RU" dirty="0"/>
              <a:t>1000 МГц → λ ≈ 0,3 м,</a:t>
            </a:r>
          </a:p>
          <a:p>
            <a:pPr marL="171450" indent="-171450">
              <a:buFont typeface="Arial" panose="020B0604020202020204" pitchFamily="34" charset="0"/>
              <a:buChar char="•"/>
            </a:pPr>
            <a:r>
              <a:rPr lang="ru-RU" dirty="0"/>
              <a:t>3000 МГц → λ ≈ 0,1 м.</a:t>
            </a:r>
          </a:p>
          <a:p>
            <a:pPr marL="0" indent="0">
              <a:buFont typeface="Arial" panose="020B0604020202020204" pitchFamily="34" charset="0"/>
              <a:buNone/>
            </a:pPr>
            <a:r>
              <a:rPr lang="ru-RU" dirty="0"/>
              <a:t>В проводниках или оптоволокне скорость меньше примерно до 2/3 от скорости в вакууме. Но принципиальный момент в другом: </a:t>
            </a:r>
            <a:r>
              <a:rPr lang="ru-RU" b="1" dirty="0"/>
              <a:t>ничто не может распространяться быстрее скорости света</a:t>
            </a:r>
            <a:r>
              <a:rPr lang="ru-RU" dirty="0"/>
              <a:t>, это фундаментальное ограничение физики, которое влияет и на теоретический предел скорости передачи данных.</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26</a:t>
            </a:fld>
            <a:endParaRPr lang="en-US"/>
          </a:p>
        </p:txBody>
      </p:sp>
    </p:spTree>
    <p:extLst>
      <p:ext uri="{BB962C8B-B14F-4D97-AF65-F5344CB8AC3E}">
        <p14:creationId xmlns:p14="http://schemas.microsoft.com/office/powerpoint/2010/main" val="31464056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Электромагнитный спектр — это </a:t>
            </a:r>
            <a:r>
              <a:rPr lang="ru-RU" b="1" dirty="0"/>
              <a:t>непрерывный диапазон частот</a:t>
            </a:r>
            <a:r>
              <a:rPr lang="ru-RU" dirty="0"/>
              <a:t>, но для удобства его делят на зоны: радиоволны, микроволны, инфракрасное излучение, видимый свет, ультрафиолет, рентгеновское и гамма-излучение. В сетях мы чаще всего работаем с радиоволнами, микроволнами, </a:t>
            </a:r>
            <a:r>
              <a:rPr lang="ru-RU" dirty="0" err="1"/>
              <a:t>инфракрасом</a:t>
            </a:r>
            <a:r>
              <a:rPr lang="ru-RU" dirty="0"/>
              <a:t> и видимым светом.</a:t>
            </a:r>
            <a:endParaRPr lang="en-US" dirty="0"/>
          </a:p>
          <a:p>
            <a:endParaRPr lang="ru-RU" dirty="0"/>
          </a:p>
          <a:p>
            <a:r>
              <a:rPr lang="ru-RU" dirty="0"/>
              <a:t>Теоретически, чем вы</a:t>
            </a:r>
          </a:p>
          <a:p>
            <a:r>
              <a:rPr lang="ru-RU" dirty="0" err="1"/>
              <a:t>ше</a:t>
            </a:r>
            <a:r>
              <a:rPr lang="ru-RU" dirty="0"/>
              <a:t> частота, тем больше </a:t>
            </a:r>
            <a:r>
              <a:rPr lang="ru-RU" b="1" dirty="0"/>
              <a:t>доступная полоса пропускания</a:t>
            </a:r>
            <a:r>
              <a:rPr lang="ru-RU" dirty="0"/>
              <a:t>, а значит, потенциально выше скорость передачи данных. Например, оптоволокно работает в диапазонах частот, которые на порядки больше, чем типичные радиодиапазоны, и именно поэтому обладает таким огромным потенциалом по пропускной способности.</a:t>
            </a:r>
            <a:endParaRPr lang="en-US" dirty="0"/>
          </a:p>
          <a:p>
            <a:endParaRPr lang="ru-RU" dirty="0"/>
          </a:p>
          <a:p>
            <a:r>
              <a:rPr lang="ru-RU" dirty="0"/>
              <a:t>Однако ультрафиолет, рентген и гамма-излучение, несмотря на высокую частоту, </a:t>
            </a:r>
            <a:r>
              <a:rPr lang="ru-RU" b="1" dirty="0"/>
              <a:t>не подходят для бытовой связи</a:t>
            </a:r>
            <a:r>
              <a:rPr lang="ru-RU" dirty="0"/>
              <a:t>: их сложно эффективно генерировать и модулировать, они плохо проходят через препятствия и опасны для живых организмов.</a:t>
            </a:r>
          </a:p>
          <a:p>
            <a:r>
              <a:rPr lang="ru-RU" dirty="0"/>
              <a:t>Международный союз электросвязи (ITU) вводит формальные названия диапазонов:</a:t>
            </a:r>
          </a:p>
          <a:p>
            <a:r>
              <a:rPr lang="ru-RU" dirty="0"/>
              <a:t>НЧ (LF), СЧ (MF), ВЧ (HF),</a:t>
            </a:r>
          </a:p>
          <a:p>
            <a:r>
              <a:rPr lang="ru-RU" dirty="0"/>
              <a:t>ОВЧ (VHF), УВЧ (UHF), СВЧ (SHF), КВЧ (EHF) и далее.</a:t>
            </a:r>
          </a:p>
          <a:p>
            <a:endParaRPr lang="en-US" dirty="0"/>
          </a:p>
          <a:p>
            <a:r>
              <a:rPr lang="ru-RU" dirty="0"/>
              <a:t>С точки зрения теории связи важно, что </a:t>
            </a:r>
            <a:r>
              <a:rPr lang="ru-RU" b="1" dirty="0"/>
              <a:t>количество информации</a:t>
            </a:r>
            <a:r>
              <a:rPr lang="ru-RU" dirty="0"/>
              <a:t>, которое можно передать по каналу, прямо связано с </a:t>
            </a:r>
            <a:r>
              <a:rPr lang="ru-RU" b="1" dirty="0"/>
              <a:t>шириной полосы частот, доступной для сигнала</a:t>
            </a:r>
            <a:r>
              <a:rPr lang="ru-RU" dirty="0"/>
              <a:t>, и с отношением сигнал/шум. Поэтому борьба за спектр — это буквально борьба за скорость и ёмкость каналов.</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27</a:t>
            </a:fld>
            <a:endParaRPr lang="en-US"/>
          </a:p>
        </p:txBody>
      </p:sp>
    </p:spTree>
    <p:extLst>
      <p:ext uri="{BB962C8B-B14F-4D97-AF65-F5344CB8AC3E}">
        <p14:creationId xmlns:p14="http://schemas.microsoft.com/office/powerpoint/2010/main" val="20641556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Один из важных классов беспроводных технологий — это </a:t>
            </a:r>
            <a:r>
              <a:rPr lang="ru-RU" b="1" dirty="0"/>
              <a:t>системы с расширением спектра</a:t>
            </a:r>
            <a:r>
              <a:rPr lang="ru-RU" dirty="0"/>
              <a:t>. Первая техника, о которой мы говорим, — это </a:t>
            </a:r>
            <a:r>
              <a:rPr lang="ru-RU" b="1" dirty="0"/>
              <a:t>псевдослучайная перестройка рабочей частоты</a:t>
            </a:r>
            <a:r>
              <a:rPr lang="ru-RU" dirty="0"/>
              <a:t>, или FHSS (</a:t>
            </a:r>
            <a:r>
              <a:rPr lang="ru-RU" dirty="0" err="1"/>
              <a:t>frequency</a:t>
            </a:r>
            <a:r>
              <a:rPr lang="ru-RU" dirty="0"/>
              <a:t> </a:t>
            </a:r>
            <a:r>
              <a:rPr lang="ru-RU" dirty="0" err="1"/>
              <a:t>hopping</a:t>
            </a:r>
            <a:r>
              <a:rPr lang="ru-RU" dirty="0"/>
              <a:t> </a:t>
            </a:r>
            <a:r>
              <a:rPr lang="ru-RU" dirty="0" err="1"/>
              <a:t>spread</a:t>
            </a:r>
            <a:r>
              <a:rPr lang="ru-RU" dirty="0"/>
              <a:t> </a:t>
            </a:r>
            <a:r>
              <a:rPr lang="ru-RU" dirty="0" err="1"/>
              <a:t>spectrum</a:t>
            </a:r>
            <a:r>
              <a:rPr lang="ru-RU" dirty="0"/>
              <a:t>).</a:t>
            </a:r>
          </a:p>
          <a:p>
            <a:endParaRPr lang="en-US" dirty="0"/>
          </a:p>
          <a:p>
            <a:r>
              <a:rPr lang="ru-RU" dirty="0"/>
              <a:t>Суть метода: передатчик и приёмник согласованно </a:t>
            </a:r>
            <a:r>
              <a:rPr lang="ru-RU" b="1" dirty="0"/>
              <a:t>переходят с одной частоты на другую</a:t>
            </a:r>
            <a:r>
              <a:rPr lang="ru-RU" dirty="0"/>
              <a:t>, причём очень часто — сотни раз в секунду. При этом последовательность частот определяется псевдослучайным алгоритмом, известным только участникам связи.</a:t>
            </a:r>
            <a:endParaRPr lang="en-US" dirty="0"/>
          </a:p>
          <a:p>
            <a:endParaRPr lang="ru-RU" dirty="0"/>
          </a:p>
          <a:p>
            <a:r>
              <a:rPr lang="ru-RU" dirty="0"/>
              <a:t>Такая техника даёт несколько преимуществ:</a:t>
            </a:r>
          </a:p>
          <a:p>
            <a:r>
              <a:rPr lang="ru-RU" dirty="0"/>
              <a:t>Связь сложнее </a:t>
            </a:r>
            <a:r>
              <a:rPr lang="ru-RU" b="1" dirty="0"/>
              <a:t>обнаружить и заглушить</a:t>
            </a:r>
            <a:r>
              <a:rPr lang="ru-RU" dirty="0"/>
              <a:t>, что очень важно для военных систем.</a:t>
            </a:r>
          </a:p>
          <a:p>
            <a:r>
              <a:rPr lang="ru-RU" dirty="0"/>
              <a:t>Если на какой-то частоте есть помехи, передатчик </a:t>
            </a:r>
            <a:r>
              <a:rPr lang="ru-RU" b="1" dirty="0"/>
              <a:t>не задерживается</a:t>
            </a:r>
            <a:r>
              <a:rPr lang="ru-RU" dirty="0"/>
              <a:t> на ней надолго, и общая связь не рвётся.</a:t>
            </a:r>
            <a:endParaRPr lang="en-US" dirty="0"/>
          </a:p>
          <a:p>
            <a:endParaRPr lang="ru-RU" dirty="0"/>
          </a:p>
          <a:p>
            <a:r>
              <a:rPr lang="ru-RU" dirty="0"/>
              <a:t>Замирание сигнала и </a:t>
            </a:r>
            <a:r>
              <a:rPr lang="ru-RU" dirty="0" err="1"/>
              <a:t>многолучевость</a:t>
            </a:r>
            <a:r>
              <a:rPr lang="ru-RU" dirty="0"/>
              <a:t> становятся менее критичными, так как канал постоянно «меняется».</a:t>
            </a:r>
            <a:endParaRPr lang="en-US" dirty="0"/>
          </a:p>
          <a:p>
            <a:endParaRPr lang="ru-RU" dirty="0"/>
          </a:p>
          <a:p>
            <a:r>
              <a:rPr lang="ru-RU" dirty="0"/>
              <a:t>Изначально FHSS активно применялся в военной связи — именно поэтому схема должна была быть стойкой к помехам и глушению.</a:t>
            </a:r>
            <a:endParaRPr lang="en-US" dirty="0"/>
          </a:p>
          <a:p>
            <a:endParaRPr lang="en-US" dirty="0"/>
          </a:p>
          <a:p>
            <a:r>
              <a:rPr lang="ru-RU" dirty="0"/>
              <a:t>Интересный исторический момент: одна из авторов идеи — актриса </a:t>
            </a:r>
            <a:r>
              <a:rPr lang="ru-RU" b="1" dirty="0"/>
              <a:t>Хеди Ламарр</a:t>
            </a:r>
            <a:r>
              <a:rPr lang="ru-RU" dirty="0"/>
              <a:t>, которая вместе с композитором Джорджем </a:t>
            </a:r>
            <a:r>
              <a:rPr lang="ru-RU" dirty="0" err="1"/>
              <a:t>Антейлом</a:t>
            </a:r>
            <a:r>
              <a:rPr lang="ru-RU" dirty="0"/>
              <a:t> запатентовала метод частотной перестройки по аналогии с клавишами фортепиано. В то время военные не оценили это изобретение, но позднее идея стала основой для современных технологий вроде </a:t>
            </a:r>
            <a:r>
              <a:rPr lang="ru-RU" b="1" dirty="0"/>
              <a:t>Bluetooth</a:t>
            </a:r>
            <a:r>
              <a:rPr lang="ru-RU" dirty="0"/>
              <a:t> и ряда версий </a:t>
            </a:r>
            <a:r>
              <a:rPr lang="ru-RU" b="1" dirty="0" err="1"/>
              <a:t>Wi</a:t>
            </a:r>
            <a:r>
              <a:rPr lang="ru-RU" b="1" dirty="0"/>
              <a:t>-Fi</a:t>
            </a:r>
            <a:r>
              <a:rPr lang="ru-RU" dirty="0"/>
              <a:t>.</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28</a:t>
            </a:fld>
            <a:endParaRPr lang="en-US"/>
          </a:p>
        </p:txBody>
      </p:sp>
    </p:spTree>
    <p:extLst>
      <p:ext uri="{BB962C8B-B14F-4D97-AF65-F5344CB8AC3E}">
        <p14:creationId xmlns:p14="http://schemas.microsoft.com/office/powerpoint/2010/main" val="33404195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Второй метод расширения спектра — </a:t>
            </a:r>
            <a:r>
              <a:rPr lang="ru-RU" b="1" dirty="0"/>
              <a:t>метод прямой последовательности</a:t>
            </a:r>
            <a:r>
              <a:rPr lang="ru-RU" dirty="0"/>
              <a:t>, или DSSS (</a:t>
            </a:r>
            <a:r>
              <a:rPr lang="ru-RU" dirty="0" err="1"/>
              <a:t>direct</a:t>
            </a:r>
            <a:r>
              <a:rPr lang="ru-RU" dirty="0"/>
              <a:t> </a:t>
            </a:r>
            <a:r>
              <a:rPr lang="ru-RU" dirty="0" err="1"/>
              <a:t>sequence</a:t>
            </a:r>
            <a:r>
              <a:rPr lang="ru-RU" dirty="0"/>
              <a:t> </a:t>
            </a:r>
            <a:r>
              <a:rPr lang="ru-RU" dirty="0" err="1"/>
              <a:t>spread</a:t>
            </a:r>
            <a:r>
              <a:rPr lang="ru-RU" dirty="0"/>
              <a:t> </a:t>
            </a:r>
            <a:r>
              <a:rPr lang="ru-RU" dirty="0" err="1"/>
              <a:t>spectrum</a:t>
            </a:r>
            <a:r>
              <a:rPr lang="ru-RU" dirty="0"/>
              <a:t>). Здесь исходный информационный сигнал «распределяется» по широкой полосе частот с помощью </a:t>
            </a:r>
            <a:r>
              <a:rPr lang="ru-RU" b="1" dirty="0"/>
              <a:t>специальной кодовой последовательности</a:t>
            </a:r>
            <a:r>
              <a:rPr lang="ru-RU" dirty="0"/>
              <a:t>. То есть мы как бы размазываем энергию сигнала по диапазону, используя известный только отправителю и получателю код.</a:t>
            </a:r>
            <a:endParaRPr lang="en-US" dirty="0"/>
          </a:p>
          <a:p>
            <a:endParaRPr lang="ru-RU" dirty="0"/>
          </a:p>
          <a:p>
            <a:r>
              <a:rPr lang="ru-RU" dirty="0"/>
              <a:t>Это позволяет нескольким пользователям </a:t>
            </a:r>
            <a:r>
              <a:rPr lang="ru-RU" b="1" dirty="0"/>
              <a:t>делить одну и ту же полосу частот</a:t>
            </a:r>
            <a:r>
              <a:rPr lang="ru-RU" dirty="0"/>
              <a:t>, если у каждого — свой код. Такой подход называется множественным доступом с кодовым разделением каналов — </a:t>
            </a:r>
            <a:r>
              <a:rPr lang="ru-RU" b="1" dirty="0"/>
              <a:t>CDMA</a:t>
            </a:r>
            <a:r>
              <a:rPr lang="ru-RU" dirty="0"/>
              <a:t>. Он широко применялся в мобильных сетях 3G и используется, например, в системе </a:t>
            </a:r>
            <a:r>
              <a:rPr lang="ru-RU" b="1" dirty="0"/>
              <a:t>GPS</a:t>
            </a:r>
            <a:r>
              <a:rPr lang="ru-RU" dirty="0"/>
              <a:t>. Преимущество DSSS в том, что при наличии помех теряется лишь небольшая часть энергии сигнала, и система остаётся работоспособной.</a:t>
            </a:r>
            <a:endParaRPr lang="en-US" dirty="0"/>
          </a:p>
          <a:p>
            <a:endParaRPr lang="ru-RU" dirty="0"/>
          </a:p>
          <a:p>
            <a:r>
              <a:rPr lang="ru-RU" dirty="0"/>
              <a:t>Теперь о </a:t>
            </a:r>
            <a:r>
              <a:rPr lang="ru-RU" b="1" dirty="0"/>
              <a:t>UWB — сверхширокополосной связи</a:t>
            </a:r>
            <a:r>
              <a:rPr lang="ru-RU" dirty="0"/>
              <a:t>. В UWB сигнал занимает </a:t>
            </a:r>
            <a:r>
              <a:rPr lang="ru-RU" b="1" dirty="0"/>
              <a:t>очень широкую полосу частот</a:t>
            </a:r>
            <a:r>
              <a:rPr lang="ru-RU" dirty="0"/>
              <a:t> — сотни мегагерц и более. Передача реализуется в виде серии очень коротких импульсов малой мощности.</a:t>
            </a:r>
            <a:br>
              <a:rPr lang="ru-RU" dirty="0"/>
            </a:br>
            <a:r>
              <a:rPr lang="ru-RU" dirty="0"/>
              <a:t>Плюсы UWB:</a:t>
            </a:r>
          </a:p>
          <a:p>
            <a:pPr marL="171450" indent="-171450">
              <a:buFont typeface="Arial" panose="020B0604020202020204" pitchFamily="34" charset="0"/>
              <a:buChar char="•"/>
            </a:pPr>
            <a:r>
              <a:rPr lang="ru-RU" dirty="0"/>
              <a:t>потенциально </a:t>
            </a:r>
            <a:r>
              <a:rPr lang="ru-RU" b="1" dirty="0"/>
              <a:t>очень высокая скорость</a:t>
            </a:r>
            <a:r>
              <a:rPr lang="ru-RU" dirty="0"/>
              <a:t> передачи на небольших расстояниях (сотни мегабит в секунду);</a:t>
            </a:r>
          </a:p>
          <a:p>
            <a:pPr marL="171450" indent="-171450">
              <a:buFont typeface="Arial" panose="020B0604020202020204" pitchFamily="34" charset="0"/>
              <a:buChar char="•"/>
            </a:pPr>
            <a:r>
              <a:rPr lang="ru-RU" dirty="0"/>
              <a:t>устойчивость к узкополосным помехам, так как энергия сигнала распределена по широкому диапазону;</a:t>
            </a:r>
          </a:p>
          <a:p>
            <a:pPr marL="171450" indent="-171450">
              <a:buFont typeface="Arial" panose="020B0604020202020204" pitchFamily="34" charset="0"/>
              <a:buChar char="•"/>
            </a:pPr>
            <a:r>
              <a:rPr lang="ru-RU" dirty="0"/>
              <a:t>сами UWB-сигналы, благодаря малой мощности, практически </a:t>
            </a:r>
            <a:r>
              <a:rPr lang="ru-RU" b="1" dirty="0"/>
              <a:t>не мешают</a:t>
            </a:r>
            <a:r>
              <a:rPr lang="ru-RU" dirty="0"/>
              <a:t> традиционным радиосистемам в той же полосе частот.</a:t>
            </a:r>
          </a:p>
          <a:p>
            <a:r>
              <a:rPr lang="ru-RU" dirty="0"/>
              <a:t>Такие сигналы используются не только для связи, но и для задач </a:t>
            </a:r>
            <a:r>
              <a:rPr lang="ru-RU" b="1" dirty="0"/>
              <a:t>радаров, «просвечивания» объектов</a:t>
            </a:r>
            <a:r>
              <a:rPr lang="ru-RU" dirty="0"/>
              <a:t>, а также </a:t>
            </a:r>
            <a:r>
              <a:rPr lang="ru-RU" b="1" dirty="0"/>
              <a:t>точного позиционирования и отслеживания местоположения</a:t>
            </a:r>
            <a:r>
              <a:rPr lang="ru-RU" dirty="0"/>
              <a:t> внутри помещений.</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29</a:t>
            </a:fld>
            <a:endParaRPr lang="en-US"/>
          </a:p>
        </p:txBody>
      </p:sp>
    </p:spTree>
    <p:extLst>
      <p:ext uri="{BB962C8B-B14F-4D97-AF65-F5344CB8AC3E}">
        <p14:creationId xmlns:p14="http://schemas.microsoft.com/office/powerpoint/2010/main" val="23404720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1" dirty="0"/>
              <a:t>Радиоволны</a:t>
            </a:r>
            <a:r>
              <a:rPr lang="ru-RU" dirty="0"/>
              <a:t> являются очень удобным инструментом для связи. Их </a:t>
            </a:r>
            <a:r>
              <a:rPr lang="ru-RU" b="1" dirty="0"/>
              <a:t>легко генерировать</a:t>
            </a:r>
            <a:r>
              <a:rPr lang="ru-RU" dirty="0"/>
              <a:t>, они могут проходить через стены и распространяться на большие расстояния. </a:t>
            </a:r>
            <a:endParaRPr lang="en-US" dirty="0"/>
          </a:p>
          <a:p>
            <a:endParaRPr lang="en-US" dirty="0"/>
          </a:p>
          <a:p>
            <a:r>
              <a:rPr lang="ru-RU" dirty="0"/>
              <a:t>Важная особенность: они </a:t>
            </a:r>
            <a:r>
              <a:rPr lang="ru-RU" b="1" dirty="0"/>
              <a:t>всенаправленные</a:t>
            </a:r>
            <a:r>
              <a:rPr lang="ru-RU" dirty="0"/>
              <a:t>, то есть расходятся во все стороны от источника. Это удобно, когда нам не нужно точное направление, но создаёт и проблемы — из-за взаимных помех и неожиданных эффектов взаимодействия с другими системами.</a:t>
            </a:r>
          </a:p>
          <a:p>
            <a:r>
              <a:rPr lang="ru-RU" dirty="0"/>
              <a:t>Свойства радиоволн заметно зависят от частоты:</a:t>
            </a:r>
          </a:p>
          <a:p>
            <a:pPr marL="171450" indent="-171450">
              <a:buFont typeface="Arial" panose="020B0604020202020204" pitchFamily="34" charset="0"/>
              <a:buChar char="•"/>
            </a:pPr>
            <a:r>
              <a:rPr lang="ru-RU" dirty="0"/>
              <a:t>на </a:t>
            </a:r>
            <a:r>
              <a:rPr lang="ru-RU" b="1" dirty="0"/>
              <a:t>низких частотах</a:t>
            </a:r>
            <a:r>
              <a:rPr lang="ru-RU" dirty="0"/>
              <a:t> волны «стелются» вдоль поверхности Земли и могут проходить сотни километров, при этом хорошо заходят внутрь зданий, но полоса пропускания там мала;</a:t>
            </a:r>
          </a:p>
          <a:p>
            <a:pPr marL="171450" indent="-171450">
              <a:buFont typeface="Arial" panose="020B0604020202020204" pitchFamily="34" charset="0"/>
              <a:buChar char="•"/>
            </a:pPr>
            <a:r>
              <a:rPr lang="ru-RU" dirty="0"/>
              <a:t>в диапазонах повыше, волны могут отражаться от </a:t>
            </a:r>
            <a:r>
              <a:rPr lang="ru-RU" b="1" dirty="0"/>
              <a:t>ионосферы</a:t>
            </a:r>
            <a:r>
              <a:rPr lang="ru-RU" dirty="0"/>
              <a:t>, что позволяет организовывать дальнюю связь за счёт многократных отражений.</a:t>
            </a:r>
          </a:p>
          <a:p>
            <a:endParaRPr lang="en-US" dirty="0"/>
          </a:p>
        </p:txBody>
      </p:sp>
      <p:sp>
        <p:nvSpPr>
          <p:cNvPr id="4" name="Slide Number Placeholder 3"/>
          <p:cNvSpPr>
            <a:spLocks noGrp="1"/>
          </p:cNvSpPr>
          <p:nvPr>
            <p:ph type="sldNum" sz="quarter" idx="5"/>
          </p:nvPr>
        </p:nvSpPr>
        <p:spPr/>
        <p:txBody>
          <a:bodyPr/>
          <a:lstStyle/>
          <a:p>
            <a:fld id="{CF3F5FF5-003D-49C7-8AA8-32F0386C2E23}" type="slidenum">
              <a:rPr lang="en-US" smtClean="0"/>
              <a:t>30</a:t>
            </a:fld>
            <a:endParaRPr lang="en-US"/>
          </a:p>
        </p:txBody>
      </p:sp>
    </p:spTree>
    <p:extLst>
      <p:ext uri="{BB962C8B-B14F-4D97-AF65-F5344CB8AC3E}">
        <p14:creationId xmlns:p14="http://schemas.microsoft.com/office/powerpoint/2010/main" val="10131295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AAFD6-37D3-222C-C5F8-F16990C9DA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9911BD-2D93-59C3-95FD-2A4ACBEAA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BCE68-1796-1277-3CC2-BFEA610EB22B}"/>
              </a:ext>
            </a:extLst>
          </p:cNvPr>
          <p:cNvSpPr>
            <a:spLocks noGrp="1"/>
          </p:cNvSpPr>
          <p:nvPr>
            <p:ph type="body" idx="1"/>
          </p:nvPr>
        </p:nvSpPr>
        <p:spPr/>
        <p:txBody>
          <a:bodyPr/>
          <a:lstStyle/>
          <a:p>
            <a:r>
              <a:rPr lang="ru-RU" b="1" dirty="0"/>
              <a:t>Микроволновая связь</a:t>
            </a:r>
            <a:r>
              <a:rPr lang="ru-RU" dirty="0"/>
              <a:t> — это переход к более высоким частотам, где волна распространяется почти </a:t>
            </a:r>
            <a:r>
              <a:rPr lang="ru-RU" b="1" dirty="0"/>
              <a:t>по прямой</a:t>
            </a:r>
            <a:r>
              <a:rPr lang="ru-RU" dirty="0"/>
              <a:t>, а не огибает препятствия. В этом случае можно использовать </a:t>
            </a:r>
            <a:r>
              <a:rPr lang="ru-RU" b="1" dirty="0"/>
              <a:t>параболические антенны</a:t>
            </a:r>
            <a:r>
              <a:rPr lang="ru-RU" dirty="0"/>
              <a:t>, формирующие узкий луч, направленный от передатчика к приёмнику. Благодаря концентрации энергии в узком пучке улучшается соотношение «сигнал/шум», можно рядом размещать несколько независимых линий связи.</a:t>
            </a:r>
          </a:p>
          <a:p>
            <a:endParaRPr lang="ru-RU" dirty="0"/>
          </a:p>
          <a:p>
            <a:r>
              <a:rPr lang="ru-RU" dirty="0"/>
              <a:t>Но за это приходится платить:</a:t>
            </a:r>
          </a:p>
          <a:p>
            <a:pPr marL="171450" indent="-171450">
              <a:buFont typeface="Arial" panose="020B0604020202020204" pitchFamily="34" charset="0"/>
              <a:buChar char="•"/>
            </a:pPr>
            <a:r>
              <a:rPr lang="ru-RU" dirty="0"/>
              <a:t>антенны нужно </a:t>
            </a:r>
            <a:r>
              <a:rPr lang="ru-RU" b="1" dirty="0"/>
              <a:t>точно нацеливать</a:t>
            </a:r>
            <a:r>
              <a:rPr lang="ru-RU" dirty="0"/>
              <a:t>;</a:t>
            </a:r>
          </a:p>
          <a:p>
            <a:pPr marL="171450" indent="-171450">
              <a:buFont typeface="Arial" panose="020B0604020202020204" pitchFamily="34" charset="0"/>
              <a:buChar char="•"/>
            </a:pPr>
            <a:r>
              <a:rPr lang="ru-RU" dirty="0"/>
              <a:t>волны плохо проходят через препятствия и здания;</a:t>
            </a:r>
          </a:p>
          <a:p>
            <a:pPr marL="171450" indent="-171450">
              <a:buFont typeface="Arial" panose="020B0604020202020204" pitchFamily="34" charset="0"/>
              <a:buChar char="•"/>
            </a:pPr>
            <a:r>
              <a:rPr lang="ru-RU" dirty="0"/>
              <a:t>появляется эффект </a:t>
            </a:r>
            <a:r>
              <a:rPr lang="ru-RU" b="1" dirty="0"/>
              <a:t>многолучевого замирания</a:t>
            </a:r>
            <a:r>
              <a:rPr lang="ru-RU" dirty="0"/>
              <a:t>, когда сигнал приходит по разным путям и сдвиги по фазе могут частично гасить основной сигнал;</a:t>
            </a:r>
          </a:p>
          <a:p>
            <a:pPr marL="171450" indent="-171450">
              <a:buFont typeface="Arial" panose="020B0604020202020204" pitchFamily="34" charset="0"/>
              <a:buChar char="•"/>
            </a:pPr>
            <a:r>
              <a:rPr lang="ru-RU" dirty="0"/>
              <a:t>на некоторых частотах сильное влияние оказывает </a:t>
            </a:r>
            <a:r>
              <a:rPr lang="ru-RU" b="1" dirty="0"/>
              <a:t>дождь и влага</a:t>
            </a:r>
            <a:r>
              <a:rPr lang="ru-RU" dirty="0"/>
              <a:t> — сигнал просто поглощается каплями воды.</a:t>
            </a:r>
          </a:p>
          <a:p>
            <a:r>
              <a:rPr lang="ru-RU" dirty="0"/>
              <a:t>Тем не менее микроволновая связь долгое время использовалась как основа междугородних систем, а и сейчас остаётся важной технологией в беспроводных сетях операторов.</a:t>
            </a:r>
          </a:p>
          <a:p>
            <a:endParaRPr lang="en-US" dirty="0"/>
          </a:p>
        </p:txBody>
      </p:sp>
      <p:sp>
        <p:nvSpPr>
          <p:cNvPr id="4" name="Slide Number Placeholder 3">
            <a:extLst>
              <a:ext uri="{FF2B5EF4-FFF2-40B4-BE49-F238E27FC236}">
                <a16:creationId xmlns:a16="http://schemas.microsoft.com/office/drawing/2014/main" id="{0688957D-2A86-B6F6-40B8-1797C5EECDCD}"/>
              </a:ext>
            </a:extLst>
          </p:cNvPr>
          <p:cNvSpPr>
            <a:spLocks noGrp="1"/>
          </p:cNvSpPr>
          <p:nvPr>
            <p:ph type="sldNum" sz="quarter" idx="5"/>
          </p:nvPr>
        </p:nvSpPr>
        <p:spPr/>
        <p:txBody>
          <a:bodyPr/>
          <a:lstStyle/>
          <a:p>
            <a:fld id="{CF3F5FF5-003D-49C7-8AA8-32F0386C2E23}" type="slidenum">
              <a:rPr lang="en-US" smtClean="0"/>
              <a:t>31</a:t>
            </a:fld>
            <a:endParaRPr lang="en-US"/>
          </a:p>
        </p:txBody>
      </p:sp>
    </p:spTree>
    <p:extLst>
      <p:ext uri="{BB962C8B-B14F-4D97-AF65-F5344CB8AC3E}">
        <p14:creationId xmlns:p14="http://schemas.microsoft.com/office/powerpoint/2010/main" val="26214974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1" dirty="0"/>
              <a:t>Инфракрасная связь</a:t>
            </a:r>
            <a:r>
              <a:rPr lang="ru-RU" dirty="0"/>
              <a:t> уже давно используется в быту — её наиболее знакомый пример это </a:t>
            </a:r>
            <a:r>
              <a:rPr lang="ru-RU" b="1" dirty="0"/>
              <a:t>пульты дистанционного управления</a:t>
            </a:r>
            <a:r>
              <a:rPr lang="ru-RU" dirty="0"/>
              <a:t>. Передатчик — это маленький инфракрасный светодиод, приёмник — фотодатчик в телевизоре или другой технике. Такая связь довольно </a:t>
            </a:r>
            <a:r>
              <a:rPr lang="ru-RU" b="1" dirty="0"/>
              <a:t>направленная</a:t>
            </a:r>
            <a:r>
              <a:rPr lang="ru-RU" dirty="0"/>
              <a:t> и не проходит через непрозрачные объекты: стоит встать между пультом и приёмником — управление пропадает.</a:t>
            </a:r>
          </a:p>
          <a:p>
            <a:r>
              <a:rPr lang="ru-RU" dirty="0"/>
              <a:t>Это можно считать и минусом (нет «сквозь стены»), и плюсом:</a:t>
            </a:r>
          </a:p>
          <a:p>
            <a:pPr marL="171450" indent="-171450">
              <a:buFont typeface="Arial" panose="020B0604020202020204" pitchFamily="34" charset="0"/>
              <a:buChar char="•"/>
            </a:pPr>
            <a:r>
              <a:rPr lang="ru-RU" dirty="0"/>
              <a:t>разные комнаты </a:t>
            </a:r>
            <a:r>
              <a:rPr lang="ru-RU" b="1" dirty="0"/>
              <a:t>не мешают друг другу</a:t>
            </a:r>
            <a:r>
              <a:rPr lang="ru-RU" dirty="0"/>
              <a:t>,</a:t>
            </a:r>
          </a:p>
          <a:p>
            <a:pPr marL="171450" indent="-171450">
              <a:buFont typeface="Arial" panose="020B0604020202020204" pitchFamily="34" charset="0"/>
              <a:buChar char="•"/>
            </a:pPr>
            <a:r>
              <a:rPr lang="ru-RU" dirty="0"/>
              <a:t>сложнее </a:t>
            </a:r>
            <a:r>
              <a:rPr lang="ru-RU" b="1" dirty="0"/>
              <a:t>перехватывать</a:t>
            </a:r>
            <a:r>
              <a:rPr lang="ru-RU" dirty="0"/>
              <a:t> сигналы извне,</a:t>
            </a:r>
          </a:p>
          <a:p>
            <a:pPr marL="171450" indent="-171450">
              <a:buFont typeface="Arial" panose="020B0604020202020204" pitchFamily="34" charset="0"/>
              <a:buChar char="•"/>
            </a:pPr>
            <a:r>
              <a:rPr lang="ru-RU" dirty="0"/>
              <a:t>обычно не требуется государственная лицензия на использование такого канала.</a:t>
            </a:r>
          </a:p>
          <a:p>
            <a:r>
              <a:rPr lang="ru-RU" dirty="0"/>
              <a:t>Инфракрасные интерфейсы применялись и в компьютерах (</a:t>
            </a:r>
            <a:r>
              <a:rPr lang="ru-RU" dirty="0" err="1"/>
              <a:t>IrDA</a:t>
            </a:r>
            <a:r>
              <a:rPr lang="ru-RU" dirty="0"/>
              <a:t>), но сегодня их вытеснили </a:t>
            </a:r>
            <a:r>
              <a:rPr lang="ru-RU" dirty="0" err="1"/>
              <a:t>радиоинтерфейсы</a:t>
            </a:r>
            <a:r>
              <a:rPr lang="ru-RU" dirty="0"/>
              <a:t> вроде </a:t>
            </a:r>
            <a:r>
              <a:rPr lang="ru-RU" dirty="0" err="1"/>
              <a:t>Wi</a:t>
            </a:r>
            <a:r>
              <a:rPr lang="ru-RU" dirty="0"/>
              <a:t>-Fi и Bluetooth.</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32</a:t>
            </a:fld>
            <a:endParaRPr lang="en-US"/>
          </a:p>
        </p:txBody>
      </p:sp>
    </p:spTree>
    <p:extLst>
      <p:ext uri="{BB962C8B-B14F-4D97-AF65-F5344CB8AC3E}">
        <p14:creationId xmlns:p14="http://schemas.microsoft.com/office/powerpoint/2010/main" val="1564271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D0CDD-932E-B8EE-4586-34E99AEA65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1DBE5-5996-6925-459D-F70EF916C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9CCF07-C308-EF44-478A-270CDB250BC9}"/>
              </a:ext>
            </a:extLst>
          </p:cNvPr>
          <p:cNvSpPr>
            <a:spLocks noGrp="1"/>
          </p:cNvSpPr>
          <p:nvPr>
            <p:ph type="body" idx="1"/>
          </p:nvPr>
        </p:nvSpPr>
        <p:spPr/>
        <p:txBody>
          <a:bodyPr/>
          <a:lstStyle/>
          <a:p>
            <a:r>
              <a:rPr lang="ru-RU" b="1" dirty="0"/>
              <a:t>Видимая оптика, или </a:t>
            </a:r>
            <a:r>
              <a:rPr lang="ru-RU" b="1" dirty="0" err="1"/>
              <a:t>free-space</a:t>
            </a:r>
            <a:r>
              <a:rPr lang="ru-RU" b="1" dirty="0"/>
              <a:t> </a:t>
            </a:r>
            <a:r>
              <a:rPr lang="ru-RU" b="1" dirty="0" err="1"/>
              <a:t>optics</a:t>
            </a:r>
            <a:r>
              <a:rPr lang="ru-RU" dirty="0"/>
              <a:t>, — это когда для связи используют </a:t>
            </a:r>
            <a:r>
              <a:rPr lang="ru-RU" b="1" dirty="0"/>
              <a:t>видимый свет</a:t>
            </a:r>
            <a:r>
              <a:rPr lang="ru-RU" dirty="0"/>
              <a:t>, чаще всего лазерный луч. Типичный сценарий: нужно соединить две локальные сети в соседних зданиях. На крыше каждой стороны ставится лазер и фотодатчик, и между ними устанавливается оптический канал.</a:t>
            </a:r>
            <a:endParaRPr lang="en-US" dirty="0"/>
          </a:p>
          <a:p>
            <a:endParaRPr lang="ru-RU" dirty="0"/>
          </a:p>
          <a:p>
            <a:r>
              <a:rPr lang="ru-RU" dirty="0"/>
              <a:t>Преимущества:</a:t>
            </a:r>
          </a:p>
          <a:p>
            <a:pPr marL="171450" indent="-171450">
              <a:buFont typeface="Arial" panose="020B0604020202020204" pitchFamily="34" charset="0"/>
              <a:buChar char="•"/>
            </a:pPr>
            <a:r>
              <a:rPr lang="ru-RU" b="1" dirty="0"/>
              <a:t>очень высокая полоса пропускания</a:t>
            </a:r>
            <a:r>
              <a:rPr lang="ru-RU" dirty="0"/>
              <a:t> за относительно небольшие деньги;</a:t>
            </a:r>
          </a:p>
          <a:p>
            <a:pPr marL="171450" indent="-171450">
              <a:buFont typeface="Arial" panose="020B0604020202020204" pitchFamily="34" charset="0"/>
              <a:buChar char="•"/>
            </a:pPr>
            <a:r>
              <a:rPr lang="ru-RU" dirty="0"/>
              <a:t>луч </a:t>
            </a:r>
            <a:r>
              <a:rPr lang="ru-RU" b="1" dirty="0"/>
              <a:t>узкий</a:t>
            </a:r>
            <a:r>
              <a:rPr lang="ru-RU" dirty="0"/>
              <a:t>, значит, его сложно перехватить, что повышает безопасность;</a:t>
            </a:r>
          </a:p>
          <a:p>
            <a:pPr marL="171450" indent="-171450">
              <a:buFont typeface="Arial" panose="020B0604020202020204" pitchFamily="34" charset="0"/>
              <a:buChar char="•"/>
            </a:pPr>
            <a:r>
              <a:rPr lang="ru-RU" dirty="0"/>
              <a:t>не требуется лицензия на использование радиочастот, как в случае микроволн.</a:t>
            </a:r>
            <a:endParaRPr lang="en-US" dirty="0"/>
          </a:p>
          <a:p>
            <a:pPr marL="171450" indent="-171450">
              <a:buFont typeface="Arial" panose="020B0604020202020204" pitchFamily="34" charset="0"/>
              <a:buChar char="•"/>
            </a:pPr>
            <a:endParaRPr lang="ru-RU" dirty="0"/>
          </a:p>
          <a:p>
            <a:r>
              <a:rPr lang="ru-RU" dirty="0"/>
              <a:t>Но и здесь есть свои сложности: нужно </a:t>
            </a:r>
            <a:r>
              <a:rPr lang="ru-RU" b="1" dirty="0"/>
              <a:t>очень аккуратно наводить</a:t>
            </a:r>
            <a:r>
              <a:rPr lang="ru-RU" dirty="0"/>
              <a:t> луч, он чувствителен к </a:t>
            </a:r>
            <a:r>
              <a:rPr lang="ru-RU" b="1" dirty="0"/>
              <a:t>погоде, туману, дождю и даже к конвекционным потокам воздуха</a:t>
            </a:r>
            <a:r>
              <a:rPr lang="ru-RU" dirty="0"/>
              <a:t> над зданиями</a:t>
            </a:r>
            <a:endParaRPr lang="en-US" dirty="0"/>
          </a:p>
          <a:p>
            <a:r>
              <a:rPr lang="ru-RU" dirty="0"/>
              <a:t>.</a:t>
            </a:r>
          </a:p>
          <a:p>
            <a:r>
              <a:rPr lang="ru-RU" dirty="0"/>
              <a:t>Перспективное направление — использование </a:t>
            </a:r>
            <a:r>
              <a:rPr lang="ru-RU" b="1" dirty="0"/>
              <a:t>обычных источников видимого света</a:t>
            </a:r>
            <a:r>
              <a:rPr lang="ru-RU" dirty="0"/>
              <a:t> (LED-дисплеев, светильников) для передачи данных. Информация кодируется в быстрой модуляции яркости, незаметной для глаза. Такие системы позволяют создавать локальные низкоскоростные сети в непосредственной близости от источников света и открывают интересные сценарии: от взаимодействия машин со светофорами до передачи данных через информационные табло и даже гирлянды.</a:t>
            </a:r>
          </a:p>
        </p:txBody>
      </p:sp>
      <p:sp>
        <p:nvSpPr>
          <p:cNvPr id="4" name="Slide Number Placeholder 3">
            <a:extLst>
              <a:ext uri="{FF2B5EF4-FFF2-40B4-BE49-F238E27FC236}">
                <a16:creationId xmlns:a16="http://schemas.microsoft.com/office/drawing/2014/main" id="{815ED105-87D1-8D06-7177-ECDFE100A29F}"/>
              </a:ext>
            </a:extLst>
          </p:cNvPr>
          <p:cNvSpPr>
            <a:spLocks noGrp="1"/>
          </p:cNvSpPr>
          <p:nvPr>
            <p:ph type="sldNum" sz="quarter" idx="5"/>
          </p:nvPr>
        </p:nvSpPr>
        <p:spPr/>
        <p:txBody>
          <a:bodyPr/>
          <a:lstStyle/>
          <a:p>
            <a:fld id="{4F384885-B771-4961-99C6-DBB22F186DFF}" type="slidenum">
              <a:rPr lang="en-US" smtClean="0"/>
              <a:t>33</a:t>
            </a:fld>
            <a:endParaRPr lang="en-US"/>
          </a:p>
        </p:txBody>
      </p:sp>
    </p:spTree>
    <p:extLst>
      <p:ext uri="{BB962C8B-B14F-4D97-AF65-F5344CB8AC3E}">
        <p14:creationId xmlns:p14="http://schemas.microsoft.com/office/powerpoint/2010/main" val="883017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34</a:t>
            </a:fld>
            <a:endParaRPr lang="en-US"/>
          </a:p>
        </p:txBody>
      </p:sp>
    </p:spTree>
    <p:extLst>
      <p:ext uri="{BB962C8B-B14F-4D97-AF65-F5344CB8AC3E}">
        <p14:creationId xmlns:p14="http://schemas.microsoft.com/office/powerpoint/2010/main" val="12155402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Любой реальный канал передаёт не биты, а сигналы — плавные изменения напряжения или света. </a:t>
            </a:r>
            <a:endParaRPr lang="en-US" dirty="0"/>
          </a:p>
          <a:p>
            <a:endParaRPr lang="en-US" dirty="0"/>
          </a:p>
          <a:p>
            <a:r>
              <a:rPr lang="ru-RU" dirty="0"/>
              <a:t>Задача физического уровня: заставить эти сигналы надёжно представлять цифровые данные. Для этого важно понимать ограничения канала — какие частоты он «пропускает» хорошо, а какие искажаются.</a:t>
            </a:r>
          </a:p>
          <a:p>
            <a:endParaRPr lang="ru-RU" dirty="0"/>
          </a:p>
          <a:p>
            <a:r>
              <a:rPr lang="ru-RU" dirty="0"/>
              <a:t>Далее мы кодируем биты в форму сигнала, которая хорошо проходит через канал. Это и есть </a:t>
            </a:r>
            <a:r>
              <a:rPr lang="ru-RU" b="1" dirty="0"/>
              <a:t>модуляция</a:t>
            </a:r>
            <a:r>
              <a:rPr lang="ru-RU" dirty="0"/>
              <a:t>.</a:t>
            </a:r>
          </a:p>
          <a:p>
            <a:endParaRPr lang="ru-RU" dirty="0"/>
          </a:p>
          <a:p>
            <a:r>
              <a:rPr lang="ru-RU" dirty="0"/>
              <a:t>Если нужно передавать несколько потоков одновременно — используется </a:t>
            </a:r>
            <a:r>
              <a:rPr lang="ru-RU" b="1" dirty="0"/>
              <a:t>мультиплексирование</a:t>
            </a:r>
            <a:r>
              <a:rPr lang="ru-RU" dirty="0"/>
              <a:t> (разделение канала по времени, частоте или коду).</a:t>
            </a: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35</a:t>
            </a:fld>
            <a:endParaRPr lang="en-US"/>
          </a:p>
        </p:txBody>
      </p:sp>
    </p:spTree>
    <p:extLst>
      <p:ext uri="{BB962C8B-B14F-4D97-AF65-F5344CB8AC3E}">
        <p14:creationId xmlns:p14="http://schemas.microsoft.com/office/powerpoint/2010/main" val="747538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Любой сигнал можно представить как набор частот.</a:t>
            </a:r>
          </a:p>
          <a:p>
            <a:endParaRPr lang="ru-RU" dirty="0"/>
          </a:p>
          <a:p>
            <a:r>
              <a:rPr lang="ru-RU" dirty="0"/>
              <a:t>Канал передаёт только некоторый диапазон частот — </a:t>
            </a:r>
            <a:r>
              <a:rPr lang="ru-RU" b="1" dirty="0"/>
              <a:t>полосу пропускания</a:t>
            </a:r>
            <a:r>
              <a:rPr lang="ru-RU" dirty="0"/>
              <a:t>. Если сигнал содержит резкие переходы (как квадратные импульсы в цифровой передаче), ему нужны высокие частоты.</a:t>
            </a:r>
          </a:p>
          <a:p>
            <a:endParaRPr lang="ru-RU" dirty="0"/>
          </a:p>
          <a:p>
            <a:r>
              <a:rPr lang="ru-RU" dirty="0"/>
              <a:t>Телефонный канал пропускает только низкие частоты — поэтому квадратный сигнал превращается в сглаженный, и восстановить биты сложно.</a:t>
            </a:r>
          </a:p>
          <a:p>
            <a:br>
              <a:rPr lang="ru-RU" dirty="0"/>
            </a:br>
            <a:r>
              <a:rPr lang="ru-RU" dirty="0"/>
              <a:t>Простой вывод: </a:t>
            </a:r>
            <a:r>
              <a:rPr lang="ru-RU" b="1" dirty="0"/>
              <a:t>скорость передачи ограничена полосой частот</a:t>
            </a:r>
            <a:r>
              <a:rPr lang="ru-RU" dirty="0"/>
              <a:t>, независимо от того, насколько «идеальны» провода.</a:t>
            </a: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36</a:t>
            </a:fld>
            <a:endParaRPr lang="en-US"/>
          </a:p>
        </p:txBody>
      </p:sp>
    </p:spTree>
    <p:extLst>
      <p:ext uri="{BB962C8B-B14F-4D97-AF65-F5344CB8AC3E}">
        <p14:creationId xmlns:p14="http://schemas.microsoft.com/office/powerpoint/2010/main" val="35902895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Найквист показал: если у канала есть полоса пропускания B, то в секунду можно «надёжно различить» лишь примерно 2B значимых изменений сигнала. Это ограничивает скорость даже идеального канала.</a:t>
            </a:r>
          </a:p>
          <a:p>
            <a:br>
              <a:rPr lang="ru-RU" dirty="0"/>
            </a:br>
            <a:r>
              <a:rPr lang="ru-RU" dirty="0"/>
              <a:t>Шеннон добавил шум: чем хуже SNR, тем меньше информации можно надёжно передать. </a:t>
            </a:r>
          </a:p>
          <a:p>
            <a:endParaRPr lang="ru-RU" dirty="0"/>
          </a:p>
          <a:p>
            <a:r>
              <a:rPr lang="ru-RU" dirty="0"/>
              <a:t>Эти формулы дают </a:t>
            </a:r>
            <a:r>
              <a:rPr lang="ru-RU" b="1" dirty="0"/>
              <a:t>абсолютный потолок</a:t>
            </a:r>
            <a:r>
              <a:rPr lang="ru-RU" dirty="0"/>
              <a:t> скорости — никакие хитрые алгоритмы или оборудование не смогут передать быстрее, чем позволяют физика и шум.</a:t>
            </a:r>
          </a:p>
          <a:p>
            <a:endParaRPr lang="ru-RU" dirty="0"/>
          </a:p>
          <a:p>
            <a:r>
              <a:rPr lang="ru-RU" dirty="0"/>
              <a:t>Практический пример — ADSL: телефонный кабель даёт около 1 МГц полосы; даже при хорошем SNR максимум — ~12–13 Мбит/с. Поэтому более высокая скорость требует либо более широкой полосы, либо более чистого сигнала.</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37</a:t>
            </a:fld>
            <a:endParaRPr lang="en-US"/>
          </a:p>
        </p:txBody>
      </p:sp>
    </p:spTree>
    <p:extLst>
      <p:ext uri="{BB962C8B-B14F-4D97-AF65-F5344CB8AC3E}">
        <p14:creationId xmlns:p14="http://schemas.microsoft.com/office/powerpoint/2010/main" val="26593065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ru-RU" dirty="0"/>
              <a:t>Модуляция — это способ «вписать» значение битов в параметры волны.</a:t>
            </a:r>
          </a:p>
          <a:p>
            <a:pPr marL="171450" indent="-171450">
              <a:buFont typeface="Arial" panose="020B0604020202020204" pitchFamily="34" charset="0"/>
              <a:buChar char="•"/>
            </a:pPr>
            <a:r>
              <a:rPr lang="ru-RU" dirty="0"/>
              <a:t>ASK: разная высота сигнала для 0 и 1;</a:t>
            </a:r>
          </a:p>
          <a:p>
            <a:pPr marL="171450" indent="-171450">
              <a:buFont typeface="Arial" panose="020B0604020202020204" pitchFamily="34" charset="0"/>
              <a:buChar char="•"/>
            </a:pPr>
            <a:r>
              <a:rPr lang="ru-RU" dirty="0"/>
              <a:t>FSK: разные частоты;</a:t>
            </a:r>
          </a:p>
          <a:p>
            <a:pPr marL="171450" indent="-171450">
              <a:buFont typeface="Arial" panose="020B0604020202020204" pitchFamily="34" charset="0"/>
              <a:buChar char="•"/>
            </a:pPr>
            <a:r>
              <a:rPr lang="ru-RU" dirty="0"/>
              <a:t>PSK: разные фазы волны;</a:t>
            </a:r>
          </a:p>
          <a:p>
            <a:pPr marL="171450" indent="-171450">
              <a:buFont typeface="Arial" panose="020B0604020202020204" pitchFamily="34" charset="0"/>
              <a:buChar char="•"/>
            </a:pPr>
            <a:r>
              <a:rPr lang="ru-RU" dirty="0"/>
              <a:t>QAM: одновременно меняем фазу и амплитуду → много уровней, значит, один символ кодирует сразу 4, 6 или больше битов.</a:t>
            </a:r>
          </a:p>
          <a:p>
            <a:pPr marL="171450" indent="-171450">
              <a:buFont typeface="Arial" panose="020B0604020202020204" pitchFamily="34" charset="0"/>
              <a:buChar char="•"/>
            </a:pPr>
            <a:endParaRPr lang="ru-RU" dirty="0"/>
          </a:p>
          <a:p>
            <a:r>
              <a:rPr lang="ru-RU" dirty="0"/>
              <a:t>Чем больше уровней символа, тем выше скорость, но тем чувствительнее сигнал к шумам — при малейшей ошибке можно перепутать уровни.</a:t>
            </a:r>
          </a:p>
          <a:p>
            <a:endParaRPr lang="ru-RU" dirty="0"/>
          </a:p>
          <a:p>
            <a:r>
              <a:rPr lang="ru-RU" dirty="0"/>
              <a:t> Поэтому в реальных системах параметры модуляции постоянно подстраиваются под качество канала (например, </a:t>
            </a:r>
            <a:r>
              <a:rPr lang="ru-RU" dirty="0" err="1"/>
              <a:t>Wi</a:t>
            </a:r>
            <a:r>
              <a:rPr lang="ru-RU" dirty="0"/>
              <a:t>-Fi, LTE).</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38</a:t>
            </a:fld>
            <a:endParaRPr lang="en-US"/>
          </a:p>
        </p:txBody>
      </p:sp>
    </p:spTree>
    <p:extLst>
      <p:ext uri="{BB962C8B-B14F-4D97-AF65-F5344CB8AC3E}">
        <p14:creationId xmlns:p14="http://schemas.microsoft.com/office/powerpoint/2010/main" val="36354899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Приёмник должен понимать, </a:t>
            </a:r>
            <a:r>
              <a:rPr lang="ru-RU" b="1" dirty="0"/>
              <a:t>где заканчивается один бит и начинается следующий</a:t>
            </a:r>
            <a:r>
              <a:rPr lang="ru-RU" dirty="0"/>
              <a:t>. В NRZ, если идёт много нулей подряд, сигнал не меняется, и приемник перестаёт понимать границы битов. Поэтому используют более умные схемы:</a:t>
            </a:r>
          </a:p>
          <a:p>
            <a:pPr marL="171450" indent="-171450">
              <a:buFont typeface="Arial" panose="020B0604020202020204" pitchFamily="34" charset="0"/>
              <a:buChar char="•"/>
            </a:pPr>
            <a:r>
              <a:rPr lang="ru-RU" dirty="0"/>
              <a:t>NRZI: «1» = переход;</a:t>
            </a:r>
          </a:p>
          <a:p>
            <a:pPr marL="171450" indent="-171450">
              <a:buFont typeface="Arial" panose="020B0604020202020204" pitchFamily="34" charset="0"/>
              <a:buChar char="•"/>
            </a:pPr>
            <a:r>
              <a:rPr lang="ru-RU" dirty="0"/>
              <a:t>Манчестер: каждый бит содержит переход, синхронизация встроена в сигнал;</a:t>
            </a:r>
          </a:p>
          <a:p>
            <a:pPr marL="171450" indent="-171450">
              <a:buFont typeface="Arial" panose="020B0604020202020204" pitchFamily="34" charset="0"/>
              <a:buChar char="•"/>
            </a:pPr>
            <a:r>
              <a:rPr lang="ru-RU" dirty="0"/>
              <a:t>4B/5B: каждые 4 бита заменяем паттерном из 5, где нет длинных цепочек нулей;</a:t>
            </a:r>
          </a:p>
          <a:p>
            <a:pPr marL="171450" indent="-171450">
              <a:buFont typeface="Arial" panose="020B0604020202020204" pitchFamily="34" charset="0"/>
              <a:buChar char="•"/>
            </a:pPr>
            <a:r>
              <a:rPr lang="ru-RU" dirty="0"/>
              <a:t>8B/10B: улучшенный код, обеспечивает баланс сигнала (нет постоянного смещения).</a:t>
            </a:r>
          </a:p>
          <a:p>
            <a:r>
              <a:rPr lang="ru-RU" dirty="0"/>
              <a:t>Скремблирование делает поток псевдослучайным, что снижает вероятность проблем и уменьшает излучение помех.</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39</a:t>
            </a:fld>
            <a:endParaRPr lang="en-US"/>
          </a:p>
        </p:txBody>
      </p:sp>
    </p:spTree>
    <p:extLst>
      <p:ext uri="{BB962C8B-B14F-4D97-AF65-F5344CB8AC3E}">
        <p14:creationId xmlns:p14="http://schemas.microsoft.com/office/powerpoint/2010/main" val="11133010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40</a:t>
            </a:fld>
            <a:endParaRPr lang="en-US"/>
          </a:p>
        </p:txBody>
      </p:sp>
    </p:spTree>
    <p:extLst>
      <p:ext uri="{BB962C8B-B14F-4D97-AF65-F5344CB8AC3E}">
        <p14:creationId xmlns:p14="http://schemas.microsoft.com/office/powerpoint/2010/main" val="33986924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Часто выгоднее построить один «толстый» канал и разделить его на много логических.</a:t>
            </a:r>
          </a:p>
          <a:p>
            <a:endParaRPr lang="ru-RU" dirty="0"/>
          </a:p>
          <a:p>
            <a:r>
              <a:rPr lang="ru-RU" dirty="0"/>
              <a:t>В </a:t>
            </a:r>
            <a:r>
              <a:rPr lang="ru-RU" b="1" dirty="0"/>
              <a:t>FDM</a:t>
            </a:r>
            <a:r>
              <a:rPr lang="ru-RU" dirty="0"/>
              <a:t> каждый поток получает свою частоту — пример: FM/AM радио.</a:t>
            </a:r>
          </a:p>
          <a:p>
            <a:endParaRPr lang="ru-RU" dirty="0"/>
          </a:p>
          <a:p>
            <a:r>
              <a:rPr lang="ru-RU" dirty="0"/>
              <a:t>В </a:t>
            </a:r>
            <a:r>
              <a:rPr lang="ru-RU" b="1" dirty="0"/>
              <a:t>TDM</a:t>
            </a:r>
            <a:r>
              <a:rPr lang="ru-RU" dirty="0"/>
              <a:t> потоки передают данные «по очереди», каждый в свой временной слот — типично для телефонии.</a:t>
            </a:r>
          </a:p>
          <a:p>
            <a:endParaRPr lang="ru-RU" dirty="0"/>
          </a:p>
          <a:p>
            <a:r>
              <a:rPr lang="ru-RU" b="1" dirty="0"/>
              <a:t>CDMA</a:t>
            </a:r>
            <a:r>
              <a:rPr lang="ru-RU" dirty="0"/>
              <a:t> использует разные кодовые последовательности: все передают одновременно, а приёмник выделяет только «свой» код.</a:t>
            </a:r>
          </a:p>
          <a:p>
            <a:endParaRPr lang="ru-RU" dirty="0"/>
          </a:p>
          <a:p>
            <a:r>
              <a:rPr lang="ru-RU" dirty="0"/>
              <a:t>В </a:t>
            </a:r>
            <a:r>
              <a:rPr lang="ru-RU" b="1" dirty="0"/>
              <a:t>WDM</a:t>
            </a:r>
            <a:r>
              <a:rPr lang="ru-RU" dirty="0"/>
              <a:t> (оптика) один кабель несёт десятки или сотни лучей разного цвета (длины волн), каждый — свой канал. Так достигают гигантских скоростей (терабит/с).</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41</a:t>
            </a:fld>
            <a:endParaRPr lang="en-US"/>
          </a:p>
        </p:txBody>
      </p:sp>
    </p:spTree>
    <p:extLst>
      <p:ext uri="{BB962C8B-B14F-4D97-AF65-F5344CB8AC3E}">
        <p14:creationId xmlns:p14="http://schemas.microsoft.com/office/powerpoint/2010/main" val="7085567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Физика определяет пределы того, насколько быстро и надёжно могут передаваться данные: даже идеальный канал ограничен полосой частоты (предел Найквиста), а реальный — ещё и шумом (предел Шеннона).</a:t>
            </a:r>
          </a:p>
          <a:p>
            <a:endParaRPr lang="ru-RU" dirty="0"/>
          </a:p>
          <a:p>
            <a:r>
              <a:rPr lang="ru-RU" dirty="0"/>
              <a:t>Мы рассмотрели проводные и беспроводные среды и увидели, что каждая накладывает свои требования на модуляцию и кодирование. Чтобы передавать цифровые биты через аналоговый канал, используются разные схемы модуляции и линейные коды.</a:t>
            </a:r>
          </a:p>
          <a:p>
            <a:endParaRPr lang="ru-RU" dirty="0"/>
          </a:p>
          <a:p>
            <a:r>
              <a:rPr lang="ru-RU" dirty="0"/>
              <a:t>Когда канал нужно разделить между многими пользователями, применяется мультиплексирование — по времени, частоте, коду или длинам волн. Эти же идеи лежат в основе реальных систем доступа: телефонных линий с ADSL, пассивных оптических сетей, гибридных кабельных систем и сотовых сетей до 5G.</a:t>
            </a:r>
          </a:p>
          <a:p>
            <a:endParaRPr lang="ru-RU" dirty="0"/>
          </a:p>
          <a:p>
            <a:r>
              <a:rPr lang="ru-RU" dirty="0"/>
              <a:t>Наконец, многие свойства физического уровня определяются не только техникой, но и государственными регуляторами, которые управляют распределением частот. Всё это формирует базовый уровень, на котором строится работа остального сетевого стека.</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42</a:t>
            </a:fld>
            <a:endParaRPr lang="en-US"/>
          </a:p>
        </p:txBody>
      </p:sp>
    </p:spTree>
    <p:extLst>
      <p:ext uri="{BB962C8B-B14F-4D97-AF65-F5344CB8AC3E}">
        <p14:creationId xmlns:p14="http://schemas.microsoft.com/office/powerpoint/2010/main" val="35672684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43</a:t>
            </a:fld>
            <a:endParaRPr lang="en-US"/>
          </a:p>
        </p:txBody>
      </p:sp>
    </p:spTree>
    <p:extLst>
      <p:ext uri="{BB962C8B-B14F-4D97-AF65-F5344CB8AC3E}">
        <p14:creationId xmlns:p14="http://schemas.microsoft.com/office/powerpoint/2010/main" val="25945186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Канальный уровень — это первый уровень, на котором мы начинаем работать не с отдельными битами, а с законченными структурами — фреймами. Он принимает «сырые» возможности физического уровня и добавляет надёжность, структурированность и осмысленную передачу данных.</a:t>
            </a:r>
          </a:p>
          <a:p>
            <a:endParaRPr lang="ru-RU" dirty="0"/>
          </a:p>
          <a:p>
            <a:r>
              <a:rPr lang="ru-RU" dirty="0"/>
              <a:t>Важно помнить: </a:t>
            </a:r>
            <a:r>
              <a:rPr lang="ru-RU" b="1" dirty="0"/>
              <a:t>физический канал всегда ненадёжен</a:t>
            </a:r>
            <a:r>
              <a:rPr lang="ru-RU" dirty="0"/>
              <a:t>. Ошибки битов, помехи, задержки, коллизии, перепады мощности — всё это норма. Задача канального уровня — скрыть эти проблемы от сетевого уровня и обеспечить передачу фреймов так, чтобы верхним уровням не приходилось разбираться с «физическими сюрпризами».</a:t>
            </a:r>
          </a:p>
          <a:p>
            <a:endParaRPr lang="ru-RU" dirty="0"/>
          </a:p>
          <a:p>
            <a:r>
              <a:rPr lang="ru-RU" dirty="0"/>
              <a:t>Канальный уровень также должен учитывать ограничение скорости передачи и то, что сигнал доходит не мгновенно — это существенно влияет на эффективность протоколов и на логику подтверждений.</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44</a:t>
            </a:fld>
            <a:endParaRPr lang="en-US"/>
          </a:p>
        </p:txBody>
      </p:sp>
    </p:spTree>
    <p:extLst>
      <p:ext uri="{BB962C8B-B14F-4D97-AF65-F5344CB8AC3E}">
        <p14:creationId xmlns:p14="http://schemas.microsoft.com/office/powerpoint/2010/main" val="31157300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Фрейм — это минимальная единица передачи на канальном уровне. Его структура тщательно продумана: заголовок помогает приёмнику понять, что это за фрейм, кому он адресован, какую часть последовательности представляет.</a:t>
            </a:r>
          </a:p>
          <a:p>
            <a:endParaRPr lang="ru-RU" dirty="0"/>
          </a:p>
          <a:p>
            <a:r>
              <a:rPr lang="ru-RU" dirty="0"/>
              <a:t>Полезные данные — это то, что мы передаём «ради чего всё затевалось»: сетевой пакет.</a:t>
            </a:r>
          </a:p>
          <a:p>
            <a:endParaRPr lang="ru-RU" dirty="0"/>
          </a:p>
          <a:p>
            <a:r>
              <a:rPr lang="ru-RU" dirty="0"/>
              <a:t>Трейлер обычно содержит контрольную сумму (CRC). Это мощный инструмент, который позволяет обнаруживать большинство ошибок, возникших в канале. Канальный уровень не обязан исправлять все ошибки — его задача вовремя выявлять повреждённые фреймы и инициировать их повторную передачу.</a:t>
            </a:r>
          </a:p>
          <a:p>
            <a:endParaRPr lang="ru-RU" dirty="0"/>
          </a:p>
          <a:p>
            <a:r>
              <a:rPr lang="ru-RU" dirty="0"/>
              <a:t>Так мы создаём надёжный канал поверх ненадёжной среды.</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45</a:t>
            </a:fld>
            <a:endParaRPr lang="en-US"/>
          </a:p>
        </p:txBody>
      </p:sp>
    </p:spTree>
    <p:extLst>
      <p:ext uri="{BB962C8B-B14F-4D97-AF65-F5344CB8AC3E}">
        <p14:creationId xmlns:p14="http://schemas.microsoft.com/office/powerpoint/2010/main" val="40598388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Канальный уровень может работать в разных режимах, и выбор зависит от того, насколько надёжная среда передачи.</a:t>
            </a:r>
          </a:p>
          <a:p>
            <a:endParaRPr lang="ru-RU" dirty="0"/>
          </a:p>
          <a:p>
            <a:pPr marL="171450" indent="-171450">
              <a:buFont typeface="Arial" panose="020B0604020202020204" pitchFamily="34" charset="0"/>
              <a:buChar char="•"/>
            </a:pPr>
            <a:r>
              <a:rPr lang="ru-RU" dirty="0"/>
              <a:t>Ethernet считает физический канал достаточно надёжным, чтобы не тратить время на подтверждения — потерянные фреймы при необходимости будут восстановлены протоколами верхних уровней.</a:t>
            </a:r>
          </a:p>
          <a:p>
            <a:pPr marL="171450" indent="-171450">
              <a:buFont typeface="Arial" panose="020B0604020202020204" pitchFamily="34" charset="0"/>
              <a:buChar char="•"/>
            </a:pPr>
            <a:r>
              <a:rPr lang="ru-RU" dirty="0"/>
              <a:t>В беспроводных сетях ситуация другая: </a:t>
            </a:r>
            <a:r>
              <a:rPr lang="ru-RU" dirty="0" err="1"/>
              <a:t>Wi</a:t>
            </a:r>
            <a:r>
              <a:rPr lang="ru-RU" dirty="0"/>
              <a:t>-Fi обязан подтверждать каждый фрейм, иначе уровень ошибок стал бы слишком высоким. Здесь канальный уровень активно помогает приложению, локально исправляя потери.</a:t>
            </a:r>
          </a:p>
          <a:p>
            <a:pPr marL="171450" indent="-171450">
              <a:buFont typeface="Arial" panose="020B0604020202020204" pitchFamily="34" charset="0"/>
              <a:buChar char="•"/>
            </a:pPr>
            <a:r>
              <a:rPr lang="ru-RU" dirty="0"/>
              <a:t>В системах с огромными задержками или высокой вероятностью ошибок (например, спутниковая связь) используется полноценное соединение: передача делится на три этапа — установка, обмен и разрыв. Это более дорогой протокол, но он обеспечивает строгую гарантию доставки и правильного порядка фреймов.</a:t>
            </a:r>
          </a:p>
          <a:p>
            <a:endParaRPr lang="ru-RU" dirty="0"/>
          </a:p>
          <a:p>
            <a:r>
              <a:rPr lang="ru-RU" dirty="0"/>
              <a:t>Таким образом, канальный уровень может быть как «лёгким», так и «полнофункциональным» — зависит от требований среды.</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46</a:t>
            </a:fld>
            <a:endParaRPr lang="en-US"/>
          </a:p>
        </p:txBody>
      </p:sp>
    </p:spTree>
    <p:extLst>
      <p:ext uri="{BB962C8B-B14F-4D97-AF65-F5344CB8AC3E}">
        <p14:creationId xmlns:p14="http://schemas.microsoft.com/office/powerpoint/2010/main" val="34644309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47</a:t>
            </a:fld>
            <a:endParaRPr lang="en-US"/>
          </a:p>
        </p:txBody>
      </p:sp>
    </p:spTree>
    <p:extLst>
      <p:ext uri="{BB962C8B-B14F-4D97-AF65-F5344CB8AC3E}">
        <p14:creationId xmlns:p14="http://schemas.microsoft.com/office/powerpoint/2010/main" val="25781305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теории кажется: «что сложного — передать набор битов?» На практике же всё гораздо запутаннее. Канал вносит ошибки, задержки, шум, фреймы теряются или приходят повреждёнными. Кроме того, отправитель может работать быстрее приёмника — и это приводит к переполненным буферам и потере данных.</a:t>
            </a:r>
          </a:p>
          <a:p>
            <a:endParaRPr lang="ru-RU" dirty="0"/>
          </a:p>
          <a:p>
            <a:r>
              <a:rPr lang="ru-RU" dirty="0"/>
              <a:t>Канальный уровень компенсирует все эти проблемы. CRC позволяет выявить ошибку; нумерация фреймов — понять, какой именно нужно повторно отправить; таймеры — не ждать бесконечно; управление потоком — согласовать скорости.</a:t>
            </a:r>
          </a:p>
          <a:p>
            <a:r>
              <a:rPr lang="ru-RU" dirty="0"/>
              <a:t>В итоге, канальный уровень превращает физическую передачу «как получится» в контролируемый процесс с понятными гарантиями для сетевого уровня.</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48</a:t>
            </a:fld>
            <a:endParaRPr lang="en-US"/>
          </a:p>
        </p:txBody>
      </p:sp>
    </p:spTree>
    <p:extLst>
      <p:ext uri="{BB962C8B-B14F-4D97-AF65-F5344CB8AC3E}">
        <p14:creationId xmlns:p14="http://schemas.microsoft.com/office/powerpoint/2010/main" val="42114158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49</a:t>
            </a:fld>
            <a:endParaRPr lang="en-US"/>
          </a:p>
        </p:txBody>
      </p:sp>
    </p:spTree>
    <p:extLst>
      <p:ext uri="{BB962C8B-B14F-4D97-AF65-F5344CB8AC3E}">
        <p14:creationId xmlns:p14="http://schemas.microsoft.com/office/powerpoint/2010/main" val="356858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Физический уровень передаёт поток битов без явного понимания, где начинается или заканчивается сообщение.</a:t>
            </a:r>
          </a:p>
          <a:p>
            <a:r>
              <a:rPr lang="ru-RU" dirty="0"/>
              <a:t>Любой шум, помехи или ошибки могут искажать последовательность битов. Поэтому канальный уровень обязан превратить этот поток в чёткие, однозначно определённые </a:t>
            </a:r>
            <a:r>
              <a:rPr lang="ru-RU" b="1" dirty="0"/>
              <a:t>фреймы</a:t>
            </a:r>
            <a:r>
              <a:rPr lang="ru-RU" dirty="0"/>
              <a:t>, к которым можно применять проверку ошибок.</a:t>
            </a:r>
          </a:p>
          <a:p>
            <a:endParaRPr lang="ru-RU" dirty="0"/>
          </a:p>
          <a:p>
            <a:r>
              <a:rPr lang="ru-RU" dirty="0"/>
              <a:t>Контрольная сумма — критически важный механизм: она позволяет приёмнику понять, был ли фрейм повреждён. Однако сама по себе </a:t>
            </a:r>
            <a:r>
              <a:rPr lang="ru-RU" dirty="0" err="1"/>
              <a:t>checksum</a:t>
            </a:r>
            <a:r>
              <a:rPr lang="ru-RU" dirty="0"/>
              <a:t> не помогает определить </a:t>
            </a:r>
            <a:r>
              <a:rPr lang="ru-RU" b="1" dirty="0"/>
              <a:t>границы</a:t>
            </a:r>
            <a:r>
              <a:rPr lang="ru-RU" dirty="0"/>
              <a:t> фреймов — этим занимаются специальные методы маркировки, которые мы рассмотрим дальше.</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50</a:t>
            </a:fld>
            <a:endParaRPr lang="en-US"/>
          </a:p>
        </p:txBody>
      </p:sp>
    </p:spTree>
    <p:extLst>
      <p:ext uri="{BB962C8B-B14F-4D97-AF65-F5344CB8AC3E}">
        <p14:creationId xmlns:p14="http://schemas.microsoft.com/office/powerpoint/2010/main" val="36753559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Этот метод кажется интуитивным: передать число байтов в начале фрейма и просто прочитать указанное количество.</a:t>
            </a:r>
          </a:p>
          <a:p>
            <a:endParaRPr lang="ru-RU" dirty="0"/>
          </a:p>
          <a:p>
            <a:r>
              <a:rPr lang="ru-RU" dirty="0"/>
              <a:t>Но его слабость в том, что </a:t>
            </a:r>
            <a:r>
              <a:rPr lang="ru-RU" b="1" dirty="0"/>
              <a:t>повреждение одного бита в поле длины разрушает весь поток</a:t>
            </a:r>
            <a:r>
              <a:rPr lang="ru-RU" dirty="0"/>
              <a:t>. Приёмник не знает, где начинается следующий фрейм, потому что не может доверять указанной длине. Даже если контрольная сумма не совпадёт, восстановить границы невозможно — неизвестно, сколько байт нужно выбросить, чтобы найти начало следующего фрейма.</a:t>
            </a:r>
          </a:p>
          <a:p>
            <a:endParaRPr lang="ru-RU" dirty="0"/>
          </a:p>
          <a:p>
            <a:r>
              <a:rPr lang="ru-RU" dirty="0"/>
              <a:t>По этой причине метод практически не используется в чистом виде.</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51</a:t>
            </a:fld>
            <a:endParaRPr lang="en-US"/>
          </a:p>
        </p:txBody>
      </p:sp>
    </p:spTree>
    <p:extLst>
      <p:ext uri="{BB962C8B-B14F-4D97-AF65-F5344CB8AC3E}">
        <p14:creationId xmlns:p14="http://schemas.microsoft.com/office/powerpoint/2010/main" val="267017206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Использование флаговых байтов обеспечивает надёжное восстановление синхронизации: достаточно найти два подряд идущих FLAG, чтобы понять границу фреймов.</a:t>
            </a:r>
          </a:p>
          <a:p>
            <a:endParaRPr lang="ru-RU" dirty="0"/>
          </a:p>
          <a:p>
            <a:r>
              <a:rPr lang="ru-RU" dirty="0"/>
              <a:t>Однако если такой байт встречается в данных, граница идентифицируется неверно. Поэтому применяется </a:t>
            </a:r>
            <a:r>
              <a:rPr lang="ru-RU" b="1" dirty="0" err="1"/>
              <a:t>byte</a:t>
            </a:r>
            <a:r>
              <a:rPr lang="ru-RU" b="1" dirty="0"/>
              <a:t> </a:t>
            </a:r>
            <a:r>
              <a:rPr lang="ru-RU" b="1" dirty="0" err="1"/>
              <a:t>stuffing</a:t>
            </a:r>
            <a:r>
              <a:rPr lang="ru-RU" dirty="0"/>
              <a:t>: перед «опасными» байтами добавляется ESC, что делает их отличимыми от настоящих служебных флагов.</a:t>
            </a:r>
          </a:p>
          <a:p>
            <a:r>
              <a:rPr lang="ru-RU" dirty="0"/>
              <a:t>После «очистки» ESC на стороне приёмника данные полностью совпадают с исходными.</a:t>
            </a:r>
          </a:p>
          <a:p>
            <a:endParaRPr lang="ru-RU" dirty="0"/>
          </a:p>
          <a:p>
            <a:r>
              <a:rPr lang="ru-RU" dirty="0"/>
              <a:t>Такой метод гибок и работает для любых бинарных данных, что делает его популярным, например, в PPP.</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52</a:t>
            </a:fld>
            <a:endParaRPr lang="en-US"/>
          </a:p>
        </p:txBody>
      </p:sp>
    </p:spTree>
    <p:extLst>
      <p:ext uri="{BB962C8B-B14F-4D97-AF65-F5344CB8AC3E}">
        <p14:creationId xmlns:p14="http://schemas.microsoft.com/office/powerpoint/2010/main" val="19021793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Бит-</a:t>
            </a:r>
            <a:r>
              <a:rPr lang="ru-RU" dirty="0" err="1"/>
              <a:t>стаффинг</a:t>
            </a:r>
            <a:r>
              <a:rPr lang="ru-RU" dirty="0"/>
              <a:t> — развитие идеи байт-</a:t>
            </a:r>
            <a:r>
              <a:rPr lang="ru-RU" dirty="0" err="1"/>
              <a:t>стаффинга</a:t>
            </a:r>
            <a:r>
              <a:rPr lang="ru-RU" dirty="0"/>
              <a:t>, но на уровне отдельных битов. Он устраняет зависимость от байтовой границы: фрейм может иметь любую длину.</a:t>
            </a:r>
          </a:p>
          <a:p>
            <a:endParaRPr lang="ru-RU" dirty="0"/>
          </a:p>
          <a:p>
            <a:r>
              <a:rPr lang="ru-RU" dirty="0"/>
              <a:t>Идея: флаговая последовательность никогда не должна появляться внутри данных пользователя. Поэтому передача автоматически вставляет ноль после пяти единиц подряд, если это случилось в данных. Приёмник, соответственно, удаляет такие нули.</a:t>
            </a:r>
          </a:p>
          <a:p>
            <a:endParaRPr lang="ru-RU" dirty="0"/>
          </a:p>
          <a:p>
            <a:r>
              <a:rPr lang="ru-RU" dirty="0"/>
              <a:t>Такой метод чрезвычайно надёжен, позволяет легко восстанавливать границы даже после сильной потери синхронизации и используется в протоколах семейства HDLC.</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53</a:t>
            </a:fld>
            <a:endParaRPr lang="en-US"/>
          </a:p>
        </p:txBody>
      </p:sp>
    </p:spTree>
    <p:extLst>
      <p:ext uri="{BB962C8B-B14F-4D97-AF65-F5344CB8AC3E}">
        <p14:creationId xmlns:p14="http://schemas.microsoft.com/office/powerpoint/2010/main" val="22963305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современных сетях физический уровень часто использует кодирование, где не все возможные комбинации разрешены.</a:t>
            </a:r>
          </a:p>
          <a:p>
            <a:endParaRPr lang="ru-RU" dirty="0"/>
          </a:p>
          <a:p>
            <a:r>
              <a:rPr lang="ru-RU" dirty="0"/>
              <a:t>Эти «запрещённые» коды невозможно получить из пользовательских данных.</a:t>
            </a:r>
          </a:p>
          <a:p>
            <a:r>
              <a:rPr lang="ru-RU" dirty="0"/>
              <a:t>Поэтому протоколы могут использовать такие сигналы как маркеры границ фреймов. Это мощный метод: никакой дополнительной вставки битов не нужно, а синхронизация становится простой и быстрой.</a:t>
            </a:r>
          </a:p>
          <a:p>
            <a:endParaRPr lang="ru-RU" dirty="0"/>
          </a:p>
          <a:p>
            <a:pPr marL="0" indent="0">
              <a:buFont typeface="Arial" panose="020B0604020202020204" pitchFamily="34" charset="0"/>
              <a:buNone/>
            </a:pPr>
            <a:r>
              <a:rPr lang="ru-RU" dirty="0"/>
              <a:t>Ethernet и 802.11 комбинируют несколько подходов:</a:t>
            </a:r>
          </a:p>
          <a:p>
            <a:pPr marL="171450" indent="-171450">
              <a:buFont typeface="Arial" panose="020B0604020202020204" pitchFamily="34" charset="0"/>
              <a:buChar char="•"/>
            </a:pPr>
            <a:r>
              <a:rPr lang="ru-RU" dirty="0"/>
              <a:t>преамбула для синхронизации,</a:t>
            </a:r>
          </a:p>
          <a:p>
            <a:pPr marL="171450" indent="-171450">
              <a:buFont typeface="Arial" panose="020B0604020202020204" pitchFamily="34" charset="0"/>
              <a:buChar char="•"/>
            </a:pPr>
            <a:r>
              <a:rPr lang="ru-RU" dirty="0"/>
              <a:t>поле длины в заголовке,</a:t>
            </a:r>
          </a:p>
          <a:p>
            <a:pPr marL="171450" indent="-171450">
              <a:buFont typeface="Arial" panose="020B0604020202020204" pitchFamily="34" charset="0"/>
              <a:buChar char="•"/>
            </a:pPr>
            <a:r>
              <a:rPr lang="ru-RU" dirty="0"/>
              <a:t>физические сигналы, недоступные в данных.</a:t>
            </a:r>
          </a:p>
          <a:p>
            <a:r>
              <a:rPr lang="ru-RU" dirty="0"/>
              <a:t>Так достигается высокая надёжность и эффективность.</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54</a:t>
            </a:fld>
            <a:endParaRPr lang="en-US"/>
          </a:p>
        </p:txBody>
      </p:sp>
    </p:spTree>
    <p:extLst>
      <p:ext uri="{BB962C8B-B14F-4D97-AF65-F5344CB8AC3E}">
        <p14:creationId xmlns:p14="http://schemas.microsoft.com/office/powerpoint/2010/main" val="150589344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55</a:t>
            </a:fld>
            <a:endParaRPr lang="en-US"/>
          </a:p>
        </p:txBody>
      </p:sp>
    </p:spTree>
    <p:extLst>
      <p:ext uri="{BB962C8B-B14F-4D97-AF65-F5344CB8AC3E}">
        <p14:creationId xmlns:p14="http://schemas.microsoft.com/office/powerpoint/2010/main" val="34869169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Даже если мы научились надёжно определять границы фреймов, возникает новая задача — </a:t>
            </a:r>
            <a:r>
              <a:rPr lang="ru-RU" b="1" dirty="0"/>
              <a:t>как гарантировать их корректную доставку</a:t>
            </a:r>
            <a:r>
              <a:rPr lang="ru-RU" dirty="0"/>
              <a:t>, не нарушая порядок. Канальный уровень должен уметь отличать исправные фреймы от повреждённых.</a:t>
            </a:r>
          </a:p>
          <a:p>
            <a:endParaRPr lang="ru-RU" dirty="0"/>
          </a:p>
          <a:p>
            <a:r>
              <a:rPr lang="ru-RU" dirty="0"/>
              <a:t>Для надёжных служб (например, ориентированных на соединение) недостаточно просто «шлём фреймы и надеемся, что дойдут». Поэтому вводятся механизмы подтверждения: приёмник отправляет назад ACK (всё хорошо) или NACK (фрейм повреждён).</a:t>
            </a:r>
          </a:p>
          <a:p>
            <a:endParaRPr lang="ru-RU" dirty="0"/>
          </a:p>
          <a:p>
            <a:r>
              <a:rPr lang="ru-RU" dirty="0"/>
              <a:t>Проблема в том, что исчезнуть может всё: и фрейм, и подтверждение. Если протокол просто ждёт ответа, он может зависнуть навсегда. Поэтому требуется более комплексная логика обработки ошибок.</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56</a:t>
            </a:fld>
            <a:endParaRPr lang="en-US"/>
          </a:p>
        </p:txBody>
      </p:sp>
    </p:spTree>
    <p:extLst>
      <p:ext uri="{BB962C8B-B14F-4D97-AF65-F5344CB8AC3E}">
        <p14:creationId xmlns:p14="http://schemas.microsoft.com/office/powerpoint/2010/main" val="2133648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Таймер — главный механизм в ситуациях, когда ответ вообще не пришёл. Если время ожидания превышено, отправитель считает, что произошла потеря, и инициирует повторную отправку.</a:t>
            </a:r>
          </a:p>
          <a:p>
            <a:endParaRPr lang="ru-RU" dirty="0"/>
          </a:p>
          <a:p>
            <a:r>
              <a:rPr lang="ru-RU" dirty="0"/>
              <a:t>Но повторная передача порождает риск дубликатов: приёмник может получить один и тот же фрейм дважды (например, оригинал + повтор). Поэтому вводится </a:t>
            </a:r>
            <a:r>
              <a:rPr lang="ru-RU" b="1" dirty="0"/>
              <a:t>нумерация фреймов</a:t>
            </a:r>
            <a:r>
              <a:rPr lang="ru-RU" dirty="0"/>
              <a:t>: приёмник сравнивает номер с ожидаемым и понимает, принимать или игнорировать фрейм.</a:t>
            </a:r>
          </a:p>
          <a:p>
            <a:endParaRPr lang="ru-RU" dirty="0"/>
          </a:p>
          <a:p>
            <a:r>
              <a:rPr lang="ru-RU" dirty="0"/>
              <a:t>Это создаёт необходимую семантику: ни один фрейм не будет потерян или доставлен дважды — и это ключевое обещание канального уровня надёжной службы.</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57</a:t>
            </a:fld>
            <a:endParaRPr lang="en-US"/>
          </a:p>
        </p:txBody>
      </p:sp>
    </p:spTree>
    <p:extLst>
      <p:ext uri="{BB962C8B-B14F-4D97-AF65-F5344CB8AC3E}">
        <p14:creationId xmlns:p14="http://schemas.microsoft.com/office/powerpoint/2010/main" val="2460905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58</a:t>
            </a:fld>
            <a:endParaRPr lang="en-US"/>
          </a:p>
        </p:txBody>
      </p:sp>
    </p:spTree>
    <p:extLst>
      <p:ext uri="{BB962C8B-B14F-4D97-AF65-F5344CB8AC3E}">
        <p14:creationId xmlns:p14="http://schemas.microsoft.com/office/powerpoint/2010/main" val="260939234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Даже при абсолютно надёжном канале ошибки могут возникать по другой причине — получатель просто не успевает обрабатывать входящие фреймы. Разница в мощности устройств может быть огромной: сильный сервер способен отправлять данные намного быстрее, чем мобильный клиент их обрабатывает.</a:t>
            </a:r>
          </a:p>
          <a:p>
            <a:endParaRPr lang="ru-RU" dirty="0"/>
          </a:p>
          <a:p>
            <a:r>
              <a:rPr lang="ru-RU" dirty="0"/>
              <a:t>В итоге фреймы теряются вовсе не из-за помех, а потому что </a:t>
            </a:r>
            <a:r>
              <a:rPr lang="ru-RU" b="1" dirty="0"/>
              <a:t>закончилась память под буферы</a:t>
            </a:r>
            <a:r>
              <a:rPr lang="ru-RU" dirty="0"/>
              <a:t>. Такой сценарий нужно предотвращать заранее — этим и занимается управление потоком.</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59</a:t>
            </a:fld>
            <a:endParaRPr lang="en-US"/>
          </a:p>
        </p:txBody>
      </p:sp>
    </p:spTree>
    <p:extLst>
      <p:ext uri="{BB962C8B-B14F-4D97-AF65-F5344CB8AC3E}">
        <p14:creationId xmlns:p14="http://schemas.microsoft.com/office/powerpoint/2010/main" val="114430711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Существуют два принципиально разных подхода. Первый — получать сигналы от принимающей стороны. Это самый распространённый вариант на канальном уровне: протоколы используют специальные управляющие сообщения, чтобы отправитель не «топил в пол», а передавал ровно столько, сколько может принять другая сторона.</a:t>
            </a:r>
          </a:p>
          <a:p>
            <a:endParaRPr lang="ru-RU" dirty="0"/>
          </a:p>
          <a:p>
            <a:r>
              <a:rPr lang="ru-RU" dirty="0"/>
              <a:t>Второй подход не зависит от состояния получателя — отправитель просто ограничивает свою скорость заранее. Такой метод важен для транспортного уровня (например, TCP </a:t>
            </a:r>
            <a:r>
              <a:rPr lang="ru-RU" dirty="0" err="1"/>
              <a:t>congestion</a:t>
            </a:r>
            <a:r>
              <a:rPr lang="ru-RU" dirty="0"/>
              <a:t> </a:t>
            </a:r>
            <a:r>
              <a:rPr lang="ru-RU" dirty="0" err="1"/>
              <a:t>control</a:t>
            </a:r>
            <a:r>
              <a:rPr lang="ru-RU" dirty="0"/>
              <a:t>), но в канальном уровне почти не применяется.</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60</a:t>
            </a:fld>
            <a:endParaRPr lang="en-US"/>
          </a:p>
        </p:txBody>
      </p:sp>
    </p:spTree>
    <p:extLst>
      <p:ext uri="{BB962C8B-B14F-4D97-AF65-F5344CB8AC3E}">
        <p14:creationId xmlns:p14="http://schemas.microsoft.com/office/powerpoint/2010/main" val="375692008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Все схемы управления потоком сводятся к одному принципу: отправитель должен учитывать состояние получателя. В простейшем случае получатель сообщает: «Можешь отправить мне n фреймов». Когда эти фреймы приняты и обработаны, он выдаёт следующее разрешение.</a:t>
            </a:r>
          </a:p>
          <a:p>
            <a:endParaRPr lang="ru-RU" dirty="0"/>
          </a:p>
          <a:p>
            <a:r>
              <a:rPr lang="ru-RU" dirty="0"/>
              <a:t>Это можно делать явно (отдельными управляющими фреймами) или неявно — через специальные параметры в подтверждениях. В дальнейших разделах мы увидим, как разные ARQ-протоколы комбинируют управление потоком с подтверждениями и таймерами.</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61</a:t>
            </a:fld>
            <a:endParaRPr lang="en-US"/>
          </a:p>
        </p:txBody>
      </p:sp>
    </p:spTree>
    <p:extLst>
      <p:ext uri="{BB962C8B-B14F-4D97-AF65-F5344CB8AC3E}">
        <p14:creationId xmlns:p14="http://schemas.microsoft.com/office/powerpoint/2010/main" val="16386089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62</a:t>
            </a:fld>
            <a:endParaRPr lang="en-US"/>
          </a:p>
        </p:txBody>
      </p:sp>
    </p:spTree>
    <p:extLst>
      <p:ext uri="{BB962C8B-B14F-4D97-AF65-F5344CB8AC3E}">
        <p14:creationId xmlns:p14="http://schemas.microsoft.com/office/powerpoint/2010/main" val="271065493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Даже при хорошем оборудовании и современном железе каналы связи всё равно дают ошибки: шум, замирания сигнала, помехи, старые кабели, беспроводной эфир — всё это портит биты.</a:t>
            </a:r>
          </a:p>
          <a:p>
            <a:endParaRPr lang="ru-RU" dirty="0"/>
          </a:p>
          <a:p>
            <a:r>
              <a:rPr lang="ru-RU" dirty="0"/>
              <a:t>В дорогих оптоволоконных магистралях уровень ошибок очень низкий, но в </a:t>
            </a:r>
            <a:r>
              <a:rPr lang="ru-RU" dirty="0" err="1"/>
              <a:t>Wi</a:t>
            </a:r>
            <a:r>
              <a:rPr lang="ru-RU" dirty="0"/>
              <a:t>-Fi или сотовой связи ошибки — обычное дело.</a:t>
            </a:r>
          </a:p>
          <a:p>
            <a:br>
              <a:rPr lang="ru-RU" dirty="0"/>
            </a:br>
            <a:r>
              <a:rPr lang="ru-RU" dirty="0"/>
              <a:t>Полностью «выжечь» ошибки можно только ценой огромных затрат и падения скорости, поэтому в сетях всегда предполагается, что </a:t>
            </a:r>
            <a:r>
              <a:rPr lang="ru-RU" b="1" dirty="0"/>
              <a:t>ошибки будут</a:t>
            </a:r>
            <a:r>
              <a:rPr lang="ru-RU" dirty="0"/>
              <a:t>, и задача протоколов — научиться их </a:t>
            </a:r>
            <a:r>
              <a:rPr lang="ru-RU" b="1" dirty="0"/>
              <a:t>находить и, по возможности, исправлять</a:t>
            </a:r>
            <a:r>
              <a:rPr lang="ru-RU" dirty="0"/>
              <a:t>.</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63</a:t>
            </a:fld>
            <a:endParaRPr lang="en-US"/>
          </a:p>
        </p:txBody>
      </p:sp>
    </p:spTree>
    <p:extLst>
      <p:ext uri="{BB962C8B-B14F-4D97-AF65-F5344CB8AC3E}">
        <p14:creationId xmlns:p14="http://schemas.microsoft.com/office/powerpoint/2010/main" val="63643373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Есть два типичных подхода.</a:t>
            </a:r>
          </a:p>
          <a:p>
            <a:endParaRPr lang="ru-RU" b="0" dirty="0"/>
          </a:p>
          <a:p>
            <a:r>
              <a:rPr lang="ru-RU" b="0" dirty="0"/>
              <a:t>Первый — FEC: мы заранее добавляем такую избыточность, чтобы приёмник мог сам догадаться, какими должны были быть исходные биты, даже если часть из них испорчена. Это очень удобно в радиоканалах: если связь «шумная», то повторный запрос может тоже прийти с ошибкой, и так до бесконечности.</a:t>
            </a:r>
          </a:p>
          <a:p>
            <a:endParaRPr lang="ru-RU" b="0" dirty="0"/>
          </a:p>
          <a:p>
            <a:r>
              <a:rPr lang="ru-RU" b="0" dirty="0"/>
              <a:t>Второй — попроще: мы лишь обнаруживаем, что фрейм повреждён (по контрольным битам), и просто просим отправителя переслать его ещё раз. Это дешевле по избыточности и отлично подходит там, где канал хорош и повторная передача — нормальная практика.</a:t>
            </a:r>
          </a:p>
          <a:p>
            <a:endParaRPr lang="en-US" b="0" dirty="0"/>
          </a:p>
        </p:txBody>
      </p:sp>
      <p:sp>
        <p:nvSpPr>
          <p:cNvPr id="4" name="Slide Number Placeholder 3"/>
          <p:cNvSpPr>
            <a:spLocks noGrp="1"/>
          </p:cNvSpPr>
          <p:nvPr>
            <p:ph type="sldNum" sz="quarter" idx="5"/>
          </p:nvPr>
        </p:nvSpPr>
        <p:spPr/>
        <p:txBody>
          <a:bodyPr/>
          <a:lstStyle/>
          <a:p>
            <a:fld id="{4F384885-B771-4961-99C6-DBB22F186DFF}" type="slidenum">
              <a:rPr lang="en-US" smtClean="0"/>
              <a:t>64</a:t>
            </a:fld>
            <a:endParaRPr lang="en-US"/>
          </a:p>
        </p:txBody>
      </p:sp>
    </p:spTree>
    <p:extLst>
      <p:ext uri="{BB962C8B-B14F-4D97-AF65-F5344CB8AC3E}">
        <p14:creationId xmlns:p14="http://schemas.microsoft.com/office/powerpoint/2010/main" val="310793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Почти все коды, которые нас интересуют, работают с блоками фиксированной длины. Мы берём m бит данных и добавляем к ним r контрольных битов, получая кодовое слово длиной n = m + r.</a:t>
            </a:r>
          </a:p>
          <a:p>
            <a:endParaRPr lang="ru-RU" b="0" dirty="0"/>
          </a:p>
          <a:p>
            <a:r>
              <a:rPr lang="ru-RU" b="0" dirty="0"/>
              <a:t>Если код систематический, то исходные данные мы можем видеть прямо внутри фрейма, плюс к ним идут дополнительные биты для проверки.</a:t>
            </a:r>
          </a:p>
          <a:p>
            <a:r>
              <a:rPr lang="ru-RU" b="0" dirty="0"/>
              <a:t>Ключевая идея — расстояние Хэмминга: сколько позиций отличаются в двух кодовых словах. Если минимум этого расстояния достаточно велик, мы можем либо обнаруживать, либо даже исправлять определённое количество битовых ошибок в блоке.</a:t>
            </a:r>
          </a:p>
          <a:p>
            <a:endParaRPr lang="en-US" b="0" dirty="0"/>
          </a:p>
        </p:txBody>
      </p:sp>
      <p:sp>
        <p:nvSpPr>
          <p:cNvPr id="4" name="Slide Number Placeholder 3"/>
          <p:cNvSpPr>
            <a:spLocks noGrp="1"/>
          </p:cNvSpPr>
          <p:nvPr>
            <p:ph type="sldNum" sz="quarter" idx="5"/>
          </p:nvPr>
        </p:nvSpPr>
        <p:spPr/>
        <p:txBody>
          <a:bodyPr/>
          <a:lstStyle/>
          <a:p>
            <a:fld id="{4F384885-B771-4961-99C6-DBB22F186DFF}" type="slidenum">
              <a:rPr lang="en-US" smtClean="0"/>
              <a:t>65</a:t>
            </a:fld>
            <a:endParaRPr lang="en-US"/>
          </a:p>
        </p:txBody>
      </p:sp>
    </p:spTree>
    <p:extLst>
      <p:ext uri="{BB962C8B-B14F-4D97-AF65-F5344CB8AC3E}">
        <p14:creationId xmlns:p14="http://schemas.microsoft.com/office/powerpoint/2010/main" val="29701266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Практически во всех реальных системах вы будете видеть уже готовые, стандартизованные коды, а не придуманную «самодельщину».</a:t>
            </a:r>
          </a:p>
          <a:p>
            <a:endParaRPr lang="ru-RU" dirty="0"/>
          </a:p>
          <a:p>
            <a:r>
              <a:rPr lang="ru-RU" dirty="0"/>
              <a:t>Коды Хэмминга — это классика для исправления одиночных ошибок.</a:t>
            </a:r>
          </a:p>
          <a:p>
            <a:br>
              <a:rPr lang="ru-RU" dirty="0"/>
            </a:br>
            <a:r>
              <a:rPr lang="ru-RU" dirty="0"/>
              <a:t>Сверточные коды, связанные с алгоритмом </a:t>
            </a:r>
            <a:r>
              <a:rPr lang="ru-RU" dirty="0" err="1"/>
              <a:t>Витерби</a:t>
            </a:r>
            <a:r>
              <a:rPr lang="ru-RU" dirty="0"/>
              <a:t>, — фундамент мобильной и спутниковой связи. Они хорошо работают с потоком и умеют учитывать «насколько сильно мы уверены» в каждом бите.</a:t>
            </a:r>
          </a:p>
          <a:p>
            <a:endParaRPr lang="ru-RU" dirty="0"/>
          </a:p>
          <a:p>
            <a:r>
              <a:rPr lang="ru-RU" dirty="0"/>
              <a:t>Коды Рида–Соломона отлично спасают там, где ошибки приходят пачками: царапина на диске, шум в сегменте канала и т. п.</a:t>
            </a:r>
          </a:p>
          <a:p>
            <a:endParaRPr lang="ru-RU" dirty="0"/>
          </a:p>
          <a:p>
            <a:r>
              <a:rPr lang="ru-RU" dirty="0"/>
              <a:t>Коды LDPC — это уже «тяжёлая артиллерия» из современной теории кодирования, которая позволяет почти выжать максимум из канала по Шеннону — их всё чаще включают в новые стандарты.</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66</a:t>
            </a:fld>
            <a:endParaRPr lang="en-US"/>
          </a:p>
        </p:txBody>
      </p:sp>
    </p:spTree>
    <p:extLst>
      <p:ext uri="{BB962C8B-B14F-4D97-AF65-F5344CB8AC3E}">
        <p14:creationId xmlns:p14="http://schemas.microsoft.com/office/powerpoint/2010/main" val="50281393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канал достаточно надёжен, гораздо выгоднее </a:t>
            </a:r>
            <a:r>
              <a:rPr lang="ru-RU" b="1" dirty="0"/>
              <a:t>только обнаружить</a:t>
            </a:r>
            <a:r>
              <a:rPr lang="ru-RU" dirty="0"/>
              <a:t>, что фрейм битый, и попросить его переслать заново.</a:t>
            </a:r>
          </a:p>
          <a:p>
            <a:endParaRPr lang="ru-RU" dirty="0"/>
          </a:p>
          <a:p>
            <a:r>
              <a:rPr lang="ru-RU" dirty="0"/>
              <a:t>Самый простой вариант — бит чётности. Но он видит только простые сценарии и легко «проморгает» сложные последовательности ошибок.</a:t>
            </a:r>
          </a:p>
          <a:p>
            <a:endParaRPr lang="ru-RU" dirty="0"/>
          </a:p>
          <a:p>
            <a:r>
              <a:rPr lang="ru-RU" dirty="0"/>
              <a:t>Контрольные суммы лучше, но всё равно могут не заметить некоторые виды повреждений, например перестановку фрагментов или пропуск целых блоков нулей.</a:t>
            </a:r>
          </a:p>
          <a:p>
            <a:endParaRPr lang="ru-RU" dirty="0"/>
          </a:p>
          <a:p>
            <a:r>
              <a:rPr lang="ru-RU" dirty="0"/>
              <a:t>Поэтому в сетях чаще всего используют именно </a:t>
            </a:r>
            <a:r>
              <a:rPr lang="ru-RU" b="1" dirty="0"/>
              <a:t>CRC</a:t>
            </a:r>
            <a:r>
              <a:rPr lang="ru-RU" dirty="0"/>
              <a:t> — они дают почти идеальный баланс: считаться просто (особенно в железе), а вот ошибку «проскочить» им крайне трудно.</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67</a:t>
            </a:fld>
            <a:endParaRPr lang="en-US"/>
          </a:p>
        </p:txBody>
      </p:sp>
    </p:spTree>
    <p:extLst>
      <p:ext uri="{BB962C8B-B14F-4D97-AF65-F5344CB8AC3E}">
        <p14:creationId xmlns:p14="http://schemas.microsoft.com/office/powerpoint/2010/main" val="219351579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CRC звучит пугающе — «многочлены, деления, алгебра по модулю 2» — но логика очень простая.</a:t>
            </a:r>
          </a:p>
          <a:p>
            <a:endParaRPr lang="ru-RU" dirty="0"/>
          </a:p>
          <a:p>
            <a:r>
              <a:rPr lang="ru-RU" dirty="0"/>
              <a:t>Мы считаем, что последовательность битов — это многочлен с коэффициентами 0 и 1.</a:t>
            </a:r>
          </a:p>
          <a:p>
            <a:br>
              <a:rPr lang="ru-RU" dirty="0"/>
            </a:br>
            <a:r>
              <a:rPr lang="ru-RU" dirty="0"/>
              <a:t>Есть заранее выбранный, стандартизованный </a:t>
            </a:r>
            <a:r>
              <a:rPr lang="ru-RU" b="1" dirty="0"/>
              <a:t>образующий многочлен G(x)</a:t>
            </a:r>
            <a:r>
              <a:rPr lang="ru-RU" dirty="0"/>
              <a:t>; он задаёт «характер» кода.</a:t>
            </a:r>
          </a:p>
          <a:p>
            <a:r>
              <a:rPr lang="ru-RU" dirty="0"/>
              <a:t>Отправитель вычисляет такой остаток от деления, чтобы весь фрейм вместе с CRC </a:t>
            </a:r>
            <a:r>
              <a:rPr lang="ru-RU" b="1" dirty="0"/>
              <a:t>делился на G(x) без остатка</a:t>
            </a:r>
            <a:r>
              <a:rPr lang="ru-RU" dirty="0"/>
              <a:t>.</a:t>
            </a:r>
            <a:br>
              <a:rPr lang="ru-RU" dirty="0"/>
            </a:br>
            <a:r>
              <a:rPr lang="ru-RU" dirty="0"/>
              <a:t>Получатель делает то же деление. Если остаток вдруг не ноль — значит, по дороге какие-то биты изменились.</a:t>
            </a:r>
          </a:p>
          <a:p>
            <a:r>
              <a:rPr lang="ru-RU" dirty="0"/>
              <a:t>При грамотно выбранном G(x) CRC гарантированно ловит:</a:t>
            </a:r>
          </a:p>
          <a:p>
            <a:pPr marL="171450" indent="-171450">
              <a:buFont typeface="Arial" panose="020B0604020202020204" pitchFamily="34" charset="0"/>
              <a:buChar char="•"/>
            </a:pPr>
            <a:r>
              <a:rPr lang="ru-RU" dirty="0"/>
              <a:t>все одиночные ошибки</a:t>
            </a:r>
          </a:p>
          <a:p>
            <a:pPr marL="171450" indent="-171450">
              <a:buFont typeface="Arial" panose="020B0604020202020204" pitchFamily="34" charset="0"/>
              <a:buChar char="•"/>
            </a:pPr>
            <a:r>
              <a:rPr lang="ru-RU" dirty="0"/>
              <a:t>все короткие пачки ошибок до некоторой длины</a:t>
            </a:r>
          </a:p>
          <a:p>
            <a:pPr marL="171450" indent="-171450">
              <a:buFont typeface="Arial" panose="020B0604020202020204" pitchFamily="34" charset="0"/>
              <a:buChar char="•"/>
            </a:pPr>
            <a:r>
              <a:rPr lang="ru-RU" dirty="0"/>
              <a:t>и почти все реальные, более сложные комбинации ошибок</a:t>
            </a:r>
          </a:p>
          <a:p>
            <a:r>
              <a:rPr lang="ru-RU" dirty="0"/>
              <a:t>Поэтому CRC-коды стали стандартом де-факто для проверок целостности фреймов на канальном уровне.</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68</a:t>
            </a:fld>
            <a:endParaRPr lang="en-US"/>
          </a:p>
        </p:txBody>
      </p:sp>
    </p:spTree>
    <p:extLst>
      <p:ext uri="{BB962C8B-B14F-4D97-AF65-F5344CB8AC3E}">
        <p14:creationId xmlns:p14="http://schemas.microsoft.com/office/powerpoint/2010/main" val="324529349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69</a:t>
            </a:fld>
            <a:endParaRPr lang="en-US"/>
          </a:p>
        </p:txBody>
      </p:sp>
    </p:spTree>
    <p:extLst>
      <p:ext uri="{BB962C8B-B14F-4D97-AF65-F5344CB8AC3E}">
        <p14:creationId xmlns:p14="http://schemas.microsoft.com/office/powerpoint/2010/main" val="233700578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70</a:t>
            </a:fld>
            <a:endParaRPr lang="en-US"/>
          </a:p>
        </p:txBody>
      </p:sp>
    </p:spTree>
    <p:extLst>
      <p:ext uri="{BB962C8B-B14F-4D97-AF65-F5344CB8AC3E}">
        <p14:creationId xmlns:p14="http://schemas.microsoft.com/office/powerpoint/2010/main" val="238321594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 этого раздела мы переходим от теории ошибок и фреймов к реальным протоколам канального уровня — пусть и сильно упрощённым.</a:t>
            </a:r>
          </a:p>
          <a:p>
            <a:endParaRPr lang="ru-RU" dirty="0"/>
          </a:p>
          <a:p>
            <a:r>
              <a:rPr lang="ru-RU" dirty="0"/>
              <a:t>Мы посмотрим три варианта протоколов: от совершенно игрушечного до уже более реалистичного </a:t>
            </a:r>
            <a:r>
              <a:rPr lang="ru-RU" dirty="0" err="1"/>
              <a:t>stop-and-wait</a:t>
            </a:r>
            <a:r>
              <a:rPr lang="ru-RU" dirty="0"/>
              <a:t> с автоматическим повтором (ARQ).</a:t>
            </a:r>
          </a:p>
          <a:p>
            <a:endParaRPr lang="ru-RU" dirty="0"/>
          </a:p>
          <a:p>
            <a:r>
              <a:rPr lang="ru-RU" dirty="0"/>
              <a:t>Задача не в том, чтобы запомнить конкретный C-код, а в том, чтобы увидеть общие паттерны: какие события отслеживает канальный уровень, как он использует таймеры, как взаимодействует с сетевым и физическим уровнем, и почему без нумерации и подтверждений нельзя гарантировать корректную доставку.</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71</a:t>
            </a:fld>
            <a:endParaRPr lang="en-US"/>
          </a:p>
        </p:txBody>
      </p:sp>
    </p:spTree>
    <p:extLst>
      <p:ext uri="{BB962C8B-B14F-4D97-AF65-F5344CB8AC3E}">
        <p14:creationId xmlns:p14="http://schemas.microsoft.com/office/powerpoint/2010/main" val="240144799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Чтобы не утонуть в реалистичных проблемах сразу, мы вводим несколько упрощающих предположений.</a:t>
            </a:r>
          </a:p>
          <a:p>
            <a:endParaRPr lang="ru-RU" dirty="0"/>
          </a:p>
          <a:p>
            <a:r>
              <a:rPr lang="ru-RU" dirty="0"/>
              <a:t>Во-первых, каждый уровень — как отдельный процесс: у физического уровня своя логика, у канального — своя, у сетевого — своя. Часть этого «живёт» в сетевой карте, часть — в драйвере и ОС.</a:t>
            </a:r>
          </a:p>
          <a:p>
            <a:endParaRPr lang="ru-RU" dirty="0"/>
          </a:p>
          <a:p>
            <a:r>
              <a:rPr lang="ru-RU" dirty="0"/>
              <a:t>Во-вторых, сначала считаем, что данные идут только в одном направлении: с A на B. A никогда не ждёт данных — у него всегда есть что отправить.</a:t>
            </a:r>
          </a:p>
          <a:p>
            <a:endParaRPr lang="ru-RU" dirty="0"/>
          </a:p>
          <a:p>
            <a:r>
              <a:rPr lang="ru-RU" dirty="0"/>
              <a:t>И наконец, предполагаем, что компьютеры сами по себе не ломаются — нет перезагрузок, падений и т. д. Нас интересует только ненадёжность </a:t>
            </a:r>
            <a:r>
              <a:rPr lang="ru-RU" b="1" dirty="0"/>
              <a:t>канала</a:t>
            </a:r>
            <a:r>
              <a:rPr lang="ru-RU" dirty="0"/>
              <a:t>, а не железа.</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72</a:t>
            </a:fld>
            <a:endParaRPr lang="en-US"/>
          </a:p>
        </p:txBody>
      </p:sp>
    </p:spTree>
    <p:extLst>
      <p:ext uri="{BB962C8B-B14F-4D97-AF65-F5344CB8AC3E}">
        <p14:creationId xmlns:p14="http://schemas.microsoft.com/office/powerpoint/2010/main" val="357471280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Базовый цикл канального уровня выглядит очень одинаково почти во всех протоколах.</a:t>
            </a:r>
          </a:p>
          <a:p>
            <a:r>
              <a:rPr lang="ru-RU" dirty="0"/>
              <a:t>Сверху он получает </a:t>
            </a:r>
            <a:r>
              <a:rPr lang="ru-RU" b="1" dirty="0"/>
              <a:t>пакеты</a:t>
            </a:r>
            <a:r>
              <a:rPr lang="ru-RU" dirty="0"/>
              <a:t> от сетевого уровня, снизу — общается с физическим уровнем </a:t>
            </a:r>
            <a:r>
              <a:rPr lang="ru-RU" b="1" dirty="0"/>
              <a:t>фреймами</a:t>
            </a:r>
            <a:r>
              <a:rPr lang="ru-RU" dirty="0"/>
              <a:t>. Пакет встраивается внутрь фрейма в поле </a:t>
            </a:r>
            <a:r>
              <a:rPr lang="ru-RU" sz="1200" kern="1200" dirty="0" err="1">
                <a:solidFill>
                  <a:schemeClr val="tx1"/>
                </a:solidFill>
                <a:latin typeface="+mn-lt"/>
                <a:ea typeface="+mn-ea"/>
                <a:cs typeface="+mn-cs"/>
              </a:rPr>
              <a:t>info</a:t>
            </a:r>
            <a:r>
              <a:rPr lang="ru-RU" dirty="0"/>
              <a:t>, а сам фрейм оборачивается заголовком и трейлером с контрольной суммой.</a:t>
            </a:r>
          </a:p>
          <a:p>
            <a:r>
              <a:rPr lang="ru-RU" dirty="0"/>
              <a:t>Все взаимодействия абстрагированы через функции:</a:t>
            </a:r>
          </a:p>
          <a:p>
            <a:pPr marL="171450" indent="-171450">
              <a:buFont typeface="Arial" panose="020B0604020202020204" pitchFamily="34" charset="0"/>
              <a:buChar char="•"/>
            </a:pPr>
            <a:r>
              <a:rPr lang="ru-RU" dirty="0"/>
              <a:t>«Сеть ↔ Канал»: </a:t>
            </a:r>
            <a:r>
              <a:rPr lang="ru-RU" sz="1200" kern="1200" dirty="0" err="1">
                <a:solidFill>
                  <a:schemeClr val="tx1"/>
                </a:solidFill>
                <a:latin typeface="+mn-lt"/>
                <a:ea typeface="+mn-ea"/>
                <a:cs typeface="+mn-cs"/>
              </a:rPr>
              <a:t>to_network_layer</a:t>
            </a:r>
            <a:r>
              <a:rPr lang="ru-RU" dirty="0"/>
              <a:t>, </a:t>
            </a:r>
            <a:r>
              <a:rPr lang="ru-RU" sz="1200" kern="1200" dirty="0" err="1">
                <a:solidFill>
                  <a:schemeClr val="tx1"/>
                </a:solidFill>
                <a:latin typeface="+mn-lt"/>
                <a:ea typeface="+mn-ea"/>
                <a:cs typeface="+mn-cs"/>
              </a:rPr>
              <a:t>from_network_layer</a:t>
            </a:r>
            <a:r>
              <a:rPr lang="ru-RU" dirty="0"/>
              <a:t>.</a:t>
            </a:r>
          </a:p>
          <a:p>
            <a:pPr marL="171450" indent="-171450">
              <a:buFont typeface="Arial" panose="020B0604020202020204" pitchFamily="34" charset="0"/>
              <a:buChar char="•"/>
            </a:pPr>
            <a:r>
              <a:rPr lang="ru-RU" dirty="0"/>
              <a:t>«Канал ↔ Физика»: </a:t>
            </a:r>
            <a:r>
              <a:rPr lang="ru-RU" sz="1200" kern="1200" dirty="0" err="1">
                <a:solidFill>
                  <a:schemeClr val="tx1"/>
                </a:solidFill>
                <a:latin typeface="+mn-lt"/>
                <a:ea typeface="+mn-ea"/>
                <a:cs typeface="+mn-cs"/>
              </a:rPr>
              <a:t>to_physical_layer</a:t>
            </a:r>
            <a:r>
              <a:rPr lang="ru-RU" dirty="0"/>
              <a:t>, </a:t>
            </a:r>
            <a:r>
              <a:rPr lang="ru-RU" sz="1200" kern="1200" dirty="0" err="1">
                <a:solidFill>
                  <a:schemeClr val="tx1"/>
                </a:solidFill>
                <a:latin typeface="+mn-lt"/>
                <a:ea typeface="+mn-ea"/>
                <a:cs typeface="+mn-cs"/>
              </a:rPr>
              <a:t>from_physical_layer</a:t>
            </a:r>
            <a:r>
              <a:rPr lang="ru-RU" dirty="0"/>
              <a:t>.</a:t>
            </a:r>
          </a:p>
          <a:p>
            <a:r>
              <a:rPr lang="ru-RU" dirty="0"/>
              <a:t>Сам протокол реализован как вечный цикл </a:t>
            </a:r>
            <a:r>
              <a:rPr lang="ru-RU" sz="1200" kern="1200" dirty="0" err="1">
                <a:solidFill>
                  <a:schemeClr val="tx1"/>
                </a:solidFill>
                <a:latin typeface="+mn-lt"/>
                <a:ea typeface="+mn-ea"/>
                <a:cs typeface="+mn-cs"/>
              </a:rPr>
              <a:t>wait_for_event</a:t>
            </a:r>
            <a:r>
              <a:rPr lang="ru-RU" sz="1200" kern="1200" dirty="0">
                <a:solidFill>
                  <a:schemeClr val="tx1"/>
                </a:solidFill>
                <a:latin typeface="+mn-lt"/>
                <a:ea typeface="+mn-ea"/>
                <a:cs typeface="+mn-cs"/>
              </a:rPr>
              <a:t>(&amp;</a:t>
            </a:r>
            <a:r>
              <a:rPr lang="ru-RU" sz="1200" kern="1200" dirty="0" err="1">
                <a:solidFill>
                  <a:schemeClr val="tx1"/>
                </a:solidFill>
                <a:latin typeface="+mn-lt"/>
                <a:ea typeface="+mn-ea"/>
                <a:cs typeface="+mn-cs"/>
              </a:rPr>
              <a:t>event</a:t>
            </a:r>
            <a:r>
              <a:rPr lang="ru-RU" sz="1200" kern="1200" dirty="0">
                <a:solidFill>
                  <a:schemeClr val="tx1"/>
                </a:solidFill>
                <a:latin typeface="+mn-lt"/>
                <a:ea typeface="+mn-ea"/>
                <a:cs typeface="+mn-cs"/>
              </a:rPr>
              <a:t>)</a:t>
            </a:r>
            <a:r>
              <a:rPr lang="ru-RU" dirty="0"/>
              <a:t>: мы просто ждём событие (пришёл фрейм, истёк таймер и т. д.) и реагируем согласно логике протокола.</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73</a:t>
            </a:fld>
            <a:endParaRPr lang="en-US"/>
          </a:p>
        </p:txBody>
      </p:sp>
    </p:spTree>
    <p:extLst>
      <p:ext uri="{BB962C8B-B14F-4D97-AF65-F5344CB8AC3E}">
        <p14:creationId xmlns:p14="http://schemas.microsoft.com/office/powerpoint/2010/main" val="391035376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Первый пример — откровенная фантазия. Канал идеален, ошибок нет, получатель всегда успевает, буферы бесконечные.</a:t>
            </a:r>
          </a:p>
          <a:p>
            <a:endParaRPr lang="ru-RU" dirty="0"/>
          </a:p>
          <a:p>
            <a:r>
              <a:rPr lang="ru-RU" dirty="0"/>
              <a:t>Отправитель просто в вечном цикле забирает пакет у сетевого уровня, кладёт его в поле </a:t>
            </a:r>
            <a:r>
              <a:rPr lang="ru-RU" sz="1200" kern="1200" dirty="0" err="1">
                <a:solidFill>
                  <a:schemeClr val="tx1"/>
                </a:solidFill>
                <a:latin typeface="+mn-lt"/>
                <a:ea typeface="+mn-ea"/>
                <a:cs typeface="+mn-cs"/>
              </a:rPr>
              <a:t>info</a:t>
            </a:r>
            <a:r>
              <a:rPr lang="ru-RU" dirty="0"/>
              <a:t> фрейма и отправляет. Приёмник, в своём вечном цикле, ждёт появления фрейма, забирает его и передаёт содержимое </a:t>
            </a:r>
            <a:r>
              <a:rPr lang="ru-RU" sz="1200" kern="1200" dirty="0" err="1">
                <a:solidFill>
                  <a:schemeClr val="tx1"/>
                </a:solidFill>
                <a:latin typeface="+mn-lt"/>
                <a:ea typeface="+mn-ea"/>
                <a:cs typeface="+mn-cs"/>
              </a:rPr>
              <a:t>info</a:t>
            </a:r>
            <a:r>
              <a:rPr lang="ru-RU" dirty="0"/>
              <a:t> наверх.</a:t>
            </a:r>
          </a:p>
          <a:p>
            <a:endParaRPr lang="ru-RU" dirty="0"/>
          </a:p>
          <a:p>
            <a:r>
              <a:rPr lang="ru-RU" dirty="0"/>
              <a:t>Никаких подтверждений, таймеров, проверки контрольной суммы в логике протокола — всё это «якобы» уже обеспечивает нижний уровень или нам просто «повезло».</a:t>
            </a:r>
          </a:p>
          <a:p>
            <a:r>
              <a:rPr lang="ru-RU" dirty="0"/>
              <a:t>Такой протокол полезен только как скелет: структура есть, но ни управления потоком, ни работы с ошибками.</a:t>
            </a:r>
          </a:p>
          <a:p>
            <a:br>
              <a:rPr lang="ru-RU" dirty="0"/>
            </a:b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74</a:t>
            </a:fld>
            <a:endParaRPr lang="en-US"/>
          </a:p>
        </p:txBody>
      </p:sp>
    </p:spTree>
    <p:extLst>
      <p:ext uri="{BB962C8B-B14F-4D97-AF65-F5344CB8AC3E}">
        <p14:creationId xmlns:p14="http://schemas.microsoft.com/office/powerpoint/2010/main" val="277631080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Следующая проблема: отправитель может заливать канал данными быстрее, чем приёмник их обрабатывает. Без ограничений получатель начнёт терять фреймы, и часть данных просто исчезнет.</a:t>
            </a:r>
          </a:p>
          <a:p>
            <a:endParaRPr lang="ru-RU" dirty="0"/>
          </a:p>
          <a:p>
            <a:r>
              <a:rPr lang="ru-RU" dirty="0"/>
              <a:t>Простейшее решение — </a:t>
            </a:r>
            <a:r>
              <a:rPr lang="ru-RU" b="1" dirty="0" err="1"/>
              <a:t>stop-and-wait</a:t>
            </a:r>
            <a:r>
              <a:rPr lang="ru-RU" dirty="0"/>
              <a:t>: отправитель отправляет один фрейм и ждёт, пока получатель скажет: «я готов к следующему». После того как приёмник передал данные своему сетевому уровню, он отправляет служебный фрейм-подтверждение.</a:t>
            </a:r>
          </a:p>
          <a:p>
            <a:endParaRPr lang="ru-RU" dirty="0"/>
          </a:p>
          <a:p>
            <a:r>
              <a:rPr lang="ru-RU" dirty="0"/>
              <a:t>Для самого отправителя содержимое подтверждения не важно — важен факт, что </a:t>
            </a:r>
            <a:r>
              <a:rPr lang="ru-RU" b="1" dirty="0"/>
              <a:t>что-то</a:t>
            </a:r>
            <a:r>
              <a:rPr lang="ru-RU" dirty="0"/>
              <a:t> пришло. Это даёт примитивное управление потоком: получатель сам регулирует темп, просто не отправляя подтверждение, пока не обработает текущий пакет.</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75</a:t>
            </a:fld>
            <a:endParaRPr lang="en-US"/>
          </a:p>
        </p:txBody>
      </p:sp>
    </p:spTree>
    <p:extLst>
      <p:ext uri="{BB962C8B-B14F-4D97-AF65-F5344CB8AC3E}">
        <p14:creationId xmlns:p14="http://schemas.microsoft.com/office/powerpoint/2010/main" val="205105007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Как только мы признаём, что канал может терять и искажать фреймы — в том числе </a:t>
            </a:r>
            <a:r>
              <a:rPr lang="ru-RU" b="1" dirty="0"/>
              <a:t>подтверждения</a:t>
            </a:r>
            <a:r>
              <a:rPr lang="ru-RU" dirty="0"/>
              <a:t> — протокол 2 ломается.</a:t>
            </a:r>
          </a:p>
          <a:p>
            <a:endParaRPr lang="ru-RU" dirty="0"/>
          </a:p>
          <a:p>
            <a:r>
              <a:rPr lang="ru-RU" dirty="0"/>
              <a:t>Классический сценарий: B получил фрейм, отдал его сетевому уровню и послал ACK, но ACK потерялся. A решит, что фрейм не дошёл, и отправит его ещё раз. B снова примет его и вновь передаст наверх — сетевой уровень увидит один и тот же пакет дважды, хотя не должен уметь различать оригиналы и дубликаты.</a:t>
            </a:r>
          </a:p>
          <a:p>
            <a:r>
              <a:rPr lang="ru-RU" dirty="0"/>
              <a:t>Чтобы этого избежать, мы </a:t>
            </a:r>
            <a:r>
              <a:rPr lang="ru-RU" b="1" dirty="0"/>
              <a:t>нумеруем фреймы</a:t>
            </a:r>
            <a:r>
              <a:rPr lang="ru-RU" dirty="0"/>
              <a:t>. Получатель запоминает, какого номера он сейчас ждёт. Если номер не совпадает — это дубликат, и его не нужно отдавать наверх.</a:t>
            </a:r>
          </a:p>
          <a:p>
            <a:endParaRPr lang="ru-RU" dirty="0"/>
          </a:p>
          <a:p>
            <a:r>
              <a:rPr lang="ru-RU" dirty="0"/>
              <a:t>Так рождается классический протокол </a:t>
            </a:r>
            <a:r>
              <a:rPr lang="ru-RU" b="1" dirty="0"/>
              <a:t>ARQ</a:t>
            </a:r>
            <a:r>
              <a:rPr lang="ru-RU" dirty="0"/>
              <a:t>: </a:t>
            </a:r>
            <a:r>
              <a:rPr lang="ru-RU" dirty="0" err="1"/>
              <a:t>Automatic</a:t>
            </a:r>
            <a:r>
              <a:rPr lang="ru-RU" dirty="0"/>
              <a:t> </a:t>
            </a:r>
            <a:r>
              <a:rPr lang="ru-RU" dirty="0" err="1"/>
              <a:t>Repeat</a:t>
            </a:r>
            <a:r>
              <a:rPr lang="ru-RU" dirty="0"/>
              <a:t> </a:t>
            </a:r>
            <a:r>
              <a:rPr lang="ru-RU" dirty="0" err="1"/>
              <a:t>reQuest</a:t>
            </a:r>
            <a:r>
              <a:rPr lang="ru-RU" dirty="0"/>
              <a:t> с положительными подтверждениями. Отправитель повторяет фрейм, если таймер истёк или подтверждение повреждено, а получатель по номеру кадра понимает, новый это фрейм или повтор.</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76</a:t>
            </a:fld>
            <a:endParaRPr lang="en-US"/>
          </a:p>
        </p:txBody>
      </p:sp>
    </p:spTree>
    <p:extLst>
      <p:ext uri="{BB962C8B-B14F-4D97-AF65-F5344CB8AC3E}">
        <p14:creationId xmlns:p14="http://schemas.microsoft.com/office/powerpoint/2010/main" val="247308703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77</a:t>
            </a:fld>
            <a:endParaRPr lang="en-US"/>
          </a:p>
        </p:txBody>
      </p:sp>
    </p:spTree>
    <p:extLst>
      <p:ext uri="{BB962C8B-B14F-4D97-AF65-F5344CB8AC3E}">
        <p14:creationId xmlns:p14="http://schemas.microsoft.com/office/powerpoint/2010/main" val="379355559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Двунаправленную передачу можно реализовать с помощью двух симплексных протоколов, работающих в противоположных направлениях, но такой подход неэффективен: обратный канал почти не используется, так как подтверждения занимают мало данных.</a:t>
            </a:r>
          </a:p>
          <a:p>
            <a:endParaRPr lang="ru-RU" dirty="0"/>
          </a:p>
          <a:p>
            <a:r>
              <a:rPr lang="ru-RU" dirty="0"/>
              <a:t>Более эффективное решение — </a:t>
            </a:r>
            <a:r>
              <a:rPr lang="ru-RU" b="1" dirty="0"/>
              <a:t>использовать один канал для передачи данных в обе стороны</a:t>
            </a:r>
            <a:r>
              <a:rPr lang="ru-RU" dirty="0"/>
              <a:t>. В этом случае по каналу передаются и данные, и подтверждения, а тип фрейма определяется полем заголовка.</a:t>
            </a:r>
          </a:p>
          <a:p>
            <a:r>
              <a:rPr lang="ru-RU" dirty="0"/>
              <a:t>Дополнительную эффективность даёт </a:t>
            </a:r>
            <a:r>
              <a:rPr lang="ru-RU" b="1" dirty="0"/>
              <a:t>вложенное подтверждение (</a:t>
            </a:r>
            <a:r>
              <a:rPr lang="ru-RU" b="1" dirty="0" err="1"/>
              <a:t>piggybacking</a:t>
            </a:r>
            <a:r>
              <a:rPr lang="ru-RU" b="1" dirty="0"/>
              <a:t>)</a:t>
            </a:r>
            <a:r>
              <a:rPr lang="ru-RU" dirty="0"/>
              <a:t>: подтверждение не отправляется отдельным фреймом, а добавляется в заголовок следующего исходящего фрейма данных. Это снижает накладные расходы и уменьшает количество фреймов в канале.</a:t>
            </a:r>
          </a:p>
          <a:p>
            <a:endParaRPr lang="ru-RU" dirty="0"/>
          </a:p>
          <a:p>
            <a:r>
              <a:rPr lang="ru-RU" dirty="0"/>
              <a:t>Проблема в том, что нельзя ждать подтверждение бесконечно. Поэтому вводится </a:t>
            </a:r>
            <a:r>
              <a:rPr lang="ru-RU" b="1" dirty="0"/>
              <a:t>отдельный таймер подтверждения</a:t>
            </a:r>
            <a:r>
              <a:rPr lang="ru-RU" dirty="0"/>
              <a:t>: если данные для отправки не появляются вовремя, подтверждение посылается отдельным фреймом. Такой подход сохраняет баланс между эффективностью и надёжностью передачи.</a:t>
            </a:r>
          </a:p>
        </p:txBody>
      </p:sp>
      <p:sp>
        <p:nvSpPr>
          <p:cNvPr id="4" name="Slide Number Placeholder 3"/>
          <p:cNvSpPr>
            <a:spLocks noGrp="1"/>
          </p:cNvSpPr>
          <p:nvPr>
            <p:ph type="sldNum" sz="quarter" idx="5"/>
          </p:nvPr>
        </p:nvSpPr>
        <p:spPr/>
        <p:txBody>
          <a:bodyPr/>
          <a:lstStyle/>
          <a:p>
            <a:fld id="{4F384885-B771-4961-99C6-DBB22F186DFF}" type="slidenum">
              <a:rPr lang="en-US" smtClean="0"/>
              <a:t>78</a:t>
            </a:fld>
            <a:endParaRPr lang="en-US"/>
          </a:p>
        </p:txBody>
      </p:sp>
    </p:spTree>
    <p:extLst>
      <p:ext uri="{BB962C8B-B14F-4D97-AF65-F5344CB8AC3E}">
        <p14:creationId xmlns:p14="http://schemas.microsoft.com/office/powerpoint/2010/main" val="198474139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Протоколы раздвижного окна — это двунаправленные протоколы канального уровня, которые различаются сложностью, эффективностью и требованиями к буферам. Каждый фрейм имеет порядковый номер, размер которого ограничен числом бит в заголовке; в простейшем варианте (остановка и ожидание) используется один бит, в более сложных — больше.</a:t>
            </a:r>
          </a:p>
          <a:p>
            <a:endParaRPr lang="ru-RU" dirty="0"/>
          </a:p>
          <a:p>
            <a:r>
              <a:rPr lang="ru-RU" dirty="0"/>
              <a:t>Основная идея состоит в использовании </a:t>
            </a:r>
            <a:r>
              <a:rPr lang="ru-RU" i="1" dirty="0"/>
              <a:t>окон</a:t>
            </a:r>
            <a:r>
              <a:rPr lang="ru-RU" dirty="0"/>
              <a:t>: отправитель может передавать только фреймы с номерами, находящимися в его передающем окне, а получатель принимает фреймы, попадающие в его приёмное окно. Границы и размеры этих окон могут различаться и изменяться в процессе передачи.</a:t>
            </a:r>
          </a:p>
          <a:p>
            <a:endParaRPr lang="ru-RU" dirty="0"/>
          </a:p>
          <a:p>
            <a:r>
              <a:rPr lang="ru-RU" dirty="0"/>
              <a:t>Передающее окно содержит фреймы, уже отправленные, но ещё не подтверждённые. По мере получения подтверждений окно сдвигается, освобождая место для новых фреймов. Такие фреймы должны храниться в буферах на случай повторной передачи.</a:t>
            </a:r>
          </a:p>
          <a:p>
            <a:endParaRPr lang="ru-RU" dirty="0"/>
          </a:p>
          <a:p>
            <a:r>
              <a:rPr lang="ru-RU" dirty="0"/>
              <a:t>Приёмное окно определяет, какие фреймы могут быть приняты. Фреймы вне окна отбрасываются, а корректные фреймы передаются сетевому уровню строго в правильном порядке, даже если на канальном уровне они приходят неупорядоченно.</a:t>
            </a:r>
          </a:p>
        </p:txBody>
      </p:sp>
      <p:sp>
        <p:nvSpPr>
          <p:cNvPr id="4" name="Slide Number Placeholder 3"/>
          <p:cNvSpPr>
            <a:spLocks noGrp="1"/>
          </p:cNvSpPr>
          <p:nvPr>
            <p:ph type="sldNum" sz="quarter" idx="5"/>
          </p:nvPr>
        </p:nvSpPr>
        <p:spPr/>
        <p:txBody>
          <a:bodyPr/>
          <a:lstStyle/>
          <a:p>
            <a:fld id="{4F384885-B771-4961-99C6-DBB22F186DFF}" type="slidenum">
              <a:rPr lang="en-US" smtClean="0"/>
              <a:t>79</a:t>
            </a:fld>
            <a:endParaRPr lang="en-US"/>
          </a:p>
        </p:txBody>
      </p:sp>
    </p:spTree>
    <p:extLst>
      <p:ext uri="{BB962C8B-B14F-4D97-AF65-F5344CB8AC3E}">
        <p14:creationId xmlns:p14="http://schemas.microsoft.com/office/powerpoint/2010/main" val="273472071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у нас в полёте много кадров, ошибка в середине создаёт новую проблему: следующие кадры уже прилетели, но сетевому уровню нельзя отдавать данные “вразнобой”.</a:t>
            </a:r>
          </a:p>
          <a:p>
            <a:br>
              <a:rPr lang="ru-RU" dirty="0"/>
            </a:br>
            <a:r>
              <a:rPr lang="ru-RU" dirty="0"/>
              <a:t>Есть два классических компромисса. Go-Back-N — максимально простой: если кадр потерян, всё после него получатель игнорирует, а отправитель потом переотправляет цепочку. Это хорошо при редких ошибках и ограниченных ресурсах.</a:t>
            </a:r>
          </a:p>
          <a:p>
            <a:br>
              <a:rPr lang="ru-RU" dirty="0"/>
            </a:br>
            <a:r>
              <a:rPr lang="ru-RU" dirty="0" err="1"/>
              <a:t>Selective</a:t>
            </a:r>
            <a:r>
              <a:rPr lang="ru-RU" dirty="0"/>
              <a:t> </a:t>
            </a:r>
            <a:r>
              <a:rPr lang="ru-RU" dirty="0" err="1"/>
              <a:t>Repeat</a:t>
            </a:r>
            <a:r>
              <a:rPr lang="ru-RU" dirty="0"/>
              <a:t> — более “умный”: правильные кадры после потери сохраняются в буфере, и переотправляется только недостающее. Это повышает эффективность на плохих линиях, но требует памяти у получателя и аккуратного ограничения размера окна, чтобы не перепутать новые кадры с повторными.</a:t>
            </a: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80</a:t>
            </a:fld>
            <a:endParaRPr lang="en-US"/>
          </a:p>
        </p:txBody>
      </p:sp>
    </p:spTree>
    <p:extLst>
      <p:ext uri="{BB962C8B-B14F-4D97-AF65-F5344CB8AC3E}">
        <p14:creationId xmlns:p14="http://schemas.microsoft.com/office/powerpoint/2010/main" val="222005233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Канальный уровень — это “переход” от битов физического уровня к структурированным фреймам, которые уже можно безопасно отдавать сетевому уровню. </a:t>
            </a:r>
          </a:p>
          <a:p>
            <a:r>
              <a:rPr lang="ru-RU" dirty="0"/>
              <a:t>Он решает три больших класса задач: как отделять фреймы в потоке, как обеспечивать надежность (ошибки/потери/дубликаты) и как не перегрузить получателя.</a:t>
            </a:r>
          </a:p>
          <a:p>
            <a:endParaRPr lang="ru-RU" dirty="0"/>
          </a:p>
          <a:p>
            <a:r>
              <a:rPr lang="ru-RU" dirty="0"/>
              <a:t>В простейшем варианте достаточно передачи без подтверждений, но для ненадёжных каналов используются таймеры, подтверждения и повторная передача (ARQ), а для высокой эффективности — конвейер и раздвижные окна.</a:t>
            </a:r>
          </a:p>
          <a:p>
            <a:endParaRPr lang="ru-RU" dirty="0"/>
          </a:p>
          <a:p>
            <a:r>
              <a:rPr lang="ru-RU" dirty="0"/>
              <a:t> При этом ошибки обнаруживают и/или исправляют кодами: от CRC и </a:t>
            </a:r>
            <a:r>
              <a:rPr lang="ru-RU" dirty="0" err="1"/>
              <a:t>checksum</a:t>
            </a:r>
            <a:r>
              <a:rPr lang="ru-RU" dirty="0"/>
              <a:t> до FEC-кодов вроде сверточных, </a:t>
            </a:r>
            <a:r>
              <a:rPr lang="ru-RU" dirty="0" err="1"/>
              <a:t>Reed</a:t>
            </a:r>
            <a:r>
              <a:rPr lang="ru-RU" dirty="0"/>
              <a:t>–</a:t>
            </a:r>
            <a:r>
              <a:rPr lang="ru-RU" dirty="0" err="1"/>
              <a:t>Solomon</a:t>
            </a:r>
            <a:r>
              <a:rPr lang="ru-RU" dirty="0"/>
              <a:t> и LDPC. </a:t>
            </a: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81</a:t>
            </a:fld>
            <a:endParaRPr lang="en-US"/>
          </a:p>
        </p:txBody>
      </p:sp>
    </p:spTree>
    <p:extLst>
      <p:ext uri="{BB962C8B-B14F-4D97-AF65-F5344CB8AC3E}">
        <p14:creationId xmlns:p14="http://schemas.microsoft.com/office/powerpoint/2010/main" val="384362107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82</a:t>
            </a:fld>
            <a:endParaRPr lang="en-US"/>
          </a:p>
        </p:txBody>
      </p:sp>
    </p:spTree>
    <p:extLst>
      <p:ext uri="{BB962C8B-B14F-4D97-AF65-F5344CB8AC3E}">
        <p14:creationId xmlns:p14="http://schemas.microsoft.com/office/powerpoint/2010/main" val="126944410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Многие протоколы канального уровня предполагают, что передача данных происходит по широковещательной среде — то есть по каналу, который одновременно доступен нескольким устройствам. В такой ситуации возникает конкуренция: разные узлы хотят передавать данные в одно и то же время. Без специальных правил это приводит к конфликтам и потере данных.</a:t>
            </a:r>
          </a:p>
          <a:p>
            <a:br>
              <a:rPr lang="ru-RU" dirty="0"/>
            </a:br>
            <a:r>
              <a:rPr lang="ru-RU" dirty="0"/>
              <a:t>Именно для решения этой задачи и существует подуровень управления доступом к среде — MAC. Он определяет, каким образом устройства получают право на передачу и как предотвращаются или разрешаются конфликты. Особенно критичен MAC для локальных и беспроводных сетей, где разделение среды является естественным.</a:t>
            </a: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83</a:t>
            </a:fld>
            <a:endParaRPr lang="en-US"/>
          </a:p>
        </p:txBody>
      </p:sp>
    </p:spTree>
    <p:extLst>
      <p:ext uri="{BB962C8B-B14F-4D97-AF65-F5344CB8AC3E}">
        <p14:creationId xmlns:p14="http://schemas.microsoft.com/office/powerpoint/2010/main" val="131161166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широковещательной сети один общий канал связывает всех участников. Это означает, что если один узел активно передает данные, он фактически мешает всем остальным. Проблема становится особенно заметной, когда несколько узлов начинают передачу одновременно.</a:t>
            </a:r>
          </a:p>
          <a:p>
            <a:br>
              <a:rPr lang="ru-RU" dirty="0"/>
            </a:br>
            <a:r>
              <a:rPr lang="ru-RU" dirty="0"/>
              <a:t>Хорошая аналогия — групповой разговор: если несколько человек говорят одновременно, никто никого не понимает. В компьютерных сетях такая ситуация приводит к коллизиям. Поэтому необходимы протоколы, которые координируют доступ к каналу и позволяют использовать его максимально эффективно. Именно такие среды называют каналами множественного или произвольного доступа.</a:t>
            </a: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84</a:t>
            </a:fld>
            <a:endParaRPr lang="en-US"/>
          </a:p>
        </p:txBody>
      </p:sp>
    </p:spTree>
    <p:extLst>
      <p:ext uri="{BB962C8B-B14F-4D97-AF65-F5344CB8AC3E}">
        <p14:creationId xmlns:p14="http://schemas.microsoft.com/office/powerpoint/2010/main" val="278891726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Один из традиционных способов распределения канала — статическое разделение ресурсов. Канал заранее делится на фиксированные части, например по частоте (FDM) или по времени (TDM), и каждая часть закрепляется за конкретным пользователем.</a:t>
            </a:r>
          </a:p>
          <a:p>
            <a:br>
              <a:rPr lang="ru-RU" dirty="0"/>
            </a:br>
            <a:r>
              <a:rPr lang="ru-RU" dirty="0"/>
              <a:t>Такой подход полностью устраняет конфликты и очень прост в реализации. Он хорошо работает, когда число пользователей невелико, а нагрузка стабильна и предсказуема — например, в радиовещании или телефонных сетях. Однако эти предположения редко выполняются в компьютерных сетях.</a:t>
            </a:r>
          </a:p>
          <a:p>
            <a:endParaRPr lang="ru-RU" dirty="0"/>
          </a:p>
          <a:p>
            <a:r>
              <a:rPr lang="ru-RU" dirty="0"/>
              <a:t>Главный недостаток статического распределения — неэффективное использование канала при неравномерном трафике. Если пользователь временно не передает данные, его часть ресурса простаивает, и другие узлы не могут её использовать.</a:t>
            </a:r>
          </a:p>
          <a:p>
            <a:br>
              <a:rPr lang="ru-RU" dirty="0"/>
            </a:br>
            <a:r>
              <a:rPr lang="ru-RU" dirty="0"/>
              <a:t>Для компьютерных сетей это особенно критично, поскольку трафик обычно носит </a:t>
            </a:r>
            <a:r>
              <a:rPr lang="ru-RU" dirty="0" err="1"/>
              <a:t>всплесковый</a:t>
            </a:r>
            <a:r>
              <a:rPr lang="ru-RU" dirty="0"/>
              <a:t> характер: пиковая нагрузка может в сотни или тысячи раз превышать среднюю. Анализ показывает, что при разделении канала на подканалы средняя задержка передачи возрастает. Это похоже на ситуацию с отдельными очередями к банкоматам: одни простаивают, а другие перегружены. В результате статические схемы плохо подходят для сетей передачи данных.</a:t>
            </a: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85</a:t>
            </a:fld>
            <a:endParaRPr lang="en-US"/>
          </a:p>
        </p:txBody>
      </p:sp>
    </p:spTree>
    <p:extLst>
      <p:ext uri="{BB962C8B-B14F-4D97-AF65-F5344CB8AC3E}">
        <p14:creationId xmlns:p14="http://schemas.microsoft.com/office/powerpoint/2010/main" val="97617527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86</a:t>
            </a:fld>
            <a:endParaRPr lang="en-US"/>
          </a:p>
        </p:txBody>
      </p:sp>
    </p:spTree>
    <p:extLst>
      <p:ext uri="{BB962C8B-B14F-4D97-AF65-F5344CB8AC3E}">
        <p14:creationId xmlns:p14="http://schemas.microsoft.com/office/powerpoint/2010/main" val="23240329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87</a:t>
            </a:fld>
            <a:endParaRPr lang="en-US"/>
          </a:p>
        </p:txBody>
      </p:sp>
    </p:spTree>
    <p:extLst>
      <p:ext uri="{BB962C8B-B14F-4D97-AF65-F5344CB8AC3E}">
        <p14:creationId xmlns:p14="http://schemas.microsoft.com/office/powerpoint/2010/main" val="331775956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Система ALOHA — это исторически первый протокол коллективного доступа к среде передачи, разработанный в 1970-е годы Норманом Абрамсоном и его коллегами для радиосети Гавайского университета. Задача была практической: связать удалённые острова без прокладки кабелей, используя общий радиоканал.</a:t>
            </a:r>
            <a:endParaRPr lang="en-US" dirty="0"/>
          </a:p>
          <a:p>
            <a:endParaRPr lang="ru-RU" dirty="0"/>
          </a:p>
          <a:p>
            <a:r>
              <a:rPr lang="ru-RU" dirty="0"/>
              <a:t>Основная идея ALOHA предельно проста: станция начинает передачу сразу, как только у неё появляются данные. Никакой предварительной проверки канала не выполняется. В результате возможны коллизии — ситуации, когда два фрейма частично или полностью перекрываются во времени. При коллизии оба фрейма считаются потерянными и должны быть переданы заново после случайной паузы. Системы такого типа называются системами с конкуренцией за канал.</a:t>
            </a:r>
            <a:endParaRPr lang="en-US" dirty="0"/>
          </a:p>
          <a:p>
            <a:endParaRPr lang="ru-RU" dirty="0"/>
          </a:p>
          <a:p>
            <a:r>
              <a:rPr lang="ru-RU" dirty="0"/>
              <a:t>Существуют две версии ALOHA. В </a:t>
            </a:r>
            <a:r>
              <a:rPr lang="ru-RU" b="1" dirty="0"/>
              <a:t>чистой ALOHA</a:t>
            </a:r>
            <a:r>
              <a:rPr lang="ru-RU" dirty="0"/>
              <a:t> время считается непрерывным, и передача может начинаться в любой момент. Это приводит к большому уязвимому интервалу: фрейм будет испорчен, если любой другой фрейм начнёт передаваться в течение двух времён передачи фрейма. Поэтому максимальная пропускная способность чистой ALOHA составляет всего около 18 %.</a:t>
            </a:r>
            <a:endParaRPr lang="en-US" dirty="0"/>
          </a:p>
          <a:p>
            <a:endParaRPr lang="ru-RU" dirty="0"/>
          </a:p>
          <a:p>
            <a:r>
              <a:rPr lang="ru-RU" dirty="0"/>
              <a:t>В </a:t>
            </a:r>
            <a:r>
              <a:rPr lang="ru-RU" b="1" dirty="0"/>
              <a:t>дискретной ALOHA</a:t>
            </a:r>
            <a:r>
              <a:rPr lang="ru-RU" dirty="0"/>
              <a:t>, предложенной Робертсом, время делится на слоты, равные длительности одного фрейма, и передача разрешена только в начале слота. Это вдвое сокращает уязвимый интервал и повышает максимальную эффективность до 1/e, то есть примерно 37 %. Несмотря на кажущуюся простоту и низкую эффективность, идеи ALOHA оказались фундаментальными и легли в основу более совершенных протоколов доступа к среде, применяемых и сегодня.</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88</a:t>
            </a:fld>
            <a:endParaRPr lang="en-US"/>
          </a:p>
        </p:txBody>
      </p:sp>
    </p:spTree>
    <p:extLst>
      <p:ext uri="{BB962C8B-B14F-4D97-AF65-F5344CB8AC3E}">
        <p14:creationId xmlns:p14="http://schemas.microsoft.com/office/powerpoint/2010/main" val="103258441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Недостаток ALOHA заключается в том, что станции передают данные, полностью игнорируя действия других. Это приводит к большому числу коллизий и низкой эффективности. В локальных сетях ситуацию можно улучшить, если станции будут </a:t>
            </a:r>
            <a:r>
              <a:rPr lang="ru-RU" b="1" dirty="0"/>
              <a:t>прослушивать канал перед передачей</a:t>
            </a:r>
            <a:r>
              <a:rPr lang="ru-RU" dirty="0"/>
              <a:t>. Такие протоколы называются протоколами множественного доступа с контролем несущей — CSMA.</a:t>
            </a:r>
          </a:p>
          <a:p>
            <a:endParaRPr lang="ru-RU" dirty="0"/>
          </a:p>
          <a:p>
            <a:r>
              <a:rPr lang="ru-RU" dirty="0"/>
              <a:t>В простейшем варианте, </a:t>
            </a:r>
            <a:r>
              <a:rPr lang="ru-RU" b="1" dirty="0"/>
              <a:t>1-настойчивом CSMA</a:t>
            </a:r>
            <a:r>
              <a:rPr lang="ru-RU" dirty="0"/>
              <a:t>, станция сразу начинает передачу, как только обнаруживает, что канал свободен. Если канал занят, она ждёт его освобождения. Это снижает число коллизий по сравнению с ALOHA, но они всё ещё возможны, например из-за задержки распространения сигнала или одновременного старта нескольких станций.</a:t>
            </a:r>
          </a:p>
          <a:p>
            <a:endParaRPr lang="ru-RU" dirty="0"/>
          </a:p>
          <a:p>
            <a:r>
              <a:rPr lang="ru-RU" dirty="0"/>
              <a:t>В </a:t>
            </a:r>
            <a:r>
              <a:rPr lang="ru-RU" b="1" dirty="0"/>
              <a:t>ненастойчивом CSMA</a:t>
            </a:r>
            <a:r>
              <a:rPr lang="ru-RU" dirty="0"/>
              <a:t> станция ведёт себя более осторожно: если канал занят, она не «дежурит» у линии, а ждёт случайное время перед повторной попыткой. Это уменьшает число коллизий ценой увеличения задержек.</a:t>
            </a:r>
          </a:p>
          <a:p>
            <a:r>
              <a:rPr lang="ru-RU" dirty="0"/>
              <a:t>Компромиссным вариантом является </a:t>
            </a:r>
            <a:r>
              <a:rPr lang="ru-RU" b="1" dirty="0"/>
              <a:t>p-настойчивый CSMA</a:t>
            </a:r>
            <a:r>
              <a:rPr lang="ru-RU" dirty="0"/>
              <a:t>, используемый в дискретных каналах. Здесь станция передаёт с вероятностью </a:t>
            </a:r>
            <a:r>
              <a:rPr lang="ru-RU" i="1" dirty="0"/>
              <a:t>p</a:t>
            </a:r>
            <a:r>
              <a:rPr lang="ru-RU" dirty="0"/>
              <a:t> в начале слота, что позволяет гибко управлять нагрузкой и снижать вероятность конфликтов.</a:t>
            </a:r>
          </a:p>
          <a:p>
            <a:endParaRPr lang="ru-RU" dirty="0"/>
          </a:p>
          <a:p>
            <a:r>
              <a:rPr lang="ru-RU" dirty="0"/>
              <a:t>Следующий шаг в развитии этих идей — </a:t>
            </a:r>
            <a:r>
              <a:rPr lang="ru-RU" b="1" dirty="0"/>
              <a:t>CSMA с обнаружением коллизий (CSMA/CD)</a:t>
            </a:r>
            <a:r>
              <a:rPr lang="ru-RU" dirty="0"/>
              <a:t>. В этом протоколе станция не только прослушивает канал до начала передачи, но и контролирует его во время передачи. При обнаружении коллизии она немедленно прекращает передачу, экономя время и пропускную способность. Именно этот подход лег в основу классического Ethernet и обеспечил ему высокую эффективность при малых задержках распространения сигнала.</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89</a:t>
            </a:fld>
            <a:endParaRPr lang="en-US"/>
          </a:p>
        </p:txBody>
      </p:sp>
    </p:spTree>
    <p:extLst>
      <p:ext uri="{BB962C8B-B14F-4D97-AF65-F5344CB8AC3E}">
        <p14:creationId xmlns:p14="http://schemas.microsoft.com/office/powerpoint/2010/main" val="21303354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Даже в CSMA/CD коллизии полностью не исчезают: они возникают в период конкуренции за канал. Это снижает пропускную способность и, что особенно важно, делает задержки непредсказуемыми. Для трафика реального времени, например голосового, такое поведение крайне нежелательно.</a:t>
            </a:r>
          </a:p>
          <a:p>
            <a:endParaRPr lang="ru-RU" dirty="0"/>
          </a:p>
          <a:p>
            <a:r>
              <a:rPr lang="ru-RU" dirty="0"/>
              <a:t>Альтернативный подход — </a:t>
            </a:r>
            <a:r>
              <a:rPr lang="ru-RU" b="1" dirty="0"/>
              <a:t>протоколы без коллизий</a:t>
            </a:r>
            <a:r>
              <a:rPr lang="ru-RU" dirty="0"/>
              <a:t>, в которых право передачи определяется заранее, без периода конкуренции. Мы будем считать, что в системе есть N станций с уникальными номерами, а задержкой распространения сигнала можно пренебречь. Главный вопрос здесь — не «кто столкнется с кем», а «кто следующий получит канал».</a:t>
            </a:r>
          </a:p>
          <a:p>
            <a:endParaRPr lang="ru-RU" dirty="0"/>
          </a:p>
          <a:p>
            <a:r>
              <a:rPr lang="ru-RU" dirty="0"/>
              <a:t>Первый класс таких протоколов — </a:t>
            </a:r>
            <a:r>
              <a:rPr lang="ru-RU" b="1" dirty="0"/>
              <a:t>протоколы с резервированием</a:t>
            </a:r>
            <a:r>
              <a:rPr lang="ru-RU" dirty="0"/>
              <a:t>. В них станции заранее объявляют о своём намерении передавать, после чего канал используется строго по очереди. Классическим примером является </a:t>
            </a:r>
            <a:r>
              <a:rPr lang="ru-RU" b="1" dirty="0"/>
              <a:t>протокол битовой карты</a:t>
            </a:r>
            <a:r>
              <a:rPr lang="ru-RU" dirty="0"/>
              <a:t>: период резервирования состоит из N коротких слотов, по одному на станцию. Если у станции есть фрейм, она передаёт единичный бит в своём слоте. После этого всем известно, какие станции готовы к передаче, и фреймы передаются без коллизий, в фиксированном порядке.</a:t>
            </a:r>
          </a:p>
          <a:p>
            <a:endParaRPr lang="ru-RU" dirty="0"/>
          </a:p>
          <a:p>
            <a:r>
              <a:rPr lang="ru-RU" dirty="0"/>
              <a:t>Аналогичную идею реализуют </a:t>
            </a:r>
            <a:r>
              <a:rPr lang="ru-RU" b="1" dirty="0"/>
              <a:t>маркерные протоколы</a:t>
            </a:r>
            <a:r>
              <a:rPr lang="ru-RU" dirty="0"/>
              <a:t>, где право передачи передаётся в виде специального сообщения — маркера. Получив маркер, станция либо передаёт фрейм, либо сразу передаёт маркер дальше. Это полностью исключает коллизии и делает поведение системы детерминированным.</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90</a:t>
            </a:fld>
            <a:endParaRPr lang="en-US"/>
          </a:p>
        </p:txBody>
      </p:sp>
    </p:spTree>
    <p:extLst>
      <p:ext uri="{BB962C8B-B14F-4D97-AF65-F5344CB8AC3E}">
        <p14:creationId xmlns:p14="http://schemas.microsoft.com/office/powerpoint/2010/main" val="123606412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Наиболее известным вариантом резервирования является </a:t>
            </a:r>
            <a:r>
              <a:rPr lang="ru-RU" b="1" dirty="0"/>
              <a:t>передача маркера</a:t>
            </a:r>
            <a:r>
              <a:rPr lang="ru-RU" dirty="0"/>
              <a:t>. Здесь право передачи циркулирует между станциями в виде небольшого управляющего сообщения. В </a:t>
            </a:r>
            <a:r>
              <a:rPr lang="ru-RU" b="1" dirty="0"/>
              <a:t>маркерном кольце</a:t>
            </a:r>
            <a:r>
              <a:rPr lang="ru-RU" dirty="0"/>
              <a:t> станции образуют логическое кольцо, и маркер последовательно передаётся от одной станции к другой. Коллизии невозможны по определению, а задержки хорошо предсказуемы. Именно поэтому такие протоколы в своё время рассматривались как серьёзная альтернатива Ethernet. Однако с развитием коммутируемых сетей их практическое значение снизилось.</a:t>
            </a:r>
            <a:endParaRPr lang="en-US" dirty="0"/>
          </a:p>
          <a:p>
            <a:endParaRPr lang="ru-RU" dirty="0"/>
          </a:p>
          <a:p>
            <a:r>
              <a:rPr lang="ru-RU" dirty="0"/>
              <a:t>Другой, менее известный, но очень элегантный подход — </a:t>
            </a:r>
            <a:r>
              <a:rPr lang="ru-RU" b="1" dirty="0"/>
              <a:t>двоичный обратный отсчёт</a:t>
            </a:r>
            <a:r>
              <a:rPr lang="ru-RU" dirty="0"/>
              <a:t>. В этом протоколе станции одновременно передают биты своих адресов, начиная со старшего. Канал логически складывает биты, и станции с меньшими адресами «сдаются», как только понимают, что проиграли арбитраж. В результате выигрывает станция с наибольшим адресом, которая и получает право передачи.</a:t>
            </a:r>
            <a:endParaRPr lang="en-US" dirty="0"/>
          </a:p>
          <a:p>
            <a:endParaRPr lang="ru-RU" dirty="0"/>
          </a:p>
          <a:p>
            <a:r>
              <a:rPr lang="ru-RU" dirty="0"/>
              <a:t>Интересно, что при таком подходе накладные расходы составляют всего </a:t>
            </a:r>
            <a:r>
              <a:rPr lang="ru-RU" dirty="0" err="1"/>
              <a:t>log₂N</a:t>
            </a:r>
            <a:r>
              <a:rPr lang="ru-RU" dirty="0"/>
              <a:t> бит. Более того, если адрес отправителя включён в заголовок фрейма, эти биты не пропадают зря, и </a:t>
            </a:r>
            <a:r>
              <a:rPr lang="ru-RU" b="1" dirty="0"/>
              <a:t>эффективность использования канала может достигать 100 %</a:t>
            </a:r>
            <a:r>
              <a:rPr lang="ru-RU" dirty="0"/>
              <a:t>. Двоичный обратный отсчёт — пример простого, но мощного решения, которое может снова оказаться востребованным при проектировании сетей будущего.</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91</a:t>
            </a:fld>
            <a:endParaRPr lang="en-US"/>
          </a:p>
        </p:txBody>
      </p:sp>
    </p:spTree>
    <p:extLst>
      <p:ext uri="{BB962C8B-B14F-4D97-AF65-F5344CB8AC3E}">
        <p14:creationId xmlns:p14="http://schemas.microsoft.com/office/powerpoint/2010/main" val="407087277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92</a:t>
            </a:fld>
            <a:endParaRPr lang="en-US"/>
          </a:p>
        </p:txBody>
      </p:sp>
    </p:spTree>
    <p:extLst>
      <p:ext uri="{BB962C8B-B14F-4D97-AF65-F5344CB8AC3E}">
        <p14:creationId xmlns:p14="http://schemas.microsoft.com/office/powerpoint/2010/main" val="316066911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После изучения теоретических протоколов доступа к среде логично перейти к их практической реализации. Основная часть сетевых технологий описана в стандартах IEEE 802, и, как показывает история, выжили далеко не все. Наиболее успешными оказались Ethernet (802.3) и беспроводные сети </a:t>
            </a:r>
            <a:r>
              <a:rPr lang="ru-RU" dirty="0" err="1"/>
              <a:t>Wi</a:t>
            </a:r>
            <a:r>
              <a:rPr lang="ru-RU" dirty="0"/>
              <a:t>-Fi (802.11).</a:t>
            </a:r>
            <a:endParaRPr lang="en-US" dirty="0"/>
          </a:p>
          <a:p>
            <a:endParaRPr lang="ru-RU" dirty="0"/>
          </a:p>
          <a:p>
            <a:r>
              <a:rPr lang="ru-RU" dirty="0"/>
              <a:t>Ethernet — это, пожалуй, самая массовая технология локальных сетей в мире. Важно различать </a:t>
            </a:r>
            <a:r>
              <a:rPr lang="ru-RU" b="1" dirty="0"/>
              <a:t>классический Ethernet</a:t>
            </a:r>
            <a:r>
              <a:rPr lang="ru-RU" dirty="0"/>
              <a:t> и </a:t>
            </a:r>
            <a:r>
              <a:rPr lang="ru-RU" b="1" dirty="0"/>
              <a:t>коммутируемый Ethernet</a:t>
            </a:r>
            <a:r>
              <a:rPr lang="ru-RU" dirty="0"/>
              <a:t>. Несмотря на общее название, это принципиально разные системы. Классический Ethernet использует общий канал и протокол CSMA/CD и работал на скоростях единицы мегабит в секунду. Современный Ethernet — исключительно коммутируемый, с выделенными каналами и скоростями от 100 Мбит/с до сотен гигабит в секунду.</a:t>
            </a:r>
            <a:endParaRPr lang="en-US" dirty="0"/>
          </a:p>
          <a:p>
            <a:endParaRPr lang="ru-RU" dirty="0"/>
          </a:p>
          <a:p>
            <a:r>
              <a:rPr lang="ru-RU" dirty="0"/>
              <a:t>История Ethernet начинается в 1970-х годах с работ Боба Меткалфа в Xerox PARC, вдохновлённых системой ALOHA. Первая версия сети использовала длинный коаксиальный кабель и обеспечивала скорость около 3 Мбит/с. Позже появился стандарт DIX, а затем и IEEE 802.3, который фактически и есть Ethernet в современном понимании.</a:t>
            </a:r>
            <a:endParaRPr lang="en-US" dirty="0"/>
          </a:p>
          <a:p>
            <a:endParaRPr lang="ru-RU" dirty="0"/>
          </a:p>
          <a:p>
            <a:r>
              <a:rPr lang="ru-RU" dirty="0"/>
              <a:t>Классический Ethernet представлял собой длинную «шину», к которой подключались компьютеры. Использовались толстые и тонкие коаксиальные кабели, а для увеличения длины сети применялись повторители — устройства физического уровня. Ограничения на длину кабеля и число повторителей были критически важны: они обеспечивали корректную работу протокола MAC и, в частности, механизма обнаружения коллизий, о котором мы будем говорить далее.</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93</a:t>
            </a:fld>
            <a:endParaRPr lang="en-US"/>
          </a:p>
        </p:txBody>
      </p:sp>
    </p:spTree>
    <p:extLst>
      <p:ext uri="{BB962C8B-B14F-4D97-AF65-F5344CB8AC3E}">
        <p14:creationId xmlns:p14="http://schemas.microsoft.com/office/powerpoint/2010/main" val="371885948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мы разбираем, как именно классический Ethernet организует доступ к среде передачи и как выглядит передаваемый фрейм.</a:t>
            </a:r>
          </a:p>
          <a:p>
            <a:endParaRPr lang="ru-RU" dirty="0"/>
          </a:p>
          <a:p>
            <a:r>
              <a:rPr lang="ru-RU" dirty="0"/>
              <a:t>Начинается всё с </a:t>
            </a:r>
            <a:r>
              <a:rPr lang="ru-RU" b="1" dirty="0"/>
              <a:t>формата фрейма Ethernet</a:t>
            </a:r>
            <a:r>
              <a:rPr lang="ru-RU" dirty="0"/>
              <a:t>. Первые 8 байт — это преамбула и разделитель начала кадра. Их основная задача — не передать данные, а синхронизировать приёмник с передатчиком. Благодаря манчестерскому кодированию приёмник «подстраивает часы» и понимает, в какой момент начинается полезная информация.</a:t>
            </a:r>
          </a:p>
          <a:p>
            <a:endParaRPr lang="ru-RU" dirty="0"/>
          </a:p>
          <a:p>
            <a:r>
              <a:rPr lang="ru-RU" dirty="0"/>
              <a:t>Далее идут </a:t>
            </a:r>
            <a:r>
              <a:rPr lang="ru-RU" b="1" dirty="0"/>
              <a:t>MAC-адреса получателя и отправителя</a:t>
            </a:r>
            <a:r>
              <a:rPr lang="ru-RU" dirty="0"/>
              <a:t>, по 6 байт каждый. Эти адреса глобально уникальны: первые 3 байта — идентификатор производителя (OUI), остальные 3 байта назначает сам производитель сетевой карты.</a:t>
            </a:r>
          </a:p>
          <a:p>
            <a:br>
              <a:rPr lang="ru-RU" dirty="0"/>
            </a:br>
            <a:r>
              <a:rPr lang="ru-RU" dirty="0"/>
              <a:t>Если первый бит адреса получателя равен 1, это групповой адрес — используется для </a:t>
            </a:r>
            <a:r>
              <a:rPr lang="ru-RU" dirty="0" err="1"/>
              <a:t>multicast</a:t>
            </a:r>
            <a:r>
              <a:rPr lang="ru-RU" dirty="0"/>
              <a:t>. Если адрес состоит из одних единиц, это широковещание, и фрейм принимают все станции сети.</a:t>
            </a:r>
          </a:p>
          <a:p>
            <a:endParaRPr lang="ru-RU" dirty="0"/>
          </a:p>
          <a:p>
            <a:r>
              <a:rPr lang="ru-RU" dirty="0"/>
              <a:t>Следующее поле — </a:t>
            </a:r>
            <a:r>
              <a:rPr lang="ru-RU" b="1" dirty="0"/>
              <a:t>Type или </a:t>
            </a:r>
            <a:r>
              <a:rPr lang="ru-RU" b="1" dirty="0" err="1"/>
              <a:t>Length</a:t>
            </a:r>
            <a:r>
              <a:rPr lang="ru-RU" dirty="0"/>
              <a:t>. Исторически здесь возник конфликт стандартов: в Ethernet это поле обозначает тип протокола верхнего уровня (например, IPv4), а в IEEE 802.3 — длину данных. В итоге стандарт разрешил оба варианта: значения меньше 0x600 трактуются как длина, больше — как тип. Таким образом, все остались довольны и продолжают делать «как привыкли».</a:t>
            </a:r>
          </a:p>
          <a:p>
            <a:endParaRPr lang="ru-RU" dirty="0"/>
          </a:p>
          <a:p>
            <a:r>
              <a:rPr lang="ru-RU" dirty="0"/>
              <a:t>Поле </a:t>
            </a:r>
            <a:r>
              <a:rPr lang="ru-RU" b="1" dirty="0"/>
              <a:t>Data</a:t>
            </a:r>
            <a:r>
              <a:rPr lang="ru-RU" dirty="0"/>
              <a:t> может иметь размер от 46 до 1500 байт. Если данных меньше 46 байт, добавляется поле </a:t>
            </a:r>
            <a:r>
              <a:rPr lang="ru-RU" dirty="0" err="1"/>
              <a:t>Pad</a:t>
            </a:r>
            <a:r>
              <a:rPr lang="ru-RU" dirty="0"/>
              <a:t>. Это связано не только с удобством обработки, но и с фундаментальным ограничением Ethernet.</a:t>
            </a:r>
          </a:p>
          <a:p>
            <a:r>
              <a:rPr lang="ru-RU" b="1" dirty="0"/>
              <a:t>Минимальный размер фрейма — 64 байта</a:t>
            </a:r>
            <a:r>
              <a:rPr lang="ru-RU" dirty="0"/>
              <a:t>. Он необходим для корректного обнаружения коллизий. Станция должна передавать данные достаточно долго, чтобы успеть узнать о коллизии, произошедшей на самом дальнем конце кабеля. Если фрейм был бы короче, станция могла бы завершить передачу и ошибочно считать её успешной.</a:t>
            </a:r>
          </a:p>
          <a:p>
            <a:endParaRPr lang="ru-RU" dirty="0"/>
          </a:p>
          <a:p>
            <a:r>
              <a:rPr lang="ru-RU" dirty="0"/>
              <a:t>Завершает фрейм </a:t>
            </a:r>
            <a:r>
              <a:rPr lang="ru-RU" b="1" dirty="0"/>
              <a:t>CRC-32</a:t>
            </a:r>
            <a:r>
              <a:rPr lang="ru-RU" dirty="0"/>
              <a:t>, предназначенный для обнаружения ошибок. Исправления ошибок на этом уровне нет: повреждённые фреймы просто отбрасываются.</a:t>
            </a:r>
          </a:p>
          <a:p>
            <a:endParaRPr lang="ru-RU" dirty="0"/>
          </a:p>
          <a:p>
            <a:r>
              <a:rPr lang="ru-RU" dirty="0"/>
              <a:t>Теперь о </a:t>
            </a:r>
            <a:r>
              <a:rPr lang="ru-RU" b="1" dirty="0"/>
              <a:t>доступе к среде</a:t>
            </a:r>
            <a:r>
              <a:rPr lang="ru-RU" dirty="0"/>
              <a:t>. Классический Ethernet использует </a:t>
            </a:r>
            <a:r>
              <a:rPr lang="ru-RU" b="1" dirty="0"/>
              <a:t>CSMA/CD с настойчивостью 1</a:t>
            </a:r>
            <a:r>
              <a:rPr lang="ru-RU" dirty="0"/>
              <a:t>. Станция слушает канал, передаёт при его освобождении и параллельно проверяет, не возникла ли коллизия. При коллизии передача немедленно прерывается, и станции переходят к ожиданию.</a:t>
            </a:r>
          </a:p>
          <a:p>
            <a:endParaRPr lang="ru-RU" dirty="0"/>
          </a:p>
          <a:p>
            <a:r>
              <a:rPr lang="ru-RU" dirty="0"/>
              <a:t>Для выбора времени повторной передачи применяется </a:t>
            </a:r>
            <a:r>
              <a:rPr lang="ru-RU" b="1" dirty="0"/>
              <a:t>алгоритм двоичной экспоненциальной выдержки</a:t>
            </a:r>
            <a:r>
              <a:rPr lang="ru-RU" dirty="0"/>
              <a:t>. Время делится на слоты по 512 битовых интервалов. После первой коллизии станция ждёт 0 или 1 слот, после второй — от 0 до 3, после третьей — от 0 до 7 и так далее. Интервал растёт экспоненциально, что позволяет быстро работать при малом числе конкурентов и избегать бесконечных коллизий при большой нагрузке. После 16 неудачных попыток передача считается проваленной.</a:t>
            </a:r>
          </a:p>
          <a:p>
            <a:endParaRPr lang="ru-RU" dirty="0"/>
          </a:p>
          <a:p>
            <a:r>
              <a:rPr lang="ru-RU" dirty="0"/>
              <a:t>Важно подчеркнуть, что в Ethernet </a:t>
            </a:r>
            <a:r>
              <a:rPr lang="ru-RU" b="1" dirty="0"/>
              <a:t>нет подтверждений доставки</a:t>
            </a:r>
            <a:r>
              <a:rPr lang="ru-RU" dirty="0"/>
              <a:t>. Если коллизии не было, фрейм считается доставленным. Контроль ошибок выполняется с помощью CRC, а восстановлением занимаются более высокие уровни. Такой подход хорошо работает в проводных сетях с низким уровнем ошибок, но, как мы увидим дальше, в беспроводных технологиях ситуация уже иная.</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94</a:t>
            </a:fld>
            <a:endParaRPr lang="en-US"/>
          </a:p>
        </p:txBody>
      </p:sp>
    </p:spTree>
    <p:extLst>
      <p:ext uri="{BB962C8B-B14F-4D97-AF65-F5344CB8AC3E}">
        <p14:creationId xmlns:p14="http://schemas.microsoft.com/office/powerpoint/2010/main" val="247823888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a:t>
            </a:r>
            <a:r>
              <a:rPr lang="ru-RU" b="1" dirty="0"/>
              <a:t>коммутируемом Ethernet</a:t>
            </a:r>
            <a:r>
              <a:rPr lang="ru-RU" dirty="0"/>
              <a:t> каждый компьютер подключён к коммутатору по выделенному каналу «точка–точка». Это означает, что у каждого узла — </a:t>
            </a:r>
            <a:r>
              <a:rPr lang="ru-RU" b="1" dirty="0"/>
              <a:t>собственная область коллизий</a:t>
            </a:r>
            <a:r>
              <a:rPr lang="ru-RU" dirty="0"/>
              <a:t>, а на практике коллизий вообще нет, потому что соединение работает в </a:t>
            </a:r>
            <a:r>
              <a:rPr lang="ru-RU" b="1" dirty="0"/>
              <a:t>полном дуплексе</a:t>
            </a:r>
            <a:r>
              <a:rPr lang="ru-RU" dirty="0"/>
              <a:t>: передача и приём идут одновременно и независимо.</a:t>
            </a:r>
          </a:p>
          <a:p>
            <a:endParaRPr lang="ru-RU" dirty="0"/>
          </a:p>
          <a:p>
            <a:r>
              <a:rPr lang="ru-RU" b="1" dirty="0"/>
              <a:t>Ethernet-коммутатор</a:t>
            </a:r>
            <a:r>
              <a:rPr lang="ru-RU" dirty="0"/>
              <a:t> — это устройство канального уровня. Он анализирует MAC-адреса кадров и пересылает фрейм только на тот порт, за которым находится получатель. Для этого коммутатор автоматически строит таблицу соответствий «MAC-адрес — порт», наблюдая за исходными адресами входящих фреймов. Никакой ручной настройки здесь не требуется — коммутатор учится сам.</a:t>
            </a:r>
          </a:p>
          <a:p>
            <a:endParaRPr lang="ru-RU" dirty="0"/>
          </a:p>
          <a:p>
            <a:r>
              <a:rPr lang="ru-RU" dirty="0"/>
              <a:t>Если адрес назначения ему неизвестен, коммутатор временно использует </a:t>
            </a:r>
            <a:r>
              <a:rPr lang="ru-RU" b="1" dirty="0"/>
              <a:t>широковещательную рассылку</a:t>
            </a:r>
            <a:r>
              <a:rPr lang="ru-RU" dirty="0"/>
              <a:t> и отправляет фрейм на все порты, кроме входного. Как только получатель ответит, таблица будет дополнена, и дальше передача станет адресной.</a:t>
            </a:r>
          </a:p>
          <a:p>
            <a:endParaRPr lang="ru-RU" dirty="0"/>
          </a:p>
          <a:p>
            <a:r>
              <a:rPr lang="ru-RU" dirty="0"/>
              <a:t>Ключевой момент: </a:t>
            </a:r>
            <a:r>
              <a:rPr lang="ru-RU" b="1" dirty="0"/>
              <a:t>в коммутируемом Ethernet CSMA/CD больше не нужен</a:t>
            </a:r>
            <a:r>
              <a:rPr lang="ru-RU" dirty="0"/>
              <a:t>. Коллизии исчезают как класс явлений, а вместе с ними — и все ограничения, связанные с минимальным размером фрейма и временем распространения сигнала. Именно поэтому классический Ethernet остался в учебниках, а коммутируемый — в реальных сетях.</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95</a:t>
            </a:fld>
            <a:endParaRPr lang="en-US"/>
          </a:p>
        </p:txBody>
      </p:sp>
    </p:spTree>
    <p:extLst>
      <p:ext uri="{BB962C8B-B14F-4D97-AF65-F5344CB8AC3E}">
        <p14:creationId xmlns:p14="http://schemas.microsoft.com/office/powerpoint/2010/main" val="78952311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Теперь посмотрим, за счёт чего Ethernet смог пережить десятилетия и при этом постоянно увеличивать пропускную способность.</a:t>
            </a:r>
          </a:p>
          <a:p>
            <a:endParaRPr lang="ru-RU" dirty="0"/>
          </a:p>
          <a:p>
            <a:r>
              <a:rPr lang="ru-RU" dirty="0"/>
              <a:t>Главная идея заключается в том, что </a:t>
            </a:r>
            <a:r>
              <a:rPr lang="ru-RU" b="1" dirty="0"/>
              <a:t>Ethernet масштабировался эволюционно</a:t>
            </a:r>
            <a:r>
              <a:rPr lang="ru-RU" dirty="0"/>
              <a:t>. Формат фрейма, MAC-адресация и базовые принципы работы остались прежними, а производительность росла за счёт физического уровня и архитектуры сети.</a:t>
            </a:r>
          </a:p>
          <a:p>
            <a:endParaRPr lang="ru-RU" dirty="0"/>
          </a:p>
          <a:p>
            <a:r>
              <a:rPr lang="ru-RU" dirty="0"/>
              <a:t>Исторически скорости увеличивались скачкообразно: от 10 Мбит/с к 100 Мбит/с, затем к 1 Гбит/с, а позже — к десяткам и сотням гигабит в секунду. При этом программистам и администраторам не приходилось «переучивать» Ethernet — он оставался всё тем же Ethernet.</a:t>
            </a:r>
          </a:p>
          <a:p>
            <a:endParaRPr lang="ru-RU" dirty="0"/>
          </a:p>
          <a:p>
            <a:r>
              <a:rPr lang="ru-RU" dirty="0"/>
              <a:t>Решающую роль сыграл переход к </a:t>
            </a:r>
            <a:r>
              <a:rPr lang="ru-RU" b="1" dirty="0"/>
              <a:t>коммутируемой архитектуре</a:t>
            </a:r>
            <a:r>
              <a:rPr lang="ru-RU" dirty="0"/>
              <a:t>. Вместо одной общей среды передачи появились независимые каналы, работающие параллельно. Полный дуплекс позволил удвоить эффективную пропускную способность без изменения протоколов верхних уровней.</a:t>
            </a:r>
          </a:p>
          <a:p>
            <a:endParaRPr lang="ru-RU" dirty="0"/>
          </a:p>
          <a:p>
            <a:r>
              <a:rPr lang="ru-RU" dirty="0"/>
              <a:t>Ограничения никуда не исчезли полностью: они сместились внутрь коммутаторов — в задержки обработки фреймов, пропускную способность магистральных каналов и размеры буферов. Но это уже инженерные задачи масштабирования, а не фундаментальные проблемы доступа к среде.</a:t>
            </a:r>
          </a:p>
          <a:p>
            <a:endParaRPr lang="ru-RU" dirty="0"/>
          </a:p>
          <a:p>
            <a:r>
              <a:rPr lang="ru-RU" dirty="0"/>
              <a:t>Итог можно сформулировать просто:</a:t>
            </a:r>
            <a:br>
              <a:rPr lang="ru-RU" dirty="0"/>
            </a:br>
            <a:r>
              <a:rPr lang="ru-RU" b="1" dirty="0"/>
              <a:t>Ethernet стал быстрым не потому, что научился лучше бороться с коллизиями, а потому что полностью от них отказался.</a:t>
            </a:r>
            <a:endParaRPr lang="ru-RU" dirty="0"/>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96</a:t>
            </a:fld>
            <a:endParaRPr lang="en-US"/>
          </a:p>
        </p:txBody>
      </p:sp>
    </p:spTree>
    <p:extLst>
      <p:ext uri="{BB962C8B-B14F-4D97-AF65-F5344CB8AC3E}">
        <p14:creationId xmlns:p14="http://schemas.microsoft.com/office/powerpoint/2010/main" val="17191384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97</a:t>
            </a:fld>
            <a:endParaRPr lang="en-US"/>
          </a:p>
        </p:txBody>
      </p:sp>
    </p:spTree>
    <p:extLst>
      <p:ext uri="{BB962C8B-B14F-4D97-AF65-F5344CB8AC3E}">
        <p14:creationId xmlns:p14="http://schemas.microsoft.com/office/powerpoint/2010/main" val="24640483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Сетевой уровень отвечает за доставку данных от отправителя к получателю, иногда через множество маршрутизаторов. Это резко отличается от канального уровня, который ограничен одним сегментом сети и просто перемещает фреймы «с одного конца провода на другой».</a:t>
            </a:r>
          </a:p>
          <a:p>
            <a:endParaRPr lang="ru-RU" dirty="0"/>
          </a:p>
          <a:p>
            <a:r>
              <a:rPr lang="ru-RU" dirty="0"/>
              <a:t>Сетевой уровень работает «от конца до конца» и для этого должен знать топологию сети. Он рассчитывает маршруты, распределяет нагрузку между линиями связи и маршрутизаторами, а в случае нескольких автономных систем — решает задачи координации трафика и управления загруженностью сети.</a:t>
            </a:r>
          </a:p>
          <a:p>
            <a:r>
              <a:rPr lang="ru-RU" dirty="0"/>
              <a:t>Раньше эти функции выполнялись вручную через конфигурацию маршрутизаторов, но с появлением </a:t>
            </a:r>
            <a:r>
              <a:rPr lang="ru-RU" b="1" dirty="0"/>
              <a:t>программно-конфигурируемых сетей (SDN)</a:t>
            </a:r>
            <a:r>
              <a:rPr lang="ru-RU" dirty="0"/>
              <a:t> многое можно настроить и управлять через программное обеспечение.</a:t>
            </a:r>
          </a:p>
          <a:p>
            <a:endParaRPr lang="ru-RU" dirty="0"/>
          </a:p>
          <a:p>
            <a:r>
              <a:rPr lang="ru-RU" dirty="0"/>
              <a:t>Пример работы сетевого уровня мы видим на схеме с хостами H1 и H2: пакет отправляется на ближайший маршрутизатор, проходит проверку, хранится до полного приема и затем пересылается по цепочке маршрутизаторов к пункту назначения. Такой подход называется </a:t>
            </a:r>
            <a:r>
              <a:rPr lang="ru-RU" b="1" dirty="0"/>
              <a:t>коммутацией пакетов с промежуточным хранением (</a:t>
            </a:r>
            <a:r>
              <a:rPr lang="ru-RU" b="1" dirty="0" err="1"/>
              <a:t>store-and-forward</a:t>
            </a:r>
            <a:r>
              <a:rPr lang="ru-RU" b="1" dirty="0"/>
              <a:t>)</a:t>
            </a:r>
            <a:r>
              <a:rPr lang="ru-RU" dirty="0"/>
              <a:t>.</a:t>
            </a:r>
          </a:p>
          <a:p>
            <a:endParaRPr lang="ru-RU" dirty="0"/>
          </a:p>
          <a:p>
            <a:r>
              <a:rPr lang="ru-RU" dirty="0"/>
              <a:t>Именно на этом уровне реализуются алгоритмы маршрутизации, которые позволяют интернету работать как единая глобальная сеть.</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98</a:t>
            </a:fld>
            <a:endParaRPr lang="en-US"/>
          </a:p>
        </p:txBody>
      </p:sp>
    </p:spTree>
    <p:extLst>
      <p:ext uri="{BB962C8B-B14F-4D97-AF65-F5344CB8AC3E}">
        <p14:creationId xmlns:p14="http://schemas.microsoft.com/office/powerpoint/2010/main" val="96116332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мы видим, какие службы сетевой уровень предоставляет транспортному. Основные требования — независимость от оборудования и топологии сети, а также единая система адресов для разных типов сетей.</a:t>
            </a:r>
          </a:p>
          <a:p>
            <a:endParaRPr lang="ru-RU" dirty="0"/>
          </a:p>
          <a:p>
            <a:r>
              <a:rPr lang="ru-RU" dirty="0"/>
              <a:t>Службы сетевого уровня всегда вызывают споры. С одной стороны, интернет-сообщество считает, что сеть по своей природе ненадежна. Хосты сами должны обнаруживать ошибки, управлять потоком и упорядочивать пакеты — это пример принципа «</a:t>
            </a:r>
            <a:r>
              <a:rPr lang="ru-RU" dirty="0" err="1"/>
              <a:t>end-to-end</a:t>
            </a:r>
            <a:r>
              <a:rPr lang="ru-RU" dirty="0"/>
              <a:t>».</a:t>
            </a:r>
          </a:p>
          <a:p>
            <a:endParaRPr lang="ru-RU" dirty="0"/>
          </a:p>
          <a:p>
            <a:r>
              <a:rPr lang="ru-RU" dirty="0"/>
              <a:t>С другой стороны, телефонные компании считают, что сеть обязана обеспечивать надёжность и качество обслуживания — особенно важно для голосового и видео-трафика.</a:t>
            </a:r>
          </a:p>
          <a:p>
            <a:endParaRPr lang="ru-RU" dirty="0"/>
          </a:p>
          <a:p>
            <a:r>
              <a:rPr lang="ru-RU" dirty="0"/>
              <a:t>История сетей показывает эти два подхода: старые системы X.25 и Frame </a:t>
            </a:r>
            <a:r>
              <a:rPr lang="ru-RU" dirty="0" err="1"/>
              <a:t>Relay</a:t>
            </a:r>
            <a:r>
              <a:rPr lang="ru-RU" dirty="0"/>
              <a:t> требовали соединения, а ARPANET и IP обошлись без него и получили глобальное распространение. Сегодня для обеспечения </a:t>
            </a:r>
            <a:r>
              <a:rPr lang="ru-RU" dirty="0" err="1"/>
              <a:t>QoS</a:t>
            </a:r>
            <a:r>
              <a:rPr lang="ru-RU" dirty="0"/>
              <a:t> применяются технологии, предполагающие установление соединения, например MPLS и VLAN.</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99</a:t>
            </a:fld>
            <a:endParaRPr lang="en-US"/>
          </a:p>
        </p:txBody>
      </p:sp>
    </p:spTree>
    <p:extLst>
      <p:ext uri="{BB962C8B-B14F-4D97-AF65-F5344CB8AC3E}">
        <p14:creationId xmlns:p14="http://schemas.microsoft.com/office/powerpoint/2010/main" val="34990275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Теперь рассмотрим, как реализуется сетевой сервис без установления соединения, или </a:t>
            </a:r>
            <a:r>
              <a:rPr lang="ru-RU" dirty="0" err="1"/>
              <a:t>дейтаграммная</a:t>
            </a:r>
            <a:r>
              <a:rPr lang="ru-RU" dirty="0"/>
              <a:t> служба.</a:t>
            </a:r>
          </a:p>
          <a:p>
            <a:r>
              <a:rPr lang="ru-RU" dirty="0"/>
              <a:t>В этом случае пакеты передаются независимо, их маршруты рассчитываются отдельно, и никакой предварительной настройки не требуется. Такие пакеты называют дейтаграммами, а сеть — </a:t>
            </a:r>
            <a:r>
              <a:rPr lang="ru-RU" dirty="0" err="1"/>
              <a:t>дейтаграммной</a:t>
            </a:r>
            <a:r>
              <a:rPr lang="ru-RU" dirty="0"/>
              <a:t>.</a:t>
            </a:r>
            <a:endParaRPr lang="en-US" dirty="0"/>
          </a:p>
          <a:p>
            <a:endParaRPr lang="ru-RU" dirty="0"/>
          </a:p>
          <a:p>
            <a:r>
              <a:rPr lang="ru-RU" dirty="0"/>
              <a:t>Если процесс отправляет длинное сообщение, сетевой уровень разбивает его на пакеты и передаёт их на маршрутизаторы. Каждый маршрутизатор использует собственную таблицу маршрутизации, решая, куда отправить пакет дальше. Пакеты могут даже идти разными путями, что повышает гибкость сети.</a:t>
            </a:r>
            <a:endParaRPr lang="en-US" dirty="0"/>
          </a:p>
          <a:p>
            <a:endParaRPr lang="ru-RU" dirty="0"/>
          </a:p>
          <a:p>
            <a:r>
              <a:rPr lang="ru-RU" dirty="0"/>
              <a:t>Наиболее известный пример такой службы — протокол IP, который лежит в основе интернета. В IPv4 используется 32-битный адрес, в IPv6 — 128-битный. В следующем разделе мы рассмотрим службы с установлением соединения, или виртуальные каналы</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100</a:t>
            </a:fld>
            <a:endParaRPr lang="en-US"/>
          </a:p>
        </p:txBody>
      </p:sp>
    </p:spTree>
    <p:extLst>
      <p:ext uri="{BB962C8B-B14F-4D97-AF65-F5344CB8AC3E}">
        <p14:creationId xmlns:p14="http://schemas.microsoft.com/office/powerpoint/2010/main" val="307284836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Теперь рассмотрим сетевой сервис с установлением соединения, или службу виртуального канала.</a:t>
            </a:r>
            <a:endParaRPr lang="en-US" dirty="0"/>
          </a:p>
          <a:p>
            <a:endParaRPr lang="ru-RU" dirty="0"/>
          </a:p>
          <a:p>
            <a:r>
              <a:rPr lang="ru-RU" dirty="0"/>
              <a:t>Идея виртуальных каналов в том, что путь от отправителя до получателя выбирается заранее при установлении соединения и сохраняется в таблицах маршрутизаторов. Все пакеты данного соединения используют один и тот же маршрут, и каждый пакет содержит идентификатор виртуального канала. Когда соединение разрывается, виртуальный канал прекращает своё существование.</a:t>
            </a:r>
          </a:p>
          <a:p>
            <a:endParaRPr lang="ru-RU" dirty="0"/>
          </a:p>
          <a:p>
            <a:r>
              <a:rPr lang="ru-RU" dirty="0"/>
              <a:t>Например, если один хост установил соединение с другим, маршрутизаторы сохраняют записи о маршруте в своих таблицах. Если появляется новое соединение с тем же адресатом, маршрутизаторы присваивают новый идентификатор соединения, чтобы избежать конфликтов.</a:t>
            </a:r>
          </a:p>
          <a:p>
            <a:endParaRPr lang="ru-RU" dirty="0"/>
          </a:p>
          <a:p>
            <a:r>
              <a:rPr lang="ru-RU" dirty="0"/>
              <a:t>Пример технологии, реализующей такой подход — MPLS (</a:t>
            </a:r>
            <a:r>
              <a:rPr lang="ru-RU" dirty="0" err="1"/>
              <a:t>MultiProtocol</a:t>
            </a:r>
            <a:r>
              <a:rPr lang="ru-RU" dirty="0"/>
              <a:t> Label </a:t>
            </a:r>
            <a:r>
              <a:rPr lang="ru-RU" dirty="0" err="1"/>
              <a:t>Switching</a:t>
            </a:r>
            <a:r>
              <a:rPr lang="ru-RU" dirty="0"/>
              <a:t>). IP-пакеты получают MPLS-заголовок с 20-битным идентификатором соединения. MPLS широко используется провайдерами для обеспечения требуемого уровня </a:t>
            </a:r>
            <a:r>
              <a:rPr lang="ru-RU" dirty="0" err="1"/>
              <a:t>QoS</a:t>
            </a:r>
            <a:r>
              <a:rPr lang="ru-RU" dirty="0"/>
              <a:t> и управления трафиком.</a:t>
            </a:r>
          </a:p>
          <a:p>
            <a:endParaRPr lang="ru-RU" dirty="0"/>
          </a:p>
        </p:txBody>
      </p:sp>
      <p:sp>
        <p:nvSpPr>
          <p:cNvPr id="4" name="Slide Number Placeholder 3"/>
          <p:cNvSpPr>
            <a:spLocks noGrp="1"/>
          </p:cNvSpPr>
          <p:nvPr>
            <p:ph type="sldNum" sz="quarter" idx="5"/>
          </p:nvPr>
        </p:nvSpPr>
        <p:spPr/>
        <p:txBody>
          <a:bodyPr/>
          <a:lstStyle/>
          <a:p>
            <a:fld id="{4F384885-B771-4961-99C6-DBB22F186DFF}" type="slidenum">
              <a:rPr lang="en-US" smtClean="0"/>
              <a:t>101</a:t>
            </a:fld>
            <a:endParaRPr lang="en-US"/>
          </a:p>
        </p:txBody>
      </p:sp>
    </p:spTree>
    <p:extLst>
      <p:ext uri="{BB962C8B-B14F-4D97-AF65-F5344CB8AC3E}">
        <p14:creationId xmlns:p14="http://schemas.microsoft.com/office/powerpoint/2010/main" val="303472257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Теперь подведем итоги и сравним службы с установлением соединения — виртуальные каналы — и службы без него — дейтаграммы.</a:t>
            </a:r>
          </a:p>
          <a:p>
            <a:endParaRPr lang="ru-RU" dirty="0"/>
          </a:p>
          <a:p>
            <a:r>
              <a:rPr lang="ru-RU" dirty="0"/>
              <a:t>Виртуальный канал требует времени на установку соединения, зато обработка каждого пакета в маршрутизаторе упрощается: достаточно обратиться к таблице по номеру канала. Заголовки пакетов короткие, а </a:t>
            </a:r>
            <a:r>
              <a:rPr lang="ru-RU" dirty="0" err="1"/>
              <a:t>QoS</a:t>
            </a:r>
            <a:r>
              <a:rPr lang="ru-RU" dirty="0"/>
              <a:t> и предотвращение заторов реализуются легче, так как ресурсы можно резервировать заранее. Однако виртуальные каналы уязвимы: если маршрутизатор выйдет из строя, канал прерывается.</a:t>
            </a:r>
          </a:p>
          <a:p>
            <a:endParaRPr lang="ru-RU" dirty="0"/>
          </a:p>
          <a:p>
            <a:r>
              <a:rPr lang="ru-RU" dirty="0"/>
              <a:t>Дейтаграммы не требуют установки соединения, адрес получателя определяется сложнее, а заголовки пакетов больше. Таблицы маршрутизаторов должны поддерживать все возможные адреса, что увеличивает нагрузку на память. Зато такие сети более устойчивы: при сбое теряются только отдельные пакеты, а маршрутизаторы могут динамически балансировать трафик.</a:t>
            </a:r>
          </a:p>
          <a:p>
            <a:endParaRPr lang="ru-RU" dirty="0"/>
          </a:p>
          <a:p>
            <a:r>
              <a:rPr lang="ru-RU" dirty="0"/>
              <a:t>Поэтому выбор зависит от характера трафика: для длительных соединений и VPN выгоднее использовать виртуальные каналы, а для коротких транзакций и динамических сетей лучше подходят дейтаграммы.</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102</a:t>
            </a:fld>
            <a:endParaRPr lang="en-US"/>
          </a:p>
        </p:txBody>
      </p:sp>
    </p:spTree>
    <p:extLst>
      <p:ext uri="{BB962C8B-B14F-4D97-AF65-F5344CB8AC3E}">
        <p14:creationId xmlns:p14="http://schemas.microsoft.com/office/powerpoint/2010/main" val="595003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103</a:t>
            </a:fld>
            <a:endParaRPr lang="en-US"/>
          </a:p>
        </p:txBody>
      </p:sp>
    </p:spTree>
    <p:extLst>
      <p:ext uri="{BB962C8B-B14F-4D97-AF65-F5344CB8AC3E}">
        <p14:creationId xmlns:p14="http://schemas.microsoft.com/office/powerpoint/2010/main" val="233291885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Внутри одной автономной системы сетевой уровень отвечает за доставку пакетов от источника к получателю, как правило, через несколько промежуточных маршрутизаторов. Даже в пределах одной сети задача выбора пути является ключевой для корректной и эффективной работы передачи данных.</a:t>
            </a:r>
          </a:p>
          <a:p>
            <a:endParaRPr lang="ru-RU" dirty="0"/>
          </a:p>
          <a:p>
            <a:r>
              <a:rPr lang="ru-RU" dirty="0"/>
              <a:t>Маршрутизация — это процесс принятия решения о том, по какому направлению отправить пакет дальше. Ее не следует путать с пересылкой: пересылка использует уже готовую таблицу маршрутов, тогда как маршрутизация отвечает за ее построение и обновление.</a:t>
            </a:r>
          </a:p>
          <a:p>
            <a:endParaRPr lang="ru-RU" dirty="0"/>
          </a:p>
          <a:p>
            <a:r>
              <a:rPr lang="ru-RU" dirty="0"/>
              <a:t>В зависимости от типа службы маршрут может определяться по-разному. В </a:t>
            </a:r>
            <a:r>
              <a:rPr lang="ru-RU" dirty="0" err="1"/>
              <a:t>дейтаграммных</a:t>
            </a:r>
            <a:r>
              <a:rPr lang="ru-RU" dirty="0"/>
              <a:t> сетях путь выбирается для каждого пакета отдельно, а в сетях с виртуальными каналами он фиксируется на весь сеанс связи.</a:t>
            </a:r>
          </a:p>
          <a:p>
            <a:endParaRPr lang="ru-RU" dirty="0"/>
          </a:p>
          <a:p>
            <a:r>
              <a:rPr lang="ru-RU" dirty="0"/>
              <a:t>Алгоритмы маршрутизации должны быть надежными и устойчивыми, поскольку сеть постоянно сталкивается с отказами оборудования, изменением топологии и колебаниями нагрузки. Они не должны приводить к остановке работы сети при локальных сбоях.</a:t>
            </a:r>
          </a:p>
          <a:p>
            <a:endParaRPr lang="ru-RU" dirty="0"/>
          </a:p>
          <a:p>
            <a:r>
              <a:rPr lang="ru-RU" dirty="0"/>
              <a:t>При этом возникает конфликт целей: стремление максимально загрузить сеть противоречит равному доступу всех узлов к ресурсам. Поэтому на практике всегда приходится искать компромисс между общей эффективностью и справедливым распределением пропускной способности.</a:t>
            </a:r>
          </a:p>
          <a:p>
            <a:r>
              <a:rPr lang="ru-RU" dirty="0"/>
              <a:t>Пред положим, что трафик между станциями A и A', B и B', а также C и C' настолько интенсивный, что горизонтальные линии связи полностью загружены. Чтобы максимально увеличить общий поток данных, трафик между станциями X и X' нужно полностью остановить. К сожалению, станции X и X' могут с этим не согласиться.</a:t>
            </a:r>
          </a:p>
          <a:p>
            <a:endParaRPr lang="ru-RU" dirty="0"/>
          </a:p>
          <a:p>
            <a:r>
              <a:rPr lang="ru-RU" dirty="0"/>
              <a:t>С точки зрения адаптации к состоянию сети различают статические алгоритмы, где маршруты заданы заранее, и динамические, которые реагируют на изменения топологии и условий передачи. Именно динамические алгоритмы лежат в основе современных сетей и будут рассмотрены далее.</a:t>
            </a:r>
          </a:p>
        </p:txBody>
      </p:sp>
      <p:sp>
        <p:nvSpPr>
          <p:cNvPr id="4" name="Slide Number Placeholder 3"/>
          <p:cNvSpPr>
            <a:spLocks noGrp="1"/>
          </p:cNvSpPr>
          <p:nvPr>
            <p:ph type="sldNum" sz="quarter" idx="5"/>
          </p:nvPr>
        </p:nvSpPr>
        <p:spPr/>
        <p:txBody>
          <a:bodyPr/>
          <a:lstStyle/>
          <a:p>
            <a:fld id="{4F384885-B771-4961-99C6-DBB22F186DFF}" type="slidenum">
              <a:rPr lang="en-US" smtClean="0"/>
              <a:t>104</a:t>
            </a:fld>
            <a:endParaRPr lang="en-US"/>
          </a:p>
        </p:txBody>
      </p:sp>
    </p:spTree>
    <p:extLst>
      <p:ext uri="{BB962C8B-B14F-4D97-AF65-F5344CB8AC3E}">
        <p14:creationId xmlns:p14="http://schemas.microsoft.com/office/powerpoint/2010/main" val="75901234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Прежде чем обсуждать конкретные алгоритмы, вводят общий фундаментальный принцип — принцип оптимальности Беллмана. Он формулируется так: если маршрутизатор J лежит на оптимальном пути от узла I к узлу K, то «хвост» пути от J до K сам по себе тоже оптимален. Иначе можно было бы заменить его на более выгодный и улучшить весь маршрут, что противоречит исходному предположению.</a:t>
            </a:r>
          </a:p>
          <a:p>
            <a:endParaRPr lang="ru-RU" dirty="0"/>
          </a:p>
          <a:p>
            <a:r>
              <a:rPr lang="ru-RU" dirty="0"/>
              <a:t>Из этого автоматически следует удобная модель — так называемое входное дерево: для одного получателя мы можем нарисовать дерево, в котором от любого маршрутизатора к этому получателю идет оптимальный путь, а сам получатель — корень дерева. Такое дерево и есть «идеальная картинка» работы алгоритма маршрутизации.</a:t>
            </a:r>
          </a:p>
          <a:p>
            <a:r>
              <a:rPr lang="ru-RU" dirty="0"/>
              <a:t>Иногда оптимальных путей несколько, и тогда вместо одного дерева фактически получается направленный ациклический граф: множество равнозначных маршрутов без циклов. В теории мы говорим о дереве или DAG, а на практике это просто набор допустимых оптимальных путей.</a:t>
            </a:r>
          </a:p>
          <a:p>
            <a:endParaRPr lang="ru-RU" dirty="0"/>
          </a:p>
          <a:p>
            <a:r>
              <a:rPr lang="ru-RU" dirty="0"/>
              <a:t>Важно, что такие деревья не содержат циклов — значит, пакет всегда дойдет за конечное число шагов. В реальной сети все сложнее: маршрутизаторы могут падать, появляться, видеть разную топологию и по-разному оценивать сеть. Поэтому входное дерево и принцип оптимальности используются как ориентир и критерий, по которому мы оцениваем, насколько хорошо конкретный алгоритм маршрутизации ведет себя в живой, меняющейся сети.</a:t>
            </a:r>
            <a:br>
              <a:rPr lang="ru-RU" dirty="0"/>
            </a:br>
            <a:br>
              <a:rPr lang="ru-RU" dirty="0"/>
            </a:br>
            <a:endParaRPr lang="ru-RU" dirty="0"/>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105</a:t>
            </a:fld>
            <a:endParaRPr lang="en-US"/>
          </a:p>
        </p:txBody>
      </p:sp>
    </p:spTree>
    <p:extLst>
      <p:ext uri="{BB962C8B-B14F-4D97-AF65-F5344CB8AC3E}">
        <p14:creationId xmlns:p14="http://schemas.microsoft.com/office/powerpoint/2010/main" val="321769355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Чтобы формально искать хорошие маршруты, сеть представляют как граф: маршрутизаторы — это вершины, а линии связи между ними — рёбра. У каждого ребра есть вес — числовое значение, которое отражает то, что мы хотим минимизировать: количество </a:t>
            </a:r>
            <a:r>
              <a:rPr lang="ru-RU" dirty="0" err="1"/>
              <a:t>хопов</a:t>
            </a:r>
            <a:r>
              <a:rPr lang="ru-RU" dirty="0"/>
              <a:t>, физическую длину линии, задержку, «цену» канала, загруженность и т. д. В зависимости от того, какую метрику закладываем в вес, «кратчайший путь» означает либо самый короткий по </a:t>
            </a:r>
            <a:r>
              <a:rPr lang="ru-RU" dirty="0" err="1"/>
              <a:t>хопам</a:t>
            </a:r>
            <a:r>
              <a:rPr lang="ru-RU" dirty="0"/>
              <a:t>, либо самый быстрый, либо самый дешёвый маршрут.</a:t>
            </a:r>
          </a:p>
          <a:p>
            <a:endParaRPr lang="ru-RU" dirty="0"/>
          </a:p>
          <a:p>
            <a:r>
              <a:rPr lang="ru-RU" dirty="0"/>
              <a:t>Важно, что все веса предполагаются неотрицательными — это соответствует реальным величинам (пропускная способность, задержка) и необходимо для корректной работы классических алгоритмов.</a:t>
            </a:r>
          </a:p>
          <a:p>
            <a:endParaRPr lang="ru-RU" dirty="0"/>
          </a:p>
          <a:p>
            <a:r>
              <a:rPr lang="ru-RU" dirty="0"/>
              <a:t>Один из базовых методов вычисления кратчайших путей — алгоритм </a:t>
            </a:r>
            <a:r>
              <a:rPr lang="ru-RU" dirty="0" err="1"/>
              <a:t>Дейкстры</a:t>
            </a:r>
            <a:r>
              <a:rPr lang="ru-RU" dirty="0"/>
              <a:t>. Он хранит для каждого узла метку — текущее лучшее известное расстояние от источника. В начале эти метки равны «бесконечности», потому что ничего не известно. Далее алгоритм по шагам улучшает эти оценки:</a:t>
            </a:r>
          </a:p>
          <a:p>
            <a:endParaRPr lang="ru-RU" dirty="0"/>
          </a:p>
          <a:p>
            <a:pPr marL="228600" indent="-228600">
              <a:buFont typeface="+mj-lt"/>
              <a:buAutoNum type="arabicPeriod"/>
            </a:pPr>
            <a:r>
              <a:rPr lang="ru-RU" dirty="0"/>
              <a:t>Выбирает узел с минимальной временной меткой, делает её постоянной — мы гарантируем, что для этого узла найден действительно кратчайший путь.</a:t>
            </a:r>
          </a:p>
          <a:p>
            <a:pPr marL="228600" indent="-228600">
              <a:buFont typeface="+mj-lt"/>
              <a:buAutoNum type="arabicPeriod"/>
            </a:pPr>
            <a:r>
              <a:rPr lang="ru-RU" dirty="0"/>
              <a:t>Через только что «замороженный» узел пересчитывает расстояния до его соседей: если новый путь оказался короче прежнего, их метки обновляются, а также запоминается, через какой узел этот путь проходит.</a:t>
            </a:r>
          </a:p>
          <a:p>
            <a:endParaRPr lang="ru-RU" dirty="0"/>
          </a:p>
          <a:p>
            <a:r>
              <a:rPr lang="ru-RU" dirty="0"/>
              <a:t>Повторяя эти шаги, алгоритм по сути «расползается» от источника по графу и в конце получает оптимальные расстояния и маршруты от одного узла ко всем остальным. В реализации иногда удобнее стартовать не от источника, а от получателя и помечать предшествующие узлы, а затем просто инвертировать полученный путь — результат будет тем же.</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106</a:t>
            </a:fld>
            <a:endParaRPr lang="en-US"/>
          </a:p>
        </p:txBody>
      </p:sp>
    </p:spTree>
    <p:extLst>
      <p:ext uri="{BB962C8B-B14F-4D97-AF65-F5344CB8AC3E}">
        <p14:creationId xmlns:p14="http://schemas.microsoft.com/office/powerpoint/2010/main" val="53489818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Лавинная адресация — это очень простой локальный алгоритм: каждый маршрутизатор, получив пакет, шлёт его по всем исходящим линиям, кроме той, по которой пакет пришёл. Никаких таблиц маршрутизации не нужно — достаточно знать соседей.</a:t>
            </a:r>
          </a:p>
          <a:p>
            <a:endParaRPr lang="ru-RU" dirty="0"/>
          </a:p>
          <a:p>
            <a:r>
              <a:rPr lang="ru-RU" dirty="0"/>
              <a:t>Проблема очевидна: без ограничений число копий растёт лавинообразно. Поэтому вводят счётчик переходов в заголовке: на каждом маршрутизаторе он уменьшается, и когда достигает нуля, пакет удаляется. Дополнительно маршрутизаторы запоминают уже увиденные пакеты (по комбинации «источник + номер»), чтобы не пересылать их повторно.</a:t>
            </a:r>
          </a:p>
          <a:p>
            <a:endParaRPr lang="ru-RU" dirty="0"/>
          </a:p>
          <a:p>
            <a:r>
              <a:rPr lang="ru-RU" dirty="0"/>
              <a:t>В чистом виде лавинную адресацию используют редко, потому что она сильно нагружает сеть. Зато у неё есть два важных плюса: она гарантированно доставляет пакет во все узлы (полезно для широковещания) и чрезвычайно устойчива — даже при массовых отказах маршрутизаторов пакет дойдёт, если путь физически существует. Ещё одно применение — эталон: по </a:t>
            </a:r>
            <a:r>
              <a:rPr lang="ru-RU" dirty="0" err="1"/>
              <a:t>flooding</a:t>
            </a:r>
            <a:r>
              <a:rPr lang="ru-RU" dirty="0"/>
              <a:t> можно измерить, какой минимум времени доставки вообще возможен в данной сети, и сравнивать с другими, более «умными» алгоритмами.</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107</a:t>
            </a:fld>
            <a:endParaRPr lang="en-US"/>
          </a:p>
        </p:txBody>
      </p:sp>
    </p:spTree>
    <p:extLst>
      <p:ext uri="{BB962C8B-B14F-4D97-AF65-F5344CB8AC3E}">
        <p14:creationId xmlns:p14="http://schemas.microsoft.com/office/powerpoint/2010/main" val="183505193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Здесь речь идёт о первом практичном динамическом алгоритме маршрутизации. Идея такая: каждый маршрутизатор хранит у себя табличку, где для каждого возможного адресата записано, через какой интерфейс посылать пакеты и какова текущая оценка «длины» этого пути — в переходах, миллисекундах или условных «стоимостях».</a:t>
            </a:r>
          </a:p>
          <a:p>
            <a:endParaRPr lang="ru-RU" dirty="0"/>
          </a:p>
          <a:p>
            <a:r>
              <a:rPr lang="ru-RU" dirty="0"/>
              <a:t>Самое важное — обмен информацией с соседями. Периодически каждый узел рассылает соседям свой список: «до узла i у меня сейчас стоимость такая-то». Получив такой список, маршрутизатор берёт известную стоимость связи с соседом и прибавляет к тем значениям, что сообщил сосед; так он оценивает путь «через этого соседа» до всех адресатов. Сравнив варианты через разных соседей, он выбирает лучший и обновляет свою таблицу.</a:t>
            </a:r>
          </a:p>
          <a:p>
            <a:endParaRPr lang="ru-RU" dirty="0"/>
          </a:p>
          <a:p>
            <a:r>
              <a:rPr lang="ru-RU" dirty="0"/>
              <a:t>Так, шаг за шагом, все устройства подстраиваются друг под друга и приходят к согласованному набору кратчайших маршрутов для текущей топологии сети - алгоритм Беллмана–Форда.</a:t>
            </a:r>
          </a:p>
        </p:txBody>
      </p:sp>
      <p:sp>
        <p:nvSpPr>
          <p:cNvPr id="4" name="Slide Number Placeholder 3"/>
          <p:cNvSpPr>
            <a:spLocks noGrp="1"/>
          </p:cNvSpPr>
          <p:nvPr>
            <p:ph type="sldNum" sz="quarter" idx="5"/>
          </p:nvPr>
        </p:nvSpPr>
        <p:spPr/>
        <p:txBody>
          <a:bodyPr/>
          <a:lstStyle/>
          <a:p>
            <a:fld id="{4F384885-B771-4961-99C6-DBB22F186DFF}" type="slidenum">
              <a:rPr lang="en-US" smtClean="0"/>
              <a:t>108</a:t>
            </a:fld>
            <a:endParaRPr lang="en-US"/>
          </a:p>
        </p:txBody>
      </p:sp>
    </p:spTree>
    <p:extLst>
      <p:ext uri="{BB962C8B-B14F-4D97-AF65-F5344CB8AC3E}">
        <p14:creationId xmlns:p14="http://schemas.microsoft.com/office/powerpoint/2010/main" val="293235296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У этого подхода есть принципиальный недостаток: он асимметрично ведёт себя для хороших и плохих новостей. Если где-то появился более короткий путь, сосед сразу сообщает об этом, и все вокруг быстро переключаются на новый маршрут — буквально за один цикл обмена.</a:t>
            </a:r>
          </a:p>
          <a:p>
            <a:endParaRPr lang="ru-RU" dirty="0"/>
          </a:p>
          <a:p>
            <a:r>
              <a:rPr lang="ru-RU" dirty="0"/>
              <a:t>Но как только узел или линия ломаются, начинается обратная история. Представьте линейную сеть A–B–C–D–E. Пока всё в порядке, все знают точное количество переходов до A. Если A внезапно «исчезает», сосед B первый понимает, что прежний путь пропал, но при этом слышит от C: «а я всё ещё могу дойти до A за два хопа». B не видит, что маршрут C→A на самом деле шёл через него же, и начинает верить в новый путь через C, просто увеличивая оценку на единицу.</a:t>
            </a:r>
          </a:p>
          <a:p>
            <a:endParaRPr lang="ru-RU" dirty="0"/>
          </a:p>
          <a:p>
            <a:r>
              <a:rPr lang="ru-RU" dirty="0"/>
              <a:t>Дальше эффект распространяется по цепочке: оценки расстояний до «мертвого» узла растут по шагам, пока не достигнут условного порога «бесконечность». На это может уйти очень много циклов. Именно это поведение и называют проблемой «счёта до бесконечности». В реальных протоколах вводят ограниченное значение бесконечности и добавляют разные хитрости, вроде запрета сообщать путь обратно тому соседу, от которого он был получен, но полностью устранить медленную реакцию на аварии таким алгоритмам сложно.</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109</a:t>
            </a:fld>
            <a:endParaRPr lang="en-US"/>
          </a:p>
        </p:txBody>
      </p:sp>
    </p:spTree>
    <p:extLst>
      <p:ext uri="{BB962C8B-B14F-4D97-AF65-F5344CB8AC3E}">
        <p14:creationId xmlns:p14="http://schemas.microsoft.com/office/powerpoint/2010/main" val="194622004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110</a:t>
            </a:fld>
            <a:endParaRPr lang="en-US"/>
          </a:p>
        </p:txBody>
      </p:sp>
    </p:spTree>
    <p:extLst>
      <p:ext uri="{BB962C8B-B14F-4D97-AF65-F5344CB8AC3E}">
        <p14:creationId xmlns:p14="http://schemas.microsoft.com/office/powerpoint/2010/main" val="379231259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Прежде чем говорить о конкретных механизмах, авторы Интернет-архитектуры сформулировали набор общих принципов — они описаны в RFC 1958. Идея простая: сначала убедиться, что протокол реально работает, а уже потом считать его «готовым». Стандарт нельзя считать завершённым, пока разные прототипы между собой не пообщались и не показали, что всё действительно функционирует.</a:t>
            </a:r>
          </a:p>
          <a:p>
            <a:endParaRPr lang="ru-RU" dirty="0"/>
          </a:p>
          <a:p>
            <a:r>
              <a:rPr lang="ru-RU" dirty="0"/>
              <a:t>Дальше — максимальное упрощение. Если есть выбор, берётся самое простое решение и один способ реализации, без зоопарка опций и режимов «на любой вкус». Это уменьшает количество несовместимостей и упрощает сопровождение.</a:t>
            </a:r>
          </a:p>
          <a:p>
            <a:endParaRPr lang="ru-RU" dirty="0"/>
          </a:p>
          <a:p>
            <a:r>
              <a:rPr lang="ru-RU" dirty="0"/>
              <a:t>Важен модульный подход — слоистая структура стеков протоколов. Каждый уровень решает свою задачу и по возможности не знает деталей остальных. Тогда изменение одного модуля не ломает всю систему.</a:t>
            </a:r>
          </a:p>
          <a:p>
            <a:endParaRPr lang="ru-RU" dirty="0"/>
          </a:p>
          <a:p>
            <a:r>
              <a:rPr lang="ru-RU" dirty="0"/>
              <a:t>Сама сеть при этом разнородна: разные типы линий, оборудования, приложений. Протоколы должны быть достаточно общими и гибкими, чтобы жить в таком зоопарке. Поэтому по максимуму избегают жёстко зафиксированных параметров. Если нужен, например, максимальный размер пакета, лучше дать сторонам договориться о конкретном значении, чем навсегда «высечь его в камне».</a:t>
            </a:r>
          </a:p>
          <a:p>
            <a:endParaRPr lang="ru-RU" dirty="0"/>
          </a:p>
          <a:p>
            <a:r>
              <a:rPr lang="ru-RU" dirty="0"/>
              <a:t>Отдельно подчёркивается баланс между эффективностью и «справедливостью» по отношению к участникам, а также идея «не </a:t>
            </a:r>
            <a:r>
              <a:rPr lang="ru-RU" dirty="0" err="1"/>
              <a:t>перфекционизировать</a:t>
            </a:r>
            <a:r>
              <a:rPr lang="ru-RU" dirty="0"/>
              <a:t> до смерти»: если протокол хорошо работает в 99% случаев, не стоит ради редких экзотических сценариев усложнять его всем.</a:t>
            </a:r>
          </a:p>
          <a:p>
            <a:endParaRPr lang="ru-RU" dirty="0"/>
          </a:p>
          <a:p>
            <a:r>
              <a:rPr lang="ru-RU" dirty="0"/>
              <a:t>Наконец, классическая формула: «строг при отправке, снисходителен при приёме». Мы стараемся генерировать идеально корректные пакеты, но быть готовы нормально обработать слегка «кривые» входящие. И всё это должно масштабироваться на миллионы хостов и при этом оставаться достаточно производительным и недорогим, иначе такой сетью просто не будут пользоваться.</a:t>
            </a:r>
          </a:p>
        </p:txBody>
      </p:sp>
      <p:sp>
        <p:nvSpPr>
          <p:cNvPr id="4" name="Slide Number Placeholder 3"/>
          <p:cNvSpPr>
            <a:spLocks noGrp="1"/>
          </p:cNvSpPr>
          <p:nvPr>
            <p:ph type="sldNum" sz="quarter" idx="5"/>
          </p:nvPr>
        </p:nvSpPr>
        <p:spPr/>
        <p:txBody>
          <a:bodyPr/>
          <a:lstStyle/>
          <a:p>
            <a:fld id="{4F384885-B771-4961-99C6-DBB22F186DFF}" type="slidenum">
              <a:rPr lang="en-US" smtClean="0"/>
              <a:t>111</a:t>
            </a:fld>
            <a:endParaRPr lang="en-US"/>
          </a:p>
        </p:txBody>
      </p:sp>
    </p:spTree>
    <p:extLst>
      <p:ext uri="{BB962C8B-B14F-4D97-AF65-F5344CB8AC3E}">
        <p14:creationId xmlns:p14="http://schemas.microsoft.com/office/powerpoint/2010/main" val="176860571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уровне архитектуры Интернет можно представить как набор взаимосвязанных автономных систем — административных доменов. Жёсткой строгой иерархии нет, но есть магистральные сети </a:t>
            </a:r>
            <a:r>
              <a:rPr lang="ru-RU" dirty="0" err="1"/>
              <a:t>Tier</a:t>
            </a:r>
            <a:r>
              <a:rPr lang="ru-RU" dirty="0"/>
              <a:t> 1, к которым подключаются крупные провайдеры доступа. Ниже по «квази-иерархии» расположены региональные сети, провайдеры поменьше, университетские и корпоративные LAN.</a:t>
            </a:r>
          </a:p>
          <a:p>
            <a:endParaRPr lang="ru-RU" dirty="0"/>
          </a:p>
          <a:p>
            <a:r>
              <a:rPr lang="ru-RU" dirty="0"/>
              <a:t>Центры обработки данных и площадки </a:t>
            </a:r>
            <a:r>
              <a:rPr lang="ru-RU" dirty="0" err="1"/>
              <a:t>колокации</a:t>
            </a:r>
            <a:r>
              <a:rPr lang="ru-RU" dirty="0"/>
              <a:t> тянут на себе значительную долю всего трафика: в них живут популярные сервисы, веб-приложения и хранилища контента. От них трафик по магистралям и региональным сетям расходится к периферийным сегментам — домашним и офисным сетям пользователей.</a:t>
            </a:r>
          </a:p>
          <a:p>
            <a:endParaRPr lang="ru-RU" dirty="0"/>
          </a:p>
          <a:p>
            <a:r>
              <a:rPr lang="ru-RU" dirty="0"/>
              <a:t>Вся эта разношёрстная конструкция держится на IP — базовом протоколе сетевого уровня. В отличие от старых протоколов, рассчитанных на одну сеть, IP изначально проектировался для межсетевого обмена: его задача — доставить пакеты от источника к получателю, даже если между ними несколько разных сетей. При этом сервис: никаких гарантий доставки или задержки, только «по возможности».</a:t>
            </a:r>
          </a:p>
          <a:p>
            <a:endParaRPr lang="ru-RU" dirty="0"/>
          </a:p>
          <a:p>
            <a:r>
              <a:rPr lang="ru-RU" dirty="0"/>
              <a:t>Транспортный уровень (например, TCP или UDP) разбивает поток данных на фрагменты, которые превращаются в IP-пакеты. Теоретически пакет может быть до 64 Кбайт, но в реальных условиях большинство укладывается в размер одного Ethernet-кадра, порядка 1500 байт.</a:t>
            </a:r>
          </a:p>
          <a:p>
            <a:endParaRPr lang="ru-RU" dirty="0"/>
          </a:p>
          <a:p>
            <a:r>
              <a:rPr lang="ru-RU" dirty="0"/>
              <a:t>Дальше пакет передается по маршрутизаторам: каждый узел смотрит адрес назначения, выбирает выходной интерфейс и перекидывает пакет дальше. На пути хост-хост он может пройти через несколько сетей и множество маршрутизаторов, как в примере, где пакет от домашнего хоста идёт в корпоративную сеть.</a:t>
            </a:r>
          </a:p>
          <a:p>
            <a:endParaRPr lang="ru-RU" dirty="0"/>
          </a:p>
          <a:p>
            <a:r>
              <a:rPr lang="ru-RU" dirty="0"/>
              <a:t>Интернет избыточно связан: магистрали и провайдеры часто имеют несколько точек стыковки, поэтому между двумя хостами обычно существует сразу несколько возможных путей. Именно IP-маршрутизация отвечает за выбор подходящего маршрута в этой сложной и динамичной топологии.</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112</a:t>
            </a:fld>
            <a:endParaRPr lang="en-US"/>
          </a:p>
        </p:txBody>
      </p:sp>
    </p:spTree>
    <p:extLst>
      <p:ext uri="{BB962C8B-B14F-4D97-AF65-F5344CB8AC3E}">
        <p14:creationId xmlns:p14="http://schemas.microsoft.com/office/powerpoint/2010/main" val="120458079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У IPv4-дейтаграммы всегда есть заголовок и данные. Базовый заголовок — 20 байт, при наличии опций он может вырасти до 60 байт. Все поля в заголовке записываются в сетевом порядке байтов, так что хосты с </a:t>
            </a:r>
            <a:r>
              <a:rPr lang="ru-RU" dirty="0" err="1"/>
              <a:t>little-endian</a:t>
            </a:r>
            <a:r>
              <a:rPr lang="ru-RU" dirty="0"/>
              <a:t> архитектурой должны конвертировать порядок при отправке и приёме.</a:t>
            </a:r>
            <a:endParaRPr lang="en-US" dirty="0"/>
          </a:p>
          <a:p>
            <a:endParaRPr lang="ru-RU" dirty="0"/>
          </a:p>
          <a:p>
            <a:r>
              <a:rPr lang="ru-RU" dirty="0"/>
              <a:t>В начале заголовка поле </a:t>
            </a:r>
            <a:r>
              <a:rPr lang="ru-RU" b="1" dirty="0" err="1"/>
              <a:t>Version</a:t>
            </a:r>
            <a:r>
              <a:rPr lang="ru-RU" dirty="0"/>
              <a:t> говорит маршрутизатору, с каким протоколом он работает (сейчас почти всегда IPv4). Поле </a:t>
            </a:r>
            <a:r>
              <a:rPr lang="ru-RU" b="1" dirty="0"/>
              <a:t>IHL</a:t>
            </a:r>
            <a:r>
              <a:rPr lang="ru-RU" dirty="0"/>
              <a:t> показывает фактическую длину заголовка в 32-битных словах, чтобы понять, где начинаются данные.</a:t>
            </a:r>
            <a:endParaRPr lang="en-US" dirty="0"/>
          </a:p>
          <a:p>
            <a:endParaRPr lang="ru-RU" dirty="0"/>
          </a:p>
          <a:p>
            <a:r>
              <a:rPr lang="ru-RU" dirty="0"/>
              <a:t>Поле </a:t>
            </a:r>
            <a:r>
              <a:rPr lang="ru-RU" b="1" dirty="0"/>
              <a:t>DS</a:t>
            </a:r>
            <a:r>
              <a:rPr lang="ru-RU" dirty="0"/>
              <a:t> используется для качества обслуживания: через него можно попросить, например, более приоритетную обработку или задать поведение при перегрузке (ECN). </a:t>
            </a:r>
            <a:r>
              <a:rPr lang="ru-RU" b="1" dirty="0"/>
              <a:t>Total </a:t>
            </a:r>
            <a:r>
              <a:rPr lang="ru-RU" b="1" dirty="0" err="1"/>
              <a:t>length</a:t>
            </a:r>
            <a:r>
              <a:rPr lang="ru-RU" dirty="0"/>
              <a:t> содержит полный размер пакета, включая заголовок и данные, с верхним пределом в 65 535 байт.</a:t>
            </a:r>
          </a:p>
          <a:p>
            <a:r>
              <a:rPr lang="ru-RU" dirty="0"/>
              <a:t>Поле </a:t>
            </a:r>
            <a:r>
              <a:rPr lang="ru-RU" b="1" dirty="0"/>
              <a:t>Protocol</a:t>
            </a:r>
            <a:r>
              <a:rPr lang="ru-RU" dirty="0"/>
              <a:t> связывает IP с транспортным уровнем — по нему пакет отправляется в TCP, UDP и т. д. И, наконец, </a:t>
            </a:r>
            <a:r>
              <a:rPr lang="ru-RU" b="1" dirty="0" err="1"/>
              <a:t>Header</a:t>
            </a:r>
            <a:r>
              <a:rPr lang="ru-RU" b="1" dirty="0"/>
              <a:t> </a:t>
            </a:r>
            <a:r>
              <a:rPr lang="ru-RU" b="1" dirty="0" err="1"/>
              <a:t>checksum</a:t>
            </a:r>
            <a:r>
              <a:rPr lang="ru-RU" dirty="0"/>
              <a:t> позволяет обнаружить повреждения именно в заголовке; она пересчитывается на каждом маршрутизаторе, потому что некоторые поля (например, TTL) меняются по дороге.</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113</a:t>
            </a:fld>
            <a:endParaRPr lang="en-US"/>
          </a:p>
        </p:txBody>
      </p:sp>
    </p:spTree>
    <p:extLst>
      <p:ext uri="{BB962C8B-B14F-4D97-AF65-F5344CB8AC3E}">
        <p14:creationId xmlns:p14="http://schemas.microsoft.com/office/powerpoint/2010/main" val="241601945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пакет слишком велик для какого-то канала, маршрутизатор может разбить его на части. Поле </a:t>
            </a:r>
            <a:r>
              <a:rPr lang="ru-RU" b="1" dirty="0" err="1"/>
              <a:t>Identification</a:t>
            </a:r>
            <a:r>
              <a:rPr lang="ru-RU" dirty="0"/>
              <a:t> позволяет получателю понять, какие фрагменты относятся к одному исходному пакету.</a:t>
            </a:r>
            <a:endParaRPr lang="en-US" dirty="0"/>
          </a:p>
          <a:p>
            <a:endParaRPr lang="en-US" dirty="0"/>
          </a:p>
          <a:p>
            <a:r>
              <a:rPr lang="ru-RU" dirty="0"/>
              <a:t>Биты </a:t>
            </a:r>
            <a:r>
              <a:rPr lang="ru-RU" b="1" dirty="0"/>
              <a:t>DF</a:t>
            </a:r>
            <a:r>
              <a:rPr lang="ru-RU" dirty="0"/>
              <a:t>  (</a:t>
            </a:r>
            <a:r>
              <a:rPr lang="en-US" dirty="0"/>
              <a:t>Don’t Fragment) </a:t>
            </a:r>
            <a:r>
              <a:rPr lang="ru-RU" dirty="0"/>
              <a:t>и </a:t>
            </a:r>
            <a:r>
              <a:rPr lang="ru-RU" b="1" dirty="0"/>
              <a:t>MF</a:t>
            </a:r>
            <a:r>
              <a:rPr lang="ru-RU" dirty="0"/>
              <a:t> </a:t>
            </a:r>
            <a:r>
              <a:rPr lang="en-US" dirty="0"/>
              <a:t>(More Fragments) </a:t>
            </a:r>
            <a:r>
              <a:rPr lang="ru-RU" dirty="0"/>
              <a:t>вместе с </a:t>
            </a:r>
            <a:r>
              <a:rPr lang="ru-RU" b="1" dirty="0" err="1"/>
              <a:t>Fragment</a:t>
            </a:r>
            <a:r>
              <a:rPr lang="ru-RU" b="1" dirty="0"/>
              <a:t> </a:t>
            </a:r>
            <a:r>
              <a:rPr lang="ru-RU" b="1" dirty="0" err="1"/>
              <a:t>offset</a:t>
            </a:r>
            <a:r>
              <a:rPr lang="ru-RU" dirty="0"/>
              <a:t> управляют тем, можно ли фрагментировать данный пакет, какой фрагмент последний и где каждый кусок должен лечь при сборке.</a:t>
            </a:r>
          </a:p>
          <a:p>
            <a:r>
              <a:rPr lang="ru-RU" dirty="0"/>
              <a:t>Поле </a:t>
            </a:r>
            <a:r>
              <a:rPr lang="ru-RU" b="1" dirty="0"/>
              <a:t>TTL</a:t>
            </a:r>
            <a:r>
              <a:rPr lang="ru-RU" dirty="0"/>
              <a:t> — это защитный счётчик: при каждом переходе через маршрутизатор он уменьшается. Если TTL стал нулём, пакет уничтожается, чтобы не «ходить по кругу» бесконечно при ошибках маршрутизации.</a:t>
            </a:r>
          </a:p>
          <a:p>
            <a:r>
              <a:rPr lang="ru-RU" dirty="0"/>
              <a:t>Два ключевых поля — </a:t>
            </a:r>
            <a:r>
              <a:rPr lang="ru-RU" b="1" dirty="0"/>
              <a:t>Source </a:t>
            </a:r>
            <a:r>
              <a:rPr lang="ru-RU" b="1" dirty="0" err="1"/>
              <a:t>address</a:t>
            </a:r>
            <a:r>
              <a:rPr lang="ru-RU" dirty="0"/>
              <a:t> и </a:t>
            </a:r>
            <a:r>
              <a:rPr lang="ru-RU" b="1" dirty="0" err="1"/>
              <a:t>Destination</a:t>
            </a:r>
            <a:r>
              <a:rPr lang="ru-RU" b="1" dirty="0"/>
              <a:t> </a:t>
            </a:r>
            <a:r>
              <a:rPr lang="ru-RU" b="1" dirty="0" err="1"/>
              <a:t>address</a:t>
            </a:r>
            <a:r>
              <a:rPr lang="ru-RU" dirty="0"/>
              <a:t> — содержат IPv4-адреса отправителя и получателя. На их основе маршрутизаторы принимают решения о следующем хопе.</a:t>
            </a:r>
          </a:p>
          <a:p>
            <a:r>
              <a:rPr lang="ru-RU" dirty="0"/>
              <a:t>Наконец, поле </a:t>
            </a:r>
            <a:r>
              <a:rPr lang="ru-RU" b="1" dirty="0" err="1"/>
              <a:t>Options</a:t>
            </a:r>
            <a:r>
              <a:rPr lang="ru-RU" dirty="0"/>
              <a:t> предназначено для расширений: через него можно, например, задать маршрут от источника (</a:t>
            </a:r>
            <a:r>
              <a:rPr lang="ru-RU" dirty="0" err="1"/>
              <a:t>source</a:t>
            </a:r>
            <a:r>
              <a:rPr lang="ru-RU" dirty="0"/>
              <a:t> </a:t>
            </a:r>
            <a:r>
              <a:rPr lang="ru-RU" dirty="0" err="1"/>
              <a:t>routing</a:t>
            </a:r>
            <a:r>
              <a:rPr lang="ru-RU" dirty="0"/>
              <a:t>), попросить маршрутизаторы записывать пройденные адреса (</a:t>
            </a:r>
            <a:r>
              <a:rPr lang="ru-RU" dirty="0" err="1"/>
              <a:t>Record</a:t>
            </a:r>
            <a:r>
              <a:rPr lang="ru-RU" dirty="0"/>
              <a:t> </a:t>
            </a:r>
            <a:r>
              <a:rPr lang="ru-RU" dirty="0" err="1"/>
              <a:t>route</a:t>
            </a:r>
            <a:r>
              <a:rPr lang="ru-RU" dirty="0"/>
              <a:t>) или время прохождения (</a:t>
            </a:r>
            <a:r>
              <a:rPr lang="ru-RU" dirty="0" err="1"/>
              <a:t>Timestamp</a:t>
            </a:r>
            <a:r>
              <a:rPr lang="ru-RU" dirty="0"/>
              <a:t>). Но в реальных сетях эти опции почти не используются: они усложняют обработку и часто выполняются маршрутизаторами медленнее обычного пути.</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114</a:t>
            </a:fld>
            <a:endParaRPr lang="en-US"/>
          </a:p>
        </p:txBody>
      </p:sp>
    </p:spTree>
    <p:extLst>
      <p:ext uri="{BB962C8B-B14F-4D97-AF65-F5344CB8AC3E}">
        <p14:creationId xmlns:p14="http://schemas.microsoft.com/office/powerpoint/2010/main" val="210652216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IPv4 каждый адрес занимает 32 бита, и важно понимать, что он привязан не к абстрактному «компьютеру», а к конкретному сетевому интерфейсу. Поэтому обычный ПК с одной сетевой картой имеет один IP-адрес, а маршрутизатор, у которого много интерфейсов, — несколько различных IP-адресов.</a:t>
            </a:r>
          </a:p>
          <a:p>
            <a:endParaRPr lang="ru-RU" dirty="0"/>
          </a:p>
          <a:p>
            <a:r>
              <a:rPr lang="ru-RU" dirty="0"/>
              <a:t>Структура адреса иерархическая: первые биты задают сеть, а оставшиеся — конкретный узел внутри этой сети. Такой непрерывный блок адресов называется </a:t>
            </a:r>
            <a:r>
              <a:rPr lang="ru-RU" b="1" dirty="0"/>
              <a:t>префиксом</a:t>
            </a:r>
            <a:r>
              <a:rPr lang="ru-RU" dirty="0"/>
              <a:t>. Мы пишем его в виде четырёх десятичных чисел, разделённых точками, а затем через слэш указываем длину сетевой части, например </a:t>
            </a:r>
            <a:r>
              <a:rPr lang="ru-RU" sz="1200" kern="1200" dirty="0">
                <a:solidFill>
                  <a:schemeClr val="tx1"/>
                </a:solidFill>
                <a:latin typeface="+mn-lt"/>
                <a:ea typeface="+mn-ea"/>
                <a:cs typeface="+mn-cs"/>
              </a:rPr>
              <a:t>128.208.2.0/24</a:t>
            </a:r>
            <a:r>
              <a:rPr lang="ru-RU" dirty="0"/>
              <a:t>.</a:t>
            </a:r>
          </a:p>
          <a:p>
            <a:endParaRPr lang="ru-RU" dirty="0"/>
          </a:p>
          <a:p>
            <a:r>
              <a:rPr lang="ru-RU" dirty="0"/>
              <a:t>Чтобы сетевой участок было удобно вырезать из адреса, используется </a:t>
            </a:r>
            <a:r>
              <a:rPr lang="ru-RU" b="1" dirty="0"/>
              <a:t>маска подсети</a:t>
            </a:r>
            <a:r>
              <a:rPr lang="ru-RU" dirty="0"/>
              <a:t> — это тоже 32-битное число, в котором единицы стоят на месте сетевой части, например </a:t>
            </a:r>
            <a:r>
              <a:rPr lang="ru-RU" sz="1200" kern="1200" dirty="0">
                <a:solidFill>
                  <a:schemeClr val="tx1"/>
                </a:solidFill>
                <a:latin typeface="+mn-lt"/>
                <a:ea typeface="+mn-ea"/>
                <a:cs typeface="+mn-cs"/>
              </a:rPr>
              <a:t>255.255.255.0</a:t>
            </a:r>
            <a:r>
              <a:rPr lang="ru-RU" dirty="0"/>
              <a:t> для /24. Если применить к адресу побитовое AND с маской, мы получим именно сетевую часть.</a:t>
            </a:r>
          </a:p>
          <a:p>
            <a:endParaRPr lang="ru-RU" dirty="0"/>
          </a:p>
          <a:p>
            <a:r>
              <a:rPr lang="ru-RU" dirty="0"/>
              <a:t>Иерархия критична для маршрутизаторов: им достаточно знать, куда отправлять трафик для данного префикса, а не для каждого хоста отдельно. Благодаря этому вместо миллиардов записей о хостах в таблицах маршрутизации хранится лишь несколько сотен тысяч префиксов.</a:t>
            </a:r>
          </a:p>
          <a:p>
            <a:endParaRPr lang="ru-RU" dirty="0"/>
          </a:p>
          <a:p>
            <a:r>
              <a:rPr lang="ru-RU" dirty="0"/>
              <a:t>Но есть и минусы. IP-адрес жёстко привязан к сети, в которой находится хост, и при «переезде» в другую сеть его адрес должен меняться, если не используются специальные механизмы вроде мобильного IP. Кроме того, если префиксы выделять слишком крупными блоками, внутри них останется много неиспользованных адресов, что при ограниченном пространстве IPv4 приводит к дефициту свободных адресов.</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115</a:t>
            </a:fld>
            <a:endParaRPr lang="en-US"/>
          </a:p>
        </p:txBody>
      </p:sp>
    </p:spTree>
    <p:extLst>
      <p:ext uri="{BB962C8B-B14F-4D97-AF65-F5344CB8AC3E}">
        <p14:creationId xmlns:p14="http://schemas.microsoft.com/office/powerpoint/2010/main" val="379443224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IP-адресные блоки организациям напрямую не придумывают админы — их выделяют ICANN и региональные регистраторы, а уже провайдеры и крупные компании получают от них свои диапазоны. Например, университету могли выдать один большой блок /16.</a:t>
            </a:r>
          </a:p>
          <a:p>
            <a:endParaRPr lang="ru-RU" dirty="0"/>
          </a:p>
          <a:p>
            <a:r>
              <a:rPr lang="ru-RU" dirty="0"/>
              <a:t>По мере роста появляется естественный вопрос: как выдать разные диапазоны факультету информатики, электротехнике, искусствам и т. д.? Запрашивать новые независимые блоки у провайдера неудобно и неэффективно, особенно если исходный /16 был как раз взят «с запасом» на десятки тысяч хостов.</a:t>
            </a:r>
          </a:p>
          <a:p>
            <a:endParaRPr lang="ru-RU" dirty="0"/>
          </a:p>
          <a:p>
            <a:r>
              <a:rPr lang="ru-RU" dirty="0"/>
              <a:t>Решение — </a:t>
            </a:r>
            <a:r>
              <a:rPr lang="ru-RU" b="1" dirty="0"/>
              <a:t>разбить один большой префикс на несколько подсетей</a:t>
            </a:r>
            <a:r>
              <a:rPr lang="ru-RU" dirty="0"/>
              <a:t>. Каждая подсеть — это отдельный подблок исходного диапазона: условно половина блока может уйти информатике (/17), четверть — электротехникам (/18), ещё часть — искусствам (/19). Граница между номером подсети и номером хоста задаётся маской подсети.</a:t>
            </a:r>
          </a:p>
          <a:p>
            <a:endParaRPr lang="ru-RU" dirty="0"/>
          </a:p>
          <a:p>
            <a:r>
              <a:rPr lang="ru-RU" dirty="0"/>
              <a:t>Маршрутизатор, получая пакет, просто последовательно применяет к адресу назначения разные маски подсети и сверяет результат с префиксами. Так он определяет, на какой интерфейс отправить пакет: в подсеть информатики, электротехники и т. д. При этом для внешнего мира весь университет по-прежнему выглядит как один агрегированный префикс /16 — внутреннее дробление не «протекает» наружу.</a:t>
            </a:r>
          </a:p>
          <a:p>
            <a:endParaRPr lang="ru-RU" dirty="0"/>
          </a:p>
          <a:p>
            <a:r>
              <a:rPr lang="ru-RU" dirty="0"/>
              <a:t>Плюс в том, что архитектуру подсетей можно </a:t>
            </a:r>
            <a:r>
              <a:rPr lang="ru-RU" dirty="0" err="1"/>
              <a:t>переразбить</a:t>
            </a:r>
            <a:r>
              <a:rPr lang="ru-RU" dirty="0"/>
              <a:t> позже: изменить размеры подсетей, добавить новые, пересобрать факультеты — достаточно обновить маски и маршруты на внутренних маршрутизаторах. Никаких обращений в ICANN или изменения внешних таблиц маршрутизации для этого не требуется.</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116</a:t>
            </a:fld>
            <a:endParaRPr lang="en-US"/>
          </a:p>
        </p:txBody>
      </p:sp>
    </p:spTree>
    <p:extLst>
      <p:ext uri="{BB962C8B-B14F-4D97-AF65-F5344CB8AC3E}">
        <p14:creationId xmlns:p14="http://schemas.microsoft.com/office/powerpoint/2010/main" val="360780953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Даже если аккуратно раздавать адреса, у крупных провайдеров и магистральных маршрутизаторов таблицы маршрутизации всё равно разрастаются: им нужно знать путь практически «ко всем», у них нет роскоши иметь один «маршрут по умолчанию». Такие узлы говорят, что находятся в </a:t>
            </a:r>
            <a:r>
              <a:rPr lang="ru-RU" i="1" dirty="0" err="1"/>
              <a:t>default-free</a:t>
            </a:r>
            <a:r>
              <a:rPr lang="ru-RU" i="1" dirty="0"/>
              <a:t> </a:t>
            </a:r>
            <a:r>
              <a:rPr lang="ru-RU" i="1" dirty="0" err="1"/>
              <a:t>zone</a:t>
            </a:r>
            <a:r>
              <a:rPr lang="ru-RU" dirty="0"/>
              <a:t> — зоне без умолчаний.</a:t>
            </a:r>
          </a:p>
          <a:p>
            <a:endParaRPr lang="ru-RU" dirty="0"/>
          </a:p>
          <a:p>
            <a:r>
              <a:rPr lang="ru-RU" dirty="0"/>
              <a:t>Сделать адреса строго многоуровневыми (страна-регион-город-сеть-хост) нельзя: не хватит 32 бит и сильно растёт перерасход адресов. Поэтому пошли другим путём: использовать уже знакомую идею префиксов, но не только «вниз», для подсетей, а и «вверх» — для </a:t>
            </a:r>
            <a:r>
              <a:rPr lang="ru-RU" b="1" dirty="0"/>
              <a:t>агрегации</a:t>
            </a:r>
            <a:r>
              <a:rPr lang="ru-RU" dirty="0"/>
              <a:t> нескольких соседних блоков в одну </a:t>
            </a:r>
            <a:r>
              <a:rPr lang="ru-RU" i="1" dirty="0" err="1"/>
              <a:t>суперсеть</a:t>
            </a:r>
            <a:r>
              <a:rPr lang="ru-RU" dirty="0"/>
              <a:t>.</a:t>
            </a:r>
          </a:p>
          <a:p>
            <a:endParaRPr lang="ru-RU" dirty="0"/>
          </a:p>
          <a:p>
            <a:r>
              <a:rPr lang="ru-RU" dirty="0"/>
              <a:t>Например, три университета получают три разных префикса внутри общего диапазона. Для «близкого» маршрутизатора в Лондоне они остаются тремя отдельными строками в таблице: по ним он различает, куда послать пакет. А для удалённого маршрутизатора в Нью-Йорке эти три префикса можно склеить в один более крупный блок /19 и держать в таблице только одну запись — это и есть </a:t>
            </a:r>
            <a:r>
              <a:rPr lang="ru-RU" b="1" dirty="0" err="1"/>
              <a:t>route</a:t>
            </a:r>
            <a:r>
              <a:rPr lang="ru-RU" b="1" dirty="0"/>
              <a:t> </a:t>
            </a:r>
            <a:r>
              <a:rPr lang="ru-RU" b="1" dirty="0" err="1"/>
              <a:t>aggregation</a:t>
            </a:r>
            <a:r>
              <a:rPr lang="ru-RU" dirty="0"/>
              <a:t>.</a:t>
            </a:r>
          </a:p>
          <a:p>
            <a:endParaRPr lang="ru-RU" dirty="0"/>
          </a:p>
          <a:p>
            <a:r>
              <a:rPr lang="ru-RU" dirty="0"/>
              <a:t>При этом один и тот же IP-адрес может рассматриваться в разных контекстах: как часть /21 у одного маршрутизатора и как часть более крупного /19 у другого. Такой подход с префиксами произвольной длины называется </a:t>
            </a:r>
            <a:r>
              <a:rPr lang="ru-RU" b="1" dirty="0"/>
              <a:t>CIDR</a:t>
            </a:r>
            <a:r>
              <a:rPr lang="ru-RU" dirty="0"/>
              <a:t> — </a:t>
            </a:r>
            <a:r>
              <a:rPr lang="ru-RU" dirty="0" err="1"/>
              <a:t>Classless</a:t>
            </a:r>
            <a:r>
              <a:rPr lang="ru-RU" dirty="0"/>
              <a:t> </a:t>
            </a:r>
            <a:r>
              <a:rPr lang="ru-RU" dirty="0" err="1"/>
              <a:t>InterDomain</a:t>
            </a:r>
            <a:r>
              <a:rPr lang="ru-RU" dirty="0"/>
              <a:t> </a:t>
            </a:r>
            <a:r>
              <a:rPr lang="ru-RU" dirty="0" err="1"/>
              <a:t>Routing</a:t>
            </a:r>
            <a:r>
              <a:rPr lang="ru-RU" dirty="0"/>
              <a:t>, «бесклассовая маршрутизация».</a:t>
            </a:r>
          </a:p>
          <a:p>
            <a:endParaRPr lang="ru-RU" dirty="0"/>
          </a:p>
          <a:p>
            <a:r>
              <a:rPr lang="ru-RU" dirty="0"/>
              <a:t>В результате префиксы часто пересекаются. Тогда действует главное правило CIDR: </a:t>
            </a:r>
            <a:r>
              <a:rPr lang="ru-RU" b="1" dirty="0"/>
              <a:t>выбираем маршрут по самому длинному совпадающему префиксу</a:t>
            </a:r>
            <a:r>
              <a:rPr lang="ru-RU" dirty="0"/>
              <a:t>. Если адрес подходит и под /19, и под более точный /24, используется запись /24. Это позволяет одновременно иметь крупный агрегированный маршрут «в сторону Лондона» и более точный маршрут для «вырезанного» блока, например, в Сан-Франциско.</a:t>
            </a:r>
          </a:p>
          <a:p>
            <a:endParaRPr lang="ru-RU" dirty="0"/>
          </a:p>
          <a:p>
            <a:r>
              <a:rPr lang="ru-RU" dirty="0"/>
              <a:t>Так сокращается число записей в таблицах (сотни тысяч вместо миллионов), но поиск нужного префикса становится нетривиальной задачей. Поэтому в промышленных маршрутизаторах используют специальные структуры данных и аппаратные чипы, которые очень быстро находят совпадающий префикс и применяют правило «самого длинного совпадения».</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117</a:t>
            </a:fld>
            <a:endParaRPr lang="en-US"/>
          </a:p>
        </p:txBody>
      </p:sp>
    </p:spTree>
    <p:extLst>
      <p:ext uri="{BB962C8B-B14F-4D97-AF65-F5344CB8AC3E}">
        <p14:creationId xmlns:p14="http://schemas.microsoft.com/office/powerpoint/2010/main" val="99814542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Раньше пространство IPv4 делили на классы A, B, C, а также D и E. Размер блоков был жёстко задан: гигантские сети с миллионами хостов, средние сети на десятки тысяч и маленькие на 256 устройств. На практике это приводило к сильному перерасходу — особенно популярным оказался класс B на 65 тысяч адресов, который большинству организаций был слишком велик, но класс C, наоборот, казался «слишком тесным».</a:t>
            </a:r>
          </a:p>
          <a:p>
            <a:endParaRPr lang="ru-RU" dirty="0"/>
          </a:p>
          <a:p>
            <a:r>
              <a:rPr lang="ru-RU" dirty="0"/>
              <a:t>Именно неэффективность такого деления по классам стала одной из причин перехода к CIDR и префиксам произвольной длины, где можно гибче подбирать размер блока и сокращать таблицы маршрутизации. При этом старая классовая схема была очень удобна для маршрутизаторов: по нескольким старшим битам сразу определялся класс и длина сетевой части, а дальше всё сводилось к простому поиску по трём таблицам — это проще, чем сегодняшнее правило «самого длинного совпадающего префикса».</a:t>
            </a:r>
          </a:p>
          <a:p>
            <a:endParaRPr lang="ru-RU" dirty="0"/>
          </a:p>
          <a:p>
            <a:r>
              <a:rPr lang="ru-RU" dirty="0"/>
              <a:t>Из классов сегодня фактически используется только класс D — для многоадресной рассылки. Остальные «классовые» биты в адресах больше не играют роли, хотя в книгах и старых документах ссылки на классы A/B/C всё ещё встречаются.</a:t>
            </a:r>
          </a:p>
          <a:p>
            <a:endParaRPr lang="ru-RU" dirty="0"/>
          </a:p>
          <a:p>
            <a:r>
              <a:rPr lang="ru-RU" dirty="0"/>
              <a:t>Наконец, у IPv4 есть ряд специальных адресов. 0.0.0.0 и адреса с нулевым сетевым номером используются на этапе начальной настройки и обозначают «эту сеть» или «этот узел». Адрес 255.255.255.255 и адреса с единицами в части хоста служат для широковещания в пределах сети, хотя многие администраторы такие широковещания режут из соображений безопасности. Диапазон 127.x.x.x зарезервирован под </a:t>
            </a:r>
            <a:r>
              <a:rPr lang="ru-RU" dirty="0" err="1"/>
              <a:t>loopback</a:t>
            </a:r>
            <a:r>
              <a:rPr lang="ru-RU" dirty="0"/>
              <a:t>: пакеты, отправленные на этот диапазон, не выходят в сеть, а обрабатываются локально и используются в первую очередь для проверки работы стека протоколов на самом хосте.</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118</a:t>
            </a:fld>
            <a:endParaRPr lang="en-US"/>
          </a:p>
        </p:txBody>
      </p:sp>
    </p:spTree>
    <p:extLst>
      <p:ext uri="{BB962C8B-B14F-4D97-AF65-F5344CB8AC3E}">
        <p14:creationId xmlns:p14="http://schemas.microsoft.com/office/powerpoint/2010/main" val="42876734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IPv4-адресов объективно мало: 32-битное пространство уже исчерпано, а провайдеры и организации хотят иметь всё больше постоянно включённых машин — от корпоративных серверов до домашних ПК и смартфонов за NAT-роутером. Полный переход на IPv6 идёт очень медленно, поэтому понадобилось промежуточное решение, позволяющее обслуживать множество устройств с меньшим количеством публичных адресов. Эту роль взяла на себя трансляция сетевых адресов, NAT.</a:t>
            </a:r>
          </a:p>
          <a:p>
            <a:endParaRPr lang="ru-RU" dirty="0"/>
          </a:p>
          <a:p>
            <a:r>
              <a:rPr lang="ru-RU" dirty="0"/>
              <a:t>Идея простая: наружу, в интернет, организация или семья выходит под одним или несколькими «белыми» IP-адресами провайдера. Внутри же строится своя частная адресация из специальных диапазонов — 10.0.0.0/8, 172.16.0.0/12 или 192.168.0.0/16. Эти адреса используются только локально и не должны появляться в глобальной сети. На границе стоит NAT-устройство: когда внутренний хост отправляет пакет наружу, его приватный адрес заменяется на внешний адрес провайдера.</a:t>
            </a:r>
          </a:p>
          <a:p>
            <a:endParaRPr lang="ru-RU" dirty="0"/>
          </a:p>
          <a:p>
            <a:r>
              <a:rPr lang="ru-RU" dirty="0"/>
              <a:t>Чтобы отличать между собой несколько одновременных соединений разных внутренних машин, NAT использует номера TCP/UDP-портов: исходный порт переписывается в уникальное значение, а в таблице трансляции хранится, какому внутреннему адресу и порту это соответствует. Обычно всё это реализовано в одном коробочном устройстве — домашнем или офисном маршрутизаторе с встроенным файрволом.</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119</a:t>
            </a:fld>
            <a:endParaRPr lang="en-US"/>
          </a:p>
        </p:txBody>
      </p:sp>
    </p:spTree>
    <p:extLst>
      <p:ext uri="{BB962C8B-B14F-4D97-AF65-F5344CB8AC3E}">
        <p14:creationId xmlns:p14="http://schemas.microsoft.com/office/powerpoint/2010/main" val="62948723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ответный пакет возвращается из интернета, он адресован внешнему IP-адресу организации. NAT-блок смотрит не только на этот адрес, но и на порт назначения в заголовке TCP или UDP. По номеру порта он находит запись в своей таблице отображения: там записано, какому приватному адресу и какому исходному порту это соединение «принадлежит». Дальше NAT восстанавливает внутренний IP-адрес и порт, пересчитывает контрольные суммы и отправляет пакет внутрь сети.</a:t>
            </a:r>
          </a:p>
          <a:p>
            <a:endParaRPr lang="ru-RU" dirty="0"/>
          </a:p>
          <a:p>
            <a:r>
              <a:rPr lang="ru-RU" dirty="0"/>
              <a:t>Из-за такой схемы NAT завязан на формат заголовков TCP и UDP и в целом «подглядывает» внутрь полезной нагрузки IP-уровня. Это ломает классический принцип независимости уровней: сетевой уровень становится зависим от конкретных транспортных протоколов. Любой новый транспорт, который не использует привычные поля портов, или приложения, встраивающие IP-адреса в тело пакета (как FTP или некоторые VoIP-схемы), требуют дополнительных «костылей» или не работают через NAT без специальных средств обхода.</a:t>
            </a:r>
          </a:p>
          <a:p>
            <a:endParaRPr lang="ru-RU" dirty="0"/>
          </a:p>
          <a:p>
            <a:r>
              <a:rPr lang="ru-RU" dirty="0"/>
              <a:t>Ещё один важный эффект — потеря полноценной сквозной связности. Пока внутренний хост сам инициировал соединение, ответные пакеты проходят, но удалённому клиенту трудно просто так установить </a:t>
            </a:r>
            <a:r>
              <a:rPr lang="ru-RU" dirty="0" err="1"/>
              <a:t>сессію</a:t>
            </a:r>
            <a:r>
              <a:rPr lang="ru-RU" dirty="0"/>
              <a:t> к машине за NAT: для этого нужны проброс портов, </a:t>
            </a:r>
            <a:r>
              <a:rPr lang="ru-RU" dirty="0" err="1"/>
              <a:t>UPnP</a:t>
            </a:r>
            <a:r>
              <a:rPr lang="ru-RU" dirty="0"/>
              <a:t>, STUN и другие техники. Кроме того, NAT-узел обязан помнить состояние всех активных соединений; если он падает и теряет таблицу, текущие TCP-сессии разрываются.</a:t>
            </a:r>
          </a:p>
          <a:p>
            <a:endParaRPr lang="ru-RU" dirty="0"/>
          </a:p>
          <a:p>
            <a:r>
              <a:rPr lang="ru-RU" dirty="0"/>
              <a:t>Наконец, даже здесь есть верхняя граница: 16-битное поле порта даёт порядка 65 тысяч возможных значений, часть которых зарезервирована. Это ограничивает количество одновременных соединений на один внешний адрес. Тем не менее, несмотря на архитектурные недостатки, NAT остаётся основным практическим механизмом экономии IPv4-адресов и встроенной фильтрации входящего трафика, поэтому массово используется в домашних и малых корпоративных сетях и вряд ли исчезнет сразу после распространения IPv6.</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120</a:t>
            </a:fld>
            <a:endParaRPr lang="en-US"/>
          </a:p>
        </p:txBody>
      </p:sp>
    </p:spTree>
    <p:extLst>
      <p:ext uri="{BB962C8B-B14F-4D97-AF65-F5344CB8AC3E}">
        <p14:creationId xmlns:p14="http://schemas.microsoft.com/office/powerpoint/2010/main" val="277401399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Классический IPv4 отлично послужил интернету, но его 32-битное адресное пространство оказалось слишком маленьким: даже с учётом CIDR и NAT публичные адреса уже фактически закончились. Параллельно растут требования: всё больше смартфонов, «умных» устройств, мультимедиа-сервисов и постоянных подключений.</a:t>
            </a:r>
          </a:p>
          <a:p>
            <a:endParaRPr lang="ru-RU" dirty="0"/>
          </a:p>
          <a:p>
            <a:r>
              <a:rPr lang="ru-RU" dirty="0"/>
              <a:t>Ответом стал IPv6 — новая версия IP с 128-битными адресами. Это на порядки большее пространство, которого хватит на много десятилетий вперёд, даже при неидеальном распределении адресов. IPv6 — не «косметический патч», а отдельный протокол сетевого уровня, он по сути несовместим с IPv4, хотя сохраняет общую архитектуру и работает вместе с TCP, UDP, ICMP, DNS и другими протоколами (иногда с небольшими доработками).</a:t>
            </a:r>
          </a:p>
          <a:p>
            <a:endParaRPr lang="ru-RU" dirty="0"/>
          </a:p>
          <a:p>
            <a:r>
              <a:rPr lang="ru-RU" dirty="0"/>
              <a:t>При его проектировании IETF поставил ряд целей: упростить заголовок и ускорить обработку пакетов маршрутизаторами, уменьшить таблицы маршрутизации за счёт более удобной адресации, встроить механизмы безопасности и улучшенную поддержку качественного обслуживания (</a:t>
            </a:r>
            <a:r>
              <a:rPr lang="ru-RU" dirty="0" err="1"/>
              <a:t>QoS</a:t>
            </a:r>
            <a:r>
              <a:rPr lang="ru-RU" dirty="0"/>
              <a:t>), обеспечить мобильность хостов и возможность дальнейшего развития протокола. Важный пункт — IPv6 должен долго сосуществовать с IPv4, чтобы переход мог идти постепенно, без «переключения рубильника» для всего интернета.</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121</a:t>
            </a:fld>
            <a:endParaRPr lang="en-US"/>
          </a:p>
        </p:txBody>
      </p:sp>
    </p:spTree>
    <p:extLst>
      <p:ext uri="{BB962C8B-B14F-4D97-AF65-F5344CB8AC3E}">
        <p14:creationId xmlns:p14="http://schemas.microsoft.com/office/powerpoint/2010/main" val="330129321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Заголовок IPv6 имеет фиксированный размер 40 байт и начинается полем </a:t>
            </a:r>
            <a:r>
              <a:rPr lang="ru-RU" b="1" dirty="0" err="1"/>
              <a:t>Version</a:t>
            </a:r>
            <a:r>
              <a:rPr lang="ru-RU" dirty="0"/>
              <a:t>, где для IPv6 всегда стоит число 6. Это позволяет отличать пакеты IPv4 и IPv6, хотя на практике часть маршрутизаторов опирается на тип кадра на канальном уровне и не всегда дополнительно проверяет это поле.</a:t>
            </a:r>
            <a:endParaRPr lang="en-US" dirty="0"/>
          </a:p>
          <a:p>
            <a:endParaRPr lang="ru-RU" dirty="0"/>
          </a:p>
          <a:p>
            <a:r>
              <a:rPr lang="ru-RU" dirty="0"/>
              <a:t>Далее идут два поля, связанные с качеством обслуживания. </a:t>
            </a:r>
            <a:r>
              <a:rPr lang="ru-RU" b="1" dirty="0" err="1"/>
              <a:t>Differentiated</a:t>
            </a:r>
            <a:r>
              <a:rPr lang="ru-RU" b="1" dirty="0"/>
              <a:t> </a:t>
            </a:r>
            <a:r>
              <a:rPr lang="ru-RU" b="1" dirty="0" err="1"/>
              <a:t>services</a:t>
            </a:r>
            <a:r>
              <a:rPr lang="ru-RU" dirty="0"/>
              <a:t> используется для назначения класса трафика и работы механизмов </a:t>
            </a:r>
            <a:r>
              <a:rPr lang="ru-RU" dirty="0" err="1"/>
              <a:t>QoS</a:t>
            </a:r>
            <a:r>
              <a:rPr lang="ru-RU" dirty="0"/>
              <a:t>, а </a:t>
            </a:r>
            <a:r>
              <a:rPr lang="ru-RU" b="1" dirty="0" err="1"/>
              <a:t>Flow</a:t>
            </a:r>
            <a:r>
              <a:rPr lang="ru-RU" b="1" dirty="0"/>
              <a:t> </a:t>
            </a:r>
            <a:r>
              <a:rPr lang="ru-RU" b="1" dirty="0" err="1"/>
              <a:t>label</a:t>
            </a:r>
            <a:r>
              <a:rPr lang="ru-RU" dirty="0"/>
              <a:t> позволяет помечать потоки пакетов между двумя узлами с особыми требованиями — например, по задержке или полосе пропускания. Поток идентифицируется тройкой: адрес источника, адрес назначения и метка потока.</a:t>
            </a:r>
            <a:endParaRPr lang="en-US" dirty="0"/>
          </a:p>
          <a:p>
            <a:endParaRPr lang="ru-RU" dirty="0"/>
          </a:p>
          <a:p>
            <a:r>
              <a:rPr lang="ru-RU" dirty="0"/>
              <a:t>Поле </a:t>
            </a:r>
            <a:r>
              <a:rPr lang="ru-RU" b="1" dirty="0" err="1"/>
              <a:t>Payload</a:t>
            </a:r>
            <a:r>
              <a:rPr lang="ru-RU" b="1" dirty="0"/>
              <a:t> </a:t>
            </a:r>
            <a:r>
              <a:rPr lang="ru-RU" b="1" dirty="0" err="1"/>
              <a:t>length</a:t>
            </a:r>
            <a:r>
              <a:rPr lang="ru-RU" dirty="0"/>
              <a:t> задаёт длину полезных данных, которые следуют за заголовком, а поле </a:t>
            </a:r>
            <a:r>
              <a:rPr lang="ru-RU" b="1" dirty="0"/>
              <a:t>Next </a:t>
            </a:r>
            <a:r>
              <a:rPr lang="ru-RU" b="1" dirty="0" err="1"/>
              <a:t>header</a:t>
            </a:r>
            <a:r>
              <a:rPr lang="ru-RU" dirty="0"/>
              <a:t> указывает, какой заголовок идёт далее: один из расширенных заголовков IPv6 или сразу заголовок транспортного протокола, например TCP или UDP. Это позволяет вынести редкие опции в отдельные расширения и упростить основной заголовок.</a:t>
            </a:r>
            <a:endParaRPr lang="en-US" dirty="0"/>
          </a:p>
          <a:p>
            <a:endParaRPr lang="ru-RU" dirty="0"/>
          </a:p>
          <a:p>
            <a:r>
              <a:rPr lang="ru-RU" dirty="0"/>
              <a:t>Поле </a:t>
            </a:r>
            <a:r>
              <a:rPr lang="ru-RU" b="1" dirty="0" err="1"/>
              <a:t>Hop</a:t>
            </a:r>
            <a:r>
              <a:rPr lang="ru-RU" b="1" dirty="0"/>
              <a:t> </a:t>
            </a:r>
            <a:r>
              <a:rPr lang="ru-RU" b="1" dirty="0" err="1"/>
              <a:t>limit</a:t>
            </a:r>
            <a:r>
              <a:rPr lang="ru-RU" dirty="0"/>
              <a:t> — это фактически тот же TTL, но честно называемый числом переходов. На каждом маршрутизаторе значение уменьшается на 1; при нуле пакет удаляется, что предотвращает его бесконечное блуждание по сети.</a:t>
            </a:r>
            <a:endParaRPr lang="en-US" dirty="0"/>
          </a:p>
          <a:p>
            <a:endParaRPr lang="ru-RU" dirty="0"/>
          </a:p>
          <a:p>
            <a:r>
              <a:rPr lang="ru-RU" dirty="0"/>
              <a:t>Далее расположены 128-битные </a:t>
            </a:r>
            <a:r>
              <a:rPr lang="ru-RU" b="1" dirty="0"/>
              <a:t>адрес источника и адрес назначения</a:t>
            </a:r>
            <a:r>
              <a:rPr lang="ru-RU" dirty="0"/>
              <a:t>. Они записываются как восемь групп по 4 шестнадцатеричных цифры, разделённых двоеточиями. Для удобства можно опускать ведущие нули внутри группы и заменять одну последовательность «всё нули» двойным двоеточием </a:t>
            </a:r>
            <a:r>
              <a:rPr lang="ru-RU" sz="1200" kern="1200" dirty="0">
                <a:solidFill>
                  <a:schemeClr val="tx1"/>
                </a:solidFill>
                <a:latin typeface="+mn-lt"/>
                <a:ea typeface="+mn-ea"/>
                <a:cs typeface="+mn-cs"/>
              </a:rPr>
              <a:t>::</a:t>
            </a:r>
            <a:r>
              <a:rPr lang="ru-RU" dirty="0"/>
              <a:t>. Существует даже специальный короткий формат для записи встроенного IPv4-адреса.</a:t>
            </a:r>
            <a:endParaRPr lang="en-US" dirty="0"/>
          </a:p>
          <a:p>
            <a:endParaRPr lang="ru-RU" dirty="0"/>
          </a:p>
          <a:p>
            <a:r>
              <a:rPr lang="ru-RU" dirty="0"/>
              <a:t>Если сравнить заголовок IPv6 с заголовком IPv4, то мы увидим ключевые отличия: исчезли поля длины заголовка, контрольной суммы и фрагментации. Фрагментацией занимается отправляющий хост с помощью определения путевого MTU, а лишняя контрольная сумма убрана ради производительности, так как ошибки уже контролируются на канальном и транспортном уровнях. В итоге заголовок стал проще и быстрее обрабатывается маршрутизаторами, что критично для масштабируемости IPv6.</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122</a:t>
            </a:fld>
            <a:endParaRPr lang="en-US"/>
          </a:p>
        </p:txBody>
      </p:sp>
    </p:spTree>
    <p:extLst>
      <p:ext uri="{BB962C8B-B14F-4D97-AF65-F5344CB8AC3E}">
        <p14:creationId xmlns:p14="http://schemas.microsoft.com/office/powerpoint/2010/main" val="1842907068"/>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Разработка IPv6 шла максимально открыто, и это привело к множеству ожесточённых споров между группами разработчиков, каждая из которых была уверена в правильности своего подхода. В результате почти каждое серьёзное решение рождалось через долгие дискуссии и компромиссы.</a:t>
            </a:r>
            <a:endParaRPr lang="en-US" dirty="0"/>
          </a:p>
          <a:p>
            <a:endParaRPr lang="ru-RU" dirty="0"/>
          </a:p>
          <a:p>
            <a:r>
              <a:rPr lang="ru-RU" dirty="0"/>
              <a:t>Первый крупный вопрос касался длины адреса. Одни боялись, что слишком короткий адрес быстро исчерпается, другие — что слишком длинный заголовок удорожит обработку пакетов. В итоге остановились на фиксированной длине адреса в 128 бит как балансе между «хватит надолго» и разумным размером заголовка.</a:t>
            </a:r>
            <a:endParaRPr lang="en-US" dirty="0"/>
          </a:p>
          <a:p>
            <a:endParaRPr lang="ru-RU" dirty="0"/>
          </a:p>
          <a:p>
            <a:r>
              <a:rPr lang="ru-RU" dirty="0"/>
              <a:t>Затем обсуждали размер поля </a:t>
            </a:r>
            <a:r>
              <a:rPr lang="ru-RU" b="1" dirty="0" err="1"/>
              <a:t>Hop</a:t>
            </a:r>
            <a:r>
              <a:rPr lang="ru-RU" b="1" dirty="0"/>
              <a:t> </a:t>
            </a:r>
            <a:r>
              <a:rPr lang="ru-RU" b="1" dirty="0" err="1"/>
              <a:t>limit</a:t>
            </a:r>
            <a:r>
              <a:rPr lang="ru-RU" dirty="0"/>
              <a:t>. С одной стороны, 8 бит дают максимум 255 переходов, и критики считали это «миной замедленного действия» для будущего интернета. С другой, целью поля является лишь недопущение бесконечного блуждания пакетов, а реальный путь между странами укладывается в единицы–десятки роутеров. Этот аргумент перевесил, и 8-битный счётчик был сохранён.</a:t>
            </a:r>
            <a:endParaRPr lang="en-US" dirty="0"/>
          </a:p>
          <a:p>
            <a:endParaRPr lang="ru-RU" dirty="0"/>
          </a:p>
          <a:p>
            <a:r>
              <a:rPr lang="ru-RU" dirty="0"/>
              <a:t>Следующая тема — допустимый размер пакета. Владельцы суперкомпьютеров настаивали на мегабайтных дейтаграммах, чтобы не дробить крупные передачи. Противники показывали, что такой пакет способен секунд на несколько «забить» медленную линию и резко повысить задержки для интерактивного трафика. Компромисс: обычные пакеты ограничены 64 Кбайт, а для особо крупных данных предусмотрен расширенный заголовок.</a:t>
            </a:r>
            <a:endParaRPr lang="en-US" dirty="0"/>
          </a:p>
          <a:p>
            <a:endParaRPr lang="ru-RU" dirty="0"/>
          </a:p>
          <a:p>
            <a:r>
              <a:rPr lang="ru-RU" dirty="0"/>
              <a:t>Отдельный спор вызвало удаление контрольной суммы из IP-заголовка. Сторонники сохранения сравнивали это с попыткой разогнать машину за счёт снятия тормозов. В ответ приводили простой аргумент: целостность и так контролируется на канальном и транспортном уровнях, а ещё одна проверка только замедляет маршрутизатор. Измерения показали, что пересчёт контрольной суммы IPv4 даёт заметную нагрузку, и в итоге это поле действительно убрали.</a:t>
            </a:r>
            <a:endParaRPr lang="en-US" dirty="0"/>
          </a:p>
          <a:p>
            <a:endParaRPr lang="ru-RU" dirty="0"/>
          </a:p>
          <a:p>
            <a:r>
              <a:rPr lang="ru-RU" dirty="0"/>
              <a:t>Была и дискуссия о поддержке мобильных узлов. Часть участников хотела встроить в IPv6 специальные механизмы для сохранения адреса при перемещении между сетями. Однако к единому решению не пришли, и базовый протокол оставили более «чистым», а мобильность вынесли в отдельные механизмы поверх IPv6.</a:t>
            </a:r>
            <a:endParaRPr lang="en-US" dirty="0"/>
          </a:p>
          <a:p>
            <a:endParaRPr lang="ru-RU" dirty="0"/>
          </a:p>
          <a:p>
            <a:r>
              <a:rPr lang="ru-RU" dirty="0"/>
              <a:t>Самая эмоциональная часть полемики касалась безопасности. Все соглашались, что защита трафика необходима, но спорили, где её реализовывать: на сетевом уровне для всех приложений сразу или на прикладном уровне со сквозным шифрованием «от процесса к процессу». Дополнительным осложняющим фактором стали законы об экспорте криптографии и запреты на шифрование в ряде стран, что вынуждало производителей поддерживать разные варианты реализаций.</a:t>
            </a:r>
            <a:endParaRPr lang="en-US" dirty="0"/>
          </a:p>
          <a:p>
            <a:endParaRPr lang="ru-RU" dirty="0"/>
          </a:p>
          <a:p>
            <a:r>
              <a:rPr lang="ru-RU" dirty="0"/>
              <a:t>Единственный пункт, где спорить было особо не о чем, — это порядок внедрения IPv6. Никто не рассчитывал на одномоментное переключение всего интернета. Консенсус был в том, что сначала появятся небольшие «островки» IPv6, которые будут соединяться через туннели поверх IPv4, а затем соединяться между собой. Дополнительно для плавного перехода были предложены </a:t>
            </a:r>
            <a:r>
              <a:rPr lang="ru-RU" dirty="0" err="1"/>
              <a:t>двухстековые</a:t>
            </a:r>
            <a:r>
              <a:rPr lang="ru-RU" dirty="0"/>
              <a:t> хосты, поддерживающие одновременно IPv4 и IPv6 и выбирающие нужный протокол в зависимости от адреса получателя.</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123</a:t>
            </a:fld>
            <a:endParaRPr lang="en-US"/>
          </a:p>
        </p:txBody>
      </p:sp>
    </p:spTree>
    <p:extLst>
      <p:ext uri="{BB962C8B-B14F-4D97-AF65-F5344CB8AC3E}">
        <p14:creationId xmlns:p14="http://schemas.microsoft.com/office/powerpoint/2010/main" val="2236566793"/>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Помимо IP, используемого для передачи данных, в интернете есть несколько до </a:t>
            </a:r>
            <a:r>
              <a:rPr lang="ru-RU" dirty="0" err="1"/>
              <a:t>полнительных</a:t>
            </a:r>
            <a:r>
              <a:rPr lang="ru-RU" dirty="0"/>
              <a:t> управляющих протоколов сетевого уровня, к которым относятся ICMP, ARP и DHCP. В данном разделе мы рассмотрим их по очереди, описывая те версии, которые соответствуют IPv4 (так как именно они распространены сегодня). У ICMP и DHCP существуют аналогичные версии для IPv6; эквивалентом APR является протокол обнаружения соседей (</a:t>
            </a:r>
            <a:r>
              <a:rPr lang="ru-RU" dirty="0" err="1"/>
              <a:t>Neighbor</a:t>
            </a:r>
            <a:r>
              <a:rPr lang="ru-RU" dirty="0"/>
              <a:t> Discovery Protocol, NDP)</a:t>
            </a: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124</a:t>
            </a:fld>
            <a:endParaRPr lang="en-US"/>
          </a:p>
        </p:txBody>
      </p:sp>
    </p:spTree>
    <p:extLst>
      <p:ext uri="{BB962C8B-B14F-4D97-AF65-F5344CB8AC3E}">
        <p14:creationId xmlns:p14="http://schemas.microsoft.com/office/powerpoint/2010/main" val="4113074170"/>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ICMP — это вспомогательный протокол, с помощью которого маршрутизаторы и хосты сообщают об ошибках и особых ситуациях при обработке IP-пакетов. ICMP-сообщения не ходят сами по себе: каждое ICMP-сообщение вкладывается внутрь обычного IP-пакета и доставляется как обычный трафик.</a:t>
            </a:r>
          </a:p>
          <a:p>
            <a:endParaRPr lang="ru-RU" dirty="0"/>
          </a:p>
          <a:p>
            <a:r>
              <a:rPr lang="ru-RU" dirty="0"/>
              <a:t>Один из базовых типов — </a:t>
            </a:r>
            <a:r>
              <a:rPr lang="ru-RU" b="1" dirty="0"/>
              <a:t>DESTINATION UNREACHABLE</a:t>
            </a:r>
            <a:r>
              <a:rPr lang="ru-RU" dirty="0"/>
              <a:t>. Он используется, когда маршрутизатор не может доставить пакет до адресата: нужная сеть или хост недоступны, либо по пути есть участок с меньшим MTU, а пакет с битом DF нельзя фрагментировать. Так отправитель узнаёт, что маршрут или размер пакета нужно пересмотреть.</a:t>
            </a:r>
          </a:p>
          <a:p>
            <a:endParaRPr lang="ru-RU" dirty="0"/>
          </a:p>
          <a:p>
            <a:r>
              <a:rPr lang="ru-RU" dirty="0"/>
              <a:t>Если пакет слишком долго «гуляет» по сети и его счётчик </a:t>
            </a:r>
            <a:r>
              <a:rPr lang="ru-RU" b="1" dirty="0"/>
              <a:t>TTL</a:t>
            </a:r>
            <a:r>
              <a:rPr lang="ru-RU" dirty="0"/>
              <a:t> уменьшается до нуля, маршрутизатор удаляет такой пакет и отправляет ICMP-сообщение </a:t>
            </a:r>
            <a:r>
              <a:rPr lang="ru-RU" b="1" dirty="0"/>
              <a:t>TIME EXCEEDED</a:t>
            </a:r>
            <a:r>
              <a:rPr lang="ru-RU" dirty="0"/>
              <a:t>. Это сигнал, что, скорее всего, возник маршрутный цикл или TTL выбран слишком маленьким. Именно это сообщение использует утилита </a:t>
            </a:r>
            <a:r>
              <a:rPr lang="ru-RU" b="1" dirty="0" err="1"/>
              <a:t>traceroute</a:t>
            </a:r>
            <a:r>
              <a:rPr lang="ru-RU" dirty="0"/>
              <a:t>: она посылает серию пакетов с TTL = 1, 2, 3 и т. д., а по ответам TIME EXCEEDED восстанавливает список маршрутизаторов на пути.</a:t>
            </a:r>
          </a:p>
          <a:p>
            <a:endParaRPr lang="ru-RU" dirty="0"/>
          </a:p>
          <a:p>
            <a:r>
              <a:rPr lang="ru-RU" dirty="0"/>
              <a:t>Сообщение </a:t>
            </a:r>
            <a:r>
              <a:rPr lang="ru-RU" b="1" dirty="0"/>
              <a:t>PARAMETER PROBLEM</a:t>
            </a:r>
            <a:r>
              <a:rPr lang="ru-RU" dirty="0"/>
              <a:t> говорит о том, что в IP-заголовке обнаружено некорректное значение. Обычно это признак ошибки в реализации протокола на стороне отправителя или одного из промежуточных узлов.</a:t>
            </a:r>
          </a:p>
          <a:p>
            <a:endParaRPr lang="ru-RU" dirty="0"/>
          </a:p>
          <a:p>
            <a:r>
              <a:rPr lang="ru-RU" dirty="0"/>
              <a:t>Тип </a:t>
            </a:r>
            <a:r>
              <a:rPr lang="ru-RU" b="1" dirty="0"/>
              <a:t>REDIRECT</a:t>
            </a:r>
            <a:r>
              <a:rPr lang="ru-RU" dirty="0"/>
              <a:t> применяется, когда маршрутизатор видит, что хост отправляет пакет «не туда». В ответ он посылает ICMP REDIRECT и тем самым подсказывает хосту, через какого </a:t>
            </a:r>
            <a:r>
              <a:rPr lang="ru-RU" dirty="0" err="1"/>
              <a:t>маршрутизаторa</a:t>
            </a:r>
            <a:r>
              <a:rPr lang="ru-RU" dirty="0"/>
              <a:t> лучше отправлять трафик к этому получателю. Так хост постепенно «обучается» более оптимальным маршрутам.</a:t>
            </a:r>
          </a:p>
          <a:p>
            <a:endParaRPr lang="ru-RU" dirty="0"/>
          </a:p>
          <a:p>
            <a:r>
              <a:rPr lang="ru-RU" dirty="0"/>
              <a:t>Самые известные типы ICMP — </a:t>
            </a:r>
            <a:r>
              <a:rPr lang="ru-RU" b="1" dirty="0"/>
              <a:t>ECHO</a:t>
            </a:r>
            <a:r>
              <a:rPr lang="ru-RU" dirty="0"/>
              <a:t> и </a:t>
            </a:r>
            <a:r>
              <a:rPr lang="ru-RU" b="1" dirty="0"/>
              <a:t>ECHO REPLY</a:t>
            </a:r>
            <a:r>
              <a:rPr lang="ru-RU" dirty="0"/>
              <a:t>. Хост отправляет ECHO-запрос и ждёт ECHO-ответ; если он приходит, значит, удалённый узел доступен и по пути до него маршрутизация в порядке. Эти сообщения лежат в основе утилиты </a:t>
            </a:r>
            <a:r>
              <a:rPr lang="ru-RU" b="1" dirty="0" err="1"/>
              <a:t>ping</a:t>
            </a:r>
            <a:r>
              <a:rPr lang="ru-RU" dirty="0"/>
              <a:t>, которой мы проверяем, «</a:t>
            </a:r>
            <a:r>
              <a:rPr lang="ru-RU" dirty="0" err="1"/>
              <a:t>пингуется</a:t>
            </a:r>
            <a:r>
              <a:rPr lang="ru-RU" dirty="0"/>
              <a:t> ли» хост.</a:t>
            </a:r>
          </a:p>
          <a:p>
            <a:endParaRPr lang="ru-RU" dirty="0"/>
          </a:p>
          <a:p>
            <a:r>
              <a:rPr lang="ru-RU" dirty="0"/>
              <a:t>Существуют и другие типы: </a:t>
            </a:r>
            <a:r>
              <a:rPr lang="ru-RU" b="1" dirty="0"/>
              <a:t>TIMESTAMP REQUEST / REPLY</a:t>
            </a:r>
            <a:r>
              <a:rPr lang="ru-RU" dirty="0"/>
              <a:t> позволяют измерять задержку до удалённого узла с учётом временных меток, а </a:t>
            </a:r>
            <a:r>
              <a:rPr lang="ru-RU" b="1" dirty="0"/>
              <a:t>ROUTER ADVERTISEMENT / SOLICITATION</a:t>
            </a:r>
            <a:r>
              <a:rPr lang="ru-RU" dirty="0"/>
              <a:t> помогают хостам автоматически находить ближайшие маршрутизаторы в своей сети. Полный перечень типов и кодов ICMP стандартизирован и публикуется IANA.</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125</a:t>
            </a:fld>
            <a:endParaRPr lang="en-US"/>
          </a:p>
        </p:txBody>
      </p:sp>
    </p:spTree>
    <p:extLst>
      <p:ext uri="{BB962C8B-B14F-4D97-AF65-F5344CB8AC3E}">
        <p14:creationId xmlns:p14="http://schemas.microsoft.com/office/powerpoint/2010/main" val="4033354644"/>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IP-адреса нужны на сетевом уровне, но сама сетевая карта Ethernet работает только с 48-битными MAC-адресами. Поэтому перед отправкой IP-пакета по локальной сети нужно понять, какой MAC-адрес соответствует нужному IP-адресу. Эту задачу решает протокол ARP.</a:t>
            </a:r>
            <a:endParaRPr lang="en-US" dirty="0"/>
          </a:p>
          <a:p>
            <a:endParaRPr lang="ru-RU" dirty="0"/>
          </a:p>
          <a:p>
            <a:r>
              <a:rPr lang="ru-RU" dirty="0"/>
              <a:t>Когда хосту нужно отправить пакет в своей LAN, он сначала узнаёт IP-адрес получателя (например, через DNS), а затем с помощью ARP выясняет его MAC-адрес. Для этого формируется широковещательный ARP-запрос вида: «Кто имеет IP-адрес X.X.X.X?». Все узлы в сегменте его получают, но отвечает только тот, чей IP совпадает, возвращая свой MAC-адрес.</a:t>
            </a:r>
            <a:endParaRPr lang="en-US" dirty="0"/>
          </a:p>
          <a:p>
            <a:endParaRPr lang="ru-RU" dirty="0"/>
          </a:p>
          <a:p>
            <a:r>
              <a:rPr lang="ru-RU" dirty="0"/>
              <a:t>Получив ответ, отправитель запоминает пару IP–MAC в локальном ARP-кэше, чтобы не спрашивать каждый раз заново. Эти записи живут ограниченное время и затем </a:t>
            </a:r>
            <a:r>
              <a:rPr lang="ru-RU" dirty="0" err="1"/>
              <a:t>переобновляются</a:t>
            </a:r>
            <a:r>
              <a:rPr lang="ru-RU" dirty="0"/>
              <a:t>. Аналогично хост узнаёт MAC-адрес маршрутизатора, который используется как шлюз по умолчанию для трафика в другие сети.</a:t>
            </a:r>
            <a:endParaRPr lang="en-US" dirty="0"/>
          </a:p>
          <a:p>
            <a:endParaRPr lang="ru-RU" dirty="0"/>
          </a:p>
          <a:p>
            <a:r>
              <a:rPr lang="ru-RU" dirty="0"/>
              <a:t>Дополнительные механизмы — вроде </a:t>
            </a:r>
            <a:r>
              <a:rPr lang="ru-RU" dirty="0" err="1"/>
              <a:t>gratuitous</a:t>
            </a:r>
            <a:r>
              <a:rPr lang="ru-RU" dirty="0"/>
              <a:t> ARP, когда узел сам объявляет свою пару IP–MAC, или ARP-</a:t>
            </a:r>
            <a:r>
              <a:rPr lang="ru-RU" dirty="0" err="1"/>
              <a:t>proxy</a:t>
            </a:r>
            <a:r>
              <a:rPr lang="ru-RU" dirty="0"/>
              <a:t>, когда маршрутизатор «отвечает за другого» — позволяют автоматически поддерживать таблицы и скрывать границы сетей, не усложняя конфигурацию на хостах.</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126</a:t>
            </a:fld>
            <a:endParaRPr lang="en-US"/>
          </a:p>
        </p:txBody>
      </p:sp>
    </p:spTree>
    <p:extLst>
      <p:ext uri="{BB962C8B-B14F-4D97-AF65-F5344CB8AC3E}">
        <p14:creationId xmlns:p14="http://schemas.microsoft.com/office/powerpoint/2010/main" val="722218089"/>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Чтобы хост смог работать в IP-сети, ему нужны как минимум IP-адрес, маска сети и адрес шлюза по умолчанию. Настраивать всё это вручную на каждом компьютере неудобно и приводит к ошибкам. Для автоматизации этой задачи используется протокол DHCP — протокол динамической настройки хостов.</a:t>
            </a:r>
          </a:p>
          <a:p>
            <a:endParaRPr lang="ru-RU" dirty="0"/>
          </a:p>
          <a:p>
            <a:r>
              <a:rPr lang="ru-RU" dirty="0"/>
              <a:t>В каждой сети, как правило, есть DHCP-сервер. Когда компьютер включается, у него уже есть аппаратный MAC-адрес сетевой карты, но IP-адреса ещё нет. Поэтому он отправляет в сеть широковещательный запрос DHCP DISCOVER: «Есть ли здесь DHCP-сервер?». Сервер, получив этот запрос, выбирает свободный IP-адрес из своего пула и отвечает пакетом DHCP OFFER — «Вот тебе такой-то адрес». Клиент затем подтверждает выбор и получает окончательное подтверждение от сервера.</a:t>
            </a:r>
          </a:p>
          <a:p>
            <a:endParaRPr lang="ru-RU" dirty="0"/>
          </a:p>
          <a:p>
            <a:r>
              <a:rPr lang="ru-RU" dirty="0"/>
              <a:t>Важно, что IP-адрес выдается не навсегда, а на время — в аренду. По окончании срока аренды хост обязан запросить продление; если сервер не продлит аренду, адрес нужно освободить и получить новый. Это не даёт адресам «застаиваться» и позволяет эффективно использовать ограниченное адресное пространство.</a:t>
            </a:r>
          </a:p>
          <a:p>
            <a:endParaRPr lang="ru-RU" dirty="0"/>
          </a:p>
          <a:p>
            <a:r>
              <a:rPr lang="ru-RU" dirty="0"/>
              <a:t>Кроме самого IP-адреса, через DHCP обычно задаются и другие параметры: маска сети, IP-адрес шлюза по умолчанию, DNS-серверы, сервер времени и т. д. Поэтому DHCP стал стандартным механизмом настройки как в корпоративных и домашних сетях, так и у провайдеров, фактически вытеснив более старые протоколы RARP и BOOTP.</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127</a:t>
            </a:fld>
            <a:endParaRPr lang="en-US"/>
          </a:p>
        </p:txBody>
      </p:sp>
    </p:spTree>
    <p:extLst>
      <p:ext uri="{BB962C8B-B14F-4D97-AF65-F5344CB8AC3E}">
        <p14:creationId xmlns:p14="http://schemas.microsoft.com/office/powerpoint/2010/main" val="866521128"/>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Транспортный уровень, вместе с сетевым, образует ядро стеков протоколов. Если сетевой уровень умеет доставлять пакеты от узла к узлу, то транспортный отвечает уже за доставку данных </a:t>
            </a:r>
            <a:r>
              <a:rPr lang="ru-RU" i="1" dirty="0"/>
              <a:t>между процессами</a:t>
            </a:r>
            <a:r>
              <a:rPr lang="ru-RU" dirty="0"/>
              <a:t> на разных устройствах — то есть «от приложения к приложению».</a:t>
            </a:r>
            <a:endParaRPr lang="en-US" dirty="0"/>
          </a:p>
          <a:p>
            <a:endParaRPr lang="ru-RU" dirty="0"/>
          </a:p>
          <a:p>
            <a:r>
              <a:rPr lang="ru-RU" dirty="0"/>
              <a:t>Он опирается на услуги сетевого уровня, но прячет от приложений все детали конкретных сетей: типы каналов, способ маршрутизации, надёжность физических линий и так далее. Задача транспорта — обеспечить нужную степень надёжности, упорядоченности и контроля потока независимо от того, через какие сети фактически проходят данные.</a:t>
            </a:r>
            <a:endParaRPr lang="en-US" dirty="0"/>
          </a:p>
          <a:p>
            <a:endParaRPr lang="ru-RU" dirty="0"/>
          </a:p>
          <a:p>
            <a:r>
              <a:rPr lang="ru-RU" dirty="0"/>
              <a:t>Именно транспортный уровень вводит те абстракции, с которыми привыкли работать программисты: порты, соединения, сессии, потоки байтов. Без него многоуровневая архитектура теряет смысл, потому что приложениям пришлось бы напрямую разбираться в работе сети.</a:t>
            </a:r>
            <a:endParaRPr lang="en-US" dirty="0"/>
          </a:p>
          <a:p>
            <a:endParaRPr lang="ru-RU" dirty="0"/>
          </a:p>
          <a:p>
            <a:r>
              <a:rPr lang="ru-RU" dirty="0"/>
              <a:t>Дальше мы будем говорить о том, какие службы предоставляет транспортный уровень, как через его API решаются задачи надёжности, установления соединения и борьбы с перегрузками, а также подробно разберём его ключевые протоколы — TCP и UDP — и их производительность.</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128</a:t>
            </a:fld>
            <a:endParaRPr lang="en-US"/>
          </a:p>
        </p:txBody>
      </p:sp>
    </p:spTree>
    <p:extLst>
      <p:ext uri="{BB962C8B-B14F-4D97-AF65-F5344CB8AC3E}">
        <p14:creationId xmlns:p14="http://schemas.microsoft.com/office/powerpoint/2010/main" val="3794651034"/>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Транспортный уровень — это слой, который напрямую обслуживает процессы прикладного уровня: именно он обеспечивает передачу данных «от процесса к процессу», используя возможности сетевого уровня как «сырой транспорт».</a:t>
            </a:r>
          </a:p>
          <a:p>
            <a:endParaRPr lang="ru-RU" dirty="0"/>
          </a:p>
          <a:p>
            <a:r>
              <a:rPr lang="ru-RU" dirty="0"/>
              <a:t>Он может предоставлять как соединение-ориентированные службы (с фазами установления, передачи и разрыва соединения), так и службы без установления соединения, похожие на сетевые дейтаграммы. Однако ключевой момент в том, что транспортный уровень всегда работает на конечных устройствах, тогда как сетевой — главным образом на маршрутизаторах, которыми управляют провайдеры.</a:t>
            </a:r>
            <a:endParaRPr lang="en-US" dirty="0"/>
          </a:p>
          <a:p>
            <a:endParaRPr lang="en-US" dirty="0"/>
          </a:p>
          <a:p>
            <a:r>
              <a:rPr lang="ru-RU" dirty="0"/>
              <a:t>Сеть может быть ненадёжной: терять пакеты, рвать соединения, временно «падать». Транспортная подсистема на хосте может поверх такой нестабильной сети восстановить целостность: повторно отправить потерянные данные, при необходимости заново установить связь с удалённой стороной и продолжить передачу с нужного места.</a:t>
            </a:r>
          </a:p>
          <a:p>
            <a:endParaRPr lang="ru-RU" dirty="0"/>
          </a:p>
          <a:p>
            <a:r>
              <a:rPr lang="ru-RU" dirty="0"/>
              <a:t>Благодаря этому прикладные программы используют стабильный, стандартный набор транспортных примитивов — как библиотечные вызовы — и не зависят от конкретной сетевой технологии снизу.</a:t>
            </a:r>
            <a:endParaRPr lang="en-US" dirty="0"/>
          </a:p>
          <a:p>
            <a:endParaRPr lang="en-US" dirty="0"/>
          </a:p>
          <a:p>
            <a:r>
              <a:rPr lang="ru-RU" dirty="0"/>
              <a:t>Поэтому уровни 1–4 обычно рассматривают как поставщика транспортных служб, а уровни выше — как их пользователей, и граница между ними проходит именно по транспортному уровню</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129</a:t>
            </a:fld>
            <a:endParaRPr lang="en-US"/>
          </a:p>
        </p:txBody>
      </p:sp>
    </p:spTree>
    <p:extLst>
      <p:ext uri="{BB962C8B-B14F-4D97-AF65-F5344CB8AC3E}">
        <p14:creationId xmlns:p14="http://schemas.microsoft.com/office/powerpoint/2010/main" val="2930008610"/>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Транспортный уровень предоставляет приложениям абстракцию над сетевым уровнем. Сеть может терять пакеты, искажать их, рвать соединения, но задача транспортной службы — построить поверх такой ненадёжной среды надёжный канал передачи данных.</a:t>
            </a:r>
            <a:endParaRPr lang="en-US" dirty="0"/>
          </a:p>
          <a:p>
            <a:endParaRPr lang="en-US" dirty="0"/>
          </a:p>
          <a:p>
            <a:r>
              <a:rPr lang="ru-RU" dirty="0"/>
              <a:t>Для прикладного процесса это выглядит как «идеальный» поток байт, по принципу: что записали на одном конце — в том же порядке прочитали на другом.</a:t>
            </a:r>
            <a:endParaRPr lang="en-US" dirty="0"/>
          </a:p>
          <a:p>
            <a:endParaRPr lang="ru-RU" dirty="0"/>
          </a:p>
          <a:p>
            <a:r>
              <a:rPr lang="ru-RU" dirty="0"/>
              <a:t>В теории транспортный уровень может предоставлять и </a:t>
            </a:r>
            <a:r>
              <a:rPr lang="ru-RU" dirty="0" err="1"/>
              <a:t>дейтаграммную</a:t>
            </a:r>
            <a:r>
              <a:rPr lang="ru-RU" dirty="0"/>
              <a:t> (ненадёжную) службу, но основной интерес — в службах с установлением соединения: с фазами установления, передачи и разрыва. </a:t>
            </a:r>
            <a:endParaRPr lang="en-US" dirty="0"/>
          </a:p>
          <a:p>
            <a:endParaRPr lang="en-US" dirty="0"/>
          </a:p>
          <a:p>
            <a:r>
              <a:rPr lang="ru-RU" dirty="0"/>
              <a:t>И, в отличие от сетевого уровня, который видят только транспортные подсистемы, транспортные примитивы непосредственно вызывают прикладные программы.</a:t>
            </a:r>
            <a:endParaRPr lang="en-US" dirty="0"/>
          </a:p>
          <a:p>
            <a:endParaRPr lang="en-US" dirty="0"/>
          </a:p>
          <a:p>
            <a:r>
              <a:rPr lang="ru-RU" dirty="0"/>
              <a:t>Поэтому интерфейс должен быть простым: достаточно небольшого набора операций — </a:t>
            </a:r>
            <a:r>
              <a:rPr lang="ru-RU" sz="1200" kern="1200" dirty="0">
                <a:solidFill>
                  <a:schemeClr val="tx1"/>
                </a:solidFill>
                <a:latin typeface="+mn-lt"/>
                <a:ea typeface="+mn-ea"/>
                <a:cs typeface="+mn-cs"/>
              </a:rPr>
              <a:t>LISTEN</a:t>
            </a:r>
            <a:r>
              <a:rPr lang="ru-RU" dirty="0"/>
              <a:t>, </a:t>
            </a:r>
            <a:r>
              <a:rPr lang="ru-RU" sz="1200" kern="1200" dirty="0">
                <a:solidFill>
                  <a:schemeClr val="tx1"/>
                </a:solidFill>
                <a:latin typeface="+mn-lt"/>
                <a:ea typeface="+mn-ea"/>
                <a:cs typeface="+mn-cs"/>
              </a:rPr>
              <a:t>CONNECT</a:t>
            </a:r>
            <a:r>
              <a:rPr lang="ru-RU" dirty="0"/>
              <a:t>, </a:t>
            </a:r>
            <a:r>
              <a:rPr lang="ru-RU" sz="1200" kern="1200" dirty="0">
                <a:solidFill>
                  <a:schemeClr val="tx1"/>
                </a:solidFill>
                <a:latin typeface="+mn-lt"/>
                <a:ea typeface="+mn-ea"/>
                <a:cs typeface="+mn-cs"/>
              </a:rPr>
              <a:t>SEND</a:t>
            </a:r>
            <a:r>
              <a:rPr lang="ru-RU" dirty="0"/>
              <a:t>, </a:t>
            </a:r>
            <a:r>
              <a:rPr lang="ru-RU" sz="1200" kern="1200" dirty="0">
                <a:solidFill>
                  <a:schemeClr val="tx1"/>
                </a:solidFill>
                <a:latin typeface="+mn-lt"/>
                <a:ea typeface="+mn-ea"/>
                <a:cs typeface="+mn-cs"/>
              </a:rPr>
              <a:t>RECEIVE</a:t>
            </a:r>
            <a:r>
              <a:rPr lang="ru-RU" dirty="0"/>
              <a:t>, </a:t>
            </a:r>
            <a:r>
              <a:rPr lang="ru-RU" sz="1200" kern="1200" dirty="0">
                <a:solidFill>
                  <a:schemeClr val="tx1"/>
                </a:solidFill>
                <a:latin typeface="+mn-lt"/>
                <a:ea typeface="+mn-ea"/>
                <a:cs typeface="+mn-cs"/>
              </a:rPr>
              <a:t>DISCONNECT</a:t>
            </a:r>
            <a:r>
              <a:rPr lang="ru-RU" dirty="0"/>
              <a:t>, — чтобы приложения могли устанавливать, использовать и закрывать соединения.</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130</a:t>
            </a:fld>
            <a:endParaRPr lang="en-US"/>
          </a:p>
        </p:txBody>
      </p:sp>
    </p:spTree>
    <p:extLst>
      <p:ext uri="{BB962C8B-B14F-4D97-AF65-F5344CB8AC3E}">
        <p14:creationId xmlns:p14="http://schemas.microsoft.com/office/powerpoint/2010/main" val="3356352409"/>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Рассмотрим, как этот набор примитивов работает в модели клиент–сервер. Сервер сначала вызывает </a:t>
            </a:r>
            <a:r>
              <a:rPr lang="ru-RU" sz="1200" kern="1200" dirty="0">
                <a:solidFill>
                  <a:schemeClr val="tx1"/>
                </a:solidFill>
                <a:latin typeface="+mn-lt"/>
                <a:ea typeface="+mn-ea"/>
                <a:cs typeface="+mn-cs"/>
              </a:rPr>
              <a:t>LISTEN</a:t>
            </a:r>
            <a:r>
              <a:rPr lang="ru-RU" dirty="0"/>
              <a:t> и блокируется в ожидании запроса. Клиент вызывает </a:t>
            </a:r>
            <a:r>
              <a:rPr lang="ru-RU" sz="1200" kern="1200" dirty="0">
                <a:solidFill>
                  <a:schemeClr val="tx1"/>
                </a:solidFill>
                <a:latin typeface="+mn-lt"/>
                <a:ea typeface="+mn-ea"/>
                <a:cs typeface="+mn-cs"/>
              </a:rPr>
              <a:t>CONNECT</a:t>
            </a:r>
            <a:r>
              <a:rPr lang="ru-RU" dirty="0"/>
              <a:t>; транспортная подсистема отправляет серверу сегмент с запросом соединения (</a:t>
            </a:r>
            <a:r>
              <a:rPr lang="ru-RU" sz="1200" kern="1200" dirty="0">
                <a:solidFill>
                  <a:schemeClr val="tx1"/>
                </a:solidFill>
                <a:latin typeface="+mn-lt"/>
                <a:ea typeface="+mn-ea"/>
                <a:cs typeface="+mn-cs"/>
              </a:rPr>
              <a:t>CONNECTION REQUEST</a:t>
            </a:r>
            <a:r>
              <a:rPr lang="ru-RU" dirty="0"/>
              <a:t>). Когда этот сегмент доходит, транспорт на стороне сервера проверяет, что сервер «слушает», снимает блокировку и отвечает сегментом </a:t>
            </a:r>
            <a:r>
              <a:rPr lang="ru-RU" sz="1200" kern="1200" dirty="0">
                <a:solidFill>
                  <a:schemeClr val="tx1"/>
                </a:solidFill>
                <a:latin typeface="+mn-lt"/>
                <a:ea typeface="+mn-ea"/>
                <a:cs typeface="+mn-cs"/>
              </a:rPr>
              <a:t>CONNECTION ACCEPTED</a:t>
            </a:r>
            <a:r>
              <a:rPr lang="ru-RU" dirty="0"/>
              <a:t>. После получения этого ответа клиент разблокируется, и соединение считается установленным.</a:t>
            </a:r>
            <a:endParaRPr lang="en-US" dirty="0"/>
          </a:p>
          <a:p>
            <a:endParaRPr lang="ru-RU" dirty="0"/>
          </a:p>
          <a:p>
            <a:r>
              <a:rPr lang="ru-RU" dirty="0"/>
              <a:t>Дальше обе стороны обмениваются данными с помощью </a:t>
            </a:r>
            <a:r>
              <a:rPr lang="ru-RU" sz="1200" kern="1200" dirty="0">
                <a:solidFill>
                  <a:schemeClr val="tx1"/>
                </a:solidFill>
                <a:latin typeface="+mn-lt"/>
                <a:ea typeface="+mn-ea"/>
                <a:cs typeface="+mn-cs"/>
              </a:rPr>
              <a:t>SEND</a:t>
            </a:r>
            <a:r>
              <a:rPr lang="ru-RU" dirty="0"/>
              <a:t> и </a:t>
            </a:r>
            <a:r>
              <a:rPr lang="ru-RU" sz="1200" kern="1200" dirty="0">
                <a:solidFill>
                  <a:schemeClr val="tx1"/>
                </a:solidFill>
                <a:latin typeface="+mn-lt"/>
                <a:ea typeface="+mn-ea"/>
                <a:cs typeface="+mn-cs"/>
              </a:rPr>
              <a:t>RECEIVE</a:t>
            </a:r>
            <a:r>
              <a:rPr lang="ru-RU" dirty="0"/>
              <a:t>. Для приложения всё выглядит как простой надёжный канал: вызвали </a:t>
            </a:r>
            <a:r>
              <a:rPr lang="ru-RU" sz="1200" kern="1200" dirty="0">
                <a:solidFill>
                  <a:schemeClr val="tx1"/>
                </a:solidFill>
                <a:latin typeface="+mn-lt"/>
                <a:ea typeface="+mn-ea"/>
                <a:cs typeface="+mn-cs"/>
              </a:rPr>
              <a:t>SEND</a:t>
            </a:r>
            <a:r>
              <a:rPr lang="ru-RU" dirty="0"/>
              <a:t> — другая сторона рано или поздно получит эти данные своим </a:t>
            </a:r>
            <a:r>
              <a:rPr lang="ru-RU" sz="1200" kern="1200" dirty="0">
                <a:solidFill>
                  <a:schemeClr val="tx1"/>
                </a:solidFill>
                <a:latin typeface="+mn-lt"/>
                <a:ea typeface="+mn-ea"/>
                <a:cs typeface="+mn-cs"/>
              </a:rPr>
              <a:t>RECEIVE</a:t>
            </a:r>
            <a:r>
              <a:rPr lang="ru-RU" dirty="0"/>
              <a:t>. На самом деле сегмент вкладывается в IP-пакет, тот — во фрейм канального уровня, а транспортные подсистемы занимаются подтверждениями, таймерами, повторной передачей. Всё это скрыто от программиста.</a:t>
            </a:r>
            <a:endParaRPr lang="en-US" dirty="0"/>
          </a:p>
          <a:p>
            <a:endParaRPr lang="ru-RU" dirty="0"/>
          </a:p>
          <a:p>
            <a:r>
              <a:rPr lang="ru-RU" dirty="0"/>
              <a:t>Когда соединение больше не нужно, вызывается </a:t>
            </a:r>
            <a:r>
              <a:rPr lang="ru-RU" sz="1200" kern="1200" dirty="0">
                <a:solidFill>
                  <a:schemeClr val="tx1"/>
                </a:solidFill>
                <a:latin typeface="+mn-lt"/>
                <a:ea typeface="+mn-ea"/>
                <a:cs typeface="+mn-cs"/>
              </a:rPr>
              <a:t>DISCONNECT</a:t>
            </a:r>
            <a:r>
              <a:rPr lang="ru-RU" dirty="0"/>
              <a:t>. В асимметричном варианте одна сторона инициирует разрыв — и связь закрывается целиком. В симметричном варианте каждое направление закрывается независимо: сторона, вызвавшая </a:t>
            </a:r>
            <a:r>
              <a:rPr lang="ru-RU" sz="1200" kern="1200" dirty="0">
                <a:solidFill>
                  <a:schemeClr val="tx1"/>
                </a:solidFill>
                <a:latin typeface="+mn-lt"/>
                <a:ea typeface="+mn-ea"/>
                <a:cs typeface="+mn-cs"/>
              </a:rPr>
              <a:t>DISCONNECT</a:t>
            </a:r>
            <a:r>
              <a:rPr lang="ru-RU" dirty="0"/>
              <a:t>, прекращает отправку, но может ещё принимать данные, пока второе направление тоже не будет закрыто.</a:t>
            </a:r>
            <a:endParaRPr lang="en-US" dirty="0"/>
          </a:p>
          <a:p>
            <a:endParaRPr lang="en-US" dirty="0"/>
          </a:p>
          <a:p>
            <a:r>
              <a:rPr lang="ru-RU" dirty="0"/>
              <a:t>Такое поведение описывается диаграммой состояний соединения, но для пользователя это всё равно сводится к паре простых вызовов API.</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131</a:t>
            </a:fld>
            <a:endParaRPr lang="en-US"/>
          </a:p>
        </p:txBody>
      </p:sp>
    </p:spTree>
    <p:extLst>
      <p:ext uri="{BB962C8B-B14F-4D97-AF65-F5344CB8AC3E}">
        <p14:creationId xmlns:p14="http://schemas.microsoft.com/office/powerpoint/2010/main" val="1435275248"/>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Сокеты Беркли — это стандартный интерфейс, через который приложения используют транспортный уровень, чаще всего TCP. Они появились в BSD UNIX и затем были перенесены практически во все ОС; в Windows аналогичный интерфейс называется </a:t>
            </a:r>
            <a:r>
              <a:rPr lang="ru-RU" dirty="0" err="1"/>
              <a:t>Winsock</a:t>
            </a:r>
            <a:r>
              <a:rPr lang="ru-RU" dirty="0"/>
              <a:t>.</a:t>
            </a:r>
          </a:p>
          <a:p>
            <a:endParaRPr lang="ru-RU" dirty="0"/>
          </a:p>
          <a:p>
            <a:r>
              <a:rPr lang="ru-RU" dirty="0"/>
              <a:t>На стороне сервера работа всегда начинается с вызова </a:t>
            </a:r>
            <a:r>
              <a:rPr lang="ru-RU" sz="1200" kern="1200" dirty="0">
                <a:solidFill>
                  <a:schemeClr val="tx1"/>
                </a:solidFill>
                <a:latin typeface="+mn-lt"/>
                <a:ea typeface="+mn-ea"/>
                <a:cs typeface="+mn-cs"/>
              </a:rPr>
              <a:t>SOCKET</a:t>
            </a:r>
            <a:r>
              <a:rPr lang="ru-RU" dirty="0"/>
              <a:t>: создаётся сокет и внутренняя структура в транспортной подсистеме, а приложению возвращается файловый дескриптор. Затем </a:t>
            </a:r>
            <a:r>
              <a:rPr lang="ru-RU" sz="1200" kern="1200" dirty="0">
                <a:solidFill>
                  <a:schemeClr val="tx1"/>
                </a:solidFill>
                <a:latin typeface="+mn-lt"/>
                <a:ea typeface="+mn-ea"/>
                <a:cs typeface="+mn-cs"/>
              </a:rPr>
              <a:t>BIND</a:t>
            </a:r>
            <a:r>
              <a:rPr lang="ru-RU" dirty="0"/>
              <a:t> привязывает этот сокет к конкретному IP-адресу и номеру порта — так сервер «публикует» свой адрес для клиентов.</a:t>
            </a:r>
          </a:p>
          <a:p>
            <a:endParaRPr lang="ru-RU" dirty="0"/>
          </a:p>
          <a:p>
            <a:r>
              <a:rPr lang="ru-RU" dirty="0"/>
              <a:t>После этого сервер вызывает </a:t>
            </a:r>
            <a:r>
              <a:rPr lang="ru-RU" sz="1200" kern="1200" dirty="0">
                <a:solidFill>
                  <a:schemeClr val="tx1"/>
                </a:solidFill>
                <a:latin typeface="+mn-lt"/>
                <a:ea typeface="+mn-ea"/>
                <a:cs typeface="+mn-cs"/>
              </a:rPr>
              <a:t>LISTEN</a:t>
            </a:r>
            <a:r>
              <a:rPr lang="ru-RU" dirty="0"/>
              <a:t>, чтобы настроить очередь входящих соединений. Сам </a:t>
            </a:r>
            <a:r>
              <a:rPr lang="ru-RU" sz="1200" kern="1200" dirty="0">
                <a:solidFill>
                  <a:schemeClr val="tx1"/>
                </a:solidFill>
                <a:latin typeface="+mn-lt"/>
                <a:ea typeface="+mn-ea"/>
                <a:cs typeface="+mn-cs"/>
              </a:rPr>
              <a:t>LISTEN</a:t>
            </a:r>
            <a:r>
              <a:rPr lang="ru-RU" dirty="0"/>
              <a:t> не блокирует процесс — он просто говорит ядру: «я готов принимать подключения».</a:t>
            </a:r>
            <a:endParaRPr lang="en-US" dirty="0"/>
          </a:p>
          <a:p>
            <a:endParaRPr lang="en-US" dirty="0"/>
          </a:p>
          <a:p>
            <a:r>
              <a:rPr lang="ru-RU" dirty="0"/>
              <a:t>Блокирующее ожидание делает </a:t>
            </a:r>
            <a:r>
              <a:rPr lang="ru-RU" sz="1200" kern="1200" dirty="0">
                <a:solidFill>
                  <a:schemeClr val="tx1"/>
                </a:solidFill>
                <a:latin typeface="+mn-lt"/>
                <a:ea typeface="+mn-ea"/>
                <a:cs typeface="+mn-cs"/>
              </a:rPr>
              <a:t>ACCEPT</a:t>
            </a:r>
            <a:r>
              <a:rPr lang="ru-RU" dirty="0"/>
              <a:t>: он ждёт входящий запрос, при его приходе создаёт </a:t>
            </a:r>
            <a:r>
              <a:rPr lang="ru-RU" i="1" dirty="0"/>
              <a:t>новый</a:t>
            </a:r>
            <a:r>
              <a:rPr lang="ru-RU" dirty="0"/>
              <a:t> сокет, связанный с конкретным клиентом, и возвращает его дескриптор. Основной сокет остаётся «слушать» следующие подключения.</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132</a:t>
            </a:fld>
            <a:endParaRPr lang="en-US"/>
          </a:p>
        </p:txBody>
      </p:sp>
    </p:spTree>
    <p:extLst>
      <p:ext uri="{BB962C8B-B14F-4D97-AF65-F5344CB8AC3E}">
        <p14:creationId xmlns:p14="http://schemas.microsoft.com/office/powerpoint/2010/main" val="1019468919"/>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стороне клиента всё начинается так же с </a:t>
            </a:r>
            <a:r>
              <a:rPr lang="ru-RU" sz="1200" kern="1200" dirty="0">
                <a:solidFill>
                  <a:schemeClr val="tx1"/>
                </a:solidFill>
                <a:latin typeface="+mn-lt"/>
                <a:ea typeface="+mn-ea"/>
                <a:cs typeface="+mn-cs"/>
              </a:rPr>
              <a:t>SOCKET</a:t>
            </a:r>
            <a:r>
              <a:rPr lang="ru-RU" dirty="0"/>
              <a:t>.</a:t>
            </a:r>
            <a:endParaRPr lang="en-US" dirty="0"/>
          </a:p>
          <a:p>
            <a:endParaRPr lang="en-US" dirty="0"/>
          </a:p>
          <a:p>
            <a:r>
              <a:rPr lang="ru-RU" dirty="0"/>
              <a:t>Адрес клиента не важен серверу, поэтому отдельный </a:t>
            </a:r>
            <a:r>
              <a:rPr lang="ru-RU" sz="1200" kern="1200" dirty="0">
                <a:solidFill>
                  <a:schemeClr val="tx1"/>
                </a:solidFill>
                <a:latin typeface="+mn-lt"/>
                <a:ea typeface="+mn-ea"/>
                <a:cs typeface="+mn-cs"/>
              </a:rPr>
              <a:t>BIND</a:t>
            </a:r>
            <a:r>
              <a:rPr lang="ru-RU" dirty="0"/>
              <a:t> обычно не используется — адрес и порт подбирает сама ОС. Далее вызывается </a:t>
            </a:r>
            <a:r>
              <a:rPr lang="ru-RU" sz="1200" kern="1200" dirty="0">
                <a:solidFill>
                  <a:schemeClr val="tx1"/>
                </a:solidFill>
                <a:latin typeface="+mn-lt"/>
                <a:ea typeface="+mn-ea"/>
                <a:cs typeface="+mn-cs"/>
              </a:rPr>
              <a:t>CONNECT</a:t>
            </a:r>
            <a:r>
              <a:rPr lang="ru-RU" dirty="0"/>
              <a:t>: это активный запрос соединения, который блокирует клиента, пока транспортный уровень не согласует с сервером установку соединения. Когда запрос принят, клиент получает рабочий сокет и может передавать данные.</a:t>
            </a:r>
          </a:p>
          <a:p>
            <a:endParaRPr lang="ru-RU" dirty="0"/>
          </a:p>
          <a:p>
            <a:r>
              <a:rPr lang="ru-RU" dirty="0"/>
              <a:t>Передача данных идёт через </a:t>
            </a:r>
            <a:r>
              <a:rPr lang="ru-RU" sz="1200" kern="1200" dirty="0">
                <a:solidFill>
                  <a:schemeClr val="tx1"/>
                </a:solidFill>
                <a:latin typeface="+mn-lt"/>
                <a:ea typeface="+mn-ea"/>
                <a:cs typeface="+mn-cs"/>
              </a:rPr>
              <a:t>SEND</a:t>
            </a:r>
            <a:r>
              <a:rPr lang="ru-RU" dirty="0"/>
              <a:t> и </a:t>
            </a:r>
            <a:r>
              <a:rPr lang="ru-RU" sz="1200" kern="1200" dirty="0">
                <a:solidFill>
                  <a:schemeClr val="tx1"/>
                </a:solidFill>
                <a:latin typeface="+mn-lt"/>
                <a:ea typeface="+mn-ea"/>
                <a:cs typeface="+mn-cs"/>
              </a:rPr>
              <a:t>RECEIVE</a:t>
            </a:r>
            <a:r>
              <a:rPr lang="ru-RU" dirty="0"/>
              <a:t> — поверх TCP это надёжный полнодуплексный поток байтов. Во многих системах эти же сокеты можно читать и писать обычными системными вызовами </a:t>
            </a:r>
            <a:r>
              <a:rPr lang="ru-RU" sz="1200" kern="1200" dirty="0">
                <a:solidFill>
                  <a:schemeClr val="tx1"/>
                </a:solidFill>
                <a:latin typeface="+mn-lt"/>
                <a:ea typeface="+mn-ea"/>
                <a:cs typeface="+mn-cs"/>
              </a:rPr>
              <a:t>READ</a:t>
            </a:r>
            <a:r>
              <a:rPr lang="ru-RU" dirty="0"/>
              <a:t> / </a:t>
            </a:r>
            <a:r>
              <a:rPr lang="ru-RU" sz="1200" kern="1200" dirty="0">
                <a:solidFill>
                  <a:schemeClr val="tx1"/>
                </a:solidFill>
                <a:latin typeface="+mn-lt"/>
                <a:ea typeface="+mn-ea"/>
                <a:cs typeface="+mn-cs"/>
              </a:rPr>
              <a:t>WRITE</a:t>
            </a:r>
            <a:r>
              <a:rPr lang="ru-RU" dirty="0"/>
              <a:t>. Разрыв соединения происходит симметрично: обе стороны в какой-то момент вызывают </a:t>
            </a:r>
            <a:r>
              <a:rPr lang="ru-RU" sz="1200" kern="1200" dirty="0">
                <a:solidFill>
                  <a:schemeClr val="tx1"/>
                </a:solidFill>
                <a:latin typeface="+mn-lt"/>
                <a:ea typeface="+mn-ea"/>
                <a:cs typeface="+mn-cs"/>
              </a:rPr>
              <a:t>CLOSE</a:t>
            </a:r>
            <a:r>
              <a:rPr lang="ru-RU" dirty="0"/>
              <a:t>.</a:t>
            </a:r>
          </a:p>
          <a:p>
            <a:endParaRPr lang="ru-RU" dirty="0"/>
          </a:p>
          <a:p>
            <a:r>
              <a:rPr lang="ru-RU" dirty="0"/>
              <a:t>Преимущество сокетов в том, что один и тот же API работает не только с TCP, но и с </a:t>
            </a:r>
            <a:r>
              <a:rPr lang="ru-RU" dirty="0" err="1"/>
              <a:t>дейтаграммной</a:t>
            </a:r>
            <a:r>
              <a:rPr lang="ru-RU" dirty="0"/>
              <a:t> службой без установления соединения, например с UDP.</a:t>
            </a:r>
            <a:endParaRPr lang="en-US" dirty="0"/>
          </a:p>
          <a:p>
            <a:endParaRPr lang="en-US" dirty="0"/>
          </a:p>
          <a:p>
            <a:r>
              <a:rPr lang="ru-RU" dirty="0"/>
              <a:t>В этом случае </a:t>
            </a:r>
            <a:r>
              <a:rPr lang="ru-RU" sz="1200" kern="1200" dirty="0">
                <a:solidFill>
                  <a:schemeClr val="tx1"/>
                </a:solidFill>
                <a:latin typeface="+mn-lt"/>
                <a:ea typeface="+mn-ea"/>
                <a:cs typeface="+mn-cs"/>
              </a:rPr>
              <a:t>CONNECT</a:t>
            </a:r>
            <a:r>
              <a:rPr lang="ru-RU" dirty="0"/>
              <a:t> просто задаёт удалённый адрес, а </a:t>
            </a:r>
            <a:r>
              <a:rPr lang="ru-RU" sz="1200" kern="1200" dirty="0">
                <a:solidFill>
                  <a:schemeClr val="tx1"/>
                </a:solidFill>
                <a:latin typeface="+mn-lt"/>
                <a:ea typeface="+mn-ea"/>
                <a:cs typeface="+mn-cs"/>
              </a:rPr>
              <a:t>SEND</a:t>
            </a:r>
            <a:r>
              <a:rPr lang="ru-RU" dirty="0"/>
              <a:t> / </a:t>
            </a:r>
            <a:r>
              <a:rPr lang="ru-RU" sz="1200" kern="1200" dirty="0">
                <a:solidFill>
                  <a:schemeClr val="tx1"/>
                </a:solidFill>
                <a:latin typeface="+mn-lt"/>
                <a:ea typeface="+mn-ea"/>
                <a:cs typeface="+mn-cs"/>
              </a:rPr>
              <a:t>RECEIVE</a:t>
            </a:r>
            <a:r>
              <a:rPr lang="ru-RU" dirty="0"/>
              <a:t> или расширенные </a:t>
            </a:r>
            <a:r>
              <a:rPr lang="ru-RU" sz="1200" kern="1200" dirty="0">
                <a:solidFill>
                  <a:schemeClr val="tx1"/>
                </a:solidFill>
                <a:latin typeface="+mn-lt"/>
                <a:ea typeface="+mn-ea"/>
                <a:cs typeface="+mn-cs"/>
              </a:rPr>
              <a:t>SENDTO</a:t>
            </a:r>
            <a:r>
              <a:rPr lang="ru-RU" dirty="0"/>
              <a:t> / </a:t>
            </a:r>
            <a:r>
              <a:rPr lang="ru-RU" sz="1200" kern="1200" dirty="0">
                <a:solidFill>
                  <a:schemeClr val="tx1"/>
                </a:solidFill>
                <a:latin typeface="+mn-lt"/>
                <a:ea typeface="+mn-ea"/>
                <a:cs typeface="+mn-cs"/>
              </a:rPr>
              <a:t>RECEIVEFROM</a:t>
            </a:r>
            <a:r>
              <a:rPr lang="ru-RU" dirty="0"/>
              <a:t> работают с отдельными дейтаграммами.</a:t>
            </a:r>
            <a:endParaRPr lang="en-US" dirty="0"/>
          </a:p>
          <a:p>
            <a:endParaRPr lang="en-US" dirty="0"/>
          </a:p>
          <a:p>
            <a:r>
              <a:rPr lang="ru-RU" dirty="0"/>
              <a:t>На базе сокет-API также реализуют более современные транспортные протоколы — DCCP, SCTP, QUIC — которые добавляют управление перегрузкой и поддержку групп потоков, но для приложения всё это выглядит как работа «через сокет».</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133</a:t>
            </a:fld>
            <a:endParaRPr lang="en-US"/>
          </a:p>
        </p:txBody>
      </p:sp>
    </p:spTree>
    <p:extLst>
      <p:ext uri="{BB962C8B-B14F-4D97-AF65-F5344CB8AC3E}">
        <p14:creationId xmlns:p14="http://schemas.microsoft.com/office/powerpoint/2010/main" val="4228832874"/>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Здесь рассматривается живой пример — самый простой файловый сервер на сокетах. Он работает через интернет: сервер слушает входящие TCP-подключения, а клиент просит у него файл и получает его содержимое по сети.</a:t>
            </a:r>
          </a:p>
          <a:p>
            <a:r>
              <a:rPr lang="ru-RU" dirty="0"/>
              <a:t>На стороне сервера в начале подключаются стандартные заголовки, в том числе сетевые структуры, и задаются константы: размер блока чтения файла и максимальная длина очереди подключений. </a:t>
            </a:r>
          </a:p>
          <a:p>
            <a:endParaRPr lang="ru-RU" dirty="0"/>
          </a:p>
          <a:p>
            <a:r>
              <a:rPr lang="ru-RU" dirty="0"/>
              <a:t>Далее сервер заполняет структуру с IP-адресом и портом, обнуляет её через </a:t>
            </a:r>
            <a:r>
              <a:rPr lang="ru-RU" sz="1200" kern="1200" dirty="0" err="1">
                <a:solidFill>
                  <a:schemeClr val="tx1"/>
                </a:solidFill>
                <a:latin typeface="+mn-lt"/>
                <a:ea typeface="+mn-ea"/>
                <a:cs typeface="+mn-cs"/>
              </a:rPr>
              <a:t>memset</a:t>
            </a:r>
            <a:r>
              <a:rPr lang="ru-RU" dirty="0"/>
              <a:t>, а потом выставляет нужные поля. Функции </a:t>
            </a:r>
            <a:r>
              <a:rPr lang="ru-RU" sz="1200" kern="1200" dirty="0" err="1">
                <a:solidFill>
                  <a:schemeClr val="tx1"/>
                </a:solidFill>
                <a:latin typeface="+mn-lt"/>
                <a:ea typeface="+mn-ea"/>
                <a:cs typeface="+mn-cs"/>
              </a:rPr>
              <a:t>htonl</a:t>
            </a:r>
            <a:r>
              <a:rPr lang="ru-RU" dirty="0"/>
              <a:t> и </a:t>
            </a:r>
            <a:r>
              <a:rPr lang="ru-RU" sz="1200" kern="1200" dirty="0" err="1">
                <a:solidFill>
                  <a:schemeClr val="tx1"/>
                </a:solidFill>
                <a:latin typeface="+mn-lt"/>
                <a:ea typeface="+mn-ea"/>
                <a:cs typeface="+mn-cs"/>
              </a:rPr>
              <a:t>htons</a:t>
            </a:r>
            <a:r>
              <a:rPr lang="ru-RU" dirty="0"/>
              <a:t> переводят числа в сетевой порядок байт, чтобы код одинаково работал и на </a:t>
            </a:r>
            <a:r>
              <a:rPr lang="ru-RU" dirty="0" err="1"/>
              <a:t>little-endian</a:t>
            </a:r>
            <a:r>
              <a:rPr lang="ru-RU" dirty="0"/>
              <a:t>, и на </a:t>
            </a:r>
            <a:r>
              <a:rPr lang="ru-RU" dirty="0" err="1"/>
              <a:t>big-endian</a:t>
            </a:r>
            <a:r>
              <a:rPr lang="ru-RU" dirty="0"/>
              <a:t> машинах.</a:t>
            </a:r>
            <a:r>
              <a:rPr lang="en-US" dirty="0"/>
              <a:t> </a:t>
            </a:r>
            <a:r>
              <a:rPr lang="ru-RU" dirty="0"/>
              <a:t>Порт выбирают из диапазона 1024–65535, чтобы не залезать в область привилегированных портов.</a:t>
            </a:r>
            <a:endParaRPr lang="en-US" dirty="0"/>
          </a:p>
          <a:p>
            <a:endParaRPr lang="ru-RU" dirty="0"/>
          </a:p>
          <a:p>
            <a:r>
              <a:rPr lang="ru-RU" dirty="0"/>
              <a:t>Затем создаётся сокет (</a:t>
            </a:r>
            <a:r>
              <a:rPr lang="ru-RU" sz="1200" kern="1200" dirty="0" err="1">
                <a:solidFill>
                  <a:schemeClr val="tx1"/>
                </a:solidFill>
                <a:latin typeface="+mn-lt"/>
                <a:ea typeface="+mn-ea"/>
                <a:cs typeface="+mn-cs"/>
              </a:rPr>
              <a:t>socket</a:t>
            </a:r>
            <a:r>
              <a:rPr lang="ru-RU" dirty="0"/>
              <a:t>), проверяется на ошибку, и через </a:t>
            </a:r>
            <a:r>
              <a:rPr lang="ru-RU" sz="1200" kern="1200" dirty="0" err="1">
                <a:solidFill>
                  <a:schemeClr val="tx1"/>
                </a:solidFill>
                <a:latin typeface="+mn-lt"/>
                <a:ea typeface="+mn-ea"/>
                <a:cs typeface="+mn-cs"/>
              </a:rPr>
              <a:t>setsockopt</a:t>
            </a:r>
            <a:r>
              <a:rPr lang="ru-RU" dirty="0"/>
              <a:t> включается опция повторного использования порта — это позволяет перезапускать сервер без долгого ожидания освобождения порта. После этого </a:t>
            </a:r>
            <a:r>
              <a:rPr lang="ru-RU" sz="1200" kern="1200" dirty="0" err="1">
                <a:solidFill>
                  <a:schemeClr val="tx1"/>
                </a:solidFill>
                <a:latin typeface="+mn-lt"/>
                <a:ea typeface="+mn-ea"/>
                <a:cs typeface="+mn-cs"/>
              </a:rPr>
              <a:t>bind</a:t>
            </a:r>
            <a:r>
              <a:rPr lang="ru-RU" dirty="0"/>
              <a:t> привязывает адрес к сокету, а </a:t>
            </a:r>
            <a:r>
              <a:rPr lang="ru-RU" sz="1200" kern="1200" dirty="0" err="1">
                <a:solidFill>
                  <a:schemeClr val="tx1"/>
                </a:solidFill>
                <a:latin typeface="+mn-lt"/>
                <a:ea typeface="+mn-ea"/>
                <a:cs typeface="+mn-cs"/>
              </a:rPr>
              <a:t>listen</a:t>
            </a:r>
            <a:r>
              <a:rPr lang="ru-RU" dirty="0"/>
              <a:t> переводит его в режим ожидания подключений и задаёт размер очереди: сколько клиентов можно «припарковать», пока сервер занят текущим запросом.</a:t>
            </a:r>
            <a:endParaRPr lang="en-US" dirty="0"/>
          </a:p>
          <a:p>
            <a:endParaRPr lang="ru-RU" dirty="0"/>
          </a:p>
          <a:p>
            <a:r>
              <a:rPr lang="ru-RU" dirty="0"/>
              <a:t>После инициализации сервер заходит в бесконечный цикл. Вызов </a:t>
            </a:r>
            <a:r>
              <a:rPr lang="ru-RU" sz="1200" kern="1200" dirty="0" err="1">
                <a:solidFill>
                  <a:schemeClr val="tx1"/>
                </a:solidFill>
                <a:latin typeface="+mn-lt"/>
                <a:ea typeface="+mn-ea"/>
                <a:cs typeface="+mn-cs"/>
              </a:rPr>
              <a:t>accept</a:t>
            </a:r>
            <a:r>
              <a:rPr lang="ru-RU" dirty="0"/>
              <a:t> блокирует процесс, пока не придёт новый клиент. Когда соединение установлено, </a:t>
            </a:r>
            <a:r>
              <a:rPr lang="ru-RU" sz="1200" kern="1200" dirty="0" err="1">
                <a:solidFill>
                  <a:schemeClr val="tx1"/>
                </a:solidFill>
                <a:latin typeface="+mn-lt"/>
                <a:ea typeface="+mn-ea"/>
                <a:cs typeface="+mn-cs"/>
              </a:rPr>
              <a:t>accept</a:t>
            </a:r>
            <a:r>
              <a:rPr lang="ru-RU" dirty="0"/>
              <a:t> возвращает новый файловый дескриптор сокета. Через него сервер читает имя файла, по необходимости ждёт, пока оно полностью придёт, затем открывает этот файл и в цикле читает его блоками и записывает в сокет. Когда файл целиком отправлен, сервер закрывает файл, разрывает соединение и возвращается к </a:t>
            </a:r>
            <a:r>
              <a:rPr lang="ru-RU" sz="1200" kern="1200" dirty="0" err="1">
                <a:solidFill>
                  <a:schemeClr val="tx1"/>
                </a:solidFill>
                <a:latin typeface="+mn-lt"/>
                <a:ea typeface="+mn-ea"/>
                <a:cs typeface="+mn-cs"/>
              </a:rPr>
              <a:t>accept</a:t>
            </a:r>
            <a:r>
              <a:rPr lang="ru-RU" dirty="0"/>
              <a:t>, готовый обслуживать следующий запрос.</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134</a:t>
            </a:fld>
            <a:endParaRPr lang="en-US"/>
          </a:p>
        </p:txBody>
      </p:sp>
    </p:spTree>
    <p:extLst>
      <p:ext uri="{BB962C8B-B14F-4D97-AF65-F5344CB8AC3E}">
        <p14:creationId xmlns:p14="http://schemas.microsoft.com/office/powerpoint/2010/main" val="3858105522"/>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Клиентская программа запускается примерно так:</a:t>
            </a:r>
            <a:br>
              <a:rPr lang="ru-RU" dirty="0"/>
            </a:br>
            <a:r>
              <a:rPr lang="ru-RU" sz="1200" kern="1200" dirty="0" err="1">
                <a:solidFill>
                  <a:schemeClr val="tx1"/>
                </a:solidFill>
                <a:latin typeface="+mn-lt"/>
                <a:ea typeface="+mn-ea"/>
                <a:cs typeface="+mn-cs"/>
              </a:rPr>
              <a:t>client</a:t>
            </a:r>
            <a:r>
              <a:rPr lang="ru-RU" sz="1200" kern="1200" dirty="0">
                <a:solidFill>
                  <a:schemeClr val="tx1"/>
                </a:solidFill>
                <a:latin typeface="+mn-lt"/>
                <a:ea typeface="+mn-ea"/>
                <a:cs typeface="+mn-cs"/>
              </a:rPr>
              <a:t> flits.cs.vu.nl /</a:t>
            </a:r>
            <a:r>
              <a:rPr lang="ru-RU" sz="1200" kern="1200" dirty="0" err="1">
                <a:solidFill>
                  <a:schemeClr val="tx1"/>
                </a:solidFill>
                <a:latin typeface="+mn-lt"/>
                <a:ea typeface="+mn-ea"/>
                <a:cs typeface="+mn-cs"/>
              </a:rPr>
              <a:t>usr</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tom</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filename</a:t>
            </a:r>
            <a:r>
              <a:rPr lang="ru-RU" sz="1200" kern="1200" dirty="0">
                <a:solidFill>
                  <a:schemeClr val="tx1"/>
                </a:solidFill>
                <a:latin typeface="+mn-lt"/>
                <a:ea typeface="+mn-ea"/>
                <a:cs typeface="+mn-cs"/>
              </a:rPr>
              <a:t> &gt; f</a:t>
            </a:r>
            <a:br>
              <a:rPr lang="ru-RU" dirty="0"/>
            </a:br>
            <a:r>
              <a:rPr lang="ru-RU" dirty="0"/>
              <a:t>Первый аргумент — имя сервера, второй — путь к файлу на сервере. Стандартный вывод перенаправляется в файл </a:t>
            </a:r>
            <a:r>
              <a:rPr lang="ru-RU" sz="1200" kern="1200" dirty="0">
                <a:solidFill>
                  <a:schemeClr val="tx1"/>
                </a:solidFill>
                <a:latin typeface="+mn-lt"/>
                <a:ea typeface="+mn-ea"/>
                <a:cs typeface="+mn-cs"/>
              </a:rPr>
              <a:t>f</a:t>
            </a:r>
            <a:r>
              <a:rPr lang="ru-RU" dirty="0"/>
              <a:t>, куда и запишется содержимое.</a:t>
            </a:r>
            <a:endParaRPr lang="en-US" dirty="0"/>
          </a:p>
          <a:p>
            <a:endParaRPr lang="ru-RU" dirty="0"/>
          </a:p>
          <a:p>
            <a:r>
              <a:rPr lang="ru-RU" dirty="0"/>
              <a:t>В начале клиент проверяет, что аргументов ровно два. Затем имя сервера из </a:t>
            </a:r>
            <a:r>
              <a:rPr lang="ru-RU" sz="1200" kern="1200" dirty="0" err="1">
                <a:solidFill>
                  <a:schemeClr val="tx1"/>
                </a:solidFill>
                <a:latin typeface="+mn-lt"/>
                <a:ea typeface="+mn-ea"/>
                <a:cs typeface="+mn-cs"/>
              </a:rPr>
              <a:t>argv</a:t>
            </a:r>
            <a:r>
              <a:rPr lang="ru-RU" sz="1200" kern="1200" dirty="0">
                <a:solidFill>
                  <a:schemeClr val="tx1"/>
                </a:solidFill>
                <a:latin typeface="+mn-lt"/>
                <a:ea typeface="+mn-ea"/>
                <a:cs typeface="+mn-cs"/>
              </a:rPr>
              <a:t>[1]</a:t>
            </a:r>
            <a:r>
              <a:rPr lang="ru-RU" dirty="0"/>
              <a:t> переводится в IP-адрес с помощью </a:t>
            </a:r>
            <a:r>
              <a:rPr lang="ru-RU" sz="1200" kern="1200" dirty="0" err="1">
                <a:solidFill>
                  <a:schemeClr val="tx1"/>
                </a:solidFill>
                <a:latin typeface="+mn-lt"/>
                <a:ea typeface="+mn-ea"/>
                <a:cs typeface="+mn-cs"/>
              </a:rPr>
              <a:t>gethostbyname</a:t>
            </a:r>
            <a:r>
              <a:rPr lang="ru-RU" dirty="0"/>
              <a:t>. Эта функция обращается к DNS и возвращает структуру с адресом.</a:t>
            </a:r>
            <a:endParaRPr lang="en-US" dirty="0"/>
          </a:p>
          <a:p>
            <a:endParaRPr lang="ru-RU" dirty="0"/>
          </a:p>
          <a:p>
            <a:r>
              <a:rPr lang="ru-RU" dirty="0"/>
              <a:t>Дальше создаётся сокет, заполняется структура адреса сервера (IP + порт), и вызывается </a:t>
            </a:r>
            <a:r>
              <a:rPr lang="ru-RU" sz="1200" kern="1200" dirty="0" err="1">
                <a:solidFill>
                  <a:schemeClr val="tx1"/>
                </a:solidFill>
                <a:latin typeface="+mn-lt"/>
                <a:ea typeface="+mn-ea"/>
                <a:cs typeface="+mn-cs"/>
              </a:rPr>
              <a:t>connect</a:t>
            </a:r>
            <a:r>
              <a:rPr lang="ru-RU" dirty="0"/>
              <a:t>. Если сервер работает, слушает нужный </a:t>
            </a:r>
            <a:r>
              <a:rPr lang="ru-RU" sz="1200" kern="1200" dirty="0">
                <a:solidFill>
                  <a:schemeClr val="tx1"/>
                </a:solidFill>
                <a:latin typeface="+mn-lt"/>
                <a:ea typeface="+mn-ea"/>
                <a:cs typeface="+mn-cs"/>
              </a:rPr>
              <a:t>SERVER_PORT</a:t>
            </a:r>
            <a:r>
              <a:rPr lang="ru-RU" dirty="0"/>
              <a:t> и в его очереди </a:t>
            </a:r>
            <a:r>
              <a:rPr lang="ru-RU" sz="1200" kern="1200" dirty="0" err="1">
                <a:solidFill>
                  <a:schemeClr val="tx1"/>
                </a:solidFill>
                <a:latin typeface="+mn-lt"/>
                <a:ea typeface="+mn-ea"/>
                <a:cs typeface="+mn-cs"/>
              </a:rPr>
              <a:t>listen</a:t>
            </a:r>
            <a:r>
              <a:rPr lang="ru-RU" dirty="0"/>
              <a:t> есть место, соединение устанавливается. Как только </a:t>
            </a:r>
            <a:r>
              <a:rPr lang="ru-RU" sz="1200" kern="1200" dirty="0" err="1">
                <a:solidFill>
                  <a:schemeClr val="tx1"/>
                </a:solidFill>
                <a:latin typeface="+mn-lt"/>
                <a:ea typeface="+mn-ea"/>
                <a:cs typeface="+mn-cs"/>
              </a:rPr>
              <a:t>connect</a:t>
            </a:r>
            <a:r>
              <a:rPr lang="ru-RU" dirty="0"/>
              <a:t> завершился успешно, клиент записывает в сокет имя файла, включая завершающий нулевой байт — по нему сервер понимает, где заканчивается строка.</a:t>
            </a:r>
            <a:endParaRPr lang="en-US" dirty="0"/>
          </a:p>
          <a:p>
            <a:endParaRPr lang="ru-RU" dirty="0"/>
          </a:p>
          <a:p>
            <a:r>
              <a:rPr lang="ru-RU" dirty="0"/>
              <a:t>После отправки имени клиент входит в цикл: читает данные из сокета блоками и тут же копирует их на стандартный вывод. Когда сервер закрывает соединение (достигнув конца файла), чтение возвращает конец потока, и клиент завершает работу.</a:t>
            </a:r>
            <a:endParaRPr lang="en-US" dirty="0"/>
          </a:p>
          <a:p>
            <a:endParaRPr lang="ru-RU" dirty="0"/>
          </a:p>
          <a:p>
            <a:r>
              <a:rPr lang="ru-RU" dirty="0"/>
              <a:t>Для вывода ошибок используется отдельная функция </a:t>
            </a:r>
            <a:r>
              <a:rPr lang="ru-RU" sz="1200" kern="1200" dirty="0" err="1">
                <a:solidFill>
                  <a:schemeClr val="tx1"/>
                </a:solidFill>
                <a:latin typeface="+mn-lt"/>
                <a:ea typeface="+mn-ea"/>
                <a:cs typeface="+mn-cs"/>
              </a:rPr>
              <a:t>fatal</a:t>
            </a:r>
            <a:r>
              <a:rPr lang="ru-RU" dirty="0"/>
              <a:t>: она печатает сообщение и завершает процесс. У сервера есть аналогичная функция, но она компилируется отдельно, поскольку клиент и сервер — разные программы, обычно работающие на разных машинах.</a:t>
            </a:r>
            <a:endParaRPr lang="en-US" dirty="0"/>
          </a:p>
          <a:p>
            <a:endParaRPr lang="ru-RU" dirty="0"/>
          </a:p>
          <a:p>
            <a:r>
              <a:rPr lang="ru-RU" dirty="0"/>
              <a:t>Важно понимать, что этот пример специально сделан максимально простым. Здесь почти нет нормальной диагностики ошибок, сервер обрабатывает запросы строго последовательно — один за другим — поэтому плохо масштабируется. Никакой авторизации или защиты нет: клиент может запросить любой файл, доступный серверному процессу. Также сделан ряд технических допущений: что имя файла полностью поместится в буфер и придёт за один раз. Тем не менее такой код действительно можно собрать в UNIX-системе и получить рабочий, пусть и примитивный, файловый сервер на базе сокетов.</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135</a:t>
            </a:fld>
            <a:endParaRPr lang="en-US"/>
          </a:p>
        </p:txBody>
      </p:sp>
    </p:spTree>
    <p:extLst>
      <p:ext uri="{BB962C8B-B14F-4D97-AF65-F5344CB8AC3E}">
        <p14:creationId xmlns:p14="http://schemas.microsoft.com/office/powerpoint/2010/main" val="4171458018"/>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136</a:t>
            </a:fld>
            <a:endParaRPr lang="en-US"/>
          </a:p>
        </p:txBody>
      </p:sp>
    </p:spTree>
    <p:extLst>
      <p:ext uri="{BB962C8B-B14F-4D97-AF65-F5344CB8AC3E}">
        <p14:creationId xmlns:p14="http://schemas.microsoft.com/office/powerpoint/2010/main" val="48418728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Транспортные службы для приложений реализуются специальными транспортными протоколами, которые работают между транспортными подсистемами конечных хостов. По своим задачам они напоминают протоколы канального уровня: тоже обрабатывают ошибки, управляют очередями и контролируют скорость передачи данных.</a:t>
            </a:r>
          </a:p>
          <a:p>
            <a:endParaRPr lang="ru-RU" dirty="0"/>
          </a:p>
          <a:p>
            <a:r>
              <a:rPr lang="ru-RU" dirty="0"/>
              <a:t>Но условия работы у них другие. На канальном уровне два узла связаны одним физическим каналом, а на транспортном между ними всегда целая сеть. Поэтому здесь нужно явно указывать адрес получателя, а не просто «отправить по линии».</a:t>
            </a:r>
          </a:p>
          <a:p>
            <a:endParaRPr lang="ru-RU" dirty="0"/>
          </a:p>
          <a:p>
            <a:r>
              <a:rPr lang="ru-RU" dirty="0"/>
              <a:t>Кроме того, сеть может вести себя «капризно»: пакеты могут приходить с большой задержкой, в неправильном порядке или даже дублироваться. Всё это должен уметь корректно обрабатывать транспортный протокол.</a:t>
            </a:r>
            <a:endParaRPr lang="en-US" dirty="0"/>
          </a:p>
          <a:p>
            <a:endParaRPr lang="ru-RU" dirty="0"/>
          </a:p>
          <a:p>
            <a:r>
              <a:rPr lang="ru-RU" dirty="0"/>
              <a:t>Наконец, на транспортном уровне одновременно существует множество соединений, а доступная пропускная способность постоянно меняется из-за конкуренции за ресурсы. Это делает задачи буферизации и управления потоком намного более сложными, чем на канальном уровне, и требует более продуманных механизмов, о которых пойдёт речь дальше.</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137</a:t>
            </a:fld>
            <a:endParaRPr lang="en-US"/>
          </a:p>
        </p:txBody>
      </p:sp>
    </p:spTree>
    <p:extLst>
      <p:ext uri="{BB962C8B-B14F-4D97-AF65-F5344CB8AC3E}">
        <p14:creationId xmlns:p14="http://schemas.microsoft.com/office/powerpoint/2010/main" val="2123578585"/>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транспортном уровне нам нужно адресовать не только хост, но и конкретный процесс/службу на этом хосте. Для этого вводятся TSAP — точки доступа к транспортным службам, в интернете это просто порты. В связке с сетевым адресом (NSAP, например IP) они однозначно определяют конечную точку соединения.</a:t>
            </a:r>
            <a:endParaRPr lang="en-US" dirty="0"/>
          </a:p>
          <a:p>
            <a:endParaRPr lang="ru-RU" dirty="0"/>
          </a:p>
          <a:p>
            <a:r>
              <a:rPr lang="ru-RU" dirty="0"/>
              <a:t>Часть служб закреплена за «хорошо известными» портами — веб-сервер, почтовый сервер и т. д.; их номера можно найти, например, в файле </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etc</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services</a:t>
            </a:r>
            <a:r>
              <a:rPr lang="ru-RU" dirty="0"/>
              <a:t>. Но далеко не все службы постоянные, поэтому используется </a:t>
            </a:r>
            <a:r>
              <a:rPr lang="ru-RU" dirty="0" err="1"/>
              <a:t>сопоставитель</a:t>
            </a:r>
            <a:r>
              <a:rPr lang="ru-RU" dirty="0"/>
              <a:t> портов (</a:t>
            </a:r>
            <a:r>
              <a:rPr lang="ru-RU" dirty="0" err="1"/>
              <a:t>portmapper</a:t>
            </a:r>
            <a:r>
              <a:rPr lang="ru-RU" dirty="0"/>
              <a:t>): клиент по имени службы узнаёт нужный порт и уже к нему подключается.</a:t>
            </a:r>
            <a:endParaRPr lang="en-US" dirty="0"/>
          </a:p>
          <a:p>
            <a:endParaRPr lang="ru-RU" dirty="0"/>
          </a:p>
          <a:p>
            <a:r>
              <a:rPr lang="ru-RU" dirty="0"/>
              <a:t>Другой подход — обрабатывающий сервер, например </a:t>
            </a:r>
            <a:r>
              <a:rPr lang="ru-RU" sz="1200" kern="1200" dirty="0" err="1">
                <a:solidFill>
                  <a:schemeClr val="tx1"/>
                </a:solidFill>
                <a:latin typeface="+mn-lt"/>
                <a:ea typeface="+mn-ea"/>
                <a:cs typeface="+mn-cs"/>
              </a:rPr>
              <a:t>inetd</a:t>
            </a:r>
            <a:r>
              <a:rPr lang="ru-RU" dirty="0"/>
              <a:t> в UNIX. Он слушает сразу несколько портов, принимает входящее соединение и по требованию запускает нужный серверный процесс, передавая ему готовое соединение. Это позволяет не держать редкие сервисы постоянно запущенными.</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138</a:t>
            </a:fld>
            <a:endParaRPr lang="en-US"/>
          </a:p>
        </p:txBody>
      </p:sp>
    </p:spTree>
    <p:extLst>
      <p:ext uri="{BB962C8B-B14F-4D97-AF65-F5344CB8AC3E}">
        <p14:creationId xmlns:p14="http://schemas.microsoft.com/office/powerpoint/2010/main" val="821276694"/>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i="1" dirty="0"/>
              <a:t>«установить соединение»</a:t>
            </a:r>
            <a:r>
              <a:rPr lang="ru-RU" dirty="0"/>
              <a:t> — это не просто отправить один пакет и получить один ответ.</a:t>
            </a:r>
            <a:br>
              <a:rPr lang="ru-RU" dirty="0"/>
            </a:br>
            <a:r>
              <a:rPr lang="ru-RU" dirty="0"/>
              <a:t>Мы работаем поверх реальной сети, а не в идеальном мире. А реальная сеть:</a:t>
            </a:r>
          </a:p>
          <a:p>
            <a:pPr marL="171450" indent="-171450">
              <a:buFont typeface="Arial" panose="020B0604020202020204" pitchFamily="34" charset="0"/>
              <a:buChar char="•"/>
            </a:pPr>
            <a:r>
              <a:rPr lang="ru-RU" dirty="0"/>
              <a:t>может </a:t>
            </a:r>
            <a:r>
              <a:rPr lang="ru-RU" b="1" dirty="0"/>
              <a:t>терять</a:t>
            </a:r>
            <a:r>
              <a:rPr lang="ru-RU" dirty="0"/>
              <a:t> сегменты;</a:t>
            </a:r>
          </a:p>
          <a:p>
            <a:pPr marL="171450" indent="-171450">
              <a:buFont typeface="Arial" panose="020B0604020202020204" pitchFamily="34" charset="0"/>
              <a:buChar char="•"/>
            </a:pPr>
            <a:r>
              <a:rPr lang="ru-RU" dirty="0"/>
              <a:t>может их </a:t>
            </a:r>
            <a:r>
              <a:rPr lang="ru-RU" b="1" dirty="0"/>
              <a:t>сильно задерживать</a:t>
            </a:r>
            <a:r>
              <a:rPr lang="ru-RU" dirty="0"/>
              <a:t>;</a:t>
            </a:r>
          </a:p>
          <a:p>
            <a:pPr marL="171450" indent="-171450">
              <a:buFont typeface="Arial" panose="020B0604020202020204" pitchFamily="34" charset="0"/>
              <a:buChar char="•"/>
            </a:pPr>
            <a:r>
              <a:rPr lang="ru-RU" dirty="0"/>
              <a:t>может </a:t>
            </a:r>
            <a:r>
              <a:rPr lang="ru-RU" b="1" dirty="0"/>
              <a:t>дублировать</a:t>
            </a:r>
            <a:r>
              <a:rPr lang="ru-RU" dirty="0"/>
              <a:t> сообщения;</a:t>
            </a:r>
          </a:p>
          <a:p>
            <a:pPr marL="171450" indent="-171450">
              <a:buFont typeface="Arial" panose="020B0604020202020204" pitchFamily="34" charset="0"/>
              <a:buChar char="•"/>
            </a:pPr>
            <a:r>
              <a:rPr lang="ru-RU" dirty="0"/>
              <a:t>иногда даже доставляет их </a:t>
            </a:r>
            <a:r>
              <a:rPr lang="ru-RU" b="1" dirty="0"/>
              <a:t>в неправильном порядке</a:t>
            </a:r>
            <a:r>
              <a:rPr lang="ru-RU" dirty="0"/>
              <a:t>.</a:t>
            </a:r>
          </a:p>
          <a:p>
            <a:endParaRPr lang="ru-RU" dirty="0"/>
          </a:p>
          <a:p>
            <a:r>
              <a:rPr lang="ru-RU" dirty="0"/>
              <a:t>Теперь давайте представим опасный сценарий. Клиент устанавливает соединение с банком и посылает запрос: «Перевести большую сумму на такой-то счёт».</a:t>
            </a:r>
            <a:endParaRPr lang="en-US" dirty="0"/>
          </a:p>
          <a:p>
            <a:br>
              <a:rPr lang="ru-RU" dirty="0"/>
            </a:br>
            <a:r>
              <a:rPr lang="ru-RU" dirty="0"/>
              <a:t>Пакеты с этим запросом попадают в перегруженный участок сети, «застревают» там и приходят с огромной задержкой. Клиент думает, что запрос потерялся, и отправляет его ещё раз. Вторая попытка проходит быстро, банк переводит деньги, соединение закрывается — всё вроде нормально.</a:t>
            </a:r>
            <a:endParaRPr lang="en-US" dirty="0"/>
          </a:p>
          <a:p>
            <a:endParaRPr lang="ru-RU" dirty="0"/>
          </a:p>
          <a:p>
            <a:r>
              <a:rPr lang="ru-RU" dirty="0"/>
              <a:t>Но позже первая, старая копия запроса наконец добирается до банка. С точки зрения банка это выглядит как новый запрос на перевод: структура пакета правильная, соединение устанавливается, и если протокол не защищён от таких ситуаций, банк может выполнить перевод </a:t>
            </a:r>
            <a:r>
              <a:rPr lang="ru-RU" b="1" dirty="0"/>
              <a:t>второй раз</a:t>
            </a:r>
            <a:r>
              <a:rPr lang="ru-RU" dirty="0"/>
              <a:t>.</a:t>
            </a:r>
          </a:p>
          <a:p>
            <a:endParaRPr lang="ru-RU" dirty="0"/>
          </a:p>
          <a:p>
            <a:r>
              <a:rPr lang="ru-RU" dirty="0"/>
              <a:t>Почему это важно? Потому что </a:t>
            </a:r>
            <a:r>
              <a:rPr lang="ru-RU" b="1" dirty="0"/>
              <a:t>протоколы должны быть корректны не только в типичных случаях, но и в крайних, маловероятных сценариях</a:t>
            </a:r>
            <a:r>
              <a:rPr lang="ru-RU" dirty="0"/>
              <a:t>. Сеть может вести себя «странно» — и всё равно алгоритмы не должны допускать незаметных логических ошибок.</a:t>
            </a:r>
          </a:p>
          <a:p>
            <a:endParaRPr lang="ru-RU" dirty="0"/>
          </a:p>
          <a:p>
            <a:r>
              <a:rPr lang="ru-RU" dirty="0"/>
              <a:t>Задача транспортного протокола здесь — научиться </a:t>
            </a:r>
            <a:r>
              <a:rPr lang="ru-RU" b="1" dirty="0"/>
              <a:t>распознавать и отбрасывать задержавшиеся дубликаты</a:t>
            </a:r>
            <a:r>
              <a:rPr lang="ru-RU" dirty="0"/>
              <a:t>, чтобы такие «призрачные» запросы не приводили к повторным операциям.</a:t>
            </a:r>
          </a:p>
        </p:txBody>
      </p:sp>
      <p:sp>
        <p:nvSpPr>
          <p:cNvPr id="4" name="Slide Number Placeholder 3"/>
          <p:cNvSpPr>
            <a:spLocks noGrp="1"/>
          </p:cNvSpPr>
          <p:nvPr>
            <p:ph type="sldNum" sz="quarter" idx="5"/>
          </p:nvPr>
        </p:nvSpPr>
        <p:spPr/>
        <p:txBody>
          <a:bodyPr/>
          <a:lstStyle/>
          <a:p>
            <a:fld id="{4F384885-B771-4961-99C6-DBB22F186DFF}" type="slidenum">
              <a:rPr lang="en-US" smtClean="0"/>
              <a:t>139</a:t>
            </a:fld>
            <a:endParaRPr lang="en-US"/>
          </a:p>
        </p:txBody>
      </p:sp>
    </p:spTree>
    <p:extLst>
      <p:ext uri="{BB962C8B-B14F-4D97-AF65-F5344CB8AC3E}">
        <p14:creationId xmlns:p14="http://schemas.microsoft.com/office/powerpoint/2010/main" val="1853829387"/>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Чтобы надёжно отличать старые сегменты от новых, сначала нужно договориться об одном фундаментальном правиле: </a:t>
            </a:r>
            <a:r>
              <a:rPr lang="ru-RU" b="1" dirty="0"/>
              <a:t>пакеты не могут жить в сети бесконечно долго.</a:t>
            </a:r>
            <a:endParaRPr lang="en-US" b="1" dirty="0"/>
          </a:p>
          <a:p>
            <a:endParaRPr lang="ru-RU" dirty="0"/>
          </a:p>
          <a:p>
            <a:r>
              <a:rPr lang="ru-RU" dirty="0"/>
              <a:t>Мы вводим ограничение на максимальное время, которое пакет может провести «в пути» — с учётом:</a:t>
            </a:r>
          </a:p>
          <a:p>
            <a:pPr marL="171450" indent="-171450">
              <a:buFont typeface="Arial" panose="020B0604020202020204" pitchFamily="34" charset="0"/>
              <a:buChar char="•"/>
            </a:pPr>
            <a:r>
              <a:rPr lang="ru-RU" dirty="0"/>
              <a:t>задержек в очередях;</a:t>
            </a:r>
          </a:p>
          <a:p>
            <a:pPr marL="171450" indent="-171450">
              <a:buFont typeface="Arial" panose="020B0604020202020204" pitchFamily="34" charset="0"/>
              <a:buChar char="•"/>
            </a:pPr>
            <a:r>
              <a:rPr lang="ru-RU" dirty="0"/>
              <a:t>обходных маршрутов;</a:t>
            </a:r>
          </a:p>
          <a:p>
            <a:pPr marL="171450" indent="-171450">
              <a:buFont typeface="Arial" panose="020B0604020202020204" pitchFamily="34" charset="0"/>
              <a:buChar char="•"/>
            </a:pPr>
            <a:r>
              <a:rPr lang="ru-RU" dirty="0"/>
              <a:t>возможных повторных передач.</a:t>
            </a:r>
            <a:endParaRPr lang="en-US" dirty="0"/>
          </a:p>
          <a:p>
            <a:pPr marL="0" indent="0">
              <a:buFont typeface="Arial" panose="020B0604020202020204" pitchFamily="34" charset="0"/>
              <a:buNone/>
            </a:pPr>
            <a:endParaRPr lang="ru-RU" dirty="0"/>
          </a:p>
          <a:p>
            <a:r>
              <a:rPr lang="ru-RU" dirty="0"/>
              <a:t>Есть несколько подходов:</a:t>
            </a:r>
          </a:p>
          <a:p>
            <a:r>
              <a:rPr lang="ru-RU" b="1" dirty="0"/>
              <a:t>Проектирование сети с ограничениями.</a:t>
            </a:r>
            <a:br>
              <a:rPr lang="ru-RU" dirty="0"/>
            </a:br>
            <a:r>
              <a:rPr lang="ru-RU" dirty="0"/>
              <a:t>То есть на уровне архитектуры гарантировать, что пакеты не будут бесконечно крутиться по кольцам и сильно задерживаться. Это связано с алгоритмами маршрутизации и предотвращением зацикливания.</a:t>
            </a:r>
            <a:endParaRPr lang="en-US" dirty="0"/>
          </a:p>
          <a:p>
            <a:endParaRPr lang="ru-RU" dirty="0"/>
          </a:p>
          <a:p>
            <a:r>
              <a:rPr lang="ru-RU" b="1" dirty="0"/>
              <a:t>Счётчик переходов (</a:t>
            </a:r>
            <a:r>
              <a:rPr lang="ru-RU" b="1" dirty="0" err="1"/>
              <a:t>hop</a:t>
            </a:r>
            <a:r>
              <a:rPr lang="ru-RU" b="1" dirty="0"/>
              <a:t> </a:t>
            </a:r>
            <a:r>
              <a:rPr lang="ru-RU" b="1" dirty="0" err="1"/>
              <a:t>count</a:t>
            </a:r>
            <a:r>
              <a:rPr lang="ru-RU" b="1" dirty="0"/>
              <a:t> / TTL).</a:t>
            </a:r>
            <a:br>
              <a:rPr lang="ru-RU" dirty="0"/>
            </a:br>
            <a:r>
              <a:rPr lang="ru-RU" dirty="0"/>
              <a:t>В каждый пакет помещаем число переходов через маршрутизаторы — при каждом хопе уменьшаем счётчик. Когда он достигает нуля, пакет просто уничтожается. Так мы ограничиваем длину пути, а значит, и время жизни.</a:t>
            </a:r>
            <a:endParaRPr lang="en-US" dirty="0"/>
          </a:p>
          <a:p>
            <a:endParaRPr lang="ru-RU" dirty="0"/>
          </a:p>
          <a:p>
            <a:r>
              <a:rPr lang="ru-RU" b="1" dirty="0"/>
              <a:t>Временная метка.</a:t>
            </a:r>
            <a:br>
              <a:rPr lang="ru-RU" dirty="0"/>
            </a:br>
            <a:r>
              <a:rPr lang="ru-RU" dirty="0"/>
              <a:t>Пакет помечается временем отправки. Маршрутизаторы знают максимальный «допустимый возраст» пакета и отбрасывают всё, что старше этого значения. Для этого требуется согласованное время (или хотя бы оцениваемые рамки).</a:t>
            </a:r>
          </a:p>
          <a:p>
            <a:endParaRPr lang="ru-RU" dirty="0"/>
          </a:p>
          <a:p>
            <a:r>
              <a:rPr lang="ru-RU" dirty="0"/>
              <a:t>Поверх этого вводится понятие </a:t>
            </a:r>
            <a:r>
              <a:rPr lang="ru-RU" b="1" dirty="0"/>
              <a:t>периода T</a:t>
            </a:r>
            <a:r>
              <a:rPr lang="ru-RU" dirty="0"/>
              <a:t> — это время, за которое мы можем быть уверены, что:</a:t>
            </a:r>
          </a:p>
          <a:p>
            <a:r>
              <a:rPr lang="ru-RU" dirty="0"/>
              <a:t>сам пакет уже исчез из сети;</a:t>
            </a:r>
          </a:p>
          <a:p>
            <a:r>
              <a:rPr lang="ru-RU" dirty="0"/>
              <a:t>и все его </a:t>
            </a:r>
            <a:r>
              <a:rPr lang="ru-RU" i="1" dirty="0"/>
              <a:t>подтверждения</a:t>
            </a:r>
            <a:r>
              <a:rPr lang="ru-RU" dirty="0"/>
              <a:t> тоже дошли или были потеряны.</a:t>
            </a:r>
            <a:endParaRPr lang="en-US" dirty="0"/>
          </a:p>
          <a:p>
            <a:endParaRPr lang="ru-RU" dirty="0"/>
          </a:p>
          <a:p>
            <a:r>
              <a:rPr lang="ru-RU" dirty="0"/>
              <a:t>После того как мы выдержали период T, можно считать, что </a:t>
            </a:r>
            <a:r>
              <a:rPr lang="ru-RU" b="1" dirty="0"/>
              <a:t>следов старого пакета больше не осталось</a:t>
            </a:r>
            <a:r>
              <a:rPr lang="ru-RU" dirty="0"/>
              <a:t>.</a:t>
            </a:r>
          </a:p>
          <a:p>
            <a:endParaRPr lang="en-US" dirty="0"/>
          </a:p>
          <a:p>
            <a:r>
              <a:rPr lang="ru-RU" dirty="0"/>
              <a:t>Дальше идея такая:</a:t>
            </a:r>
            <a:br>
              <a:rPr lang="ru-RU" dirty="0"/>
            </a:br>
            <a:r>
              <a:rPr lang="ru-RU" dirty="0"/>
              <a:t>отправитель нумерует сегменты </a:t>
            </a:r>
            <a:r>
              <a:rPr lang="ru-RU" b="1" dirty="0"/>
              <a:t>порядковыми номерами</a:t>
            </a:r>
            <a:r>
              <a:rPr lang="ru-RU" dirty="0"/>
              <a:t> и гарантирует, что </a:t>
            </a:r>
            <a:r>
              <a:rPr lang="ru-RU" b="1" dirty="0"/>
              <a:t>один и тот же номер не будет использоваться снова раньше, чем через T секунд</a:t>
            </a:r>
            <a:r>
              <a:rPr lang="ru-RU" dirty="0"/>
              <a:t>.</a:t>
            </a:r>
          </a:p>
          <a:p>
            <a:endParaRPr lang="en-US" dirty="0"/>
          </a:p>
          <a:p>
            <a:r>
              <a:rPr lang="ru-RU" dirty="0"/>
              <a:t>Отсюда вытекают два технических требования:</a:t>
            </a:r>
          </a:p>
          <a:p>
            <a:pPr marL="171450" indent="-171450">
              <a:buFont typeface="Arial" panose="020B0604020202020204" pitchFamily="34" charset="0"/>
              <a:buChar char="•"/>
            </a:pPr>
            <a:r>
              <a:rPr lang="ru-RU" dirty="0"/>
              <a:t>Пространство номеров должно быть достаточно большим, чтобы не «обойти круг» слишком быстро.</a:t>
            </a:r>
          </a:p>
          <a:p>
            <a:pPr marL="171450" indent="-171450">
              <a:buFont typeface="Arial" panose="020B0604020202020204" pitchFamily="34" charset="0"/>
              <a:buChar char="•"/>
            </a:pPr>
            <a:r>
              <a:rPr lang="ru-RU" dirty="0"/>
              <a:t>Скорость выдачи номеров (то есть скорость передачи сегментов) ограничена так, чтобы не переполнить это пространство внутри интервала T.</a:t>
            </a:r>
          </a:p>
          <a:p>
            <a:endParaRPr lang="en-US" dirty="0"/>
          </a:p>
          <a:p>
            <a:r>
              <a:rPr lang="ru-RU" dirty="0"/>
              <a:t>Тогда любой задержавшийся дубликат, даже если он вылезет из сети в самый неудачный момент, </a:t>
            </a:r>
            <a:r>
              <a:rPr lang="ru-RU" b="1" dirty="0"/>
              <a:t>не совпадёт по номеру</a:t>
            </a:r>
            <a:r>
              <a:rPr lang="ru-RU" dirty="0"/>
              <a:t> с актуальными сегментами и будет корректно отброшен протоколом.</a:t>
            </a:r>
          </a:p>
        </p:txBody>
      </p:sp>
      <p:sp>
        <p:nvSpPr>
          <p:cNvPr id="4" name="Slide Number Placeholder 3"/>
          <p:cNvSpPr>
            <a:spLocks noGrp="1"/>
          </p:cNvSpPr>
          <p:nvPr>
            <p:ph type="sldNum" sz="quarter" idx="5"/>
          </p:nvPr>
        </p:nvSpPr>
        <p:spPr/>
        <p:txBody>
          <a:bodyPr/>
          <a:lstStyle/>
          <a:p>
            <a:fld id="{4F384885-B771-4961-99C6-DBB22F186DFF}" type="slidenum">
              <a:rPr lang="en-US" smtClean="0"/>
              <a:t>140</a:t>
            </a:fld>
            <a:endParaRPr lang="en-US"/>
          </a:p>
        </p:txBody>
      </p:sp>
    </p:spTree>
    <p:extLst>
      <p:ext uri="{BB962C8B-B14F-4D97-AF65-F5344CB8AC3E}">
        <p14:creationId xmlns:p14="http://schemas.microsoft.com/office/powerpoint/2010/main" val="420372568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Даже при аккуратной нумерации сегментов остаётся один особый, болезненный момент — </a:t>
            </a:r>
            <a:r>
              <a:rPr lang="ru-RU" b="1" dirty="0"/>
              <a:t>само установление соединения</a:t>
            </a:r>
            <a:r>
              <a:rPr lang="ru-RU" dirty="0"/>
              <a:t>. Проблема в том, что когда на принимающей стороне приходит сегмент вида </a:t>
            </a:r>
            <a:r>
              <a:rPr lang="ru-RU" sz="1200" kern="1200" dirty="0">
                <a:solidFill>
                  <a:schemeClr val="tx1"/>
                </a:solidFill>
                <a:latin typeface="+mn-lt"/>
                <a:ea typeface="+mn-ea"/>
                <a:cs typeface="+mn-cs"/>
              </a:rPr>
              <a:t>CONNECTION REQUEST</a:t>
            </a:r>
            <a:r>
              <a:rPr lang="ru-RU" dirty="0"/>
              <a:t> с некоторым начальным порядковым номером, получатель ещё </a:t>
            </a:r>
            <a:r>
              <a:rPr lang="ru-RU" b="1" dirty="0"/>
              <a:t>не знает историю этого номера</a:t>
            </a:r>
            <a:r>
              <a:rPr lang="ru-RU" dirty="0"/>
              <a:t>. Он не может по памяти понять: это новый запрос или задержавшийся дубликат от старого, давно закрытого соединения?</a:t>
            </a:r>
          </a:p>
          <a:p>
            <a:endParaRPr lang="ru-RU" dirty="0"/>
          </a:p>
          <a:p>
            <a:r>
              <a:rPr lang="ru-RU" dirty="0"/>
              <a:t>Решение, предложенное Томлинсоном, — это протокол </a:t>
            </a:r>
            <a:r>
              <a:rPr lang="ru-RU" b="1" dirty="0"/>
              <a:t>«тройного рукопожатия»</a:t>
            </a:r>
            <a:r>
              <a:rPr lang="ru-RU" dirty="0"/>
              <a:t>:</a:t>
            </a:r>
          </a:p>
          <a:p>
            <a:r>
              <a:rPr lang="ru-RU" b="1" dirty="0"/>
              <a:t>Шаг 1.</a:t>
            </a:r>
            <a:r>
              <a:rPr lang="ru-RU" dirty="0"/>
              <a:t> Хост 1 → Хосту 2: сегмент </a:t>
            </a:r>
            <a:r>
              <a:rPr lang="ru-RU" sz="1200" kern="1200" dirty="0">
                <a:solidFill>
                  <a:schemeClr val="tx1"/>
                </a:solidFill>
                <a:latin typeface="+mn-lt"/>
                <a:ea typeface="+mn-ea"/>
                <a:cs typeface="+mn-cs"/>
              </a:rPr>
              <a:t>CONNECTION REQUEST</a:t>
            </a:r>
            <a:r>
              <a:rPr lang="ru-RU" dirty="0"/>
              <a:t> с начальным номером </a:t>
            </a:r>
            <a:r>
              <a:rPr lang="ru-RU" sz="1200" kern="1200" dirty="0">
                <a:solidFill>
                  <a:schemeClr val="tx1"/>
                </a:solidFill>
                <a:latin typeface="+mn-lt"/>
                <a:ea typeface="+mn-ea"/>
                <a:cs typeface="+mn-cs"/>
              </a:rPr>
              <a:t>x</a:t>
            </a:r>
            <a:r>
              <a:rPr lang="ru-RU" dirty="0"/>
              <a:t>.</a:t>
            </a:r>
          </a:p>
          <a:p>
            <a:r>
              <a:rPr lang="ru-RU" b="1" dirty="0"/>
              <a:t>Шаг 2.</a:t>
            </a:r>
            <a:r>
              <a:rPr lang="ru-RU" dirty="0"/>
              <a:t> Хост 2 → Хосту 1: сегмент </a:t>
            </a:r>
            <a:r>
              <a:rPr lang="ru-RU" sz="1200" kern="1200" dirty="0">
                <a:solidFill>
                  <a:schemeClr val="tx1"/>
                </a:solidFill>
                <a:latin typeface="+mn-lt"/>
                <a:ea typeface="+mn-ea"/>
                <a:cs typeface="+mn-cs"/>
              </a:rPr>
              <a:t>ACK(x)</a:t>
            </a:r>
            <a:r>
              <a:rPr lang="ru-RU" dirty="0"/>
              <a:t> + свой начальный номер </a:t>
            </a:r>
            <a:r>
              <a:rPr lang="ru-RU" sz="1200" kern="1200" dirty="0">
                <a:solidFill>
                  <a:schemeClr val="tx1"/>
                </a:solidFill>
                <a:latin typeface="+mn-lt"/>
                <a:ea typeface="+mn-ea"/>
                <a:cs typeface="+mn-cs"/>
              </a:rPr>
              <a:t>y</a:t>
            </a:r>
            <a:r>
              <a:rPr lang="ru-RU" dirty="0"/>
              <a:t>.</a:t>
            </a:r>
            <a:br>
              <a:rPr lang="ru-RU" dirty="0"/>
            </a:br>
            <a:r>
              <a:rPr lang="ru-RU" dirty="0"/>
              <a:t>Тем самым хост 2 говорит: «Я вижу твой запрос, вот мой стартовый номер. Подтверди, что ты действительно хочешь это соединение».</a:t>
            </a:r>
          </a:p>
          <a:p>
            <a:r>
              <a:rPr lang="ru-RU" b="1" dirty="0"/>
              <a:t>Шаг 3.</a:t>
            </a:r>
            <a:r>
              <a:rPr lang="ru-RU" dirty="0"/>
              <a:t> Хост 1 → Хосту 2: подтверждает </a:t>
            </a:r>
            <a:r>
              <a:rPr lang="ru-RU" sz="1200" kern="1200" dirty="0">
                <a:solidFill>
                  <a:schemeClr val="tx1"/>
                </a:solidFill>
                <a:latin typeface="+mn-lt"/>
                <a:ea typeface="+mn-ea"/>
                <a:cs typeface="+mn-cs"/>
              </a:rPr>
              <a:t>y</a:t>
            </a:r>
            <a:r>
              <a:rPr lang="ru-RU" dirty="0"/>
              <a:t> в первом сегменте с данными (или отдельным ACK).</a:t>
            </a:r>
            <a:br>
              <a:rPr lang="ru-RU" dirty="0"/>
            </a:br>
            <a:r>
              <a:rPr lang="ru-RU" dirty="0"/>
              <a:t>Только после этого оба считают соединение </a:t>
            </a:r>
            <a:r>
              <a:rPr lang="ru-RU" b="1" dirty="0"/>
              <a:t>надёжно установленным</a:t>
            </a:r>
            <a:r>
              <a:rPr lang="ru-RU" dirty="0"/>
              <a:t>.</a:t>
            </a:r>
          </a:p>
          <a:p>
            <a:endParaRPr lang="ru-RU" dirty="0"/>
          </a:p>
          <a:p>
            <a:r>
              <a:rPr lang="ru-RU" dirty="0"/>
              <a:t>Теперь посмотрим, как это помогает с задержавшимися дубликатами:</a:t>
            </a:r>
          </a:p>
          <a:p>
            <a:r>
              <a:rPr lang="ru-RU" dirty="0"/>
              <a:t>Если в сеть «выполз» старый дубликат </a:t>
            </a:r>
            <a:r>
              <a:rPr lang="ru-RU" sz="1200" kern="1200" dirty="0">
                <a:solidFill>
                  <a:schemeClr val="tx1"/>
                </a:solidFill>
                <a:latin typeface="+mn-lt"/>
                <a:ea typeface="+mn-ea"/>
                <a:cs typeface="+mn-cs"/>
              </a:rPr>
              <a:t>CONNECTION REQUEST</a:t>
            </a:r>
            <a:r>
              <a:rPr lang="ru-RU" dirty="0"/>
              <a:t>, хост 2 всё равно ответит </a:t>
            </a:r>
            <a:r>
              <a:rPr lang="ru-RU" sz="1200" kern="1200" dirty="0">
                <a:solidFill>
                  <a:schemeClr val="tx1"/>
                </a:solidFill>
                <a:latin typeface="+mn-lt"/>
                <a:ea typeface="+mn-ea"/>
                <a:cs typeface="+mn-cs"/>
              </a:rPr>
              <a:t>ACK(x, y)</a:t>
            </a:r>
            <a:r>
              <a:rPr lang="ru-RU" dirty="0"/>
              <a:t> и будет ждать шаг 3.</a:t>
            </a:r>
          </a:p>
          <a:p>
            <a:r>
              <a:rPr lang="ru-RU" dirty="0"/>
              <a:t>Но хост 1, который уже давно ничего не запрашивал, не сможет корректно подтвердить </a:t>
            </a:r>
            <a:r>
              <a:rPr lang="ru-RU" sz="1200" kern="1200" dirty="0">
                <a:solidFill>
                  <a:schemeClr val="tx1"/>
                </a:solidFill>
                <a:latin typeface="+mn-lt"/>
                <a:ea typeface="+mn-ea"/>
                <a:cs typeface="+mn-cs"/>
              </a:rPr>
              <a:t>y</a:t>
            </a:r>
            <a:r>
              <a:rPr lang="ru-RU" dirty="0"/>
              <a:t> в контексте этого старого </a:t>
            </a:r>
            <a:r>
              <a:rPr lang="ru-RU" sz="1200" kern="1200" dirty="0">
                <a:solidFill>
                  <a:schemeClr val="tx1"/>
                </a:solidFill>
                <a:latin typeface="+mn-lt"/>
                <a:ea typeface="+mn-ea"/>
                <a:cs typeface="+mn-cs"/>
              </a:rPr>
              <a:t>x</a:t>
            </a:r>
            <a:r>
              <a:rPr lang="ru-RU" dirty="0"/>
              <a:t>. Он либо вообще не ответит, либо явно «откажет».</a:t>
            </a:r>
          </a:p>
          <a:p>
            <a:r>
              <a:rPr lang="ru-RU" dirty="0"/>
              <a:t>В результате хост 2 поймёт, что это был </a:t>
            </a:r>
            <a:r>
              <a:rPr lang="ru-RU" b="1" dirty="0"/>
              <a:t>ложный» запрос</a:t>
            </a:r>
            <a:r>
              <a:rPr lang="ru-RU" dirty="0"/>
              <a:t>, и соединение не откроет.</a:t>
            </a:r>
          </a:p>
          <a:p>
            <a:r>
              <a:rPr lang="ru-RU" dirty="0"/>
              <a:t>В ещё более тяжёлом сценарии, когда в сети гуляют </a:t>
            </a:r>
            <a:r>
              <a:rPr lang="ru-RU" i="1" dirty="0"/>
              <a:t>оба</a:t>
            </a:r>
            <a:r>
              <a:rPr lang="ru-RU" dirty="0"/>
              <a:t> старых сегмента — и REQUEST, и ACK, — протокол всё равно не «проспит» ошибку: номера и контекст не совпадут, и соединение не установится «по ошибке».</a:t>
            </a:r>
          </a:p>
          <a:p>
            <a:r>
              <a:rPr lang="ru-RU" dirty="0"/>
              <a:t>Именно поэтому </a:t>
            </a:r>
            <a:r>
              <a:rPr lang="ru-RU" b="1" dirty="0"/>
              <a:t>TCP всегда использует тройное рукопожатие</a:t>
            </a:r>
            <a:r>
              <a:rPr lang="ru-RU" dirty="0"/>
              <a:t> при установлении соединения.</a:t>
            </a:r>
          </a:p>
          <a:p>
            <a:endParaRPr lang="ru-RU" dirty="0"/>
          </a:p>
          <a:p>
            <a:r>
              <a:rPr lang="ru-RU" dirty="0"/>
              <a:t>Дальше внутри соединения TCP:</a:t>
            </a:r>
          </a:p>
          <a:p>
            <a:r>
              <a:rPr lang="ru-RU" dirty="0"/>
              <a:t>Использует </a:t>
            </a:r>
            <a:r>
              <a:rPr lang="ru-RU" b="1" dirty="0"/>
              <a:t>32-битные порядковые номера</a:t>
            </a:r>
            <a:r>
              <a:rPr lang="ru-RU" dirty="0"/>
              <a:t>,</a:t>
            </a:r>
          </a:p>
          <a:p>
            <a:r>
              <a:rPr lang="ru-RU" dirty="0"/>
              <a:t>Дополняет их </a:t>
            </a:r>
            <a:r>
              <a:rPr lang="ru-RU" b="1" dirty="0"/>
              <a:t>метками времени</a:t>
            </a:r>
            <a:r>
              <a:rPr lang="ru-RU" dirty="0"/>
              <a:t> (механизм PAWS, RFC 1323), чтобы избежать повторного использования номеров на очень быстрых каналах,</a:t>
            </a:r>
          </a:p>
          <a:p>
            <a:r>
              <a:rPr lang="ru-RU" dirty="0"/>
              <a:t>Выбирает начальные номера </a:t>
            </a:r>
            <a:r>
              <a:rPr lang="ru-RU" b="1" dirty="0"/>
              <a:t>псевдослучайным образом</a:t>
            </a:r>
            <a:r>
              <a:rPr lang="ru-RU" dirty="0"/>
              <a:t>:</a:t>
            </a:r>
            <a:br>
              <a:rPr lang="ru-RU" dirty="0"/>
            </a:br>
            <a:r>
              <a:rPr lang="ru-RU" dirty="0"/>
              <a:t>снаружи они выглядят как случайные, но при этом спроектированы так, чтобы </a:t>
            </a:r>
            <a:r>
              <a:rPr lang="ru-RU" b="1" dirty="0"/>
              <a:t>не повторяться в опасный интервал времени T</a:t>
            </a:r>
            <a:r>
              <a:rPr lang="ru-RU" dirty="0"/>
              <a:t>.</a:t>
            </a:r>
          </a:p>
          <a:p>
            <a:r>
              <a:rPr lang="ru-RU" dirty="0"/>
              <a:t>Всё это вместе даёт две ключевые вещи:</a:t>
            </a:r>
          </a:p>
          <a:p>
            <a:pPr marL="171450" indent="-171450">
              <a:buFont typeface="Arial" panose="020B0604020202020204" pitchFamily="34" charset="0"/>
              <a:buChar char="•"/>
            </a:pPr>
            <a:r>
              <a:rPr lang="ru-RU" dirty="0"/>
              <a:t>Защиту от задержавшихся дубликатов.</a:t>
            </a:r>
          </a:p>
          <a:p>
            <a:pPr marL="171450" indent="-171450">
              <a:buFont typeface="Arial" panose="020B0604020202020204" pitchFamily="34" charset="0"/>
              <a:buChar char="•"/>
            </a:pPr>
            <a:r>
              <a:rPr lang="ru-RU" dirty="0"/>
              <a:t>Более устойчивую защиту от атак, когда злоумышленник пытается подделать начальный номер и навязать ложное соединение.</a:t>
            </a:r>
          </a:p>
        </p:txBody>
      </p:sp>
      <p:sp>
        <p:nvSpPr>
          <p:cNvPr id="4" name="Slide Number Placeholder 3"/>
          <p:cNvSpPr>
            <a:spLocks noGrp="1"/>
          </p:cNvSpPr>
          <p:nvPr>
            <p:ph type="sldNum" sz="quarter" idx="5"/>
          </p:nvPr>
        </p:nvSpPr>
        <p:spPr/>
        <p:txBody>
          <a:bodyPr/>
          <a:lstStyle/>
          <a:p>
            <a:fld id="{4F384885-B771-4961-99C6-DBB22F186DFF}" type="slidenum">
              <a:rPr lang="en-US" smtClean="0"/>
              <a:t>141</a:t>
            </a:fld>
            <a:endParaRPr lang="en-US"/>
          </a:p>
        </p:txBody>
      </p:sp>
    </p:spTree>
    <p:extLst>
      <p:ext uri="{BB962C8B-B14F-4D97-AF65-F5344CB8AC3E}">
        <p14:creationId xmlns:p14="http://schemas.microsoft.com/office/powerpoint/2010/main" val="3400007256"/>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важно разделить два подхода к разрыву соединения.</a:t>
            </a:r>
          </a:p>
          <a:p>
            <a:r>
              <a:rPr lang="ru-RU" b="1" dirty="0"/>
              <a:t>Асимметричный разрыв</a:t>
            </a:r>
            <a:br>
              <a:rPr lang="ru-RU" dirty="0"/>
            </a:br>
            <a:r>
              <a:rPr lang="ru-RU" dirty="0"/>
              <a:t>Это «телефонная модель»: один участник кладёт трубку — связь мгновенно обрывается с обеих сторон. В сети это означает: одна сторона отправляет </a:t>
            </a:r>
            <a:r>
              <a:rPr lang="ru-RU" sz="1200" kern="1200" dirty="0">
                <a:solidFill>
                  <a:schemeClr val="tx1"/>
                </a:solidFill>
                <a:latin typeface="+mn-lt"/>
                <a:ea typeface="+mn-ea"/>
                <a:cs typeface="+mn-cs"/>
              </a:rPr>
              <a:t>DISCONNECTION REQUEST</a:t>
            </a:r>
            <a:r>
              <a:rPr lang="ru-RU" dirty="0"/>
              <a:t>, сразу считает соединение закрытым и освобождает ресурсы.</a:t>
            </a:r>
          </a:p>
          <a:p>
            <a:r>
              <a:rPr lang="ru-RU" dirty="0"/>
              <a:t>Проблема в том, что в полёте ещё могут находиться </a:t>
            </a:r>
            <a:r>
              <a:rPr lang="ru-RU" b="1" dirty="0"/>
              <a:t>сегменты с данными</a:t>
            </a:r>
            <a:r>
              <a:rPr lang="ru-RU" dirty="0"/>
              <a:t>. Если принимающая сторона инициирует разрыв до их прихода, эти данные просто теряются.</a:t>
            </a:r>
            <a:br>
              <a:rPr lang="ru-RU" dirty="0"/>
            </a:br>
            <a:r>
              <a:rPr lang="ru-RU" dirty="0"/>
              <a:t>Например: хост 1 отправил второй сегмент, а хост 2 уже послал запрос на разрыв — второй сегмент позже приходит «в никуда».</a:t>
            </a:r>
          </a:p>
          <a:p>
            <a:endParaRPr lang="ru-RU" dirty="0"/>
          </a:p>
          <a:p>
            <a:r>
              <a:rPr lang="ru-RU" b="1" dirty="0"/>
              <a:t>Симметричный разрыв</a:t>
            </a:r>
            <a:br>
              <a:rPr lang="ru-RU" dirty="0"/>
            </a:br>
            <a:r>
              <a:rPr lang="ru-RU" dirty="0"/>
              <a:t>Здесь соединение рассматривается как </a:t>
            </a:r>
            <a:r>
              <a:rPr lang="ru-RU" b="1" dirty="0"/>
              <a:t>два независимых однонаправленных канала</a:t>
            </a:r>
            <a:r>
              <a:rPr lang="ru-RU" dirty="0"/>
              <a:t>.</a:t>
            </a:r>
            <a:endParaRPr lang="en-US" dirty="0"/>
          </a:p>
          <a:p>
            <a:br>
              <a:rPr lang="ru-RU" dirty="0"/>
            </a:br>
            <a:r>
              <a:rPr lang="ru-RU" dirty="0"/>
              <a:t>Каждый участник отдельно говорит: «Я закончил </a:t>
            </a:r>
            <a:r>
              <a:rPr lang="ru-RU" b="1" dirty="0"/>
              <a:t>передавать</a:t>
            </a:r>
            <a:r>
              <a:rPr lang="ru-RU" dirty="0"/>
              <a:t>» — но ещё может продолжать </a:t>
            </a:r>
            <a:r>
              <a:rPr lang="ru-RU" b="1" dirty="0"/>
              <a:t>принимать</a:t>
            </a:r>
            <a:r>
              <a:rPr lang="ru-RU" dirty="0"/>
              <a:t> данные от другой стороны. Это уже безопаснее: даже если я отправил запрос на разрыв, я всё ещё могу дочитать то, что отправляет партнёр.</a:t>
            </a:r>
            <a:endParaRPr lang="en-US" dirty="0"/>
          </a:p>
          <a:p>
            <a:endParaRPr lang="ru-RU" dirty="0"/>
          </a:p>
          <a:p>
            <a:r>
              <a:rPr lang="ru-RU" b="1" dirty="0"/>
              <a:t>Когда разрывать?</a:t>
            </a:r>
            <a:br>
              <a:rPr lang="ru-RU" dirty="0"/>
            </a:br>
            <a:r>
              <a:rPr lang="ru-RU" dirty="0"/>
              <a:t>Если каждая сторона заранее знает объём своих данных («я отправлю ровно N байт и всё»), всё просто:</a:t>
            </a:r>
            <a:br>
              <a:rPr lang="ru-RU" dirty="0"/>
            </a:br>
            <a:r>
              <a:rPr lang="ru-RU" dirty="0"/>
              <a:t>обе стороны, закончив, могут корректно завершить свою половину соединения.</a:t>
            </a:r>
            <a:endParaRPr lang="en-US" dirty="0"/>
          </a:p>
          <a:p>
            <a:endParaRPr lang="ru-RU" dirty="0"/>
          </a:p>
          <a:p>
            <a:r>
              <a:rPr lang="ru-RU" dirty="0"/>
              <a:t>Но если объём данных заранее неизвестен или взаимодействие диалоговое, возникает проблема:</a:t>
            </a:r>
            <a:br>
              <a:rPr lang="ru-RU" dirty="0"/>
            </a:br>
            <a:r>
              <a:rPr lang="ru-RU" i="1" dirty="0"/>
              <a:t>как обеим сторонам надёжно договориться, что «мы оба закончили», если канал ненадёжен и сообщения могут теряться?</a:t>
            </a:r>
            <a:endParaRPr lang="en-US" i="1" dirty="0"/>
          </a:p>
          <a:p>
            <a:endParaRPr lang="ru-RU" dirty="0"/>
          </a:p>
          <a:p>
            <a:r>
              <a:rPr lang="ru-RU" b="1" dirty="0"/>
              <a:t>Проблема двух армий</a:t>
            </a:r>
            <a:br>
              <a:rPr lang="ru-RU" dirty="0"/>
            </a:br>
            <a:r>
              <a:rPr lang="ru-RU" dirty="0"/>
              <a:t>Для иллюстрации этой логической границы вводится классический мысленный эксперимент: две армии синих, белые в долине и связной, который может быть перехвачен. Неважно, сколько раз они будут обмениваться подтверждениями — всегда остаётся риск, что последняя реплика не дошла.</a:t>
            </a:r>
            <a:br>
              <a:rPr lang="ru-RU" dirty="0"/>
            </a:br>
            <a:r>
              <a:rPr lang="ru-RU" dirty="0"/>
              <a:t>Значит, </a:t>
            </a:r>
            <a:r>
              <a:rPr lang="ru-RU" b="1" dirty="0"/>
              <a:t>одна из сторон никогда не будет абсолютно уверена</a:t>
            </a:r>
            <a:r>
              <a:rPr lang="ru-RU" dirty="0"/>
              <a:t>, что другая всё ещё собирается действовать.</a:t>
            </a:r>
            <a:endParaRPr lang="en-US" dirty="0"/>
          </a:p>
          <a:p>
            <a:endParaRPr lang="ru-RU" dirty="0"/>
          </a:p>
          <a:p>
            <a:r>
              <a:rPr lang="ru-RU" dirty="0"/>
              <a:t>Формально доказано: по ненадёжному каналу невозможно создать протокол, который даст </a:t>
            </a:r>
            <a:r>
              <a:rPr lang="ru-RU" i="1" dirty="0"/>
              <a:t>обеим сторонам</a:t>
            </a:r>
            <a:r>
              <a:rPr lang="ru-RU" dirty="0"/>
              <a:t> стопроцентную гарантию согласованного действия (в нашем случае — одновременного разрыва) без каких-либо допущений.</a:t>
            </a:r>
            <a:endParaRPr lang="en-US" dirty="0"/>
          </a:p>
          <a:p>
            <a:endParaRPr lang="ru-RU" dirty="0"/>
          </a:p>
          <a:p>
            <a:r>
              <a:rPr lang="ru-RU" dirty="0"/>
              <a:t>Отсюда вывод: у транспортного уровня </a:t>
            </a:r>
            <a:r>
              <a:rPr lang="ru-RU" b="1" dirty="0"/>
              <a:t>нет волшебного способа</a:t>
            </a:r>
            <a:r>
              <a:rPr lang="ru-RU" dirty="0"/>
              <a:t> «идеально согласовать» момент разрыва. Нужно идти на компромиссы в протоколе и частично перекладывать ответственность на пользователей протокола (приложения).</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142</a:t>
            </a:fld>
            <a:endParaRPr lang="en-US"/>
          </a:p>
        </p:txBody>
      </p:sp>
    </p:spTree>
    <p:extLst>
      <p:ext uri="{BB962C8B-B14F-4D97-AF65-F5344CB8AC3E}">
        <p14:creationId xmlns:p14="http://schemas.microsoft.com/office/powerpoint/2010/main" val="3099901003"/>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Теперь давайте посмотрим, как из этих ограничений строится </a:t>
            </a:r>
            <a:r>
              <a:rPr lang="ru-RU" b="1" dirty="0"/>
              <a:t>реальный</a:t>
            </a:r>
            <a:r>
              <a:rPr lang="ru-RU" dirty="0"/>
              <a:t> протокол разрыва.</a:t>
            </a:r>
            <a:endParaRPr lang="en-US" dirty="0"/>
          </a:p>
          <a:p>
            <a:endParaRPr lang="ru-RU" dirty="0"/>
          </a:p>
          <a:p>
            <a:r>
              <a:rPr lang="ru-RU" b="1" dirty="0"/>
              <a:t>Базовая схема «трёх сообщений»</a:t>
            </a:r>
            <a:br>
              <a:rPr lang="ru-RU" dirty="0"/>
            </a:br>
            <a:r>
              <a:rPr lang="ru-RU" dirty="0"/>
              <a:t>Типичный «нормальный» сценарий можно описать так:</a:t>
            </a:r>
          </a:p>
          <a:p>
            <a:pPr marL="628650" lvl="1" indent="-171450">
              <a:buFont typeface="Arial" panose="020B0604020202020204" pitchFamily="34" charset="0"/>
              <a:buChar char="•"/>
            </a:pPr>
            <a:r>
              <a:rPr lang="ru-RU" dirty="0"/>
              <a:t>Пользователь/приложение на стороне А вызывает </a:t>
            </a:r>
            <a:r>
              <a:rPr lang="ru-RU" sz="1200" kern="1200" dirty="0">
                <a:solidFill>
                  <a:schemeClr val="tx1"/>
                </a:solidFill>
                <a:latin typeface="+mn-lt"/>
                <a:ea typeface="+mn-ea"/>
                <a:cs typeface="+mn-cs"/>
              </a:rPr>
              <a:t>DISCONNECT</a:t>
            </a:r>
            <a:r>
              <a:rPr lang="ru-RU" dirty="0"/>
              <a:t> → транспортная подсистема отправляет сегмент </a:t>
            </a:r>
            <a:r>
              <a:rPr lang="ru-RU" sz="1200" kern="1200" dirty="0">
                <a:solidFill>
                  <a:schemeClr val="tx1"/>
                </a:solidFill>
                <a:latin typeface="+mn-lt"/>
                <a:ea typeface="+mn-ea"/>
                <a:cs typeface="+mn-cs"/>
              </a:rPr>
              <a:t>DR</a:t>
            </a:r>
            <a:r>
              <a:rPr lang="ru-RU" dirty="0"/>
              <a:t> (</a:t>
            </a:r>
            <a:r>
              <a:rPr lang="ru-RU" dirty="0" err="1"/>
              <a:t>Disconnection</a:t>
            </a:r>
            <a:r>
              <a:rPr lang="ru-RU" dirty="0"/>
              <a:t> </a:t>
            </a:r>
            <a:r>
              <a:rPr lang="ru-RU" dirty="0" err="1"/>
              <a:t>Request</a:t>
            </a:r>
            <a:r>
              <a:rPr lang="ru-RU" dirty="0"/>
              <a:t>).</a:t>
            </a:r>
          </a:p>
          <a:p>
            <a:pPr marL="628650" lvl="1" indent="-171450">
              <a:buFont typeface="Arial" panose="020B0604020202020204" pitchFamily="34" charset="0"/>
              <a:buChar char="•"/>
            </a:pPr>
            <a:r>
              <a:rPr lang="ru-RU" dirty="0"/>
              <a:t>Сторона B получает </a:t>
            </a:r>
            <a:r>
              <a:rPr lang="ru-RU" sz="1200" kern="1200" dirty="0">
                <a:solidFill>
                  <a:schemeClr val="tx1"/>
                </a:solidFill>
                <a:latin typeface="+mn-lt"/>
                <a:ea typeface="+mn-ea"/>
                <a:cs typeface="+mn-cs"/>
              </a:rPr>
              <a:t>DR</a:t>
            </a:r>
            <a:r>
              <a:rPr lang="ru-RU" dirty="0"/>
              <a:t>,</a:t>
            </a:r>
          </a:p>
          <a:p>
            <a:pPr marL="1085850" lvl="2" indent="-171450">
              <a:buFont typeface="Arial" panose="020B0604020202020204" pitchFamily="34" charset="0"/>
              <a:buChar char="•"/>
            </a:pPr>
            <a:r>
              <a:rPr lang="ru-RU" dirty="0"/>
              <a:t>отправляет в ответ </a:t>
            </a:r>
            <a:r>
              <a:rPr lang="ru-RU" b="1" dirty="0"/>
              <a:t>свой</a:t>
            </a:r>
            <a:r>
              <a:rPr lang="ru-RU" dirty="0"/>
              <a:t> </a:t>
            </a:r>
            <a:r>
              <a:rPr lang="ru-RU" sz="1200" kern="1200" dirty="0">
                <a:solidFill>
                  <a:schemeClr val="tx1"/>
                </a:solidFill>
                <a:latin typeface="+mn-lt"/>
                <a:ea typeface="+mn-ea"/>
                <a:cs typeface="+mn-cs"/>
              </a:rPr>
              <a:t>DR</a:t>
            </a:r>
            <a:r>
              <a:rPr lang="ru-RU" dirty="0"/>
              <a:t>,</a:t>
            </a:r>
          </a:p>
          <a:p>
            <a:pPr marL="1085850" lvl="2" indent="-171450">
              <a:buFont typeface="Arial" panose="020B0604020202020204" pitchFamily="34" charset="0"/>
              <a:buChar char="•"/>
            </a:pPr>
            <a:r>
              <a:rPr lang="ru-RU" dirty="0"/>
              <a:t>ставит таймер «на всякий случай».</a:t>
            </a:r>
          </a:p>
          <a:p>
            <a:pPr marL="628650" lvl="1" indent="-171450">
              <a:buFont typeface="Arial" panose="020B0604020202020204" pitchFamily="34" charset="0"/>
              <a:buChar char="•"/>
            </a:pPr>
            <a:r>
              <a:rPr lang="ru-RU" dirty="0"/>
              <a:t>Сторона A получает ответный </a:t>
            </a:r>
            <a:r>
              <a:rPr lang="ru-RU" sz="1200" kern="1200" dirty="0">
                <a:solidFill>
                  <a:schemeClr val="tx1"/>
                </a:solidFill>
                <a:latin typeface="+mn-lt"/>
                <a:ea typeface="+mn-ea"/>
                <a:cs typeface="+mn-cs"/>
              </a:rPr>
              <a:t>DR</a:t>
            </a:r>
            <a:r>
              <a:rPr lang="ru-RU" dirty="0"/>
              <a:t>,</a:t>
            </a:r>
          </a:p>
          <a:p>
            <a:pPr marL="1085850" lvl="2" indent="-171450">
              <a:buFont typeface="Arial" panose="020B0604020202020204" pitchFamily="34" charset="0"/>
              <a:buChar char="•"/>
            </a:pPr>
            <a:r>
              <a:rPr lang="ru-RU" dirty="0"/>
              <a:t>отправляет </a:t>
            </a:r>
            <a:r>
              <a:rPr lang="ru-RU" sz="1200" kern="1200" dirty="0">
                <a:solidFill>
                  <a:schemeClr val="tx1"/>
                </a:solidFill>
                <a:latin typeface="+mn-lt"/>
                <a:ea typeface="+mn-ea"/>
                <a:cs typeface="+mn-cs"/>
              </a:rPr>
              <a:t>ACK</a:t>
            </a:r>
            <a:r>
              <a:rPr lang="ru-RU" dirty="0"/>
              <a:t>,</a:t>
            </a:r>
          </a:p>
          <a:p>
            <a:pPr marL="1085850" lvl="2" indent="-171450">
              <a:buFont typeface="Arial" panose="020B0604020202020204" pitchFamily="34" charset="0"/>
              <a:buChar char="•"/>
            </a:pPr>
            <a:r>
              <a:rPr lang="ru-RU" dirty="0"/>
              <a:t>удаляет состояние соединения.</a:t>
            </a:r>
          </a:p>
          <a:p>
            <a:pPr marL="628650" lvl="1" indent="-171450">
              <a:buFont typeface="Arial" panose="020B0604020202020204" pitchFamily="34" charset="0"/>
              <a:buChar char="•"/>
            </a:pPr>
            <a:r>
              <a:rPr lang="ru-RU" dirty="0"/>
              <a:t>Сторона B получает </a:t>
            </a:r>
            <a:r>
              <a:rPr lang="ru-RU" sz="1200" kern="1200" dirty="0">
                <a:solidFill>
                  <a:schemeClr val="tx1"/>
                </a:solidFill>
                <a:latin typeface="+mn-lt"/>
                <a:ea typeface="+mn-ea"/>
                <a:cs typeface="+mn-cs"/>
              </a:rPr>
              <a:t>ACK</a:t>
            </a:r>
            <a:r>
              <a:rPr lang="ru-RU" dirty="0"/>
              <a:t> и тоже удаляет состояние.</a:t>
            </a:r>
          </a:p>
          <a:p>
            <a:r>
              <a:rPr lang="ru-RU" dirty="0"/>
              <a:t>В идеальном случае это похоже на «трёхкратное рукопожатие» при завершении.</a:t>
            </a:r>
          </a:p>
          <a:p>
            <a:r>
              <a:rPr lang="ru-RU" b="1" dirty="0"/>
              <a:t>Что если что-то потерялось?</a:t>
            </a:r>
            <a:endParaRPr lang="ru-RU" dirty="0"/>
          </a:p>
          <a:p>
            <a:pPr marL="628650" lvl="1" indent="-171450">
              <a:buFont typeface="Arial" panose="020B0604020202020204" pitchFamily="34" charset="0"/>
              <a:buChar char="•"/>
            </a:pPr>
            <a:r>
              <a:rPr lang="ru-RU" dirty="0"/>
              <a:t>Если теряется </a:t>
            </a:r>
            <a:r>
              <a:rPr lang="ru-RU" b="1" dirty="0"/>
              <a:t>последний ACK</a:t>
            </a:r>
            <a:r>
              <a:rPr lang="ru-RU" dirty="0"/>
              <a:t>, сторону B спасает </a:t>
            </a:r>
            <a:r>
              <a:rPr lang="ru-RU" b="1" dirty="0"/>
              <a:t>таймер</a:t>
            </a:r>
            <a:r>
              <a:rPr lang="ru-RU" dirty="0"/>
              <a:t>:</a:t>
            </a:r>
            <a:br>
              <a:rPr lang="ru-RU" dirty="0"/>
            </a:br>
            <a:r>
              <a:rPr lang="ru-RU" dirty="0"/>
              <a:t>по истечении времени ожидания она решает, что ACK, скорее всего, потерялся, но раз уж она отправила свой DR и долго не видит никакой активности — можно безопасно закрывать соединение.</a:t>
            </a:r>
          </a:p>
          <a:p>
            <a:pPr marL="628650" lvl="1" indent="-171450">
              <a:buFont typeface="Arial" panose="020B0604020202020204" pitchFamily="34" charset="0"/>
              <a:buChar char="•"/>
            </a:pPr>
            <a:r>
              <a:rPr lang="ru-RU" dirty="0"/>
              <a:t>Если теряется </a:t>
            </a:r>
            <a:r>
              <a:rPr lang="ru-RU" b="1" dirty="0"/>
              <a:t>ответный DR от стороны B</a:t>
            </a:r>
            <a:r>
              <a:rPr lang="ru-RU" dirty="0"/>
              <a:t>, то сторона A ничего не получает, её таймер срабатывает, и она повторяет отправку DR.</a:t>
            </a:r>
            <a:br>
              <a:rPr lang="ru-RU" dirty="0"/>
            </a:br>
            <a:r>
              <a:rPr lang="ru-RU" dirty="0"/>
              <a:t>В следующих попытках обмен может пройти успешно.</a:t>
            </a:r>
          </a:p>
          <a:p>
            <a:pPr marL="628650" lvl="1" indent="-171450">
              <a:buFont typeface="Arial" panose="020B0604020202020204" pitchFamily="34" charset="0"/>
              <a:buChar char="•"/>
            </a:pPr>
            <a:r>
              <a:rPr lang="ru-RU" dirty="0"/>
              <a:t>Наихудший случай: теряются и исходный DR, и все N повторов.</a:t>
            </a:r>
            <a:br>
              <a:rPr lang="ru-RU" dirty="0"/>
            </a:br>
            <a:r>
              <a:rPr lang="ru-RU" dirty="0"/>
              <a:t>Тогда A в конце концов «сдаётся» и сама закрывает соединение, ничего не добившись от B.</a:t>
            </a:r>
            <a:br>
              <a:rPr lang="ru-RU" dirty="0"/>
            </a:br>
            <a:r>
              <a:rPr lang="ru-RU" dirty="0"/>
              <a:t>Если в это же время B всё ещё считает соединение активным, мы получаем </a:t>
            </a:r>
            <a:r>
              <a:rPr lang="ru-RU" b="1" dirty="0"/>
              <a:t>полуоткрытое соединение</a:t>
            </a:r>
            <a:r>
              <a:rPr lang="ru-RU" dirty="0"/>
              <a:t>.</a:t>
            </a:r>
          </a:p>
          <a:p>
            <a:r>
              <a:rPr lang="ru-RU" b="1" dirty="0"/>
              <a:t>Полуоткрытое соединение и правило неактивности</a:t>
            </a:r>
            <a:endParaRPr lang="ru-RU" dirty="0"/>
          </a:p>
          <a:p>
            <a:r>
              <a:rPr lang="ru-RU" dirty="0"/>
              <a:t>Полуоткрытое соединение — это состояние, когда:</a:t>
            </a:r>
          </a:p>
          <a:p>
            <a:pPr marL="628650" lvl="1" indent="-171450">
              <a:buFont typeface="Arial" panose="020B0604020202020204" pitchFamily="34" charset="0"/>
              <a:buChar char="•"/>
            </a:pPr>
            <a:r>
              <a:rPr lang="ru-RU" dirty="0"/>
              <a:t>одна сторона уже уничтожила запись о соединении;</a:t>
            </a:r>
          </a:p>
          <a:p>
            <a:pPr marL="628650" lvl="1" indent="-171450">
              <a:buFont typeface="Arial" panose="020B0604020202020204" pitchFamily="34" charset="0"/>
              <a:buChar char="•"/>
            </a:pPr>
            <a:r>
              <a:rPr lang="ru-RU" dirty="0"/>
              <a:t>другая всё ещё хранит его в таблице и ждёт данные.</a:t>
            </a:r>
          </a:p>
          <a:p>
            <a:r>
              <a:rPr lang="ru-RU" dirty="0"/>
              <a:t>Чтобы предотвратить застревание в таком состоянии, вводится </a:t>
            </a:r>
            <a:r>
              <a:rPr lang="ru-RU" b="1" dirty="0"/>
              <a:t>правило неактивности</a:t>
            </a:r>
            <a:r>
              <a:rPr lang="ru-RU" dirty="0"/>
              <a:t>:</a:t>
            </a:r>
          </a:p>
          <a:p>
            <a:r>
              <a:rPr lang="ru-RU" dirty="0"/>
              <a:t>Если по соединению в течение достаточно долгого времени</a:t>
            </a:r>
            <a:r>
              <a:rPr lang="en-US" dirty="0"/>
              <a:t> </a:t>
            </a:r>
            <a:r>
              <a:rPr lang="ru-RU" dirty="0"/>
              <a:t>не приходит ни одного сегмента, оно автоматически разрывается.</a:t>
            </a:r>
          </a:p>
          <a:p>
            <a:r>
              <a:rPr lang="ru-RU" dirty="0"/>
              <a:t>Технически это выглядит как:</a:t>
            </a:r>
          </a:p>
          <a:p>
            <a:pPr marL="628650" lvl="1" indent="-171450">
              <a:buFont typeface="Arial" panose="020B0604020202020204" pitchFamily="34" charset="0"/>
              <a:buChar char="•"/>
            </a:pPr>
            <a:r>
              <a:rPr lang="ru-RU" dirty="0"/>
              <a:t>у каждой стороны есть таймер «жизни соединения»;</a:t>
            </a:r>
          </a:p>
          <a:p>
            <a:pPr marL="628650" lvl="1" indent="-171450">
              <a:buFont typeface="Arial" panose="020B0604020202020204" pitchFamily="34" charset="0"/>
              <a:buChar char="•"/>
            </a:pPr>
            <a:r>
              <a:rPr lang="ru-RU" dirty="0"/>
              <a:t>таймер сбрасывается, когда по соединению что-то отправляется или принимается;</a:t>
            </a:r>
          </a:p>
          <a:p>
            <a:pPr marL="628650" lvl="1" indent="-171450">
              <a:buFont typeface="Arial" panose="020B0604020202020204" pitchFamily="34" charset="0"/>
              <a:buChar char="•"/>
            </a:pPr>
            <a:r>
              <a:rPr lang="ru-RU" dirty="0"/>
              <a:t>если таймер истёк, транспортная подсистема считает, что что-то пошло не так (разрыв сети, сбой, пропавший партнёр) и закрывает соединение.</a:t>
            </a:r>
          </a:p>
          <a:p>
            <a:r>
              <a:rPr lang="ru-RU" dirty="0"/>
              <a:t>Иногда, чтобы </a:t>
            </a:r>
            <a:r>
              <a:rPr lang="ru-RU" i="1" dirty="0"/>
              <a:t>не разорвать</a:t>
            </a:r>
            <a:r>
              <a:rPr lang="ru-RU" dirty="0"/>
              <a:t> соединение слишком рано, стороны могут время от времени отправлять пустые сегменты «</a:t>
            </a:r>
            <a:r>
              <a:rPr lang="ru-RU" dirty="0" err="1"/>
              <a:t>keep-alive</a:t>
            </a:r>
            <a:r>
              <a:rPr lang="ru-RU" dirty="0"/>
              <a:t>». Но если таких пустых пакетов становится слишком много подряд без реальных данных, соединение всё равно автоматически закрывается как бесполезное.</a:t>
            </a:r>
            <a:endParaRPr lang="en-US" dirty="0"/>
          </a:p>
          <a:p>
            <a:endParaRPr lang="ru-RU" dirty="0"/>
          </a:p>
          <a:p>
            <a:r>
              <a:rPr lang="ru-RU" b="1" dirty="0"/>
              <a:t>Связь с TCP</a:t>
            </a:r>
            <a:endParaRPr lang="ru-RU" dirty="0"/>
          </a:p>
          <a:p>
            <a:r>
              <a:rPr lang="ru-RU" dirty="0"/>
              <a:t>В TCP это реализовано так:</a:t>
            </a:r>
          </a:p>
          <a:p>
            <a:pPr marL="628650" lvl="1" indent="-171450">
              <a:buFont typeface="Arial" panose="020B0604020202020204" pitchFamily="34" charset="0"/>
              <a:buChar char="•"/>
            </a:pPr>
            <a:r>
              <a:rPr lang="ru-RU" dirty="0"/>
              <a:t>Обычный путь — </a:t>
            </a:r>
            <a:r>
              <a:rPr lang="ru-RU" b="1" dirty="0"/>
              <a:t>симметричный разрыв</a:t>
            </a:r>
            <a:r>
              <a:rPr lang="ru-RU" dirty="0"/>
              <a:t>: каждая сторона отправляет </a:t>
            </a:r>
            <a:r>
              <a:rPr lang="ru-RU" sz="1200" kern="1200" dirty="0">
                <a:solidFill>
                  <a:schemeClr val="tx1"/>
                </a:solidFill>
                <a:latin typeface="+mn-lt"/>
                <a:ea typeface="+mn-ea"/>
                <a:cs typeface="+mn-cs"/>
              </a:rPr>
              <a:t>FIN</a:t>
            </a:r>
            <a:r>
              <a:rPr lang="ru-RU" dirty="0"/>
              <a:t> после окончания своих данных, получает </a:t>
            </a:r>
            <a:r>
              <a:rPr lang="ru-RU" sz="1200" kern="1200" dirty="0">
                <a:solidFill>
                  <a:schemeClr val="tx1"/>
                </a:solidFill>
                <a:latin typeface="+mn-lt"/>
                <a:ea typeface="+mn-ea"/>
                <a:cs typeface="+mn-cs"/>
              </a:rPr>
              <a:t>ACK</a:t>
            </a:r>
            <a:r>
              <a:rPr lang="ru-RU" dirty="0"/>
              <a:t>, и её половина соединения закрывается.</a:t>
            </a:r>
          </a:p>
          <a:p>
            <a:pPr marL="628650" lvl="1" indent="-171450">
              <a:buFont typeface="Arial" panose="020B0604020202020204" pitchFamily="34" charset="0"/>
              <a:buChar char="•"/>
            </a:pPr>
            <a:r>
              <a:rPr lang="ru-RU" dirty="0"/>
              <a:t>Веб-серверы часто используют более резкий вариант — </a:t>
            </a:r>
            <a:r>
              <a:rPr lang="ru-RU" sz="1200" kern="1200" dirty="0">
                <a:solidFill>
                  <a:schemeClr val="tx1"/>
                </a:solidFill>
                <a:latin typeface="+mn-lt"/>
                <a:ea typeface="+mn-ea"/>
                <a:cs typeface="+mn-cs"/>
              </a:rPr>
              <a:t>RST</a:t>
            </a:r>
            <a:r>
              <a:rPr lang="ru-RU" dirty="0"/>
              <a:t> (</a:t>
            </a:r>
            <a:r>
              <a:rPr lang="ru-RU" dirty="0" err="1"/>
              <a:t>reset</a:t>
            </a:r>
            <a:r>
              <a:rPr lang="ru-RU" dirty="0"/>
              <a:t>).</a:t>
            </a:r>
            <a:br>
              <a:rPr lang="ru-RU" dirty="0"/>
            </a:br>
            <a:r>
              <a:rPr lang="ru-RU" dirty="0"/>
              <a:t>Это похоже на асимметричный разрыв: сервер знает, что уже отправил весь ответ, и просто говорит клиенту: «Всё, забудь про это соединение».</a:t>
            </a:r>
          </a:p>
          <a:p>
            <a:pPr lvl="1"/>
            <a:r>
              <a:rPr lang="ru-RU" dirty="0"/>
              <a:t>Если </a:t>
            </a:r>
            <a:r>
              <a:rPr lang="ru-RU" sz="1200" kern="1200" dirty="0">
                <a:solidFill>
                  <a:schemeClr val="tx1"/>
                </a:solidFill>
                <a:latin typeface="+mn-lt"/>
                <a:ea typeface="+mn-ea"/>
                <a:cs typeface="+mn-cs"/>
              </a:rPr>
              <a:t>RST</a:t>
            </a:r>
            <a:r>
              <a:rPr lang="ru-RU" dirty="0"/>
              <a:t> доходит — клиент немедленно закрывает соединение.</a:t>
            </a:r>
            <a:br>
              <a:rPr lang="ru-RU" dirty="0"/>
            </a:br>
            <a:r>
              <a:rPr lang="ru-RU" dirty="0"/>
              <a:t>Если нет — клиент сам поймёт по тайм-ауту, что сервер молчит, и тоже разорвёт соединение.</a:t>
            </a:r>
          </a:p>
          <a:p>
            <a:r>
              <a:rPr lang="ru-RU" dirty="0"/>
              <a:t>Главная мысль: </a:t>
            </a:r>
            <a:r>
              <a:rPr lang="ru-RU" b="1" dirty="0"/>
              <a:t>разорвать соединение без потери данных и без зависаний — нетривиальная задача</a:t>
            </a:r>
            <a:r>
              <a:rPr lang="ru-RU" dirty="0"/>
              <a:t>.</a:t>
            </a:r>
            <a:br>
              <a:rPr lang="ru-RU" dirty="0"/>
            </a:br>
            <a:r>
              <a:rPr lang="ru-RU" dirty="0"/>
              <a:t>Протокол делает свою часть работы (DR / ACK / таймеры), но окончательное решение — </a:t>
            </a:r>
            <a:r>
              <a:rPr lang="ru-RU" i="1" dirty="0"/>
              <a:t>когда именно</a:t>
            </a:r>
            <a:r>
              <a:rPr lang="ru-RU" dirty="0"/>
              <a:t> закрыть соединение — всегда принимается с участием приложения, которое понимает семантику обмена.</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143</a:t>
            </a:fld>
            <a:endParaRPr lang="en-US"/>
          </a:p>
        </p:txBody>
      </p:sp>
    </p:spTree>
    <p:extLst>
      <p:ext uri="{BB962C8B-B14F-4D97-AF65-F5344CB8AC3E}">
        <p14:creationId xmlns:p14="http://schemas.microsoft.com/office/powerpoint/2010/main" val="1320375817"/>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транспортном уровне нам важно сразу две вещи:</a:t>
            </a:r>
          </a:p>
          <a:p>
            <a:r>
              <a:rPr lang="ru-RU" b="1" dirty="0"/>
              <a:t>Контроль ошибок</a:t>
            </a:r>
            <a:br>
              <a:rPr lang="ru-RU" dirty="0"/>
            </a:br>
            <a:r>
              <a:rPr lang="ru-RU" dirty="0"/>
              <a:t>Здесь мы хотим, чтобы приложение получало данные:</a:t>
            </a:r>
          </a:p>
          <a:p>
            <a:pPr marL="628650" lvl="1" indent="-171450">
              <a:buFont typeface="Arial" panose="020B0604020202020204" pitchFamily="34" charset="0"/>
              <a:buChar char="•"/>
            </a:pPr>
            <a:r>
              <a:rPr lang="ru-RU" dirty="0"/>
              <a:t>без искажений,</a:t>
            </a:r>
          </a:p>
          <a:p>
            <a:pPr marL="628650" lvl="1" indent="-171450">
              <a:buFont typeface="Arial" panose="020B0604020202020204" pitchFamily="34" charset="0"/>
              <a:buChar char="•"/>
            </a:pPr>
            <a:r>
              <a:rPr lang="ru-RU" dirty="0"/>
              <a:t>без дубликатов,</a:t>
            </a:r>
          </a:p>
          <a:p>
            <a:pPr marL="628650" lvl="1" indent="-171450">
              <a:buFont typeface="Arial" panose="020B0604020202020204" pitchFamily="34" charset="0"/>
              <a:buChar char="•"/>
            </a:pPr>
            <a:r>
              <a:rPr lang="ru-RU" dirty="0"/>
              <a:t>в правильном порядке.</a:t>
            </a:r>
          </a:p>
          <a:p>
            <a:r>
              <a:rPr lang="ru-RU" dirty="0"/>
              <a:t>Для этого каждый сегмент содержит </a:t>
            </a:r>
            <a:r>
              <a:rPr lang="ru-RU" b="1" dirty="0"/>
              <a:t>контрольную сумму</a:t>
            </a:r>
            <a:r>
              <a:rPr lang="ru-RU" dirty="0"/>
              <a:t>. Если проверка не проходит — сегмент отбрасывается, а транспортный протокол с помощью схемы </a:t>
            </a:r>
            <a:r>
              <a:rPr lang="ru-RU" b="1" dirty="0"/>
              <a:t>ARQ</a:t>
            </a:r>
            <a:r>
              <a:rPr lang="ru-RU" dirty="0"/>
              <a:t> (</a:t>
            </a:r>
            <a:r>
              <a:rPr lang="en-US" dirty="0"/>
              <a:t>Automatic Repeat </a:t>
            </a:r>
            <a:r>
              <a:rPr lang="en-US" dirty="0" err="1"/>
              <a:t>reQuest</a:t>
            </a:r>
            <a:r>
              <a:rPr lang="ru-RU" dirty="0"/>
              <a:t>) вызывает его повторную передачу, пока не придёт ACK.</a:t>
            </a:r>
            <a:endParaRPr lang="en-US" dirty="0"/>
          </a:p>
          <a:p>
            <a:endParaRPr lang="ru-RU" dirty="0"/>
          </a:p>
          <a:p>
            <a:r>
              <a:rPr lang="ru-RU" b="1" dirty="0"/>
              <a:t>Управление потоком</a:t>
            </a:r>
            <a:br>
              <a:rPr lang="ru-RU" dirty="0"/>
            </a:br>
            <a:r>
              <a:rPr lang="ru-RU" dirty="0"/>
              <a:t>Отправитель не должен «забивать» получателя данными. Поэтому используется </a:t>
            </a:r>
            <a:r>
              <a:rPr lang="ru-RU" b="1" dirty="0"/>
              <a:t>раздвижное окно</a:t>
            </a:r>
            <a:r>
              <a:rPr lang="ru-RU" dirty="0"/>
              <a:t>:</a:t>
            </a:r>
          </a:p>
          <a:p>
            <a:pPr marL="628650" lvl="1" indent="-171450">
              <a:buFont typeface="Arial" panose="020B0604020202020204" pitchFamily="34" charset="0"/>
              <a:buChar char="•"/>
            </a:pPr>
            <a:r>
              <a:rPr lang="ru-RU" dirty="0"/>
              <a:t>при </a:t>
            </a:r>
            <a:r>
              <a:rPr lang="ru-RU" b="1" dirty="0" err="1"/>
              <a:t>stop-and-wait</a:t>
            </a:r>
            <a:r>
              <a:rPr lang="ru-RU" dirty="0"/>
              <a:t> окно равно 1 — отправили сегмент, ждём ACK;</a:t>
            </a:r>
          </a:p>
          <a:p>
            <a:pPr marL="628650" lvl="1" indent="-171450">
              <a:buFont typeface="Arial" panose="020B0604020202020204" pitchFamily="34" charset="0"/>
              <a:buChar char="•"/>
            </a:pPr>
            <a:r>
              <a:rPr lang="ru-RU" dirty="0"/>
              <a:t>при большем окне можно послать несколько сегментов подряд, что особенно важно для </a:t>
            </a:r>
            <a:r>
              <a:rPr lang="ru-RU" b="1" dirty="0"/>
              <a:t>быстрых и/или дальних соединений</a:t>
            </a:r>
            <a:r>
              <a:rPr lang="ru-RU" dirty="0"/>
              <a:t>.</a:t>
            </a:r>
            <a:endParaRPr lang="en-US" dirty="0"/>
          </a:p>
          <a:p>
            <a:pPr marL="628650" lvl="1" indent="-171450">
              <a:buFont typeface="Arial" panose="020B0604020202020204" pitchFamily="34" charset="0"/>
              <a:buChar char="•"/>
            </a:pPr>
            <a:endParaRPr lang="ru-RU" dirty="0"/>
          </a:p>
          <a:p>
            <a:r>
              <a:rPr lang="ru-RU" b="1" dirty="0"/>
              <a:t>Почему нужен контроль именно на транспортном уровне</a:t>
            </a:r>
            <a:br>
              <a:rPr lang="ru-RU" dirty="0"/>
            </a:br>
            <a:r>
              <a:rPr lang="ru-RU" dirty="0"/>
              <a:t>На канальном уровне контрольная сумма защищает данные </a:t>
            </a:r>
            <a:r>
              <a:rPr lang="ru-RU" b="1" dirty="0"/>
              <a:t>только на одном участке</a:t>
            </a:r>
            <a:r>
              <a:rPr lang="ru-RU" dirty="0"/>
              <a:t> между двумя узлами.</a:t>
            </a:r>
            <a:br>
              <a:rPr lang="ru-RU" dirty="0"/>
            </a:br>
            <a:r>
              <a:rPr lang="ru-RU" dirty="0"/>
              <a:t>На транспортном — мы защищаем сегмент </a:t>
            </a:r>
            <a:r>
              <a:rPr lang="ru-RU" b="1" dirty="0"/>
              <a:t>от конца до конца</a:t>
            </a:r>
            <a:r>
              <a:rPr lang="ru-RU" dirty="0"/>
              <a:t>, от одного хоста до другого. Ошибка может возникнуть даже внутри маршрутизатора, и канальный уровень этого не заметит.</a:t>
            </a:r>
          </a:p>
          <a:p>
            <a:r>
              <a:rPr lang="ru-RU" dirty="0"/>
              <a:t>Отсюда и </a:t>
            </a:r>
            <a:r>
              <a:rPr lang="ru-RU" b="1" dirty="0" err="1"/>
              <a:t>end-to-end</a:t>
            </a:r>
            <a:r>
              <a:rPr lang="ru-RU" b="1" dirty="0"/>
              <a:t> принцип</a:t>
            </a:r>
            <a:r>
              <a:rPr lang="ru-RU" dirty="0"/>
              <a:t>:</a:t>
            </a:r>
          </a:p>
          <a:p>
            <a:pPr marL="628650" lvl="1" indent="-171450">
              <a:buFont typeface="Arial" panose="020B0604020202020204" pitchFamily="34" charset="0"/>
              <a:buChar char="•"/>
            </a:pPr>
            <a:r>
              <a:rPr lang="ru-RU" dirty="0"/>
              <a:t>сквозная проверка и повторная передача на транспортном уровне обязательны;</a:t>
            </a:r>
          </a:p>
          <a:p>
            <a:pPr marL="628650" lvl="1" indent="-171450">
              <a:buFont typeface="Arial" panose="020B0604020202020204" pitchFamily="34" charset="0"/>
              <a:buChar char="•"/>
            </a:pPr>
            <a:r>
              <a:rPr lang="ru-RU" dirty="0"/>
              <a:t>проверки на канальном уровне — полезная, но дополнительная оптимизация.</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144</a:t>
            </a:fld>
            <a:endParaRPr lang="en-US"/>
          </a:p>
        </p:txBody>
      </p:sp>
    </p:spTree>
    <p:extLst>
      <p:ext uri="{BB962C8B-B14F-4D97-AF65-F5344CB8AC3E}">
        <p14:creationId xmlns:p14="http://schemas.microsoft.com/office/powerpoint/2010/main" val="3752937515"/>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1" dirty="0"/>
              <a:t>Зачем нужны буферы</a:t>
            </a:r>
            <a:endParaRPr lang="ru-RU" dirty="0"/>
          </a:p>
          <a:p>
            <a:r>
              <a:rPr lang="ru-RU" b="1" dirty="0"/>
              <a:t>Отправитель</a:t>
            </a:r>
            <a:r>
              <a:rPr lang="ru-RU" dirty="0"/>
              <a:t> хранит все сегменты, для которых ещё не пришёл ACK — иначе их нельзя будет </a:t>
            </a:r>
            <a:r>
              <a:rPr lang="ru-RU" dirty="0" err="1"/>
              <a:t>переотправить</a:t>
            </a:r>
            <a:r>
              <a:rPr lang="ru-RU" dirty="0"/>
              <a:t> при потере.</a:t>
            </a:r>
            <a:endParaRPr lang="en-US" dirty="0"/>
          </a:p>
          <a:p>
            <a:endParaRPr lang="ru-RU" dirty="0"/>
          </a:p>
          <a:p>
            <a:r>
              <a:rPr lang="ru-RU" b="1" dirty="0"/>
              <a:t>Получатель</a:t>
            </a:r>
            <a:r>
              <a:rPr lang="ru-RU" dirty="0"/>
              <a:t> может: динамически выделять буферы по мере прихода сегментов (подходит для редкого трафика, например, терминала); или заранее резервировать буферы на целое окно (удобно для передачи больших файлов).</a:t>
            </a:r>
            <a:endParaRPr lang="en-US" dirty="0"/>
          </a:p>
          <a:p>
            <a:endParaRPr lang="ru-RU" dirty="0"/>
          </a:p>
          <a:p>
            <a:r>
              <a:rPr lang="ru-RU" dirty="0"/>
              <a:t>Буферы можно реализовать как: массив одинаковых блоков</a:t>
            </a:r>
            <a:r>
              <a:rPr lang="en-US" dirty="0"/>
              <a:t>,</a:t>
            </a:r>
            <a:r>
              <a:rPr lang="ru-RU" dirty="0"/>
              <a:t> структуру переменного размера</a:t>
            </a:r>
            <a:r>
              <a:rPr lang="en-US" dirty="0"/>
              <a:t> </a:t>
            </a:r>
            <a:r>
              <a:rPr lang="ru-RU" dirty="0"/>
              <a:t>или</a:t>
            </a:r>
            <a:r>
              <a:rPr lang="en-US" dirty="0"/>
              <a:t> </a:t>
            </a:r>
            <a:r>
              <a:rPr lang="ru-RU" dirty="0"/>
              <a:t>один большой </a:t>
            </a:r>
            <a:r>
              <a:rPr lang="ru-RU" b="1" dirty="0"/>
              <a:t>кольцевой буфер</a:t>
            </a:r>
            <a:r>
              <a:rPr lang="ru-RU" dirty="0"/>
              <a:t> — удобно при стабильной высокой нагрузке.</a:t>
            </a:r>
            <a:endParaRPr lang="en-US" dirty="0"/>
          </a:p>
          <a:p>
            <a:endParaRPr lang="ru-RU" dirty="0"/>
          </a:p>
          <a:p>
            <a:r>
              <a:rPr lang="ru-RU" b="1" dirty="0"/>
              <a:t>Динамическое окно</a:t>
            </a:r>
            <a:endParaRPr lang="ru-RU" dirty="0"/>
          </a:p>
          <a:p>
            <a:r>
              <a:rPr lang="ru-RU" dirty="0"/>
              <a:t>В отличие от фиксированного окна, на транспортном уровне часто используется </a:t>
            </a:r>
            <a:r>
              <a:rPr lang="ru-RU" b="1" dirty="0"/>
              <a:t>переменный размер окна</a:t>
            </a:r>
            <a:r>
              <a:rPr lang="ru-RU" dirty="0"/>
              <a:t>, зависящий от того, сколько буферов есть у получателя.</a:t>
            </a:r>
          </a:p>
          <a:p>
            <a:pPr marL="171450" indent="-171450">
              <a:buFont typeface="Arial" panose="020B0604020202020204" pitchFamily="34" charset="0"/>
              <a:buChar char="•"/>
            </a:pPr>
            <a:r>
              <a:rPr lang="ru-RU" dirty="0"/>
              <a:t>Отправитель «тратит» окно при отправке сегментов.</a:t>
            </a:r>
          </a:p>
          <a:p>
            <a:pPr marL="171450" indent="-171450">
              <a:buFont typeface="Arial" panose="020B0604020202020204" pitchFamily="34" charset="0"/>
              <a:buChar char="•"/>
            </a:pPr>
            <a:r>
              <a:rPr lang="ru-RU" dirty="0"/>
              <a:t>Получатель в ACK сообщает два типа информации:</a:t>
            </a:r>
          </a:p>
          <a:p>
            <a:pPr marL="628650" lvl="1" indent="-171450">
              <a:buFont typeface="Arial" panose="020B0604020202020204" pitchFamily="34" charset="0"/>
              <a:buChar char="•"/>
            </a:pPr>
            <a:r>
              <a:rPr lang="ru-RU" dirty="0"/>
              <a:t>какие сегменты дошли (подтверждения),</a:t>
            </a:r>
          </a:p>
          <a:p>
            <a:pPr marL="628650" lvl="1" indent="-171450">
              <a:buFont typeface="Arial" panose="020B0604020202020204" pitchFamily="34" charset="0"/>
              <a:buChar char="•"/>
            </a:pPr>
            <a:r>
              <a:rPr lang="ru-RU" dirty="0"/>
              <a:t>сколько буферов ещё доступно (новое окно, поле </a:t>
            </a:r>
            <a:r>
              <a:rPr lang="ru-RU" b="1" dirty="0" err="1"/>
              <a:t>Window</a:t>
            </a:r>
            <a:r>
              <a:rPr lang="ru-RU" b="1" dirty="0"/>
              <a:t> </a:t>
            </a:r>
            <a:r>
              <a:rPr lang="ru-RU" b="1" dirty="0" err="1"/>
              <a:t>size</a:t>
            </a:r>
            <a:r>
              <a:rPr lang="ru-RU" dirty="0"/>
              <a:t> в TCP).</a:t>
            </a:r>
          </a:p>
          <a:p>
            <a:r>
              <a:rPr lang="ru-RU" dirty="0"/>
              <a:t>Если окно обнуляется, отправитель временно останавливается, пока не получит обновлённое значение.</a:t>
            </a:r>
          </a:p>
          <a:p>
            <a:endParaRPr lang="en-US" b="1" dirty="0"/>
          </a:p>
          <a:p>
            <a:r>
              <a:rPr lang="ru-RU" b="1" dirty="0"/>
              <a:t>Что теперь ограничивает скорость</a:t>
            </a:r>
            <a:endParaRPr lang="ru-RU" dirty="0"/>
          </a:p>
          <a:p>
            <a:r>
              <a:rPr lang="ru-RU" dirty="0"/>
              <a:t>Раньше чаще ограничивал именно объём буферов у получателя. Сейчас память дешёвая, а настоящим узким местом становится </a:t>
            </a:r>
            <a:r>
              <a:rPr lang="ru-RU" b="1" dirty="0"/>
              <a:t>сеть</a:t>
            </a:r>
            <a:r>
              <a:rPr lang="ru-RU" dirty="0"/>
              <a:t>: её максимальная пропускная способность. Поэтому логика такая:</a:t>
            </a:r>
          </a:p>
          <a:p>
            <a:pPr marL="171450" indent="-171450">
              <a:buFont typeface="Arial" panose="020B0604020202020204" pitchFamily="34" charset="0"/>
              <a:buChar char="•"/>
            </a:pPr>
            <a:r>
              <a:rPr lang="ru-RU" dirty="0"/>
              <a:t>пусть сеть может передать </a:t>
            </a:r>
            <a:r>
              <a:rPr lang="ru-RU" i="1" dirty="0"/>
              <a:t>c сегментов в секунду</a:t>
            </a:r>
            <a:r>
              <a:rPr lang="ru-RU" dirty="0"/>
              <a:t>,</a:t>
            </a:r>
          </a:p>
          <a:p>
            <a:pPr marL="171450" indent="-171450">
              <a:buFont typeface="Arial" panose="020B0604020202020204" pitchFamily="34" charset="0"/>
              <a:buChar char="•"/>
            </a:pPr>
            <a:r>
              <a:rPr lang="ru-RU" dirty="0"/>
              <a:t>а полный цикл «туда–обратно» занимает </a:t>
            </a:r>
            <a:r>
              <a:rPr lang="ru-RU" i="1" dirty="0"/>
              <a:t>r секунд</a:t>
            </a:r>
            <a:r>
              <a:rPr lang="ru-RU" dirty="0"/>
              <a:t>;</a:t>
            </a:r>
          </a:p>
          <a:p>
            <a:pPr marL="171450" indent="-171450">
              <a:buFont typeface="Arial" panose="020B0604020202020204" pitchFamily="34" charset="0"/>
              <a:buChar char="•"/>
            </a:pPr>
            <a:r>
              <a:rPr lang="ru-RU" dirty="0"/>
              <a:t>тогда оптимальный размер окна — примерно </a:t>
            </a:r>
            <a:r>
              <a:rPr lang="ru-RU" b="1" dirty="0" err="1"/>
              <a:t>c·r</a:t>
            </a:r>
            <a:r>
              <a:rPr lang="ru-RU" dirty="0"/>
              <a:t>.</a:t>
            </a:r>
          </a:p>
          <a:p>
            <a:r>
              <a:rPr lang="ru-RU" dirty="0"/>
              <a:t>Это позволяет одновременно:</a:t>
            </a:r>
          </a:p>
          <a:p>
            <a:pPr marL="171450" indent="-171450">
              <a:buFont typeface="Arial" panose="020B0604020202020204" pitchFamily="34" charset="0"/>
              <a:buChar char="•"/>
            </a:pPr>
            <a:r>
              <a:rPr lang="ru-RU" dirty="0"/>
              <a:t>не «задушить» сеть лишним трафиком,</a:t>
            </a:r>
          </a:p>
          <a:p>
            <a:pPr marL="171450" indent="-171450">
              <a:buFont typeface="Arial" panose="020B0604020202020204" pitchFamily="34" charset="0"/>
              <a:buChar char="•"/>
            </a:pPr>
            <a:r>
              <a:rPr lang="ru-RU" dirty="0"/>
              <a:t>и не простаивать из-за слишком маленького окна.</a:t>
            </a:r>
            <a:endParaRPr lang="en-US" dirty="0"/>
          </a:p>
          <a:p>
            <a:pPr marL="171450" indent="-171450">
              <a:buFont typeface="Arial" panose="020B0604020202020204" pitchFamily="34" charset="0"/>
              <a:buChar char="•"/>
            </a:pPr>
            <a:endParaRPr lang="ru-RU" dirty="0"/>
          </a:p>
          <a:p>
            <a:r>
              <a:rPr lang="ru-RU" dirty="0"/>
              <a:t>В TCP реализована похожая идея: окно постоянно подстраивается под текущие условия в сети, совмещая </a:t>
            </a:r>
            <a:r>
              <a:rPr lang="ru-RU" b="1" dirty="0"/>
              <a:t>управление потоком</a:t>
            </a:r>
            <a:r>
              <a:rPr lang="ru-RU" dirty="0"/>
              <a:t> и </a:t>
            </a:r>
            <a:r>
              <a:rPr lang="ru-RU" b="1" dirty="0"/>
              <a:t>контроль перегрузок</a:t>
            </a:r>
            <a:r>
              <a:rPr lang="ru-RU" dirty="0"/>
              <a:t>.</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145</a:t>
            </a:fld>
            <a:endParaRPr lang="en-US"/>
          </a:p>
        </p:txBody>
      </p:sp>
    </p:spTree>
    <p:extLst>
      <p:ext uri="{BB962C8B-B14F-4D97-AF65-F5344CB8AC3E}">
        <p14:creationId xmlns:p14="http://schemas.microsoft.com/office/powerpoint/2010/main" val="3070808393"/>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интернете есть два главных транспортных протокола: </a:t>
            </a:r>
            <a:r>
              <a:rPr lang="ru-RU" b="1" dirty="0"/>
              <a:t>UDP и TCP</a:t>
            </a:r>
            <a:r>
              <a:rPr lang="ru-RU" dirty="0"/>
              <a:t>.</a:t>
            </a:r>
            <a:br>
              <a:rPr lang="ru-RU" dirty="0"/>
            </a:br>
            <a:r>
              <a:rPr lang="ru-RU" b="1" dirty="0"/>
              <a:t>UDP</a:t>
            </a:r>
            <a:r>
              <a:rPr lang="ru-RU" dirty="0"/>
              <a:t> — это “лёгкий” вариант: он </a:t>
            </a:r>
            <a:r>
              <a:rPr lang="ru-RU" b="1" dirty="0"/>
              <a:t>не устанавливает соединение</a:t>
            </a:r>
            <a:r>
              <a:rPr lang="ru-RU" dirty="0"/>
              <a:t>, не гарантирует доставку и порядок, просто шлёт </a:t>
            </a:r>
            <a:r>
              <a:rPr lang="ru-RU" dirty="0" err="1"/>
              <a:t>датаграммы</a:t>
            </a:r>
            <a:r>
              <a:rPr lang="ru-RU" dirty="0"/>
              <a:t> между приложениями.</a:t>
            </a:r>
            <a:endParaRPr lang="en-US" dirty="0"/>
          </a:p>
          <a:p>
            <a:endParaRPr lang="ru-RU" dirty="0"/>
          </a:p>
          <a:p>
            <a:r>
              <a:rPr lang="ru-RU" dirty="0"/>
              <a:t>За надёжность, если она нужна, отвечает само приложение. Плюс UDP — </a:t>
            </a:r>
            <a:r>
              <a:rPr lang="ru-RU" b="1" dirty="0"/>
              <a:t>минимальные накладные расходы и задержки</a:t>
            </a:r>
            <a:r>
              <a:rPr lang="ru-RU" dirty="0"/>
              <a:t>, поэтому его используют в </a:t>
            </a:r>
            <a:r>
              <a:rPr lang="ru-RU" b="1" dirty="0"/>
              <a:t>онлайн-играх, голосе, видео и DNS</a:t>
            </a:r>
            <a:r>
              <a:rPr lang="ru-RU" dirty="0"/>
              <a:t>, где важнее скорость, чем идеальная надёжность.</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146</a:t>
            </a:fld>
            <a:endParaRPr lang="en-US"/>
          </a:p>
        </p:txBody>
      </p:sp>
    </p:spTree>
    <p:extLst>
      <p:ext uri="{BB962C8B-B14F-4D97-AF65-F5344CB8AC3E}">
        <p14:creationId xmlns:p14="http://schemas.microsoft.com/office/powerpoint/2010/main" val="4930718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147</a:t>
            </a:fld>
            <a:endParaRPr lang="en-US"/>
          </a:p>
        </p:txBody>
      </p:sp>
    </p:spTree>
    <p:extLst>
      <p:ext uri="{BB962C8B-B14F-4D97-AF65-F5344CB8AC3E}">
        <p14:creationId xmlns:p14="http://schemas.microsoft.com/office/powerpoint/2010/main" val="3147152524"/>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r>
              <a:rPr lang="ru-RU" dirty="0"/>
              <a:t>CP — это основной транспортный протокол интернета, который работает «над» IP. В отличие от UDP, он </a:t>
            </a:r>
            <a:r>
              <a:rPr lang="ru-RU" i="1" dirty="0"/>
              <a:t>обязан</a:t>
            </a:r>
            <a:r>
              <a:rPr lang="ru-RU" dirty="0"/>
              <a:t> устанавливать соединение и гарантировать приложениям надёжный, упорядоченный байтовый поток.</a:t>
            </a:r>
          </a:p>
          <a:p>
            <a:endParaRPr lang="ru-RU" dirty="0"/>
          </a:p>
          <a:p>
            <a:r>
              <a:rPr lang="ru-RU" dirty="0"/>
              <a:t>Что это значит на практике: приложение отдаёт TCP просто поток байтов, а TCP сам делит его на сегменты, упаковывает в IP-дейтаграммы и отправляет в сеть. На другом конце TCP-подсистема заново собирает байты в том же порядке, даже если отдельные IP-пакеты потерялись, пришли с ошибками или вразнобой.</a:t>
            </a:r>
          </a:p>
          <a:p>
            <a:endParaRPr lang="ru-RU" dirty="0"/>
          </a:p>
          <a:p>
            <a:r>
              <a:rPr lang="ru-RU" dirty="0"/>
              <a:t>Поскольку IP </a:t>
            </a:r>
            <a:r>
              <a:rPr lang="ru-RU" b="1" dirty="0"/>
              <a:t>ничего не обещает</a:t>
            </a:r>
            <a:r>
              <a:rPr lang="ru-RU" dirty="0"/>
              <a:t> — ни доставки, ни порядка, ни ограничения скорости, — все «умные» вещи делает TCP: выбирает подходящую скорость передачи, отслеживает тайм-ауты, инициирует повторные отправки потерянных сегментов, переставляет их в правильном порядке.</a:t>
            </a:r>
          </a:p>
          <a:p>
            <a:endParaRPr lang="ru-RU" dirty="0"/>
          </a:p>
          <a:p>
            <a:r>
              <a:rPr lang="ru-RU" dirty="0"/>
              <a:t>Стандарт TCP описан в RFC 793, а дальше он много раз расширялся новыми RFC: добавлялись уточнения, улучшенные таймеры, контроль перегрузки, механизмы для высокой производительности и </a:t>
            </a:r>
            <a:r>
              <a:rPr lang="ru-RU" dirty="0" err="1"/>
              <a:t>QoS</a:t>
            </a:r>
            <a:r>
              <a:rPr lang="ru-RU" dirty="0"/>
              <a:t>. Это хороший индикатор того, насколько TCP важен и живой как протокол.</a:t>
            </a:r>
          </a:p>
          <a:p>
            <a:endParaRPr lang="ru-RU" dirty="0"/>
          </a:p>
          <a:p>
            <a:r>
              <a:rPr lang="ru-RU" dirty="0"/>
              <a:t>Реализован TCP, как правило, внутри ядра операционной системы. Программы общаются с ним через интерфейс сокетов, о котором мы уже говорили. В итоге для прикладного кода это выглядит как работа с надёжным каналом, хотя внизу у нас всё та же ненадёжная интерсеть из разных сетей, линий и маршрутизаторов.</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148</a:t>
            </a:fld>
            <a:endParaRPr lang="en-US"/>
          </a:p>
        </p:txBody>
      </p:sp>
    </p:spTree>
    <p:extLst>
      <p:ext uri="{BB962C8B-B14F-4D97-AF65-F5344CB8AC3E}">
        <p14:creationId xmlns:p14="http://schemas.microsoft.com/office/powerpoint/2010/main" val="352913386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TCP предоставляет приложениям службу в виде сокетов. </a:t>
            </a:r>
            <a:endParaRPr lang="en-US" dirty="0"/>
          </a:p>
          <a:p>
            <a:endParaRPr lang="en-US" dirty="0"/>
          </a:p>
          <a:p>
            <a:r>
              <a:rPr lang="ru-RU" dirty="0"/>
              <a:t>Адрес сокета — это IP-адрес хоста плюс номер порта. Порт в TCP — это как раз та самая точка доступа к транспортной службе. Один порт может обслуживать сразу несколько соединений: соединения различаются парой сокетов </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local</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IP:port</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remote</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IP:port</a:t>
            </a:r>
            <a:r>
              <a:rPr lang="ru-RU" sz="1200" kern="1200" dirty="0">
                <a:solidFill>
                  <a:schemeClr val="tx1"/>
                </a:solidFill>
                <a:latin typeface="+mn-lt"/>
                <a:ea typeface="+mn-ea"/>
                <a:cs typeface="+mn-cs"/>
              </a:rPr>
              <a:t>)</a:t>
            </a:r>
            <a:r>
              <a:rPr lang="ru-RU" dirty="0"/>
              <a:t>.</a:t>
            </a:r>
          </a:p>
          <a:p>
            <a:endParaRPr lang="ru-RU" dirty="0"/>
          </a:p>
          <a:p>
            <a:r>
              <a:rPr lang="ru-RU" dirty="0"/>
              <a:t>Службы, которые должны быть «по фиксированному адресу», используют известные порты ниже 1024 — например, веб-сервер слушает порт 80. В UNIX почти всегда работает демон </a:t>
            </a:r>
            <a:r>
              <a:rPr lang="ru-RU" sz="1200" kern="1200" dirty="0" err="1">
                <a:solidFill>
                  <a:schemeClr val="tx1"/>
                </a:solidFill>
                <a:latin typeface="+mn-lt"/>
                <a:ea typeface="+mn-ea"/>
                <a:cs typeface="+mn-cs"/>
              </a:rPr>
              <a:t>inetd</a:t>
            </a:r>
            <a:r>
              <a:rPr lang="ru-RU" dirty="0"/>
              <a:t>, который слушает сразу много портов и при первом запросе на конкретный порт запускает нужный сервер, чтобы не держать десятки демонов постоянно в памяти.</a:t>
            </a:r>
          </a:p>
          <a:p>
            <a:endParaRPr lang="ru-RU" dirty="0"/>
          </a:p>
          <a:p>
            <a:r>
              <a:rPr lang="ru-RU" dirty="0"/>
              <a:t>Все TCP-соединения полнодуплексные и строго двухточечные — трафик может идти одновременно в обе стороны, но всегда только между двумя узлами, широковещания и многоадресной рассылки здесь нет.</a:t>
            </a:r>
          </a:p>
          <a:p>
            <a:r>
              <a:rPr lang="ru-RU" dirty="0"/>
              <a:t>Очень важно, что TCP даёт </a:t>
            </a:r>
            <a:r>
              <a:rPr lang="ru-RU" b="1" dirty="0"/>
              <a:t>байтовый поток</a:t>
            </a:r>
            <a:r>
              <a:rPr lang="ru-RU" dirty="0"/>
              <a:t>: он не сохраняет границы сообщений. Если приложение четыре раза записало по 512 байт, получатель может прочитать их как один блок 2048 байт или любыми другими порциями. Сам TCP не интересуется структурой данных — для него «байт есть байт».</a:t>
            </a:r>
          </a:p>
          <a:p>
            <a:endParaRPr lang="ru-RU" dirty="0"/>
          </a:p>
          <a:p>
            <a:r>
              <a:rPr lang="ru-RU" dirty="0"/>
              <a:t>При передаче TCP сам решает, буферизовать данные или сразу отправить. Чтобы уменьшить задержки, приложения могут просить «отправить немедленно» с помощью соответствующих опций (например, через TCP_NODELAY). Механизм «срочных данных» с флагом URG исторически существует, но из-за неоднозначной реализации практически не используется, и современные приложения обычно строят свою собственную сигнализацию поверх обычного байтового потока.</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149</a:t>
            </a:fld>
            <a:endParaRPr lang="en-US"/>
          </a:p>
        </p:txBody>
      </p:sp>
    </p:spTree>
    <p:extLst>
      <p:ext uri="{BB962C8B-B14F-4D97-AF65-F5344CB8AC3E}">
        <p14:creationId xmlns:p14="http://schemas.microsoft.com/office/powerpoint/2010/main" val="4273245957"/>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TCP можно понимать так: весь байтовый поток нумеруется 32-битными номерами. Эти номера используются сразу для двух вещей — чтобы подтвердить, что данные дошли, и чтобы двигать раздвижное окно, определяя, сколько ещё можно отправить без подтверждений.</a:t>
            </a:r>
          </a:p>
          <a:p>
            <a:endParaRPr lang="ru-RU" dirty="0"/>
          </a:p>
          <a:p>
            <a:r>
              <a:rPr lang="ru-RU" dirty="0"/>
              <a:t>Данные приложение отдаёт кусками, но TCP может по-своему собирать их в сегменты. Размер сегмента ограничен, во-первых, максимальным размером IP-пакета, а во-вторых, MTU конкретных каналов по пути. Чтобы не попадать в IP-фрагментацию и не терять производительность, современные реализации применяют </a:t>
            </a:r>
            <a:r>
              <a:rPr lang="ru-RU" dirty="0" err="1"/>
              <a:t>discovery</a:t>
            </a:r>
            <a:r>
              <a:rPr lang="ru-RU" dirty="0"/>
              <a:t> MTU маршрута и подбирают безопасный размер сегмента.</a:t>
            </a:r>
          </a:p>
          <a:p>
            <a:endParaRPr lang="ru-RU" dirty="0"/>
          </a:p>
          <a:p>
            <a:r>
              <a:rPr lang="ru-RU" dirty="0"/>
              <a:t>Передача управляется протоколом раздвижного окна: на каждый отправленный сегмент ставится таймер, а получатель присылает ACK с номером следующего ожидаемого байта. Если ACK не приходит вовремя — сегмент пересылается заново. </a:t>
            </a:r>
          </a:p>
          <a:p>
            <a:endParaRPr lang="ru-RU" dirty="0"/>
          </a:p>
          <a:p>
            <a:r>
              <a:rPr lang="ru-RU" dirty="0"/>
              <a:t>Поскольку пакеты могут приходить не по порядку, дублироваться и сильно задерживаться, TCP должен очень аккуратно вести учёт принятых диапазонов байт. На практике большая часть тонкостей и оптимизаций TCP как раз про то, как сделать всё это быстро и эффективно.</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150</a:t>
            </a:fld>
            <a:endParaRPr lang="en-US"/>
          </a:p>
        </p:txBody>
      </p:sp>
    </p:spTree>
    <p:extLst>
      <p:ext uri="{BB962C8B-B14F-4D97-AF65-F5344CB8AC3E}">
        <p14:creationId xmlns:p14="http://schemas.microsoft.com/office/powerpoint/2010/main" val="1004887315"/>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показан </a:t>
            </a:r>
            <a:r>
              <a:rPr lang="ru-RU" dirty="0" err="1"/>
              <a:t>заголовкок</a:t>
            </a:r>
            <a:r>
              <a:rPr lang="ru-RU" dirty="0"/>
              <a:t> TCP.</a:t>
            </a:r>
            <a:br>
              <a:rPr lang="ru-RU" dirty="0"/>
            </a:br>
            <a:r>
              <a:rPr lang="ru-RU" dirty="0"/>
              <a:t>Во-первых, пара портов отправителя и получателя вместе с IP-адресами однозначно определяет конкретное TCP-соединение.</a:t>
            </a:r>
          </a:p>
          <a:p>
            <a:r>
              <a:rPr lang="ru-RU" dirty="0"/>
              <a:t>Порядковые номера нумеруют каждый байт в потоке, а номер подтверждения всегда указывает «какой байт я жду следующим». Это и есть накопительное подтверждение: отправитель понимает, что всё до этого байта точно дошло.</a:t>
            </a:r>
          </a:p>
          <a:p>
            <a:endParaRPr lang="ru-RU" dirty="0"/>
          </a:p>
          <a:p>
            <a:r>
              <a:rPr lang="ru-RU" dirty="0"/>
              <a:t>Во-вторых, флаги управляют жизненным циклом соединения. </a:t>
            </a:r>
          </a:p>
          <a:p>
            <a:r>
              <a:rPr lang="ru-RU" sz="1200" kern="1200" dirty="0">
                <a:solidFill>
                  <a:schemeClr val="tx1"/>
                </a:solidFill>
                <a:latin typeface="+mn-lt"/>
                <a:ea typeface="+mn-ea"/>
                <a:cs typeface="+mn-cs"/>
              </a:rPr>
              <a:t>SYN</a:t>
            </a:r>
            <a:r>
              <a:rPr lang="ru-RU" dirty="0"/>
              <a:t> и </a:t>
            </a:r>
            <a:r>
              <a:rPr lang="ru-RU" sz="1200" kern="1200" dirty="0">
                <a:solidFill>
                  <a:schemeClr val="tx1"/>
                </a:solidFill>
                <a:latin typeface="+mn-lt"/>
                <a:ea typeface="+mn-ea"/>
                <a:cs typeface="+mn-cs"/>
              </a:rPr>
              <a:t>ACK</a:t>
            </a:r>
            <a:r>
              <a:rPr lang="ru-RU" dirty="0"/>
              <a:t> используются при «тройном рукопожатии», </a:t>
            </a:r>
          </a:p>
          <a:p>
            <a:r>
              <a:rPr lang="ru-RU" sz="1200" kern="1200" dirty="0">
                <a:solidFill>
                  <a:schemeClr val="tx1"/>
                </a:solidFill>
                <a:latin typeface="+mn-lt"/>
                <a:ea typeface="+mn-ea"/>
                <a:cs typeface="+mn-cs"/>
              </a:rPr>
              <a:t>FIN</a:t>
            </a:r>
            <a:r>
              <a:rPr lang="ru-RU" dirty="0"/>
              <a:t> — для нормального завершения, </a:t>
            </a:r>
          </a:p>
          <a:p>
            <a:r>
              <a:rPr lang="ru-RU" sz="1200" kern="1200" dirty="0">
                <a:solidFill>
                  <a:schemeClr val="tx1"/>
                </a:solidFill>
                <a:latin typeface="+mn-lt"/>
                <a:ea typeface="+mn-ea"/>
                <a:cs typeface="+mn-cs"/>
              </a:rPr>
              <a:t>RST</a:t>
            </a:r>
            <a:r>
              <a:rPr lang="ru-RU" dirty="0"/>
              <a:t> — для аварийного сброса. Флаг </a:t>
            </a:r>
            <a:r>
              <a:rPr lang="ru-RU" sz="1200" kern="1200" dirty="0">
                <a:solidFill>
                  <a:schemeClr val="tx1"/>
                </a:solidFill>
                <a:latin typeface="+mn-lt"/>
                <a:ea typeface="+mn-ea"/>
                <a:cs typeface="+mn-cs"/>
              </a:rPr>
              <a:t>PSH</a:t>
            </a:r>
            <a:r>
              <a:rPr lang="ru-RU" dirty="0"/>
              <a:t> просит доставить данные приложению сразу, а не задерживать их в буфере.</a:t>
            </a:r>
          </a:p>
          <a:p>
            <a:r>
              <a:rPr lang="ru-RU" dirty="0"/>
              <a:t>Флаги </a:t>
            </a:r>
            <a:r>
              <a:rPr lang="ru-RU" sz="1200" kern="1200" dirty="0">
                <a:solidFill>
                  <a:schemeClr val="tx1"/>
                </a:solidFill>
                <a:latin typeface="+mn-lt"/>
                <a:ea typeface="+mn-ea"/>
                <a:cs typeface="+mn-cs"/>
              </a:rPr>
              <a:t>ECE</a:t>
            </a:r>
            <a:r>
              <a:rPr lang="ru-RU" dirty="0"/>
              <a:t> и </a:t>
            </a:r>
            <a:r>
              <a:rPr lang="ru-RU" sz="1200" kern="1200" dirty="0">
                <a:solidFill>
                  <a:schemeClr val="tx1"/>
                </a:solidFill>
                <a:latin typeface="+mn-lt"/>
                <a:ea typeface="+mn-ea"/>
                <a:cs typeface="+mn-cs"/>
              </a:rPr>
              <a:t>CWR</a:t>
            </a:r>
            <a:r>
              <a:rPr lang="ru-RU" dirty="0"/>
              <a:t> связаны с механизмом явного уведомления о перегрузке, когда сеть сама сигнализирует о проблемах.</a:t>
            </a:r>
          </a:p>
          <a:p>
            <a:r>
              <a:rPr lang="ru-RU" dirty="0"/>
              <a:t>Наконец, поле </a:t>
            </a:r>
            <a:r>
              <a:rPr lang="ru-RU" sz="1200" kern="1200" dirty="0" err="1">
                <a:solidFill>
                  <a:schemeClr val="tx1"/>
                </a:solidFill>
                <a:latin typeface="+mn-lt"/>
                <a:ea typeface="+mn-ea"/>
                <a:cs typeface="+mn-cs"/>
              </a:rPr>
              <a:t>Window</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size</a:t>
            </a:r>
            <a:r>
              <a:rPr lang="ru-RU" dirty="0"/>
              <a:t> показывает, сколько байт получатель готов принять дальше — это основа управления потоком.</a:t>
            </a:r>
          </a:p>
          <a:p>
            <a:r>
              <a:rPr lang="ru-RU" sz="1200" kern="1200" dirty="0" err="1">
                <a:solidFill>
                  <a:schemeClr val="tx1"/>
                </a:solidFill>
                <a:latin typeface="+mn-lt"/>
                <a:ea typeface="+mn-ea"/>
                <a:cs typeface="+mn-cs"/>
              </a:rPr>
              <a:t>Checksum</a:t>
            </a:r>
            <a:r>
              <a:rPr lang="ru-RU" dirty="0"/>
              <a:t> обеспечивает сквозную проверку целостности всего сегмента (заголовок + данные), дополняя проверки на других уровнях.</a:t>
            </a:r>
            <a:endParaRPr lang="en-US" dirty="0"/>
          </a:p>
          <a:p>
            <a:r>
              <a:rPr lang="ru-RU" dirty="0"/>
              <a:t>Поле длины заголовка нужно, потому что в конце могут быть опции, из-за которых размер заголовка меняется.</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151</a:t>
            </a:fld>
            <a:endParaRPr lang="en-US"/>
          </a:p>
        </p:txBody>
      </p:sp>
    </p:spTree>
    <p:extLst>
      <p:ext uri="{BB962C8B-B14F-4D97-AF65-F5344CB8AC3E}">
        <p14:creationId xmlns:p14="http://schemas.microsoft.com/office/powerpoint/2010/main" val="4247040857"/>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Опции — это «надстройка» над базовым заголовком, которая делает TCP пригодным для быстрых и «дальних» сетей.</a:t>
            </a:r>
            <a:endParaRPr lang="en-US" dirty="0"/>
          </a:p>
          <a:p>
            <a:endParaRPr lang="ru-RU" dirty="0"/>
          </a:p>
          <a:p>
            <a:r>
              <a:rPr lang="ru-RU" dirty="0"/>
              <a:t>Опция </a:t>
            </a:r>
            <a:r>
              <a:rPr lang="ru-RU" b="1" dirty="0"/>
              <a:t>MSS</a:t>
            </a:r>
            <a:r>
              <a:rPr lang="ru-RU" dirty="0"/>
              <a:t> позволяет хосту честно заявить: какой максимальный размер сегмента данных он может принять. Чем больше MSS, тем меньше относительные накладные расходы заголовков, но слишком большой сегмент может не пролезть через какие-то каналы. Поэтому стороны договариваются об удобном размере уже на этапе установки соединения.</a:t>
            </a:r>
            <a:endParaRPr lang="en-US" dirty="0"/>
          </a:p>
          <a:p>
            <a:endParaRPr lang="ru-RU" dirty="0"/>
          </a:p>
          <a:p>
            <a:r>
              <a:rPr lang="ru-RU" b="1" dirty="0"/>
              <a:t>Масштаб окна</a:t>
            </a:r>
            <a:r>
              <a:rPr lang="ru-RU" dirty="0"/>
              <a:t> решает проблему высокоскоростных линий. Стандартное 16-битное поле окна ограничивает его примерно 64 КБ — для гигабитных каналов это смешно мало. </a:t>
            </a:r>
            <a:r>
              <a:rPr lang="ru-RU" dirty="0" err="1"/>
              <a:t>Window</a:t>
            </a:r>
            <a:r>
              <a:rPr lang="ru-RU" dirty="0"/>
              <a:t> </a:t>
            </a:r>
            <a:r>
              <a:rPr lang="ru-RU" dirty="0" err="1"/>
              <a:t>scale</a:t>
            </a:r>
            <a:r>
              <a:rPr lang="ru-RU" dirty="0"/>
              <a:t> позволяет логически «расширить» окно, сдвинув значение на несколько бит влево, и тем самым сделать окно вплоть до гигабайта.</a:t>
            </a:r>
          </a:p>
          <a:p>
            <a:endParaRPr lang="ru-RU" dirty="0"/>
          </a:p>
          <a:p>
            <a:r>
              <a:rPr lang="ru-RU" b="1" dirty="0"/>
              <a:t>Временные метки</a:t>
            </a:r>
            <a:r>
              <a:rPr lang="ru-RU" dirty="0"/>
              <a:t> добавляют в каждый сегмент </a:t>
            </a:r>
            <a:r>
              <a:rPr lang="ru-RU" dirty="0" err="1"/>
              <a:t>timestamp</a:t>
            </a:r>
            <a:r>
              <a:rPr lang="ru-RU" dirty="0"/>
              <a:t>, по которому можно точнее измерять RTT, настраивать таймеры и, в сочетании с механизмом </a:t>
            </a:r>
            <a:r>
              <a:rPr lang="ru-RU" b="1" dirty="0"/>
              <a:t>PAWS</a:t>
            </a:r>
            <a:r>
              <a:rPr lang="en-US" dirty="0"/>
              <a:t> (Protection against wrapped sequence numbers)</a:t>
            </a:r>
            <a:r>
              <a:rPr lang="ru-RU" dirty="0"/>
              <a:t> отличать старые сегменты от новых, даже если 32-битные номера уже успели «обернуться по кругу».</a:t>
            </a:r>
          </a:p>
          <a:p>
            <a:endParaRPr lang="ru-RU" dirty="0"/>
          </a:p>
          <a:p>
            <a:r>
              <a:rPr lang="ru-RU" dirty="0"/>
              <a:t>Наконец, </a:t>
            </a:r>
            <a:r>
              <a:rPr lang="ru-RU" b="1" dirty="0"/>
              <a:t>SACK</a:t>
            </a:r>
            <a:r>
              <a:rPr lang="ru-RU" dirty="0"/>
              <a:t> даёт получателю возможность сказать: «У меня есть вот такие диапазоны байтов, а вот этих кусков не хватает». Отправитель тогда повторно передаёт только реально потерянные фрагменты, а не пересылает заново всё подряд. Это значительно улучшает поведение TCP при потерях и перегрузках, особенно в сетях с большой задержкой и высокой скоростью.</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152</a:t>
            </a:fld>
            <a:endParaRPr lang="en-US"/>
          </a:p>
        </p:txBody>
      </p:sp>
    </p:spTree>
    <p:extLst>
      <p:ext uri="{BB962C8B-B14F-4D97-AF65-F5344CB8AC3E}">
        <p14:creationId xmlns:p14="http://schemas.microsoft.com/office/powerpoint/2010/main" val="308048918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TCP устанавливает соединение с помощью </a:t>
            </a:r>
            <a:r>
              <a:rPr lang="ru-RU" b="1" dirty="0"/>
              <a:t>трёхстороннего рукопожатия</a:t>
            </a:r>
            <a:r>
              <a:rPr lang="ru-RU" dirty="0"/>
              <a:t>: клиент отправляет сегмент с флагом SYN, сервер отвечает SYN+ACK, затем клиент посылает финальный ACK — после этого соединение установлено.</a:t>
            </a:r>
          </a:p>
          <a:p>
            <a:br>
              <a:rPr lang="ru-RU" dirty="0"/>
            </a:br>
            <a:r>
              <a:rPr lang="ru-RU" dirty="0"/>
              <a:t>Сервер пассивно ждёт соединения с помощью вызовов </a:t>
            </a:r>
            <a:r>
              <a:rPr lang="ru-RU" sz="1200" kern="1200" dirty="0">
                <a:solidFill>
                  <a:schemeClr val="tx1"/>
                </a:solidFill>
                <a:latin typeface="+mn-lt"/>
                <a:ea typeface="+mn-ea"/>
                <a:cs typeface="+mn-cs"/>
              </a:rPr>
              <a:t>LISTEN</a:t>
            </a:r>
            <a:r>
              <a:rPr lang="ru-RU" dirty="0"/>
              <a:t> и </a:t>
            </a:r>
            <a:r>
              <a:rPr lang="ru-RU" sz="1200" kern="1200" dirty="0">
                <a:solidFill>
                  <a:schemeClr val="tx1"/>
                </a:solidFill>
                <a:latin typeface="+mn-lt"/>
                <a:ea typeface="+mn-ea"/>
                <a:cs typeface="+mn-cs"/>
              </a:rPr>
              <a:t>ACCEPT</a:t>
            </a:r>
            <a:r>
              <a:rPr lang="ru-RU" dirty="0"/>
              <a:t>, клиент активно инициирует соединение через </a:t>
            </a:r>
            <a:r>
              <a:rPr lang="ru-RU" sz="1200" kern="1200" dirty="0">
                <a:solidFill>
                  <a:schemeClr val="tx1"/>
                </a:solidFill>
                <a:latin typeface="+mn-lt"/>
                <a:ea typeface="+mn-ea"/>
                <a:cs typeface="+mn-cs"/>
              </a:rPr>
              <a:t>CONNECT</a:t>
            </a:r>
            <a:r>
              <a:rPr lang="ru-RU" dirty="0"/>
              <a:t>, указывая IP, порт и свой максимальный размер сегмента (MSS). Если на нужном порту никто не слушает, удалённый хост отвечает сегментом с флагом RST — это отказ в соединении.</a:t>
            </a:r>
          </a:p>
          <a:p>
            <a:br>
              <a:rPr lang="ru-RU" dirty="0"/>
            </a:br>
            <a:r>
              <a:rPr lang="ru-RU" dirty="0"/>
              <a:t>Начальные номера последовательностей в TCP </a:t>
            </a:r>
            <a:r>
              <a:rPr lang="ru-RU" b="1" dirty="0"/>
              <a:t>меняются во времени</a:t>
            </a:r>
            <a:r>
              <a:rPr lang="ru-RU" dirty="0"/>
              <a:t>, чтобы защититься от старых задержавшихся пакетов и от подделки соединений. На практике возникают и атаки вида </a:t>
            </a:r>
            <a:r>
              <a:rPr lang="ru-RU" b="1" dirty="0"/>
              <a:t>SYN </a:t>
            </a:r>
            <a:r>
              <a:rPr lang="ru-RU" b="1" dirty="0" err="1"/>
              <a:t>flood</a:t>
            </a:r>
            <a:r>
              <a:rPr lang="ru-RU" dirty="0"/>
              <a:t>, когда злоумышленник забивает сервер полуоткрытыми соединениями. Для защиты используют </a:t>
            </a:r>
            <a:r>
              <a:rPr lang="ru-RU" b="1" dirty="0"/>
              <a:t>SYN </a:t>
            </a:r>
            <a:r>
              <a:rPr lang="ru-RU" b="1" dirty="0" err="1"/>
              <a:t>cookies</a:t>
            </a:r>
            <a:r>
              <a:rPr lang="ru-RU" dirty="0"/>
              <a:t>: сервер кодирует информацию в начальном номере последовательности и не хранит состояние, пока не получит финальный ACK от настоящего клиента.</a:t>
            </a: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153</a:t>
            </a:fld>
            <a:endParaRPr lang="en-US"/>
          </a:p>
        </p:txBody>
      </p:sp>
    </p:spTree>
    <p:extLst>
      <p:ext uri="{BB962C8B-B14F-4D97-AF65-F5344CB8AC3E}">
        <p14:creationId xmlns:p14="http://schemas.microsoft.com/office/powerpoint/2010/main" val="2519731293"/>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TCP описывается </a:t>
            </a:r>
            <a:r>
              <a:rPr lang="ru-RU" b="1" dirty="0"/>
              <a:t>конечным автоматом</a:t>
            </a:r>
            <a:r>
              <a:rPr lang="ru-RU" dirty="0"/>
              <a:t> с 11 состояниями (CLOSED, LISTEN, SYN_SENT, ESTABLISHED, FIN_WAIT и др.).</a:t>
            </a:r>
          </a:p>
          <a:p>
            <a:r>
              <a:rPr lang="ru-RU" dirty="0"/>
              <a:t>Соединение начинается из </a:t>
            </a:r>
            <a:r>
              <a:rPr lang="ru-RU" b="1" dirty="0"/>
              <a:t>CLOSED</a:t>
            </a:r>
            <a:r>
              <a:rPr lang="ru-RU" dirty="0"/>
              <a:t> и переходит в</a:t>
            </a:r>
          </a:p>
          <a:p>
            <a:r>
              <a:rPr lang="ru-RU" b="1" dirty="0"/>
              <a:t>активное открытие</a:t>
            </a:r>
            <a:r>
              <a:rPr lang="ru-RU" dirty="0"/>
              <a:t>: клиент вызывает </a:t>
            </a:r>
            <a:r>
              <a:rPr lang="ru-RU" sz="1200" kern="1200" dirty="0">
                <a:solidFill>
                  <a:schemeClr val="tx1"/>
                </a:solidFill>
                <a:latin typeface="+mn-lt"/>
                <a:ea typeface="+mn-ea"/>
                <a:cs typeface="+mn-cs"/>
              </a:rPr>
              <a:t>CONNECT</a:t>
            </a:r>
            <a:r>
              <a:rPr lang="ru-RU" dirty="0"/>
              <a:t> → </a:t>
            </a:r>
            <a:r>
              <a:rPr lang="ru-RU" sz="1200" kern="1200" dirty="0">
                <a:solidFill>
                  <a:schemeClr val="tx1"/>
                </a:solidFill>
                <a:latin typeface="+mn-lt"/>
                <a:ea typeface="+mn-ea"/>
                <a:cs typeface="+mn-cs"/>
              </a:rPr>
              <a:t>SYN_SENT</a:t>
            </a:r>
            <a:r>
              <a:rPr lang="ru-RU" dirty="0"/>
              <a:t>;</a:t>
            </a:r>
            <a:endParaRPr lang="en-US" dirty="0"/>
          </a:p>
          <a:p>
            <a:endParaRPr lang="ru-RU" dirty="0"/>
          </a:p>
          <a:p>
            <a:r>
              <a:rPr lang="ru-RU" b="1" dirty="0"/>
              <a:t>пассивное открытие</a:t>
            </a:r>
            <a:r>
              <a:rPr lang="ru-RU" dirty="0"/>
              <a:t>: сервер вызывает </a:t>
            </a:r>
            <a:r>
              <a:rPr lang="ru-RU" sz="1200" kern="1200" dirty="0">
                <a:solidFill>
                  <a:schemeClr val="tx1"/>
                </a:solidFill>
                <a:latin typeface="+mn-lt"/>
                <a:ea typeface="+mn-ea"/>
                <a:cs typeface="+mn-cs"/>
              </a:rPr>
              <a:t>LISTEN</a:t>
            </a:r>
            <a:r>
              <a:rPr lang="ru-RU" dirty="0"/>
              <a:t> → ждёт </a:t>
            </a:r>
            <a:r>
              <a:rPr lang="ru-RU" sz="1200" kern="1200" dirty="0">
                <a:solidFill>
                  <a:schemeClr val="tx1"/>
                </a:solidFill>
                <a:latin typeface="+mn-lt"/>
                <a:ea typeface="+mn-ea"/>
                <a:cs typeface="+mn-cs"/>
              </a:rPr>
              <a:t>SYN</a:t>
            </a:r>
            <a:r>
              <a:rPr lang="ru-RU" dirty="0"/>
              <a:t>.</a:t>
            </a:r>
          </a:p>
          <a:p>
            <a:r>
              <a:rPr lang="ru-RU" dirty="0"/>
              <a:t>После «тройного рукопожатия» обе стороны переходят в состояние </a:t>
            </a:r>
            <a:r>
              <a:rPr lang="ru-RU" b="1" dirty="0"/>
              <a:t>ESTABLISHED</a:t>
            </a:r>
            <a:r>
              <a:rPr lang="ru-RU" dirty="0"/>
              <a:t> и могут обмениваться данными.</a:t>
            </a:r>
          </a:p>
          <a:p>
            <a:r>
              <a:rPr lang="ru-RU" dirty="0"/>
              <a:t>Разрыв инициировать может любая сторона через </a:t>
            </a:r>
            <a:r>
              <a:rPr lang="ru-RU" sz="1200" kern="1200" dirty="0">
                <a:solidFill>
                  <a:schemeClr val="tx1"/>
                </a:solidFill>
                <a:latin typeface="+mn-lt"/>
                <a:ea typeface="+mn-ea"/>
                <a:cs typeface="+mn-cs"/>
              </a:rPr>
              <a:t>CLOSE</a:t>
            </a:r>
            <a:r>
              <a:rPr lang="ru-RU" dirty="0"/>
              <a:t>: отправляется </a:t>
            </a:r>
            <a:r>
              <a:rPr lang="ru-RU" sz="1200" kern="1200" dirty="0">
                <a:solidFill>
                  <a:schemeClr val="tx1"/>
                </a:solidFill>
                <a:latin typeface="+mn-lt"/>
                <a:ea typeface="+mn-ea"/>
                <a:cs typeface="+mn-cs"/>
              </a:rPr>
              <a:t>FIN</a:t>
            </a:r>
            <a:r>
              <a:rPr lang="ru-RU" dirty="0"/>
              <a:t>, состояния проходят через </a:t>
            </a:r>
            <a:r>
              <a:rPr lang="ru-RU" b="1" dirty="0"/>
              <a:t>FIN_WAIT</a:t>
            </a:r>
            <a:r>
              <a:rPr lang="ru-RU" dirty="0"/>
              <a:t>, </a:t>
            </a:r>
            <a:r>
              <a:rPr lang="ru-RU" b="1" dirty="0"/>
              <a:t>CLOSE_WAIT</a:t>
            </a:r>
            <a:r>
              <a:rPr lang="ru-RU" dirty="0"/>
              <a:t> и др.</a:t>
            </a:r>
            <a:endParaRPr lang="en-US" dirty="0"/>
          </a:p>
          <a:p>
            <a:endParaRPr lang="ru-RU" dirty="0"/>
          </a:p>
          <a:p>
            <a:r>
              <a:rPr lang="ru-RU" dirty="0"/>
              <a:t>После обмена FIN/ACK соединение попадает в состояние ожидания (TIME_WAIT / ожидание ~2 максимальных времени жизни пакета), чтобы гарантировать исчезновение старых сегментов, затем возвращается в </a:t>
            </a:r>
            <a:r>
              <a:rPr lang="ru-RU" b="1" dirty="0"/>
              <a:t>CLOSED</a:t>
            </a:r>
            <a:r>
              <a:rPr lang="ru-RU" dirty="0"/>
              <a:t> и запись о соединении удаляется.</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154</a:t>
            </a:fld>
            <a:endParaRPr lang="en-US"/>
          </a:p>
        </p:txBody>
      </p:sp>
    </p:spTree>
    <p:extLst>
      <p:ext uri="{BB962C8B-B14F-4D97-AF65-F5344CB8AC3E}">
        <p14:creationId xmlns:p14="http://schemas.microsoft.com/office/powerpoint/2010/main" val="1729171986"/>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Транспортный уровень — это «рабочая лошадка» многоуровневых протоколов. Именно здесь абстракция сети превращается для приложений в удобный сервис: есть поток байтов от процесса к процессу, а все проблемы с потерями, задержками и перегрузками прячутся под капотом.</a:t>
            </a:r>
          </a:p>
          <a:p>
            <a:endParaRPr lang="ru-RU" dirty="0"/>
          </a:p>
          <a:p>
            <a:r>
              <a:rPr lang="ru-RU" dirty="0"/>
              <a:t>Доступ к этим службам реализуется через примитивы и сокеты: приложения вызывают CONNECT, SEND, RECEIVE, CLOSE и т.п., а транспортная подсистема сама устанавливает соединения, ведёт их состояние, заводит таймеры, отслеживает номера байтов и гарантирует, что данные дойдут, и дойдут по порядку.</a:t>
            </a:r>
          </a:p>
          <a:p>
            <a:endParaRPr lang="ru-RU" dirty="0"/>
          </a:p>
          <a:p>
            <a:r>
              <a:rPr lang="ru-RU" dirty="0"/>
              <a:t>Установление соединения осложняется тем, что в сети могут появляться задержавшиеся дубликаты сегментов. Для борьбы с этим TCP использует «тройное рукопожатие». Разрыв соединения кажется проще, но там всплывает знаменитая «проблема двух армий»: стороны никогда не могут быть абсолютно уверены, что другая точно всё услышала, поэтому используются таймеры, </a:t>
            </a:r>
            <a:r>
              <a:rPr lang="ru-RU" dirty="0" err="1"/>
              <a:t>полуразъединения</a:t>
            </a:r>
            <a:r>
              <a:rPr lang="ru-RU" dirty="0"/>
              <a:t> и дополнительные правила.</a:t>
            </a:r>
          </a:p>
          <a:p>
            <a:endParaRPr lang="ru-RU" dirty="0"/>
          </a:p>
          <a:p>
            <a:r>
              <a:rPr lang="ru-RU" dirty="0"/>
              <a:t>Во время работы соединения транспортный уровень использует контроль ошибок, раздвижное окно и буферизацию: отправитель хранит неподтверждённые данные, получатель регулирует окно, а протокол старается не захлестнуть сеть лишними пакетами. Здесь же реализуется контроль перегрузки: алгоритмы класса AIMD позволяют более-менее честно делить пропускную способность между конкурирующими потоками и реагировать на изменения нагрузки.</a:t>
            </a:r>
          </a:p>
          <a:p>
            <a:endParaRPr lang="ru-RU" dirty="0"/>
          </a:p>
          <a:p>
            <a:r>
              <a:rPr lang="ru-RU" dirty="0"/>
              <a:t>В интернете два ключевых транспортных протокола. UDP — минималистичный: только порты, данные и, при желании, контрольная сумма. Никакой надёжности, повторных передач и контроля перегрузки — всё это, если нужно, реализуют сами приложения. Поэтому UDP популярен в DNS, простых клиент-серверных запросах и мультимедиа в реальном времени.</a:t>
            </a:r>
          </a:p>
          <a:p>
            <a:endParaRPr lang="ru-RU" dirty="0"/>
          </a:p>
          <a:p>
            <a:r>
              <a:rPr lang="ru-RU" dirty="0"/>
              <a:t>TCP, наоборот, «делает всё»: устанавливает соединение, гарантирует доставку и порядок байтов, управляет окном и перегрузкой, оптимизирует таймеры и объём сегментов. С годами вокруг TCP вырос целый набор улучшений: алгоритмы </a:t>
            </a:r>
            <a:r>
              <a:rPr lang="ru-RU" dirty="0" err="1"/>
              <a:t>Нейгла</a:t>
            </a:r>
            <a:r>
              <a:rPr lang="ru-RU" dirty="0"/>
              <a:t>, Кларка, Джейкобсона, Карна, современные варианты CUBIC, BBR и новый протокол QUIC поверх UDP.</a:t>
            </a:r>
          </a:p>
          <a:p>
            <a:endParaRPr lang="ru-RU" dirty="0"/>
          </a:p>
          <a:p>
            <a:r>
              <a:rPr lang="ru-RU" dirty="0"/>
              <a:t>Итог: даже если сама сеть стала очень быстрой, именно транспортный уровень определяет, насколько эффективно мы умеем использовать эту скорость. Чем выше пропускная способность и задержки, тем важнее простые, хорошо оптимизированные транспортные протоколы и потоковая обработка сегментов.</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155</a:t>
            </a:fld>
            <a:endParaRPr lang="en-US"/>
          </a:p>
        </p:txBody>
      </p:sp>
    </p:spTree>
    <p:extLst>
      <p:ext uri="{BB962C8B-B14F-4D97-AF65-F5344CB8AC3E}">
        <p14:creationId xmlns:p14="http://schemas.microsoft.com/office/powerpoint/2010/main" val="2384616538"/>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Переходим к прикладному уровню — здесь находятся реальные приложения, с которыми взаимодействует пользователь. Нижние уровни обеспечивают передачу данных, но сами по себе не решают прикладных задач. Прикладному уровню тоже нужны протоколы.</a:t>
            </a: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156</a:t>
            </a:fld>
            <a:endParaRPr lang="en-US"/>
          </a:p>
        </p:txBody>
      </p:sp>
    </p:spTree>
    <p:extLst>
      <p:ext uri="{BB962C8B-B14F-4D97-AF65-F5344CB8AC3E}">
        <p14:creationId xmlns:p14="http://schemas.microsoft.com/office/powerpoint/2010/main" val="2724643162"/>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157</a:t>
            </a:fld>
            <a:endParaRPr lang="en-US"/>
          </a:p>
        </p:txBody>
      </p:sp>
    </p:spTree>
    <p:extLst>
      <p:ext uri="{BB962C8B-B14F-4D97-AF65-F5344CB8AC3E}">
        <p14:creationId xmlns:p14="http://schemas.microsoft.com/office/powerpoint/2010/main" val="381058093"/>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Теоретически можно обращаться к ресурсам по IP, но человеку это неудобно. Ещё важнее — IP у сервиса может меняться: переезд, балансировка нагрузки, размещение контента в разных кластерах, миграции у провайдера. Поэтому нам нужно отделить «имя» от «адреса». Эту задачу решает DNS: мы используем удобочитаемое имя, а сеть всё равно маршрутизирует по IP — значит, имя надо преобразовать в IP.</a:t>
            </a:r>
            <a:endParaRPr lang="en-US" dirty="0"/>
          </a:p>
          <a:p>
            <a:br>
              <a:rPr lang="ru-RU" dirty="0"/>
            </a:br>
            <a:r>
              <a:rPr lang="ru-RU" dirty="0"/>
              <a:t>Исторически в ARPANET был файл hosts.txt, который распространяли всем хостам, но при росте сети это перестало работать: файл разрастается, конфликты имён, централизованное управление в глобальной сети проблематично. В 1983 появляется DNS: иерархическая схема имён + распределённая БД.</a:t>
            </a: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158</a:t>
            </a:fld>
            <a:endParaRPr lang="en-US"/>
          </a:p>
        </p:txBody>
      </p:sp>
    </p:spTree>
    <p:extLst>
      <p:ext uri="{BB962C8B-B14F-4D97-AF65-F5344CB8AC3E}">
        <p14:creationId xmlns:p14="http://schemas.microsoft.com/office/powerpoint/2010/main" val="2553457946"/>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Процесс начинается с того, что приложение вызывает библиотечную функцию вроде </a:t>
            </a:r>
            <a:r>
              <a:rPr lang="ru-RU" dirty="0" err="1"/>
              <a:t>gethostbyname</a:t>
            </a:r>
            <a:r>
              <a:rPr lang="ru-RU" dirty="0"/>
              <a:t> — это «оконечный распознаватель» (</a:t>
            </a:r>
            <a:r>
              <a:rPr lang="ru-RU" dirty="0" err="1"/>
              <a:t>stub</a:t>
            </a:r>
            <a:r>
              <a:rPr lang="ru-RU" dirty="0"/>
              <a:t> </a:t>
            </a:r>
            <a:r>
              <a:rPr lang="ru-RU" dirty="0" err="1"/>
              <a:t>resolver</a:t>
            </a:r>
            <a:r>
              <a:rPr lang="ru-RU" dirty="0"/>
              <a:t>). Он сам не ходит по всей DNS-иерархии, а отправляет запрос локальному рекурсивному </a:t>
            </a:r>
            <a:r>
              <a:rPr lang="ru-RU" dirty="0" err="1"/>
              <a:t>резолверу</a:t>
            </a:r>
            <a:r>
              <a:rPr lang="ru-RU" dirty="0"/>
              <a:t>, который выполняет рекурсивный поиск.</a:t>
            </a:r>
            <a:endParaRPr lang="en-US" dirty="0"/>
          </a:p>
          <a:p>
            <a:br>
              <a:rPr lang="ru-RU" dirty="0"/>
            </a:br>
            <a:r>
              <a:rPr lang="ru-RU" dirty="0"/>
              <a:t>Дальше важно различать рекурсивные и итеративные шаги. Локальный </a:t>
            </a:r>
            <a:r>
              <a:rPr lang="ru-RU" dirty="0" err="1"/>
              <a:t>резолвер</a:t>
            </a:r>
            <a:r>
              <a:rPr lang="ru-RU" dirty="0"/>
              <a:t> пытается «довести дело до конца» и вернуть конечный ответ. А корневые и многие другие серверы, особенно нагруженные, часто не делают рекурсию за клиента: они возвращают частичный ответ (направление “куда идти дальше”), и локальный </a:t>
            </a:r>
            <a:r>
              <a:rPr lang="ru-RU" dirty="0" err="1"/>
              <a:t>резолвер</a:t>
            </a:r>
            <a:r>
              <a:rPr lang="ru-RU" dirty="0"/>
              <a:t> продолжает итеративными запросами, пока не дойдёт до </a:t>
            </a:r>
            <a:r>
              <a:rPr lang="ru-RU" dirty="0" err="1"/>
              <a:t>authoritative</a:t>
            </a:r>
            <a:r>
              <a:rPr lang="ru-RU" dirty="0"/>
              <a:t> сервера нужного домена.</a:t>
            </a:r>
            <a:endParaRPr lang="en-US" dirty="0"/>
          </a:p>
          <a:p>
            <a:br>
              <a:rPr lang="ru-RU" dirty="0"/>
            </a:br>
            <a:r>
              <a:rPr lang="ru-RU" dirty="0"/>
              <a:t>Производительность обеспечивается кэшированием: ответы сохраняются и могут ускорять последующие запросы. Но кэш не является авторитетным, поэтому в DNS есть TTL — ограничение времени хранения записи.</a:t>
            </a:r>
            <a:br>
              <a:rPr lang="ru-RU" dirty="0"/>
            </a:br>
            <a:endParaRPr lang="en-US" dirty="0"/>
          </a:p>
          <a:p>
            <a:r>
              <a:rPr lang="ru-RU" dirty="0"/>
              <a:t>По транспорту традиционно DNS поверх UDP — быстро и легко. Но из-за угроз (например, отравление кэша) и развития конфиденциальности усиливается переход к TCP и защищённым вариантам: DNS-</a:t>
            </a:r>
            <a:r>
              <a:rPr lang="ru-RU" dirty="0" err="1"/>
              <a:t>over</a:t>
            </a:r>
            <a:r>
              <a:rPr lang="ru-RU" dirty="0"/>
              <a:t>-TLS и DNS-</a:t>
            </a:r>
            <a:r>
              <a:rPr lang="ru-RU" dirty="0" err="1"/>
              <a:t>over</a:t>
            </a:r>
            <a:r>
              <a:rPr lang="ru-RU" dirty="0"/>
              <a:t>-HTTPS. Также применяют QNAME-минимизацию: </a:t>
            </a:r>
            <a:r>
              <a:rPr lang="ru-RU" dirty="0" err="1"/>
              <a:t>резолвер</a:t>
            </a:r>
            <a:r>
              <a:rPr lang="ru-RU" dirty="0"/>
              <a:t> не раскрывает полное имя всем промежуточным серверам, отправляя только необходимую часть.</a:t>
            </a: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159</a:t>
            </a:fld>
            <a:endParaRPr lang="en-US"/>
          </a:p>
        </p:txBody>
      </p:sp>
    </p:spTree>
    <p:extLst>
      <p:ext uri="{BB962C8B-B14F-4D97-AF65-F5344CB8AC3E}">
        <p14:creationId xmlns:p14="http://schemas.microsoft.com/office/powerpoint/2010/main" val="3142916509"/>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Управлять большим и постоянно меняющимся набором имён сложно, поэтому DNS использует иерархию — как в почтовых адресах. В письме мы указываем страну, город, улицу, дом и получателя: именно иерархия позволяет отличить одинаковые фамилии и улицы в разных местах. DNS работает по той же идее: имена организованы в виде дерева, где каждый следующий уровень уточняет, «где именно» находится нужный ресурс.</a:t>
            </a:r>
          </a:p>
          <a:p>
            <a:endParaRPr lang="ru-RU" dirty="0"/>
          </a:p>
          <a:p>
            <a:r>
              <a:rPr lang="ru-RU" dirty="0"/>
              <a:t>В вершине дерева находится корень DNS (логически он существует всегда, хотя обычно мы его не пишем). Ниже расположены домены верхнего уровня — TLD. Их много: есть родовые домены верхнего уровня (</a:t>
            </a:r>
            <a:r>
              <a:rPr lang="ru-RU" dirty="0" err="1"/>
              <a:t>gTLD</a:t>
            </a:r>
            <a:r>
              <a:rPr lang="ru-RU" dirty="0"/>
              <a:t>) вроде </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com</a:t>
            </a:r>
            <a:r>
              <a:rPr lang="ru-RU" dirty="0"/>
              <a:t>, </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org</a:t>
            </a:r>
            <a:r>
              <a:rPr lang="ru-RU" dirty="0"/>
              <a:t>, </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edu</a:t>
            </a:r>
            <a:r>
              <a:rPr lang="ru-RU" dirty="0"/>
              <a:t>, и национальные (</a:t>
            </a:r>
            <a:r>
              <a:rPr lang="ru-RU" dirty="0" err="1"/>
              <a:t>ccTLD</a:t>
            </a:r>
            <a:r>
              <a:rPr lang="ru-RU" dirty="0"/>
              <a:t>), соответствующие странам по стандарту ISO 3166 — например, </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ru</a:t>
            </a:r>
            <a:r>
              <a:rPr lang="ru-RU" dirty="0"/>
              <a:t>, </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nl</a:t>
            </a:r>
            <a:r>
              <a:rPr lang="ru-RU" dirty="0"/>
              <a:t>, </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au</a:t>
            </a:r>
            <a:r>
              <a:rPr lang="ru-RU" dirty="0"/>
              <a:t>. Далее каждый домен может делиться на поддомены, те — на свои поддомены и так далее. Листья дерева — это домены, которые уже не делятся дальше, но внутри могут содержать множество хостов. Конечный домен может быть как одним сервером, так и большой организацией с тысячами машин.</a:t>
            </a:r>
          </a:p>
          <a:p>
            <a:endParaRPr lang="ru-RU" dirty="0"/>
          </a:p>
          <a:p>
            <a:r>
              <a:rPr lang="ru-RU" dirty="0"/>
              <a:t>Полное доменное имя называется FQDN (</a:t>
            </a:r>
            <a:r>
              <a:rPr lang="ru-RU" dirty="0" err="1"/>
              <a:t>Fully</a:t>
            </a:r>
            <a:r>
              <a:rPr lang="ru-RU" dirty="0"/>
              <a:t> </a:t>
            </a:r>
            <a:r>
              <a:rPr lang="ru-RU" dirty="0" err="1"/>
              <a:t>Qualified</a:t>
            </a:r>
            <a:r>
              <a:rPr lang="ru-RU" dirty="0"/>
              <a:t> Domain Name). Оно записывается «от частного к общему» и разделяется точками: например, </a:t>
            </a:r>
            <a:r>
              <a:rPr lang="ru-RU" sz="1200" kern="1200" dirty="0">
                <a:solidFill>
                  <a:schemeClr val="tx1"/>
                </a:solidFill>
                <a:latin typeface="+mn-lt"/>
                <a:ea typeface="+mn-ea"/>
                <a:cs typeface="+mn-cs"/>
              </a:rPr>
              <a:t>www.cs.uchicago.edu</a:t>
            </a:r>
            <a:r>
              <a:rPr lang="ru-RU" dirty="0"/>
              <a:t>. Строго говоря, абсолютное имя заканчивается точкой, обозначающей корень (</a:t>
            </a:r>
            <a:r>
              <a:rPr lang="ru-RU" sz="1200" kern="1200" dirty="0">
                <a:solidFill>
                  <a:schemeClr val="tx1"/>
                </a:solidFill>
                <a:latin typeface="+mn-lt"/>
                <a:ea typeface="+mn-ea"/>
                <a:cs typeface="+mn-cs"/>
              </a:rPr>
              <a:t>www.cs.uchicago.edu.</a:t>
            </a:r>
            <a:r>
              <a:rPr lang="ru-RU" dirty="0"/>
              <a:t>), но операционные системы обычно подставляют её автоматически. Это похоже на путь к файлу: только в DNS порядок обратный UNIX-пути — не </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edu</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uchicago</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cs</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www</a:t>
            </a:r>
            <a:r>
              <a:rPr lang="ru-RU" dirty="0"/>
              <a:t>, а </a:t>
            </a:r>
            <a:r>
              <a:rPr lang="ru-RU" sz="1200" kern="1200" dirty="0">
                <a:solidFill>
                  <a:schemeClr val="tx1"/>
                </a:solidFill>
                <a:latin typeface="+mn-lt"/>
                <a:ea typeface="+mn-ea"/>
                <a:cs typeface="+mn-cs"/>
              </a:rPr>
              <a:t>www.cs.uchicago.edu</a:t>
            </a:r>
            <a:r>
              <a:rPr lang="ru-RU" dirty="0"/>
              <a:t>.</a:t>
            </a:r>
          </a:p>
          <a:p>
            <a:endParaRPr lang="ru-RU" dirty="0"/>
          </a:p>
          <a:p>
            <a:r>
              <a:rPr lang="ru-RU" dirty="0"/>
              <a:t>Важно, что иерархия DNS — не просто техническая, но и управленческая. Каждый домен отвечает за то, какие поддомены он создаёт ниже. То есть, чтобы завести </a:t>
            </a:r>
            <a:r>
              <a:rPr lang="ru-RU" sz="1200" kern="1200" dirty="0">
                <a:solidFill>
                  <a:schemeClr val="tx1"/>
                </a:solidFill>
                <a:latin typeface="+mn-lt"/>
                <a:ea typeface="+mn-ea"/>
                <a:cs typeface="+mn-cs"/>
              </a:rPr>
              <a:t>security.cs.uchicago.edu</a:t>
            </a:r>
            <a:r>
              <a:rPr lang="ru-RU" dirty="0"/>
              <a:t>, нужно разрешение администраторов домена </a:t>
            </a:r>
            <a:r>
              <a:rPr lang="ru-RU" sz="1200" kern="1200" dirty="0">
                <a:solidFill>
                  <a:schemeClr val="tx1"/>
                </a:solidFill>
                <a:latin typeface="+mn-lt"/>
                <a:ea typeface="+mn-ea"/>
                <a:cs typeface="+mn-cs"/>
              </a:rPr>
              <a:t>cs.uchicago.edu</a:t>
            </a:r>
            <a:r>
              <a:rPr lang="ru-RU" dirty="0"/>
              <a:t>. А после того как домен создан, он уже сам может создавать поддомены внутри себя без согласования с «верхом». Это помогает избегать конфликтов имён: одинаковые поддомены могут существовать в разных ветках дерева и не мешают друг другу (например, </a:t>
            </a:r>
            <a:r>
              <a:rPr lang="ru-RU" sz="1200" kern="1200" dirty="0">
                <a:solidFill>
                  <a:schemeClr val="tx1"/>
                </a:solidFill>
                <a:latin typeface="+mn-lt"/>
                <a:ea typeface="+mn-ea"/>
                <a:cs typeface="+mn-cs"/>
              </a:rPr>
              <a:t>eng.cisco.com</a:t>
            </a:r>
            <a:r>
              <a:rPr lang="ru-RU" dirty="0"/>
              <a:t> и </a:t>
            </a:r>
            <a:r>
              <a:rPr lang="ru-RU" sz="1200" kern="1200" dirty="0">
                <a:solidFill>
                  <a:schemeClr val="tx1"/>
                </a:solidFill>
                <a:latin typeface="+mn-lt"/>
                <a:ea typeface="+mn-ea"/>
                <a:cs typeface="+mn-cs"/>
              </a:rPr>
              <a:t>eng.uchicago.edu</a:t>
            </a:r>
            <a:r>
              <a:rPr lang="ru-RU" dirty="0"/>
              <a:t>).</a:t>
            </a:r>
          </a:p>
          <a:p>
            <a:endParaRPr lang="ru-RU" dirty="0"/>
          </a:p>
          <a:p>
            <a:r>
              <a:rPr lang="ru-RU" dirty="0"/>
              <a:t>Иерархия и правила доменов поддерживаются организационно. Общую архитектуру пространства имён поддерживает ICANN. Управление TLD выполняют компании-реестры (</a:t>
            </a:r>
            <a:r>
              <a:rPr lang="ru-RU" dirty="0" err="1"/>
              <a:t>registries</a:t>
            </a:r>
            <a:r>
              <a:rPr lang="ru-RU" dirty="0"/>
              <a:t>), назначенные ICANN (например, для некоторых доменов этим занимается крупный реестр), а конечным пользователям домены продают регистраторы (</a:t>
            </a:r>
            <a:r>
              <a:rPr lang="ru-RU" dirty="0" err="1"/>
              <a:t>registrars</a:t>
            </a:r>
            <a:r>
              <a:rPr lang="ru-RU" dirty="0"/>
              <a:t>) — множество конкурирующих компаний, отличающихся ценами и сервисом. В результате система масштабируется: нет единого «центра», который вручную ведёт все имена мира, но при этом сохраняется порядок и уникальность.</a:t>
            </a:r>
          </a:p>
          <a:p>
            <a:endParaRPr lang="ru-RU" dirty="0"/>
          </a:p>
          <a:p>
            <a:r>
              <a:rPr lang="ru-RU" dirty="0"/>
              <a:t>Ещё несколько практических моментов. Доменные имена нечувствительны к регистру: </a:t>
            </a:r>
            <a:r>
              <a:rPr lang="ru-RU" sz="1200" kern="1200" dirty="0" err="1">
                <a:solidFill>
                  <a:schemeClr val="tx1"/>
                </a:solidFill>
                <a:latin typeface="+mn-lt"/>
                <a:ea typeface="+mn-ea"/>
                <a:cs typeface="+mn-cs"/>
              </a:rPr>
              <a:t>edu</a:t>
            </a:r>
            <a:r>
              <a:rPr lang="ru-RU" dirty="0"/>
              <a:t>, </a:t>
            </a:r>
            <a:r>
              <a:rPr lang="ru-RU" sz="1200" kern="1200" dirty="0" err="1">
                <a:solidFill>
                  <a:schemeClr val="tx1"/>
                </a:solidFill>
                <a:latin typeface="+mn-lt"/>
                <a:ea typeface="+mn-ea"/>
                <a:cs typeface="+mn-cs"/>
              </a:rPr>
              <a:t>Edu</a:t>
            </a:r>
            <a:r>
              <a:rPr lang="ru-RU" dirty="0"/>
              <a:t> и </a:t>
            </a:r>
            <a:r>
              <a:rPr lang="ru-RU" sz="1200" kern="1200" dirty="0">
                <a:solidFill>
                  <a:schemeClr val="tx1"/>
                </a:solidFill>
                <a:latin typeface="+mn-lt"/>
                <a:ea typeface="+mn-ea"/>
                <a:cs typeface="+mn-cs"/>
              </a:rPr>
              <a:t>EDU</a:t>
            </a:r>
            <a:r>
              <a:rPr lang="ru-RU" dirty="0"/>
              <a:t> — одно и то же. Есть ограничения по длине: часть между точками может быть до 63 символов, а всё имя — до 255. Кроме латиницы поддерживаются интернационализированные домены (IDN), что позволяет использовать национальные алфавиты.</a:t>
            </a:r>
          </a:p>
          <a:p>
            <a:endParaRPr lang="ru-RU" dirty="0"/>
          </a:p>
          <a:p>
            <a:r>
              <a:rPr lang="ru-RU" dirty="0"/>
              <a:t>Наконец, важно не путать доменную структуру с физической сетью. DNS-иерархия отражает </a:t>
            </a:r>
            <a:r>
              <a:rPr lang="ru-RU" b="1" dirty="0"/>
              <a:t>логическое разделение по организациям и подразделениям</a:t>
            </a:r>
            <a:r>
              <a:rPr lang="ru-RU" dirty="0"/>
              <a:t>, а не то, где стоят компьютеры. Два факультета могут быть в одном здании и пользоваться одной LAN, но иметь разные домены. И наоборот: один факультет может находиться в разных корпусах, но все его хосты будут в одном домене. Это подчёркивает, что DNS — прежде всего система именования и управления, а не схема маршрутизации.</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160</a:t>
            </a:fld>
            <a:endParaRPr lang="en-US"/>
          </a:p>
        </p:txBody>
      </p:sp>
    </p:spTree>
    <p:extLst>
      <p:ext uri="{BB962C8B-B14F-4D97-AF65-F5344CB8AC3E}">
        <p14:creationId xmlns:p14="http://schemas.microsoft.com/office/powerpoint/2010/main" val="3870110613"/>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жизни DNS чаще всего работает так: программа хочет открыть сайт и спрашивает — «какой IP-адрес у этого доменного имени?». Обычно это запрос типа A (для IPv4) или AAAA (для IPv6).</a:t>
            </a:r>
            <a:endParaRPr lang="en-US" dirty="0"/>
          </a:p>
          <a:p>
            <a:br>
              <a:rPr lang="ru-RU" dirty="0"/>
            </a:br>
            <a:r>
              <a:rPr lang="ru-RU" dirty="0"/>
              <a:t>DNS в ответ присылает не “просто IP”, а записи специального формата: у записи есть имя, тип (что это за информация), значение (например, IP) и TTL — время, сколько этот ответ можно хранить в кэше.</a:t>
            </a:r>
            <a:endParaRPr lang="en-US" dirty="0"/>
          </a:p>
          <a:p>
            <a:endParaRPr lang="ru-RU" dirty="0"/>
          </a:p>
          <a:p>
            <a:r>
              <a:rPr lang="ru-RU" dirty="0"/>
              <a:t>Кроме адресов DNS хранит и другую полезную информацию: где находятся DNS-серверы домена (NS), какой сервер принимает почту (MX), как сделать псевдоним (CNAME), как по IP найти имя (PTR).</a:t>
            </a:r>
            <a:endParaRPr lang="en-US" dirty="0"/>
          </a:p>
          <a:p>
            <a:endParaRPr lang="ru-RU" dirty="0"/>
          </a:p>
          <a:p>
            <a:r>
              <a:rPr lang="ru-RU" dirty="0"/>
              <a:t>Чтобы система работала быстро, ответы кэшируются, но не навсегда — TTL ограничивает срок хранения. А чтобы ответы было сложнее подделать и чтобы запросы не “подсматривали”, используются механизмы защиты вроде DNSSEC и шифрованные варианты DNS — </a:t>
            </a:r>
            <a:r>
              <a:rPr lang="ru-RU" dirty="0" err="1"/>
              <a:t>DoT</a:t>
            </a:r>
            <a:r>
              <a:rPr lang="ru-RU" dirty="0"/>
              <a:t> и </a:t>
            </a:r>
            <a:r>
              <a:rPr lang="ru-RU" dirty="0" err="1"/>
              <a:t>DoH</a:t>
            </a:r>
            <a:r>
              <a:rPr lang="ru-RU" dirty="0"/>
              <a:t>.</a:t>
            </a:r>
            <a:endParaRPr lang="en-US" dirty="0"/>
          </a:p>
          <a:p>
            <a:endParaRPr lang="ru-RU" dirty="0"/>
          </a:p>
          <a:p>
            <a:r>
              <a:rPr lang="ru-RU" dirty="0"/>
              <a:t>И ещё: DNS — не один огромный сервер на весь интернет. Он разделён на «зоны», и каждая зона обслуживается своими DNS-серверами.</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161</a:t>
            </a:fld>
            <a:endParaRPr lang="en-US"/>
          </a:p>
        </p:txBody>
      </p:sp>
    </p:spTree>
    <p:extLst>
      <p:ext uri="{BB962C8B-B14F-4D97-AF65-F5344CB8AC3E}">
        <p14:creationId xmlns:p14="http://schemas.microsoft.com/office/powerpoint/2010/main" val="3074716075"/>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Для практической работы с DNS в Linux чаще всего используют утилиту </a:t>
            </a:r>
            <a:r>
              <a:rPr lang="ru-RU" b="1" dirty="0" err="1"/>
              <a:t>dig</a:t>
            </a:r>
            <a:r>
              <a:rPr lang="ru-RU" dirty="0"/>
              <a:t> — Domain Information </a:t>
            </a:r>
            <a:r>
              <a:rPr lang="ru-RU" dirty="0" err="1"/>
              <a:t>Groper</a:t>
            </a:r>
            <a:r>
              <a:rPr lang="ru-RU" dirty="0"/>
              <a:t>. Это низкоуровневый инструмент, который показывает DNS-ответ практически в том виде, в каком он приходит по сети. В отличие от браузера или обычных библиотечных вызовов, </a:t>
            </a:r>
            <a:r>
              <a:rPr lang="ru-RU" dirty="0" err="1"/>
              <a:t>dig</a:t>
            </a:r>
            <a:r>
              <a:rPr lang="ru-RU" dirty="0"/>
              <a:t> ничего не скрывает и позволяет увидеть, </a:t>
            </a:r>
            <a:r>
              <a:rPr lang="ru-RU" b="1" dirty="0"/>
              <a:t>как именно работает DNS</a:t>
            </a:r>
            <a:r>
              <a:rPr lang="ru-RU" dirty="0"/>
              <a:t>.</a:t>
            </a:r>
            <a:endParaRPr lang="en-US" dirty="0"/>
          </a:p>
          <a:p>
            <a:endParaRPr lang="ru-RU" dirty="0"/>
          </a:p>
          <a:p>
            <a:r>
              <a:rPr lang="ru-RU" dirty="0"/>
              <a:t>С помощью </a:t>
            </a:r>
            <a:r>
              <a:rPr lang="ru-RU" dirty="0" err="1"/>
              <a:t>dig</a:t>
            </a:r>
            <a:r>
              <a:rPr lang="ru-RU" dirty="0"/>
              <a:t> можно понять, </a:t>
            </a:r>
            <a:r>
              <a:rPr lang="ru-RU" b="1" dirty="0"/>
              <a:t>какой DNS-сервер ответил на запрос</a:t>
            </a:r>
            <a:r>
              <a:rPr lang="ru-RU" dirty="0"/>
              <a:t> — это может быть локальный рекурсивный </a:t>
            </a:r>
            <a:r>
              <a:rPr lang="ru-RU" dirty="0" err="1"/>
              <a:t>резолвер</a:t>
            </a:r>
            <a:r>
              <a:rPr lang="ru-RU" dirty="0"/>
              <a:t>, сервер провайдера или авторитетный сервер домена. Также мы видим, </a:t>
            </a:r>
            <a:r>
              <a:rPr lang="ru-RU" b="1" dirty="0"/>
              <a:t>выполнялась ли рекурсия</a:t>
            </a:r>
            <a:r>
              <a:rPr lang="ru-RU" dirty="0"/>
              <a:t>, по флагам </a:t>
            </a:r>
            <a:r>
              <a:rPr lang="ru-RU" sz="1200" kern="1200" dirty="0" err="1">
                <a:solidFill>
                  <a:schemeClr val="tx1"/>
                </a:solidFill>
                <a:latin typeface="+mn-lt"/>
                <a:ea typeface="+mn-ea"/>
                <a:cs typeface="+mn-cs"/>
              </a:rPr>
              <a:t>rd</a:t>
            </a:r>
            <a:r>
              <a:rPr lang="ru-RU" dirty="0"/>
              <a:t> и </a:t>
            </a:r>
            <a:r>
              <a:rPr lang="ru-RU" sz="1200" kern="1200" dirty="0" err="1">
                <a:solidFill>
                  <a:schemeClr val="tx1"/>
                </a:solidFill>
                <a:latin typeface="+mn-lt"/>
                <a:ea typeface="+mn-ea"/>
                <a:cs typeface="+mn-cs"/>
              </a:rPr>
              <a:t>ra</a:t>
            </a:r>
            <a:r>
              <a:rPr lang="ru-RU" dirty="0"/>
              <a:t>, и какой тип запроса был выполнен — A, AAAA, MX, NS и другие.</a:t>
            </a:r>
          </a:p>
          <a:p>
            <a:r>
              <a:rPr lang="ru-RU" dirty="0"/>
              <a:t>Очень важная особенность </a:t>
            </a:r>
            <a:r>
              <a:rPr lang="ru-RU" dirty="0" err="1"/>
              <a:t>dig</a:t>
            </a:r>
            <a:r>
              <a:rPr lang="ru-RU" dirty="0"/>
              <a:t> — отображение </a:t>
            </a:r>
            <a:r>
              <a:rPr lang="ru-RU" b="1" dirty="0"/>
              <a:t>TTL</a:t>
            </a:r>
            <a:r>
              <a:rPr lang="ru-RU" dirty="0"/>
              <a:t>. По нему можно судить, как долго ответы кэшируются и насколько динамична инфраструктура сервиса. Например, короткий TTL часто указывает на балансировку нагрузки или использование CDN. Если в ответе несколько IP-адресов, это тоже хорошо видно именно через </a:t>
            </a:r>
            <a:r>
              <a:rPr lang="ru-RU" dirty="0" err="1"/>
              <a:t>dig</a:t>
            </a:r>
            <a:r>
              <a:rPr lang="ru-RU" dirty="0"/>
              <a:t>.</a:t>
            </a:r>
            <a:endParaRPr lang="en-US" dirty="0"/>
          </a:p>
          <a:p>
            <a:endParaRPr lang="ru-RU" dirty="0"/>
          </a:p>
          <a:p>
            <a:r>
              <a:rPr lang="ru-RU" dirty="0"/>
              <a:t>Кроме самих ответов, </a:t>
            </a:r>
            <a:r>
              <a:rPr lang="ru-RU" dirty="0" err="1"/>
              <a:t>dig</a:t>
            </a:r>
            <a:r>
              <a:rPr lang="ru-RU" dirty="0"/>
              <a:t> показывает </a:t>
            </a:r>
            <a:r>
              <a:rPr lang="ru-RU" b="1" dirty="0"/>
              <a:t>серверы имён домена</a:t>
            </a:r>
            <a:r>
              <a:rPr lang="ru-RU" dirty="0"/>
              <a:t> и так называемые </a:t>
            </a:r>
            <a:r>
              <a:rPr lang="ru-RU" i="1" dirty="0" err="1"/>
              <a:t>glue</a:t>
            </a:r>
            <a:r>
              <a:rPr lang="ru-RU" i="1" dirty="0"/>
              <a:t>-записи</a:t>
            </a:r>
            <a:r>
              <a:rPr lang="ru-RU" dirty="0"/>
              <a:t> — IP-адреса этих серверов, которые передаются сразу, чтобы избежать дополнительных запросов. Также утилита позволяет увидеть, используется ли IPv6 и поддерживаются ли расширения DNS, такие как EDNS.</a:t>
            </a:r>
            <a:endParaRPr lang="en-US" dirty="0"/>
          </a:p>
          <a:p>
            <a:endParaRPr lang="ru-RU" dirty="0"/>
          </a:p>
          <a:p>
            <a:r>
              <a:rPr lang="ru-RU" dirty="0" err="1"/>
              <a:t>Dig</a:t>
            </a:r>
            <a:r>
              <a:rPr lang="ru-RU" dirty="0"/>
              <a:t> полезен и с точки зрения безопасности. С его помощью можно проверить </a:t>
            </a:r>
            <a:r>
              <a:rPr lang="ru-RU" b="1" dirty="0"/>
              <a:t>DNSSEC</a:t>
            </a:r>
            <a:r>
              <a:rPr lang="ru-RU" dirty="0"/>
              <a:t>, увидеть размер UDP-пакетов, а также понять, как именно передаются DNS-запросы — по UDP или TCP. Поэтому </a:t>
            </a:r>
            <a:r>
              <a:rPr lang="ru-RU" dirty="0" err="1"/>
              <a:t>dig</a:t>
            </a:r>
            <a:r>
              <a:rPr lang="ru-RU" dirty="0"/>
              <a:t> — это не просто утилита администратора, а удобный учебный инструмент, позволяющий «заглянуть внутрь» работы DNS и на практике увидеть все те механизмы, которые мы обсуждаем теоретически.</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162</a:t>
            </a:fld>
            <a:endParaRPr lang="en-US"/>
          </a:p>
        </p:txBody>
      </p:sp>
    </p:spTree>
    <p:extLst>
      <p:ext uri="{BB962C8B-B14F-4D97-AF65-F5344CB8AC3E}">
        <p14:creationId xmlns:p14="http://schemas.microsoft.com/office/powerpoint/2010/main" val="580500506"/>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163</a:t>
            </a:fld>
            <a:endParaRPr lang="en-US"/>
          </a:p>
        </p:txBody>
      </p:sp>
    </p:spTree>
    <p:extLst>
      <p:ext uri="{BB962C8B-B14F-4D97-AF65-F5344CB8AC3E}">
        <p14:creationId xmlns:p14="http://schemas.microsoft.com/office/powerpoint/2010/main" val="13240551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Электронная почта — одно из самых старых интернет-приложений, ей уже больше сорока лет, и несмотря на появление мессенджеров и видеосвязи, она до сих пор остается основным средством формального и корпоративного общения. Почта дешева, надежна и хорошо масштабируется, хотя существенную проблему по-прежнему составляет спам.</a:t>
            </a:r>
          </a:p>
          <a:p>
            <a:endParaRPr lang="ru-RU" dirty="0"/>
          </a:p>
          <a:p>
            <a:r>
              <a:rPr lang="ru-RU" dirty="0"/>
              <a:t>Архитектурно система электронной почты делится на две части. Первая — это пользовательский агент, или почтовый клиент. Именно с ним работает человек: он позволяет писать письма, читать входящие сообщения, отвечать, сортировать их по папкам и применять фильтры. Отправка письма клиентом в почтовую систему называется подачей сообщения.</a:t>
            </a:r>
          </a:p>
          <a:p>
            <a:endParaRPr lang="ru-RU" dirty="0"/>
          </a:p>
          <a:p>
            <a:r>
              <a:rPr lang="ru-RU" dirty="0"/>
              <a:t>Вторая часть — это агенты передачи сообщений, или почтовые серверы. Они работают постоянно в фоновом режиме и автоматически пересылают письма от отправителя к получателю. Для этого используется протокол SMTP, который отвечает именно за доставку сообщений между серверами.</a:t>
            </a:r>
          </a:p>
          <a:p>
            <a:endParaRPr lang="ru-RU" dirty="0"/>
          </a:p>
          <a:p>
            <a:r>
              <a:rPr lang="ru-RU" dirty="0"/>
              <a:t>Письма хранятся в почтовых ящиках на сервере. Это позволяет пользователю получать доступ к одной и той же почте с разных устройств и из разных мест, используя разные почтовые клиенты.</a:t>
            </a:r>
          </a:p>
          <a:p>
            <a:endParaRPr lang="ru-RU" dirty="0"/>
          </a:p>
          <a:p>
            <a:r>
              <a:rPr lang="ru-RU" dirty="0"/>
              <a:t>Каждое письмо имеет стандартный формат, определённый RFC 5322 и расширенный MIME. Важно различать конверт и содержимое письма. Конверт используется серверами для доставки, а само сообщение состоит из заголовков, которые нужны почтовым программам, и тела письма, предназначенного для человека.</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164</a:t>
            </a:fld>
            <a:endParaRPr lang="en-US"/>
          </a:p>
        </p:txBody>
      </p:sp>
    </p:spTree>
    <p:extLst>
      <p:ext uri="{BB962C8B-B14F-4D97-AF65-F5344CB8AC3E}">
        <p14:creationId xmlns:p14="http://schemas.microsoft.com/office/powerpoint/2010/main" val="351056596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1" dirty="0"/>
              <a:t>Пользовательский агент (MUA)</a:t>
            </a:r>
            <a:r>
              <a:rPr lang="ru-RU" dirty="0"/>
              <a:t> — это почтовый клиент, с помощью которого пользователь читает и отправляет электронную почту (Gmail, Outlook, Thunderbird и др.).</a:t>
            </a:r>
          </a:p>
          <a:p>
            <a:r>
              <a:rPr lang="ru-RU" dirty="0"/>
              <a:t>Он предоставляет интерфейс для:</a:t>
            </a:r>
          </a:p>
          <a:p>
            <a:pPr marL="171450" indent="-171450">
              <a:buFont typeface="Arial" panose="020B0604020202020204" pitchFamily="34" charset="0"/>
              <a:buChar char="•"/>
            </a:pPr>
            <a:r>
              <a:rPr lang="ru-RU" dirty="0"/>
              <a:t>просмотра списка писем (отправитель, тема, время);</a:t>
            </a:r>
          </a:p>
          <a:p>
            <a:pPr marL="171450" indent="-171450">
              <a:buFont typeface="Arial" panose="020B0604020202020204" pitchFamily="34" charset="0"/>
              <a:buChar char="•"/>
            </a:pPr>
            <a:r>
              <a:rPr lang="ru-RU" dirty="0"/>
              <a:t>чтения и предварительного просмотра сообщений;</a:t>
            </a:r>
          </a:p>
          <a:p>
            <a:pPr marL="171450" indent="-171450">
              <a:buFont typeface="Arial" panose="020B0604020202020204" pitchFamily="34" charset="0"/>
              <a:buChar char="•"/>
            </a:pPr>
            <a:r>
              <a:rPr lang="ru-RU" dirty="0"/>
              <a:t>ответа, пересылки и удаления писем;</a:t>
            </a:r>
          </a:p>
          <a:p>
            <a:pPr marL="171450" indent="-171450">
              <a:buFont typeface="Arial" panose="020B0604020202020204" pitchFamily="34" charset="0"/>
              <a:buChar char="•"/>
            </a:pPr>
            <a:r>
              <a:rPr lang="ru-RU" dirty="0"/>
              <a:t>организации почты с помощью папок и поиска.</a:t>
            </a:r>
          </a:p>
          <a:p>
            <a:endParaRPr lang="en-US" dirty="0"/>
          </a:p>
          <a:p>
            <a:r>
              <a:rPr lang="ru-RU" dirty="0"/>
              <a:t>MUA поддерживает автоматическую обработку почты:</a:t>
            </a:r>
          </a:p>
          <a:p>
            <a:pPr marL="171450" indent="-171450">
              <a:buFont typeface="Arial" panose="020B0604020202020204" pitchFamily="34" charset="0"/>
              <a:buChar char="•"/>
            </a:pPr>
            <a:r>
              <a:rPr lang="ru-RU" dirty="0"/>
              <a:t>фильтрацию спама и пометку важных писем;</a:t>
            </a:r>
          </a:p>
          <a:p>
            <a:pPr marL="171450" indent="-171450">
              <a:buFont typeface="Arial" panose="020B0604020202020204" pitchFamily="34" charset="0"/>
              <a:buChar char="•"/>
            </a:pPr>
            <a:r>
              <a:rPr lang="ru-RU" dirty="0"/>
              <a:t>правила сортировки сообщений по отправителю, теме и другим признакам.</a:t>
            </a:r>
          </a:p>
          <a:p>
            <a:endParaRPr lang="en-US" dirty="0"/>
          </a:p>
          <a:p>
            <a:r>
              <a:rPr lang="ru-RU" dirty="0"/>
              <a:t>Таким образом, пользовательский агент связывает человека с почтовым ящиком и упрощает работу с большим объемом писем.</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165</a:t>
            </a:fld>
            <a:endParaRPr lang="en-US"/>
          </a:p>
        </p:txBody>
      </p:sp>
    </p:spTree>
    <p:extLst>
      <p:ext uri="{BB962C8B-B14F-4D97-AF65-F5344CB8AC3E}">
        <p14:creationId xmlns:p14="http://schemas.microsoft.com/office/powerpoint/2010/main" val="33082978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 RFC 5322. Любое </a:t>
            </a:r>
            <a:r>
              <a:rPr lang="ru-RU" dirty="0" err="1"/>
              <a:t>e-mail</a:t>
            </a:r>
            <a:r>
              <a:rPr lang="ru-RU" dirty="0"/>
              <a:t>-сообщение состоит из набора заголовков, затем идет пустая строка — это разделитель, и после него уже текст тела письма. Заголовки — это строго форматированные строки “имя: значение”, исторически в ASCII.</a:t>
            </a:r>
          </a:p>
          <a:p>
            <a:br>
              <a:rPr lang="ru-RU" dirty="0"/>
            </a:br>
            <a:r>
              <a:rPr lang="ru-RU" dirty="0"/>
              <a:t>Часть заголовков влияет на доставку и диагностику: To/</a:t>
            </a:r>
            <a:r>
              <a:rPr lang="ru-RU" dirty="0" err="1"/>
              <a:t>Cc</a:t>
            </a:r>
            <a:r>
              <a:rPr lang="ru-RU" dirty="0"/>
              <a:t>/</a:t>
            </a:r>
            <a:r>
              <a:rPr lang="ru-RU" dirty="0" err="1"/>
              <a:t>Bcc</a:t>
            </a:r>
            <a:r>
              <a:rPr lang="ru-RU" dirty="0"/>
              <a:t> задают получателей, причем </a:t>
            </a:r>
            <a:r>
              <a:rPr lang="ru-RU" dirty="0" err="1"/>
              <a:t>Bcc</a:t>
            </a:r>
            <a:r>
              <a:rPr lang="ru-RU" dirty="0"/>
              <a:t> специально скрывается — строку удаляют из копий, которые получат адресаты. From и иногда </a:t>
            </a:r>
            <a:r>
              <a:rPr lang="ru-RU" dirty="0" err="1"/>
              <a:t>Sender</a:t>
            </a:r>
            <a:r>
              <a:rPr lang="ru-RU" dirty="0"/>
              <a:t> помогают определить отправителя и того, кто технически отправлял письмо (например, секретарь).</a:t>
            </a:r>
          </a:p>
          <a:p>
            <a:br>
              <a:rPr lang="ru-RU" dirty="0"/>
            </a:br>
            <a:r>
              <a:rPr lang="ru-RU" dirty="0"/>
              <a:t>Особенно полезны строки </a:t>
            </a:r>
            <a:r>
              <a:rPr lang="ru-RU" dirty="0" err="1"/>
              <a:t>Received</a:t>
            </a:r>
            <a:r>
              <a:rPr lang="ru-RU" dirty="0"/>
              <a:t>: их добавляет каждый почтовый сервер по пути, поэтому по ним можно восстановить маршрут письма и разбирать проблемы доставки. Return-</a:t>
            </a:r>
            <a:r>
              <a:rPr lang="ru-RU" dirty="0" err="1"/>
              <a:t>Path</a:t>
            </a:r>
            <a:r>
              <a:rPr lang="ru-RU" dirty="0"/>
              <a:t> нужен для возврата ошибок, если письмо не доставлено.</a:t>
            </a:r>
          </a:p>
          <a:p>
            <a:br>
              <a:rPr lang="ru-RU" dirty="0"/>
            </a:br>
            <a:r>
              <a:rPr lang="ru-RU" dirty="0"/>
              <a:t>Кроме этого есть поля “для людей” и для логики почтовых клиентов: </a:t>
            </a:r>
            <a:r>
              <a:rPr lang="ru-RU" dirty="0" err="1"/>
              <a:t>Subject</a:t>
            </a:r>
            <a:r>
              <a:rPr lang="ru-RU" dirty="0"/>
              <a:t>, </a:t>
            </a:r>
            <a:r>
              <a:rPr lang="ru-RU" dirty="0" err="1"/>
              <a:t>Date</a:t>
            </a:r>
            <a:r>
              <a:rPr lang="ru-RU" dirty="0"/>
              <a:t>, </a:t>
            </a:r>
            <a:r>
              <a:rPr lang="ru-RU" dirty="0" err="1"/>
              <a:t>Reply</a:t>
            </a:r>
            <a:r>
              <a:rPr lang="ru-RU" dirty="0"/>
              <a:t>-To, Message-ID. И есть пользовательские/частные заголовки X-… — их можно добавлять для своих целей.</a:t>
            </a: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166</a:t>
            </a:fld>
            <a:endParaRPr lang="en-US"/>
          </a:p>
        </p:txBody>
      </p:sp>
    </p:spTree>
    <p:extLst>
      <p:ext uri="{BB962C8B-B14F-4D97-AF65-F5344CB8AC3E}">
        <p14:creationId xmlns:p14="http://schemas.microsoft.com/office/powerpoint/2010/main" val="2145091847"/>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Изначально электронная почта была рассчитана на простой ASCII-текст. Когда появились письма на разных языках и необходимость отправлять картинки, документы и вообще бинарные данные, понадобилось расширение — MIME.</a:t>
            </a:r>
          </a:p>
          <a:p>
            <a:br>
              <a:rPr lang="ru-RU" dirty="0"/>
            </a:br>
            <a:r>
              <a:rPr lang="ru-RU" dirty="0"/>
              <a:t>MIME не ломает старый формат, а добавляет «подсказки», как трактовать тело письма. Заголовок MIME-</a:t>
            </a:r>
            <a:r>
              <a:rPr lang="ru-RU" dirty="0" err="1"/>
              <a:t>Version</a:t>
            </a:r>
            <a:r>
              <a:rPr lang="ru-RU" dirty="0"/>
              <a:t> говорит клиенту: “это MIME-сообщение”. Content-Type объясняет, что именно находится в теле: HTML-страница, PNG-картинка, PDF и т. д. Если Content-Type начинается с </a:t>
            </a:r>
            <a:r>
              <a:rPr lang="ru-RU" dirty="0" err="1"/>
              <a:t>multipart</a:t>
            </a:r>
            <a:r>
              <a:rPr lang="ru-RU" dirty="0"/>
              <a:t>, значит письмо состоит из нескольких частей: например, текст + несколько вложений.</a:t>
            </a:r>
          </a:p>
          <a:p>
            <a:br>
              <a:rPr lang="ru-RU" dirty="0"/>
            </a:br>
            <a:r>
              <a:rPr lang="ru-RU" dirty="0"/>
              <a:t>Другая важная проблема — передача бинарных данных через инфраструктуру, которая исторически ожидала текст. Поэтому MIME вводит Content-Transfer-</a:t>
            </a:r>
            <a:r>
              <a:rPr lang="ru-RU" dirty="0" err="1"/>
              <a:t>Encoding</a:t>
            </a:r>
            <a:r>
              <a:rPr lang="ru-RU" dirty="0"/>
              <a:t>: как именно данные упакованы для передачи. Самый известный вариант — base64: он преобразует бинарные байты в набор безопасных ASCII-символов, чтобы письмо гарантированно прошло через разные серверы и фильтры.</a:t>
            </a:r>
          </a:p>
          <a:p>
            <a:br>
              <a:rPr lang="ru-RU" dirty="0"/>
            </a:br>
            <a:r>
              <a:rPr lang="ru-RU" dirty="0"/>
              <a:t>В итоге MIME сделал </a:t>
            </a:r>
            <a:r>
              <a:rPr lang="ru-RU" dirty="0" err="1"/>
              <a:t>e-mail</a:t>
            </a:r>
            <a:r>
              <a:rPr lang="ru-RU" dirty="0"/>
              <a:t> универсальным контейнером: можно передавать и текст на разных языках, и любые вложения, и сложные письма из нескольких частей.</a:t>
            </a: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167</a:t>
            </a:fld>
            <a:endParaRPr lang="en-US"/>
          </a:p>
        </p:txBody>
      </p:sp>
    </p:spTree>
    <p:extLst>
      <p:ext uri="{BB962C8B-B14F-4D97-AF65-F5344CB8AC3E}">
        <p14:creationId xmlns:p14="http://schemas.microsoft.com/office/powerpoint/2010/main" val="4263849524"/>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168</a:t>
            </a:fld>
            <a:endParaRPr lang="en-US"/>
          </a:p>
        </p:txBody>
      </p:sp>
    </p:spTree>
    <p:extLst>
      <p:ext uri="{BB962C8B-B14F-4D97-AF65-F5344CB8AC3E}">
        <p14:creationId xmlns:p14="http://schemas.microsoft.com/office/powerpoint/2010/main" val="3935943229"/>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Всемирная паутина, или веб, — это архитектура, лежащая в основе доступа к огромному количеству связанных между собой документов по всему интернету. Именно веб сделал интернет массовым и удобным: пользователь может просто переходить по ссылкам, не задумываясь о том, где физически находятся серверы и как именно передаются данные.</a:t>
            </a:r>
            <a:endParaRPr lang="en-US" dirty="0"/>
          </a:p>
          <a:p>
            <a:endParaRPr lang="ru-RU" dirty="0"/>
          </a:p>
          <a:p>
            <a:r>
              <a:rPr lang="ru-RU" dirty="0"/>
              <a:t>Веб был создан в 1989 году в CERN Тимом Бернерсом-Ли как инструмент для совместной работы учёных, разбросанных по разным странам. Им нужна была система, которая позволяла бы быстро публиковать и обновлять отчёты, чертежи, изображения и другие документы и легко связывать их между собой. Уже через полтора года появился первый работающий прототип.</a:t>
            </a:r>
            <a:endParaRPr lang="en-US" dirty="0"/>
          </a:p>
          <a:p>
            <a:endParaRPr lang="ru-RU" dirty="0"/>
          </a:p>
          <a:p>
            <a:r>
              <a:rPr lang="ru-RU" dirty="0"/>
              <a:t>Настоящий взрыв популярности веба произошёл после появления первого графического браузера </a:t>
            </a:r>
            <a:r>
              <a:rPr lang="ru-RU" dirty="0" err="1"/>
              <a:t>Mosaic</a:t>
            </a:r>
            <a:r>
              <a:rPr lang="ru-RU" dirty="0"/>
              <a:t> в 1993 году, разработанного Марком </a:t>
            </a:r>
            <a:r>
              <a:rPr lang="ru-RU" dirty="0" err="1"/>
              <a:t>Андриссеном</a:t>
            </a:r>
            <a:r>
              <a:rPr lang="ru-RU" dirty="0"/>
              <a:t>. Это сделало веб доступным не только специалистам, но и обычным пользователям. Вскоре начались «войны браузеров», рост числа сайтов и появление компаний, которые сегодня формируют облик интернета — Amazon, Google, Facebook и других.</a:t>
            </a:r>
            <a:endParaRPr lang="en-US" dirty="0"/>
          </a:p>
          <a:p>
            <a:endParaRPr lang="ru-RU" dirty="0"/>
          </a:p>
          <a:p>
            <a:r>
              <a:rPr lang="ru-RU" dirty="0"/>
              <a:t>Для того чтобы веб развивался согласованно, в 1994 году был создан Консорциум Всемирной паутины — W3C. Он занимается разработкой и стандартизацией веб-технологий и протоколов. Благодаря этому веб остаётся открытой, совместимой и глобальной платформой, на которой до сих пор могут появляться новые идеи и сервисы.</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169</a:t>
            </a:fld>
            <a:endParaRPr lang="en-US"/>
          </a:p>
        </p:txBody>
      </p:sp>
    </p:spTree>
    <p:extLst>
      <p:ext uri="{BB962C8B-B14F-4D97-AF65-F5344CB8AC3E}">
        <p14:creationId xmlns:p14="http://schemas.microsoft.com/office/powerpoint/2010/main" val="2535455266"/>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 точки зрения пользователя Всемирная паутина выглядит как огромное множество веб-страниц, связанных между собой ссылками. Каждая страница может содержать десятки или сотни объектов: текст, изображения, видео, стили, рекламные блоки, аналитические и пользовательские скрипты. При этом сами объекты могут находиться на серверах в разных частях мира — для пользователя это обычно незаметно.</a:t>
            </a:r>
          </a:p>
          <a:p>
            <a:endParaRPr lang="ru-RU" dirty="0"/>
          </a:p>
          <a:p>
            <a:r>
              <a:rPr lang="ru-RU" dirty="0"/>
              <a:t>Основная идея веба — </a:t>
            </a:r>
            <a:r>
              <a:rPr lang="ru-RU" b="1" dirty="0"/>
              <a:t>гипертекст</a:t>
            </a:r>
            <a:r>
              <a:rPr lang="ru-RU" dirty="0"/>
              <a:t>, то есть страницы, которые ссылаются друг на друга. Эта идея была предложена задолго до появления интернета, но именно веб сделал её практичной и массовой. Переход по ссылке просто означает, что браузер загружает другую страницу или объект.</a:t>
            </a:r>
          </a:p>
          <a:p>
            <a:endParaRPr lang="ru-RU" dirty="0"/>
          </a:p>
          <a:p>
            <a:r>
              <a:rPr lang="ru-RU" dirty="0"/>
              <a:t>Пользователь взаимодействует с вебом через </a:t>
            </a:r>
            <a:r>
              <a:rPr lang="ru-RU" b="1" dirty="0"/>
              <a:t>браузер</a:t>
            </a:r>
            <a:r>
              <a:rPr lang="ru-RU" dirty="0"/>
              <a:t>. Браузер запрашивает контент у серверов, интерпретирует полученные данные и отображает страницу на экране. Для этого используется запросно-ответный протокол </a:t>
            </a:r>
            <a:r>
              <a:rPr lang="ru-RU" b="1" dirty="0"/>
              <a:t>HTTP</a:t>
            </a:r>
            <a:r>
              <a:rPr lang="ru-RU" dirty="0"/>
              <a:t>, а в современном интернете почти всегда его защищённая версия — </a:t>
            </a:r>
            <a:r>
              <a:rPr lang="ru-RU" b="1" dirty="0"/>
              <a:t>HTTPS</a:t>
            </a:r>
            <a:r>
              <a:rPr lang="ru-RU" dirty="0"/>
              <a:t>.</a:t>
            </a:r>
          </a:p>
          <a:p>
            <a:endParaRPr lang="ru-RU" dirty="0"/>
          </a:p>
          <a:p>
            <a:r>
              <a:rPr lang="ru-RU" dirty="0"/>
              <a:t>Веб-страницы бывают </a:t>
            </a:r>
            <a:r>
              <a:rPr lang="ru-RU" b="1" dirty="0"/>
              <a:t>статическими</a:t>
            </a:r>
            <a:r>
              <a:rPr lang="ru-RU" dirty="0"/>
              <a:t>, когда сервер возвращает один и тот же документ, и </a:t>
            </a:r>
            <a:r>
              <a:rPr lang="ru-RU" b="1" dirty="0"/>
              <a:t>динамическими</a:t>
            </a:r>
            <a:r>
              <a:rPr lang="ru-RU" dirty="0"/>
              <a:t>, когда страница формируется программой и может отличаться для разных пользователей. Например, интернет-магазины подстраивают содержимое главной страницы под интересы посетителя.</a:t>
            </a:r>
          </a:p>
          <a:p>
            <a:endParaRPr lang="ru-RU" dirty="0"/>
          </a:p>
          <a:p>
            <a:r>
              <a:rPr lang="ru-RU" dirty="0"/>
              <a:t>При загрузке одной страницы браузер часто обращается сразу к нескольким серверам: один может отдавать основной HTML-документ, другой — изображения или видео, третий — шрифты или аналитические скрипты. Браузер собирает всё это вместе и представляет пользователю как единую веб-страницу.</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170</a:t>
            </a:fld>
            <a:endParaRPr lang="en-US"/>
          </a:p>
        </p:txBody>
      </p:sp>
    </p:spTree>
    <p:extLst>
      <p:ext uri="{BB962C8B-B14F-4D97-AF65-F5344CB8AC3E}">
        <p14:creationId xmlns:p14="http://schemas.microsoft.com/office/powerpoint/2010/main" val="1061187599"/>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Рассмотрим веб «со стороны клиента», то есть браузера. Браузер отображает страницу и реагирует на действия пользователя: клик по ссылке означает, что нужно загрузить новый ресурс. Чтобы это стало возможным, вебу понадобился единый механизм адресации — URL.</a:t>
            </a:r>
          </a:p>
          <a:p>
            <a:endParaRPr lang="ru-RU" dirty="0"/>
          </a:p>
          <a:p>
            <a:r>
              <a:rPr lang="ru-RU" dirty="0"/>
              <a:t>URL одновременно решает три задачи: как называется ресурс, где он находится и каким способом к нему обращаться. В URL есть три ключевые части: </a:t>
            </a:r>
            <a:r>
              <a:rPr lang="ru-RU" b="1" dirty="0"/>
              <a:t>протокол (</a:t>
            </a:r>
            <a:r>
              <a:rPr lang="ru-RU" b="1" dirty="0" err="1"/>
              <a:t>scheme</a:t>
            </a:r>
            <a:r>
              <a:rPr lang="ru-RU" b="1" dirty="0"/>
              <a:t>)</a:t>
            </a:r>
            <a:r>
              <a:rPr lang="ru-RU" dirty="0"/>
              <a:t>, </a:t>
            </a:r>
            <a:r>
              <a:rPr lang="ru-RU" b="1" dirty="0"/>
              <a:t>DNS-имя хоста</a:t>
            </a:r>
            <a:r>
              <a:rPr lang="ru-RU" dirty="0"/>
              <a:t> и </a:t>
            </a:r>
            <a:r>
              <a:rPr lang="ru-RU" b="1" dirty="0"/>
              <a:t>путь</a:t>
            </a:r>
            <a:r>
              <a:rPr lang="ru-RU" dirty="0"/>
              <a:t> на сервере. Например, </a:t>
            </a:r>
            <a:r>
              <a:rPr lang="ru-RU" sz="1200" kern="1200" dirty="0">
                <a:solidFill>
                  <a:schemeClr val="tx1"/>
                </a:solidFill>
                <a:latin typeface="+mn-lt"/>
                <a:ea typeface="+mn-ea"/>
                <a:cs typeface="+mn-cs"/>
              </a:rPr>
              <a:t>https://fcc.gov/</a:t>
            </a:r>
            <a:r>
              <a:rPr lang="ru-RU" dirty="0"/>
              <a:t> означает: использовать HTTPS, обратиться к хосту </a:t>
            </a:r>
            <a:r>
              <a:rPr lang="ru-RU" sz="1200" kern="1200" dirty="0">
                <a:solidFill>
                  <a:schemeClr val="tx1"/>
                </a:solidFill>
                <a:latin typeface="+mn-lt"/>
                <a:ea typeface="+mn-ea"/>
                <a:cs typeface="+mn-cs"/>
              </a:rPr>
              <a:t>fcc.gov</a:t>
            </a:r>
            <a:r>
              <a:rPr lang="ru-RU" dirty="0"/>
              <a:t>, запросить путь </a:t>
            </a:r>
            <a:r>
              <a:rPr lang="ru-RU" sz="1200" kern="1200" dirty="0">
                <a:solidFill>
                  <a:schemeClr val="tx1"/>
                </a:solidFill>
                <a:latin typeface="+mn-lt"/>
                <a:ea typeface="+mn-ea"/>
                <a:cs typeface="+mn-cs"/>
              </a:rPr>
              <a:t>/</a:t>
            </a:r>
            <a:r>
              <a:rPr lang="ru-RU" dirty="0"/>
              <a:t> (обычно сервер трактует его как индексную страницу по умолчанию).</a:t>
            </a:r>
          </a:p>
          <a:p>
            <a:endParaRPr lang="ru-RU" dirty="0"/>
          </a:p>
          <a:p>
            <a:r>
              <a:rPr lang="ru-RU" dirty="0"/>
              <a:t>Дальше браузер действует по шагам: сначала извлекает URL из элемента страницы, затем делает DNS-запрос, чтобы получить IP-адрес. Имея IP, браузер устанавливает TCP-соединение; для HTTPS это обычно порт 443.</a:t>
            </a:r>
          </a:p>
          <a:p>
            <a:endParaRPr lang="ru-RU" dirty="0"/>
          </a:p>
          <a:p>
            <a:r>
              <a:rPr lang="ru-RU" dirty="0"/>
              <a:t>После этого отправляется HTTPS-запрос, сервер возвращает документ страницы. Затем начинается «настоящая» загрузка: HTML часто содержит ссылки на десятки и сотни дополнительных объектов — изображения, стили, шрифты, скрипты, аналитику, рекламу — причём часть из них может быть на других доменах. Браузер параллельно загружает эти объекты и собирает их в единое представление страницы, после чего отображает результат пользователю.</a:t>
            </a:r>
          </a:p>
          <a:p>
            <a:endParaRPr lang="ru-RU" dirty="0"/>
          </a:p>
          <a:p>
            <a:r>
              <a:rPr lang="ru-RU" dirty="0"/>
              <a:t>Если страница работает медленно, полезно смотреть каскадную диаграмму (</a:t>
            </a:r>
            <a:r>
              <a:rPr lang="ru-RU" dirty="0" err="1"/>
              <a:t>waterfall</a:t>
            </a:r>
            <a:r>
              <a:rPr lang="ru-RU" dirty="0"/>
              <a:t>): она показывает для каждого объекта время DNS-поиска, установления соединения и скачивания. Так можно понять, где узкое место — DNS, соединение, сервер или объём загружаемых объектов.</a:t>
            </a:r>
          </a:p>
          <a:p>
            <a:endParaRPr lang="ru-RU" dirty="0"/>
          </a:p>
          <a:p>
            <a:r>
              <a:rPr lang="ru-RU" dirty="0"/>
              <a:t>И важно помнить, что URL — это общий механизм адресации, не только для веб-страниц: существуют схемы для FTP, локальных файлов, почты, мультимедиа-сеансов и даже внутренних страниц браузера (</a:t>
            </a:r>
            <a:r>
              <a:rPr lang="ru-RU" dirty="0" err="1"/>
              <a:t>about</a:t>
            </a:r>
            <a:r>
              <a:rPr lang="ru-RU" dirty="0"/>
              <a:t>). Поэтому браузер фактически становится универсальным интерфейсом к множеству интернет-сервисов.</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171</a:t>
            </a:fld>
            <a:endParaRPr lang="en-US"/>
          </a:p>
        </p:txBody>
      </p:sp>
    </p:spTree>
    <p:extLst>
      <p:ext uri="{BB962C8B-B14F-4D97-AF65-F5344CB8AC3E}">
        <p14:creationId xmlns:p14="http://schemas.microsoft.com/office/powerpoint/2010/main" val="2620636507"/>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стороне сервера всё начинается так же просто, как и на клиенте: браузер берёт URL, извлекает DNS-имя, получает IP, подключается по TCP (для HTTPS обычно порт 443) и отправляет запрос, содержащий путь — то есть какую именно страницу или ресурс он хочет получить. Сервер возвращает браузеру содержимое, которое тот отображает.</a:t>
            </a:r>
          </a:p>
          <a:p>
            <a:endParaRPr lang="ru-RU" dirty="0"/>
          </a:p>
          <a:p>
            <a:r>
              <a:rPr lang="ru-RU" dirty="0"/>
              <a:t>Если представить самый простой веб-сервер, его логика напоминает классический цикл: принять соединение, прочитать путь, найти соответствующий файл на диске, отправить его по сети и закрыть соединение. Если ресурс динамический, вместо чтения файла сервер запускает программу или делает запрос к базе данных и формирует ответ «на лету».</a:t>
            </a:r>
          </a:p>
          <a:p>
            <a:endParaRPr lang="ru-RU" dirty="0"/>
          </a:p>
          <a:p>
            <a:r>
              <a:rPr lang="ru-RU" dirty="0"/>
              <a:t>Однако при сотнях и тысячах запросов в секунду наивная модель быстро упирается в ограничения. Во-первых, диск намного медленнее памяти, и повторное чтение одних и тех же файлов становится узким местом. Во-вторых, если сервер обрабатывает запросы последовательно, большой файл или медленная операция блокируют обслуживание остальных клиентов.</a:t>
            </a:r>
          </a:p>
          <a:p>
            <a:endParaRPr lang="ru-RU" dirty="0"/>
          </a:p>
          <a:p>
            <a:r>
              <a:rPr lang="ru-RU" dirty="0"/>
              <a:t>Поэтому в реальных системах используют два ключевых приёма. Первый — </a:t>
            </a:r>
            <a:r>
              <a:rPr lang="ru-RU" b="1" dirty="0"/>
              <a:t>кэширование в памяти</a:t>
            </a:r>
            <a:r>
              <a:rPr lang="ru-RU" dirty="0"/>
              <a:t>: популярные файлы и объекты держат в RAM, чтобы отдавать их без обращения к диску. Второй — </a:t>
            </a:r>
            <a:r>
              <a:rPr lang="ru-RU" b="1" dirty="0"/>
              <a:t>параллельная обработка</a:t>
            </a:r>
            <a:r>
              <a:rPr lang="ru-RU" dirty="0"/>
              <a:t>, чаще всего через многопоточность или пул рабочих потоков: пока один поток ждёт диск или сеть, другие продолжают обслуживать запросы.</a:t>
            </a:r>
          </a:p>
          <a:p>
            <a:endParaRPr lang="ru-RU" dirty="0"/>
          </a:p>
          <a:p>
            <a:r>
              <a:rPr lang="ru-RU" dirty="0"/>
              <a:t>На практике это оформляется в типичную современную архитектуру: есть фронтенд-узел, часто называемый </a:t>
            </a:r>
            <a:r>
              <a:rPr lang="ru-RU" b="1" dirty="0" err="1"/>
              <a:t>reverse</a:t>
            </a:r>
            <a:r>
              <a:rPr lang="ru-RU" b="1" dirty="0"/>
              <a:t> </a:t>
            </a:r>
            <a:r>
              <a:rPr lang="ru-RU" b="1" dirty="0" err="1"/>
              <a:t>proxy</a:t>
            </a:r>
            <a:r>
              <a:rPr lang="ru-RU" dirty="0"/>
              <a:t>. Он принимает входящие соединения от клиентов, быстро отдаёт статические объекты и выступает «посредником» для динамических запросов, пересылая их в бэкенд-серверы. «Обратный» он потому, что действует от имени сервера (в отличие от обычного прокси, который действует от имени клиента). Такая схема позволяет ускорить отдачу контента, лучше масштабироваться и распределять нагрузку между компонентами.</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172</a:t>
            </a:fld>
            <a:endParaRPr lang="en-US"/>
          </a:p>
        </p:txBody>
      </p:sp>
    </p:spTree>
    <p:extLst>
      <p:ext uri="{BB962C8B-B14F-4D97-AF65-F5344CB8AC3E}">
        <p14:creationId xmlns:p14="http://schemas.microsoft.com/office/powerpoint/2010/main" val="3479790952"/>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самом простом случае веб состоит из статичных объектов — файлов, которые сервер просто передаёт клиенту без изменений. Такой объект при каждом просмотре выглядит одинаково. Даже в современных динамических сайтах значительная часть содержимого остаётся статичной: логотипы, таблицы стилей, изображения, шрифты, видеофайлы.</a:t>
            </a:r>
          </a:p>
          <a:p>
            <a:endParaRPr lang="ru-RU" dirty="0"/>
          </a:p>
          <a:p>
            <a:r>
              <a:rPr lang="ru-RU" dirty="0"/>
              <a:t>Главное свойство статичных объектов — их удобно кэшировать. Если файл не меняется, его можно сохранить в памяти браузера, на прокси-сервере или в CDN и долго отдавать пользователям без обращения к исходному серверу. Именно поэтому статичный контент обычно доставляется быстро и эффективно.</a:t>
            </a:r>
          </a:p>
          <a:p>
            <a:endParaRPr lang="ru-RU" dirty="0"/>
          </a:p>
          <a:p>
            <a:r>
              <a:rPr lang="ru-RU" dirty="0"/>
              <a:t>Основной формат статичных веб-страниц — </a:t>
            </a:r>
            <a:r>
              <a:rPr lang="ru-RU" b="1" dirty="0"/>
              <a:t>HTML</a:t>
            </a:r>
            <a:r>
              <a:rPr lang="ru-RU" dirty="0"/>
              <a:t>. Это язык разметки, который описывает структуру документа: заголовки, абзацы, ссылки, списки, изображения. HTML не задаёт внешний вид напрямую, а лишь помечает смысловые элементы страницы.</a:t>
            </a:r>
          </a:p>
          <a:p>
            <a:endParaRPr lang="ru-RU" dirty="0"/>
          </a:p>
          <a:p>
            <a:r>
              <a:rPr lang="ru-RU" dirty="0"/>
              <a:t>Оформление страницы выносится в </a:t>
            </a:r>
            <a:r>
              <a:rPr lang="ru-RU" b="1" dirty="0"/>
              <a:t>CSS</a:t>
            </a:r>
            <a:r>
              <a:rPr lang="ru-RU" dirty="0"/>
              <a:t> — каскадные таблицы стилей. Они определяют шрифты, цвета, размеры, отступы и расположение элементов. Такое разделение контента и представления — одно из ключевых преимуществ веба: один и тот же HTML-документ может корректно отображаться и на большом экране компьютера, и на маленьком экране смартфона.</a:t>
            </a:r>
          </a:p>
          <a:p>
            <a:endParaRPr lang="ru-RU" dirty="0"/>
          </a:p>
          <a:p>
            <a:r>
              <a:rPr lang="ru-RU" dirty="0"/>
              <a:t>Благодаря стандартизации HTML и CSS браузеру достаточно понимать язык разметки и стили, чтобы корректно отобразить страницу. Это и сделало Всемирную паутину универсальной и независимой от конкретных устройств и платформ.</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173</a:t>
            </a:fld>
            <a:endParaRPr lang="en-US"/>
          </a:p>
        </p:txBody>
      </p:sp>
    </p:spTree>
    <p:extLst>
      <p:ext uri="{BB962C8B-B14F-4D97-AF65-F5344CB8AC3E}">
        <p14:creationId xmlns:p14="http://schemas.microsoft.com/office/powerpoint/2010/main" val="465652488"/>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Изначально веб был ориентирован на статичные страницы — связанные между собой документы. Но сегодня основная роль интернета — это доступ к приложениям и сервисам: интернет-магазины, почта, карты, социальные сети, совместная работа с документами. Такие системы по своей сути похожи на обычные прикладные программы, но работают внутри браузера.</a:t>
            </a:r>
          </a:p>
          <a:p>
            <a:endParaRPr lang="ru-RU" dirty="0"/>
          </a:p>
          <a:p>
            <a:r>
              <a:rPr lang="ru-RU" dirty="0"/>
              <a:t>Ключевое отличие — </a:t>
            </a:r>
            <a:r>
              <a:rPr lang="ru-RU" b="1" dirty="0"/>
              <a:t>динамический контент</a:t>
            </a:r>
            <a:r>
              <a:rPr lang="ru-RU" dirty="0"/>
              <a:t>. Страница больше не является фиксированным файлом: её содержимое зависит от действий пользователя, состояния базы данных и логики приложения. Динамика может создаваться на стороне сервера или на стороне клиента — и чаще всего используются оба подхода одновременно.</a:t>
            </a:r>
          </a:p>
          <a:p>
            <a:endParaRPr lang="ru-RU" dirty="0"/>
          </a:p>
          <a:p>
            <a:r>
              <a:rPr lang="ru-RU" dirty="0"/>
              <a:t>При серверной динамике браузер отправляет запрос, сервер запускает программу или скрипт, обращается к базе данных и генерирует HTML-страницу, которая возвращается клиенту. Пользователь при этом не видит, что страница была создана программой. Классические технологии такого типа — CGI и PHP.</a:t>
            </a:r>
          </a:p>
          <a:p>
            <a:endParaRPr lang="ru-RU" dirty="0"/>
          </a:p>
          <a:p>
            <a:r>
              <a:rPr lang="ru-RU" dirty="0"/>
              <a:t>При клиентской динамике программы выполняются прямо в браузере. Это реализуется с помощью JavaScript, встроенного в HTML-страницу. Такие скрипты могут реагировать на движения мыши, ввод текста, масштабирование, клики и обновлять страницу без перезагрузки. Благодаря этому интерфейс становится быстрым и удобным.</a:t>
            </a:r>
          </a:p>
          <a:p>
            <a:endParaRPr lang="ru-RU" dirty="0"/>
          </a:p>
          <a:p>
            <a:r>
              <a:rPr lang="ru-RU" dirty="0"/>
              <a:t>В современных веб-приложениях роли чётко разделены: сервер отвечает за данные, бизнес-логику и безопасность, а браузер — за пользовательский интерфейс и интерактивность. Именно такая модель лежит в основе большинства облачных сервисов и делает веб полноценной платформой для приложений.</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174</a:t>
            </a:fld>
            <a:endParaRPr lang="en-US"/>
          </a:p>
        </p:txBody>
      </p:sp>
    </p:spTree>
    <p:extLst>
      <p:ext uri="{BB962C8B-B14F-4D97-AF65-F5344CB8AC3E}">
        <p14:creationId xmlns:p14="http://schemas.microsoft.com/office/powerpoint/2010/main" val="572430673"/>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HTTP — это основной протокол, по которому браузеры и серверы обмениваются веб-контентом. Он построен по простой модели «запрос–ответ»: клиент отправляет запрос, сервер возвращает ответ. Защищённая версия HTTPS использует тот же самый HTTP, но поверх TLS, который обеспечивает шифрование и защиту данных.</a:t>
            </a:r>
          </a:p>
          <a:p>
            <a:endParaRPr lang="ru-RU" dirty="0"/>
          </a:p>
          <a:p>
            <a:r>
              <a:rPr lang="ru-RU" dirty="0"/>
              <a:t>Исторически HTTP работал поверх TCP, но современные версии развиваются дальше: HTTP/3 часто работает поверх UDP с использованием протокола QUIC. Важно понимать, что сегодня HTTP — это уже не только «язык веб-страниц». Его используют мобильные приложения, облачные сервисы, антивирусы, устройства интернета вещей и даже серверы, обменивающиеся данными друг с другом. По сути, HTTP стал универсальным протоколом доставки контента и взаимодействия приложений.</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175</a:t>
            </a:fld>
            <a:endParaRPr lang="en-US"/>
          </a:p>
        </p:txBody>
      </p:sp>
    </p:spTree>
    <p:extLst>
      <p:ext uri="{BB962C8B-B14F-4D97-AF65-F5344CB8AC3E}">
        <p14:creationId xmlns:p14="http://schemas.microsoft.com/office/powerpoint/2010/main" val="840341942"/>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HTTP-запрос начинается с метода — команды, которая указывает, что именно хочет сделать клиент. Самый распространённый метод — GET, он используется для получения страниц и объектов. POST применяется при отправке данных форм, например при покупке товара. Остальные методы используются реже, но делают HTTP универсальным протоколом для работы с ресурсами.</a:t>
            </a:r>
          </a:p>
          <a:p>
            <a:endParaRPr lang="ru-RU" dirty="0"/>
          </a:p>
          <a:p>
            <a:r>
              <a:rPr lang="ru-RU" dirty="0"/>
              <a:t>Каждый ответ сервера содержит код состояния. По первой цифре легко понять результат: 2xx — всё успешно, 3xx — нужно обратиться к другому URL или использовать кэш, 4xx — ошибка со стороны клиента, 5xx — проблема на сервере.</a:t>
            </a:r>
          </a:p>
          <a:p>
            <a:endParaRPr lang="ru-RU" dirty="0"/>
          </a:p>
          <a:p>
            <a:r>
              <a:rPr lang="ru-RU" dirty="0"/>
              <a:t>Большую роль играют </a:t>
            </a:r>
            <a:r>
              <a:rPr lang="ru-RU" b="1" dirty="0"/>
              <a:t>HTTP-заголовки</a:t>
            </a:r>
            <a:r>
              <a:rPr lang="ru-RU" dirty="0"/>
              <a:t>. Они передают дополнительную информацию: кто клиент, какие форматы он понимает, требуется ли авторизация, откуда пришёл пользователь. Отдельная группа заголовков связана с </a:t>
            </a:r>
            <a:r>
              <a:rPr lang="ru-RU" dirty="0" err="1"/>
              <a:t>cookie</a:t>
            </a:r>
            <a:r>
              <a:rPr lang="ru-RU" dirty="0"/>
              <a:t> — механизмом хранения состояния между запросами.</a:t>
            </a:r>
          </a:p>
          <a:p>
            <a:endParaRPr lang="ru-RU" dirty="0"/>
          </a:p>
          <a:p>
            <a:r>
              <a:rPr lang="ru-RU" dirty="0"/>
              <a:t>Наконец, HTTP </a:t>
            </a:r>
            <a:r>
              <a:rPr lang="ru-RU" dirty="0" err="1"/>
              <a:t>встроенно</a:t>
            </a:r>
            <a:r>
              <a:rPr lang="ru-RU" dirty="0"/>
              <a:t> поддерживает </a:t>
            </a:r>
            <a:r>
              <a:rPr lang="ru-RU" b="1" dirty="0"/>
              <a:t>кэширование</a:t>
            </a:r>
            <a:r>
              <a:rPr lang="ru-RU" dirty="0"/>
              <a:t>. Браузер может сохранять полученные страницы и повторно использовать их, уменьшая задержки и сетевой трафик. Если нет уверенности, что страница свежая, применяется условный запрос: сервер либо подтверждает, что копия актуальна, либо присылает обновлённый контент. Кэширование — один из ключевых факторов высокой производительности современного веба.</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176</a:t>
            </a:fld>
            <a:endParaRPr lang="en-US"/>
          </a:p>
        </p:txBody>
      </p:sp>
    </p:spTree>
    <p:extLst>
      <p:ext uri="{BB962C8B-B14F-4D97-AF65-F5344CB8AC3E}">
        <p14:creationId xmlns:p14="http://schemas.microsoft.com/office/powerpoint/2010/main" val="3426346755"/>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HTTP исторически работал поверх TCP: браузеру и серверу удобно, потому что TCP берёт на себя надёжность, контроль перегрузки и обработку больших сообщений. Обычно клиент подключается к 443 порту для HTTPS и к 80 для HTTP.</a:t>
            </a:r>
          </a:p>
          <a:p>
            <a:endParaRPr lang="ru-RU" dirty="0"/>
          </a:p>
          <a:p>
            <a:r>
              <a:rPr lang="ru-RU" dirty="0"/>
              <a:t>В HTTP/1.0 модель была очень простой: установили TCP-соединение, отправили один запрос, получили один ответ и закрыли соединение. Пока страницы были почти целиком HTML-текстом, это работало нормально. Но когда страницы стали состоять из десятков встроенных объектов — иконок, картинок, стилей, скриптов — открывать отдельное TCP-соединение на каждый объект стало слишком дорого.</a:t>
            </a:r>
          </a:p>
          <a:p>
            <a:endParaRPr lang="ru-RU" dirty="0"/>
          </a:p>
          <a:p>
            <a:r>
              <a:rPr lang="ru-RU" dirty="0"/>
              <a:t>В HTTP/1.1 появилась ключевая оптимизация — </a:t>
            </a:r>
            <a:r>
              <a:rPr lang="ru-RU" b="1" dirty="0"/>
              <a:t>постоянные соединения</a:t>
            </a:r>
            <a:r>
              <a:rPr lang="ru-RU" dirty="0"/>
              <a:t>. Теперь одно TCP-соединение можно держать открытым и использовать для серии запросов и ответов. Это называется </a:t>
            </a:r>
            <a:r>
              <a:rPr lang="ru-RU" b="1" dirty="0"/>
              <a:t>повторным использованием соединения</a:t>
            </a:r>
            <a:r>
              <a:rPr lang="ru-RU" dirty="0"/>
              <a:t>. Ещё один механизм — </a:t>
            </a:r>
            <a:r>
              <a:rPr lang="ru-RU" b="1" dirty="0"/>
              <a:t>конвейеризация (</a:t>
            </a:r>
            <a:r>
              <a:rPr lang="ru-RU" b="1" dirty="0" err="1"/>
              <a:t>pipelining</a:t>
            </a:r>
            <a:r>
              <a:rPr lang="ru-RU" b="1" dirty="0"/>
              <a:t>)</a:t>
            </a:r>
            <a:r>
              <a:rPr lang="ru-RU" dirty="0"/>
              <a:t>: можно отправить несколько запросов подряд, не дожидаясь ответов, чтобы уменьшить простои.</a:t>
            </a:r>
          </a:p>
          <a:p>
            <a:endParaRPr lang="ru-RU" dirty="0"/>
          </a:p>
          <a:p>
            <a:r>
              <a:rPr lang="ru-RU" dirty="0"/>
              <a:t>Почему это ускоряет загрузку? Во-первых, мы экономим время на установление множества TCP-соединений. Во-вторых, TCP после установки соединения начинает с «медленного старта» и разгоняет скорость постепенно; если соединений много и они короткие, этот «разогрев» повторяется снова и снова, замедляя передачу.</a:t>
            </a:r>
          </a:p>
          <a:p>
            <a:endParaRPr lang="ru-RU" dirty="0"/>
          </a:p>
          <a:p>
            <a:r>
              <a:rPr lang="ru-RU" dirty="0"/>
              <a:t>Но за </a:t>
            </a:r>
            <a:r>
              <a:rPr lang="ru-RU" dirty="0" err="1"/>
              <a:t>persistent</a:t>
            </a:r>
            <a:r>
              <a:rPr lang="ru-RU" dirty="0"/>
              <a:t> </a:t>
            </a:r>
            <a:r>
              <a:rPr lang="ru-RU" dirty="0" err="1"/>
              <a:t>connections</a:t>
            </a:r>
            <a:r>
              <a:rPr lang="ru-RU" dirty="0"/>
              <a:t> нужно платить: возникает вопрос, когда их закрывать. Обычно соединение держат открытым немного после загрузки — пока не истечёт тайм-аут бездействия или пока серверу/клиенту не понадобится сократить число активных соединений.</a:t>
            </a:r>
          </a:p>
          <a:p>
            <a:endParaRPr lang="ru-RU" dirty="0"/>
          </a:p>
          <a:p>
            <a:r>
              <a:rPr lang="ru-RU" dirty="0"/>
              <a:t>Раньше браузеры также ускоряли загрузку с помощью параллельных TCP-соединений к одному серверу. Это действительно быстрее, но менее «дружелюбно» к сети: каждое соединение отдельно разгоняется и конкурирует за полосу, что может усиливать перегрузку. Поэтому </a:t>
            </a:r>
            <a:r>
              <a:rPr lang="ru-RU" dirty="0" err="1"/>
              <a:t>persistent</a:t>
            </a:r>
            <a:r>
              <a:rPr lang="ru-RU" dirty="0"/>
              <a:t> </a:t>
            </a:r>
            <a:r>
              <a:rPr lang="ru-RU" dirty="0" err="1"/>
              <a:t>connections</a:t>
            </a:r>
            <a:r>
              <a:rPr lang="ru-RU" dirty="0"/>
              <a:t> в HTTP/1.1 считаются более предпочтительным подходом.</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177</a:t>
            </a:fld>
            <a:endParaRPr lang="en-US"/>
          </a:p>
        </p:txBody>
      </p:sp>
    </p:spTree>
    <p:extLst>
      <p:ext uri="{BB962C8B-B14F-4D97-AF65-F5344CB8AC3E}">
        <p14:creationId xmlns:p14="http://schemas.microsoft.com/office/powerpoint/2010/main" val="1741502963"/>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HTTP/2 появился как ответ на ограничения HTTP/1.1 и был стандартизирован в 2015 году. За основу был взят протокол SPDY, разработанный Google. Главная цель — повысить производительность, не ломая существующий веб и сохранив совместимость с предыдущими версиями.</a:t>
            </a:r>
          </a:p>
          <a:p>
            <a:endParaRPr lang="ru-RU" dirty="0"/>
          </a:p>
          <a:p>
            <a:r>
              <a:rPr lang="ru-RU" dirty="0"/>
              <a:t>В отличие от HTTP/1.1, где запросы и ответы фактически идут последовательно в рамках одного соединения, HTTP/2 позволяет отправлять </a:t>
            </a:r>
            <a:r>
              <a:rPr lang="ru-RU" b="1" dirty="0"/>
              <a:t>много запросов одновременно по одному TCP-соединению</a:t>
            </a:r>
            <a:r>
              <a:rPr lang="ru-RU" dirty="0"/>
              <a:t>. Сервер может отвечать на них </a:t>
            </a:r>
            <a:r>
              <a:rPr lang="ru-RU" b="1" dirty="0"/>
              <a:t>в любом порядке</a:t>
            </a:r>
            <a:r>
              <a:rPr lang="ru-RU" dirty="0"/>
              <a:t>, отдавая приоритет тем объектам, которые важнее для быстрого отображения страницы.</a:t>
            </a:r>
          </a:p>
          <a:p>
            <a:endParaRPr lang="ru-RU" dirty="0"/>
          </a:p>
          <a:p>
            <a:r>
              <a:rPr lang="ru-RU" dirty="0"/>
              <a:t>Все данные в HTTP/2 передаются в </a:t>
            </a:r>
            <a:r>
              <a:rPr lang="ru-RU" b="1" dirty="0"/>
              <a:t>двоичном формате</a:t>
            </a:r>
            <a:r>
              <a:rPr lang="ru-RU" dirty="0"/>
              <a:t>, а заголовки эффективно </a:t>
            </a:r>
            <a:r>
              <a:rPr lang="ru-RU" b="1" dirty="0"/>
              <a:t>сжимаются</a:t>
            </a:r>
            <a:r>
              <a:rPr lang="ru-RU" dirty="0"/>
              <a:t>, что уменьшает объём трафика и задержки. Дополнительная оптимизация — </a:t>
            </a:r>
            <a:r>
              <a:rPr lang="ru-RU" b="1" dirty="0" err="1"/>
              <a:t>server</a:t>
            </a:r>
            <a:r>
              <a:rPr lang="ru-RU" b="1" dirty="0"/>
              <a:t> </a:t>
            </a:r>
            <a:r>
              <a:rPr lang="ru-RU" b="1" dirty="0" err="1"/>
              <a:t>push</a:t>
            </a:r>
            <a:r>
              <a:rPr lang="ru-RU" dirty="0"/>
              <a:t>: сервер может заранее отправить клиенту таблицы стилей или скрипты, не дожидаясь явного запроса.</a:t>
            </a:r>
          </a:p>
          <a:p>
            <a:endParaRPr lang="ru-RU" dirty="0"/>
          </a:p>
          <a:p>
            <a:r>
              <a:rPr lang="ru-RU" dirty="0"/>
              <a:t>Важный момент — совместимость: URL, методы и семантика HTTP остались прежними, изменился только механизм передачи. Формально HTTP/2 не требует шифрования, но все современные браузеры используют его только поверх TLS, поэтому в реальном вебе HTTP/2 практически всегда означает </a:t>
            </a:r>
            <a:r>
              <a:rPr lang="ru-RU" b="1" dirty="0"/>
              <a:t>HTTPS</a:t>
            </a:r>
            <a:r>
              <a:rPr lang="ru-RU" dirty="0"/>
              <a:t>.</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178</a:t>
            </a:fld>
            <a:endParaRPr lang="en-US"/>
          </a:p>
        </p:txBody>
      </p:sp>
    </p:spTree>
    <p:extLst>
      <p:ext uri="{BB962C8B-B14F-4D97-AF65-F5344CB8AC3E}">
        <p14:creationId xmlns:p14="http://schemas.microsoft.com/office/powerpoint/2010/main" val="2828345050"/>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HTTP/3 — это следующая крупная версия HTTP, где главное изменение не в методах или заголовках, а в транспорте: вместо TCP используется QUIC, работающий поверх UDP. QUIC </a:t>
            </a:r>
            <a:r>
              <a:rPr lang="ru-RU" dirty="0" err="1"/>
              <a:t>встроенно</a:t>
            </a:r>
            <a:r>
              <a:rPr lang="ru-RU" dirty="0"/>
              <a:t> поддерживает несколько параллельных потоков и делает установление соединения более “лёгким” по задержкам. Это особенно полезно для веба, где на одну страницу приходится много параллельных загрузок.</a:t>
            </a:r>
            <a:endParaRPr lang="en-US" dirty="0"/>
          </a:p>
          <a:p>
            <a:endParaRPr lang="ru-RU" dirty="0"/>
          </a:p>
          <a:p>
            <a:r>
              <a:rPr lang="ru-RU" dirty="0"/>
              <a:t>Важно, что HTTP/3 почти всегда используется вместе с HTTPS: то есть с шифрованием, просто теперь “ниже” HTTP находится не TCP+TLS, а QUIC (который включает нужные механизмы защиты и управления).</a:t>
            </a:r>
            <a:endParaRPr lang="en-US" dirty="0"/>
          </a:p>
          <a:p>
            <a:endParaRPr lang="ru-RU" dirty="0"/>
          </a:p>
          <a:p>
            <a:r>
              <a:rPr lang="ru-RU" dirty="0"/>
              <a:t>Отдельный практический вопрос: как браузер понимает, по какой версии HTTP говорить. Для HTTP/1.1 и HTTP/2 всё решается в момент TLS-рукопожатия механизмом ALPN</a:t>
            </a:r>
            <a:r>
              <a:rPr lang="en-US" dirty="0"/>
              <a:t> (Application-Layer Protocol Negotiation)</a:t>
            </a:r>
            <a:r>
              <a:rPr lang="ru-RU" dirty="0"/>
              <a:t>: клиент предлагает набор протоколов (например, h2 и </a:t>
            </a:r>
            <a:r>
              <a:rPr lang="ru-RU" dirty="0" err="1"/>
              <a:t>http</a:t>
            </a:r>
            <a:r>
              <a:rPr lang="ru-RU" dirty="0"/>
              <a:t>/1.1), а сервер выбирает один.</a:t>
            </a:r>
            <a:endParaRPr lang="en-US" dirty="0"/>
          </a:p>
          <a:p>
            <a:endParaRPr lang="ru-RU" dirty="0"/>
          </a:p>
          <a:p>
            <a:r>
              <a:rPr lang="ru-RU" dirty="0"/>
              <a:t>С HTTP/3 выбор версии работает иначе, потому что он использует QUIC поверх UDP, и клиент не может узнать о поддержке HTTP/3 до попытки установить QUIC-соединение. Поэтому поддержка HTTP/3 сначала объявляется через HTTP (Alt-</a:t>
            </a:r>
            <a:r>
              <a:rPr lang="ru-RU" dirty="0" err="1"/>
              <a:t>Svc</a:t>
            </a:r>
            <a:r>
              <a:rPr lang="ru-RU" dirty="0"/>
              <a:t>), а затем используется ALPN внутри QUIC.</a:t>
            </a:r>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179</a:t>
            </a:fld>
            <a:endParaRPr lang="en-US"/>
          </a:p>
        </p:txBody>
      </p:sp>
    </p:spTree>
    <p:extLst>
      <p:ext uri="{BB962C8B-B14F-4D97-AF65-F5344CB8AC3E}">
        <p14:creationId xmlns:p14="http://schemas.microsoft.com/office/powerpoint/2010/main" val="578076346"/>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Помимо веба и электронной почты, одной из ключевых областей применения сетей стала передача аудио и видео. Потоковая передача отличается от обычной загрузки данных тем, что информация должна поступать и воспроизводиться с заданной скоростью. Если данные приходят слишком поздно, они становятся бесполезными — никто не будет смотреть видео с постоянными паузами или разговаривать по телефону с большой задержкой.</a:t>
            </a:r>
          </a:p>
          <a:p>
            <a:endParaRPr lang="ru-RU" dirty="0"/>
          </a:p>
          <a:p>
            <a:r>
              <a:rPr lang="ru-RU" dirty="0"/>
              <a:t>Развитие потокового мультимедиа стало возможным благодаря двум факторам: росту вычислительных возможностей устройств и резкому увеличению пропускной способности сетей — от магистральных линий до домашнего и беспроводного доступа.</a:t>
            </a:r>
          </a:p>
          <a:p>
            <a:endParaRPr lang="ru-RU" dirty="0"/>
          </a:p>
          <a:p>
            <a:r>
              <a:rPr lang="ru-RU" dirty="0" err="1"/>
              <a:t>Аудиотрафик</a:t>
            </a:r>
            <a:r>
              <a:rPr lang="ru-RU" dirty="0"/>
              <a:t>, например интернет-телефония, занимает сравнительно небольшую полосу, но предъявляет жёсткие требования к задержке. Видео, напротив, требует огромной пропускной способности, но может позволить себе начальную задержку, если затем воспроизведение идёт плавно.</a:t>
            </a:r>
          </a:p>
          <a:p>
            <a:endParaRPr lang="ru-RU" dirty="0"/>
          </a:p>
          <a:p>
            <a:r>
              <a:rPr lang="ru-RU" dirty="0"/>
              <a:t>Сегодня </a:t>
            </a:r>
            <a:r>
              <a:rPr lang="ru-RU" dirty="0" err="1"/>
              <a:t>видеотрафик</a:t>
            </a:r>
            <a:r>
              <a:rPr lang="ru-RU" dirty="0"/>
              <a:t> доминирует в интернете и продолжает расти. Ключевыми сетевыми проблемами для мультимедиа остаются задержка и её колебания — джиттер. Именно вокруг их минимизации и компенсации строятся современные протоколы и плееры потоковой передачи.</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180</a:t>
            </a:fld>
            <a:endParaRPr lang="en-US"/>
          </a:p>
        </p:txBody>
      </p:sp>
    </p:spTree>
    <p:extLst>
      <p:ext uri="{BB962C8B-B14F-4D97-AF65-F5344CB8AC3E}">
        <p14:creationId xmlns:p14="http://schemas.microsoft.com/office/powerpoint/2010/main" val="2659553458"/>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Для передачи мультимедиа звук и видео необходимо представить в цифровой форме. Цифровой звук получается путём дискретизации аналогового сигнала — измерения его значений через равные промежутки времени. Согласно теореме Найквиста, частота дискретизации должна быть как минимум вдвое выше максимальной частоты сигнала. Человеческий слух особенно чувствителен к кратковременным искажениям, поэтому даже небольшой джиттер может заметно ухудшить качество звука.</a:t>
            </a:r>
          </a:p>
          <a:p>
            <a:endParaRPr lang="ru-RU" dirty="0"/>
          </a:p>
          <a:p>
            <a:r>
              <a:rPr lang="ru-RU" dirty="0"/>
              <a:t>Чтобы снизить требования к пропускной способности, звук почти всегда сжимается. Современные форматы, такие как MP3 и AAC, используют перцепционное кодирование — они отбрасывают те компоненты сигнала, которые человек всё равно не способен услышать из-за особенностей слуха. Это позволяет существенно уменьшить объём данных при минимальной потере воспринимаемого качества.</a:t>
            </a:r>
          </a:p>
          <a:p>
            <a:endParaRPr lang="ru-RU" dirty="0"/>
          </a:p>
          <a:p>
            <a:r>
              <a:rPr lang="ru-RU" dirty="0"/>
              <a:t>Видео предъявляет ещё более жёсткие требования к полосе пропускания. Даже одно несжатое видео высокой чёткости требует сотни мегабит в секунду. Поэтому видео кодируется с использованием стандартов MPEG. Ключевая идея — не передавать каждый кадр целиком, а отправлять только отличия между кадрами. Полные I-кадры используются как опорные, а P- и B-кадры описывают изменения и движение.</a:t>
            </a:r>
          </a:p>
          <a:p>
            <a:endParaRPr lang="ru-RU" dirty="0"/>
          </a:p>
          <a:p>
            <a:r>
              <a:rPr lang="ru-RU" dirty="0"/>
              <a:t>Важно, что системы кодирования мультимедиа асимметричны: кодирование может быть очень вычислительно сложным и выполняется редко, а декодирование должно быть быстрым и дешёвым, так как производится на миллионах пользовательских устройств. Именно эта асимметрия и делает массовую потоковую передачу аудио и видео возможной.</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181</a:t>
            </a:fld>
            <a:endParaRPr lang="en-US"/>
          </a:p>
        </p:txBody>
      </p:sp>
    </p:spTree>
    <p:extLst>
      <p:ext uri="{BB962C8B-B14F-4D97-AF65-F5344CB8AC3E}">
        <p14:creationId xmlns:p14="http://schemas.microsoft.com/office/powerpoint/2010/main" val="3747514962"/>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384885-B771-4961-99C6-DBB22F186DFF}" type="slidenum">
              <a:rPr lang="en-US" smtClean="0"/>
              <a:t>182</a:t>
            </a:fld>
            <a:endParaRPr lang="en-US"/>
          </a:p>
        </p:txBody>
      </p:sp>
    </p:spTree>
    <p:extLst>
      <p:ext uri="{BB962C8B-B14F-4D97-AF65-F5344CB8AC3E}">
        <p14:creationId xmlns:p14="http://schemas.microsoft.com/office/powerpoint/2010/main" val="4213341588"/>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этом разделе мы переходим от классической идеи интернета как канала «точка-точка» к современному интернету как системе доставки контента. Если для звонка нам нужен конкретный абонент, то для просмотра видео — достаточно получить его </a:t>
            </a:r>
            <a:r>
              <a:rPr lang="ru-RU" i="1" dirty="0"/>
              <a:t>с любого</a:t>
            </a:r>
            <a:r>
              <a:rPr lang="ru-RU" dirty="0"/>
              <a:t> узла, который способен быстро и надёжно его отдать.</a:t>
            </a:r>
          </a:p>
          <a:p>
            <a:endParaRPr lang="ru-RU" dirty="0"/>
          </a:p>
          <a:p>
            <a:r>
              <a:rPr lang="ru-RU" dirty="0"/>
              <a:t>Из-за популярности потокового видео сеть стала жить по другим законам: большую часть полосы занимают скачивания и стриминг, а не интерактивные диалоги. При этом нагрузка распределена крайне неравномерно: есть несколько суперпопулярных сервисов, которые генерируют огромный объём трафика, и одновременно существует «длинный хвост» — множество малопопулярных сайтов и объектов, которые в сумме тоже дают значимую долю.</a:t>
            </a:r>
          </a:p>
          <a:p>
            <a:endParaRPr lang="ru-RU" dirty="0"/>
          </a:p>
          <a:p>
            <a:r>
              <a:rPr lang="ru-RU" dirty="0"/>
              <a:t>Отсюда и архитектурный вывод: один «главный сервер» не справится ни по производительности, ни по отказоустойчивости. Поэтому основной подход — CDN: распределённая сеть кэшей и узлов по всему миру, которая отдаёт контент ближе к пользователю, снижая задержку и разгружая магистрали и центральные дата-центры. Альтернативная идея — P2P: когда сами участники сети помогают распространять контент, и суммарная пропускная способность растёт вместе с числом пользователей.</a:t>
            </a:r>
          </a:p>
          <a:p>
            <a:endParaRPr lang="ru-RU" dirty="0"/>
          </a:p>
          <a:p>
            <a:r>
              <a:rPr lang="ru-RU" dirty="0"/>
              <a:t>Итого: доставка контента — это отдельная задача с другими требованиями и решениями, чем обычная двухточечная коммуникация.</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183</a:t>
            </a:fld>
            <a:endParaRPr lang="en-US"/>
          </a:p>
        </p:txBody>
      </p:sp>
    </p:spTree>
    <p:extLst>
      <p:ext uri="{BB962C8B-B14F-4D97-AF65-F5344CB8AC3E}">
        <p14:creationId xmlns:p14="http://schemas.microsoft.com/office/powerpoint/2010/main" val="2648915979"/>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показано, как CDN ускоряют доставку контента.</a:t>
            </a:r>
            <a:br>
              <a:rPr lang="ru-RU" dirty="0"/>
            </a:br>
            <a:r>
              <a:rPr lang="ru-RU" dirty="0"/>
              <a:t>Ключевая идея — </a:t>
            </a:r>
            <a:r>
              <a:rPr lang="ru-RU" b="1" dirty="0"/>
              <a:t>перенести контент ближе к пользователю</a:t>
            </a:r>
            <a:r>
              <a:rPr lang="ru-RU" dirty="0"/>
              <a:t>. Вместо одного центрального сервера копии страниц, изображений и видео размещаются на множестве узлов по всему миру, и клиент получает данные с ближайшего из них.</a:t>
            </a:r>
          </a:p>
          <a:p>
            <a:endParaRPr lang="ru-RU" dirty="0"/>
          </a:p>
          <a:p>
            <a:r>
              <a:rPr lang="ru-RU" dirty="0"/>
              <a:t>Выбор узла обычно делается через </a:t>
            </a:r>
            <a:r>
              <a:rPr lang="ru-RU" b="1" dirty="0"/>
              <a:t>DNS-переадресацию</a:t>
            </a:r>
            <a:r>
              <a:rPr lang="ru-RU" dirty="0"/>
              <a:t>. Когда браузер запрашивает IP-адрес сайта, авторитетный DNS-сервер CDN возвращает не один фиксированный адрес, а тот, который лучше подходит конкретному клиенту. Учитываются два фактора: сетевое расстояние и текущая нагрузка на узлы.</a:t>
            </a:r>
          </a:p>
          <a:p>
            <a:endParaRPr lang="ru-RU" dirty="0"/>
          </a:p>
          <a:p>
            <a:r>
              <a:rPr lang="ru-RU" dirty="0"/>
              <a:t>Часто используется </a:t>
            </a:r>
            <a:r>
              <a:rPr lang="ru-RU" b="1" dirty="0"/>
              <a:t>двухуровневая схема</a:t>
            </a:r>
            <a:r>
              <a:rPr lang="ru-RU" dirty="0"/>
              <a:t>: сначала выбирается подходящий регион CDN, а затем конкретный сервер внутри кластера. Короткое время жизни DNS-ответов позволяет быстро перераспределять нагрузку, если какой-то узел перегружен или недоступен.</a:t>
            </a:r>
          </a:p>
          <a:p>
            <a:endParaRPr lang="ru-RU" dirty="0"/>
          </a:p>
          <a:p>
            <a:r>
              <a:rPr lang="ru-RU" dirty="0"/>
              <a:t>Контент заполняет CDN по принципу </a:t>
            </a:r>
            <a:r>
              <a:rPr lang="ru-RU" b="1" dirty="0"/>
              <a:t>дерева</a:t>
            </a:r>
            <a:r>
              <a:rPr lang="ru-RU" dirty="0"/>
              <a:t>: исходный сервер передает данные региональным узлам, а пользователи загружают их уже оттуда. Это снижает нагрузку на </a:t>
            </a:r>
            <a:r>
              <a:rPr lang="ru-RU" dirty="0" err="1"/>
              <a:t>origin</a:t>
            </a:r>
            <a:r>
              <a:rPr lang="ru-RU" dirty="0"/>
              <a:t>-сервер и уменьшает общий трафик в сети.</a:t>
            </a:r>
          </a:p>
          <a:p>
            <a:endParaRPr lang="ru-RU" dirty="0"/>
          </a:p>
          <a:p>
            <a:r>
              <a:rPr lang="ru-RU" dirty="0"/>
              <a:t>В результате CDN дают </a:t>
            </a:r>
            <a:r>
              <a:rPr lang="ru-RU" b="1" dirty="0"/>
              <a:t>меньшие задержки</a:t>
            </a:r>
            <a:r>
              <a:rPr lang="ru-RU" dirty="0"/>
              <a:t>, </a:t>
            </a:r>
            <a:r>
              <a:rPr lang="ru-RU" b="1" dirty="0"/>
              <a:t>лучшую масштабируемость</a:t>
            </a:r>
            <a:r>
              <a:rPr lang="ru-RU" dirty="0"/>
              <a:t> и часто помогают выдерживать </a:t>
            </a:r>
            <a:r>
              <a:rPr lang="ru-RU" b="1" dirty="0" err="1"/>
              <a:t>DDoS</a:t>
            </a:r>
            <a:r>
              <a:rPr lang="ru-RU" b="1" dirty="0"/>
              <a:t>-атаки</a:t>
            </a:r>
            <a:r>
              <a:rPr lang="ru-RU" dirty="0"/>
              <a:t>. При работе с HTTPS CDN обычно использует сертификаты от имени сайта, чтобы сохранить шифрование и при этом не потерять преимущества распределенной доставки.</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184</a:t>
            </a:fld>
            <a:endParaRPr lang="en-US"/>
          </a:p>
        </p:txBody>
      </p:sp>
    </p:spTree>
    <p:extLst>
      <p:ext uri="{BB962C8B-B14F-4D97-AF65-F5344CB8AC3E}">
        <p14:creationId xmlns:p14="http://schemas.microsoft.com/office/powerpoint/2010/main" val="1573404036"/>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Здесь мы переходим от CDN к альтернативе, которую может использовать почти любой: </a:t>
            </a:r>
            <a:r>
              <a:rPr lang="ru-RU" b="1" dirty="0"/>
              <a:t>одноранговые сети, или P2P</a:t>
            </a:r>
            <a:r>
              <a:rPr lang="ru-RU" dirty="0"/>
              <a:t>.</a:t>
            </a:r>
          </a:p>
          <a:p>
            <a:br>
              <a:rPr lang="ru-RU" dirty="0"/>
            </a:br>
            <a:r>
              <a:rPr lang="ru-RU" dirty="0"/>
              <a:t>В P2P нет обязательного «центрального сервера, который всем раздает». Каждый участник — </a:t>
            </a:r>
            <a:r>
              <a:rPr lang="ru-RU" b="1" dirty="0"/>
              <a:t>пир</a:t>
            </a:r>
            <a:r>
              <a:rPr lang="ru-RU" dirty="0"/>
              <a:t> — может быть и клиентом, и сервером: он одновременно </a:t>
            </a:r>
            <a:r>
              <a:rPr lang="ru-RU" b="1" dirty="0"/>
              <a:t>скачивает</a:t>
            </a:r>
            <a:r>
              <a:rPr lang="ru-RU" dirty="0"/>
              <a:t> части контента и </a:t>
            </a:r>
            <a:r>
              <a:rPr lang="ru-RU" b="1" dirty="0"/>
              <a:t>раздает</a:t>
            </a:r>
            <a:r>
              <a:rPr lang="ru-RU" dirty="0"/>
              <a:t> уже полученные части другим.</a:t>
            </a:r>
            <a:endParaRPr lang="en-US" dirty="0"/>
          </a:p>
          <a:p>
            <a:endParaRPr lang="ru-RU" dirty="0"/>
          </a:p>
          <a:p>
            <a:r>
              <a:rPr lang="ru-RU" dirty="0"/>
              <a:t>Исторически первый громкий пример — </a:t>
            </a:r>
            <a:r>
              <a:rPr lang="ru-RU" b="1" dirty="0"/>
              <a:t>Napster</a:t>
            </a:r>
            <a:r>
              <a:rPr lang="ru-RU" dirty="0"/>
              <a:t>. Он использовал централизованный каталог: найти музыку было легко, но из-за централизованности возникли две проблемы. Во-первых, </a:t>
            </a:r>
            <a:r>
              <a:rPr lang="ru-RU" b="1" dirty="0"/>
              <a:t>одна точка отказа</a:t>
            </a:r>
            <a:r>
              <a:rPr lang="ru-RU" dirty="0"/>
              <a:t>: выключили каталог — сеть фактически перестала работать. Во-вторых, централизованный каталог упростил выявление нарушений авторских прав.</a:t>
            </a:r>
          </a:p>
          <a:p>
            <a:endParaRPr lang="ru-RU" dirty="0"/>
          </a:p>
          <a:p>
            <a:r>
              <a:rPr lang="ru-RU" dirty="0"/>
              <a:t>Следующее поколение, например </a:t>
            </a:r>
            <a:r>
              <a:rPr lang="ru-RU" b="1" dirty="0" err="1"/>
              <a:t>Gnutella</a:t>
            </a:r>
            <a:r>
              <a:rPr lang="ru-RU" dirty="0"/>
              <a:t>, пыталось уйти от центрального каталога за счет распределенного поиска «сплетнями» (</a:t>
            </a:r>
            <a:r>
              <a:rPr lang="ru-RU" dirty="0" err="1"/>
              <a:t>gossip</a:t>
            </a:r>
            <a:r>
              <a:rPr lang="ru-RU" dirty="0"/>
              <a:t>): запросы пересылались между соседями. Но это привело к новым трудностям: лавинообразный рост сообщений плохо масштабируется, а еще многие пользователи занимались </a:t>
            </a:r>
            <a:r>
              <a:rPr lang="ru-RU" b="1" dirty="0" err="1"/>
              <a:t>free-riding</a:t>
            </a:r>
            <a:r>
              <a:rPr lang="ru-RU" dirty="0"/>
              <a:t> — скачивали и быстро уходили, почти ничего не раздавая. Плюс появилась проблема качества: сеть можно «засорять» поддельными файлами.</a:t>
            </a:r>
          </a:p>
          <a:p>
            <a:endParaRPr lang="ru-RU" dirty="0"/>
          </a:p>
          <a:p>
            <a:r>
              <a:rPr lang="ru-RU" dirty="0"/>
              <a:t>Именно поэтому индустрия пришла к </a:t>
            </a:r>
            <a:r>
              <a:rPr lang="ru-RU" b="1" dirty="0"/>
              <a:t>BitTorrent</a:t>
            </a:r>
            <a:r>
              <a:rPr lang="ru-RU" dirty="0"/>
              <a:t>. Он решает три ключевых задачи P2P:</a:t>
            </a:r>
          </a:p>
          <a:p>
            <a:pPr marL="228600" indent="-228600">
              <a:buFont typeface="+mj-lt"/>
              <a:buAutoNum type="arabicPeriod"/>
            </a:pPr>
            <a:r>
              <a:rPr lang="ru-RU" dirty="0"/>
              <a:t>как найти нужный контент (через </a:t>
            </a:r>
            <a:r>
              <a:rPr lang="ru-RU" b="1" dirty="0" err="1"/>
              <a:t>torrent</a:t>
            </a:r>
            <a:r>
              <a:rPr lang="ru-RU" b="1" dirty="0"/>
              <a:t>-метаданные</a:t>
            </a:r>
            <a:r>
              <a:rPr lang="ru-RU" dirty="0"/>
              <a:t> и </a:t>
            </a:r>
            <a:r>
              <a:rPr lang="ru-RU" b="1" dirty="0" err="1"/>
              <a:t>tracker</a:t>
            </a:r>
            <a:r>
              <a:rPr lang="ru-RU" b="1" dirty="0"/>
              <a:t>/DHT</a:t>
            </a:r>
            <a:r>
              <a:rPr lang="ru-RU" dirty="0"/>
              <a:t>),</a:t>
            </a:r>
          </a:p>
          <a:p>
            <a:pPr marL="228600" indent="-228600">
              <a:buFont typeface="+mj-lt"/>
              <a:buAutoNum type="arabicPeriod"/>
            </a:pPr>
            <a:r>
              <a:rPr lang="ru-RU" dirty="0"/>
              <a:t>как быстро раздать его многим (деление на </a:t>
            </a:r>
            <a:r>
              <a:rPr lang="ru-RU" b="1" dirty="0" err="1"/>
              <a:t>chunks</a:t>
            </a:r>
            <a:r>
              <a:rPr lang="ru-RU" dirty="0"/>
              <a:t> и обмен редкими сегментами),</a:t>
            </a:r>
          </a:p>
          <a:p>
            <a:pPr marL="228600" indent="-228600">
              <a:buFont typeface="+mj-lt"/>
              <a:buAutoNum type="arabicPeriod"/>
            </a:pPr>
            <a:r>
              <a:rPr lang="ru-RU" dirty="0"/>
              <a:t>как мотивировать участников делиться (обмен по принципу «взаимности», чтобы «пиявки» получали хуже).</a:t>
            </a:r>
          </a:p>
          <a:p>
            <a:pPr marL="0" indent="0">
              <a:buFont typeface="+mj-lt"/>
              <a:buNone/>
            </a:pPr>
            <a:r>
              <a:rPr lang="ru-RU" dirty="0"/>
              <a:t>А надежность обеспечивается тем, что каждый сегмент можно </a:t>
            </a:r>
            <a:r>
              <a:rPr lang="ru-RU" b="1" dirty="0"/>
              <a:t>проверить по </a:t>
            </a:r>
            <a:r>
              <a:rPr lang="ru-RU" b="1" dirty="0" err="1"/>
              <a:t>хешу</a:t>
            </a:r>
            <a:r>
              <a:rPr lang="ru-RU" dirty="0"/>
              <a:t>, и подделки отфильтровываются.</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185</a:t>
            </a:fld>
            <a:endParaRPr lang="en-US"/>
          </a:p>
        </p:txBody>
      </p:sp>
    </p:spTree>
    <p:extLst>
      <p:ext uri="{BB962C8B-B14F-4D97-AF65-F5344CB8AC3E}">
        <p14:creationId xmlns:p14="http://schemas.microsoft.com/office/powerpoint/2010/main" val="3109472120"/>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этой главе мы поднялись на прикладной уровень и посмотрели на реальные сетевые приложения.</a:t>
            </a:r>
            <a:endParaRPr lang="en-US" dirty="0"/>
          </a:p>
          <a:p>
            <a:endParaRPr lang="ru-RU" dirty="0"/>
          </a:p>
          <a:p>
            <a:r>
              <a:rPr lang="ru-RU" dirty="0"/>
              <a:t>Исторически всё начиналось очень просто: в ARPANET соответствие «имя хоста — IP-адрес» хранилось в одном файле hosts.txt, который регулярно раздавался всем.</a:t>
            </a:r>
            <a:endParaRPr lang="en-US" dirty="0"/>
          </a:p>
          <a:p>
            <a:endParaRPr lang="en-US" dirty="0"/>
          </a:p>
          <a:p>
            <a:r>
              <a:rPr lang="ru-RU" dirty="0"/>
              <a:t>Но рост интернета сделал такой подход невозможным, и появилась DNS — иерархическая система доменных имён, реализованная как распределённая база данных. Её ключевая роль — перевод доменного имени в IP-адрес, необходимый для маршрутизации. В последние годы DNS активно развивается и с точки зрения приватности: появляются </a:t>
            </a:r>
            <a:r>
              <a:rPr lang="ru-RU" dirty="0" err="1"/>
              <a:t>DoT</a:t>
            </a:r>
            <a:r>
              <a:rPr lang="ru-RU" dirty="0"/>
              <a:t>/</a:t>
            </a:r>
            <a:r>
              <a:rPr lang="ru-RU" dirty="0" err="1"/>
              <a:t>DoH</a:t>
            </a:r>
            <a:r>
              <a:rPr lang="ru-RU" dirty="0"/>
              <a:t>, но это может привести к укрупнению игроков и централизации </a:t>
            </a:r>
            <a:r>
              <a:rPr lang="ru-RU" dirty="0" err="1"/>
              <a:t>резолвинга</a:t>
            </a:r>
            <a:r>
              <a:rPr lang="ru-RU" dirty="0"/>
              <a:t>.</a:t>
            </a:r>
          </a:p>
          <a:p>
            <a:endParaRPr lang="ru-RU" dirty="0"/>
          </a:p>
          <a:p>
            <a:r>
              <a:rPr lang="ru-RU" dirty="0"/>
              <a:t>Дальше — электронная почта: одно из первых приложений интернета, которое остаётся массовым и сегодня. Доставка сообщений происходит по SMTP поверх TCP, а структура письма задаётся стандартами RFC и MIME-описанием типов данных.</a:t>
            </a:r>
          </a:p>
          <a:p>
            <a:endParaRPr lang="ru-RU" dirty="0"/>
          </a:p>
          <a:p>
            <a:r>
              <a:rPr lang="ru-RU" dirty="0"/>
              <a:t>Затем — Всемирная паутина. Изначально она была миром статичных HTML-страниц и ссылок, загружаемых браузером с сервера. Сегодня веб — в основном динамический: часть логики работает на сервере (скрипты, базы данных), часть — в браузере (JavaScript), из-за чего веб-страницы стали полноценными приложениями. Побочным эффектом роста рекламной экономики стало массовое отслеживание пользователей — от </a:t>
            </a:r>
            <a:r>
              <a:rPr lang="ru-RU" dirty="0" err="1"/>
              <a:t>cookie</a:t>
            </a:r>
            <a:r>
              <a:rPr lang="ru-RU" dirty="0"/>
              <a:t> до более сложных методов вроде цифровых отпечатков.</a:t>
            </a:r>
          </a:p>
          <a:p>
            <a:endParaRPr lang="ru-RU" dirty="0"/>
          </a:p>
          <a:p>
            <a:r>
              <a:rPr lang="ru-RU" dirty="0"/>
              <a:t>Отдельный огромный пласт — мультимедиа и потоковая передача аудио/видео. С начала 2000-х именно рост широкополосного доступа и мощности устройств сделал стриминг повседневным, а </a:t>
            </a:r>
            <a:r>
              <a:rPr lang="ru-RU" dirty="0" err="1"/>
              <a:t>видеотрафик</a:t>
            </a:r>
            <a:r>
              <a:rPr lang="ru-RU" dirty="0"/>
              <a:t> — доминирующим в интернете. Для мультимедиа особенно важны задержка и её колебания (джиттер), потому что данные должны воспроизводиться «по времени», а не просто “когда-нибудь быть доставленными”.</a:t>
            </a:r>
          </a:p>
          <a:p>
            <a:endParaRPr lang="ru-RU" dirty="0"/>
          </a:p>
          <a:p>
            <a:r>
              <a:rPr lang="ru-RU" dirty="0"/>
              <a:t>Наконец, чтобы обслуживать популярный контент, появились механизмы распределения: CDN, которые с помощью DNS направляют пользователя на ближайший сервер, и P2P-подходы, где участники помогают раздавать контент, и суммарная пропускная способность растёт вместе с числом участников.</a:t>
            </a:r>
          </a:p>
          <a:p>
            <a:endParaRPr lang="en-US" dirty="0"/>
          </a:p>
        </p:txBody>
      </p:sp>
      <p:sp>
        <p:nvSpPr>
          <p:cNvPr id="4" name="Slide Number Placeholder 3"/>
          <p:cNvSpPr>
            <a:spLocks noGrp="1"/>
          </p:cNvSpPr>
          <p:nvPr>
            <p:ph type="sldNum" sz="quarter" idx="5"/>
          </p:nvPr>
        </p:nvSpPr>
        <p:spPr/>
        <p:txBody>
          <a:bodyPr/>
          <a:lstStyle/>
          <a:p>
            <a:fld id="{4F384885-B771-4961-99C6-DBB22F186DFF}" type="slidenum">
              <a:rPr lang="en-US" smtClean="0"/>
              <a:t>186</a:t>
            </a:fld>
            <a:endParaRPr lang="en-US"/>
          </a:p>
        </p:txBody>
      </p:sp>
    </p:spTree>
    <p:extLst>
      <p:ext uri="{BB962C8B-B14F-4D97-AF65-F5344CB8AC3E}">
        <p14:creationId xmlns:p14="http://schemas.microsoft.com/office/powerpoint/2010/main" val="3348184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90A7C-298E-F58C-2BDF-8960A0919C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97F9EC8-AA86-9ACD-616E-F80240DD2C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EE8BA1-D24A-24C8-7DE0-50EB4B681695}"/>
              </a:ext>
            </a:extLst>
          </p:cNvPr>
          <p:cNvSpPr>
            <a:spLocks noGrp="1"/>
          </p:cNvSpPr>
          <p:nvPr>
            <p:ph type="dt" sz="half" idx="10"/>
          </p:nvPr>
        </p:nvSpPr>
        <p:spPr/>
        <p:txBody>
          <a:bodyPr/>
          <a:lstStyle/>
          <a:p>
            <a:fld id="{7B999C58-EA69-44D1-9B24-9B6C4D225D31}" type="datetimeFigureOut">
              <a:rPr lang="en-US" smtClean="0"/>
              <a:t>2/14/2026</a:t>
            </a:fld>
            <a:endParaRPr lang="en-US"/>
          </a:p>
        </p:txBody>
      </p:sp>
      <p:sp>
        <p:nvSpPr>
          <p:cNvPr id="5" name="Footer Placeholder 4">
            <a:extLst>
              <a:ext uri="{FF2B5EF4-FFF2-40B4-BE49-F238E27FC236}">
                <a16:creationId xmlns:a16="http://schemas.microsoft.com/office/drawing/2014/main" id="{B75DFAC2-E21C-C6D3-A304-F3374E499F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3D5B3E-114E-2898-9D25-861861AF79CD}"/>
              </a:ext>
            </a:extLst>
          </p:cNvPr>
          <p:cNvSpPr>
            <a:spLocks noGrp="1"/>
          </p:cNvSpPr>
          <p:nvPr>
            <p:ph type="sldNum" sz="quarter" idx="12"/>
          </p:nvPr>
        </p:nvSpPr>
        <p:spPr/>
        <p:txBody>
          <a:bodyPr/>
          <a:lstStyle/>
          <a:p>
            <a:fld id="{B1241946-1F86-46EB-8A85-AF4CFBF5AF34}" type="slidenum">
              <a:rPr lang="en-US" smtClean="0"/>
              <a:t>‹#›</a:t>
            </a:fld>
            <a:endParaRPr lang="en-US"/>
          </a:p>
        </p:txBody>
      </p:sp>
    </p:spTree>
    <p:extLst>
      <p:ext uri="{BB962C8B-B14F-4D97-AF65-F5344CB8AC3E}">
        <p14:creationId xmlns:p14="http://schemas.microsoft.com/office/powerpoint/2010/main" val="3773335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DBD5F-C39E-018D-28EB-F4B8D29A93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4F9EAA-9613-5465-207E-4469765992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C24667-0FB0-AB5B-7C00-52341D7612A7}"/>
              </a:ext>
            </a:extLst>
          </p:cNvPr>
          <p:cNvSpPr>
            <a:spLocks noGrp="1"/>
          </p:cNvSpPr>
          <p:nvPr>
            <p:ph type="dt" sz="half" idx="10"/>
          </p:nvPr>
        </p:nvSpPr>
        <p:spPr/>
        <p:txBody>
          <a:bodyPr/>
          <a:lstStyle/>
          <a:p>
            <a:fld id="{7B999C58-EA69-44D1-9B24-9B6C4D225D31}" type="datetimeFigureOut">
              <a:rPr lang="en-US" smtClean="0"/>
              <a:t>2/14/2026</a:t>
            </a:fld>
            <a:endParaRPr lang="en-US"/>
          </a:p>
        </p:txBody>
      </p:sp>
      <p:sp>
        <p:nvSpPr>
          <p:cNvPr id="5" name="Footer Placeholder 4">
            <a:extLst>
              <a:ext uri="{FF2B5EF4-FFF2-40B4-BE49-F238E27FC236}">
                <a16:creationId xmlns:a16="http://schemas.microsoft.com/office/drawing/2014/main" id="{F2B3BF3B-1791-76A7-0AEA-03DBB797F1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225A01-FA7B-B39E-2471-80F0DBA8EBDC}"/>
              </a:ext>
            </a:extLst>
          </p:cNvPr>
          <p:cNvSpPr>
            <a:spLocks noGrp="1"/>
          </p:cNvSpPr>
          <p:nvPr>
            <p:ph type="sldNum" sz="quarter" idx="12"/>
          </p:nvPr>
        </p:nvSpPr>
        <p:spPr/>
        <p:txBody>
          <a:bodyPr/>
          <a:lstStyle/>
          <a:p>
            <a:fld id="{B1241946-1F86-46EB-8A85-AF4CFBF5AF34}" type="slidenum">
              <a:rPr lang="en-US" smtClean="0"/>
              <a:t>‹#›</a:t>
            </a:fld>
            <a:endParaRPr lang="en-US"/>
          </a:p>
        </p:txBody>
      </p:sp>
    </p:spTree>
    <p:extLst>
      <p:ext uri="{BB962C8B-B14F-4D97-AF65-F5344CB8AC3E}">
        <p14:creationId xmlns:p14="http://schemas.microsoft.com/office/powerpoint/2010/main" val="2438608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4A67C-7640-802D-2B8E-1F56186472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548A47-0B39-DB6C-263A-15A22936EF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35FDF4-8787-A8A8-A084-7C111AB95965}"/>
              </a:ext>
            </a:extLst>
          </p:cNvPr>
          <p:cNvSpPr>
            <a:spLocks noGrp="1"/>
          </p:cNvSpPr>
          <p:nvPr>
            <p:ph type="dt" sz="half" idx="10"/>
          </p:nvPr>
        </p:nvSpPr>
        <p:spPr/>
        <p:txBody>
          <a:bodyPr/>
          <a:lstStyle/>
          <a:p>
            <a:fld id="{7B999C58-EA69-44D1-9B24-9B6C4D225D31}" type="datetimeFigureOut">
              <a:rPr lang="en-US" smtClean="0"/>
              <a:t>2/14/2026</a:t>
            </a:fld>
            <a:endParaRPr lang="en-US"/>
          </a:p>
        </p:txBody>
      </p:sp>
      <p:sp>
        <p:nvSpPr>
          <p:cNvPr id="5" name="Footer Placeholder 4">
            <a:extLst>
              <a:ext uri="{FF2B5EF4-FFF2-40B4-BE49-F238E27FC236}">
                <a16:creationId xmlns:a16="http://schemas.microsoft.com/office/drawing/2014/main" id="{B7AAF270-1C63-6CD0-C5A7-66E78D789B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F6FEDC-D1C3-33A3-87B4-242827AC6D0E}"/>
              </a:ext>
            </a:extLst>
          </p:cNvPr>
          <p:cNvSpPr>
            <a:spLocks noGrp="1"/>
          </p:cNvSpPr>
          <p:nvPr>
            <p:ph type="sldNum" sz="quarter" idx="12"/>
          </p:nvPr>
        </p:nvSpPr>
        <p:spPr/>
        <p:txBody>
          <a:bodyPr/>
          <a:lstStyle/>
          <a:p>
            <a:fld id="{B1241946-1F86-46EB-8A85-AF4CFBF5AF34}" type="slidenum">
              <a:rPr lang="en-US" smtClean="0"/>
              <a:t>‹#›</a:t>
            </a:fld>
            <a:endParaRPr lang="en-US"/>
          </a:p>
        </p:txBody>
      </p:sp>
    </p:spTree>
    <p:extLst>
      <p:ext uri="{BB962C8B-B14F-4D97-AF65-F5344CB8AC3E}">
        <p14:creationId xmlns:p14="http://schemas.microsoft.com/office/powerpoint/2010/main" val="1820208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09B1F-FB86-84CC-0DFD-F5D71DAF66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8B2CA-F4C2-7F79-86A7-0E486F7DB4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3E83AD-7C5A-CEA5-1A6A-D3F24C02FB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F854D3-5499-24FF-A717-93850AA9314B}"/>
              </a:ext>
            </a:extLst>
          </p:cNvPr>
          <p:cNvSpPr>
            <a:spLocks noGrp="1"/>
          </p:cNvSpPr>
          <p:nvPr>
            <p:ph type="dt" sz="half" idx="10"/>
          </p:nvPr>
        </p:nvSpPr>
        <p:spPr/>
        <p:txBody>
          <a:bodyPr/>
          <a:lstStyle/>
          <a:p>
            <a:fld id="{7B999C58-EA69-44D1-9B24-9B6C4D225D31}" type="datetimeFigureOut">
              <a:rPr lang="en-US" smtClean="0"/>
              <a:t>2/14/2026</a:t>
            </a:fld>
            <a:endParaRPr lang="en-US"/>
          </a:p>
        </p:txBody>
      </p:sp>
      <p:sp>
        <p:nvSpPr>
          <p:cNvPr id="6" name="Footer Placeholder 5">
            <a:extLst>
              <a:ext uri="{FF2B5EF4-FFF2-40B4-BE49-F238E27FC236}">
                <a16:creationId xmlns:a16="http://schemas.microsoft.com/office/drawing/2014/main" id="{6DE85624-3F45-2FBD-A52F-8B378558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606111-A556-6112-CFA5-82A73BBFE0D7}"/>
              </a:ext>
            </a:extLst>
          </p:cNvPr>
          <p:cNvSpPr>
            <a:spLocks noGrp="1"/>
          </p:cNvSpPr>
          <p:nvPr>
            <p:ph type="sldNum" sz="quarter" idx="12"/>
          </p:nvPr>
        </p:nvSpPr>
        <p:spPr/>
        <p:txBody>
          <a:bodyPr/>
          <a:lstStyle/>
          <a:p>
            <a:fld id="{B1241946-1F86-46EB-8A85-AF4CFBF5AF34}" type="slidenum">
              <a:rPr lang="en-US" smtClean="0"/>
              <a:t>‹#›</a:t>
            </a:fld>
            <a:endParaRPr lang="en-US"/>
          </a:p>
        </p:txBody>
      </p:sp>
    </p:spTree>
    <p:extLst>
      <p:ext uri="{BB962C8B-B14F-4D97-AF65-F5344CB8AC3E}">
        <p14:creationId xmlns:p14="http://schemas.microsoft.com/office/powerpoint/2010/main" val="170837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11921-A6AA-8B13-2BC5-465745CCC6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5B4FC6-8635-FE9F-2E9B-355CE828CF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D6C0DD-F7F1-7433-59F8-D6DD6A95B2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EB698C-1456-1260-4D91-83B5062BD0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41A605-72BE-F03A-55A3-504AFDDFF7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2DEF79-B87B-3AB6-C762-00BE36AFF0E2}"/>
              </a:ext>
            </a:extLst>
          </p:cNvPr>
          <p:cNvSpPr>
            <a:spLocks noGrp="1"/>
          </p:cNvSpPr>
          <p:nvPr>
            <p:ph type="dt" sz="half" idx="10"/>
          </p:nvPr>
        </p:nvSpPr>
        <p:spPr/>
        <p:txBody>
          <a:bodyPr/>
          <a:lstStyle/>
          <a:p>
            <a:fld id="{7B999C58-EA69-44D1-9B24-9B6C4D225D31}" type="datetimeFigureOut">
              <a:rPr lang="en-US" smtClean="0"/>
              <a:t>2/14/2026</a:t>
            </a:fld>
            <a:endParaRPr lang="en-US"/>
          </a:p>
        </p:txBody>
      </p:sp>
      <p:sp>
        <p:nvSpPr>
          <p:cNvPr id="8" name="Footer Placeholder 7">
            <a:extLst>
              <a:ext uri="{FF2B5EF4-FFF2-40B4-BE49-F238E27FC236}">
                <a16:creationId xmlns:a16="http://schemas.microsoft.com/office/drawing/2014/main" id="{963F4A4C-9A5E-C2A1-BCA6-AF68AE193D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DB9D88-7585-A74B-2336-F1AA35F59E3B}"/>
              </a:ext>
            </a:extLst>
          </p:cNvPr>
          <p:cNvSpPr>
            <a:spLocks noGrp="1"/>
          </p:cNvSpPr>
          <p:nvPr>
            <p:ph type="sldNum" sz="quarter" idx="12"/>
          </p:nvPr>
        </p:nvSpPr>
        <p:spPr/>
        <p:txBody>
          <a:bodyPr/>
          <a:lstStyle/>
          <a:p>
            <a:fld id="{B1241946-1F86-46EB-8A85-AF4CFBF5AF34}" type="slidenum">
              <a:rPr lang="en-US" smtClean="0"/>
              <a:t>‹#›</a:t>
            </a:fld>
            <a:endParaRPr lang="en-US"/>
          </a:p>
        </p:txBody>
      </p:sp>
    </p:spTree>
    <p:extLst>
      <p:ext uri="{BB962C8B-B14F-4D97-AF65-F5344CB8AC3E}">
        <p14:creationId xmlns:p14="http://schemas.microsoft.com/office/powerpoint/2010/main" val="554147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C6867-7A56-5C83-1194-7C85512F18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595BC4B-50DA-98C3-D418-87F112B00B7D}"/>
              </a:ext>
            </a:extLst>
          </p:cNvPr>
          <p:cNvSpPr>
            <a:spLocks noGrp="1"/>
          </p:cNvSpPr>
          <p:nvPr>
            <p:ph type="dt" sz="half" idx="10"/>
          </p:nvPr>
        </p:nvSpPr>
        <p:spPr/>
        <p:txBody>
          <a:bodyPr/>
          <a:lstStyle/>
          <a:p>
            <a:fld id="{7B999C58-EA69-44D1-9B24-9B6C4D225D31}" type="datetimeFigureOut">
              <a:rPr lang="en-US" smtClean="0"/>
              <a:t>2/14/2026</a:t>
            </a:fld>
            <a:endParaRPr lang="en-US"/>
          </a:p>
        </p:txBody>
      </p:sp>
      <p:sp>
        <p:nvSpPr>
          <p:cNvPr id="4" name="Footer Placeholder 3">
            <a:extLst>
              <a:ext uri="{FF2B5EF4-FFF2-40B4-BE49-F238E27FC236}">
                <a16:creationId xmlns:a16="http://schemas.microsoft.com/office/drawing/2014/main" id="{427CE04F-672B-1DD2-088E-5B9863E295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1F5F14-E487-67D0-C479-B4E4E53E733A}"/>
              </a:ext>
            </a:extLst>
          </p:cNvPr>
          <p:cNvSpPr>
            <a:spLocks noGrp="1"/>
          </p:cNvSpPr>
          <p:nvPr>
            <p:ph type="sldNum" sz="quarter" idx="12"/>
          </p:nvPr>
        </p:nvSpPr>
        <p:spPr/>
        <p:txBody>
          <a:bodyPr/>
          <a:lstStyle/>
          <a:p>
            <a:fld id="{B1241946-1F86-46EB-8A85-AF4CFBF5AF34}" type="slidenum">
              <a:rPr lang="en-US" smtClean="0"/>
              <a:t>‹#›</a:t>
            </a:fld>
            <a:endParaRPr lang="en-US"/>
          </a:p>
        </p:txBody>
      </p:sp>
    </p:spTree>
    <p:extLst>
      <p:ext uri="{BB962C8B-B14F-4D97-AF65-F5344CB8AC3E}">
        <p14:creationId xmlns:p14="http://schemas.microsoft.com/office/powerpoint/2010/main" val="754764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079DB4-C7B7-2228-5151-DB1E2FBFA05F}"/>
              </a:ext>
            </a:extLst>
          </p:cNvPr>
          <p:cNvSpPr>
            <a:spLocks noGrp="1"/>
          </p:cNvSpPr>
          <p:nvPr>
            <p:ph type="dt" sz="half" idx="10"/>
          </p:nvPr>
        </p:nvSpPr>
        <p:spPr/>
        <p:txBody>
          <a:bodyPr/>
          <a:lstStyle/>
          <a:p>
            <a:fld id="{7B999C58-EA69-44D1-9B24-9B6C4D225D31}" type="datetimeFigureOut">
              <a:rPr lang="en-US" smtClean="0"/>
              <a:t>2/14/2026</a:t>
            </a:fld>
            <a:endParaRPr lang="en-US"/>
          </a:p>
        </p:txBody>
      </p:sp>
      <p:sp>
        <p:nvSpPr>
          <p:cNvPr id="3" name="Footer Placeholder 2">
            <a:extLst>
              <a:ext uri="{FF2B5EF4-FFF2-40B4-BE49-F238E27FC236}">
                <a16:creationId xmlns:a16="http://schemas.microsoft.com/office/drawing/2014/main" id="{FA4254FC-129A-3225-445D-7F6C61173A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66851B-2C49-9BA1-FB17-2F25570F324C}"/>
              </a:ext>
            </a:extLst>
          </p:cNvPr>
          <p:cNvSpPr>
            <a:spLocks noGrp="1"/>
          </p:cNvSpPr>
          <p:nvPr>
            <p:ph type="sldNum" sz="quarter" idx="12"/>
          </p:nvPr>
        </p:nvSpPr>
        <p:spPr/>
        <p:txBody>
          <a:bodyPr/>
          <a:lstStyle/>
          <a:p>
            <a:fld id="{B1241946-1F86-46EB-8A85-AF4CFBF5AF34}" type="slidenum">
              <a:rPr lang="en-US" smtClean="0"/>
              <a:t>‹#›</a:t>
            </a:fld>
            <a:endParaRPr lang="en-US"/>
          </a:p>
        </p:txBody>
      </p:sp>
    </p:spTree>
    <p:extLst>
      <p:ext uri="{BB962C8B-B14F-4D97-AF65-F5344CB8AC3E}">
        <p14:creationId xmlns:p14="http://schemas.microsoft.com/office/powerpoint/2010/main" val="3261363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8C566-7439-BAA5-8E06-8CEBFADE10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278B8B-9FC4-5537-6A1F-68633A9B24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EC6344-8BF0-D96A-775F-5824B0C51C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5E4D86-DC72-FE2F-C68A-8AB1C547F5FE}"/>
              </a:ext>
            </a:extLst>
          </p:cNvPr>
          <p:cNvSpPr>
            <a:spLocks noGrp="1"/>
          </p:cNvSpPr>
          <p:nvPr>
            <p:ph type="dt" sz="half" idx="10"/>
          </p:nvPr>
        </p:nvSpPr>
        <p:spPr/>
        <p:txBody>
          <a:bodyPr/>
          <a:lstStyle/>
          <a:p>
            <a:fld id="{7B999C58-EA69-44D1-9B24-9B6C4D225D31}" type="datetimeFigureOut">
              <a:rPr lang="en-US" smtClean="0"/>
              <a:t>2/14/2026</a:t>
            </a:fld>
            <a:endParaRPr lang="en-US"/>
          </a:p>
        </p:txBody>
      </p:sp>
      <p:sp>
        <p:nvSpPr>
          <p:cNvPr id="6" name="Footer Placeholder 5">
            <a:extLst>
              <a:ext uri="{FF2B5EF4-FFF2-40B4-BE49-F238E27FC236}">
                <a16:creationId xmlns:a16="http://schemas.microsoft.com/office/drawing/2014/main" id="{3F5D3FE1-8C52-A074-727E-22909E279C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19A6ED-E3C6-7E81-AE86-16788FA80579}"/>
              </a:ext>
            </a:extLst>
          </p:cNvPr>
          <p:cNvSpPr>
            <a:spLocks noGrp="1"/>
          </p:cNvSpPr>
          <p:nvPr>
            <p:ph type="sldNum" sz="quarter" idx="12"/>
          </p:nvPr>
        </p:nvSpPr>
        <p:spPr/>
        <p:txBody>
          <a:bodyPr/>
          <a:lstStyle/>
          <a:p>
            <a:fld id="{B1241946-1F86-46EB-8A85-AF4CFBF5AF34}" type="slidenum">
              <a:rPr lang="en-US" smtClean="0"/>
              <a:t>‹#›</a:t>
            </a:fld>
            <a:endParaRPr lang="en-US"/>
          </a:p>
        </p:txBody>
      </p:sp>
    </p:spTree>
    <p:extLst>
      <p:ext uri="{BB962C8B-B14F-4D97-AF65-F5344CB8AC3E}">
        <p14:creationId xmlns:p14="http://schemas.microsoft.com/office/powerpoint/2010/main" val="1202443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CADD3-8900-FBC1-DE1E-7BC9217EB4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86C4EC-332E-B6C7-7CFF-17F31DA583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1BCD48-0964-B0C7-DF15-0680F93E94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B323A0-C182-3247-202E-6DA00D116B25}"/>
              </a:ext>
            </a:extLst>
          </p:cNvPr>
          <p:cNvSpPr>
            <a:spLocks noGrp="1"/>
          </p:cNvSpPr>
          <p:nvPr>
            <p:ph type="dt" sz="half" idx="10"/>
          </p:nvPr>
        </p:nvSpPr>
        <p:spPr/>
        <p:txBody>
          <a:bodyPr/>
          <a:lstStyle/>
          <a:p>
            <a:fld id="{7B999C58-EA69-44D1-9B24-9B6C4D225D31}" type="datetimeFigureOut">
              <a:rPr lang="en-US" smtClean="0"/>
              <a:t>2/14/2026</a:t>
            </a:fld>
            <a:endParaRPr lang="en-US"/>
          </a:p>
        </p:txBody>
      </p:sp>
      <p:sp>
        <p:nvSpPr>
          <p:cNvPr id="6" name="Footer Placeholder 5">
            <a:extLst>
              <a:ext uri="{FF2B5EF4-FFF2-40B4-BE49-F238E27FC236}">
                <a16:creationId xmlns:a16="http://schemas.microsoft.com/office/drawing/2014/main" id="{0B0BD3DF-AE56-845D-3007-90DAEF763E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88B1B6-8A35-E8F9-2BF7-199E3C981313}"/>
              </a:ext>
            </a:extLst>
          </p:cNvPr>
          <p:cNvSpPr>
            <a:spLocks noGrp="1"/>
          </p:cNvSpPr>
          <p:nvPr>
            <p:ph type="sldNum" sz="quarter" idx="12"/>
          </p:nvPr>
        </p:nvSpPr>
        <p:spPr/>
        <p:txBody>
          <a:bodyPr/>
          <a:lstStyle/>
          <a:p>
            <a:fld id="{B1241946-1F86-46EB-8A85-AF4CFBF5AF34}" type="slidenum">
              <a:rPr lang="en-US" smtClean="0"/>
              <a:t>‹#›</a:t>
            </a:fld>
            <a:endParaRPr lang="en-US"/>
          </a:p>
        </p:txBody>
      </p:sp>
    </p:spTree>
    <p:extLst>
      <p:ext uri="{BB962C8B-B14F-4D97-AF65-F5344CB8AC3E}">
        <p14:creationId xmlns:p14="http://schemas.microsoft.com/office/powerpoint/2010/main" val="456575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4B7F-7DA0-AEEF-DAE7-2B6592D78E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C001ED9-2E11-C852-88E1-CF7CB51E88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D7DC9C-24A6-3315-4A0A-5B61CA9D43CD}"/>
              </a:ext>
            </a:extLst>
          </p:cNvPr>
          <p:cNvSpPr>
            <a:spLocks noGrp="1"/>
          </p:cNvSpPr>
          <p:nvPr>
            <p:ph type="dt" sz="half" idx="10"/>
          </p:nvPr>
        </p:nvSpPr>
        <p:spPr/>
        <p:txBody>
          <a:bodyPr/>
          <a:lstStyle/>
          <a:p>
            <a:fld id="{7B999C58-EA69-44D1-9B24-9B6C4D225D31}" type="datetimeFigureOut">
              <a:rPr lang="en-US" smtClean="0"/>
              <a:t>2/14/2026</a:t>
            </a:fld>
            <a:endParaRPr lang="en-US"/>
          </a:p>
        </p:txBody>
      </p:sp>
      <p:sp>
        <p:nvSpPr>
          <p:cNvPr id="5" name="Footer Placeholder 4">
            <a:extLst>
              <a:ext uri="{FF2B5EF4-FFF2-40B4-BE49-F238E27FC236}">
                <a16:creationId xmlns:a16="http://schemas.microsoft.com/office/drawing/2014/main" id="{3C6AC6E2-C920-6DFB-6587-4D36037026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19B24D-9266-69DF-A7EC-69C15EB20618}"/>
              </a:ext>
            </a:extLst>
          </p:cNvPr>
          <p:cNvSpPr>
            <a:spLocks noGrp="1"/>
          </p:cNvSpPr>
          <p:nvPr>
            <p:ph type="sldNum" sz="quarter" idx="12"/>
          </p:nvPr>
        </p:nvSpPr>
        <p:spPr/>
        <p:txBody>
          <a:bodyPr/>
          <a:lstStyle/>
          <a:p>
            <a:fld id="{B1241946-1F86-46EB-8A85-AF4CFBF5AF34}" type="slidenum">
              <a:rPr lang="en-US" smtClean="0"/>
              <a:t>‹#›</a:t>
            </a:fld>
            <a:endParaRPr lang="en-US"/>
          </a:p>
        </p:txBody>
      </p:sp>
    </p:spTree>
    <p:extLst>
      <p:ext uri="{BB962C8B-B14F-4D97-AF65-F5344CB8AC3E}">
        <p14:creationId xmlns:p14="http://schemas.microsoft.com/office/powerpoint/2010/main" val="2682760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EEB53F-976F-0692-C9FC-5EFC71942D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178390-2531-B00F-575D-4D2B8BB7B6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4A7BDC-AFC4-2561-DB1D-D89FB5A2078D}"/>
              </a:ext>
            </a:extLst>
          </p:cNvPr>
          <p:cNvSpPr>
            <a:spLocks noGrp="1"/>
          </p:cNvSpPr>
          <p:nvPr>
            <p:ph type="dt" sz="half" idx="10"/>
          </p:nvPr>
        </p:nvSpPr>
        <p:spPr/>
        <p:txBody>
          <a:bodyPr/>
          <a:lstStyle/>
          <a:p>
            <a:fld id="{7B999C58-EA69-44D1-9B24-9B6C4D225D31}" type="datetimeFigureOut">
              <a:rPr lang="en-US" smtClean="0"/>
              <a:t>2/14/2026</a:t>
            </a:fld>
            <a:endParaRPr lang="en-US"/>
          </a:p>
        </p:txBody>
      </p:sp>
      <p:sp>
        <p:nvSpPr>
          <p:cNvPr id="5" name="Footer Placeholder 4">
            <a:extLst>
              <a:ext uri="{FF2B5EF4-FFF2-40B4-BE49-F238E27FC236}">
                <a16:creationId xmlns:a16="http://schemas.microsoft.com/office/drawing/2014/main" id="{4A7858AB-BF3A-793C-1374-B66481C9CB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7688FA-892F-2CF9-4C11-BFA24021655E}"/>
              </a:ext>
            </a:extLst>
          </p:cNvPr>
          <p:cNvSpPr>
            <a:spLocks noGrp="1"/>
          </p:cNvSpPr>
          <p:nvPr>
            <p:ph type="sldNum" sz="quarter" idx="12"/>
          </p:nvPr>
        </p:nvSpPr>
        <p:spPr/>
        <p:txBody>
          <a:bodyPr/>
          <a:lstStyle/>
          <a:p>
            <a:fld id="{B1241946-1F86-46EB-8A85-AF4CFBF5AF34}" type="slidenum">
              <a:rPr lang="en-US" smtClean="0"/>
              <a:t>‹#›</a:t>
            </a:fld>
            <a:endParaRPr lang="en-US"/>
          </a:p>
        </p:txBody>
      </p:sp>
    </p:spTree>
    <p:extLst>
      <p:ext uri="{BB962C8B-B14F-4D97-AF65-F5344CB8AC3E}">
        <p14:creationId xmlns:p14="http://schemas.microsoft.com/office/powerpoint/2010/main" val="38044615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7F9C0-CAEE-AED2-B220-7A8E0334B6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FE31FA-BE7E-A139-F428-52FB69C1DD97}"/>
              </a:ext>
            </a:extLst>
          </p:cNvPr>
          <p:cNvSpPr>
            <a:spLocks noGrp="1"/>
          </p:cNvSpPr>
          <p:nvPr>
            <p:ph sz="half" idx="1"/>
          </p:nvPr>
        </p:nvSpPr>
        <p:spPr>
          <a:xfrm>
            <a:off x="838200" y="1825625"/>
            <a:ext cx="580519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88F476-21D7-5A86-36AD-08B8061216F9}"/>
              </a:ext>
            </a:extLst>
          </p:cNvPr>
          <p:cNvSpPr>
            <a:spLocks noGrp="1"/>
          </p:cNvSpPr>
          <p:nvPr>
            <p:ph sz="half" idx="2"/>
          </p:nvPr>
        </p:nvSpPr>
        <p:spPr>
          <a:xfrm>
            <a:off x="6904654" y="1825625"/>
            <a:ext cx="4449146" cy="20621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D5847E05-7B98-AE33-EE3C-E6F8D7DF36A2}"/>
              </a:ext>
            </a:extLst>
          </p:cNvPr>
          <p:cNvSpPr>
            <a:spLocks noGrp="1"/>
          </p:cNvSpPr>
          <p:nvPr>
            <p:ph type="dt" sz="half" idx="10"/>
          </p:nvPr>
        </p:nvSpPr>
        <p:spPr/>
        <p:txBody>
          <a:bodyPr/>
          <a:lstStyle/>
          <a:p>
            <a:fld id="{B86B7265-0534-4652-8BC7-F14F741BB29D}" type="datetimeFigureOut">
              <a:rPr lang="en-US" smtClean="0"/>
              <a:t>2/14/2026</a:t>
            </a:fld>
            <a:endParaRPr lang="en-US"/>
          </a:p>
        </p:txBody>
      </p:sp>
      <p:sp>
        <p:nvSpPr>
          <p:cNvPr id="6" name="Footer Placeholder 5">
            <a:extLst>
              <a:ext uri="{FF2B5EF4-FFF2-40B4-BE49-F238E27FC236}">
                <a16:creationId xmlns:a16="http://schemas.microsoft.com/office/drawing/2014/main" id="{88AA4492-A7BE-3854-D9D0-CCA9F1DA87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D7FBBA-3922-E180-BED2-EF7C35C84DEB}"/>
              </a:ext>
            </a:extLst>
          </p:cNvPr>
          <p:cNvSpPr>
            <a:spLocks noGrp="1"/>
          </p:cNvSpPr>
          <p:nvPr>
            <p:ph type="sldNum" sz="quarter" idx="12"/>
          </p:nvPr>
        </p:nvSpPr>
        <p:spPr/>
        <p:txBody>
          <a:bodyPr/>
          <a:lstStyle/>
          <a:p>
            <a:fld id="{47922081-3201-4273-B244-324A7B2BEF59}" type="slidenum">
              <a:rPr lang="en-US" smtClean="0"/>
              <a:t>‹#›</a:t>
            </a:fld>
            <a:endParaRPr lang="en-US"/>
          </a:p>
        </p:txBody>
      </p:sp>
      <p:sp>
        <p:nvSpPr>
          <p:cNvPr id="8" name="Content Placeholder 3">
            <a:extLst>
              <a:ext uri="{FF2B5EF4-FFF2-40B4-BE49-F238E27FC236}">
                <a16:creationId xmlns:a16="http://schemas.microsoft.com/office/drawing/2014/main" id="{C3907100-AFA9-D574-4A76-C313081F0CB4}"/>
              </a:ext>
            </a:extLst>
          </p:cNvPr>
          <p:cNvSpPr>
            <a:spLocks noGrp="1"/>
          </p:cNvSpPr>
          <p:nvPr>
            <p:ph sz="half" idx="13"/>
          </p:nvPr>
        </p:nvSpPr>
        <p:spPr>
          <a:xfrm>
            <a:off x="6904654" y="4067176"/>
            <a:ext cx="4449146" cy="2109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17480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891679-65FA-C958-BF0B-6F798ADED2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86049B-9166-AC06-2DBA-F92F586548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0EC11C-C2B0-6CD7-F0C9-829C4EE783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999C58-EA69-44D1-9B24-9B6C4D225D31}" type="datetimeFigureOut">
              <a:rPr lang="en-US" smtClean="0"/>
              <a:t>2/14/2026</a:t>
            </a:fld>
            <a:endParaRPr lang="en-US"/>
          </a:p>
        </p:txBody>
      </p:sp>
      <p:sp>
        <p:nvSpPr>
          <p:cNvPr id="5" name="Footer Placeholder 4">
            <a:extLst>
              <a:ext uri="{FF2B5EF4-FFF2-40B4-BE49-F238E27FC236}">
                <a16:creationId xmlns:a16="http://schemas.microsoft.com/office/drawing/2014/main" id="{59EC626A-9E62-0AEE-3954-FF2399C887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B7B7359-A395-84C1-4BB2-DA08EF30F4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241946-1F86-46EB-8A85-AF4CFBF5AF34}" type="slidenum">
              <a:rPr lang="en-US" smtClean="0"/>
              <a:t>‹#›</a:t>
            </a:fld>
            <a:endParaRPr lang="en-US"/>
          </a:p>
        </p:txBody>
      </p:sp>
    </p:spTree>
    <p:extLst>
      <p:ext uri="{BB962C8B-B14F-4D97-AF65-F5344CB8AC3E}">
        <p14:creationId xmlns:p14="http://schemas.microsoft.com/office/powerpoint/2010/main" val="3456068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5.jpg"/></Relationships>
</file>

<file path=ppt/slides/_rels/slide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8.jp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hyperlink" Target="https://www.youtube.com/watch?v=bWCwwBAKKlM"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en.wikipedia.org/wiki/Frequency-division_multiplexing"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hyperlink" Target="https://en.wikipedia.org/wiki/Wavelength-division_multiplexing" TargetMode="External"/><Relationship Id="rId5" Type="http://schemas.openxmlformats.org/officeDocument/2006/relationships/hyperlink" Target="https://en.wikipedia.org/wiki/Code-division_multiple_access" TargetMode="External"/><Relationship Id="rId4" Type="http://schemas.openxmlformats.org/officeDocument/2006/relationships/hyperlink" Target="https://en.wikipedia.org/wiki/Time-division_multiplexing"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hyperlink" Target="https://ru.wikipedia.org/wiki/HDLC"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ru.wikipedia.org/wiki/%D0%9A%D0%BE%D0%B4_%D0%A5%D1%8D%D0%BC%D0%BC%D0%B8%D0%BD%D0%B3%D0%B0" TargetMode="External"/><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hyperlink" Target="https://ru.wikipedia.org/wiki/%D0%9A%D0%BE%D0%B4_%D1%81_%D0%BC%D0%B0%D0%BB%D0%BE%D0%B9_%D0%BF%D0%BB%D0%BE%D1%82%D0%BD%D0%BE%D1%81%D1%82%D1%8C%D1%8E_%D0%BF%D1%80%D0%BE%D0%B2%D0%B5%D1%80%D0%BE%D0%BA_%D0%BD%D0%B0_%D1%87%D1%91%D1%82%D0%BD%D0%BE%D1%81%D1%82%D1%8C" TargetMode="External"/><Relationship Id="rId5" Type="http://schemas.openxmlformats.org/officeDocument/2006/relationships/hyperlink" Target="https://ru.wikipedia.org/wiki/%D0%9A%D0%BE%D0%B4_%D0%A0%D0%B8%D0%B4%D0%B0_%E2%80%94_%D0%A1%D0%BE%D0%BB%D0%BE%D0%BC%D0%BE%D0%BD%D0%B0" TargetMode="External"/><Relationship Id="rId4" Type="http://schemas.openxmlformats.org/officeDocument/2006/relationships/hyperlink" Target="https://ru.wikipedia.org/wiki/%D0%90%D0%BB%D0%B3%D0%BE%D1%80%D0%B8%D1%82%D0%BC_%D0%92%D0%B8%D1%82%D0%B5%D1%80%D0%B1%D0%B8" TargetMode="Externa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9.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9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1.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4.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9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5.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9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6.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0.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4.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6.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8.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9.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2.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3.xml"/><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4.xml"/><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5.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6.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7.xml"/><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8.xml"/><Relationship Id="rId1" Type="http://schemas.openxmlformats.org/officeDocument/2006/relationships/slideLayout" Target="../slideLayouts/slideLayout12.xml"/><Relationship Id="rId4" Type="http://schemas.openxmlformats.org/officeDocument/2006/relationships/image" Target="../media/image50.png"/></Relationships>
</file>

<file path=ppt/slides/_rels/slide1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19.xml"/><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22.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3" Type="http://schemas.openxmlformats.org/officeDocument/2006/relationships/hyperlink" Target="https://ru.wikipedia.org/wiki/ICMP" TargetMode="External"/><Relationship Id="rId2" Type="http://schemas.openxmlformats.org/officeDocument/2006/relationships/notesSlide" Target="../notesSlides/notesSlide125.xml"/><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26.xml"/><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29.xml"/><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1.xml"/><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32.xml"/><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37.xml"/><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38.xml"/><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40.xml"/><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41.xml"/><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42.xml"/><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43.xml"/><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45.xml"/><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47.xml"/><Relationship Id="rId1" Type="http://schemas.openxmlformats.org/officeDocument/2006/relationships/slideLayout" Target="../slideLayouts/slideLayout12.xml"/><Relationship Id="rId4" Type="http://schemas.openxmlformats.org/officeDocument/2006/relationships/image" Target="../media/image65.png"/></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53.xml"/><Relationship Id="rId1" Type="http://schemas.openxmlformats.org/officeDocument/2006/relationships/slideLayout" Target="../slideLayouts/slideLayout4.xml"/></Relationships>
</file>

<file path=ppt/slides/_rels/slide15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hyperlink" Target="http://www.cs.uchicago.edu/" TargetMode="External"/><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64.xml"/><Relationship Id="rId1" Type="http://schemas.openxmlformats.org/officeDocument/2006/relationships/slideLayout" Target="../slideLayouts/slideLayout4.xml"/></Relationships>
</file>

<file path=ppt/slides/_rels/slide16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65.xml"/><Relationship Id="rId1" Type="http://schemas.openxmlformats.org/officeDocument/2006/relationships/slideLayout" Target="../slideLayouts/slideLayout4.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72.xml"/><Relationship Id="rId1" Type="http://schemas.openxmlformats.org/officeDocument/2006/relationships/slideLayout" Target="../slideLayouts/slideLayout4.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77.xml"/><Relationship Id="rId1" Type="http://schemas.openxmlformats.org/officeDocument/2006/relationships/slideLayout" Target="../slideLayouts/slideLayout4.xml"/></Relationships>
</file>

<file path=ppt/slides/_rels/slide17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78.xml"/><Relationship Id="rId1" Type="http://schemas.openxmlformats.org/officeDocument/2006/relationships/slideLayout" Target="../slideLayouts/slideLayout4.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81.xml"/><Relationship Id="rId1" Type="http://schemas.openxmlformats.org/officeDocument/2006/relationships/slideLayout" Target="../slideLayouts/slideLayout12.xml"/><Relationship Id="rId4" Type="http://schemas.openxmlformats.org/officeDocument/2006/relationships/image" Target="../media/image76.png"/></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3.xml"/></Relationships>
</file>

<file path=ppt/slides/_rels/slide18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83.xml"/><Relationship Id="rId1" Type="http://schemas.openxmlformats.org/officeDocument/2006/relationships/slideLayout" Target="../slideLayouts/slideLayout4.xml"/></Relationships>
</file>

<file path=ppt/slides/_rels/slide18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84.xml"/><Relationship Id="rId1" Type="http://schemas.openxmlformats.org/officeDocument/2006/relationships/slideLayout" Target="../slideLayouts/slideLayout4.xml"/></Relationships>
</file>

<file path=ppt/slides/_rels/slide18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85.xml"/><Relationship Id="rId1" Type="http://schemas.openxmlformats.org/officeDocument/2006/relationships/slideLayout" Target="../slideLayouts/slideLayout4.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535A75-7D34-6A62-93DA-C2865AA922C8}"/>
              </a:ext>
            </a:extLst>
          </p:cNvPr>
          <p:cNvSpPr>
            <a:spLocks noGrp="1"/>
          </p:cNvSpPr>
          <p:nvPr>
            <p:ph type="title"/>
          </p:nvPr>
        </p:nvSpPr>
        <p:spPr/>
        <p:txBody>
          <a:bodyPr/>
          <a:lstStyle/>
          <a:p>
            <a:r>
              <a:rPr lang="ru-RU" dirty="0"/>
              <a:t>Эталонные сетевые модели</a:t>
            </a:r>
            <a:endParaRPr lang="en-US" dirty="0"/>
          </a:p>
        </p:txBody>
      </p:sp>
      <p:sp>
        <p:nvSpPr>
          <p:cNvPr id="5" name="Text Placeholder 4">
            <a:extLst>
              <a:ext uri="{FF2B5EF4-FFF2-40B4-BE49-F238E27FC236}">
                <a16:creationId xmlns:a16="http://schemas.microsoft.com/office/drawing/2014/main" id="{25FB3537-AC7C-94A3-765C-08E17C836E3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62851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F15B5D-B18D-EB65-CE2E-7BDD308DB7ED}"/>
              </a:ext>
            </a:extLst>
          </p:cNvPr>
          <p:cNvSpPr>
            <a:spLocks noGrp="1"/>
          </p:cNvSpPr>
          <p:nvPr>
            <p:ph type="title"/>
          </p:nvPr>
        </p:nvSpPr>
        <p:spPr/>
        <p:txBody>
          <a:bodyPr>
            <a:normAutofit/>
          </a:bodyPr>
          <a:lstStyle/>
          <a:p>
            <a:r>
              <a:rPr lang="ru-RU" dirty="0"/>
              <a:t>Зачем нужны эталонные сетевые модели</a:t>
            </a:r>
            <a:endParaRPr lang="en-US" dirty="0"/>
          </a:p>
        </p:txBody>
      </p:sp>
      <p:sp>
        <p:nvSpPr>
          <p:cNvPr id="5" name="Content Placeholder 4">
            <a:extLst>
              <a:ext uri="{FF2B5EF4-FFF2-40B4-BE49-F238E27FC236}">
                <a16:creationId xmlns:a16="http://schemas.microsoft.com/office/drawing/2014/main" id="{A68AC4EC-8285-B556-8B56-408F07090E5F}"/>
              </a:ext>
            </a:extLst>
          </p:cNvPr>
          <p:cNvSpPr>
            <a:spLocks noGrp="1"/>
          </p:cNvSpPr>
          <p:nvPr>
            <p:ph idx="1"/>
          </p:nvPr>
        </p:nvSpPr>
        <p:spPr/>
        <p:txBody>
          <a:bodyPr/>
          <a:lstStyle/>
          <a:p>
            <a:r>
              <a:rPr lang="ru-RU" dirty="0"/>
              <a:t>Многоуровневая архитектура — ключевая абстракция в сетевой инженерии</a:t>
            </a:r>
          </a:p>
          <a:p>
            <a:r>
              <a:rPr lang="ru-RU" dirty="0"/>
              <a:t>Модели описывают функции уровней и взаимодействие между ними</a:t>
            </a:r>
          </a:p>
          <a:p>
            <a:r>
              <a:rPr lang="ru-RU" dirty="0"/>
              <a:t>Главные эталонные модели: </a:t>
            </a:r>
            <a:r>
              <a:rPr lang="ru-RU" b="1" dirty="0"/>
              <a:t>OSI</a:t>
            </a:r>
            <a:r>
              <a:rPr lang="ru-RU" dirty="0"/>
              <a:t> и </a:t>
            </a:r>
            <a:r>
              <a:rPr lang="ru-RU" b="1" dirty="0"/>
              <a:t>TCP/IP</a:t>
            </a:r>
            <a:endParaRPr lang="ru-RU" dirty="0"/>
          </a:p>
          <a:p>
            <a:r>
              <a:rPr lang="ru-RU" dirty="0"/>
              <a:t>Гибридная модель, описываемая в книге Таненбаума, объединяет преимущества обеих</a:t>
            </a:r>
          </a:p>
          <a:p>
            <a:endParaRPr lang="en-US" dirty="0"/>
          </a:p>
        </p:txBody>
      </p:sp>
    </p:spTree>
    <p:extLst>
      <p:ext uri="{BB962C8B-B14F-4D97-AF65-F5344CB8AC3E}">
        <p14:creationId xmlns:p14="http://schemas.microsoft.com/office/powerpoint/2010/main" val="2973387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2A828-60A8-4D38-49BB-1851C4F1AA17}"/>
              </a:ext>
            </a:extLst>
          </p:cNvPr>
          <p:cNvSpPr>
            <a:spLocks noGrp="1"/>
          </p:cNvSpPr>
          <p:nvPr>
            <p:ph type="title"/>
          </p:nvPr>
        </p:nvSpPr>
        <p:spPr/>
        <p:txBody>
          <a:bodyPr/>
          <a:lstStyle/>
          <a:p>
            <a:r>
              <a:rPr lang="ru-RU" dirty="0"/>
              <a:t>Эталонная модель OSI (</a:t>
            </a:r>
            <a:r>
              <a:rPr lang="en-US" dirty="0"/>
              <a:t>Open Systems Interconnection)</a:t>
            </a:r>
          </a:p>
        </p:txBody>
      </p:sp>
      <p:sp>
        <p:nvSpPr>
          <p:cNvPr id="3" name="Content Placeholder 2">
            <a:extLst>
              <a:ext uri="{FF2B5EF4-FFF2-40B4-BE49-F238E27FC236}">
                <a16:creationId xmlns:a16="http://schemas.microsoft.com/office/drawing/2014/main" id="{B160C142-631B-0E84-3876-7D54C37D24BD}"/>
              </a:ext>
            </a:extLst>
          </p:cNvPr>
          <p:cNvSpPr>
            <a:spLocks noGrp="1"/>
          </p:cNvSpPr>
          <p:nvPr>
            <p:ph sz="half" idx="1"/>
          </p:nvPr>
        </p:nvSpPr>
        <p:spPr>
          <a:xfrm>
            <a:off x="838199" y="1825625"/>
            <a:ext cx="5942045" cy="4351338"/>
          </a:xfrm>
        </p:spPr>
        <p:txBody>
          <a:bodyPr>
            <a:normAutofit/>
          </a:bodyPr>
          <a:lstStyle/>
          <a:p>
            <a:r>
              <a:rPr lang="ru-RU" dirty="0"/>
              <a:t>7 уровней: от физического до прикладного</a:t>
            </a:r>
          </a:p>
          <a:p>
            <a:r>
              <a:rPr lang="ru-RU" dirty="0"/>
              <a:t>Три ключевых понятия: </a:t>
            </a:r>
            <a:r>
              <a:rPr lang="ru-RU" b="1" dirty="0"/>
              <a:t>службы, интерфейсы, протоколы</a:t>
            </a:r>
            <a:endParaRPr lang="ru-RU" dirty="0"/>
          </a:p>
          <a:p>
            <a:r>
              <a:rPr lang="ru-RU" dirty="0"/>
              <a:t>Основные принципы: разделение абстракций, минимизация потоков через интерфейсы, </a:t>
            </a:r>
            <a:r>
              <a:rPr lang="ru-RU" dirty="0" err="1"/>
              <a:t>стандартизируемость</a:t>
            </a:r>
            <a:endParaRPr lang="ru-RU" dirty="0"/>
          </a:p>
          <a:p>
            <a:r>
              <a:rPr lang="ru-RU" dirty="0"/>
              <a:t>Главная ценность OSI — чёткое разграничение ролей уровней</a:t>
            </a:r>
          </a:p>
          <a:p>
            <a:endParaRPr lang="en-US" dirty="0"/>
          </a:p>
        </p:txBody>
      </p:sp>
      <p:pic>
        <p:nvPicPr>
          <p:cNvPr id="6" name="Content Placeholder 5" descr="A diagram of a company&#10;&#10;AI-generated content may be incorrect.">
            <a:extLst>
              <a:ext uri="{FF2B5EF4-FFF2-40B4-BE49-F238E27FC236}">
                <a16:creationId xmlns:a16="http://schemas.microsoft.com/office/drawing/2014/main" id="{49C26025-E685-E274-E456-D537C5755426}"/>
              </a:ext>
            </a:extLst>
          </p:cNvPr>
          <p:cNvPicPr>
            <a:picLocks noGrp="1" noChangeAspect="1"/>
          </p:cNvPicPr>
          <p:nvPr>
            <p:ph sz="half" idx="2"/>
          </p:nvPr>
        </p:nvPicPr>
        <p:blipFill>
          <a:blip r:embed="rId3"/>
          <a:stretch>
            <a:fillRect/>
          </a:stretch>
        </p:blipFill>
        <p:spPr>
          <a:xfrm>
            <a:off x="7146661" y="1690688"/>
            <a:ext cx="4815183" cy="4802187"/>
          </a:xfrm>
          <a:prstGeom prst="rect">
            <a:avLst/>
          </a:prstGeom>
        </p:spPr>
      </p:pic>
    </p:spTree>
    <p:extLst>
      <p:ext uri="{BB962C8B-B14F-4D97-AF65-F5344CB8AC3E}">
        <p14:creationId xmlns:p14="http://schemas.microsoft.com/office/powerpoint/2010/main" val="1417146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B85C8-1802-62C2-E96B-FE049F419460}"/>
              </a:ext>
            </a:extLst>
          </p:cNvPr>
          <p:cNvSpPr>
            <a:spLocks noGrp="1"/>
          </p:cNvSpPr>
          <p:nvPr>
            <p:ph type="title"/>
          </p:nvPr>
        </p:nvSpPr>
        <p:spPr/>
        <p:txBody>
          <a:bodyPr>
            <a:normAutofit/>
          </a:bodyPr>
          <a:lstStyle/>
          <a:p>
            <a:r>
              <a:rPr lang="ru-RU" dirty="0"/>
              <a:t>Эталонная модель TCP/IP: происхождение и устройство</a:t>
            </a:r>
            <a:endParaRPr lang="en-US" dirty="0"/>
          </a:p>
        </p:txBody>
      </p:sp>
      <p:sp>
        <p:nvSpPr>
          <p:cNvPr id="3" name="Content Placeholder 2">
            <a:extLst>
              <a:ext uri="{FF2B5EF4-FFF2-40B4-BE49-F238E27FC236}">
                <a16:creationId xmlns:a16="http://schemas.microsoft.com/office/drawing/2014/main" id="{3885A1A1-F830-FCCE-C84F-6BC513608626}"/>
              </a:ext>
            </a:extLst>
          </p:cNvPr>
          <p:cNvSpPr>
            <a:spLocks noGrp="1"/>
          </p:cNvSpPr>
          <p:nvPr>
            <p:ph sz="half" idx="1"/>
          </p:nvPr>
        </p:nvSpPr>
        <p:spPr>
          <a:xfrm>
            <a:off x="838199" y="1825625"/>
            <a:ext cx="5786535" cy="4351338"/>
          </a:xfrm>
        </p:spPr>
        <p:txBody>
          <a:bodyPr>
            <a:normAutofit fontScale="92500" lnSpcReduction="10000"/>
          </a:bodyPr>
          <a:lstStyle/>
          <a:p>
            <a:r>
              <a:rPr lang="ru-RU" dirty="0"/>
              <a:t>Практическая модель, разработанная для ARPANET</a:t>
            </a:r>
          </a:p>
          <a:p>
            <a:r>
              <a:rPr lang="ru-RU" dirty="0"/>
              <a:t>Цель: объединить разные сети в одну интерсеть</a:t>
            </a:r>
          </a:p>
          <a:p>
            <a:r>
              <a:rPr lang="ru-RU" dirty="0"/>
              <a:t>Ключевые уровни:</a:t>
            </a:r>
          </a:p>
          <a:p>
            <a:pPr lvl="1"/>
            <a:r>
              <a:rPr lang="ru-RU" dirty="0"/>
              <a:t>Канальный</a:t>
            </a:r>
          </a:p>
          <a:p>
            <a:pPr lvl="1"/>
            <a:r>
              <a:rPr lang="ru-RU" dirty="0"/>
              <a:t>Межсетевой (IP)</a:t>
            </a:r>
          </a:p>
          <a:p>
            <a:pPr lvl="1"/>
            <a:r>
              <a:rPr lang="ru-RU" dirty="0"/>
              <a:t>Транспортный (TCP/UDP)</a:t>
            </a:r>
          </a:p>
          <a:p>
            <a:pPr lvl="1"/>
            <a:r>
              <a:rPr lang="ru-RU" dirty="0"/>
              <a:t>Прикладной</a:t>
            </a:r>
          </a:p>
          <a:p>
            <a:r>
              <a:rPr lang="ru-RU" dirty="0"/>
              <a:t>Основные протоколы: IP, TCP, UDP, HTTP, DNS, FTP и др.</a:t>
            </a:r>
          </a:p>
          <a:p>
            <a:endParaRPr lang="en-US" dirty="0"/>
          </a:p>
        </p:txBody>
      </p:sp>
      <p:pic>
        <p:nvPicPr>
          <p:cNvPr id="6" name="Content Placeholder 5" descr="A diagram of a diagram&#10;&#10;AI-generated content may be incorrect.">
            <a:extLst>
              <a:ext uri="{FF2B5EF4-FFF2-40B4-BE49-F238E27FC236}">
                <a16:creationId xmlns:a16="http://schemas.microsoft.com/office/drawing/2014/main" id="{85145DA7-AF06-4408-C9C1-4667CF41A68D}"/>
              </a:ext>
            </a:extLst>
          </p:cNvPr>
          <p:cNvPicPr>
            <a:picLocks noGrp="1" noChangeAspect="1"/>
          </p:cNvPicPr>
          <p:nvPr>
            <p:ph sz="half" idx="2"/>
          </p:nvPr>
        </p:nvPicPr>
        <p:blipFill>
          <a:blip r:embed="rId3"/>
          <a:stretch>
            <a:fillRect/>
          </a:stretch>
        </p:blipFill>
        <p:spPr>
          <a:xfrm>
            <a:off x="6825343" y="1690688"/>
            <a:ext cx="5181600" cy="3568031"/>
          </a:xfrm>
          <a:prstGeom prst="rect">
            <a:avLst/>
          </a:prstGeom>
        </p:spPr>
      </p:pic>
    </p:spTree>
    <p:extLst>
      <p:ext uri="{BB962C8B-B14F-4D97-AF65-F5344CB8AC3E}">
        <p14:creationId xmlns:p14="http://schemas.microsoft.com/office/powerpoint/2010/main" val="3613228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F68AD-6808-8844-8EB5-DC1D3C7D85AD}"/>
              </a:ext>
            </a:extLst>
          </p:cNvPr>
          <p:cNvSpPr>
            <a:spLocks noGrp="1"/>
          </p:cNvSpPr>
          <p:nvPr>
            <p:ph type="title"/>
          </p:nvPr>
        </p:nvSpPr>
        <p:spPr/>
        <p:txBody>
          <a:bodyPr/>
          <a:lstStyle/>
          <a:p>
            <a:r>
              <a:rPr lang="ru-RU" dirty="0"/>
              <a:t>Протоколы модели </a:t>
            </a:r>
            <a:r>
              <a:rPr lang="en-US" dirty="0"/>
              <a:t>TCP/IP</a:t>
            </a:r>
          </a:p>
        </p:txBody>
      </p:sp>
      <p:sp>
        <p:nvSpPr>
          <p:cNvPr id="3" name="Content Placeholder 2">
            <a:extLst>
              <a:ext uri="{FF2B5EF4-FFF2-40B4-BE49-F238E27FC236}">
                <a16:creationId xmlns:a16="http://schemas.microsoft.com/office/drawing/2014/main" id="{A5EA3C4B-517E-4F6B-5FE9-6C53FC710129}"/>
              </a:ext>
            </a:extLst>
          </p:cNvPr>
          <p:cNvSpPr>
            <a:spLocks noGrp="1"/>
          </p:cNvSpPr>
          <p:nvPr>
            <p:ph sz="half" idx="1"/>
          </p:nvPr>
        </p:nvSpPr>
        <p:spPr>
          <a:xfrm>
            <a:off x="838199" y="1825625"/>
            <a:ext cx="5953125" cy="4351338"/>
          </a:xfrm>
        </p:spPr>
        <p:txBody>
          <a:bodyPr>
            <a:normAutofit fontScale="55000" lnSpcReduction="20000"/>
          </a:bodyPr>
          <a:lstStyle/>
          <a:p>
            <a:r>
              <a:rPr lang="ru-RU" b="1" dirty="0"/>
              <a:t>1. Канальный уровень (Link Layer)</a:t>
            </a:r>
            <a:endParaRPr lang="ru-RU" dirty="0"/>
          </a:p>
          <a:p>
            <a:pPr lvl="1"/>
            <a:r>
              <a:rPr lang="ru-RU" dirty="0"/>
              <a:t>Определяет способ передачи кадров по конкретной физической среде и отвечает за формирование кадров, обнаружение ошибок на локальном участке сети</a:t>
            </a:r>
          </a:p>
          <a:p>
            <a:pPr lvl="1"/>
            <a:r>
              <a:rPr lang="ru-RU" dirty="0"/>
              <a:t>Связывает хост с его ближайшей сетью</a:t>
            </a:r>
          </a:p>
          <a:p>
            <a:r>
              <a:rPr lang="ru-RU" b="1" dirty="0"/>
              <a:t>2. Межсетевой уровень (Internet Layer)</a:t>
            </a:r>
            <a:endParaRPr lang="ru-RU" dirty="0"/>
          </a:p>
          <a:p>
            <a:pPr lvl="1"/>
            <a:r>
              <a:rPr lang="ru-RU" dirty="0"/>
              <a:t>Выполняет маршрутизацию пакетов между сетями, выбор пути</a:t>
            </a:r>
          </a:p>
          <a:p>
            <a:pPr lvl="1"/>
            <a:r>
              <a:rPr lang="ru-RU" dirty="0"/>
              <a:t>Пакеты могут приходить не по порядку, теряться или дублироваться</a:t>
            </a:r>
          </a:p>
          <a:p>
            <a:r>
              <a:rPr lang="ru-RU" b="1" dirty="0"/>
              <a:t>3. Транспортный уровень (Transport Layer)</a:t>
            </a:r>
            <a:endParaRPr lang="ru-RU" dirty="0"/>
          </a:p>
          <a:p>
            <a:pPr lvl="1"/>
            <a:r>
              <a:rPr lang="ru-RU" dirty="0"/>
              <a:t>Обеспечивает связь между процессами на разных хостах</a:t>
            </a:r>
          </a:p>
          <a:p>
            <a:pPr lvl="1"/>
            <a:r>
              <a:rPr lang="ru-RU" b="1" dirty="0"/>
              <a:t>TCP</a:t>
            </a:r>
            <a:r>
              <a:rPr lang="ru-RU" dirty="0"/>
              <a:t> — надёжный поток байтов, ориентированный на соединение</a:t>
            </a:r>
          </a:p>
          <a:p>
            <a:pPr lvl="1"/>
            <a:r>
              <a:rPr lang="ru-RU" b="1" dirty="0"/>
              <a:t>UDP</a:t>
            </a:r>
            <a:r>
              <a:rPr lang="ru-RU" dirty="0"/>
              <a:t> — ненадёжная быстрая доставка дейтаграмм</a:t>
            </a:r>
          </a:p>
          <a:p>
            <a:r>
              <a:rPr lang="ru-RU" b="1" dirty="0"/>
              <a:t>4. Прикладной уровень (Application Layer)</a:t>
            </a:r>
            <a:endParaRPr lang="ru-RU" dirty="0"/>
          </a:p>
          <a:p>
            <a:pPr lvl="1"/>
            <a:r>
              <a:rPr lang="ru-RU" dirty="0"/>
              <a:t>Включает высокоуровневые сетевые протоколы</a:t>
            </a:r>
          </a:p>
          <a:p>
            <a:pPr lvl="1"/>
            <a:r>
              <a:rPr lang="ru-RU" dirty="0"/>
              <a:t>Реализует логическую работу приложений поверх транспорта</a:t>
            </a:r>
          </a:p>
          <a:p>
            <a:pPr lvl="1"/>
            <a:r>
              <a:rPr lang="ru-RU" dirty="0"/>
              <a:t>Может выполнять функции сеансового и представительского уровней OSI</a:t>
            </a:r>
          </a:p>
        </p:txBody>
      </p:sp>
      <p:pic>
        <p:nvPicPr>
          <p:cNvPr id="6" name="Content Placeholder 5" descr="A screenshot of a computer&#10;&#10;AI-generated content may be incorrect.">
            <a:extLst>
              <a:ext uri="{FF2B5EF4-FFF2-40B4-BE49-F238E27FC236}">
                <a16:creationId xmlns:a16="http://schemas.microsoft.com/office/drawing/2014/main" id="{D4EFD7E1-769C-C74F-D716-7B3BD3CE93A0}"/>
              </a:ext>
            </a:extLst>
          </p:cNvPr>
          <p:cNvPicPr>
            <a:picLocks noGrp="1" noChangeAspect="1"/>
          </p:cNvPicPr>
          <p:nvPr>
            <p:ph sz="half" idx="2"/>
          </p:nvPr>
        </p:nvPicPr>
        <p:blipFill>
          <a:blip r:embed="rId3"/>
          <a:stretch>
            <a:fillRect/>
          </a:stretch>
        </p:blipFill>
        <p:spPr>
          <a:xfrm>
            <a:off x="6791325" y="1825625"/>
            <a:ext cx="5181600" cy="2337297"/>
          </a:xfrm>
          <a:prstGeom prst="rect">
            <a:avLst/>
          </a:prstGeom>
        </p:spPr>
      </p:pic>
    </p:spTree>
    <p:extLst>
      <p:ext uri="{BB962C8B-B14F-4D97-AF65-F5344CB8AC3E}">
        <p14:creationId xmlns:p14="http://schemas.microsoft.com/office/powerpoint/2010/main" val="2708528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DB65FF-300F-EB5C-FB2E-E35D705D306F}"/>
              </a:ext>
            </a:extLst>
          </p:cNvPr>
          <p:cNvSpPr>
            <a:spLocks noGrp="1"/>
          </p:cNvSpPr>
          <p:nvPr>
            <p:ph type="title"/>
          </p:nvPr>
        </p:nvSpPr>
        <p:spPr/>
        <p:txBody>
          <a:bodyPr>
            <a:normAutofit/>
          </a:bodyPr>
          <a:lstStyle/>
          <a:p>
            <a:r>
              <a:rPr lang="ru-RU" dirty="0"/>
              <a:t>Критика модели OSI</a:t>
            </a:r>
            <a:endParaRPr lang="en-US" dirty="0"/>
          </a:p>
        </p:txBody>
      </p:sp>
      <p:sp>
        <p:nvSpPr>
          <p:cNvPr id="6" name="Content Placeholder 5">
            <a:extLst>
              <a:ext uri="{FF2B5EF4-FFF2-40B4-BE49-F238E27FC236}">
                <a16:creationId xmlns:a16="http://schemas.microsoft.com/office/drawing/2014/main" id="{5C1E854A-6276-DC60-3C24-D25DD48AC755}"/>
              </a:ext>
            </a:extLst>
          </p:cNvPr>
          <p:cNvSpPr>
            <a:spLocks noGrp="1"/>
          </p:cNvSpPr>
          <p:nvPr>
            <p:ph idx="1"/>
          </p:nvPr>
        </p:nvSpPr>
        <p:spPr/>
        <p:txBody>
          <a:bodyPr/>
          <a:lstStyle/>
          <a:p>
            <a:r>
              <a:rPr lang="ru-RU" dirty="0"/>
              <a:t>Неподходящее время выхода: конкуренция с TCP/IP</a:t>
            </a:r>
          </a:p>
          <a:p>
            <a:r>
              <a:rPr lang="ru-RU" dirty="0"/>
              <a:t>Слишком сложная и громоздкая архитектура</a:t>
            </a:r>
          </a:p>
          <a:p>
            <a:r>
              <a:rPr lang="ru-RU" dirty="0"/>
              <a:t>Нереалистичные и тяжёлые для реализации стандарты</a:t>
            </a:r>
          </a:p>
          <a:p>
            <a:r>
              <a:rPr lang="ru-RU" dirty="0"/>
              <a:t>Ошибки политического и организационного характера</a:t>
            </a:r>
          </a:p>
        </p:txBody>
      </p:sp>
    </p:spTree>
    <p:extLst>
      <p:ext uri="{BB962C8B-B14F-4D97-AF65-F5344CB8AC3E}">
        <p14:creationId xmlns:p14="http://schemas.microsoft.com/office/powerpoint/2010/main" val="33319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C2C6-06E8-33B7-29E5-09CEEF9D3192}"/>
              </a:ext>
            </a:extLst>
          </p:cNvPr>
          <p:cNvSpPr>
            <a:spLocks noGrp="1"/>
          </p:cNvSpPr>
          <p:nvPr>
            <p:ph type="title"/>
          </p:nvPr>
        </p:nvSpPr>
        <p:spPr/>
        <p:txBody>
          <a:bodyPr/>
          <a:lstStyle/>
          <a:p>
            <a:r>
              <a:rPr lang="ru-RU" dirty="0"/>
              <a:t>Критика модели TCP/IP</a:t>
            </a:r>
            <a:endParaRPr lang="en-US" dirty="0"/>
          </a:p>
        </p:txBody>
      </p:sp>
      <p:sp>
        <p:nvSpPr>
          <p:cNvPr id="3" name="Content Placeholder 2">
            <a:extLst>
              <a:ext uri="{FF2B5EF4-FFF2-40B4-BE49-F238E27FC236}">
                <a16:creationId xmlns:a16="http://schemas.microsoft.com/office/drawing/2014/main" id="{5D5B4CA1-4867-9FF9-773E-B74F1F70D09B}"/>
              </a:ext>
            </a:extLst>
          </p:cNvPr>
          <p:cNvSpPr>
            <a:spLocks noGrp="1"/>
          </p:cNvSpPr>
          <p:nvPr>
            <p:ph idx="1"/>
          </p:nvPr>
        </p:nvSpPr>
        <p:spPr/>
        <p:txBody>
          <a:bodyPr/>
          <a:lstStyle/>
          <a:p>
            <a:r>
              <a:rPr lang="ru-RU" dirty="0"/>
              <a:t>Нет чёткого разделения служб, интерфейсов и протоколов</a:t>
            </a:r>
          </a:p>
          <a:p>
            <a:r>
              <a:rPr lang="ru-RU" dirty="0"/>
              <a:t>Неприменима к некоторым технологиям (например, Bluetooth)</a:t>
            </a:r>
          </a:p>
          <a:p>
            <a:r>
              <a:rPr lang="ru-RU" dirty="0"/>
              <a:t>Канальный уровень — не «полноценный» уровень</a:t>
            </a:r>
          </a:p>
          <a:p>
            <a:r>
              <a:rPr lang="ru-RU" dirty="0"/>
              <a:t>Не разделяет физический и канальный уровни</a:t>
            </a:r>
          </a:p>
          <a:p>
            <a:r>
              <a:rPr lang="ru-RU" dirty="0"/>
              <a:t>Некоторые ранние протоколы — устаревшие и трудно заменяемые</a:t>
            </a:r>
          </a:p>
          <a:p>
            <a:endParaRPr lang="en-US" dirty="0"/>
          </a:p>
        </p:txBody>
      </p:sp>
    </p:spTree>
    <p:extLst>
      <p:ext uri="{BB962C8B-B14F-4D97-AF65-F5344CB8AC3E}">
        <p14:creationId xmlns:p14="http://schemas.microsoft.com/office/powerpoint/2010/main" val="3596791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66E67-1ABF-C434-244F-B93937469262}"/>
              </a:ext>
            </a:extLst>
          </p:cNvPr>
          <p:cNvSpPr>
            <a:spLocks noGrp="1"/>
          </p:cNvSpPr>
          <p:nvPr>
            <p:ph type="title"/>
          </p:nvPr>
        </p:nvSpPr>
        <p:spPr/>
        <p:txBody>
          <a:bodyPr>
            <a:normAutofit/>
          </a:bodyPr>
          <a:lstStyle/>
          <a:p>
            <a:r>
              <a:rPr lang="ru-RU" dirty="0"/>
              <a:t>Гибридная модель (используемая в книге)</a:t>
            </a:r>
            <a:endParaRPr lang="en-US" dirty="0"/>
          </a:p>
        </p:txBody>
      </p:sp>
      <p:sp>
        <p:nvSpPr>
          <p:cNvPr id="3" name="Content Placeholder 2">
            <a:extLst>
              <a:ext uri="{FF2B5EF4-FFF2-40B4-BE49-F238E27FC236}">
                <a16:creationId xmlns:a16="http://schemas.microsoft.com/office/drawing/2014/main" id="{3037E91C-5F81-D37E-60EF-8DCB49EE6F2B}"/>
              </a:ext>
            </a:extLst>
          </p:cNvPr>
          <p:cNvSpPr>
            <a:spLocks noGrp="1"/>
          </p:cNvSpPr>
          <p:nvPr>
            <p:ph idx="1"/>
          </p:nvPr>
        </p:nvSpPr>
        <p:spPr/>
        <p:txBody>
          <a:bodyPr>
            <a:normAutofit lnSpcReduction="10000"/>
          </a:bodyPr>
          <a:lstStyle/>
          <a:p>
            <a:r>
              <a:rPr lang="ru-RU" dirty="0"/>
              <a:t>5 уровней:</a:t>
            </a:r>
          </a:p>
          <a:p>
            <a:pPr lvl="1"/>
            <a:r>
              <a:rPr lang="ru-RU" dirty="0"/>
              <a:t>Физический описывает передачу битов в среде</a:t>
            </a:r>
          </a:p>
          <a:p>
            <a:pPr lvl="1"/>
            <a:r>
              <a:rPr lang="ru-RU" dirty="0"/>
              <a:t>Канальный определяет правила передачи кадров между соседними узлами</a:t>
            </a:r>
          </a:p>
          <a:p>
            <a:pPr lvl="1"/>
            <a:r>
              <a:rPr lang="ru-RU" dirty="0"/>
              <a:t>Сетевой уровень объединяет сегменты в интерсети и направляет пакеты к конечному адресату</a:t>
            </a:r>
          </a:p>
          <a:p>
            <a:pPr lvl="1"/>
            <a:r>
              <a:rPr lang="ru-RU" dirty="0"/>
              <a:t>Транспортный уровень обеспечивает надёжность и управление потоками</a:t>
            </a:r>
          </a:p>
          <a:p>
            <a:pPr lvl="1"/>
            <a:r>
              <a:rPr lang="ru-RU" dirty="0"/>
              <a:t>Прикладной включает всё, чем пользуются программы</a:t>
            </a:r>
          </a:p>
          <a:p>
            <a:r>
              <a:rPr lang="ru-RU" dirty="0"/>
              <a:t>Объединяет теоретическую ясность OSI и практичность TCP/IP</a:t>
            </a:r>
          </a:p>
          <a:p>
            <a:r>
              <a:rPr lang="ru-RU" dirty="0"/>
              <a:t>Основные протоколы: Ethernet, 802.11, IP, TCP, HTTP, DNS</a:t>
            </a:r>
          </a:p>
        </p:txBody>
      </p:sp>
    </p:spTree>
    <p:extLst>
      <p:ext uri="{BB962C8B-B14F-4D97-AF65-F5344CB8AC3E}">
        <p14:creationId xmlns:p14="http://schemas.microsoft.com/office/powerpoint/2010/main" val="3273301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53C49-5C9F-EB99-C4DA-A68FC66586FF}"/>
              </a:ext>
            </a:extLst>
          </p:cNvPr>
          <p:cNvSpPr>
            <a:spLocks noGrp="1"/>
          </p:cNvSpPr>
          <p:nvPr>
            <p:ph type="title"/>
          </p:nvPr>
        </p:nvSpPr>
        <p:spPr/>
        <p:txBody>
          <a:bodyPr/>
          <a:lstStyle/>
          <a:p>
            <a:r>
              <a:rPr lang="ru-RU" dirty="0"/>
              <a:t>Итоги: сравнение моделей</a:t>
            </a:r>
            <a:endParaRPr lang="en-US" dirty="0"/>
          </a:p>
        </p:txBody>
      </p:sp>
      <p:sp>
        <p:nvSpPr>
          <p:cNvPr id="3" name="Content Placeholder 2">
            <a:extLst>
              <a:ext uri="{FF2B5EF4-FFF2-40B4-BE49-F238E27FC236}">
                <a16:creationId xmlns:a16="http://schemas.microsoft.com/office/drawing/2014/main" id="{86B11D94-11AE-1661-B224-80E12EFB081B}"/>
              </a:ext>
            </a:extLst>
          </p:cNvPr>
          <p:cNvSpPr>
            <a:spLocks noGrp="1"/>
          </p:cNvSpPr>
          <p:nvPr>
            <p:ph idx="1"/>
          </p:nvPr>
        </p:nvSpPr>
        <p:spPr/>
        <p:txBody>
          <a:bodyPr/>
          <a:lstStyle/>
          <a:p>
            <a:r>
              <a:rPr lang="ru-RU" dirty="0"/>
              <a:t>OSI — чёткая архитектурная модель, но слабая практическая база</a:t>
            </a:r>
          </a:p>
          <a:p>
            <a:r>
              <a:rPr lang="ru-RU" dirty="0"/>
              <a:t>TCP/IP — практический стек, но неидеальная модель</a:t>
            </a:r>
          </a:p>
          <a:p>
            <a:r>
              <a:rPr lang="ru-RU" dirty="0"/>
              <a:t>Гибридная модель — оптимальный баланс для изучения сетей</a:t>
            </a:r>
          </a:p>
        </p:txBody>
      </p:sp>
    </p:spTree>
    <p:extLst>
      <p:ext uri="{BB962C8B-B14F-4D97-AF65-F5344CB8AC3E}">
        <p14:creationId xmlns:p14="http://schemas.microsoft.com/office/powerpoint/2010/main" val="3034338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268A46-A925-15FF-8875-E5F40BE2E63B}"/>
              </a:ext>
            </a:extLst>
          </p:cNvPr>
          <p:cNvSpPr>
            <a:spLocks noGrp="1"/>
          </p:cNvSpPr>
          <p:nvPr>
            <p:ph type="title"/>
          </p:nvPr>
        </p:nvSpPr>
        <p:spPr/>
        <p:txBody>
          <a:bodyPr/>
          <a:lstStyle/>
          <a:p>
            <a:r>
              <a:rPr lang="ru-RU" dirty="0"/>
              <a:t>Стандартизация</a:t>
            </a:r>
            <a:endParaRPr lang="en-US" dirty="0"/>
          </a:p>
        </p:txBody>
      </p:sp>
      <p:sp>
        <p:nvSpPr>
          <p:cNvPr id="5" name="Text Placeholder 4">
            <a:extLst>
              <a:ext uri="{FF2B5EF4-FFF2-40B4-BE49-F238E27FC236}">
                <a16:creationId xmlns:a16="http://schemas.microsoft.com/office/drawing/2014/main" id="{B1DD247B-F2DC-1995-394D-5A1C0E75BE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38952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96DE78-6A9E-B3D8-C828-DD7274BC6D82}"/>
              </a:ext>
            </a:extLst>
          </p:cNvPr>
          <p:cNvSpPr>
            <a:spLocks noGrp="1"/>
          </p:cNvSpPr>
          <p:nvPr>
            <p:ph type="title"/>
          </p:nvPr>
        </p:nvSpPr>
        <p:spPr/>
        <p:txBody>
          <a:bodyPr/>
          <a:lstStyle/>
          <a:p>
            <a:r>
              <a:rPr lang="ru-RU" dirty="0"/>
              <a:t>Необходимость в стандартизации</a:t>
            </a:r>
            <a:endParaRPr lang="en-US" dirty="0"/>
          </a:p>
        </p:txBody>
      </p:sp>
      <p:sp>
        <p:nvSpPr>
          <p:cNvPr id="5" name="Content Placeholder 4">
            <a:extLst>
              <a:ext uri="{FF2B5EF4-FFF2-40B4-BE49-F238E27FC236}">
                <a16:creationId xmlns:a16="http://schemas.microsoft.com/office/drawing/2014/main" id="{C585BBBF-5F0B-9541-BFEE-90A112572025}"/>
              </a:ext>
            </a:extLst>
          </p:cNvPr>
          <p:cNvSpPr>
            <a:spLocks noGrp="1"/>
          </p:cNvSpPr>
          <p:nvPr>
            <p:ph idx="1"/>
          </p:nvPr>
        </p:nvSpPr>
        <p:spPr/>
        <p:txBody>
          <a:bodyPr>
            <a:normAutofit/>
          </a:bodyPr>
          <a:lstStyle/>
          <a:p>
            <a:r>
              <a:rPr lang="ru-RU" dirty="0"/>
              <a:t>Разные компании создают несовместимые технологии → нужен единый подход</a:t>
            </a:r>
          </a:p>
          <a:p>
            <a:r>
              <a:rPr lang="ru-RU" dirty="0"/>
              <a:t>Стандарты обеспечивают </a:t>
            </a:r>
            <a:r>
              <a:rPr lang="ru-RU" b="1" dirty="0"/>
              <a:t>совместимость</a:t>
            </a:r>
            <a:r>
              <a:rPr lang="ru-RU" dirty="0"/>
              <a:t>, рост рынка и снижение стоимости устройств</a:t>
            </a:r>
          </a:p>
          <a:p>
            <a:r>
              <a:rPr lang="ru-RU" dirty="0"/>
              <a:t>Стандарты определяют </a:t>
            </a:r>
            <a:r>
              <a:rPr lang="ru-RU" i="1" dirty="0"/>
              <a:t>требования к совместимости</a:t>
            </a:r>
            <a:r>
              <a:rPr lang="ru-RU" dirty="0"/>
              <a:t>, а не внутреннюю реализацию</a:t>
            </a:r>
          </a:p>
          <a:p>
            <a:r>
              <a:rPr lang="ru-RU" dirty="0"/>
              <a:t>Существуют стандарты </a:t>
            </a:r>
            <a:r>
              <a:rPr lang="ru-RU" b="1" dirty="0"/>
              <a:t>де-факто</a:t>
            </a:r>
            <a:r>
              <a:rPr lang="ru-RU" dirty="0"/>
              <a:t> и </a:t>
            </a:r>
            <a:r>
              <a:rPr lang="ru-RU" b="1" dirty="0"/>
              <a:t>де-юре</a:t>
            </a:r>
            <a:endParaRPr lang="ru-RU" dirty="0"/>
          </a:p>
          <a:p>
            <a:r>
              <a:rPr lang="ru-RU" dirty="0"/>
              <a:t>Открытый код и коммерческие альянсы ускоряют принятие стандартов</a:t>
            </a:r>
          </a:p>
          <a:p>
            <a:endParaRPr lang="en-US" dirty="0"/>
          </a:p>
        </p:txBody>
      </p:sp>
    </p:spTree>
    <p:extLst>
      <p:ext uri="{BB962C8B-B14F-4D97-AF65-F5344CB8AC3E}">
        <p14:creationId xmlns:p14="http://schemas.microsoft.com/office/powerpoint/2010/main" val="1816055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A6CC1-CC68-E1B8-E4E6-7EC01D4A4F71}"/>
              </a:ext>
            </a:extLst>
          </p:cNvPr>
          <p:cNvSpPr>
            <a:spLocks noGrp="1"/>
          </p:cNvSpPr>
          <p:nvPr>
            <p:ph type="title"/>
          </p:nvPr>
        </p:nvSpPr>
        <p:spPr/>
        <p:txBody>
          <a:bodyPr/>
          <a:lstStyle/>
          <a:p>
            <a:r>
              <a:rPr lang="ru-RU" dirty="0"/>
              <a:t>Международная стандартизация: ITU</a:t>
            </a:r>
            <a:endParaRPr lang="en-US" dirty="0"/>
          </a:p>
        </p:txBody>
      </p:sp>
      <p:sp>
        <p:nvSpPr>
          <p:cNvPr id="3" name="Content Placeholder 2">
            <a:extLst>
              <a:ext uri="{FF2B5EF4-FFF2-40B4-BE49-F238E27FC236}">
                <a16:creationId xmlns:a16="http://schemas.microsoft.com/office/drawing/2014/main" id="{77A2B97A-C81E-D894-9308-DC3DF966C653}"/>
              </a:ext>
            </a:extLst>
          </p:cNvPr>
          <p:cNvSpPr>
            <a:spLocks noGrp="1"/>
          </p:cNvSpPr>
          <p:nvPr>
            <p:ph idx="1"/>
          </p:nvPr>
        </p:nvSpPr>
        <p:spPr/>
        <p:txBody>
          <a:bodyPr>
            <a:normAutofit fontScale="92500" lnSpcReduction="10000"/>
          </a:bodyPr>
          <a:lstStyle/>
          <a:p>
            <a:r>
              <a:rPr lang="ru-RU" dirty="0"/>
              <a:t>ITU — старейшая организация в телекоммуникациях (основана в 1865 г.)</a:t>
            </a:r>
          </a:p>
          <a:p>
            <a:r>
              <a:rPr lang="ru-RU" dirty="0"/>
              <a:t>Занимается международной совместимостью телефонных и сетевых систем</a:t>
            </a:r>
          </a:p>
          <a:p>
            <a:r>
              <a:rPr lang="ru-RU" dirty="0"/>
              <a:t>Три сектора:</a:t>
            </a:r>
          </a:p>
          <a:p>
            <a:pPr lvl="1"/>
            <a:r>
              <a:rPr lang="ru-RU" b="1" dirty="0"/>
              <a:t>ITU-T</a:t>
            </a:r>
            <a:r>
              <a:rPr lang="ru-RU" dirty="0"/>
              <a:t> — стандарты телекоммуникаций (раньше CCITT)</a:t>
            </a:r>
          </a:p>
          <a:p>
            <a:pPr lvl="1"/>
            <a:r>
              <a:rPr lang="ru-RU" b="1" dirty="0"/>
              <a:t>ITU-R</a:t>
            </a:r>
            <a:r>
              <a:rPr lang="ru-RU" dirty="0"/>
              <a:t> — распределение радиочастот</a:t>
            </a:r>
          </a:p>
          <a:p>
            <a:pPr lvl="1"/>
            <a:r>
              <a:rPr lang="ru-RU" b="1" dirty="0"/>
              <a:t>ITU-D</a:t>
            </a:r>
            <a:r>
              <a:rPr lang="ru-RU" dirty="0"/>
              <a:t> — развитие ИТ в странах мира</a:t>
            </a:r>
          </a:p>
          <a:p>
            <a:r>
              <a:rPr lang="ru-RU" dirty="0"/>
              <a:t>Стандарты ITU-T: H.264, X.509 и др.</a:t>
            </a:r>
          </a:p>
          <a:p>
            <a:r>
              <a:rPr lang="ru-RU" dirty="0"/>
              <a:t>Рекомендации фактически становятся глобальными стандартами из-за необходимости международной связи</a:t>
            </a:r>
          </a:p>
          <a:p>
            <a:endParaRPr lang="en-US" dirty="0"/>
          </a:p>
        </p:txBody>
      </p:sp>
    </p:spTree>
    <p:extLst>
      <p:ext uri="{BB962C8B-B14F-4D97-AF65-F5344CB8AC3E}">
        <p14:creationId xmlns:p14="http://schemas.microsoft.com/office/powerpoint/2010/main" val="1768376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D2DFD-8583-A861-CB45-1829E7081601}"/>
              </a:ext>
            </a:extLst>
          </p:cNvPr>
          <p:cNvSpPr>
            <a:spLocks noGrp="1"/>
          </p:cNvSpPr>
          <p:nvPr>
            <p:ph type="title"/>
          </p:nvPr>
        </p:nvSpPr>
        <p:spPr/>
        <p:txBody>
          <a:bodyPr/>
          <a:lstStyle/>
          <a:p>
            <a:r>
              <a:rPr lang="ru-RU" dirty="0"/>
              <a:t>Международные стандарты: ISO и IEEE</a:t>
            </a:r>
            <a:endParaRPr lang="en-US" dirty="0"/>
          </a:p>
        </p:txBody>
      </p:sp>
      <p:sp>
        <p:nvSpPr>
          <p:cNvPr id="3" name="Content Placeholder 2">
            <a:extLst>
              <a:ext uri="{FF2B5EF4-FFF2-40B4-BE49-F238E27FC236}">
                <a16:creationId xmlns:a16="http://schemas.microsoft.com/office/drawing/2014/main" id="{7AD9761C-DEFB-9349-9D21-CD7C472BBBF4}"/>
              </a:ext>
            </a:extLst>
          </p:cNvPr>
          <p:cNvSpPr>
            <a:spLocks noGrp="1"/>
          </p:cNvSpPr>
          <p:nvPr>
            <p:ph idx="1"/>
          </p:nvPr>
        </p:nvSpPr>
        <p:spPr/>
        <p:txBody>
          <a:bodyPr>
            <a:normAutofit lnSpcReduction="10000"/>
          </a:bodyPr>
          <a:lstStyle/>
          <a:p>
            <a:r>
              <a:rPr lang="ru-RU" b="1" dirty="0"/>
              <a:t>ISO</a:t>
            </a:r>
            <a:r>
              <a:rPr lang="ru-RU" dirty="0"/>
              <a:t> — глобальная организация по стандартизации (161 страна)</a:t>
            </a:r>
          </a:p>
          <a:p>
            <a:r>
              <a:rPr lang="ru-RU" dirty="0"/>
              <a:t>Работает через </a:t>
            </a:r>
            <a:r>
              <a:rPr lang="ru-RU" b="1" dirty="0"/>
              <a:t>технические комитеты</a:t>
            </a:r>
            <a:r>
              <a:rPr lang="ru-RU" dirty="0"/>
              <a:t> и подкомитеты</a:t>
            </a:r>
          </a:p>
          <a:p>
            <a:r>
              <a:rPr lang="ru-RU" dirty="0"/>
              <a:t>Пример: JTC1 — стандарты ИТ и сетей</a:t>
            </a:r>
          </a:p>
          <a:p>
            <a:r>
              <a:rPr lang="ru-RU" dirty="0"/>
              <a:t>Процесс принятия стандарта: CD → DIS → IS (многоступенчатое рассмотрение)</a:t>
            </a:r>
          </a:p>
          <a:p>
            <a:r>
              <a:rPr lang="ru-RU" b="1" dirty="0"/>
              <a:t>IEEE</a:t>
            </a:r>
            <a:r>
              <a:rPr lang="ru-RU" dirty="0"/>
              <a:t> — профессиональная организация, создающая практические стандарты</a:t>
            </a:r>
          </a:p>
          <a:p>
            <a:r>
              <a:rPr lang="ru-RU" dirty="0"/>
              <a:t>Самые важные сетевые стандарты IEEE: </a:t>
            </a:r>
            <a:r>
              <a:rPr lang="ru-RU" b="1" dirty="0"/>
              <a:t>802.3 (Ethernet)</a:t>
            </a:r>
            <a:r>
              <a:rPr lang="ru-RU" dirty="0"/>
              <a:t>, </a:t>
            </a:r>
            <a:r>
              <a:rPr lang="ru-RU" b="1" dirty="0"/>
              <a:t>802.11 (</a:t>
            </a:r>
            <a:r>
              <a:rPr lang="ru-RU" b="1" dirty="0" err="1"/>
              <a:t>Wi</a:t>
            </a:r>
            <a:r>
              <a:rPr lang="ru-RU" b="1" dirty="0"/>
              <a:t>-Fi)</a:t>
            </a:r>
            <a:endParaRPr lang="ru-RU" dirty="0"/>
          </a:p>
          <a:p>
            <a:endParaRPr lang="en-US" dirty="0"/>
          </a:p>
        </p:txBody>
      </p:sp>
    </p:spTree>
    <p:extLst>
      <p:ext uri="{BB962C8B-B14F-4D97-AF65-F5344CB8AC3E}">
        <p14:creationId xmlns:p14="http://schemas.microsoft.com/office/powerpoint/2010/main" val="4135209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764AA-8B3A-00E4-FADD-BFDF8A9CAD5A}"/>
              </a:ext>
            </a:extLst>
          </p:cNvPr>
          <p:cNvSpPr>
            <a:spLocks noGrp="1"/>
          </p:cNvSpPr>
          <p:nvPr>
            <p:ph type="title"/>
          </p:nvPr>
        </p:nvSpPr>
        <p:spPr/>
        <p:txBody>
          <a:bodyPr/>
          <a:lstStyle/>
          <a:p>
            <a:r>
              <a:rPr lang="ru-RU" dirty="0"/>
              <a:t>Стандарты интернета: IETF и W3C</a:t>
            </a:r>
            <a:endParaRPr lang="en-US" dirty="0"/>
          </a:p>
        </p:txBody>
      </p:sp>
      <p:sp>
        <p:nvSpPr>
          <p:cNvPr id="3" name="Content Placeholder 2">
            <a:extLst>
              <a:ext uri="{FF2B5EF4-FFF2-40B4-BE49-F238E27FC236}">
                <a16:creationId xmlns:a16="http://schemas.microsoft.com/office/drawing/2014/main" id="{5120D433-07FC-DCB4-38E8-77B6F7FE03B9}"/>
              </a:ext>
            </a:extLst>
          </p:cNvPr>
          <p:cNvSpPr>
            <a:spLocks noGrp="1"/>
          </p:cNvSpPr>
          <p:nvPr>
            <p:ph idx="1"/>
          </p:nvPr>
        </p:nvSpPr>
        <p:spPr/>
        <p:txBody>
          <a:bodyPr>
            <a:normAutofit/>
          </a:bodyPr>
          <a:lstStyle/>
          <a:p>
            <a:r>
              <a:rPr lang="ru-RU" dirty="0"/>
              <a:t>IETF — главный разработчик интернет-стандартов</a:t>
            </a:r>
          </a:p>
          <a:p>
            <a:r>
              <a:rPr lang="ru-RU" dirty="0"/>
              <a:t>Принцип работы: </a:t>
            </a:r>
            <a:r>
              <a:rPr lang="ru-RU" i="1" dirty="0"/>
              <a:t>«приблизительный консенсус и работающий код»</a:t>
            </a:r>
            <a:endParaRPr lang="ru-RU" dirty="0"/>
          </a:p>
          <a:p>
            <a:r>
              <a:rPr lang="ru-RU" dirty="0"/>
              <a:t>Основные документы: </a:t>
            </a:r>
            <a:r>
              <a:rPr lang="ru-RU" b="1" dirty="0"/>
              <a:t>RFC</a:t>
            </a:r>
            <a:endParaRPr lang="ru-RU" dirty="0"/>
          </a:p>
          <a:p>
            <a:r>
              <a:rPr lang="ru-RU" dirty="0"/>
              <a:t>Стандартизация в интернет-сообществе открытая и практическая</a:t>
            </a:r>
          </a:p>
          <a:p>
            <a:r>
              <a:rPr lang="ru-RU" dirty="0"/>
              <a:t>IRTF — долгосрочные исследования, IETF — инженерная разработка</a:t>
            </a:r>
          </a:p>
          <a:p>
            <a:r>
              <a:rPr lang="ru-RU" dirty="0"/>
              <a:t>W3C — стандарты веба: HTML, CSS, протоколы приватности</a:t>
            </a:r>
          </a:p>
          <a:p>
            <a:endParaRPr lang="en-US" dirty="0"/>
          </a:p>
        </p:txBody>
      </p:sp>
    </p:spTree>
    <p:extLst>
      <p:ext uri="{BB962C8B-B14F-4D97-AF65-F5344CB8AC3E}">
        <p14:creationId xmlns:p14="http://schemas.microsoft.com/office/powerpoint/2010/main" val="1594139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BAB08-3A0B-5614-1CDD-D27591B1348F}"/>
              </a:ext>
            </a:extLst>
          </p:cNvPr>
          <p:cNvSpPr>
            <a:spLocks noGrp="1"/>
          </p:cNvSpPr>
          <p:nvPr>
            <p:ph type="title"/>
          </p:nvPr>
        </p:nvSpPr>
        <p:spPr/>
        <p:txBody>
          <a:bodyPr/>
          <a:lstStyle/>
          <a:p>
            <a:r>
              <a:rPr lang="ru-RU" dirty="0"/>
              <a:t>Взаимодействие стандартов с индустрией</a:t>
            </a:r>
            <a:endParaRPr lang="en-US" dirty="0"/>
          </a:p>
        </p:txBody>
      </p:sp>
      <p:sp>
        <p:nvSpPr>
          <p:cNvPr id="3" name="Content Placeholder 2">
            <a:extLst>
              <a:ext uri="{FF2B5EF4-FFF2-40B4-BE49-F238E27FC236}">
                <a16:creationId xmlns:a16="http://schemas.microsoft.com/office/drawing/2014/main" id="{E82F8773-943B-EB74-8EF3-62D8721EF8B1}"/>
              </a:ext>
            </a:extLst>
          </p:cNvPr>
          <p:cNvSpPr>
            <a:spLocks noGrp="1"/>
          </p:cNvSpPr>
          <p:nvPr>
            <p:ph idx="1"/>
          </p:nvPr>
        </p:nvSpPr>
        <p:spPr/>
        <p:txBody>
          <a:bodyPr>
            <a:normAutofit/>
          </a:bodyPr>
          <a:lstStyle/>
          <a:p>
            <a:r>
              <a:rPr lang="ru-RU" dirty="0"/>
              <a:t>Де-факто стандарты часто становятся де-юре</a:t>
            </a:r>
          </a:p>
          <a:p>
            <a:r>
              <a:rPr lang="ru-RU" dirty="0"/>
              <a:t>Коммерческие альянсы гарантируют совместимость (</a:t>
            </a:r>
            <a:r>
              <a:rPr lang="ru-RU" dirty="0" err="1"/>
              <a:t>Wi</a:t>
            </a:r>
            <a:r>
              <a:rPr lang="ru-RU" dirty="0"/>
              <a:t>-Fi Alliance, 3GPP)</a:t>
            </a:r>
          </a:p>
          <a:p>
            <a:r>
              <a:rPr lang="ru-RU" dirty="0"/>
              <a:t>Переход от монополий к конкуренции увеличивает роль стандартов</a:t>
            </a:r>
          </a:p>
          <a:p>
            <a:r>
              <a:rPr lang="ru-RU" dirty="0"/>
              <a:t>Практическая значимость: интероперабельность, снижение цен, быстрые инновации</a:t>
            </a:r>
          </a:p>
          <a:p>
            <a:r>
              <a:rPr lang="ru-RU" dirty="0"/>
              <a:t>Стандарты и </a:t>
            </a:r>
            <a:r>
              <a:rPr lang="ru-RU" dirty="0" err="1"/>
              <a:t>open-source</a:t>
            </a:r>
            <a:r>
              <a:rPr lang="ru-RU" dirty="0"/>
              <a:t> движут развитие сетей вперёд</a:t>
            </a:r>
          </a:p>
          <a:p>
            <a:endParaRPr lang="en-US" dirty="0"/>
          </a:p>
        </p:txBody>
      </p:sp>
    </p:spTree>
    <p:extLst>
      <p:ext uri="{BB962C8B-B14F-4D97-AF65-F5344CB8AC3E}">
        <p14:creationId xmlns:p14="http://schemas.microsoft.com/office/powerpoint/2010/main" val="20087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76F849-8B50-AF93-BCF9-07359326DC87}"/>
              </a:ext>
            </a:extLst>
          </p:cNvPr>
          <p:cNvSpPr>
            <a:spLocks noGrp="1"/>
          </p:cNvSpPr>
          <p:nvPr>
            <p:ph type="title"/>
          </p:nvPr>
        </p:nvSpPr>
        <p:spPr/>
        <p:txBody>
          <a:bodyPr/>
          <a:lstStyle/>
          <a:p>
            <a:r>
              <a:rPr lang="ru-RU" dirty="0"/>
              <a:t>Физический уровень</a:t>
            </a:r>
            <a:endParaRPr lang="en-US" dirty="0"/>
          </a:p>
        </p:txBody>
      </p:sp>
      <p:sp>
        <p:nvSpPr>
          <p:cNvPr id="5" name="Text Placeholder 4">
            <a:extLst>
              <a:ext uri="{FF2B5EF4-FFF2-40B4-BE49-F238E27FC236}">
                <a16:creationId xmlns:a16="http://schemas.microsoft.com/office/drawing/2014/main" id="{2535AF38-68E6-7F26-8BC1-2F37658D5FC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87564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5C6BDA-EA99-D549-6A8F-06C7AEF921C3}"/>
              </a:ext>
            </a:extLst>
          </p:cNvPr>
          <p:cNvSpPr>
            <a:spLocks noGrp="1"/>
          </p:cNvSpPr>
          <p:nvPr>
            <p:ph type="title"/>
          </p:nvPr>
        </p:nvSpPr>
        <p:spPr/>
        <p:txBody>
          <a:bodyPr/>
          <a:lstStyle/>
          <a:p>
            <a:r>
              <a:rPr lang="ru-RU" dirty="0"/>
              <a:t>Физический уровень: роль и задачи</a:t>
            </a:r>
            <a:endParaRPr lang="en-US" dirty="0"/>
          </a:p>
        </p:txBody>
      </p:sp>
      <p:sp>
        <p:nvSpPr>
          <p:cNvPr id="5" name="Content Placeholder 4">
            <a:extLst>
              <a:ext uri="{FF2B5EF4-FFF2-40B4-BE49-F238E27FC236}">
                <a16:creationId xmlns:a16="http://schemas.microsoft.com/office/drawing/2014/main" id="{18321612-69FC-510A-5B15-2C6027499072}"/>
              </a:ext>
            </a:extLst>
          </p:cNvPr>
          <p:cNvSpPr>
            <a:spLocks noGrp="1"/>
          </p:cNvSpPr>
          <p:nvPr>
            <p:ph idx="1"/>
          </p:nvPr>
        </p:nvSpPr>
        <p:spPr/>
        <p:txBody>
          <a:bodyPr>
            <a:normAutofit lnSpcReduction="10000"/>
          </a:bodyPr>
          <a:lstStyle/>
          <a:p>
            <a:r>
              <a:rPr lang="ru-RU" dirty="0"/>
              <a:t>Низший уровень сетевой модели</a:t>
            </a:r>
          </a:p>
          <a:p>
            <a:r>
              <a:rPr lang="ru-RU" dirty="0"/>
              <a:t>Задача - передача битов в виде электрических</a:t>
            </a:r>
            <a:r>
              <a:rPr lang="en-US" dirty="0"/>
              <a:t>, </a:t>
            </a:r>
            <a:r>
              <a:rPr lang="ru-RU" dirty="0"/>
              <a:t>оптических или радиосигналов</a:t>
            </a:r>
          </a:p>
          <a:p>
            <a:r>
              <a:rPr lang="ru-RU" dirty="0"/>
              <a:t>Определяет характеристики канала:</a:t>
            </a:r>
          </a:p>
          <a:p>
            <a:pPr lvl="1"/>
            <a:r>
              <a:rPr lang="ru-RU" dirty="0"/>
              <a:t>пропускная способность</a:t>
            </a:r>
          </a:p>
          <a:p>
            <a:pPr lvl="1"/>
            <a:r>
              <a:rPr lang="ru-RU" dirty="0"/>
              <a:t>Задержка</a:t>
            </a:r>
          </a:p>
          <a:p>
            <a:pPr lvl="1"/>
            <a:r>
              <a:rPr lang="ru-RU" dirty="0"/>
              <a:t>частота ошибок</a:t>
            </a:r>
          </a:p>
          <a:p>
            <a:r>
              <a:rPr lang="ru-RU" dirty="0"/>
              <a:t>Три типа сред передачи:</a:t>
            </a:r>
          </a:p>
          <a:p>
            <a:pPr lvl="1"/>
            <a:r>
              <a:rPr lang="ru-RU" dirty="0"/>
              <a:t>проводные</a:t>
            </a:r>
          </a:p>
          <a:p>
            <a:pPr lvl="1"/>
            <a:r>
              <a:rPr lang="ru-RU" dirty="0"/>
              <a:t>беспроводные</a:t>
            </a:r>
          </a:p>
          <a:p>
            <a:pPr lvl="1"/>
            <a:r>
              <a:rPr lang="ru-RU" dirty="0"/>
              <a:t>спутниковые</a:t>
            </a:r>
          </a:p>
          <a:p>
            <a:endParaRPr lang="en-US" dirty="0"/>
          </a:p>
        </p:txBody>
      </p:sp>
    </p:spTree>
    <p:extLst>
      <p:ext uri="{BB962C8B-B14F-4D97-AF65-F5344CB8AC3E}">
        <p14:creationId xmlns:p14="http://schemas.microsoft.com/office/powerpoint/2010/main" val="3431376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AAC0-E9AF-CDB0-4D57-B160FB15B199}"/>
              </a:ext>
            </a:extLst>
          </p:cNvPr>
          <p:cNvSpPr>
            <a:spLocks noGrp="1"/>
          </p:cNvSpPr>
          <p:nvPr>
            <p:ph type="title"/>
          </p:nvPr>
        </p:nvSpPr>
        <p:spPr/>
        <p:txBody>
          <a:bodyPr/>
          <a:lstStyle/>
          <a:p>
            <a:r>
              <a:rPr lang="ru-RU" dirty="0"/>
              <a:t>Классификация сред передачи</a:t>
            </a:r>
            <a:endParaRPr lang="en-US" dirty="0"/>
          </a:p>
        </p:txBody>
      </p:sp>
      <p:sp>
        <p:nvSpPr>
          <p:cNvPr id="3" name="Content Placeholder 2">
            <a:extLst>
              <a:ext uri="{FF2B5EF4-FFF2-40B4-BE49-F238E27FC236}">
                <a16:creationId xmlns:a16="http://schemas.microsoft.com/office/drawing/2014/main" id="{04E296E2-9B5E-FBB5-36A3-12524D4C8BC2}"/>
              </a:ext>
            </a:extLst>
          </p:cNvPr>
          <p:cNvSpPr>
            <a:spLocks noGrp="1"/>
          </p:cNvSpPr>
          <p:nvPr>
            <p:ph idx="1"/>
          </p:nvPr>
        </p:nvSpPr>
        <p:spPr/>
        <p:txBody>
          <a:bodyPr>
            <a:normAutofit/>
          </a:bodyPr>
          <a:lstStyle/>
          <a:p>
            <a:r>
              <a:rPr lang="ru-RU" b="1" dirty="0"/>
              <a:t>Проводные (направляемые):</a:t>
            </a:r>
            <a:r>
              <a:rPr lang="ru-RU" dirty="0"/>
              <a:t> медный кабель, коаксиал, оптоволокно</a:t>
            </a:r>
          </a:p>
          <a:p>
            <a:r>
              <a:rPr lang="ru-RU" b="1" dirty="0"/>
              <a:t>Беспроводные:</a:t>
            </a:r>
            <a:r>
              <a:rPr lang="ru-RU" dirty="0"/>
              <a:t> радиоканалы</a:t>
            </a:r>
          </a:p>
          <a:p>
            <a:r>
              <a:rPr lang="ru-RU" b="1" dirty="0"/>
              <a:t>Спутниковые каналы:</a:t>
            </a:r>
            <a:r>
              <a:rPr lang="ru-RU" dirty="0"/>
              <a:t> геостационарные и низкоорбитальные системы</a:t>
            </a:r>
          </a:p>
          <a:p>
            <a:r>
              <a:rPr lang="ru-RU" dirty="0"/>
              <a:t>Параметры:</a:t>
            </a:r>
          </a:p>
          <a:p>
            <a:pPr lvl="1"/>
            <a:r>
              <a:rPr lang="ru-RU" dirty="0"/>
              <a:t>Полоса пропускания (Гц)</a:t>
            </a:r>
          </a:p>
          <a:p>
            <a:pPr lvl="1"/>
            <a:r>
              <a:rPr lang="ru-RU" dirty="0"/>
              <a:t>Сложность и стоимость установки</a:t>
            </a:r>
          </a:p>
          <a:p>
            <a:pPr lvl="1"/>
            <a:r>
              <a:rPr lang="ru-RU" dirty="0"/>
              <a:t>Дальность и </a:t>
            </a:r>
            <a:r>
              <a:rPr lang="ru-RU" dirty="0" err="1"/>
              <a:t>задежка</a:t>
            </a:r>
            <a:endParaRPr lang="ru-RU" dirty="0"/>
          </a:p>
          <a:p>
            <a:pPr lvl="1"/>
            <a:r>
              <a:rPr lang="ru-RU" dirty="0"/>
              <a:t>Устойчивости к помехам</a:t>
            </a:r>
          </a:p>
        </p:txBody>
      </p:sp>
    </p:spTree>
    <p:extLst>
      <p:ext uri="{BB962C8B-B14F-4D97-AF65-F5344CB8AC3E}">
        <p14:creationId xmlns:p14="http://schemas.microsoft.com/office/powerpoint/2010/main" val="3996763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0F1B-3E34-8A24-4046-4758F704ED17}"/>
              </a:ext>
            </a:extLst>
          </p:cNvPr>
          <p:cNvSpPr>
            <a:spLocks noGrp="1"/>
          </p:cNvSpPr>
          <p:nvPr>
            <p:ph type="title"/>
          </p:nvPr>
        </p:nvSpPr>
        <p:spPr/>
        <p:txBody>
          <a:bodyPr/>
          <a:lstStyle/>
          <a:p>
            <a:r>
              <a:rPr lang="ru-RU" dirty="0"/>
              <a:t>Передача данных с помощью запоминающих устройств</a:t>
            </a:r>
            <a:endParaRPr lang="en-US" dirty="0"/>
          </a:p>
        </p:txBody>
      </p:sp>
      <p:sp>
        <p:nvSpPr>
          <p:cNvPr id="3" name="Content Placeholder 2">
            <a:extLst>
              <a:ext uri="{FF2B5EF4-FFF2-40B4-BE49-F238E27FC236}">
                <a16:creationId xmlns:a16="http://schemas.microsoft.com/office/drawing/2014/main" id="{E6D4F767-72CC-F807-39C8-CE435CB7F04E}"/>
              </a:ext>
            </a:extLst>
          </p:cNvPr>
          <p:cNvSpPr>
            <a:spLocks noGrp="1"/>
          </p:cNvSpPr>
          <p:nvPr>
            <p:ph sz="half" idx="1"/>
          </p:nvPr>
        </p:nvSpPr>
        <p:spPr>
          <a:xfrm>
            <a:off x="838200" y="1825625"/>
            <a:ext cx="8119188" cy="4351338"/>
          </a:xfrm>
        </p:spPr>
        <p:txBody>
          <a:bodyPr>
            <a:normAutofit/>
          </a:bodyPr>
          <a:lstStyle/>
          <a:p>
            <a:r>
              <a:rPr lang="ru-RU" dirty="0"/>
              <a:t>Метод «перенеси-и-доставь» остается актуальным</a:t>
            </a:r>
          </a:p>
          <a:p>
            <a:r>
              <a:rPr lang="ru-RU" dirty="0"/>
              <a:t>Пример: картриджи </a:t>
            </a:r>
            <a:r>
              <a:rPr lang="ru-RU" dirty="0" err="1"/>
              <a:t>Ultrium</a:t>
            </a:r>
            <a:r>
              <a:rPr lang="ru-RU" dirty="0"/>
              <a:t> → десятки Тбайт</a:t>
            </a:r>
          </a:p>
          <a:p>
            <a:r>
              <a:rPr lang="ru-RU" i="1" dirty="0"/>
              <a:t>Фактическая пропускная способность:</a:t>
            </a:r>
            <a:br>
              <a:rPr lang="ru-RU" dirty="0"/>
            </a:br>
            <a:r>
              <a:rPr lang="ru-RU" dirty="0"/>
              <a:t>– до </a:t>
            </a:r>
            <a:r>
              <a:rPr lang="ru-RU" b="1" dirty="0"/>
              <a:t>2700 Гбит/с</a:t>
            </a:r>
            <a:r>
              <a:rPr lang="ru-RU" dirty="0"/>
              <a:t> при доставке за сутки</a:t>
            </a:r>
            <a:br>
              <a:rPr lang="ru-RU" dirty="0"/>
            </a:br>
            <a:r>
              <a:rPr lang="ru-RU" dirty="0"/>
              <a:t>– до </a:t>
            </a:r>
            <a:r>
              <a:rPr lang="ru-RU" b="1" dirty="0"/>
              <a:t>66 Тбит/с</a:t>
            </a:r>
            <a:r>
              <a:rPr lang="ru-RU" dirty="0"/>
              <a:t> при доставке за 1 час</a:t>
            </a:r>
          </a:p>
          <a:p>
            <a:r>
              <a:rPr lang="ru-RU" dirty="0"/>
              <a:t>Экономичность: пересылка 1 ГБ ≈ </a:t>
            </a:r>
            <a:r>
              <a:rPr lang="ru-RU" b="1" dirty="0"/>
              <a:t>0.5 цента</a:t>
            </a:r>
            <a:endParaRPr lang="ru-RU" dirty="0"/>
          </a:p>
          <a:p>
            <a:r>
              <a:rPr lang="ru-RU" dirty="0"/>
              <a:t>Пример: Amazon </a:t>
            </a:r>
            <a:r>
              <a:rPr lang="ru-RU" b="1" dirty="0" err="1"/>
              <a:t>Snowmobile</a:t>
            </a:r>
            <a:r>
              <a:rPr lang="ru-RU" dirty="0"/>
              <a:t> (100 Пбайт)</a:t>
            </a:r>
          </a:p>
        </p:txBody>
      </p:sp>
      <p:pic>
        <p:nvPicPr>
          <p:cNvPr id="6" name="Content Placeholder 5" descr="A close-up of a box&#10;&#10;AI-generated content may be incorrect.">
            <a:extLst>
              <a:ext uri="{FF2B5EF4-FFF2-40B4-BE49-F238E27FC236}">
                <a16:creationId xmlns:a16="http://schemas.microsoft.com/office/drawing/2014/main" id="{A77B4EB5-D2C2-902F-E5CC-1BA51772155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l="17673" t="15538" r="18322" b="15359"/>
          <a:stretch>
            <a:fillRect/>
          </a:stretch>
        </p:blipFill>
        <p:spPr>
          <a:xfrm>
            <a:off x="9287003" y="1689174"/>
            <a:ext cx="2357599" cy="2545324"/>
          </a:xfrm>
        </p:spPr>
      </p:pic>
      <p:pic>
        <p:nvPicPr>
          <p:cNvPr id="9" name="Content Placeholder 8" descr="A truck with boxes in the back&#10;&#10;AI-generated content may be incorrect.">
            <a:extLst>
              <a:ext uri="{FF2B5EF4-FFF2-40B4-BE49-F238E27FC236}">
                <a16:creationId xmlns:a16="http://schemas.microsoft.com/office/drawing/2014/main" id="{B5C82C86-41E8-D52C-94E2-176EA7E011A1}"/>
              </a:ext>
            </a:extLst>
          </p:cNvPr>
          <p:cNvPicPr>
            <a:picLocks noGrp="1" noChangeAspect="1"/>
          </p:cNvPicPr>
          <p:nvPr>
            <p:ph sz="half" idx="13"/>
          </p:nvPr>
        </p:nvPicPr>
        <p:blipFill>
          <a:blip r:embed="rId4">
            <a:extLst>
              <a:ext uri="{28A0092B-C50C-407E-A947-70E740481C1C}">
                <a14:useLocalDpi xmlns:a14="http://schemas.microsoft.com/office/drawing/2010/main" val="0"/>
              </a:ext>
            </a:extLst>
          </a:blip>
          <a:stretch>
            <a:fillRect/>
          </a:stretch>
        </p:blipFill>
        <p:spPr>
          <a:xfrm>
            <a:off x="9287003" y="4379747"/>
            <a:ext cx="2357599" cy="2357599"/>
          </a:xfrm>
        </p:spPr>
      </p:pic>
    </p:spTree>
    <p:extLst>
      <p:ext uri="{BB962C8B-B14F-4D97-AF65-F5344CB8AC3E}">
        <p14:creationId xmlns:p14="http://schemas.microsoft.com/office/powerpoint/2010/main" val="1136272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49D6E-9EEF-D525-C2AA-9F6060B178CF}"/>
              </a:ext>
            </a:extLst>
          </p:cNvPr>
          <p:cNvSpPr>
            <a:spLocks noGrp="1"/>
          </p:cNvSpPr>
          <p:nvPr>
            <p:ph type="title"/>
          </p:nvPr>
        </p:nvSpPr>
        <p:spPr/>
        <p:txBody>
          <a:bodyPr/>
          <a:lstStyle/>
          <a:p>
            <a:r>
              <a:rPr lang="ru-RU" dirty="0"/>
              <a:t>Витая пара</a:t>
            </a:r>
            <a:endParaRPr lang="en-US" dirty="0"/>
          </a:p>
        </p:txBody>
      </p:sp>
      <p:sp>
        <p:nvSpPr>
          <p:cNvPr id="3" name="Content Placeholder 2">
            <a:extLst>
              <a:ext uri="{FF2B5EF4-FFF2-40B4-BE49-F238E27FC236}">
                <a16:creationId xmlns:a16="http://schemas.microsoft.com/office/drawing/2014/main" id="{B41BD734-3901-DBDF-7C56-F7012E657F65}"/>
              </a:ext>
            </a:extLst>
          </p:cNvPr>
          <p:cNvSpPr>
            <a:spLocks noGrp="1"/>
          </p:cNvSpPr>
          <p:nvPr>
            <p:ph sz="half" idx="1"/>
          </p:nvPr>
        </p:nvSpPr>
        <p:spPr>
          <a:xfrm>
            <a:off x="838200" y="1825625"/>
            <a:ext cx="6197082" cy="4351338"/>
          </a:xfrm>
        </p:spPr>
        <p:txBody>
          <a:bodyPr>
            <a:normAutofit fontScale="92500" lnSpcReduction="20000"/>
          </a:bodyPr>
          <a:lstStyle/>
          <a:p>
            <a:r>
              <a:rPr lang="ru-RU" dirty="0"/>
              <a:t>Два изолированных медных проводника, скрученные для уменьшения помех</a:t>
            </a:r>
          </a:p>
          <a:p>
            <a:r>
              <a:rPr lang="ru-RU" dirty="0"/>
              <a:t>Основная среда телефонных систем и Ethernet</a:t>
            </a:r>
          </a:p>
          <a:p>
            <a:r>
              <a:rPr lang="ru-RU" dirty="0"/>
              <a:t>Дальность без усиления: несколько километров</a:t>
            </a:r>
          </a:p>
          <a:p>
            <a:r>
              <a:rPr lang="ru-RU" dirty="0"/>
              <a:t>Категории: </a:t>
            </a:r>
            <a:r>
              <a:rPr lang="ru-RU" dirty="0" err="1"/>
              <a:t>Cat</a:t>
            </a:r>
            <a:r>
              <a:rPr lang="ru-RU" dirty="0"/>
              <a:t> 3 → 5 → 5e → 6/6A → 7 → 8</a:t>
            </a:r>
          </a:p>
          <a:p>
            <a:r>
              <a:rPr lang="ru-RU" dirty="0" err="1"/>
              <a:t>Duplex</a:t>
            </a:r>
            <a:r>
              <a:rPr lang="ru-RU" dirty="0"/>
              <a:t>-режимы:</a:t>
            </a:r>
          </a:p>
          <a:p>
            <a:pPr lvl="1"/>
            <a:r>
              <a:rPr lang="en-US" dirty="0"/>
              <a:t>S</a:t>
            </a:r>
            <a:r>
              <a:rPr lang="ru-RU" dirty="0" err="1"/>
              <a:t>implex</a:t>
            </a:r>
            <a:endParaRPr lang="ru-RU" dirty="0"/>
          </a:p>
          <a:p>
            <a:pPr lvl="1"/>
            <a:r>
              <a:rPr lang="ru-RU" dirty="0" err="1"/>
              <a:t>half-duplex</a:t>
            </a:r>
            <a:endParaRPr lang="ru-RU" dirty="0"/>
          </a:p>
          <a:p>
            <a:pPr lvl="1"/>
            <a:r>
              <a:rPr lang="ru-RU" dirty="0" err="1"/>
              <a:t>full-duplex</a:t>
            </a:r>
            <a:endParaRPr lang="ru-RU" dirty="0"/>
          </a:p>
          <a:p>
            <a:endParaRPr lang="en-US" dirty="0"/>
          </a:p>
        </p:txBody>
      </p:sp>
      <p:pic>
        <p:nvPicPr>
          <p:cNvPr id="6" name="Content Placeholder 5">
            <a:extLst>
              <a:ext uri="{FF2B5EF4-FFF2-40B4-BE49-F238E27FC236}">
                <a16:creationId xmlns:a16="http://schemas.microsoft.com/office/drawing/2014/main" id="{665D5D12-F7CD-5776-4512-80DCF8E6EF8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186834" y="1690688"/>
            <a:ext cx="4166967" cy="2433443"/>
          </a:xfrm>
        </p:spPr>
      </p:pic>
    </p:spTree>
    <p:extLst>
      <p:ext uri="{BB962C8B-B14F-4D97-AF65-F5344CB8AC3E}">
        <p14:creationId xmlns:p14="http://schemas.microsoft.com/office/powerpoint/2010/main" val="1845843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5B90F-C433-859D-2BCC-2B96C236388D}"/>
              </a:ext>
            </a:extLst>
          </p:cNvPr>
          <p:cNvSpPr>
            <a:spLocks noGrp="1"/>
          </p:cNvSpPr>
          <p:nvPr>
            <p:ph type="title"/>
          </p:nvPr>
        </p:nvSpPr>
        <p:spPr/>
        <p:txBody>
          <a:bodyPr/>
          <a:lstStyle/>
          <a:p>
            <a:r>
              <a:rPr lang="ru-RU" dirty="0"/>
              <a:t>Коаксиальный кабель и линии электропередач</a:t>
            </a:r>
            <a:endParaRPr lang="en-US" dirty="0"/>
          </a:p>
        </p:txBody>
      </p:sp>
      <p:sp>
        <p:nvSpPr>
          <p:cNvPr id="3" name="Content Placeholder 2">
            <a:extLst>
              <a:ext uri="{FF2B5EF4-FFF2-40B4-BE49-F238E27FC236}">
                <a16:creationId xmlns:a16="http://schemas.microsoft.com/office/drawing/2014/main" id="{090D1D92-ACCD-C36F-F93E-1F5E3F7692DE}"/>
              </a:ext>
            </a:extLst>
          </p:cNvPr>
          <p:cNvSpPr>
            <a:spLocks noGrp="1"/>
          </p:cNvSpPr>
          <p:nvPr>
            <p:ph sz="half" idx="1"/>
          </p:nvPr>
        </p:nvSpPr>
        <p:spPr>
          <a:xfrm>
            <a:off x="838200" y="1825625"/>
            <a:ext cx="5786535" cy="4351338"/>
          </a:xfrm>
        </p:spPr>
        <p:txBody>
          <a:bodyPr>
            <a:normAutofit fontScale="85000" lnSpcReduction="10000"/>
          </a:bodyPr>
          <a:lstStyle/>
          <a:p>
            <a:r>
              <a:rPr lang="ru-RU" b="1" dirty="0"/>
              <a:t>Коаксиальный кабель:</a:t>
            </a:r>
          </a:p>
          <a:p>
            <a:pPr lvl="1"/>
            <a:r>
              <a:rPr lang="ru-RU" dirty="0"/>
              <a:t>Высокая защита от помех</a:t>
            </a:r>
          </a:p>
          <a:p>
            <a:pPr lvl="1"/>
            <a:r>
              <a:rPr lang="ru-RU" dirty="0"/>
              <a:t>Большая полоса пропускания (до 6 ГГц)</a:t>
            </a:r>
          </a:p>
          <a:p>
            <a:pPr lvl="1"/>
            <a:r>
              <a:rPr lang="ru-RU" dirty="0"/>
              <a:t>Типы: 50 Ом (цифровые данные), 75 Ом (аналог/TV)</a:t>
            </a:r>
          </a:p>
          <a:p>
            <a:pPr lvl="1"/>
            <a:r>
              <a:rPr lang="ru-RU" dirty="0"/>
              <a:t>Использование: кабельное ТВ, интернет, городские сети</a:t>
            </a:r>
          </a:p>
          <a:p>
            <a:r>
              <a:rPr lang="ru-RU" b="1" dirty="0"/>
              <a:t>Линии электропередач (ЛЭП):</a:t>
            </a:r>
          </a:p>
          <a:p>
            <a:pPr lvl="1"/>
            <a:r>
              <a:rPr lang="ru-RU" dirty="0"/>
              <a:t>Возможность передачи данных без дополнительных кабелей</a:t>
            </a:r>
          </a:p>
          <a:p>
            <a:pPr lvl="1"/>
            <a:r>
              <a:rPr lang="ru-RU" dirty="0"/>
              <a:t>Проблемы: шум, затухание высоких частот, непредсказуемые свойства среды</a:t>
            </a:r>
          </a:p>
          <a:p>
            <a:pPr lvl="1"/>
            <a:r>
              <a:rPr lang="ru-RU" dirty="0"/>
              <a:t>Скорости до ~500 Мбит/с в домашних условиях</a:t>
            </a:r>
          </a:p>
          <a:p>
            <a:endParaRPr lang="en-US" dirty="0"/>
          </a:p>
        </p:txBody>
      </p:sp>
      <p:pic>
        <p:nvPicPr>
          <p:cNvPr id="7" name="Content Placeholder 6" descr="A diagram of a pipe&#10;&#10;AI-generated content may be incorrect.">
            <a:extLst>
              <a:ext uri="{FF2B5EF4-FFF2-40B4-BE49-F238E27FC236}">
                <a16:creationId xmlns:a16="http://schemas.microsoft.com/office/drawing/2014/main" id="{1B8668DE-9B4B-F759-57E4-3BF7A938599B}"/>
              </a:ext>
            </a:extLst>
          </p:cNvPr>
          <p:cNvPicPr>
            <a:picLocks noGrp="1" noChangeAspect="1"/>
          </p:cNvPicPr>
          <p:nvPr>
            <p:ph sz="half" idx="2"/>
          </p:nvPr>
        </p:nvPicPr>
        <p:blipFill>
          <a:blip r:embed="rId3"/>
          <a:stretch>
            <a:fillRect/>
          </a:stretch>
        </p:blipFill>
        <p:spPr>
          <a:xfrm>
            <a:off x="6979822" y="1996751"/>
            <a:ext cx="4986702" cy="1511253"/>
          </a:xfrm>
          <a:prstGeom prst="rect">
            <a:avLst/>
          </a:prstGeom>
        </p:spPr>
      </p:pic>
      <p:pic>
        <p:nvPicPr>
          <p:cNvPr id="9" name="Content Placeholder 8">
            <a:extLst>
              <a:ext uri="{FF2B5EF4-FFF2-40B4-BE49-F238E27FC236}">
                <a16:creationId xmlns:a16="http://schemas.microsoft.com/office/drawing/2014/main" id="{215EB7E8-1186-F0E6-4C0D-1BDD549198AC}"/>
              </a:ext>
            </a:extLst>
          </p:cNvPr>
          <p:cNvPicPr>
            <a:picLocks noGrp="1" noChangeAspect="1"/>
          </p:cNvPicPr>
          <p:nvPr>
            <p:ph sz="half" idx="13"/>
          </p:nvPr>
        </p:nvPicPr>
        <p:blipFill>
          <a:blip r:embed="rId4">
            <a:extLst>
              <a:ext uri="{28A0092B-C50C-407E-A947-70E740481C1C}">
                <a14:useLocalDpi xmlns:a14="http://schemas.microsoft.com/office/drawing/2010/main" val="0"/>
              </a:ext>
            </a:extLst>
          </a:blip>
          <a:stretch>
            <a:fillRect/>
          </a:stretch>
        </p:blipFill>
        <p:spPr>
          <a:xfrm>
            <a:off x="7474082" y="3508004"/>
            <a:ext cx="3998181" cy="2995308"/>
          </a:xfrm>
        </p:spPr>
      </p:pic>
    </p:spTree>
    <p:extLst>
      <p:ext uri="{BB962C8B-B14F-4D97-AF65-F5344CB8AC3E}">
        <p14:creationId xmlns:p14="http://schemas.microsoft.com/office/powerpoint/2010/main" val="7558611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65162-FA5D-FB1D-44BA-9274CFEB233B}"/>
              </a:ext>
            </a:extLst>
          </p:cNvPr>
          <p:cNvSpPr>
            <a:spLocks noGrp="1"/>
          </p:cNvSpPr>
          <p:nvPr>
            <p:ph type="title"/>
          </p:nvPr>
        </p:nvSpPr>
        <p:spPr/>
        <p:txBody>
          <a:bodyPr/>
          <a:lstStyle/>
          <a:p>
            <a:r>
              <a:rPr lang="ru-RU" dirty="0"/>
              <a:t>Оптоволокно</a:t>
            </a:r>
            <a:endParaRPr lang="en-US" dirty="0"/>
          </a:p>
        </p:txBody>
      </p:sp>
      <p:sp>
        <p:nvSpPr>
          <p:cNvPr id="3" name="Content Placeholder 2">
            <a:extLst>
              <a:ext uri="{FF2B5EF4-FFF2-40B4-BE49-F238E27FC236}">
                <a16:creationId xmlns:a16="http://schemas.microsoft.com/office/drawing/2014/main" id="{37EFB605-6F06-62F1-BE7C-56E42C61E216}"/>
              </a:ext>
            </a:extLst>
          </p:cNvPr>
          <p:cNvSpPr>
            <a:spLocks noGrp="1"/>
          </p:cNvSpPr>
          <p:nvPr>
            <p:ph sz="half" idx="1"/>
          </p:nvPr>
        </p:nvSpPr>
        <p:spPr>
          <a:xfrm>
            <a:off x="838200" y="1825625"/>
            <a:ext cx="6178420" cy="4351338"/>
          </a:xfrm>
        </p:spPr>
        <p:txBody>
          <a:bodyPr>
            <a:normAutofit fontScale="92500" lnSpcReduction="20000"/>
          </a:bodyPr>
          <a:lstStyle/>
          <a:p>
            <a:r>
              <a:rPr lang="ru-RU" dirty="0"/>
              <a:t>Передача данных светом через стеклянный сердечник</a:t>
            </a:r>
          </a:p>
          <a:p>
            <a:r>
              <a:rPr lang="ru-RU" dirty="0"/>
              <a:t>Использует полное внутреннее отражение</a:t>
            </a:r>
          </a:p>
          <a:p>
            <a:r>
              <a:rPr lang="ru-RU" dirty="0"/>
              <a:t>Типы волокон:</a:t>
            </a:r>
          </a:p>
          <a:p>
            <a:pPr lvl="1"/>
            <a:r>
              <a:rPr lang="ru-RU" dirty="0"/>
              <a:t>многомодовые (диаметр ~50 мкм, до 15 км)</a:t>
            </a:r>
          </a:p>
          <a:p>
            <a:pPr lvl="1"/>
            <a:r>
              <a:rPr lang="ru-RU" dirty="0"/>
              <a:t>одномодовые (8–10 мкм, до 100 км без усиления)</a:t>
            </a:r>
          </a:p>
          <a:p>
            <a:r>
              <a:rPr lang="ru-RU" dirty="0"/>
              <a:t>Длины волн: 0.85, 1.30, 1.55 мкм</a:t>
            </a:r>
          </a:p>
          <a:p>
            <a:r>
              <a:rPr lang="ru-RU" dirty="0"/>
              <a:t>Ограничения: хроматическая дисперсия</a:t>
            </a:r>
          </a:p>
          <a:p>
            <a:pPr lvl="1"/>
            <a:r>
              <a:rPr lang="ru-RU" dirty="0"/>
              <a:t>Решение: импульсы-солитоны</a:t>
            </a:r>
          </a:p>
        </p:txBody>
      </p:sp>
      <p:pic>
        <p:nvPicPr>
          <p:cNvPr id="6" name="Content Placeholder 5" descr="A diagram of a structure of a single-mode fiber&#10;&#10;AI-generated content may be incorrect.">
            <a:extLst>
              <a:ext uri="{FF2B5EF4-FFF2-40B4-BE49-F238E27FC236}">
                <a16:creationId xmlns:a16="http://schemas.microsoft.com/office/drawing/2014/main" id="{FE416F58-3964-C294-327D-1C137796EEE2}"/>
              </a:ext>
            </a:extLst>
          </p:cNvPr>
          <p:cNvPicPr>
            <a:picLocks noGrp="1" noChangeAspect="1"/>
          </p:cNvPicPr>
          <p:nvPr>
            <p:ph sz="half" idx="2"/>
          </p:nvPr>
        </p:nvPicPr>
        <p:blipFill>
          <a:blip r:embed="rId3"/>
          <a:stretch>
            <a:fillRect/>
          </a:stretch>
        </p:blipFill>
        <p:spPr>
          <a:xfrm>
            <a:off x="7231506" y="1825625"/>
            <a:ext cx="3062988" cy="4351338"/>
          </a:xfrm>
          <a:prstGeom prst="rect">
            <a:avLst/>
          </a:prstGeom>
        </p:spPr>
      </p:pic>
    </p:spTree>
    <p:extLst>
      <p:ext uri="{BB962C8B-B14F-4D97-AF65-F5344CB8AC3E}">
        <p14:creationId xmlns:p14="http://schemas.microsoft.com/office/powerpoint/2010/main" val="18061027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C850E-C901-2CD4-2469-C806B75D6ABA}"/>
              </a:ext>
            </a:extLst>
          </p:cNvPr>
          <p:cNvSpPr>
            <a:spLocks noGrp="1"/>
          </p:cNvSpPr>
          <p:nvPr>
            <p:ph type="title"/>
          </p:nvPr>
        </p:nvSpPr>
        <p:spPr/>
        <p:txBody>
          <a:bodyPr/>
          <a:lstStyle/>
          <a:p>
            <a:r>
              <a:rPr lang="ru-RU" dirty="0"/>
              <a:t>Сравнение оптоволокна с медными проводами</a:t>
            </a:r>
            <a:endParaRPr lang="en-US" dirty="0"/>
          </a:p>
        </p:txBody>
      </p:sp>
      <p:sp>
        <p:nvSpPr>
          <p:cNvPr id="3" name="Content Placeholder 2">
            <a:extLst>
              <a:ext uri="{FF2B5EF4-FFF2-40B4-BE49-F238E27FC236}">
                <a16:creationId xmlns:a16="http://schemas.microsoft.com/office/drawing/2014/main" id="{99553AD9-391A-4EC9-2EFA-DF16057858A0}"/>
              </a:ext>
            </a:extLst>
          </p:cNvPr>
          <p:cNvSpPr>
            <a:spLocks noGrp="1"/>
          </p:cNvSpPr>
          <p:nvPr>
            <p:ph idx="1"/>
          </p:nvPr>
        </p:nvSpPr>
        <p:spPr/>
        <p:txBody>
          <a:bodyPr>
            <a:normAutofit lnSpcReduction="10000"/>
          </a:bodyPr>
          <a:lstStyle/>
          <a:p>
            <a:r>
              <a:rPr lang="ru-RU" dirty="0"/>
              <a:t>Преимущества оптоволокна:</a:t>
            </a:r>
          </a:p>
          <a:p>
            <a:pPr lvl="1"/>
            <a:r>
              <a:rPr lang="ru-RU" dirty="0"/>
              <a:t>Широчайшая полоса пропускания (потенциал &gt; 50 Тбит/с)</a:t>
            </a:r>
          </a:p>
          <a:p>
            <a:pPr lvl="1"/>
            <a:r>
              <a:rPr lang="ru-RU" dirty="0"/>
              <a:t>Низкое затухание → повторители раз в 50 км</a:t>
            </a:r>
          </a:p>
          <a:p>
            <a:pPr lvl="1"/>
            <a:r>
              <a:rPr lang="ru-RU" dirty="0"/>
              <a:t>Не подвержено ЭМ-помехам</a:t>
            </a:r>
          </a:p>
          <a:p>
            <a:pPr lvl="1"/>
            <a:r>
              <a:rPr lang="ru-RU" dirty="0"/>
              <a:t>Легкое и тонкое</a:t>
            </a:r>
          </a:p>
          <a:p>
            <a:pPr lvl="1"/>
            <a:r>
              <a:rPr lang="ru-RU" dirty="0"/>
              <a:t>Сложно перехватить сигнал</a:t>
            </a:r>
          </a:p>
          <a:p>
            <a:r>
              <a:rPr lang="ru-RU" dirty="0"/>
              <a:t>Недостатки:</a:t>
            </a:r>
          </a:p>
          <a:p>
            <a:pPr lvl="1"/>
            <a:r>
              <a:rPr lang="ru-RU" dirty="0"/>
              <a:t>Требует специализированного оборудования</a:t>
            </a:r>
          </a:p>
          <a:p>
            <a:pPr lvl="1"/>
            <a:r>
              <a:rPr lang="ru-RU" dirty="0"/>
              <a:t>Хрупкость, чувствительность к изгибу</a:t>
            </a:r>
          </a:p>
          <a:p>
            <a:pPr lvl="1"/>
            <a:r>
              <a:rPr lang="ru-RU" dirty="0"/>
              <a:t>Однонаправленность (нужен 2-кабельный канал)</a:t>
            </a:r>
          </a:p>
          <a:p>
            <a:pPr lvl="1"/>
            <a:r>
              <a:rPr lang="ru-RU" dirty="0"/>
              <a:t>Более высокая стоимость коннекторов и сварки</a:t>
            </a:r>
          </a:p>
        </p:txBody>
      </p:sp>
    </p:spTree>
    <p:extLst>
      <p:ext uri="{BB962C8B-B14F-4D97-AF65-F5344CB8AC3E}">
        <p14:creationId xmlns:p14="http://schemas.microsoft.com/office/powerpoint/2010/main" val="3624979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3D6C3B-AAD0-3BC0-26C9-9079F051FDB7}"/>
              </a:ext>
            </a:extLst>
          </p:cNvPr>
          <p:cNvSpPr>
            <a:spLocks noGrp="1"/>
          </p:cNvSpPr>
          <p:nvPr>
            <p:ph type="title"/>
          </p:nvPr>
        </p:nvSpPr>
        <p:spPr/>
        <p:txBody>
          <a:bodyPr/>
          <a:lstStyle/>
          <a:p>
            <a:r>
              <a:rPr lang="ru-RU" dirty="0"/>
              <a:t>Беспроводная связь</a:t>
            </a:r>
            <a:endParaRPr lang="en-US" dirty="0"/>
          </a:p>
        </p:txBody>
      </p:sp>
      <p:sp>
        <p:nvSpPr>
          <p:cNvPr id="5" name="Text Placeholder 4">
            <a:extLst>
              <a:ext uri="{FF2B5EF4-FFF2-40B4-BE49-F238E27FC236}">
                <a16:creationId xmlns:a16="http://schemas.microsoft.com/office/drawing/2014/main" id="{D273C309-3B65-46CB-AB6A-9A86F4E99E4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0041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9008AD-4D2C-290E-B3D2-B636C9A254C9}"/>
              </a:ext>
            </a:extLst>
          </p:cNvPr>
          <p:cNvSpPr>
            <a:spLocks noGrp="1"/>
          </p:cNvSpPr>
          <p:nvPr>
            <p:ph type="title"/>
          </p:nvPr>
        </p:nvSpPr>
        <p:spPr/>
        <p:txBody>
          <a:bodyPr>
            <a:normAutofit/>
          </a:bodyPr>
          <a:lstStyle/>
          <a:p>
            <a:r>
              <a:rPr lang="ru-RU" dirty="0"/>
              <a:t>Беспроводная передача данных: где мы её видим</a:t>
            </a:r>
            <a:endParaRPr lang="en-US" dirty="0"/>
          </a:p>
        </p:txBody>
      </p:sp>
      <p:sp>
        <p:nvSpPr>
          <p:cNvPr id="5" name="Content Placeholder 4">
            <a:extLst>
              <a:ext uri="{FF2B5EF4-FFF2-40B4-BE49-F238E27FC236}">
                <a16:creationId xmlns:a16="http://schemas.microsoft.com/office/drawing/2014/main" id="{14C0FBE4-DE43-8FCD-A21B-ECF6BF5DD69C}"/>
              </a:ext>
            </a:extLst>
          </p:cNvPr>
          <p:cNvSpPr>
            <a:spLocks noGrp="1"/>
          </p:cNvSpPr>
          <p:nvPr>
            <p:ph idx="1"/>
          </p:nvPr>
        </p:nvSpPr>
        <p:spPr/>
        <p:txBody>
          <a:bodyPr>
            <a:normAutofit fontScale="92500"/>
          </a:bodyPr>
          <a:lstStyle/>
          <a:p>
            <a:r>
              <a:rPr lang="ru-RU" dirty="0"/>
              <a:t>Беспроводная связь повсюду:</a:t>
            </a:r>
            <a:br>
              <a:rPr lang="ru-RU" dirty="0"/>
            </a:br>
            <a:r>
              <a:rPr lang="ru-RU" dirty="0"/>
              <a:t>– ноутбуки, смартфоны</a:t>
            </a:r>
            <a:br>
              <a:rPr lang="ru-RU" dirty="0"/>
            </a:br>
            <a:r>
              <a:rPr lang="ru-RU" dirty="0"/>
              <a:t>– «умные» часы, датчики, </a:t>
            </a:r>
            <a:r>
              <a:rPr lang="ru-RU" dirty="0" err="1"/>
              <a:t>IoT</a:t>
            </a:r>
            <a:br>
              <a:rPr lang="ru-RU" dirty="0"/>
            </a:br>
            <a:r>
              <a:rPr lang="ru-RU" dirty="0"/>
              <a:t>– бытовая техника (TV, холодильники и т.п.)</a:t>
            </a:r>
          </a:p>
          <a:p>
            <a:r>
              <a:rPr lang="ru-RU" dirty="0"/>
              <a:t>Связь «устройство ↔ устройство» и «устройство ↔ сеть»</a:t>
            </a:r>
          </a:p>
          <a:p>
            <a:r>
              <a:rPr lang="ru-RU" dirty="0"/>
              <a:t>Важна не только для мобильных, но и для стационарных устройств</a:t>
            </a:r>
          </a:p>
          <a:p>
            <a:r>
              <a:rPr lang="ru-RU" dirty="0"/>
              <a:t>Примеры, когда провод тянуть неудобно:</a:t>
            </a:r>
            <a:br>
              <a:rPr lang="ru-RU" dirty="0"/>
            </a:br>
            <a:r>
              <a:rPr lang="ru-RU" dirty="0"/>
              <a:t>– горы, джунгли, болота</a:t>
            </a:r>
            <a:br>
              <a:rPr lang="ru-RU" dirty="0"/>
            </a:br>
            <a:r>
              <a:rPr lang="ru-RU" dirty="0"/>
              <a:t>– труднодоступная местность</a:t>
            </a:r>
          </a:p>
          <a:p>
            <a:r>
              <a:rPr lang="ru-RU" dirty="0"/>
              <a:t>Исторический пример: проект </a:t>
            </a:r>
            <a:r>
              <a:rPr lang="ru-RU" b="1" dirty="0"/>
              <a:t>ALOHA</a:t>
            </a:r>
            <a:r>
              <a:rPr lang="ru-RU" dirty="0"/>
              <a:t> (1970-е, Гавайи)</a:t>
            </a:r>
          </a:p>
          <a:p>
            <a:endParaRPr lang="en-US" dirty="0"/>
          </a:p>
        </p:txBody>
      </p:sp>
    </p:spTree>
    <p:extLst>
      <p:ext uri="{BB962C8B-B14F-4D97-AF65-F5344CB8AC3E}">
        <p14:creationId xmlns:p14="http://schemas.microsoft.com/office/powerpoint/2010/main" val="26940058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35B8F-40EE-28B6-EBF2-0EDB39A65F2D}"/>
              </a:ext>
            </a:extLst>
          </p:cNvPr>
          <p:cNvSpPr>
            <a:spLocks noGrp="1"/>
          </p:cNvSpPr>
          <p:nvPr>
            <p:ph type="title"/>
          </p:nvPr>
        </p:nvSpPr>
        <p:spPr/>
        <p:txBody>
          <a:bodyPr/>
          <a:lstStyle/>
          <a:p>
            <a:r>
              <a:rPr lang="ru-RU" dirty="0"/>
              <a:t>Электромагнитный спектр</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A4953E-A633-8345-5B2B-C3E71024C9F1}"/>
                  </a:ext>
                </a:extLst>
              </p:cNvPr>
              <p:cNvSpPr>
                <a:spLocks noGrp="1"/>
              </p:cNvSpPr>
              <p:nvPr>
                <p:ph idx="1"/>
              </p:nvPr>
            </p:nvSpPr>
            <p:spPr/>
            <p:txBody>
              <a:bodyPr>
                <a:normAutofit/>
              </a:bodyPr>
              <a:lstStyle/>
              <a:p>
                <a:r>
                  <a:rPr lang="ru-RU" dirty="0"/>
                  <a:t>Электромагнитные волны создаются движущимися электронами</a:t>
                </a:r>
              </a:p>
              <a:p>
                <a:r>
                  <a:rPr lang="ru-RU" dirty="0"/>
                  <a:t>Важные параметры:</a:t>
                </a:r>
                <a:br>
                  <a:rPr lang="ru-RU" dirty="0"/>
                </a:br>
                <a:r>
                  <a:rPr lang="ru-RU" dirty="0"/>
                  <a:t>– частота </a:t>
                </a:r>
                <a14:m>
                  <m:oMath xmlns:m="http://schemas.openxmlformats.org/officeDocument/2006/math">
                    <m:r>
                      <a:rPr lang="ru-RU" i="1" dirty="0" smtClean="0">
                        <a:latin typeface="Cambria Math" panose="02040503050406030204" pitchFamily="18" charset="0"/>
                      </a:rPr>
                      <m:t>𝑓</m:t>
                    </m:r>
                  </m:oMath>
                </a14:m>
                <a:r>
                  <a:rPr lang="ru-RU" dirty="0"/>
                  <a:t> (Гц)</a:t>
                </a:r>
                <a:br>
                  <a:rPr lang="ru-RU" dirty="0"/>
                </a:br>
                <a:r>
                  <a:rPr lang="ru-RU" dirty="0"/>
                  <a:t>– длина волны </a:t>
                </a:r>
                <a14:m>
                  <m:oMath xmlns:m="http://schemas.openxmlformats.org/officeDocument/2006/math">
                    <m:r>
                      <a:rPr lang="ru-RU" i="1" dirty="0" smtClean="0">
                        <a:latin typeface="Cambria Math" panose="02040503050406030204" pitchFamily="18" charset="0"/>
                      </a:rPr>
                      <m:t>𝜆</m:t>
                    </m:r>
                  </m:oMath>
                </a14:m>
                <a:r>
                  <a:rPr lang="ru-RU" dirty="0"/>
                  <a:t> (метры)</a:t>
                </a:r>
              </a:p>
              <a:p>
                <a:r>
                  <a:rPr lang="ru-RU" dirty="0"/>
                  <a:t>В вакууме скорость распространения: </a:t>
                </a:r>
                <a14:m>
                  <m:oMath xmlns:m="http://schemas.openxmlformats.org/officeDocument/2006/math">
                    <m:r>
                      <a:rPr lang="ru-RU" i="1" dirty="0" smtClean="0">
                        <a:latin typeface="Cambria Math" panose="02040503050406030204" pitchFamily="18" charset="0"/>
                      </a:rPr>
                      <m:t>𝑐</m:t>
                    </m:r>
                    <m:r>
                      <a:rPr lang="ru-RU" i="1" dirty="0" smtClean="0">
                        <a:latin typeface="Cambria Math" panose="02040503050406030204" pitchFamily="18" charset="0"/>
                      </a:rPr>
                      <m:t> ≈ 3 × 10⁸ м/с</m:t>
                    </m:r>
                  </m:oMath>
                </a14:m>
                <a:endParaRPr lang="ru-RU" dirty="0"/>
              </a:p>
              <a:p>
                <a:r>
                  <a:rPr lang="ru-RU" dirty="0"/>
                  <a:t>Связь параметров: </a:t>
                </a:r>
                <a14:m>
                  <m:oMath xmlns:m="http://schemas.openxmlformats.org/officeDocument/2006/math">
                    <m:r>
                      <a:rPr lang="ru-RU" b="0" i="1" dirty="0" smtClean="0">
                        <a:latin typeface="Cambria Math" panose="02040503050406030204" pitchFamily="18" charset="0"/>
                      </a:rPr>
                      <m:t>𝜆</m:t>
                    </m:r>
                    <m:r>
                      <a:rPr lang="ru-RU" b="0" i="1" dirty="0" smtClean="0">
                        <a:latin typeface="Cambria Math" panose="02040503050406030204" pitchFamily="18" charset="0"/>
                      </a:rPr>
                      <m:t> · </m:t>
                    </m:r>
                    <m:r>
                      <a:rPr lang="ru-RU" b="0" i="1" dirty="0" smtClean="0">
                        <a:latin typeface="Cambria Math" panose="02040503050406030204" pitchFamily="18" charset="0"/>
                      </a:rPr>
                      <m:t>𝑓</m:t>
                    </m:r>
                    <m:r>
                      <a:rPr lang="ru-RU" b="0" i="1" dirty="0" smtClean="0">
                        <a:latin typeface="Cambria Math" panose="02040503050406030204" pitchFamily="18" charset="0"/>
                      </a:rPr>
                      <m:t> = </m:t>
                    </m:r>
                    <m:r>
                      <a:rPr lang="ru-RU" b="0" i="1" dirty="0" smtClean="0">
                        <a:latin typeface="Cambria Math" panose="02040503050406030204" pitchFamily="18" charset="0"/>
                      </a:rPr>
                      <m:t>𝑐</m:t>
                    </m:r>
                  </m:oMath>
                </a14:m>
                <a:endParaRPr lang="ru-RU" dirty="0"/>
              </a:p>
              <a:p>
                <a:r>
                  <a:rPr lang="ru-RU" dirty="0"/>
                  <a:t>Приближённое правило:</a:t>
                </a:r>
              </a:p>
              <a:p>
                <a:pPr lvl="1"/>
                <a:r>
                  <a:rPr lang="ru-RU" dirty="0"/>
                  <a:t>если </a:t>
                </a:r>
                <a14:m>
                  <m:oMath xmlns:m="http://schemas.openxmlformats.org/officeDocument/2006/math">
                    <m:r>
                      <a:rPr lang="ru-RU" i="1" dirty="0" smtClean="0">
                        <a:latin typeface="Cambria Math" panose="02040503050406030204" pitchFamily="18" charset="0"/>
                      </a:rPr>
                      <m:t>𝜆</m:t>
                    </m:r>
                  </m:oMath>
                </a14:m>
                <a:r>
                  <a:rPr lang="ru-RU" dirty="0"/>
                  <a:t> в метрах, </a:t>
                </a:r>
                <a14:m>
                  <m:oMath xmlns:m="http://schemas.openxmlformats.org/officeDocument/2006/math">
                    <m:r>
                      <a:rPr lang="ru-RU" i="1" dirty="0" smtClean="0">
                        <a:latin typeface="Cambria Math" panose="02040503050406030204" pitchFamily="18" charset="0"/>
                      </a:rPr>
                      <m:t>𝑓</m:t>
                    </m:r>
                  </m:oMath>
                </a14:m>
                <a:r>
                  <a:rPr lang="ru-RU" dirty="0"/>
                  <a:t> в МГц → </a:t>
                </a:r>
                <a14:m>
                  <m:oMath xmlns:m="http://schemas.openxmlformats.org/officeDocument/2006/math">
                    <m:r>
                      <a:rPr lang="ru-RU" i="1" dirty="0" smtClean="0">
                        <a:latin typeface="Cambria Math" panose="02040503050406030204" pitchFamily="18" charset="0"/>
                      </a:rPr>
                      <m:t>𝜆</m:t>
                    </m:r>
                    <m:r>
                      <a:rPr lang="ru-RU" i="1" dirty="0" smtClean="0">
                        <a:latin typeface="Cambria Math" panose="02040503050406030204" pitchFamily="18" charset="0"/>
                      </a:rPr>
                      <m:t> · </m:t>
                    </m:r>
                    <m:r>
                      <a:rPr lang="ru-RU" i="1" dirty="0" smtClean="0">
                        <a:latin typeface="Cambria Math" panose="02040503050406030204" pitchFamily="18" charset="0"/>
                      </a:rPr>
                      <m:t>𝑓</m:t>
                    </m:r>
                    <m:r>
                      <a:rPr lang="ru-RU" i="1" dirty="0" smtClean="0">
                        <a:latin typeface="Cambria Math" panose="02040503050406030204" pitchFamily="18" charset="0"/>
                      </a:rPr>
                      <m:t> ≈ 300</m:t>
                    </m:r>
                  </m:oMath>
                </a14:m>
                <a:endParaRPr lang="ru-RU" dirty="0"/>
              </a:p>
              <a:p>
                <a:endParaRPr lang="en-US" dirty="0"/>
              </a:p>
            </p:txBody>
          </p:sp>
        </mc:Choice>
        <mc:Fallback xmlns="">
          <p:sp>
            <p:nvSpPr>
              <p:cNvPr id="3" name="Content Placeholder 2">
                <a:extLst>
                  <a:ext uri="{FF2B5EF4-FFF2-40B4-BE49-F238E27FC236}">
                    <a16:creationId xmlns:a16="http://schemas.microsoft.com/office/drawing/2014/main" id="{3DA4953E-A633-8345-5B2B-C3E71024C9F1}"/>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30713563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6DB46-BACA-BA90-66F7-45DA3566A2FC}"/>
              </a:ext>
            </a:extLst>
          </p:cNvPr>
          <p:cNvSpPr>
            <a:spLocks noGrp="1"/>
          </p:cNvSpPr>
          <p:nvPr>
            <p:ph type="title"/>
          </p:nvPr>
        </p:nvSpPr>
        <p:spPr/>
        <p:txBody>
          <a:bodyPr/>
          <a:lstStyle/>
          <a:p>
            <a:r>
              <a:rPr lang="ru-RU" dirty="0"/>
              <a:t>Спектр э/м волн и полоса пропускания</a:t>
            </a:r>
            <a:endParaRPr lang="en-US" dirty="0"/>
          </a:p>
        </p:txBody>
      </p:sp>
      <p:sp>
        <p:nvSpPr>
          <p:cNvPr id="3" name="Content Placeholder 2">
            <a:extLst>
              <a:ext uri="{FF2B5EF4-FFF2-40B4-BE49-F238E27FC236}">
                <a16:creationId xmlns:a16="http://schemas.microsoft.com/office/drawing/2014/main" id="{FA516625-6DD9-7958-A6B7-DBEB0E7C1DAA}"/>
              </a:ext>
            </a:extLst>
          </p:cNvPr>
          <p:cNvSpPr>
            <a:spLocks noGrp="1"/>
          </p:cNvSpPr>
          <p:nvPr>
            <p:ph sz="half" idx="1"/>
          </p:nvPr>
        </p:nvSpPr>
        <p:spPr>
          <a:xfrm>
            <a:off x="838200" y="1825625"/>
            <a:ext cx="5757334" cy="4351338"/>
          </a:xfrm>
        </p:spPr>
        <p:txBody>
          <a:bodyPr>
            <a:normAutofit fontScale="77500" lnSpcReduction="20000"/>
          </a:bodyPr>
          <a:lstStyle/>
          <a:p>
            <a:r>
              <a:rPr lang="ru-RU" dirty="0"/>
              <a:t>Диапазоны:</a:t>
            </a:r>
          </a:p>
          <a:p>
            <a:pPr lvl="1"/>
            <a:r>
              <a:rPr lang="ru-RU" dirty="0"/>
              <a:t>радиоволны</a:t>
            </a:r>
          </a:p>
          <a:p>
            <a:pPr lvl="1"/>
            <a:r>
              <a:rPr lang="ru-RU" dirty="0"/>
              <a:t>микроволны</a:t>
            </a:r>
          </a:p>
          <a:p>
            <a:pPr lvl="1"/>
            <a:r>
              <a:rPr lang="ru-RU" dirty="0"/>
              <a:t>инфракрасное излучение</a:t>
            </a:r>
          </a:p>
          <a:p>
            <a:pPr lvl="1"/>
            <a:r>
              <a:rPr lang="ru-RU" dirty="0"/>
              <a:t>видимый свет</a:t>
            </a:r>
          </a:p>
          <a:p>
            <a:r>
              <a:rPr lang="ru-RU" dirty="0"/>
              <a:t>Более высокие частоты не используются:</a:t>
            </a:r>
          </a:p>
          <a:p>
            <a:pPr lvl="1"/>
            <a:r>
              <a:rPr lang="ru-RU" dirty="0"/>
              <a:t>сложно генерировать и модулировать</a:t>
            </a:r>
          </a:p>
          <a:p>
            <a:pPr lvl="1"/>
            <a:r>
              <a:rPr lang="ru-RU" dirty="0"/>
              <a:t>плохо проходят через здания</a:t>
            </a:r>
          </a:p>
          <a:p>
            <a:pPr lvl="1"/>
            <a:r>
              <a:rPr lang="ru-RU" dirty="0"/>
              <a:t>опасны для живых организмов</a:t>
            </a:r>
          </a:p>
          <a:p>
            <a:r>
              <a:rPr lang="ru-RU" dirty="0"/>
              <a:t>Официальные диапазоны ITU</a:t>
            </a:r>
            <a:r>
              <a:rPr lang="en-US" dirty="0"/>
              <a:t> (International Telecommunication Union)</a:t>
            </a:r>
            <a:r>
              <a:rPr lang="ru-RU" dirty="0"/>
              <a:t>:</a:t>
            </a:r>
          </a:p>
          <a:p>
            <a:pPr lvl="1"/>
            <a:r>
              <a:rPr lang="ru-RU" dirty="0"/>
              <a:t>НЧ, СЧ, ВЧ, ОВЧ, УВЧ, СВЧ, КВЧ, ГВЧ и т.д.</a:t>
            </a:r>
          </a:p>
          <a:p>
            <a:r>
              <a:rPr lang="ru-RU" dirty="0"/>
              <a:t>Количество передаваемой информации</a:t>
            </a:r>
            <a:r>
              <a:rPr lang="en-US" dirty="0"/>
              <a:t> </a:t>
            </a:r>
            <a:r>
              <a:rPr lang="ru-RU" dirty="0"/>
              <a:t>связано с шириной полосы пропускания и соотношением сигнал/шум</a:t>
            </a:r>
          </a:p>
        </p:txBody>
      </p:sp>
      <p:pic>
        <p:nvPicPr>
          <p:cNvPr id="6" name="Content Placeholder 5" descr="A diagram of a plane&#10;&#10;AI-generated content may be incorrect.">
            <a:extLst>
              <a:ext uri="{FF2B5EF4-FFF2-40B4-BE49-F238E27FC236}">
                <a16:creationId xmlns:a16="http://schemas.microsoft.com/office/drawing/2014/main" id="{13DFC55F-4D28-8540-D010-65987A99B404}"/>
              </a:ext>
            </a:extLst>
          </p:cNvPr>
          <p:cNvPicPr>
            <a:picLocks noGrp="1" noChangeAspect="1"/>
          </p:cNvPicPr>
          <p:nvPr>
            <p:ph sz="half" idx="2"/>
          </p:nvPr>
        </p:nvPicPr>
        <p:blipFill>
          <a:blip r:embed="rId3"/>
          <a:stretch>
            <a:fillRect/>
          </a:stretch>
        </p:blipFill>
        <p:spPr>
          <a:xfrm>
            <a:off x="6595534" y="1825625"/>
            <a:ext cx="5181600" cy="3268928"/>
          </a:xfrm>
          <a:prstGeom prst="rect">
            <a:avLst/>
          </a:prstGeom>
        </p:spPr>
      </p:pic>
    </p:spTree>
    <p:extLst>
      <p:ext uri="{BB962C8B-B14F-4D97-AF65-F5344CB8AC3E}">
        <p14:creationId xmlns:p14="http://schemas.microsoft.com/office/powerpoint/2010/main" val="341576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B3E15-A2B0-A1C7-D8B7-F273D86F153C}"/>
              </a:ext>
            </a:extLst>
          </p:cNvPr>
          <p:cNvSpPr>
            <a:spLocks noGrp="1"/>
          </p:cNvSpPr>
          <p:nvPr>
            <p:ph type="title"/>
          </p:nvPr>
        </p:nvSpPr>
        <p:spPr/>
        <p:txBody>
          <a:bodyPr/>
          <a:lstStyle/>
          <a:p>
            <a:r>
              <a:rPr lang="ru-RU" dirty="0"/>
              <a:t>Расширение спектра</a:t>
            </a:r>
            <a:r>
              <a:rPr lang="en-US" dirty="0"/>
              <a:t>: </a:t>
            </a:r>
            <a:r>
              <a:rPr lang="ru-RU" dirty="0"/>
              <a:t>псевдослучайная перестройка рабочей частоты</a:t>
            </a:r>
            <a:endParaRPr lang="en-US" dirty="0"/>
          </a:p>
        </p:txBody>
      </p:sp>
      <p:sp>
        <p:nvSpPr>
          <p:cNvPr id="3" name="Content Placeholder 2">
            <a:extLst>
              <a:ext uri="{FF2B5EF4-FFF2-40B4-BE49-F238E27FC236}">
                <a16:creationId xmlns:a16="http://schemas.microsoft.com/office/drawing/2014/main" id="{DAD88DEA-6587-0C93-3204-9DC8B532B758}"/>
              </a:ext>
            </a:extLst>
          </p:cNvPr>
          <p:cNvSpPr>
            <a:spLocks noGrp="1"/>
          </p:cNvSpPr>
          <p:nvPr>
            <p:ph sz="half" idx="1"/>
          </p:nvPr>
        </p:nvSpPr>
        <p:spPr>
          <a:xfrm>
            <a:off x="838199" y="1825625"/>
            <a:ext cx="6644951" cy="4351338"/>
          </a:xfrm>
        </p:spPr>
        <p:txBody>
          <a:bodyPr>
            <a:normAutofit fontScale="77500" lnSpcReduction="20000"/>
          </a:bodyPr>
          <a:lstStyle/>
          <a:p>
            <a:r>
              <a:rPr lang="ru-RU" dirty="0"/>
              <a:t>Идея: передатчик </a:t>
            </a:r>
            <a:r>
              <a:rPr lang="ru-RU" b="1" dirty="0"/>
              <a:t>прыгает по частотам</a:t>
            </a:r>
            <a:r>
              <a:rPr lang="ru-RU" dirty="0"/>
              <a:t> сотни раз в секунду</a:t>
            </a:r>
          </a:p>
          <a:p>
            <a:r>
              <a:rPr lang="ru-RU" dirty="0"/>
              <a:t>Свойства FHSS (</a:t>
            </a:r>
            <a:r>
              <a:rPr lang="en-US" dirty="0"/>
              <a:t>frequency hopping spread spectrum </a:t>
            </a:r>
            <a:r>
              <a:rPr lang="ru-RU" dirty="0"/>
              <a:t>):</a:t>
            </a:r>
          </a:p>
          <a:p>
            <a:pPr lvl="1"/>
            <a:r>
              <a:rPr lang="ru-RU" dirty="0"/>
              <a:t>сложнее обнаружить</a:t>
            </a:r>
          </a:p>
          <a:p>
            <a:pPr lvl="1"/>
            <a:r>
              <a:rPr lang="ru-RU" dirty="0"/>
              <a:t>трудно заглушить</a:t>
            </a:r>
          </a:p>
          <a:p>
            <a:pPr lvl="1"/>
            <a:r>
              <a:rPr lang="ru-RU" dirty="0"/>
              <a:t>меньше замираний, устойчивость к </a:t>
            </a:r>
            <a:r>
              <a:rPr lang="ru-RU" dirty="0" err="1"/>
              <a:t>многолучевости</a:t>
            </a:r>
            <a:endParaRPr lang="ru-RU" dirty="0"/>
          </a:p>
          <a:p>
            <a:pPr lvl="1"/>
            <a:r>
              <a:rPr lang="ru-RU" dirty="0"/>
              <a:t>устойчивость к узкополосным помехам</a:t>
            </a:r>
          </a:p>
          <a:p>
            <a:r>
              <a:rPr lang="ru-RU" dirty="0"/>
              <a:t>Применения:</a:t>
            </a:r>
          </a:p>
          <a:p>
            <a:pPr lvl="1"/>
            <a:r>
              <a:rPr lang="ru-RU" dirty="0"/>
              <a:t>военная связь</a:t>
            </a:r>
          </a:p>
          <a:p>
            <a:pPr lvl="1"/>
            <a:r>
              <a:rPr lang="ru-RU" dirty="0"/>
              <a:t>перегруженные диапазоны (например, ISM) </a:t>
            </a:r>
          </a:p>
          <a:p>
            <a:pPr lvl="1"/>
            <a:r>
              <a:rPr lang="ru-RU" dirty="0"/>
              <a:t>Bluetooth, ранние версии 802.11</a:t>
            </a:r>
          </a:p>
          <a:p>
            <a:r>
              <a:rPr lang="ru-RU" dirty="0"/>
              <a:t>Исторический факт:</a:t>
            </a:r>
          </a:p>
          <a:p>
            <a:pPr lvl="1"/>
            <a:r>
              <a:rPr lang="ru-RU" dirty="0"/>
              <a:t>изобретательница — актриса </a:t>
            </a:r>
            <a:r>
              <a:rPr lang="ru-RU" b="1" dirty="0"/>
              <a:t>Хеди Ламарр</a:t>
            </a:r>
            <a:r>
              <a:rPr lang="ru-RU" dirty="0"/>
              <a:t>, патент с</a:t>
            </a:r>
            <a:r>
              <a:rPr lang="en-US" dirty="0"/>
              <a:t> </a:t>
            </a:r>
            <a:r>
              <a:rPr lang="ru-RU" dirty="0"/>
              <a:t>композитором Дж. </a:t>
            </a:r>
            <a:r>
              <a:rPr lang="ru-RU" dirty="0" err="1"/>
              <a:t>Антейлом</a:t>
            </a:r>
            <a:endParaRPr lang="ru-RU" dirty="0"/>
          </a:p>
          <a:p>
            <a:endParaRPr lang="en-US" dirty="0"/>
          </a:p>
        </p:txBody>
      </p:sp>
      <p:pic>
        <p:nvPicPr>
          <p:cNvPr id="6" name="Content Placeholder 5" descr="A person with red hair and black hair&#10;&#10;AI-generated content may be incorrect.">
            <a:extLst>
              <a:ext uri="{FF2B5EF4-FFF2-40B4-BE49-F238E27FC236}">
                <a16:creationId xmlns:a16="http://schemas.microsoft.com/office/drawing/2014/main" id="{3E37E249-5EF1-4511-6AC6-5CD72FC6A6AF}"/>
              </a:ext>
            </a:extLst>
          </p:cNvPr>
          <p:cNvPicPr>
            <a:picLocks noGrp="1" noChangeAspect="1"/>
          </p:cNvPicPr>
          <p:nvPr>
            <p:ph sz="half" idx="2"/>
          </p:nvPr>
        </p:nvPicPr>
        <p:blipFill>
          <a:blip r:embed="rId3"/>
          <a:stretch>
            <a:fillRect/>
          </a:stretch>
        </p:blipFill>
        <p:spPr>
          <a:xfrm>
            <a:off x="7696110" y="1731314"/>
            <a:ext cx="4286082" cy="2479096"/>
          </a:xfrm>
          <a:prstGeom prst="rect">
            <a:avLst/>
          </a:prstGeom>
        </p:spPr>
      </p:pic>
      <p:sp>
        <p:nvSpPr>
          <p:cNvPr id="8" name="TextBox 7">
            <a:extLst>
              <a:ext uri="{FF2B5EF4-FFF2-40B4-BE49-F238E27FC236}">
                <a16:creationId xmlns:a16="http://schemas.microsoft.com/office/drawing/2014/main" id="{93D4EFC6-8F8B-D4CD-612A-5AC85BCD5388}"/>
              </a:ext>
            </a:extLst>
          </p:cNvPr>
          <p:cNvSpPr txBox="1"/>
          <p:nvPr/>
        </p:nvSpPr>
        <p:spPr>
          <a:xfrm>
            <a:off x="6763315" y="6311900"/>
            <a:ext cx="5428685" cy="369332"/>
          </a:xfrm>
          <a:prstGeom prst="rect">
            <a:avLst/>
          </a:prstGeom>
          <a:noFill/>
        </p:spPr>
        <p:txBody>
          <a:bodyPr wrap="square">
            <a:spAutoFit/>
          </a:bodyPr>
          <a:lstStyle/>
          <a:p>
            <a:r>
              <a:rPr lang="en-US" dirty="0">
                <a:hlinkClick r:id="rId4"/>
              </a:rPr>
              <a:t>https://www.youtube.com/watch?v=bWCwwBAKKlM</a:t>
            </a:r>
            <a:r>
              <a:rPr lang="ru-RU" dirty="0"/>
              <a:t> </a:t>
            </a:r>
            <a:endParaRPr lang="en-US" dirty="0"/>
          </a:p>
        </p:txBody>
      </p:sp>
      <p:pic>
        <p:nvPicPr>
          <p:cNvPr id="10" name="Picture 9" descr="A qr code with a link in the center&#10;&#10;AI-generated content may be incorrect.">
            <a:extLst>
              <a:ext uri="{FF2B5EF4-FFF2-40B4-BE49-F238E27FC236}">
                <a16:creationId xmlns:a16="http://schemas.microsoft.com/office/drawing/2014/main" id="{878A251A-8295-0268-B7B3-67FCE6DC3B5B}"/>
              </a:ext>
            </a:extLst>
          </p:cNvPr>
          <p:cNvPicPr>
            <a:picLocks noChangeAspect="1"/>
          </p:cNvPicPr>
          <p:nvPr/>
        </p:nvPicPr>
        <p:blipFill>
          <a:blip r:embed="rId5"/>
          <a:stretch>
            <a:fillRect/>
          </a:stretch>
        </p:blipFill>
        <p:spPr>
          <a:xfrm>
            <a:off x="9860144" y="4251036"/>
            <a:ext cx="2122048" cy="2114550"/>
          </a:xfrm>
          <a:prstGeom prst="rect">
            <a:avLst/>
          </a:prstGeom>
        </p:spPr>
      </p:pic>
    </p:spTree>
    <p:extLst>
      <p:ext uri="{BB962C8B-B14F-4D97-AF65-F5344CB8AC3E}">
        <p14:creationId xmlns:p14="http://schemas.microsoft.com/office/powerpoint/2010/main" val="38751417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0600FB-3E64-25A9-8AD2-F57EE36386DD}"/>
              </a:ext>
            </a:extLst>
          </p:cNvPr>
          <p:cNvSpPr>
            <a:spLocks noGrp="1"/>
          </p:cNvSpPr>
          <p:nvPr>
            <p:ph type="title"/>
          </p:nvPr>
        </p:nvSpPr>
        <p:spPr/>
        <p:txBody>
          <a:bodyPr>
            <a:normAutofit/>
          </a:bodyPr>
          <a:lstStyle/>
          <a:p>
            <a:r>
              <a:rPr lang="ru-RU" dirty="0"/>
              <a:t>Прямая последовательность (DSSS) и сверхширокополосная связь (UWB)</a:t>
            </a:r>
            <a:endParaRPr lang="en-US" dirty="0"/>
          </a:p>
        </p:txBody>
      </p:sp>
      <p:sp>
        <p:nvSpPr>
          <p:cNvPr id="6" name="Content Placeholder 5">
            <a:extLst>
              <a:ext uri="{FF2B5EF4-FFF2-40B4-BE49-F238E27FC236}">
                <a16:creationId xmlns:a16="http://schemas.microsoft.com/office/drawing/2014/main" id="{5E0510CF-4CC4-0EF6-BC0D-281B0FDBF9D7}"/>
              </a:ext>
            </a:extLst>
          </p:cNvPr>
          <p:cNvSpPr>
            <a:spLocks noGrp="1"/>
          </p:cNvSpPr>
          <p:nvPr>
            <p:ph idx="1"/>
          </p:nvPr>
        </p:nvSpPr>
        <p:spPr/>
        <p:txBody>
          <a:bodyPr>
            <a:normAutofit fontScale="85000" lnSpcReduction="20000"/>
          </a:bodyPr>
          <a:lstStyle/>
          <a:p>
            <a:r>
              <a:rPr lang="ru-RU" b="1" dirty="0"/>
              <a:t>Метод прямой последовательности </a:t>
            </a:r>
            <a:r>
              <a:rPr lang="ru-RU" dirty="0"/>
              <a:t>(DSSS</a:t>
            </a:r>
            <a:r>
              <a:rPr lang="en-US" dirty="0"/>
              <a:t>, Direct Sequence Spread Spectrum</a:t>
            </a:r>
            <a:r>
              <a:rPr lang="ru-RU" dirty="0"/>
              <a:t>):</a:t>
            </a:r>
          </a:p>
          <a:p>
            <a:pPr lvl="1"/>
            <a:r>
              <a:rPr lang="ru-RU" dirty="0"/>
              <a:t>Информационный сигнал умножается на кодовую последовательность</a:t>
            </a:r>
          </a:p>
          <a:p>
            <a:pPr lvl="1"/>
            <a:r>
              <a:rPr lang="ru-RU" dirty="0"/>
              <a:t>Сигнал «размазывается» по более широкому диапазону частот</a:t>
            </a:r>
          </a:p>
          <a:p>
            <a:pPr lvl="1"/>
            <a:r>
              <a:rPr lang="ru-RU" dirty="0"/>
              <a:t>Можно передавать несколько сигналов в одной полосе (CDMA</a:t>
            </a:r>
            <a:r>
              <a:rPr lang="en-US" dirty="0"/>
              <a:t>, Code Division Multiple Access</a:t>
            </a:r>
            <a:r>
              <a:rPr lang="ru-RU" dirty="0"/>
              <a:t>)</a:t>
            </a:r>
          </a:p>
          <a:p>
            <a:pPr lvl="1"/>
            <a:r>
              <a:rPr lang="ru-RU" dirty="0"/>
              <a:t>Устойчивость к помехам и замиранию</a:t>
            </a:r>
          </a:p>
          <a:p>
            <a:pPr lvl="1"/>
            <a:r>
              <a:rPr lang="ru-RU" dirty="0"/>
              <a:t>Применение: 3G, GPS, ранний 802.11b</a:t>
            </a:r>
          </a:p>
          <a:p>
            <a:r>
              <a:rPr lang="ru-RU" b="1" dirty="0"/>
              <a:t>UWB</a:t>
            </a:r>
            <a:r>
              <a:rPr lang="ru-RU" dirty="0"/>
              <a:t> (сверхширокополосная связь):</a:t>
            </a:r>
          </a:p>
          <a:p>
            <a:pPr lvl="1"/>
            <a:r>
              <a:rPr lang="ru-RU" dirty="0"/>
              <a:t>Очень широкая полоса частот (≥ 500 МГц или ≥ 20% от центральной частоты)</a:t>
            </a:r>
          </a:p>
          <a:p>
            <a:pPr lvl="1"/>
            <a:r>
              <a:rPr lang="ru-RU" dirty="0"/>
              <a:t>Передача серии быстрых импульсов малой мощности</a:t>
            </a:r>
          </a:p>
          <a:p>
            <a:pPr lvl="1"/>
            <a:r>
              <a:rPr lang="ru-RU" dirty="0"/>
              <a:t>Высокий потенциал по скорости (сотни Мбит/с на малых дистанциях)</a:t>
            </a:r>
          </a:p>
          <a:p>
            <a:pPr lvl="1"/>
            <a:r>
              <a:rPr lang="ru-RU" dirty="0"/>
              <a:t>Практически не мешает узкополосным системам</a:t>
            </a:r>
          </a:p>
          <a:p>
            <a:pPr lvl="1"/>
            <a:r>
              <a:rPr lang="ru-RU" dirty="0"/>
              <a:t>Применения: связь на короткие расстояния, радары, позиционирование</a:t>
            </a:r>
          </a:p>
          <a:p>
            <a:endParaRPr lang="en-US" dirty="0"/>
          </a:p>
        </p:txBody>
      </p:sp>
    </p:spTree>
    <p:extLst>
      <p:ext uri="{BB962C8B-B14F-4D97-AF65-F5344CB8AC3E}">
        <p14:creationId xmlns:p14="http://schemas.microsoft.com/office/powerpoint/2010/main" val="1557868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171634-EDA5-1640-F5C0-FAFACF3415D1}"/>
              </a:ext>
            </a:extLst>
          </p:cNvPr>
          <p:cNvSpPr>
            <a:spLocks noGrp="1"/>
          </p:cNvSpPr>
          <p:nvPr>
            <p:ph type="title"/>
          </p:nvPr>
        </p:nvSpPr>
        <p:spPr/>
        <p:txBody>
          <a:bodyPr/>
          <a:lstStyle/>
          <a:p>
            <a:r>
              <a:rPr lang="ru-RU" dirty="0"/>
              <a:t>Радиосвязь</a:t>
            </a:r>
            <a:endParaRPr lang="en-US" dirty="0"/>
          </a:p>
        </p:txBody>
      </p:sp>
      <p:sp>
        <p:nvSpPr>
          <p:cNvPr id="6" name="Content Placeholder 5">
            <a:extLst>
              <a:ext uri="{FF2B5EF4-FFF2-40B4-BE49-F238E27FC236}">
                <a16:creationId xmlns:a16="http://schemas.microsoft.com/office/drawing/2014/main" id="{E6886889-7A42-CA3B-4940-2F8226335B94}"/>
              </a:ext>
            </a:extLst>
          </p:cNvPr>
          <p:cNvSpPr>
            <a:spLocks noGrp="1"/>
          </p:cNvSpPr>
          <p:nvPr>
            <p:ph sz="half" idx="1"/>
          </p:nvPr>
        </p:nvSpPr>
        <p:spPr>
          <a:xfrm>
            <a:off x="838199" y="1825625"/>
            <a:ext cx="7639051" cy="4351338"/>
          </a:xfrm>
        </p:spPr>
        <p:txBody>
          <a:bodyPr>
            <a:normAutofit fontScale="92500"/>
          </a:bodyPr>
          <a:lstStyle/>
          <a:p>
            <a:r>
              <a:rPr lang="ru-RU" dirty="0"/>
              <a:t>Лёгкая генерация и приём</a:t>
            </a:r>
          </a:p>
          <a:p>
            <a:r>
              <a:rPr lang="ru-RU" dirty="0"/>
              <a:t>Прохождение через стены, большие расстояния</a:t>
            </a:r>
          </a:p>
          <a:p>
            <a:r>
              <a:rPr lang="ru-RU" dirty="0" err="1"/>
              <a:t>Всенаправленность</a:t>
            </a:r>
            <a:r>
              <a:rPr lang="ru-RU" dirty="0"/>
              <a:t>:</a:t>
            </a:r>
          </a:p>
          <a:p>
            <a:pPr lvl="1"/>
            <a:r>
              <a:rPr lang="ru-RU" dirty="0"/>
              <a:t>плюс: не нужно точно наводить антенну</a:t>
            </a:r>
          </a:p>
          <a:p>
            <a:pPr lvl="1"/>
            <a:r>
              <a:rPr lang="ru-RU" dirty="0"/>
              <a:t>минус: помехи и неожиданные эффекты</a:t>
            </a:r>
          </a:p>
          <a:p>
            <a:r>
              <a:rPr lang="ru-RU" dirty="0"/>
              <a:t>Зависимость свойств от частоты:</a:t>
            </a:r>
          </a:p>
          <a:p>
            <a:pPr lvl="1"/>
            <a:r>
              <a:rPr lang="ru-RU" dirty="0"/>
              <a:t>низкие частоты: следуют вдоль поверхности Земли, хорошо проходят через здания, но малая полоса</a:t>
            </a:r>
          </a:p>
          <a:p>
            <a:pPr lvl="1"/>
            <a:r>
              <a:rPr lang="ru-RU" dirty="0"/>
              <a:t>более высокие: отражаются от ионосферы (дальняя связь)</a:t>
            </a:r>
          </a:p>
        </p:txBody>
      </p:sp>
      <p:pic>
        <p:nvPicPr>
          <p:cNvPr id="11" name="Content Placeholder 10" descr="A diagram of a radio wave&#10;&#10;AI-generated content may be incorrect.">
            <a:extLst>
              <a:ext uri="{FF2B5EF4-FFF2-40B4-BE49-F238E27FC236}">
                <a16:creationId xmlns:a16="http://schemas.microsoft.com/office/drawing/2014/main" id="{4FA04DCF-56F8-13F2-4159-A757754EFC2B}"/>
              </a:ext>
            </a:extLst>
          </p:cNvPr>
          <p:cNvPicPr>
            <a:picLocks noGrp="1" noChangeAspect="1"/>
          </p:cNvPicPr>
          <p:nvPr>
            <p:ph sz="half" idx="2"/>
          </p:nvPr>
        </p:nvPicPr>
        <p:blipFill>
          <a:blip r:embed="rId3"/>
          <a:srcRect r="59099" b="23434"/>
          <a:stretch>
            <a:fillRect/>
          </a:stretch>
        </p:blipFill>
        <p:spPr>
          <a:xfrm>
            <a:off x="8665333" y="1669785"/>
            <a:ext cx="3237712" cy="2046486"/>
          </a:xfrm>
          <a:prstGeom prst="rect">
            <a:avLst/>
          </a:prstGeom>
        </p:spPr>
      </p:pic>
      <p:pic>
        <p:nvPicPr>
          <p:cNvPr id="12" name="Content Placeholder 10" descr="A diagram of a radio wave&#10;&#10;AI-generated content may be incorrect.">
            <a:extLst>
              <a:ext uri="{FF2B5EF4-FFF2-40B4-BE49-F238E27FC236}">
                <a16:creationId xmlns:a16="http://schemas.microsoft.com/office/drawing/2014/main" id="{F281923F-726D-99C9-4436-CB834C1AB7F0}"/>
              </a:ext>
            </a:extLst>
          </p:cNvPr>
          <p:cNvPicPr>
            <a:picLocks noChangeAspect="1"/>
          </p:cNvPicPr>
          <p:nvPr/>
        </p:nvPicPr>
        <p:blipFill>
          <a:blip r:embed="rId3"/>
          <a:srcRect l="44347" b="21407"/>
          <a:stretch>
            <a:fillRect/>
          </a:stretch>
        </p:blipFill>
        <p:spPr>
          <a:xfrm>
            <a:off x="8665333" y="4072865"/>
            <a:ext cx="3237712" cy="1543843"/>
          </a:xfrm>
          <a:prstGeom prst="rect">
            <a:avLst/>
          </a:prstGeom>
        </p:spPr>
      </p:pic>
    </p:spTree>
    <p:extLst>
      <p:ext uri="{BB962C8B-B14F-4D97-AF65-F5344CB8AC3E}">
        <p14:creationId xmlns:p14="http://schemas.microsoft.com/office/powerpoint/2010/main" val="4167204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18E3-AA60-998D-7CA8-C82773695FC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6F149F4-007F-A880-B140-7B44C56DB662}"/>
              </a:ext>
            </a:extLst>
          </p:cNvPr>
          <p:cNvSpPr>
            <a:spLocks noGrp="1"/>
          </p:cNvSpPr>
          <p:nvPr>
            <p:ph type="title"/>
          </p:nvPr>
        </p:nvSpPr>
        <p:spPr/>
        <p:txBody>
          <a:bodyPr/>
          <a:lstStyle/>
          <a:p>
            <a:r>
              <a:rPr lang="ru-RU" dirty="0"/>
              <a:t>Микроволны</a:t>
            </a:r>
            <a:endParaRPr lang="en-US" dirty="0"/>
          </a:p>
        </p:txBody>
      </p:sp>
      <p:sp>
        <p:nvSpPr>
          <p:cNvPr id="6" name="Content Placeholder 5">
            <a:extLst>
              <a:ext uri="{FF2B5EF4-FFF2-40B4-BE49-F238E27FC236}">
                <a16:creationId xmlns:a16="http://schemas.microsoft.com/office/drawing/2014/main" id="{7E372BD6-9271-E60E-ABBE-734E67064841}"/>
              </a:ext>
            </a:extLst>
          </p:cNvPr>
          <p:cNvSpPr>
            <a:spLocks noGrp="1"/>
          </p:cNvSpPr>
          <p:nvPr>
            <p:ph idx="1"/>
          </p:nvPr>
        </p:nvSpPr>
        <p:spPr/>
        <p:txBody>
          <a:bodyPr>
            <a:normAutofit/>
          </a:bodyPr>
          <a:lstStyle/>
          <a:p>
            <a:r>
              <a:rPr lang="ru-RU" dirty="0"/>
              <a:t>Частоты &gt; 100 МГц → движение почти по прямой</a:t>
            </a:r>
          </a:p>
          <a:p>
            <a:r>
              <a:rPr lang="ru-RU" dirty="0"/>
              <a:t>Можно сфокусировать узкий луч (параболические антенны)</a:t>
            </a:r>
          </a:p>
          <a:p>
            <a:r>
              <a:rPr lang="ru-RU" dirty="0"/>
              <a:t>Плюсы: высокое отношение сигнал/шум, множество параллельных каналов</a:t>
            </a:r>
          </a:p>
          <a:p>
            <a:r>
              <a:rPr lang="ru-RU" dirty="0"/>
              <a:t>Минусы:</a:t>
            </a:r>
          </a:p>
          <a:p>
            <a:pPr lvl="1"/>
            <a:r>
              <a:rPr lang="ru-RU" dirty="0"/>
              <a:t>требуется точное выравнивание антенн</a:t>
            </a:r>
          </a:p>
          <a:p>
            <a:pPr lvl="1"/>
            <a:r>
              <a:rPr lang="ru-RU" dirty="0"/>
              <a:t>плохо проходят через здания</a:t>
            </a:r>
          </a:p>
          <a:p>
            <a:pPr lvl="1"/>
            <a:r>
              <a:rPr lang="ru-RU" dirty="0"/>
              <a:t>эффекты многолучевого замирания, влияние дождя</a:t>
            </a:r>
          </a:p>
        </p:txBody>
      </p:sp>
    </p:spTree>
    <p:extLst>
      <p:ext uri="{BB962C8B-B14F-4D97-AF65-F5344CB8AC3E}">
        <p14:creationId xmlns:p14="http://schemas.microsoft.com/office/powerpoint/2010/main" val="3227709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27BC41-9FE1-BCCA-4EC7-37151B83AC13}"/>
              </a:ext>
            </a:extLst>
          </p:cNvPr>
          <p:cNvSpPr>
            <a:spLocks noGrp="1"/>
          </p:cNvSpPr>
          <p:nvPr>
            <p:ph type="title"/>
          </p:nvPr>
        </p:nvSpPr>
        <p:spPr/>
        <p:txBody>
          <a:bodyPr/>
          <a:lstStyle/>
          <a:p>
            <a:r>
              <a:rPr lang="ru-RU" dirty="0"/>
              <a:t>Инфракрасная связь</a:t>
            </a:r>
            <a:endParaRPr lang="en-US" dirty="0"/>
          </a:p>
        </p:txBody>
      </p:sp>
      <p:sp>
        <p:nvSpPr>
          <p:cNvPr id="3" name="Content Placeholder 2">
            <a:extLst>
              <a:ext uri="{FF2B5EF4-FFF2-40B4-BE49-F238E27FC236}">
                <a16:creationId xmlns:a16="http://schemas.microsoft.com/office/drawing/2014/main" id="{9EE2A313-1E84-3D17-7102-E3A647C3107C}"/>
              </a:ext>
            </a:extLst>
          </p:cNvPr>
          <p:cNvSpPr>
            <a:spLocks noGrp="1"/>
          </p:cNvSpPr>
          <p:nvPr>
            <p:ph idx="1"/>
          </p:nvPr>
        </p:nvSpPr>
        <p:spPr/>
        <p:txBody>
          <a:bodyPr>
            <a:normAutofit/>
          </a:bodyPr>
          <a:lstStyle/>
          <a:p>
            <a:r>
              <a:rPr lang="ru-RU" dirty="0"/>
              <a:t>Используется на коротких расстояниях:</a:t>
            </a:r>
          </a:p>
          <a:p>
            <a:pPr lvl="1"/>
            <a:r>
              <a:rPr lang="ru-RU" dirty="0"/>
              <a:t>пульты ДУ для ТВ, аудиоаппаратуры</a:t>
            </a:r>
          </a:p>
          <a:p>
            <a:pPr lvl="1"/>
            <a:r>
              <a:rPr lang="ru-RU" dirty="0"/>
              <a:t>некоторые компьютерные интерфейсы (</a:t>
            </a:r>
            <a:r>
              <a:rPr lang="ru-RU" dirty="0" err="1"/>
              <a:t>IrDA</a:t>
            </a:r>
            <a:r>
              <a:rPr lang="ru-RU" dirty="0"/>
              <a:t>)</a:t>
            </a:r>
          </a:p>
          <a:p>
            <a:r>
              <a:rPr lang="ru-RU" dirty="0"/>
              <a:t>Достоинства:</a:t>
            </a:r>
          </a:p>
          <a:p>
            <a:pPr lvl="1"/>
            <a:r>
              <a:rPr lang="ru-RU" dirty="0"/>
              <a:t>направленность, простота и дешевизна</a:t>
            </a:r>
          </a:p>
          <a:p>
            <a:pPr lvl="1"/>
            <a:r>
              <a:rPr lang="ru-RU" dirty="0"/>
              <a:t>сигнал не проходит через стены → меньше помех, выше защита</a:t>
            </a:r>
          </a:p>
          <a:p>
            <a:r>
              <a:rPr lang="ru-RU" dirty="0"/>
              <a:t>Недостаток:</a:t>
            </a:r>
          </a:p>
          <a:p>
            <a:pPr lvl="1"/>
            <a:r>
              <a:rPr lang="ru-RU" dirty="0"/>
              <a:t>нельзя пройти через непрозрачные объекты</a:t>
            </a:r>
          </a:p>
          <a:p>
            <a:endParaRPr lang="en-US" dirty="0"/>
          </a:p>
        </p:txBody>
      </p:sp>
    </p:spTree>
    <p:extLst>
      <p:ext uri="{BB962C8B-B14F-4D97-AF65-F5344CB8AC3E}">
        <p14:creationId xmlns:p14="http://schemas.microsoft.com/office/powerpoint/2010/main" val="2945897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DCCD8-8B7D-F4AA-2C43-FCF03B6886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07092C-5F0F-5A45-AC1C-1EE686188A5E}"/>
              </a:ext>
            </a:extLst>
          </p:cNvPr>
          <p:cNvSpPr>
            <a:spLocks noGrp="1"/>
          </p:cNvSpPr>
          <p:nvPr>
            <p:ph type="title"/>
          </p:nvPr>
        </p:nvSpPr>
        <p:spPr/>
        <p:txBody>
          <a:bodyPr/>
          <a:lstStyle/>
          <a:p>
            <a:r>
              <a:rPr lang="ru-RU" dirty="0"/>
              <a:t>Видимый свет</a:t>
            </a:r>
            <a:endParaRPr lang="en-US" dirty="0"/>
          </a:p>
        </p:txBody>
      </p:sp>
      <p:sp>
        <p:nvSpPr>
          <p:cNvPr id="3" name="Content Placeholder 2">
            <a:extLst>
              <a:ext uri="{FF2B5EF4-FFF2-40B4-BE49-F238E27FC236}">
                <a16:creationId xmlns:a16="http://schemas.microsoft.com/office/drawing/2014/main" id="{267850EB-1306-5A44-BA06-36443A78B518}"/>
              </a:ext>
            </a:extLst>
          </p:cNvPr>
          <p:cNvSpPr>
            <a:spLocks noGrp="1"/>
          </p:cNvSpPr>
          <p:nvPr>
            <p:ph sz="half" idx="1"/>
          </p:nvPr>
        </p:nvSpPr>
        <p:spPr>
          <a:xfrm>
            <a:off x="838199" y="1825625"/>
            <a:ext cx="6510867" cy="4351338"/>
          </a:xfrm>
        </p:spPr>
        <p:txBody>
          <a:bodyPr>
            <a:normAutofit fontScale="92500" lnSpcReduction="10000"/>
          </a:bodyPr>
          <a:lstStyle/>
          <a:p>
            <a:r>
              <a:rPr lang="ru-RU" dirty="0"/>
              <a:t>Лазерные линии «здание ↔ здание»</a:t>
            </a:r>
          </a:p>
          <a:p>
            <a:r>
              <a:rPr lang="ru-RU" dirty="0"/>
              <a:t>Узкий луч → высокая скорость и безопасность</a:t>
            </a:r>
          </a:p>
          <a:p>
            <a:r>
              <a:rPr lang="ru-RU" dirty="0"/>
              <a:t>Не требуется лицензия (в отличие от радиодиапазонов)</a:t>
            </a:r>
          </a:p>
          <a:p>
            <a:r>
              <a:rPr lang="ru-RU" dirty="0"/>
              <a:t>Проблемы:</a:t>
            </a:r>
          </a:p>
          <a:p>
            <a:pPr lvl="1"/>
            <a:r>
              <a:rPr lang="ru-RU" dirty="0"/>
              <a:t>точное наведение</a:t>
            </a:r>
          </a:p>
          <a:p>
            <a:pPr lvl="1"/>
            <a:r>
              <a:rPr lang="ru-RU" dirty="0"/>
              <a:t>влияние погоды, тумана, конвекции воздуха</a:t>
            </a:r>
          </a:p>
          <a:p>
            <a:r>
              <a:rPr lang="ru-RU" dirty="0"/>
              <a:t>Перспективы: использование LED-дисплеев и светильников для передачи данных</a:t>
            </a:r>
          </a:p>
        </p:txBody>
      </p:sp>
      <p:pic>
        <p:nvPicPr>
          <p:cNvPr id="9" name="Content Placeholder 8" descr="A diagram of a building&#10;&#10;AI-generated content may be incorrect.">
            <a:extLst>
              <a:ext uri="{FF2B5EF4-FFF2-40B4-BE49-F238E27FC236}">
                <a16:creationId xmlns:a16="http://schemas.microsoft.com/office/drawing/2014/main" id="{FEF5C374-3D29-C9FA-14B2-7DA2E63CC296}"/>
              </a:ext>
            </a:extLst>
          </p:cNvPr>
          <p:cNvPicPr>
            <a:picLocks noGrp="1" noChangeAspect="1"/>
          </p:cNvPicPr>
          <p:nvPr>
            <p:ph sz="half" idx="2"/>
          </p:nvPr>
        </p:nvPicPr>
        <p:blipFill>
          <a:blip r:embed="rId3"/>
          <a:stretch>
            <a:fillRect/>
          </a:stretch>
        </p:blipFill>
        <p:spPr>
          <a:xfrm>
            <a:off x="7531023" y="1825625"/>
            <a:ext cx="4500109" cy="3779044"/>
          </a:xfrm>
          <a:prstGeom prst="rect">
            <a:avLst/>
          </a:prstGeom>
        </p:spPr>
      </p:pic>
    </p:spTree>
    <p:extLst>
      <p:ext uri="{BB962C8B-B14F-4D97-AF65-F5344CB8AC3E}">
        <p14:creationId xmlns:p14="http://schemas.microsoft.com/office/powerpoint/2010/main" val="30866434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1B5C36-96E1-9E6E-9491-104F955FFD66}"/>
              </a:ext>
            </a:extLst>
          </p:cNvPr>
          <p:cNvSpPr>
            <a:spLocks noGrp="1"/>
          </p:cNvSpPr>
          <p:nvPr>
            <p:ph type="title"/>
          </p:nvPr>
        </p:nvSpPr>
        <p:spPr/>
        <p:txBody>
          <a:bodyPr/>
          <a:lstStyle/>
          <a:p>
            <a:r>
              <a:rPr lang="ru-RU" dirty="0"/>
              <a:t>Передача цифровой информации в виде сигналов</a:t>
            </a:r>
            <a:endParaRPr lang="en-US" dirty="0"/>
          </a:p>
        </p:txBody>
      </p:sp>
      <p:sp>
        <p:nvSpPr>
          <p:cNvPr id="6" name="Text Placeholder 5">
            <a:extLst>
              <a:ext uri="{FF2B5EF4-FFF2-40B4-BE49-F238E27FC236}">
                <a16:creationId xmlns:a16="http://schemas.microsoft.com/office/drawing/2014/main" id="{257B60F1-0F35-3C89-4FF7-56E327E969B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229089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180BAE-8EF6-FD34-F0ED-876DA3D04E08}"/>
              </a:ext>
            </a:extLst>
          </p:cNvPr>
          <p:cNvSpPr>
            <a:spLocks noGrp="1"/>
          </p:cNvSpPr>
          <p:nvPr>
            <p:ph type="title"/>
          </p:nvPr>
        </p:nvSpPr>
        <p:spPr/>
        <p:txBody>
          <a:bodyPr/>
          <a:lstStyle/>
          <a:p>
            <a:r>
              <a:rPr lang="ru-RU" dirty="0"/>
              <a:t>Волны и биты</a:t>
            </a:r>
            <a:endParaRPr lang="en-US" dirty="0"/>
          </a:p>
        </p:txBody>
      </p:sp>
      <p:sp>
        <p:nvSpPr>
          <p:cNvPr id="5" name="Content Placeholder 4">
            <a:extLst>
              <a:ext uri="{FF2B5EF4-FFF2-40B4-BE49-F238E27FC236}">
                <a16:creationId xmlns:a16="http://schemas.microsoft.com/office/drawing/2014/main" id="{7B659BCC-D4EF-5CBC-9793-4E509AA9C037}"/>
              </a:ext>
            </a:extLst>
          </p:cNvPr>
          <p:cNvSpPr>
            <a:spLocks noGrp="1"/>
          </p:cNvSpPr>
          <p:nvPr>
            <p:ph idx="1"/>
          </p:nvPr>
        </p:nvSpPr>
        <p:spPr/>
        <p:txBody>
          <a:bodyPr/>
          <a:lstStyle/>
          <a:p>
            <a:r>
              <a:rPr lang="ru-RU" dirty="0"/>
              <a:t>Канал связи передаёт </a:t>
            </a:r>
            <a:r>
              <a:rPr lang="ru-RU" b="1" dirty="0"/>
              <a:t>аналоговый сигнал</a:t>
            </a:r>
            <a:r>
              <a:rPr lang="ru-RU" dirty="0"/>
              <a:t> (напряжение, ток, свет).</a:t>
            </a:r>
          </a:p>
          <a:p>
            <a:r>
              <a:rPr lang="ru-RU" dirty="0"/>
              <a:t>Мы хотим передать </a:t>
            </a:r>
            <a:r>
              <a:rPr lang="ru-RU" b="1" dirty="0"/>
              <a:t>цифровые данные</a:t>
            </a:r>
            <a:r>
              <a:rPr lang="ru-RU" dirty="0"/>
              <a:t> (0 и 1).</a:t>
            </a:r>
          </a:p>
          <a:p>
            <a:r>
              <a:rPr lang="ru-RU" dirty="0"/>
              <a:t>Нужно 2 шага:</a:t>
            </a:r>
          </a:p>
          <a:p>
            <a:pPr lvl="1"/>
            <a:r>
              <a:rPr lang="ru-RU" dirty="0"/>
              <a:t>понять ограничения канала (полоса частот, шумы);</a:t>
            </a:r>
          </a:p>
          <a:p>
            <a:pPr lvl="1"/>
            <a:r>
              <a:rPr lang="ru-RU" dirty="0"/>
              <a:t>закодировать биты в подходящий сигнал (модуляция).</a:t>
            </a:r>
          </a:p>
          <a:p>
            <a:r>
              <a:rPr lang="ru-RU" dirty="0"/>
              <a:t>Передача нескольких потоков одновременно по одному каналу → </a:t>
            </a:r>
            <a:r>
              <a:rPr lang="ru-RU" b="1" dirty="0"/>
              <a:t>мультиплексирование</a:t>
            </a:r>
            <a:r>
              <a:rPr lang="ru-RU" dirty="0"/>
              <a:t>.</a:t>
            </a:r>
          </a:p>
          <a:p>
            <a:endParaRPr lang="en-US" dirty="0"/>
          </a:p>
        </p:txBody>
      </p:sp>
    </p:spTree>
    <p:extLst>
      <p:ext uri="{BB962C8B-B14F-4D97-AF65-F5344CB8AC3E}">
        <p14:creationId xmlns:p14="http://schemas.microsoft.com/office/powerpoint/2010/main" val="4722945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3F1F0-6697-5DBD-1304-FAB15AEF3A14}"/>
              </a:ext>
            </a:extLst>
          </p:cNvPr>
          <p:cNvSpPr>
            <a:spLocks noGrp="1"/>
          </p:cNvSpPr>
          <p:nvPr>
            <p:ph type="title"/>
          </p:nvPr>
        </p:nvSpPr>
        <p:spPr/>
        <p:txBody>
          <a:bodyPr/>
          <a:lstStyle/>
          <a:p>
            <a:r>
              <a:rPr lang="ru-RU" dirty="0"/>
              <a:t>Полоса пропускания</a:t>
            </a:r>
            <a:endParaRPr lang="en-US" dirty="0"/>
          </a:p>
        </p:txBody>
      </p:sp>
      <p:sp>
        <p:nvSpPr>
          <p:cNvPr id="3" name="Content Placeholder 2">
            <a:extLst>
              <a:ext uri="{FF2B5EF4-FFF2-40B4-BE49-F238E27FC236}">
                <a16:creationId xmlns:a16="http://schemas.microsoft.com/office/drawing/2014/main" id="{E04E40C9-3B49-8C17-94F6-428DA858B43D}"/>
              </a:ext>
            </a:extLst>
          </p:cNvPr>
          <p:cNvSpPr>
            <a:spLocks noGrp="1"/>
          </p:cNvSpPr>
          <p:nvPr>
            <p:ph idx="1"/>
          </p:nvPr>
        </p:nvSpPr>
        <p:spPr/>
        <p:txBody>
          <a:bodyPr/>
          <a:lstStyle/>
          <a:p>
            <a:r>
              <a:rPr lang="ru-RU" dirty="0"/>
              <a:t>Канал не передаёт все частоты одинаково хорошо.</a:t>
            </a:r>
          </a:p>
          <a:p>
            <a:r>
              <a:rPr lang="ru-RU" dirty="0"/>
              <a:t>Рабочий диапазон частот = </a:t>
            </a:r>
            <a:r>
              <a:rPr lang="ru-RU" b="1" dirty="0"/>
              <a:t>полоса пропускания</a:t>
            </a:r>
            <a:r>
              <a:rPr lang="ru-RU" dirty="0"/>
              <a:t> (</a:t>
            </a:r>
            <a:r>
              <a:rPr lang="ru-RU" dirty="0" err="1"/>
              <a:t>bandwidth</a:t>
            </a:r>
            <a:r>
              <a:rPr lang="ru-RU" dirty="0"/>
              <a:t>, Гц).</a:t>
            </a:r>
          </a:p>
          <a:p>
            <a:r>
              <a:rPr lang="ru-RU" dirty="0"/>
              <a:t>Узкая полоса → плохая передача резких переходов → искажения.</a:t>
            </a:r>
          </a:p>
          <a:p>
            <a:pPr lvl="1"/>
            <a:r>
              <a:rPr lang="ru-RU" dirty="0"/>
              <a:t>Пример: телефонный канал ≈ 3000 Гц.</a:t>
            </a:r>
          </a:p>
          <a:p>
            <a:r>
              <a:rPr lang="ru-RU" dirty="0"/>
              <a:t>Прямая связь: чем шире полоса, тем больше скорость (бит/с).</a:t>
            </a:r>
          </a:p>
        </p:txBody>
      </p:sp>
    </p:spTree>
    <p:extLst>
      <p:ext uri="{BB962C8B-B14F-4D97-AF65-F5344CB8AC3E}">
        <p14:creationId xmlns:p14="http://schemas.microsoft.com/office/powerpoint/2010/main" val="25655847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12F55-0C82-3053-DD02-F8313AF0BFB8}"/>
              </a:ext>
            </a:extLst>
          </p:cNvPr>
          <p:cNvSpPr>
            <a:spLocks noGrp="1"/>
          </p:cNvSpPr>
          <p:nvPr>
            <p:ph type="title"/>
          </p:nvPr>
        </p:nvSpPr>
        <p:spPr/>
        <p:txBody>
          <a:bodyPr/>
          <a:lstStyle/>
          <a:p>
            <a:r>
              <a:rPr lang="ru-RU" dirty="0"/>
              <a:t>Теоремы Найквиста и Шеннона</a:t>
            </a:r>
            <a:endParaRPr lang="en-US" dirty="0"/>
          </a:p>
        </p:txBody>
      </p:sp>
      <p:sp>
        <p:nvSpPr>
          <p:cNvPr id="3" name="Content Placeholder 2">
            <a:extLst>
              <a:ext uri="{FF2B5EF4-FFF2-40B4-BE49-F238E27FC236}">
                <a16:creationId xmlns:a16="http://schemas.microsoft.com/office/drawing/2014/main" id="{424EB958-22B7-E949-F611-2F76940CFAF8}"/>
              </a:ext>
            </a:extLst>
          </p:cNvPr>
          <p:cNvSpPr>
            <a:spLocks noGrp="1"/>
          </p:cNvSpPr>
          <p:nvPr>
            <p:ph idx="1"/>
          </p:nvPr>
        </p:nvSpPr>
        <p:spPr/>
        <p:txBody>
          <a:bodyPr>
            <a:normAutofit fontScale="92500"/>
          </a:bodyPr>
          <a:lstStyle/>
          <a:p>
            <a:r>
              <a:rPr lang="ru-RU" b="1" dirty="0"/>
              <a:t>Теорема Найквиста (Котельникова):</a:t>
            </a:r>
            <a:r>
              <a:rPr lang="ru-RU" dirty="0"/>
              <a:t> без шумов скорость ограничена полосой:</a:t>
            </a:r>
          </a:p>
          <a:p>
            <a:pPr lvl="1"/>
            <a:r>
              <a:rPr lang="ru-RU" dirty="0"/>
              <a:t>Можно передавать лишь ограниченное число «изменений» сигнала в секунду.</a:t>
            </a:r>
          </a:p>
          <a:p>
            <a:r>
              <a:rPr lang="ru-RU" b="1" dirty="0"/>
              <a:t>Теорема Шеннона:</a:t>
            </a:r>
            <a:r>
              <a:rPr lang="ru-RU" dirty="0"/>
              <a:t> с шумом максимальная скорость зависит от:</a:t>
            </a:r>
          </a:p>
          <a:p>
            <a:pPr lvl="1"/>
            <a:r>
              <a:rPr lang="ru-RU" dirty="0"/>
              <a:t>полосы пропускания;</a:t>
            </a:r>
          </a:p>
          <a:p>
            <a:pPr lvl="1"/>
            <a:r>
              <a:rPr lang="ru-RU" dirty="0"/>
              <a:t>соотношения сигнал/шум (SNR).</a:t>
            </a:r>
          </a:p>
          <a:p>
            <a:r>
              <a:rPr lang="ru-RU" dirty="0"/>
              <a:t>Вывод: есть </a:t>
            </a:r>
            <a:r>
              <a:rPr lang="ru-RU" b="1" dirty="0"/>
              <a:t>жёсткий предел скорости</a:t>
            </a:r>
            <a:r>
              <a:rPr lang="ru-RU" dirty="0"/>
              <a:t>, который нельзя «обойти».</a:t>
            </a:r>
          </a:p>
          <a:p>
            <a:r>
              <a:rPr lang="ru-RU" dirty="0"/>
              <a:t>Пример:</a:t>
            </a:r>
          </a:p>
          <a:p>
            <a:pPr lvl="1"/>
            <a:r>
              <a:rPr lang="ru-RU" dirty="0"/>
              <a:t>Телефонный кабель даёт полосу пропускания шириной </a:t>
            </a:r>
            <a:r>
              <a:rPr lang="en-US" dirty="0"/>
              <a:t>~ 1MHz</a:t>
            </a:r>
            <a:r>
              <a:rPr lang="ru-RU" dirty="0"/>
              <a:t>, что ограничивает скорость передачи порядка 1</a:t>
            </a:r>
            <a:r>
              <a:rPr lang="en-US" dirty="0"/>
              <a:t>2-13Mbit/s</a:t>
            </a:r>
            <a:endParaRPr lang="ru-RU" dirty="0"/>
          </a:p>
          <a:p>
            <a:endParaRPr lang="en-US" dirty="0"/>
          </a:p>
        </p:txBody>
      </p:sp>
    </p:spTree>
    <p:extLst>
      <p:ext uri="{BB962C8B-B14F-4D97-AF65-F5344CB8AC3E}">
        <p14:creationId xmlns:p14="http://schemas.microsoft.com/office/powerpoint/2010/main" val="12708816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AB6D4-33B9-0EAA-111B-6DDDE6596EB6}"/>
              </a:ext>
            </a:extLst>
          </p:cNvPr>
          <p:cNvSpPr>
            <a:spLocks noGrp="1"/>
          </p:cNvSpPr>
          <p:nvPr>
            <p:ph type="title"/>
          </p:nvPr>
        </p:nvSpPr>
        <p:spPr/>
        <p:txBody>
          <a:bodyPr/>
          <a:lstStyle/>
          <a:p>
            <a:r>
              <a:rPr lang="ru-RU" dirty="0"/>
              <a:t>Виды модуляции</a:t>
            </a:r>
            <a:endParaRPr lang="en-US" dirty="0"/>
          </a:p>
        </p:txBody>
      </p:sp>
      <p:sp>
        <p:nvSpPr>
          <p:cNvPr id="3" name="Content Placeholder 2">
            <a:extLst>
              <a:ext uri="{FF2B5EF4-FFF2-40B4-BE49-F238E27FC236}">
                <a16:creationId xmlns:a16="http://schemas.microsoft.com/office/drawing/2014/main" id="{1037D285-248B-83F7-DF7A-BB6925DCD01B}"/>
              </a:ext>
            </a:extLst>
          </p:cNvPr>
          <p:cNvSpPr>
            <a:spLocks noGrp="1"/>
          </p:cNvSpPr>
          <p:nvPr>
            <p:ph idx="1"/>
          </p:nvPr>
        </p:nvSpPr>
        <p:spPr/>
        <p:txBody>
          <a:bodyPr/>
          <a:lstStyle/>
          <a:p>
            <a:r>
              <a:rPr lang="ru-RU" dirty="0"/>
              <a:t>Канал передаёт аналоговые волны → надо «вписать» в них биты.</a:t>
            </a:r>
          </a:p>
          <a:p>
            <a:r>
              <a:rPr lang="ru-RU" dirty="0"/>
              <a:t>Варианты модуляции:</a:t>
            </a:r>
            <a:br>
              <a:rPr lang="ru-RU" dirty="0"/>
            </a:br>
            <a:r>
              <a:rPr lang="ru-RU" dirty="0"/>
              <a:t>– </a:t>
            </a:r>
            <a:r>
              <a:rPr lang="ru-RU" b="1" dirty="0"/>
              <a:t>Амплитуда</a:t>
            </a:r>
            <a:r>
              <a:rPr lang="ru-RU" dirty="0"/>
              <a:t> (ASK) → меняем силу сигнала;</a:t>
            </a:r>
            <a:br>
              <a:rPr lang="ru-RU" dirty="0"/>
            </a:br>
            <a:r>
              <a:rPr lang="ru-RU" dirty="0"/>
              <a:t>– </a:t>
            </a:r>
            <a:r>
              <a:rPr lang="ru-RU" b="1" dirty="0"/>
              <a:t>Частота</a:t>
            </a:r>
            <a:r>
              <a:rPr lang="ru-RU" dirty="0"/>
              <a:t> (FSK) → используем разные «тоны»;</a:t>
            </a:r>
            <a:br>
              <a:rPr lang="ru-RU" dirty="0"/>
            </a:br>
            <a:r>
              <a:rPr lang="ru-RU" dirty="0"/>
              <a:t>– </a:t>
            </a:r>
            <a:r>
              <a:rPr lang="ru-RU" b="1" dirty="0"/>
              <a:t>Фаза</a:t>
            </a:r>
            <a:r>
              <a:rPr lang="ru-RU" dirty="0"/>
              <a:t> (PSK) → меняем сдвиг волны;</a:t>
            </a:r>
            <a:br>
              <a:rPr lang="ru-RU" dirty="0"/>
            </a:br>
            <a:r>
              <a:rPr lang="ru-RU" dirty="0"/>
              <a:t>– </a:t>
            </a:r>
            <a:r>
              <a:rPr lang="ru-RU" b="1" dirty="0"/>
              <a:t>Комбинация</a:t>
            </a:r>
            <a:r>
              <a:rPr lang="ru-RU" dirty="0"/>
              <a:t> </a:t>
            </a:r>
            <a:r>
              <a:rPr lang="ru-RU" dirty="0" err="1"/>
              <a:t>амплитуды+фазы</a:t>
            </a:r>
            <a:r>
              <a:rPr lang="ru-RU" dirty="0"/>
              <a:t> → QAM (16QAM, 64QAM…).</a:t>
            </a:r>
          </a:p>
          <a:p>
            <a:r>
              <a:rPr lang="ru-RU" dirty="0"/>
              <a:t>Выигрыш: за один символ можно передать </a:t>
            </a:r>
            <a:r>
              <a:rPr lang="ru-RU" b="1" dirty="0"/>
              <a:t>несколько бит</a:t>
            </a:r>
            <a:r>
              <a:rPr lang="ru-RU" dirty="0"/>
              <a:t>.</a:t>
            </a:r>
          </a:p>
        </p:txBody>
      </p:sp>
    </p:spTree>
    <p:extLst>
      <p:ext uri="{BB962C8B-B14F-4D97-AF65-F5344CB8AC3E}">
        <p14:creationId xmlns:p14="http://schemas.microsoft.com/office/powerpoint/2010/main" val="20861528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C849B-2B3F-32F4-3D36-EDDBEE8D0CC5}"/>
              </a:ext>
            </a:extLst>
          </p:cNvPr>
          <p:cNvSpPr>
            <a:spLocks noGrp="1"/>
          </p:cNvSpPr>
          <p:nvPr>
            <p:ph type="title"/>
          </p:nvPr>
        </p:nvSpPr>
        <p:spPr/>
        <p:txBody>
          <a:bodyPr/>
          <a:lstStyle/>
          <a:p>
            <a:r>
              <a:rPr lang="ru-RU" dirty="0"/>
              <a:t>Линейные коды</a:t>
            </a:r>
            <a:endParaRPr lang="en-US" dirty="0"/>
          </a:p>
        </p:txBody>
      </p:sp>
      <p:sp>
        <p:nvSpPr>
          <p:cNvPr id="3" name="Content Placeholder 2">
            <a:extLst>
              <a:ext uri="{FF2B5EF4-FFF2-40B4-BE49-F238E27FC236}">
                <a16:creationId xmlns:a16="http://schemas.microsoft.com/office/drawing/2014/main" id="{AF27B0E1-1140-3509-86A2-DE608B54FC1D}"/>
              </a:ext>
            </a:extLst>
          </p:cNvPr>
          <p:cNvSpPr>
            <a:spLocks noGrp="1"/>
          </p:cNvSpPr>
          <p:nvPr>
            <p:ph sz="half" idx="1"/>
          </p:nvPr>
        </p:nvSpPr>
        <p:spPr>
          <a:xfrm>
            <a:off x="838199" y="1825625"/>
            <a:ext cx="5731933" cy="4351338"/>
          </a:xfrm>
        </p:spPr>
        <p:txBody>
          <a:bodyPr>
            <a:normAutofit fontScale="92500"/>
          </a:bodyPr>
          <a:lstStyle/>
          <a:p>
            <a:r>
              <a:rPr lang="ru-RU" dirty="0"/>
              <a:t>Простейший код NRZ → проблемы:</a:t>
            </a:r>
          </a:p>
          <a:p>
            <a:pPr lvl="1"/>
            <a:r>
              <a:rPr lang="ru-RU" dirty="0"/>
              <a:t>длинные цепочки 0/1 ведут к потере синхронизации;</a:t>
            </a:r>
          </a:p>
          <a:p>
            <a:pPr lvl="1"/>
            <a:r>
              <a:rPr lang="ru-RU" dirty="0"/>
              <a:t>смещение среднего уровня сигнала.</a:t>
            </a:r>
          </a:p>
          <a:p>
            <a:r>
              <a:rPr lang="ru-RU" dirty="0"/>
              <a:t>Решения:</a:t>
            </a:r>
          </a:p>
          <a:p>
            <a:pPr lvl="1"/>
            <a:r>
              <a:rPr lang="ru-RU" b="1" dirty="0"/>
              <a:t>NRZI</a:t>
            </a:r>
            <a:r>
              <a:rPr lang="ru-RU" dirty="0"/>
              <a:t> (меняем уровень при «1»);</a:t>
            </a:r>
          </a:p>
          <a:p>
            <a:pPr lvl="1"/>
            <a:r>
              <a:rPr lang="ru-RU" b="1" dirty="0"/>
              <a:t>Манчестерский код</a:t>
            </a:r>
            <a:r>
              <a:rPr lang="ru-RU" dirty="0"/>
              <a:t> (тактовый переход в каждом бите);</a:t>
            </a:r>
          </a:p>
          <a:p>
            <a:pPr lvl="1"/>
            <a:r>
              <a:rPr lang="ru-RU" dirty="0"/>
              <a:t>Коды с гарантированными переходами: </a:t>
            </a:r>
            <a:r>
              <a:rPr lang="ru-RU" b="1" dirty="0"/>
              <a:t>4B/5B</a:t>
            </a:r>
            <a:r>
              <a:rPr lang="ru-RU" dirty="0"/>
              <a:t>, </a:t>
            </a:r>
            <a:r>
              <a:rPr lang="ru-RU" b="1" dirty="0"/>
              <a:t>8B/10B</a:t>
            </a:r>
            <a:r>
              <a:rPr lang="ru-RU" dirty="0"/>
              <a:t>;</a:t>
            </a:r>
          </a:p>
          <a:p>
            <a:pPr lvl="1"/>
            <a:r>
              <a:rPr lang="ru-RU" b="1" dirty="0"/>
              <a:t>Скремблирование</a:t>
            </a:r>
            <a:r>
              <a:rPr lang="ru-RU" dirty="0"/>
              <a:t> — делаем данные «псевдослучайными».</a:t>
            </a:r>
          </a:p>
          <a:p>
            <a:endParaRPr lang="en-US" dirty="0"/>
          </a:p>
        </p:txBody>
      </p:sp>
      <p:pic>
        <p:nvPicPr>
          <p:cNvPr id="6" name="Content Placeholder 5" descr="A black and white diagram with white text&#10;&#10;AI-generated content may be incorrect.">
            <a:extLst>
              <a:ext uri="{FF2B5EF4-FFF2-40B4-BE49-F238E27FC236}">
                <a16:creationId xmlns:a16="http://schemas.microsoft.com/office/drawing/2014/main" id="{D138147F-66BA-5849-BB3D-DD6DD95F9224}"/>
              </a:ext>
            </a:extLst>
          </p:cNvPr>
          <p:cNvPicPr>
            <a:picLocks noGrp="1" noChangeAspect="1"/>
          </p:cNvPicPr>
          <p:nvPr>
            <p:ph sz="half" idx="2"/>
          </p:nvPr>
        </p:nvPicPr>
        <p:blipFill>
          <a:blip r:embed="rId3"/>
          <a:stretch>
            <a:fillRect/>
          </a:stretch>
        </p:blipFill>
        <p:spPr>
          <a:xfrm>
            <a:off x="6747934" y="1685688"/>
            <a:ext cx="5181600" cy="3486623"/>
          </a:xfrm>
          <a:prstGeom prst="rect">
            <a:avLst/>
          </a:prstGeom>
        </p:spPr>
      </p:pic>
    </p:spTree>
    <p:extLst>
      <p:ext uri="{BB962C8B-B14F-4D97-AF65-F5344CB8AC3E}">
        <p14:creationId xmlns:p14="http://schemas.microsoft.com/office/powerpoint/2010/main" val="12899009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21E94D2-2BB4-E4F7-765B-2FEE8899807F}"/>
              </a:ext>
            </a:extLst>
          </p:cNvPr>
          <p:cNvSpPr>
            <a:spLocks noGrp="1"/>
          </p:cNvSpPr>
          <p:nvPr>
            <p:ph type="title"/>
          </p:nvPr>
        </p:nvSpPr>
        <p:spPr/>
        <p:txBody>
          <a:bodyPr/>
          <a:lstStyle/>
          <a:p>
            <a:r>
              <a:rPr lang="ru-RU" dirty="0"/>
              <a:t>4</a:t>
            </a:r>
            <a:r>
              <a:rPr lang="en-US" dirty="0"/>
              <a:t>B/5B</a:t>
            </a:r>
            <a:r>
              <a:rPr lang="ru-RU" dirty="0"/>
              <a:t> - кодирование</a:t>
            </a:r>
            <a:endParaRPr lang="en-US" dirty="0"/>
          </a:p>
        </p:txBody>
      </p:sp>
      <p:pic>
        <p:nvPicPr>
          <p:cNvPr id="8" name="Content Placeholder 7" descr="A table with numbers and symbols&#10;&#10;AI-generated content may be incorrect.">
            <a:extLst>
              <a:ext uri="{FF2B5EF4-FFF2-40B4-BE49-F238E27FC236}">
                <a16:creationId xmlns:a16="http://schemas.microsoft.com/office/drawing/2014/main" id="{DE7F3A25-574D-269F-B3E5-F6D38F24C065}"/>
              </a:ext>
            </a:extLst>
          </p:cNvPr>
          <p:cNvPicPr>
            <a:picLocks noGrp="1" noChangeAspect="1"/>
          </p:cNvPicPr>
          <p:nvPr>
            <p:ph idx="1"/>
          </p:nvPr>
        </p:nvPicPr>
        <p:blipFill>
          <a:blip r:embed="rId3"/>
          <a:stretch>
            <a:fillRect/>
          </a:stretch>
        </p:blipFill>
        <p:spPr>
          <a:xfrm>
            <a:off x="2385494" y="2115081"/>
            <a:ext cx="7421011" cy="3772426"/>
          </a:xfrm>
          <a:prstGeom prst="rect">
            <a:avLst/>
          </a:prstGeom>
        </p:spPr>
      </p:pic>
    </p:spTree>
    <p:extLst>
      <p:ext uri="{BB962C8B-B14F-4D97-AF65-F5344CB8AC3E}">
        <p14:creationId xmlns:p14="http://schemas.microsoft.com/office/powerpoint/2010/main" val="15683107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6938D-47FE-B649-7986-E977ABD2BE01}"/>
              </a:ext>
            </a:extLst>
          </p:cNvPr>
          <p:cNvSpPr>
            <a:spLocks noGrp="1"/>
          </p:cNvSpPr>
          <p:nvPr>
            <p:ph type="title"/>
          </p:nvPr>
        </p:nvSpPr>
        <p:spPr/>
        <p:txBody>
          <a:bodyPr>
            <a:normAutofit/>
          </a:bodyPr>
          <a:lstStyle/>
          <a:p>
            <a:r>
              <a:rPr lang="ru-RU" dirty="0"/>
              <a:t>Мультиплексирование: несколько потоков по одному каналу</a:t>
            </a:r>
            <a:endParaRPr lang="en-US" dirty="0"/>
          </a:p>
        </p:txBody>
      </p:sp>
      <p:sp>
        <p:nvSpPr>
          <p:cNvPr id="3" name="Content Placeholder 2">
            <a:extLst>
              <a:ext uri="{FF2B5EF4-FFF2-40B4-BE49-F238E27FC236}">
                <a16:creationId xmlns:a16="http://schemas.microsoft.com/office/drawing/2014/main" id="{3F5B234C-B919-8DE8-24C8-DFF7B6B20653}"/>
              </a:ext>
            </a:extLst>
          </p:cNvPr>
          <p:cNvSpPr>
            <a:spLocks noGrp="1"/>
          </p:cNvSpPr>
          <p:nvPr>
            <p:ph idx="1"/>
          </p:nvPr>
        </p:nvSpPr>
        <p:spPr/>
        <p:txBody>
          <a:bodyPr/>
          <a:lstStyle/>
          <a:p>
            <a:r>
              <a:rPr lang="ru-RU" dirty="0"/>
              <a:t>Задача: разделить один физический канал для </a:t>
            </a:r>
            <a:r>
              <a:rPr lang="ru-RU" b="1" dirty="0"/>
              <a:t>нескольких передач одновременно</a:t>
            </a:r>
            <a:r>
              <a:rPr lang="ru-RU" dirty="0"/>
              <a:t>.</a:t>
            </a:r>
          </a:p>
          <a:p>
            <a:r>
              <a:rPr lang="ru-RU" dirty="0"/>
              <a:t>Основные способы:</a:t>
            </a:r>
          </a:p>
          <a:p>
            <a:pPr lvl="1"/>
            <a:r>
              <a:rPr lang="ru-RU" b="1" dirty="0">
                <a:hlinkClick r:id="rId3"/>
              </a:rPr>
              <a:t>FDM</a:t>
            </a:r>
            <a:r>
              <a:rPr lang="ru-RU" dirty="0"/>
              <a:t> (</a:t>
            </a:r>
            <a:r>
              <a:rPr lang="en-US" dirty="0"/>
              <a:t>Frequency-division multiplexing</a:t>
            </a:r>
            <a:r>
              <a:rPr lang="ru-RU" dirty="0"/>
              <a:t>) — делим спектр на частоты (как радио-станции).</a:t>
            </a:r>
          </a:p>
          <a:p>
            <a:pPr lvl="1"/>
            <a:r>
              <a:rPr lang="ru-RU" b="1" dirty="0">
                <a:hlinkClick r:id="rId4"/>
              </a:rPr>
              <a:t>TDM</a:t>
            </a:r>
            <a:r>
              <a:rPr lang="ru-RU" dirty="0"/>
              <a:t> </a:t>
            </a:r>
            <a:r>
              <a:rPr lang="en-US" dirty="0"/>
              <a:t>(Time-division multiplexing) </a:t>
            </a:r>
            <a:r>
              <a:rPr lang="ru-RU" dirty="0"/>
              <a:t>— делим канал по времени (как очереди).</a:t>
            </a:r>
          </a:p>
          <a:p>
            <a:pPr lvl="1"/>
            <a:r>
              <a:rPr lang="ru-RU" b="1" dirty="0">
                <a:hlinkClick r:id="rId5"/>
              </a:rPr>
              <a:t>CDMA</a:t>
            </a:r>
            <a:r>
              <a:rPr lang="ru-RU" dirty="0"/>
              <a:t> </a:t>
            </a:r>
            <a:r>
              <a:rPr lang="en-US" dirty="0"/>
              <a:t>(Code Division-division multiple access) </a:t>
            </a:r>
            <a:r>
              <a:rPr lang="ru-RU" dirty="0"/>
              <a:t>— разные коды → станций много, спектр один.</a:t>
            </a:r>
          </a:p>
          <a:p>
            <a:pPr lvl="1"/>
            <a:r>
              <a:rPr lang="ru-RU" b="1" dirty="0">
                <a:hlinkClick r:id="rId6"/>
              </a:rPr>
              <a:t>WDM</a:t>
            </a:r>
            <a:r>
              <a:rPr lang="ru-RU" dirty="0"/>
              <a:t> </a:t>
            </a:r>
            <a:r>
              <a:rPr lang="en-US" dirty="0"/>
              <a:t>(Wavelength-division multiplexing) </a:t>
            </a:r>
            <a:r>
              <a:rPr lang="ru-RU" dirty="0"/>
              <a:t>— оптическая версия FDM (каждая длина волны = канал).</a:t>
            </a:r>
          </a:p>
          <a:p>
            <a:endParaRPr lang="en-US" dirty="0"/>
          </a:p>
        </p:txBody>
      </p:sp>
    </p:spTree>
    <p:extLst>
      <p:ext uri="{BB962C8B-B14F-4D97-AF65-F5344CB8AC3E}">
        <p14:creationId xmlns:p14="http://schemas.microsoft.com/office/powerpoint/2010/main" val="14998754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7A968-AC6D-E25C-65A1-AF5AEB888DCE}"/>
              </a:ext>
            </a:extLst>
          </p:cNvPr>
          <p:cNvSpPr>
            <a:spLocks noGrp="1"/>
          </p:cNvSpPr>
          <p:nvPr>
            <p:ph type="title"/>
          </p:nvPr>
        </p:nvSpPr>
        <p:spPr>
          <a:xfrm>
            <a:off x="838200" y="365125"/>
            <a:ext cx="10515600" cy="1325563"/>
          </a:xfrm>
        </p:spPr>
        <p:txBody>
          <a:bodyPr/>
          <a:lstStyle/>
          <a:p>
            <a:r>
              <a:rPr lang="ru-RU" dirty="0"/>
              <a:t>Физический уровень - итоги</a:t>
            </a:r>
            <a:endParaRPr lang="en-US" dirty="0"/>
          </a:p>
        </p:txBody>
      </p:sp>
      <p:sp>
        <p:nvSpPr>
          <p:cNvPr id="6" name="Content Placeholder 5">
            <a:extLst>
              <a:ext uri="{FF2B5EF4-FFF2-40B4-BE49-F238E27FC236}">
                <a16:creationId xmlns:a16="http://schemas.microsoft.com/office/drawing/2014/main" id="{FC179E39-B6FD-F8C6-903E-52821FC38FDB}"/>
              </a:ext>
            </a:extLst>
          </p:cNvPr>
          <p:cNvSpPr>
            <a:spLocks noGrp="1"/>
          </p:cNvSpPr>
          <p:nvPr>
            <p:ph idx="1"/>
          </p:nvPr>
        </p:nvSpPr>
        <p:spPr/>
        <p:txBody>
          <a:bodyPr>
            <a:normAutofit fontScale="70000" lnSpcReduction="20000"/>
          </a:bodyPr>
          <a:lstStyle/>
          <a:p>
            <a:r>
              <a:rPr lang="ru-RU" b="1" dirty="0"/>
              <a:t>Фундамент сети:</a:t>
            </a:r>
            <a:r>
              <a:rPr lang="ru-RU" dirty="0"/>
              <a:t> передача битов через аналоговые сигналы.</a:t>
            </a:r>
          </a:p>
          <a:p>
            <a:r>
              <a:rPr lang="ru-RU" b="1" dirty="0"/>
              <a:t>Два главных ограничения:</a:t>
            </a:r>
          </a:p>
          <a:p>
            <a:pPr lvl="1"/>
            <a:r>
              <a:rPr lang="ru-RU" i="1" dirty="0"/>
              <a:t>Предел Найквиста</a:t>
            </a:r>
            <a:r>
              <a:rPr lang="ru-RU" dirty="0"/>
              <a:t> (идеальный канал, ограниченная полоса);</a:t>
            </a:r>
          </a:p>
          <a:p>
            <a:pPr lvl="1"/>
            <a:r>
              <a:rPr lang="ru-RU" i="1" dirty="0"/>
              <a:t>Предел Шеннона</a:t>
            </a:r>
            <a:r>
              <a:rPr lang="ru-RU" dirty="0"/>
              <a:t> (шум, SNR).</a:t>
            </a:r>
          </a:p>
          <a:p>
            <a:r>
              <a:rPr lang="ru-RU" b="1" dirty="0"/>
              <a:t>Среды передачи:</a:t>
            </a:r>
          </a:p>
          <a:p>
            <a:pPr lvl="1"/>
            <a:r>
              <a:rPr lang="ru-RU" dirty="0"/>
              <a:t>проводные: витая пара, коаксиал, оптоволокно;</a:t>
            </a:r>
          </a:p>
          <a:p>
            <a:pPr lvl="1"/>
            <a:r>
              <a:rPr lang="ru-RU" dirty="0"/>
              <a:t>беспроводные: радио, микроволны, ИК, лазеры, спутники.</a:t>
            </a:r>
          </a:p>
          <a:p>
            <a:r>
              <a:rPr lang="ru-RU" b="1" dirty="0"/>
              <a:t>Цифровая модуляция:</a:t>
            </a:r>
          </a:p>
          <a:p>
            <a:pPr lvl="1"/>
            <a:r>
              <a:rPr lang="ru-RU" dirty="0"/>
              <a:t>базовая полоса: NRZ, NRZI, Манчестер, 4B/5B, 8B/10B;</a:t>
            </a:r>
          </a:p>
          <a:p>
            <a:pPr lvl="1"/>
            <a:r>
              <a:rPr lang="ru-RU" dirty="0"/>
              <a:t>полосовая передача: ASK, FSK, PSK, QAM.</a:t>
            </a:r>
          </a:p>
          <a:p>
            <a:r>
              <a:rPr lang="ru-RU" b="1" dirty="0"/>
              <a:t>Мультиплексирование:</a:t>
            </a:r>
          </a:p>
          <a:p>
            <a:pPr lvl="1"/>
            <a:r>
              <a:rPr lang="ru-RU" dirty="0"/>
              <a:t>по времени (TDM), по частоте (FDM/OFDM), по коду (CDMA); </a:t>
            </a:r>
          </a:p>
          <a:p>
            <a:pPr lvl="1"/>
            <a:r>
              <a:rPr lang="ru-RU" dirty="0"/>
              <a:t>в оптоволокне: WDM/DWDM.</a:t>
            </a:r>
          </a:p>
          <a:p>
            <a:r>
              <a:rPr lang="ru-RU" b="1" dirty="0"/>
              <a:t>Регулирование:</a:t>
            </a:r>
            <a:r>
              <a:rPr lang="ru-RU" dirty="0"/>
              <a:t> стандарты и частоты контролируются регуляторами; растёт спрос на эффективное использование спектра.</a:t>
            </a:r>
          </a:p>
          <a:p>
            <a:endParaRPr lang="en-US" dirty="0"/>
          </a:p>
        </p:txBody>
      </p:sp>
    </p:spTree>
    <p:extLst>
      <p:ext uri="{BB962C8B-B14F-4D97-AF65-F5344CB8AC3E}">
        <p14:creationId xmlns:p14="http://schemas.microsoft.com/office/powerpoint/2010/main" val="23739984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DFF755-4A87-65DF-6836-AE926CA65562}"/>
              </a:ext>
            </a:extLst>
          </p:cNvPr>
          <p:cNvSpPr>
            <a:spLocks noGrp="1"/>
          </p:cNvSpPr>
          <p:nvPr>
            <p:ph type="title"/>
          </p:nvPr>
        </p:nvSpPr>
        <p:spPr/>
        <p:txBody>
          <a:bodyPr/>
          <a:lstStyle/>
          <a:p>
            <a:r>
              <a:rPr lang="ru-RU" dirty="0"/>
              <a:t>Канальный уровень</a:t>
            </a:r>
            <a:endParaRPr lang="en-US" dirty="0"/>
          </a:p>
        </p:txBody>
      </p:sp>
      <p:sp>
        <p:nvSpPr>
          <p:cNvPr id="5" name="Text Placeholder 4">
            <a:extLst>
              <a:ext uri="{FF2B5EF4-FFF2-40B4-BE49-F238E27FC236}">
                <a16:creationId xmlns:a16="http://schemas.microsoft.com/office/drawing/2014/main" id="{FFBD3D06-2228-2511-7373-49F0F02F2FD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469062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811D0F-D81C-891A-DDBC-863F4CD02CF5}"/>
              </a:ext>
            </a:extLst>
          </p:cNvPr>
          <p:cNvSpPr>
            <a:spLocks noGrp="1"/>
          </p:cNvSpPr>
          <p:nvPr>
            <p:ph type="title"/>
          </p:nvPr>
        </p:nvSpPr>
        <p:spPr/>
        <p:txBody>
          <a:bodyPr/>
          <a:lstStyle/>
          <a:p>
            <a:r>
              <a:rPr lang="ru-RU" dirty="0"/>
              <a:t>Основные функции канального уровня</a:t>
            </a:r>
            <a:endParaRPr lang="en-US" dirty="0"/>
          </a:p>
        </p:txBody>
      </p:sp>
      <p:sp>
        <p:nvSpPr>
          <p:cNvPr id="5" name="Content Placeholder 4">
            <a:extLst>
              <a:ext uri="{FF2B5EF4-FFF2-40B4-BE49-F238E27FC236}">
                <a16:creationId xmlns:a16="http://schemas.microsoft.com/office/drawing/2014/main" id="{862D0C2E-E79F-2CBC-662E-0125006EA6B5}"/>
              </a:ext>
            </a:extLst>
          </p:cNvPr>
          <p:cNvSpPr>
            <a:spLocks noGrp="1"/>
          </p:cNvSpPr>
          <p:nvPr>
            <p:ph idx="1"/>
          </p:nvPr>
        </p:nvSpPr>
        <p:spPr/>
        <p:txBody>
          <a:bodyPr/>
          <a:lstStyle/>
          <a:p>
            <a:r>
              <a:rPr lang="ru-RU" dirty="0"/>
              <a:t>Передача </a:t>
            </a:r>
            <a:r>
              <a:rPr lang="ru-RU" b="1" dirty="0"/>
              <a:t>фреймов</a:t>
            </a:r>
            <a:r>
              <a:rPr lang="ru-RU" dirty="0"/>
              <a:t> поверх ненадёжного физического канала.</a:t>
            </a:r>
          </a:p>
          <a:p>
            <a:r>
              <a:rPr lang="ru-RU" dirty="0"/>
              <a:t>Сохранение порядка битов и целостности данных.</a:t>
            </a:r>
          </a:p>
          <a:p>
            <a:r>
              <a:rPr lang="ru-RU" dirty="0"/>
              <a:t>Обнаружение и обработка ошибок.</a:t>
            </a:r>
          </a:p>
          <a:p>
            <a:r>
              <a:rPr lang="ru-RU" dirty="0"/>
              <a:t>Управление потоком между отправителем и приёмником.</a:t>
            </a:r>
          </a:p>
          <a:p>
            <a:r>
              <a:rPr lang="ru-RU" dirty="0"/>
              <a:t>Предоставление сервисов для сетевого уровня.</a:t>
            </a:r>
          </a:p>
          <a:p>
            <a:endParaRPr lang="en-US" dirty="0"/>
          </a:p>
        </p:txBody>
      </p:sp>
    </p:spTree>
    <p:extLst>
      <p:ext uri="{BB962C8B-B14F-4D97-AF65-F5344CB8AC3E}">
        <p14:creationId xmlns:p14="http://schemas.microsoft.com/office/powerpoint/2010/main" val="23627276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6947A-E096-32D5-547C-187BA76ACE46}"/>
              </a:ext>
            </a:extLst>
          </p:cNvPr>
          <p:cNvSpPr>
            <a:spLocks noGrp="1"/>
          </p:cNvSpPr>
          <p:nvPr>
            <p:ph type="title"/>
          </p:nvPr>
        </p:nvSpPr>
        <p:spPr/>
        <p:txBody>
          <a:bodyPr/>
          <a:lstStyle/>
          <a:p>
            <a:r>
              <a:rPr lang="ru-RU" dirty="0"/>
              <a:t>Фрейм</a:t>
            </a:r>
            <a:endParaRPr lang="en-US" dirty="0"/>
          </a:p>
        </p:txBody>
      </p:sp>
      <p:sp>
        <p:nvSpPr>
          <p:cNvPr id="3" name="Content Placeholder 2">
            <a:extLst>
              <a:ext uri="{FF2B5EF4-FFF2-40B4-BE49-F238E27FC236}">
                <a16:creationId xmlns:a16="http://schemas.microsoft.com/office/drawing/2014/main" id="{8969CB51-1F75-7D6B-B817-06A0B53FA930}"/>
              </a:ext>
            </a:extLst>
          </p:cNvPr>
          <p:cNvSpPr>
            <a:spLocks noGrp="1"/>
          </p:cNvSpPr>
          <p:nvPr>
            <p:ph sz="half" idx="1"/>
          </p:nvPr>
        </p:nvSpPr>
        <p:spPr>
          <a:xfrm>
            <a:off x="838200" y="1825625"/>
            <a:ext cx="6299200" cy="4351338"/>
          </a:xfrm>
        </p:spPr>
        <p:txBody>
          <a:bodyPr>
            <a:normAutofit fontScale="92500" lnSpcReduction="10000"/>
          </a:bodyPr>
          <a:lstStyle/>
          <a:p>
            <a:r>
              <a:rPr lang="ru-RU" b="1" dirty="0"/>
              <a:t>Структура фрейма:</a:t>
            </a:r>
            <a:endParaRPr lang="ru-RU" dirty="0"/>
          </a:p>
          <a:p>
            <a:pPr lvl="1"/>
            <a:r>
              <a:rPr lang="ru-RU" b="1" dirty="0" err="1"/>
              <a:t>Header</a:t>
            </a:r>
            <a:r>
              <a:rPr lang="ru-RU" dirty="0"/>
              <a:t> — служебные данные: адреса, номера фреймов, тип.</a:t>
            </a:r>
          </a:p>
          <a:p>
            <a:pPr lvl="1"/>
            <a:r>
              <a:rPr lang="ru-RU" b="1" dirty="0" err="1"/>
              <a:t>Payload</a:t>
            </a:r>
            <a:r>
              <a:rPr lang="ru-RU" dirty="0"/>
              <a:t> — полезная нагрузка, переданная с сетевого уровня.</a:t>
            </a:r>
          </a:p>
          <a:p>
            <a:pPr lvl="1"/>
            <a:r>
              <a:rPr lang="ru-RU" b="1" dirty="0" err="1"/>
              <a:t>Trailer</a:t>
            </a:r>
            <a:r>
              <a:rPr lang="ru-RU" dirty="0"/>
              <a:t> — механизм контроля ошибок (например, CRC).</a:t>
            </a:r>
          </a:p>
          <a:p>
            <a:r>
              <a:rPr lang="ru-RU" b="1" dirty="0"/>
              <a:t>Назначение фрейма:</a:t>
            </a:r>
            <a:endParaRPr lang="ru-RU" dirty="0"/>
          </a:p>
          <a:p>
            <a:pPr lvl="1"/>
            <a:r>
              <a:rPr lang="ru-RU" dirty="0"/>
              <a:t>Чёткое «упаковывание» данных для передачи по каналу.</a:t>
            </a:r>
          </a:p>
          <a:p>
            <a:pPr lvl="1"/>
            <a:r>
              <a:rPr lang="ru-RU" dirty="0"/>
              <a:t>Возможность проверки целостности и повторной передачи.</a:t>
            </a:r>
          </a:p>
          <a:p>
            <a:pPr lvl="1"/>
            <a:r>
              <a:rPr lang="ru-RU" dirty="0"/>
              <a:t>Упрощённая обработка на приёмнике.</a:t>
            </a:r>
          </a:p>
          <a:p>
            <a:endParaRPr lang="en-US" dirty="0"/>
          </a:p>
        </p:txBody>
      </p:sp>
      <p:pic>
        <p:nvPicPr>
          <p:cNvPr id="6" name="Content Placeholder 5" descr="A diagram of a diagram&#10;&#10;AI-generated content may be incorrect.">
            <a:extLst>
              <a:ext uri="{FF2B5EF4-FFF2-40B4-BE49-F238E27FC236}">
                <a16:creationId xmlns:a16="http://schemas.microsoft.com/office/drawing/2014/main" id="{16F261BB-C195-B0E0-565F-1A5ACB084D67}"/>
              </a:ext>
            </a:extLst>
          </p:cNvPr>
          <p:cNvPicPr>
            <a:picLocks noGrp="1" noChangeAspect="1"/>
          </p:cNvPicPr>
          <p:nvPr>
            <p:ph sz="half" idx="2"/>
          </p:nvPr>
        </p:nvPicPr>
        <p:blipFill>
          <a:blip r:embed="rId3"/>
          <a:stretch>
            <a:fillRect/>
          </a:stretch>
        </p:blipFill>
        <p:spPr>
          <a:xfrm>
            <a:off x="7340600" y="1690688"/>
            <a:ext cx="4216400" cy="1660697"/>
          </a:xfrm>
          <a:prstGeom prst="rect">
            <a:avLst/>
          </a:prstGeom>
        </p:spPr>
      </p:pic>
    </p:spTree>
    <p:extLst>
      <p:ext uri="{BB962C8B-B14F-4D97-AF65-F5344CB8AC3E}">
        <p14:creationId xmlns:p14="http://schemas.microsoft.com/office/powerpoint/2010/main" val="26622383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95B39B-C7D4-63DA-4FBC-85A3CF9109FC}"/>
              </a:ext>
            </a:extLst>
          </p:cNvPr>
          <p:cNvSpPr>
            <a:spLocks noGrp="1"/>
          </p:cNvSpPr>
          <p:nvPr>
            <p:ph type="title"/>
          </p:nvPr>
        </p:nvSpPr>
        <p:spPr/>
        <p:txBody>
          <a:bodyPr>
            <a:normAutofit/>
          </a:bodyPr>
          <a:lstStyle/>
          <a:p>
            <a:r>
              <a:rPr lang="ru-RU" dirty="0"/>
              <a:t>Сервисы канального уровня</a:t>
            </a:r>
            <a:endParaRPr lang="en-US" dirty="0"/>
          </a:p>
        </p:txBody>
      </p:sp>
      <p:sp>
        <p:nvSpPr>
          <p:cNvPr id="5" name="Content Placeholder 4">
            <a:extLst>
              <a:ext uri="{FF2B5EF4-FFF2-40B4-BE49-F238E27FC236}">
                <a16:creationId xmlns:a16="http://schemas.microsoft.com/office/drawing/2014/main" id="{DB71559B-2B27-EBF3-C507-F2A80A5C3BC9}"/>
              </a:ext>
            </a:extLst>
          </p:cNvPr>
          <p:cNvSpPr>
            <a:spLocks noGrp="1"/>
          </p:cNvSpPr>
          <p:nvPr>
            <p:ph idx="1"/>
          </p:nvPr>
        </p:nvSpPr>
        <p:spPr/>
        <p:txBody>
          <a:bodyPr>
            <a:normAutofit fontScale="85000" lnSpcReduction="10000"/>
          </a:bodyPr>
          <a:lstStyle/>
          <a:p>
            <a:r>
              <a:rPr lang="ru-RU" b="1" dirty="0"/>
              <a:t>1. Без подтверждений (</a:t>
            </a:r>
            <a:r>
              <a:rPr lang="ru-RU" b="1" dirty="0" err="1"/>
              <a:t>Unacknowledged</a:t>
            </a:r>
            <a:r>
              <a:rPr lang="ru-RU" b="1" dirty="0"/>
              <a:t>, </a:t>
            </a:r>
            <a:r>
              <a:rPr lang="ru-RU" b="1" dirty="0" err="1"/>
              <a:t>connectionless</a:t>
            </a:r>
            <a:r>
              <a:rPr lang="ru-RU" b="1" dirty="0"/>
              <a:t>)</a:t>
            </a:r>
            <a:endParaRPr lang="ru-RU" dirty="0"/>
          </a:p>
          <a:p>
            <a:pPr lvl="1"/>
            <a:r>
              <a:rPr lang="ru-RU" dirty="0"/>
              <a:t>Отправитель просто посылает фреймы.</a:t>
            </a:r>
          </a:p>
          <a:p>
            <a:pPr lvl="1"/>
            <a:r>
              <a:rPr lang="ru-RU" dirty="0"/>
              <a:t>Ошибки не исправляются.</a:t>
            </a:r>
          </a:p>
          <a:p>
            <a:pPr lvl="1"/>
            <a:r>
              <a:rPr lang="ru-RU" dirty="0"/>
              <a:t>Пример: </a:t>
            </a:r>
            <a:r>
              <a:rPr lang="ru-RU" b="1" dirty="0"/>
              <a:t>Ethernet</a:t>
            </a:r>
            <a:r>
              <a:rPr lang="ru-RU" dirty="0"/>
              <a:t>.</a:t>
            </a:r>
          </a:p>
          <a:p>
            <a:r>
              <a:rPr lang="ru-RU" b="1" dirty="0"/>
              <a:t>2. С подтверждениями, без соединения (</a:t>
            </a:r>
            <a:r>
              <a:rPr lang="ru-RU" b="1" dirty="0" err="1"/>
              <a:t>ACKed</a:t>
            </a:r>
            <a:r>
              <a:rPr lang="ru-RU" b="1" dirty="0"/>
              <a:t>, </a:t>
            </a:r>
            <a:r>
              <a:rPr lang="ru-RU" b="1" dirty="0" err="1"/>
              <a:t>connectionless</a:t>
            </a:r>
            <a:r>
              <a:rPr lang="ru-RU" b="1" dirty="0"/>
              <a:t>)</a:t>
            </a:r>
            <a:endParaRPr lang="ru-RU" dirty="0"/>
          </a:p>
          <a:p>
            <a:pPr lvl="1"/>
            <a:r>
              <a:rPr lang="ru-RU" dirty="0"/>
              <a:t>Каждый фрейм должен быть подтверждён.</a:t>
            </a:r>
          </a:p>
          <a:p>
            <a:pPr lvl="1"/>
            <a:r>
              <a:rPr lang="ru-RU" dirty="0"/>
              <a:t>Повторная отправка при отсутствии ACK.</a:t>
            </a:r>
          </a:p>
          <a:p>
            <a:pPr lvl="1"/>
            <a:r>
              <a:rPr lang="ru-RU" dirty="0"/>
              <a:t>Пример: </a:t>
            </a:r>
            <a:r>
              <a:rPr lang="ru-RU" b="1" dirty="0" err="1"/>
              <a:t>Wi</a:t>
            </a:r>
            <a:r>
              <a:rPr lang="ru-RU" b="1" dirty="0"/>
              <a:t>-Fi (802.11)</a:t>
            </a:r>
            <a:r>
              <a:rPr lang="ru-RU" dirty="0"/>
              <a:t>.</a:t>
            </a:r>
          </a:p>
          <a:p>
            <a:r>
              <a:rPr lang="ru-RU" b="1" dirty="0"/>
              <a:t>3. Ориентированная на соединение служба с подтверждениями</a:t>
            </a:r>
            <a:endParaRPr lang="ru-RU" dirty="0"/>
          </a:p>
          <a:p>
            <a:pPr lvl="1"/>
            <a:r>
              <a:rPr lang="ru-RU" dirty="0"/>
              <a:t>Перед передачей устанавливается логическое соединение.</a:t>
            </a:r>
          </a:p>
          <a:p>
            <a:pPr lvl="1"/>
            <a:r>
              <a:rPr lang="ru-RU" dirty="0"/>
              <a:t>Фреймы нумеруются, гарантируется порядок и отсутствие дубликатов.</a:t>
            </a:r>
          </a:p>
          <a:p>
            <a:pPr lvl="1"/>
            <a:r>
              <a:rPr lang="ru-RU" dirty="0"/>
              <a:t>Подходит для каналов с высоким уровнем ошибок (спутники, телефонные линии).</a:t>
            </a:r>
          </a:p>
        </p:txBody>
      </p:sp>
    </p:spTree>
    <p:extLst>
      <p:ext uri="{BB962C8B-B14F-4D97-AF65-F5344CB8AC3E}">
        <p14:creationId xmlns:p14="http://schemas.microsoft.com/office/powerpoint/2010/main" val="2924220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79DE8-9A28-E964-274C-C4F44910C97E}"/>
              </a:ext>
            </a:extLst>
          </p:cNvPr>
          <p:cNvSpPr>
            <a:spLocks noGrp="1"/>
          </p:cNvSpPr>
          <p:nvPr>
            <p:ph type="title"/>
          </p:nvPr>
        </p:nvSpPr>
        <p:spPr/>
        <p:txBody>
          <a:bodyPr/>
          <a:lstStyle/>
          <a:p>
            <a:r>
              <a:rPr lang="ru-RU" dirty="0"/>
              <a:t>Виртуальное и реальное соединение</a:t>
            </a:r>
            <a:endParaRPr lang="en-US" dirty="0"/>
          </a:p>
        </p:txBody>
      </p:sp>
      <p:pic>
        <p:nvPicPr>
          <p:cNvPr id="5" name="Content Placeholder 4" descr="A diagram of a diagram of a graph&#10;&#10;AI-generated content may be incorrect.">
            <a:extLst>
              <a:ext uri="{FF2B5EF4-FFF2-40B4-BE49-F238E27FC236}">
                <a16:creationId xmlns:a16="http://schemas.microsoft.com/office/drawing/2014/main" id="{9A5E40F2-4B3A-8035-859A-A7D3879A300F}"/>
              </a:ext>
            </a:extLst>
          </p:cNvPr>
          <p:cNvPicPr>
            <a:picLocks noGrp="1" noChangeAspect="1"/>
          </p:cNvPicPr>
          <p:nvPr>
            <p:ph idx="1"/>
          </p:nvPr>
        </p:nvPicPr>
        <p:blipFill>
          <a:blip r:embed="rId3"/>
          <a:stretch>
            <a:fillRect/>
          </a:stretch>
        </p:blipFill>
        <p:spPr>
          <a:xfrm>
            <a:off x="2349082" y="1690688"/>
            <a:ext cx="7493836" cy="4983162"/>
          </a:xfrm>
          <a:prstGeom prst="rect">
            <a:avLst/>
          </a:prstGeom>
        </p:spPr>
      </p:pic>
    </p:spTree>
    <p:extLst>
      <p:ext uri="{BB962C8B-B14F-4D97-AF65-F5344CB8AC3E}">
        <p14:creationId xmlns:p14="http://schemas.microsoft.com/office/powerpoint/2010/main" val="19582362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6104F-58A7-C923-8559-45AB9BF045A5}"/>
              </a:ext>
            </a:extLst>
          </p:cNvPr>
          <p:cNvSpPr>
            <a:spLocks noGrp="1"/>
          </p:cNvSpPr>
          <p:nvPr>
            <p:ph type="title"/>
          </p:nvPr>
        </p:nvSpPr>
        <p:spPr/>
        <p:txBody>
          <a:bodyPr>
            <a:normAutofit/>
          </a:bodyPr>
          <a:lstStyle/>
          <a:p>
            <a:r>
              <a:rPr lang="ru-RU" dirty="0"/>
              <a:t>Почему передача фреймов — не тривиальная задача</a:t>
            </a:r>
            <a:endParaRPr lang="en-US" dirty="0"/>
          </a:p>
        </p:txBody>
      </p:sp>
      <p:sp>
        <p:nvSpPr>
          <p:cNvPr id="3" name="Content Placeholder 2">
            <a:extLst>
              <a:ext uri="{FF2B5EF4-FFF2-40B4-BE49-F238E27FC236}">
                <a16:creationId xmlns:a16="http://schemas.microsoft.com/office/drawing/2014/main" id="{2C0A70B5-2E15-63C7-AEA7-D1E3527C04AC}"/>
              </a:ext>
            </a:extLst>
          </p:cNvPr>
          <p:cNvSpPr>
            <a:spLocks noGrp="1"/>
          </p:cNvSpPr>
          <p:nvPr>
            <p:ph idx="1"/>
          </p:nvPr>
        </p:nvSpPr>
        <p:spPr/>
        <p:txBody>
          <a:bodyPr>
            <a:normAutofit lnSpcReduction="10000"/>
          </a:bodyPr>
          <a:lstStyle/>
          <a:p>
            <a:r>
              <a:rPr lang="ru-RU" b="1" dirty="0"/>
              <a:t>Проблемы реальных каналов:</a:t>
            </a:r>
            <a:endParaRPr lang="ru-RU" dirty="0"/>
          </a:p>
          <a:p>
            <a:pPr lvl="1"/>
            <a:r>
              <a:rPr lang="ru-RU" dirty="0"/>
              <a:t>Искажение и потеря битов.</a:t>
            </a:r>
          </a:p>
          <a:p>
            <a:pPr lvl="1"/>
            <a:r>
              <a:rPr lang="ru-RU" dirty="0"/>
              <a:t>Потеря целых фреймов.</a:t>
            </a:r>
          </a:p>
          <a:p>
            <a:pPr lvl="1"/>
            <a:r>
              <a:rPr lang="ru-RU" dirty="0"/>
              <a:t>Ограниченная пропускная способность.</a:t>
            </a:r>
          </a:p>
          <a:p>
            <a:pPr lvl="1"/>
            <a:r>
              <a:rPr lang="ru-RU" dirty="0"/>
              <a:t>Ненулевая задержка — ACK не приходит мгновенно.</a:t>
            </a:r>
          </a:p>
          <a:p>
            <a:pPr lvl="1"/>
            <a:r>
              <a:rPr lang="ru-RU" dirty="0"/>
              <a:t>Перегрузка приёмника быстрым отправителем.</a:t>
            </a:r>
          </a:p>
          <a:p>
            <a:r>
              <a:rPr lang="ru-RU" b="1" dirty="0"/>
              <a:t>Инструменты решения:</a:t>
            </a:r>
            <a:endParaRPr lang="ru-RU" dirty="0"/>
          </a:p>
          <a:p>
            <a:pPr lvl="1"/>
            <a:r>
              <a:rPr lang="ru-RU" dirty="0"/>
              <a:t>CRC и другие методы обнаружения ошибок.</a:t>
            </a:r>
          </a:p>
          <a:p>
            <a:pPr lvl="1"/>
            <a:r>
              <a:rPr lang="ru-RU" dirty="0"/>
              <a:t>Нумерация фреймов.</a:t>
            </a:r>
          </a:p>
          <a:p>
            <a:pPr lvl="1"/>
            <a:r>
              <a:rPr lang="ru-RU" dirty="0"/>
              <a:t>Таймеры и повторная передача.</a:t>
            </a:r>
          </a:p>
          <a:p>
            <a:pPr lvl="1"/>
            <a:r>
              <a:rPr lang="ru-RU" dirty="0"/>
              <a:t>Управление потоком (</a:t>
            </a:r>
            <a:r>
              <a:rPr lang="ru-RU" dirty="0" err="1"/>
              <a:t>flow</a:t>
            </a:r>
            <a:r>
              <a:rPr lang="ru-RU" dirty="0"/>
              <a:t> </a:t>
            </a:r>
            <a:r>
              <a:rPr lang="ru-RU" dirty="0" err="1"/>
              <a:t>control</a:t>
            </a:r>
            <a:r>
              <a:rPr lang="ru-RU" dirty="0"/>
              <a:t>).</a:t>
            </a:r>
          </a:p>
          <a:p>
            <a:endParaRPr lang="en-US" dirty="0"/>
          </a:p>
        </p:txBody>
      </p:sp>
    </p:spTree>
    <p:extLst>
      <p:ext uri="{BB962C8B-B14F-4D97-AF65-F5344CB8AC3E}">
        <p14:creationId xmlns:p14="http://schemas.microsoft.com/office/powerpoint/2010/main" val="14908377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C4D3E1-46A4-15C1-5B1C-4255CA9507AA}"/>
              </a:ext>
            </a:extLst>
          </p:cNvPr>
          <p:cNvSpPr>
            <a:spLocks noGrp="1"/>
          </p:cNvSpPr>
          <p:nvPr>
            <p:ph type="title"/>
          </p:nvPr>
        </p:nvSpPr>
        <p:spPr/>
        <p:txBody>
          <a:bodyPr/>
          <a:lstStyle/>
          <a:p>
            <a:r>
              <a:rPr lang="ru-RU" dirty="0"/>
              <a:t>Формирование фреймов</a:t>
            </a:r>
            <a:endParaRPr lang="en-US" dirty="0"/>
          </a:p>
        </p:txBody>
      </p:sp>
      <p:sp>
        <p:nvSpPr>
          <p:cNvPr id="5" name="Text Placeholder 4">
            <a:extLst>
              <a:ext uri="{FF2B5EF4-FFF2-40B4-BE49-F238E27FC236}">
                <a16:creationId xmlns:a16="http://schemas.microsoft.com/office/drawing/2014/main" id="{E1DD8620-A85E-DE4F-1BFA-ED4EA41BB39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774442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2A495F-6F5C-55DA-8007-3A21625BFE1A}"/>
              </a:ext>
            </a:extLst>
          </p:cNvPr>
          <p:cNvSpPr>
            <a:spLocks noGrp="1"/>
          </p:cNvSpPr>
          <p:nvPr>
            <p:ph type="title"/>
          </p:nvPr>
        </p:nvSpPr>
        <p:spPr/>
        <p:txBody>
          <a:bodyPr/>
          <a:lstStyle/>
          <a:p>
            <a:r>
              <a:rPr lang="ru-RU" dirty="0"/>
              <a:t>Зачем разбивать на фреймы</a:t>
            </a:r>
            <a:r>
              <a:rPr lang="en-US" dirty="0"/>
              <a:t>?</a:t>
            </a:r>
          </a:p>
        </p:txBody>
      </p:sp>
      <p:sp>
        <p:nvSpPr>
          <p:cNvPr id="5" name="Content Placeholder 4">
            <a:extLst>
              <a:ext uri="{FF2B5EF4-FFF2-40B4-BE49-F238E27FC236}">
                <a16:creationId xmlns:a16="http://schemas.microsoft.com/office/drawing/2014/main" id="{918B8B25-C1EB-E2C5-559A-4C19569E506A}"/>
              </a:ext>
            </a:extLst>
          </p:cNvPr>
          <p:cNvSpPr>
            <a:spLocks noGrp="1"/>
          </p:cNvSpPr>
          <p:nvPr>
            <p:ph idx="1"/>
          </p:nvPr>
        </p:nvSpPr>
        <p:spPr/>
        <p:txBody>
          <a:bodyPr>
            <a:normAutofit fontScale="92500" lnSpcReduction="10000"/>
          </a:bodyPr>
          <a:lstStyle/>
          <a:p>
            <a:r>
              <a:rPr lang="ru-RU" b="1" dirty="0"/>
              <a:t>Задачи, решаемые разбиением на фреймы:</a:t>
            </a:r>
            <a:endParaRPr lang="ru-RU" dirty="0"/>
          </a:p>
          <a:p>
            <a:pPr lvl="1"/>
            <a:r>
              <a:rPr lang="ru-RU" dirty="0"/>
              <a:t>Делит непрерывный поток битов на отдельные, обработанные сообщения.</a:t>
            </a:r>
          </a:p>
          <a:p>
            <a:pPr lvl="1"/>
            <a:r>
              <a:rPr lang="ru-RU" dirty="0"/>
              <a:t>Позволяет обнаруживать ошибки, потерю синхронизации и повреждение данных.</a:t>
            </a:r>
          </a:p>
          <a:p>
            <a:r>
              <a:rPr lang="ru-RU" b="1" dirty="0"/>
              <a:t>Проблемы на физическом уровне:</a:t>
            </a:r>
            <a:endParaRPr lang="ru-RU" dirty="0"/>
          </a:p>
          <a:p>
            <a:pPr lvl="1"/>
            <a:r>
              <a:rPr lang="ru-RU" dirty="0"/>
              <a:t>Ошибки битов из-за шума.</a:t>
            </a:r>
          </a:p>
          <a:p>
            <a:pPr lvl="1"/>
            <a:r>
              <a:rPr lang="ru-RU" dirty="0"/>
              <a:t>Потери или добавление лишних бит.</a:t>
            </a:r>
          </a:p>
          <a:p>
            <a:pPr lvl="1"/>
            <a:r>
              <a:rPr lang="ru-RU" dirty="0"/>
              <a:t>Невозможность гарантировать границы сообщений.</a:t>
            </a:r>
          </a:p>
          <a:p>
            <a:r>
              <a:rPr lang="ru-RU" b="1" dirty="0"/>
              <a:t>Контрольная сумма:</a:t>
            </a:r>
            <a:endParaRPr lang="ru-RU" dirty="0"/>
          </a:p>
          <a:p>
            <a:pPr lvl="1"/>
            <a:r>
              <a:rPr lang="ru-RU" dirty="0"/>
              <a:t>Канальный уровень рассчитывает </a:t>
            </a:r>
            <a:r>
              <a:rPr lang="ru-RU" dirty="0" err="1"/>
              <a:t>checksum</a:t>
            </a:r>
            <a:r>
              <a:rPr lang="ru-RU" dirty="0"/>
              <a:t>/CRC.</a:t>
            </a:r>
          </a:p>
          <a:p>
            <a:pPr lvl="1"/>
            <a:r>
              <a:rPr lang="ru-RU" dirty="0"/>
              <a:t>Приёмник проверяет соответствие — повреждённый фрейм отбрасывается или запрашивается повтор.</a:t>
            </a:r>
          </a:p>
          <a:p>
            <a:endParaRPr lang="en-US" dirty="0"/>
          </a:p>
        </p:txBody>
      </p:sp>
    </p:spTree>
    <p:extLst>
      <p:ext uri="{BB962C8B-B14F-4D97-AF65-F5344CB8AC3E}">
        <p14:creationId xmlns:p14="http://schemas.microsoft.com/office/powerpoint/2010/main" val="6533710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FE88E-973F-DDDF-B1E3-47923DB65D06}"/>
              </a:ext>
            </a:extLst>
          </p:cNvPr>
          <p:cNvSpPr>
            <a:spLocks noGrp="1"/>
          </p:cNvSpPr>
          <p:nvPr>
            <p:ph type="title"/>
          </p:nvPr>
        </p:nvSpPr>
        <p:spPr/>
        <p:txBody>
          <a:bodyPr/>
          <a:lstStyle/>
          <a:p>
            <a:r>
              <a:rPr lang="ru-RU" dirty="0"/>
              <a:t>Метод 1. Подсчёт байтов</a:t>
            </a:r>
            <a:endParaRPr lang="en-US" dirty="0"/>
          </a:p>
        </p:txBody>
      </p:sp>
      <p:sp>
        <p:nvSpPr>
          <p:cNvPr id="3" name="Content Placeholder 2">
            <a:extLst>
              <a:ext uri="{FF2B5EF4-FFF2-40B4-BE49-F238E27FC236}">
                <a16:creationId xmlns:a16="http://schemas.microsoft.com/office/drawing/2014/main" id="{734D974F-B4BE-29B8-A51B-1AC5A0096B44}"/>
              </a:ext>
            </a:extLst>
          </p:cNvPr>
          <p:cNvSpPr>
            <a:spLocks noGrp="1"/>
          </p:cNvSpPr>
          <p:nvPr>
            <p:ph sz="half" idx="1"/>
          </p:nvPr>
        </p:nvSpPr>
        <p:spPr>
          <a:xfrm>
            <a:off x="838200" y="1825625"/>
            <a:ext cx="5678714" cy="4351338"/>
          </a:xfrm>
        </p:spPr>
        <p:txBody>
          <a:bodyPr>
            <a:normAutofit fontScale="92500" lnSpcReduction="20000"/>
          </a:bodyPr>
          <a:lstStyle/>
          <a:p>
            <a:r>
              <a:rPr lang="ru-RU" b="1" dirty="0"/>
              <a:t>Как работает:</a:t>
            </a:r>
            <a:endParaRPr lang="ru-RU" dirty="0"/>
          </a:p>
          <a:p>
            <a:pPr lvl="1"/>
            <a:r>
              <a:rPr lang="ru-RU" dirty="0"/>
              <a:t>В заголовке передаётся длина фрейма в байтах.</a:t>
            </a:r>
          </a:p>
          <a:p>
            <a:pPr lvl="1"/>
            <a:r>
              <a:rPr lang="ru-RU" dirty="0"/>
              <a:t>Приёмник считывает указанное количество байт → конец фрейма.</a:t>
            </a:r>
          </a:p>
          <a:p>
            <a:r>
              <a:rPr lang="ru-RU" b="1" dirty="0"/>
              <a:t>Плюсы:</a:t>
            </a:r>
            <a:endParaRPr lang="ru-RU" dirty="0"/>
          </a:p>
          <a:p>
            <a:pPr lvl="1"/>
            <a:r>
              <a:rPr lang="ru-RU" dirty="0"/>
              <a:t>Простая реализация.</a:t>
            </a:r>
          </a:p>
          <a:p>
            <a:pPr lvl="1"/>
            <a:r>
              <a:rPr lang="ru-RU" dirty="0"/>
              <a:t>Минимальная служебная нагрузка.</a:t>
            </a:r>
          </a:p>
          <a:p>
            <a:r>
              <a:rPr lang="ru-RU" b="1" dirty="0"/>
              <a:t>Минусы:</a:t>
            </a:r>
            <a:endParaRPr lang="ru-RU" dirty="0"/>
          </a:p>
          <a:p>
            <a:pPr lvl="1"/>
            <a:r>
              <a:rPr lang="ru-RU" dirty="0"/>
              <a:t>Ошибка в одном бите длины приводит к полной потере синхронизации.</a:t>
            </a:r>
          </a:p>
          <a:p>
            <a:pPr lvl="1"/>
            <a:r>
              <a:rPr lang="ru-RU" dirty="0"/>
              <a:t>Повторная передача невозможна без информации о реальной границе</a:t>
            </a:r>
          </a:p>
          <a:p>
            <a:endParaRPr lang="en-US" dirty="0"/>
          </a:p>
        </p:txBody>
      </p:sp>
      <p:pic>
        <p:nvPicPr>
          <p:cNvPr id="6" name="Content Placeholder 5" descr="A diagram of numbers and letters&#10;&#10;AI-generated content may be incorrect.">
            <a:extLst>
              <a:ext uri="{FF2B5EF4-FFF2-40B4-BE49-F238E27FC236}">
                <a16:creationId xmlns:a16="http://schemas.microsoft.com/office/drawing/2014/main" id="{9317B788-5525-389F-1D68-1B223B36577B}"/>
              </a:ext>
            </a:extLst>
          </p:cNvPr>
          <p:cNvPicPr>
            <a:picLocks noGrp="1" noChangeAspect="1"/>
          </p:cNvPicPr>
          <p:nvPr>
            <p:ph sz="half" idx="2"/>
          </p:nvPr>
        </p:nvPicPr>
        <p:blipFill>
          <a:blip r:embed="rId3"/>
          <a:stretch>
            <a:fillRect/>
          </a:stretch>
        </p:blipFill>
        <p:spPr>
          <a:xfrm>
            <a:off x="6636657" y="1825625"/>
            <a:ext cx="5181600" cy="2991004"/>
          </a:xfrm>
          <a:prstGeom prst="rect">
            <a:avLst/>
          </a:prstGeom>
        </p:spPr>
      </p:pic>
    </p:spTree>
    <p:extLst>
      <p:ext uri="{BB962C8B-B14F-4D97-AF65-F5344CB8AC3E}">
        <p14:creationId xmlns:p14="http://schemas.microsoft.com/office/powerpoint/2010/main" val="3675975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5ABE9-0BBC-A045-C6AE-50B8BA5B4803}"/>
              </a:ext>
            </a:extLst>
          </p:cNvPr>
          <p:cNvSpPr>
            <a:spLocks noGrp="1"/>
          </p:cNvSpPr>
          <p:nvPr>
            <p:ph type="title"/>
          </p:nvPr>
        </p:nvSpPr>
        <p:spPr/>
        <p:txBody>
          <a:bodyPr>
            <a:normAutofit/>
          </a:bodyPr>
          <a:lstStyle/>
          <a:p>
            <a:r>
              <a:rPr lang="ru-RU" dirty="0"/>
              <a:t>Метод 2: Флаговые байты + байт-</a:t>
            </a:r>
            <a:r>
              <a:rPr lang="ru-RU" dirty="0" err="1"/>
              <a:t>стаффинг</a:t>
            </a:r>
            <a:endParaRPr lang="en-US" dirty="0"/>
          </a:p>
        </p:txBody>
      </p:sp>
      <p:sp>
        <p:nvSpPr>
          <p:cNvPr id="3" name="Content Placeholder 2">
            <a:extLst>
              <a:ext uri="{FF2B5EF4-FFF2-40B4-BE49-F238E27FC236}">
                <a16:creationId xmlns:a16="http://schemas.microsoft.com/office/drawing/2014/main" id="{434BFDE2-C729-5AD3-1E70-900EA7BC6D1D}"/>
              </a:ext>
            </a:extLst>
          </p:cNvPr>
          <p:cNvSpPr>
            <a:spLocks noGrp="1"/>
          </p:cNvSpPr>
          <p:nvPr>
            <p:ph sz="half" idx="1"/>
          </p:nvPr>
        </p:nvSpPr>
        <p:spPr>
          <a:xfrm>
            <a:off x="838200" y="1825625"/>
            <a:ext cx="5479142" cy="4351338"/>
          </a:xfrm>
        </p:spPr>
        <p:txBody>
          <a:bodyPr>
            <a:normAutofit fontScale="77500" lnSpcReduction="20000"/>
          </a:bodyPr>
          <a:lstStyle/>
          <a:p>
            <a:r>
              <a:rPr lang="ru-RU" b="1" dirty="0"/>
              <a:t>Идея:</a:t>
            </a:r>
            <a:endParaRPr lang="ru-RU" dirty="0"/>
          </a:p>
          <a:p>
            <a:pPr lvl="1"/>
            <a:r>
              <a:rPr lang="ru-RU" dirty="0"/>
              <a:t>Фрейм окружён спец-байтом — </a:t>
            </a:r>
            <a:r>
              <a:rPr lang="ru-RU" b="1" dirty="0"/>
              <a:t>FLAG</a:t>
            </a:r>
            <a:r>
              <a:rPr lang="ru-RU" dirty="0"/>
              <a:t> (например, 0x7E).</a:t>
            </a:r>
          </a:p>
          <a:p>
            <a:pPr lvl="1"/>
            <a:r>
              <a:rPr lang="ru-RU" dirty="0"/>
              <a:t>Два FLAG подряд = конец одного фрейма, начало другого.</a:t>
            </a:r>
          </a:p>
          <a:p>
            <a:r>
              <a:rPr lang="ru-RU" b="1" dirty="0"/>
              <a:t>Проблема:</a:t>
            </a:r>
            <a:endParaRPr lang="ru-RU" dirty="0"/>
          </a:p>
          <a:p>
            <a:pPr lvl="1"/>
            <a:r>
              <a:rPr lang="ru-RU" dirty="0"/>
              <a:t>FLAG может случайно встретиться в данных.</a:t>
            </a:r>
          </a:p>
          <a:p>
            <a:r>
              <a:rPr lang="ru-RU" b="1" dirty="0"/>
              <a:t>Решение: байт-</a:t>
            </a:r>
            <a:r>
              <a:rPr lang="ru-RU" b="1" dirty="0" err="1"/>
              <a:t>стаффинг</a:t>
            </a:r>
            <a:endParaRPr lang="ru-RU" dirty="0"/>
          </a:p>
          <a:p>
            <a:pPr lvl="1"/>
            <a:r>
              <a:rPr lang="ru-RU" dirty="0"/>
              <a:t>Перед каждым FLAG внутри данных добавляется ESC.</a:t>
            </a:r>
          </a:p>
          <a:p>
            <a:pPr lvl="1"/>
            <a:r>
              <a:rPr lang="ru-RU" dirty="0"/>
              <a:t>ESC вставляется и перед самим ESC внутри данных.</a:t>
            </a:r>
          </a:p>
          <a:p>
            <a:pPr lvl="1"/>
            <a:r>
              <a:rPr lang="ru-RU" dirty="0"/>
              <a:t>Приёмник удаляет ESC и восстанавливает исходные данные.</a:t>
            </a:r>
          </a:p>
          <a:p>
            <a:r>
              <a:rPr lang="ru-RU" b="1" dirty="0"/>
              <a:t>Пример протокола:</a:t>
            </a:r>
            <a:r>
              <a:rPr lang="ru-RU" dirty="0"/>
              <a:t> PPP.</a:t>
            </a:r>
          </a:p>
          <a:p>
            <a:endParaRPr lang="en-US" dirty="0"/>
          </a:p>
        </p:txBody>
      </p:sp>
      <p:pic>
        <p:nvPicPr>
          <p:cNvPr id="6" name="Content Placeholder 5" descr="A screenshot of a computer&#10;&#10;AI-generated content may be incorrect.">
            <a:extLst>
              <a:ext uri="{FF2B5EF4-FFF2-40B4-BE49-F238E27FC236}">
                <a16:creationId xmlns:a16="http://schemas.microsoft.com/office/drawing/2014/main" id="{E9F08AFF-8CA0-79C2-6B6F-D234CD55A7C0}"/>
              </a:ext>
            </a:extLst>
          </p:cNvPr>
          <p:cNvPicPr>
            <a:picLocks noGrp="1" noChangeAspect="1"/>
          </p:cNvPicPr>
          <p:nvPr>
            <p:ph sz="half" idx="2"/>
          </p:nvPr>
        </p:nvPicPr>
        <p:blipFill>
          <a:blip r:embed="rId3"/>
          <a:stretch>
            <a:fillRect/>
          </a:stretch>
        </p:blipFill>
        <p:spPr>
          <a:xfrm>
            <a:off x="6633225" y="1825625"/>
            <a:ext cx="5181600" cy="3836589"/>
          </a:xfrm>
          <a:prstGeom prst="rect">
            <a:avLst/>
          </a:prstGeom>
        </p:spPr>
      </p:pic>
    </p:spTree>
    <p:extLst>
      <p:ext uri="{BB962C8B-B14F-4D97-AF65-F5344CB8AC3E}">
        <p14:creationId xmlns:p14="http://schemas.microsoft.com/office/powerpoint/2010/main" val="9343763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160C9-C933-7B5F-C0D2-126BAE938A4B}"/>
              </a:ext>
            </a:extLst>
          </p:cNvPr>
          <p:cNvSpPr>
            <a:spLocks noGrp="1"/>
          </p:cNvSpPr>
          <p:nvPr>
            <p:ph type="title"/>
          </p:nvPr>
        </p:nvSpPr>
        <p:spPr/>
        <p:txBody>
          <a:bodyPr>
            <a:normAutofit/>
          </a:bodyPr>
          <a:lstStyle/>
          <a:p>
            <a:r>
              <a:rPr lang="ru-RU" dirty="0"/>
              <a:t>Метод 3: Флаговая битовая последовательность + бит-</a:t>
            </a:r>
            <a:r>
              <a:rPr lang="ru-RU" dirty="0" err="1"/>
              <a:t>стаффинг</a:t>
            </a:r>
            <a:endParaRPr lang="en-US" dirty="0"/>
          </a:p>
        </p:txBody>
      </p:sp>
      <p:sp>
        <p:nvSpPr>
          <p:cNvPr id="3" name="Content Placeholder 2">
            <a:extLst>
              <a:ext uri="{FF2B5EF4-FFF2-40B4-BE49-F238E27FC236}">
                <a16:creationId xmlns:a16="http://schemas.microsoft.com/office/drawing/2014/main" id="{A2980CD9-FF36-48C0-C7BD-DCA4E8EB34D1}"/>
              </a:ext>
            </a:extLst>
          </p:cNvPr>
          <p:cNvSpPr>
            <a:spLocks noGrp="1"/>
          </p:cNvSpPr>
          <p:nvPr>
            <p:ph idx="1"/>
          </p:nvPr>
        </p:nvSpPr>
        <p:spPr>
          <a:xfrm>
            <a:off x="838200" y="1825625"/>
            <a:ext cx="10515600" cy="3028721"/>
          </a:xfrm>
        </p:spPr>
        <p:txBody>
          <a:bodyPr>
            <a:normAutofit fontScale="77500" lnSpcReduction="20000"/>
          </a:bodyPr>
          <a:lstStyle/>
          <a:p>
            <a:r>
              <a:rPr lang="ru-RU" b="1" dirty="0"/>
              <a:t>Флаговая последовательность: </a:t>
            </a:r>
            <a:r>
              <a:rPr lang="ru-RU" dirty="0"/>
              <a:t>01111110 (0x7E)</a:t>
            </a:r>
          </a:p>
          <a:p>
            <a:r>
              <a:rPr lang="ru-RU" b="1" dirty="0"/>
              <a:t>Правило при отправке:</a:t>
            </a:r>
            <a:endParaRPr lang="ru-RU" dirty="0"/>
          </a:p>
          <a:p>
            <a:pPr lvl="1"/>
            <a:r>
              <a:rPr lang="ru-RU" dirty="0"/>
              <a:t>После </a:t>
            </a:r>
            <a:r>
              <a:rPr lang="ru-RU" b="1" dirty="0"/>
              <a:t>пяти подряд идущих единиц</a:t>
            </a:r>
            <a:r>
              <a:rPr lang="ru-RU" dirty="0"/>
              <a:t> вставляется нулевой бит.</a:t>
            </a:r>
          </a:p>
          <a:p>
            <a:r>
              <a:rPr lang="ru-RU" b="1" dirty="0"/>
              <a:t>Правило при приёме:</a:t>
            </a:r>
            <a:endParaRPr lang="ru-RU" dirty="0"/>
          </a:p>
          <a:p>
            <a:pPr lvl="1"/>
            <a:r>
              <a:rPr lang="ru-RU" dirty="0"/>
              <a:t>Если видим </a:t>
            </a:r>
            <a:r>
              <a:rPr lang="ru-RU" i="1" dirty="0"/>
              <a:t>пять единиц + ноль</a:t>
            </a:r>
            <a:r>
              <a:rPr lang="ru-RU" dirty="0"/>
              <a:t> → ноль удаляется.</a:t>
            </a:r>
          </a:p>
          <a:p>
            <a:pPr lvl="1"/>
            <a:r>
              <a:rPr lang="ru-RU" dirty="0"/>
              <a:t>Истинная флаговая последовательность 01111110 встречается только на границах фреймов.</a:t>
            </a:r>
          </a:p>
          <a:p>
            <a:r>
              <a:rPr lang="ru-RU" b="1" dirty="0"/>
              <a:t>Используется в:</a:t>
            </a:r>
            <a:r>
              <a:rPr lang="ru-RU" dirty="0"/>
              <a:t> </a:t>
            </a:r>
            <a:r>
              <a:rPr lang="ru-RU" dirty="0">
                <a:hlinkClick r:id="rId3"/>
              </a:rPr>
              <a:t>HDLC</a:t>
            </a:r>
            <a:r>
              <a:rPr lang="ru-RU" dirty="0"/>
              <a:t>, USB, ряде WAN-протоколов.</a:t>
            </a:r>
          </a:p>
          <a:p>
            <a:r>
              <a:rPr lang="ru-RU" b="1" dirty="0"/>
              <a:t>Плюс:</a:t>
            </a:r>
            <a:r>
              <a:rPr lang="ru-RU" dirty="0"/>
              <a:t> работает не с байтами, а с битами → фрейм произвольного размера.</a:t>
            </a:r>
          </a:p>
          <a:p>
            <a:endParaRPr lang="en-US" dirty="0"/>
          </a:p>
        </p:txBody>
      </p:sp>
      <p:pic>
        <p:nvPicPr>
          <p:cNvPr id="8" name="Picture 7" descr="A close-up of a computer code&#10;&#10;AI-generated content may be incorrect.">
            <a:extLst>
              <a:ext uri="{FF2B5EF4-FFF2-40B4-BE49-F238E27FC236}">
                <a16:creationId xmlns:a16="http://schemas.microsoft.com/office/drawing/2014/main" id="{99B7104B-E131-04B9-E734-50073776BD77}"/>
              </a:ext>
            </a:extLst>
          </p:cNvPr>
          <p:cNvPicPr>
            <a:picLocks noChangeAspect="1"/>
          </p:cNvPicPr>
          <p:nvPr/>
        </p:nvPicPr>
        <p:blipFill>
          <a:blip r:embed="rId4"/>
          <a:stretch>
            <a:fillRect/>
          </a:stretch>
        </p:blipFill>
        <p:spPr>
          <a:xfrm>
            <a:off x="2087676" y="4854346"/>
            <a:ext cx="7125694" cy="1638529"/>
          </a:xfrm>
          <a:prstGeom prst="rect">
            <a:avLst/>
          </a:prstGeom>
        </p:spPr>
      </p:pic>
    </p:spTree>
    <p:extLst>
      <p:ext uri="{BB962C8B-B14F-4D97-AF65-F5344CB8AC3E}">
        <p14:creationId xmlns:p14="http://schemas.microsoft.com/office/powerpoint/2010/main" val="8041618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20B8E-7C56-D93A-7EC8-C457F08CF454}"/>
              </a:ext>
            </a:extLst>
          </p:cNvPr>
          <p:cNvSpPr>
            <a:spLocks noGrp="1"/>
          </p:cNvSpPr>
          <p:nvPr>
            <p:ph type="title"/>
          </p:nvPr>
        </p:nvSpPr>
        <p:spPr/>
        <p:txBody>
          <a:bodyPr>
            <a:normAutofit/>
          </a:bodyPr>
          <a:lstStyle/>
          <a:p>
            <a:r>
              <a:rPr lang="ru-RU" dirty="0"/>
              <a:t>«Запрещённые» сигналы физического уровня</a:t>
            </a:r>
            <a:endParaRPr lang="en-US" dirty="0"/>
          </a:p>
        </p:txBody>
      </p:sp>
      <p:sp>
        <p:nvSpPr>
          <p:cNvPr id="3" name="Content Placeholder 2">
            <a:extLst>
              <a:ext uri="{FF2B5EF4-FFF2-40B4-BE49-F238E27FC236}">
                <a16:creationId xmlns:a16="http://schemas.microsoft.com/office/drawing/2014/main" id="{4BC753FE-59BF-A58A-6CAA-F8DF5DC054A6}"/>
              </a:ext>
            </a:extLst>
          </p:cNvPr>
          <p:cNvSpPr>
            <a:spLocks noGrp="1"/>
          </p:cNvSpPr>
          <p:nvPr>
            <p:ph idx="1"/>
          </p:nvPr>
        </p:nvSpPr>
        <p:spPr/>
        <p:txBody>
          <a:bodyPr>
            <a:normAutofit fontScale="92500" lnSpcReduction="10000"/>
          </a:bodyPr>
          <a:lstStyle/>
          <a:p>
            <a:r>
              <a:rPr lang="ru-RU" b="1" dirty="0"/>
              <a:t>Идея:</a:t>
            </a:r>
            <a:endParaRPr lang="ru-RU" dirty="0"/>
          </a:p>
          <a:p>
            <a:pPr lvl="1"/>
            <a:r>
              <a:rPr lang="ru-RU" dirty="0"/>
              <a:t>В некоторых схемах кодирования (например, 4B/5B) часть кодов никогда не используется для передачи данных.</a:t>
            </a:r>
          </a:p>
          <a:p>
            <a:pPr lvl="1"/>
            <a:r>
              <a:rPr lang="ru-RU" dirty="0"/>
              <a:t>Эти «резервные» сигналы можно применять как специальные маркеры начала/конца фрейма.</a:t>
            </a:r>
          </a:p>
          <a:p>
            <a:r>
              <a:rPr lang="ru-RU" b="1" dirty="0"/>
              <a:t>Преимущества:</a:t>
            </a:r>
            <a:endParaRPr lang="ru-RU" dirty="0"/>
          </a:p>
          <a:p>
            <a:pPr lvl="1"/>
            <a:r>
              <a:rPr lang="ru-RU" dirty="0"/>
              <a:t>Не увеличивает размер данных (нет </a:t>
            </a:r>
            <a:r>
              <a:rPr lang="ru-RU" dirty="0" err="1"/>
              <a:t>стаффинга</a:t>
            </a:r>
            <a:r>
              <a:rPr lang="ru-RU" dirty="0"/>
              <a:t>).</a:t>
            </a:r>
          </a:p>
          <a:p>
            <a:pPr lvl="1"/>
            <a:r>
              <a:rPr lang="ru-RU" dirty="0"/>
              <a:t>Очень эффективно обнаруживает границы.</a:t>
            </a:r>
          </a:p>
          <a:p>
            <a:r>
              <a:rPr lang="ru-RU" b="1" dirty="0"/>
              <a:t>Недостатки:</a:t>
            </a:r>
            <a:endParaRPr lang="ru-RU" dirty="0"/>
          </a:p>
          <a:p>
            <a:pPr lvl="1"/>
            <a:r>
              <a:rPr lang="ru-RU" dirty="0"/>
              <a:t>Работает только при определённых методах физического кодирования.</a:t>
            </a:r>
          </a:p>
          <a:p>
            <a:r>
              <a:rPr lang="ru-RU" b="1" dirty="0"/>
              <a:t>Пример:</a:t>
            </a:r>
            <a:r>
              <a:rPr lang="ru-RU" dirty="0"/>
              <a:t> Ethernet использует определённые физические шаблоны (преамбулу) и поле длины.</a:t>
            </a:r>
          </a:p>
          <a:p>
            <a:endParaRPr lang="en-US" dirty="0"/>
          </a:p>
        </p:txBody>
      </p:sp>
    </p:spTree>
    <p:extLst>
      <p:ext uri="{BB962C8B-B14F-4D97-AF65-F5344CB8AC3E}">
        <p14:creationId xmlns:p14="http://schemas.microsoft.com/office/powerpoint/2010/main" val="16283555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E66FA4-8D2C-2DE2-6315-148BBE128325}"/>
              </a:ext>
            </a:extLst>
          </p:cNvPr>
          <p:cNvSpPr>
            <a:spLocks noGrp="1"/>
          </p:cNvSpPr>
          <p:nvPr>
            <p:ph type="title"/>
          </p:nvPr>
        </p:nvSpPr>
        <p:spPr/>
        <p:txBody>
          <a:bodyPr/>
          <a:lstStyle/>
          <a:p>
            <a:r>
              <a:rPr lang="ru-RU" dirty="0"/>
              <a:t>Обработка ошибок канального уровня</a:t>
            </a:r>
            <a:endParaRPr lang="en-US" dirty="0"/>
          </a:p>
        </p:txBody>
      </p:sp>
      <p:sp>
        <p:nvSpPr>
          <p:cNvPr id="5" name="Text Placeholder 4">
            <a:extLst>
              <a:ext uri="{FF2B5EF4-FFF2-40B4-BE49-F238E27FC236}">
                <a16:creationId xmlns:a16="http://schemas.microsoft.com/office/drawing/2014/main" id="{760EF17F-4857-81A2-B372-AF9970BA55A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290225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6D5661-E2C3-0BBA-9A76-EB85653A4E4B}"/>
              </a:ext>
            </a:extLst>
          </p:cNvPr>
          <p:cNvSpPr>
            <a:spLocks noGrp="1"/>
          </p:cNvSpPr>
          <p:nvPr>
            <p:ph type="title"/>
          </p:nvPr>
        </p:nvSpPr>
        <p:spPr/>
        <p:txBody>
          <a:bodyPr>
            <a:normAutofit/>
          </a:bodyPr>
          <a:lstStyle/>
          <a:p>
            <a:r>
              <a:rPr lang="ru-RU" dirty="0"/>
              <a:t>Ошибки передачи и необходимость подтверждений</a:t>
            </a:r>
            <a:endParaRPr lang="en-US" dirty="0"/>
          </a:p>
        </p:txBody>
      </p:sp>
      <p:sp>
        <p:nvSpPr>
          <p:cNvPr id="5" name="Content Placeholder 4">
            <a:extLst>
              <a:ext uri="{FF2B5EF4-FFF2-40B4-BE49-F238E27FC236}">
                <a16:creationId xmlns:a16="http://schemas.microsoft.com/office/drawing/2014/main" id="{FBB820B1-E374-A6AF-E810-FA37D150E389}"/>
              </a:ext>
            </a:extLst>
          </p:cNvPr>
          <p:cNvSpPr>
            <a:spLocks noGrp="1"/>
          </p:cNvSpPr>
          <p:nvPr>
            <p:ph idx="1"/>
          </p:nvPr>
        </p:nvSpPr>
        <p:spPr/>
        <p:txBody>
          <a:bodyPr>
            <a:normAutofit/>
          </a:bodyPr>
          <a:lstStyle/>
          <a:p>
            <a:r>
              <a:rPr lang="ru-RU" b="1" dirty="0"/>
              <a:t>Проблемы, которые нужно решить:</a:t>
            </a:r>
            <a:endParaRPr lang="ru-RU" dirty="0"/>
          </a:p>
          <a:p>
            <a:pPr lvl="1"/>
            <a:r>
              <a:rPr lang="ru-RU" dirty="0"/>
              <a:t>Фрейм может прийти повреждённым.</a:t>
            </a:r>
          </a:p>
          <a:p>
            <a:pPr lvl="1"/>
            <a:r>
              <a:rPr lang="ru-RU" dirty="0"/>
              <a:t>Фрейм может не прийти вовсе.</a:t>
            </a:r>
          </a:p>
          <a:p>
            <a:pPr lvl="1"/>
            <a:r>
              <a:rPr lang="ru-RU" dirty="0"/>
              <a:t>Подтверждение (ACK/NACK) тоже может потеряться.</a:t>
            </a:r>
          </a:p>
          <a:p>
            <a:r>
              <a:rPr lang="ru-RU" b="1" dirty="0"/>
              <a:t>Подтверждения:</a:t>
            </a:r>
            <a:endParaRPr lang="ru-RU" dirty="0"/>
          </a:p>
          <a:p>
            <a:pPr lvl="1"/>
            <a:r>
              <a:rPr lang="ru-RU" b="1" dirty="0"/>
              <a:t>ACK</a:t>
            </a:r>
            <a:r>
              <a:rPr lang="ru-RU" dirty="0"/>
              <a:t> — фрейм получен корректно.</a:t>
            </a:r>
          </a:p>
          <a:p>
            <a:pPr lvl="1"/>
            <a:r>
              <a:rPr lang="ru-RU" b="1" dirty="0"/>
              <a:t>NACK</a:t>
            </a:r>
            <a:r>
              <a:rPr lang="ru-RU" dirty="0"/>
              <a:t> — произошла ошибка, требуется повтор.</a:t>
            </a:r>
          </a:p>
          <a:p>
            <a:r>
              <a:rPr lang="ru-RU" b="1" dirty="0"/>
              <a:t>Когда этого недостаточно:</a:t>
            </a:r>
            <a:endParaRPr lang="ru-RU" dirty="0"/>
          </a:p>
          <a:p>
            <a:pPr lvl="1"/>
            <a:r>
              <a:rPr lang="ru-RU" dirty="0"/>
              <a:t>Протокол «отправил → ждёт ответа» может зависнуть навсегда, если потеряется фрейм или подтверждение.</a:t>
            </a:r>
          </a:p>
          <a:p>
            <a:endParaRPr lang="en-US" dirty="0"/>
          </a:p>
        </p:txBody>
      </p:sp>
    </p:spTree>
    <p:extLst>
      <p:ext uri="{BB962C8B-B14F-4D97-AF65-F5344CB8AC3E}">
        <p14:creationId xmlns:p14="http://schemas.microsoft.com/office/powerpoint/2010/main" val="19543058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1D6AB-A243-1D4B-EC72-2674A46E624F}"/>
              </a:ext>
            </a:extLst>
          </p:cNvPr>
          <p:cNvSpPr>
            <a:spLocks noGrp="1"/>
          </p:cNvSpPr>
          <p:nvPr>
            <p:ph type="title"/>
          </p:nvPr>
        </p:nvSpPr>
        <p:spPr/>
        <p:txBody>
          <a:bodyPr/>
          <a:lstStyle/>
          <a:p>
            <a:r>
              <a:rPr lang="ru-RU" dirty="0"/>
              <a:t>Таймеры и повторная отправка фреймов</a:t>
            </a:r>
            <a:endParaRPr lang="en-US" dirty="0"/>
          </a:p>
        </p:txBody>
      </p:sp>
      <p:sp>
        <p:nvSpPr>
          <p:cNvPr id="3" name="Content Placeholder 2">
            <a:extLst>
              <a:ext uri="{FF2B5EF4-FFF2-40B4-BE49-F238E27FC236}">
                <a16:creationId xmlns:a16="http://schemas.microsoft.com/office/drawing/2014/main" id="{2CE0FA9F-B808-3063-48BD-D48469D89FDD}"/>
              </a:ext>
            </a:extLst>
          </p:cNvPr>
          <p:cNvSpPr>
            <a:spLocks noGrp="1"/>
          </p:cNvSpPr>
          <p:nvPr>
            <p:ph idx="1"/>
          </p:nvPr>
        </p:nvSpPr>
        <p:spPr/>
        <p:txBody>
          <a:bodyPr>
            <a:normAutofit lnSpcReduction="10000"/>
          </a:bodyPr>
          <a:lstStyle/>
          <a:p>
            <a:r>
              <a:rPr lang="ru-RU" b="1" dirty="0"/>
              <a:t>Таймеры канального уровня:</a:t>
            </a:r>
            <a:endParaRPr lang="ru-RU" dirty="0"/>
          </a:p>
          <a:p>
            <a:pPr lvl="1"/>
            <a:r>
              <a:rPr lang="ru-RU" dirty="0"/>
              <a:t>Запускаются при отправке фрейма.</a:t>
            </a:r>
          </a:p>
          <a:p>
            <a:pPr lvl="1"/>
            <a:r>
              <a:rPr lang="ru-RU" dirty="0"/>
              <a:t>Если ACK/NACK не приходит вовремя → считается, что произошла потеря.</a:t>
            </a:r>
          </a:p>
          <a:p>
            <a:r>
              <a:rPr lang="ru-RU" b="1" dirty="0"/>
              <a:t>Повторная передача:</a:t>
            </a:r>
            <a:endParaRPr lang="ru-RU" dirty="0"/>
          </a:p>
          <a:p>
            <a:pPr lvl="1"/>
            <a:r>
              <a:rPr lang="ru-RU" dirty="0"/>
              <a:t>Фрейм отправляется ещё раз.</a:t>
            </a:r>
          </a:p>
          <a:p>
            <a:pPr lvl="1"/>
            <a:r>
              <a:rPr lang="ru-RU" dirty="0"/>
              <a:t>Но появляется новая проблема: как отличить повтор от оригинала?</a:t>
            </a:r>
          </a:p>
          <a:p>
            <a:r>
              <a:rPr lang="ru-RU" b="1" dirty="0"/>
              <a:t>Нумерация фреймов:</a:t>
            </a:r>
            <a:endParaRPr lang="ru-RU" dirty="0"/>
          </a:p>
          <a:p>
            <a:pPr lvl="1"/>
            <a:r>
              <a:rPr lang="ru-RU" dirty="0"/>
              <a:t>Каждому фрейму присваивается порядковый номер.</a:t>
            </a:r>
          </a:p>
          <a:p>
            <a:pPr lvl="1"/>
            <a:r>
              <a:rPr lang="ru-RU" dirty="0"/>
              <a:t>Получатель использует номера для распознавания дубликатов.</a:t>
            </a:r>
          </a:p>
          <a:p>
            <a:pPr lvl="1"/>
            <a:r>
              <a:rPr lang="ru-RU" dirty="0"/>
              <a:t>Гарантия: каждый фрейм доставляется </a:t>
            </a:r>
            <a:r>
              <a:rPr lang="ru-RU" b="1" dirty="0"/>
              <a:t>ровно один раз</a:t>
            </a:r>
            <a:r>
              <a:rPr lang="ru-RU" dirty="0"/>
              <a:t>.</a:t>
            </a:r>
          </a:p>
          <a:p>
            <a:endParaRPr lang="en-US" dirty="0"/>
          </a:p>
        </p:txBody>
      </p:sp>
    </p:spTree>
    <p:extLst>
      <p:ext uri="{BB962C8B-B14F-4D97-AF65-F5344CB8AC3E}">
        <p14:creationId xmlns:p14="http://schemas.microsoft.com/office/powerpoint/2010/main" val="3134357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F6864-9E4F-3F35-BCAB-4FF52CE86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7FC588-45BE-0FDA-AA3C-1D62377BE751}"/>
              </a:ext>
            </a:extLst>
          </p:cNvPr>
          <p:cNvSpPr>
            <a:spLocks noGrp="1"/>
          </p:cNvSpPr>
          <p:nvPr>
            <p:ph type="title"/>
          </p:nvPr>
        </p:nvSpPr>
        <p:spPr/>
        <p:txBody>
          <a:bodyPr/>
          <a:lstStyle/>
          <a:p>
            <a:r>
              <a:rPr lang="ru-RU" dirty="0"/>
              <a:t>Управление потоком</a:t>
            </a:r>
            <a:endParaRPr lang="en-US" dirty="0"/>
          </a:p>
        </p:txBody>
      </p:sp>
      <p:sp>
        <p:nvSpPr>
          <p:cNvPr id="4" name="Text Placeholder 3">
            <a:extLst>
              <a:ext uri="{FF2B5EF4-FFF2-40B4-BE49-F238E27FC236}">
                <a16:creationId xmlns:a16="http://schemas.microsoft.com/office/drawing/2014/main" id="{D5A57CA2-3D7B-732C-D0C1-7F354D892D4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634050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24FD2-D0DE-BF98-5732-444679DDA10E}"/>
              </a:ext>
            </a:extLst>
          </p:cNvPr>
          <p:cNvSpPr>
            <a:spLocks noGrp="1"/>
          </p:cNvSpPr>
          <p:nvPr>
            <p:ph type="title"/>
          </p:nvPr>
        </p:nvSpPr>
        <p:spPr/>
        <p:txBody>
          <a:bodyPr/>
          <a:lstStyle/>
          <a:p>
            <a:r>
              <a:rPr lang="ru-RU" dirty="0"/>
              <a:t>Зачем нужно управление потоком</a:t>
            </a:r>
            <a:endParaRPr lang="en-US" dirty="0"/>
          </a:p>
        </p:txBody>
      </p:sp>
      <p:sp>
        <p:nvSpPr>
          <p:cNvPr id="3" name="Content Placeholder 2">
            <a:extLst>
              <a:ext uri="{FF2B5EF4-FFF2-40B4-BE49-F238E27FC236}">
                <a16:creationId xmlns:a16="http://schemas.microsoft.com/office/drawing/2014/main" id="{E93B19A4-E55C-F834-7580-E27F348767A3}"/>
              </a:ext>
            </a:extLst>
          </p:cNvPr>
          <p:cNvSpPr>
            <a:spLocks noGrp="1"/>
          </p:cNvSpPr>
          <p:nvPr>
            <p:ph idx="1"/>
          </p:nvPr>
        </p:nvSpPr>
        <p:spPr/>
        <p:txBody>
          <a:bodyPr>
            <a:normAutofit lnSpcReduction="10000"/>
          </a:bodyPr>
          <a:lstStyle/>
          <a:p>
            <a:r>
              <a:rPr lang="ru-RU" dirty="0"/>
              <a:t>Проблема:</a:t>
            </a:r>
          </a:p>
          <a:p>
            <a:pPr lvl="1"/>
            <a:r>
              <a:rPr lang="ru-RU" dirty="0"/>
              <a:t>Отправитель может быть слишком быстрым по сравнению с получателем.</a:t>
            </a:r>
            <a:br>
              <a:rPr lang="ru-RU" dirty="0"/>
            </a:br>
            <a:r>
              <a:rPr lang="ru-RU" dirty="0"/>
              <a:t>Пример: сервер → смартфон.</a:t>
            </a:r>
          </a:p>
          <a:p>
            <a:r>
              <a:rPr lang="ru-RU" dirty="0"/>
              <a:t>Что происходит без контроля:</a:t>
            </a:r>
          </a:p>
          <a:p>
            <a:pPr lvl="1"/>
            <a:r>
              <a:rPr lang="ru-RU" dirty="0"/>
              <a:t>Буферы получателя переполняются.</a:t>
            </a:r>
          </a:p>
          <a:p>
            <a:pPr lvl="1"/>
            <a:r>
              <a:rPr lang="ru-RU" dirty="0"/>
              <a:t>Фреймы начинают теряться не из-за шума, а из-за невозможности принять данные.</a:t>
            </a:r>
          </a:p>
          <a:p>
            <a:r>
              <a:rPr lang="ru-RU" dirty="0"/>
              <a:t>Задача управления потоком:</a:t>
            </a:r>
          </a:p>
          <a:p>
            <a:pPr lvl="1"/>
            <a:r>
              <a:rPr lang="ru-RU" dirty="0"/>
              <a:t>не допустить перегрузки медленного получателя быстрым отправителем.</a:t>
            </a:r>
          </a:p>
          <a:p>
            <a:endParaRPr lang="en-US" dirty="0"/>
          </a:p>
        </p:txBody>
      </p:sp>
    </p:spTree>
    <p:extLst>
      <p:ext uri="{BB962C8B-B14F-4D97-AF65-F5344CB8AC3E}">
        <p14:creationId xmlns:p14="http://schemas.microsoft.com/office/powerpoint/2010/main" val="27792007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44640-6268-0C08-ECCA-9764423CD21A}"/>
              </a:ext>
            </a:extLst>
          </p:cNvPr>
          <p:cNvSpPr>
            <a:spLocks noGrp="1"/>
          </p:cNvSpPr>
          <p:nvPr>
            <p:ph type="title"/>
          </p:nvPr>
        </p:nvSpPr>
        <p:spPr/>
        <p:txBody>
          <a:bodyPr/>
          <a:lstStyle/>
          <a:p>
            <a:r>
              <a:rPr lang="ru-RU" dirty="0"/>
              <a:t>Два подхода к управлению потоком</a:t>
            </a:r>
            <a:endParaRPr lang="en-US" dirty="0"/>
          </a:p>
        </p:txBody>
      </p:sp>
      <p:sp>
        <p:nvSpPr>
          <p:cNvPr id="3" name="Content Placeholder 2">
            <a:extLst>
              <a:ext uri="{FF2B5EF4-FFF2-40B4-BE49-F238E27FC236}">
                <a16:creationId xmlns:a16="http://schemas.microsoft.com/office/drawing/2014/main" id="{39B4B113-787D-1072-8018-DAFB242D2896}"/>
              </a:ext>
            </a:extLst>
          </p:cNvPr>
          <p:cNvSpPr>
            <a:spLocks noGrp="1"/>
          </p:cNvSpPr>
          <p:nvPr>
            <p:ph idx="1"/>
          </p:nvPr>
        </p:nvSpPr>
        <p:spPr/>
        <p:txBody>
          <a:bodyPr>
            <a:normAutofit/>
          </a:bodyPr>
          <a:lstStyle/>
          <a:p>
            <a:pPr marL="514350" indent="-514350">
              <a:buFont typeface="+mj-lt"/>
              <a:buAutoNum type="arabicPeriod"/>
            </a:pPr>
            <a:r>
              <a:rPr lang="ru-RU" dirty="0"/>
              <a:t>Управление потоком с обратной связью (</a:t>
            </a:r>
            <a:r>
              <a:rPr lang="ru-RU" dirty="0" err="1"/>
              <a:t>feedback-based</a:t>
            </a:r>
            <a:r>
              <a:rPr lang="ru-RU" dirty="0"/>
              <a:t>). Получатель сообщает отправителю:</a:t>
            </a:r>
          </a:p>
          <a:p>
            <a:pPr lvl="1"/>
            <a:r>
              <a:rPr lang="ru-RU" dirty="0"/>
              <a:t>можно ли продолжать передачу;</a:t>
            </a:r>
          </a:p>
          <a:p>
            <a:pPr lvl="1"/>
            <a:r>
              <a:rPr lang="ru-RU" dirty="0"/>
              <a:t>сколько фреймов он готов принять;</a:t>
            </a:r>
          </a:p>
          <a:p>
            <a:pPr lvl="1"/>
            <a:r>
              <a:rPr lang="ru-RU" dirty="0"/>
              <a:t>нужно ли притормозить поток.</a:t>
            </a:r>
          </a:p>
          <a:p>
            <a:pPr marL="514350" indent="-514350">
              <a:buFont typeface="+mj-lt"/>
              <a:buAutoNum type="arabicPeriod"/>
            </a:pPr>
            <a:r>
              <a:rPr lang="ru-RU" dirty="0"/>
              <a:t>Управление потоком с ограничением скорости (</a:t>
            </a:r>
            <a:r>
              <a:rPr lang="ru-RU" dirty="0" err="1"/>
              <a:t>rate-based</a:t>
            </a:r>
            <a:r>
              <a:rPr lang="ru-RU" dirty="0"/>
              <a:t>)</a:t>
            </a:r>
          </a:p>
          <a:p>
            <a:pPr lvl="1"/>
            <a:r>
              <a:rPr lang="ru-RU" dirty="0"/>
              <a:t>Отправитель сам ограничивает скорость передачи.</a:t>
            </a:r>
          </a:p>
          <a:p>
            <a:pPr lvl="1"/>
            <a:r>
              <a:rPr lang="ru-RU" dirty="0"/>
              <a:t>Не опирается на обратную связь.</a:t>
            </a:r>
          </a:p>
          <a:p>
            <a:pPr lvl="1"/>
            <a:r>
              <a:rPr lang="ru-RU" dirty="0"/>
              <a:t>Используется обычно на транспортном уровне (TCP), а не на канальном.</a:t>
            </a:r>
          </a:p>
          <a:p>
            <a:endParaRPr lang="en-US" dirty="0"/>
          </a:p>
        </p:txBody>
      </p:sp>
    </p:spTree>
    <p:extLst>
      <p:ext uri="{BB962C8B-B14F-4D97-AF65-F5344CB8AC3E}">
        <p14:creationId xmlns:p14="http://schemas.microsoft.com/office/powerpoint/2010/main" val="8042393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70B30-41B3-22EB-8EC5-2AD23DC3B171}"/>
              </a:ext>
            </a:extLst>
          </p:cNvPr>
          <p:cNvSpPr>
            <a:spLocks noGrp="1"/>
          </p:cNvSpPr>
          <p:nvPr>
            <p:ph type="title"/>
          </p:nvPr>
        </p:nvSpPr>
        <p:spPr/>
        <p:txBody>
          <a:bodyPr>
            <a:normAutofit/>
          </a:bodyPr>
          <a:lstStyle/>
          <a:p>
            <a:r>
              <a:rPr lang="ru-RU" dirty="0"/>
              <a:t>Управление потоком с обратной связью</a:t>
            </a:r>
            <a:endParaRPr lang="en-US" dirty="0"/>
          </a:p>
        </p:txBody>
      </p:sp>
      <p:sp>
        <p:nvSpPr>
          <p:cNvPr id="3" name="Content Placeholder 2">
            <a:extLst>
              <a:ext uri="{FF2B5EF4-FFF2-40B4-BE49-F238E27FC236}">
                <a16:creationId xmlns:a16="http://schemas.microsoft.com/office/drawing/2014/main" id="{EDB96E99-97FE-17FB-FE7F-444364940602}"/>
              </a:ext>
            </a:extLst>
          </p:cNvPr>
          <p:cNvSpPr>
            <a:spLocks noGrp="1"/>
          </p:cNvSpPr>
          <p:nvPr>
            <p:ph idx="1"/>
          </p:nvPr>
        </p:nvSpPr>
        <p:spPr/>
        <p:txBody>
          <a:bodyPr>
            <a:normAutofit/>
          </a:bodyPr>
          <a:lstStyle/>
          <a:p>
            <a:r>
              <a:rPr lang="ru-RU" dirty="0"/>
              <a:t>Основная идея:</a:t>
            </a:r>
          </a:p>
          <a:p>
            <a:pPr lvl="1"/>
            <a:r>
              <a:rPr lang="ru-RU" dirty="0"/>
              <a:t>Отправитель не может отправлять произвольное количество фреймов подряд</a:t>
            </a:r>
          </a:p>
          <a:p>
            <a:pPr lvl="1"/>
            <a:r>
              <a:rPr lang="ru-RU" dirty="0"/>
              <a:t>Получатель сообщает, сколько фреймов он готов принять</a:t>
            </a:r>
          </a:p>
          <a:p>
            <a:pPr lvl="1"/>
            <a:r>
              <a:rPr lang="ru-RU" dirty="0"/>
              <a:t>После получения порции данных он может разрешить отправить ещё</a:t>
            </a:r>
          </a:p>
          <a:p>
            <a:r>
              <a:rPr lang="ru-RU" dirty="0"/>
              <a:t>Результат:</a:t>
            </a:r>
          </a:p>
          <a:p>
            <a:pPr lvl="1"/>
            <a:r>
              <a:rPr lang="ru-RU" dirty="0"/>
              <a:t>Нет переполнения буфера у получателя</a:t>
            </a:r>
          </a:p>
          <a:p>
            <a:pPr lvl="1"/>
            <a:r>
              <a:rPr lang="ru-RU" dirty="0"/>
              <a:t>Передача остаётся стабильной и предсказуемой</a:t>
            </a:r>
          </a:p>
        </p:txBody>
      </p:sp>
    </p:spTree>
    <p:extLst>
      <p:ext uri="{BB962C8B-B14F-4D97-AF65-F5344CB8AC3E}">
        <p14:creationId xmlns:p14="http://schemas.microsoft.com/office/powerpoint/2010/main" val="35161854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DDF23C-78E0-FAD3-2E92-2D50B24EF984}"/>
              </a:ext>
            </a:extLst>
          </p:cNvPr>
          <p:cNvSpPr>
            <a:spLocks noGrp="1"/>
          </p:cNvSpPr>
          <p:nvPr>
            <p:ph type="title"/>
          </p:nvPr>
        </p:nvSpPr>
        <p:spPr/>
        <p:txBody>
          <a:bodyPr/>
          <a:lstStyle/>
          <a:p>
            <a:r>
              <a:rPr lang="ru-RU" dirty="0"/>
              <a:t>Обнаружение и исправление ошибок</a:t>
            </a:r>
            <a:endParaRPr lang="en-US" dirty="0"/>
          </a:p>
        </p:txBody>
      </p:sp>
      <p:sp>
        <p:nvSpPr>
          <p:cNvPr id="5" name="Text Placeholder 4">
            <a:extLst>
              <a:ext uri="{FF2B5EF4-FFF2-40B4-BE49-F238E27FC236}">
                <a16:creationId xmlns:a16="http://schemas.microsoft.com/office/drawing/2014/main" id="{174CDAC2-575E-47AD-BE93-03A64D107DF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656389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81CD5D-D941-BD10-502A-AC90B9D21174}"/>
              </a:ext>
            </a:extLst>
          </p:cNvPr>
          <p:cNvSpPr>
            <a:spLocks noGrp="1"/>
          </p:cNvSpPr>
          <p:nvPr>
            <p:ph type="title"/>
          </p:nvPr>
        </p:nvSpPr>
        <p:spPr/>
        <p:txBody>
          <a:bodyPr>
            <a:normAutofit/>
          </a:bodyPr>
          <a:lstStyle/>
          <a:p>
            <a:r>
              <a:rPr lang="ru-RU" dirty="0"/>
              <a:t>Ошибки в каналах связи — неизбежное зло</a:t>
            </a:r>
            <a:endParaRPr lang="en-US" dirty="0"/>
          </a:p>
        </p:txBody>
      </p:sp>
      <p:sp>
        <p:nvSpPr>
          <p:cNvPr id="5" name="Content Placeholder 4">
            <a:extLst>
              <a:ext uri="{FF2B5EF4-FFF2-40B4-BE49-F238E27FC236}">
                <a16:creationId xmlns:a16="http://schemas.microsoft.com/office/drawing/2014/main" id="{A5D60E60-4D78-91F2-740E-368B174D7571}"/>
              </a:ext>
            </a:extLst>
          </p:cNvPr>
          <p:cNvSpPr>
            <a:spLocks noGrp="1"/>
          </p:cNvSpPr>
          <p:nvPr>
            <p:ph idx="1"/>
          </p:nvPr>
        </p:nvSpPr>
        <p:spPr/>
        <p:txBody>
          <a:bodyPr/>
          <a:lstStyle/>
          <a:p>
            <a:r>
              <a:rPr lang="ru-RU" dirty="0"/>
              <a:t>Каналы сильно отличаются по качеству</a:t>
            </a:r>
          </a:p>
          <a:p>
            <a:pPr lvl="1"/>
            <a:r>
              <a:rPr lang="ru-RU" dirty="0"/>
              <a:t>Оптоволокно — очень мало ошибок</a:t>
            </a:r>
          </a:p>
          <a:p>
            <a:pPr lvl="1"/>
            <a:r>
              <a:rPr lang="ru-RU" dirty="0"/>
              <a:t>Беспроводные и старые медные линии — ошибок намного больше</a:t>
            </a:r>
          </a:p>
          <a:p>
            <a:r>
              <a:rPr lang="ru-RU" dirty="0"/>
              <a:t>Полностью убрать ошибки слишком дорого</a:t>
            </a:r>
          </a:p>
          <a:p>
            <a:r>
              <a:rPr lang="ru-RU" dirty="0"/>
              <a:t>Нужны методы:</a:t>
            </a:r>
          </a:p>
          <a:p>
            <a:pPr lvl="1"/>
            <a:r>
              <a:rPr lang="ru-RU" dirty="0"/>
              <a:t>обнаружения ошибок</a:t>
            </a:r>
          </a:p>
          <a:p>
            <a:pPr lvl="1"/>
            <a:r>
              <a:rPr lang="ru-RU" dirty="0"/>
              <a:t>и исправления ошибок</a:t>
            </a:r>
          </a:p>
          <a:p>
            <a:endParaRPr lang="en-US" dirty="0"/>
          </a:p>
        </p:txBody>
      </p:sp>
    </p:spTree>
    <p:extLst>
      <p:ext uri="{BB962C8B-B14F-4D97-AF65-F5344CB8AC3E}">
        <p14:creationId xmlns:p14="http://schemas.microsoft.com/office/powerpoint/2010/main" val="15327012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15DAC9-9AC0-69C2-45C4-6386931E32D1}"/>
              </a:ext>
            </a:extLst>
          </p:cNvPr>
          <p:cNvSpPr>
            <a:spLocks noGrp="1"/>
          </p:cNvSpPr>
          <p:nvPr>
            <p:ph type="title"/>
          </p:nvPr>
        </p:nvSpPr>
        <p:spPr/>
        <p:txBody>
          <a:bodyPr/>
          <a:lstStyle/>
          <a:p>
            <a:r>
              <a:rPr lang="ru-RU" dirty="0"/>
              <a:t>Стратегии</a:t>
            </a:r>
            <a:r>
              <a:rPr lang="en-US" dirty="0"/>
              <a:t> </a:t>
            </a:r>
            <a:r>
              <a:rPr lang="ru-RU" dirty="0"/>
              <a:t>обработки</a:t>
            </a:r>
            <a:endParaRPr lang="en-US" dirty="0"/>
          </a:p>
        </p:txBody>
      </p:sp>
      <p:sp>
        <p:nvSpPr>
          <p:cNvPr id="5" name="Text Placeholder 4">
            <a:extLst>
              <a:ext uri="{FF2B5EF4-FFF2-40B4-BE49-F238E27FC236}">
                <a16:creationId xmlns:a16="http://schemas.microsoft.com/office/drawing/2014/main" id="{F56FA2EB-5D02-9ACD-1C94-7107F0913F61}"/>
              </a:ext>
            </a:extLst>
          </p:cNvPr>
          <p:cNvSpPr>
            <a:spLocks noGrp="1"/>
          </p:cNvSpPr>
          <p:nvPr>
            <p:ph type="body" idx="1"/>
          </p:nvPr>
        </p:nvSpPr>
        <p:spPr/>
        <p:txBody>
          <a:bodyPr/>
          <a:lstStyle/>
          <a:p>
            <a:r>
              <a:rPr lang="en-US" dirty="0"/>
              <a:t>FEC (Forward Error Correction)</a:t>
            </a:r>
          </a:p>
        </p:txBody>
      </p:sp>
      <p:sp>
        <p:nvSpPr>
          <p:cNvPr id="3" name="Content Placeholder 2">
            <a:extLst>
              <a:ext uri="{FF2B5EF4-FFF2-40B4-BE49-F238E27FC236}">
                <a16:creationId xmlns:a16="http://schemas.microsoft.com/office/drawing/2014/main" id="{ACED2A4A-5064-B9A0-7F84-D8391E91EB0C}"/>
              </a:ext>
            </a:extLst>
          </p:cNvPr>
          <p:cNvSpPr>
            <a:spLocks noGrp="1"/>
          </p:cNvSpPr>
          <p:nvPr>
            <p:ph sz="half" idx="2"/>
          </p:nvPr>
        </p:nvSpPr>
        <p:spPr/>
        <p:txBody>
          <a:bodyPr>
            <a:normAutofit fontScale="92500" lnSpcReduction="20000"/>
          </a:bodyPr>
          <a:lstStyle/>
          <a:p>
            <a:r>
              <a:rPr lang="ru-RU" dirty="0"/>
              <a:t>Корректирующие коды (FEC, </a:t>
            </a:r>
            <a:r>
              <a:rPr lang="ru-RU" dirty="0" err="1"/>
              <a:t>Forward</a:t>
            </a:r>
            <a:r>
              <a:rPr lang="ru-RU" dirty="0"/>
              <a:t> </a:t>
            </a:r>
            <a:r>
              <a:rPr lang="ru-RU" dirty="0" err="1"/>
              <a:t>Error</a:t>
            </a:r>
            <a:r>
              <a:rPr lang="ru-RU" dirty="0"/>
              <a:t> </a:t>
            </a:r>
            <a:r>
              <a:rPr lang="ru-RU" dirty="0" err="1"/>
              <a:t>Correction</a:t>
            </a:r>
            <a:r>
              <a:rPr lang="ru-RU" dirty="0"/>
              <a:t>)</a:t>
            </a:r>
          </a:p>
          <a:p>
            <a:r>
              <a:rPr lang="ru-RU" dirty="0"/>
              <a:t>В данные добавляется много избыточных битов</a:t>
            </a:r>
          </a:p>
          <a:p>
            <a:r>
              <a:rPr lang="ru-RU" dirty="0"/>
              <a:t>Получатель может сам восстановить правильные биты</a:t>
            </a:r>
          </a:p>
          <a:p>
            <a:r>
              <a:rPr lang="ru-RU" dirty="0"/>
              <a:t>Полезно в:</a:t>
            </a:r>
          </a:p>
          <a:p>
            <a:pPr lvl="1"/>
            <a:r>
              <a:rPr lang="ru-RU" dirty="0"/>
              <a:t>зашумлённых каналах (радио, спутник, </a:t>
            </a:r>
            <a:r>
              <a:rPr lang="ru-RU" dirty="0" err="1"/>
              <a:t>Wi</a:t>
            </a:r>
            <a:r>
              <a:rPr lang="ru-RU" dirty="0"/>
              <a:t>-Fi)</a:t>
            </a:r>
          </a:p>
          <a:p>
            <a:pPr lvl="1"/>
            <a:r>
              <a:rPr lang="ru-RU" dirty="0"/>
              <a:t>когда повторная передача дорога или невозможна</a:t>
            </a:r>
          </a:p>
          <a:p>
            <a:endParaRPr lang="en-US" dirty="0"/>
          </a:p>
        </p:txBody>
      </p:sp>
      <p:sp>
        <p:nvSpPr>
          <p:cNvPr id="6" name="Text Placeholder 5">
            <a:extLst>
              <a:ext uri="{FF2B5EF4-FFF2-40B4-BE49-F238E27FC236}">
                <a16:creationId xmlns:a16="http://schemas.microsoft.com/office/drawing/2014/main" id="{6D7D80F6-6981-9668-5763-747A2292FD0E}"/>
              </a:ext>
            </a:extLst>
          </p:cNvPr>
          <p:cNvSpPr>
            <a:spLocks noGrp="1"/>
          </p:cNvSpPr>
          <p:nvPr>
            <p:ph type="body" sz="quarter" idx="3"/>
          </p:nvPr>
        </p:nvSpPr>
        <p:spPr/>
        <p:txBody>
          <a:bodyPr/>
          <a:lstStyle/>
          <a:p>
            <a:r>
              <a:rPr lang="ru-RU" dirty="0"/>
              <a:t>Коды только для обнаружения ошибок</a:t>
            </a:r>
            <a:endParaRPr lang="en-US" dirty="0"/>
          </a:p>
        </p:txBody>
      </p:sp>
      <p:sp>
        <p:nvSpPr>
          <p:cNvPr id="7" name="Content Placeholder 6">
            <a:extLst>
              <a:ext uri="{FF2B5EF4-FFF2-40B4-BE49-F238E27FC236}">
                <a16:creationId xmlns:a16="http://schemas.microsoft.com/office/drawing/2014/main" id="{2ED5CC20-3CF5-FB35-E094-33E51D749C30}"/>
              </a:ext>
            </a:extLst>
          </p:cNvPr>
          <p:cNvSpPr>
            <a:spLocks noGrp="1"/>
          </p:cNvSpPr>
          <p:nvPr>
            <p:ph sz="quarter" idx="4"/>
          </p:nvPr>
        </p:nvSpPr>
        <p:spPr/>
        <p:txBody>
          <a:bodyPr>
            <a:normAutofit fontScale="92500" lnSpcReduction="20000"/>
          </a:bodyPr>
          <a:lstStyle/>
          <a:p>
            <a:r>
              <a:rPr lang="ru-RU" dirty="0"/>
              <a:t>Избыточные биты позволяют заметить, что данные битые</a:t>
            </a:r>
          </a:p>
          <a:p>
            <a:r>
              <a:rPr lang="ru-RU" dirty="0"/>
              <a:t>Получатель просит повторную передачу</a:t>
            </a:r>
          </a:p>
          <a:p>
            <a:r>
              <a:rPr lang="ru-RU" dirty="0"/>
              <a:t>Полезно в:</a:t>
            </a:r>
          </a:p>
          <a:p>
            <a:pPr lvl="1"/>
            <a:r>
              <a:rPr lang="ru-RU" dirty="0"/>
              <a:t>качественных проводных каналах</a:t>
            </a:r>
          </a:p>
          <a:p>
            <a:pPr lvl="1"/>
            <a:r>
              <a:rPr lang="ru-RU" dirty="0"/>
              <a:t>там, где повторить не проблема</a:t>
            </a:r>
          </a:p>
        </p:txBody>
      </p:sp>
    </p:spTree>
    <p:extLst>
      <p:ext uri="{BB962C8B-B14F-4D97-AF65-F5344CB8AC3E}">
        <p14:creationId xmlns:p14="http://schemas.microsoft.com/office/powerpoint/2010/main" val="29742893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4E0654E-9DBF-ACFD-07C8-361E5A05C9D0}"/>
              </a:ext>
            </a:extLst>
          </p:cNvPr>
          <p:cNvSpPr>
            <a:spLocks noGrp="1"/>
          </p:cNvSpPr>
          <p:nvPr>
            <p:ph type="title"/>
          </p:nvPr>
        </p:nvSpPr>
        <p:spPr/>
        <p:txBody>
          <a:bodyPr/>
          <a:lstStyle/>
          <a:p>
            <a:r>
              <a:rPr lang="ru-RU" dirty="0"/>
              <a:t>Идея кодов коррекции ошибок</a:t>
            </a:r>
            <a:endParaRPr lang="en-US" dirty="0"/>
          </a:p>
        </p:txBody>
      </p:sp>
      <p:sp>
        <p:nvSpPr>
          <p:cNvPr id="8" name="Content Placeholder 7">
            <a:extLst>
              <a:ext uri="{FF2B5EF4-FFF2-40B4-BE49-F238E27FC236}">
                <a16:creationId xmlns:a16="http://schemas.microsoft.com/office/drawing/2014/main" id="{34288DC3-0A3A-4DB1-143F-517A33742093}"/>
              </a:ext>
            </a:extLst>
          </p:cNvPr>
          <p:cNvSpPr>
            <a:spLocks noGrp="1"/>
          </p:cNvSpPr>
          <p:nvPr>
            <p:ph idx="1"/>
          </p:nvPr>
        </p:nvSpPr>
        <p:spPr/>
        <p:txBody>
          <a:bodyPr>
            <a:normAutofit/>
          </a:bodyPr>
          <a:lstStyle/>
          <a:p>
            <a:r>
              <a:rPr lang="ru-RU" dirty="0"/>
              <a:t>Фрейм = </a:t>
            </a:r>
            <a:r>
              <a:rPr lang="ru-RU" b="1" dirty="0"/>
              <a:t>m</a:t>
            </a:r>
            <a:r>
              <a:rPr lang="ru-RU" dirty="0"/>
              <a:t> информационных битов + </a:t>
            </a:r>
            <a:r>
              <a:rPr lang="ru-RU" b="1" dirty="0"/>
              <a:t>r</a:t>
            </a:r>
            <a:r>
              <a:rPr lang="ru-RU" dirty="0"/>
              <a:t> контрольных (избыточных) битов</a:t>
            </a:r>
          </a:p>
          <a:p>
            <a:r>
              <a:rPr lang="ru-RU" dirty="0"/>
              <a:t>Коды обычно:</a:t>
            </a:r>
          </a:p>
          <a:p>
            <a:pPr lvl="1"/>
            <a:r>
              <a:rPr lang="ru-RU" b="1" dirty="0"/>
              <a:t>блочные</a:t>
            </a:r>
            <a:r>
              <a:rPr lang="ru-RU" dirty="0"/>
              <a:t>: кодируем блок из m бит → n = m + r</a:t>
            </a:r>
          </a:p>
          <a:p>
            <a:pPr lvl="1"/>
            <a:r>
              <a:rPr lang="ru-RU" b="1" dirty="0"/>
              <a:t>систематические</a:t>
            </a:r>
            <a:r>
              <a:rPr lang="ru-RU" dirty="0"/>
              <a:t>: биты данных передаются как есть + контроль</a:t>
            </a:r>
          </a:p>
          <a:p>
            <a:pPr lvl="1"/>
            <a:r>
              <a:rPr lang="ru-RU" b="1" dirty="0"/>
              <a:t>линейные</a:t>
            </a:r>
            <a:r>
              <a:rPr lang="ru-RU" dirty="0"/>
              <a:t>: контроль вычисляется через XOR, матрицы и т. д.</a:t>
            </a:r>
          </a:p>
          <a:p>
            <a:r>
              <a:rPr lang="ru-RU" dirty="0"/>
              <a:t>Важное понятие: </a:t>
            </a:r>
            <a:r>
              <a:rPr lang="ru-RU" b="1" dirty="0"/>
              <a:t>расстояние Хэмминга</a:t>
            </a:r>
            <a:r>
              <a:rPr lang="ru-RU" dirty="0"/>
              <a:t> между кодовыми словами</a:t>
            </a:r>
          </a:p>
          <a:p>
            <a:pPr lvl="1"/>
            <a:r>
              <a:rPr lang="ru-RU" dirty="0"/>
              <a:t>Чем оно больше, тем больше ошибок код способен обнаружить/исправить</a:t>
            </a:r>
          </a:p>
          <a:p>
            <a:endParaRPr lang="en-US" dirty="0"/>
          </a:p>
        </p:txBody>
      </p:sp>
    </p:spTree>
    <p:extLst>
      <p:ext uri="{BB962C8B-B14F-4D97-AF65-F5344CB8AC3E}">
        <p14:creationId xmlns:p14="http://schemas.microsoft.com/office/powerpoint/2010/main" val="35015806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40D06-DC90-4195-9A95-8C45A6CF937E}"/>
              </a:ext>
            </a:extLst>
          </p:cNvPr>
          <p:cNvSpPr>
            <a:spLocks noGrp="1"/>
          </p:cNvSpPr>
          <p:nvPr>
            <p:ph type="title"/>
          </p:nvPr>
        </p:nvSpPr>
        <p:spPr/>
        <p:txBody>
          <a:bodyPr>
            <a:normAutofit/>
          </a:bodyPr>
          <a:lstStyle/>
          <a:p>
            <a:r>
              <a:rPr lang="ru-RU" dirty="0"/>
              <a:t>Типы корректирующих кодов (очень кратко)</a:t>
            </a:r>
            <a:endParaRPr lang="en-US" dirty="0"/>
          </a:p>
        </p:txBody>
      </p:sp>
      <p:sp>
        <p:nvSpPr>
          <p:cNvPr id="3" name="Content Placeholder 2">
            <a:extLst>
              <a:ext uri="{FF2B5EF4-FFF2-40B4-BE49-F238E27FC236}">
                <a16:creationId xmlns:a16="http://schemas.microsoft.com/office/drawing/2014/main" id="{F508D653-3199-D59F-DACA-D33D83B4422F}"/>
              </a:ext>
            </a:extLst>
          </p:cNvPr>
          <p:cNvSpPr>
            <a:spLocks noGrp="1"/>
          </p:cNvSpPr>
          <p:nvPr>
            <p:ph idx="1"/>
          </p:nvPr>
        </p:nvSpPr>
        <p:spPr/>
        <p:txBody>
          <a:bodyPr>
            <a:normAutofit fontScale="77500" lnSpcReduction="20000"/>
          </a:bodyPr>
          <a:lstStyle/>
          <a:p>
            <a:r>
              <a:rPr lang="ru-RU" dirty="0">
                <a:hlinkClick r:id="rId3"/>
              </a:rPr>
              <a:t>Коды Хэмминга</a:t>
            </a:r>
            <a:endParaRPr lang="ru-RU" dirty="0"/>
          </a:p>
          <a:p>
            <a:pPr lvl="1"/>
            <a:r>
              <a:rPr lang="ru-RU" dirty="0"/>
              <a:t>Исправляют одиночные ошибки (1 бит)</a:t>
            </a:r>
          </a:p>
          <a:p>
            <a:pPr lvl="1"/>
            <a:r>
              <a:rPr lang="ru-RU" dirty="0"/>
              <a:t>Простые, используются, например, в памяти (ECC RAM)</a:t>
            </a:r>
          </a:p>
          <a:p>
            <a:r>
              <a:rPr lang="ru-RU" dirty="0"/>
              <a:t>Сверточные коды</a:t>
            </a:r>
          </a:p>
          <a:p>
            <a:pPr lvl="1"/>
            <a:r>
              <a:rPr lang="ru-RU" dirty="0"/>
              <a:t>Кодируют не блок, а поток битов с памятью</a:t>
            </a:r>
          </a:p>
          <a:p>
            <a:pPr lvl="1"/>
            <a:r>
              <a:rPr lang="ru-RU" dirty="0"/>
              <a:t>Декодируются </a:t>
            </a:r>
            <a:r>
              <a:rPr lang="ru-RU" dirty="0">
                <a:hlinkClick r:id="rId4"/>
              </a:rPr>
              <a:t>алгоритмом </a:t>
            </a:r>
            <a:r>
              <a:rPr lang="ru-RU" dirty="0" err="1">
                <a:hlinkClick r:id="rId4"/>
              </a:rPr>
              <a:t>Витерби</a:t>
            </a:r>
            <a:endParaRPr lang="ru-RU" dirty="0"/>
          </a:p>
          <a:p>
            <a:pPr lvl="1"/>
            <a:r>
              <a:rPr lang="ru-RU" dirty="0"/>
              <a:t>Используются в GSM, спутниковой связи, 802.11</a:t>
            </a:r>
          </a:p>
          <a:p>
            <a:r>
              <a:rPr lang="ru-RU" dirty="0">
                <a:hlinkClick r:id="rId5"/>
              </a:rPr>
              <a:t>Коды Рида–Соломона</a:t>
            </a:r>
            <a:endParaRPr lang="ru-RU" dirty="0"/>
          </a:p>
          <a:p>
            <a:pPr lvl="1"/>
            <a:r>
              <a:rPr lang="ru-RU" dirty="0"/>
              <a:t>Работают с байтами/символами, а не отдельными битами</a:t>
            </a:r>
          </a:p>
          <a:p>
            <a:pPr lvl="1"/>
            <a:r>
              <a:rPr lang="ru-RU" dirty="0"/>
              <a:t>Хорошо чинят пакеты ошибок (подряд много бит)</a:t>
            </a:r>
          </a:p>
          <a:p>
            <a:pPr lvl="1"/>
            <a:r>
              <a:rPr lang="ru-RU" dirty="0"/>
              <a:t>CD, DVD, Blu-</a:t>
            </a:r>
            <a:r>
              <a:rPr lang="ru-RU" dirty="0" err="1"/>
              <a:t>ray</a:t>
            </a:r>
            <a:r>
              <a:rPr lang="ru-RU" dirty="0"/>
              <a:t>, DSL, кабельное ТВ</a:t>
            </a:r>
          </a:p>
          <a:p>
            <a:r>
              <a:rPr lang="ru-RU" dirty="0">
                <a:hlinkClick r:id="rId6"/>
              </a:rPr>
              <a:t>Коды LDPC</a:t>
            </a:r>
            <a:r>
              <a:rPr lang="en-US" dirty="0"/>
              <a:t> </a:t>
            </a:r>
            <a:r>
              <a:rPr lang="ru-RU" dirty="0"/>
              <a:t>(</a:t>
            </a:r>
            <a:r>
              <a:rPr lang="en-US" dirty="0"/>
              <a:t>Low-density parity-check)</a:t>
            </a:r>
            <a:endParaRPr lang="ru-RU" dirty="0"/>
          </a:p>
          <a:p>
            <a:pPr lvl="1"/>
            <a:r>
              <a:rPr lang="ru-RU" dirty="0"/>
              <a:t>Большие блоки, редкие «единицы» в матрицах</a:t>
            </a:r>
          </a:p>
          <a:p>
            <a:pPr lvl="1"/>
            <a:r>
              <a:rPr lang="ru-RU" dirty="0"/>
              <a:t>Очень близко подходят к пределу Шеннона</a:t>
            </a:r>
          </a:p>
          <a:p>
            <a:pPr lvl="1"/>
            <a:r>
              <a:rPr lang="ru-RU" dirty="0"/>
              <a:t>Современные стандарты: 10G Ethernet, новые версии </a:t>
            </a:r>
            <a:r>
              <a:rPr lang="ru-RU" dirty="0" err="1"/>
              <a:t>Wi</a:t>
            </a:r>
            <a:r>
              <a:rPr lang="ru-RU" dirty="0"/>
              <a:t>-Fi, цифровое ТВ</a:t>
            </a:r>
          </a:p>
          <a:p>
            <a:endParaRPr lang="en-US" dirty="0"/>
          </a:p>
        </p:txBody>
      </p:sp>
    </p:spTree>
    <p:extLst>
      <p:ext uri="{BB962C8B-B14F-4D97-AF65-F5344CB8AC3E}">
        <p14:creationId xmlns:p14="http://schemas.microsoft.com/office/powerpoint/2010/main" val="786674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E62A2-8809-5763-9AEC-DC51516F1990}"/>
              </a:ext>
            </a:extLst>
          </p:cNvPr>
          <p:cNvSpPr>
            <a:spLocks noGrp="1"/>
          </p:cNvSpPr>
          <p:nvPr>
            <p:ph type="title"/>
          </p:nvPr>
        </p:nvSpPr>
        <p:spPr/>
        <p:txBody>
          <a:bodyPr/>
          <a:lstStyle/>
          <a:p>
            <a:r>
              <a:rPr lang="ru-RU" dirty="0"/>
              <a:t>Коды для обнаружения ошибок</a:t>
            </a:r>
            <a:endParaRPr lang="en-US" dirty="0"/>
          </a:p>
        </p:txBody>
      </p:sp>
      <p:sp>
        <p:nvSpPr>
          <p:cNvPr id="3" name="Content Placeholder 2">
            <a:extLst>
              <a:ext uri="{FF2B5EF4-FFF2-40B4-BE49-F238E27FC236}">
                <a16:creationId xmlns:a16="http://schemas.microsoft.com/office/drawing/2014/main" id="{69EDE2FB-29F8-9FA4-450D-E4FDA47F9A24}"/>
              </a:ext>
            </a:extLst>
          </p:cNvPr>
          <p:cNvSpPr>
            <a:spLocks noGrp="1"/>
          </p:cNvSpPr>
          <p:nvPr>
            <p:ph idx="1"/>
          </p:nvPr>
        </p:nvSpPr>
        <p:spPr/>
        <p:txBody>
          <a:bodyPr>
            <a:normAutofit fontScale="77500" lnSpcReduction="20000"/>
          </a:bodyPr>
          <a:lstStyle/>
          <a:p>
            <a:r>
              <a:rPr lang="ru-RU" dirty="0"/>
              <a:t>Используются, когда </a:t>
            </a:r>
            <a:r>
              <a:rPr lang="ru-RU" b="1" dirty="0"/>
              <a:t>дешевле переслать ещё раз</a:t>
            </a:r>
            <a:r>
              <a:rPr lang="ru-RU" dirty="0"/>
              <a:t>, чем исправлять на лету.</a:t>
            </a:r>
          </a:p>
          <a:p>
            <a:r>
              <a:rPr lang="ru-RU" dirty="0"/>
              <a:t>Основные виды:</a:t>
            </a:r>
          </a:p>
          <a:p>
            <a:r>
              <a:rPr lang="ru-RU" b="1" dirty="0"/>
              <a:t>Бит чётности</a:t>
            </a:r>
            <a:endParaRPr lang="ru-RU" dirty="0"/>
          </a:p>
          <a:p>
            <a:pPr lvl="1"/>
            <a:r>
              <a:rPr lang="ru-RU" dirty="0"/>
              <a:t>1 дополнительный бит на блок</a:t>
            </a:r>
          </a:p>
          <a:p>
            <a:pPr lvl="1"/>
            <a:r>
              <a:rPr lang="ru-RU" dirty="0"/>
              <a:t>Обнаруживает </a:t>
            </a:r>
            <a:r>
              <a:rPr lang="ru-RU" b="1" dirty="0"/>
              <a:t>любой одиночный</a:t>
            </a:r>
            <a:r>
              <a:rPr lang="ru-RU" dirty="0"/>
              <a:t> сбой бита</a:t>
            </a:r>
          </a:p>
          <a:p>
            <a:pPr lvl="1"/>
            <a:r>
              <a:rPr lang="ru-RU" dirty="0"/>
              <a:t>Почти бесплатен, но слаб против пакетов ошибок</a:t>
            </a:r>
          </a:p>
          <a:p>
            <a:r>
              <a:rPr lang="ru-RU" b="1" dirty="0"/>
              <a:t>Контрольные суммы</a:t>
            </a:r>
            <a:endParaRPr lang="ru-RU" dirty="0"/>
          </a:p>
          <a:p>
            <a:pPr lvl="1"/>
            <a:r>
              <a:rPr lang="ru-RU" dirty="0"/>
              <a:t>Суммирование данных (обычно по словам, не по битам)</a:t>
            </a:r>
          </a:p>
          <a:p>
            <a:pPr lvl="1"/>
            <a:r>
              <a:rPr lang="ru-RU" dirty="0"/>
              <a:t>Пример: 16-битная </a:t>
            </a:r>
            <a:r>
              <a:rPr lang="ru-RU" dirty="0" err="1"/>
              <a:t>checksum</a:t>
            </a:r>
            <a:r>
              <a:rPr lang="ru-RU" dirty="0"/>
              <a:t> в IP</a:t>
            </a:r>
          </a:p>
          <a:p>
            <a:pPr lvl="1"/>
            <a:r>
              <a:rPr lang="ru-RU" dirty="0"/>
              <a:t>Лучше, чем один бит чётности, но тоже имеет «слепые зоны»</a:t>
            </a:r>
          </a:p>
          <a:p>
            <a:r>
              <a:rPr lang="ru-RU" b="1" dirty="0"/>
              <a:t>Циклические избыточные коды (CRC)</a:t>
            </a:r>
            <a:endParaRPr lang="ru-RU" dirty="0"/>
          </a:p>
          <a:p>
            <a:pPr lvl="1"/>
            <a:r>
              <a:rPr lang="ru-RU" dirty="0"/>
              <a:t>Наиболее популярный метод на канальном уровне</a:t>
            </a:r>
          </a:p>
          <a:p>
            <a:pPr lvl="1"/>
            <a:r>
              <a:rPr lang="ru-RU" dirty="0"/>
              <a:t>Очень низкая вероятность пропустить ошибку</a:t>
            </a:r>
          </a:p>
          <a:p>
            <a:pPr lvl="1"/>
            <a:r>
              <a:rPr lang="ru-RU" dirty="0"/>
              <a:t>Используется в Ethernet, </a:t>
            </a:r>
            <a:r>
              <a:rPr lang="ru-RU" dirty="0" err="1"/>
              <a:t>Wi</a:t>
            </a:r>
            <a:r>
              <a:rPr lang="ru-RU" dirty="0"/>
              <a:t>-Fi, PPP, SONET и т. д.</a:t>
            </a:r>
          </a:p>
          <a:p>
            <a:endParaRPr lang="en-US" dirty="0"/>
          </a:p>
        </p:txBody>
      </p:sp>
    </p:spTree>
    <p:extLst>
      <p:ext uri="{BB962C8B-B14F-4D97-AF65-F5344CB8AC3E}">
        <p14:creationId xmlns:p14="http://schemas.microsoft.com/office/powerpoint/2010/main" val="34773795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AF6F6-A08F-CD25-2472-750DA9AA9E2C}"/>
              </a:ext>
            </a:extLst>
          </p:cNvPr>
          <p:cNvSpPr>
            <a:spLocks noGrp="1"/>
          </p:cNvSpPr>
          <p:nvPr>
            <p:ph type="title"/>
          </p:nvPr>
        </p:nvSpPr>
        <p:spPr/>
        <p:txBody>
          <a:bodyPr/>
          <a:lstStyle/>
          <a:p>
            <a:r>
              <a:rPr lang="ru-RU" dirty="0"/>
              <a:t>Идея CRC (циклического кода)</a:t>
            </a:r>
            <a:endParaRPr lang="en-US" dirty="0"/>
          </a:p>
        </p:txBody>
      </p:sp>
      <p:sp>
        <p:nvSpPr>
          <p:cNvPr id="3" name="Content Placeholder 2">
            <a:extLst>
              <a:ext uri="{FF2B5EF4-FFF2-40B4-BE49-F238E27FC236}">
                <a16:creationId xmlns:a16="http://schemas.microsoft.com/office/drawing/2014/main" id="{73706E5E-5FB5-D1B2-1AB4-BFB47019A199}"/>
              </a:ext>
            </a:extLst>
          </p:cNvPr>
          <p:cNvSpPr>
            <a:spLocks noGrp="1"/>
          </p:cNvSpPr>
          <p:nvPr>
            <p:ph idx="1"/>
          </p:nvPr>
        </p:nvSpPr>
        <p:spPr/>
        <p:txBody>
          <a:bodyPr>
            <a:normAutofit fontScale="92500" lnSpcReduction="10000"/>
          </a:bodyPr>
          <a:lstStyle/>
          <a:p>
            <a:r>
              <a:rPr lang="ru-RU" dirty="0"/>
              <a:t>Данные рассматриваются как многочлен по модулю 2</a:t>
            </a:r>
          </a:p>
          <a:p>
            <a:r>
              <a:rPr lang="ru-RU" dirty="0"/>
              <a:t>Отправитель и получатель заранее согласуют образующий многочлен G(x)</a:t>
            </a:r>
          </a:p>
          <a:p>
            <a:r>
              <a:rPr lang="ru-RU" dirty="0"/>
              <a:t>Отправитель:</a:t>
            </a:r>
          </a:p>
          <a:p>
            <a:pPr lvl="1"/>
            <a:r>
              <a:rPr lang="ru-RU" dirty="0"/>
              <a:t>«Приклеивает» к данным r нулей</a:t>
            </a:r>
            <a:r>
              <a:rPr lang="en-US" dirty="0"/>
              <a:t> (r – </a:t>
            </a:r>
            <a:r>
              <a:rPr lang="ru-RU" dirty="0"/>
              <a:t>степень многочлена)</a:t>
            </a:r>
          </a:p>
          <a:p>
            <a:pPr lvl="1"/>
            <a:r>
              <a:rPr lang="ru-RU" dirty="0"/>
              <a:t>Делит по модулю 2 на G(x)</a:t>
            </a:r>
          </a:p>
          <a:p>
            <a:pPr lvl="1"/>
            <a:r>
              <a:rPr lang="ru-RU" dirty="0"/>
              <a:t>Остаток записывает в конец фрейма → это и есть CRC</a:t>
            </a:r>
          </a:p>
          <a:p>
            <a:r>
              <a:rPr lang="ru-RU" dirty="0"/>
              <a:t>Получатель:</a:t>
            </a:r>
          </a:p>
          <a:p>
            <a:pPr lvl="1"/>
            <a:r>
              <a:rPr lang="ru-RU" dirty="0"/>
              <a:t>Делит принятый фрейм на G(x)</a:t>
            </a:r>
          </a:p>
          <a:p>
            <a:pPr lvl="1"/>
            <a:r>
              <a:rPr lang="ru-RU" dirty="0"/>
              <a:t>Остаток 0 → ошибок не обнаружено</a:t>
            </a:r>
          </a:p>
          <a:p>
            <a:pPr lvl="1"/>
            <a:r>
              <a:rPr lang="ru-RU" dirty="0"/>
              <a:t>Ненулевой остаток → фрейм повреждён</a:t>
            </a:r>
          </a:p>
          <a:p>
            <a:endParaRPr lang="en-US" dirty="0"/>
          </a:p>
        </p:txBody>
      </p:sp>
    </p:spTree>
    <p:extLst>
      <p:ext uri="{BB962C8B-B14F-4D97-AF65-F5344CB8AC3E}">
        <p14:creationId xmlns:p14="http://schemas.microsoft.com/office/powerpoint/2010/main" val="35617103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37C44-6A19-F0A2-53F6-3930101FE441}"/>
              </a:ext>
            </a:extLst>
          </p:cNvPr>
          <p:cNvSpPr>
            <a:spLocks noGrp="1"/>
          </p:cNvSpPr>
          <p:nvPr>
            <p:ph type="title"/>
          </p:nvPr>
        </p:nvSpPr>
        <p:spPr/>
        <p:txBody>
          <a:bodyPr/>
          <a:lstStyle/>
          <a:p>
            <a:r>
              <a:rPr lang="ru-RU" dirty="0"/>
              <a:t>Пример вычисления </a:t>
            </a:r>
            <a:r>
              <a:rPr lang="en-US" dirty="0"/>
              <a:t>CRC</a:t>
            </a:r>
          </a:p>
        </p:txBody>
      </p:sp>
      <p:pic>
        <p:nvPicPr>
          <p:cNvPr id="5" name="Content Placeholder 4" descr="A diagram of numbers and symbols&#10;&#10;AI-generated content may be incorrect.">
            <a:extLst>
              <a:ext uri="{FF2B5EF4-FFF2-40B4-BE49-F238E27FC236}">
                <a16:creationId xmlns:a16="http://schemas.microsoft.com/office/drawing/2014/main" id="{EACB48BE-D324-4B5C-7FB6-6ABD732DDFF2}"/>
              </a:ext>
            </a:extLst>
          </p:cNvPr>
          <p:cNvPicPr>
            <a:picLocks noGrp="1" noChangeAspect="1"/>
          </p:cNvPicPr>
          <p:nvPr>
            <p:ph idx="1"/>
          </p:nvPr>
        </p:nvPicPr>
        <p:blipFill>
          <a:blip r:embed="rId3"/>
          <a:stretch>
            <a:fillRect/>
          </a:stretch>
        </p:blipFill>
        <p:spPr>
          <a:xfrm>
            <a:off x="3225800" y="1690688"/>
            <a:ext cx="5740400" cy="4897952"/>
          </a:xfrm>
          <a:prstGeom prst="rect">
            <a:avLst/>
          </a:prstGeom>
        </p:spPr>
      </p:pic>
    </p:spTree>
    <p:extLst>
      <p:ext uri="{BB962C8B-B14F-4D97-AF65-F5344CB8AC3E}">
        <p14:creationId xmlns:p14="http://schemas.microsoft.com/office/powerpoint/2010/main" val="12474609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A650DC-25C4-6701-05B0-2142D31E82A0}"/>
              </a:ext>
            </a:extLst>
          </p:cNvPr>
          <p:cNvSpPr>
            <a:spLocks noGrp="1"/>
          </p:cNvSpPr>
          <p:nvPr>
            <p:ph type="title"/>
          </p:nvPr>
        </p:nvSpPr>
        <p:spPr/>
        <p:txBody>
          <a:bodyPr/>
          <a:lstStyle/>
          <a:p>
            <a:r>
              <a:rPr lang="ru-RU" dirty="0"/>
              <a:t>Протоколы канального уровня</a:t>
            </a:r>
            <a:endParaRPr lang="en-US" dirty="0"/>
          </a:p>
        </p:txBody>
      </p:sp>
      <p:sp>
        <p:nvSpPr>
          <p:cNvPr id="5" name="Text Placeholder 4">
            <a:extLst>
              <a:ext uri="{FF2B5EF4-FFF2-40B4-BE49-F238E27FC236}">
                <a16:creationId xmlns:a16="http://schemas.microsoft.com/office/drawing/2014/main" id="{4B2B32B1-9EB1-BF7E-270C-2A7FD0D7CB9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019108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FD2548-0DFC-86AA-A365-0C7DC574902F}"/>
              </a:ext>
            </a:extLst>
          </p:cNvPr>
          <p:cNvSpPr>
            <a:spLocks noGrp="1"/>
          </p:cNvSpPr>
          <p:nvPr>
            <p:ph type="title"/>
          </p:nvPr>
        </p:nvSpPr>
        <p:spPr/>
        <p:txBody>
          <a:bodyPr>
            <a:normAutofit/>
          </a:bodyPr>
          <a:lstStyle/>
          <a:p>
            <a:r>
              <a:rPr lang="ru-RU" dirty="0"/>
              <a:t>Элементарные протоколы канального уровня: зачем они нам?</a:t>
            </a:r>
            <a:endParaRPr lang="en-US" dirty="0"/>
          </a:p>
        </p:txBody>
      </p:sp>
      <p:sp>
        <p:nvSpPr>
          <p:cNvPr id="5" name="Content Placeholder 4">
            <a:extLst>
              <a:ext uri="{FF2B5EF4-FFF2-40B4-BE49-F238E27FC236}">
                <a16:creationId xmlns:a16="http://schemas.microsoft.com/office/drawing/2014/main" id="{2D8FE241-29EE-A3BD-ACE0-AB4EB9EF31F0}"/>
              </a:ext>
            </a:extLst>
          </p:cNvPr>
          <p:cNvSpPr>
            <a:spLocks noGrp="1"/>
          </p:cNvSpPr>
          <p:nvPr>
            <p:ph idx="1"/>
          </p:nvPr>
        </p:nvSpPr>
        <p:spPr/>
        <p:txBody>
          <a:bodyPr>
            <a:normAutofit/>
          </a:bodyPr>
          <a:lstStyle/>
          <a:p>
            <a:r>
              <a:rPr lang="ru-RU" dirty="0"/>
              <a:t>Разбираем три простых протокола:</a:t>
            </a:r>
          </a:p>
          <a:p>
            <a:pPr lvl="1"/>
            <a:r>
              <a:rPr lang="ru-RU" dirty="0"/>
              <a:t>«Утопия» — без ошибок и без управления потоком</a:t>
            </a:r>
          </a:p>
          <a:p>
            <a:pPr lvl="1"/>
            <a:r>
              <a:rPr lang="ru-RU" dirty="0"/>
              <a:t>Stop-</a:t>
            </a:r>
            <a:r>
              <a:rPr lang="ru-RU" dirty="0" err="1"/>
              <a:t>and</a:t>
            </a:r>
            <a:r>
              <a:rPr lang="ru-RU" dirty="0"/>
              <a:t>-</a:t>
            </a:r>
            <a:r>
              <a:rPr lang="ru-RU" dirty="0" err="1"/>
              <a:t>wait</a:t>
            </a:r>
            <a:r>
              <a:rPr lang="ru-RU" dirty="0"/>
              <a:t> с управлением потоком</a:t>
            </a:r>
          </a:p>
          <a:p>
            <a:pPr lvl="1"/>
            <a:r>
              <a:rPr lang="ru-RU" dirty="0"/>
              <a:t>Stop-</a:t>
            </a:r>
            <a:r>
              <a:rPr lang="ru-RU" dirty="0" err="1"/>
              <a:t>and</a:t>
            </a:r>
            <a:r>
              <a:rPr lang="ru-RU" dirty="0"/>
              <a:t>-</a:t>
            </a:r>
            <a:r>
              <a:rPr lang="ru-RU" dirty="0" err="1"/>
              <a:t>wait</a:t>
            </a:r>
            <a:r>
              <a:rPr lang="ru-RU" dirty="0"/>
              <a:t> ARQ с исправлением ошибок</a:t>
            </a:r>
          </a:p>
          <a:p>
            <a:r>
              <a:rPr lang="ru-RU" dirty="0"/>
              <a:t>Цель: понять </a:t>
            </a:r>
            <a:r>
              <a:rPr lang="ru-RU" b="1" dirty="0"/>
              <a:t>основные идеи</a:t>
            </a:r>
            <a:r>
              <a:rPr lang="ru-RU" dirty="0"/>
              <a:t>:</a:t>
            </a:r>
          </a:p>
          <a:p>
            <a:pPr lvl="1"/>
            <a:r>
              <a:rPr lang="ru-RU" dirty="0"/>
              <a:t>как организован обмен фреймами</a:t>
            </a:r>
          </a:p>
          <a:p>
            <a:pPr lvl="1"/>
            <a:r>
              <a:rPr lang="ru-RU" dirty="0"/>
              <a:t>как используются события, таймеры, номера кадров</a:t>
            </a:r>
          </a:p>
          <a:p>
            <a:pPr lvl="1"/>
            <a:r>
              <a:rPr lang="ru-RU" dirty="0"/>
              <a:t>почему без подтверждений и нумерации всё ломается</a:t>
            </a:r>
          </a:p>
          <a:p>
            <a:endParaRPr lang="en-US" dirty="0"/>
          </a:p>
        </p:txBody>
      </p:sp>
    </p:spTree>
    <p:extLst>
      <p:ext uri="{BB962C8B-B14F-4D97-AF65-F5344CB8AC3E}">
        <p14:creationId xmlns:p14="http://schemas.microsoft.com/office/powerpoint/2010/main" val="34990251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0CC02-4077-B796-5695-93CC0833FAC6}"/>
              </a:ext>
            </a:extLst>
          </p:cNvPr>
          <p:cNvSpPr>
            <a:spLocks noGrp="1"/>
          </p:cNvSpPr>
          <p:nvPr>
            <p:ph type="title"/>
          </p:nvPr>
        </p:nvSpPr>
        <p:spPr/>
        <p:txBody>
          <a:bodyPr/>
          <a:lstStyle/>
          <a:p>
            <a:r>
              <a:rPr lang="ru-RU" dirty="0"/>
              <a:t>Упрощения в модели</a:t>
            </a:r>
            <a:endParaRPr lang="en-US" dirty="0"/>
          </a:p>
        </p:txBody>
      </p:sp>
      <p:sp>
        <p:nvSpPr>
          <p:cNvPr id="3" name="Content Placeholder 2">
            <a:extLst>
              <a:ext uri="{FF2B5EF4-FFF2-40B4-BE49-F238E27FC236}">
                <a16:creationId xmlns:a16="http://schemas.microsoft.com/office/drawing/2014/main" id="{628BD0BC-9018-CB6E-4EBD-96DE4C3EF425}"/>
              </a:ext>
            </a:extLst>
          </p:cNvPr>
          <p:cNvSpPr>
            <a:spLocks noGrp="1"/>
          </p:cNvSpPr>
          <p:nvPr>
            <p:ph sz="half" idx="1"/>
          </p:nvPr>
        </p:nvSpPr>
        <p:spPr>
          <a:xfrm>
            <a:off x="838199" y="1825625"/>
            <a:ext cx="6504717" cy="4351338"/>
          </a:xfrm>
        </p:spPr>
        <p:txBody>
          <a:bodyPr>
            <a:normAutofit fontScale="85000" lnSpcReduction="20000"/>
          </a:bodyPr>
          <a:lstStyle/>
          <a:p>
            <a:r>
              <a:rPr lang="ru-RU" dirty="0"/>
              <a:t>Независимые процессы уровней</a:t>
            </a:r>
          </a:p>
          <a:p>
            <a:pPr lvl="1"/>
            <a:r>
              <a:rPr lang="ru-RU" dirty="0"/>
              <a:t>Физический, канальный и сетевой уровни — как отдельные процессы</a:t>
            </a:r>
          </a:p>
          <a:p>
            <a:pPr lvl="1"/>
            <a:r>
              <a:rPr lang="ru-RU" dirty="0"/>
              <a:t>Обмениваются сообщениями через интерфейсы</a:t>
            </a:r>
          </a:p>
          <a:p>
            <a:pPr lvl="1"/>
            <a:r>
              <a:rPr lang="ru-RU" dirty="0"/>
              <a:t>Часть логики — в NIC, часть — в ОС (драйвер)</a:t>
            </a:r>
          </a:p>
          <a:p>
            <a:r>
              <a:rPr lang="ru-RU" dirty="0"/>
              <a:t>Однонаправленная передача данных</a:t>
            </a:r>
          </a:p>
          <a:p>
            <a:pPr lvl="1"/>
            <a:r>
              <a:rPr lang="ru-RU" dirty="0"/>
              <a:t>A → B: большой поток данных</a:t>
            </a:r>
          </a:p>
          <a:p>
            <a:pPr lvl="1"/>
            <a:r>
              <a:rPr lang="ru-RU" dirty="0"/>
              <a:t>A всегда имеет данные (бесконечный источник)</a:t>
            </a:r>
          </a:p>
          <a:p>
            <a:pPr lvl="1"/>
            <a:r>
              <a:rPr lang="ru-RU" dirty="0"/>
              <a:t>Сначала разбираем симплекс, потом — двусторонний обмен</a:t>
            </a:r>
          </a:p>
          <a:p>
            <a:r>
              <a:rPr lang="ru-RU" dirty="0"/>
              <a:t>Надёжные устройства</a:t>
            </a:r>
          </a:p>
          <a:p>
            <a:pPr lvl="1"/>
            <a:r>
              <a:rPr lang="ru-RU" dirty="0"/>
              <a:t>Компьютеры не падают, не перезагружаются</a:t>
            </a:r>
          </a:p>
          <a:p>
            <a:pPr lvl="1"/>
            <a:r>
              <a:rPr lang="ru-RU" dirty="0"/>
              <a:t>Ломаются и теряются только фреймы в канале</a:t>
            </a:r>
          </a:p>
          <a:p>
            <a:pPr lvl="1"/>
            <a:r>
              <a:rPr lang="ru-RU" dirty="0"/>
              <a:t>Канальный уровень видит пакет как «просто данные»</a:t>
            </a:r>
          </a:p>
          <a:p>
            <a:endParaRPr lang="en-US" dirty="0"/>
          </a:p>
        </p:txBody>
      </p:sp>
      <p:pic>
        <p:nvPicPr>
          <p:cNvPr id="6" name="Content Placeholder 5" descr="A diagram of a diagram&#10;&#10;AI-generated content may be incorrect.">
            <a:extLst>
              <a:ext uri="{FF2B5EF4-FFF2-40B4-BE49-F238E27FC236}">
                <a16:creationId xmlns:a16="http://schemas.microsoft.com/office/drawing/2014/main" id="{5A4B3012-B4D3-3108-4454-2F82FC51F881}"/>
              </a:ext>
            </a:extLst>
          </p:cNvPr>
          <p:cNvPicPr>
            <a:picLocks noGrp="1" noChangeAspect="1"/>
          </p:cNvPicPr>
          <p:nvPr>
            <p:ph sz="half" idx="2"/>
          </p:nvPr>
        </p:nvPicPr>
        <p:blipFill>
          <a:blip r:embed="rId3"/>
          <a:stretch>
            <a:fillRect/>
          </a:stretch>
        </p:blipFill>
        <p:spPr>
          <a:xfrm>
            <a:off x="7342917" y="1825625"/>
            <a:ext cx="4526272" cy="2889850"/>
          </a:xfrm>
          <a:prstGeom prst="rect">
            <a:avLst/>
          </a:prstGeom>
        </p:spPr>
      </p:pic>
    </p:spTree>
    <p:extLst>
      <p:ext uri="{BB962C8B-B14F-4D97-AF65-F5344CB8AC3E}">
        <p14:creationId xmlns:p14="http://schemas.microsoft.com/office/powerpoint/2010/main" val="2025653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BBA8F-FCA8-0E4C-F38B-829B6AD676E5}"/>
              </a:ext>
            </a:extLst>
          </p:cNvPr>
          <p:cNvSpPr>
            <a:spLocks noGrp="1"/>
          </p:cNvSpPr>
          <p:nvPr>
            <p:ph type="title"/>
          </p:nvPr>
        </p:nvSpPr>
        <p:spPr/>
        <p:txBody>
          <a:bodyPr/>
          <a:lstStyle/>
          <a:p>
            <a:r>
              <a:rPr lang="ru-RU" dirty="0"/>
              <a:t>Базовая схема канального уровня</a:t>
            </a:r>
            <a:endParaRPr lang="en-US" dirty="0"/>
          </a:p>
        </p:txBody>
      </p:sp>
      <p:sp>
        <p:nvSpPr>
          <p:cNvPr id="3" name="Content Placeholder 2">
            <a:extLst>
              <a:ext uri="{FF2B5EF4-FFF2-40B4-BE49-F238E27FC236}">
                <a16:creationId xmlns:a16="http://schemas.microsoft.com/office/drawing/2014/main" id="{68E0E3F1-4980-6344-B73B-A10D026A0266}"/>
              </a:ext>
            </a:extLst>
          </p:cNvPr>
          <p:cNvSpPr>
            <a:spLocks noGrp="1"/>
          </p:cNvSpPr>
          <p:nvPr>
            <p:ph idx="1"/>
          </p:nvPr>
        </p:nvSpPr>
        <p:spPr>
          <a:xfrm>
            <a:off x="838200" y="1825625"/>
            <a:ext cx="6438900" cy="4351338"/>
          </a:xfrm>
        </p:spPr>
        <p:txBody>
          <a:bodyPr>
            <a:normAutofit fontScale="77500" lnSpcReduction="20000"/>
          </a:bodyPr>
          <a:lstStyle/>
          <a:p>
            <a:r>
              <a:rPr lang="ru-RU" dirty="0"/>
              <a:t>Получает пакет от сетевого уровня и упаковывает его во фрейм:</a:t>
            </a:r>
          </a:p>
          <a:p>
            <a:pPr lvl="1"/>
            <a:r>
              <a:rPr lang="en-US" dirty="0"/>
              <a:t>Header (</a:t>
            </a:r>
            <a:r>
              <a:rPr lang="ru-RU" dirty="0"/>
              <a:t>служебная информация: </a:t>
            </a:r>
            <a:r>
              <a:rPr lang="en-US" dirty="0"/>
              <a:t>kind, seq, ack, …)</a:t>
            </a:r>
          </a:p>
          <a:p>
            <a:pPr lvl="1"/>
            <a:r>
              <a:rPr lang="en-US" dirty="0"/>
              <a:t>Payload (</a:t>
            </a:r>
            <a:r>
              <a:rPr lang="ru-RU" dirty="0"/>
              <a:t>сам пакет)</a:t>
            </a:r>
          </a:p>
          <a:p>
            <a:pPr lvl="1"/>
            <a:r>
              <a:rPr lang="en-US" dirty="0"/>
              <a:t>Trailer (</a:t>
            </a:r>
            <a:r>
              <a:rPr lang="ru-RU" dirty="0"/>
              <a:t>контрольная сумма, </a:t>
            </a:r>
            <a:r>
              <a:rPr lang="en-US" dirty="0"/>
              <a:t>CRC)</a:t>
            </a:r>
          </a:p>
          <a:p>
            <a:r>
              <a:rPr lang="ru-RU" dirty="0"/>
              <a:t>Обменивается данными через стандартные процедуры:</a:t>
            </a:r>
          </a:p>
          <a:p>
            <a:pPr lvl="1"/>
            <a:r>
              <a:rPr lang="ru-RU" dirty="0"/>
              <a:t>С сетью (уровень 3):</a:t>
            </a:r>
          </a:p>
          <a:p>
            <a:pPr lvl="2"/>
            <a:r>
              <a:rPr lang="en-US" dirty="0" err="1"/>
              <a:t>from_network_layer</a:t>
            </a:r>
            <a:r>
              <a:rPr lang="en-US" dirty="0"/>
              <a:t>(&amp;p)</a:t>
            </a:r>
          </a:p>
          <a:p>
            <a:pPr lvl="2"/>
            <a:r>
              <a:rPr lang="en-US" dirty="0" err="1"/>
              <a:t>to_network_layer</a:t>
            </a:r>
            <a:r>
              <a:rPr lang="en-US" dirty="0"/>
              <a:t>(&amp;p)</a:t>
            </a:r>
          </a:p>
          <a:p>
            <a:pPr lvl="1"/>
            <a:r>
              <a:rPr lang="ru-RU" dirty="0"/>
              <a:t>С физикой (уровень 1):</a:t>
            </a:r>
          </a:p>
          <a:p>
            <a:pPr lvl="2"/>
            <a:r>
              <a:rPr lang="en-US" dirty="0" err="1"/>
              <a:t>to_physical_layer</a:t>
            </a:r>
            <a:r>
              <a:rPr lang="en-US" dirty="0"/>
              <a:t>(&amp;f)</a:t>
            </a:r>
          </a:p>
          <a:p>
            <a:pPr lvl="2"/>
            <a:r>
              <a:rPr lang="en-US" dirty="0" err="1"/>
              <a:t>from_physical_layer</a:t>
            </a:r>
            <a:r>
              <a:rPr lang="en-US" dirty="0"/>
              <a:t>(&amp;f)</a:t>
            </a:r>
          </a:p>
          <a:p>
            <a:r>
              <a:rPr lang="ru-RU" dirty="0"/>
              <a:t>Живёт в цикле: </a:t>
            </a:r>
            <a:r>
              <a:rPr lang="en-US" dirty="0" err="1"/>
              <a:t>wait_for_event</a:t>
            </a:r>
            <a:r>
              <a:rPr lang="en-US" dirty="0"/>
              <a:t>(&amp;event)</a:t>
            </a:r>
          </a:p>
          <a:p>
            <a:pPr lvl="1"/>
            <a:r>
              <a:rPr lang="en-US" dirty="0" err="1"/>
              <a:t>frame_arrival</a:t>
            </a:r>
            <a:r>
              <a:rPr lang="en-US" dirty="0"/>
              <a:t>, </a:t>
            </a:r>
            <a:r>
              <a:rPr lang="en-US" dirty="0" err="1"/>
              <a:t>cksum_err</a:t>
            </a:r>
            <a:r>
              <a:rPr lang="en-US" dirty="0"/>
              <a:t>, timeout, </a:t>
            </a:r>
            <a:r>
              <a:rPr lang="en-US" dirty="0" err="1"/>
              <a:t>network_layer_ready</a:t>
            </a:r>
            <a:r>
              <a:rPr lang="en-US" dirty="0"/>
              <a:t>, </a:t>
            </a:r>
          </a:p>
          <a:p>
            <a:endParaRPr lang="en-US" dirty="0"/>
          </a:p>
        </p:txBody>
      </p:sp>
      <p:sp>
        <p:nvSpPr>
          <p:cNvPr id="9" name="TextBox 8">
            <a:extLst>
              <a:ext uri="{FF2B5EF4-FFF2-40B4-BE49-F238E27FC236}">
                <a16:creationId xmlns:a16="http://schemas.microsoft.com/office/drawing/2014/main" id="{B16CC7F3-C499-11F5-EF0C-F5E03F407F5C}"/>
              </a:ext>
            </a:extLst>
          </p:cNvPr>
          <p:cNvSpPr txBox="1"/>
          <p:nvPr/>
        </p:nvSpPr>
        <p:spPr>
          <a:xfrm>
            <a:off x="7429500" y="1825625"/>
            <a:ext cx="4762500" cy="4647426"/>
          </a:xfrm>
          <a:prstGeom prst="rect">
            <a:avLst/>
          </a:prstGeom>
          <a:noFill/>
        </p:spPr>
        <p:txBody>
          <a:bodyPr wrap="square">
            <a:spAutoFit/>
          </a:bodyPr>
          <a:lstStyle/>
          <a:p>
            <a:pPr>
              <a:buNone/>
            </a:pPr>
            <a:r>
              <a:rPr lang="en-US" sz="1600" b="0" dirty="0">
                <a:solidFill>
                  <a:srgbClr val="0000FF"/>
                </a:solidFill>
                <a:effectLst/>
                <a:latin typeface="Consolas" panose="020B0609020204030204" pitchFamily="49" charset="0"/>
              </a:rPr>
              <a:t>typedef</a:t>
            </a:r>
            <a:r>
              <a:rPr lang="en-US" sz="1600" b="0" dirty="0">
                <a:solidFill>
                  <a:srgbClr val="000000"/>
                </a:solidFill>
                <a:effectLst/>
                <a:latin typeface="Consolas" panose="020B0609020204030204" pitchFamily="49" charset="0"/>
              </a:rPr>
              <a:t> </a:t>
            </a:r>
            <a:r>
              <a:rPr lang="en-US" sz="1600" b="0" dirty="0" err="1">
                <a:solidFill>
                  <a:srgbClr val="0000FF"/>
                </a:solidFill>
                <a:effectLst/>
                <a:latin typeface="Consolas" panose="020B0609020204030204" pitchFamily="49" charset="0"/>
              </a:rPr>
              <a:t>enum</a:t>
            </a:r>
            <a:r>
              <a:rPr lang="en-US" sz="1600" b="0" dirty="0">
                <a:solidFill>
                  <a:srgbClr val="000000"/>
                </a:solidFill>
                <a:effectLst/>
                <a:latin typeface="Consolas" panose="020B0609020204030204" pitchFamily="49" charset="0"/>
              </a:rPr>
              <a:t> { false, true } </a:t>
            </a:r>
            <a:r>
              <a:rPr lang="en-US" sz="1600" b="0" dirty="0" err="1">
                <a:solidFill>
                  <a:srgbClr val="2B91AF"/>
                </a:solidFill>
                <a:effectLst/>
                <a:latin typeface="Consolas" panose="020B0609020204030204" pitchFamily="49" charset="0"/>
              </a:rPr>
              <a:t>boolean</a:t>
            </a:r>
            <a:r>
              <a:rPr lang="en-US" sz="1600" b="0" dirty="0">
                <a:solidFill>
                  <a:srgbClr val="000000"/>
                </a:solidFill>
                <a:effectLst/>
                <a:latin typeface="Consolas" panose="020B0609020204030204" pitchFamily="49" charset="0"/>
              </a:rPr>
              <a:t>;</a:t>
            </a:r>
          </a:p>
          <a:p>
            <a:pPr>
              <a:buNone/>
            </a:pPr>
            <a:r>
              <a:rPr lang="en-US" sz="1600" b="0" dirty="0">
                <a:solidFill>
                  <a:srgbClr val="0000FF"/>
                </a:solidFill>
                <a:effectLst/>
                <a:latin typeface="Consolas" panose="020B0609020204030204" pitchFamily="49" charset="0"/>
              </a:rPr>
              <a:t>typedef</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unsigned</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seq_nr</a:t>
            </a:r>
            <a:r>
              <a:rPr lang="en-US" sz="1600" b="0" dirty="0">
                <a:solidFill>
                  <a:srgbClr val="000000"/>
                </a:solidFill>
                <a:effectLst/>
                <a:latin typeface="Consolas" panose="020B0609020204030204" pitchFamily="49" charset="0"/>
              </a:rPr>
              <a:t>;</a:t>
            </a:r>
            <a:br>
              <a:rPr lang="en-US" sz="1600" b="0" dirty="0">
                <a:solidFill>
                  <a:srgbClr val="000000"/>
                </a:solidFill>
                <a:effectLst/>
                <a:latin typeface="Consolas" panose="020B0609020204030204" pitchFamily="49" charset="0"/>
              </a:rPr>
            </a:br>
            <a:endParaRPr lang="en-US"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typedef</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struct</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unsigned</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char</a:t>
            </a:r>
            <a:r>
              <a:rPr lang="en-US" sz="1600" b="0" dirty="0">
                <a:solidFill>
                  <a:srgbClr val="000000"/>
                </a:solidFill>
                <a:effectLst/>
                <a:latin typeface="Consolas" panose="020B0609020204030204" pitchFamily="49" charset="0"/>
              </a:rPr>
              <a:t> data[</a:t>
            </a:r>
            <a:r>
              <a:rPr lang="en-US" sz="1600" b="0" dirty="0">
                <a:solidFill>
                  <a:srgbClr val="8A1BFF"/>
                </a:solidFill>
                <a:effectLst/>
                <a:latin typeface="Consolas" panose="020B0609020204030204" pitchFamily="49" charset="0"/>
              </a:rPr>
              <a:t>MAX_PKT</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2B91AF"/>
                </a:solidFill>
                <a:effectLst/>
                <a:latin typeface="Consolas" panose="020B0609020204030204" pitchFamily="49" charset="0"/>
              </a:rPr>
              <a:t>packet</a:t>
            </a:r>
            <a:r>
              <a:rPr lang="en-US" sz="1600" b="0" dirty="0">
                <a:solidFill>
                  <a:srgbClr val="000000"/>
                </a:solidFill>
                <a:effectLst/>
                <a:latin typeface="Consolas" panose="020B0609020204030204" pitchFamily="49" charset="0"/>
              </a:rPr>
              <a:t>;</a:t>
            </a:r>
            <a:r>
              <a:rPr lang="en-US" sz="1600" b="0" dirty="0">
                <a:solidFill>
                  <a:srgbClr val="008000"/>
                </a:solidFill>
                <a:effectLst/>
                <a:latin typeface="Consolas" panose="020B0609020204030204" pitchFamily="49" charset="0"/>
              </a:rPr>
              <a:t> // </a:t>
            </a:r>
            <a:r>
              <a:rPr lang="ru-RU" sz="1600" b="0" dirty="0">
                <a:solidFill>
                  <a:srgbClr val="008000"/>
                </a:solidFill>
                <a:effectLst/>
                <a:latin typeface="Consolas" panose="020B0609020204030204" pitchFamily="49" charset="0"/>
              </a:rPr>
              <a:t>определение пакета</a:t>
            </a:r>
            <a:endParaRPr lang="ru-RU" sz="1600" b="0" dirty="0">
              <a:solidFill>
                <a:srgbClr val="000000"/>
              </a:solidFill>
              <a:effectLst/>
              <a:latin typeface="Consolas" panose="020B0609020204030204" pitchFamily="49" charset="0"/>
            </a:endParaRPr>
          </a:p>
          <a:p>
            <a:pPr>
              <a:buNone/>
            </a:pPr>
            <a:endParaRPr lang="ru-RU" sz="1600" b="0" dirty="0">
              <a:solidFill>
                <a:srgbClr val="000000"/>
              </a:solidFill>
              <a:effectLst/>
              <a:latin typeface="Consolas" panose="020B0609020204030204" pitchFamily="49" charset="0"/>
            </a:endParaRPr>
          </a:p>
          <a:p>
            <a:pPr>
              <a:buNone/>
            </a:pPr>
            <a:r>
              <a:rPr lang="ru-RU" sz="1600" b="0" dirty="0">
                <a:solidFill>
                  <a:srgbClr val="008000"/>
                </a:solidFill>
                <a:effectLst/>
                <a:latin typeface="Consolas" panose="020B0609020204030204" pitchFamily="49" charset="0"/>
              </a:rPr>
              <a:t>// тип фрейма</a:t>
            </a:r>
            <a:endParaRPr lang="ru-RU"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typedef</a:t>
            </a:r>
            <a:r>
              <a:rPr lang="en-US" sz="1600" b="0" dirty="0">
                <a:solidFill>
                  <a:srgbClr val="000000"/>
                </a:solidFill>
                <a:effectLst/>
                <a:latin typeface="Consolas" panose="020B0609020204030204" pitchFamily="49" charset="0"/>
              </a:rPr>
              <a:t> </a:t>
            </a:r>
            <a:r>
              <a:rPr lang="en-US" sz="1600" b="0" dirty="0" err="1">
                <a:solidFill>
                  <a:srgbClr val="0000FF"/>
                </a:solidFill>
                <a:effectLst/>
                <a:latin typeface="Consolas" panose="020B0609020204030204" pitchFamily="49" charset="0"/>
              </a:rPr>
              <a:t>enum</a:t>
            </a:r>
            <a:r>
              <a:rPr lang="en-US" sz="1600" b="0" dirty="0">
                <a:solidFill>
                  <a:srgbClr val="000000"/>
                </a:solidFill>
                <a:effectLst/>
                <a:latin typeface="Consolas" panose="020B0609020204030204" pitchFamily="49" charset="0"/>
              </a:rPr>
              <a:t> {</a:t>
            </a:r>
          </a:p>
          <a:p>
            <a:pPr>
              <a:buNone/>
            </a:pPr>
            <a:r>
              <a:rPr lang="en-US" sz="1600" dirty="0">
                <a:solidFill>
                  <a:srgbClr val="000000"/>
                </a:solidFill>
                <a:latin typeface="Consolas" panose="020B0609020204030204" pitchFamily="49" charset="0"/>
              </a:rPr>
              <a:t>  </a:t>
            </a:r>
            <a:r>
              <a:rPr lang="en-US" sz="1600" b="0" dirty="0">
                <a:solidFill>
                  <a:srgbClr val="000000"/>
                </a:solidFill>
                <a:effectLst/>
                <a:latin typeface="Consolas" panose="020B0609020204030204" pitchFamily="49" charset="0"/>
              </a:rPr>
              <a:t>data, ack, nak</a:t>
            </a:r>
          </a:p>
          <a:p>
            <a:pPr>
              <a:buNone/>
            </a:pP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frame_kind</a:t>
            </a:r>
            <a:r>
              <a:rPr lang="en-US" sz="1600" b="0" dirty="0">
                <a:solidFill>
                  <a:srgbClr val="000000"/>
                </a:solidFill>
                <a:effectLst/>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typedef</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struct</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frame_kind</a:t>
            </a:r>
            <a:r>
              <a:rPr lang="en-US" sz="1600" b="0" dirty="0">
                <a:solidFill>
                  <a:srgbClr val="000000"/>
                </a:solidFill>
                <a:effectLst/>
                <a:latin typeface="Consolas" panose="020B0609020204030204" pitchFamily="49" charset="0"/>
              </a:rPr>
              <a:t> kind;</a:t>
            </a:r>
          </a:p>
          <a:p>
            <a:pPr>
              <a:buNone/>
            </a:pP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seq_nr</a:t>
            </a:r>
            <a:r>
              <a:rPr lang="en-US" sz="1600" b="0" dirty="0">
                <a:solidFill>
                  <a:srgbClr val="000000"/>
                </a:solidFill>
                <a:effectLst/>
                <a:latin typeface="Consolas" panose="020B0609020204030204" pitchFamily="49" charset="0"/>
              </a:rPr>
              <a:t> seq; </a:t>
            </a:r>
            <a:r>
              <a:rPr lang="en-US" sz="1600" b="0" dirty="0">
                <a:solidFill>
                  <a:srgbClr val="008000"/>
                </a:solidFill>
                <a:effectLst/>
                <a:latin typeface="Consolas" panose="020B0609020204030204" pitchFamily="49" charset="0"/>
              </a:rPr>
              <a:t> // </a:t>
            </a:r>
            <a:r>
              <a:rPr lang="ru-RU" sz="1600" b="0" dirty="0">
                <a:solidFill>
                  <a:srgbClr val="008000"/>
                </a:solidFill>
                <a:effectLst/>
                <a:latin typeface="Consolas" panose="020B0609020204030204" pitchFamily="49" charset="0"/>
              </a:rPr>
              <a:t>Порядковый номер фрейма</a:t>
            </a:r>
            <a:endParaRPr lang="ru-RU" sz="1600" b="0" dirty="0">
              <a:solidFill>
                <a:srgbClr val="000000"/>
              </a:solidFill>
              <a:effectLst/>
              <a:latin typeface="Consolas" panose="020B0609020204030204" pitchFamily="49" charset="0"/>
            </a:endParaRPr>
          </a:p>
          <a:p>
            <a:pPr>
              <a:buNone/>
            </a:pPr>
            <a:r>
              <a:rPr lang="ru-RU"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seq_nr</a:t>
            </a:r>
            <a:r>
              <a:rPr lang="en-US" sz="1600" b="0" dirty="0">
                <a:solidFill>
                  <a:srgbClr val="000000"/>
                </a:solidFill>
                <a:effectLst/>
                <a:latin typeface="Consolas" panose="020B0609020204030204" pitchFamily="49" charset="0"/>
              </a:rPr>
              <a:t> ack; </a:t>
            </a:r>
            <a:r>
              <a:rPr lang="en-US" sz="1600" b="0" dirty="0">
                <a:solidFill>
                  <a:srgbClr val="008000"/>
                </a:solidFill>
                <a:effectLst/>
                <a:latin typeface="Consolas" panose="020B0609020204030204" pitchFamily="49" charset="0"/>
              </a:rPr>
              <a:t> // </a:t>
            </a:r>
            <a:r>
              <a:rPr lang="ru-RU" sz="1600" b="0" dirty="0">
                <a:solidFill>
                  <a:srgbClr val="008000"/>
                </a:solidFill>
                <a:effectLst/>
                <a:latin typeface="Consolas" panose="020B0609020204030204" pitchFamily="49" charset="0"/>
              </a:rPr>
              <a:t>Номер подтверждения</a:t>
            </a:r>
            <a:endParaRPr lang="ru-RU" sz="1600" b="0" dirty="0">
              <a:solidFill>
                <a:srgbClr val="000000"/>
              </a:solidFill>
              <a:effectLst/>
              <a:latin typeface="Consolas" panose="020B0609020204030204" pitchFamily="49" charset="0"/>
            </a:endParaRPr>
          </a:p>
          <a:p>
            <a:pPr>
              <a:buNone/>
            </a:pPr>
            <a:r>
              <a:rPr lang="ru-RU" sz="1600" b="0" dirty="0">
                <a:solidFill>
                  <a:srgbClr val="000000"/>
                </a:solidFill>
                <a:effectLst/>
                <a:latin typeface="Consolas" panose="020B0609020204030204" pitchFamily="49" charset="0"/>
              </a:rPr>
              <a:t>  </a:t>
            </a:r>
            <a:r>
              <a:rPr lang="en-US" sz="1600" b="0" dirty="0">
                <a:solidFill>
                  <a:srgbClr val="2B91AF"/>
                </a:solidFill>
                <a:effectLst/>
                <a:latin typeface="Consolas" panose="020B0609020204030204" pitchFamily="49" charset="0"/>
              </a:rPr>
              <a:t>packet</a:t>
            </a:r>
            <a:r>
              <a:rPr lang="en-US" sz="1600" b="0" dirty="0">
                <a:solidFill>
                  <a:srgbClr val="000000"/>
                </a:solidFill>
                <a:effectLst/>
                <a:latin typeface="Consolas" panose="020B0609020204030204" pitchFamily="49" charset="0"/>
              </a:rPr>
              <a:t> info;</a:t>
            </a:r>
            <a:r>
              <a:rPr lang="en-US" sz="1600" b="0" dirty="0">
                <a:solidFill>
                  <a:srgbClr val="008000"/>
                </a:solidFill>
                <a:effectLst/>
                <a:latin typeface="Consolas" panose="020B0609020204030204" pitchFamily="49" charset="0"/>
              </a:rPr>
              <a:t> // </a:t>
            </a:r>
            <a:r>
              <a:rPr lang="ru-RU" sz="1600" b="0" dirty="0">
                <a:solidFill>
                  <a:srgbClr val="008000"/>
                </a:solidFill>
                <a:effectLst/>
                <a:latin typeface="Consolas" panose="020B0609020204030204" pitchFamily="49" charset="0"/>
              </a:rPr>
              <a:t>Пакет сетевого уровня</a:t>
            </a:r>
            <a:endParaRPr lang="ru-RU" sz="1600" b="0" dirty="0">
              <a:solidFill>
                <a:srgbClr val="000000"/>
              </a:solidFill>
              <a:effectLst/>
              <a:latin typeface="Consolas" panose="020B0609020204030204" pitchFamily="49" charset="0"/>
            </a:endParaRPr>
          </a:p>
          <a:p>
            <a:pPr>
              <a:buNone/>
            </a:pPr>
            <a:r>
              <a:rPr lang="ru-RU" sz="1600" b="0" dirty="0">
                <a:solidFill>
                  <a:srgbClr val="000000"/>
                </a:solidFill>
                <a:effectLst/>
                <a:latin typeface="Consolas" panose="020B0609020204030204" pitchFamily="49" charset="0"/>
              </a:rPr>
              <a:t>} </a:t>
            </a:r>
            <a:r>
              <a:rPr lang="en-US" sz="1600" b="0" dirty="0">
                <a:solidFill>
                  <a:srgbClr val="2B91AF"/>
                </a:solidFill>
                <a:effectLst/>
                <a:latin typeface="Consolas" panose="020B0609020204030204" pitchFamily="49" charset="0"/>
              </a:rPr>
              <a:t>frame</a:t>
            </a:r>
            <a:r>
              <a:rPr lang="en-U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9681676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3F0CA13-C9F6-0534-6191-93013101FA0D}"/>
              </a:ext>
            </a:extLst>
          </p:cNvPr>
          <p:cNvSpPr>
            <a:spLocks noGrp="1"/>
          </p:cNvSpPr>
          <p:nvPr>
            <p:ph type="title"/>
          </p:nvPr>
        </p:nvSpPr>
        <p:spPr/>
        <p:txBody>
          <a:bodyPr/>
          <a:lstStyle/>
          <a:p>
            <a:r>
              <a:rPr lang="ru-RU" dirty="0"/>
              <a:t>Протокол «Утопия»</a:t>
            </a:r>
            <a:endParaRPr lang="en-US" dirty="0"/>
          </a:p>
        </p:txBody>
      </p:sp>
      <p:sp>
        <p:nvSpPr>
          <p:cNvPr id="8" name="Content Placeholder 7">
            <a:extLst>
              <a:ext uri="{FF2B5EF4-FFF2-40B4-BE49-F238E27FC236}">
                <a16:creationId xmlns:a16="http://schemas.microsoft.com/office/drawing/2014/main" id="{164EDB89-B863-F473-E67B-3A6A9A2C49E0}"/>
              </a:ext>
            </a:extLst>
          </p:cNvPr>
          <p:cNvSpPr>
            <a:spLocks noGrp="1"/>
          </p:cNvSpPr>
          <p:nvPr>
            <p:ph idx="1"/>
          </p:nvPr>
        </p:nvSpPr>
        <p:spPr>
          <a:xfrm>
            <a:off x="838200" y="1825625"/>
            <a:ext cx="6443748" cy="4351338"/>
          </a:xfrm>
        </p:spPr>
        <p:txBody>
          <a:bodyPr>
            <a:normAutofit fontScale="85000" lnSpcReduction="20000"/>
          </a:bodyPr>
          <a:lstStyle/>
          <a:p>
            <a:r>
              <a:rPr lang="ru-RU" dirty="0"/>
              <a:t>Условия «рая»:</a:t>
            </a:r>
          </a:p>
          <a:p>
            <a:pPr lvl="1"/>
            <a:r>
              <a:rPr lang="ru-RU" dirty="0"/>
              <a:t>Канал </a:t>
            </a:r>
            <a:r>
              <a:rPr lang="ru-RU" b="1" dirty="0"/>
              <a:t>никогда</a:t>
            </a:r>
            <a:r>
              <a:rPr lang="ru-RU" dirty="0"/>
              <a:t> не теряет и не искажает фреймы</a:t>
            </a:r>
          </a:p>
          <a:p>
            <a:pPr lvl="1"/>
            <a:r>
              <a:rPr lang="ru-RU" dirty="0"/>
              <a:t>Получатель всегда успевает обработать данные</a:t>
            </a:r>
          </a:p>
          <a:p>
            <a:pPr lvl="1"/>
            <a:r>
              <a:rPr lang="ru-RU" dirty="0"/>
              <a:t>Буферы бесконечные, ошибок нет, задержки нас не волнуют</a:t>
            </a:r>
          </a:p>
          <a:p>
            <a:r>
              <a:rPr lang="ru-RU" dirty="0"/>
              <a:t>Протокол:</a:t>
            </a:r>
          </a:p>
          <a:p>
            <a:pPr lvl="1"/>
            <a:r>
              <a:rPr lang="ru-RU" dirty="0"/>
              <a:t>sender1:</a:t>
            </a:r>
          </a:p>
          <a:p>
            <a:pPr lvl="2"/>
            <a:r>
              <a:rPr lang="ru-RU" dirty="0"/>
              <a:t>бесконечный цикл</a:t>
            </a:r>
          </a:p>
          <a:p>
            <a:pPr lvl="2"/>
            <a:r>
              <a:rPr lang="ru-RU" dirty="0"/>
              <a:t>берём пакет → кладём в frame.info → отправляем на физический уровень</a:t>
            </a:r>
          </a:p>
          <a:p>
            <a:pPr lvl="1"/>
            <a:r>
              <a:rPr lang="ru-RU" dirty="0"/>
              <a:t>receiver1:</a:t>
            </a:r>
          </a:p>
          <a:p>
            <a:pPr lvl="2"/>
            <a:r>
              <a:rPr lang="ru-RU" dirty="0"/>
              <a:t>бесконечный цикл</a:t>
            </a:r>
          </a:p>
          <a:p>
            <a:pPr lvl="2"/>
            <a:r>
              <a:rPr lang="ru-RU" dirty="0"/>
              <a:t>ждём </a:t>
            </a:r>
            <a:r>
              <a:rPr lang="ru-RU" dirty="0" err="1"/>
              <a:t>frame_arrival</a:t>
            </a:r>
            <a:r>
              <a:rPr lang="ru-RU" dirty="0"/>
              <a:t> → забираем фрейм → отдаём пакет сетевому уровню</a:t>
            </a:r>
          </a:p>
          <a:p>
            <a:r>
              <a:rPr lang="ru-RU" dirty="0"/>
              <a:t>Нет</a:t>
            </a:r>
            <a:r>
              <a:rPr lang="en-US" dirty="0"/>
              <a:t>:</a:t>
            </a:r>
            <a:r>
              <a:rPr lang="ru-RU" dirty="0"/>
              <a:t> нумерации фреймов, подтверждений, таймеров, управления </a:t>
            </a:r>
            <a:r>
              <a:rPr lang="ru-RU" dirty="0" err="1"/>
              <a:t>потокм</a:t>
            </a:r>
            <a:endParaRPr lang="ru-RU" dirty="0"/>
          </a:p>
          <a:p>
            <a:endParaRPr lang="en-US" dirty="0"/>
          </a:p>
        </p:txBody>
      </p:sp>
      <p:sp>
        <p:nvSpPr>
          <p:cNvPr id="6" name="TextBox 5">
            <a:extLst>
              <a:ext uri="{FF2B5EF4-FFF2-40B4-BE49-F238E27FC236}">
                <a16:creationId xmlns:a16="http://schemas.microsoft.com/office/drawing/2014/main" id="{D160716A-2DF9-4765-C7E3-63228AD2EDFC}"/>
              </a:ext>
            </a:extLst>
          </p:cNvPr>
          <p:cNvSpPr txBox="1"/>
          <p:nvPr/>
        </p:nvSpPr>
        <p:spPr>
          <a:xfrm>
            <a:off x="7281948" y="1841242"/>
            <a:ext cx="4757651" cy="5016758"/>
          </a:xfrm>
          <a:prstGeom prst="rect">
            <a:avLst/>
          </a:prstGeom>
          <a:noFill/>
        </p:spPr>
        <p:txBody>
          <a:bodyPr wrap="square">
            <a:spAutoFit/>
          </a:bodyPr>
          <a:lstStyle/>
          <a:p>
            <a:pPr>
              <a:buNone/>
            </a:pPr>
            <a:r>
              <a:rPr lang="en-US" sz="1600" b="0" dirty="0">
                <a:solidFill>
                  <a:srgbClr val="0000FF"/>
                </a:solidFill>
                <a:effectLst/>
                <a:latin typeface="Consolas" panose="020B0609020204030204" pitchFamily="49" charset="0"/>
              </a:rPr>
              <a:t>typedef</a:t>
            </a:r>
            <a:r>
              <a:rPr lang="en-US" sz="1600" b="0" dirty="0">
                <a:solidFill>
                  <a:srgbClr val="000000"/>
                </a:solidFill>
                <a:effectLst/>
                <a:latin typeface="Consolas" panose="020B0609020204030204" pitchFamily="49" charset="0"/>
              </a:rPr>
              <a:t> </a:t>
            </a:r>
            <a:r>
              <a:rPr lang="en-US" sz="1600" b="0" dirty="0" err="1">
                <a:solidFill>
                  <a:srgbClr val="0000FF"/>
                </a:solidFill>
                <a:effectLst/>
                <a:latin typeface="Consolas" panose="020B0609020204030204" pitchFamily="49" charset="0"/>
              </a:rPr>
              <a:t>enum</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frame_arrival</a:t>
            </a: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event_type</a:t>
            </a:r>
            <a:r>
              <a:rPr lang="en-US" sz="1600" b="0" dirty="0">
                <a:solidFill>
                  <a:srgbClr val="000000"/>
                </a:solidFill>
                <a:effectLst/>
                <a:latin typeface="Consolas" panose="020B0609020204030204" pitchFamily="49" charset="0"/>
              </a:rPr>
              <a:t>;</a:t>
            </a:r>
          </a:p>
          <a:p>
            <a:pPr>
              <a:buNone/>
            </a:pP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sender1</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2B91AF"/>
                </a:solidFill>
                <a:effectLst/>
                <a:latin typeface="Consolas" panose="020B0609020204030204" pitchFamily="49" charset="0"/>
              </a:rPr>
              <a:t>frame</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s</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2B91AF"/>
                </a:solidFill>
                <a:effectLst/>
                <a:latin typeface="Consolas" panose="020B0609020204030204" pitchFamily="49" charset="0"/>
              </a:rPr>
              <a:t>packet</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buffer</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while</a:t>
            </a:r>
            <a:r>
              <a:rPr lang="en-US" sz="1600" b="0" dirty="0">
                <a:solidFill>
                  <a:srgbClr val="000000"/>
                </a:solidFill>
                <a:effectLst/>
                <a:latin typeface="Consolas" panose="020B0609020204030204" pitchFamily="49" charset="0"/>
              </a:rPr>
              <a:t> (true) {</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from_network_layer</a:t>
            </a:r>
            <a:r>
              <a:rPr lang="en-US" sz="1600" b="0" dirty="0">
                <a:solidFill>
                  <a:srgbClr val="000000"/>
                </a:solidFill>
                <a:effectLst/>
                <a:latin typeface="Consolas" panose="020B0609020204030204" pitchFamily="49" charset="0"/>
              </a:rPr>
              <a:t>(&amp;</a:t>
            </a:r>
            <a:r>
              <a:rPr lang="en-US" sz="1600" b="0" dirty="0">
                <a:solidFill>
                  <a:srgbClr val="1F377F"/>
                </a:solidFill>
                <a:effectLst/>
                <a:latin typeface="Consolas" panose="020B0609020204030204" pitchFamily="49" charset="0"/>
              </a:rPr>
              <a:t>buffer</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s</a:t>
            </a:r>
            <a:r>
              <a:rPr lang="en-US" sz="1600" b="0" dirty="0">
                <a:solidFill>
                  <a:srgbClr val="000000"/>
                </a:solidFill>
                <a:effectLst/>
                <a:latin typeface="Consolas" panose="020B0609020204030204" pitchFamily="49" charset="0"/>
              </a:rPr>
              <a:t>.info = </a:t>
            </a:r>
            <a:r>
              <a:rPr lang="en-US" sz="1600" b="0" dirty="0">
                <a:solidFill>
                  <a:srgbClr val="1F377F"/>
                </a:solidFill>
                <a:effectLst/>
                <a:latin typeface="Consolas" panose="020B0609020204030204" pitchFamily="49" charset="0"/>
              </a:rPr>
              <a:t>buffer</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to_physical_layer</a:t>
            </a:r>
            <a:r>
              <a:rPr lang="en-US" sz="1600" b="0" dirty="0">
                <a:solidFill>
                  <a:srgbClr val="000000"/>
                </a:solidFill>
                <a:effectLst/>
                <a:latin typeface="Consolas" panose="020B0609020204030204" pitchFamily="49" charset="0"/>
              </a:rPr>
              <a:t>(&amp;</a:t>
            </a:r>
            <a:r>
              <a:rPr lang="en-US" sz="1600" b="0" dirty="0">
                <a:solidFill>
                  <a:srgbClr val="1F377F"/>
                </a:solidFill>
                <a:effectLst/>
                <a:latin typeface="Consolas" panose="020B0609020204030204" pitchFamily="49" charset="0"/>
              </a:rPr>
              <a:t>s</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                                 </a:t>
            </a:r>
          </a:p>
          <a:p>
            <a:pPr>
              <a:buNone/>
            </a:pPr>
            <a:r>
              <a:rPr lang="en-US" sz="1600" b="0" dirty="0">
                <a:solidFill>
                  <a:srgbClr val="000000"/>
                </a:solidFill>
                <a:effectLst/>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receiver1</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2B91AF"/>
                </a:solidFill>
                <a:effectLst/>
                <a:latin typeface="Consolas" panose="020B0609020204030204" pitchFamily="49" charset="0"/>
              </a:rPr>
              <a:t>frame</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r</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event_type</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event</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while</a:t>
            </a:r>
            <a:r>
              <a:rPr lang="en-US" sz="1600" b="0" dirty="0">
                <a:solidFill>
                  <a:srgbClr val="000000"/>
                </a:solidFill>
                <a:effectLst/>
                <a:latin typeface="Consolas" panose="020B0609020204030204" pitchFamily="49" charset="0"/>
              </a:rPr>
              <a:t> (true) {</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wait_for_event</a:t>
            </a:r>
            <a:r>
              <a:rPr lang="en-US" sz="1600" b="0" dirty="0">
                <a:solidFill>
                  <a:srgbClr val="000000"/>
                </a:solidFill>
                <a:effectLst/>
                <a:latin typeface="Consolas" panose="020B0609020204030204" pitchFamily="49" charset="0"/>
              </a:rPr>
              <a:t>(&amp;</a:t>
            </a:r>
            <a:r>
              <a:rPr lang="en-US" sz="1600" b="0" dirty="0">
                <a:solidFill>
                  <a:srgbClr val="1F377F"/>
                </a:solidFill>
                <a:effectLst/>
                <a:latin typeface="Consolas" panose="020B0609020204030204" pitchFamily="49" charset="0"/>
              </a:rPr>
              <a:t>event</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from_physical_layer</a:t>
            </a:r>
            <a:r>
              <a:rPr lang="en-US" sz="1600" b="0" dirty="0">
                <a:solidFill>
                  <a:srgbClr val="000000"/>
                </a:solidFill>
                <a:effectLst/>
                <a:latin typeface="Consolas" panose="020B0609020204030204" pitchFamily="49" charset="0"/>
              </a:rPr>
              <a:t>(&amp;</a:t>
            </a:r>
            <a:r>
              <a:rPr lang="en-US" sz="1600" b="0" dirty="0">
                <a:solidFill>
                  <a:srgbClr val="1F377F"/>
                </a:solidFill>
                <a:effectLst/>
                <a:latin typeface="Consolas" panose="020B0609020204030204" pitchFamily="49" charset="0"/>
              </a:rPr>
              <a:t>r</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to_network_layer</a:t>
            </a:r>
            <a:r>
              <a:rPr lang="en-US" sz="1600" b="0" dirty="0">
                <a:solidFill>
                  <a:srgbClr val="000000"/>
                </a:solidFill>
                <a:effectLst/>
                <a:latin typeface="Consolas" panose="020B0609020204030204" pitchFamily="49" charset="0"/>
              </a:rPr>
              <a:t>(&amp;</a:t>
            </a:r>
            <a:r>
              <a:rPr lang="en-US" sz="1600" b="0" dirty="0">
                <a:solidFill>
                  <a:srgbClr val="1F377F"/>
                </a:solidFill>
                <a:effectLst/>
                <a:latin typeface="Consolas" panose="020B0609020204030204" pitchFamily="49" charset="0"/>
              </a:rPr>
              <a:t>r</a:t>
            </a:r>
            <a:r>
              <a:rPr lang="en-US" sz="1600" b="0" dirty="0">
                <a:solidFill>
                  <a:srgbClr val="000000"/>
                </a:solidFill>
                <a:effectLst/>
                <a:latin typeface="Consolas" panose="020B0609020204030204" pitchFamily="49" charset="0"/>
              </a:rPr>
              <a:t>.info);    </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3770733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2E6A5-B838-9E9F-DB4A-121C0A3A2D1A}"/>
              </a:ext>
            </a:extLst>
          </p:cNvPr>
          <p:cNvSpPr>
            <a:spLocks noGrp="1"/>
          </p:cNvSpPr>
          <p:nvPr>
            <p:ph type="title"/>
          </p:nvPr>
        </p:nvSpPr>
        <p:spPr/>
        <p:txBody>
          <a:bodyPr>
            <a:normAutofit/>
          </a:bodyPr>
          <a:lstStyle/>
          <a:p>
            <a:r>
              <a:rPr lang="ru-RU" dirty="0"/>
              <a:t>Stop-</a:t>
            </a:r>
            <a:r>
              <a:rPr lang="ru-RU" dirty="0" err="1"/>
              <a:t>and</a:t>
            </a:r>
            <a:r>
              <a:rPr lang="ru-RU" dirty="0"/>
              <a:t>-</a:t>
            </a:r>
            <a:r>
              <a:rPr lang="ru-RU" dirty="0" err="1"/>
              <a:t>wait</a:t>
            </a:r>
            <a:r>
              <a:rPr lang="ru-RU" dirty="0"/>
              <a:t>: добавляем управление потоком</a:t>
            </a:r>
            <a:endParaRPr lang="en-US" dirty="0"/>
          </a:p>
        </p:txBody>
      </p:sp>
      <p:sp>
        <p:nvSpPr>
          <p:cNvPr id="3" name="Content Placeholder 2">
            <a:extLst>
              <a:ext uri="{FF2B5EF4-FFF2-40B4-BE49-F238E27FC236}">
                <a16:creationId xmlns:a16="http://schemas.microsoft.com/office/drawing/2014/main" id="{2A5AEDEB-97D9-D1F1-C156-7A2721075C55}"/>
              </a:ext>
            </a:extLst>
          </p:cNvPr>
          <p:cNvSpPr>
            <a:spLocks noGrp="1"/>
          </p:cNvSpPr>
          <p:nvPr>
            <p:ph idx="1"/>
          </p:nvPr>
        </p:nvSpPr>
        <p:spPr>
          <a:xfrm>
            <a:off x="838200" y="1825625"/>
            <a:ext cx="6676505" cy="4351338"/>
          </a:xfrm>
        </p:spPr>
        <p:txBody>
          <a:bodyPr>
            <a:normAutofit fontScale="70000" lnSpcReduction="20000"/>
          </a:bodyPr>
          <a:lstStyle/>
          <a:p>
            <a:r>
              <a:rPr lang="ru-RU" dirty="0"/>
              <a:t>Проблема:</a:t>
            </a:r>
          </a:p>
          <a:p>
            <a:pPr lvl="1"/>
            <a:r>
              <a:rPr lang="ru-RU" dirty="0"/>
              <a:t>Отправитель может быть </a:t>
            </a:r>
            <a:r>
              <a:rPr lang="ru-RU" b="1" dirty="0"/>
              <a:t>быстрее</a:t>
            </a:r>
            <a:r>
              <a:rPr lang="ru-RU" dirty="0"/>
              <a:t>, чем получатель</a:t>
            </a:r>
          </a:p>
          <a:p>
            <a:pPr lvl="1"/>
            <a:r>
              <a:rPr lang="ru-RU" dirty="0"/>
              <a:t>Получатель начинает терять фреймы (буфер/скорость не хватает)</a:t>
            </a:r>
          </a:p>
          <a:p>
            <a:r>
              <a:rPr lang="ru-RU" dirty="0"/>
              <a:t>Идея протокола </a:t>
            </a:r>
            <a:r>
              <a:rPr lang="ru-RU" b="1" dirty="0" err="1"/>
              <a:t>stop-and-wait</a:t>
            </a:r>
            <a:r>
              <a:rPr lang="ru-RU" dirty="0"/>
              <a:t>:</a:t>
            </a:r>
          </a:p>
          <a:p>
            <a:pPr lvl="1"/>
            <a:r>
              <a:rPr lang="ru-RU" dirty="0"/>
              <a:t>Отправитель:</a:t>
            </a:r>
          </a:p>
          <a:p>
            <a:pPr lvl="2"/>
            <a:r>
              <a:rPr lang="ru-RU" dirty="0"/>
              <a:t>Берёт пакет</a:t>
            </a:r>
          </a:p>
          <a:p>
            <a:pPr lvl="2"/>
            <a:r>
              <a:rPr lang="ru-RU" dirty="0"/>
              <a:t>Отправляет фрейм</a:t>
            </a:r>
          </a:p>
          <a:p>
            <a:pPr lvl="2"/>
            <a:r>
              <a:rPr lang="ru-RU" b="1" dirty="0"/>
              <a:t>Ждёт подтверждения</a:t>
            </a:r>
            <a:r>
              <a:rPr lang="ru-RU" dirty="0"/>
              <a:t> (любой ответный фрейм)</a:t>
            </a:r>
          </a:p>
          <a:p>
            <a:pPr lvl="1"/>
            <a:r>
              <a:rPr lang="ru-RU" dirty="0"/>
              <a:t>Получатель:</a:t>
            </a:r>
          </a:p>
          <a:p>
            <a:pPr lvl="2"/>
            <a:r>
              <a:rPr lang="ru-RU" dirty="0"/>
              <a:t>Принимает фрейм</a:t>
            </a:r>
          </a:p>
          <a:p>
            <a:pPr lvl="2"/>
            <a:r>
              <a:rPr lang="ru-RU" dirty="0"/>
              <a:t>Передаёт данные сетевому уровню</a:t>
            </a:r>
          </a:p>
          <a:p>
            <a:pPr lvl="2"/>
            <a:r>
              <a:rPr lang="ru-RU" dirty="0"/>
              <a:t>Отправляет </a:t>
            </a:r>
            <a:r>
              <a:rPr lang="ru-RU" b="1" dirty="0"/>
              <a:t>фрейм-подтверждение</a:t>
            </a:r>
            <a:r>
              <a:rPr lang="ru-RU" dirty="0"/>
              <a:t> обратно</a:t>
            </a:r>
          </a:p>
          <a:p>
            <a:r>
              <a:rPr lang="ru-RU" dirty="0"/>
              <a:t>Особенности:</a:t>
            </a:r>
          </a:p>
          <a:p>
            <a:pPr lvl="1"/>
            <a:r>
              <a:rPr lang="ru-RU" dirty="0"/>
              <a:t>Передача данных — по-прежнему </a:t>
            </a:r>
            <a:r>
              <a:rPr lang="ru-RU" b="1" dirty="0"/>
              <a:t>только A → B</a:t>
            </a:r>
            <a:endParaRPr lang="ru-RU" dirty="0"/>
          </a:p>
          <a:p>
            <a:pPr lvl="1"/>
            <a:r>
              <a:rPr lang="ru-RU" dirty="0"/>
              <a:t>Линия физически двунаправленная, но логика: «один шлёт данные, второй отвечает подтверждениями»</a:t>
            </a:r>
          </a:p>
          <a:p>
            <a:pPr lvl="1"/>
            <a:r>
              <a:rPr lang="ru-RU" dirty="0"/>
              <a:t>Ошибок канала всё ещё не считаем</a:t>
            </a:r>
          </a:p>
          <a:p>
            <a:endParaRPr lang="ru-RU" dirty="0"/>
          </a:p>
          <a:p>
            <a:endParaRPr lang="en-US" dirty="0"/>
          </a:p>
        </p:txBody>
      </p:sp>
      <p:sp>
        <p:nvSpPr>
          <p:cNvPr id="5" name="TextBox 4">
            <a:extLst>
              <a:ext uri="{FF2B5EF4-FFF2-40B4-BE49-F238E27FC236}">
                <a16:creationId xmlns:a16="http://schemas.microsoft.com/office/drawing/2014/main" id="{B94F8A32-C0DC-C4C9-000D-0727DA1D8960}"/>
              </a:ext>
            </a:extLst>
          </p:cNvPr>
          <p:cNvSpPr txBox="1"/>
          <p:nvPr/>
        </p:nvSpPr>
        <p:spPr>
          <a:xfrm>
            <a:off x="7751619" y="1690688"/>
            <a:ext cx="4268585" cy="5047536"/>
          </a:xfrm>
          <a:prstGeom prst="rect">
            <a:avLst/>
          </a:prstGeom>
          <a:noFill/>
        </p:spPr>
        <p:txBody>
          <a:bodyPr wrap="square">
            <a:spAutoFit/>
          </a:bodyPr>
          <a:lstStyle/>
          <a:p>
            <a:pPr>
              <a:buNone/>
            </a:pPr>
            <a:r>
              <a:rPr lang="en-US" sz="1400" b="0" dirty="0">
                <a:solidFill>
                  <a:srgbClr val="0000FF"/>
                </a:solidFill>
                <a:effectLst/>
                <a:latin typeface="Consolas" panose="020B0609020204030204" pitchFamily="49" charset="0"/>
              </a:rPr>
              <a:t>typedef</a:t>
            </a:r>
            <a:r>
              <a:rPr lang="en-US" sz="1400" b="0" dirty="0">
                <a:solidFill>
                  <a:srgbClr val="000000"/>
                </a:solidFill>
                <a:effectLst/>
                <a:latin typeface="Consolas" panose="020B0609020204030204" pitchFamily="49" charset="0"/>
              </a:rPr>
              <a:t> </a:t>
            </a:r>
            <a:r>
              <a:rPr lang="en-US" sz="1400" b="0" dirty="0" err="1">
                <a:solidFill>
                  <a:srgbClr val="0000FF"/>
                </a:solidFill>
                <a:effectLst/>
                <a:latin typeface="Consolas" panose="020B0609020204030204" pitchFamily="49" charset="0"/>
              </a:rPr>
              <a:t>enum</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frame_arrival</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event_type</a:t>
            </a:r>
            <a:r>
              <a:rPr lang="en-US" sz="1400" b="0" dirty="0">
                <a:solidFill>
                  <a:srgbClr val="000000"/>
                </a:solidFill>
                <a:effectLst/>
                <a:latin typeface="Consolas" panose="020B0609020204030204" pitchFamily="49" charset="0"/>
              </a:rPr>
              <a:t>;</a:t>
            </a:r>
          </a:p>
          <a:p>
            <a:pPr>
              <a:buNone/>
            </a:pPr>
            <a:r>
              <a:rPr lang="en-US" sz="1400" b="0" dirty="0">
                <a:solidFill>
                  <a:srgbClr val="0000FF"/>
                </a:solidFill>
                <a:effectLst/>
                <a:latin typeface="Consolas" panose="020B0609020204030204" pitchFamily="49" charset="0"/>
              </a:rPr>
              <a:t>void</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sender2</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2B91AF"/>
                </a:solidFill>
                <a:effectLst/>
                <a:latin typeface="Consolas" panose="020B0609020204030204" pitchFamily="49" charset="0"/>
              </a:rPr>
              <a:t>frame</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s</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2B91AF"/>
                </a:solidFill>
                <a:effectLst/>
                <a:latin typeface="Consolas" panose="020B0609020204030204" pitchFamily="49" charset="0"/>
              </a:rPr>
              <a:t>packet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buffer</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event_type</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event</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while</a:t>
            </a:r>
            <a:r>
              <a:rPr lang="en-US" sz="1400" b="0" dirty="0">
                <a:solidFill>
                  <a:srgbClr val="000000"/>
                </a:solidFill>
                <a:effectLst/>
                <a:latin typeface="Consolas" panose="020B0609020204030204" pitchFamily="49" charset="0"/>
              </a:rPr>
              <a:t> (true) {</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from_network_layer</a:t>
            </a:r>
            <a:r>
              <a:rPr lang="en-US" sz="1400" b="0" dirty="0">
                <a:solidFill>
                  <a:srgbClr val="000000"/>
                </a:solidFill>
                <a:effectLst/>
                <a:latin typeface="Consolas" panose="020B0609020204030204" pitchFamily="49" charset="0"/>
              </a:rPr>
              <a:t>(&amp;</a:t>
            </a:r>
            <a:r>
              <a:rPr lang="en-US" sz="1400" b="0" dirty="0">
                <a:solidFill>
                  <a:srgbClr val="1F377F"/>
                </a:solidFill>
                <a:effectLst/>
                <a:latin typeface="Consolas" panose="020B0609020204030204" pitchFamily="49" charset="0"/>
              </a:rPr>
              <a:t>buffer</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s</a:t>
            </a:r>
            <a:r>
              <a:rPr lang="en-US" sz="1400" b="0" dirty="0">
                <a:solidFill>
                  <a:srgbClr val="000000"/>
                </a:solidFill>
                <a:effectLst/>
                <a:latin typeface="Consolas" panose="020B0609020204030204" pitchFamily="49" charset="0"/>
              </a:rPr>
              <a:t>.info = </a:t>
            </a:r>
            <a:r>
              <a:rPr lang="en-US" sz="1400" b="0" dirty="0">
                <a:solidFill>
                  <a:srgbClr val="1F377F"/>
                </a:solidFill>
                <a:effectLst/>
                <a:latin typeface="Consolas" panose="020B0609020204030204" pitchFamily="49" charset="0"/>
              </a:rPr>
              <a:t>buffer</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to_physical_layer</a:t>
            </a:r>
            <a:r>
              <a:rPr lang="en-US" sz="1400" b="0" dirty="0">
                <a:solidFill>
                  <a:srgbClr val="000000"/>
                </a:solidFill>
                <a:effectLst/>
                <a:latin typeface="Consolas" panose="020B0609020204030204" pitchFamily="49" charset="0"/>
              </a:rPr>
              <a:t>(&amp;</a:t>
            </a:r>
            <a:r>
              <a:rPr lang="en-US" sz="1400" b="0" dirty="0">
                <a:solidFill>
                  <a:srgbClr val="1F377F"/>
                </a:solidFill>
                <a:effectLst/>
                <a:latin typeface="Consolas" panose="020B0609020204030204" pitchFamily="49" charset="0"/>
              </a:rPr>
              <a:t>s</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wait_for_event</a:t>
            </a:r>
            <a:r>
              <a:rPr lang="en-US" sz="1400" b="0" dirty="0">
                <a:solidFill>
                  <a:srgbClr val="000000"/>
                </a:solidFill>
                <a:effectLst/>
                <a:latin typeface="Consolas" panose="020B0609020204030204" pitchFamily="49" charset="0"/>
              </a:rPr>
              <a:t>(&amp;</a:t>
            </a:r>
            <a:r>
              <a:rPr lang="en-US" sz="1400" b="0" dirty="0">
                <a:solidFill>
                  <a:srgbClr val="1F377F"/>
                </a:solidFill>
                <a:effectLst/>
                <a:latin typeface="Consolas" panose="020B0609020204030204" pitchFamily="49" charset="0"/>
              </a:rPr>
              <a:t>event</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                                 </a:t>
            </a:r>
          </a:p>
          <a:p>
            <a:pPr>
              <a:buNone/>
            </a:pP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void</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receiver2</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2B91AF"/>
                </a:solidFill>
                <a:effectLst/>
                <a:latin typeface="Consolas" panose="020B0609020204030204" pitchFamily="49" charset="0"/>
              </a:rPr>
              <a:t>frame</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r</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s</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event_type</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event</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while</a:t>
            </a:r>
            <a:r>
              <a:rPr lang="en-US" sz="1400" b="0" dirty="0">
                <a:solidFill>
                  <a:srgbClr val="000000"/>
                </a:solidFill>
                <a:effectLst/>
                <a:latin typeface="Consolas" panose="020B0609020204030204" pitchFamily="49" charset="0"/>
              </a:rPr>
              <a:t> (true) {</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wait_for_event</a:t>
            </a:r>
            <a:r>
              <a:rPr lang="en-US" sz="1400" b="0" dirty="0">
                <a:solidFill>
                  <a:srgbClr val="000000"/>
                </a:solidFill>
                <a:effectLst/>
                <a:latin typeface="Consolas" panose="020B0609020204030204" pitchFamily="49" charset="0"/>
              </a:rPr>
              <a:t>(&amp;</a:t>
            </a:r>
            <a:r>
              <a:rPr lang="en-US" sz="1400" b="0" dirty="0">
                <a:solidFill>
                  <a:srgbClr val="1F377F"/>
                </a:solidFill>
                <a:effectLst/>
                <a:latin typeface="Consolas" panose="020B0609020204030204" pitchFamily="49" charset="0"/>
              </a:rPr>
              <a:t>event</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from_physical_layer</a:t>
            </a:r>
            <a:r>
              <a:rPr lang="en-US" sz="1400" b="0" dirty="0">
                <a:solidFill>
                  <a:srgbClr val="000000"/>
                </a:solidFill>
                <a:effectLst/>
                <a:latin typeface="Consolas" panose="020B0609020204030204" pitchFamily="49" charset="0"/>
              </a:rPr>
              <a:t>(&amp;</a:t>
            </a:r>
            <a:r>
              <a:rPr lang="en-US" sz="1400" b="0" dirty="0">
                <a:solidFill>
                  <a:srgbClr val="1F377F"/>
                </a:solidFill>
                <a:effectLst/>
                <a:latin typeface="Consolas" panose="020B0609020204030204" pitchFamily="49" charset="0"/>
              </a:rPr>
              <a:t>r</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to_network_layer</a:t>
            </a:r>
            <a:r>
              <a:rPr lang="en-US" sz="1400" b="0" dirty="0">
                <a:solidFill>
                  <a:srgbClr val="000000"/>
                </a:solidFill>
                <a:effectLst/>
                <a:latin typeface="Consolas" panose="020B0609020204030204" pitchFamily="49" charset="0"/>
              </a:rPr>
              <a:t>(&amp;</a:t>
            </a:r>
            <a:r>
              <a:rPr lang="en-US" sz="1400" b="0" dirty="0">
                <a:solidFill>
                  <a:srgbClr val="1F377F"/>
                </a:solidFill>
                <a:effectLst/>
                <a:latin typeface="Consolas" panose="020B0609020204030204" pitchFamily="49" charset="0"/>
              </a:rPr>
              <a:t>r</a:t>
            </a:r>
            <a:r>
              <a:rPr lang="en-US" sz="1400" b="0" dirty="0">
                <a:solidFill>
                  <a:srgbClr val="000000"/>
                </a:solidFill>
                <a:effectLst/>
                <a:latin typeface="Consolas" panose="020B0609020204030204" pitchFamily="49" charset="0"/>
              </a:rPr>
              <a:t>.info);</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to_physical_layer</a:t>
            </a:r>
            <a:r>
              <a:rPr lang="en-US" sz="1400" b="0" dirty="0">
                <a:solidFill>
                  <a:srgbClr val="000000"/>
                </a:solidFill>
                <a:effectLst/>
                <a:latin typeface="Consolas" panose="020B0609020204030204" pitchFamily="49" charset="0"/>
              </a:rPr>
              <a:t>(&amp;</a:t>
            </a:r>
            <a:r>
              <a:rPr lang="en-US" sz="1400" b="0" dirty="0">
                <a:solidFill>
                  <a:srgbClr val="1F377F"/>
                </a:solidFill>
                <a:effectLst/>
                <a:latin typeface="Consolas" panose="020B0609020204030204" pitchFamily="49" charset="0"/>
              </a:rPr>
              <a:t>s</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4437518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DF42D-1CE9-73F3-0D00-D7AE560521E8}"/>
              </a:ext>
            </a:extLst>
          </p:cNvPr>
          <p:cNvSpPr>
            <a:spLocks noGrp="1"/>
          </p:cNvSpPr>
          <p:nvPr>
            <p:ph type="title"/>
          </p:nvPr>
        </p:nvSpPr>
        <p:spPr/>
        <p:txBody>
          <a:bodyPr>
            <a:normAutofit/>
          </a:bodyPr>
          <a:lstStyle/>
          <a:p>
            <a:r>
              <a:rPr lang="ru-RU" dirty="0"/>
              <a:t>Добавляем ошибки и ARQ: последовательные номера (Protocol 3)</a:t>
            </a:r>
            <a:endParaRPr lang="en-US" dirty="0"/>
          </a:p>
        </p:txBody>
      </p:sp>
      <p:sp>
        <p:nvSpPr>
          <p:cNvPr id="3" name="Content Placeholder 2">
            <a:extLst>
              <a:ext uri="{FF2B5EF4-FFF2-40B4-BE49-F238E27FC236}">
                <a16:creationId xmlns:a16="http://schemas.microsoft.com/office/drawing/2014/main" id="{090BE766-A906-A89D-3F05-EB047734C33E}"/>
              </a:ext>
            </a:extLst>
          </p:cNvPr>
          <p:cNvSpPr>
            <a:spLocks noGrp="1"/>
          </p:cNvSpPr>
          <p:nvPr>
            <p:ph idx="1"/>
          </p:nvPr>
        </p:nvSpPr>
        <p:spPr/>
        <p:txBody>
          <a:bodyPr>
            <a:normAutofit lnSpcReduction="10000"/>
          </a:bodyPr>
          <a:lstStyle/>
          <a:p>
            <a:r>
              <a:rPr lang="ru-RU" dirty="0"/>
              <a:t>Теперь канал </a:t>
            </a:r>
            <a:r>
              <a:rPr lang="ru-RU" b="1" dirty="0"/>
              <a:t>ненадёжен</a:t>
            </a:r>
            <a:r>
              <a:rPr lang="ru-RU" dirty="0"/>
              <a:t>:</a:t>
            </a:r>
          </a:p>
          <a:p>
            <a:pPr lvl="1"/>
            <a:r>
              <a:rPr lang="ru-RU" dirty="0"/>
              <a:t>Фреймы с данными могут теряться или портиться</a:t>
            </a:r>
          </a:p>
          <a:p>
            <a:pPr lvl="1"/>
            <a:r>
              <a:rPr lang="ru-RU" dirty="0"/>
              <a:t>Фреймы-подтверждения тоже могут теряться</a:t>
            </a:r>
          </a:p>
          <a:p>
            <a:r>
              <a:rPr lang="ru-RU" dirty="0"/>
              <a:t>Проблема без нумерации:</a:t>
            </a:r>
          </a:p>
          <a:p>
            <a:pPr lvl="1"/>
            <a:r>
              <a:rPr lang="ru-RU" dirty="0"/>
              <a:t>A отправил фрейм 1, B его принял и подтвердил</a:t>
            </a:r>
          </a:p>
          <a:p>
            <a:pPr lvl="1"/>
            <a:r>
              <a:rPr lang="ru-RU" dirty="0"/>
              <a:t>Подтверждение </a:t>
            </a:r>
            <a:r>
              <a:rPr lang="ru-RU" b="1" dirty="0"/>
              <a:t>потерялось</a:t>
            </a:r>
            <a:endParaRPr lang="ru-RU" dirty="0"/>
          </a:p>
          <a:p>
            <a:pPr lvl="1"/>
            <a:r>
              <a:rPr lang="ru-RU" dirty="0"/>
              <a:t>Таймер A истёк → A снова отправляет тот же фрейм</a:t>
            </a:r>
          </a:p>
          <a:p>
            <a:pPr lvl="1"/>
            <a:r>
              <a:rPr lang="ru-RU" dirty="0"/>
              <a:t>B получает дубликат и снова отдаёт его сетевому уровню → </a:t>
            </a:r>
            <a:r>
              <a:rPr lang="ru-RU" b="1" dirty="0"/>
              <a:t>дублирование данных</a:t>
            </a:r>
            <a:endParaRPr lang="ru-RU" dirty="0"/>
          </a:p>
          <a:p>
            <a:r>
              <a:rPr lang="ru-RU" dirty="0"/>
              <a:t>Решение:</a:t>
            </a:r>
          </a:p>
          <a:p>
            <a:pPr lvl="1"/>
            <a:r>
              <a:rPr lang="ru-RU" dirty="0"/>
              <a:t>Вводим порядковые номера фреймов (</a:t>
            </a:r>
            <a:r>
              <a:rPr lang="ru-RU" dirty="0" err="1"/>
              <a:t>seq_nr</a:t>
            </a:r>
            <a:r>
              <a:rPr lang="ru-RU" dirty="0"/>
              <a:t>)</a:t>
            </a:r>
            <a:endParaRPr lang="en-US" dirty="0"/>
          </a:p>
        </p:txBody>
      </p:sp>
    </p:spTree>
    <p:extLst>
      <p:ext uri="{BB962C8B-B14F-4D97-AF65-F5344CB8AC3E}">
        <p14:creationId xmlns:p14="http://schemas.microsoft.com/office/powerpoint/2010/main" val="26740324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F4778E1-1C81-1FAC-1682-0079CEC2D4B1}"/>
              </a:ext>
            </a:extLst>
          </p:cNvPr>
          <p:cNvSpPr txBox="1"/>
          <p:nvPr/>
        </p:nvSpPr>
        <p:spPr>
          <a:xfrm>
            <a:off x="121920" y="0"/>
            <a:ext cx="5364480" cy="6986528"/>
          </a:xfrm>
          <a:prstGeom prst="rect">
            <a:avLst/>
          </a:prstGeom>
          <a:noFill/>
        </p:spPr>
        <p:txBody>
          <a:bodyPr wrap="square">
            <a:spAutoFit/>
          </a:bodyPr>
          <a:lstStyle/>
          <a:p>
            <a:pPr>
              <a:buNone/>
            </a:pPr>
            <a:r>
              <a:rPr lang="en-US" sz="1600" b="0" dirty="0">
                <a:solidFill>
                  <a:srgbClr val="808080"/>
                </a:solidFill>
                <a:effectLst/>
                <a:latin typeface="Consolas" panose="020B0609020204030204" pitchFamily="49" charset="0"/>
              </a:rPr>
              <a:t>#define</a:t>
            </a:r>
            <a:r>
              <a:rPr lang="en-US" sz="1600" b="0" dirty="0">
                <a:solidFill>
                  <a:srgbClr val="000000"/>
                </a:solidFill>
                <a:effectLst/>
                <a:latin typeface="Consolas" panose="020B0609020204030204" pitchFamily="49" charset="0"/>
              </a:rPr>
              <a:t> </a:t>
            </a:r>
            <a:r>
              <a:rPr lang="en-US" sz="1600" b="0" dirty="0">
                <a:solidFill>
                  <a:srgbClr val="8A1BFF"/>
                </a:solidFill>
                <a:effectLst/>
                <a:latin typeface="Consolas" panose="020B0609020204030204" pitchFamily="49" charset="0"/>
              </a:rPr>
              <a:t>MAX_SEQ</a:t>
            </a:r>
            <a:r>
              <a:rPr lang="en-US" sz="1600" b="0" dirty="0">
                <a:solidFill>
                  <a:srgbClr val="000000"/>
                </a:solidFill>
                <a:effectLst/>
                <a:latin typeface="Consolas" panose="020B0609020204030204" pitchFamily="49" charset="0"/>
              </a:rPr>
              <a:t> </a:t>
            </a:r>
            <a:r>
              <a:rPr lang="en-US" sz="1600" b="0" dirty="0">
                <a:solidFill>
                  <a:srgbClr val="098658"/>
                </a:solidFill>
                <a:effectLst/>
                <a:latin typeface="Consolas" panose="020B0609020204030204" pitchFamily="49" charset="0"/>
              </a:rPr>
              <a:t>1</a:t>
            </a:r>
            <a:endParaRPr lang="en-US"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typedef</a:t>
            </a:r>
            <a:r>
              <a:rPr lang="en-US" sz="1600" b="0" dirty="0">
                <a:solidFill>
                  <a:srgbClr val="000000"/>
                </a:solidFill>
                <a:effectLst/>
                <a:latin typeface="Consolas" panose="020B0609020204030204" pitchFamily="49" charset="0"/>
              </a:rPr>
              <a:t> </a:t>
            </a:r>
            <a:r>
              <a:rPr lang="en-US" sz="1600" b="0" dirty="0" err="1">
                <a:solidFill>
                  <a:srgbClr val="0000FF"/>
                </a:solidFill>
                <a:effectLst/>
                <a:latin typeface="Consolas" panose="020B0609020204030204" pitchFamily="49" charset="0"/>
              </a:rPr>
              <a:t>enum</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frame_arrival</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cksum_err</a:t>
            </a:r>
            <a:r>
              <a:rPr lang="en-US" sz="1600" b="0" dirty="0">
                <a:solidFill>
                  <a:srgbClr val="000000"/>
                </a:solidFill>
                <a:effectLst/>
                <a:latin typeface="Consolas" panose="020B0609020204030204" pitchFamily="49" charset="0"/>
              </a:rPr>
              <a:t>, timeout</a:t>
            </a:r>
          </a:p>
          <a:p>
            <a:pPr>
              <a:buNone/>
            </a:pP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event_type</a:t>
            </a:r>
            <a:r>
              <a:rPr lang="en-US" sz="1600" b="0" dirty="0">
                <a:solidFill>
                  <a:srgbClr val="000000"/>
                </a:solidFill>
                <a:effectLst/>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sender3</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seq_nr</a:t>
            </a: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next_frame_to_send</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2B91AF"/>
                </a:solidFill>
                <a:effectLst/>
                <a:latin typeface="Consolas" panose="020B0609020204030204" pitchFamily="49" charset="0"/>
              </a:rPr>
              <a:t>frame</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s</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2B91AF"/>
                </a:solidFill>
                <a:effectLst/>
                <a:latin typeface="Consolas" panose="020B0609020204030204" pitchFamily="49" charset="0"/>
              </a:rPr>
              <a:t>packet</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buffer</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event_type</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event</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next_frame_to_send</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from_network_layer</a:t>
            </a:r>
            <a:r>
              <a:rPr lang="en-US" sz="1600" b="0" dirty="0">
                <a:solidFill>
                  <a:srgbClr val="000000"/>
                </a:solidFill>
                <a:effectLst/>
                <a:latin typeface="Consolas" panose="020B0609020204030204" pitchFamily="49" charset="0"/>
              </a:rPr>
              <a:t>(&amp;</a:t>
            </a:r>
            <a:r>
              <a:rPr lang="en-US" sz="1600" b="0" dirty="0">
                <a:solidFill>
                  <a:srgbClr val="1F377F"/>
                </a:solidFill>
                <a:effectLst/>
                <a:latin typeface="Consolas" panose="020B0609020204030204" pitchFamily="49" charset="0"/>
              </a:rPr>
              <a:t>buffer</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while</a:t>
            </a:r>
            <a:r>
              <a:rPr lang="en-US" sz="1600" b="0" dirty="0">
                <a:solidFill>
                  <a:srgbClr val="000000"/>
                </a:solidFill>
                <a:effectLst/>
                <a:latin typeface="Consolas" panose="020B0609020204030204" pitchFamily="49" charset="0"/>
              </a:rPr>
              <a:t> (true) {</a:t>
            </a:r>
          </a:p>
          <a:p>
            <a:pPr>
              <a:buNone/>
            </a:pP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s</a:t>
            </a:r>
            <a:r>
              <a:rPr lang="en-US" sz="1600" b="0" dirty="0">
                <a:solidFill>
                  <a:srgbClr val="000000"/>
                </a:solidFill>
                <a:effectLst/>
                <a:latin typeface="Consolas" panose="020B0609020204030204" pitchFamily="49" charset="0"/>
              </a:rPr>
              <a:t>.info = </a:t>
            </a:r>
            <a:r>
              <a:rPr lang="en-US" sz="1600" b="0" dirty="0">
                <a:solidFill>
                  <a:srgbClr val="1F377F"/>
                </a:solidFill>
                <a:effectLst/>
                <a:latin typeface="Consolas" panose="020B0609020204030204" pitchFamily="49" charset="0"/>
              </a:rPr>
              <a:t>buffer</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s</a:t>
            </a:r>
            <a:r>
              <a:rPr lang="en-US" sz="1600" b="0" dirty="0" err="1">
                <a:solidFill>
                  <a:srgbClr val="000000"/>
                </a:solidFill>
                <a:effectLst/>
                <a:latin typeface="Consolas" panose="020B0609020204030204" pitchFamily="49" charset="0"/>
              </a:rPr>
              <a:t>.seq</a:t>
            </a:r>
            <a:r>
              <a:rPr lang="en-US" sz="1600" b="0" dirty="0">
                <a:solidFill>
                  <a:srgbClr val="000000"/>
                </a:solidFill>
                <a:effectLst/>
                <a:latin typeface="Consolas" panose="020B0609020204030204" pitchFamily="49" charset="0"/>
              </a:rPr>
              <a:t> = </a:t>
            </a:r>
            <a:r>
              <a:rPr lang="en-US" sz="1600" b="0" dirty="0" err="1">
                <a:solidFill>
                  <a:srgbClr val="1F377F"/>
                </a:solidFill>
                <a:effectLst/>
                <a:latin typeface="Consolas" panose="020B0609020204030204" pitchFamily="49" charset="0"/>
              </a:rPr>
              <a:t>next_frame_to_send</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to_physical_layer</a:t>
            </a:r>
            <a:r>
              <a:rPr lang="en-US" sz="1600" b="0" dirty="0">
                <a:solidFill>
                  <a:srgbClr val="000000"/>
                </a:solidFill>
                <a:effectLst/>
                <a:latin typeface="Consolas" panose="020B0609020204030204" pitchFamily="49" charset="0"/>
              </a:rPr>
              <a:t>(&amp;</a:t>
            </a:r>
            <a:r>
              <a:rPr lang="en-US" sz="1600" b="0" dirty="0">
                <a:solidFill>
                  <a:srgbClr val="1F377F"/>
                </a:solidFill>
                <a:effectLst/>
                <a:latin typeface="Consolas" panose="020B0609020204030204" pitchFamily="49" charset="0"/>
              </a:rPr>
              <a:t>s</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start_timer</a:t>
            </a:r>
            <a:r>
              <a:rPr lang="en-US" sz="1600" b="0" dirty="0">
                <a:solidFill>
                  <a:srgbClr val="000000"/>
                </a:solidFill>
                <a:effectLst/>
                <a:latin typeface="Consolas" panose="020B0609020204030204" pitchFamily="49" charset="0"/>
              </a:rPr>
              <a:t>(</a:t>
            </a:r>
            <a:r>
              <a:rPr lang="en-US" sz="1600" b="0" dirty="0" err="1">
                <a:solidFill>
                  <a:srgbClr val="1F377F"/>
                </a:solidFill>
                <a:effectLst/>
                <a:latin typeface="Consolas" panose="020B0609020204030204" pitchFamily="49" charset="0"/>
              </a:rPr>
              <a:t>s</a:t>
            </a:r>
            <a:r>
              <a:rPr lang="en-US" sz="1600" b="0" dirty="0" err="1">
                <a:solidFill>
                  <a:srgbClr val="000000"/>
                </a:solidFill>
                <a:effectLst/>
                <a:latin typeface="Consolas" panose="020B0609020204030204" pitchFamily="49" charset="0"/>
              </a:rPr>
              <a:t>.seq</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wait_for_event</a:t>
            </a:r>
            <a:r>
              <a:rPr lang="en-US" sz="1600" b="0" dirty="0">
                <a:solidFill>
                  <a:srgbClr val="000000"/>
                </a:solidFill>
                <a:effectLst/>
                <a:latin typeface="Consolas" panose="020B0609020204030204" pitchFamily="49" charset="0"/>
              </a:rPr>
              <a:t>(&amp;</a:t>
            </a:r>
            <a:r>
              <a:rPr lang="en-US" sz="1600" b="0" dirty="0">
                <a:solidFill>
                  <a:srgbClr val="1F377F"/>
                </a:solidFill>
                <a:effectLst/>
                <a:latin typeface="Consolas" panose="020B0609020204030204" pitchFamily="49" charset="0"/>
              </a:rPr>
              <a:t>event</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event</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frame_arrival</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from_physical_layer</a:t>
            </a:r>
            <a:r>
              <a:rPr lang="en-US" sz="1600" b="0" dirty="0">
                <a:solidFill>
                  <a:srgbClr val="000000"/>
                </a:solidFill>
                <a:effectLst/>
                <a:latin typeface="Consolas" panose="020B0609020204030204" pitchFamily="49" charset="0"/>
              </a:rPr>
              <a:t>(&amp;</a:t>
            </a:r>
            <a:r>
              <a:rPr lang="en-US" sz="1600" b="0" dirty="0">
                <a:solidFill>
                  <a:srgbClr val="1F377F"/>
                </a:solidFill>
                <a:effectLst/>
                <a:latin typeface="Consolas" panose="020B0609020204030204" pitchFamily="49" charset="0"/>
              </a:rPr>
              <a:t>s</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s</a:t>
            </a:r>
            <a:r>
              <a:rPr lang="en-US" sz="1600" b="0" dirty="0" err="1">
                <a:solidFill>
                  <a:srgbClr val="000000"/>
                </a:solidFill>
                <a:effectLst/>
                <a:latin typeface="Consolas" panose="020B0609020204030204" pitchFamily="49" charset="0"/>
              </a:rPr>
              <a:t>.ack</a:t>
            </a:r>
            <a:r>
              <a:rPr lang="en-US" sz="1600" b="0" dirty="0">
                <a:solidFill>
                  <a:srgbClr val="000000"/>
                </a:solidFill>
                <a:effectLst/>
                <a:latin typeface="Consolas" panose="020B0609020204030204" pitchFamily="49" charset="0"/>
              </a:rPr>
              <a:t> == </a:t>
            </a:r>
            <a:r>
              <a:rPr lang="en-US" sz="1600" b="0" dirty="0" err="1">
                <a:solidFill>
                  <a:srgbClr val="1F377F"/>
                </a:solidFill>
                <a:effectLst/>
                <a:latin typeface="Consolas" panose="020B0609020204030204" pitchFamily="49" charset="0"/>
              </a:rPr>
              <a:t>next_frame_to_send</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stop_timer</a:t>
            </a:r>
            <a:r>
              <a:rPr lang="en-US" sz="1600" b="0" dirty="0">
                <a:solidFill>
                  <a:srgbClr val="000000"/>
                </a:solidFill>
                <a:effectLst/>
                <a:latin typeface="Consolas" panose="020B0609020204030204" pitchFamily="49" charset="0"/>
              </a:rPr>
              <a:t>(</a:t>
            </a:r>
            <a:r>
              <a:rPr lang="en-US" sz="1600" b="0" dirty="0" err="1">
                <a:solidFill>
                  <a:srgbClr val="1F377F"/>
                </a:solidFill>
                <a:effectLst/>
                <a:latin typeface="Consolas" panose="020B0609020204030204" pitchFamily="49" charset="0"/>
              </a:rPr>
              <a:t>s</a:t>
            </a:r>
            <a:r>
              <a:rPr lang="en-US" sz="1600" b="0" dirty="0" err="1">
                <a:solidFill>
                  <a:srgbClr val="000000"/>
                </a:solidFill>
                <a:effectLst/>
                <a:latin typeface="Consolas" panose="020B0609020204030204" pitchFamily="49" charset="0"/>
              </a:rPr>
              <a:t>.ack</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from_network_layer</a:t>
            </a:r>
            <a:r>
              <a:rPr lang="en-US" sz="1600" b="0" dirty="0">
                <a:solidFill>
                  <a:srgbClr val="000000"/>
                </a:solidFill>
                <a:effectLst/>
                <a:latin typeface="Consolas" panose="020B0609020204030204" pitchFamily="49" charset="0"/>
              </a:rPr>
              <a:t>(&amp;</a:t>
            </a:r>
            <a:r>
              <a:rPr lang="en-US" sz="1600" b="0" dirty="0">
                <a:solidFill>
                  <a:srgbClr val="1F377F"/>
                </a:solidFill>
                <a:effectLst/>
                <a:latin typeface="Consolas" panose="020B0609020204030204" pitchFamily="49" charset="0"/>
              </a:rPr>
              <a:t>buffer</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inc</a:t>
            </a:r>
            <a:r>
              <a:rPr lang="en-US" sz="1600" b="0" dirty="0">
                <a:solidFill>
                  <a:srgbClr val="000000"/>
                </a:solidFill>
                <a:effectLst/>
                <a:latin typeface="Consolas" panose="020B0609020204030204" pitchFamily="49" charset="0"/>
              </a:rPr>
              <a:t>(</a:t>
            </a:r>
            <a:r>
              <a:rPr lang="en-US" sz="1600" b="0" dirty="0" err="1">
                <a:solidFill>
                  <a:srgbClr val="1F377F"/>
                </a:solidFill>
                <a:effectLst/>
                <a:latin typeface="Consolas" panose="020B0609020204030204" pitchFamily="49" charset="0"/>
              </a:rPr>
              <a:t>next_frame_to_send</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3FB94F22-1CE9-B01D-F94B-ED829E28D438}"/>
              </a:ext>
            </a:extLst>
          </p:cNvPr>
          <p:cNvSpPr txBox="1"/>
          <p:nvPr/>
        </p:nvSpPr>
        <p:spPr>
          <a:xfrm>
            <a:off x="6098772" y="0"/>
            <a:ext cx="6093228" cy="4524315"/>
          </a:xfrm>
          <a:prstGeom prst="rect">
            <a:avLst/>
          </a:prstGeom>
          <a:noFill/>
        </p:spPr>
        <p:txBody>
          <a:bodyPr wrap="square">
            <a:spAutoFit/>
          </a:bodyPr>
          <a:lstStyle/>
          <a:p>
            <a:pPr>
              <a:buNone/>
            </a:pP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receiver3</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seq_nr</a:t>
            </a: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frame_expected</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2B91AF"/>
                </a:solidFill>
                <a:effectLst/>
                <a:latin typeface="Consolas" panose="020B0609020204030204" pitchFamily="49" charset="0"/>
              </a:rPr>
              <a:t>frame</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r</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s</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event_type</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event</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frame_expected</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while</a:t>
            </a:r>
            <a:r>
              <a:rPr lang="en-US" sz="1600" b="0" dirty="0">
                <a:solidFill>
                  <a:srgbClr val="000000"/>
                </a:solidFill>
                <a:effectLst/>
                <a:latin typeface="Consolas" panose="020B0609020204030204" pitchFamily="49" charset="0"/>
              </a:rPr>
              <a:t> (true) {</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wait_for_event</a:t>
            </a:r>
            <a:r>
              <a:rPr lang="en-US" sz="1600" b="0" dirty="0">
                <a:solidFill>
                  <a:srgbClr val="000000"/>
                </a:solidFill>
                <a:effectLst/>
                <a:latin typeface="Consolas" panose="020B0609020204030204" pitchFamily="49" charset="0"/>
              </a:rPr>
              <a:t>(&amp;</a:t>
            </a:r>
            <a:r>
              <a:rPr lang="en-US" sz="1600" b="0" dirty="0">
                <a:solidFill>
                  <a:srgbClr val="1F377F"/>
                </a:solidFill>
                <a:effectLst/>
                <a:latin typeface="Consolas" panose="020B0609020204030204" pitchFamily="49" charset="0"/>
              </a:rPr>
              <a:t>event</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event</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frame_arrival</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from_physical_layer</a:t>
            </a:r>
            <a:r>
              <a:rPr lang="en-US" sz="1600" b="0" dirty="0">
                <a:solidFill>
                  <a:srgbClr val="000000"/>
                </a:solidFill>
                <a:effectLst/>
                <a:latin typeface="Consolas" panose="020B0609020204030204" pitchFamily="49" charset="0"/>
              </a:rPr>
              <a:t>(&amp;</a:t>
            </a:r>
            <a:r>
              <a:rPr lang="en-US" sz="1600" b="0" dirty="0">
                <a:solidFill>
                  <a:srgbClr val="1F377F"/>
                </a:solidFill>
                <a:effectLst/>
                <a:latin typeface="Consolas" panose="020B0609020204030204" pitchFamily="49" charset="0"/>
              </a:rPr>
              <a:t>r</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r</a:t>
            </a:r>
            <a:r>
              <a:rPr lang="en-US" sz="1600" b="0" dirty="0" err="1">
                <a:solidFill>
                  <a:srgbClr val="000000"/>
                </a:solidFill>
                <a:effectLst/>
                <a:latin typeface="Consolas" panose="020B0609020204030204" pitchFamily="49" charset="0"/>
              </a:rPr>
              <a:t>.seq</a:t>
            </a:r>
            <a:r>
              <a:rPr lang="en-US" sz="1600" b="0" dirty="0">
                <a:solidFill>
                  <a:srgbClr val="000000"/>
                </a:solidFill>
                <a:effectLst/>
                <a:latin typeface="Consolas" panose="020B0609020204030204" pitchFamily="49" charset="0"/>
              </a:rPr>
              <a:t> == </a:t>
            </a:r>
            <a:r>
              <a:rPr lang="en-US" sz="1600" b="0" dirty="0" err="1">
                <a:solidFill>
                  <a:srgbClr val="1F377F"/>
                </a:solidFill>
                <a:effectLst/>
                <a:latin typeface="Consolas" panose="020B0609020204030204" pitchFamily="49" charset="0"/>
              </a:rPr>
              <a:t>frame_expected</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to_network_layer</a:t>
            </a:r>
            <a:r>
              <a:rPr lang="en-US" sz="1600" b="0" dirty="0">
                <a:solidFill>
                  <a:srgbClr val="000000"/>
                </a:solidFill>
                <a:effectLst/>
                <a:latin typeface="Consolas" panose="020B0609020204030204" pitchFamily="49" charset="0"/>
              </a:rPr>
              <a:t>(&amp;</a:t>
            </a:r>
            <a:r>
              <a:rPr lang="en-US" sz="1600" b="0" dirty="0">
                <a:solidFill>
                  <a:srgbClr val="1F377F"/>
                </a:solidFill>
                <a:effectLst/>
                <a:latin typeface="Consolas" panose="020B0609020204030204" pitchFamily="49" charset="0"/>
              </a:rPr>
              <a:t>r</a:t>
            </a:r>
            <a:r>
              <a:rPr lang="en-US" sz="1600" b="0" dirty="0">
                <a:solidFill>
                  <a:srgbClr val="000000"/>
                </a:solidFill>
                <a:effectLst/>
                <a:latin typeface="Consolas" panose="020B0609020204030204" pitchFamily="49" charset="0"/>
              </a:rPr>
              <a:t>.info);</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inc</a:t>
            </a:r>
            <a:r>
              <a:rPr lang="en-US" sz="1600" b="0" dirty="0">
                <a:solidFill>
                  <a:srgbClr val="000000"/>
                </a:solidFill>
                <a:effectLst/>
                <a:latin typeface="Consolas" panose="020B0609020204030204" pitchFamily="49" charset="0"/>
              </a:rPr>
              <a:t>(</a:t>
            </a:r>
            <a:r>
              <a:rPr lang="en-US" sz="1600" b="0" dirty="0" err="1">
                <a:solidFill>
                  <a:srgbClr val="1F377F"/>
                </a:solidFill>
                <a:effectLst/>
                <a:latin typeface="Consolas" panose="020B0609020204030204" pitchFamily="49" charset="0"/>
              </a:rPr>
              <a:t>frame_expected</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s</a:t>
            </a:r>
            <a:r>
              <a:rPr lang="en-US" sz="1600" b="0" dirty="0" err="1">
                <a:solidFill>
                  <a:srgbClr val="000000"/>
                </a:solidFill>
                <a:effectLst/>
                <a:latin typeface="Consolas" panose="020B0609020204030204" pitchFamily="49" charset="0"/>
              </a:rPr>
              <a:t>.ack</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1</a:t>
            </a:r>
            <a:r>
              <a:rPr lang="en-US" sz="1600" b="0" dirty="0">
                <a:solidFill>
                  <a:srgbClr val="000000"/>
                </a:solidFill>
                <a:effectLst/>
                <a:latin typeface="Consolas" panose="020B0609020204030204" pitchFamily="49" charset="0"/>
              </a:rPr>
              <a:t> - </a:t>
            </a:r>
            <a:r>
              <a:rPr lang="en-US" sz="1600" b="0" dirty="0" err="1">
                <a:solidFill>
                  <a:srgbClr val="1F377F"/>
                </a:solidFill>
                <a:effectLst/>
                <a:latin typeface="Consolas" panose="020B0609020204030204" pitchFamily="49" charset="0"/>
              </a:rPr>
              <a:t>frame_expected</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to_physical_layer</a:t>
            </a:r>
            <a:r>
              <a:rPr lang="en-US" sz="1600" b="0" dirty="0">
                <a:solidFill>
                  <a:srgbClr val="000000"/>
                </a:solidFill>
                <a:effectLst/>
                <a:latin typeface="Consolas" panose="020B0609020204030204" pitchFamily="49" charset="0"/>
              </a:rPr>
              <a:t>(&amp;</a:t>
            </a:r>
            <a:r>
              <a:rPr lang="en-US" sz="1600" b="0" dirty="0">
                <a:solidFill>
                  <a:srgbClr val="1F377F"/>
                </a:solidFill>
                <a:effectLst/>
                <a:latin typeface="Consolas" panose="020B0609020204030204" pitchFamily="49" charset="0"/>
              </a:rPr>
              <a:t>s</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5478850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60305-B11F-EE34-306D-A2894955EFB6}"/>
              </a:ext>
            </a:extLst>
          </p:cNvPr>
          <p:cNvSpPr>
            <a:spLocks noGrp="1"/>
          </p:cNvSpPr>
          <p:nvPr>
            <p:ph type="title"/>
          </p:nvPr>
        </p:nvSpPr>
        <p:spPr/>
        <p:txBody>
          <a:bodyPr>
            <a:normAutofit/>
          </a:bodyPr>
          <a:lstStyle/>
          <a:p>
            <a:r>
              <a:rPr lang="ru-RU" dirty="0"/>
              <a:t>Двунаправленная передача</a:t>
            </a:r>
            <a:endParaRPr lang="en-US" dirty="0"/>
          </a:p>
        </p:txBody>
      </p:sp>
      <p:sp>
        <p:nvSpPr>
          <p:cNvPr id="3" name="Content Placeholder 2">
            <a:extLst>
              <a:ext uri="{FF2B5EF4-FFF2-40B4-BE49-F238E27FC236}">
                <a16:creationId xmlns:a16="http://schemas.microsoft.com/office/drawing/2014/main" id="{0F675D80-E6F3-486A-FD56-85347FFBCBDD}"/>
              </a:ext>
            </a:extLst>
          </p:cNvPr>
          <p:cNvSpPr>
            <a:spLocks noGrp="1"/>
          </p:cNvSpPr>
          <p:nvPr>
            <p:ph idx="1"/>
          </p:nvPr>
        </p:nvSpPr>
        <p:spPr/>
        <p:txBody>
          <a:bodyPr>
            <a:normAutofit/>
          </a:bodyPr>
          <a:lstStyle/>
          <a:p>
            <a:r>
              <a:rPr lang="ru-RU" dirty="0"/>
              <a:t>Симплекс </a:t>
            </a:r>
            <a:r>
              <a:rPr lang="ru-RU" dirty="0" err="1"/>
              <a:t>vs</a:t>
            </a:r>
            <a:r>
              <a:rPr lang="ru-RU" dirty="0"/>
              <a:t> дуплекс: один канал вместо двух</a:t>
            </a:r>
          </a:p>
          <a:p>
            <a:r>
              <a:rPr lang="ru-RU" dirty="0"/>
              <a:t>Совмещение данных и подтверждений</a:t>
            </a:r>
          </a:p>
          <a:p>
            <a:r>
              <a:rPr lang="ru-RU" dirty="0"/>
              <a:t>Вложенные подтверждения (</a:t>
            </a:r>
            <a:r>
              <a:rPr lang="ru-RU" dirty="0" err="1"/>
              <a:t>piggybacking</a:t>
            </a:r>
            <a:r>
              <a:rPr lang="ru-RU" dirty="0"/>
              <a:t>)</a:t>
            </a:r>
          </a:p>
          <a:p>
            <a:r>
              <a:rPr lang="ru-RU" dirty="0"/>
              <a:t>Повышение эффективности использования канала</a:t>
            </a:r>
          </a:p>
          <a:p>
            <a:r>
              <a:rPr lang="ru-RU" dirty="0"/>
              <a:t>Необходимость таймеров подтверждений</a:t>
            </a:r>
          </a:p>
        </p:txBody>
      </p:sp>
    </p:spTree>
    <p:extLst>
      <p:ext uri="{BB962C8B-B14F-4D97-AF65-F5344CB8AC3E}">
        <p14:creationId xmlns:p14="http://schemas.microsoft.com/office/powerpoint/2010/main" val="38163267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75186-4269-1FB5-8182-2B71EA8FB539}"/>
              </a:ext>
            </a:extLst>
          </p:cNvPr>
          <p:cNvSpPr>
            <a:spLocks noGrp="1"/>
          </p:cNvSpPr>
          <p:nvPr>
            <p:ph type="title"/>
          </p:nvPr>
        </p:nvSpPr>
        <p:spPr/>
        <p:txBody>
          <a:bodyPr>
            <a:normAutofit/>
          </a:bodyPr>
          <a:lstStyle/>
          <a:p>
            <a:r>
              <a:rPr lang="ru-RU" dirty="0"/>
              <a:t>Конвейерная передача: раздвижное окно (</a:t>
            </a:r>
            <a:r>
              <a:rPr lang="ru-RU" dirty="0" err="1"/>
              <a:t>sliding</a:t>
            </a:r>
            <a:r>
              <a:rPr lang="ru-RU" dirty="0"/>
              <a:t> </a:t>
            </a:r>
            <a:r>
              <a:rPr lang="ru-RU" dirty="0" err="1"/>
              <a:t>window</a:t>
            </a:r>
            <a:r>
              <a:rPr lang="ru-RU" dirty="0"/>
              <a:t>)</a:t>
            </a:r>
            <a:endParaRPr lang="en-US" dirty="0"/>
          </a:p>
        </p:txBody>
      </p:sp>
      <p:sp>
        <p:nvSpPr>
          <p:cNvPr id="3" name="Content Placeholder 2">
            <a:extLst>
              <a:ext uri="{FF2B5EF4-FFF2-40B4-BE49-F238E27FC236}">
                <a16:creationId xmlns:a16="http://schemas.microsoft.com/office/drawing/2014/main" id="{01559863-8A22-EFD3-4469-AE6A41B524C0}"/>
              </a:ext>
            </a:extLst>
          </p:cNvPr>
          <p:cNvSpPr>
            <a:spLocks noGrp="1"/>
          </p:cNvSpPr>
          <p:nvPr>
            <p:ph sz="half" idx="1"/>
          </p:nvPr>
        </p:nvSpPr>
        <p:spPr/>
        <p:txBody>
          <a:bodyPr>
            <a:normAutofit fontScale="70000" lnSpcReduction="20000"/>
          </a:bodyPr>
          <a:lstStyle/>
          <a:p>
            <a:r>
              <a:rPr lang="ru-RU" dirty="0"/>
              <a:t>Раздвижное окно (</a:t>
            </a:r>
            <a:r>
              <a:rPr lang="ru-RU" dirty="0" err="1"/>
              <a:t>sliding</a:t>
            </a:r>
            <a:r>
              <a:rPr lang="ru-RU" dirty="0"/>
              <a:t> </a:t>
            </a:r>
            <a:r>
              <a:rPr lang="ru-RU" dirty="0" err="1"/>
              <a:t>window</a:t>
            </a:r>
            <a:r>
              <a:rPr lang="ru-RU" dirty="0"/>
              <a:t>) — механизм повышения эффективности передачи</a:t>
            </a:r>
          </a:p>
          <a:p>
            <a:r>
              <a:rPr lang="ru-RU" dirty="0"/>
              <a:t>Позволяет отправлять несколько фреймов без ожидания подтверждений</a:t>
            </a:r>
          </a:p>
          <a:p>
            <a:r>
              <a:rPr lang="ru-RU" dirty="0"/>
              <a:t>Каждый фрейм имеет порядковый номер</a:t>
            </a:r>
          </a:p>
          <a:p>
            <a:r>
              <a:rPr lang="ru-RU" dirty="0"/>
              <a:t>Размер окна определяет число неподтверждённых фреймов</a:t>
            </a:r>
          </a:p>
          <a:p>
            <a:r>
              <a:rPr lang="ru-RU" dirty="0"/>
              <a:t>Окно сдвигается при получении подтверждений</a:t>
            </a:r>
          </a:p>
          <a:p>
            <a:r>
              <a:rPr lang="ru-RU" dirty="0"/>
              <a:t>Фреймы буферизуются для возможной повторной передачи</a:t>
            </a:r>
          </a:p>
          <a:p>
            <a:r>
              <a:rPr lang="ru-RU" dirty="0"/>
              <a:t>Обеспечивается упорядоченная доставка данных сетевому уровню</a:t>
            </a:r>
            <a:endParaRPr lang="en-US" dirty="0"/>
          </a:p>
        </p:txBody>
      </p:sp>
      <p:pic>
        <p:nvPicPr>
          <p:cNvPr id="6" name="Content Placeholder 5">
            <a:extLst>
              <a:ext uri="{FF2B5EF4-FFF2-40B4-BE49-F238E27FC236}">
                <a16:creationId xmlns:a16="http://schemas.microsoft.com/office/drawing/2014/main" id="{7BF70049-E5BC-4251-11E6-416896E0E7F5}"/>
              </a:ext>
            </a:extLst>
          </p:cNvPr>
          <p:cNvPicPr>
            <a:picLocks noGrp="1" noChangeAspect="1"/>
          </p:cNvPicPr>
          <p:nvPr>
            <p:ph sz="half" idx="2"/>
          </p:nvPr>
        </p:nvPicPr>
        <p:blipFill>
          <a:blip r:embed="rId3"/>
          <a:stretch>
            <a:fillRect/>
          </a:stretch>
        </p:blipFill>
        <p:spPr>
          <a:xfrm>
            <a:off x="6172200" y="2221284"/>
            <a:ext cx="5181600" cy="3560020"/>
          </a:xfrm>
          <a:prstGeom prst="rect">
            <a:avLst/>
          </a:prstGeom>
        </p:spPr>
      </p:pic>
    </p:spTree>
    <p:extLst>
      <p:ext uri="{BB962C8B-B14F-4D97-AF65-F5344CB8AC3E}">
        <p14:creationId xmlns:p14="http://schemas.microsoft.com/office/powerpoint/2010/main" val="337588930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82D2D-5123-2CE9-3F28-83D34DCEF231}"/>
              </a:ext>
            </a:extLst>
          </p:cNvPr>
          <p:cNvSpPr>
            <a:spLocks noGrp="1"/>
          </p:cNvSpPr>
          <p:nvPr>
            <p:ph type="title"/>
          </p:nvPr>
        </p:nvSpPr>
        <p:spPr/>
        <p:txBody>
          <a:bodyPr>
            <a:normAutofit/>
          </a:bodyPr>
          <a:lstStyle/>
          <a:p>
            <a:r>
              <a:rPr lang="ru-RU" dirty="0"/>
              <a:t>Стратегии восстановления при ошибках на конвейере</a:t>
            </a:r>
            <a:endParaRPr lang="en-US" dirty="0"/>
          </a:p>
        </p:txBody>
      </p:sp>
      <p:sp>
        <p:nvSpPr>
          <p:cNvPr id="3" name="Content Placeholder 2">
            <a:extLst>
              <a:ext uri="{FF2B5EF4-FFF2-40B4-BE49-F238E27FC236}">
                <a16:creationId xmlns:a16="http://schemas.microsoft.com/office/drawing/2014/main" id="{A08BA206-BB26-F7B1-26CA-96DE5525A024}"/>
              </a:ext>
            </a:extLst>
          </p:cNvPr>
          <p:cNvSpPr>
            <a:spLocks noGrp="1"/>
          </p:cNvSpPr>
          <p:nvPr>
            <p:ph idx="1"/>
          </p:nvPr>
        </p:nvSpPr>
        <p:spPr/>
        <p:txBody>
          <a:bodyPr>
            <a:normAutofit fontScale="92500" lnSpcReduction="10000"/>
          </a:bodyPr>
          <a:lstStyle/>
          <a:p>
            <a:r>
              <a:rPr lang="ru-RU" b="1" dirty="0"/>
              <a:t>Go-Back-N</a:t>
            </a:r>
            <a:endParaRPr lang="ru-RU" dirty="0"/>
          </a:p>
          <a:p>
            <a:pPr lvl="1"/>
            <a:r>
              <a:rPr lang="ru-RU" dirty="0"/>
              <a:t>получатель принимает только “следующий ожидаемый” кадр</a:t>
            </a:r>
          </a:p>
          <a:p>
            <a:pPr lvl="1"/>
            <a:r>
              <a:rPr lang="ru-RU" dirty="0"/>
              <a:t>всё после потери/ошибки игнорируется</a:t>
            </a:r>
          </a:p>
          <a:p>
            <a:pPr lvl="1"/>
            <a:r>
              <a:rPr lang="ru-RU" dirty="0"/>
              <a:t>при тайм-ауте отправитель повторяет цепочку начиная с проблемного кадра</a:t>
            </a:r>
          </a:p>
          <a:p>
            <a:pPr lvl="1"/>
            <a:r>
              <a:rPr lang="ru-RU" dirty="0"/>
              <a:t>проще, меньше буферов у получателя, но при ошибках теряем пропускную способность</a:t>
            </a:r>
          </a:p>
          <a:p>
            <a:r>
              <a:rPr lang="ru-RU" b="1" dirty="0" err="1"/>
              <a:t>Selective</a:t>
            </a:r>
            <a:r>
              <a:rPr lang="ru-RU" b="1" dirty="0"/>
              <a:t> </a:t>
            </a:r>
            <a:r>
              <a:rPr lang="ru-RU" b="1" dirty="0" err="1"/>
              <a:t>Repeat</a:t>
            </a:r>
            <a:endParaRPr lang="ru-RU" dirty="0"/>
          </a:p>
          <a:p>
            <a:pPr lvl="1"/>
            <a:r>
              <a:rPr lang="ru-RU" dirty="0"/>
              <a:t>получатель может принимать и буферизировать кадры “вперёд”</a:t>
            </a:r>
          </a:p>
          <a:p>
            <a:pPr lvl="1"/>
            <a:r>
              <a:rPr lang="ru-RU" dirty="0"/>
              <a:t>переотправляется только потерянное/ошибочное</a:t>
            </a:r>
          </a:p>
          <a:p>
            <a:pPr lvl="1"/>
            <a:r>
              <a:rPr lang="ru-RU" dirty="0"/>
              <a:t>эффективнее при ошибках, но требует больше буферов и более строгих правил окна</a:t>
            </a:r>
          </a:p>
          <a:p>
            <a:endParaRPr lang="en-US" dirty="0"/>
          </a:p>
        </p:txBody>
      </p:sp>
    </p:spTree>
    <p:extLst>
      <p:ext uri="{BB962C8B-B14F-4D97-AF65-F5344CB8AC3E}">
        <p14:creationId xmlns:p14="http://schemas.microsoft.com/office/powerpoint/2010/main" val="34356701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3467D-FC5C-99C2-1301-A5B608A0D533}"/>
              </a:ext>
            </a:extLst>
          </p:cNvPr>
          <p:cNvSpPr>
            <a:spLocks noGrp="1"/>
          </p:cNvSpPr>
          <p:nvPr>
            <p:ph type="title"/>
          </p:nvPr>
        </p:nvSpPr>
        <p:spPr/>
        <p:txBody>
          <a:bodyPr/>
          <a:lstStyle/>
          <a:p>
            <a:r>
              <a:rPr lang="ru-RU" dirty="0"/>
              <a:t>Канальный уровень. Итоги</a:t>
            </a:r>
            <a:endParaRPr lang="en-US" dirty="0"/>
          </a:p>
        </p:txBody>
      </p:sp>
      <p:sp>
        <p:nvSpPr>
          <p:cNvPr id="3" name="Content Placeholder 2">
            <a:extLst>
              <a:ext uri="{FF2B5EF4-FFF2-40B4-BE49-F238E27FC236}">
                <a16:creationId xmlns:a16="http://schemas.microsoft.com/office/drawing/2014/main" id="{D94762F6-1A1E-C394-9E61-3A59B6DEDA3E}"/>
              </a:ext>
            </a:extLst>
          </p:cNvPr>
          <p:cNvSpPr>
            <a:spLocks noGrp="1"/>
          </p:cNvSpPr>
          <p:nvPr>
            <p:ph idx="1"/>
          </p:nvPr>
        </p:nvSpPr>
        <p:spPr/>
        <p:txBody>
          <a:bodyPr>
            <a:normAutofit lnSpcReduction="10000"/>
          </a:bodyPr>
          <a:lstStyle/>
          <a:p>
            <a:r>
              <a:rPr lang="ru-RU" dirty="0"/>
              <a:t>Выполняет “переход” от битов физического уровня к фреймам. </a:t>
            </a:r>
          </a:p>
          <a:p>
            <a:r>
              <a:rPr lang="ru-RU" dirty="0"/>
              <a:t>Решаемые задачи:</a:t>
            </a:r>
          </a:p>
          <a:p>
            <a:pPr lvl="1"/>
            <a:r>
              <a:rPr lang="ru-RU" dirty="0"/>
              <a:t>как отделять фреймы в потоке</a:t>
            </a:r>
          </a:p>
          <a:p>
            <a:pPr lvl="1"/>
            <a:r>
              <a:rPr lang="ru-RU" dirty="0"/>
              <a:t>как обеспечивать надежность (ошибки/потери/дубликаты)</a:t>
            </a:r>
          </a:p>
          <a:p>
            <a:pPr lvl="1"/>
            <a:r>
              <a:rPr lang="ru-RU" dirty="0"/>
              <a:t>как не перегрузить получателя.</a:t>
            </a:r>
          </a:p>
          <a:p>
            <a:r>
              <a:rPr lang="ru-RU" dirty="0"/>
              <a:t>Используются: таймеры, подтверждения и повторная передача (ARQ), а для высокой эффективности — конвейер и раздвижные окна.</a:t>
            </a:r>
          </a:p>
          <a:p>
            <a:r>
              <a:rPr lang="ru-RU" dirty="0"/>
              <a:t> Обнаружение и исправление ошибок: CRC, коды коррекции ошибок</a:t>
            </a:r>
            <a:endParaRPr lang="en-US" dirty="0"/>
          </a:p>
        </p:txBody>
      </p:sp>
    </p:spTree>
    <p:extLst>
      <p:ext uri="{BB962C8B-B14F-4D97-AF65-F5344CB8AC3E}">
        <p14:creationId xmlns:p14="http://schemas.microsoft.com/office/powerpoint/2010/main" val="15519821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5481BA-2744-A7E2-DAE9-7458DDE52C00}"/>
              </a:ext>
            </a:extLst>
          </p:cNvPr>
          <p:cNvSpPr>
            <a:spLocks noGrp="1"/>
          </p:cNvSpPr>
          <p:nvPr>
            <p:ph type="title"/>
          </p:nvPr>
        </p:nvSpPr>
        <p:spPr/>
        <p:txBody>
          <a:bodyPr/>
          <a:lstStyle/>
          <a:p>
            <a:r>
              <a:rPr lang="ru-RU" dirty="0"/>
              <a:t>Подуровень управления доступом к среде</a:t>
            </a:r>
            <a:endParaRPr lang="en-US" dirty="0"/>
          </a:p>
        </p:txBody>
      </p:sp>
      <p:sp>
        <p:nvSpPr>
          <p:cNvPr id="5" name="Text Placeholder 4">
            <a:extLst>
              <a:ext uri="{FF2B5EF4-FFF2-40B4-BE49-F238E27FC236}">
                <a16:creationId xmlns:a16="http://schemas.microsoft.com/office/drawing/2014/main" id="{6AF430EC-5F8C-FD5D-7139-7F9B100F7DA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4378830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67711-845D-2887-2A26-1E269CAF3721}"/>
              </a:ext>
            </a:extLst>
          </p:cNvPr>
          <p:cNvSpPr>
            <a:spLocks noGrp="1"/>
          </p:cNvSpPr>
          <p:nvPr>
            <p:ph type="title"/>
          </p:nvPr>
        </p:nvSpPr>
        <p:spPr/>
        <p:txBody>
          <a:bodyPr/>
          <a:lstStyle/>
          <a:p>
            <a:r>
              <a:rPr lang="ru-RU" dirty="0"/>
              <a:t>Подуровень </a:t>
            </a:r>
            <a:r>
              <a:rPr lang="en-US" dirty="0"/>
              <a:t>MAC (Medium Access Control)</a:t>
            </a:r>
          </a:p>
        </p:txBody>
      </p:sp>
      <p:sp>
        <p:nvSpPr>
          <p:cNvPr id="3" name="Content Placeholder 2">
            <a:extLst>
              <a:ext uri="{FF2B5EF4-FFF2-40B4-BE49-F238E27FC236}">
                <a16:creationId xmlns:a16="http://schemas.microsoft.com/office/drawing/2014/main" id="{286F1191-3705-1028-47CF-CB415E8546D1}"/>
              </a:ext>
            </a:extLst>
          </p:cNvPr>
          <p:cNvSpPr>
            <a:spLocks noGrp="1"/>
          </p:cNvSpPr>
          <p:nvPr>
            <p:ph idx="1"/>
          </p:nvPr>
        </p:nvSpPr>
        <p:spPr/>
        <p:txBody>
          <a:bodyPr/>
          <a:lstStyle/>
          <a:p>
            <a:r>
              <a:rPr lang="ru-RU" dirty="0"/>
              <a:t>Передача данных часто идёт по широковещательной среде</a:t>
            </a:r>
          </a:p>
          <a:p>
            <a:r>
              <a:rPr lang="ru-RU" dirty="0"/>
              <a:t>Несколько отправителей используют один канал</a:t>
            </a:r>
          </a:p>
          <a:p>
            <a:pPr lvl="1"/>
            <a:r>
              <a:rPr lang="ru-RU" dirty="0"/>
              <a:t>Необходимость справедливого доступа</a:t>
            </a:r>
          </a:p>
          <a:p>
            <a:r>
              <a:rPr lang="ru-RU" dirty="0"/>
              <a:t>Подуровень MAC канального уровня управляет порядком доступа к среде передачи</a:t>
            </a:r>
          </a:p>
        </p:txBody>
      </p:sp>
    </p:spTree>
    <p:extLst>
      <p:ext uri="{BB962C8B-B14F-4D97-AF65-F5344CB8AC3E}">
        <p14:creationId xmlns:p14="http://schemas.microsoft.com/office/powerpoint/2010/main" val="36960937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50149-22F0-ED62-828D-AC9079FA4CB6}"/>
              </a:ext>
            </a:extLst>
          </p:cNvPr>
          <p:cNvSpPr>
            <a:spLocks noGrp="1"/>
          </p:cNvSpPr>
          <p:nvPr>
            <p:ph type="title"/>
          </p:nvPr>
        </p:nvSpPr>
        <p:spPr/>
        <p:txBody>
          <a:bodyPr/>
          <a:lstStyle/>
          <a:p>
            <a:r>
              <a:rPr lang="ru-RU" dirty="0"/>
              <a:t>Проблема распределения канала</a:t>
            </a:r>
            <a:endParaRPr lang="en-US" dirty="0"/>
          </a:p>
        </p:txBody>
      </p:sp>
      <p:sp>
        <p:nvSpPr>
          <p:cNvPr id="3" name="Content Placeholder 2">
            <a:extLst>
              <a:ext uri="{FF2B5EF4-FFF2-40B4-BE49-F238E27FC236}">
                <a16:creationId xmlns:a16="http://schemas.microsoft.com/office/drawing/2014/main" id="{25A5BD62-14C4-1574-55CD-D2E9D7EF5B31}"/>
              </a:ext>
            </a:extLst>
          </p:cNvPr>
          <p:cNvSpPr>
            <a:spLocks noGrp="1"/>
          </p:cNvSpPr>
          <p:nvPr>
            <p:ph idx="1"/>
          </p:nvPr>
        </p:nvSpPr>
        <p:spPr/>
        <p:txBody>
          <a:bodyPr/>
          <a:lstStyle/>
          <a:p>
            <a:r>
              <a:rPr lang="ru-RU" dirty="0"/>
              <a:t>Один канал соединяет всех со всеми</a:t>
            </a:r>
          </a:p>
          <a:p>
            <a:pPr lvl="1"/>
            <a:r>
              <a:rPr lang="ru-RU" dirty="0"/>
              <a:t>Активный узел мешает остальным</a:t>
            </a:r>
          </a:p>
          <a:p>
            <a:r>
              <a:rPr lang="ru-RU" dirty="0"/>
              <a:t>Нужен протокол координации доступа</a:t>
            </a:r>
          </a:p>
          <a:p>
            <a:r>
              <a:rPr lang="ru-RU" dirty="0"/>
              <a:t>Каналы множественного (произвольного) доступа</a:t>
            </a:r>
          </a:p>
          <a:p>
            <a:endParaRPr lang="en-US" dirty="0"/>
          </a:p>
        </p:txBody>
      </p:sp>
    </p:spTree>
    <p:extLst>
      <p:ext uri="{BB962C8B-B14F-4D97-AF65-F5344CB8AC3E}">
        <p14:creationId xmlns:p14="http://schemas.microsoft.com/office/powerpoint/2010/main" val="416599098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50F15-242F-0935-D779-8D842AF71FBC}"/>
              </a:ext>
            </a:extLst>
          </p:cNvPr>
          <p:cNvSpPr>
            <a:spLocks noGrp="1"/>
          </p:cNvSpPr>
          <p:nvPr>
            <p:ph type="title"/>
          </p:nvPr>
        </p:nvSpPr>
        <p:spPr/>
        <p:txBody>
          <a:bodyPr/>
          <a:lstStyle/>
          <a:p>
            <a:r>
              <a:rPr lang="ru-RU" dirty="0"/>
              <a:t>Статическое распределение канала</a:t>
            </a:r>
            <a:endParaRPr lang="en-US" dirty="0"/>
          </a:p>
        </p:txBody>
      </p:sp>
      <p:sp>
        <p:nvSpPr>
          <p:cNvPr id="3" name="Content Placeholder 2">
            <a:extLst>
              <a:ext uri="{FF2B5EF4-FFF2-40B4-BE49-F238E27FC236}">
                <a16:creationId xmlns:a16="http://schemas.microsoft.com/office/drawing/2014/main" id="{796E079D-E38B-E338-9BED-9ADC2821E375}"/>
              </a:ext>
            </a:extLst>
          </p:cNvPr>
          <p:cNvSpPr>
            <a:spLocks noGrp="1"/>
          </p:cNvSpPr>
          <p:nvPr>
            <p:ph idx="1"/>
          </p:nvPr>
        </p:nvSpPr>
        <p:spPr/>
        <p:txBody>
          <a:bodyPr/>
          <a:lstStyle/>
          <a:p>
            <a:r>
              <a:rPr lang="ru-RU" dirty="0"/>
              <a:t>Деление канала на фиксированные части</a:t>
            </a:r>
          </a:p>
          <a:p>
            <a:pPr lvl="1"/>
            <a:r>
              <a:rPr lang="ru-RU" dirty="0"/>
              <a:t>FDM (</a:t>
            </a:r>
            <a:r>
              <a:rPr lang="en-US" dirty="0"/>
              <a:t>frequency division multiplexing) </a:t>
            </a:r>
            <a:r>
              <a:rPr lang="ru-RU" dirty="0"/>
              <a:t>и TDM</a:t>
            </a:r>
            <a:r>
              <a:rPr lang="en-US" dirty="0"/>
              <a:t> (Time Division Multiplexing)</a:t>
            </a:r>
            <a:r>
              <a:rPr lang="ru-RU" dirty="0"/>
              <a:t> как основные примеры</a:t>
            </a:r>
          </a:p>
          <a:p>
            <a:r>
              <a:rPr lang="ru-RU" dirty="0"/>
              <a:t>Достоинства</a:t>
            </a:r>
            <a:endParaRPr lang="en-US" dirty="0"/>
          </a:p>
          <a:p>
            <a:pPr lvl="1"/>
            <a:r>
              <a:rPr lang="ru-RU" dirty="0"/>
              <a:t>Отсутствие конфликтов</a:t>
            </a:r>
          </a:p>
          <a:p>
            <a:pPr lvl="1"/>
            <a:r>
              <a:rPr lang="ru-RU" dirty="0"/>
              <a:t>Простота реализации</a:t>
            </a:r>
          </a:p>
          <a:p>
            <a:pPr lvl="1"/>
            <a:r>
              <a:rPr lang="ru-RU" dirty="0"/>
              <a:t>Эффективно при постоянной нагрузке</a:t>
            </a:r>
          </a:p>
          <a:p>
            <a:r>
              <a:rPr lang="ru-RU" dirty="0"/>
              <a:t>Плохо подходит для компьютерных сетей</a:t>
            </a:r>
          </a:p>
          <a:p>
            <a:pPr lvl="1"/>
            <a:r>
              <a:rPr lang="ru-RU" dirty="0"/>
              <a:t>Трафик носит неравномерный характер</a:t>
            </a:r>
          </a:p>
          <a:p>
            <a:endParaRPr lang="en-US" dirty="0"/>
          </a:p>
        </p:txBody>
      </p:sp>
    </p:spTree>
    <p:extLst>
      <p:ext uri="{BB962C8B-B14F-4D97-AF65-F5344CB8AC3E}">
        <p14:creationId xmlns:p14="http://schemas.microsoft.com/office/powerpoint/2010/main" val="223278440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3F6E1-010E-DD6F-36C0-316C9A428008}"/>
              </a:ext>
            </a:extLst>
          </p:cNvPr>
          <p:cNvSpPr>
            <a:spLocks noGrp="1"/>
          </p:cNvSpPr>
          <p:nvPr>
            <p:ph type="title"/>
          </p:nvPr>
        </p:nvSpPr>
        <p:spPr/>
        <p:txBody>
          <a:bodyPr/>
          <a:lstStyle/>
          <a:p>
            <a:r>
              <a:rPr lang="ru-RU" dirty="0"/>
              <a:t>Допущения, связанные с динамическим доступом</a:t>
            </a:r>
            <a:endParaRPr lang="en-US" dirty="0"/>
          </a:p>
        </p:txBody>
      </p:sp>
      <p:sp>
        <p:nvSpPr>
          <p:cNvPr id="3" name="Content Placeholder 2">
            <a:extLst>
              <a:ext uri="{FF2B5EF4-FFF2-40B4-BE49-F238E27FC236}">
                <a16:creationId xmlns:a16="http://schemas.microsoft.com/office/drawing/2014/main" id="{0A793C4E-39B7-B661-2F02-7B8C6E15745F}"/>
              </a:ext>
            </a:extLst>
          </p:cNvPr>
          <p:cNvSpPr>
            <a:spLocks noGrp="1"/>
          </p:cNvSpPr>
          <p:nvPr>
            <p:ph idx="1"/>
          </p:nvPr>
        </p:nvSpPr>
        <p:spPr/>
        <p:txBody>
          <a:bodyPr>
            <a:normAutofit lnSpcReduction="10000"/>
          </a:bodyPr>
          <a:lstStyle/>
          <a:p>
            <a:r>
              <a:rPr lang="ru-RU" dirty="0"/>
              <a:t>Независимый трафик</a:t>
            </a:r>
          </a:p>
          <a:p>
            <a:pPr lvl="1"/>
            <a:r>
              <a:rPr lang="ru-RU" dirty="0"/>
              <a:t>Фреймы приходя независимо, но с постоянной скоростью</a:t>
            </a:r>
          </a:p>
          <a:p>
            <a:r>
              <a:rPr lang="ru-RU" dirty="0"/>
              <a:t>Единый канал</a:t>
            </a:r>
          </a:p>
          <a:p>
            <a:pPr lvl="1"/>
            <a:r>
              <a:rPr lang="ru-RU" dirty="0"/>
              <a:t>Доступ к каналу имеют все станции</a:t>
            </a:r>
          </a:p>
          <a:p>
            <a:r>
              <a:rPr lang="ru-RU" dirty="0"/>
              <a:t>Наблюдаемые коллизии</a:t>
            </a:r>
          </a:p>
          <a:p>
            <a:pPr lvl="1"/>
            <a:r>
              <a:rPr lang="ru-RU" dirty="0"/>
              <a:t>Станции должны обнаруживать коллизии (перекрытие фреймов по времени)</a:t>
            </a:r>
          </a:p>
          <a:p>
            <a:r>
              <a:rPr lang="ru-RU" dirty="0"/>
              <a:t>Непрерывное или дискретное время</a:t>
            </a:r>
            <a:r>
              <a:rPr lang="en-US" dirty="0"/>
              <a:t>?</a:t>
            </a:r>
          </a:p>
          <a:p>
            <a:r>
              <a:rPr lang="ru-RU" dirty="0"/>
              <a:t>Есть ли контроль несущей</a:t>
            </a:r>
            <a:r>
              <a:rPr lang="en-US" dirty="0"/>
              <a:t>?</a:t>
            </a:r>
          </a:p>
          <a:p>
            <a:pPr lvl="1"/>
            <a:r>
              <a:rPr lang="ru-RU" dirty="0"/>
              <a:t>Обычно есть в проводных сетях, в беспроводных </a:t>
            </a:r>
            <a:r>
              <a:rPr lang="ru-RU"/>
              <a:t>- реже</a:t>
            </a:r>
            <a:endParaRPr lang="en-US" dirty="0"/>
          </a:p>
        </p:txBody>
      </p:sp>
    </p:spTree>
    <p:extLst>
      <p:ext uri="{BB962C8B-B14F-4D97-AF65-F5344CB8AC3E}">
        <p14:creationId xmlns:p14="http://schemas.microsoft.com/office/powerpoint/2010/main" val="2316584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51F1B5-ACF6-D642-42A7-A55706023E82}"/>
              </a:ext>
            </a:extLst>
          </p:cNvPr>
          <p:cNvSpPr>
            <a:spLocks noGrp="1"/>
          </p:cNvSpPr>
          <p:nvPr>
            <p:ph type="title"/>
          </p:nvPr>
        </p:nvSpPr>
        <p:spPr/>
        <p:txBody>
          <a:bodyPr/>
          <a:lstStyle/>
          <a:p>
            <a:r>
              <a:rPr lang="ru-RU" dirty="0"/>
              <a:t>Протоколы коллективного доступа</a:t>
            </a:r>
            <a:endParaRPr lang="en-US" dirty="0"/>
          </a:p>
        </p:txBody>
      </p:sp>
      <p:sp>
        <p:nvSpPr>
          <p:cNvPr id="5" name="Text Placeholder 4">
            <a:extLst>
              <a:ext uri="{FF2B5EF4-FFF2-40B4-BE49-F238E27FC236}">
                <a16:creationId xmlns:a16="http://schemas.microsoft.com/office/drawing/2014/main" id="{47EFF40D-255B-E72B-F82D-75BB666FBA6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608837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DCB115-F76F-0200-0EB8-FDCC26522FFC}"/>
              </a:ext>
            </a:extLst>
          </p:cNvPr>
          <p:cNvSpPr>
            <a:spLocks noGrp="1"/>
          </p:cNvSpPr>
          <p:nvPr>
            <p:ph type="title"/>
          </p:nvPr>
        </p:nvSpPr>
        <p:spPr/>
        <p:txBody>
          <a:bodyPr>
            <a:normAutofit/>
          </a:bodyPr>
          <a:lstStyle/>
          <a:p>
            <a:r>
              <a:rPr lang="ru-RU" dirty="0"/>
              <a:t>Система ALOHA (протокол коллективного доступа)</a:t>
            </a:r>
            <a:endParaRPr lang="en-US" dirty="0"/>
          </a:p>
        </p:txBody>
      </p:sp>
      <p:sp>
        <p:nvSpPr>
          <p:cNvPr id="5" name="Content Placeholder 4">
            <a:extLst>
              <a:ext uri="{FF2B5EF4-FFF2-40B4-BE49-F238E27FC236}">
                <a16:creationId xmlns:a16="http://schemas.microsoft.com/office/drawing/2014/main" id="{E3665B84-460B-2C5F-41D9-BC5DE63CF89B}"/>
              </a:ext>
            </a:extLst>
          </p:cNvPr>
          <p:cNvSpPr>
            <a:spLocks noGrp="1"/>
          </p:cNvSpPr>
          <p:nvPr>
            <p:ph sz="half" idx="1"/>
          </p:nvPr>
        </p:nvSpPr>
        <p:spPr>
          <a:xfrm>
            <a:off x="838199" y="1825625"/>
            <a:ext cx="6393873" cy="4351338"/>
          </a:xfrm>
        </p:spPr>
        <p:txBody>
          <a:bodyPr>
            <a:normAutofit fontScale="77500" lnSpcReduction="20000"/>
          </a:bodyPr>
          <a:lstStyle/>
          <a:p>
            <a:r>
              <a:rPr lang="ru-RU" dirty="0"/>
              <a:t>Первый протокол подуровня MAC (1970-е, Н. Абрамсон, Гавайи)</a:t>
            </a:r>
          </a:p>
          <a:p>
            <a:r>
              <a:rPr lang="ru-RU" dirty="0"/>
              <a:t>Предназначен для разделения одного общего канала между многими станциями</a:t>
            </a:r>
          </a:p>
          <a:p>
            <a:r>
              <a:rPr lang="ru-RU" dirty="0"/>
              <a:t>Принцип: передача сразу при появлении данных</a:t>
            </a:r>
          </a:p>
          <a:p>
            <a:r>
              <a:rPr lang="ru-RU" dirty="0"/>
              <a:t>Коллизии неизбежны → фреймы передаются повторно после случайной задержки</a:t>
            </a:r>
          </a:p>
          <a:p>
            <a:r>
              <a:rPr lang="ru-RU" dirty="0"/>
              <a:t>Две версии:</a:t>
            </a:r>
          </a:p>
          <a:p>
            <a:pPr lvl="1"/>
            <a:r>
              <a:rPr lang="ru-RU" dirty="0"/>
              <a:t>Чистая ALOHA — непрерывное время</a:t>
            </a:r>
          </a:p>
          <a:p>
            <a:pPr lvl="1"/>
            <a:r>
              <a:rPr lang="ru-RU" dirty="0"/>
              <a:t>Дискретная (</a:t>
            </a:r>
            <a:r>
              <a:rPr lang="ru-RU" dirty="0" err="1"/>
              <a:t>Slotted</a:t>
            </a:r>
            <a:r>
              <a:rPr lang="ru-RU" dirty="0"/>
              <a:t>) ALOHA — передача только в начале временных слотов</a:t>
            </a:r>
          </a:p>
          <a:p>
            <a:r>
              <a:rPr lang="ru-RU" dirty="0"/>
              <a:t>Максимальная эффективность:</a:t>
            </a:r>
          </a:p>
          <a:p>
            <a:pPr lvl="1"/>
            <a:r>
              <a:rPr lang="ru-RU" dirty="0"/>
              <a:t>Чистая ALOHA: ≈ 18 %</a:t>
            </a:r>
          </a:p>
          <a:p>
            <a:pPr lvl="1"/>
            <a:r>
              <a:rPr lang="ru-RU" dirty="0"/>
              <a:t>Дискретная ALOHA: ≈ 37 % (1/e)</a:t>
            </a:r>
          </a:p>
          <a:p>
            <a:endParaRPr lang="en-US" dirty="0"/>
          </a:p>
        </p:txBody>
      </p:sp>
      <p:pic>
        <p:nvPicPr>
          <p:cNvPr id="8" name="Content Placeholder 7" descr="A diagram of a diagram&#10;&#10;AI-generated content may be incorrect.">
            <a:extLst>
              <a:ext uri="{FF2B5EF4-FFF2-40B4-BE49-F238E27FC236}">
                <a16:creationId xmlns:a16="http://schemas.microsoft.com/office/drawing/2014/main" id="{CF5649FF-9DB9-7223-FAE3-969CC0A1A1D6}"/>
              </a:ext>
            </a:extLst>
          </p:cNvPr>
          <p:cNvPicPr>
            <a:picLocks noGrp="1" noChangeAspect="1"/>
          </p:cNvPicPr>
          <p:nvPr>
            <p:ph sz="half" idx="2"/>
          </p:nvPr>
        </p:nvPicPr>
        <p:blipFill>
          <a:blip r:embed="rId3"/>
          <a:stretch>
            <a:fillRect/>
          </a:stretch>
        </p:blipFill>
        <p:spPr>
          <a:xfrm>
            <a:off x="7434747" y="1825625"/>
            <a:ext cx="4567446" cy="2563495"/>
          </a:xfrm>
          <a:prstGeom prst="rect">
            <a:avLst/>
          </a:prstGeom>
        </p:spPr>
      </p:pic>
    </p:spTree>
    <p:extLst>
      <p:ext uri="{BB962C8B-B14F-4D97-AF65-F5344CB8AC3E}">
        <p14:creationId xmlns:p14="http://schemas.microsoft.com/office/powerpoint/2010/main" val="183817733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7E11A-CC18-AE47-7539-29B2D3003539}"/>
              </a:ext>
            </a:extLst>
          </p:cNvPr>
          <p:cNvSpPr>
            <a:spLocks noGrp="1"/>
          </p:cNvSpPr>
          <p:nvPr>
            <p:ph type="title"/>
          </p:nvPr>
        </p:nvSpPr>
        <p:spPr/>
        <p:txBody>
          <a:bodyPr>
            <a:normAutofit/>
          </a:bodyPr>
          <a:lstStyle/>
          <a:p>
            <a:r>
              <a:rPr lang="ru-RU" dirty="0"/>
              <a:t>CSMA</a:t>
            </a:r>
            <a:r>
              <a:rPr lang="en-US" dirty="0"/>
              <a:t>*</a:t>
            </a:r>
            <a:r>
              <a:rPr lang="ru-RU" dirty="0"/>
              <a:t> — протоколы множественного доступа с контролем несущей</a:t>
            </a:r>
            <a:endParaRPr lang="en-US" dirty="0"/>
          </a:p>
        </p:txBody>
      </p:sp>
      <p:sp>
        <p:nvSpPr>
          <p:cNvPr id="3" name="Content Placeholder 2">
            <a:extLst>
              <a:ext uri="{FF2B5EF4-FFF2-40B4-BE49-F238E27FC236}">
                <a16:creationId xmlns:a16="http://schemas.microsoft.com/office/drawing/2014/main" id="{D5C9900D-8D5C-409B-6049-DDB6893BB8E5}"/>
              </a:ext>
            </a:extLst>
          </p:cNvPr>
          <p:cNvSpPr>
            <a:spLocks noGrp="1"/>
          </p:cNvSpPr>
          <p:nvPr>
            <p:ph sz="half" idx="1"/>
          </p:nvPr>
        </p:nvSpPr>
        <p:spPr>
          <a:xfrm>
            <a:off x="838199" y="1825625"/>
            <a:ext cx="6290995" cy="4351338"/>
          </a:xfrm>
        </p:spPr>
        <p:txBody>
          <a:bodyPr>
            <a:normAutofit fontScale="77500" lnSpcReduction="20000"/>
          </a:bodyPr>
          <a:lstStyle/>
          <a:p>
            <a:r>
              <a:rPr lang="ru-RU" dirty="0"/>
              <a:t>Идея: передавать, учитывая состояние канала</a:t>
            </a:r>
          </a:p>
          <a:p>
            <a:r>
              <a:rPr lang="ru-RU" dirty="0"/>
              <a:t>Существенно эффективнее ALOHA (коэффициент использования &gt; 1/e)</a:t>
            </a:r>
          </a:p>
          <a:p>
            <a:r>
              <a:rPr lang="ru-RU" dirty="0"/>
              <a:t>Основные варианты CSMA:</a:t>
            </a:r>
          </a:p>
          <a:p>
            <a:pPr lvl="1"/>
            <a:r>
              <a:rPr lang="ru-RU" dirty="0"/>
              <a:t>1-настойчивый CSMA — передача сразу после освобождения канала</a:t>
            </a:r>
          </a:p>
          <a:p>
            <a:pPr lvl="1"/>
            <a:r>
              <a:rPr lang="ru-RU" dirty="0"/>
              <a:t>Ненастойчивый CSMA — случайная пауза, если канал занят</a:t>
            </a:r>
          </a:p>
          <a:p>
            <a:pPr lvl="1"/>
            <a:r>
              <a:rPr lang="ru-RU" dirty="0"/>
              <a:t>p-настойчивый CSMA — передача с вероятностью </a:t>
            </a:r>
            <a:r>
              <a:rPr lang="ru-RU" i="1" dirty="0"/>
              <a:t>p</a:t>
            </a:r>
            <a:r>
              <a:rPr lang="ru-RU" dirty="0"/>
              <a:t> в начале слота</a:t>
            </a:r>
          </a:p>
          <a:p>
            <a:r>
              <a:rPr lang="ru-RU" dirty="0"/>
              <a:t>Улучшение: CSMA/CD — обнаружение коллизий и досрочное прекращение передачи</a:t>
            </a:r>
          </a:p>
          <a:p>
            <a:r>
              <a:rPr lang="ru-RU" dirty="0"/>
              <a:t>Основа классического Ethernet</a:t>
            </a:r>
          </a:p>
          <a:p>
            <a:endParaRPr lang="en-US" dirty="0"/>
          </a:p>
        </p:txBody>
      </p:sp>
      <p:pic>
        <p:nvPicPr>
          <p:cNvPr id="8" name="Content Placeholder 7" descr="A diagram of different types of lines&#10;&#10;AI-generated content may be incorrect.">
            <a:extLst>
              <a:ext uri="{FF2B5EF4-FFF2-40B4-BE49-F238E27FC236}">
                <a16:creationId xmlns:a16="http://schemas.microsoft.com/office/drawing/2014/main" id="{722A487D-BF75-CCD4-224F-3A5625B247D8}"/>
              </a:ext>
            </a:extLst>
          </p:cNvPr>
          <p:cNvPicPr>
            <a:picLocks noGrp="1" noChangeAspect="1"/>
          </p:cNvPicPr>
          <p:nvPr>
            <p:ph sz="half" idx="2"/>
          </p:nvPr>
        </p:nvPicPr>
        <p:blipFill>
          <a:blip r:embed="rId3"/>
          <a:stretch>
            <a:fillRect/>
          </a:stretch>
        </p:blipFill>
        <p:spPr>
          <a:xfrm>
            <a:off x="7129194" y="1825625"/>
            <a:ext cx="4823123" cy="2789275"/>
          </a:xfrm>
          <a:prstGeom prst="rect">
            <a:avLst/>
          </a:prstGeom>
        </p:spPr>
      </p:pic>
      <p:sp>
        <p:nvSpPr>
          <p:cNvPr id="6" name="TextBox 5">
            <a:extLst>
              <a:ext uri="{FF2B5EF4-FFF2-40B4-BE49-F238E27FC236}">
                <a16:creationId xmlns:a16="http://schemas.microsoft.com/office/drawing/2014/main" id="{F2FC7F8D-53A0-8857-D9F2-07E0948E61B0}"/>
              </a:ext>
            </a:extLst>
          </p:cNvPr>
          <p:cNvSpPr txBox="1"/>
          <p:nvPr/>
        </p:nvSpPr>
        <p:spPr>
          <a:xfrm>
            <a:off x="838199" y="6488668"/>
            <a:ext cx="9203575" cy="369332"/>
          </a:xfrm>
          <a:prstGeom prst="rect">
            <a:avLst/>
          </a:prstGeom>
          <a:noFill/>
        </p:spPr>
        <p:txBody>
          <a:bodyPr wrap="square">
            <a:spAutoFit/>
          </a:bodyPr>
          <a:lstStyle/>
          <a:p>
            <a:r>
              <a:rPr lang="en-US" dirty="0"/>
              <a:t>*CSMA – Carrier-Sense Multiple Access</a:t>
            </a:r>
            <a:r>
              <a:rPr lang="ru-RU" dirty="0"/>
              <a:t> – множественный доступ с контролем несущей</a:t>
            </a:r>
            <a:endParaRPr lang="en-US" dirty="0"/>
          </a:p>
        </p:txBody>
      </p:sp>
      <p:pic>
        <p:nvPicPr>
          <p:cNvPr id="10" name="Picture 9" descr="A diagram of a diagram&#10;&#10;AI-generated content may be incorrect.">
            <a:extLst>
              <a:ext uri="{FF2B5EF4-FFF2-40B4-BE49-F238E27FC236}">
                <a16:creationId xmlns:a16="http://schemas.microsoft.com/office/drawing/2014/main" id="{D4B5F179-1F64-4BF6-FAB8-0A7CD6FC612C}"/>
              </a:ext>
            </a:extLst>
          </p:cNvPr>
          <p:cNvPicPr>
            <a:picLocks noChangeAspect="1"/>
          </p:cNvPicPr>
          <p:nvPr/>
        </p:nvPicPr>
        <p:blipFill>
          <a:blip r:embed="rId4"/>
          <a:stretch>
            <a:fillRect/>
          </a:stretch>
        </p:blipFill>
        <p:spPr>
          <a:xfrm>
            <a:off x="7129194" y="4644712"/>
            <a:ext cx="4823124" cy="1758776"/>
          </a:xfrm>
          <a:prstGeom prst="rect">
            <a:avLst/>
          </a:prstGeom>
        </p:spPr>
      </p:pic>
    </p:spTree>
    <p:extLst>
      <p:ext uri="{BB962C8B-B14F-4D97-AF65-F5344CB8AC3E}">
        <p14:creationId xmlns:p14="http://schemas.microsoft.com/office/powerpoint/2010/main" val="297569294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D2044-6F0E-538C-4522-37517135809C}"/>
              </a:ext>
            </a:extLst>
          </p:cNvPr>
          <p:cNvSpPr>
            <a:spLocks noGrp="1"/>
          </p:cNvSpPr>
          <p:nvPr>
            <p:ph type="title"/>
          </p:nvPr>
        </p:nvSpPr>
        <p:spPr/>
        <p:txBody>
          <a:bodyPr>
            <a:normAutofit/>
          </a:bodyPr>
          <a:lstStyle/>
          <a:p>
            <a:r>
              <a:rPr lang="ru-RU" dirty="0"/>
              <a:t>Протоколы без коллизий</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8EE63D8-A30A-F594-5A0E-D71385C7AD59}"/>
                  </a:ext>
                </a:extLst>
              </p:cNvPr>
              <p:cNvSpPr>
                <a:spLocks noGrp="1"/>
              </p:cNvSpPr>
              <p:nvPr>
                <p:ph idx="1"/>
              </p:nvPr>
            </p:nvSpPr>
            <p:spPr/>
            <p:txBody>
              <a:bodyPr>
                <a:normAutofit fontScale="92500" lnSpcReduction="20000"/>
              </a:bodyPr>
              <a:lstStyle/>
              <a:p>
                <a:r>
                  <a:rPr lang="ru-RU" dirty="0"/>
                  <a:t>Цель: исключить коллизии полностью</a:t>
                </a:r>
              </a:p>
              <a:p>
                <a:r>
                  <a:rPr lang="ru-RU" dirty="0"/>
                  <a:t>Особенно важны при:</a:t>
                </a:r>
              </a:p>
              <a:p>
                <a:pPr lvl="1"/>
                <a:r>
                  <a:rPr lang="ru-RU" dirty="0"/>
                  <a:t>большом значении </a:t>
                </a:r>
                <a14:m>
                  <m:oMath xmlns:m="http://schemas.openxmlformats.org/officeDocument/2006/math">
                    <m:r>
                      <a:rPr lang="ru-RU" i="1" dirty="0" smtClean="0">
                        <a:latin typeface="Cambria Math" panose="02040503050406030204" pitchFamily="18" charset="0"/>
                      </a:rPr>
                      <m:t>𝑏𝑎𝑛𝑑𝑤𝑖𝑑𝑡h</m:t>
                    </m:r>
                    <m:r>
                      <a:rPr lang="en-US" i="1" dirty="0" smtClean="0">
                        <a:latin typeface="Cambria Math" panose="02040503050406030204" pitchFamily="18" charset="0"/>
                      </a:rPr>
                      <m:t>∗</m:t>
                    </m:r>
                    <m:r>
                      <a:rPr lang="ru-RU" i="1" dirty="0" err="1" smtClean="0">
                        <a:latin typeface="Cambria Math" panose="02040503050406030204" pitchFamily="18" charset="0"/>
                      </a:rPr>
                      <m:t>𝑑𝑒𝑙𝑎𝑦</m:t>
                    </m:r>
                  </m:oMath>
                </a14:m>
                <a:endParaRPr lang="ru-RU" dirty="0"/>
              </a:p>
              <a:p>
                <a:pPr lvl="1"/>
                <a:r>
                  <a:rPr lang="ru-RU" dirty="0"/>
                  <a:t>коротких фреймах</a:t>
                </a:r>
              </a:p>
              <a:p>
                <a:pPr lvl="1"/>
                <a:r>
                  <a:rPr lang="ru-RU" dirty="0"/>
                  <a:t>трафике реального времени</a:t>
                </a:r>
              </a:p>
              <a:p>
                <a:r>
                  <a:rPr lang="ru-RU" dirty="0"/>
                  <a:t>Общие предположения:</a:t>
                </a:r>
              </a:p>
              <a:p>
                <a:pPr lvl="1"/>
                <a:r>
                  <a:rPr lang="ru-RU" dirty="0"/>
                  <a:t>N станций с уникальными адресами</a:t>
                </a:r>
              </a:p>
              <a:p>
                <a:pPr lvl="1"/>
                <a:r>
                  <a:rPr lang="ru-RU" dirty="0"/>
                  <a:t>задержка распространения ≈ 0</a:t>
                </a:r>
              </a:p>
              <a:p>
                <a:r>
                  <a:rPr lang="ru-RU" dirty="0"/>
                  <a:t>Подход: заранее определить, кто будет передавать</a:t>
                </a:r>
              </a:p>
              <a:p>
                <a:r>
                  <a:rPr lang="ru-RU" dirty="0"/>
                  <a:t>Протоколы с резервированием:</a:t>
                </a:r>
              </a:p>
              <a:p>
                <a:pPr lvl="1"/>
                <a:r>
                  <a:rPr lang="ru-RU" dirty="0"/>
                  <a:t>Протокол битовой карты</a:t>
                </a:r>
              </a:p>
              <a:p>
                <a:pPr lvl="1"/>
                <a:r>
                  <a:rPr lang="ru-RU" dirty="0"/>
                  <a:t>Передача маркера (</a:t>
                </a:r>
                <a:r>
                  <a:rPr lang="ru-RU" dirty="0" err="1"/>
                  <a:t>token</a:t>
                </a:r>
                <a:r>
                  <a:rPr lang="ru-RU" dirty="0"/>
                  <a:t>)</a:t>
                </a:r>
              </a:p>
              <a:p>
                <a:endParaRPr lang="en-US" dirty="0"/>
              </a:p>
            </p:txBody>
          </p:sp>
        </mc:Choice>
        <mc:Fallback xmlns="">
          <p:sp>
            <p:nvSpPr>
              <p:cNvPr id="3" name="Content Placeholder 2">
                <a:extLst>
                  <a:ext uri="{FF2B5EF4-FFF2-40B4-BE49-F238E27FC236}">
                    <a16:creationId xmlns:a16="http://schemas.microsoft.com/office/drawing/2014/main" id="{A8EE63D8-A30A-F594-5A0E-D71385C7AD59}"/>
                  </a:ext>
                </a:extLst>
              </p:cNvPr>
              <p:cNvSpPr>
                <a:spLocks noGrp="1" noRot="1" noChangeAspect="1" noMove="1" noResize="1" noEditPoints="1" noAdjustHandles="1" noChangeArrowheads="1" noChangeShapeType="1" noTextEdit="1"/>
              </p:cNvSpPr>
              <p:nvPr>
                <p:ph idx="1"/>
              </p:nvPr>
            </p:nvSpPr>
            <p:spPr>
              <a:blipFill>
                <a:blip r:embed="rId3"/>
                <a:stretch>
                  <a:fillRect l="-928" t="-3501"/>
                </a:stretch>
              </a:blipFill>
            </p:spPr>
            <p:txBody>
              <a:bodyPr/>
              <a:lstStyle/>
              <a:p>
                <a:r>
                  <a:rPr lang="en-US">
                    <a:noFill/>
                  </a:rPr>
                  <a:t> </a:t>
                </a:r>
              </a:p>
            </p:txBody>
          </p:sp>
        </mc:Fallback>
      </mc:AlternateContent>
    </p:spTree>
    <p:extLst>
      <p:ext uri="{BB962C8B-B14F-4D97-AF65-F5344CB8AC3E}">
        <p14:creationId xmlns:p14="http://schemas.microsoft.com/office/powerpoint/2010/main" val="243442471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A153C-11F0-96B9-C01E-8F52F4372C48}"/>
              </a:ext>
            </a:extLst>
          </p:cNvPr>
          <p:cNvSpPr>
            <a:spLocks noGrp="1"/>
          </p:cNvSpPr>
          <p:nvPr>
            <p:ph type="title"/>
          </p:nvPr>
        </p:nvSpPr>
        <p:spPr/>
        <p:txBody>
          <a:bodyPr/>
          <a:lstStyle/>
          <a:p>
            <a:r>
              <a:rPr lang="ru-RU" dirty="0"/>
              <a:t>Маркер и двоичный обратный отсчёт</a:t>
            </a:r>
            <a:endParaRPr lang="en-US" dirty="0"/>
          </a:p>
        </p:txBody>
      </p:sp>
      <p:sp>
        <p:nvSpPr>
          <p:cNvPr id="3" name="Content Placeholder 2">
            <a:extLst>
              <a:ext uri="{FF2B5EF4-FFF2-40B4-BE49-F238E27FC236}">
                <a16:creationId xmlns:a16="http://schemas.microsoft.com/office/drawing/2014/main" id="{9B2EBDC5-19FF-2B4A-2EDD-29E9A346C566}"/>
              </a:ext>
            </a:extLst>
          </p:cNvPr>
          <p:cNvSpPr>
            <a:spLocks noGrp="1"/>
          </p:cNvSpPr>
          <p:nvPr>
            <p:ph sz="half" idx="1"/>
          </p:nvPr>
        </p:nvSpPr>
        <p:spPr>
          <a:xfrm>
            <a:off x="838200" y="1825625"/>
            <a:ext cx="7640782" cy="4351338"/>
          </a:xfrm>
        </p:spPr>
        <p:txBody>
          <a:bodyPr>
            <a:normAutofit lnSpcReduction="10000"/>
          </a:bodyPr>
          <a:lstStyle/>
          <a:p>
            <a:r>
              <a:rPr lang="ru-RU" dirty="0"/>
              <a:t>Передача маркера (</a:t>
            </a:r>
            <a:r>
              <a:rPr lang="ru-RU" dirty="0" err="1"/>
              <a:t>Token</a:t>
            </a:r>
            <a:r>
              <a:rPr lang="ru-RU" dirty="0"/>
              <a:t> </a:t>
            </a:r>
            <a:r>
              <a:rPr lang="ru-RU" dirty="0" err="1"/>
              <a:t>Passing</a:t>
            </a:r>
            <a:r>
              <a:rPr lang="ru-RU" dirty="0"/>
              <a:t>)</a:t>
            </a:r>
          </a:p>
          <a:p>
            <a:pPr lvl="1"/>
            <a:r>
              <a:rPr lang="ru-RU" dirty="0" err="1"/>
              <a:t>Token</a:t>
            </a:r>
            <a:r>
              <a:rPr lang="ru-RU" dirty="0"/>
              <a:t> Ring (IEEE 802.5), FDDI, RPR</a:t>
            </a:r>
          </a:p>
          <a:p>
            <a:pPr lvl="1"/>
            <a:r>
              <a:rPr lang="ru-RU" dirty="0"/>
              <a:t>Логическое кольцо, физическая топология не обязательна</a:t>
            </a:r>
          </a:p>
          <a:p>
            <a:pPr lvl="1"/>
            <a:r>
              <a:rPr lang="ru-RU" dirty="0"/>
              <a:t>Равноправие станций, отсутствие коллизий</a:t>
            </a:r>
          </a:p>
          <a:p>
            <a:r>
              <a:rPr lang="ru-RU" dirty="0"/>
              <a:t>Двоичный обратный отсчёт (</a:t>
            </a:r>
            <a:r>
              <a:rPr lang="ru-RU" dirty="0" err="1"/>
              <a:t>Binary</a:t>
            </a:r>
            <a:r>
              <a:rPr lang="ru-RU" dirty="0"/>
              <a:t> </a:t>
            </a:r>
            <a:r>
              <a:rPr lang="ru-RU" dirty="0" err="1"/>
              <a:t>Countdown</a:t>
            </a:r>
            <a:r>
              <a:rPr lang="ru-RU" dirty="0"/>
              <a:t>)</a:t>
            </a:r>
          </a:p>
          <a:p>
            <a:pPr lvl="1"/>
            <a:r>
              <a:rPr lang="ru-RU" dirty="0"/>
              <a:t>Арбитраж по двоичным адресам станций</a:t>
            </a:r>
          </a:p>
          <a:p>
            <a:pPr lvl="1"/>
            <a:r>
              <a:rPr lang="ru-RU" dirty="0"/>
              <a:t>Побеждает станция с максимальным адресом</a:t>
            </a:r>
          </a:p>
          <a:p>
            <a:pPr lvl="1"/>
            <a:r>
              <a:rPr lang="ru-RU" dirty="0"/>
              <a:t>Накладные расходы: </a:t>
            </a:r>
            <a:r>
              <a:rPr lang="ru-RU" dirty="0" err="1"/>
              <a:t>log₂N</a:t>
            </a:r>
            <a:r>
              <a:rPr lang="ru-RU" dirty="0"/>
              <a:t> бит</a:t>
            </a:r>
          </a:p>
          <a:p>
            <a:pPr lvl="1"/>
            <a:r>
              <a:rPr lang="ru-RU" dirty="0"/>
              <a:t>Возможна эффективность до 100%</a:t>
            </a:r>
          </a:p>
          <a:p>
            <a:endParaRPr lang="en-US" dirty="0"/>
          </a:p>
        </p:txBody>
      </p:sp>
      <p:pic>
        <p:nvPicPr>
          <p:cNvPr id="8" name="Content Placeholder 7" descr="A diagram of a circle with arrows and a few black arrows&#10;&#10;AI-generated content may be incorrect.">
            <a:extLst>
              <a:ext uri="{FF2B5EF4-FFF2-40B4-BE49-F238E27FC236}">
                <a16:creationId xmlns:a16="http://schemas.microsoft.com/office/drawing/2014/main" id="{AD497C46-FDFE-A520-CF44-DFF232CAAED1}"/>
              </a:ext>
            </a:extLst>
          </p:cNvPr>
          <p:cNvPicPr>
            <a:picLocks noGrp="1" noChangeAspect="1"/>
          </p:cNvPicPr>
          <p:nvPr>
            <p:ph sz="half" idx="2"/>
          </p:nvPr>
        </p:nvPicPr>
        <p:blipFill>
          <a:blip r:embed="rId3"/>
          <a:stretch>
            <a:fillRect/>
          </a:stretch>
        </p:blipFill>
        <p:spPr>
          <a:xfrm>
            <a:off x="9010996" y="1825625"/>
            <a:ext cx="2708564" cy="1699492"/>
          </a:xfrm>
          <a:prstGeom prst="rect">
            <a:avLst/>
          </a:prstGeom>
          <a:ln>
            <a:solidFill>
              <a:schemeClr val="accent1"/>
            </a:solidFill>
          </a:ln>
        </p:spPr>
      </p:pic>
      <p:pic>
        <p:nvPicPr>
          <p:cNvPr id="10" name="Content Placeholder 9" descr="A screenshot of a computer&#10;&#10;AI-generated content may be incorrect.">
            <a:extLst>
              <a:ext uri="{FF2B5EF4-FFF2-40B4-BE49-F238E27FC236}">
                <a16:creationId xmlns:a16="http://schemas.microsoft.com/office/drawing/2014/main" id="{B6228FAD-1551-B74D-0EC3-DC46C3DFEC6A}"/>
              </a:ext>
            </a:extLst>
          </p:cNvPr>
          <p:cNvPicPr>
            <a:picLocks noGrp="1" noChangeAspect="1"/>
          </p:cNvPicPr>
          <p:nvPr>
            <p:ph sz="half" idx="13"/>
          </p:nvPr>
        </p:nvPicPr>
        <p:blipFill>
          <a:blip r:embed="rId4"/>
          <a:stretch>
            <a:fillRect/>
          </a:stretch>
        </p:blipFill>
        <p:spPr>
          <a:xfrm>
            <a:off x="9010996" y="3744370"/>
            <a:ext cx="2708564" cy="2874305"/>
          </a:xfrm>
          <a:prstGeom prst="rect">
            <a:avLst/>
          </a:prstGeom>
          <a:ln>
            <a:solidFill>
              <a:schemeClr val="accent1"/>
            </a:solidFill>
          </a:ln>
        </p:spPr>
      </p:pic>
    </p:spTree>
    <p:extLst>
      <p:ext uri="{BB962C8B-B14F-4D97-AF65-F5344CB8AC3E}">
        <p14:creationId xmlns:p14="http://schemas.microsoft.com/office/powerpoint/2010/main" val="418196292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11CC7-9119-2F07-2052-91C26A4F606E}"/>
              </a:ext>
            </a:extLst>
          </p:cNvPr>
          <p:cNvSpPr>
            <a:spLocks noGrp="1"/>
          </p:cNvSpPr>
          <p:nvPr>
            <p:ph type="title"/>
          </p:nvPr>
        </p:nvSpPr>
        <p:spPr/>
        <p:txBody>
          <a:bodyPr/>
          <a:lstStyle/>
          <a:p>
            <a:r>
              <a:rPr lang="ru-RU" dirty="0"/>
              <a:t>Сеть </a:t>
            </a:r>
            <a:r>
              <a:rPr lang="en-US" dirty="0"/>
              <a:t>Ethernet</a:t>
            </a:r>
          </a:p>
        </p:txBody>
      </p:sp>
      <p:sp>
        <p:nvSpPr>
          <p:cNvPr id="6" name="Text Placeholder 5">
            <a:extLst>
              <a:ext uri="{FF2B5EF4-FFF2-40B4-BE49-F238E27FC236}">
                <a16:creationId xmlns:a16="http://schemas.microsoft.com/office/drawing/2014/main" id="{C122FAA0-D324-F0EA-6B48-CD79FD53D62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8728406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683C53-BC42-5120-DF8F-AA08106BF95D}"/>
              </a:ext>
            </a:extLst>
          </p:cNvPr>
          <p:cNvSpPr>
            <a:spLocks noGrp="1"/>
          </p:cNvSpPr>
          <p:nvPr>
            <p:ph type="title"/>
          </p:nvPr>
        </p:nvSpPr>
        <p:spPr/>
        <p:txBody>
          <a:bodyPr>
            <a:normAutofit/>
          </a:bodyPr>
          <a:lstStyle/>
          <a:p>
            <a:r>
              <a:rPr lang="ru-RU" dirty="0"/>
              <a:t>Сеть </a:t>
            </a:r>
            <a:r>
              <a:rPr lang="en-US" dirty="0"/>
              <a:t>Ethernet — </a:t>
            </a:r>
            <a:r>
              <a:rPr lang="ru-RU" dirty="0"/>
              <a:t>происхождение и эволюция</a:t>
            </a:r>
            <a:endParaRPr lang="en-US" dirty="0"/>
          </a:p>
        </p:txBody>
      </p:sp>
      <p:sp>
        <p:nvSpPr>
          <p:cNvPr id="5" name="Content Placeholder 4">
            <a:extLst>
              <a:ext uri="{FF2B5EF4-FFF2-40B4-BE49-F238E27FC236}">
                <a16:creationId xmlns:a16="http://schemas.microsoft.com/office/drawing/2014/main" id="{262CCD60-D8E2-D623-C30D-8B223CBDEFCF}"/>
              </a:ext>
            </a:extLst>
          </p:cNvPr>
          <p:cNvSpPr>
            <a:spLocks noGrp="1"/>
          </p:cNvSpPr>
          <p:nvPr>
            <p:ph sz="half" idx="1"/>
          </p:nvPr>
        </p:nvSpPr>
        <p:spPr>
          <a:xfrm>
            <a:off x="838200" y="1825625"/>
            <a:ext cx="7341524" cy="4351338"/>
          </a:xfrm>
        </p:spPr>
        <p:txBody>
          <a:bodyPr>
            <a:normAutofit fontScale="70000" lnSpcReduction="20000"/>
          </a:bodyPr>
          <a:lstStyle/>
          <a:p>
            <a:r>
              <a:rPr lang="ru-RU" dirty="0"/>
              <a:t>Стандарты </a:t>
            </a:r>
            <a:r>
              <a:rPr lang="en-US" dirty="0"/>
              <a:t>IEEE 802: </a:t>
            </a:r>
            <a:r>
              <a:rPr lang="ru-RU" dirty="0"/>
              <a:t>выжили сильнейшие</a:t>
            </a:r>
            <a:endParaRPr lang="en-US" dirty="0"/>
          </a:p>
          <a:p>
            <a:pPr lvl="1"/>
            <a:r>
              <a:rPr lang="ru-RU" dirty="0"/>
              <a:t>802.3 (</a:t>
            </a:r>
            <a:r>
              <a:rPr lang="en-US" dirty="0"/>
              <a:t>Ethernet) </a:t>
            </a:r>
            <a:r>
              <a:rPr lang="ru-RU" dirty="0"/>
              <a:t>и 802.11 (</a:t>
            </a:r>
            <a:r>
              <a:rPr lang="en-US" dirty="0"/>
              <a:t>Wi-Fi)</a:t>
            </a:r>
          </a:p>
          <a:p>
            <a:r>
              <a:rPr lang="en-US" dirty="0"/>
              <a:t>Ethernet — </a:t>
            </a:r>
            <a:r>
              <a:rPr lang="ru-RU" dirty="0"/>
              <a:t>самая распространённая </a:t>
            </a:r>
            <a:r>
              <a:rPr lang="en-US" dirty="0"/>
              <a:t>LAN-</a:t>
            </a:r>
            <a:r>
              <a:rPr lang="ru-RU" dirty="0"/>
              <a:t>технология</a:t>
            </a:r>
          </a:p>
          <a:p>
            <a:r>
              <a:rPr lang="ru-RU" dirty="0"/>
              <a:t>Два типа </a:t>
            </a:r>
            <a:r>
              <a:rPr lang="en-US" dirty="0"/>
              <a:t>Ethernet:</a:t>
            </a:r>
          </a:p>
          <a:p>
            <a:pPr lvl="1"/>
            <a:r>
              <a:rPr lang="ru-RU" dirty="0"/>
              <a:t>Классический </a:t>
            </a:r>
            <a:r>
              <a:rPr lang="en-US" dirty="0"/>
              <a:t>Ethernet — </a:t>
            </a:r>
            <a:r>
              <a:rPr lang="ru-RU" dirty="0"/>
              <a:t>общий канал, </a:t>
            </a:r>
            <a:r>
              <a:rPr lang="en-US" dirty="0"/>
              <a:t>CSMA/CD, 3–10 </a:t>
            </a:r>
            <a:r>
              <a:rPr lang="ru-RU" dirty="0"/>
              <a:t>Мбит/с</a:t>
            </a:r>
          </a:p>
          <a:p>
            <a:pPr lvl="1"/>
            <a:r>
              <a:rPr lang="ru-RU" dirty="0"/>
              <a:t>Коммутируемый </a:t>
            </a:r>
            <a:r>
              <a:rPr lang="en-US" dirty="0"/>
              <a:t>Ethernet — </a:t>
            </a:r>
            <a:r>
              <a:rPr lang="ru-RU" dirty="0"/>
              <a:t>коммутаторы, 100 Мбит/с → 100 Гбит/с</a:t>
            </a:r>
          </a:p>
          <a:p>
            <a:r>
              <a:rPr lang="ru-RU" dirty="0"/>
              <a:t>История:</a:t>
            </a:r>
          </a:p>
          <a:p>
            <a:pPr lvl="1"/>
            <a:r>
              <a:rPr lang="ru-RU" dirty="0"/>
              <a:t>Боб Меткалф, идеи </a:t>
            </a:r>
            <a:r>
              <a:rPr lang="en-US" dirty="0"/>
              <a:t>ALOHA, Xerox PARC</a:t>
            </a:r>
          </a:p>
          <a:p>
            <a:pPr lvl="1"/>
            <a:r>
              <a:rPr lang="en-US" dirty="0"/>
              <a:t>1976 — </a:t>
            </a:r>
            <a:r>
              <a:rPr lang="ru-RU" dirty="0"/>
              <a:t>первый </a:t>
            </a:r>
            <a:r>
              <a:rPr lang="en-US" dirty="0"/>
              <a:t>Ethernet (3 </a:t>
            </a:r>
            <a:r>
              <a:rPr lang="ru-RU" dirty="0"/>
              <a:t>Мбит/с, коаксиальный кабель)</a:t>
            </a:r>
          </a:p>
          <a:p>
            <a:pPr lvl="1"/>
            <a:r>
              <a:rPr lang="ru-RU" dirty="0"/>
              <a:t>1978 — стандарт </a:t>
            </a:r>
            <a:r>
              <a:rPr lang="en-US" dirty="0"/>
              <a:t>DIX, 1983 — IEEE 802.3</a:t>
            </a:r>
          </a:p>
          <a:p>
            <a:r>
              <a:rPr lang="ru-RU" dirty="0"/>
              <a:t>Классический </a:t>
            </a:r>
            <a:r>
              <a:rPr lang="en-US" dirty="0"/>
              <a:t>Ethernet:</a:t>
            </a:r>
          </a:p>
          <a:p>
            <a:pPr lvl="1"/>
            <a:r>
              <a:rPr lang="ru-RU" dirty="0"/>
              <a:t>общий коаксиальный кабель (</a:t>
            </a:r>
            <a:r>
              <a:rPr lang="en-US" dirty="0"/>
              <a:t>thick / thin Ethernet)</a:t>
            </a:r>
          </a:p>
          <a:p>
            <a:pPr lvl="1"/>
            <a:r>
              <a:rPr lang="ru-RU" dirty="0"/>
              <a:t>повторители на физическом уровне</a:t>
            </a:r>
          </a:p>
          <a:p>
            <a:pPr lvl="1"/>
            <a:r>
              <a:rPr lang="ru-RU" dirty="0"/>
              <a:t>ограничения по длине и задержке для корректной работы </a:t>
            </a:r>
            <a:r>
              <a:rPr lang="en-US" dirty="0"/>
              <a:t>MAC</a:t>
            </a:r>
          </a:p>
          <a:p>
            <a:endParaRPr lang="en-US" dirty="0"/>
          </a:p>
        </p:txBody>
      </p:sp>
      <p:pic>
        <p:nvPicPr>
          <p:cNvPr id="9" name="Content Placeholder 8" descr="A diagram of a computer network&#10;&#10;AI-generated content may be incorrect.">
            <a:extLst>
              <a:ext uri="{FF2B5EF4-FFF2-40B4-BE49-F238E27FC236}">
                <a16:creationId xmlns:a16="http://schemas.microsoft.com/office/drawing/2014/main" id="{7CA765EA-AD96-4D8F-9118-A476B2F90886}"/>
              </a:ext>
            </a:extLst>
          </p:cNvPr>
          <p:cNvPicPr>
            <a:picLocks noGrp="1" noChangeAspect="1"/>
          </p:cNvPicPr>
          <p:nvPr>
            <p:ph sz="half" idx="2"/>
          </p:nvPr>
        </p:nvPicPr>
        <p:blipFill>
          <a:blip r:embed="rId3"/>
          <a:stretch>
            <a:fillRect/>
          </a:stretch>
        </p:blipFill>
        <p:spPr>
          <a:xfrm>
            <a:off x="8179724" y="1825625"/>
            <a:ext cx="4012276" cy="1250373"/>
          </a:xfrm>
          <a:prstGeom prst="rect">
            <a:avLst/>
          </a:prstGeom>
        </p:spPr>
      </p:pic>
    </p:spTree>
    <p:extLst>
      <p:ext uri="{BB962C8B-B14F-4D97-AF65-F5344CB8AC3E}">
        <p14:creationId xmlns:p14="http://schemas.microsoft.com/office/powerpoint/2010/main" val="130887097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0BA2-130B-716D-0C27-E4AEA8BA0FCE}"/>
              </a:ext>
            </a:extLst>
          </p:cNvPr>
          <p:cNvSpPr>
            <a:spLocks noGrp="1"/>
          </p:cNvSpPr>
          <p:nvPr>
            <p:ph type="title"/>
          </p:nvPr>
        </p:nvSpPr>
        <p:spPr/>
        <p:txBody>
          <a:bodyPr/>
          <a:lstStyle/>
          <a:p>
            <a:r>
              <a:rPr lang="ru-RU" dirty="0"/>
              <a:t>Протокол </a:t>
            </a:r>
            <a:r>
              <a:rPr lang="en-US" dirty="0"/>
              <a:t>MAC </a:t>
            </a:r>
            <a:r>
              <a:rPr lang="ru-RU" dirty="0"/>
              <a:t>в классическом </a:t>
            </a:r>
            <a:r>
              <a:rPr lang="en-US" dirty="0"/>
              <a:t>Ethernet</a:t>
            </a:r>
          </a:p>
        </p:txBody>
      </p:sp>
      <p:sp>
        <p:nvSpPr>
          <p:cNvPr id="3" name="Content Placeholder 2">
            <a:extLst>
              <a:ext uri="{FF2B5EF4-FFF2-40B4-BE49-F238E27FC236}">
                <a16:creationId xmlns:a16="http://schemas.microsoft.com/office/drawing/2014/main" id="{97C3413B-40B1-23DE-D7EA-A497BBF82ED6}"/>
              </a:ext>
            </a:extLst>
          </p:cNvPr>
          <p:cNvSpPr>
            <a:spLocks noGrp="1"/>
          </p:cNvSpPr>
          <p:nvPr>
            <p:ph sz="half" idx="1"/>
          </p:nvPr>
        </p:nvSpPr>
        <p:spPr>
          <a:xfrm>
            <a:off x="838200" y="1825625"/>
            <a:ext cx="6381722" cy="4351338"/>
          </a:xfrm>
        </p:spPr>
        <p:txBody>
          <a:bodyPr>
            <a:normAutofit fontScale="70000" lnSpcReduction="20000"/>
          </a:bodyPr>
          <a:lstStyle/>
          <a:p>
            <a:r>
              <a:rPr lang="ru-RU" dirty="0"/>
              <a:t>Формат фрейма </a:t>
            </a:r>
            <a:r>
              <a:rPr lang="en-US" dirty="0"/>
              <a:t>Ethernet</a:t>
            </a:r>
          </a:p>
          <a:p>
            <a:pPr lvl="1"/>
            <a:r>
              <a:rPr lang="en-US" dirty="0"/>
              <a:t>Preamble + SFD — </a:t>
            </a:r>
            <a:r>
              <a:rPr lang="ru-RU" dirty="0"/>
              <a:t>синхронизация приёма</a:t>
            </a:r>
          </a:p>
          <a:p>
            <a:pPr lvl="1"/>
            <a:r>
              <a:rPr lang="en-US" dirty="0"/>
              <a:t>MAC-</a:t>
            </a:r>
            <a:r>
              <a:rPr lang="ru-RU" dirty="0"/>
              <a:t>адреса: </a:t>
            </a:r>
            <a:r>
              <a:rPr lang="en-US" dirty="0"/>
              <a:t>Destination / Source (48 </a:t>
            </a:r>
            <a:r>
              <a:rPr lang="ru-RU" dirty="0"/>
              <a:t>бит)</a:t>
            </a:r>
          </a:p>
          <a:p>
            <a:pPr lvl="1"/>
            <a:r>
              <a:rPr lang="en-US" dirty="0"/>
              <a:t>Type / Length</a:t>
            </a:r>
            <a:endParaRPr lang="ru-RU" dirty="0"/>
          </a:p>
          <a:p>
            <a:pPr lvl="2"/>
            <a:r>
              <a:rPr lang="ru-RU" dirty="0"/>
              <a:t>&lt; 0x600 — длина (IEEE 802.3)</a:t>
            </a:r>
          </a:p>
          <a:p>
            <a:pPr lvl="2"/>
            <a:r>
              <a:rPr lang="ru-RU" dirty="0"/>
              <a:t>&gt; 0x600 — тип протокола (Ethernet, напр. IPv4)</a:t>
            </a:r>
            <a:endParaRPr lang="en-US" dirty="0"/>
          </a:p>
          <a:p>
            <a:pPr lvl="1"/>
            <a:r>
              <a:rPr lang="en-US" dirty="0"/>
              <a:t>Data: 46–1500 </a:t>
            </a:r>
            <a:r>
              <a:rPr lang="ru-RU" dirty="0"/>
              <a:t>байт (+ </a:t>
            </a:r>
            <a:r>
              <a:rPr lang="en-US" dirty="0"/>
              <a:t>Pad </a:t>
            </a:r>
            <a:r>
              <a:rPr lang="ru-RU" dirty="0"/>
              <a:t>при необходимости)</a:t>
            </a:r>
          </a:p>
          <a:p>
            <a:pPr lvl="1"/>
            <a:r>
              <a:rPr lang="en-US" dirty="0"/>
              <a:t>CRC-32 — </a:t>
            </a:r>
            <a:r>
              <a:rPr lang="ru-RU" dirty="0"/>
              <a:t>обнаружение ошибок</a:t>
            </a:r>
          </a:p>
          <a:p>
            <a:r>
              <a:rPr lang="ru-RU" dirty="0"/>
              <a:t>Минимальный размер фрейма: 64 байта</a:t>
            </a:r>
          </a:p>
          <a:p>
            <a:r>
              <a:rPr lang="en-US" dirty="0"/>
              <a:t>CSMA/CD + Binary Exponential Backoff</a:t>
            </a:r>
          </a:p>
          <a:p>
            <a:pPr lvl="1"/>
            <a:r>
              <a:rPr lang="ru-RU" dirty="0"/>
              <a:t>слот = 512 битовых интервалов (51,2 мкс)</a:t>
            </a:r>
          </a:p>
          <a:p>
            <a:pPr lvl="1"/>
            <a:r>
              <a:rPr lang="ru-RU" dirty="0"/>
              <a:t>после </a:t>
            </a:r>
            <a:r>
              <a:rPr lang="en-US" dirty="0" err="1"/>
              <a:t>i</a:t>
            </a:r>
            <a:r>
              <a:rPr lang="en-US" dirty="0"/>
              <a:t> </a:t>
            </a:r>
            <a:r>
              <a:rPr lang="ru-RU" dirty="0"/>
              <a:t>коллизий: ожидание 0 … 2^</a:t>
            </a:r>
            <a:r>
              <a:rPr lang="en-US" dirty="0" err="1"/>
              <a:t>i</a:t>
            </a:r>
            <a:r>
              <a:rPr lang="en-US" dirty="0"/>
              <a:t> − 1 </a:t>
            </a:r>
            <a:r>
              <a:rPr lang="ru-RU" dirty="0"/>
              <a:t>слотов</a:t>
            </a:r>
          </a:p>
          <a:p>
            <a:pPr lvl="1"/>
            <a:r>
              <a:rPr lang="ru-RU" dirty="0"/>
              <a:t>максимум: 16 коллизий → ошибка</a:t>
            </a:r>
          </a:p>
          <a:p>
            <a:r>
              <a:rPr lang="ru-RU" dirty="0"/>
              <a:t>Подтверждений нет</a:t>
            </a:r>
          </a:p>
          <a:p>
            <a:pPr lvl="1"/>
            <a:r>
              <a:rPr lang="ru-RU" dirty="0"/>
              <a:t>надёжность обеспечивается </a:t>
            </a:r>
            <a:r>
              <a:rPr lang="en-US" dirty="0"/>
              <a:t>CRC </a:t>
            </a:r>
            <a:r>
              <a:rPr lang="ru-RU" dirty="0"/>
              <a:t>и верхними уровнями</a:t>
            </a:r>
          </a:p>
          <a:p>
            <a:endParaRPr lang="en-US" dirty="0"/>
          </a:p>
        </p:txBody>
      </p:sp>
      <p:pic>
        <p:nvPicPr>
          <p:cNvPr id="8" name="Content Placeholder 7" descr="A diagram of a computer&#10;&#10;AI-generated content may be incorrect.">
            <a:extLst>
              <a:ext uri="{FF2B5EF4-FFF2-40B4-BE49-F238E27FC236}">
                <a16:creationId xmlns:a16="http://schemas.microsoft.com/office/drawing/2014/main" id="{BA385937-A794-6698-3860-E1D6DA1C98B7}"/>
              </a:ext>
            </a:extLst>
          </p:cNvPr>
          <p:cNvPicPr>
            <a:picLocks noGrp="1" noChangeAspect="1"/>
          </p:cNvPicPr>
          <p:nvPr>
            <p:ph sz="half" idx="2"/>
          </p:nvPr>
        </p:nvPicPr>
        <p:blipFill>
          <a:blip r:embed="rId3"/>
          <a:stretch>
            <a:fillRect/>
          </a:stretch>
        </p:blipFill>
        <p:spPr>
          <a:xfrm>
            <a:off x="7219922" y="1690688"/>
            <a:ext cx="4449762" cy="1409704"/>
          </a:xfrm>
          <a:prstGeom prst="rect">
            <a:avLst/>
          </a:prstGeom>
        </p:spPr>
      </p:pic>
      <p:pic>
        <p:nvPicPr>
          <p:cNvPr id="10" name="Content Placeholder 9" descr="A diagram of a diagram of a diagram&#10;&#10;AI-generated content may be incorrect.">
            <a:extLst>
              <a:ext uri="{FF2B5EF4-FFF2-40B4-BE49-F238E27FC236}">
                <a16:creationId xmlns:a16="http://schemas.microsoft.com/office/drawing/2014/main" id="{A7C1AB02-25C0-2630-B018-126A564F3820}"/>
              </a:ext>
            </a:extLst>
          </p:cNvPr>
          <p:cNvPicPr>
            <a:picLocks noGrp="1" noChangeAspect="1"/>
          </p:cNvPicPr>
          <p:nvPr>
            <p:ph sz="half" idx="13"/>
          </p:nvPr>
        </p:nvPicPr>
        <p:blipFill>
          <a:blip r:embed="rId4"/>
          <a:stretch>
            <a:fillRect/>
          </a:stretch>
        </p:blipFill>
        <p:spPr>
          <a:xfrm>
            <a:off x="7304594" y="3757609"/>
            <a:ext cx="4449762" cy="2061332"/>
          </a:xfrm>
          <a:prstGeom prst="rect">
            <a:avLst/>
          </a:prstGeom>
        </p:spPr>
      </p:pic>
    </p:spTree>
    <p:extLst>
      <p:ext uri="{BB962C8B-B14F-4D97-AF65-F5344CB8AC3E}">
        <p14:creationId xmlns:p14="http://schemas.microsoft.com/office/powerpoint/2010/main" val="34233664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2618-9696-7121-6342-1E58CE8B615E}"/>
              </a:ext>
            </a:extLst>
          </p:cNvPr>
          <p:cNvSpPr>
            <a:spLocks noGrp="1"/>
          </p:cNvSpPr>
          <p:nvPr>
            <p:ph type="title"/>
          </p:nvPr>
        </p:nvSpPr>
        <p:spPr/>
        <p:txBody>
          <a:bodyPr>
            <a:normAutofit/>
          </a:bodyPr>
          <a:lstStyle/>
          <a:p>
            <a:r>
              <a:rPr lang="ru-RU" dirty="0"/>
              <a:t>Коммутируемый Ethernet и Ethernet-коммутатор</a:t>
            </a:r>
            <a:endParaRPr lang="en-US" dirty="0"/>
          </a:p>
        </p:txBody>
      </p:sp>
      <p:sp>
        <p:nvSpPr>
          <p:cNvPr id="3" name="Content Placeholder 2">
            <a:extLst>
              <a:ext uri="{FF2B5EF4-FFF2-40B4-BE49-F238E27FC236}">
                <a16:creationId xmlns:a16="http://schemas.microsoft.com/office/drawing/2014/main" id="{D8E76CD4-D43A-CB99-AABB-EDDAEEB3203F}"/>
              </a:ext>
            </a:extLst>
          </p:cNvPr>
          <p:cNvSpPr>
            <a:spLocks noGrp="1"/>
          </p:cNvSpPr>
          <p:nvPr>
            <p:ph sz="half" idx="1"/>
          </p:nvPr>
        </p:nvSpPr>
        <p:spPr>
          <a:xfrm>
            <a:off x="838198" y="1825625"/>
            <a:ext cx="6578601" cy="4351338"/>
          </a:xfrm>
        </p:spPr>
        <p:txBody>
          <a:bodyPr>
            <a:normAutofit fontScale="70000" lnSpcReduction="20000"/>
          </a:bodyPr>
          <a:lstStyle/>
          <a:p>
            <a:r>
              <a:rPr lang="ru-RU" dirty="0"/>
              <a:t>Коммутируемый Ethernet:</a:t>
            </a:r>
          </a:p>
          <a:p>
            <a:pPr lvl="1"/>
            <a:r>
              <a:rPr lang="ru-RU" dirty="0"/>
              <a:t>соединение «точка–точка» между узлом и коммутатором</a:t>
            </a:r>
          </a:p>
          <a:p>
            <a:pPr lvl="1"/>
            <a:r>
              <a:rPr lang="ru-RU" dirty="0"/>
              <a:t>отдельная область коллизий на каждый порт</a:t>
            </a:r>
          </a:p>
          <a:p>
            <a:pPr lvl="1"/>
            <a:r>
              <a:rPr lang="ru-RU" dirty="0"/>
              <a:t>обычно полный дуплекс</a:t>
            </a:r>
          </a:p>
          <a:p>
            <a:r>
              <a:rPr lang="ru-RU" dirty="0"/>
              <a:t>Ethernet-коммутатор (</a:t>
            </a:r>
            <a:r>
              <a:rPr lang="ru-RU" dirty="0" err="1"/>
              <a:t>switch</a:t>
            </a:r>
            <a:r>
              <a:rPr lang="ru-RU" dirty="0"/>
              <a:t>):</a:t>
            </a:r>
          </a:p>
          <a:p>
            <a:pPr lvl="1"/>
            <a:r>
              <a:rPr lang="ru-RU" dirty="0"/>
              <a:t>устройство канального уровня, которое пересылает фреймы по MAC-адресам</a:t>
            </a:r>
          </a:p>
          <a:p>
            <a:pPr lvl="1"/>
            <a:r>
              <a:rPr lang="ru-RU" dirty="0"/>
              <a:t>таблица соответствия: </a:t>
            </a:r>
            <a:r>
              <a:rPr lang="ru-RU" i="1" dirty="0"/>
              <a:t>MAC → порт</a:t>
            </a:r>
            <a:endParaRPr lang="ru-RU" dirty="0"/>
          </a:p>
          <a:p>
            <a:r>
              <a:rPr lang="ru-RU" dirty="0"/>
              <a:t>Особенности работы:</a:t>
            </a:r>
          </a:p>
          <a:p>
            <a:pPr lvl="1"/>
            <a:r>
              <a:rPr lang="ru-RU" dirty="0"/>
              <a:t>при неизвестном адресе — рассылка на все порты (</a:t>
            </a:r>
            <a:r>
              <a:rPr lang="ru-RU" dirty="0" err="1"/>
              <a:t>flooding</a:t>
            </a:r>
            <a:r>
              <a:rPr lang="ru-RU" dirty="0"/>
              <a:t>)</a:t>
            </a:r>
          </a:p>
          <a:p>
            <a:pPr lvl="1"/>
            <a:r>
              <a:rPr lang="ru-RU" dirty="0"/>
              <a:t>обучение таблицы автоматически по исходным адресам</a:t>
            </a:r>
          </a:p>
          <a:p>
            <a:r>
              <a:rPr lang="ru-RU" dirty="0"/>
              <a:t>Следствия:</a:t>
            </a:r>
          </a:p>
          <a:p>
            <a:pPr lvl="1"/>
            <a:r>
              <a:rPr lang="ru-RU" dirty="0"/>
              <a:t>CSMA/CD не используется</a:t>
            </a:r>
          </a:p>
          <a:p>
            <a:pPr lvl="1"/>
            <a:r>
              <a:rPr lang="ru-RU" dirty="0"/>
              <a:t>отсутствие коллизий</a:t>
            </a:r>
          </a:p>
          <a:p>
            <a:pPr lvl="1"/>
            <a:r>
              <a:rPr lang="ru-RU" dirty="0"/>
              <a:t>параллельные передачи между разными портами</a:t>
            </a:r>
          </a:p>
        </p:txBody>
      </p:sp>
      <p:pic>
        <p:nvPicPr>
          <p:cNvPr id="7" name="Content Placeholder 6" descr="A diagram of a diagram of a diagram&#10;&#10;AI-generated content may be incorrect.">
            <a:extLst>
              <a:ext uri="{FF2B5EF4-FFF2-40B4-BE49-F238E27FC236}">
                <a16:creationId xmlns:a16="http://schemas.microsoft.com/office/drawing/2014/main" id="{3E1CC5DD-065B-652A-B1AE-257ACC40011B}"/>
              </a:ext>
            </a:extLst>
          </p:cNvPr>
          <p:cNvPicPr>
            <a:picLocks noGrp="1" noChangeAspect="1"/>
          </p:cNvPicPr>
          <p:nvPr>
            <p:ph sz="half" idx="2"/>
          </p:nvPr>
        </p:nvPicPr>
        <p:blipFill>
          <a:blip r:embed="rId3"/>
          <a:stretch>
            <a:fillRect/>
          </a:stretch>
        </p:blipFill>
        <p:spPr>
          <a:xfrm>
            <a:off x="7535805" y="1825625"/>
            <a:ext cx="4449762" cy="1962404"/>
          </a:xfrm>
          <a:prstGeom prst="rect">
            <a:avLst/>
          </a:prstGeom>
        </p:spPr>
      </p:pic>
      <p:pic>
        <p:nvPicPr>
          <p:cNvPr id="9" name="Content Placeholder 8" descr="A diagram of a computer&#10;&#10;AI-generated content may be incorrect.">
            <a:extLst>
              <a:ext uri="{FF2B5EF4-FFF2-40B4-BE49-F238E27FC236}">
                <a16:creationId xmlns:a16="http://schemas.microsoft.com/office/drawing/2014/main" id="{8FAC99A0-EF14-6839-6058-A0A0FE66CC5B}"/>
              </a:ext>
            </a:extLst>
          </p:cNvPr>
          <p:cNvPicPr>
            <a:picLocks noGrp="1" noChangeAspect="1"/>
          </p:cNvPicPr>
          <p:nvPr>
            <p:ph sz="half" idx="13"/>
          </p:nvPr>
        </p:nvPicPr>
        <p:blipFill>
          <a:blip r:embed="rId4"/>
          <a:stretch>
            <a:fillRect/>
          </a:stretch>
        </p:blipFill>
        <p:spPr>
          <a:xfrm>
            <a:off x="7587226" y="4238441"/>
            <a:ext cx="4449762" cy="1467998"/>
          </a:xfrm>
          <a:prstGeom prst="rect">
            <a:avLst/>
          </a:prstGeom>
        </p:spPr>
      </p:pic>
    </p:spTree>
    <p:extLst>
      <p:ext uri="{BB962C8B-B14F-4D97-AF65-F5344CB8AC3E}">
        <p14:creationId xmlns:p14="http://schemas.microsoft.com/office/powerpoint/2010/main" val="422221461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312D2-415D-A4F6-12D2-5764D28AFE11}"/>
              </a:ext>
            </a:extLst>
          </p:cNvPr>
          <p:cNvSpPr>
            <a:spLocks noGrp="1"/>
          </p:cNvSpPr>
          <p:nvPr>
            <p:ph type="title"/>
          </p:nvPr>
        </p:nvSpPr>
        <p:spPr/>
        <p:txBody>
          <a:bodyPr/>
          <a:lstStyle/>
          <a:p>
            <a:r>
              <a:rPr lang="ru-RU" dirty="0"/>
              <a:t>Производительность </a:t>
            </a:r>
            <a:r>
              <a:rPr lang="en-US" dirty="0"/>
              <a:t>Ethernet </a:t>
            </a:r>
            <a:r>
              <a:rPr lang="ru-RU" dirty="0"/>
              <a:t>и рост скоростей</a:t>
            </a:r>
            <a:endParaRPr lang="en-US" dirty="0"/>
          </a:p>
        </p:txBody>
      </p:sp>
      <p:sp>
        <p:nvSpPr>
          <p:cNvPr id="6" name="Content Placeholder 5">
            <a:extLst>
              <a:ext uri="{FF2B5EF4-FFF2-40B4-BE49-F238E27FC236}">
                <a16:creationId xmlns:a16="http://schemas.microsoft.com/office/drawing/2014/main" id="{F9103B51-F53B-8D71-BE9C-FFD2C8C2D2BB}"/>
              </a:ext>
            </a:extLst>
          </p:cNvPr>
          <p:cNvSpPr>
            <a:spLocks noGrp="1"/>
          </p:cNvSpPr>
          <p:nvPr>
            <p:ph sz="half" idx="1"/>
          </p:nvPr>
        </p:nvSpPr>
        <p:spPr>
          <a:xfrm>
            <a:off x="838199" y="1825625"/>
            <a:ext cx="5765801" cy="4351338"/>
          </a:xfrm>
        </p:spPr>
        <p:txBody>
          <a:bodyPr>
            <a:normAutofit fontScale="70000" lnSpcReduction="20000"/>
          </a:bodyPr>
          <a:lstStyle/>
          <a:p>
            <a:r>
              <a:rPr lang="ru-RU" dirty="0"/>
              <a:t>Масштабирование Ethernet:</a:t>
            </a:r>
          </a:p>
          <a:p>
            <a:pPr lvl="1"/>
            <a:r>
              <a:rPr lang="ru-RU" dirty="0"/>
              <a:t>повышение скорости без смены модели работы</a:t>
            </a:r>
          </a:p>
          <a:p>
            <a:pPr lvl="1"/>
            <a:r>
              <a:rPr lang="ru-RU" dirty="0"/>
              <a:t>сохранение формата фрейма и MAC-адресации</a:t>
            </a:r>
          </a:p>
          <a:p>
            <a:r>
              <a:rPr lang="ru-RU" dirty="0"/>
              <a:t>Эволюция скоростей:</a:t>
            </a:r>
          </a:p>
          <a:p>
            <a:pPr lvl="1"/>
            <a:r>
              <a:rPr lang="ru-RU" dirty="0"/>
              <a:t>10 Мбит/с → 100 Мбит/с → 1 Гбит/с</a:t>
            </a:r>
          </a:p>
          <a:p>
            <a:pPr lvl="1"/>
            <a:r>
              <a:rPr lang="ru-RU" dirty="0"/>
              <a:t>10 → 40 → 100 Гбит/с (и выше)</a:t>
            </a:r>
          </a:p>
          <a:p>
            <a:r>
              <a:rPr lang="ru-RU" dirty="0"/>
              <a:t>Ключевые факторы производительности:</a:t>
            </a:r>
          </a:p>
          <a:p>
            <a:pPr lvl="1"/>
            <a:r>
              <a:rPr lang="ru-RU" dirty="0"/>
              <a:t>коммутируемая архитектура</a:t>
            </a:r>
          </a:p>
          <a:p>
            <a:pPr lvl="1"/>
            <a:r>
              <a:rPr lang="ru-RU" dirty="0"/>
              <a:t>полный дуплекс</a:t>
            </a:r>
          </a:p>
          <a:p>
            <a:pPr lvl="1"/>
            <a:r>
              <a:rPr lang="ru-RU" dirty="0"/>
              <a:t>параллельная передача фреймов</a:t>
            </a:r>
          </a:p>
          <a:p>
            <a:r>
              <a:rPr lang="ru-RU" dirty="0"/>
              <a:t>Ограничения:</a:t>
            </a:r>
          </a:p>
          <a:p>
            <a:pPr lvl="1"/>
            <a:r>
              <a:rPr lang="ru-RU" dirty="0"/>
              <a:t>задержки в коммутаторах и буферах</a:t>
            </a:r>
          </a:p>
          <a:p>
            <a:pPr lvl="1"/>
            <a:r>
              <a:rPr lang="ru-RU" dirty="0"/>
              <a:t>скорость портов и магистралей</a:t>
            </a:r>
          </a:p>
          <a:p>
            <a:r>
              <a:rPr lang="ru-RU" dirty="0"/>
              <a:t>Итог:  рост пропускной способности достигается не борьбой с коллизиями, а их устранением</a:t>
            </a:r>
          </a:p>
        </p:txBody>
      </p:sp>
      <p:pic>
        <p:nvPicPr>
          <p:cNvPr id="9" name="Content Placeholder 8" descr="A diagram of a computer network&#10;&#10;AI-generated content may be incorrect.">
            <a:extLst>
              <a:ext uri="{FF2B5EF4-FFF2-40B4-BE49-F238E27FC236}">
                <a16:creationId xmlns:a16="http://schemas.microsoft.com/office/drawing/2014/main" id="{DA8E7914-CCCB-FE0F-BC00-4FE653EFC563}"/>
              </a:ext>
            </a:extLst>
          </p:cNvPr>
          <p:cNvPicPr>
            <a:picLocks noGrp="1" noChangeAspect="1"/>
          </p:cNvPicPr>
          <p:nvPr>
            <p:ph sz="half" idx="2"/>
          </p:nvPr>
        </p:nvPicPr>
        <p:blipFill>
          <a:blip r:embed="rId3"/>
          <a:stretch>
            <a:fillRect/>
          </a:stretch>
        </p:blipFill>
        <p:spPr>
          <a:xfrm>
            <a:off x="7122819" y="1825625"/>
            <a:ext cx="4430488" cy="2044524"/>
          </a:xfrm>
          <a:prstGeom prst="rect">
            <a:avLst/>
          </a:prstGeom>
        </p:spPr>
      </p:pic>
    </p:spTree>
    <p:extLst>
      <p:ext uri="{BB962C8B-B14F-4D97-AF65-F5344CB8AC3E}">
        <p14:creationId xmlns:p14="http://schemas.microsoft.com/office/powerpoint/2010/main" val="34598793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8E1622-F075-D2AD-6872-486273B5A2F4}"/>
              </a:ext>
            </a:extLst>
          </p:cNvPr>
          <p:cNvSpPr>
            <a:spLocks noGrp="1"/>
          </p:cNvSpPr>
          <p:nvPr>
            <p:ph type="title"/>
          </p:nvPr>
        </p:nvSpPr>
        <p:spPr/>
        <p:txBody>
          <a:bodyPr/>
          <a:lstStyle/>
          <a:p>
            <a:r>
              <a:rPr lang="ru-RU" dirty="0"/>
              <a:t>Сетевой уровень</a:t>
            </a:r>
            <a:endParaRPr lang="en-US" dirty="0"/>
          </a:p>
        </p:txBody>
      </p:sp>
      <p:sp>
        <p:nvSpPr>
          <p:cNvPr id="6" name="Text Placeholder 5">
            <a:extLst>
              <a:ext uri="{FF2B5EF4-FFF2-40B4-BE49-F238E27FC236}">
                <a16:creationId xmlns:a16="http://schemas.microsoft.com/office/drawing/2014/main" id="{F6AE5C11-FB4A-76C1-0BFC-57637364FAE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5508126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DF32F5-1FCA-9F49-07F8-0E098E7FEB5E}"/>
              </a:ext>
            </a:extLst>
          </p:cNvPr>
          <p:cNvSpPr>
            <a:spLocks noGrp="1"/>
          </p:cNvSpPr>
          <p:nvPr>
            <p:ph type="title"/>
          </p:nvPr>
        </p:nvSpPr>
        <p:spPr/>
        <p:txBody>
          <a:bodyPr/>
          <a:lstStyle/>
          <a:p>
            <a:r>
              <a:rPr lang="ru-RU" dirty="0"/>
              <a:t>Сетевой уровень (Network Layer)</a:t>
            </a:r>
            <a:endParaRPr lang="en-US" dirty="0"/>
          </a:p>
        </p:txBody>
      </p:sp>
      <p:sp>
        <p:nvSpPr>
          <p:cNvPr id="5" name="Content Placeholder 4">
            <a:extLst>
              <a:ext uri="{FF2B5EF4-FFF2-40B4-BE49-F238E27FC236}">
                <a16:creationId xmlns:a16="http://schemas.microsoft.com/office/drawing/2014/main" id="{3BA5FBAC-D4BD-EF7C-7B59-67ABED662AB2}"/>
              </a:ext>
            </a:extLst>
          </p:cNvPr>
          <p:cNvSpPr>
            <a:spLocks noGrp="1"/>
          </p:cNvSpPr>
          <p:nvPr>
            <p:ph sz="half" idx="1"/>
          </p:nvPr>
        </p:nvSpPr>
        <p:spPr>
          <a:xfrm>
            <a:off x="838200" y="1825625"/>
            <a:ext cx="6726382" cy="4351338"/>
          </a:xfrm>
        </p:spPr>
        <p:txBody>
          <a:bodyPr>
            <a:normAutofit lnSpcReduction="10000"/>
          </a:bodyPr>
          <a:lstStyle/>
          <a:p>
            <a:r>
              <a:rPr lang="ru-RU" dirty="0"/>
              <a:t>Доставка пакетов от источника к получателю через маршрутизаторы.</a:t>
            </a:r>
          </a:p>
          <a:p>
            <a:r>
              <a:rPr lang="ru-RU" dirty="0"/>
              <a:t>«От конца до конца», в отличие от канального уровня.</a:t>
            </a:r>
          </a:p>
          <a:p>
            <a:pPr lvl="1"/>
            <a:r>
              <a:rPr lang="ru-RU" dirty="0"/>
              <a:t>Требуется знание топологии сети и расчёт маршрутов с учётом нагрузки.</a:t>
            </a:r>
          </a:p>
          <a:p>
            <a:pPr lvl="1"/>
            <a:r>
              <a:rPr lang="ru-RU" dirty="0"/>
              <a:t>Взаимодействие между автономными системами.</a:t>
            </a:r>
          </a:p>
          <a:p>
            <a:pPr lvl="1"/>
            <a:r>
              <a:rPr lang="ru-RU" dirty="0"/>
              <a:t>Эволюция: ручная настройка → программно-конфигурируемые сети (SDN).</a:t>
            </a:r>
          </a:p>
          <a:p>
            <a:r>
              <a:rPr lang="ru-RU" dirty="0"/>
              <a:t>Передача пакетов: </a:t>
            </a:r>
            <a:r>
              <a:rPr lang="ru-RU" dirty="0" err="1"/>
              <a:t>store-and-forward</a:t>
            </a:r>
            <a:r>
              <a:rPr lang="ru-RU" dirty="0"/>
              <a:t>.</a:t>
            </a:r>
          </a:p>
          <a:p>
            <a:endParaRPr lang="en-US" dirty="0"/>
          </a:p>
        </p:txBody>
      </p:sp>
      <p:pic>
        <p:nvPicPr>
          <p:cNvPr id="8" name="Content Placeholder 7" descr="A diagram of a network&#10;&#10;AI-generated content may be incorrect.">
            <a:extLst>
              <a:ext uri="{FF2B5EF4-FFF2-40B4-BE49-F238E27FC236}">
                <a16:creationId xmlns:a16="http://schemas.microsoft.com/office/drawing/2014/main" id="{6FB193B1-E13D-CBD6-605E-A17AFD0386CF}"/>
              </a:ext>
            </a:extLst>
          </p:cNvPr>
          <p:cNvPicPr>
            <a:picLocks noGrp="1" noChangeAspect="1"/>
          </p:cNvPicPr>
          <p:nvPr>
            <p:ph sz="half" idx="2"/>
          </p:nvPr>
        </p:nvPicPr>
        <p:blipFill>
          <a:blip r:embed="rId3"/>
          <a:stretch>
            <a:fillRect/>
          </a:stretch>
        </p:blipFill>
        <p:spPr>
          <a:xfrm>
            <a:off x="7913715" y="1825625"/>
            <a:ext cx="4071851" cy="1605885"/>
          </a:xfrm>
          <a:prstGeom prst="rect">
            <a:avLst/>
          </a:prstGeom>
        </p:spPr>
      </p:pic>
    </p:spTree>
    <p:extLst>
      <p:ext uri="{BB962C8B-B14F-4D97-AF65-F5344CB8AC3E}">
        <p14:creationId xmlns:p14="http://schemas.microsoft.com/office/powerpoint/2010/main" val="271477213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62078-7FB1-73ED-6AAD-1D56AA192CB5}"/>
              </a:ext>
            </a:extLst>
          </p:cNvPr>
          <p:cNvSpPr>
            <a:spLocks noGrp="1"/>
          </p:cNvSpPr>
          <p:nvPr>
            <p:ph type="title"/>
          </p:nvPr>
        </p:nvSpPr>
        <p:spPr/>
        <p:txBody>
          <a:bodyPr>
            <a:normAutofit/>
          </a:bodyPr>
          <a:lstStyle/>
          <a:p>
            <a:r>
              <a:rPr lang="ru-RU" dirty="0"/>
              <a:t>Службы сетевого уровня для транспортного уровня</a:t>
            </a:r>
            <a:endParaRPr lang="en-US" dirty="0"/>
          </a:p>
        </p:txBody>
      </p:sp>
      <p:sp>
        <p:nvSpPr>
          <p:cNvPr id="3" name="Content Placeholder 2">
            <a:extLst>
              <a:ext uri="{FF2B5EF4-FFF2-40B4-BE49-F238E27FC236}">
                <a16:creationId xmlns:a16="http://schemas.microsoft.com/office/drawing/2014/main" id="{962F614A-F6BC-553F-F93F-D1C8EB1A3E59}"/>
              </a:ext>
            </a:extLst>
          </p:cNvPr>
          <p:cNvSpPr>
            <a:spLocks noGrp="1"/>
          </p:cNvSpPr>
          <p:nvPr>
            <p:ph idx="1"/>
          </p:nvPr>
        </p:nvSpPr>
        <p:spPr/>
        <p:txBody>
          <a:bodyPr>
            <a:normAutofit fontScale="92500" lnSpcReduction="20000"/>
          </a:bodyPr>
          <a:lstStyle/>
          <a:p>
            <a:r>
              <a:rPr lang="ru-RU" dirty="0"/>
              <a:t>Основные требования:</a:t>
            </a:r>
          </a:p>
          <a:p>
            <a:pPr lvl="1"/>
            <a:r>
              <a:rPr lang="ru-RU" dirty="0"/>
              <a:t>Независимость от технологии маршрутизатора и топологии сети.</a:t>
            </a:r>
          </a:p>
          <a:p>
            <a:pPr lvl="1"/>
            <a:r>
              <a:rPr lang="ru-RU" dirty="0"/>
              <a:t>Единая система адресации для LAN и WAN.</a:t>
            </a:r>
          </a:p>
          <a:p>
            <a:pPr lvl="1"/>
            <a:r>
              <a:rPr lang="ru-RU" dirty="0"/>
              <a:t>Свобода реализации служб для транспортного уровня.</a:t>
            </a:r>
          </a:p>
          <a:p>
            <a:r>
              <a:rPr lang="ru-RU" dirty="0"/>
              <a:t>Ключевой спор:</a:t>
            </a:r>
          </a:p>
          <a:p>
            <a:pPr lvl="1"/>
            <a:r>
              <a:rPr lang="ru-RU" b="1" dirty="0"/>
              <a:t>Без установления соединения</a:t>
            </a:r>
            <a:r>
              <a:rPr lang="ru-RU" dirty="0"/>
              <a:t> (IP-подход): сеть ненадёжна → хосты сами обеспечивают надёжность и управление потоком (принцип </a:t>
            </a:r>
            <a:r>
              <a:rPr lang="ru-RU" dirty="0" err="1"/>
              <a:t>end-to-end</a:t>
            </a:r>
            <a:r>
              <a:rPr lang="ru-RU" dirty="0"/>
              <a:t>).</a:t>
            </a:r>
          </a:p>
          <a:p>
            <a:pPr lvl="1"/>
            <a:r>
              <a:rPr lang="ru-RU" b="1" dirty="0"/>
              <a:t>С установлением соединения</a:t>
            </a:r>
            <a:r>
              <a:rPr lang="ru-RU" dirty="0"/>
              <a:t> (телефонный подход): сеть должна гарантировать надёжность и </a:t>
            </a:r>
            <a:r>
              <a:rPr lang="ru-RU" dirty="0" err="1"/>
              <a:t>QoS</a:t>
            </a:r>
            <a:r>
              <a:rPr lang="ru-RU" dirty="0"/>
              <a:t>, особенно для голоса и видео.</a:t>
            </a:r>
          </a:p>
          <a:p>
            <a:r>
              <a:rPr lang="ru-RU" dirty="0"/>
              <a:t>История:</a:t>
            </a:r>
          </a:p>
          <a:p>
            <a:pPr lvl="1"/>
            <a:r>
              <a:rPr lang="ru-RU" dirty="0"/>
              <a:t>X.25 и Frame </a:t>
            </a:r>
            <a:r>
              <a:rPr lang="ru-RU" dirty="0" err="1"/>
              <a:t>Relay</a:t>
            </a:r>
            <a:r>
              <a:rPr lang="ru-RU" dirty="0"/>
              <a:t> — соединение требуется.</a:t>
            </a:r>
          </a:p>
          <a:p>
            <a:pPr lvl="1"/>
            <a:r>
              <a:rPr lang="ru-RU" dirty="0"/>
              <a:t>ARPANET и IP — без соединения, популярность до сих пор.</a:t>
            </a:r>
          </a:p>
          <a:p>
            <a:pPr lvl="1"/>
            <a:r>
              <a:rPr lang="ru-RU" dirty="0"/>
              <a:t>Современные технологии для </a:t>
            </a:r>
            <a:r>
              <a:rPr lang="ru-RU" dirty="0" err="1"/>
              <a:t>QoS</a:t>
            </a:r>
            <a:r>
              <a:rPr lang="ru-RU" dirty="0"/>
              <a:t>: MPLS, VLAN.</a:t>
            </a:r>
          </a:p>
          <a:p>
            <a:endParaRPr lang="en-US" dirty="0"/>
          </a:p>
        </p:txBody>
      </p:sp>
    </p:spTree>
    <p:extLst>
      <p:ext uri="{BB962C8B-B14F-4D97-AF65-F5344CB8AC3E}">
        <p14:creationId xmlns:p14="http://schemas.microsoft.com/office/powerpoint/2010/main" val="11474958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C4B22-F66B-F010-571C-F58CABE13044}"/>
              </a:ext>
            </a:extLst>
          </p:cNvPr>
          <p:cNvSpPr>
            <a:spLocks noGrp="1"/>
          </p:cNvSpPr>
          <p:nvPr>
            <p:ph type="title"/>
          </p:nvPr>
        </p:nvSpPr>
        <p:spPr/>
        <p:txBody>
          <a:bodyPr/>
          <a:lstStyle/>
          <a:p>
            <a:r>
              <a:rPr lang="ru-RU" dirty="0"/>
              <a:t>Служба без установления соединения (</a:t>
            </a:r>
            <a:r>
              <a:rPr lang="en-US" dirty="0"/>
              <a:t>Datagram Service)</a:t>
            </a:r>
          </a:p>
        </p:txBody>
      </p:sp>
      <p:sp>
        <p:nvSpPr>
          <p:cNvPr id="3" name="Content Placeholder 2">
            <a:extLst>
              <a:ext uri="{FF2B5EF4-FFF2-40B4-BE49-F238E27FC236}">
                <a16:creationId xmlns:a16="http://schemas.microsoft.com/office/drawing/2014/main" id="{E6436BC5-B11F-8C20-167E-E9F1A8F95DAD}"/>
              </a:ext>
            </a:extLst>
          </p:cNvPr>
          <p:cNvSpPr>
            <a:spLocks noGrp="1"/>
          </p:cNvSpPr>
          <p:nvPr>
            <p:ph sz="half" idx="1"/>
          </p:nvPr>
        </p:nvSpPr>
        <p:spPr>
          <a:xfrm>
            <a:off x="838200" y="1825625"/>
            <a:ext cx="6177742" cy="4351338"/>
          </a:xfrm>
        </p:spPr>
        <p:txBody>
          <a:bodyPr>
            <a:normAutofit fontScale="85000" lnSpcReduction="20000"/>
          </a:bodyPr>
          <a:lstStyle/>
          <a:p>
            <a:r>
              <a:rPr lang="ru-RU" dirty="0"/>
              <a:t>Основные характеристики:</a:t>
            </a:r>
          </a:p>
          <a:p>
            <a:pPr lvl="1"/>
            <a:r>
              <a:rPr lang="ru-RU" dirty="0"/>
              <a:t>Пакеты передаются независимо, маршруты рассчитываются отдельно для каждого.</a:t>
            </a:r>
          </a:p>
          <a:p>
            <a:pPr lvl="1"/>
            <a:r>
              <a:rPr lang="ru-RU" dirty="0"/>
              <a:t>Не требуется предварительная настройка пути.</a:t>
            </a:r>
          </a:p>
          <a:p>
            <a:pPr lvl="1"/>
            <a:r>
              <a:rPr lang="ru-RU" dirty="0"/>
              <a:t>Пакеты называются дейтаграммами, сеть — </a:t>
            </a:r>
            <a:r>
              <a:rPr lang="ru-RU" dirty="0" err="1"/>
              <a:t>дейтаграммная</a:t>
            </a:r>
            <a:r>
              <a:rPr lang="ru-RU" dirty="0"/>
              <a:t>.</a:t>
            </a:r>
          </a:p>
          <a:p>
            <a:r>
              <a:rPr lang="ru-RU" dirty="0"/>
              <a:t>Принцип работы:</a:t>
            </a:r>
          </a:p>
          <a:p>
            <a:pPr lvl="1"/>
            <a:r>
              <a:rPr lang="ru-RU" dirty="0"/>
              <a:t>Длинное сообщение разбивается на пакеты.</a:t>
            </a:r>
          </a:p>
          <a:p>
            <a:pPr lvl="1"/>
            <a:r>
              <a:rPr lang="ru-RU" dirty="0"/>
              <a:t>Каждый пакет проходит маршрутизаторы по таблице маршрутизации.</a:t>
            </a:r>
          </a:p>
          <a:p>
            <a:pPr lvl="1"/>
            <a:r>
              <a:rPr lang="ru-RU" dirty="0"/>
              <a:t>Пакеты могут идти разными путями, чем обеспечивается гибкость сети.</a:t>
            </a:r>
          </a:p>
          <a:p>
            <a:r>
              <a:rPr lang="ru-RU" dirty="0"/>
              <a:t>Пример:</a:t>
            </a:r>
            <a:r>
              <a:rPr lang="en-US" dirty="0"/>
              <a:t> </a:t>
            </a:r>
            <a:r>
              <a:rPr lang="ru-RU" dirty="0"/>
              <a:t>IP — базовый протокол интернета: IPv4 (32 бита), IPv6 (128 бит).</a:t>
            </a:r>
          </a:p>
          <a:p>
            <a:endParaRPr lang="en-US" dirty="0"/>
          </a:p>
        </p:txBody>
      </p:sp>
      <p:pic>
        <p:nvPicPr>
          <p:cNvPr id="6" name="Content Placeholder 5" descr="A diagram of a diagram of a person&#10;&#10;AI-generated content may be incorrect.">
            <a:extLst>
              <a:ext uri="{FF2B5EF4-FFF2-40B4-BE49-F238E27FC236}">
                <a16:creationId xmlns:a16="http://schemas.microsoft.com/office/drawing/2014/main" id="{CCDA85E6-8C22-3B85-265E-992AE105B3B4}"/>
              </a:ext>
            </a:extLst>
          </p:cNvPr>
          <p:cNvPicPr>
            <a:picLocks noGrp="1" noChangeAspect="1"/>
          </p:cNvPicPr>
          <p:nvPr>
            <p:ph sz="half" idx="2"/>
          </p:nvPr>
        </p:nvPicPr>
        <p:blipFill>
          <a:blip r:embed="rId3"/>
          <a:stretch>
            <a:fillRect/>
          </a:stretch>
        </p:blipFill>
        <p:spPr>
          <a:xfrm>
            <a:off x="7331826" y="1825625"/>
            <a:ext cx="4620490" cy="3415144"/>
          </a:xfrm>
          <a:prstGeom prst="rect">
            <a:avLst/>
          </a:prstGeom>
        </p:spPr>
      </p:pic>
    </p:spTree>
    <p:extLst>
      <p:ext uri="{BB962C8B-B14F-4D97-AF65-F5344CB8AC3E}">
        <p14:creationId xmlns:p14="http://schemas.microsoft.com/office/powerpoint/2010/main" val="175693851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D38B0-6F83-3FA3-3A2F-2BE5390A5293}"/>
              </a:ext>
            </a:extLst>
          </p:cNvPr>
          <p:cNvSpPr>
            <a:spLocks noGrp="1"/>
          </p:cNvSpPr>
          <p:nvPr>
            <p:ph type="title"/>
          </p:nvPr>
        </p:nvSpPr>
        <p:spPr/>
        <p:txBody>
          <a:bodyPr/>
          <a:lstStyle/>
          <a:p>
            <a:r>
              <a:rPr lang="ru-RU" dirty="0"/>
              <a:t>Служба с установлением соединения</a:t>
            </a:r>
            <a:endParaRPr lang="en-US" dirty="0"/>
          </a:p>
        </p:txBody>
      </p:sp>
      <p:sp>
        <p:nvSpPr>
          <p:cNvPr id="3" name="Content Placeholder 2">
            <a:extLst>
              <a:ext uri="{FF2B5EF4-FFF2-40B4-BE49-F238E27FC236}">
                <a16:creationId xmlns:a16="http://schemas.microsoft.com/office/drawing/2014/main" id="{BB3D9C7E-CEC0-0F49-3E4F-C40A8126E4AD}"/>
              </a:ext>
            </a:extLst>
          </p:cNvPr>
          <p:cNvSpPr>
            <a:spLocks noGrp="1"/>
          </p:cNvSpPr>
          <p:nvPr>
            <p:ph sz="half" idx="1"/>
          </p:nvPr>
        </p:nvSpPr>
        <p:spPr>
          <a:xfrm>
            <a:off x="838199" y="1825625"/>
            <a:ext cx="6260869" cy="4351338"/>
          </a:xfrm>
        </p:spPr>
        <p:txBody>
          <a:bodyPr>
            <a:normAutofit fontScale="92500" lnSpcReduction="20000"/>
          </a:bodyPr>
          <a:lstStyle/>
          <a:p>
            <a:r>
              <a:rPr lang="ru-RU" dirty="0"/>
              <a:t>Основные характеристики:</a:t>
            </a:r>
          </a:p>
          <a:p>
            <a:pPr lvl="1"/>
            <a:r>
              <a:rPr lang="ru-RU" dirty="0"/>
              <a:t>Путь от источника до адресата выбирается при установлении соединения.</a:t>
            </a:r>
          </a:p>
          <a:p>
            <a:pPr lvl="1"/>
            <a:r>
              <a:rPr lang="ru-RU" dirty="0"/>
              <a:t>Один и тот же маршрут используется для всех пакетов соединения.</a:t>
            </a:r>
          </a:p>
          <a:p>
            <a:pPr lvl="1"/>
            <a:r>
              <a:rPr lang="ru-RU" dirty="0"/>
              <a:t>Каждый пакет включает идентификатор виртуального канала (VC ID).</a:t>
            </a:r>
          </a:p>
          <a:p>
            <a:pPr lvl="1"/>
            <a:r>
              <a:rPr lang="ru-RU" dirty="0"/>
              <a:t>Соединение разрывается — виртуальный канал прекращает существование.</a:t>
            </a:r>
          </a:p>
          <a:p>
            <a:r>
              <a:rPr lang="ru-RU" dirty="0"/>
              <a:t>Пример:</a:t>
            </a:r>
          </a:p>
          <a:p>
            <a:pPr lvl="1"/>
            <a:r>
              <a:rPr lang="ru-RU" dirty="0"/>
              <a:t>MPLS (</a:t>
            </a:r>
            <a:r>
              <a:rPr lang="ru-RU" dirty="0" err="1"/>
              <a:t>MultiProtocol</a:t>
            </a:r>
            <a:r>
              <a:rPr lang="ru-RU" dirty="0"/>
              <a:t> Label </a:t>
            </a:r>
            <a:r>
              <a:rPr lang="ru-RU" dirty="0" err="1"/>
              <a:t>Switching</a:t>
            </a:r>
            <a:r>
              <a:rPr lang="ru-RU" dirty="0"/>
              <a:t>) — IP-пакеты получают 20-битный VC ID.</a:t>
            </a:r>
          </a:p>
          <a:p>
            <a:pPr lvl="1"/>
            <a:r>
              <a:rPr lang="ru-RU" dirty="0"/>
              <a:t>Используется для гарантированного </a:t>
            </a:r>
            <a:r>
              <a:rPr lang="ru-RU" dirty="0" err="1"/>
              <a:t>QoS</a:t>
            </a:r>
            <a:r>
              <a:rPr lang="ru-RU" dirty="0"/>
              <a:t> и управления трафиком у провайдеров.</a:t>
            </a:r>
          </a:p>
          <a:p>
            <a:endParaRPr lang="en-US" dirty="0"/>
          </a:p>
        </p:txBody>
      </p:sp>
      <p:pic>
        <p:nvPicPr>
          <p:cNvPr id="6" name="Content Placeholder 5" descr="A diagram of a network&#10;&#10;AI-generated content may be incorrect.">
            <a:extLst>
              <a:ext uri="{FF2B5EF4-FFF2-40B4-BE49-F238E27FC236}">
                <a16:creationId xmlns:a16="http://schemas.microsoft.com/office/drawing/2014/main" id="{77C31FA4-0BF3-EE83-420D-C4D2E53B94AD}"/>
              </a:ext>
            </a:extLst>
          </p:cNvPr>
          <p:cNvPicPr>
            <a:picLocks noGrp="1" noChangeAspect="1"/>
          </p:cNvPicPr>
          <p:nvPr>
            <p:ph sz="half" idx="2"/>
          </p:nvPr>
        </p:nvPicPr>
        <p:blipFill>
          <a:blip r:embed="rId3"/>
          <a:stretch>
            <a:fillRect/>
          </a:stretch>
        </p:blipFill>
        <p:spPr>
          <a:xfrm>
            <a:off x="7265324" y="1825626"/>
            <a:ext cx="4653741" cy="3208001"/>
          </a:xfrm>
          <a:prstGeom prst="rect">
            <a:avLst/>
          </a:prstGeom>
        </p:spPr>
      </p:pic>
    </p:spTree>
    <p:extLst>
      <p:ext uri="{BB962C8B-B14F-4D97-AF65-F5344CB8AC3E}">
        <p14:creationId xmlns:p14="http://schemas.microsoft.com/office/powerpoint/2010/main" val="184211372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E1A3DD-B67C-BF9A-050E-CF26FFE7F4D2}"/>
              </a:ext>
            </a:extLst>
          </p:cNvPr>
          <p:cNvSpPr>
            <a:spLocks noGrp="1"/>
          </p:cNvSpPr>
          <p:nvPr>
            <p:ph type="title"/>
          </p:nvPr>
        </p:nvSpPr>
        <p:spPr/>
        <p:txBody>
          <a:bodyPr/>
          <a:lstStyle/>
          <a:p>
            <a:r>
              <a:rPr lang="ru-RU" dirty="0"/>
              <a:t>Дейтаграммы </a:t>
            </a:r>
            <a:r>
              <a:rPr lang="en-US" dirty="0"/>
              <a:t>vs </a:t>
            </a:r>
            <a:r>
              <a:rPr lang="ru-RU" dirty="0"/>
              <a:t>Виртуальные каналы</a:t>
            </a:r>
            <a:endParaRPr lang="en-US" dirty="0"/>
          </a:p>
        </p:txBody>
      </p:sp>
      <p:graphicFrame>
        <p:nvGraphicFramePr>
          <p:cNvPr id="8" name="Content Placeholder 7">
            <a:extLst>
              <a:ext uri="{FF2B5EF4-FFF2-40B4-BE49-F238E27FC236}">
                <a16:creationId xmlns:a16="http://schemas.microsoft.com/office/drawing/2014/main" id="{9FAA6C53-5E99-60AC-B980-F21878CBB9FC}"/>
              </a:ext>
            </a:extLst>
          </p:cNvPr>
          <p:cNvGraphicFramePr>
            <a:graphicFrameLocks noGrp="1"/>
          </p:cNvGraphicFramePr>
          <p:nvPr>
            <p:ph idx="1"/>
            <p:extLst>
              <p:ext uri="{D42A27DB-BD31-4B8C-83A1-F6EECF244321}">
                <p14:modId xmlns:p14="http://schemas.microsoft.com/office/powerpoint/2010/main" val="3366277898"/>
              </p:ext>
            </p:extLst>
          </p:nvPr>
        </p:nvGraphicFramePr>
        <p:xfrm>
          <a:off x="838200" y="1825625"/>
          <a:ext cx="10515597" cy="4490720"/>
        </p:xfrm>
        <a:graphic>
          <a:graphicData uri="http://schemas.openxmlformats.org/drawingml/2006/table">
            <a:tbl>
              <a:tblPr firstRow="1" bandRow="1">
                <a:tableStyleId>{5C22544A-7EE6-4342-B048-85BDC9FD1C3A}</a:tableStyleId>
              </a:tblPr>
              <a:tblGrid>
                <a:gridCol w="2220884">
                  <a:extLst>
                    <a:ext uri="{9D8B030D-6E8A-4147-A177-3AD203B41FA5}">
                      <a16:colId xmlns:a16="http://schemas.microsoft.com/office/drawing/2014/main" val="3106351871"/>
                    </a:ext>
                  </a:extLst>
                </a:gridCol>
                <a:gridCol w="2826327">
                  <a:extLst>
                    <a:ext uri="{9D8B030D-6E8A-4147-A177-3AD203B41FA5}">
                      <a16:colId xmlns:a16="http://schemas.microsoft.com/office/drawing/2014/main" val="4034455563"/>
                    </a:ext>
                  </a:extLst>
                </a:gridCol>
                <a:gridCol w="5468386">
                  <a:extLst>
                    <a:ext uri="{9D8B030D-6E8A-4147-A177-3AD203B41FA5}">
                      <a16:colId xmlns:a16="http://schemas.microsoft.com/office/drawing/2014/main" val="2816060169"/>
                    </a:ext>
                  </a:extLst>
                </a:gridCol>
              </a:tblGrid>
              <a:tr h="370840">
                <a:tc>
                  <a:txBody>
                    <a:bodyPr/>
                    <a:lstStyle/>
                    <a:p>
                      <a:r>
                        <a:rPr lang="ru-RU" sz="1500" dirty="0"/>
                        <a:t>Проблема</a:t>
                      </a:r>
                      <a:endParaRPr lang="en-US" sz="1500" dirty="0"/>
                    </a:p>
                  </a:txBody>
                  <a:tcPr/>
                </a:tc>
                <a:tc>
                  <a:txBody>
                    <a:bodyPr/>
                    <a:lstStyle/>
                    <a:p>
                      <a:r>
                        <a:rPr lang="ru-RU" sz="1500" dirty="0"/>
                        <a:t>Дейтаграммы</a:t>
                      </a:r>
                      <a:endParaRPr lang="en-US" sz="1500" dirty="0"/>
                    </a:p>
                  </a:txBody>
                  <a:tcPr/>
                </a:tc>
                <a:tc>
                  <a:txBody>
                    <a:bodyPr/>
                    <a:lstStyle/>
                    <a:p>
                      <a:r>
                        <a:rPr lang="ru-RU" sz="1500" dirty="0"/>
                        <a:t>Виртуальные каналы</a:t>
                      </a:r>
                      <a:endParaRPr lang="en-US" sz="1500" dirty="0"/>
                    </a:p>
                  </a:txBody>
                  <a:tcPr/>
                </a:tc>
                <a:extLst>
                  <a:ext uri="{0D108BD9-81ED-4DB2-BD59-A6C34878D82A}">
                    <a16:rowId xmlns:a16="http://schemas.microsoft.com/office/drawing/2014/main" val="2777464171"/>
                  </a:ext>
                </a:extLst>
              </a:tr>
              <a:tr h="370840">
                <a:tc>
                  <a:txBody>
                    <a:bodyPr/>
                    <a:lstStyle/>
                    <a:p>
                      <a:r>
                        <a:rPr lang="ru-RU" sz="1500" dirty="0"/>
                        <a:t>Установка канала</a:t>
                      </a:r>
                      <a:endParaRPr lang="en-US" sz="1500" dirty="0"/>
                    </a:p>
                  </a:txBody>
                  <a:tcPr/>
                </a:tc>
                <a:tc>
                  <a:txBody>
                    <a:bodyPr/>
                    <a:lstStyle/>
                    <a:p>
                      <a:r>
                        <a:rPr lang="ru-RU" sz="1500" dirty="0"/>
                        <a:t>Не требуется </a:t>
                      </a:r>
                      <a:endParaRPr lang="en-US" sz="1500" dirty="0"/>
                    </a:p>
                  </a:txBody>
                  <a:tcPr/>
                </a:tc>
                <a:tc>
                  <a:txBody>
                    <a:bodyPr/>
                    <a:lstStyle/>
                    <a:p>
                      <a:r>
                        <a:rPr lang="ru-RU" sz="1500" dirty="0"/>
                        <a:t>Требуется</a:t>
                      </a:r>
                      <a:endParaRPr lang="en-US" sz="1500" dirty="0"/>
                    </a:p>
                  </a:txBody>
                  <a:tcPr/>
                </a:tc>
                <a:extLst>
                  <a:ext uri="{0D108BD9-81ED-4DB2-BD59-A6C34878D82A}">
                    <a16:rowId xmlns:a16="http://schemas.microsoft.com/office/drawing/2014/main" val="2890779869"/>
                  </a:ext>
                </a:extLst>
              </a:tr>
              <a:tr h="370840">
                <a:tc>
                  <a:txBody>
                    <a:bodyPr/>
                    <a:lstStyle/>
                    <a:p>
                      <a:r>
                        <a:rPr lang="ru-RU" sz="1500" dirty="0"/>
                        <a:t>Адресация</a:t>
                      </a:r>
                      <a:endParaRPr lang="en-US" sz="1500" dirty="0"/>
                    </a:p>
                  </a:txBody>
                  <a:tcPr/>
                </a:tc>
                <a:tc>
                  <a:txBody>
                    <a:bodyPr/>
                    <a:lstStyle/>
                    <a:p>
                      <a:r>
                        <a:rPr lang="ru-RU" sz="1500" dirty="0"/>
                        <a:t>Каждый пакет содержит полный адрес отправителя и получателя</a:t>
                      </a:r>
                      <a:endParaRPr lang="en-US" sz="1500" dirty="0"/>
                    </a:p>
                  </a:txBody>
                  <a:tcPr/>
                </a:tc>
                <a:tc>
                  <a:txBody>
                    <a:bodyPr/>
                    <a:lstStyle/>
                    <a:p>
                      <a:r>
                        <a:rPr lang="ru-RU" sz="1500" dirty="0"/>
                        <a:t>Каждый пакет содержит короткий номер виртуального канала</a:t>
                      </a:r>
                      <a:endParaRPr lang="en-US" sz="1500" dirty="0"/>
                    </a:p>
                  </a:txBody>
                  <a:tcPr/>
                </a:tc>
                <a:extLst>
                  <a:ext uri="{0D108BD9-81ED-4DB2-BD59-A6C34878D82A}">
                    <a16:rowId xmlns:a16="http://schemas.microsoft.com/office/drawing/2014/main" val="2199012906"/>
                  </a:ext>
                </a:extLst>
              </a:tr>
              <a:tr h="370840">
                <a:tc>
                  <a:txBody>
                    <a:bodyPr/>
                    <a:lstStyle/>
                    <a:p>
                      <a:r>
                        <a:rPr lang="ru-RU" sz="1500" dirty="0"/>
                        <a:t>Информация о состоянии</a:t>
                      </a:r>
                      <a:endParaRPr lang="en-US" sz="1500" dirty="0"/>
                    </a:p>
                  </a:txBody>
                  <a:tcPr/>
                </a:tc>
                <a:tc>
                  <a:txBody>
                    <a:bodyPr/>
                    <a:lstStyle/>
                    <a:p>
                      <a:r>
                        <a:rPr lang="ru-RU" sz="1500" dirty="0"/>
                        <a:t>Маршрутизаторы не содержат информации о состоянии</a:t>
                      </a:r>
                      <a:endParaRPr lang="en-US" sz="1500" dirty="0"/>
                    </a:p>
                  </a:txBody>
                  <a:tcPr/>
                </a:tc>
                <a:tc>
                  <a:txBody>
                    <a:bodyPr/>
                    <a:lstStyle/>
                    <a:p>
                      <a:r>
                        <a:rPr lang="ru-RU" sz="1500" dirty="0"/>
                        <a:t>Каждый виртуальный канал требует места в таблице маршрутизатора</a:t>
                      </a:r>
                      <a:endParaRPr lang="en-US" sz="1500" dirty="0"/>
                    </a:p>
                  </a:txBody>
                  <a:tcPr/>
                </a:tc>
                <a:extLst>
                  <a:ext uri="{0D108BD9-81ED-4DB2-BD59-A6C34878D82A}">
                    <a16:rowId xmlns:a16="http://schemas.microsoft.com/office/drawing/2014/main" val="102988246"/>
                  </a:ext>
                </a:extLst>
              </a:tr>
              <a:tr h="370840">
                <a:tc>
                  <a:txBody>
                    <a:bodyPr/>
                    <a:lstStyle/>
                    <a:p>
                      <a:r>
                        <a:rPr lang="ru-RU" sz="1500" dirty="0"/>
                        <a:t>Маршрутизация</a:t>
                      </a:r>
                      <a:endParaRPr lang="en-US" sz="1500" dirty="0"/>
                    </a:p>
                  </a:txBody>
                  <a:tcPr/>
                </a:tc>
                <a:tc>
                  <a:txBody>
                    <a:bodyPr/>
                    <a:lstStyle/>
                    <a:p>
                      <a:r>
                        <a:rPr lang="ru-RU" sz="1500" dirty="0"/>
                        <a:t>Маршрут каждого пакета выбирается независимо</a:t>
                      </a:r>
                      <a:endParaRPr lang="en-US" sz="1500" dirty="0"/>
                    </a:p>
                  </a:txBody>
                  <a:tcPr/>
                </a:tc>
                <a:tc>
                  <a:txBody>
                    <a:bodyPr/>
                    <a:lstStyle/>
                    <a:p>
                      <a:r>
                        <a:rPr lang="ru-RU" sz="1500" dirty="0"/>
                        <a:t>Маршрут выбирается при установке виртуального канала. Каждый пакет следует по этому маршруту</a:t>
                      </a:r>
                      <a:endParaRPr lang="en-US" sz="1500" dirty="0"/>
                    </a:p>
                  </a:txBody>
                  <a:tcPr/>
                </a:tc>
                <a:extLst>
                  <a:ext uri="{0D108BD9-81ED-4DB2-BD59-A6C34878D82A}">
                    <a16:rowId xmlns:a16="http://schemas.microsoft.com/office/drawing/2014/main" val="4252272941"/>
                  </a:ext>
                </a:extLst>
              </a:tr>
              <a:tr h="370840">
                <a:tc>
                  <a:txBody>
                    <a:bodyPr/>
                    <a:lstStyle/>
                    <a:p>
                      <a:r>
                        <a:rPr lang="ru-RU" sz="1500" dirty="0"/>
                        <a:t>Эффект от выхода маршрутизатора из строя</a:t>
                      </a:r>
                      <a:endParaRPr lang="en-US" sz="1500" dirty="0"/>
                    </a:p>
                  </a:txBody>
                  <a:tcPr/>
                </a:tc>
                <a:tc>
                  <a:txBody>
                    <a:bodyPr/>
                    <a:lstStyle/>
                    <a:p>
                      <a:r>
                        <a:rPr lang="ru-RU" sz="1500" dirty="0"/>
                        <a:t>Никакого, кроме потерянных пакетов</a:t>
                      </a:r>
                      <a:endParaRPr lang="en-US" sz="1500" dirty="0"/>
                    </a:p>
                  </a:txBody>
                  <a:tcPr/>
                </a:tc>
                <a:tc>
                  <a:txBody>
                    <a:bodyPr/>
                    <a:lstStyle/>
                    <a:p>
                      <a:r>
                        <a:rPr lang="ru-RU" sz="1500" dirty="0"/>
                        <a:t>Все виртуальные каналы, проходившие через отказавший маршрутизатор, прекращают существование</a:t>
                      </a:r>
                      <a:endParaRPr lang="en-US" sz="1500" dirty="0"/>
                    </a:p>
                  </a:txBody>
                  <a:tcPr/>
                </a:tc>
                <a:extLst>
                  <a:ext uri="{0D108BD9-81ED-4DB2-BD59-A6C34878D82A}">
                    <a16:rowId xmlns:a16="http://schemas.microsoft.com/office/drawing/2014/main" val="2070141054"/>
                  </a:ext>
                </a:extLst>
              </a:tr>
              <a:tr h="370840">
                <a:tc>
                  <a:txBody>
                    <a:bodyPr/>
                    <a:lstStyle/>
                    <a:p>
                      <a:r>
                        <a:rPr lang="en-US" sz="1500" dirty="0"/>
                        <a:t>QoS</a:t>
                      </a:r>
                    </a:p>
                  </a:txBody>
                  <a:tcPr/>
                </a:tc>
                <a:tc>
                  <a:txBody>
                    <a:bodyPr/>
                    <a:lstStyle/>
                    <a:p>
                      <a:r>
                        <a:rPr lang="ru-RU" sz="1500" dirty="0"/>
                        <a:t>Трудно реализовать </a:t>
                      </a:r>
                      <a:endParaRPr lang="en-US" sz="1500" dirty="0"/>
                    </a:p>
                  </a:txBody>
                  <a:tcPr/>
                </a:tc>
                <a:tc>
                  <a:txBody>
                    <a:bodyPr/>
                    <a:lstStyle/>
                    <a:p>
                      <a:r>
                        <a:rPr lang="ru-RU" sz="1500" dirty="0"/>
                        <a:t>Легко реализуется при наличии достаточного количества ресурсов для каждого виртуального канала</a:t>
                      </a:r>
                      <a:endParaRPr lang="en-US" sz="1500" dirty="0"/>
                    </a:p>
                  </a:txBody>
                  <a:tcPr/>
                </a:tc>
                <a:extLst>
                  <a:ext uri="{0D108BD9-81ED-4DB2-BD59-A6C34878D82A}">
                    <a16:rowId xmlns:a16="http://schemas.microsoft.com/office/drawing/2014/main" val="319375738"/>
                  </a:ext>
                </a:extLst>
              </a:tr>
              <a:tr h="370840">
                <a:tc>
                  <a:txBody>
                    <a:bodyPr/>
                    <a:lstStyle/>
                    <a:p>
                      <a:r>
                        <a:rPr lang="ru-RU" sz="1500" dirty="0"/>
                        <a:t>Борьба с перегрузкой</a:t>
                      </a:r>
                      <a:endParaRPr lang="en-US" sz="1500" dirty="0"/>
                    </a:p>
                  </a:txBody>
                  <a:tcPr/>
                </a:tc>
                <a:tc>
                  <a:txBody>
                    <a:bodyPr/>
                    <a:lstStyle/>
                    <a:p>
                      <a:r>
                        <a:rPr lang="ru-RU" sz="1500" dirty="0"/>
                        <a:t>Трудно реализовать </a:t>
                      </a:r>
                      <a:endParaRPr lang="en-US" sz="1500" dirty="0"/>
                    </a:p>
                  </a:txBody>
                  <a:tcPr/>
                </a:tc>
                <a:tc>
                  <a:txBody>
                    <a:bodyPr/>
                    <a:lstStyle/>
                    <a:p>
                      <a:r>
                        <a:rPr lang="ru-RU" sz="1500" dirty="0"/>
                        <a:t>Легко реализуется при наличии достаточного количества ресурсов для каждого виртуального канала</a:t>
                      </a:r>
                      <a:endParaRPr lang="en-US" sz="1500" dirty="0"/>
                    </a:p>
                  </a:txBody>
                  <a:tcPr/>
                </a:tc>
                <a:extLst>
                  <a:ext uri="{0D108BD9-81ED-4DB2-BD59-A6C34878D82A}">
                    <a16:rowId xmlns:a16="http://schemas.microsoft.com/office/drawing/2014/main" val="3787981513"/>
                  </a:ext>
                </a:extLst>
              </a:tr>
            </a:tbl>
          </a:graphicData>
        </a:graphic>
      </p:graphicFrame>
    </p:spTree>
    <p:extLst>
      <p:ext uri="{BB962C8B-B14F-4D97-AF65-F5344CB8AC3E}">
        <p14:creationId xmlns:p14="http://schemas.microsoft.com/office/powerpoint/2010/main" val="218765050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B7A73E-93E1-9BD6-A11E-1DDADAFDA27C}"/>
              </a:ext>
            </a:extLst>
          </p:cNvPr>
          <p:cNvSpPr>
            <a:spLocks noGrp="1"/>
          </p:cNvSpPr>
          <p:nvPr>
            <p:ph type="title"/>
          </p:nvPr>
        </p:nvSpPr>
        <p:spPr/>
        <p:txBody>
          <a:bodyPr/>
          <a:lstStyle/>
          <a:p>
            <a:r>
              <a:rPr lang="ru-RU" dirty="0"/>
              <a:t>Алгоритмы маршрутизации в рамках одной сети</a:t>
            </a:r>
            <a:endParaRPr lang="en-US" dirty="0"/>
          </a:p>
        </p:txBody>
      </p:sp>
      <p:sp>
        <p:nvSpPr>
          <p:cNvPr id="5" name="Text Placeholder 4">
            <a:extLst>
              <a:ext uri="{FF2B5EF4-FFF2-40B4-BE49-F238E27FC236}">
                <a16:creationId xmlns:a16="http://schemas.microsoft.com/office/drawing/2014/main" id="{D2C201B0-02AB-6596-F360-78CEFB3638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3257545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F165D9-A8CC-8672-D3DE-9E5136A69FD3}"/>
              </a:ext>
            </a:extLst>
          </p:cNvPr>
          <p:cNvSpPr>
            <a:spLocks noGrp="1"/>
          </p:cNvSpPr>
          <p:nvPr>
            <p:ph type="title"/>
          </p:nvPr>
        </p:nvSpPr>
        <p:spPr/>
        <p:txBody>
          <a:bodyPr>
            <a:normAutofit/>
          </a:bodyPr>
          <a:lstStyle/>
          <a:p>
            <a:r>
              <a:rPr lang="ru-RU" dirty="0"/>
              <a:t>Маршрутизация внутри автономной системы (AS)</a:t>
            </a:r>
          </a:p>
        </p:txBody>
      </p:sp>
      <p:sp>
        <p:nvSpPr>
          <p:cNvPr id="5" name="Content Placeholder 4">
            <a:extLst>
              <a:ext uri="{FF2B5EF4-FFF2-40B4-BE49-F238E27FC236}">
                <a16:creationId xmlns:a16="http://schemas.microsoft.com/office/drawing/2014/main" id="{26399178-04E8-17DE-1A86-A2B0A4F7DC6F}"/>
              </a:ext>
            </a:extLst>
          </p:cNvPr>
          <p:cNvSpPr>
            <a:spLocks noGrp="1"/>
          </p:cNvSpPr>
          <p:nvPr>
            <p:ph sz="half" idx="1"/>
          </p:nvPr>
        </p:nvSpPr>
        <p:spPr>
          <a:xfrm>
            <a:off x="838199" y="1825625"/>
            <a:ext cx="6393873" cy="4351338"/>
          </a:xfrm>
        </p:spPr>
        <p:txBody>
          <a:bodyPr>
            <a:normAutofit fontScale="85000" lnSpcReduction="20000"/>
          </a:bodyPr>
          <a:lstStyle/>
          <a:p>
            <a:r>
              <a:rPr lang="ru-RU" dirty="0"/>
              <a:t>Внутри автономной системы сетевой уровень отвечает за доставку пакетов через несколько маршрутизаторов</a:t>
            </a:r>
          </a:p>
          <a:p>
            <a:r>
              <a:rPr lang="ru-RU" dirty="0"/>
              <a:t>Маршрутизация - это процесс принятия решения о том, по какому направлению отправить пакет дальше.</a:t>
            </a:r>
          </a:p>
          <a:p>
            <a:r>
              <a:rPr lang="ru-RU" dirty="0"/>
              <a:t>Маршрут может выбираться на пакет или на сеанс</a:t>
            </a:r>
          </a:p>
          <a:p>
            <a:r>
              <a:rPr lang="ru-RU" dirty="0"/>
              <a:t>Алгоритмы должны работать при сбоях и изменениях</a:t>
            </a:r>
          </a:p>
          <a:p>
            <a:r>
              <a:rPr lang="ru-RU" dirty="0"/>
              <a:t>Неизбежный компромисс между эффективностью и справедливостью</a:t>
            </a:r>
          </a:p>
          <a:p>
            <a:r>
              <a:rPr lang="ru-RU" dirty="0"/>
              <a:t>Статические и динамические подходы к маршрутизации</a:t>
            </a:r>
          </a:p>
        </p:txBody>
      </p:sp>
      <p:pic>
        <p:nvPicPr>
          <p:cNvPr id="8" name="Content Placeholder 7">
            <a:extLst>
              <a:ext uri="{FF2B5EF4-FFF2-40B4-BE49-F238E27FC236}">
                <a16:creationId xmlns:a16="http://schemas.microsoft.com/office/drawing/2014/main" id="{8BA71D39-B6C0-4E78-C8F7-15354E26E5A3}"/>
              </a:ext>
            </a:extLst>
          </p:cNvPr>
          <p:cNvPicPr>
            <a:picLocks noGrp="1" noChangeAspect="1"/>
          </p:cNvPicPr>
          <p:nvPr>
            <p:ph sz="half" idx="2"/>
          </p:nvPr>
        </p:nvPicPr>
        <p:blipFill>
          <a:blip r:embed="rId3"/>
          <a:stretch>
            <a:fillRect/>
          </a:stretch>
        </p:blipFill>
        <p:spPr>
          <a:xfrm>
            <a:off x="7365075" y="1830233"/>
            <a:ext cx="4686993" cy="1963823"/>
          </a:xfrm>
          <a:prstGeom prst="rect">
            <a:avLst/>
          </a:prstGeom>
        </p:spPr>
      </p:pic>
    </p:spTree>
    <p:extLst>
      <p:ext uri="{BB962C8B-B14F-4D97-AF65-F5344CB8AC3E}">
        <p14:creationId xmlns:p14="http://schemas.microsoft.com/office/powerpoint/2010/main" val="326739903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7300F1-7D30-9A1B-8045-BE25B6C63CC1}"/>
              </a:ext>
            </a:extLst>
          </p:cNvPr>
          <p:cNvSpPr>
            <a:spLocks noGrp="1"/>
          </p:cNvSpPr>
          <p:nvPr>
            <p:ph type="title"/>
          </p:nvPr>
        </p:nvSpPr>
        <p:spPr/>
        <p:txBody>
          <a:bodyPr/>
          <a:lstStyle/>
          <a:p>
            <a:r>
              <a:rPr lang="ru-RU" dirty="0"/>
              <a:t>Принцип оптимальности маршрутов</a:t>
            </a:r>
            <a:endParaRPr lang="en-US" dirty="0"/>
          </a:p>
        </p:txBody>
      </p:sp>
      <p:sp>
        <p:nvSpPr>
          <p:cNvPr id="6" name="Content Placeholder 5">
            <a:extLst>
              <a:ext uri="{FF2B5EF4-FFF2-40B4-BE49-F238E27FC236}">
                <a16:creationId xmlns:a16="http://schemas.microsoft.com/office/drawing/2014/main" id="{B2C31F2F-2B72-C66B-C40A-866CD66270AC}"/>
              </a:ext>
            </a:extLst>
          </p:cNvPr>
          <p:cNvSpPr>
            <a:spLocks noGrp="1"/>
          </p:cNvSpPr>
          <p:nvPr>
            <p:ph idx="1"/>
          </p:nvPr>
        </p:nvSpPr>
        <p:spPr/>
        <p:txBody>
          <a:bodyPr/>
          <a:lstStyle/>
          <a:p>
            <a:r>
              <a:rPr lang="ru-RU" dirty="0"/>
              <a:t>Принцип оптимальности Беллмана</a:t>
            </a:r>
          </a:p>
          <a:p>
            <a:pPr lvl="1"/>
            <a:r>
              <a:rPr lang="ru-RU" dirty="0"/>
              <a:t>Любой участок оптимального пути тоже оптимален</a:t>
            </a:r>
          </a:p>
          <a:p>
            <a:r>
              <a:rPr lang="ru-RU" dirty="0"/>
              <a:t>Входное дерево (</a:t>
            </a:r>
            <a:r>
              <a:rPr lang="ru-RU" dirty="0" err="1"/>
              <a:t>sink</a:t>
            </a:r>
            <a:r>
              <a:rPr lang="ru-RU" dirty="0"/>
              <a:t> </a:t>
            </a:r>
            <a:r>
              <a:rPr lang="ru-RU" dirty="0" err="1"/>
              <a:t>tree</a:t>
            </a:r>
            <a:r>
              <a:rPr lang="ru-RU" dirty="0"/>
              <a:t>) для одного получателя</a:t>
            </a:r>
          </a:p>
          <a:p>
            <a:pPr lvl="1"/>
            <a:r>
              <a:rPr lang="ru-RU" dirty="0"/>
              <a:t>Возможны несколько равных по длине деревьев → DAG без циклов</a:t>
            </a:r>
          </a:p>
          <a:p>
            <a:r>
              <a:rPr lang="ru-RU" dirty="0"/>
              <a:t>Алгоритмы маршрутизации стремятся к таким деревьям</a:t>
            </a:r>
          </a:p>
          <a:p>
            <a:r>
              <a:rPr lang="ru-RU" dirty="0"/>
              <a:t>На практике дерево — идеальная модель при меняющейся топологии</a:t>
            </a:r>
          </a:p>
          <a:p>
            <a:endParaRPr lang="en-US" dirty="0"/>
          </a:p>
        </p:txBody>
      </p:sp>
    </p:spTree>
    <p:extLst>
      <p:ext uri="{BB962C8B-B14F-4D97-AF65-F5344CB8AC3E}">
        <p14:creationId xmlns:p14="http://schemas.microsoft.com/office/powerpoint/2010/main" val="349197639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2944B-1F79-B5F9-08C3-95AE0DD2F60A}"/>
              </a:ext>
            </a:extLst>
          </p:cNvPr>
          <p:cNvSpPr>
            <a:spLocks noGrp="1"/>
          </p:cNvSpPr>
          <p:nvPr>
            <p:ph type="title"/>
          </p:nvPr>
        </p:nvSpPr>
        <p:spPr/>
        <p:txBody>
          <a:bodyPr/>
          <a:lstStyle/>
          <a:p>
            <a:r>
              <a:rPr lang="ru-RU" dirty="0"/>
              <a:t>Алгоритм поиска кратчайшего пути</a:t>
            </a:r>
            <a:endParaRPr lang="en-US" dirty="0"/>
          </a:p>
        </p:txBody>
      </p:sp>
      <p:sp>
        <p:nvSpPr>
          <p:cNvPr id="3" name="Content Placeholder 2">
            <a:extLst>
              <a:ext uri="{FF2B5EF4-FFF2-40B4-BE49-F238E27FC236}">
                <a16:creationId xmlns:a16="http://schemas.microsoft.com/office/drawing/2014/main" id="{DF322EB9-78BC-C497-349D-4C7E57A7C38F}"/>
              </a:ext>
            </a:extLst>
          </p:cNvPr>
          <p:cNvSpPr>
            <a:spLocks noGrp="1"/>
          </p:cNvSpPr>
          <p:nvPr>
            <p:ph sz="half" idx="1"/>
          </p:nvPr>
        </p:nvSpPr>
        <p:spPr>
          <a:xfrm>
            <a:off x="838199" y="1825625"/>
            <a:ext cx="6360623" cy="4351338"/>
          </a:xfrm>
        </p:spPr>
        <p:txBody>
          <a:bodyPr>
            <a:normAutofit fontScale="77500" lnSpcReduction="20000"/>
          </a:bodyPr>
          <a:lstStyle/>
          <a:p>
            <a:r>
              <a:rPr lang="ru-RU" dirty="0"/>
              <a:t>Представление сети в виде взвешенного графа</a:t>
            </a:r>
          </a:p>
          <a:p>
            <a:pPr lvl="1"/>
            <a:r>
              <a:rPr lang="ru-RU" dirty="0"/>
              <a:t>Маршрутизаторы – вершины, линии связи между ними – ребра.</a:t>
            </a:r>
          </a:p>
          <a:p>
            <a:r>
              <a:rPr lang="ru-RU" dirty="0"/>
              <a:t>Кратчайший путь определяется выбранной метрикой</a:t>
            </a:r>
          </a:p>
          <a:p>
            <a:pPr lvl="1"/>
            <a:r>
              <a:rPr lang="ru-RU" dirty="0"/>
              <a:t>Количество </a:t>
            </a:r>
            <a:r>
              <a:rPr lang="ru-RU" dirty="0" err="1"/>
              <a:t>хопов</a:t>
            </a:r>
            <a:r>
              <a:rPr lang="ru-RU" dirty="0"/>
              <a:t>, физическая длина линии, задержка, «цена»</a:t>
            </a:r>
          </a:p>
          <a:p>
            <a:pPr lvl="1"/>
            <a:r>
              <a:rPr lang="ru-RU" dirty="0"/>
              <a:t>Используются неотрицательные веса рёбер</a:t>
            </a:r>
          </a:p>
          <a:p>
            <a:r>
              <a:rPr lang="ru-RU" dirty="0"/>
              <a:t>Алгоритм </a:t>
            </a:r>
            <a:r>
              <a:rPr lang="ru-RU" dirty="0" err="1"/>
              <a:t>Дейкстры</a:t>
            </a:r>
            <a:r>
              <a:rPr lang="ru-RU" dirty="0"/>
              <a:t> работает с метками расстояний</a:t>
            </a:r>
          </a:p>
          <a:p>
            <a:r>
              <a:rPr lang="ru-RU" dirty="0"/>
              <a:t>На каждом шаге «замораживается» узел с минимальной меткой</a:t>
            </a:r>
          </a:p>
          <a:p>
            <a:r>
              <a:rPr lang="ru-RU" dirty="0"/>
              <a:t>Пересчёт меток соседей даёт оптимальные пути от источника ко всем узлам</a:t>
            </a:r>
          </a:p>
        </p:txBody>
      </p:sp>
      <p:pic>
        <p:nvPicPr>
          <p:cNvPr id="6" name="Content Placeholder 5">
            <a:extLst>
              <a:ext uri="{FF2B5EF4-FFF2-40B4-BE49-F238E27FC236}">
                <a16:creationId xmlns:a16="http://schemas.microsoft.com/office/drawing/2014/main" id="{A73C0F3B-3E9E-E651-7D81-1BAF9565FF55}"/>
              </a:ext>
            </a:extLst>
          </p:cNvPr>
          <p:cNvPicPr>
            <a:picLocks noGrp="1" noChangeAspect="1"/>
          </p:cNvPicPr>
          <p:nvPr>
            <p:ph sz="half" idx="2"/>
          </p:nvPr>
        </p:nvPicPr>
        <p:blipFill>
          <a:blip r:embed="rId3"/>
          <a:stretch>
            <a:fillRect/>
          </a:stretch>
        </p:blipFill>
        <p:spPr>
          <a:xfrm>
            <a:off x="7198821" y="1825625"/>
            <a:ext cx="4869873" cy="3931515"/>
          </a:xfrm>
          <a:prstGeom prst="rect">
            <a:avLst/>
          </a:prstGeom>
        </p:spPr>
      </p:pic>
    </p:spTree>
    <p:extLst>
      <p:ext uri="{BB962C8B-B14F-4D97-AF65-F5344CB8AC3E}">
        <p14:creationId xmlns:p14="http://schemas.microsoft.com/office/powerpoint/2010/main" val="195288173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8905A-C0B5-E165-38B0-1C01E0BB87B8}"/>
              </a:ext>
            </a:extLst>
          </p:cNvPr>
          <p:cNvSpPr>
            <a:spLocks noGrp="1"/>
          </p:cNvSpPr>
          <p:nvPr>
            <p:ph type="title"/>
          </p:nvPr>
        </p:nvSpPr>
        <p:spPr/>
        <p:txBody>
          <a:bodyPr/>
          <a:lstStyle/>
          <a:p>
            <a:r>
              <a:rPr lang="ru-RU" dirty="0"/>
              <a:t>Лавинная адресация (</a:t>
            </a:r>
            <a:r>
              <a:rPr lang="ru-RU" dirty="0" err="1"/>
              <a:t>flooding</a:t>
            </a:r>
            <a:r>
              <a:rPr lang="ru-RU" dirty="0"/>
              <a:t>)</a:t>
            </a:r>
            <a:endParaRPr lang="en-US" dirty="0"/>
          </a:p>
        </p:txBody>
      </p:sp>
      <p:sp>
        <p:nvSpPr>
          <p:cNvPr id="3" name="Content Placeholder 2">
            <a:extLst>
              <a:ext uri="{FF2B5EF4-FFF2-40B4-BE49-F238E27FC236}">
                <a16:creationId xmlns:a16="http://schemas.microsoft.com/office/drawing/2014/main" id="{2F818F40-2C23-383B-7AE2-F423ABC95103}"/>
              </a:ext>
            </a:extLst>
          </p:cNvPr>
          <p:cNvSpPr>
            <a:spLocks noGrp="1"/>
          </p:cNvSpPr>
          <p:nvPr>
            <p:ph idx="1"/>
          </p:nvPr>
        </p:nvSpPr>
        <p:spPr/>
        <p:txBody>
          <a:bodyPr>
            <a:normAutofit fontScale="92500"/>
          </a:bodyPr>
          <a:lstStyle/>
          <a:p>
            <a:r>
              <a:rPr lang="ru-RU" dirty="0"/>
              <a:t>Маршрутизатор пересылает пакет по всем исходящим линиям, кроме входной</a:t>
            </a:r>
          </a:p>
          <a:p>
            <a:r>
              <a:rPr lang="ru-RU" dirty="0"/>
              <a:t>Решения принимаются только по локальной информации</a:t>
            </a:r>
          </a:p>
          <a:p>
            <a:r>
              <a:rPr lang="ru-RU" dirty="0"/>
              <a:t>Без ограничений возникает лавинообразный рост дубликатов</a:t>
            </a:r>
          </a:p>
          <a:p>
            <a:r>
              <a:rPr lang="ru-RU" dirty="0"/>
              <a:t>Ограничение жизни пакета: счётчик переходов (TTL / </a:t>
            </a:r>
            <a:r>
              <a:rPr lang="ru-RU" dirty="0" err="1"/>
              <a:t>hop</a:t>
            </a:r>
            <a:r>
              <a:rPr lang="ru-RU" dirty="0"/>
              <a:t> </a:t>
            </a:r>
            <a:r>
              <a:rPr lang="ru-RU" dirty="0" err="1"/>
              <a:t>count</a:t>
            </a:r>
            <a:r>
              <a:rPr lang="ru-RU" dirty="0"/>
              <a:t>)</a:t>
            </a:r>
          </a:p>
          <a:p>
            <a:r>
              <a:rPr lang="ru-RU" dirty="0"/>
              <a:t>Фильтрация дубликатов по паре «источник + порядковый номер»</a:t>
            </a:r>
          </a:p>
          <a:p>
            <a:r>
              <a:rPr lang="ru-RU" dirty="0"/>
              <a:t>Гарантированная доставка до всех достижимых узлов</a:t>
            </a:r>
          </a:p>
          <a:p>
            <a:r>
              <a:rPr lang="ru-RU" dirty="0"/>
              <a:t>Полезна для широковещания, аварийных ситуаций и тестирования</a:t>
            </a:r>
          </a:p>
          <a:p>
            <a:endParaRPr lang="en-US" dirty="0"/>
          </a:p>
        </p:txBody>
      </p:sp>
    </p:spTree>
    <p:extLst>
      <p:ext uri="{BB962C8B-B14F-4D97-AF65-F5344CB8AC3E}">
        <p14:creationId xmlns:p14="http://schemas.microsoft.com/office/powerpoint/2010/main" val="367183661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DA1E2-D4AA-5DAF-72C8-CE4035B78078}"/>
              </a:ext>
            </a:extLst>
          </p:cNvPr>
          <p:cNvSpPr>
            <a:spLocks noGrp="1"/>
          </p:cNvSpPr>
          <p:nvPr>
            <p:ph type="title"/>
          </p:nvPr>
        </p:nvSpPr>
        <p:spPr/>
        <p:txBody>
          <a:bodyPr/>
          <a:lstStyle/>
          <a:p>
            <a:r>
              <a:rPr lang="ru-RU" dirty="0"/>
              <a:t>Маршрутизация по вектору расстояний</a:t>
            </a:r>
            <a:endParaRPr lang="en-US" dirty="0"/>
          </a:p>
        </p:txBody>
      </p:sp>
      <p:sp>
        <p:nvSpPr>
          <p:cNvPr id="3" name="Content Placeholder 2">
            <a:extLst>
              <a:ext uri="{FF2B5EF4-FFF2-40B4-BE49-F238E27FC236}">
                <a16:creationId xmlns:a16="http://schemas.microsoft.com/office/drawing/2014/main" id="{AB9615C8-24C4-551C-78B1-B5A4B69B61DC}"/>
              </a:ext>
            </a:extLst>
          </p:cNvPr>
          <p:cNvSpPr>
            <a:spLocks noGrp="1"/>
          </p:cNvSpPr>
          <p:nvPr>
            <p:ph sz="half" idx="1"/>
          </p:nvPr>
        </p:nvSpPr>
        <p:spPr>
          <a:xfrm>
            <a:off x="838199" y="1825625"/>
            <a:ext cx="6507192" cy="4351338"/>
          </a:xfrm>
        </p:spPr>
        <p:txBody>
          <a:bodyPr>
            <a:normAutofit fontScale="85000" lnSpcReduction="10000"/>
          </a:bodyPr>
          <a:lstStyle/>
          <a:p>
            <a:r>
              <a:rPr lang="ru-RU" dirty="0"/>
              <a:t>Динамический алгоритм, опирается на таблицы расстояний</a:t>
            </a:r>
          </a:p>
          <a:p>
            <a:r>
              <a:rPr lang="ru-RU" dirty="0"/>
              <a:t>В таблице: назначение, стоимость пути, следующий маршрутизатор</a:t>
            </a:r>
          </a:p>
          <a:p>
            <a:r>
              <a:rPr lang="ru-RU" dirty="0"/>
              <a:t>Стоимость до соседей известна (переходы или задержка)</a:t>
            </a:r>
          </a:p>
          <a:p>
            <a:r>
              <a:rPr lang="ru-RU" dirty="0"/>
              <a:t>Маршрутизаторы периодически обмениваются «векторами расстояний»</a:t>
            </a:r>
          </a:p>
          <a:p>
            <a:r>
              <a:rPr lang="ru-RU" dirty="0"/>
              <a:t>Каждый узел пересчитывает пути через всех соседей и выбирает минимальный</a:t>
            </a:r>
          </a:p>
          <a:p>
            <a:r>
              <a:rPr lang="ru-RU" dirty="0"/>
              <a:t>В результате сеть сходится к набору кратчайших путей для текущей топологии</a:t>
            </a:r>
          </a:p>
        </p:txBody>
      </p:sp>
      <p:pic>
        <p:nvPicPr>
          <p:cNvPr id="6" name="Content Placeholder 5">
            <a:extLst>
              <a:ext uri="{FF2B5EF4-FFF2-40B4-BE49-F238E27FC236}">
                <a16:creationId xmlns:a16="http://schemas.microsoft.com/office/drawing/2014/main" id="{F317901E-14B5-A8AB-4C23-FBD45C585531}"/>
              </a:ext>
            </a:extLst>
          </p:cNvPr>
          <p:cNvPicPr>
            <a:picLocks noGrp="1" noChangeAspect="1"/>
          </p:cNvPicPr>
          <p:nvPr>
            <p:ph sz="half" idx="2"/>
          </p:nvPr>
        </p:nvPicPr>
        <p:blipFill>
          <a:blip r:embed="rId3"/>
          <a:stretch>
            <a:fillRect/>
          </a:stretch>
        </p:blipFill>
        <p:spPr>
          <a:xfrm>
            <a:off x="7345391" y="1825626"/>
            <a:ext cx="4690052" cy="3743902"/>
          </a:xfrm>
          <a:prstGeom prst="rect">
            <a:avLst/>
          </a:prstGeom>
        </p:spPr>
      </p:pic>
    </p:spTree>
    <p:extLst>
      <p:ext uri="{BB962C8B-B14F-4D97-AF65-F5344CB8AC3E}">
        <p14:creationId xmlns:p14="http://schemas.microsoft.com/office/powerpoint/2010/main" val="180145749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F8E44-A50F-BC2C-EC5F-ABA742CCB543}"/>
              </a:ext>
            </a:extLst>
          </p:cNvPr>
          <p:cNvSpPr>
            <a:spLocks noGrp="1"/>
          </p:cNvSpPr>
          <p:nvPr>
            <p:ph type="title"/>
          </p:nvPr>
        </p:nvSpPr>
        <p:spPr/>
        <p:txBody>
          <a:bodyPr/>
          <a:lstStyle/>
          <a:p>
            <a:r>
              <a:rPr lang="ru-RU" dirty="0"/>
              <a:t>Проблема «счёта до бесконечности»</a:t>
            </a:r>
            <a:endParaRPr lang="en-US" dirty="0"/>
          </a:p>
        </p:txBody>
      </p:sp>
      <p:sp>
        <p:nvSpPr>
          <p:cNvPr id="3" name="Content Placeholder 2">
            <a:extLst>
              <a:ext uri="{FF2B5EF4-FFF2-40B4-BE49-F238E27FC236}">
                <a16:creationId xmlns:a16="http://schemas.microsoft.com/office/drawing/2014/main" id="{DF90E1AD-7844-91E4-B6C3-59CF347541B2}"/>
              </a:ext>
            </a:extLst>
          </p:cNvPr>
          <p:cNvSpPr>
            <a:spLocks noGrp="1"/>
          </p:cNvSpPr>
          <p:nvPr>
            <p:ph sz="half" idx="1"/>
          </p:nvPr>
        </p:nvSpPr>
        <p:spPr>
          <a:xfrm>
            <a:off x="838200" y="1825625"/>
            <a:ext cx="6229516" cy="4351338"/>
          </a:xfrm>
        </p:spPr>
        <p:txBody>
          <a:bodyPr>
            <a:normAutofit fontScale="92500" lnSpcReduction="20000"/>
          </a:bodyPr>
          <a:lstStyle/>
          <a:p>
            <a:r>
              <a:rPr lang="ru-RU" dirty="0"/>
              <a:t>«Хорошие новости» о сокращении путей распространяются очень быстро</a:t>
            </a:r>
          </a:p>
          <a:p>
            <a:r>
              <a:rPr lang="ru-RU" dirty="0"/>
              <a:t>«Плохие новости» о поломке узла или линии расходятся медленно</a:t>
            </a:r>
          </a:p>
          <a:p>
            <a:pPr lvl="1"/>
            <a:r>
              <a:rPr lang="ru-RU" dirty="0"/>
              <a:t>Узлы доверяют соседям и по шагам увеличивают оценку расстояния</a:t>
            </a:r>
          </a:p>
          <a:p>
            <a:pPr lvl="1"/>
            <a:r>
              <a:rPr lang="ru-RU" dirty="0"/>
              <a:t>При отказе маршрута оценка расстояния растёт на 1 за каждый обмен векторами</a:t>
            </a:r>
          </a:p>
          <a:p>
            <a:r>
              <a:rPr lang="ru-RU" dirty="0"/>
              <a:t>Приходится вводить конечное значение «бесконечности» (макс. длина пути + 1)</a:t>
            </a:r>
          </a:p>
          <a:p>
            <a:pPr lvl="1"/>
            <a:r>
              <a:rPr lang="ru-RU" dirty="0"/>
              <a:t>Эвристики (</a:t>
            </a:r>
            <a:r>
              <a:rPr lang="ru-RU" dirty="0" err="1"/>
              <a:t>split</a:t>
            </a:r>
            <a:r>
              <a:rPr lang="ru-RU" dirty="0"/>
              <a:t> </a:t>
            </a:r>
            <a:r>
              <a:rPr lang="ru-RU" dirty="0" err="1"/>
              <a:t>horizon</a:t>
            </a:r>
            <a:r>
              <a:rPr lang="ru-RU" dirty="0"/>
              <a:t>, </a:t>
            </a:r>
            <a:r>
              <a:rPr lang="ru-RU" dirty="0" err="1"/>
              <a:t>poisoned</a:t>
            </a:r>
            <a:r>
              <a:rPr lang="ru-RU" dirty="0"/>
              <a:t> </a:t>
            </a:r>
            <a:r>
              <a:rPr lang="ru-RU" dirty="0" err="1"/>
              <a:t>reverse</a:t>
            </a:r>
            <a:r>
              <a:rPr lang="ru-RU" dirty="0"/>
              <a:t>) лишь частично смягчают проблему</a:t>
            </a:r>
          </a:p>
          <a:p>
            <a:endParaRPr lang="en-US" dirty="0"/>
          </a:p>
        </p:txBody>
      </p:sp>
      <p:pic>
        <p:nvPicPr>
          <p:cNvPr id="6" name="Content Placeholder 5">
            <a:extLst>
              <a:ext uri="{FF2B5EF4-FFF2-40B4-BE49-F238E27FC236}">
                <a16:creationId xmlns:a16="http://schemas.microsoft.com/office/drawing/2014/main" id="{A73BE709-0D1A-0902-82BA-6E1187BCD978}"/>
              </a:ext>
            </a:extLst>
          </p:cNvPr>
          <p:cNvPicPr>
            <a:picLocks noGrp="1" noChangeAspect="1"/>
          </p:cNvPicPr>
          <p:nvPr>
            <p:ph sz="half" idx="2"/>
          </p:nvPr>
        </p:nvPicPr>
        <p:blipFill>
          <a:blip r:embed="rId3"/>
          <a:stretch>
            <a:fillRect/>
          </a:stretch>
        </p:blipFill>
        <p:spPr>
          <a:xfrm>
            <a:off x="7067716" y="1825626"/>
            <a:ext cx="4901225" cy="2280862"/>
          </a:xfrm>
          <a:prstGeom prst="rect">
            <a:avLst/>
          </a:prstGeom>
        </p:spPr>
      </p:pic>
    </p:spTree>
    <p:extLst>
      <p:ext uri="{BB962C8B-B14F-4D97-AF65-F5344CB8AC3E}">
        <p14:creationId xmlns:p14="http://schemas.microsoft.com/office/powerpoint/2010/main" val="424869347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9B85E9-3CCF-DCBB-E71A-B2D3842E2DFA}"/>
              </a:ext>
            </a:extLst>
          </p:cNvPr>
          <p:cNvSpPr>
            <a:spLocks noGrp="1"/>
          </p:cNvSpPr>
          <p:nvPr>
            <p:ph type="title"/>
          </p:nvPr>
        </p:nvSpPr>
        <p:spPr/>
        <p:txBody>
          <a:bodyPr/>
          <a:lstStyle/>
          <a:p>
            <a:r>
              <a:rPr lang="ru-RU" dirty="0"/>
              <a:t>Сетевой уровень интернета</a:t>
            </a:r>
            <a:endParaRPr lang="en-US" dirty="0"/>
          </a:p>
        </p:txBody>
      </p:sp>
      <p:sp>
        <p:nvSpPr>
          <p:cNvPr id="6" name="Text Placeholder 5">
            <a:extLst>
              <a:ext uri="{FF2B5EF4-FFF2-40B4-BE49-F238E27FC236}">
                <a16:creationId xmlns:a16="http://schemas.microsoft.com/office/drawing/2014/main" id="{2682243D-CB40-6C17-64D5-90CC95C065D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4363632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CAB220-4122-10FD-F642-C72CB733ED5C}"/>
              </a:ext>
            </a:extLst>
          </p:cNvPr>
          <p:cNvSpPr>
            <a:spLocks noGrp="1"/>
          </p:cNvSpPr>
          <p:nvPr>
            <p:ph type="title"/>
          </p:nvPr>
        </p:nvSpPr>
        <p:spPr/>
        <p:txBody>
          <a:bodyPr>
            <a:normAutofit/>
          </a:bodyPr>
          <a:lstStyle/>
          <a:p>
            <a:r>
              <a:rPr lang="ru-RU" dirty="0"/>
              <a:t>Принципы проектирования сетевого уровня Интернета</a:t>
            </a:r>
            <a:endParaRPr lang="en-US" dirty="0"/>
          </a:p>
        </p:txBody>
      </p:sp>
      <p:sp>
        <p:nvSpPr>
          <p:cNvPr id="5" name="Content Placeholder 4">
            <a:extLst>
              <a:ext uri="{FF2B5EF4-FFF2-40B4-BE49-F238E27FC236}">
                <a16:creationId xmlns:a16="http://schemas.microsoft.com/office/drawing/2014/main" id="{C578B5C5-3E98-7410-B4BC-62B681DF249A}"/>
              </a:ext>
            </a:extLst>
          </p:cNvPr>
          <p:cNvSpPr>
            <a:spLocks noGrp="1"/>
          </p:cNvSpPr>
          <p:nvPr>
            <p:ph idx="1"/>
          </p:nvPr>
        </p:nvSpPr>
        <p:spPr/>
        <p:txBody>
          <a:bodyPr>
            <a:normAutofit fontScale="92500" lnSpcReduction="10000"/>
          </a:bodyPr>
          <a:lstStyle/>
          <a:p>
            <a:r>
              <a:rPr lang="ru-RU" dirty="0"/>
              <a:t>Протокол считается готовым только после успешных взаимных тестов</a:t>
            </a:r>
          </a:p>
          <a:p>
            <a:r>
              <a:rPr lang="ru-RU" dirty="0"/>
              <a:t>Предпочтение простым решениям и одному способу реализации</a:t>
            </a:r>
          </a:p>
          <a:p>
            <a:r>
              <a:rPr lang="ru-RU" dirty="0"/>
              <a:t>Модульная архитектура стеков протоколов</a:t>
            </a:r>
          </a:p>
          <a:p>
            <a:r>
              <a:rPr lang="ru-RU" dirty="0"/>
              <a:t>Гибкость для разнородных сетей и настроек</a:t>
            </a:r>
          </a:p>
          <a:p>
            <a:r>
              <a:rPr lang="ru-RU" dirty="0"/>
              <a:t>Параметры по возможности согласуются, а не «зашиваются»</a:t>
            </a:r>
          </a:p>
          <a:p>
            <a:r>
              <a:rPr lang="ru-RU" dirty="0"/>
              <a:t>Баланс между эффективностью, справедливостью и «достаточно хорошо»</a:t>
            </a:r>
          </a:p>
          <a:p>
            <a:r>
              <a:rPr lang="ru-RU" dirty="0"/>
              <a:t>Строгие требования к выходящим пакетам, терпимость к входящим</a:t>
            </a:r>
          </a:p>
          <a:p>
            <a:r>
              <a:rPr lang="ru-RU" dirty="0"/>
              <a:t>Масштабируемость и приемлемая стоимость/производительность</a:t>
            </a:r>
          </a:p>
          <a:p>
            <a:endParaRPr lang="en-US" dirty="0"/>
          </a:p>
        </p:txBody>
      </p:sp>
    </p:spTree>
    <p:extLst>
      <p:ext uri="{BB962C8B-B14F-4D97-AF65-F5344CB8AC3E}">
        <p14:creationId xmlns:p14="http://schemas.microsoft.com/office/powerpoint/2010/main" val="233205898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3BBB24-23E8-BA51-D18E-FF33C0422CD0}"/>
              </a:ext>
            </a:extLst>
          </p:cNvPr>
          <p:cNvSpPr>
            <a:spLocks noGrp="1"/>
          </p:cNvSpPr>
          <p:nvPr>
            <p:ph type="title"/>
          </p:nvPr>
        </p:nvSpPr>
        <p:spPr/>
        <p:txBody>
          <a:bodyPr/>
          <a:lstStyle/>
          <a:p>
            <a:r>
              <a:rPr lang="ru-RU" dirty="0"/>
              <a:t>Интернет как набор сетей и роль IP</a:t>
            </a:r>
            <a:endParaRPr lang="en-US" dirty="0"/>
          </a:p>
        </p:txBody>
      </p:sp>
      <p:sp>
        <p:nvSpPr>
          <p:cNvPr id="5" name="Content Placeholder 4">
            <a:extLst>
              <a:ext uri="{FF2B5EF4-FFF2-40B4-BE49-F238E27FC236}">
                <a16:creationId xmlns:a16="http://schemas.microsoft.com/office/drawing/2014/main" id="{74FFADD5-D707-CB6C-C658-2FD5FF41C5B1}"/>
              </a:ext>
            </a:extLst>
          </p:cNvPr>
          <p:cNvSpPr>
            <a:spLocks noGrp="1"/>
          </p:cNvSpPr>
          <p:nvPr>
            <p:ph sz="half" idx="1"/>
          </p:nvPr>
        </p:nvSpPr>
        <p:spPr>
          <a:xfrm>
            <a:off x="838199" y="1825625"/>
            <a:ext cx="6210993" cy="4351338"/>
          </a:xfrm>
        </p:spPr>
        <p:txBody>
          <a:bodyPr>
            <a:normAutofit fontScale="85000" lnSpcReduction="20000"/>
          </a:bodyPr>
          <a:lstStyle/>
          <a:p>
            <a:r>
              <a:rPr lang="ru-RU" dirty="0"/>
              <a:t>Интернет = множество соединённых автономных систем</a:t>
            </a:r>
          </a:p>
          <a:p>
            <a:pPr lvl="1"/>
            <a:r>
              <a:rPr lang="ru-RU" dirty="0"/>
              <a:t>Магистрали </a:t>
            </a:r>
            <a:r>
              <a:rPr lang="ru-RU" dirty="0" err="1"/>
              <a:t>Tier</a:t>
            </a:r>
            <a:r>
              <a:rPr lang="ru-RU" dirty="0"/>
              <a:t> 1, региональные сети, провайдеры, периферия</a:t>
            </a:r>
          </a:p>
          <a:p>
            <a:r>
              <a:rPr lang="ru-RU" dirty="0"/>
              <a:t>Центры обработки данных переносят основную часть трафика</a:t>
            </a:r>
          </a:p>
          <a:p>
            <a:r>
              <a:rPr lang="ru-RU" dirty="0"/>
              <a:t>IP обеспечивает межсетевой обмен по схеме </a:t>
            </a:r>
            <a:r>
              <a:rPr lang="ru-RU" dirty="0" err="1"/>
              <a:t>best</a:t>
            </a:r>
            <a:r>
              <a:rPr lang="ru-RU" dirty="0"/>
              <a:t> </a:t>
            </a:r>
            <a:r>
              <a:rPr lang="ru-RU" dirty="0" err="1"/>
              <a:t>effort</a:t>
            </a:r>
            <a:endParaRPr lang="ru-RU" dirty="0"/>
          </a:p>
          <a:p>
            <a:r>
              <a:rPr lang="ru-RU" dirty="0"/>
              <a:t>Транспортный уровень режет поток на IP-пакеты</a:t>
            </a:r>
          </a:p>
          <a:p>
            <a:r>
              <a:rPr lang="ru-RU" dirty="0"/>
              <a:t>Пакеты проходят через несколько сетей и маршрутизаторов</a:t>
            </a:r>
          </a:p>
          <a:p>
            <a:r>
              <a:rPr lang="ru-RU" dirty="0"/>
              <a:t>Избыточная связность и выбор маршрута остаются задачей IP</a:t>
            </a:r>
          </a:p>
          <a:p>
            <a:endParaRPr lang="en-US" dirty="0"/>
          </a:p>
        </p:txBody>
      </p:sp>
      <p:pic>
        <p:nvPicPr>
          <p:cNvPr id="8" name="Content Placeholder 7">
            <a:extLst>
              <a:ext uri="{FF2B5EF4-FFF2-40B4-BE49-F238E27FC236}">
                <a16:creationId xmlns:a16="http://schemas.microsoft.com/office/drawing/2014/main" id="{25D26669-61DB-8F9D-BE4E-90FA2AB14DBA}"/>
              </a:ext>
            </a:extLst>
          </p:cNvPr>
          <p:cNvPicPr>
            <a:picLocks noGrp="1" noChangeAspect="1"/>
          </p:cNvPicPr>
          <p:nvPr>
            <p:ph sz="half" idx="2"/>
          </p:nvPr>
        </p:nvPicPr>
        <p:blipFill>
          <a:blip r:embed="rId3"/>
          <a:stretch>
            <a:fillRect/>
          </a:stretch>
        </p:blipFill>
        <p:spPr>
          <a:xfrm>
            <a:off x="7215446" y="1825625"/>
            <a:ext cx="4853247" cy="3197383"/>
          </a:xfrm>
          <a:prstGeom prst="rect">
            <a:avLst/>
          </a:prstGeom>
        </p:spPr>
      </p:pic>
    </p:spTree>
    <p:extLst>
      <p:ext uri="{BB962C8B-B14F-4D97-AF65-F5344CB8AC3E}">
        <p14:creationId xmlns:p14="http://schemas.microsoft.com/office/powerpoint/2010/main" val="280040822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73D9E-1C78-E54C-6045-57D925CFE22C}"/>
              </a:ext>
            </a:extLst>
          </p:cNvPr>
          <p:cNvSpPr>
            <a:spLocks noGrp="1"/>
          </p:cNvSpPr>
          <p:nvPr>
            <p:ph type="title"/>
          </p:nvPr>
        </p:nvSpPr>
        <p:spPr/>
        <p:txBody>
          <a:bodyPr/>
          <a:lstStyle/>
          <a:p>
            <a:r>
              <a:rPr lang="ru-RU" dirty="0"/>
              <a:t>Формат заголовка IPv4 и основные поля</a:t>
            </a:r>
            <a:endParaRPr lang="en-US" dirty="0"/>
          </a:p>
        </p:txBody>
      </p:sp>
      <p:sp>
        <p:nvSpPr>
          <p:cNvPr id="3" name="Content Placeholder 2">
            <a:extLst>
              <a:ext uri="{FF2B5EF4-FFF2-40B4-BE49-F238E27FC236}">
                <a16:creationId xmlns:a16="http://schemas.microsoft.com/office/drawing/2014/main" id="{24D5CD10-B2E7-2BE8-7FF2-F3C19B5F95B9}"/>
              </a:ext>
            </a:extLst>
          </p:cNvPr>
          <p:cNvSpPr>
            <a:spLocks noGrp="1"/>
          </p:cNvSpPr>
          <p:nvPr>
            <p:ph sz="half" idx="1"/>
          </p:nvPr>
        </p:nvSpPr>
        <p:spPr>
          <a:xfrm>
            <a:off x="838200" y="1825625"/>
            <a:ext cx="6011487" cy="4351338"/>
          </a:xfrm>
        </p:spPr>
        <p:txBody>
          <a:bodyPr>
            <a:normAutofit fontScale="70000" lnSpcReduction="20000"/>
          </a:bodyPr>
          <a:lstStyle/>
          <a:p>
            <a:r>
              <a:rPr lang="ru-RU" dirty="0"/>
              <a:t>Заголовок: минимум 20 байт, максимум 60 с опциями</a:t>
            </a:r>
          </a:p>
          <a:p>
            <a:pPr lvl="1"/>
            <a:r>
              <a:rPr lang="ru-RU" dirty="0"/>
              <a:t>Все поля передаются в сетевом порядке байтов (</a:t>
            </a:r>
            <a:r>
              <a:rPr lang="ru-RU" dirty="0" err="1"/>
              <a:t>big-endian</a:t>
            </a:r>
            <a:r>
              <a:rPr lang="ru-RU" dirty="0"/>
              <a:t>)</a:t>
            </a:r>
          </a:p>
          <a:p>
            <a:r>
              <a:rPr lang="ru-RU" dirty="0" err="1"/>
              <a:t>Version</a:t>
            </a:r>
            <a:r>
              <a:rPr lang="ru-RU" dirty="0"/>
              <a:t> отличает IPv4 от других версий IP</a:t>
            </a:r>
          </a:p>
          <a:p>
            <a:r>
              <a:rPr lang="ru-RU" dirty="0"/>
              <a:t>IHL задаёт длину заголовка в 32-битных словах</a:t>
            </a:r>
          </a:p>
          <a:p>
            <a:r>
              <a:rPr lang="ru-RU" dirty="0"/>
              <a:t>DS (ранее Type </a:t>
            </a:r>
            <a:r>
              <a:rPr lang="ru-RU" dirty="0" err="1"/>
              <a:t>of</a:t>
            </a:r>
            <a:r>
              <a:rPr lang="ru-RU" dirty="0"/>
              <a:t> Service) кодирует класс обслуживания и ECN</a:t>
            </a:r>
          </a:p>
          <a:p>
            <a:r>
              <a:rPr lang="ru-RU" dirty="0"/>
              <a:t>Total </a:t>
            </a:r>
            <a:r>
              <a:rPr lang="ru-RU" dirty="0" err="1"/>
              <a:t>length</a:t>
            </a:r>
            <a:r>
              <a:rPr lang="ru-RU" dirty="0"/>
              <a:t> задаёт полный размер дейтаграммы до 65 535 байт</a:t>
            </a:r>
          </a:p>
          <a:p>
            <a:r>
              <a:rPr lang="ru-RU" dirty="0"/>
              <a:t>Protocol указывает, какому протоколу (TCP, UDP и др.) отдать данные</a:t>
            </a:r>
          </a:p>
          <a:p>
            <a:r>
              <a:rPr lang="ru-RU" dirty="0" err="1"/>
              <a:t>Header</a:t>
            </a:r>
            <a:r>
              <a:rPr lang="ru-RU" dirty="0"/>
              <a:t> </a:t>
            </a:r>
            <a:r>
              <a:rPr lang="ru-RU" dirty="0" err="1"/>
              <a:t>checksum</a:t>
            </a:r>
            <a:r>
              <a:rPr lang="ru-RU" dirty="0"/>
              <a:t> защищает заголовок от ошибок при передаче</a:t>
            </a:r>
          </a:p>
          <a:p>
            <a:endParaRPr lang="en-US" dirty="0"/>
          </a:p>
        </p:txBody>
      </p:sp>
      <p:pic>
        <p:nvPicPr>
          <p:cNvPr id="6" name="Content Placeholder 5">
            <a:extLst>
              <a:ext uri="{FF2B5EF4-FFF2-40B4-BE49-F238E27FC236}">
                <a16:creationId xmlns:a16="http://schemas.microsoft.com/office/drawing/2014/main" id="{FD9491A4-9618-708B-2461-B6D1ECDAB713}"/>
              </a:ext>
            </a:extLst>
          </p:cNvPr>
          <p:cNvPicPr>
            <a:picLocks noGrp="1" noChangeAspect="1"/>
          </p:cNvPicPr>
          <p:nvPr>
            <p:ph sz="half" idx="2"/>
          </p:nvPr>
        </p:nvPicPr>
        <p:blipFill>
          <a:blip r:embed="rId3"/>
          <a:stretch>
            <a:fillRect/>
          </a:stretch>
        </p:blipFill>
        <p:spPr>
          <a:xfrm>
            <a:off x="7010400" y="1825625"/>
            <a:ext cx="5181600" cy="2513555"/>
          </a:xfrm>
          <a:prstGeom prst="rect">
            <a:avLst/>
          </a:prstGeom>
        </p:spPr>
      </p:pic>
    </p:spTree>
    <p:extLst>
      <p:ext uri="{BB962C8B-B14F-4D97-AF65-F5344CB8AC3E}">
        <p14:creationId xmlns:p14="http://schemas.microsoft.com/office/powerpoint/2010/main" val="63115891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FAEBF-22AF-E236-6398-CC749B2FE57F}"/>
              </a:ext>
            </a:extLst>
          </p:cNvPr>
          <p:cNvSpPr>
            <a:spLocks noGrp="1"/>
          </p:cNvSpPr>
          <p:nvPr>
            <p:ph type="title"/>
          </p:nvPr>
        </p:nvSpPr>
        <p:spPr/>
        <p:txBody>
          <a:bodyPr>
            <a:normAutofit/>
          </a:bodyPr>
          <a:lstStyle/>
          <a:p>
            <a:r>
              <a:rPr lang="ru-RU" dirty="0"/>
              <a:t>Фрагментация, срок жизни, адреса и опции</a:t>
            </a:r>
            <a:endParaRPr lang="en-US" dirty="0"/>
          </a:p>
        </p:txBody>
      </p:sp>
      <p:sp>
        <p:nvSpPr>
          <p:cNvPr id="3" name="Content Placeholder 2">
            <a:extLst>
              <a:ext uri="{FF2B5EF4-FFF2-40B4-BE49-F238E27FC236}">
                <a16:creationId xmlns:a16="http://schemas.microsoft.com/office/drawing/2014/main" id="{BBCCF95A-3F19-8B8F-C84B-E26BEDCF0ED4}"/>
              </a:ext>
            </a:extLst>
          </p:cNvPr>
          <p:cNvSpPr>
            <a:spLocks noGrp="1"/>
          </p:cNvSpPr>
          <p:nvPr>
            <p:ph sz="half" idx="1"/>
          </p:nvPr>
        </p:nvSpPr>
        <p:spPr>
          <a:xfrm>
            <a:off x="838200" y="1825625"/>
            <a:ext cx="5969000" cy="4351338"/>
          </a:xfrm>
        </p:spPr>
        <p:txBody>
          <a:bodyPr>
            <a:normAutofit fontScale="77500" lnSpcReduction="20000"/>
          </a:bodyPr>
          <a:lstStyle/>
          <a:p>
            <a:r>
              <a:rPr lang="ru-RU" dirty="0" err="1"/>
              <a:t>Identification</a:t>
            </a:r>
            <a:r>
              <a:rPr lang="ru-RU" dirty="0"/>
              <a:t> помечает фрагменты одного исходного пакета</a:t>
            </a:r>
          </a:p>
          <a:p>
            <a:r>
              <a:rPr lang="ru-RU" dirty="0"/>
              <a:t>DF/MF и </a:t>
            </a:r>
            <a:r>
              <a:rPr lang="ru-RU" dirty="0" err="1"/>
              <a:t>Fragment</a:t>
            </a:r>
            <a:r>
              <a:rPr lang="ru-RU" dirty="0"/>
              <a:t> </a:t>
            </a:r>
            <a:r>
              <a:rPr lang="ru-RU" dirty="0" err="1"/>
              <a:t>offset</a:t>
            </a:r>
            <a:r>
              <a:rPr lang="ru-RU" dirty="0"/>
              <a:t> управляют фрагментацией и сборкой</a:t>
            </a:r>
          </a:p>
          <a:p>
            <a:r>
              <a:rPr lang="ru-RU" dirty="0"/>
              <a:t>TTL </a:t>
            </a:r>
            <a:r>
              <a:rPr lang="ru-RU" dirty="0" err="1"/>
              <a:t>уменьшаетcя</a:t>
            </a:r>
            <a:r>
              <a:rPr lang="ru-RU" dirty="0"/>
              <a:t> на каждом переходе и ограничивает «жизнь» пакета</a:t>
            </a:r>
          </a:p>
          <a:p>
            <a:r>
              <a:rPr lang="ru-RU" dirty="0"/>
              <a:t>Source/</a:t>
            </a:r>
            <a:r>
              <a:rPr lang="ru-RU" dirty="0" err="1"/>
              <a:t>Destination</a:t>
            </a:r>
            <a:r>
              <a:rPr lang="ru-RU" dirty="0"/>
              <a:t> содержат 32-битные IPv4-адреса интерфейсов</a:t>
            </a:r>
          </a:p>
          <a:p>
            <a:r>
              <a:rPr lang="ru-RU" dirty="0"/>
              <a:t>Поле </a:t>
            </a:r>
            <a:r>
              <a:rPr lang="ru-RU" dirty="0" err="1"/>
              <a:t>Options</a:t>
            </a:r>
            <a:r>
              <a:rPr lang="ru-RU" dirty="0"/>
              <a:t> даёт место для редких и экспериментальных функций</a:t>
            </a:r>
          </a:p>
          <a:p>
            <a:r>
              <a:rPr lang="ru-RU" dirty="0"/>
              <a:t>Примеры опций: </a:t>
            </a:r>
            <a:r>
              <a:rPr lang="ru-RU" dirty="0" err="1"/>
              <a:t>source</a:t>
            </a:r>
            <a:r>
              <a:rPr lang="ru-RU" dirty="0"/>
              <a:t> </a:t>
            </a:r>
            <a:r>
              <a:rPr lang="ru-RU" dirty="0" err="1"/>
              <a:t>routing</a:t>
            </a:r>
            <a:r>
              <a:rPr lang="ru-RU" dirty="0"/>
              <a:t>, </a:t>
            </a:r>
            <a:r>
              <a:rPr lang="ru-RU" dirty="0" err="1"/>
              <a:t>Record</a:t>
            </a:r>
            <a:r>
              <a:rPr lang="ru-RU" dirty="0"/>
              <a:t> </a:t>
            </a:r>
            <a:r>
              <a:rPr lang="ru-RU" dirty="0" err="1"/>
              <a:t>route</a:t>
            </a:r>
            <a:r>
              <a:rPr lang="ru-RU" dirty="0"/>
              <a:t>, </a:t>
            </a:r>
            <a:r>
              <a:rPr lang="ru-RU" dirty="0" err="1"/>
              <a:t>Timestamp</a:t>
            </a:r>
            <a:endParaRPr lang="ru-RU" dirty="0"/>
          </a:p>
          <a:p>
            <a:r>
              <a:rPr lang="ru-RU" dirty="0"/>
              <a:t>Опции мало используются и часто обрабатываются «на медленной тропе»</a:t>
            </a:r>
          </a:p>
          <a:p>
            <a:endParaRPr lang="en-US" dirty="0"/>
          </a:p>
        </p:txBody>
      </p:sp>
      <p:pic>
        <p:nvPicPr>
          <p:cNvPr id="5" name="Content Placeholder 5">
            <a:extLst>
              <a:ext uri="{FF2B5EF4-FFF2-40B4-BE49-F238E27FC236}">
                <a16:creationId xmlns:a16="http://schemas.microsoft.com/office/drawing/2014/main" id="{6CB2648D-2605-8B5A-5AB4-52BEBADC3B8F}"/>
              </a:ext>
            </a:extLst>
          </p:cNvPr>
          <p:cNvPicPr>
            <a:picLocks noGrp="1" noChangeAspect="1"/>
          </p:cNvPicPr>
          <p:nvPr>
            <p:ph sz="half" idx="2"/>
          </p:nvPr>
        </p:nvPicPr>
        <p:blipFill>
          <a:blip r:embed="rId3"/>
          <a:stretch>
            <a:fillRect/>
          </a:stretch>
        </p:blipFill>
        <p:spPr>
          <a:xfrm>
            <a:off x="7010400" y="1825625"/>
            <a:ext cx="5181600" cy="2513555"/>
          </a:xfrm>
          <a:prstGeom prst="rect">
            <a:avLst/>
          </a:prstGeom>
        </p:spPr>
      </p:pic>
    </p:spTree>
    <p:extLst>
      <p:ext uri="{BB962C8B-B14F-4D97-AF65-F5344CB8AC3E}">
        <p14:creationId xmlns:p14="http://schemas.microsoft.com/office/powerpoint/2010/main" val="371063654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5DF53-DF98-3E7A-6805-D3825BE21088}"/>
              </a:ext>
            </a:extLst>
          </p:cNvPr>
          <p:cNvSpPr>
            <a:spLocks noGrp="1"/>
          </p:cNvSpPr>
          <p:nvPr>
            <p:ph type="title"/>
          </p:nvPr>
        </p:nvSpPr>
        <p:spPr/>
        <p:txBody>
          <a:bodyPr/>
          <a:lstStyle/>
          <a:p>
            <a:r>
              <a:rPr lang="ru-RU" dirty="0"/>
              <a:t>IPv4-адреса и префиксы</a:t>
            </a:r>
            <a:endParaRPr lang="en-US" dirty="0"/>
          </a:p>
        </p:txBody>
      </p:sp>
      <p:sp>
        <p:nvSpPr>
          <p:cNvPr id="3" name="Content Placeholder 2">
            <a:extLst>
              <a:ext uri="{FF2B5EF4-FFF2-40B4-BE49-F238E27FC236}">
                <a16:creationId xmlns:a16="http://schemas.microsoft.com/office/drawing/2014/main" id="{B194C9B6-0094-D5AC-40EC-9793ED6AC5F2}"/>
              </a:ext>
            </a:extLst>
          </p:cNvPr>
          <p:cNvSpPr>
            <a:spLocks noGrp="1"/>
          </p:cNvSpPr>
          <p:nvPr>
            <p:ph sz="half" idx="1"/>
          </p:nvPr>
        </p:nvSpPr>
        <p:spPr>
          <a:xfrm>
            <a:off x="838200" y="1825625"/>
            <a:ext cx="6648450" cy="4351338"/>
          </a:xfrm>
        </p:spPr>
        <p:txBody>
          <a:bodyPr>
            <a:normAutofit fontScale="85000" lnSpcReduction="20000"/>
          </a:bodyPr>
          <a:lstStyle/>
          <a:p>
            <a:r>
              <a:rPr lang="ru-RU" dirty="0"/>
              <a:t>IPv4-адрес — 32 бита и принадлежит интерфейсу, а не «хосту вообще»</a:t>
            </a:r>
          </a:p>
          <a:p>
            <a:pPr lvl="1"/>
            <a:r>
              <a:rPr lang="ru-RU" dirty="0"/>
              <a:t>Хост с несколькими интерфейсами имеет несколько IP-адресов</a:t>
            </a:r>
          </a:p>
          <a:p>
            <a:r>
              <a:rPr lang="ru-RU" dirty="0"/>
              <a:t>Адрес делится на сетевую часть (префикс) и часть хоста</a:t>
            </a:r>
          </a:p>
          <a:p>
            <a:pPr lvl="1"/>
            <a:r>
              <a:rPr lang="ru-RU" dirty="0"/>
              <a:t>Запись: </a:t>
            </a:r>
            <a:r>
              <a:rPr lang="ru-RU" dirty="0" err="1"/>
              <a:t>dotted</a:t>
            </a:r>
            <a:r>
              <a:rPr lang="ru-RU" dirty="0"/>
              <a:t> </a:t>
            </a:r>
            <a:r>
              <a:rPr lang="ru-RU" dirty="0" err="1"/>
              <a:t>decimal</a:t>
            </a:r>
            <a:r>
              <a:rPr lang="ru-RU" dirty="0"/>
              <a:t> + длина префикса, например 128.208.2.0/24</a:t>
            </a:r>
          </a:p>
          <a:p>
            <a:pPr lvl="1"/>
            <a:r>
              <a:rPr lang="ru-RU" dirty="0"/>
              <a:t>Маска подсети (например 255.255.255.0) выделяет сетевую часть</a:t>
            </a:r>
          </a:p>
          <a:p>
            <a:pPr lvl="1"/>
            <a:r>
              <a:rPr lang="ru-RU" dirty="0"/>
              <a:t>Маршрутизаторы принимают решения, опираясь на префиксы, а не на полный адрес</a:t>
            </a:r>
          </a:p>
          <a:p>
            <a:r>
              <a:rPr lang="ru-RU" dirty="0"/>
              <a:t>Плюсы и минусы иерархии: небольшие таблицы, но привязка адреса к месту и риск расточительного выделения</a:t>
            </a:r>
          </a:p>
          <a:p>
            <a:endParaRPr lang="en-US" dirty="0"/>
          </a:p>
        </p:txBody>
      </p:sp>
      <p:pic>
        <p:nvPicPr>
          <p:cNvPr id="6" name="Content Placeholder 5">
            <a:extLst>
              <a:ext uri="{FF2B5EF4-FFF2-40B4-BE49-F238E27FC236}">
                <a16:creationId xmlns:a16="http://schemas.microsoft.com/office/drawing/2014/main" id="{158030AA-B286-294D-E924-830D1949410B}"/>
              </a:ext>
            </a:extLst>
          </p:cNvPr>
          <p:cNvPicPr>
            <a:picLocks noGrp="1" noChangeAspect="1"/>
          </p:cNvPicPr>
          <p:nvPr>
            <p:ph sz="half" idx="2"/>
          </p:nvPr>
        </p:nvPicPr>
        <p:blipFill>
          <a:blip r:embed="rId3"/>
          <a:stretch>
            <a:fillRect/>
          </a:stretch>
        </p:blipFill>
        <p:spPr>
          <a:xfrm>
            <a:off x="7486650" y="1825625"/>
            <a:ext cx="4705350" cy="1508174"/>
          </a:xfrm>
          <a:prstGeom prst="rect">
            <a:avLst/>
          </a:prstGeom>
        </p:spPr>
      </p:pic>
    </p:spTree>
    <p:extLst>
      <p:ext uri="{BB962C8B-B14F-4D97-AF65-F5344CB8AC3E}">
        <p14:creationId xmlns:p14="http://schemas.microsoft.com/office/powerpoint/2010/main" val="373513162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35B90-7841-C6DC-743D-E29CBB4380EB}"/>
              </a:ext>
            </a:extLst>
          </p:cNvPr>
          <p:cNvSpPr>
            <a:spLocks noGrp="1"/>
          </p:cNvSpPr>
          <p:nvPr>
            <p:ph type="title"/>
          </p:nvPr>
        </p:nvSpPr>
        <p:spPr/>
        <p:txBody>
          <a:bodyPr/>
          <a:lstStyle/>
          <a:p>
            <a:r>
              <a:rPr lang="ru-RU" dirty="0"/>
              <a:t>Подсети</a:t>
            </a:r>
            <a:endParaRPr lang="en-US" dirty="0"/>
          </a:p>
        </p:txBody>
      </p:sp>
      <p:sp>
        <p:nvSpPr>
          <p:cNvPr id="3" name="Content Placeholder 2">
            <a:extLst>
              <a:ext uri="{FF2B5EF4-FFF2-40B4-BE49-F238E27FC236}">
                <a16:creationId xmlns:a16="http://schemas.microsoft.com/office/drawing/2014/main" id="{643ABC74-6E25-1900-3888-AD1FE50FC902}"/>
              </a:ext>
            </a:extLst>
          </p:cNvPr>
          <p:cNvSpPr>
            <a:spLocks noGrp="1"/>
          </p:cNvSpPr>
          <p:nvPr>
            <p:ph sz="half" idx="1"/>
          </p:nvPr>
        </p:nvSpPr>
        <p:spPr>
          <a:xfrm>
            <a:off x="838200" y="1825625"/>
            <a:ext cx="6076950" cy="4351338"/>
          </a:xfrm>
        </p:spPr>
        <p:txBody>
          <a:bodyPr>
            <a:normAutofit fontScale="77500" lnSpcReduction="20000"/>
          </a:bodyPr>
          <a:lstStyle/>
          <a:p>
            <a:r>
              <a:rPr lang="ru-RU" dirty="0"/>
              <a:t>Блоки IP-адресов выдаёт ICANN и региональные регистраторы</a:t>
            </a:r>
          </a:p>
          <a:p>
            <a:r>
              <a:rPr lang="ru-RU" dirty="0"/>
              <a:t>Одного крупного префикса часто хватает на всю организацию</a:t>
            </a:r>
          </a:p>
          <a:p>
            <a:r>
              <a:rPr lang="ru-RU" dirty="0"/>
              <a:t>Внутри организации сеть делят на подсети (</a:t>
            </a:r>
            <a:r>
              <a:rPr lang="ru-RU" dirty="0" err="1"/>
              <a:t>subnets</a:t>
            </a:r>
            <a:r>
              <a:rPr lang="ru-RU" dirty="0"/>
              <a:t>)</a:t>
            </a:r>
          </a:p>
          <a:p>
            <a:r>
              <a:rPr lang="ru-RU" dirty="0"/>
              <a:t>Подсети задаются префиксами разной длины внутри одного /блока</a:t>
            </a:r>
          </a:p>
          <a:p>
            <a:r>
              <a:rPr lang="ru-RU" dirty="0"/>
              <a:t>Маршрутизаторы используют маски подсети для выбора подсети назначения</a:t>
            </a:r>
          </a:p>
          <a:p>
            <a:r>
              <a:rPr lang="ru-RU" dirty="0"/>
              <a:t>Снаружи виден один общий префикс, внутренняя структура скрыта</a:t>
            </a:r>
          </a:p>
          <a:p>
            <a:r>
              <a:rPr lang="ru-RU" dirty="0"/>
              <a:t>Конфигурацию подсетей можно менять без участия ICANN</a:t>
            </a:r>
          </a:p>
          <a:p>
            <a:endParaRPr lang="en-US" dirty="0"/>
          </a:p>
        </p:txBody>
      </p:sp>
      <p:pic>
        <p:nvPicPr>
          <p:cNvPr id="6" name="Content Placeholder 5">
            <a:extLst>
              <a:ext uri="{FF2B5EF4-FFF2-40B4-BE49-F238E27FC236}">
                <a16:creationId xmlns:a16="http://schemas.microsoft.com/office/drawing/2014/main" id="{BFF796E8-3C3E-D018-C732-CB6B0E76B925}"/>
              </a:ext>
            </a:extLst>
          </p:cNvPr>
          <p:cNvPicPr>
            <a:picLocks noGrp="1" noChangeAspect="1"/>
          </p:cNvPicPr>
          <p:nvPr>
            <p:ph sz="half" idx="2"/>
          </p:nvPr>
        </p:nvPicPr>
        <p:blipFill>
          <a:blip r:embed="rId3"/>
          <a:stretch>
            <a:fillRect/>
          </a:stretch>
        </p:blipFill>
        <p:spPr>
          <a:xfrm>
            <a:off x="7148730" y="1825625"/>
            <a:ext cx="4814670" cy="2193925"/>
          </a:xfrm>
          <a:prstGeom prst="rect">
            <a:avLst/>
          </a:prstGeom>
        </p:spPr>
      </p:pic>
    </p:spTree>
    <p:extLst>
      <p:ext uri="{BB962C8B-B14F-4D97-AF65-F5344CB8AC3E}">
        <p14:creationId xmlns:p14="http://schemas.microsoft.com/office/powerpoint/2010/main" val="72195772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66CA0-AC85-EC0E-558B-8DF47447E60C}"/>
              </a:ext>
            </a:extLst>
          </p:cNvPr>
          <p:cNvSpPr>
            <a:spLocks noGrp="1"/>
          </p:cNvSpPr>
          <p:nvPr>
            <p:ph type="title"/>
          </p:nvPr>
        </p:nvSpPr>
        <p:spPr/>
        <p:txBody>
          <a:bodyPr>
            <a:normAutofit fontScale="90000"/>
          </a:bodyPr>
          <a:lstStyle/>
          <a:p>
            <a:r>
              <a:rPr lang="ru-RU" dirty="0"/>
              <a:t>CIDR — бесклассовая </a:t>
            </a:r>
            <a:r>
              <a:rPr lang="ru-RU" dirty="0" err="1"/>
              <a:t>междоменная</a:t>
            </a:r>
            <a:r>
              <a:rPr lang="ru-RU" dirty="0"/>
              <a:t> маршрутизация (</a:t>
            </a:r>
            <a:r>
              <a:rPr lang="en-US" dirty="0"/>
              <a:t>Classless </a:t>
            </a:r>
            <a:r>
              <a:rPr lang="en-US" dirty="0" err="1"/>
              <a:t>InterDomain</a:t>
            </a:r>
            <a:r>
              <a:rPr lang="en-US" dirty="0"/>
              <a:t> Routing</a:t>
            </a:r>
            <a:r>
              <a:rPr lang="ru-RU" dirty="0"/>
              <a:t>)</a:t>
            </a:r>
            <a:endParaRPr lang="en-US" dirty="0"/>
          </a:p>
        </p:txBody>
      </p:sp>
      <p:sp>
        <p:nvSpPr>
          <p:cNvPr id="3" name="Content Placeholder 2">
            <a:extLst>
              <a:ext uri="{FF2B5EF4-FFF2-40B4-BE49-F238E27FC236}">
                <a16:creationId xmlns:a16="http://schemas.microsoft.com/office/drawing/2014/main" id="{DC79F88B-B975-7C3A-1B9E-9ACF12738E2A}"/>
              </a:ext>
            </a:extLst>
          </p:cNvPr>
          <p:cNvSpPr>
            <a:spLocks noGrp="1"/>
          </p:cNvSpPr>
          <p:nvPr>
            <p:ph sz="half" idx="1"/>
          </p:nvPr>
        </p:nvSpPr>
        <p:spPr>
          <a:xfrm>
            <a:off x="838200" y="1825625"/>
            <a:ext cx="5829300" cy="4351338"/>
          </a:xfrm>
        </p:spPr>
        <p:txBody>
          <a:bodyPr>
            <a:normAutofit fontScale="85000" lnSpcReduction="20000"/>
          </a:bodyPr>
          <a:lstStyle/>
          <a:p>
            <a:r>
              <a:rPr lang="ru-RU" dirty="0"/>
              <a:t>Рост таблиц маршрутизации у магистральных провайдеров</a:t>
            </a:r>
          </a:p>
          <a:p>
            <a:r>
              <a:rPr lang="ru-RU" dirty="0" err="1"/>
              <a:t>Default-free</a:t>
            </a:r>
            <a:r>
              <a:rPr lang="ru-RU" dirty="0"/>
              <a:t> </a:t>
            </a:r>
            <a:r>
              <a:rPr lang="ru-RU" dirty="0" err="1"/>
              <a:t>zone</a:t>
            </a:r>
            <a:r>
              <a:rPr lang="ru-RU" dirty="0"/>
              <a:t>: нет маршрута по умолчанию</a:t>
            </a:r>
          </a:p>
          <a:p>
            <a:r>
              <a:rPr lang="ru-RU" dirty="0"/>
              <a:t>Агрегация префиксов и </a:t>
            </a:r>
            <a:r>
              <a:rPr lang="ru-RU" dirty="0" err="1"/>
              <a:t>суперсети</a:t>
            </a:r>
            <a:endParaRPr lang="ru-RU" dirty="0"/>
          </a:p>
          <a:p>
            <a:r>
              <a:rPr lang="ru-RU" dirty="0"/>
              <a:t>Один адрес может входить в блоки разной длины (/22, /20 и др.)</a:t>
            </a:r>
          </a:p>
          <a:p>
            <a:r>
              <a:rPr lang="ru-RU" dirty="0"/>
              <a:t>CIDR: префиксы произвольной длины вместо классов</a:t>
            </a:r>
          </a:p>
          <a:p>
            <a:r>
              <a:rPr lang="ru-RU" dirty="0"/>
              <a:t>Правило «самого длинного совпадающего префикса»</a:t>
            </a:r>
          </a:p>
          <a:p>
            <a:r>
              <a:rPr lang="ru-RU" dirty="0"/>
              <a:t>Меньше записей в таблицах, нужен быстрый поиск по префиксам</a:t>
            </a:r>
          </a:p>
          <a:p>
            <a:endParaRPr lang="en-US" dirty="0"/>
          </a:p>
        </p:txBody>
      </p:sp>
      <p:pic>
        <p:nvPicPr>
          <p:cNvPr id="6" name="Content Placeholder 5">
            <a:extLst>
              <a:ext uri="{FF2B5EF4-FFF2-40B4-BE49-F238E27FC236}">
                <a16:creationId xmlns:a16="http://schemas.microsoft.com/office/drawing/2014/main" id="{748DCCF9-5583-FD3E-91AD-8E852DC90C57}"/>
              </a:ext>
            </a:extLst>
          </p:cNvPr>
          <p:cNvPicPr>
            <a:picLocks noGrp="1" noChangeAspect="1"/>
          </p:cNvPicPr>
          <p:nvPr>
            <p:ph sz="half" idx="2"/>
          </p:nvPr>
        </p:nvPicPr>
        <p:blipFill>
          <a:blip r:embed="rId3"/>
          <a:stretch>
            <a:fillRect/>
          </a:stretch>
        </p:blipFill>
        <p:spPr>
          <a:xfrm>
            <a:off x="6916670" y="1825625"/>
            <a:ext cx="5102359" cy="4351338"/>
          </a:xfrm>
          <a:prstGeom prst="rect">
            <a:avLst/>
          </a:prstGeom>
        </p:spPr>
      </p:pic>
    </p:spTree>
    <p:extLst>
      <p:ext uri="{BB962C8B-B14F-4D97-AF65-F5344CB8AC3E}">
        <p14:creationId xmlns:p14="http://schemas.microsoft.com/office/powerpoint/2010/main" val="82981489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24BD4-AF4C-C409-8BF9-3C381C577760}"/>
              </a:ext>
            </a:extLst>
          </p:cNvPr>
          <p:cNvSpPr>
            <a:spLocks noGrp="1"/>
          </p:cNvSpPr>
          <p:nvPr>
            <p:ph type="title"/>
          </p:nvPr>
        </p:nvSpPr>
        <p:spPr/>
        <p:txBody>
          <a:bodyPr/>
          <a:lstStyle/>
          <a:p>
            <a:r>
              <a:rPr lang="ru-RU" dirty="0"/>
              <a:t>Классовая и специальная адресация</a:t>
            </a:r>
            <a:endParaRPr lang="en-US" dirty="0"/>
          </a:p>
        </p:txBody>
      </p:sp>
      <p:sp>
        <p:nvSpPr>
          <p:cNvPr id="3" name="Content Placeholder 2">
            <a:extLst>
              <a:ext uri="{FF2B5EF4-FFF2-40B4-BE49-F238E27FC236}">
                <a16:creationId xmlns:a16="http://schemas.microsoft.com/office/drawing/2014/main" id="{2252E02B-5F27-910D-9FDB-23799DD8D907}"/>
              </a:ext>
            </a:extLst>
          </p:cNvPr>
          <p:cNvSpPr>
            <a:spLocks noGrp="1"/>
          </p:cNvSpPr>
          <p:nvPr>
            <p:ph sz="half" idx="1"/>
          </p:nvPr>
        </p:nvSpPr>
        <p:spPr>
          <a:xfrm>
            <a:off x="838200" y="1825625"/>
            <a:ext cx="7108767" cy="4351338"/>
          </a:xfrm>
        </p:spPr>
        <p:txBody>
          <a:bodyPr>
            <a:normAutofit fontScale="85000" lnSpcReduction="20000"/>
          </a:bodyPr>
          <a:lstStyle/>
          <a:p>
            <a:r>
              <a:rPr lang="ru-RU" dirty="0"/>
              <a:t>Фиксированные классы A–E и крупные блоки адресов</a:t>
            </a:r>
          </a:p>
          <a:p>
            <a:r>
              <a:rPr lang="ru-RU" dirty="0"/>
              <a:t>Перерасход адресов, особенно в сетях класса B</a:t>
            </a:r>
          </a:p>
          <a:p>
            <a:r>
              <a:rPr lang="ru-RU" dirty="0"/>
              <a:t>Причина отказа от классов и переход к CIDR</a:t>
            </a:r>
          </a:p>
          <a:p>
            <a:r>
              <a:rPr lang="ru-RU" dirty="0"/>
              <a:t>Классовая маршрутизация была вычислительно проще</a:t>
            </a:r>
          </a:p>
          <a:p>
            <a:r>
              <a:rPr lang="ru-RU" dirty="0"/>
              <a:t>Адреса класса D для многоадресной рассылки</a:t>
            </a:r>
          </a:p>
          <a:p>
            <a:r>
              <a:rPr lang="ru-RU" dirty="0"/>
              <a:t>Специальные адреса: 0.0.0.0, адреса с нулевой сетью</a:t>
            </a:r>
          </a:p>
          <a:p>
            <a:r>
              <a:rPr lang="ru-RU" dirty="0"/>
              <a:t>Широковещательные адреса с единицами в части хоста</a:t>
            </a:r>
          </a:p>
          <a:p>
            <a:r>
              <a:rPr lang="ru-RU" dirty="0"/>
              <a:t>Диапазон 127.x.x.x для </a:t>
            </a:r>
            <a:r>
              <a:rPr lang="ru-RU" dirty="0" err="1"/>
              <a:t>loopback</a:t>
            </a:r>
            <a:r>
              <a:rPr lang="ru-RU" dirty="0"/>
              <a:t> и локального тестирования</a:t>
            </a:r>
          </a:p>
          <a:p>
            <a:endParaRPr lang="en-US" dirty="0"/>
          </a:p>
        </p:txBody>
      </p:sp>
      <p:pic>
        <p:nvPicPr>
          <p:cNvPr id="8" name="Content Placeholder 7">
            <a:extLst>
              <a:ext uri="{FF2B5EF4-FFF2-40B4-BE49-F238E27FC236}">
                <a16:creationId xmlns:a16="http://schemas.microsoft.com/office/drawing/2014/main" id="{76B74DEA-E189-2B46-E711-1EF09F7E8880}"/>
              </a:ext>
            </a:extLst>
          </p:cNvPr>
          <p:cNvPicPr>
            <a:picLocks noGrp="1" noChangeAspect="1"/>
          </p:cNvPicPr>
          <p:nvPr>
            <p:ph sz="half" idx="2"/>
          </p:nvPr>
        </p:nvPicPr>
        <p:blipFill>
          <a:blip r:embed="rId3"/>
          <a:stretch>
            <a:fillRect/>
          </a:stretch>
        </p:blipFill>
        <p:spPr>
          <a:xfrm>
            <a:off x="8139267" y="1825625"/>
            <a:ext cx="3980097" cy="2062163"/>
          </a:xfrm>
          <a:prstGeom prst="rect">
            <a:avLst/>
          </a:prstGeom>
        </p:spPr>
      </p:pic>
      <p:pic>
        <p:nvPicPr>
          <p:cNvPr id="10" name="Content Placeholder 9">
            <a:extLst>
              <a:ext uri="{FF2B5EF4-FFF2-40B4-BE49-F238E27FC236}">
                <a16:creationId xmlns:a16="http://schemas.microsoft.com/office/drawing/2014/main" id="{DBD3F7D3-7CB1-9898-BE36-B472B88E0F06}"/>
              </a:ext>
            </a:extLst>
          </p:cNvPr>
          <p:cNvPicPr>
            <a:picLocks noGrp="1" noChangeAspect="1"/>
          </p:cNvPicPr>
          <p:nvPr>
            <p:ph sz="half" idx="13"/>
          </p:nvPr>
        </p:nvPicPr>
        <p:blipFill>
          <a:blip r:embed="rId4"/>
          <a:stretch>
            <a:fillRect/>
          </a:stretch>
        </p:blipFill>
        <p:spPr>
          <a:xfrm>
            <a:off x="8139266" y="4098310"/>
            <a:ext cx="3980098" cy="1641865"/>
          </a:xfrm>
          <a:prstGeom prst="rect">
            <a:avLst/>
          </a:prstGeom>
        </p:spPr>
      </p:pic>
    </p:spTree>
    <p:extLst>
      <p:ext uri="{BB962C8B-B14F-4D97-AF65-F5344CB8AC3E}">
        <p14:creationId xmlns:p14="http://schemas.microsoft.com/office/powerpoint/2010/main" val="249511833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3131D-7181-8476-CBA0-09020EE703AB}"/>
              </a:ext>
            </a:extLst>
          </p:cNvPr>
          <p:cNvSpPr>
            <a:spLocks noGrp="1"/>
          </p:cNvSpPr>
          <p:nvPr>
            <p:ph type="title"/>
          </p:nvPr>
        </p:nvSpPr>
        <p:spPr/>
        <p:txBody>
          <a:bodyPr/>
          <a:lstStyle/>
          <a:p>
            <a:r>
              <a:rPr lang="ru-RU" dirty="0"/>
              <a:t>Идея и базовая работа NAT</a:t>
            </a:r>
            <a:endParaRPr lang="en-US" dirty="0"/>
          </a:p>
        </p:txBody>
      </p:sp>
      <p:sp>
        <p:nvSpPr>
          <p:cNvPr id="3" name="Content Placeholder 2">
            <a:extLst>
              <a:ext uri="{FF2B5EF4-FFF2-40B4-BE49-F238E27FC236}">
                <a16:creationId xmlns:a16="http://schemas.microsoft.com/office/drawing/2014/main" id="{15D66DDC-5D53-EB3E-46EC-D73B385BA00B}"/>
              </a:ext>
            </a:extLst>
          </p:cNvPr>
          <p:cNvSpPr>
            <a:spLocks noGrp="1"/>
          </p:cNvSpPr>
          <p:nvPr>
            <p:ph sz="half" idx="1"/>
          </p:nvPr>
        </p:nvSpPr>
        <p:spPr>
          <a:xfrm>
            <a:off x="838200" y="1825625"/>
            <a:ext cx="6543502" cy="4351338"/>
          </a:xfrm>
        </p:spPr>
        <p:txBody>
          <a:bodyPr>
            <a:normAutofit fontScale="77500" lnSpcReduction="20000"/>
          </a:bodyPr>
          <a:lstStyle/>
          <a:p>
            <a:r>
              <a:rPr lang="ru-RU" dirty="0"/>
              <a:t>Дефицит IPv4-адресов при постоянных подключениях</a:t>
            </a:r>
          </a:p>
          <a:p>
            <a:r>
              <a:rPr lang="ru-RU" dirty="0"/>
              <a:t>NAT как временный способ «растянуть» адресное пространство</a:t>
            </a:r>
          </a:p>
          <a:p>
            <a:r>
              <a:rPr lang="ru-RU" dirty="0"/>
              <a:t>Один (несколько) публичных адресов для всей частной сети</a:t>
            </a:r>
          </a:p>
          <a:p>
            <a:r>
              <a:rPr lang="ru-RU" dirty="0"/>
              <a:t>Внутри сети — частные IP-адреса (10/8, 172.16/12, 192.168/16)</a:t>
            </a:r>
          </a:p>
          <a:p>
            <a:r>
              <a:rPr lang="ru-RU" dirty="0"/>
              <a:t>Подмена внутреннего адреса на внешний на границе сети</a:t>
            </a:r>
          </a:p>
          <a:p>
            <a:r>
              <a:rPr lang="ru-RU" dirty="0"/>
              <a:t>NAT-блок часто совмещён с маршрутизатором и межсетевым экраном</a:t>
            </a:r>
          </a:p>
          <a:p>
            <a:r>
              <a:rPr lang="ru-RU" dirty="0"/>
              <a:t>Различение внутренних хостов по TCP/UDP-портам</a:t>
            </a:r>
          </a:p>
          <a:p>
            <a:endParaRPr lang="en-US" dirty="0"/>
          </a:p>
        </p:txBody>
      </p:sp>
      <p:pic>
        <p:nvPicPr>
          <p:cNvPr id="7" name="Content Placeholder 6">
            <a:extLst>
              <a:ext uri="{FF2B5EF4-FFF2-40B4-BE49-F238E27FC236}">
                <a16:creationId xmlns:a16="http://schemas.microsoft.com/office/drawing/2014/main" id="{917060EA-5729-182F-B469-F9FD041837F5}"/>
              </a:ext>
            </a:extLst>
          </p:cNvPr>
          <p:cNvPicPr>
            <a:picLocks noGrp="1" noChangeAspect="1"/>
          </p:cNvPicPr>
          <p:nvPr>
            <p:ph sz="half" idx="2"/>
          </p:nvPr>
        </p:nvPicPr>
        <p:blipFill>
          <a:blip r:embed="rId3"/>
          <a:stretch>
            <a:fillRect/>
          </a:stretch>
        </p:blipFill>
        <p:spPr>
          <a:xfrm>
            <a:off x="7581206" y="1825626"/>
            <a:ext cx="4610793" cy="1908970"/>
          </a:xfrm>
          <a:prstGeom prst="rect">
            <a:avLst/>
          </a:prstGeom>
        </p:spPr>
      </p:pic>
    </p:spTree>
    <p:extLst>
      <p:ext uri="{BB962C8B-B14F-4D97-AF65-F5344CB8AC3E}">
        <p14:creationId xmlns:p14="http://schemas.microsoft.com/office/powerpoint/2010/main" val="48436100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108A9-8AC9-55EE-5213-40C606324295}"/>
              </a:ext>
            </a:extLst>
          </p:cNvPr>
          <p:cNvSpPr>
            <a:spLocks noGrp="1"/>
          </p:cNvSpPr>
          <p:nvPr>
            <p:ph type="title"/>
          </p:nvPr>
        </p:nvSpPr>
        <p:spPr/>
        <p:txBody>
          <a:bodyPr/>
          <a:lstStyle/>
          <a:p>
            <a:r>
              <a:rPr lang="ru-RU" dirty="0"/>
              <a:t>NAT: таблица отображения и проблемы</a:t>
            </a:r>
            <a:endParaRPr lang="en-US" dirty="0"/>
          </a:p>
        </p:txBody>
      </p:sp>
      <p:sp>
        <p:nvSpPr>
          <p:cNvPr id="3" name="Content Placeholder 2">
            <a:extLst>
              <a:ext uri="{FF2B5EF4-FFF2-40B4-BE49-F238E27FC236}">
                <a16:creationId xmlns:a16="http://schemas.microsoft.com/office/drawing/2014/main" id="{DD028CB8-335C-466A-EC3B-6CCECA7A38D3}"/>
              </a:ext>
            </a:extLst>
          </p:cNvPr>
          <p:cNvSpPr>
            <a:spLocks noGrp="1"/>
          </p:cNvSpPr>
          <p:nvPr>
            <p:ph idx="1"/>
          </p:nvPr>
        </p:nvSpPr>
        <p:spPr/>
        <p:txBody>
          <a:bodyPr>
            <a:normAutofit fontScale="92500" lnSpcReduction="10000"/>
          </a:bodyPr>
          <a:lstStyle/>
          <a:p>
            <a:r>
              <a:rPr lang="ru-RU" dirty="0"/>
              <a:t>Таблица соответствий «внешний порт → внутренний адрес и порт»</a:t>
            </a:r>
          </a:p>
          <a:p>
            <a:r>
              <a:rPr lang="ru-RU" dirty="0"/>
              <a:t>Трансляция работает, пока активно соединение</a:t>
            </a:r>
          </a:p>
          <a:p>
            <a:r>
              <a:rPr lang="ru-RU" dirty="0"/>
              <a:t>NAT полагается на структуру TCP/UDP-заголовков</a:t>
            </a:r>
          </a:p>
          <a:p>
            <a:r>
              <a:rPr lang="ru-RU" dirty="0"/>
              <a:t>Нарушение сквозной связности: входящие подключения затруднены</a:t>
            </a:r>
          </a:p>
          <a:p>
            <a:r>
              <a:rPr lang="ru-RU" dirty="0"/>
              <a:t>Хранение состояния соединений делает сеть более хрупкой</a:t>
            </a:r>
          </a:p>
          <a:p>
            <a:r>
              <a:rPr lang="ru-RU" dirty="0"/>
              <a:t>SIG нарушение принципа независимости уровней протоколов</a:t>
            </a:r>
          </a:p>
          <a:p>
            <a:r>
              <a:rPr lang="ru-RU" dirty="0"/>
              <a:t>Сложности для протоколов вроде FTP и VoIP</a:t>
            </a:r>
          </a:p>
          <a:p>
            <a:r>
              <a:rPr lang="ru-RU" dirty="0"/>
              <a:t>Ограничение по числу сессий на IP и всё равно массовое применение NAT</a:t>
            </a:r>
          </a:p>
          <a:p>
            <a:endParaRPr lang="en-US" dirty="0"/>
          </a:p>
        </p:txBody>
      </p:sp>
    </p:spTree>
    <p:extLst>
      <p:ext uri="{BB962C8B-B14F-4D97-AF65-F5344CB8AC3E}">
        <p14:creationId xmlns:p14="http://schemas.microsoft.com/office/powerpoint/2010/main" val="383472527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86B05-4C65-51E6-B744-08A2057F9C46}"/>
              </a:ext>
            </a:extLst>
          </p:cNvPr>
          <p:cNvSpPr>
            <a:spLocks noGrp="1"/>
          </p:cNvSpPr>
          <p:nvPr>
            <p:ph type="title"/>
          </p:nvPr>
        </p:nvSpPr>
        <p:spPr/>
        <p:txBody>
          <a:bodyPr/>
          <a:lstStyle/>
          <a:p>
            <a:r>
              <a:rPr lang="ru-RU" dirty="0"/>
              <a:t>Протокол IP версии 6 (IPv6)</a:t>
            </a:r>
            <a:endParaRPr lang="en-US" dirty="0"/>
          </a:p>
        </p:txBody>
      </p:sp>
      <p:sp>
        <p:nvSpPr>
          <p:cNvPr id="3" name="Content Placeholder 2">
            <a:extLst>
              <a:ext uri="{FF2B5EF4-FFF2-40B4-BE49-F238E27FC236}">
                <a16:creationId xmlns:a16="http://schemas.microsoft.com/office/drawing/2014/main" id="{44866195-AB0E-0569-738E-5C5AF991176C}"/>
              </a:ext>
            </a:extLst>
          </p:cNvPr>
          <p:cNvSpPr>
            <a:spLocks noGrp="1"/>
          </p:cNvSpPr>
          <p:nvPr>
            <p:ph idx="1"/>
          </p:nvPr>
        </p:nvSpPr>
        <p:spPr/>
        <p:txBody>
          <a:bodyPr>
            <a:normAutofit fontScale="92500" lnSpcReduction="10000"/>
          </a:bodyPr>
          <a:lstStyle/>
          <a:p>
            <a:r>
              <a:rPr lang="ru-RU" dirty="0"/>
              <a:t>IPv4-адреса исчерпываются, CIDR и NAT лишь временно помогают</a:t>
            </a:r>
          </a:p>
          <a:p>
            <a:r>
              <a:rPr lang="ru-RU" dirty="0"/>
              <a:t>IPv6: 128-битные адреса, практически неограниченное пространство</a:t>
            </a:r>
          </a:p>
          <a:p>
            <a:r>
              <a:rPr lang="ru-RU" dirty="0"/>
              <a:t>Новый протокол сетевого уровня, несовместим с IPv4</a:t>
            </a:r>
          </a:p>
          <a:p>
            <a:r>
              <a:rPr lang="ru-RU" dirty="0"/>
              <a:t>Цели IPv6:</a:t>
            </a:r>
          </a:p>
          <a:p>
            <a:pPr lvl="1"/>
            <a:r>
              <a:rPr lang="ru-RU" dirty="0"/>
              <a:t>поддержка миллиардов хостов</a:t>
            </a:r>
          </a:p>
          <a:p>
            <a:pPr lvl="1"/>
            <a:r>
              <a:rPr lang="ru-RU" dirty="0"/>
              <a:t>сокращение таблиц маршрутизации</a:t>
            </a:r>
          </a:p>
          <a:p>
            <a:pPr lvl="1"/>
            <a:r>
              <a:rPr lang="ru-RU" dirty="0"/>
              <a:t>упрощённый заголовок и быстрая обработка пакетов</a:t>
            </a:r>
          </a:p>
          <a:p>
            <a:pPr lvl="1"/>
            <a:r>
              <a:rPr lang="ru-RU" dirty="0"/>
              <a:t>встроенная безопасность и лучшая поддержка </a:t>
            </a:r>
            <a:r>
              <a:rPr lang="ru-RU" dirty="0" err="1"/>
              <a:t>QoS</a:t>
            </a:r>
            <a:endParaRPr lang="ru-RU" dirty="0"/>
          </a:p>
          <a:p>
            <a:pPr lvl="1"/>
            <a:r>
              <a:rPr lang="ru-RU" dirty="0"/>
              <a:t>поддержка мобильности и будущего развития</a:t>
            </a:r>
          </a:p>
          <a:p>
            <a:pPr lvl="1"/>
            <a:r>
              <a:rPr lang="ru-RU" dirty="0"/>
              <a:t>долгосрочное сосуществование с IPv4</a:t>
            </a:r>
          </a:p>
          <a:p>
            <a:endParaRPr lang="en-US" dirty="0"/>
          </a:p>
        </p:txBody>
      </p:sp>
    </p:spTree>
    <p:extLst>
      <p:ext uri="{BB962C8B-B14F-4D97-AF65-F5344CB8AC3E}">
        <p14:creationId xmlns:p14="http://schemas.microsoft.com/office/powerpoint/2010/main" val="418243611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9D280-600F-E9B5-E2FB-156C417F12A7}"/>
              </a:ext>
            </a:extLst>
          </p:cNvPr>
          <p:cNvSpPr>
            <a:spLocks noGrp="1"/>
          </p:cNvSpPr>
          <p:nvPr>
            <p:ph type="title"/>
          </p:nvPr>
        </p:nvSpPr>
        <p:spPr/>
        <p:txBody>
          <a:bodyPr/>
          <a:lstStyle/>
          <a:p>
            <a:r>
              <a:rPr lang="ru-RU" dirty="0"/>
              <a:t>Основной заголовок </a:t>
            </a:r>
            <a:r>
              <a:rPr lang="en-US" dirty="0"/>
              <a:t>IPv6</a:t>
            </a:r>
          </a:p>
        </p:txBody>
      </p:sp>
      <p:sp>
        <p:nvSpPr>
          <p:cNvPr id="3" name="Content Placeholder 2">
            <a:extLst>
              <a:ext uri="{FF2B5EF4-FFF2-40B4-BE49-F238E27FC236}">
                <a16:creationId xmlns:a16="http://schemas.microsoft.com/office/drawing/2014/main" id="{83D1F1F1-E3F7-E92F-7198-7C04484E411A}"/>
              </a:ext>
            </a:extLst>
          </p:cNvPr>
          <p:cNvSpPr>
            <a:spLocks noGrp="1"/>
          </p:cNvSpPr>
          <p:nvPr>
            <p:ph sz="half" idx="1"/>
          </p:nvPr>
        </p:nvSpPr>
        <p:spPr>
          <a:xfrm>
            <a:off x="838200" y="1825625"/>
            <a:ext cx="6864154" cy="4351338"/>
          </a:xfrm>
        </p:spPr>
        <p:txBody>
          <a:bodyPr>
            <a:normAutofit fontScale="92500" lnSpcReduction="20000"/>
          </a:bodyPr>
          <a:lstStyle/>
          <a:p>
            <a:r>
              <a:rPr lang="ru-RU" dirty="0"/>
              <a:t>Фиксированный 40-байтный заголовок, поле </a:t>
            </a:r>
            <a:r>
              <a:rPr lang="ru-RU" dirty="0" err="1"/>
              <a:t>Version</a:t>
            </a:r>
            <a:r>
              <a:rPr lang="ru-RU" dirty="0"/>
              <a:t> = 6</a:t>
            </a:r>
          </a:p>
          <a:p>
            <a:r>
              <a:rPr lang="ru-RU" dirty="0"/>
              <a:t>128-битные адреса источника и получателя</a:t>
            </a:r>
          </a:p>
          <a:p>
            <a:r>
              <a:rPr lang="ru-RU" dirty="0"/>
              <a:t>Краткая запись IPv6-адресов с «::» и опусканием нулей</a:t>
            </a:r>
          </a:p>
          <a:p>
            <a:pPr lvl="1"/>
            <a:r>
              <a:rPr lang="en-US" dirty="0"/>
              <a:t>8000:</a:t>
            </a:r>
            <a:r>
              <a:rPr lang="en-US" dirty="0">
                <a:highlight>
                  <a:srgbClr val="FFFF00"/>
                </a:highlight>
              </a:rPr>
              <a:t>0000:0000:0000</a:t>
            </a:r>
            <a:r>
              <a:rPr lang="en-US" dirty="0"/>
              <a:t>:0123:4567:89AB:CDEF</a:t>
            </a:r>
            <a:endParaRPr lang="ru-RU" dirty="0"/>
          </a:p>
          <a:p>
            <a:pPr lvl="1"/>
            <a:r>
              <a:rPr lang="en-US" dirty="0"/>
              <a:t>8000</a:t>
            </a:r>
            <a:r>
              <a:rPr lang="en-US" dirty="0">
                <a:highlight>
                  <a:srgbClr val="FFFF00"/>
                </a:highlight>
              </a:rPr>
              <a:t>::</a:t>
            </a:r>
            <a:r>
              <a:rPr lang="en-US" dirty="0"/>
              <a:t>123:4567:89AB:CDEF</a:t>
            </a:r>
            <a:endParaRPr lang="ru-RU" dirty="0"/>
          </a:p>
          <a:p>
            <a:pPr lvl="1"/>
            <a:r>
              <a:rPr lang="en-US" dirty="0"/>
              <a:t>IPv4 </a:t>
            </a:r>
            <a:r>
              <a:rPr lang="ru-RU" dirty="0"/>
              <a:t>адреса могут записываться в десятичном формате</a:t>
            </a:r>
            <a:endParaRPr lang="en-US" dirty="0"/>
          </a:p>
          <a:p>
            <a:pPr lvl="2"/>
            <a:r>
              <a:rPr lang="en-US" dirty="0"/>
              <a:t>::192.31.20.46</a:t>
            </a:r>
            <a:endParaRPr lang="ru-RU" dirty="0"/>
          </a:p>
          <a:p>
            <a:r>
              <a:rPr lang="ru-RU" dirty="0"/>
              <a:t>В отличие от IPv4: нет фрагментации и контрольной суммы в заголовке</a:t>
            </a:r>
          </a:p>
          <a:p>
            <a:endParaRPr lang="en-US" dirty="0"/>
          </a:p>
        </p:txBody>
      </p:sp>
      <p:pic>
        <p:nvPicPr>
          <p:cNvPr id="6" name="Content Placeholder 5">
            <a:extLst>
              <a:ext uri="{FF2B5EF4-FFF2-40B4-BE49-F238E27FC236}">
                <a16:creationId xmlns:a16="http://schemas.microsoft.com/office/drawing/2014/main" id="{F43C1AAB-4947-80B4-7558-4007809EE315}"/>
              </a:ext>
            </a:extLst>
          </p:cNvPr>
          <p:cNvPicPr>
            <a:picLocks noGrp="1" noChangeAspect="1"/>
          </p:cNvPicPr>
          <p:nvPr>
            <p:ph sz="half" idx="2"/>
          </p:nvPr>
        </p:nvPicPr>
        <p:blipFill>
          <a:blip r:embed="rId3"/>
          <a:stretch>
            <a:fillRect/>
          </a:stretch>
        </p:blipFill>
        <p:spPr>
          <a:xfrm>
            <a:off x="7702354" y="1825626"/>
            <a:ext cx="4489646" cy="3477894"/>
          </a:xfrm>
          <a:prstGeom prst="rect">
            <a:avLst/>
          </a:prstGeom>
        </p:spPr>
      </p:pic>
    </p:spTree>
    <p:extLst>
      <p:ext uri="{BB962C8B-B14F-4D97-AF65-F5344CB8AC3E}">
        <p14:creationId xmlns:p14="http://schemas.microsoft.com/office/powerpoint/2010/main" val="148631489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B8C9F-BB51-37D8-0C3B-C69B04766363}"/>
              </a:ext>
            </a:extLst>
          </p:cNvPr>
          <p:cNvSpPr>
            <a:spLocks noGrp="1"/>
          </p:cNvSpPr>
          <p:nvPr>
            <p:ph type="title"/>
          </p:nvPr>
        </p:nvSpPr>
        <p:spPr/>
        <p:txBody>
          <a:bodyPr/>
          <a:lstStyle/>
          <a:p>
            <a:r>
              <a:rPr lang="ru-RU" dirty="0"/>
              <a:t>Споры вокруг </a:t>
            </a:r>
            <a:r>
              <a:rPr lang="en-US" dirty="0"/>
              <a:t>IPv6</a:t>
            </a:r>
          </a:p>
        </p:txBody>
      </p:sp>
      <p:sp>
        <p:nvSpPr>
          <p:cNvPr id="3" name="Content Placeholder 2">
            <a:extLst>
              <a:ext uri="{FF2B5EF4-FFF2-40B4-BE49-F238E27FC236}">
                <a16:creationId xmlns:a16="http://schemas.microsoft.com/office/drawing/2014/main" id="{BFAC7018-8EE0-FB08-7F3A-25D986D647D1}"/>
              </a:ext>
            </a:extLst>
          </p:cNvPr>
          <p:cNvSpPr>
            <a:spLocks noGrp="1"/>
          </p:cNvSpPr>
          <p:nvPr>
            <p:ph idx="1"/>
          </p:nvPr>
        </p:nvSpPr>
        <p:spPr/>
        <p:txBody>
          <a:bodyPr>
            <a:normAutofit fontScale="92500" lnSpcReduction="20000"/>
          </a:bodyPr>
          <a:lstStyle/>
          <a:p>
            <a:r>
              <a:rPr lang="ru-RU" dirty="0"/>
              <a:t>Открытая разработка IPv6 → много конфликтующих мнений</a:t>
            </a:r>
          </a:p>
          <a:p>
            <a:r>
              <a:rPr lang="ru-RU" dirty="0"/>
              <a:t>Адреса: компромисс — 128 бит фиксированной длины</a:t>
            </a:r>
          </a:p>
          <a:p>
            <a:r>
              <a:rPr lang="ru-RU" dirty="0" err="1"/>
              <a:t>Hop</a:t>
            </a:r>
            <a:r>
              <a:rPr lang="ru-RU" dirty="0"/>
              <a:t> </a:t>
            </a:r>
            <a:r>
              <a:rPr lang="ru-RU" dirty="0" err="1"/>
              <a:t>limit</a:t>
            </a:r>
            <a:r>
              <a:rPr lang="ru-RU" dirty="0"/>
              <a:t>: 8-битный счётчик на 255 переходов признали приемлемым</a:t>
            </a:r>
          </a:p>
          <a:p>
            <a:r>
              <a:rPr lang="ru-RU" dirty="0"/>
              <a:t>Максимальный размер пакета: 64 КБ + расширения для очень крупных дейтаграмм</a:t>
            </a:r>
          </a:p>
          <a:p>
            <a:r>
              <a:rPr lang="ru-RU" dirty="0"/>
              <a:t>Контрольная сумма заголовка убрана ради ускорения обработки</a:t>
            </a:r>
          </a:p>
          <a:p>
            <a:r>
              <a:rPr lang="ru-RU" dirty="0"/>
              <a:t>Мобильность: отказ от «жёсткой» поддержки в самом IPv6</a:t>
            </a:r>
          </a:p>
          <a:p>
            <a:r>
              <a:rPr lang="ru-RU" dirty="0"/>
              <a:t>Безопасность: спор о месте шифрования и юридические ограничения</a:t>
            </a:r>
          </a:p>
          <a:p>
            <a:r>
              <a:rPr lang="ru-RU" dirty="0"/>
              <a:t>Постепенный переход: «островки» IPv6, туннели и </a:t>
            </a:r>
            <a:r>
              <a:rPr lang="ru-RU" dirty="0" err="1"/>
              <a:t>двухстековые</a:t>
            </a:r>
            <a:r>
              <a:rPr lang="ru-RU" dirty="0"/>
              <a:t> хосты</a:t>
            </a:r>
          </a:p>
          <a:p>
            <a:endParaRPr lang="en-US" dirty="0"/>
          </a:p>
        </p:txBody>
      </p:sp>
    </p:spTree>
    <p:extLst>
      <p:ext uri="{BB962C8B-B14F-4D97-AF65-F5344CB8AC3E}">
        <p14:creationId xmlns:p14="http://schemas.microsoft.com/office/powerpoint/2010/main" val="208928944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094A5E-0988-3C68-6E40-6EE4B5B0A2A1}"/>
              </a:ext>
            </a:extLst>
          </p:cNvPr>
          <p:cNvSpPr>
            <a:spLocks noGrp="1"/>
          </p:cNvSpPr>
          <p:nvPr>
            <p:ph type="title"/>
          </p:nvPr>
        </p:nvSpPr>
        <p:spPr/>
        <p:txBody>
          <a:bodyPr/>
          <a:lstStyle/>
          <a:p>
            <a:r>
              <a:rPr lang="ru-RU" dirty="0"/>
              <a:t>Управляющие протоколы интернета</a:t>
            </a:r>
            <a:endParaRPr lang="en-US" dirty="0"/>
          </a:p>
        </p:txBody>
      </p:sp>
      <p:sp>
        <p:nvSpPr>
          <p:cNvPr id="5" name="Text Placeholder 4">
            <a:extLst>
              <a:ext uri="{FF2B5EF4-FFF2-40B4-BE49-F238E27FC236}">
                <a16:creationId xmlns:a16="http://schemas.microsoft.com/office/drawing/2014/main" id="{A3DF778B-6775-BECC-A1EF-31D38ECE61D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2258290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5AB6B7-AF99-BA3F-6434-5856D4140C5F}"/>
              </a:ext>
            </a:extLst>
          </p:cNvPr>
          <p:cNvSpPr>
            <a:spLocks noGrp="1"/>
          </p:cNvSpPr>
          <p:nvPr>
            <p:ph type="title"/>
          </p:nvPr>
        </p:nvSpPr>
        <p:spPr/>
        <p:txBody>
          <a:bodyPr/>
          <a:lstStyle/>
          <a:p>
            <a:r>
              <a:rPr lang="en-US" dirty="0">
                <a:hlinkClick r:id="rId3"/>
              </a:rPr>
              <a:t>ICMP</a:t>
            </a:r>
            <a:r>
              <a:rPr lang="en-US" dirty="0"/>
              <a:t> (Internet Control Message Protocol)</a:t>
            </a:r>
          </a:p>
        </p:txBody>
      </p:sp>
      <p:sp>
        <p:nvSpPr>
          <p:cNvPr id="5" name="Content Placeholder 4">
            <a:extLst>
              <a:ext uri="{FF2B5EF4-FFF2-40B4-BE49-F238E27FC236}">
                <a16:creationId xmlns:a16="http://schemas.microsoft.com/office/drawing/2014/main" id="{E79E423D-5838-DA30-DF81-7AD5AA7976A3}"/>
              </a:ext>
            </a:extLst>
          </p:cNvPr>
          <p:cNvSpPr>
            <a:spLocks noGrp="1"/>
          </p:cNvSpPr>
          <p:nvPr>
            <p:ph sz="half" idx="1"/>
          </p:nvPr>
        </p:nvSpPr>
        <p:spPr>
          <a:xfrm>
            <a:off x="838200" y="1825625"/>
            <a:ext cx="4683369" cy="4351338"/>
          </a:xfrm>
        </p:spPr>
        <p:txBody>
          <a:bodyPr>
            <a:normAutofit/>
          </a:bodyPr>
          <a:lstStyle/>
          <a:p>
            <a:r>
              <a:rPr lang="ru-RU" dirty="0"/>
              <a:t>Используется для сообщений об ошибках и тестирования сети</a:t>
            </a:r>
          </a:p>
          <a:p>
            <a:r>
              <a:rPr lang="en-US" dirty="0"/>
              <a:t>ICMP-</a:t>
            </a:r>
            <a:r>
              <a:rPr lang="ru-RU" dirty="0"/>
              <a:t>сообщения передаются внутри </a:t>
            </a:r>
            <a:r>
              <a:rPr lang="en-US" dirty="0"/>
              <a:t>IP-</a:t>
            </a:r>
            <a:r>
              <a:rPr lang="ru-RU" dirty="0"/>
              <a:t>пакетов</a:t>
            </a:r>
          </a:p>
          <a:p>
            <a:pPr marL="0" indent="0">
              <a:buNone/>
            </a:pPr>
            <a:endParaRPr lang="en-US" dirty="0"/>
          </a:p>
        </p:txBody>
      </p:sp>
      <p:graphicFrame>
        <p:nvGraphicFramePr>
          <p:cNvPr id="12" name="Content Placeholder 6">
            <a:extLst>
              <a:ext uri="{FF2B5EF4-FFF2-40B4-BE49-F238E27FC236}">
                <a16:creationId xmlns:a16="http://schemas.microsoft.com/office/drawing/2014/main" id="{A840009F-8E44-165E-2F87-8DDCA6F59F8D}"/>
              </a:ext>
            </a:extLst>
          </p:cNvPr>
          <p:cNvGraphicFramePr>
            <a:graphicFrameLocks noGrp="1"/>
          </p:cNvGraphicFramePr>
          <p:nvPr>
            <p:ph sz="half" idx="2"/>
            <p:extLst>
              <p:ext uri="{D42A27DB-BD31-4B8C-83A1-F6EECF244321}">
                <p14:modId xmlns:p14="http://schemas.microsoft.com/office/powerpoint/2010/main" val="1551330"/>
              </p:ext>
            </p:extLst>
          </p:nvPr>
        </p:nvGraphicFramePr>
        <p:xfrm>
          <a:off x="5732585" y="1825625"/>
          <a:ext cx="6315648" cy="4683760"/>
        </p:xfrm>
        <a:graphic>
          <a:graphicData uri="http://schemas.openxmlformats.org/drawingml/2006/table">
            <a:tbl>
              <a:tblPr firstRow="1" bandRow="1">
                <a:tableStyleId>{5C22544A-7EE6-4342-B048-85BDC9FD1C3A}</a:tableStyleId>
              </a:tblPr>
              <a:tblGrid>
                <a:gridCol w="2813538">
                  <a:extLst>
                    <a:ext uri="{9D8B030D-6E8A-4147-A177-3AD203B41FA5}">
                      <a16:colId xmlns:a16="http://schemas.microsoft.com/office/drawing/2014/main" val="1661475043"/>
                    </a:ext>
                  </a:extLst>
                </a:gridCol>
                <a:gridCol w="3502110">
                  <a:extLst>
                    <a:ext uri="{9D8B030D-6E8A-4147-A177-3AD203B41FA5}">
                      <a16:colId xmlns:a16="http://schemas.microsoft.com/office/drawing/2014/main" val="2447630754"/>
                    </a:ext>
                  </a:extLst>
                </a:gridCol>
              </a:tblGrid>
              <a:tr h="370840">
                <a:tc>
                  <a:txBody>
                    <a:bodyPr/>
                    <a:lstStyle/>
                    <a:p>
                      <a:r>
                        <a:rPr lang="ru-RU" dirty="0"/>
                        <a:t>Тип сообщения </a:t>
                      </a:r>
                      <a:endParaRPr lang="en-US" dirty="0"/>
                    </a:p>
                  </a:txBody>
                  <a:tcPr/>
                </a:tc>
                <a:tc>
                  <a:txBody>
                    <a:bodyPr/>
                    <a:lstStyle/>
                    <a:p>
                      <a:r>
                        <a:rPr lang="ru-RU" dirty="0"/>
                        <a:t>Описание</a:t>
                      </a:r>
                      <a:endParaRPr lang="en-US" dirty="0"/>
                    </a:p>
                  </a:txBody>
                  <a:tcPr/>
                </a:tc>
                <a:extLst>
                  <a:ext uri="{0D108BD9-81ED-4DB2-BD59-A6C34878D82A}">
                    <a16:rowId xmlns:a16="http://schemas.microsoft.com/office/drawing/2014/main" val="726316305"/>
                  </a:ext>
                </a:extLst>
              </a:tr>
              <a:tr h="370840">
                <a:tc>
                  <a:txBody>
                    <a:bodyPr/>
                    <a:lstStyle/>
                    <a:p>
                      <a:r>
                        <a:rPr lang="ru-RU" dirty="0" err="1"/>
                        <a:t>Destination</a:t>
                      </a:r>
                      <a:r>
                        <a:rPr lang="ru-RU" dirty="0"/>
                        <a:t> </a:t>
                      </a:r>
                      <a:r>
                        <a:rPr lang="ru-RU" dirty="0" err="1"/>
                        <a:t>unreachable</a:t>
                      </a:r>
                      <a:endParaRPr lang="en-US" dirty="0"/>
                    </a:p>
                  </a:txBody>
                  <a:tcPr/>
                </a:tc>
                <a:tc>
                  <a:txBody>
                    <a:bodyPr/>
                    <a:lstStyle/>
                    <a:p>
                      <a:r>
                        <a:rPr lang="ru-RU" dirty="0"/>
                        <a:t>Пакет не может быть доставлен</a:t>
                      </a:r>
                      <a:endParaRPr lang="en-US" dirty="0"/>
                    </a:p>
                  </a:txBody>
                  <a:tcPr/>
                </a:tc>
                <a:extLst>
                  <a:ext uri="{0D108BD9-81ED-4DB2-BD59-A6C34878D82A}">
                    <a16:rowId xmlns:a16="http://schemas.microsoft.com/office/drawing/2014/main" val="2786801405"/>
                  </a:ext>
                </a:extLst>
              </a:tr>
              <a:tr h="370840">
                <a:tc>
                  <a:txBody>
                    <a:bodyPr/>
                    <a:lstStyle/>
                    <a:p>
                      <a:r>
                        <a:rPr lang="en-US" dirty="0"/>
                        <a:t>Time exceeded </a:t>
                      </a:r>
                    </a:p>
                  </a:txBody>
                  <a:tcPr/>
                </a:tc>
                <a:tc>
                  <a:txBody>
                    <a:bodyPr/>
                    <a:lstStyle/>
                    <a:p>
                      <a:r>
                        <a:rPr lang="ru-RU" dirty="0"/>
                        <a:t>Время жизни пакета уменьшилось до нуля </a:t>
                      </a:r>
                      <a:endParaRPr lang="en-US" dirty="0"/>
                    </a:p>
                  </a:txBody>
                  <a:tcPr/>
                </a:tc>
                <a:extLst>
                  <a:ext uri="{0D108BD9-81ED-4DB2-BD59-A6C34878D82A}">
                    <a16:rowId xmlns:a16="http://schemas.microsoft.com/office/drawing/2014/main" val="1625387241"/>
                  </a:ext>
                </a:extLst>
              </a:tr>
              <a:tr h="370840">
                <a:tc>
                  <a:txBody>
                    <a:bodyPr/>
                    <a:lstStyle/>
                    <a:p>
                      <a:r>
                        <a:rPr lang="en-US" dirty="0"/>
                        <a:t>Parameter problem </a:t>
                      </a:r>
                    </a:p>
                  </a:txBody>
                  <a:tcPr/>
                </a:tc>
                <a:tc>
                  <a:txBody>
                    <a:bodyPr/>
                    <a:lstStyle/>
                    <a:p>
                      <a:r>
                        <a:rPr lang="ru-RU" dirty="0"/>
                        <a:t>Неверное поле заголовка </a:t>
                      </a:r>
                      <a:endParaRPr lang="en-US" dirty="0"/>
                    </a:p>
                  </a:txBody>
                  <a:tcPr/>
                </a:tc>
                <a:extLst>
                  <a:ext uri="{0D108BD9-81ED-4DB2-BD59-A6C34878D82A}">
                    <a16:rowId xmlns:a16="http://schemas.microsoft.com/office/drawing/2014/main" val="2820770736"/>
                  </a:ext>
                </a:extLst>
              </a:tr>
              <a:tr h="370840">
                <a:tc>
                  <a:txBody>
                    <a:bodyPr/>
                    <a:lstStyle/>
                    <a:p>
                      <a:r>
                        <a:rPr lang="en-US" dirty="0"/>
                        <a:t>Source quench </a:t>
                      </a:r>
                    </a:p>
                  </a:txBody>
                  <a:tcPr/>
                </a:tc>
                <a:tc>
                  <a:txBody>
                    <a:bodyPr/>
                    <a:lstStyle/>
                    <a:p>
                      <a:r>
                        <a:rPr lang="ru-RU" dirty="0"/>
                        <a:t>Сдерживающий пакет </a:t>
                      </a:r>
                      <a:endParaRPr lang="en-US" dirty="0"/>
                    </a:p>
                  </a:txBody>
                  <a:tcPr/>
                </a:tc>
                <a:extLst>
                  <a:ext uri="{0D108BD9-81ED-4DB2-BD59-A6C34878D82A}">
                    <a16:rowId xmlns:a16="http://schemas.microsoft.com/office/drawing/2014/main" val="4116179788"/>
                  </a:ext>
                </a:extLst>
              </a:tr>
              <a:tr h="370840">
                <a:tc>
                  <a:txBody>
                    <a:bodyPr/>
                    <a:lstStyle/>
                    <a:p>
                      <a:r>
                        <a:rPr lang="en-US" dirty="0"/>
                        <a:t>Redirect</a:t>
                      </a:r>
                    </a:p>
                  </a:txBody>
                  <a:tcPr/>
                </a:tc>
                <a:tc>
                  <a:txBody>
                    <a:bodyPr/>
                    <a:lstStyle/>
                    <a:p>
                      <a:r>
                        <a:rPr lang="ru-RU" dirty="0"/>
                        <a:t>Научить маршрутизатор географии </a:t>
                      </a:r>
                      <a:endParaRPr lang="en-US" dirty="0"/>
                    </a:p>
                  </a:txBody>
                  <a:tcPr/>
                </a:tc>
                <a:extLst>
                  <a:ext uri="{0D108BD9-81ED-4DB2-BD59-A6C34878D82A}">
                    <a16:rowId xmlns:a16="http://schemas.microsoft.com/office/drawing/2014/main" val="2371463137"/>
                  </a:ext>
                </a:extLst>
              </a:tr>
              <a:tr h="370840">
                <a:tc>
                  <a:txBody>
                    <a:bodyPr/>
                    <a:lstStyle/>
                    <a:p>
                      <a:r>
                        <a:rPr lang="en-US" dirty="0"/>
                        <a:t>Echo and echo reply </a:t>
                      </a:r>
                    </a:p>
                  </a:txBody>
                  <a:tcPr/>
                </a:tc>
                <a:tc>
                  <a:txBody>
                    <a:bodyPr/>
                    <a:lstStyle/>
                    <a:p>
                      <a:r>
                        <a:rPr lang="ru-RU" dirty="0"/>
                        <a:t>Проверить, работает ли машина </a:t>
                      </a:r>
                      <a:endParaRPr lang="en-US" dirty="0"/>
                    </a:p>
                  </a:txBody>
                  <a:tcPr/>
                </a:tc>
                <a:extLst>
                  <a:ext uri="{0D108BD9-81ED-4DB2-BD59-A6C34878D82A}">
                    <a16:rowId xmlns:a16="http://schemas.microsoft.com/office/drawing/2014/main" val="3170485886"/>
                  </a:ext>
                </a:extLst>
              </a:tr>
              <a:tr h="370840">
                <a:tc>
                  <a:txBody>
                    <a:bodyPr/>
                    <a:lstStyle/>
                    <a:p>
                      <a:r>
                        <a:rPr lang="en-US" dirty="0"/>
                        <a:t>Timestamp request/reply </a:t>
                      </a:r>
                    </a:p>
                  </a:txBody>
                  <a:tcPr/>
                </a:tc>
                <a:tc>
                  <a:txBody>
                    <a:bodyPr/>
                    <a:lstStyle/>
                    <a:p>
                      <a:r>
                        <a:rPr lang="ru-RU" dirty="0"/>
                        <a:t>То же, что и запрос отклика, но с временной меткой </a:t>
                      </a:r>
                      <a:endParaRPr lang="en-US" dirty="0"/>
                    </a:p>
                  </a:txBody>
                  <a:tcPr/>
                </a:tc>
                <a:extLst>
                  <a:ext uri="{0D108BD9-81ED-4DB2-BD59-A6C34878D82A}">
                    <a16:rowId xmlns:a16="http://schemas.microsoft.com/office/drawing/2014/main" val="3548995007"/>
                  </a:ext>
                </a:extLst>
              </a:tr>
              <a:tr h="370840">
                <a:tc>
                  <a:txBody>
                    <a:bodyPr/>
                    <a:lstStyle/>
                    <a:p>
                      <a:r>
                        <a:rPr lang="en-US" dirty="0"/>
                        <a:t>Router advertisement/solicitation </a:t>
                      </a:r>
                    </a:p>
                  </a:txBody>
                  <a:tcPr/>
                </a:tc>
                <a:tc>
                  <a:txBody>
                    <a:bodyPr/>
                    <a:lstStyle/>
                    <a:p>
                      <a:r>
                        <a:rPr lang="ru-RU" dirty="0"/>
                        <a:t>Найти ближайший маршрутизатор </a:t>
                      </a:r>
                      <a:endParaRPr lang="en-US" dirty="0"/>
                    </a:p>
                  </a:txBody>
                  <a:tcPr/>
                </a:tc>
                <a:extLst>
                  <a:ext uri="{0D108BD9-81ED-4DB2-BD59-A6C34878D82A}">
                    <a16:rowId xmlns:a16="http://schemas.microsoft.com/office/drawing/2014/main" val="932008144"/>
                  </a:ext>
                </a:extLst>
              </a:tr>
            </a:tbl>
          </a:graphicData>
        </a:graphic>
      </p:graphicFrame>
    </p:spTree>
    <p:extLst>
      <p:ext uri="{BB962C8B-B14F-4D97-AF65-F5344CB8AC3E}">
        <p14:creationId xmlns:p14="http://schemas.microsoft.com/office/powerpoint/2010/main" val="172052786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71D45-2708-1E7F-5D4C-66CB22372494}"/>
              </a:ext>
            </a:extLst>
          </p:cNvPr>
          <p:cNvSpPr>
            <a:spLocks noGrp="1"/>
          </p:cNvSpPr>
          <p:nvPr>
            <p:ph type="title"/>
          </p:nvPr>
        </p:nvSpPr>
        <p:spPr/>
        <p:txBody>
          <a:bodyPr/>
          <a:lstStyle/>
          <a:p>
            <a:r>
              <a:rPr lang="ru-RU" dirty="0"/>
              <a:t>ARP — протокол разрешения адресов</a:t>
            </a:r>
            <a:endParaRPr lang="en-US" dirty="0"/>
          </a:p>
        </p:txBody>
      </p:sp>
      <p:sp>
        <p:nvSpPr>
          <p:cNvPr id="3" name="Content Placeholder 2">
            <a:extLst>
              <a:ext uri="{FF2B5EF4-FFF2-40B4-BE49-F238E27FC236}">
                <a16:creationId xmlns:a16="http://schemas.microsoft.com/office/drawing/2014/main" id="{9647E6A2-FCD5-F0DB-15C8-B0CB98E165EB}"/>
              </a:ext>
            </a:extLst>
          </p:cNvPr>
          <p:cNvSpPr>
            <a:spLocks noGrp="1"/>
          </p:cNvSpPr>
          <p:nvPr>
            <p:ph sz="half" idx="1"/>
          </p:nvPr>
        </p:nvSpPr>
        <p:spPr>
          <a:xfrm>
            <a:off x="838200" y="1825625"/>
            <a:ext cx="6343996" cy="4351338"/>
          </a:xfrm>
        </p:spPr>
        <p:txBody>
          <a:bodyPr>
            <a:normAutofit fontScale="92500" lnSpcReduction="20000"/>
          </a:bodyPr>
          <a:lstStyle/>
          <a:p>
            <a:r>
              <a:rPr lang="ru-RU" dirty="0"/>
              <a:t>Канальный уровень использует MAC-адреса, а IP-уровень — IP-адреса</a:t>
            </a:r>
          </a:p>
          <a:p>
            <a:r>
              <a:rPr lang="ru-RU" dirty="0"/>
              <a:t>ARP сопоставляет IP-адрес хоста с его MAC-адресом в одной LAN</a:t>
            </a:r>
          </a:p>
          <a:p>
            <a:r>
              <a:rPr lang="ru-RU" dirty="0"/>
              <a:t>Запрос ARP рассылается широковещательно, ответ даёт только нужный хост</a:t>
            </a:r>
          </a:p>
          <a:p>
            <a:r>
              <a:rPr lang="ru-RU" dirty="0"/>
              <a:t>Результат сопоставления сохраняется в ARP-кэше и периодически обновляется</a:t>
            </a:r>
          </a:p>
          <a:p>
            <a:r>
              <a:rPr lang="ru-RU" dirty="0"/>
              <a:t>ARP используется и для получения MAC-адреса шлюза по умолчанию; есть варианты </a:t>
            </a:r>
            <a:r>
              <a:rPr lang="ru-RU" dirty="0" err="1"/>
              <a:t>gratuitous</a:t>
            </a:r>
            <a:r>
              <a:rPr lang="ru-RU" dirty="0"/>
              <a:t> ARP и ARP-</a:t>
            </a:r>
            <a:r>
              <a:rPr lang="ru-RU" dirty="0" err="1"/>
              <a:t>proxy</a:t>
            </a:r>
            <a:endParaRPr lang="ru-RU" dirty="0"/>
          </a:p>
          <a:p>
            <a:endParaRPr lang="en-US" dirty="0"/>
          </a:p>
        </p:txBody>
      </p:sp>
      <p:pic>
        <p:nvPicPr>
          <p:cNvPr id="6" name="Content Placeholder 5">
            <a:extLst>
              <a:ext uri="{FF2B5EF4-FFF2-40B4-BE49-F238E27FC236}">
                <a16:creationId xmlns:a16="http://schemas.microsoft.com/office/drawing/2014/main" id="{06795363-F432-22F2-3DB5-4BC74341FB55}"/>
              </a:ext>
            </a:extLst>
          </p:cNvPr>
          <p:cNvPicPr>
            <a:picLocks noGrp="1" noChangeAspect="1"/>
          </p:cNvPicPr>
          <p:nvPr>
            <p:ph sz="half" idx="2"/>
          </p:nvPr>
        </p:nvPicPr>
        <p:blipFill>
          <a:blip r:embed="rId3"/>
          <a:stretch>
            <a:fillRect/>
          </a:stretch>
        </p:blipFill>
        <p:spPr>
          <a:xfrm>
            <a:off x="7398326" y="1825625"/>
            <a:ext cx="4670367" cy="2928487"/>
          </a:xfrm>
          <a:prstGeom prst="rect">
            <a:avLst/>
          </a:prstGeom>
        </p:spPr>
      </p:pic>
    </p:spTree>
    <p:extLst>
      <p:ext uri="{BB962C8B-B14F-4D97-AF65-F5344CB8AC3E}">
        <p14:creationId xmlns:p14="http://schemas.microsoft.com/office/powerpoint/2010/main" val="306582879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5AD79-EE46-BC5F-CFA7-815BD9F19C88}"/>
              </a:ext>
            </a:extLst>
          </p:cNvPr>
          <p:cNvSpPr>
            <a:spLocks noGrp="1"/>
          </p:cNvSpPr>
          <p:nvPr>
            <p:ph type="title"/>
          </p:nvPr>
        </p:nvSpPr>
        <p:spPr/>
        <p:txBody>
          <a:bodyPr>
            <a:normAutofit/>
          </a:bodyPr>
          <a:lstStyle/>
          <a:p>
            <a:r>
              <a:rPr lang="ru-RU" dirty="0"/>
              <a:t>DHCP — протокол динамической настройки хостов</a:t>
            </a:r>
            <a:endParaRPr lang="en-US" dirty="0"/>
          </a:p>
        </p:txBody>
      </p:sp>
      <p:sp>
        <p:nvSpPr>
          <p:cNvPr id="3" name="Content Placeholder 2">
            <a:extLst>
              <a:ext uri="{FF2B5EF4-FFF2-40B4-BE49-F238E27FC236}">
                <a16:creationId xmlns:a16="http://schemas.microsoft.com/office/drawing/2014/main" id="{24DE485F-5041-8764-1EF9-1E47503BEC0C}"/>
              </a:ext>
            </a:extLst>
          </p:cNvPr>
          <p:cNvSpPr>
            <a:spLocks noGrp="1"/>
          </p:cNvSpPr>
          <p:nvPr>
            <p:ph idx="1"/>
          </p:nvPr>
        </p:nvSpPr>
        <p:spPr/>
        <p:txBody>
          <a:bodyPr>
            <a:normAutofit fontScale="92500" lnSpcReduction="10000"/>
          </a:bodyPr>
          <a:lstStyle/>
          <a:p>
            <a:r>
              <a:rPr lang="ru-RU" dirty="0"/>
              <a:t>Автоматически выдаёт хостам IP-адреса и параметры сети</a:t>
            </a:r>
          </a:p>
          <a:p>
            <a:r>
              <a:rPr lang="ru-RU" dirty="0"/>
              <a:t>В каждой сети есть DHCP-сервер, отвечающий на широковещательные запросы</a:t>
            </a:r>
          </a:p>
          <a:p>
            <a:r>
              <a:rPr lang="ru-RU" dirty="0"/>
              <a:t>Клиент при старте отправляет DHCP DISCOVER, сервер отвечает DHCP OFFER</a:t>
            </a:r>
          </a:p>
          <a:p>
            <a:r>
              <a:rPr lang="ru-RU" dirty="0"/>
              <a:t>IP-адрес выдаётся как «аренда» на ограниченный срок и должен продлеваться</a:t>
            </a:r>
          </a:p>
          <a:p>
            <a:r>
              <a:rPr lang="ru-RU" dirty="0"/>
              <a:t>DHCP также передаёт маску сети, шлюз по умолчанию, DNS и др. настройки</a:t>
            </a:r>
          </a:p>
          <a:p>
            <a:r>
              <a:rPr lang="ru-RU" dirty="0"/>
              <a:t>Широко используется в корпоративных, домашних сетях и у провайдеров; заменил RARP и BOOTP</a:t>
            </a:r>
          </a:p>
          <a:p>
            <a:endParaRPr lang="en-US" dirty="0"/>
          </a:p>
        </p:txBody>
      </p:sp>
    </p:spTree>
    <p:extLst>
      <p:ext uri="{BB962C8B-B14F-4D97-AF65-F5344CB8AC3E}">
        <p14:creationId xmlns:p14="http://schemas.microsoft.com/office/powerpoint/2010/main" val="96680178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B73C9C-8DC8-9B20-C3C6-026BDFC390E8}"/>
              </a:ext>
            </a:extLst>
          </p:cNvPr>
          <p:cNvSpPr>
            <a:spLocks noGrp="1"/>
          </p:cNvSpPr>
          <p:nvPr>
            <p:ph type="title"/>
          </p:nvPr>
        </p:nvSpPr>
        <p:spPr/>
        <p:txBody>
          <a:bodyPr/>
          <a:lstStyle/>
          <a:p>
            <a:r>
              <a:rPr lang="ru-RU" dirty="0"/>
              <a:t>Транспортный уровень</a:t>
            </a:r>
            <a:endParaRPr lang="en-US" dirty="0"/>
          </a:p>
        </p:txBody>
      </p:sp>
      <p:sp>
        <p:nvSpPr>
          <p:cNvPr id="5" name="Text Placeholder 4">
            <a:extLst>
              <a:ext uri="{FF2B5EF4-FFF2-40B4-BE49-F238E27FC236}">
                <a16:creationId xmlns:a16="http://schemas.microsoft.com/office/drawing/2014/main" id="{099FE981-7159-E7D3-DED2-AC35DE7A5F1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7401148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55A846-00E0-2B3A-BCE3-1C13A39C9FFA}"/>
              </a:ext>
            </a:extLst>
          </p:cNvPr>
          <p:cNvSpPr>
            <a:spLocks noGrp="1"/>
          </p:cNvSpPr>
          <p:nvPr>
            <p:ph type="title"/>
          </p:nvPr>
        </p:nvSpPr>
        <p:spPr/>
        <p:txBody>
          <a:bodyPr>
            <a:normAutofit/>
          </a:bodyPr>
          <a:lstStyle/>
          <a:p>
            <a:r>
              <a:rPr lang="ru-RU" dirty="0"/>
              <a:t>Транспортные службы: роль и место в стеке</a:t>
            </a:r>
            <a:endParaRPr lang="en-US" dirty="0"/>
          </a:p>
        </p:txBody>
      </p:sp>
      <p:sp>
        <p:nvSpPr>
          <p:cNvPr id="5" name="Content Placeholder 4">
            <a:extLst>
              <a:ext uri="{FF2B5EF4-FFF2-40B4-BE49-F238E27FC236}">
                <a16:creationId xmlns:a16="http://schemas.microsoft.com/office/drawing/2014/main" id="{A5D027E1-BB97-0E71-7A0B-810DB3006EF1}"/>
              </a:ext>
            </a:extLst>
          </p:cNvPr>
          <p:cNvSpPr>
            <a:spLocks noGrp="1"/>
          </p:cNvSpPr>
          <p:nvPr>
            <p:ph sz="half" idx="1"/>
          </p:nvPr>
        </p:nvSpPr>
        <p:spPr>
          <a:xfrm>
            <a:off x="838200" y="1825625"/>
            <a:ext cx="6172200" cy="4351338"/>
          </a:xfrm>
        </p:spPr>
        <p:txBody>
          <a:bodyPr>
            <a:normAutofit fontScale="85000" lnSpcReduction="10000"/>
          </a:bodyPr>
          <a:lstStyle/>
          <a:p>
            <a:r>
              <a:rPr lang="ru-RU" dirty="0"/>
              <a:t>Транспортный уровень обслуживает процессы приложений</a:t>
            </a:r>
          </a:p>
          <a:p>
            <a:r>
              <a:rPr lang="ru-RU" dirty="0"/>
              <a:t>Строит свои службы поверх сетевого уровня</a:t>
            </a:r>
          </a:p>
          <a:p>
            <a:r>
              <a:rPr lang="ru-RU" dirty="0"/>
              <a:t>Поддерживает как соединение, так и «без соединения»</a:t>
            </a:r>
          </a:p>
          <a:p>
            <a:r>
              <a:rPr lang="ru-RU" dirty="0"/>
              <a:t>Делает передачу надёжнее, чем сама сеть</a:t>
            </a:r>
          </a:p>
          <a:p>
            <a:r>
              <a:rPr lang="ru-RU" dirty="0"/>
              <a:t>Прячет различия сетевых технологий за единым API</a:t>
            </a:r>
          </a:p>
          <a:p>
            <a:r>
              <a:rPr lang="ru-RU" dirty="0"/>
              <a:t>Нижние уровни — «поставщик», верхние — «потребитель» транспортной службы</a:t>
            </a:r>
          </a:p>
        </p:txBody>
      </p:sp>
      <p:pic>
        <p:nvPicPr>
          <p:cNvPr id="8" name="Content Placeholder 7">
            <a:extLst>
              <a:ext uri="{FF2B5EF4-FFF2-40B4-BE49-F238E27FC236}">
                <a16:creationId xmlns:a16="http://schemas.microsoft.com/office/drawing/2014/main" id="{BB884525-FCA3-83DC-F365-3296BBBC12B7}"/>
              </a:ext>
            </a:extLst>
          </p:cNvPr>
          <p:cNvPicPr>
            <a:picLocks noGrp="1" noChangeAspect="1"/>
          </p:cNvPicPr>
          <p:nvPr>
            <p:ph sz="half" idx="2"/>
          </p:nvPr>
        </p:nvPicPr>
        <p:blipFill>
          <a:blip r:embed="rId3"/>
          <a:stretch>
            <a:fillRect/>
          </a:stretch>
        </p:blipFill>
        <p:spPr>
          <a:xfrm>
            <a:off x="7010400" y="1825625"/>
            <a:ext cx="5181600" cy="2940676"/>
          </a:xfrm>
          <a:prstGeom prst="rect">
            <a:avLst/>
          </a:prstGeom>
        </p:spPr>
      </p:pic>
    </p:spTree>
    <p:extLst>
      <p:ext uri="{BB962C8B-B14F-4D97-AF65-F5344CB8AC3E}">
        <p14:creationId xmlns:p14="http://schemas.microsoft.com/office/powerpoint/2010/main" val="354287626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CBFAA-3EEA-1E0A-DDE6-BB5ACA2A6472}"/>
              </a:ext>
            </a:extLst>
          </p:cNvPr>
          <p:cNvSpPr>
            <a:spLocks noGrp="1"/>
          </p:cNvSpPr>
          <p:nvPr>
            <p:ph type="title"/>
          </p:nvPr>
        </p:nvSpPr>
        <p:spPr/>
        <p:txBody>
          <a:bodyPr>
            <a:normAutofit/>
          </a:bodyPr>
          <a:lstStyle/>
          <a:p>
            <a:r>
              <a:rPr lang="ru-RU" dirty="0"/>
              <a:t>Примитивы транспортной службы: общая идея</a:t>
            </a:r>
            <a:endParaRPr lang="en-US" dirty="0"/>
          </a:p>
        </p:txBody>
      </p:sp>
      <p:sp>
        <p:nvSpPr>
          <p:cNvPr id="3" name="Content Placeholder 2">
            <a:extLst>
              <a:ext uri="{FF2B5EF4-FFF2-40B4-BE49-F238E27FC236}">
                <a16:creationId xmlns:a16="http://schemas.microsoft.com/office/drawing/2014/main" id="{7EE92B26-A9C7-CBDA-4928-7EFFE02FF263}"/>
              </a:ext>
            </a:extLst>
          </p:cNvPr>
          <p:cNvSpPr>
            <a:spLocks noGrp="1"/>
          </p:cNvSpPr>
          <p:nvPr>
            <p:ph idx="1"/>
          </p:nvPr>
        </p:nvSpPr>
        <p:spPr/>
        <p:txBody>
          <a:bodyPr>
            <a:normAutofit/>
          </a:bodyPr>
          <a:lstStyle/>
          <a:p>
            <a:r>
              <a:rPr lang="ru-RU" dirty="0"/>
              <a:t>Транспортная служба строится поверх ненадёжной сети</a:t>
            </a:r>
          </a:p>
          <a:p>
            <a:r>
              <a:rPr lang="ru-RU" dirty="0"/>
              <a:t>Даёт приложению «идеальный» надёжный поток данных</a:t>
            </a:r>
          </a:p>
          <a:p>
            <a:r>
              <a:rPr lang="ru-RU" dirty="0"/>
              <a:t>Основной фокус — службы с установлением соединения</a:t>
            </a:r>
          </a:p>
          <a:p>
            <a:r>
              <a:rPr lang="ru-RU" dirty="0"/>
              <a:t>Пользователи — прикладные процессы, а не маршрутизаторы</a:t>
            </a:r>
          </a:p>
          <a:p>
            <a:r>
              <a:rPr lang="ru-RU" dirty="0"/>
              <a:t>Интерфейс должен быть простым и удобным для программиста</a:t>
            </a:r>
          </a:p>
          <a:p>
            <a:r>
              <a:rPr lang="ru-RU" dirty="0"/>
              <a:t>Базовый набор примитивов: LISTEN, CONNECT, SEND, RECEIVE, DISCONNECT</a:t>
            </a:r>
          </a:p>
        </p:txBody>
      </p:sp>
    </p:spTree>
    <p:extLst>
      <p:ext uri="{BB962C8B-B14F-4D97-AF65-F5344CB8AC3E}">
        <p14:creationId xmlns:p14="http://schemas.microsoft.com/office/powerpoint/2010/main" val="224760011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81812-19F8-E576-9841-532DB9D0A36A}"/>
              </a:ext>
            </a:extLst>
          </p:cNvPr>
          <p:cNvSpPr>
            <a:spLocks noGrp="1"/>
          </p:cNvSpPr>
          <p:nvPr>
            <p:ph type="title"/>
          </p:nvPr>
        </p:nvSpPr>
        <p:spPr/>
        <p:txBody>
          <a:bodyPr>
            <a:normAutofit/>
          </a:bodyPr>
          <a:lstStyle/>
          <a:p>
            <a:r>
              <a:rPr lang="ru-RU" dirty="0"/>
              <a:t>Примитивы: клиент–сервер и разъединение</a:t>
            </a:r>
            <a:endParaRPr lang="en-US" dirty="0"/>
          </a:p>
        </p:txBody>
      </p:sp>
      <p:sp>
        <p:nvSpPr>
          <p:cNvPr id="3" name="Content Placeholder 2">
            <a:extLst>
              <a:ext uri="{FF2B5EF4-FFF2-40B4-BE49-F238E27FC236}">
                <a16:creationId xmlns:a16="http://schemas.microsoft.com/office/drawing/2014/main" id="{8997A428-FDFA-0A0F-EB0B-6A1CDC36CC8E}"/>
              </a:ext>
            </a:extLst>
          </p:cNvPr>
          <p:cNvSpPr>
            <a:spLocks noGrp="1"/>
          </p:cNvSpPr>
          <p:nvPr>
            <p:ph sz="half" idx="1"/>
          </p:nvPr>
        </p:nvSpPr>
        <p:spPr>
          <a:xfrm>
            <a:off x="838199" y="1825625"/>
            <a:ext cx="6460375" cy="4351338"/>
          </a:xfrm>
        </p:spPr>
        <p:txBody>
          <a:bodyPr>
            <a:normAutofit fontScale="85000" lnSpcReduction="20000"/>
          </a:bodyPr>
          <a:lstStyle/>
          <a:p>
            <a:r>
              <a:rPr lang="ru-RU" dirty="0"/>
              <a:t>Схема клиент–сервер: LISTEN у сервера, CONNECT у клиента</a:t>
            </a:r>
          </a:p>
          <a:p>
            <a:r>
              <a:rPr lang="ru-RU" dirty="0"/>
              <a:t>Управляющие сегменты: CONNECTION REQUEST / CONNECTION ACCEPTED</a:t>
            </a:r>
          </a:p>
          <a:p>
            <a:r>
              <a:rPr lang="ru-RU" dirty="0"/>
              <a:t>Сегмент → в IP-пакет → во фрейм канального уровня</a:t>
            </a:r>
          </a:p>
          <a:p>
            <a:r>
              <a:rPr lang="ru-RU" dirty="0"/>
              <a:t>SEND / RECEIVE — обмен данными по установленному соединению</a:t>
            </a:r>
          </a:p>
          <a:p>
            <a:r>
              <a:rPr lang="ru-RU" dirty="0"/>
              <a:t>Подтверждения, таймеры и повторы скрыты внутри транспорта</a:t>
            </a:r>
          </a:p>
          <a:p>
            <a:r>
              <a:rPr lang="ru-RU" dirty="0"/>
              <a:t>Разъединение: асимметричное и симметричное (DISCONNECT с обеих сторон)</a:t>
            </a:r>
          </a:p>
          <a:p>
            <a:endParaRPr lang="en-US" dirty="0"/>
          </a:p>
        </p:txBody>
      </p:sp>
      <p:pic>
        <p:nvPicPr>
          <p:cNvPr id="6" name="Content Placeholder 5">
            <a:extLst>
              <a:ext uri="{FF2B5EF4-FFF2-40B4-BE49-F238E27FC236}">
                <a16:creationId xmlns:a16="http://schemas.microsoft.com/office/drawing/2014/main" id="{1D01A62E-80CC-D506-0DAF-CDD737E670CF}"/>
              </a:ext>
            </a:extLst>
          </p:cNvPr>
          <p:cNvPicPr>
            <a:picLocks noGrp="1" noChangeAspect="1"/>
          </p:cNvPicPr>
          <p:nvPr>
            <p:ph sz="half" idx="2"/>
          </p:nvPr>
        </p:nvPicPr>
        <p:blipFill>
          <a:blip r:embed="rId3"/>
          <a:stretch>
            <a:fillRect/>
          </a:stretch>
        </p:blipFill>
        <p:spPr>
          <a:xfrm>
            <a:off x="7514705" y="1825625"/>
            <a:ext cx="4504114" cy="1608321"/>
          </a:xfrm>
          <a:prstGeom prst="rect">
            <a:avLst/>
          </a:prstGeom>
        </p:spPr>
      </p:pic>
    </p:spTree>
    <p:extLst>
      <p:ext uri="{BB962C8B-B14F-4D97-AF65-F5344CB8AC3E}">
        <p14:creationId xmlns:p14="http://schemas.microsoft.com/office/powerpoint/2010/main" val="123635099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9A00C-2B06-488B-9CB6-F93D965795C3}"/>
              </a:ext>
            </a:extLst>
          </p:cNvPr>
          <p:cNvSpPr>
            <a:spLocks noGrp="1"/>
          </p:cNvSpPr>
          <p:nvPr>
            <p:ph type="title"/>
          </p:nvPr>
        </p:nvSpPr>
        <p:spPr/>
        <p:txBody>
          <a:bodyPr>
            <a:normAutofit/>
          </a:bodyPr>
          <a:lstStyle/>
          <a:p>
            <a:r>
              <a:rPr lang="ru-RU" dirty="0"/>
              <a:t>Сокеты Беркли: модель и серверная сторона</a:t>
            </a:r>
            <a:endParaRPr lang="en-US" dirty="0"/>
          </a:p>
        </p:txBody>
      </p:sp>
      <p:sp>
        <p:nvSpPr>
          <p:cNvPr id="3" name="Content Placeholder 2">
            <a:extLst>
              <a:ext uri="{FF2B5EF4-FFF2-40B4-BE49-F238E27FC236}">
                <a16:creationId xmlns:a16="http://schemas.microsoft.com/office/drawing/2014/main" id="{B10E7730-88F3-496B-A331-2162550FF8FD}"/>
              </a:ext>
            </a:extLst>
          </p:cNvPr>
          <p:cNvSpPr>
            <a:spLocks noGrp="1"/>
          </p:cNvSpPr>
          <p:nvPr>
            <p:ph sz="half" idx="1"/>
          </p:nvPr>
        </p:nvSpPr>
        <p:spPr>
          <a:xfrm>
            <a:off x="838199" y="1825625"/>
            <a:ext cx="5895109" cy="4351338"/>
          </a:xfrm>
        </p:spPr>
        <p:txBody>
          <a:bodyPr>
            <a:normAutofit fontScale="92500" lnSpcReduction="20000"/>
          </a:bodyPr>
          <a:lstStyle/>
          <a:p>
            <a:r>
              <a:rPr lang="ru-RU" dirty="0"/>
              <a:t>Сокеты — стандартный API транспортного уровня (UNIX, Windows)</a:t>
            </a:r>
          </a:p>
          <a:p>
            <a:pPr lvl="1"/>
            <a:r>
              <a:rPr lang="ru-RU" dirty="0"/>
              <a:t>Используются с TCP и другими протоколами</a:t>
            </a:r>
          </a:p>
          <a:p>
            <a:r>
              <a:rPr lang="ru-RU" dirty="0"/>
              <a:t>Серверные шаги: SOCKET → BIND → LISTEN → ACCEPT</a:t>
            </a:r>
          </a:p>
          <a:p>
            <a:pPr lvl="1"/>
            <a:r>
              <a:rPr lang="ru-RU" dirty="0"/>
              <a:t>SOCKET создаёт сокет и дескриптор</a:t>
            </a:r>
          </a:p>
          <a:p>
            <a:pPr lvl="1"/>
            <a:r>
              <a:rPr lang="ru-RU" dirty="0"/>
              <a:t>BIND привязывает сокет к адресу и порту</a:t>
            </a:r>
          </a:p>
          <a:p>
            <a:pPr lvl="1"/>
            <a:r>
              <a:rPr lang="ru-RU" dirty="0"/>
              <a:t>LISTEN создаёт очередь входящих соединений</a:t>
            </a:r>
          </a:p>
          <a:p>
            <a:pPr lvl="1"/>
            <a:r>
              <a:rPr lang="ru-RU" dirty="0"/>
              <a:t>ACCEPT ждёт запрос и выдаёт новый сокет для клиента</a:t>
            </a:r>
          </a:p>
          <a:p>
            <a:endParaRPr lang="en-US" dirty="0"/>
          </a:p>
        </p:txBody>
      </p:sp>
      <p:pic>
        <p:nvPicPr>
          <p:cNvPr id="6" name="Content Placeholder 5">
            <a:extLst>
              <a:ext uri="{FF2B5EF4-FFF2-40B4-BE49-F238E27FC236}">
                <a16:creationId xmlns:a16="http://schemas.microsoft.com/office/drawing/2014/main" id="{3D075CCB-3EF2-6B6B-8F3E-58AC6E5BFBD0}"/>
              </a:ext>
            </a:extLst>
          </p:cNvPr>
          <p:cNvPicPr>
            <a:picLocks noGrp="1" noChangeAspect="1"/>
          </p:cNvPicPr>
          <p:nvPr>
            <p:ph sz="half" idx="2"/>
          </p:nvPr>
        </p:nvPicPr>
        <p:blipFill>
          <a:blip r:embed="rId3"/>
          <a:stretch>
            <a:fillRect/>
          </a:stretch>
        </p:blipFill>
        <p:spPr>
          <a:xfrm>
            <a:off x="6733308" y="1825625"/>
            <a:ext cx="5181600" cy="4220537"/>
          </a:xfrm>
          <a:prstGeom prst="rect">
            <a:avLst/>
          </a:prstGeom>
        </p:spPr>
      </p:pic>
    </p:spTree>
    <p:extLst>
      <p:ext uri="{BB962C8B-B14F-4D97-AF65-F5344CB8AC3E}">
        <p14:creationId xmlns:p14="http://schemas.microsoft.com/office/powerpoint/2010/main" val="361099983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376D7-EC3D-869F-6F42-091249B0A086}"/>
              </a:ext>
            </a:extLst>
          </p:cNvPr>
          <p:cNvSpPr>
            <a:spLocks noGrp="1"/>
          </p:cNvSpPr>
          <p:nvPr>
            <p:ph type="title"/>
          </p:nvPr>
        </p:nvSpPr>
        <p:spPr/>
        <p:txBody>
          <a:bodyPr>
            <a:normAutofit/>
          </a:bodyPr>
          <a:lstStyle/>
          <a:p>
            <a:r>
              <a:rPr lang="ru-RU" dirty="0"/>
              <a:t>Клиент, обмен данными и гибкость сокетов</a:t>
            </a:r>
            <a:endParaRPr lang="en-US" dirty="0"/>
          </a:p>
        </p:txBody>
      </p:sp>
      <p:sp>
        <p:nvSpPr>
          <p:cNvPr id="3" name="Content Placeholder 2">
            <a:extLst>
              <a:ext uri="{FF2B5EF4-FFF2-40B4-BE49-F238E27FC236}">
                <a16:creationId xmlns:a16="http://schemas.microsoft.com/office/drawing/2014/main" id="{3C3D755E-350B-6177-CFA2-15E0DB389A19}"/>
              </a:ext>
            </a:extLst>
          </p:cNvPr>
          <p:cNvSpPr>
            <a:spLocks noGrp="1"/>
          </p:cNvSpPr>
          <p:nvPr>
            <p:ph idx="1"/>
          </p:nvPr>
        </p:nvSpPr>
        <p:spPr/>
        <p:txBody>
          <a:bodyPr>
            <a:normAutofit/>
          </a:bodyPr>
          <a:lstStyle/>
          <a:p>
            <a:r>
              <a:rPr lang="ru-RU" dirty="0"/>
              <a:t>Клиент: SOCKET → CONNECT к адресу сервера</a:t>
            </a:r>
          </a:p>
          <a:p>
            <a:pPr lvl="1"/>
            <a:r>
              <a:rPr lang="ru-RU" dirty="0"/>
              <a:t>CONNECT устанавливает полнодуплексное соединение</a:t>
            </a:r>
          </a:p>
          <a:p>
            <a:r>
              <a:rPr lang="ru-RU" dirty="0"/>
              <a:t>Данные передаются через SEND / RECEIVE или READ / WRITE</a:t>
            </a:r>
          </a:p>
          <a:p>
            <a:r>
              <a:rPr lang="ru-RU" dirty="0"/>
              <a:t>Разрыв соединения: симметричный CLOSE с обеих сторон</a:t>
            </a:r>
          </a:p>
          <a:p>
            <a:r>
              <a:rPr lang="ru-RU" dirty="0"/>
              <a:t>Сокеты работают и с </a:t>
            </a:r>
            <a:r>
              <a:rPr lang="ru-RU" dirty="0" err="1"/>
              <a:t>дейтаграммной</a:t>
            </a:r>
            <a:r>
              <a:rPr lang="ru-RU" dirty="0"/>
              <a:t> службой (UDP)</a:t>
            </a:r>
          </a:p>
          <a:p>
            <a:r>
              <a:rPr lang="ru-RU" dirty="0"/>
              <a:t>Можно использовать расширенные вызовы (SENDTO, RECEIVEFROM)</a:t>
            </a:r>
          </a:p>
          <a:p>
            <a:r>
              <a:rPr lang="ru-RU" dirty="0"/>
              <a:t>Сокет-API применяется и с новыми протоколами (DCCP, SCTP, QUIC)</a:t>
            </a:r>
          </a:p>
          <a:p>
            <a:endParaRPr lang="en-US" dirty="0"/>
          </a:p>
        </p:txBody>
      </p:sp>
    </p:spTree>
    <p:extLst>
      <p:ext uri="{BB962C8B-B14F-4D97-AF65-F5344CB8AC3E}">
        <p14:creationId xmlns:p14="http://schemas.microsoft.com/office/powerpoint/2010/main" val="50392833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3041BE-14A8-5822-6821-CF02EA16F5A8}"/>
              </a:ext>
            </a:extLst>
          </p:cNvPr>
          <p:cNvSpPr txBox="1"/>
          <p:nvPr/>
        </p:nvSpPr>
        <p:spPr>
          <a:xfrm>
            <a:off x="0" y="-1"/>
            <a:ext cx="12192000" cy="6924973"/>
          </a:xfrm>
          <a:prstGeom prst="rect">
            <a:avLst/>
          </a:prstGeom>
          <a:noFill/>
        </p:spPr>
        <p:txBody>
          <a:bodyPr wrap="square">
            <a:spAutoFit/>
          </a:bodyPr>
          <a:lstStyle/>
          <a:p>
            <a:pPr>
              <a:buNone/>
            </a:pPr>
            <a:r>
              <a:rPr lang="en-US" sz="1200" b="0" dirty="0">
                <a:solidFill>
                  <a:srgbClr val="808080"/>
                </a:solidFill>
                <a:effectLst/>
                <a:latin typeface="Consolas" panose="020B0609020204030204" pitchFamily="49" charset="0"/>
              </a:rPr>
              <a:t>#define</a:t>
            </a:r>
            <a:r>
              <a:rPr lang="en-US" sz="1200" b="0" dirty="0">
                <a:solidFill>
                  <a:srgbClr val="000000"/>
                </a:solidFill>
                <a:effectLst/>
                <a:latin typeface="Consolas" panose="020B0609020204030204" pitchFamily="49" charset="0"/>
              </a:rPr>
              <a:t> </a:t>
            </a:r>
            <a:r>
              <a:rPr lang="en-US" sz="1200" b="0" dirty="0">
                <a:solidFill>
                  <a:srgbClr val="8A1BFF"/>
                </a:solidFill>
                <a:effectLst/>
                <a:latin typeface="Consolas" panose="020B0609020204030204" pitchFamily="49" charset="0"/>
              </a:rPr>
              <a:t>BUF_SIZE</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4096</a:t>
            </a:r>
            <a:endParaRPr lang="en-US" sz="1200" b="0" dirty="0">
              <a:solidFill>
                <a:srgbClr val="000000"/>
              </a:solidFill>
              <a:effectLst/>
              <a:latin typeface="Consolas" panose="020B0609020204030204" pitchFamily="49" charset="0"/>
            </a:endParaRPr>
          </a:p>
          <a:p>
            <a:pPr>
              <a:buNone/>
            </a:pPr>
            <a:r>
              <a:rPr lang="en-US" sz="1200" b="0" dirty="0">
                <a:solidFill>
                  <a:srgbClr val="808080"/>
                </a:solidFill>
                <a:effectLst/>
                <a:latin typeface="Consolas" panose="020B0609020204030204" pitchFamily="49" charset="0"/>
              </a:rPr>
              <a:t>#define</a:t>
            </a:r>
            <a:r>
              <a:rPr lang="en-US" sz="1200" b="0" dirty="0">
                <a:solidFill>
                  <a:srgbClr val="000000"/>
                </a:solidFill>
                <a:effectLst/>
                <a:latin typeface="Consolas" panose="020B0609020204030204" pitchFamily="49" charset="0"/>
              </a:rPr>
              <a:t> </a:t>
            </a:r>
            <a:r>
              <a:rPr lang="en-US" sz="1200" b="0" dirty="0">
                <a:solidFill>
                  <a:srgbClr val="8A1BFF"/>
                </a:solidFill>
                <a:effectLst/>
                <a:latin typeface="Consolas" panose="020B0609020204030204" pitchFamily="49" charset="0"/>
              </a:rPr>
              <a:t>QUEUE_SIZE</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10</a:t>
            </a:r>
            <a:endParaRPr lang="en-US" sz="1200" b="0" dirty="0">
              <a:solidFill>
                <a:srgbClr val="000000"/>
              </a:solidFill>
              <a:effectLst/>
              <a:latin typeface="Consolas" panose="020B0609020204030204" pitchFamily="49" charset="0"/>
            </a:endParaRPr>
          </a:p>
          <a:p>
            <a:pPr>
              <a:buNone/>
            </a:pP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main</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err="1">
                <a:solidFill>
                  <a:srgbClr val="808080"/>
                </a:solidFill>
                <a:effectLst/>
                <a:latin typeface="Consolas" panose="020B0609020204030204" pitchFamily="49" charset="0"/>
              </a:rPr>
              <a:t>argc</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char</a:t>
            </a:r>
            <a:r>
              <a:rPr lang="en-US" sz="1200" b="0" dirty="0">
                <a:solidFill>
                  <a:srgbClr val="000000"/>
                </a:solidFill>
                <a:effectLst/>
                <a:latin typeface="Consolas" panose="020B0609020204030204" pitchFamily="49" charset="0"/>
              </a:rPr>
              <a:t>* </a:t>
            </a:r>
            <a:r>
              <a:rPr lang="en-US" sz="1200" b="0" dirty="0" err="1">
                <a:solidFill>
                  <a:srgbClr val="808080"/>
                </a:solidFill>
                <a:effectLst/>
                <a:latin typeface="Consolas" panose="020B0609020204030204" pitchFamily="49" charset="0"/>
              </a:rPr>
              <a:t>argv</a:t>
            </a:r>
            <a:r>
              <a:rPr lang="en-US" sz="1200" b="0" dirty="0">
                <a:solidFill>
                  <a:srgbClr val="0000F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p>
          <a:p>
            <a:pPr>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s</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b</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l</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fd</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sa</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bytes</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on</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a:t>
            </a:r>
          </a:p>
          <a:p>
            <a:pPr>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char</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buf</a:t>
            </a:r>
            <a:r>
              <a:rPr lang="en-US" sz="1200" b="0" dirty="0">
                <a:solidFill>
                  <a:srgbClr val="000000"/>
                </a:solidFill>
                <a:effectLst/>
                <a:latin typeface="Consolas" panose="020B0609020204030204" pitchFamily="49" charset="0"/>
              </a:rPr>
              <a:t>[</a:t>
            </a:r>
            <a:r>
              <a:rPr lang="en-US" sz="1200" b="0" dirty="0">
                <a:solidFill>
                  <a:srgbClr val="8A1BFF"/>
                </a:solidFill>
                <a:effectLst/>
                <a:latin typeface="Consolas" panose="020B0609020204030204" pitchFamily="49" charset="0"/>
              </a:rPr>
              <a:t>BUF_SIZE</a:t>
            </a:r>
            <a:r>
              <a:rPr lang="en-US" sz="1200" b="0" dirty="0">
                <a:solidFill>
                  <a:srgbClr val="000000"/>
                </a:solidFill>
                <a:effectLst/>
                <a:latin typeface="Consolas" panose="020B0609020204030204" pitchFamily="49" charset="0"/>
              </a:rPr>
              <a:t>];</a:t>
            </a:r>
          </a:p>
          <a:p>
            <a:pPr>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struct</a:t>
            </a:r>
            <a:r>
              <a:rPr lang="en-US" sz="1200" b="0" dirty="0">
                <a:solidFill>
                  <a:srgbClr val="000000"/>
                </a:solidFill>
                <a:effectLst/>
                <a:latin typeface="Consolas" panose="020B0609020204030204" pitchFamily="49" charset="0"/>
              </a:rPr>
              <a:t> </a:t>
            </a:r>
            <a:r>
              <a:rPr lang="en-US" sz="1200" b="0" dirty="0" err="1">
                <a:solidFill>
                  <a:srgbClr val="2B91AF"/>
                </a:solidFill>
                <a:effectLst/>
                <a:latin typeface="Consolas" panose="020B0609020204030204" pitchFamily="49" charset="0"/>
              </a:rPr>
              <a:t>sockaddr_in</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channel</a:t>
            </a:r>
            <a:r>
              <a:rPr lang="en-US" sz="1200" b="0" dirty="0">
                <a:solidFill>
                  <a:srgbClr val="000000"/>
                </a:solidFill>
                <a:effectLst/>
                <a:latin typeface="Consolas" panose="020B0609020204030204" pitchFamily="49" charset="0"/>
              </a:rPr>
              <a:t>;</a:t>
            </a:r>
          </a:p>
          <a:p>
            <a:pPr>
              <a:buNone/>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memset</a:t>
            </a:r>
            <a:r>
              <a:rPr lang="en-US" sz="1200" b="0" dirty="0">
                <a:solidFill>
                  <a:srgbClr val="000000"/>
                </a:solidFill>
                <a:effectLst/>
                <a:latin typeface="Consolas" panose="020B0609020204030204" pitchFamily="49" charset="0"/>
              </a:rPr>
              <a:t>(&amp;</a:t>
            </a:r>
            <a:r>
              <a:rPr lang="en-US" sz="1200" b="0" dirty="0">
                <a:solidFill>
                  <a:srgbClr val="1F377F"/>
                </a:solidFill>
                <a:effectLst/>
                <a:latin typeface="Consolas" panose="020B0609020204030204" pitchFamily="49" charset="0"/>
              </a:rPr>
              <a:t>channel</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 </a:t>
            </a:r>
            <a:r>
              <a:rPr lang="en-US" sz="1200" b="0" dirty="0" err="1">
                <a:solidFill>
                  <a:srgbClr val="0000FF"/>
                </a:solidFill>
                <a:effectLst/>
                <a:latin typeface="Consolas" panose="020B0609020204030204" pitchFamily="49" charset="0"/>
              </a:rPr>
              <a:t>sizeof</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channel</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channel</a:t>
            </a:r>
            <a:r>
              <a:rPr lang="en-US" sz="1200" b="0" dirty="0" err="1">
                <a:solidFill>
                  <a:srgbClr val="000000"/>
                </a:solidFill>
                <a:effectLst/>
                <a:latin typeface="Consolas" panose="020B0609020204030204" pitchFamily="49" charset="0"/>
              </a:rPr>
              <a:t>.</a:t>
            </a:r>
            <a:r>
              <a:rPr lang="en-US" sz="1200" b="0" dirty="0" err="1">
                <a:solidFill>
                  <a:srgbClr val="1F377F"/>
                </a:solidFill>
                <a:effectLst/>
                <a:latin typeface="Consolas" panose="020B0609020204030204" pitchFamily="49" charset="0"/>
              </a:rPr>
              <a:t>sin_family</a:t>
            </a:r>
            <a:r>
              <a:rPr lang="en-US" sz="1200" b="0" dirty="0">
                <a:solidFill>
                  <a:srgbClr val="000000"/>
                </a:solidFill>
                <a:effectLst/>
                <a:latin typeface="Consolas" panose="020B0609020204030204" pitchFamily="49" charset="0"/>
              </a:rPr>
              <a:t> = AF_INET;</a:t>
            </a:r>
            <a:r>
              <a:rPr lang="ru-RU" sz="1200" b="0" dirty="0">
                <a:solidFill>
                  <a:srgbClr val="000000"/>
                </a:solidFill>
                <a:effectLst/>
                <a:latin typeface="Consolas" panose="020B0609020204030204" pitchFamily="49" charset="0"/>
              </a:rPr>
              <a:t> </a:t>
            </a:r>
            <a:r>
              <a:rPr lang="en-US" sz="1200" dirty="0">
                <a:solidFill>
                  <a:srgbClr val="008000"/>
                </a:solidFill>
                <a:latin typeface="Consolas" panose="020B0609020204030204" pitchFamily="49" charset="0"/>
              </a:rPr>
              <a:t>//</a:t>
            </a:r>
            <a:r>
              <a:rPr lang="ru-RU" sz="1200" dirty="0">
                <a:solidFill>
                  <a:srgbClr val="008000"/>
                </a:solidFill>
                <a:latin typeface="Consolas" panose="020B0609020204030204" pitchFamily="49" charset="0"/>
              </a:rPr>
              <a:t> Семейство адресов: </a:t>
            </a:r>
            <a:r>
              <a:rPr lang="en-US" sz="1200" dirty="0">
                <a:solidFill>
                  <a:srgbClr val="008000"/>
                </a:solidFill>
                <a:latin typeface="Consolas" panose="020B0609020204030204" pitchFamily="49" charset="0"/>
              </a:rPr>
              <a:t>IPv4</a:t>
            </a:r>
            <a:endParaRPr lang="en-US" sz="1200" b="0" dirty="0">
              <a:solidFill>
                <a:srgbClr val="000000"/>
              </a:solidFill>
              <a:effectLst/>
              <a:latin typeface="Consolas" panose="020B0609020204030204" pitchFamily="49" charset="0"/>
            </a:endParaRPr>
          </a:p>
          <a:p>
            <a:pPr>
              <a:buNone/>
            </a:pP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channel</a:t>
            </a:r>
            <a:r>
              <a:rPr lang="en-US" sz="1200" b="0" dirty="0" err="1">
                <a:solidFill>
                  <a:srgbClr val="000000"/>
                </a:solidFill>
                <a:effectLst/>
                <a:latin typeface="Consolas" panose="020B0609020204030204" pitchFamily="49" charset="0"/>
              </a:rPr>
              <a:t>.</a:t>
            </a:r>
            <a:r>
              <a:rPr lang="en-US" sz="1200" b="0" dirty="0" err="1">
                <a:solidFill>
                  <a:srgbClr val="1F377F"/>
                </a:solidFill>
                <a:effectLst/>
                <a:latin typeface="Consolas" panose="020B0609020204030204" pitchFamily="49" charset="0"/>
              </a:rPr>
              <a:t>sin_addr</a:t>
            </a:r>
            <a:r>
              <a:rPr lang="en-US" sz="1200" b="0" dirty="0" err="1">
                <a:solidFill>
                  <a:srgbClr val="000000"/>
                </a:solidFill>
                <a:effectLst/>
                <a:latin typeface="Consolas" panose="020B0609020204030204" pitchFamily="49" charset="0"/>
              </a:rPr>
              <a:t>.</a:t>
            </a:r>
            <a:r>
              <a:rPr lang="en-US" sz="1200" b="0" dirty="0" err="1">
                <a:solidFill>
                  <a:srgbClr val="1F377F"/>
                </a:solidFill>
                <a:effectLst/>
                <a:latin typeface="Consolas" panose="020B0609020204030204" pitchFamily="49" charset="0"/>
              </a:rPr>
              <a:t>s_addr</a:t>
            </a:r>
            <a:r>
              <a:rPr lang="en-US" sz="1200" b="0" dirty="0">
                <a:solidFill>
                  <a:srgbClr val="000000"/>
                </a:solidFill>
                <a:effectLst/>
                <a:latin typeface="Consolas" panose="020B0609020204030204" pitchFamily="49" charset="0"/>
              </a:rPr>
              <a:t> = </a:t>
            </a:r>
            <a:r>
              <a:rPr lang="en-US" sz="1200" b="0" dirty="0" err="1">
                <a:solidFill>
                  <a:srgbClr val="74531F"/>
                </a:solidFill>
                <a:effectLst/>
                <a:latin typeface="Consolas" panose="020B0609020204030204" pitchFamily="49" charset="0"/>
              </a:rPr>
              <a:t>htonl</a:t>
            </a:r>
            <a:r>
              <a:rPr lang="en-US" sz="1200" b="0" dirty="0">
                <a:solidFill>
                  <a:srgbClr val="000000"/>
                </a:solidFill>
                <a:effectLst/>
                <a:latin typeface="Consolas" panose="020B0609020204030204" pitchFamily="49" charset="0"/>
              </a:rPr>
              <a:t>(INADDR_ANY);</a:t>
            </a:r>
            <a:r>
              <a:rPr lang="ru-RU" sz="1200" b="0" dirty="0">
                <a:solidFill>
                  <a:srgbClr val="000000"/>
                </a:solidFill>
                <a:effectLst/>
                <a:latin typeface="Consolas" panose="020B0609020204030204" pitchFamily="49" charset="0"/>
              </a:rPr>
              <a:t> </a:t>
            </a:r>
            <a:r>
              <a:rPr lang="en-US" sz="1200" dirty="0">
                <a:solidFill>
                  <a:srgbClr val="008000"/>
                </a:solidFill>
                <a:latin typeface="Consolas" panose="020B0609020204030204" pitchFamily="49" charset="0"/>
              </a:rPr>
              <a:t>//</a:t>
            </a:r>
            <a:r>
              <a:rPr lang="ru-RU" sz="1200" dirty="0">
                <a:solidFill>
                  <a:srgbClr val="008000"/>
                </a:solidFill>
                <a:latin typeface="Consolas" panose="020B0609020204030204" pitchFamily="49" charset="0"/>
              </a:rPr>
              <a:t> Принимать соединения на всех локальных интерфейсах</a:t>
            </a:r>
            <a:endParaRPr lang="en-US" sz="1200" b="0" dirty="0">
              <a:solidFill>
                <a:srgbClr val="000000"/>
              </a:solidFill>
              <a:effectLst/>
              <a:latin typeface="Consolas" panose="020B0609020204030204" pitchFamily="49" charset="0"/>
            </a:endParaRPr>
          </a:p>
          <a:p>
            <a:pPr>
              <a:buNone/>
            </a:pP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channel</a:t>
            </a:r>
            <a:r>
              <a:rPr lang="en-US" sz="1200" b="0" dirty="0" err="1">
                <a:solidFill>
                  <a:srgbClr val="000000"/>
                </a:solidFill>
                <a:effectLst/>
                <a:latin typeface="Consolas" panose="020B0609020204030204" pitchFamily="49" charset="0"/>
              </a:rPr>
              <a:t>.</a:t>
            </a:r>
            <a:r>
              <a:rPr lang="en-US" sz="1200" b="0" dirty="0" err="1">
                <a:solidFill>
                  <a:srgbClr val="1F377F"/>
                </a:solidFill>
                <a:effectLst/>
                <a:latin typeface="Consolas" panose="020B0609020204030204" pitchFamily="49" charset="0"/>
              </a:rPr>
              <a:t>sin_port</a:t>
            </a:r>
            <a:r>
              <a:rPr lang="en-US" sz="1200" b="0" dirty="0">
                <a:solidFill>
                  <a:srgbClr val="000000"/>
                </a:solidFill>
                <a:effectLst/>
                <a:latin typeface="Consolas" panose="020B0609020204030204" pitchFamily="49" charset="0"/>
              </a:rPr>
              <a:t> = </a:t>
            </a:r>
            <a:r>
              <a:rPr lang="en-US" sz="1200" b="0" dirty="0" err="1">
                <a:solidFill>
                  <a:srgbClr val="74531F"/>
                </a:solidFill>
                <a:effectLst/>
                <a:latin typeface="Consolas" panose="020B0609020204030204" pitchFamily="49" charset="0"/>
              </a:rPr>
              <a:t>htons</a:t>
            </a:r>
            <a:r>
              <a:rPr lang="en-US" sz="1200" b="0" dirty="0">
                <a:solidFill>
                  <a:srgbClr val="000000"/>
                </a:solidFill>
                <a:effectLst/>
                <a:latin typeface="Consolas" panose="020B0609020204030204" pitchFamily="49" charset="0"/>
              </a:rPr>
              <a:t>(</a:t>
            </a:r>
            <a:r>
              <a:rPr lang="en-US" sz="1200" dirty="0">
                <a:solidFill>
                  <a:srgbClr val="098658"/>
                </a:solidFill>
                <a:latin typeface="Consolas" panose="020B0609020204030204" pitchFamily="49" charset="0"/>
              </a:rPr>
              <a:t>8080</a:t>
            </a:r>
            <a:r>
              <a:rPr lang="en-US" sz="1200" b="0" dirty="0">
                <a:solidFill>
                  <a:srgbClr val="000000"/>
                </a:solidFill>
                <a:effectLst/>
                <a:latin typeface="Consolas" panose="020B0609020204030204" pitchFamily="49" charset="0"/>
              </a:rPr>
              <a:t>);</a:t>
            </a:r>
            <a:r>
              <a:rPr lang="ru-RU" sz="1200" b="0" dirty="0">
                <a:solidFill>
                  <a:srgbClr val="000000"/>
                </a:solidFill>
                <a:effectLst/>
                <a:latin typeface="Consolas" panose="020B0609020204030204" pitchFamily="49" charset="0"/>
              </a:rPr>
              <a:t> </a:t>
            </a:r>
            <a:r>
              <a:rPr lang="en-US" sz="1200" dirty="0">
                <a:solidFill>
                  <a:srgbClr val="008000"/>
                </a:solidFill>
                <a:latin typeface="Consolas" panose="020B0609020204030204" pitchFamily="49" charset="0"/>
              </a:rPr>
              <a:t>//</a:t>
            </a:r>
            <a:r>
              <a:rPr lang="ru-RU" sz="1200" dirty="0">
                <a:solidFill>
                  <a:srgbClr val="008000"/>
                </a:solidFill>
                <a:latin typeface="Consolas" panose="020B0609020204030204" pitchFamily="49" charset="0"/>
              </a:rPr>
              <a:t> Порт сервера (8080), приводим к сетевому порядку байт</a:t>
            </a:r>
            <a:endParaRPr lang="en-US" sz="1200" b="0" dirty="0">
              <a:solidFill>
                <a:srgbClr val="000000"/>
              </a:solidFill>
              <a:effectLst/>
              <a:latin typeface="Consolas" panose="020B0609020204030204" pitchFamily="49" charset="0"/>
            </a:endParaRPr>
          </a:p>
          <a:p>
            <a:pPr>
              <a:buNone/>
            </a:pPr>
            <a:endParaRPr lang="en-US" sz="1200" b="0" dirty="0">
              <a:solidFill>
                <a:srgbClr val="000000"/>
              </a:solidFill>
              <a:effectLst/>
              <a:latin typeface="Consolas" panose="020B0609020204030204" pitchFamily="49" charset="0"/>
            </a:endParaRPr>
          </a:p>
          <a:p>
            <a:pPr>
              <a:buNone/>
            </a:pP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s</a:t>
            </a:r>
            <a:r>
              <a:rPr lang="en-US" sz="1200" b="0" dirty="0">
                <a:solidFill>
                  <a:srgbClr val="000000"/>
                </a:solidFill>
                <a:effectLst/>
                <a:latin typeface="Consolas" panose="020B0609020204030204" pitchFamily="49" charset="0"/>
              </a:rPr>
              <a:t> = </a:t>
            </a:r>
            <a:r>
              <a:rPr lang="en-US" sz="1200" b="0" dirty="0">
                <a:solidFill>
                  <a:srgbClr val="74531F"/>
                </a:solidFill>
                <a:effectLst/>
                <a:latin typeface="Consolas" panose="020B0609020204030204" pitchFamily="49" charset="0"/>
              </a:rPr>
              <a:t>socket</a:t>
            </a:r>
            <a:r>
              <a:rPr lang="en-US" sz="1200" b="0" dirty="0">
                <a:solidFill>
                  <a:srgbClr val="000000"/>
                </a:solidFill>
                <a:effectLst/>
                <a:latin typeface="Consolas" panose="020B0609020204030204" pitchFamily="49" charset="0"/>
              </a:rPr>
              <a:t>(AF_INET, SOCK_STREAM, IPPROTO_TCP);</a:t>
            </a:r>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Создаем TCP-сокет (IPv4, потоковый, протокол TCP)</a:t>
            </a:r>
            <a:endParaRPr lang="en-US" sz="1200" dirty="0">
              <a:solidFill>
                <a:srgbClr val="008000"/>
              </a:solidFill>
              <a:latin typeface="Consolas" panose="020B0609020204030204" pitchFamily="49" charset="0"/>
            </a:endParaRPr>
          </a:p>
          <a:p>
            <a:pPr>
              <a:buNone/>
            </a:pPr>
            <a:r>
              <a:rPr lang="en-US"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if</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s</a:t>
            </a:r>
            <a:r>
              <a:rPr lang="en-US" sz="1200" b="0" dirty="0">
                <a:solidFill>
                  <a:srgbClr val="000000"/>
                </a:solidFill>
                <a:effectLst/>
                <a:latin typeface="Consolas" panose="020B0609020204030204" pitchFamily="49" charset="0"/>
              </a:rPr>
              <a:t> &lt;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 {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ru-RU" sz="1200" b="0" dirty="0">
                <a:solidFill>
                  <a:srgbClr val="A31515"/>
                </a:solidFill>
                <a:effectLst/>
                <a:latin typeface="Consolas" panose="020B0609020204030204" pitchFamily="49" charset="0"/>
              </a:rPr>
              <a:t>сбой вызова сокета</a:t>
            </a:r>
            <a:r>
              <a:rPr lang="ru-RU" sz="1200" b="0" dirty="0">
                <a:solidFill>
                  <a:srgbClr val="E21F1F"/>
                </a:solidFill>
                <a:effectLst/>
                <a:latin typeface="Consolas" panose="020B0609020204030204" pitchFamily="49" charset="0"/>
              </a:rPr>
              <a:t>"</a:t>
            </a:r>
            <a:r>
              <a:rPr lang="ru-RU"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exit</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 }</a:t>
            </a:r>
          </a:p>
          <a:p>
            <a:pPr>
              <a:buNone/>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setsockopt</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s</a:t>
            </a:r>
            <a:r>
              <a:rPr lang="en-US" sz="1200" b="0" dirty="0">
                <a:solidFill>
                  <a:srgbClr val="000000"/>
                </a:solidFill>
                <a:effectLst/>
                <a:latin typeface="Consolas" panose="020B0609020204030204" pitchFamily="49" charset="0"/>
              </a:rPr>
              <a:t>, SOL_SOCKET, SO_REUSEADDR, (</a:t>
            </a:r>
            <a:r>
              <a:rPr lang="en-US" sz="1200" b="0" dirty="0">
                <a:solidFill>
                  <a:srgbClr val="0000FF"/>
                </a:solidFill>
                <a:effectLst/>
                <a:latin typeface="Consolas" panose="020B0609020204030204" pitchFamily="49" charset="0"/>
              </a:rPr>
              <a:t>char</a:t>
            </a:r>
            <a:r>
              <a:rPr lang="en-US" sz="1200" b="0" dirty="0">
                <a:solidFill>
                  <a:srgbClr val="000000"/>
                </a:solidFill>
                <a:effectLst/>
                <a:latin typeface="Consolas" panose="020B0609020204030204" pitchFamily="49" charset="0"/>
              </a:rPr>
              <a:t>*)&amp;</a:t>
            </a:r>
            <a:r>
              <a:rPr lang="en-US" sz="1200" b="0" dirty="0">
                <a:solidFill>
                  <a:srgbClr val="1F377F"/>
                </a:solidFill>
                <a:effectLst/>
                <a:latin typeface="Consolas" panose="020B0609020204030204" pitchFamily="49" charset="0"/>
              </a:rPr>
              <a:t>on</a:t>
            </a:r>
            <a:r>
              <a:rPr lang="en-US" sz="1200" b="0" dirty="0">
                <a:solidFill>
                  <a:srgbClr val="000000"/>
                </a:solidFill>
                <a:effectLst/>
                <a:latin typeface="Consolas" panose="020B0609020204030204" pitchFamily="49" charset="0"/>
              </a:rPr>
              <a:t>, </a:t>
            </a:r>
            <a:r>
              <a:rPr lang="en-US" sz="1200" b="0" dirty="0" err="1">
                <a:solidFill>
                  <a:srgbClr val="0000FF"/>
                </a:solidFill>
                <a:effectLst/>
                <a:latin typeface="Consolas" panose="020B0609020204030204" pitchFamily="49" charset="0"/>
              </a:rPr>
              <a:t>sizeof</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on</a:t>
            </a:r>
            <a:r>
              <a:rPr lang="en-US" sz="1200" b="0" dirty="0">
                <a:solidFill>
                  <a:srgbClr val="000000"/>
                </a:solidFill>
                <a:effectLst/>
                <a:latin typeface="Consolas" panose="020B0609020204030204" pitchFamily="49" charset="0"/>
              </a:rPr>
              <a:t>));</a:t>
            </a:r>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Разрешаем </a:t>
            </a:r>
            <a:r>
              <a:rPr lang="ru-RU" sz="1200" dirty="0" err="1">
                <a:solidFill>
                  <a:srgbClr val="008000"/>
                </a:solidFill>
                <a:latin typeface="Consolas" panose="020B0609020204030204" pitchFamily="49" charset="0"/>
              </a:rPr>
              <a:t>переиспользовать</a:t>
            </a:r>
            <a:r>
              <a:rPr lang="ru-RU" sz="1200" dirty="0">
                <a:solidFill>
                  <a:srgbClr val="008000"/>
                </a:solidFill>
                <a:latin typeface="Consolas" panose="020B0609020204030204" pitchFamily="49" charset="0"/>
              </a:rPr>
              <a:t> адрес/порт</a:t>
            </a:r>
            <a:endParaRPr lang="en-US" sz="1200" dirty="0">
              <a:solidFill>
                <a:srgbClr val="008000"/>
              </a:solidFill>
              <a:latin typeface="Consolas" panose="020B0609020204030204" pitchFamily="49" charset="0"/>
            </a:endParaRPr>
          </a:p>
          <a:p>
            <a:pPr>
              <a:buNone/>
            </a:pPr>
            <a:endParaRPr lang="en-US" sz="1200" b="0" dirty="0">
              <a:solidFill>
                <a:srgbClr val="000000"/>
              </a:solidFill>
              <a:effectLst/>
              <a:latin typeface="Consolas" panose="020B0609020204030204" pitchFamily="49" charset="0"/>
            </a:endParaRPr>
          </a:p>
          <a:p>
            <a:pPr>
              <a:buNone/>
            </a:pP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b</a:t>
            </a:r>
            <a:r>
              <a:rPr lang="en-US" sz="1200" b="0" dirty="0">
                <a:solidFill>
                  <a:srgbClr val="000000"/>
                </a:solidFill>
                <a:effectLst/>
                <a:latin typeface="Consolas" panose="020B0609020204030204" pitchFamily="49" charset="0"/>
              </a:rPr>
              <a:t> = </a:t>
            </a:r>
            <a:r>
              <a:rPr lang="en-US" sz="1200" b="0" dirty="0">
                <a:solidFill>
                  <a:srgbClr val="74531F"/>
                </a:solidFill>
                <a:effectLst/>
                <a:latin typeface="Consolas" panose="020B0609020204030204" pitchFamily="49" charset="0"/>
              </a:rPr>
              <a:t>bind</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s</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struct</a:t>
            </a:r>
            <a:r>
              <a:rPr lang="en-US" sz="1200" b="0" dirty="0">
                <a:solidFill>
                  <a:srgbClr val="000000"/>
                </a:solidFill>
                <a:effectLst/>
                <a:latin typeface="Consolas" panose="020B0609020204030204" pitchFamily="49" charset="0"/>
              </a:rPr>
              <a:t> </a:t>
            </a:r>
            <a:r>
              <a:rPr lang="en-US" sz="1200" b="0" dirty="0" err="1">
                <a:solidFill>
                  <a:srgbClr val="2B91AF"/>
                </a:solidFill>
                <a:effectLst/>
                <a:latin typeface="Consolas" panose="020B0609020204030204" pitchFamily="49" charset="0"/>
              </a:rPr>
              <a:t>sockaddr</a:t>
            </a:r>
            <a:r>
              <a:rPr lang="en-US" sz="1200" b="0" dirty="0">
                <a:solidFill>
                  <a:srgbClr val="000000"/>
                </a:solidFill>
                <a:effectLst/>
                <a:latin typeface="Consolas" panose="020B0609020204030204" pitchFamily="49" charset="0"/>
              </a:rPr>
              <a:t>*)&amp;</a:t>
            </a:r>
            <a:r>
              <a:rPr lang="en-US" sz="1200" b="0" dirty="0">
                <a:solidFill>
                  <a:srgbClr val="1F377F"/>
                </a:solidFill>
                <a:effectLst/>
                <a:latin typeface="Consolas" panose="020B0609020204030204" pitchFamily="49" charset="0"/>
              </a:rPr>
              <a:t>channel</a:t>
            </a:r>
            <a:r>
              <a:rPr lang="en-US" sz="1200" b="0" dirty="0">
                <a:solidFill>
                  <a:srgbClr val="000000"/>
                </a:solidFill>
                <a:effectLst/>
                <a:latin typeface="Consolas" panose="020B0609020204030204" pitchFamily="49" charset="0"/>
              </a:rPr>
              <a:t>, </a:t>
            </a:r>
            <a:r>
              <a:rPr lang="en-US" sz="1200" b="0" dirty="0" err="1">
                <a:solidFill>
                  <a:srgbClr val="0000FF"/>
                </a:solidFill>
                <a:effectLst/>
                <a:latin typeface="Consolas" panose="020B0609020204030204" pitchFamily="49" charset="0"/>
              </a:rPr>
              <a:t>sizeof</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channel</a:t>
            </a:r>
            <a:r>
              <a:rPr lang="en-US" sz="1200" b="0" dirty="0">
                <a:solidFill>
                  <a:srgbClr val="000000"/>
                </a:solidFill>
                <a:effectLst/>
                <a:latin typeface="Consolas" panose="020B0609020204030204" pitchFamily="49" charset="0"/>
              </a:rPr>
              <a:t>));</a:t>
            </a:r>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Привязываем сокет к адресу (IP + порт), чтобы ядро знало, какой порт слушать</a:t>
            </a:r>
            <a:endParaRPr lang="en-US" sz="1200" dirty="0">
              <a:solidFill>
                <a:srgbClr val="008000"/>
              </a:solidFill>
              <a:latin typeface="Consolas" panose="020B0609020204030204" pitchFamily="49" charset="0"/>
            </a:endParaRPr>
          </a:p>
          <a:p>
            <a:pPr>
              <a:buNone/>
            </a:pPr>
            <a:r>
              <a:rPr lang="en-US"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if</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b</a:t>
            </a:r>
            <a:r>
              <a:rPr lang="en-US" sz="1200" b="0" dirty="0">
                <a:solidFill>
                  <a:srgbClr val="000000"/>
                </a:solidFill>
                <a:effectLst/>
                <a:latin typeface="Consolas" panose="020B0609020204030204" pitchFamily="49" charset="0"/>
              </a:rPr>
              <a:t> &lt;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 {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ru-RU" sz="1200" b="0" dirty="0">
                <a:solidFill>
                  <a:srgbClr val="A31515"/>
                </a:solidFill>
                <a:effectLst/>
                <a:latin typeface="Consolas" panose="020B0609020204030204" pitchFamily="49" charset="0"/>
              </a:rPr>
              <a:t>сбой связывания</a:t>
            </a:r>
            <a:r>
              <a:rPr lang="ru-RU" sz="1200" b="0" dirty="0">
                <a:solidFill>
                  <a:srgbClr val="E21F1F"/>
                </a:solidFill>
                <a:effectLst/>
                <a:latin typeface="Consolas" panose="020B0609020204030204" pitchFamily="49" charset="0"/>
              </a:rPr>
              <a:t>"</a:t>
            </a:r>
            <a:r>
              <a:rPr lang="ru-RU"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exit</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 }</a:t>
            </a:r>
          </a:p>
          <a:p>
            <a:pPr>
              <a:buNone/>
            </a:pPr>
            <a:endParaRPr lang="en-US" sz="1200" b="0" dirty="0">
              <a:solidFill>
                <a:srgbClr val="000000"/>
              </a:solidFill>
              <a:effectLst/>
              <a:latin typeface="Consolas" panose="020B0609020204030204" pitchFamily="49" charset="0"/>
            </a:endParaRPr>
          </a:p>
          <a:p>
            <a:pPr>
              <a:buNone/>
            </a:pP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l</a:t>
            </a:r>
            <a:r>
              <a:rPr lang="en-US" sz="1200" b="0" dirty="0">
                <a:solidFill>
                  <a:srgbClr val="000000"/>
                </a:solidFill>
                <a:effectLst/>
                <a:latin typeface="Consolas" panose="020B0609020204030204" pitchFamily="49" charset="0"/>
              </a:rPr>
              <a:t> = </a:t>
            </a:r>
            <a:r>
              <a:rPr lang="en-US" sz="1200" b="0" dirty="0">
                <a:solidFill>
                  <a:srgbClr val="74531F"/>
                </a:solidFill>
                <a:effectLst/>
                <a:latin typeface="Consolas" panose="020B0609020204030204" pitchFamily="49" charset="0"/>
              </a:rPr>
              <a:t>listen</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s</a:t>
            </a:r>
            <a:r>
              <a:rPr lang="en-US" sz="1200" b="0" dirty="0">
                <a:solidFill>
                  <a:srgbClr val="000000"/>
                </a:solidFill>
                <a:effectLst/>
                <a:latin typeface="Consolas" panose="020B0609020204030204" pitchFamily="49" charset="0"/>
              </a:rPr>
              <a:t>, </a:t>
            </a:r>
            <a:r>
              <a:rPr lang="en-US" sz="1200" b="0" dirty="0">
                <a:solidFill>
                  <a:srgbClr val="8A1BFF"/>
                </a:solidFill>
                <a:effectLst/>
                <a:latin typeface="Consolas" panose="020B0609020204030204" pitchFamily="49" charset="0"/>
              </a:rPr>
              <a:t>QUEUE_SIZE</a:t>
            </a:r>
            <a:r>
              <a:rPr lang="en-US" sz="1200" b="0" dirty="0">
                <a:solidFill>
                  <a:srgbClr val="000000"/>
                </a:solidFill>
                <a:effectLst/>
                <a:latin typeface="Consolas" panose="020B0609020204030204" pitchFamily="49" charset="0"/>
              </a:rPr>
              <a:t>);</a:t>
            </a:r>
            <a:r>
              <a:rPr lang="ru-RU" sz="1200" b="0" dirty="0">
                <a:solidFill>
                  <a:srgbClr val="000000"/>
                </a:solidFill>
                <a:effectLst/>
                <a:latin typeface="Consolas" panose="020B0609020204030204" pitchFamily="49" charset="0"/>
              </a:rPr>
              <a:t> </a:t>
            </a:r>
            <a:r>
              <a:rPr lang="ru-RU" sz="1200" dirty="0">
                <a:solidFill>
                  <a:srgbClr val="008000"/>
                </a:solidFill>
                <a:latin typeface="Consolas" panose="020B0609020204030204" pitchFamily="49" charset="0"/>
              </a:rPr>
              <a:t>// Переводим сокет в режим прослушивания входящих соединений </a:t>
            </a:r>
            <a:endParaRPr lang="en-US" sz="1200" b="0" dirty="0">
              <a:solidFill>
                <a:srgbClr val="000000"/>
              </a:solidFill>
              <a:effectLst/>
              <a:latin typeface="Consolas" panose="020B0609020204030204" pitchFamily="49" charset="0"/>
            </a:endParaRPr>
          </a:p>
          <a:p>
            <a:pPr>
              <a:buNone/>
            </a:pPr>
            <a:r>
              <a:rPr lang="en-US"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if</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l</a:t>
            </a:r>
            <a:r>
              <a:rPr lang="en-US" sz="1200" b="0" dirty="0">
                <a:solidFill>
                  <a:srgbClr val="000000"/>
                </a:solidFill>
                <a:effectLst/>
                <a:latin typeface="Consolas" panose="020B0609020204030204" pitchFamily="49" charset="0"/>
              </a:rPr>
              <a:t> &lt;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 {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ru-RU" sz="1200" b="0" dirty="0">
                <a:solidFill>
                  <a:srgbClr val="A31515"/>
                </a:solidFill>
                <a:effectLst/>
                <a:latin typeface="Consolas" panose="020B0609020204030204" pitchFamily="49" charset="0"/>
              </a:rPr>
              <a:t>сбой ожидания</a:t>
            </a:r>
            <a:r>
              <a:rPr lang="ru-RU" sz="1200" b="0" dirty="0">
                <a:solidFill>
                  <a:srgbClr val="E21F1F"/>
                </a:solidFill>
                <a:effectLst/>
                <a:latin typeface="Consolas" panose="020B0609020204030204" pitchFamily="49" charset="0"/>
              </a:rPr>
              <a:t>"</a:t>
            </a:r>
            <a:r>
              <a:rPr lang="ru-RU"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exit</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 }</a:t>
            </a:r>
          </a:p>
          <a:p>
            <a:pPr>
              <a:buNone/>
            </a:pPr>
            <a:r>
              <a:rPr lang="en-US"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while</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 {</a:t>
            </a:r>
            <a:r>
              <a:rPr lang="ru-RU" sz="1200" b="0" dirty="0">
                <a:solidFill>
                  <a:srgbClr val="000000"/>
                </a:solidFill>
                <a:effectLst/>
                <a:latin typeface="Consolas" panose="020B0609020204030204" pitchFamily="49" charset="0"/>
              </a:rPr>
              <a:t> </a:t>
            </a:r>
            <a:r>
              <a:rPr lang="ru-RU" sz="1200" dirty="0">
                <a:solidFill>
                  <a:srgbClr val="008000"/>
                </a:solidFill>
                <a:latin typeface="Consolas" panose="020B0609020204030204" pitchFamily="49" charset="0"/>
              </a:rPr>
              <a:t>// Основной серверный цикл: бесконечно принимаем и обслуживаем подключения</a:t>
            </a:r>
            <a:endParaRPr lang="en-US" sz="1200" dirty="0">
              <a:solidFill>
                <a:srgbClr val="008000"/>
              </a:solidFill>
              <a:latin typeface="Consolas" panose="020B0609020204030204" pitchFamily="49" charset="0"/>
            </a:endParaRPr>
          </a:p>
          <a:p>
            <a:pPr>
              <a:buNone/>
            </a:pPr>
            <a:r>
              <a:rPr lang="ru-RU"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sa</a:t>
            </a:r>
            <a:r>
              <a:rPr lang="en-US" sz="1200" b="0" dirty="0">
                <a:solidFill>
                  <a:srgbClr val="000000"/>
                </a:solidFill>
                <a:effectLst/>
                <a:latin typeface="Consolas" panose="020B0609020204030204" pitchFamily="49" charset="0"/>
              </a:rPr>
              <a:t> = </a:t>
            </a:r>
            <a:r>
              <a:rPr lang="en-US" sz="1200" b="0" dirty="0">
                <a:solidFill>
                  <a:srgbClr val="74531F"/>
                </a:solidFill>
                <a:effectLst/>
                <a:latin typeface="Consolas" panose="020B0609020204030204" pitchFamily="49" charset="0"/>
              </a:rPr>
              <a:t>accept</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s</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a:t>
            </a:r>
            <a:r>
              <a:rPr lang="ru-RU" sz="1200" dirty="0" err="1">
                <a:solidFill>
                  <a:srgbClr val="008000"/>
                </a:solidFill>
                <a:latin typeface="Consolas" panose="020B0609020204030204" pitchFamily="49" charset="0"/>
              </a:rPr>
              <a:t>accept</a:t>
            </a:r>
            <a:r>
              <a:rPr lang="ru-RU" sz="1200" dirty="0">
                <a:solidFill>
                  <a:srgbClr val="008000"/>
                </a:solidFill>
                <a:latin typeface="Consolas" panose="020B0609020204030204" pitchFamily="49" charset="0"/>
              </a:rPr>
              <a:t> блокируется, пока не придет новое входящее соединение, возвращает сокет, по которому идёт обмен данными</a:t>
            </a:r>
            <a:endParaRPr lang="en-US" sz="1200" dirty="0">
              <a:solidFill>
                <a:srgbClr val="008000"/>
              </a:solidFill>
              <a:latin typeface="Consolas" panose="020B0609020204030204" pitchFamily="49" charset="0"/>
            </a:endParaRPr>
          </a:p>
          <a:p>
            <a:pPr>
              <a:buNone/>
            </a:pPr>
            <a:r>
              <a:rPr lang="ru-RU"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if</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sa</a:t>
            </a:r>
            <a:r>
              <a:rPr lang="en-US" sz="1200" b="0" dirty="0">
                <a:solidFill>
                  <a:srgbClr val="000000"/>
                </a:solidFill>
                <a:effectLst/>
                <a:latin typeface="Consolas" panose="020B0609020204030204" pitchFamily="49" charset="0"/>
              </a:rPr>
              <a:t> &lt;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 {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ru-RU" sz="1200" b="0" dirty="0">
                <a:solidFill>
                  <a:srgbClr val="A31515"/>
                </a:solidFill>
                <a:effectLst/>
                <a:latin typeface="Consolas" panose="020B0609020204030204" pitchFamily="49" charset="0"/>
              </a:rPr>
              <a:t>сбой доступа</a:t>
            </a:r>
            <a:r>
              <a:rPr lang="ru-RU" sz="1200" b="0" dirty="0">
                <a:solidFill>
                  <a:srgbClr val="E21F1F"/>
                </a:solidFill>
                <a:effectLst/>
                <a:latin typeface="Consolas" panose="020B0609020204030204" pitchFamily="49" charset="0"/>
              </a:rPr>
              <a:t>"</a:t>
            </a:r>
            <a:r>
              <a:rPr lang="ru-RU"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exit</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 }</a:t>
            </a:r>
          </a:p>
          <a:p>
            <a:pPr>
              <a:buNone/>
            </a:pPr>
            <a:r>
              <a:rPr lang="ru-RU"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read</a:t>
            </a:r>
            <a:r>
              <a:rPr lang="en-US" sz="1200" b="0" dirty="0">
                <a:solidFill>
                  <a:srgbClr val="000000"/>
                </a:solidFill>
                <a:effectLst/>
                <a:latin typeface="Consolas" panose="020B0609020204030204" pitchFamily="49" charset="0"/>
              </a:rPr>
              <a:t>(</a:t>
            </a:r>
            <a:r>
              <a:rPr lang="en-US" sz="1200" b="0" dirty="0" err="1">
                <a:solidFill>
                  <a:srgbClr val="1F377F"/>
                </a:solidFill>
                <a:effectLst/>
                <a:latin typeface="Consolas" panose="020B0609020204030204" pitchFamily="49" charset="0"/>
              </a:rPr>
              <a:t>sa</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buf</a:t>
            </a:r>
            <a:r>
              <a:rPr lang="en-US" sz="1200" b="0" dirty="0">
                <a:solidFill>
                  <a:srgbClr val="000000"/>
                </a:solidFill>
                <a:effectLst/>
                <a:latin typeface="Consolas" panose="020B0609020204030204" pitchFamily="49" charset="0"/>
              </a:rPr>
              <a:t>, </a:t>
            </a:r>
            <a:r>
              <a:rPr lang="en-US" sz="1200" b="0" dirty="0">
                <a:solidFill>
                  <a:srgbClr val="8A1BFF"/>
                </a:solidFill>
                <a:effectLst/>
                <a:latin typeface="Consolas" panose="020B0609020204030204" pitchFamily="49" charset="0"/>
              </a:rPr>
              <a:t>BUF_SIZE</a:t>
            </a:r>
            <a:r>
              <a:rPr lang="en-US" sz="1200" b="0" dirty="0">
                <a:solidFill>
                  <a:srgbClr val="000000"/>
                </a:solidFill>
                <a:effectLst/>
                <a:latin typeface="Consolas" panose="020B0609020204030204" pitchFamily="49" charset="0"/>
              </a:rPr>
              <a:t>);</a:t>
            </a:r>
          </a:p>
          <a:p>
            <a:pPr>
              <a:buNone/>
            </a:pPr>
            <a:r>
              <a:rPr lang="ru-RU" sz="1200" dirty="0">
                <a:solidFill>
                  <a:srgbClr val="000000"/>
                </a:solidFill>
                <a:latin typeface="Consolas" panose="020B0609020204030204" pitchFamily="49" charset="0"/>
              </a:rPr>
              <a:t>    </a:t>
            </a:r>
            <a:r>
              <a:rPr lang="en-US" sz="1200" b="0" dirty="0" err="1">
                <a:solidFill>
                  <a:srgbClr val="1F377F"/>
                </a:solidFill>
                <a:effectLst/>
                <a:latin typeface="Consolas" panose="020B0609020204030204" pitchFamily="49" charset="0"/>
              </a:rPr>
              <a:t>fd</a:t>
            </a:r>
            <a:r>
              <a:rPr lang="en-US" sz="1200" b="0" dirty="0">
                <a:solidFill>
                  <a:srgbClr val="000000"/>
                </a:solidFill>
                <a:effectLst/>
                <a:latin typeface="Consolas" panose="020B0609020204030204" pitchFamily="49" charset="0"/>
              </a:rPr>
              <a:t> = </a:t>
            </a:r>
            <a:r>
              <a:rPr lang="en-US" sz="1200" b="0" dirty="0">
                <a:solidFill>
                  <a:srgbClr val="74531F"/>
                </a:solidFill>
                <a:effectLst/>
                <a:latin typeface="Consolas" panose="020B0609020204030204" pitchFamily="49" charset="0"/>
              </a:rPr>
              <a:t>open</a:t>
            </a:r>
            <a:r>
              <a:rPr lang="en-US" sz="1200" b="0" dirty="0">
                <a:solidFill>
                  <a:srgbClr val="000000"/>
                </a:solidFill>
                <a:effectLst/>
                <a:latin typeface="Consolas" panose="020B0609020204030204" pitchFamily="49" charset="0"/>
              </a:rPr>
              <a:t>(</a:t>
            </a:r>
            <a:r>
              <a:rPr lang="en-US" sz="1200" b="0" dirty="0" err="1">
                <a:solidFill>
                  <a:srgbClr val="1F377F"/>
                </a:solidFill>
                <a:effectLst/>
                <a:latin typeface="Consolas" panose="020B0609020204030204" pitchFamily="49" charset="0"/>
              </a:rPr>
              <a:t>buf</a:t>
            </a:r>
            <a:r>
              <a:rPr lang="en-US" sz="1200" b="0" dirty="0">
                <a:solidFill>
                  <a:srgbClr val="000000"/>
                </a:solidFill>
                <a:effectLst/>
                <a:latin typeface="Consolas" panose="020B0609020204030204" pitchFamily="49" charset="0"/>
              </a:rPr>
              <a:t>, O_RDONLY);</a:t>
            </a:r>
          </a:p>
          <a:p>
            <a:pPr>
              <a:buNone/>
            </a:pPr>
            <a:r>
              <a:rPr lang="ru-RU"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if</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fd</a:t>
            </a:r>
            <a:r>
              <a:rPr lang="en-US" sz="1200" b="0" dirty="0">
                <a:solidFill>
                  <a:srgbClr val="000000"/>
                </a:solidFill>
                <a:effectLst/>
                <a:latin typeface="Consolas" panose="020B0609020204030204" pitchFamily="49" charset="0"/>
              </a:rPr>
              <a:t> &lt;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 {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ru-RU" sz="1200" b="0" dirty="0">
                <a:solidFill>
                  <a:srgbClr val="A31515"/>
                </a:solidFill>
                <a:effectLst/>
                <a:latin typeface="Consolas" panose="020B0609020204030204" pitchFamily="49" charset="0"/>
              </a:rPr>
              <a:t>сбой открытия файла</a:t>
            </a:r>
            <a:r>
              <a:rPr lang="ru-RU" sz="1200" b="0" dirty="0">
                <a:solidFill>
                  <a:srgbClr val="E21F1F"/>
                </a:solidFill>
                <a:effectLst/>
                <a:latin typeface="Consolas" panose="020B0609020204030204" pitchFamily="49" charset="0"/>
              </a:rPr>
              <a:t>"</a:t>
            </a:r>
            <a:r>
              <a:rPr lang="ru-RU"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exit</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 }</a:t>
            </a:r>
          </a:p>
          <a:p>
            <a:pPr>
              <a:buNone/>
            </a:pPr>
            <a:endParaRPr lang="en-US" sz="1200" b="0" dirty="0">
              <a:solidFill>
                <a:srgbClr val="000000"/>
              </a:solidFill>
              <a:effectLst/>
              <a:latin typeface="Consolas" panose="020B0609020204030204" pitchFamily="49" charset="0"/>
            </a:endParaRPr>
          </a:p>
          <a:p>
            <a:pPr>
              <a:buNone/>
            </a:pPr>
            <a:r>
              <a:rPr lang="ru-RU"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while</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 {</a:t>
            </a:r>
          </a:p>
          <a:p>
            <a:pPr>
              <a:buNone/>
            </a:pPr>
            <a:r>
              <a:rPr lang="ru-RU"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bytes</a:t>
            </a:r>
            <a:r>
              <a:rPr lang="en-US" sz="1200" b="0" dirty="0">
                <a:solidFill>
                  <a:srgbClr val="000000"/>
                </a:solidFill>
                <a:effectLst/>
                <a:latin typeface="Consolas" panose="020B0609020204030204" pitchFamily="49" charset="0"/>
              </a:rPr>
              <a:t> = </a:t>
            </a:r>
            <a:r>
              <a:rPr lang="en-US" sz="1200" b="0" dirty="0">
                <a:solidFill>
                  <a:srgbClr val="74531F"/>
                </a:solidFill>
                <a:effectLst/>
                <a:latin typeface="Consolas" panose="020B0609020204030204" pitchFamily="49" charset="0"/>
              </a:rPr>
              <a:t>read</a:t>
            </a:r>
            <a:r>
              <a:rPr lang="en-US" sz="1200" b="0" dirty="0">
                <a:solidFill>
                  <a:srgbClr val="000000"/>
                </a:solidFill>
                <a:effectLst/>
                <a:latin typeface="Consolas" panose="020B0609020204030204" pitchFamily="49" charset="0"/>
              </a:rPr>
              <a:t>(</a:t>
            </a:r>
            <a:r>
              <a:rPr lang="en-US" sz="1200" b="0" dirty="0" err="1">
                <a:solidFill>
                  <a:srgbClr val="1F377F"/>
                </a:solidFill>
                <a:effectLst/>
                <a:latin typeface="Consolas" panose="020B0609020204030204" pitchFamily="49" charset="0"/>
              </a:rPr>
              <a:t>fd</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buf</a:t>
            </a:r>
            <a:r>
              <a:rPr lang="en-US" sz="1200" b="0" dirty="0">
                <a:solidFill>
                  <a:srgbClr val="000000"/>
                </a:solidFill>
                <a:effectLst/>
                <a:latin typeface="Consolas" panose="020B0609020204030204" pitchFamily="49" charset="0"/>
              </a:rPr>
              <a:t>, </a:t>
            </a:r>
            <a:r>
              <a:rPr lang="en-US" sz="1200" b="0" dirty="0">
                <a:solidFill>
                  <a:srgbClr val="8A1BFF"/>
                </a:solidFill>
                <a:effectLst/>
                <a:latin typeface="Consolas" panose="020B0609020204030204" pitchFamily="49" charset="0"/>
              </a:rPr>
              <a:t>BUF_SIZE</a:t>
            </a:r>
            <a:r>
              <a:rPr lang="en-US" sz="1200" b="0" dirty="0">
                <a:solidFill>
                  <a:srgbClr val="000000"/>
                </a:solidFill>
                <a:effectLst/>
                <a:latin typeface="Consolas" panose="020B0609020204030204" pitchFamily="49" charset="0"/>
              </a:rPr>
              <a:t>);</a:t>
            </a:r>
            <a:endParaRPr lang="ru-RU" sz="1200" b="0" dirty="0">
              <a:solidFill>
                <a:srgbClr val="000000"/>
              </a:solidFill>
              <a:effectLst/>
              <a:latin typeface="Consolas" panose="020B0609020204030204" pitchFamily="49" charset="0"/>
            </a:endParaRPr>
          </a:p>
          <a:p>
            <a:pPr>
              <a:buNone/>
            </a:pPr>
            <a:r>
              <a:rPr lang="ru-RU"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if</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bytes</a:t>
            </a:r>
            <a:r>
              <a:rPr lang="en-US" sz="1200" b="0" dirty="0">
                <a:solidFill>
                  <a:srgbClr val="000000"/>
                </a:solidFill>
                <a:effectLst/>
                <a:latin typeface="Consolas" panose="020B0609020204030204" pitchFamily="49" charset="0"/>
              </a:rPr>
              <a:t> &lt;=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break</a:t>
            </a:r>
            <a:r>
              <a:rPr lang="en-US" sz="1200" b="0" dirty="0">
                <a:solidFill>
                  <a:srgbClr val="000000"/>
                </a:solidFill>
                <a:effectLst/>
                <a:latin typeface="Consolas" panose="020B0609020204030204" pitchFamily="49" charset="0"/>
              </a:rPr>
              <a:t>;</a:t>
            </a:r>
          </a:p>
          <a:p>
            <a:pPr>
              <a:buNone/>
            </a:pPr>
            <a:r>
              <a:rPr lang="ru-RU"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write</a:t>
            </a:r>
            <a:r>
              <a:rPr lang="en-US" sz="1200" b="0" dirty="0">
                <a:solidFill>
                  <a:srgbClr val="000000"/>
                </a:solidFill>
                <a:effectLst/>
                <a:latin typeface="Consolas" panose="020B0609020204030204" pitchFamily="49" charset="0"/>
              </a:rPr>
              <a:t>(</a:t>
            </a:r>
            <a:r>
              <a:rPr lang="en-US" sz="1200" b="0" dirty="0" err="1">
                <a:solidFill>
                  <a:srgbClr val="1F377F"/>
                </a:solidFill>
                <a:effectLst/>
                <a:latin typeface="Consolas" panose="020B0609020204030204" pitchFamily="49" charset="0"/>
              </a:rPr>
              <a:t>sa</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buf</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bytes</a:t>
            </a:r>
            <a:r>
              <a:rPr lang="en-US" sz="1200" b="0" dirty="0">
                <a:solidFill>
                  <a:srgbClr val="000000"/>
                </a:solidFill>
                <a:effectLst/>
                <a:latin typeface="Consolas" panose="020B0609020204030204" pitchFamily="49" charset="0"/>
              </a:rPr>
              <a:t>);</a:t>
            </a:r>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Отправляем прочитанные байты клиенту. Предполагается, что </a:t>
            </a:r>
            <a:r>
              <a:rPr lang="ru-RU" sz="1200" dirty="0" err="1">
                <a:solidFill>
                  <a:srgbClr val="008000"/>
                </a:solidFill>
                <a:latin typeface="Consolas" panose="020B0609020204030204" pitchFamily="49" charset="0"/>
              </a:rPr>
              <a:t>write</a:t>
            </a:r>
            <a:r>
              <a:rPr lang="ru-RU" sz="1200" dirty="0">
                <a:solidFill>
                  <a:srgbClr val="008000"/>
                </a:solidFill>
                <a:latin typeface="Consolas" panose="020B0609020204030204" pitchFamily="49" charset="0"/>
              </a:rPr>
              <a:t> отправит все </a:t>
            </a:r>
            <a:r>
              <a:rPr lang="ru-RU" sz="1200" dirty="0" err="1">
                <a:solidFill>
                  <a:srgbClr val="008000"/>
                </a:solidFill>
                <a:latin typeface="Consolas" panose="020B0609020204030204" pitchFamily="49" charset="0"/>
              </a:rPr>
              <a:t>bytes</a:t>
            </a:r>
            <a:r>
              <a:rPr lang="ru-RU" sz="1200" dirty="0">
                <a:solidFill>
                  <a:srgbClr val="008000"/>
                </a:solidFill>
                <a:latin typeface="Consolas" panose="020B0609020204030204" pitchFamily="49" charset="0"/>
              </a:rPr>
              <a:t> за один вызов</a:t>
            </a:r>
            <a:endParaRPr lang="en-US" sz="1200" dirty="0">
              <a:solidFill>
                <a:srgbClr val="008000"/>
              </a:solidFill>
              <a:latin typeface="Consolas" panose="020B0609020204030204" pitchFamily="49" charset="0"/>
            </a:endParaRPr>
          </a:p>
          <a:p>
            <a:pPr>
              <a:buNone/>
            </a:pPr>
            <a:r>
              <a:rPr lang="ru-RU" sz="1200" b="0" dirty="0">
                <a:solidFill>
                  <a:srgbClr val="000000"/>
                </a:solidFill>
                <a:effectLst/>
                <a:latin typeface="Consolas" panose="020B0609020204030204" pitchFamily="49" charset="0"/>
              </a:rPr>
              <a:t>    </a:t>
            </a:r>
            <a:r>
              <a:rPr lang="en-US" sz="1200" b="0" dirty="0">
                <a:solidFill>
                  <a:srgbClr val="000000"/>
                </a:solidFill>
                <a:effectLst/>
                <a:latin typeface="Consolas" panose="020B0609020204030204" pitchFamily="49" charset="0"/>
              </a:rPr>
              <a:t>}</a:t>
            </a:r>
          </a:p>
          <a:p>
            <a:pPr>
              <a:buNone/>
            </a:pPr>
            <a:r>
              <a:rPr lang="ru-RU"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close</a:t>
            </a:r>
            <a:r>
              <a:rPr lang="en-US" sz="1200" b="0" dirty="0">
                <a:solidFill>
                  <a:srgbClr val="000000"/>
                </a:solidFill>
                <a:effectLst/>
                <a:latin typeface="Consolas" panose="020B0609020204030204" pitchFamily="49" charset="0"/>
              </a:rPr>
              <a:t>(</a:t>
            </a:r>
            <a:r>
              <a:rPr lang="en-US" sz="1200" b="0" dirty="0" err="1">
                <a:solidFill>
                  <a:srgbClr val="1F377F"/>
                </a:solidFill>
                <a:effectLst/>
                <a:latin typeface="Consolas" panose="020B0609020204030204" pitchFamily="49" charset="0"/>
              </a:rPr>
              <a:t>fd</a:t>
            </a:r>
            <a:r>
              <a:rPr lang="en-US" sz="1200" b="0" dirty="0">
                <a:solidFill>
                  <a:srgbClr val="000000"/>
                </a:solidFill>
                <a:effectLst/>
                <a:latin typeface="Consolas" panose="020B0609020204030204" pitchFamily="49" charset="0"/>
              </a:rPr>
              <a:t>);</a:t>
            </a:r>
          </a:p>
          <a:p>
            <a:pPr>
              <a:buNone/>
            </a:pPr>
            <a:r>
              <a:rPr lang="ru-RU"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close</a:t>
            </a:r>
            <a:r>
              <a:rPr lang="en-US" sz="1200" b="0" dirty="0">
                <a:solidFill>
                  <a:srgbClr val="000000"/>
                </a:solidFill>
                <a:effectLst/>
                <a:latin typeface="Consolas" panose="020B0609020204030204" pitchFamily="49" charset="0"/>
              </a:rPr>
              <a:t>(</a:t>
            </a:r>
            <a:r>
              <a:rPr lang="en-US" sz="1200" b="0" dirty="0" err="1">
                <a:solidFill>
                  <a:srgbClr val="1F377F"/>
                </a:solidFill>
                <a:effectLst/>
                <a:latin typeface="Consolas" panose="020B0609020204030204" pitchFamily="49" charset="0"/>
              </a:rPr>
              <a:t>sa</a:t>
            </a:r>
            <a:r>
              <a:rPr lang="en-US" sz="1200" b="0" dirty="0">
                <a:solidFill>
                  <a:srgbClr val="000000"/>
                </a:solidFill>
                <a:effectLst/>
                <a:latin typeface="Consolas" panose="020B0609020204030204" pitchFamily="49" charset="0"/>
              </a:rPr>
              <a:t>);</a:t>
            </a:r>
          </a:p>
          <a:p>
            <a:pPr>
              <a:buNone/>
            </a:pPr>
            <a:r>
              <a:rPr lang="ru-RU" sz="1200" b="0" dirty="0">
                <a:solidFill>
                  <a:srgbClr val="000000"/>
                </a:solidFill>
                <a:effectLst/>
                <a:latin typeface="Consolas" panose="020B0609020204030204" pitchFamily="49" charset="0"/>
              </a:rPr>
              <a:t>  </a:t>
            </a:r>
            <a:r>
              <a:rPr lang="en-US" sz="1200" b="0" dirty="0">
                <a:solidFill>
                  <a:srgbClr val="000000"/>
                </a:solidFill>
                <a:effectLst/>
                <a:latin typeface="Consolas" panose="020B0609020204030204" pitchFamily="49" charset="0"/>
              </a:rPr>
              <a:t>}</a:t>
            </a:r>
            <a:endParaRPr lang="ru-RU" sz="1200" b="0" dirty="0">
              <a:solidFill>
                <a:srgbClr val="000000"/>
              </a:solidFill>
              <a:effectLst/>
              <a:latin typeface="Consolas" panose="020B0609020204030204" pitchFamily="49" charset="0"/>
            </a:endParaRPr>
          </a:p>
          <a:p>
            <a:pPr>
              <a:buNone/>
            </a:pPr>
            <a:r>
              <a:rPr lang="en-U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88710012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16F8518-EB72-318D-D0CB-DA2F3D7991F3}"/>
              </a:ext>
            </a:extLst>
          </p:cNvPr>
          <p:cNvSpPr txBox="1"/>
          <p:nvPr/>
        </p:nvSpPr>
        <p:spPr>
          <a:xfrm>
            <a:off x="0" y="0"/>
            <a:ext cx="12192000" cy="6632585"/>
          </a:xfrm>
          <a:prstGeom prst="rect">
            <a:avLst/>
          </a:prstGeom>
          <a:noFill/>
        </p:spPr>
        <p:txBody>
          <a:bodyPr wrap="square">
            <a:spAutoFit/>
          </a:bodyPr>
          <a:lstStyle/>
          <a:p>
            <a:pPr>
              <a:buNone/>
            </a:pPr>
            <a:r>
              <a:rPr lang="en-US" sz="1250" b="0" dirty="0">
                <a:solidFill>
                  <a:srgbClr val="808080"/>
                </a:solidFill>
                <a:effectLst/>
                <a:latin typeface="Consolas" panose="020B0609020204030204" pitchFamily="49" charset="0"/>
              </a:rPr>
              <a:t>#define</a:t>
            </a:r>
            <a:r>
              <a:rPr lang="en-US" sz="1250" b="0" dirty="0">
                <a:solidFill>
                  <a:srgbClr val="000000"/>
                </a:solidFill>
                <a:effectLst/>
                <a:latin typeface="Consolas" panose="020B0609020204030204" pitchFamily="49" charset="0"/>
              </a:rPr>
              <a:t> </a:t>
            </a:r>
            <a:r>
              <a:rPr lang="en-US" sz="1250" b="0" dirty="0">
                <a:solidFill>
                  <a:srgbClr val="8A1BFF"/>
                </a:solidFill>
                <a:effectLst/>
                <a:latin typeface="Consolas" panose="020B0609020204030204" pitchFamily="49" charset="0"/>
              </a:rPr>
              <a:t>BUF_SIZE</a:t>
            </a:r>
            <a:r>
              <a:rPr lang="en-US" sz="1250" b="0" dirty="0">
                <a:solidFill>
                  <a:srgbClr val="000000"/>
                </a:solidFill>
                <a:effectLst/>
                <a:latin typeface="Consolas" panose="020B0609020204030204" pitchFamily="49" charset="0"/>
              </a:rPr>
              <a:t> </a:t>
            </a:r>
            <a:r>
              <a:rPr lang="en-US" sz="1250" b="0" dirty="0">
                <a:solidFill>
                  <a:srgbClr val="098658"/>
                </a:solidFill>
                <a:effectLst/>
                <a:latin typeface="Consolas" panose="020B0609020204030204" pitchFamily="49" charset="0"/>
              </a:rPr>
              <a:t>4096</a:t>
            </a:r>
            <a:endParaRPr lang="en-US" sz="1250" b="0" dirty="0">
              <a:solidFill>
                <a:srgbClr val="000000"/>
              </a:solidFill>
              <a:effectLst/>
              <a:latin typeface="Consolas" panose="020B0609020204030204" pitchFamily="49" charset="0"/>
            </a:endParaRPr>
          </a:p>
          <a:p>
            <a:pPr>
              <a:buNone/>
            </a:pPr>
            <a:endParaRPr lang="en-US" sz="1250" b="0" dirty="0">
              <a:solidFill>
                <a:srgbClr val="000000"/>
              </a:solidFill>
              <a:effectLst/>
              <a:latin typeface="Consolas" panose="020B0609020204030204" pitchFamily="49" charset="0"/>
            </a:endParaRPr>
          </a:p>
          <a:p>
            <a:pPr>
              <a:buNone/>
            </a:pPr>
            <a:r>
              <a:rPr lang="en-US" sz="1250" b="0" dirty="0">
                <a:solidFill>
                  <a:srgbClr val="0000FF"/>
                </a:solidFill>
                <a:effectLst/>
                <a:latin typeface="Consolas" panose="020B0609020204030204" pitchFamily="49" charset="0"/>
              </a:rPr>
              <a:t>int</a:t>
            </a:r>
            <a:r>
              <a:rPr lang="en-US" sz="1250" b="0" dirty="0">
                <a:solidFill>
                  <a:srgbClr val="000000"/>
                </a:solidFill>
                <a:effectLst/>
                <a:latin typeface="Consolas" panose="020B0609020204030204" pitchFamily="49" charset="0"/>
              </a:rPr>
              <a:t> </a:t>
            </a:r>
            <a:r>
              <a:rPr lang="en-US" sz="1250" b="0" dirty="0">
                <a:solidFill>
                  <a:srgbClr val="74531F"/>
                </a:solidFill>
                <a:effectLst/>
                <a:latin typeface="Consolas" panose="020B0609020204030204" pitchFamily="49" charset="0"/>
              </a:rPr>
              <a:t>main</a:t>
            </a:r>
            <a:r>
              <a:rPr lang="en-US" sz="1250" b="0" dirty="0">
                <a:solidFill>
                  <a:srgbClr val="000000"/>
                </a:solidFill>
                <a:effectLst/>
                <a:latin typeface="Consolas" panose="020B0609020204030204" pitchFamily="49" charset="0"/>
              </a:rPr>
              <a:t>(</a:t>
            </a:r>
            <a:r>
              <a:rPr lang="en-US" sz="1250" b="0" dirty="0">
                <a:solidFill>
                  <a:srgbClr val="0000FF"/>
                </a:solidFill>
                <a:effectLst/>
                <a:latin typeface="Consolas" panose="020B0609020204030204" pitchFamily="49" charset="0"/>
              </a:rPr>
              <a:t>int</a:t>
            </a:r>
            <a:r>
              <a:rPr lang="en-US" sz="1250" b="0" dirty="0">
                <a:solidFill>
                  <a:srgbClr val="000000"/>
                </a:solidFill>
                <a:effectLst/>
                <a:latin typeface="Consolas" panose="020B0609020204030204" pitchFamily="49" charset="0"/>
              </a:rPr>
              <a:t> </a:t>
            </a:r>
            <a:r>
              <a:rPr lang="en-US" sz="1250" b="0" dirty="0" err="1">
                <a:solidFill>
                  <a:srgbClr val="808080"/>
                </a:solidFill>
                <a:effectLst/>
                <a:latin typeface="Consolas" panose="020B0609020204030204" pitchFamily="49" charset="0"/>
              </a:rPr>
              <a:t>argc</a:t>
            </a:r>
            <a:r>
              <a:rPr lang="en-US" sz="1250" b="0" dirty="0">
                <a:solidFill>
                  <a:srgbClr val="000000"/>
                </a:solidFill>
                <a:effectLst/>
                <a:latin typeface="Consolas" panose="020B0609020204030204" pitchFamily="49" charset="0"/>
              </a:rPr>
              <a:t>, </a:t>
            </a:r>
            <a:r>
              <a:rPr lang="en-US" sz="1250" b="0" dirty="0">
                <a:solidFill>
                  <a:srgbClr val="0000FF"/>
                </a:solidFill>
                <a:effectLst/>
                <a:latin typeface="Consolas" panose="020B0609020204030204" pitchFamily="49" charset="0"/>
              </a:rPr>
              <a:t>char</a:t>
            </a:r>
            <a:r>
              <a:rPr lang="en-US" sz="1250" b="0" dirty="0">
                <a:solidFill>
                  <a:srgbClr val="000000"/>
                </a:solidFill>
                <a:effectLst/>
                <a:latin typeface="Consolas" panose="020B0609020204030204" pitchFamily="49" charset="0"/>
              </a:rPr>
              <a:t>** </a:t>
            </a:r>
            <a:r>
              <a:rPr lang="en-US" sz="1250" b="0" dirty="0" err="1">
                <a:solidFill>
                  <a:srgbClr val="808080"/>
                </a:solidFill>
                <a:effectLst/>
                <a:latin typeface="Consolas" panose="020B0609020204030204" pitchFamily="49" charset="0"/>
              </a:rPr>
              <a:t>argv</a:t>
            </a:r>
            <a:r>
              <a:rPr lang="en-US" sz="1250" b="0" dirty="0">
                <a:solidFill>
                  <a:srgbClr val="000000"/>
                </a:solidFill>
                <a:effectLst/>
                <a:latin typeface="Consolas" panose="020B0609020204030204" pitchFamily="49" charset="0"/>
              </a:rPr>
              <a:t>) {</a:t>
            </a:r>
          </a:p>
          <a:p>
            <a:pPr>
              <a:buNone/>
            </a:pPr>
            <a:r>
              <a:rPr lang="en-US" sz="1250" b="0" dirty="0">
                <a:solidFill>
                  <a:srgbClr val="000000"/>
                </a:solidFill>
                <a:effectLst/>
                <a:latin typeface="Consolas" panose="020B0609020204030204" pitchFamily="49" charset="0"/>
              </a:rPr>
              <a:t>    </a:t>
            </a:r>
            <a:r>
              <a:rPr lang="en-US" sz="1250" b="0" dirty="0">
                <a:solidFill>
                  <a:srgbClr val="0000FF"/>
                </a:solidFill>
                <a:effectLst/>
                <a:latin typeface="Consolas" panose="020B0609020204030204" pitchFamily="49" charset="0"/>
              </a:rPr>
              <a:t>int</a:t>
            </a:r>
            <a:r>
              <a:rPr lang="en-US" sz="1250" b="0" dirty="0">
                <a:solidFill>
                  <a:srgbClr val="000000"/>
                </a:solidFill>
                <a:effectLst/>
                <a:latin typeface="Consolas" panose="020B0609020204030204" pitchFamily="49" charset="0"/>
              </a:rPr>
              <a:t> </a:t>
            </a:r>
            <a:r>
              <a:rPr lang="en-US" sz="1250" b="0" dirty="0">
                <a:solidFill>
                  <a:srgbClr val="1F377F"/>
                </a:solidFill>
                <a:effectLst/>
                <a:latin typeface="Consolas" panose="020B0609020204030204" pitchFamily="49" charset="0"/>
              </a:rPr>
              <a:t>c</a:t>
            </a:r>
            <a:r>
              <a:rPr lang="en-US" sz="1250" b="0" dirty="0">
                <a:solidFill>
                  <a:srgbClr val="000000"/>
                </a:solidFill>
                <a:effectLst/>
                <a:latin typeface="Consolas" panose="020B0609020204030204" pitchFamily="49" charset="0"/>
              </a:rPr>
              <a:t>, </a:t>
            </a:r>
            <a:r>
              <a:rPr lang="en-US" sz="1250" b="0" dirty="0">
                <a:solidFill>
                  <a:srgbClr val="1F377F"/>
                </a:solidFill>
                <a:effectLst/>
                <a:latin typeface="Consolas" panose="020B0609020204030204" pitchFamily="49" charset="0"/>
              </a:rPr>
              <a:t>s</a:t>
            </a:r>
            <a:r>
              <a:rPr lang="en-US" sz="1250" b="0" dirty="0">
                <a:solidFill>
                  <a:srgbClr val="000000"/>
                </a:solidFill>
                <a:effectLst/>
                <a:latin typeface="Consolas" panose="020B0609020204030204" pitchFamily="49" charset="0"/>
              </a:rPr>
              <a:t>, </a:t>
            </a:r>
            <a:r>
              <a:rPr lang="en-US" sz="1250" b="0" dirty="0">
                <a:solidFill>
                  <a:srgbClr val="1F377F"/>
                </a:solidFill>
                <a:effectLst/>
                <a:latin typeface="Consolas" panose="020B0609020204030204" pitchFamily="49" charset="0"/>
              </a:rPr>
              <a:t>bytes</a:t>
            </a:r>
            <a:r>
              <a:rPr lang="en-US" sz="1250" b="0" dirty="0">
                <a:solidFill>
                  <a:srgbClr val="000000"/>
                </a:solidFill>
                <a:effectLst/>
                <a:latin typeface="Consolas" panose="020B0609020204030204" pitchFamily="49" charset="0"/>
              </a:rPr>
              <a:t>;</a:t>
            </a:r>
          </a:p>
          <a:p>
            <a:pPr>
              <a:buNone/>
            </a:pPr>
            <a:r>
              <a:rPr lang="en-US" sz="1250" b="0" dirty="0">
                <a:solidFill>
                  <a:srgbClr val="000000"/>
                </a:solidFill>
                <a:effectLst/>
                <a:latin typeface="Consolas" panose="020B0609020204030204" pitchFamily="49" charset="0"/>
              </a:rPr>
              <a:t>    </a:t>
            </a:r>
            <a:r>
              <a:rPr lang="en-US" sz="1250" b="0" dirty="0">
                <a:solidFill>
                  <a:srgbClr val="0000FF"/>
                </a:solidFill>
                <a:effectLst/>
                <a:latin typeface="Consolas" panose="020B0609020204030204" pitchFamily="49" charset="0"/>
              </a:rPr>
              <a:t>char</a:t>
            </a:r>
            <a:r>
              <a:rPr lang="en-US" sz="1250" b="0" dirty="0">
                <a:solidFill>
                  <a:srgbClr val="000000"/>
                </a:solidFill>
                <a:effectLst/>
                <a:latin typeface="Consolas" panose="020B0609020204030204" pitchFamily="49" charset="0"/>
              </a:rPr>
              <a:t> </a:t>
            </a:r>
            <a:r>
              <a:rPr lang="en-US" sz="1250" b="0" dirty="0" err="1">
                <a:solidFill>
                  <a:srgbClr val="1F377F"/>
                </a:solidFill>
                <a:effectLst/>
                <a:latin typeface="Consolas" panose="020B0609020204030204" pitchFamily="49" charset="0"/>
              </a:rPr>
              <a:t>buf</a:t>
            </a:r>
            <a:r>
              <a:rPr lang="en-US" sz="1250" b="0" dirty="0">
                <a:solidFill>
                  <a:srgbClr val="000000"/>
                </a:solidFill>
                <a:effectLst/>
                <a:latin typeface="Consolas" panose="020B0609020204030204" pitchFamily="49" charset="0"/>
              </a:rPr>
              <a:t>[</a:t>
            </a:r>
            <a:r>
              <a:rPr lang="en-US" sz="1250" b="0" dirty="0">
                <a:solidFill>
                  <a:srgbClr val="8A1BFF"/>
                </a:solidFill>
                <a:effectLst/>
                <a:latin typeface="Consolas" panose="020B0609020204030204" pitchFamily="49" charset="0"/>
              </a:rPr>
              <a:t>BUF_SIZE</a:t>
            </a:r>
            <a:r>
              <a:rPr lang="en-US" sz="1250" b="0" dirty="0">
                <a:solidFill>
                  <a:srgbClr val="000000"/>
                </a:solidFill>
                <a:effectLst/>
                <a:latin typeface="Consolas" panose="020B0609020204030204" pitchFamily="49" charset="0"/>
              </a:rPr>
              <a:t>];</a:t>
            </a:r>
          </a:p>
          <a:p>
            <a:pPr>
              <a:buNone/>
            </a:pPr>
            <a:r>
              <a:rPr lang="en-US" sz="1250" b="0" dirty="0">
                <a:solidFill>
                  <a:srgbClr val="000000"/>
                </a:solidFill>
                <a:effectLst/>
                <a:latin typeface="Consolas" panose="020B0609020204030204" pitchFamily="49" charset="0"/>
              </a:rPr>
              <a:t>    </a:t>
            </a:r>
            <a:r>
              <a:rPr lang="en-US" sz="1250" b="0" dirty="0">
                <a:solidFill>
                  <a:srgbClr val="0000FF"/>
                </a:solidFill>
                <a:effectLst/>
                <a:latin typeface="Consolas" panose="020B0609020204030204" pitchFamily="49" charset="0"/>
              </a:rPr>
              <a:t>struct</a:t>
            </a:r>
            <a:r>
              <a:rPr lang="en-US" sz="1250" b="0" dirty="0">
                <a:solidFill>
                  <a:srgbClr val="000000"/>
                </a:solidFill>
                <a:effectLst/>
                <a:latin typeface="Consolas" panose="020B0609020204030204" pitchFamily="49" charset="0"/>
              </a:rPr>
              <a:t> </a:t>
            </a:r>
            <a:r>
              <a:rPr lang="en-US" sz="1250" b="0" dirty="0" err="1">
                <a:solidFill>
                  <a:srgbClr val="2B91AF"/>
                </a:solidFill>
                <a:effectLst/>
                <a:latin typeface="Consolas" panose="020B0609020204030204" pitchFamily="49" charset="0"/>
              </a:rPr>
              <a:t>hostent</a:t>
            </a:r>
            <a:r>
              <a:rPr lang="en-US" sz="1250" b="0" dirty="0">
                <a:solidFill>
                  <a:srgbClr val="000000"/>
                </a:solidFill>
                <a:effectLst/>
                <a:latin typeface="Consolas" panose="020B0609020204030204" pitchFamily="49" charset="0"/>
              </a:rPr>
              <a:t>* </a:t>
            </a:r>
            <a:r>
              <a:rPr lang="en-US" sz="1250" b="0" dirty="0">
                <a:solidFill>
                  <a:srgbClr val="1F377F"/>
                </a:solidFill>
                <a:effectLst/>
                <a:latin typeface="Consolas" panose="020B0609020204030204" pitchFamily="49" charset="0"/>
              </a:rPr>
              <a:t>h</a:t>
            </a:r>
            <a:r>
              <a:rPr lang="en-US" sz="1250" b="0" dirty="0">
                <a:solidFill>
                  <a:srgbClr val="000000"/>
                </a:solidFill>
                <a:effectLst/>
                <a:latin typeface="Consolas" panose="020B0609020204030204" pitchFamily="49" charset="0"/>
              </a:rPr>
              <a:t>;</a:t>
            </a:r>
          </a:p>
          <a:p>
            <a:pPr>
              <a:buNone/>
            </a:pPr>
            <a:r>
              <a:rPr lang="en-US" sz="1250" b="0" dirty="0">
                <a:solidFill>
                  <a:srgbClr val="000000"/>
                </a:solidFill>
                <a:effectLst/>
                <a:latin typeface="Consolas" panose="020B0609020204030204" pitchFamily="49" charset="0"/>
              </a:rPr>
              <a:t>    </a:t>
            </a:r>
            <a:r>
              <a:rPr lang="en-US" sz="1250" b="0" dirty="0">
                <a:solidFill>
                  <a:srgbClr val="0000FF"/>
                </a:solidFill>
                <a:effectLst/>
                <a:latin typeface="Consolas" panose="020B0609020204030204" pitchFamily="49" charset="0"/>
              </a:rPr>
              <a:t>struct</a:t>
            </a:r>
            <a:r>
              <a:rPr lang="en-US" sz="1250" b="0" dirty="0">
                <a:solidFill>
                  <a:srgbClr val="000000"/>
                </a:solidFill>
                <a:effectLst/>
                <a:latin typeface="Consolas" panose="020B0609020204030204" pitchFamily="49" charset="0"/>
              </a:rPr>
              <a:t> </a:t>
            </a:r>
            <a:r>
              <a:rPr lang="en-US" sz="1250" b="0" dirty="0" err="1">
                <a:solidFill>
                  <a:srgbClr val="2B91AF"/>
                </a:solidFill>
                <a:effectLst/>
                <a:latin typeface="Consolas" panose="020B0609020204030204" pitchFamily="49" charset="0"/>
              </a:rPr>
              <a:t>sockaddr_in</a:t>
            </a:r>
            <a:r>
              <a:rPr lang="en-US" sz="1250" b="0" dirty="0">
                <a:solidFill>
                  <a:srgbClr val="000000"/>
                </a:solidFill>
                <a:effectLst/>
                <a:latin typeface="Consolas" panose="020B0609020204030204" pitchFamily="49" charset="0"/>
              </a:rPr>
              <a:t> </a:t>
            </a:r>
            <a:r>
              <a:rPr lang="en-US" sz="1250" b="0" dirty="0">
                <a:solidFill>
                  <a:srgbClr val="1F377F"/>
                </a:solidFill>
                <a:effectLst/>
                <a:latin typeface="Consolas" panose="020B0609020204030204" pitchFamily="49" charset="0"/>
              </a:rPr>
              <a:t>channel</a:t>
            </a:r>
            <a:r>
              <a:rPr lang="en-US" sz="1250" b="0" dirty="0">
                <a:solidFill>
                  <a:srgbClr val="000000"/>
                </a:solidFill>
                <a:effectLst/>
                <a:latin typeface="Consolas" panose="020B0609020204030204" pitchFamily="49" charset="0"/>
              </a:rPr>
              <a:t>;</a:t>
            </a:r>
            <a:br>
              <a:rPr lang="en-US" sz="1250" b="0" dirty="0">
                <a:solidFill>
                  <a:srgbClr val="000000"/>
                </a:solidFill>
                <a:effectLst/>
                <a:latin typeface="Consolas" panose="020B0609020204030204" pitchFamily="49" charset="0"/>
              </a:rPr>
            </a:br>
            <a:endParaRPr lang="en-US" sz="1250" b="0" dirty="0">
              <a:solidFill>
                <a:srgbClr val="000000"/>
              </a:solidFill>
              <a:effectLst/>
              <a:latin typeface="Consolas" panose="020B0609020204030204" pitchFamily="49" charset="0"/>
            </a:endParaRPr>
          </a:p>
          <a:p>
            <a:pPr>
              <a:buNone/>
            </a:pPr>
            <a:r>
              <a:rPr lang="en-US" sz="1250" b="0" dirty="0">
                <a:solidFill>
                  <a:srgbClr val="000000"/>
                </a:solidFill>
                <a:effectLst/>
                <a:latin typeface="Consolas" panose="020B0609020204030204" pitchFamily="49" charset="0"/>
              </a:rPr>
              <a:t>    </a:t>
            </a:r>
            <a:r>
              <a:rPr lang="en-US" sz="1250" b="0" dirty="0">
                <a:solidFill>
                  <a:srgbClr val="8F08C4"/>
                </a:solidFill>
                <a:effectLst/>
                <a:latin typeface="Consolas" panose="020B0609020204030204" pitchFamily="49" charset="0"/>
              </a:rPr>
              <a:t>if</a:t>
            </a:r>
            <a:r>
              <a:rPr lang="en-US" sz="1250" b="0" dirty="0">
                <a:solidFill>
                  <a:srgbClr val="000000"/>
                </a:solidFill>
                <a:effectLst/>
                <a:latin typeface="Consolas" panose="020B0609020204030204" pitchFamily="49" charset="0"/>
              </a:rPr>
              <a:t> (</a:t>
            </a:r>
            <a:r>
              <a:rPr lang="en-US" sz="1250" b="0" dirty="0" err="1">
                <a:solidFill>
                  <a:srgbClr val="808080"/>
                </a:solidFill>
                <a:effectLst/>
                <a:latin typeface="Consolas" panose="020B0609020204030204" pitchFamily="49" charset="0"/>
              </a:rPr>
              <a:t>argc</a:t>
            </a:r>
            <a:r>
              <a:rPr lang="en-US" sz="1250" b="0" dirty="0">
                <a:solidFill>
                  <a:srgbClr val="000000"/>
                </a:solidFill>
                <a:effectLst/>
                <a:latin typeface="Consolas" panose="020B0609020204030204" pitchFamily="49" charset="0"/>
              </a:rPr>
              <a:t> != </a:t>
            </a:r>
            <a:r>
              <a:rPr lang="en-US" sz="1250" b="0" dirty="0">
                <a:solidFill>
                  <a:srgbClr val="098658"/>
                </a:solidFill>
                <a:effectLst/>
                <a:latin typeface="Consolas" panose="020B0609020204030204" pitchFamily="49" charset="0"/>
              </a:rPr>
              <a:t>3</a:t>
            </a:r>
            <a:r>
              <a:rPr lang="en-US" sz="1250" b="0" dirty="0">
                <a:solidFill>
                  <a:srgbClr val="000000"/>
                </a:solidFill>
                <a:effectLst/>
                <a:latin typeface="Consolas" panose="020B0609020204030204" pitchFamily="49" charset="0"/>
              </a:rPr>
              <a:t>) {</a:t>
            </a:r>
          </a:p>
          <a:p>
            <a:pPr>
              <a:buNone/>
            </a:pPr>
            <a:r>
              <a:rPr lang="en-US" sz="1250" b="0" dirty="0">
                <a:solidFill>
                  <a:srgbClr val="000000"/>
                </a:solidFill>
                <a:effectLst/>
                <a:latin typeface="Consolas" panose="020B0609020204030204" pitchFamily="49" charset="0"/>
              </a:rPr>
              <a:t>        </a:t>
            </a:r>
            <a:r>
              <a:rPr lang="en-US" sz="1250" b="0" dirty="0" err="1">
                <a:solidFill>
                  <a:srgbClr val="74531F"/>
                </a:solidFill>
                <a:effectLst/>
                <a:latin typeface="Consolas" panose="020B0609020204030204" pitchFamily="49" charset="0"/>
              </a:rPr>
              <a:t>printf</a:t>
            </a:r>
            <a:r>
              <a:rPr lang="en-US" sz="1250" b="0" dirty="0">
                <a:solidFill>
                  <a:srgbClr val="000000"/>
                </a:solidFill>
                <a:effectLst/>
                <a:latin typeface="Consolas" panose="020B0609020204030204" pitchFamily="49" charset="0"/>
              </a:rPr>
              <a:t>(</a:t>
            </a:r>
            <a:r>
              <a:rPr lang="en-US" sz="1250" b="0" dirty="0">
                <a:solidFill>
                  <a:srgbClr val="E21F1F"/>
                </a:solidFill>
                <a:effectLst/>
                <a:latin typeface="Consolas" panose="020B0609020204030204" pitchFamily="49" charset="0"/>
              </a:rPr>
              <a:t>"</a:t>
            </a:r>
            <a:r>
              <a:rPr lang="ru-RU" sz="1250" b="0" dirty="0">
                <a:solidFill>
                  <a:srgbClr val="A31515"/>
                </a:solidFill>
                <a:effectLst/>
                <a:latin typeface="Consolas" panose="020B0609020204030204" pitchFamily="49" charset="0"/>
              </a:rPr>
              <a:t>Для запуска введите: </a:t>
            </a:r>
            <a:r>
              <a:rPr lang="en-US" sz="1250" b="0" dirty="0">
                <a:solidFill>
                  <a:srgbClr val="A31515"/>
                </a:solidFill>
                <a:effectLst/>
                <a:latin typeface="Consolas" panose="020B0609020204030204" pitchFamily="49" charset="0"/>
              </a:rPr>
              <a:t>client </a:t>
            </a:r>
            <a:r>
              <a:rPr lang="ru-RU" sz="1250" b="0" dirty="0" err="1">
                <a:solidFill>
                  <a:srgbClr val="A31515"/>
                </a:solidFill>
                <a:effectLst/>
                <a:latin typeface="Consolas" panose="020B0609020204030204" pitchFamily="49" charset="0"/>
              </a:rPr>
              <a:t>имя_сервера</a:t>
            </a:r>
            <a:r>
              <a:rPr lang="ru-RU" sz="1250" b="0" dirty="0">
                <a:solidFill>
                  <a:srgbClr val="A31515"/>
                </a:solidFill>
                <a:effectLst/>
                <a:latin typeface="Consolas" panose="020B0609020204030204" pitchFamily="49" charset="0"/>
              </a:rPr>
              <a:t> </a:t>
            </a:r>
            <a:r>
              <a:rPr lang="ru-RU" sz="1250" b="0" dirty="0" err="1">
                <a:solidFill>
                  <a:srgbClr val="A31515"/>
                </a:solidFill>
                <a:effectLst/>
                <a:latin typeface="Consolas" panose="020B0609020204030204" pitchFamily="49" charset="0"/>
              </a:rPr>
              <a:t>имя_файла</a:t>
            </a:r>
            <a:r>
              <a:rPr lang="ru-RU" sz="1250" b="0" dirty="0">
                <a:solidFill>
                  <a:srgbClr val="E21F1F"/>
                </a:solidFill>
                <a:effectLst/>
                <a:latin typeface="Consolas" panose="020B0609020204030204" pitchFamily="49" charset="0"/>
              </a:rPr>
              <a:t>"</a:t>
            </a:r>
            <a:r>
              <a:rPr lang="ru-RU" sz="1250" b="0" dirty="0">
                <a:solidFill>
                  <a:srgbClr val="000000"/>
                </a:solidFill>
                <a:effectLst/>
                <a:latin typeface="Consolas" panose="020B0609020204030204" pitchFamily="49" charset="0"/>
              </a:rPr>
              <a:t>);</a:t>
            </a:r>
          </a:p>
          <a:p>
            <a:pPr>
              <a:buNone/>
            </a:pPr>
            <a:r>
              <a:rPr lang="ru-RU" sz="1250" b="0" dirty="0">
                <a:solidFill>
                  <a:srgbClr val="000000"/>
                </a:solidFill>
                <a:effectLst/>
                <a:latin typeface="Consolas" panose="020B0609020204030204" pitchFamily="49" charset="0"/>
              </a:rPr>
              <a:t>        </a:t>
            </a:r>
            <a:r>
              <a:rPr lang="en-US" sz="1250" b="0" dirty="0">
                <a:solidFill>
                  <a:srgbClr val="74531F"/>
                </a:solidFill>
                <a:effectLst/>
                <a:latin typeface="Consolas" panose="020B0609020204030204" pitchFamily="49" charset="0"/>
              </a:rPr>
              <a:t>exit</a:t>
            </a:r>
            <a:r>
              <a:rPr lang="en-US" sz="1250" b="0" dirty="0">
                <a:solidFill>
                  <a:srgbClr val="000000"/>
                </a:solidFill>
                <a:effectLst/>
                <a:latin typeface="Consolas" panose="020B0609020204030204" pitchFamily="49" charset="0"/>
              </a:rPr>
              <a:t>(-</a:t>
            </a:r>
            <a:r>
              <a:rPr lang="en-US" sz="1250" b="0" dirty="0">
                <a:solidFill>
                  <a:srgbClr val="098658"/>
                </a:solidFill>
                <a:effectLst/>
                <a:latin typeface="Consolas" panose="020B0609020204030204" pitchFamily="49" charset="0"/>
              </a:rPr>
              <a:t>1</a:t>
            </a:r>
            <a:r>
              <a:rPr lang="en-US" sz="1250" b="0" dirty="0">
                <a:solidFill>
                  <a:srgbClr val="000000"/>
                </a:solidFill>
                <a:effectLst/>
                <a:latin typeface="Consolas" panose="020B0609020204030204" pitchFamily="49" charset="0"/>
              </a:rPr>
              <a:t>);</a:t>
            </a:r>
          </a:p>
          <a:p>
            <a:pPr>
              <a:buNone/>
            </a:pPr>
            <a:r>
              <a:rPr lang="en-US" sz="1250" b="0" dirty="0">
                <a:solidFill>
                  <a:srgbClr val="000000"/>
                </a:solidFill>
                <a:effectLst/>
                <a:latin typeface="Consolas" panose="020B0609020204030204" pitchFamily="49" charset="0"/>
              </a:rPr>
              <a:t>    }</a:t>
            </a:r>
            <a:br>
              <a:rPr lang="en-US" sz="1250" b="0" dirty="0">
                <a:solidFill>
                  <a:srgbClr val="000000"/>
                </a:solidFill>
                <a:effectLst/>
                <a:latin typeface="Consolas" panose="020B0609020204030204" pitchFamily="49" charset="0"/>
              </a:rPr>
            </a:br>
            <a:endParaRPr lang="en-US" sz="1250" b="0" dirty="0">
              <a:solidFill>
                <a:srgbClr val="000000"/>
              </a:solidFill>
              <a:effectLst/>
              <a:latin typeface="Consolas" panose="020B0609020204030204" pitchFamily="49" charset="0"/>
            </a:endParaRPr>
          </a:p>
          <a:p>
            <a:pPr>
              <a:buNone/>
            </a:pPr>
            <a:r>
              <a:rPr lang="en-US" sz="1250" b="0" dirty="0">
                <a:solidFill>
                  <a:srgbClr val="000000"/>
                </a:solidFill>
                <a:effectLst/>
                <a:latin typeface="Consolas" panose="020B0609020204030204" pitchFamily="49" charset="0"/>
              </a:rPr>
              <a:t>    </a:t>
            </a:r>
            <a:r>
              <a:rPr lang="en-US" sz="1250" b="0" dirty="0">
                <a:solidFill>
                  <a:srgbClr val="1F377F"/>
                </a:solidFill>
                <a:effectLst/>
                <a:latin typeface="Consolas" panose="020B0609020204030204" pitchFamily="49" charset="0"/>
              </a:rPr>
              <a:t>h</a:t>
            </a:r>
            <a:r>
              <a:rPr lang="en-US" sz="1250" b="0" dirty="0">
                <a:solidFill>
                  <a:srgbClr val="000000"/>
                </a:solidFill>
                <a:effectLst/>
                <a:latin typeface="Consolas" panose="020B0609020204030204" pitchFamily="49" charset="0"/>
              </a:rPr>
              <a:t> = </a:t>
            </a:r>
            <a:r>
              <a:rPr lang="en-US" sz="1250" b="0" dirty="0" err="1">
                <a:solidFill>
                  <a:srgbClr val="74531F"/>
                </a:solidFill>
                <a:effectLst/>
                <a:latin typeface="Consolas" panose="020B0609020204030204" pitchFamily="49" charset="0"/>
              </a:rPr>
              <a:t>gethostbyname</a:t>
            </a:r>
            <a:r>
              <a:rPr lang="en-US" sz="1250" b="0" dirty="0">
                <a:solidFill>
                  <a:srgbClr val="000000"/>
                </a:solidFill>
                <a:effectLst/>
                <a:latin typeface="Consolas" panose="020B0609020204030204" pitchFamily="49" charset="0"/>
              </a:rPr>
              <a:t>(</a:t>
            </a:r>
            <a:r>
              <a:rPr lang="en-US" sz="1250" b="0" dirty="0" err="1">
                <a:solidFill>
                  <a:srgbClr val="808080"/>
                </a:solidFill>
                <a:effectLst/>
                <a:latin typeface="Consolas" panose="020B0609020204030204" pitchFamily="49" charset="0"/>
              </a:rPr>
              <a:t>argv</a:t>
            </a:r>
            <a:r>
              <a:rPr lang="en-US" sz="1250" b="0" dirty="0">
                <a:solidFill>
                  <a:srgbClr val="000000"/>
                </a:solidFill>
                <a:effectLst/>
                <a:latin typeface="Consolas" panose="020B0609020204030204" pitchFamily="49" charset="0"/>
              </a:rPr>
              <a:t>[</a:t>
            </a:r>
            <a:r>
              <a:rPr lang="en-US" sz="1250" b="0" dirty="0">
                <a:solidFill>
                  <a:srgbClr val="098658"/>
                </a:solidFill>
                <a:effectLst/>
                <a:latin typeface="Consolas" panose="020B0609020204030204" pitchFamily="49" charset="0"/>
              </a:rPr>
              <a:t>1</a:t>
            </a:r>
            <a:r>
              <a:rPr lang="en-US" sz="1250" b="0" dirty="0">
                <a:solidFill>
                  <a:srgbClr val="000000"/>
                </a:solidFill>
                <a:effectLst/>
                <a:latin typeface="Consolas" panose="020B0609020204030204" pitchFamily="49" charset="0"/>
              </a:rPr>
              <a:t>]);</a:t>
            </a:r>
            <a:r>
              <a:rPr lang="ru-RU" sz="125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a:t>
            </a:r>
            <a:r>
              <a:rPr lang="ru-RU" sz="1400" dirty="0">
                <a:solidFill>
                  <a:srgbClr val="008000"/>
                </a:solidFill>
                <a:latin typeface="Consolas" panose="020B0609020204030204" pitchFamily="49" charset="0"/>
              </a:rPr>
              <a:t>Преобразуем имя хоста (например, flits.cs.vu.nl) в IP-адрес через DNS</a:t>
            </a:r>
            <a:endParaRPr lang="en-US" sz="1400" dirty="0">
              <a:solidFill>
                <a:srgbClr val="008000"/>
              </a:solidFill>
              <a:latin typeface="Consolas" panose="020B0609020204030204" pitchFamily="49" charset="0"/>
            </a:endParaRPr>
          </a:p>
          <a:p>
            <a:pPr>
              <a:buNone/>
            </a:pPr>
            <a:r>
              <a:rPr lang="en-US" sz="1250" b="0" dirty="0">
                <a:solidFill>
                  <a:srgbClr val="000000"/>
                </a:solidFill>
                <a:effectLst/>
                <a:latin typeface="Consolas" panose="020B0609020204030204" pitchFamily="49" charset="0"/>
              </a:rPr>
              <a:t>    </a:t>
            </a:r>
            <a:r>
              <a:rPr lang="en-US" sz="1250" b="0" dirty="0">
                <a:solidFill>
                  <a:srgbClr val="8F08C4"/>
                </a:solidFill>
                <a:effectLst/>
                <a:latin typeface="Consolas" panose="020B0609020204030204" pitchFamily="49" charset="0"/>
              </a:rPr>
              <a:t>if</a:t>
            </a:r>
            <a:r>
              <a:rPr lang="en-US" sz="1250" b="0" dirty="0">
                <a:solidFill>
                  <a:srgbClr val="000000"/>
                </a:solidFill>
                <a:effectLst/>
                <a:latin typeface="Consolas" panose="020B0609020204030204" pitchFamily="49" charset="0"/>
              </a:rPr>
              <a:t> (!</a:t>
            </a:r>
            <a:r>
              <a:rPr lang="en-US" sz="1250" b="0" dirty="0">
                <a:solidFill>
                  <a:srgbClr val="1F377F"/>
                </a:solidFill>
                <a:effectLst/>
                <a:latin typeface="Consolas" panose="020B0609020204030204" pitchFamily="49" charset="0"/>
              </a:rPr>
              <a:t>h</a:t>
            </a:r>
            <a:r>
              <a:rPr lang="en-US" sz="1250" b="0" dirty="0">
                <a:solidFill>
                  <a:srgbClr val="000000"/>
                </a:solidFill>
                <a:effectLst/>
                <a:latin typeface="Consolas" panose="020B0609020204030204" pitchFamily="49" charset="0"/>
              </a:rPr>
              <a:t>) { </a:t>
            </a:r>
            <a:r>
              <a:rPr lang="en-US" sz="1250" b="0" dirty="0" err="1">
                <a:solidFill>
                  <a:srgbClr val="74531F"/>
                </a:solidFill>
                <a:effectLst/>
                <a:latin typeface="Consolas" panose="020B0609020204030204" pitchFamily="49" charset="0"/>
              </a:rPr>
              <a:t>printf</a:t>
            </a:r>
            <a:r>
              <a:rPr lang="en-US" sz="1250" b="0" dirty="0">
                <a:solidFill>
                  <a:srgbClr val="000000"/>
                </a:solidFill>
                <a:effectLst/>
                <a:latin typeface="Consolas" panose="020B0609020204030204" pitchFamily="49" charset="0"/>
              </a:rPr>
              <a:t>(</a:t>
            </a:r>
            <a:r>
              <a:rPr lang="en-US" sz="1250" b="0" dirty="0">
                <a:solidFill>
                  <a:srgbClr val="E21F1F"/>
                </a:solidFill>
                <a:effectLst/>
                <a:latin typeface="Consolas" panose="020B0609020204030204" pitchFamily="49" charset="0"/>
              </a:rPr>
              <a:t>"</a:t>
            </a:r>
            <a:r>
              <a:rPr lang="en-US" sz="1250" b="0" dirty="0" err="1">
                <a:solidFill>
                  <a:srgbClr val="A31515"/>
                </a:solidFill>
                <a:effectLst/>
                <a:latin typeface="Consolas" panose="020B0609020204030204" pitchFamily="49" charset="0"/>
              </a:rPr>
              <a:t>gethostbyname</a:t>
            </a:r>
            <a:r>
              <a:rPr lang="en-US" sz="1250" b="0" dirty="0">
                <a:solidFill>
                  <a:srgbClr val="A31515"/>
                </a:solidFill>
                <a:effectLst/>
                <a:latin typeface="Consolas" panose="020B0609020204030204" pitchFamily="49" charset="0"/>
              </a:rPr>
              <a:t> </a:t>
            </a:r>
            <a:r>
              <a:rPr lang="ru-RU" sz="1250" b="0" dirty="0">
                <a:solidFill>
                  <a:srgbClr val="A31515"/>
                </a:solidFill>
                <a:effectLst/>
                <a:latin typeface="Consolas" panose="020B0609020204030204" pitchFamily="49" charset="0"/>
              </a:rPr>
              <a:t>не удалось найти </a:t>
            </a:r>
            <a:r>
              <a:rPr lang="ru-RU" sz="1250" b="0" dirty="0">
                <a:solidFill>
                  <a:srgbClr val="1F377F"/>
                </a:solidFill>
                <a:effectLst/>
                <a:latin typeface="Consolas" panose="020B0609020204030204" pitchFamily="49" charset="0"/>
              </a:rPr>
              <a:t>%</a:t>
            </a:r>
            <a:r>
              <a:rPr lang="en-US" sz="1250" b="0" dirty="0">
                <a:solidFill>
                  <a:srgbClr val="1F377F"/>
                </a:solidFill>
                <a:effectLst/>
                <a:latin typeface="Consolas" panose="020B0609020204030204" pitchFamily="49" charset="0"/>
              </a:rPr>
              <a:t>s</a:t>
            </a:r>
            <a:r>
              <a:rPr lang="en-US" sz="1250" b="0" dirty="0">
                <a:solidFill>
                  <a:srgbClr val="E21F1F"/>
                </a:solidFill>
                <a:effectLst/>
                <a:latin typeface="Consolas" panose="020B0609020204030204" pitchFamily="49" charset="0"/>
              </a:rPr>
              <a:t>"</a:t>
            </a:r>
            <a:r>
              <a:rPr lang="en-US" sz="1250" b="0" dirty="0">
                <a:solidFill>
                  <a:srgbClr val="000000"/>
                </a:solidFill>
                <a:effectLst/>
                <a:latin typeface="Consolas" panose="020B0609020204030204" pitchFamily="49" charset="0"/>
              </a:rPr>
              <a:t>, </a:t>
            </a:r>
            <a:r>
              <a:rPr lang="en-US" sz="1250" b="0" dirty="0" err="1">
                <a:solidFill>
                  <a:srgbClr val="808080"/>
                </a:solidFill>
                <a:effectLst/>
                <a:latin typeface="Consolas" panose="020B0609020204030204" pitchFamily="49" charset="0"/>
              </a:rPr>
              <a:t>argv</a:t>
            </a:r>
            <a:r>
              <a:rPr lang="en-US" sz="1250" b="0" dirty="0">
                <a:solidFill>
                  <a:srgbClr val="000000"/>
                </a:solidFill>
                <a:effectLst/>
                <a:latin typeface="Consolas" panose="020B0609020204030204" pitchFamily="49" charset="0"/>
              </a:rPr>
              <a:t>[</a:t>
            </a:r>
            <a:r>
              <a:rPr lang="en-US" sz="1250" b="0" dirty="0">
                <a:solidFill>
                  <a:srgbClr val="098658"/>
                </a:solidFill>
                <a:effectLst/>
                <a:latin typeface="Consolas" panose="020B0609020204030204" pitchFamily="49" charset="0"/>
              </a:rPr>
              <a:t>1</a:t>
            </a:r>
            <a:r>
              <a:rPr lang="en-US" sz="1250" b="0" dirty="0">
                <a:solidFill>
                  <a:srgbClr val="000000"/>
                </a:solidFill>
                <a:effectLst/>
                <a:latin typeface="Consolas" panose="020B0609020204030204" pitchFamily="49" charset="0"/>
              </a:rPr>
              <a:t>]); </a:t>
            </a:r>
            <a:r>
              <a:rPr lang="en-US" sz="1250" b="0" dirty="0">
                <a:solidFill>
                  <a:srgbClr val="74531F"/>
                </a:solidFill>
                <a:effectLst/>
                <a:latin typeface="Consolas" panose="020B0609020204030204" pitchFamily="49" charset="0"/>
              </a:rPr>
              <a:t>exit</a:t>
            </a:r>
            <a:r>
              <a:rPr lang="en-US" sz="1250" b="0" dirty="0">
                <a:solidFill>
                  <a:srgbClr val="000000"/>
                </a:solidFill>
                <a:effectLst/>
                <a:latin typeface="Consolas" panose="020B0609020204030204" pitchFamily="49" charset="0"/>
              </a:rPr>
              <a:t>(-</a:t>
            </a:r>
            <a:r>
              <a:rPr lang="en-US" sz="1250" b="0" dirty="0">
                <a:solidFill>
                  <a:srgbClr val="098658"/>
                </a:solidFill>
                <a:effectLst/>
                <a:latin typeface="Consolas" panose="020B0609020204030204" pitchFamily="49" charset="0"/>
              </a:rPr>
              <a:t>1</a:t>
            </a:r>
            <a:r>
              <a:rPr lang="en-US" sz="1250" b="0" dirty="0">
                <a:solidFill>
                  <a:srgbClr val="000000"/>
                </a:solidFill>
                <a:effectLst/>
                <a:latin typeface="Consolas" panose="020B0609020204030204" pitchFamily="49" charset="0"/>
              </a:rPr>
              <a:t>); }</a:t>
            </a:r>
            <a:br>
              <a:rPr lang="en-US" sz="1250" b="0" dirty="0">
                <a:solidFill>
                  <a:srgbClr val="000000"/>
                </a:solidFill>
                <a:effectLst/>
                <a:latin typeface="Consolas" panose="020B0609020204030204" pitchFamily="49" charset="0"/>
              </a:rPr>
            </a:br>
            <a:endParaRPr lang="en-US" sz="1250" b="0" dirty="0">
              <a:solidFill>
                <a:srgbClr val="000000"/>
              </a:solidFill>
              <a:effectLst/>
              <a:latin typeface="Consolas" panose="020B0609020204030204" pitchFamily="49" charset="0"/>
            </a:endParaRPr>
          </a:p>
          <a:p>
            <a:pPr>
              <a:buNone/>
            </a:pPr>
            <a:r>
              <a:rPr lang="en-US" sz="1250" b="0" dirty="0">
                <a:solidFill>
                  <a:srgbClr val="000000"/>
                </a:solidFill>
                <a:effectLst/>
                <a:latin typeface="Consolas" panose="020B0609020204030204" pitchFamily="49" charset="0"/>
              </a:rPr>
              <a:t>    </a:t>
            </a:r>
            <a:r>
              <a:rPr lang="en-US" sz="1250" b="0" dirty="0">
                <a:solidFill>
                  <a:srgbClr val="1F377F"/>
                </a:solidFill>
                <a:effectLst/>
                <a:latin typeface="Consolas" panose="020B0609020204030204" pitchFamily="49" charset="0"/>
              </a:rPr>
              <a:t>s</a:t>
            </a:r>
            <a:r>
              <a:rPr lang="en-US" sz="1250" b="0" dirty="0">
                <a:solidFill>
                  <a:srgbClr val="000000"/>
                </a:solidFill>
                <a:effectLst/>
                <a:latin typeface="Consolas" panose="020B0609020204030204" pitchFamily="49" charset="0"/>
              </a:rPr>
              <a:t> = </a:t>
            </a:r>
            <a:r>
              <a:rPr lang="en-US" sz="1250" b="0" dirty="0">
                <a:solidFill>
                  <a:srgbClr val="74531F"/>
                </a:solidFill>
                <a:effectLst/>
                <a:latin typeface="Consolas" panose="020B0609020204030204" pitchFamily="49" charset="0"/>
              </a:rPr>
              <a:t>socket</a:t>
            </a:r>
            <a:r>
              <a:rPr lang="en-US" sz="1250" b="0" dirty="0">
                <a:solidFill>
                  <a:srgbClr val="000000"/>
                </a:solidFill>
                <a:effectLst/>
                <a:latin typeface="Consolas" panose="020B0609020204030204" pitchFamily="49" charset="0"/>
              </a:rPr>
              <a:t>(PF_INET, SOCK_STREAM, IPPROTO_TCP); </a:t>
            </a:r>
            <a:r>
              <a:rPr lang="en-US"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Создаём TCP-сокет (IPv4, потоковый, TCP)</a:t>
            </a:r>
            <a:endParaRPr lang="en-US" sz="1250" b="0" dirty="0">
              <a:solidFill>
                <a:srgbClr val="000000"/>
              </a:solidFill>
              <a:effectLst/>
              <a:latin typeface="Consolas" panose="020B0609020204030204" pitchFamily="49" charset="0"/>
            </a:endParaRPr>
          </a:p>
          <a:p>
            <a:pPr>
              <a:buNone/>
            </a:pPr>
            <a:r>
              <a:rPr lang="en-US" sz="1250" b="0" dirty="0">
                <a:solidFill>
                  <a:srgbClr val="000000"/>
                </a:solidFill>
                <a:effectLst/>
                <a:latin typeface="Consolas" panose="020B0609020204030204" pitchFamily="49" charset="0"/>
              </a:rPr>
              <a:t>    </a:t>
            </a:r>
            <a:r>
              <a:rPr lang="en-US" sz="1250" b="0" dirty="0">
                <a:solidFill>
                  <a:srgbClr val="8F08C4"/>
                </a:solidFill>
                <a:effectLst/>
                <a:latin typeface="Consolas" panose="020B0609020204030204" pitchFamily="49" charset="0"/>
              </a:rPr>
              <a:t>if</a:t>
            </a:r>
            <a:r>
              <a:rPr lang="en-US" sz="1250" b="0" dirty="0">
                <a:solidFill>
                  <a:srgbClr val="000000"/>
                </a:solidFill>
                <a:effectLst/>
                <a:latin typeface="Consolas" panose="020B0609020204030204" pitchFamily="49" charset="0"/>
              </a:rPr>
              <a:t> (</a:t>
            </a:r>
            <a:r>
              <a:rPr lang="en-US" sz="1250" b="0" dirty="0">
                <a:solidFill>
                  <a:srgbClr val="1F377F"/>
                </a:solidFill>
                <a:effectLst/>
                <a:latin typeface="Consolas" panose="020B0609020204030204" pitchFamily="49" charset="0"/>
              </a:rPr>
              <a:t>s</a:t>
            </a:r>
            <a:r>
              <a:rPr lang="en-US" sz="1250" b="0" dirty="0">
                <a:solidFill>
                  <a:srgbClr val="000000"/>
                </a:solidFill>
                <a:effectLst/>
                <a:latin typeface="Consolas" panose="020B0609020204030204" pitchFamily="49" charset="0"/>
              </a:rPr>
              <a:t> &lt; </a:t>
            </a:r>
            <a:r>
              <a:rPr lang="en-US" sz="1250" b="0" dirty="0">
                <a:solidFill>
                  <a:srgbClr val="098658"/>
                </a:solidFill>
                <a:effectLst/>
                <a:latin typeface="Consolas" panose="020B0609020204030204" pitchFamily="49" charset="0"/>
              </a:rPr>
              <a:t>0</a:t>
            </a:r>
            <a:r>
              <a:rPr lang="en-US" sz="1250" b="0" dirty="0">
                <a:solidFill>
                  <a:srgbClr val="000000"/>
                </a:solidFill>
                <a:effectLst/>
                <a:latin typeface="Consolas" panose="020B0609020204030204" pitchFamily="49" charset="0"/>
              </a:rPr>
              <a:t>) { </a:t>
            </a:r>
            <a:r>
              <a:rPr lang="en-US" sz="1250" b="0" dirty="0" err="1">
                <a:solidFill>
                  <a:srgbClr val="74531F"/>
                </a:solidFill>
                <a:effectLst/>
                <a:latin typeface="Consolas" panose="020B0609020204030204" pitchFamily="49" charset="0"/>
              </a:rPr>
              <a:t>printf</a:t>
            </a:r>
            <a:r>
              <a:rPr lang="en-US" sz="1250" b="0" dirty="0">
                <a:solidFill>
                  <a:srgbClr val="000000"/>
                </a:solidFill>
                <a:effectLst/>
                <a:latin typeface="Consolas" panose="020B0609020204030204" pitchFamily="49" charset="0"/>
              </a:rPr>
              <a:t>(</a:t>
            </a:r>
            <a:r>
              <a:rPr lang="en-US" sz="1250" b="0" dirty="0">
                <a:solidFill>
                  <a:srgbClr val="E21F1F"/>
                </a:solidFill>
                <a:effectLst/>
                <a:latin typeface="Consolas" panose="020B0609020204030204" pitchFamily="49" charset="0"/>
              </a:rPr>
              <a:t>"</a:t>
            </a:r>
            <a:r>
              <a:rPr lang="ru-RU" sz="1250" b="0" dirty="0">
                <a:solidFill>
                  <a:srgbClr val="A31515"/>
                </a:solidFill>
                <a:effectLst/>
                <a:latin typeface="Consolas" panose="020B0609020204030204" pitchFamily="49" charset="0"/>
              </a:rPr>
              <a:t>сбой вызова сокета</a:t>
            </a:r>
            <a:r>
              <a:rPr lang="ru-RU" sz="1250" b="0" dirty="0">
                <a:solidFill>
                  <a:srgbClr val="E21F1F"/>
                </a:solidFill>
                <a:effectLst/>
                <a:latin typeface="Consolas" panose="020B0609020204030204" pitchFamily="49" charset="0"/>
              </a:rPr>
              <a:t>"</a:t>
            </a:r>
            <a:r>
              <a:rPr lang="ru-RU" sz="1250" b="0" dirty="0">
                <a:solidFill>
                  <a:srgbClr val="000000"/>
                </a:solidFill>
                <a:effectLst/>
                <a:latin typeface="Consolas" panose="020B0609020204030204" pitchFamily="49" charset="0"/>
              </a:rPr>
              <a:t>); </a:t>
            </a:r>
            <a:r>
              <a:rPr lang="en-US" sz="1250" b="0" dirty="0">
                <a:solidFill>
                  <a:srgbClr val="74531F"/>
                </a:solidFill>
                <a:effectLst/>
                <a:latin typeface="Consolas" panose="020B0609020204030204" pitchFamily="49" charset="0"/>
              </a:rPr>
              <a:t>exit</a:t>
            </a:r>
            <a:r>
              <a:rPr lang="en-US" sz="1250" b="0" dirty="0">
                <a:solidFill>
                  <a:srgbClr val="000000"/>
                </a:solidFill>
                <a:effectLst/>
                <a:latin typeface="Consolas" panose="020B0609020204030204" pitchFamily="49" charset="0"/>
              </a:rPr>
              <a:t>(-</a:t>
            </a:r>
            <a:r>
              <a:rPr lang="en-US" sz="1250" b="0" dirty="0">
                <a:solidFill>
                  <a:srgbClr val="098658"/>
                </a:solidFill>
                <a:effectLst/>
                <a:latin typeface="Consolas" panose="020B0609020204030204" pitchFamily="49" charset="0"/>
              </a:rPr>
              <a:t>1</a:t>
            </a:r>
            <a:r>
              <a:rPr lang="en-US" sz="1250" b="0" dirty="0">
                <a:solidFill>
                  <a:srgbClr val="000000"/>
                </a:solidFill>
                <a:effectLst/>
                <a:latin typeface="Consolas" panose="020B0609020204030204" pitchFamily="49" charset="0"/>
              </a:rPr>
              <a:t>); }</a:t>
            </a:r>
          </a:p>
          <a:p>
            <a:pPr>
              <a:buNone/>
            </a:pPr>
            <a:r>
              <a:rPr lang="en-US" sz="1250" b="0" dirty="0">
                <a:solidFill>
                  <a:srgbClr val="000000"/>
                </a:solidFill>
                <a:effectLst/>
                <a:latin typeface="Consolas" panose="020B0609020204030204" pitchFamily="49" charset="0"/>
              </a:rPr>
              <a:t>    </a:t>
            </a:r>
          </a:p>
          <a:p>
            <a:pPr>
              <a:buNone/>
            </a:pPr>
            <a:r>
              <a:rPr lang="en-US" sz="1250" b="0" dirty="0">
                <a:solidFill>
                  <a:srgbClr val="000000"/>
                </a:solidFill>
                <a:effectLst/>
                <a:latin typeface="Consolas" panose="020B0609020204030204" pitchFamily="49" charset="0"/>
              </a:rPr>
              <a:t>    </a:t>
            </a:r>
            <a:r>
              <a:rPr lang="en-US" sz="1250" b="0" dirty="0" err="1">
                <a:solidFill>
                  <a:srgbClr val="74531F"/>
                </a:solidFill>
                <a:effectLst/>
                <a:latin typeface="Consolas" panose="020B0609020204030204" pitchFamily="49" charset="0"/>
              </a:rPr>
              <a:t>memset</a:t>
            </a:r>
            <a:r>
              <a:rPr lang="en-US" sz="1250" b="0" dirty="0">
                <a:solidFill>
                  <a:srgbClr val="000000"/>
                </a:solidFill>
                <a:effectLst/>
                <a:latin typeface="Consolas" panose="020B0609020204030204" pitchFamily="49" charset="0"/>
              </a:rPr>
              <a:t>(&amp;</a:t>
            </a:r>
            <a:r>
              <a:rPr lang="en-US" sz="1250" b="0" dirty="0">
                <a:solidFill>
                  <a:srgbClr val="1F377F"/>
                </a:solidFill>
                <a:effectLst/>
                <a:latin typeface="Consolas" panose="020B0609020204030204" pitchFamily="49" charset="0"/>
              </a:rPr>
              <a:t>channel</a:t>
            </a:r>
            <a:r>
              <a:rPr lang="en-US" sz="1250" b="0" dirty="0">
                <a:solidFill>
                  <a:srgbClr val="000000"/>
                </a:solidFill>
                <a:effectLst/>
                <a:latin typeface="Consolas" panose="020B0609020204030204" pitchFamily="49" charset="0"/>
              </a:rPr>
              <a:t>, </a:t>
            </a:r>
            <a:r>
              <a:rPr lang="en-US" sz="1250" b="0" dirty="0">
                <a:solidFill>
                  <a:srgbClr val="098658"/>
                </a:solidFill>
                <a:effectLst/>
                <a:latin typeface="Consolas" panose="020B0609020204030204" pitchFamily="49" charset="0"/>
              </a:rPr>
              <a:t>0</a:t>
            </a:r>
            <a:r>
              <a:rPr lang="en-US" sz="1250" b="0" dirty="0">
                <a:solidFill>
                  <a:srgbClr val="000000"/>
                </a:solidFill>
                <a:effectLst/>
                <a:latin typeface="Consolas" panose="020B0609020204030204" pitchFamily="49" charset="0"/>
              </a:rPr>
              <a:t>, </a:t>
            </a:r>
            <a:r>
              <a:rPr lang="en-US" sz="1250" b="0" dirty="0" err="1">
                <a:solidFill>
                  <a:srgbClr val="0000FF"/>
                </a:solidFill>
                <a:effectLst/>
                <a:latin typeface="Consolas" panose="020B0609020204030204" pitchFamily="49" charset="0"/>
              </a:rPr>
              <a:t>sizeof</a:t>
            </a:r>
            <a:r>
              <a:rPr lang="en-US" sz="1250" b="0" dirty="0">
                <a:solidFill>
                  <a:srgbClr val="000000"/>
                </a:solidFill>
                <a:effectLst/>
                <a:latin typeface="Consolas" panose="020B0609020204030204" pitchFamily="49" charset="0"/>
              </a:rPr>
              <a:t>(</a:t>
            </a:r>
            <a:r>
              <a:rPr lang="en-US" sz="1250" b="0" dirty="0">
                <a:solidFill>
                  <a:srgbClr val="1F377F"/>
                </a:solidFill>
                <a:effectLst/>
                <a:latin typeface="Consolas" panose="020B0609020204030204" pitchFamily="49" charset="0"/>
              </a:rPr>
              <a:t>channel</a:t>
            </a:r>
            <a:r>
              <a:rPr lang="en-US" sz="1250" b="0" dirty="0">
                <a:solidFill>
                  <a:srgbClr val="000000"/>
                </a:solidFill>
                <a:effectLst/>
                <a:latin typeface="Consolas" panose="020B0609020204030204" pitchFamily="49" charset="0"/>
              </a:rPr>
              <a:t>));</a:t>
            </a:r>
          </a:p>
          <a:p>
            <a:pPr>
              <a:buNone/>
            </a:pPr>
            <a:r>
              <a:rPr lang="en-US" sz="1250" b="0" dirty="0">
                <a:solidFill>
                  <a:srgbClr val="000000"/>
                </a:solidFill>
                <a:effectLst/>
                <a:latin typeface="Consolas" panose="020B0609020204030204" pitchFamily="49" charset="0"/>
              </a:rPr>
              <a:t>    </a:t>
            </a:r>
            <a:r>
              <a:rPr lang="en-US" sz="1250" b="0" dirty="0" err="1">
                <a:solidFill>
                  <a:srgbClr val="1F377F"/>
                </a:solidFill>
                <a:effectLst/>
                <a:latin typeface="Consolas" panose="020B0609020204030204" pitchFamily="49" charset="0"/>
              </a:rPr>
              <a:t>channel</a:t>
            </a:r>
            <a:r>
              <a:rPr lang="en-US" sz="1250" b="0" dirty="0" err="1">
                <a:solidFill>
                  <a:srgbClr val="000000"/>
                </a:solidFill>
                <a:effectLst/>
                <a:latin typeface="Consolas" panose="020B0609020204030204" pitchFamily="49" charset="0"/>
              </a:rPr>
              <a:t>.</a:t>
            </a:r>
            <a:r>
              <a:rPr lang="en-US" sz="1250" b="0" dirty="0" err="1">
                <a:solidFill>
                  <a:srgbClr val="1F377F"/>
                </a:solidFill>
                <a:effectLst/>
                <a:latin typeface="Consolas" panose="020B0609020204030204" pitchFamily="49" charset="0"/>
              </a:rPr>
              <a:t>sin_family</a:t>
            </a:r>
            <a:r>
              <a:rPr lang="en-US" sz="1250" b="0" dirty="0">
                <a:solidFill>
                  <a:srgbClr val="000000"/>
                </a:solidFill>
                <a:effectLst/>
                <a:latin typeface="Consolas" panose="020B0609020204030204" pitchFamily="49" charset="0"/>
              </a:rPr>
              <a:t> = AF_INET; </a:t>
            </a:r>
            <a:r>
              <a:rPr lang="ru-RU" sz="1200" dirty="0">
                <a:solidFill>
                  <a:srgbClr val="008000"/>
                </a:solidFill>
                <a:latin typeface="Consolas" panose="020B0609020204030204" pitchFamily="49" charset="0"/>
              </a:rPr>
              <a:t>// Семейство адресов: </a:t>
            </a:r>
            <a:r>
              <a:rPr lang="en-US" sz="1200" dirty="0">
                <a:solidFill>
                  <a:srgbClr val="008000"/>
                </a:solidFill>
                <a:latin typeface="Consolas" panose="020B0609020204030204" pitchFamily="49" charset="0"/>
              </a:rPr>
              <a:t>IPv4</a:t>
            </a:r>
          </a:p>
          <a:p>
            <a:pPr>
              <a:buNone/>
            </a:pPr>
            <a:r>
              <a:rPr lang="en-US" sz="1250" b="0" dirty="0">
                <a:solidFill>
                  <a:srgbClr val="000000"/>
                </a:solidFill>
                <a:effectLst/>
                <a:latin typeface="Consolas" panose="020B0609020204030204" pitchFamily="49" charset="0"/>
              </a:rPr>
              <a:t>    </a:t>
            </a:r>
            <a:r>
              <a:rPr lang="en-US" sz="1250" b="0" dirty="0" err="1">
                <a:solidFill>
                  <a:srgbClr val="74531F"/>
                </a:solidFill>
                <a:effectLst/>
                <a:latin typeface="Consolas" panose="020B0609020204030204" pitchFamily="49" charset="0"/>
              </a:rPr>
              <a:t>memcpy</a:t>
            </a:r>
            <a:r>
              <a:rPr lang="en-US" sz="1250" b="0" dirty="0">
                <a:solidFill>
                  <a:srgbClr val="000000"/>
                </a:solidFill>
                <a:effectLst/>
                <a:latin typeface="Consolas" panose="020B0609020204030204" pitchFamily="49" charset="0"/>
              </a:rPr>
              <a:t>(&amp;</a:t>
            </a:r>
            <a:r>
              <a:rPr lang="en-US" sz="1250" b="0" dirty="0" err="1">
                <a:solidFill>
                  <a:srgbClr val="1F377F"/>
                </a:solidFill>
                <a:effectLst/>
                <a:latin typeface="Consolas" panose="020B0609020204030204" pitchFamily="49" charset="0"/>
              </a:rPr>
              <a:t>channel</a:t>
            </a:r>
            <a:r>
              <a:rPr lang="en-US" sz="1250" b="0" dirty="0" err="1">
                <a:solidFill>
                  <a:srgbClr val="000000"/>
                </a:solidFill>
                <a:effectLst/>
                <a:latin typeface="Consolas" panose="020B0609020204030204" pitchFamily="49" charset="0"/>
              </a:rPr>
              <a:t>.</a:t>
            </a:r>
            <a:r>
              <a:rPr lang="en-US" sz="1250" b="0" dirty="0" err="1">
                <a:solidFill>
                  <a:srgbClr val="1F377F"/>
                </a:solidFill>
                <a:effectLst/>
                <a:latin typeface="Consolas" panose="020B0609020204030204" pitchFamily="49" charset="0"/>
              </a:rPr>
              <a:t>sin_addr</a:t>
            </a:r>
            <a:r>
              <a:rPr lang="en-US" sz="1250" b="0" dirty="0" err="1">
                <a:solidFill>
                  <a:srgbClr val="000000"/>
                </a:solidFill>
                <a:effectLst/>
                <a:latin typeface="Consolas" panose="020B0609020204030204" pitchFamily="49" charset="0"/>
              </a:rPr>
              <a:t>.</a:t>
            </a:r>
            <a:r>
              <a:rPr lang="en-US" sz="1250" b="0" dirty="0" err="1">
                <a:solidFill>
                  <a:srgbClr val="1F377F"/>
                </a:solidFill>
                <a:effectLst/>
                <a:latin typeface="Consolas" panose="020B0609020204030204" pitchFamily="49" charset="0"/>
              </a:rPr>
              <a:t>s_addr</a:t>
            </a:r>
            <a:r>
              <a:rPr lang="en-US" sz="1250" b="0" dirty="0">
                <a:solidFill>
                  <a:srgbClr val="000000"/>
                </a:solidFill>
                <a:effectLst/>
                <a:latin typeface="Consolas" panose="020B0609020204030204" pitchFamily="49" charset="0"/>
              </a:rPr>
              <a:t>, </a:t>
            </a:r>
            <a:r>
              <a:rPr lang="en-US" sz="1250" b="0" dirty="0">
                <a:solidFill>
                  <a:srgbClr val="1F377F"/>
                </a:solidFill>
                <a:effectLst/>
                <a:latin typeface="Consolas" panose="020B0609020204030204" pitchFamily="49" charset="0"/>
              </a:rPr>
              <a:t>h</a:t>
            </a:r>
            <a:r>
              <a:rPr lang="en-US" sz="1250" b="0" dirty="0">
                <a:solidFill>
                  <a:srgbClr val="000000"/>
                </a:solidFill>
                <a:effectLst/>
                <a:latin typeface="Consolas" panose="020B0609020204030204" pitchFamily="49" charset="0"/>
              </a:rPr>
              <a:t>-&gt;</a:t>
            </a:r>
            <a:r>
              <a:rPr lang="en-US" sz="1250" b="0" dirty="0" err="1">
                <a:solidFill>
                  <a:srgbClr val="1F377F"/>
                </a:solidFill>
                <a:effectLst/>
                <a:latin typeface="Consolas" panose="020B0609020204030204" pitchFamily="49" charset="0"/>
              </a:rPr>
              <a:t>h_addr</a:t>
            </a:r>
            <a:r>
              <a:rPr lang="en-US" sz="1250" b="0" dirty="0">
                <a:solidFill>
                  <a:srgbClr val="000000"/>
                </a:solidFill>
                <a:effectLst/>
                <a:latin typeface="Consolas" panose="020B0609020204030204" pitchFamily="49" charset="0"/>
              </a:rPr>
              <a:t>, </a:t>
            </a:r>
            <a:r>
              <a:rPr lang="en-US" sz="1250" b="0" dirty="0">
                <a:solidFill>
                  <a:srgbClr val="1F377F"/>
                </a:solidFill>
                <a:effectLst/>
                <a:latin typeface="Consolas" panose="020B0609020204030204" pitchFamily="49" charset="0"/>
              </a:rPr>
              <a:t>h</a:t>
            </a:r>
            <a:r>
              <a:rPr lang="en-US" sz="1250" b="0" dirty="0">
                <a:solidFill>
                  <a:srgbClr val="000000"/>
                </a:solidFill>
                <a:effectLst/>
                <a:latin typeface="Consolas" panose="020B0609020204030204" pitchFamily="49" charset="0"/>
              </a:rPr>
              <a:t>-&gt;</a:t>
            </a:r>
            <a:r>
              <a:rPr lang="en-US" sz="1250" b="0" dirty="0" err="1">
                <a:solidFill>
                  <a:srgbClr val="1F377F"/>
                </a:solidFill>
                <a:effectLst/>
                <a:latin typeface="Consolas" panose="020B0609020204030204" pitchFamily="49" charset="0"/>
              </a:rPr>
              <a:t>h_length</a:t>
            </a:r>
            <a:r>
              <a:rPr lang="en-US" sz="1250" b="0" dirty="0">
                <a:solidFill>
                  <a:srgbClr val="000000"/>
                </a:solidFill>
                <a:effectLst/>
                <a:latin typeface="Consolas" panose="020B0609020204030204" pitchFamily="49" charset="0"/>
              </a:rPr>
              <a:t>); </a:t>
            </a:r>
            <a:r>
              <a:rPr lang="ru-RU" sz="1200" dirty="0">
                <a:solidFill>
                  <a:srgbClr val="008000"/>
                </a:solidFill>
                <a:latin typeface="Consolas" panose="020B0609020204030204" pitchFamily="49" charset="0"/>
              </a:rPr>
              <a:t>// Копируем IP-адрес сервера из структуры </a:t>
            </a:r>
            <a:r>
              <a:rPr lang="ru-RU" sz="1200" dirty="0" err="1">
                <a:solidFill>
                  <a:srgbClr val="008000"/>
                </a:solidFill>
                <a:latin typeface="Consolas" panose="020B0609020204030204" pitchFamily="49" charset="0"/>
              </a:rPr>
              <a:t>hostent</a:t>
            </a:r>
            <a:r>
              <a:rPr lang="ru-RU" sz="1200" dirty="0">
                <a:solidFill>
                  <a:srgbClr val="008000"/>
                </a:solidFill>
                <a:latin typeface="Consolas" panose="020B0609020204030204" pitchFamily="49" charset="0"/>
              </a:rPr>
              <a:t> в </a:t>
            </a:r>
            <a:r>
              <a:rPr lang="ru-RU" sz="1200" dirty="0" err="1">
                <a:solidFill>
                  <a:srgbClr val="008000"/>
                </a:solidFill>
                <a:latin typeface="Consolas" panose="020B0609020204030204" pitchFamily="49" charset="0"/>
              </a:rPr>
              <a:t>sockaddr_in</a:t>
            </a:r>
            <a:endParaRPr lang="en-US" sz="1200" dirty="0">
              <a:solidFill>
                <a:srgbClr val="008000"/>
              </a:solidFill>
              <a:latin typeface="Consolas" panose="020B0609020204030204" pitchFamily="49" charset="0"/>
            </a:endParaRPr>
          </a:p>
          <a:p>
            <a:pPr>
              <a:buNone/>
            </a:pPr>
            <a:r>
              <a:rPr lang="en-US" sz="1250" b="0" dirty="0">
                <a:solidFill>
                  <a:srgbClr val="000000"/>
                </a:solidFill>
                <a:effectLst/>
                <a:latin typeface="Consolas" panose="020B0609020204030204" pitchFamily="49" charset="0"/>
              </a:rPr>
              <a:t>    </a:t>
            </a:r>
            <a:r>
              <a:rPr lang="en-US" sz="1250" b="0" dirty="0" err="1">
                <a:solidFill>
                  <a:srgbClr val="1F377F"/>
                </a:solidFill>
                <a:effectLst/>
                <a:latin typeface="Consolas" panose="020B0609020204030204" pitchFamily="49" charset="0"/>
              </a:rPr>
              <a:t>channel</a:t>
            </a:r>
            <a:r>
              <a:rPr lang="en-US" sz="1250" b="0" dirty="0" err="1">
                <a:solidFill>
                  <a:srgbClr val="000000"/>
                </a:solidFill>
                <a:effectLst/>
                <a:latin typeface="Consolas" panose="020B0609020204030204" pitchFamily="49" charset="0"/>
              </a:rPr>
              <a:t>.</a:t>
            </a:r>
            <a:r>
              <a:rPr lang="en-US" sz="1250" b="0" dirty="0" err="1">
                <a:solidFill>
                  <a:srgbClr val="1F377F"/>
                </a:solidFill>
                <a:effectLst/>
                <a:latin typeface="Consolas" panose="020B0609020204030204" pitchFamily="49" charset="0"/>
              </a:rPr>
              <a:t>sin_port</a:t>
            </a:r>
            <a:r>
              <a:rPr lang="en-US" sz="1250" b="0" dirty="0">
                <a:solidFill>
                  <a:srgbClr val="000000"/>
                </a:solidFill>
                <a:effectLst/>
                <a:latin typeface="Consolas" panose="020B0609020204030204" pitchFamily="49" charset="0"/>
              </a:rPr>
              <a:t> = </a:t>
            </a:r>
            <a:r>
              <a:rPr lang="en-US" sz="1250" b="0" dirty="0" err="1">
                <a:solidFill>
                  <a:srgbClr val="74531F"/>
                </a:solidFill>
                <a:effectLst/>
                <a:latin typeface="Consolas" panose="020B0609020204030204" pitchFamily="49" charset="0"/>
              </a:rPr>
              <a:t>htons</a:t>
            </a:r>
            <a:r>
              <a:rPr lang="en-US" sz="1250" b="0" dirty="0">
                <a:solidFill>
                  <a:srgbClr val="000000"/>
                </a:solidFill>
                <a:effectLst/>
                <a:latin typeface="Consolas" panose="020B0609020204030204" pitchFamily="49" charset="0"/>
              </a:rPr>
              <a:t>(</a:t>
            </a:r>
            <a:r>
              <a:rPr lang="en-US" sz="1250" dirty="0">
                <a:solidFill>
                  <a:srgbClr val="098658"/>
                </a:solidFill>
                <a:latin typeface="Consolas" panose="020B0609020204030204" pitchFamily="49" charset="0"/>
              </a:rPr>
              <a:t>8080</a:t>
            </a:r>
            <a:r>
              <a:rPr lang="en-US" sz="1250" b="0" dirty="0">
                <a:solidFill>
                  <a:srgbClr val="000000"/>
                </a:solidFill>
                <a:effectLst/>
                <a:latin typeface="Consolas" panose="020B0609020204030204" pitchFamily="49" charset="0"/>
              </a:rPr>
              <a:t>);</a:t>
            </a:r>
          </a:p>
          <a:p>
            <a:pPr>
              <a:buNone/>
            </a:pPr>
            <a:endParaRPr lang="en-US" sz="1250" b="0" dirty="0">
              <a:solidFill>
                <a:srgbClr val="000000"/>
              </a:solidFill>
              <a:effectLst/>
              <a:latin typeface="Consolas" panose="020B0609020204030204" pitchFamily="49" charset="0"/>
            </a:endParaRPr>
          </a:p>
          <a:p>
            <a:pPr>
              <a:buNone/>
            </a:pPr>
            <a:r>
              <a:rPr lang="en-US" sz="1250" b="0" dirty="0">
                <a:solidFill>
                  <a:srgbClr val="000000"/>
                </a:solidFill>
                <a:effectLst/>
                <a:latin typeface="Consolas" panose="020B0609020204030204" pitchFamily="49" charset="0"/>
              </a:rPr>
              <a:t>    </a:t>
            </a:r>
            <a:r>
              <a:rPr lang="en-US" sz="1250" b="0" dirty="0">
                <a:solidFill>
                  <a:srgbClr val="1F377F"/>
                </a:solidFill>
                <a:effectLst/>
                <a:latin typeface="Consolas" panose="020B0609020204030204" pitchFamily="49" charset="0"/>
              </a:rPr>
              <a:t>c</a:t>
            </a:r>
            <a:r>
              <a:rPr lang="en-US" sz="1250" b="0" dirty="0">
                <a:solidFill>
                  <a:srgbClr val="000000"/>
                </a:solidFill>
                <a:effectLst/>
                <a:latin typeface="Consolas" panose="020B0609020204030204" pitchFamily="49" charset="0"/>
              </a:rPr>
              <a:t> = </a:t>
            </a:r>
            <a:r>
              <a:rPr lang="en-US" sz="1250" b="0" dirty="0">
                <a:solidFill>
                  <a:srgbClr val="74531F"/>
                </a:solidFill>
                <a:effectLst/>
                <a:latin typeface="Consolas" panose="020B0609020204030204" pitchFamily="49" charset="0"/>
              </a:rPr>
              <a:t>connect</a:t>
            </a:r>
            <a:r>
              <a:rPr lang="en-US" sz="1250" b="0" dirty="0">
                <a:solidFill>
                  <a:srgbClr val="000000"/>
                </a:solidFill>
                <a:effectLst/>
                <a:latin typeface="Consolas" panose="020B0609020204030204" pitchFamily="49" charset="0"/>
              </a:rPr>
              <a:t>(</a:t>
            </a:r>
            <a:r>
              <a:rPr lang="en-US" sz="1250" b="0" dirty="0">
                <a:solidFill>
                  <a:srgbClr val="1F377F"/>
                </a:solidFill>
                <a:effectLst/>
                <a:latin typeface="Consolas" panose="020B0609020204030204" pitchFamily="49" charset="0"/>
              </a:rPr>
              <a:t>s</a:t>
            </a:r>
            <a:r>
              <a:rPr lang="en-US" sz="1250" b="0" dirty="0">
                <a:solidFill>
                  <a:srgbClr val="000000"/>
                </a:solidFill>
                <a:effectLst/>
                <a:latin typeface="Consolas" panose="020B0609020204030204" pitchFamily="49" charset="0"/>
              </a:rPr>
              <a:t>, (</a:t>
            </a:r>
            <a:r>
              <a:rPr lang="en-US" sz="1250" b="0" dirty="0">
                <a:solidFill>
                  <a:srgbClr val="0000FF"/>
                </a:solidFill>
                <a:effectLst/>
                <a:latin typeface="Consolas" panose="020B0609020204030204" pitchFamily="49" charset="0"/>
              </a:rPr>
              <a:t>struct</a:t>
            </a:r>
            <a:r>
              <a:rPr lang="en-US" sz="1250" b="0" dirty="0">
                <a:solidFill>
                  <a:srgbClr val="000000"/>
                </a:solidFill>
                <a:effectLst/>
                <a:latin typeface="Consolas" panose="020B0609020204030204" pitchFamily="49" charset="0"/>
              </a:rPr>
              <a:t> </a:t>
            </a:r>
            <a:r>
              <a:rPr lang="en-US" sz="1250" b="0" dirty="0" err="1">
                <a:solidFill>
                  <a:srgbClr val="2B91AF"/>
                </a:solidFill>
                <a:effectLst/>
                <a:latin typeface="Consolas" panose="020B0609020204030204" pitchFamily="49" charset="0"/>
              </a:rPr>
              <a:t>sockaddr</a:t>
            </a:r>
            <a:r>
              <a:rPr lang="en-US" sz="1250" b="0" dirty="0">
                <a:solidFill>
                  <a:srgbClr val="000000"/>
                </a:solidFill>
                <a:effectLst/>
                <a:latin typeface="Consolas" panose="020B0609020204030204" pitchFamily="49" charset="0"/>
              </a:rPr>
              <a:t>*)&amp;</a:t>
            </a:r>
            <a:r>
              <a:rPr lang="en-US" sz="1250" b="0" dirty="0">
                <a:solidFill>
                  <a:srgbClr val="1F377F"/>
                </a:solidFill>
                <a:effectLst/>
                <a:latin typeface="Consolas" panose="020B0609020204030204" pitchFamily="49" charset="0"/>
              </a:rPr>
              <a:t>channel</a:t>
            </a:r>
            <a:r>
              <a:rPr lang="en-US" sz="1250" b="0" dirty="0">
                <a:solidFill>
                  <a:srgbClr val="000000"/>
                </a:solidFill>
                <a:effectLst/>
                <a:latin typeface="Consolas" panose="020B0609020204030204" pitchFamily="49" charset="0"/>
              </a:rPr>
              <a:t>, </a:t>
            </a:r>
            <a:r>
              <a:rPr lang="en-US" sz="1250" b="0" dirty="0" err="1">
                <a:solidFill>
                  <a:srgbClr val="0000FF"/>
                </a:solidFill>
                <a:effectLst/>
                <a:latin typeface="Consolas" panose="020B0609020204030204" pitchFamily="49" charset="0"/>
              </a:rPr>
              <a:t>sizeof</a:t>
            </a:r>
            <a:r>
              <a:rPr lang="en-US" sz="1250" b="0" dirty="0">
                <a:solidFill>
                  <a:srgbClr val="000000"/>
                </a:solidFill>
                <a:effectLst/>
                <a:latin typeface="Consolas" panose="020B0609020204030204" pitchFamily="49" charset="0"/>
              </a:rPr>
              <a:t>(</a:t>
            </a:r>
            <a:r>
              <a:rPr lang="en-US" sz="1250" b="0" dirty="0">
                <a:solidFill>
                  <a:srgbClr val="1F377F"/>
                </a:solidFill>
                <a:effectLst/>
                <a:latin typeface="Consolas" panose="020B0609020204030204" pitchFamily="49" charset="0"/>
              </a:rPr>
              <a:t>channel</a:t>
            </a:r>
            <a:r>
              <a:rPr lang="en-US" sz="1250" b="0" dirty="0">
                <a:solidFill>
                  <a:srgbClr val="000000"/>
                </a:solidFill>
                <a:effectLst/>
                <a:latin typeface="Consolas" panose="020B0609020204030204" pitchFamily="49" charset="0"/>
              </a:rPr>
              <a:t>));</a:t>
            </a:r>
          </a:p>
          <a:p>
            <a:pPr>
              <a:buNone/>
            </a:pPr>
            <a:r>
              <a:rPr lang="en-US" sz="1250" b="0" dirty="0">
                <a:solidFill>
                  <a:srgbClr val="000000"/>
                </a:solidFill>
                <a:effectLst/>
                <a:latin typeface="Consolas" panose="020B0609020204030204" pitchFamily="49" charset="0"/>
              </a:rPr>
              <a:t>    </a:t>
            </a:r>
            <a:r>
              <a:rPr lang="en-US" sz="1250" b="0" dirty="0">
                <a:solidFill>
                  <a:srgbClr val="8F08C4"/>
                </a:solidFill>
                <a:effectLst/>
                <a:latin typeface="Consolas" panose="020B0609020204030204" pitchFamily="49" charset="0"/>
              </a:rPr>
              <a:t>if</a:t>
            </a:r>
            <a:r>
              <a:rPr lang="en-US" sz="1250" b="0" dirty="0">
                <a:solidFill>
                  <a:srgbClr val="000000"/>
                </a:solidFill>
                <a:effectLst/>
                <a:latin typeface="Consolas" panose="020B0609020204030204" pitchFamily="49" charset="0"/>
              </a:rPr>
              <a:t> (</a:t>
            </a:r>
            <a:r>
              <a:rPr lang="en-US" sz="1250" b="0" dirty="0">
                <a:solidFill>
                  <a:srgbClr val="1F377F"/>
                </a:solidFill>
                <a:effectLst/>
                <a:latin typeface="Consolas" panose="020B0609020204030204" pitchFamily="49" charset="0"/>
              </a:rPr>
              <a:t>c</a:t>
            </a:r>
            <a:r>
              <a:rPr lang="en-US" sz="1250" b="0" dirty="0">
                <a:solidFill>
                  <a:srgbClr val="000000"/>
                </a:solidFill>
                <a:effectLst/>
                <a:latin typeface="Consolas" panose="020B0609020204030204" pitchFamily="49" charset="0"/>
              </a:rPr>
              <a:t> &lt; </a:t>
            </a:r>
            <a:r>
              <a:rPr lang="en-US" sz="1250" b="0" dirty="0">
                <a:solidFill>
                  <a:srgbClr val="098658"/>
                </a:solidFill>
                <a:effectLst/>
                <a:latin typeface="Consolas" panose="020B0609020204030204" pitchFamily="49" charset="0"/>
              </a:rPr>
              <a:t>0</a:t>
            </a:r>
            <a:r>
              <a:rPr lang="en-US" sz="1250" b="0" dirty="0">
                <a:solidFill>
                  <a:srgbClr val="000000"/>
                </a:solidFill>
                <a:effectLst/>
                <a:latin typeface="Consolas" panose="020B0609020204030204" pitchFamily="49" charset="0"/>
              </a:rPr>
              <a:t>) { </a:t>
            </a:r>
            <a:r>
              <a:rPr lang="en-US" sz="1250" b="0" dirty="0" err="1">
                <a:solidFill>
                  <a:srgbClr val="74531F"/>
                </a:solidFill>
                <a:effectLst/>
                <a:latin typeface="Consolas" panose="020B0609020204030204" pitchFamily="49" charset="0"/>
              </a:rPr>
              <a:t>printf</a:t>
            </a:r>
            <a:r>
              <a:rPr lang="en-US" sz="1250" b="0" dirty="0">
                <a:solidFill>
                  <a:srgbClr val="000000"/>
                </a:solidFill>
                <a:effectLst/>
                <a:latin typeface="Consolas" panose="020B0609020204030204" pitchFamily="49" charset="0"/>
              </a:rPr>
              <a:t>(</a:t>
            </a:r>
            <a:r>
              <a:rPr lang="en-US" sz="1250" b="0" dirty="0">
                <a:solidFill>
                  <a:srgbClr val="E21F1F"/>
                </a:solidFill>
                <a:effectLst/>
                <a:latin typeface="Consolas" panose="020B0609020204030204" pitchFamily="49" charset="0"/>
              </a:rPr>
              <a:t>"</a:t>
            </a:r>
            <a:r>
              <a:rPr lang="ru-RU" sz="1250" b="0" dirty="0">
                <a:solidFill>
                  <a:srgbClr val="A31515"/>
                </a:solidFill>
                <a:effectLst/>
                <a:latin typeface="Consolas" panose="020B0609020204030204" pitchFamily="49" charset="0"/>
              </a:rPr>
              <a:t>сбой соединения</a:t>
            </a:r>
            <a:r>
              <a:rPr lang="ru-RU" sz="1250" b="0" dirty="0">
                <a:solidFill>
                  <a:srgbClr val="E21F1F"/>
                </a:solidFill>
                <a:effectLst/>
                <a:latin typeface="Consolas" panose="020B0609020204030204" pitchFamily="49" charset="0"/>
              </a:rPr>
              <a:t>"</a:t>
            </a:r>
            <a:r>
              <a:rPr lang="ru-RU" sz="1250" b="0" dirty="0">
                <a:solidFill>
                  <a:srgbClr val="000000"/>
                </a:solidFill>
                <a:effectLst/>
                <a:latin typeface="Consolas" panose="020B0609020204030204" pitchFamily="49" charset="0"/>
              </a:rPr>
              <a:t>); </a:t>
            </a:r>
            <a:r>
              <a:rPr lang="en-US" sz="1250" b="0" dirty="0">
                <a:solidFill>
                  <a:srgbClr val="74531F"/>
                </a:solidFill>
                <a:effectLst/>
                <a:latin typeface="Consolas" panose="020B0609020204030204" pitchFamily="49" charset="0"/>
              </a:rPr>
              <a:t>exit</a:t>
            </a:r>
            <a:r>
              <a:rPr lang="en-US" sz="1250" b="0" dirty="0">
                <a:solidFill>
                  <a:srgbClr val="000000"/>
                </a:solidFill>
                <a:effectLst/>
                <a:latin typeface="Consolas" panose="020B0609020204030204" pitchFamily="49" charset="0"/>
              </a:rPr>
              <a:t>(-</a:t>
            </a:r>
            <a:r>
              <a:rPr lang="en-US" sz="1250" b="0" dirty="0">
                <a:solidFill>
                  <a:srgbClr val="098658"/>
                </a:solidFill>
                <a:effectLst/>
                <a:latin typeface="Consolas" panose="020B0609020204030204" pitchFamily="49" charset="0"/>
              </a:rPr>
              <a:t>1</a:t>
            </a:r>
            <a:r>
              <a:rPr lang="en-US" sz="1250" b="0" dirty="0">
                <a:solidFill>
                  <a:srgbClr val="000000"/>
                </a:solidFill>
                <a:effectLst/>
                <a:latin typeface="Consolas" panose="020B0609020204030204" pitchFamily="49" charset="0"/>
              </a:rPr>
              <a:t>); }</a:t>
            </a:r>
            <a:br>
              <a:rPr lang="en-US" sz="1250" b="0" dirty="0">
                <a:solidFill>
                  <a:srgbClr val="000000"/>
                </a:solidFill>
                <a:effectLst/>
                <a:latin typeface="Consolas" panose="020B0609020204030204" pitchFamily="49" charset="0"/>
              </a:rPr>
            </a:br>
            <a:endParaRPr lang="en-US" sz="1250" b="0" dirty="0">
              <a:solidFill>
                <a:srgbClr val="000000"/>
              </a:solidFill>
              <a:effectLst/>
              <a:latin typeface="Consolas" panose="020B0609020204030204" pitchFamily="49" charset="0"/>
            </a:endParaRPr>
          </a:p>
          <a:p>
            <a:pPr>
              <a:buNone/>
            </a:pPr>
            <a:r>
              <a:rPr lang="en-US" sz="1250" b="0" dirty="0">
                <a:solidFill>
                  <a:srgbClr val="000000"/>
                </a:solidFill>
                <a:effectLst/>
                <a:latin typeface="Consolas" panose="020B0609020204030204" pitchFamily="49" charset="0"/>
              </a:rPr>
              <a:t>    </a:t>
            </a:r>
            <a:r>
              <a:rPr lang="en-US" sz="1250" b="0" dirty="0">
                <a:solidFill>
                  <a:srgbClr val="74531F"/>
                </a:solidFill>
                <a:effectLst/>
                <a:latin typeface="Consolas" panose="020B0609020204030204" pitchFamily="49" charset="0"/>
              </a:rPr>
              <a:t>write</a:t>
            </a:r>
            <a:r>
              <a:rPr lang="en-US" sz="1250" b="0" dirty="0">
                <a:solidFill>
                  <a:srgbClr val="000000"/>
                </a:solidFill>
                <a:effectLst/>
                <a:latin typeface="Consolas" panose="020B0609020204030204" pitchFamily="49" charset="0"/>
              </a:rPr>
              <a:t>(</a:t>
            </a:r>
            <a:r>
              <a:rPr lang="en-US" sz="1250" b="0" dirty="0">
                <a:solidFill>
                  <a:srgbClr val="1F377F"/>
                </a:solidFill>
                <a:effectLst/>
                <a:latin typeface="Consolas" panose="020B0609020204030204" pitchFamily="49" charset="0"/>
              </a:rPr>
              <a:t>s</a:t>
            </a:r>
            <a:r>
              <a:rPr lang="en-US" sz="1250" b="0" dirty="0">
                <a:solidFill>
                  <a:srgbClr val="000000"/>
                </a:solidFill>
                <a:effectLst/>
                <a:latin typeface="Consolas" panose="020B0609020204030204" pitchFamily="49" charset="0"/>
              </a:rPr>
              <a:t>, </a:t>
            </a:r>
            <a:r>
              <a:rPr lang="en-US" sz="1250" b="0" dirty="0" err="1">
                <a:solidFill>
                  <a:srgbClr val="808080"/>
                </a:solidFill>
                <a:effectLst/>
                <a:latin typeface="Consolas" panose="020B0609020204030204" pitchFamily="49" charset="0"/>
              </a:rPr>
              <a:t>argv</a:t>
            </a:r>
            <a:r>
              <a:rPr lang="en-US" sz="1250" b="0" dirty="0">
                <a:solidFill>
                  <a:srgbClr val="000000"/>
                </a:solidFill>
                <a:effectLst/>
                <a:latin typeface="Consolas" panose="020B0609020204030204" pitchFamily="49" charset="0"/>
              </a:rPr>
              <a:t>[</a:t>
            </a:r>
            <a:r>
              <a:rPr lang="en-US" sz="1250" b="0" dirty="0">
                <a:solidFill>
                  <a:srgbClr val="098658"/>
                </a:solidFill>
                <a:effectLst/>
                <a:latin typeface="Consolas" panose="020B0609020204030204" pitchFamily="49" charset="0"/>
              </a:rPr>
              <a:t>2</a:t>
            </a:r>
            <a:r>
              <a:rPr lang="en-US" sz="1250" b="0" dirty="0">
                <a:solidFill>
                  <a:srgbClr val="000000"/>
                </a:solidFill>
                <a:effectLst/>
                <a:latin typeface="Consolas" panose="020B0609020204030204" pitchFamily="49" charset="0"/>
              </a:rPr>
              <a:t>], </a:t>
            </a:r>
            <a:r>
              <a:rPr lang="en-US" sz="1250" b="0" dirty="0" err="1">
                <a:solidFill>
                  <a:srgbClr val="74531F"/>
                </a:solidFill>
                <a:effectLst/>
                <a:latin typeface="Consolas" panose="020B0609020204030204" pitchFamily="49" charset="0"/>
              </a:rPr>
              <a:t>strlen</a:t>
            </a:r>
            <a:r>
              <a:rPr lang="en-US" sz="1250" b="0" dirty="0">
                <a:solidFill>
                  <a:srgbClr val="000000"/>
                </a:solidFill>
                <a:effectLst/>
                <a:latin typeface="Consolas" panose="020B0609020204030204" pitchFamily="49" charset="0"/>
              </a:rPr>
              <a:t>(</a:t>
            </a:r>
            <a:r>
              <a:rPr lang="en-US" sz="1250" b="0" dirty="0" err="1">
                <a:solidFill>
                  <a:srgbClr val="808080"/>
                </a:solidFill>
                <a:effectLst/>
                <a:latin typeface="Consolas" panose="020B0609020204030204" pitchFamily="49" charset="0"/>
              </a:rPr>
              <a:t>argv</a:t>
            </a:r>
            <a:r>
              <a:rPr lang="en-US" sz="1250" b="0" dirty="0">
                <a:solidFill>
                  <a:srgbClr val="000000"/>
                </a:solidFill>
                <a:effectLst/>
                <a:latin typeface="Consolas" panose="020B0609020204030204" pitchFamily="49" charset="0"/>
              </a:rPr>
              <a:t>[</a:t>
            </a:r>
            <a:r>
              <a:rPr lang="en-US" sz="1250" b="0" dirty="0">
                <a:solidFill>
                  <a:srgbClr val="098658"/>
                </a:solidFill>
                <a:effectLst/>
                <a:latin typeface="Consolas" panose="020B0609020204030204" pitchFamily="49" charset="0"/>
              </a:rPr>
              <a:t>2</a:t>
            </a:r>
            <a:r>
              <a:rPr lang="en-US" sz="1250" b="0" dirty="0">
                <a:solidFill>
                  <a:srgbClr val="000000"/>
                </a:solidFill>
                <a:effectLst/>
                <a:latin typeface="Consolas" panose="020B0609020204030204" pitchFamily="49" charset="0"/>
              </a:rPr>
              <a:t>]) + </a:t>
            </a:r>
            <a:r>
              <a:rPr lang="en-US" sz="1250" b="0" dirty="0">
                <a:solidFill>
                  <a:srgbClr val="098658"/>
                </a:solidFill>
                <a:effectLst/>
                <a:latin typeface="Consolas" panose="020B0609020204030204" pitchFamily="49" charset="0"/>
              </a:rPr>
              <a:t>1</a:t>
            </a:r>
            <a:r>
              <a:rPr lang="en-US" sz="1250" b="0" dirty="0">
                <a:solidFill>
                  <a:srgbClr val="000000"/>
                </a:solidFill>
                <a:effectLst/>
                <a:latin typeface="Consolas" panose="020B0609020204030204" pitchFamily="49" charset="0"/>
              </a:rPr>
              <a:t>);</a:t>
            </a:r>
          </a:p>
          <a:p>
            <a:pPr>
              <a:buNone/>
            </a:pPr>
            <a:r>
              <a:rPr lang="en-US" sz="1250" b="0" dirty="0">
                <a:solidFill>
                  <a:srgbClr val="000000"/>
                </a:solidFill>
                <a:effectLst/>
                <a:latin typeface="Consolas" panose="020B0609020204030204" pitchFamily="49" charset="0"/>
              </a:rPr>
              <a:t>    </a:t>
            </a:r>
            <a:r>
              <a:rPr lang="en-US" sz="1250" b="0" dirty="0">
                <a:solidFill>
                  <a:srgbClr val="8F08C4"/>
                </a:solidFill>
                <a:effectLst/>
                <a:latin typeface="Consolas" panose="020B0609020204030204" pitchFamily="49" charset="0"/>
              </a:rPr>
              <a:t>while</a:t>
            </a:r>
            <a:r>
              <a:rPr lang="en-US" sz="1250" b="0" dirty="0">
                <a:solidFill>
                  <a:srgbClr val="000000"/>
                </a:solidFill>
                <a:effectLst/>
                <a:latin typeface="Consolas" panose="020B0609020204030204" pitchFamily="49" charset="0"/>
              </a:rPr>
              <a:t> (</a:t>
            </a:r>
            <a:r>
              <a:rPr lang="en-US" sz="1250" b="0" dirty="0">
                <a:solidFill>
                  <a:srgbClr val="098658"/>
                </a:solidFill>
                <a:effectLst/>
                <a:latin typeface="Consolas" panose="020B0609020204030204" pitchFamily="49" charset="0"/>
              </a:rPr>
              <a:t>1</a:t>
            </a:r>
            <a:r>
              <a:rPr lang="en-US" sz="1250" b="0" dirty="0">
                <a:solidFill>
                  <a:srgbClr val="000000"/>
                </a:solidFill>
                <a:effectLst/>
                <a:latin typeface="Consolas" panose="020B0609020204030204" pitchFamily="49" charset="0"/>
              </a:rPr>
              <a:t>) {</a:t>
            </a:r>
          </a:p>
          <a:p>
            <a:pPr>
              <a:buNone/>
            </a:pPr>
            <a:r>
              <a:rPr lang="en-US" sz="1250" b="0" dirty="0">
                <a:solidFill>
                  <a:srgbClr val="000000"/>
                </a:solidFill>
                <a:effectLst/>
                <a:latin typeface="Consolas" panose="020B0609020204030204" pitchFamily="49" charset="0"/>
              </a:rPr>
              <a:t>        </a:t>
            </a:r>
            <a:r>
              <a:rPr lang="en-US" sz="1250" b="0" dirty="0">
                <a:solidFill>
                  <a:srgbClr val="1F377F"/>
                </a:solidFill>
                <a:effectLst/>
                <a:latin typeface="Consolas" panose="020B0609020204030204" pitchFamily="49" charset="0"/>
              </a:rPr>
              <a:t>bytes</a:t>
            </a:r>
            <a:r>
              <a:rPr lang="en-US" sz="1250" b="0" dirty="0">
                <a:solidFill>
                  <a:srgbClr val="000000"/>
                </a:solidFill>
                <a:effectLst/>
                <a:latin typeface="Consolas" panose="020B0609020204030204" pitchFamily="49" charset="0"/>
              </a:rPr>
              <a:t> = </a:t>
            </a:r>
            <a:r>
              <a:rPr lang="en-US" sz="1250" b="0" dirty="0">
                <a:solidFill>
                  <a:srgbClr val="74531F"/>
                </a:solidFill>
                <a:effectLst/>
                <a:latin typeface="Consolas" panose="020B0609020204030204" pitchFamily="49" charset="0"/>
              </a:rPr>
              <a:t>read</a:t>
            </a:r>
            <a:r>
              <a:rPr lang="en-US" sz="1250" b="0" dirty="0">
                <a:solidFill>
                  <a:srgbClr val="000000"/>
                </a:solidFill>
                <a:effectLst/>
                <a:latin typeface="Consolas" panose="020B0609020204030204" pitchFamily="49" charset="0"/>
              </a:rPr>
              <a:t>(</a:t>
            </a:r>
            <a:r>
              <a:rPr lang="en-US" sz="1250" b="0" dirty="0">
                <a:solidFill>
                  <a:srgbClr val="1F377F"/>
                </a:solidFill>
                <a:effectLst/>
                <a:latin typeface="Consolas" panose="020B0609020204030204" pitchFamily="49" charset="0"/>
              </a:rPr>
              <a:t>s</a:t>
            </a:r>
            <a:r>
              <a:rPr lang="en-US" sz="1250" b="0" dirty="0">
                <a:solidFill>
                  <a:srgbClr val="000000"/>
                </a:solidFill>
                <a:effectLst/>
                <a:latin typeface="Consolas" panose="020B0609020204030204" pitchFamily="49" charset="0"/>
              </a:rPr>
              <a:t>, </a:t>
            </a:r>
            <a:r>
              <a:rPr lang="en-US" sz="1250" b="0" dirty="0" err="1">
                <a:solidFill>
                  <a:srgbClr val="1F377F"/>
                </a:solidFill>
                <a:effectLst/>
                <a:latin typeface="Consolas" panose="020B0609020204030204" pitchFamily="49" charset="0"/>
              </a:rPr>
              <a:t>buf</a:t>
            </a:r>
            <a:r>
              <a:rPr lang="en-US" sz="1250" b="0" dirty="0">
                <a:solidFill>
                  <a:srgbClr val="000000"/>
                </a:solidFill>
                <a:effectLst/>
                <a:latin typeface="Consolas" panose="020B0609020204030204" pitchFamily="49" charset="0"/>
              </a:rPr>
              <a:t>, </a:t>
            </a:r>
            <a:r>
              <a:rPr lang="en-US" sz="1250" b="0" dirty="0">
                <a:solidFill>
                  <a:srgbClr val="8A1BFF"/>
                </a:solidFill>
                <a:effectLst/>
                <a:latin typeface="Consolas" panose="020B0609020204030204" pitchFamily="49" charset="0"/>
              </a:rPr>
              <a:t>BUF_SIZE</a:t>
            </a:r>
            <a:r>
              <a:rPr lang="en-US" sz="1250" b="0" dirty="0">
                <a:solidFill>
                  <a:srgbClr val="000000"/>
                </a:solidFill>
                <a:effectLst/>
                <a:latin typeface="Consolas" panose="020B0609020204030204" pitchFamily="49" charset="0"/>
              </a:rPr>
              <a:t>);</a:t>
            </a:r>
          </a:p>
          <a:p>
            <a:pPr>
              <a:buNone/>
            </a:pPr>
            <a:r>
              <a:rPr lang="en-US" sz="1250" b="0" dirty="0">
                <a:solidFill>
                  <a:srgbClr val="000000"/>
                </a:solidFill>
                <a:effectLst/>
                <a:latin typeface="Consolas" panose="020B0609020204030204" pitchFamily="49" charset="0"/>
              </a:rPr>
              <a:t>        </a:t>
            </a:r>
            <a:r>
              <a:rPr lang="en-US" sz="1250" b="0" dirty="0">
                <a:solidFill>
                  <a:srgbClr val="8F08C4"/>
                </a:solidFill>
                <a:effectLst/>
                <a:latin typeface="Consolas" panose="020B0609020204030204" pitchFamily="49" charset="0"/>
              </a:rPr>
              <a:t>if</a:t>
            </a:r>
            <a:r>
              <a:rPr lang="en-US" sz="1250" b="0" dirty="0">
                <a:solidFill>
                  <a:srgbClr val="000000"/>
                </a:solidFill>
                <a:effectLst/>
                <a:latin typeface="Consolas" panose="020B0609020204030204" pitchFamily="49" charset="0"/>
              </a:rPr>
              <a:t> (bytes &lt;= </a:t>
            </a:r>
            <a:r>
              <a:rPr lang="en-US" sz="1250" b="0" dirty="0">
                <a:solidFill>
                  <a:srgbClr val="098658"/>
                </a:solidFill>
                <a:effectLst/>
                <a:latin typeface="Consolas" panose="020B0609020204030204" pitchFamily="49" charset="0"/>
              </a:rPr>
              <a:t>0</a:t>
            </a:r>
            <a:r>
              <a:rPr lang="en-US" sz="1250" b="0" dirty="0">
                <a:solidFill>
                  <a:srgbClr val="000000"/>
                </a:solidFill>
                <a:effectLst/>
                <a:latin typeface="Consolas" panose="020B0609020204030204" pitchFamily="49" charset="0"/>
              </a:rPr>
              <a:t>) </a:t>
            </a:r>
            <a:r>
              <a:rPr lang="en-US" sz="1250" b="0" dirty="0">
                <a:solidFill>
                  <a:srgbClr val="74531F"/>
                </a:solidFill>
                <a:effectLst/>
                <a:latin typeface="Consolas" panose="020B0609020204030204" pitchFamily="49" charset="0"/>
              </a:rPr>
              <a:t>exit</a:t>
            </a:r>
            <a:r>
              <a:rPr lang="en-US" sz="1250" b="0" dirty="0">
                <a:solidFill>
                  <a:srgbClr val="000000"/>
                </a:solidFill>
                <a:effectLst/>
                <a:latin typeface="Consolas" panose="020B0609020204030204" pitchFamily="49" charset="0"/>
              </a:rPr>
              <a:t>(</a:t>
            </a:r>
            <a:r>
              <a:rPr lang="en-US" sz="1250" b="0" dirty="0">
                <a:solidFill>
                  <a:srgbClr val="098658"/>
                </a:solidFill>
                <a:effectLst/>
                <a:latin typeface="Consolas" panose="020B0609020204030204" pitchFamily="49" charset="0"/>
              </a:rPr>
              <a:t>0</a:t>
            </a:r>
            <a:r>
              <a:rPr lang="en-US" sz="1250" b="0" dirty="0">
                <a:solidFill>
                  <a:srgbClr val="000000"/>
                </a:solidFill>
                <a:effectLst/>
                <a:latin typeface="Consolas" panose="020B0609020204030204" pitchFamily="49" charset="0"/>
              </a:rPr>
              <a:t>);</a:t>
            </a:r>
          </a:p>
          <a:p>
            <a:pPr>
              <a:buNone/>
            </a:pPr>
            <a:r>
              <a:rPr lang="en-US" sz="1250" b="0" dirty="0">
                <a:solidFill>
                  <a:srgbClr val="000000"/>
                </a:solidFill>
                <a:effectLst/>
                <a:latin typeface="Consolas" panose="020B0609020204030204" pitchFamily="49" charset="0"/>
              </a:rPr>
              <a:t>        </a:t>
            </a:r>
            <a:r>
              <a:rPr lang="en-US" sz="1250" b="0" dirty="0">
                <a:solidFill>
                  <a:srgbClr val="74531F"/>
                </a:solidFill>
                <a:effectLst/>
                <a:latin typeface="Consolas" panose="020B0609020204030204" pitchFamily="49" charset="0"/>
              </a:rPr>
              <a:t>write</a:t>
            </a:r>
            <a:r>
              <a:rPr lang="en-US" sz="1250" b="0" dirty="0">
                <a:solidFill>
                  <a:srgbClr val="000000"/>
                </a:solidFill>
                <a:effectLst/>
                <a:latin typeface="Consolas" panose="020B0609020204030204" pitchFamily="49" charset="0"/>
              </a:rPr>
              <a:t>(</a:t>
            </a:r>
            <a:r>
              <a:rPr lang="en-US" sz="1250" b="0" dirty="0">
                <a:solidFill>
                  <a:srgbClr val="098658"/>
                </a:solidFill>
                <a:effectLst/>
                <a:latin typeface="Consolas" panose="020B0609020204030204" pitchFamily="49" charset="0"/>
              </a:rPr>
              <a:t>1</a:t>
            </a:r>
            <a:r>
              <a:rPr lang="en-US" sz="1250" b="0" dirty="0">
                <a:solidFill>
                  <a:srgbClr val="000000"/>
                </a:solidFill>
                <a:effectLst/>
                <a:latin typeface="Consolas" panose="020B0609020204030204" pitchFamily="49" charset="0"/>
              </a:rPr>
              <a:t>, </a:t>
            </a:r>
            <a:r>
              <a:rPr lang="en-US" sz="1250" b="0" dirty="0" err="1">
                <a:solidFill>
                  <a:srgbClr val="1F377F"/>
                </a:solidFill>
                <a:effectLst/>
                <a:latin typeface="Consolas" panose="020B0609020204030204" pitchFamily="49" charset="0"/>
              </a:rPr>
              <a:t>buf</a:t>
            </a:r>
            <a:r>
              <a:rPr lang="en-US" sz="1250" b="0" dirty="0">
                <a:solidFill>
                  <a:srgbClr val="000000"/>
                </a:solidFill>
                <a:effectLst/>
                <a:latin typeface="Consolas" panose="020B0609020204030204" pitchFamily="49" charset="0"/>
              </a:rPr>
              <a:t>, </a:t>
            </a:r>
            <a:r>
              <a:rPr lang="en-US" sz="1250" b="0" dirty="0">
                <a:solidFill>
                  <a:srgbClr val="1F377F"/>
                </a:solidFill>
                <a:effectLst/>
                <a:latin typeface="Consolas" panose="020B0609020204030204" pitchFamily="49" charset="0"/>
              </a:rPr>
              <a:t>bytes</a:t>
            </a:r>
            <a:r>
              <a:rPr lang="en-US" sz="1250" b="0" dirty="0">
                <a:solidFill>
                  <a:srgbClr val="000000"/>
                </a:solidFill>
                <a:effectLst/>
                <a:latin typeface="Consolas" panose="020B0609020204030204" pitchFamily="49" charset="0"/>
              </a:rPr>
              <a:t>); </a:t>
            </a:r>
            <a:r>
              <a:rPr lang="ru-RU" sz="1200" dirty="0">
                <a:solidFill>
                  <a:srgbClr val="008000"/>
                </a:solidFill>
                <a:latin typeface="Consolas" panose="020B0609020204030204" pitchFamily="49" charset="0"/>
              </a:rPr>
              <a:t>// Пишем принятые данные в </a:t>
            </a:r>
            <a:r>
              <a:rPr lang="ru-RU" sz="1200" dirty="0" err="1">
                <a:solidFill>
                  <a:srgbClr val="008000"/>
                </a:solidFill>
                <a:latin typeface="Consolas" panose="020B0609020204030204" pitchFamily="49" charset="0"/>
              </a:rPr>
              <a:t>stdout</a:t>
            </a:r>
            <a:endParaRPr lang="en-US" sz="1200" dirty="0">
              <a:solidFill>
                <a:srgbClr val="008000"/>
              </a:solidFill>
              <a:latin typeface="Consolas" panose="020B0609020204030204" pitchFamily="49" charset="0"/>
            </a:endParaRPr>
          </a:p>
          <a:p>
            <a:pPr>
              <a:buNone/>
            </a:pPr>
            <a:r>
              <a:rPr lang="en-US" sz="1250" b="0" dirty="0">
                <a:solidFill>
                  <a:srgbClr val="000000"/>
                </a:solidFill>
                <a:effectLst/>
                <a:latin typeface="Consolas" panose="020B0609020204030204" pitchFamily="49" charset="0"/>
              </a:rPr>
              <a:t>    }</a:t>
            </a:r>
          </a:p>
          <a:p>
            <a:pPr>
              <a:buNone/>
            </a:pPr>
            <a:r>
              <a:rPr lang="en-US" sz="125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00621407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5D616-A631-DBAC-43DD-3DB22D7ACE09}"/>
              </a:ext>
            </a:extLst>
          </p:cNvPr>
          <p:cNvSpPr>
            <a:spLocks noGrp="1"/>
          </p:cNvSpPr>
          <p:nvPr>
            <p:ph type="title"/>
          </p:nvPr>
        </p:nvSpPr>
        <p:spPr/>
        <p:txBody>
          <a:bodyPr/>
          <a:lstStyle/>
          <a:p>
            <a:r>
              <a:rPr lang="ru-RU" dirty="0"/>
              <a:t>Элементы транспортных протоколов</a:t>
            </a:r>
            <a:endParaRPr lang="en-US" dirty="0"/>
          </a:p>
        </p:txBody>
      </p:sp>
      <p:sp>
        <p:nvSpPr>
          <p:cNvPr id="3" name="Text Placeholder 2">
            <a:extLst>
              <a:ext uri="{FF2B5EF4-FFF2-40B4-BE49-F238E27FC236}">
                <a16:creationId xmlns:a16="http://schemas.microsoft.com/office/drawing/2014/main" id="{8A5CCFCE-DBC9-729D-0EC1-51F2BF717F5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4582671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757E8B-B312-1943-1EE1-304961862A80}"/>
              </a:ext>
            </a:extLst>
          </p:cNvPr>
          <p:cNvSpPr>
            <a:spLocks noGrp="1"/>
          </p:cNvSpPr>
          <p:nvPr>
            <p:ph type="title"/>
          </p:nvPr>
        </p:nvSpPr>
        <p:spPr/>
        <p:txBody>
          <a:bodyPr/>
          <a:lstStyle/>
          <a:p>
            <a:r>
              <a:rPr lang="ru-RU" dirty="0"/>
              <a:t>Элементы транспортных протоколов</a:t>
            </a:r>
            <a:endParaRPr lang="en-US" dirty="0"/>
          </a:p>
        </p:txBody>
      </p:sp>
      <p:sp>
        <p:nvSpPr>
          <p:cNvPr id="5" name="Content Placeholder 4">
            <a:extLst>
              <a:ext uri="{FF2B5EF4-FFF2-40B4-BE49-F238E27FC236}">
                <a16:creationId xmlns:a16="http://schemas.microsoft.com/office/drawing/2014/main" id="{C211A784-72ED-E028-CC5B-0744B0166C28}"/>
              </a:ext>
            </a:extLst>
          </p:cNvPr>
          <p:cNvSpPr>
            <a:spLocks noGrp="1"/>
          </p:cNvSpPr>
          <p:nvPr>
            <p:ph sz="half" idx="1"/>
          </p:nvPr>
        </p:nvSpPr>
        <p:spPr>
          <a:xfrm>
            <a:off x="838200" y="1825625"/>
            <a:ext cx="5878484" cy="4351338"/>
          </a:xfrm>
        </p:spPr>
        <p:txBody>
          <a:bodyPr>
            <a:normAutofit fontScale="85000" lnSpcReduction="20000"/>
          </a:bodyPr>
          <a:lstStyle/>
          <a:p>
            <a:r>
              <a:rPr lang="ru-RU" dirty="0"/>
              <a:t>Транспортные службы реализуются транспортными протоколами</a:t>
            </a:r>
          </a:p>
          <a:p>
            <a:r>
              <a:rPr lang="ru-RU" dirty="0"/>
              <a:t>Похожи на протоколы канального уровня: ошибки, очереди, управление потоком</a:t>
            </a:r>
          </a:p>
          <a:p>
            <a:r>
              <a:rPr lang="ru-RU" dirty="0"/>
              <a:t>Главное отличие: вместо одного канала — целая сеть между концами</a:t>
            </a:r>
          </a:p>
          <a:p>
            <a:r>
              <a:rPr lang="ru-RU" dirty="0"/>
              <a:t>На транспортном уровне нужно явно указывать адрес получателя</a:t>
            </a:r>
          </a:p>
          <a:p>
            <a:r>
              <a:rPr lang="ru-RU" dirty="0"/>
              <a:t>В сети возможны задержки, перестановка и дублирование пакетов</a:t>
            </a:r>
          </a:p>
          <a:p>
            <a:r>
              <a:rPr lang="ru-RU" dirty="0"/>
              <a:t>Много соединений и меняющаяся пропускная способность усложняют буферизацию и контроль потока</a:t>
            </a:r>
          </a:p>
          <a:p>
            <a:endParaRPr lang="en-US" dirty="0"/>
          </a:p>
        </p:txBody>
      </p:sp>
      <p:pic>
        <p:nvPicPr>
          <p:cNvPr id="8" name="Content Placeholder 7">
            <a:extLst>
              <a:ext uri="{FF2B5EF4-FFF2-40B4-BE49-F238E27FC236}">
                <a16:creationId xmlns:a16="http://schemas.microsoft.com/office/drawing/2014/main" id="{A9F7A38E-5E8E-8982-AC5F-5822AE1901AB}"/>
              </a:ext>
            </a:extLst>
          </p:cNvPr>
          <p:cNvPicPr>
            <a:picLocks noGrp="1" noChangeAspect="1"/>
          </p:cNvPicPr>
          <p:nvPr>
            <p:ph sz="half" idx="2"/>
          </p:nvPr>
        </p:nvPicPr>
        <p:blipFill>
          <a:blip r:embed="rId3"/>
          <a:stretch>
            <a:fillRect/>
          </a:stretch>
        </p:blipFill>
        <p:spPr>
          <a:xfrm>
            <a:off x="6887095" y="1825625"/>
            <a:ext cx="5181600" cy="1472343"/>
          </a:xfrm>
          <a:prstGeom prst="rect">
            <a:avLst/>
          </a:prstGeom>
        </p:spPr>
      </p:pic>
    </p:spTree>
    <p:extLst>
      <p:ext uri="{BB962C8B-B14F-4D97-AF65-F5344CB8AC3E}">
        <p14:creationId xmlns:p14="http://schemas.microsoft.com/office/powerpoint/2010/main" val="275698137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65659-A984-4721-4986-DA50BFCCA7CE}"/>
              </a:ext>
            </a:extLst>
          </p:cNvPr>
          <p:cNvSpPr>
            <a:spLocks noGrp="1"/>
          </p:cNvSpPr>
          <p:nvPr>
            <p:ph type="title"/>
          </p:nvPr>
        </p:nvSpPr>
        <p:spPr/>
        <p:txBody>
          <a:bodyPr/>
          <a:lstStyle/>
          <a:p>
            <a:r>
              <a:rPr lang="ru-RU" dirty="0"/>
              <a:t>Адресация на транспортном уровне</a:t>
            </a:r>
            <a:endParaRPr lang="en-US" dirty="0"/>
          </a:p>
        </p:txBody>
      </p:sp>
      <p:sp>
        <p:nvSpPr>
          <p:cNvPr id="3" name="Content Placeholder 2">
            <a:extLst>
              <a:ext uri="{FF2B5EF4-FFF2-40B4-BE49-F238E27FC236}">
                <a16:creationId xmlns:a16="http://schemas.microsoft.com/office/drawing/2014/main" id="{971F5F90-BDAB-DE18-5164-B8E5226AA95A}"/>
              </a:ext>
            </a:extLst>
          </p:cNvPr>
          <p:cNvSpPr>
            <a:spLocks noGrp="1"/>
          </p:cNvSpPr>
          <p:nvPr>
            <p:ph sz="half" idx="1"/>
          </p:nvPr>
        </p:nvSpPr>
        <p:spPr>
          <a:xfrm>
            <a:off x="838200" y="1825625"/>
            <a:ext cx="6842760" cy="4351338"/>
          </a:xfrm>
        </p:spPr>
        <p:txBody>
          <a:bodyPr>
            <a:normAutofit fontScale="77500" lnSpcReduction="20000"/>
          </a:bodyPr>
          <a:lstStyle/>
          <a:p>
            <a:r>
              <a:rPr lang="ru-RU" dirty="0"/>
              <a:t>Процессы обращаются к службам через TSAP — </a:t>
            </a:r>
            <a:r>
              <a:rPr lang="ru-RU" b="1" dirty="0"/>
              <a:t>точки доступа транспортного уровня </a:t>
            </a:r>
            <a:r>
              <a:rPr lang="ru-RU" dirty="0"/>
              <a:t>(порты)</a:t>
            </a:r>
          </a:p>
          <a:p>
            <a:pPr lvl="1"/>
            <a:r>
              <a:rPr lang="en-US" dirty="0"/>
              <a:t>Transport Service Access Point, TSAP</a:t>
            </a:r>
            <a:endParaRPr lang="ru-RU" dirty="0"/>
          </a:p>
          <a:p>
            <a:r>
              <a:rPr lang="ru-RU" dirty="0"/>
              <a:t>Сетевой адрес (NSAP, напр. IP) + TSAP вместе однозначно задают конечную точку</a:t>
            </a:r>
          </a:p>
          <a:p>
            <a:pPr lvl="1"/>
            <a:r>
              <a:rPr lang="en-US" dirty="0"/>
              <a:t>Network Service Access Point</a:t>
            </a:r>
            <a:endParaRPr lang="ru-RU" dirty="0"/>
          </a:p>
          <a:p>
            <a:r>
              <a:rPr lang="ru-RU" dirty="0"/>
              <a:t>Для ключевых служб используются «хорошо известные» порты (описаны, напр., в /</a:t>
            </a:r>
            <a:r>
              <a:rPr lang="ru-RU" dirty="0" err="1"/>
              <a:t>etc</a:t>
            </a:r>
            <a:r>
              <a:rPr lang="ru-RU" dirty="0"/>
              <a:t>/</a:t>
            </a:r>
            <a:r>
              <a:rPr lang="ru-RU" dirty="0" err="1"/>
              <a:t>services</a:t>
            </a:r>
            <a:r>
              <a:rPr lang="ru-RU" dirty="0"/>
              <a:t>)</a:t>
            </a:r>
          </a:p>
          <a:p>
            <a:r>
              <a:rPr lang="ru-RU" dirty="0"/>
              <a:t>Для динамичных служб применяется </a:t>
            </a:r>
            <a:r>
              <a:rPr lang="ru-RU" dirty="0" err="1"/>
              <a:t>сопоставитель</a:t>
            </a:r>
            <a:r>
              <a:rPr lang="ru-RU" dirty="0"/>
              <a:t> портов (</a:t>
            </a:r>
            <a:r>
              <a:rPr lang="ru-RU" dirty="0" err="1"/>
              <a:t>portmapper</a:t>
            </a:r>
            <a:r>
              <a:rPr lang="ru-RU" dirty="0"/>
              <a:t>): имя службы → номер порта</a:t>
            </a:r>
          </a:p>
          <a:p>
            <a:r>
              <a:rPr lang="ru-RU" dirty="0"/>
              <a:t>Альтернатива: обрабатывающий сервер (</a:t>
            </a:r>
            <a:r>
              <a:rPr lang="ru-RU" dirty="0" err="1"/>
              <a:t>inetd</a:t>
            </a:r>
            <a:r>
              <a:rPr lang="ru-RU" dirty="0"/>
              <a:t>) слушает несколько портов и по запросу запускает нужный сервер</a:t>
            </a:r>
          </a:p>
        </p:txBody>
      </p:sp>
      <p:pic>
        <p:nvPicPr>
          <p:cNvPr id="6" name="Content Placeholder 5">
            <a:extLst>
              <a:ext uri="{FF2B5EF4-FFF2-40B4-BE49-F238E27FC236}">
                <a16:creationId xmlns:a16="http://schemas.microsoft.com/office/drawing/2014/main" id="{61008E76-9722-5A7D-D97A-F28802B279E0}"/>
              </a:ext>
            </a:extLst>
          </p:cNvPr>
          <p:cNvPicPr>
            <a:picLocks noGrp="1" noChangeAspect="1"/>
          </p:cNvPicPr>
          <p:nvPr>
            <p:ph sz="half" idx="2"/>
          </p:nvPr>
        </p:nvPicPr>
        <p:blipFill>
          <a:blip r:embed="rId3"/>
          <a:stretch>
            <a:fillRect/>
          </a:stretch>
        </p:blipFill>
        <p:spPr>
          <a:xfrm>
            <a:off x="7880465" y="1825625"/>
            <a:ext cx="4311535" cy="3268562"/>
          </a:xfrm>
          <a:prstGeom prst="rect">
            <a:avLst/>
          </a:prstGeom>
        </p:spPr>
      </p:pic>
    </p:spTree>
    <p:extLst>
      <p:ext uri="{BB962C8B-B14F-4D97-AF65-F5344CB8AC3E}">
        <p14:creationId xmlns:p14="http://schemas.microsoft.com/office/powerpoint/2010/main" val="235410289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04134-8E65-3F65-B683-E89D5727E9AF}"/>
              </a:ext>
            </a:extLst>
          </p:cNvPr>
          <p:cNvSpPr>
            <a:spLocks noGrp="1"/>
          </p:cNvSpPr>
          <p:nvPr>
            <p:ph type="title"/>
          </p:nvPr>
        </p:nvSpPr>
        <p:spPr>
          <a:xfrm>
            <a:off x="838200" y="365125"/>
            <a:ext cx="10515600" cy="1325563"/>
          </a:xfrm>
        </p:spPr>
        <p:txBody>
          <a:bodyPr/>
          <a:lstStyle/>
          <a:p>
            <a:r>
              <a:rPr lang="ru-RU" dirty="0"/>
              <a:t>Установление соединения - проблемы</a:t>
            </a:r>
            <a:endParaRPr lang="en-US" dirty="0"/>
          </a:p>
        </p:txBody>
      </p:sp>
      <p:sp>
        <p:nvSpPr>
          <p:cNvPr id="3" name="Content Placeholder 2">
            <a:extLst>
              <a:ext uri="{FF2B5EF4-FFF2-40B4-BE49-F238E27FC236}">
                <a16:creationId xmlns:a16="http://schemas.microsoft.com/office/drawing/2014/main" id="{D311FD3F-9B81-1C66-DF3B-BAE6DD5E5CDF}"/>
              </a:ext>
            </a:extLst>
          </p:cNvPr>
          <p:cNvSpPr>
            <a:spLocks noGrp="1"/>
          </p:cNvSpPr>
          <p:nvPr>
            <p:ph idx="1"/>
          </p:nvPr>
        </p:nvSpPr>
        <p:spPr>
          <a:xfrm>
            <a:off x="838200" y="1825625"/>
            <a:ext cx="10515600" cy="4351338"/>
          </a:xfrm>
        </p:spPr>
        <p:txBody>
          <a:bodyPr>
            <a:normAutofit lnSpcReduction="10000"/>
          </a:bodyPr>
          <a:lstStyle/>
          <a:p>
            <a:r>
              <a:rPr lang="ru-RU" dirty="0"/>
              <a:t>Сеть может терять, задерживать, портить и дублировать сегменты</a:t>
            </a:r>
          </a:p>
          <a:p>
            <a:r>
              <a:rPr lang="ru-RU" dirty="0"/>
              <a:t>Опасный случай: задержавшийся дубликат выглядит как новый запрос</a:t>
            </a:r>
          </a:p>
          <a:p>
            <a:r>
              <a:rPr lang="ru-RU" dirty="0"/>
              <a:t>Пример: повторный перевод денег из-за старого запроса CONNECTION REQUEST</a:t>
            </a:r>
          </a:p>
          <a:p>
            <a:r>
              <a:rPr lang="ru-RU" dirty="0"/>
              <a:t>Протокол обязан корректно работать и в редких, «маловероятных» сценариях</a:t>
            </a:r>
          </a:p>
          <a:p>
            <a:r>
              <a:rPr lang="ru-RU" dirty="0"/>
              <a:t>Цель: научиться распознавать и отбрасывать запоздалые дубликаты</a:t>
            </a:r>
          </a:p>
          <a:p>
            <a:endParaRPr lang="en-US" dirty="0"/>
          </a:p>
        </p:txBody>
      </p:sp>
    </p:spTree>
    <p:extLst>
      <p:ext uri="{BB962C8B-B14F-4D97-AF65-F5344CB8AC3E}">
        <p14:creationId xmlns:p14="http://schemas.microsoft.com/office/powerpoint/2010/main" val="256581120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384FF-49CB-BA1B-12FB-8EA2A6708308}"/>
              </a:ext>
            </a:extLst>
          </p:cNvPr>
          <p:cNvSpPr>
            <a:spLocks noGrp="1"/>
          </p:cNvSpPr>
          <p:nvPr>
            <p:ph type="title"/>
          </p:nvPr>
        </p:nvSpPr>
        <p:spPr/>
        <p:txBody>
          <a:bodyPr>
            <a:normAutofit/>
          </a:bodyPr>
          <a:lstStyle/>
          <a:p>
            <a:r>
              <a:rPr lang="ru-RU" dirty="0"/>
              <a:t>Ограничение времени жизни пакетов и номера последовательности</a:t>
            </a:r>
            <a:endParaRPr lang="en-US" dirty="0"/>
          </a:p>
        </p:txBody>
      </p:sp>
      <p:sp>
        <p:nvSpPr>
          <p:cNvPr id="3" name="Content Placeholder 2">
            <a:extLst>
              <a:ext uri="{FF2B5EF4-FFF2-40B4-BE49-F238E27FC236}">
                <a16:creationId xmlns:a16="http://schemas.microsoft.com/office/drawing/2014/main" id="{5D312C24-E909-3B38-5051-E5EC973389F8}"/>
              </a:ext>
            </a:extLst>
          </p:cNvPr>
          <p:cNvSpPr>
            <a:spLocks noGrp="1"/>
          </p:cNvSpPr>
          <p:nvPr>
            <p:ph sz="half" idx="1"/>
          </p:nvPr>
        </p:nvSpPr>
        <p:spPr>
          <a:xfrm>
            <a:off x="838199" y="1825625"/>
            <a:ext cx="6657227" cy="4351338"/>
          </a:xfrm>
        </p:spPr>
        <p:txBody>
          <a:bodyPr>
            <a:normAutofit fontScale="85000" lnSpcReduction="20000"/>
          </a:bodyPr>
          <a:lstStyle/>
          <a:p>
            <a:r>
              <a:rPr lang="ru-RU" dirty="0"/>
              <a:t>Идея: старые пакеты должны исчезать из сети через максимум время</a:t>
            </a:r>
          </a:p>
          <a:p>
            <a:r>
              <a:rPr lang="ru-RU" dirty="0"/>
              <a:t>Подходы к ограничению времени жизни:</a:t>
            </a:r>
          </a:p>
          <a:p>
            <a:pPr lvl="1"/>
            <a:r>
              <a:rPr lang="ru-RU" dirty="0"/>
              <a:t>проектирование сети с ограничениями + защита от зацикливания</a:t>
            </a:r>
          </a:p>
          <a:p>
            <a:pPr lvl="1"/>
            <a:r>
              <a:rPr lang="ru-RU" dirty="0"/>
              <a:t>счётчик переходов (TTL / </a:t>
            </a:r>
            <a:r>
              <a:rPr lang="ru-RU" dirty="0" err="1"/>
              <a:t>hop</a:t>
            </a:r>
            <a:r>
              <a:rPr lang="ru-RU" dirty="0"/>
              <a:t> </a:t>
            </a:r>
            <a:r>
              <a:rPr lang="ru-RU" dirty="0" err="1"/>
              <a:t>count</a:t>
            </a:r>
            <a:r>
              <a:rPr lang="ru-RU" dirty="0"/>
              <a:t>)</a:t>
            </a:r>
          </a:p>
          <a:p>
            <a:pPr lvl="1"/>
            <a:r>
              <a:rPr lang="ru-RU" dirty="0"/>
              <a:t>временная метка в пакете</a:t>
            </a:r>
          </a:p>
          <a:p>
            <a:r>
              <a:rPr lang="ru-RU" dirty="0"/>
              <a:t>Вводится период T — время, после которого все следы пакета гарантированно исчезли</a:t>
            </a:r>
          </a:p>
          <a:p>
            <a:r>
              <a:rPr lang="ru-RU" dirty="0"/>
              <a:t>Отправитель нумерует сегменты так, чтобы номер не повторялся в течение T</a:t>
            </a:r>
          </a:p>
          <a:p>
            <a:r>
              <a:rPr lang="ru-RU" dirty="0"/>
              <a:t>Требование: скорость выдачи номеров и размер пространства номеров согласованы</a:t>
            </a:r>
          </a:p>
          <a:p>
            <a:endParaRPr lang="en-US" dirty="0"/>
          </a:p>
        </p:txBody>
      </p:sp>
      <p:pic>
        <p:nvPicPr>
          <p:cNvPr id="6" name="Content Placeholder 5">
            <a:extLst>
              <a:ext uri="{FF2B5EF4-FFF2-40B4-BE49-F238E27FC236}">
                <a16:creationId xmlns:a16="http://schemas.microsoft.com/office/drawing/2014/main" id="{59FA4DDE-2DE2-B236-86CB-8AE20B2412CF}"/>
              </a:ext>
            </a:extLst>
          </p:cNvPr>
          <p:cNvPicPr>
            <a:picLocks noGrp="1" noChangeAspect="1"/>
          </p:cNvPicPr>
          <p:nvPr>
            <p:ph sz="half" idx="2"/>
          </p:nvPr>
        </p:nvPicPr>
        <p:blipFill>
          <a:blip r:embed="rId3"/>
          <a:stretch>
            <a:fillRect/>
          </a:stretch>
        </p:blipFill>
        <p:spPr>
          <a:xfrm>
            <a:off x="7660284" y="1825626"/>
            <a:ext cx="4358533" cy="2197734"/>
          </a:xfrm>
          <a:prstGeom prst="rect">
            <a:avLst/>
          </a:prstGeom>
        </p:spPr>
      </p:pic>
    </p:spTree>
    <p:extLst>
      <p:ext uri="{BB962C8B-B14F-4D97-AF65-F5344CB8AC3E}">
        <p14:creationId xmlns:p14="http://schemas.microsoft.com/office/powerpoint/2010/main" val="68462649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9A47C-ECE6-1BC8-5426-C00351628493}"/>
              </a:ext>
            </a:extLst>
          </p:cNvPr>
          <p:cNvSpPr>
            <a:spLocks noGrp="1"/>
          </p:cNvSpPr>
          <p:nvPr>
            <p:ph type="title"/>
          </p:nvPr>
        </p:nvSpPr>
        <p:spPr/>
        <p:txBody>
          <a:bodyPr/>
          <a:lstStyle/>
          <a:p>
            <a:r>
              <a:rPr lang="ru-RU" dirty="0"/>
              <a:t>«Тройное рукопожатие»</a:t>
            </a:r>
            <a:endParaRPr lang="en-US" dirty="0"/>
          </a:p>
        </p:txBody>
      </p:sp>
      <p:sp>
        <p:nvSpPr>
          <p:cNvPr id="3" name="Content Placeholder 2">
            <a:extLst>
              <a:ext uri="{FF2B5EF4-FFF2-40B4-BE49-F238E27FC236}">
                <a16:creationId xmlns:a16="http://schemas.microsoft.com/office/drawing/2014/main" id="{7A73CC45-867B-84DE-42AA-88A2C0732FC8}"/>
              </a:ext>
            </a:extLst>
          </p:cNvPr>
          <p:cNvSpPr>
            <a:spLocks noGrp="1"/>
          </p:cNvSpPr>
          <p:nvPr>
            <p:ph sz="half" idx="1"/>
          </p:nvPr>
        </p:nvSpPr>
        <p:spPr>
          <a:xfrm>
            <a:off x="838200" y="1825625"/>
            <a:ext cx="6210993" cy="4351338"/>
          </a:xfrm>
        </p:spPr>
        <p:txBody>
          <a:bodyPr>
            <a:normAutofit fontScale="70000" lnSpcReduction="20000"/>
          </a:bodyPr>
          <a:lstStyle/>
          <a:p>
            <a:r>
              <a:rPr lang="ru-RU" dirty="0"/>
              <a:t>Проблема: при установлении соединения получатель не знает истории номеров</a:t>
            </a:r>
          </a:p>
          <a:p>
            <a:r>
              <a:rPr lang="ru-RU" dirty="0"/>
              <a:t>Решение: протокол «тройного рукопожатия»</a:t>
            </a:r>
          </a:p>
          <a:p>
            <a:pPr lvl="1"/>
            <a:r>
              <a:rPr lang="ru-RU" dirty="0"/>
              <a:t>Хост 1 → Хосту 2: CONNECTION REQUEST (с номером x)</a:t>
            </a:r>
          </a:p>
          <a:p>
            <a:pPr lvl="1"/>
            <a:r>
              <a:rPr lang="ru-RU" dirty="0"/>
              <a:t>Хост 2 → Хосту 1: ACK(x) + свой начальный номер y</a:t>
            </a:r>
          </a:p>
          <a:p>
            <a:pPr lvl="1"/>
            <a:r>
              <a:rPr lang="ru-RU" dirty="0"/>
              <a:t>Хост 1 → Хосту 2: ACK(y) в первом сегменте с данными</a:t>
            </a:r>
          </a:p>
          <a:p>
            <a:r>
              <a:rPr lang="ru-RU" dirty="0"/>
              <a:t>Задержавшийся дубликат REQUEST приводит к запросу подтверждения, а не к тихому открытию нового соединения</a:t>
            </a:r>
          </a:p>
          <a:p>
            <a:r>
              <a:rPr lang="ru-RU" dirty="0"/>
              <a:t>TCP:</a:t>
            </a:r>
          </a:p>
          <a:p>
            <a:pPr lvl="1"/>
            <a:r>
              <a:rPr lang="ru-RU" dirty="0"/>
              <a:t>всегда использует тройное рукопожатие</a:t>
            </a:r>
          </a:p>
          <a:p>
            <a:pPr lvl="1"/>
            <a:r>
              <a:rPr lang="ru-RU" dirty="0"/>
              <a:t>применяет 32-битные номера + метки времени (PAWS, RFC 1323)</a:t>
            </a:r>
          </a:p>
          <a:p>
            <a:pPr lvl="1"/>
            <a:r>
              <a:rPr lang="ru-RU" dirty="0"/>
              <a:t>начальные номера выбираются псевдослучайно, но без повторов в течение T</a:t>
            </a:r>
          </a:p>
          <a:p>
            <a:endParaRPr lang="en-US" dirty="0"/>
          </a:p>
        </p:txBody>
      </p:sp>
      <p:pic>
        <p:nvPicPr>
          <p:cNvPr id="6" name="Content Placeholder 5">
            <a:extLst>
              <a:ext uri="{FF2B5EF4-FFF2-40B4-BE49-F238E27FC236}">
                <a16:creationId xmlns:a16="http://schemas.microsoft.com/office/drawing/2014/main" id="{95BBBEEE-85EE-7D56-1525-2E34EB99AA26}"/>
              </a:ext>
            </a:extLst>
          </p:cNvPr>
          <p:cNvPicPr>
            <a:picLocks noGrp="1" noChangeAspect="1"/>
          </p:cNvPicPr>
          <p:nvPr>
            <p:ph sz="half" idx="2"/>
          </p:nvPr>
        </p:nvPicPr>
        <p:blipFill>
          <a:blip r:embed="rId3"/>
          <a:stretch>
            <a:fillRect/>
          </a:stretch>
        </p:blipFill>
        <p:spPr>
          <a:xfrm>
            <a:off x="7749627" y="1825625"/>
            <a:ext cx="4233979" cy="4667250"/>
          </a:xfrm>
          <a:prstGeom prst="rect">
            <a:avLst/>
          </a:prstGeom>
        </p:spPr>
      </p:pic>
    </p:spTree>
    <p:extLst>
      <p:ext uri="{BB962C8B-B14F-4D97-AF65-F5344CB8AC3E}">
        <p14:creationId xmlns:p14="http://schemas.microsoft.com/office/powerpoint/2010/main" val="400275518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F1163-55EB-4C4C-0B39-626F97E0281E}"/>
              </a:ext>
            </a:extLst>
          </p:cNvPr>
          <p:cNvSpPr>
            <a:spLocks noGrp="1"/>
          </p:cNvSpPr>
          <p:nvPr>
            <p:ph type="title"/>
          </p:nvPr>
        </p:nvSpPr>
        <p:spPr/>
        <p:txBody>
          <a:bodyPr/>
          <a:lstStyle/>
          <a:p>
            <a:r>
              <a:rPr lang="ru-RU" dirty="0"/>
              <a:t>Разрыв соединения</a:t>
            </a:r>
            <a:endParaRPr lang="en-US" dirty="0"/>
          </a:p>
        </p:txBody>
      </p:sp>
      <p:sp>
        <p:nvSpPr>
          <p:cNvPr id="3" name="Content Placeholder 2">
            <a:extLst>
              <a:ext uri="{FF2B5EF4-FFF2-40B4-BE49-F238E27FC236}">
                <a16:creationId xmlns:a16="http://schemas.microsoft.com/office/drawing/2014/main" id="{EB4153CF-7C2C-E262-6946-6F40E0FE2B82}"/>
              </a:ext>
            </a:extLst>
          </p:cNvPr>
          <p:cNvSpPr>
            <a:spLocks noGrp="1"/>
          </p:cNvSpPr>
          <p:nvPr>
            <p:ph sz="half" idx="1"/>
          </p:nvPr>
        </p:nvSpPr>
        <p:spPr>
          <a:xfrm>
            <a:off x="838199" y="1825625"/>
            <a:ext cx="6194367" cy="4351338"/>
          </a:xfrm>
        </p:spPr>
        <p:txBody>
          <a:bodyPr>
            <a:normAutofit fontScale="85000" lnSpcReduction="20000"/>
          </a:bodyPr>
          <a:lstStyle/>
          <a:p>
            <a:r>
              <a:rPr lang="ru-RU" dirty="0"/>
              <a:t>Два стиля:</a:t>
            </a:r>
          </a:p>
          <a:p>
            <a:pPr lvl="1"/>
            <a:r>
              <a:rPr lang="ru-RU" b="1" dirty="0"/>
              <a:t>Асимметричный</a:t>
            </a:r>
            <a:r>
              <a:rPr lang="ru-RU" dirty="0"/>
              <a:t>: одна сторона «рубает провод» сразу</a:t>
            </a:r>
          </a:p>
          <a:p>
            <a:pPr lvl="1"/>
            <a:r>
              <a:rPr lang="ru-RU" b="1" dirty="0"/>
              <a:t>Симметричный</a:t>
            </a:r>
            <a:r>
              <a:rPr lang="ru-RU" dirty="0"/>
              <a:t>: каждое направление закрывается отдельно</a:t>
            </a:r>
          </a:p>
          <a:p>
            <a:r>
              <a:rPr lang="ru-RU" dirty="0"/>
              <a:t>Риск при асимметрии: потеря ещё не доставленных данных</a:t>
            </a:r>
          </a:p>
          <a:p>
            <a:r>
              <a:rPr lang="ru-RU" dirty="0"/>
              <a:t>Симметрия безопаснее, но требует согласования сторон</a:t>
            </a:r>
          </a:p>
          <a:p>
            <a:r>
              <a:rPr lang="ru-RU" dirty="0"/>
              <a:t>Логический предел: </a:t>
            </a:r>
            <a:r>
              <a:rPr lang="ru-RU" b="1" dirty="0"/>
              <a:t>проблема двух армий</a:t>
            </a:r>
            <a:endParaRPr lang="ru-RU" dirty="0"/>
          </a:p>
          <a:p>
            <a:pPr lvl="1"/>
            <a:r>
              <a:rPr lang="ru-RU" dirty="0"/>
              <a:t>Надёжного протокола «идеального согласования» по ненадёжному каналу не существует</a:t>
            </a:r>
          </a:p>
          <a:p>
            <a:endParaRPr lang="en-US" dirty="0"/>
          </a:p>
        </p:txBody>
      </p:sp>
      <p:pic>
        <p:nvPicPr>
          <p:cNvPr id="6" name="Content Placeholder 5">
            <a:extLst>
              <a:ext uri="{FF2B5EF4-FFF2-40B4-BE49-F238E27FC236}">
                <a16:creationId xmlns:a16="http://schemas.microsoft.com/office/drawing/2014/main" id="{CB13FEAE-62E5-5CB8-17DC-DA4FB49DE0DF}"/>
              </a:ext>
            </a:extLst>
          </p:cNvPr>
          <p:cNvPicPr>
            <a:picLocks noGrp="1" noChangeAspect="1"/>
          </p:cNvPicPr>
          <p:nvPr>
            <p:ph sz="half" idx="2"/>
          </p:nvPr>
        </p:nvPicPr>
        <p:blipFill>
          <a:blip r:embed="rId3"/>
          <a:stretch>
            <a:fillRect/>
          </a:stretch>
        </p:blipFill>
        <p:spPr>
          <a:xfrm>
            <a:off x="7248697" y="1825625"/>
            <a:ext cx="4803371" cy="2241315"/>
          </a:xfrm>
          <a:prstGeom prst="rect">
            <a:avLst/>
          </a:prstGeom>
        </p:spPr>
      </p:pic>
    </p:spTree>
    <p:extLst>
      <p:ext uri="{BB962C8B-B14F-4D97-AF65-F5344CB8AC3E}">
        <p14:creationId xmlns:p14="http://schemas.microsoft.com/office/powerpoint/2010/main" val="265300775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A4BBA-5628-C7A3-ACA1-FE4BE3D99B37}"/>
              </a:ext>
            </a:extLst>
          </p:cNvPr>
          <p:cNvSpPr>
            <a:spLocks noGrp="1"/>
          </p:cNvSpPr>
          <p:nvPr>
            <p:ph type="title"/>
          </p:nvPr>
        </p:nvSpPr>
        <p:spPr/>
        <p:txBody>
          <a:bodyPr/>
          <a:lstStyle/>
          <a:p>
            <a:r>
              <a:rPr lang="ru-RU" dirty="0"/>
              <a:t>Разрыв соединения на практике</a:t>
            </a:r>
            <a:endParaRPr lang="en-US" dirty="0"/>
          </a:p>
        </p:txBody>
      </p:sp>
      <p:sp>
        <p:nvSpPr>
          <p:cNvPr id="3" name="Content Placeholder 2">
            <a:extLst>
              <a:ext uri="{FF2B5EF4-FFF2-40B4-BE49-F238E27FC236}">
                <a16:creationId xmlns:a16="http://schemas.microsoft.com/office/drawing/2014/main" id="{43C94971-01D0-0712-E0C0-0545CCCF3263}"/>
              </a:ext>
            </a:extLst>
          </p:cNvPr>
          <p:cNvSpPr>
            <a:spLocks noGrp="1"/>
          </p:cNvSpPr>
          <p:nvPr>
            <p:ph sz="half" idx="1"/>
          </p:nvPr>
        </p:nvSpPr>
        <p:spPr>
          <a:xfrm>
            <a:off x="838199" y="1825625"/>
            <a:ext cx="7175269" cy="4351338"/>
          </a:xfrm>
        </p:spPr>
        <p:txBody>
          <a:bodyPr>
            <a:normAutofit fontScale="85000" lnSpcReduction="20000"/>
          </a:bodyPr>
          <a:lstStyle/>
          <a:p>
            <a:r>
              <a:rPr lang="ru-RU" dirty="0"/>
              <a:t>Используется схема с DR / ACK и таймерами</a:t>
            </a:r>
          </a:p>
          <a:p>
            <a:pPr lvl="1"/>
            <a:r>
              <a:rPr lang="ru-RU" dirty="0"/>
              <a:t>DR → ответный DR → ACK → удаление состояния</a:t>
            </a:r>
          </a:p>
          <a:p>
            <a:r>
              <a:rPr lang="ru-RU" dirty="0"/>
              <a:t>Потери сегментов обрабатываются повторами и тайм-аутами</a:t>
            </a:r>
          </a:p>
          <a:p>
            <a:r>
              <a:rPr lang="ru-RU" dirty="0"/>
              <a:t>Опасность: </a:t>
            </a:r>
            <a:r>
              <a:rPr lang="ru-RU" b="1" dirty="0"/>
              <a:t>полуоткрытое соединение</a:t>
            </a:r>
            <a:endParaRPr lang="ru-RU" dirty="0"/>
          </a:p>
          <a:p>
            <a:pPr lvl="1"/>
            <a:r>
              <a:rPr lang="ru-RU" dirty="0"/>
              <a:t>Одна сторона считает связь закрытой, другая — нет</a:t>
            </a:r>
          </a:p>
          <a:p>
            <a:r>
              <a:rPr lang="ru-RU" dirty="0"/>
              <a:t>Решение: правило неактивности</a:t>
            </a:r>
          </a:p>
          <a:p>
            <a:pPr lvl="1"/>
            <a:r>
              <a:rPr lang="ru-RU" dirty="0"/>
              <a:t>Если долго нет трафика → соединение автоматически закрывается</a:t>
            </a:r>
          </a:p>
          <a:p>
            <a:r>
              <a:rPr lang="ru-RU" dirty="0"/>
              <a:t>TCP:</a:t>
            </a:r>
          </a:p>
          <a:p>
            <a:pPr lvl="1"/>
            <a:r>
              <a:rPr lang="ru-RU" dirty="0"/>
              <a:t>Обычно симметричный FIN/ACK</a:t>
            </a:r>
          </a:p>
          <a:p>
            <a:pPr lvl="1"/>
            <a:r>
              <a:rPr lang="ru-RU" dirty="0"/>
              <a:t>Иногда «жёсткий» RST как асимметричный вариант (например, веб-серверы)</a:t>
            </a:r>
          </a:p>
        </p:txBody>
      </p:sp>
      <p:pic>
        <p:nvPicPr>
          <p:cNvPr id="6" name="Content Placeholder 5">
            <a:extLst>
              <a:ext uri="{FF2B5EF4-FFF2-40B4-BE49-F238E27FC236}">
                <a16:creationId xmlns:a16="http://schemas.microsoft.com/office/drawing/2014/main" id="{506B279F-B147-7167-C3BE-E25DA879828D}"/>
              </a:ext>
            </a:extLst>
          </p:cNvPr>
          <p:cNvPicPr>
            <a:picLocks noGrp="1" noChangeAspect="1"/>
          </p:cNvPicPr>
          <p:nvPr>
            <p:ph sz="half" idx="2"/>
          </p:nvPr>
        </p:nvPicPr>
        <p:blipFill>
          <a:blip r:embed="rId3"/>
          <a:stretch>
            <a:fillRect/>
          </a:stretch>
        </p:blipFill>
        <p:spPr>
          <a:xfrm>
            <a:off x="8256561" y="1825625"/>
            <a:ext cx="3772702" cy="4351338"/>
          </a:xfrm>
          <a:prstGeom prst="rect">
            <a:avLst/>
          </a:prstGeom>
        </p:spPr>
      </p:pic>
    </p:spTree>
    <p:extLst>
      <p:ext uri="{BB962C8B-B14F-4D97-AF65-F5344CB8AC3E}">
        <p14:creationId xmlns:p14="http://schemas.microsoft.com/office/powerpoint/2010/main" val="146729930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E03A4-90AB-A004-B363-9D5F1284C07E}"/>
              </a:ext>
            </a:extLst>
          </p:cNvPr>
          <p:cNvSpPr>
            <a:spLocks noGrp="1"/>
          </p:cNvSpPr>
          <p:nvPr>
            <p:ph type="title"/>
          </p:nvPr>
        </p:nvSpPr>
        <p:spPr/>
        <p:txBody>
          <a:bodyPr>
            <a:normAutofit/>
          </a:bodyPr>
          <a:lstStyle/>
          <a:p>
            <a:r>
              <a:rPr lang="ru-RU" dirty="0"/>
              <a:t>Контроль ошибок на транспортном уровне</a:t>
            </a:r>
            <a:endParaRPr lang="en-US" dirty="0"/>
          </a:p>
        </p:txBody>
      </p:sp>
      <p:sp>
        <p:nvSpPr>
          <p:cNvPr id="3" name="Content Placeholder 2">
            <a:extLst>
              <a:ext uri="{FF2B5EF4-FFF2-40B4-BE49-F238E27FC236}">
                <a16:creationId xmlns:a16="http://schemas.microsoft.com/office/drawing/2014/main" id="{862FDEE9-7B28-3591-169D-190023725333}"/>
              </a:ext>
            </a:extLst>
          </p:cNvPr>
          <p:cNvSpPr>
            <a:spLocks noGrp="1"/>
          </p:cNvSpPr>
          <p:nvPr>
            <p:ph idx="1"/>
          </p:nvPr>
        </p:nvSpPr>
        <p:spPr/>
        <p:txBody>
          <a:bodyPr>
            <a:normAutofit fontScale="92500" lnSpcReduction="20000"/>
          </a:bodyPr>
          <a:lstStyle/>
          <a:p>
            <a:r>
              <a:rPr lang="ru-RU" dirty="0"/>
              <a:t>Цели:</a:t>
            </a:r>
          </a:p>
          <a:p>
            <a:pPr lvl="1"/>
            <a:r>
              <a:rPr lang="ru-RU" dirty="0"/>
              <a:t>корректная, безошибочная доставка данных</a:t>
            </a:r>
          </a:p>
          <a:p>
            <a:pPr lvl="1"/>
            <a:r>
              <a:rPr lang="ru-RU" dirty="0"/>
              <a:t>согласование скорости отправителя и получателя</a:t>
            </a:r>
          </a:p>
          <a:p>
            <a:r>
              <a:rPr lang="ru-RU" dirty="0"/>
              <a:t>Механизмы:</a:t>
            </a:r>
          </a:p>
          <a:p>
            <a:pPr lvl="1"/>
            <a:r>
              <a:rPr lang="ru-RU" dirty="0"/>
              <a:t>контрольная сумма / CRC</a:t>
            </a:r>
          </a:p>
          <a:p>
            <a:pPr lvl="1"/>
            <a:r>
              <a:rPr lang="ru-RU" b="1" dirty="0"/>
              <a:t>ARQ</a:t>
            </a:r>
            <a:r>
              <a:rPr lang="ru-RU" dirty="0"/>
              <a:t> — повторная передача до ACK</a:t>
            </a:r>
          </a:p>
          <a:p>
            <a:pPr lvl="1"/>
            <a:r>
              <a:rPr lang="ru-RU" b="1" dirty="0"/>
              <a:t>протокол раздвижного окна</a:t>
            </a:r>
            <a:endParaRPr lang="ru-RU" dirty="0"/>
          </a:p>
          <a:p>
            <a:pPr lvl="2"/>
            <a:r>
              <a:rPr lang="ru-RU" dirty="0" err="1"/>
              <a:t>stop-and-wait</a:t>
            </a:r>
            <a:r>
              <a:rPr lang="ru-RU" dirty="0"/>
              <a:t> (окно = 1)</a:t>
            </a:r>
          </a:p>
          <a:p>
            <a:pPr lvl="2"/>
            <a:r>
              <a:rPr lang="ru-RU" dirty="0"/>
              <a:t>окно &gt;1: конвейер, высокая загрузка линии</a:t>
            </a:r>
          </a:p>
          <a:p>
            <a:r>
              <a:rPr lang="ru-RU" dirty="0"/>
              <a:t>Отличие от канального уровня</a:t>
            </a:r>
          </a:p>
          <a:p>
            <a:pPr lvl="1"/>
            <a:r>
              <a:rPr lang="ru-RU" dirty="0"/>
              <a:t>Канал: защита по одной линии</a:t>
            </a:r>
          </a:p>
          <a:p>
            <a:pPr lvl="1"/>
            <a:r>
              <a:rPr lang="ru-RU" dirty="0"/>
              <a:t>Транспорт: </a:t>
            </a:r>
            <a:r>
              <a:rPr lang="ru-RU" b="1" dirty="0"/>
              <a:t>сквозная</a:t>
            </a:r>
            <a:r>
              <a:rPr lang="ru-RU" dirty="0"/>
              <a:t> защита по всему пути</a:t>
            </a:r>
          </a:p>
          <a:p>
            <a:pPr lvl="1"/>
            <a:r>
              <a:rPr lang="ru-RU" dirty="0"/>
              <a:t>Возможны ошибки </a:t>
            </a:r>
            <a:r>
              <a:rPr lang="ru-RU" i="1" dirty="0"/>
              <a:t>внутри</a:t>
            </a:r>
            <a:r>
              <a:rPr lang="ru-RU" dirty="0"/>
              <a:t> маршрутизаторов → нужен </a:t>
            </a:r>
            <a:r>
              <a:rPr lang="ru-RU" dirty="0" err="1"/>
              <a:t>end-to-end</a:t>
            </a:r>
            <a:r>
              <a:rPr lang="ru-RU" dirty="0"/>
              <a:t> контроль</a:t>
            </a:r>
          </a:p>
          <a:p>
            <a:endParaRPr lang="en-US" dirty="0"/>
          </a:p>
        </p:txBody>
      </p:sp>
    </p:spTree>
    <p:extLst>
      <p:ext uri="{BB962C8B-B14F-4D97-AF65-F5344CB8AC3E}">
        <p14:creationId xmlns:p14="http://schemas.microsoft.com/office/powerpoint/2010/main" val="388699214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8F2A2-3769-D0EA-96BF-4467B902FB41}"/>
              </a:ext>
            </a:extLst>
          </p:cNvPr>
          <p:cNvSpPr>
            <a:spLocks noGrp="1"/>
          </p:cNvSpPr>
          <p:nvPr>
            <p:ph type="title"/>
          </p:nvPr>
        </p:nvSpPr>
        <p:spPr/>
        <p:txBody>
          <a:bodyPr/>
          <a:lstStyle/>
          <a:p>
            <a:r>
              <a:rPr lang="ru-RU" dirty="0"/>
              <a:t>Буферизация и окна</a:t>
            </a:r>
            <a:endParaRPr lang="en-US" dirty="0"/>
          </a:p>
        </p:txBody>
      </p:sp>
      <p:sp>
        <p:nvSpPr>
          <p:cNvPr id="3" name="Content Placeholder 2">
            <a:extLst>
              <a:ext uri="{FF2B5EF4-FFF2-40B4-BE49-F238E27FC236}">
                <a16:creationId xmlns:a16="http://schemas.microsoft.com/office/drawing/2014/main" id="{B92DBFCD-83E0-4A1E-14C6-EA3069E0928A}"/>
              </a:ext>
            </a:extLst>
          </p:cNvPr>
          <p:cNvSpPr>
            <a:spLocks noGrp="1"/>
          </p:cNvSpPr>
          <p:nvPr>
            <p:ph sz="half" idx="1"/>
          </p:nvPr>
        </p:nvSpPr>
        <p:spPr>
          <a:xfrm>
            <a:off x="838200" y="1825625"/>
            <a:ext cx="6788524" cy="4351338"/>
          </a:xfrm>
        </p:spPr>
        <p:txBody>
          <a:bodyPr>
            <a:normAutofit fontScale="62500" lnSpcReduction="20000"/>
          </a:bodyPr>
          <a:lstStyle/>
          <a:p>
            <a:r>
              <a:rPr lang="ru-RU" b="1" dirty="0"/>
              <a:t>Зачем нужны буферы</a:t>
            </a:r>
          </a:p>
          <a:p>
            <a:pPr lvl="1"/>
            <a:r>
              <a:rPr lang="ru-RU" dirty="0"/>
              <a:t>Отправитель хранит неподтверждённые сегменты</a:t>
            </a:r>
          </a:p>
          <a:p>
            <a:pPr lvl="1"/>
            <a:r>
              <a:rPr lang="ru-RU" dirty="0"/>
              <a:t>Получатель выделяет буферы динамически или заранее под целое окно</a:t>
            </a:r>
          </a:p>
          <a:p>
            <a:pPr lvl="2"/>
            <a:r>
              <a:rPr lang="ru-RU" dirty="0"/>
              <a:t>фиксированные блоки</a:t>
            </a:r>
          </a:p>
          <a:p>
            <a:pPr lvl="2"/>
            <a:r>
              <a:rPr lang="ru-RU" dirty="0"/>
              <a:t>переменный размер</a:t>
            </a:r>
          </a:p>
          <a:p>
            <a:pPr lvl="2"/>
            <a:r>
              <a:rPr lang="ru-RU" dirty="0"/>
              <a:t>один большой кольцевой буфер</a:t>
            </a:r>
          </a:p>
          <a:p>
            <a:r>
              <a:rPr lang="ru-RU" b="1" dirty="0"/>
              <a:t>Динамическое окно</a:t>
            </a:r>
            <a:endParaRPr lang="ru-RU" dirty="0"/>
          </a:p>
          <a:p>
            <a:pPr lvl="1"/>
            <a:r>
              <a:rPr lang="ru-RU" dirty="0"/>
              <a:t>Размер окна зависит число свободных буферов у получателя</a:t>
            </a:r>
          </a:p>
          <a:p>
            <a:pPr lvl="1"/>
            <a:r>
              <a:rPr lang="ru-RU" dirty="0"/>
              <a:t>Отправитель уменьшает счётчик окна при отправке</a:t>
            </a:r>
          </a:p>
          <a:p>
            <a:pPr lvl="1"/>
            <a:r>
              <a:rPr lang="ru-RU" dirty="0"/>
              <a:t>Получатель:</a:t>
            </a:r>
          </a:p>
          <a:p>
            <a:pPr lvl="2"/>
            <a:r>
              <a:rPr lang="ru-RU" dirty="0"/>
              <a:t>шлёт ACK</a:t>
            </a:r>
          </a:p>
          <a:p>
            <a:pPr lvl="2"/>
            <a:r>
              <a:rPr lang="ru-RU" dirty="0"/>
              <a:t>сообщает новое значение окна (</a:t>
            </a:r>
            <a:r>
              <a:rPr lang="ru-RU" dirty="0" err="1"/>
              <a:t>Window</a:t>
            </a:r>
            <a:r>
              <a:rPr lang="ru-RU" dirty="0"/>
              <a:t> </a:t>
            </a:r>
            <a:r>
              <a:rPr lang="ru-RU" dirty="0" err="1"/>
              <a:t>size</a:t>
            </a:r>
            <a:r>
              <a:rPr lang="ru-RU" dirty="0"/>
              <a:t> в TCP)</a:t>
            </a:r>
          </a:p>
          <a:p>
            <a:r>
              <a:rPr lang="ru-RU" b="1" dirty="0"/>
              <a:t>Ограничения скорости</a:t>
            </a:r>
            <a:endParaRPr lang="ru-RU" dirty="0"/>
          </a:p>
          <a:p>
            <a:pPr lvl="1"/>
            <a:r>
              <a:rPr lang="ru-RU" dirty="0"/>
              <a:t>Раньше: главная проблема — буферы получателя</a:t>
            </a:r>
          </a:p>
          <a:p>
            <a:pPr lvl="1"/>
            <a:r>
              <a:rPr lang="ru-RU" dirty="0"/>
              <a:t>Сейчас чаще — пропускная способность сети</a:t>
            </a:r>
          </a:p>
          <a:p>
            <a:pPr lvl="1"/>
            <a:r>
              <a:rPr lang="ru-RU" dirty="0"/>
              <a:t>Идея: размер окна ≈ пропускная способность × время цикла (</a:t>
            </a:r>
            <a:r>
              <a:rPr lang="ru-RU" dirty="0" err="1"/>
              <a:t>c·r</a:t>
            </a:r>
            <a:r>
              <a:rPr lang="ru-RU" dirty="0"/>
              <a:t>)</a:t>
            </a:r>
          </a:p>
          <a:p>
            <a:pPr lvl="1"/>
            <a:r>
              <a:rPr lang="ru-RU" dirty="0"/>
              <a:t>Окно динамически подстраивается, что позволяет совмещать управление потоком с контролем перегрузки</a:t>
            </a:r>
          </a:p>
        </p:txBody>
      </p:sp>
      <p:pic>
        <p:nvPicPr>
          <p:cNvPr id="6" name="Content Placeholder 5">
            <a:extLst>
              <a:ext uri="{FF2B5EF4-FFF2-40B4-BE49-F238E27FC236}">
                <a16:creationId xmlns:a16="http://schemas.microsoft.com/office/drawing/2014/main" id="{A30E1133-A67F-C258-63E4-C0A527DDAEBE}"/>
              </a:ext>
            </a:extLst>
          </p:cNvPr>
          <p:cNvPicPr>
            <a:picLocks noGrp="1" noChangeAspect="1"/>
          </p:cNvPicPr>
          <p:nvPr>
            <p:ph sz="half" idx="2"/>
          </p:nvPr>
        </p:nvPicPr>
        <p:blipFill>
          <a:blip r:embed="rId3"/>
          <a:stretch>
            <a:fillRect/>
          </a:stretch>
        </p:blipFill>
        <p:spPr>
          <a:xfrm>
            <a:off x="7626724" y="1961628"/>
            <a:ext cx="4225839" cy="2893006"/>
          </a:xfrm>
          <a:prstGeom prst="rect">
            <a:avLst/>
          </a:prstGeom>
        </p:spPr>
      </p:pic>
    </p:spTree>
    <p:extLst>
      <p:ext uri="{BB962C8B-B14F-4D97-AF65-F5344CB8AC3E}">
        <p14:creationId xmlns:p14="http://schemas.microsoft.com/office/powerpoint/2010/main" val="71832411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CC83F1-A308-8B39-4111-B64CAE216168}"/>
              </a:ext>
            </a:extLst>
          </p:cNvPr>
          <p:cNvSpPr>
            <a:spLocks noGrp="1"/>
          </p:cNvSpPr>
          <p:nvPr>
            <p:ph type="title"/>
          </p:nvPr>
        </p:nvSpPr>
        <p:spPr/>
        <p:txBody>
          <a:bodyPr/>
          <a:lstStyle/>
          <a:p>
            <a:r>
              <a:rPr lang="ru-RU" dirty="0"/>
              <a:t>Транспортные протоколы интернета</a:t>
            </a:r>
            <a:endParaRPr lang="en-US" dirty="0"/>
          </a:p>
        </p:txBody>
      </p:sp>
      <p:sp>
        <p:nvSpPr>
          <p:cNvPr id="8" name="Text Placeholder 7">
            <a:extLst>
              <a:ext uri="{FF2B5EF4-FFF2-40B4-BE49-F238E27FC236}">
                <a16:creationId xmlns:a16="http://schemas.microsoft.com/office/drawing/2014/main" id="{8EB9EBD4-A82F-6EF0-DBEB-9175086AAF6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576219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3917FC-5F87-9488-701F-D661BC7BC02C}"/>
              </a:ext>
            </a:extLst>
          </p:cNvPr>
          <p:cNvSpPr>
            <a:spLocks noGrp="1"/>
          </p:cNvSpPr>
          <p:nvPr>
            <p:ph type="title"/>
          </p:nvPr>
        </p:nvSpPr>
        <p:spPr/>
        <p:txBody>
          <a:bodyPr/>
          <a:lstStyle/>
          <a:p>
            <a:r>
              <a:rPr lang="ru-RU" dirty="0"/>
              <a:t>UDP (User </a:t>
            </a:r>
            <a:r>
              <a:rPr lang="ru-RU" dirty="0" err="1"/>
              <a:t>Datagram</a:t>
            </a:r>
            <a:r>
              <a:rPr lang="ru-RU" dirty="0"/>
              <a:t> Protocol)</a:t>
            </a:r>
          </a:p>
        </p:txBody>
      </p:sp>
      <p:sp>
        <p:nvSpPr>
          <p:cNvPr id="5" name="Content Placeholder 4">
            <a:extLst>
              <a:ext uri="{FF2B5EF4-FFF2-40B4-BE49-F238E27FC236}">
                <a16:creationId xmlns:a16="http://schemas.microsoft.com/office/drawing/2014/main" id="{7E93E84D-575C-2D44-677A-5804A7BC2783}"/>
              </a:ext>
            </a:extLst>
          </p:cNvPr>
          <p:cNvSpPr>
            <a:spLocks noGrp="1"/>
          </p:cNvSpPr>
          <p:nvPr>
            <p:ph sz="half" idx="1"/>
          </p:nvPr>
        </p:nvSpPr>
        <p:spPr/>
        <p:txBody>
          <a:bodyPr>
            <a:normAutofit fontScale="55000" lnSpcReduction="20000"/>
          </a:bodyPr>
          <a:lstStyle/>
          <a:p>
            <a:r>
              <a:rPr lang="ru-RU" dirty="0"/>
              <a:t>Транспортный протокол без установления соединения (RFC 768)</a:t>
            </a:r>
          </a:p>
          <a:p>
            <a:r>
              <a:rPr lang="ru-RU" dirty="0"/>
              <a:t>Сегмент = 8-байтный заголовок + данные (</a:t>
            </a:r>
            <a:r>
              <a:rPr lang="ru-RU" dirty="0" err="1"/>
              <a:t>Payload</a:t>
            </a:r>
            <a:r>
              <a:rPr lang="ru-RU" dirty="0"/>
              <a:t>)</a:t>
            </a:r>
          </a:p>
          <a:p>
            <a:r>
              <a:rPr lang="ru-RU" dirty="0"/>
              <a:t>Порты источника и назначения</a:t>
            </a:r>
          </a:p>
          <a:p>
            <a:pPr lvl="1"/>
            <a:r>
              <a:rPr lang="ru-RU" dirty="0"/>
              <a:t>определяют, какому приложению передать данные</a:t>
            </a:r>
          </a:p>
          <a:p>
            <a:pPr lvl="1"/>
            <a:r>
              <a:rPr lang="ru-RU" dirty="0"/>
              <a:t>как почтовые ящики: приложение «арендует» порт через </a:t>
            </a:r>
            <a:r>
              <a:rPr lang="ru-RU" dirty="0" err="1"/>
              <a:t>bind</a:t>
            </a:r>
            <a:endParaRPr lang="ru-RU" dirty="0"/>
          </a:p>
          <a:p>
            <a:r>
              <a:rPr lang="ru-RU" dirty="0"/>
              <a:t>Поле </a:t>
            </a:r>
            <a:r>
              <a:rPr lang="ru-RU" dirty="0" err="1"/>
              <a:t>Length</a:t>
            </a:r>
            <a:r>
              <a:rPr lang="ru-RU" dirty="0"/>
              <a:t> – длина заголовка + данных (от 8 до 65 515 байт)</a:t>
            </a:r>
          </a:p>
          <a:p>
            <a:r>
              <a:rPr lang="ru-RU" dirty="0"/>
              <a:t>Поле </a:t>
            </a:r>
            <a:r>
              <a:rPr lang="ru-RU" dirty="0" err="1"/>
              <a:t>Checksum</a:t>
            </a:r>
            <a:r>
              <a:rPr lang="ru-RU" dirty="0"/>
              <a:t> (контрольная сумма)</a:t>
            </a:r>
          </a:p>
          <a:p>
            <a:pPr lvl="1"/>
            <a:r>
              <a:rPr lang="ru-RU" dirty="0"/>
              <a:t>считает заголовок, данные и </a:t>
            </a:r>
            <a:r>
              <a:rPr lang="ru-RU" dirty="0" err="1"/>
              <a:t>псевдозаголовок</a:t>
            </a:r>
            <a:r>
              <a:rPr lang="ru-RU" dirty="0"/>
              <a:t> (IP-адреса + протокол + длина)</a:t>
            </a:r>
          </a:p>
          <a:p>
            <a:pPr lvl="1"/>
            <a:r>
              <a:rPr lang="ru-RU" dirty="0"/>
              <a:t>может быть отключено, но обычно это плохая идея</a:t>
            </a:r>
          </a:p>
          <a:p>
            <a:r>
              <a:rPr lang="ru-RU" dirty="0"/>
              <a:t>Чего UDP не делает:</a:t>
            </a:r>
          </a:p>
          <a:p>
            <a:pPr lvl="1"/>
            <a:r>
              <a:rPr lang="ru-RU" dirty="0"/>
              <a:t>нет управления потоком</a:t>
            </a:r>
          </a:p>
          <a:p>
            <a:pPr lvl="1"/>
            <a:r>
              <a:rPr lang="ru-RU" dirty="0"/>
              <a:t>нет контроля перегрузки</a:t>
            </a:r>
          </a:p>
          <a:p>
            <a:pPr lvl="1"/>
            <a:r>
              <a:rPr lang="ru-RU" dirty="0"/>
              <a:t>нет повторной передачи</a:t>
            </a:r>
          </a:p>
          <a:p>
            <a:r>
              <a:rPr lang="ru-RU" dirty="0"/>
              <a:t>Типичный сценарий: короткий запрос → короткий ответ</a:t>
            </a:r>
          </a:p>
          <a:p>
            <a:pPr lvl="1"/>
            <a:r>
              <a:rPr lang="ru-RU" dirty="0"/>
              <a:t>пример: DNS (запрос имени → ответ с IP-адресом)</a:t>
            </a:r>
          </a:p>
          <a:p>
            <a:endParaRPr lang="en-US" dirty="0"/>
          </a:p>
        </p:txBody>
      </p:sp>
      <p:pic>
        <p:nvPicPr>
          <p:cNvPr id="9" name="Content Placeholder 8">
            <a:extLst>
              <a:ext uri="{FF2B5EF4-FFF2-40B4-BE49-F238E27FC236}">
                <a16:creationId xmlns:a16="http://schemas.microsoft.com/office/drawing/2014/main" id="{7047A401-95F9-0CD3-921B-0256F7B42EB1}"/>
              </a:ext>
            </a:extLst>
          </p:cNvPr>
          <p:cNvPicPr>
            <a:picLocks noGrp="1" noChangeAspect="1"/>
          </p:cNvPicPr>
          <p:nvPr>
            <p:ph sz="half" idx="2"/>
          </p:nvPr>
        </p:nvPicPr>
        <p:blipFill>
          <a:blip r:embed="rId3"/>
          <a:stretch>
            <a:fillRect/>
          </a:stretch>
        </p:blipFill>
        <p:spPr>
          <a:xfrm>
            <a:off x="6904038" y="2438678"/>
            <a:ext cx="4449762" cy="836057"/>
          </a:xfrm>
          <a:prstGeom prst="rect">
            <a:avLst/>
          </a:prstGeom>
        </p:spPr>
      </p:pic>
      <p:pic>
        <p:nvPicPr>
          <p:cNvPr id="11" name="Content Placeholder 10">
            <a:extLst>
              <a:ext uri="{FF2B5EF4-FFF2-40B4-BE49-F238E27FC236}">
                <a16:creationId xmlns:a16="http://schemas.microsoft.com/office/drawing/2014/main" id="{3C47F680-ED32-13E0-318A-F59C1143F706}"/>
              </a:ext>
            </a:extLst>
          </p:cNvPr>
          <p:cNvPicPr>
            <a:picLocks noGrp="1" noChangeAspect="1"/>
          </p:cNvPicPr>
          <p:nvPr>
            <p:ph sz="half" idx="13"/>
          </p:nvPr>
        </p:nvPicPr>
        <p:blipFill>
          <a:blip r:embed="rId4"/>
          <a:stretch>
            <a:fillRect/>
          </a:stretch>
        </p:blipFill>
        <p:spPr>
          <a:xfrm>
            <a:off x="6904038" y="4314621"/>
            <a:ext cx="4449762" cy="1614896"/>
          </a:xfrm>
          <a:prstGeom prst="rect">
            <a:avLst/>
          </a:prstGeom>
        </p:spPr>
      </p:pic>
    </p:spTree>
    <p:extLst>
      <p:ext uri="{BB962C8B-B14F-4D97-AF65-F5344CB8AC3E}">
        <p14:creationId xmlns:p14="http://schemas.microsoft.com/office/powerpoint/2010/main" val="149256084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D10AB03-12A6-E289-6B3C-9E5C08A647F1}"/>
              </a:ext>
            </a:extLst>
          </p:cNvPr>
          <p:cNvSpPr>
            <a:spLocks noGrp="1"/>
          </p:cNvSpPr>
          <p:nvPr>
            <p:ph type="title"/>
          </p:nvPr>
        </p:nvSpPr>
        <p:spPr/>
        <p:txBody>
          <a:bodyPr/>
          <a:lstStyle/>
          <a:p>
            <a:r>
              <a:rPr lang="ru-RU" dirty="0"/>
              <a:t>TCP – </a:t>
            </a:r>
            <a:r>
              <a:rPr lang="en-US" dirty="0"/>
              <a:t>Transmission Control Protocol</a:t>
            </a:r>
          </a:p>
        </p:txBody>
      </p:sp>
      <p:sp>
        <p:nvSpPr>
          <p:cNvPr id="7" name="Content Placeholder 6">
            <a:extLst>
              <a:ext uri="{FF2B5EF4-FFF2-40B4-BE49-F238E27FC236}">
                <a16:creationId xmlns:a16="http://schemas.microsoft.com/office/drawing/2014/main" id="{1BDE5955-C5A2-9972-E89D-135B7FE3F7BC}"/>
              </a:ext>
            </a:extLst>
          </p:cNvPr>
          <p:cNvSpPr>
            <a:spLocks noGrp="1"/>
          </p:cNvSpPr>
          <p:nvPr>
            <p:ph idx="1"/>
          </p:nvPr>
        </p:nvSpPr>
        <p:spPr/>
        <p:txBody>
          <a:bodyPr>
            <a:normAutofit fontScale="85000" lnSpcReduction="20000"/>
          </a:bodyPr>
          <a:lstStyle/>
          <a:p>
            <a:r>
              <a:rPr lang="ru-RU" dirty="0"/>
              <a:t>Транспортный протокол с установлением соединения. Обеспечивает надежный, упорядоченный байтовый поток поверх ненадёжной IP-сети</a:t>
            </a:r>
          </a:p>
          <a:p>
            <a:r>
              <a:rPr lang="ru-RU" dirty="0"/>
              <a:t>Основные задачи TCP</a:t>
            </a:r>
          </a:p>
          <a:p>
            <a:pPr lvl="1"/>
            <a:r>
              <a:rPr lang="ru-RU" dirty="0"/>
              <a:t>делит поток данных на сегменты, инкапсулирует в IP-дейтаграммы</a:t>
            </a:r>
          </a:p>
          <a:p>
            <a:pPr lvl="1"/>
            <a:r>
              <a:rPr lang="ru-RU" dirty="0"/>
              <a:t>восстанавливает байтовый поток на приёмнике</a:t>
            </a:r>
          </a:p>
          <a:p>
            <a:pPr lvl="1"/>
            <a:r>
              <a:rPr lang="ru-RU" dirty="0"/>
              <a:t>выполняет повторные передачи, если сегменты теряются</a:t>
            </a:r>
          </a:p>
          <a:p>
            <a:pPr lvl="1"/>
            <a:r>
              <a:rPr lang="ru-RU" dirty="0"/>
              <a:t>управляет скоростью отправки, чтобы не перегрузить сеть</a:t>
            </a:r>
          </a:p>
          <a:p>
            <a:r>
              <a:rPr lang="ru-RU" dirty="0"/>
              <a:t>Реализация</a:t>
            </a:r>
          </a:p>
          <a:p>
            <a:pPr lvl="1"/>
            <a:r>
              <a:rPr lang="ru-RU" dirty="0"/>
              <a:t>TCP-подсистема обычно встроена в ядро ОС</a:t>
            </a:r>
          </a:p>
          <a:p>
            <a:pPr lvl="1"/>
            <a:r>
              <a:rPr lang="ru-RU" dirty="0"/>
              <a:t>приложения используют её через сокеты</a:t>
            </a:r>
          </a:p>
          <a:p>
            <a:r>
              <a:rPr lang="ru-RU" dirty="0"/>
              <a:t>Зачем он нужен</a:t>
            </a:r>
          </a:p>
          <a:p>
            <a:pPr lvl="1"/>
            <a:r>
              <a:rPr lang="ru-RU" dirty="0"/>
              <a:t>IP не гарантирует доставку и порядок</a:t>
            </a:r>
          </a:p>
          <a:p>
            <a:pPr lvl="1"/>
            <a:r>
              <a:rPr lang="ru-RU" dirty="0"/>
              <a:t>TCP добавляет поверх IP то, что нужно большинству приложений: «как будто есть идеальный надёжный канал»</a:t>
            </a:r>
          </a:p>
        </p:txBody>
      </p:sp>
    </p:spTree>
    <p:extLst>
      <p:ext uri="{BB962C8B-B14F-4D97-AF65-F5344CB8AC3E}">
        <p14:creationId xmlns:p14="http://schemas.microsoft.com/office/powerpoint/2010/main" val="48016782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5C46D-6B54-22F8-39AB-8D9D08F6423B}"/>
              </a:ext>
            </a:extLst>
          </p:cNvPr>
          <p:cNvSpPr>
            <a:spLocks noGrp="1"/>
          </p:cNvSpPr>
          <p:nvPr>
            <p:ph type="title"/>
          </p:nvPr>
        </p:nvSpPr>
        <p:spPr/>
        <p:txBody>
          <a:bodyPr/>
          <a:lstStyle/>
          <a:p>
            <a:r>
              <a:rPr lang="ru-RU" dirty="0"/>
              <a:t>Модель службы TCP</a:t>
            </a:r>
            <a:endParaRPr lang="en-US" dirty="0"/>
          </a:p>
        </p:txBody>
      </p:sp>
      <p:sp>
        <p:nvSpPr>
          <p:cNvPr id="3" name="Content Placeholder 2">
            <a:extLst>
              <a:ext uri="{FF2B5EF4-FFF2-40B4-BE49-F238E27FC236}">
                <a16:creationId xmlns:a16="http://schemas.microsoft.com/office/drawing/2014/main" id="{C430A2D6-B45B-A407-5B73-20840312FD51}"/>
              </a:ext>
            </a:extLst>
          </p:cNvPr>
          <p:cNvSpPr>
            <a:spLocks noGrp="1"/>
          </p:cNvSpPr>
          <p:nvPr>
            <p:ph idx="1"/>
          </p:nvPr>
        </p:nvSpPr>
        <p:spPr/>
        <p:txBody>
          <a:bodyPr>
            <a:normAutofit fontScale="62500" lnSpcReduction="20000"/>
          </a:bodyPr>
          <a:lstStyle/>
          <a:p>
            <a:r>
              <a:rPr lang="ru-RU" dirty="0"/>
              <a:t>Сокеты TCP</a:t>
            </a:r>
          </a:p>
          <a:p>
            <a:pPr lvl="1"/>
            <a:r>
              <a:rPr lang="ru-RU" dirty="0"/>
              <a:t>сокет = IP-адрес хоста + 16-битный порт</a:t>
            </a:r>
          </a:p>
          <a:p>
            <a:pPr lvl="1"/>
            <a:r>
              <a:rPr lang="ru-RU" dirty="0"/>
              <a:t>порт в TCP = TSAP-адрес</a:t>
            </a:r>
          </a:p>
          <a:p>
            <a:pPr lvl="1"/>
            <a:r>
              <a:rPr lang="ru-RU" dirty="0"/>
              <a:t>одно и то же приложение может обслуживать несколько соединений на одном порту</a:t>
            </a:r>
          </a:p>
          <a:p>
            <a:r>
              <a:rPr lang="ru-RU" dirty="0"/>
              <a:t>Порты и демоны</a:t>
            </a:r>
          </a:p>
          <a:p>
            <a:pPr lvl="1"/>
            <a:r>
              <a:rPr lang="ru-RU" dirty="0"/>
              <a:t>0–1023 — известные порты (HTTP 80, SSH 22, IMAP 143 и т.п.)</a:t>
            </a:r>
          </a:p>
          <a:p>
            <a:pPr lvl="1"/>
            <a:r>
              <a:rPr lang="ru-RU" dirty="0" err="1"/>
              <a:t>inetd</a:t>
            </a:r>
            <a:r>
              <a:rPr lang="ru-RU" dirty="0"/>
              <a:t> в UNIX слушает сразу много портов и по требованию запускает нужный сервер</a:t>
            </a:r>
          </a:p>
          <a:p>
            <a:r>
              <a:rPr lang="ru-RU" dirty="0"/>
              <a:t>Характеристики TCP-соединения</a:t>
            </a:r>
          </a:p>
          <a:p>
            <a:pPr lvl="1"/>
            <a:r>
              <a:rPr lang="ru-RU" dirty="0"/>
              <a:t>полнодуплексное: данные могут идти одновременно в обе стороны</a:t>
            </a:r>
          </a:p>
          <a:p>
            <a:pPr lvl="1"/>
            <a:r>
              <a:rPr lang="ru-RU" dirty="0"/>
              <a:t>двухточечное: только два конца, нет </a:t>
            </a:r>
            <a:r>
              <a:rPr lang="ru-RU" dirty="0" err="1"/>
              <a:t>broadcast</a:t>
            </a:r>
            <a:r>
              <a:rPr lang="ru-RU" dirty="0"/>
              <a:t> и </a:t>
            </a:r>
            <a:r>
              <a:rPr lang="ru-RU" dirty="0" err="1"/>
              <a:t>multicast</a:t>
            </a:r>
            <a:endParaRPr lang="ru-RU" dirty="0"/>
          </a:p>
          <a:p>
            <a:r>
              <a:rPr lang="ru-RU" dirty="0"/>
              <a:t>Байтовый поток, а не сообщения</a:t>
            </a:r>
          </a:p>
          <a:p>
            <a:pPr lvl="1"/>
            <a:r>
              <a:rPr lang="ru-RU" dirty="0"/>
              <a:t>TCP видит данные как непрерывный поток байт, а не отдельные сообщения</a:t>
            </a:r>
          </a:p>
          <a:p>
            <a:pPr lvl="1"/>
            <a:r>
              <a:rPr lang="ru-RU" dirty="0"/>
              <a:t>границы </a:t>
            </a:r>
            <a:r>
              <a:rPr lang="ru-RU" dirty="0" err="1"/>
              <a:t>write</a:t>
            </a:r>
            <a:r>
              <a:rPr lang="ru-RU" dirty="0"/>
              <a:t>() у отправителя не совпадают с границами </a:t>
            </a:r>
            <a:r>
              <a:rPr lang="ru-RU" dirty="0" err="1"/>
              <a:t>read</a:t>
            </a:r>
            <a:r>
              <a:rPr lang="ru-RU" dirty="0"/>
              <a:t>() у получателя</a:t>
            </a:r>
          </a:p>
          <a:p>
            <a:r>
              <a:rPr lang="ru-RU" dirty="0"/>
              <a:t>Управление буферизацией и «срочностью»</a:t>
            </a:r>
          </a:p>
          <a:p>
            <a:pPr lvl="1"/>
            <a:r>
              <a:rPr lang="ru-RU" dirty="0"/>
              <a:t>TCP может буферизовать данные и отправлять их крупнее, чем приложение пишет</a:t>
            </a:r>
          </a:p>
          <a:p>
            <a:pPr lvl="1"/>
            <a:r>
              <a:rPr lang="ru-RU" dirty="0"/>
              <a:t>флаг PUSH / опции (типа </a:t>
            </a:r>
            <a:r>
              <a:rPr lang="ru-RU" i="1" dirty="0"/>
              <a:t>TCP_NODELAY</a:t>
            </a:r>
            <a:r>
              <a:rPr lang="ru-RU" dirty="0"/>
              <a:t>) позволяют отправлять сразу, без задержки</a:t>
            </a:r>
          </a:p>
          <a:p>
            <a:pPr lvl="1"/>
            <a:r>
              <a:rPr lang="ru-RU" dirty="0"/>
              <a:t>есть устаревший механизм срочных данных (URGENT) — почти не используется из-за различий реализации</a:t>
            </a:r>
          </a:p>
          <a:p>
            <a:endParaRPr lang="en-US" dirty="0"/>
          </a:p>
        </p:txBody>
      </p:sp>
      <p:pic>
        <p:nvPicPr>
          <p:cNvPr id="5" name="Picture 4">
            <a:extLst>
              <a:ext uri="{FF2B5EF4-FFF2-40B4-BE49-F238E27FC236}">
                <a16:creationId xmlns:a16="http://schemas.microsoft.com/office/drawing/2014/main" id="{AA5FB98C-52F1-E687-30FF-60617618CF83}"/>
              </a:ext>
            </a:extLst>
          </p:cNvPr>
          <p:cNvPicPr>
            <a:picLocks noChangeAspect="1"/>
          </p:cNvPicPr>
          <p:nvPr/>
        </p:nvPicPr>
        <p:blipFill>
          <a:blip r:embed="rId3"/>
          <a:stretch>
            <a:fillRect/>
          </a:stretch>
        </p:blipFill>
        <p:spPr>
          <a:xfrm>
            <a:off x="6362700" y="681038"/>
            <a:ext cx="5594283" cy="1522838"/>
          </a:xfrm>
          <a:prstGeom prst="rect">
            <a:avLst/>
          </a:prstGeom>
        </p:spPr>
      </p:pic>
    </p:spTree>
    <p:extLst>
      <p:ext uri="{BB962C8B-B14F-4D97-AF65-F5344CB8AC3E}">
        <p14:creationId xmlns:p14="http://schemas.microsoft.com/office/powerpoint/2010/main" val="339190119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8482E-1ADE-9C82-C000-78BD168D049E}"/>
              </a:ext>
            </a:extLst>
          </p:cNvPr>
          <p:cNvSpPr>
            <a:spLocks noGrp="1"/>
          </p:cNvSpPr>
          <p:nvPr>
            <p:ph type="title"/>
          </p:nvPr>
        </p:nvSpPr>
        <p:spPr/>
        <p:txBody>
          <a:bodyPr/>
          <a:lstStyle/>
          <a:p>
            <a:r>
              <a:rPr lang="ru-RU" dirty="0"/>
              <a:t>TCP: общая идея работы</a:t>
            </a:r>
            <a:endParaRPr lang="en-US" dirty="0"/>
          </a:p>
        </p:txBody>
      </p:sp>
      <p:sp>
        <p:nvSpPr>
          <p:cNvPr id="3" name="Content Placeholder 2">
            <a:extLst>
              <a:ext uri="{FF2B5EF4-FFF2-40B4-BE49-F238E27FC236}">
                <a16:creationId xmlns:a16="http://schemas.microsoft.com/office/drawing/2014/main" id="{02C17F22-E09D-D396-4F86-BCF64A11C36D}"/>
              </a:ext>
            </a:extLst>
          </p:cNvPr>
          <p:cNvSpPr>
            <a:spLocks noGrp="1"/>
          </p:cNvSpPr>
          <p:nvPr>
            <p:ph idx="1"/>
          </p:nvPr>
        </p:nvSpPr>
        <p:spPr/>
        <p:txBody>
          <a:bodyPr>
            <a:normAutofit fontScale="62500" lnSpcReduction="20000"/>
          </a:bodyPr>
          <a:lstStyle/>
          <a:p>
            <a:r>
              <a:rPr lang="ru-RU" dirty="0"/>
              <a:t>Нумерация байтов. У </a:t>
            </a:r>
            <a:r>
              <a:rPr lang="ru-RU" i="1" dirty="0"/>
              <a:t>каждого байта</a:t>
            </a:r>
            <a:r>
              <a:rPr lang="ru-RU" dirty="0"/>
              <a:t> потока TCP свой 32-битный порядковый номер, эти номера используются и для подтверждений, и для раздвижного окна.</a:t>
            </a:r>
          </a:p>
          <a:p>
            <a:r>
              <a:rPr lang="ru-RU" dirty="0"/>
              <a:t>TCP-сегменты</a:t>
            </a:r>
          </a:p>
          <a:p>
            <a:pPr lvl="1"/>
            <a:r>
              <a:rPr lang="ru-RU" dirty="0"/>
              <a:t>сегмент = заголовок (минимум 20 байт) + данные</a:t>
            </a:r>
          </a:p>
          <a:p>
            <a:pPr lvl="1"/>
            <a:r>
              <a:rPr lang="ru-RU" dirty="0"/>
              <a:t>TCP сам решает, как разбить поток: одна </a:t>
            </a:r>
            <a:r>
              <a:rPr lang="ru-RU" dirty="0" err="1"/>
              <a:t>write</a:t>
            </a:r>
            <a:r>
              <a:rPr lang="ru-RU" dirty="0"/>
              <a:t>() → несколько сегментов, несколько </a:t>
            </a:r>
            <a:r>
              <a:rPr lang="ru-RU" dirty="0" err="1"/>
              <a:t>write</a:t>
            </a:r>
            <a:r>
              <a:rPr lang="ru-RU" dirty="0"/>
              <a:t>() → один сегмент</a:t>
            </a:r>
          </a:p>
          <a:p>
            <a:r>
              <a:rPr lang="ru-RU" dirty="0"/>
              <a:t>Размер сегмента и MTU</a:t>
            </a:r>
          </a:p>
          <a:p>
            <a:pPr lvl="1"/>
            <a:r>
              <a:rPr lang="ru-RU" dirty="0"/>
              <a:t>максимум: вписаться в 65 515 байт данных IP</a:t>
            </a:r>
          </a:p>
          <a:p>
            <a:pPr lvl="1"/>
            <a:r>
              <a:rPr lang="ru-RU" dirty="0"/>
              <a:t>на практике ограничение — MTU канала (обычно 1500 байт для Ethernet)</a:t>
            </a:r>
          </a:p>
          <a:p>
            <a:pPr lvl="1"/>
            <a:r>
              <a:rPr lang="ru-RU" dirty="0"/>
              <a:t>чтобы избежать IP-фрагментации, TCP использует обнаружение MTU маршрута (</a:t>
            </a:r>
            <a:r>
              <a:rPr lang="ru-RU" dirty="0" err="1"/>
              <a:t>Path</a:t>
            </a:r>
            <a:r>
              <a:rPr lang="ru-RU" dirty="0"/>
              <a:t> MTU Discovery по ICMP)</a:t>
            </a:r>
          </a:p>
          <a:p>
            <a:r>
              <a:rPr lang="ru-RU" dirty="0"/>
              <a:t>Раздвижное окно и таймеры</a:t>
            </a:r>
          </a:p>
          <a:p>
            <a:pPr lvl="1"/>
            <a:r>
              <a:rPr lang="ru-RU" dirty="0"/>
              <a:t>отправитель ведёт скользящее окно и ставит таймер на каждый сегмент</a:t>
            </a:r>
          </a:p>
          <a:p>
            <a:pPr lvl="1"/>
            <a:r>
              <a:rPr lang="ru-RU" dirty="0"/>
              <a:t>получатель отправляет ACK с номером следующего ожидаемого байта и новым размером окна</a:t>
            </a:r>
          </a:p>
          <a:p>
            <a:pPr lvl="1"/>
            <a:r>
              <a:rPr lang="ru-RU" dirty="0"/>
              <a:t>если ACK не пришёл вовремя — повторная передача</a:t>
            </a:r>
          </a:p>
          <a:p>
            <a:r>
              <a:rPr lang="ru-RU" dirty="0"/>
              <a:t>Проблемы, которые приходится решать TCP</a:t>
            </a:r>
          </a:p>
          <a:p>
            <a:pPr lvl="1"/>
            <a:r>
              <a:rPr lang="ru-RU" dirty="0"/>
              <a:t>сегменты приходят не по порядку, могут дублироваться и сильно задерживаться</a:t>
            </a:r>
          </a:p>
          <a:p>
            <a:pPr lvl="1"/>
            <a:r>
              <a:rPr lang="ru-RU" dirty="0"/>
              <a:t>нужно аккуратно следить, какие байты уже приняты, какие ещё нет</a:t>
            </a:r>
          </a:p>
          <a:p>
            <a:pPr lvl="1"/>
            <a:r>
              <a:rPr lang="ru-RU" dirty="0"/>
              <a:t>вокруг оптимизации этих алгоритмов и крутится большая часть эволюции TCP</a:t>
            </a:r>
          </a:p>
        </p:txBody>
      </p:sp>
    </p:spTree>
    <p:extLst>
      <p:ext uri="{BB962C8B-B14F-4D97-AF65-F5344CB8AC3E}">
        <p14:creationId xmlns:p14="http://schemas.microsoft.com/office/powerpoint/2010/main" val="309245160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3D60D-9DB9-7498-073A-F432E451F426}"/>
              </a:ext>
            </a:extLst>
          </p:cNvPr>
          <p:cNvSpPr>
            <a:spLocks noGrp="1"/>
          </p:cNvSpPr>
          <p:nvPr>
            <p:ph type="title"/>
          </p:nvPr>
        </p:nvSpPr>
        <p:spPr/>
        <p:txBody>
          <a:bodyPr/>
          <a:lstStyle/>
          <a:p>
            <a:r>
              <a:rPr lang="ru-RU" dirty="0"/>
              <a:t>Заголовок </a:t>
            </a:r>
            <a:r>
              <a:rPr lang="en-US" dirty="0"/>
              <a:t>TCP-</a:t>
            </a:r>
            <a:r>
              <a:rPr lang="ru-RU" dirty="0"/>
              <a:t>сегмента</a:t>
            </a:r>
            <a:endParaRPr lang="en-US" dirty="0"/>
          </a:p>
        </p:txBody>
      </p:sp>
      <p:pic>
        <p:nvPicPr>
          <p:cNvPr id="5" name="Content Placeholder 4">
            <a:extLst>
              <a:ext uri="{FF2B5EF4-FFF2-40B4-BE49-F238E27FC236}">
                <a16:creationId xmlns:a16="http://schemas.microsoft.com/office/drawing/2014/main" id="{1A670390-06BD-EE6B-047C-6F77215170D9}"/>
              </a:ext>
            </a:extLst>
          </p:cNvPr>
          <p:cNvPicPr>
            <a:picLocks noGrp="1" noChangeAspect="1"/>
          </p:cNvPicPr>
          <p:nvPr>
            <p:ph idx="1"/>
          </p:nvPr>
        </p:nvPicPr>
        <p:blipFill>
          <a:blip r:embed="rId3"/>
          <a:stretch>
            <a:fillRect/>
          </a:stretch>
        </p:blipFill>
        <p:spPr>
          <a:xfrm>
            <a:off x="2239368" y="1352406"/>
            <a:ext cx="7713264" cy="5297776"/>
          </a:xfrm>
          <a:prstGeom prst="rect">
            <a:avLst/>
          </a:prstGeom>
        </p:spPr>
      </p:pic>
    </p:spTree>
    <p:extLst>
      <p:ext uri="{BB962C8B-B14F-4D97-AF65-F5344CB8AC3E}">
        <p14:creationId xmlns:p14="http://schemas.microsoft.com/office/powerpoint/2010/main" val="338684997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24D8F-AC56-2086-AF18-1B816184E212}"/>
              </a:ext>
            </a:extLst>
          </p:cNvPr>
          <p:cNvSpPr>
            <a:spLocks noGrp="1"/>
          </p:cNvSpPr>
          <p:nvPr>
            <p:ph type="title"/>
          </p:nvPr>
        </p:nvSpPr>
        <p:spPr/>
        <p:txBody>
          <a:bodyPr/>
          <a:lstStyle/>
          <a:p>
            <a:r>
              <a:rPr lang="ru-RU" dirty="0"/>
              <a:t>Опции </a:t>
            </a:r>
            <a:r>
              <a:rPr lang="en-US" dirty="0"/>
              <a:t>TCP</a:t>
            </a:r>
          </a:p>
        </p:txBody>
      </p:sp>
      <p:sp>
        <p:nvSpPr>
          <p:cNvPr id="3" name="Content Placeholder 2">
            <a:extLst>
              <a:ext uri="{FF2B5EF4-FFF2-40B4-BE49-F238E27FC236}">
                <a16:creationId xmlns:a16="http://schemas.microsoft.com/office/drawing/2014/main" id="{DFF65BFA-2DF2-0491-9F5D-ECEC4A8C2D4D}"/>
              </a:ext>
            </a:extLst>
          </p:cNvPr>
          <p:cNvSpPr>
            <a:spLocks noGrp="1"/>
          </p:cNvSpPr>
          <p:nvPr>
            <p:ph idx="1"/>
          </p:nvPr>
        </p:nvSpPr>
        <p:spPr/>
        <p:txBody>
          <a:bodyPr/>
          <a:lstStyle/>
          <a:p>
            <a:r>
              <a:rPr lang="ru-RU" dirty="0"/>
              <a:t>MSS (</a:t>
            </a:r>
            <a:r>
              <a:rPr lang="ru-RU" dirty="0" err="1"/>
              <a:t>Maximum</a:t>
            </a:r>
            <a:r>
              <a:rPr lang="ru-RU" dirty="0"/>
              <a:t> </a:t>
            </a:r>
            <a:r>
              <a:rPr lang="ru-RU" dirty="0" err="1"/>
              <a:t>Segment</a:t>
            </a:r>
            <a:r>
              <a:rPr lang="ru-RU" dirty="0"/>
              <a:t> </a:t>
            </a:r>
            <a:r>
              <a:rPr lang="ru-RU" dirty="0" err="1"/>
              <a:t>Size</a:t>
            </a:r>
            <a:r>
              <a:rPr lang="ru-RU" dirty="0"/>
              <a:t>) — максимальный размер сегмента, который хост готов принять</a:t>
            </a:r>
          </a:p>
          <a:p>
            <a:r>
              <a:rPr lang="ru-RU" dirty="0"/>
              <a:t>Масштаб окна (</a:t>
            </a:r>
            <a:r>
              <a:rPr lang="ru-RU" dirty="0" err="1"/>
              <a:t>Window</a:t>
            </a:r>
            <a:r>
              <a:rPr lang="ru-RU" dirty="0"/>
              <a:t> </a:t>
            </a:r>
            <a:r>
              <a:rPr lang="ru-RU" dirty="0" err="1"/>
              <a:t>scale</a:t>
            </a:r>
            <a:r>
              <a:rPr lang="ru-RU" dirty="0"/>
              <a:t>) — логическое увеличение окна TCP сверх 64 КБ</a:t>
            </a:r>
          </a:p>
          <a:p>
            <a:r>
              <a:rPr lang="ru-RU" dirty="0"/>
              <a:t>Временные метки (</a:t>
            </a:r>
            <a:r>
              <a:rPr lang="ru-RU" dirty="0" err="1"/>
              <a:t>Timestamps</a:t>
            </a:r>
            <a:r>
              <a:rPr lang="ru-RU" dirty="0"/>
              <a:t>) и PAWS обеспечивают точный RTT</a:t>
            </a:r>
            <a:r>
              <a:rPr lang="en-US" dirty="0"/>
              <a:t> (Round-Trip Time)</a:t>
            </a:r>
            <a:r>
              <a:rPr lang="ru-RU" dirty="0"/>
              <a:t> и защита от «зацикленных» номеров</a:t>
            </a:r>
          </a:p>
          <a:p>
            <a:r>
              <a:rPr lang="ru-RU" dirty="0"/>
              <a:t>SACK (</a:t>
            </a:r>
            <a:r>
              <a:rPr lang="ru-RU" dirty="0" err="1"/>
              <a:t>Selective</a:t>
            </a:r>
            <a:r>
              <a:rPr lang="ru-RU" dirty="0"/>
              <a:t> ACK) — выборочное подтверждение полученных диапазонов данных</a:t>
            </a:r>
          </a:p>
          <a:p>
            <a:endParaRPr lang="en-US" dirty="0"/>
          </a:p>
        </p:txBody>
      </p:sp>
    </p:spTree>
    <p:extLst>
      <p:ext uri="{BB962C8B-B14F-4D97-AF65-F5344CB8AC3E}">
        <p14:creationId xmlns:p14="http://schemas.microsoft.com/office/powerpoint/2010/main" val="218091515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760DA96-B335-FC1E-D09A-285A197640BD}"/>
              </a:ext>
            </a:extLst>
          </p:cNvPr>
          <p:cNvSpPr>
            <a:spLocks noGrp="1"/>
          </p:cNvSpPr>
          <p:nvPr>
            <p:ph type="title"/>
          </p:nvPr>
        </p:nvSpPr>
        <p:spPr/>
        <p:txBody>
          <a:bodyPr>
            <a:normAutofit/>
          </a:bodyPr>
          <a:lstStyle/>
          <a:p>
            <a:r>
              <a:rPr lang="ru-RU" dirty="0"/>
              <a:t>Установка TCP-соединения (трёхстороннее рукопожатие)</a:t>
            </a:r>
            <a:endParaRPr lang="en-US" dirty="0"/>
          </a:p>
        </p:txBody>
      </p:sp>
      <p:sp>
        <p:nvSpPr>
          <p:cNvPr id="7" name="Content Placeholder 6">
            <a:extLst>
              <a:ext uri="{FF2B5EF4-FFF2-40B4-BE49-F238E27FC236}">
                <a16:creationId xmlns:a16="http://schemas.microsoft.com/office/drawing/2014/main" id="{74F4ADB4-7BB5-31B3-18A3-5E0881DEC795}"/>
              </a:ext>
            </a:extLst>
          </p:cNvPr>
          <p:cNvSpPr>
            <a:spLocks noGrp="1"/>
          </p:cNvSpPr>
          <p:nvPr>
            <p:ph sz="half" idx="1"/>
          </p:nvPr>
        </p:nvSpPr>
        <p:spPr>
          <a:xfrm>
            <a:off x="838200" y="1825625"/>
            <a:ext cx="6343996" cy="4351338"/>
          </a:xfrm>
        </p:spPr>
        <p:txBody>
          <a:bodyPr>
            <a:normAutofit fontScale="92500" lnSpcReduction="20000"/>
          </a:bodyPr>
          <a:lstStyle/>
          <a:p>
            <a:r>
              <a:rPr lang="ru-RU" dirty="0"/>
              <a:t>TCP использует трёхстороннее рукопожатие: SYN → SYN+ACK → ACK</a:t>
            </a:r>
          </a:p>
          <a:p>
            <a:r>
              <a:rPr lang="ru-RU" dirty="0"/>
              <a:t>Сервер пассивно ждёт: LISTEN → ACCEPT; клиент активен: CONNECT</a:t>
            </a:r>
          </a:p>
          <a:p>
            <a:r>
              <a:rPr lang="ru-RU" dirty="0"/>
              <a:t>При отсутствии слушающего процесса хост отвечает RST (отказ в соединении)</a:t>
            </a:r>
          </a:p>
          <a:p>
            <a:r>
              <a:rPr lang="ru-RU" dirty="0"/>
              <a:t>Начальные номера последовательностей меняются во времени для защиты от старых пакетов</a:t>
            </a:r>
          </a:p>
          <a:p>
            <a:r>
              <a:rPr lang="ru-RU" dirty="0"/>
              <a:t>Атаки SYN </a:t>
            </a:r>
            <a:r>
              <a:rPr lang="ru-RU" dirty="0" err="1"/>
              <a:t>flood</a:t>
            </a:r>
            <a:r>
              <a:rPr lang="ru-RU" dirty="0"/>
              <a:t> и защита с помощью SYN </a:t>
            </a:r>
            <a:r>
              <a:rPr lang="ru-RU" dirty="0" err="1"/>
              <a:t>cookies</a:t>
            </a:r>
            <a:endParaRPr lang="ru-RU" dirty="0"/>
          </a:p>
          <a:p>
            <a:pPr lvl="1"/>
            <a:r>
              <a:rPr lang="ru-RU" dirty="0"/>
              <a:t>не храним состояние до финального ACK</a:t>
            </a:r>
          </a:p>
        </p:txBody>
      </p:sp>
      <p:pic>
        <p:nvPicPr>
          <p:cNvPr id="10" name="Content Placeholder 9">
            <a:extLst>
              <a:ext uri="{FF2B5EF4-FFF2-40B4-BE49-F238E27FC236}">
                <a16:creationId xmlns:a16="http://schemas.microsoft.com/office/drawing/2014/main" id="{8C51003F-9657-A0C0-FCEE-C5C5CC2AEF1C}"/>
              </a:ext>
            </a:extLst>
          </p:cNvPr>
          <p:cNvPicPr>
            <a:picLocks noGrp="1" noChangeAspect="1"/>
          </p:cNvPicPr>
          <p:nvPr>
            <p:ph sz="half" idx="2"/>
          </p:nvPr>
        </p:nvPicPr>
        <p:blipFill>
          <a:blip r:embed="rId3"/>
          <a:stretch>
            <a:fillRect/>
          </a:stretch>
        </p:blipFill>
        <p:spPr>
          <a:xfrm>
            <a:off x="7398326" y="1804758"/>
            <a:ext cx="4520739" cy="2834173"/>
          </a:xfrm>
          <a:prstGeom prst="rect">
            <a:avLst/>
          </a:prstGeom>
        </p:spPr>
      </p:pic>
    </p:spTree>
    <p:extLst>
      <p:ext uri="{BB962C8B-B14F-4D97-AF65-F5344CB8AC3E}">
        <p14:creationId xmlns:p14="http://schemas.microsoft.com/office/powerpoint/2010/main" val="9273741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269173D-6B7F-16FD-7552-C5596DB8C1CE}"/>
              </a:ext>
            </a:extLst>
          </p:cNvPr>
          <p:cNvSpPr>
            <a:spLocks noGrp="1"/>
          </p:cNvSpPr>
          <p:nvPr>
            <p:ph type="title"/>
          </p:nvPr>
        </p:nvSpPr>
        <p:spPr/>
        <p:txBody>
          <a:bodyPr/>
          <a:lstStyle/>
          <a:p>
            <a:r>
              <a:rPr lang="ru-RU" dirty="0"/>
              <a:t>Конечный автомат </a:t>
            </a:r>
            <a:r>
              <a:rPr lang="en-US" dirty="0"/>
              <a:t>TCP-</a:t>
            </a:r>
            <a:r>
              <a:rPr lang="ru-RU" dirty="0"/>
              <a:t>соединения</a:t>
            </a:r>
            <a:endParaRPr lang="en-US" dirty="0"/>
          </a:p>
        </p:txBody>
      </p:sp>
      <p:pic>
        <p:nvPicPr>
          <p:cNvPr id="11" name="Content Placeholder 5">
            <a:extLst>
              <a:ext uri="{FF2B5EF4-FFF2-40B4-BE49-F238E27FC236}">
                <a16:creationId xmlns:a16="http://schemas.microsoft.com/office/drawing/2014/main" id="{3117A6BE-FE4C-1702-F3BB-8CEC41B9098F}"/>
              </a:ext>
            </a:extLst>
          </p:cNvPr>
          <p:cNvPicPr>
            <a:picLocks noGrp="1" noChangeAspect="1"/>
          </p:cNvPicPr>
          <p:nvPr>
            <p:ph idx="1"/>
          </p:nvPr>
        </p:nvPicPr>
        <p:blipFill>
          <a:blip r:embed="rId3"/>
          <a:stretch>
            <a:fillRect/>
          </a:stretch>
        </p:blipFill>
        <p:spPr>
          <a:xfrm>
            <a:off x="3962399" y="1404890"/>
            <a:ext cx="4267202" cy="5192808"/>
          </a:xfrm>
          <a:prstGeom prst="rect">
            <a:avLst/>
          </a:prstGeom>
        </p:spPr>
      </p:pic>
    </p:spTree>
    <p:extLst>
      <p:ext uri="{BB962C8B-B14F-4D97-AF65-F5344CB8AC3E}">
        <p14:creationId xmlns:p14="http://schemas.microsoft.com/office/powerpoint/2010/main" val="125466657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5202D-EACE-FB47-F1BB-C736D07C37AD}"/>
              </a:ext>
            </a:extLst>
          </p:cNvPr>
          <p:cNvSpPr>
            <a:spLocks noGrp="1"/>
          </p:cNvSpPr>
          <p:nvPr>
            <p:ph type="title"/>
          </p:nvPr>
        </p:nvSpPr>
        <p:spPr/>
        <p:txBody>
          <a:bodyPr/>
          <a:lstStyle/>
          <a:p>
            <a:r>
              <a:rPr lang="ru-RU" dirty="0"/>
              <a:t>Транспортный уровень - итоги</a:t>
            </a:r>
            <a:endParaRPr lang="en-US" dirty="0"/>
          </a:p>
        </p:txBody>
      </p:sp>
      <p:sp>
        <p:nvSpPr>
          <p:cNvPr id="3" name="Content Placeholder 2">
            <a:extLst>
              <a:ext uri="{FF2B5EF4-FFF2-40B4-BE49-F238E27FC236}">
                <a16:creationId xmlns:a16="http://schemas.microsoft.com/office/drawing/2014/main" id="{FA83156B-AF01-DE5B-CD08-F8383B0F8A19}"/>
              </a:ext>
            </a:extLst>
          </p:cNvPr>
          <p:cNvSpPr>
            <a:spLocks noGrp="1"/>
          </p:cNvSpPr>
          <p:nvPr>
            <p:ph idx="1"/>
          </p:nvPr>
        </p:nvSpPr>
        <p:spPr/>
        <p:txBody>
          <a:bodyPr>
            <a:normAutofit fontScale="77500" lnSpcReduction="20000"/>
          </a:bodyPr>
          <a:lstStyle/>
          <a:p>
            <a:r>
              <a:rPr lang="ru-RU" dirty="0"/>
              <a:t>Обеспечивает сквозную передачу данных между процессами поверх ненадёжной сети</a:t>
            </a:r>
          </a:p>
          <a:p>
            <a:r>
              <a:rPr lang="ru-RU" dirty="0"/>
              <a:t>Даёт приложениям удобный интерфейс (сокеты, примитивы CONNECT / SEND / CLOSE и т.п.)</a:t>
            </a:r>
          </a:p>
          <a:p>
            <a:r>
              <a:rPr lang="ru-RU" dirty="0"/>
              <a:t>Решает задачи установления и разрыва соединений</a:t>
            </a:r>
          </a:p>
          <a:p>
            <a:r>
              <a:rPr lang="ru-RU" dirty="0"/>
              <a:t>Использует раздвижное окно и буферизацию</a:t>
            </a:r>
          </a:p>
          <a:p>
            <a:r>
              <a:rPr lang="ru-RU" dirty="0"/>
              <a:t>Выполняет контроль перегрузки и справедливое распределение пропускной способности</a:t>
            </a:r>
          </a:p>
          <a:p>
            <a:r>
              <a:rPr lang="ru-RU" dirty="0"/>
              <a:t>Основные протоколы:</a:t>
            </a:r>
          </a:p>
          <a:p>
            <a:pPr lvl="1"/>
            <a:r>
              <a:rPr lang="ru-RU" dirty="0"/>
              <a:t>UDP — простые дейтаграммы без надёжности, хорош для запрос/ответ и мультимедиа</a:t>
            </a:r>
          </a:p>
          <a:p>
            <a:pPr lvl="1"/>
            <a:r>
              <a:rPr lang="ru-RU" dirty="0"/>
              <a:t>TCP — надёжный дуплексный поток байтов с продвинутым управлением потоком</a:t>
            </a:r>
          </a:p>
          <a:p>
            <a:r>
              <a:rPr lang="ru-RU" dirty="0"/>
              <a:t>Современные улучшения (CUBIC TCP, QUIC, BBR и др.) адаптируют транспорт к высокоскоростным и сложным сетям</a:t>
            </a:r>
          </a:p>
        </p:txBody>
      </p:sp>
    </p:spTree>
    <p:extLst>
      <p:ext uri="{BB962C8B-B14F-4D97-AF65-F5344CB8AC3E}">
        <p14:creationId xmlns:p14="http://schemas.microsoft.com/office/powerpoint/2010/main" val="45495110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E75DC4-8606-45E9-35E7-F872285CAA75}"/>
              </a:ext>
            </a:extLst>
          </p:cNvPr>
          <p:cNvSpPr>
            <a:spLocks noGrp="1"/>
          </p:cNvSpPr>
          <p:nvPr>
            <p:ph type="title"/>
          </p:nvPr>
        </p:nvSpPr>
        <p:spPr/>
        <p:txBody>
          <a:bodyPr/>
          <a:lstStyle/>
          <a:p>
            <a:r>
              <a:rPr lang="ru-RU" dirty="0"/>
              <a:t>Прикладной уровень</a:t>
            </a:r>
            <a:endParaRPr lang="en-US" dirty="0"/>
          </a:p>
        </p:txBody>
      </p:sp>
      <p:sp>
        <p:nvSpPr>
          <p:cNvPr id="5" name="Text Placeholder 4">
            <a:extLst>
              <a:ext uri="{FF2B5EF4-FFF2-40B4-BE49-F238E27FC236}">
                <a16:creationId xmlns:a16="http://schemas.microsoft.com/office/drawing/2014/main" id="{581B178C-6B90-7D6E-588F-1AC91F34340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6053299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39CD2-8807-5B50-E832-098AC25C787A}"/>
              </a:ext>
            </a:extLst>
          </p:cNvPr>
          <p:cNvSpPr>
            <a:spLocks noGrp="1"/>
          </p:cNvSpPr>
          <p:nvPr>
            <p:ph type="title"/>
          </p:nvPr>
        </p:nvSpPr>
        <p:spPr/>
        <p:txBody>
          <a:bodyPr/>
          <a:lstStyle/>
          <a:p>
            <a:r>
              <a:rPr lang="en-US" dirty="0"/>
              <a:t>DNS</a:t>
            </a:r>
          </a:p>
        </p:txBody>
      </p:sp>
      <p:sp>
        <p:nvSpPr>
          <p:cNvPr id="3" name="Text Placeholder 2">
            <a:extLst>
              <a:ext uri="{FF2B5EF4-FFF2-40B4-BE49-F238E27FC236}">
                <a16:creationId xmlns:a16="http://schemas.microsoft.com/office/drawing/2014/main" id="{862105A3-4C95-08AE-C2D5-0A9D3F8BACF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1417885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8180AA-3FF2-EDB5-011C-FA37E5F5A4B0}"/>
              </a:ext>
            </a:extLst>
          </p:cNvPr>
          <p:cNvSpPr>
            <a:spLocks noGrp="1"/>
          </p:cNvSpPr>
          <p:nvPr>
            <p:ph type="title"/>
          </p:nvPr>
        </p:nvSpPr>
        <p:spPr/>
        <p:txBody>
          <a:bodyPr/>
          <a:lstStyle/>
          <a:p>
            <a:r>
              <a:rPr lang="en-US" dirty="0"/>
              <a:t>DNS (Domain Name System)</a:t>
            </a:r>
          </a:p>
        </p:txBody>
      </p:sp>
      <p:sp>
        <p:nvSpPr>
          <p:cNvPr id="5" name="Content Placeholder 4">
            <a:extLst>
              <a:ext uri="{FF2B5EF4-FFF2-40B4-BE49-F238E27FC236}">
                <a16:creationId xmlns:a16="http://schemas.microsoft.com/office/drawing/2014/main" id="{C6E23140-0B8B-CBA9-C4C6-834449664D7E}"/>
              </a:ext>
            </a:extLst>
          </p:cNvPr>
          <p:cNvSpPr>
            <a:spLocks noGrp="1"/>
          </p:cNvSpPr>
          <p:nvPr>
            <p:ph idx="1"/>
          </p:nvPr>
        </p:nvSpPr>
        <p:spPr/>
        <p:txBody>
          <a:bodyPr/>
          <a:lstStyle/>
          <a:p>
            <a:r>
              <a:rPr lang="ru-RU" dirty="0"/>
              <a:t>Пользователям неудобно помнить IP-адреса → нужны имена</a:t>
            </a:r>
          </a:p>
          <a:p>
            <a:r>
              <a:rPr lang="ru-RU" dirty="0"/>
              <a:t>IP у сервиса может меняться (переезд, балансировка, кластеры, хостинг)</a:t>
            </a:r>
          </a:p>
          <a:p>
            <a:r>
              <a:rPr lang="ru-RU" dirty="0"/>
              <a:t>DNS: доменное имя ↔ IP-адрес (например, www.cs.uchicago.edu)</a:t>
            </a:r>
          </a:p>
          <a:p>
            <a:r>
              <a:rPr lang="ru-RU" dirty="0"/>
              <a:t>Основа: иерархия имён + распределённая база данных</a:t>
            </a:r>
          </a:p>
          <a:p>
            <a:r>
              <a:rPr lang="ru-RU" dirty="0"/>
              <a:t>Исторически: hosts.txt в ARPANET → не масштабируется → DNS (1983)</a:t>
            </a:r>
          </a:p>
          <a:p>
            <a:endParaRPr lang="en-US" dirty="0"/>
          </a:p>
        </p:txBody>
      </p:sp>
    </p:spTree>
    <p:extLst>
      <p:ext uri="{BB962C8B-B14F-4D97-AF65-F5344CB8AC3E}">
        <p14:creationId xmlns:p14="http://schemas.microsoft.com/office/powerpoint/2010/main" val="245842278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F2CF9-FEDF-6CD0-0337-698FF3605219}"/>
              </a:ext>
            </a:extLst>
          </p:cNvPr>
          <p:cNvSpPr>
            <a:spLocks noGrp="1"/>
          </p:cNvSpPr>
          <p:nvPr>
            <p:ph type="title"/>
          </p:nvPr>
        </p:nvSpPr>
        <p:spPr/>
        <p:txBody>
          <a:bodyPr>
            <a:normAutofit/>
          </a:bodyPr>
          <a:lstStyle/>
          <a:p>
            <a:r>
              <a:rPr lang="ru-RU" dirty="0"/>
              <a:t>Поиск </a:t>
            </a:r>
            <a:r>
              <a:rPr lang="en-US" dirty="0"/>
              <a:t>DNS: </a:t>
            </a:r>
            <a:r>
              <a:rPr lang="ru-RU" dirty="0" err="1"/>
              <a:t>резолверы</a:t>
            </a:r>
            <a:r>
              <a:rPr lang="ru-RU" dirty="0"/>
              <a:t>, рекурсия/итерации, кэш и безопасность</a:t>
            </a:r>
            <a:endParaRPr lang="en-US" dirty="0"/>
          </a:p>
        </p:txBody>
      </p:sp>
      <p:sp>
        <p:nvSpPr>
          <p:cNvPr id="3" name="Content Placeholder 2">
            <a:extLst>
              <a:ext uri="{FF2B5EF4-FFF2-40B4-BE49-F238E27FC236}">
                <a16:creationId xmlns:a16="http://schemas.microsoft.com/office/drawing/2014/main" id="{481B7E6A-2C2C-9CAD-FAF3-7094DC77A559}"/>
              </a:ext>
            </a:extLst>
          </p:cNvPr>
          <p:cNvSpPr>
            <a:spLocks noGrp="1"/>
          </p:cNvSpPr>
          <p:nvPr>
            <p:ph idx="1"/>
          </p:nvPr>
        </p:nvSpPr>
        <p:spPr/>
        <p:txBody>
          <a:bodyPr>
            <a:normAutofit fontScale="92500" lnSpcReduction="20000"/>
          </a:bodyPr>
          <a:lstStyle/>
          <a:p>
            <a:r>
              <a:rPr lang="ru-RU" dirty="0"/>
              <a:t>Приложение вызывает </a:t>
            </a:r>
            <a:r>
              <a:rPr lang="en-US" dirty="0" err="1"/>
              <a:t>gethostbyname</a:t>
            </a:r>
            <a:r>
              <a:rPr lang="en-US" dirty="0"/>
              <a:t>() → stub resolver</a:t>
            </a:r>
          </a:p>
          <a:p>
            <a:r>
              <a:rPr lang="en-US" dirty="0"/>
              <a:t>Stub → </a:t>
            </a:r>
            <a:r>
              <a:rPr lang="ru-RU" dirty="0"/>
              <a:t>локальный рекурсивный </a:t>
            </a:r>
            <a:r>
              <a:rPr lang="ru-RU" dirty="0" err="1"/>
              <a:t>резолвер</a:t>
            </a:r>
            <a:r>
              <a:rPr lang="ru-RU" dirty="0"/>
              <a:t> (</a:t>
            </a:r>
            <a:r>
              <a:rPr lang="en-US" dirty="0"/>
              <a:t>recursive lookup)</a:t>
            </a:r>
          </a:p>
          <a:p>
            <a:pPr lvl="1"/>
            <a:r>
              <a:rPr lang="ru-RU" dirty="0"/>
              <a:t>Локальный рекурсивный </a:t>
            </a:r>
            <a:r>
              <a:rPr lang="ru-RU" dirty="0" err="1"/>
              <a:t>резолвер</a:t>
            </a:r>
            <a:r>
              <a:rPr lang="ru-RU" dirty="0"/>
              <a:t> — DNS-сервер, который по запросу клиента полностью выполняет поиск IP-адреса по DNS-иерархии и возвращает готовый ответ</a:t>
            </a:r>
          </a:p>
          <a:p>
            <a:r>
              <a:rPr lang="ru-RU" dirty="0"/>
              <a:t>Дальше по иерархии: </a:t>
            </a:r>
            <a:r>
              <a:rPr lang="en-US" dirty="0"/>
              <a:t>root → … → authoritative (</a:t>
            </a:r>
            <a:r>
              <a:rPr lang="ru-RU" dirty="0"/>
              <a:t>авторитетные сервера)</a:t>
            </a:r>
          </a:p>
          <a:p>
            <a:r>
              <a:rPr lang="ru-RU" dirty="0"/>
              <a:t>Корневые обычно дают частичный ответ → локальный </a:t>
            </a:r>
            <a:r>
              <a:rPr lang="ru-RU" dirty="0" err="1"/>
              <a:t>резолвер</a:t>
            </a:r>
            <a:r>
              <a:rPr lang="ru-RU" dirty="0"/>
              <a:t> делает итеративные запросы</a:t>
            </a:r>
          </a:p>
          <a:p>
            <a:r>
              <a:rPr lang="ru-RU" dirty="0"/>
              <a:t>Кэширование + </a:t>
            </a:r>
            <a:r>
              <a:rPr lang="en-US" dirty="0"/>
              <a:t>TTL (</a:t>
            </a:r>
            <a:r>
              <a:rPr lang="ru-RU" dirty="0"/>
              <a:t>кэш может устаревать)</a:t>
            </a:r>
          </a:p>
          <a:p>
            <a:r>
              <a:rPr lang="ru-RU" dirty="0"/>
              <a:t>Транспорт и защита: обычно </a:t>
            </a:r>
            <a:r>
              <a:rPr lang="en-US" dirty="0"/>
              <a:t>UDP, </a:t>
            </a:r>
            <a:r>
              <a:rPr lang="ru-RU" dirty="0"/>
              <a:t>но растёт роль </a:t>
            </a:r>
            <a:r>
              <a:rPr lang="en-US" dirty="0"/>
              <a:t>TCP, DNS-over-TLS/DNS-over-HTTPS, QNAME-minimization</a:t>
            </a:r>
          </a:p>
          <a:p>
            <a:endParaRPr lang="en-US" dirty="0"/>
          </a:p>
        </p:txBody>
      </p:sp>
    </p:spTree>
    <p:extLst>
      <p:ext uri="{BB962C8B-B14F-4D97-AF65-F5344CB8AC3E}">
        <p14:creationId xmlns:p14="http://schemas.microsoft.com/office/powerpoint/2010/main" val="55641474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C7701-542E-162B-EBD3-67E15AFB6F95}"/>
              </a:ext>
            </a:extLst>
          </p:cNvPr>
          <p:cNvSpPr>
            <a:spLocks noGrp="1"/>
          </p:cNvSpPr>
          <p:nvPr>
            <p:ph type="title"/>
          </p:nvPr>
        </p:nvSpPr>
        <p:spPr/>
        <p:txBody>
          <a:bodyPr/>
          <a:lstStyle/>
          <a:p>
            <a:r>
              <a:rPr lang="ru-RU" dirty="0"/>
              <a:t>Пространство имён и иерархия DNS</a:t>
            </a:r>
            <a:endParaRPr lang="en-US" dirty="0"/>
          </a:p>
        </p:txBody>
      </p:sp>
      <p:sp>
        <p:nvSpPr>
          <p:cNvPr id="3" name="Content Placeholder 2">
            <a:extLst>
              <a:ext uri="{FF2B5EF4-FFF2-40B4-BE49-F238E27FC236}">
                <a16:creationId xmlns:a16="http://schemas.microsoft.com/office/drawing/2014/main" id="{98276897-C969-FD88-6113-EE514EF70729}"/>
              </a:ext>
            </a:extLst>
          </p:cNvPr>
          <p:cNvSpPr>
            <a:spLocks noGrp="1"/>
          </p:cNvSpPr>
          <p:nvPr>
            <p:ph idx="1"/>
          </p:nvPr>
        </p:nvSpPr>
        <p:spPr/>
        <p:txBody>
          <a:bodyPr>
            <a:normAutofit fontScale="92500" lnSpcReduction="20000"/>
          </a:bodyPr>
          <a:lstStyle/>
          <a:p>
            <a:r>
              <a:rPr lang="ru-RU" dirty="0"/>
              <a:t>DNS использует иерархическое пространство имён (дерево доменов)</a:t>
            </a:r>
          </a:p>
          <a:p>
            <a:r>
              <a:rPr lang="ru-RU" dirty="0"/>
              <a:t>Корень → домены верхнего уровня (TLD) → поддомены → хосты</a:t>
            </a:r>
          </a:p>
          <a:p>
            <a:r>
              <a:rPr lang="ru-RU" dirty="0"/>
              <a:t>Типы TLD:</a:t>
            </a:r>
          </a:p>
          <a:p>
            <a:pPr lvl="1"/>
            <a:r>
              <a:rPr lang="en-US" dirty="0"/>
              <a:t>Generic (</a:t>
            </a:r>
            <a:r>
              <a:rPr lang="ru-RU" dirty="0" err="1"/>
              <a:t>gTLD</a:t>
            </a:r>
            <a:r>
              <a:rPr lang="en-US" dirty="0"/>
              <a:t>): </a:t>
            </a:r>
            <a:r>
              <a:rPr lang="ru-RU" dirty="0"/>
              <a:t>.</a:t>
            </a:r>
            <a:r>
              <a:rPr lang="ru-RU" dirty="0" err="1"/>
              <a:t>com</a:t>
            </a:r>
            <a:r>
              <a:rPr lang="ru-RU" dirty="0"/>
              <a:t>, .</a:t>
            </a:r>
            <a:r>
              <a:rPr lang="ru-RU" dirty="0" err="1"/>
              <a:t>edu</a:t>
            </a:r>
            <a:r>
              <a:rPr lang="ru-RU" dirty="0"/>
              <a:t>, .</a:t>
            </a:r>
            <a:r>
              <a:rPr lang="ru-RU" dirty="0" err="1"/>
              <a:t>org</a:t>
            </a:r>
            <a:r>
              <a:rPr lang="ru-RU" dirty="0"/>
              <a:t>, …</a:t>
            </a:r>
            <a:endParaRPr lang="en-US" dirty="0"/>
          </a:p>
          <a:p>
            <a:pPr lvl="1"/>
            <a:r>
              <a:rPr lang="en-US" dirty="0"/>
              <a:t>Country Code (</a:t>
            </a:r>
            <a:r>
              <a:rPr lang="ru-RU" dirty="0" err="1"/>
              <a:t>ccTLD</a:t>
            </a:r>
            <a:r>
              <a:rPr lang="en-US" dirty="0"/>
              <a:t>):</a:t>
            </a:r>
            <a:r>
              <a:rPr lang="ru-RU" dirty="0"/>
              <a:t> .</a:t>
            </a:r>
            <a:r>
              <a:rPr lang="ru-RU" dirty="0" err="1"/>
              <a:t>ru</a:t>
            </a:r>
            <a:r>
              <a:rPr lang="ru-RU" dirty="0"/>
              <a:t>, .</a:t>
            </a:r>
            <a:r>
              <a:rPr lang="ru-RU" dirty="0" err="1"/>
              <a:t>nl</a:t>
            </a:r>
            <a:r>
              <a:rPr lang="ru-RU" dirty="0"/>
              <a:t>, .</a:t>
            </a:r>
            <a:r>
              <a:rPr lang="ru-RU" dirty="0" err="1"/>
              <a:t>au</a:t>
            </a:r>
            <a:r>
              <a:rPr lang="ru-RU" dirty="0"/>
              <a:t>, …</a:t>
            </a:r>
          </a:p>
          <a:p>
            <a:r>
              <a:rPr lang="ru-RU" dirty="0"/>
              <a:t>Управление иерархией: ICANN → реестры → регистраторы</a:t>
            </a:r>
          </a:p>
          <a:p>
            <a:r>
              <a:rPr lang="ru-RU" dirty="0"/>
              <a:t>FQDN: полностью квалифицированное доменное имя (</a:t>
            </a:r>
            <a:r>
              <a:rPr lang="ru-RU" dirty="0">
                <a:hlinkClick r:id="rId3"/>
              </a:rPr>
              <a:t>www.cs.uchicago.edu</a:t>
            </a:r>
            <a:r>
              <a:rPr lang="ru-RU" dirty="0"/>
              <a:t>)</a:t>
            </a:r>
            <a:endParaRPr lang="en-US" dirty="0"/>
          </a:p>
          <a:p>
            <a:r>
              <a:rPr lang="ru-RU" dirty="0"/>
              <a:t>Часть имени между точками: до 63 символов, всё имя: до 255</a:t>
            </a:r>
          </a:p>
          <a:p>
            <a:r>
              <a:rPr lang="ru-RU" dirty="0"/>
              <a:t>Имена логические, не отражают физическую топологию сети</a:t>
            </a:r>
          </a:p>
        </p:txBody>
      </p:sp>
    </p:spTree>
    <p:extLst>
      <p:ext uri="{BB962C8B-B14F-4D97-AF65-F5344CB8AC3E}">
        <p14:creationId xmlns:p14="http://schemas.microsoft.com/office/powerpoint/2010/main" val="135542015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34B2C-8F15-DB08-D5F9-03D4B017A1D5}"/>
              </a:ext>
            </a:extLst>
          </p:cNvPr>
          <p:cNvSpPr>
            <a:spLocks noGrp="1"/>
          </p:cNvSpPr>
          <p:nvPr>
            <p:ph type="title"/>
          </p:nvPr>
        </p:nvSpPr>
        <p:spPr/>
        <p:txBody>
          <a:bodyPr/>
          <a:lstStyle/>
          <a:p>
            <a:r>
              <a:rPr lang="en-US" dirty="0"/>
              <a:t>DNS</a:t>
            </a:r>
            <a:r>
              <a:rPr lang="ru-RU" dirty="0"/>
              <a:t> запросы и ответы</a:t>
            </a:r>
            <a:endParaRPr lang="en-US" dirty="0"/>
          </a:p>
        </p:txBody>
      </p:sp>
      <p:sp>
        <p:nvSpPr>
          <p:cNvPr id="3" name="Content Placeholder 2">
            <a:extLst>
              <a:ext uri="{FF2B5EF4-FFF2-40B4-BE49-F238E27FC236}">
                <a16:creationId xmlns:a16="http://schemas.microsoft.com/office/drawing/2014/main" id="{176F5FF3-ABB4-1876-F8BF-6853C44E9F6B}"/>
              </a:ext>
            </a:extLst>
          </p:cNvPr>
          <p:cNvSpPr>
            <a:spLocks noGrp="1"/>
          </p:cNvSpPr>
          <p:nvPr>
            <p:ph idx="1"/>
          </p:nvPr>
        </p:nvSpPr>
        <p:spPr/>
        <p:txBody>
          <a:bodyPr>
            <a:normAutofit fontScale="85000" lnSpcReduction="20000"/>
          </a:bodyPr>
          <a:lstStyle/>
          <a:p>
            <a:r>
              <a:rPr lang="ru-RU" dirty="0"/>
              <a:t>Компьютер спрашивает у DNS: «Какой IP у этого имени?» (обычно A/AAAA)</a:t>
            </a:r>
          </a:p>
          <a:p>
            <a:r>
              <a:rPr lang="ru-RU" dirty="0"/>
              <a:t>В ответ DNS возвращает записи (RR): </a:t>
            </a:r>
            <a:r>
              <a:rPr lang="ru-RU" i="1" dirty="0"/>
              <a:t>имя + тип + значение + TTL</a:t>
            </a:r>
            <a:endParaRPr lang="ru-RU" dirty="0"/>
          </a:p>
          <a:p>
            <a:r>
              <a:rPr lang="ru-RU" dirty="0"/>
              <a:t>Частые типы записей:</a:t>
            </a:r>
          </a:p>
          <a:p>
            <a:pPr lvl="1"/>
            <a:r>
              <a:rPr lang="ru-RU" dirty="0"/>
              <a:t>A/AAAA — IP-адрес</a:t>
            </a:r>
          </a:p>
          <a:p>
            <a:pPr lvl="1"/>
            <a:r>
              <a:rPr lang="ru-RU" dirty="0"/>
              <a:t>NS — какие DNS-серверы отвечают за домен</a:t>
            </a:r>
          </a:p>
          <a:p>
            <a:pPr lvl="1"/>
            <a:r>
              <a:rPr lang="ru-RU" dirty="0"/>
              <a:t>MX — куда доставлять почту</a:t>
            </a:r>
          </a:p>
          <a:p>
            <a:pPr lvl="1"/>
            <a:r>
              <a:rPr lang="ru-RU" dirty="0"/>
              <a:t>CNAME — псевдоним имени</a:t>
            </a:r>
          </a:p>
          <a:p>
            <a:pPr lvl="1"/>
            <a:r>
              <a:rPr lang="ru-RU" dirty="0"/>
              <a:t>PTR — обратный поиск (IP → имя)</a:t>
            </a:r>
          </a:p>
          <a:p>
            <a:r>
              <a:rPr lang="ru-RU" dirty="0"/>
              <a:t>Чтобы было быстрее и безопаснее:</a:t>
            </a:r>
          </a:p>
          <a:p>
            <a:pPr lvl="1"/>
            <a:r>
              <a:rPr lang="ru-RU" dirty="0"/>
              <a:t>кэш + TTL (сколько хранить ответ)</a:t>
            </a:r>
          </a:p>
          <a:p>
            <a:pPr lvl="1"/>
            <a:r>
              <a:rPr lang="ru-RU" dirty="0"/>
              <a:t>DNSSEC / </a:t>
            </a:r>
            <a:r>
              <a:rPr lang="ru-RU" dirty="0" err="1"/>
              <a:t>DoT</a:t>
            </a:r>
            <a:r>
              <a:rPr lang="ru-RU" dirty="0"/>
              <a:t> / </a:t>
            </a:r>
            <a:r>
              <a:rPr lang="ru-RU" dirty="0" err="1"/>
              <a:t>DoH</a:t>
            </a:r>
            <a:r>
              <a:rPr lang="ru-RU" dirty="0"/>
              <a:t> (защита и шифрование)</a:t>
            </a:r>
          </a:p>
          <a:p>
            <a:r>
              <a:rPr lang="ru-RU" dirty="0"/>
              <a:t>DNS разделён на части: зоны (каждая часть обслуживается своими серверами)</a:t>
            </a:r>
          </a:p>
          <a:p>
            <a:endParaRPr lang="en-US" dirty="0"/>
          </a:p>
        </p:txBody>
      </p:sp>
    </p:spTree>
    <p:extLst>
      <p:ext uri="{BB962C8B-B14F-4D97-AF65-F5344CB8AC3E}">
        <p14:creationId xmlns:p14="http://schemas.microsoft.com/office/powerpoint/2010/main" val="136600205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BAAFB-B028-E192-DBED-9E9CFEFE3837}"/>
              </a:ext>
            </a:extLst>
          </p:cNvPr>
          <p:cNvSpPr>
            <a:spLocks noGrp="1"/>
          </p:cNvSpPr>
          <p:nvPr>
            <p:ph type="title"/>
          </p:nvPr>
        </p:nvSpPr>
        <p:spPr/>
        <p:txBody>
          <a:bodyPr/>
          <a:lstStyle/>
          <a:p>
            <a:r>
              <a:rPr lang="en-US" dirty="0"/>
              <a:t>dig — </a:t>
            </a:r>
            <a:r>
              <a:rPr lang="ru-RU" dirty="0"/>
              <a:t>инструмент для анализа </a:t>
            </a:r>
            <a:r>
              <a:rPr lang="en-US" dirty="0"/>
              <a:t>DNS</a:t>
            </a:r>
          </a:p>
        </p:txBody>
      </p:sp>
      <p:sp>
        <p:nvSpPr>
          <p:cNvPr id="3" name="Content Placeholder 2">
            <a:extLst>
              <a:ext uri="{FF2B5EF4-FFF2-40B4-BE49-F238E27FC236}">
                <a16:creationId xmlns:a16="http://schemas.microsoft.com/office/drawing/2014/main" id="{2E48011E-5EB1-2D70-8349-52CBCA4A5841}"/>
              </a:ext>
            </a:extLst>
          </p:cNvPr>
          <p:cNvSpPr>
            <a:spLocks noGrp="1"/>
          </p:cNvSpPr>
          <p:nvPr>
            <p:ph idx="1"/>
          </p:nvPr>
        </p:nvSpPr>
        <p:spPr/>
        <p:txBody>
          <a:bodyPr>
            <a:normAutofit fontScale="92500" lnSpcReduction="20000"/>
          </a:bodyPr>
          <a:lstStyle/>
          <a:p>
            <a:r>
              <a:rPr lang="en-US" dirty="0"/>
              <a:t>dig (Domain Information Groper) — </a:t>
            </a:r>
            <a:r>
              <a:rPr lang="ru-RU" dirty="0"/>
              <a:t>утилита </a:t>
            </a:r>
            <a:r>
              <a:rPr lang="en-US" dirty="0"/>
              <a:t>Linux/Unix </a:t>
            </a:r>
            <a:r>
              <a:rPr lang="ru-RU" dirty="0"/>
              <a:t>для просмотра</a:t>
            </a:r>
            <a:r>
              <a:rPr lang="en-US" dirty="0"/>
              <a:t> DNS-</a:t>
            </a:r>
            <a:r>
              <a:rPr lang="ru-RU" dirty="0"/>
              <a:t>запросов и </a:t>
            </a:r>
            <a:r>
              <a:rPr lang="en-US" dirty="0"/>
              <a:t>DNS-</a:t>
            </a:r>
            <a:r>
              <a:rPr lang="ru-RU" dirty="0"/>
              <a:t>ответов в «сыром» виде</a:t>
            </a:r>
          </a:p>
          <a:p>
            <a:r>
              <a:rPr lang="ru-RU" dirty="0"/>
              <a:t>Что показывает </a:t>
            </a:r>
            <a:r>
              <a:rPr lang="en-US" dirty="0"/>
              <a:t>dig:</a:t>
            </a:r>
          </a:p>
          <a:p>
            <a:pPr lvl="1"/>
            <a:r>
              <a:rPr lang="ru-RU" dirty="0"/>
              <a:t>какой </a:t>
            </a:r>
            <a:r>
              <a:rPr lang="en-US" dirty="0"/>
              <a:t>DNS-</a:t>
            </a:r>
            <a:r>
              <a:rPr lang="ru-RU" dirty="0"/>
              <a:t>сервер отвечает (локальный </a:t>
            </a:r>
            <a:r>
              <a:rPr lang="ru-RU" dirty="0" err="1"/>
              <a:t>резолвер</a:t>
            </a:r>
            <a:r>
              <a:rPr lang="ru-RU" dirty="0"/>
              <a:t> или авторитетный)</a:t>
            </a:r>
          </a:p>
          <a:p>
            <a:pPr lvl="1"/>
            <a:r>
              <a:rPr lang="ru-RU" dirty="0"/>
              <a:t>тип запроса: </a:t>
            </a:r>
            <a:r>
              <a:rPr lang="en-US" dirty="0"/>
              <a:t>A, AAAA, MX, NS, CNAME </a:t>
            </a:r>
            <a:r>
              <a:rPr lang="ru-RU" dirty="0"/>
              <a:t>и др.</a:t>
            </a:r>
          </a:p>
          <a:p>
            <a:pPr lvl="1"/>
            <a:r>
              <a:rPr lang="en-US" dirty="0"/>
              <a:t>TTL, </a:t>
            </a:r>
            <a:r>
              <a:rPr lang="ru-RU" dirty="0" err="1"/>
              <a:t>кэшируемость</a:t>
            </a:r>
            <a:r>
              <a:rPr lang="ru-RU" dirty="0"/>
              <a:t> и балансировку</a:t>
            </a:r>
          </a:p>
          <a:p>
            <a:pPr lvl="1"/>
            <a:r>
              <a:rPr lang="en-US" dirty="0"/>
              <a:t>NS-</a:t>
            </a:r>
            <a:r>
              <a:rPr lang="ru-RU" dirty="0"/>
              <a:t>серверы, </a:t>
            </a:r>
            <a:r>
              <a:rPr lang="en-US" dirty="0"/>
              <a:t>glue-</a:t>
            </a:r>
            <a:r>
              <a:rPr lang="ru-RU" dirty="0"/>
              <a:t>записи, </a:t>
            </a:r>
            <a:r>
              <a:rPr lang="en-US" dirty="0"/>
              <a:t>IPv4/IPv6</a:t>
            </a:r>
          </a:p>
          <a:p>
            <a:pPr lvl="1"/>
            <a:r>
              <a:rPr lang="ru-RU" dirty="0"/>
              <a:t>флаги рекурсии (</a:t>
            </a:r>
            <a:r>
              <a:rPr lang="en-US" dirty="0" err="1"/>
              <a:t>rd</a:t>
            </a:r>
            <a:r>
              <a:rPr lang="en-US" dirty="0"/>
              <a:t>/</a:t>
            </a:r>
            <a:r>
              <a:rPr lang="en-US" dirty="0" err="1"/>
              <a:t>ra</a:t>
            </a:r>
            <a:r>
              <a:rPr lang="en-US" dirty="0"/>
              <a:t>), EDNS, DNSSEC</a:t>
            </a:r>
          </a:p>
          <a:p>
            <a:r>
              <a:rPr lang="ru-RU" dirty="0"/>
              <a:t>Пример:</a:t>
            </a:r>
          </a:p>
          <a:p>
            <a:pPr lvl="1"/>
            <a:r>
              <a:rPr lang="en-US" dirty="0"/>
              <a:t>dig google.com</a:t>
            </a:r>
          </a:p>
          <a:p>
            <a:pPr lvl="1"/>
            <a:r>
              <a:rPr lang="en-US" dirty="0"/>
              <a:t>dig mx ispring.com</a:t>
            </a:r>
          </a:p>
          <a:p>
            <a:pPr lvl="1"/>
            <a:r>
              <a:rPr lang="en-US" dirty="0"/>
              <a:t>dig –x 8.8.8.8</a:t>
            </a:r>
          </a:p>
          <a:p>
            <a:pPr lvl="2"/>
            <a:r>
              <a:rPr lang="ru-RU" dirty="0"/>
              <a:t>Ищет доменное имя по </a:t>
            </a:r>
            <a:r>
              <a:rPr lang="en-US" dirty="0"/>
              <a:t>IP-</a:t>
            </a:r>
            <a:r>
              <a:rPr lang="ru-RU" dirty="0"/>
              <a:t>адресу</a:t>
            </a:r>
            <a:endParaRPr lang="en-US" dirty="0"/>
          </a:p>
        </p:txBody>
      </p:sp>
    </p:spTree>
    <p:extLst>
      <p:ext uri="{BB962C8B-B14F-4D97-AF65-F5344CB8AC3E}">
        <p14:creationId xmlns:p14="http://schemas.microsoft.com/office/powerpoint/2010/main" val="272688217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F4835F-5689-2ECC-C5D6-866D7448B149}"/>
              </a:ext>
            </a:extLst>
          </p:cNvPr>
          <p:cNvSpPr>
            <a:spLocks noGrp="1"/>
          </p:cNvSpPr>
          <p:nvPr>
            <p:ph type="title"/>
          </p:nvPr>
        </p:nvSpPr>
        <p:spPr/>
        <p:txBody>
          <a:bodyPr/>
          <a:lstStyle/>
          <a:p>
            <a:r>
              <a:rPr lang="ru-RU" dirty="0"/>
              <a:t>Электронная почта</a:t>
            </a:r>
            <a:endParaRPr lang="en-US" dirty="0"/>
          </a:p>
        </p:txBody>
      </p:sp>
      <p:sp>
        <p:nvSpPr>
          <p:cNvPr id="5" name="Text Placeholder 4">
            <a:extLst>
              <a:ext uri="{FF2B5EF4-FFF2-40B4-BE49-F238E27FC236}">
                <a16:creationId xmlns:a16="http://schemas.microsoft.com/office/drawing/2014/main" id="{E9E396BB-B384-6782-85D8-5E669A5ADAA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7147962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BE8E52-FBEE-1091-9FA0-839B8A39A8C7}"/>
              </a:ext>
            </a:extLst>
          </p:cNvPr>
          <p:cNvSpPr>
            <a:spLocks noGrp="1"/>
          </p:cNvSpPr>
          <p:nvPr>
            <p:ph type="title"/>
          </p:nvPr>
        </p:nvSpPr>
        <p:spPr/>
        <p:txBody>
          <a:bodyPr>
            <a:normAutofit/>
          </a:bodyPr>
          <a:lstStyle/>
          <a:p>
            <a:r>
              <a:rPr lang="ru-RU" dirty="0"/>
              <a:t>Электронная почта: роль и базовая архитектура</a:t>
            </a:r>
            <a:endParaRPr lang="en-US" dirty="0"/>
          </a:p>
        </p:txBody>
      </p:sp>
      <p:sp>
        <p:nvSpPr>
          <p:cNvPr id="5" name="Content Placeholder 4">
            <a:extLst>
              <a:ext uri="{FF2B5EF4-FFF2-40B4-BE49-F238E27FC236}">
                <a16:creationId xmlns:a16="http://schemas.microsoft.com/office/drawing/2014/main" id="{D1CDD4EB-06E3-3228-45A3-9D2D28854D2A}"/>
              </a:ext>
            </a:extLst>
          </p:cNvPr>
          <p:cNvSpPr>
            <a:spLocks noGrp="1"/>
          </p:cNvSpPr>
          <p:nvPr>
            <p:ph sz="half" idx="1"/>
          </p:nvPr>
        </p:nvSpPr>
        <p:spPr/>
        <p:txBody>
          <a:bodyPr>
            <a:normAutofit fontScale="77500" lnSpcReduction="20000"/>
          </a:bodyPr>
          <a:lstStyle/>
          <a:p>
            <a:r>
              <a:rPr lang="ru-RU" dirty="0"/>
              <a:t>E-mail — одно из старейших и до сих пор ключевых приложений интернета</a:t>
            </a:r>
          </a:p>
          <a:p>
            <a:r>
              <a:rPr lang="ru-RU" dirty="0"/>
              <a:t>Две подсистемы </a:t>
            </a:r>
            <a:r>
              <a:rPr lang="ru-RU" dirty="0" err="1"/>
              <a:t>e-mail</a:t>
            </a:r>
            <a:r>
              <a:rPr lang="ru-RU" dirty="0"/>
              <a:t>:</a:t>
            </a:r>
          </a:p>
          <a:p>
            <a:pPr lvl="1"/>
            <a:r>
              <a:rPr lang="ru-RU" dirty="0"/>
              <a:t>User Agent (MUA) — клиент для чтения/написания писем (</a:t>
            </a:r>
            <a:r>
              <a:rPr lang="ru-RU" i="1" dirty="0" err="1"/>
              <a:t>mail</a:t>
            </a:r>
            <a:r>
              <a:rPr lang="ru-RU" i="1" dirty="0"/>
              <a:t> </a:t>
            </a:r>
            <a:r>
              <a:rPr lang="ru-RU" i="1" dirty="0" err="1"/>
              <a:t>submission</a:t>
            </a:r>
            <a:r>
              <a:rPr lang="ru-RU" dirty="0"/>
              <a:t>)</a:t>
            </a:r>
          </a:p>
          <a:p>
            <a:pPr lvl="1"/>
            <a:r>
              <a:rPr lang="ru-RU" dirty="0"/>
              <a:t>Mail Server / MTA — сервер пересылки писем между доменами (SMTP)</a:t>
            </a:r>
          </a:p>
          <a:p>
            <a:r>
              <a:rPr lang="ru-RU" dirty="0"/>
              <a:t>Хранилище: </a:t>
            </a:r>
            <a:r>
              <a:rPr lang="ru-RU" dirty="0" err="1"/>
              <a:t>mailbox</a:t>
            </a:r>
            <a:r>
              <a:rPr lang="ru-RU" dirty="0"/>
              <a:t> на сервере → доступ с разных устройств</a:t>
            </a:r>
          </a:p>
          <a:p>
            <a:r>
              <a:rPr lang="ru-RU" dirty="0"/>
              <a:t>Формат письма: стандартный текстовый формат (RFC 5322 + MIME)</a:t>
            </a:r>
          </a:p>
          <a:p>
            <a:r>
              <a:rPr lang="ru-RU" dirty="0"/>
              <a:t>структура: </a:t>
            </a:r>
            <a:r>
              <a:rPr lang="ru-RU" dirty="0" err="1"/>
              <a:t>envelope</a:t>
            </a:r>
            <a:r>
              <a:rPr lang="ru-RU" dirty="0"/>
              <a:t> (для доставки) + </a:t>
            </a:r>
            <a:r>
              <a:rPr lang="ru-RU" dirty="0" err="1"/>
              <a:t>message</a:t>
            </a:r>
            <a:r>
              <a:rPr lang="ru-RU" dirty="0"/>
              <a:t> = </a:t>
            </a:r>
            <a:r>
              <a:rPr lang="ru-RU" i="1" dirty="0" err="1"/>
              <a:t>header</a:t>
            </a:r>
            <a:r>
              <a:rPr lang="ru-RU" i="1" dirty="0"/>
              <a:t> + </a:t>
            </a:r>
            <a:r>
              <a:rPr lang="ru-RU" i="1" dirty="0" err="1"/>
              <a:t>body</a:t>
            </a:r>
            <a:endParaRPr lang="ru-RU" dirty="0"/>
          </a:p>
        </p:txBody>
      </p:sp>
      <p:pic>
        <p:nvPicPr>
          <p:cNvPr id="8" name="Content Placeholder 7">
            <a:extLst>
              <a:ext uri="{FF2B5EF4-FFF2-40B4-BE49-F238E27FC236}">
                <a16:creationId xmlns:a16="http://schemas.microsoft.com/office/drawing/2014/main" id="{A3974AC6-F613-D6B3-C205-581E75FC09BC}"/>
              </a:ext>
            </a:extLst>
          </p:cNvPr>
          <p:cNvPicPr>
            <a:picLocks noGrp="1" noChangeAspect="1"/>
          </p:cNvPicPr>
          <p:nvPr>
            <p:ph sz="half" idx="2"/>
          </p:nvPr>
        </p:nvPicPr>
        <p:blipFill>
          <a:blip r:embed="rId3"/>
          <a:stretch>
            <a:fillRect/>
          </a:stretch>
        </p:blipFill>
        <p:spPr>
          <a:xfrm>
            <a:off x="6488083" y="1690688"/>
            <a:ext cx="5181600" cy="2009566"/>
          </a:xfrm>
          <a:prstGeom prst="rect">
            <a:avLst/>
          </a:prstGeom>
        </p:spPr>
      </p:pic>
    </p:spTree>
    <p:extLst>
      <p:ext uri="{BB962C8B-B14F-4D97-AF65-F5344CB8AC3E}">
        <p14:creationId xmlns:p14="http://schemas.microsoft.com/office/powerpoint/2010/main" val="352870679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1C5F0-6224-A2FA-8A03-34C3D74176F8}"/>
              </a:ext>
            </a:extLst>
          </p:cNvPr>
          <p:cNvSpPr>
            <a:spLocks noGrp="1"/>
          </p:cNvSpPr>
          <p:nvPr>
            <p:ph type="title"/>
          </p:nvPr>
        </p:nvSpPr>
        <p:spPr/>
        <p:txBody>
          <a:bodyPr>
            <a:normAutofit/>
          </a:bodyPr>
          <a:lstStyle/>
          <a:p>
            <a:r>
              <a:rPr lang="ru-RU" b="1" dirty="0"/>
              <a:t>Пользовательский агент (MUA)</a:t>
            </a:r>
            <a:endParaRPr lang="en-US" dirty="0"/>
          </a:p>
        </p:txBody>
      </p:sp>
      <p:sp>
        <p:nvSpPr>
          <p:cNvPr id="3" name="Content Placeholder 2">
            <a:extLst>
              <a:ext uri="{FF2B5EF4-FFF2-40B4-BE49-F238E27FC236}">
                <a16:creationId xmlns:a16="http://schemas.microsoft.com/office/drawing/2014/main" id="{7B1F0A57-BA6E-95DF-745B-2643603B7946}"/>
              </a:ext>
            </a:extLst>
          </p:cNvPr>
          <p:cNvSpPr>
            <a:spLocks noGrp="1"/>
          </p:cNvSpPr>
          <p:nvPr>
            <p:ph sz="half" idx="1"/>
          </p:nvPr>
        </p:nvSpPr>
        <p:spPr>
          <a:xfrm>
            <a:off x="838200" y="1825625"/>
            <a:ext cx="5832764" cy="4351338"/>
          </a:xfrm>
        </p:spPr>
        <p:txBody>
          <a:bodyPr>
            <a:normAutofit fontScale="62500" lnSpcReduction="20000"/>
          </a:bodyPr>
          <a:lstStyle/>
          <a:p>
            <a:r>
              <a:rPr lang="ru-RU" dirty="0"/>
              <a:t>MUA (Mail User Agent) = почтовый клиент: Gmail / Outlook / Thunderbird / Apple Mail</a:t>
            </a:r>
          </a:p>
          <a:p>
            <a:r>
              <a:rPr lang="ru-RU" dirty="0"/>
              <a:t>Основные задачи:</a:t>
            </a:r>
          </a:p>
          <a:p>
            <a:pPr lvl="1"/>
            <a:r>
              <a:rPr lang="ru-RU" dirty="0"/>
              <a:t>создание/отправка, чтение, ответ/пересылка</a:t>
            </a:r>
          </a:p>
          <a:p>
            <a:pPr lvl="1"/>
            <a:r>
              <a:rPr lang="ru-RU" dirty="0"/>
              <a:t>управление </a:t>
            </a:r>
            <a:r>
              <a:rPr lang="ru-RU" dirty="0" err="1"/>
              <a:t>mailbox’ом</a:t>
            </a:r>
            <a:r>
              <a:rPr lang="ru-RU" dirty="0"/>
              <a:t>: папки, поиск, удаление</a:t>
            </a:r>
          </a:p>
          <a:p>
            <a:r>
              <a:rPr lang="ru-RU" dirty="0"/>
              <a:t>Типичный интерфейс:</a:t>
            </a:r>
          </a:p>
          <a:p>
            <a:pPr lvl="1"/>
            <a:r>
              <a:rPr lang="ru-RU" dirty="0"/>
              <a:t>список писем: From / </a:t>
            </a:r>
            <a:r>
              <a:rPr lang="ru-RU" dirty="0" err="1"/>
              <a:t>Subject</a:t>
            </a:r>
            <a:r>
              <a:rPr lang="ru-RU" dirty="0"/>
              <a:t> / </a:t>
            </a:r>
            <a:r>
              <a:rPr lang="ru-RU" dirty="0" err="1"/>
              <a:t>Received</a:t>
            </a:r>
            <a:endParaRPr lang="ru-RU" dirty="0"/>
          </a:p>
          <a:p>
            <a:pPr lvl="1"/>
            <a:r>
              <a:rPr lang="ru-RU" dirty="0"/>
              <a:t>маркеры: </a:t>
            </a:r>
            <a:r>
              <a:rPr lang="ru-RU" dirty="0" err="1"/>
              <a:t>непрочитано</a:t>
            </a:r>
            <a:r>
              <a:rPr lang="ru-RU" dirty="0"/>
              <a:t>, вложения, важное</a:t>
            </a:r>
          </a:p>
          <a:p>
            <a:pPr lvl="1"/>
            <a:r>
              <a:rPr lang="ru-RU" dirty="0"/>
              <a:t>сортировка (чаще всего по времени)</a:t>
            </a:r>
          </a:p>
          <a:p>
            <a:r>
              <a:rPr lang="ru-RU" dirty="0"/>
              <a:t>Message </a:t>
            </a:r>
            <a:r>
              <a:rPr lang="ru-RU" dirty="0" err="1"/>
              <a:t>disposition</a:t>
            </a:r>
            <a:r>
              <a:rPr lang="ru-RU" dirty="0"/>
              <a:t>: что сделать с письмом</a:t>
            </a:r>
            <a:br>
              <a:rPr lang="ru-RU" dirty="0"/>
            </a:br>
            <a:r>
              <a:rPr lang="ru-RU" dirty="0"/>
              <a:t>удалить / ответить / переслать / оставить / переместить в папку</a:t>
            </a:r>
          </a:p>
          <a:p>
            <a:r>
              <a:rPr lang="ru-RU" dirty="0"/>
              <a:t>Фильтрация и автоматизация:</a:t>
            </a:r>
          </a:p>
          <a:p>
            <a:pPr lvl="1"/>
            <a:r>
              <a:rPr lang="ru-RU" dirty="0"/>
              <a:t>спам-фильтры, пометка «важное»</a:t>
            </a:r>
          </a:p>
          <a:p>
            <a:pPr lvl="1"/>
            <a:r>
              <a:rPr lang="ru-RU" dirty="0"/>
              <a:t>пользовательские правила: </a:t>
            </a:r>
            <a:r>
              <a:rPr lang="ru-RU" i="1" dirty="0"/>
              <a:t>условие → действие</a:t>
            </a:r>
            <a:r>
              <a:rPr lang="ru-RU" dirty="0"/>
              <a:t> (например, «от руководителя → в отдельную папку»)</a:t>
            </a:r>
            <a:endParaRPr lang="en-US" dirty="0"/>
          </a:p>
        </p:txBody>
      </p:sp>
      <p:pic>
        <p:nvPicPr>
          <p:cNvPr id="6" name="Content Placeholder 5">
            <a:extLst>
              <a:ext uri="{FF2B5EF4-FFF2-40B4-BE49-F238E27FC236}">
                <a16:creationId xmlns:a16="http://schemas.microsoft.com/office/drawing/2014/main" id="{9B5363C8-D0F3-70A2-C7CC-345BCF6D45FD}"/>
              </a:ext>
            </a:extLst>
          </p:cNvPr>
          <p:cNvPicPr>
            <a:picLocks noGrp="1" noChangeAspect="1"/>
          </p:cNvPicPr>
          <p:nvPr>
            <p:ph sz="half" idx="2"/>
          </p:nvPr>
        </p:nvPicPr>
        <p:blipFill>
          <a:blip r:embed="rId3"/>
          <a:stretch>
            <a:fillRect/>
          </a:stretch>
        </p:blipFill>
        <p:spPr>
          <a:xfrm>
            <a:off x="6670964" y="2311920"/>
            <a:ext cx="5181600" cy="3121200"/>
          </a:xfrm>
          <a:prstGeom prst="rect">
            <a:avLst/>
          </a:prstGeom>
        </p:spPr>
      </p:pic>
    </p:spTree>
    <p:extLst>
      <p:ext uri="{BB962C8B-B14F-4D97-AF65-F5344CB8AC3E}">
        <p14:creationId xmlns:p14="http://schemas.microsoft.com/office/powerpoint/2010/main" val="131717439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237F99B-5BB2-EFF6-4792-8BAB484FBA5D}"/>
              </a:ext>
            </a:extLst>
          </p:cNvPr>
          <p:cNvSpPr>
            <a:spLocks noGrp="1"/>
          </p:cNvSpPr>
          <p:nvPr>
            <p:ph type="title"/>
          </p:nvPr>
        </p:nvSpPr>
        <p:spPr/>
        <p:txBody>
          <a:bodyPr/>
          <a:lstStyle/>
          <a:p>
            <a:r>
              <a:rPr lang="ru-RU" dirty="0"/>
              <a:t>RFC 5322: базовый формат </a:t>
            </a:r>
            <a:r>
              <a:rPr lang="ru-RU" dirty="0" err="1"/>
              <a:t>e-mail</a:t>
            </a:r>
            <a:endParaRPr lang="en-US" dirty="0"/>
          </a:p>
        </p:txBody>
      </p:sp>
      <p:sp>
        <p:nvSpPr>
          <p:cNvPr id="6" name="Content Placeholder 5">
            <a:extLst>
              <a:ext uri="{FF2B5EF4-FFF2-40B4-BE49-F238E27FC236}">
                <a16:creationId xmlns:a16="http://schemas.microsoft.com/office/drawing/2014/main" id="{9C925365-FA8C-1F17-C61A-75183E9CB333}"/>
              </a:ext>
            </a:extLst>
          </p:cNvPr>
          <p:cNvSpPr>
            <a:spLocks noGrp="1"/>
          </p:cNvSpPr>
          <p:nvPr>
            <p:ph idx="1"/>
          </p:nvPr>
        </p:nvSpPr>
        <p:spPr/>
        <p:txBody>
          <a:bodyPr>
            <a:normAutofit/>
          </a:bodyPr>
          <a:lstStyle/>
          <a:p>
            <a:r>
              <a:rPr lang="ru-RU" dirty="0"/>
              <a:t>Письмо = заголовки + пустая строка + тело</a:t>
            </a:r>
          </a:p>
          <a:p>
            <a:r>
              <a:rPr lang="ru-RU" dirty="0"/>
              <a:t>Заголовки — строки вида: Имя: значение (ASCII)</a:t>
            </a:r>
          </a:p>
          <a:p>
            <a:r>
              <a:rPr lang="ru-RU" dirty="0"/>
              <a:t>Ключевые поля доставки:</a:t>
            </a:r>
          </a:p>
          <a:p>
            <a:pPr lvl="1"/>
            <a:r>
              <a:rPr lang="ru-RU" dirty="0"/>
              <a:t>To / </a:t>
            </a:r>
            <a:r>
              <a:rPr lang="ru-RU" dirty="0" err="1"/>
              <a:t>Cc</a:t>
            </a:r>
            <a:r>
              <a:rPr lang="ru-RU" dirty="0"/>
              <a:t> / </a:t>
            </a:r>
            <a:r>
              <a:rPr lang="ru-RU" dirty="0" err="1"/>
              <a:t>Bcc</a:t>
            </a:r>
            <a:r>
              <a:rPr lang="ru-RU" dirty="0"/>
              <a:t> — получатели (</a:t>
            </a:r>
            <a:r>
              <a:rPr lang="ru-RU" dirty="0" err="1"/>
              <a:t>Bcc</a:t>
            </a:r>
            <a:r>
              <a:rPr lang="ru-RU" dirty="0"/>
              <a:t> скрывается)</a:t>
            </a:r>
          </a:p>
          <a:p>
            <a:pPr lvl="1"/>
            <a:r>
              <a:rPr lang="ru-RU" dirty="0"/>
              <a:t>From / </a:t>
            </a:r>
            <a:r>
              <a:rPr lang="ru-RU" dirty="0" err="1"/>
              <a:t>Sender</a:t>
            </a:r>
            <a:r>
              <a:rPr lang="ru-RU" dirty="0"/>
              <a:t> — кто отправил (и кто фактически оформил)</a:t>
            </a:r>
          </a:p>
          <a:p>
            <a:pPr lvl="1"/>
            <a:r>
              <a:rPr lang="ru-RU" dirty="0" err="1"/>
              <a:t>Received</a:t>
            </a:r>
            <a:r>
              <a:rPr lang="ru-RU" dirty="0"/>
              <a:t> — добавляет каждый почтовый сервер по пути (трассировка)</a:t>
            </a:r>
          </a:p>
          <a:p>
            <a:pPr lvl="1"/>
            <a:r>
              <a:rPr lang="ru-RU" dirty="0"/>
              <a:t>Return-</a:t>
            </a:r>
            <a:r>
              <a:rPr lang="ru-RU" dirty="0" err="1"/>
              <a:t>Path</a:t>
            </a:r>
            <a:r>
              <a:rPr lang="ru-RU" dirty="0"/>
              <a:t> — куда слать ошибки доставки</a:t>
            </a:r>
          </a:p>
          <a:p>
            <a:r>
              <a:rPr lang="ru-RU" dirty="0"/>
              <a:t>Доп. поля: </a:t>
            </a:r>
            <a:r>
              <a:rPr lang="ru-RU" dirty="0" err="1"/>
              <a:t>Subject</a:t>
            </a:r>
            <a:r>
              <a:rPr lang="ru-RU" dirty="0"/>
              <a:t>, </a:t>
            </a:r>
            <a:r>
              <a:rPr lang="ru-RU" dirty="0" err="1"/>
              <a:t>Date</a:t>
            </a:r>
            <a:r>
              <a:rPr lang="ru-RU" dirty="0"/>
              <a:t>, </a:t>
            </a:r>
            <a:r>
              <a:rPr lang="ru-RU" dirty="0" err="1"/>
              <a:t>Reply</a:t>
            </a:r>
            <a:r>
              <a:rPr lang="ru-RU" dirty="0"/>
              <a:t>-To, Message-ID, пользовательские X-…</a:t>
            </a:r>
          </a:p>
        </p:txBody>
      </p:sp>
    </p:spTree>
    <p:extLst>
      <p:ext uri="{BB962C8B-B14F-4D97-AF65-F5344CB8AC3E}">
        <p14:creationId xmlns:p14="http://schemas.microsoft.com/office/powerpoint/2010/main" val="19008334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272E-082B-CD12-C025-EAC63D393C54}"/>
              </a:ext>
            </a:extLst>
          </p:cNvPr>
          <p:cNvSpPr>
            <a:spLocks noGrp="1"/>
          </p:cNvSpPr>
          <p:nvPr>
            <p:ph type="title"/>
          </p:nvPr>
        </p:nvSpPr>
        <p:spPr/>
        <p:txBody>
          <a:bodyPr>
            <a:normAutofit/>
          </a:bodyPr>
          <a:lstStyle/>
          <a:p>
            <a:r>
              <a:rPr lang="en-US" dirty="0"/>
              <a:t>MIME: </a:t>
            </a:r>
            <a:r>
              <a:rPr lang="ru-RU" dirty="0"/>
              <a:t>как </a:t>
            </a:r>
            <a:r>
              <a:rPr lang="en-US" dirty="0"/>
              <a:t>e-mail </a:t>
            </a:r>
            <a:r>
              <a:rPr lang="ru-RU" dirty="0"/>
              <a:t>научился вложениям и разным языкам</a:t>
            </a:r>
            <a:endParaRPr lang="en-US" dirty="0"/>
          </a:p>
        </p:txBody>
      </p:sp>
      <p:sp>
        <p:nvSpPr>
          <p:cNvPr id="3" name="Content Placeholder 2">
            <a:extLst>
              <a:ext uri="{FF2B5EF4-FFF2-40B4-BE49-F238E27FC236}">
                <a16:creationId xmlns:a16="http://schemas.microsoft.com/office/drawing/2014/main" id="{3AEB675A-B02B-E740-1413-B761C5D341EC}"/>
              </a:ext>
            </a:extLst>
          </p:cNvPr>
          <p:cNvSpPr>
            <a:spLocks noGrp="1"/>
          </p:cNvSpPr>
          <p:nvPr>
            <p:ph idx="1"/>
          </p:nvPr>
        </p:nvSpPr>
        <p:spPr/>
        <p:txBody>
          <a:bodyPr>
            <a:normAutofit lnSpcReduction="10000"/>
          </a:bodyPr>
          <a:lstStyle/>
          <a:p>
            <a:r>
              <a:rPr lang="en-US" dirty="0"/>
              <a:t>Multipurpose Internet Mail Extensions (</a:t>
            </a:r>
            <a:r>
              <a:rPr lang="ru-RU" dirty="0"/>
              <a:t>многоцелевые расширения интернет-почты)</a:t>
            </a:r>
            <a:endParaRPr lang="en-US" dirty="0"/>
          </a:p>
          <a:p>
            <a:r>
              <a:rPr lang="ru-RU" dirty="0"/>
              <a:t>Добавляет ключевые заголовки:</a:t>
            </a:r>
          </a:p>
          <a:p>
            <a:pPr lvl="1"/>
            <a:r>
              <a:rPr lang="en-US" dirty="0"/>
              <a:t>MIME-Version</a:t>
            </a:r>
          </a:p>
          <a:p>
            <a:pPr lvl="1"/>
            <a:r>
              <a:rPr lang="en-US" dirty="0"/>
              <a:t>Content-Type (</a:t>
            </a:r>
            <a:r>
              <a:rPr lang="ru-RU" dirty="0"/>
              <a:t>например </a:t>
            </a:r>
            <a:r>
              <a:rPr lang="en-US" dirty="0"/>
              <a:t>text/html, image/</a:t>
            </a:r>
            <a:r>
              <a:rPr lang="en-US" dirty="0" err="1"/>
              <a:t>png</a:t>
            </a:r>
            <a:r>
              <a:rPr lang="en-US" dirty="0"/>
              <a:t>, multipart/*)</a:t>
            </a:r>
          </a:p>
          <a:p>
            <a:pPr lvl="1"/>
            <a:r>
              <a:rPr lang="en-US" dirty="0"/>
              <a:t>Content-Transfer-Encoding (</a:t>
            </a:r>
            <a:r>
              <a:rPr lang="ru-RU" dirty="0"/>
              <a:t>как упаковано для передачи)</a:t>
            </a:r>
          </a:p>
          <a:p>
            <a:pPr lvl="1"/>
            <a:r>
              <a:rPr lang="en-US" dirty="0"/>
              <a:t>Content-Description, Content-ID (</a:t>
            </a:r>
            <a:r>
              <a:rPr lang="ru-RU" dirty="0"/>
              <a:t>описание/идентификатор)</a:t>
            </a:r>
          </a:p>
          <a:p>
            <a:r>
              <a:rPr lang="ru-RU" dirty="0"/>
              <a:t>Кодирование: часто </a:t>
            </a:r>
            <a:r>
              <a:rPr lang="en-US" dirty="0"/>
              <a:t>base64 (</a:t>
            </a:r>
            <a:r>
              <a:rPr lang="ru-RU" dirty="0"/>
              <a:t>перевод бинарных данных в безопасный </a:t>
            </a:r>
            <a:r>
              <a:rPr lang="en-US" dirty="0"/>
              <a:t>ASCII)</a:t>
            </a:r>
          </a:p>
          <a:p>
            <a:r>
              <a:rPr lang="en-US" dirty="0"/>
              <a:t>multipart: </a:t>
            </a:r>
            <a:r>
              <a:rPr lang="ru-RU" dirty="0"/>
              <a:t>одно письмо может содержать несколько частей (текст + вложения)</a:t>
            </a:r>
          </a:p>
          <a:p>
            <a:endParaRPr lang="en-US" dirty="0"/>
          </a:p>
        </p:txBody>
      </p:sp>
    </p:spTree>
    <p:extLst>
      <p:ext uri="{BB962C8B-B14F-4D97-AF65-F5344CB8AC3E}">
        <p14:creationId xmlns:p14="http://schemas.microsoft.com/office/powerpoint/2010/main" val="217455864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25A97B-549A-6451-A841-B4BA7396923A}"/>
              </a:ext>
            </a:extLst>
          </p:cNvPr>
          <p:cNvSpPr>
            <a:spLocks noGrp="1"/>
          </p:cNvSpPr>
          <p:nvPr>
            <p:ph type="title"/>
          </p:nvPr>
        </p:nvSpPr>
        <p:spPr/>
        <p:txBody>
          <a:bodyPr/>
          <a:lstStyle/>
          <a:p>
            <a:r>
              <a:rPr lang="ru-RU" dirty="0"/>
              <a:t>Всемирная паутина (</a:t>
            </a:r>
            <a:r>
              <a:rPr lang="en-US" dirty="0"/>
              <a:t>World Wide Web)</a:t>
            </a:r>
          </a:p>
        </p:txBody>
      </p:sp>
      <p:sp>
        <p:nvSpPr>
          <p:cNvPr id="5" name="Text Placeholder 4">
            <a:extLst>
              <a:ext uri="{FF2B5EF4-FFF2-40B4-BE49-F238E27FC236}">
                <a16:creationId xmlns:a16="http://schemas.microsoft.com/office/drawing/2014/main" id="{98B8C059-28D9-A695-9F33-2B95A41C6F9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6305796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A74DAD-6ED9-450A-0F06-E4D4413504F4}"/>
              </a:ext>
            </a:extLst>
          </p:cNvPr>
          <p:cNvSpPr>
            <a:spLocks noGrp="1"/>
          </p:cNvSpPr>
          <p:nvPr>
            <p:ph type="title"/>
          </p:nvPr>
        </p:nvSpPr>
        <p:spPr/>
        <p:txBody>
          <a:bodyPr/>
          <a:lstStyle/>
          <a:p>
            <a:r>
              <a:rPr lang="ru-RU" dirty="0"/>
              <a:t>Всемирная паутина (World Wide Web)</a:t>
            </a:r>
            <a:endParaRPr lang="en-US" dirty="0"/>
          </a:p>
        </p:txBody>
      </p:sp>
      <p:sp>
        <p:nvSpPr>
          <p:cNvPr id="5" name="Content Placeholder 4">
            <a:extLst>
              <a:ext uri="{FF2B5EF4-FFF2-40B4-BE49-F238E27FC236}">
                <a16:creationId xmlns:a16="http://schemas.microsoft.com/office/drawing/2014/main" id="{E65C5511-1AF0-C8AD-0597-129D288A15AE}"/>
              </a:ext>
            </a:extLst>
          </p:cNvPr>
          <p:cNvSpPr>
            <a:spLocks noGrp="1"/>
          </p:cNvSpPr>
          <p:nvPr>
            <p:ph idx="1"/>
          </p:nvPr>
        </p:nvSpPr>
        <p:spPr/>
        <p:txBody>
          <a:bodyPr>
            <a:normAutofit/>
          </a:bodyPr>
          <a:lstStyle/>
          <a:p>
            <a:r>
              <a:rPr lang="ru-RU" dirty="0"/>
              <a:t>World Wide Web — архитектура доступа к связанному гиперссылками контенту</a:t>
            </a:r>
          </a:p>
          <a:p>
            <a:r>
              <a:rPr lang="ru-RU" dirty="0"/>
              <a:t>Создана в 1989 г. в CERN (Швейцария)</a:t>
            </a:r>
          </a:p>
          <a:p>
            <a:r>
              <a:rPr lang="ru-RU" dirty="0"/>
              <a:t>Идея: связанные документы + простой доступ через браузер</a:t>
            </a:r>
          </a:p>
          <a:p>
            <a:r>
              <a:rPr lang="ru-RU" dirty="0"/>
              <a:t>Ключевые фигуры: Тим Бернерс-Ли, Марк </a:t>
            </a:r>
            <a:r>
              <a:rPr lang="ru-RU" dirty="0" err="1"/>
              <a:t>Андриссен</a:t>
            </a:r>
            <a:endParaRPr lang="ru-RU" dirty="0"/>
          </a:p>
          <a:p>
            <a:r>
              <a:rPr lang="ru-RU" dirty="0"/>
              <a:t>Быстрый рост: от научного инструмента → массовый интернет</a:t>
            </a:r>
          </a:p>
          <a:p>
            <a:r>
              <a:rPr lang="ru-RU" dirty="0"/>
              <a:t>Стандартизация и развитие: W3C (с 1994 г.)</a:t>
            </a:r>
          </a:p>
        </p:txBody>
      </p:sp>
    </p:spTree>
    <p:extLst>
      <p:ext uri="{BB962C8B-B14F-4D97-AF65-F5344CB8AC3E}">
        <p14:creationId xmlns:p14="http://schemas.microsoft.com/office/powerpoint/2010/main" val="320708992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C3B02-8A79-C664-AC2C-841C3352429E}"/>
              </a:ext>
            </a:extLst>
          </p:cNvPr>
          <p:cNvSpPr>
            <a:spLocks noGrp="1"/>
          </p:cNvSpPr>
          <p:nvPr>
            <p:ph type="title"/>
          </p:nvPr>
        </p:nvSpPr>
        <p:spPr/>
        <p:txBody>
          <a:bodyPr/>
          <a:lstStyle/>
          <a:p>
            <a:r>
              <a:rPr lang="ru-RU" dirty="0"/>
              <a:t>Архитектура всемирной паутины</a:t>
            </a:r>
            <a:endParaRPr lang="en-US" dirty="0"/>
          </a:p>
        </p:txBody>
      </p:sp>
      <p:sp>
        <p:nvSpPr>
          <p:cNvPr id="3" name="Content Placeholder 2">
            <a:extLst>
              <a:ext uri="{FF2B5EF4-FFF2-40B4-BE49-F238E27FC236}">
                <a16:creationId xmlns:a16="http://schemas.microsoft.com/office/drawing/2014/main" id="{7B3E79E2-204E-B45F-74D0-FA1280F5CC2D}"/>
              </a:ext>
            </a:extLst>
          </p:cNvPr>
          <p:cNvSpPr>
            <a:spLocks noGrp="1"/>
          </p:cNvSpPr>
          <p:nvPr>
            <p:ph idx="1"/>
          </p:nvPr>
        </p:nvSpPr>
        <p:spPr/>
        <p:txBody>
          <a:bodyPr>
            <a:normAutofit fontScale="92500" lnSpcReduction="20000"/>
          </a:bodyPr>
          <a:lstStyle/>
          <a:p>
            <a:r>
              <a:rPr lang="ru-RU" dirty="0"/>
              <a:t>Веб состоит из связанных веб-страниц и объектов по всему интернету</a:t>
            </a:r>
          </a:p>
          <a:p>
            <a:r>
              <a:rPr lang="ru-RU" dirty="0"/>
              <a:t>Страница состоит из множества объектов: текст, изображения, видео, скрипты</a:t>
            </a:r>
          </a:p>
          <a:p>
            <a:r>
              <a:rPr lang="ru-RU" dirty="0"/>
              <a:t>Навигация выполняется через гиперссылки (</a:t>
            </a:r>
            <a:r>
              <a:rPr lang="ru-RU" dirty="0" err="1"/>
              <a:t>hyperlinks</a:t>
            </a:r>
            <a:r>
              <a:rPr lang="ru-RU" dirty="0"/>
              <a:t>) — идея гипертекста</a:t>
            </a:r>
          </a:p>
          <a:p>
            <a:r>
              <a:rPr lang="ru-RU" dirty="0"/>
              <a:t>Пользователь работает через браузер</a:t>
            </a:r>
          </a:p>
          <a:p>
            <a:r>
              <a:rPr lang="ru-RU" dirty="0"/>
              <a:t>Взаимодействие: браузер (клиент) ↔ веб-сервер</a:t>
            </a:r>
          </a:p>
          <a:p>
            <a:r>
              <a:rPr lang="ru-RU" dirty="0"/>
              <a:t>Протоколы: HTTP / HTTPS</a:t>
            </a:r>
          </a:p>
          <a:p>
            <a:r>
              <a:rPr lang="ru-RU" dirty="0"/>
              <a:t>Страницы бывают статические и динамические</a:t>
            </a:r>
          </a:p>
          <a:p>
            <a:r>
              <a:rPr lang="ru-RU" dirty="0"/>
              <a:t>Одна страница может загружаться с нескольких серверов</a:t>
            </a:r>
          </a:p>
          <a:p>
            <a:endParaRPr lang="en-US" dirty="0"/>
          </a:p>
        </p:txBody>
      </p:sp>
    </p:spTree>
    <p:extLst>
      <p:ext uri="{BB962C8B-B14F-4D97-AF65-F5344CB8AC3E}">
        <p14:creationId xmlns:p14="http://schemas.microsoft.com/office/powerpoint/2010/main" val="120507763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49ECF-8737-E5A5-A9D8-60C7B2E04A31}"/>
              </a:ext>
            </a:extLst>
          </p:cNvPr>
          <p:cNvSpPr>
            <a:spLocks noGrp="1"/>
          </p:cNvSpPr>
          <p:nvPr>
            <p:ph type="title"/>
          </p:nvPr>
        </p:nvSpPr>
        <p:spPr/>
        <p:txBody>
          <a:bodyPr/>
          <a:lstStyle/>
          <a:p>
            <a:r>
              <a:rPr lang="ru-RU" dirty="0"/>
              <a:t>Веб со стороны клиента</a:t>
            </a:r>
            <a:endParaRPr lang="en-US" dirty="0"/>
          </a:p>
        </p:txBody>
      </p:sp>
      <p:sp>
        <p:nvSpPr>
          <p:cNvPr id="3" name="Content Placeholder 2">
            <a:extLst>
              <a:ext uri="{FF2B5EF4-FFF2-40B4-BE49-F238E27FC236}">
                <a16:creationId xmlns:a16="http://schemas.microsoft.com/office/drawing/2014/main" id="{FD68A0B6-FDCB-83B8-142B-181A488CD38A}"/>
              </a:ext>
            </a:extLst>
          </p:cNvPr>
          <p:cNvSpPr>
            <a:spLocks noGrp="1"/>
          </p:cNvSpPr>
          <p:nvPr>
            <p:ph idx="1"/>
          </p:nvPr>
        </p:nvSpPr>
        <p:spPr/>
        <p:txBody>
          <a:bodyPr>
            <a:normAutofit fontScale="77500" lnSpcReduction="20000"/>
          </a:bodyPr>
          <a:lstStyle/>
          <a:p>
            <a:r>
              <a:rPr lang="ru-RU" dirty="0"/>
              <a:t>Браузер: переход по ссылке = загрузка ресурса</a:t>
            </a:r>
          </a:p>
          <a:p>
            <a:r>
              <a:rPr lang="ru-RU" b="1" dirty="0"/>
              <a:t>URL</a:t>
            </a:r>
            <a:r>
              <a:rPr lang="ru-RU" dirty="0"/>
              <a:t> отвечает на 3 вопроса: что? где? как?</a:t>
            </a:r>
          </a:p>
          <a:p>
            <a:pPr lvl="1"/>
            <a:r>
              <a:rPr lang="ru-RU" dirty="0" err="1"/>
              <a:t>scheme</a:t>
            </a:r>
            <a:r>
              <a:rPr lang="ru-RU" dirty="0"/>
              <a:t> + DNS-имя + путь (пример: https://fcc.gov/)</a:t>
            </a:r>
          </a:p>
          <a:p>
            <a:r>
              <a:rPr lang="ru-RU" dirty="0"/>
              <a:t>Типичный процесс загрузки страницы:</a:t>
            </a:r>
          </a:p>
          <a:p>
            <a:pPr lvl="1"/>
            <a:r>
              <a:rPr lang="ru-RU" dirty="0"/>
              <a:t>извлечь URL</a:t>
            </a:r>
          </a:p>
          <a:p>
            <a:pPr lvl="1"/>
            <a:r>
              <a:rPr lang="ru-RU" dirty="0"/>
              <a:t>DNS: имя → IP</a:t>
            </a:r>
          </a:p>
          <a:p>
            <a:pPr lvl="1"/>
            <a:r>
              <a:rPr lang="ru-RU" dirty="0"/>
              <a:t>TCP соединение (для HTTPS обычно порт 443)</a:t>
            </a:r>
          </a:p>
          <a:p>
            <a:pPr lvl="1"/>
            <a:r>
              <a:rPr lang="ru-RU" dirty="0"/>
              <a:t>отправить HTTP(S) запрос → получить ответ</a:t>
            </a:r>
          </a:p>
          <a:p>
            <a:pPr lvl="1"/>
            <a:r>
              <a:rPr lang="ru-RU" dirty="0"/>
              <a:t>догрузить встроенные объекты (картинки/шрифты/скрипты/аналитика) с разных доменов</a:t>
            </a:r>
          </a:p>
          <a:p>
            <a:pPr lvl="1"/>
            <a:r>
              <a:rPr lang="ru-RU" dirty="0"/>
              <a:t>отрисовать страницу; соединения затем закрываются/</a:t>
            </a:r>
            <a:r>
              <a:rPr lang="ru-RU" dirty="0" err="1"/>
              <a:t>переиспользуются</a:t>
            </a:r>
            <a:endParaRPr lang="ru-RU" dirty="0"/>
          </a:p>
          <a:p>
            <a:r>
              <a:rPr lang="ru-RU" dirty="0"/>
              <a:t>Диагностика: </a:t>
            </a:r>
            <a:r>
              <a:rPr lang="ru-RU" dirty="0" err="1"/>
              <a:t>waterfall</a:t>
            </a:r>
            <a:r>
              <a:rPr lang="ru-RU" dirty="0"/>
              <a:t> </a:t>
            </a:r>
            <a:r>
              <a:rPr lang="ru-RU" dirty="0" err="1"/>
              <a:t>diagram</a:t>
            </a:r>
            <a:r>
              <a:rPr lang="ru-RU" dirty="0"/>
              <a:t> показывает DNS, соединения и загрузку каждого объекта</a:t>
            </a:r>
          </a:p>
          <a:p>
            <a:r>
              <a:rPr lang="ru-RU" dirty="0"/>
              <a:t>URL могут указывать не только на </a:t>
            </a:r>
            <a:r>
              <a:rPr lang="ru-RU" dirty="0" err="1"/>
              <a:t>web</a:t>
            </a:r>
            <a:r>
              <a:rPr lang="ru-RU" dirty="0"/>
              <a:t>: </a:t>
            </a:r>
            <a:r>
              <a:rPr lang="ru-RU" dirty="0" err="1"/>
              <a:t>http</a:t>
            </a:r>
            <a:r>
              <a:rPr lang="ru-RU" dirty="0"/>
              <a:t>/</a:t>
            </a:r>
            <a:r>
              <a:rPr lang="ru-RU" dirty="0" err="1"/>
              <a:t>https</a:t>
            </a:r>
            <a:r>
              <a:rPr lang="ru-RU" dirty="0"/>
              <a:t>, </a:t>
            </a:r>
            <a:r>
              <a:rPr lang="ru-RU" dirty="0" err="1"/>
              <a:t>ftp</a:t>
            </a:r>
            <a:r>
              <a:rPr lang="ru-RU" dirty="0"/>
              <a:t>, </a:t>
            </a:r>
            <a:r>
              <a:rPr lang="ru-RU" dirty="0" err="1"/>
              <a:t>file</a:t>
            </a:r>
            <a:r>
              <a:rPr lang="ru-RU" dirty="0"/>
              <a:t>, </a:t>
            </a:r>
            <a:r>
              <a:rPr lang="ru-RU" dirty="0" err="1"/>
              <a:t>mailto</a:t>
            </a:r>
            <a:r>
              <a:rPr lang="ru-RU" dirty="0"/>
              <a:t>, </a:t>
            </a:r>
            <a:r>
              <a:rPr lang="ru-RU" dirty="0" err="1"/>
              <a:t>about</a:t>
            </a:r>
            <a:r>
              <a:rPr lang="ru-RU" dirty="0"/>
              <a:t>, </a:t>
            </a:r>
            <a:r>
              <a:rPr lang="ru-RU" dirty="0" err="1"/>
              <a:t>rtsp</a:t>
            </a:r>
            <a:r>
              <a:rPr lang="ru-RU" dirty="0"/>
              <a:t>/</a:t>
            </a:r>
            <a:r>
              <a:rPr lang="ru-RU" dirty="0" err="1"/>
              <a:t>sip</a:t>
            </a:r>
            <a:endParaRPr lang="ru-RU" dirty="0"/>
          </a:p>
          <a:p>
            <a:endParaRPr lang="en-US" dirty="0"/>
          </a:p>
        </p:txBody>
      </p:sp>
    </p:spTree>
    <p:extLst>
      <p:ext uri="{BB962C8B-B14F-4D97-AF65-F5344CB8AC3E}">
        <p14:creationId xmlns:p14="http://schemas.microsoft.com/office/powerpoint/2010/main" val="187688827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15933-ADA1-0B98-D116-4DA389B4D2BA}"/>
              </a:ext>
            </a:extLst>
          </p:cNvPr>
          <p:cNvSpPr>
            <a:spLocks noGrp="1"/>
          </p:cNvSpPr>
          <p:nvPr>
            <p:ph type="title"/>
          </p:nvPr>
        </p:nvSpPr>
        <p:spPr/>
        <p:txBody>
          <a:bodyPr/>
          <a:lstStyle/>
          <a:p>
            <a:r>
              <a:rPr lang="ru-RU" dirty="0"/>
              <a:t>Веб со стороны сервера</a:t>
            </a:r>
            <a:endParaRPr lang="en-US" dirty="0"/>
          </a:p>
        </p:txBody>
      </p:sp>
      <p:sp>
        <p:nvSpPr>
          <p:cNvPr id="3" name="Content Placeholder 2">
            <a:extLst>
              <a:ext uri="{FF2B5EF4-FFF2-40B4-BE49-F238E27FC236}">
                <a16:creationId xmlns:a16="http://schemas.microsoft.com/office/drawing/2014/main" id="{57267851-E701-317E-5867-782DEC1D64BC}"/>
              </a:ext>
            </a:extLst>
          </p:cNvPr>
          <p:cNvSpPr>
            <a:spLocks noGrp="1"/>
          </p:cNvSpPr>
          <p:nvPr>
            <p:ph sz="half" idx="1"/>
          </p:nvPr>
        </p:nvSpPr>
        <p:spPr>
          <a:xfrm>
            <a:off x="838200" y="1825625"/>
            <a:ext cx="6837670" cy="4351338"/>
          </a:xfrm>
        </p:spPr>
        <p:txBody>
          <a:bodyPr>
            <a:normAutofit fontScale="70000" lnSpcReduction="20000"/>
          </a:bodyPr>
          <a:lstStyle/>
          <a:p>
            <a:r>
              <a:rPr lang="ru-RU" dirty="0"/>
              <a:t>Браузер подключается по TCP:443 (HTTPS) и передаёт серверу путь из URL</a:t>
            </a:r>
          </a:p>
          <a:p>
            <a:r>
              <a:rPr lang="ru-RU" dirty="0"/>
              <a:t>Простейший веб-сервер (статическая страница):</a:t>
            </a:r>
          </a:p>
          <a:p>
            <a:pPr lvl="1"/>
            <a:r>
              <a:rPr lang="ru-RU" dirty="0"/>
              <a:t>принять TCP-соединение</a:t>
            </a:r>
          </a:p>
          <a:p>
            <a:pPr lvl="1"/>
            <a:r>
              <a:rPr lang="ru-RU" dirty="0"/>
              <a:t>прочитать путь (имя ресурса)</a:t>
            </a:r>
          </a:p>
          <a:p>
            <a:pPr lvl="1"/>
            <a:r>
              <a:rPr lang="ru-RU" dirty="0"/>
              <a:t>взять файл с диска или сгенерировать контент </a:t>
            </a:r>
            <a:r>
              <a:rPr lang="ru-RU" dirty="0" err="1"/>
              <a:t>программно</a:t>
            </a:r>
            <a:endParaRPr lang="ru-RU" dirty="0"/>
          </a:p>
          <a:p>
            <a:pPr lvl="1"/>
            <a:r>
              <a:rPr lang="ru-RU" dirty="0"/>
              <a:t>отправить ответ</a:t>
            </a:r>
          </a:p>
          <a:p>
            <a:pPr lvl="1"/>
            <a:r>
              <a:rPr lang="ru-RU" dirty="0"/>
              <a:t>закрыть соединение</a:t>
            </a:r>
          </a:p>
          <a:p>
            <a:r>
              <a:rPr lang="ru-RU" dirty="0"/>
              <a:t>Проблемы при высокой нагрузке: медленный диск + блокировка одного запроса</a:t>
            </a:r>
          </a:p>
          <a:p>
            <a:r>
              <a:rPr lang="ru-RU" dirty="0"/>
              <a:t>Решения:</a:t>
            </a:r>
          </a:p>
          <a:p>
            <a:pPr lvl="1"/>
            <a:r>
              <a:rPr lang="ru-RU" dirty="0"/>
              <a:t>кэш в памяти (горячие файлы без обращения к диску)</a:t>
            </a:r>
          </a:p>
          <a:p>
            <a:pPr lvl="1"/>
            <a:r>
              <a:rPr lang="ru-RU" dirty="0"/>
              <a:t>многопоточность / пул </a:t>
            </a:r>
            <a:r>
              <a:rPr lang="ru-RU" dirty="0" err="1"/>
              <a:t>worker’ов</a:t>
            </a:r>
            <a:r>
              <a:rPr lang="ru-RU" dirty="0"/>
              <a:t> (параллельная обработка)</a:t>
            </a:r>
          </a:p>
          <a:p>
            <a:r>
              <a:rPr lang="ru-RU" dirty="0"/>
              <a:t>Современная схема: </a:t>
            </a:r>
            <a:r>
              <a:rPr lang="ru-RU" dirty="0" err="1"/>
              <a:t>front-end</a:t>
            </a:r>
            <a:r>
              <a:rPr lang="ru-RU" dirty="0"/>
              <a:t> </a:t>
            </a:r>
            <a:r>
              <a:rPr lang="ru-RU" dirty="0" err="1"/>
              <a:t>reverse</a:t>
            </a:r>
            <a:r>
              <a:rPr lang="ru-RU" dirty="0"/>
              <a:t> </a:t>
            </a:r>
            <a:r>
              <a:rPr lang="ru-RU" dirty="0" err="1"/>
              <a:t>proxy</a:t>
            </a:r>
            <a:r>
              <a:rPr lang="ru-RU" dirty="0"/>
              <a:t> ↔ </a:t>
            </a:r>
            <a:r>
              <a:rPr lang="ru-RU" dirty="0" err="1"/>
              <a:t>back-end</a:t>
            </a:r>
            <a:endParaRPr lang="ru-RU" dirty="0"/>
          </a:p>
          <a:p>
            <a:pPr lvl="1"/>
            <a:r>
              <a:rPr lang="ru-RU" dirty="0" err="1"/>
              <a:t>proxy</a:t>
            </a:r>
            <a:r>
              <a:rPr lang="ru-RU" dirty="0"/>
              <a:t> быстро отдаёт статические объекты и </a:t>
            </a:r>
            <a:r>
              <a:rPr lang="ru-RU" dirty="0" err="1"/>
              <a:t>проксирует</a:t>
            </a:r>
            <a:r>
              <a:rPr lang="ru-RU" dirty="0"/>
              <a:t> динамику к бэкенду</a:t>
            </a:r>
          </a:p>
          <a:p>
            <a:endParaRPr lang="en-US" dirty="0"/>
          </a:p>
        </p:txBody>
      </p:sp>
      <p:pic>
        <p:nvPicPr>
          <p:cNvPr id="6" name="Content Placeholder 5">
            <a:extLst>
              <a:ext uri="{FF2B5EF4-FFF2-40B4-BE49-F238E27FC236}">
                <a16:creationId xmlns:a16="http://schemas.microsoft.com/office/drawing/2014/main" id="{D6FC8BBB-2BA3-3628-2CF8-ED836C113C58}"/>
              </a:ext>
            </a:extLst>
          </p:cNvPr>
          <p:cNvPicPr>
            <a:picLocks noGrp="1" noChangeAspect="1"/>
          </p:cNvPicPr>
          <p:nvPr>
            <p:ph sz="half" idx="2"/>
          </p:nvPr>
        </p:nvPicPr>
        <p:blipFill>
          <a:blip r:embed="rId3"/>
          <a:stretch>
            <a:fillRect/>
          </a:stretch>
        </p:blipFill>
        <p:spPr>
          <a:xfrm>
            <a:off x="7675869" y="1540093"/>
            <a:ext cx="4326324" cy="1888907"/>
          </a:xfrm>
          <a:prstGeom prst="rect">
            <a:avLst/>
          </a:prstGeom>
        </p:spPr>
      </p:pic>
    </p:spTree>
    <p:extLst>
      <p:ext uri="{BB962C8B-B14F-4D97-AF65-F5344CB8AC3E}">
        <p14:creationId xmlns:p14="http://schemas.microsoft.com/office/powerpoint/2010/main" val="199526258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0DC116E-CAE7-1BDC-47CE-4F57B42EFFFC}"/>
              </a:ext>
            </a:extLst>
          </p:cNvPr>
          <p:cNvSpPr>
            <a:spLocks noGrp="1"/>
          </p:cNvSpPr>
          <p:nvPr>
            <p:ph type="title"/>
          </p:nvPr>
        </p:nvSpPr>
        <p:spPr/>
        <p:txBody>
          <a:bodyPr/>
          <a:lstStyle/>
          <a:p>
            <a:r>
              <a:rPr lang="ru-RU" dirty="0"/>
              <a:t>Статичные веб-объекты и HTML</a:t>
            </a:r>
            <a:endParaRPr lang="en-US" dirty="0"/>
          </a:p>
        </p:txBody>
      </p:sp>
      <p:sp>
        <p:nvSpPr>
          <p:cNvPr id="6" name="Content Placeholder 5">
            <a:extLst>
              <a:ext uri="{FF2B5EF4-FFF2-40B4-BE49-F238E27FC236}">
                <a16:creationId xmlns:a16="http://schemas.microsoft.com/office/drawing/2014/main" id="{B63520C5-1579-0F5D-BBA1-91B1804528E3}"/>
              </a:ext>
            </a:extLst>
          </p:cNvPr>
          <p:cNvSpPr>
            <a:spLocks noGrp="1"/>
          </p:cNvSpPr>
          <p:nvPr>
            <p:ph idx="1"/>
          </p:nvPr>
        </p:nvSpPr>
        <p:spPr/>
        <p:txBody>
          <a:bodyPr>
            <a:normAutofit lnSpcReduction="10000"/>
          </a:bodyPr>
          <a:lstStyle/>
          <a:p>
            <a:r>
              <a:rPr lang="ru-RU" dirty="0"/>
              <a:t>Статичные веб-объекты — файлы, которые при каждом запросе одинаковы</a:t>
            </a:r>
          </a:p>
          <a:p>
            <a:r>
              <a:rPr lang="ru-RU" dirty="0"/>
              <a:t>Примеры: HTML-страницы, изображения, видео, CSS, шрифты</a:t>
            </a:r>
          </a:p>
          <a:p>
            <a:r>
              <a:rPr lang="ru-RU" dirty="0"/>
              <a:t>Хорошо кэшируются → часто хранятся в CDN и </a:t>
            </a:r>
            <a:r>
              <a:rPr lang="ru-RU" dirty="0" err="1"/>
              <a:t>proxy</a:t>
            </a:r>
            <a:r>
              <a:rPr lang="ru-RU" dirty="0"/>
              <a:t>-кэше</a:t>
            </a:r>
          </a:p>
          <a:p>
            <a:r>
              <a:rPr lang="ru-RU" dirty="0"/>
              <a:t>Основной язык веба — HTML (язык разметки)</a:t>
            </a:r>
          </a:p>
          <a:p>
            <a:r>
              <a:rPr lang="ru-RU" dirty="0"/>
              <a:t>Разделение контента и оформления:</a:t>
            </a:r>
          </a:p>
          <a:p>
            <a:pPr lvl="1"/>
            <a:r>
              <a:rPr lang="ru-RU" dirty="0"/>
              <a:t>HTML — структура и смысл</a:t>
            </a:r>
          </a:p>
          <a:p>
            <a:pPr lvl="1"/>
            <a:r>
              <a:rPr lang="ru-RU" dirty="0"/>
              <a:t>CSS — внешний вид (шрифты, цвета, отступы, расположение)</a:t>
            </a:r>
          </a:p>
          <a:p>
            <a:r>
              <a:rPr lang="ru-RU" dirty="0"/>
              <a:t>Один HTML-документ корректно отображается на разных устройствах</a:t>
            </a:r>
          </a:p>
        </p:txBody>
      </p:sp>
    </p:spTree>
    <p:extLst>
      <p:ext uri="{BB962C8B-B14F-4D97-AF65-F5344CB8AC3E}">
        <p14:creationId xmlns:p14="http://schemas.microsoft.com/office/powerpoint/2010/main" val="177942776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1ACB8-CE89-6ACC-F107-781F0AA2D435}"/>
              </a:ext>
            </a:extLst>
          </p:cNvPr>
          <p:cNvSpPr>
            <a:spLocks noGrp="1"/>
          </p:cNvSpPr>
          <p:nvPr>
            <p:ph type="title"/>
          </p:nvPr>
        </p:nvSpPr>
        <p:spPr/>
        <p:txBody>
          <a:bodyPr>
            <a:normAutofit/>
          </a:bodyPr>
          <a:lstStyle/>
          <a:p>
            <a:r>
              <a:rPr lang="ru-RU" dirty="0"/>
              <a:t>Динамические веб-страницы и веб-приложения</a:t>
            </a:r>
            <a:endParaRPr lang="en-US" dirty="0"/>
          </a:p>
        </p:txBody>
      </p:sp>
      <p:sp>
        <p:nvSpPr>
          <p:cNvPr id="3" name="Content Placeholder 2">
            <a:extLst>
              <a:ext uri="{FF2B5EF4-FFF2-40B4-BE49-F238E27FC236}">
                <a16:creationId xmlns:a16="http://schemas.microsoft.com/office/drawing/2014/main" id="{34CE3A0F-6B49-F7D5-7D09-C6931983C816}"/>
              </a:ext>
            </a:extLst>
          </p:cNvPr>
          <p:cNvSpPr>
            <a:spLocks noGrp="1"/>
          </p:cNvSpPr>
          <p:nvPr>
            <p:ph idx="1"/>
          </p:nvPr>
        </p:nvSpPr>
        <p:spPr/>
        <p:txBody>
          <a:bodyPr>
            <a:normAutofit fontScale="77500" lnSpcReduction="20000"/>
          </a:bodyPr>
          <a:lstStyle/>
          <a:p>
            <a:r>
              <a:rPr lang="ru-RU" dirty="0"/>
              <a:t>Современный веб = приложения и сервисы, а не набор статичных страниц</a:t>
            </a:r>
          </a:p>
          <a:p>
            <a:r>
              <a:rPr lang="ru-RU" dirty="0"/>
              <a:t>Динамический контент может формироваться:</a:t>
            </a:r>
          </a:p>
          <a:p>
            <a:pPr lvl="1"/>
            <a:r>
              <a:rPr lang="ru-RU" dirty="0"/>
              <a:t>на сервере (CGI, PHP, доступ к БД)</a:t>
            </a:r>
          </a:p>
          <a:p>
            <a:pPr lvl="1"/>
            <a:r>
              <a:rPr lang="ru-RU" dirty="0"/>
              <a:t>в браузере (JavaScript)</a:t>
            </a:r>
          </a:p>
          <a:p>
            <a:r>
              <a:rPr lang="ru-RU" dirty="0"/>
              <a:t>Серверная динамика:</a:t>
            </a:r>
          </a:p>
          <a:p>
            <a:pPr lvl="1"/>
            <a:r>
              <a:rPr lang="ru-RU" dirty="0"/>
              <a:t>запрос → запуск программы → генерация HTML → ответ</a:t>
            </a:r>
          </a:p>
          <a:p>
            <a:pPr lvl="1"/>
            <a:r>
              <a:rPr lang="ru-RU" dirty="0"/>
              <a:t>примеры: оформление заказа, поиск, персонализация</a:t>
            </a:r>
          </a:p>
          <a:p>
            <a:r>
              <a:rPr lang="ru-RU" dirty="0"/>
              <a:t>Клиентская динамика:</a:t>
            </a:r>
          </a:p>
          <a:p>
            <a:pPr lvl="1"/>
            <a:r>
              <a:rPr lang="ru-RU" dirty="0"/>
              <a:t>код выполняется в браузере</a:t>
            </a:r>
          </a:p>
          <a:p>
            <a:pPr lvl="1"/>
            <a:r>
              <a:rPr lang="ru-RU" dirty="0"/>
              <a:t>мгновенная реакция на действия пользователя (без перезагрузки страницы)</a:t>
            </a:r>
          </a:p>
          <a:p>
            <a:r>
              <a:rPr lang="ru-RU" dirty="0"/>
              <a:t>Типичное разделение ролей:</a:t>
            </a:r>
          </a:p>
          <a:p>
            <a:pPr lvl="1"/>
            <a:r>
              <a:rPr lang="ru-RU" dirty="0"/>
              <a:t>сервер — данные, бизнес-логика, БД</a:t>
            </a:r>
          </a:p>
          <a:p>
            <a:pPr lvl="1"/>
            <a:r>
              <a:rPr lang="ru-RU" dirty="0"/>
              <a:t>клиент — интерфейс и интерактивность</a:t>
            </a:r>
          </a:p>
          <a:p>
            <a:r>
              <a:rPr lang="ru-RU" dirty="0"/>
              <a:t>Основа веб-приложений и облачных сервисов</a:t>
            </a:r>
          </a:p>
          <a:p>
            <a:endParaRPr lang="en-US" dirty="0"/>
          </a:p>
        </p:txBody>
      </p:sp>
    </p:spTree>
    <p:extLst>
      <p:ext uri="{BB962C8B-B14F-4D97-AF65-F5344CB8AC3E}">
        <p14:creationId xmlns:p14="http://schemas.microsoft.com/office/powerpoint/2010/main" val="427925137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825F4-1CEA-C826-B06E-9848F6FDBEA9}"/>
              </a:ext>
            </a:extLst>
          </p:cNvPr>
          <p:cNvSpPr>
            <a:spLocks noGrp="1"/>
          </p:cNvSpPr>
          <p:nvPr>
            <p:ph type="title"/>
          </p:nvPr>
        </p:nvSpPr>
        <p:spPr/>
        <p:txBody>
          <a:bodyPr>
            <a:normAutofit/>
          </a:bodyPr>
          <a:lstStyle/>
          <a:p>
            <a:r>
              <a:rPr lang="ru-RU" dirty="0"/>
              <a:t>HTTP и HTTPS: основы протокола</a:t>
            </a:r>
            <a:endParaRPr lang="en-US" dirty="0"/>
          </a:p>
        </p:txBody>
      </p:sp>
      <p:sp>
        <p:nvSpPr>
          <p:cNvPr id="3" name="Content Placeholder 2">
            <a:extLst>
              <a:ext uri="{FF2B5EF4-FFF2-40B4-BE49-F238E27FC236}">
                <a16:creationId xmlns:a16="http://schemas.microsoft.com/office/drawing/2014/main" id="{44A2EAFB-C834-E6A5-6D0A-E62AAE20E84C}"/>
              </a:ext>
            </a:extLst>
          </p:cNvPr>
          <p:cNvSpPr>
            <a:spLocks noGrp="1"/>
          </p:cNvSpPr>
          <p:nvPr>
            <p:ph idx="1"/>
          </p:nvPr>
        </p:nvSpPr>
        <p:spPr/>
        <p:txBody>
          <a:bodyPr>
            <a:normAutofit fontScale="92500" lnSpcReduction="10000"/>
          </a:bodyPr>
          <a:lstStyle/>
          <a:p>
            <a:r>
              <a:rPr lang="ru-RU" dirty="0"/>
              <a:t>HTTP — прикладной протокол передачи веб-контента (запрос–ответ)</a:t>
            </a:r>
          </a:p>
          <a:p>
            <a:r>
              <a:rPr lang="ru-RU" dirty="0"/>
              <a:t>HTTPS = HTTP поверх TLS (шифрование, целостность, аутентификация)</a:t>
            </a:r>
          </a:p>
          <a:p>
            <a:r>
              <a:rPr lang="ru-RU" dirty="0"/>
              <a:t>Версии:</a:t>
            </a:r>
          </a:p>
          <a:p>
            <a:pPr lvl="1"/>
            <a:r>
              <a:rPr lang="ru-RU" dirty="0"/>
              <a:t>HTTP/1.x — поверх TCP</a:t>
            </a:r>
          </a:p>
          <a:p>
            <a:pPr lvl="1"/>
            <a:r>
              <a:rPr lang="ru-RU" dirty="0"/>
              <a:t>HTTP/2 — оптимизации поверх TCP</a:t>
            </a:r>
          </a:p>
          <a:p>
            <a:pPr lvl="1"/>
            <a:r>
              <a:rPr lang="ru-RU" dirty="0"/>
              <a:t>HTTP/3 — поверх UDP (QUIC)</a:t>
            </a:r>
          </a:p>
          <a:p>
            <a:r>
              <a:rPr lang="ru-RU" dirty="0"/>
              <a:t>Используется не только браузерами:</a:t>
            </a:r>
          </a:p>
          <a:p>
            <a:pPr lvl="1"/>
            <a:r>
              <a:rPr lang="ru-RU" dirty="0"/>
              <a:t>API, облака, обновления ПО, сервис–сервис</a:t>
            </a:r>
          </a:p>
          <a:p>
            <a:r>
              <a:rPr lang="ru-RU" dirty="0"/>
              <a:t>Сообщения — ASCII-заголовки + тело (MIME-подобный формат)</a:t>
            </a:r>
          </a:p>
          <a:p>
            <a:endParaRPr lang="en-US" dirty="0"/>
          </a:p>
        </p:txBody>
      </p:sp>
    </p:spTree>
    <p:extLst>
      <p:ext uri="{BB962C8B-B14F-4D97-AF65-F5344CB8AC3E}">
        <p14:creationId xmlns:p14="http://schemas.microsoft.com/office/powerpoint/2010/main" val="136799778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DA91-074A-5086-4165-B220AF31C8F4}"/>
              </a:ext>
            </a:extLst>
          </p:cNvPr>
          <p:cNvSpPr>
            <a:spLocks noGrp="1"/>
          </p:cNvSpPr>
          <p:nvPr>
            <p:ph type="title"/>
          </p:nvPr>
        </p:nvSpPr>
        <p:spPr/>
        <p:txBody>
          <a:bodyPr/>
          <a:lstStyle/>
          <a:p>
            <a:r>
              <a:rPr lang="ru-RU" dirty="0"/>
              <a:t>Методы, заголовки и кэширование </a:t>
            </a:r>
            <a:r>
              <a:rPr lang="en-US" dirty="0"/>
              <a:t>HTTP</a:t>
            </a:r>
          </a:p>
        </p:txBody>
      </p:sp>
      <p:sp>
        <p:nvSpPr>
          <p:cNvPr id="3" name="Content Placeholder 2">
            <a:extLst>
              <a:ext uri="{FF2B5EF4-FFF2-40B4-BE49-F238E27FC236}">
                <a16:creationId xmlns:a16="http://schemas.microsoft.com/office/drawing/2014/main" id="{A4B58DEE-3FBA-A913-8C26-3E347B124B55}"/>
              </a:ext>
            </a:extLst>
          </p:cNvPr>
          <p:cNvSpPr>
            <a:spLocks noGrp="1"/>
          </p:cNvSpPr>
          <p:nvPr>
            <p:ph idx="1"/>
          </p:nvPr>
        </p:nvSpPr>
        <p:spPr/>
        <p:txBody>
          <a:bodyPr>
            <a:normAutofit fontScale="85000" lnSpcReduction="20000"/>
          </a:bodyPr>
          <a:lstStyle/>
          <a:p>
            <a:r>
              <a:rPr lang="ru-RU" dirty="0"/>
              <a:t>Методы </a:t>
            </a:r>
            <a:r>
              <a:rPr lang="en-US" dirty="0"/>
              <a:t>HTTP:</a:t>
            </a:r>
          </a:p>
          <a:p>
            <a:pPr lvl="1"/>
            <a:r>
              <a:rPr lang="en-US" dirty="0"/>
              <a:t>GET — </a:t>
            </a:r>
            <a:r>
              <a:rPr lang="ru-RU" dirty="0"/>
              <a:t>получить ресурс</a:t>
            </a:r>
          </a:p>
          <a:p>
            <a:pPr lvl="1"/>
            <a:r>
              <a:rPr lang="en-US" dirty="0"/>
              <a:t>POST — </a:t>
            </a:r>
            <a:r>
              <a:rPr lang="ru-RU" dirty="0"/>
              <a:t>отправить данные (формы)</a:t>
            </a:r>
          </a:p>
          <a:p>
            <a:pPr lvl="1"/>
            <a:r>
              <a:rPr lang="en-US" dirty="0"/>
              <a:t>HEAD — </a:t>
            </a:r>
            <a:r>
              <a:rPr lang="ru-RU" dirty="0"/>
              <a:t>только заголовки</a:t>
            </a:r>
          </a:p>
          <a:p>
            <a:pPr lvl="1"/>
            <a:r>
              <a:rPr lang="en-US" dirty="0"/>
              <a:t>PUT / DELETE — </a:t>
            </a:r>
            <a:r>
              <a:rPr lang="ru-RU" dirty="0"/>
              <a:t>запись и удаление</a:t>
            </a:r>
          </a:p>
          <a:p>
            <a:r>
              <a:rPr lang="ru-RU" dirty="0"/>
              <a:t>Коды ответа:</a:t>
            </a:r>
          </a:p>
          <a:p>
            <a:pPr lvl="1"/>
            <a:r>
              <a:rPr lang="ru-RU" dirty="0"/>
              <a:t>2</a:t>
            </a:r>
            <a:r>
              <a:rPr lang="en-US" dirty="0"/>
              <a:t>xx — </a:t>
            </a:r>
            <a:r>
              <a:rPr lang="ru-RU" dirty="0"/>
              <a:t>успех, 3</a:t>
            </a:r>
            <a:r>
              <a:rPr lang="en-US" dirty="0"/>
              <a:t>xx — </a:t>
            </a:r>
            <a:r>
              <a:rPr lang="ru-RU" dirty="0"/>
              <a:t>перенаправление</a:t>
            </a:r>
          </a:p>
          <a:p>
            <a:pPr lvl="1"/>
            <a:r>
              <a:rPr lang="ru-RU" dirty="0"/>
              <a:t>4</a:t>
            </a:r>
            <a:r>
              <a:rPr lang="en-US" dirty="0"/>
              <a:t>xx — </a:t>
            </a:r>
            <a:r>
              <a:rPr lang="ru-RU" dirty="0"/>
              <a:t>ошибка клиента, 5</a:t>
            </a:r>
            <a:r>
              <a:rPr lang="en-US" dirty="0"/>
              <a:t>xx — </a:t>
            </a:r>
            <a:r>
              <a:rPr lang="ru-RU" dirty="0"/>
              <a:t>ошибка сервера</a:t>
            </a:r>
          </a:p>
          <a:p>
            <a:r>
              <a:rPr lang="ru-RU" dirty="0"/>
              <a:t>Заголовки:</a:t>
            </a:r>
          </a:p>
          <a:p>
            <a:pPr lvl="1"/>
            <a:r>
              <a:rPr lang="en-US" dirty="0"/>
              <a:t>Host, User-Agent, Accept*, Authorization</a:t>
            </a:r>
          </a:p>
          <a:p>
            <a:pPr lvl="1"/>
            <a:r>
              <a:rPr lang="en-US" dirty="0"/>
              <a:t>Cookie / Set-Cookie</a:t>
            </a:r>
          </a:p>
          <a:p>
            <a:r>
              <a:rPr lang="ru-RU" dirty="0"/>
              <a:t>Кэширование:</a:t>
            </a:r>
          </a:p>
          <a:p>
            <a:pPr lvl="1"/>
            <a:r>
              <a:rPr lang="en-US" dirty="0"/>
              <a:t>Expires, Cache-Control, ETag</a:t>
            </a:r>
          </a:p>
          <a:p>
            <a:pPr lvl="1"/>
            <a:r>
              <a:rPr lang="ru-RU" dirty="0"/>
              <a:t>условный запрос (</a:t>
            </a:r>
            <a:r>
              <a:rPr lang="en-US" dirty="0"/>
              <a:t>If-Modified-Since / If-None-Match)</a:t>
            </a:r>
          </a:p>
          <a:p>
            <a:endParaRPr lang="en-US" dirty="0"/>
          </a:p>
        </p:txBody>
      </p:sp>
    </p:spTree>
    <p:extLst>
      <p:ext uri="{BB962C8B-B14F-4D97-AF65-F5344CB8AC3E}">
        <p14:creationId xmlns:p14="http://schemas.microsoft.com/office/powerpoint/2010/main" val="323448345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389EB-ED11-4558-AF92-D87CB6F73B72}"/>
              </a:ext>
            </a:extLst>
          </p:cNvPr>
          <p:cNvSpPr>
            <a:spLocks noGrp="1"/>
          </p:cNvSpPr>
          <p:nvPr>
            <p:ph type="title"/>
          </p:nvPr>
        </p:nvSpPr>
        <p:spPr/>
        <p:txBody>
          <a:bodyPr>
            <a:normAutofit/>
          </a:bodyPr>
          <a:lstStyle/>
          <a:p>
            <a:r>
              <a:rPr lang="ru-RU" dirty="0"/>
              <a:t>HTTP/1.0 </a:t>
            </a:r>
            <a:r>
              <a:rPr lang="ru-RU" dirty="0" err="1"/>
              <a:t>vs</a:t>
            </a:r>
            <a:r>
              <a:rPr lang="ru-RU" dirty="0"/>
              <a:t> HTTP/1.1</a:t>
            </a:r>
            <a:endParaRPr lang="en-US" dirty="0"/>
          </a:p>
        </p:txBody>
      </p:sp>
      <p:sp>
        <p:nvSpPr>
          <p:cNvPr id="3" name="Content Placeholder 2">
            <a:extLst>
              <a:ext uri="{FF2B5EF4-FFF2-40B4-BE49-F238E27FC236}">
                <a16:creationId xmlns:a16="http://schemas.microsoft.com/office/drawing/2014/main" id="{343B3069-F3D9-E3BE-5748-D777FD13A62A}"/>
              </a:ext>
            </a:extLst>
          </p:cNvPr>
          <p:cNvSpPr>
            <a:spLocks noGrp="1"/>
          </p:cNvSpPr>
          <p:nvPr>
            <p:ph sz="half" idx="1"/>
          </p:nvPr>
        </p:nvSpPr>
        <p:spPr>
          <a:xfrm>
            <a:off x="838199" y="1825625"/>
            <a:ext cx="6999191" cy="4351338"/>
          </a:xfrm>
        </p:spPr>
        <p:txBody>
          <a:bodyPr>
            <a:normAutofit fontScale="77500" lnSpcReduction="20000"/>
          </a:bodyPr>
          <a:lstStyle/>
          <a:p>
            <a:r>
              <a:rPr lang="ru-RU" dirty="0"/>
              <a:t>HTTP обычно поверх TCP (HTTPS: порт 443, HTTP: 80)</a:t>
            </a:r>
          </a:p>
          <a:p>
            <a:pPr lvl="1"/>
            <a:r>
              <a:rPr lang="ru-RU" dirty="0"/>
              <a:t>TCP даёт надёжность и контроль перегрузки</a:t>
            </a:r>
          </a:p>
          <a:p>
            <a:r>
              <a:rPr lang="ru-RU" dirty="0"/>
              <a:t>HTTP/1.0: </a:t>
            </a:r>
            <a:r>
              <a:rPr lang="ru-RU" i="1" dirty="0"/>
              <a:t>1 запрос → 1 ответ → соединение закрывается</a:t>
            </a:r>
          </a:p>
          <a:p>
            <a:pPr lvl="1"/>
            <a:r>
              <a:rPr lang="ru-RU" dirty="0"/>
              <a:t>много объектов на странице → слишком много TCP-соединений</a:t>
            </a:r>
          </a:p>
          <a:p>
            <a:r>
              <a:rPr lang="ru-RU" dirty="0"/>
              <a:t>HTTP/1.1: </a:t>
            </a:r>
            <a:r>
              <a:rPr lang="ru-RU" dirty="0" err="1"/>
              <a:t>persistent</a:t>
            </a:r>
            <a:r>
              <a:rPr lang="ru-RU" dirty="0"/>
              <a:t> </a:t>
            </a:r>
            <a:r>
              <a:rPr lang="ru-RU" dirty="0" err="1"/>
              <a:t>connection</a:t>
            </a:r>
            <a:r>
              <a:rPr lang="ru-RU" dirty="0"/>
              <a:t> (</a:t>
            </a:r>
            <a:r>
              <a:rPr lang="ru-RU" dirty="0" err="1"/>
              <a:t>keep-alive</a:t>
            </a:r>
            <a:r>
              <a:rPr lang="ru-RU" dirty="0"/>
              <a:t>)</a:t>
            </a:r>
          </a:p>
          <a:p>
            <a:pPr lvl="1"/>
            <a:r>
              <a:rPr lang="ru-RU" dirty="0"/>
              <a:t>повторное использование соединения (</a:t>
            </a:r>
            <a:r>
              <a:rPr lang="ru-RU" dirty="0" err="1"/>
              <a:t>connection</a:t>
            </a:r>
            <a:r>
              <a:rPr lang="ru-RU" dirty="0"/>
              <a:t> </a:t>
            </a:r>
            <a:r>
              <a:rPr lang="ru-RU" dirty="0" err="1"/>
              <a:t>reuse</a:t>
            </a:r>
            <a:r>
              <a:rPr lang="ru-RU" dirty="0"/>
              <a:t>)</a:t>
            </a:r>
          </a:p>
          <a:p>
            <a:r>
              <a:rPr lang="en-US" dirty="0"/>
              <a:t>P</a:t>
            </a:r>
            <a:r>
              <a:rPr lang="ru-RU" dirty="0" err="1"/>
              <a:t>ipelining</a:t>
            </a:r>
            <a:r>
              <a:rPr lang="ru-RU" dirty="0"/>
              <a:t> — отправлять несколько запросов без ожидания ответов</a:t>
            </a:r>
          </a:p>
          <a:p>
            <a:r>
              <a:rPr lang="ru-RU" dirty="0"/>
              <a:t>Компромисс: таймауты или закрытие при перегрузке</a:t>
            </a:r>
          </a:p>
          <a:p>
            <a:r>
              <a:rPr lang="ru-RU" dirty="0"/>
              <a:t>Альтернатива прошлого: параллельные TCP-соединения (быстрее, но агрессивнее к сети)</a:t>
            </a:r>
          </a:p>
          <a:p>
            <a:endParaRPr lang="en-US" dirty="0"/>
          </a:p>
        </p:txBody>
      </p:sp>
      <p:pic>
        <p:nvPicPr>
          <p:cNvPr id="6" name="Content Placeholder 5">
            <a:extLst>
              <a:ext uri="{FF2B5EF4-FFF2-40B4-BE49-F238E27FC236}">
                <a16:creationId xmlns:a16="http://schemas.microsoft.com/office/drawing/2014/main" id="{946FDB50-D769-C14E-7845-45DB5FF3E5A9}"/>
              </a:ext>
            </a:extLst>
          </p:cNvPr>
          <p:cNvPicPr>
            <a:picLocks noGrp="1" noChangeAspect="1"/>
          </p:cNvPicPr>
          <p:nvPr>
            <p:ph sz="half" idx="2"/>
          </p:nvPr>
        </p:nvPicPr>
        <p:blipFill>
          <a:blip r:embed="rId3"/>
          <a:stretch>
            <a:fillRect/>
          </a:stretch>
        </p:blipFill>
        <p:spPr>
          <a:xfrm>
            <a:off x="7837391" y="1690688"/>
            <a:ext cx="3981921" cy="2537760"/>
          </a:xfrm>
          <a:prstGeom prst="rect">
            <a:avLst/>
          </a:prstGeom>
        </p:spPr>
      </p:pic>
    </p:spTree>
    <p:extLst>
      <p:ext uri="{BB962C8B-B14F-4D97-AF65-F5344CB8AC3E}">
        <p14:creationId xmlns:p14="http://schemas.microsoft.com/office/powerpoint/2010/main" val="73901883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A1D6590-36C5-C05D-BE08-BFFCA641291D}"/>
              </a:ext>
            </a:extLst>
          </p:cNvPr>
          <p:cNvSpPr>
            <a:spLocks noGrp="1"/>
          </p:cNvSpPr>
          <p:nvPr>
            <p:ph type="title"/>
          </p:nvPr>
        </p:nvSpPr>
        <p:spPr/>
        <p:txBody>
          <a:bodyPr>
            <a:normAutofit/>
          </a:bodyPr>
          <a:lstStyle/>
          <a:p>
            <a:r>
              <a:rPr lang="ru-RU" dirty="0"/>
              <a:t>HTTP/2: мультиплексирование и ускорение веба</a:t>
            </a:r>
            <a:endParaRPr lang="en-US" dirty="0"/>
          </a:p>
        </p:txBody>
      </p:sp>
      <p:sp>
        <p:nvSpPr>
          <p:cNvPr id="6" name="Content Placeholder 5">
            <a:extLst>
              <a:ext uri="{FF2B5EF4-FFF2-40B4-BE49-F238E27FC236}">
                <a16:creationId xmlns:a16="http://schemas.microsoft.com/office/drawing/2014/main" id="{2D88B43A-C7A8-CC23-ECB8-E7B7BB295BE0}"/>
              </a:ext>
            </a:extLst>
          </p:cNvPr>
          <p:cNvSpPr>
            <a:spLocks noGrp="1"/>
          </p:cNvSpPr>
          <p:nvPr>
            <p:ph sz="half" idx="1"/>
          </p:nvPr>
        </p:nvSpPr>
        <p:spPr/>
        <p:txBody>
          <a:bodyPr>
            <a:normAutofit fontScale="70000" lnSpcReduction="20000"/>
          </a:bodyPr>
          <a:lstStyle/>
          <a:p>
            <a:r>
              <a:rPr lang="ru-RU" dirty="0"/>
              <a:t>HTTP/2 (RFC 7540, 2015) — развитие HTTP/1.1, основанное на SPDY</a:t>
            </a:r>
          </a:p>
          <a:p>
            <a:r>
              <a:rPr lang="ru-RU" dirty="0"/>
              <a:t>Цели: совместимость с HTTP/1.1 + рост производительности</a:t>
            </a:r>
          </a:p>
          <a:p>
            <a:r>
              <a:rPr lang="ru-RU" dirty="0"/>
              <a:t>Ключевые идеи:</a:t>
            </a:r>
          </a:p>
          <a:p>
            <a:pPr lvl="1"/>
            <a:r>
              <a:rPr lang="ru-RU" dirty="0"/>
              <a:t>одно TCP-соединение → много запросов</a:t>
            </a:r>
          </a:p>
          <a:p>
            <a:pPr lvl="1"/>
            <a:r>
              <a:rPr lang="ru-RU" dirty="0"/>
              <a:t>мультиплексирование (ответы в любом порядке)</a:t>
            </a:r>
          </a:p>
          <a:p>
            <a:pPr lvl="1"/>
            <a:r>
              <a:rPr lang="ru-RU" dirty="0"/>
              <a:t>приоритизация запросов</a:t>
            </a:r>
          </a:p>
          <a:p>
            <a:pPr lvl="1"/>
            <a:r>
              <a:rPr lang="ru-RU" dirty="0"/>
              <a:t>двоичный формат и сжатие заголовков</a:t>
            </a:r>
          </a:p>
          <a:p>
            <a:pPr lvl="1"/>
            <a:r>
              <a:rPr lang="ru-RU" dirty="0" err="1"/>
              <a:t>server</a:t>
            </a:r>
            <a:r>
              <a:rPr lang="ru-RU" dirty="0"/>
              <a:t> </a:t>
            </a:r>
            <a:r>
              <a:rPr lang="ru-RU" dirty="0" err="1"/>
              <a:t>push</a:t>
            </a:r>
            <a:r>
              <a:rPr lang="ru-RU" dirty="0"/>
              <a:t> — сервер отправляет нужные файлы заранее</a:t>
            </a:r>
          </a:p>
          <a:p>
            <a:r>
              <a:rPr lang="ru-RU" dirty="0"/>
              <a:t>Устраняет «</a:t>
            </a:r>
            <a:r>
              <a:rPr lang="ru-RU" dirty="0" err="1"/>
              <a:t>head-of-line</a:t>
            </a:r>
            <a:r>
              <a:rPr lang="ru-RU" dirty="0"/>
              <a:t> </a:t>
            </a:r>
            <a:r>
              <a:rPr lang="ru-RU" dirty="0" err="1"/>
              <a:t>blocking</a:t>
            </a:r>
            <a:r>
              <a:rPr lang="ru-RU" dirty="0"/>
              <a:t>» HTTP/1.1 на уровне запросов</a:t>
            </a:r>
          </a:p>
          <a:p>
            <a:r>
              <a:rPr lang="ru-RU" dirty="0"/>
              <a:t>На практике почти всегда используется поверх TLS (HTTPS)</a:t>
            </a:r>
          </a:p>
          <a:p>
            <a:endParaRPr lang="en-US" dirty="0"/>
          </a:p>
        </p:txBody>
      </p:sp>
      <p:pic>
        <p:nvPicPr>
          <p:cNvPr id="11" name="Content Placeholder 10">
            <a:extLst>
              <a:ext uri="{FF2B5EF4-FFF2-40B4-BE49-F238E27FC236}">
                <a16:creationId xmlns:a16="http://schemas.microsoft.com/office/drawing/2014/main" id="{A6CA14B6-ECFC-9223-BCC9-FCB782E2EA05}"/>
              </a:ext>
            </a:extLst>
          </p:cNvPr>
          <p:cNvPicPr>
            <a:picLocks noGrp="1" noChangeAspect="1"/>
          </p:cNvPicPr>
          <p:nvPr>
            <p:ph sz="half" idx="2"/>
          </p:nvPr>
        </p:nvPicPr>
        <p:blipFill>
          <a:blip r:embed="rId3"/>
          <a:stretch>
            <a:fillRect/>
          </a:stretch>
        </p:blipFill>
        <p:spPr>
          <a:xfrm>
            <a:off x="6354224" y="1825625"/>
            <a:ext cx="4817552" cy="4351338"/>
          </a:xfrm>
          <a:prstGeom prst="rect">
            <a:avLst/>
          </a:prstGeom>
        </p:spPr>
      </p:pic>
    </p:spTree>
    <p:extLst>
      <p:ext uri="{BB962C8B-B14F-4D97-AF65-F5344CB8AC3E}">
        <p14:creationId xmlns:p14="http://schemas.microsoft.com/office/powerpoint/2010/main" val="187794238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43082C-38C0-2423-8C1C-9B2FAC39659F}"/>
              </a:ext>
            </a:extLst>
          </p:cNvPr>
          <p:cNvSpPr>
            <a:spLocks noGrp="1"/>
          </p:cNvSpPr>
          <p:nvPr>
            <p:ph type="title"/>
          </p:nvPr>
        </p:nvSpPr>
        <p:spPr/>
        <p:txBody>
          <a:bodyPr>
            <a:normAutofit/>
          </a:bodyPr>
          <a:lstStyle/>
          <a:p>
            <a:r>
              <a:rPr lang="ru-RU" dirty="0"/>
              <a:t>HTTP/3: HTTP поверх QUIC и выбор версии протокола</a:t>
            </a:r>
            <a:endParaRPr lang="en-US" dirty="0"/>
          </a:p>
        </p:txBody>
      </p:sp>
      <p:sp>
        <p:nvSpPr>
          <p:cNvPr id="6" name="Content Placeholder 5">
            <a:extLst>
              <a:ext uri="{FF2B5EF4-FFF2-40B4-BE49-F238E27FC236}">
                <a16:creationId xmlns:a16="http://schemas.microsoft.com/office/drawing/2014/main" id="{A5B64F79-73BF-F078-7418-3BDFCCA1C82E}"/>
              </a:ext>
            </a:extLst>
          </p:cNvPr>
          <p:cNvSpPr>
            <a:spLocks noGrp="1"/>
          </p:cNvSpPr>
          <p:nvPr>
            <p:ph idx="1"/>
          </p:nvPr>
        </p:nvSpPr>
        <p:spPr/>
        <p:txBody>
          <a:bodyPr>
            <a:normAutofit fontScale="92500"/>
          </a:bodyPr>
          <a:lstStyle/>
          <a:p>
            <a:r>
              <a:rPr lang="ru-RU" dirty="0"/>
              <a:t>HTTP/3 (H3) = HTTP, работающий поверх QUIC (UDP) вместо TCP</a:t>
            </a:r>
          </a:p>
          <a:p>
            <a:r>
              <a:rPr lang="ru-RU" dirty="0"/>
              <a:t>Что даёт QUIC:</a:t>
            </a:r>
          </a:p>
          <a:p>
            <a:pPr lvl="1"/>
            <a:r>
              <a:rPr lang="ru-RU" dirty="0"/>
              <a:t>мультиплексирование потоков без “блокировки очереди” между потоками</a:t>
            </a:r>
          </a:p>
          <a:p>
            <a:pPr lvl="1"/>
            <a:r>
              <a:rPr lang="ru-RU" dirty="0"/>
              <a:t>быстрее установка соединения (меньше лишних RTT), удобнее восстановление сессии</a:t>
            </a:r>
          </a:p>
          <a:p>
            <a:r>
              <a:rPr lang="ru-RU" dirty="0"/>
              <a:t>Практически всегда только через HTTPS</a:t>
            </a:r>
            <a:endParaRPr lang="en-US" dirty="0"/>
          </a:p>
          <a:p>
            <a:r>
              <a:rPr lang="ru-RU" dirty="0"/>
              <a:t>Как клиент и сервер договариваются о версии (1.1 / 2 / 3):</a:t>
            </a:r>
          </a:p>
          <a:p>
            <a:pPr lvl="1"/>
            <a:r>
              <a:rPr lang="ru-RU" dirty="0"/>
              <a:t>HTTP/1.1 </a:t>
            </a:r>
            <a:r>
              <a:rPr lang="ru-RU" dirty="0" err="1"/>
              <a:t>vs</a:t>
            </a:r>
            <a:r>
              <a:rPr lang="ru-RU" dirty="0"/>
              <a:t> HTTP/2: выбирается в TLS-рукопожатии через ALPN</a:t>
            </a:r>
          </a:p>
          <a:p>
            <a:pPr lvl="1"/>
            <a:r>
              <a:rPr lang="ru-RU" dirty="0"/>
              <a:t>HTTP/3: обычно “обнаруживается” после первого визита: сервер рекламирует H3 через Alt-</a:t>
            </a:r>
            <a:r>
              <a:rPr lang="ru-RU" dirty="0" err="1"/>
              <a:t>Svc</a:t>
            </a:r>
            <a:r>
              <a:rPr lang="ru-RU" dirty="0"/>
              <a:t> (или ALTSVC-фрейм в HTTP/2), и клиент пробует QUIC + ALPN h3 в следующих запросах </a:t>
            </a:r>
          </a:p>
          <a:p>
            <a:endParaRPr lang="en-US" dirty="0"/>
          </a:p>
        </p:txBody>
      </p:sp>
    </p:spTree>
    <p:extLst>
      <p:ext uri="{BB962C8B-B14F-4D97-AF65-F5344CB8AC3E}">
        <p14:creationId xmlns:p14="http://schemas.microsoft.com/office/powerpoint/2010/main" val="136539283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600E5-F6A6-185A-7052-C1AD1D43E81C}"/>
              </a:ext>
            </a:extLst>
          </p:cNvPr>
          <p:cNvSpPr>
            <a:spLocks noGrp="1"/>
          </p:cNvSpPr>
          <p:nvPr>
            <p:ph type="title"/>
          </p:nvPr>
        </p:nvSpPr>
        <p:spPr/>
        <p:txBody>
          <a:bodyPr/>
          <a:lstStyle/>
          <a:p>
            <a:r>
              <a:rPr lang="ru-RU" dirty="0"/>
              <a:t>Потоковая передача аудио и видео</a:t>
            </a:r>
            <a:endParaRPr lang="en-US" dirty="0"/>
          </a:p>
        </p:txBody>
      </p:sp>
      <p:sp>
        <p:nvSpPr>
          <p:cNvPr id="3" name="Content Placeholder 2">
            <a:extLst>
              <a:ext uri="{FF2B5EF4-FFF2-40B4-BE49-F238E27FC236}">
                <a16:creationId xmlns:a16="http://schemas.microsoft.com/office/drawing/2014/main" id="{3D97DE6A-1C3E-953B-40CA-DF2BEB1E2C7A}"/>
              </a:ext>
            </a:extLst>
          </p:cNvPr>
          <p:cNvSpPr>
            <a:spLocks noGrp="1"/>
          </p:cNvSpPr>
          <p:nvPr>
            <p:ph idx="1"/>
          </p:nvPr>
        </p:nvSpPr>
        <p:spPr/>
        <p:txBody>
          <a:bodyPr>
            <a:normAutofit fontScale="77500" lnSpcReduction="20000"/>
          </a:bodyPr>
          <a:lstStyle/>
          <a:p>
            <a:r>
              <a:rPr lang="ru-RU" dirty="0"/>
              <a:t>Потоковая передача (</a:t>
            </a:r>
            <a:r>
              <a:rPr lang="ru-RU" dirty="0" err="1"/>
              <a:t>streaming</a:t>
            </a:r>
            <a:r>
              <a:rPr lang="ru-RU" dirty="0"/>
              <a:t>) — доставка аудио и видео в реальном времени</a:t>
            </a:r>
          </a:p>
          <a:p>
            <a:r>
              <a:rPr lang="ru-RU" dirty="0"/>
              <a:t>Ключевое отличие от обычного трафика:</a:t>
            </a:r>
          </a:p>
          <a:p>
            <a:pPr lvl="1"/>
            <a:r>
              <a:rPr lang="ru-RU" dirty="0"/>
              <a:t>важна не только целостность, но и временные требования</a:t>
            </a:r>
          </a:p>
          <a:p>
            <a:r>
              <a:rPr lang="ru-RU" dirty="0"/>
              <a:t>Основные требования:</a:t>
            </a:r>
          </a:p>
          <a:p>
            <a:pPr lvl="1"/>
            <a:r>
              <a:rPr lang="ru-RU" dirty="0"/>
              <a:t>стабильная скорость воспроизведения</a:t>
            </a:r>
          </a:p>
          <a:p>
            <a:pPr lvl="1"/>
            <a:r>
              <a:rPr lang="ru-RU" dirty="0"/>
              <a:t>минимальная задержка (</a:t>
            </a:r>
            <a:r>
              <a:rPr lang="ru-RU" dirty="0" err="1"/>
              <a:t>latency</a:t>
            </a:r>
            <a:r>
              <a:rPr lang="ru-RU" dirty="0"/>
              <a:t>) — критично для звонков</a:t>
            </a:r>
          </a:p>
          <a:p>
            <a:pPr lvl="1"/>
            <a:r>
              <a:rPr lang="ru-RU" dirty="0"/>
              <a:t>малый джиттер (вариация задержки)</a:t>
            </a:r>
          </a:p>
          <a:p>
            <a:r>
              <a:rPr lang="ru-RU" dirty="0"/>
              <a:t>Почему стало возможным:</a:t>
            </a:r>
          </a:p>
          <a:p>
            <a:pPr lvl="1"/>
            <a:r>
              <a:rPr lang="ru-RU" dirty="0"/>
              <a:t>рост вычислительной мощности и доступных камер/микрофонов</a:t>
            </a:r>
          </a:p>
          <a:p>
            <a:pPr lvl="1"/>
            <a:r>
              <a:rPr lang="ru-RU" dirty="0"/>
              <a:t>резкий рост пропускной способности сетей</a:t>
            </a:r>
          </a:p>
          <a:p>
            <a:r>
              <a:rPr lang="ru-RU" dirty="0"/>
              <a:t>Типы трафика:</a:t>
            </a:r>
          </a:p>
          <a:p>
            <a:pPr lvl="1"/>
            <a:r>
              <a:rPr lang="ru-RU" dirty="0"/>
              <a:t>аудио (интернет-телефония, VoIP) — низкая полоса</a:t>
            </a:r>
          </a:p>
          <a:p>
            <a:pPr lvl="1"/>
            <a:r>
              <a:rPr lang="ru-RU" dirty="0"/>
              <a:t>видео (стриминг, </a:t>
            </a:r>
            <a:r>
              <a:rPr lang="ru-RU" dirty="0" err="1"/>
              <a:t>VoD</a:t>
            </a:r>
            <a:r>
              <a:rPr lang="ru-RU" dirty="0"/>
              <a:t>) — основной потребитель интернет-трафика</a:t>
            </a:r>
          </a:p>
          <a:p>
            <a:r>
              <a:rPr lang="ru-RU" dirty="0"/>
              <a:t>Сегодня видео ≈ основная доля интернет-трафика</a:t>
            </a:r>
          </a:p>
          <a:p>
            <a:endParaRPr lang="en-US" dirty="0"/>
          </a:p>
        </p:txBody>
      </p:sp>
    </p:spTree>
    <p:extLst>
      <p:ext uri="{BB962C8B-B14F-4D97-AF65-F5344CB8AC3E}">
        <p14:creationId xmlns:p14="http://schemas.microsoft.com/office/powerpoint/2010/main" val="232206849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E630B-C155-C109-8309-929C9497C710}"/>
              </a:ext>
            </a:extLst>
          </p:cNvPr>
          <p:cNvSpPr>
            <a:spLocks noGrp="1"/>
          </p:cNvSpPr>
          <p:nvPr>
            <p:ph type="title"/>
          </p:nvPr>
        </p:nvSpPr>
        <p:spPr/>
        <p:txBody>
          <a:bodyPr>
            <a:normAutofit/>
          </a:bodyPr>
          <a:lstStyle/>
          <a:p>
            <a:r>
              <a:rPr lang="ru-RU" dirty="0"/>
              <a:t>Цифровой звук и видео: основы кодирования и сжатия</a:t>
            </a:r>
            <a:endParaRPr lang="en-US" dirty="0"/>
          </a:p>
        </p:txBody>
      </p:sp>
      <p:sp>
        <p:nvSpPr>
          <p:cNvPr id="3" name="Content Placeholder 2">
            <a:extLst>
              <a:ext uri="{FF2B5EF4-FFF2-40B4-BE49-F238E27FC236}">
                <a16:creationId xmlns:a16="http://schemas.microsoft.com/office/drawing/2014/main" id="{AAA27BE9-90CD-A471-B206-0EB4B65EA164}"/>
              </a:ext>
            </a:extLst>
          </p:cNvPr>
          <p:cNvSpPr>
            <a:spLocks noGrp="1"/>
          </p:cNvSpPr>
          <p:nvPr>
            <p:ph sz="half" idx="1"/>
          </p:nvPr>
        </p:nvSpPr>
        <p:spPr/>
        <p:txBody>
          <a:bodyPr>
            <a:normAutofit fontScale="62500" lnSpcReduction="20000"/>
          </a:bodyPr>
          <a:lstStyle/>
          <a:p>
            <a:r>
              <a:rPr lang="ru-RU" dirty="0"/>
              <a:t>Цифровой звук:</a:t>
            </a:r>
          </a:p>
          <a:p>
            <a:pPr lvl="1"/>
            <a:r>
              <a:rPr lang="ru-RU" dirty="0"/>
              <a:t>дискретизация сигнала (теорема Найквиста)</a:t>
            </a:r>
          </a:p>
          <a:p>
            <a:pPr lvl="1"/>
            <a:r>
              <a:rPr lang="ru-RU" dirty="0"/>
              <a:t>чувствительность слуха к задержке и джиттеру</a:t>
            </a:r>
          </a:p>
          <a:p>
            <a:pPr lvl="1"/>
            <a:r>
              <a:rPr lang="ru-RU" dirty="0"/>
              <a:t>сжатие с потерями (MP3, AAC) на основе </a:t>
            </a:r>
            <a:r>
              <a:rPr lang="ru-RU" dirty="0" err="1"/>
              <a:t>психоакустики</a:t>
            </a:r>
            <a:endParaRPr lang="ru-RU" dirty="0"/>
          </a:p>
          <a:p>
            <a:r>
              <a:rPr lang="ru-RU" dirty="0"/>
              <a:t>Перцепционное кодирование:</a:t>
            </a:r>
          </a:p>
          <a:p>
            <a:pPr lvl="1"/>
            <a:r>
              <a:rPr lang="ru-RU" dirty="0"/>
              <a:t>частотное и временное маскирование</a:t>
            </a:r>
          </a:p>
          <a:p>
            <a:pPr lvl="1"/>
            <a:r>
              <a:rPr lang="ru-RU" dirty="0"/>
              <a:t>передаются только слышимые компоненты</a:t>
            </a:r>
          </a:p>
          <a:p>
            <a:r>
              <a:rPr lang="ru-RU" dirty="0"/>
              <a:t>Цифровое видео:</a:t>
            </a:r>
          </a:p>
          <a:p>
            <a:pPr lvl="1"/>
            <a:r>
              <a:rPr lang="ru-RU" dirty="0"/>
              <a:t>видео = последовательность кадров (720p, 1080p, 4K, 8K)</a:t>
            </a:r>
          </a:p>
          <a:p>
            <a:pPr lvl="1"/>
            <a:r>
              <a:rPr lang="ru-RU" dirty="0"/>
              <a:t>высокая частота кадров → огромный объём данных</a:t>
            </a:r>
          </a:p>
          <a:p>
            <a:r>
              <a:rPr lang="ru-RU" dirty="0"/>
              <a:t>Сжатие видео (MPEG / H.264 / H.265):</a:t>
            </a:r>
          </a:p>
          <a:p>
            <a:pPr lvl="1"/>
            <a:r>
              <a:rPr lang="ru-RU" dirty="0"/>
              <a:t>I-кадры — полные изображения</a:t>
            </a:r>
          </a:p>
          <a:p>
            <a:pPr lvl="1"/>
            <a:r>
              <a:rPr lang="ru-RU" dirty="0"/>
              <a:t>P- и B-кадры — различия между кадрами</a:t>
            </a:r>
          </a:p>
          <a:p>
            <a:pPr lvl="1"/>
            <a:r>
              <a:rPr lang="ru-RU" dirty="0"/>
              <a:t>использование движения и предсказаний</a:t>
            </a:r>
          </a:p>
          <a:p>
            <a:r>
              <a:rPr lang="ru-RU" dirty="0"/>
              <a:t>Асимметрия:</a:t>
            </a:r>
          </a:p>
          <a:p>
            <a:pPr lvl="1"/>
            <a:r>
              <a:rPr lang="ru-RU" dirty="0"/>
              <a:t>кодирование сложное и дорогое</a:t>
            </a:r>
          </a:p>
          <a:p>
            <a:pPr lvl="1"/>
            <a:r>
              <a:rPr lang="ru-RU" dirty="0"/>
              <a:t>декодирование быстрое и массовое</a:t>
            </a:r>
          </a:p>
          <a:p>
            <a:endParaRPr lang="en-US" dirty="0"/>
          </a:p>
        </p:txBody>
      </p:sp>
      <p:pic>
        <p:nvPicPr>
          <p:cNvPr id="1026" name="Picture 2">
            <a:extLst>
              <a:ext uri="{FF2B5EF4-FFF2-40B4-BE49-F238E27FC236}">
                <a16:creationId xmlns:a16="http://schemas.microsoft.com/office/drawing/2014/main" id="{827F2470-6230-5FFE-1286-15CBC81E8FB6}"/>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6904038" y="2300486"/>
            <a:ext cx="4449762" cy="1112440"/>
          </a:xfrm>
          <a:prstGeom prst="rect">
            <a:avLst/>
          </a:prstGeom>
          <a:noFill/>
          <a:extLst>
            <a:ext uri="{909E8E84-426E-40DD-AFC4-6F175D3DCCD1}">
              <a14:hiddenFill xmlns:a14="http://schemas.microsoft.com/office/drawing/2010/main">
                <a:solidFill>
                  <a:srgbClr val="FFFFFF"/>
                </a:solidFill>
              </a14:hiddenFill>
            </a:ext>
          </a:extLst>
        </p:spPr>
      </p:pic>
      <p:pic>
        <p:nvPicPr>
          <p:cNvPr id="7" name="Content Placeholder 6">
            <a:extLst>
              <a:ext uri="{FF2B5EF4-FFF2-40B4-BE49-F238E27FC236}">
                <a16:creationId xmlns:a16="http://schemas.microsoft.com/office/drawing/2014/main" id="{ED67610F-A6A0-3A5F-7285-FD43E8B5A1BD}"/>
              </a:ext>
            </a:extLst>
          </p:cNvPr>
          <p:cNvPicPr>
            <a:picLocks noGrp="1" noChangeAspect="1"/>
          </p:cNvPicPr>
          <p:nvPr>
            <p:ph sz="half" idx="13"/>
          </p:nvPr>
        </p:nvPicPr>
        <p:blipFill>
          <a:blip r:embed="rId4"/>
          <a:stretch>
            <a:fillRect/>
          </a:stretch>
        </p:blipFill>
        <p:spPr>
          <a:xfrm>
            <a:off x="6904038" y="4203013"/>
            <a:ext cx="4449762" cy="1838111"/>
          </a:xfrm>
          <a:prstGeom prst="rect">
            <a:avLst/>
          </a:prstGeom>
        </p:spPr>
      </p:pic>
    </p:spTree>
    <p:extLst>
      <p:ext uri="{BB962C8B-B14F-4D97-AF65-F5344CB8AC3E}">
        <p14:creationId xmlns:p14="http://schemas.microsoft.com/office/powerpoint/2010/main" val="374192442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796B6F1-F9EC-DCF8-CE92-2E3C8C0354CE}"/>
              </a:ext>
            </a:extLst>
          </p:cNvPr>
          <p:cNvSpPr>
            <a:spLocks noGrp="1"/>
          </p:cNvSpPr>
          <p:nvPr>
            <p:ph type="title"/>
          </p:nvPr>
        </p:nvSpPr>
        <p:spPr/>
        <p:txBody>
          <a:bodyPr/>
          <a:lstStyle/>
          <a:p>
            <a:r>
              <a:rPr lang="ru-RU" dirty="0"/>
              <a:t>Сети доставки контента</a:t>
            </a:r>
            <a:endParaRPr lang="en-US" dirty="0"/>
          </a:p>
        </p:txBody>
      </p:sp>
      <p:sp>
        <p:nvSpPr>
          <p:cNvPr id="7" name="Text Placeholder 6">
            <a:extLst>
              <a:ext uri="{FF2B5EF4-FFF2-40B4-BE49-F238E27FC236}">
                <a16:creationId xmlns:a16="http://schemas.microsoft.com/office/drawing/2014/main" id="{D5CB02E0-09D4-9B2A-7EF6-43D77B734F9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3497042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0B5576-EAD9-6C9B-2C27-80E96E86DCDA}"/>
              </a:ext>
            </a:extLst>
          </p:cNvPr>
          <p:cNvSpPr>
            <a:spLocks noGrp="1"/>
          </p:cNvSpPr>
          <p:nvPr>
            <p:ph type="title"/>
          </p:nvPr>
        </p:nvSpPr>
        <p:spPr/>
        <p:txBody>
          <a:bodyPr>
            <a:normAutofit/>
          </a:bodyPr>
          <a:lstStyle/>
          <a:p>
            <a:r>
              <a:rPr lang="ru-RU" dirty="0"/>
              <a:t>Доставка контента в интернете (CDN и P2P)</a:t>
            </a:r>
            <a:endParaRPr lang="en-US" dirty="0"/>
          </a:p>
        </p:txBody>
      </p:sp>
      <p:sp>
        <p:nvSpPr>
          <p:cNvPr id="5" name="Content Placeholder 4">
            <a:extLst>
              <a:ext uri="{FF2B5EF4-FFF2-40B4-BE49-F238E27FC236}">
                <a16:creationId xmlns:a16="http://schemas.microsoft.com/office/drawing/2014/main" id="{5844BC43-DAB7-EB7B-BB4E-A9D517AF9E8C}"/>
              </a:ext>
            </a:extLst>
          </p:cNvPr>
          <p:cNvSpPr>
            <a:spLocks noGrp="1"/>
          </p:cNvSpPr>
          <p:nvPr>
            <p:ph sz="half" idx="1"/>
          </p:nvPr>
        </p:nvSpPr>
        <p:spPr>
          <a:xfrm>
            <a:off x="838199" y="1825625"/>
            <a:ext cx="6393873" cy="4351338"/>
          </a:xfrm>
        </p:spPr>
        <p:txBody>
          <a:bodyPr>
            <a:normAutofit fontScale="70000" lnSpcReduction="20000"/>
          </a:bodyPr>
          <a:lstStyle/>
          <a:p>
            <a:r>
              <a:rPr lang="ru-RU" dirty="0"/>
              <a:t>Интернет сместился от «связи между людьми» к массовому потреблению контента (особенно видео)</a:t>
            </a:r>
          </a:p>
          <a:p>
            <a:r>
              <a:rPr lang="ru-RU" dirty="0"/>
              <a:t>Местоположение контента для пользователя не важно — важны скорость, доступность и иногда законность</a:t>
            </a:r>
          </a:p>
          <a:p>
            <a:r>
              <a:rPr lang="ru-RU" dirty="0"/>
              <a:t>Трафик сильно неравномерен: несколько гигантов</a:t>
            </a:r>
          </a:p>
          <a:p>
            <a:pPr lvl="1"/>
            <a:r>
              <a:rPr lang="ru-RU" dirty="0"/>
              <a:t>(YouTube/</a:t>
            </a:r>
            <a:r>
              <a:rPr lang="ru-RU" dirty="0" err="1"/>
              <a:t>Netflix</a:t>
            </a:r>
            <a:r>
              <a:rPr lang="ru-RU" dirty="0"/>
              <a:t>/Google) дают львиную долю нагрузки</a:t>
            </a:r>
          </a:p>
          <a:p>
            <a:r>
              <a:rPr lang="ru-RU" dirty="0"/>
              <a:t>Популярность контента подчиняется закону Ципфа / “длинному хвосту”: мало суперпопулярного + очень много нишевого</a:t>
            </a:r>
          </a:p>
          <a:p>
            <a:r>
              <a:rPr lang="ru-RU" dirty="0"/>
              <a:t>Чтобы выдерживать спрос, применяют:</a:t>
            </a:r>
          </a:p>
          <a:p>
            <a:pPr lvl="1"/>
            <a:r>
              <a:rPr lang="ru-RU" dirty="0"/>
              <a:t>CDN: распределённые кэши ближе к пользователю → меньше задержка и нагрузка на “центральный” сервер</a:t>
            </a:r>
          </a:p>
          <a:p>
            <a:pPr lvl="1"/>
            <a:r>
              <a:rPr lang="ru-RU" dirty="0"/>
              <a:t>P2P: пользователи раздают контент друг другу → ёмкость растёт с числом участников</a:t>
            </a:r>
          </a:p>
        </p:txBody>
      </p:sp>
      <p:pic>
        <p:nvPicPr>
          <p:cNvPr id="8" name="Content Placeholder 7">
            <a:extLst>
              <a:ext uri="{FF2B5EF4-FFF2-40B4-BE49-F238E27FC236}">
                <a16:creationId xmlns:a16="http://schemas.microsoft.com/office/drawing/2014/main" id="{79EAB61B-C050-8862-AF8F-73E60B6C066B}"/>
              </a:ext>
            </a:extLst>
          </p:cNvPr>
          <p:cNvPicPr>
            <a:picLocks noGrp="1" noChangeAspect="1"/>
          </p:cNvPicPr>
          <p:nvPr>
            <p:ph sz="half" idx="2"/>
          </p:nvPr>
        </p:nvPicPr>
        <p:blipFill>
          <a:blip r:embed="rId3"/>
          <a:stretch>
            <a:fillRect/>
          </a:stretch>
        </p:blipFill>
        <p:spPr>
          <a:xfrm>
            <a:off x="7348649" y="2773172"/>
            <a:ext cx="4237908" cy="1981707"/>
          </a:xfrm>
          <a:prstGeom prst="rect">
            <a:avLst/>
          </a:prstGeom>
        </p:spPr>
      </p:pic>
    </p:spTree>
    <p:extLst>
      <p:ext uri="{BB962C8B-B14F-4D97-AF65-F5344CB8AC3E}">
        <p14:creationId xmlns:p14="http://schemas.microsoft.com/office/powerpoint/2010/main" val="233077167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86016FD-1617-329E-F079-57B5847207F2}"/>
              </a:ext>
            </a:extLst>
          </p:cNvPr>
          <p:cNvSpPr>
            <a:spLocks noGrp="1"/>
          </p:cNvSpPr>
          <p:nvPr>
            <p:ph type="title"/>
          </p:nvPr>
        </p:nvSpPr>
        <p:spPr/>
        <p:txBody>
          <a:bodyPr/>
          <a:lstStyle/>
          <a:p>
            <a:r>
              <a:rPr lang="ru-RU" dirty="0"/>
              <a:t>CDN — как ускоряют доставку контента</a:t>
            </a:r>
            <a:endParaRPr lang="en-US" dirty="0"/>
          </a:p>
        </p:txBody>
      </p:sp>
      <p:sp>
        <p:nvSpPr>
          <p:cNvPr id="8" name="Content Placeholder 7">
            <a:extLst>
              <a:ext uri="{FF2B5EF4-FFF2-40B4-BE49-F238E27FC236}">
                <a16:creationId xmlns:a16="http://schemas.microsoft.com/office/drawing/2014/main" id="{46A86E5F-4DB9-33F3-C4B8-DC310F40E515}"/>
              </a:ext>
            </a:extLst>
          </p:cNvPr>
          <p:cNvSpPr>
            <a:spLocks noGrp="1"/>
          </p:cNvSpPr>
          <p:nvPr>
            <p:ph sz="half" idx="1"/>
          </p:nvPr>
        </p:nvSpPr>
        <p:spPr>
          <a:xfrm>
            <a:off x="838199" y="1825625"/>
            <a:ext cx="6812435" cy="4351338"/>
          </a:xfrm>
        </p:spPr>
        <p:txBody>
          <a:bodyPr>
            <a:normAutofit fontScale="77500" lnSpcReduction="20000"/>
          </a:bodyPr>
          <a:lstStyle/>
          <a:p>
            <a:r>
              <a:rPr lang="ru-RU" dirty="0"/>
              <a:t>CDN: копии контента хранятся на узлах по миру → клиент получает с ближайшего</a:t>
            </a:r>
          </a:p>
          <a:p>
            <a:r>
              <a:rPr lang="ru-RU" dirty="0"/>
              <a:t>DNS </a:t>
            </a:r>
            <a:r>
              <a:rPr lang="ru-RU" dirty="0" err="1"/>
              <a:t>redirection</a:t>
            </a:r>
            <a:r>
              <a:rPr lang="ru-RU" dirty="0"/>
              <a:t>: авторитетный DNS CDN возвращает разные IP в зависимости от клиента </a:t>
            </a:r>
          </a:p>
          <a:p>
            <a:r>
              <a:rPr lang="ru-RU" dirty="0"/>
              <a:t>Два уровня выбора: регион → конкретный сервер в кластере</a:t>
            </a:r>
          </a:p>
          <a:p>
            <a:r>
              <a:rPr lang="ru-RU" dirty="0"/>
              <a:t>Заполнение кэша: </a:t>
            </a:r>
            <a:r>
              <a:rPr lang="ru-RU" dirty="0" err="1"/>
              <a:t>origin</a:t>
            </a:r>
            <a:r>
              <a:rPr lang="ru-RU" dirty="0"/>
              <a:t> → региональные узлы → пользователи (распространение “деревом”)</a:t>
            </a:r>
          </a:p>
          <a:p>
            <a:r>
              <a:rPr lang="ru-RU" dirty="0"/>
              <a:t>Плюсы: ниже задержка, меньше магистрального трафика, выше устойчивость (в т.ч. к </a:t>
            </a:r>
            <a:r>
              <a:rPr lang="ru-RU" dirty="0" err="1"/>
              <a:t>DDoS</a:t>
            </a:r>
            <a:r>
              <a:rPr lang="ru-RU" dirty="0"/>
              <a:t>)</a:t>
            </a:r>
          </a:p>
          <a:p>
            <a:r>
              <a:rPr lang="ru-RU" dirty="0"/>
              <a:t>HTTPS-нюанс: CDN нужен сертификат/доверие, иначе запросы уйдут на </a:t>
            </a:r>
            <a:r>
              <a:rPr lang="ru-RU" dirty="0" err="1"/>
              <a:t>origin</a:t>
            </a:r>
            <a:r>
              <a:rPr lang="ru-RU" dirty="0"/>
              <a:t> и выигрыш снизится</a:t>
            </a:r>
          </a:p>
        </p:txBody>
      </p:sp>
      <p:pic>
        <p:nvPicPr>
          <p:cNvPr id="11" name="Content Placeholder 10">
            <a:extLst>
              <a:ext uri="{FF2B5EF4-FFF2-40B4-BE49-F238E27FC236}">
                <a16:creationId xmlns:a16="http://schemas.microsoft.com/office/drawing/2014/main" id="{89CFCA04-8DED-435B-2AE9-C93875BB2C9F}"/>
              </a:ext>
            </a:extLst>
          </p:cNvPr>
          <p:cNvPicPr>
            <a:picLocks noGrp="1" noChangeAspect="1"/>
          </p:cNvPicPr>
          <p:nvPr>
            <p:ph sz="half" idx="2"/>
          </p:nvPr>
        </p:nvPicPr>
        <p:blipFill>
          <a:blip r:embed="rId3"/>
          <a:stretch>
            <a:fillRect/>
          </a:stretch>
        </p:blipFill>
        <p:spPr>
          <a:xfrm>
            <a:off x="7650635" y="2638089"/>
            <a:ext cx="4351557" cy="2150041"/>
          </a:xfrm>
          <a:prstGeom prst="rect">
            <a:avLst/>
          </a:prstGeom>
        </p:spPr>
      </p:pic>
    </p:spTree>
    <p:extLst>
      <p:ext uri="{BB962C8B-B14F-4D97-AF65-F5344CB8AC3E}">
        <p14:creationId xmlns:p14="http://schemas.microsoft.com/office/powerpoint/2010/main" val="414031629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5A96B-F535-EFA1-CDFF-FE81FED771BD}"/>
              </a:ext>
            </a:extLst>
          </p:cNvPr>
          <p:cNvSpPr>
            <a:spLocks noGrp="1"/>
          </p:cNvSpPr>
          <p:nvPr>
            <p:ph type="title"/>
          </p:nvPr>
        </p:nvSpPr>
        <p:spPr/>
        <p:txBody>
          <a:bodyPr/>
          <a:lstStyle/>
          <a:p>
            <a:r>
              <a:rPr lang="ru-RU" dirty="0"/>
              <a:t>Одноранговые сети (P2P)</a:t>
            </a:r>
            <a:endParaRPr lang="en-US" dirty="0"/>
          </a:p>
        </p:txBody>
      </p:sp>
      <p:sp>
        <p:nvSpPr>
          <p:cNvPr id="3" name="Content Placeholder 2">
            <a:extLst>
              <a:ext uri="{FF2B5EF4-FFF2-40B4-BE49-F238E27FC236}">
                <a16:creationId xmlns:a16="http://schemas.microsoft.com/office/drawing/2014/main" id="{2F9C5E2E-FB16-CB76-4D15-245E3D27A077}"/>
              </a:ext>
            </a:extLst>
          </p:cNvPr>
          <p:cNvSpPr>
            <a:spLocks noGrp="1"/>
          </p:cNvSpPr>
          <p:nvPr>
            <p:ph sz="half" idx="1"/>
          </p:nvPr>
        </p:nvSpPr>
        <p:spPr>
          <a:xfrm>
            <a:off x="838200" y="1825625"/>
            <a:ext cx="6767286" cy="4351338"/>
          </a:xfrm>
        </p:spPr>
        <p:txBody>
          <a:bodyPr>
            <a:normAutofit fontScale="77500" lnSpcReduction="20000"/>
          </a:bodyPr>
          <a:lstStyle/>
          <a:p>
            <a:r>
              <a:rPr lang="ru-RU" dirty="0"/>
              <a:t>Идея P2P: пользователи (пиры) одновременно скачивают и раздают контент друг другу</a:t>
            </a:r>
          </a:p>
          <a:p>
            <a:r>
              <a:rPr lang="ru-RU" dirty="0"/>
              <a:t>Эволюция подходов</a:t>
            </a:r>
          </a:p>
          <a:p>
            <a:pPr lvl="1"/>
            <a:r>
              <a:rPr lang="ru-RU" dirty="0"/>
              <a:t>Napster (1999):</a:t>
            </a:r>
          </a:p>
          <a:p>
            <a:pPr lvl="2"/>
            <a:r>
              <a:rPr lang="ru-RU" dirty="0"/>
              <a:t>централизованный каталог → легко искать, но одна точка отказа и юридическая уязвимость.</a:t>
            </a:r>
          </a:p>
          <a:p>
            <a:pPr lvl="1"/>
            <a:r>
              <a:rPr lang="ru-RU" dirty="0" err="1"/>
              <a:t>Gnutella</a:t>
            </a:r>
            <a:r>
              <a:rPr lang="ru-RU" dirty="0"/>
              <a:t> (2000):</a:t>
            </a:r>
          </a:p>
          <a:p>
            <a:pPr lvl="2"/>
            <a:r>
              <a:rPr lang="ru-RU" dirty="0"/>
              <a:t>децентрализованный поиск «</a:t>
            </a:r>
            <a:r>
              <a:rPr lang="ru-RU" dirty="0" err="1"/>
              <a:t>gossip</a:t>
            </a:r>
            <a:r>
              <a:rPr lang="ru-RU" dirty="0"/>
              <a:t>» → устойчивее, но плохо масштабируется, много «фрирайдеров», риск «засорения» (</a:t>
            </a:r>
            <a:r>
              <a:rPr lang="ru-RU" dirty="0" err="1"/>
              <a:t>fake</a:t>
            </a:r>
            <a:r>
              <a:rPr lang="ru-RU" dirty="0"/>
              <a:t>/</a:t>
            </a:r>
            <a:r>
              <a:rPr lang="ru-RU" dirty="0" err="1"/>
              <a:t>pollution</a:t>
            </a:r>
            <a:r>
              <a:rPr lang="ru-RU" dirty="0"/>
              <a:t>).</a:t>
            </a:r>
          </a:p>
          <a:p>
            <a:pPr lvl="1"/>
            <a:r>
              <a:rPr lang="ru-RU" dirty="0"/>
              <a:t>BitTorrent (2001–): масштабирование + мотивация + проверка целостности:</a:t>
            </a:r>
          </a:p>
          <a:p>
            <a:pPr lvl="2"/>
            <a:r>
              <a:rPr lang="ru-RU" dirty="0"/>
              <a:t>файл делится на </a:t>
            </a:r>
            <a:r>
              <a:rPr lang="ru-RU" dirty="0" err="1"/>
              <a:t>chunks</a:t>
            </a:r>
            <a:r>
              <a:rPr lang="ru-RU" dirty="0"/>
              <a:t>, есть </a:t>
            </a:r>
            <a:r>
              <a:rPr lang="ru-RU" dirty="0" err="1"/>
              <a:t>torrent</a:t>
            </a:r>
            <a:r>
              <a:rPr lang="ru-RU" dirty="0"/>
              <a:t>-файл с метаданными и </a:t>
            </a:r>
            <a:r>
              <a:rPr lang="ru-RU" dirty="0" err="1"/>
              <a:t>хешами</a:t>
            </a:r>
            <a:r>
              <a:rPr lang="ru-RU" dirty="0"/>
              <a:t>,</a:t>
            </a:r>
          </a:p>
          <a:p>
            <a:pPr lvl="2"/>
            <a:r>
              <a:rPr lang="ru-RU" dirty="0"/>
              <a:t>пиры образуют </a:t>
            </a:r>
            <a:r>
              <a:rPr lang="ru-RU" dirty="0" err="1"/>
              <a:t>swarm</a:t>
            </a:r>
            <a:r>
              <a:rPr lang="ru-RU" dirty="0"/>
              <a:t>, находят друг друга через </a:t>
            </a:r>
            <a:r>
              <a:rPr lang="ru-RU" dirty="0" err="1"/>
              <a:t>tracker</a:t>
            </a:r>
            <a:r>
              <a:rPr lang="ru-RU" dirty="0"/>
              <a:t>/DHT,</a:t>
            </a:r>
          </a:p>
          <a:p>
            <a:pPr lvl="2"/>
            <a:r>
              <a:rPr lang="ru-RU" dirty="0"/>
              <a:t>стратегия обмена («</a:t>
            </a:r>
            <a:r>
              <a:rPr lang="ru-RU" dirty="0" err="1"/>
              <a:t>tit-for-tat</a:t>
            </a:r>
            <a:r>
              <a:rPr lang="ru-RU" dirty="0"/>
              <a:t>») снижает число </a:t>
            </a:r>
            <a:r>
              <a:rPr lang="ru-RU" dirty="0" err="1"/>
              <a:t>leechers</a:t>
            </a:r>
            <a:r>
              <a:rPr lang="ru-RU" dirty="0"/>
              <a:t>,</a:t>
            </a:r>
          </a:p>
          <a:p>
            <a:pPr lvl="2"/>
            <a:r>
              <a:rPr lang="ru-RU" dirty="0"/>
              <a:t>хеш-проверка каждого сегмента защищает от подделок.</a:t>
            </a:r>
          </a:p>
        </p:txBody>
      </p:sp>
      <p:pic>
        <p:nvPicPr>
          <p:cNvPr id="6" name="Content Placeholder 5">
            <a:extLst>
              <a:ext uri="{FF2B5EF4-FFF2-40B4-BE49-F238E27FC236}">
                <a16:creationId xmlns:a16="http://schemas.microsoft.com/office/drawing/2014/main" id="{3C91D711-5F50-8EB6-65D2-0D92374A54FB}"/>
              </a:ext>
            </a:extLst>
          </p:cNvPr>
          <p:cNvPicPr>
            <a:picLocks noGrp="1" noChangeAspect="1"/>
          </p:cNvPicPr>
          <p:nvPr>
            <p:ph sz="half" idx="2"/>
          </p:nvPr>
        </p:nvPicPr>
        <p:blipFill>
          <a:blip r:embed="rId3"/>
          <a:stretch>
            <a:fillRect/>
          </a:stretch>
        </p:blipFill>
        <p:spPr>
          <a:xfrm>
            <a:off x="7605486" y="2543695"/>
            <a:ext cx="4535330" cy="2196191"/>
          </a:xfrm>
          <a:prstGeom prst="rect">
            <a:avLst/>
          </a:prstGeom>
        </p:spPr>
      </p:pic>
    </p:spTree>
    <p:extLst>
      <p:ext uri="{BB962C8B-B14F-4D97-AF65-F5344CB8AC3E}">
        <p14:creationId xmlns:p14="http://schemas.microsoft.com/office/powerpoint/2010/main" val="3920019320"/>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6AAADEB-2087-3502-3EA5-D1F21D96DE91}"/>
              </a:ext>
            </a:extLst>
          </p:cNvPr>
          <p:cNvSpPr>
            <a:spLocks noGrp="1"/>
          </p:cNvSpPr>
          <p:nvPr>
            <p:ph type="title"/>
          </p:nvPr>
        </p:nvSpPr>
        <p:spPr/>
        <p:txBody>
          <a:bodyPr/>
          <a:lstStyle/>
          <a:p>
            <a:r>
              <a:rPr lang="ru-RU" dirty="0"/>
              <a:t>Прикладной уровень. Итоги</a:t>
            </a:r>
            <a:endParaRPr lang="en-US" dirty="0"/>
          </a:p>
        </p:txBody>
      </p:sp>
      <p:sp>
        <p:nvSpPr>
          <p:cNvPr id="7" name="Content Placeholder 6">
            <a:extLst>
              <a:ext uri="{FF2B5EF4-FFF2-40B4-BE49-F238E27FC236}">
                <a16:creationId xmlns:a16="http://schemas.microsoft.com/office/drawing/2014/main" id="{182195BF-F62E-AC04-A8C2-27F55B60E396}"/>
              </a:ext>
            </a:extLst>
          </p:cNvPr>
          <p:cNvSpPr>
            <a:spLocks noGrp="1"/>
          </p:cNvSpPr>
          <p:nvPr>
            <p:ph idx="1"/>
          </p:nvPr>
        </p:nvSpPr>
        <p:spPr/>
        <p:txBody>
          <a:bodyPr>
            <a:normAutofit/>
          </a:bodyPr>
          <a:lstStyle/>
          <a:p>
            <a:r>
              <a:rPr lang="ru-RU" dirty="0"/>
              <a:t>DNS: от hosts.txt → к иерархии доменов и распределённой БД</a:t>
            </a:r>
          </a:p>
          <a:p>
            <a:r>
              <a:rPr lang="ru-RU" dirty="0"/>
              <a:t>E-mail: одно из первых приложений, которое остаётся востребованным и сегодня</a:t>
            </a:r>
          </a:p>
          <a:p>
            <a:r>
              <a:rPr lang="ru-RU" dirty="0"/>
              <a:t>Web: От статичных HTML к веб приложениям</a:t>
            </a:r>
          </a:p>
          <a:p>
            <a:r>
              <a:rPr lang="ru-RU" dirty="0" err="1"/>
              <a:t>Streaming</a:t>
            </a:r>
            <a:r>
              <a:rPr lang="ru-RU" dirty="0"/>
              <a:t> (аудио/видео): основная доля трафика в интернете</a:t>
            </a:r>
          </a:p>
          <a:p>
            <a:r>
              <a:rPr lang="ru-RU" dirty="0"/>
              <a:t>Доставка контента: CDN (направление к ближайшему узлу через DNS) и P2P (ёмкость растёт с числом участников)</a:t>
            </a:r>
          </a:p>
          <a:p>
            <a:endParaRPr lang="en-US" dirty="0"/>
          </a:p>
        </p:txBody>
      </p:sp>
    </p:spTree>
    <p:extLst>
      <p:ext uri="{BB962C8B-B14F-4D97-AF65-F5344CB8AC3E}">
        <p14:creationId xmlns:p14="http://schemas.microsoft.com/office/powerpoint/2010/main" val="59847751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CBF398-DB0D-1FB0-7089-642756FD902A}"/>
              </a:ext>
            </a:extLst>
          </p:cNvPr>
          <p:cNvSpPr>
            <a:spLocks noGrp="1"/>
          </p:cNvSpPr>
          <p:nvPr>
            <p:ph type="title"/>
          </p:nvPr>
        </p:nvSpPr>
        <p:spPr/>
        <p:txBody>
          <a:bodyPr/>
          <a:lstStyle/>
          <a:p>
            <a:r>
              <a:rPr lang="ru-RU" dirty="0"/>
              <a:t>Спасибо за внимание</a:t>
            </a:r>
            <a:endParaRPr lang="en-US" dirty="0"/>
          </a:p>
        </p:txBody>
      </p:sp>
      <p:sp>
        <p:nvSpPr>
          <p:cNvPr id="5" name="Text Placeholder 4">
            <a:extLst>
              <a:ext uri="{FF2B5EF4-FFF2-40B4-BE49-F238E27FC236}">
                <a16:creationId xmlns:a16="http://schemas.microsoft.com/office/drawing/2014/main" id="{779A6E1F-8615-9514-9A5F-CBE6AA06C74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5604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3081</TotalTime>
  <Words>43181</Words>
  <Application>Microsoft Office PowerPoint</Application>
  <PresentationFormat>Widescreen</PresentationFormat>
  <Paragraphs>3159</Paragraphs>
  <Slides>187</Slides>
  <Notes>186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187</vt:i4>
      </vt:variant>
    </vt:vector>
  </HeadingPairs>
  <TitlesOfParts>
    <vt:vector size="193" baseType="lpstr">
      <vt:lpstr>Aptos</vt:lpstr>
      <vt:lpstr>Aptos Display</vt:lpstr>
      <vt:lpstr>Arial</vt:lpstr>
      <vt:lpstr>Cambria Math</vt:lpstr>
      <vt:lpstr>Consolas</vt:lpstr>
      <vt:lpstr>Office Theme</vt:lpstr>
      <vt:lpstr>Эталонные сетевые модели</vt:lpstr>
      <vt:lpstr>Зачем нужны эталонные сетевые модели</vt:lpstr>
      <vt:lpstr>Эталонная модель OSI (Open Systems Interconnection)</vt:lpstr>
      <vt:lpstr>Эталонная модель TCP/IP: происхождение и устройство</vt:lpstr>
      <vt:lpstr>Протоколы модели TCP/IP</vt:lpstr>
      <vt:lpstr>Критика модели OSI</vt:lpstr>
      <vt:lpstr>Критика модели TCP/IP</vt:lpstr>
      <vt:lpstr>Гибридная модель (используемая в книге)</vt:lpstr>
      <vt:lpstr>Итоги: сравнение моделей</vt:lpstr>
      <vt:lpstr>Стандартизация</vt:lpstr>
      <vt:lpstr>Необходимость в стандартизации</vt:lpstr>
      <vt:lpstr>Международная стандартизация: ITU</vt:lpstr>
      <vt:lpstr>Международные стандарты: ISO и IEEE</vt:lpstr>
      <vt:lpstr>Стандарты интернета: IETF и W3C</vt:lpstr>
      <vt:lpstr>Взаимодействие стандартов с индустрией</vt:lpstr>
      <vt:lpstr>Физический уровень</vt:lpstr>
      <vt:lpstr>Физический уровень: роль и задачи</vt:lpstr>
      <vt:lpstr>Классификация сред передачи</vt:lpstr>
      <vt:lpstr>Передача данных с помощью запоминающих устройств</vt:lpstr>
      <vt:lpstr>Витая пара</vt:lpstr>
      <vt:lpstr>Коаксиальный кабель и линии электропередач</vt:lpstr>
      <vt:lpstr>Оптоволокно</vt:lpstr>
      <vt:lpstr>Сравнение оптоволокна с медными проводами</vt:lpstr>
      <vt:lpstr>Беспроводная связь</vt:lpstr>
      <vt:lpstr>Беспроводная передача данных: где мы её видим</vt:lpstr>
      <vt:lpstr>Электромагнитный спектр</vt:lpstr>
      <vt:lpstr>Спектр э/м волн и полоса пропускания</vt:lpstr>
      <vt:lpstr>Расширение спектра: псевдослучайная перестройка рабочей частоты</vt:lpstr>
      <vt:lpstr>Прямая последовательность (DSSS) и сверхширокополосная связь (UWB)</vt:lpstr>
      <vt:lpstr>Радиосвязь</vt:lpstr>
      <vt:lpstr>Микроволны</vt:lpstr>
      <vt:lpstr>Инфракрасная связь</vt:lpstr>
      <vt:lpstr>Видимый свет</vt:lpstr>
      <vt:lpstr>Передача цифровой информации в виде сигналов</vt:lpstr>
      <vt:lpstr>Волны и биты</vt:lpstr>
      <vt:lpstr>Полоса пропускания</vt:lpstr>
      <vt:lpstr>Теоремы Найквиста и Шеннона</vt:lpstr>
      <vt:lpstr>Виды модуляции</vt:lpstr>
      <vt:lpstr>Линейные коды</vt:lpstr>
      <vt:lpstr>4B/5B - кодирование</vt:lpstr>
      <vt:lpstr>Мультиплексирование: несколько потоков по одному каналу</vt:lpstr>
      <vt:lpstr>Физический уровень - итоги</vt:lpstr>
      <vt:lpstr>Канальный уровень</vt:lpstr>
      <vt:lpstr>Основные функции канального уровня</vt:lpstr>
      <vt:lpstr>Фрейм</vt:lpstr>
      <vt:lpstr>Сервисы канального уровня</vt:lpstr>
      <vt:lpstr>Виртуальное и реальное соединение</vt:lpstr>
      <vt:lpstr>Почему передача фреймов — не тривиальная задача</vt:lpstr>
      <vt:lpstr>Формирование фреймов</vt:lpstr>
      <vt:lpstr>Зачем разбивать на фреймы?</vt:lpstr>
      <vt:lpstr>Метод 1. Подсчёт байтов</vt:lpstr>
      <vt:lpstr>Метод 2: Флаговые байты + байт-стаффинг</vt:lpstr>
      <vt:lpstr>Метод 3: Флаговая битовая последовательность + бит-стаффинг</vt:lpstr>
      <vt:lpstr>«Запрещённые» сигналы физического уровня</vt:lpstr>
      <vt:lpstr>Обработка ошибок канального уровня</vt:lpstr>
      <vt:lpstr>Ошибки передачи и необходимость подтверждений</vt:lpstr>
      <vt:lpstr>Таймеры и повторная отправка фреймов</vt:lpstr>
      <vt:lpstr>Управление потоком</vt:lpstr>
      <vt:lpstr>Зачем нужно управление потоком</vt:lpstr>
      <vt:lpstr>Два подхода к управлению потоком</vt:lpstr>
      <vt:lpstr>Управление потоком с обратной связью</vt:lpstr>
      <vt:lpstr>Обнаружение и исправление ошибок</vt:lpstr>
      <vt:lpstr>Ошибки в каналах связи — неизбежное зло</vt:lpstr>
      <vt:lpstr>Стратегии обработки</vt:lpstr>
      <vt:lpstr>Идея кодов коррекции ошибок</vt:lpstr>
      <vt:lpstr>Типы корректирующих кодов (очень кратко)</vt:lpstr>
      <vt:lpstr>Коды для обнаружения ошибок</vt:lpstr>
      <vt:lpstr>Идея CRC (циклического кода)</vt:lpstr>
      <vt:lpstr>Пример вычисления CRC</vt:lpstr>
      <vt:lpstr>Протоколы канального уровня</vt:lpstr>
      <vt:lpstr>Элементарные протоколы канального уровня: зачем они нам?</vt:lpstr>
      <vt:lpstr>Упрощения в модели</vt:lpstr>
      <vt:lpstr>Базовая схема канального уровня</vt:lpstr>
      <vt:lpstr>Протокол «Утопия»</vt:lpstr>
      <vt:lpstr>Stop-and-wait: добавляем управление потоком</vt:lpstr>
      <vt:lpstr>Добавляем ошибки и ARQ: последовательные номера (Protocol 3)</vt:lpstr>
      <vt:lpstr>PowerPoint Presentation</vt:lpstr>
      <vt:lpstr>Двунаправленная передача</vt:lpstr>
      <vt:lpstr>Конвейерная передача: раздвижное окно (sliding window)</vt:lpstr>
      <vt:lpstr>Стратегии восстановления при ошибках на конвейере</vt:lpstr>
      <vt:lpstr>Канальный уровень. Итоги</vt:lpstr>
      <vt:lpstr>Подуровень управления доступом к среде</vt:lpstr>
      <vt:lpstr>Подуровень MAC (Medium Access Control)</vt:lpstr>
      <vt:lpstr>Проблема распределения канала</vt:lpstr>
      <vt:lpstr>Статическое распределение канала</vt:lpstr>
      <vt:lpstr>Допущения, связанные с динамическим доступом</vt:lpstr>
      <vt:lpstr>Протоколы коллективного доступа</vt:lpstr>
      <vt:lpstr>Система ALOHA (протокол коллективного доступа)</vt:lpstr>
      <vt:lpstr>CSMA* — протоколы множественного доступа с контролем несущей</vt:lpstr>
      <vt:lpstr>Протоколы без коллизий</vt:lpstr>
      <vt:lpstr>Маркер и двоичный обратный отсчёт</vt:lpstr>
      <vt:lpstr>Сеть Ethernet</vt:lpstr>
      <vt:lpstr>Сеть Ethernet — происхождение и эволюция</vt:lpstr>
      <vt:lpstr>Протокол MAC в классическом Ethernet</vt:lpstr>
      <vt:lpstr>Коммутируемый Ethernet и Ethernet-коммутатор</vt:lpstr>
      <vt:lpstr>Производительность Ethernet и рост скоростей</vt:lpstr>
      <vt:lpstr>Сетевой уровень</vt:lpstr>
      <vt:lpstr>Сетевой уровень (Network Layer)</vt:lpstr>
      <vt:lpstr>Службы сетевого уровня для транспортного уровня</vt:lpstr>
      <vt:lpstr>Служба без установления соединения (Datagram Service)</vt:lpstr>
      <vt:lpstr>Служба с установлением соединения</vt:lpstr>
      <vt:lpstr>Дейтаграммы vs Виртуальные каналы</vt:lpstr>
      <vt:lpstr>Алгоритмы маршрутизации в рамках одной сети</vt:lpstr>
      <vt:lpstr>Маршрутизация внутри автономной системы (AS)</vt:lpstr>
      <vt:lpstr>Принцип оптимальности маршрутов</vt:lpstr>
      <vt:lpstr>Алгоритм поиска кратчайшего пути</vt:lpstr>
      <vt:lpstr>Лавинная адресация (flooding)</vt:lpstr>
      <vt:lpstr>Маршрутизация по вектору расстояний</vt:lpstr>
      <vt:lpstr>Проблема «счёта до бесконечности»</vt:lpstr>
      <vt:lpstr>Сетевой уровень интернета</vt:lpstr>
      <vt:lpstr>Принципы проектирования сетевого уровня Интернета</vt:lpstr>
      <vt:lpstr>Интернет как набор сетей и роль IP</vt:lpstr>
      <vt:lpstr>Формат заголовка IPv4 и основные поля</vt:lpstr>
      <vt:lpstr>Фрагментация, срок жизни, адреса и опции</vt:lpstr>
      <vt:lpstr>IPv4-адреса и префиксы</vt:lpstr>
      <vt:lpstr>Подсети</vt:lpstr>
      <vt:lpstr>CIDR — бесклассовая междоменная маршрутизация (Classless InterDomain Routing)</vt:lpstr>
      <vt:lpstr>Классовая и специальная адресация</vt:lpstr>
      <vt:lpstr>Идея и базовая работа NAT</vt:lpstr>
      <vt:lpstr>NAT: таблица отображения и проблемы</vt:lpstr>
      <vt:lpstr>Протокол IP версии 6 (IPv6)</vt:lpstr>
      <vt:lpstr>Основной заголовок IPv6</vt:lpstr>
      <vt:lpstr>Споры вокруг IPv6</vt:lpstr>
      <vt:lpstr>Управляющие протоколы интернета</vt:lpstr>
      <vt:lpstr>ICMP (Internet Control Message Protocol)</vt:lpstr>
      <vt:lpstr>ARP — протокол разрешения адресов</vt:lpstr>
      <vt:lpstr>DHCP — протокол динамической настройки хостов</vt:lpstr>
      <vt:lpstr>Транспортный уровень</vt:lpstr>
      <vt:lpstr>Транспортные службы: роль и место в стеке</vt:lpstr>
      <vt:lpstr>Примитивы транспортной службы: общая идея</vt:lpstr>
      <vt:lpstr>Примитивы: клиент–сервер и разъединение</vt:lpstr>
      <vt:lpstr>Сокеты Беркли: модель и серверная сторона</vt:lpstr>
      <vt:lpstr>Клиент, обмен данными и гибкость сокетов</vt:lpstr>
      <vt:lpstr>PowerPoint Presentation</vt:lpstr>
      <vt:lpstr>PowerPoint Presentation</vt:lpstr>
      <vt:lpstr>Элементы транспортных протоколов</vt:lpstr>
      <vt:lpstr>Элементы транспортных протоколов</vt:lpstr>
      <vt:lpstr>Адресация на транспортном уровне</vt:lpstr>
      <vt:lpstr>Установление соединения - проблемы</vt:lpstr>
      <vt:lpstr>Ограничение времени жизни пакетов и номера последовательности</vt:lpstr>
      <vt:lpstr>«Тройное рукопожатие»</vt:lpstr>
      <vt:lpstr>Разрыв соединения</vt:lpstr>
      <vt:lpstr>Разрыв соединения на практике</vt:lpstr>
      <vt:lpstr>Контроль ошибок на транспортном уровне</vt:lpstr>
      <vt:lpstr>Буферизация и окна</vt:lpstr>
      <vt:lpstr>Транспортные протоколы интернета</vt:lpstr>
      <vt:lpstr>UDP (User Datagram Protocol)</vt:lpstr>
      <vt:lpstr>TCP – Transmission Control Protocol</vt:lpstr>
      <vt:lpstr>Модель службы TCP</vt:lpstr>
      <vt:lpstr>TCP: общая идея работы</vt:lpstr>
      <vt:lpstr>Заголовок TCP-сегмента</vt:lpstr>
      <vt:lpstr>Опции TCP</vt:lpstr>
      <vt:lpstr>Установка TCP-соединения (трёхстороннее рукопожатие)</vt:lpstr>
      <vt:lpstr>Конечный автомат TCP-соединения</vt:lpstr>
      <vt:lpstr>Транспортный уровень - итоги</vt:lpstr>
      <vt:lpstr>Прикладной уровень</vt:lpstr>
      <vt:lpstr>DNS</vt:lpstr>
      <vt:lpstr>DNS (Domain Name System)</vt:lpstr>
      <vt:lpstr>Поиск DNS: резолверы, рекурсия/итерации, кэш и безопасность</vt:lpstr>
      <vt:lpstr>Пространство имён и иерархия DNS</vt:lpstr>
      <vt:lpstr>DNS запросы и ответы</vt:lpstr>
      <vt:lpstr>dig — инструмент для анализа DNS</vt:lpstr>
      <vt:lpstr>Электронная почта</vt:lpstr>
      <vt:lpstr>Электронная почта: роль и базовая архитектура</vt:lpstr>
      <vt:lpstr>Пользовательский агент (MUA)</vt:lpstr>
      <vt:lpstr>RFC 5322: базовый формат e-mail</vt:lpstr>
      <vt:lpstr>MIME: как e-mail научился вложениям и разным языкам</vt:lpstr>
      <vt:lpstr>Всемирная паутина (World Wide Web)</vt:lpstr>
      <vt:lpstr>Всемирная паутина (World Wide Web)</vt:lpstr>
      <vt:lpstr>Архитектура всемирной паутины</vt:lpstr>
      <vt:lpstr>Веб со стороны клиента</vt:lpstr>
      <vt:lpstr>Веб со стороны сервера</vt:lpstr>
      <vt:lpstr>Статичные веб-объекты и HTML</vt:lpstr>
      <vt:lpstr>Динамические веб-страницы и веб-приложения</vt:lpstr>
      <vt:lpstr>HTTP и HTTPS: основы протокола</vt:lpstr>
      <vt:lpstr>Методы, заголовки и кэширование HTTP</vt:lpstr>
      <vt:lpstr>HTTP/1.0 vs HTTP/1.1</vt:lpstr>
      <vt:lpstr>HTTP/2: мультиплексирование и ускорение веба</vt:lpstr>
      <vt:lpstr>HTTP/3: HTTP поверх QUIC и выбор версии протокола</vt:lpstr>
      <vt:lpstr>Потоковая передача аудио и видео</vt:lpstr>
      <vt:lpstr>Цифровой звук и видео: основы кодирования и сжатия</vt:lpstr>
      <vt:lpstr>Сети доставки контента</vt:lpstr>
      <vt:lpstr>Доставка контента в интернете (CDN и P2P)</vt:lpstr>
      <vt:lpstr>CDN — как ускоряют доставку контента</vt:lpstr>
      <vt:lpstr>Одноранговые сети (P2P)</vt:lpstr>
      <vt:lpstr>Прикладной уровень. Итоги</vt:lpstr>
      <vt:lpstr>Спасибо за внимание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Алексей Малов</dc:creator>
  <cp:lastModifiedBy>Алексей Малов</cp:lastModifiedBy>
  <cp:revision>45</cp:revision>
  <dcterms:created xsi:type="dcterms:W3CDTF">2025-12-09T19:15:21Z</dcterms:created>
  <dcterms:modified xsi:type="dcterms:W3CDTF">2026-02-14T07:06:48Z</dcterms:modified>
</cp:coreProperties>
</file>