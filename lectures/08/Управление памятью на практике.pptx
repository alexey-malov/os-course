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532" r:id="rId2"/>
    <p:sldId id="471" r:id="rId3"/>
    <p:sldId id="472" r:id="rId4"/>
    <p:sldId id="473" r:id="rId5"/>
    <p:sldId id="474" r:id="rId6"/>
    <p:sldId id="475" r:id="rId7"/>
    <p:sldId id="476" r:id="rId8"/>
    <p:sldId id="477" r:id="rId9"/>
    <p:sldId id="478" r:id="rId10"/>
    <p:sldId id="479" r:id="rId11"/>
    <p:sldId id="480" r:id="rId12"/>
    <p:sldId id="481" r:id="rId13"/>
    <p:sldId id="482" r:id="rId14"/>
    <p:sldId id="483" r:id="rId15"/>
    <p:sldId id="484" r:id="rId16"/>
    <p:sldId id="485" r:id="rId17"/>
    <p:sldId id="486" r:id="rId18"/>
    <p:sldId id="487" r:id="rId19"/>
    <p:sldId id="488" r:id="rId20"/>
    <p:sldId id="489" r:id="rId21"/>
    <p:sldId id="490" r:id="rId22"/>
    <p:sldId id="491" r:id="rId23"/>
    <p:sldId id="492" r:id="rId24"/>
    <p:sldId id="493" r:id="rId25"/>
    <p:sldId id="494" r:id="rId26"/>
    <p:sldId id="495" r:id="rId27"/>
    <p:sldId id="496" r:id="rId28"/>
    <p:sldId id="497" r:id="rId29"/>
    <p:sldId id="498" r:id="rId30"/>
    <p:sldId id="499" r:id="rId31"/>
    <p:sldId id="500" r:id="rId32"/>
    <p:sldId id="501" r:id="rId33"/>
    <p:sldId id="502" r:id="rId34"/>
    <p:sldId id="503" r:id="rId35"/>
    <p:sldId id="504" r:id="rId36"/>
    <p:sldId id="505" r:id="rId37"/>
    <p:sldId id="506" r:id="rId38"/>
    <p:sldId id="507" r:id="rId39"/>
    <p:sldId id="508" r:id="rId40"/>
    <p:sldId id="509" r:id="rId41"/>
    <p:sldId id="510" r:id="rId42"/>
    <p:sldId id="511" r:id="rId43"/>
    <p:sldId id="512" r:id="rId44"/>
    <p:sldId id="513" r:id="rId45"/>
    <p:sldId id="514" r:id="rId46"/>
    <p:sldId id="515" r:id="rId47"/>
    <p:sldId id="516" r:id="rId48"/>
    <p:sldId id="517" r:id="rId49"/>
    <p:sldId id="518" r:id="rId50"/>
    <p:sldId id="519" r:id="rId51"/>
    <p:sldId id="520" r:id="rId52"/>
    <p:sldId id="521" r:id="rId53"/>
    <p:sldId id="522" r:id="rId54"/>
    <p:sldId id="523" r:id="rId55"/>
    <p:sldId id="524" r:id="rId56"/>
    <p:sldId id="525" r:id="rId57"/>
    <p:sldId id="526" r:id="rId58"/>
    <p:sldId id="527" r:id="rId59"/>
    <p:sldId id="528" r:id="rId60"/>
    <p:sldId id="529" r:id="rId61"/>
    <p:sldId id="530" r:id="rId62"/>
    <p:sldId id="531" r:id="rId63"/>
    <p:sldId id="533" r:id="rId64"/>
    <p:sldId id="534" r:id="rId65"/>
    <p:sldId id="535" r:id="rId66"/>
    <p:sldId id="536" r:id="rId67"/>
    <p:sldId id="537" r:id="rId68"/>
    <p:sldId id="589" r:id="rId69"/>
    <p:sldId id="590" r:id="rId70"/>
    <p:sldId id="539" r:id="rId71"/>
    <p:sldId id="538" r:id="rId72"/>
    <p:sldId id="540" r:id="rId73"/>
    <p:sldId id="542" r:id="rId74"/>
    <p:sldId id="543" r:id="rId75"/>
    <p:sldId id="544" r:id="rId76"/>
    <p:sldId id="545" r:id="rId77"/>
    <p:sldId id="546" r:id="rId78"/>
    <p:sldId id="547" r:id="rId79"/>
    <p:sldId id="549" r:id="rId80"/>
    <p:sldId id="550" r:id="rId81"/>
    <p:sldId id="551" r:id="rId82"/>
    <p:sldId id="552" r:id="rId83"/>
    <p:sldId id="553" r:id="rId84"/>
    <p:sldId id="554" r:id="rId85"/>
    <p:sldId id="555" r:id="rId86"/>
    <p:sldId id="556" r:id="rId87"/>
    <p:sldId id="557" r:id="rId88"/>
    <p:sldId id="558" r:id="rId89"/>
    <p:sldId id="560" r:id="rId90"/>
    <p:sldId id="559" r:id="rId91"/>
    <p:sldId id="561" r:id="rId92"/>
    <p:sldId id="562" r:id="rId93"/>
    <p:sldId id="563" r:id="rId94"/>
    <p:sldId id="564" r:id="rId95"/>
    <p:sldId id="565" r:id="rId96"/>
    <p:sldId id="566" r:id="rId97"/>
    <p:sldId id="567" r:id="rId98"/>
    <p:sldId id="568" r:id="rId99"/>
    <p:sldId id="569" r:id="rId100"/>
    <p:sldId id="570" r:id="rId101"/>
    <p:sldId id="571" r:id="rId102"/>
    <p:sldId id="572" r:id="rId103"/>
    <p:sldId id="573" r:id="rId104"/>
    <p:sldId id="574" r:id="rId105"/>
    <p:sldId id="575" r:id="rId106"/>
    <p:sldId id="576" r:id="rId107"/>
    <p:sldId id="577" r:id="rId108"/>
    <p:sldId id="578" r:id="rId109"/>
    <p:sldId id="579" r:id="rId110"/>
    <p:sldId id="580" r:id="rId111"/>
    <p:sldId id="581" r:id="rId112"/>
    <p:sldId id="582" r:id="rId113"/>
    <p:sldId id="583" r:id="rId114"/>
    <p:sldId id="584" r:id="rId115"/>
    <p:sldId id="585" r:id="rId116"/>
    <p:sldId id="586" r:id="rId117"/>
    <p:sldId id="587" r:id="rId118"/>
    <p:sldId id="588"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2A3EAC-5B9C-429D-A8D4-56DBFA7C28DB}">
          <p14:sldIdLst>
            <p14:sldId id="532"/>
          </p14:sldIdLst>
        </p14:section>
        <p14:section name="Локальная и глобальная политики распределения страниц" id="{10AEA828-70FA-4BCA-B11E-98A3B365A84F}">
          <p14:sldIdLst>
            <p14:sldId id="471"/>
            <p14:sldId id="472"/>
            <p14:sldId id="473"/>
            <p14:sldId id="474"/>
            <p14:sldId id="475"/>
          </p14:sldIdLst>
        </p14:section>
        <p14:section name="Управление загрузкой страниц" id="{F8B940E0-36C0-4E17-A3B2-78218EFD76E4}">
          <p14:sldIdLst>
            <p14:sldId id="476"/>
            <p14:sldId id="477"/>
            <p14:sldId id="478"/>
            <p14:sldId id="479"/>
            <p14:sldId id="480"/>
          </p14:sldIdLst>
        </p14:section>
        <p14:section name="Очистка страниц" id="{09039BD7-894B-4D61-A671-219CDFCF0083}">
          <p14:sldIdLst>
            <p14:sldId id="481"/>
            <p14:sldId id="482"/>
            <p14:sldId id="483"/>
            <p14:sldId id="484"/>
            <p14:sldId id="485"/>
          </p14:sldIdLst>
        </p14:section>
        <p14:section name="Выбор размера страницы" id="{18FC70FF-6E9B-4A40-848D-DDFD5788D7F7}">
          <p14:sldIdLst>
            <p14:sldId id="486"/>
            <p14:sldId id="487"/>
            <p14:sldId id="488"/>
            <p14:sldId id="489"/>
            <p14:sldId id="490"/>
            <p14:sldId id="491"/>
          </p14:sldIdLst>
        </p14:section>
        <p14:section name="Разделение адресного пространства" id="{149D3B13-2945-44E3-A48D-1C7548F31E57}">
          <p14:sldIdLst>
            <p14:sldId id="492"/>
            <p14:sldId id="493"/>
            <p14:sldId id="494"/>
            <p14:sldId id="495"/>
            <p14:sldId id="496"/>
          </p14:sldIdLst>
        </p14:section>
        <p14:section name="Совместное использование страниц" id="{15985301-DC9A-44DE-9018-F6CC911A9CDF}">
          <p14:sldIdLst>
            <p14:sldId id="497"/>
            <p14:sldId id="498"/>
            <p14:sldId id="499"/>
            <p14:sldId id="500"/>
            <p14:sldId id="501"/>
            <p14:sldId id="502"/>
          </p14:sldIdLst>
        </p14:section>
        <p14:section name="Разделяемые библиотеки" id="{38EA1225-465A-4A64-BAF6-8C0BA6842D14}">
          <p14:sldIdLst>
            <p14:sldId id="503"/>
            <p14:sldId id="504"/>
            <p14:sldId id="505"/>
            <p14:sldId id="506"/>
            <p14:sldId id="507"/>
            <p14:sldId id="508"/>
          </p14:sldIdLst>
        </p14:section>
        <p14:section name="Файлы, отображаемые в память" id="{AC33FC6D-04DD-4E4E-91C3-1E67BDFECE59}">
          <p14:sldIdLst>
            <p14:sldId id="509"/>
            <p14:sldId id="510"/>
            <p14:sldId id="511"/>
            <p14:sldId id="512"/>
            <p14:sldId id="513"/>
          </p14:sldIdLst>
        </p14:section>
        <p14:section name="Практические вопросы реализации виртуальной памяти" id="{F7CB0AC0-0A14-4843-BC87-C145DEBEEF81}">
          <p14:sldIdLst>
            <p14:sldId id="514"/>
            <p14:sldId id="515"/>
            <p14:sldId id="516"/>
            <p14:sldId id="517"/>
            <p14:sldId id="518"/>
            <p14:sldId id="519"/>
          </p14:sldIdLst>
        </p14:section>
        <p14:section name="Обработка ошибок страниц" id="{52FEA047-3572-40D2-8F77-657392095EE8}">
          <p14:sldIdLst>
            <p14:sldId id="520"/>
            <p14:sldId id="521"/>
            <p14:sldId id="522"/>
            <p14:sldId id="523"/>
            <p14:sldId id="524"/>
            <p14:sldId id="525"/>
          </p14:sldIdLst>
        </p14:section>
        <p14:section name="Возобновление выполнения инструкции" id="{EDD1615A-2DCF-4681-B126-83B19A805840}">
          <p14:sldIdLst>
            <p14:sldId id="526"/>
            <p14:sldId id="527"/>
            <p14:sldId id="528"/>
            <p14:sldId id="529"/>
            <p14:sldId id="530"/>
            <p14:sldId id="531"/>
          </p14:sldIdLst>
        </p14:section>
        <p14:section name="Блокировка страниц" id="{6482737F-842E-4BBA-95B4-DEAC7D53D777}">
          <p14:sldIdLst>
            <p14:sldId id="533"/>
            <p14:sldId id="534"/>
            <p14:sldId id="535"/>
            <p14:sldId id="536"/>
            <p14:sldId id="537"/>
            <p14:sldId id="589"/>
            <p14:sldId id="590"/>
            <p14:sldId id="539"/>
            <p14:sldId id="538"/>
          </p14:sldIdLst>
        </p14:section>
        <p14:section name="Резервное хранилище страниц" id="{A7A7A50C-37CA-4793-B9CA-6BCBB1E52F4B}">
          <p14:sldIdLst>
            <p14:sldId id="540"/>
            <p14:sldId id="542"/>
            <p14:sldId id="543"/>
            <p14:sldId id="544"/>
            <p14:sldId id="545"/>
            <p14:sldId id="546"/>
          </p14:sldIdLst>
        </p14:section>
        <p14:section name="Разделение политики и механизма" id="{E6ED28E3-AC58-46ED-9FAC-A50F4F59D18D}">
          <p14:sldIdLst>
            <p14:sldId id="547"/>
            <p14:sldId id="549"/>
            <p14:sldId id="550"/>
            <p14:sldId id="551"/>
            <p14:sldId id="552"/>
            <p14:sldId id="553"/>
          </p14:sldIdLst>
        </p14:section>
        <p14:section name="Сегментация памяти" id="{B4E616B7-45AA-494C-9CA0-B4D0F6873F55}">
          <p14:sldIdLst>
            <p14:sldId id="554"/>
            <p14:sldId id="555"/>
            <p14:sldId id="556"/>
            <p14:sldId id="557"/>
            <p14:sldId id="558"/>
            <p14:sldId id="560"/>
            <p14:sldId id="559"/>
            <p14:sldId id="561"/>
            <p14:sldId id="562"/>
          </p14:sldIdLst>
        </p14:section>
        <p14:section name="Реализация чистой сегментации" id="{4C149BDE-2655-4386-BE18-66FEE1872409}">
          <p14:sldIdLst>
            <p14:sldId id="563"/>
            <p14:sldId id="564"/>
            <p14:sldId id="565"/>
            <p14:sldId id="566"/>
            <p14:sldId id="567"/>
            <p14:sldId id="568"/>
          </p14:sldIdLst>
        </p14:section>
        <p14:section name="Сегментация + пейджинг в ОС Multics" id="{3090FADF-C51F-4CA8-8076-082A459CC8CB}">
          <p14:sldIdLst>
            <p14:sldId id="569"/>
            <p14:sldId id="570"/>
            <p14:sldId id="571"/>
            <p14:sldId id="572"/>
            <p14:sldId id="573"/>
            <p14:sldId id="574"/>
            <p14:sldId id="575"/>
          </p14:sldIdLst>
        </p14:section>
        <p14:section name="Сегментация с пейджингом в Intel x86" id="{259CC471-C226-4A30-AFD2-EF4159D7D17D}">
          <p14:sldIdLst>
            <p14:sldId id="576"/>
            <p14:sldId id="577"/>
            <p14:sldId id="578"/>
            <p14:sldId id="579"/>
            <p14:sldId id="580"/>
            <p14:sldId id="581"/>
          </p14:sldIdLst>
        </p14:section>
        <p14:section name="Современные исследования в области управления памятью" id="{2CF9ABB1-393C-433C-BD59-23562077CF19}">
          <p14:sldIdLst>
            <p14:sldId id="582"/>
            <p14:sldId id="583"/>
            <p14:sldId id="584"/>
            <p14:sldId id="585"/>
            <p14:sldId id="586"/>
            <p14:sldId id="587"/>
            <p14:sldId id="5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90" autoAdjust="0"/>
    <p:restoredTop sz="65049" autoAdjust="0"/>
  </p:normalViewPr>
  <p:slideViewPr>
    <p:cSldViewPr snapToGrid="0" showGuides="1">
      <p:cViewPr varScale="1">
        <p:scale>
          <a:sx n="60" d="100"/>
          <a:sy n="60" d="100"/>
        </p:scale>
        <p:origin x="1908" y="2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B3640-3969-4CA0-BEF2-42CFEAEE7589}"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4D53A-17CE-4F50-94C6-24BFD8A84AAD}" type="slidenum">
              <a:rPr lang="en-US" smtClean="0"/>
              <a:t>‹#›</a:t>
            </a:fld>
            <a:endParaRPr lang="en-US"/>
          </a:p>
        </p:txBody>
      </p:sp>
    </p:spTree>
    <p:extLst>
      <p:ext uri="{BB962C8B-B14F-4D97-AF65-F5344CB8AC3E}">
        <p14:creationId xmlns:p14="http://schemas.microsoft.com/office/powerpoint/2010/main" val="3836477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a:t>
            </a:fld>
            <a:endParaRPr lang="en-US"/>
          </a:p>
        </p:txBody>
      </p:sp>
    </p:spTree>
    <p:extLst>
      <p:ext uri="{BB962C8B-B14F-4D97-AF65-F5344CB8AC3E}">
        <p14:creationId xmlns:p14="http://schemas.microsoft.com/office/powerpoint/2010/main" val="990456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мы говорим о страничной организации памяти, возникает важный вопрос: как распределять ограниченные ресурсы — страницы памяти — между множеством активных процессов? Существует два основных подхода: локальная и глобальная политика замещения страниц. От выбора подхода напрямую зависит производительность системы и вероятность возникновения </a:t>
            </a:r>
            <a:r>
              <a:rPr lang="ru-RU" dirty="0" err="1"/>
              <a:t>thrashing</a:t>
            </a:r>
            <a:r>
              <a:rPr lang="ru-RU" dirty="0"/>
              <a:t> — ситуации, когда процесс почти всё время тратит на подкачку страниц вместо выполнения кода.</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a:t>
            </a:fld>
            <a:endParaRPr lang="en-US"/>
          </a:p>
        </p:txBody>
      </p:sp>
    </p:spTree>
    <p:extLst>
      <p:ext uri="{BB962C8B-B14F-4D97-AF65-F5344CB8AC3E}">
        <p14:creationId xmlns:p14="http://schemas.microsoft.com/office/powerpoint/2010/main" val="397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Локальная политика означает, что процесс может заменять только собственные страницы. Система заранее выделяет ему определённое число кадров памяти, и он работает только в этих рамках. Такой подход обеспечивает изоляцию процессов: один не может "вытеснить" страницы другого. Однако у этого метода есть серьёзный минус — если рабочее множество процесса временно увеличивается, система не сможет выдать ему больше страниц, даже если общая память не исчерпана. Это ведёт к </a:t>
            </a:r>
            <a:r>
              <a:rPr lang="ru-RU" dirty="0" err="1"/>
              <a:t>thrashing</a:t>
            </a:r>
            <a:r>
              <a:rPr lang="ru-RU" dirty="0"/>
              <a:t>.</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a:t>
            </a:fld>
            <a:endParaRPr lang="en-US"/>
          </a:p>
        </p:txBody>
      </p:sp>
    </p:spTree>
    <p:extLst>
      <p:ext uri="{BB962C8B-B14F-4D97-AF65-F5344CB8AC3E}">
        <p14:creationId xmlns:p14="http://schemas.microsoft.com/office/powerpoint/2010/main" val="872261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Глобальная политика более гибкая. Здесь замещение страниц производится среди всех страниц в системе, без учёта принадлежности. Таким образом, система может перераспределять память между процессами в зависимости от их текущих потребностей. Один из способов реализации такой адаптации — алгоритм PFF, или Page </a:t>
            </a:r>
            <a:r>
              <a:rPr lang="ru-RU" dirty="0" err="1"/>
              <a:t>Fault</a:t>
            </a:r>
            <a:r>
              <a:rPr lang="ru-RU" dirty="0"/>
              <a:t> Frequency. Он измеряет частоту ошибок страниц: если процесс часто вызывает подкачку, ему выделяют больше страниц; если наоборот — часть страниц можно забрать. Таким образом, система старается поддерживать частоту подкачек в разумных пределах.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a:t>
            </a:fld>
            <a:endParaRPr lang="en-US"/>
          </a:p>
        </p:txBody>
      </p:sp>
    </p:spTree>
    <p:extLst>
      <p:ext uri="{BB962C8B-B14F-4D97-AF65-F5344CB8AC3E}">
        <p14:creationId xmlns:p14="http://schemas.microsoft.com/office/powerpoint/2010/main" val="3447622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Некоторые алгоритмы, такие как FIFO или LRU, могут использовать как локальную, так и глобальную политику. Однако алгоритмы, ориентированные на рабочие множества, например </a:t>
            </a:r>
            <a:r>
              <a:rPr lang="ru-RU" dirty="0" err="1"/>
              <a:t>Working</a:t>
            </a:r>
            <a:r>
              <a:rPr lang="ru-RU" dirty="0"/>
              <a:t> </a:t>
            </a:r>
            <a:r>
              <a:rPr lang="ru-RU" dirty="0" err="1"/>
              <a:t>Set</a:t>
            </a:r>
            <a:r>
              <a:rPr lang="ru-RU" dirty="0"/>
              <a:t> или </a:t>
            </a:r>
            <a:r>
              <a:rPr lang="ru-RU" dirty="0" err="1"/>
              <a:t>WSClock</a:t>
            </a:r>
            <a:r>
              <a:rPr lang="ru-RU" dirty="0"/>
              <a:t>, применимы только в рамках локальной стратегии, поскольку понятие «рабочего множества» имеет смысл только для отдельного процесса. В итоге глобальные алгоритмы обеспечивают более высокую эффективность при изменяющихся нагрузках, но сложнее в реализации и управлении, тогда как локальные проще, но могут неэффективно использовать память.</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6</a:t>
            </a:fld>
            <a:endParaRPr lang="en-US"/>
          </a:p>
        </p:txBody>
      </p:sp>
    </p:spTree>
    <p:extLst>
      <p:ext uri="{BB962C8B-B14F-4D97-AF65-F5344CB8AC3E}">
        <p14:creationId xmlns:p14="http://schemas.microsoft.com/office/powerpoint/2010/main" val="4264194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7</a:t>
            </a:fld>
            <a:endParaRPr lang="en-US"/>
          </a:p>
        </p:txBody>
      </p:sp>
    </p:spTree>
    <p:extLst>
      <p:ext uri="{BB962C8B-B14F-4D97-AF65-F5344CB8AC3E}">
        <p14:creationId xmlns:p14="http://schemas.microsoft.com/office/powerpoint/2010/main" val="2910216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идеальном управлении страницами операционная система может столкнуться с </a:t>
            </a:r>
            <a:r>
              <a:rPr lang="ru-RU" dirty="0" err="1"/>
              <a:t>thrashing</a:t>
            </a:r>
            <a:r>
              <a:rPr lang="ru-RU" dirty="0"/>
              <a:t> — ситуацией, когда процессы тратят почти всё время на подкачку страниц. Это происходит, если общая потребность процессов в памяти превышает физическую ёмкость системы. Мы видим это, когда алгоритм PFF показывает, что всем процессам нужно больше памяти, а забрать её не у кого. Решение — уменьшить количество активных процессов.</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8</a:t>
            </a:fld>
            <a:endParaRPr lang="en-US"/>
          </a:p>
        </p:txBody>
      </p:sp>
    </p:spTree>
    <p:extLst>
      <p:ext uri="{BB962C8B-B14F-4D97-AF65-F5344CB8AC3E}">
        <p14:creationId xmlns:p14="http://schemas.microsoft.com/office/powerpoint/2010/main" val="926567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Первый и самый жёсткий метод — использовать так называемый Out </a:t>
            </a:r>
            <a:r>
              <a:rPr lang="ru-RU" b="0" dirty="0" err="1"/>
              <a:t>of</a:t>
            </a:r>
            <a:r>
              <a:rPr lang="ru-RU" b="0" dirty="0"/>
              <a:t> Memory </a:t>
            </a:r>
            <a:r>
              <a:rPr lang="ru-RU" b="0" dirty="0" err="1"/>
              <a:t>Killer</a:t>
            </a:r>
            <a:r>
              <a:rPr lang="ru-RU" b="0" dirty="0"/>
              <a:t>. Этот системный механизм анализирует все процессы и вычисляет их «плохость» — насколько много ресурсов они потребляют и насколько они важны. Например, фоновое приложение, расходующее гигабайты памяти, получит высокий балл </a:t>
            </a:r>
            <a:r>
              <a:rPr lang="ru-RU" b="0" dirty="0" err="1"/>
              <a:t>badness</a:t>
            </a:r>
            <a:r>
              <a:rPr lang="ru-RU" b="0" dirty="0"/>
              <a:t>, тогда как системные службы — низкий. OOM </a:t>
            </a:r>
            <a:r>
              <a:rPr lang="ru-RU" b="0" dirty="0" err="1"/>
              <a:t>killer</a:t>
            </a:r>
            <a:r>
              <a:rPr lang="ru-RU" b="0" dirty="0"/>
              <a:t> завершает процессы с наибольшим баллом, освобождая ресурсы. Это крайняя мера, но она спасает систему от полного зависания.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9</a:t>
            </a:fld>
            <a:endParaRPr lang="en-US"/>
          </a:p>
        </p:txBody>
      </p:sp>
    </p:spTree>
    <p:extLst>
      <p:ext uri="{BB962C8B-B14F-4D97-AF65-F5344CB8AC3E}">
        <p14:creationId xmlns:p14="http://schemas.microsoft.com/office/powerpoint/2010/main" val="2833966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Более мягкий подход — </a:t>
            </a:r>
            <a:r>
              <a:rPr lang="ru-RU" b="0" dirty="0" err="1"/>
              <a:t>swapping</a:t>
            </a:r>
            <a:r>
              <a:rPr lang="ru-RU" b="0" dirty="0"/>
              <a:t>, или временное вытеснение некоторых процессов на диск. </a:t>
            </a:r>
            <a:endParaRPr lang="en-US" b="0" dirty="0"/>
          </a:p>
          <a:p>
            <a:endParaRPr lang="ru-RU" b="0" dirty="0"/>
          </a:p>
          <a:p>
            <a:r>
              <a:rPr lang="ru-RU" b="0" dirty="0"/>
              <a:t>Когда процесс выгружается, все его страницы освобождаются и могут быть перераспределены между другими процессами.</a:t>
            </a:r>
            <a:endParaRPr lang="en-US" b="0" dirty="0"/>
          </a:p>
          <a:p>
            <a:endParaRPr lang="en-US" b="0" dirty="0"/>
          </a:p>
          <a:p>
            <a:r>
              <a:rPr lang="ru-RU" b="0" dirty="0"/>
              <a:t> Если </a:t>
            </a:r>
            <a:r>
              <a:rPr lang="ru-RU" b="0" dirty="0" err="1"/>
              <a:t>thrashing</a:t>
            </a:r>
            <a:r>
              <a:rPr lang="ru-RU" b="0" dirty="0"/>
              <a:t> прекращается, система продолжает работать.</a:t>
            </a:r>
            <a:endParaRPr lang="en-US" b="0" dirty="0"/>
          </a:p>
          <a:p>
            <a:r>
              <a:rPr lang="ru-RU" b="0" dirty="0"/>
              <a:t> Если нет — выгружается ещё один процесс. Это решение напоминает двухуровневое планирование, когда активная часть процессов находится в памяти, а остальные ждут своей очереди во внешнем хранилище. Такое чередование позволяет контролировать уровень мультипрограммирования.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10</a:t>
            </a:fld>
            <a:endParaRPr lang="en-US"/>
          </a:p>
        </p:txBody>
      </p:sp>
    </p:spTree>
    <p:extLst>
      <p:ext uri="{BB962C8B-B14F-4D97-AF65-F5344CB8AC3E}">
        <p14:creationId xmlns:p14="http://schemas.microsoft.com/office/powerpoint/2010/main" val="2087395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Кроме того, операционные системы активно применяют методы оптимизации использования памяти. </a:t>
            </a:r>
            <a:endParaRPr lang="en-US" b="0" dirty="0"/>
          </a:p>
          <a:p>
            <a:r>
              <a:rPr lang="ru-RU" b="0" dirty="0"/>
              <a:t>Один из них — </a:t>
            </a:r>
            <a:r>
              <a:rPr lang="ru-RU" b="0" dirty="0" err="1"/>
              <a:t>deduplication</a:t>
            </a:r>
            <a:r>
              <a:rPr lang="ru-RU" b="0" dirty="0"/>
              <a:t>, или объединение одинаковых страниц. Система сканирует память и ищет страницы с идентичным содержимым. Вместо того чтобы хранить их по отдельности, создаётся одна общая копия, к которой привязаны несколько виртуальных страниц. Если какой-то процесс попытается изменить данные, для него создаётся новая страница — механизм </a:t>
            </a:r>
            <a:r>
              <a:rPr lang="ru-RU" b="0" i="1" dirty="0" err="1"/>
              <a:t>copy-on-write</a:t>
            </a:r>
            <a:r>
              <a:rPr lang="ru-RU" b="0" dirty="0"/>
              <a:t>. Это позволяет заметно сократить объём используемой памяти, не влияя на стабильность.</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11</a:t>
            </a:fld>
            <a:endParaRPr lang="en-US"/>
          </a:p>
        </p:txBody>
      </p:sp>
    </p:spTree>
    <p:extLst>
      <p:ext uri="{BB962C8B-B14F-4D97-AF65-F5344CB8AC3E}">
        <p14:creationId xmlns:p14="http://schemas.microsoft.com/office/powerpoint/2010/main" val="208763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12</a:t>
            </a:fld>
            <a:endParaRPr lang="en-US"/>
          </a:p>
        </p:txBody>
      </p:sp>
    </p:spTree>
    <p:extLst>
      <p:ext uri="{BB962C8B-B14F-4D97-AF65-F5344CB8AC3E}">
        <p14:creationId xmlns:p14="http://schemas.microsoft.com/office/powerpoint/2010/main" val="655988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хорошо настроенном управлении памятью возможна ситуация, когда подкачка начинает замедляться, потому что в системе нет свободных чистых кадров. Каждый раз, когда нужно подгрузить новую страницу, приходится сначала записать старую на диск. Это создаёт лишние задержки. Чтобы избежать этого, операционные системы используют механизм </a:t>
            </a:r>
            <a:r>
              <a:rPr lang="ru-RU" b="1" dirty="0"/>
              <a:t>очистки памяти (</a:t>
            </a:r>
            <a:r>
              <a:rPr lang="ru-RU" b="1" dirty="0" err="1"/>
              <a:t>cleaning</a:t>
            </a:r>
            <a:r>
              <a:rPr lang="ru-RU" b="1" dirty="0"/>
              <a:t>)</a:t>
            </a:r>
            <a:r>
              <a:rPr lang="ru-RU" dirty="0"/>
              <a:t>.</a:t>
            </a:r>
          </a:p>
          <a:p>
            <a:r>
              <a:rPr lang="ru-RU" dirty="0"/>
              <a:t>За процесс очистки отвечает специальный фоновый процесс — </a:t>
            </a:r>
            <a:r>
              <a:rPr lang="ru-RU" b="1" dirty="0" err="1"/>
              <a:t>paging</a:t>
            </a:r>
            <a:r>
              <a:rPr lang="ru-RU" b="1" dirty="0"/>
              <a:t> </a:t>
            </a:r>
            <a:r>
              <a:rPr lang="ru-RU" b="1" dirty="0" err="1"/>
              <a:t>daemon</a:t>
            </a:r>
            <a:r>
              <a:rPr lang="ru-RU" dirty="0"/>
              <a:t>. </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13</a:t>
            </a:fld>
            <a:endParaRPr lang="en-US"/>
          </a:p>
        </p:txBody>
      </p:sp>
    </p:spTree>
    <p:extLst>
      <p:ext uri="{BB962C8B-B14F-4D97-AF65-F5344CB8AC3E}">
        <p14:creationId xmlns:p14="http://schemas.microsoft.com/office/powerpoint/2010/main" val="1087651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Обычно этот сервис спит и периодически просыпается, чтобы проверить состояние памяти. Если число свободных кадров становится слишком малым, </a:t>
            </a:r>
            <a:r>
              <a:rPr lang="ru-RU" dirty="0" err="1"/>
              <a:t>daemon</a:t>
            </a:r>
            <a:r>
              <a:rPr lang="ru-RU" dirty="0"/>
              <a:t> начинает «убирать» страницы: выбирает кандидатов на удаление с помощью алгоритма замещения. Если страница была изменена — он записывает её обратно на диск, если нет — просто помечает как свободную. Таким образом, в системе всегда поддерживается запас чистых страниц, готовых к использованию.</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14</a:t>
            </a:fld>
            <a:endParaRPr lang="en-US"/>
          </a:p>
        </p:txBody>
      </p:sp>
    </p:spTree>
    <p:extLst>
      <p:ext uri="{BB962C8B-B14F-4D97-AF65-F5344CB8AC3E}">
        <p14:creationId xmlns:p14="http://schemas.microsoft.com/office/powerpoint/2010/main" val="1369557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Один из эффективных способов реализации такой политики — это механизм часов с двумя стрелками (</a:t>
            </a:r>
            <a:r>
              <a:rPr lang="ru-RU" b="0" dirty="0" err="1"/>
              <a:t>two-handed</a:t>
            </a:r>
            <a:r>
              <a:rPr lang="ru-RU" b="0" dirty="0"/>
              <a:t> </a:t>
            </a:r>
            <a:r>
              <a:rPr lang="ru-RU" b="0" dirty="0" err="1"/>
              <a:t>clock</a:t>
            </a:r>
            <a:r>
              <a:rPr lang="ru-RU" b="0" dirty="0"/>
              <a:t>). Первая, передняя стрелка управляется </a:t>
            </a:r>
            <a:r>
              <a:rPr lang="ru-RU" b="0" dirty="0" err="1"/>
              <a:t>paging</a:t>
            </a:r>
            <a:r>
              <a:rPr lang="ru-RU" b="0" dirty="0"/>
              <a:t> </a:t>
            </a:r>
            <a:r>
              <a:rPr lang="ru-RU" b="0" dirty="0" err="1"/>
              <a:t>daemon’ом</a:t>
            </a:r>
            <a:r>
              <a:rPr lang="ru-RU" b="0" dirty="0"/>
              <a:t> и отвечает за очистку: если страница изменилась, она записывается на диск. Вторая, задняя стрелка, реализует обычный алгоритм замещения страниц. Благодаря этой синхронной работе увеличивается вероятность того, что в момент подкачки нужная страница уже чистая и готова к использованию.</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15</a:t>
            </a:fld>
            <a:endParaRPr lang="en-US"/>
          </a:p>
        </p:txBody>
      </p:sp>
    </p:spTree>
    <p:extLst>
      <p:ext uri="{BB962C8B-B14F-4D97-AF65-F5344CB8AC3E}">
        <p14:creationId xmlns:p14="http://schemas.microsoft.com/office/powerpoint/2010/main" val="874197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Такой подход имеет очевидные преимущества: система избегает «поспешных» записей на диск, сокращает время отклика и повышает общую производительность. Очистка памяти — это фоновый, но критически важный процесс, обеспечивающий плавную работу механизма подкачки и стабильность всей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16</a:t>
            </a:fld>
            <a:endParaRPr lang="en-US"/>
          </a:p>
        </p:txBody>
      </p:sp>
    </p:spTree>
    <p:extLst>
      <p:ext uri="{BB962C8B-B14F-4D97-AF65-F5344CB8AC3E}">
        <p14:creationId xmlns:p14="http://schemas.microsoft.com/office/powerpoint/2010/main" val="2209136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17</a:t>
            </a:fld>
            <a:endParaRPr lang="en-US"/>
          </a:p>
        </p:txBody>
      </p:sp>
    </p:spTree>
    <p:extLst>
      <p:ext uri="{BB962C8B-B14F-4D97-AF65-F5344CB8AC3E}">
        <p14:creationId xmlns:p14="http://schemas.microsoft.com/office/powerpoint/2010/main" val="479126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Размер страницы — это базовый параметр, определяющий, как память делится на блоки для подкачки. Аппаратное обеспечение задаёт минимальный размер, например 4 КБ, но операционная система может использовать кратные этому значения. Например, объединить по две страницы в одну на 8 КБ. Правильный выбор размера страницы напрямую влияет на производительность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18</a:t>
            </a:fld>
            <a:endParaRPr lang="en-US"/>
          </a:p>
        </p:txBody>
      </p:sp>
    </p:spTree>
    <p:extLst>
      <p:ext uri="{BB962C8B-B14F-4D97-AF65-F5344CB8AC3E}">
        <p14:creationId xmlns:p14="http://schemas.microsoft.com/office/powerpoint/2010/main" val="231280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Если страницы маленькие, система использует память более гибко. Например, программа размером 10,5 КБ займёт три страницы по 4 КБ, а не одну 32-КБ страницу, половина которой останется пустой. Это уменьшает внутреннюю фрагментацию, то есть потерю памяти из-за неполного заполнения последней страницы. Кроме того, маленькие страницы удобны для программ, которые работают поэтапно — каждая фаза может занимать лишь несколько килобайт.</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19</a:t>
            </a:fld>
            <a:endParaRPr lang="en-US"/>
          </a:p>
        </p:txBody>
      </p:sp>
    </p:spTree>
    <p:extLst>
      <p:ext uri="{BB962C8B-B14F-4D97-AF65-F5344CB8AC3E}">
        <p14:creationId xmlns:p14="http://schemas.microsoft.com/office/powerpoint/2010/main" val="1273062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маленькие страницы имеют и свои минусы. Чем их больше, тем больше записей нужно хранить в таблице страниц, и тем сильнее нагружается </a:t>
            </a:r>
            <a:r>
              <a:rPr lang="ru-RU" b="1" dirty="0"/>
              <a:t>TLB</a:t>
            </a:r>
            <a:r>
              <a:rPr lang="ru-RU" dirty="0"/>
              <a:t> — кэш, где хранятся последние преобразования адресов. Если программа использует 1 МБ памяти, с 4-КБ страницами ей нужно минимум 256 записей в TLB, а с 2-МБ страницами — всего одна. Кроме того, при чтении данных с диска мелкие страницы создают больше I/O операций. Поэтому для крупных системных задач предпочтительны большие страницы.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20</a:t>
            </a:fld>
            <a:endParaRPr lang="en-US"/>
          </a:p>
        </p:txBody>
      </p:sp>
    </p:spTree>
    <p:extLst>
      <p:ext uri="{BB962C8B-B14F-4D97-AF65-F5344CB8AC3E}">
        <p14:creationId xmlns:p14="http://schemas.microsoft.com/office/powerpoint/2010/main" val="1175630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ru-RU" dirty="0"/>
                  <a:t>Можно показать, что существует оптимум между двумя крайностями. Если </a:t>
                </a:r>
                <a:r>
                  <a:rPr lang="en-US" i="1" dirty="0"/>
                  <a:t>s</a:t>
                </a:r>
                <a:r>
                  <a:rPr lang="en-US" dirty="0"/>
                  <a:t> — </a:t>
                </a:r>
                <a:r>
                  <a:rPr lang="ru-RU" dirty="0"/>
                  <a:t>средний размер процесса, </a:t>
                </a:r>
                <a:r>
                  <a:rPr lang="en-US" i="1" dirty="0"/>
                  <a:t>e</a:t>
                </a:r>
                <a:r>
                  <a:rPr lang="en-US" dirty="0"/>
                  <a:t> — </a:t>
                </a:r>
                <a:r>
                  <a:rPr lang="ru-RU" dirty="0"/>
                  <a:t>размер записи в таблице страниц, а </a:t>
                </a:r>
                <a:r>
                  <a:rPr lang="en-US" i="1" dirty="0"/>
                  <a:t>p</a:t>
                </a:r>
                <a:r>
                  <a:rPr lang="en-US" dirty="0"/>
                  <a:t> — </a:t>
                </a:r>
                <a:r>
                  <a:rPr lang="ru-RU" dirty="0"/>
                  <a:t>размер страницы, то общий перерасход памяти равен:</a:t>
                </a:r>
              </a:p>
              <a:p>
                <a:pPr/>
                <a14:m>
                  <m:oMathPara xmlns:m="http://schemas.openxmlformats.org/officeDocument/2006/math">
                    <m:oMathParaPr>
                      <m:jc m:val="centerGroup"/>
                    </m:oMathParaPr>
                    <m:oMath xmlns:m="http://schemas.openxmlformats.org/officeDocument/2006/math">
                      <m:r>
                        <a:rPr lang="ru-RU" sz="1200" i="1" kern="1200">
                          <a:solidFill>
                            <a:schemeClr val="tx1"/>
                          </a:solidFill>
                          <a:latin typeface="Cambria Math" panose="02040503050406030204" pitchFamily="18" charset="0"/>
                          <a:ea typeface="+mn-ea"/>
                          <a:cs typeface="+mn-cs"/>
                        </a:rPr>
                        <m:t>𝑜𝑣𝑒𝑟</m:t>
                      </m:r>
                      <m:r>
                        <a:rPr lang="ru-RU" sz="1200" i="1" kern="1200">
                          <a:solidFill>
                            <a:schemeClr val="tx1"/>
                          </a:solidFill>
                          <a:latin typeface="Cambria Math" panose="02040503050406030204" pitchFamily="18" charset="0"/>
                          <a:ea typeface="+mn-ea"/>
                          <a:cs typeface="+mn-cs"/>
                        </a:rPr>
                        <m:t>h</m:t>
                      </m:r>
                      <m:r>
                        <a:rPr lang="ru-RU" sz="1200" i="1" kern="1200">
                          <a:solidFill>
                            <a:schemeClr val="tx1"/>
                          </a:solidFill>
                          <a:latin typeface="Cambria Math" panose="02040503050406030204" pitchFamily="18" charset="0"/>
                          <a:ea typeface="+mn-ea"/>
                          <a:cs typeface="+mn-cs"/>
                        </a:rPr>
                        <m:t>𝑒𝑎𝑑</m:t>
                      </m:r>
                      <m:r>
                        <a:rPr lang="ru-RU"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𝑠</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𝑒</m:t>
                          </m:r>
                        </m:num>
                        <m:den>
                          <m:r>
                            <a:rPr lang="ar-AE" sz="1200" i="1" kern="1200">
                              <a:solidFill>
                                <a:schemeClr val="tx1"/>
                              </a:solidFill>
                              <a:latin typeface="Cambria Math" panose="02040503050406030204" pitchFamily="18" charset="0"/>
                              <a:ea typeface="+mn-ea"/>
                              <a:cs typeface="+mn-cs"/>
                            </a:rPr>
                            <m:t>𝑝</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𝑝</m:t>
                          </m:r>
                        </m:num>
                        <m:den>
                          <m:r>
                            <a:rPr lang="ar-AE" sz="1200" i="0" kern="1200">
                              <a:solidFill>
                                <a:schemeClr val="tx1"/>
                              </a:solidFill>
                              <a:latin typeface="Cambria Math" panose="02040503050406030204" pitchFamily="18" charset="0"/>
                              <a:ea typeface="+mn-ea"/>
                              <a:cs typeface="+mn-cs"/>
                            </a:rPr>
                            <m:t>2</m:t>
                          </m:r>
                        </m:den>
                      </m:f>
                    </m:oMath>
                  </m:oMathPara>
                </a14:m>
                <a:endParaRPr lang="ar-AE" dirty="0"/>
              </a:p>
              <a:p>
                <a:r>
                  <a:rPr lang="ru-RU" dirty="0"/>
                  <a:t>Первый член велик при маленьких страницах, второй — при больших. Дифференцируя и приравнивая к нулю, получаем оптимальный размер:</a:t>
                </a:r>
              </a:p>
              <a:p>
                <a:pPr/>
                <a14:m>
                  <m:oMathPara xmlns:m="http://schemas.openxmlformats.org/officeDocument/2006/math">
                    <m:oMathParaPr>
                      <m:jc m:val="centerGroup"/>
                    </m:oMathParaPr>
                    <m:oMath xmlns:m="http://schemas.openxmlformats.org/officeDocument/2006/math">
                      <m:r>
                        <a:rPr lang="ru-RU" sz="1200" i="1" kern="1200">
                          <a:solidFill>
                            <a:schemeClr val="tx1"/>
                          </a:solidFill>
                          <a:latin typeface="Cambria Math" panose="02040503050406030204" pitchFamily="18" charset="0"/>
                          <a:ea typeface="+mn-ea"/>
                          <a:cs typeface="+mn-cs"/>
                        </a:rPr>
                        <m:t>𝑝</m:t>
                      </m:r>
                      <m:r>
                        <a:rPr lang="ru-RU" sz="1200" i="0" kern="1200">
                          <a:solidFill>
                            <a:schemeClr val="tx1"/>
                          </a:solidFill>
                          <a:latin typeface="Cambria Math" panose="02040503050406030204" pitchFamily="18" charset="0"/>
                          <a:ea typeface="+mn-ea"/>
                          <a:cs typeface="+mn-cs"/>
                        </a:rPr>
                        <m:t>=</m:t>
                      </m:r>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2</m:t>
                          </m:r>
                          <m:r>
                            <a:rPr lang="ar-AE" sz="1200" i="1" kern="1200">
                              <a:solidFill>
                                <a:schemeClr val="tx1"/>
                              </a:solidFill>
                              <a:latin typeface="Cambria Math" panose="02040503050406030204" pitchFamily="18" charset="0"/>
                              <a:ea typeface="+mn-ea"/>
                              <a:cs typeface="+mn-cs"/>
                            </a:rPr>
                            <m:t>𝑠𝑒</m:t>
                          </m:r>
                        </m:e>
                      </m:rad>
                    </m:oMath>
                  </m:oMathPara>
                </a14:m>
                <a:endParaRPr lang="ar-AE" dirty="0"/>
              </a:p>
              <a:p>
                <a:r>
                  <a:rPr lang="ru-RU" dirty="0"/>
                  <a:t>Для типичных значений это около 4 КБ — и именно этот размер стал стандартом для большинства современных систем.</a:t>
                </a:r>
                <a:endParaRPr lang="en-US" dirty="0"/>
              </a:p>
            </p:txBody>
          </p:sp>
        </mc:Choice>
        <mc:Fallback xmlns="">
          <p:sp>
            <p:nvSpPr>
              <p:cNvPr id="3" name="Notes Placeholder 2"/>
              <p:cNvSpPr>
                <a:spLocks noGrp="1"/>
              </p:cNvSpPr>
              <p:nvPr>
                <p:ph type="body" idx="1"/>
              </p:nvPr>
            </p:nvSpPr>
            <p:spPr/>
            <p:txBody>
              <a:bodyPr/>
              <a:lstStyle/>
              <a:p>
                <a:r>
                  <a:rPr lang="ru-RU" dirty="0"/>
                  <a:t>Можно показать, что существует оптимум между двумя крайностями. Если </a:t>
                </a:r>
                <a:r>
                  <a:rPr lang="en-US" i="1" dirty="0"/>
                  <a:t>s</a:t>
                </a:r>
                <a:r>
                  <a:rPr lang="en-US" dirty="0"/>
                  <a:t> — </a:t>
                </a:r>
                <a:r>
                  <a:rPr lang="ru-RU" dirty="0"/>
                  <a:t>средний размер процесса, </a:t>
                </a:r>
                <a:r>
                  <a:rPr lang="en-US" i="1" dirty="0"/>
                  <a:t>e</a:t>
                </a:r>
                <a:r>
                  <a:rPr lang="en-US" dirty="0"/>
                  <a:t> — </a:t>
                </a:r>
                <a:r>
                  <a:rPr lang="ru-RU" dirty="0"/>
                  <a:t>размер записи в таблице страниц, а </a:t>
                </a:r>
                <a:r>
                  <a:rPr lang="en-US" i="1" dirty="0"/>
                  <a:t>p</a:t>
                </a:r>
                <a:r>
                  <a:rPr lang="en-US" dirty="0"/>
                  <a:t> — </a:t>
                </a:r>
                <a:r>
                  <a:rPr lang="ru-RU" dirty="0"/>
                  <a:t>размер страницы, то общий перерасход памяти равен:</a:t>
                </a:r>
              </a:p>
              <a:p>
                <a:r>
                  <a:rPr lang="ru-RU" sz="1200" i="0" kern="1200">
                    <a:solidFill>
                      <a:schemeClr val="tx1"/>
                    </a:solidFill>
                    <a:latin typeface="+mn-lt"/>
                    <a:ea typeface="+mn-ea"/>
                    <a:cs typeface="+mn-cs"/>
                  </a:rPr>
                  <a:t>𝑜𝑣𝑒𝑟ℎ𝑒𝑎𝑑=</a:t>
                </a:r>
                <a:r>
                  <a:rPr lang="ar-AE" sz="1200" i="0" kern="1200">
                    <a:solidFill>
                      <a:schemeClr val="tx1"/>
                    </a:solidFill>
                    <a:latin typeface="+mn-lt"/>
                    <a:ea typeface="+mn-ea"/>
                    <a:cs typeface="+mn-cs"/>
                  </a:rPr>
                  <a:t>(𝑠⋅𝑒)/𝑝+𝑝/2</a:t>
                </a:r>
                <a:endParaRPr lang="ar-AE" dirty="0"/>
              </a:p>
              <a:p>
                <a:r>
                  <a:rPr lang="ru-RU" dirty="0"/>
                  <a:t>Первый член велик при маленьких страницах, второй — при больших. Дифференцируя и приравнивая к нулю, получаем оптимальный размер:</a:t>
                </a:r>
              </a:p>
              <a:p>
                <a:r>
                  <a:rPr lang="ru-RU" sz="1200" i="0" kern="1200">
                    <a:solidFill>
                      <a:schemeClr val="tx1"/>
                    </a:solidFill>
                    <a:latin typeface="+mn-lt"/>
                    <a:ea typeface="+mn-ea"/>
                    <a:cs typeface="+mn-cs"/>
                  </a:rPr>
                  <a:t>𝑝=</a:t>
                </a:r>
                <a:r>
                  <a:rPr lang="ar-AE" sz="1200" i="0" kern="1200">
                    <a:solidFill>
                      <a:schemeClr val="tx1"/>
                    </a:solidFill>
                    <a:latin typeface="+mn-lt"/>
                    <a:ea typeface="+mn-ea"/>
                    <a:cs typeface="+mn-cs"/>
                  </a:rPr>
                  <a:t>√2𝑠𝑒</a:t>
                </a:r>
                <a:endParaRPr lang="ar-AE" dirty="0"/>
              </a:p>
              <a:p>
                <a:r>
                  <a:rPr lang="ru-RU" dirty="0"/>
                  <a:t>Для типичных значений это около 4 КБ — и именно этот размер стал стандартом для большинства современных систем.</a:t>
                </a:r>
                <a:endParaRPr lang="en-US" dirty="0"/>
              </a:p>
            </p:txBody>
          </p:sp>
        </mc:Fallback>
      </mc:AlternateContent>
      <p:sp>
        <p:nvSpPr>
          <p:cNvPr id="4" name="Slide Number Placeholder 3"/>
          <p:cNvSpPr>
            <a:spLocks noGrp="1"/>
          </p:cNvSpPr>
          <p:nvPr>
            <p:ph type="sldNum" sz="quarter" idx="5"/>
          </p:nvPr>
        </p:nvSpPr>
        <p:spPr/>
        <p:txBody>
          <a:bodyPr/>
          <a:lstStyle/>
          <a:p>
            <a:fld id="{FB7628C5-B289-46A0-A8C0-80C1CDEFBF17}" type="slidenum">
              <a:rPr lang="en-US" smtClean="0"/>
              <a:t>21</a:t>
            </a:fld>
            <a:endParaRPr lang="en-US"/>
          </a:p>
        </p:txBody>
      </p:sp>
    </p:spTree>
    <p:extLst>
      <p:ext uri="{BB962C8B-B14F-4D97-AF65-F5344CB8AC3E}">
        <p14:creationId xmlns:p14="http://schemas.microsoft.com/office/powerpoint/2010/main" val="1925708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Современные ОС используют разные размеры страниц для разных целей: маленькие — для пользовательских программ, большие — для ядра и кэширования. Механизм </a:t>
            </a:r>
            <a:r>
              <a:rPr lang="ru-RU" b="0" dirty="0" err="1"/>
              <a:t>transparent</a:t>
            </a:r>
            <a:r>
              <a:rPr lang="ru-RU" b="0" dirty="0"/>
              <a:t> </a:t>
            </a:r>
            <a:r>
              <a:rPr lang="ru-RU" b="0" dirty="0" err="1"/>
              <a:t>huge</a:t>
            </a:r>
            <a:r>
              <a:rPr lang="ru-RU" b="0" dirty="0"/>
              <a:t> </a:t>
            </a:r>
            <a:r>
              <a:rPr lang="ru-RU" b="0" dirty="0" err="1"/>
              <a:t>pages</a:t>
            </a:r>
            <a:r>
              <a:rPr lang="ru-RU" b="0" dirty="0"/>
              <a:t> позволяет системе автоматически объединять соседние участки памяти, повышая эффективность без участия пользователя.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22</a:t>
            </a:fld>
            <a:endParaRPr lang="en-US"/>
          </a:p>
        </p:txBody>
      </p:sp>
    </p:spTree>
    <p:extLst>
      <p:ext uri="{BB962C8B-B14F-4D97-AF65-F5344CB8AC3E}">
        <p14:creationId xmlns:p14="http://schemas.microsoft.com/office/powerpoint/2010/main" val="2768755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23</a:t>
            </a:fld>
            <a:endParaRPr lang="en-US"/>
          </a:p>
        </p:txBody>
      </p:sp>
    </p:spTree>
    <p:extLst>
      <p:ext uri="{BB962C8B-B14F-4D97-AF65-F5344CB8AC3E}">
        <p14:creationId xmlns:p14="http://schemas.microsoft.com/office/powerpoint/2010/main" val="30541436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Ранее большинство компьютеров использовали единое адресное пространство, где вместе размещались и инструкции программы, и её данные. Это просто и удобно, пока объём адресного пространства достаточен. Однако в 16-битных системах программисты часто сталкивались с ситуацией, когда код и данные не помещались одновременно, что приводило к сложным ухищрениям при компоновке программы.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24</a:t>
            </a:fld>
            <a:endParaRPr lang="en-US"/>
          </a:p>
        </p:txBody>
      </p:sp>
    </p:spTree>
    <p:extLst>
      <p:ext uri="{BB962C8B-B14F-4D97-AF65-F5344CB8AC3E}">
        <p14:creationId xmlns:p14="http://schemas.microsoft.com/office/powerpoint/2010/main" val="2862362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Инженеры нашли изящное решение: разделить адресное пространство на две части — I-</a:t>
            </a:r>
            <a:r>
              <a:rPr lang="ru-RU" b="0" dirty="0" err="1"/>
              <a:t>space</a:t>
            </a:r>
            <a:r>
              <a:rPr lang="ru-RU" b="0" dirty="0"/>
              <a:t> для инструкций и D-</a:t>
            </a:r>
            <a:r>
              <a:rPr lang="ru-RU" b="0" dirty="0" err="1"/>
              <a:t>space</a:t>
            </a:r>
            <a:r>
              <a:rPr lang="ru-RU" b="0" dirty="0"/>
              <a:t> для данных. Этот подход впервые реализовали на компьютере PDP-11. Теперь и код, и данные могли начинаться с нулевого адреса, но в разных пространствах. Это позволило удвоить доступный диапазон адресов — фактически программа могла занимать больше памяти, не выходя за аппаратные ограничения.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25</a:t>
            </a:fld>
            <a:endParaRPr lang="en-US"/>
          </a:p>
        </p:txBody>
      </p:sp>
    </p:spTree>
    <p:extLst>
      <p:ext uri="{BB962C8B-B14F-4D97-AF65-F5344CB8AC3E}">
        <p14:creationId xmlns:p14="http://schemas.microsoft.com/office/powerpoint/2010/main" val="3723817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Технически это реализуется с помощью двух таблиц страниц. Процессор знает, когда использовать каждую: при выполнении инструкций — обращается к I-</a:t>
            </a:r>
            <a:r>
              <a:rPr lang="ru-RU" b="0" dirty="0" err="1"/>
              <a:t>space</a:t>
            </a:r>
            <a:r>
              <a:rPr lang="ru-RU" b="0" dirty="0"/>
              <a:t>, при доступе к данным — к D-</a:t>
            </a:r>
            <a:r>
              <a:rPr lang="ru-RU" b="0" dirty="0" err="1"/>
              <a:t>space</a:t>
            </a:r>
            <a:r>
              <a:rPr lang="ru-RU" b="0" dirty="0"/>
              <a:t>. При этом обе таблицы могут независимо управляться системой подкачки. Для операционной системы это не вызывает серьёзных трудностей, а выигрыш в гибкости и эффективности огромен.</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26</a:t>
            </a:fld>
            <a:endParaRPr lang="en-US"/>
          </a:p>
        </p:txBody>
      </p:sp>
    </p:spTree>
    <p:extLst>
      <p:ext uri="{BB962C8B-B14F-4D97-AF65-F5344CB8AC3E}">
        <p14:creationId xmlns:p14="http://schemas.microsoft.com/office/powerpoint/2010/main" val="1847651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Сегодня, в эпоху 64-битных адресов, необходимость в разделении программ и данных исчезла — пространства и так достаточно. Но идея продолжает жить внутри процессоров. Современные CPU разделяют L1-кэш на две части: кэш инструкций и кэш данных. То же самое происходит и в TLB: существуют I-TLB и D-TLB, каждая оптимизирована под свой тип обращений. Таким образом, классическая архитектурная идея 1970-х годов по-прежнему служит основой для повышения производительности современных систем.</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27</a:t>
            </a:fld>
            <a:endParaRPr lang="en-US"/>
          </a:p>
        </p:txBody>
      </p:sp>
    </p:spTree>
    <p:extLst>
      <p:ext uri="{BB962C8B-B14F-4D97-AF65-F5344CB8AC3E}">
        <p14:creationId xmlns:p14="http://schemas.microsoft.com/office/powerpoint/2010/main" val="1298149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28</a:t>
            </a:fld>
            <a:endParaRPr lang="en-US"/>
          </a:p>
        </p:txBody>
      </p:sp>
    </p:spTree>
    <p:extLst>
      <p:ext uri="{BB962C8B-B14F-4D97-AF65-F5344CB8AC3E}">
        <p14:creationId xmlns:p14="http://schemas.microsoft.com/office/powerpoint/2010/main" val="1582835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В многозадачных системах несколько процессов часто используют одни и те же программы. Например, десятки пользователей могут запустить один и тот же текстовый редактор. Хранить в памяти по отдельной копии программы для каждого из них — расточительно. Вместо этого используется совместное использование страниц (</a:t>
            </a:r>
            <a:r>
              <a:rPr lang="ru-RU" b="0" dirty="0" err="1"/>
              <a:t>shared</a:t>
            </a:r>
            <a:r>
              <a:rPr lang="ru-RU" b="0" dirty="0"/>
              <a:t> </a:t>
            </a:r>
            <a:r>
              <a:rPr lang="ru-RU" b="0" dirty="0" err="1"/>
              <a:t>pages</a:t>
            </a:r>
            <a:r>
              <a:rPr lang="ru-RU" b="0" dirty="0"/>
              <a:t>), позволяющее нескольким процессам разделять один и тот же код.</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29</a:t>
            </a:fld>
            <a:endParaRPr lang="en-US"/>
          </a:p>
        </p:txBody>
      </p:sp>
    </p:spTree>
    <p:extLst>
      <p:ext uri="{BB962C8B-B14F-4D97-AF65-F5344CB8AC3E}">
        <p14:creationId xmlns:p14="http://schemas.microsoft.com/office/powerpoint/2010/main" val="977201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Код программ, как правило, не изменяется при исполнении, поэтому его можно безопасно разделять. Если система поддерживает раздельные пространства инструкций и данных, несколько процессов могут использовать одну таблицу страниц для I-</a:t>
            </a:r>
            <a:r>
              <a:rPr lang="ru-RU" dirty="0" err="1"/>
              <a:t>space</a:t>
            </a:r>
            <a:r>
              <a:rPr lang="ru-RU" dirty="0"/>
              <a:t> (кода), а разные — для D-</a:t>
            </a:r>
            <a:r>
              <a:rPr lang="ru-RU" dirty="0" err="1"/>
              <a:t>space</a:t>
            </a:r>
            <a:r>
              <a:rPr lang="ru-RU" dirty="0"/>
              <a:t> (данных). Планировщик при переключении задач подставляет соответствующие таблицы. Это простой и эффективный способ разделения.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30</a:t>
            </a:fld>
            <a:endParaRPr lang="en-US"/>
          </a:p>
        </p:txBody>
      </p:sp>
    </p:spTree>
    <p:extLst>
      <p:ext uri="{BB962C8B-B14F-4D97-AF65-F5344CB8AC3E}">
        <p14:creationId xmlns:p14="http://schemas.microsoft.com/office/powerpoint/2010/main" val="2860723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совместное использование страниц создаёт и проблемы. Если процесс, использующий общий код, выгружается из памяти, система должна убедиться, что другие процессы не потеряют свои страницы. Кроме того, при завершении процесса нужно быть уверенным, что его страницы действительно больше никем не используются. Для этого ОС ведёт специальные таблицы, фиксирующие, сколько процессов используют каждую страницу.</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31</a:t>
            </a:fld>
            <a:endParaRPr lang="en-US"/>
          </a:p>
        </p:txBody>
      </p:sp>
    </p:spTree>
    <p:extLst>
      <p:ext uri="{BB962C8B-B14F-4D97-AF65-F5344CB8AC3E}">
        <p14:creationId xmlns:p14="http://schemas.microsoft.com/office/powerpoint/2010/main" val="2912481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Совместное использование данных ещё сложнее, но решается через механизм </a:t>
            </a:r>
            <a:r>
              <a:rPr lang="ru-RU" b="1" dirty="0" err="1"/>
              <a:t>Copy-on-Write</a:t>
            </a:r>
            <a:r>
              <a:rPr lang="ru-RU" dirty="0"/>
              <a:t>. В UNIX, после вызова </a:t>
            </a:r>
            <a:r>
              <a:rPr lang="ru-RU" sz="1200" kern="1200" dirty="0" err="1">
                <a:solidFill>
                  <a:schemeClr val="tx1"/>
                </a:solidFill>
                <a:latin typeface="+mn-lt"/>
                <a:ea typeface="+mn-ea"/>
                <a:cs typeface="+mn-cs"/>
              </a:rPr>
              <a:t>fork</a:t>
            </a:r>
            <a:r>
              <a:rPr lang="ru-RU" sz="1200" kern="1200" dirty="0">
                <a:solidFill>
                  <a:schemeClr val="tx1"/>
                </a:solidFill>
                <a:latin typeface="+mn-lt"/>
                <a:ea typeface="+mn-ea"/>
                <a:cs typeface="+mn-cs"/>
              </a:rPr>
              <a:t>()</a:t>
            </a:r>
            <a:r>
              <a:rPr lang="ru-RU" dirty="0"/>
              <a:t>, родитель и потомок разделяют все страницы, включая данные, но эти страницы помечаются как только для чтения. Пока оба процесса читают данные, ничего не происходит. Но если один из них попытается изменить значение, ОС перехватывает обращение, делает копию страницы и разрешает запись. Таким образом, копируются только действительно изменённые страницы.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32</a:t>
            </a:fld>
            <a:endParaRPr lang="en-US"/>
          </a:p>
        </p:txBody>
      </p:sp>
    </p:spTree>
    <p:extLst>
      <p:ext uri="{BB962C8B-B14F-4D97-AF65-F5344CB8AC3E}">
        <p14:creationId xmlns:p14="http://schemas.microsoft.com/office/powerpoint/2010/main" val="361654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Механизм </a:t>
            </a:r>
            <a:r>
              <a:rPr lang="ru-RU" b="0" dirty="0" err="1"/>
              <a:t>Copy-on-Write</a:t>
            </a:r>
            <a:r>
              <a:rPr lang="ru-RU" b="0" dirty="0"/>
              <a:t> значительно снижает накладные расходы при создании процессов, ускоряет работу и экономит память. Он широко используется в современных ОС — от UNIX и Linux до Windows — и является фундаментальным элементом эффективного управления памятью.</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33</a:t>
            </a:fld>
            <a:endParaRPr lang="en-US"/>
          </a:p>
        </p:txBody>
      </p:sp>
    </p:spTree>
    <p:extLst>
      <p:ext uri="{BB962C8B-B14F-4D97-AF65-F5344CB8AC3E}">
        <p14:creationId xmlns:p14="http://schemas.microsoft.com/office/powerpoint/2010/main" val="32981224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34</a:t>
            </a:fld>
            <a:endParaRPr lang="en-US"/>
          </a:p>
        </p:txBody>
      </p:sp>
    </p:spTree>
    <p:extLst>
      <p:ext uri="{BB962C8B-B14F-4D97-AF65-F5344CB8AC3E}">
        <p14:creationId xmlns:p14="http://schemas.microsoft.com/office/powerpoint/2010/main" val="3145106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операционные системы активно используют разделение библиотек между программами. Ведь многие приложения используют одинаковые функции — например, стандартные библиотеки ввода-вывода или графики. Если каждая программа хранит собственную копию этих функций, расход памяти и места на диске резко возрастает. Поэтому применяются </a:t>
            </a:r>
            <a:r>
              <a:rPr lang="ru-RU" b="1" dirty="0" err="1"/>
              <a:t>shared</a:t>
            </a:r>
            <a:r>
              <a:rPr lang="ru-RU" b="1" dirty="0"/>
              <a:t> </a:t>
            </a:r>
            <a:r>
              <a:rPr lang="ru-RU" b="1" dirty="0" err="1"/>
              <a:t>libraries</a:t>
            </a:r>
            <a:r>
              <a:rPr lang="ru-RU" dirty="0"/>
              <a:t> — библиотеки, которые загружаются в память один раз и используются совместно всеми процессами.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35</a:t>
            </a:fld>
            <a:endParaRPr lang="en-US"/>
          </a:p>
        </p:txBody>
      </p:sp>
    </p:spTree>
    <p:extLst>
      <p:ext uri="{BB962C8B-B14F-4D97-AF65-F5344CB8AC3E}">
        <p14:creationId xmlns:p14="http://schemas.microsoft.com/office/powerpoint/2010/main" val="366784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как работает статическая компоновка. При сборке программы компоновщик ищет все используемые функции в указанных библиотеках, включает нужные в исполняемый файл и записывает результат на диск. Это просто, но неэффективно: каждая программа содержит собственные копии одних и тех же функций. Кроме того, при обновлении библиотек необходимо пересобрать все программы.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36</a:t>
            </a:fld>
            <a:endParaRPr lang="en-US"/>
          </a:p>
        </p:txBody>
      </p:sp>
    </p:spTree>
    <p:extLst>
      <p:ext uri="{BB962C8B-B14F-4D97-AF65-F5344CB8AC3E}">
        <p14:creationId xmlns:p14="http://schemas.microsoft.com/office/powerpoint/2010/main" val="38207675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Современный подход — </a:t>
            </a:r>
            <a:r>
              <a:rPr lang="ru-RU" b="1" dirty="0"/>
              <a:t>динамическое связывание</a:t>
            </a:r>
            <a:r>
              <a:rPr lang="ru-RU" dirty="0"/>
              <a:t>. Компоновщик вставляет не сам код функции, а заглушку, которая связывает программу с библиотекой во время выполнения. Если библиотека уже есть в памяти, вторая программа просто использует её копию. Благодаря подкачке, функции загружаются постранично — только при необходимости. В результате программы занимают меньше памяти и запускаются быстрее.</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37</a:t>
            </a:fld>
            <a:endParaRPr lang="en-US"/>
          </a:p>
        </p:txBody>
      </p:sp>
    </p:spTree>
    <p:extLst>
      <p:ext uri="{BB962C8B-B14F-4D97-AF65-F5344CB8AC3E}">
        <p14:creationId xmlns:p14="http://schemas.microsoft.com/office/powerpoint/2010/main" val="20085325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Кроме экономии памяти, </a:t>
            </a:r>
            <a:r>
              <a:rPr lang="ru-RU" dirty="0" err="1"/>
              <a:t>shared</a:t>
            </a:r>
            <a:r>
              <a:rPr lang="ru-RU" dirty="0"/>
              <a:t> </a:t>
            </a:r>
            <a:r>
              <a:rPr lang="ru-RU" dirty="0" err="1"/>
              <a:t>libraries</a:t>
            </a:r>
            <a:r>
              <a:rPr lang="ru-RU" dirty="0"/>
              <a:t> дают и другие преимущества. Например, если разработчик исправил ошибку в библиотеке, пользователю не нужно пересобирать все программы. После обновления DLL или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so</a:t>
            </a:r>
            <a:r>
              <a:rPr lang="ru-RU" dirty="0"/>
              <a:t>-файла все приложения автоматически используют новую версию. Это особенно важно для безопасности — именно так работают обновления Windows и Linux.</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38</a:t>
            </a:fld>
            <a:endParaRPr lang="en-US"/>
          </a:p>
        </p:txBody>
      </p:sp>
    </p:spTree>
    <p:extLst>
      <p:ext uri="{BB962C8B-B14F-4D97-AF65-F5344CB8AC3E}">
        <p14:creationId xmlns:p14="http://schemas.microsoft.com/office/powerpoint/2010/main" val="23516355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при совместном использовании библиотек возникает проблема адресации. Одна и та же библиотека может быть загружена в разные виртуальные адреса у разных процессов. Переходы по абсолютным адресам в таком случае станут некорректными. Решение — использовать </a:t>
            </a:r>
            <a:r>
              <a:rPr lang="ru-RU" b="1" dirty="0" err="1"/>
              <a:t>position-independent</a:t>
            </a:r>
            <a:r>
              <a:rPr lang="ru-RU" b="1" dirty="0"/>
              <a:t> </a:t>
            </a:r>
            <a:r>
              <a:rPr lang="ru-RU" b="1" dirty="0" err="1"/>
              <a:t>code</a:t>
            </a:r>
            <a:r>
              <a:rPr lang="ru-RU" b="1" dirty="0"/>
              <a:t> (PIC)</a:t>
            </a:r>
            <a:r>
              <a:rPr lang="ru-RU" dirty="0"/>
              <a:t>, который обращается не к фиксированным адресам, а к </a:t>
            </a:r>
            <a:r>
              <a:rPr lang="ru-RU" b="1" dirty="0"/>
              <a:t>относительным смещениям</a:t>
            </a:r>
            <a:r>
              <a:rPr lang="ru-RU" dirty="0"/>
              <a:t>. Такой код можно свободно перемещать в памяти, и он будет корректно выполняться независимо от того, где загружен.</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39</a:t>
            </a:fld>
            <a:endParaRPr lang="en-US"/>
          </a:p>
        </p:txBody>
      </p:sp>
    </p:spTree>
    <p:extLst>
      <p:ext uri="{BB962C8B-B14F-4D97-AF65-F5344CB8AC3E}">
        <p14:creationId xmlns:p14="http://schemas.microsoft.com/office/powerpoint/2010/main" val="29198005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40</a:t>
            </a:fld>
            <a:endParaRPr lang="en-US"/>
          </a:p>
        </p:txBody>
      </p:sp>
    </p:spTree>
    <p:extLst>
      <p:ext uri="{BB962C8B-B14F-4D97-AF65-F5344CB8AC3E}">
        <p14:creationId xmlns:p14="http://schemas.microsoft.com/office/powerpoint/2010/main" val="26593817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Механизм </a:t>
            </a:r>
            <a:r>
              <a:rPr lang="ru-RU" i="1" dirty="0" err="1"/>
              <a:t>memory-mapped</a:t>
            </a:r>
            <a:r>
              <a:rPr lang="ru-RU" i="1" dirty="0"/>
              <a:t> </a:t>
            </a:r>
            <a:r>
              <a:rPr lang="ru-RU" i="1" dirty="0" err="1"/>
              <a:t>files</a:t>
            </a:r>
            <a:r>
              <a:rPr lang="ru-RU" dirty="0"/>
              <a:t> — это мощный инструмент, который объединяет работу с файлами и управление памятью. Вместо традиционного подхода, где программа читает и записывает данные с помощью системных вызовов </a:t>
            </a:r>
            <a:r>
              <a:rPr lang="ru-RU" sz="1200" kern="1200" dirty="0" err="1">
                <a:solidFill>
                  <a:schemeClr val="tx1"/>
                </a:solidFill>
                <a:latin typeface="+mn-lt"/>
                <a:ea typeface="+mn-ea"/>
                <a:cs typeface="+mn-cs"/>
              </a:rPr>
              <a:t>read</a:t>
            </a:r>
            <a:r>
              <a:rPr lang="ru-RU" sz="1200" kern="1200" dirty="0">
                <a:solidFill>
                  <a:schemeClr val="tx1"/>
                </a:solidFill>
                <a:latin typeface="+mn-lt"/>
                <a:ea typeface="+mn-ea"/>
                <a:cs typeface="+mn-cs"/>
              </a:rPr>
              <a:t>()</a:t>
            </a:r>
            <a:r>
              <a:rPr lang="ru-RU" dirty="0"/>
              <a:t> и </a:t>
            </a:r>
            <a:r>
              <a:rPr lang="ru-RU" sz="1200" kern="1200" dirty="0" err="1">
                <a:solidFill>
                  <a:schemeClr val="tx1"/>
                </a:solidFill>
                <a:latin typeface="+mn-lt"/>
                <a:ea typeface="+mn-ea"/>
                <a:cs typeface="+mn-cs"/>
              </a:rPr>
              <a:t>write</a:t>
            </a:r>
            <a:r>
              <a:rPr lang="ru-RU" sz="1200" kern="1200" dirty="0">
                <a:solidFill>
                  <a:schemeClr val="tx1"/>
                </a:solidFill>
                <a:latin typeface="+mn-lt"/>
                <a:ea typeface="+mn-ea"/>
                <a:cs typeface="+mn-cs"/>
              </a:rPr>
              <a:t>()</a:t>
            </a:r>
            <a:r>
              <a:rPr lang="ru-RU" dirty="0"/>
              <a:t>, процесс может «отобразить» файл прямо в своё адресное пространство. Тогда чтение или запись в массив памяти фактически означает чтение или запись в файл.</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41</a:t>
            </a:fld>
            <a:endParaRPr lang="en-US"/>
          </a:p>
        </p:txBody>
      </p:sp>
    </p:spTree>
    <p:extLst>
      <p:ext uri="{BB962C8B-B14F-4D97-AF65-F5344CB8AC3E}">
        <p14:creationId xmlns:p14="http://schemas.microsoft.com/office/powerpoint/2010/main" val="8157262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программа вызывает системный вызов </a:t>
            </a:r>
            <a:r>
              <a:rPr lang="ru-RU" sz="1200" b="0" kern="1200" dirty="0" err="1">
                <a:solidFill>
                  <a:schemeClr val="tx1"/>
                </a:solidFill>
                <a:latin typeface="+mn-lt"/>
                <a:ea typeface="+mn-ea"/>
                <a:cs typeface="+mn-cs"/>
              </a:rPr>
              <a:t>mmap</a:t>
            </a:r>
            <a:r>
              <a:rPr lang="ru-RU" sz="1200" b="0" kern="1200" dirty="0">
                <a:solidFill>
                  <a:schemeClr val="tx1"/>
                </a:solidFill>
                <a:latin typeface="+mn-lt"/>
                <a:ea typeface="+mn-ea"/>
                <a:cs typeface="+mn-cs"/>
              </a:rPr>
              <a:t>()</a:t>
            </a:r>
            <a:r>
              <a:rPr lang="ru-RU" b="0" dirty="0"/>
              <a:t>, она указывает файл, диапазон виртуальных адресов и параметры доступа. При этом страницы из файла не загружаются немедленно — используется механизм подкачки по требованию: страница считывается только тогда, когда к ней впервые обращаются. Диск при этом служит резервным хранилищем данных, а при завершении работы или вызове </a:t>
            </a:r>
            <a:r>
              <a:rPr lang="ru-RU" sz="1200" b="0" kern="1200" dirty="0" err="1">
                <a:solidFill>
                  <a:schemeClr val="tx1"/>
                </a:solidFill>
                <a:latin typeface="+mn-lt"/>
                <a:ea typeface="+mn-ea"/>
                <a:cs typeface="+mn-cs"/>
              </a:rPr>
              <a:t>munmap</a:t>
            </a:r>
            <a:r>
              <a:rPr lang="ru-RU" sz="1200" b="0" kern="1200" dirty="0">
                <a:solidFill>
                  <a:schemeClr val="tx1"/>
                </a:solidFill>
                <a:latin typeface="+mn-lt"/>
                <a:ea typeface="+mn-ea"/>
                <a:cs typeface="+mn-cs"/>
              </a:rPr>
              <a:t>()</a:t>
            </a:r>
            <a:r>
              <a:rPr lang="ru-RU" b="0" dirty="0"/>
              <a:t> изменённые страницы записываются обратно.</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42</a:t>
            </a:fld>
            <a:endParaRPr lang="en-US"/>
          </a:p>
        </p:txBody>
      </p:sp>
    </p:spTree>
    <p:extLst>
      <p:ext uri="{BB962C8B-B14F-4D97-AF65-F5344CB8AC3E}">
        <p14:creationId xmlns:p14="http://schemas.microsoft.com/office/powerpoint/2010/main" val="2473065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механизм делает ввод-вывод намного проще и быстрее. Файл можно обрабатывать как обычный массив, обращаться к его элементам напрямую, без промежуточных буферов. Поскольку уменьшается количество системных вызовов и операций копирования, повышается производительность, особенно при работе с большими файлами или структурами данных.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43</a:t>
            </a:fld>
            <a:endParaRPr lang="en-US"/>
          </a:p>
        </p:txBody>
      </p:sp>
    </p:spTree>
    <p:extLst>
      <p:ext uri="{BB962C8B-B14F-4D97-AF65-F5344CB8AC3E}">
        <p14:creationId xmlns:p14="http://schemas.microsoft.com/office/powerpoint/2010/main" val="2023186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Ещё одно важное преимущество — возможность совместного использования. Если два или более процесса отображают один и тот же файл, то они фактически делят общую память. Любые изменения, сделанные одним процессом, становятся видны другим. Это делает </a:t>
            </a:r>
            <a:r>
              <a:rPr lang="ru-RU" dirty="0" err="1"/>
              <a:t>memory-mapped</a:t>
            </a:r>
            <a:r>
              <a:rPr lang="ru-RU" dirty="0"/>
              <a:t> </a:t>
            </a:r>
            <a:r>
              <a:rPr lang="ru-RU" dirty="0" err="1"/>
              <a:t>files</a:t>
            </a:r>
            <a:r>
              <a:rPr lang="ru-RU" dirty="0"/>
              <a:t> отличным инструментом для быстрого обмена данными между процессами.</a:t>
            </a:r>
          </a:p>
          <a:p>
            <a:r>
              <a:rPr lang="ru-RU" dirty="0"/>
              <a:t>На самом деле, </a:t>
            </a:r>
            <a:r>
              <a:rPr lang="ru-RU" b="1" dirty="0" err="1"/>
              <a:t>shared</a:t>
            </a:r>
            <a:r>
              <a:rPr lang="ru-RU" b="1" dirty="0"/>
              <a:t> </a:t>
            </a:r>
            <a:r>
              <a:rPr lang="ru-RU" b="1" dirty="0" err="1"/>
              <a:t>libraries</a:t>
            </a:r>
            <a:r>
              <a:rPr lang="ru-RU" dirty="0"/>
              <a:t> реализованы именно так — библиотеки представляют собой файлы, которые операционная система отображает в память, а разные процессы совместно используют их страницы</a:t>
            </a:r>
          </a:p>
          <a:p>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44</a:t>
            </a:fld>
            <a:endParaRPr lang="en-US"/>
          </a:p>
        </p:txBody>
      </p:sp>
    </p:spTree>
    <p:extLst>
      <p:ext uri="{BB962C8B-B14F-4D97-AF65-F5344CB8AC3E}">
        <p14:creationId xmlns:p14="http://schemas.microsoft.com/office/powerpoint/2010/main" val="15524620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45</a:t>
            </a:fld>
            <a:endParaRPr lang="en-US"/>
          </a:p>
        </p:txBody>
      </p:sp>
    </p:spTree>
    <p:extLst>
      <p:ext uri="{BB962C8B-B14F-4D97-AF65-F5344CB8AC3E}">
        <p14:creationId xmlns:p14="http://schemas.microsoft.com/office/powerpoint/2010/main" val="25777971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мы говорим о виртуальной памяти, важно понимать, что выбор алгоритма замещения страниц — это только верхушка айсберга. Реализовать систему, которая будет работать надёжно и эффективно, — значит предусмотреть массу деталей: когда создавать таблицы страниц, где хранить </a:t>
            </a:r>
            <a:r>
              <a:rPr lang="ru-RU" dirty="0" err="1"/>
              <a:t>swap</a:t>
            </a:r>
            <a:r>
              <a:rPr lang="ru-RU" dirty="0"/>
              <a:t>, как взаимодействовать с MMU и TLB. Операционная система участвует в управлении подкачкой на всех этапах жизни процесса — от его создания до завершения.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46</a:t>
            </a:fld>
            <a:endParaRPr lang="en-US"/>
          </a:p>
        </p:txBody>
      </p:sp>
    </p:spTree>
    <p:extLst>
      <p:ext uri="{BB962C8B-B14F-4D97-AF65-F5344CB8AC3E}">
        <p14:creationId xmlns:p14="http://schemas.microsoft.com/office/powerpoint/2010/main" val="34924788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этапе создания процесса ОС должна определить размеры программы и данных и создать для них таблицу страниц. Таблица занимает место в памяти и в </a:t>
            </a:r>
            <a:r>
              <a:rPr lang="ru-RU" dirty="0" err="1"/>
              <a:t>swap</a:t>
            </a:r>
            <a:r>
              <a:rPr lang="ru-RU" dirty="0"/>
              <a:t>, где будут храниться выгруженные страницы. </a:t>
            </a:r>
            <a:r>
              <a:rPr lang="ru-RU" dirty="0" err="1"/>
              <a:t>Swap</a:t>
            </a:r>
            <a:r>
              <a:rPr lang="ru-RU" dirty="0"/>
              <a:t> инициализируется данными программы, чтобы при первых ошибках страниц нужные фрагменты можно было загрузить. Иногда код подкачивается не из </a:t>
            </a:r>
            <a:r>
              <a:rPr lang="ru-RU" dirty="0" err="1"/>
              <a:t>swap</a:t>
            </a:r>
            <a:r>
              <a:rPr lang="ru-RU" dirty="0"/>
              <a:t>, а прямо из исполняемого файла — это экономит место и ускоряет запуск. Все эти сведения записываются в таблицу процессов.</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47</a:t>
            </a:fld>
            <a:endParaRPr lang="en-US"/>
          </a:p>
        </p:txBody>
      </p:sp>
    </p:spTree>
    <p:extLst>
      <p:ext uri="{BB962C8B-B14F-4D97-AF65-F5344CB8AC3E}">
        <p14:creationId xmlns:p14="http://schemas.microsoft.com/office/powerpoint/2010/main" val="23020402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планировщик выбирает процесс для выполнения, система должна перенастроить аппаратную часть — MMU. Для этого в регистры загружается адрес таблицы страниц текущего процесса. Если TLB не поддерживает теги процессов, он очищается, чтобы избежать ошибочного доступа к памяти другого процесса. Иногда система заранее подгружает несколько страниц — например, ту, на которую указывает счётчик команд, — чтобы уменьшить число начальных сбоев подкачки.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48</a:t>
            </a:fld>
            <a:endParaRPr lang="en-US"/>
          </a:p>
        </p:txBody>
      </p:sp>
    </p:spTree>
    <p:extLst>
      <p:ext uri="{BB962C8B-B14F-4D97-AF65-F5344CB8AC3E}">
        <p14:creationId xmlns:p14="http://schemas.microsoft.com/office/powerpoint/2010/main" val="37414374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При возникновении ошибки страницы ОС считывает адрес, вызвавший </a:t>
            </a:r>
            <a:r>
              <a:rPr lang="ru-RU" b="0" dirty="0" err="1"/>
              <a:t>fault</a:t>
            </a:r>
            <a:r>
              <a:rPr lang="ru-RU" b="0" dirty="0"/>
              <a:t>, вычисляет, какая страница нужна, и ищет её на диске. Затем находит свободный кадр или вытесняет старую страницу. После загрузки страницы таблица страниц обновляется, и процесс возобновляет выполнение с той инструкции, где произошёл </a:t>
            </a:r>
            <a:r>
              <a:rPr lang="ru-RU" b="0" dirty="0" err="1"/>
              <a:t>fault</a:t>
            </a:r>
            <a:r>
              <a:rPr lang="ru-RU" b="0" dirty="0"/>
              <a:t>. Этот механизм лежит в основе работы всей виртуальной памяти.</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49</a:t>
            </a:fld>
            <a:endParaRPr lang="en-US"/>
          </a:p>
        </p:txBody>
      </p:sp>
    </p:spTree>
    <p:extLst>
      <p:ext uri="{BB962C8B-B14F-4D97-AF65-F5344CB8AC3E}">
        <p14:creationId xmlns:p14="http://schemas.microsoft.com/office/powerpoint/2010/main" val="3880281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процесс завершается, ОС должна очистить все его ресурсы — освободить таблицу страниц, физические кадры и место в </a:t>
            </a:r>
            <a:r>
              <a:rPr lang="ru-RU" dirty="0" err="1"/>
              <a:t>swap</a:t>
            </a:r>
            <a:r>
              <a:rPr lang="ru-RU" dirty="0"/>
              <a:t>. Но если некоторые страницы использовались совместно с другими процессами (например, библиотеки), они удаляются только тогда, когда их больше никто не использует. Таким образом, операционная система не только управляет памятью, но и координирует взаимодействие множества процессов, обеспечивая надёжность и эффективность всей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50</a:t>
            </a:fld>
            <a:endParaRPr lang="en-US"/>
          </a:p>
        </p:txBody>
      </p:sp>
    </p:spTree>
    <p:extLst>
      <p:ext uri="{BB962C8B-B14F-4D97-AF65-F5344CB8AC3E}">
        <p14:creationId xmlns:p14="http://schemas.microsoft.com/office/powerpoint/2010/main" val="1718881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51</a:t>
            </a:fld>
            <a:endParaRPr lang="en-US"/>
          </a:p>
        </p:txBody>
      </p:sp>
    </p:spTree>
    <p:extLst>
      <p:ext uri="{BB962C8B-B14F-4D97-AF65-F5344CB8AC3E}">
        <p14:creationId xmlns:p14="http://schemas.microsoft.com/office/powerpoint/2010/main" val="2004324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Ошибка страницы — одно из ключевых событий в работе виртуальной памяти. Она возникает, когда процесс обращается к странице, которая ещё не загружена в оперативную память. Операционная система должна временно приостановить процесс, загрузить недостающую страницу с диска и возобновить выполнение программы. Для пользователя и программы этот процесс происходит прозрачно.</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52</a:t>
            </a:fld>
            <a:endParaRPr lang="en-US"/>
          </a:p>
        </p:txBody>
      </p:sp>
    </p:spTree>
    <p:extLst>
      <p:ext uri="{BB962C8B-B14F-4D97-AF65-F5344CB8AC3E}">
        <p14:creationId xmlns:p14="http://schemas.microsoft.com/office/powerpoint/2010/main" val="18544439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Первым делом процессор генерирует ловушку (</a:t>
            </a:r>
            <a:r>
              <a:rPr lang="ru-RU" dirty="0" err="1"/>
              <a:t>trap</a:t>
            </a:r>
            <a:r>
              <a:rPr lang="ru-RU" dirty="0"/>
              <a:t>) — переход в режим ядра. Сохраняется счётчик команд и состояние процессора. Ассемблерная подпрограмма прерывания сохраняет регистры и вызывает обработчик ошибки страницы. ОС выясняет, какой виртуальный адрес вызвал </a:t>
            </a:r>
            <a:r>
              <a:rPr lang="ru-RU" dirty="0" err="1"/>
              <a:t>fault</a:t>
            </a:r>
            <a:r>
              <a:rPr lang="ru-RU" dirty="0"/>
              <a:t> — обычно это делает MMU, но иногда приходится анализировать саму инструкцию.</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53</a:t>
            </a:fld>
            <a:endParaRPr lang="en-US"/>
          </a:p>
        </p:txBody>
      </p:sp>
    </p:spTree>
    <p:extLst>
      <p:ext uri="{BB962C8B-B14F-4D97-AF65-F5344CB8AC3E}">
        <p14:creationId xmlns:p14="http://schemas.microsoft.com/office/powerpoint/2010/main" val="22845278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Затем ОС проверяет, допустим ли этот адрес. Если процесс обратился к чужому или запрещённому участку памяти, он немедленно завершается. Если всё корректно, система ищет свободный кадр. Если память заполнена — выбирается страница для замещения. Если страница, подлежащая вытеснению, была изменена, её записывают на диск, а процесс временно приостанавливается.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54</a:t>
            </a:fld>
            <a:endParaRPr lang="en-US"/>
          </a:p>
        </p:txBody>
      </p:sp>
    </p:spTree>
    <p:extLst>
      <p:ext uri="{BB962C8B-B14F-4D97-AF65-F5344CB8AC3E}">
        <p14:creationId xmlns:p14="http://schemas.microsoft.com/office/powerpoint/2010/main" val="12697018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После этого начинается загрузка нужной страницы с диска. Когда она прибывает, таблица страниц обновляется, а кадр помечается как активный. Система возвращает счётчик команд к инструкции, вызвавшей </a:t>
            </a:r>
            <a:r>
              <a:rPr lang="ru-RU" dirty="0" err="1"/>
              <a:t>fault</a:t>
            </a:r>
            <a:r>
              <a:rPr lang="ru-RU" dirty="0"/>
              <a:t>, и процесс снова ставится в очередь на выполнение. Ассемблерный код восстанавливает все регистры, и процесс продолжает работать как ни в чём не бывало.</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55</a:t>
            </a:fld>
            <a:endParaRPr lang="en-US"/>
          </a:p>
        </p:txBody>
      </p:sp>
    </p:spTree>
    <p:extLst>
      <p:ext uri="{BB962C8B-B14F-4D97-AF65-F5344CB8AC3E}">
        <p14:creationId xmlns:p14="http://schemas.microsoft.com/office/powerpoint/2010/main" val="36356435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итоге мы видим, что обработка </a:t>
            </a:r>
            <a:r>
              <a:rPr lang="ru-RU" dirty="0" err="1"/>
              <a:t>page</a:t>
            </a:r>
            <a:r>
              <a:rPr lang="ru-RU" dirty="0"/>
              <a:t> </a:t>
            </a:r>
            <a:r>
              <a:rPr lang="ru-RU" dirty="0" err="1"/>
              <a:t>fault</a:t>
            </a:r>
            <a:r>
              <a:rPr lang="ru-RU" dirty="0"/>
              <a:t> — это тщательно координированный процесс между CPU, MMU, ОС и устройствами хранения. Всё это происходит за миллисекунды и полностью прозрачно для программы. Механизм </a:t>
            </a:r>
            <a:r>
              <a:rPr lang="ru-RU" dirty="0" err="1"/>
              <a:t>page</a:t>
            </a:r>
            <a:r>
              <a:rPr lang="ru-RU" dirty="0"/>
              <a:t> </a:t>
            </a:r>
            <a:r>
              <a:rPr lang="ru-RU" dirty="0" err="1"/>
              <a:t>fault</a:t>
            </a:r>
            <a:r>
              <a:rPr lang="ru-RU" dirty="0"/>
              <a:t> — одно из фундаментальных проявлений взаимодействия аппаратного и программного уровней в современных системах.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56</a:t>
            </a:fld>
            <a:endParaRPr lang="en-US"/>
          </a:p>
        </p:txBody>
      </p:sp>
    </p:spTree>
    <p:extLst>
      <p:ext uri="{BB962C8B-B14F-4D97-AF65-F5344CB8AC3E}">
        <p14:creationId xmlns:p14="http://schemas.microsoft.com/office/powerpoint/2010/main" val="6294226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57</a:t>
            </a:fld>
            <a:endParaRPr lang="en-US"/>
          </a:p>
        </p:txBody>
      </p:sp>
    </p:spTree>
    <p:extLst>
      <p:ext uri="{BB962C8B-B14F-4D97-AF65-F5344CB8AC3E}">
        <p14:creationId xmlns:p14="http://schemas.microsoft.com/office/powerpoint/2010/main" val="5270904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процесс вызывает ошибку страницы, инструкция, вызвавшая её, прерывается на середине. После подкачки страницы операционная система должна не просто возобновить выполнение программы, а точно повторить ту самую инструкцию, где произошёл сбой. Это непросто — нужно знать, где инструкция началась и какие её части уже были выполнены.</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58</a:t>
            </a:fld>
            <a:endParaRPr lang="en-US"/>
          </a:p>
        </p:txBody>
      </p:sp>
    </p:spTree>
    <p:extLst>
      <p:ext uri="{BB962C8B-B14F-4D97-AF65-F5344CB8AC3E}">
        <p14:creationId xmlns:p14="http://schemas.microsoft.com/office/powerpoint/2010/main" val="34623672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пример на процессоре Motorola 680x0. Инструкция </a:t>
            </a:r>
            <a:r>
              <a:rPr lang="ru-RU" sz="1200" kern="1200" dirty="0">
                <a:solidFill>
                  <a:schemeClr val="tx1"/>
                </a:solidFill>
                <a:latin typeface="+mn-lt"/>
                <a:ea typeface="+mn-ea"/>
                <a:cs typeface="+mn-cs"/>
              </a:rPr>
              <a:t>MOV.L #6(A1), 2(A0)</a:t>
            </a:r>
            <a:r>
              <a:rPr lang="ru-RU" dirty="0"/>
              <a:t> занимает 6 байт и делает три обращения к памяти. Ошибка может произойти в любом из них. При этом счётчик команд в момент </a:t>
            </a:r>
            <a:r>
              <a:rPr lang="ru-RU" dirty="0" err="1"/>
              <a:t>fault</a:t>
            </a:r>
            <a:r>
              <a:rPr lang="ru-RU" dirty="0"/>
              <a:t> может указывать на адрес 1000, 1002 или 1004. Проблема в том, что ОС не знает, что это за адрес — начало инструкции или часть операнда. Поэтому определить, с какого байта её перезапустить, невозможно без дополнительной информации.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59</a:t>
            </a:fld>
            <a:endParaRPr lang="en-US"/>
          </a:p>
        </p:txBody>
      </p:sp>
    </p:spTree>
    <p:extLst>
      <p:ext uri="{BB962C8B-B14F-4D97-AF65-F5344CB8AC3E}">
        <p14:creationId xmlns:p14="http://schemas.microsoft.com/office/powerpoint/2010/main" val="29000230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Ситуация осложняется тем, что некоторые инструкции автоматически изменяют регистры, например увеличивают или уменьшают адресные указатели после обращения к памяти. Если </a:t>
            </a:r>
            <a:r>
              <a:rPr lang="ru-RU" dirty="0" err="1"/>
              <a:t>fault</a:t>
            </a:r>
            <a:r>
              <a:rPr lang="ru-RU" dirty="0"/>
              <a:t> произошёл в середине, ОС должна понять, произошло ли изменение регистра. Ошибка здесь может привести к двойному инкременту или к неправильному откату, что нарушит корректность данных.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60</a:t>
            </a:fld>
            <a:endParaRPr lang="en-US"/>
          </a:p>
        </p:txBody>
      </p:sp>
    </p:spTree>
    <p:extLst>
      <p:ext uri="{BB962C8B-B14F-4D97-AF65-F5344CB8AC3E}">
        <p14:creationId xmlns:p14="http://schemas.microsoft.com/office/powerpoint/2010/main" val="24762150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Чтобы решить эту проблему, некоторые процессоры предоставляют специальные внутренние регистры, которые сохраняют адрес начала инструкции и информацию о выполненных </a:t>
            </a:r>
            <a:r>
              <a:rPr lang="ru-RU" b="0" dirty="0" err="1"/>
              <a:t>автоинкрементах</a:t>
            </a:r>
            <a:r>
              <a:rPr lang="ru-RU" b="0" dirty="0"/>
              <a:t>. С их помощью ОС может точно восстановить контекст и безопасно перезапустить инструкцию. Это упрощает работу ядра и делает механизм </a:t>
            </a:r>
            <a:r>
              <a:rPr lang="ru-RU" b="0" dirty="0" err="1"/>
              <a:t>page</a:t>
            </a:r>
            <a:r>
              <a:rPr lang="ru-RU" b="0" dirty="0"/>
              <a:t> </a:t>
            </a:r>
            <a:r>
              <a:rPr lang="ru-RU" b="0" dirty="0" err="1"/>
              <a:t>fault</a:t>
            </a:r>
            <a:r>
              <a:rPr lang="ru-RU" b="0" dirty="0"/>
              <a:t> надёжнее.</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61</a:t>
            </a:fld>
            <a:endParaRPr lang="en-US"/>
          </a:p>
        </p:txBody>
      </p:sp>
    </p:spTree>
    <p:extLst>
      <p:ext uri="{BB962C8B-B14F-4D97-AF65-F5344CB8AC3E}">
        <p14:creationId xmlns:p14="http://schemas.microsoft.com/office/powerpoint/2010/main" val="41223517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Таким образом, восстановление инструкции — один из самых сложных аспектов обработки ошибок страниц. Без аппаратной поддержки ОС вынуждена тратить значительные ресурсы на «восстановление вручную», а ошибка в этом процессе может привести к краху программы. Поэтому современные процессоры проектируются с учётом этой задачи, обеспечивая баланс между сложностью аппаратуры и устойчивостью программного обеспечения.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62</a:t>
            </a:fld>
            <a:endParaRPr lang="en-US"/>
          </a:p>
        </p:txBody>
      </p:sp>
    </p:spTree>
    <p:extLst>
      <p:ext uri="{BB962C8B-B14F-4D97-AF65-F5344CB8AC3E}">
        <p14:creationId xmlns:p14="http://schemas.microsoft.com/office/powerpoint/2010/main" val="22083692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63</a:t>
            </a:fld>
            <a:endParaRPr lang="en-US"/>
          </a:p>
        </p:txBody>
      </p:sp>
    </p:spTree>
    <p:extLst>
      <p:ext uri="{BB962C8B-B14F-4D97-AF65-F5344CB8AC3E}">
        <p14:creationId xmlns:p14="http://schemas.microsoft.com/office/powerpoint/2010/main" val="4060751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Хотя мы говорим о виртуальной памяти как о механизме управления страницами, она не существует в изоляции — ведь большинство программ активно взаимодействуют с внешними устройствами через операции ввода-вывода. Когда процесс выполняет системный вызов чтения или записи, данные поступают напрямую в его буфер в памяти. В этот момент он ожидает завершения операции, а процессор переключается на другую задачу.</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64</a:t>
            </a:fld>
            <a:endParaRPr lang="en-US"/>
          </a:p>
        </p:txBody>
      </p:sp>
    </p:spTree>
    <p:extLst>
      <p:ext uri="{BB962C8B-B14F-4D97-AF65-F5344CB8AC3E}">
        <p14:creationId xmlns:p14="http://schemas.microsoft.com/office/powerpoint/2010/main" val="28775710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Теперь представьте, что в это время другой процесс вызывает ошибку страницы, и система запускает алгоритм замещения. Если используется глобальная политика подкачки, есть небольшой, но реальный риск, что будет выбрана страница, содержащая буфер, в который устройство как раз выполняет передачу данных с помощью DMA. Это может привести к частичной записи данных — часть попадёт в правильное место, а часть перезапишет совершенно другую область памяти.</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65</a:t>
            </a:fld>
            <a:endParaRPr lang="en-US"/>
          </a:p>
        </p:txBody>
      </p:sp>
    </p:spTree>
    <p:extLst>
      <p:ext uri="{BB962C8B-B14F-4D97-AF65-F5344CB8AC3E}">
        <p14:creationId xmlns:p14="http://schemas.microsoft.com/office/powerpoint/2010/main" val="12379326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Первое решение этой проблемы — </a:t>
            </a:r>
            <a:r>
              <a:rPr lang="ru-RU" b="1" dirty="0"/>
              <a:t>блокировка страниц</a:t>
            </a:r>
            <a:r>
              <a:rPr lang="ru-RU" dirty="0"/>
              <a:t>, также называемая </a:t>
            </a:r>
            <a:r>
              <a:rPr lang="ru-RU" i="1" dirty="0" err="1"/>
              <a:t>pinning</a:t>
            </a:r>
            <a:r>
              <a:rPr lang="ru-RU" dirty="0"/>
              <a:t>. ОС отмечает страницу, участвующую в I/O, как недопустимую для подкачки. Пока устройство завершает передачу, эта страница не может быть вытеснена из памяти. После окончания операции блокировка снимается. Это надёжный и эффективный способ, особенно при работе с DMA.</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66</a:t>
            </a:fld>
            <a:endParaRPr lang="en-US"/>
          </a:p>
        </p:txBody>
      </p:sp>
    </p:spTree>
    <p:extLst>
      <p:ext uri="{BB962C8B-B14F-4D97-AF65-F5344CB8AC3E}">
        <p14:creationId xmlns:p14="http://schemas.microsoft.com/office/powerpoint/2010/main" val="3439018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Второй способ — выполнять ввод-вывод не в пользовательскую память, а в </a:t>
            </a:r>
            <a:r>
              <a:rPr lang="ru-RU" b="1" dirty="0"/>
              <a:t>буферы ядра</a:t>
            </a:r>
            <a:r>
              <a:rPr lang="ru-RU" dirty="0"/>
              <a:t>. Когда операция завершается, данные копируются в адресное пространство процесса. Это предотвращает проблемы с заменой страниц, но добавляет издержки — ведь данные копируются дважды. Поэтому этот подход используют только там, где блокировка невозможна или нежелательна.</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67</a:t>
            </a:fld>
            <a:endParaRPr lang="en-US"/>
          </a:p>
        </p:txBody>
      </p:sp>
    </p:spTree>
    <p:extLst>
      <p:ext uri="{BB962C8B-B14F-4D97-AF65-F5344CB8AC3E}">
        <p14:creationId xmlns:p14="http://schemas.microsoft.com/office/powerpoint/2010/main" val="36056880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DMA — это механизм, позволяющий внешним устройствам (например, дискам или сетевым адаптерам) напрямую читать и записывать данные в оперативную память, минуя процессор. Без DMA CPU пришлось бы копировать каждый байт данных вручную, что сильно замедлило бы систему.</a:t>
            </a:r>
            <a:br>
              <a:rPr lang="ru-RU" dirty="0"/>
            </a:br>
            <a:r>
              <a:rPr lang="ru-RU" dirty="0"/>
              <a:t>С DMA процессор лишь инициирует операцию и продолжает выполнять другие задачи, пока контроллер DMA сам управляет передачей данных.</a:t>
            </a:r>
            <a:endParaRPr lang="en-US" dirty="0"/>
          </a:p>
          <a:p>
            <a:r>
              <a:rPr lang="ru-RU" dirty="0"/>
              <a:t>Это повышает производительность и позволяет эффективно использовать ресурсы. Однако DMA работает с </a:t>
            </a:r>
            <a:r>
              <a:rPr lang="ru-RU" b="1" dirty="0"/>
              <a:t>физическими адресами</a:t>
            </a:r>
            <a:r>
              <a:rPr lang="ru-RU" dirty="0"/>
              <a:t>, поэтому ОС должна следить, чтобы страницы, участвующие в обмене, не были выгружены из памяти — для этого используется </a:t>
            </a:r>
            <a:r>
              <a:rPr lang="ru-RU" b="1" dirty="0"/>
              <a:t>блокировка страниц (</a:t>
            </a:r>
            <a:r>
              <a:rPr lang="ru-RU" b="1" dirty="0" err="1"/>
              <a:t>page</a:t>
            </a:r>
            <a:r>
              <a:rPr lang="ru-RU" b="1" dirty="0"/>
              <a:t> </a:t>
            </a:r>
            <a:r>
              <a:rPr lang="ru-RU" b="1" dirty="0" err="1"/>
              <a:t>pinning</a:t>
            </a:r>
            <a:r>
              <a:rPr lang="ru-RU" b="1" dirty="0"/>
              <a:t>)</a:t>
            </a:r>
            <a:r>
              <a:rPr lang="ru-RU" dirty="0"/>
              <a:t>.</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68</a:t>
            </a:fld>
            <a:endParaRPr lang="en-US"/>
          </a:p>
        </p:txBody>
      </p:sp>
    </p:spTree>
    <p:extLst>
      <p:ext uri="{BB962C8B-B14F-4D97-AF65-F5344CB8AC3E}">
        <p14:creationId xmlns:p14="http://schemas.microsoft.com/office/powerpoint/2010/main" val="25798951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Во время работы DMA контроллер напрямую обращается к памяти через системную шину, по которой обычно работает и процессор.</a:t>
            </a:r>
            <a:br>
              <a:rPr lang="ru-RU" dirty="0"/>
            </a:br>
            <a:r>
              <a:rPr lang="ru-RU" dirty="0"/>
              <a:t>Из-за этого возможны короткие задержки — CPU не может обращаться к памяти, пока шина занята передачей данных.</a:t>
            </a:r>
            <a:br>
              <a:rPr lang="ru-RU" dirty="0"/>
            </a:br>
            <a:r>
              <a:rPr lang="ru-RU" dirty="0"/>
              <a:t>Но при этом процессор не простаивает полностью: он продолжает выполнять вычисления в регистрах и кэше, а операции ввода-вывода происходят параллельно.</a:t>
            </a:r>
            <a:br>
              <a:rPr lang="ru-RU" dirty="0"/>
            </a:br>
            <a:r>
              <a:rPr lang="ru-RU" dirty="0"/>
              <a:t>Современные архитектуры решают проблему конфликтов с помощью арбитража шины и независимых каналов DMA.</a:t>
            </a:r>
            <a:br>
              <a:rPr lang="ru-RU" dirty="0"/>
            </a:br>
            <a:r>
              <a:rPr lang="ru-RU"/>
              <a:t>Итог: хотя DMA временно ограничивает доступ процессора к памяти, он </a:t>
            </a:r>
            <a:r>
              <a:rPr lang="ru-RU" b="1"/>
              <a:t>в целом ускоряет работу системы</a:t>
            </a:r>
            <a:r>
              <a:rPr lang="ru-RU"/>
              <a:t>, освобождая CPU от рутинных операций копирования данных.</a:t>
            </a:r>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69</a:t>
            </a:fld>
            <a:endParaRPr lang="en-US"/>
          </a:p>
        </p:txBody>
      </p:sp>
    </p:spTree>
    <p:extLst>
      <p:ext uri="{BB962C8B-B14F-4D97-AF65-F5344CB8AC3E}">
        <p14:creationId xmlns:p14="http://schemas.microsoft.com/office/powerpoint/2010/main" val="10913410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Контроллер DMA — это устройство, напрямую взаимодействующее с физической памятью. Он не знает ничего о виртуальных адресах, потому что преобразованием виртуальных адресов в физические занимается блок MMU, который работает только при доступах процессора. DMA же действует независимо от процессора.</a:t>
            </a:r>
          </a:p>
          <a:p>
            <a:endParaRPr lang="ru-RU" dirty="0"/>
          </a:p>
          <a:p>
            <a:r>
              <a:rPr lang="ru-RU" dirty="0"/>
              <a:t>Поэтому, когда процесс инициирует ввод-вывод, операционная система должна </a:t>
            </a:r>
            <a:r>
              <a:rPr lang="ru-RU" b="1" dirty="0"/>
              <a:t>перевести виртуальные адреса буфера в физические</a:t>
            </a:r>
            <a:r>
              <a:rPr lang="ru-RU" dirty="0"/>
              <a:t> и передать контроллеру именно физические адреса.</a:t>
            </a:r>
          </a:p>
          <a:p>
            <a:r>
              <a:rPr lang="ru-RU" dirty="0"/>
              <a:t>Проблема возникает в том, что физические страницы, соответствующие непрерывному виртуальному буферу, могут быть разбросаны по памяти. Чтобы не выполнять отдельный DMA-запрос на каждую страницу, современные контроллеры используют механизм </a:t>
            </a:r>
            <a:r>
              <a:rPr lang="ru-RU" b="1" dirty="0" err="1"/>
              <a:t>scatter</a:t>
            </a:r>
            <a:r>
              <a:rPr lang="ru-RU" b="1" dirty="0"/>
              <a:t>/</a:t>
            </a:r>
            <a:r>
              <a:rPr lang="ru-RU" b="1" dirty="0" err="1"/>
              <a:t>gather</a:t>
            </a:r>
            <a:r>
              <a:rPr lang="ru-RU" b="1" dirty="0"/>
              <a:t> DMA</a:t>
            </a:r>
            <a:r>
              <a:rPr lang="ru-RU" dirty="0"/>
              <a:t>.</a:t>
            </a:r>
          </a:p>
          <a:p>
            <a:r>
              <a:rPr lang="ru-RU" dirty="0"/>
              <a:t>ОС передаёт контроллеру таблицу сегментов, где для каждого блока указаны физический адрес и длина. Контроллер последовательно выполняет все передачи сам, а по завершении генерирует </a:t>
            </a:r>
            <a:r>
              <a:rPr lang="ru-RU" b="1" dirty="0"/>
              <a:t>одно прерывание</a:t>
            </a:r>
            <a:r>
              <a:rPr lang="ru-RU" dirty="0"/>
              <a:t>. Это существенно снижает нагрузку на процессор и позволяет эффективно выполнять большие операции ввода-вывода, несмотря на фрагментированное физическое размещение страниц.</a:t>
            </a:r>
          </a:p>
          <a:p>
            <a:endParaRPr lang="ru-RU" dirty="0"/>
          </a:p>
          <a:p>
            <a:r>
              <a:rPr lang="ru-RU" dirty="0"/>
              <a:t>Такой механизм используется не только для пользовательских буферов, но и при </a:t>
            </a:r>
            <a:r>
              <a:rPr lang="ru-RU" b="1" dirty="0"/>
              <a:t>подкачке страниц</a:t>
            </a:r>
            <a:r>
              <a:rPr lang="ru-RU" dirty="0"/>
              <a:t> с диска в память. Контроллер может за одно обращение загрузить несколько страниц или разместить их в разных участках памяти, если они не </a:t>
            </a:r>
            <a:r>
              <a:rPr lang="ru-RU" dirty="0" err="1"/>
              <a:t>смежны</a:t>
            </a:r>
            <a:r>
              <a:rPr lang="ru-RU" dirty="0"/>
              <a:t>.</a:t>
            </a:r>
          </a:p>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70</a:t>
            </a:fld>
            <a:endParaRPr lang="en-US"/>
          </a:p>
        </p:txBody>
      </p:sp>
    </p:spTree>
    <p:extLst>
      <p:ext uri="{BB962C8B-B14F-4D97-AF65-F5344CB8AC3E}">
        <p14:creationId xmlns:p14="http://schemas.microsoft.com/office/powerpoint/2010/main" val="2957027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Мы видим, что механизмы виртуальной памяти и ввода-вывода глубоко взаимосвязаны. Когда процесс выполняет системный вызов чтения или записи, данные передаются напрямую между устройством и памятью, минуя процессор, — этот механизм называется </a:t>
            </a:r>
            <a:r>
              <a:rPr lang="ru-RU" b="1" dirty="0"/>
              <a:t>DMA</a:t>
            </a:r>
            <a:r>
              <a:rPr lang="ru-RU" dirty="0"/>
              <a:t>, или прямой доступ к памяти.</a:t>
            </a:r>
          </a:p>
          <a:p>
            <a:r>
              <a:rPr lang="ru-RU" dirty="0"/>
              <a:t>Однако важно понимать: </a:t>
            </a:r>
            <a:r>
              <a:rPr lang="ru-RU" b="1" dirty="0"/>
              <a:t>DMA работает с физическими адресами</a:t>
            </a:r>
            <a:r>
              <a:rPr lang="ru-RU" dirty="0"/>
              <a:t>, а не с виртуальными. Контроллер не знает ничего о таблицах страниц, и поэтому операционная система должна заранее преобразовать все виртуальные адреса буфера в физические.</a:t>
            </a:r>
          </a:p>
          <a:p>
            <a:r>
              <a:rPr lang="ru-RU" dirty="0"/>
              <a:t>Чтобы избежать разрушения данных, </a:t>
            </a:r>
            <a:r>
              <a:rPr lang="ru-RU" b="1" dirty="0"/>
              <a:t>страницы, участвующие в DMA, блокируются (</a:t>
            </a:r>
            <a:r>
              <a:rPr lang="ru-RU" b="1" dirty="0" err="1"/>
              <a:t>pinned</a:t>
            </a:r>
            <a:r>
              <a:rPr lang="ru-RU" b="1" dirty="0"/>
              <a:t>)</a:t>
            </a:r>
            <a:r>
              <a:rPr lang="ru-RU" dirty="0"/>
              <a:t> — они не могут быть выгружены из памяти, пока идёт передача. Это защищает буферы от случайного замещения страниц.</a:t>
            </a:r>
          </a:p>
          <a:p>
            <a:r>
              <a:rPr lang="ru-RU" dirty="0"/>
              <a:t>В то же время, поскольку физические страницы могут быть разбросаны, контроллеру приходится работать с множеством несмежных областей памяти. Современные устройства поддерживают механизм </a:t>
            </a:r>
            <a:r>
              <a:rPr lang="ru-RU" b="1" dirty="0" err="1"/>
              <a:t>scatter</a:t>
            </a:r>
            <a:r>
              <a:rPr lang="ru-RU" b="1" dirty="0"/>
              <a:t>/</a:t>
            </a:r>
            <a:r>
              <a:rPr lang="ru-RU" b="1" dirty="0" err="1"/>
              <a:t>gather</a:t>
            </a:r>
            <a:r>
              <a:rPr lang="ru-RU" b="1" dirty="0"/>
              <a:t> DMA</a:t>
            </a:r>
            <a:r>
              <a:rPr lang="ru-RU" dirty="0"/>
              <a:t>: ОС формирует список сегментов, и контроллер сам выполняет серию передач как одну большую операцию. По завершении он генерирует </a:t>
            </a:r>
            <a:r>
              <a:rPr lang="ru-RU" b="1" dirty="0"/>
              <a:t>одно прерывание</a:t>
            </a:r>
            <a:r>
              <a:rPr lang="ru-RU" dirty="0"/>
              <a:t>, что значительно снижает накладные расходы и повышает производительность.</a:t>
            </a:r>
          </a:p>
          <a:p>
            <a:r>
              <a:rPr lang="ru-RU" dirty="0"/>
              <a:t>Если по каким-то причинам блокировка страниц невозможна, ввод-вывод выполняется в </a:t>
            </a:r>
            <a:r>
              <a:rPr lang="ru-RU" b="1" dirty="0"/>
              <a:t>буферы ядра</a:t>
            </a:r>
            <a:r>
              <a:rPr lang="ru-RU" dirty="0"/>
              <a:t>, а затем данные копируются в память пользователя. Это надёжнее, но менее эффективно.</a:t>
            </a:r>
          </a:p>
          <a:p>
            <a:endParaRPr lang="ru-RU" dirty="0"/>
          </a:p>
          <a:p>
            <a:r>
              <a:rPr lang="ru-RU" dirty="0"/>
              <a:t>Таким образом, баланс между безопасностью и скоростью достигается комбинацией трёх подходов:</a:t>
            </a:r>
          </a:p>
          <a:p>
            <a:r>
              <a:rPr lang="ru-RU" b="1" dirty="0" err="1"/>
              <a:t>Pinning</a:t>
            </a:r>
            <a:r>
              <a:rPr lang="ru-RU" dirty="0"/>
              <a:t> — для защиты активных буферов,</a:t>
            </a:r>
          </a:p>
          <a:p>
            <a:r>
              <a:rPr lang="ru-RU" b="1" dirty="0" err="1"/>
              <a:t>Scatter</a:t>
            </a:r>
            <a:r>
              <a:rPr lang="ru-RU" b="1" dirty="0"/>
              <a:t>/</a:t>
            </a:r>
            <a:r>
              <a:rPr lang="ru-RU" b="1" dirty="0" err="1"/>
              <a:t>gather</a:t>
            </a:r>
            <a:r>
              <a:rPr lang="ru-RU" b="1" dirty="0"/>
              <a:t> DMA</a:t>
            </a:r>
            <a:r>
              <a:rPr lang="ru-RU" dirty="0"/>
              <a:t> — для ускорения сложных передач,</a:t>
            </a:r>
          </a:p>
          <a:p>
            <a:r>
              <a:rPr lang="ru-RU" b="1" dirty="0"/>
              <a:t>Буферизация в ядре</a:t>
            </a:r>
            <a:r>
              <a:rPr lang="ru-RU" dirty="0"/>
              <a:t> — для простоты и надёжности.</a:t>
            </a:r>
          </a:p>
          <a:p>
            <a:r>
              <a:rPr lang="ru-RU" dirty="0"/>
              <a:t>Именно этот баланс лежит в основе эффективного взаимодействия виртуальной памяти и подсистемы ввода-вывода.</a:t>
            </a:r>
          </a:p>
        </p:txBody>
      </p:sp>
      <p:sp>
        <p:nvSpPr>
          <p:cNvPr id="4" name="Slide Number Placeholder 3"/>
          <p:cNvSpPr>
            <a:spLocks noGrp="1"/>
          </p:cNvSpPr>
          <p:nvPr>
            <p:ph type="sldNum" sz="quarter" idx="5"/>
          </p:nvPr>
        </p:nvSpPr>
        <p:spPr/>
        <p:txBody>
          <a:bodyPr/>
          <a:lstStyle/>
          <a:p>
            <a:fld id="{FCB4D53A-17CE-4F50-94C6-24BFD8A84AAD}" type="slidenum">
              <a:rPr lang="en-US" smtClean="0"/>
              <a:t>71</a:t>
            </a:fld>
            <a:endParaRPr lang="en-US"/>
          </a:p>
        </p:txBody>
      </p:sp>
    </p:spTree>
    <p:extLst>
      <p:ext uri="{BB962C8B-B14F-4D97-AF65-F5344CB8AC3E}">
        <p14:creationId xmlns:p14="http://schemas.microsoft.com/office/powerpoint/2010/main" val="9612706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72</a:t>
            </a:fld>
            <a:endParaRPr lang="en-US"/>
          </a:p>
        </p:txBody>
      </p:sp>
    </p:spTree>
    <p:extLst>
      <p:ext uri="{BB962C8B-B14F-4D97-AF65-F5344CB8AC3E}">
        <p14:creationId xmlns:p14="http://schemas.microsoft.com/office/powerpoint/2010/main" val="30659014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операционная система вытесняет страницу из оперативной памяти, она должна сохранить её на долговременном носителе. Этот компонент называется </a:t>
            </a:r>
            <a:r>
              <a:rPr lang="ru-RU" b="0" i="1" dirty="0" err="1"/>
              <a:t>backing</a:t>
            </a:r>
            <a:r>
              <a:rPr lang="ru-RU" b="0" i="1" dirty="0"/>
              <a:t> </a:t>
            </a:r>
            <a:r>
              <a:rPr lang="ru-RU" b="0" i="1" dirty="0" err="1"/>
              <a:t>store</a:t>
            </a:r>
            <a:r>
              <a:rPr lang="ru-RU" b="0" dirty="0"/>
              <a:t> — резервное хранилище страниц. Обычно это отдельная область диска или SSD, называемая </a:t>
            </a:r>
            <a:r>
              <a:rPr lang="ru-RU" b="0" dirty="0" err="1"/>
              <a:t>swap</a:t>
            </a:r>
            <a:r>
              <a:rPr lang="ru-RU" b="0" dirty="0"/>
              <a:t>. От того, как организован </a:t>
            </a:r>
            <a:r>
              <a:rPr lang="ru-RU" b="0" dirty="0" err="1"/>
              <a:t>swap</a:t>
            </a:r>
            <a:r>
              <a:rPr lang="ru-RU" b="0" dirty="0"/>
              <a:t>, зависит скорость подкачки и эффективность использования памяти.</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73</a:t>
            </a:fld>
            <a:endParaRPr lang="en-US"/>
          </a:p>
        </p:txBody>
      </p:sp>
    </p:spTree>
    <p:extLst>
      <p:ext uri="{BB962C8B-B14F-4D97-AF65-F5344CB8AC3E}">
        <p14:creationId xmlns:p14="http://schemas.microsoft.com/office/powerpoint/2010/main" val="13037170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В классическом варианте, особенно в UNIX-системах, используется отдельный </a:t>
            </a:r>
            <a:r>
              <a:rPr lang="ru-RU" b="0" dirty="0" err="1"/>
              <a:t>swap</a:t>
            </a:r>
            <a:r>
              <a:rPr lang="ru-RU" b="0" dirty="0"/>
              <a:t>-раздел, не содержащий файловой системы. Это позволяет обращаться к блокам напрямую, минуя преобразования имен файлов. При запуске системы раздел пуст, и каждому процессу выделяется непрерывный участок под его виртуальную память. Такой подход прост и быстрый, но не даёт гибкости — если процесс увеличивает стек или сегмент данных, свободного места может не хватить.</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74</a:t>
            </a:fld>
            <a:endParaRPr lang="en-US"/>
          </a:p>
        </p:txBody>
      </p:sp>
    </p:spTree>
    <p:extLst>
      <p:ext uri="{BB962C8B-B14F-4D97-AF65-F5344CB8AC3E}">
        <p14:creationId xmlns:p14="http://schemas.microsoft.com/office/powerpoint/2010/main" val="14233415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Чтобы справиться с ростом процессов, можно выделять отдельные </a:t>
            </a:r>
            <a:r>
              <a:rPr lang="ru-RU" b="0" dirty="0" err="1"/>
              <a:t>swap</a:t>
            </a:r>
            <a:r>
              <a:rPr lang="ru-RU" b="0" dirty="0"/>
              <a:t>-области для кода, данных и стека. Ещё более гибкий вариант — динамическое выделение </a:t>
            </a:r>
            <a:r>
              <a:rPr lang="ru-RU" b="0" dirty="0" err="1"/>
              <a:t>swap</a:t>
            </a:r>
            <a:r>
              <a:rPr lang="ru-RU" b="0" dirty="0"/>
              <a:t>-пространства. В этом случае страница получает место на диске только в момент выгрузки. Когда она возвращается в память, это место освобождается. Недостаток — необходимость хранить для каждой страницы указатель на соответствующий блок на диске (</a:t>
            </a:r>
            <a:r>
              <a:rPr lang="ru-RU" b="0" dirty="0" err="1"/>
              <a:t>disk</a:t>
            </a:r>
            <a:r>
              <a:rPr lang="ru-RU" b="0" dirty="0"/>
              <a:t> </a:t>
            </a:r>
            <a:r>
              <a:rPr lang="ru-RU" b="0" dirty="0" err="1"/>
              <a:t>map</a:t>
            </a:r>
            <a:r>
              <a:rPr lang="ru-RU" b="0" dirty="0"/>
              <a:t>).</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75</a:t>
            </a:fld>
            <a:endParaRPr lang="en-US"/>
          </a:p>
        </p:txBody>
      </p:sp>
    </p:spTree>
    <p:extLst>
      <p:ext uri="{BB962C8B-B14F-4D97-AF65-F5344CB8AC3E}">
        <p14:creationId xmlns:p14="http://schemas.microsoft.com/office/powerpoint/2010/main" val="189809083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Фиксированная схема проста и быстра, так как каждая страница имеет постоянное место в </a:t>
            </a:r>
            <a:r>
              <a:rPr lang="ru-RU" dirty="0" err="1"/>
              <a:t>swap</a:t>
            </a:r>
            <a:r>
              <a:rPr lang="ru-RU" dirty="0"/>
              <a:t>, но требует много места. Динамическая — экономичнее, но нуждается в дополнительной таблице для отслеживания адресов и может быть медленнее при обращении.</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76</a:t>
            </a:fld>
            <a:endParaRPr lang="en-US"/>
          </a:p>
        </p:txBody>
      </p:sp>
    </p:spTree>
    <p:extLst>
      <p:ext uri="{BB962C8B-B14F-4D97-AF65-F5344CB8AC3E}">
        <p14:creationId xmlns:p14="http://schemas.microsoft.com/office/powerpoint/2010/main" val="80341643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Не всегда доступен отдельный раздел для подкачки. В этом случае ОС создаёт файл подкачки в обычной файловой системе, как это делает Windows. Кроме того, чтобы не расходовать место, код программы и общие библиотеки обычно не хранятся в </a:t>
            </a:r>
            <a:r>
              <a:rPr lang="ru-RU" b="0" dirty="0" err="1"/>
              <a:t>swap</a:t>
            </a:r>
            <a:r>
              <a:rPr lang="ru-RU" b="0" dirty="0"/>
              <a:t> — при нехватке памяти они просто выгружаются и при необходимости загружаются обратно из исходного исполняемого файла. Такой подход уменьшает объём резервного хранилища и ускоряет подкачку.</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77</a:t>
            </a:fld>
            <a:endParaRPr lang="en-US"/>
          </a:p>
        </p:txBody>
      </p:sp>
    </p:spTree>
    <p:extLst>
      <p:ext uri="{BB962C8B-B14F-4D97-AF65-F5344CB8AC3E}">
        <p14:creationId xmlns:p14="http://schemas.microsoft.com/office/powerpoint/2010/main" val="14145372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78</a:t>
            </a:fld>
            <a:endParaRPr lang="en-US"/>
          </a:p>
        </p:txBody>
      </p:sp>
    </p:spTree>
    <p:extLst>
      <p:ext uri="{BB962C8B-B14F-4D97-AF65-F5344CB8AC3E}">
        <p14:creationId xmlns:p14="http://schemas.microsoft.com/office/powerpoint/2010/main" val="35806740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Один из ключевых принципов проектирования сложных систем — это разделение политики и механизма. Механизм отвечает за то, </a:t>
            </a:r>
            <a:r>
              <a:rPr lang="ru-RU" i="1" dirty="0"/>
              <a:t>как</a:t>
            </a:r>
            <a:r>
              <a:rPr lang="ru-RU" dirty="0"/>
              <a:t> выполняется операция, а политика — за то, </a:t>
            </a:r>
            <a:r>
              <a:rPr lang="ru-RU" i="1" dirty="0"/>
              <a:t>когда и зачем</a:t>
            </a:r>
            <a:r>
              <a:rPr lang="ru-RU" dirty="0"/>
              <a:t>. В контексте управления памятью этот принцип впервые был реализован в ОС </a:t>
            </a:r>
            <a:r>
              <a:rPr lang="ru-RU" dirty="0" err="1"/>
              <a:t>Mach</a:t>
            </a:r>
            <a:r>
              <a:rPr lang="ru-RU" dirty="0"/>
              <a:t>, где управление подкачкой было вынесено частично из ядра в пользовательское пространство.</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79</a:t>
            </a:fld>
            <a:endParaRPr lang="en-US"/>
          </a:p>
        </p:txBody>
      </p:sp>
    </p:spTree>
    <p:extLst>
      <p:ext uri="{BB962C8B-B14F-4D97-AF65-F5344CB8AC3E}">
        <p14:creationId xmlns:p14="http://schemas.microsoft.com/office/powerpoint/2010/main" val="37029102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Архитектура </a:t>
            </a:r>
            <a:r>
              <a:rPr lang="ru-RU" dirty="0" err="1"/>
              <a:t>Mach</a:t>
            </a:r>
            <a:r>
              <a:rPr lang="ru-RU" dirty="0"/>
              <a:t> разделила систему управления памятью на три части.</a:t>
            </a:r>
            <a:br>
              <a:rPr lang="ru-RU" dirty="0"/>
            </a:br>
            <a:r>
              <a:rPr lang="ru-RU" dirty="0"/>
              <a:t>На нижнем уровне — </a:t>
            </a:r>
            <a:r>
              <a:rPr lang="ru-RU" b="1" dirty="0"/>
              <a:t>MMU </a:t>
            </a:r>
            <a:r>
              <a:rPr lang="ru-RU" b="1" dirty="0" err="1"/>
              <a:t>handler</a:t>
            </a:r>
            <a:r>
              <a:rPr lang="ru-RU" dirty="0"/>
              <a:t>, зависящий от конкретного процессора. Он знает, как работать с аппаратной памятью и регистрами.</a:t>
            </a:r>
            <a:br>
              <a:rPr lang="ru-RU" dirty="0"/>
            </a:br>
            <a:r>
              <a:rPr lang="ru-RU" dirty="0"/>
              <a:t>В ядре располагается </a:t>
            </a:r>
            <a:r>
              <a:rPr lang="ru-RU" b="1" dirty="0" err="1"/>
              <a:t>page</a:t>
            </a:r>
            <a:r>
              <a:rPr lang="ru-RU" b="1" dirty="0"/>
              <a:t> </a:t>
            </a:r>
            <a:r>
              <a:rPr lang="ru-RU" b="1" dirty="0" err="1"/>
              <a:t>fault</a:t>
            </a:r>
            <a:r>
              <a:rPr lang="ru-RU" b="1" dirty="0"/>
              <a:t> </a:t>
            </a:r>
            <a:r>
              <a:rPr lang="ru-RU" b="1" dirty="0" err="1"/>
              <a:t>handler</a:t>
            </a:r>
            <a:r>
              <a:rPr lang="ru-RU" dirty="0"/>
              <a:t>, который реализует механизм подкачки и обрабатывает ошибки страниц.</a:t>
            </a:r>
            <a:br>
              <a:rPr lang="ru-RU" dirty="0"/>
            </a:br>
            <a:r>
              <a:rPr lang="ru-RU" dirty="0"/>
              <a:t>И, наконец, </a:t>
            </a:r>
            <a:r>
              <a:rPr lang="ru-RU" b="1" dirty="0" err="1"/>
              <a:t>external</a:t>
            </a:r>
            <a:r>
              <a:rPr lang="ru-RU" b="1" dirty="0"/>
              <a:t> </a:t>
            </a:r>
            <a:r>
              <a:rPr lang="ru-RU" b="1" dirty="0" err="1"/>
              <a:t>pager</a:t>
            </a:r>
            <a:r>
              <a:rPr lang="ru-RU" dirty="0"/>
              <a:t> — пользовательский процесс, который реализует политику управления памятью: какие страницы загружать, какие вытеснять и как использовать </a:t>
            </a:r>
            <a:r>
              <a:rPr lang="ru-RU" dirty="0" err="1"/>
              <a:t>swap</a:t>
            </a:r>
            <a:r>
              <a:rPr lang="ru-RU" dirty="0"/>
              <a:t>.</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80</a:t>
            </a:fld>
            <a:endParaRPr lang="en-US"/>
          </a:p>
        </p:txBody>
      </p:sp>
    </p:spTree>
    <p:extLst>
      <p:ext uri="{BB962C8B-B14F-4D97-AF65-F5344CB8AC3E}">
        <p14:creationId xmlns:p14="http://schemas.microsoft.com/office/powerpoint/2010/main" val="21245959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процесс запускается, пейджер получает уведомление, чтобы подготовить карту страниц и выделить место под </a:t>
            </a:r>
            <a:r>
              <a:rPr lang="ru-RU" dirty="0" err="1"/>
              <a:t>swap</a:t>
            </a:r>
            <a:r>
              <a:rPr lang="ru-RU" dirty="0"/>
              <a:t>. Если во время выполнения возникает ошибка страницы, ядро сообщает пейджеру, какая страница нужна. Пейджер загружает данные с диска, сообщает ядру, где они находятся, и ядро размещает их в адресном пространстве пользователя. После этого процесс продолжает выполнение.</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81</a:t>
            </a:fld>
            <a:endParaRPr lang="en-US"/>
          </a:p>
        </p:txBody>
      </p:sp>
    </p:spTree>
    <p:extLst>
      <p:ext uri="{BB962C8B-B14F-4D97-AF65-F5344CB8AC3E}">
        <p14:creationId xmlns:p14="http://schemas.microsoft.com/office/powerpoint/2010/main" val="14958850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Интересный вопрос — где должен находиться </a:t>
            </a:r>
            <a:r>
              <a:rPr lang="ru-RU" b="1" dirty="0"/>
              <a:t>алгоритм замещения страниц</a:t>
            </a:r>
            <a:r>
              <a:rPr lang="ru-RU" dirty="0"/>
              <a:t>.</a:t>
            </a:r>
            <a:br>
              <a:rPr lang="ru-RU" dirty="0"/>
            </a:br>
            <a:r>
              <a:rPr lang="ru-RU" dirty="0"/>
              <a:t>Логично было бы разместить его во внешнем пейджере, но пейджер не имеет доступа к битам R и M, которые фиксируют обращения и модификации страниц. Без них реализовать, например, алгоритм LRU невозможно. Поэтому либо ядро должно передавать пейджеру эти данные, либо сам алгоритм остаётся внутри ядра, а пейджер выполняет роль интерфейса к диску.</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82</a:t>
            </a:fld>
            <a:endParaRPr lang="en-US"/>
          </a:p>
        </p:txBody>
      </p:sp>
    </p:spTree>
    <p:extLst>
      <p:ext uri="{BB962C8B-B14F-4D97-AF65-F5344CB8AC3E}">
        <p14:creationId xmlns:p14="http://schemas.microsoft.com/office/powerpoint/2010/main" val="142045399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Главное преимущество такого подхода — модульность и чистая архитектура. Памятью можно управлять разными политиками, не меняя ядро. Но за это приходится платить: каждое обращение к внешнему пейджеру — это переход между режимами и обмен сообщениями, что немного снижает производительность. Современные системы, такие как Linux, используют гибридный подход: базовый механизм подкачки находится в ядре, но пользователь может перехватывать события </a:t>
            </a:r>
            <a:r>
              <a:rPr lang="ru-RU" dirty="0" err="1"/>
              <a:t>page</a:t>
            </a:r>
            <a:r>
              <a:rPr lang="ru-RU" dirty="0"/>
              <a:t> </a:t>
            </a:r>
            <a:r>
              <a:rPr lang="ru-RU" dirty="0" err="1"/>
              <a:t>fault</a:t>
            </a:r>
            <a:r>
              <a:rPr lang="ru-RU" dirty="0"/>
              <a:t> через интерфейс </a:t>
            </a:r>
            <a:r>
              <a:rPr lang="ru-RU" sz="1200" kern="1200" dirty="0" err="1">
                <a:solidFill>
                  <a:schemeClr val="tx1"/>
                </a:solidFill>
                <a:latin typeface="+mn-lt"/>
                <a:ea typeface="+mn-ea"/>
                <a:cs typeface="+mn-cs"/>
              </a:rPr>
              <a:t>userfaultfd</a:t>
            </a:r>
            <a:r>
              <a:rPr lang="ru-RU" dirty="0"/>
              <a:t>, реализуя собственную политику.</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83</a:t>
            </a:fld>
            <a:endParaRPr lang="en-US"/>
          </a:p>
        </p:txBody>
      </p:sp>
    </p:spTree>
    <p:extLst>
      <p:ext uri="{BB962C8B-B14F-4D97-AF65-F5344CB8AC3E}">
        <p14:creationId xmlns:p14="http://schemas.microsoft.com/office/powerpoint/2010/main" val="262425979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84</a:t>
            </a:fld>
            <a:endParaRPr lang="en-US"/>
          </a:p>
        </p:txBody>
      </p:sp>
    </p:spTree>
    <p:extLst>
      <p:ext uri="{BB962C8B-B14F-4D97-AF65-F5344CB8AC3E}">
        <p14:creationId xmlns:p14="http://schemas.microsoft.com/office/powerpoint/2010/main" val="25838487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сих пор мы рассматривали виртуальную память как линейную последовательность адресов. Но реальные программы состоят из множества логических частей — кода, таблиц данных, констант, стека. Каждая из них растёт по-разному. В одномерной модели все они должны быть расположены последовательно, и если одна структура перерастает свой блок, придётся перемещать другие. Это неудобно и неэффективно.</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85</a:t>
            </a:fld>
            <a:endParaRPr lang="en-US"/>
          </a:p>
        </p:txBody>
      </p:sp>
    </p:spTree>
    <p:extLst>
      <p:ext uri="{BB962C8B-B14F-4D97-AF65-F5344CB8AC3E}">
        <p14:creationId xmlns:p14="http://schemas.microsoft.com/office/powerpoint/2010/main" val="12323055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Решение этой проблемы — </a:t>
            </a:r>
            <a:r>
              <a:rPr lang="ru-RU" b="1" dirty="0"/>
              <a:t>сегментация</a:t>
            </a:r>
            <a:r>
              <a:rPr lang="ru-RU" dirty="0"/>
              <a:t>. Идея в том, чтобы дать каждой логической части программы своё собственное адресное пространство — сегмент. Адрес теперь задаётся как пара </a:t>
            </a:r>
            <a:r>
              <a:rPr lang="ru-RU" sz="1200" kern="1200" dirty="0">
                <a:solidFill>
                  <a:schemeClr val="tx1"/>
                </a:solidFill>
                <a:latin typeface="+mn-lt"/>
                <a:ea typeface="+mn-ea"/>
                <a:cs typeface="+mn-cs"/>
              </a:rPr>
              <a:t>&lt;номер сегмента, смещение внутри сегмента&gt;</a:t>
            </a:r>
            <a:r>
              <a:rPr lang="ru-RU" dirty="0"/>
              <a:t>. Каждый сегмент можно увеличивать, уменьшать или даже освобождать независимо от других. Например, у компилятора может быть отдельный сегмент под таблицу символов, другой под стек, третий под текст программы.</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86</a:t>
            </a:fld>
            <a:endParaRPr lang="en-US"/>
          </a:p>
        </p:txBody>
      </p:sp>
    </p:spTree>
    <p:extLst>
      <p:ext uri="{BB962C8B-B14F-4D97-AF65-F5344CB8AC3E}">
        <p14:creationId xmlns:p14="http://schemas.microsoft.com/office/powerpoint/2010/main" val="34650312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Такой подход имеет множество преимуществ. Он делает управление памятью гибким: можно легко обрабатывать структуры данных, которые растут и сокращаются. Кроме того, каждая процедура или модуль может быть помещена в отдельный сегмент, что упрощает компоновку. Изменение одной процедуры не влияет на адреса других. Сегментация также упрощает совместное использование библиотек — например, графический модуль можно разделить между несколькими процессами. И, наконец, каждая область может иметь свои права доступа — только выполнение, только чтение и т.д., что помогает ловить ошибки обращения к памяти.</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87</a:t>
            </a:fld>
            <a:endParaRPr lang="en-US"/>
          </a:p>
        </p:txBody>
      </p:sp>
    </p:spTree>
    <p:extLst>
      <p:ext uri="{BB962C8B-B14F-4D97-AF65-F5344CB8AC3E}">
        <p14:creationId xmlns:p14="http://schemas.microsoft.com/office/powerpoint/2010/main" val="291157677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сравнивать с пейджингом, разница очевидна. Пейджинг решает задачу экономного использования памяти, но не помогает логически структурировать программу. Сегментация же ориентирована на удобство и модульность. Обычно эти два подхода объединяют, получая </a:t>
            </a:r>
            <a:r>
              <a:rPr lang="ru-RU" b="1" dirty="0"/>
              <a:t>сегментно-страничную организацию</a:t>
            </a:r>
            <a:r>
              <a:rPr lang="ru-RU" dirty="0"/>
              <a:t>, где каждый сегмент разбивается на страницы.</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88</a:t>
            </a:fld>
            <a:endParaRPr lang="en-US"/>
          </a:p>
        </p:txBody>
      </p:sp>
    </p:spTree>
    <p:extLst>
      <p:ext uri="{BB962C8B-B14F-4D97-AF65-F5344CB8AC3E}">
        <p14:creationId xmlns:p14="http://schemas.microsoft.com/office/powerpoint/2010/main" val="118878759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память сегментирована, адрес перестаёт быть простым числом. Теперь это пара — номер сегмента и смещение внутри него.</a:t>
            </a:r>
            <a:br>
              <a:rPr lang="ru-RU" dirty="0"/>
            </a:br>
            <a:r>
              <a:rPr lang="ru-RU" dirty="0"/>
              <a:t>Это удобно для организации программы, но сильно усложняет работу с указателями.</a:t>
            </a:r>
          </a:p>
          <a:p>
            <a:r>
              <a:rPr lang="ru-RU" dirty="0"/>
              <a:t>Во-первых, арифметика указателей должна контролировать, чтобы при увеличении указатель не выходил за границы сегмента. Во-вторых, указатели из разных сегментов нельзя сравнивать напрямую — даже если их смещения одинаковы, они могут указывать на совершенно разные объекты.</a:t>
            </a:r>
          </a:p>
          <a:p>
            <a:r>
              <a:rPr lang="ru-RU" dirty="0"/>
              <a:t>Кроме того, при передаче указателя между модулями нужно убедиться, что модуль, получающий его, имеет доступ к тому же сегменту.</a:t>
            </a:r>
            <a:br>
              <a:rPr lang="ru-RU" dirty="0"/>
            </a:br>
            <a:r>
              <a:rPr lang="ru-RU" dirty="0"/>
              <a:t>Это особенно важно в системах с защитой памяти и разными уровнями привилегий.</a:t>
            </a:r>
          </a:p>
          <a:p>
            <a:r>
              <a:rPr lang="ru-RU" dirty="0"/>
              <a:t>На ранних процессорах Intel x86 программисты напрямую сталкивались с этими проблемами: приходилось использовать </a:t>
            </a:r>
            <a:r>
              <a:rPr lang="ru-RU" b="1" dirty="0" err="1"/>
              <a:t>far</a:t>
            </a:r>
            <a:r>
              <a:rPr lang="ru-RU" b="1" dirty="0"/>
              <a:t> </a:t>
            </a:r>
            <a:r>
              <a:rPr lang="ru-RU" b="1" dirty="0" err="1"/>
              <a:t>pointers</a:t>
            </a:r>
            <a:r>
              <a:rPr lang="ru-RU" dirty="0"/>
              <a:t> (указатели с номером сегмента) и </a:t>
            </a:r>
            <a:r>
              <a:rPr lang="ru-RU" b="1" dirty="0" err="1"/>
              <a:t>near</a:t>
            </a:r>
            <a:r>
              <a:rPr lang="ru-RU" b="1" dirty="0"/>
              <a:t> </a:t>
            </a:r>
            <a:r>
              <a:rPr lang="ru-RU" b="1" dirty="0" err="1"/>
              <a:t>pointers</a:t>
            </a:r>
            <a:r>
              <a:rPr lang="ru-RU" dirty="0"/>
              <a:t> (только смещение внутри сегмента). Это делало код громоздким и требовало ручного контроля за памятью.</a:t>
            </a:r>
          </a:p>
          <a:p>
            <a:r>
              <a:rPr lang="ru-RU" dirty="0"/>
              <a:t>Таким образом, сегментация улучшает логическую структуру памяти, но делает модель адресации и указателей более сложной для реализации и понимания.</a:t>
            </a:r>
          </a:p>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89</a:t>
            </a:fld>
            <a:endParaRPr lang="en-US"/>
          </a:p>
        </p:txBody>
      </p:sp>
    </p:spTree>
    <p:extLst>
      <p:ext uri="{BB962C8B-B14F-4D97-AF65-F5344CB8AC3E}">
        <p14:creationId xmlns:p14="http://schemas.microsoft.com/office/powerpoint/2010/main" val="189801240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Сегментация — это мощное средство логической организации памяти.</a:t>
            </a:r>
            <a:endParaRPr lang="en-US" b="0" dirty="0"/>
          </a:p>
          <a:p>
            <a:endParaRPr lang="en-US" b="0" dirty="0"/>
          </a:p>
          <a:p>
            <a:r>
              <a:rPr lang="ru-RU" b="0" dirty="0"/>
              <a:t>Она превращает адресное пространство из одномерного в двухмерное, где каждый сегмент соответствует отдельной логической части программы: процедуре, массиву, стеку, таблице данных и т.д. Это позволяет удобно управлять структурами, которые растут и уменьшаются независимо, а также упрощает связывание и обновление программных модулей.</a:t>
            </a:r>
            <a:endParaRPr lang="en-US" b="0" dirty="0"/>
          </a:p>
          <a:p>
            <a:endParaRPr lang="ru-RU" b="0" dirty="0"/>
          </a:p>
          <a:p>
            <a:r>
              <a:rPr lang="ru-RU" b="0" dirty="0"/>
              <a:t>Кроме того, сегментация естественным образом поддерживает разделение кода между процессами и обеспечивает гибкую защиту памяти — разные сегменты могут иметь разные права доступа. Это повышает надёжность и безопасность программ.</a:t>
            </a:r>
            <a:endParaRPr lang="en-US" b="0" dirty="0"/>
          </a:p>
          <a:p>
            <a:endParaRPr lang="ru-RU" b="0" dirty="0"/>
          </a:p>
          <a:p>
            <a:r>
              <a:rPr lang="ru-RU" b="0" dirty="0"/>
              <a:t>Однако у подхода есть и издержки. Работа с указателями становится значительно сложнее: теперь каждый адрес состоит из пары </a:t>
            </a:r>
            <a:r>
              <a:rPr lang="ru-RU" sz="1200" b="0" kern="1200" dirty="0">
                <a:solidFill>
                  <a:schemeClr val="tx1"/>
                </a:solidFill>
                <a:latin typeface="+mn-lt"/>
                <a:ea typeface="+mn-ea"/>
                <a:cs typeface="+mn-cs"/>
              </a:rPr>
              <a:t>&lt;номер сегмента, смещение&gt;</a:t>
            </a:r>
            <a:r>
              <a:rPr lang="ru-RU" b="0" dirty="0"/>
              <a:t>. Это означает, что арифметика указателей должна учитывать границы сегмента, а при передаче указателей между модулями нужно следить, чтобы у получателя был доступ к тому же сегменту. Кроме того, аппаратная реализация такой модели — более сложная и дорогая.</a:t>
            </a:r>
            <a:endParaRPr lang="en-US" b="0" dirty="0"/>
          </a:p>
          <a:p>
            <a:endParaRPr lang="ru-RU" b="0" dirty="0"/>
          </a:p>
          <a:p>
            <a:r>
              <a:rPr lang="ru-RU" b="0" dirty="0"/>
              <a:t>Именно поэтому современные системы часто используют комбинированный подход — сегментацию для логической организации и пейджинг для эффективного управления памятью. Вместе эти механизмы дают баланс между гибкостью, безопасностью и простотой реализации.</a:t>
            </a:r>
          </a:p>
        </p:txBody>
      </p:sp>
      <p:sp>
        <p:nvSpPr>
          <p:cNvPr id="4" name="Slide Number Placeholder 3"/>
          <p:cNvSpPr>
            <a:spLocks noGrp="1"/>
          </p:cNvSpPr>
          <p:nvPr>
            <p:ph type="sldNum" sz="quarter" idx="5"/>
          </p:nvPr>
        </p:nvSpPr>
        <p:spPr/>
        <p:txBody>
          <a:bodyPr/>
          <a:lstStyle/>
          <a:p>
            <a:fld id="{FCB4D53A-17CE-4F50-94C6-24BFD8A84AAD}" type="slidenum">
              <a:rPr lang="en-US" smtClean="0"/>
              <a:t>90</a:t>
            </a:fld>
            <a:endParaRPr lang="en-US"/>
          </a:p>
        </p:txBody>
      </p:sp>
    </p:spTree>
    <p:extLst>
      <p:ext uri="{BB962C8B-B14F-4D97-AF65-F5344CB8AC3E}">
        <p14:creationId xmlns:p14="http://schemas.microsoft.com/office/powerpoint/2010/main" val="13337039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Название ошибки «</a:t>
            </a:r>
            <a:r>
              <a:rPr lang="ru-RU" b="0" dirty="0" err="1"/>
              <a:t>segmentation</a:t>
            </a:r>
            <a:r>
              <a:rPr lang="ru-RU" b="0" dirty="0"/>
              <a:t> </a:t>
            </a:r>
            <a:r>
              <a:rPr lang="ru-RU" b="0" dirty="0" err="1"/>
              <a:t>fault</a:t>
            </a:r>
            <a:r>
              <a:rPr lang="ru-RU" b="0" dirty="0"/>
              <a:t>» появилось именно из-за аппаратной сегментации.</a:t>
            </a:r>
            <a:br>
              <a:rPr lang="ru-RU" b="0" dirty="0"/>
            </a:br>
            <a:r>
              <a:rPr lang="ru-RU" b="0" dirty="0"/>
              <a:t>Когда процессор проверял обращение к памяти, он следил, чтобы программа не выходила за пределы сегмента и не нарушала права доступа.</a:t>
            </a:r>
            <a:br>
              <a:rPr lang="ru-RU" b="0" dirty="0"/>
            </a:br>
            <a:r>
              <a:rPr lang="ru-RU" b="0" dirty="0"/>
              <a:t>Если программа пыталась записать данные в сегмент кода или обратиться за пределы выделенной области, процессор генерировал исключение — нарушение сегмента (</a:t>
            </a:r>
            <a:r>
              <a:rPr lang="ru-RU" b="0" dirty="0" err="1"/>
              <a:t>segmentation</a:t>
            </a:r>
            <a:r>
              <a:rPr lang="ru-RU" b="0" dirty="0"/>
              <a:t> </a:t>
            </a:r>
            <a:r>
              <a:rPr lang="ru-RU" b="0" dirty="0" err="1"/>
              <a:t>violation</a:t>
            </a:r>
            <a:r>
              <a:rPr lang="ru-RU" b="0" dirty="0"/>
              <a:t>).</a:t>
            </a:r>
          </a:p>
          <a:p>
            <a:r>
              <a:rPr lang="ru-RU" b="0" dirty="0"/>
              <a:t>Позже, когда страничная организация вытеснила сегментацию, термин сохранился по традиции.</a:t>
            </a:r>
            <a:br>
              <a:rPr lang="ru-RU" b="0" dirty="0"/>
            </a:br>
            <a:r>
              <a:rPr lang="ru-RU" b="0" dirty="0"/>
              <a:t>Сегодня в Linux, </a:t>
            </a:r>
            <a:r>
              <a:rPr lang="ru-RU" b="0" dirty="0" err="1"/>
              <a:t>macOS</a:t>
            </a:r>
            <a:r>
              <a:rPr lang="ru-RU" b="0" dirty="0"/>
              <a:t> или Windows ошибка </a:t>
            </a:r>
            <a:r>
              <a:rPr lang="ru-RU" sz="1200" b="0" kern="1200" dirty="0" err="1">
                <a:solidFill>
                  <a:schemeClr val="tx1"/>
                </a:solidFill>
                <a:latin typeface="+mn-lt"/>
                <a:ea typeface="+mn-ea"/>
                <a:cs typeface="+mn-cs"/>
              </a:rPr>
              <a:t>Segmentation</a:t>
            </a:r>
            <a:r>
              <a:rPr lang="ru-RU" sz="1200" b="0" kern="1200" dirty="0">
                <a:solidFill>
                  <a:schemeClr val="tx1"/>
                </a:solidFill>
                <a:latin typeface="+mn-lt"/>
                <a:ea typeface="+mn-ea"/>
                <a:cs typeface="+mn-cs"/>
              </a:rPr>
              <a:t> </a:t>
            </a:r>
            <a:r>
              <a:rPr lang="ru-RU" sz="1200" b="0" kern="1200" dirty="0" err="1">
                <a:solidFill>
                  <a:schemeClr val="tx1"/>
                </a:solidFill>
                <a:latin typeface="+mn-lt"/>
                <a:ea typeface="+mn-ea"/>
                <a:cs typeface="+mn-cs"/>
              </a:rPr>
              <a:t>fault</a:t>
            </a:r>
            <a:r>
              <a:rPr lang="ru-RU" b="0" dirty="0"/>
              <a:t> означает, что программа попыталась обратиться к несуществующей или защищённой области памяти — например, </a:t>
            </a:r>
            <a:r>
              <a:rPr lang="ru-RU" b="0" dirty="0" err="1"/>
              <a:t>разыменовать</a:t>
            </a:r>
            <a:r>
              <a:rPr lang="ru-RU" b="0" dirty="0"/>
              <a:t> нулевой указатель или записать данные в освобождённый блок.</a:t>
            </a:r>
          </a:p>
          <a:p>
            <a:r>
              <a:rPr lang="ru-RU" b="0" dirty="0"/>
              <a:t>Иными словами, название осталось, но механизм изменился: теперь за него отвечает не сегментная, а страничная защита.</a:t>
            </a:r>
          </a:p>
          <a:p>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91</a:t>
            </a:fld>
            <a:endParaRPr lang="en-US"/>
          </a:p>
        </p:txBody>
      </p:sp>
    </p:spTree>
    <p:extLst>
      <p:ext uri="{BB962C8B-B14F-4D97-AF65-F5344CB8AC3E}">
        <p14:creationId xmlns:p14="http://schemas.microsoft.com/office/powerpoint/2010/main" val="421031621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Хотя кажется, что сегментация осталась в прошлом, на самом деле она всё ещё присутствует в современных процессорах — просто в другой форме.</a:t>
            </a:r>
            <a:endParaRPr lang="en-US" b="0" dirty="0"/>
          </a:p>
          <a:p>
            <a:br>
              <a:rPr lang="ru-RU" b="0" dirty="0"/>
            </a:br>
            <a:r>
              <a:rPr lang="ru-RU" b="0" dirty="0"/>
              <a:t>На ранних системах x86 физический адрес вычислялся как </a:t>
            </a:r>
            <a:r>
              <a:rPr lang="ru-RU" sz="1200" b="0" kern="1200" dirty="0" err="1">
                <a:solidFill>
                  <a:schemeClr val="tx1"/>
                </a:solidFill>
                <a:latin typeface="+mn-lt"/>
                <a:ea typeface="+mn-ea"/>
                <a:cs typeface="+mn-cs"/>
              </a:rPr>
              <a:t>segment</a:t>
            </a:r>
            <a:r>
              <a:rPr lang="ru-RU" sz="1200" b="0" kern="1200" dirty="0">
                <a:solidFill>
                  <a:schemeClr val="tx1"/>
                </a:solidFill>
                <a:latin typeface="+mn-lt"/>
                <a:ea typeface="+mn-ea"/>
                <a:cs typeface="+mn-cs"/>
              </a:rPr>
              <a:t> × 16 + </a:t>
            </a:r>
            <a:r>
              <a:rPr lang="ru-RU" sz="1200" b="0" kern="1200" dirty="0" err="1">
                <a:solidFill>
                  <a:schemeClr val="tx1"/>
                </a:solidFill>
                <a:latin typeface="+mn-lt"/>
                <a:ea typeface="+mn-ea"/>
                <a:cs typeface="+mn-cs"/>
              </a:rPr>
              <a:t>offset</a:t>
            </a:r>
            <a:r>
              <a:rPr lang="ru-RU" b="0" dirty="0"/>
              <a:t>. Это ограничивало размер сегмента и вынуждало программистов управлять памятью вручную.</a:t>
            </a:r>
            <a:endParaRPr lang="en-US" b="0" dirty="0"/>
          </a:p>
          <a:p>
            <a:endParaRPr lang="ru-RU" b="0" dirty="0"/>
          </a:p>
          <a:p>
            <a:r>
              <a:rPr lang="ru-RU" b="0" dirty="0"/>
              <a:t>С появлением 32- и 64-битных архитектур ОС стали использовать плоскую модель памяти, где все сегменты фактически охватывают весь диапазон адресов. Это сильно упростило программирование и взаимодействие с виртуальной памятью.</a:t>
            </a:r>
          </a:p>
          <a:p>
            <a:r>
              <a:rPr lang="ru-RU" b="0" dirty="0"/>
              <a:t>Тем не менее, сегменты FS и GS по-прежнему используются. Они служат для быстрого доступа к данным, связанным с конкретным потоком — например, к переменным </a:t>
            </a:r>
            <a:r>
              <a:rPr lang="ru-RU" sz="1200" b="0" kern="1200" dirty="0" err="1">
                <a:solidFill>
                  <a:schemeClr val="tx1"/>
                </a:solidFill>
                <a:latin typeface="+mn-lt"/>
                <a:ea typeface="+mn-ea"/>
                <a:cs typeface="+mn-cs"/>
              </a:rPr>
              <a:t>thread-local</a:t>
            </a:r>
            <a:r>
              <a:rPr lang="ru-RU" b="0" dirty="0"/>
              <a:t>, структурам управления потоком, системным ошибкам (</a:t>
            </a:r>
            <a:r>
              <a:rPr lang="ru-RU" sz="1200" b="0" kern="1200" dirty="0" err="1">
                <a:solidFill>
                  <a:schemeClr val="tx1"/>
                </a:solidFill>
                <a:latin typeface="+mn-lt"/>
                <a:ea typeface="+mn-ea"/>
                <a:cs typeface="+mn-cs"/>
              </a:rPr>
              <a:t>errno</a:t>
            </a:r>
            <a:r>
              <a:rPr lang="ru-RU" b="0" dirty="0"/>
              <a:t>) и т.п. В Linux регистр </a:t>
            </a:r>
            <a:r>
              <a:rPr lang="ru-RU" sz="1200" b="0" kern="1200" dirty="0">
                <a:solidFill>
                  <a:schemeClr val="tx1"/>
                </a:solidFill>
                <a:latin typeface="+mn-lt"/>
                <a:ea typeface="+mn-ea"/>
                <a:cs typeface="+mn-cs"/>
              </a:rPr>
              <a:t>FS</a:t>
            </a:r>
            <a:r>
              <a:rPr lang="ru-RU" b="0" dirty="0"/>
              <a:t> указывает на структуру </a:t>
            </a:r>
            <a:r>
              <a:rPr lang="ru-RU" sz="1200" b="0" kern="1200" dirty="0" err="1">
                <a:solidFill>
                  <a:schemeClr val="tx1"/>
                </a:solidFill>
                <a:latin typeface="+mn-lt"/>
                <a:ea typeface="+mn-ea"/>
                <a:cs typeface="+mn-cs"/>
              </a:rPr>
              <a:t>Thread</a:t>
            </a:r>
            <a:r>
              <a:rPr lang="ru-RU" sz="1200" b="0" kern="1200" dirty="0">
                <a:solidFill>
                  <a:schemeClr val="tx1"/>
                </a:solidFill>
                <a:latin typeface="+mn-lt"/>
                <a:ea typeface="+mn-ea"/>
                <a:cs typeface="+mn-cs"/>
              </a:rPr>
              <a:t> Control Block</a:t>
            </a:r>
            <a:r>
              <a:rPr lang="ru-RU" b="0" dirty="0"/>
              <a:t>, а в Windows аналогичную роль выполняет </a:t>
            </a:r>
            <a:r>
              <a:rPr lang="ru-RU" sz="1200" b="0" kern="1200" dirty="0">
                <a:solidFill>
                  <a:schemeClr val="tx1"/>
                </a:solidFill>
                <a:latin typeface="+mn-lt"/>
                <a:ea typeface="+mn-ea"/>
                <a:cs typeface="+mn-cs"/>
              </a:rPr>
              <a:t>GS</a:t>
            </a:r>
            <a:r>
              <a:rPr lang="ru-RU" b="0" dirty="0"/>
              <a:t> и структура </a:t>
            </a:r>
            <a:r>
              <a:rPr lang="ru-RU" sz="1200" b="0" kern="1200" dirty="0" err="1">
                <a:solidFill>
                  <a:schemeClr val="tx1"/>
                </a:solidFill>
                <a:latin typeface="+mn-lt"/>
                <a:ea typeface="+mn-ea"/>
                <a:cs typeface="+mn-cs"/>
              </a:rPr>
              <a:t>Thread</a:t>
            </a:r>
            <a:r>
              <a:rPr lang="ru-RU" sz="1200" b="0" kern="1200" dirty="0">
                <a:solidFill>
                  <a:schemeClr val="tx1"/>
                </a:solidFill>
                <a:latin typeface="+mn-lt"/>
                <a:ea typeface="+mn-ea"/>
                <a:cs typeface="+mn-cs"/>
              </a:rPr>
              <a:t> Information Block</a:t>
            </a:r>
            <a:r>
              <a:rPr lang="ru-RU" b="0" dirty="0"/>
              <a:t>.</a:t>
            </a:r>
          </a:p>
          <a:p>
            <a:r>
              <a:rPr lang="ru-RU" b="0" dirty="0"/>
              <a:t>Таким образом, сегментация не исчезла полностью — она стала вспомогательным механизмом, используемым для локальных данных и защиты ядра.</a:t>
            </a:r>
          </a:p>
          <a:p>
            <a:r>
              <a:rPr lang="ru-RU" b="0" dirty="0"/>
              <a:t>И когда вы встречаете сообщение </a:t>
            </a:r>
            <a:r>
              <a:rPr lang="ru-RU" sz="1200" b="0" kern="1200" dirty="0" err="1">
                <a:solidFill>
                  <a:schemeClr val="tx1"/>
                </a:solidFill>
                <a:latin typeface="+mn-lt"/>
                <a:ea typeface="+mn-ea"/>
                <a:cs typeface="+mn-cs"/>
              </a:rPr>
              <a:t>Segmentation</a:t>
            </a:r>
            <a:r>
              <a:rPr lang="ru-RU" sz="1200" b="0" kern="1200" dirty="0">
                <a:solidFill>
                  <a:schemeClr val="tx1"/>
                </a:solidFill>
                <a:latin typeface="+mn-lt"/>
                <a:ea typeface="+mn-ea"/>
                <a:cs typeface="+mn-cs"/>
              </a:rPr>
              <a:t> </a:t>
            </a:r>
            <a:r>
              <a:rPr lang="ru-RU" sz="1200" b="0" kern="1200" dirty="0" err="1">
                <a:solidFill>
                  <a:schemeClr val="tx1"/>
                </a:solidFill>
                <a:latin typeface="+mn-lt"/>
                <a:ea typeface="+mn-ea"/>
                <a:cs typeface="+mn-cs"/>
              </a:rPr>
              <a:t>fault</a:t>
            </a:r>
            <a:r>
              <a:rPr lang="ru-RU" b="0" dirty="0"/>
              <a:t>, помните, что это — историческое наследие эпохи, когда нарушение границ сегмента было вполне буквальной аппаратной ошибкой.</a:t>
            </a:r>
          </a:p>
        </p:txBody>
      </p:sp>
      <p:sp>
        <p:nvSpPr>
          <p:cNvPr id="4" name="Slide Number Placeholder 3"/>
          <p:cNvSpPr>
            <a:spLocks noGrp="1"/>
          </p:cNvSpPr>
          <p:nvPr>
            <p:ph type="sldNum" sz="quarter" idx="5"/>
          </p:nvPr>
        </p:nvSpPr>
        <p:spPr/>
        <p:txBody>
          <a:bodyPr/>
          <a:lstStyle/>
          <a:p>
            <a:fld id="{FCB4D53A-17CE-4F50-94C6-24BFD8A84AAD}" type="slidenum">
              <a:rPr lang="en-US" smtClean="0"/>
              <a:t>92</a:t>
            </a:fld>
            <a:endParaRPr lang="en-US"/>
          </a:p>
        </p:txBody>
      </p:sp>
    </p:spTree>
    <p:extLst>
      <p:ext uri="{BB962C8B-B14F-4D97-AF65-F5344CB8AC3E}">
        <p14:creationId xmlns:p14="http://schemas.microsoft.com/office/powerpoint/2010/main" val="286817215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93</a:t>
            </a:fld>
            <a:endParaRPr lang="en-US"/>
          </a:p>
        </p:txBody>
      </p:sp>
    </p:spTree>
    <p:extLst>
      <p:ext uri="{BB962C8B-B14F-4D97-AF65-F5344CB8AC3E}">
        <p14:creationId xmlns:p14="http://schemas.microsoft.com/office/powerpoint/2010/main" val="327295578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Главная особенность чистой сегментации в том, что сегменты имеют произвольный размер. Это делает систему гибкой — каждая логическая часть программы может занимать столько памяти, сколько нужно. Но возникает проблема: когда сегменты выгружаются и загружаются обратно, остаются небольшие свободные области, которые не подходят по размеру для новых сегментов. С течением времени память заполняется «лоскутами» — чередующимися кусками занятых и пустых участков. Это явление называется </a:t>
            </a:r>
            <a:r>
              <a:rPr lang="ru-RU" b="1" dirty="0"/>
              <a:t>внешней фрагментацией</a:t>
            </a:r>
            <a:r>
              <a:rPr lang="ru-RU" dirty="0"/>
              <a:t>.</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94</a:t>
            </a:fld>
            <a:endParaRPr lang="en-US"/>
          </a:p>
        </p:txBody>
      </p:sp>
    </p:spTree>
    <p:extLst>
      <p:ext uri="{BB962C8B-B14F-4D97-AF65-F5344CB8AC3E}">
        <p14:creationId xmlns:p14="http://schemas.microsoft.com/office/powerpoint/2010/main" val="49761906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95</a:t>
            </a:fld>
            <a:endParaRPr lang="en-US"/>
          </a:p>
        </p:txBody>
      </p:sp>
    </p:spTree>
    <p:extLst>
      <p:ext uri="{BB962C8B-B14F-4D97-AF65-F5344CB8AC3E}">
        <p14:creationId xmlns:p14="http://schemas.microsoft.com/office/powerpoint/2010/main" val="34226953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с этим справиться, операционная система выполняет </a:t>
            </a:r>
            <a:r>
              <a:rPr lang="ru-RU" b="1" dirty="0" err="1"/>
              <a:t>компактизацию</a:t>
            </a:r>
            <a:r>
              <a:rPr lang="ru-RU" dirty="0"/>
              <a:t> — то есть перемещает сегменты, чтобы собрать свободную память в один большой блок. Однако при этом нужно обновить все таблицы сегментов, изменить базовые адреса и временно приостановить выполнение процессов. Это дорогая операция, и её стараются выполнять как можно реже.</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96</a:t>
            </a:fld>
            <a:endParaRPr lang="en-US"/>
          </a:p>
        </p:txBody>
      </p:sp>
    </p:spTree>
    <p:extLst>
      <p:ext uri="{BB962C8B-B14F-4D97-AF65-F5344CB8AC3E}">
        <p14:creationId xmlns:p14="http://schemas.microsoft.com/office/powerpoint/2010/main" val="358566495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97</a:t>
            </a:fld>
            <a:endParaRPr lang="en-US"/>
          </a:p>
        </p:txBody>
      </p:sp>
    </p:spTree>
    <p:extLst>
      <p:ext uri="{BB962C8B-B14F-4D97-AF65-F5344CB8AC3E}">
        <p14:creationId xmlns:p14="http://schemas.microsoft.com/office/powerpoint/2010/main" val="191126685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 сравнению с пейджингом, сегментация даёт больше гибкости: можно легко изменять размеры таблиц, защищать отдельные сегменты и делиться кодом между процессами. Но за это приходится платить сложностью реализации и потерей производительности. В результате чистая сегментация сегодня почти не используется. В современных системах обычно применяют </a:t>
            </a:r>
            <a:r>
              <a:rPr lang="ru-RU" b="1" dirty="0"/>
              <a:t>комбинированную сегментно-страничную модель</a:t>
            </a:r>
            <a:r>
              <a:rPr lang="ru-RU" dirty="0"/>
              <a:t>, которая сочетает простоту пейджинга с логическими преимуществами сегментации.</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98</a:t>
            </a:fld>
            <a:endParaRPr lang="en-US"/>
          </a:p>
        </p:txBody>
      </p:sp>
    </p:spTree>
    <p:extLst>
      <p:ext uri="{BB962C8B-B14F-4D97-AF65-F5344CB8AC3E}">
        <p14:creationId xmlns:p14="http://schemas.microsoft.com/office/powerpoint/2010/main" val="64737514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99</a:t>
            </a:fld>
            <a:endParaRPr lang="en-US"/>
          </a:p>
        </p:txBody>
      </p:sp>
    </p:spTree>
    <p:extLst>
      <p:ext uri="{BB962C8B-B14F-4D97-AF65-F5344CB8AC3E}">
        <p14:creationId xmlns:p14="http://schemas.microsoft.com/office/powerpoint/2010/main" val="27721240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сегменты программы становятся очень большими, хранить их полностью в оперативной памяти неэффективно. Поэтому в MULTICS была реализована идея </a:t>
            </a:r>
            <a:r>
              <a:rPr lang="ru-RU" b="1" dirty="0"/>
              <a:t>сегментно-страничной организации</a:t>
            </a:r>
            <a:r>
              <a:rPr lang="ru-RU" dirty="0"/>
              <a:t> — каждая логическая часть программы остаётся сегментом, но внутри сегмента память делится на страницы, которые подгружаются по мере необходимости. Это позволило объединить преимущества пейджинга и сегментации.</a:t>
            </a:r>
          </a:p>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100</a:t>
            </a:fld>
            <a:endParaRPr lang="en-US"/>
          </a:p>
        </p:txBody>
      </p:sp>
    </p:spTree>
    <p:extLst>
      <p:ext uri="{BB962C8B-B14F-4D97-AF65-F5344CB8AC3E}">
        <p14:creationId xmlns:p14="http://schemas.microsoft.com/office/powerpoint/2010/main" val="204543261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MULTICS — одна из самых влиятельных систем в истории. Она стала прародителем UNIX, повлияла на архитектуру Intel x86 и впервые ввела аппаратный буфер трансляций (TLB).</a:t>
            </a:r>
          </a:p>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101</a:t>
            </a:fld>
            <a:endParaRPr lang="en-US"/>
          </a:p>
        </p:txBody>
      </p:sp>
    </p:spTree>
    <p:extLst>
      <p:ext uri="{BB962C8B-B14F-4D97-AF65-F5344CB8AC3E}">
        <p14:creationId xmlns:p14="http://schemas.microsoft.com/office/powerpoint/2010/main" val="166255546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102</a:t>
            </a:fld>
            <a:endParaRPr lang="en-US"/>
          </a:p>
        </p:txBody>
      </p:sp>
    </p:spTree>
    <p:extLst>
      <p:ext uri="{BB962C8B-B14F-4D97-AF65-F5344CB8AC3E}">
        <p14:creationId xmlns:p14="http://schemas.microsoft.com/office/powerpoint/2010/main" val="181822930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Каждый процесс имел множество сегментов, и у каждого сегмента была собственная таблица страниц. При обращении к памяти сначала выбирался дескриптор сегмента, затем таблица страниц, а затем — конкретная страница и слово внутри неё. Если таблицы или страницы не было в памяти, возникал соответствующий сбой — </a:t>
            </a:r>
            <a:r>
              <a:rPr lang="ru-RU" dirty="0" err="1"/>
              <a:t>segment</a:t>
            </a:r>
            <a:r>
              <a:rPr lang="ru-RU" dirty="0"/>
              <a:t> </a:t>
            </a:r>
            <a:r>
              <a:rPr lang="ru-RU" dirty="0" err="1"/>
              <a:t>fault</a:t>
            </a:r>
            <a:r>
              <a:rPr lang="ru-RU" dirty="0"/>
              <a:t> или </a:t>
            </a:r>
            <a:r>
              <a:rPr lang="ru-RU" dirty="0" err="1"/>
              <a:t>page</a:t>
            </a:r>
            <a:r>
              <a:rPr lang="ru-RU" dirty="0"/>
              <a:t> </a:t>
            </a:r>
            <a:r>
              <a:rPr lang="ru-RU" dirty="0" err="1"/>
              <a:t>fault</a:t>
            </a:r>
            <a:r>
              <a:rPr lang="ru-RU" dirty="0"/>
              <a:t>.</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103</a:t>
            </a:fld>
            <a:endParaRPr lang="en-US"/>
          </a:p>
        </p:txBody>
      </p:sp>
    </p:spTree>
    <p:extLst>
      <p:ext uri="{BB962C8B-B14F-4D97-AF65-F5344CB8AC3E}">
        <p14:creationId xmlns:p14="http://schemas.microsoft.com/office/powerpoint/2010/main" val="101510185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ускорить этот процесс, в MULTICS впервые появился </a:t>
            </a:r>
            <a:r>
              <a:rPr lang="ru-RU" b="1" dirty="0"/>
              <a:t>TLB</a:t>
            </a:r>
            <a:r>
              <a:rPr lang="ru-RU" dirty="0"/>
              <a:t> — крошечный, но сверхбыстрый кэш на 16 записей, в котором хранились последние адреса страниц. Это позволило избежать повторного просмотра таблиц и резко повысило скорость.</a:t>
            </a:r>
            <a:br>
              <a:rPr lang="ru-RU" dirty="0"/>
            </a:br>
            <a:r>
              <a:rPr lang="ru-RU" dirty="0"/>
              <a:t>Эта идея сегодня лежит в основе всех современных процессоров.</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104</a:t>
            </a:fld>
            <a:endParaRPr lang="en-US"/>
          </a:p>
        </p:txBody>
      </p:sp>
    </p:spTree>
    <p:extLst>
      <p:ext uri="{BB962C8B-B14F-4D97-AF65-F5344CB8AC3E}">
        <p14:creationId xmlns:p14="http://schemas.microsoft.com/office/powerpoint/2010/main" val="18354988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Таким образом, MULTICS стал первым примером успешного сочетания пейджинга и сегментации.</a:t>
            </a:r>
            <a:br>
              <a:rPr lang="ru-RU" b="0" dirty="0"/>
            </a:br>
            <a:r>
              <a:rPr lang="ru-RU" b="0" dirty="0"/>
              <a:t>Он показал, что можно добиться как эффективности использования памяти, так и логической организации программы.</a:t>
            </a:r>
            <a:br>
              <a:rPr lang="ru-RU" b="0" dirty="0"/>
            </a:br>
            <a:r>
              <a:rPr lang="ru-RU" b="0" dirty="0"/>
              <a:t>Почти все современные ОС и аппаратные архитектуры (включая x86 и x86-64) унаследовали именно эту идею.</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105</a:t>
            </a:fld>
            <a:endParaRPr lang="en-US"/>
          </a:p>
        </p:txBody>
      </p:sp>
    </p:spTree>
    <p:extLst>
      <p:ext uri="{BB962C8B-B14F-4D97-AF65-F5344CB8AC3E}">
        <p14:creationId xmlns:p14="http://schemas.microsoft.com/office/powerpoint/2010/main" val="424390745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106</a:t>
            </a:fld>
            <a:endParaRPr lang="en-US"/>
          </a:p>
        </p:txBody>
      </p:sp>
    </p:spTree>
    <p:extLst>
      <p:ext uri="{BB962C8B-B14F-4D97-AF65-F5344CB8AC3E}">
        <p14:creationId xmlns:p14="http://schemas.microsoft.com/office/powerpoint/2010/main" val="309031296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Архитектура Intel x86 во многом унаследовала идеи MULTICS. Она сочетала сегментацию и пейджинг: каждый сегмент имел собственные параметры и мог быть постранично загружен. Адреса состояли из пары «</a:t>
            </a:r>
            <a:r>
              <a:rPr lang="ru-RU" dirty="0" err="1"/>
              <a:t>сегмент:смещение</a:t>
            </a:r>
            <a:r>
              <a:rPr lang="ru-RU" dirty="0"/>
              <a:t>» и переводились в линейные, а затем физические адреса. Сегменты определялись дескрипторами в таблицах GDT и LDT, где хранились их границы и права доступа.</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107</a:t>
            </a:fld>
            <a:endParaRPr lang="en-US"/>
          </a:p>
        </p:txBody>
      </p:sp>
    </p:spTree>
    <p:extLst>
      <p:ext uri="{BB962C8B-B14F-4D97-AF65-F5344CB8AC3E}">
        <p14:creationId xmlns:p14="http://schemas.microsoft.com/office/powerpoint/2010/main" val="372092305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108</a:t>
            </a:fld>
            <a:endParaRPr lang="en-US"/>
          </a:p>
        </p:txBody>
      </p:sp>
    </p:spTree>
    <p:extLst>
      <p:ext uri="{BB962C8B-B14F-4D97-AF65-F5344CB8AC3E}">
        <p14:creationId xmlns:p14="http://schemas.microsoft.com/office/powerpoint/2010/main" val="27690667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несмотря на элегантность схемы, операционные системы практически не использовали аппаратную сегментацию. UNIX и Windows полагались только на пейджинг, так как это обеспечивало переносимость между архитектурами. Сегментация осталась избыточной и со временем была упразднена в x86-64, за исключением специальных регистров </a:t>
            </a:r>
            <a:r>
              <a:rPr lang="ru-RU" sz="1200" kern="1200" dirty="0">
                <a:solidFill>
                  <a:schemeClr val="tx1"/>
                </a:solidFill>
                <a:latin typeface="+mn-lt"/>
                <a:ea typeface="+mn-ea"/>
                <a:cs typeface="+mn-cs"/>
              </a:rPr>
              <a:t>FS</a:t>
            </a:r>
            <a:r>
              <a:rPr lang="ru-RU" dirty="0"/>
              <a:t> и </a:t>
            </a:r>
            <a:r>
              <a:rPr lang="ru-RU" sz="1200" kern="1200" dirty="0">
                <a:solidFill>
                  <a:schemeClr val="tx1"/>
                </a:solidFill>
                <a:latin typeface="+mn-lt"/>
                <a:ea typeface="+mn-ea"/>
                <a:cs typeface="+mn-cs"/>
              </a:rPr>
              <a:t>GS</a:t>
            </a:r>
            <a:r>
              <a:rPr lang="ru-RU" dirty="0"/>
              <a:t>, применяемых для доступа к </a:t>
            </a:r>
            <a:r>
              <a:rPr lang="ru-RU" dirty="0" err="1"/>
              <a:t>thread-local</a:t>
            </a:r>
            <a:r>
              <a:rPr lang="ru-RU" dirty="0"/>
              <a:t> данным.</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109</a:t>
            </a:fld>
            <a:endParaRPr lang="en-US"/>
          </a:p>
        </p:txBody>
      </p:sp>
    </p:spTree>
    <p:extLst>
      <p:ext uri="{BB962C8B-B14F-4D97-AF65-F5344CB8AC3E}">
        <p14:creationId xmlns:p14="http://schemas.microsoft.com/office/powerpoint/2010/main" val="88515285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Тем не менее, в x86-32 система была очень продуманной. Процессор вычислял линейный адрес, добавляя смещение к базовому адресу сегмента, затем применял пейджинг. Это позволило сочетать логическую структуру программы с эффективным управлением памятью.</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110</a:t>
            </a:fld>
            <a:endParaRPr lang="en-US"/>
          </a:p>
        </p:txBody>
      </p:sp>
    </p:spTree>
    <p:extLst>
      <p:ext uri="{BB962C8B-B14F-4D97-AF65-F5344CB8AC3E}">
        <p14:creationId xmlns:p14="http://schemas.microsoft.com/office/powerpoint/2010/main" val="4535656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итоге Intel удалось реализовать довольно чистую и совместимую модель, несмотря на необходимость поддерживать старые 16-битные режимы. Эта архитектура просуществовала почти 30 лет и стала основой всех персональных компьютеров.</a:t>
            </a:r>
            <a:br>
              <a:rPr lang="ru-RU" dirty="0"/>
            </a:br>
            <a:r>
              <a:rPr lang="ru-RU" dirty="0"/>
              <a:t>Сегментация ушла, но её дух жив — в механизмах защиты, в TLB, в регистрах FS/GS и в принципах, на которых строится современная виртуальная память.</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111</a:t>
            </a:fld>
            <a:endParaRPr lang="en-US"/>
          </a:p>
        </p:txBody>
      </p:sp>
    </p:spTree>
    <p:extLst>
      <p:ext uri="{BB962C8B-B14F-4D97-AF65-F5344CB8AC3E}">
        <p14:creationId xmlns:p14="http://schemas.microsoft.com/office/powerpoint/2010/main" val="105628465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112</a:t>
            </a:fld>
            <a:endParaRPr lang="en-US"/>
          </a:p>
        </p:txBody>
      </p:sp>
    </p:spTree>
    <p:extLst>
      <p:ext uri="{BB962C8B-B14F-4D97-AF65-F5344CB8AC3E}">
        <p14:creationId xmlns:p14="http://schemas.microsoft.com/office/powerpoint/2010/main" val="407127081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Сегодня управление памятью — одна из самых динамичных областей в системных исследованиях. Классические темы вроде алгоритмов замещения страниц уже давно решены, но новые вызовы приходят из мира виртуализации и облаков.</a:t>
            </a:r>
            <a:br>
              <a:rPr lang="ru-RU" dirty="0"/>
            </a:br>
            <a:r>
              <a:rPr lang="ru-RU" dirty="0"/>
              <a:t>Современные ОС должны не просто управлять локальной RAM, а распределять память между множеством виртуальных машин, координируя действия разных уровней программного </a:t>
            </a:r>
            <a:r>
              <a:rPr lang="ru-RU" dirty="0" err="1"/>
              <a:t>стэка</a:t>
            </a:r>
            <a:r>
              <a:rPr lang="ru-RU" dirty="0"/>
              <a:t> — от приложений до гипервизора.</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113</a:t>
            </a:fld>
            <a:endParaRPr lang="en-US"/>
          </a:p>
        </p:txBody>
      </p:sp>
    </p:spTree>
    <p:extLst>
      <p:ext uri="{BB962C8B-B14F-4D97-AF65-F5344CB8AC3E}">
        <p14:creationId xmlns:p14="http://schemas.microsoft.com/office/powerpoint/2010/main" val="408083156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114</a:t>
            </a:fld>
            <a:endParaRPr lang="en-US"/>
          </a:p>
        </p:txBody>
      </p:sp>
    </p:spTree>
    <p:extLst>
      <p:ext uri="{BB962C8B-B14F-4D97-AF65-F5344CB8AC3E}">
        <p14:creationId xmlns:p14="http://schemas.microsoft.com/office/powerpoint/2010/main" val="397270236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Отдельное направление — энергонезависимая память. Она сохраняет данные даже после выключения питания и открывает новые возможности, но и создаёт проблемы: как объединить её с традиционной DRAM, как обеспечить согласованность данных и как не потерять производительность.</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115</a:t>
            </a:fld>
            <a:endParaRPr lang="en-US"/>
          </a:p>
        </p:txBody>
      </p:sp>
    </p:spTree>
    <p:extLst>
      <p:ext uri="{BB962C8B-B14F-4D97-AF65-F5344CB8AC3E}">
        <p14:creationId xmlns:p14="http://schemas.microsoft.com/office/powerpoint/2010/main" val="27548350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Безопасность стала ключевым аспектом. Например, оптимизации вроде дедупликации памяти неожиданно создают каналы утечки информации. Или атаки на динамическую память («</a:t>
            </a:r>
            <a:r>
              <a:rPr lang="ru-RU" dirty="0" err="1"/>
              <a:t>heap</a:t>
            </a:r>
            <a:r>
              <a:rPr lang="ru-RU" dirty="0"/>
              <a:t> </a:t>
            </a:r>
            <a:r>
              <a:rPr lang="ru-RU" dirty="0" err="1"/>
              <a:t>feng</a:t>
            </a:r>
            <a:r>
              <a:rPr lang="ru-RU" dirty="0"/>
              <a:t> </a:t>
            </a:r>
            <a:r>
              <a:rPr lang="ru-RU" dirty="0" err="1"/>
              <a:t>shui</a:t>
            </a:r>
            <a:r>
              <a:rPr lang="ru-RU" dirty="0"/>
              <a:t>»), где злоумышленник управляет расположением объектов, чтобы изменить критические данные. Эти области активно исследуются.</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116</a:t>
            </a:fld>
            <a:endParaRPr lang="en-US"/>
          </a:p>
        </p:txBody>
      </p:sp>
    </p:spTree>
    <p:extLst>
      <p:ext uri="{BB962C8B-B14F-4D97-AF65-F5344CB8AC3E}">
        <p14:creationId xmlns:p14="http://schemas.microsoft.com/office/powerpoint/2010/main" val="227559438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Наконец, уязвимости </a:t>
            </a:r>
            <a:r>
              <a:rPr lang="ru-RU" dirty="0" err="1"/>
              <a:t>Meltdown</a:t>
            </a:r>
            <a:r>
              <a:rPr lang="ru-RU" dirty="0"/>
              <a:t> и </a:t>
            </a:r>
            <a:r>
              <a:rPr lang="ru-RU" dirty="0" err="1"/>
              <a:t>Spectre</a:t>
            </a:r>
            <a:r>
              <a:rPr lang="ru-RU" dirty="0"/>
              <a:t> показали, что даже процессорные оптимизации могут нарушить изоляцию памяти. Это вынудило разработчиков внедрить дорогостоящие меры защиты, вроде KPTI, полностью разделяющие адресные пространства ядра и пользователя.</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117</a:t>
            </a:fld>
            <a:endParaRPr lang="en-US"/>
          </a:p>
        </p:txBody>
      </p:sp>
    </p:spTree>
    <p:extLst>
      <p:ext uri="{BB962C8B-B14F-4D97-AF65-F5344CB8AC3E}">
        <p14:creationId xmlns:p14="http://schemas.microsoft.com/office/powerpoint/2010/main" val="127507490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Таким образом, современное управление памятью — это не просто механизм ОС. Это целая экосистема, включающая процессор, гипервизор, облачную инфраструктуру и приложения. И каждое новое поколение исследований делает эту систему чуть быстрее, безопаснее и надёжнее.</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118</a:t>
            </a:fld>
            <a:endParaRPr lang="en-US"/>
          </a:p>
        </p:txBody>
      </p:sp>
    </p:spTree>
    <p:extLst>
      <p:ext uri="{BB962C8B-B14F-4D97-AF65-F5344CB8AC3E}">
        <p14:creationId xmlns:p14="http://schemas.microsoft.com/office/powerpoint/2010/main" val="402562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C9FB7-CC7A-B1C7-C32E-4285B0EA3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685284-33AE-3166-1879-CF73F364D0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7EFD47-CC2A-927D-2809-631F770DD930}"/>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54F795F9-F10E-F954-A8EA-EF8C46C8B8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19056-9A9A-53EC-40AB-61D6697FE42A}"/>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0534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81B84-279B-5DA1-D534-053CDD787B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0D341C-F571-43FC-965D-8A52583E3B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C736A-9C40-A43D-69C4-B1A1CE459DB8}"/>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1686CA8E-085A-FAF6-9D3D-C2CE983C1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6841D-2D92-884D-5396-82EBB75ED01D}"/>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177996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F1DF-BCA0-BFA5-5895-995A05AC5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FA319-EE5F-9B1E-C978-B5578369FD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D17D8E-D6BE-121E-808D-2017310DC695}"/>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5E20328A-2870-3E92-2E63-76B52BBA0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C7AEC-C8F1-A880-14C6-EFED2A177108}"/>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12305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23275-0AFD-63AB-966E-7114EDEF53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36DD4-A44D-EA4C-2739-BD5F7D80A4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50B450-0CE9-82F0-593B-B108FECC20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B3ADE1-65AB-A293-3412-026FD7DF42A6}"/>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6" name="Footer Placeholder 5">
            <a:extLst>
              <a:ext uri="{FF2B5EF4-FFF2-40B4-BE49-F238E27FC236}">
                <a16:creationId xmlns:a16="http://schemas.microsoft.com/office/drawing/2014/main" id="{50AD5A72-DC91-0A09-0FEF-D1D6566A52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40C9AE-561F-4A1E-421A-339F6BF45846}"/>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975961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7D3D-620D-E080-3E4F-C1BB1636C5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682B25-6D7D-47B0-2173-6F7A09216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A9B012-425F-C91B-B165-447AA9944E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F966A-88DC-41C4-CE88-A95C3C8907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39E6D4-6D13-24CD-59D8-C7BB6492E0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79E7A4-0669-192F-F693-AE9AE06114D6}"/>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8" name="Footer Placeholder 7">
            <a:extLst>
              <a:ext uri="{FF2B5EF4-FFF2-40B4-BE49-F238E27FC236}">
                <a16:creationId xmlns:a16="http://schemas.microsoft.com/office/drawing/2014/main" id="{46CEE04E-8FA9-77B0-FFEE-84C0DDDF4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EAAAF6-64C4-DF87-73DA-2C1FC224ED6A}"/>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4275189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985E-5A4E-0A95-576F-95D497AE8B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702990-7BAF-4F4A-B4AC-F00F70331059}"/>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4" name="Footer Placeholder 3">
            <a:extLst>
              <a:ext uri="{FF2B5EF4-FFF2-40B4-BE49-F238E27FC236}">
                <a16:creationId xmlns:a16="http://schemas.microsoft.com/office/drawing/2014/main" id="{51577B7D-D633-AD42-AC63-C92DD50292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F5DF74-5F04-B597-F742-96FA007F71D9}"/>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14620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D0952F-9AC4-7B75-B266-E8CD54C649AE}"/>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3" name="Footer Placeholder 2">
            <a:extLst>
              <a:ext uri="{FF2B5EF4-FFF2-40B4-BE49-F238E27FC236}">
                <a16:creationId xmlns:a16="http://schemas.microsoft.com/office/drawing/2014/main" id="{99CEE171-0D28-DD8B-6BD4-972CD1B410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AF2DB0-4A80-155B-4F95-14FF91E65998}"/>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90411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A367-616E-D9C2-D022-6E8D35E99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16F5BF-6A52-E8D4-733C-755CA663D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2A468F-1083-61B0-EA61-4D38908CD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952FB-E6DA-2DED-834B-C8127B9C47B1}"/>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6" name="Footer Placeholder 5">
            <a:extLst>
              <a:ext uri="{FF2B5EF4-FFF2-40B4-BE49-F238E27FC236}">
                <a16:creationId xmlns:a16="http://schemas.microsoft.com/office/drawing/2014/main" id="{8399A1C9-7E89-7A2E-3880-B9CE3E9EA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109EF8-BAAF-32F8-A5FC-3F6730CA3562}"/>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765686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665C-C775-4A8D-A0EB-279EF9C5D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F16707-15E7-9D20-2D60-60C5AD9DE6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BA48CE-15EA-8012-CA0F-C88B2C7CAD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6DC63-8C33-2751-0EA5-D6C282DE9D86}"/>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6" name="Footer Placeholder 5">
            <a:extLst>
              <a:ext uri="{FF2B5EF4-FFF2-40B4-BE49-F238E27FC236}">
                <a16:creationId xmlns:a16="http://schemas.microsoft.com/office/drawing/2014/main" id="{E41FB394-2390-539C-2D95-239746D966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995C4A-1DEF-E5D2-CBBF-9065EA194955}"/>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008565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2250-3228-A302-D839-D383E86701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B0AE33-7FCA-5569-50F8-35854A11A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8E290-B22A-CE18-3E07-C101BA756969}"/>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8A81A744-C87D-8A53-015D-0517B5FD8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F09E-24A9-95EB-60FB-06D1EB350F2B}"/>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92632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B4540E-C663-0DA0-0859-B44BEDF0D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D231CF-B60E-7D6E-912F-7290D3155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A7B9E-D127-1DD1-E5C6-11C34A3348C0}"/>
              </a:ext>
            </a:extLst>
          </p:cNvPr>
          <p:cNvSpPr>
            <a:spLocks noGrp="1"/>
          </p:cNvSpPr>
          <p:nvPr>
            <p:ph type="dt" sz="half" idx="10"/>
          </p:nvPr>
        </p:nvSpPr>
        <p:spPr/>
        <p:txBody>
          <a:body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04BC2D5A-700A-E66E-38D6-4C0FE0193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5A563B-7526-0015-CD1D-15B58B0C3271}"/>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330059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B3107-8F74-7D14-F7F5-A8667F07B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BE187-76E1-1960-4514-0D5EA34778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92A5B-808F-0EC9-563E-64117DF4F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D7559D-6B4D-4BAA-A1F4-E5B78C075051}" type="datetimeFigureOut">
              <a:rPr lang="en-US" smtClean="0"/>
              <a:t>11/15/2025</a:t>
            </a:fld>
            <a:endParaRPr lang="en-US"/>
          </a:p>
        </p:txBody>
      </p:sp>
      <p:sp>
        <p:nvSpPr>
          <p:cNvPr id="5" name="Footer Placeholder 4">
            <a:extLst>
              <a:ext uri="{FF2B5EF4-FFF2-40B4-BE49-F238E27FC236}">
                <a16:creationId xmlns:a16="http://schemas.microsoft.com/office/drawing/2014/main" id="{913D8421-D5AC-12E5-1E14-67D2BBD9CE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EBD969-610A-D49D-B6C6-441009B89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445D86-7951-4840-AEE1-62E452853973}" type="slidenum">
              <a:rPr lang="en-US" smtClean="0"/>
              <a:t>‹#›</a:t>
            </a:fld>
            <a:endParaRPr lang="en-US"/>
          </a:p>
        </p:txBody>
      </p:sp>
    </p:spTree>
    <p:extLst>
      <p:ext uri="{BB962C8B-B14F-4D97-AF65-F5344CB8AC3E}">
        <p14:creationId xmlns:p14="http://schemas.microsoft.com/office/powerpoint/2010/main" val="3678003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9CE99B-096B-ECA2-1A94-E1D7B749500E}"/>
              </a:ext>
            </a:extLst>
          </p:cNvPr>
          <p:cNvSpPr>
            <a:spLocks noGrp="1"/>
          </p:cNvSpPr>
          <p:nvPr>
            <p:ph type="ctrTitle"/>
          </p:nvPr>
        </p:nvSpPr>
        <p:spPr/>
        <p:txBody>
          <a:bodyPr/>
          <a:lstStyle/>
          <a:p>
            <a:r>
              <a:rPr lang="ru-RU" dirty="0"/>
              <a:t>Управление памятью на практике</a:t>
            </a:r>
            <a:endParaRPr lang="en-US" dirty="0"/>
          </a:p>
        </p:txBody>
      </p:sp>
      <p:sp>
        <p:nvSpPr>
          <p:cNvPr id="5" name="Subtitle 4">
            <a:extLst>
              <a:ext uri="{FF2B5EF4-FFF2-40B4-BE49-F238E27FC236}">
                <a16:creationId xmlns:a16="http://schemas.microsoft.com/office/drawing/2014/main" id="{408A2A8F-CFAD-8CBE-4394-339D585C9CF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5676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7A6789-5E5D-F99C-0C27-72C2D4EC703E}"/>
              </a:ext>
            </a:extLst>
          </p:cNvPr>
          <p:cNvSpPr>
            <a:spLocks noGrp="1"/>
          </p:cNvSpPr>
          <p:nvPr>
            <p:ph type="title"/>
          </p:nvPr>
        </p:nvSpPr>
        <p:spPr/>
        <p:txBody>
          <a:bodyPr/>
          <a:lstStyle/>
          <a:p>
            <a:r>
              <a:rPr lang="ru-RU" dirty="0"/>
              <a:t>Локальная и глобальная политика распределения страниц</a:t>
            </a:r>
            <a:endParaRPr lang="en-US" dirty="0"/>
          </a:p>
        </p:txBody>
      </p:sp>
      <p:sp>
        <p:nvSpPr>
          <p:cNvPr id="5" name="Text Placeholder 4">
            <a:extLst>
              <a:ext uri="{FF2B5EF4-FFF2-40B4-BE49-F238E27FC236}">
                <a16:creationId xmlns:a16="http://schemas.microsoft.com/office/drawing/2014/main" id="{D5189A2C-5894-460C-0FB6-E5282CB89D9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3598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A95D-4E06-C192-1430-103618A7B5B4}"/>
              </a:ext>
            </a:extLst>
          </p:cNvPr>
          <p:cNvSpPr>
            <a:spLocks noGrp="1"/>
          </p:cNvSpPr>
          <p:nvPr>
            <p:ph type="title"/>
          </p:nvPr>
        </p:nvSpPr>
        <p:spPr/>
        <p:txBody>
          <a:bodyPr/>
          <a:lstStyle/>
          <a:p>
            <a:r>
              <a:rPr lang="ru-RU" dirty="0"/>
              <a:t>Проблема распределения страниц</a:t>
            </a:r>
            <a:endParaRPr lang="en-US" dirty="0"/>
          </a:p>
        </p:txBody>
      </p:sp>
      <p:sp>
        <p:nvSpPr>
          <p:cNvPr id="3" name="Content Placeholder 2">
            <a:extLst>
              <a:ext uri="{FF2B5EF4-FFF2-40B4-BE49-F238E27FC236}">
                <a16:creationId xmlns:a16="http://schemas.microsoft.com/office/drawing/2014/main" id="{B833FB01-4FB5-8F6E-99D9-C0067FD77D4C}"/>
              </a:ext>
            </a:extLst>
          </p:cNvPr>
          <p:cNvSpPr>
            <a:spLocks noGrp="1"/>
          </p:cNvSpPr>
          <p:nvPr>
            <p:ph idx="1"/>
          </p:nvPr>
        </p:nvSpPr>
        <p:spPr/>
        <p:txBody>
          <a:bodyPr/>
          <a:lstStyle/>
          <a:p>
            <a:r>
              <a:rPr lang="ru-RU" dirty="0"/>
              <a:t>Вопрос: сколько памяти выделить каждому процессу?</a:t>
            </a:r>
          </a:p>
          <a:p>
            <a:r>
              <a:rPr lang="ru-RU" dirty="0"/>
              <a:t>Возможные стратегии:</a:t>
            </a:r>
          </a:p>
          <a:p>
            <a:pPr lvl="1"/>
            <a:r>
              <a:rPr lang="ru-RU" b="1" dirty="0"/>
              <a:t>Локальная политика</a:t>
            </a:r>
            <a:r>
              <a:rPr lang="ru-RU" dirty="0"/>
              <a:t> — фиксированное число страниц на процесс</a:t>
            </a:r>
          </a:p>
          <a:p>
            <a:pPr lvl="1"/>
            <a:r>
              <a:rPr lang="ru-RU" b="1" dirty="0"/>
              <a:t>Глобальная политика</a:t>
            </a:r>
            <a:r>
              <a:rPr lang="ru-RU" dirty="0"/>
              <a:t> — динамическое распределение страниц</a:t>
            </a:r>
          </a:p>
          <a:p>
            <a:r>
              <a:rPr lang="ru-RU" dirty="0"/>
              <a:t>Влияние на производительность и вероятность </a:t>
            </a:r>
            <a:r>
              <a:rPr lang="ru-RU" dirty="0" err="1"/>
              <a:t>thrashing</a:t>
            </a:r>
            <a:endParaRPr lang="ru-RU" dirty="0"/>
          </a:p>
        </p:txBody>
      </p:sp>
    </p:spTree>
    <p:extLst>
      <p:ext uri="{BB962C8B-B14F-4D97-AF65-F5344CB8AC3E}">
        <p14:creationId xmlns:p14="http://schemas.microsoft.com/office/powerpoint/2010/main" val="2520152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1599C-0E7A-4DCD-1D17-90D62A8BD582}"/>
              </a:ext>
            </a:extLst>
          </p:cNvPr>
          <p:cNvSpPr>
            <a:spLocks noGrp="1"/>
          </p:cNvSpPr>
          <p:nvPr>
            <p:ph type="title"/>
          </p:nvPr>
        </p:nvSpPr>
        <p:spPr/>
        <p:txBody>
          <a:bodyPr/>
          <a:lstStyle/>
          <a:p>
            <a:r>
              <a:rPr lang="ru-RU" dirty="0"/>
              <a:t>Локальная политика</a:t>
            </a:r>
            <a:endParaRPr lang="en-US" dirty="0"/>
          </a:p>
        </p:txBody>
      </p:sp>
      <p:sp>
        <p:nvSpPr>
          <p:cNvPr id="3" name="Content Placeholder 2">
            <a:extLst>
              <a:ext uri="{FF2B5EF4-FFF2-40B4-BE49-F238E27FC236}">
                <a16:creationId xmlns:a16="http://schemas.microsoft.com/office/drawing/2014/main" id="{4E16C034-E03E-C984-39BB-4A078BF992FC}"/>
              </a:ext>
            </a:extLst>
          </p:cNvPr>
          <p:cNvSpPr>
            <a:spLocks noGrp="1"/>
          </p:cNvSpPr>
          <p:nvPr>
            <p:ph idx="1"/>
          </p:nvPr>
        </p:nvSpPr>
        <p:spPr/>
        <p:txBody>
          <a:bodyPr/>
          <a:lstStyle/>
          <a:p>
            <a:r>
              <a:rPr lang="ru-RU" dirty="0"/>
              <a:t>Замена страниц только в пределах процесса</a:t>
            </a:r>
          </a:p>
          <a:p>
            <a:r>
              <a:rPr lang="ru-RU" dirty="0"/>
              <a:t>Каждому процессу выделяется фиксированное число кадров</a:t>
            </a:r>
          </a:p>
          <a:p>
            <a:r>
              <a:rPr lang="ru-RU" dirty="0"/>
              <a:t>Преимущества: изоляция процессов</a:t>
            </a:r>
          </a:p>
          <a:p>
            <a:r>
              <a:rPr lang="ru-RU" dirty="0"/>
              <a:t>Недостатки: возможное </a:t>
            </a:r>
            <a:r>
              <a:rPr lang="ru-RU" dirty="0" err="1"/>
              <a:t>thrashing</a:t>
            </a:r>
            <a:r>
              <a:rPr lang="ru-RU" dirty="0"/>
              <a:t> при росте рабочего множества</a:t>
            </a:r>
          </a:p>
          <a:p>
            <a:r>
              <a:rPr lang="ru-RU" dirty="0"/>
              <a:t>Пример: процессу не хватает страниц, даже если память свободна</a:t>
            </a:r>
          </a:p>
        </p:txBody>
      </p:sp>
    </p:spTree>
    <p:extLst>
      <p:ext uri="{BB962C8B-B14F-4D97-AF65-F5344CB8AC3E}">
        <p14:creationId xmlns:p14="http://schemas.microsoft.com/office/powerpoint/2010/main" val="339886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16E5-BEEF-21AA-8B67-F6E0D2C31690}"/>
              </a:ext>
            </a:extLst>
          </p:cNvPr>
          <p:cNvSpPr>
            <a:spLocks noGrp="1"/>
          </p:cNvSpPr>
          <p:nvPr>
            <p:ph type="title"/>
          </p:nvPr>
        </p:nvSpPr>
        <p:spPr/>
        <p:txBody>
          <a:bodyPr/>
          <a:lstStyle/>
          <a:p>
            <a:r>
              <a:rPr lang="ru-RU" dirty="0"/>
              <a:t>Глобальная политика</a:t>
            </a:r>
            <a:endParaRPr lang="en-US" dirty="0"/>
          </a:p>
        </p:txBody>
      </p:sp>
      <p:sp>
        <p:nvSpPr>
          <p:cNvPr id="3" name="Content Placeholder 2">
            <a:extLst>
              <a:ext uri="{FF2B5EF4-FFF2-40B4-BE49-F238E27FC236}">
                <a16:creationId xmlns:a16="http://schemas.microsoft.com/office/drawing/2014/main" id="{A6BF2AEF-81AC-BF93-9BB5-F2E7D11CEFE9}"/>
              </a:ext>
            </a:extLst>
          </p:cNvPr>
          <p:cNvSpPr>
            <a:spLocks noGrp="1"/>
          </p:cNvSpPr>
          <p:nvPr>
            <p:ph idx="1"/>
          </p:nvPr>
        </p:nvSpPr>
        <p:spPr/>
        <p:txBody>
          <a:bodyPr/>
          <a:lstStyle/>
          <a:p>
            <a:r>
              <a:rPr lang="ru-RU" dirty="0"/>
              <a:t>Замена страниц выбирается из всех страниц в системе</a:t>
            </a:r>
          </a:p>
          <a:p>
            <a:r>
              <a:rPr lang="ru-RU" dirty="0"/>
              <a:t>Количество страниц на процесс меняется динамически</a:t>
            </a:r>
          </a:p>
          <a:p>
            <a:r>
              <a:rPr lang="ru-RU" dirty="0"/>
              <a:t>Преимущества: лучшее использование памяти</a:t>
            </a:r>
          </a:p>
          <a:p>
            <a:r>
              <a:rPr lang="ru-RU" dirty="0"/>
              <a:t>Недостатки: процессы могут конкурировать за ресурсы</a:t>
            </a:r>
          </a:p>
          <a:p>
            <a:r>
              <a:rPr lang="ru-RU" dirty="0"/>
              <a:t>Используется алгоритм PFF (Page </a:t>
            </a:r>
            <a:r>
              <a:rPr lang="ru-RU" dirty="0" err="1"/>
              <a:t>Fault</a:t>
            </a:r>
            <a:r>
              <a:rPr lang="ru-RU" dirty="0"/>
              <a:t> Frequency)</a:t>
            </a:r>
          </a:p>
          <a:p>
            <a:pPr lvl="1"/>
            <a:r>
              <a:rPr lang="ru-RU" dirty="0"/>
              <a:t>Если частота ошибок страниц высока, процессу можно добавить страницы</a:t>
            </a:r>
          </a:p>
          <a:p>
            <a:pPr lvl="1"/>
            <a:r>
              <a:rPr lang="ru-RU" dirty="0"/>
              <a:t>Если низка, у процесса можно отобрать страницы</a:t>
            </a:r>
          </a:p>
        </p:txBody>
      </p:sp>
    </p:spTree>
    <p:extLst>
      <p:ext uri="{BB962C8B-B14F-4D97-AF65-F5344CB8AC3E}">
        <p14:creationId xmlns:p14="http://schemas.microsoft.com/office/powerpoint/2010/main" val="88319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FE20-796A-3F66-43AE-7D010BB8A682}"/>
              </a:ext>
            </a:extLst>
          </p:cNvPr>
          <p:cNvSpPr>
            <a:spLocks noGrp="1"/>
          </p:cNvSpPr>
          <p:nvPr>
            <p:ph type="title"/>
          </p:nvPr>
        </p:nvSpPr>
        <p:spPr/>
        <p:txBody>
          <a:bodyPr/>
          <a:lstStyle/>
          <a:p>
            <a:r>
              <a:rPr lang="ru-RU" dirty="0"/>
              <a:t>Сравнение и примеры</a:t>
            </a:r>
            <a:endParaRPr lang="en-US" dirty="0"/>
          </a:p>
        </p:txBody>
      </p:sp>
      <p:sp>
        <p:nvSpPr>
          <p:cNvPr id="3" name="Content Placeholder 2">
            <a:extLst>
              <a:ext uri="{FF2B5EF4-FFF2-40B4-BE49-F238E27FC236}">
                <a16:creationId xmlns:a16="http://schemas.microsoft.com/office/drawing/2014/main" id="{B9C4188D-0951-7785-8141-1D49F8FF5AF5}"/>
              </a:ext>
            </a:extLst>
          </p:cNvPr>
          <p:cNvSpPr>
            <a:spLocks noGrp="1"/>
          </p:cNvSpPr>
          <p:nvPr>
            <p:ph idx="1"/>
          </p:nvPr>
        </p:nvSpPr>
        <p:spPr/>
        <p:txBody>
          <a:bodyPr/>
          <a:lstStyle/>
          <a:p>
            <a:r>
              <a:rPr lang="ru-RU" dirty="0"/>
              <a:t>FIFO и LRU работают с обеими политиками</a:t>
            </a:r>
          </a:p>
          <a:p>
            <a:r>
              <a:rPr lang="ru-RU" dirty="0" err="1"/>
              <a:t>Working</a:t>
            </a:r>
            <a:r>
              <a:rPr lang="ru-RU" dirty="0"/>
              <a:t> </a:t>
            </a:r>
            <a:r>
              <a:rPr lang="ru-RU" dirty="0" err="1"/>
              <a:t>Set</a:t>
            </a:r>
            <a:r>
              <a:rPr lang="ru-RU" dirty="0"/>
              <a:t> и </a:t>
            </a:r>
            <a:r>
              <a:rPr lang="ru-RU" dirty="0" err="1"/>
              <a:t>WSClock</a:t>
            </a:r>
            <a:r>
              <a:rPr lang="ru-RU" dirty="0"/>
              <a:t> — только локальные</a:t>
            </a:r>
          </a:p>
          <a:p>
            <a:r>
              <a:rPr lang="ru-RU" dirty="0"/>
              <a:t>Глобальная политика адаптивна, но сложнее в управлении</a:t>
            </a:r>
          </a:p>
          <a:p>
            <a:r>
              <a:rPr lang="ru-RU" dirty="0"/>
              <a:t>Локальная — проще, но менее гибкая</a:t>
            </a:r>
          </a:p>
        </p:txBody>
      </p:sp>
    </p:spTree>
    <p:extLst>
      <p:ext uri="{BB962C8B-B14F-4D97-AF65-F5344CB8AC3E}">
        <p14:creationId xmlns:p14="http://schemas.microsoft.com/office/powerpoint/2010/main" val="1911571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FBBB15-4D67-7287-0D46-89A44CCFA7BA}"/>
              </a:ext>
            </a:extLst>
          </p:cNvPr>
          <p:cNvSpPr>
            <a:spLocks noGrp="1"/>
          </p:cNvSpPr>
          <p:nvPr>
            <p:ph type="title"/>
          </p:nvPr>
        </p:nvSpPr>
        <p:spPr/>
        <p:txBody>
          <a:bodyPr/>
          <a:lstStyle/>
          <a:p>
            <a:r>
              <a:rPr lang="ru-RU" dirty="0"/>
              <a:t>Управление загрузкой страниц</a:t>
            </a:r>
            <a:endParaRPr lang="en-US" dirty="0"/>
          </a:p>
        </p:txBody>
      </p:sp>
      <p:sp>
        <p:nvSpPr>
          <p:cNvPr id="5" name="Text Placeholder 4">
            <a:extLst>
              <a:ext uri="{FF2B5EF4-FFF2-40B4-BE49-F238E27FC236}">
                <a16:creationId xmlns:a16="http://schemas.microsoft.com/office/drawing/2014/main" id="{C9A5E75E-466C-C210-174C-A3C884208B6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7581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12C1C-F4F5-8D67-CD55-BFEAAB7EDEF1}"/>
              </a:ext>
            </a:extLst>
          </p:cNvPr>
          <p:cNvSpPr>
            <a:spLocks noGrp="1"/>
          </p:cNvSpPr>
          <p:nvPr>
            <p:ph type="title"/>
          </p:nvPr>
        </p:nvSpPr>
        <p:spPr/>
        <p:txBody>
          <a:bodyPr/>
          <a:lstStyle/>
          <a:p>
            <a:r>
              <a:rPr lang="ru-RU" dirty="0"/>
              <a:t>Проблема </a:t>
            </a:r>
            <a:r>
              <a:rPr lang="en-US" dirty="0"/>
              <a:t>thrashing-</a:t>
            </a:r>
            <a:r>
              <a:rPr lang="ru-RU" dirty="0"/>
              <a:t>а</a:t>
            </a:r>
            <a:endParaRPr lang="en-US" dirty="0"/>
          </a:p>
        </p:txBody>
      </p:sp>
      <p:sp>
        <p:nvSpPr>
          <p:cNvPr id="5" name="Content Placeholder 4">
            <a:extLst>
              <a:ext uri="{FF2B5EF4-FFF2-40B4-BE49-F238E27FC236}">
                <a16:creationId xmlns:a16="http://schemas.microsoft.com/office/drawing/2014/main" id="{5B694CF8-5264-5ECC-9E5F-F1A1124926C6}"/>
              </a:ext>
            </a:extLst>
          </p:cNvPr>
          <p:cNvSpPr>
            <a:spLocks noGrp="1"/>
          </p:cNvSpPr>
          <p:nvPr>
            <p:ph idx="1"/>
          </p:nvPr>
        </p:nvSpPr>
        <p:spPr/>
        <p:txBody>
          <a:bodyPr/>
          <a:lstStyle/>
          <a:p>
            <a:r>
              <a:rPr lang="ru-RU" dirty="0"/>
              <a:t>Даже оптимальные алгоритмы не спасают от </a:t>
            </a:r>
            <a:r>
              <a:rPr lang="ru-RU" dirty="0" err="1"/>
              <a:t>thrashing</a:t>
            </a:r>
            <a:endParaRPr lang="ru-RU" dirty="0"/>
          </a:p>
          <a:p>
            <a:pPr lvl="1"/>
            <a:r>
              <a:rPr lang="ru-RU" dirty="0"/>
              <a:t>Причина — суммарное рабочее множество превышает объём памяти</a:t>
            </a:r>
          </a:p>
          <a:p>
            <a:r>
              <a:rPr lang="ru-RU" dirty="0"/>
              <a:t>Симптом: все процессы требуют больше памяти, но освободить её невозможно</a:t>
            </a:r>
          </a:p>
          <a:p>
            <a:r>
              <a:rPr lang="ru-RU" dirty="0"/>
              <a:t>Решение – необходимо уменьшить нагрузку на память</a:t>
            </a:r>
          </a:p>
        </p:txBody>
      </p:sp>
    </p:spTree>
    <p:extLst>
      <p:ext uri="{BB962C8B-B14F-4D97-AF65-F5344CB8AC3E}">
        <p14:creationId xmlns:p14="http://schemas.microsoft.com/office/powerpoint/2010/main" val="462218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6221-F7F4-34B1-1B71-3B17C3E34839}"/>
              </a:ext>
            </a:extLst>
          </p:cNvPr>
          <p:cNvSpPr>
            <a:spLocks noGrp="1"/>
          </p:cNvSpPr>
          <p:nvPr>
            <p:ph type="title"/>
          </p:nvPr>
        </p:nvSpPr>
        <p:spPr/>
        <p:txBody>
          <a:bodyPr/>
          <a:lstStyle/>
          <a:p>
            <a:r>
              <a:rPr lang="ru-RU" dirty="0"/>
              <a:t>Радикальное решение — OOM </a:t>
            </a:r>
            <a:r>
              <a:rPr lang="ru-RU" dirty="0" err="1"/>
              <a:t>Killer</a:t>
            </a:r>
            <a:endParaRPr lang="en-US" dirty="0"/>
          </a:p>
        </p:txBody>
      </p:sp>
      <p:sp>
        <p:nvSpPr>
          <p:cNvPr id="3" name="Content Placeholder 2">
            <a:extLst>
              <a:ext uri="{FF2B5EF4-FFF2-40B4-BE49-F238E27FC236}">
                <a16:creationId xmlns:a16="http://schemas.microsoft.com/office/drawing/2014/main" id="{02165D21-3FDB-DE10-D94F-4B6656736420}"/>
              </a:ext>
            </a:extLst>
          </p:cNvPr>
          <p:cNvSpPr>
            <a:spLocks noGrp="1"/>
          </p:cNvSpPr>
          <p:nvPr>
            <p:ph idx="1"/>
          </p:nvPr>
        </p:nvSpPr>
        <p:spPr/>
        <p:txBody>
          <a:bodyPr/>
          <a:lstStyle/>
          <a:p>
            <a:r>
              <a:rPr lang="ru-RU" dirty="0"/>
              <a:t>OOM (Out </a:t>
            </a:r>
            <a:r>
              <a:rPr lang="ru-RU" dirty="0" err="1"/>
              <a:t>of</a:t>
            </a:r>
            <a:r>
              <a:rPr lang="ru-RU" dirty="0"/>
              <a:t> Memory) </a:t>
            </a:r>
            <a:r>
              <a:rPr lang="ru-RU" dirty="0" err="1"/>
              <a:t>killer</a:t>
            </a:r>
            <a:r>
              <a:rPr lang="ru-RU" dirty="0"/>
              <a:t> — системный процесс</a:t>
            </a:r>
          </a:p>
          <a:p>
            <a:r>
              <a:rPr lang="ru-RU" dirty="0"/>
              <a:t>Активируется при нехватке памяти</a:t>
            </a:r>
          </a:p>
          <a:p>
            <a:r>
              <a:rPr lang="ru-RU" dirty="0"/>
              <a:t>Оценивает процессы по “</a:t>
            </a:r>
            <a:r>
              <a:rPr lang="ru-RU" dirty="0" err="1"/>
              <a:t>badness</a:t>
            </a:r>
            <a:r>
              <a:rPr lang="ru-RU" dirty="0"/>
              <a:t> </a:t>
            </a:r>
            <a:r>
              <a:rPr lang="ru-RU" dirty="0" err="1"/>
              <a:t>score</a:t>
            </a:r>
            <a:r>
              <a:rPr lang="ru-RU" dirty="0"/>
              <a:t>”</a:t>
            </a:r>
          </a:p>
          <a:p>
            <a:pPr lvl="1"/>
            <a:r>
              <a:rPr lang="ru-RU" dirty="0"/>
              <a:t>Фоновое приложение с большим потреблением памяти получает высокий балл</a:t>
            </a:r>
          </a:p>
          <a:p>
            <a:pPr lvl="1"/>
            <a:r>
              <a:rPr lang="ru-RU" dirty="0"/>
              <a:t>Системные процессы получают низкий балл</a:t>
            </a:r>
          </a:p>
          <a:p>
            <a:r>
              <a:rPr lang="ru-RU" dirty="0"/>
              <a:t>Завершает «жертв» с самыми высокими баллами</a:t>
            </a:r>
          </a:p>
          <a:p>
            <a:r>
              <a:rPr lang="ru-RU" dirty="0"/>
              <a:t>Освобождает память для поддержания стабильности системы</a:t>
            </a:r>
          </a:p>
        </p:txBody>
      </p:sp>
    </p:spTree>
    <p:extLst>
      <p:ext uri="{BB962C8B-B14F-4D97-AF65-F5344CB8AC3E}">
        <p14:creationId xmlns:p14="http://schemas.microsoft.com/office/powerpoint/2010/main" val="317460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2A4E-E1CD-7352-376A-AF74CC52E22E}"/>
              </a:ext>
            </a:extLst>
          </p:cNvPr>
          <p:cNvSpPr>
            <a:spLocks noGrp="1"/>
          </p:cNvSpPr>
          <p:nvPr>
            <p:ph type="title"/>
          </p:nvPr>
        </p:nvSpPr>
        <p:spPr/>
        <p:txBody>
          <a:bodyPr/>
          <a:lstStyle/>
          <a:p>
            <a:r>
              <a:rPr lang="ru-RU" dirty="0"/>
              <a:t>Мягкое решение — </a:t>
            </a:r>
            <a:r>
              <a:rPr lang="ru-RU" dirty="0" err="1"/>
              <a:t>Swapping</a:t>
            </a:r>
            <a:endParaRPr lang="en-US" dirty="0"/>
          </a:p>
        </p:txBody>
      </p:sp>
      <p:sp>
        <p:nvSpPr>
          <p:cNvPr id="3" name="Content Placeholder 2">
            <a:extLst>
              <a:ext uri="{FF2B5EF4-FFF2-40B4-BE49-F238E27FC236}">
                <a16:creationId xmlns:a16="http://schemas.microsoft.com/office/drawing/2014/main" id="{997798DA-60DA-1B7F-905A-137B0E5CAAB0}"/>
              </a:ext>
            </a:extLst>
          </p:cNvPr>
          <p:cNvSpPr>
            <a:spLocks noGrp="1"/>
          </p:cNvSpPr>
          <p:nvPr>
            <p:ph idx="1"/>
          </p:nvPr>
        </p:nvSpPr>
        <p:spPr/>
        <p:txBody>
          <a:bodyPr/>
          <a:lstStyle/>
          <a:p>
            <a:r>
              <a:rPr lang="ru-RU" dirty="0"/>
              <a:t>Процессы временно выгружаются во внешнюю память</a:t>
            </a:r>
          </a:p>
          <a:p>
            <a:r>
              <a:rPr lang="ru-RU" dirty="0"/>
              <a:t>Освобождаются страницы, снижается конкуренция</a:t>
            </a:r>
          </a:p>
          <a:p>
            <a:r>
              <a:rPr lang="ru-RU" dirty="0"/>
              <a:t>Используется, если </a:t>
            </a:r>
            <a:r>
              <a:rPr lang="ru-RU" dirty="0" err="1"/>
              <a:t>thrashing</a:t>
            </a:r>
            <a:r>
              <a:rPr lang="ru-RU" dirty="0"/>
              <a:t> продолжается</a:t>
            </a:r>
          </a:p>
          <a:p>
            <a:r>
              <a:rPr lang="ru-RU" dirty="0"/>
              <a:t>Похоже на двухуровневое планирование</a:t>
            </a:r>
          </a:p>
          <a:p>
            <a:pPr lvl="1"/>
            <a:r>
              <a:rPr lang="ru-RU" dirty="0"/>
              <a:t>Часть процессов в памяти</a:t>
            </a:r>
          </a:p>
          <a:p>
            <a:pPr lvl="1"/>
            <a:r>
              <a:rPr lang="ru-RU" dirty="0"/>
              <a:t>Остальные — на диске</a:t>
            </a:r>
          </a:p>
          <a:p>
            <a:r>
              <a:rPr lang="ru-RU" dirty="0"/>
              <a:t>Поддерживается циклический обмен (</a:t>
            </a:r>
            <a:r>
              <a:rPr lang="ru-RU" dirty="0" err="1"/>
              <a:t>swap</a:t>
            </a:r>
            <a:r>
              <a:rPr lang="ru-RU" dirty="0"/>
              <a:t> </a:t>
            </a:r>
            <a:r>
              <a:rPr lang="ru-RU" dirty="0" err="1"/>
              <a:t>in</a:t>
            </a:r>
            <a:r>
              <a:rPr lang="ru-RU" dirty="0"/>
              <a:t> / </a:t>
            </a:r>
            <a:r>
              <a:rPr lang="ru-RU" dirty="0" err="1"/>
              <a:t>swap</a:t>
            </a:r>
            <a:r>
              <a:rPr lang="ru-RU" dirty="0"/>
              <a:t> </a:t>
            </a:r>
            <a:r>
              <a:rPr lang="ru-RU" dirty="0" err="1"/>
              <a:t>out</a:t>
            </a:r>
            <a:r>
              <a:rPr lang="ru-RU" dirty="0"/>
              <a:t>)</a:t>
            </a:r>
          </a:p>
        </p:txBody>
      </p:sp>
    </p:spTree>
    <p:extLst>
      <p:ext uri="{BB962C8B-B14F-4D97-AF65-F5344CB8AC3E}">
        <p14:creationId xmlns:p14="http://schemas.microsoft.com/office/powerpoint/2010/main" val="1181030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472F-E61D-0627-2BB4-A94770B90121}"/>
              </a:ext>
            </a:extLst>
          </p:cNvPr>
          <p:cNvSpPr>
            <a:spLocks noGrp="1"/>
          </p:cNvSpPr>
          <p:nvPr>
            <p:ph type="title"/>
          </p:nvPr>
        </p:nvSpPr>
        <p:spPr/>
        <p:txBody>
          <a:bodyPr/>
          <a:lstStyle/>
          <a:p>
            <a:r>
              <a:rPr lang="ru-RU" dirty="0"/>
              <a:t>Оптимизация памяти</a:t>
            </a:r>
            <a:endParaRPr lang="en-US" dirty="0"/>
          </a:p>
        </p:txBody>
      </p:sp>
      <p:sp>
        <p:nvSpPr>
          <p:cNvPr id="3" name="Content Placeholder 2">
            <a:extLst>
              <a:ext uri="{FF2B5EF4-FFF2-40B4-BE49-F238E27FC236}">
                <a16:creationId xmlns:a16="http://schemas.microsoft.com/office/drawing/2014/main" id="{4F86EBBD-FF85-9DDB-06B5-02C29AA27A12}"/>
              </a:ext>
            </a:extLst>
          </p:cNvPr>
          <p:cNvSpPr>
            <a:spLocks noGrp="1"/>
          </p:cNvSpPr>
          <p:nvPr>
            <p:ph idx="1"/>
          </p:nvPr>
        </p:nvSpPr>
        <p:spPr/>
        <p:txBody>
          <a:bodyPr/>
          <a:lstStyle/>
          <a:p>
            <a:r>
              <a:rPr lang="ru-RU" dirty="0" err="1"/>
              <a:t>Компактизация</a:t>
            </a:r>
            <a:r>
              <a:rPr lang="ru-RU" dirty="0"/>
              <a:t> и сжатие — уменьшение занимаемого объёма</a:t>
            </a:r>
          </a:p>
          <a:p>
            <a:r>
              <a:rPr lang="ru-RU" dirty="0" err="1"/>
              <a:t>Deduplication</a:t>
            </a:r>
            <a:r>
              <a:rPr lang="ru-RU" dirty="0"/>
              <a:t> (</a:t>
            </a:r>
            <a:r>
              <a:rPr lang="ru-RU" dirty="0" err="1"/>
              <a:t>same</a:t>
            </a:r>
            <a:r>
              <a:rPr lang="ru-RU" dirty="0"/>
              <a:t> </a:t>
            </a:r>
            <a:r>
              <a:rPr lang="ru-RU" dirty="0" err="1"/>
              <a:t>page</a:t>
            </a:r>
            <a:r>
              <a:rPr lang="ru-RU" dirty="0"/>
              <a:t> </a:t>
            </a:r>
            <a:r>
              <a:rPr lang="ru-RU" dirty="0" err="1"/>
              <a:t>merging</a:t>
            </a:r>
            <a:r>
              <a:rPr lang="ru-RU" dirty="0"/>
              <a:t>)</a:t>
            </a:r>
          </a:p>
          <a:p>
            <a:pPr lvl="1"/>
            <a:r>
              <a:rPr lang="ru-RU" dirty="0"/>
              <a:t>Найти одинаковые страницы в памяти</a:t>
            </a:r>
          </a:p>
          <a:p>
            <a:pPr lvl="1"/>
            <a:r>
              <a:rPr lang="ru-RU" dirty="0"/>
              <a:t>Хранить одну копию, общую для всех</a:t>
            </a:r>
          </a:p>
          <a:p>
            <a:pPr lvl="1"/>
            <a:r>
              <a:rPr lang="ru-RU" dirty="0"/>
              <a:t>При записи создаётся новая копия (</a:t>
            </a:r>
            <a:r>
              <a:rPr lang="ru-RU" i="1" dirty="0" err="1"/>
              <a:t>copy-on-write</a:t>
            </a:r>
            <a:r>
              <a:rPr lang="ru-RU" dirty="0"/>
              <a:t>)</a:t>
            </a:r>
          </a:p>
          <a:p>
            <a:r>
              <a:rPr lang="ru-RU" dirty="0"/>
              <a:t>Повышает эффективность без снижения производительности</a:t>
            </a:r>
          </a:p>
        </p:txBody>
      </p:sp>
    </p:spTree>
    <p:extLst>
      <p:ext uri="{BB962C8B-B14F-4D97-AF65-F5344CB8AC3E}">
        <p14:creationId xmlns:p14="http://schemas.microsoft.com/office/powerpoint/2010/main" val="1692011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AFE22C-C8C0-4884-B041-1920B6C56A82}"/>
              </a:ext>
            </a:extLst>
          </p:cNvPr>
          <p:cNvSpPr>
            <a:spLocks noGrp="1"/>
          </p:cNvSpPr>
          <p:nvPr>
            <p:ph type="title"/>
          </p:nvPr>
        </p:nvSpPr>
        <p:spPr/>
        <p:txBody>
          <a:bodyPr/>
          <a:lstStyle/>
          <a:p>
            <a:r>
              <a:rPr lang="ru-RU" dirty="0"/>
              <a:t>Очистка страниц</a:t>
            </a:r>
            <a:endParaRPr lang="en-US" dirty="0"/>
          </a:p>
        </p:txBody>
      </p:sp>
      <p:sp>
        <p:nvSpPr>
          <p:cNvPr id="5" name="Text Placeholder 4">
            <a:extLst>
              <a:ext uri="{FF2B5EF4-FFF2-40B4-BE49-F238E27FC236}">
                <a16:creationId xmlns:a16="http://schemas.microsoft.com/office/drawing/2014/main" id="{C81E834C-6E42-605C-D2D1-8C695A2922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54174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00647-92B8-0D13-91C3-87CF40AE9598}"/>
              </a:ext>
            </a:extLst>
          </p:cNvPr>
          <p:cNvSpPr>
            <a:spLocks noGrp="1"/>
          </p:cNvSpPr>
          <p:nvPr>
            <p:ph type="title"/>
          </p:nvPr>
        </p:nvSpPr>
        <p:spPr/>
        <p:txBody>
          <a:bodyPr/>
          <a:lstStyle/>
          <a:p>
            <a:r>
              <a:rPr lang="ru-RU" dirty="0"/>
              <a:t>Зачем нужна очистка</a:t>
            </a:r>
            <a:endParaRPr lang="en-US" dirty="0"/>
          </a:p>
        </p:txBody>
      </p:sp>
      <p:sp>
        <p:nvSpPr>
          <p:cNvPr id="3" name="Content Placeholder 2">
            <a:extLst>
              <a:ext uri="{FF2B5EF4-FFF2-40B4-BE49-F238E27FC236}">
                <a16:creationId xmlns:a16="http://schemas.microsoft.com/office/drawing/2014/main" id="{04DAC509-D152-98E0-800E-52BCE6805046}"/>
              </a:ext>
            </a:extLst>
          </p:cNvPr>
          <p:cNvSpPr>
            <a:spLocks noGrp="1"/>
          </p:cNvSpPr>
          <p:nvPr>
            <p:ph idx="1"/>
          </p:nvPr>
        </p:nvSpPr>
        <p:spPr/>
        <p:txBody>
          <a:bodyPr/>
          <a:lstStyle/>
          <a:p>
            <a:r>
              <a:rPr lang="ru-RU" dirty="0"/>
              <a:t>Эффективная подкачка требует запаса чистых кадров</a:t>
            </a:r>
          </a:p>
          <a:p>
            <a:r>
              <a:rPr lang="ru-RU" dirty="0"/>
              <a:t>Если все страницы заняты и изменены → подкачка замедляется</a:t>
            </a:r>
          </a:p>
          <a:p>
            <a:r>
              <a:rPr lang="ru-RU" dirty="0"/>
              <a:t>Решение: периодическая очистка памяти</a:t>
            </a:r>
          </a:p>
          <a:p>
            <a:r>
              <a:rPr lang="ru-RU" dirty="0"/>
              <a:t>Ответственный компонент — </a:t>
            </a:r>
            <a:r>
              <a:rPr lang="ru-RU" dirty="0" err="1"/>
              <a:t>paging</a:t>
            </a:r>
            <a:r>
              <a:rPr lang="ru-RU" dirty="0"/>
              <a:t> </a:t>
            </a:r>
            <a:r>
              <a:rPr lang="ru-RU" dirty="0" err="1"/>
              <a:t>daemon</a:t>
            </a:r>
            <a:endParaRPr lang="ru-RU" dirty="0"/>
          </a:p>
        </p:txBody>
      </p:sp>
    </p:spTree>
    <p:extLst>
      <p:ext uri="{BB962C8B-B14F-4D97-AF65-F5344CB8AC3E}">
        <p14:creationId xmlns:p14="http://schemas.microsoft.com/office/powerpoint/2010/main" val="1344269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72EB-93B6-39DE-B5E5-505A26A6DE98}"/>
              </a:ext>
            </a:extLst>
          </p:cNvPr>
          <p:cNvSpPr>
            <a:spLocks noGrp="1"/>
          </p:cNvSpPr>
          <p:nvPr>
            <p:ph type="title"/>
          </p:nvPr>
        </p:nvSpPr>
        <p:spPr/>
        <p:txBody>
          <a:bodyPr/>
          <a:lstStyle/>
          <a:p>
            <a:r>
              <a:rPr lang="ru-RU" dirty="0"/>
              <a:t>Роль </a:t>
            </a:r>
            <a:r>
              <a:rPr lang="en-US" dirty="0"/>
              <a:t>Paging Daemon</a:t>
            </a:r>
          </a:p>
        </p:txBody>
      </p:sp>
      <p:sp>
        <p:nvSpPr>
          <p:cNvPr id="3" name="Content Placeholder 2">
            <a:extLst>
              <a:ext uri="{FF2B5EF4-FFF2-40B4-BE49-F238E27FC236}">
                <a16:creationId xmlns:a16="http://schemas.microsoft.com/office/drawing/2014/main" id="{73CCAA51-B96C-DEFD-6A2F-4F7E60826DE5}"/>
              </a:ext>
            </a:extLst>
          </p:cNvPr>
          <p:cNvSpPr>
            <a:spLocks noGrp="1"/>
          </p:cNvSpPr>
          <p:nvPr>
            <p:ph idx="1"/>
          </p:nvPr>
        </p:nvSpPr>
        <p:spPr/>
        <p:txBody>
          <a:bodyPr/>
          <a:lstStyle/>
          <a:p>
            <a:r>
              <a:rPr lang="ru-RU" dirty="0"/>
              <a:t>Фоновый процесс, пробуждающийся через интервалы времени</a:t>
            </a:r>
          </a:p>
          <a:p>
            <a:r>
              <a:rPr lang="ru-RU" dirty="0"/>
              <a:t>Проверяет количество свободных кадров</a:t>
            </a:r>
          </a:p>
          <a:p>
            <a:r>
              <a:rPr lang="ru-RU" dirty="0"/>
              <a:t>Если их мало, выбирает страницы для удаления</a:t>
            </a:r>
          </a:p>
          <a:p>
            <a:r>
              <a:rPr lang="ru-RU" dirty="0"/>
              <a:t>Изменённые (</a:t>
            </a:r>
            <a:r>
              <a:rPr lang="ru-RU" dirty="0" err="1"/>
              <a:t>dirty</a:t>
            </a:r>
            <a:r>
              <a:rPr lang="ru-RU" dirty="0"/>
              <a:t>) страницы записывает на диск</a:t>
            </a:r>
          </a:p>
          <a:p>
            <a:r>
              <a:rPr lang="ru-RU" dirty="0"/>
              <a:t>Чистые страницы помечаются как готовые для использования</a:t>
            </a:r>
          </a:p>
        </p:txBody>
      </p:sp>
    </p:spTree>
    <p:extLst>
      <p:ext uri="{BB962C8B-B14F-4D97-AF65-F5344CB8AC3E}">
        <p14:creationId xmlns:p14="http://schemas.microsoft.com/office/powerpoint/2010/main" val="3972238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59BA-898F-3BEE-8691-B85FA2ACC9DC}"/>
              </a:ext>
            </a:extLst>
          </p:cNvPr>
          <p:cNvSpPr>
            <a:spLocks noGrp="1"/>
          </p:cNvSpPr>
          <p:nvPr>
            <p:ph type="title"/>
          </p:nvPr>
        </p:nvSpPr>
        <p:spPr/>
        <p:txBody>
          <a:bodyPr/>
          <a:lstStyle/>
          <a:p>
            <a:r>
              <a:rPr lang="ru-RU" dirty="0"/>
              <a:t>Механизм часов с двумя стрелками</a:t>
            </a:r>
            <a:endParaRPr lang="en-US" dirty="0"/>
          </a:p>
        </p:txBody>
      </p:sp>
      <p:sp>
        <p:nvSpPr>
          <p:cNvPr id="3" name="Content Placeholder 2">
            <a:extLst>
              <a:ext uri="{FF2B5EF4-FFF2-40B4-BE49-F238E27FC236}">
                <a16:creationId xmlns:a16="http://schemas.microsoft.com/office/drawing/2014/main" id="{E5C77DC4-7BCE-5BC6-C79E-AA03522F935A}"/>
              </a:ext>
            </a:extLst>
          </p:cNvPr>
          <p:cNvSpPr>
            <a:spLocks noGrp="1"/>
          </p:cNvSpPr>
          <p:nvPr>
            <p:ph idx="1"/>
          </p:nvPr>
        </p:nvSpPr>
        <p:spPr/>
        <p:txBody>
          <a:bodyPr/>
          <a:lstStyle/>
          <a:p>
            <a:r>
              <a:rPr lang="ru-RU" dirty="0"/>
              <a:t>Передняя стрелка: очищает модифицированные (</a:t>
            </a:r>
            <a:r>
              <a:rPr lang="en-US" dirty="0"/>
              <a:t>dirty)</a:t>
            </a:r>
            <a:r>
              <a:rPr lang="ru-RU" dirty="0"/>
              <a:t> страницы (запись на диск)</a:t>
            </a:r>
          </a:p>
          <a:p>
            <a:r>
              <a:rPr lang="ru-RU" dirty="0"/>
              <a:t>Задняя стрелка: выполняет обычное замещение страниц</a:t>
            </a:r>
          </a:p>
          <a:p>
            <a:r>
              <a:rPr lang="ru-RU" dirty="0"/>
              <a:t>Повышает вероятность, что задняя рука встретит чистую страницу</a:t>
            </a:r>
          </a:p>
          <a:p>
            <a:r>
              <a:rPr lang="ru-RU" dirty="0"/>
              <a:t>Ускоряет подкачку и снижает задержки</a:t>
            </a:r>
          </a:p>
        </p:txBody>
      </p:sp>
    </p:spTree>
    <p:extLst>
      <p:ext uri="{BB962C8B-B14F-4D97-AF65-F5344CB8AC3E}">
        <p14:creationId xmlns:p14="http://schemas.microsoft.com/office/powerpoint/2010/main" val="302540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04DB-493A-2772-E814-FEA82B215929}"/>
              </a:ext>
            </a:extLst>
          </p:cNvPr>
          <p:cNvSpPr>
            <a:spLocks noGrp="1"/>
          </p:cNvSpPr>
          <p:nvPr>
            <p:ph type="title"/>
          </p:nvPr>
        </p:nvSpPr>
        <p:spPr/>
        <p:txBody>
          <a:bodyPr/>
          <a:lstStyle/>
          <a:p>
            <a:r>
              <a:rPr lang="ru-RU" dirty="0"/>
              <a:t>Преимущества очистки страниц</a:t>
            </a:r>
            <a:endParaRPr lang="en-US" dirty="0"/>
          </a:p>
        </p:txBody>
      </p:sp>
      <p:sp>
        <p:nvSpPr>
          <p:cNvPr id="3" name="Content Placeholder 2">
            <a:extLst>
              <a:ext uri="{FF2B5EF4-FFF2-40B4-BE49-F238E27FC236}">
                <a16:creationId xmlns:a16="http://schemas.microsoft.com/office/drawing/2014/main" id="{771C13CB-2F09-AE86-D9A1-79A7587D5A76}"/>
              </a:ext>
            </a:extLst>
          </p:cNvPr>
          <p:cNvSpPr>
            <a:spLocks noGrp="1"/>
          </p:cNvSpPr>
          <p:nvPr>
            <p:ph idx="1"/>
          </p:nvPr>
        </p:nvSpPr>
        <p:spPr/>
        <p:txBody>
          <a:bodyPr/>
          <a:lstStyle/>
          <a:p>
            <a:r>
              <a:rPr lang="ru-RU" dirty="0"/>
              <a:t>Постоянный резерв чистых страниц</a:t>
            </a:r>
          </a:p>
          <a:p>
            <a:r>
              <a:rPr lang="ru-RU" dirty="0"/>
              <a:t>Снижение времени ожидания при ошибках страниц</a:t>
            </a:r>
          </a:p>
          <a:p>
            <a:r>
              <a:rPr lang="ru-RU" dirty="0"/>
              <a:t>Меньше операций записи «в последний момент»</a:t>
            </a:r>
          </a:p>
          <a:p>
            <a:r>
              <a:rPr lang="ru-RU" dirty="0"/>
              <a:t>Повышение общей отзывчивости системы</a:t>
            </a:r>
          </a:p>
        </p:txBody>
      </p:sp>
    </p:spTree>
    <p:extLst>
      <p:ext uri="{BB962C8B-B14F-4D97-AF65-F5344CB8AC3E}">
        <p14:creationId xmlns:p14="http://schemas.microsoft.com/office/powerpoint/2010/main" val="2457187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181480-9BB2-B136-94A7-417497C638A9}"/>
              </a:ext>
            </a:extLst>
          </p:cNvPr>
          <p:cNvSpPr>
            <a:spLocks noGrp="1"/>
          </p:cNvSpPr>
          <p:nvPr>
            <p:ph type="title"/>
          </p:nvPr>
        </p:nvSpPr>
        <p:spPr/>
        <p:txBody>
          <a:bodyPr/>
          <a:lstStyle/>
          <a:p>
            <a:r>
              <a:rPr lang="ru-RU" dirty="0"/>
              <a:t>Выбор размера страницы</a:t>
            </a:r>
            <a:endParaRPr lang="en-US" dirty="0"/>
          </a:p>
        </p:txBody>
      </p:sp>
      <p:sp>
        <p:nvSpPr>
          <p:cNvPr id="5" name="Text Placeholder 4">
            <a:extLst>
              <a:ext uri="{FF2B5EF4-FFF2-40B4-BE49-F238E27FC236}">
                <a16:creationId xmlns:a16="http://schemas.microsoft.com/office/drawing/2014/main" id="{B445DCB4-0FCB-1069-5B68-47020ABDCA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02619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055C4-A09D-7CEE-391C-E1A5A677BEBD}"/>
              </a:ext>
            </a:extLst>
          </p:cNvPr>
          <p:cNvSpPr>
            <a:spLocks noGrp="1"/>
          </p:cNvSpPr>
          <p:nvPr>
            <p:ph type="title"/>
          </p:nvPr>
        </p:nvSpPr>
        <p:spPr/>
        <p:txBody>
          <a:bodyPr/>
          <a:lstStyle/>
          <a:p>
            <a:r>
              <a:rPr lang="ru-RU" dirty="0"/>
              <a:t>Размер страницы</a:t>
            </a:r>
            <a:endParaRPr lang="en-US" dirty="0"/>
          </a:p>
        </p:txBody>
      </p:sp>
      <p:sp>
        <p:nvSpPr>
          <p:cNvPr id="5" name="Content Placeholder 4">
            <a:extLst>
              <a:ext uri="{FF2B5EF4-FFF2-40B4-BE49-F238E27FC236}">
                <a16:creationId xmlns:a16="http://schemas.microsoft.com/office/drawing/2014/main" id="{BA178ED6-6B4D-60AC-ABDC-4E52022EBE42}"/>
              </a:ext>
            </a:extLst>
          </p:cNvPr>
          <p:cNvSpPr>
            <a:spLocks noGrp="1"/>
          </p:cNvSpPr>
          <p:nvPr>
            <p:ph idx="1"/>
          </p:nvPr>
        </p:nvSpPr>
        <p:spPr/>
        <p:txBody>
          <a:bodyPr/>
          <a:lstStyle/>
          <a:p>
            <a:r>
              <a:rPr lang="ru-RU" dirty="0" err="1"/>
              <a:t>Аппаратно</a:t>
            </a:r>
            <a:r>
              <a:rPr lang="ru-RU" dirty="0"/>
              <a:t> задаётся минимальный размер (напр. 4 КБ)</a:t>
            </a:r>
          </a:p>
          <a:p>
            <a:r>
              <a:rPr lang="ru-RU" dirty="0"/>
              <a:t>ОС может объединять страницы (8 КБ, 16 КБ и т.д.)</a:t>
            </a:r>
          </a:p>
          <a:p>
            <a:r>
              <a:rPr lang="ru-RU" dirty="0"/>
              <a:t>Важный параметр, влияющий на производительность</a:t>
            </a:r>
          </a:p>
          <a:p>
            <a:r>
              <a:rPr lang="ru-RU" dirty="0"/>
              <a:t>Компромисс между эффективностью и расходом памяти</a:t>
            </a:r>
          </a:p>
        </p:txBody>
      </p:sp>
    </p:spTree>
    <p:extLst>
      <p:ext uri="{BB962C8B-B14F-4D97-AF65-F5344CB8AC3E}">
        <p14:creationId xmlns:p14="http://schemas.microsoft.com/office/powerpoint/2010/main" val="865798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86423-709A-BDE4-B2EF-ED1B2DEE6B6B}"/>
              </a:ext>
            </a:extLst>
          </p:cNvPr>
          <p:cNvSpPr>
            <a:spLocks noGrp="1"/>
          </p:cNvSpPr>
          <p:nvPr>
            <p:ph type="title"/>
          </p:nvPr>
        </p:nvSpPr>
        <p:spPr/>
        <p:txBody>
          <a:bodyPr/>
          <a:lstStyle/>
          <a:p>
            <a:r>
              <a:rPr lang="ru-RU" dirty="0"/>
              <a:t>Достоинства маленьких страниц</a:t>
            </a:r>
            <a:endParaRPr lang="en-US" dirty="0"/>
          </a:p>
        </p:txBody>
      </p:sp>
      <p:sp>
        <p:nvSpPr>
          <p:cNvPr id="3" name="Content Placeholder 2">
            <a:extLst>
              <a:ext uri="{FF2B5EF4-FFF2-40B4-BE49-F238E27FC236}">
                <a16:creationId xmlns:a16="http://schemas.microsoft.com/office/drawing/2014/main" id="{397128CF-4D8F-6D18-4B38-0F4123713107}"/>
              </a:ext>
            </a:extLst>
          </p:cNvPr>
          <p:cNvSpPr>
            <a:spLocks noGrp="1"/>
          </p:cNvSpPr>
          <p:nvPr>
            <p:ph idx="1"/>
          </p:nvPr>
        </p:nvSpPr>
        <p:spPr/>
        <p:txBody>
          <a:bodyPr/>
          <a:lstStyle/>
          <a:p>
            <a:r>
              <a:rPr lang="ru-RU" dirty="0"/>
              <a:t>Меньше внутренней фрагментации</a:t>
            </a:r>
          </a:p>
          <a:p>
            <a:r>
              <a:rPr lang="ru-RU" dirty="0"/>
              <a:t>Лучше используют память при малых задачах</a:t>
            </a:r>
          </a:p>
          <a:p>
            <a:r>
              <a:rPr lang="ru-RU" dirty="0"/>
              <a:t>Меньше «пустого» места в конце сегментов</a:t>
            </a:r>
          </a:p>
          <a:p>
            <a:r>
              <a:rPr lang="ru-RU" dirty="0"/>
              <a:t>Гибкость при работе программ с малыми фазами</a:t>
            </a:r>
          </a:p>
        </p:txBody>
      </p:sp>
    </p:spTree>
    <p:extLst>
      <p:ext uri="{BB962C8B-B14F-4D97-AF65-F5344CB8AC3E}">
        <p14:creationId xmlns:p14="http://schemas.microsoft.com/office/powerpoint/2010/main" val="12784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F4A4-03CF-0072-FE3F-559025F8E474}"/>
              </a:ext>
            </a:extLst>
          </p:cNvPr>
          <p:cNvSpPr>
            <a:spLocks noGrp="1"/>
          </p:cNvSpPr>
          <p:nvPr>
            <p:ph type="title"/>
          </p:nvPr>
        </p:nvSpPr>
        <p:spPr/>
        <p:txBody>
          <a:bodyPr/>
          <a:lstStyle/>
          <a:p>
            <a:r>
              <a:rPr lang="ru-RU" dirty="0"/>
              <a:t>Достоинства больших страниц</a:t>
            </a:r>
            <a:endParaRPr lang="en-US" dirty="0"/>
          </a:p>
        </p:txBody>
      </p:sp>
      <p:sp>
        <p:nvSpPr>
          <p:cNvPr id="3" name="Content Placeholder 2">
            <a:extLst>
              <a:ext uri="{FF2B5EF4-FFF2-40B4-BE49-F238E27FC236}">
                <a16:creationId xmlns:a16="http://schemas.microsoft.com/office/drawing/2014/main" id="{58E664B2-18BA-55F0-B89C-268FA7E1002A}"/>
              </a:ext>
            </a:extLst>
          </p:cNvPr>
          <p:cNvSpPr>
            <a:spLocks noGrp="1"/>
          </p:cNvSpPr>
          <p:nvPr>
            <p:ph idx="1"/>
          </p:nvPr>
        </p:nvSpPr>
        <p:spPr/>
        <p:txBody>
          <a:bodyPr/>
          <a:lstStyle/>
          <a:p>
            <a:r>
              <a:rPr lang="ru-RU" dirty="0"/>
              <a:t>Меньше записей в таблице страниц</a:t>
            </a:r>
          </a:p>
          <a:p>
            <a:r>
              <a:rPr lang="ru-RU" dirty="0"/>
              <a:t>Быстрее загрузка с диска</a:t>
            </a:r>
          </a:p>
          <a:p>
            <a:r>
              <a:rPr lang="ru-RU" dirty="0"/>
              <a:t>Эффективнее использование TLB</a:t>
            </a:r>
          </a:p>
          <a:p>
            <a:r>
              <a:rPr lang="ru-RU" dirty="0"/>
              <a:t>Используются для ядра и больших процессов</a:t>
            </a:r>
          </a:p>
          <a:p>
            <a:r>
              <a:rPr lang="ru-RU" dirty="0"/>
              <a:t>Поддержка </a:t>
            </a:r>
            <a:r>
              <a:rPr lang="ru-RU" dirty="0" err="1"/>
              <a:t>Transparent</a:t>
            </a:r>
            <a:r>
              <a:rPr lang="ru-RU" dirty="0"/>
              <a:t> </a:t>
            </a:r>
            <a:r>
              <a:rPr lang="ru-RU" dirty="0" err="1"/>
              <a:t>Huge</a:t>
            </a:r>
            <a:r>
              <a:rPr lang="ru-RU" dirty="0"/>
              <a:t> </a:t>
            </a:r>
            <a:r>
              <a:rPr lang="ru-RU" dirty="0" err="1"/>
              <a:t>Pages</a:t>
            </a:r>
            <a:r>
              <a:rPr lang="ru-RU" dirty="0"/>
              <a:t> (THP)</a:t>
            </a:r>
          </a:p>
        </p:txBody>
      </p:sp>
    </p:spTree>
    <p:extLst>
      <p:ext uri="{BB962C8B-B14F-4D97-AF65-F5344CB8AC3E}">
        <p14:creationId xmlns:p14="http://schemas.microsoft.com/office/powerpoint/2010/main" val="3814339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EEFB-D022-7A0B-249C-49272B493678}"/>
              </a:ext>
            </a:extLst>
          </p:cNvPr>
          <p:cNvSpPr>
            <a:spLocks noGrp="1"/>
          </p:cNvSpPr>
          <p:nvPr>
            <p:ph type="title"/>
          </p:nvPr>
        </p:nvSpPr>
        <p:spPr/>
        <p:txBody>
          <a:bodyPr/>
          <a:lstStyle/>
          <a:p>
            <a:r>
              <a:rPr lang="ru-RU" dirty="0"/>
              <a:t>Компромисс и оптимальный размер</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EEAB54-13BE-F168-9608-94D70D8FBB07}"/>
                  </a:ext>
                </a:extLst>
              </p:cNvPr>
              <p:cNvSpPr>
                <a:spLocks noGrp="1"/>
              </p:cNvSpPr>
              <p:nvPr>
                <p:ph idx="1"/>
              </p:nvPr>
            </p:nvSpPr>
            <p:spPr/>
            <p:txBody>
              <a:bodyPr>
                <a:normAutofit fontScale="92500"/>
              </a:bodyPr>
              <a:lstStyle/>
              <a:p>
                <a:r>
                  <a:rPr lang="ru-RU" dirty="0"/>
                  <a:t>Маленькие страницы означают большой накладной расход таблицы</a:t>
                </a:r>
              </a:p>
              <a:p>
                <a:r>
                  <a:rPr lang="ru-RU" dirty="0"/>
                  <a:t>Большие страницы приводят к большой фрагментации</a:t>
                </a:r>
              </a:p>
              <a:p>
                <a:r>
                  <a:rPr lang="ru-RU" dirty="0"/>
                  <a:t>Общий перерасход:</a:t>
                </a:r>
              </a:p>
              <a:p>
                <a:pPr lvl="1"/>
                <a14:m>
                  <m:oMath xmlns:m="http://schemas.openxmlformats.org/officeDocument/2006/math">
                    <m:r>
                      <a:rPr lang="ru-RU" i="1">
                        <a:latin typeface="Cambria Math" panose="02040503050406030204" pitchFamily="18" charset="0"/>
                      </a:rPr>
                      <m:t>𝑜𝑣𝑒𝑟</m:t>
                    </m:r>
                    <m:r>
                      <a:rPr lang="ru-RU" i="1">
                        <a:latin typeface="Cambria Math" panose="02040503050406030204" pitchFamily="18" charset="0"/>
                      </a:rPr>
                      <m:t>h</m:t>
                    </m:r>
                    <m:r>
                      <a:rPr lang="ru-RU" i="1">
                        <a:latin typeface="Cambria Math" panose="02040503050406030204" pitchFamily="18" charset="0"/>
                      </a:rPr>
                      <m:t>𝑒𝑎𝑑</m:t>
                    </m:r>
                    <m:r>
                      <a:rPr lang="ru-RU">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𝑠</m:t>
                        </m:r>
                        <m:r>
                          <a:rPr lang="ar-AE">
                            <a:latin typeface="Cambria Math" panose="02040503050406030204" pitchFamily="18" charset="0"/>
                          </a:rPr>
                          <m:t>⋅</m:t>
                        </m:r>
                        <m:r>
                          <a:rPr lang="ar-AE" i="1">
                            <a:latin typeface="Cambria Math" panose="02040503050406030204" pitchFamily="18" charset="0"/>
                          </a:rPr>
                          <m:t>𝑒</m:t>
                        </m:r>
                      </m:num>
                      <m:den>
                        <m:r>
                          <a:rPr lang="ar-AE" i="1">
                            <a:latin typeface="Cambria Math" panose="02040503050406030204" pitchFamily="18" charset="0"/>
                          </a:rPr>
                          <m:t>𝑝</m:t>
                        </m:r>
                      </m:den>
                    </m:f>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𝑝</m:t>
                        </m:r>
                      </m:num>
                      <m:den>
                        <m:r>
                          <a:rPr lang="ar-AE">
                            <a:latin typeface="Cambria Math" panose="02040503050406030204" pitchFamily="18" charset="0"/>
                          </a:rPr>
                          <m:t>2</m:t>
                        </m:r>
                      </m:den>
                    </m:f>
                  </m:oMath>
                </a14:m>
                <a:endParaRPr lang="ar-AE" dirty="0"/>
              </a:p>
              <a:p>
                <a:r>
                  <a:rPr lang="ru-RU" dirty="0"/>
                  <a:t>Оптимальный размер</a:t>
                </a:r>
                <a:r>
                  <a:rPr lang="en-US" dirty="0"/>
                  <a:t> </a:t>
                </a:r>
                <a:r>
                  <a:rPr lang="ru-RU" dirty="0"/>
                  <a:t>можно найти при помощи 1 производной:</a:t>
                </a:r>
              </a:p>
              <a:p>
                <a:pPr lvl="1"/>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𝑠𝑒</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r>
                      <a:rPr lang="en-US" b="0" i="0" smtClean="0">
                        <a:latin typeface="Cambria Math" panose="02040503050406030204" pitchFamily="18" charset="0"/>
                      </a:rPr>
                      <m:t>=</m:t>
                    </m:r>
                    <m:r>
                      <a:rPr lang="en-US" b="0" i="0" smtClean="0">
                        <a:latin typeface="Cambria Math" panose="02040503050406030204" pitchFamily="18" charset="0"/>
                      </a:rPr>
                      <m:t>0</m:t>
                    </m:r>
                  </m:oMath>
                </a14:m>
                <a:endParaRPr lang="ru-RU" dirty="0"/>
              </a:p>
              <a:p>
                <a:pPr lvl="1"/>
                <a14:m>
                  <m:oMath xmlns:m="http://schemas.openxmlformats.org/officeDocument/2006/math">
                    <m:r>
                      <a:rPr lang="ru-RU" i="1">
                        <a:latin typeface="Cambria Math" panose="02040503050406030204" pitchFamily="18" charset="0"/>
                      </a:rPr>
                      <m:t>𝑝</m:t>
                    </m:r>
                    <m:r>
                      <a:rPr lang="ru-RU">
                        <a:latin typeface="Cambria Math" panose="02040503050406030204" pitchFamily="18" charset="0"/>
                      </a:rPr>
                      <m:t>=</m:t>
                    </m:r>
                    <m:rad>
                      <m:radPr>
                        <m:degHide m:val="on"/>
                        <m:ctrlPr>
                          <a:rPr lang="ar-AE" i="1">
                            <a:latin typeface="Cambria Math" panose="02040503050406030204" pitchFamily="18" charset="0"/>
                          </a:rPr>
                        </m:ctrlPr>
                      </m:radPr>
                      <m:deg/>
                      <m:e>
                        <m:r>
                          <a:rPr lang="ar-AE">
                            <a:latin typeface="Cambria Math" panose="02040503050406030204" pitchFamily="18" charset="0"/>
                          </a:rPr>
                          <m:t>2</m:t>
                        </m:r>
                        <m:r>
                          <a:rPr lang="ar-AE" i="1">
                            <a:latin typeface="Cambria Math" panose="02040503050406030204" pitchFamily="18" charset="0"/>
                          </a:rPr>
                          <m:t>𝑠𝑒</m:t>
                        </m:r>
                      </m:e>
                    </m:rad>
                  </m:oMath>
                </a14:m>
                <a:endParaRPr lang="ar-AE" dirty="0"/>
              </a:p>
              <a:p>
                <a:r>
                  <a:rPr lang="ru-RU" dirty="0"/>
                  <a:t>Пример: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𝑀𝐵</m:t>
                    </m:r>
                  </m:oMath>
                </a14:m>
                <a:r>
                  <a:rPr lang="en-US" dirty="0"/>
                  <a:t>,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8</m:t>
                    </m:r>
                    <m:r>
                      <a:rPr lang="ru-RU" b="0" i="1" smtClean="0">
                        <a:latin typeface="Cambria Math" panose="02040503050406030204" pitchFamily="18" charset="0"/>
                      </a:rPr>
                      <m:t>байт</m:t>
                    </m:r>
                  </m:oMath>
                </a14:m>
                <a:r>
                  <a:rPr lang="ru-RU" dirty="0"/>
                  <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𝑀𝐵</m:t>
                        </m:r>
                      </m:e>
                    </m:rad>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𝐾𝐵</m:t>
                    </m:r>
                  </m:oMath>
                </a14:m>
                <a:endParaRPr lang="en-US" dirty="0"/>
              </a:p>
            </p:txBody>
          </p:sp>
        </mc:Choice>
        <mc:Fallback xmlns="">
          <p:sp>
            <p:nvSpPr>
              <p:cNvPr id="3" name="Content Placeholder 2">
                <a:extLst>
                  <a:ext uri="{FF2B5EF4-FFF2-40B4-BE49-F238E27FC236}">
                    <a16:creationId xmlns:a16="http://schemas.microsoft.com/office/drawing/2014/main" id="{C6EEAB54-13BE-F168-9608-94D70D8FBB07}"/>
                  </a:ext>
                </a:extLst>
              </p:cNvPr>
              <p:cNvSpPr>
                <a:spLocks noGrp="1" noRot="1" noChangeAspect="1" noMove="1" noResize="1" noEditPoints="1" noAdjustHandles="1" noChangeArrowheads="1" noChangeShapeType="1" noTextEdit="1"/>
              </p:cNvSpPr>
              <p:nvPr>
                <p:ph idx="1"/>
              </p:nvPr>
            </p:nvSpPr>
            <p:spPr>
              <a:blipFill>
                <a:blip r:embed="rId3"/>
                <a:stretch>
                  <a:fillRect l="-928" t="-2101"/>
                </a:stretch>
              </a:blipFill>
            </p:spPr>
            <p:txBody>
              <a:bodyPr/>
              <a:lstStyle/>
              <a:p>
                <a:r>
                  <a:rPr lang="en-US">
                    <a:noFill/>
                  </a:rPr>
                  <a:t> </a:t>
                </a:r>
              </a:p>
            </p:txBody>
          </p:sp>
        </mc:Fallback>
      </mc:AlternateContent>
    </p:spTree>
    <p:extLst>
      <p:ext uri="{BB962C8B-B14F-4D97-AF65-F5344CB8AC3E}">
        <p14:creationId xmlns:p14="http://schemas.microsoft.com/office/powerpoint/2010/main" val="2866812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BFFFC-1515-16A9-F206-63AFB53B2327}"/>
              </a:ext>
            </a:extLst>
          </p:cNvPr>
          <p:cNvSpPr>
            <a:spLocks noGrp="1"/>
          </p:cNvSpPr>
          <p:nvPr>
            <p:ph type="title"/>
          </p:nvPr>
        </p:nvSpPr>
        <p:spPr/>
        <p:txBody>
          <a:bodyPr/>
          <a:lstStyle/>
          <a:p>
            <a:r>
              <a:rPr lang="ru-RU" dirty="0"/>
              <a:t>Современные тенденции</a:t>
            </a:r>
            <a:endParaRPr lang="en-US" dirty="0"/>
          </a:p>
        </p:txBody>
      </p:sp>
      <p:sp>
        <p:nvSpPr>
          <p:cNvPr id="3" name="Content Placeholder 2">
            <a:extLst>
              <a:ext uri="{FF2B5EF4-FFF2-40B4-BE49-F238E27FC236}">
                <a16:creationId xmlns:a16="http://schemas.microsoft.com/office/drawing/2014/main" id="{199D48D2-1974-6A93-37F9-CB861A62C5C8}"/>
              </a:ext>
            </a:extLst>
          </p:cNvPr>
          <p:cNvSpPr>
            <a:spLocks noGrp="1"/>
          </p:cNvSpPr>
          <p:nvPr>
            <p:ph idx="1"/>
          </p:nvPr>
        </p:nvSpPr>
        <p:spPr/>
        <p:txBody>
          <a:bodyPr/>
          <a:lstStyle/>
          <a:p>
            <a:r>
              <a:rPr lang="ru-RU" dirty="0"/>
              <a:t>Типичные размеры: 4 КБ, 8 КБ, 2 МБ</a:t>
            </a:r>
          </a:p>
          <a:p>
            <a:r>
              <a:rPr lang="ru-RU" dirty="0"/>
              <a:t>Разные размеры для разных частей системы</a:t>
            </a:r>
          </a:p>
          <a:p>
            <a:pPr lvl="1"/>
            <a:r>
              <a:rPr lang="ru-RU" dirty="0"/>
              <a:t>Большие страницы — ядро</a:t>
            </a:r>
          </a:p>
          <a:p>
            <a:pPr lvl="1"/>
            <a:r>
              <a:rPr lang="ru-RU" dirty="0"/>
              <a:t>Малые — пользовательские процессы</a:t>
            </a:r>
          </a:p>
          <a:p>
            <a:r>
              <a:rPr lang="ru-RU" dirty="0"/>
              <a:t>Концепция </a:t>
            </a:r>
            <a:r>
              <a:rPr lang="ru-RU" b="1" dirty="0" err="1"/>
              <a:t>transparent</a:t>
            </a:r>
            <a:r>
              <a:rPr lang="ru-RU" b="1" dirty="0"/>
              <a:t> </a:t>
            </a:r>
            <a:r>
              <a:rPr lang="ru-RU" b="1" dirty="0" err="1"/>
              <a:t>huge</a:t>
            </a:r>
            <a:r>
              <a:rPr lang="ru-RU" b="1" dirty="0"/>
              <a:t> </a:t>
            </a:r>
            <a:r>
              <a:rPr lang="ru-RU" b="1" dirty="0" err="1"/>
              <a:t>pages</a:t>
            </a:r>
            <a:r>
              <a:rPr lang="ru-RU" b="1" dirty="0"/>
              <a:t> (THP)</a:t>
            </a:r>
            <a:r>
              <a:rPr lang="ru-RU" dirty="0"/>
              <a:t>: автоматическое объединение памяти</a:t>
            </a:r>
          </a:p>
        </p:txBody>
      </p:sp>
    </p:spTree>
    <p:extLst>
      <p:ext uri="{BB962C8B-B14F-4D97-AF65-F5344CB8AC3E}">
        <p14:creationId xmlns:p14="http://schemas.microsoft.com/office/powerpoint/2010/main" val="440205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BBE74-AE86-3F54-84C9-102C52D66A9F}"/>
              </a:ext>
            </a:extLst>
          </p:cNvPr>
          <p:cNvSpPr>
            <a:spLocks noGrp="1"/>
          </p:cNvSpPr>
          <p:nvPr>
            <p:ph type="title"/>
          </p:nvPr>
        </p:nvSpPr>
        <p:spPr/>
        <p:txBody>
          <a:bodyPr/>
          <a:lstStyle/>
          <a:p>
            <a:r>
              <a:rPr lang="ru-RU" dirty="0"/>
              <a:t>Раздельные адресные пространства инструкций и данных</a:t>
            </a:r>
            <a:endParaRPr lang="en-US" dirty="0"/>
          </a:p>
        </p:txBody>
      </p:sp>
      <p:sp>
        <p:nvSpPr>
          <p:cNvPr id="4" name="Text Placeholder 3">
            <a:extLst>
              <a:ext uri="{FF2B5EF4-FFF2-40B4-BE49-F238E27FC236}">
                <a16:creationId xmlns:a16="http://schemas.microsoft.com/office/drawing/2014/main" id="{2D377F58-12AD-282C-A300-5E5D6AFAE0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3932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C03379-72B4-0E00-B84E-122F18448087}"/>
              </a:ext>
            </a:extLst>
          </p:cNvPr>
          <p:cNvSpPr>
            <a:spLocks noGrp="1"/>
          </p:cNvSpPr>
          <p:nvPr>
            <p:ph type="title"/>
          </p:nvPr>
        </p:nvSpPr>
        <p:spPr/>
        <p:txBody>
          <a:bodyPr/>
          <a:lstStyle/>
          <a:p>
            <a:r>
              <a:rPr lang="ru-RU" dirty="0"/>
              <a:t>Единое адресное пространство</a:t>
            </a:r>
            <a:endParaRPr lang="en-US" dirty="0"/>
          </a:p>
        </p:txBody>
      </p:sp>
      <p:sp>
        <p:nvSpPr>
          <p:cNvPr id="5" name="Content Placeholder 4">
            <a:extLst>
              <a:ext uri="{FF2B5EF4-FFF2-40B4-BE49-F238E27FC236}">
                <a16:creationId xmlns:a16="http://schemas.microsoft.com/office/drawing/2014/main" id="{A4999DC6-2555-28F4-7C1F-495A5F4F644D}"/>
              </a:ext>
            </a:extLst>
          </p:cNvPr>
          <p:cNvSpPr>
            <a:spLocks noGrp="1"/>
          </p:cNvSpPr>
          <p:nvPr>
            <p:ph sz="half" idx="1"/>
          </p:nvPr>
        </p:nvSpPr>
        <p:spPr/>
        <p:txBody>
          <a:bodyPr/>
          <a:lstStyle/>
          <a:p>
            <a:r>
              <a:rPr lang="ru-RU" dirty="0"/>
              <a:t>Общая память для кода и данных</a:t>
            </a:r>
          </a:p>
          <a:p>
            <a:r>
              <a:rPr lang="ru-RU" dirty="0"/>
              <a:t>Простая архитектура, но ограничена по размеру</a:t>
            </a:r>
          </a:p>
          <a:p>
            <a:r>
              <a:rPr lang="ru-RU" dirty="0"/>
              <a:t>Проблемы при нехватке адресов</a:t>
            </a:r>
          </a:p>
          <a:p>
            <a:r>
              <a:rPr lang="ru-RU" dirty="0"/>
              <a:t>Код и данные конкурируют за пространство</a:t>
            </a:r>
          </a:p>
        </p:txBody>
      </p:sp>
      <p:pic>
        <p:nvPicPr>
          <p:cNvPr id="8" name="Content Placeholder 7">
            <a:extLst>
              <a:ext uri="{FF2B5EF4-FFF2-40B4-BE49-F238E27FC236}">
                <a16:creationId xmlns:a16="http://schemas.microsoft.com/office/drawing/2014/main" id="{AFF9E40D-EF5D-B4A1-324A-4C02091A36FA}"/>
              </a:ext>
            </a:extLst>
          </p:cNvPr>
          <p:cNvPicPr>
            <a:picLocks noGrp="1" noChangeAspect="1"/>
          </p:cNvPicPr>
          <p:nvPr>
            <p:ph sz="half" idx="2"/>
          </p:nvPr>
        </p:nvPicPr>
        <p:blipFill>
          <a:blip r:embed="rId3"/>
          <a:stretch>
            <a:fillRect/>
          </a:stretch>
        </p:blipFill>
        <p:spPr>
          <a:xfrm>
            <a:off x="6962523" y="2105554"/>
            <a:ext cx="3600953" cy="3791479"/>
          </a:xfrm>
          <a:prstGeom prst="rect">
            <a:avLst/>
          </a:prstGeom>
        </p:spPr>
      </p:pic>
    </p:spTree>
    <p:extLst>
      <p:ext uri="{BB962C8B-B14F-4D97-AF65-F5344CB8AC3E}">
        <p14:creationId xmlns:p14="http://schemas.microsoft.com/office/powerpoint/2010/main" val="2957091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52FA4-FB43-1234-7563-18931D9A8D06}"/>
              </a:ext>
            </a:extLst>
          </p:cNvPr>
          <p:cNvSpPr>
            <a:spLocks noGrp="1"/>
          </p:cNvSpPr>
          <p:nvPr>
            <p:ph type="title"/>
          </p:nvPr>
        </p:nvSpPr>
        <p:spPr/>
        <p:txBody>
          <a:bodyPr/>
          <a:lstStyle/>
          <a:p>
            <a:r>
              <a:rPr lang="ru-RU" dirty="0"/>
              <a:t>Раздельные адресные пространства</a:t>
            </a:r>
            <a:endParaRPr lang="en-US" dirty="0"/>
          </a:p>
        </p:txBody>
      </p:sp>
      <p:sp>
        <p:nvSpPr>
          <p:cNvPr id="3" name="Content Placeholder 2">
            <a:extLst>
              <a:ext uri="{FF2B5EF4-FFF2-40B4-BE49-F238E27FC236}">
                <a16:creationId xmlns:a16="http://schemas.microsoft.com/office/drawing/2014/main" id="{3A0A5A42-BC3F-97DA-BAD6-088E3A76F9F7}"/>
              </a:ext>
            </a:extLst>
          </p:cNvPr>
          <p:cNvSpPr>
            <a:spLocks noGrp="1"/>
          </p:cNvSpPr>
          <p:nvPr>
            <p:ph sz="half" idx="1"/>
          </p:nvPr>
        </p:nvSpPr>
        <p:spPr>
          <a:xfrm>
            <a:off x="838200" y="1825625"/>
            <a:ext cx="5637440" cy="4351338"/>
          </a:xfrm>
        </p:spPr>
        <p:txBody>
          <a:bodyPr/>
          <a:lstStyle/>
          <a:p>
            <a:r>
              <a:rPr lang="ru-RU" dirty="0"/>
              <a:t>Введено на PDP-11 (16-бит)</a:t>
            </a:r>
          </a:p>
          <a:p>
            <a:r>
              <a:rPr lang="ru-RU" b="1" dirty="0"/>
              <a:t>I-</a:t>
            </a:r>
            <a:r>
              <a:rPr lang="ru-RU" b="1" dirty="0" err="1"/>
              <a:t>space</a:t>
            </a:r>
            <a:r>
              <a:rPr lang="ru-RU" b="1" dirty="0"/>
              <a:t>:</a:t>
            </a:r>
            <a:r>
              <a:rPr lang="ru-RU" dirty="0"/>
              <a:t> инструкции</a:t>
            </a:r>
          </a:p>
          <a:p>
            <a:r>
              <a:rPr lang="ru-RU" b="1" dirty="0"/>
              <a:t>D-</a:t>
            </a:r>
            <a:r>
              <a:rPr lang="ru-RU" b="1" dirty="0" err="1"/>
              <a:t>space</a:t>
            </a:r>
            <a:r>
              <a:rPr lang="ru-RU" b="1" dirty="0"/>
              <a:t>:</a:t>
            </a:r>
            <a:r>
              <a:rPr lang="ru-RU" dirty="0"/>
              <a:t> данные</a:t>
            </a:r>
          </a:p>
          <a:p>
            <a:r>
              <a:rPr lang="ru-RU" dirty="0"/>
              <a:t>Каждое пространство имеет собственные адреса (0 … 2ⁿ–1)</a:t>
            </a:r>
          </a:p>
          <a:p>
            <a:r>
              <a:rPr lang="ru-RU" dirty="0"/>
              <a:t>Удвоение доступного адресного пространства</a:t>
            </a:r>
          </a:p>
          <a:p>
            <a:endParaRPr lang="en-US" dirty="0"/>
          </a:p>
        </p:txBody>
      </p:sp>
      <p:pic>
        <p:nvPicPr>
          <p:cNvPr id="7" name="Content Placeholder 6">
            <a:extLst>
              <a:ext uri="{FF2B5EF4-FFF2-40B4-BE49-F238E27FC236}">
                <a16:creationId xmlns:a16="http://schemas.microsoft.com/office/drawing/2014/main" id="{333BFD63-9822-DDAB-F0EC-526C8FEFC339}"/>
              </a:ext>
            </a:extLst>
          </p:cNvPr>
          <p:cNvPicPr>
            <a:picLocks noGrp="1" noChangeAspect="1"/>
          </p:cNvPicPr>
          <p:nvPr>
            <p:ph sz="half" idx="2"/>
          </p:nvPr>
        </p:nvPicPr>
        <p:blipFill>
          <a:blip r:embed="rId3"/>
          <a:stretch>
            <a:fillRect/>
          </a:stretch>
        </p:blipFill>
        <p:spPr>
          <a:xfrm>
            <a:off x="6475640" y="2733456"/>
            <a:ext cx="4878160" cy="2387184"/>
          </a:xfrm>
          <a:prstGeom prst="rect">
            <a:avLst/>
          </a:prstGeom>
        </p:spPr>
      </p:pic>
    </p:spTree>
    <p:extLst>
      <p:ext uri="{BB962C8B-B14F-4D97-AF65-F5344CB8AC3E}">
        <p14:creationId xmlns:p14="http://schemas.microsoft.com/office/powerpoint/2010/main" val="2771747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3B01-4E89-FD20-4FA5-C742C5014B29}"/>
              </a:ext>
            </a:extLst>
          </p:cNvPr>
          <p:cNvSpPr>
            <a:spLocks noGrp="1"/>
          </p:cNvSpPr>
          <p:nvPr>
            <p:ph type="title"/>
          </p:nvPr>
        </p:nvSpPr>
        <p:spPr/>
        <p:txBody>
          <a:bodyPr/>
          <a:lstStyle/>
          <a:p>
            <a:r>
              <a:rPr lang="ru-RU" dirty="0"/>
              <a:t>Реализация и принцип работы</a:t>
            </a:r>
            <a:endParaRPr lang="en-US" dirty="0"/>
          </a:p>
        </p:txBody>
      </p:sp>
      <p:sp>
        <p:nvSpPr>
          <p:cNvPr id="3" name="Content Placeholder 2">
            <a:extLst>
              <a:ext uri="{FF2B5EF4-FFF2-40B4-BE49-F238E27FC236}">
                <a16:creationId xmlns:a16="http://schemas.microsoft.com/office/drawing/2014/main" id="{543F86FB-25BF-1582-DEED-459D291FE237}"/>
              </a:ext>
            </a:extLst>
          </p:cNvPr>
          <p:cNvSpPr>
            <a:spLocks noGrp="1"/>
          </p:cNvSpPr>
          <p:nvPr>
            <p:ph idx="1"/>
          </p:nvPr>
        </p:nvSpPr>
        <p:spPr/>
        <p:txBody>
          <a:bodyPr/>
          <a:lstStyle/>
          <a:p>
            <a:r>
              <a:rPr lang="ru-RU" dirty="0"/>
              <a:t>Две таблицы страниц: для инструкций и для данных</a:t>
            </a:r>
          </a:p>
          <a:p>
            <a:r>
              <a:rPr lang="ru-RU" dirty="0"/>
              <a:t>Процессор знает, какое пространство использовать</a:t>
            </a:r>
          </a:p>
          <a:p>
            <a:pPr lvl="1"/>
            <a:r>
              <a:rPr lang="ru-RU" dirty="0"/>
              <a:t>Чтение кода → I-</a:t>
            </a:r>
            <a:r>
              <a:rPr lang="ru-RU" dirty="0" err="1"/>
              <a:t>space</a:t>
            </a:r>
            <a:endParaRPr lang="ru-RU" dirty="0"/>
          </a:p>
          <a:p>
            <a:pPr lvl="1"/>
            <a:r>
              <a:rPr lang="ru-RU" dirty="0"/>
              <a:t>Обращение к данным → D-</a:t>
            </a:r>
            <a:r>
              <a:rPr lang="ru-RU" dirty="0" err="1"/>
              <a:t>space</a:t>
            </a:r>
            <a:endParaRPr lang="ru-RU" dirty="0"/>
          </a:p>
          <a:p>
            <a:r>
              <a:rPr lang="ru-RU" dirty="0"/>
              <a:t>Простое расширение без усложнения ОС</a:t>
            </a:r>
          </a:p>
          <a:p>
            <a:r>
              <a:rPr lang="ru-RU" dirty="0"/>
              <a:t>Независимая подкачка инструкций и данных</a:t>
            </a:r>
          </a:p>
        </p:txBody>
      </p:sp>
    </p:spTree>
    <p:extLst>
      <p:ext uri="{BB962C8B-B14F-4D97-AF65-F5344CB8AC3E}">
        <p14:creationId xmlns:p14="http://schemas.microsoft.com/office/powerpoint/2010/main" val="1585183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B150-4AF0-1521-C0FE-ADD0F10D7862}"/>
              </a:ext>
            </a:extLst>
          </p:cNvPr>
          <p:cNvSpPr>
            <a:spLocks noGrp="1"/>
          </p:cNvSpPr>
          <p:nvPr>
            <p:ph type="title"/>
          </p:nvPr>
        </p:nvSpPr>
        <p:spPr/>
        <p:txBody>
          <a:bodyPr/>
          <a:lstStyle/>
          <a:p>
            <a:r>
              <a:rPr lang="ru-RU" dirty="0"/>
              <a:t>Современное значение</a:t>
            </a:r>
            <a:endParaRPr lang="en-US" dirty="0"/>
          </a:p>
        </p:txBody>
      </p:sp>
      <p:sp>
        <p:nvSpPr>
          <p:cNvPr id="3" name="Content Placeholder 2">
            <a:extLst>
              <a:ext uri="{FF2B5EF4-FFF2-40B4-BE49-F238E27FC236}">
                <a16:creationId xmlns:a16="http://schemas.microsoft.com/office/drawing/2014/main" id="{6CDD2BAC-FCBA-59A0-E541-F72098A5893C}"/>
              </a:ext>
            </a:extLst>
          </p:cNvPr>
          <p:cNvSpPr>
            <a:spLocks noGrp="1"/>
          </p:cNvSpPr>
          <p:nvPr>
            <p:ph idx="1"/>
          </p:nvPr>
        </p:nvSpPr>
        <p:spPr/>
        <p:txBody>
          <a:bodyPr/>
          <a:lstStyle/>
          <a:p>
            <a:r>
              <a:rPr lang="ru-RU" dirty="0"/>
              <a:t>Сегодня адресные пространства обычно достаточно велики</a:t>
            </a:r>
          </a:p>
          <a:p>
            <a:r>
              <a:rPr lang="ru-RU" dirty="0"/>
              <a:t>Но идея разделения используется в кэшах</a:t>
            </a:r>
          </a:p>
          <a:p>
            <a:pPr lvl="1"/>
            <a:r>
              <a:rPr lang="ru-RU" b="1" dirty="0"/>
              <a:t>L1 </a:t>
            </a:r>
            <a:r>
              <a:rPr lang="ru-RU" b="1" dirty="0" err="1"/>
              <a:t>cache</a:t>
            </a:r>
            <a:r>
              <a:rPr lang="ru-RU" b="1" dirty="0"/>
              <a:t>:</a:t>
            </a:r>
            <a:r>
              <a:rPr lang="ru-RU" dirty="0"/>
              <a:t> отдельные блоки для кода и данных</a:t>
            </a:r>
          </a:p>
          <a:p>
            <a:pPr lvl="1"/>
            <a:r>
              <a:rPr lang="ru-RU" b="1" dirty="0"/>
              <a:t>TLB:</a:t>
            </a:r>
            <a:r>
              <a:rPr lang="ru-RU" dirty="0"/>
              <a:t> разделён на I-TLB и D-TLB</a:t>
            </a:r>
          </a:p>
          <a:p>
            <a:r>
              <a:rPr lang="ru-RU" dirty="0"/>
              <a:t>Повышает производительность и снижает конфликты</a:t>
            </a:r>
          </a:p>
        </p:txBody>
      </p:sp>
    </p:spTree>
    <p:extLst>
      <p:ext uri="{BB962C8B-B14F-4D97-AF65-F5344CB8AC3E}">
        <p14:creationId xmlns:p14="http://schemas.microsoft.com/office/powerpoint/2010/main" val="719031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7A292-66BB-F18B-FD6A-A845D074A2E4}"/>
              </a:ext>
            </a:extLst>
          </p:cNvPr>
          <p:cNvSpPr>
            <a:spLocks noGrp="1"/>
          </p:cNvSpPr>
          <p:nvPr>
            <p:ph type="title"/>
          </p:nvPr>
        </p:nvSpPr>
        <p:spPr/>
        <p:txBody>
          <a:bodyPr/>
          <a:lstStyle/>
          <a:p>
            <a:r>
              <a:rPr lang="ru-RU" dirty="0"/>
              <a:t>Совместное использование страниц</a:t>
            </a:r>
            <a:endParaRPr lang="en-US" dirty="0"/>
          </a:p>
        </p:txBody>
      </p:sp>
      <p:sp>
        <p:nvSpPr>
          <p:cNvPr id="5" name="Text Placeholder 4">
            <a:extLst>
              <a:ext uri="{FF2B5EF4-FFF2-40B4-BE49-F238E27FC236}">
                <a16:creationId xmlns:a16="http://schemas.microsoft.com/office/drawing/2014/main" id="{F63A0481-EC4A-835F-A266-45099F312F5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57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531C4-023D-3806-3C8F-068F876D18E3}"/>
              </a:ext>
            </a:extLst>
          </p:cNvPr>
          <p:cNvSpPr>
            <a:spLocks noGrp="1"/>
          </p:cNvSpPr>
          <p:nvPr>
            <p:ph type="title"/>
          </p:nvPr>
        </p:nvSpPr>
        <p:spPr/>
        <p:txBody>
          <a:bodyPr/>
          <a:lstStyle/>
          <a:p>
            <a:r>
              <a:rPr lang="ru-RU" dirty="0"/>
              <a:t>Зачем нужно совместное использование страниц</a:t>
            </a:r>
            <a:endParaRPr lang="en-US" dirty="0"/>
          </a:p>
        </p:txBody>
      </p:sp>
      <p:sp>
        <p:nvSpPr>
          <p:cNvPr id="5" name="Content Placeholder 4">
            <a:extLst>
              <a:ext uri="{FF2B5EF4-FFF2-40B4-BE49-F238E27FC236}">
                <a16:creationId xmlns:a16="http://schemas.microsoft.com/office/drawing/2014/main" id="{29E8D58E-7FE2-CD7D-8C3C-224BB2A824FC}"/>
              </a:ext>
            </a:extLst>
          </p:cNvPr>
          <p:cNvSpPr>
            <a:spLocks noGrp="1"/>
          </p:cNvSpPr>
          <p:nvPr>
            <p:ph idx="1"/>
          </p:nvPr>
        </p:nvSpPr>
        <p:spPr/>
        <p:txBody>
          <a:bodyPr/>
          <a:lstStyle/>
          <a:p>
            <a:r>
              <a:rPr lang="ru-RU" dirty="0"/>
              <a:t>Несколько процессов используют один и тот же код</a:t>
            </a:r>
          </a:p>
          <a:p>
            <a:r>
              <a:rPr lang="ru-RU" dirty="0"/>
              <a:t>Избегаем дублирования страниц → экономия памяти</a:t>
            </a:r>
          </a:p>
          <a:p>
            <a:r>
              <a:rPr lang="ru-RU" dirty="0"/>
              <a:t>Эффективнее для библиотек и часто используемых программ</a:t>
            </a:r>
          </a:p>
          <a:p>
            <a:r>
              <a:rPr lang="ru-RU" dirty="0"/>
              <a:t>Проблема: не все страницы можно безопасно разделять</a:t>
            </a:r>
          </a:p>
        </p:txBody>
      </p:sp>
    </p:spTree>
    <p:extLst>
      <p:ext uri="{BB962C8B-B14F-4D97-AF65-F5344CB8AC3E}">
        <p14:creationId xmlns:p14="http://schemas.microsoft.com/office/powerpoint/2010/main" val="423181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6F09D-D20C-2AF8-6DCF-135DB45027DB}"/>
              </a:ext>
            </a:extLst>
          </p:cNvPr>
          <p:cNvSpPr>
            <a:spLocks noGrp="1"/>
          </p:cNvSpPr>
          <p:nvPr>
            <p:ph type="title"/>
          </p:nvPr>
        </p:nvSpPr>
        <p:spPr/>
        <p:txBody>
          <a:bodyPr/>
          <a:lstStyle/>
          <a:p>
            <a:r>
              <a:rPr lang="ru-RU" dirty="0"/>
              <a:t>Совместное использование кода</a:t>
            </a:r>
            <a:endParaRPr lang="en-US" dirty="0"/>
          </a:p>
        </p:txBody>
      </p:sp>
      <p:sp>
        <p:nvSpPr>
          <p:cNvPr id="3" name="Content Placeholder 2">
            <a:extLst>
              <a:ext uri="{FF2B5EF4-FFF2-40B4-BE49-F238E27FC236}">
                <a16:creationId xmlns:a16="http://schemas.microsoft.com/office/drawing/2014/main" id="{F1DB0C08-E1D9-36BB-F829-3C11E3FDA375}"/>
              </a:ext>
            </a:extLst>
          </p:cNvPr>
          <p:cNvSpPr>
            <a:spLocks noGrp="1"/>
          </p:cNvSpPr>
          <p:nvPr>
            <p:ph idx="1"/>
          </p:nvPr>
        </p:nvSpPr>
        <p:spPr/>
        <p:txBody>
          <a:bodyPr/>
          <a:lstStyle/>
          <a:p>
            <a:r>
              <a:rPr lang="ru-RU" dirty="0"/>
              <a:t>Код программы обычно доступен только для чтения, можно использовать с другими копиями программы</a:t>
            </a:r>
          </a:p>
          <a:p>
            <a:r>
              <a:rPr lang="ru-RU" dirty="0"/>
              <a:t>При наличии I/D-</a:t>
            </a:r>
            <a:r>
              <a:rPr lang="ru-RU" dirty="0" err="1"/>
              <a:t>space</a:t>
            </a:r>
            <a:r>
              <a:rPr lang="ru-RU" dirty="0"/>
              <a:t>:</a:t>
            </a:r>
          </a:p>
          <a:p>
            <a:pPr lvl="1"/>
            <a:r>
              <a:rPr lang="ru-RU" dirty="0"/>
              <a:t>Общая таблица страниц для I-</a:t>
            </a:r>
            <a:r>
              <a:rPr lang="ru-RU" dirty="0" err="1"/>
              <a:t>space</a:t>
            </a:r>
            <a:endParaRPr lang="ru-RU" dirty="0"/>
          </a:p>
          <a:p>
            <a:pPr lvl="1"/>
            <a:r>
              <a:rPr lang="ru-RU" dirty="0"/>
              <a:t>Отдельные таблицы для D-</a:t>
            </a:r>
            <a:r>
              <a:rPr lang="ru-RU" dirty="0" err="1"/>
              <a:t>space</a:t>
            </a:r>
            <a:endParaRPr lang="ru-RU" dirty="0"/>
          </a:p>
          <a:p>
            <a:r>
              <a:rPr lang="ru-RU" dirty="0"/>
              <a:t>В таблице процессов два указателя (на I-</a:t>
            </a:r>
            <a:r>
              <a:rPr lang="ru-RU" dirty="0" err="1"/>
              <a:t>space</a:t>
            </a:r>
            <a:r>
              <a:rPr lang="ru-RU" dirty="0"/>
              <a:t> и D-</a:t>
            </a:r>
            <a:r>
              <a:rPr lang="ru-RU" dirty="0" err="1"/>
              <a:t>space</a:t>
            </a:r>
            <a:r>
              <a:rPr lang="ru-RU" dirty="0"/>
              <a:t>)</a:t>
            </a:r>
          </a:p>
          <a:p>
            <a:r>
              <a:rPr lang="ru-RU" dirty="0"/>
              <a:t>Независимая подкачка для кода и данных</a:t>
            </a:r>
          </a:p>
        </p:txBody>
      </p:sp>
    </p:spTree>
    <p:extLst>
      <p:ext uri="{BB962C8B-B14F-4D97-AF65-F5344CB8AC3E}">
        <p14:creationId xmlns:p14="http://schemas.microsoft.com/office/powerpoint/2010/main" val="2924242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8DC6-BE93-C318-CFB8-C2F56A01B814}"/>
              </a:ext>
            </a:extLst>
          </p:cNvPr>
          <p:cNvSpPr>
            <a:spLocks noGrp="1"/>
          </p:cNvSpPr>
          <p:nvPr>
            <p:ph type="title"/>
          </p:nvPr>
        </p:nvSpPr>
        <p:spPr/>
        <p:txBody>
          <a:bodyPr/>
          <a:lstStyle/>
          <a:p>
            <a:r>
              <a:rPr lang="ru-RU" dirty="0"/>
              <a:t>Проблемы и решения</a:t>
            </a:r>
            <a:endParaRPr lang="en-US" dirty="0"/>
          </a:p>
        </p:txBody>
      </p:sp>
      <p:sp>
        <p:nvSpPr>
          <p:cNvPr id="3" name="Content Placeholder 2">
            <a:extLst>
              <a:ext uri="{FF2B5EF4-FFF2-40B4-BE49-F238E27FC236}">
                <a16:creationId xmlns:a16="http://schemas.microsoft.com/office/drawing/2014/main" id="{C8D74077-A6F0-7025-9ACC-0CE279B0BA76}"/>
              </a:ext>
            </a:extLst>
          </p:cNvPr>
          <p:cNvSpPr>
            <a:spLocks noGrp="1"/>
          </p:cNvSpPr>
          <p:nvPr>
            <p:ph idx="1"/>
          </p:nvPr>
        </p:nvSpPr>
        <p:spPr/>
        <p:txBody>
          <a:bodyPr/>
          <a:lstStyle/>
          <a:p>
            <a:r>
              <a:rPr lang="ru-RU" dirty="0"/>
              <a:t>При выгрузке процесса нельзя терять общие страницы</a:t>
            </a:r>
          </a:p>
          <a:p>
            <a:r>
              <a:rPr lang="ru-RU" dirty="0"/>
              <a:t>Нужно отслеживать, какие страницы разделяются</a:t>
            </a:r>
          </a:p>
          <a:p>
            <a:r>
              <a:rPr lang="ru-RU" dirty="0"/>
              <a:t>Поиск по всем таблицам слишком дорог, поэтому </a:t>
            </a:r>
            <a:br>
              <a:rPr lang="ru-RU" dirty="0"/>
            </a:br>
            <a:r>
              <a:rPr lang="ru-RU" dirty="0"/>
              <a:t>используются специальные структуры учёта</a:t>
            </a:r>
          </a:p>
          <a:p>
            <a:r>
              <a:rPr lang="ru-RU" dirty="0"/>
              <a:t>Страницы освобождаются только когда больше не используются</a:t>
            </a:r>
          </a:p>
        </p:txBody>
      </p:sp>
    </p:spTree>
    <p:extLst>
      <p:ext uri="{BB962C8B-B14F-4D97-AF65-F5344CB8AC3E}">
        <p14:creationId xmlns:p14="http://schemas.microsoft.com/office/powerpoint/2010/main" val="3549590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180B-DFE9-19F8-315B-9AE5A9BB7867}"/>
              </a:ext>
            </a:extLst>
          </p:cNvPr>
          <p:cNvSpPr>
            <a:spLocks noGrp="1"/>
          </p:cNvSpPr>
          <p:nvPr>
            <p:ph type="title"/>
          </p:nvPr>
        </p:nvSpPr>
        <p:spPr/>
        <p:txBody>
          <a:bodyPr/>
          <a:lstStyle/>
          <a:p>
            <a:r>
              <a:rPr lang="ru-RU" dirty="0"/>
              <a:t>Совместное использование данных</a:t>
            </a:r>
            <a:endParaRPr lang="en-US" dirty="0"/>
          </a:p>
        </p:txBody>
      </p:sp>
      <p:sp>
        <p:nvSpPr>
          <p:cNvPr id="3" name="Content Placeholder 2">
            <a:extLst>
              <a:ext uri="{FF2B5EF4-FFF2-40B4-BE49-F238E27FC236}">
                <a16:creationId xmlns:a16="http://schemas.microsoft.com/office/drawing/2014/main" id="{5B66926D-29F3-D0D0-BB2D-BCE312500754}"/>
              </a:ext>
            </a:extLst>
          </p:cNvPr>
          <p:cNvSpPr>
            <a:spLocks noGrp="1"/>
          </p:cNvSpPr>
          <p:nvPr>
            <p:ph idx="1"/>
          </p:nvPr>
        </p:nvSpPr>
        <p:spPr/>
        <p:txBody>
          <a:bodyPr/>
          <a:lstStyle/>
          <a:p>
            <a:r>
              <a:rPr lang="ru-RU" dirty="0"/>
              <a:t>В UNIX после </a:t>
            </a:r>
            <a:r>
              <a:rPr lang="ru-RU" dirty="0" err="1"/>
              <a:t>fork</a:t>
            </a:r>
            <a:r>
              <a:rPr lang="ru-RU" dirty="0"/>
              <a:t>() оба экземпляра имеют общий код и данные</a:t>
            </a:r>
          </a:p>
          <a:p>
            <a:r>
              <a:rPr lang="ru-RU" dirty="0"/>
              <a:t>Все страницы помечаются как </a:t>
            </a:r>
            <a:r>
              <a:rPr lang="en-US" dirty="0"/>
              <a:t>Read-Only</a:t>
            </a:r>
            <a:endParaRPr lang="ru-RU" dirty="0"/>
          </a:p>
          <a:p>
            <a:r>
              <a:rPr lang="ru-RU" dirty="0"/>
              <a:t>При попытке записи → </a:t>
            </a:r>
            <a:r>
              <a:rPr lang="ru-RU" dirty="0" err="1"/>
              <a:t>trap</a:t>
            </a:r>
            <a:endParaRPr lang="ru-RU" dirty="0"/>
          </a:p>
          <a:p>
            <a:pPr lvl="1"/>
            <a:r>
              <a:rPr lang="ru-RU" dirty="0"/>
              <a:t>ОС делает копию страницы → </a:t>
            </a:r>
            <a:r>
              <a:rPr lang="ru-RU" dirty="0" err="1"/>
              <a:t>Copy-on-Write</a:t>
            </a:r>
            <a:r>
              <a:rPr lang="ru-RU" dirty="0"/>
              <a:t> (COW)</a:t>
            </a:r>
          </a:p>
          <a:p>
            <a:r>
              <a:rPr lang="ru-RU" dirty="0"/>
              <a:t>Экономия памяти и ускорение запуска процессов</a:t>
            </a:r>
          </a:p>
        </p:txBody>
      </p:sp>
    </p:spTree>
    <p:extLst>
      <p:ext uri="{BB962C8B-B14F-4D97-AF65-F5344CB8AC3E}">
        <p14:creationId xmlns:p14="http://schemas.microsoft.com/office/powerpoint/2010/main" val="1013845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0A00-78C1-8EBB-E259-D729F9078293}"/>
              </a:ext>
            </a:extLst>
          </p:cNvPr>
          <p:cNvSpPr>
            <a:spLocks noGrp="1"/>
          </p:cNvSpPr>
          <p:nvPr>
            <p:ph type="title"/>
          </p:nvPr>
        </p:nvSpPr>
        <p:spPr/>
        <p:txBody>
          <a:bodyPr/>
          <a:lstStyle/>
          <a:p>
            <a:r>
              <a:rPr lang="ru-RU" dirty="0"/>
              <a:t>Преимущества </a:t>
            </a:r>
            <a:r>
              <a:rPr lang="en-US" dirty="0"/>
              <a:t>Copy-on-Write</a:t>
            </a:r>
          </a:p>
        </p:txBody>
      </p:sp>
      <p:sp>
        <p:nvSpPr>
          <p:cNvPr id="3" name="Content Placeholder 2">
            <a:extLst>
              <a:ext uri="{FF2B5EF4-FFF2-40B4-BE49-F238E27FC236}">
                <a16:creationId xmlns:a16="http://schemas.microsoft.com/office/drawing/2014/main" id="{11D0E34A-2773-F489-3527-38CA9A3FC9D7}"/>
              </a:ext>
            </a:extLst>
          </p:cNvPr>
          <p:cNvSpPr>
            <a:spLocks noGrp="1"/>
          </p:cNvSpPr>
          <p:nvPr>
            <p:ph idx="1"/>
          </p:nvPr>
        </p:nvSpPr>
        <p:spPr/>
        <p:txBody>
          <a:bodyPr/>
          <a:lstStyle/>
          <a:p>
            <a:r>
              <a:rPr lang="ru-RU" dirty="0"/>
              <a:t>Минимизирует копирование при </a:t>
            </a:r>
            <a:r>
              <a:rPr lang="ru-RU" dirty="0" err="1"/>
              <a:t>fork</a:t>
            </a:r>
            <a:r>
              <a:rPr lang="ru-RU" dirty="0"/>
              <a:t>()</a:t>
            </a:r>
          </a:p>
          <a:p>
            <a:r>
              <a:rPr lang="ru-RU" dirty="0"/>
              <a:t>Не дублирует неизменённые страницы</a:t>
            </a:r>
          </a:p>
          <a:p>
            <a:r>
              <a:rPr lang="ru-RU" dirty="0"/>
              <a:t>Повышает производительность и экономит память</a:t>
            </a:r>
          </a:p>
          <a:p>
            <a:r>
              <a:rPr lang="ru-RU" dirty="0"/>
              <a:t>Применяется в UNIX, Linux, Windows</a:t>
            </a:r>
          </a:p>
        </p:txBody>
      </p:sp>
    </p:spTree>
    <p:extLst>
      <p:ext uri="{BB962C8B-B14F-4D97-AF65-F5344CB8AC3E}">
        <p14:creationId xmlns:p14="http://schemas.microsoft.com/office/powerpoint/2010/main" val="1139705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A09362-F990-8D4E-408E-63C6B087D9D4}"/>
              </a:ext>
            </a:extLst>
          </p:cNvPr>
          <p:cNvSpPr>
            <a:spLocks noGrp="1"/>
          </p:cNvSpPr>
          <p:nvPr>
            <p:ph type="title"/>
          </p:nvPr>
        </p:nvSpPr>
        <p:spPr/>
        <p:txBody>
          <a:bodyPr/>
          <a:lstStyle/>
          <a:p>
            <a:r>
              <a:rPr lang="ru-RU" dirty="0"/>
              <a:t>Разделяемые библиотеки</a:t>
            </a:r>
            <a:endParaRPr lang="en-US" dirty="0"/>
          </a:p>
        </p:txBody>
      </p:sp>
      <p:sp>
        <p:nvSpPr>
          <p:cNvPr id="5" name="Text Placeholder 4">
            <a:extLst>
              <a:ext uri="{FF2B5EF4-FFF2-40B4-BE49-F238E27FC236}">
                <a16:creationId xmlns:a16="http://schemas.microsoft.com/office/drawing/2014/main" id="{0109356E-CA5E-EFEF-7F57-05CA26F7FD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7060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A15A1A-B7D0-0283-AB46-E238884B8612}"/>
              </a:ext>
            </a:extLst>
          </p:cNvPr>
          <p:cNvSpPr>
            <a:spLocks noGrp="1"/>
          </p:cNvSpPr>
          <p:nvPr>
            <p:ph type="title"/>
          </p:nvPr>
        </p:nvSpPr>
        <p:spPr/>
        <p:txBody>
          <a:bodyPr/>
          <a:lstStyle/>
          <a:p>
            <a:r>
              <a:rPr lang="ru-RU" dirty="0"/>
              <a:t>Зачем нужны </a:t>
            </a:r>
            <a:r>
              <a:rPr lang="en-US" dirty="0"/>
              <a:t>Shared Libraries</a:t>
            </a:r>
          </a:p>
        </p:txBody>
      </p:sp>
      <p:sp>
        <p:nvSpPr>
          <p:cNvPr id="5" name="Content Placeholder 4">
            <a:extLst>
              <a:ext uri="{FF2B5EF4-FFF2-40B4-BE49-F238E27FC236}">
                <a16:creationId xmlns:a16="http://schemas.microsoft.com/office/drawing/2014/main" id="{DBBD97ED-1E80-9085-4085-033DC200C2E5}"/>
              </a:ext>
            </a:extLst>
          </p:cNvPr>
          <p:cNvSpPr>
            <a:spLocks noGrp="1"/>
          </p:cNvSpPr>
          <p:nvPr>
            <p:ph idx="1"/>
          </p:nvPr>
        </p:nvSpPr>
        <p:spPr/>
        <p:txBody>
          <a:bodyPr/>
          <a:lstStyle/>
          <a:p>
            <a:r>
              <a:rPr lang="ru-RU" dirty="0"/>
              <a:t>Многие программы используют одни и те же функции</a:t>
            </a:r>
          </a:p>
          <a:p>
            <a:r>
              <a:rPr lang="ru-RU" dirty="0"/>
              <a:t>Статическое связывание дублирует код</a:t>
            </a:r>
          </a:p>
          <a:p>
            <a:r>
              <a:rPr lang="ru-RU" dirty="0"/>
              <a:t>Увеличивает размер файлов и расход памяти</a:t>
            </a:r>
          </a:p>
          <a:p>
            <a:r>
              <a:rPr lang="ru-RU" dirty="0"/>
              <a:t>Решение — совместно используемые библиотеки (</a:t>
            </a:r>
            <a:r>
              <a:rPr lang="ru-RU" dirty="0" err="1"/>
              <a:t>shared</a:t>
            </a:r>
            <a:r>
              <a:rPr lang="ru-RU" dirty="0"/>
              <a:t> </a:t>
            </a:r>
            <a:r>
              <a:rPr lang="ru-RU" dirty="0" err="1"/>
              <a:t>libraries</a:t>
            </a:r>
            <a:r>
              <a:rPr lang="ru-RU" dirty="0"/>
              <a:t>)</a:t>
            </a:r>
          </a:p>
        </p:txBody>
      </p:sp>
    </p:spTree>
    <p:extLst>
      <p:ext uri="{BB962C8B-B14F-4D97-AF65-F5344CB8AC3E}">
        <p14:creationId xmlns:p14="http://schemas.microsoft.com/office/powerpoint/2010/main" val="473687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8315-662A-1A07-4425-8002A78B3675}"/>
              </a:ext>
            </a:extLst>
          </p:cNvPr>
          <p:cNvSpPr>
            <a:spLocks noGrp="1"/>
          </p:cNvSpPr>
          <p:nvPr>
            <p:ph type="title"/>
          </p:nvPr>
        </p:nvSpPr>
        <p:spPr/>
        <p:txBody>
          <a:bodyPr/>
          <a:lstStyle/>
          <a:p>
            <a:r>
              <a:rPr lang="ru-RU" dirty="0"/>
              <a:t>Проблема статического связывания</a:t>
            </a:r>
            <a:endParaRPr lang="en-US" dirty="0"/>
          </a:p>
        </p:txBody>
      </p:sp>
      <p:sp>
        <p:nvSpPr>
          <p:cNvPr id="3" name="Content Placeholder 2">
            <a:extLst>
              <a:ext uri="{FF2B5EF4-FFF2-40B4-BE49-F238E27FC236}">
                <a16:creationId xmlns:a16="http://schemas.microsoft.com/office/drawing/2014/main" id="{5990609F-02D3-1A05-9E7F-8BB37E8679E0}"/>
              </a:ext>
            </a:extLst>
          </p:cNvPr>
          <p:cNvSpPr>
            <a:spLocks noGrp="1"/>
          </p:cNvSpPr>
          <p:nvPr>
            <p:ph idx="1"/>
          </p:nvPr>
        </p:nvSpPr>
        <p:spPr/>
        <p:txBody>
          <a:bodyPr/>
          <a:lstStyle/>
          <a:p>
            <a:r>
              <a:rPr lang="ru-RU" dirty="0"/>
              <a:t>Все функции включаются в исполняемый файл</a:t>
            </a:r>
          </a:p>
          <a:p>
            <a:r>
              <a:rPr lang="ru-RU" dirty="0"/>
              <a:t>Пример: </a:t>
            </a:r>
            <a:r>
              <a:rPr lang="ru-RU" dirty="0" err="1"/>
              <a:t>ld</a:t>
            </a:r>
            <a:r>
              <a:rPr lang="ru-RU" dirty="0"/>
              <a:t> *.o -</a:t>
            </a:r>
            <a:r>
              <a:rPr lang="ru-RU" dirty="0" err="1"/>
              <a:t>lc</a:t>
            </a:r>
            <a:r>
              <a:rPr lang="ru-RU" dirty="0"/>
              <a:t> -</a:t>
            </a:r>
            <a:r>
              <a:rPr lang="ru-RU" dirty="0" err="1"/>
              <a:t>lm</a:t>
            </a:r>
            <a:endParaRPr lang="ru-RU" dirty="0"/>
          </a:p>
          <a:p>
            <a:r>
              <a:rPr lang="ru-RU" dirty="0"/>
              <a:t>Недостатки:</a:t>
            </a:r>
          </a:p>
          <a:p>
            <a:pPr lvl="1"/>
            <a:r>
              <a:rPr lang="ru-RU" dirty="0"/>
              <a:t>Большие файлы</a:t>
            </a:r>
          </a:p>
          <a:p>
            <a:pPr lvl="1"/>
            <a:r>
              <a:rPr lang="ru-RU" dirty="0"/>
              <a:t>Дублирование кода в памяти</a:t>
            </a:r>
          </a:p>
          <a:p>
            <a:pPr lvl="1"/>
            <a:r>
              <a:rPr lang="ru-RU" dirty="0"/>
              <a:t>Требуется перекомпиляция при обновлении библиотеки</a:t>
            </a:r>
          </a:p>
        </p:txBody>
      </p:sp>
    </p:spTree>
    <p:extLst>
      <p:ext uri="{BB962C8B-B14F-4D97-AF65-F5344CB8AC3E}">
        <p14:creationId xmlns:p14="http://schemas.microsoft.com/office/powerpoint/2010/main" val="3148370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33020-B1E2-041A-8271-88FCFA2BF3D9}"/>
              </a:ext>
            </a:extLst>
          </p:cNvPr>
          <p:cNvSpPr>
            <a:spLocks noGrp="1"/>
          </p:cNvSpPr>
          <p:nvPr>
            <p:ph type="title"/>
          </p:nvPr>
        </p:nvSpPr>
        <p:spPr/>
        <p:txBody>
          <a:bodyPr/>
          <a:lstStyle/>
          <a:p>
            <a:r>
              <a:rPr lang="ru-RU" dirty="0"/>
              <a:t>Динамические библиотеки (</a:t>
            </a:r>
            <a:r>
              <a:rPr lang="en-US" dirty="0"/>
              <a:t>DLL)</a:t>
            </a:r>
          </a:p>
        </p:txBody>
      </p:sp>
      <p:sp>
        <p:nvSpPr>
          <p:cNvPr id="3" name="Content Placeholder 2">
            <a:extLst>
              <a:ext uri="{FF2B5EF4-FFF2-40B4-BE49-F238E27FC236}">
                <a16:creationId xmlns:a16="http://schemas.microsoft.com/office/drawing/2014/main" id="{FEED9804-D0BA-3705-B3DC-7F321E6E91E0}"/>
              </a:ext>
            </a:extLst>
          </p:cNvPr>
          <p:cNvSpPr>
            <a:spLocks noGrp="1"/>
          </p:cNvSpPr>
          <p:nvPr>
            <p:ph idx="1"/>
          </p:nvPr>
        </p:nvSpPr>
        <p:spPr/>
        <p:txBody>
          <a:bodyPr/>
          <a:lstStyle/>
          <a:p>
            <a:r>
              <a:rPr lang="ru-RU" dirty="0"/>
              <a:t>Компоновщик вставляет заглушки вместо кода функций</a:t>
            </a:r>
          </a:p>
          <a:p>
            <a:r>
              <a:rPr lang="ru-RU" dirty="0"/>
              <a:t>Функции связываются при запуске или при первом вызове</a:t>
            </a:r>
          </a:p>
          <a:p>
            <a:r>
              <a:rPr lang="ru-RU" dirty="0"/>
              <a:t>Если библиотека уже загружена — используется общая копия</a:t>
            </a:r>
          </a:p>
          <a:p>
            <a:r>
              <a:rPr lang="ru-RU" dirty="0"/>
              <a:t>В память загружаются только нужные страницы библиотеки</a:t>
            </a:r>
          </a:p>
          <a:p>
            <a:r>
              <a:rPr lang="ru-RU" dirty="0"/>
              <a:t>Примеры: .</a:t>
            </a:r>
            <a:r>
              <a:rPr lang="ru-RU" dirty="0" err="1"/>
              <a:t>dll</a:t>
            </a:r>
            <a:r>
              <a:rPr lang="ru-RU" dirty="0"/>
              <a:t> (Windows), .</a:t>
            </a:r>
            <a:r>
              <a:rPr lang="ru-RU" dirty="0" err="1"/>
              <a:t>so</a:t>
            </a:r>
            <a:r>
              <a:rPr lang="ru-RU" dirty="0"/>
              <a:t> (Linux/UNIX)</a:t>
            </a:r>
          </a:p>
        </p:txBody>
      </p:sp>
    </p:spTree>
    <p:extLst>
      <p:ext uri="{BB962C8B-B14F-4D97-AF65-F5344CB8AC3E}">
        <p14:creationId xmlns:p14="http://schemas.microsoft.com/office/powerpoint/2010/main" val="1215279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999B-60B2-DCB3-A805-49C242725825}"/>
              </a:ext>
            </a:extLst>
          </p:cNvPr>
          <p:cNvSpPr>
            <a:spLocks noGrp="1"/>
          </p:cNvSpPr>
          <p:nvPr>
            <p:ph type="title"/>
          </p:nvPr>
        </p:nvSpPr>
        <p:spPr/>
        <p:txBody>
          <a:bodyPr/>
          <a:lstStyle/>
          <a:p>
            <a:r>
              <a:rPr lang="ru-RU" dirty="0"/>
              <a:t>Преимущества разделяемых библиотек</a:t>
            </a:r>
            <a:endParaRPr lang="en-US" dirty="0"/>
          </a:p>
        </p:txBody>
      </p:sp>
      <p:sp>
        <p:nvSpPr>
          <p:cNvPr id="3" name="Content Placeholder 2">
            <a:extLst>
              <a:ext uri="{FF2B5EF4-FFF2-40B4-BE49-F238E27FC236}">
                <a16:creationId xmlns:a16="http://schemas.microsoft.com/office/drawing/2014/main" id="{127CB029-E991-1265-7B86-B0E3A773B646}"/>
              </a:ext>
            </a:extLst>
          </p:cNvPr>
          <p:cNvSpPr>
            <a:spLocks noGrp="1"/>
          </p:cNvSpPr>
          <p:nvPr>
            <p:ph idx="1"/>
          </p:nvPr>
        </p:nvSpPr>
        <p:spPr/>
        <p:txBody>
          <a:bodyPr/>
          <a:lstStyle/>
          <a:p>
            <a:r>
              <a:rPr lang="ru-RU" dirty="0"/>
              <a:t>Меньше места на диске и в оперативной памяти</a:t>
            </a:r>
          </a:p>
          <a:p>
            <a:r>
              <a:rPr lang="ru-RU" dirty="0"/>
              <a:t>Автоматическое обновление библиотек</a:t>
            </a:r>
          </a:p>
          <a:p>
            <a:r>
              <a:rPr lang="ru-RU" dirty="0"/>
              <a:t>Повышение безопасности (исправление уязвимостей)</a:t>
            </a:r>
          </a:p>
          <a:p>
            <a:r>
              <a:rPr lang="ru-RU" dirty="0"/>
              <a:t>Совместное использование памяти между процессами</a:t>
            </a:r>
          </a:p>
        </p:txBody>
      </p:sp>
    </p:spTree>
    <p:extLst>
      <p:ext uri="{BB962C8B-B14F-4D97-AF65-F5344CB8AC3E}">
        <p14:creationId xmlns:p14="http://schemas.microsoft.com/office/powerpoint/2010/main" val="1363985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A3A0F-6CE4-0F0E-9E83-5B4C908F9D40}"/>
              </a:ext>
            </a:extLst>
          </p:cNvPr>
          <p:cNvSpPr>
            <a:spLocks noGrp="1"/>
          </p:cNvSpPr>
          <p:nvPr>
            <p:ph type="title"/>
          </p:nvPr>
        </p:nvSpPr>
        <p:spPr/>
        <p:txBody>
          <a:bodyPr/>
          <a:lstStyle/>
          <a:p>
            <a:r>
              <a:rPr lang="ru-RU" dirty="0"/>
              <a:t>Проблема адресации</a:t>
            </a:r>
            <a:endParaRPr lang="en-US" dirty="0"/>
          </a:p>
        </p:txBody>
      </p:sp>
      <p:sp>
        <p:nvSpPr>
          <p:cNvPr id="3" name="Content Placeholder 2">
            <a:extLst>
              <a:ext uri="{FF2B5EF4-FFF2-40B4-BE49-F238E27FC236}">
                <a16:creationId xmlns:a16="http://schemas.microsoft.com/office/drawing/2014/main" id="{CB38D868-BD04-EA18-2808-63461AE0974E}"/>
              </a:ext>
            </a:extLst>
          </p:cNvPr>
          <p:cNvSpPr>
            <a:spLocks noGrp="1"/>
          </p:cNvSpPr>
          <p:nvPr>
            <p:ph idx="1"/>
          </p:nvPr>
        </p:nvSpPr>
        <p:spPr/>
        <p:txBody>
          <a:bodyPr/>
          <a:lstStyle/>
          <a:p>
            <a:r>
              <a:rPr lang="ru-RU" dirty="0"/>
              <a:t>Одна и та же библиотека может быть загружена по разным адресам</a:t>
            </a:r>
          </a:p>
          <a:p>
            <a:r>
              <a:rPr lang="ru-RU" dirty="0"/>
              <a:t>Абсолютные переходы становятся некорректными</a:t>
            </a:r>
          </a:p>
          <a:p>
            <a:r>
              <a:rPr lang="ru-RU" dirty="0"/>
              <a:t>Решение — </a:t>
            </a:r>
            <a:r>
              <a:rPr lang="ru-RU" dirty="0" err="1"/>
              <a:t>position-independent</a:t>
            </a:r>
            <a:r>
              <a:rPr lang="ru-RU" dirty="0"/>
              <a:t> </a:t>
            </a:r>
            <a:r>
              <a:rPr lang="ru-RU" dirty="0" err="1"/>
              <a:t>code</a:t>
            </a:r>
            <a:r>
              <a:rPr lang="ru-RU" dirty="0"/>
              <a:t> (PIC)</a:t>
            </a:r>
          </a:p>
          <a:p>
            <a:pPr lvl="1"/>
            <a:r>
              <a:rPr lang="ru-RU" dirty="0"/>
              <a:t>Использует относительные адреса</a:t>
            </a:r>
          </a:p>
          <a:p>
            <a:pPr lvl="1"/>
            <a:r>
              <a:rPr lang="ru-RU" dirty="0"/>
              <a:t>Работает независимо от положения в памяти</a:t>
            </a:r>
          </a:p>
        </p:txBody>
      </p:sp>
    </p:spTree>
    <p:extLst>
      <p:ext uri="{BB962C8B-B14F-4D97-AF65-F5344CB8AC3E}">
        <p14:creationId xmlns:p14="http://schemas.microsoft.com/office/powerpoint/2010/main" val="422780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78075D-AEF5-FCE6-E819-42386DB61D8E}"/>
              </a:ext>
            </a:extLst>
          </p:cNvPr>
          <p:cNvSpPr>
            <a:spLocks noGrp="1"/>
          </p:cNvSpPr>
          <p:nvPr>
            <p:ph type="title"/>
          </p:nvPr>
        </p:nvSpPr>
        <p:spPr/>
        <p:txBody>
          <a:bodyPr/>
          <a:lstStyle/>
          <a:p>
            <a:r>
              <a:rPr lang="ru-RU" dirty="0"/>
              <a:t>Файлы, отображаемые в память</a:t>
            </a:r>
            <a:endParaRPr lang="en-US" dirty="0"/>
          </a:p>
        </p:txBody>
      </p:sp>
      <p:sp>
        <p:nvSpPr>
          <p:cNvPr id="5" name="Text Placeholder 4">
            <a:extLst>
              <a:ext uri="{FF2B5EF4-FFF2-40B4-BE49-F238E27FC236}">
                <a16:creationId xmlns:a16="http://schemas.microsoft.com/office/drawing/2014/main" id="{765D78D1-0FDA-D356-07BC-57F264640CE8}"/>
              </a:ext>
            </a:extLst>
          </p:cNvPr>
          <p:cNvSpPr>
            <a:spLocks noGrp="1"/>
          </p:cNvSpPr>
          <p:nvPr>
            <p:ph type="body" idx="1"/>
          </p:nvPr>
        </p:nvSpPr>
        <p:spPr/>
        <p:txBody>
          <a:bodyPr/>
          <a:lstStyle/>
          <a:p>
            <a:r>
              <a:rPr lang="en-US" dirty="0"/>
              <a:t>Memory-mapped files</a:t>
            </a:r>
          </a:p>
        </p:txBody>
      </p:sp>
    </p:spTree>
    <p:extLst>
      <p:ext uri="{BB962C8B-B14F-4D97-AF65-F5344CB8AC3E}">
        <p14:creationId xmlns:p14="http://schemas.microsoft.com/office/powerpoint/2010/main" val="3416761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8EC39F-4B36-9EAB-D275-13F39ADDECE2}"/>
              </a:ext>
            </a:extLst>
          </p:cNvPr>
          <p:cNvSpPr>
            <a:spLocks noGrp="1"/>
          </p:cNvSpPr>
          <p:nvPr>
            <p:ph type="title"/>
          </p:nvPr>
        </p:nvSpPr>
        <p:spPr/>
        <p:txBody>
          <a:bodyPr/>
          <a:lstStyle/>
          <a:p>
            <a:r>
              <a:rPr lang="ru-RU" dirty="0"/>
              <a:t>Что такое </a:t>
            </a:r>
            <a:r>
              <a:rPr lang="en-US" dirty="0"/>
              <a:t>memory mapped files</a:t>
            </a:r>
          </a:p>
        </p:txBody>
      </p:sp>
      <p:sp>
        <p:nvSpPr>
          <p:cNvPr id="5" name="Content Placeholder 4">
            <a:extLst>
              <a:ext uri="{FF2B5EF4-FFF2-40B4-BE49-F238E27FC236}">
                <a16:creationId xmlns:a16="http://schemas.microsoft.com/office/drawing/2014/main" id="{552320BE-43C7-3357-0253-1C0F9D265729}"/>
              </a:ext>
            </a:extLst>
          </p:cNvPr>
          <p:cNvSpPr>
            <a:spLocks noGrp="1"/>
          </p:cNvSpPr>
          <p:nvPr>
            <p:ph idx="1"/>
          </p:nvPr>
        </p:nvSpPr>
        <p:spPr/>
        <p:txBody>
          <a:bodyPr/>
          <a:lstStyle/>
          <a:p>
            <a:r>
              <a:rPr lang="ru-RU" dirty="0"/>
              <a:t>Файл отображается в виртуальное адресное пространство процесса</a:t>
            </a:r>
          </a:p>
          <a:p>
            <a:r>
              <a:rPr lang="ru-RU" dirty="0"/>
              <a:t>Обращение к файлу = обращение к памяти</a:t>
            </a:r>
          </a:p>
          <a:p>
            <a:r>
              <a:rPr lang="ru-RU" dirty="0"/>
              <a:t>Нет явных операций чтения/записи</a:t>
            </a:r>
          </a:p>
          <a:p>
            <a:r>
              <a:rPr lang="ru-RU" dirty="0"/>
              <a:t>Страницы подгружаются </a:t>
            </a:r>
            <a:r>
              <a:rPr lang="ru-RU" b="1" dirty="0"/>
              <a:t>по требованию (</a:t>
            </a:r>
            <a:r>
              <a:rPr lang="ru-RU" b="1" dirty="0" err="1"/>
              <a:t>demand</a:t>
            </a:r>
            <a:r>
              <a:rPr lang="ru-RU" b="1" dirty="0"/>
              <a:t> </a:t>
            </a:r>
            <a:r>
              <a:rPr lang="ru-RU" b="1" dirty="0" err="1"/>
              <a:t>paging</a:t>
            </a:r>
            <a:r>
              <a:rPr lang="ru-RU" b="1" dirty="0"/>
              <a:t>)</a:t>
            </a:r>
            <a:endParaRPr lang="ru-RU" dirty="0"/>
          </a:p>
          <a:p>
            <a:endParaRPr lang="en-US" dirty="0"/>
          </a:p>
        </p:txBody>
      </p:sp>
    </p:spTree>
    <p:extLst>
      <p:ext uri="{BB962C8B-B14F-4D97-AF65-F5344CB8AC3E}">
        <p14:creationId xmlns:p14="http://schemas.microsoft.com/office/powerpoint/2010/main" val="1058282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13F-0E38-0630-7311-5493515B26F4}"/>
              </a:ext>
            </a:extLst>
          </p:cNvPr>
          <p:cNvSpPr>
            <a:spLocks noGrp="1"/>
          </p:cNvSpPr>
          <p:nvPr>
            <p:ph type="title"/>
          </p:nvPr>
        </p:nvSpPr>
        <p:spPr/>
        <p:txBody>
          <a:bodyPr/>
          <a:lstStyle/>
          <a:p>
            <a:r>
              <a:rPr lang="ru-RU" dirty="0"/>
              <a:t>Как это работает</a:t>
            </a:r>
            <a:endParaRPr lang="en-US" dirty="0"/>
          </a:p>
        </p:txBody>
      </p:sp>
      <p:sp>
        <p:nvSpPr>
          <p:cNvPr id="3" name="Content Placeholder 2">
            <a:extLst>
              <a:ext uri="{FF2B5EF4-FFF2-40B4-BE49-F238E27FC236}">
                <a16:creationId xmlns:a16="http://schemas.microsoft.com/office/drawing/2014/main" id="{0CA577CC-B450-4B6C-7035-6E8CDD639CF0}"/>
              </a:ext>
            </a:extLst>
          </p:cNvPr>
          <p:cNvSpPr>
            <a:spLocks noGrp="1"/>
          </p:cNvSpPr>
          <p:nvPr>
            <p:ph idx="1"/>
          </p:nvPr>
        </p:nvSpPr>
        <p:spPr/>
        <p:txBody>
          <a:bodyPr/>
          <a:lstStyle/>
          <a:p>
            <a:r>
              <a:rPr lang="ru-RU" dirty="0"/>
              <a:t>Системный вызов </a:t>
            </a:r>
            <a:r>
              <a:rPr lang="ru-RU" dirty="0" err="1"/>
              <a:t>mmap</a:t>
            </a:r>
            <a:r>
              <a:rPr lang="ru-RU" dirty="0"/>
              <a:t>(</a:t>
            </a:r>
            <a:r>
              <a:rPr lang="ru-RU" dirty="0" err="1"/>
              <a:t>file</a:t>
            </a:r>
            <a:r>
              <a:rPr lang="ru-RU" dirty="0"/>
              <a:t>, </a:t>
            </a:r>
            <a:r>
              <a:rPr lang="ru-RU" dirty="0" err="1"/>
              <a:t>address</a:t>
            </a:r>
            <a:r>
              <a:rPr lang="ru-RU" dirty="0"/>
              <a:t>, </a:t>
            </a:r>
            <a:r>
              <a:rPr lang="ru-RU" dirty="0" err="1"/>
              <a:t>size</a:t>
            </a:r>
            <a:r>
              <a:rPr lang="ru-RU" dirty="0"/>
              <a:t>, ...)</a:t>
            </a:r>
          </a:p>
          <a:p>
            <a:r>
              <a:rPr lang="ru-RU" dirty="0"/>
              <a:t>Файл становится «резервным хранилищем» для страниц</a:t>
            </a:r>
          </a:p>
          <a:p>
            <a:r>
              <a:rPr lang="ru-RU" dirty="0"/>
              <a:t>При чтении → страница загружается из файла</a:t>
            </a:r>
          </a:p>
          <a:p>
            <a:r>
              <a:rPr lang="ru-RU" dirty="0"/>
              <a:t>При записи → страница помечается «</a:t>
            </a:r>
            <a:r>
              <a:rPr lang="ru-RU" dirty="0" err="1"/>
              <a:t>modified</a:t>
            </a:r>
            <a:r>
              <a:rPr lang="ru-RU" dirty="0"/>
              <a:t>» и сбрасывается при </a:t>
            </a:r>
            <a:r>
              <a:rPr lang="ru-RU" dirty="0" err="1"/>
              <a:t>unmap</a:t>
            </a:r>
            <a:r>
              <a:rPr lang="ru-RU" dirty="0"/>
              <a:t> или завершении процесса</a:t>
            </a:r>
          </a:p>
        </p:txBody>
      </p:sp>
    </p:spTree>
    <p:extLst>
      <p:ext uri="{BB962C8B-B14F-4D97-AF65-F5344CB8AC3E}">
        <p14:creationId xmlns:p14="http://schemas.microsoft.com/office/powerpoint/2010/main" val="2864735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528-C100-0F89-3BB5-24E3400991F6}"/>
              </a:ext>
            </a:extLst>
          </p:cNvPr>
          <p:cNvSpPr>
            <a:spLocks noGrp="1"/>
          </p:cNvSpPr>
          <p:nvPr>
            <p:ph type="title"/>
          </p:nvPr>
        </p:nvSpPr>
        <p:spPr/>
        <p:txBody>
          <a:bodyPr/>
          <a:lstStyle/>
          <a:p>
            <a:r>
              <a:rPr lang="ru-RU" dirty="0"/>
              <a:t>Преимущества </a:t>
            </a:r>
            <a:r>
              <a:rPr lang="en-US" dirty="0"/>
              <a:t>memory-mapped I/O</a:t>
            </a:r>
          </a:p>
        </p:txBody>
      </p:sp>
      <p:sp>
        <p:nvSpPr>
          <p:cNvPr id="3" name="Content Placeholder 2">
            <a:extLst>
              <a:ext uri="{FF2B5EF4-FFF2-40B4-BE49-F238E27FC236}">
                <a16:creationId xmlns:a16="http://schemas.microsoft.com/office/drawing/2014/main" id="{F9447F7E-1EE8-CE60-26E0-FB44950E4721}"/>
              </a:ext>
            </a:extLst>
          </p:cNvPr>
          <p:cNvSpPr>
            <a:spLocks noGrp="1"/>
          </p:cNvSpPr>
          <p:nvPr>
            <p:ph idx="1"/>
          </p:nvPr>
        </p:nvSpPr>
        <p:spPr/>
        <p:txBody>
          <a:bodyPr/>
          <a:lstStyle/>
          <a:p>
            <a:r>
              <a:rPr lang="ru-RU" dirty="0"/>
              <a:t>Упрощённая модель работы: файл как массив байтов</a:t>
            </a:r>
          </a:p>
          <a:p>
            <a:r>
              <a:rPr lang="ru-RU" dirty="0"/>
              <a:t>Меньше системных вызовов — выше производительность</a:t>
            </a:r>
          </a:p>
          <a:p>
            <a:r>
              <a:rPr lang="ru-RU" dirty="0"/>
              <a:t>Эффективно для больших файлов и структур данных</a:t>
            </a:r>
          </a:p>
          <a:p>
            <a:r>
              <a:rPr lang="ru-RU" dirty="0"/>
              <a:t>Позволяет ОС оптимизировать подкачку и кэширование</a:t>
            </a:r>
          </a:p>
          <a:p>
            <a:endParaRPr lang="en-US" dirty="0"/>
          </a:p>
        </p:txBody>
      </p:sp>
    </p:spTree>
    <p:extLst>
      <p:ext uri="{BB962C8B-B14F-4D97-AF65-F5344CB8AC3E}">
        <p14:creationId xmlns:p14="http://schemas.microsoft.com/office/powerpoint/2010/main" val="25362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080E3-71B3-C37C-CB18-666519D4E432}"/>
              </a:ext>
            </a:extLst>
          </p:cNvPr>
          <p:cNvSpPr>
            <a:spLocks noGrp="1"/>
          </p:cNvSpPr>
          <p:nvPr>
            <p:ph type="title"/>
          </p:nvPr>
        </p:nvSpPr>
        <p:spPr/>
        <p:txBody>
          <a:bodyPr/>
          <a:lstStyle/>
          <a:p>
            <a:r>
              <a:rPr lang="ru-RU" dirty="0"/>
              <a:t>Совместное использование файлов</a:t>
            </a:r>
            <a:endParaRPr lang="en-US" dirty="0"/>
          </a:p>
        </p:txBody>
      </p:sp>
      <p:sp>
        <p:nvSpPr>
          <p:cNvPr id="3" name="Content Placeholder 2">
            <a:extLst>
              <a:ext uri="{FF2B5EF4-FFF2-40B4-BE49-F238E27FC236}">
                <a16:creationId xmlns:a16="http://schemas.microsoft.com/office/drawing/2014/main" id="{1FF9B8B3-0D5C-9A0A-16A3-5C001BB0C2C9}"/>
              </a:ext>
            </a:extLst>
          </p:cNvPr>
          <p:cNvSpPr>
            <a:spLocks noGrp="1"/>
          </p:cNvSpPr>
          <p:nvPr>
            <p:ph idx="1"/>
          </p:nvPr>
        </p:nvSpPr>
        <p:spPr/>
        <p:txBody>
          <a:bodyPr/>
          <a:lstStyle/>
          <a:p>
            <a:r>
              <a:rPr lang="ru-RU" dirty="0"/>
              <a:t>Несколько процессов могут отображать один и тот же файл</a:t>
            </a:r>
          </a:p>
          <a:p>
            <a:r>
              <a:rPr lang="ru-RU" dirty="0"/>
              <a:t>Получается </a:t>
            </a:r>
            <a:r>
              <a:rPr lang="ru-RU" b="1" dirty="0"/>
              <a:t>общая память</a:t>
            </a:r>
            <a:r>
              <a:rPr lang="ru-RU" dirty="0"/>
              <a:t> с синхронизацией через файл</a:t>
            </a:r>
          </a:p>
          <a:p>
            <a:r>
              <a:rPr lang="ru-RU" dirty="0"/>
              <a:t>Изменения одного процесса сразу видны другим</a:t>
            </a:r>
          </a:p>
          <a:p>
            <a:r>
              <a:rPr lang="ru-RU" dirty="0"/>
              <a:t>Используется для </a:t>
            </a:r>
            <a:r>
              <a:rPr lang="ru-RU" b="1" dirty="0" err="1"/>
              <a:t>межпроцессного</a:t>
            </a:r>
            <a:r>
              <a:rPr lang="ru-RU" b="1" dirty="0"/>
              <a:t> взаимодействия (IPC)</a:t>
            </a:r>
            <a:endParaRPr lang="ru-RU" dirty="0"/>
          </a:p>
          <a:p>
            <a:r>
              <a:rPr lang="ru-RU" dirty="0"/>
              <a:t>Базовый механизм для </a:t>
            </a:r>
            <a:r>
              <a:rPr lang="ru-RU" b="1" dirty="0" err="1"/>
              <a:t>shared</a:t>
            </a:r>
            <a:r>
              <a:rPr lang="ru-RU" b="1" dirty="0"/>
              <a:t> </a:t>
            </a:r>
            <a:r>
              <a:rPr lang="ru-RU" b="1" dirty="0" err="1"/>
              <a:t>libraries</a:t>
            </a:r>
            <a:endParaRPr lang="ru-RU" dirty="0"/>
          </a:p>
        </p:txBody>
      </p:sp>
    </p:spTree>
    <p:extLst>
      <p:ext uri="{BB962C8B-B14F-4D97-AF65-F5344CB8AC3E}">
        <p14:creationId xmlns:p14="http://schemas.microsoft.com/office/powerpoint/2010/main" val="439101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595B28-2BEB-BD96-30B1-30B29603E9CA}"/>
              </a:ext>
            </a:extLst>
          </p:cNvPr>
          <p:cNvSpPr>
            <a:spLocks noGrp="1"/>
          </p:cNvSpPr>
          <p:nvPr>
            <p:ph type="title"/>
          </p:nvPr>
        </p:nvSpPr>
        <p:spPr/>
        <p:txBody>
          <a:bodyPr/>
          <a:lstStyle/>
          <a:p>
            <a:r>
              <a:rPr lang="ru-RU" dirty="0"/>
              <a:t>Практические вопросы реализации виртуальной памяти</a:t>
            </a:r>
            <a:endParaRPr lang="en-US" dirty="0"/>
          </a:p>
        </p:txBody>
      </p:sp>
      <p:sp>
        <p:nvSpPr>
          <p:cNvPr id="5" name="Text Placeholder 4">
            <a:extLst>
              <a:ext uri="{FF2B5EF4-FFF2-40B4-BE49-F238E27FC236}">
                <a16:creationId xmlns:a16="http://schemas.microsoft.com/office/drawing/2014/main" id="{0D1BBDBA-2D25-55BD-4DBC-DD8B7FADC6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34473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9B37B-FBAE-FC1B-9B12-187972AC9852}"/>
              </a:ext>
            </a:extLst>
          </p:cNvPr>
          <p:cNvSpPr>
            <a:spLocks noGrp="1"/>
          </p:cNvSpPr>
          <p:nvPr>
            <p:ph type="title"/>
          </p:nvPr>
        </p:nvSpPr>
        <p:spPr/>
        <p:txBody>
          <a:bodyPr/>
          <a:lstStyle/>
          <a:p>
            <a:r>
              <a:rPr lang="ru-RU" dirty="0"/>
              <a:t>Реализация виртуальной памяти</a:t>
            </a:r>
            <a:endParaRPr lang="en-US" dirty="0"/>
          </a:p>
        </p:txBody>
      </p:sp>
      <p:sp>
        <p:nvSpPr>
          <p:cNvPr id="5" name="Content Placeholder 4">
            <a:extLst>
              <a:ext uri="{FF2B5EF4-FFF2-40B4-BE49-F238E27FC236}">
                <a16:creationId xmlns:a16="http://schemas.microsoft.com/office/drawing/2014/main" id="{613D9603-B756-9E88-10D5-EFBE9064AEEE}"/>
              </a:ext>
            </a:extLst>
          </p:cNvPr>
          <p:cNvSpPr>
            <a:spLocks noGrp="1"/>
          </p:cNvSpPr>
          <p:nvPr>
            <p:ph idx="1"/>
          </p:nvPr>
        </p:nvSpPr>
        <p:spPr/>
        <p:txBody>
          <a:bodyPr/>
          <a:lstStyle/>
          <a:p>
            <a:r>
              <a:rPr lang="ru-RU" dirty="0"/>
              <a:t>Выбор теоретических алгоритмов — лишь часть задачи</a:t>
            </a:r>
          </a:p>
          <a:p>
            <a:r>
              <a:rPr lang="ru-RU" dirty="0"/>
              <a:t>Практические аспекты:</a:t>
            </a:r>
          </a:p>
          <a:p>
            <a:pPr lvl="1"/>
            <a:r>
              <a:rPr lang="ru-RU" dirty="0"/>
              <a:t>Управление таблицами страниц</a:t>
            </a:r>
          </a:p>
          <a:p>
            <a:pPr lvl="1"/>
            <a:r>
              <a:rPr lang="ru-RU" dirty="0"/>
              <a:t>Работа со </a:t>
            </a:r>
            <a:r>
              <a:rPr lang="ru-RU" dirty="0" err="1"/>
              <a:t>swap</a:t>
            </a:r>
            <a:endParaRPr lang="ru-RU" dirty="0"/>
          </a:p>
          <a:p>
            <a:pPr lvl="1"/>
            <a:r>
              <a:rPr lang="ru-RU" dirty="0"/>
              <a:t>Взаимодействие ОС и аппаратуры</a:t>
            </a:r>
          </a:p>
          <a:p>
            <a:r>
              <a:rPr lang="ru-RU" dirty="0"/>
              <a:t>ОС участвует в подкачке на всех этапах жизни процесса</a:t>
            </a:r>
          </a:p>
        </p:txBody>
      </p:sp>
    </p:spTree>
    <p:extLst>
      <p:ext uri="{BB962C8B-B14F-4D97-AF65-F5344CB8AC3E}">
        <p14:creationId xmlns:p14="http://schemas.microsoft.com/office/powerpoint/2010/main" val="403527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EF687-C13C-E7F4-AA48-861DFA547E47}"/>
              </a:ext>
            </a:extLst>
          </p:cNvPr>
          <p:cNvSpPr>
            <a:spLocks noGrp="1"/>
          </p:cNvSpPr>
          <p:nvPr>
            <p:ph type="title"/>
          </p:nvPr>
        </p:nvSpPr>
        <p:spPr/>
        <p:txBody>
          <a:bodyPr/>
          <a:lstStyle/>
          <a:p>
            <a:r>
              <a:rPr lang="ru-RU" dirty="0"/>
              <a:t>Этап 1 — Создание процесса</a:t>
            </a:r>
            <a:endParaRPr lang="en-US" dirty="0"/>
          </a:p>
        </p:txBody>
      </p:sp>
      <p:sp>
        <p:nvSpPr>
          <p:cNvPr id="3" name="Content Placeholder 2">
            <a:extLst>
              <a:ext uri="{FF2B5EF4-FFF2-40B4-BE49-F238E27FC236}">
                <a16:creationId xmlns:a16="http://schemas.microsoft.com/office/drawing/2014/main" id="{4025E93F-B91D-766B-7AB3-FB9A04D907CE}"/>
              </a:ext>
            </a:extLst>
          </p:cNvPr>
          <p:cNvSpPr>
            <a:spLocks noGrp="1"/>
          </p:cNvSpPr>
          <p:nvPr>
            <p:ph idx="1"/>
          </p:nvPr>
        </p:nvSpPr>
        <p:spPr/>
        <p:txBody>
          <a:bodyPr/>
          <a:lstStyle/>
          <a:p>
            <a:r>
              <a:rPr lang="ru-RU" dirty="0"/>
              <a:t>Определение размеров программы и данных</a:t>
            </a:r>
          </a:p>
          <a:p>
            <a:r>
              <a:rPr lang="ru-RU" dirty="0"/>
              <a:t>Создание и инициализация таблицы страниц</a:t>
            </a:r>
          </a:p>
          <a:p>
            <a:r>
              <a:rPr lang="ru-RU" dirty="0"/>
              <a:t>Выделение места в памяти и </a:t>
            </a:r>
            <a:r>
              <a:rPr lang="ru-RU" dirty="0" err="1"/>
              <a:t>swap</a:t>
            </a:r>
            <a:endParaRPr lang="ru-RU" dirty="0"/>
          </a:p>
          <a:p>
            <a:r>
              <a:rPr lang="ru-RU" dirty="0"/>
              <a:t>Инициализация содержимого программы на диске</a:t>
            </a:r>
          </a:p>
          <a:p>
            <a:r>
              <a:rPr lang="ru-RU" dirty="0"/>
              <a:t>Возможна подкачка кода прямо из исполняемого файла</a:t>
            </a:r>
          </a:p>
          <a:p>
            <a:r>
              <a:rPr lang="ru-RU" dirty="0"/>
              <a:t>Запись информации в таблицу процессов</a:t>
            </a:r>
          </a:p>
          <a:p>
            <a:endParaRPr lang="en-US" dirty="0"/>
          </a:p>
        </p:txBody>
      </p:sp>
    </p:spTree>
    <p:extLst>
      <p:ext uri="{BB962C8B-B14F-4D97-AF65-F5344CB8AC3E}">
        <p14:creationId xmlns:p14="http://schemas.microsoft.com/office/powerpoint/2010/main" val="17258765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E9EE5-26EF-F684-2D99-2608B1513306}"/>
              </a:ext>
            </a:extLst>
          </p:cNvPr>
          <p:cNvSpPr>
            <a:spLocks noGrp="1"/>
          </p:cNvSpPr>
          <p:nvPr>
            <p:ph type="title"/>
          </p:nvPr>
        </p:nvSpPr>
        <p:spPr/>
        <p:txBody>
          <a:bodyPr/>
          <a:lstStyle/>
          <a:p>
            <a:r>
              <a:rPr lang="ru-RU" dirty="0"/>
              <a:t>Этап 2 — Запуск процесса</a:t>
            </a:r>
            <a:endParaRPr lang="en-US" dirty="0"/>
          </a:p>
        </p:txBody>
      </p:sp>
      <p:sp>
        <p:nvSpPr>
          <p:cNvPr id="3" name="Content Placeholder 2">
            <a:extLst>
              <a:ext uri="{FF2B5EF4-FFF2-40B4-BE49-F238E27FC236}">
                <a16:creationId xmlns:a16="http://schemas.microsoft.com/office/drawing/2014/main" id="{A985BD13-C69E-8CCB-25B8-A7767311F615}"/>
              </a:ext>
            </a:extLst>
          </p:cNvPr>
          <p:cNvSpPr>
            <a:spLocks noGrp="1"/>
          </p:cNvSpPr>
          <p:nvPr>
            <p:ph idx="1"/>
          </p:nvPr>
        </p:nvSpPr>
        <p:spPr/>
        <p:txBody>
          <a:bodyPr/>
          <a:lstStyle/>
          <a:p>
            <a:r>
              <a:rPr lang="ru-RU" dirty="0"/>
              <a:t>Перенастройка </a:t>
            </a:r>
            <a:r>
              <a:rPr lang="ru-RU" b="1" dirty="0"/>
              <a:t>MMU</a:t>
            </a:r>
            <a:r>
              <a:rPr lang="ru-RU" dirty="0"/>
              <a:t> на новый процесс</a:t>
            </a:r>
          </a:p>
          <a:p>
            <a:r>
              <a:rPr lang="ru-RU" dirty="0"/>
              <a:t>Загрузка указателя на таблицу страниц в регистры</a:t>
            </a:r>
          </a:p>
          <a:p>
            <a:r>
              <a:rPr lang="ru-RU" dirty="0"/>
              <a:t>Очистка </a:t>
            </a:r>
            <a:r>
              <a:rPr lang="ru-RU" b="1" dirty="0"/>
              <a:t>TLB</a:t>
            </a:r>
            <a:r>
              <a:rPr lang="ru-RU" dirty="0"/>
              <a:t> (если нет тэгов процессов)</a:t>
            </a:r>
          </a:p>
          <a:p>
            <a:r>
              <a:rPr lang="ru-RU" dirty="0"/>
              <a:t>Возможна предварительная загрузка (</a:t>
            </a:r>
            <a:r>
              <a:rPr lang="ru-RU" dirty="0" err="1"/>
              <a:t>prepaging</a:t>
            </a:r>
            <a:r>
              <a:rPr lang="ru-RU" dirty="0"/>
              <a:t>) нескольких страниц</a:t>
            </a:r>
          </a:p>
          <a:p>
            <a:endParaRPr lang="en-US" dirty="0"/>
          </a:p>
        </p:txBody>
      </p:sp>
    </p:spTree>
    <p:extLst>
      <p:ext uri="{BB962C8B-B14F-4D97-AF65-F5344CB8AC3E}">
        <p14:creationId xmlns:p14="http://schemas.microsoft.com/office/powerpoint/2010/main" val="3504486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160D-2DDF-26C6-A301-A6D07DECAFA2}"/>
              </a:ext>
            </a:extLst>
          </p:cNvPr>
          <p:cNvSpPr>
            <a:spLocks noGrp="1"/>
          </p:cNvSpPr>
          <p:nvPr>
            <p:ph type="title"/>
          </p:nvPr>
        </p:nvSpPr>
        <p:spPr/>
        <p:txBody>
          <a:bodyPr/>
          <a:lstStyle/>
          <a:p>
            <a:r>
              <a:rPr lang="ru-RU" dirty="0"/>
              <a:t>Этап 3 — Ошибка страницы (Page </a:t>
            </a:r>
            <a:r>
              <a:rPr lang="ru-RU" dirty="0" err="1"/>
              <a:t>Fault</a:t>
            </a:r>
            <a:r>
              <a:rPr lang="ru-RU" dirty="0"/>
              <a:t>)</a:t>
            </a:r>
            <a:endParaRPr lang="en-US" dirty="0"/>
          </a:p>
        </p:txBody>
      </p:sp>
      <p:sp>
        <p:nvSpPr>
          <p:cNvPr id="3" name="Content Placeholder 2">
            <a:extLst>
              <a:ext uri="{FF2B5EF4-FFF2-40B4-BE49-F238E27FC236}">
                <a16:creationId xmlns:a16="http://schemas.microsoft.com/office/drawing/2014/main" id="{E8D2A42A-3EA9-14E4-A6D7-6A95236A2F59}"/>
              </a:ext>
            </a:extLst>
          </p:cNvPr>
          <p:cNvSpPr>
            <a:spLocks noGrp="1"/>
          </p:cNvSpPr>
          <p:nvPr>
            <p:ph idx="1"/>
          </p:nvPr>
        </p:nvSpPr>
        <p:spPr/>
        <p:txBody>
          <a:bodyPr/>
          <a:lstStyle/>
          <a:p>
            <a:r>
              <a:rPr lang="ru-RU" dirty="0"/>
              <a:t>Определение адреса, вызвавшего </a:t>
            </a:r>
            <a:r>
              <a:rPr lang="ru-RU" dirty="0" err="1"/>
              <a:t>fault</a:t>
            </a:r>
            <a:endParaRPr lang="ru-RU" dirty="0"/>
          </a:p>
          <a:p>
            <a:r>
              <a:rPr lang="ru-RU" dirty="0"/>
              <a:t>Поиск нужной страницы на диске</a:t>
            </a:r>
          </a:p>
          <a:p>
            <a:r>
              <a:rPr lang="ru-RU" dirty="0"/>
              <a:t>Поиск/вытеснение кадра страницы</a:t>
            </a:r>
          </a:p>
          <a:p>
            <a:r>
              <a:rPr lang="ru-RU" dirty="0"/>
              <a:t>Загрузка страницы в память</a:t>
            </a:r>
          </a:p>
          <a:p>
            <a:r>
              <a:rPr lang="ru-RU" dirty="0"/>
              <a:t>Обновление таблицы страниц</a:t>
            </a:r>
          </a:p>
          <a:p>
            <a:r>
              <a:rPr lang="ru-RU" dirty="0"/>
              <a:t>Повтор инструкции, вызвавшей </a:t>
            </a:r>
            <a:r>
              <a:rPr lang="ru-RU" dirty="0" err="1"/>
              <a:t>fault</a:t>
            </a:r>
            <a:endParaRPr lang="ru-RU" dirty="0"/>
          </a:p>
        </p:txBody>
      </p:sp>
    </p:spTree>
    <p:extLst>
      <p:ext uri="{BB962C8B-B14F-4D97-AF65-F5344CB8AC3E}">
        <p14:creationId xmlns:p14="http://schemas.microsoft.com/office/powerpoint/2010/main" val="3758974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26109-9CD3-BD4D-83FA-D5471C84B024}"/>
              </a:ext>
            </a:extLst>
          </p:cNvPr>
          <p:cNvSpPr>
            <a:spLocks noGrp="1"/>
          </p:cNvSpPr>
          <p:nvPr>
            <p:ph type="title"/>
          </p:nvPr>
        </p:nvSpPr>
        <p:spPr/>
        <p:txBody>
          <a:bodyPr/>
          <a:lstStyle/>
          <a:p>
            <a:r>
              <a:rPr lang="ru-RU" dirty="0"/>
              <a:t>Этап 4 — Завершение процесса</a:t>
            </a:r>
            <a:endParaRPr lang="en-US" dirty="0"/>
          </a:p>
        </p:txBody>
      </p:sp>
      <p:sp>
        <p:nvSpPr>
          <p:cNvPr id="3" name="Content Placeholder 2">
            <a:extLst>
              <a:ext uri="{FF2B5EF4-FFF2-40B4-BE49-F238E27FC236}">
                <a16:creationId xmlns:a16="http://schemas.microsoft.com/office/drawing/2014/main" id="{BCAE9072-E6FB-FBA7-A18A-99DA63DE52D4}"/>
              </a:ext>
            </a:extLst>
          </p:cNvPr>
          <p:cNvSpPr>
            <a:spLocks noGrp="1"/>
          </p:cNvSpPr>
          <p:nvPr>
            <p:ph idx="1"/>
          </p:nvPr>
        </p:nvSpPr>
        <p:spPr/>
        <p:txBody>
          <a:bodyPr/>
          <a:lstStyle/>
          <a:p>
            <a:r>
              <a:rPr lang="ru-RU" dirty="0"/>
              <a:t>Освобождение таблицы страниц</a:t>
            </a:r>
          </a:p>
          <a:p>
            <a:r>
              <a:rPr lang="ru-RU" dirty="0"/>
              <a:t>Освобождение кадров памяти и места в </a:t>
            </a:r>
            <a:r>
              <a:rPr lang="ru-RU" dirty="0" err="1"/>
              <a:t>swap</a:t>
            </a:r>
            <a:endParaRPr lang="ru-RU" dirty="0"/>
          </a:p>
          <a:p>
            <a:r>
              <a:rPr lang="ru-RU" dirty="0"/>
              <a:t>Проверка на </a:t>
            </a:r>
            <a:r>
              <a:rPr lang="ru-RU" b="1" dirty="0"/>
              <a:t>совместно используемые страницы</a:t>
            </a:r>
            <a:endParaRPr lang="ru-RU" dirty="0"/>
          </a:p>
          <a:p>
            <a:r>
              <a:rPr lang="ru-RU" dirty="0"/>
              <a:t>Удаление страниц только после завершения всех связанных процессов</a:t>
            </a:r>
          </a:p>
          <a:p>
            <a:endParaRPr lang="en-US" dirty="0"/>
          </a:p>
        </p:txBody>
      </p:sp>
    </p:spTree>
    <p:extLst>
      <p:ext uri="{BB962C8B-B14F-4D97-AF65-F5344CB8AC3E}">
        <p14:creationId xmlns:p14="http://schemas.microsoft.com/office/powerpoint/2010/main" val="1837800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1C1C6-28F4-D8BC-3CC3-C210BC7EEDEF}"/>
              </a:ext>
            </a:extLst>
          </p:cNvPr>
          <p:cNvSpPr>
            <a:spLocks noGrp="1"/>
          </p:cNvSpPr>
          <p:nvPr>
            <p:ph type="title"/>
          </p:nvPr>
        </p:nvSpPr>
        <p:spPr/>
        <p:txBody>
          <a:bodyPr/>
          <a:lstStyle/>
          <a:p>
            <a:r>
              <a:rPr lang="ru-RU" dirty="0"/>
              <a:t>Обработка ошибок страниц</a:t>
            </a:r>
            <a:endParaRPr lang="en-US" dirty="0"/>
          </a:p>
        </p:txBody>
      </p:sp>
      <p:sp>
        <p:nvSpPr>
          <p:cNvPr id="4" name="Text Placeholder 3">
            <a:extLst>
              <a:ext uri="{FF2B5EF4-FFF2-40B4-BE49-F238E27FC236}">
                <a16:creationId xmlns:a16="http://schemas.microsoft.com/office/drawing/2014/main" id="{F01A0D29-1DE6-61A4-8C67-510A19E16C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6090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41EC59-C854-FE3B-ED44-CB43A821B2A2}"/>
              </a:ext>
            </a:extLst>
          </p:cNvPr>
          <p:cNvSpPr>
            <a:spLocks noGrp="1"/>
          </p:cNvSpPr>
          <p:nvPr>
            <p:ph type="title"/>
          </p:nvPr>
        </p:nvSpPr>
        <p:spPr/>
        <p:txBody>
          <a:bodyPr/>
          <a:lstStyle/>
          <a:p>
            <a:r>
              <a:rPr lang="ru-RU" dirty="0"/>
              <a:t>Что такое </a:t>
            </a:r>
            <a:r>
              <a:rPr lang="en-US" dirty="0"/>
              <a:t>Page Fault</a:t>
            </a:r>
          </a:p>
        </p:txBody>
      </p:sp>
      <p:sp>
        <p:nvSpPr>
          <p:cNvPr id="5" name="Content Placeholder 4">
            <a:extLst>
              <a:ext uri="{FF2B5EF4-FFF2-40B4-BE49-F238E27FC236}">
                <a16:creationId xmlns:a16="http://schemas.microsoft.com/office/drawing/2014/main" id="{BD8C2395-C001-F625-F124-9BEA3AD15706}"/>
              </a:ext>
            </a:extLst>
          </p:cNvPr>
          <p:cNvSpPr>
            <a:spLocks noGrp="1"/>
          </p:cNvSpPr>
          <p:nvPr>
            <p:ph idx="1"/>
          </p:nvPr>
        </p:nvSpPr>
        <p:spPr/>
        <p:txBody>
          <a:bodyPr/>
          <a:lstStyle/>
          <a:p>
            <a:r>
              <a:rPr lang="ru-RU" dirty="0"/>
              <a:t>Возникает при обращении к странице, отсутствующей в памяти</a:t>
            </a:r>
          </a:p>
          <a:p>
            <a:r>
              <a:rPr lang="ru-RU" dirty="0"/>
              <a:t>ОС временно приостанавливает процесс</a:t>
            </a:r>
          </a:p>
          <a:p>
            <a:r>
              <a:rPr lang="ru-RU" dirty="0"/>
              <a:t>Загружает страницу с диска</a:t>
            </a:r>
          </a:p>
          <a:p>
            <a:r>
              <a:rPr lang="ru-RU" dirty="0"/>
              <a:t>Возобновляет выполнение той же инструкции</a:t>
            </a:r>
          </a:p>
        </p:txBody>
      </p:sp>
    </p:spTree>
    <p:extLst>
      <p:ext uri="{BB962C8B-B14F-4D97-AF65-F5344CB8AC3E}">
        <p14:creationId xmlns:p14="http://schemas.microsoft.com/office/powerpoint/2010/main" val="3631687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B055-5529-B88D-7553-6DF6102C6080}"/>
              </a:ext>
            </a:extLst>
          </p:cNvPr>
          <p:cNvSpPr>
            <a:spLocks noGrp="1"/>
          </p:cNvSpPr>
          <p:nvPr>
            <p:ph type="title"/>
          </p:nvPr>
        </p:nvSpPr>
        <p:spPr/>
        <p:txBody>
          <a:bodyPr/>
          <a:lstStyle/>
          <a:p>
            <a:r>
              <a:rPr lang="ru-RU" dirty="0"/>
              <a:t>Этапы обработки ошибки страниц (1-3)</a:t>
            </a:r>
            <a:endParaRPr lang="en-US" dirty="0"/>
          </a:p>
        </p:txBody>
      </p:sp>
      <p:sp>
        <p:nvSpPr>
          <p:cNvPr id="3" name="Content Placeholder 2">
            <a:extLst>
              <a:ext uri="{FF2B5EF4-FFF2-40B4-BE49-F238E27FC236}">
                <a16:creationId xmlns:a16="http://schemas.microsoft.com/office/drawing/2014/main" id="{5F652372-819F-C0DD-73F2-F70352AE5BB1}"/>
              </a:ext>
            </a:extLst>
          </p:cNvPr>
          <p:cNvSpPr>
            <a:spLocks noGrp="1"/>
          </p:cNvSpPr>
          <p:nvPr>
            <p:ph idx="1"/>
          </p:nvPr>
        </p:nvSpPr>
        <p:spPr/>
        <p:txBody>
          <a:bodyPr/>
          <a:lstStyle/>
          <a:p>
            <a:r>
              <a:rPr lang="ru-RU" b="1" dirty="0"/>
              <a:t>Аппаратная ловушка</a:t>
            </a:r>
            <a:r>
              <a:rPr lang="ru-RU" dirty="0"/>
              <a:t> — переход в режим ядра, сохранение контекста</a:t>
            </a:r>
          </a:p>
          <a:p>
            <a:r>
              <a:rPr lang="ru-RU" b="1" dirty="0"/>
              <a:t>Сохранение регистров</a:t>
            </a:r>
            <a:r>
              <a:rPr lang="ru-RU" dirty="0"/>
              <a:t> — запуск обработчика прерывания</a:t>
            </a:r>
          </a:p>
          <a:p>
            <a:r>
              <a:rPr lang="ru-RU" b="1" dirty="0"/>
              <a:t>Определение виртуального адреса</a:t>
            </a:r>
            <a:r>
              <a:rPr lang="ru-RU" dirty="0"/>
              <a:t> — чтение из регистра MMU или анализ инструкции</a:t>
            </a:r>
          </a:p>
        </p:txBody>
      </p:sp>
    </p:spTree>
    <p:extLst>
      <p:ext uri="{BB962C8B-B14F-4D97-AF65-F5344CB8AC3E}">
        <p14:creationId xmlns:p14="http://schemas.microsoft.com/office/powerpoint/2010/main" val="27701474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B73B-F6B2-0661-66FC-A7583AF0C187}"/>
              </a:ext>
            </a:extLst>
          </p:cNvPr>
          <p:cNvSpPr>
            <a:spLocks noGrp="1"/>
          </p:cNvSpPr>
          <p:nvPr>
            <p:ph type="title"/>
          </p:nvPr>
        </p:nvSpPr>
        <p:spPr/>
        <p:txBody>
          <a:bodyPr/>
          <a:lstStyle/>
          <a:p>
            <a:r>
              <a:rPr lang="ru-RU" dirty="0"/>
              <a:t>Этапы обработки (4-6)</a:t>
            </a:r>
            <a:endParaRPr lang="en-US" dirty="0"/>
          </a:p>
        </p:txBody>
      </p:sp>
      <p:sp>
        <p:nvSpPr>
          <p:cNvPr id="3" name="Content Placeholder 2">
            <a:extLst>
              <a:ext uri="{FF2B5EF4-FFF2-40B4-BE49-F238E27FC236}">
                <a16:creationId xmlns:a16="http://schemas.microsoft.com/office/drawing/2014/main" id="{74125AD0-AAE7-3D49-636D-32738F6A5376}"/>
              </a:ext>
            </a:extLst>
          </p:cNvPr>
          <p:cNvSpPr>
            <a:spLocks noGrp="1"/>
          </p:cNvSpPr>
          <p:nvPr>
            <p:ph idx="1"/>
          </p:nvPr>
        </p:nvSpPr>
        <p:spPr/>
        <p:txBody>
          <a:bodyPr/>
          <a:lstStyle/>
          <a:p>
            <a:r>
              <a:rPr lang="ru-RU" b="1" dirty="0"/>
              <a:t>Проверка адреса</a:t>
            </a:r>
            <a:r>
              <a:rPr lang="ru-RU" dirty="0"/>
              <a:t> — допустимость и права доступа</a:t>
            </a:r>
          </a:p>
          <a:p>
            <a:pPr lvl="1"/>
            <a:r>
              <a:rPr lang="ru-RU" dirty="0"/>
              <a:t>Недопустимый адрес → завершение процесса</a:t>
            </a:r>
          </a:p>
          <a:p>
            <a:pPr lvl="1"/>
            <a:r>
              <a:rPr lang="ru-RU" dirty="0"/>
              <a:t>Допустимый адрес → поиск свободного кадра</a:t>
            </a:r>
          </a:p>
          <a:p>
            <a:r>
              <a:rPr lang="ru-RU" b="1" dirty="0"/>
              <a:t>Запись “грязной” страницы</a:t>
            </a:r>
            <a:r>
              <a:rPr lang="ru-RU" dirty="0"/>
              <a:t> — выгрузка на диск, приостановка процесса</a:t>
            </a:r>
          </a:p>
          <a:p>
            <a:r>
              <a:rPr lang="ru-RU" b="1" dirty="0"/>
              <a:t>Загрузка новой страницы</a:t>
            </a:r>
            <a:r>
              <a:rPr lang="ru-RU" dirty="0"/>
              <a:t> — чтение с диска в память, ожидание завершения</a:t>
            </a:r>
          </a:p>
          <a:p>
            <a:endParaRPr lang="en-US" dirty="0"/>
          </a:p>
        </p:txBody>
      </p:sp>
    </p:spTree>
    <p:extLst>
      <p:ext uri="{BB962C8B-B14F-4D97-AF65-F5344CB8AC3E}">
        <p14:creationId xmlns:p14="http://schemas.microsoft.com/office/powerpoint/2010/main" val="2894693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00A8-26A5-9E61-93C2-58318DA368F2}"/>
              </a:ext>
            </a:extLst>
          </p:cNvPr>
          <p:cNvSpPr>
            <a:spLocks noGrp="1"/>
          </p:cNvSpPr>
          <p:nvPr>
            <p:ph type="title"/>
          </p:nvPr>
        </p:nvSpPr>
        <p:spPr/>
        <p:txBody>
          <a:bodyPr/>
          <a:lstStyle/>
          <a:p>
            <a:r>
              <a:rPr lang="ru-RU" dirty="0"/>
              <a:t>Этапы обработки (7–10)</a:t>
            </a:r>
            <a:endParaRPr lang="en-US" dirty="0"/>
          </a:p>
        </p:txBody>
      </p:sp>
      <p:sp>
        <p:nvSpPr>
          <p:cNvPr id="3" name="Content Placeholder 2">
            <a:extLst>
              <a:ext uri="{FF2B5EF4-FFF2-40B4-BE49-F238E27FC236}">
                <a16:creationId xmlns:a16="http://schemas.microsoft.com/office/drawing/2014/main" id="{49CB899C-EB4F-0162-7F2D-C4B044939D1A}"/>
              </a:ext>
            </a:extLst>
          </p:cNvPr>
          <p:cNvSpPr>
            <a:spLocks noGrp="1"/>
          </p:cNvSpPr>
          <p:nvPr>
            <p:ph idx="1"/>
          </p:nvPr>
        </p:nvSpPr>
        <p:spPr/>
        <p:txBody>
          <a:bodyPr/>
          <a:lstStyle/>
          <a:p>
            <a:r>
              <a:rPr lang="ru-RU" b="1" dirty="0"/>
              <a:t>Обновление таблицы страниц</a:t>
            </a:r>
            <a:r>
              <a:rPr lang="ru-RU" dirty="0"/>
              <a:t> — страница помечается как активная</a:t>
            </a:r>
          </a:p>
          <a:p>
            <a:r>
              <a:rPr lang="ru-RU" b="1" dirty="0"/>
              <a:t>Восстановление инструкции</a:t>
            </a:r>
            <a:r>
              <a:rPr lang="ru-RU" dirty="0"/>
              <a:t> — возврат к моменту </a:t>
            </a:r>
            <a:r>
              <a:rPr lang="ru-RU" dirty="0" err="1"/>
              <a:t>fault</a:t>
            </a:r>
            <a:endParaRPr lang="ru-RU" dirty="0"/>
          </a:p>
          <a:p>
            <a:r>
              <a:rPr lang="ru-RU" b="1" dirty="0"/>
              <a:t>Планирование процесса</a:t>
            </a:r>
            <a:r>
              <a:rPr lang="ru-RU" dirty="0"/>
              <a:t> — возобновление выполнения</a:t>
            </a:r>
          </a:p>
          <a:p>
            <a:r>
              <a:rPr lang="ru-RU" b="1" dirty="0"/>
              <a:t>Возврат в </a:t>
            </a:r>
            <a:r>
              <a:rPr lang="ru-RU" b="1" dirty="0" err="1"/>
              <a:t>user</a:t>
            </a:r>
            <a:r>
              <a:rPr lang="ru-RU" b="1" dirty="0"/>
              <a:t> </a:t>
            </a:r>
            <a:r>
              <a:rPr lang="ru-RU" b="1" dirty="0" err="1"/>
              <a:t>mode</a:t>
            </a:r>
            <a:r>
              <a:rPr lang="ru-RU" dirty="0"/>
              <a:t> — восстановление регистров, продолжение программы</a:t>
            </a:r>
          </a:p>
          <a:p>
            <a:endParaRPr lang="en-US" dirty="0"/>
          </a:p>
        </p:txBody>
      </p:sp>
    </p:spTree>
    <p:extLst>
      <p:ext uri="{BB962C8B-B14F-4D97-AF65-F5344CB8AC3E}">
        <p14:creationId xmlns:p14="http://schemas.microsoft.com/office/powerpoint/2010/main" val="13240245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0D86-05CF-6848-335C-2B6CBDC5701B}"/>
              </a:ext>
            </a:extLst>
          </p:cNvPr>
          <p:cNvSpPr>
            <a:spLocks noGrp="1"/>
          </p:cNvSpPr>
          <p:nvPr>
            <p:ph type="title"/>
          </p:nvPr>
        </p:nvSpPr>
        <p:spPr/>
        <p:txBody>
          <a:bodyPr/>
          <a:lstStyle/>
          <a:p>
            <a:r>
              <a:rPr lang="ru-RU" dirty="0"/>
              <a:t>Итого процесса</a:t>
            </a:r>
            <a:endParaRPr lang="en-US" dirty="0"/>
          </a:p>
        </p:txBody>
      </p:sp>
      <p:sp>
        <p:nvSpPr>
          <p:cNvPr id="3" name="Content Placeholder 2">
            <a:extLst>
              <a:ext uri="{FF2B5EF4-FFF2-40B4-BE49-F238E27FC236}">
                <a16:creationId xmlns:a16="http://schemas.microsoft.com/office/drawing/2014/main" id="{7D1EBBB7-F6B6-D040-0CEB-2AEAC575BAE3}"/>
              </a:ext>
            </a:extLst>
          </p:cNvPr>
          <p:cNvSpPr>
            <a:spLocks noGrp="1"/>
          </p:cNvSpPr>
          <p:nvPr>
            <p:ph idx="1"/>
          </p:nvPr>
        </p:nvSpPr>
        <p:spPr/>
        <p:txBody>
          <a:bodyPr/>
          <a:lstStyle/>
          <a:p>
            <a:r>
              <a:rPr lang="ru-RU" dirty="0"/>
              <a:t>Page </a:t>
            </a:r>
            <a:r>
              <a:rPr lang="ru-RU" dirty="0" err="1"/>
              <a:t>fault</a:t>
            </a:r>
            <a:r>
              <a:rPr lang="ru-RU" dirty="0"/>
              <a:t> = контролируемое прерывание</a:t>
            </a:r>
          </a:p>
          <a:p>
            <a:r>
              <a:rPr lang="ru-RU" dirty="0"/>
              <a:t>ОС координирует работу CPU, MMU, диска и памяти</a:t>
            </a:r>
          </a:p>
          <a:p>
            <a:r>
              <a:rPr lang="ru-RU" dirty="0"/>
              <a:t>Процесс не замечает подкачки (прозрачность)</a:t>
            </a:r>
          </a:p>
          <a:p>
            <a:r>
              <a:rPr lang="ru-RU" dirty="0"/>
              <a:t>Надёжность и изоляция памяти между процессами сохраняются</a:t>
            </a:r>
          </a:p>
          <a:p>
            <a:endParaRPr lang="en-US" dirty="0"/>
          </a:p>
        </p:txBody>
      </p:sp>
    </p:spTree>
    <p:extLst>
      <p:ext uri="{BB962C8B-B14F-4D97-AF65-F5344CB8AC3E}">
        <p14:creationId xmlns:p14="http://schemas.microsoft.com/office/powerpoint/2010/main" val="26449997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C3B953-63BA-D5D4-681C-ADF8B08EF180}"/>
              </a:ext>
            </a:extLst>
          </p:cNvPr>
          <p:cNvSpPr>
            <a:spLocks noGrp="1"/>
          </p:cNvSpPr>
          <p:nvPr>
            <p:ph type="title"/>
          </p:nvPr>
        </p:nvSpPr>
        <p:spPr/>
        <p:txBody>
          <a:bodyPr/>
          <a:lstStyle/>
          <a:p>
            <a:r>
              <a:rPr lang="ru-RU" dirty="0"/>
              <a:t>Возобновление выполнения инструкции</a:t>
            </a:r>
            <a:endParaRPr lang="en-US" dirty="0"/>
          </a:p>
        </p:txBody>
      </p:sp>
      <p:sp>
        <p:nvSpPr>
          <p:cNvPr id="5" name="Text Placeholder 4">
            <a:extLst>
              <a:ext uri="{FF2B5EF4-FFF2-40B4-BE49-F238E27FC236}">
                <a16:creationId xmlns:a16="http://schemas.microsoft.com/office/drawing/2014/main" id="{2C769553-D5F0-0723-13FB-6C8D694240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344265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2E197-C18A-2E9B-37B2-8E3E39819AE9}"/>
              </a:ext>
            </a:extLst>
          </p:cNvPr>
          <p:cNvSpPr>
            <a:spLocks noGrp="1"/>
          </p:cNvSpPr>
          <p:nvPr>
            <p:ph type="title"/>
          </p:nvPr>
        </p:nvSpPr>
        <p:spPr/>
        <p:txBody>
          <a:bodyPr/>
          <a:lstStyle/>
          <a:p>
            <a:r>
              <a:rPr lang="ru-RU" dirty="0"/>
              <a:t>Проблема возобновления выполнения инструкции</a:t>
            </a:r>
            <a:endParaRPr lang="en-US" dirty="0"/>
          </a:p>
        </p:txBody>
      </p:sp>
      <p:sp>
        <p:nvSpPr>
          <p:cNvPr id="5" name="Content Placeholder 4">
            <a:extLst>
              <a:ext uri="{FF2B5EF4-FFF2-40B4-BE49-F238E27FC236}">
                <a16:creationId xmlns:a16="http://schemas.microsoft.com/office/drawing/2014/main" id="{D6B6C88B-331E-476A-23D0-FBB9407527E7}"/>
              </a:ext>
            </a:extLst>
          </p:cNvPr>
          <p:cNvSpPr>
            <a:spLocks noGrp="1"/>
          </p:cNvSpPr>
          <p:nvPr>
            <p:ph idx="1"/>
          </p:nvPr>
        </p:nvSpPr>
        <p:spPr/>
        <p:txBody>
          <a:bodyPr/>
          <a:lstStyle/>
          <a:p>
            <a:r>
              <a:rPr lang="ru-RU" dirty="0"/>
              <a:t>При ошибке страницы инструкция прерывается посередине</a:t>
            </a:r>
          </a:p>
          <a:p>
            <a:r>
              <a:rPr lang="ru-RU" dirty="0"/>
              <a:t>После подкачки ОС должна </a:t>
            </a:r>
            <a:r>
              <a:rPr lang="ru-RU" b="1" dirty="0"/>
              <a:t>перезапустить</a:t>
            </a:r>
            <a:r>
              <a:rPr lang="ru-RU" dirty="0"/>
              <a:t> инструкцию</a:t>
            </a:r>
          </a:p>
          <a:p>
            <a:r>
              <a:rPr lang="ru-RU" dirty="0"/>
              <a:t>Нужно точно знать:</a:t>
            </a:r>
          </a:p>
          <a:p>
            <a:pPr lvl="1"/>
            <a:r>
              <a:rPr lang="ru-RU" dirty="0"/>
              <a:t>где она началась,</a:t>
            </a:r>
          </a:p>
          <a:p>
            <a:pPr lvl="1"/>
            <a:r>
              <a:rPr lang="ru-RU" dirty="0"/>
              <a:t>какие действия уже выполнены</a:t>
            </a:r>
          </a:p>
          <a:p>
            <a:r>
              <a:rPr lang="ru-RU" dirty="0"/>
              <a:t>Это не всегда возможно без аппаратной поддержки</a:t>
            </a:r>
          </a:p>
        </p:txBody>
      </p:sp>
    </p:spTree>
    <p:extLst>
      <p:ext uri="{BB962C8B-B14F-4D97-AF65-F5344CB8AC3E}">
        <p14:creationId xmlns:p14="http://schemas.microsoft.com/office/powerpoint/2010/main" val="1352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6A5E4-B620-8E34-6608-41E58E43C535}"/>
              </a:ext>
            </a:extLst>
          </p:cNvPr>
          <p:cNvSpPr>
            <a:spLocks noGrp="1"/>
          </p:cNvSpPr>
          <p:nvPr>
            <p:ph type="title"/>
          </p:nvPr>
        </p:nvSpPr>
        <p:spPr/>
        <p:txBody>
          <a:bodyPr/>
          <a:lstStyle/>
          <a:p>
            <a:r>
              <a:rPr lang="ru-RU" dirty="0"/>
              <a:t>Пример сложности</a:t>
            </a:r>
            <a:endParaRPr lang="en-US" dirty="0"/>
          </a:p>
        </p:txBody>
      </p:sp>
      <p:sp>
        <p:nvSpPr>
          <p:cNvPr id="3" name="Content Placeholder 2">
            <a:extLst>
              <a:ext uri="{FF2B5EF4-FFF2-40B4-BE49-F238E27FC236}">
                <a16:creationId xmlns:a16="http://schemas.microsoft.com/office/drawing/2014/main" id="{F3A8FE96-6CE5-E015-CA78-EC14808C4124}"/>
              </a:ext>
            </a:extLst>
          </p:cNvPr>
          <p:cNvSpPr>
            <a:spLocks noGrp="1"/>
          </p:cNvSpPr>
          <p:nvPr>
            <p:ph sz="half" idx="1"/>
          </p:nvPr>
        </p:nvSpPr>
        <p:spPr>
          <a:xfrm>
            <a:off x="838200" y="1825625"/>
            <a:ext cx="6387694" cy="4351338"/>
          </a:xfrm>
        </p:spPr>
        <p:txBody>
          <a:bodyPr>
            <a:normAutofit lnSpcReduction="10000"/>
          </a:bodyPr>
          <a:lstStyle/>
          <a:p>
            <a:r>
              <a:rPr lang="ru-RU" dirty="0"/>
              <a:t>Инструкция: MOV.L #6(A1), 2(A0)</a:t>
            </a:r>
          </a:p>
          <a:p>
            <a:pPr lvl="1"/>
            <a:r>
              <a:rPr lang="ru-RU" dirty="0"/>
              <a:t>6 байт, 3 обращения к памяти</a:t>
            </a:r>
          </a:p>
          <a:p>
            <a:r>
              <a:rPr lang="ru-RU" dirty="0" err="1"/>
              <a:t>Fault</a:t>
            </a:r>
            <a:r>
              <a:rPr lang="ru-RU" dirty="0"/>
              <a:t> может произойти:</a:t>
            </a:r>
          </a:p>
          <a:p>
            <a:pPr lvl="1"/>
            <a:r>
              <a:rPr lang="ru-RU" dirty="0"/>
              <a:t>при чтении инструкции,</a:t>
            </a:r>
          </a:p>
          <a:p>
            <a:pPr lvl="1"/>
            <a:r>
              <a:rPr lang="ru-RU" dirty="0"/>
              <a:t>при обращении к первому операнду,</a:t>
            </a:r>
          </a:p>
          <a:p>
            <a:pPr lvl="1"/>
            <a:r>
              <a:rPr lang="ru-RU" dirty="0"/>
              <a:t>при обращении ко второму</a:t>
            </a:r>
          </a:p>
          <a:p>
            <a:r>
              <a:rPr lang="ru-RU" dirty="0"/>
              <a:t>Счётчик программ (PC) может быть 1000, 1002 или 1004</a:t>
            </a:r>
          </a:p>
          <a:p>
            <a:r>
              <a:rPr lang="ru-RU" dirty="0"/>
              <a:t>ОС не знает, где начиналась инструкция, поэтому трудно восстановить исполнение</a:t>
            </a:r>
          </a:p>
        </p:txBody>
      </p:sp>
      <p:pic>
        <p:nvPicPr>
          <p:cNvPr id="6" name="Content Placeholder 5">
            <a:extLst>
              <a:ext uri="{FF2B5EF4-FFF2-40B4-BE49-F238E27FC236}">
                <a16:creationId xmlns:a16="http://schemas.microsoft.com/office/drawing/2014/main" id="{E36DECBF-5FDA-5A38-A03B-BE56C733BA72}"/>
              </a:ext>
            </a:extLst>
          </p:cNvPr>
          <p:cNvPicPr>
            <a:picLocks noGrp="1" noChangeAspect="1"/>
          </p:cNvPicPr>
          <p:nvPr>
            <p:ph sz="half" idx="2"/>
          </p:nvPr>
        </p:nvPicPr>
        <p:blipFill>
          <a:blip r:embed="rId3"/>
          <a:stretch>
            <a:fillRect/>
          </a:stretch>
        </p:blipFill>
        <p:spPr>
          <a:xfrm>
            <a:off x="7225894" y="3011344"/>
            <a:ext cx="4127906" cy="1577282"/>
          </a:xfrm>
          <a:prstGeom prst="rect">
            <a:avLst/>
          </a:prstGeom>
        </p:spPr>
      </p:pic>
    </p:spTree>
    <p:extLst>
      <p:ext uri="{BB962C8B-B14F-4D97-AF65-F5344CB8AC3E}">
        <p14:creationId xmlns:p14="http://schemas.microsoft.com/office/powerpoint/2010/main" val="3829695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467F-C2B0-EBA6-570F-DA99B37AD997}"/>
              </a:ext>
            </a:extLst>
          </p:cNvPr>
          <p:cNvSpPr>
            <a:spLocks noGrp="1"/>
          </p:cNvSpPr>
          <p:nvPr>
            <p:ph type="title"/>
          </p:nvPr>
        </p:nvSpPr>
        <p:spPr/>
        <p:txBody>
          <a:bodyPr/>
          <a:lstStyle/>
          <a:p>
            <a:r>
              <a:rPr lang="ru-RU" dirty="0" err="1"/>
              <a:t>Автоинкремент</a:t>
            </a:r>
            <a:r>
              <a:rPr lang="ru-RU" dirty="0"/>
              <a:t> и </a:t>
            </a:r>
            <a:r>
              <a:rPr lang="ru-RU" dirty="0" err="1"/>
              <a:t>автодекремент</a:t>
            </a:r>
            <a:endParaRPr lang="en-US" dirty="0"/>
          </a:p>
        </p:txBody>
      </p:sp>
      <p:sp>
        <p:nvSpPr>
          <p:cNvPr id="3" name="Content Placeholder 2">
            <a:extLst>
              <a:ext uri="{FF2B5EF4-FFF2-40B4-BE49-F238E27FC236}">
                <a16:creationId xmlns:a16="http://schemas.microsoft.com/office/drawing/2014/main" id="{B359491E-E8F2-643A-8544-3A3612270F22}"/>
              </a:ext>
            </a:extLst>
          </p:cNvPr>
          <p:cNvSpPr>
            <a:spLocks noGrp="1"/>
          </p:cNvSpPr>
          <p:nvPr>
            <p:ph idx="1"/>
          </p:nvPr>
        </p:nvSpPr>
        <p:spPr/>
        <p:txBody>
          <a:bodyPr/>
          <a:lstStyle/>
          <a:p>
            <a:r>
              <a:rPr lang="ru-RU" dirty="0"/>
              <a:t>Некоторые инструкции </a:t>
            </a:r>
            <a:r>
              <a:rPr lang="ru-RU" b="1" dirty="0"/>
              <a:t>изменяют регистры автоматически</a:t>
            </a:r>
            <a:endParaRPr lang="ru-RU" dirty="0"/>
          </a:p>
          <a:p>
            <a:r>
              <a:rPr lang="ru-RU" dirty="0"/>
              <a:t>Вопрос: выполнен ли инкремент до или после </a:t>
            </a:r>
            <a:r>
              <a:rPr lang="ru-RU" dirty="0" err="1"/>
              <a:t>fault</a:t>
            </a:r>
            <a:r>
              <a:rPr lang="ru-RU" dirty="0"/>
              <a:t>?</a:t>
            </a:r>
          </a:p>
          <a:p>
            <a:r>
              <a:rPr lang="ru-RU" dirty="0"/>
              <a:t>Зависит от микрокода процессора</a:t>
            </a:r>
          </a:p>
          <a:p>
            <a:r>
              <a:rPr lang="ru-RU" dirty="0"/>
              <a:t>Ошибки восстановления могут повредить данные</a:t>
            </a:r>
          </a:p>
          <a:p>
            <a:endParaRPr lang="en-US" dirty="0"/>
          </a:p>
        </p:txBody>
      </p:sp>
    </p:spTree>
    <p:extLst>
      <p:ext uri="{BB962C8B-B14F-4D97-AF65-F5344CB8AC3E}">
        <p14:creationId xmlns:p14="http://schemas.microsoft.com/office/powerpoint/2010/main" val="2645626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074F-91F4-B11F-3EB1-089B2B6734F8}"/>
              </a:ext>
            </a:extLst>
          </p:cNvPr>
          <p:cNvSpPr>
            <a:spLocks noGrp="1"/>
          </p:cNvSpPr>
          <p:nvPr>
            <p:ph type="title"/>
          </p:nvPr>
        </p:nvSpPr>
        <p:spPr/>
        <p:txBody>
          <a:bodyPr/>
          <a:lstStyle/>
          <a:p>
            <a:r>
              <a:rPr lang="ru-RU" dirty="0"/>
              <a:t>Аппаратное решение проблемы</a:t>
            </a:r>
            <a:endParaRPr lang="en-US" dirty="0"/>
          </a:p>
        </p:txBody>
      </p:sp>
      <p:sp>
        <p:nvSpPr>
          <p:cNvPr id="3" name="Content Placeholder 2">
            <a:extLst>
              <a:ext uri="{FF2B5EF4-FFF2-40B4-BE49-F238E27FC236}">
                <a16:creationId xmlns:a16="http://schemas.microsoft.com/office/drawing/2014/main" id="{969BFCAD-F0AE-F10B-3533-30D7B01DA054}"/>
              </a:ext>
            </a:extLst>
          </p:cNvPr>
          <p:cNvSpPr>
            <a:spLocks noGrp="1"/>
          </p:cNvSpPr>
          <p:nvPr>
            <p:ph idx="1"/>
          </p:nvPr>
        </p:nvSpPr>
        <p:spPr/>
        <p:txBody>
          <a:bodyPr/>
          <a:lstStyle/>
          <a:p>
            <a:r>
              <a:rPr lang="ru-RU" dirty="0"/>
              <a:t>Некоторые CPU предоставляют внутренние регистры восстановления</a:t>
            </a:r>
          </a:p>
          <a:p>
            <a:pPr lvl="1"/>
            <a:r>
              <a:rPr lang="ru-RU" dirty="0"/>
              <a:t>Хранят адрес начала инструкции</a:t>
            </a:r>
          </a:p>
          <a:p>
            <a:pPr lvl="1"/>
            <a:r>
              <a:rPr lang="ru-RU" dirty="0"/>
              <a:t>Сохраняют состояние </a:t>
            </a:r>
            <a:r>
              <a:rPr lang="ru-RU" dirty="0" err="1"/>
              <a:t>автоинкрементов</a:t>
            </a:r>
            <a:endParaRPr lang="ru-RU" dirty="0"/>
          </a:p>
          <a:p>
            <a:r>
              <a:rPr lang="ru-RU" dirty="0"/>
              <a:t>ОС может точно восстановить контекст и перезапустить инструкцию</a:t>
            </a:r>
          </a:p>
          <a:p>
            <a:r>
              <a:rPr lang="ru-RU" dirty="0"/>
              <a:t>Без этого — сложное программное «восстановление вручную»</a:t>
            </a:r>
          </a:p>
        </p:txBody>
      </p:sp>
    </p:spTree>
    <p:extLst>
      <p:ext uri="{BB962C8B-B14F-4D97-AF65-F5344CB8AC3E}">
        <p14:creationId xmlns:p14="http://schemas.microsoft.com/office/powerpoint/2010/main" val="4155911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D1A-BE3A-07C5-775D-DCCF857934DC}"/>
              </a:ext>
            </a:extLst>
          </p:cNvPr>
          <p:cNvSpPr>
            <a:spLocks noGrp="1"/>
          </p:cNvSpPr>
          <p:nvPr>
            <p:ph type="title"/>
          </p:nvPr>
        </p:nvSpPr>
        <p:spPr/>
        <p:txBody>
          <a:bodyPr/>
          <a:lstStyle/>
          <a:p>
            <a:r>
              <a:rPr lang="ru-RU" dirty="0"/>
              <a:t>Вывод</a:t>
            </a:r>
            <a:endParaRPr lang="en-US" dirty="0"/>
          </a:p>
        </p:txBody>
      </p:sp>
      <p:sp>
        <p:nvSpPr>
          <p:cNvPr id="3" name="Content Placeholder 2">
            <a:extLst>
              <a:ext uri="{FF2B5EF4-FFF2-40B4-BE49-F238E27FC236}">
                <a16:creationId xmlns:a16="http://schemas.microsoft.com/office/drawing/2014/main" id="{790DB9B6-0F61-E868-4281-D15E181A7287}"/>
              </a:ext>
            </a:extLst>
          </p:cNvPr>
          <p:cNvSpPr>
            <a:spLocks noGrp="1"/>
          </p:cNvSpPr>
          <p:nvPr>
            <p:ph idx="1"/>
          </p:nvPr>
        </p:nvSpPr>
        <p:spPr/>
        <p:txBody>
          <a:bodyPr/>
          <a:lstStyle/>
          <a:p>
            <a:r>
              <a:rPr lang="ru-RU" dirty="0"/>
              <a:t>Восстановление инструкции — критическая часть обработки </a:t>
            </a:r>
            <a:r>
              <a:rPr lang="ru-RU" dirty="0" err="1"/>
              <a:t>page</a:t>
            </a:r>
            <a:r>
              <a:rPr lang="ru-RU" dirty="0"/>
              <a:t> </a:t>
            </a:r>
            <a:r>
              <a:rPr lang="ru-RU" dirty="0" err="1"/>
              <a:t>fault</a:t>
            </a:r>
            <a:endParaRPr lang="ru-RU" dirty="0"/>
          </a:p>
          <a:p>
            <a:r>
              <a:rPr lang="ru-RU" dirty="0"/>
              <a:t>Ошибка в восстановлении приводит к сбою процесса</a:t>
            </a:r>
          </a:p>
          <a:p>
            <a:r>
              <a:rPr lang="ru-RU" dirty="0"/>
              <a:t>Современные процессоры частично решают проблему </a:t>
            </a:r>
            <a:r>
              <a:rPr lang="ru-RU" dirty="0" err="1"/>
              <a:t>аппаратно</a:t>
            </a:r>
            <a:endParaRPr lang="ru-RU" dirty="0"/>
          </a:p>
          <a:p>
            <a:r>
              <a:rPr lang="ru-RU" dirty="0"/>
              <a:t>Баланс между сложностью процессора и нагрузкой на ОС</a:t>
            </a:r>
          </a:p>
        </p:txBody>
      </p:sp>
    </p:spTree>
    <p:extLst>
      <p:ext uri="{BB962C8B-B14F-4D97-AF65-F5344CB8AC3E}">
        <p14:creationId xmlns:p14="http://schemas.microsoft.com/office/powerpoint/2010/main" val="584981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2EB78-5EA6-FA47-DAB9-80FA566EC2E3}"/>
              </a:ext>
            </a:extLst>
          </p:cNvPr>
          <p:cNvSpPr>
            <a:spLocks noGrp="1"/>
          </p:cNvSpPr>
          <p:nvPr>
            <p:ph type="title"/>
          </p:nvPr>
        </p:nvSpPr>
        <p:spPr/>
        <p:txBody>
          <a:bodyPr/>
          <a:lstStyle/>
          <a:p>
            <a:r>
              <a:rPr lang="ru-RU" dirty="0"/>
              <a:t>Блокировка страниц</a:t>
            </a:r>
            <a:endParaRPr lang="en-US" dirty="0"/>
          </a:p>
        </p:txBody>
      </p:sp>
      <p:sp>
        <p:nvSpPr>
          <p:cNvPr id="5" name="Text Placeholder 4">
            <a:extLst>
              <a:ext uri="{FF2B5EF4-FFF2-40B4-BE49-F238E27FC236}">
                <a16:creationId xmlns:a16="http://schemas.microsoft.com/office/drawing/2014/main" id="{6CB48E5E-8412-61C1-3EB4-1FE2A10C1E81}"/>
              </a:ext>
            </a:extLst>
          </p:cNvPr>
          <p:cNvSpPr>
            <a:spLocks noGrp="1"/>
          </p:cNvSpPr>
          <p:nvPr>
            <p:ph type="body" idx="1"/>
          </p:nvPr>
        </p:nvSpPr>
        <p:spPr/>
        <p:txBody>
          <a:bodyPr/>
          <a:lstStyle/>
          <a:p>
            <a:r>
              <a:rPr lang="en-US" dirty="0"/>
              <a:t>Page Locking</a:t>
            </a:r>
          </a:p>
        </p:txBody>
      </p:sp>
    </p:spTree>
    <p:extLst>
      <p:ext uri="{BB962C8B-B14F-4D97-AF65-F5344CB8AC3E}">
        <p14:creationId xmlns:p14="http://schemas.microsoft.com/office/powerpoint/2010/main" val="1114587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4C9245-CE03-7D6A-0C30-20AE1F55C97E}"/>
              </a:ext>
            </a:extLst>
          </p:cNvPr>
          <p:cNvSpPr>
            <a:spLocks noGrp="1"/>
          </p:cNvSpPr>
          <p:nvPr>
            <p:ph type="title"/>
          </p:nvPr>
        </p:nvSpPr>
        <p:spPr/>
        <p:txBody>
          <a:bodyPr>
            <a:normAutofit/>
          </a:bodyPr>
          <a:lstStyle/>
          <a:p>
            <a:r>
              <a:rPr lang="ru-RU" dirty="0"/>
              <a:t>Взаимодействие виртуальной памяти и I/O</a:t>
            </a:r>
            <a:endParaRPr lang="en-US" dirty="0"/>
          </a:p>
        </p:txBody>
      </p:sp>
      <p:sp>
        <p:nvSpPr>
          <p:cNvPr id="5" name="Content Placeholder 4">
            <a:extLst>
              <a:ext uri="{FF2B5EF4-FFF2-40B4-BE49-F238E27FC236}">
                <a16:creationId xmlns:a16="http://schemas.microsoft.com/office/drawing/2014/main" id="{6CF8E165-D410-B9FD-9F61-0C5CAA9CA0F9}"/>
              </a:ext>
            </a:extLst>
          </p:cNvPr>
          <p:cNvSpPr>
            <a:spLocks noGrp="1"/>
          </p:cNvSpPr>
          <p:nvPr>
            <p:ph idx="1"/>
          </p:nvPr>
        </p:nvSpPr>
        <p:spPr/>
        <p:txBody>
          <a:bodyPr/>
          <a:lstStyle/>
          <a:p>
            <a:r>
              <a:rPr lang="ru-RU" dirty="0"/>
              <a:t>Виртуальная память не изолирована от операций ввода-вывода</a:t>
            </a:r>
          </a:p>
          <a:p>
            <a:r>
              <a:rPr lang="ru-RU" dirty="0"/>
              <a:t>Процесс может выполнять чтение в свой буфер</a:t>
            </a:r>
          </a:p>
          <a:p>
            <a:r>
              <a:rPr lang="ru-RU" dirty="0"/>
              <a:t>Во время ожидания I/O он приостанавливается</a:t>
            </a:r>
          </a:p>
          <a:p>
            <a:r>
              <a:rPr lang="ru-RU" dirty="0"/>
              <a:t>Другие процессы могут вызывать подкачку страниц</a:t>
            </a:r>
          </a:p>
          <a:p>
            <a:r>
              <a:rPr lang="ru-RU" dirty="0"/>
              <a:t>Возможен конфликт между DMA и заменой страниц</a:t>
            </a:r>
          </a:p>
          <a:p>
            <a:pPr marL="0" indent="0">
              <a:buNone/>
            </a:pPr>
            <a:endParaRPr lang="en-US" dirty="0"/>
          </a:p>
        </p:txBody>
      </p:sp>
    </p:spTree>
    <p:extLst>
      <p:ext uri="{BB962C8B-B14F-4D97-AF65-F5344CB8AC3E}">
        <p14:creationId xmlns:p14="http://schemas.microsoft.com/office/powerpoint/2010/main" val="39788431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6A20-C280-A93F-E440-58A7ABF395BF}"/>
              </a:ext>
            </a:extLst>
          </p:cNvPr>
          <p:cNvSpPr>
            <a:spLocks noGrp="1"/>
          </p:cNvSpPr>
          <p:nvPr>
            <p:ph type="title"/>
          </p:nvPr>
        </p:nvSpPr>
        <p:spPr/>
        <p:txBody>
          <a:bodyPr/>
          <a:lstStyle/>
          <a:p>
            <a:r>
              <a:rPr lang="ru-RU" dirty="0"/>
              <a:t>Проблема </a:t>
            </a:r>
            <a:r>
              <a:rPr lang="en-US" dirty="0"/>
              <a:t>DMA</a:t>
            </a:r>
            <a:r>
              <a:rPr lang="ru-RU" dirty="0"/>
              <a:t> и подкачки</a:t>
            </a:r>
            <a:endParaRPr lang="en-US" dirty="0"/>
          </a:p>
        </p:txBody>
      </p:sp>
      <p:sp>
        <p:nvSpPr>
          <p:cNvPr id="3" name="Content Placeholder 2">
            <a:extLst>
              <a:ext uri="{FF2B5EF4-FFF2-40B4-BE49-F238E27FC236}">
                <a16:creationId xmlns:a16="http://schemas.microsoft.com/office/drawing/2014/main" id="{7DC4C52C-339C-1A99-DF12-331540EEB22B}"/>
              </a:ext>
            </a:extLst>
          </p:cNvPr>
          <p:cNvSpPr>
            <a:spLocks noGrp="1"/>
          </p:cNvSpPr>
          <p:nvPr>
            <p:ph idx="1"/>
          </p:nvPr>
        </p:nvSpPr>
        <p:spPr/>
        <p:txBody>
          <a:bodyPr/>
          <a:lstStyle/>
          <a:p>
            <a:r>
              <a:rPr lang="ru-RU" dirty="0"/>
              <a:t>DMA (</a:t>
            </a:r>
            <a:r>
              <a:rPr lang="en-US" dirty="0"/>
              <a:t>Direct Memory Access) </a:t>
            </a:r>
            <a:r>
              <a:rPr lang="ru-RU" dirty="0"/>
              <a:t>— прямой доступ устройства к памяти</a:t>
            </a:r>
          </a:p>
          <a:p>
            <a:r>
              <a:rPr lang="ru-RU" dirty="0"/>
              <a:t>Если страница буфера выгружается во время DMA, будет повреждение данных</a:t>
            </a:r>
          </a:p>
          <a:p>
            <a:r>
              <a:rPr lang="ru-RU" dirty="0"/>
              <a:t>Частичные записи: часть данных в буфере, часть — в чужой странице</a:t>
            </a:r>
          </a:p>
          <a:p>
            <a:r>
              <a:rPr lang="ru-RU" dirty="0"/>
              <a:t>Необходима защита страниц, участвующих в I/O</a:t>
            </a:r>
          </a:p>
        </p:txBody>
      </p:sp>
    </p:spTree>
    <p:extLst>
      <p:ext uri="{BB962C8B-B14F-4D97-AF65-F5344CB8AC3E}">
        <p14:creationId xmlns:p14="http://schemas.microsoft.com/office/powerpoint/2010/main" val="10804964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AA74-B3C7-2685-013C-DAFF60F5B3E1}"/>
              </a:ext>
            </a:extLst>
          </p:cNvPr>
          <p:cNvSpPr>
            <a:spLocks noGrp="1"/>
          </p:cNvSpPr>
          <p:nvPr>
            <p:ph type="title"/>
          </p:nvPr>
        </p:nvSpPr>
        <p:spPr/>
        <p:txBody>
          <a:bodyPr/>
          <a:lstStyle/>
          <a:p>
            <a:r>
              <a:rPr lang="ru-RU" dirty="0"/>
              <a:t>Решение 1 — Блокировка страниц</a:t>
            </a:r>
            <a:endParaRPr lang="en-US" dirty="0"/>
          </a:p>
        </p:txBody>
      </p:sp>
      <p:sp>
        <p:nvSpPr>
          <p:cNvPr id="3" name="Content Placeholder 2">
            <a:extLst>
              <a:ext uri="{FF2B5EF4-FFF2-40B4-BE49-F238E27FC236}">
                <a16:creationId xmlns:a16="http://schemas.microsoft.com/office/drawing/2014/main" id="{34AF2CA4-07B8-E6A9-C996-4227B9BF6D7B}"/>
              </a:ext>
            </a:extLst>
          </p:cNvPr>
          <p:cNvSpPr>
            <a:spLocks noGrp="1"/>
          </p:cNvSpPr>
          <p:nvPr>
            <p:ph idx="1"/>
          </p:nvPr>
        </p:nvSpPr>
        <p:spPr/>
        <p:txBody>
          <a:bodyPr/>
          <a:lstStyle/>
          <a:p>
            <a:r>
              <a:rPr lang="ru-RU" dirty="0" err="1"/>
              <a:t>Locking</a:t>
            </a:r>
            <a:r>
              <a:rPr lang="ru-RU" dirty="0"/>
              <a:t> / </a:t>
            </a:r>
            <a:r>
              <a:rPr lang="ru-RU" dirty="0" err="1"/>
              <a:t>Pinning</a:t>
            </a:r>
            <a:r>
              <a:rPr lang="ru-RU" dirty="0"/>
              <a:t>: временно запретить замену страницы</a:t>
            </a:r>
          </a:p>
          <a:p>
            <a:r>
              <a:rPr lang="ru-RU" dirty="0"/>
              <a:t>Страница остаётся в памяти, пока I/O не завершится</a:t>
            </a:r>
          </a:p>
          <a:p>
            <a:r>
              <a:rPr lang="ru-RU" dirty="0"/>
              <a:t>После завершения — разблокировка</a:t>
            </a:r>
          </a:p>
          <a:p>
            <a:r>
              <a:rPr lang="ru-RU" dirty="0"/>
              <a:t>Безопасно для DMA, не требует копирования</a:t>
            </a:r>
          </a:p>
          <a:p>
            <a:r>
              <a:rPr lang="ru-RU" dirty="0"/>
              <a:t>Умеренно увеличивает задержки подкачки</a:t>
            </a:r>
          </a:p>
        </p:txBody>
      </p:sp>
    </p:spTree>
    <p:extLst>
      <p:ext uri="{BB962C8B-B14F-4D97-AF65-F5344CB8AC3E}">
        <p14:creationId xmlns:p14="http://schemas.microsoft.com/office/powerpoint/2010/main" val="9795861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19F8-6C8F-F0C8-B73F-CBBC66E371FE}"/>
              </a:ext>
            </a:extLst>
          </p:cNvPr>
          <p:cNvSpPr>
            <a:spLocks noGrp="1"/>
          </p:cNvSpPr>
          <p:nvPr>
            <p:ph type="title"/>
          </p:nvPr>
        </p:nvSpPr>
        <p:spPr/>
        <p:txBody>
          <a:bodyPr/>
          <a:lstStyle/>
          <a:p>
            <a:r>
              <a:rPr lang="ru-RU" dirty="0"/>
              <a:t>Решение 2 — Буферизация в ядре</a:t>
            </a:r>
            <a:endParaRPr lang="en-US" dirty="0"/>
          </a:p>
        </p:txBody>
      </p:sp>
      <p:sp>
        <p:nvSpPr>
          <p:cNvPr id="3" name="Content Placeholder 2">
            <a:extLst>
              <a:ext uri="{FF2B5EF4-FFF2-40B4-BE49-F238E27FC236}">
                <a16:creationId xmlns:a16="http://schemas.microsoft.com/office/drawing/2014/main" id="{82E089D7-0669-D462-9735-0D0E58697300}"/>
              </a:ext>
            </a:extLst>
          </p:cNvPr>
          <p:cNvSpPr>
            <a:spLocks noGrp="1"/>
          </p:cNvSpPr>
          <p:nvPr>
            <p:ph idx="1"/>
          </p:nvPr>
        </p:nvSpPr>
        <p:spPr/>
        <p:txBody>
          <a:bodyPr/>
          <a:lstStyle/>
          <a:p>
            <a:r>
              <a:rPr lang="ru-RU" dirty="0"/>
              <a:t>Выполнять I/O в буфер ядра ОС</a:t>
            </a:r>
          </a:p>
          <a:p>
            <a:r>
              <a:rPr lang="ru-RU" dirty="0"/>
              <a:t>После завершения копировать данные в память процесса</a:t>
            </a:r>
          </a:p>
          <a:p>
            <a:r>
              <a:rPr lang="ru-RU" dirty="0"/>
              <a:t>Простое решение, но:</a:t>
            </a:r>
          </a:p>
          <a:p>
            <a:pPr lvl="1"/>
            <a:r>
              <a:rPr lang="ru-RU" dirty="0"/>
              <a:t>требует дополнительного копирования</a:t>
            </a:r>
          </a:p>
          <a:p>
            <a:pPr lvl="1"/>
            <a:r>
              <a:rPr lang="ru-RU" dirty="0"/>
              <a:t>снижает производительность</a:t>
            </a:r>
          </a:p>
          <a:p>
            <a:r>
              <a:rPr lang="ru-RU" dirty="0"/>
              <a:t>Используется, когда блокировка страниц невозможна</a:t>
            </a:r>
          </a:p>
        </p:txBody>
      </p:sp>
    </p:spTree>
    <p:extLst>
      <p:ext uri="{BB962C8B-B14F-4D97-AF65-F5344CB8AC3E}">
        <p14:creationId xmlns:p14="http://schemas.microsoft.com/office/powerpoint/2010/main" val="35667746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98E96-754D-7B00-A42B-48477E2D599E}"/>
              </a:ext>
            </a:extLst>
          </p:cNvPr>
          <p:cNvSpPr>
            <a:spLocks noGrp="1"/>
          </p:cNvSpPr>
          <p:nvPr>
            <p:ph type="title"/>
          </p:nvPr>
        </p:nvSpPr>
        <p:spPr/>
        <p:txBody>
          <a:bodyPr/>
          <a:lstStyle/>
          <a:p>
            <a:r>
              <a:rPr lang="ru-RU" dirty="0"/>
              <a:t>Зачем нужен </a:t>
            </a:r>
            <a:r>
              <a:rPr lang="en-US" dirty="0"/>
              <a:t>DMA</a:t>
            </a:r>
          </a:p>
        </p:txBody>
      </p:sp>
      <p:sp>
        <p:nvSpPr>
          <p:cNvPr id="3" name="Content Placeholder 2">
            <a:extLst>
              <a:ext uri="{FF2B5EF4-FFF2-40B4-BE49-F238E27FC236}">
                <a16:creationId xmlns:a16="http://schemas.microsoft.com/office/drawing/2014/main" id="{425D0266-7DAB-9575-1AFE-1F81ADD8E07A}"/>
              </a:ext>
            </a:extLst>
          </p:cNvPr>
          <p:cNvSpPr>
            <a:spLocks noGrp="1"/>
          </p:cNvSpPr>
          <p:nvPr>
            <p:ph idx="1"/>
          </p:nvPr>
        </p:nvSpPr>
        <p:spPr/>
        <p:txBody>
          <a:bodyPr>
            <a:normAutofit lnSpcReduction="10000"/>
          </a:bodyPr>
          <a:lstStyle/>
          <a:p>
            <a:r>
              <a:rPr lang="ru-RU" dirty="0"/>
              <a:t>Позволяет устройствам обмениваться данными с памятью напрямую, без участия процессора</a:t>
            </a:r>
          </a:p>
          <a:p>
            <a:r>
              <a:rPr lang="ru-RU" dirty="0"/>
              <a:t>CPU освобождается от пересылки байтов — работает параллельно с I/O</a:t>
            </a:r>
          </a:p>
          <a:p>
            <a:r>
              <a:rPr lang="ru-RU" dirty="0"/>
              <a:t>Повышает скорость ввода-вывода и общую производительность системы</a:t>
            </a:r>
          </a:p>
          <a:p>
            <a:r>
              <a:rPr lang="ru-RU" dirty="0"/>
              <a:t>Особенно важен при передаче больших объёмов данных (диски, сеть, видео)</a:t>
            </a:r>
          </a:p>
          <a:p>
            <a:r>
              <a:rPr lang="ru-RU" dirty="0"/>
              <a:t>Используется совместно с виртуальной памятью и требует защиты страниц (</a:t>
            </a:r>
            <a:r>
              <a:rPr lang="ru-RU" dirty="0" err="1"/>
              <a:t>locking</a:t>
            </a:r>
            <a:r>
              <a:rPr lang="ru-RU" dirty="0"/>
              <a:t>/</a:t>
            </a:r>
            <a:r>
              <a:rPr lang="ru-RU" dirty="0" err="1"/>
              <a:t>pinning</a:t>
            </a:r>
            <a:r>
              <a:rPr lang="ru-RU" dirty="0"/>
              <a:t>)</a:t>
            </a:r>
          </a:p>
          <a:p>
            <a:endParaRPr lang="en-US" dirty="0"/>
          </a:p>
        </p:txBody>
      </p:sp>
    </p:spTree>
    <p:extLst>
      <p:ext uri="{BB962C8B-B14F-4D97-AF65-F5344CB8AC3E}">
        <p14:creationId xmlns:p14="http://schemas.microsoft.com/office/powerpoint/2010/main" val="587940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ED91C-18FB-2E36-9BA0-9D9850B20C8C}"/>
              </a:ext>
            </a:extLst>
          </p:cNvPr>
          <p:cNvSpPr>
            <a:spLocks noGrp="1"/>
          </p:cNvSpPr>
          <p:nvPr>
            <p:ph type="title"/>
          </p:nvPr>
        </p:nvSpPr>
        <p:spPr/>
        <p:txBody>
          <a:bodyPr/>
          <a:lstStyle/>
          <a:p>
            <a:r>
              <a:rPr lang="ru-RU" dirty="0"/>
              <a:t>Влияние </a:t>
            </a:r>
            <a:r>
              <a:rPr lang="en-US" dirty="0"/>
              <a:t>DMA</a:t>
            </a:r>
            <a:r>
              <a:rPr lang="ru-RU" dirty="0"/>
              <a:t> на работу процессора</a:t>
            </a:r>
            <a:endParaRPr lang="en-US" dirty="0"/>
          </a:p>
        </p:txBody>
      </p:sp>
      <p:sp>
        <p:nvSpPr>
          <p:cNvPr id="3" name="Content Placeholder 2">
            <a:extLst>
              <a:ext uri="{FF2B5EF4-FFF2-40B4-BE49-F238E27FC236}">
                <a16:creationId xmlns:a16="http://schemas.microsoft.com/office/drawing/2014/main" id="{C39DACB6-425F-AABC-55E9-2D13D443CEC5}"/>
              </a:ext>
            </a:extLst>
          </p:cNvPr>
          <p:cNvSpPr>
            <a:spLocks noGrp="1"/>
          </p:cNvSpPr>
          <p:nvPr>
            <p:ph idx="1"/>
          </p:nvPr>
        </p:nvSpPr>
        <p:spPr/>
        <p:txBody>
          <a:bodyPr/>
          <a:lstStyle/>
          <a:p>
            <a:r>
              <a:rPr lang="ru-RU" dirty="0"/>
              <a:t>DMA использует ту же шину, что и процессор</a:t>
            </a:r>
          </a:p>
          <a:p>
            <a:r>
              <a:rPr lang="ru-RU" dirty="0"/>
              <a:t>Во время передачи данных CPU может временно ждать доступа к памяти</a:t>
            </a:r>
          </a:p>
          <a:p>
            <a:r>
              <a:rPr lang="ru-RU" dirty="0"/>
              <a:t>Однако CPU освобождается от пересылки данных и может выполнять другие задачи</a:t>
            </a:r>
          </a:p>
          <a:p>
            <a:r>
              <a:rPr lang="ru-RU" dirty="0"/>
              <a:t>Современные системы используют арбитраж и буферизацию для снижения конфликтов</a:t>
            </a:r>
          </a:p>
          <a:p>
            <a:r>
              <a:rPr lang="ru-RU" dirty="0"/>
              <a:t>В целом DMA повышает общую производительность системы</a:t>
            </a:r>
          </a:p>
          <a:p>
            <a:endParaRPr lang="en-US" dirty="0"/>
          </a:p>
        </p:txBody>
      </p:sp>
    </p:spTree>
    <p:extLst>
      <p:ext uri="{BB962C8B-B14F-4D97-AF65-F5344CB8AC3E}">
        <p14:creationId xmlns:p14="http://schemas.microsoft.com/office/powerpoint/2010/main" val="6683743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452AD-C9DD-56D2-0F45-CD98C53DD7E0}"/>
              </a:ext>
            </a:extLst>
          </p:cNvPr>
          <p:cNvSpPr>
            <a:spLocks noGrp="1"/>
          </p:cNvSpPr>
          <p:nvPr>
            <p:ph type="title"/>
          </p:nvPr>
        </p:nvSpPr>
        <p:spPr/>
        <p:txBody>
          <a:bodyPr/>
          <a:lstStyle/>
          <a:p>
            <a:r>
              <a:rPr lang="en-US" dirty="0"/>
              <a:t>DMA </a:t>
            </a:r>
            <a:r>
              <a:rPr lang="ru-RU" dirty="0"/>
              <a:t>и виртуальная память</a:t>
            </a:r>
            <a:endParaRPr lang="en-US" dirty="0"/>
          </a:p>
        </p:txBody>
      </p:sp>
      <p:sp>
        <p:nvSpPr>
          <p:cNvPr id="3" name="Content Placeholder 2">
            <a:extLst>
              <a:ext uri="{FF2B5EF4-FFF2-40B4-BE49-F238E27FC236}">
                <a16:creationId xmlns:a16="http://schemas.microsoft.com/office/drawing/2014/main" id="{3FB5338E-731C-E7F1-F90F-606F26C9C2E6}"/>
              </a:ext>
            </a:extLst>
          </p:cNvPr>
          <p:cNvSpPr>
            <a:spLocks noGrp="1"/>
          </p:cNvSpPr>
          <p:nvPr>
            <p:ph idx="1"/>
          </p:nvPr>
        </p:nvSpPr>
        <p:spPr/>
        <p:txBody>
          <a:bodyPr>
            <a:normAutofit fontScale="92500" lnSpcReduction="10000"/>
          </a:bodyPr>
          <a:lstStyle/>
          <a:p>
            <a:r>
              <a:rPr lang="ru-RU" dirty="0"/>
              <a:t>DMA работает </a:t>
            </a:r>
            <a:r>
              <a:rPr lang="ru-RU" b="1" dirty="0"/>
              <a:t>с физическими адресами</a:t>
            </a:r>
            <a:r>
              <a:rPr lang="ru-RU" dirty="0"/>
              <a:t>, не с виртуальными.</a:t>
            </a:r>
          </a:p>
          <a:p>
            <a:r>
              <a:rPr lang="ru-RU" dirty="0"/>
              <a:t>ОС преобразует виртуальные адреса буфера в физические перед началом I/O.</a:t>
            </a:r>
          </a:p>
          <a:p>
            <a:r>
              <a:rPr lang="ru-RU" dirty="0"/>
              <a:t>Из-за </a:t>
            </a:r>
            <a:r>
              <a:rPr lang="ru-RU" dirty="0" err="1"/>
              <a:t>разнесённости</a:t>
            </a:r>
            <a:r>
              <a:rPr lang="ru-RU" dirty="0"/>
              <a:t> физических страниц ввод-вывод может разбиваться на части.</a:t>
            </a:r>
          </a:p>
          <a:p>
            <a:r>
              <a:rPr lang="ru-RU" dirty="0"/>
              <a:t>Современные контроллеры поддерживают </a:t>
            </a:r>
            <a:r>
              <a:rPr lang="ru-RU" b="1" dirty="0" err="1"/>
              <a:t>scatter</a:t>
            </a:r>
            <a:r>
              <a:rPr lang="ru-RU" b="1" dirty="0"/>
              <a:t>/</a:t>
            </a:r>
            <a:r>
              <a:rPr lang="ru-RU" b="1" dirty="0" err="1"/>
              <a:t>gather</a:t>
            </a:r>
            <a:r>
              <a:rPr lang="ru-RU" b="1" dirty="0"/>
              <a:t> DMA</a:t>
            </a:r>
            <a:r>
              <a:rPr lang="ru-RU" dirty="0"/>
              <a:t>:</a:t>
            </a:r>
          </a:p>
          <a:p>
            <a:pPr lvl="1"/>
            <a:r>
              <a:rPr lang="ru-RU" dirty="0"/>
              <a:t>один список описывает несколько физических блоков;</a:t>
            </a:r>
          </a:p>
          <a:p>
            <a:pPr lvl="1"/>
            <a:r>
              <a:rPr lang="ru-RU" dirty="0"/>
              <a:t>контроллер выполняет серию передач автоматически;</a:t>
            </a:r>
          </a:p>
          <a:p>
            <a:pPr lvl="1"/>
            <a:r>
              <a:rPr lang="ru-RU" dirty="0"/>
              <a:t>в конце генерируется одно прерывание (</a:t>
            </a:r>
            <a:r>
              <a:rPr lang="ru-RU" dirty="0" err="1"/>
              <a:t>batching</a:t>
            </a:r>
            <a:r>
              <a:rPr lang="ru-RU" dirty="0"/>
              <a:t>).</a:t>
            </a:r>
          </a:p>
          <a:p>
            <a:r>
              <a:rPr lang="ru-RU" dirty="0"/>
              <a:t>Это снижает накладные расходы и позволяет эффективно передавать большие буферы.</a:t>
            </a:r>
          </a:p>
          <a:p>
            <a:endParaRPr lang="en-US" dirty="0"/>
          </a:p>
        </p:txBody>
      </p:sp>
    </p:spTree>
    <p:extLst>
      <p:ext uri="{BB962C8B-B14F-4D97-AF65-F5344CB8AC3E}">
        <p14:creationId xmlns:p14="http://schemas.microsoft.com/office/powerpoint/2010/main" val="33621752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4400-32E6-E3EC-2451-AFA4F0FEAC8B}"/>
              </a:ext>
            </a:extLst>
          </p:cNvPr>
          <p:cNvSpPr>
            <a:spLocks noGrp="1"/>
          </p:cNvSpPr>
          <p:nvPr>
            <p:ph type="title"/>
          </p:nvPr>
        </p:nvSpPr>
        <p:spPr/>
        <p:txBody>
          <a:bodyPr/>
          <a:lstStyle/>
          <a:p>
            <a:r>
              <a:rPr lang="ru-RU" dirty="0"/>
              <a:t>Итоги</a:t>
            </a:r>
            <a:endParaRPr lang="en-US" dirty="0"/>
          </a:p>
        </p:txBody>
      </p:sp>
      <p:sp>
        <p:nvSpPr>
          <p:cNvPr id="3" name="Content Placeholder 2">
            <a:extLst>
              <a:ext uri="{FF2B5EF4-FFF2-40B4-BE49-F238E27FC236}">
                <a16:creationId xmlns:a16="http://schemas.microsoft.com/office/drawing/2014/main" id="{CB6218AA-F4DA-F2E4-E432-55E8D3F87294}"/>
              </a:ext>
            </a:extLst>
          </p:cNvPr>
          <p:cNvSpPr>
            <a:spLocks noGrp="1"/>
          </p:cNvSpPr>
          <p:nvPr>
            <p:ph idx="1"/>
          </p:nvPr>
        </p:nvSpPr>
        <p:spPr/>
        <p:txBody>
          <a:bodyPr>
            <a:normAutofit fontScale="85000" lnSpcReduction="10000"/>
          </a:bodyPr>
          <a:lstStyle/>
          <a:p>
            <a:r>
              <a:rPr lang="ru-RU" dirty="0"/>
              <a:t>Виртуальная память тесно связана с операциями ввода-вывода</a:t>
            </a:r>
          </a:p>
          <a:p>
            <a:r>
              <a:rPr lang="ru-RU" dirty="0"/>
              <a:t>Контроллер DMA работает с физическими адресами, а не с виртуальными</a:t>
            </a:r>
          </a:p>
          <a:p>
            <a:pPr lvl="1"/>
            <a:r>
              <a:rPr lang="ru-RU" dirty="0"/>
              <a:t>ОС переводит виртуальные адреса буфера в физические перед I/O</a:t>
            </a:r>
          </a:p>
          <a:p>
            <a:r>
              <a:rPr lang="ru-RU" dirty="0"/>
              <a:t>При фрагментированной памяти используется </a:t>
            </a:r>
            <a:r>
              <a:rPr lang="ru-RU" dirty="0" err="1"/>
              <a:t>scatter</a:t>
            </a:r>
            <a:r>
              <a:rPr lang="ru-RU" dirty="0"/>
              <a:t>/</a:t>
            </a:r>
            <a:r>
              <a:rPr lang="ru-RU" dirty="0" err="1"/>
              <a:t>gather</a:t>
            </a:r>
            <a:r>
              <a:rPr lang="ru-RU" dirty="0"/>
              <a:t> DMA</a:t>
            </a:r>
          </a:p>
          <a:p>
            <a:pPr lvl="1"/>
            <a:r>
              <a:rPr lang="ru-RU" dirty="0"/>
              <a:t>Контроллер выполняет серию передач по списку физических блоков и генерируется одно прерывание после завершения всей операции</a:t>
            </a:r>
          </a:p>
          <a:p>
            <a:r>
              <a:rPr lang="ru-RU" dirty="0"/>
              <a:t>Страницы, задействованные в DMA, блокируются, и не замещаются</a:t>
            </a:r>
          </a:p>
          <a:p>
            <a:r>
              <a:rPr lang="ru-RU" dirty="0"/>
              <a:t>Альтернатива — I/O через </a:t>
            </a:r>
            <a:r>
              <a:rPr lang="ru-RU" dirty="0" err="1"/>
              <a:t>kernel</a:t>
            </a:r>
            <a:r>
              <a:rPr lang="ru-RU" dirty="0"/>
              <a:t> </a:t>
            </a:r>
            <a:r>
              <a:rPr lang="ru-RU" dirty="0" err="1"/>
              <a:t>buffers</a:t>
            </a:r>
            <a:r>
              <a:rPr lang="ru-RU" dirty="0"/>
              <a:t>, но с издержками на копирование</a:t>
            </a:r>
          </a:p>
          <a:p>
            <a:r>
              <a:rPr lang="ru-RU" dirty="0"/>
              <a:t>Цель — безопасность данных при сохранении высокой производительности</a:t>
            </a:r>
          </a:p>
        </p:txBody>
      </p:sp>
    </p:spTree>
    <p:extLst>
      <p:ext uri="{BB962C8B-B14F-4D97-AF65-F5344CB8AC3E}">
        <p14:creationId xmlns:p14="http://schemas.microsoft.com/office/powerpoint/2010/main" val="24204704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215D78-939F-5375-EECE-BB8851400767}"/>
              </a:ext>
            </a:extLst>
          </p:cNvPr>
          <p:cNvSpPr>
            <a:spLocks noGrp="1"/>
          </p:cNvSpPr>
          <p:nvPr>
            <p:ph type="title"/>
          </p:nvPr>
        </p:nvSpPr>
        <p:spPr/>
        <p:txBody>
          <a:bodyPr/>
          <a:lstStyle/>
          <a:p>
            <a:r>
              <a:rPr lang="ru-RU" dirty="0"/>
              <a:t>Резервное хранилище страниц</a:t>
            </a:r>
            <a:endParaRPr lang="en-US" dirty="0"/>
          </a:p>
        </p:txBody>
      </p:sp>
      <p:sp>
        <p:nvSpPr>
          <p:cNvPr id="5" name="Text Placeholder 4">
            <a:extLst>
              <a:ext uri="{FF2B5EF4-FFF2-40B4-BE49-F238E27FC236}">
                <a16:creationId xmlns:a16="http://schemas.microsoft.com/office/drawing/2014/main" id="{F01CDB16-C3D6-579E-BF7C-BB715CC84C88}"/>
              </a:ext>
            </a:extLst>
          </p:cNvPr>
          <p:cNvSpPr>
            <a:spLocks noGrp="1"/>
          </p:cNvSpPr>
          <p:nvPr>
            <p:ph type="body" idx="1"/>
          </p:nvPr>
        </p:nvSpPr>
        <p:spPr/>
        <p:txBody>
          <a:bodyPr/>
          <a:lstStyle/>
          <a:p>
            <a:r>
              <a:rPr lang="en-US" dirty="0"/>
              <a:t>Backing Store</a:t>
            </a:r>
          </a:p>
        </p:txBody>
      </p:sp>
    </p:spTree>
    <p:extLst>
      <p:ext uri="{BB962C8B-B14F-4D97-AF65-F5344CB8AC3E}">
        <p14:creationId xmlns:p14="http://schemas.microsoft.com/office/powerpoint/2010/main" val="3071112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9DAF81-DD0E-0C48-F90D-89A9CD37DF53}"/>
              </a:ext>
            </a:extLst>
          </p:cNvPr>
          <p:cNvSpPr>
            <a:spLocks noGrp="1"/>
          </p:cNvSpPr>
          <p:nvPr>
            <p:ph type="title"/>
          </p:nvPr>
        </p:nvSpPr>
        <p:spPr/>
        <p:txBody>
          <a:bodyPr/>
          <a:lstStyle/>
          <a:p>
            <a:r>
              <a:rPr lang="ru-RU" dirty="0"/>
              <a:t>Что такое резервное хранилище страниц</a:t>
            </a:r>
            <a:endParaRPr lang="en-US" dirty="0"/>
          </a:p>
        </p:txBody>
      </p:sp>
      <p:sp>
        <p:nvSpPr>
          <p:cNvPr id="5" name="Content Placeholder 4">
            <a:extLst>
              <a:ext uri="{FF2B5EF4-FFF2-40B4-BE49-F238E27FC236}">
                <a16:creationId xmlns:a16="http://schemas.microsoft.com/office/drawing/2014/main" id="{B5472CF2-F955-C15A-F6F6-3CAA0427468F}"/>
              </a:ext>
            </a:extLst>
          </p:cNvPr>
          <p:cNvSpPr>
            <a:spLocks noGrp="1"/>
          </p:cNvSpPr>
          <p:nvPr>
            <p:ph idx="1"/>
          </p:nvPr>
        </p:nvSpPr>
        <p:spPr/>
        <p:txBody>
          <a:bodyPr/>
          <a:lstStyle/>
          <a:p>
            <a:r>
              <a:rPr lang="ru-RU" dirty="0"/>
              <a:t>Место хранения страниц, выгруженных из памяти</a:t>
            </a:r>
          </a:p>
          <a:p>
            <a:r>
              <a:rPr lang="ru-RU" dirty="0"/>
              <a:t>Обычно реализуется как </a:t>
            </a:r>
            <a:r>
              <a:rPr lang="ru-RU" b="1" dirty="0" err="1"/>
              <a:t>swap</a:t>
            </a:r>
            <a:r>
              <a:rPr lang="ru-RU" b="1" dirty="0"/>
              <a:t>-раздел</a:t>
            </a:r>
            <a:r>
              <a:rPr lang="ru-RU" dirty="0"/>
              <a:t> или </a:t>
            </a:r>
            <a:r>
              <a:rPr lang="ru-RU" b="1" dirty="0"/>
              <a:t>файл подкачки</a:t>
            </a:r>
            <a:endParaRPr lang="ru-RU" dirty="0"/>
          </a:p>
          <a:p>
            <a:r>
              <a:rPr lang="ru-RU" dirty="0"/>
              <a:t>Необходим для реализации виртуальной памяти</a:t>
            </a:r>
          </a:p>
          <a:p>
            <a:r>
              <a:rPr lang="ru-RU" dirty="0"/>
              <a:t>Определяет производительность и гибкость системы</a:t>
            </a:r>
          </a:p>
          <a:p>
            <a:endParaRPr lang="en-US" dirty="0"/>
          </a:p>
        </p:txBody>
      </p:sp>
    </p:spTree>
    <p:extLst>
      <p:ext uri="{BB962C8B-B14F-4D97-AF65-F5344CB8AC3E}">
        <p14:creationId xmlns:p14="http://schemas.microsoft.com/office/powerpoint/2010/main" val="27142101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0E713-DCC6-6401-1E7D-D383EB5967BF}"/>
              </a:ext>
            </a:extLst>
          </p:cNvPr>
          <p:cNvSpPr>
            <a:spLocks noGrp="1"/>
          </p:cNvSpPr>
          <p:nvPr>
            <p:ph type="title"/>
          </p:nvPr>
        </p:nvSpPr>
        <p:spPr/>
        <p:txBody>
          <a:bodyPr/>
          <a:lstStyle/>
          <a:p>
            <a:r>
              <a:rPr lang="ru-RU" dirty="0"/>
              <a:t>Классическая схема (</a:t>
            </a:r>
            <a:r>
              <a:rPr lang="ru-RU" dirty="0" err="1"/>
              <a:t>swap</a:t>
            </a:r>
            <a:r>
              <a:rPr lang="ru-RU" dirty="0"/>
              <a:t>-раздел)</a:t>
            </a:r>
            <a:endParaRPr lang="en-US" dirty="0"/>
          </a:p>
        </p:txBody>
      </p:sp>
      <p:sp>
        <p:nvSpPr>
          <p:cNvPr id="3" name="Content Placeholder 2">
            <a:extLst>
              <a:ext uri="{FF2B5EF4-FFF2-40B4-BE49-F238E27FC236}">
                <a16:creationId xmlns:a16="http://schemas.microsoft.com/office/drawing/2014/main" id="{DE97D0FC-8621-44E2-0031-216969823B25}"/>
              </a:ext>
            </a:extLst>
          </p:cNvPr>
          <p:cNvSpPr>
            <a:spLocks noGrp="1"/>
          </p:cNvSpPr>
          <p:nvPr>
            <p:ph sz="half" idx="1"/>
          </p:nvPr>
        </p:nvSpPr>
        <p:spPr/>
        <p:txBody>
          <a:bodyPr>
            <a:normAutofit fontScale="92500" lnSpcReduction="10000"/>
          </a:bodyPr>
          <a:lstStyle/>
          <a:p>
            <a:r>
              <a:rPr lang="ru-RU" dirty="0"/>
              <a:t>Отдельный раздел без файловой системы</a:t>
            </a:r>
          </a:p>
          <a:p>
            <a:r>
              <a:rPr lang="ru-RU" dirty="0"/>
              <a:t>Используются прямые номера блоков</a:t>
            </a:r>
          </a:p>
          <a:p>
            <a:r>
              <a:rPr lang="ru-RU" dirty="0"/>
              <a:t>Простое управление: выделение и освобождение блоков</a:t>
            </a:r>
          </a:p>
          <a:p>
            <a:r>
              <a:rPr lang="ru-RU" dirty="0"/>
              <a:t>Невозможность гибкого изменения размера процесса</a:t>
            </a:r>
          </a:p>
          <a:p>
            <a:r>
              <a:rPr lang="ru-RU" dirty="0"/>
              <a:t>Эффективно при стабильных процессах (UNIX-подход)</a:t>
            </a:r>
          </a:p>
        </p:txBody>
      </p:sp>
      <p:pic>
        <p:nvPicPr>
          <p:cNvPr id="12" name="Content Placeholder 11">
            <a:extLst>
              <a:ext uri="{FF2B5EF4-FFF2-40B4-BE49-F238E27FC236}">
                <a16:creationId xmlns:a16="http://schemas.microsoft.com/office/drawing/2014/main" id="{DF932C0A-EE30-AB31-A71C-B75F030CCB0C}"/>
              </a:ext>
            </a:extLst>
          </p:cNvPr>
          <p:cNvPicPr>
            <a:picLocks noGrp="1" noChangeAspect="1"/>
          </p:cNvPicPr>
          <p:nvPr>
            <p:ph sz="half" idx="2"/>
          </p:nvPr>
        </p:nvPicPr>
        <p:blipFill>
          <a:blip r:embed="rId3"/>
          <a:stretch>
            <a:fillRect/>
          </a:stretch>
        </p:blipFill>
        <p:spPr>
          <a:xfrm>
            <a:off x="6727222" y="1825625"/>
            <a:ext cx="4071556" cy="4351338"/>
          </a:xfrm>
          <a:prstGeom prst="rect">
            <a:avLst/>
          </a:prstGeom>
        </p:spPr>
      </p:pic>
    </p:spTree>
    <p:extLst>
      <p:ext uri="{BB962C8B-B14F-4D97-AF65-F5344CB8AC3E}">
        <p14:creationId xmlns:p14="http://schemas.microsoft.com/office/powerpoint/2010/main" val="32961373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F2B5-38EF-3CD2-D041-BFAE64CA76C2}"/>
              </a:ext>
            </a:extLst>
          </p:cNvPr>
          <p:cNvSpPr>
            <a:spLocks noGrp="1"/>
          </p:cNvSpPr>
          <p:nvPr>
            <p:ph type="title"/>
          </p:nvPr>
        </p:nvSpPr>
        <p:spPr/>
        <p:txBody>
          <a:bodyPr/>
          <a:lstStyle/>
          <a:p>
            <a:r>
              <a:rPr lang="ru-RU" dirty="0"/>
              <a:t>Гибкое и динамическое выделение</a:t>
            </a:r>
            <a:endParaRPr lang="en-US" dirty="0"/>
          </a:p>
        </p:txBody>
      </p:sp>
      <p:sp>
        <p:nvSpPr>
          <p:cNvPr id="3" name="Content Placeholder 2">
            <a:extLst>
              <a:ext uri="{FF2B5EF4-FFF2-40B4-BE49-F238E27FC236}">
                <a16:creationId xmlns:a16="http://schemas.microsoft.com/office/drawing/2014/main" id="{F705BB40-3847-DE38-DA84-2ACB88BDD630}"/>
              </a:ext>
            </a:extLst>
          </p:cNvPr>
          <p:cNvSpPr>
            <a:spLocks noGrp="1"/>
          </p:cNvSpPr>
          <p:nvPr>
            <p:ph sz="half" idx="1"/>
          </p:nvPr>
        </p:nvSpPr>
        <p:spPr/>
        <p:txBody>
          <a:bodyPr>
            <a:normAutofit fontScale="92500" lnSpcReduction="20000"/>
          </a:bodyPr>
          <a:lstStyle/>
          <a:p>
            <a:r>
              <a:rPr lang="ru-RU" dirty="0"/>
              <a:t>Разделение </a:t>
            </a:r>
            <a:r>
              <a:rPr lang="ru-RU" dirty="0" err="1"/>
              <a:t>swap</a:t>
            </a:r>
            <a:r>
              <a:rPr lang="ru-RU" dirty="0"/>
              <a:t> по областям (код, данные, стек)</a:t>
            </a:r>
          </a:p>
          <a:p>
            <a:r>
              <a:rPr lang="ru-RU" dirty="0"/>
              <a:t>Возможен рост каждой области независимо</a:t>
            </a:r>
          </a:p>
          <a:p>
            <a:r>
              <a:rPr lang="ru-RU" dirty="0"/>
              <a:t>Динамическая модель: страница получает место при подкачке</a:t>
            </a:r>
          </a:p>
          <a:p>
            <a:r>
              <a:rPr lang="ru-RU" dirty="0"/>
              <a:t>Требует таблицы соответствия (</a:t>
            </a:r>
            <a:r>
              <a:rPr lang="ru-RU" dirty="0" err="1"/>
              <a:t>disk</a:t>
            </a:r>
            <a:r>
              <a:rPr lang="ru-RU" dirty="0"/>
              <a:t> </a:t>
            </a:r>
            <a:r>
              <a:rPr lang="ru-RU" dirty="0" err="1"/>
              <a:t>map</a:t>
            </a:r>
            <a:r>
              <a:rPr lang="ru-RU" dirty="0"/>
              <a:t>)</a:t>
            </a:r>
          </a:p>
          <a:p>
            <a:r>
              <a:rPr lang="ru-RU" dirty="0"/>
              <a:t>Экономия дискового пространства, но усложнение управления</a:t>
            </a:r>
          </a:p>
        </p:txBody>
      </p:sp>
      <p:pic>
        <p:nvPicPr>
          <p:cNvPr id="14" name="Content Placeholder 13">
            <a:extLst>
              <a:ext uri="{FF2B5EF4-FFF2-40B4-BE49-F238E27FC236}">
                <a16:creationId xmlns:a16="http://schemas.microsoft.com/office/drawing/2014/main" id="{7680BAAB-3808-9687-D74F-A6B9A4DCEBC3}"/>
              </a:ext>
            </a:extLst>
          </p:cNvPr>
          <p:cNvPicPr>
            <a:picLocks noGrp="1" noChangeAspect="1"/>
          </p:cNvPicPr>
          <p:nvPr>
            <p:ph sz="half" idx="2"/>
          </p:nvPr>
        </p:nvPicPr>
        <p:blipFill>
          <a:blip r:embed="rId3"/>
          <a:stretch>
            <a:fillRect/>
          </a:stretch>
        </p:blipFill>
        <p:spPr>
          <a:xfrm>
            <a:off x="6739036" y="1825625"/>
            <a:ext cx="4047928" cy="4351338"/>
          </a:xfrm>
          <a:prstGeom prst="rect">
            <a:avLst/>
          </a:prstGeom>
        </p:spPr>
      </p:pic>
    </p:spTree>
    <p:extLst>
      <p:ext uri="{BB962C8B-B14F-4D97-AF65-F5344CB8AC3E}">
        <p14:creationId xmlns:p14="http://schemas.microsoft.com/office/powerpoint/2010/main" val="20673143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E26288-49F0-7DC0-5537-BC3220101FD2}"/>
              </a:ext>
            </a:extLst>
          </p:cNvPr>
          <p:cNvSpPr>
            <a:spLocks noGrp="1"/>
          </p:cNvSpPr>
          <p:nvPr>
            <p:ph type="title"/>
          </p:nvPr>
        </p:nvSpPr>
        <p:spPr/>
        <p:txBody>
          <a:bodyPr/>
          <a:lstStyle/>
          <a:p>
            <a:r>
              <a:rPr lang="ru-RU" dirty="0"/>
              <a:t>Сравнение стратегий</a:t>
            </a:r>
            <a:endParaRPr lang="en-US" dirty="0"/>
          </a:p>
        </p:txBody>
      </p:sp>
      <p:graphicFrame>
        <p:nvGraphicFramePr>
          <p:cNvPr id="7" name="Content Placeholder 6">
            <a:extLst>
              <a:ext uri="{FF2B5EF4-FFF2-40B4-BE49-F238E27FC236}">
                <a16:creationId xmlns:a16="http://schemas.microsoft.com/office/drawing/2014/main" id="{A5BD1794-FAB2-E122-E0F4-53DFC85277D6}"/>
              </a:ext>
            </a:extLst>
          </p:cNvPr>
          <p:cNvGraphicFramePr>
            <a:graphicFrameLocks noGrp="1"/>
          </p:cNvGraphicFramePr>
          <p:nvPr>
            <p:ph idx="1"/>
            <p:extLst>
              <p:ext uri="{D42A27DB-BD31-4B8C-83A1-F6EECF244321}">
                <p14:modId xmlns:p14="http://schemas.microsoft.com/office/powerpoint/2010/main" val="3956562145"/>
              </p:ext>
            </p:extLst>
          </p:nvPr>
        </p:nvGraphicFramePr>
        <p:xfrm>
          <a:off x="838200" y="1825625"/>
          <a:ext cx="10515597" cy="16510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213977250"/>
                    </a:ext>
                  </a:extLst>
                </a:gridCol>
                <a:gridCol w="3505199">
                  <a:extLst>
                    <a:ext uri="{9D8B030D-6E8A-4147-A177-3AD203B41FA5}">
                      <a16:colId xmlns:a16="http://schemas.microsoft.com/office/drawing/2014/main" val="230515072"/>
                    </a:ext>
                  </a:extLst>
                </a:gridCol>
                <a:gridCol w="3505199">
                  <a:extLst>
                    <a:ext uri="{9D8B030D-6E8A-4147-A177-3AD203B41FA5}">
                      <a16:colId xmlns:a16="http://schemas.microsoft.com/office/drawing/2014/main" val="3558417709"/>
                    </a:ext>
                  </a:extLst>
                </a:gridCol>
              </a:tblGrid>
              <a:tr h="370840">
                <a:tc>
                  <a:txBody>
                    <a:bodyPr/>
                    <a:lstStyle/>
                    <a:p>
                      <a:r>
                        <a:rPr lang="ru-RU" dirty="0"/>
                        <a:t>Стратегия выделения</a:t>
                      </a:r>
                      <a:endParaRPr lang="en-US" dirty="0"/>
                    </a:p>
                  </a:txBody>
                  <a:tcPr/>
                </a:tc>
                <a:tc>
                  <a:txBody>
                    <a:bodyPr/>
                    <a:lstStyle/>
                    <a:p>
                      <a:r>
                        <a:rPr lang="ru-RU" dirty="0"/>
                        <a:t>Преимущества</a:t>
                      </a:r>
                      <a:endParaRPr lang="en-US" dirty="0"/>
                    </a:p>
                  </a:txBody>
                  <a:tcPr/>
                </a:tc>
                <a:tc>
                  <a:txBody>
                    <a:bodyPr/>
                    <a:lstStyle/>
                    <a:p>
                      <a:r>
                        <a:rPr lang="ru-RU" dirty="0"/>
                        <a:t>Недостатки</a:t>
                      </a:r>
                      <a:endParaRPr lang="en-US" dirty="0"/>
                    </a:p>
                  </a:txBody>
                  <a:tcPr/>
                </a:tc>
                <a:extLst>
                  <a:ext uri="{0D108BD9-81ED-4DB2-BD59-A6C34878D82A}">
                    <a16:rowId xmlns:a16="http://schemas.microsoft.com/office/drawing/2014/main" val="1334678274"/>
                  </a:ext>
                </a:extLst>
              </a:tr>
              <a:tr h="370840">
                <a:tc>
                  <a:txBody>
                    <a:bodyPr/>
                    <a:lstStyle/>
                    <a:p>
                      <a:r>
                        <a:rPr lang="ru-RU" dirty="0"/>
                        <a:t>Фиксированная</a:t>
                      </a:r>
                      <a:endParaRPr lang="en-US" dirty="0"/>
                    </a:p>
                  </a:txBody>
                  <a:tcPr/>
                </a:tc>
                <a:tc>
                  <a:txBody>
                    <a:bodyPr/>
                    <a:lstStyle/>
                    <a:p>
                      <a:r>
                        <a:rPr lang="ru-RU" dirty="0"/>
                        <a:t>Простая адресация, высокая скорость</a:t>
                      </a:r>
                      <a:endParaRPr lang="en-US" dirty="0"/>
                    </a:p>
                  </a:txBody>
                  <a:tcPr/>
                </a:tc>
                <a:tc>
                  <a:txBody>
                    <a:bodyPr/>
                    <a:lstStyle/>
                    <a:p>
                      <a:r>
                        <a:rPr lang="ru-RU" dirty="0"/>
                        <a:t>Требует больше места, негибкий</a:t>
                      </a:r>
                      <a:endParaRPr lang="en-US" dirty="0"/>
                    </a:p>
                  </a:txBody>
                  <a:tcPr/>
                </a:tc>
                <a:extLst>
                  <a:ext uri="{0D108BD9-81ED-4DB2-BD59-A6C34878D82A}">
                    <a16:rowId xmlns:a16="http://schemas.microsoft.com/office/drawing/2014/main" val="2826084166"/>
                  </a:ext>
                </a:extLst>
              </a:tr>
              <a:tr h="370840">
                <a:tc>
                  <a:txBody>
                    <a:bodyPr/>
                    <a:lstStyle/>
                    <a:p>
                      <a:r>
                        <a:rPr lang="ru-RU" dirty="0"/>
                        <a:t>Динамическая</a:t>
                      </a:r>
                      <a:endParaRPr lang="en-US" dirty="0"/>
                    </a:p>
                  </a:txBody>
                  <a:tcPr/>
                </a:tc>
                <a:tc>
                  <a:txBody>
                    <a:bodyPr/>
                    <a:lstStyle/>
                    <a:p>
                      <a:r>
                        <a:rPr lang="ru-RU" dirty="0"/>
                        <a:t>Экономия места, гибкость</a:t>
                      </a:r>
                      <a:endParaRPr lang="en-US" dirty="0"/>
                    </a:p>
                  </a:txBody>
                  <a:tcPr/>
                </a:tc>
                <a:tc>
                  <a:txBody>
                    <a:bodyPr/>
                    <a:lstStyle/>
                    <a:p>
                      <a:r>
                        <a:rPr lang="ru-RU" dirty="0"/>
                        <a:t>Нужна карта дисковых адресов, чуть выше накладные расходы</a:t>
                      </a:r>
                      <a:endParaRPr lang="en-US" dirty="0"/>
                    </a:p>
                  </a:txBody>
                  <a:tcPr/>
                </a:tc>
                <a:extLst>
                  <a:ext uri="{0D108BD9-81ED-4DB2-BD59-A6C34878D82A}">
                    <a16:rowId xmlns:a16="http://schemas.microsoft.com/office/drawing/2014/main" val="3170976794"/>
                  </a:ext>
                </a:extLst>
              </a:tr>
            </a:tbl>
          </a:graphicData>
        </a:graphic>
      </p:graphicFrame>
    </p:spTree>
    <p:extLst>
      <p:ext uri="{BB962C8B-B14F-4D97-AF65-F5344CB8AC3E}">
        <p14:creationId xmlns:p14="http://schemas.microsoft.com/office/powerpoint/2010/main" val="22628342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69E2-4302-33FA-48EA-4F1032F96EE1}"/>
              </a:ext>
            </a:extLst>
          </p:cNvPr>
          <p:cNvSpPr>
            <a:spLocks noGrp="1"/>
          </p:cNvSpPr>
          <p:nvPr>
            <p:ph type="title"/>
          </p:nvPr>
        </p:nvSpPr>
        <p:spPr/>
        <p:txBody>
          <a:bodyPr/>
          <a:lstStyle/>
          <a:p>
            <a:r>
              <a:rPr lang="ru-RU" dirty="0"/>
              <a:t>Реализация без </a:t>
            </a:r>
            <a:r>
              <a:rPr lang="ru-RU" dirty="0" err="1"/>
              <a:t>swap</a:t>
            </a:r>
            <a:r>
              <a:rPr lang="ru-RU" dirty="0"/>
              <a:t>-раздела</a:t>
            </a:r>
            <a:endParaRPr lang="en-US" dirty="0"/>
          </a:p>
        </p:txBody>
      </p:sp>
      <p:sp>
        <p:nvSpPr>
          <p:cNvPr id="3" name="Content Placeholder 2">
            <a:extLst>
              <a:ext uri="{FF2B5EF4-FFF2-40B4-BE49-F238E27FC236}">
                <a16:creationId xmlns:a16="http://schemas.microsoft.com/office/drawing/2014/main" id="{058AFB32-FE04-1BDD-78D5-387E0EF644D9}"/>
              </a:ext>
            </a:extLst>
          </p:cNvPr>
          <p:cNvSpPr>
            <a:spLocks noGrp="1"/>
          </p:cNvSpPr>
          <p:nvPr>
            <p:ph idx="1"/>
          </p:nvPr>
        </p:nvSpPr>
        <p:spPr/>
        <p:txBody>
          <a:bodyPr/>
          <a:lstStyle/>
          <a:p>
            <a:r>
              <a:rPr lang="ru-RU" dirty="0"/>
              <a:t>Если раздел отсутствует, используется файл подкачки</a:t>
            </a:r>
          </a:p>
          <a:p>
            <a:r>
              <a:rPr lang="ru-RU" dirty="0"/>
              <a:t>Windows: один или несколько </a:t>
            </a:r>
            <a:r>
              <a:rPr lang="ru-RU" dirty="0" err="1"/>
              <a:t>preallocated</a:t>
            </a:r>
            <a:r>
              <a:rPr lang="ru-RU" dirty="0"/>
              <a:t> файлов</a:t>
            </a:r>
          </a:p>
          <a:p>
            <a:r>
              <a:rPr lang="ru-RU" dirty="0"/>
              <a:t>Коды программ и библиотеки можно не сохранять в </a:t>
            </a:r>
            <a:r>
              <a:rPr lang="ru-RU" dirty="0" err="1"/>
              <a:t>swap</a:t>
            </a:r>
            <a:endParaRPr lang="ru-RU" dirty="0"/>
          </a:p>
          <a:p>
            <a:pPr lvl="1"/>
            <a:r>
              <a:rPr lang="ru-RU" dirty="0"/>
              <a:t>При нехватке памяти просто выгружаются</a:t>
            </a:r>
          </a:p>
          <a:p>
            <a:pPr lvl="1"/>
            <a:r>
              <a:rPr lang="ru-RU" dirty="0"/>
              <a:t>При необходимости читаются обратно из исполняемого файла</a:t>
            </a:r>
          </a:p>
          <a:p>
            <a:r>
              <a:rPr lang="ru-RU" dirty="0"/>
              <a:t>Экономия дискового пространства и ускорение загрузки</a:t>
            </a:r>
          </a:p>
        </p:txBody>
      </p:sp>
    </p:spTree>
    <p:extLst>
      <p:ext uri="{BB962C8B-B14F-4D97-AF65-F5344CB8AC3E}">
        <p14:creationId xmlns:p14="http://schemas.microsoft.com/office/powerpoint/2010/main" val="27872701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5BE66A-0C2E-BBD8-D431-02C6BF5EBC07}"/>
              </a:ext>
            </a:extLst>
          </p:cNvPr>
          <p:cNvSpPr>
            <a:spLocks noGrp="1"/>
          </p:cNvSpPr>
          <p:nvPr>
            <p:ph type="title"/>
          </p:nvPr>
        </p:nvSpPr>
        <p:spPr/>
        <p:txBody>
          <a:bodyPr/>
          <a:lstStyle/>
          <a:p>
            <a:r>
              <a:rPr lang="ru-RU" dirty="0"/>
              <a:t>Разделение политики и механизма</a:t>
            </a:r>
            <a:endParaRPr lang="en-US" dirty="0"/>
          </a:p>
        </p:txBody>
      </p:sp>
      <p:sp>
        <p:nvSpPr>
          <p:cNvPr id="5" name="Text Placeholder 4">
            <a:extLst>
              <a:ext uri="{FF2B5EF4-FFF2-40B4-BE49-F238E27FC236}">
                <a16:creationId xmlns:a16="http://schemas.microsoft.com/office/drawing/2014/main" id="{CEFDEF6E-8896-63FA-74F3-7B850D292A7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201877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8279B5-3078-8AC1-81D4-E57FC53E2563}"/>
              </a:ext>
            </a:extLst>
          </p:cNvPr>
          <p:cNvSpPr>
            <a:spLocks noGrp="1"/>
          </p:cNvSpPr>
          <p:nvPr>
            <p:ph type="title"/>
          </p:nvPr>
        </p:nvSpPr>
        <p:spPr/>
        <p:txBody>
          <a:bodyPr>
            <a:normAutofit/>
          </a:bodyPr>
          <a:lstStyle/>
          <a:p>
            <a:r>
              <a:rPr lang="ru-RU" dirty="0"/>
              <a:t>Принцип разделения политики и механизма</a:t>
            </a:r>
            <a:endParaRPr lang="en-US" dirty="0"/>
          </a:p>
        </p:txBody>
      </p:sp>
      <p:sp>
        <p:nvSpPr>
          <p:cNvPr id="5" name="Content Placeholder 4">
            <a:extLst>
              <a:ext uri="{FF2B5EF4-FFF2-40B4-BE49-F238E27FC236}">
                <a16:creationId xmlns:a16="http://schemas.microsoft.com/office/drawing/2014/main" id="{30831347-FB41-3751-E5D0-B74C2C491F08}"/>
              </a:ext>
            </a:extLst>
          </p:cNvPr>
          <p:cNvSpPr>
            <a:spLocks noGrp="1"/>
          </p:cNvSpPr>
          <p:nvPr>
            <p:ph idx="1"/>
          </p:nvPr>
        </p:nvSpPr>
        <p:spPr/>
        <p:txBody>
          <a:bodyPr/>
          <a:lstStyle/>
          <a:p>
            <a:r>
              <a:rPr lang="ru-RU" dirty="0"/>
              <a:t>Ключевой принцип проектирования сложных систем</a:t>
            </a:r>
          </a:p>
          <a:p>
            <a:pPr lvl="1"/>
            <a:r>
              <a:rPr lang="ru-RU" dirty="0"/>
              <a:t>Механизм — «как делать»</a:t>
            </a:r>
          </a:p>
          <a:p>
            <a:pPr lvl="1"/>
            <a:r>
              <a:rPr lang="ru-RU" dirty="0"/>
              <a:t>Политика — «что именно делать»</a:t>
            </a:r>
          </a:p>
          <a:p>
            <a:r>
              <a:rPr lang="ru-RU" dirty="0"/>
              <a:t>Позволяет повысить модульность, надёжность и переносимость</a:t>
            </a:r>
          </a:p>
          <a:p>
            <a:r>
              <a:rPr lang="ru-RU" dirty="0"/>
              <a:t>Применён в ОС </a:t>
            </a:r>
            <a:r>
              <a:rPr lang="ru-RU" dirty="0" err="1"/>
              <a:t>Mach</a:t>
            </a:r>
            <a:r>
              <a:rPr lang="ru-RU" dirty="0"/>
              <a:t> (1987), основанном на </a:t>
            </a:r>
            <a:r>
              <a:rPr lang="ru-RU" dirty="0" err="1"/>
              <a:t>микрядре</a:t>
            </a:r>
            <a:endParaRPr lang="ru-RU" dirty="0"/>
          </a:p>
        </p:txBody>
      </p:sp>
    </p:spTree>
    <p:extLst>
      <p:ext uri="{BB962C8B-B14F-4D97-AF65-F5344CB8AC3E}">
        <p14:creationId xmlns:p14="http://schemas.microsoft.com/office/powerpoint/2010/main" val="18064105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BD300-B622-3FAF-CCD4-61786CFDABF3}"/>
              </a:ext>
            </a:extLst>
          </p:cNvPr>
          <p:cNvSpPr>
            <a:spLocks noGrp="1"/>
          </p:cNvSpPr>
          <p:nvPr>
            <p:ph type="title"/>
          </p:nvPr>
        </p:nvSpPr>
        <p:spPr/>
        <p:txBody>
          <a:bodyPr/>
          <a:lstStyle/>
          <a:p>
            <a:r>
              <a:rPr lang="ru-RU" dirty="0"/>
              <a:t>Архитектура управления памятью в </a:t>
            </a:r>
            <a:r>
              <a:rPr lang="ru-RU" dirty="0" err="1"/>
              <a:t>Mach</a:t>
            </a:r>
            <a:endParaRPr lang="en-US" dirty="0"/>
          </a:p>
        </p:txBody>
      </p:sp>
      <p:sp>
        <p:nvSpPr>
          <p:cNvPr id="3" name="Content Placeholder 2">
            <a:extLst>
              <a:ext uri="{FF2B5EF4-FFF2-40B4-BE49-F238E27FC236}">
                <a16:creationId xmlns:a16="http://schemas.microsoft.com/office/drawing/2014/main" id="{908CE9F5-C627-0B8E-EDFB-8D5AB71615F4}"/>
              </a:ext>
            </a:extLst>
          </p:cNvPr>
          <p:cNvSpPr>
            <a:spLocks noGrp="1"/>
          </p:cNvSpPr>
          <p:nvPr>
            <p:ph idx="1"/>
          </p:nvPr>
        </p:nvSpPr>
        <p:spPr/>
        <p:txBody>
          <a:bodyPr/>
          <a:lstStyle/>
          <a:p>
            <a:r>
              <a:rPr lang="ru-RU" dirty="0"/>
              <a:t>MMU </a:t>
            </a:r>
            <a:r>
              <a:rPr lang="ru-RU" dirty="0" err="1"/>
              <a:t>Handler</a:t>
            </a:r>
            <a:r>
              <a:rPr lang="ru-RU" dirty="0"/>
              <a:t> — машинно-зависимый низкоуровневый код</a:t>
            </a:r>
          </a:p>
          <a:p>
            <a:r>
              <a:rPr lang="ru-RU" dirty="0"/>
              <a:t>Page </a:t>
            </a:r>
            <a:r>
              <a:rPr lang="ru-RU" dirty="0" err="1"/>
              <a:t>Fault</a:t>
            </a:r>
            <a:r>
              <a:rPr lang="ru-RU" dirty="0"/>
              <a:t> </a:t>
            </a:r>
            <a:r>
              <a:rPr lang="ru-RU" dirty="0" err="1"/>
              <a:t>Handler</a:t>
            </a:r>
            <a:r>
              <a:rPr lang="ru-RU" dirty="0"/>
              <a:t> — ядро, обрабатывает ошибки страниц</a:t>
            </a:r>
          </a:p>
          <a:p>
            <a:r>
              <a:rPr lang="ru-RU" dirty="0" err="1"/>
              <a:t>External</a:t>
            </a:r>
            <a:r>
              <a:rPr lang="ru-RU" dirty="0"/>
              <a:t> </a:t>
            </a:r>
            <a:r>
              <a:rPr lang="ru-RU" dirty="0" err="1"/>
              <a:t>Pager</a:t>
            </a:r>
            <a:r>
              <a:rPr lang="ru-RU" dirty="0"/>
              <a:t> — пользовательский процесс, определяет политику</a:t>
            </a:r>
          </a:p>
          <a:p>
            <a:r>
              <a:rPr lang="ru-RU" dirty="0"/>
              <a:t>Так разделяется ответственность между уровнем ядра и пользовательским пространством</a:t>
            </a:r>
          </a:p>
        </p:txBody>
      </p:sp>
    </p:spTree>
    <p:extLst>
      <p:ext uri="{BB962C8B-B14F-4D97-AF65-F5344CB8AC3E}">
        <p14:creationId xmlns:p14="http://schemas.microsoft.com/office/powerpoint/2010/main" val="4067348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8583B-0C69-9828-8629-65329854BF24}"/>
              </a:ext>
            </a:extLst>
          </p:cNvPr>
          <p:cNvSpPr>
            <a:spLocks noGrp="1"/>
          </p:cNvSpPr>
          <p:nvPr>
            <p:ph type="title"/>
          </p:nvPr>
        </p:nvSpPr>
        <p:spPr/>
        <p:txBody>
          <a:bodyPr/>
          <a:lstStyle/>
          <a:p>
            <a:r>
              <a:rPr lang="ru-RU" dirty="0"/>
              <a:t>Работа внешнего пейджера</a:t>
            </a:r>
            <a:endParaRPr lang="en-US" dirty="0"/>
          </a:p>
        </p:txBody>
      </p:sp>
      <p:sp>
        <p:nvSpPr>
          <p:cNvPr id="3" name="Content Placeholder 2">
            <a:extLst>
              <a:ext uri="{FF2B5EF4-FFF2-40B4-BE49-F238E27FC236}">
                <a16:creationId xmlns:a16="http://schemas.microsoft.com/office/drawing/2014/main" id="{4F50F862-E9E6-0434-6203-6871293C6FA2}"/>
              </a:ext>
            </a:extLst>
          </p:cNvPr>
          <p:cNvSpPr>
            <a:spLocks noGrp="1"/>
          </p:cNvSpPr>
          <p:nvPr>
            <p:ph sz="half" idx="1"/>
          </p:nvPr>
        </p:nvSpPr>
        <p:spPr/>
        <p:txBody>
          <a:bodyPr>
            <a:normAutofit fontScale="92500" lnSpcReduction="10000"/>
          </a:bodyPr>
          <a:lstStyle/>
          <a:p>
            <a:r>
              <a:rPr lang="ru-RU" dirty="0"/>
              <a:t>При запуске процесса — создаёт карту страниц и резервирует </a:t>
            </a:r>
            <a:r>
              <a:rPr lang="ru-RU" dirty="0" err="1"/>
              <a:t>swap</a:t>
            </a:r>
            <a:endParaRPr lang="ru-RU" dirty="0"/>
          </a:p>
          <a:p>
            <a:r>
              <a:rPr lang="ru-RU" dirty="0"/>
              <a:t>При </a:t>
            </a:r>
            <a:r>
              <a:rPr lang="ru-RU" dirty="0" err="1"/>
              <a:t>page</a:t>
            </a:r>
            <a:r>
              <a:rPr lang="ru-RU" dirty="0"/>
              <a:t> </a:t>
            </a:r>
            <a:r>
              <a:rPr lang="ru-RU" dirty="0" err="1"/>
              <a:t>fault</a:t>
            </a:r>
            <a:r>
              <a:rPr lang="ru-RU" dirty="0"/>
              <a:t>:</a:t>
            </a:r>
          </a:p>
          <a:p>
            <a:pPr lvl="1"/>
            <a:r>
              <a:rPr lang="ru-RU" dirty="0"/>
              <a:t>ядро уведомляет пейджер;</a:t>
            </a:r>
          </a:p>
          <a:p>
            <a:pPr lvl="1"/>
            <a:r>
              <a:rPr lang="ru-RU" dirty="0"/>
              <a:t>пейджер загружает страницу с диска и сообщает ядру, какая нужна страница;</a:t>
            </a:r>
          </a:p>
          <a:p>
            <a:pPr lvl="1"/>
            <a:r>
              <a:rPr lang="ru-RU" dirty="0"/>
              <a:t>ядро размещает её в адресном пространстве пользователя</a:t>
            </a:r>
          </a:p>
          <a:p>
            <a:r>
              <a:rPr lang="ru-RU" dirty="0"/>
              <a:t>Процесс возобновляет выполнение</a:t>
            </a:r>
          </a:p>
        </p:txBody>
      </p:sp>
      <p:pic>
        <p:nvPicPr>
          <p:cNvPr id="7" name="Content Placeholder 6">
            <a:extLst>
              <a:ext uri="{FF2B5EF4-FFF2-40B4-BE49-F238E27FC236}">
                <a16:creationId xmlns:a16="http://schemas.microsoft.com/office/drawing/2014/main" id="{75B4EE00-991D-D055-7516-A6C31A0DA0E6}"/>
              </a:ext>
            </a:extLst>
          </p:cNvPr>
          <p:cNvPicPr>
            <a:picLocks noGrp="1" noChangeAspect="1"/>
          </p:cNvPicPr>
          <p:nvPr>
            <p:ph sz="half" idx="2"/>
          </p:nvPr>
        </p:nvPicPr>
        <p:blipFill>
          <a:blip r:embed="rId3"/>
          <a:stretch>
            <a:fillRect/>
          </a:stretch>
        </p:blipFill>
        <p:spPr>
          <a:xfrm>
            <a:off x="6172200" y="2586336"/>
            <a:ext cx="5181600" cy="2829916"/>
          </a:xfrm>
          <a:prstGeom prst="rect">
            <a:avLst/>
          </a:prstGeom>
        </p:spPr>
      </p:pic>
    </p:spTree>
    <p:extLst>
      <p:ext uri="{BB962C8B-B14F-4D97-AF65-F5344CB8AC3E}">
        <p14:creationId xmlns:p14="http://schemas.microsoft.com/office/powerpoint/2010/main" val="15180366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1799-21DB-921B-356C-A0B99E49974C}"/>
              </a:ext>
            </a:extLst>
          </p:cNvPr>
          <p:cNvSpPr>
            <a:spLocks noGrp="1"/>
          </p:cNvSpPr>
          <p:nvPr>
            <p:ph type="title"/>
          </p:nvPr>
        </p:nvSpPr>
        <p:spPr/>
        <p:txBody>
          <a:bodyPr/>
          <a:lstStyle/>
          <a:p>
            <a:r>
              <a:rPr lang="ru-RU" dirty="0"/>
              <a:t>Где должен быть реализован алгоритм замещения</a:t>
            </a:r>
            <a:r>
              <a:rPr lang="en-US" dirty="0"/>
              <a:t>?</a:t>
            </a:r>
          </a:p>
        </p:txBody>
      </p:sp>
      <p:sp>
        <p:nvSpPr>
          <p:cNvPr id="3" name="Content Placeholder 2">
            <a:extLst>
              <a:ext uri="{FF2B5EF4-FFF2-40B4-BE49-F238E27FC236}">
                <a16:creationId xmlns:a16="http://schemas.microsoft.com/office/drawing/2014/main" id="{23501D53-4E97-2E51-CEB2-C007AA34EAC2}"/>
              </a:ext>
            </a:extLst>
          </p:cNvPr>
          <p:cNvSpPr>
            <a:spLocks noGrp="1"/>
          </p:cNvSpPr>
          <p:nvPr>
            <p:ph idx="1"/>
          </p:nvPr>
        </p:nvSpPr>
        <p:spPr/>
        <p:txBody>
          <a:bodyPr/>
          <a:lstStyle/>
          <a:p>
            <a:r>
              <a:rPr lang="ru-RU" dirty="0"/>
              <a:t>Идеально — во внешнем пейджере (</a:t>
            </a:r>
            <a:r>
              <a:rPr lang="ru-RU" dirty="0" err="1"/>
              <a:t>user</a:t>
            </a:r>
            <a:r>
              <a:rPr lang="ru-RU" dirty="0"/>
              <a:t> </a:t>
            </a:r>
            <a:r>
              <a:rPr lang="ru-RU" dirty="0" err="1"/>
              <a:t>space</a:t>
            </a:r>
            <a:r>
              <a:rPr lang="ru-RU" dirty="0"/>
              <a:t>)</a:t>
            </a:r>
          </a:p>
          <a:p>
            <a:r>
              <a:rPr lang="ru-RU" dirty="0"/>
              <a:t>Проблема: недоступность </a:t>
            </a:r>
            <a:r>
              <a:rPr lang="ru-RU" b="1" dirty="0"/>
              <a:t>R и M битов</a:t>
            </a:r>
            <a:r>
              <a:rPr lang="ru-RU" dirty="0"/>
              <a:t> MMU</a:t>
            </a:r>
          </a:p>
          <a:p>
            <a:r>
              <a:rPr lang="ru-RU" dirty="0"/>
              <a:t>Варианты:</a:t>
            </a:r>
          </a:p>
          <a:p>
            <a:pPr lvl="1"/>
            <a:r>
              <a:rPr lang="ru-RU" dirty="0"/>
              <a:t>ядро передаёт статистику страниц пейджеру</a:t>
            </a:r>
          </a:p>
          <a:p>
            <a:pPr lvl="1"/>
            <a:r>
              <a:rPr lang="ru-RU" dirty="0"/>
              <a:t>или сам алгоритм остаётся в ядре, а пейджер только записывает страницы</a:t>
            </a:r>
          </a:p>
          <a:p>
            <a:r>
              <a:rPr lang="ru-RU" dirty="0"/>
              <a:t>Компромисс между гибкостью и скоростью</a:t>
            </a:r>
          </a:p>
        </p:txBody>
      </p:sp>
    </p:spTree>
    <p:extLst>
      <p:ext uri="{BB962C8B-B14F-4D97-AF65-F5344CB8AC3E}">
        <p14:creationId xmlns:p14="http://schemas.microsoft.com/office/powerpoint/2010/main" val="2974021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AACE-E4D7-3386-ABCC-3D4A6ADAFCC2}"/>
              </a:ext>
            </a:extLst>
          </p:cNvPr>
          <p:cNvSpPr>
            <a:spLocks noGrp="1"/>
          </p:cNvSpPr>
          <p:nvPr>
            <p:ph type="title"/>
          </p:nvPr>
        </p:nvSpPr>
        <p:spPr/>
        <p:txBody>
          <a:bodyPr/>
          <a:lstStyle/>
          <a:p>
            <a:r>
              <a:rPr lang="ru-RU" dirty="0"/>
              <a:t>Преимущества и недостатки подхода</a:t>
            </a:r>
            <a:endParaRPr lang="en-US" dirty="0"/>
          </a:p>
        </p:txBody>
      </p:sp>
      <p:sp>
        <p:nvSpPr>
          <p:cNvPr id="3" name="Content Placeholder 2">
            <a:extLst>
              <a:ext uri="{FF2B5EF4-FFF2-40B4-BE49-F238E27FC236}">
                <a16:creationId xmlns:a16="http://schemas.microsoft.com/office/drawing/2014/main" id="{FDE6C8BF-02DE-5B89-35C8-9ABD954BAA79}"/>
              </a:ext>
            </a:extLst>
          </p:cNvPr>
          <p:cNvSpPr>
            <a:spLocks noGrp="1"/>
          </p:cNvSpPr>
          <p:nvPr>
            <p:ph idx="1"/>
          </p:nvPr>
        </p:nvSpPr>
        <p:spPr/>
        <p:txBody>
          <a:bodyPr>
            <a:normAutofit/>
          </a:bodyPr>
          <a:lstStyle/>
          <a:p>
            <a:r>
              <a:rPr lang="ru-RU" dirty="0"/>
              <a:t>Преимущества:</a:t>
            </a:r>
          </a:p>
          <a:p>
            <a:pPr lvl="1"/>
            <a:r>
              <a:rPr lang="ru-RU" dirty="0"/>
              <a:t>Модульность, чистая архитектура</a:t>
            </a:r>
          </a:p>
          <a:p>
            <a:pPr lvl="1"/>
            <a:r>
              <a:rPr lang="ru-RU" dirty="0"/>
              <a:t>Простота переноса на разные процессоры</a:t>
            </a:r>
          </a:p>
          <a:p>
            <a:pPr lvl="1"/>
            <a:r>
              <a:rPr lang="ru-RU" dirty="0"/>
              <a:t>Возможность реализации разных политик подкачки</a:t>
            </a:r>
          </a:p>
          <a:p>
            <a:r>
              <a:rPr lang="ru-RU" dirty="0"/>
              <a:t>Недостатки:</a:t>
            </a:r>
          </a:p>
          <a:p>
            <a:pPr lvl="1"/>
            <a:r>
              <a:rPr lang="ru-RU" dirty="0"/>
              <a:t>Дополнительные переходы между режимом ядра и режимом пользователя</a:t>
            </a:r>
          </a:p>
          <a:p>
            <a:pPr lvl="1"/>
            <a:r>
              <a:rPr lang="ru-RU" dirty="0"/>
              <a:t>Обмен сообщениями между компонентами</a:t>
            </a:r>
          </a:p>
          <a:p>
            <a:pPr lvl="1"/>
            <a:r>
              <a:rPr lang="ru-RU" dirty="0"/>
              <a:t>Небольшое снижение производительности</a:t>
            </a:r>
          </a:p>
          <a:p>
            <a:endParaRPr lang="en-US" dirty="0"/>
          </a:p>
        </p:txBody>
      </p:sp>
    </p:spTree>
    <p:extLst>
      <p:ext uri="{BB962C8B-B14F-4D97-AF65-F5344CB8AC3E}">
        <p14:creationId xmlns:p14="http://schemas.microsoft.com/office/powerpoint/2010/main" val="41282743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46C371-1F98-CABC-95D9-E421D0EEF4D6}"/>
              </a:ext>
            </a:extLst>
          </p:cNvPr>
          <p:cNvSpPr>
            <a:spLocks noGrp="1"/>
          </p:cNvSpPr>
          <p:nvPr>
            <p:ph type="title"/>
          </p:nvPr>
        </p:nvSpPr>
        <p:spPr/>
        <p:txBody>
          <a:bodyPr/>
          <a:lstStyle/>
          <a:p>
            <a:r>
              <a:rPr lang="ru-RU" dirty="0"/>
              <a:t>Сегментация памяти</a:t>
            </a:r>
            <a:endParaRPr lang="en-US" dirty="0"/>
          </a:p>
        </p:txBody>
      </p:sp>
      <p:sp>
        <p:nvSpPr>
          <p:cNvPr id="5" name="Text Placeholder 4">
            <a:extLst>
              <a:ext uri="{FF2B5EF4-FFF2-40B4-BE49-F238E27FC236}">
                <a16:creationId xmlns:a16="http://schemas.microsoft.com/office/drawing/2014/main" id="{394A041E-CA2E-2526-E42B-E34478E44E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41525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0EEB1B-0F16-B82D-886F-12DA728D5FF6}"/>
              </a:ext>
            </a:extLst>
          </p:cNvPr>
          <p:cNvSpPr>
            <a:spLocks noGrp="1"/>
          </p:cNvSpPr>
          <p:nvPr>
            <p:ph type="title"/>
          </p:nvPr>
        </p:nvSpPr>
        <p:spPr/>
        <p:txBody>
          <a:bodyPr/>
          <a:lstStyle/>
          <a:p>
            <a:r>
              <a:rPr lang="ru-RU" dirty="0"/>
              <a:t>Проблема одномерной памяти</a:t>
            </a:r>
            <a:endParaRPr lang="en-US" dirty="0"/>
          </a:p>
        </p:txBody>
      </p:sp>
      <p:sp>
        <p:nvSpPr>
          <p:cNvPr id="5" name="Content Placeholder 4">
            <a:extLst>
              <a:ext uri="{FF2B5EF4-FFF2-40B4-BE49-F238E27FC236}">
                <a16:creationId xmlns:a16="http://schemas.microsoft.com/office/drawing/2014/main" id="{7B56DE58-C07E-0752-DFDD-2F63F3C85DA1}"/>
              </a:ext>
            </a:extLst>
          </p:cNvPr>
          <p:cNvSpPr>
            <a:spLocks noGrp="1"/>
          </p:cNvSpPr>
          <p:nvPr>
            <p:ph sz="half" idx="1"/>
          </p:nvPr>
        </p:nvSpPr>
        <p:spPr>
          <a:xfrm>
            <a:off x="838200" y="1825625"/>
            <a:ext cx="5397290" cy="4351338"/>
          </a:xfrm>
        </p:spPr>
        <p:txBody>
          <a:bodyPr>
            <a:normAutofit lnSpcReduction="10000"/>
          </a:bodyPr>
          <a:lstStyle/>
          <a:p>
            <a:r>
              <a:rPr lang="ru-RU" dirty="0"/>
              <a:t>Виртуальная память до сих пор рассматривалась как одна линейная область</a:t>
            </a:r>
          </a:p>
          <a:p>
            <a:r>
              <a:rPr lang="ru-RU" dirty="0"/>
              <a:t>Программы состоят из логически независимых частей (код, данные, стек…)</a:t>
            </a:r>
          </a:p>
          <a:p>
            <a:r>
              <a:rPr lang="ru-RU" dirty="0"/>
              <a:t>Эти части растут по-разному, поэтому возникает конфликт размещения</a:t>
            </a:r>
          </a:p>
          <a:p>
            <a:r>
              <a:rPr lang="ru-RU" dirty="0"/>
              <a:t>Требуется более гибкий подход</a:t>
            </a:r>
          </a:p>
        </p:txBody>
      </p:sp>
      <p:pic>
        <p:nvPicPr>
          <p:cNvPr id="8" name="Content Placeholder 7">
            <a:extLst>
              <a:ext uri="{FF2B5EF4-FFF2-40B4-BE49-F238E27FC236}">
                <a16:creationId xmlns:a16="http://schemas.microsoft.com/office/drawing/2014/main" id="{8512E569-4037-E2CA-0CD7-F654908B3216}"/>
              </a:ext>
            </a:extLst>
          </p:cNvPr>
          <p:cNvPicPr>
            <a:picLocks noGrp="1" noChangeAspect="1"/>
          </p:cNvPicPr>
          <p:nvPr>
            <p:ph sz="half" idx="2"/>
          </p:nvPr>
        </p:nvPicPr>
        <p:blipFill>
          <a:blip r:embed="rId3"/>
          <a:stretch>
            <a:fillRect/>
          </a:stretch>
        </p:blipFill>
        <p:spPr>
          <a:xfrm>
            <a:off x="6235490" y="1825625"/>
            <a:ext cx="5055019" cy="4351338"/>
          </a:xfrm>
          <a:prstGeom prst="rect">
            <a:avLst/>
          </a:prstGeom>
        </p:spPr>
      </p:pic>
    </p:spTree>
    <p:extLst>
      <p:ext uri="{BB962C8B-B14F-4D97-AF65-F5344CB8AC3E}">
        <p14:creationId xmlns:p14="http://schemas.microsoft.com/office/powerpoint/2010/main" val="32955700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86BC6-FF9F-647F-E136-F4058B7991A4}"/>
              </a:ext>
            </a:extLst>
          </p:cNvPr>
          <p:cNvSpPr>
            <a:spLocks noGrp="1"/>
          </p:cNvSpPr>
          <p:nvPr>
            <p:ph type="title"/>
          </p:nvPr>
        </p:nvSpPr>
        <p:spPr/>
        <p:txBody>
          <a:bodyPr/>
          <a:lstStyle/>
          <a:p>
            <a:r>
              <a:rPr lang="ru-RU" dirty="0"/>
              <a:t>Идея сегментации</a:t>
            </a:r>
            <a:endParaRPr lang="en-US" dirty="0"/>
          </a:p>
        </p:txBody>
      </p:sp>
      <p:sp>
        <p:nvSpPr>
          <p:cNvPr id="3" name="Content Placeholder 2">
            <a:extLst>
              <a:ext uri="{FF2B5EF4-FFF2-40B4-BE49-F238E27FC236}">
                <a16:creationId xmlns:a16="http://schemas.microsoft.com/office/drawing/2014/main" id="{E7829901-ABBE-AA53-059A-AC10D78D1A55}"/>
              </a:ext>
            </a:extLst>
          </p:cNvPr>
          <p:cNvSpPr>
            <a:spLocks noGrp="1"/>
          </p:cNvSpPr>
          <p:nvPr>
            <p:ph sz="half" idx="1"/>
          </p:nvPr>
        </p:nvSpPr>
        <p:spPr/>
        <p:txBody>
          <a:bodyPr>
            <a:normAutofit fontScale="92500" lnSpcReduction="20000"/>
          </a:bodyPr>
          <a:lstStyle/>
          <a:p>
            <a:r>
              <a:rPr lang="ru-RU" dirty="0"/>
              <a:t>Разделить память на независимые адресные пространства — </a:t>
            </a:r>
            <a:r>
              <a:rPr lang="ru-RU" b="1" dirty="0"/>
              <a:t>сегменты</a:t>
            </a:r>
          </a:p>
          <a:p>
            <a:r>
              <a:rPr lang="ru-RU" dirty="0"/>
              <a:t>Каждый сегмент имеет свой размер и назначение</a:t>
            </a:r>
          </a:p>
          <a:p>
            <a:r>
              <a:rPr lang="ru-RU" dirty="0"/>
              <a:t>Адрес состоит из двух частей: &lt;номер сегмента, смещение&gt;</a:t>
            </a:r>
          </a:p>
          <a:p>
            <a:r>
              <a:rPr lang="ru-RU" dirty="0"/>
              <a:t>Сегменты могут расти или уменьшаться независимо</a:t>
            </a:r>
          </a:p>
          <a:p>
            <a:r>
              <a:rPr lang="ru-RU" dirty="0"/>
              <a:t>Пример: для компилятора — отдельные сегменты под текст, таблицы, стек</a:t>
            </a:r>
          </a:p>
          <a:p>
            <a:endParaRPr lang="en-US" dirty="0"/>
          </a:p>
        </p:txBody>
      </p:sp>
      <p:pic>
        <p:nvPicPr>
          <p:cNvPr id="6" name="Content Placeholder 5">
            <a:extLst>
              <a:ext uri="{FF2B5EF4-FFF2-40B4-BE49-F238E27FC236}">
                <a16:creationId xmlns:a16="http://schemas.microsoft.com/office/drawing/2014/main" id="{39F9C9FF-5CEC-80B1-DF87-A1DC95105B62}"/>
              </a:ext>
            </a:extLst>
          </p:cNvPr>
          <p:cNvPicPr>
            <a:picLocks noGrp="1" noChangeAspect="1"/>
          </p:cNvPicPr>
          <p:nvPr>
            <p:ph sz="half" idx="2"/>
          </p:nvPr>
        </p:nvPicPr>
        <p:blipFill>
          <a:blip r:embed="rId3"/>
          <a:stretch>
            <a:fillRect/>
          </a:stretch>
        </p:blipFill>
        <p:spPr>
          <a:xfrm>
            <a:off x="6172200" y="2673680"/>
            <a:ext cx="5181600" cy="2655228"/>
          </a:xfrm>
          <a:prstGeom prst="rect">
            <a:avLst/>
          </a:prstGeom>
        </p:spPr>
      </p:pic>
    </p:spTree>
    <p:extLst>
      <p:ext uri="{BB962C8B-B14F-4D97-AF65-F5344CB8AC3E}">
        <p14:creationId xmlns:p14="http://schemas.microsoft.com/office/powerpoint/2010/main" val="28949514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5D78-F4F5-22C7-8785-33FB33388C14}"/>
              </a:ext>
            </a:extLst>
          </p:cNvPr>
          <p:cNvSpPr>
            <a:spLocks noGrp="1"/>
          </p:cNvSpPr>
          <p:nvPr>
            <p:ph type="title"/>
          </p:nvPr>
        </p:nvSpPr>
        <p:spPr/>
        <p:txBody>
          <a:bodyPr/>
          <a:lstStyle/>
          <a:p>
            <a:r>
              <a:rPr lang="ru-RU" dirty="0"/>
              <a:t>Преимущества сегментации</a:t>
            </a:r>
            <a:endParaRPr lang="en-US" dirty="0"/>
          </a:p>
        </p:txBody>
      </p:sp>
      <p:sp>
        <p:nvSpPr>
          <p:cNvPr id="3" name="Content Placeholder 2">
            <a:extLst>
              <a:ext uri="{FF2B5EF4-FFF2-40B4-BE49-F238E27FC236}">
                <a16:creationId xmlns:a16="http://schemas.microsoft.com/office/drawing/2014/main" id="{FAC6C37A-84AB-0ADF-3AF8-D919D5FD5185}"/>
              </a:ext>
            </a:extLst>
          </p:cNvPr>
          <p:cNvSpPr>
            <a:spLocks noGrp="1"/>
          </p:cNvSpPr>
          <p:nvPr>
            <p:ph idx="1"/>
          </p:nvPr>
        </p:nvSpPr>
        <p:spPr/>
        <p:txBody>
          <a:bodyPr/>
          <a:lstStyle/>
          <a:p>
            <a:r>
              <a:rPr lang="ru-RU" dirty="0"/>
              <a:t>Удобство при работе с изменяющимися структурами данных</a:t>
            </a:r>
          </a:p>
          <a:p>
            <a:r>
              <a:rPr lang="ru-RU" dirty="0"/>
              <a:t>Процедуры и модули можно размещать в отдельных отдельные сегментах, что упрощает связывание</a:t>
            </a:r>
          </a:p>
          <a:p>
            <a:r>
              <a:rPr lang="ru-RU" dirty="0"/>
              <a:t>Изменение размера процедуры не требует пересборки других</a:t>
            </a:r>
          </a:p>
          <a:p>
            <a:r>
              <a:rPr lang="ru-RU" dirty="0"/>
              <a:t>Возможность разделения кода и данных между процессами</a:t>
            </a:r>
          </a:p>
          <a:p>
            <a:r>
              <a:rPr lang="ru-RU" dirty="0"/>
              <a:t>Гибкая система защиты и доступа к сегментам</a:t>
            </a:r>
          </a:p>
          <a:p>
            <a:endParaRPr lang="en-US" dirty="0"/>
          </a:p>
        </p:txBody>
      </p:sp>
    </p:spTree>
    <p:extLst>
      <p:ext uri="{BB962C8B-B14F-4D97-AF65-F5344CB8AC3E}">
        <p14:creationId xmlns:p14="http://schemas.microsoft.com/office/powerpoint/2010/main" val="38828384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0FCE-5FF2-9481-4B97-39F05280B02E}"/>
              </a:ext>
            </a:extLst>
          </p:cNvPr>
          <p:cNvSpPr>
            <a:spLocks noGrp="1"/>
          </p:cNvSpPr>
          <p:nvPr>
            <p:ph type="title"/>
          </p:nvPr>
        </p:nvSpPr>
        <p:spPr/>
        <p:txBody>
          <a:bodyPr/>
          <a:lstStyle/>
          <a:p>
            <a:r>
              <a:rPr lang="ru-RU" dirty="0"/>
              <a:t>Сравнение сегментации и страничной адресации</a:t>
            </a:r>
            <a:endParaRPr lang="en-US" dirty="0"/>
          </a:p>
        </p:txBody>
      </p:sp>
      <p:graphicFrame>
        <p:nvGraphicFramePr>
          <p:cNvPr id="4" name="Content Placeholder 3">
            <a:extLst>
              <a:ext uri="{FF2B5EF4-FFF2-40B4-BE49-F238E27FC236}">
                <a16:creationId xmlns:a16="http://schemas.microsoft.com/office/drawing/2014/main" id="{79F71260-A04E-31EC-51FE-86155DF27A38}"/>
              </a:ext>
            </a:extLst>
          </p:cNvPr>
          <p:cNvGraphicFramePr>
            <a:graphicFrameLocks noGrp="1"/>
          </p:cNvGraphicFramePr>
          <p:nvPr>
            <p:ph idx="1"/>
            <p:extLst>
              <p:ext uri="{D42A27DB-BD31-4B8C-83A1-F6EECF244321}">
                <p14:modId xmlns:p14="http://schemas.microsoft.com/office/powerpoint/2010/main" val="441532674"/>
              </p:ext>
            </p:extLst>
          </p:nvPr>
        </p:nvGraphicFramePr>
        <p:xfrm>
          <a:off x="838200" y="1825625"/>
          <a:ext cx="10515597" cy="39420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086645160"/>
                    </a:ext>
                  </a:extLst>
                </a:gridCol>
                <a:gridCol w="3505199">
                  <a:extLst>
                    <a:ext uri="{9D8B030D-6E8A-4147-A177-3AD203B41FA5}">
                      <a16:colId xmlns:a16="http://schemas.microsoft.com/office/drawing/2014/main" val="2722648288"/>
                    </a:ext>
                  </a:extLst>
                </a:gridCol>
                <a:gridCol w="3505199">
                  <a:extLst>
                    <a:ext uri="{9D8B030D-6E8A-4147-A177-3AD203B41FA5}">
                      <a16:colId xmlns:a16="http://schemas.microsoft.com/office/drawing/2014/main" val="4093079063"/>
                    </a:ext>
                  </a:extLst>
                </a:gridCol>
              </a:tblGrid>
              <a:tr h="370840">
                <a:tc>
                  <a:txBody>
                    <a:bodyPr/>
                    <a:lstStyle/>
                    <a:p>
                      <a:r>
                        <a:rPr lang="ru-RU" dirty="0"/>
                        <a:t>Характеристика</a:t>
                      </a:r>
                      <a:endParaRPr lang="en-US" dirty="0"/>
                    </a:p>
                  </a:txBody>
                  <a:tcPr/>
                </a:tc>
                <a:tc>
                  <a:txBody>
                    <a:bodyPr/>
                    <a:lstStyle/>
                    <a:p>
                      <a:r>
                        <a:rPr lang="ru-RU" dirty="0"/>
                        <a:t>Страничная адресация</a:t>
                      </a:r>
                      <a:endParaRPr lang="en-US" dirty="0"/>
                    </a:p>
                  </a:txBody>
                  <a:tcPr/>
                </a:tc>
                <a:tc>
                  <a:txBody>
                    <a:bodyPr/>
                    <a:lstStyle/>
                    <a:p>
                      <a:r>
                        <a:rPr lang="ru-RU" dirty="0"/>
                        <a:t>Сегментация</a:t>
                      </a:r>
                      <a:endParaRPr lang="en-US" dirty="0"/>
                    </a:p>
                  </a:txBody>
                  <a:tcPr/>
                </a:tc>
                <a:extLst>
                  <a:ext uri="{0D108BD9-81ED-4DB2-BD59-A6C34878D82A}">
                    <a16:rowId xmlns:a16="http://schemas.microsoft.com/office/drawing/2014/main" val="2480549226"/>
                  </a:ext>
                </a:extLst>
              </a:tr>
              <a:tr h="370840">
                <a:tc>
                  <a:txBody>
                    <a:bodyPr/>
                    <a:lstStyle/>
                    <a:p>
                      <a:r>
                        <a:rPr lang="ru-RU" dirty="0"/>
                        <a:t>Размер блока</a:t>
                      </a:r>
                      <a:endParaRPr lang="en-US" dirty="0"/>
                    </a:p>
                  </a:txBody>
                  <a:tcPr/>
                </a:tc>
                <a:tc>
                  <a:txBody>
                    <a:bodyPr/>
                    <a:lstStyle/>
                    <a:p>
                      <a:r>
                        <a:rPr lang="ru-RU" dirty="0"/>
                        <a:t>Фиксированный размер (например, 4</a:t>
                      </a:r>
                      <a:r>
                        <a:rPr lang="en-US" dirty="0"/>
                        <a:t>K)</a:t>
                      </a:r>
                    </a:p>
                  </a:txBody>
                  <a:tcPr/>
                </a:tc>
                <a:tc>
                  <a:txBody>
                    <a:bodyPr/>
                    <a:lstStyle/>
                    <a:p>
                      <a:r>
                        <a:rPr lang="ru-RU" dirty="0"/>
                        <a:t>Переменный</a:t>
                      </a:r>
                      <a:endParaRPr lang="en-US" dirty="0"/>
                    </a:p>
                  </a:txBody>
                  <a:tcPr/>
                </a:tc>
                <a:extLst>
                  <a:ext uri="{0D108BD9-81ED-4DB2-BD59-A6C34878D82A}">
                    <a16:rowId xmlns:a16="http://schemas.microsoft.com/office/drawing/2014/main" val="3953404136"/>
                  </a:ext>
                </a:extLst>
              </a:tr>
              <a:tr h="370840">
                <a:tc>
                  <a:txBody>
                    <a:bodyPr/>
                    <a:lstStyle/>
                    <a:p>
                      <a:r>
                        <a:rPr lang="ru-RU" dirty="0"/>
                        <a:t>Назначение</a:t>
                      </a:r>
                      <a:endParaRPr lang="en-US" dirty="0"/>
                    </a:p>
                  </a:txBody>
                  <a:tcPr/>
                </a:tc>
                <a:tc>
                  <a:txBody>
                    <a:bodyPr/>
                    <a:lstStyle/>
                    <a:p>
                      <a:r>
                        <a:rPr lang="ru-RU" dirty="0"/>
                        <a:t>Эффективное использование памяти</a:t>
                      </a:r>
                      <a:endParaRPr lang="en-US" dirty="0"/>
                    </a:p>
                  </a:txBody>
                  <a:tcPr/>
                </a:tc>
                <a:tc>
                  <a:txBody>
                    <a:bodyPr/>
                    <a:lstStyle/>
                    <a:p>
                      <a:r>
                        <a:rPr lang="ru-RU" dirty="0"/>
                        <a:t>Логическая организация программы</a:t>
                      </a:r>
                      <a:endParaRPr lang="en-US" dirty="0"/>
                    </a:p>
                  </a:txBody>
                  <a:tcPr/>
                </a:tc>
                <a:extLst>
                  <a:ext uri="{0D108BD9-81ED-4DB2-BD59-A6C34878D82A}">
                    <a16:rowId xmlns:a16="http://schemas.microsoft.com/office/drawing/2014/main" val="3717375607"/>
                  </a:ext>
                </a:extLst>
              </a:tr>
              <a:tr h="370840">
                <a:tc>
                  <a:txBody>
                    <a:bodyPr/>
                    <a:lstStyle/>
                    <a:p>
                      <a:r>
                        <a:rPr lang="ru-RU" dirty="0"/>
                        <a:t>Адрес</a:t>
                      </a:r>
                      <a:endParaRPr lang="en-US" dirty="0"/>
                    </a:p>
                  </a:txBody>
                  <a:tcPr/>
                </a:tc>
                <a:tc>
                  <a:txBody>
                    <a:bodyPr/>
                    <a:lstStyle/>
                    <a:p>
                      <a:r>
                        <a:rPr lang="ru-RU" dirty="0"/>
                        <a:t>Одномерный</a:t>
                      </a:r>
                      <a:endParaRPr lang="en-US" dirty="0"/>
                    </a:p>
                  </a:txBody>
                  <a:tcPr/>
                </a:tc>
                <a:tc>
                  <a:txBody>
                    <a:bodyPr/>
                    <a:lstStyle/>
                    <a:p>
                      <a:r>
                        <a:rPr lang="ru-RU" dirty="0"/>
                        <a:t>Двухмерный (сегмент + смещение)</a:t>
                      </a:r>
                      <a:endParaRPr lang="en-US" dirty="0"/>
                    </a:p>
                  </a:txBody>
                  <a:tcPr/>
                </a:tc>
                <a:extLst>
                  <a:ext uri="{0D108BD9-81ED-4DB2-BD59-A6C34878D82A}">
                    <a16:rowId xmlns:a16="http://schemas.microsoft.com/office/drawing/2014/main" val="3879476164"/>
                  </a:ext>
                </a:extLst>
              </a:tr>
              <a:tr h="370840">
                <a:tc>
                  <a:txBody>
                    <a:bodyPr/>
                    <a:lstStyle/>
                    <a:p>
                      <a:r>
                        <a:rPr lang="ru-RU" dirty="0"/>
                        <a:t>Простота связывания</a:t>
                      </a:r>
                      <a:endParaRPr lang="en-US" dirty="0"/>
                    </a:p>
                  </a:txBody>
                  <a:tcPr/>
                </a:tc>
                <a:tc>
                  <a:txBody>
                    <a:bodyPr/>
                    <a:lstStyle/>
                    <a:p>
                      <a:r>
                        <a:rPr lang="ru-RU" dirty="0"/>
                        <a:t>Сложная</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Простая, каждая процедура – отдельный сегмент</a:t>
                      </a:r>
                      <a:endParaRPr lang="en-US" dirty="0"/>
                    </a:p>
                  </a:txBody>
                  <a:tcPr/>
                </a:tc>
                <a:extLst>
                  <a:ext uri="{0D108BD9-81ED-4DB2-BD59-A6C34878D82A}">
                    <a16:rowId xmlns:a16="http://schemas.microsoft.com/office/drawing/2014/main" val="767236055"/>
                  </a:ext>
                </a:extLst>
              </a:tr>
              <a:tr h="370840">
                <a:tc>
                  <a:txBody>
                    <a:bodyPr/>
                    <a:lstStyle/>
                    <a:p>
                      <a:r>
                        <a:rPr lang="ru-RU" dirty="0"/>
                        <a:t>Защита</a:t>
                      </a:r>
                      <a:endParaRPr lang="en-US" dirty="0"/>
                    </a:p>
                  </a:txBody>
                  <a:tcPr/>
                </a:tc>
                <a:tc>
                  <a:txBody>
                    <a:bodyPr/>
                    <a:lstStyle/>
                    <a:p>
                      <a:r>
                        <a:rPr lang="ru-RU" dirty="0"/>
                        <a:t>На уровне страниц</a:t>
                      </a:r>
                      <a:endParaRPr lang="en-US" dirty="0"/>
                    </a:p>
                  </a:txBody>
                  <a:tcPr/>
                </a:tc>
                <a:tc>
                  <a:txBody>
                    <a:bodyPr/>
                    <a:lstStyle/>
                    <a:p>
                      <a:r>
                        <a:rPr lang="ru-RU" dirty="0"/>
                        <a:t>На уровне логических объектов</a:t>
                      </a:r>
                      <a:endParaRPr lang="en-US" dirty="0"/>
                    </a:p>
                  </a:txBody>
                  <a:tcPr/>
                </a:tc>
                <a:extLst>
                  <a:ext uri="{0D108BD9-81ED-4DB2-BD59-A6C34878D82A}">
                    <a16:rowId xmlns:a16="http://schemas.microsoft.com/office/drawing/2014/main" val="2150482544"/>
                  </a:ext>
                </a:extLst>
              </a:tr>
              <a:tr h="370840">
                <a:tc>
                  <a:txBody>
                    <a:bodyPr/>
                    <a:lstStyle/>
                    <a:p>
                      <a:r>
                        <a:rPr lang="ru-RU" dirty="0"/>
                        <a:t>Совместное использование</a:t>
                      </a:r>
                      <a:endParaRPr lang="en-US" dirty="0"/>
                    </a:p>
                  </a:txBody>
                  <a:tcPr/>
                </a:tc>
                <a:tc>
                  <a:txBody>
                    <a:bodyPr/>
                    <a:lstStyle/>
                    <a:p>
                      <a:r>
                        <a:rPr lang="ru-RU" dirty="0"/>
                        <a:t>Через страницы</a:t>
                      </a:r>
                      <a:endParaRPr lang="en-US" dirty="0"/>
                    </a:p>
                  </a:txBody>
                  <a:tcPr/>
                </a:tc>
                <a:tc>
                  <a:txBody>
                    <a:bodyPr/>
                    <a:lstStyle/>
                    <a:p>
                      <a:r>
                        <a:rPr lang="ru-RU" dirty="0"/>
                        <a:t>Естественно через общие сегменты</a:t>
                      </a:r>
                      <a:endParaRPr lang="en-US" dirty="0"/>
                    </a:p>
                  </a:txBody>
                  <a:tcPr/>
                </a:tc>
                <a:extLst>
                  <a:ext uri="{0D108BD9-81ED-4DB2-BD59-A6C34878D82A}">
                    <a16:rowId xmlns:a16="http://schemas.microsoft.com/office/drawing/2014/main" val="3979790136"/>
                  </a:ext>
                </a:extLst>
              </a:tr>
            </a:tbl>
          </a:graphicData>
        </a:graphic>
      </p:graphicFrame>
    </p:spTree>
    <p:extLst>
      <p:ext uri="{BB962C8B-B14F-4D97-AF65-F5344CB8AC3E}">
        <p14:creationId xmlns:p14="http://schemas.microsoft.com/office/powerpoint/2010/main" val="23106086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6D3A0-28CD-E7E7-AF9F-C2223788BF6F}"/>
              </a:ext>
            </a:extLst>
          </p:cNvPr>
          <p:cNvSpPr>
            <a:spLocks noGrp="1"/>
          </p:cNvSpPr>
          <p:nvPr>
            <p:ph type="title"/>
          </p:nvPr>
        </p:nvSpPr>
        <p:spPr/>
        <p:txBody>
          <a:bodyPr/>
          <a:lstStyle/>
          <a:p>
            <a:r>
              <a:rPr lang="ru-RU" dirty="0"/>
              <a:t>Сложности работы с указателями при сегментации</a:t>
            </a:r>
            <a:endParaRPr lang="en-US" dirty="0"/>
          </a:p>
        </p:txBody>
      </p:sp>
      <p:sp>
        <p:nvSpPr>
          <p:cNvPr id="3" name="Content Placeholder 2">
            <a:extLst>
              <a:ext uri="{FF2B5EF4-FFF2-40B4-BE49-F238E27FC236}">
                <a16:creationId xmlns:a16="http://schemas.microsoft.com/office/drawing/2014/main" id="{2F715D42-5A52-AEBC-9AE5-B22A8C5C61FA}"/>
              </a:ext>
            </a:extLst>
          </p:cNvPr>
          <p:cNvSpPr>
            <a:spLocks noGrp="1"/>
          </p:cNvSpPr>
          <p:nvPr>
            <p:ph idx="1"/>
          </p:nvPr>
        </p:nvSpPr>
        <p:spPr/>
        <p:txBody>
          <a:bodyPr>
            <a:normAutofit fontScale="92500" lnSpcReduction="10000"/>
          </a:bodyPr>
          <a:lstStyle/>
          <a:p>
            <a:r>
              <a:rPr lang="ru-RU" dirty="0"/>
              <a:t>Сложности работы с указателями при сегментации</a:t>
            </a:r>
          </a:p>
          <a:p>
            <a:pPr lvl="1"/>
            <a:r>
              <a:rPr lang="ru-RU" dirty="0"/>
              <a:t>Адрес = &lt;номер сегмента, смещение&gt;</a:t>
            </a:r>
          </a:p>
          <a:p>
            <a:pPr lvl="1"/>
            <a:r>
              <a:rPr lang="ru-RU" dirty="0"/>
              <a:t>Указатель должен хранить обе части</a:t>
            </a:r>
          </a:p>
          <a:p>
            <a:pPr lvl="1"/>
            <a:r>
              <a:rPr lang="ru-RU" dirty="0"/>
              <a:t>Арифметика указателей должна учитывать границы сегмента</a:t>
            </a:r>
          </a:p>
          <a:p>
            <a:r>
              <a:rPr lang="ru-RU" dirty="0"/>
              <a:t>Сравнение указателей из разных сегментов невозможно напрямую</a:t>
            </a:r>
          </a:p>
          <a:p>
            <a:r>
              <a:rPr lang="ru-RU" dirty="0"/>
              <a:t>При передаче указателей между процедурами нужно разрешение доступа к сегменту</a:t>
            </a:r>
          </a:p>
          <a:p>
            <a:r>
              <a:rPr lang="ru-RU" dirty="0"/>
              <a:t>В x86 использовались селекторы сегментов, </a:t>
            </a:r>
            <a:r>
              <a:rPr lang="ru-RU" dirty="0" err="1"/>
              <a:t>near</a:t>
            </a:r>
            <a:r>
              <a:rPr lang="ru-RU" dirty="0"/>
              <a:t> и </a:t>
            </a:r>
            <a:r>
              <a:rPr lang="ru-RU" dirty="0" err="1"/>
              <a:t>far</a:t>
            </a:r>
            <a:r>
              <a:rPr lang="ru-RU" dirty="0"/>
              <a:t> </a:t>
            </a:r>
            <a:r>
              <a:rPr lang="ru-RU" dirty="0" err="1"/>
              <a:t>pointers</a:t>
            </a:r>
            <a:endParaRPr lang="ru-RU" dirty="0"/>
          </a:p>
          <a:p>
            <a:r>
              <a:rPr lang="ru-RU" dirty="0"/>
              <a:t>Итог: сегментация делает систему гибче, но программирование — сложнее</a:t>
            </a:r>
          </a:p>
        </p:txBody>
      </p:sp>
    </p:spTree>
    <p:extLst>
      <p:ext uri="{BB962C8B-B14F-4D97-AF65-F5344CB8AC3E}">
        <p14:creationId xmlns:p14="http://schemas.microsoft.com/office/powerpoint/2010/main" val="37133808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515CA-E462-51A9-EE7F-5BB3E60A3C00}"/>
              </a:ext>
            </a:extLst>
          </p:cNvPr>
          <p:cNvSpPr>
            <a:spLocks noGrp="1"/>
          </p:cNvSpPr>
          <p:nvPr>
            <p:ph type="title"/>
          </p:nvPr>
        </p:nvSpPr>
        <p:spPr>
          <a:xfrm>
            <a:off x="838200" y="365125"/>
            <a:ext cx="10515600" cy="1325563"/>
          </a:xfrm>
        </p:spPr>
        <p:txBody>
          <a:bodyPr/>
          <a:lstStyle/>
          <a:p>
            <a:r>
              <a:rPr lang="ru-RU" dirty="0"/>
              <a:t>Итоги</a:t>
            </a:r>
            <a:endParaRPr lang="en-US" dirty="0"/>
          </a:p>
        </p:txBody>
      </p:sp>
      <p:sp>
        <p:nvSpPr>
          <p:cNvPr id="6" name="Content Placeholder 5">
            <a:extLst>
              <a:ext uri="{FF2B5EF4-FFF2-40B4-BE49-F238E27FC236}">
                <a16:creationId xmlns:a16="http://schemas.microsoft.com/office/drawing/2014/main" id="{85E5FC4E-0BF2-A1E4-4368-CE066F5796EA}"/>
              </a:ext>
            </a:extLst>
          </p:cNvPr>
          <p:cNvSpPr>
            <a:spLocks noGrp="1"/>
          </p:cNvSpPr>
          <p:nvPr>
            <p:ph idx="1"/>
          </p:nvPr>
        </p:nvSpPr>
        <p:spPr/>
        <p:txBody>
          <a:bodyPr>
            <a:normAutofit fontScale="92500" lnSpcReduction="20000"/>
          </a:bodyPr>
          <a:lstStyle/>
          <a:p>
            <a:r>
              <a:rPr lang="ru-RU" dirty="0"/>
              <a:t>Преимущества</a:t>
            </a:r>
          </a:p>
          <a:p>
            <a:pPr lvl="1"/>
            <a:r>
              <a:rPr lang="ru-RU" dirty="0"/>
              <a:t>Сегментация делает виртуальную память двухмерной</a:t>
            </a:r>
          </a:p>
          <a:p>
            <a:pPr lvl="1"/>
            <a:r>
              <a:rPr lang="ru-RU" dirty="0"/>
              <a:t>Упрощает работу с динамическими и логически обособленными структурами</a:t>
            </a:r>
          </a:p>
          <a:p>
            <a:pPr lvl="1"/>
            <a:r>
              <a:rPr lang="ru-RU" dirty="0"/>
              <a:t>Облегчает компиляцию, связывание и разделение библиотек</a:t>
            </a:r>
          </a:p>
          <a:p>
            <a:pPr lvl="1"/>
            <a:r>
              <a:rPr lang="ru-RU" dirty="0"/>
              <a:t>Обеспечивает гибкую защиту данных и кода</a:t>
            </a:r>
          </a:p>
          <a:p>
            <a:r>
              <a:rPr lang="ru-RU" dirty="0"/>
              <a:t>Сложности</a:t>
            </a:r>
          </a:p>
          <a:p>
            <a:pPr lvl="1"/>
            <a:r>
              <a:rPr lang="ru-RU" dirty="0"/>
              <a:t>Указатели становятся сложными</a:t>
            </a:r>
          </a:p>
          <a:p>
            <a:pPr lvl="1"/>
            <a:r>
              <a:rPr lang="ru-RU" dirty="0"/>
              <a:t>Арифметика указателей должна учитывать границы сегмента</a:t>
            </a:r>
          </a:p>
          <a:p>
            <a:pPr lvl="1"/>
            <a:r>
              <a:rPr lang="ru-RU" dirty="0"/>
              <a:t>Передача указателей между модулями требует контроля доступа</a:t>
            </a:r>
          </a:p>
          <a:p>
            <a:pPr lvl="1"/>
            <a:r>
              <a:rPr lang="ru-RU" dirty="0"/>
              <a:t>Более сложная адресация и компоновка программы</a:t>
            </a:r>
          </a:p>
          <a:p>
            <a:r>
              <a:rPr lang="ru-RU" dirty="0"/>
              <a:t>Часто комбинируется с пейджингом – так называемая сегментно-страничная память</a:t>
            </a:r>
          </a:p>
          <a:p>
            <a:endParaRPr lang="en-US" dirty="0"/>
          </a:p>
        </p:txBody>
      </p:sp>
    </p:spTree>
    <p:extLst>
      <p:ext uri="{BB962C8B-B14F-4D97-AF65-F5344CB8AC3E}">
        <p14:creationId xmlns:p14="http://schemas.microsoft.com/office/powerpoint/2010/main" val="21231777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EBDD9-D1A5-FF2E-C03B-2C21B73FA4AA}"/>
              </a:ext>
            </a:extLst>
          </p:cNvPr>
          <p:cNvSpPr>
            <a:spLocks noGrp="1"/>
          </p:cNvSpPr>
          <p:nvPr>
            <p:ph type="title"/>
          </p:nvPr>
        </p:nvSpPr>
        <p:spPr/>
        <p:txBody>
          <a:bodyPr/>
          <a:lstStyle/>
          <a:p>
            <a:r>
              <a:rPr lang="ru-RU" dirty="0"/>
              <a:t>Что такое </a:t>
            </a:r>
            <a:r>
              <a:rPr lang="en-US" dirty="0"/>
              <a:t>Segmentation Fault</a:t>
            </a:r>
          </a:p>
        </p:txBody>
      </p:sp>
      <p:sp>
        <p:nvSpPr>
          <p:cNvPr id="3" name="Content Placeholder 2">
            <a:extLst>
              <a:ext uri="{FF2B5EF4-FFF2-40B4-BE49-F238E27FC236}">
                <a16:creationId xmlns:a16="http://schemas.microsoft.com/office/drawing/2014/main" id="{94BF834B-A608-84A1-95CE-7C18736A5FA3}"/>
              </a:ext>
            </a:extLst>
          </p:cNvPr>
          <p:cNvSpPr>
            <a:spLocks noGrp="1"/>
          </p:cNvSpPr>
          <p:nvPr>
            <p:ph idx="1"/>
          </p:nvPr>
        </p:nvSpPr>
        <p:spPr/>
        <p:txBody>
          <a:bodyPr>
            <a:normAutofit fontScale="85000" lnSpcReduction="20000"/>
          </a:bodyPr>
          <a:lstStyle/>
          <a:p>
            <a:r>
              <a:rPr lang="ru-RU" dirty="0"/>
              <a:t>Термин произошёл от аппаратной сегментации памяти</a:t>
            </a:r>
          </a:p>
          <a:p>
            <a:r>
              <a:rPr lang="ru-RU" dirty="0"/>
              <a:t>Ошибка означает нарушение границ сегмента</a:t>
            </a:r>
          </a:p>
          <a:p>
            <a:pPr lvl="1"/>
            <a:r>
              <a:rPr lang="ru-RU" dirty="0"/>
              <a:t>доступ за пределы области</a:t>
            </a:r>
          </a:p>
          <a:p>
            <a:pPr lvl="1"/>
            <a:r>
              <a:rPr lang="ru-RU" dirty="0"/>
              <a:t>неправильный тип доступа (чтение/запись/выполнение)</a:t>
            </a:r>
          </a:p>
          <a:p>
            <a:r>
              <a:rPr lang="ru-RU" dirty="0"/>
              <a:t>В современных ОС:</a:t>
            </a:r>
          </a:p>
          <a:p>
            <a:pPr lvl="1"/>
            <a:r>
              <a:rPr lang="ru-RU" dirty="0"/>
              <a:t>используется постраничная защита,</a:t>
            </a:r>
          </a:p>
          <a:p>
            <a:pPr lvl="1"/>
            <a:r>
              <a:rPr lang="ru-RU" dirty="0"/>
              <a:t>но термин «</a:t>
            </a:r>
            <a:r>
              <a:rPr lang="ru-RU" dirty="0" err="1"/>
              <a:t>segmentation</a:t>
            </a:r>
            <a:r>
              <a:rPr lang="ru-RU" dirty="0"/>
              <a:t> </a:t>
            </a:r>
            <a:r>
              <a:rPr lang="ru-RU" dirty="0" err="1"/>
              <a:t>fault</a:t>
            </a:r>
            <a:r>
              <a:rPr lang="ru-RU" dirty="0"/>
              <a:t>» остался</a:t>
            </a:r>
          </a:p>
          <a:p>
            <a:r>
              <a:rPr lang="ru-RU" dirty="0"/>
              <a:t>Примеры:</a:t>
            </a:r>
          </a:p>
          <a:p>
            <a:pPr lvl="1"/>
            <a:r>
              <a:rPr lang="ru-RU" dirty="0"/>
              <a:t>разыменование NULL</a:t>
            </a:r>
          </a:p>
          <a:p>
            <a:pPr lvl="1"/>
            <a:r>
              <a:rPr lang="ru-RU" dirty="0"/>
              <a:t>обращение к освобождённой памяти</a:t>
            </a:r>
          </a:p>
          <a:p>
            <a:pPr lvl="1"/>
            <a:r>
              <a:rPr lang="ru-RU" dirty="0"/>
              <a:t>выход за границы массива</a:t>
            </a:r>
          </a:p>
          <a:p>
            <a:r>
              <a:rPr lang="ru-RU" dirty="0"/>
              <a:t>Сегодня </a:t>
            </a:r>
            <a:r>
              <a:rPr lang="ru-RU" dirty="0" err="1"/>
              <a:t>segmentation</a:t>
            </a:r>
            <a:r>
              <a:rPr lang="ru-RU" dirty="0"/>
              <a:t> </a:t>
            </a:r>
            <a:r>
              <a:rPr lang="ru-RU" dirty="0" err="1"/>
              <a:t>fault</a:t>
            </a:r>
            <a:r>
              <a:rPr lang="ru-RU" dirty="0"/>
              <a:t> — это общий термин для ошибки доступа к памяти, наследие эпохи аппаратной сегментации.</a:t>
            </a:r>
          </a:p>
          <a:p>
            <a:endParaRPr lang="en-US" dirty="0"/>
          </a:p>
        </p:txBody>
      </p:sp>
    </p:spTree>
    <p:extLst>
      <p:ext uri="{BB962C8B-B14F-4D97-AF65-F5344CB8AC3E}">
        <p14:creationId xmlns:p14="http://schemas.microsoft.com/office/powerpoint/2010/main" val="28811704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A198-17CF-EDB2-B008-144D9C6C2DBA}"/>
              </a:ext>
            </a:extLst>
          </p:cNvPr>
          <p:cNvSpPr>
            <a:spLocks noGrp="1"/>
          </p:cNvSpPr>
          <p:nvPr>
            <p:ph type="title"/>
          </p:nvPr>
        </p:nvSpPr>
        <p:spPr/>
        <p:txBody>
          <a:bodyPr/>
          <a:lstStyle/>
          <a:p>
            <a:r>
              <a:rPr lang="ru-RU" dirty="0"/>
              <a:t>Современные архитектуры x86 / x86-64</a:t>
            </a:r>
          </a:p>
        </p:txBody>
      </p:sp>
      <p:sp>
        <p:nvSpPr>
          <p:cNvPr id="3" name="Content Placeholder 2">
            <a:extLst>
              <a:ext uri="{FF2B5EF4-FFF2-40B4-BE49-F238E27FC236}">
                <a16:creationId xmlns:a16="http://schemas.microsoft.com/office/drawing/2014/main" id="{878283FF-B49C-9242-45DD-634EE671DFEA}"/>
              </a:ext>
            </a:extLst>
          </p:cNvPr>
          <p:cNvSpPr>
            <a:spLocks noGrp="1"/>
          </p:cNvSpPr>
          <p:nvPr>
            <p:ph idx="1"/>
          </p:nvPr>
        </p:nvSpPr>
        <p:spPr/>
        <p:txBody>
          <a:bodyPr>
            <a:normAutofit fontScale="92500" lnSpcReduction="10000"/>
          </a:bodyPr>
          <a:lstStyle/>
          <a:p>
            <a:r>
              <a:rPr lang="ru-RU" dirty="0"/>
              <a:t>Исторически</a:t>
            </a:r>
            <a:r>
              <a:rPr lang="en-US" dirty="0"/>
              <a:t> </a:t>
            </a:r>
            <a:r>
              <a:rPr lang="ru-RU" dirty="0"/>
              <a:t>использовали жёсткую сегментацию (8086, 80286, 80386)</a:t>
            </a:r>
          </a:p>
          <a:p>
            <a:pPr lvl="1"/>
            <a:r>
              <a:rPr lang="en-US" dirty="0"/>
              <a:t>Address=Segment*16 + Offset</a:t>
            </a:r>
            <a:endParaRPr lang="ru-RU" dirty="0"/>
          </a:p>
          <a:p>
            <a:r>
              <a:rPr lang="ru-RU" dirty="0"/>
              <a:t>Сегодня применяется плоская модель памяти</a:t>
            </a:r>
          </a:p>
          <a:p>
            <a:pPr lvl="1"/>
            <a:r>
              <a:rPr lang="ru-RU" dirty="0"/>
              <a:t>CS, DS, ES, SS настраиваются так: </a:t>
            </a:r>
            <a:r>
              <a:rPr lang="ru-RU" dirty="0" err="1"/>
              <a:t>base</a:t>
            </a:r>
            <a:r>
              <a:rPr lang="ru-RU" dirty="0"/>
              <a:t> = 0, </a:t>
            </a:r>
            <a:r>
              <a:rPr lang="ru-RU" dirty="0" err="1"/>
              <a:t>limit</a:t>
            </a:r>
            <a:r>
              <a:rPr lang="ru-RU" dirty="0"/>
              <a:t> = 4 ГБ (все одинаковые)</a:t>
            </a:r>
          </a:p>
          <a:p>
            <a:r>
              <a:rPr lang="ru-RU" b="1" dirty="0"/>
              <a:t>Сегменты FS и GS остаются активными</a:t>
            </a:r>
            <a:r>
              <a:rPr lang="ru-RU" dirty="0"/>
              <a:t>:</a:t>
            </a:r>
          </a:p>
          <a:p>
            <a:pPr lvl="1"/>
            <a:r>
              <a:rPr lang="ru-RU" dirty="0"/>
              <a:t>используются для </a:t>
            </a:r>
            <a:r>
              <a:rPr lang="ru-RU" b="1" dirty="0" err="1"/>
              <a:t>Thread</a:t>
            </a:r>
            <a:r>
              <a:rPr lang="ru-RU" b="1" dirty="0"/>
              <a:t>-Local Storage (TLS)</a:t>
            </a:r>
            <a:endParaRPr lang="ru-RU" dirty="0"/>
          </a:p>
          <a:p>
            <a:pPr lvl="1"/>
            <a:r>
              <a:rPr lang="ru-RU" dirty="0"/>
              <a:t>FS → указывает на TCB (</a:t>
            </a:r>
            <a:r>
              <a:rPr lang="en-US" dirty="0"/>
              <a:t>Thread Control Block</a:t>
            </a:r>
            <a:r>
              <a:rPr lang="ru-RU" dirty="0"/>
              <a:t>) в Linux, </a:t>
            </a:r>
            <a:r>
              <a:rPr lang="ru-RU" dirty="0" err="1"/>
              <a:t>macOS</a:t>
            </a:r>
            <a:endParaRPr lang="ru-RU" dirty="0"/>
          </a:p>
          <a:p>
            <a:pPr lvl="1"/>
            <a:r>
              <a:rPr lang="ru-RU" dirty="0"/>
              <a:t>GS → указывает на TIB</a:t>
            </a:r>
            <a:r>
              <a:rPr lang="en-US" dirty="0"/>
              <a:t> (Thread Information Block)</a:t>
            </a:r>
            <a:r>
              <a:rPr lang="ru-RU" dirty="0"/>
              <a:t> в Windows</a:t>
            </a:r>
          </a:p>
          <a:p>
            <a:r>
              <a:rPr lang="ru-RU" dirty="0"/>
              <a:t>Это ускоряет доступ к данным потока</a:t>
            </a:r>
          </a:p>
          <a:p>
            <a:pPr lvl="1"/>
            <a:r>
              <a:rPr lang="en-US" dirty="0">
                <a:solidFill>
                  <a:srgbClr val="000000"/>
                </a:solidFill>
                <a:latin typeface="Consolas" panose="020B0609020204030204" pitchFamily="49" charset="0"/>
              </a:rPr>
              <a:t>mov </a:t>
            </a:r>
            <a:r>
              <a:rPr lang="en-US" dirty="0" err="1">
                <a:solidFill>
                  <a:srgbClr val="0000FF"/>
                </a:solidFill>
                <a:latin typeface="Consolas" panose="020B0609020204030204" pitchFamily="49" charset="0"/>
              </a:rPr>
              <a:t>rax</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qword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fs</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0x28</a:t>
            </a: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1342344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EC82A6-EAC3-C7C3-D5F7-92233310B515}"/>
              </a:ext>
            </a:extLst>
          </p:cNvPr>
          <p:cNvSpPr>
            <a:spLocks noGrp="1"/>
          </p:cNvSpPr>
          <p:nvPr>
            <p:ph type="title"/>
          </p:nvPr>
        </p:nvSpPr>
        <p:spPr/>
        <p:txBody>
          <a:bodyPr/>
          <a:lstStyle/>
          <a:p>
            <a:r>
              <a:rPr lang="ru-RU" dirty="0"/>
              <a:t>Реализация чистой сегментации</a:t>
            </a:r>
            <a:endParaRPr lang="en-US" dirty="0"/>
          </a:p>
        </p:txBody>
      </p:sp>
      <p:sp>
        <p:nvSpPr>
          <p:cNvPr id="5" name="Text Placeholder 4">
            <a:extLst>
              <a:ext uri="{FF2B5EF4-FFF2-40B4-BE49-F238E27FC236}">
                <a16:creationId xmlns:a16="http://schemas.microsoft.com/office/drawing/2014/main" id="{2FF8840A-BD17-3FE3-9208-A8BACBB5FC8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82655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4D3889-FAD1-EFDA-D308-B29427271589}"/>
              </a:ext>
            </a:extLst>
          </p:cNvPr>
          <p:cNvSpPr>
            <a:spLocks noGrp="1"/>
          </p:cNvSpPr>
          <p:nvPr>
            <p:ph type="title"/>
          </p:nvPr>
        </p:nvSpPr>
        <p:spPr/>
        <p:txBody>
          <a:bodyPr/>
          <a:lstStyle/>
          <a:p>
            <a:r>
              <a:rPr lang="ru-RU" dirty="0"/>
              <a:t>Реализация чистой сегментации</a:t>
            </a:r>
            <a:endParaRPr lang="en-US" dirty="0"/>
          </a:p>
        </p:txBody>
      </p:sp>
      <p:sp>
        <p:nvSpPr>
          <p:cNvPr id="5" name="Content Placeholder 4">
            <a:extLst>
              <a:ext uri="{FF2B5EF4-FFF2-40B4-BE49-F238E27FC236}">
                <a16:creationId xmlns:a16="http://schemas.microsoft.com/office/drawing/2014/main" id="{644C57B6-66EC-DC5D-E4FD-464A45646EA1}"/>
              </a:ext>
            </a:extLst>
          </p:cNvPr>
          <p:cNvSpPr>
            <a:spLocks noGrp="1"/>
          </p:cNvSpPr>
          <p:nvPr>
            <p:ph idx="1"/>
          </p:nvPr>
        </p:nvSpPr>
        <p:spPr/>
        <p:txBody>
          <a:bodyPr/>
          <a:lstStyle/>
          <a:p>
            <a:r>
              <a:rPr lang="ru-RU" dirty="0"/>
              <a:t>Сегменты имеют </a:t>
            </a:r>
            <a:r>
              <a:rPr lang="ru-RU" b="1" dirty="0"/>
              <a:t>переменный размер</a:t>
            </a:r>
            <a:r>
              <a:rPr lang="ru-RU" dirty="0"/>
              <a:t>, в отличие от страниц</a:t>
            </a:r>
          </a:p>
          <a:p>
            <a:r>
              <a:rPr lang="ru-RU" dirty="0"/>
              <a:t>После замены сегментов появляются </a:t>
            </a:r>
            <a:r>
              <a:rPr lang="ru-RU" b="1" dirty="0"/>
              <a:t>«дыры»</a:t>
            </a:r>
            <a:r>
              <a:rPr lang="ru-RU" dirty="0"/>
              <a:t> (</a:t>
            </a:r>
            <a:r>
              <a:rPr lang="ru-RU" dirty="0" err="1"/>
              <a:t>holes</a:t>
            </a:r>
            <a:r>
              <a:rPr lang="ru-RU" dirty="0"/>
              <a:t>)</a:t>
            </a:r>
          </a:p>
          <a:p>
            <a:r>
              <a:rPr lang="ru-RU" dirty="0"/>
              <a:t>Со временем память фрагментируется — </a:t>
            </a:r>
            <a:r>
              <a:rPr lang="ru-RU" i="1" dirty="0" err="1"/>
              <a:t>checkerboarding</a:t>
            </a:r>
            <a:endParaRPr lang="ru-RU" dirty="0"/>
          </a:p>
          <a:p>
            <a:r>
              <a:rPr lang="ru-RU" dirty="0"/>
              <a:t>Возникает </a:t>
            </a:r>
            <a:r>
              <a:rPr lang="ru-RU" b="1" dirty="0"/>
              <a:t>внешняя фрагментация</a:t>
            </a:r>
            <a:r>
              <a:rPr lang="ru-RU" dirty="0"/>
              <a:t> (</a:t>
            </a:r>
            <a:r>
              <a:rPr lang="ru-RU" dirty="0" err="1"/>
              <a:t>external</a:t>
            </a:r>
            <a:r>
              <a:rPr lang="ru-RU" dirty="0"/>
              <a:t> </a:t>
            </a:r>
            <a:r>
              <a:rPr lang="ru-RU" dirty="0" err="1"/>
              <a:t>fragmentation</a:t>
            </a:r>
            <a:r>
              <a:rPr lang="ru-RU" dirty="0"/>
              <a:t>)</a:t>
            </a:r>
          </a:p>
        </p:txBody>
      </p:sp>
    </p:spTree>
    <p:extLst>
      <p:ext uri="{BB962C8B-B14F-4D97-AF65-F5344CB8AC3E}">
        <p14:creationId xmlns:p14="http://schemas.microsoft.com/office/powerpoint/2010/main" val="16160238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4818-BFAA-E36C-FA7F-76F6931547C9}"/>
              </a:ext>
            </a:extLst>
          </p:cNvPr>
          <p:cNvSpPr>
            <a:spLocks noGrp="1"/>
          </p:cNvSpPr>
          <p:nvPr>
            <p:ph type="title"/>
          </p:nvPr>
        </p:nvSpPr>
        <p:spPr/>
        <p:txBody>
          <a:bodyPr/>
          <a:lstStyle/>
          <a:p>
            <a:r>
              <a:rPr lang="ru-RU" dirty="0"/>
              <a:t>Проблема внешней фрагментации</a:t>
            </a:r>
            <a:endParaRPr lang="en-US" dirty="0"/>
          </a:p>
        </p:txBody>
      </p:sp>
      <p:sp>
        <p:nvSpPr>
          <p:cNvPr id="3" name="Content Placeholder 2">
            <a:extLst>
              <a:ext uri="{FF2B5EF4-FFF2-40B4-BE49-F238E27FC236}">
                <a16:creationId xmlns:a16="http://schemas.microsoft.com/office/drawing/2014/main" id="{93A70A53-067C-5ACC-4C4D-14AD459A6D72}"/>
              </a:ext>
            </a:extLst>
          </p:cNvPr>
          <p:cNvSpPr>
            <a:spLocks noGrp="1"/>
          </p:cNvSpPr>
          <p:nvPr>
            <p:ph idx="1"/>
          </p:nvPr>
        </p:nvSpPr>
        <p:spPr/>
        <p:txBody>
          <a:bodyPr/>
          <a:lstStyle/>
          <a:p>
            <a:r>
              <a:rPr lang="ru-RU" dirty="0"/>
              <a:t>В памяти чередуются занятые и пустые участки</a:t>
            </a:r>
          </a:p>
          <a:p>
            <a:r>
              <a:rPr lang="ru-RU" dirty="0"/>
              <a:t>Общий объём свободной памяти может быть достаточным,</a:t>
            </a:r>
            <a:br>
              <a:rPr lang="ru-RU" dirty="0"/>
            </a:br>
            <a:r>
              <a:rPr lang="ru-RU" dirty="0"/>
              <a:t>но нет </a:t>
            </a:r>
            <a:r>
              <a:rPr lang="ru-RU" b="1" dirty="0"/>
              <a:t>смежного блока</a:t>
            </a:r>
            <a:r>
              <a:rPr lang="ru-RU" dirty="0"/>
              <a:t> нужного размера</a:t>
            </a:r>
          </a:p>
          <a:p>
            <a:r>
              <a:rPr lang="ru-RU" dirty="0"/>
              <a:t>Память используется неэффективно</a:t>
            </a:r>
          </a:p>
          <a:p>
            <a:endParaRPr lang="en-US" dirty="0"/>
          </a:p>
        </p:txBody>
      </p:sp>
    </p:spTree>
    <p:extLst>
      <p:ext uri="{BB962C8B-B14F-4D97-AF65-F5344CB8AC3E}">
        <p14:creationId xmlns:p14="http://schemas.microsoft.com/office/powerpoint/2010/main" val="11811493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86BEE-4838-D177-F136-2ABF1B9747AC}"/>
              </a:ext>
            </a:extLst>
          </p:cNvPr>
          <p:cNvSpPr>
            <a:spLocks noGrp="1"/>
          </p:cNvSpPr>
          <p:nvPr>
            <p:ph type="title"/>
          </p:nvPr>
        </p:nvSpPr>
        <p:spPr/>
        <p:txBody>
          <a:bodyPr/>
          <a:lstStyle/>
          <a:p>
            <a:r>
              <a:rPr lang="ru-RU" dirty="0" err="1"/>
              <a:t>Компактизация</a:t>
            </a:r>
            <a:endParaRPr lang="en-US" dirty="0"/>
          </a:p>
        </p:txBody>
      </p:sp>
      <p:sp>
        <p:nvSpPr>
          <p:cNvPr id="3" name="Content Placeholder 2">
            <a:extLst>
              <a:ext uri="{FF2B5EF4-FFF2-40B4-BE49-F238E27FC236}">
                <a16:creationId xmlns:a16="http://schemas.microsoft.com/office/drawing/2014/main" id="{E7650D70-BA70-1DFC-17B2-BD3422BF0F0C}"/>
              </a:ext>
            </a:extLst>
          </p:cNvPr>
          <p:cNvSpPr>
            <a:spLocks noGrp="1"/>
          </p:cNvSpPr>
          <p:nvPr>
            <p:ph idx="1"/>
          </p:nvPr>
        </p:nvSpPr>
        <p:spPr/>
        <p:txBody>
          <a:bodyPr/>
          <a:lstStyle/>
          <a:p>
            <a:r>
              <a:rPr lang="ru-RU" dirty="0"/>
              <a:t>Решение: </a:t>
            </a:r>
            <a:r>
              <a:rPr lang="ru-RU" b="1" dirty="0"/>
              <a:t>перемещение сегментов</a:t>
            </a:r>
            <a:r>
              <a:rPr lang="ru-RU" dirty="0"/>
              <a:t> для объединения свободных областей</a:t>
            </a:r>
          </a:p>
          <a:p>
            <a:r>
              <a:rPr lang="ru-RU" dirty="0"/>
              <a:t>Требует:</a:t>
            </a:r>
          </a:p>
          <a:p>
            <a:pPr lvl="1"/>
            <a:r>
              <a:rPr lang="ru-RU" dirty="0"/>
              <a:t>приостановки процессов,</a:t>
            </a:r>
          </a:p>
          <a:p>
            <a:pPr lvl="1"/>
            <a:r>
              <a:rPr lang="ru-RU" dirty="0"/>
              <a:t>пересчёта базовых адресов,</a:t>
            </a:r>
          </a:p>
          <a:p>
            <a:pPr lvl="1"/>
            <a:r>
              <a:rPr lang="ru-RU" dirty="0"/>
              <a:t>обновления таблиц сегментов</a:t>
            </a:r>
          </a:p>
          <a:p>
            <a:r>
              <a:rPr lang="ru-RU" dirty="0"/>
              <a:t>Энергозатратно, но позволяет вернуть непрерывное пространство</a:t>
            </a:r>
          </a:p>
        </p:txBody>
      </p:sp>
    </p:spTree>
    <p:extLst>
      <p:ext uri="{BB962C8B-B14F-4D97-AF65-F5344CB8AC3E}">
        <p14:creationId xmlns:p14="http://schemas.microsoft.com/office/powerpoint/2010/main" val="21574092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399A-F9A6-3F45-7F9A-DFE2211D38A9}"/>
              </a:ext>
            </a:extLst>
          </p:cNvPr>
          <p:cNvSpPr>
            <a:spLocks noGrp="1"/>
          </p:cNvSpPr>
          <p:nvPr>
            <p:ph type="title"/>
          </p:nvPr>
        </p:nvSpPr>
        <p:spPr/>
        <p:txBody>
          <a:bodyPr/>
          <a:lstStyle/>
          <a:p>
            <a:r>
              <a:rPr lang="ru-RU" dirty="0"/>
              <a:t>Сравнение пейджинга и сегментации</a:t>
            </a:r>
            <a:endParaRPr lang="en-US" dirty="0"/>
          </a:p>
        </p:txBody>
      </p:sp>
      <p:graphicFrame>
        <p:nvGraphicFramePr>
          <p:cNvPr id="4" name="Content Placeholder 3">
            <a:extLst>
              <a:ext uri="{FF2B5EF4-FFF2-40B4-BE49-F238E27FC236}">
                <a16:creationId xmlns:a16="http://schemas.microsoft.com/office/drawing/2014/main" id="{2D140572-C9F7-73C1-55DA-F3A39C1909B7}"/>
              </a:ext>
            </a:extLst>
          </p:cNvPr>
          <p:cNvGraphicFramePr>
            <a:graphicFrameLocks noGrp="1"/>
          </p:cNvGraphicFramePr>
          <p:nvPr>
            <p:ph idx="1"/>
            <p:extLst>
              <p:ext uri="{D42A27DB-BD31-4B8C-83A1-F6EECF244321}">
                <p14:modId xmlns:p14="http://schemas.microsoft.com/office/powerpoint/2010/main" val="2812231035"/>
              </p:ext>
            </p:extLst>
          </p:nvPr>
        </p:nvGraphicFramePr>
        <p:xfrm>
          <a:off x="838200" y="1825625"/>
          <a:ext cx="10515597" cy="28651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52077945"/>
                    </a:ext>
                  </a:extLst>
                </a:gridCol>
                <a:gridCol w="3505199">
                  <a:extLst>
                    <a:ext uri="{9D8B030D-6E8A-4147-A177-3AD203B41FA5}">
                      <a16:colId xmlns:a16="http://schemas.microsoft.com/office/drawing/2014/main" val="824147499"/>
                    </a:ext>
                  </a:extLst>
                </a:gridCol>
                <a:gridCol w="3505199">
                  <a:extLst>
                    <a:ext uri="{9D8B030D-6E8A-4147-A177-3AD203B41FA5}">
                      <a16:colId xmlns:a16="http://schemas.microsoft.com/office/drawing/2014/main" val="3295404536"/>
                    </a:ext>
                  </a:extLst>
                </a:gridCol>
              </a:tblGrid>
              <a:tr h="370840">
                <a:tc>
                  <a:txBody>
                    <a:bodyPr/>
                    <a:lstStyle/>
                    <a:p>
                      <a:r>
                        <a:rPr lang="ru-RU" dirty="0"/>
                        <a:t>Характеристика</a:t>
                      </a:r>
                      <a:endParaRPr lang="en-US" dirty="0"/>
                    </a:p>
                  </a:txBody>
                  <a:tcPr/>
                </a:tc>
                <a:tc>
                  <a:txBody>
                    <a:bodyPr/>
                    <a:lstStyle/>
                    <a:p>
                      <a:r>
                        <a:rPr lang="ru-RU" dirty="0"/>
                        <a:t>Пейджинг</a:t>
                      </a:r>
                      <a:endParaRPr lang="en-US" dirty="0"/>
                    </a:p>
                  </a:txBody>
                  <a:tcPr/>
                </a:tc>
                <a:tc>
                  <a:txBody>
                    <a:bodyPr/>
                    <a:lstStyle/>
                    <a:p>
                      <a:r>
                        <a:rPr lang="ru-RU" dirty="0"/>
                        <a:t>Сегментация</a:t>
                      </a:r>
                      <a:endParaRPr lang="en-US" dirty="0"/>
                    </a:p>
                  </a:txBody>
                  <a:tcPr/>
                </a:tc>
                <a:extLst>
                  <a:ext uri="{0D108BD9-81ED-4DB2-BD59-A6C34878D82A}">
                    <a16:rowId xmlns:a16="http://schemas.microsoft.com/office/drawing/2014/main" val="2163627272"/>
                  </a:ext>
                </a:extLst>
              </a:tr>
              <a:tr h="370840">
                <a:tc>
                  <a:txBody>
                    <a:bodyPr/>
                    <a:lstStyle/>
                    <a:p>
                      <a:r>
                        <a:rPr lang="ru-RU" dirty="0"/>
                        <a:t>Размер блока</a:t>
                      </a:r>
                      <a:endParaRPr lang="en-US" dirty="0"/>
                    </a:p>
                  </a:txBody>
                  <a:tcPr/>
                </a:tc>
                <a:tc>
                  <a:txBody>
                    <a:bodyPr/>
                    <a:lstStyle/>
                    <a:p>
                      <a:r>
                        <a:rPr lang="ru-RU" dirty="0"/>
                        <a:t>Фиксированный</a:t>
                      </a:r>
                      <a:endParaRPr lang="en-US" dirty="0"/>
                    </a:p>
                  </a:txBody>
                  <a:tcPr/>
                </a:tc>
                <a:tc>
                  <a:txBody>
                    <a:bodyPr/>
                    <a:lstStyle/>
                    <a:p>
                      <a:r>
                        <a:rPr lang="ru-RU" dirty="0"/>
                        <a:t>Переменный</a:t>
                      </a:r>
                      <a:endParaRPr lang="en-US" dirty="0"/>
                    </a:p>
                  </a:txBody>
                  <a:tcPr/>
                </a:tc>
                <a:extLst>
                  <a:ext uri="{0D108BD9-81ED-4DB2-BD59-A6C34878D82A}">
                    <a16:rowId xmlns:a16="http://schemas.microsoft.com/office/drawing/2014/main" val="1388027480"/>
                  </a:ext>
                </a:extLst>
              </a:tr>
              <a:tr h="370840">
                <a:tc>
                  <a:txBody>
                    <a:bodyPr/>
                    <a:lstStyle/>
                    <a:p>
                      <a:r>
                        <a:rPr lang="ru-RU" dirty="0"/>
                        <a:t>Участие программиста</a:t>
                      </a:r>
                      <a:endParaRPr lang="en-US" dirty="0"/>
                    </a:p>
                  </a:txBody>
                  <a:tcPr/>
                </a:tc>
                <a:tc>
                  <a:txBody>
                    <a:bodyPr/>
                    <a:lstStyle/>
                    <a:p>
                      <a:r>
                        <a:rPr lang="ru-RU" dirty="0"/>
                        <a:t>Не требуется</a:t>
                      </a:r>
                      <a:endParaRPr lang="en-US" dirty="0"/>
                    </a:p>
                  </a:txBody>
                  <a:tcPr/>
                </a:tc>
                <a:tc>
                  <a:txBody>
                    <a:bodyPr/>
                    <a:lstStyle/>
                    <a:p>
                      <a:r>
                        <a:rPr lang="ru-RU" dirty="0"/>
                        <a:t>Требуется понимание структуры</a:t>
                      </a:r>
                      <a:endParaRPr lang="en-US" dirty="0"/>
                    </a:p>
                  </a:txBody>
                  <a:tcPr/>
                </a:tc>
                <a:extLst>
                  <a:ext uri="{0D108BD9-81ED-4DB2-BD59-A6C34878D82A}">
                    <a16:rowId xmlns:a16="http://schemas.microsoft.com/office/drawing/2014/main" val="2248302477"/>
                  </a:ext>
                </a:extLst>
              </a:tr>
              <a:tr h="370840">
                <a:tc>
                  <a:txBody>
                    <a:bodyPr/>
                    <a:lstStyle/>
                    <a:p>
                      <a:r>
                        <a:rPr lang="ru-RU" dirty="0"/>
                        <a:t>Адресное пространство</a:t>
                      </a:r>
                      <a:endParaRPr lang="en-US" dirty="0"/>
                    </a:p>
                  </a:txBody>
                  <a:tcPr/>
                </a:tc>
                <a:tc>
                  <a:txBody>
                    <a:bodyPr/>
                    <a:lstStyle/>
                    <a:p>
                      <a:r>
                        <a:rPr lang="ru-RU" dirty="0"/>
                        <a:t>Одно</a:t>
                      </a:r>
                      <a:endParaRPr lang="en-US" dirty="0"/>
                    </a:p>
                  </a:txBody>
                  <a:tcPr/>
                </a:tc>
                <a:tc>
                  <a:txBody>
                    <a:bodyPr/>
                    <a:lstStyle/>
                    <a:p>
                      <a:r>
                        <a:rPr lang="ru-RU" dirty="0"/>
                        <a:t>Несколько</a:t>
                      </a:r>
                      <a:endParaRPr lang="en-US" dirty="0"/>
                    </a:p>
                  </a:txBody>
                  <a:tcPr/>
                </a:tc>
                <a:extLst>
                  <a:ext uri="{0D108BD9-81ED-4DB2-BD59-A6C34878D82A}">
                    <a16:rowId xmlns:a16="http://schemas.microsoft.com/office/drawing/2014/main" val="3546726876"/>
                  </a:ext>
                </a:extLst>
              </a:tr>
              <a:tr h="370840">
                <a:tc>
                  <a:txBody>
                    <a:bodyPr/>
                    <a:lstStyle/>
                    <a:p>
                      <a:r>
                        <a:rPr lang="ru-RU" dirty="0"/>
                        <a:t>Разделение кода и данных</a:t>
                      </a:r>
                      <a:endParaRPr lang="en-US" dirty="0"/>
                    </a:p>
                  </a:txBody>
                  <a:tcPr/>
                </a:tc>
                <a:tc>
                  <a:txBody>
                    <a:bodyPr/>
                    <a:lstStyle/>
                    <a:p>
                      <a:r>
                        <a:rPr lang="ru-RU" dirty="0"/>
                        <a:t>Нет</a:t>
                      </a:r>
                      <a:endParaRPr lang="en-US" dirty="0"/>
                    </a:p>
                  </a:txBody>
                  <a:tcPr/>
                </a:tc>
                <a:tc>
                  <a:txBody>
                    <a:bodyPr/>
                    <a:lstStyle/>
                    <a:p>
                      <a:r>
                        <a:rPr lang="ru-RU" dirty="0"/>
                        <a:t>Да</a:t>
                      </a:r>
                      <a:endParaRPr lang="en-US" dirty="0"/>
                    </a:p>
                  </a:txBody>
                  <a:tcPr/>
                </a:tc>
                <a:extLst>
                  <a:ext uri="{0D108BD9-81ED-4DB2-BD59-A6C34878D82A}">
                    <a16:rowId xmlns:a16="http://schemas.microsoft.com/office/drawing/2014/main" val="3364703382"/>
                  </a:ext>
                </a:extLst>
              </a:tr>
              <a:tr h="370840">
                <a:tc>
                  <a:txBody>
                    <a:bodyPr/>
                    <a:lstStyle/>
                    <a:p>
                      <a:r>
                        <a:rPr lang="ru-RU" dirty="0"/>
                        <a:t>Устойчивость к фрагментации</a:t>
                      </a:r>
                      <a:endParaRPr lang="en-US" dirty="0"/>
                    </a:p>
                  </a:txBody>
                  <a:tcPr/>
                </a:tc>
                <a:tc>
                  <a:txBody>
                    <a:bodyPr/>
                    <a:lstStyle/>
                    <a:p>
                      <a:r>
                        <a:rPr lang="ru-RU" dirty="0"/>
                        <a:t>Высокая (внутренняя)</a:t>
                      </a:r>
                      <a:endParaRPr lang="en-US" dirty="0"/>
                    </a:p>
                  </a:txBody>
                  <a:tcPr/>
                </a:tc>
                <a:tc>
                  <a:txBody>
                    <a:bodyPr/>
                    <a:lstStyle/>
                    <a:p>
                      <a:r>
                        <a:rPr lang="ru-RU" dirty="0"/>
                        <a:t>Низкая (внешняя)</a:t>
                      </a:r>
                      <a:endParaRPr lang="en-US" dirty="0"/>
                    </a:p>
                  </a:txBody>
                  <a:tcPr/>
                </a:tc>
                <a:extLst>
                  <a:ext uri="{0D108BD9-81ED-4DB2-BD59-A6C34878D82A}">
                    <a16:rowId xmlns:a16="http://schemas.microsoft.com/office/drawing/2014/main" val="2757076331"/>
                  </a:ext>
                </a:extLst>
              </a:tr>
              <a:tr h="370840">
                <a:tc>
                  <a:txBody>
                    <a:bodyPr/>
                    <a:lstStyle/>
                    <a:p>
                      <a:r>
                        <a:rPr lang="ru-RU" dirty="0"/>
                        <a:t>Возможность совместного использования</a:t>
                      </a:r>
                      <a:endParaRPr lang="en-US" dirty="0"/>
                    </a:p>
                  </a:txBody>
                  <a:tcPr/>
                </a:tc>
                <a:tc>
                  <a:txBody>
                    <a:bodyPr/>
                    <a:lstStyle/>
                    <a:p>
                      <a:r>
                        <a:rPr lang="ru-RU" dirty="0"/>
                        <a:t>Ограниченная</a:t>
                      </a:r>
                      <a:endParaRPr lang="en-US" dirty="0"/>
                    </a:p>
                  </a:txBody>
                  <a:tcPr/>
                </a:tc>
                <a:tc>
                  <a:txBody>
                    <a:bodyPr/>
                    <a:lstStyle/>
                    <a:p>
                      <a:r>
                        <a:rPr lang="ru-RU" dirty="0"/>
                        <a:t>Простая</a:t>
                      </a:r>
                      <a:endParaRPr lang="en-US" dirty="0"/>
                    </a:p>
                  </a:txBody>
                  <a:tcPr/>
                </a:tc>
                <a:extLst>
                  <a:ext uri="{0D108BD9-81ED-4DB2-BD59-A6C34878D82A}">
                    <a16:rowId xmlns:a16="http://schemas.microsoft.com/office/drawing/2014/main" val="3871352467"/>
                  </a:ext>
                </a:extLst>
              </a:tr>
            </a:tbl>
          </a:graphicData>
        </a:graphic>
      </p:graphicFrame>
    </p:spTree>
    <p:extLst>
      <p:ext uri="{BB962C8B-B14F-4D97-AF65-F5344CB8AC3E}">
        <p14:creationId xmlns:p14="http://schemas.microsoft.com/office/powerpoint/2010/main" val="42762065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62E9-76FC-9549-AA54-F90CC33DD100}"/>
              </a:ext>
            </a:extLst>
          </p:cNvPr>
          <p:cNvSpPr>
            <a:spLocks noGrp="1"/>
          </p:cNvSpPr>
          <p:nvPr>
            <p:ph type="title"/>
          </p:nvPr>
        </p:nvSpPr>
        <p:spPr/>
        <p:txBody>
          <a:bodyPr/>
          <a:lstStyle/>
          <a:p>
            <a:r>
              <a:rPr lang="ru-RU" dirty="0"/>
              <a:t>Итоги</a:t>
            </a:r>
            <a:endParaRPr lang="en-US" dirty="0"/>
          </a:p>
        </p:txBody>
      </p:sp>
      <p:sp>
        <p:nvSpPr>
          <p:cNvPr id="3" name="Content Placeholder 2">
            <a:extLst>
              <a:ext uri="{FF2B5EF4-FFF2-40B4-BE49-F238E27FC236}">
                <a16:creationId xmlns:a16="http://schemas.microsoft.com/office/drawing/2014/main" id="{68D59003-E743-D040-F5E4-4EF2D3BD2B9D}"/>
              </a:ext>
            </a:extLst>
          </p:cNvPr>
          <p:cNvSpPr>
            <a:spLocks noGrp="1"/>
          </p:cNvSpPr>
          <p:nvPr>
            <p:ph idx="1"/>
          </p:nvPr>
        </p:nvSpPr>
        <p:spPr/>
        <p:txBody>
          <a:bodyPr/>
          <a:lstStyle/>
          <a:p>
            <a:r>
              <a:rPr lang="ru-RU" dirty="0"/>
              <a:t>Сегментация гибче пейджинга, но сложнее в реализации</a:t>
            </a:r>
          </a:p>
          <a:p>
            <a:r>
              <a:rPr lang="ru-RU" dirty="0"/>
              <a:t>Главная проблема — внешняя фрагментация</a:t>
            </a:r>
          </a:p>
          <a:p>
            <a:r>
              <a:rPr lang="ru-RU" dirty="0"/>
              <a:t>Требуется </a:t>
            </a:r>
            <a:r>
              <a:rPr lang="ru-RU" dirty="0" err="1"/>
              <a:t>компактизация</a:t>
            </a:r>
            <a:r>
              <a:rPr lang="ru-RU" dirty="0"/>
              <a:t>, что снижает производительность</a:t>
            </a:r>
          </a:p>
          <a:p>
            <a:r>
              <a:rPr lang="ru-RU" dirty="0"/>
              <a:t>В чистом виде используется редко</a:t>
            </a:r>
          </a:p>
          <a:p>
            <a:r>
              <a:rPr lang="ru-RU" dirty="0"/>
              <a:t>На практике чаще применяют сегментно-страничную организацию, объединяющую преимущества обоих подходов</a:t>
            </a:r>
          </a:p>
          <a:p>
            <a:endParaRPr lang="en-US" dirty="0"/>
          </a:p>
        </p:txBody>
      </p:sp>
    </p:spTree>
    <p:extLst>
      <p:ext uri="{BB962C8B-B14F-4D97-AF65-F5344CB8AC3E}">
        <p14:creationId xmlns:p14="http://schemas.microsoft.com/office/powerpoint/2010/main" val="16414943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5DB73C-F7C4-77A1-0598-DB20B5DE5943}"/>
              </a:ext>
            </a:extLst>
          </p:cNvPr>
          <p:cNvSpPr>
            <a:spLocks noGrp="1"/>
          </p:cNvSpPr>
          <p:nvPr>
            <p:ph type="title"/>
          </p:nvPr>
        </p:nvSpPr>
        <p:spPr/>
        <p:txBody>
          <a:bodyPr/>
          <a:lstStyle/>
          <a:p>
            <a:r>
              <a:rPr lang="ru-RU" dirty="0"/>
              <a:t>Сегментация + пейджинг в ОС </a:t>
            </a:r>
            <a:r>
              <a:rPr lang="en-US" dirty="0"/>
              <a:t>MULTICS</a:t>
            </a:r>
          </a:p>
        </p:txBody>
      </p:sp>
      <p:sp>
        <p:nvSpPr>
          <p:cNvPr id="5" name="Text Placeholder 4">
            <a:extLst>
              <a:ext uri="{FF2B5EF4-FFF2-40B4-BE49-F238E27FC236}">
                <a16:creationId xmlns:a16="http://schemas.microsoft.com/office/drawing/2014/main" id="{5E2FA9D7-4458-AA9D-882D-4D8220CEAB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83110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298CE-A2BC-E327-D467-2C7D9186D6DE}"/>
              </a:ext>
            </a:extLst>
          </p:cNvPr>
          <p:cNvSpPr>
            <a:spLocks noGrp="1"/>
          </p:cNvSpPr>
          <p:nvPr>
            <p:ph type="title"/>
          </p:nvPr>
        </p:nvSpPr>
        <p:spPr/>
        <p:txBody>
          <a:bodyPr/>
          <a:lstStyle/>
          <a:p>
            <a:r>
              <a:rPr lang="ru-RU" dirty="0"/>
              <a:t>Идея</a:t>
            </a:r>
            <a:endParaRPr lang="en-US" dirty="0"/>
          </a:p>
        </p:txBody>
      </p:sp>
      <p:sp>
        <p:nvSpPr>
          <p:cNvPr id="5" name="Content Placeholder 4">
            <a:extLst>
              <a:ext uri="{FF2B5EF4-FFF2-40B4-BE49-F238E27FC236}">
                <a16:creationId xmlns:a16="http://schemas.microsoft.com/office/drawing/2014/main" id="{B3121501-8186-A8EF-3275-ACB70632B13B}"/>
              </a:ext>
            </a:extLst>
          </p:cNvPr>
          <p:cNvSpPr>
            <a:spLocks noGrp="1"/>
          </p:cNvSpPr>
          <p:nvPr>
            <p:ph idx="1"/>
          </p:nvPr>
        </p:nvSpPr>
        <p:spPr/>
        <p:txBody>
          <a:bodyPr/>
          <a:lstStyle/>
          <a:p>
            <a:r>
              <a:rPr lang="ru-RU" dirty="0"/>
              <a:t>Крупные сегменты нельзя целиком держать в памяти</a:t>
            </a:r>
          </a:p>
          <a:p>
            <a:r>
              <a:rPr lang="ru-RU" dirty="0"/>
              <a:t>Решение: постраничное хранение сегментов</a:t>
            </a:r>
          </a:p>
          <a:p>
            <a:r>
              <a:rPr lang="ru-RU" dirty="0"/>
              <a:t>Комбинация преимуществ:</a:t>
            </a:r>
          </a:p>
          <a:p>
            <a:pPr lvl="1"/>
            <a:r>
              <a:rPr lang="ru-RU" dirty="0"/>
              <a:t>Пейджинг даёт эффективное использование памяти</a:t>
            </a:r>
          </a:p>
          <a:p>
            <a:pPr lvl="1"/>
            <a:r>
              <a:rPr lang="ru-RU" dirty="0"/>
              <a:t>Сегментация облегчает логическую организацию, защиту, совместное использование</a:t>
            </a:r>
          </a:p>
          <a:p>
            <a:endParaRPr lang="en-US" dirty="0"/>
          </a:p>
        </p:txBody>
      </p:sp>
    </p:spTree>
    <p:extLst>
      <p:ext uri="{BB962C8B-B14F-4D97-AF65-F5344CB8AC3E}">
        <p14:creationId xmlns:p14="http://schemas.microsoft.com/office/powerpoint/2010/main" val="197777331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6F49-233A-A96D-CDF3-30526CAF8FD6}"/>
              </a:ext>
            </a:extLst>
          </p:cNvPr>
          <p:cNvSpPr>
            <a:spLocks noGrp="1"/>
          </p:cNvSpPr>
          <p:nvPr>
            <p:ph type="title"/>
          </p:nvPr>
        </p:nvSpPr>
        <p:spPr/>
        <p:txBody>
          <a:bodyPr/>
          <a:lstStyle/>
          <a:p>
            <a:r>
              <a:rPr lang="ru-RU" dirty="0"/>
              <a:t>История</a:t>
            </a:r>
            <a:r>
              <a:rPr lang="en-US" dirty="0"/>
              <a:t> MULTICS</a:t>
            </a:r>
          </a:p>
        </p:txBody>
      </p:sp>
      <p:sp>
        <p:nvSpPr>
          <p:cNvPr id="3" name="Content Placeholder 2">
            <a:extLst>
              <a:ext uri="{FF2B5EF4-FFF2-40B4-BE49-F238E27FC236}">
                <a16:creationId xmlns:a16="http://schemas.microsoft.com/office/drawing/2014/main" id="{812AAF97-D717-3FAF-0C56-A1D224A26C6F}"/>
              </a:ext>
            </a:extLst>
          </p:cNvPr>
          <p:cNvSpPr>
            <a:spLocks noGrp="1"/>
          </p:cNvSpPr>
          <p:nvPr>
            <p:ph idx="1"/>
          </p:nvPr>
        </p:nvSpPr>
        <p:spPr/>
        <p:txBody>
          <a:bodyPr>
            <a:normAutofit lnSpcReduction="10000"/>
          </a:bodyPr>
          <a:lstStyle/>
          <a:p>
            <a:r>
              <a:rPr lang="ru-RU" dirty="0"/>
              <a:t>MULTICS — </a:t>
            </a:r>
            <a:r>
              <a:rPr lang="en-US" dirty="0"/>
              <a:t>Multiplexed Information and Computing Service – </a:t>
            </a:r>
            <a:r>
              <a:rPr lang="ru-RU" dirty="0"/>
              <a:t>исследовательская ОС, разработанная в MIT, Bell Labs и General Electric</a:t>
            </a:r>
            <a:endParaRPr lang="en-US" dirty="0"/>
          </a:p>
          <a:p>
            <a:r>
              <a:rPr lang="ru-RU" dirty="0"/>
              <a:t>Аппаратные платформы</a:t>
            </a:r>
          </a:p>
          <a:p>
            <a:pPr lvl="1"/>
            <a:r>
              <a:rPr lang="ru-RU" dirty="0"/>
              <a:t>Мэйнфрейма General Electric GE-645 (36-битная серия GE-600)</a:t>
            </a:r>
          </a:p>
          <a:p>
            <a:pPr lvl="1"/>
            <a:r>
              <a:rPr lang="ru-RU" dirty="0"/>
              <a:t>Позже MULTICS работал на Honeywell 645/6180 и их потомках (DPS-8).</a:t>
            </a:r>
          </a:p>
          <a:p>
            <a:r>
              <a:rPr lang="ru-RU" dirty="0"/>
              <a:t>Запущена в 1969, завершена в 2000</a:t>
            </a:r>
          </a:p>
          <a:p>
            <a:r>
              <a:rPr lang="ru-RU" dirty="0"/>
              <a:t>Первая система со страничными сегментами</a:t>
            </a:r>
          </a:p>
          <a:p>
            <a:r>
              <a:rPr lang="ru-RU" dirty="0"/>
              <a:t>Впервые реализован аппаратный TLB</a:t>
            </a:r>
          </a:p>
          <a:p>
            <a:r>
              <a:rPr lang="ru-RU" dirty="0"/>
              <a:t>Вдохновила: UNIX, архитектуру x86, современные ОС</a:t>
            </a:r>
          </a:p>
          <a:p>
            <a:endParaRPr lang="en-US" dirty="0"/>
          </a:p>
        </p:txBody>
      </p:sp>
    </p:spTree>
    <p:extLst>
      <p:ext uri="{BB962C8B-B14F-4D97-AF65-F5344CB8AC3E}">
        <p14:creationId xmlns:p14="http://schemas.microsoft.com/office/powerpoint/2010/main" val="267676605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6FA7F-4541-EAE9-28B1-F68624805B14}"/>
              </a:ext>
            </a:extLst>
          </p:cNvPr>
          <p:cNvSpPr>
            <a:spLocks noGrp="1"/>
          </p:cNvSpPr>
          <p:nvPr>
            <p:ph type="title"/>
          </p:nvPr>
        </p:nvSpPr>
        <p:spPr/>
        <p:txBody>
          <a:bodyPr/>
          <a:lstStyle/>
          <a:p>
            <a:r>
              <a:rPr lang="ru-RU" dirty="0"/>
              <a:t>Организация памяти в MULTICS</a:t>
            </a:r>
            <a:endParaRPr lang="en-US" dirty="0"/>
          </a:p>
        </p:txBody>
      </p:sp>
      <p:sp>
        <p:nvSpPr>
          <p:cNvPr id="3" name="Content Placeholder 2">
            <a:extLst>
              <a:ext uri="{FF2B5EF4-FFF2-40B4-BE49-F238E27FC236}">
                <a16:creationId xmlns:a16="http://schemas.microsoft.com/office/drawing/2014/main" id="{63A7B6AA-1A97-42C7-489F-F6CB8838E868}"/>
              </a:ext>
            </a:extLst>
          </p:cNvPr>
          <p:cNvSpPr>
            <a:spLocks noGrp="1"/>
          </p:cNvSpPr>
          <p:nvPr>
            <p:ph sz="half" idx="1"/>
          </p:nvPr>
        </p:nvSpPr>
        <p:spPr/>
        <p:txBody>
          <a:bodyPr/>
          <a:lstStyle/>
          <a:p>
            <a:r>
              <a:rPr lang="ru-RU" dirty="0"/>
              <a:t>До 2¹⁸ сегментов по 65 536 слов</a:t>
            </a:r>
          </a:p>
          <a:p>
            <a:r>
              <a:rPr lang="ru-RU" dirty="0"/>
              <a:t>У каждого сегмента — собственная таблица страниц</a:t>
            </a:r>
          </a:p>
          <a:p>
            <a:r>
              <a:rPr lang="ru-RU" dirty="0"/>
              <a:t>Таблица сегментов тоже была сегментом</a:t>
            </a:r>
          </a:p>
          <a:p>
            <a:r>
              <a:rPr lang="ru-RU" dirty="0"/>
              <a:t>Виртуальный адрес:</a:t>
            </a:r>
          </a:p>
          <a:p>
            <a:pPr lvl="1"/>
            <a:r>
              <a:rPr lang="en-US" dirty="0"/>
              <a:t>&lt;</a:t>
            </a:r>
            <a:r>
              <a:rPr lang="ru-RU" dirty="0"/>
              <a:t>номер сегмента, номер страницы, смещение</a:t>
            </a:r>
            <a:r>
              <a:rPr lang="en-US" dirty="0"/>
              <a:t>&gt;</a:t>
            </a:r>
            <a:endParaRPr lang="ru-RU" dirty="0"/>
          </a:p>
        </p:txBody>
      </p:sp>
      <p:pic>
        <p:nvPicPr>
          <p:cNvPr id="6" name="Content Placeholder 5">
            <a:extLst>
              <a:ext uri="{FF2B5EF4-FFF2-40B4-BE49-F238E27FC236}">
                <a16:creationId xmlns:a16="http://schemas.microsoft.com/office/drawing/2014/main" id="{575BFD67-F83B-B86A-7DBB-CC76153CDDFC}"/>
              </a:ext>
            </a:extLst>
          </p:cNvPr>
          <p:cNvPicPr>
            <a:picLocks noGrp="1" noChangeAspect="1"/>
          </p:cNvPicPr>
          <p:nvPr>
            <p:ph sz="half" idx="2"/>
          </p:nvPr>
        </p:nvPicPr>
        <p:blipFill>
          <a:blip r:embed="rId3"/>
          <a:stretch>
            <a:fillRect/>
          </a:stretch>
        </p:blipFill>
        <p:spPr>
          <a:xfrm>
            <a:off x="6446787" y="2929580"/>
            <a:ext cx="4742143" cy="3948953"/>
          </a:xfrm>
          <a:prstGeom prst="rect">
            <a:avLst/>
          </a:prstGeom>
        </p:spPr>
      </p:pic>
      <p:pic>
        <p:nvPicPr>
          <p:cNvPr id="10" name="Picture 9">
            <a:extLst>
              <a:ext uri="{FF2B5EF4-FFF2-40B4-BE49-F238E27FC236}">
                <a16:creationId xmlns:a16="http://schemas.microsoft.com/office/drawing/2014/main" id="{C6691427-DE98-3693-910B-518C87463751}"/>
              </a:ext>
            </a:extLst>
          </p:cNvPr>
          <p:cNvPicPr>
            <a:picLocks noChangeAspect="1"/>
          </p:cNvPicPr>
          <p:nvPr/>
        </p:nvPicPr>
        <p:blipFill>
          <a:blip r:embed="rId4"/>
          <a:stretch>
            <a:fillRect/>
          </a:stretch>
        </p:blipFill>
        <p:spPr>
          <a:xfrm>
            <a:off x="6446788" y="1867035"/>
            <a:ext cx="4742143" cy="1103518"/>
          </a:xfrm>
          <a:prstGeom prst="rect">
            <a:avLst/>
          </a:prstGeom>
        </p:spPr>
      </p:pic>
    </p:spTree>
    <p:extLst>
      <p:ext uri="{BB962C8B-B14F-4D97-AF65-F5344CB8AC3E}">
        <p14:creationId xmlns:p14="http://schemas.microsoft.com/office/powerpoint/2010/main" val="10177960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8D07D-23FF-B01D-F515-992A2EDBF144}"/>
              </a:ext>
            </a:extLst>
          </p:cNvPr>
          <p:cNvSpPr>
            <a:spLocks noGrp="1"/>
          </p:cNvSpPr>
          <p:nvPr>
            <p:ph type="title"/>
          </p:nvPr>
        </p:nvSpPr>
        <p:spPr/>
        <p:txBody>
          <a:bodyPr/>
          <a:lstStyle/>
          <a:p>
            <a:r>
              <a:rPr lang="ru-RU" dirty="0"/>
              <a:t>Алгоритм обращения к памяти</a:t>
            </a:r>
            <a:endParaRPr lang="en-US" dirty="0"/>
          </a:p>
        </p:txBody>
      </p:sp>
      <p:sp>
        <p:nvSpPr>
          <p:cNvPr id="3" name="Content Placeholder 2">
            <a:extLst>
              <a:ext uri="{FF2B5EF4-FFF2-40B4-BE49-F238E27FC236}">
                <a16:creationId xmlns:a16="http://schemas.microsoft.com/office/drawing/2014/main" id="{782A05EC-86A9-5054-AAC9-9F5A6DD78F0D}"/>
              </a:ext>
            </a:extLst>
          </p:cNvPr>
          <p:cNvSpPr>
            <a:spLocks noGrp="1"/>
          </p:cNvSpPr>
          <p:nvPr>
            <p:ph sz="half" idx="1"/>
          </p:nvPr>
        </p:nvSpPr>
        <p:spPr/>
        <p:txBody>
          <a:bodyPr>
            <a:normAutofit lnSpcReduction="10000"/>
          </a:bodyPr>
          <a:lstStyle/>
          <a:p>
            <a:r>
              <a:rPr lang="ru-RU" dirty="0"/>
              <a:t>Найти дескриптор сегмента</a:t>
            </a:r>
          </a:p>
          <a:p>
            <a:r>
              <a:rPr lang="ru-RU" dirty="0"/>
              <a:t>Проверить наличие таблицы страниц (</a:t>
            </a:r>
            <a:r>
              <a:rPr lang="ru-RU" dirty="0" err="1"/>
              <a:t>segment</a:t>
            </a:r>
            <a:r>
              <a:rPr lang="ru-RU" dirty="0"/>
              <a:t> </a:t>
            </a:r>
            <a:r>
              <a:rPr lang="ru-RU" dirty="0" err="1"/>
              <a:t>fault</a:t>
            </a:r>
            <a:r>
              <a:rPr lang="ru-RU" dirty="0"/>
              <a:t> при отсутствии)</a:t>
            </a:r>
          </a:p>
          <a:p>
            <a:r>
              <a:rPr lang="ru-RU" dirty="0"/>
              <a:t>Найти страницу (</a:t>
            </a:r>
            <a:r>
              <a:rPr lang="ru-RU" dirty="0" err="1"/>
              <a:t>page</a:t>
            </a:r>
            <a:r>
              <a:rPr lang="ru-RU" dirty="0"/>
              <a:t> </a:t>
            </a:r>
            <a:r>
              <a:rPr lang="ru-RU" dirty="0" err="1"/>
              <a:t>fault</a:t>
            </a:r>
            <a:r>
              <a:rPr lang="ru-RU" dirty="0"/>
              <a:t> при отсутствии)</a:t>
            </a:r>
          </a:p>
          <a:p>
            <a:r>
              <a:rPr lang="ru-RU" dirty="0"/>
              <a:t>Извлечь адрес страницы + смещение</a:t>
            </a:r>
          </a:p>
          <a:p>
            <a:r>
              <a:rPr lang="ru-RU" dirty="0"/>
              <a:t>Выполнить операцию чтения/записи</a:t>
            </a:r>
          </a:p>
        </p:txBody>
      </p:sp>
      <p:pic>
        <p:nvPicPr>
          <p:cNvPr id="13" name="Content Placeholder 12">
            <a:extLst>
              <a:ext uri="{FF2B5EF4-FFF2-40B4-BE49-F238E27FC236}">
                <a16:creationId xmlns:a16="http://schemas.microsoft.com/office/drawing/2014/main" id="{6AFD0817-82C3-0D33-691C-602AFD42A768}"/>
              </a:ext>
            </a:extLst>
          </p:cNvPr>
          <p:cNvPicPr>
            <a:picLocks noGrp="1" noChangeAspect="1"/>
          </p:cNvPicPr>
          <p:nvPr>
            <p:ph sz="half" idx="2"/>
          </p:nvPr>
        </p:nvPicPr>
        <p:blipFill>
          <a:blip r:embed="rId3"/>
          <a:stretch>
            <a:fillRect/>
          </a:stretch>
        </p:blipFill>
        <p:spPr>
          <a:xfrm>
            <a:off x="7397633" y="4906255"/>
            <a:ext cx="3507971" cy="1586620"/>
          </a:xfrm>
          <a:prstGeom prst="rect">
            <a:avLst/>
          </a:prstGeom>
        </p:spPr>
      </p:pic>
      <p:sp>
        <p:nvSpPr>
          <p:cNvPr id="14" name="TextBox 13">
            <a:extLst>
              <a:ext uri="{FF2B5EF4-FFF2-40B4-BE49-F238E27FC236}">
                <a16:creationId xmlns:a16="http://schemas.microsoft.com/office/drawing/2014/main" id="{271AD9E1-3E13-E192-6C10-62F442D7403E}"/>
              </a:ext>
            </a:extLst>
          </p:cNvPr>
          <p:cNvSpPr txBox="1"/>
          <p:nvPr/>
        </p:nvSpPr>
        <p:spPr>
          <a:xfrm>
            <a:off x="7962898" y="6492875"/>
            <a:ext cx="3507971" cy="369332"/>
          </a:xfrm>
          <a:prstGeom prst="rect">
            <a:avLst/>
          </a:prstGeom>
          <a:noFill/>
        </p:spPr>
        <p:txBody>
          <a:bodyPr wrap="square" rtlCol="0">
            <a:spAutoFit/>
          </a:bodyPr>
          <a:lstStyle/>
          <a:p>
            <a:r>
              <a:rPr lang="ru-RU" dirty="0"/>
              <a:t>Дескриптор сегмента</a:t>
            </a:r>
            <a:endParaRPr lang="en-US" dirty="0"/>
          </a:p>
        </p:txBody>
      </p:sp>
      <p:pic>
        <p:nvPicPr>
          <p:cNvPr id="16" name="Picture 15">
            <a:extLst>
              <a:ext uri="{FF2B5EF4-FFF2-40B4-BE49-F238E27FC236}">
                <a16:creationId xmlns:a16="http://schemas.microsoft.com/office/drawing/2014/main" id="{BE6069F4-B65E-FE09-A7B2-B3AB0624D2E7}"/>
              </a:ext>
            </a:extLst>
          </p:cNvPr>
          <p:cNvPicPr>
            <a:picLocks noChangeAspect="1"/>
          </p:cNvPicPr>
          <p:nvPr/>
        </p:nvPicPr>
        <p:blipFill>
          <a:blip r:embed="rId4"/>
          <a:stretch>
            <a:fillRect/>
          </a:stretch>
        </p:blipFill>
        <p:spPr>
          <a:xfrm>
            <a:off x="7082444" y="1569931"/>
            <a:ext cx="4565818" cy="3013863"/>
          </a:xfrm>
          <a:prstGeom prst="rect">
            <a:avLst/>
          </a:prstGeom>
        </p:spPr>
      </p:pic>
    </p:spTree>
    <p:extLst>
      <p:ext uri="{BB962C8B-B14F-4D97-AF65-F5344CB8AC3E}">
        <p14:creationId xmlns:p14="http://schemas.microsoft.com/office/powerpoint/2010/main" val="35348182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ED60-CAD9-D955-5DFD-44612960EC01}"/>
              </a:ext>
            </a:extLst>
          </p:cNvPr>
          <p:cNvSpPr>
            <a:spLocks noGrp="1"/>
          </p:cNvSpPr>
          <p:nvPr>
            <p:ph type="title"/>
          </p:nvPr>
        </p:nvSpPr>
        <p:spPr/>
        <p:txBody>
          <a:bodyPr/>
          <a:lstStyle/>
          <a:p>
            <a:r>
              <a:rPr lang="ru-RU" dirty="0"/>
              <a:t>Аппаратный TLB — новшество MULTICS</a:t>
            </a:r>
            <a:endParaRPr lang="en-US" dirty="0"/>
          </a:p>
        </p:txBody>
      </p:sp>
      <p:sp>
        <p:nvSpPr>
          <p:cNvPr id="3" name="Content Placeholder 2">
            <a:extLst>
              <a:ext uri="{FF2B5EF4-FFF2-40B4-BE49-F238E27FC236}">
                <a16:creationId xmlns:a16="http://schemas.microsoft.com/office/drawing/2014/main" id="{49B0B6F9-62D3-F4BC-014A-3A51037649A1}"/>
              </a:ext>
            </a:extLst>
          </p:cNvPr>
          <p:cNvSpPr>
            <a:spLocks noGrp="1"/>
          </p:cNvSpPr>
          <p:nvPr>
            <p:ph idx="1"/>
          </p:nvPr>
        </p:nvSpPr>
        <p:spPr/>
        <p:txBody>
          <a:bodyPr/>
          <a:lstStyle/>
          <a:p>
            <a:r>
              <a:rPr lang="ru-RU" dirty="0"/>
              <a:t>Буфер на 16 записей</a:t>
            </a:r>
          </a:p>
          <a:p>
            <a:r>
              <a:rPr lang="ru-RU" dirty="0"/>
              <a:t>Параллельный поиск → мгновенная трансляция адреса</a:t>
            </a:r>
          </a:p>
          <a:p>
            <a:r>
              <a:rPr lang="ru-RU" dirty="0"/>
              <a:t>Избегает многократных обращений к таблицам</a:t>
            </a:r>
          </a:p>
          <a:p>
            <a:r>
              <a:rPr lang="ru-RU" dirty="0"/>
              <a:t>Рабочие множества, помещающиеся в TLB, выполняются без замедлений</a:t>
            </a:r>
          </a:p>
          <a:p>
            <a:r>
              <a:rPr lang="ru-RU" dirty="0"/>
              <a:t>Идея, ставшая стандартом для всех современных CPU</a:t>
            </a:r>
          </a:p>
          <a:p>
            <a:endParaRPr lang="en-US" dirty="0"/>
          </a:p>
        </p:txBody>
      </p:sp>
    </p:spTree>
    <p:extLst>
      <p:ext uri="{BB962C8B-B14F-4D97-AF65-F5344CB8AC3E}">
        <p14:creationId xmlns:p14="http://schemas.microsoft.com/office/powerpoint/2010/main" val="272456696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69BBD-0455-186E-D725-020D7B41946A}"/>
              </a:ext>
            </a:extLst>
          </p:cNvPr>
          <p:cNvSpPr>
            <a:spLocks noGrp="1"/>
          </p:cNvSpPr>
          <p:nvPr>
            <p:ph type="title"/>
          </p:nvPr>
        </p:nvSpPr>
        <p:spPr/>
        <p:txBody>
          <a:bodyPr/>
          <a:lstStyle/>
          <a:p>
            <a:r>
              <a:rPr lang="ru-RU" dirty="0"/>
              <a:t>Роль</a:t>
            </a:r>
            <a:r>
              <a:rPr lang="en-US" dirty="0"/>
              <a:t> MULTICS</a:t>
            </a:r>
          </a:p>
        </p:txBody>
      </p:sp>
      <p:sp>
        <p:nvSpPr>
          <p:cNvPr id="3" name="Content Placeholder 2">
            <a:extLst>
              <a:ext uri="{FF2B5EF4-FFF2-40B4-BE49-F238E27FC236}">
                <a16:creationId xmlns:a16="http://schemas.microsoft.com/office/drawing/2014/main" id="{1AFDB67C-6C51-522B-2187-A7D6F3DE51CD}"/>
              </a:ext>
            </a:extLst>
          </p:cNvPr>
          <p:cNvSpPr>
            <a:spLocks noGrp="1"/>
          </p:cNvSpPr>
          <p:nvPr>
            <p:ph idx="1"/>
          </p:nvPr>
        </p:nvSpPr>
        <p:spPr/>
        <p:txBody>
          <a:bodyPr/>
          <a:lstStyle/>
          <a:p>
            <a:endParaRPr lang="ru-RU" dirty="0"/>
          </a:p>
          <a:p>
            <a:r>
              <a:rPr lang="ru-RU" dirty="0"/>
              <a:t>MULTICS впервые объединил сегментацию и пейджинг</a:t>
            </a:r>
          </a:p>
          <a:p>
            <a:r>
              <a:rPr lang="ru-RU" dirty="0"/>
              <a:t>Обеспечил гибкость, защиту и эффективность</a:t>
            </a:r>
          </a:p>
          <a:p>
            <a:r>
              <a:rPr lang="ru-RU" dirty="0"/>
              <a:t>Ввёл аппаратный TLB — базу современной виртуальной памяти</a:t>
            </a:r>
          </a:p>
          <a:p>
            <a:r>
              <a:rPr lang="ru-RU" dirty="0"/>
              <a:t>Стал прямым предшественником x86 архитектуры и UNIX</a:t>
            </a:r>
          </a:p>
          <a:p>
            <a:r>
              <a:rPr lang="ru-RU" dirty="0"/>
              <a:t>Идеи MULTICS живут во всех современных ОС</a:t>
            </a:r>
          </a:p>
          <a:p>
            <a:endParaRPr lang="en-US" dirty="0"/>
          </a:p>
        </p:txBody>
      </p:sp>
    </p:spTree>
    <p:extLst>
      <p:ext uri="{BB962C8B-B14F-4D97-AF65-F5344CB8AC3E}">
        <p14:creationId xmlns:p14="http://schemas.microsoft.com/office/powerpoint/2010/main" val="21233525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0EFF28-D193-301C-45FD-B48A8AC0590B}"/>
              </a:ext>
            </a:extLst>
          </p:cNvPr>
          <p:cNvSpPr>
            <a:spLocks noGrp="1"/>
          </p:cNvSpPr>
          <p:nvPr>
            <p:ph type="title"/>
          </p:nvPr>
        </p:nvSpPr>
        <p:spPr/>
        <p:txBody>
          <a:bodyPr/>
          <a:lstStyle/>
          <a:p>
            <a:r>
              <a:rPr lang="ru-RU" dirty="0"/>
              <a:t>Сегментация с пейджингом в</a:t>
            </a:r>
            <a:r>
              <a:rPr lang="en-US" dirty="0"/>
              <a:t> Intel x86</a:t>
            </a:r>
          </a:p>
        </p:txBody>
      </p:sp>
      <p:sp>
        <p:nvSpPr>
          <p:cNvPr id="5" name="Text Placeholder 4">
            <a:extLst>
              <a:ext uri="{FF2B5EF4-FFF2-40B4-BE49-F238E27FC236}">
                <a16:creationId xmlns:a16="http://schemas.microsoft.com/office/drawing/2014/main" id="{2DD6910D-4EA3-5796-9A47-29B563392E2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324457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D8DC29-DF7F-588A-B81D-FF0EC3A7F988}"/>
              </a:ext>
            </a:extLst>
          </p:cNvPr>
          <p:cNvSpPr>
            <a:spLocks noGrp="1"/>
          </p:cNvSpPr>
          <p:nvPr>
            <p:ph type="title"/>
          </p:nvPr>
        </p:nvSpPr>
        <p:spPr/>
        <p:txBody>
          <a:bodyPr/>
          <a:lstStyle/>
          <a:p>
            <a:r>
              <a:rPr lang="ru-RU" dirty="0"/>
              <a:t>Сегментация с пейджингом в Intel x86</a:t>
            </a:r>
            <a:endParaRPr lang="en-US" dirty="0"/>
          </a:p>
        </p:txBody>
      </p:sp>
      <p:sp>
        <p:nvSpPr>
          <p:cNvPr id="5" name="Content Placeholder 4">
            <a:extLst>
              <a:ext uri="{FF2B5EF4-FFF2-40B4-BE49-F238E27FC236}">
                <a16:creationId xmlns:a16="http://schemas.microsoft.com/office/drawing/2014/main" id="{AA85FDF6-E84E-2164-7EE7-49BCD702B486}"/>
              </a:ext>
            </a:extLst>
          </p:cNvPr>
          <p:cNvSpPr>
            <a:spLocks noGrp="1"/>
          </p:cNvSpPr>
          <p:nvPr>
            <p:ph idx="1"/>
          </p:nvPr>
        </p:nvSpPr>
        <p:spPr/>
        <p:txBody>
          <a:bodyPr/>
          <a:lstStyle/>
          <a:p>
            <a:r>
              <a:rPr lang="ru-RU" dirty="0"/>
              <a:t>Архитектура x86 до x86-64 сочетала сегментацию и пейджинг</a:t>
            </a:r>
          </a:p>
          <a:p>
            <a:r>
              <a:rPr lang="ru-RU" dirty="0"/>
              <a:t>По структуре напоминала MULTICS</a:t>
            </a:r>
          </a:p>
          <a:p>
            <a:r>
              <a:rPr lang="ru-RU" dirty="0"/>
              <a:t>Каждый сегмент мог быть постранично загружен</a:t>
            </a:r>
          </a:p>
          <a:p>
            <a:r>
              <a:rPr lang="ru-RU" dirty="0"/>
              <a:t>Виртуальный адрес → линейный → физический</a:t>
            </a:r>
          </a:p>
          <a:p>
            <a:r>
              <a:rPr lang="ru-RU" dirty="0"/>
              <a:t>Использовались таблицы GDT и LDT</a:t>
            </a:r>
          </a:p>
        </p:txBody>
      </p:sp>
    </p:spTree>
    <p:extLst>
      <p:ext uri="{BB962C8B-B14F-4D97-AF65-F5344CB8AC3E}">
        <p14:creationId xmlns:p14="http://schemas.microsoft.com/office/powerpoint/2010/main" val="17616072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9900-23BB-C75A-6955-57C728EF1744}"/>
              </a:ext>
            </a:extLst>
          </p:cNvPr>
          <p:cNvSpPr>
            <a:spLocks noGrp="1"/>
          </p:cNvSpPr>
          <p:nvPr>
            <p:ph type="title"/>
          </p:nvPr>
        </p:nvSpPr>
        <p:spPr/>
        <p:txBody>
          <a:bodyPr/>
          <a:lstStyle/>
          <a:p>
            <a:r>
              <a:rPr lang="ru-RU" dirty="0"/>
              <a:t>Параметры архитектуры</a:t>
            </a:r>
            <a:endParaRPr lang="en-US" dirty="0"/>
          </a:p>
        </p:txBody>
      </p:sp>
      <p:graphicFrame>
        <p:nvGraphicFramePr>
          <p:cNvPr id="6" name="Content Placeholder 5">
            <a:extLst>
              <a:ext uri="{FF2B5EF4-FFF2-40B4-BE49-F238E27FC236}">
                <a16:creationId xmlns:a16="http://schemas.microsoft.com/office/drawing/2014/main" id="{FD74073F-AAD3-73CE-0E10-F82766151BB0}"/>
              </a:ext>
            </a:extLst>
          </p:cNvPr>
          <p:cNvGraphicFramePr>
            <a:graphicFrameLocks noGrp="1"/>
          </p:cNvGraphicFramePr>
          <p:nvPr>
            <p:ph idx="1"/>
            <p:extLst>
              <p:ext uri="{D42A27DB-BD31-4B8C-83A1-F6EECF244321}">
                <p14:modId xmlns:p14="http://schemas.microsoft.com/office/powerpoint/2010/main" val="2368680506"/>
              </p:ext>
            </p:extLst>
          </p:nvPr>
        </p:nvGraphicFramePr>
        <p:xfrm>
          <a:off x="838200" y="1825625"/>
          <a:ext cx="10515597" cy="2286000"/>
        </p:xfrm>
        <a:graphic>
          <a:graphicData uri="http://schemas.openxmlformats.org/drawingml/2006/table">
            <a:tbl>
              <a:tblPr firstRow="1" bandRow="1">
                <a:tableStyleId>{5C22544A-7EE6-4342-B048-85BDC9FD1C3A}</a:tableStyleId>
              </a:tblPr>
              <a:tblGrid>
                <a:gridCol w="2769524">
                  <a:extLst>
                    <a:ext uri="{9D8B030D-6E8A-4147-A177-3AD203B41FA5}">
                      <a16:colId xmlns:a16="http://schemas.microsoft.com/office/drawing/2014/main" val="3429508266"/>
                    </a:ext>
                  </a:extLst>
                </a:gridCol>
                <a:gridCol w="3557847">
                  <a:extLst>
                    <a:ext uri="{9D8B030D-6E8A-4147-A177-3AD203B41FA5}">
                      <a16:colId xmlns:a16="http://schemas.microsoft.com/office/drawing/2014/main" val="1774360277"/>
                    </a:ext>
                  </a:extLst>
                </a:gridCol>
                <a:gridCol w="4188226">
                  <a:extLst>
                    <a:ext uri="{9D8B030D-6E8A-4147-A177-3AD203B41FA5}">
                      <a16:colId xmlns:a16="http://schemas.microsoft.com/office/drawing/2014/main" val="2853302975"/>
                    </a:ext>
                  </a:extLst>
                </a:gridCol>
              </a:tblGrid>
              <a:tr h="370840">
                <a:tc>
                  <a:txBody>
                    <a:bodyPr/>
                    <a:lstStyle/>
                    <a:p>
                      <a:r>
                        <a:rPr lang="ru-RU" sz="2400" dirty="0"/>
                        <a:t>Параметр</a:t>
                      </a:r>
                      <a:endParaRPr lang="en-US" sz="2400" dirty="0"/>
                    </a:p>
                  </a:txBody>
                  <a:tcPr/>
                </a:tc>
                <a:tc>
                  <a:txBody>
                    <a:bodyPr/>
                    <a:lstStyle/>
                    <a:p>
                      <a:r>
                        <a:rPr lang="en-US" sz="2400" dirty="0"/>
                        <a:t>MULTICS</a:t>
                      </a:r>
                    </a:p>
                  </a:txBody>
                  <a:tcPr/>
                </a:tc>
                <a:tc>
                  <a:txBody>
                    <a:bodyPr/>
                    <a:lstStyle/>
                    <a:p>
                      <a:r>
                        <a:rPr lang="en-US" sz="2400" dirty="0"/>
                        <a:t>Intel x86 (</a:t>
                      </a:r>
                      <a:r>
                        <a:rPr lang="ru-RU" sz="2400" dirty="0"/>
                        <a:t>до </a:t>
                      </a:r>
                      <a:r>
                        <a:rPr lang="en-US" sz="2400" dirty="0"/>
                        <a:t>x86-64)</a:t>
                      </a:r>
                    </a:p>
                  </a:txBody>
                  <a:tcPr/>
                </a:tc>
                <a:extLst>
                  <a:ext uri="{0D108BD9-81ED-4DB2-BD59-A6C34878D82A}">
                    <a16:rowId xmlns:a16="http://schemas.microsoft.com/office/drawing/2014/main" val="2735240999"/>
                  </a:ext>
                </a:extLst>
              </a:tr>
              <a:tr h="370840">
                <a:tc>
                  <a:txBody>
                    <a:bodyPr/>
                    <a:lstStyle/>
                    <a:p>
                      <a:r>
                        <a:rPr lang="ru-RU" sz="2400" dirty="0"/>
                        <a:t>Сегментов</a:t>
                      </a:r>
                      <a:endParaRPr lang="en-US" sz="2400" dirty="0"/>
                    </a:p>
                  </a:txBody>
                  <a:tcPr/>
                </a:tc>
                <a:tc>
                  <a:txBody>
                    <a:bodyPr/>
                    <a:lstStyle/>
                    <a:p>
                      <a:r>
                        <a:rPr lang="ru-RU" sz="2400" dirty="0"/>
                        <a:t>256</a:t>
                      </a:r>
                      <a:r>
                        <a:rPr lang="en-US" sz="2400" dirty="0"/>
                        <a:t>K</a:t>
                      </a:r>
                    </a:p>
                  </a:txBody>
                  <a:tcPr/>
                </a:tc>
                <a:tc>
                  <a:txBody>
                    <a:bodyPr/>
                    <a:lstStyle/>
                    <a:p>
                      <a:r>
                        <a:rPr lang="ru-RU" sz="2400" dirty="0"/>
                        <a:t>16</a:t>
                      </a:r>
                      <a:r>
                        <a:rPr lang="en-US" sz="2400" dirty="0"/>
                        <a:t>K</a:t>
                      </a:r>
                    </a:p>
                  </a:txBody>
                  <a:tcPr/>
                </a:tc>
                <a:extLst>
                  <a:ext uri="{0D108BD9-81ED-4DB2-BD59-A6C34878D82A}">
                    <a16:rowId xmlns:a16="http://schemas.microsoft.com/office/drawing/2014/main" val="1400346023"/>
                  </a:ext>
                </a:extLst>
              </a:tr>
              <a:tr h="370840">
                <a:tc>
                  <a:txBody>
                    <a:bodyPr/>
                    <a:lstStyle/>
                    <a:p>
                      <a:r>
                        <a:rPr lang="ru-RU" sz="2400" dirty="0"/>
                        <a:t>Размер сегмента</a:t>
                      </a:r>
                      <a:endParaRPr lang="en-US" sz="2400" dirty="0"/>
                    </a:p>
                  </a:txBody>
                  <a:tcPr/>
                </a:tc>
                <a:tc>
                  <a:txBody>
                    <a:bodyPr/>
                    <a:lstStyle/>
                    <a:p>
                      <a:r>
                        <a:rPr lang="ru-RU" sz="2400" dirty="0"/>
                        <a:t>До </a:t>
                      </a:r>
                      <a:r>
                        <a:rPr lang="en-US" sz="2400" dirty="0"/>
                        <a:t>64K 36-</a:t>
                      </a:r>
                      <a:r>
                        <a:rPr lang="ru-RU" sz="2400" dirty="0"/>
                        <a:t>битных слов</a:t>
                      </a:r>
                      <a:endParaRPr lang="en-US" sz="2400" dirty="0"/>
                    </a:p>
                  </a:txBody>
                  <a:tcPr/>
                </a:tc>
                <a:tc>
                  <a:txBody>
                    <a:bodyPr/>
                    <a:lstStyle/>
                    <a:p>
                      <a:r>
                        <a:rPr lang="ru-RU" sz="2400" dirty="0"/>
                        <a:t>До 1 млрд  32-битных слов</a:t>
                      </a:r>
                      <a:endParaRPr lang="en-US" sz="2400" dirty="0"/>
                    </a:p>
                  </a:txBody>
                  <a:tcPr/>
                </a:tc>
                <a:extLst>
                  <a:ext uri="{0D108BD9-81ED-4DB2-BD59-A6C34878D82A}">
                    <a16:rowId xmlns:a16="http://schemas.microsoft.com/office/drawing/2014/main" val="2559552401"/>
                  </a:ext>
                </a:extLst>
              </a:tr>
              <a:tr h="370840">
                <a:tc>
                  <a:txBody>
                    <a:bodyPr/>
                    <a:lstStyle/>
                    <a:p>
                      <a:r>
                        <a:rPr lang="ru-RU" sz="2400" dirty="0"/>
                        <a:t>Адресация</a:t>
                      </a:r>
                      <a:endParaRPr lang="en-US" sz="2400" dirty="0"/>
                    </a:p>
                  </a:txBody>
                  <a:tcPr/>
                </a:tc>
                <a:tc>
                  <a:txBody>
                    <a:bodyPr/>
                    <a:lstStyle/>
                    <a:p>
                      <a:r>
                        <a:rPr lang="ru-RU" sz="2400" dirty="0"/>
                        <a:t>36 бит</a:t>
                      </a:r>
                      <a:endParaRPr lang="en-US" sz="2400" dirty="0"/>
                    </a:p>
                  </a:txBody>
                  <a:tcPr/>
                </a:tc>
                <a:tc>
                  <a:txBody>
                    <a:bodyPr/>
                    <a:lstStyle/>
                    <a:p>
                      <a:r>
                        <a:rPr lang="ru-RU" sz="2400" dirty="0"/>
                        <a:t>32 бита</a:t>
                      </a:r>
                      <a:endParaRPr lang="en-US" sz="2400" dirty="0"/>
                    </a:p>
                  </a:txBody>
                  <a:tcPr/>
                </a:tc>
                <a:extLst>
                  <a:ext uri="{0D108BD9-81ED-4DB2-BD59-A6C34878D82A}">
                    <a16:rowId xmlns:a16="http://schemas.microsoft.com/office/drawing/2014/main" val="786110933"/>
                  </a:ext>
                </a:extLst>
              </a:tr>
              <a:tr h="370840">
                <a:tc>
                  <a:txBody>
                    <a:bodyPr/>
                    <a:lstStyle/>
                    <a:p>
                      <a:r>
                        <a:rPr lang="ru-RU" sz="2400" dirty="0"/>
                        <a:t>Пейджинг</a:t>
                      </a:r>
                      <a:endParaRPr lang="en-US" sz="2400" dirty="0"/>
                    </a:p>
                  </a:txBody>
                  <a:tcPr/>
                </a:tc>
                <a:tc>
                  <a:txBody>
                    <a:bodyPr/>
                    <a:lstStyle/>
                    <a:p>
                      <a:r>
                        <a:rPr lang="ru-RU" sz="2400" dirty="0"/>
                        <a:t>Да</a:t>
                      </a:r>
                      <a:endParaRPr lang="en-US" sz="2400" dirty="0"/>
                    </a:p>
                  </a:txBody>
                  <a:tcPr/>
                </a:tc>
                <a:tc>
                  <a:txBody>
                    <a:bodyPr/>
                    <a:lstStyle/>
                    <a:p>
                      <a:r>
                        <a:rPr lang="ru-RU" sz="2400" dirty="0"/>
                        <a:t>Да</a:t>
                      </a:r>
                      <a:endParaRPr lang="en-US" sz="2400" dirty="0"/>
                    </a:p>
                  </a:txBody>
                  <a:tcPr/>
                </a:tc>
                <a:extLst>
                  <a:ext uri="{0D108BD9-81ED-4DB2-BD59-A6C34878D82A}">
                    <a16:rowId xmlns:a16="http://schemas.microsoft.com/office/drawing/2014/main" val="397583139"/>
                  </a:ext>
                </a:extLst>
              </a:tr>
            </a:tbl>
          </a:graphicData>
        </a:graphic>
      </p:graphicFrame>
    </p:spTree>
    <p:extLst>
      <p:ext uri="{BB962C8B-B14F-4D97-AF65-F5344CB8AC3E}">
        <p14:creationId xmlns:p14="http://schemas.microsoft.com/office/powerpoint/2010/main" val="17688565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F2E5-42C5-05FC-034D-AF925754DA54}"/>
              </a:ext>
            </a:extLst>
          </p:cNvPr>
          <p:cNvSpPr>
            <a:spLocks noGrp="1"/>
          </p:cNvSpPr>
          <p:nvPr>
            <p:ph type="title"/>
          </p:nvPr>
        </p:nvSpPr>
        <p:spPr/>
        <p:txBody>
          <a:bodyPr/>
          <a:lstStyle/>
          <a:p>
            <a:r>
              <a:rPr lang="ru-RU" dirty="0"/>
              <a:t>Почему сегментация исчезла</a:t>
            </a:r>
            <a:endParaRPr lang="en-US" dirty="0"/>
          </a:p>
        </p:txBody>
      </p:sp>
      <p:sp>
        <p:nvSpPr>
          <p:cNvPr id="3" name="Content Placeholder 2">
            <a:extLst>
              <a:ext uri="{FF2B5EF4-FFF2-40B4-BE49-F238E27FC236}">
                <a16:creationId xmlns:a16="http://schemas.microsoft.com/office/drawing/2014/main" id="{FAAA68A2-364F-729B-0370-64F230B0D876}"/>
              </a:ext>
            </a:extLst>
          </p:cNvPr>
          <p:cNvSpPr>
            <a:spLocks noGrp="1"/>
          </p:cNvSpPr>
          <p:nvPr>
            <p:ph idx="1"/>
          </p:nvPr>
        </p:nvSpPr>
        <p:spPr/>
        <p:txBody>
          <a:bodyPr/>
          <a:lstStyle/>
          <a:p>
            <a:r>
              <a:rPr lang="ru-RU" dirty="0"/>
              <a:t>ОС (UNIX, Linux, Windows) не использовали сегментацию</a:t>
            </a:r>
          </a:p>
          <a:p>
            <a:r>
              <a:rPr lang="ru-RU" dirty="0"/>
              <a:t>Использовали пейджинг для всей защиты и виртуализации</a:t>
            </a:r>
          </a:p>
          <a:p>
            <a:r>
              <a:rPr lang="ru-RU" dirty="0"/>
              <a:t>Сегментация мешала </a:t>
            </a:r>
            <a:r>
              <a:rPr lang="ru-RU" dirty="0" err="1"/>
              <a:t>портируемости</a:t>
            </a:r>
            <a:r>
              <a:rPr lang="ru-RU" dirty="0"/>
              <a:t> ПО</a:t>
            </a:r>
          </a:p>
          <a:p>
            <a:r>
              <a:rPr lang="ru-RU" dirty="0"/>
              <a:t>Intel удалила её в x86-64 (осталась только в </a:t>
            </a:r>
            <a:r>
              <a:rPr lang="ru-RU" dirty="0" err="1"/>
              <a:t>legacy</a:t>
            </a:r>
            <a:r>
              <a:rPr lang="ru-RU" dirty="0"/>
              <a:t> </a:t>
            </a:r>
            <a:r>
              <a:rPr lang="ru-RU" dirty="0" err="1"/>
              <a:t>mode</a:t>
            </a:r>
            <a:r>
              <a:rPr lang="ru-RU" dirty="0"/>
              <a:t>)</a:t>
            </a:r>
          </a:p>
          <a:p>
            <a:r>
              <a:rPr lang="ru-RU" dirty="0"/>
              <a:t>FS/GS — единственные активные сегменты (для TLS)</a:t>
            </a:r>
          </a:p>
        </p:txBody>
      </p:sp>
    </p:spTree>
    <p:extLst>
      <p:ext uri="{BB962C8B-B14F-4D97-AF65-F5344CB8AC3E}">
        <p14:creationId xmlns:p14="http://schemas.microsoft.com/office/powerpoint/2010/main" val="25368020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7FDA4-91DB-0E67-AA6C-1CFD9C4DE1B3}"/>
              </a:ext>
            </a:extLst>
          </p:cNvPr>
          <p:cNvSpPr>
            <a:spLocks noGrp="1"/>
          </p:cNvSpPr>
          <p:nvPr>
            <p:ph type="title"/>
          </p:nvPr>
        </p:nvSpPr>
        <p:spPr/>
        <p:txBody>
          <a:bodyPr/>
          <a:lstStyle/>
          <a:p>
            <a:r>
              <a:rPr lang="ru-RU" dirty="0"/>
              <a:t>Устройство модели </a:t>
            </a:r>
            <a:r>
              <a:rPr lang="en-US" dirty="0"/>
              <a:t>x86-32</a:t>
            </a:r>
          </a:p>
        </p:txBody>
      </p:sp>
      <p:sp>
        <p:nvSpPr>
          <p:cNvPr id="3" name="Content Placeholder 2">
            <a:extLst>
              <a:ext uri="{FF2B5EF4-FFF2-40B4-BE49-F238E27FC236}">
                <a16:creationId xmlns:a16="http://schemas.microsoft.com/office/drawing/2014/main" id="{C182D5FA-D937-D842-B842-544989CA7665}"/>
              </a:ext>
            </a:extLst>
          </p:cNvPr>
          <p:cNvSpPr>
            <a:spLocks noGrp="1"/>
          </p:cNvSpPr>
          <p:nvPr>
            <p:ph idx="1"/>
          </p:nvPr>
        </p:nvSpPr>
        <p:spPr/>
        <p:txBody>
          <a:bodyPr/>
          <a:lstStyle/>
          <a:p>
            <a:r>
              <a:rPr lang="ru-RU" dirty="0"/>
              <a:t>Сегменты описаны в </a:t>
            </a:r>
            <a:r>
              <a:rPr lang="en-US" b="1" dirty="0"/>
              <a:t>GDT/LDT</a:t>
            </a:r>
            <a:endParaRPr lang="en-US" dirty="0"/>
          </a:p>
          <a:p>
            <a:r>
              <a:rPr lang="ru-RU" dirty="0"/>
              <a:t>Дескриптор содержит </a:t>
            </a:r>
            <a:r>
              <a:rPr lang="en-US" dirty="0"/>
              <a:t>base, limit, access bits</a:t>
            </a:r>
          </a:p>
          <a:p>
            <a:r>
              <a:rPr lang="ru-RU" dirty="0"/>
              <a:t>Процессор вычисляет линейный адрес:</a:t>
            </a:r>
          </a:p>
          <a:p>
            <a:pPr lvl="1"/>
            <a:r>
              <a:rPr lang="ru-RU" dirty="0"/>
              <a:t>[</a:t>
            </a:r>
            <a:r>
              <a:rPr lang="ru-RU" dirty="0" err="1"/>
              <a:t>сегмент:смещение</a:t>
            </a:r>
            <a:r>
              <a:rPr lang="ru-RU" dirty="0"/>
              <a:t>] → </a:t>
            </a:r>
            <a:r>
              <a:rPr lang="en-US" dirty="0"/>
              <a:t>base + offset</a:t>
            </a:r>
          </a:p>
          <a:p>
            <a:r>
              <a:rPr lang="ru-RU" dirty="0"/>
              <a:t>Затем выполняется </a:t>
            </a:r>
            <a:r>
              <a:rPr lang="ru-RU" b="1" dirty="0"/>
              <a:t>пейджинг</a:t>
            </a:r>
            <a:r>
              <a:rPr lang="ru-RU" dirty="0"/>
              <a:t>:</a:t>
            </a:r>
          </a:p>
          <a:p>
            <a:pPr lvl="1"/>
            <a:r>
              <a:rPr lang="ru-RU" dirty="0"/>
              <a:t>линейный адрес → физический адрес → Сегментация + пейджинг = мощная, но сложная модель</a:t>
            </a:r>
          </a:p>
          <a:p>
            <a:endParaRPr lang="en-US" dirty="0"/>
          </a:p>
        </p:txBody>
      </p:sp>
    </p:spTree>
    <p:extLst>
      <p:ext uri="{BB962C8B-B14F-4D97-AF65-F5344CB8AC3E}">
        <p14:creationId xmlns:p14="http://schemas.microsoft.com/office/powerpoint/2010/main" val="1809029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E856-A5FA-B3B1-88B2-7F01CCA365F0}"/>
              </a:ext>
            </a:extLst>
          </p:cNvPr>
          <p:cNvSpPr>
            <a:spLocks noGrp="1"/>
          </p:cNvSpPr>
          <p:nvPr>
            <p:ph type="title"/>
          </p:nvPr>
        </p:nvSpPr>
        <p:spPr/>
        <p:txBody>
          <a:bodyPr/>
          <a:lstStyle/>
          <a:p>
            <a:r>
              <a:rPr lang="ru-RU" dirty="0"/>
              <a:t>Итоги</a:t>
            </a:r>
            <a:endParaRPr lang="en-US" dirty="0"/>
          </a:p>
        </p:txBody>
      </p:sp>
      <p:sp>
        <p:nvSpPr>
          <p:cNvPr id="3" name="Content Placeholder 2">
            <a:extLst>
              <a:ext uri="{FF2B5EF4-FFF2-40B4-BE49-F238E27FC236}">
                <a16:creationId xmlns:a16="http://schemas.microsoft.com/office/drawing/2014/main" id="{C51DDD77-B2CE-2ED0-2DE3-28AEB1859689}"/>
              </a:ext>
            </a:extLst>
          </p:cNvPr>
          <p:cNvSpPr>
            <a:spLocks noGrp="1"/>
          </p:cNvSpPr>
          <p:nvPr>
            <p:ph idx="1"/>
          </p:nvPr>
        </p:nvSpPr>
        <p:spPr/>
        <p:txBody>
          <a:bodyPr/>
          <a:lstStyle/>
          <a:p>
            <a:r>
              <a:rPr lang="ru-RU" dirty="0"/>
              <a:t>x86 до x86-64 реализовывал </a:t>
            </a:r>
            <a:r>
              <a:rPr lang="ru-RU" dirty="0" err="1"/>
              <a:t>paged</a:t>
            </a:r>
            <a:r>
              <a:rPr lang="ru-RU" dirty="0"/>
              <a:t> </a:t>
            </a:r>
            <a:r>
              <a:rPr lang="ru-RU" dirty="0" err="1"/>
              <a:t>segmentation</a:t>
            </a:r>
            <a:r>
              <a:rPr lang="ru-RU" dirty="0"/>
              <a:t>, как MULTICS</a:t>
            </a:r>
          </a:p>
          <a:p>
            <a:r>
              <a:rPr lang="ru-RU" dirty="0"/>
              <a:t>Обеспечивал гибкость, защиту и совместимость</a:t>
            </a:r>
          </a:p>
          <a:p>
            <a:r>
              <a:rPr lang="ru-RU" dirty="0"/>
              <a:t>ОС игнорировали сегментацию ради переносимости</a:t>
            </a:r>
          </a:p>
          <a:p>
            <a:r>
              <a:rPr lang="ru-RU" dirty="0"/>
              <a:t>В x86-64 — только плоская модель памяти</a:t>
            </a:r>
          </a:p>
          <a:p>
            <a:r>
              <a:rPr lang="ru-RU" dirty="0"/>
              <a:t>Наследие x86 живёт в FS/GS и механизмах защиты ядра</a:t>
            </a:r>
          </a:p>
          <a:p>
            <a:endParaRPr lang="en-US" dirty="0"/>
          </a:p>
        </p:txBody>
      </p:sp>
    </p:spTree>
    <p:extLst>
      <p:ext uri="{BB962C8B-B14F-4D97-AF65-F5344CB8AC3E}">
        <p14:creationId xmlns:p14="http://schemas.microsoft.com/office/powerpoint/2010/main" val="77451753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5B63C0-F240-1F0F-1749-20EB01E23442}"/>
              </a:ext>
            </a:extLst>
          </p:cNvPr>
          <p:cNvSpPr>
            <a:spLocks noGrp="1"/>
          </p:cNvSpPr>
          <p:nvPr>
            <p:ph type="title"/>
          </p:nvPr>
        </p:nvSpPr>
        <p:spPr/>
        <p:txBody>
          <a:bodyPr/>
          <a:lstStyle/>
          <a:p>
            <a:r>
              <a:rPr lang="ru-RU" dirty="0"/>
              <a:t>Современные исследования в области управления памятью</a:t>
            </a:r>
            <a:endParaRPr lang="en-US" dirty="0"/>
          </a:p>
        </p:txBody>
      </p:sp>
      <p:sp>
        <p:nvSpPr>
          <p:cNvPr id="5" name="Text Placeholder 4">
            <a:extLst>
              <a:ext uri="{FF2B5EF4-FFF2-40B4-BE49-F238E27FC236}">
                <a16:creationId xmlns:a16="http://schemas.microsoft.com/office/drawing/2014/main" id="{4137E158-D65F-E656-C204-5195FBD7A5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3596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1D36F0-3931-799F-C4B7-C0DA90DDB59B}"/>
              </a:ext>
            </a:extLst>
          </p:cNvPr>
          <p:cNvSpPr>
            <a:spLocks noGrp="1"/>
          </p:cNvSpPr>
          <p:nvPr>
            <p:ph type="title"/>
          </p:nvPr>
        </p:nvSpPr>
        <p:spPr/>
        <p:txBody>
          <a:bodyPr/>
          <a:lstStyle/>
          <a:p>
            <a:r>
              <a:rPr lang="ru-RU" dirty="0"/>
              <a:t>Управление памятью сегодня</a:t>
            </a:r>
            <a:endParaRPr lang="en-US" dirty="0"/>
          </a:p>
        </p:txBody>
      </p:sp>
      <p:sp>
        <p:nvSpPr>
          <p:cNvPr id="5" name="Content Placeholder 4">
            <a:extLst>
              <a:ext uri="{FF2B5EF4-FFF2-40B4-BE49-F238E27FC236}">
                <a16:creationId xmlns:a16="http://schemas.microsoft.com/office/drawing/2014/main" id="{D3E77DDB-B28E-DDFD-DEB9-D405C83E968F}"/>
              </a:ext>
            </a:extLst>
          </p:cNvPr>
          <p:cNvSpPr>
            <a:spLocks noGrp="1"/>
          </p:cNvSpPr>
          <p:nvPr>
            <p:ph idx="1"/>
          </p:nvPr>
        </p:nvSpPr>
        <p:spPr/>
        <p:txBody>
          <a:bodyPr/>
          <a:lstStyle/>
          <a:p>
            <a:r>
              <a:rPr lang="ru-RU" dirty="0"/>
              <a:t>Активная область исследований</a:t>
            </a:r>
          </a:p>
          <a:p>
            <a:r>
              <a:rPr lang="ru-RU" dirty="0"/>
              <a:t>Цели: производительность, безопасность, масштабируемость</a:t>
            </a:r>
          </a:p>
          <a:p>
            <a:r>
              <a:rPr lang="ru-RU" dirty="0"/>
              <a:t>Новые вызовы:</a:t>
            </a:r>
          </a:p>
          <a:p>
            <a:pPr lvl="1"/>
            <a:r>
              <a:rPr lang="ru-RU" dirty="0"/>
              <a:t>облачные среды, виртуализация, удалённая память</a:t>
            </a:r>
          </a:p>
          <a:p>
            <a:pPr lvl="1"/>
            <a:r>
              <a:rPr lang="ru-RU" dirty="0"/>
              <a:t>энергонезависимая (</a:t>
            </a:r>
            <a:r>
              <a:rPr lang="ru-RU" dirty="0" err="1"/>
              <a:t>persistent</a:t>
            </a:r>
            <a:r>
              <a:rPr lang="ru-RU" dirty="0"/>
              <a:t>) память</a:t>
            </a:r>
          </a:p>
          <a:p>
            <a:pPr lvl="1"/>
            <a:r>
              <a:rPr lang="ru-RU" dirty="0"/>
              <a:t>защита от атак уровня ОС и CPU</a:t>
            </a:r>
          </a:p>
        </p:txBody>
      </p:sp>
    </p:spTree>
    <p:extLst>
      <p:ext uri="{BB962C8B-B14F-4D97-AF65-F5344CB8AC3E}">
        <p14:creationId xmlns:p14="http://schemas.microsoft.com/office/powerpoint/2010/main" val="24447464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6C190-DACA-DAA9-1A58-5F79E33B2E5F}"/>
              </a:ext>
            </a:extLst>
          </p:cNvPr>
          <p:cNvSpPr>
            <a:spLocks noGrp="1"/>
          </p:cNvSpPr>
          <p:nvPr>
            <p:ph type="title"/>
          </p:nvPr>
        </p:nvSpPr>
        <p:spPr/>
        <p:txBody>
          <a:bodyPr/>
          <a:lstStyle/>
          <a:p>
            <a:r>
              <a:rPr lang="ru-RU" dirty="0"/>
              <a:t>Новые подходы к организации памяти</a:t>
            </a:r>
            <a:endParaRPr lang="en-US" dirty="0"/>
          </a:p>
        </p:txBody>
      </p:sp>
      <p:sp>
        <p:nvSpPr>
          <p:cNvPr id="3" name="Content Placeholder 2">
            <a:extLst>
              <a:ext uri="{FF2B5EF4-FFF2-40B4-BE49-F238E27FC236}">
                <a16:creationId xmlns:a16="http://schemas.microsoft.com/office/drawing/2014/main" id="{5F3C2527-E80B-C361-7E1B-89BE985A063F}"/>
              </a:ext>
            </a:extLst>
          </p:cNvPr>
          <p:cNvSpPr>
            <a:spLocks noGrp="1"/>
          </p:cNvSpPr>
          <p:nvPr>
            <p:ph idx="1"/>
          </p:nvPr>
        </p:nvSpPr>
        <p:spPr/>
        <p:txBody>
          <a:bodyPr/>
          <a:lstStyle/>
          <a:p>
            <a:r>
              <a:rPr lang="ru-RU" dirty="0"/>
              <a:t>Удалённая память (Remote Memory): распределённая RAM в кластерах</a:t>
            </a:r>
          </a:p>
          <a:p>
            <a:r>
              <a:rPr lang="ru-RU" dirty="0"/>
              <a:t>Оптимизация </a:t>
            </a:r>
            <a:r>
              <a:rPr lang="ru-RU" dirty="0" err="1"/>
              <a:t>fork</a:t>
            </a:r>
            <a:r>
              <a:rPr lang="ru-RU" dirty="0"/>
              <a:t>(): совместное использование таблиц страниц (</a:t>
            </a:r>
            <a:r>
              <a:rPr lang="ru-RU" i="1" dirty="0" err="1"/>
              <a:t>Zhao</a:t>
            </a:r>
            <a:r>
              <a:rPr lang="ru-RU" i="1" dirty="0"/>
              <a:t>, 2021</a:t>
            </a:r>
            <a:r>
              <a:rPr lang="ru-RU" dirty="0"/>
              <a:t>)</a:t>
            </a:r>
          </a:p>
          <a:p>
            <a:r>
              <a:rPr lang="ru-RU" dirty="0"/>
              <a:t>Обновление гипервизора без миграции ВМ (</a:t>
            </a:r>
            <a:r>
              <a:rPr lang="ru-RU" i="1" dirty="0" err="1"/>
              <a:t>Russinovich</a:t>
            </a:r>
            <a:r>
              <a:rPr lang="ru-RU" i="1" dirty="0"/>
              <a:t>, 2021</a:t>
            </a:r>
            <a:r>
              <a:rPr lang="ru-RU" dirty="0"/>
              <a:t>)</a:t>
            </a:r>
          </a:p>
          <a:p>
            <a:r>
              <a:rPr lang="ru-RU" dirty="0"/>
              <a:t>Координация между уровнями </a:t>
            </a:r>
            <a:r>
              <a:rPr lang="ru-RU" dirty="0" err="1"/>
              <a:t>стэка</a:t>
            </a:r>
            <a:r>
              <a:rPr lang="ru-RU" dirty="0"/>
              <a:t> — приложения, ОС, гипервизор (</a:t>
            </a:r>
            <a:r>
              <a:rPr lang="ru-RU" i="1" dirty="0" err="1"/>
              <a:t>Lion</a:t>
            </a:r>
            <a:r>
              <a:rPr lang="ru-RU" i="1" dirty="0"/>
              <a:t>, 2021</a:t>
            </a:r>
            <a:r>
              <a:rPr lang="ru-RU" dirty="0"/>
              <a:t>)</a:t>
            </a:r>
          </a:p>
        </p:txBody>
      </p:sp>
    </p:spTree>
    <p:extLst>
      <p:ext uri="{BB962C8B-B14F-4D97-AF65-F5344CB8AC3E}">
        <p14:creationId xmlns:p14="http://schemas.microsoft.com/office/powerpoint/2010/main" val="29044996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0129-B349-4AE7-D869-8C6B3E65CD76}"/>
              </a:ext>
            </a:extLst>
          </p:cNvPr>
          <p:cNvSpPr>
            <a:spLocks noGrp="1"/>
          </p:cNvSpPr>
          <p:nvPr>
            <p:ph type="title"/>
          </p:nvPr>
        </p:nvSpPr>
        <p:spPr/>
        <p:txBody>
          <a:bodyPr/>
          <a:lstStyle/>
          <a:p>
            <a:r>
              <a:rPr lang="ru-RU" dirty="0"/>
              <a:t>Интеграция энергонезависимой памяти</a:t>
            </a:r>
            <a:endParaRPr lang="en-US" dirty="0"/>
          </a:p>
        </p:txBody>
      </p:sp>
      <p:sp>
        <p:nvSpPr>
          <p:cNvPr id="3" name="Content Placeholder 2">
            <a:extLst>
              <a:ext uri="{FF2B5EF4-FFF2-40B4-BE49-F238E27FC236}">
                <a16:creationId xmlns:a16="http://schemas.microsoft.com/office/drawing/2014/main" id="{9CE8CDA0-0579-A643-3FA7-D9E0DDFF1F65}"/>
              </a:ext>
            </a:extLst>
          </p:cNvPr>
          <p:cNvSpPr>
            <a:spLocks noGrp="1"/>
          </p:cNvSpPr>
          <p:nvPr>
            <p:ph idx="1"/>
          </p:nvPr>
        </p:nvSpPr>
        <p:spPr/>
        <p:txBody>
          <a:bodyPr/>
          <a:lstStyle/>
          <a:p>
            <a:r>
              <a:rPr lang="ru-RU" dirty="0"/>
              <a:t>Внедрение </a:t>
            </a:r>
            <a:r>
              <a:rPr lang="ru-RU" b="1" dirty="0" err="1"/>
              <a:t>persistent</a:t>
            </a:r>
            <a:r>
              <a:rPr lang="ru-RU" b="1" dirty="0"/>
              <a:t> </a:t>
            </a:r>
            <a:r>
              <a:rPr lang="ru-RU" b="1" dirty="0" err="1"/>
              <a:t>memory</a:t>
            </a:r>
            <a:r>
              <a:rPr lang="ru-RU" b="1" dirty="0"/>
              <a:t> (PMEM)</a:t>
            </a:r>
            <a:r>
              <a:rPr lang="ru-RU" dirty="0"/>
              <a:t> — трудная задача</a:t>
            </a:r>
          </a:p>
          <a:p>
            <a:r>
              <a:rPr lang="ru-RU" dirty="0"/>
              <a:t>Исследования направлены на:</a:t>
            </a:r>
          </a:p>
          <a:p>
            <a:pPr lvl="1"/>
            <a:r>
              <a:rPr lang="ru-RU" dirty="0"/>
              <a:t>сопоставление адресов DRAM и PMEM (</a:t>
            </a:r>
            <a:r>
              <a:rPr lang="ru-RU" i="1" dirty="0"/>
              <a:t>Lee, 2019</a:t>
            </a:r>
            <a:r>
              <a:rPr lang="ru-RU" dirty="0"/>
              <a:t>)</a:t>
            </a:r>
          </a:p>
          <a:p>
            <a:pPr lvl="1"/>
            <a:r>
              <a:rPr lang="ru-RU" dirty="0"/>
              <a:t>устойчивые к сбоям распределённые хранилища (</a:t>
            </a:r>
            <a:r>
              <a:rPr lang="ru-RU" i="1" dirty="0" err="1"/>
              <a:t>Zhang</a:t>
            </a:r>
            <a:r>
              <a:rPr lang="ru-RU" i="1" dirty="0"/>
              <a:t>, 2020</a:t>
            </a:r>
            <a:r>
              <a:rPr lang="ru-RU" dirty="0"/>
              <a:t>)</a:t>
            </a:r>
          </a:p>
          <a:p>
            <a:r>
              <a:rPr lang="ru-RU" dirty="0"/>
              <a:t>Цель — прозрачная интеграция PMEM в иерархию памяти</a:t>
            </a:r>
          </a:p>
        </p:txBody>
      </p:sp>
    </p:spTree>
    <p:extLst>
      <p:ext uri="{BB962C8B-B14F-4D97-AF65-F5344CB8AC3E}">
        <p14:creationId xmlns:p14="http://schemas.microsoft.com/office/powerpoint/2010/main" val="7810992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C75E-7898-0EAB-E1A7-78404D286886}"/>
              </a:ext>
            </a:extLst>
          </p:cNvPr>
          <p:cNvSpPr>
            <a:spLocks noGrp="1"/>
          </p:cNvSpPr>
          <p:nvPr>
            <p:ph type="title"/>
          </p:nvPr>
        </p:nvSpPr>
        <p:spPr/>
        <p:txBody>
          <a:bodyPr/>
          <a:lstStyle/>
          <a:p>
            <a:r>
              <a:rPr lang="ru-RU" dirty="0"/>
              <a:t>Безопасность и атаки</a:t>
            </a:r>
            <a:endParaRPr lang="en-US" dirty="0"/>
          </a:p>
        </p:txBody>
      </p:sp>
      <p:sp>
        <p:nvSpPr>
          <p:cNvPr id="3" name="Content Placeholder 2">
            <a:extLst>
              <a:ext uri="{FF2B5EF4-FFF2-40B4-BE49-F238E27FC236}">
                <a16:creationId xmlns:a16="http://schemas.microsoft.com/office/drawing/2014/main" id="{6FAF3590-C4E7-743B-AD71-81B2205DDB56}"/>
              </a:ext>
            </a:extLst>
          </p:cNvPr>
          <p:cNvSpPr>
            <a:spLocks noGrp="1"/>
          </p:cNvSpPr>
          <p:nvPr>
            <p:ph idx="1"/>
          </p:nvPr>
        </p:nvSpPr>
        <p:spPr/>
        <p:txBody>
          <a:bodyPr/>
          <a:lstStyle/>
          <a:p>
            <a:r>
              <a:rPr lang="ru-RU" dirty="0"/>
              <a:t>Дедупликация памяти = приводит к риску утечек → злоумышленник может определить содержимое страниц (</a:t>
            </a:r>
            <a:r>
              <a:rPr lang="en-US" i="1" dirty="0"/>
              <a:t>Bosman &amp; Bos, 2016</a:t>
            </a:r>
            <a:r>
              <a:rPr lang="en-US" dirty="0"/>
              <a:t>)</a:t>
            </a:r>
            <a:endParaRPr lang="ru-RU" dirty="0"/>
          </a:p>
          <a:p>
            <a:pPr lvl="1"/>
            <a:r>
              <a:rPr lang="ru-RU" dirty="0"/>
              <a:t>решение — неразличимость страниц (</a:t>
            </a:r>
            <a:r>
              <a:rPr lang="en-US" i="1" dirty="0"/>
              <a:t>Oliverio, 2017</a:t>
            </a:r>
            <a:r>
              <a:rPr lang="en-US" dirty="0"/>
              <a:t>)</a:t>
            </a:r>
          </a:p>
          <a:p>
            <a:r>
              <a:rPr lang="en-US" dirty="0"/>
              <a:t>Heap layout attacks (heap feng shui):</a:t>
            </a:r>
            <a:endParaRPr lang="ru-RU" dirty="0"/>
          </a:p>
          <a:p>
            <a:pPr lvl="1"/>
            <a:r>
              <a:rPr lang="ru-RU" dirty="0"/>
              <a:t>автоматизация размещения объектов для эксплуатации (</a:t>
            </a:r>
            <a:r>
              <a:rPr lang="en-US" i="1" dirty="0"/>
              <a:t>Chen &amp; Xing, 2019</a:t>
            </a:r>
            <a:r>
              <a:rPr lang="en-US" dirty="0"/>
              <a:t>)</a:t>
            </a:r>
          </a:p>
          <a:p>
            <a:endParaRPr lang="en-US" dirty="0"/>
          </a:p>
        </p:txBody>
      </p:sp>
    </p:spTree>
    <p:extLst>
      <p:ext uri="{BB962C8B-B14F-4D97-AF65-F5344CB8AC3E}">
        <p14:creationId xmlns:p14="http://schemas.microsoft.com/office/powerpoint/2010/main" val="42401208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48149-5862-176B-84BD-C6EEE91F8D2A}"/>
              </a:ext>
            </a:extLst>
          </p:cNvPr>
          <p:cNvSpPr>
            <a:spLocks noGrp="1"/>
          </p:cNvSpPr>
          <p:nvPr>
            <p:ph type="title"/>
          </p:nvPr>
        </p:nvSpPr>
        <p:spPr/>
        <p:txBody>
          <a:bodyPr/>
          <a:lstStyle/>
          <a:p>
            <a:r>
              <a:rPr lang="ru-RU" dirty="0" err="1"/>
              <a:t>Meltdown</a:t>
            </a:r>
            <a:r>
              <a:rPr lang="ru-RU" dirty="0"/>
              <a:t> и защита ОС</a:t>
            </a:r>
            <a:endParaRPr lang="en-US" dirty="0"/>
          </a:p>
        </p:txBody>
      </p:sp>
      <p:sp>
        <p:nvSpPr>
          <p:cNvPr id="3" name="Content Placeholder 2">
            <a:extLst>
              <a:ext uri="{FF2B5EF4-FFF2-40B4-BE49-F238E27FC236}">
                <a16:creationId xmlns:a16="http://schemas.microsoft.com/office/drawing/2014/main" id="{5F7439D5-879D-3047-B57E-224FFE871DF6}"/>
              </a:ext>
            </a:extLst>
          </p:cNvPr>
          <p:cNvSpPr>
            <a:spLocks noGrp="1"/>
          </p:cNvSpPr>
          <p:nvPr>
            <p:ph idx="1"/>
          </p:nvPr>
        </p:nvSpPr>
        <p:spPr/>
        <p:txBody>
          <a:bodyPr/>
          <a:lstStyle/>
          <a:p>
            <a:r>
              <a:rPr lang="ru-RU" dirty="0"/>
              <a:t>Уязвимости </a:t>
            </a:r>
            <a:r>
              <a:rPr lang="ru-RU" dirty="0" err="1"/>
              <a:t>Meltdown</a:t>
            </a:r>
            <a:r>
              <a:rPr lang="ru-RU" dirty="0"/>
              <a:t> / </a:t>
            </a:r>
            <a:r>
              <a:rPr lang="ru-RU" dirty="0" err="1"/>
              <a:t>Spectre</a:t>
            </a:r>
            <a:r>
              <a:rPr lang="ru-RU" dirty="0"/>
              <a:t> привели к изоляции таблиц страниц</a:t>
            </a:r>
          </a:p>
          <a:p>
            <a:r>
              <a:rPr lang="ru-RU" dirty="0"/>
              <a:t>Linux внедрил KPTI (</a:t>
            </a:r>
            <a:r>
              <a:rPr lang="ru-RU" dirty="0" err="1"/>
              <a:t>Kernel</a:t>
            </a:r>
            <a:r>
              <a:rPr lang="ru-RU" dirty="0"/>
              <a:t> Page </a:t>
            </a:r>
            <a:r>
              <a:rPr lang="ru-RU" dirty="0" err="1"/>
              <a:t>Table</a:t>
            </a:r>
            <a:r>
              <a:rPr lang="ru-RU" dirty="0"/>
              <a:t> </a:t>
            </a:r>
            <a:r>
              <a:rPr lang="ru-RU" dirty="0" err="1"/>
              <a:t>Isolation</a:t>
            </a:r>
            <a:r>
              <a:rPr lang="ru-RU" dirty="0"/>
              <a:t>)</a:t>
            </a:r>
          </a:p>
          <a:p>
            <a:r>
              <a:rPr lang="ru-RU" dirty="0"/>
              <a:t>Цена — рост затрат на переключение контекста</a:t>
            </a:r>
          </a:p>
          <a:p>
            <a:r>
              <a:rPr lang="ru-RU" dirty="0"/>
              <a:t>Но — обязательная мера для защиты адресного пространства ядра</a:t>
            </a:r>
          </a:p>
        </p:txBody>
      </p:sp>
    </p:spTree>
    <p:extLst>
      <p:ext uri="{BB962C8B-B14F-4D97-AF65-F5344CB8AC3E}">
        <p14:creationId xmlns:p14="http://schemas.microsoft.com/office/powerpoint/2010/main" val="12470344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D5DD-665B-0DA7-A53D-E77A65E334B7}"/>
              </a:ext>
            </a:extLst>
          </p:cNvPr>
          <p:cNvSpPr>
            <a:spLocks noGrp="1"/>
          </p:cNvSpPr>
          <p:nvPr>
            <p:ph type="title"/>
          </p:nvPr>
        </p:nvSpPr>
        <p:spPr/>
        <p:txBody>
          <a:bodyPr/>
          <a:lstStyle/>
          <a:p>
            <a:r>
              <a:rPr lang="ru-RU" dirty="0"/>
              <a:t>Итоги</a:t>
            </a:r>
            <a:endParaRPr lang="en-US" dirty="0"/>
          </a:p>
        </p:txBody>
      </p:sp>
      <p:sp>
        <p:nvSpPr>
          <p:cNvPr id="3" name="Content Placeholder 2">
            <a:extLst>
              <a:ext uri="{FF2B5EF4-FFF2-40B4-BE49-F238E27FC236}">
                <a16:creationId xmlns:a16="http://schemas.microsoft.com/office/drawing/2014/main" id="{21B5108E-6C1B-2115-4A6E-7449CAFBB0CB}"/>
              </a:ext>
            </a:extLst>
          </p:cNvPr>
          <p:cNvSpPr>
            <a:spLocks noGrp="1"/>
          </p:cNvSpPr>
          <p:nvPr>
            <p:ph idx="1"/>
          </p:nvPr>
        </p:nvSpPr>
        <p:spPr/>
        <p:txBody>
          <a:bodyPr/>
          <a:lstStyle/>
          <a:p>
            <a:r>
              <a:rPr lang="ru-RU" dirty="0"/>
              <a:t>Классические темы (LRU, FIFO, WS) — уже история</a:t>
            </a:r>
          </a:p>
          <a:p>
            <a:r>
              <a:rPr lang="ru-RU" dirty="0"/>
              <a:t>Современные исследования фокусируются на:</a:t>
            </a:r>
          </a:p>
          <a:p>
            <a:pPr lvl="1"/>
            <a:r>
              <a:rPr lang="ru-RU" dirty="0"/>
              <a:t>интеграции новых типов памяти</a:t>
            </a:r>
          </a:p>
          <a:p>
            <a:pPr lvl="1"/>
            <a:r>
              <a:rPr lang="ru-RU" dirty="0"/>
              <a:t>безопасности и защите данных</a:t>
            </a:r>
          </a:p>
          <a:p>
            <a:pPr lvl="1"/>
            <a:r>
              <a:rPr lang="ru-RU" dirty="0"/>
              <a:t>виртуализации и облаках</a:t>
            </a:r>
          </a:p>
          <a:p>
            <a:r>
              <a:rPr lang="ru-RU" dirty="0"/>
              <a:t>Управление памятью стало многоуровневой задачей,</a:t>
            </a:r>
            <a:br>
              <a:rPr lang="ru-RU" dirty="0"/>
            </a:br>
            <a:r>
              <a:rPr lang="ru-RU" dirty="0"/>
              <a:t>затрагивающей ОС, гипервизоры, процессоры и приложения</a:t>
            </a:r>
          </a:p>
          <a:p>
            <a:endParaRPr lang="en-US" dirty="0"/>
          </a:p>
        </p:txBody>
      </p:sp>
    </p:spTree>
    <p:extLst>
      <p:ext uri="{BB962C8B-B14F-4D97-AF65-F5344CB8AC3E}">
        <p14:creationId xmlns:p14="http://schemas.microsoft.com/office/powerpoint/2010/main" val="1226196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10939</Words>
  <Application>Microsoft Office PowerPoint</Application>
  <PresentationFormat>Widescreen</PresentationFormat>
  <Paragraphs>944</Paragraphs>
  <Slides>118</Slides>
  <Notes>117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118</vt:i4>
      </vt:variant>
    </vt:vector>
  </HeadingPairs>
  <TitlesOfParts>
    <vt:vector size="124" baseType="lpstr">
      <vt:lpstr>Aptos</vt:lpstr>
      <vt:lpstr>Aptos Display</vt:lpstr>
      <vt:lpstr>Arial</vt:lpstr>
      <vt:lpstr>Cambria Math</vt:lpstr>
      <vt:lpstr>Consolas</vt:lpstr>
      <vt:lpstr>Office Theme</vt:lpstr>
      <vt:lpstr>Управление памятью на практике</vt:lpstr>
      <vt:lpstr>Локальная и глобальная политика распределения страниц</vt:lpstr>
      <vt:lpstr>Проблема распределения страниц</vt:lpstr>
      <vt:lpstr>Локальная политика</vt:lpstr>
      <vt:lpstr>Глобальная политика</vt:lpstr>
      <vt:lpstr>Сравнение и примеры</vt:lpstr>
      <vt:lpstr>Управление загрузкой страниц</vt:lpstr>
      <vt:lpstr>Проблема thrashing-а</vt:lpstr>
      <vt:lpstr>Радикальное решение — OOM Killer</vt:lpstr>
      <vt:lpstr>Мягкое решение — Swapping</vt:lpstr>
      <vt:lpstr>Оптимизация памяти</vt:lpstr>
      <vt:lpstr>Очистка страниц</vt:lpstr>
      <vt:lpstr>Зачем нужна очистка</vt:lpstr>
      <vt:lpstr>Роль Paging Daemon</vt:lpstr>
      <vt:lpstr>Механизм часов с двумя стрелками</vt:lpstr>
      <vt:lpstr>Преимущества очистки страниц</vt:lpstr>
      <vt:lpstr>Выбор размера страницы</vt:lpstr>
      <vt:lpstr>Размер страницы</vt:lpstr>
      <vt:lpstr>Достоинства маленьких страниц</vt:lpstr>
      <vt:lpstr>Достоинства больших страниц</vt:lpstr>
      <vt:lpstr>Компромисс и оптимальный размер</vt:lpstr>
      <vt:lpstr>Современные тенденции</vt:lpstr>
      <vt:lpstr>Раздельные адресные пространства инструкций и данных</vt:lpstr>
      <vt:lpstr>Единое адресное пространство</vt:lpstr>
      <vt:lpstr>Раздельные адресные пространства</vt:lpstr>
      <vt:lpstr>Реализация и принцип работы</vt:lpstr>
      <vt:lpstr>Современное значение</vt:lpstr>
      <vt:lpstr>Совместное использование страниц</vt:lpstr>
      <vt:lpstr>Зачем нужно совместное использование страниц</vt:lpstr>
      <vt:lpstr>Совместное использование кода</vt:lpstr>
      <vt:lpstr>Проблемы и решения</vt:lpstr>
      <vt:lpstr>Совместное использование данных</vt:lpstr>
      <vt:lpstr>Преимущества Copy-on-Write</vt:lpstr>
      <vt:lpstr>Разделяемые библиотеки</vt:lpstr>
      <vt:lpstr>Зачем нужны Shared Libraries</vt:lpstr>
      <vt:lpstr>Проблема статического связывания</vt:lpstr>
      <vt:lpstr>Динамические библиотеки (DLL)</vt:lpstr>
      <vt:lpstr>Преимущества разделяемых библиотек</vt:lpstr>
      <vt:lpstr>Проблема адресации</vt:lpstr>
      <vt:lpstr>Файлы, отображаемые в память</vt:lpstr>
      <vt:lpstr>Что такое memory mapped files</vt:lpstr>
      <vt:lpstr>Как это работает</vt:lpstr>
      <vt:lpstr>Преимущества memory-mapped I/O</vt:lpstr>
      <vt:lpstr>Совместное использование файлов</vt:lpstr>
      <vt:lpstr>Практические вопросы реализации виртуальной памяти</vt:lpstr>
      <vt:lpstr>Реализация виртуальной памяти</vt:lpstr>
      <vt:lpstr>Этап 1 — Создание процесса</vt:lpstr>
      <vt:lpstr>Этап 2 — Запуск процесса</vt:lpstr>
      <vt:lpstr>Этап 3 — Ошибка страницы (Page Fault)</vt:lpstr>
      <vt:lpstr>Этап 4 — Завершение процесса</vt:lpstr>
      <vt:lpstr>Обработка ошибок страниц</vt:lpstr>
      <vt:lpstr>Что такое Page Fault</vt:lpstr>
      <vt:lpstr>Этапы обработки ошибки страниц (1-3)</vt:lpstr>
      <vt:lpstr>Этапы обработки (4-6)</vt:lpstr>
      <vt:lpstr>Этапы обработки (7–10)</vt:lpstr>
      <vt:lpstr>Итого процесса</vt:lpstr>
      <vt:lpstr>Возобновление выполнения инструкции</vt:lpstr>
      <vt:lpstr>Проблема возобновления выполнения инструкции</vt:lpstr>
      <vt:lpstr>Пример сложности</vt:lpstr>
      <vt:lpstr>Автоинкремент и автодекремент</vt:lpstr>
      <vt:lpstr>Аппаратное решение проблемы</vt:lpstr>
      <vt:lpstr>Вывод</vt:lpstr>
      <vt:lpstr>Блокировка страниц</vt:lpstr>
      <vt:lpstr>Взаимодействие виртуальной памяти и I/O</vt:lpstr>
      <vt:lpstr>Проблема DMA и подкачки</vt:lpstr>
      <vt:lpstr>Решение 1 — Блокировка страниц</vt:lpstr>
      <vt:lpstr>Решение 2 — Буферизация в ядре</vt:lpstr>
      <vt:lpstr>Зачем нужен DMA</vt:lpstr>
      <vt:lpstr>Влияние DMA на работу процессора</vt:lpstr>
      <vt:lpstr>DMA и виртуальная память</vt:lpstr>
      <vt:lpstr>Итоги</vt:lpstr>
      <vt:lpstr>Резервное хранилище страниц</vt:lpstr>
      <vt:lpstr>Что такое резервное хранилище страниц</vt:lpstr>
      <vt:lpstr>Классическая схема (swap-раздел)</vt:lpstr>
      <vt:lpstr>Гибкое и динамическое выделение</vt:lpstr>
      <vt:lpstr>Сравнение стратегий</vt:lpstr>
      <vt:lpstr>Реализация без swap-раздела</vt:lpstr>
      <vt:lpstr>Разделение политики и механизма</vt:lpstr>
      <vt:lpstr>Принцип разделения политики и механизма</vt:lpstr>
      <vt:lpstr>Архитектура управления памятью в Mach</vt:lpstr>
      <vt:lpstr>Работа внешнего пейджера</vt:lpstr>
      <vt:lpstr>Где должен быть реализован алгоритм замещения?</vt:lpstr>
      <vt:lpstr>Преимущества и недостатки подхода</vt:lpstr>
      <vt:lpstr>Сегментация памяти</vt:lpstr>
      <vt:lpstr>Проблема одномерной памяти</vt:lpstr>
      <vt:lpstr>Идея сегментации</vt:lpstr>
      <vt:lpstr>Преимущества сегментации</vt:lpstr>
      <vt:lpstr>Сравнение сегментации и страничной адресации</vt:lpstr>
      <vt:lpstr>Сложности работы с указателями при сегментации</vt:lpstr>
      <vt:lpstr>Итоги</vt:lpstr>
      <vt:lpstr>Что такое Segmentation Fault</vt:lpstr>
      <vt:lpstr>Современные архитектуры x86 / x86-64</vt:lpstr>
      <vt:lpstr>Реализация чистой сегментации</vt:lpstr>
      <vt:lpstr>Реализация чистой сегментации</vt:lpstr>
      <vt:lpstr>Проблема внешней фрагментации</vt:lpstr>
      <vt:lpstr>Компактизация</vt:lpstr>
      <vt:lpstr>Сравнение пейджинга и сегментации</vt:lpstr>
      <vt:lpstr>Итоги</vt:lpstr>
      <vt:lpstr>Сегментация + пейджинг в ОС MULTICS</vt:lpstr>
      <vt:lpstr>Идея</vt:lpstr>
      <vt:lpstr>История MULTICS</vt:lpstr>
      <vt:lpstr>Организация памяти в MULTICS</vt:lpstr>
      <vt:lpstr>Алгоритм обращения к памяти</vt:lpstr>
      <vt:lpstr>Аппаратный TLB — новшество MULTICS</vt:lpstr>
      <vt:lpstr>Роль MULTICS</vt:lpstr>
      <vt:lpstr>Сегментация с пейджингом в Intel x86</vt:lpstr>
      <vt:lpstr>Сегментация с пейджингом в Intel x86</vt:lpstr>
      <vt:lpstr>Параметры архитектуры</vt:lpstr>
      <vt:lpstr>Почему сегментация исчезла</vt:lpstr>
      <vt:lpstr>Устройство модели x86-32</vt:lpstr>
      <vt:lpstr>Итоги</vt:lpstr>
      <vt:lpstr>Современные исследования в области управления памятью</vt:lpstr>
      <vt:lpstr>Управление памятью сегодня</vt:lpstr>
      <vt:lpstr>Новые подходы к организации памяти</vt:lpstr>
      <vt:lpstr>Интеграция энергонезависимой памяти</vt:lpstr>
      <vt:lpstr>Безопасность и атаки</vt:lpstr>
      <vt:lpstr>Meltdown и защита ОС</vt:lpstr>
      <vt:lpstr>Итоги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17</cp:revision>
  <dcterms:created xsi:type="dcterms:W3CDTF">2025-11-06T21:08:02Z</dcterms:created>
  <dcterms:modified xsi:type="dcterms:W3CDTF">2025-11-15T10:21:22Z</dcterms:modified>
</cp:coreProperties>
</file>