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378" r:id="rId3"/>
    <p:sldId id="379" r:id="rId4"/>
    <p:sldId id="380" r:id="rId5"/>
    <p:sldId id="381" r:id="rId6"/>
    <p:sldId id="264" r:id="rId7"/>
    <p:sldId id="382" r:id="rId8"/>
    <p:sldId id="383" r:id="rId9"/>
    <p:sldId id="384" r:id="rId10"/>
    <p:sldId id="386" r:id="rId11"/>
    <p:sldId id="385" r:id="rId12"/>
    <p:sldId id="277" r:id="rId13"/>
    <p:sldId id="370" r:id="rId14"/>
    <p:sldId id="387" r:id="rId15"/>
    <p:sldId id="388" r:id="rId16"/>
    <p:sldId id="389" r:id="rId17"/>
    <p:sldId id="270" r:id="rId18"/>
    <p:sldId id="390" r:id="rId19"/>
    <p:sldId id="391" r:id="rId20"/>
    <p:sldId id="392" r:id="rId21"/>
    <p:sldId id="393" r:id="rId22"/>
    <p:sldId id="352" r:id="rId23"/>
    <p:sldId id="395" r:id="rId24"/>
    <p:sldId id="394" r:id="rId25"/>
    <p:sldId id="396" r:id="rId26"/>
    <p:sldId id="356" r:id="rId27"/>
    <p:sldId id="397" r:id="rId28"/>
    <p:sldId id="398" r:id="rId29"/>
    <p:sldId id="359" r:id="rId30"/>
    <p:sldId id="276" r:id="rId31"/>
    <p:sldId id="278" r:id="rId32"/>
    <p:sldId id="279" r:id="rId33"/>
    <p:sldId id="280" r:id="rId34"/>
    <p:sldId id="282" r:id="rId35"/>
    <p:sldId id="399" r:id="rId36"/>
    <p:sldId id="400" r:id="rId37"/>
    <p:sldId id="286" r:id="rId38"/>
    <p:sldId id="401" r:id="rId39"/>
    <p:sldId id="402" r:id="rId40"/>
    <p:sldId id="403" r:id="rId41"/>
    <p:sldId id="291" r:id="rId42"/>
    <p:sldId id="292" r:id="rId43"/>
    <p:sldId id="404" r:id="rId44"/>
    <p:sldId id="405" r:id="rId45"/>
    <p:sldId id="406" r:id="rId46"/>
    <p:sldId id="407" r:id="rId47"/>
    <p:sldId id="408" r:id="rId48"/>
    <p:sldId id="409" r:id="rId49"/>
    <p:sldId id="410" r:id="rId50"/>
    <p:sldId id="411" r:id="rId51"/>
    <p:sldId id="412" r:id="rId52"/>
    <p:sldId id="413" r:id="rId53"/>
    <p:sldId id="414" r:id="rId54"/>
    <p:sldId id="415" r:id="rId55"/>
    <p:sldId id="416" r:id="rId56"/>
    <p:sldId id="417" r:id="rId57"/>
    <p:sldId id="418" r:id="rId58"/>
    <p:sldId id="419" r:id="rId59"/>
    <p:sldId id="420" r:id="rId60"/>
    <p:sldId id="421" r:id="rId61"/>
    <p:sldId id="422" r:id="rId62"/>
    <p:sldId id="427" r:id="rId63"/>
    <p:sldId id="423" r:id="rId64"/>
    <p:sldId id="424" r:id="rId65"/>
    <p:sldId id="426" r:id="rId66"/>
    <p:sldId id="425" r:id="rId67"/>
    <p:sldId id="377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2" autoAdjust="0"/>
    <p:restoredTop sz="60437" autoAdjust="0"/>
  </p:normalViewPr>
  <p:slideViewPr>
    <p:cSldViewPr snapToGrid="0" showGuides="1">
      <p:cViewPr varScale="1">
        <p:scale>
          <a:sx n="63" d="100"/>
          <a:sy n="63" d="100"/>
        </p:scale>
        <p:origin x="225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8CABC-4D06-4A5B-9773-EE99B82DA01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1CFC0-EF44-4B8C-92CE-F1AB7C67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1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Программа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с </a:t>
            </a:r>
            <a:r>
              <a:rPr lang="en-US" dirty="0" err="1"/>
              <a:t>инструкциями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лежать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диске</a:t>
            </a:r>
            <a:r>
              <a:rPr lang="en-US" dirty="0"/>
              <a:t> и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запущена</a:t>
            </a:r>
            <a:r>
              <a:rPr lang="en-US" dirty="0"/>
              <a:t>. У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: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лежат</a:t>
            </a:r>
            <a:r>
              <a:rPr lang="en-US" dirty="0"/>
              <a:t> в </a:t>
            </a:r>
            <a:r>
              <a:rPr lang="en-US" dirty="0" err="1"/>
              <a:t>регистрах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</a:t>
            </a:r>
            <a:r>
              <a:rPr lang="en-US" dirty="0" err="1"/>
              <a:t>открыты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исполняемый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и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Процесс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абстракций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и </a:t>
            </a:r>
            <a:r>
              <a:rPr lang="en-US" dirty="0" err="1"/>
              <a:t>собственная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физически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, а </a:t>
            </a:r>
            <a:r>
              <a:rPr lang="en-US" dirty="0" err="1"/>
              <a:t>процессов</a:t>
            </a:r>
            <a:r>
              <a:rPr lang="en-US" dirty="0"/>
              <a:t> —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сотни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ОС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снимается</a:t>
            </a:r>
            <a:r>
              <a:rPr lang="en-US" dirty="0"/>
              <a:t> с CPU,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.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восстанавливается</a:t>
            </a:r>
            <a:r>
              <a:rPr lang="en-US" dirty="0"/>
              <a:t>, и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будто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«</a:t>
            </a:r>
            <a:r>
              <a:rPr lang="en-US" dirty="0" err="1"/>
              <a:t>запущенной</a:t>
            </a:r>
            <a:r>
              <a:rPr lang="en-US" dirty="0"/>
              <a:t> </a:t>
            </a:r>
            <a:r>
              <a:rPr lang="en-US" dirty="0" err="1"/>
              <a:t>программой</a:t>
            </a:r>
            <a:r>
              <a:rPr lang="en-US" dirty="0"/>
              <a:t>», а </a:t>
            </a:r>
            <a:r>
              <a:rPr lang="en-US" dirty="0" err="1"/>
              <a:t>единицей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: ОС </a:t>
            </a:r>
            <a:r>
              <a:rPr lang="en-US" dirty="0" err="1"/>
              <a:t>планирует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, </a:t>
            </a:r>
            <a:r>
              <a:rPr lang="en-US" dirty="0" err="1"/>
              <a:t>изолирует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учитывает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и </a:t>
            </a:r>
            <a:r>
              <a:rPr lang="en-US" dirty="0" err="1"/>
              <a:t>организует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40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одноядерной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 CPU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переключается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параллельная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: </a:t>
            </a:r>
            <a:r>
              <a:rPr lang="en-US" dirty="0" err="1"/>
              <a:t>играет</a:t>
            </a:r>
            <a:r>
              <a:rPr lang="en-US" dirty="0"/>
              <a:t> </a:t>
            </a:r>
            <a:r>
              <a:rPr lang="en-US" dirty="0" err="1"/>
              <a:t>музыка</a:t>
            </a:r>
            <a:r>
              <a:rPr lang="en-US" dirty="0"/>
              <a:t>, </a:t>
            </a:r>
            <a:r>
              <a:rPr lang="en-US" dirty="0" err="1"/>
              <a:t>открыт</a:t>
            </a:r>
            <a:r>
              <a:rPr lang="en-US" dirty="0"/>
              <a:t> </a:t>
            </a:r>
            <a:r>
              <a:rPr lang="en-US" dirty="0" err="1"/>
              <a:t>браузер</a:t>
            </a:r>
            <a:r>
              <a:rPr lang="en-US" dirty="0"/>
              <a:t>, </a:t>
            </a:r>
            <a:r>
              <a:rPr lang="en-US" dirty="0" err="1"/>
              <a:t>скачивается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многоядерной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параллелизм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настоящим</a:t>
            </a:r>
            <a:r>
              <a:rPr lang="en-US" dirty="0"/>
              <a:t>: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исполняются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ядрах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: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мыслить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последовательную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. ОС </a:t>
            </a:r>
            <a:r>
              <a:rPr lang="en-US" dirty="0" err="1"/>
              <a:t>берёт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, </a:t>
            </a:r>
            <a:r>
              <a:rPr lang="en-US" dirty="0" err="1"/>
              <a:t>планирования</a:t>
            </a:r>
            <a:r>
              <a:rPr lang="en-US" dirty="0"/>
              <a:t> и </a:t>
            </a:r>
            <a:r>
              <a:rPr lang="en-US" dirty="0" err="1"/>
              <a:t>распределения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 </a:t>
            </a:r>
            <a:r>
              <a:rPr lang="en-US" dirty="0" err="1"/>
              <a:t>похожую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у </a:t>
            </a:r>
            <a:r>
              <a:rPr lang="en-US" dirty="0" err="1"/>
              <a:t>потоков</a:t>
            </a:r>
            <a:r>
              <a:rPr lang="en-US" dirty="0"/>
              <a:t>: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единицей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06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удобной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практические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веб-сервер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с </a:t>
            </a:r>
            <a:r>
              <a:rPr lang="en-US" dirty="0" err="1"/>
              <a:t>диска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, CPU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простаивать</a:t>
            </a:r>
            <a:r>
              <a:rPr lang="en-US" dirty="0"/>
              <a:t>. ОС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аварийно</a:t>
            </a:r>
            <a:r>
              <a:rPr lang="en-US" dirty="0"/>
              <a:t> </a:t>
            </a:r>
            <a:r>
              <a:rPr lang="en-US" dirty="0" err="1"/>
              <a:t>завершилась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уничтожить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</a:t>
            </a:r>
            <a:r>
              <a:rPr lang="en-US" dirty="0" err="1"/>
              <a:t>запрещён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чужой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ОС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проконтролировать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: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измерять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пустыми</a:t>
            </a:r>
            <a:r>
              <a:rPr lang="en-US" dirty="0"/>
              <a:t> </a:t>
            </a:r>
            <a:r>
              <a:rPr lang="en-US" dirty="0" err="1"/>
              <a:t>циклами</a:t>
            </a:r>
            <a:r>
              <a:rPr lang="en-US" dirty="0"/>
              <a:t> и </a:t>
            </a:r>
            <a:r>
              <a:rPr lang="en-US" dirty="0" err="1"/>
              <a:t>надеяться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выполнится</a:t>
            </a:r>
            <a:r>
              <a:rPr lang="en-US" dirty="0"/>
              <a:t> с </a:t>
            </a:r>
            <a:r>
              <a:rPr lang="en-US" dirty="0" err="1"/>
              <a:t>одинаковой</a:t>
            </a:r>
            <a:r>
              <a:rPr lang="en-US" dirty="0"/>
              <a:t> </a:t>
            </a:r>
            <a:r>
              <a:rPr lang="en-US" dirty="0" err="1"/>
              <a:t>скоростью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: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, </a:t>
            </a:r>
            <a:r>
              <a:rPr lang="en-US" dirty="0" err="1"/>
              <a:t>завершение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06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создаются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.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загрузке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фоновые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, </a:t>
            </a:r>
            <a:r>
              <a:rPr lang="en-US" dirty="0" err="1"/>
              <a:t>обеспечивающие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, </a:t>
            </a:r>
            <a:r>
              <a:rPr lang="en-US" dirty="0" err="1"/>
              <a:t>журналирования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.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: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командная</a:t>
            </a:r>
            <a:r>
              <a:rPr lang="en-US" dirty="0"/>
              <a:t> </a:t>
            </a:r>
            <a:r>
              <a:rPr lang="en-US" dirty="0" err="1"/>
              <a:t>оболочка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введённую</a:t>
            </a:r>
            <a:r>
              <a:rPr lang="en-US" dirty="0"/>
              <a:t> </a:t>
            </a:r>
            <a:r>
              <a:rPr lang="en-US" dirty="0" err="1"/>
              <a:t>пользователем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условно</a:t>
            </a:r>
            <a:r>
              <a:rPr lang="en-US" dirty="0"/>
              <a:t> </a:t>
            </a:r>
            <a:r>
              <a:rPr lang="en-US" dirty="0" err="1"/>
              <a:t>разделяют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foreground и background. Foreground-</a:t>
            </a:r>
            <a:r>
              <a:rPr lang="en-US" dirty="0" err="1"/>
              <a:t>процесс</a:t>
            </a:r>
            <a:r>
              <a:rPr lang="en-US" dirty="0"/>
              <a:t> в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взаимодействует</a:t>
            </a:r>
            <a:r>
              <a:rPr lang="en-US" dirty="0"/>
              <a:t> с </a:t>
            </a:r>
            <a:r>
              <a:rPr lang="en-US" dirty="0" err="1"/>
              <a:t>пользователем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терминал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Background-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постоянного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 — </a:t>
            </a:r>
            <a:r>
              <a:rPr lang="en-US" dirty="0" err="1"/>
              <a:t>долгоживущие</a:t>
            </a:r>
            <a:r>
              <a:rPr lang="en-US" dirty="0"/>
              <a:t> </a:t>
            </a:r>
            <a:r>
              <a:rPr lang="en-US" dirty="0" err="1"/>
              <a:t>фоновые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. В UNIX-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традиционно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dirty="0" err="1"/>
              <a:t>демонами</a:t>
            </a:r>
            <a:r>
              <a:rPr lang="en-US" dirty="0"/>
              <a:t>, а в Windows — </a:t>
            </a:r>
            <a:r>
              <a:rPr lang="en-US" dirty="0" err="1"/>
              <a:t>службами</a:t>
            </a:r>
            <a:r>
              <a:rPr lang="en-US" dirty="0"/>
              <a:t>. </a:t>
            </a:r>
            <a:r>
              <a:rPr lang="en-US" dirty="0" err="1"/>
              <a:t>Подробно</a:t>
            </a:r>
            <a:r>
              <a:rPr lang="en-US" dirty="0"/>
              <a:t> к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91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UNIX и Windows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UNIX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с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Логически</a:t>
            </a:r>
            <a:r>
              <a:rPr lang="en-US" dirty="0"/>
              <a:t> </a:t>
            </a:r>
            <a:r>
              <a:rPr lang="en-US" dirty="0" err="1"/>
              <a:t>родитель</a:t>
            </a:r>
            <a:r>
              <a:rPr lang="en-US" dirty="0"/>
              <a:t> и </a:t>
            </a:r>
            <a:r>
              <a:rPr lang="en-US" dirty="0" err="1"/>
              <a:t>ребёнок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независимыми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 с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адресными</a:t>
            </a:r>
            <a:r>
              <a:rPr lang="en-US" dirty="0"/>
              <a:t> </a:t>
            </a:r>
            <a:r>
              <a:rPr lang="en-US" dirty="0" err="1"/>
              <a:t>пространствами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оптимизируется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copy-on-write.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окружение</a:t>
            </a:r>
            <a:r>
              <a:rPr lang="en-US" dirty="0"/>
              <a:t>: </a:t>
            </a:r>
            <a:r>
              <a:rPr lang="en-US" dirty="0" err="1"/>
              <a:t>перенаправить</a:t>
            </a:r>
            <a:r>
              <a:rPr lang="en-US" dirty="0"/>
              <a:t> </a:t>
            </a:r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 и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ненужные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, </a:t>
            </a:r>
            <a:r>
              <a:rPr lang="en-US" dirty="0" err="1"/>
              <a:t>сменить</a:t>
            </a:r>
            <a:r>
              <a:rPr lang="en-US" dirty="0"/>
              <a:t> </a:t>
            </a:r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каталог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</a:t>
            </a:r>
            <a:r>
              <a:rPr lang="en-US" dirty="0" err="1"/>
              <a:t>семейства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заменяет</a:t>
            </a:r>
            <a:r>
              <a:rPr lang="en-US" dirty="0"/>
              <a:t> </a:t>
            </a:r>
            <a:r>
              <a:rPr lang="en-US" dirty="0" err="1"/>
              <a:t>выполняемую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Windows </a:t>
            </a:r>
            <a:r>
              <a:rPr lang="en-US" dirty="0" err="1"/>
              <a:t>типичный</a:t>
            </a:r>
            <a:r>
              <a:rPr lang="en-US" dirty="0"/>
              <a:t> </a:t>
            </a:r>
            <a:r>
              <a:rPr lang="en-US" dirty="0" err="1"/>
              <a:t>путь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CreateProcess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и </a:t>
            </a:r>
            <a:r>
              <a:rPr lang="en-US" dirty="0" err="1"/>
              <a:t>загружает</a:t>
            </a:r>
            <a:r>
              <a:rPr lang="en-US" dirty="0"/>
              <a:t> в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указанную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.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dirty="0" err="1"/>
              <a:t>этапа</a:t>
            </a:r>
            <a:r>
              <a:rPr lang="en-US" dirty="0"/>
              <a:t>,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аналогичного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запомнить</a:t>
            </a:r>
            <a:r>
              <a:rPr lang="en-US" dirty="0"/>
              <a:t> UNIX-</a:t>
            </a:r>
            <a:r>
              <a:rPr lang="en-US" dirty="0" err="1"/>
              <a:t>модель</a:t>
            </a:r>
            <a:r>
              <a:rPr lang="en-US" dirty="0"/>
              <a:t>. </a:t>
            </a:r>
            <a:r>
              <a:rPr lang="en-US" dirty="0" err="1"/>
              <a:t>Промежуток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exec()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командным</a:t>
            </a:r>
            <a:r>
              <a:rPr lang="en-US" dirty="0"/>
              <a:t> </a:t>
            </a:r>
            <a:r>
              <a:rPr lang="en-US" dirty="0" err="1"/>
              <a:t>оболочкам</a:t>
            </a:r>
            <a:r>
              <a:rPr lang="en-US" dirty="0"/>
              <a:t> </a:t>
            </a:r>
            <a:r>
              <a:rPr lang="en-US" dirty="0" err="1"/>
              <a:t>настроить</a:t>
            </a:r>
            <a:r>
              <a:rPr lang="en-US" dirty="0"/>
              <a:t> </a:t>
            </a:r>
            <a:r>
              <a:rPr lang="en-US" dirty="0" err="1"/>
              <a:t>окружение</a:t>
            </a:r>
            <a:r>
              <a:rPr lang="en-US" dirty="0"/>
              <a:t> </a:t>
            </a:r>
            <a:r>
              <a:rPr lang="en-US" dirty="0" err="1"/>
              <a:t>будущей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воспользуемся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построении</a:t>
            </a:r>
            <a:r>
              <a:rPr lang="en-US" dirty="0"/>
              <a:t> pipeline.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83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стандартную</a:t>
            </a:r>
            <a:r>
              <a:rPr lang="en-US" dirty="0"/>
              <a:t> </a:t>
            </a:r>
            <a:r>
              <a:rPr lang="en-US" dirty="0" err="1"/>
              <a:t>схему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неоднократно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в </a:t>
            </a:r>
            <a:r>
              <a:rPr lang="en-US" dirty="0" err="1"/>
              <a:t>лабораторной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и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с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 </a:t>
            </a:r>
            <a:r>
              <a:rPr lang="en-US" dirty="0" err="1"/>
              <a:t>Различить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возвращаемое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: </a:t>
            </a:r>
            <a:r>
              <a:rPr lang="en-US" dirty="0" err="1"/>
              <a:t>ребёнок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, а </a:t>
            </a:r>
            <a:r>
              <a:rPr lang="en-US" dirty="0" err="1"/>
              <a:t>родитель</a:t>
            </a:r>
            <a:r>
              <a:rPr lang="en-US" dirty="0"/>
              <a:t> — PID </a:t>
            </a:r>
            <a:r>
              <a:rPr lang="en-US" dirty="0" err="1"/>
              <a:t>созданного</a:t>
            </a:r>
            <a:r>
              <a:rPr lang="en-US" dirty="0"/>
              <a:t> </a:t>
            </a:r>
            <a:r>
              <a:rPr lang="en-US" dirty="0" err="1"/>
              <a:t>ребёнка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небольшую</a:t>
            </a:r>
            <a:r>
              <a:rPr lang="en-US" dirty="0"/>
              <a:t> </a:t>
            </a:r>
            <a:r>
              <a:rPr lang="en-US" dirty="0" err="1"/>
              <a:t>подготовку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</a:t>
            </a:r>
            <a:r>
              <a:rPr lang="en-US" dirty="0"/>
              <a:t> </a:t>
            </a:r>
            <a:r>
              <a:rPr lang="en-US" dirty="0" err="1"/>
              <a:t>прежняя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: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образ</a:t>
            </a:r>
            <a:r>
              <a:rPr lang="en-US" dirty="0"/>
              <a:t> </a:t>
            </a:r>
            <a:r>
              <a:rPr lang="en-US" dirty="0" err="1"/>
              <a:t>заменён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программой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успешный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</a:t>
            </a:r>
            <a:r>
              <a:rPr lang="en-US" dirty="0"/>
              <a:t> </a:t>
            </a:r>
            <a:r>
              <a:rPr lang="en-US" dirty="0" err="1"/>
              <a:t>завершился</a:t>
            </a:r>
            <a:r>
              <a:rPr lang="en-US" dirty="0"/>
              <a:t> </a:t>
            </a:r>
            <a:r>
              <a:rPr lang="en-US" dirty="0" err="1"/>
              <a:t>ошибкой</a:t>
            </a:r>
            <a:r>
              <a:rPr lang="en-US" dirty="0"/>
              <a:t>,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_exit()</a:t>
            </a:r>
            <a:r>
              <a:rPr lang="en-US" dirty="0"/>
              <a:t>,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ребёнка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завершился</a:t>
            </a:r>
            <a:r>
              <a:rPr lang="en-US" dirty="0"/>
              <a:t>.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макросы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различить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выход</a:t>
            </a:r>
            <a:r>
              <a:rPr lang="en-US" dirty="0"/>
              <a:t> с </a:t>
            </a:r>
            <a:r>
              <a:rPr lang="en-US" dirty="0" err="1"/>
              <a:t>кодом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и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в </a:t>
            </a:r>
            <a:r>
              <a:rPr lang="en-US" dirty="0" err="1"/>
              <a:t>задании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isolated-runner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71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обеих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числовой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 — PID.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 </a:t>
            </a:r>
            <a:r>
              <a:rPr lang="en-US" dirty="0" err="1"/>
              <a:t>отличается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базовом</a:t>
            </a:r>
            <a:r>
              <a:rPr lang="en-US" dirty="0"/>
              <a:t> POSIX API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адресуются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PID.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kill()</a:t>
            </a:r>
            <a:r>
              <a:rPr lang="en-US" dirty="0"/>
              <a:t> </a:t>
            </a:r>
            <a:r>
              <a:rPr lang="en-US" dirty="0" err="1"/>
              <a:t>отправляет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с </a:t>
            </a:r>
            <a:r>
              <a:rPr lang="en-US" dirty="0" err="1"/>
              <a:t>указанным</a:t>
            </a:r>
            <a:r>
              <a:rPr lang="en-US" dirty="0"/>
              <a:t> </a:t>
            </a:r>
            <a:r>
              <a:rPr lang="en-US" dirty="0" err="1"/>
              <a:t>идентификатором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дочернего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Windows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присваивает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PID,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большинства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идентификатора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</a:t>
            </a:r>
            <a:r>
              <a:rPr lang="en-US" dirty="0"/>
              <a:t> —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, </a:t>
            </a:r>
            <a:r>
              <a:rPr lang="en-US" dirty="0" err="1"/>
              <a:t>получение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 PID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b="1" dirty="0"/>
              <a:t>«</a:t>
            </a:r>
            <a:r>
              <a:rPr lang="en-US" b="1" dirty="0" err="1"/>
              <a:t>какой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процесс</a:t>
            </a:r>
            <a:r>
              <a:rPr lang="en-US" b="1" dirty="0"/>
              <a:t>?»</a:t>
            </a:r>
            <a:r>
              <a:rPr lang="en-US" dirty="0"/>
              <a:t>, а HANDLE — </a:t>
            </a:r>
            <a:r>
              <a:rPr lang="en-US" b="1" dirty="0"/>
              <a:t>«</a:t>
            </a:r>
            <a:r>
              <a:rPr lang="en-US" b="1" dirty="0" err="1"/>
              <a:t>через</a:t>
            </a:r>
            <a:r>
              <a:rPr lang="en-US" b="1" dirty="0"/>
              <a:t> </a:t>
            </a:r>
            <a:r>
              <a:rPr lang="en-US" b="1" dirty="0" err="1"/>
              <a:t>какой</a:t>
            </a:r>
            <a:r>
              <a:rPr lang="en-US" b="1" dirty="0"/>
              <a:t> </a:t>
            </a:r>
            <a:r>
              <a:rPr lang="en-US" b="1" dirty="0" err="1"/>
              <a:t>полученный</a:t>
            </a:r>
            <a:r>
              <a:rPr lang="en-US" b="1" dirty="0"/>
              <a:t> </a:t>
            </a:r>
            <a:r>
              <a:rPr lang="en-US" b="1" dirty="0" err="1"/>
              <a:t>доступ</a:t>
            </a:r>
            <a:r>
              <a:rPr lang="en-US" b="1" dirty="0"/>
              <a:t> я </a:t>
            </a:r>
            <a:r>
              <a:rPr lang="en-US" b="1" dirty="0" err="1"/>
              <a:t>могу</a:t>
            </a:r>
            <a:r>
              <a:rPr lang="en-US" b="1" dirty="0"/>
              <a:t> </a:t>
            </a:r>
            <a:r>
              <a:rPr lang="en-US" b="1" dirty="0" err="1"/>
              <a:t>работать</a:t>
            </a:r>
            <a:r>
              <a:rPr lang="en-US" b="1" dirty="0"/>
              <a:t> с </a:t>
            </a:r>
            <a:r>
              <a:rPr lang="en-US" b="1" dirty="0" err="1"/>
              <a:t>этим</a:t>
            </a:r>
            <a:r>
              <a:rPr lang="en-US" b="1" dirty="0"/>
              <a:t> </a:t>
            </a:r>
            <a:r>
              <a:rPr lang="en-US" b="1" dirty="0" err="1"/>
              <a:t>объектом</a:t>
            </a:r>
            <a:r>
              <a:rPr lang="en-US" b="1" dirty="0"/>
              <a:t>?»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HANDLE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ресурсом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CloseHandle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различия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идентификаторов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изучать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74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Linux и UNIX пошли по пути минимализма. Основной инструмент — это идентификаторы процессов и потоков: PID и TID. Все операции — запуск, завершение, ожидание — происходят через системные вызовы с использованием этих числовых идентификаторов. Потоки реализованы как лёгкие процессы: они разделяют память с родительским процессом, но у каждого свой TID.</a:t>
            </a:r>
          </a:p>
          <a:p>
            <a:endParaRPr lang="ru-RU" dirty="0"/>
          </a:p>
          <a:p>
            <a:r>
              <a:rPr lang="ru-RU" dirty="0"/>
              <a:t>Windows NT была спроектирована с другой философией. Здесь всё — процессы, потоки, файлы, синхронизаторы — это объекты ядра. Доступ к ним осуществляется через дескрипторы HANDLE. Такой подход даёт больше гибкости: можно задавать права доступа, наследовать дескрипторы при создании дочерних процессов, дожидаться сразу нескольких объектов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WaitForMultipleObjects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В Linux акцент сделан на простоте и прямоте — управление по PID. В Windows — на универсальности и безопасности через дескрипторы. Обе модели отражают разные цели: Linux стремится к минимализму, а Windows — к централизованному и гибкому управлению.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16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C++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необычную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.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существовали</a:t>
            </a:r>
            <a:r>
              <a:rPr lang="en-US" dirty="0"/>
              <a:t> в </a:t>
            </a:r>
            <a:r>
              <a:rPr lang="en-US" dirty="0" err="1"/>
              <a:t>процессе</a:t>
            </a:r>
            <a:r>
              <a:rPr lang="en-US" dirty="0"/>
              <a:t>, </a:t>
            </a:r>
            <a:r>
              <a:rPr lang="en-US" dirty="0" err="1"/>
              <a:t>оказываются</a:t>
            </a:r>
            <a:r>
              <a:rPr lang="en-US" dirty="0"/>
              <a:t> и в </a:t>
            </a:r>
            <a:r>
              <a:rPr lang="en-US" dirty="0" err="1"/>
              <a:t>родителе</a:t>
            </a:r>
            <a:r>
              <a:rPr lang="en-US" dirty="0"/>
              <a:t>, и в </a:t>
            </a:r>
            <a:r>
              <a:rPr lang="en-US" dirty="0" err="1"/>
              <a:t>дочернем</a:t>
            </a:r>
            <a:r>
              <a:rPr lang="en-US" dirty="0"/>
              <a:t> </a:t>
            </a:r>
            <a:r>
              <a:rPr lang="en-US" dirty="0" err="1"/>
              <a:t>процессе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конструкторы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вызываются</a:t>
            </a:r>
            <a:r>
              <a:rPr lang="en-US" dirty="0"/>
              <a:t>: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копию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касается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тонких</a:t>
            </a:r>
            <a:r>
              <a:rPr lang="en-US" dirty="0"/>
              <a:t> </a:t>
            </a:r>
            <a:r>
              <a:rPr lang="en-US" dirty="0" err="1"/>
              <a:t>вещей</a:t>
            </a:r>
            <a:r>
              <a:rPr lang="en-US" dirty="0"/>
              <a:t>: </a:t>
            </a:r>
            <a:r>
              <a:rPr lang="en-US" dirty="0" err="1"/>
              <a:t>буферов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RAII-</a:t>
            </a:r>
            <a:r>
              <a:rPr lang="en-US" dirty="0" err="1"/>
              <a:t>объектов</a:t>
            </a:r>
            <a:r>
              <a:rPr lang="en-US" dirty="0"/>
              <a:t>, </a:t>
            </a:r>
            <a:r>
              <a:rPr lang="en-US" dirty="0" err="1"/>
              <a:t>открытых</a:t>
            </a:r>
            <a:r>
              <a:rPr lang="en-US" dirty="0"/>
              <a:t> </a:t>
            </a:r>
            <a:r>
              <a:rPr lang="en-US" dirty="0" err="1"/>
              <a:t>файловых</a:t>
            </a:r>
            <a:r>
              <a:rPr lang="en-US" dirty="0"/>
              <a:t> </a:t>
            </a:r>
            <a:r>
              <a:rPr lang="en-US" dirty="0" err="1"/>
              <a:t>дескрипторов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родитель</a:t>
            </a:r>
            <a:r>
              <a:rPr lang="en-US" dirty="0"/>
              <a:t> и </a:t>
            </a:r>
            <a:r>
              <a:rPr lang="en-US" dirty="0" err="1"/>
              <a:t>ребёнок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копии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копии</a:t>
            </a:r>
            <a:r>
              <a:rPr lang="en-US" dirty="0"/>
              <a:t> </a:t>
            </a:r>
            <a:r>
              <a:rPr lang="en-US" dirty="0" err="1"/>
              <a:t>управляют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внешним</a:t>
            </a:r>
            <a:r>
              <a:rPr lang="en-US" dirty="0"/>
              <a:t> </a:t>
            </a:r>
            <a:r>
              <a:rPr lang="en-US" dirty="0" err="1"/>
              <a:t>ресурсом</a:t>
            </a:r>
            <a:r>
              <a:rPr lang="en-US" dirty="0"/>
              <a:t>: </a:t>
            </a:r>
            <a:r>
              <a:rPr lang="en-US" dirty="0" err="1"/>
              <a:t>файлом</a:t>
            </a:r>
            <a:r>
              <a:rPr lang="en-US" dirty="0"/>
              <a:t>, </a:t>
            </a:r>
            <a:r>
              <a:rPr lang="en-US" dirty="0" err="1"/>
              <a:t>сокетом</a:t>
            </a:r>
            <a:r>
              <a:rPr lang="en-US" dirty="0"/>
              <a:t>, lock-</a:t>
            </a:r>
            <a:r>
              <a:rPr lang="en-US" dirty="0" err="1"/>
              <a:t>файлом</a:t>
            </a:r>
            <a:r>
              <a:rPr lang="en-US" dirty="0"/>
              <a:t>, </a:t>
            </a:r>
            <a:r>
              <a:rPr lang="en-US" dirty="0" err="1"/>
              <a:t>соединением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логом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2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: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разделяется</a:t>
            </a:r>
            <a:r>
              <a:rPr lang="en-US" dirty="0"/>
              <a:t> </a:t>
            </a:r>
            <a:r>
              <a:rPr lang="en-US" dirty="0" err="1"/>
              <a:t>логически</a:t>
            </a:r>
            <a:r>
              <a:rPr lang="en-US" dirty="0"/>
              <a:t>, а </a:t>
            </a:r>
            <a:r>
              <a:rPr lang="en-US" dirty="0" err="1"/>
              <a:t>внешние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внешней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строка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буфере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и у </a:t>
            </a:r>
            <a:r>
              <a:rPr lang="en-US" dirty="0" err="1"/>
              <a:t>родителя</a:t>
            </a:r>
            <a:r>
              <a:rPr lang="en-US" dirty="0"/>
              <a:t>, и у </a:t>
            </a:r>
            <a:r>
              <a:rPr lang="en-US" dirty="0" err="1"/>
              <a:t>ребёнка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выполнят</a:t>
            </a:r>
            <a:r>
              <a:rPr lang="en-US" dirty="0"/>
              <a:t> </a:t>
            </a:r>
            <a:r>
              <a:rPr lang="en-US" dirty="0" err="1"/>
              <a:t>обычное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, </a:t>
            </a:r>
            <a:r>
              <a:rPr lang="en-US" dirty="0" err="1"/>
              <a:t>строка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выведена</a:t>
            </a:r>
            <a:r>
              <a:rPr lang="en-US" dirty="0"/>
              <a:t> </a:t>
            </a:r>
            <a:r>
              <a:rPr lang="en-US" dirty="0" err="1"/>
              <a:t>дважды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Похожая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с RAII-</a:t>
            </a:r>
            <a:r>
              <a:rPr lang="en-US" dirty="0" err="1"/>
              <a:t>объектами</a:t>
            </a:r>
            <a:r>
              <a:rPr lang="en-US" dirty="0"/>
              <a:t>.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скопирован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lock-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соединение</a:t>
            </a:r>
            <a:r>
              <a:rPr lang="en-US" dirty="0"/>
              <a:t> с </a:t>
            </a:r>
            <a:r>
              <a:rPr lang="en-US" dirty="0" err="1"/>
              <a:t>сервером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одними</a:t>
            </a:r>
            <a:r>
              <a:rPr lang="en-US" dirty="0"/>
              <a:t> и </a:t>
            </a:r>
            <a:r>
              <a:rPr lang="en-US" dirty="0" err="1"/>
              <a:t>теми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внешней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автоматическое</a:t>
            </a:r>
            <a:r>
              <a:rPr lang="en-US" dirty="0"/>
              <a:t> </a:t>
            </a:r>
            <a:r>
              <a:rPr lang="en-US" dirty="0" err="1"/>
              <a:t>освобождение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 в </a:t>
            </a:r>
            <a:r>
              <a:rPr lang="en-US" dirty="0" err="1"/>
              <a:t>обоих</a:t>
            </a:r>
            <a:r>
              <a:rPr lang="en-US" dirty="0"/>
              <a:t> </a:t>
            </a:r>
            <a:r>
              <a:rPr lang="en-US" dirty="0" err="1"/>
              <a:t>процессах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привести</a:t>
            </a:r>
            <a:r>
              <a:rPr lang="en-US" dirty="0"/>
              <a:t> к </a:t>
            </a:r>
            <a:r>
              <a:rPr lang="en-US" dirty="0" err="1"/>
              <a:t>ошибкам</a:t>
            </a:r>
            <a:r>
              <a:rPr lang="en-US" dirty="0"/>
              <a:t>, </a:t>
            </a:r>
            <a:r>
              <a:rPr lang="en-US" dirty="0" err="1"/>
              <a:t>дублированию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нарушению</a:t>
            </a:r>
            <a:r>
              <a:rPr lang="en-US" dirty="0"/>
              <a:t> </a:t>
            </a:r>
            <a:r>
              <a:rPr lang="en-US" dirty="0" err="1"/>
              <a:t>протокола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2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безопасный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минимальную</a:t>
            </a:r>
            <a:r>
              <a:rPr lang="en-US" dirty="0"/>
              <a:t> </a:t>
            </a:r>
            <a:r>
              <a:rPr lang="en-US" dirty="0" err="1"/>
              <a:t>подготовку</a:t>
            </a:r>
            <a:r>
              <a:rPr lang="en-US" dirty="0"/>
              <a:t> и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exec()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перенаправить</a:t>
            </a:r>
            <a:r>
              <a:rPr lang="en-US" dirty="0"/>
              <a:t> </a:t>
            </a:r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лишние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окружение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exec()</a:t>
            </a:r>
            <a:r>
              <a:rPr lang="en-US" dirty="0"/>
              <a:t> </a:t>
            </a:r>
            <a:r>
              <a:rPr lang="en-US" dirty="0" err="1"/>
              <a:t>заменяет</a:t>
            </a:r>
            <a:r>
              <a:rPr lang="en-US" dirty="0"/>
              <a:t> </a:t>
            </a:r>
            <a:r>
              <a:rPr lang="en-US" dirty="0" err="1"/>
              <a:t>образ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программой</a:t>
            </a:r>
            <a:r>
              <a:rPr lang="en-US" dirty="0"/>
              <a:t>, и </a:t>
            </a:r>
            <a:r>
              <a:rPr lang="en-US" dirty="0" err="1"/>
              <a:t>прежние</a:t>
            </a:r>
            <a:r>
              <a:rPr lang="en-US" dirty="0"/>
              <a:t> C++-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exec()</a:t>
            </a:r>
            <a:r>
              <a:rPr lang="en-US" dirty="0"/>
              <a:t> </a:t>
            </a:r>
            <a:r>
              <a:rPr lang="en-US" dirty="0" err="1"/>
              <a:t>завершился</a:t>
            </a:r>
            <a:r>
              <a:rPr lang="en-US" dirty="0"/>
              <a:t> </a:t>
            </a:r>
            <a:r>
              <a:rPr lang="en-US" dirty="0" err="1"/>
              <a:t>ошибкой</a:t>
            </a:r>
            <a:r>
              <a:rPr lang="en-US" dirty="0"/>
              <a:t>,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завершают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_exit()</a:t>
            </a:r>
            <a:r>
              <a:rPr lang="en-US" dirty="0"/>
              <a:t>.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exit()</a:t>
            </a:r>
            <a:r>
              <a:rPr lang="en-US" dirty="0"/>
              <a:t>,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обработчики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atexit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деструкторы</a:t>
            </a:r>
            <a:r>
              <a:rPr lang="en-US" dirty="0"/>
              <a:t> </a:t>
            </a:r>
            <a:r>
              <a:rPr lang="en-US" dirty="0" err="1"/>
              <a:t>глобальных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сбрасывает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буферы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Это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ребёнок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выполнил</a:t>
            </a:r>
            <a:r>
              <a:rPr lang="en-US" dirty="0"/>
              <a:t> </a:t>
            </a:r>
            <a:r>
              <a:rPr lang="en-US" dirty="0" err="1"/>
              <a:t>повторную</a:t>
            </a:r>
            <a:r>
              <a:rPr lang="en-US" dirty="0"/>
              <a:t> </a:t>
            </a:r>
            <a:r>
              <a:rPr lang="en-US" dirty="0" err="1"/>
              <a:t>очистку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логически</a:t>
            </a:r>
            <a:r>
              <a:rPr lang="en-US" dirty="0"/>
              <a:t> </a:t>
            </a:r>
            <a:r>
              <a:rPr lang="en-US" dirty="0" err="1"/>
              <a:t>принадлежат</a:t>
            </a:r>
            <a:r>
              <a:rPr lang="en-US" dirty="0"/>
              <a:t> </a:t>
            </a:r>
            <a:r>
              <a:rPr lang="en-US" dirty="0" err="1"/>
              <a:t>родителю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exec()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продумать</a:t>
            </a:r>
            <a:r>
              <a:rPr lang="en-US" dirty="0"/>
              <a:t> </a:t>
            </a:r>
            <a:r>
              <a:rPr lang="en-US" dirty="0" err="1"/>
              <a:t>владение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. 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удаляет</a:t>
            </a:r>
            <a:r>
              <a:rPr lang="en-US" dirty="0"/>
              <a:t> </a:t>
            </a:r>
            <a:r>
              <a:rPr lang="en-US" dirty="0" err="1"/>
              <a:t>временный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соединением</a:t>
            </a:r>
            <a:r>
              <a:rPr lang="en-US" dirty="0"/>
              <a:t>.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в C++-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ошибкам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воспроизвести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5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.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 — </a:t>
            </a:r>
            <a:r>
              <a:rPr lang="en-US" dirty="0" err="1"/>
              <a:t>нормальное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выполнила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и </a:t>
            </a:r>
            <a:r>
              <a:rPr lang="en-US" dirty="0" err="1"/>
              <a:t>вернула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успеха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обнаружила</a:t>
            </a:r>
            <a:r>
              <a:rPr lang="en-US" dirty="0"/>
              <a:t> </a:t>
            </a:r>
            <a:r>
              <a:rPr lang="en-US" dirty="0" err="1"/>
              <a:t>ошибку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получила</a:t>
            </a:r>
            <a:r>
              <a:rPr lang="en-US" dirty="0"/>
              <a:t> </a:t>
            </a:r>
            <a:r>
              <a:rPr lang="en-US" dirty="0" err="1"/>
              <a:t>некорректные</a:t>
            </a:r>
            <a:r>
              <a:rPr lang="en-US" dirty="0"/>
              <a:t> </a:t>
            </a:r>
            <a:r>
              <a:rPr lang="en-US" dirty="0" err="1"/>
              <a:t>аргументы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с </a:t>
            </a:r>
            <a:r>
              <a:rPr lang="en-US" dirty="0" err="1"/>
              <a:t>ненулевым</a:t>
            </a:r>
            <a:r>
              <a:rPr lang="en-US" dirty="0"/>
              <a:t> </a:t>
            </a:r>
            <a:r>
              <a:rPr lang="en-US" dirty="0" err="1"/>
              <a:t>кодом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аварийное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нарушает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: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недопустимой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запрещённую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фатальный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завершён</a:t>
            </a:r>
            <a:r>
              <a:rPr lang="en-US" dirty="0"/>
              <a:t> </a:t>
            </a:r>
            <a:r>
              <a:rPr lang="en-US" dirty="0" err="1"/>
              <a:t>извне</a:t>
            </a:r>
            <a:r>
              <a:rPr lang="en-US" dirty="0"/>
              <a:t>. В UNIX-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, а в Windows —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API.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ОС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права</a:t>
            </a:r>
            <a:r>
              <a:rPr lang="en-US" dirty="0"/>
              <a:t>: </a:t>
            </a:r>
            <a:r>
              <a:rPr lang="en-US" dirty="0" err="1"/>
              <a:t>произвольный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завершать</a:t>
            </a:r>
            <a:r>
              <a:rPr lang="en-US" dirty="0"/>
              <a:t> </a:t>
            </a:r>
            <a:r>
              <a:rPr lang="en-US" dirty="0" err="1"/>
              <a:t>чужие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43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родителя</a:t>
            </a:r>
            <a:r>
              <a:rPr lang="en-US" dirty="0"/>
              <a:t>. </a:t>
            </a:r>
            <a:r>
              <a:rPr lang="en-US" dirty="0" err="1"/>
              <a:t>Родительскому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закончилась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дочернего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: </a:t>
            </a:r>
            <a:r>
              <a:rPr lang="en-US" dirty="0" err="1"/>
              <a:t>успешно</a:t>
            </a:r>
            <a:r>
              <a:rPr lang="en-US" dirty="0"/>
              <a:t>, с </a:t>
            </a:r>
            <a:r>
              <a:rPr lang="en-US" dirty="0" err="1"/>
              <a:t>ошибкой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UNIX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</a:t>
            </a:r>
            <a:r>
              <a:rPr lang="en-US" dirty="0" err="1"/>
              <a:t>передаётся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ожидают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а </a:t>
            </a:r>
            <a:r>
              <a:rPr lang="en-US" dirty="0" err="1"/>
              <a:t>возвращают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статус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интерпретировать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обычное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анализа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макросы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WIFEXITED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завершился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WEXITSTATUS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завершён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,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WIFSIGNALED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WTERMSIG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2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Zombie-</a:t>
            </a:r>
            <a:r>
              <a:rPr lang="en-US" dirty="0" err="1"/>
              <a:t>процесс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,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освобождена</a:t>
            </a:r>
            <a:r>
              <a:rPr lang="en-US" dirty="0"/>
              <a:t>,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</a:t>
            </a:r>
            <a:r>
              <a:rPr lang="en-US" dirty="0" err="1"/>
              <a:t>закрыты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небольшую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о </a:t>
            </a:r>
            <a:r>
              <a:rPr lang="en-US" dirty="0" err="1"/>
              <a:t>завершившемся</a:t>
            </a:r>
            <a:r>
              <a:rPr lang="en-US" dirty="0"/>
              <a:t> </a:t>
            </a:r>
            <a:r>
              <a:rPr lang="en-US" dirty="0" err="1"/>
              <a:t>процессе</a:t>
            </a:r>
            <a:r>
              <a:rPr lang="en-US" dirty="0"/>
              <a:t>. Это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вызовет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в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zombie </a:t>
            </a:r>
            <a:r>
              <a:rPr lang="en-US" dirty="0" err="1"/>
              <a:t>нельзя</a:t>
            </a:r>
            <a:r>
              <a:rPr lang="en-US" dirty="0"/>
              <a:t> «</a:t>
            </a:r>
            <a:r>
              <a:rPr lang="en-US" dirty="0" err="1"/>
              <a:t>убить</a:t>
            </a:r>
            <a:r>
              <a:rPr lang="en-US" dirty="0"/>
              <a:t>»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.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решается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, а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забрать</a:t>
            </a:r>
            <a:r>
              <a:rPr lang="en-US" dirty="0"/>
              <a:t> </a:t>
            </a:r>
            <a:r>
              <a:rPr lang="en-US" dirty="0" err="1"/>
              <a:t>статус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208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в UNIX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zombie. Это </a:t>
            </a:r>
            <a:r>
              <a:rPr lang="en-US" dirty="0" err="1"/>
              <a:t>промежуточное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завершением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и </a:t>
            </a:r>
            <a:r>
              <a:rPr lang="en-US" dirty="0" err="1"/>
              <a:t>окончательным</a:t>
            </a:r>
            <a:r>
              <a:rPr lang="en-US" dirty="0"/>
              <a:t> </a:t>
            </a:r>
            <a:r>
              <a:rPr lang="en-US" dirty="0" err="1"/>
              <a:t>удалением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статус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и </a:t>
            </a:r>
            <a:r>
              <a:rPr lang="en-US" dirty="0" err="1"/>
              <a:t>удаляет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о </a:t>
            </a:r>
            <a:r>
              <a:rPr lang="en-US" dirty="0" err="1"/>
              <a:t>дочернем</a:t>
            </a:r>
            <a:r>
              <a:rPr lang="en-US" dirty="0"/>
              <a:t> </a:t>
            </a:r>
            <a:r>
              <a:rPr lang="en-US" dirty="0" err="1"/>
              <a:t>процессе</a:t>
            </a:r>
            <a:r>
              <a:rPr lang="en-US" dirty="0"/>
              <a:t>.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b="1" dirty="0"/>
              <a:t>reaping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своих</a:t>
            </a:r>
            <a:r>
              <a:rPr lang="en-US" dirty="0"/>
              <a:t> </a:t>
            </a:r>
            <a:r>
              <a:rPr lang="en-US" dirty="0" err="1"/>
              <a:t>детей</a:t>
            </a:r>
            <a:r>
              <a:rPr lang="en-US" dirty="0"/>
              <a:t>, zombie-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накапливаться</a:t>
            </a:r>
            <a:r>
              <a:rPr lang="en-US" dirty="0"/>
              <a:t>.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занимают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занимают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в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и </a:t>
            </a:r>
            <a:r>
              <a:rPr lang="en-US" dirty="0" err="1"/>
              <a:t>удерживают</a:t>
            </a:r>
            <a:r>
              <a:rPr lang="en-US" dirty="0"/>
              <a:t> PID.</a:t>
            </a:r>
          </a:p>
          <a:p>
            <a:endParaRPr lang="en-US" dirty="0"/>
          </a:p>
          <a:p>
            <a:r>
              <a:rPr lang="ru-RU" dirty="0"/>
              <a:t>Завершение родителя не означает автоматического завершения его потомков. Они переходят к процессу с </a:t>
            </a:r>
            <a:r>
              <a:rPr lang="en-US" dirty="0"/>
              <a:t>ID=1</a:t>
            </a:r>
          </a:p>
          <a:p>
            <a:endParaRPr lang="en-US" dirty="0"/>
          </a:p>
          <a:p>
            <a:r>
              <a:rPr lang="en-US" dirty="0"/>
              <a:t>В Windows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решается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 </a:t>
            </a:r>
            <a:r>
              <a:rPr lang="en-US" dirty="0" err="1"/>
              <a:t>Завершившийся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</a:t>
            </a:r>
            <a:r>
              <a:rPr lang="en-US" dirty="0"/>
              <a:t>.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и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прямого</a:t>
            </a:r>
            <a:r>
              <a:rPr lang="en-US" dirty="0"/>
              <a:t> </a:t>
            </a:r>
            <a:r>
              <a:rPr lang="en-US" dirty="0" err="1"/>
              <a:t>аналога</a:t>
            </a:r>
            <a:r>
              <a:rPr lang="en-US" dirty="0"/>
              <a:t> UNIX zombie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87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воспринимаем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с </a:t>
            </a:r>
            <a:r>
              <a:rPr lang="en-US" dirty="0" err="1"/>
              <a:t>ограниченным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: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запускаются</a:t>
            </a:r>
            <a:r>
              <a:rPr lang="en-US" dirty="0"/>
              <a:t>,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и </a:t>
            </a:r>
            <a:r>
              <a:rPr lang="en-US" dirty="0" err="1"/>
              <a:t>завершаются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— </a:t>
            </a:r>
            <a:r>
              <a:rPr lang="en-US" dirty="0" err="1"/>
              <a:t>долгоживущие</a:t>
            </a:r>
            <a:r>
              <a:rPr lang="en-US" dirty="0"/>
              <a:t> </a:t>
            </a:r>
            <a:r>
              <a:rPr lang="en-US" dirty="0" err="1"/>
              <a:t>фоновые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предназначены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прямого</a:t>
            </a:r>
            <a:r>
              <a:rPr lang="en-US" dirty="0"/>
              <a:t> </a:t>
            </a:r>
            <a:r>
              <a:rPr lang="en-US" dirty="0" err="1"/>
              <a:t>диалога</a:t>
            </a:r>
            <a:r>
              <a:rPr lang="en-US" dirty="0"/>
              <a:t> с </a:t>
            </a:r>
            <a:r>
              <a:rPr lang="en-US" dirty="0" err="1"/>
              <a:t>пользователем</a:t>
            </a:r>
            <a:r>
              <a:rPr lang="en-US" dirty="0"/>
              <a:t>.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обслуживать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: </a:t>
            </a:r>
            <a:r>
              <a:rPr lang="en-US" dirty="0" err="1"/>
              <a:t>сеть</a:t>
            </a:r>
            <a:r>
              <a:rPr lang="en-US" dirty="0"/>
              <a:t>, </a:t>
            </a:r>
            <a:r>
              <a:rPr lang="en-US" dirty="0" err="1"/>
              <a:t>печать</a:t>
            </a:r>
            <a:r>
              <a:rPr lang="en-US" dirty="0"/>
              <a:t>, </a:t>
            </a:r>
            <a:r>
              <a:rPr lang="en-US" dirty="0" err="1"/>
              <a:t>обновления</a:t>
            </a:r>
            <a:r>
              <a:rPr lang="en-US" dirty="0"/>
              <a:t>, </a:t>
            </a:r>
            <a:r>
              <a:rPr lang="en-US" dirty="0" err="1"/>
              <a:t>журналирование</a:t>
            </a:r>
            <a:r>
              <a:rPr lang="en-US" dirty="0"/>
              <a:t>,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серверное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UNIX-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традиционно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dirty="0" err="1"/>
              <a:t>демонами</a:t>
            </a:r>
            <a:r>
              <a:rPr lang="en-US" dirty="0"/>
              <a:t>. В Windows </a:t>
            </a:r>
            <a:r>
              <a:rPr lang="en-US" dirty="0" err="1"/>
              <a:t>близкую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службы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services.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86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Ключевой</a:t>
            </a:r>
            <a:r>
              <a:rPr lang="en-US" dirty="0"/>
              <a:t> </a:t>
            </a:r>
            <a:r>
              <a:rPr lang="en-US" dirty="0" err="1"/>
              <a:t>признак</a:t>
            </a:r>
            <a:r>
              <a:rPr lang="en-US" dirty="0"/>
              <a:t> </a:t>
            </a:r>
            <a:r>
              <a:rPr lang="en-US" dirty="0" err="1"/>
              <a:t>демона</a:t>
            </a:r>
            <a:r>
              <a:rPr lang="en-US" dirty="0"/>
              <a:t> — </a:t>
            </a:r>
            <a:r>
              <a:rPr lang="en-US" dirty="0" err="1"/>
              <a:t>независимость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терминала</a:t>
            </a:r>
            <a:r>
              <a:rPr lang="en-US" dirty="0"/>
              <a:t>. </a:t>
            </a:r>
            <a:r>
              <a:rPr lang="en-US" dirty="0" err="1"/>
              <a:t>Обычная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, </a:t>
            </a:r>
            <a:r>
              <a:rPr lang="en-US" dirty="0" err="1"/>
              <a:t>запущенная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терминала</a:t>
            </a:r>
            <a:r>
              <a:rPr lang="en-US" dirty="0"/>
              <a:t>, </a:t>
            </a:r>
            <a:r>
              <a:rPr lang="en-US" dirty="0" err="1"/>
              <a:t>наследует</a:t>
            </a:r>
            <a:r>
              <a:rPr lang="en-US" dirty="0"/>
              <a:t> </a:t>
            </a:r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, </a:t>
            </a:r>
            <a:r>
              <a:rPr lang="en-US" dirty="0" err="1"/>
              <a:t>вывод</a:t>
            </a:r>
            <a:r>
              <a:rPr lang="en-US" dirty="0"/>
              <a:t> и </a:t>
            </a:r>
            <a:r>
              <a:rPr lang="en-US" dirty="0" err="1"/>
              <a:t>ошибки</a:t>
            </a:r>
            <a:r>
              <a:rPr lang="en-US" dirty="0"/>
              <a:t>. </a:t>
            </a:r>
            <a:r>
              <a:rPr lang="en-US" dirty="0" err="1"/>
              <a:t>Демон</a:t>
            </a:r>
            <a:r>
              <a:rPr lang="en-US" dirty="0"/>
              <a:t>, </a:t>
            </a:r>
            <a:r>
              <a:rPr lang="en-US" dirty="0" err="1"/>
              <a:t>напротив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открыт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терминал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демон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пишет</a:t>
            </a:r>
            <a:r>
              <a:rPr lang="en-US" dirty="0"/>
              <a:t> </a:t>
            </a:r>
            <a:r>
              <a:rPr lang="en-US" dirty="0" err="1"/>
              <a:t>диагностические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журнал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лог-файл</a:t>
            </a:r>
            <a:r>
              <a:rPr lang="en-US" dirty="0"/>
              <a:t>. Это </a:t>
            </a:r>
            <a:r>
              <a:rPr lang="en-US" dirty="0" err="1"/>
              <a:t>важно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часами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днями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наблюдать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терминал</a:t>
            </a:r>
            <a:r>
              <a:rPr lang="en-US" dirty="0"/>
              <a:t>, а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средства</a:t>
            </a:r>
            <a:r>
              <a:rPr lang="en-US" dirty="0"/>
              <a:t> </a:t>
            </a:r>
            <a:r>
              <a:rPr lang="en-US" dirty="0" err="1"/>
              <a:t>администрирования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демоны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запускаются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специальных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r>
              <a:rPr lang="en-US" dirty="0"/>
              <a:t> с </a:t>
            </a:r>
            <a:r>
              <a:rPr lang="en-US" dirty="0" err="1"/>
              <a:t>ограниченными</a:t>
            </a:r>
            <a:r>
              <a:rPr lang="en-US" dirty="0"/>
              <a:t> </a:t>
            </a:r>
            <a:r>
              <a:rPr lang="en-US" dirty="0" err="1"/>
              <a:t>правами</a:t>
            </a:r>
            <a:r>
              <a:rPr lang="en-US" dirty="0"/>
              <a:t>. Это </a:t>
            </a:r>
            <a:r>
              <a:rPr lang="en-US" dirty="0" err="1"/>
              <a:t>снижает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уязвимости</a:t>
            </a:r>
            <a:r>
              <a:rPr lang="en-US" dirty="0"/>
              <a:t> в </a:t>
            </a:r>
            <a:r>
              <a:rPr lang="en-US" dirty="0" err="1"/>
              <a:t>сервисе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76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Классическая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daemonization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перестал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программой</a:t>
            </a:r>
            <a:r>
              <a:rPr lang="en-US" dirty="0"/>
              <a:t>, </a:t>
            </a:r>
            <a:r>
              <a:rPr lang="en-US" dirty="0" err="1"/>
              <a:t>связанной</a:t>
            </a:r>
            <a:r>
              <a:rPr lang="en-US" dirty="0"/>
              <a:t> с </a:t>
            </a:r>
            <a:r>
              <a:rPr lang="en-US" dirty="0" err="1"/>
              <a:t>терминалом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родительскому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, а </a:t>
            </a:r>
            <a:r>
              <a:rPr lang="en-US" dirty="0" err="1"/>
              <a:t>дочернему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в </a:t>
            </a:r>
            <a:r>
              <a:rPr lang="en-US" dirty="0" err="1"/>
              <a:t>фоне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сессию</a:t>
            </a:r>
            <a:r>
              <a:rPr lang="en-US" dirty="0"/>
              <a:t> и </a:t>
            </a:r>
            <a:r>
              <a:rPr lang="en-US" dirty="0" err="1"/>
              <a:t>отсоединяет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управляющего</a:t>
            </a:r>
            <a:r>
              <a:rPr lang="en-US" dirty="0"/>
              <a:t> </a:t>
            </a:r>
            <a:r>
              <a:rPr lang="en-US" dirty="0" err="1"/>
              <a:t>терминала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демон</a:t>
            </a:r>
            <a:r>
              <a:rPr lang="en-US" dirty="0"/>
              <a:t> </a:t>
            </a:r>
            <a:r>
              <a:rPr lang="en-US" dirty="0" err="1"/>
              <a:t>настраивает</a:t>
            </a:r>
            <a:r>
              <a:rPr lang="en-US" dirty="0"/>
              <a:t> </a:t>
            </a:r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каталог</a:t>
            </a:r>
            <a:r>
              <a:rPr lang="en-US" dirty="0"/>
              <a:t>, </a:t>
            </a:r>
            <a:r>
              <a:rPr lang="en-US" dirty="0" err="1"/>
              <a:t>маску</a:t>
            </a:r>
            <a:r>
              <a:rPr lang="en-US" dirty="0"/>
              <a:t> </a:t>
            </a:r>
            <a:r>
              <a:rPr lang="en-US" dirty="0" err="1"/>
              <a:t>прав</a:t>
            </a:r>
            <a:r>
              <a:rPr lang="en-US" dirty="0"/>
              <a:t> и </a:t>
            </a:r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стандартные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сервисах</a:t>
            </a:r>
            <a:r>
              <a:rPr lang="en-US" dirty="0"/>
              <a:t> </a:t>
            </a:r>
            <a:r>
              <a:rPr lang="en-US" dirty="0" err="1"/>
              <a:t>добавляются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: PID-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корректная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SIGTERM</a:t>
            </a:r>
            <a:r>
              <a:rPr lang="en-US" dirty="0"/>
              <a:t>, </a:t>
            </a:r>
            <a:r>
              <a:rPr lang="en-US" dirty="0" err="1"/>
              <a:t>ведение</a:t>
            </a:r>
            <a:r>
              <a:rPr lang="en-US" dirty="0"/>
              <a:t> </a:t>
            </a:r>
            <a:r>
              <a:rPr lang="en-US" dirty="0" err="1"/>
              <a:t>журнала</a:t>
            </a:r>
            <a:r>
              <a:rPr lang="en-US" dirty="0"/>
              <a:t>, </a:t>
            </a:r>
            <a:r>
              <a:rPr lang="en-US" dirty="0" err="1"/>
              <a:t>переоткрытие</a:t>
            </a:r>
            <a:r>
              <a:rPr lang="en-US" dirty="0"/>
              <a:t> </a:t>
            </a:r>
            <a:r>
              <a:rPr lang="en-US" dirty="0" err="1"/>
              <a:t>логов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SIGHUP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: daemon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, </a:t>
            </a:r>
            <a:r>
              <a:rPr lang="en-US" dirty="0" err="1"/>
              <a:t>запущенная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dirty="0"/>
              <a:t>. Это </a:t>
            </a:r>
            <a:r>
              <a:rPr lang="en-US" dirty="0" err="1"/>
              <a:t>процесс</a:t>
            </a:r>
            <a:r>
              <a:rPr lang="en-US" dirty="0"/>
              <a:t> с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 и </a:t>
            </a:r>
            <a:r>
              <a:rPr lang="en-US" dirty="0" err="1"/>
              <a:t>дисциплиной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169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код иллюстрирует базовый каркас демона. Мы делаем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чтобы отсоединиться от управляющего процесса.</a:t>
            </a:r>
          </a:p>
          <a:p>
            <a:r>
              <a:rPr lang="ru-RU" dirty="0"/>
              <a:t>Затем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создаём новую сессию. Рабочую директорию переводим в корень, чтобы не мешать удалению текущего каталога.</a:t>
            </a:r>
          </a:p>
          <a:p>
            <a:r>
              <a:rPr lang="ru-RU" dirty="0"/>
              <a:t>Маской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umask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(027)</a:t>
            </a:r>
            <a:r>
              <a:rPr lang="ru-RU" dirty="0"/>
              <a:t> задаём права на создаваемые файлы.</a:t>
            </a:r>
          </a:p>
          <a:p>
            <a:r>
              <a:rPr lang="ru-RU" dirty="0"/>
              <a:t>Далее закрываем стандартные потоки и </a:t>
            </a:r>
            <a:r>
              <a:rPr lang="ru-RU" dirty="0" err="1"/>
              <a:t>переоткрываем</a:t>
            </a:r>
            <a:r>
              <a:rPr lang="ru-RU" dirty="0"/>
              <a:t> их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.</a:t>
            </a:r>
          </a:p>
          <a:p>
            <a:r>
              <a:rPr lang="ru-RU" dirty="0"/>
              <a:t>После этого демон может выполнять свою задачу в бесконечном цикле, например, проверять очередь заданий или обрабатывать сетевые соединения.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64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классической</a:t>
            </a:r>
            <a:r>
              <a:rPr lang="en-US" dirty="0"/>
              <a:t> UNIX-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превратить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в </a:t>
            </a:r>
            <a:r>
              <a:rPr lang="en-US" dirty="0" err="1"/>
              <a:t>демон</a:t>
            </a:r>
            <a:r>
              <a:rPr lang="en-US" dirty="0"/>
              <a:t>: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,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сессию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отсоединиться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терминала</a:t>
            </a:r>
            <a:r>
              <a:rPr lang="en-US" dirty="0"/>
              <a:t>,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стандартные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и </a:t>
            </a:r>
            <a:r>
              <a:rPr lang="en-US" dirty="0" err="1"/>
              <a:t>перейти</a:t>
            </a:r>
            <a:r>
              <a:rPr lang="en-US" dirty="0"/>
              <a:t> в </a:t>
            </a:r>
            <a:r>
              <a:rPr lang="en-US" dirty="0" err="1"/>
              <a:t>фоновый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. </a:t>
            </a:r>
            <a:r>
              <a:rPr lang="en-US" dirty="0" err="1"/>
              <a:t>Исторически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никто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управлял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современных</a:t>
            </a:r>
            <a:r>
              <a:rPr lang="en-US" dirty="0"/>
              <a:t> Linux-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берёт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менеджер</a:t>
            </a:r>
            <a:r>
              <a:rPr lang="en-US" dirty="0"/>
              <a:t> </a:t>
            </a:r>
            <a:r>
              <a:rPr lang="en-US" dirty="0" err="1"/>
              <a:t>служб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systemd</a:t>
            </a:r>
            <a:r>
              <a:rPr lang="en-US" dirty="0"/>
              <a:t>. </a:t>
            </a:r>
            <a:r>
              <a:rPr lang="en-US" dirty="0" err="1"/>
              <a:t>Сервис</a:t>
            </a:r>
            <a:r>
              <a:rPr lang="en-US" dirty="0"/>
              <a:t> </a:t>
            </a:r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в foreground-</a:t>
            </a:r>
            <a:r>
              <a:rPr lang="en-US" dirty="0" err="1"/>
              <a:t>режиме</a:t>
            </a:r>
            <a:r>
              <a:rPr lang="en-US" dirty="0"/>
              <a:t> —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уходить</a:t>
            </a:r>
            <a:r>
              <a:rPr lang="en-US" dirty="0"/>
              <a:t> в </a:t>
            </a:r>
            <a:r>
              <a:rPr lang="en-US" dirty="0" err="1"/>
              <a:t>фон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double fork.</a:t>
            </a:r>
            <a:endParaRPr lang="ru-RU" dirty="0"/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systemd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в </a:t>
            </a:r>
            <a:r>
              <a:rPr lang="en-US" dirty="0" err="1"/>
              <a:t>соответствии</a:t>
            </a:r>
            <a:r>
              <a:rPr lang="en-US" dirty="0"/>
              <a:t> с </a:t>
            </a:r>
            <a:r>
              <a:rPr lang="en-US" dirty="0" err="1"/>
              <a:t>настройками</a:t>
            </a:r>
            <a:r>
              <a:rPr lang="en-US" dirty="0"/>
              <a:t> unit-</a:t>
            </a:r>
            <a:r>
              <a:rPr lang="en-US" dirty="0" err="1"/>
              <a:t>файла</a:t>
            </a:r>
            <a:r>
              <a:rPr lang="en-US" dirty="0"/>
              <a:t> и </a:t>
            </a:r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контролирует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: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остановить</a:t>
            </a:r>
            <a:r>
              <a:rPr lang="en-US" dirty="0"/>
              <a:t> </a:t>
            </a:r>
            <a:r>
              <a:rPr lang="en-US" dirty="0" err="1"/>
              <a:t>службу</a:t>
            </a:r>
            <a:r>
              <a:rPr lang="en-US" dirty="0"/>
              <a:t>, </a:t>
            </a:r>
            <a:r>
              <a:rPr lang="en-US" dirty="0" err="1"/>
              <a:t>перезапустить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сбоя</a:t>
            </a:r>
            <a:r>
              <a:rPr lang="en-US" dirty="0"/>
              <a:t>, </a:t>
            </a:r>
            <a:r>
              <a:rPr lang="en-US" dirty="0" err="1"/>
              <a:t>запустить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необходимых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 и </a:t>
            </a:r>
            <a:r>
              <a:rPr lang="en-US" dirty="0" err="1"/>
              <a:t>отслеживать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и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ошибок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перенаправлять</a:t>
            </a:r>
            <a:r>
              <a:rPr lang="en-US" dirty="0"/>
              <a:t> </a:t>
            </a:r>
            <a:r>
              <a:rPr lang="en-US" dirty="0" err="1"/>
              <a:t>вручную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systemd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журналирования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journald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</a:t>
            </a:r>
            <a:r>
              <a:rPr lang="en-US" dirty="0" err="1"/>
              <a:t>сервиса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доступны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journalctl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: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сервис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полезную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и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, а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, </a:t>
            </a:r>
            <a:r>
              <a:rPr lang="en-US" dirty="0" err="1"/>
              <a:t>фонового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 </a:t>
            </a:r>
            <a:r>
              <a:rPr lang="en-US" dirty="0" err="1"/>
              <a:t>перезапуска</a:t>
            </a:r>
            <a:r>
              <a:rPr lang="en-US" dirty="0"/>
              <a:t> и </a:t>
            </a:r>
            <a:r>
              <a:rPr lang="en-US" dirty="0" err="1"/>
              <a:t>журналирования</a:t>
            </a:r>
            <a:r>
              <a:rPr lang="en-US" dirty="0"/>
              <a:t> </a:t>
            </a:r>
            <a:r>
              <a:rPr lang="en-US" dirty="0" err="1"/>
              <a:t>передаются</a:t>
            </a:r>
            <a:r>
              <a:rPr lang="en-US" dirty="0"/>
              <a:t> </a:t>
            </a:r>
            <a:r>
              <a:rPr lang="en-US" dirty="0" err="1"/>
              <a:t>системному</a:t>
            </a:r>
            <a:r>
              <a:rPr lang="en-US" dirty="0"/>
              <a:t> </a:t>
            </a:r>
            <a:r>
              <a:rPr lang="en-US" dirty="0" err="1"/>
              <a:t>менеджеру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служб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предпочтительна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: </a:t>
            </a:r>
            <a:r>
              <a:rPr lang="en-US" b="1" dirty="0" err="1"/>
              <a:t>один</a:t>
            </a:r>
            <a:r>
              <a:rPr lang="en-US" b="1" dirty="0"/>
              <a:t> foreground-</a:t>
            </a:r>
            <a:r>
              <a:rPr lang="en-US" b="1" dirty="0" err="1"/>
              <a:t>процесс</a:t>
            </a:r>
            <a:r>
              <a:rPr lang="en-US" b="1" dirty="0"/>
              <a:t>, </a:t>
            </a:r>
            <a:r>
              <a:rPr lang="en-US" b="1" dirty="0" err="1"/>
              <a:t>жизненным</a:t>
            </a:r>
            <a:r>
              <a:rPr lang="en-US" b="1" dirty="0"/>
              <a:t> </a:t>
            </a:r>
            <a:r>
              <a:rPr lang="en-US" b="1" dirty="0" err="1"/>
              <a:t>циклом</a:t>
            </a:r>
            <a:r>
              <a:rPr lang="en-US" b="1" dirty="0"/>
              <a:t> </a:t>
            </a:r>
            <a:r>
              <a:rPr lang="en-US" b="1" dirty="0" err="1"/>
              <a:t>которого</a:t>
            </a:r>
            <a:r>
              <a:rPr lang="en-US" b="1" dirty="0"/>
              <a:t> </a:t>
            </a:r>
            <a:r>
              <a:rPr lang="en-US" b="1" dirty="0" err="1"/>
              <a:t>управляет</a:t>
            </a:r>
            <a:r>
              <a:rPr lang="en-US" b="1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systemd</a:t>
            </a:r>
            <a:r>
              <a:rPr lang="en-US" dirty="0"/>
              <a:t>. </a:t>
            </a:r>
            <a:r>
              <a:rPr lang="en-US" dirty="0" err="1"/>
              <a:t>Классическую</a:t>
            </a:r>
            <a:r>
              <a:rPr lang="en-US" dirty="0"/>
              <a:t> </a:t>
            </a:r>
            <a:r>
              <a:rPr lang="en-US" dirty="0" err="1"/>
              <a:t>daemonization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объясняет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демон</a:t>
            </a:r>
            <a:r>
              <a:rPr lang="en-US" dirty="0"/>
              <a:t> и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менеджер</a:t>
            </a:r>
            <a:r>
              <a:rPr lang="en-US" dirty="0"/>
              <a:t> </a:t>
            </a:r>
            <a:r>
              <a:rPr lang="en-US" dirty="0" err="1"/>
              <a:t>служб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2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Windows </a:t>
            </a:r>
            <a:r>
              <a:rPr lang="en-US" dirty="0" err="1"/>
              <a:t>аналогом</a:t>
            </a:r>
            <a:r>
              <a:rPr lang="en-US" dirty="0"/>
              <a:t> </a:t>
            </a:r>
            <a:r>
              <a:rPr lang="en-US" dirty="0" err="1"/>
              <a:t>демонов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службы</a:t>
            </a:r>
            <a:r>
              <a:rPr lang="en-US" dirty="0"/>
              <a:t>.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Service Control Manager.</a:t>
            </a:r>
          </a:p>
          <a:p>
            <a:r>
              <a:rPr lang="en-US" dirty="0" err="1"/>
              <a:t>Служба</a:t>
            </a:r>
            <a:r>
              <a:rPr lang="en-US" dirty="0"/>
              <a:t> </a:t>
            </a:r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исполняемым</a:t>
            </a:r>
            <a:r>
              <a:rPr lang="en-US" dirty="0"/>
              <a:t> </a:t>
            </a:r>
            <a:r>
              <a:rPr lang="en-US" dirty="0" err="1"/>
              <a:t>файлом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особым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. SCM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службы</a:t>
            </a:r>
            <a:r>
              <a:rPr lang="en-US" dirty="0"/>
              <a:t>, </a:t>
            </a:r>
            <a:r>
              <a:rPr lang="en-US" dirty="0" err="1"/>
              <a:t>устанавливает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служебный</a:t>
            </a:r>
            <a:r>
              <a:rPr lang="en-US" dirty="0"/>
              <a:t> </a:t>
            </a:r>
            <a:r>
              <a:rPr lang="en-US" dirty="0" err="1"/>
              <a:t>канал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и </a:t>
            </a:r>
            <a:r>
              <a:rPr lang="en-US" dirty="0" err="1"/>
              <a:t>ожидает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зарегистрирует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управляющих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Служба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сообщать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: </a:t>
            </a:r>
            <a:r>
              <a:rPr lang="en-US" dirty="0" err="1"/>
              <a:t>запускается</a:t>
            </a:r>
            <a:r>
              <a:rPr lang="en-US" dirty="0"/>
              <a:t>, </a:t>
            </a:r>
            <a:r>
              <a:rPr lang="en-US" dirty="0" err="1"/>
              <a:t>работает</a:t>
            </a:r>
            <a:r>
              <a:rPr lang="en-US" dirty="0"/>
              <a:t>, </a:t>
            </a:r>
            <a:r>
              <a:rPr lang="en-US" dirty="0" err="1"/>
              <a:t>останавливается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остановлена</a:t>
            </a:r>
            <a:r>
              <a:rPr lang="en-US" dirty="0"/>
              <a:t>. 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и </a:t>
            </a:r>
            <a:r>
              <a:rPr lang="en-US" dirty="0" err="1"/>
              <a:t>администратору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готова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служба</a:t>
            </a:r>
            <a:r>
              <a:rPr lang="en-US" dirty="0"/>
              <a:t> </a:t>
            </a:r>
            <a:r>
              <a:rPr lang="en-US" dirty="0" err="1"/>
              <a:t>принимать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 и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завершилась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цель</a:t>
            </a:r>
            <a:r>
              <a:rPr lang="en-US" dirty="0"/>
              <a:t> у UNIX daemon и Windows Service </a:t>
            </a:r>
            <a:r>
              <a:rPr lang="en-US" dirty="0" err="1"/>
              <a:t>похожая</a:t>
            </a:r>
            <a:r>
              <a:rPr lang="en-US" dirty="0"/>
              <a:t>: </a:t>
            </a:r>
            <a:r>
              <a:rPr lang="en-US" dirty="0" err="1"/>
              <a:t>долгоживущий</a:t>
            </a:r>
            <a:r>
              <a:rPr lang="en-US" dirty="0"/>
              <a:t> </a:t>
            </a:r>
            <a:r>
              <a:rPr lang="en-US" dirty="0" err="1"/>
              <a:t>фоновый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различается</a:t>
            </a:r>
            <a:r>
              <a:rPr lang="en-US" dirty="0"/>
              <a:t>: в UNIX </a:t>
            </a:r>
            <a:r>
              <a:rPr lang="en-US" dirty="0" err="1"/>
              <a:t>исторически</a:t>
            </a:r>
            <a:r>
              <a:rPr lang="en-US" dirty="0"/>
              <a:t> </a:t>
            </a:r>
            <a:r>
              <a:rPr lang="en-US" dirty="0" err="1"/>
              <a:t>многое</a:t>
            </a:r>
            <a:r>
              <a:rPr lang="en-US" dirty="0"/>
              <a:t> </a:t>
            </a:r>
            <a:r>
              <a:rPr lang="en-US" dirty="0" err="1"/>
              <a:t>делал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менеджер</a:t>
            </a:r>
            <a:r>
              <a:rPr lang="en-US" dirty="0"/>
              <a:t>, а в Windows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формализовано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SCM.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058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процесс создаёт другой, мы говорим о </a:t>
            </a:r>
            <a:r>
              <a:rPr lang="ru-RU" dirty="0" err="1"/>
              <a:t>родительско</a:t>
            </a:r>
            <a:r>
              <a:rPr lang="ru-RU" dirty="0"/>
              <a:t>-дочерних отношениях. Если ребёнок создаёт собственных детей, получается иерархия. Важно, что у процесса может быть только один родитель, но детей может быть много. Получается дерево процессов, где родительские и дочерние связи сохраняются. В разных ОС эта модель реализована по-разному.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878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UNIX и Linux мы имеем чётко выраженную иерархию. В корне дерева находится процесс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ru-RU" dirty="0"/>
              <a:t> — это первый пользовательский процесс с PID 1, который запускается после загрузки ядра. Он порождает процессы для каждого терминала, а те запускают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login</a:t>
            </a:r>
            <a:r>
              <a:rPr lang="ru-RU" dirty="0"/>
              <a:t>. </a:t>
            </a:r>
          </a:p>
          <a:p>
            <a:r>
              <a:rPr lang="ru-RU" dirty="0"/>
              <a:t>После успешного входа запускается оболочка (</a:t>
            </a:r>
            <a:r>
              <a:rPr lang="ru-RU" dirty="0" err="1"/>
              <a:t>shell</a:t>
            </a:r>
            <a:r>
              <a:rPr lang="ru-RU" dirty="0"/>
              <a:t>), которая уже создаёт дочерние процессы для выполнения команд. В итоге все процессы системы можно представить как одно дерево с корнем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ru-RU" dirty="0"/>
              <a:t>. </a:t>
            </a:r>
            <a:endParaRPr lang="en-US" dirty="0"/>
          </a:p>
          <a:p>
            <a:endParaRPr lang="en-US" dirty="0"/>
          </a:p>
          <a:p>
            <a:r>
              <a:rPr lang="ru-RU" dirty="0"/>
              <a:t>Кроме того, в UNIX есть понятие групп процессов. </a:t>
            </a:r>
          </a:p>
          <a:p>
            <a:r>
              <a:rPr lang="ru-RU" dirty="0"/>
              <a:t>Например, если пользователь нажимает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Ctrl-C</a:t>
            </a:r>
            <a:r>
              <a:rPr lang="ru-RU" dirty="0"/>
              <a:t> в терминале, сигнал прерывания посылается всей группе процессов, связанных с этим терминалом. Каждый процесс в группе может решить, как реагировать: перехватить сигнал, игнорировать его или завершиться.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249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Windows пошла другим путём. Здесь нет дерева процессов в том виде, как в UNIX. Все процессы равноправны, иерархии как таковой нет. Когда процесс создаёт другой процесс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CreateProcess</a:t>
            </a:r>
            <a:r>
              <a:rPr lang="ru-RU" dirty="0"/>
              <a:t>, он получает специальный дескриптор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</a:t>
            </a:r>
            <a:r>
              <a:rPr lang="ru-RU" dirty="0"/>
              <a:t>. Этот дескриптор позволяет управлять дочерним процессом: ожидать его завершения, завершить принудительно и так далее.</a:t>
            </a:r>
            <a:endParaRPr lang="en-US" dirty="0"/>
          </a:p>
          <a:p>
            <a:endParaRPr lang="en-US" dirty="0"/>
          </a:p>
          <a:p>
            <a:r>
              <a:rPr lang="ru-RU" dirty="0"/>
              <a:t>Но этот дескриптор можно передать другому процессу, и таким образом родительское отношение теряется. То есть в Windows нет устойчивой структуры в виде дерева или групп процессов. Это отражает общую философию Windows: процессы изолированы и независимы друг от друга, а управление ими идёт через механизмы безопасности и дескрипторы, а не через иерархические связи.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825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описания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простую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состояний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исполняется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готов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выделено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Третье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</a:t>
            </a:r>
            <a:r>
              <a:rPr lang="en-US" dirty="0"/>
              <a:t>.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, </a:t>
            </a:r>
            <a:r>
              <a:rPr lang="en-US" dirty="0" err="1"/>
              <a:t>из</a:t>
            </a:r>
            <a:r>
              <a:rPr lang="en-US" dirty="0"/>
              <a:t> pipe, с </a:t>
            </a:r>
            <a:r>
              <a:rPr lang="en-US" dirty="0" err="1"/>
              <a:t>клавиатуры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внешнего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</a:t>
            </a:r>
            <a:r>
              <a:rPr lang="en-US" dirty="0"/>
              <a:t>. В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. В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свободный</a:t>
            </a:r>
            <a:r>
              <a:rPr lang="en-US" dirty="0"/>
              <a:t> CPU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поможет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произойти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,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456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состояниями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вызвал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pipe,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</a:t>
            </a:r>
            <a:r>
              <a:rPr lang="en-US" dirty="0" err="1"/>
              <a:t>бессмысленно</a:t>
            </a:r>
            <a:r>
              <a:rPr lang="en-US" dirty="0"/>
              <a:t> </a:t>
            </a:r>
            <a:r>
              <a:rPr lang="en-US" dirty="0" err="1"/>
              <a:t>занимать</a:t>
            </a:r>
            <a:r>
              <a:rPr lang="en-US" dirty="0"/>
              <a:t> CPU, </a:t>
            </a:r>
            <a:r>
              <a:rPr lang="en-US" dirty="0" err="1"/>
              <a:t>поэтому</a:t>
            </a:r>
            <a:r>
              <a:rPr lang="en-US" dirty="0"/>
              <a:t> ОС </a:t>
            </a:r>
            <a:r>
              <a:rPr lang="en-US" dirty="0" err="1"/>
              <a:t>блокирует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: </a:t>
            </a:r>
            <a:r>
              <a:rPr lang="en-US" dirty="0" err="1"/>
              <a:t>пришли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завершилась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нажал</a:t>
            </a:r>
            <a:r>
              <a:rPr lang="en-US" dirty="0"/>
              <a:t> </a:t>
            </a:r>
            <a:r>
              <a:rPr lang="en-US" dirty="0" err="1"/>
              <a:t>клавишу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Переходы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</a:t>
            </a:r>
            <a:r>
              <a:rPr lang="en-US" dirty="0"/>
              <a:t> </a:t>
            </a:r>
            <a:r>
              <a:rPr lang="en-US" dirty="0" err="1"/>
              <a:t>управляются</a:t>
            </a:r>
            <a:r>
              <a:rPr lang="en-US" dirty="0"/>
              <a:t> </a:t>
            </a:r>
            <a:r>
              <a:rPr lang="en-US" dirty="0" err="1"/>
              <a:t>планировщиком</a:t>
            </a:r>
            <a:r>
              <a:rPr lang="en-US" dirty="0"/>
              <a:t>.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CPU. 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закончился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приоритетный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вытеснен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 | grep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записал</a:t>
            </a:r>
            <a:r>
              <a:rPr lang="en-US" dirty="0"/>
              <a:t> в pipe,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grep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и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grep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CPU и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746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,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PID.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дальнейшего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и </a:t>
            </a:r>
            <a:r>
              <a:rPr lang="en-US" dirty="0" err="1"/>
              <a:t>возобновления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учебной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Process Control Block, </a:t>
            </a:r>
            <a:r>
              <a:rPr lang="en-US" dirty="0" err="1"/>
              <a:t>или</a:t>
            </a:r>
            <a:r>
              <a:rPr lang="en-US" dirty="0"/>
              <a:t> PCB. </a:t>
            </a:r>
            <a:r>
              <a:rPr lang="en-US" dirty="0" err="1"/>
              <a:t>Совокупность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записей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таблицу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PCB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</a:t>
            </a:r>
            <a:r>
              <a:rPr lang="en-US" dirty="0" err="1"/>
              <a:t>информация</a:t>
            </a:r>
            <a:r>
              <a:rPr lang="en-US" dirty="0"/>
              <a:t> о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открытых</a:t>
            </a:r>
            <a:r>
              <a:rPr lang="en-US" dirty="0"/>
              <a:t> </a:t>
            </a:r>
            <a:r>
              <a:rPr lang="en-US" dirty="0" err="1"/>
              <a:t>ресурсах</a:t>
            </a:r>
            <a:r>
              <a:rPr lang="en-US" dirty="0"/>
              <a:t>. </a:t>
            </a:r>
            <a:r>
              <a:rPr lang="en-US" dirty="0" err="1"/>
              <a:t>Особое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: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,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и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сохранённый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остановить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в </a:t>
            </a:r>
            <a:r>
              <a:rPr lang="en-US" dirty="0" err="1"/>
              <a:t>произвольный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, </a:t>
            </a:r>
            <a:r>
              <a:rPr lang="en-US" dirty="0" err="1"/>
              <a:t>дать</a:t>
            </a:r>
            <a:r>
              <a:rPr lang="en-US" dirty="0"/>
              <a:t> CPU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с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прерван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операционные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структурами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PCB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воспринимать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концептуальную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33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ОС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многозадачность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процесс</a:t>
            </a:r>
            <a:r>
              <a:rPr lang="en-US" dirty="0"/>
              <a:t> A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CPU. В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системного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,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перепланирования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необходимый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CPU </a:t>
            </a:r>
            <a:r>
              <a:rPr lang="en-US" dirty="0" err="1"/>
              <a:t>другому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B.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выбран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B,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сохранённый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: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,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и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продолжения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B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будто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некоторое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остановилось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b="1" dirty="0"/>
              <a:t>context switch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впечатление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любое</a:t>
            </a:r>
            <a:r>
              <a:rPr lang="en-US" dirty="0"/>
              <a:t> </a:t>
            </a:r>
            <a:r>
              <a:rPr lang="en-US" dirty="0" err="1"/>
              <a:t>аппаратное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смене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r>
              <a:rPr lang="en-US" dirty="0"/>
              <a:t> и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.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802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Linux </a:t>
            </a:r>
            <a:r>
              <a:rPr lang="en-US" dirty="0" err="1"/>
              <a:t>концептуальной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PCB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изолированная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, а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связанных</a:t>
            </a:r>
            <a:r>
              <a:rPr lang="en-US" dirty="0"/>
              <a:t> </a:t>
            </a:r>
            <a:r>
              <a:rPr lang="en-US" dirty="0" err="1"/>
              <a:t>структур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 </a:t>
            </a:r>
            <a:r>
              <a:rPr lang="en-US" dirty="0" err="1"/>
              <a:t>Центральную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среди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играет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task_struct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планировать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, и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идентификаторы</a:t>
            </a:r>
            <a:r>
              <a:rPr lang="en-US" dirty="0"/>
              <a:t>,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</a:t>
            </a:r>
            <a:r>
              <a:rPr lang="en-US" dirty="0" err="1"/>
              <a:t>связи</a:t>
            </a:r>
            <a:r>
              <a:rPr lang="en-US" dirty="0"/>
              <a:t> с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 и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учёта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крупные</a:t>
            </a:r>
            <a:r>
              <a:rPr lang="en-US" dirty="0"/>
              <a:t> </a:t>
            </a:r>
            <a:r>
              <a:rPr lang="en-US" dirty="0" err="1"/>
              <a:t>подсистемы</a:t>
            </a:r>
            <a:r>
              <a:rPr lang="en-US" dirty="0"/>
              <a:t> </a:t>
            </a:r>
            <a:r>
              <a:rPr lang="en-US" dirty="0" err="1"/>
              <a:t>вынесены</a:t>
            </a:r>
            <a:r>
              <a:rPr lang="en-US" dirty="0"/>
              <a:t> в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описание</a:t>
            </a:r>
            <a:r>
              <a:rPr lang="en-US" dirty="0"/>
              <a:t> </a:t>
            </a:r>
            <a:r>
              <a:rPr lang="en-US" dirty="0" err="1"/>
              <a:t>адресного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mm_struct</a:t>
            </a:r>
            <a:r>
              <a:rPr lang="en-US" dirty="0"/>
              <a:t>, а </a:t>
            </a:r>
            <a:r>
              <a:rPr lang="en-US" dirty="0" err="1"/>
              <a:t>информация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открытых</a:t>
            </a:r>
            <a:r>
              <a:rPr lang="en-US" dirty="0"/>
              <a:t> </a:t>
            </a:r>
            <a:r>
              <a:rPr lang="en-US" dirty="0" err="1"/>
              <a:t>файловых</a:t>
            </a:r>
            <a:r>
              <a:rPr lang="en-US" dirty="0"/>
              <a:t> </a:t>
            </a:r>
            <a:r>
              <a:rPr lang="en-US" dirty="0" err="1"/>
              <a:t>дескрипторах</a:t>
            </a:r>
            <a:r>
              <a:rPr lang="en-US" dirty="0"/>
              <a:t> —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files_struct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task_struct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даёт</a:t>
            </a:r>
            <a:r>
              <a:rPr lang="en-US" dirty="0"/>
              <a:t> Linux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гибкую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 В </a:t>
            </a:r>
            <a:r>
              <a:rPr lang="en-US" dirty="0" err="1"/>
              <a:t>частности</a:t>
            </a:r>
            <a:r>
              <a:rPr lang="en-US" dirty="0"/>
              <a:t>, </a:t>
            </a:r>
            <a:r>
              <a:rPr lang="en-US" dirty="0" err="1"/>
              <a:t>процессы</a:t>
            </a:r>
            <a:r>
              <a:rPr lang="en-US" dirty="0"/>
              <a:t> и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разновидностями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 — task. </a:t>
            </a:r>
            <a:r>
              <a:rPr lang="en-US" dirty="0" err="1"/>
              <a:t>Разница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разделяют</a:t>
            </a:r>
            <a:r>
              <a:rPr lang="en-US" dirty="0"/>
              <a:t>. У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,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адресные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task_struct</a:t>
            </a:r>
            <a:r>
              <a:rPr lang="en-US" dirty="0"/>
              <a:t> и </a:t>
            </a:r>
            <a:r>
              <a:rPr lang="en-US" dirty="0" err="1"/>
              <a:t>связанные</a:t>
            </a:r>
            <a:r>
              <a:rPr lang="en-US" dirty="0"/>
              <a:t> с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 </a:t>
            </a:r>
            <a:r>
              <a:rPr lang="en-US" dirty="0" err="1"/>
              <a:t>хранят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планировать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792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Многозадачность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удобства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эффективного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значительную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вычисляют</a:t>
            </a:r>
            <a:r>
              <a:rPr lang="en-US" dirty="0"/>
              <a:t>, а </a:t>
            </a:r>
            <a:r>
              <a:rPr lang="en-US" dirty="0" err="1"/>
              <a:t>ждут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: </a:t>
            </a:r>
            <a:r>
              <a:rPr lang="en-US" dirty="0" err="1"/>
              <a:t>ввода</a:t>
            </a:r>
            <a:r>
              <a:rPr lang="en-US" dirty="0"/>
              <a:t> с </a:t>
            </a:r>
            <a:r>
              <a:rPr lang="en-US" dirty="0" err="1"/>
              <a:t>клавиатуры</a:t>
            </a:r>
            <a:r>
              <a:rPr lang="en-US" dirty="0"/>
              <a:t>, </a:t>
            </a:r>
            <a:r>
              <a:rPr lang="en-US" dirty="0" err="1"/>
              <a:t>данных</a:t>
            </a:r>
            <a:r>
              <a:rPr lang="en-US" dirty="0"/>
              <a:t> с </a:t>
            </a:r>
            <a:r>
              <a:rPr lang="en-US" dirty="0" err="1"/>
              <a:t>диска</a:t>
            </a:r>
            <a:r>
              <a:rPr lang="en-US" dirty="0"/>
              <a:t>, </a:t>
            </a:r>
            <a:r>
              <a:rPr lang="en-US" dirty="0" err="1"/>
              <a:t>сетевого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CPU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простаивать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,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переключиться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и </a:t>
            </a:r>
            <a:r>
              <a:rPr lang="en-US" dirty="0" err="1"/>
              <a:t>использовать</a:t>
            </a:r>
            <a:r>
              <a:rPr lang="en-US" dirty="0"/>
              <a:t> CPU </a:t>
            </a:r>
            <a:r>
              <a:rPr lang="en-US" dirty="0" err="1"/>
              <a:t>полезно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многозадачность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эффективна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I/O-bound </a:t>
            </a:r>
            <a:r>
              <a:rPr lang="en-US" dirty="0" err="1"/>
              <a:t>процессов</a:t>
            </a:r>
            <a:r>
              <a:rPr lang="en-US" dirty="0"/>
              <a:t> —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ждут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084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описать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вероятностной</a:t>
            </a:r>
            <a:r>
              <a:rPr lang="en-US" dirty="0"/>
              <a:t> </a:t>
            </a:r>
            <a:r>
              <a:rPr lang="en-US" dirty="0" err="1"/>
              <a:t>моделью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dirty="0"/>
              <a:t> — </a:t>
            </a:r>
            <a:r>
              <a:rPr lang="en-US" dirty="0" err="1"/>
              <a:t>вероятность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в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вероятность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ждут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, </a:t>
            </a:r>
            <a:r>
              <a:rPr lang="en-US" dirty="0" err="1"/>
              <a:t>равна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pⁿ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CPU </a:t>
            </a:r>
            <a:r>
              <a:rPr lang="en-US" dirty="0" err="1"/>
              <a:t>простаивает</a:t>
            </a:r>
            <a:r>
              <a:rPr lang="en-US" dirty="0"/>
              <a:t>.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ожидаемая</a:t>
            </a:r>
            <a:r>
              <a:rPr lang="en-US" dirty="0"/>
              <a:t> </a:t>
            </a:r>
            <a:r>
              <a:rPr lang="en-US" dirty="0" err="1"/>
              <a:t>загрузка</a:t>
            </a:r>
            <a:r>
              <a:rPr lang="en-US" dirty="0"/>
              <a:t> CPU </a:t>
            </a:r>
            <a:r>
              <a:rPr lang="en-US" dirty="0" err="1"/>
              <a:t>равна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1 − pⁿ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I/O </a:t>
            </a:r>
            <a:r>
              <a:rPr lang="en-US" dirty="0" err="1"/>
              <a:t>примерно</a:t>
            </a:r>
            <a:r>
              <a:rPr lang="en-US" dirty="0"/>
              <a:t> 80%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процессах</a:t>
            </a:r>
            <a:r>
              <a:rPr lang="en-US" dirty="0"/>
              <a:t> CPU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половину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семи</a:t>
            </a:r>
            <a:r>
              <a:rPr lang="en-US" dirty="0"/>
              <a:t> </a:t>
            </a:r>
            <a:r>
              <a:rPr lang="en-US" dirty="0" err="1"/>
              <a:t>процессах</a:t>
            </a:r>
            <a:r>
              <a:rPr lang="en-US" dirty="0"/>
              <a:t> </a:t>
            </a:r>
            <a:r>
              <a:rPr lang="en-US" dirty="0" err="1"/>
              <a:t>загрузка</a:t>
            </a:r>
            <a:r>
              <a:rPr lang="en-US" dirty="0"/>
              <a:t> </a:t>
            </a:r>
            <a:r>
              <a:rPr lang="en-US" dirty="0" err="1"/>
              <a:t>вырастает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79%,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одиннадцати</a:t>
            </a:r>
            <a:r>
              <a:rPr lang="en-US" dirty="0"/>
              <a:t> — </a:t>
            </a:r>
            <a:r>
              <a:rPr lang="en-US" dirty="0" err="1"/>
              <a:t>до</a:t>
            </a:r>
            <a:r>
              <a:rPr lang="en-US" dirty="0"/>
              <a:t> 91%.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рост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бесконечен</a:t>
            </a:r>
            <a:r>
              <a:rPr lang="en-US" dirty="0"/>
              <a:t>.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следующее</a:t>
            </a:r>
            <a:r>
              <a:rPr lang="en-US" dirty="0"/>
              <a:t> </a:t>
            </a:r>
            <a:r>
              <a:rPr lang="en-US" dirty="0" err="1"/>
              <a:t>увеличение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меньший</a:t>
            </a:r>
            <a:r>
              <a:rPr lang="en-US" dirty="0"/>
              <a:t> </a:t>
            </a:r>
            <a:r>
              <a:rPr lang="en-US" dirty="0" err="1"/>
              <a:t>выигрыш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занимают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создают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многозадачность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баланс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загрузкой</a:t>
            </a:r>
            <a:r>
              <a:rPr lang="en-US" dirty="0"/>
              <a:t> CPU, </a:t>
            </a:r>
            <a:r>
              <a:rPr lang="en-US" dirty="0" err="1"/>
              <a:t>объёмом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стоимостью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614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«</a:t>
            </a:r>
            <a:r>
              <a:rPr lang="en-US" dirty="0" err="1"/>
              <a:t>запущенную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», а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центральных</a:t>
            </a:r>
            <a:r>
              <a:rPr lang="en-US" dirty="0"/>
              <a:t> </a:t>
            </a:r>
            <a:r>
              <a:rPr lang="en-US" dirty="0" err="1"/>
              <a:t>абстракций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: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регистры</a:t>
            </a:r>
            <a:r>
              <a:rPr lang="en-US" dirty="0"/>
              <a:t>, </a:t>
            </a:r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и </a:t>
            </a:r>
            <a:r>
              <a:rPr lang="en-US" dirty="0" err="1"/>
              <a:t>положение</a:t>
            </a:r>
            <a:r>
              <a:rPr lang="en-US" dirty="0"/>
              <a:t> в </a:t>
            </a:r>
            <a:r>
              <a:rPr lang="en-US" dirty="0" err="1"/>
              <a:t>очередях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ОС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остановить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создание</a:t>
            </a:r>
            <a:r>
              <a:rPr lang="en-US" dirty="0"/>
              <a:t>,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ожидание</a:t>
            </a:r>
            <a:r>
              <a:rPr lang="en-US" dirty="0"/>
              <a:t>, </a:t>
            </a:r>
            <a:r>
              <a:rPr lang="en-US" dirty="0" err="1"/>
              <a:t>завершение</a:t>
            </a:r>
            <a:r>
              <a:rPr lang="en-US" dirty="0"/>
              <a:t> и </a:t>
            </a:r>
            <a:r>
              <a:rPr lang="en-US" dirty="0" err="1"/>
              <a:t>получение</a:t>
            </a:r>
            <a:r>
              <a:rPr lang="en-US" dirty="0"/>
              <a:t> </a:t>
            </a:r>
            <a:r>
              <a:rPr lang="en-US" dirty="0" err="1"/>
              <a:t>статуса</a:t>
            </a:r>
            <a:r>
              <a:rPr lang="en-US" dirty="0"/>
              <a:t> </a:t>
            </a:r>
            <a:r>
              <a:rPr lang="en-US" dirty="0" err="1"/>
              <a:t>родителем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выражается</a:t>
            </a:r>
            <a:r>
              <a:rPr lang="en-US" dirty="0"/>
              <a:t> в </a:t>
            </a:r>
            <a:r>
              <a:rPr lang="en-US" dirty="0" err="1"/>
              <a:t>механизмах</a:t>
            </a:r>
            <a:r>
              <a:rPr lang="en-US" dirty="0"/>
              <a:t> </a:t>
            </a:r>
            <a:r>
              <a:rPr lang="en-US" dirty="0" err="1"/>
              <a:t>вроде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в </a:t>
            </a:r>
            <a:r>
              <a:rPr lang="en-US" dirty="0" err="1"/>
              <a:t>полной</a:t>
            </a:r>
            <a:r>
              <a:rPr lang="en-US" dirty="0"/>
              <a:t> </a:t>
            </a:r>
            <a:r>
              <a:rPr lang="en-US" dirty="0" err="1"/>
              <a:t>изоляции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ОС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, </a:t>
            </a:r>
            <a:r>
              <a:rPr lang="en-US" dirty="0" err="1"/>
              <a:t>завершением</a:t>
            </a:r>
            <a:r>
              <a:rPr lang="en-US" dirty="0"/>
              <a:t>, </a:t>
            </a:r>
            <a:r>
              <a:rPr lang="en-US" dirty="0" err="1"/>
              <a:t>фоновым</a:t>
            </a:r>
            <a:r>
              <a:rPr lang="en-US" dirty="0"/>
              <a:t> </a:t>
            </a:r>
            <a:r>
              <a:rPr lang="en-US" dirty="0" err="1"/>
              <a:t>выполнением</a:t>
            </a:r>
            <a:r>
              <a:rPr lang="en-US" dirty="0"/>
              <a:t> и </a:t>
            </a:r>
            <a:r>
              <a:rPr lang="en-US" dirty="0" err="1"/>
              <a:t>взаимодействием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перейти</a:t>
            </a:r>
            <a:r>
              <a:rPr lang="en-US" dirty="0"/>
              <a:t> к </a:t>
            </a:r>
            <a:r>
              <a:rPr lang="en-US" dirty="0" err="1"/>
              <a:t>межпроцессному</a:t>
            </a:r>
            <a:r>
              <a:rPr lang="en-US" dirty="0"/>
              <a:t> </a:t>
            </a:r>
            <a:r>
              <a:rPr lang="en-US" dirty="0" err="1"/>
              <a:t>взаимодействию</a:t>
            </a:r>
            <a:r>
              <a:rPr lang="en-US" dirty="0"/>
              <a:t>: </a:t>
            </a:r>
            <a:r>
              <a:rPr lang="en-US" dirty="0" err="1"/>
              <a:t>сигналам</a:t>
            </a:r>
            <a:r>
              <a:rPr lang="en-US" dirty="0"/>
              <a:t>, </a:t>
            </a:r>
            <a:r>
              <a:rPr lang="en-US" dirty="0" err="1"/>
              <a:t>каналам</a:t>
            </a:r>
            <a:r>
              <a:rPr lang="en-US" dirty="0"/>
              <a:t> и FIFO.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темы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многозадачность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системой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аккуратного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730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изолированы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полная</a:t>
            </a:r>
            <a:r>
              <a:rPr lang="en-US" dirty="0"/>
              <a:t> </a:t>
            </a:r>
            <a:r>
              <a:rPr lang="en-US" dirty="0" err="1"/>
              <a:t>изоляция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непрактичной</a:t>
            </a:r>
            <a:r>
              <a:rPr lang="en-US" dirty="0"/>
              <a:t>. В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обмениваться</a:t>
            </a:r>
            <a:r>
              <a:rPr lang="en-US" dirty="0"/>
              <a:t> </a:t>
            </a:r>
            <a:r>
              <a:rPr lang="en-US" dirty="0" err="1"/>
              <a:t>информацией</a:t>
            </a:r>
            <a:r>
              <a:rPr lang="en-US" dirty="0"/>
              <a:t>: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о </a:t>
            </a:r>
            <a:r>
              <a:rPr lang="en-US" dirty="0" err="1"/>
              <a:t>событии</a:t>
            </a:r>
            <a:r>
              <a:rPr lang="en-US" dirty="0"/>
              <a:t>,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IPC. 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Сигналы</a:t>
            </a:r>
            <a:r>
              <a:rPr lang="en-US" dirty="0"/>
              <a:t> </a:t>
            </a:r>
            <a:r>
              <a:rPr lang="en-US" dirty="0" err="1"/>
              <a:t>подходят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уведомлений</a:t>
            </a:r>
            <a:r>
              <a:rPr lang="en-US" dirty="0"/>
              <a:t> и </a:t>
            </a:r>
            <a:r>
              <a:rPr lang="en-US" dirty="0" err="1"/>
              <a:t>управления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Anonymous pipe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,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 с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предком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FIFO </a:t>
            </a:r>
            <a:r>
              <a:rPr lang="en-US" dirty="0" err="1"/>
              <a:t>похож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pipe,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запущенные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69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Сигнал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канал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. </a:t>
            </a:r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короткое</a:t>
            </a:r>
            <a:r>
              <a:rPr lang="en-US" dirty="0"/>
              <a:t> </a:t>
            </a:r>
            <a:r>
              <a:rPr lang="en-US" dirty="0" err="1"/>
              <a:t>асинхронное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: «с </a:t>
            </a:r>
            <a:r>
              <a:rPr lang="en-US" dirty="0" err="1"/>
              <a:t>процессом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что-то</a:t>
            </a:r>
            <a:r>
              <a:rPr lang="en-US" dirty="0"/>
              <a:t> </a:t>
            </a:r>
            <a:r>
              <a:rPr lang="en-US" dirty="0" err="1"/>
              <a:t>произойти</a:t>
            </a:r>
            <a:r>
              <a:rPr lang="en-US" dirty="0"/>
              <a:t>».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отправить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kill()</a:t>
            </a:r>
            <a:r>
              <a:rPr lang="en-US" dirty="0"/>
              <a:t>.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</a:t>
            </a:r>
            <a:r>
              <a:rPr lang="en-US" dirty="0"/>
              <a:t> </a:t>
            </a:r>
            <a:r>
              <a:rPr lang="en-US" dirty="0" err="1"/>
              <a:t>историческое</a:t>
            </a:r>
            <a:r>
              <a:rPr lang="en-US" dirty="0"/>
              <a:t>: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отправляет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стандартное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 </a:t>
            </a:r>
            <a:r>
              <a:rPr lang="en-US" dirty="0" err="1"/>
              <a:t>завершают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останавливают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560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UNIX-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определено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встречается</a:t>
            </a:r>
            <a:r>
              <a:rPr lang="en-US" dirty="0"/>
              <a:t> </a:t>
            </a:r>
            <a:r>
              <a:rPr lang="en-US" dirty="0" err="1"/>
              <a:t>сравнительно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SIGINT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знаком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терминала</a:t>
            </a:r>
            <a:r>
              <a:rPr lang="en-US" dirty="0"/>
              <a:t>.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терминал</a:t>
            </a:r>
            <a:r>
              <a:rPr lang="en-US" dirty="0"/>
              <a:t> </a:t>
            </a:r>
            <a:r>
              <a:rPr lang="en-US" dirty="0" err="1"/>
              <a:t>отправляет</a:t>
            </a:r>
            <a:r>
              <a:rPr lang="en-US" dirty="0"/>
              <a:t> foreground-</a:t>
            </a:r>
            <a:r>
              <a:rPr lang="en-US" dirty="0" err="1"/>
              <a:t>группе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нажатии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Ctrl+C</a:t>
            </a:r>
            <a:r>
              <a:rPr lang="en-US" dirty="0"/>
              <a:t>. </a:t>
            </a:r>
            <a:r>
              <a:rPr lang="en-US" dirty="0" err="1"/>
              <a:t>Стандартное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—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Ctrl+C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специальным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«</a:t>
            </a:r>
            <a:r>
              <a:rPr lang="en-US" dirty="0" err="1"/>
              <a:t>убить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»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терминала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отправке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штатного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SIGTERM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: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, </a:t>
            </a:r>
            <a:r>
              <a:rPr lang="en-US" dirty="0" err="1"/>
              <a:t>закончить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,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выйти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SIGTERM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менеджеры</a:t>
            </a:r>
            <a:r>
              <a:rPr lang="en-US" dirty="0"/>
              <a:t> </a:t>
            </a:r>
            <a:r>
              <a:rPr lang="en-US" dirty="0" err="1"/>
              <a:t>служб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нормальной</a:t>
            </a:r>
            <a:r>
              <a:rPr lang="en-US" dirty="0"/>
              <a:t> </a:t>
            </a:r>
            <a:r>
              <a:rPr lang="en-US" dirty="0" err="1"/>
              <a:t>остановке</a:t>
            </a:r>
            <a:r>
              <a:rPr lang="en-US" dirty="0"/>
              <a:t> </a:t>
            </a:r>
            <a:r>
              <a:rPr lang="en-US" dirty="0" err="1"/>
              <a:t>сервиса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SIGKILL</a:t>
            </a:r>
            <a:r>
              <a:rPr lang="en-US" dirty="0"/>
              <a:t> </a:t>
            </a:r>
            <a:r>
              <a:rPr lang="en-US" dirty="0" err="1"/>
              <a:t>действует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проигнорировать</a:t>
            </a:r>
            <a:r>
              <a:rPr lang="en-US" dirty="0"/>
              <a:t>: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пользовательскую</a:t>
            </a:r>
            <a:r>
              <a:rPr lang="en-US" dirty="0"/>
              <a:t> </a:t>
            </a:r>
            <a:r>
              <a:rPr lang="en-US" dirty="0" err="1"/>
              <a:t>очистку</a:t>
            </a:r>
            <a:r>
              <a:rPr lang="en-US" dirty="0"/>
              <a:t>. </a:t>
            </a:r>
            <a:r>
              <a:rPr lang="en-US" dirty="0" err="1"/>
              <a:t>Аналогично</a:t>
            </a:r>
            <a:r>
              <a:rPr lang="en-US" dirty="0"/>
              <a:t>,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SIGSTOP</a:t>
            </a:r>
            <a:r>
              <a:rPr lang="en-US" dirty="0"/>
              <a:t> </a:t>
            </a:r>
            <a:r>
              <a:rPr lang="en-US" dirty="0" err="1"/>
              <a:t>безусловно</a:t>
            </a:r>
            <a:r>
              <a:rPr lang="en-US" dirty="0"/>
              <a:t> </a:t>
            </a:r>
            <a:r>
              <a:rPr lang="en-US" dirty="0" err="1"/>
              <a:t>приостанавливает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SIGCONT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работой</a:t>
            </a:r>
            <a:r>
              <a:rPr lang="en-US" dirty="0"/>
              <a:t> </a:t>
            </a:r>
            <a:r>
              <a:rPr lang="en-US" dirty="0" err="1"/>
              <a:t>терминала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и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SIGTSTP</a:t>
            </a:r>
            <a:r>
              <a:rPr lang="en-US" dirty="0"/>
              <a:t>.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генерируется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нажатии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Ctrl+Z</a:t>
            </a:r>
            <a:r>
              <a:rPr lang="en-US" dirty="0"/>
              <a:t>.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SIGSTOP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проигнорировать</a:t>
            </a:r>
            <a:r>
              <a:rPr lang="en-US" dirty="0"/>
              <a:t>. </a:t>
            </a:r>
            <a:r>
              <a:rPr lang="en-US" dirty="0" err="1"/>
              <a:t>Командная</a:t>
            </a:r>
            <a:r>
              <a:rPr lang="en-US" dirty="0"/>
              <a:t> </a:t>
            </a:r>
            <a:r>
              <a:rPr lang="en-US" dirty="0" err="1"/>
              <a:t>оболочка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foreground- и background-</a:t>
            </a:r>
            <a:r>
              <a:rPr lang="en-US" dirty="0" err="1"/>
              <a:t>задачами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 и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SIGUSR2</a:t>
            </a:r>
            <a:r>
              <a:rPr lang="en-US" dirty="0"/>
              <a:t> </a:t>
            </a:r>
            <a:r>
              <a:rPr lang="en-US" dirty="0" err="1"/>
              <a:t>предназначены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прикладных</a:t>
            </a:r>
            <a:r>
              <a:rPr lang="en-US" dirty="0"/>
              <a:t> </a:t>
            </a:r>
            <a:r>
              <a:rPr lang="en-US" dirty="0" err="1"/>
              <a:t>целей</a:t>
            </a:r>
            <a:r>
              <a:rPr lang="en-US" dirty="0"/>
              <a:t>.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специального</a:t>
            </a:r>
            <a:r>
              <a:rPr lang="en-US" dirty="0"/>
              <a:t> </a:t>
            </a:r>
            <a:r>
              <a:rPr lang="en-US" dirty="0" err="1"/>
              <a:t>смысла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получение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. В </a:t>
            </a:r>
            <a:r>
              <a:rPr lang="ru-RU" dirty="0"/>
              <a:t>вашей </a:t>
            </a:r>
            <a:r>
              <a:rPr lang="en-US" dirty="0" err="1"/>
              <a:t>лабораторной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worker-</a:t>
            </a:r>
            <a:r>
              <a:rPr lang="en-US" dirty="0" err="1"/>
              <a:t>процесса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US" dirty="0"/>
              <a:t> </a:t>
            </a:r>
            <a:r>
              <a:rPr lang="en-US" dirty="0" err="1"/>
              <a:t>отправляется</a:t>
            </a:r>
            <a:r>
              <a:rPr lang="en-US" dirty="0"/>
              <a:t> </a:t>
            </a:r>
            <a:r>
              <a:rPr lang="en-US" dirty="0" err="1"/>
              <a:t>родительскому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, </a:t>
            </a:r>
            <a:r>
              <a:rPr lang="en-US" dirty="0" err="1"/>
              <a:t>останавливается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родителю</a:t>
            </a:r>
            <a:r>
              <a:rPr lang="en-US" dirty="0"/>
              <a:t> </a:t>
            </a:r>
            <a:r>
              <a:rPr lang="en-US" dirty="0" err="1"/>
              <a:t>вовремя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и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ребёнка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SIGPIPE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в </a:t>
            </a:r>
            <a:r>
              <a:rPr lang="en-US" dirty="0" err="1"/>
              <a:t>контексте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темы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пишет</a:t>
            </a:r>
            <a:r>
              <a:rPr lang="en-US" dirty="0"/>
              <a:t> в pipe, у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,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SIGPIPE</a:t>
            </a:r>
            <a:r>
              <a:rPr lang="en-US" dirty="0"/>
              <a:t>; </a:t>
            </a:r>
            <a:r>
              <a:rPr lang="en-US" dirty="0" err="1"/>
              <a:t>стандартное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—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UNIX pipeline.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запомнить</a:t>
            </a:r>
            <a:r>
              <a:rPr lang="en-US" dirty="0"/>
              <a:t>: </a:t>
            </a:r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</a:t>
            </a:r>
            <a:r>
              <a:rPr lang="en-US" dirty="0" err="1"/>
              <a:t>допускают</a:t>
            </a:r>
            <a:r>
              <a:rPr lang="en-US" dirty="0"/>
              <a:t> </a:t>
            </a:r>
            <a:r>
              <a:rPr lang="en-US" dirty="0" err="1"/>
              <a:t>пользовательскую</a:t>
            </a:r>
            <a:r>
              <a:rPr lang="en-US" dirty="0"/>
              <a:t> </a:t>
            </a:r>
            <a:r>
              <a:rPr lang="en-US" dirty="0" err="1"/>
              <a:t>реакцию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SIGKILL</a:t>
            </a:r>
            <a:r>
              <a:rPr lang="en-US" dirty="0"/>
              <a:t> и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SIGSTOP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контролем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240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установки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в POSIX-</a:t>
            </a:r>
            <a:r>
              <a:rPr lang="en-US" dirty="0" err="1"/>
              <a:t>программах</a:t>
            </a:r>
            <a:r>
              <a:rPr lang="en-US" dirty="0"/>
              <a:t> </a:t>
            </a:r>
            <a:r>
              <a:rPr lang="en-US" dirty="0" err="1"/>
              <a:t>рекомендуется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sigaction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sigaction</a:t>
            </a:r>
            <a:r>
              <a:rPr lang="en-US" dirty="0"/>
              <a:t> и </a:t>
            </a:r>
            <a:r>
              <a:rPr lang="en-US" dirty="0" err="1"/>
              <a:t>указываем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вызвана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получении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. 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HandleSigterm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sa_mask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заблокированы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очищаем</a:t>
            </a:r>
            <a:r>
              <a:rPr lang="en-US" dirty="0"/>
              <a:t> </a:t>
            </a:r>
            <a:r>
              <a:rPr lang="en-US" dirty="0" err="1"/>
              <a:t>маску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sigemptyset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дополнительных</a:t>
            </a:r>
            <a:r>
              <a:rPr lang="en-US" dirty="0"/>
              <a:t> </a:t>
            </a:r>
            <a:r>
              <a:rPr lang="en-US" dirty="0" err="1"/>
              <a:t>блокируемых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sigaction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(SIGTERM, &amp;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SIGTERM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—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stop_requested</a:t>
            </a:r>
            <a:r>
              <a:rPr lang="en-US" dirty="0"/>
              <a:t>. Это </a:t>
            </a:r>
            <a:r>
              <a:rPr lang="en-US" dirty="0" err="1"/>
              <a:t>принципиально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.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прийти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в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, в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числе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библиотечной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обработчика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вызывать</a:t>
            </a:r>
            <a:r>
              <a:rPr lang="en-US" dirty="0"/>
              <a:t> </a:t>
            </a:r>
            <a:r>
              <a:rPr lang="en-US" dirty="0" err="1"/>
              <a:t>произвольный</a:t>
            </a:r>
            <a:r>
              <a:rPr lang="en-US" dirty="0"/>
              <a:t> C++-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периодически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SIGTERM</a:t>
            </a:r>
            <a:r>
              <a:rPr lang="en-US" dirty="0"/>
              <a:t>,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, и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в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контексте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, </a:t>
            </a:r>
            <a:r>
              <a:rPr lang="en-US" dirty="0" err="1"/>
              <a:t>записать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 в </a:t>
            </a:r>
            <a:r>
              <a:rPr lang="en-US" dirty="0" err="1"/>
              <a:t>журнал</a:t>
            </a:r>
            <a:r>
              <a:rPr lang="en-US" dirty="0"/>
              <a:t>,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и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в </a:t>
            </a:r>
            <a:r>
              <a:rPr lang="en-US" dirty="0" err="1"/>
              <a:t>долгоживущих</a:t>
            </a:r>
            <a:r>
              <a:rPr lang="en-US" dirty="0"/>
              <a:t> </a:t>
            </a:r>
            <a:r>
              <a:rPr lang="en-US" dirty="0" err="1"/>
              <a:t>процессах</a:t>
            </a:r>
            <a:r>
              <a:rPr lang="en-US" dirty="0"/>
              <a:t> и </a:t>
            </a:r>
            <a:r>
              <a:rPr lang="en-US" dirty="0" err="1"/>
              <a:t>сервисах</a:t>
            </a:r>
            <a:r>
              <a:rPr lang="en-US" dirty="0"/>
              <a:t>: signal handler </a:t>
            </a:r>
            <a:r>
              <a:rPr lang="en-US" dirty="0" err="1"/>
              <a:t>сообщает</a:t>
            </a:r>
            <a:r>
              <a:rPr lang="en-US" dirty="0"/>
              <a:t> о </a:t>
            </a:r>
            <a:r>
              <a:rPr lang="en-US" dirty="0" err="1"/>
              <a:t>событии</a:t>
            </a:r>
            <a:r>
              <a:rPr lang="en-US" dirty="0"/>
              <a:t>, а </a:t>
            </a:r>
            <a:r>
              <a:rPr lang="en-US" dirty="0" err="1"/>
              <a:t>реальная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основным</a:t>
            </a:r>
            <a:r>
              <a:rPr lang="en-US" dirty="0"/>
              <a:t> </a:t>
            </a:r>
            <a:r>
              <a:rPr lang="en-US" dirty="0" err="1"/>
              <a:t>кодом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703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Сигналы</a:t>
            </a:r>
            <a:r>
              <a:rPr lang="en-US" dirty="0"/>
              <a:t> </a:t>
            </a:r>
            <a:r>
              <a:rPr lang="en-US" dirty="0" err="1"/>
              <a:t>влияют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прерывать</a:t>
            </a:r>
            <a:r>
              <a:rPr lang="en-US" dirty="0"/>
              <a:t> </a:t>
            </a:r>
            <a:r>
              <a:rPr lang="en-US" dirty="0" err="1"/>
              <a:t>блокирующие</a:t>
            </a:r>
            <a:r>
              <a:rPr lang="en-US" dirty="0"/>
              <a:t>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ребёнка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.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с </a:t>
            </a:r>
            <a:r>
              <a:rPr lang="en-US" dirty="0" err="1"/>
              <a:t>ошибкой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EINTR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настоящая</a:t>
            </a:r>
            <a:r>
              <a:rPr lang="en-US" dirty="0"/>
              <a:t> </a:t>
            </a:r>
            <a:r>
              <a:rPr lang="en-US" dirty="0" err="1"/>
              <a:t>ошибка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: «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прервана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, </a:t>
            </a:r>
            <a:r>
              <a:rPr lang="en-US" dirty="0" err="1"/>
              <a:t>попробуйте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». </a:t>
            </a:r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системном</a:t>
            </a:r>
            <a:r>
              <a:rPr lang="en-US" dirty="0"/>
              <a:t> </a:t>
            </a:r>
            <a:r>
              <a:rPr lang="en-US" dirty="0" err="1"/>
              <a:t>программировании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пишут</a:t>
            </a:r>
            <a:r>
              <a:rPr lang="en-US" dirty="0"/>
              <a:t> </a:t>
            </a:r>
            <a:r>
              <a:rPr lang="en-US" dirty="0" err="1"/>
              <a:t>циклы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повторяют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похожий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errno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EINTR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324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прерывает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произвольный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«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ниоткуда</a:t>
            </a:r>
            <a:r>
              <a:rPr lang="en-US" dirty="0"/>
              <a:t>». В Linux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в </a:t>
            </a:r>
            <a:r>
              <a:rPr lang="en-US" dirty="0" err="1"/>
              <a:t>контролируемой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: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. Это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возврат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системного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, </a:t>
            </a:r>
            <a:r>
              <a:rPr lang="en-US" dirty="0" err="1"/>
              <a:t>возврат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назначается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CPU.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,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незаблокированный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установлен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,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подготавливает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handler.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пользовательском</a:t>
            </a:r>
            <a:r>
              <a:rPr lang="en-US" dirty="0"/>
              <a:t> </a:t>
            </a:r>
            <a:r>
              <a:rPr lang="en-US" dirty="0" err="1"/>
              <a:t>стеке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signal frame: </a:t>
            </a:r>
            <a:r>
              <a:rPr lang="en-US" dirty="0" err="1"/>
              <a:t>туда</a:t>
            </a:r>
            <a:r>
              <a:rPr lang="en-US" dirty="0"/>
              <a:t> </a:t>
            </a:r>
            <a:r>
              <a:rPr lang="en-US" dirty="0" err="1"/>
              <a:t>сохраняются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,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, </a:t>
            </a:r>
            <a:r>
              <a:rPr lang="en-US" dirty="0" err="1"/>
              <a:t>маска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и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нужное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</a:t>
            </a:r>
            <a:r>
              <a:rPr lang="en-US" dirty="0" err="1"/>
              <a:t>назад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организует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будто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пользовательским</a:t>
            </a:r>
            <a:r>
              <a:rPr lang="en-US" dirty="0"/>
              <a:t> </a:t>
            </a:r>
            <a:r>
              <a:rPr lang="en-US" dirty="0" err="1"/>
              <a:t>кодом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выполниться</a:t>
            </a:r>
            <a:r>
              <a:rPr lang="en-US" dirty="0"/>
              <a:t> </a:t>
            </a:r>
            <a:r>
              <a:rPr lang="en-US" dirty="0" err="1"/>
              <a:t>функция-обработчик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handler </a:t>
            </a:r>
            <a:r>
              <a:rPr lang="en-US" dirty="0" err="1"/>
              <a:t>завершается</a:t>
            </a:r>
            <a:r>
              <a:rPr lang="en-US" dirty="0"/>
              <a:t>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sigreturn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сохранённый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, и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с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прерван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воспринимать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ответвление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аккуратно</a:t>
            </a:r>
            <a:r>
              <a:rPr lang="en-US" dirty="0"/>
              <a:t> </a:t>
            </a:r>
            <a:r>
              <a:rPr lang="en-US" dirty="0" err="1"/>
              <a:t>вставляет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участками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считает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,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«</a:t>
            </a:r>
            <a:r>
              <a:rPr lang="en-US" dirty="0" err="1"/>
              <a:t>теряется</a:t>
            </a:r>
            <a:r>
              <a:rPr lang="en-US" dirty="0"/>
              <a:t>».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регулярно</a:t>
            </a:r>
            <a:r>
              <a:rPr lang="en-US" dirty="0"/>
              <a:t> </a:t>
            </a:r>
            <a:r>
              <a:rPr lang="en-US" dirty="0" err="1"/>
              <a:t>попадает</a:t>
            </a:r>
            <a:r>
              <a:rPr lang="en-US" dirty="0"/>
              <a:t> в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pending signals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возвратом</a:t>
            </a:r>
            <a:r>
              <a:rPr lang="en-US" dirty="0"/>
              <a:t> в user mode.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многопоточной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в </a:t>
            </a:r>
            <a:r>
              <a:rPr lang="en-US" dirty="0" err="1"/>
              <a:t>контексте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своя</a:t>
            </a:r>
            <a:r>
              <a:rPr lang="en-US" dirty="0"/>
              <a:t> </a:t>
            </a:r>
            <a:r>
              <a:rPr lang="en-US" dirty="0" err="1"/>
              <a:t>маска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; </a:t>
            </a:r>
            <a:r>
              <a:rPr lang="en-US" dirty="0" err="1"/>
              <a:t>процесс-направленный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доставлен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у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заблокирован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сложных</a:t>
            </a:r>
            <a:r>
              <a:rPr lang="en-US" dirty="0"/>
              <a:t> </a:t>
            </a:r>
            <a:r>
              <a:rPr lang="en-US" dirty="0" err="1"/>
              <a:t>программах</a:t>
            </a:r>
            <a:r>
              <a:rPr lang="en-US" dirty="0"/>
              <a:t> </a:t>
            </a:r>
            <a:r>
              <a:rPr lang="en-US" dirty="0" err="1"/>
              <a:t>сигнальные</a:t>
            </a:r>
            <a:r>
              <a:rPr lang="en-US" dirty="0"/>
              <a:t> </a:t>
            </a:r>
            <a:r>
              <a:rPr lang="en-US" dirty="0" err="1"/>
              <a:t>маски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настраивают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pthread_sigmask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698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прийти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предельно</a:t>
            </a:r>
            <a:r>
              <a:rPr lang="en-US" dirty="0"/>
              <a:t> </a:t>
            </a:r>
            <a:r>
              <a:rPr lang="en-US" dirty="0" err="1"/>
              <a:t>простым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с </a:t>
            </a:r>
            <a:r>
              <a:rPr lang="en-US" dirty="0" err="1"/>
              <a:t>основным</a:t>
            </a:r>
            <a:r>
              <a:rPr lang="en-US" dirty="0"/>
              <a:t> </a:t>
            </a:r>
            <a:r>
              <a:rPr lang="en-US" dirty="0" err="1"/>
              <a:t>кодом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sig_atomic_t</a:t>
            </a:r>
            <a:r>
              <a:rPr lang="en-US" dirty="0"/>
              <a:t>. Handler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, а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замечает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и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сложную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handler к </a:t>
            </a:r>
            <a:r>
              <a:rPr lang="en-US" dirty="0" err="1"/>
              <a:t>сложному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,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прерван</a:t>
            </a:r>
            <a:r>
              <a:rPr lang="en-US" dirty="0"/>
              <a:t> </a:t>
            </a:r>
            <a:r>
              <a:rPr lang="en-US" dirty="0" err="1"/>
              <a:t>посередине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гонка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кодом</a:t>
            </a:r>
            <a:r>
              <a:rPr lang="en-US" dirty="0"/>
              <a:t> и </a:t>
            </a:r>
            <a:r>
              <a:rPr lang="en-US" dirty="0" err="1"/>
              <a:t>обработчиком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/>
              <a:t>В C++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привести</a:t>
            </a:r>
            <a:r>
              <a:rPr lang="en-US" dirty="0"/>
              <a:t> к </a:t>
            </a:r>
            <a:r>
              <a:rPr lang="en-US" dirty="0" err="1"/>
              <a:t>неопределённому</a:t>
            </a:r>
            <a:r>
              <a:rPr lang="en-US" dirty="0"/>
              <a:t> </a:t>
            </a:r>
            <a:r>
              <a:rPr lang="en-US" dirty="0" err="1"/>
              <a:t>поведению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65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Anonymous pipe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канал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dirty="0" err="1"/>
              <a:t>системным</a:t>
            </a:r>
            <a:r>
              <a:rPr lang="en-US" dirty="0"/>
              <a:t> </a:t>
            </a:r>
            <a:r>
              <a:rPr lang="en-US" dirty="0" err="1"/>
              <a:t>вызовом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pipe()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конца</a:t>
            </a:r>
            <a:r>
              <a:rPr lang="en-US" dirty="0"/>
              <a:t>: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и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.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pipe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, а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записал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Данные</a:t>
            </a:r>
            <a:r>
              <a:rPr lang="en-US" dirty="0"/>
              <a:t> pipe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лежат</a:t>
            </a:r>
            <a:r>
              <a:rPr lang="en-US" dirty="0"/>
              <a:t> в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файле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хранятся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b="1" dirty="0" err="1"/>
              <a:t>внутреннем</a:t>
            </a:r>
            <a:r>
              <a:rPr lang="en-US" b="1" dirty="0"/>
              <a:t> </a:t>
            </a:r>
            <a:r>
              <a:rPr lang="en-US" b="1" dirty="0" err="1"/>
              <a:t>буфере</a:t>
            </a:r>
            <a:r>
              <a:rPr lang="en-US" b="1" dirty="0"/>
              <a:t> </a:t>
            </a:r>
            <a:r>
              <a:rPr lang="en-US" b="1" dirty="0" err="1"/>
              <a:t>ядра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pipe </a:t>
            </a:r>
            <a:r>
              <a:rPr lang="en-US" dirty="0" err="1"/>
              <a:t>удобен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временной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,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производит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потребляет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316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Anonymous pipe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сочетается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pipe,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и </a:t>
            </a:r>
            <a:r>
              <a:rPr lang="en-US" dirty="0" err="1"/>
              <a:t>родитель</a:t>
            </a:r>
            <a:r>
              <a:rPr lang="en-US" dirty="0"/>
              <a:t>, и </a:t>
            </a:r>
            <a:r>
              <a:rPr lang="en-US" dirty="0" err="1"/>
              <a:t>ребёнок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, </a:t>
            </a:r>
            <a:r>
              <a:rPr lang="en-US" dirty="0" err="1"/>
              <a:t>указывающие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pipe в </a:t>
            </a:r>
            <a:r>
              <a:rPr lang="en-US" dirty="0" err="1"/>
              <a:t>ядре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наследование</a:t>
            </a:r>
            <a:r>
              <a:rPr lang="en-US" dirty="0"/>
              <a:t> </a:t>
            </a:r>
            <a:r>
              <a:rPr lang="en-US" dirty="0" err="1"/>
              <a:t>файловых</a:t>
            </a:r>
            <a:r>
              <a:rPr lang="en-US" dirty="0"/>
              <a:t> </a:t>
            </a:r>
            <a:r>
              <a:rPr lang="en-US" dirty="0" err="1"/>
              <a:t>дескрипторов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возможной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ненужный</a:t>
            </a:r>
            <a:r>
              <a:rPr lang="en-US" dirty="0"/>
              <a:t> </a:t>
            </a:r>
            <a:r>
              <a:rPr lang="en-US" dirty="0" err="1"/>
              <a:t>конец</a:t>
            </a:r>
            <a:r>
              <a:rPr lang="en-US" dirty="0"/>
              <a:t> pipe и </a:t>
            </a:r>
            <a:r>
              <a:rPr lang="en-US" dirty="0" err="1"/>
              <a:t>писать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ненужный</a:t>
            </a:r>
            <a:r>
              <a:rPr lang="en-US" dirty="0"/>
              <a:t> </a:t>
            </a:r>
            <a:r>
              <a:rPr lang="en-US" dirty="0" err="1"/>
              <a:t>конец</a:t>
            </a:r>
            <a:r>
              <a:rPr lang="en-US" dirty="0"/>
              <a:t> и </a:t>
            </a:r>
            <a:r>
              <a:rPr lang="en-US" dirty="0" err="1"/>
              <a:t>читать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наследования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запущенный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смог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anonymous pipe.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949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 |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 shell-</a:t>
            </a:r>
            <a:r>
              <a:rPr lang="en-US" dirty="0" err="1"/>
              <a:t>кода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оболочка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дочерних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и </a:t>
            </a:r>
            <a:r>
              <a:rPr lang="en-US" dirty="0" err="1"/>
              <a:t>один</a:t>
            </a:r>
            <a:r>
              <a:rPr lang="en-US" dirty="0"/>
              <a:t> pipe.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en-US" dirty="0"/>
              <a:t>.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запуском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en-US" dirty="0"/>
              <a:t> </a:t>
            </a:r>
            <a:r>
              <a:rPr lang="en-US" dirty="0" err="1"/>
              <a:t>оболочка</a:t>
            </a:r>
            <a:r>
              <a:rPr lang="en-US" dirty="0"/>
              <a:t> </a:t>
            </a:r>
            <a:r>
              <a:rPr lang="en-US" dirty="0" err="1"/>
              <a:t>перенаправляет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в write-end pipe.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</a:t>
            </a:r>
            <a:r>
              <a:rPr lang="en-US" dirty="0"/>
              <a:t>;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 </a:t>
            </a:r>
            <a:r>
              <a:rPr lang="en-US" dirty="0" err="1"/>
              <a:t>перенаправляется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read-end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pipe.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в </a:t>
            </a:r>
            <a:r>
              <a:rPr lang="en-US" dirty="0" err="1"/>
              <a:t>дочерних</a:t>
            </a:r>
            <a:r>
              <a:rPr lang="en-US" dirty="0"/>
              <a:t> </a:t>
            </a:r>
            <a:r>
              <a:rPr lang="en-US" dirty="0" err="1"/>
              <a:t>процессах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execvp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знают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участвуют</a:t>
            </a:r>
            <a:r>
              <a:rPr lang="en-US" dirty="0"/>
              <a:t> в pipeline.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stdout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wc</a:t>
            </a:r>
            <a:r>
              <a:rPr lang="en-US" dirty="0"/>
              <a:t> — </a:t>
            </a:r>
            <a:r>
              <a:rPr lang="en-US" dirty="0" err="1"/>
              <a:t>обычное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stdin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UNIX-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комбинируются</a:t>
            </a:r>
            <a:r>
              <a:rPr lang="en-US" dirty="0"/>
              <a:t>: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, а shell </a:t>
            </a:r>
            <a:r>
              <a:rPr lang="en-US" dirty="0" err="1"/>
              <a:t>соединяет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074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pipe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EOF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завершился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а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у pipe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осталось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открытого</a:t>
            </a:r>
            <a:r>
              <a:rPr lang="en-US" dirty="0"/>
              <a:t> </a:t>
            </a:r>
            <a:r>
              <a:rPr lang="en-US" dirty="0" err="1"/>
              <a:t>конца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в </a:t>
            </a:r>
            <a:r>
              <a:rPr lang="en-US" dirty="0" err="1"/>
              <a:t>команде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 hello | cat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</a:t>
            </a:r>
            <a:r>
              <a:rPr lang="en-US" dirty="0"/>
              <a:t>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 и </a:t>
            </a:r>
            <a:r>
              <a:rPr lang="en-US" dirty="0" err="1"/>
              <a:t>завершается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write-end </a:t>
            </a:r>
            <a:r>
              <a:rPr lang="en-US" dirty="0" err="1"/>
              <a:t>закрыты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dirty="0"/>
              <a:t>,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</a:t>
            </a:r>
            <a:r>
              <a:rPr lang="en-US" dirty="0"/>
              <a:t> </a:t>
            </a:r>
            <a:r>
              <a:rPr lang="en-US" dirty="0" err="1"/>
              <a:t>понимает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закончился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shell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случайно</a:t>
            </a:r>
            <a:r>
              <a:rPr lang="en-US" dirty="0"/>
              <a:t> </a:t>
            </a:r>
            <a:r>
              <a:rPr lang="en-US" dirty="0" err="1"/>
              <a:t>оставил</a:t>
            </a:r>
            <a:r>
              <a:rPr lang="en-US" dirty="0"/>
              <a:t> write-end </a:t>
            </a:r>
            <a:r>
              <a:rPr lang="en-US" dirty="0" err="1"/>
              <a:t>открытым</a:t>
            </a:r>
            <a:r>
              <a:rPr lang="en-US" dirty="0"/>
              <a:t>,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pipe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возможна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EOF и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dup2()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закрывать</a:t>
            </a:r>
            <a:r>
              <a:rPr lang="en-US" dirty="0"/>
              <a:t> </a:t>
            </a:r>
            <a:r>
              <a:rPr lang="en-US" dirty="0" err="1"/>
              <a:t>исходные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pipe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процессах</a:t>
            </a:r>
            <a:r>
              <a:rPr lang="en-US" dirty="0"/>
              <a:t>: и в </a:t>
            </a:r>
            <a:r>
              <a:rPr lang="en-US" dirty="0" err="1"/>
              <a:t>дочерних</a:t>
            </a:r>
            <a:r>
              <a:rPr lang="en-US" dirty="0"/>
              <a:t>, и в </a:t>
            </a:r>
            <a:r>
              <a:rPr lang="en-US" dirty="0" err="1"/>
              <a:t>родительском</a:t>
            </a:r>
            <a:r>
              <a:rPr lang="en-US" dirty="0"/>
              <a:t>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082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состоять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 Shell </a:t>
            </a:r>
            <a:r>
              <a:rPr lang="en-US" dirty="0" err="1"/>
              <a:t>строит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вводом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dirty="0"/>
              <a:t>, а pipe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 - 1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Процесс</a:t>
            </a:r>
            <a:r>
              <a:rPr lang="en-US" dirty="0"/>
              <a:t> в </a:t>
            </a:r>
            <a:r>
              <a:rPr lang="en-US" dirty="0" err="1"/>
              <a:t>середине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цепочки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pipe и </a:t>
            </a:r>
            <a:r>
              <a:rPr lang="en-US" dirty="0" err="1"/>
              <a:t>пишет</a:t>
            </a:r>
            <a:r>
              <a:rPr lang="en-US" dirty="0"/>
              <a:t> в </a:t>
            </a:r>
            <a:r>
              <a:rPr lang="en-US" dirty="0" err="1"/>
              <a:t>следующий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shell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нужные</a:t>
            </a:r>
            <a:r>
              <a:rPr lang="en-US" dirty="0"/>
              <a:t> pipe,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, </a:t>
            </a:r>
            <a:r>
              <a:rPr lang="en-US" dirty="0" err="1"/>
              <a:t>настроить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stdin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stdout</a:t>
            </a:r>
            <a:r>
              <a:rPr lang="en-US" dirty="0"/>
              <a:t>,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лишние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дочерних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, pipeline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зависнуть</a:t>
            </a:r>
            <a:r>
              <a:rPr lang="en-US" dirty="0"/>
              <a:t>: </a:t>
            </a:r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заполнит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pipe, а </a:t>
            </a:r>
            <a:r>
              <a:rPr lang="en-US" dirty="0" err="1"/>
              <a:t>читать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никто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954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999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Анонимный канал </a:t>
            </a:r>
            <a:r>
              <a:rPr lang="en-US" dirty="0" err="1"/>
              <a:t>удобен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предка</a:t>
            </a:r>
            <a:r>
              <a:rPr lang="en-US" dirty="0"/>
              <a:t> и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унаследовать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запущены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сервис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, а </a:t>
            </a:r>
            <a:r>
              <a:rPr lang="en-US" dirty="0" err="1"/>
              <a:t>клиенты</a:t>
            </a:r>
            <a:r>
              <a:rPr lang="en-US" dirty="0"/>
              <a:t> </a:t>
            </a:r>
            <a:r>
              <a:rPr lang="en-US" dirty="0" err="1"/>
              <a:t>запускаются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терминалов</a:t>
            </a:r>
            <a:r>
              <a:rPr lang="en-US" dirty="0"/>
              <a:t>.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pipe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FIFO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events.fifo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хранятся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файле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.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нашли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канал</a:t>
            </a:r>
            <a:r>
              <a:rPr lang="en-US" dirty="0"/>
              <a:t> в </a:t>
            </a:r>
            <a:r>
              <a:rPr lang="en-US" dirty="0" err="1"/>
              <a:t>ядре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096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FIFO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, </a:t>
            </a:r>
            <a:r>
              <a:rPr lang="en-US" dirty="0" err="1"/>
              <a:t>похожий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устроено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FIFO </a:t>
            </a:r>
            <a:r>
              <a:rPr lang="en-US" dirty="0" err="1"/>
              <a:t>создаётся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mkfifo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с </a:t>
            </a:r>
            <a:r>
              <a:rPr lang="en-US" dirty="0" err="1"/>
              <a:t>именем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events.fifo</a:t>
            </a:r>
            <a:r>
              <a:rPr lang="en-US" dirty="0"/>
              <a:t>. Это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запущенным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канал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открывают</a:t>
            </a:r>
            <a:r>
              <a:rPr lang="en-US" dirty="0"/>
              <a:t> FIFO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open()</a:t>
            </a:r>
            <a:r>
              <a:rPr lang="en-US" dirty="0"/>
              <a:t> и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обычными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write()</a:t>
            </a:r>
            <a:r>
              <a:rPr lang="en-US" dirty="0"/>
              <a:t>. </a:t>
            </a:r>
            <a:r>
              <a:rPr lang="en-US" dirty="0" err="1"/>
              <a:t>Передаваемые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записываются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диске</a:t>
            </a:r>
            <a:r>
              <a:rPr lang="en-US" dirty="0"/>
              <a:t>: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внутреннем</a:t>
            </a:r>
            <a:r>
              <a:rPr lang="en-US" dirty="0"/>
              <a:t> </a:t>
            </a:r>
            <a:r>
              <a:rPr lang="en-US" dirty="0" err="1"/>
              <a:t>буфере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close()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файловый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. </a:t>
            </a:r>
            <a:r>
              <a:rPr lang="en-US" dirty="0" err="1"/>
              <a:t>Сам</a:t>
            </a:r>
            <a:r>
              <a:rPr lang="en-US" dirty="0"/>
              <a:t> FIFO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никто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открыл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FIFO,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unlink()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нюанс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unlink()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FIFO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исчезнет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</a:t>
            </a:r>
            <a:r>
              <a:rPr lang="en-US" dirty="0" err="1"/>
              <a:t>продолжат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. </a:t>
            </a:r>
            <a:r>
              <a:rPr lang="en-US" dirty="0" err="1"/>
              <a:t>Окончательно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освобождён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закрытия</a:t>
            </a:r>
            <a:r>
              <a:rPr lang="en-US" dirty="0"/>
              <a:t> </a:t>
            </a:r>
            <a:r>
              <a:rPr lang="en-US" dirty="0" err="1"/>
              <a:t>последнего</a:t>
            </a:r>
            <a:r>
              <a:rPr lang="en-US" dirty="0"/>
              <a:t> </a:t>
            </a:r>
            <a:r>
              <a:rPr lang="en-US" dirty="0" err="1"/>
              <a:t>дескриптора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долгоживущего</a:t>
            </a:r>
            <a:r>
              <a:rPr lang="en-US" dirty="0"/>
              <a:t> </a:t>
            </a:r>
            <a:r>
              <a:rPr lang="en-US" dirty="0" err="1"/>
              <a:t>сервиса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 </a:t>
            </a:r>
            <a:r>
              <a:rPr lang="en-US" dirty="0" err="1"/>
              <a:t>создать</a:t>
            </a:r>
            <a:r>
              <a:rPr lang="en-US" dirty="0"/>
              <a:t> FIFO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запуске</a:t>
            </a:r>
            <a:r>
              <a:rPr lang="en-US" dirty="0"/>
              <a:t>,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штатном</a:t>
            </a:r>
            <a:r>
              <a:rPr lang="en-US" dirty="0"/>
              <a:t> </a:t>
            </a:r>
            <a:r>
              <a:rPr lang="en-US" dirty="0" err="1"/>
              <a:t>завершении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и </a:t>
            </a:r>
            <a:r>
              <a:rPr lang="en-US" dirty="0" err="1"/>
              <a:t>удалить</a:t>
            </a:r>
            <a:r>
              <a:rPr lang="en-US" dirty="0"/>
              <a:t> FIFO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unlink()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FIFO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столько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 </a:t>
            </a:r>
            <a:r>
              <a:rPr lang="en-US" dirty="0" err="1"/>
              <a:t>Перезагрузка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удаляет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файловая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постоянная</a:t>
            </a:r>
            <a:r>
              <a:rPr lang="en-US" dirty="0"/>
              <a:t>;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каталоги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очищаться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загрузке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703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FIFO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FIFO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, а </a:t>
            </a:r>
            <a:r>
              <a:rPr lang="en-US" dirty="0" err="1"/>
              <a:t>писателей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писателя</a:t>
            </a:r>
            <a:r>
              <a:rPr lang="en-US" dirty="0"/>
              <a:t>. </a:t>
            </a:r>
            <a:r>
              <a:rPr lang="en-US" dirty="0" err="1"/>
              <a:t>Аналогично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FIFO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, а </a:t>
            </a:r>
            <a:r>
              <a:rPr lang="en-US" dirty="0" err="1"/>
              <a:t>сервиса-читателя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открытие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блокироваться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неудобно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зависать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сервис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запущен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неблокирующий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O_NONBLOCK</a:t>
            </a:r>
            <a:r>
              <a:rPr lang="en-US" dirty="0"/>
              <a:t>. В </a:t>
            </a:r>
            <a:r>
              <a:rPr lang="en-US" dirty="0" err="1"/>
              <a:t>частности</a:t>
            </a:r>
            <a:r>
              <a:rPr lang="en-US" dirty="0"/>
              <a:t>, </a:t>
            </a:r>
            <a:r>
              <a:rPr lang="en-US" dirty="0" err="1"/>
              <a:t>попытка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FIFO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O_WRONLY | O_NONBLOCK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 </a:t>
            </a:r>
            <a:r>
              <a:rPr lang="en-US" dirty="0" err="1"/>
              <a:t>ошибкой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ENXIO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открывшего</a:t>
            </a:r>
            <a:r>
              <a:rPr lang="en-US" dirty="0"/>
              <a:t> FIFO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сообщить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сервис</a:t>
            </a:r>
            <a:r>
              <a:rPr lang="en-US" dirty="0"/>
              <a:t> </a:t>
            </a:r>
            <a:r>
              <a:rPr lang="en-US" dirty="0" err="1"/>
              <a:t>недоступен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1688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FIFO, </a:t>
            </a:r>
            <a:r>
              <a:rPr lang="en-US" dirty="0" err="1"/>
              <a:t>как</a:t>
            </a:r>
            <a:r>
              <a:rPr lang="en-US" dirty="0"/>
              <a:t> и anonymous pipe,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 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логическое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сервис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чтением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полных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 и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третьего</a:t>
            </a:r>
            <a:r>
              <a:rPr lang="en-US" dirty="0"/>
              <a:t>.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</a:t>
            </a:r>
            <a:r>
              <a:rPr lang="en-US" dirty="0" err="1"/>
              <a:t>вернёт</a:t>
            </a:r>
            <a:r>
              <a:rPr lang="en-US" dirty="0"/>
              <a:t> </a:t>
            </a:r>
            <a:r>
              <a:rPr lang="en-US" dirty="0" err="1"/>
              <a:t>остаток</a:t>
            </a:r>
            <a:r>
              <a:rPr lang="en-US" dirty="0"/>
              <a:t> </a:t>
            </a:r>
            <a:r>
              <a:rPr lang="en-US" dirty="0" err="1"/>
              <a:t>третьего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определять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длину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полезную</a:t>
            </a:r>
            <a:r>
              <a:rPr lang="en-US" dirty="0"/>
              <a:t> </a:t>
            </a:r>
            <a:r>
              <a:rPr lang="en-US" dirty="0" err="1"/>
              <a:t>нагрузку</a:t>
            </a:r>
            <a:r>
              <a:rPr lang="en-US" dirty="0"/>
              <a:t>.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</a:t>
            </a:r>
            <a:r>
              <a:rPr lang="en-US" dirty="0" err="1"/>
              <a:t>фиксированного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клиентах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перемешиваться</a:t>
            </a:r>
            <a:r>
              <a:rPr lang="en-US" dirty="0"/>
              <a:t>. POSIX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атомарность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в pipe </a:t>
            </a:r>
            <a:r>
              <a:rPr lang="en-US" dirty="0" err="1"/>
              <a:t>или</a:t>
            </a:r>
            <a:r>
              <a:rPr lang="en-US" dirty="0"/>
              <a:t> FIFO,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write()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превышает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PIPE_BUF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 </a:t>
            </a:r>
            <a:r>
              <a:rPr lang="en-US" dirty="0" err="1"/>
              <a:t>помещаться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предел</a:t>
            </a:r>
            <a:r>
              <a:rPr lang="en-US" dirty="0"/>
              <a:t> и </a:t>
            </a:r>
            <a:r>
              <a:rPr lang="en-US" dirty="0" err="1"/>
              <a:t>отправляться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вызовом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write()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атомарная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отменяет</a:t>
            </a:r>
            <a:r>
              <a:rPr lang="en-US" dirty="0"/>
              <a:t> </a:t>
            </a:r>
            <a:r>
              <a:rPr lang="en-US" dirty="0" err="1"/>
              <a:t>потоковую</a:t>
            </a:r>
            <a:r>
              <a:rPr lang="en-US" dirty="0"/>
              <a:t> </a:t>
            </a:r>
            <a:r>
              <a:rPr lang="en-US" dirty="0" err="1"/>
              <a:t>природу</a:t>
            </a:r>
            <a:r>
              <a:rPr lang="en-US" dirty="0"/>
              <a:t> FIFO: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085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Сигналы, анонимные каналы и </a:t>
            </a:r>
            <a:r>
              <a:rPr lang="en-US" dirty="0"/>
              <a:t>FIFO -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Сигналы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подходят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и </a:t>
            </a:r>
            <a:r>
              <a:rPr lang="en-US" dirty="0" err="1"/>
              <a:t>уведомлений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остановить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попросить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сообщить</a:t>
            </a:r>
            <a:r>
              <a:rPr lang="en-US" dirty="0"/>
              <a:t> о </a:t>
            </a:r>
            <a:r>
              <a:rPr lang="en-US" dirty="0" err="1"/>
              <a:t>событии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канал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Anonymous pipe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лежит</a:t>
            </a:r>
            <a:r>
              <a:rPr lang="en-US" dirty="0"/>
              <a:t> в </a:t>
            </a:r>
            <a:r>
              <a:rPr lang="en-US" dirty="0" err="1"/>
              <a:t>основе</a:t>
            </a:r>
            <a:r>
              <a:rPr lang="en-US" dirty="0"/>
              <a:t> shell pipeline.</a:t>
            </a:r>
          </a:p>
          <a:p>
            <a:endParaRPr lang="en-US" dirty="0"/>
          </a:p>
          <a:p>
            <a:r>
              <a:rPr lang="en-US" dirty="0"/>
              <a:t>FIFO </a:t>
            </a:r>
            <a:r>
              <a:rPr lang="en-US" dirty="0" err="1"/>
              <a:t>похож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pipe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поведению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отличается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: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запущенные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. Это </a:t>
            </a:r>
            <a:r>
              <a:rPr lang="en-US" dirty="0" err="1"/>
              <a:t>делает</a:t>
            </a:r>
            <a:r>
              <a:rPr lang="en-US" dirty="0"/>
              <a:t> FIFO </a:t>
            </a:r>
            <a:r>
              <a:rPr lang="en-US" dirty="0" err="1"/>
              <a:t>удобным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схемы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–</a:t>
            </a:r>
            <a:r>
              <a:rPr lang="en-US" dirty="0" err="1"/>
              <a:t>сервис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лабораторной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последовательно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процессом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pipeline </a:t>
            </a:r>
            <a:r>
              <a:rPr lang="en-US" dirty="0" err="1"/>
              <a:t>через</a:t>
            </a:r>
            <a:r>
              <a:rPr lang="en-US" dirty="0"/>
              <a:t> pipe,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сервис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FIFO.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69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88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2826B-BF1A-7008-4551-18C2B0D31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9BC6F-3908-0FED-002A-FDCFEBAA3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827CB-18B8-759A-DF37-75BEA117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C45AB-F163-390B-A478-FA07837A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70949-24A9-F37A-2C74-DCD1319B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0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3E89-3A32-E999-1071-22D51E9A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F427B-5AAA-4369-6F16-7922754CC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9D458-A975-C3D7-334C-01BEFEAEE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C1807-184D-3633-A924-96654D64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7435C-7078-E11B-A7D7-B8D5912C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1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7AB5-84FD-B84C-11CE-F998224A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04170-E34C-ACF6-164B-53366853C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EF66D-6BB8-C802-BC8B-334821603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E298-A23A-5F01-B921-172DE3AD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D1A1-B2EA-CF46-6D7A-4CB0EF37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5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C0A2-1DFA-A944-04A7-FC1BE76B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7D00C-7037-7E3E-41EE-FB9073BDE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1D700-EBF9-7ADE-087B-2BDC3829B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AEDF8-8B8C-CE7A-8666-59FEDF925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4EBFA-80C1-937C-4BAB-488AAA23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C4ED9-55D8-8218-6150-3EDF0C4D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0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2285-105C-4C5C-025A-4ACBE039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7A08F-566F-887C-800C-58A6CE716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A9A17-2CBE-34EC-4291-927F9C8B4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92392-0990-9266-1A62-3A80653E5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DD3A8-0979-6DFC-91E6-AF4CF1148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4F1ABA-7C27-04E7-959F-D756015D1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F8868-19F1-5111-7BCB-8DACD2FD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E05C5-1927-0979-0C5E-6E6859C7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0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2285-105C-4C5C-025A-4ACBE039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7A08F-566F-887C-800C-58A6CE716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A9A17-2CBE-34EC-4291-927F9C8B4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371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92392-0990-9266-1A62-3A80653E5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DD3A8-0979-6DFC-91E6-AF4CF1148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371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4F1ABA-7C27-04E7-959F-D756015D1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F8868-19F1-5111-7BCB-8DACD2FD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E05C5-1927-0979-0C5E-6E6859C7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373CE891-ED30-09F2-FAFC-F8FE1C714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612" y="5012267"/>
            <a:ext cx="10515600" cy="11345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0590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A3DB-6272-2C6B-A3FF-22FD33CB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4B07A-9892-F36B-D90A-395604AD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07714-05BA-16FB-1898-9FB11A76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477F5-65F8-B419-3FB4-925DB27F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91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CBCB9-B550-28D2-4FE2-770C8E48C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9D94A-04DF-4C0E-DA9C-82770BA8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6EC9-D574-DD27-4CC1-DC8F19F2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4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0C4-7A33-711E-E6BF-17D77559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9890-D923-4B14-87C9-A986DE2BA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D40DF-1B14-38A2-F46E-69A50DEC4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FE13A-E505-4C46-42C9-88C83703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371C7-53FC-FBDF-D8B7-1E6A6944C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69FB0-4345-D643-AB4A-4066FFE1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2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615D-FC92-F328-9E53-A2514150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58452-F7A0-B1EF-C561-AC2D31575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3FD14-C067-5C95-939F-5DBD9F1B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E6C81-7912-E9CB-401E-5D117248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0ECB4-2E1D-0616-0103-D76A4D5B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BB17C-3CA0-D37D-1D19-83882F129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89B98-F9F4-76E8-5C8F-21F03711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650EA-DD08-B047-2D85-509B69990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23320-3DB4-A264-DF96-DE699B32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DAB4D-6773-05E7-A310-9046F4DA0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DFCBE-320B-8C28-0015-8E7701A3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78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693F64-835F-18D5-94C8-40752724D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C7075-1629-90ED-334F-BF7F7C06C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A5BB9-094F-0101-E386-0525E0DA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CF7E-C135-A41F-E4C4-0F1F3053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325AB-A6B8-BE29-957C-9B880FF6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94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F90C5-5697-B4A5-5B42-F21B2792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D5F13-4074-0E89-63E9-897E86F69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34210-2AE7-DD54-3103-6759F10F2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C5D73-0869-4BC2-AC56-17788AF4573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A6CAB-4DEE-9674-F8FD-516E7350D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8BCFF-68D3-5230-D1F2-8701F017E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4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DA8E-6497-8B4D-E956-D7F60D087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16237"/>
          </a:xfrm>
        </p:spPr>
        <p:txBody>
          <a:bodyPr/>
          <a:lstStyle/>
          <a:p>
            <a:r>
              <a:rPr lang="ru-RU" dirty="0"/>
              <a:t>Процессы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424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1610-8989-A563-FCAF-CB3AAE3F4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Программа</a:t>
            </a:r>
            <a:r>
              <a:rPr lang="en-US" dirty="0"/>
              <a:t> ≠ </a:t>
            </a:r>
            <a:r>
              <a:rPr lang="en-US" dirty="0" err="1"/>
              <a:t>процесс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013E-6F83-F297-362E-87D8B6FA9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Программа</a:t>
            </a:r>
            <a:r>
              <a:rPr lang="en-US" dirty="0"/>
              <a:t> — </a:t>
            </a:r>
            <a:r>
              <a:rPr lang="en-US" dirty="0" err="1"/>
              <a:t>статический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диске</a:t>
            </a:r>
            <a:endParaRPr lang="ru-RU" dirty="0"/>
          </a:p>
          <a:p>
            <a:r>
              <a:rPr lang="en-US" b="1" dirty="0" err="1"/>
              <a:t>Процесс</a:t>
            </a:r>
            <a:r>
              <a:rPr lang="en-US" dirty="0"/>
              <a:t> —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с </a:t>
            </a:r>
            <a:r>
              <a:rPr lang="en-US" dirty="0" err="1"/>
              <a:t>собственным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endParaRPr lang="en-US" dirty="0"/>
          </a:p>
          <a:p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код</a:t>
            </a:r>
            <a:r>
              <a:rPr lang="en-US" dirty="0"/>
              <a:t> и </a:t>
            </a:r>
            <a:r>
              <a:rPr lang="en-US" dirty="0" err="1"/>
              <a:t>данные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стек</a:t>
            </a:r>
            <a:r>
              <a:rPr lang="en-US" dirty="0"/>
              <a:t> и heap; </a:t>
            </a:r>
          </a:p>
          <a:p>
            <a:pPr lvl="1"/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и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 </a:t>
            </a:r>
          </a:p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запущена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→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77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D863-AD59-1601-8751-9CB99954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Процесс</a:t>
            </a:r>
            <a:r>
              <a:rPr lang="en-US" dirty="0"/>
              <a:t> — «</a:t>
            </a:r>
            <a:r>
              <a:rPr lang="en-US" dirty="0" err="1"/>
              <a:t>виртуальный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»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9821-2650-DA24-84AF-13A26D82C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ОС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удобную</a:t>
            </a:r>
            <a:r>
              <a:rPr lang="en-US" dirty="0"/>
              <a:t> </a:t>
            </a:r>
            <a:r>
              <a:rPr lang="en-US" dirty="0" err="1"/>
              <a:t>иллюзию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у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endParaRPr lang="en-US" dirty="0"/>
          </a:p>
          <a:p>
            <a:pPr lvl="1"/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endParaRPr lang="en-US" dirty="0"/>
          </a:p>
          <a:p>
            <a:pPr lvl="1"/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endParaRPr lang="en-US" dirty="0"/>
          </a:p>
          <a:p>
            <a:pPr lvl="1"/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CPU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переключается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endParaRPr lang="en-US" dirty="0"/>
          </a:p>
          <a:p>
            <a:pPr lvl="1"/>
            <a:r>
              <a:rPr lang="en-US" dirty="0"/>
              <a:t>ОС </a:t>
            </a:r>
            <a:r>
              <a:rPr lang="en-US" dirty="0" err="1"/>
              <a:t>сохраняет</a:t>
            </a:r>
            <a:r>
              <a:rPr lang="en-US" dirty="0"/>
              <a:t> и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endParaRPr lang="en-US" dirty="0"/>
          </a:p>
          <a:p>
            <a:r>
              <a:rPr lang="en-US" dirty="0" err="1"/>
              <a:t>Процесс</a:t>
            </a:r>
            <a:r>
              <a:rPr lang="en-US" dirty="0"/>
              <a:t> —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единица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 </a:t>
            </a:r>
            <a:r>
              <a:rPr lang="en-US" dirty="0" err="1"/>
              <a:t>изоляции</a:t>
            </a:r>
            <a:r>
              <a:rPr lang="en-US" dirty="0"/>
              <a:t> и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09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C012-FDA9-FCE1-097F-F32A8C01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Псевдопараллелизм</a:t>
            </a:r>
            <a:r>
              <a:rPr lang="en-US" dirty="0"/>
              <a:t> и </a:t>
            </a:r>
            <a:r>
              <a:rPr lang="en-US" dirty="0" err="1"/>
              <a:t>настоящий</a:t>
            </a:r>
            <a:r>
              <a:rPr lang="en-US" dirty="0"/>
              <a:t> </a:t>
            </a:r>
            <a:r>
              <a:rPr lang="en-US" dirty="0" err="1"/>
              <a:t>параллелизм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517657-54AB-BAE7-4C9B-5EEF244BA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199" y="1825625"/>
            <a:ext cx="77316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5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640F-B9D9-9878-6148-2A88B565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программисту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66BBB-DA32-DC0F-4068-38CD59C43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ОС:</a:t>
            </a:r>
          </a:p>
          <a:p>
            <a:pPr lvl="1"/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изолировать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I/O; </a:t>
            </a:r>
          </a:p>
          <a:p>
            <a:pPr lvl="1"/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 и </a:t>
            </a:r>
            <a:r>
              <a:rPr lang="en-US" dirty="0" err="1"/>
              <a:t>правами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. </a:t>
            </a:r>
          </a:p>
          <a:p>
            <a:r>
              <a:rPr lang="en-US" dirty="0" err="1"/>
              <a:t>Следствия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скорость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непредсказуема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«</a:t>
            </a:r>
            <a:r>
              <a:rPr lang="en-US" dirty="0" err="1"/>
              <a:t>пустые</a:t>
            </a:r>
            <a:r>
              <a:rPr lang="en-US" dirty="0"/>
              <a:t> </a:t>
            </a:r>
            <a:r>
              <a:rPr lang="en-US" dirty="0" err="1"/>
              <a:t>циклы</a:t>
            </a:r>
            <a:r>
              <a:rPr lang="en-US" dirty="0"/>
              <a:t>»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процессами</a:t>
            </a:r>
            <a:r>
              <a:rPr lang="en-US" dirty="0"/>
              <a:t>, </a:t>
            </a:r>
            <a:r>
              <a:rPr lang="en-US" dirty="0" err="1"/>
              <a:t>сигналами</a:t>
            </a:r>
            <a:r>
              <a:rPr lang="en-US" dirty="0"/>
              <a:t> и IPC.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04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AD4E9-CAAF-7D71-4DAB-5E57D169E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процесса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0456E-8945-A110-C986-5537253FD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79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B6E92-25C5-E863-F908-A319EC9A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A97593-39CD-5A10-0688-640157C21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создаются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загрузке</a:t>
            </a:r>
            <a:r>
              <a:rPr lang="en-US" dirty="0"/>
              <a:t> ОС —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службы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запросу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запуске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пользователем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выполнении</a:t>
            </a:r>
            <a:r>
              <a:rPr lang="en-US" dirty="0"/>
              <a:t> </a:t>
            </a:r>
            <a:r>
              <a:rPr lang="en-US" dirty="0" err="1"/>
              <a:t>запланированной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 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характеру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foreground —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 с </a:t>
            </a:r>
            <a:r>
              <a:rPr lang="en-US" dirty="0" err="1"/>
              <a:t>пользователем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background —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постоянного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daemon / service — </a:t>
            </a:r>
            <a:r>
              <a:rPr lang="en-US" dirty="0" err="1"/>
              <a:t>долгоживущие</a:t>
            </a:r>
            <a:r>
              <a:rPr lang="en-US" dirty="0"/>
              <a:t> </a:t>
            </a:r>
            <a:r>
              <a:rPr lang="en-US" dirty="0" err="1"/>
              <a:t>фоновые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9982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3132D-10AA-2B69-DF45-DF51FCD0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: UNIX и Windows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2E54314-2679-C009-2898-2078BB5D2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15" y="1825625"/>
            <a:ext cx="92345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5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E164-85FF-8F1D-6AFA-FAA2F5D4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→ exec → wait: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в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27F03-9F5E-DE57-44AF-A31734DCB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fork():</a:t>
            </a:r>
          </a:p>
          <a:p>
            <a:pPr lvl="1"/>
            <a:r>
              <a:rPr lang="en-US" dirty="0"/>
              <a:t>&lt; 0   </a:t>
            </a:r>
            <a:r>
              <a:rPr lang="en-US" dirty="0" err="1"/>
              <a:t>ошибка</a:t>
            </a:r>
            <a:endParaRPr lang="en-US" dirty="0"/>
          </a:p>
          <a:p>
            <a:pPr lvl="1"/>
            <a:r>
              <a:rPr lang="en-US" dirty="0"/>
              <a:t>= 0   </a:t>
            </a:r>
            <a:r>
              <a:rPr lang="en-US" dirty="0" err="1"/>
              <a:t>выполняется</a:t>
            </a:r>
            <a:r>
              <a:rPr lang="en-US" dirty="0"/>
              <a:t> child</a:t>
            </a:r>
          </a:p>
          <a:p>
            <a:pPr lvl="1"/>
            <a:r>
              <a:rPr lang="en-US" dirty="0"/>
              <a:t>&gt; 0   </a:t>
            </a:r>
            <a:r>
              <a:rPr lang="en-US" dirty="0" err="1"/>
              <a:t>выполняется</a:t>
            </a:r>
            <a:r>
              <a:rPr lang="en-US" dirty="0"/>
              <a:t> parent, </a:t>
            </a:r>
            <a:r>
              <a:rPr lang="en-US" dirty="0" err="1"/>
              <a:t>значение</a:t>
            </a:r>
            <a:r>
              <a:rPr lang="en-US" dirty="0"/>
              <a:t> = PID child</a:t>
            </a:r>
          </a:p>
          <a:p>
            <a:r>
              <a:rPr lang="en-US" dirty="0" err="1"/>
              <a:t>waitpid</a:t>
            </a:r>
            <a:r>
              <a:rPr lang="en-US" dirty="0"/>
              <a:t>()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родителю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нормальное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endParaRPr lang="en-US" dirty="0"/>
          </a:p>
          <a:p>
            <a:pPr lvl="2"/>
            <a:r>
              <a:rPr lang="en-US" dirty="0"/>
              <a:t>WIFEXITED, WEXITSTATUS; </a:t>
            </a:r>
          </a:p>
          <a:p>
            <a:pPr lvl="1"/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endParaRPr lang="en-US" dirty="0"/>
          </a:p>
          <a:p>
            <a:pPr lvl="2"/>
            <a:r>
              <a:rPr lang="en-US" dirty="0"/>
              <a:t>WIFSIGNALED, WTERMSIG.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D2D5A-1797-C86C-7B3D-93962D9FC70A}"/>
              </a:ext>
            </a:extLst>
          </p:cNvPr>
          <p:cNvSpPr txBox="1"/>
          <p:nvPr/>
        </p:nvSpPr>
        <p:spPr>
          <a:xfrm>
            <a:off x="6248401" y="1825625"/>
            <a:ext cx="5105400" cy="2857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pid_t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child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execvp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_exit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exec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завершился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ошибкой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parent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status;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waitpid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33398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EAC9-8652-54AB-EE93-D1C26731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→ exec → wait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A71F2F-3156-6A93-F9A5-FE6212DE3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24" y="1825625"/>
            <a:ext cx="96519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85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234D-E584-6EE4-3E33-0F905EFC0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процессу</a:t>
            </a:r>
            <a:r>
              <a:rPr lang="en-US" dirty="0"/>
              <a:t>: PID и HANDLE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8B7E9-B366-C922-6044-316ED8763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 / POSIX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00CB02-9254-1E15-A250-6C0B7E3AA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67176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PID</a:t>
            </a:r>
            <a:r>
              <a:rPr lang="en-US" dirty="0"/>
              <a:t> </a:t>
            </a:r>
            <a:r>
              <a:rPr lang="en-US" dirty="0" err="1"/>
              <a:t>идентифицирует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endParaRPr lang="ru-RU" dirty="0"/>
          </a:p>
          <a:p>
            <a:r>
              <a:rPr lang="en-US" dirty="0" err="1"/>
              <a:t>getpid</a:t>
            </a:r>
            <a:r>
              <a:rPr lang="en-US" dirty="0"/>
              <a:t>(), </a:t>
            </a:r>
            <a:r>
              <a:rPr lang="en-US" dirty="0" err="1"/>
              <a:t>getppid</a:t>
            </a:r>
            <a:r>
              <a:rPr lang="en-US" dirty="0"/>
              <a:t>()</a:t>
            </a:r>
            <a:endParaRPr lang="ru-RU" dirty="0"/>
          </a:p>
          <a:p>
            <a:r>
              <a:rPr lang="en-US" dirty="0"/>
              <a:t>kill(</a:t>
            </a:r>
            <a:r>
              <a:rPr lang="en-US" dirty="0" err="1"/>
              <a:t>pid</a:t>
            </a:r>
            <a:r>
              <a:rPr lang="en-US" dirty="0"/>
              <a:t>, ...)</a:t>
            </a:r>
            <a:endParaRPr lang="ru-RU" dirty="0"/>
          </a:p>
          <a:p>
            <a:r>
              <a:rPr lang="en-US" dirty="0" err="1"/>
              <a:t>waitpid</a:t>
            </a:r>
            <a:r>
              <a:rPr lang="en-US" dirty="0"/>
              <a:t>(</a:t>
            </a:r>
            <a:r>
              <a:rPr lang="en-US" dirty="0" err="1"/>
              <a:t>pid</a:t>
            </a:r>
            <a:r>
              <a:rPr lang="en-US" dirty="0"/>
              <a:t>, ...)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7D9F97-ADEA-4BED-9589-B7FDCA806D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Windows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DFB518-F039-5E3A-3024-A29AF3C1B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67176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PID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DWORD) </a:t>
            </a:r>
            <a:r>
              <a:rPr lang="en-US" dirty="0" err="1"/>
              <a:t>идентифицирует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endParaRPr lang="ru-RU" dirty="0"/>
          </a:p>
          <a:p>
            <a:r>
              <a:rPr lang="en-US" dirty="0"/>
              <a:t>PID </a:t>
            </a:r>
            <a:r>
              <a:rPr lang="en-US" dirty="0" err="1"/>
              <a:t>возвращается</a:t>
            </a:r>
            <a:r>
              <a:rPr lang="en-US" dirty="0"/>
              <a:t> </a:t>
            </a:r>
            <a:r>
              <a:rPr lang="en-US" dirty="0" err="1"/>
              <a:t>CreateProcess</a:t>
            </a:r>
            <a:r>
              <a:rPr lang="en-US" dirty="0"/>
              <a:t>()</a:t>
            </a:r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HANDLE</a:t>
            </a:r>
            <a:endParaRPr lang="ru-RU" dirty="0"/>
          </a:p>
          <a:p>
            <a:pPr lvl="1"/>
            <a:r>
              <a:rPr lang="en-US" dirty="0" err="1"/>
              <a:t>WaitForSingleObject</a:t>
            </a:r>
            <a:r>
              <a:rPr lang="en-US" dirty="0"/>
              <a:t>(</a:t>
            </a:r>
            <a:r>
              <a:rPr lang="en-US" dirty="0" err="1"/>
              <a:t>hProcess</a:t>
            </a:r>
            <a:r>
              <a:rPr lang="en-US" dirty="0"/>
              <a:t>, ...)</a:t>
            </a:r>
            <a:endParaRPr lang="ru-RU" dirty="0"/>
          </a:p>
          <a:p>
            <a:pPr lvl="1"/>
            <a:r>
              <a:rPr lang="en-US" dirty="0" err="1"/>
              <a:t>GetExitCodeProcess</a:t>
            </a:r>
            <a:r>
              <a:rPr lang="en-US" dirty="0"/>
              <a:t>(</a:t>
            </a:r>
            <a:r>
              <a:rPr lang="en-US" dirty="0" err="1"/>
              <a:t>hProcess</a:t>
            </a:r>
            <a:r>
              <a:rPr lang="en-US" dirty="0"/>
              <a:t>, ...)</a:t>
            </a:r>
            <a:endParaRPr lang="ru-RU" dirty="0"/>
          </a:p>
          <a:p>
            <a:pPr lvl="1"/>
            <a:r>
              <a:rPr lang="en-US" dirty="0" err="1"/>
              <a:t>CloseHandle</a:t>
            </a:r>
            <a:r>
              <a:rPr lang="en-US" dirty="0"/>
              <a:t>(</a:t>
            </a:r>
            <a:r>
              <a:rPr lang="en-US" dirty="0" err="1"/>
              <a:t>hProcess</a:t>
            </a:r>
            <a:r>
              <a:rPr lang="en-US" dirty="0"/>
              <a:t>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131EA7-F3DC-0D4C-05EB-16A0FD3A38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612" y="5322888"/>
            <a:ext cx="10515600" cy="8239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PID — </a:t>
            </a:r>
            <a:r>
              <a:rPr lang="en-US" dirty="0" err="1"/>
              <a:t>идентификатор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endParaRPr lang="en-US" dirty="0"/>
          </a:p>
          <a:p>
            <a:r>
              <a:rPr lang="en-US" dirty="0"/>
              <a:t>HANDLE —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с </a:t>
            </a:r>
            <a:r>
              <a:rPr lang="en-US" dirty="0" err="1"/>
              <a:t>определёнными</a:t>
            </a:r>
            <a:r>
              <a:rPr lang="en-US" dirty="0"/>
              <a:t> </a:t>
            </a:r>
            <a:r>
              <a:rPr lang="en-US" dirty="0" err="1"/>
              <a:t>правами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317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AED3-5733-BFF3-B9F2-FE92E543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процессами в </a:t>
            </a:r>
            <a:r>
              <a:rPr lang="en-US" dirty="0"/>
              <a:t>Windows </a:t>
            </a:r>
            <a:r>
              <a:rPr lang="ru-RU" dirty="0"/>
              <a:t>и </a:t>
            </a:r>
            <a:r>
              <a:rPr lang="en-US" dirty="0"/>
              <a:t>Linux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17442B-1EC6-108A-8BCE-C0BCAE344E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821544"/>
              </p:ext>
            </p:extLst>
          </p:nvPr>
        </p:nvGraphicFramePr>
        <p:xfrm>
          <a:off x="838200" y="1825625"/>
          <a:ext cx="10515597" cy="468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>
                  <a:extLst>
                    <a:ext uri="{9D8B030D-6E8A-4147-A177-3AD203B41FA5}">
                      <a16:colId xmlns:a16="http://schemas.microsoft.com/office/drawing/2014/main" val="3418409072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3677673744"/>
                    </a:ext>
                  </a:extLst>
                </a:gridCol>
                <a:gridCol w="4343397">
                  <a:extLst>
                    <a:ext uri="{9D8B030D-6E8A-4147-A177-3AD203B41FA5}">
                      <a16:colId xmlns:a16="http://schemas.microsoft.com/office/drawing/2014/main" val="305203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Linux / UNIX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72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Основная единица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Процесс </a:t>
                      </a:r>
                      <a:r>
                        <a:rPr lang="en-US" dirty="0"/>
                        <a:t>(PID)</a:t>
                      </a:r>
                      <a:r>
                        <a:rPr lang="ru-RU" dirty="0"/>
                        <a:t> и поток (</a:t>
                      </a:r>
                      <a:r>
                        <a:rPr lang="en-US" dirty="0"/>
                        <a:t>TID)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Объекты ядра: процесс и поток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609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Идентификаторы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PID, TID, PPID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ID, Thread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15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Доступ к объекту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по </a:t>
                      </a:r>
                      <a:r>
                        <a:rPr lang="en-US" dirty="0"/>
                        <a:t>ID</a:t>
                      </a:r>
                      <a:r>
                        <a:rPr lang="ru-RU" dirty="0"/>
                        <a:t> через системные вызовы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Через дескрипторы </a:t>
                      </a:r>
                      <a:r>
                        <a:rPr lang="en-US" dirty="0"/>
                        <a:t>(HANDLE)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8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Создание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fork), exec*()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CreateProcess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CreateThread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058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Завершение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exit(), kill()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ExitProcess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TerminateProcess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ExitThread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076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Управление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kill, </a:t>
                      </a:r>
                      <a:r>
                        <a:rPr lang="en-US" dirty="0" err="1"/>
                        <a:t>waitpid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ptrace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</a:t>
                      </a:r>
                      <a:r>
                        <a:rPr lang="ru-RU" dirty="0"/>
                        <a:t> через </a:t>
                      </a:r>
                      <a:r>
                        <a:rPr lang="en-US" dirty="0"/>
                        <a:t>HANDLE: </a:t>
                      </a:r>
                      <a:r>
                        <a:rPr lang="ru-RU" dirty="0"/>
                        <a:t>ожидание, приоритеты, наследование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574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Потоки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Реализованы как лёгкие процессы (общая память)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Объекты ядра, отдельные </a:t>
                      </a:r>
                      <a:r>
                        <a:rPr lang="en-US" dirty="0"/>
                        <a:t>HANDLE </a:t>
                      </a:r>
                      <a:r>
                        <a:rPr lang="ru-RU" dirty="0"/>
                        <a:t>и </a:t>
                      </a:r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450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Безопасность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Контроль по </a:t>
                      </a:r>
                      <a:r>
                        <a:rPr lang="en-US" dirty="0"/>
                        <a:t>UID/GID</a:t>
                      </a:r>
                      <a:r>
                        <a:rPr lang="ru-RU" dirty="0"/>
                        <a:t> и правам доступа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Гранулярные права в </a:t>
                      </a:r>
                      <a:r>
                        <a:rPr lang="en-US" dirty="0"/>
                        <a:t>HANDLE</a:t>
                      </a:r>
                      <a:r>
                        <a:rPr lang="ru-RU" dirty="0"/>
                        <a:t>, контроль безопасности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520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095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F178FE-CCEF-EC6C-8170-D3C28383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</a:t>
            </a:r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программах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B4365-CF8C-467B-48C9-B1119AA85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1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7E300-08B5-645F-1020-56D350AE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с C++-</a:t>
            </a:r>
            <a:r>
              <a:rPr lang="en-US" dirty="0" err="1"/>
              <a:t>объектами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fork()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5178C6-D347-EBDB-EFAD-8C2F8726B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fork() </a:t>
            </a:r>
            <a:r>
              <a:rPr lang="en-US" dirty="0" err="1"/>
              <a:t>копирует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объекты</a:t>
            </a:r>
            <a:r>
              <a:rPr lang="en-US" dirty="0"/>
              <a:t> C++, </a:t>
            </a:r>
            <a:r>
              <a:rPr lang="en-US" dirty="0" err="1"/>
              <a:t>созданные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fork(); </a:t>
            </a:r>
          </a:p>
          <a:p>
            <a:pPr lvl="1"/>
            <a:r>
              <a:rPr lang="en-US" dirty="0" err="1"/>
              <a:t>буферы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. </a:t>
            </a:r>
          </a:p>
          <a:p>
            <a:r>
              <a:rPr lang="en-US" dirty="0" err="1"/>
              <a:t>до</a:t>
            </a:r>
            <a:r>
              <a:rPr lang="en-US" dirty="0"/>
              <a:t> fork():    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fork():</a:t>
            </a:r>
            <a:endParaRPr lang="ru-RU" dirty="0"/>
          </a:p>
          <a:p>
            <a:pPr lvl="1"/>
            <a:r>
              <a:rPr lang="en-US" dirty="0"/>
              <a:t>parent — </a:t>
            </a:r>
            <a:r>
              <a:rPr lang="en-US" dirty="0" err="1"/>
              <a:t>копия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endParaRPr lang="ru-RU" dirty="0"/>
          </a:p>
          <a:p>
            <a:pPr lvl="1"/>
            <a:r>
              <a:rPr lang="en-US" dirty="0"/>
              <a:t>child  — </a:t>
            </a:r>
            <a:r>
              <a:rPr lang="en-US" dirty="0" err="1"/>
              <a:t>копия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endParaRPr lang="en-US" dirty="0"/>
          </a:p>
          <a:p>
            <a:r>
              <a:rPr lang="en-US" dirty="0" err="1"/>
              <a:t>Конструкторы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вызываются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Дальше</a:t>
            </a:r>
            <a:r>
              <a:rPr lang="en-US" dirty="0"/>
              <a:t> parent и child </a:t>
            </a:r>
            <a:r>
              <a:rPr lang="en-US" dirty="0" err="1"/>
              <a:t>живут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510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2C89-1958-5612-F0A6-B551C97D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56C4-7015-4AC0-908C-434A7D566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После</a:t>
            </a:r>
            <a:r>
              <a:rPr lang="en-US" dirty="0"/>
              <a:t> fork()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копии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действовать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внешний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</a:t>
            </a:r>
          </a:p>
          <a:p>
            <a:r>
              <a:rPr lang="en-US" dirty="0" err="1"/>
              <a:t>Типичные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буферизированный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→ </a:t>
            </a:r>
            <a:r>
              <a:rPr lang="en-US" dirty="0" err="1"/>
              <a:t>дублирование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временный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→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пытаются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lock-</a:t>
            </a:r>
            <a:r>
              <a:rPr lang="en-US" dirty="0" err="1"/>
              <a:t>файл</a:t>
            </a:r>
            <a:r>
              <a:rPr lang="en-US" dirty="0"/>
              <a:t> →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меняют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сокет</a:t>
            </a:r>
            <a:r>
              <a:rPr lang="en-US" dirty="0"/>
              <a:t> / БД →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соединение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лог-файл</a:t>
            </a:r>
            <a:r>
              <a:rPr lang="en-US" dirty="0"/>
              <a:t> → </a:t>
            </a:r>
            <a:r>
              <a:rPr lang="en-US" dirty="0" err="1"/>
              <a:t>конкурентная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. </a:t>
            </a:r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риск</a:t>
            </a:r>
            <a:r>
              <a:rPr lang="en-US" dirty="0"/>
              <a:t>: </a:t>
            </a:r>
            <a:r>
              <a:rPr lang="en-US" dirty="0" err="1"/>
              <a:t>копируется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внешний</a:t>
            </a:r>
            <a:r>
              <a:rPr lang="en-US" dirty="0"/>
              <a:t> </a:t>
            </a:r>
            <a:r>
              <a:rPr lang="en-US" dirty="0" err="1"/>
              <a:t>мир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общим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63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5067-CB85-176A-9908-29BEAC7D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Практическое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: fork() → </a:t>
            </a:r>
            <a:r>
              <a:rPr lang="en-US" dirty="0" err="1"/>
              <a:t>минимальная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→ exec() </a:t>
            </a:r>
            <a:r>
              <a:rPr lang="en-US" dirty="0" err="1"/>
              <a:t>или</a:t>
            </a:r>
            <a:r>
              <a:rPr lang="en-US" dirty="0"/>
              <a:t> _exit()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A9F5E-E78F-E230-8998-4D75C204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38333" cy="4351338"/>
          </a:xfrm>
        </p:spPr>
        <p:txBody>
          <a:bodyPr>
            <a:normAutofit/>
          </a:bodyPr>
          <a:lstStyle/>
          <a:p>
            <a:r>
              <a:rPr lang="en-US" dirty="0" err="1"/>
              <a:t>Практические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перед</a:t>
            </a:r>
            <a:r>
              <a:rPr lang="en-US" dirty="0"/>
              <a:t> fork() </a:t>
            </a:r>
            <a:r>
              <a:rPr lang="en-US" dirty="0" err="1"/>
              <a:t>сбросить</a:t>
            </a:r>
            <a:r>
              <a:rPr lang="en-US" dirty="0"/>
              <a:t> </a:t>
            </a:r>
            <a:r>
              <a:rPr lang="en-US" dirty="0" err="1"/>
              <a:t>буферы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в child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сложную</a:t>
            </a:r>
            <a:r>
              <a:rPr lang="en-US" dirty="0"/>
              <a:t> C++-</a:t>
            </a:r>
            <a:r>
              <a:rPr lang="en-US" dirty="0" err="1"/>
              <a:t>логику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—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exec(); </a:t>
            </a:r>
          </a:p>
          <a:p>
            <a:pPr lvl="1"/>
            <a:r>
              <a:rPr lang="en-US" dirty="0" err="1"/>
              <a:t>если</a:t>
            </a:r>
            <a:r>
              <a:rPr lang="en-US" dirty="0"/>
              <a:t> exec()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сработал</a:t>
            </a:r>
            <a:r>
              <a:rPr lang="en-US" dirty="0"/>
              <a:t> — </a:t>
            </a:r>
            <a:r>
              <a:rPr lang="en-US" dirty="0" err="1"/>
              <a:t>завершать</a:t>
            </a:r>
            <a:r>
              <a:rPr lang="en-US" dirty="0"/>
              <a:t> child </a:t>
            </a:r>
            <a:r>
              <a:rPr lang="en-US" dirty="0" err="1"/>
              <a:t>через</a:t>
            </a:r>
            <a:r>
              <a:rPr lang="en-US" dirty="0"/>
              <a:t> _exit(); </a:t>
            </a:r>
          </a:p>
          <a:p>
            <a:pPr lvl="1"/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внешними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1A2C4-776A-C02F-4904-39E8BC30E1D6}"/>
              </a:ext>
            </a:extLst>
          </p:cNvPr>
          <p:cNvSpPr txBox="1"/>
          <p:nvPr/>
        </p:nvSpPr>
        <p:spPr>
          <a:xfrm>
            <a:off x="6976532" y="1911235"/>
            <a:ext cx="48598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pid_t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child: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только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минимальная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настройка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dup2(), close(),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изменение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окружения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execvp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_exit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exec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сработал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8112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832109-51F7-109C-C579-F7735BBC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Завершение процесса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EBCDFB-B22D-0EF5-1ABD-0D6736A2A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49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EAC06E-3BAA-912C-D4B3-8626C4B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503EF9-F70B-4F98-E1FA-BA6D18EB8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нормально</a:t>
            </a:r>
            <a:r>
              <a:rPr lang="en-US" dirty="0"/>
              <a:t> —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выполнена</a:t>
            </a:r>
            <a:r>
              <a:rPr lang="en-US" dirty="0"/>
              <a:t>, </a:t>
            </a:r>
            <a:r>
              <a:rPr lang="en-US" dirty="0" err="1"/>
              <a:t>возвращён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0; </a:t>
            </a:r>
          </a:p>
          <a:p>
            <a:pPr lvl="1"/>
            <a:r>
              <a:rPr lang="en-US" dirty="0"/>
              <a:t>с </a:t>
            </a:r>
            <a:r>
              <a:rPr lang="en-US" dirty="0" err="1"/>
              <a:t>ошибкой</a:t>
            </a:r>
            <a:r>
              <a:rPr lang="en-US" dirty="0"/>
              <a:t> —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завершилась</a:t>
            </a:r>
            <a:r>
              <a:rPr lang="en-US" dirty="0"/>
              <a:t> с </a:t>
            </a:r>
            <a:r>
              <a:rPr lang="en-US" dirty="0" err="1"/>
              <a:t>ненулевым</a:t>
            </a:r>
            <a:r>
              <a:rPr lang="en-US" dirty="0"/>
              <a:t> </a:t>
            </a:r>
            <a:r>
              <a:rPr lang="en-US" dirty="0" err="1"/>
              <a:t>кодом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фатальной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SIGSEGV, </a:t>
            </a:r>
            <a:r>
              <a:rPr lang="en-US" dirty="0" err="1"/>
              <a:t>деление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внешнему</a:t>
            </a:r>
            <a:r>
              <a:rPr lang="en-US" dirty="0"/>
              <a:t> </a:t>
            </a:r>
            <a:r>
              <a:rPr lang="en-US" dirty="0" err="1"/>
              <a:t>запросу</a:t>
            </a:r>
            <a:r>
              <a:rPr lang="en-US" dirty="0"/>
              <a:t> —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ОС. 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ОС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доступен</a:t>
            </a:r>
            <a:r>
              <a:rPr lang="en-US" dirty="0"/>
              <a:t> </a:t>
            </a:r>
            <a:r>
              <a:rPr lang="en-US" dirty="0" err="1"/>
              <a:t>родителю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1867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A3FC-2C55-A46F-14B9-76DA8D88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статус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7742-2069-C37A-378E-8A019A421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В UNIX </a:t>
            </a:r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wait()</a:t>
            </a:r>
          </a:p>
          <a:p>
            <a:pPr lvl="1"/>
            <a:r>
              <a:rPr lang="en-US" dirty="0" err="1"/>
              <a:t>waitpid</a:t>
            </a:r>
            <a:r>
              <a:rPr lang="en-US" dirty="0"/>
              <a:t>()</a:t>
            </a:r>
          </a:p>
          <a:p>
            <a:r>
              <a:rPr lang="en-US" dirty="0" err="1"/>
              <a:t>Статус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завершился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прерван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передан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завершён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 </a:t>
            </a:r>
          </a:p>
          <a:p>
            <a:r>
              <a:rPr lang="ru-RU" dirty="0"/>
              <a:t>Макросы:</a:t>
            </a:r>
          </a:p>
          <a:p>
            <a:pPr lvl="1"/>
            <a:r>
              <a:rPr lang="en-US" dirty="0"/>
              <a:t>WIFEXITED(status)</a:t>
            </a:r>
          </a:p>
          <a:p>
            <a:pPr lvl="1"/>
            <a:r>
              <a:rPr lang="en-US" dirty="0"/>
              <a:t>WEXITSTATUS(status)</a:t>
            </a:r>
          </a:p>
          <a:p>
            <a:pPr lvl="1"/>
            <a:r>
              <a:rPr lang="en-US" dirty="0"/>
              <a:t>WIFSIGNALED(status)</a:t>
            </a:r>
          </a:p>
          <a:p>
            <a:pPr lvl="1"/>
            <a:r>
              <a:rPr lang="en-US" dirty="0"/>
              <a:t>WTERMSIG(status)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486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F3C0-C809-DD8C-9366-6DA80B3CF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Zombie-</a:t>
            </a:r>
            <a:r>
              <a:rPr lang="en-US" dirty="0" err="1"/>
              <a:t>процесс</a:t>
            </a:r>
            <a:r>
              <a:rPr lang="en-US" dirty="0"/>
              <a:t> в UNIX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AB7A6-74A6-487A-A166-3E40592083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Zombie —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завершился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вызвал</a:t>
            </a:r>
            <a:r>
              <a:rPr lang="en-US" dirty="0"/>
              <a:t> wait() / </a:t>
            </a:r>
            <a:r>
              <a:rPr lang="en-US" dirty="0" err="1"/>
              <a:t>waitpid</a:t>
            </a:r>
            <a:r>
              <a:rPr lang="en-US" dirty="0"/>
              <a:t>().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освободил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память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выполняемый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 </a:t>
            </a:r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PID; </a:t>
            </a:r>
          </a:p>
          <a:p>
            <a:pPr lvl="1"/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 </a:t>
            </a:r>
          </a:p>
          <a:p>
            <a:r>
              <a:rPr lang="en-US" dirty="0"/>
              <a:t>В </a:t>
            </a:r>
            <a:r>
              <a:rPr lang="en-US" dirty="0" err="1"/>
              <a:t>ps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обозначается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Z.</a:t>
            </a:r>
          </a:p>
          <a:p>
            <a:endParaRPr lang="en-US" dirty="0"/>
          </a:p>
        </p:txBody>
      </p:sp>
      <p:pic>
        <p:nvPicPr>
          <p:cNvPr id="6" name="Content Placeholder 5" descr="A group of cartoon zombie men&#10;&#10;AI-generated content may be incorrect.">
            <a:extLst>
              <a:ext uri="{FF2B5EF4-FFF2-40B4-BE49-F238E27FC236}">
                <a16:creationId xmlns:a16="http://schemas.microsoft.com/office/drawing/2014/main" id="{B5B7DB29-F1C8-14D8-B361-5F91261871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89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6D28-93F7-27EA-DE2F-9BCD5A48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Reaping и </a:t>
            </a:r>
            <a:r>
              <a:rPr lang="en-US" dirty="0" err="1"/>
              <a:t>аналог</a:t>
            </a:r>
            <a:r>
              <a:rPr lang="en-US" dirty="0"/>
              <a:t> в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2E4CE-9EE0-1129-B4A9-A14FCE8725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в UNIX:</a:t>
            </a:r>
          </a:p>
          <a:p>
            <a:pPr lvl="1"/>
            <a:r>
              <a:rPr lang="en-US" dirty="0"/>
              <a:t>Running -&gt; exit / signal -&gt; Zombie -&gt; </a:t>
            </a:r>
            <a:r>
              <a:rPr lang="en-US" dirty="0" err="1"/>
              <a:t>waitpid</a:t>
            </a:r>
            <a:endParaRPr lang="en-US" dirty="0"/>
          </a:p>
          <a:p>
            <a:pPr lvl="1"/>
            <a:r>
              <a:rPr lang="en-US" dirty="0" err="1"/>
              <a:t>удал</a:t>
            </a:r>
            <a:r>
              <a:rPr lang="ru-RU" dirty="0" err="1"/>
              <a:t>ение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ru-RU" dirty="0"/>
              <a:t> (</a:t>
            </a:r>
            <a:r>
              <a:rPr lang="en-US" dirty="0"/>
              <a:t>reaping)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waitpid</a:t>
            </a:r>
            <a:r>
              <a:rPr lang="en-US" dirty="0"/>
              <a:t>():</a:t>
            </a:r>
          </a:p>
          <a:p>
            <a:pPr lvl="1"/>
            <a:r>
              <a:rPr lang="en-US" dirty="0"/>
              <a:t>zombie </a:t>
            </a:r>
            <a:r>
              <a:rPr lang="en-US" dirty="0" err="1"/>
              <a:t>остаётся</a:t>
            </a:r>
            <a:r>
              <a:rPr lang="en-US" dirty="0"/>
              <a:t> в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PID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переиспользован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большом</a:t>
            </a:r>
            <a:r>
              <a:rPr lang="en-US" dirty="0"/>
              <a:t> </a:t>
            </a:r>
            <a:r>
              <a:rPr lang="en-US" dirty="0" err="1"/>
              <a:t>количестве</a:t>
            </a:r>
            <a:r>
              <a:rPr lang="en-US" dirty="0"/>
              <a:t> zombie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утечка</a:t>
            </a:r>
            <a:r>
              <a:rPr lang="en-US" dirty="0"/>
              <a:t> </a:t>
            </a:r>
            <a:r>
              <a:rPr lang="en-US" dirty="0" err="1"/>
              <a:t>записей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Если родитель завершил работу, дочерние процессы переходя к процессу </a:t>
            </a:r>
            <a:r>
              <a:rPr lang="en-US" b="1" dirty="0" err="1"/>
              <a:t>init</a:t>
            </a:r>
            <a:r>
              <a:rPr lang="en-US" dirty="0"/>
              <a:t> (PID=1)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F2818-50BD-3461-78D3-16E4505F19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В Windows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прямого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 zombie:</a:t>
            </a:r>
          </a:p>
          <a:p>
            <a:pPr lvl="1"/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открытые</a:t>
            </a:r>
            <a:r>
              <a:rPr lang="en-US" dirty="0"/>
              <a:t> HANDLE; </a:t>
            </a:r>
          </a:p>
          <a:p>
            <a:pPr lvl="1"/>
            <a:r>
              <a:rPr lang="en-US" dirty="0" err="1"/>
              <a:t>статус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GetExitCodeProcess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WaitForSingleObject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925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2D72D9-0615-D926-8E1D-5CA843B6A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Долгоживущие фоновые процессы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BA920-1A5C-9F5C-E5A3-683D9FA7B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23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698FD9-2FB9-0F3C-54E3-469019A0E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Долгоживущие</a:t>
            </a:r>
            <a:r>
              <a:rPr lang="en-US" dirty="0"/>
              <a:t> </a:t>
            </a:r>
            <a:r>
              <a:rPr lang="en-US" dirty="0" err="1"/>
              <a:t>фоновые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12A291-1E24-E5F7-E1D3-A92C905DF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живут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схеме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запуск</a:t>
            </a:r>
            <a:r>
              <a:rPr lang="en-US" dirty="0"/>
              <a:t> →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→ </a:t>
            </a:r>
            <a:r>
              <a:rPr lang="en-US" dirty="0" err="1"/>
              <a:t>завершение</a:t>
            </a:r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запускаются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старте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требованию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требуют</a:t>
            </a:r>
            <a:r>
              <a:rPr lang="en-US" dirty="0"/>
              <a:t> </a:t>
            </a:r>
            <a:r>
              <a:rPr lang="en-US" dirty="0" err="1"/>
              <a:t>постоянного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</a:t>
            </a:r>
            <a:r>
              <a:rPr lang="en-US" dirty="0" err="1"/>
              <a:t>пользователем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обслуживают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 </a:t>
            </a:r>
          </a:p>
          <a:p>
            <a:r>
              <a:rPr lang="ru-RU" dirty="0"/>
              <a:t>В </a:t>
            </a:r>
            <a:r>
              <a:rPr lang="en-US" dirty="0"/>
              <a:t>UNIX/Linux </a:t>
            </a:r>
            <a:r>
              <a:rPr lang="ru-RU" dirty="0"/>
              <a:t>такие процессы называются</a:t>
            </a:r>
            <a:r>
              <a:rPr lang="en-US" dirty="0"/>
              <a:t> daemon</a:t>
            </a:r>
            <a:endParaRPr lang="ru-RU" dirty="0"/>
          </a:p>
          <a:p>
            <a:r>
              <a:rPr lang="ru-RU" dirty="0"/>
              <a:t>В </a:t>
            </a:r>
            <a:r>
              <a:rPr lang="en-US" dirty="0"/>
              <a:t>Windows</a:t>
            </a:r>
            <a:r>
              <a:rPr lang="ru-RU" dirty="0"/>
              <a:t> –</a:t>
            </a:r>
            <a:r>
              <a:rPr lang="en-US" dirty="0"/>
              <a:t> service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66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55AB06-D375-8804-393D-627A762B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daemon: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B34B60-95D0-602E-AEA3-F8FF7B6E6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Daemon в UNIX/Linux </a:t>
            </a:r>
            <a:r>
              <a:rPr lang="en-US" dirty="0" err="1"/>
              <a:t>обычно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dirty="0" err="1"/>
              <a:t>фоне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управляющего</a:t>
            </a:r>
            <a:r>
              <a:rPr lang="en-US" dirty="0"/>
              <a:t> </a:t>
            </a:r>
            <a:r>
              <a:rPr lang="en-US" dirty="0" err="1"/>
              <a:t>терминала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пишет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в </a:t>
            </a:r>
            <a:r>
              <a:rPr lang="en-US" dirty="0" err="1"/>
              <a:t>журнал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консоль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системным</a:t>
            </a:r>
            <a:r>
              <a:rPr lang="en-US" dirty="0"/>
              <a:t> </a:t>
            </a:r>
            <a:r>
              <a:rPr lang="en-US" dirty="0" err="1"/>
              <a:t>менеджером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старте</a:t>
            </a:r>
            <a:r>
              <a:rPr lang="en-US" dirty="0"/>
              <a:t> ОС; </a:t>
            </a:r>
          </a:p>
          <a:p>
            <a:pPr lvl="1"/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реагирует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управляющие</a:t>
            </a:r>
            <a:r>
              <a:rPr lang="en-US" dirty="0"/>
              <a:t> </a:t>
            </a:r>
            <a:r>
              <a:rPr lang="en-US" dirty="0" err="1"/>
              <a:t>сигналы</a:t>
            </a:r>
            <a:r>
              <a:rPr lang="en-US" dirty="0"/>
              <a:t>. </a:t>
            </a:r>
          </a:p>
          <a:p>
            <a:r>
              <a:rPr lang="en-US" dirty="0" err="1"/>
              <a:t>Примеры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sshd</a:t>
            </a:r>
            <a:r>
              <a:rPr lang="en-US" dirty="0"/>
              <a:t>, </a:t>
            </a:r>
            <a:r>
              <a:rPr lang="en-US" dirty="0" err="1"/>
              <a:t>cron</a:t>
            </a:r>
            <a:r>
              <a:rPr lang="en-US" dirty="0"/>
              <a:t>, </a:t>
            </a:r>
            <a:r>
              <a:rPr lang="en-US" dirty="0" err="1"/>
              <a:t>systemd-journald</a:t>
            </a:r>
            <a:r>
              <a:rPr lang="en-US" dirty="0"/>
              <a:t>, nginx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70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2D33-A597-7653-099E-2B3EC2135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daemon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AF81D-EA5C-1128-3265-4BC07B3CC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Классическая</a:t>
            </a:r>
            <a:r>
              <a:rPr lang="en-US" dirty="0"/>
              <a:t> </a:t>
            </a:r>
            <a:r>
              <a:rPr lang="en-US" dirty="0" err="1"/>
              <a:t>daemonization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fork()</a:t>
            </a:r>
          </a:p>
          <a:p>
            <a:pPr lvl="1"/>
            <a:r>
              <a:rPr lang="en-US" dirty="0"/>
              <a:t>parent </a:t>
            </a:r>
            <a:r>
              <a:rPr lang="en-US" dirty="0" err="1"/>
              <a:t>завершается</a:t>
            </a:r>
            <a:endParaRPr lang="en-US" dirty="0"/>
          </a:p>
          <a:p>
            <a:pPr lvl="1"/>
            <a:r>
              <a:rPr lang="en-US" dirty="0" err="1"/>
              <a:t>setsid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отсоединение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терминала</a:t>
            </a:r>
            <a:endParaRPr lang="en-US" dirty="0"/>
          </a:p>
          <a:p>
            <a:pPr lvl="1"/>
            <a:r>
              <a:rPr lang="en-US" dirty="0" err="1"/>
              <a:t>настройка</a:t>
            </a:r>
            <a:r>
              <a:rPr lang="en-US" dirty="0"/>
              <a:t> </a:t>
            </a:r>
            <a:r>
              <a:rPr lang="en-US" dirty="0" err="1"/>
              <a:t>cwd</a:t>
            </a:r>
            <a:r>
              <a:rPr lang="en-US" dirty="0"/>
              <a:t>, </a:t>
            </a:r>
            <a:r>
              <a:rPr lang="en-US" dirty="0" err="1"/>
              <a:t>umask</a:t>
            </a:r>
            <a:endParaRPr lang="en-US" dirty="0"/>
          </a:p>
          <a:p>
            <a:pPr lvl="1"/>
            <a:r>
              <a:rPr lang="en-US" dirty="0" err="1"/>
              <a:t>закрытие</a:t>
            </a:r>
            <a:r>
              <a:rPr lang="en-US" dirty="0"/>
              <a:t> stdin/</a:t>
            </a:r>
            <a:r>
              <a:rPr lang="en-US" dirty="0" err="1"/>
              <a:t>stdout</a:t>
            </a:r>
            <a:r>
              <a:rPr lang="en-US" dirty="0"/>
              <a:t>/stderr</a:t>
            </a:r>
          </a:p>
          <a:p>
            <a:pPr lvl="1"/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сервиса</a:t>
            </a:r>
            <a:endParaRPr lang="en-US" dirty="0"/>
          </a:p>
          <a:p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второй</a:t>
            </a:r>
            <a:r>
              <a:rPr lang="en-US" dirty="0"/>
              <a:t> fork(); </a:t>
            </a:r>
          </a:p>
          <a:p>
            <a:pPr lvl="1"/>
            <a:r>
              <a:rPr lang="en-US" dirty="0"/>
              <a:t>PID-</a:t>
            </a:r>
            <a:r>
              <a:rPr lang="en-US" dirty="0" err="1"/>
              <a:t>файл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обработка</a:t>
            </a:r>
            <a:r>
              <a:rPr lang="en-US" dirty="0"/>
              <a:t> SIGTERM; </a:t>
            </a:r>
          </a:p>
          <a:p>
            <a:pPr lvl="1"/>
            <a:r>
              <a:rPr lang="en-US" dirty="0" err="1"/>
              <a:t>переоткрытие</a:t>
            </a:r>
            <a:r>
              <a:rPr lang="en-US" dirty="0"/>
              <a:t> </a:t>
            </a:r>
            <a:r>
              <a:rPr lang="en-US" dirty="0" err="1"/>
              <a:t>логов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SIGHUP.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886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9BD8B8-77DE-9146-F8BB-DF9745B5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Простейший демон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880065-5FBE-ED39-79E4-7933C5BC9864}"/>
              </a:ext>
            </a:extLst>
          </p:cNvPr>
          <p:cNvSpPr txBox="1"/>
          <p:nvPr/>
        </p:nvSpPr>
        <p:spPr>
          <a:xfrm>
            <a:off x="838200" y="1690688"/>
            <a:ext cx="10515599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pid_t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Завершаем родителя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Новый сессионный лидер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chdir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Работаем из корня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umask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027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Маска прав для создаваемых файлов (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rw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-r-----)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(STDIN_FILENO);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(STDOUT_FILENO);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(STDERR_FILENO);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/dev/null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O_RDONLY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/dev/null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O_WRONLY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/dev/null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O_WRONLY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(;;) {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Основная работа демона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2958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FC1A-017B-5C1A-36E8-0CE65FCD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Современный</a:t>
            </a:r>
            <a:r>
              <a:rPr lang="en-US" dirty="0"/>
              <a:t> Linux: </a:t>
            </a:r>
            <a:r>
              <a:rPr lang="en-US" dirty="0" err="1"/>
              <a:t>systemd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77A70E-2021-7FD3-C5AA-F35EF1C99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825" y="1825625"/>
            <a:ext cx="88923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24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01CC-5252-97A4-7CB1-CDE68981A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00925-136E-8B7C-78F1-72C7DE9F5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Windows Service — </a:t>
            </a:r>
            <a:r>
              <a:rPr lang="en-US" dirty="0" err="1"/>
              <a:t>фоновый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управляемый</a:t>
            </a:r>
            <a:r>
              <a:rPr lang="en-US" dirty="0"/>
              <a:t> </a:t>
            </a:r>
            <a:r>
              <a:rPr lang="en-US" b="1" dirty="0"/>
              <a:t>Service Control Manager</a:t>
            </a:r>
            <a:r>
              <a:rPr lang="en-US" dirty="0"/>
              <a:t>.</a:t>
            </a:r>
          </a:p>
          <a:p>
            <a:r>
              <a:rPr lang="en-US" dirty="0"/>
              <a:t>SCM:</a:t>
            </a:r>
          </a:p>
          <a:p>
            <a:pPr lvl="1"/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службу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останавливает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управляющие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отслеживает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настроить</a:t>
            </a:r>
            <a:r>
              <a:rPr lang="en-US" dirty="0"/>
              <a:t> </a:t>
            </a:r>
            <a:r>
              <a:rPr lang="en-US" dirty="0" err="1"/>
              <a:t>автозапуск</a:t>
            </a:r>
            <a:r>
              <a:rPr lang="en-US" dirty="0"/>
              <a:t> и </a:t>
            </a:r>
            <a:r>
              <a:rPr lang="en-US" dirty="0" err="1"/>
              <a:t>перезапуск</a:t>
            </a:r>
            <a:r>
              <a:rPr lang="en-US" dirty="0"/>
              <a:t>. </a:t>
            </a:r>
          </a:p>
          <a:p>
            <a:r>
              <a:rPr lang="en-US" dirty="0" err="1"/>
              <a:t>Типичные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START_PENDING → RUNNING → STOP_PENDING → STOPPED</a:t>
            </a:r>
          </a:p>
          <a:p>
            <a:r>
              <a:rPr lang="en-US" dirty="0" err="1"/>
              <a:t>Ключевая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служба</a:t>
            </a:r>
            <a:r>
              <a:rPr lang="en-US" dirty="0"/>
              <a:t> — </a:t>
            </a:r>
            <a:r>
              <a:rPr lang="en-US" dirty="0" err="1"/>
              <a:t>обычный</a:t>
            </a:r>
            <a:r>
              <a:rPr lang="en-US" dirty="0"/>
              <a:t> EXE,</a:t>
            </a:r>
          </a:p>
          <a:p>
            <a:pPr lvl="1"/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запущенный</a:t>
            </a:r>
            <a:r>
              <a:rPr lang="en-US" dirty="0"/>
              <a:t> и </a:t>
            </a:r>
            <a:r>
              <a:rPr lang="en-US" dirty="0" err="1"/>
              <a:t>управляемый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SCM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11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4F6E53-5B80-C6A4-96C2-1575F223A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3478" y="63867"/>
            <a:ext cx="8487227" cy="56581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441107-1C4F-7881-150B-5A8D74B5091F}"/>
              </a:ext>
            </a:extLst>
          </p:cNvPr>
          <p:cNvSpPr txBox="1"/>
          <p:nvPr/>
        </p:nvSpPr>
        <p:spPr>
          <a:xfrm>
            <a:off x="1873478" y="5870803"/>
            <a:ext cx="8487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– Почему </a:t>
            </a:r>
            <a:r>
              <a:rPr lang="en-US" dirty="0"/>
              <a:t>Windows – </a:t>
            </a:r>
            <a:r>
              <a:rPr lang="ru-RU" dirty="0"/>
              <a:t>самая православная ОС, а </a:t>
            </a:r>
            <a:r>
              <a:rPr lang="en-US" dirty="0"/>
              <a:t>UNIX – </a:t>
            </a:r>
            <a:r>
              <a:rPr lang="ru-RU" dirty="0"/>
              <a:t>порождение Сатаны</a:t>
            </a:r>
            <a:r>
              <a:rPr lang="en-US" dirty="0"/>
              <a:t>?</a:t>
            </a:r>
          </a:p>
          <a:p>
            <a:r>
              <a:rPr lang="ru-RU" dirty="0"/>
              <a:t>– Потому что в </a:t>
            </a:r>
            <a:r>
              <a:rPr lang="en-US" dirty="0"/>
              <a:t>Windows – </a:t>
            </a:r>
            <a:r>
              <a:rPr lang="ru-RU" dirty="0"/>
              <a:t>иконы и службы, а в </a:t>
            </a:r>
            <a:r>
              <a:rPr lang="en-US" dirty="0"/>
              <a:t>UNIX – </a:t>
            </a:r>
            <a:r>
              <a:rPr lang="ru-RU" dirty="0"/>
              <a:t>демоны и </a:t>
            </a:r>
            <a:r>
              <a:rPr lang="en-US" dirty="0"/>
              <a:t>Zombie.</a:t>
            </a:r>
            <a:r>
              <a:rPr lang="ru-RU" dirty="0"/>
              <a:t>»</a:t>
            </a:r>
            <a:endParaRPr lang="en-US" dirty="0"/>
          </a:p>
          <a:p>
            <a:pPr algn="r"/>
            <a:r>
              <a:rPr lang="ru-RU" dirty="0"/>
              <a:t>Отто Фон Бисмарк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979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E7422A-4088-400F-9788-61FBE2DE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процессов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2DA51-BCD5-4535-4329-F012FCD19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22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2B6972-6939-978A-D44E-D34A8FFD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процессов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0AD63E-51D5-0B84-47A2-9593CFBEF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Родитель может порождать детей → дерево процессов</a:t>
            </a:r>
          </a:p>
          <a:p>
            <a:r>
              <a:rPr lang="ru-RU" dirty="0"/>
              <a:t>У каждого процесса один родитель, но может быть много детей</a:t>
            </a:r>
          </a:p>
          <a:p>
            <a:r>
              <a:rPr lang="ru-RU" dirty="0"/>
              <a:t>Ассоциации: «семья» процессов (группы, деревья)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895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0DAC1-31A6-2DBD-03B2-0A912BCA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UNIX:</a:t>
            </a:r>
            <a:r>
              <a:rPr lang="ru-RU" dirty="0"/>
              <a:t> дерево процессов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B814-0514-E59B-8D31-F5D192878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процессы происходят от </a:t>
            </a:r>
            <a:r>
              <a:rPr lang="ru-RU" dirty="0" err="1"/>
              <a:t>init</a:t>
            </a:r>
            <a:r>
              <a:rPr lang="ru-RU" dirty="0"/>
              <a:t> (PID 1)</a:t>
            </a:r>
          </a:p>
          <a:p>
            <a:r>
              <a:rPr lang="ru-RU" dirty="0" err="1"/>
              <a:t>init</a:t>
            </a:r>
            <a:r>
              <a:rPr lang="ru-RU" dirty="0"/>
              <a:t> запускает процессы для терминалов → </a:t>
            </a:r>
            <a:r>
              <a:rPr lang="ru-RU" dirty="0" err="1"/>
              <a:t>login</a:t>
            </a:r>
            <a:r>
              <a:rPr lang="ru-RU" dirty="0"/>
              <a:t> → </a:t>
            </a:r>
            <a:r>
              <a:rPr lang="ru-RU" dirty="0" err="1"/>
              <a:t>shell</a:t>
            </a:r>
            <a:endParaRPr lang="ru-RU" dirty="0"/>
          </a:p>
          <a:p>
            <a:r>
              <a:rPr lang="ru-RU" dirty="0"/>
              <a:t>Shell создаёт дочерние процессы (команды)</a:t>
            </a:r>
          </a:p>
          <a:p>
            <a:r>
              <a:rPr lang="ru-RU" dirty="0"/>
              <a:t>Процесс-группы: сигнал (Ctrl-C) посылается всей группе</a:t>
            </a:r>
          </a:p>
          <a:p>
            <a:r>
              <a:rPr lang="ru-RU" dirty="0"/>
              <a:t>Иерархия жёстко сохраняется</a:t>
            </a:r>
          </a:p>
        </p:txBody>
      </p:sp>
    </p:spTree>
    <p:extLst>
      <p:ext uri="{BB962C8B-B14F-4D97-AF65-F5344CB8AC3E}">
        <p14:creationId xmlns:p14="http://schemas.microsoft.com/office/powerpoint/2010/main" val="7338099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371FD-281D-6065-D5BF-A61E13F5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Процессы в </a:t>
            </a:r>
            <a:r>
              <a:rPr lang="en-US" dirty="0"/>
              <a:t>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ABF66-36CF-D77A-8CDB-AF4C57FB3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процессы равны, нет дерева как в UNIX</a:t>
            </a:r>
          </a:p>
          <a:p>
            <a:r>
              <a:rPr lang="ru-RU" dirty="0"/>
              <a:t>Родитель получает HANDLE ребёнка при создании</a:t>
            </a:r>
          </a:p>
          <a:p>
            <a:r>
              <a:rPr lang="ru-RU" dirty="0"/>
              <a:t>HANDLE можно передать другому процессу → иерархия теряется</a:t>
            </a:r>
          </a:p>
          <a:p>
            <a:r>
              <a:rPr lang="ru-RU" dirty="0"/>
              <a:t>Нет концепции процесс-групп по аналогии с UNIX</a:t>
            </a:r>
          </a:p>
        </p:txBody>
      </p:sp>
    </p:spTree>
    <p:extLst>
      <p:ext uri="{BB962C8B-B14F-4D97-AF65-F5344CB8AC3E}">
        <p14:creationId xmlns:p14="http://schemas.microsoft.com/office/powerpoint/2010/main" val="2724283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564D2C-F1AE-2E25-CCAE-351041C92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Состояния процесса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381E5-3851-01AE-6F59-E3404A73A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61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48A26-B7E4-5A37-5660-6666AD4F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E12796-D46A-9D38-78E2-D5F6B4F2A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Состояние</a:t>
            </a:r>
            <a:r>
              <a:rPr lang="en-US" b="1" dirty="0"/>
              <a:t> </a:t>
            </a:r>
            <a:r>
              <a:rPr lang="en-US" b="1" dirty="0" err="1"/>
              <a:t>процесса</a:t>
            </a:r>
            <a:r>
              <a:rPr lang="en-US" b="1" dirty="0"/>
              <a:t> </a:t>
            </a:r>
            <a:r>
              <a:rPr lang="en-US" b="1" dirty="0" err="1"/>
              <a:t>отвечает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вопрос</a:t>
            </a:r>
            <a:r>
              <a:rPr lang="en-US" b="1" dirty="0"/>
              <a:t>:</a:t>
            </a:r>
            <a:endParaRPr lang="ru-RU" b="1" dirty="0"/>
          </a:p>
          <a:p>
            <a:pPr lvl="1"/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Состояния</a:t>
            </a:r>
          </a:p>
          <a:p>
            <a:pPr lvl="1"/>
            <a:r>
              <a:rPr lang="en-US" dirty="0"/>
              <a:t>Running: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</a:t>
            </a:r>
          </a:p>
          <a:p>
            <a:pPr lvl="1"/>
            <a:r>
              <a:rPr lang="en-US" dirty="0"/>
              <a:t>Ready: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готов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 CPU</a:t>
            </a:r>
          </a:p>
          <a:p>
            <a:pPr lvl="1"/>
            <a:r>
              <a:rPr lang="en-US" dirty="0"/>
              <a:t>Blocked: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внешнего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endParaRPr lang="en-US" dirty="0"/>
          </a:p>
          <a:p>
            <a:r>
              <a:rPr lang="en-US" dirty="0" err="1"/>
              <a:t>Примеры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ввод</a:t>
            </a:r>
            <a:r>
              <a:rPr lang="en-US" dirty="0"/>
              <a:t> с </a:t>
            </a:r>
            <a:r>
              <a:rPr lang="en-US" dirty="0" err="1"/>
              <a:t>клавиатуры</a:t>
            </a:r>
            <a:endParaRPr lang="en-US" dirty="0"/>
          </a:p>
          <a:p>
            <a:pPr lvl="1"/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pipe</a:t>
            </a:r>
          </a:p>
          <a:p>
            <a:pPr lvl="1"/>
            <a:r>
              <a:rPr lang="en-US" dirty="0" err="1"/>
              <a:t>завершение</a:t>
            </a:r>
            <a:r>
              <a:rPr lang="en-US" dirty="0"/>
              <a:t> I/O</a:t>
            </a:r>
          </a:p>
          <a:p>
            <a:pPr lvl="1"/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ОС</a:t>
            </a:r>
          </a:p>
        </p:txBody>
      </p:sp>
    </p:spTree>
    <p:extLst>
      <p:ext uri="{BB962C8B-B14F-4D97-AF65-F5344CB8AC3E}">
        <p14:creationId xmlns:p14="http://schemas.microsoft.com/office/powerpoint/2010/main" val="361562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EA740C-0493-A4B3-B470-1488A787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Переходы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состояниями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2A08D7-BE6C-FDC1-F39F-A140524EC6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850" y="1554541"/>
            <a:ext cx="8039100" cy="344159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5DA1E5-5EB4-3202-9DA5-8972C90A3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610100"/>
            <a:ext cx="10515600" cy="15668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cat | grep</a:t>
            </a:r>
          </a:p>
          <a:p>
            <a:pPr lvl="1"/>
            <a:r>
              <a:rPr lang="en-US" dirty="0"/>
              <a:t>grep </a:t>
            </a:r>
            <a:r>
              <a:rPr lang="en-US" dirty="0" err="1"/>
              <a:t>вызывает</a:t>
            </a:r>
            <a:r>
              <a:rPr lang="en-US" dirty="0"/>
              <a:t> read() </a:t>
            </a:r>
            <a:r>
              <a:rPr lang="en-US" dirty="0" err="1"/>
              <a:t>из</a:t>
            </a:r>
            <a:r>
              <a:rPr lang="en-US" dirty="0"/>
              <a:t> pipe; </a:t>
            </a:r>
          </a:p>
          <a:p>
            <a:pPr lvl="1"/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→ grep </a:t>
            </a:r>
            <a:r>
              <a:rPr lang="en-US" dirty="0" err="1"/>
              <a:t>переходит</a:t>
            </a:r>
            <a:r>
              <a:rPr lang="en-US" dirty="0"/>
              <a:t> в Blocked; </a:t>
            </a:r>
          </a:p>
          <a:p>
            <a:pPr lvl="1"/>
            <a:r>
              <a:rPr lang="en-US" dirty="0"/>
              <a:t>cat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→ grep </a:t>
            </a:r>
            <a:r>
              <a:rPr lang="en-US" dirty="0" err="1"/>
              <a:t>становится</a:t>
            </a:r>
            <a:r>
              <a:rPr lang="en-US" dirty="0"/>
              <a:t> Ready; </a:t>
            </a:r>
          </a:p>
          <a:p>
            <a:pPr lvl="1"/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переводит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Running.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409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C76F0-4EA7-1991-AC97-7BC21D777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модели процессов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F9FD9-0BF8-6902-0691-AC27AA69B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30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CA9BE4-C446-369B-0285-4FFFAE452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ОС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1EA59B2-B23B-AC5B-165C-E90145223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436" y="1825625"/>
            <a:ext cx="90791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07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4599-975B-D8AF-48A3-6E243A10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A440BC-20E8-753F-7FFC-E79A07C44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0331"/>
            <a:ext cx="10515600" cy="422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51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9949B-2BF2-E059-BB94-35169B00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Реализация</a:t>
            </a:r>
            <a:r>
              <a:rPr lang="en-US" dirty="0"/>
              <a:t> в Linux: </a:t>
            </a:r>
            <a:r>
              <a:rPr lang="en-US" dirty="0" err="1"/>
              <a:t>task_struct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4CA02D-D471-9BD7-C8BD-9EAC9C1F6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02" y="1690688"/>
            <a:ext cx="11730596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71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987686-CA47-CA9F-9CC9-B7ADB75B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мультипрограммирования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3995B2-97B8-B27D-8779-BB70C2547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650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057A6E-5AFE-50BB-38FD-E79B05FC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многозадачность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2139AB-44AB-4675-E5C2-87C18066E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редко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CPU.</a:t>
            </a:r>
          </a:p>
          <a:p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ждут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ввод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данные</a:t>
            </a:r>
            <a:r>
              <a:rPr lang="en-US" dirty="0"/>
              <a:t> с </a:t>
            </a:r>
            <a:r>
              <a:rPr lang="en-US" dirty="0" err="1"/>
              <a:t>диска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I/O. </a:t>
            </a:r>
          </a:p>
          <a:p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многозадачности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I/O,</a:t>
            </a:r>
          </a:p>
          <a:p>
            <a:pPr lvl="1"/>
            <a:r>
              <a:rPr lang="en-US" dirty="0"/>
              <a:t>CPU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endParaRPr lang="en-US" dirty="0"/>
          </a:p>
          <a:p>
            <a:r>
              <a:rPr lang="en-US" dirty="0" err="1"/>
              <a:t>Цель</a:t>
            </a:r>
            <a:r>
              <a:rPr lang="en-US" dirty="0"/>
              <a:t> —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CPU.</a:t>
            </a:r>
          </a:p>
        </p:txBody>
      </p:sp>
    </p:spTree>
    <p:extLst>
      <p:ext uri="{BB962C8B-B14F-4D97-AF65-F5344CB8AC3E}">
        <p14:creationId xmlns:p14="http://schemas.microsoft.com/office/powerpoint/2010/main" val="7818003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72B6-E7A1-978D-AD25-03C623C9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Простая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CPU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7AED066C-717C-6EC2-B790-F6D3D8EDA6D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551552" cy="4351338"/>
              </a:xfrm>
            </p:spPr>
            <p:txBody>
              <a:bodyPr/>
              <a:lstStyle/>
              <a:p>
                <a:r>
                  <a:rPr lang="ru-RU" dirty="0"/>
                  <a:t>Вероятность, что процесс ждёт I/O = </a:t>
                </a:r>
                <a:r>
                  <a:rPr lang="ru-RU" b="1" dirty="0"/>
                  <a:t>p</a:t>
                </a:r>
                <a:endParaRPr lang="ru-RU" dirty="0"/>
              </a:p>
              <a:p>
                <a:r>
                  <a:rPr lang="ru-RU" dirty="0"/>
                  <a:t>Процессов в памяти = n</a:t>
                </a:r>
              </a:p>
              <a:p>
                <a:r>
                  <a:rPr lang="ru-RU" dirty="0"/>
                  <a:t>Вероятность, что все ждут: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ru-RU" dirty="0"/>
                  <a:t>Использование </a:t>
                </a:r>
                <a:r>
                  <a:rPr lang="en-US" dirty="0"/>
                  <a:t>CPU: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1 − </m:t>
                    </m:r>
                    <m:sSup>
                      <m:sSupPr>
                        <m:ctrlPr>
                          <a:rPr lang="ru-RU" i="1" dirty="0" err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7AED066C-717C-6EC2-B790-F6D3D8EDA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551552" cy="4351338"/>
              </a:xfrm>
              <a:blipFill>
                <a:blip r:embed="rId3"/>
                <a:stretch>
                  <a:fillRect l="-1978" t="-2381" r="-1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D3C385F6-619D-B3AD-6593-332E3704856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36559592"/>
              </p:ext>
            </p:extLst>
          </p:nvPr>
        </p:nvGraphicFramePr>
        <p:xfrm>
          <a:off x="6607301" y="1825625"/>
          <a:ext cx="4746498" cy="174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166">
                  <a:extLst>
                    <a:ext uri="{9D8B030D-6E8A-4147-A177-3AD203B41FA5}">
                      <a16:colId xmlns:a16="http://schemas.microsoft.com/office/drawing/2014/main" val="172678120"/>
                    </a:ext>
                  </a:extLst>
                </a:gridCol>
                <a:gridCol w="1582166">
                  <a:extLst>
                    <a:ext uri="{9D8B030D-6E8A-4147-A177-3AD203B41FA5}">
                      <a16:colId xmlns:a16="http://schemas.microsoft.com/office/drawing/2014/main" val="2251980944"/>
                    </a:ext>
                  </a:extLst>
                </a:gridCol>
                <a:gridCol w="1582166">
                  <a:extLst>
                    <a:ext uri="{9D8B030D-6E8A-4147-A177-3AD203B41FA5}">
                      <a16:colId xmlns:a16="http://schemas.microsoft.com/office/drawing/2014/main" val="229066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Количество процессов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Простой </a:t>
                      </a:r>
                      <a:r>
                        <a:rPr lang="en-US"/>
                        <a:t>CPU (p=0.8)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Загрузка CPU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939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0.8³ = 51.2%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48.8%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117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0.8⁷ = 21.0%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79.0%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362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0.8¹¹ = 8.6%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359182"/>
                  </a:ext>
                </a:extLst>
              </a:tr>
            </a:tbl>
          </a:graphicData>
        </a:graphic>
      </p:graphicFrame>
      <p:pic>
        <p:nvPicPr>
          <p:cNvPr id="20" name="Content Placeholder 5">
            <a:extLst>
              <a:ext uri="{FF2B5EF4-FFF2-40B4-BE49-F238E27FC236}">
                <a16:creationId xmlns:a16="http://schemas.microsoft.com/office/drawing/2014/main" id="{1372B349-9EC1-9242-AEFA-309289462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752" y="4001294"/>
            <a:ext cx="4746498" cy="285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063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B565F6-AD99-1A19-F37C-216D0CE4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Процессы</a:t>
            </a:r>
            <a:r>
              <a:rPr lang="en-US" dirty="0"/>
              <a:t>: </a:t>
            </a:r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C9FDF-D8A1-3D4F-C387-2565DC0B3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err="1"/>
              <a:t>Процесс</a:t>
            </a:r>
            <a:r>
              <a:rPr lang="en-US" b="1" dirty="0"/>
              <a:t> —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способ</a:t>
            </a:r>
            <a:r>
              <a:rPr lang="en-US" b="1" dirty="0"/>
              <a:t>, </a:t>
            </a:r>
            <a:r>
              <a:rPr lang="en-US" b="1" dirty="0" err="1"/>
              <a:t>которым</a:t>
            </a:r>
            <a:r>
              <a:rPr lang="en-US" b="1" dirty="0"/>
              <a:t> ОС </a:t>
            </a:r>
            <a:r>
              <a:rPr lang="en-US" b="1" dirty="0" err="1"/>
              <a:t>превращает</a:t>
            </a:r>
            <a:r>
              <a:rPr lang="en-US" b="1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компьютер</a:t>
            </a:r>
            <a:r>
              <a:rPr lang="en-US" b="1" dirty="0"/>
              <a:t> в </a:t>
            </a:r>
            <a:r>
              <a:rPr lang="en-US" b="1" dirty="0" err="1"/>
              <a:t>среду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множества</a:t>
            </a:r>
            <a:r>
              <a:rPr lang="en-US" b="1" dirty="0"/>
              <a:t> </a:t>
            </a:r>
            <a:r>
              <a:rPr lang="en-US" b="1" dirty="0" err="1"/>
              <a:t>независимых</a:t>
            </a:r>
            <a:r>
              <a:rPr lang="en-US" b="1" dirty="0"/>
              <a:t> </a:t>
            </a:r>
            <a:r>
              <a:rPr lang="en-US" b="1" dirty="0" err="1"/>
              <a:t>выполнений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/>
              <a:t>ОС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и </a:t>
            </a:r>
            <a:r>
              <a:rPr lang="en-US" dirty="0" err="1"/>
              <a:t>запустить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и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родителю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изолировать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долгоживущими</a:t>
            </a:r>
            <a:r>
              <a:rPr lang="en-US" dirty="0"/>
              <a:t> </a:t>
            </a:r>
            <a:r>
              <a:rPr lang="en-US" dirty="0" err="1"/>
              <a:t>фоновыми</a:t>
            </a:r>
            <a:r>
              <a:rPr lang="en-US" dirty="0"/>
              <a:t> </a:t>
            </a:r>
            <a:r>
              <a:rPr lang="en-US" dirty="0" err="1"/>
              <a:t>службами</a:t>
            </a:r>
            <a:r>
              <a:rPr lang="en-US" dirty="0"/>
              <a:t>. </a:t>
            </a:r>
          </a:p>
          <a:p>
            <a:r>
              <a:rPr lang="ru-RU" dirty="0"/>
              <a:t>П</a:t>
            </a:r>
            <a:r>
              <a:rPr lang="en-US" dirty="0" err="1"/>
              <a:t>роцессы</a:t>
            </a:r>
            <a:r>
              <a:rPr lang="en-US" dirty="0"/>
              <a:t> </a:t>
            </a:r>
            <a:r>
              <a:rPr lang="en-US" dirty="0" err="1"/>
              <a:t>дают</a:t>
            </a:r>
            <a:r>
              <a:rPr lang="en-US" dirty="0"/>
              <a:t> </a:t>
            </a:r>
            <a:r>
              <a:rPr lang="en-US" dirty="0" err="1"/>
              <a:t>программам</a:t>
            </a:r>
            <a:r>
              <a:rPr lang="en-US" dirty="0"/>
              <a:t> </a:t>
            </a:r>
            <a:r>
              <a:rPr lang="en-US" dirty="0" err="1"/>
              <a:t>иллюзию</a:t>
            </a:r>
            <a:r>
              <a:rPr lang="en-US" dirty="0"/>
              <a:t> </a:t>
            </a:r>
            <a:r>
              <a:rPr lang="en-US" dirty="0" err="1"/>
              <a:t>самостоятельного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а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иллюзией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697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242BD2-F4BD-D38B-E5BC-9CB0DD63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Коммуникация</a:t>
            </a:r>
            <a:r>
              <a:rPr lang="en-US" dirty="0"/>
              <a:t> </a:t>
            </a:r>
            <a:r>
              <a:rPr lang="ru-RU" dirty="0"/>
              <a:t>между процессами (</a:t>
            </a:r>
            <a:r>
              <a:rPr lang="en-US" dirty="0"/>
              <a:t>IPC)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EBCBD-3C2B-9369-DF2E-224FCCE31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736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A51DEE-72A8-9A03-0B1E-58A38742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IPC: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3BC503-1897-74C9-603D-4D0D82E28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IPC</a:t>
            </a:r>
            <a:r>
              <a:rPr lang="en-US" dirty="0"/>
              <a:t> — inter-process communication.</a:t>
            </a:r>
          </a:p>
          <a:p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уведомлять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 о </a:t>
            </a:r>
            <a:r>
              <a:rPr lang="en-US" dirty="0" err="1"/>
              <a:t>событиях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синхронизировать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строить</a:t>
            </a:r>
            <a:r>
              <a:rPr lang="en-US" dirty="0"/>
              <a:t> </a:t>
            </a:r>
            <a:r>
              <a:rPr lang="en-US" dirty="0" err="1"/>
              <a:t>схемы</a:t>
            </a:r>
            <a:r>
              <a:rPr lang="en-US" dirty="0"/>
              <a:t> «</a:t>
            </a:r>
            <a:r>
              <a:rPr lang="en-US" dirty="0" err="1"/>
              <a:t>клиент</a:t>
            </a:r>
            <a:r>
              <a:rPr lang="en-US" dirty="0"/>
              <a:t>–</a:t>
            </a:r>
            <a:r>
              <a:rPr lang="en-US" dirty="0" err="1"/>
              <a:t>сервер</a:t>
            </a:r>
            <a:r>
              <a:rPr lang="en-US" dirty="0"/>
              <a:t>».</a:t>
            </a:r>
            <a:endParaRPr lang="ru-RU" dirty="0"/>
          </a:p>
          <a:p>
            <a:r>
              <a:rPr lang="ru-RU" dirty="0"/>
              <a:t>Рассмотрим:</a:t>
            </a:r>
            <a:endParaRPr lang="en-US" dirty="0"/>
          </a:p>
          <a:p>
            <a:pPr lvl="1"/>
            <a:r>
              <a:rPr lang="en-US" dirty="0"/>
              <a:t>signals → </a:t>
            </a:r>
            <a:r>
              <a:rPr lang="en-US" dirty="0" err="1"/>
              <a:t>событие</a:t>
            </a:r>
            <a:r>
              <a:rPr lang="en-US" dirty="0"/>
              <a:t> / </a:t>
            </a:r>
            <a:r>
              <a:rPr lang="en-US" dirty="0" err="1"/>
              <a:t>управление</a:t>
            </a:r>
            <a:endParaRPr lang="en-US" dirty="0"/>
          </a:p>
          <a:p>
            <a:pPr lvl="1"/>
            <a:r>
              <a:rPr lang="en-US" dirty="0"/>
              <a:t>pipe    →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родственными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endParaRPr lang="en-US" dirty="0"/>
          </a:p>
          <a:p>
            <a:pPr lvl="1"/>
            <a:r>
              <a:rPr lang="en-US" dirty="0"/>
              <a:t>FIFO    →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независимыми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91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A211-9D5D-FAEC-9926-50413E515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Сигнал как асинхронное событие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09A3-CCBB-744B-1940-3D70615D3C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Сигнал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доставляется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</a:t>
            </a:r>
            <a:r>
              <a:rPr lang="en-US" dirty="0" err="1"/>
              <a:t>асинхронно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: SIGTERM, SIGSTOP, SIGUSR1, ...</a:t>
            </a:r>
          </a:p>
          <a:p>
            <a:pPr lvl="1"/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, </a:t>
            </a:r>
            <a:r>
              <a:rPr lang="en-US" dirty="0" err="1"/>
              <a:t>остановить</a:t>
            </a:r>
            <a:r>
              <a:rPr lang="en-US" dirty="0"/>
              <a:t>,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обработан</a:t>
            </a:r>
            <a:r>
              <a:rPr lang="en-US" dirty="0"/>
              <a:t> </a:t>
            </a:r>
            <a:r>
              <a:rPr lang="en-US" dirty="0" err="1"/>
              <a:t>пользовательским</a:t>
            </a:r>
            <a:r>
              <a:rPr lang="en-US" dirty="0"/>
              <a:t> </a:t>
            </a:r>
            <a:r>
              <a:rPr lang="ru-RU" dirty="0"/>
              <a:t>обработчиком</a:t>
            </a:r>
            <a:r>
              <a:rPr lang="en-US" dirty="0"/>
              <a:t>.</a:t>
            </a:r>
          </a:p>
          <a:p>
            <a:r>
              <a:rPr lang="ru-RU" dirty="0"/>
              <a:t>Стандартный способ:</a:t>
            </a:r>
          </a:p>
          <a:p>
            <a:pPr lvl="1"/>
            <a:r>
              <a:rPr lang="ru-RU" dirty="0"/>
              <a:t>Системный вызов</a:t>
            </a:r>
            <a:r>
              <a:rPr lang="en-US" dirty="0"/>
              <a:t> kill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A18A66-42EC-54ED-E961-445BA22A52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48088"/>
            <a:ext cx="5181600" cy="370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736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EEA3-98E0-E269-4262-37429A5D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Сигналы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8A4C3D6-3D78-9492-CDD6-CEFABBA738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091069"/>
              </p:ext>
            </p:extLst>
          </p:nvPr>
        </p:nvGraphicFramePr>
        <p:xfrm>
          <a:off x="838200" y="1825625"/>
          <a:ext cx="10515600" cy="400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67">
                  <a:extLst>
                    <a:ext uri="{9D8B030D-6E8A-4147-A177-3AD203B41FA5}">
                      <a16:colId xmlns:a16="http://schemas.microsoft.com/office/drawing/2014/main" val="2241252639"/>
                    </a:ext>
                  </a:extLst>
                </a:gridCol>
                <a:gridCol w="7459133">
                  <a:extLst>
                    <a:ext uri="{9D8B030D-6E8A-4147-A177-3AD203B41FA5}">
                      <a16:colId xmlns:a16="http://schemas.microsoft.com/office/drawing/2014/main" val="289062584"/>
                    </a:ext>
                  </a:extLst>
                </a:gridCol>
              </a:tblGrid>
              <a:tr h="262695">
                <a:tc>
                  <a:txBody>
                    <a:bodyPr/>
                    <a:lstStyle/>
                    <a:p>
                      <a:r>
                        <a:rPr lang="ru-RU" dirty="0"/>
                        <a:t>Сигнал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28878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r>
                        <a:rPr lang="en-US" dirty="0"/>
                        <a:t>SIGINT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Прервать </a:t>
                      </a:r>
                      <a:r>
                        <a:rPr lang="en-US" dirty="0"/>
                        <a:t>foreground-</a:t>
                      </a:r>
                      <a:r>
                        <a:rPr lang="ru-RU" dirty="0"/>
                        <a:t>процесс (</a:t>
                      </a:r>
                      <a:r>
                        <a:rPr lang="en-US" dirty="0" err="1"/>
                        <a:t>Ctrl+C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124686"/>
                  </a:ext>
                </a:extLst>
              </a:tr>
              <a:tr h="262695">
                <a:tc>
                  <a:txBody>
                    <a:bodyPr/>
                    <a:lstStyle/>
                    <a:p>
                      <a:r>
                        <a:rPr lang="en-US" dirty="0"/>
                        <a:t>SIGTERM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Запрос корректного завершения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173399"/>
                  </a:ext>
                </a:extLst>
              </a:tr>
              <a:tr h="26269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SIGKILL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Безусловное завершение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08699"/>
                  </a:ext>
                </a:extLst>
              </a:tr>
              <a:tr h="26269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SIGSTOP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Безусловная остановка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775167"/>
                  </a:ext>
                </a:extLst>
              </a:tr>
              <a:tr h="262695">
                <a:tc>
                  <a:txBody>
                    <a:bodyPr/>
                    <a:lstStyle/>
                    <a:p>
                      <a:r>
                        <a:rPr lang="en-US" dirty="0"/>
                        <a:t>SIGCONT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Продолжить выполнение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12848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r>
                        <a:rPr lang="en-US" dirty="0"/>
                        <a:t>SIGTSTP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Остановить </a:t>
                      </a:r>
                      <a:r>
                        <a:rPr lang="en-US" dirty="0"/>
                        <a:t>foreground-</a:t>
                      </a:r>
                      <a:r>
                        <a:rPr lang="ru-RU" dirty="0"/>
                        <a:t>процесс (</a:t>
                      </a:r>
                      <a:r>
                        <a:rPr lang="en-US" dirty="0" err="1"/>
                        <a:t>Ctrl+Z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032333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r>
                        <a:rPr lang="en-US" dirty="0"/>
                        <a:t>SIGUSR1, SIGUSR2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Пользовательские события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26848"/>
                  </a:ext>
                </a:extLst>
              </a:tr>
              <a:tr h="453418">
                <a:tc>
                  <a:txBody>
                    <a:bodyPr/>
                    <a:lstStyle/>
                    <a:p>
                      <a:r>
                        <a:rPr lang="en-US" dirty="0"/>
                        <a:t>SIGCHLD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Дочерний процесс изменил состояние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925453"/>
                  </a:ext>
                </a:extLst>
              </a:tr>
              <a:tr h="262695">
                <a:tc>
                  <a:txBody>
                    <a:bodyPr/>
                    <a:lstStyle/>
                    <a:p>
                      <a:r>
                        <a:rPr lang="en-US" dirty="0"/>
                        <a:t>SIGPIPE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Запись в </a:t>
                      </a:r>
                      <a:r>
                        <a:rPr lang="en-US" dirty="0"/>
                        <a:t>pipe </a:t>
                      </a:r>
                      <a:r>
                        <a:rPr lang="ru-RU" dirty="0"/>
                        <a:t>без читателей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020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907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2601-26C0-BC72-DEA2-7F1548654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сигналов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08248-BBC3-FD90-E3B9-87A9410B8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Идея</a:t>
            </a:r>
            <a:r>
              <a:rPr lang="en-US" dirty="0"/>
              <a:t>: </a:t>
            </a:r>
            <a:r>
              <a:rPr lang="ru-RU" dirty="0"/>
              <a:t>обработчик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фиксирует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в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в handler </a:t>
            </a:r>
            <a:r>
              <a:rPr lang="en-US" dirty="0" err="1"/>
              <a:t>сложные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en-US" dirty="0"/>
              <a:t>, malloc/new, </a:t>
            </a:r>
            <a:r>
              <a:rPr lang="en-US" dirty="0" err="1"/>
              <a:t>блокировки</a:t>
            </a:r>
            <a:r>
              <a:rPr lang="en-US" dirty="0"/>
              <a:t>, </a:t>
            </a:r>
            <a:r>
              <a:rPr lang="en-US" dirty="0" err="1"/>
              <a:t>файловый</a:t>
            </a:r>
            <a:r>
              <a:rPr lang="en-US" dirty="0"/>
              <a:t> I/O, </a:t>
            </a:r>
            <a:r>
              <a:rPr lang="en-US" dirty="0" err="1"/>
              <a:t>сложную</a:t>
            </a:r>
            <a:r>
              <a:rPr lang="en-US" dirty="0"/>
              <a:t> C++-</a:t>
            </a:r>
            <a:r>
              <a:rPr lang="en-US" dirty="0" err="1"/>
              <a:t>логику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AB14A-B68B-2052-8D2A-8DE8827E3261}"/>
              </a:ext>
            </a:extLst>
          </p:cNvPr>
          <p:cNvSpPr txBox="1"/>
          <p:nvPr/>
        </p:nvSpPr>
        <p:spPr>
          <a:xfrm>
            <a:off x="6333067" y="1825624"/>
            <a:ext cx="502073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csignal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 volatile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sig_atomic_t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stop_requested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static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HandleSigterm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stop_requested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sigaction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.sa_handler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HandleSigterm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sigemptyset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.sa_mask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.sa_flags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sigaction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SIGTERM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stop_requested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основная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корректное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завершение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89856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7221-BB62-A084-1ACF-DAE58036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прервать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D0C848-70DA-BDF5-3E2D-254F0E82DB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700" y="1899875"/>
            <a:ext cx="7340600" cy="356360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4D5A5-A5F8-E258-7A34-7AF64275D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672667"/>
            <a:ext cx="10515600" cy="504296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Если системный вызов прерван сигналом, его частно нужно повторить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71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EA1C-60F8-9D3F-CDCE-6283BE09E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попадает</a:t>
            </a:r>
            <a:r>
              <a:rPr lang="en-US" dirty="0"/>
              <a:t> в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код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A91D28-F159-2E54-F246-D266989EA9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9193800" cy="302933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0E7833-CE68-FE77-5F2F-AF22E703A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350933"/>
            <a:ext cx="10515600" cy="826030"/>
          </a:xfrm>
        </p:spPr>
        <p:txBody>
          <a:bodyPr>
            <a:normAutofit fontScale="92500"/>
          </a:bodyPr>
          <a:lstStyle/>
          <a:p>
            <a:r>
              <a:rPr lang="en-US" b="1" dirty="0" err="1"/>
              <a:t>Сигнал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исполняется</a:t>
            </a:r>
            <a:r>
              <a:rPr lang="en-US" b="1" dirty="0"/>
              <a:t> «</a:t>
            </a:r>
            <a:r>
              <a:rPr lang="en-US" b="1" dirty="0" err="1"/>
              <a:t>магически</a:t>
            </a:r>
            <a:r>
              <a:rPr lang="en-US" b="1" dirty="0"/>
              <a:t>».</a:t>
            </a:r>
            <a:br>
              <a:rPr lang="en-US" dirty="0"/>
            </a:b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доставляет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kernel mode в user mode.</a:t>
            </a:r>
          </a:p>
        </p:txBody>
      </p:sp>
    </p:spTree>
    <p:extLst>
      <p:ext uri="{BB962C8B-B14F-4D97-AF65-F5344CB8AC3E}">
        <p14:creationId xmlns:p14="http://schemas.microsoft.com/office/powerpoint/2010/main" val="13562396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B963-30E6-5C3B-4D77-B33CC2ED6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handler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минимальным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87DA-F9F2-CEA8-4CF0-2601809A90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volatile </a:t>
            </a:r>
            <a:r>
              <a:rPr lang="en-US" dirty="0" err="1"/>
              <a:t>sig_atomic_t</a:t>
            </a:r>
            <a:r>
              <a:rPr lang="en-US" dirty="0"/>
              <a:t> </a:t>
            </a:r>
            <a:r>
              <a:rPr lang="en-US" dirty="0" err="1"/>
              <a:t>stop_requested</a:t>
            </a:r>
            <a:r>
              <a:rPr lang="en-US" dirty="0"/>
              <a:t> = 0;</a:t>
            </a:r>
            <a:br>
              <a:rPr lang="ru-RU" dirty="0"/>
            </a:br>
            <a:r>
              <a:rPr lang="en-US" dirty="0"/>
              <a:t>void </a:t>
            </a:r>
            <a:r>
              <a:rPr lang="en-US" dirty="0" err="1"/>
              <a:t>HandleSignal</a:t>
            </a:r>
            <a:r>
              <a:rPr lang="en-US" dirty="0"/>
              <a:t>(int) {</a:t>
            </a:r>
            <a:br>
              <a:rPr lang="ru-RU" dirty="0"/>
            </a:br>
            <a:r>
              <a:rPr lang="ru-RU" dirty="0"/>
              <a:t>  </a:t>
            </a:r>
            <a:r>
              <a:rPr lang="en-US" dirty="0" err="1"/>
              <a:t>stop_requested</a:t>
            </a:r>
            <a:r>
              <a:rPr lang="en-US" dirty="0"/>
              <a:t> = 1;   // OK</a:t>
            </a:r>
            <a:br>
              <a:rPr lang="ru-RU" dirty="0"/>
            </a:br>
            <a:r>
              <a:rPr lang="en-US" dirty="0"/>
              <a:t>}</a:t>
            </a:r>
          </a:p>
          <a:p>
            <a:r>
              <a:rPr lang="en-US" dirty="0"/>
              <a:t>Handler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выполниться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/>
              <a:t>обновляет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endParaRPr lang="en-US" dirty="0"/>
          </a:p>
          <a:p>
            <a:pPr lvl="1"/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endParaRPr lang="en-US" dirty="0"/>
          </a:p>
          <a:p>
            <a:pPr lvl="1"/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библиотечную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C28FB-CC64-B672-7B9F-8B28CF4F67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Поэтому</a:t>
            </a:r>
            <a:r>
              <a:rPr lang="en-US" dirty="0"/>
              <a:t> в handler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std::string</a:t>
            </a:r>
          </a:p>
          <a:p>
            <a:pPr lvl="1"/>
            <a:r>
              <a:rPr lang="en-US" dirty="0"/>
              <a:t>std::vector</a:t>
            </a:r>
          </a:p>
          <a:p>
            <a:pPr lvl="1"/>
            <a:r>
              <a:rPr lang="en-US" dirty="0" err="1"/>
              <a:t>сложные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endParaRPr lang="en-US" dirty="0"/>
          </a:p>
          <a:p>
            <a:pPr lvl="1"/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endParaRPr lang="en-US" dirty="0"/>
          </a:p>
          <a:p>
            <a:r>
              <a:rPr lang="en-US" b="1" dirty="0" err="1"/>
              <a:t>Правило</a:t>
            </a:r>
            <a:r>
              <a:rPr lang="en-US" b="1" dirty="0"/>
              <a:t>:</a:t>
            </a:r>
            <a:r>
              <a:rPr lang="en-US" dirty="0"/>
              <a:t> handler </a:t>
            </a:r>
            <a:r>
              <a:rPr lang="en-US" dirty="0" err="1"/>
              <a:t>фиксирует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,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3100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CDAB22-48C3-D73D-6CCD-62258CF5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Каналы (</a:t>
            </a:r>
            <a:r>
              <a:rPr lang="en-US" dirty="0"/>
              <a:t>pipes)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816512-C066-0EF2-6C5F-24E62F64A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924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DCD8B7-CCF8-C5C1-F264-2310743F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pipe: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C62EC7-918A-4B16-F12F-088FA817E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9133" cy="4351338"/>
          </a:xfrm>
        </p:spPr>
        <p:txBody>
          <a:bodyPr>
            <a:normAutofit/>
          </a:bodyPr>
          <a:lstStyle/>
          <a:p>
            <a:r>
              <a:rPr lang="ru-RU" dirty="0"/>
              <a:t>Системный вызов</a:t>
            </a:r>
            <a:r>
              <a:rPr lang="en-US" dirty="0"/>
              <a:t> pipe </a:t>
            </a:r>
            <a:r>
              <a:rPr lang="ru-RU" dirty="0"/>
              <a:t>создаёт односторонний канал для передачи байтов между родственными процессами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fd</a:t>
            </a:r>
            <a:r>
              <a:rPr lang="en-US" dirty="0">
                <a:latin typeface="Consolas" panose="020B0609020204030204" pitchFamily="49" charset="0"/>
              </a:rPr>
              <a:t>[2];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pipe(</a:t>
            </a:r>
            <a:r>
              <a:rPr lang="en-US" dirty="0" err="1">
                <a:latin typeface="Consolas" panose="020B0609020204030204" pitchFamily="49" charset="0"/>
              </a:rPr>
              <a:t>fd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en-US" dirty="0" err="1">
                <a:latin typeface="Consolas" panose="020B0609020204030204" pitchFamily="49" charset="0"/>
              </a:rPr>
              <a:t>fd</a:t>
            </a:r>
            <a:r>
              <a:rPr lang="en-US" dirty="0">
                <a:latin typeface="Consolas" panose="020B0609020204030204" pitchFamily="49" charset="0"/>
              </a:rPr>
              <a:t>[0] – read end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en-US" dirty="0" err="1">
                <a:latin typeface="Consolas" panose="020B0609020204030204" pitchFamily="49" charset="0"/>
              </a:rPr>
              <a:t>fd</a:t>
            </a:r>
            <a:r>
              <a:rPr lang="en-US" dirty="0">
                <a:latin typeface="Consolas" panose="020B0609020204030204" pitchFamily="49" charset="0"/>
              </a:rPr>
              <a:t>[1] – write end</a:t>
            </a:r>
            <a:br>
              <a:rPr lang="ru-RU" dirty="0"/>
            </a:br>
            <a:endParaRPr lang="en-US" dirty="0"/>
          </a:p>
          <a:p>
            <a:endParaRPr lang="en-US" dirty="0"/>
          </a:p>
        </p:txBody>
      </p:sp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7109C79E-2A8F-FC2F-BAB9-9C8BB4BAC1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38400"/>
            <a:ext cx="5917128" cy="278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706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0858-2919-3011-E6BE-C4DFBEAE8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pipe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fork()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9FFFDF-9D62-AF8B-C61D-C134EDFED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942" y="1863197"/>
            <a:ext cx="8352116" cy="46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50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C176-B539-4FBF-6AF3-73F57FE34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Pipeline: </a:t>
            </a:r>
            <a:r>
              <a:rPr lang="en-US" dirty="0" err="1"/>
              <a:t>stdout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→ stdin </a:t>
            </a:r>
            <a:r>
              <a:rPr lang="en-US" dirty="0" err="1"/>
              <a:t>другого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6D9AC5-855A-A81D-F20E-CC208D245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56" y="1690688"/>
            <a:ext cx="9492288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888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425A-C7E4-660C-1EA5-87BB9AAF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закрывать</a:t>
            </a:r>
            <a:r>
              <a:rPr lang="en-US" dirty="0"/>
              <a:t> </a:t>
            </a:r>
            <a:r>
              <a:rPr lang="en-US" dirty="0" err="1"/>
              <a:t>лишние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47CA8-53AA-CB66-0BC8-566892772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229" y="1690688"/>
            <a:ext cx="8913542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863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66993-FF10-57FF-ADE9-5A9B9110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</a:t>
            </a:r>
            <a:r>
              <a:rPr lang="en-US" dirty="0" err="1"/>
              <a:t>произвольной</a:t>
            </a:r>
            <a:r>
              <a:rPr lang="en-US" dirty="0"/>
              <a:t> </a:t>
            </a:r>
            <a:r>
              <a:rPr lang="en-US" dirty="0" err="1"/>
              <a:t>длины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C7E3E-DC29-58B8-4FFC-26AC224A4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$ cat file.txt | grep ERROR | sort | </a:t>
            </a:r>
            <a:r>
              <a:rPr lang="en-US" dirty="0" err="1"/>
              <a:t>uniq</a:t>
            </a:r>
            <a:r>
              <a:rPr lang="en-US" dirty="0"/>
              <a:t> -c</a:t>
            </a:r>
          </a:p>
          <a:p>
            <a:r>
              <a:rPr lang="en-US" dirty="0" err="1"/>
              <a:t>Для</a:t>
            </a:r>
            <a:r>
              <a:rPr lang="en-US" dirty="0"/>
              <a:t> pipeline </a:t>
            </a:r>
            <a:r>
              <a:rPr lang="en-US" dirty="0" err="1"/>
              <a:t>из</a:t>
            </a:r>
            <a:r>
              <a:rPr lang="en-US" dirty="0"/>
              <a:t> N </a:t>
            </a:r>
            <a:r>
              <a:rPr lang="en-US" dirty="0" err="1"/>
              <a:t>команд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 </a:t>
            </a:r>
            <a:r>
              <a:rPr lang="ru-RU" dirty="0"/>
              <a:t>процессов</a:t>
            </a:r>
          </a:p>
          <a:p>
            <a:pPr lvl="1"/>
            <a:r>
              <a:rPr lang="en-US" dirty="0"/>
              <a:t>N-1 pipe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в </a:t>
            </a:r>
            <a:r>
              <a:rPr lang="en-US" dirty="0" err="1"/>
              <a:t>середине</a:t>
            </a:r>
            <a:r>
              <a:rPr lang="en-US" dirty="0"/>
              <a:t> pipeline:</a:t>
            </a:r>
          </a:p>
          <a:p>
            <a:pPr lvl="1"/>
            <a:r>
              <a:rPr lang="en-US" dirty="0"/>
              <a:t>stdin  ← </a:t>
            </a:r>
            <a:r>
              <a:rPr lang="en-US" dirty="0" err="1"/>
              <a:t>предыдущий</a:t>
            </a:r>
            <a:r>
              <a:rPr lang="en-US" dirty="0"/>
              <a:t> pipe</a:t>
            </a:r>
          </a:p>
          <a:p>
            <a:pPr lvl="1"/>
            <a:r>
              <a:rPr lang="en-US" dirty="0" err="1"/>
              <a:t>stdout</a:t>
            </a:r>
            <a:r>
              <a:rPr lang="en-US" dirty="0"/>
              <a:t> → </a:t>
            </a:r>
            <a:r>
              <a:rPr lang="en-US" dirty="0" err="1"/>
              <a:t>следующий</a:t>
            </a:r>
            <a:r>
              <a:rPr lang="en-US" dirty="0"/>
              <a:t> pipe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закрыть все лишние дескрипторы</a:t>
            </a:r>
          </a:p>
          <a:p>
            <a:pPr lvl="1"/>
            <a:r>
              <a:rPr lang="ru-RU" dirty="0"/>
              <a:t>Выполнить </a:t>
            </a:r>
            <a:r>
              <a:rPr lang="en-US" dirty="0" err="1"/>
              <a:t>execvp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891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821DC6-848E-E100-8825-669328E9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FIFO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EA9FD-743F-D989-3441-702C9D9BA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08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EF98CA-8A23-9B5D-0B2D-C1795B96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FIFO: pipe с </a:t>
            </a:r>
            <a:r>
              <a:rPr lang="en-US" dirty="0" err="1"/>
              <a:t>именем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F6037-2B92-B416-D4B0-369DC2E24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FIFO – </a:t>
            </a:r>
            <a:r>
              <a:rPr lang="ru-RU" dirty="0"/>
              <a:t>это именованный канал, который представлен в файловой системе как специальный файл</a:t>
            </a:r>
          </a:p>
          <a:p>
            <a:r>
              <a:rPr lang="ru-RU" dirty="0"/>
              <a:t>Создание:</a:t>
            </a:r>
            <a:r>
              <a:rPr lang="en-US" dirty="0"/>
              <a:t> </a:t>
            </a:r>
            <a:r>
              <a:rPr lang="en-US" dirty="0" err="1"/>
              <a:t>mkfifo</a:t>
            </a:r>
            <a:r>
              <a:rPr lang="en-US" dirty="0"/>
              <a:t>(“/</a:t>
            </a:r>
            <a:r>
              <a:rPr lang="en-US" dirty="0" err="1"/>
              <a:t>tmp</a:t>
            </a:r>
            <a:r>
              <a:rPr lang="en-US" dirty="0"/>
              <a:t>/</a:t>
            </a:r>
            <a:r>
              <a:rPr lang="en-US" dirty="0" err="1"/>
              <a:t>myfifo</a:t>
            </a:r>
            <a:r>
              <a:rPr lang="en-US" dirty="0"/>
              <a:t>”, 0666)</a:t>
            </a:r>
          </a:p>
          <a:p>
            <a:r>
              <a:rPr lang="ru-RU" dirty="0"/>
              <a:t>Разные процессы открывают файл по имени: один для записи или для чтения</a:t>
            </a:r>
          </a:p>
          <a:p>
            <a:r>
              <a:rPr lang="ru-RU" dirty="0"/>
              <a:t>Данные записанные в </a:t>
            </a:r>
            <a:r>
              <a:rPr lang="en-US" dirty="0"/>
              <a:t>FIFO</a:t>
            </a:r>
            <a:r>
              <a:rPr lang="ru-RU" dirty="0"/>
              <a:t> одним процессом читаются другим процессом в том же порядке (как обычном </a:t>
            </a:r>
            <a:r>
              <a:rPr lang="en-US" dirty="0"/>
              <a:t>pipe)</a:t>
            </a:r>
          </a:p>
        </p:txBody>
      </p:sp>
    </p:spTree>
    <p:extLst>
      <p:ext uri="{BB962C8B-B14F-4D97-AF65-F5344CB8AC3E}">
        <p14:creationId xmlns:p14="http://schemas.microsoft.com/office/powerpoint/2010/main" val="15281207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C0B86-D5F7-9AD4-E5F3-5FCB79B8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работы </a:t>
            </a:r>
            <a:r>
              <a:rPr lang="en-US" dirty="0"/>
              <a:t>FIFO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913373-DE3E-6928-796D-D56E26531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5890"/>
            <a:ext cx="10515600" cy="429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134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47CD-2011-EC24-74A3-CDAA68510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</a:t>
            </a:r>
            <a:r>
              <a:rPr lang="en-US" dirty="0"/>
              <a:t>FIFO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DA872-1B8C-60FA-6F20-2491FB5B86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mkfifo</a:t>
            </a:r>
            <a:r>
              <a:rPr lang="en-US" dirty="0"/>
              <a:t>()</a:t>
            </a:r>
            <a:endParaRPr lang="ru-RU" dirty="0"/>
          </a:p>
          <a:p>
            <a:pPr lvl="1"/>
            <a:r>
              <a:rPr lang="en-US" dirty="0"/>
              <a:t>FIFO </a:t>
            </a:r>
            <a:r>
              <a:rPr lang="en-US" dirty="0" err="1"/>
              <a:t>существует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endParaRPr lang="en-US" dirty="0"/>
          </a:p>
          <a:p>
            <a:r>
              <a:rPr lang="en-US" dirty="0"/>
              <a:t>open()</a:t>
            </a:r>
          </a:p>
          <a:p>
            <a:pPr lvl="1"/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читают</a:t>
            </a:r>
            <a:r>
              <a:rPr lang="en-US" dirty="0"/>
              <a:t> / </a:t>
            </a:r>
            <a:r>
              <a:rPr lang="en-US" dirty="0" err="1"/>
              <a:t>записывают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endParaRPr lang="en-US" dirty="0"/>
          </a:p>
          <a:p>
            <a:r>
              <a:rPr lang="en-US" dirty="0"/>
              <a:t>close()</a:t>
            </a:r>
            <a:endParaRPr lang="ru-RU" dirty="0"/>
          </a:p>
          <a:p>
            <a:pPr lvl="1"/>
            <a:r>
              <a:rPr lang="en-US" dirty="0"/>
              <a:t>FIFO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endParaRPr lang="en-US" dirty="0"/>
          </a:p>
          <a:p>
            <a:r>
              <a:rPr lang="en-US" dirty="0"/>
              <a:t>unlink()</a:t>
            </a:r>
          </a:p>
          <a:p>
            <a:pPr lvl="1"/>
            <a:r>
              <a:rPr lang="en-US" dirty="0" err="1"/>
              <a:t>имя</a:t>
            </a:r>
            <a:r>
              <a:rPr lang="en-US" dirty="0"/>
              <a:t> FIFO </a:t>
            </a:r>
            <a:r>
              <a:rPr lang="en-US" dirty="0" err="1"/>
              <a:t>удалено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F6D29-B35C-497B-B1AE-FA90F9DFDD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close(</a:t>
            </a:r>
            <a:r>
              <a:rPr lang="en-US" dirty="0" err="1"/>
              <a:t>fd</a:t>
            </a:r>
            <a:r>
              <a:rPr lang="en-US" dirty="0"/>
              <a:t>) </a:t>
            </a:r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;</a:t>
            </a:r>
          </a:p>
          <a:p>
            <a:pPr lvl="0"/>
            <a:r>
              <a:rPr lang="en-US" dirty="0"/>
              <a:t>FIFO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удаляется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 и </a:t>
            </a:r>
            <a:r>
              <a:rPr lang="en-US" dirty="0" err="1"/>
              <a:t>писателей</a:t>
            </a:r>
            <a:r>
              <a:rPr lang="en-US" dirty="0"/>
              <a:t>;</a:t>
            </a:r>
          </a:p>
          <a:p>
            <a:pPr lvl="0"/>
            <a:r>
              <a:rPr lang="en-US" dirty="0" err="1"/>
              <a:t>данные</a:t>
            </a:r>
            <a:r>
              <a:rPr lang="en-US" dirty="0"/>
              <a:t> FIFO </a:t>
            </a:r>
            <a:r>
              <a:rPr lang="en-US" dirty="0" err="1"/>
              <a:t>хранятся</a:t>
            </a:r>
            <a:r>
              <a:rPr lang="en-US" dirty="0"/>
              <a:t> в </a:t>
            </a:r>
            <a:r>
              <a:rPr lang="en-US" dirty="0" err="1"/>
              <a:t>буфере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файле</a:t>
            </a:r>
            <a:r>
              <a:rPr lang="en-US" dirty="0"/>
              <a:t>;</a:t>
            </a:r>
          </a:p>
          <a:p>
            <a:pPr lvl="0"/>
            <a:r>
              <a:rPr lang="en-US" dirty="0"/>
              <a:t>unlink(path) </a:t>
            </a:r>
            <a:r>
              <a:rPr lang="en-US" dirty="0" err="1"/>
              <a:t>удаляет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FIFO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;</a:t>
            </a:r>
          </a:p>
          <a:p>
            <a:pPr lvl="0"/>
            <a:r>
              <a:rPr lang="en-US" dirty="0" err="1"/>
              <a:t>если</a:t>
            </a:r>
            <a:r>
              <a:rPr lang="en-US" dirty="0"/>
              <a:t> FIFO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unlink() </a:t>
            </a:r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close().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0136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574F-3EB0-0B0E-1DA9-EC538337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FIFO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8D5AFF-9982-ADB1-DA57-2A4F3C03B8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052993"/>
              </p:ext>
            </p:extLst>
          </p:nvPr>
        </p:nvGraphicFramePr>
        <p:xfrm>
          <a:off x="838200" y="1825625"/>
          <a:ext cx="105156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492195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15028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Операция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Если второй стороны нет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62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open(path, 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O_RDONLY</a:t>
                      </a:r>
                      <a:r>
                        <a:rPr lang="en-US" sz="2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Ждёт писателя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980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open(path, O_WRONLY)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Ждёт читателя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727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open(path, O_WRONLY | O_NONBLOCK)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ошибка</a:t>
                      </a:r>
                      <a:r>
                        <a:rPr lang="en-US" sz="2000" dirty="0"/>
                        <a:t> 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ENXIO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если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читателя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нет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02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0019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46C3-0488-C72B-6DB6-D744B99D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—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DE90-721D-9E7B-38A8-7DE268828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FIFO</a:t>
            </a:r>
            <a:r>
              <a:rPr lang="ru-RU" dirty="0"/>
              <a:t> – поток байтов</a:t>
            </a:r>
          </a:p>
          <a:p>
            <a:pPr lvl="1"/>
            <a:r>
              <a:rPr lang="ru-RU" dirty="0"/>
              <a:t>Один вызов</a:t>
            </a:r>
            <a:r>
              <a:rPr lang="en-US" dirty="0"/>
              <a:t> read </a:t>
            </a:r>
            <a:r>
              <a:rPr lang="ru-RU" dirty="0"/>
              <a:t>не обязан вернуть ровно одно клиентское сообщение</a:t>
            </a:r>
          </a:p>
          <a:p>
            <a:r>
              <a:rPr lang="ru-RU" dirty="0"/>
              <a:t>Сервер должен уметь определять границы сообщений</a:t>
            </a:r>
          </a:p>
          <a:p>
            <a:pPr lvl="1"/>
            <a:r>
              <a:rPr lang="ru-RU" dirty="0"/>
              <a:t>Простой протокол: </a:t>
            </a:r>
            <a:r>
              <a:rPr lang="en-US" dirty="0"/>
              <a:t>[</a:t>
            </a:r>
            <a:r>
              <a:rPr lang="ru-RU" dirty="0"/>
              <a:t>длина</a:t>
            </a:r>
            <a:r>
              <a:rPr lang="en-US" dirty="0"/>
              <a:t>][</a:t>
            </a:r>
            <a:r>
              <a:rPr lang="ru-RU" dirty="0"/>
              <a:t>данные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При нескольких клиентах нужно следить, чтобы данные не перемешивались</a:t>
            </a:r>
          </a:p>
          <a:p>
            <a:pPr lvl="1"/>
            <a:r>
              <a:rPr lang="en-US" dirty="0"/>
              <a:t>write </a:t>
            </a:r>
            <a:r>
              <a:rPr lang="ru-RU" dirty="0"/>
              <a:t>гарантирует атомарность, если размер не превышает </a:t>
            </a:r>
            <a:r>
              <a:rPr lang="en-US" dirty="0"/>
              <a:t>PIPE_BUF</a:t>
            </a:r>
          </a:p>
          <a:p>
            <a:pPr lvl="1"/>
            <a:r>
              <a:rPr lang="ru-RU" dirty="0"/>
              <a:t>возможно, в сообщения нужно добавлять идентификатор клиента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781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B6A037-BA97-3BD9-963F-C5F980A9B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0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EDF2-448C-DA62-C39B-F839ED81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Итоги</a:t>
            </a:r>
            <a:r>
              <a:rPr lang="en-US" dirty="0"/>
              <a:t>: signals, pipe, FIFO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69ED96-3959-5FC6-7120-6CE6871B3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720293"/>
            <a:ext cx="10515600" cy="2456670"/>
          </a:xfrm>
        </p:spPr>
        <p:txBody>
          <a:bodyPr/>
          <a:lstStyle/>
          <a:p>
            <a:r>
              <a:rPr lang="ru-RU" dirty="0"/>
              <a:t>Сигнал: «что-то произошло»</a:t>
            </a:r>
          </a:p>
          <a:p>
            <a:r>
              <a:rPr lang="en-US" dirty="0"/>
              <a:t>Pipe: </a:t>
            </a:r>
            <a:r>
              <a:rPr lang="ru-RU" dirty="0"/>
              <a:t>«вот поток данных между родственными процессами»</a:t>
            </a:r>
          </a:p>
          <a:p>
            <a:r>
              <a:rPr lang="en-US" dirty="0"/>
              <a:t>FIFO: </a:t>
            </a:r>
            <a:r>
              <a:rPr lang="ru-RU" dirty="0"/>
              <a:t>«поток данных между независимо запущенными процессами»</a:t>
            </a:r>
            <a:endParaRPr lang="en-US" dirty="0"/>
          </a:p>
        </p:txBody>
      </p:sp>
      <p:graphicFrame>
        <p:nvGraphicFramePr>
          <p:cNvPr id="13" name="Content Placeholder 9">
            <a:extLst>
              <a:ext uri="{FF2B5EF4-FFF2-40B4-BE49-F238E27FC236}">
                <a16:creationId xmlns:a16="http://schemas.microsoft.com/office/drawing/2014/main" id="{ECAB7311-3BDE-20E7-44FE-604ADA4274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1500981"/>
              </p:ext>
            </p:extLst>
          </p:nvPr>
        </p:nvGraphicFramePr>
        <p:xfrm>
          <a:off x="838199" y="1825625"/>
          <a:ext cx="10515600" cy="1759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259942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325124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6235510"/>
                    </a:ext>
                  </a:extLst>
                </a:gridCol>
              </a:tblGrid>
              <a:tr h="464657">
                <a:tc>
                  <a:txBody>
                    <a:bodyPr/>
                    <a:lstStyle/>
                    <a:p>
                      <a:r>
                        <a:rPr lang="ru-RU" dirty="0"/>
                        <a:t>Механизм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Что передает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Как связывает процессы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497151"/>
                  </a:ext>
                </a:extLst>
              </a:tr>
              <a:tr h="209404">
                <a:tc>
                  <a:txBody>
                    <a:bodyPr/>
                    <a:lstStyle/>
                    <a:p>
                      <a:r>
                        <a:rPr lang="en-US" dirty="0"/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Событие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 </a:t>
                      </a:r>
                      <a:r>
                        <a:rPr lang="en-US" dirty="0"/>
                        <a:t>PID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621842"/>
                  </a:ext>
                </a:extLst>
              </a:tr>
              <a:tr h="464657">
                <a:tc>
                  <a:txBody>
                    <a:bodyPr/>
                    <a:lstStyle/>
                    <a:p>
                      <a:r>
                        <a:rPr lang="en-US" dirty="0"/>
                        <a:t>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Поток байтов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Через унаследованные </a:t>
                      </a:r>
                      <a:r>
                        <a:rPr lang="en-US" dirty="0"/>
                        <a:t>FD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090299"/>
                  </a:ext>
                </a:extLst>
              </a:tr>
              <a:tr h="464657">
                <a:tc>
                  <a:txBody>
                    <a:bodyPr/>
                    <a:lstStyle/>
                    <a:p>
                      <a:r>
                        <a:rPr lang="en-US" dirty="0"/>
                        <a:t>FIFO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Поток байтов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Через имя в файловой системе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86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4279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8006-80FE-A6E5-EA48-AFE48652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44075-7E61-D064-6E90-59FAD544A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Tanenbaum, H. Bos “Modern Operating Systems 5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  <a:r>
              <a:rPr lang="en-US"/>
              <a:t>”, 2023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852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9369</Words>
  <Application>Microsoft Office PowerPoint</Application>
  <PresentationFormat>Widescreen</PresentationFormat>
  <Paragraphs>904</Paragraphs>
  <Slides>67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Aptos</vt:lpstr>
      <vt:lpstr>Aptos Display</vt:lpstr>
      <vt:lpstr>Arial</vt:lpstr>
      <vt:lpstr>Cambria Math</vt:lpstr>
      <vt:lpstr>Consolas</vt:lpstr>
      <vt:lpstr>Office Theme</vt:lpstr>
      <vt:lpstr>Процессы</vt:lpstr>
      <vt:lpstr>Программа ≠ процесс</vt:lpstr>
      <vt:lpstr>Процесс — «виртуальный компьютер» для программы</vt:lpstr>
      <vt:lpstr>Псевдопараллелизм и настоящий параллелизм</vt:lpstr>
      <vt:lpstr>Почему это важно программисту</vt:lpstr>
      <vt:lpstr>Создание процесса</vt:lpstr>
      <vt:lpstr>Как появляются процессы</vt:lpstr>
      <vt:lpstr>Создание процесса: UNIX и Windows</vt:lpstr>
      <vt:lpstr>fork → exec → wait: основной сценарий в Linux</vt:lpstr>
      <vt:lpstr>fork → exec → wait</vt:lpstr>
      <vt:lpstr>Как обращаться к процессу: PID и HANDLE</vt:lpstr>
      <vt:lpstr>Управление процессами в Windows и Linux</vt:lpstr>
      <vt:lpstr>fork в C++ программах</vt:lpstr>
      <vt:lpstr>Что происходит с C++-объектами после fork()</vt:lpstr>
      <vt:lpstr>Где возникают проблемы</vt:lpstr>
      <vt:lpstr>Практическое правило: fork() → минимальная работа → exec() или _exit()</vt:lpstr>
      <vt:lpstr>Завершение процесса</vt:lpstr>
      <vt:lpstr>Как завершается процесс</vt:lpstr>
      <vt:lpstr>Родитель должен получить статус завершения</vt:lpstr>
      <vt:lpstr>Zombie-процесс в UNIX</vt:lpstr>
      <vt:lpstr>Reaping и аналог в Windows</vt:lpstr>
      <vt:lpstr>Долгоживущие фоновые процессы</vt:lpstr>
      <vt:lpstr>Долгоживущие фоновые процессы</vt:lpstr>
      <vt:lpstr>UNIX daemon: основные признаки</vt:lpstr>
      <vt:lpstr>Как процесс становится daemon</vt:lpstr>
      <vt:lpstr>Простейший демон</vt:lpstr>
      <vt:lpstr>Современный Linux: systemd</vt:lpstr>
      <vt:lpstr>Windows Service</vt:lpstr>
      <vt:lpstr>PowerPoint Presentation</vt:lpstr>
      <vt:lpstr>Иерархия процессов</vt:lpstr>
      <vt:lpstr>Иерархия процессов</vt:lpstr>
      <vt:lpstr>UNIX: дерево процессов</vt:lpstr>
      <vt:lpstr>Процессы в Windows</vt:lpstr>
      <vt:lpstr>Состояния процесса</vt:lpstr>
      <vt:lpstr>Три состояния процесса</vt:lpstr>
      <vt:lpstr>Переходы между состояниями</vt:lpstr>
      <vt:lpstr>Реализация модели процессов</vt:lpstr>
      <vt:lpstr>Как ОС представляет процесс</vt:lpstr>
      <vt:lpstr>Переключение контекста</vt:lpstr>
      <vt:lpstr>Реализация в Linux: task_struct</vt:lpstr>
      <vt:lpstr>Модель мультипрограммирования</vt:lpstr>
      <vt:lpstr>Зачем нужна многозадачность</vt:lpstr>
      <vt:lpstr>Простая модель загрузки CPU</vt:lpstr>
      <vt:lpstr>Процессы: главная идея</vt:lpstr>
      <vt:lpstr>Коммуникация между процессами (IPC)</vt:lpstr>
      <vt:lpstr>IPC: зачем процессам взаимодействовать</vt:lpstr>
      <vt:lpstr>Сигнал как асинхронное событие</vt:lpstr>
      <vt:lpstr>Сигналы, которые важно знать</vt:lpstr>
      <vt:lpstr>Обработка сигналов</vt:lpstr>
      <vt:lpstr>Сигнал может прервать системный вызов</vt:lpstr>
      <vt:lpstr>Как сигнал попадает в пользовательский код</vt:lpstr>
      <vt:lpstr>Почему handler должен быть минимальным</vt:lpstr>
      <vt:lpstr>Каналы (pipes)</vt:lpstr>
      <vt:lpstr>Anonymous pipe: поток байтов</vt:lpstr>
      <vt:lpstr>Почему pipe работает после fork()</vt:lpstr>
      <vt:lpstr>Pipeline: stdout одного процесса → stdin другого</vt:lpstr>
      <vt:lpstr>Почему нужно закрывать лишние дескрипторы</vt:lpstr>
      <vt:lpstr>Pipeline произвольной длины</vt:lpstr>
      <vt:lpstr>FIFO</vt:lpstr>
      <vt:lpstr>FIFO: pipe с именем в файловой системе</vt:lpstr>
      <vt:lpstr>Схема работы FIFO</vt:lpstr>
      <vt:lpstr>Жизненный цикл FIFO</vt:lpstr>
      <vt:lpstr>Блокирующее поведение FIFO</vt:lpstr>
      <vt:lpstr>FIFO — поток байтов, а не очередь сообщений</vt:lpstr>
      <vt:lpstr>PowerPoint Presentation</vt:lpstr>
      <vt:lpstr>Итоги: signals, pipe, FIFO</vt:lpstr>
      <vt:lpstr>Список литературы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99</cp:revision>
  <dcterms:created xsi:type="dcterms:W3CDTF">2025-09-15T14:44:40Z</dcterms:created>
  <dcterms:modified xsi:type="dcterms:W3CDTF">2026-09-22T17:22:05Z</dcterms:modified>
</cp:coreProperties>
</file>