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307" r:id="rId2"/>
    <p:sldId id="260" r:id="rId3"/>
    <p:sldId id="259" r:id="rId4"/>
    <p:sldId id="262" r:id="rId5"/>
    <p:sldId id="264" r:id="rId6"/>
    <p:sldId id="263" r:id="rId7"/>
    <p:sldId id="282" r:id="rId8"/>
    <p:sldId id="283" r:id="rId9"/>
    <p:sldId id="266" r:id="rId10"/>
    <p:sldId id="265" r:id="rId11"/>
    <p:sldId id="305" r:id="rId12"/>
    <p:sldId id="297" r:id="rId13"/>
    <p:sldId id="268" r:id="rId14"/>
    <p:sldId id="273" r:id="rId15"/>
    <p:sldId id="274" r:id="rId16"/>
    <p:sldId id="269" r:id="rId17"/>
    <p:sldId id="272" r:id="rId18"/>
    <p:sldId id="275" r:id="rId19"/>
    <p:sldId id="277" r:id="rId20"/>
    <p:sldId id="276" r:id="rId21"/>
    <p:sldId id="308" r:id="rId22"/>
    <p:sldId id="278" r:id="rId23"/>
    <p:sldId id="280" r:id="rId24"/>
    <p:sldId id="281" r:id="rId25"/>
    <p:sldId id="296" r:id="rId26"/>
    <p:sldId id="284" r:id="rId27"/>
    <p:sldId id="285" r:id="rId28"/>
    <p:sldId id="286" r:id="rId29"/>
    <p:sldId id="287" r:id="rId30"/>
    <p:sldId id="295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8" r:id="rId39"/>
    <p:sldId id="299" r:id="rId40"/>
    <p:sldId id="300" r:id="rId41"/>
    <p:sldId id="301" r:id="rId42"/>
    <p:sldId id="302" r:id="rId43"/>
    <p:sldId id="303" r:id="rId44"/>
    <p:sldId id="271" r:id="rId45"/>
    <p:sldId id="309" r:id="rId46"/>
    <p:sldId id="304" r:id="rId47"/>
    <p:sldId id="27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Библиотеки" id="{40E9D44D-7FE9-43C9-8851-BABD6C4EE776}">
          <p14:sldIdLst>
            <p14:sldId id="307"/>
            <p14:sldId id="260"/>
            <p14:sldId id="259"/>
            <p14:sldId id="262"/>
            <p14:sldId id="264"/>
          </p14:sldIdLst>
        </p14:section>
        <p14:section name="Динамические библотеки" id="{4870763A-A38B-422E-9275-E8910A7F742B}">
          <p14:sldIdLst>
            <p14:sldId id="263"/>
            <p14:sldId id="282"/>
            <p14:sldId id="283"/>
            <p14:sldId id="266"/>
            <p14:sldId id="265"/>
            <p14:sldId id="305"/>
          </p14:sldIdLst>
        </p14:section>
        <p14:section name="Загрузка динамических библиотек" id="{A391ABDD-D336-40C2-AEEE-7D0C433B7917}">
          <p14:sldIdLst>
            <p14:sldId id="297"/>
            <p14:sldId id="268"/>
            <p14:sldId id="273"/>
            <p14:sldId id="274"/>
            <p14:sldId id="269"/>
            <p14:sldId id="272"/>
            <p14:sldId id="275"/>
            <p14:sldId id="277"/>
            <p14:sldId id="276"/>
            <p14:sldId id="308"/>
            <p14:sldId id="278"/>
            <p14:sldId id="280"/>
            <p14:sldId id="281"/>
          </p14:sldIdLst>
        </p14:section>
        <p14:section name="Декорирование имён и C-интерфейс" id="{A6AA2153-AB8A-4057-8E1E-952AFFCBC11D}">
          <p14:sldIdLst>
            <p14:sldId id="296"/>
            <p14:sldId id="284"/>
            <p14:sldId id="285"/>
            <p14:sldId id="286"/>
            <p14:sldId id="287"/>
          </p14:sldIdLst>
        </p14:section>
        <p14:section name="Передача и возврат сложных объектов" id="{9A95B970-ACFB-4371-B1EF-8C843F0E5DB5}">
          <p14:sldIdLst>
            <p14:sldId id="295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DLL Hell" id="{726BBEE6-1927-45DA-BA7C-CD06AEDFC0A6}">
          <p14:sldIdLst>
            <p14:sldId id="298"/>
            <p14:sldId id="299"/>
            <p14:sldId id="300"/>
            <p14:sldId id="301"/>
            <p14:sldId id="302"/>
            <p14:sldId id="303"/>
            <p14:sldId id="271"/>
            <p14:sldId id="309"/>
            <p14:sldId id="304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9" autoAdjust="0"/>
    <p:restoredTop sz="66383" autoAdjust="0"/>
  </p:normalViewPr>
  <p:slideViewPr>
    <p:cSldViewPr snapToGrid="0" showGuides="1">
      <p:cViewPr varScale="1">
        <p:scale>
          <a:sx n="61" d="100"/>
          <a:sy n="61" d="100"/>
        </p:scale>
        <p:origin x="206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3F337-6A2C-4866-9D72-550F4A975CE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2A872-64FB-4814-81C6-17E064E10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2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48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показывает </a:t>
            </a:r>
            <a:r>
              <a:rPr lang="ru-RU" b="1" dirty="0"/>
              <a:t>полный путь сборки приложения</a:t>
            </a:r>
            <a:r>
              <a:rPr lang="ru-RU" dirty="0"/>
              <a:t> — от исходного кода до готового исполняемого файла. Это важно для понимания того, </a:t>
            </a:r>
            <a:r>
              <a:rPr lang="ru-RU" b="1" dirty="0"/>
              <a:t>на каком этапе подключаются библиотеки</a:t>
            </a:r>
            <a:r>
              <a:rPr lang="ru-RU" dirty="0"/>
              <a:t> и какую роль здесь играет операционная система.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Слева мы видим исходные файлы на языке высокого уровня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main.cpp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foo.cpp</a:t>
            </a:r>
            <a:r>
              <a:rPr lang="ru-RU" dirty="0"/>
              <a:t>. Каждый из них </a:t>
            </a:r>
            <a:r>
              <a:rPr lang="ru-RU" b="1" dirty="0"/>
              <a:t>обрабатывается компилятором отдельно</a:t>
            </a:r>
            <a:r>
              <a:rPr lang="ru-RU" dirty="0"/>
              <a:t>. Компилятор переводит исходный код в промежуточное представление — чаще всего в ассемблерный код, что на схеме обозначено файлами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main.asm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foo.asm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Затем эти ассемблерные файлы обрабатываются </a:t>
            </a:r>
            <a:r>
              <a:rPr lang="ru-RU" b="1" dirty="0"/>
              <a:t>ассемблером</a:t>
            </a:r>
            <a:r>
              <a:rPr lang="ru-RU" dirty="0"/>
              <a:t>, который преобразует их в объектные файлы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main.obj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foo.obj</a:t>
            </a:r>
            <a:r>
              <a:rPr lang="ru-RU" dirty="0"/>
              <a:t>. Объектный файл уже содержит машинный код, но </a:t>
            </a:r>
            <a:r>
              <a:rPr lang="ru-RU" b="1" dirty="0"/>
              <a:t>ещё не является готовой программой</a:t>
            </a:r>
            <a:r>
              <a:rPr lang="ru-RU" dirty="0"/>
              <a:t>. В нём могут оставаться неразрешённые ссылки на функции и данные, определённые в других файлах или библиотеках.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в процесс вступает </a:t>
            </a:r>
            <a:r>
              <a:rPr lang="ru-RU" b="1" dirty="0"/>
              <a:t>линковщик</a:t>
            </a:r>
            <a:r>
              <a:rPr lang="ru-RU" dirty="0"/>
              <a:t>. Он объединяет все объектные файлы программы и подключает необходимые библиотеки. На схеме показано подключение стандартной библиотеки времени выполнения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msvcrt.lib</a:t>
            </a:r>
            <a:r>
              <a:rPr lang="ru-RU" dirty="0"/>
              <a:t>. Это пример </a:t>
            </a:r>
            <a:r>
              <a:rPr lang="ru-RU" b="1" dirty="0"/>
              <a:t>статической библиотеки</a:t>
            </a:r>
            <a:r>
              <a:rPr lang="ru-RU" dirty="0"/>
              <a:t>, содержащей реализацию стандартных функций языка, таких как ввод-вывод, работа с памятью и строки.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Линковщик выполняет несколько важных задач: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разрешает ссылки между объектными файлами,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добавляет код из библиотек,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формирует единое адресное пространство будущей программы.</a:t>
            </a:r>
          </a:p>
          <a:p>
            <a:r>
              <a:rPr lang="ru-RU" dirty="0"/>
              <a:t>Результатом работы линковщика становится готовый исполняемый файл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Program.exe</a:t>
            </a:r>
            <a:r>
              <a:rPr lang="ru-RU" dirty="0"/>
              <a:t>, который уже может быть загружен и запущен операционной системой.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03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Библиотека — это </a:t>
            </a:r>
            <a:r>
              <a:rPr lang="ru-RU" b="1" dirty="0"/>
              <a:t>набор готовых компонентов</a:t>
            </a:r>
            <a:r>
              <a:rPr lang="ru-RU" dirty="0"/>
              <a:t>: функций, классов, а иногда и дополнительных ресурсов, которые программист может использовать при создании своих программ. Основная цель библиотек — </a:t>
            </a:r>
            <a:r>
              <a:rPr lang="ru-RU" b="1" dirty="0"/>
              <a:t>упростить разработку</a:t>
            </a:r>
            <a:r>
              <a:rPr lang="ru-RU" dirty="0"/>
              <a:t>, чтобы не писать один и тот же код заново.</a:t>
            </a:r>
          </a:p>
          <a:p>
            <a:r>
              <a:rPr lang="ru-RU" dirty="0"/>
              <a:t>Важно подчеркнуть, что </a:t>
            </a:r>
            <a:r>
              <a:rPr lang="ru-RU" b="1" dirty="0"/>
              <a:t>библиотека сама по себе не является приложением</a:t>
            </a:r>
            <a:r>
              <a:rPr lang="ru-RU" dirty="0"/>
              <a:t>. Мы не запускаем её напрямую — она предназначена для того, чтобы </a:t>
            </a:r>
            <a:r>
              <a:rPr lang="ru-RU" b="1" dirty="0"/>
              <a:t>подключаться к другим программам</a:t>
            </a:r>
            <a:r>
              <a:rPr lang="ru-RU" dirty="0"/>
              <a:t> и расширять их функциональность.</a:t>
            </a:r>
          </a:p>
          <a:p>
            <a:r>
              <a:rPr lang="ru-RU" dirty="0"/>
              <a:t>Одно из ключевых преимуществ библиотек — </a:t>
            </a:r>
            <a:r>
              <a:rPr lang="ru-RU" b="1" dirty="0"/>
              <a:t>повторное использование кода</a:t>
            </a:r>
            <a:r>
              <a:rPr lang="ru-RU" dirty="0"/>
              <a:t>. Один и тот же код может использоваться десятками и сотнями программ, что снижает количество ошибок, упрощает сопровождение и ускоряет разработку.</a:t>
            </a:r>
          </a:p>
          <a:p>
            <a:r>
              <a:rPr lang="ru-RU" dirty="0"/>
              <a:t>С точки зрения операционных систем библиотеки принято делить на </a:t>
            </a:r>
            <a:r>
              <a:rPr lang="ru-RU" b="1" dirty="0"/>
              <a:t>два типа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статические библиотеки</a:t>
            </a:r>
            <a:r>
              <a:rPr lang="ru-RU" dirty="0"/>
              <a:t>, которые включаются в программу на этапе компиляции,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b="1" dirty="0"/>
              <a:t>динамические библиотеки</a:t>
            </a:r>
            <a:r>
              <a:rPr lang="ru-RU" dirty="0"/>
              <a:t>, которые подключаются во время выполнения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68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со </a:t>
            </a:r>
            <a:r>
              <a:rPr lang="ru-RU" b="1" dirty="0"/>
              <a:t>статических библиотек</a:t>
            </a:r>
            <a:r>
              <a:rPr lang="ru-RU" dirty="0"/>
              <a:t>, как с более простого и исторически первого варианта.</a:t>
            </a:r>
          </a:p>
          <a:p>
            <a:r>
              <a:rPr lang="ru-RU" dirty="0"/>
              <a:t>Статическая библиотека обычно представляет собой </a:t>
            </a:r>
            <a:r>
              <a:rPr lang="ru-RU" b="1" dirty="0"/>
              <a:t>архив объектных файлов</a:t>
            </a:r>
            <a:r>
              <a:rPr lang="ru-RU" dirty="0"/>
              <a:t> — то есть скомпилированных фрагментов кода, но ещё не готовых к выполнению. В Unix-подобных системах это, например, файлы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.a</a:t>
            </a:r>
            <a:r>
              <a:rPr lang="ru-RU" dirty="0"/>
              <a:t>.</a:t>
            </a:r>
          </a:p>
          <a:p>
            <a:r>
              <a:rPr lang="ru-RU" dirty="0"/>
              <a:t>Подключение статической библиотеки происходит </a:t>
            </a:r>
            <a:r>
              <a:rPr lang="ru-RU" b="1" dirty="0"/>
              <a:t>на этапе линковки</a:t>
            </a:r>
            <a:r>
              <a:rPr lang="ru-RU" dirty="0"/>
              <a:t>. Это означает, что компоновщик берёт необходимые объектные файлы из библиотеки и </a:t>
            </a:r>
            <a:r>
              <a:rPr lang="ru-RU" b="1" dirty="0"/>
              <a:t>включает их прямо в исполняемый файл программы</a:t>
            </a:r>
            <a:r>
              <a:rPr lang="ru-RU" dirty="0"/>
              <a:t>. В результате на выходе мы получаем один самостоятельный </a:t>
            </a:r>
            <a:r>
              <a:rPr lang="ru-RU" dirty="0" err="1"/>
              <a:t>executable</a:t>
            </a:r>
            <a:r>
              <a:rPr lang="ru-RU" dirty="0"/>
              <a:t>.</a:t>
            </a:r>
          </a:p>
          <a:p>
            <a:r>
              <a:rPr lang="ru-RU" dirty="0"/>
              <a:t>Отсюда следуют основные </a:t>
            </a:r>
            <a:r>
              <a:rPr lang="ru-RU" b="1" dirty="0"/>
              <a:t>достоинства</a:t>
            </a:r>
            <a:r>
              <a:rPr lang="ru-RU" dirty="0"/>
              <a:t> статических библиотек.</a:t>
            </a:r>
            <a:br>
              <a:rPr lang="ru-RU" dirty="0"/>
            </a:br>
            <a:r>
              <a:rPr lang="ru-RU" dirty="0"/>
              <a:t>Во-первых, программа </a:t>
            </a:r>
            <a:r>
              <a:rPr lang="ru-RU" b="1" dirty="0"/>
              <a:t>не зависит от наличия библиотеки на целевой машине</a:t>
            </a:r>
            <a:r>
              <a:rPr lang="ru-RU" dirty="0"/>
              <a:t> — всё необходимое уже встроено в исполняемый файл.</a:t>
            </a:r>
            <a:br>
              <a:rPr lang="ru-RU" dirty="0"/>
            </a:br>
            <a:r>
              <a:rPr lang="ru-RU" dirty="0"/>
              <a:t>Во-вторых, все зависимости находятся </a:t>
            </a:r>
            <a:r>
              <a:rPr lang="ru-RU" b="1" dirty="0"/>
              <a:t>внутри одного файла</a:t>
            </a:r>
            <a:r>
              <a:rPr lang="ru-RU" dirty="0"/>
              <a:t>, что упрощает распространение и запуск программы.</a:t>
            </a:r>
          </a:p>
          <a:p>
            <a:r>
              <a:rPr lang="ru-RU" dirty="0"/>
              <a:t>Однако у такого подхода есть и </a:t>
            </a:r>
            <a:r>
              <a:rPr lang="ru-RU" b="1" dirty="0"/>
              <a:t>серьёзные недостатки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Поскольку каждая программа содержит собственную копию кода библиотеки, </a:t>
            </a:r>
            <a:r>
              <a:rPr lang="ru-RU" b="1" dirty="0"/>
              <a:t>увеличивается потребление памяти и дискового пространства</a:t>
            </a:r>
            <a:r>
              <a:rPr lang="ru-RU" dirty="0"/>
              <a:t>. Если несколько программ используют одну и ту же библиотеку, её код будет дублироваться.</a:t>
            </a:r>
          </a:p>
          <a:p>
            <a:r>
              <a:rPr lang="ru-RU" dirty="0"/>
              <a:t>Кроме того, возникает проблема сопровождения: </a:t>
            </a:r>
            <a:r>
              <a:rPr lang="ru-RU" b="1" dirty="0"/>
              <a:t>после обновления библиотеки необходимо пересобрать все программы</a:t>
            </a:r>
            <a:r>
              <a:rPr lang="ru-RU" dirty="0"/>
              <a:t>, которые её используют. Это усложняет обновления и может быть критично для крупных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22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</a:t>
            </a:r>
            <a:r>
              <a:rPr lang="ru-RU" b="1" dirty="0"/>
              <a:t>как именно происходит компоновка программы со статической библиотекой</a:t>
            </a:r>
            <a:r>
              <a:rPr lang="ru-RU" dirty="0"/>
              <a:t>.</a:t>
            </a:r>
          </a:p>
          <a:p>
            <a:r>
              <a:rPr lang="ru-RU" dirty="0"/>
              <a:t>В верхней части мы видим статическую библиотеку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Util.lib</a:t>
            </a:r>
            <a:r>
              <a:rPr lang="ru-RU" dirty="0"/>
              <a:t>. Она представляет собой </a:t>
            </a:r>
            <a:r>
              <a:rPr lang="ru-RU" b="1" dirty="0"/>
              <a:t>архив объектных файлов</a:t>
            </a:r>
            <a:r>
              <a:rPr lang="ru-RU" dirty="0"/>
              <a:t>, в данном случае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foo.obj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bar.obj</a:t>
            </a:r>
            <a:r>
              <a:rPr lang="ru-RU" dirty="0"/>
              <a:t>. Каждый объектный файл содержит реализацию отдельных функций —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В нижней части показан исходный код программы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app1.cpp</a:t>
            </a:r>
            <a:r>
              <a:rPr lang="ru-RU" dirty="0"/>
              <a:t>. В коде подключается заголовочный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Foo.h</a:t>
            </a:r>
            <a:r>
              <a:rPr lang="ru-RU" dirty="0"/>
              <a:t>, и внутри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вызывается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На этапе компиляции этот исходный код превращается в объектный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app1.obj</a:t>
            </a:r>
            <a:r>
              <a:rPr lang="ru-RU" dirty="0"/>
              <a:t>. Важно отметить, что на этом этапе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  <a:r>
              <a:rPr lang="ru-RU" b="1" dirty="0"/>
              <a:t>ещё не связана с конкретной реализацией</a:t>
            </a:r>
            <a:r>
              <a:rPr lang="ru-RU" dirty="0"/>
              <a:t> — объектный файл лишь содержит информацию о том, что такая функция нужна.</a:t>
            </a:r>
          </a:p>
          <a:p>
            <a:r>
              <a:rPr lang="ru-RU" dirty="0"/>
              <a:t>Далее вступает в работу </a:t>
            </a:r>
            <a:r>
              <a:rPr lang="ru-RU" b="1" dirty="0"/>
              <a:t>линковщик</a:t>
            </a:r>
            <a:r>
              <a:rPr lang="ru-RU" dirty="0"/>
              <a:t>. Он анализирует объектный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app1.obj</a:t>
            </a:r>
            <a:r>
              <a:rPr lang="ru-RU" dirty="0"/>
              <a:t>, видит, что программе требуется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и ищет её реализацию в подключённой статической библиотеке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Util.lib</a:t>
            </a:r>
            <a:r>
              <a:rPr lang="ru-RU" dirty="0"/>
              <a:t>. Найдя нужный объектный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foo.obj</a:t>
            </a:r>
            <a:r>
              <a:rPr lang="ru-RU" dirty="0"/>
              <a:t>, линковщик </a:t>
            </a:r>
            <a:r>
              <a:rPr lang="ru-RU" b="1" dirty="0"/>
              <a:t>включает его код напрямую в исполняемый файл</a:t>
            </a:r>
            <a:r>
              <a:rPr lang="ru-RU" dirty="0"/>
              <a:t>.</a:t>
            </a:r>
          </a:p>
          <a:p>
            <a:r>
              <a:rPr lang="ru-RU" dirty="0"/>
              <a:t>В результате на выходе формируется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app1.exe</a:t>
            </a:r>
            <a:r>
              <a:rPr lang="ru-RU" dirty="0"/>
              <a:t>, который уже содержит: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код самой программы,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код всех необходимых функций из статической библиотеки.</a:t>
            </a:r>
          </a:p>
          <a:p>
            <a:r>
              <a:rPr lang="ru-RU" dirty="0"/>
              <a:t>Таким образом, итоговый исполняемый файл становится </a:t>
            </a:r>
            <a:r>
              <a:rPr lang="ru-RU" b="1" dirty="0"/>
              <a:t>полностью самодостаточным</a:t>
            </a:r>
            <a:r>
              <a:rPr lang="ru-RU" dirty="0"/>
              <a:t> — для работы ему больше не нужна сама библиотека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Util.lib</a:t>
            </a:r>
            <a:r>
              <a:rPr lang="ru-RU" dirty="0"/>
              <a:t>. Это наглядно иллюстрирует основной принцип статической компоновки: </a:t>
            </a:r>
            <a:r>
              <a:rPr lang="ru-RU" i="1" dirty="0"/>
              <a:t>всё необходимое встраивается в </a:t>
            </a:r>
            <a:r>
              <a:rPr lang="ru-RU" i="1" dirty="0" err="1"/>
              <a:t>executable</a:t>
            </a:r>
            <a:r>
              <a:rPr lang="ru-RU" i="1" dirty="0"/>
              <a:t> на этапе сборки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29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перейдём к ключевой теме лекции — </a:t>
            </a:r>
            <a:r>
              <a:rPr lang="ru-RU" b="1" dirty="0"/>
              <a:t>динамическим библиотекам</a:t>
            </a:r>
            <a:r>
              <a:rPr lang="ru-RU" dirty="0"/>
              <a:t>.</a:t>
            </a:r>
          </a:p>
          <a:p>
            <a:r>
              <a:rPr lang="ru-RU" dirty="0"/>
              <a:t>Динамическая библиотека — это </a:t>
            </a:r>
            <a:r>
              <a:rPr lang="ru-RU" b="1" dirty="0"/>
              <a:t>отдельный файл</a:t>
            </a:r>
            <a:r>
              <a:rPr lang="ru-RU" dirty="0"/>
              <a:t>, который </a:t>
            </a:r>
            <a:r>
              <a:rPr lang="ru-RU" b="1" dirty="0"/>
              <a:t>подключается к программе не на этапе сборки, а во время её выполнения</a:t>
            </a:r>
            <a:r>
              <a:rPr lang="ru-RU" dirty="0"/>
              <a:t>. То есть исполняемый файл программы не содержит кода функций из библиотеки напрямую.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Вместо этого программа хранит </a:t>
            </a:r>
            <a:r>
              <a:rPr lang="ru-RU" b="1" dirty="0"/>
              <a:t>ссылки на функции и данные</a:t>
            </a:r>
            <a:r>
              <a:rPr lang="ru-RU" dirty="0"/>
              <a:t>, которые должны быть взяты из динамической библиотеки. Эти ссылки будут разрешены уже при запуске программы или даже позже — в процессе её работы.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точки зрения операционной системы это означает, что часть работы, которая раньше выполнялась линковщиком при сборке, </a:t>
            </a:r>
            <a:r>
              <a:rPr lang="ru-RU" b="1" dirty="0"/>
              <a:t>переносится на время запуска приложения</a:t>
            </a:r>
            <a:r>
              <a:rPr lang="ru-RU" dirty="0"/>
              <a:t>. Этим занимается специальный механизм ОС — динамический загрузчик или динамический линковщик.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Динамические библиотеки существуют во всех современных операционных системах, но имеют разные форматы и расширения файлов.</a:t>
            </a:r>
            <a:br>
              <a:rPr lang="ru-RU" dirty="0"/>
            </a:br>
            <a:r>
              <a:rPr lang="ru-RU" dirty="0"/>
              <a:t>В Unix-подобных системах это файлы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ru-RU" dirty="0"/>
              <a:t> — </a:t>
            </a:r>
            <a:r>
              <a:rPr lang="ru-RU" i="1" dirty="0" err="1"/>
              <a:t>shared</a:t>
            </a:r>
            <a:r>
              <a:rPr lang="ru-RU" i="1" dirty="0"/>
              <a:t> </a:t>
            </a:r>
            <a:r>
              <a:rPr lang="ru-RU" i="1" dirty="0" err="1"/>
              <a:t>object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операционных системах семейства Windows используются файлы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dll</a:t>
            </a:r>
            <a:r>
              <a:rPr lang="ru-RU" dirty="0"/>
              <a:t> — </a:t>
            </a:r>
            <a:r>
              <a:rPr lang="ru-RU" i="1" dirty="0" err="1"/>
              <a:t>dynamic</a:t>
            </a:r>
            <a:r>
              <a:rPr lang="ru-RU" i="1" dirty="0"/>
              <a:t> </a:t>
            </a:r>
            <a:r>
              <a:rPr lang="ru-RU" i="1" dirty="0" err="1"/>
              <a:t>link</a:t>
            </a:r>
            <a:r>
              <a:rPr lang="ru-RU" i="1" dirty="0"/>
              <a:t> </a:t>
            </a:r>
            <a:r>
              <a:rPr lang="ru-RU" i="1" dirty="0" err="1"/>
              <a:t>library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22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Прежде чем углубляться в механизмы работы динамических библиотек, введём несколько терминов, которые дальше будут постоянно встречаться.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Первое — </a:t>
            </a:r>
            <a:r>
              <a:rPr lang="ru-RU" b="1" dirty="0"/>
              <a:t>символы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Под символами обычно понимают </a:t>
            </a:r>
            <a:r>
              <a:rPr lang="ru-RU" b="1" dirty="0"/>
              <a:t>имена функций, переменных и других объектов</a:t>
            </a:r>
            <a:r>
              <a:rPr lang="ru-RU" dirty="0"/>
              <a:t>, которые библиотека “показывает наружу”. То есть это те элементы, к которым может обратиться другая программа или другая библиотека. По сути, символ — это “контракт”: как внешний код может сослаться на нужную функцию или данные.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— </a:t>
            </a:r>
            <a:r>
              <a:rPr lang="ru-RU" b="1" dirty="0"/>
              <a:t>таблица импорта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структура в исполняемом файле программы, которая описывает, </a:t>
            </a:r>
            <a:r>
              <a:rPr lang="ru-RU" b="1" dirty="0"/>
              <a:t>какие внешние функции и из каких библиотек ей нужны</a:t>
            </a:r>
            <a:r>
              <a:rPr lang="ru-RU" dirty="0"/>
              <a:t>. То есть программа хранит не реализацию функций, а список того, что нужно “подтянуть” извне. На практике там находятся имена символов (и часто — информация о том, из какой DLL/</a:t>
            </a:r>
            <a:r>
              <a:rPr lang="ru-RU" dirty="0" err="1"/>
              <a:t>so</a:t>
            </a:r>
            <a:r>
              <a:rPr lang="ru-RU" dirty="0"/>
              <a:t> их брать), чтобы при запуске можно было связать вызовы в коде с реальными адресами функций.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Следующий термин — </a:t>
            </a:r>
            <a:r>
              <a:rPr lang="ru-RU" b="1" dirty="0"/>
              <a:t>таблица экспорта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уже структура внутри самой динамической библиотеки: </a:t>
            </a:r>
            <a:r>
              <a:rPr lang="ru-RU" b="1" dirty="0"/>
              <a:t>список того, что библиотека предоставляет для внешнего использования</a:t>
            </a:r>
            <a:r>
              <a:rPr lang="ru-RU" dirty="0"/>
              <a:t>. Можно сказать, что экспорт — это “витрина” библиотеки: какие функции и переменные доступны другим.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наконец, </a:t>
            </a:r>
            <a:r>
              <a:rPr lang="ru-RU" b="1" dirty="0"/>
              <a:t>загрузчик</a:t>
            </a:r>
            <a:r>
              <a:rPr lang="ru-RU" dirty="0"/>
              <a:t> (или динамический загрузчик/линковщик времени выполнения).</a:t>
            </a:r>
            <a:br>
              <a:rPr lang="ru-RU" dirty="0"/>
            </a:br>
            <a:r>
              <a:rPr lang="ru-RU" dirty="0"/>
              <a:t>Это компонент операционной системы, который при запуске программы: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находит нужные динамические библиотеки,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загружает их в память процесса,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проверяет и разрешает зависимости (когда одна библиотека зависит от другой),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выполняет </a:t>
            </a:r>
            <a:r>
              <a:rPr lang="ru-RU" b="1" dirty="0"/>
              <a:t>связывание символов</a:t>
            </a:r>
            <a:r>
              <a:rPr lang="ru-RU" dirty="0"/>
              <a:t>, то есть сопоставляет записи из таблицы импорта программы с записями из таблиц экспорта библиотек, подставляя реальные адреса функций.</a:t>
            </a:r>
          </a:p>
          <a:p>
            <a:endParaRPr lang="en-US" dirty="0"/>
          </a:p>
          <a:p>
            <a:r>
              <a:rPr lang="ru-RU" dirty="0"/>
              <a:t>Эти понятия — основа для понимания, как именно работает динамическая линковка: программа “просит” символы через импорт, библиотека “отдаёт” их через экспорт, а загрузчик связывает одно с другим.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94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рассмотрим, </a:t>
            </a:r>
            <a:r>
              <a:rPr lang="ru-RU" b="1" dirty="0"/>
              <a:t>почему динамические библиотеки вообще используются</a:t>
            </a:r>
            <a:r>
              <a:rPr lang="ru-RU" dirty="0"/>
              <a:t>, и с какими проблемами они связаны.</a:t>
            </a:r>
          </a:p>
          <a:p>
            <a:r>
              <a:rPr lang="ru-RU" dirty="0"/>
              <a:t>Начнём с </a:t>
            </a:r>
            <a:r>
              <a:rPr lang="ru-RU" b="1" dirty="0"/>
              <a:t>достоинств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Первое важное преимущество состоит в том, что </a:t>
            </a:r>
            <a:r>
              <a:rPr lang="ru-RU" b="1" dirty="0"/>
              <a:t>библиотека загружается в память только при необходимости</a:t>
            </a:r>
            <a:r>
              <a:rPr lang="ru-RU" dirty="0"/>
              <a:t>. Если программа содержит ссылки на динамическую библиотеку, но фактически не использует часть её функций, соответствующий код может вообще не быть загружен или задействован. Это снижает расход памяти.</a:t>
            </a:r>
          </a:p>
          <a:p>
            <a:endParaRPr lang="ru-RU" dirty="0"/>
          </a:p>
          <a:p>
            <a:r>
              <a:rPr lang="ru-RU" dirty="0"/>
              <a:t>Второе ключевое достоинство — </a:t>
            </a:r>
            <a:r>
              <a:rPr lang="ru-RU" b="1" dirty="0"/>
              <a:t>совместное использование кода несколькими программами</a:t>
            </a:r>
            <a:r>
              <a:rPr lang="ru-RU" dirty="0"/>
              <a:t>. Одна и та же динамическая библиотека может быть загружена в память один раз и использоваться сразу несколькими процессами. Это особенно важно для операционных систем, где десятки программ используют одни и те же стандартные библиотеки.</a:t>
            </a:r>
          </a:p>
          <a:p>
            <a:endParaRPr lang="ru-RU" dirty="0"/>
          </a:p>
          <a:p>
            <a:r>
              <a:rPr lang="ru-RU" dirty="0"/>
              <a:t>Третье преимущество связано с сопровождением программ: </a:t>
            </a:r>
            <a:r>
              <a:rPr lang="ru-RU" b="1" dirty="0"/>
              <a:t>библиотеку можно обновить без перекомпиляции приложения</a:t>
            </a:r>
            <a:r>
              <a:rPr lang="ru-RU" dirty="0"/>
              <a:t>. Если интерфейс библиотеки остаётся совместимым, исправления ошибок и оптимизации становятся доступны всем программам, которые её используют, автоматически.</a:t>
            </a:r>
          </a:p>
          <a:p>
            <a:endParaRPr lang="ru-RU" dirty="0"/>
          </a:p>
          <a:p>
            <a:r>
              <a:rPr lang="ru-RU" dirty="0"/>
              <a:t>Однако у динамических библиотек есть и </a:t>
            </a:r>
            <a:r>
              <a:rPr lang="ru-RU" b="1" dirty="0"/>
              <a:t>недостатки</a:t>
            </a:r>
            <a:r>
              <a:rPr lang="ru-RU" dirty="0"/>
              <a:t>.</a:t>
            </a:r>
          </a:p>
          <a:p>
            <a:r>
              <a:rPr lang="ru-RU" dirty="0"/>
              <a:t>Один из самых известных — это </a:t>
            </a:r>
            <a:r>
              <a:rPr lang="ru-RU" b="1" dirty="0"/>
              <a:t>проблемы несовместимых версий библиотек</a:t>
            </a:r>
            <a:r>
              <a:rPr lang="ru-RU" dirty="0"/>
              <a:t>, особенно в среде Windows, где это явление часто называют </a:t>
            </a:r>
            <a:r>
              <a:rPr lang="ru-RU" i="1" dirty="0"/>
              <a:t>DLL </a:t>
            </a:r>
            <a:r>
              <a:rPr lang="ru-RU" i="1" dirty="0" err="1"/>
              <a:t>hell</a:t>
            </a:r>
            <a:r>
              <a:rPr lang="ru-RU" dirty="0"/>
              <a:t>. Если программа ожидает одну версию библиотеки, а в системе установлена другая, возможны ошибки запуска или некорректная работа.</a:t>
            </a:r>
          </a:p>
          <a:p>
            <a:endParaRPr lang="ru-RU" dirty="0"/>
          </a:p>
          <a:p>
            <a:r>
              <a:rPr lang="ru-RU" dirty="0"/>
              <a:t>Кроме того, динамические библиотеки требуют </a:t>
            </a:r>
            <a:r>
              <a:rPr lang="ru-RU" b="1" dirty="0"/>
              <a:t>более сложной настройки окружения программы</a:t>
            </a:r>
            <a:r>
              <a:rPr lang="ru-RU" dirty="0"/>
              <a:t>. Операционная система должна уметь найти нужные файлы библиотек, версии должны совпадать, а зависимости — быть корректно разрешены. Ошибки в путях, переменных окружения или конфигурации могут привести к тому, что программа просто не запустится.</a:t>
            </a:r>
          </a:p>
          <a:p>
            <a:endParaRPr lang="ru-RU" dirty="0"/>
          </a:p>
          <a:p>
            <a:r>
              <a:rPr lang="ru-RU" dirty="0"/>
              <a:t>Таким образом, динамические библиотеки дают выигрыш в памяти и удобстве обновления, но требуют аккуратного управления версиями и зависимостями — и именно этим активно занимается операционная система и инструменты сборки.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68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подчеркнуть, что динамические библиотеки — это не просто удобство для разработчиков, а </a:t>
            </a:r>
            <a:r>
              <a:rPr lang="ru-RU" b="1" dirty="0"/>
              <a:t>фундаментальный механизм современных операционных систем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Во-первых, именно в динамических библиотеках часто реализуются </a:t>
            </a:r>
            <a:r>
              <a:rPr lang="ru-RU" b="1" dirty="0"/>
              <a:t>интерфейсы системных вызовов</a:t>
            </a:r>
            <a:r>
              <a:rPr lang="ru-RU" dirty="0"/>
              <a:t>. Пользовательские программы обычно не обращаются к ядру напрямую — они вызывают функции стандартных библиотек, которые уже внутри себя выполняют переход в режим ядра. Таким образом, библиотека выступает прослойкой между приложением и ядром операционной системы.</a:t>
            </a:r>
          </a:p>
          <a:p>
            <a:endParaRPr lang="ru-RU" dirty="0"/>
          </a:p>
          <a:p>
            <a:r>
              <a:rPr lang="ru-RU" dirty="0"/>
              <a:t>Во-вторых, динамические библиотеки активно используются при работе с </a:t>
            </a:r>
            <a:r>
              <a:rPr lang="ru-RU" b="1" dirty="0"/>
              <a:t>драйверами устройств</a:t>
            </a:r>
            <a:r>
              <a:rPr lang="ru-RU" dirty="0"/>
              <a:t>. Во многих ОС часть драйверной логики или пользовательские компоненты драйверов реализуются в виде библиотек, которые могут загружаться и обновляться отдельно, без пересборки приложений и иногда даже без перезагрузки системы.</a:t>
            </a:r>
          </a:p>
          <a:p>
            <a:endParaRPr lang="ru-RU" dirty="0"/>
          </a:p>
          <a:p>
            <a:r>
              <a:rPr lang="ru-RU" dirty="0"/>
              <a:t>Отдельная важная категория — </a:t>
            </a:r>
            <a:r>
              <a:rPr lang="ru-RU" b="1" dirty="0" err="1"/>
              <a:t>runtime</a:t>
            </a:r>
            <a:r>
              <a:rPr lang="ru-RU" b="1" dirty="0"/>
              <a:t>-библиотеки языков программирования</a:t>
            </a:r>
            <a:r>
              <a:rPr lang="ru-RU" dirty="0"/>
              <a:t>. Это, например, стандартные библиотеки C/C++, виртуальные машины, сборщики мусора, обработчики исключений. Без этих библиотек большинство программ просто не сможет работать, и именно они обеспечивают выполнение кода языка поверх возможностей операционной системы.</a:t>
            </a:r>
          </a:p>
          <a:p>
            <a:endParaRPr lang="ru-RU" dirty="0"/>
          </a:p>
          <a:p>
            <a:r>
              <a:rPr lang="ru-RU" dirty="0"/>
              <a:t>Наконец, динамические библиотеки широко применяются как </a:t>
            </a:r>
            <a:r>
              <a:rPr lang="ru-RU" b="1" dirty="0"/>
              <a:t>совместно используемые компоненты приложений</a:t>
            </a:r>
            <a:r>
              <a:rPr lang="ru-RU" dirty="0"/>
              <a:t>. Графические интерфейсы, сетевые стеки, плагины, мультимедийные модули — всё это часто выносится в отдельные библиотеки, чтобы несколько программ могли использовать один и тот же функционал.</a:t>
            </a:r>
          </a:p>
          <a:p>
            <a:endParaRPr lang="ru-RU" dirty="0"/>
          </a:p>
          <a:p>
            <a:r>
              <a:rPr lang="ru-RU" dirty="0"/>
              <a:t>В итоге можно сказать, что динамические библиотеки — это </a:t>
            </a:r>
            <a:r>
              <a:rPr lang="ru-RU" b="1" dirty="0"/>
              <a:t>механизм масштабирования и модульности ОС</a:t>
            </a:r>
            <a:r>
              <a:rPr lang="ru-RU" dirty="0"/>
              <a:t>: они позволяют разделять код, обновлять систему и приложения по частям и эффективно использовать ресурсы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94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Этот слайд иллюстрирует, </a:t>
            </a:r>
            <a:r>
              <a:rPr lang="ru-RU" b="1" dirty="0"/>
              <a:t>чем динамическая компоновка принципиально отличается от статической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Начнём с верхней части схемы. Здесь показаны два разных файла: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Util.dll</a:t>
            </a:r>
            <a:r>
              <a:rPr lang="ru-RU" dirty="0"/>
              <a:t> — </a:t>
            </a:r>
            <a:r>
              <a:rPr lang="ru-RU" b="1" dirty="0"/>
              <a:t>сама динамическая библиотека</a:t>
            </a:r>
            <a:r>
              <a:rPr lang="ru-RU" dirty="0"/>
              <a:t>, содержащая реальную реализацию функций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;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Util.lib</a:t>
            </a:r>
            <a:r>
              <a:rPr lang="ru-RU" dirty="0"/>
              <a:t> — так называемая </a:t>
            </a:r>
            <a:r>
              <a:rPr lang="ru-RU" b="1" dirty="0"/>
              <a:t>импортная библиотека</a:t>
            </a:r>
            <a:r>
              <a:rPr lang="ru-RU" dirty="0"/>
              <a:t>. Важно подчеркнуть, что в случае динамической линковки этот файл </a:t>
            </a:r>
            <a:r>
              <a:rPr lang="ru-RU" b="1" dirty="0"/>
              <a:t>не содержит кода функций</a:t>
            </a:r>
            <a:r>
              <a:rPr lang="ru-RU" dirty="0"/>
              <a:t>, а лишь описывает, </a:t>
            </a:r>
            <a:r>
              <a:rPr lang="ru-RU" i="1" dirty="0"/>
              <a:t>какие символы экспортируются из DLL</a:t>
            </a:r>
            <a:r>
              <a:rPr lang="ru-RU" dirty="0"/>
              <a:t> и как к ним обращаться.</a:t>
            </a:r>
          </a:p>
          <a:p>
            <a:endParaRPr lang="ru-RU" dirty="0"/>
          </a:p>
          <a:p>
            <a:r>
              <a:rPr lang="ru-RU" dirty="0"/>
              <a:t>На этапе компиляции и линковки исходный код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app.cpp</a:t>
            </a:r>
            <a:r>
              <a:rPr lang="ru-RU" dirty="0"/>
              <a:t> превращается в объектный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app.obj</a:t>
            </a:r>
            <a:r>
              <a:rPr lang="ru-RU" dirty="0"/>
              <a:t>, который, как и раньше, содержит вызов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Линковщик видит, что реализация этой функции находится не внутри программы, а во внешней библиотеке. Используя импортную библиотеку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Util.lib</a:t>
            </a:r>
            <a:r>
              <a:rPr lang="ru-RU" dirty="0"/>
              <a:t>, он формирует в исполняемом файле </a:t>
            </a:r>
            <a:r>
              <a:rPr lang="ru-RU" b="1" dirty="0"/>
              <a:t>запись вида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Foo@Util.dll</a:t>
            </a:r>
            <a:r>
              <a:rPr lang="ru-RU" dirty="0"/>
              <a:t> — то есть ссылку на символ в конкретной динамической библиотеке.</a:t>
            </a:r>
          </a:p>
          <a:p>
            <a:endParaRPr lang="ru-RU" dirty="0"/>
          </a:p>
          <a:p>
            <a:r>
              <a:rPr lang="ru-RU" dirty="0"/>
              <a:t>Обратите внимание: в итоговом файле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app.exe</a:t>
            </a:r>
            <a:r>
              <a:rPr lang="ru-RU" dirty="0"/>
              <a:t> </a:t>
            </a:r>
            <a:r>
              <a:rPr lang="ru-RU" b="1" dirty="0"/>
              <a:t>нет кода функции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В нём есть только информация о том, что при запуске программы нужно найти библиотеку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Util.dll</a:t>
            </a:r>
            <a:r>
              <a:rPr lang="ru-RU" dirty="0"/>
              <a:t> и связать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 её реализацией.</a:t>
            </a:r>
          </a:p>
          <a:p>
            <a:endParaRPr lang="ru-RU" dirty="0"/>
          </a:p>
          <a:p>
            <a:r>
              <a:rPr lang="ru-RU" dirty="0"/>
              <a:t>Когда программа запускается, управление передаётся операционной системе. </a:t>
            </a:r>
            <a:r>
              <a:rPr lang="ru-RU" b="1" dirty="0"/>
              <a:t>Загрузчик ОС</a:t>
            </a:r>
            <a:r>
              <a:rPr lang="ru-RU" dirty="0"/>
              <a:t> находит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Util.dll</a:t>
            </a:r>
            <a:r>
              <a:rPr lang="ru-RU" dirty="0"/>
              <a:t>, загружает её в адресное пространство процесса и выполняет связывание символов: подставляет реальные адреса функций вместо абстрактных ссылок.</a:t>
            </a:r>
          </a:p>
          <a:p>
            <a:r>
              <a:rPr lang="ru-RU" dirty="0"/>
              <a:t>Таким образом, основная работа по связыванию переносится </a:t>
            </a:r>
            <a:r>
              <a:rPr lang="ru-RU" b="1" dirty="0"/>
              <a:t>с этапа сборки на этап выполнения программы</a:t>
            </a:r>
            <a:r>
              <a:rPr lang="ru-RU" dirty="0"/>
              <a:t>, что и является ключевой особенностью динамических библиотек.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1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</a:t>
            </a:r>
            <a:r>
              <a:rPr lang="ru-RU" b="0" dirty="0"/>
              <a:t>что именно происходит с таблицей импорта при загрузке программы и как осуществляет</a:t>
            </a:r>
            <a:r>
              <a:rPr lang="ru-RU" dirty="0"/>
              <a:t>ся связывание вызовов функций с кодом динамической библиотеки.</a:t>
            </a:r>
          </a:p>
          <a:p>
            <a:endParaRPr lang="ru-RU" dirty="0"/>
          </a:p>
          <a:p>
            <a:r>
              <a:rPr lang="ru-RU" dirty="0"/>
              <a:t>В исполняемом файле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Program.exe</a:t>
            </a:r>
            <a:r>
              <a:rPr lang="ru-RU" dirty="0"/>
              <a:t> есть вызов функции, оформленный не как прямой переход, а как вызов через специальный символ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SomeFunction</a:t>
            </a:r>
            <a:r>
              <a:rPr lang="ru-RU" dirty="0"/>
              <a:t>. Это не сама функция, а </a:t>
            </a:r>
            <a:r>
              <a:rPr lang="ru-RU" b="1" dirty="0"/>
              <a:t>ячейка в таблице импорта</a:t>
            </a:r>
            <a:r>
              <a:rPr lang="ru-RU" dirty="0"/>
              <a:t>, адрес которой известен во время компиляции и линковки.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b="1" dirty="0"/>
              <a:t>таблице импорта</a:t>
            </a:r>
            <a:r>
              <a:rPr lang="ru-RU" dirty="0"/>
              <a:t> программы указано, что нужная функция должна быть взята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Library.dll</a:t>
            </a:r>
            <a:r>
              <a:rPr lang="ru-RU" dirty="0"/>
              <a:t>. На момент сборки эта таблица содержит </a:t>
            </a:r>
            <a:r>
              <a:rPr lang="ru-RU" b="1" dirty="0"/>
              <a:t>имена символов</a:t>
            </a:r>
            <a:r>
              <a:rPr lang="ru-RU" dirty="0"/>
              <a:t>, но не реальные адреса функций в памяти.</a:t>
            </a:r>
          </a:p>
          <a:p>
            <a:endParaRPr lang="ru-RU" dirty="0"/>
          </a:p>
          <a:p>
            <a:r>
              <a:rPr lang="ru-RU" dirty="0"/>
              <a:t>Когда программа запускается, управление получает </a:t>
            </a:r>
            <a:r>
              <a:rPr lang="ru-RU" b="1" dirty="0"/>
              <a:t>загрузчик операционной системы</a:t>
            </a:r>
            <a:r>
              <a:rPr lang="ru-RU" dirty="0"/>
              <a:t>. Он загружает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Library.dll</a:t>
            </a:r>
            <a:r>
              <a:rPr lang="ru-RU" dirty="0"/>
              <a:t> в адресное пространство процесса и находит в её </a:t>
            </a:r>
            <a:r>
              <a:rPr lang="ru-RU" b="1" dirty="0"/>
              <a:t>таблице экспорта</a:t>
            </a:r>
            <a:r>
              <a:rPr lang="ru-RU" dirty="0"/>
              <a:t>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SomeFunction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загрузчик </a:t>
            </a:r>
            <a:r>
              <a:rPr lang="ru-RU" b="1" dirty="0"/>
              <a:t>заполняет таблицу импорта</a:t>
            </a:r>
            <a:r>
              <a:rPr lang="ru-RU" dirty="0"/>
              <a:t>: он подставляет в соответствующую ячейку реальный адрес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SomeFunction</a:t>
            </a:r>
            <a:r>
              <a:rPr lang="ru-RU" dirty="0"/>
              <a:t> 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Library.dll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в таблице импорта появляется переход вида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SomeFunction</a:t>
            </a:r>
            <a:r>
              <a:rPr lang="ru-RU" dirty="0"/>
              <a:t>, ведущий уже на конкретный адрес в памяти. После этого каждый вызов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 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SomeFunction</a:t>
            </a:r>
            <a:r>
              <a:rPr lang="ru-RU" dirty="0"/>
              <a:t> из кода программы фактически приводит к выполнению функции из динамической библиотеки.</a:t>
            </a:r>
          </a:p>
          <a:p>
            <a:endParaRPr lang="ru-RU" dirty="0"/>
          </a:p>
          <a:p>
            <a:r>
              <a:rPr lang="ru-RU" dirty="0"/>
              <a:t>Важно отметить, что </a:t>
            </a:r>
            <a:r>
              <a:rPr lang="ru-RU" b="1" dirty="0"/>
              <a:t>это связывание происходит один раз — при загрузке процесса</a:t>
            </a:r>
            <a:r>
              <a:rPr lang="ru-RU" dirty="0"/>
              <a:t>. После заполнения таблицы импорта вызовы функций работают так же быстро, как обычные вызовы, с минимальной дополнительной накладной стоимостью.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88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7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</a:t>
            </a:r>
            <a:r>
              <a:rPr lang="ru-RU" b="1" dirty="0"/>
              <a:t>как исполняемый файл и динамические библиотеки отображаются из файловой системы в виртуальное адресное пространство процесса</a:t>
            </a:r>
            <a:r>
              <a:rPr lang="ru-RU" dirty="0"/>
              <a:t>.</a:t>
            </a:r>
          </a:p>
          <a:p>
            <a:r>
              <a:rPr lang="ru-RU" dirty="0"/>
              <a:t>Слева мы видим файлы на диске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App.exe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Util.dll</a:t>
            </a:r>
            <a:r>
              <a:rPr lang="ru-RU" dirty="0"/>
              <a:t>. Каждый из них состоит из стандартных секций: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ru-RU" dirty="0"/>
              <a:t> — машинный код программы или библиотеки,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 — инициализированные изменяемые данные,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rodata</a:t>
            </a:r>
            <a:r>
              <a:rPr lang="ru-RU" dirty="0"/>
              <a:t> — константы и данные только для чтения.</a:t>
            </a:r>
          </a:p>
          <a:p>
            <a:r>
              <a:rPr lang="ru-RU" dirty="0"/>
              <a:t>Когда программа запускается, </a:t>
            </a:r>
            <a:r>
              <a:rPr lang="ru-RU" b="1" dirty="0"/>
              <a:t>загрузчик операционной системы</a:t>
            </a:r>
            <a:r>
              <a:rPr lang="ru-RU" dirty="0"/>
              <a:t> создаёт новое виртуальное адресное пространство процесса. Справа показано, как в это пространство поэтапно загружаются разные области памяти.</a:t>
            </a:r>
          </a:p>
          <a:p>
            <a:endParaRPr lang="ru-RU" dirty="0"/>
          </a:p>
          <a:p>
            <a:r>
              <a:rPr lang="ru-RU" dirty="0"/>
              <a:t>В нижней части адресного пространства размещаются секции кода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.text@App.exe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.text@Util.dll</a:t>
            </a:r>
            <a:r>
              <a:rPr lang="ru-RU" dirty="0"/>
              <a:t>. Эти области обычно помечаются как </a:t>
            </a:r>
            <a:r>
              <a:rPr lang="ru-RU" b="1" dirty="0"/>
              <a:t>только для чтения и исполнения</a:t>
            </a:r>
            <a:r>
              <a:rPr lang="ru-RU" dirty="0"/>
              <a:t> и могут </a:t>
            </a:r>
            <a:r>
              <a:rPr lang="ru-RU" b="1" dirty="0"/>
              <a:t>совместно использоваться несколькими процессами</a:t>
            </a:r>
            <a:r>
              <a:rPr lang="ru-RU" dirty="0"/>
              <a:t>, если они загружают одну и ту же библиотеку.</a:t>
            </a:r>
          </a:p>
          <a:p>
            <a:endParaRPr lang="ru-RU" dirty="0"/>
          </a:p>
          <a:p>
            <a:r>
              <a:rPr lang="ru-RU" dirty="0"/>
              <a:t>Выше располагаются секции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rodata</a:t>
            </a:r>
            <a:r>
              <a:rPr lang="ru-RU" dirty="0"/>
              <a:t> — константы приложения и библиотеки. Они также обычно являются </a:t>
            </a:r>
            <a:r>
              <a:rPr lang="ru-RU" b="1" dirty="0"/>
              <a:t>разделяемыми</a:t>
            </a:r>
            <a:r>
              <a:rPr lang="ru-RU" dirty="0"/>
              <a:t> между процессами, так как не изменяются во время выполнения.</a:t>
            </a:r>
          </a:p>
          <a:p>
            <a:endParaRPr lang="ru-RU" dirty="0"/>
          </a:p>
          <a:p>
            <a:r>
              <a:rPr lang="ru-RU" dirty="0"/>
              <a:t>Секции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 для приложения и библиотеки отображаются в память отдельно для каждого процесса. Хотя исходные данные берутся из файлов, после загрузки они становятся </a:t>
            </a:r>
            <a:r>
              <a:rPr lang="ru-RU" b="1" dirty="0"/>
              <a:t>частными для процесса</a:t>
            </a:r>
            <a:r>
              <a:rPr lang="ru-RU" dirty="0"/>
              <a:t>, поскольку содержат изменяемое состояние.</a:t>
            </a:r>
          </a:p>
          <a:p>
            <a:r>
              <a:rPr lang="ru-RU" dirty="0"/>
              <a:t>Над статическими секциями располагаются </a:t>
            </a:r>
            <a:r>
              <a:rPr lang="ru-RU" b="1" dirty="0"/>
              <a:t>куча</a:t>
            </a:r>
            <a:r>
              <a:rPr lang="ru-RU" dirty="0"/>
              <a:t> и </a:t>
            </a:r>
            <a:r>
              <a:rPr lang="ru-RU" b="1" dirty="0"/>
              <a:t>стек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куча</a:t>
            </a:r>
            <a:r>
              <a:rPr lang="ru-RU" dirty="0"/>
              <a:t> используется для динамического выделения памяти во время выполнения,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стек</a:t>
            </a:r>
            <a:r>
              <a:rPr lang="ru-RU" dirty="0"/>
              <a:t> — для хранения локальных переменных и контекста вызовов функций.</a:t>
            </a:r>
          </a:p>
          <a:p>
            <a:endParaRPr lang="ru-RU" dirty="0"/>
          </a:p>
          <a:p>
            <a:r>
              <a:rPr lang="ru-RU" dirty="0"/>
              <a:t>Важно отметить, что, несмотря на то что код библиотеки находится в отдельном файле, </a:t>
            </a:r>
            <a:r>
              <a:rPr lang="ru-RU" b="1" dirty="0"/>
              <a:t>в адресном пространстве процесса он выглядит как обычная часть памяти</a:t>
            </a:r>
            <a:r>
              <a:rPr lang="ru-RU" dirty="0"/>
              <a:t>, и вызовы функций из DLL ничем принципиально не отличаются от вызовов функций из самого приложения.</a:t>
            </a:r>
          </a:p>
          <a:p>
            <a:endParaRPr lang="ru-RU" dirty="0"/>
          </a:p>
          <a:p>
            <a:r>
              <a:rPr lang="ru-RU" dirty="0"/>
              <a:t>Таким образом, динамические библиотеки позволяют ОС эффективно отображать один и тот же код в память разных процессов, экономя ресурсы и обеспечивая модульность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8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обсудим важный механизм, без которого динамические библиотеки не смогут нормально работать в реальных системах — </a:t>
            </a:r>
            <a:r>
              <a:rPr lang="ru-RU" b="1" dirty="0"/>
              <a:t>релокацию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Идея в том, что динамическая библиотека изначально создаётся так, чтобы её можно было загрузить </a:t>
            </a:r>
            <a:r>
              <a:rPr lang="ru-RU" b="1" dirty="0"/>
              <a:t>в любое свободное место адресного пространства процесса</a:t>
            </a:r>
            <a:r>
              <a:rPr lang="ru-RU" dirty="0"/>
              <a:t>. Это необходимо по простой причине: в момент запуска мы заранее не знаем, какие ещё библиотеки будут загружены, какие области памяти заняты, включён ли ASLR и так далее. Поэтому жёстко “привязать” библиотеку к одному фиксированному адресу нельзя.</a:t>
            </a:r>
          </a:p>
          <a:p>
            <a:endParaRPr lang="ru-RU" dirty="0"/>
          </a:p>
          <a:p>
            <a:r>
              <a:rPr lang="ru-RU" dirty="0"/>
              <a:t>Чтобы библиотека могла работать независимо от того, куда её поместили, применяется </a:t>
            </a:r>
            <a:r>
              <a:rPr lang="ru-RU" b="1" dirty="0"/>
              <a:t>релокация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Релокация — это процесс, при котором операционная система (точнее, загрузчик/динамический линковщик) </a:t>
            </a:r>
            <a:r>
              <a:rPr lang="ru-RU" b="1" dirty="0"/>
              <a:t>на этапе загрузки</a:t>
            </a:r>
            <a:r>
              <a:rPr lang="ru-RU" dirty="0"/>
              <a:t> корректирует адреса в коде и данных библиотеки. То есть он берёт места, где библиотека ссылается на свои или внешние символы — функции и переменные — и подставляет туда </a:t>
            </a:r>
            <a:r>
              <a:rPr lang="ru-RU" b="1" dirty="0"/>
              <a:t>реальные адреса в памяти</a:t>
            </a:r>
            <a:r>
              <a:rPr lang="ru-RU" dirty="0"/>
              <a:t>, соответствующие текущему расположению библиотеки и других модулей.</a:t>
            </a:r>
          </a:p>
          <a:p>
            <a:endParaRPr lang="ru-RU" dirty="0"/>
          </a:p>
          <a:p>
            <a:r>
              <a:rPr lang="ru-RU" dirty="0"/>
              <a:t>Проще говоря: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библиотека была собрана “с допущением”, что она может оказаться по разным адресам,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загрузке ОС вычисляет смещение, куда библиотека реально попала,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по таблицам релокаций исправляет все нужные ссылки, чтобы вызовы функций и обращения к данным стали корректными.</a:t>
            </a:r>
          </a:p>
          <a:p>
            <a:endParaRPr lang="ru-RU" dirty="0"/>
          </a:p>
          <a:p>
            <a:r>
              <a:rPr lang="ru-RU" dirty="0"/>
              <a:t>Это связывает библиотеку с остальной программой: после релокации обращения к символам становятся валидными, и код может выполняться без ошибок.</a:t>
            </a:r>
          </a:p>
          <a:p>
            <a:endParaRPr lang="ru-RU" dirty="0"/>
          </a:p>
          <a:p>
            <a:r>
              <a:rPr lang="ru-RU" dirty="0"/>
              <a:t>Важно помнить, что релокация — это часть цены за гибкость динамической линковки: она добавляет работу на старте программы. Поэтому в современных системах часто стараются использовать дополнительные техники (например, PIC/PIE и ленивое связывание), чтобы уменьшить накладные расходы. О них мы поговорим позже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72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разберём релокацию пошагово — что именно делает загрузчик, когда подключает динамическую библиотеку.</a:t>
            </a:r>
          </a:p>
          <a:p>
            <a:endParaRPr lang="ru-RU" dirty="0"/>
          </a:p>
          <a:p>
            <a:r>
              <a:rPr lang="ru-RU" dirty="0"/>
              <a:t>Сначала загрузчик должен выбрать </a:t>
            </a:r>
            <a:r>
              <a:rPr lang="ru-RU" b="1" dirty="0"/>
              <a:t>базовый адрес</a:t>
            </a:r>
            <a:r>
              <a:rPr lang="ru-RU" dirty="0"/>
              <a:t> — то есть конкретное место в виртуальной памяти процесса, куда будет отображена библиотека. Это стартовая точка, относительно которой будут располагаться её секции и внутренние объекты.</a:t>
            </a:r>
          </a:p>
          <a:p>
            <a:endParaRPr lang="ru-RU" dirty="0"/>
          </a:p>
          <a:p>
            <a:r>
              <a:rPr lang="ru-RU" dirty="0"/>
              <a:t>Дальше возможна практическая проблема: выбранный адрес может оказаться </a:t>
            </a:r>
            <a:r>
              <a:rPr lang="ru-RU" b="1" dirty="0"/>
              <a:t>занятым</a:t>
            </a:r>
            <a:r>
              <a:rPr lang="ru-RU" dirty="0"/>
              <a:t> — например, потому что туда уже попало приложение, другая библиотека или это запрещено политиками размещения памяти. Тогда загрузчик вынужден </a:t>
            </a:r>
            <a:r>
              <a:rPr lang="ru-RU" b="1" dirty="0"/>
              <a:t>выбрать другой адрес</a:t>
            </a:r>
            <a:r>
              <a:rPr lang="ru-RU" dirty="0"/>
              <a:t> и загрузить библиотеку туда. </a:t>
            </a:r>
          </a:p>
          <a:p>
            <a:r>
              <a:rPr lang="ru-RU" dirty="0"/>
              <a:t>Это типичная ситуация, особенно при большом количестве библиотек и при включённом ASLR.</a:t>
            </a:r>
          </a:p>
          <a:p>
            <a:r>
              <a:rPr lang="ru-RU" dirty="0"/>
              <a:t>Чтобы библиотека могла “переезжать” на другой адрес, внутри неё часто используются </a:t>
            </a:r>
            <a:r>
              <a:rPr lang="ru-RU" b="1" dirty="0"/>
              <a:t>адреса, заданные относительно базового адреса</a:t>
            </a:r>
            <a:r>
              <a:rPr lang="ru-RU" dirty="0"/>
              <a:t>. То есть вместо абсолютных значений используется логика “смещение от начала библиотеки”. Это снижает зависимость от конкретного места в памяти, но всё равно остаются участки, где адреса нужно поправить.</a:t>
            </a:r>
          </a:p>
          <a:p>
            <a:endParaRPr lang="ru-RU" dirty="0"/>
          </a:p>
          <a:p>
            <a:r>
              <a:rPr lang="ru-RU" dirty="0"/>
              <a:t>Для этого в библиотеке существует </a:t>
            </a:r>
            <a:r>
              <a:rPr lang="ru-RU" b="1" dirty="0"/>
              <a:t>таблица релокации</a:t>
            </a:r>
            <a:r>
              <a:rPr lang="ru-RU" dirty="0"/>
              <a:t>. В ней перечислены все позиции в коде и данных, которые зависят от базового адреса: условно говоря, “вот здесь записан адрес, его нужно пересчитать, если библиотека загружена не туда, куда ожидалось”.</a:t>
            </a:r>
          </a:p>
          <a:p>
            <a:endParaRPr lang="ru-RU" dirty="0"/>
          </a:p>
          <a:p>
            <a:r>
              <a:rPr lang="ru-RU" dirty="0"/>
              <a:t>И финальный шаг: после того как выбран фактический базовый адрес, загрузчик проходит по таблице релокации и </a:t>
            </a:r>
            <a:r>
              <a:rPr lang="ru-RU" b="1" dirty="0"/>
              <a:t>корректирует указанные места</a:t>
            </a:r>
            <a:r>
              <a:rPr lang="ru-RU" dirty="0"/>
              <a:t> — добавляет нужное смещение, чтобы все ссылки на функции и переменные стали правильными в текущем адресном пространстве.</a:t>
            </a:r>
          </a:p>
          <a:p>
            <a:endParaRPr lang="ru-RU" dirty="0"/>
          </a:p>
          <a:p>
            <a:r>
              <a:rPr lang="ru-RU" dirty="0"/>
              <a:t>В результате библиотека становится корректно “встроенной” в процесс: её код может вызывать свои и внешние функции, обращаться к данным, и всё это работает независимо от того, куда именно библиотеку удалось разместить.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92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иллюстрирует одно из ключевых преимуществ динамических библиотек — </a:t>
            </a:r>
            <a:r>
              <a:rPr lang="ru-RU" b="1" dirty="0"/>
              <a:t>совместное использование физической памяти несколькими процессами</a:t>
            </a:r>
            <a:r>
              <a:rPr lang="ru-RU" dirty="0"/>
              <a:t>.</a:t>
            </a:r>
          </a:p>
          <a:p>
            <a:r>
              <a:rPr lang="ru-RU" dirty="0"/>
              <a:t>Рассмотрим на примере двух разных процессов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WinWord.exe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PowerPnt.exe. Они </a:t>
            </a:r>
            <a:r>
              <a:rPr lang="ru-RU" dirty="0"/>
              <a:t>используют одну и ту же динамическую библиотеку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ole32.dll</a:t>
            </a:r>
            <a:r>
              <a:rPr lang="ru-RU" dirty="0"/>
              <a:t>. Для каждого процесса создаётся </a:t>
            </a:r>
            <a:r>
              <a:rPr lang="ru-RU" b="1" dirty="0"/>
              <a:t>собственное виртуальное адресное пространство</a:t>
            </a:r>
            <a:r>
              <a:rPr lang="ru-RU" dirty="0"/>
              <a:t>, и с точки зрения программ они полностью изолированы друг от друга.</a:t>
            </a:r>
          </a:p>
          <a:p>
            <a:endParaRPr lang="ru-RU" dirty="0"/>
          </a:p>
          <a:p>
            <a:r>
              <a:rPr lang="ru-RU" dirty="0"/>
              <a:t>В центральной части схемы мы видим виртуальную память каждого процесса. Обратите внимание, что в обоих процессах присутствует сегмент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.text@ole32.dll</a:t>
            </a:r>
            <a:r>
              <a:rPr lang="ru-RU" dirty="0"/>
              <a:t>. Эти сегменты выглядят как отдельные области виртуальной памяти, но на самом деле они </a:t>
            </a:r>
            <a:r>
              <a:rPr lang="ru-RU" b="1" dirty="0"/>
              <a:t>отображаются на одни и те же физические страницы памяти</a:t>
            </a:r>
            <a:r>
              <a:rPr lang="ru-RU" dirty="0"/>
              <a:t> — это показано пунктирными линиями.</a:t>
            </a:r>
          </a:p>
          <a:p>
            <a:r>
              <a:rPr lang="ru-RU" dirty="0"/>
              <a:t>Это возможно потому, что сегмент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ru-RU" dirty="0"/>
              <a:t> библиотеки: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является </a:t>
            </a:r>
            <a:r>
              <a:rPr lang="ru-RU" b="1" dirty="0"/>
              <a:t>только для чтения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изменяется во время выполнения,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может безопасно использоваться несколькими процессами одновременно.</a:t>
            </a:r>
          </a:p>
          <a:p>
            <a:endParaRPr lang="ru-RU" dirty="0"/>
          </a:p>
          <a:p>
            <a:r>
              <a:rPr lang="ru-RU" dirty="0"/>
              <a:t>В отличие от кода, секция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.data@ole32.dll</a:t>
            </a:r>
            <a:r>
              <a:rPr lang="ru-RU" dirty="0"/>
              <a:t> содержит изменяемые данные. Поэтому для каждого процесса она размещается </a:t>
            </a:r>
            <a:r>
              <a:rPr lang="ru-RU" b="1" dirty="0"/>
              <a:t>в отдельных физических страницах</a:t>
            </a:r>
            <a:r>
              <a:rPr lang="ru-RU" dirty="0"/>
              <a:t>, даже если виртуально выглядит одинаково. Это обеспечивает изоляцию процессов и корректную работу библиотек, хранящих состояние.</a:t>
            </a:r>
          </a:p>
          <a:p>
            <a:endParaRPr lang="ru-RU" dirty="0"/>
          </a:p>
          <a:p>
            <a:r>
              <a:rPr lang="ru-RU" dirty="0"/>
              <a:t>Справа показана физическая память. Мы видим, что код библиотеки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ole32.dll</a:t>
            </a:r>
            <a:r>
              <a:rPr lang="ru-RU" dirty="0"/>
              <a:t>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.text@ole32.dll</a:t>
            </a:r>
            <a:r>
              <a:rPr lang="ru-RU" dirty="0"/>
              <a:t>) загружен </a:t>
            </a:r>
            <a:r>
              <a:rPr lang="ru-RU" b="1" dirty="0"/>
              <a:t>один раз</a:t>
            </a:r>
            <a:r>
              <a:rPr lang="ru-RU" dirty="0"/>
              <a:t>, а затем используется сразу несколькими процессами. Код самих приложений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text@WinWord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text@PowerPnt</a:t>
            </a:r>
            <a:r>
              <a:rPr lang="ru-RU" dirty="0"/>
              <a:t>) и их данные занимают отдельные области памяти.</a:t>
            </a:r>
          </a:p>
          <a:p>
            <a:r>
              <a:rPr lang="ru-RU" dirty="0"/>
              <a:t>Таким образом, динамические библиотеки позволяют операционной системе: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существенно </a:t>
            </a:r>
            <a:r>
              <a:rPr lang="ru-RU" b="1" dirty="0"/>
              <a:t>экономить физическую память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ускорять запуск приложений за счёт повторного использования уже загруженного кода,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при этом сохранять строгую изоляцию процессов.</a:t>
            </a:r>
          </a:p>
          <a:p>
            <a:endParaRPr lang="ru-RU" dirty="0"/>
          </a:p>
          <a:p>
            <a:r>
              <a:rPr lang="ru-RU" dirty="0"/>
              <a:t>Именно этот механизм делает возможным одновременную работу большого количества программ в современных операционных системах без чрезмерного расхода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69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показывает, </a:t>
            </a:r>
            <a:r>
              <a:rPr lang="ru-RU" b="1" dirty="0"/>
              <a:t>как релокация влияет на совместное использование кода динамической библиотеки разными процессами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Слева показана одна и та же библиотека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ole32.dll</a:t>
            </a:r>
            <a:r>
              <a:rPr lang="ru-RU" dirty="0"/>
              <a:t>, которую используют два разных приложения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Excel.exe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PowerPnt.exe</a:t>
            </a:r>
            <a:r>
              <a:rPr lang="ru-RU" dirty="0"/>
              <a:t>. Каждый процесс имеет собственное виртуальное адресное пространство, и библиотека может быть загружена </a:t>
            </a:r>
            <a:r>
              <a:rPr lang="ru-RU" b="1" dirty="0"/>
              <a:t>по разным виртуальным адресам</a:t>
            </a:r>
            <a:r>
              <a:rPr lang="ru-RU" dirty="0"/>
              <a:t> в каждом из них.</a:t>
            </a:r>
          </a:p>
          <a:p>
            <a:endParaRPr lang="ru-RU" dirty="0"/>
          </a:p>
          <a:p>
            <a:r>
              <a:rPr lang="ru-RU" dirty="0"/>
              <a:t>В центральной части видно, что сегмент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.text@ole32.dll</a:t>
            </a:r>
            <a:r>
              <a:rPr lang="ru-RU" dirty="0"/>
              <a:t> расположен </a:t>
            </a:r>
            <a:r>
              <a:rPr lang="ru-RU" b="1" dirty="0"/>
              <a:t>в разных местах виртуальной памяти</a:t>
            </a:r>
            <a:r>
              <a:rPr lang="ru-RU" dirty="0"/>
              <a:t> процессов 1 и 2. Это нормальная ситуация: загрузчик выбирает свободный базовый адрес независимо для каждого процесса.</a:t>
            </a:r>
          </a:p>
          <a:p>
            <a:endParaRPr lang="ru-RU" dirty="0"/>
          </a:p>
          <a:p>
            <a:r>
              <a:rPr lang="ru-RU" dirty="0"/>
              <a:t>При этом справа показана физическая память. Несмотря на разные виртуальные адреса, код библиотеки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.text@ole32.dll</a:t>
            </a:r>
            <a:r>
              <a:rPr lang="ru-RU" dirty="0"/>
              <a:t>) может </a:t>
            </a:r>
            <a:r>
              <a:rPr lang="ru-RU" b="1" dirty="0"/>
              <a:t>отображаться на одни и те же физические страницы памяти</a:t>
            </a:r>
            <a:r>
              <a:rPr lang="ru-RU" dirty="0"/>
              <a:t>, если релокация выполнена корректно и код не требует модификации.</a:t>
            </a:r>
          </a:p>
          <a:p>
            <a:endParaRPr lang="ru-RU" dirty="0"/>
          </a:p>
          <a:p>
            <a:r>
              <a:rPr lang="ru-RU" dirty="0"/>
              <a:t>Однако здесь важно тонкое место. Если библиотека </a:t>
            </a:r>
            <a:r>
              <a:rPr lang="ru-RU" b="1" dirty="0"/>
              <a:t>не является позиционно-независимой</a:t>
            </a:r>
            <a:r>
              <a:rPr lang="ru-RU" dirty="0"/>
              <a:t>, загрузчику приходится применять релокацию, изменяя машинный код. В этом случае изменённые страницы становятся </a:t>
            </a:r>
            <a:r>
              <a:rPr lang="ru-RU" b="1" dirty="0"/>
              <a:t>частными для каждого процесса</a:t>
            </a:r>
            <a:r>
              <a:rPr lang="ru-RU" dirty="0"/>
              <a:t>, и совместное использование физической памяти нарушается.</a:t>
            </a:r>
          </a:p>
          <a:p>
            <a:endParaRPr lang="ru-RU" dirty="0"/>
          </a:p>
          <a:p>
            <a:r>
              <a:rPr lang="ru-RU" dirty="0"/>
              <a:t>Поэтому современные системы стремятся: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компилировать динамические библиотеки как </a:t>
            </a:r>
            <a:r>
              <a:rPr lang="ru-RU" b="1" dirty="0"/>
              <a:t>позиционно-независимый код (PIC)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минимизировать количество релокаций в сегменте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выполнять релокацию в основном для данных, а не для кода.</a:t>
            </a:r>
          </a:p>
          <a:p>
            <a:endParaRPr lang="ru-RU" dirty="0"/>
          </a:p>
          <a:p>
            <a:r>
              <a:rPr lang="ru-RU" dirty="0"/>
              <a:t>Итоговый вывод этого слайда: релокация позволяет загружать библиотеку в любое место виртуальной памяти, но </a:t>
            </a:r>
            <a:r>
              <a:rPr lang="ru-RU" b="1" dirty="0"/>
              <a:t>качество реализации релокации напрямую влияет на эффективность использования физической памяти</a:t>
            </a:r>
            <a:r>
              <a:rPr lang="ru-RU" dirty="0"/>
              <a:t> и масштабируемость системы.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23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мы переходим к важной идее, которая помогает сделать динамические библиотеки эффективными — </a:t>
            </a:r>
            <a:r>
              <a:rPr lang="ru-RU" b="1" dirty="0"/>
              <a:t>позиционно-независимый код</a:t>
            </a:r>
            <a:r>
              <a:rPr lang="ru-RU" dirty="0"/>
              <a:t>, или </a:t>
            </a:r>
            <a:r>
              <a:rPr lang="ru-RU" b="1" dirty="0"/>
              <a:t>PIC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PIC — это </a:t>
            </a:r>
            <a:r>
              <a:rPr lang="ru-RU" b="1" dirty="0"/>
              <a:t>машинный код, который остаётся корректным независимо от того, по какому базовому адресу он был загружен</a:t>
            </a:r>
            <a:r>
              <a:rPr lang="ru-RU" dirty="0"/>
              <a:t>. То есть библиотеку можно разместить в разных местах виртуальной памяти, и её инструкции всё равно будут обращаться к нужным функциям и данным.</a:t>
            </a:r>
          </a:p>
          <a:p>
            <a:endParaRPr lang="ru-RU" dirty="0"/>
          </a:p>
          <a:p>
            <a:r>
              <a:rPr lang="ru-RU" dirty="0"/>
              <a:t>Как этого добиваются? Основной принцип — использование </a:t>
            </a:r>
            <a:r>
              <a:rPr lang="ru-RU" b="1" dirty="0"/>
              <a:t>относительной адресации</a:t>
            </a:r>
            <a:r>
              <a:rPr lang="ru-RU" dirty="0"/>
              <a:t>. Вместо “прыжка на абсолютный адрес” применяются инструкции, которые вычисляют адрес </a:t>
            </a:r>
            <a:r>
              <a:rPr lang="ru-RU" b="1" dirty="0"/>
              <a:t>от текущего положения</a:t>
            </a:r>
            <a:r>
              <a:rPr lang="ru-RU" dirty="0"/>
              <a:t>: от счётчика команд или от базового регистра, связанного с модулем. Благодаря этому код не “привязан” к конкретному месту в памяти.</a:t>
            </a:r>
          </a:p>
          <a:p>
            <a:endParaRPr lang="ru-RU" dirty="0"/>
          </a:p>
          <a:p>
            <a:r>
              <a:rPr lang="ru-RU" dirty="0"/>
              <a:t>Ключевое следствие: </a:t>
            </a:r>
            <a:r>
              <a:rPr lang="ru-RU" b="1" dirty="0"/>
              <a:t>один и тот же сегмент кода (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ru-RU" b="1" dirty="0"/>
              <a:t>) может загружаться по разным виртуальным адресам без релокации</a:t>
            </a:r>
            <a:r>
              <a:rPr lang="ru-RU" dirty="0"/>
              <a:t>. То есть загрузчику не нужно переписывать инструкции в коде, чтобы всё заработало.</a:t>
            </a:r>
          </a:p>
          <a:p>
            <a:endParaRPr lang="ru-RU" dirty="0"/>
          </a:p>
          <a:p>
            <a:r>
              <a:rPr lang="ru-RU" dirty="0"/>
              <a:t>А это напрямую даёт выигрыш по ресурсам: если код библиотеки не модифицируется, операционная система может </a:t>
            </a:r>
            <a:r>
              <a:rPr lang="ru-RU" b="1" dirty="0"/>
              <a:t>разделять одни и те же физические страницы кода между многими процессами</a:t>
            </a:r>
            <a:r>
              <a:rPr lang="ru-RU" dirty="0"/>
              <a:t>. Это и означает “экономит память”: десятки программ используют одну библиотеку — а в памяти хранится один экземпляр её кода.</a:t>
            </a:r>
          </a:p>
          <a:p>
            <a:endParaRPr lang="ru-RU" dirty="0"/>
          </a:p>
          <a:p>
            <a:r>
              <a:rPr lang="ru-RU" dirty="0"/>
              <a:t>Дополнительно PIC хорошо сочетается с механизмами безопасности вроде ASLR, потому что библиотека может быть размещена случайным образом, не ломая выполнение программы.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795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показывает, что </a:t>
            </a:r>
            <a:r>
              <a:rPr lang="ru-RU" b="1" dirty="0"/>
              <a:t>поддержка PIC — это не магия компилятора</a:t>
            </a:r>
            <a:r>
              <a:rPr lang="ru-RU" dirty="0"/>
              <a:t>, а прямое следствие того, </a:t>
            </a:r>
            <a:r>
              <a:rPr lang="ru-RU" b="1" dirty="0"/>
              <a:t>как закодированы машинные инструкции процессора</a:t>
            </a:r>
            <a:r>
              <a:rPr lang="ru-RU" dirty="0"/>
              <a:t>.</a:t>
            </a:r>
          </a:p>
          <a:p>
            <a:r>
              <a:rPr lang="ru-RU" dirty="0"/>
              <a:t>В архитектуре x86 существует несколько форм инструкции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. Они отличаются тем, </a:t>
            </a:r>
            <a:r>
              <a:rPr lang="ru-RU" b="1" dirty="0"/>
              <a:t>как именно задаётся адрес вызываемой функции</a:t>
            </a:r>
            <a:r>
              <a:rPr lang="ru-RU" dirty="0"/>
              <a:t>: абсолютно или относительно.</a:t>
            </a:r>
          </a:p>
          <a:p>
            <a:r>
              <a:rPr lang="ru-RU" dirty="0"/>
              <a:t>Самая важная форма для PIC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 rel16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 rel32</a:t>
            </a:r>
            <a:r>
              <a:rPr lang="ru-RU" dirty="0"/>
              <a:t>. В этих инструкциях переход задаётся </a:t>
            </a:r>
            <a:r>
              <a:rPr lang="ru-RU" b="1" dirty="0"/>
              <a:t>относительно адреса следующей инструкции</a:t>
            </a:r>
            <a:r>
              <a:rPr lang="ru-RU" dirty="0"/>
              <a:t>. То есть код говорит: «перейти на смещение X от текущей позиции». Если весь код библиотеки сдвинуть в памяти, относительное расстояние до целевой функции </a:t>
            </a:r>
            <a:r>
              <a:rPr lang="ru-RU" b="1" dirty="0"/>
              <a:t>останется тем же</a:t>
            </a:r>
            <a:r>
              <a:rPr lang="ru-RU" dirty="0"/>
              <a:t>, и инструкция продолжит работать корректно. Именно поэтому такие формы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идеально подходят для позиционно-независимого кода.</a:t>
            </a:r>
          </a:p>
          <a:p>
            <a:r>
              <a:rPr lang="ru-RU" dirty="0"/>
              <a:t>Другие формы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используют </a:t>
            </a:r>
            <a:r>
              <a:rPr lang="ru-RU" b="1" dirty="0"/>
              <a:t>абсолютную адресацию</a:t>
            </a:r>
            <a:r>
              <a:rPr lang="ru-RU" dirty="0"/>
              <a:t> — либо напрямую в операнде, либо через регистр или память, содержащие абсолютный адрес. Такие инструкции </a:t>
            </a:r>
            <a:r>
              <a:rPr lang="ru-RU" b="1" dirty="0"/>
              <a:t>зависят от конкретного адреса в памяти</a:t>
            </a:r>
            <a:r>
              <a:rPr lang="ru-RU" dirty="0"/>
              <a:t>, а значит при изменении базового адреса библиотеки требуют релокации или дополнительной косвенности.</a:t>
            </a:r>
          </a:p>
          <a:p>
            <a:r>
              <a:rPr lang="ru-RU" dirty="0"/>
              <a:t>Поэтому в PIC:</a:t>
            </a:r>
          </a:p>
          <a:p>
            <a:r>
              <a:rPr lang="ru-RU" dirty="0"/>
              <a:t>прямые относительные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используются для вызовов </a:t>
            </a:r>
            <a:r>
              <a:rPr lang="ru-RU" b="1" dirty="0"/>
              <a:t>внутри одного модуля</a:t>
            </a:r>
            <a:r>
              <a:rPr lang="ru-RU" dirty="0"/>
              <a:t>,</a:t>
            </a:r>
          </a:p>
          <a:p>
            <a:r>
              <a:rPr lang="ru-RU" dirty="0"/>
              <a:t>а вызовы внешних функций обычно делаются </a:t>
            </a:r>
            <a:r>
              <a:rPr lang="ru-RU" b="1" dirty="0"/>
              <a:t>косвенно</a:t>
            </a:r>
            <a:r>
              <a:rPr lang="ru-RU" dirty="0"/>
              <a:t> — через таблицы вроде GOT</a:t>
            </a:r>
            <a:r>
              <a:rPr lang="en-US" dirty="0"/>
              <a:t> (Global Offset Table), PLT (Procedure Linkage Table)</a:t>
            </a:r>
            <a:r>
              <a:rPr lang="ru-RU" dirty="0"/>
              <a:t> или IAT</a:t>
            </a:r>
            <a:r>
              <a:rPr lang="en-US" dirty="0"/>
              <a:t> (Import Address Table)</a:t>
            </a:r>
            <a:r>
              <a:rPr lang="ru-RU" dirty="0"/>
              <a:t>.</a:t>
            </a:r>
          </a:p>
          <a:p>
            <a:r>
              <a:rPr lang="ru-RU" dirty="0"/>
              <a:t>Именно эта особенность x86 позволяет эффективно реализовывать динамические библиотеки с разделяемым кодом.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7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важный механизм безопасности современных операционных систем — </a:t>
            </a:r>
            <a:r>
              <a:rPr lang="ru-RU" b="1" dirty="0"/>
              <a:t>ASLR</a:t>
            </a:r>
            <a:r>
              <a:rPr lang="ru-RU" dirty="0"/>
              <a:t>, или </a:t>
            </a:r>
            <a:r>
              <a:rPr lang="ru-RU" i="1" dirty="0"/>
              <a:t>рандомизация расположения адресного пространства</a:t>
            </a:r>
            <a:r>
              <a:rPr lang="ru-RU" dirty="0"/>
              <a:t>.</a:t>
            </a:r>
          </a:p>
          <a:p>
            <a:r>
              <a:rPr lang="ru-RU" dirty="0"/>
              <a:t>ASLR — это </a:t>
            </a:r>
            <a:r>
              <a:rPr lang="ru-RU" b="1" dirty="0"/>
              <a:t>технология защиты</a:t>
            </a:r>
            <a:r>
              <a:rPr lang="ru-RU" dirty="0"/>
              <a:t>, направленная против атак, которые опираются на </a:t>
            </a:r>
            <a:r>
              <a:rPr lang="ru-RU" b="1" dirty="0"/>
              <a:t>предсказуемость адресов в памяти</a:t>
            </a:r>
            <a:r>
              <a:rPr lang="ru-RU" dirty="0"/>
              <a:t>. Если злоумышленник заранее знает, где в памяти находится код, стек или полезная функция, ему гораздо проще построить атаку, например переполнение буфера или ROP-цепочку.</a:t>
            </a:r>
          </a:p>
          <a:p>
            <a:endParaRPr lang="ru-RU" dirty="0"/>
          </a:p>
          <a:p>
            <a:r>
              <a:rPr lang="ru-RU" dirty="0"/>
              <a:t>При включённом ASLR операционная система </a:t>
            </a:r>
            <a:r>
              <a:rPr lang="ru-RU" b="1" dirty="0"/>
              <a:t>при каждом запуске программы случайным образом выбирает адреса</a:t>
            </a:r>
            <a:r>
              <a:rPr lang="ru-RU" dirty="0"/>
              <a:t> для ключевых областей памяти процесса: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стека,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кучи,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сегментов кода и данных программы,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динамических библиотек.</a:t>
            </a:r>
          </a:p>
          <a:p>
            <a:endParaRPr lang="ru-RU" dirty="0"/>
          </a:p>
          <a:p>
            <a:r>
              <a:rPr lang="ru-RU" dirty="0"/>
              <a:t>В результате </a:t>
            </a:r>
            <a:r>
              <a:rPr lang="ru-RU" b="1" dirty="0"/>
              <a:t>одна и та же программа при разных запусках имеет разное расположение в памяти</a:t>
            </a:r>
            <a:r>
              <a:rPr lang="ru-RU" dirty="0"/>
              <a:t>. Это резко усложняет эксплуатацию уязвимостей, потому что адреса функций, гаджетов и данных невозможно надёжно угадать заранее.</a:t>
            </a:r>
          </a:p>
          <a:p>
            <a:r>
              <a:rPr lang="ru-RU" dirty="0"/>
              <a:t>Связь ASLR с предыдущими темами лекции прямая. Чтобы ASLR был эффективным, код программ и библиотек должен быть: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позиционно-независимым (PIC/PIE),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поддерживать релокацию.</a:t>
            </a:r>
          </a:p>
          <a:p>
            <a:r>
              <a:rPr lang="ru-RU" dirty="0"/>
              <a:t>Именно поэтому современные динамические библиотеки почти всегда собираются как PIC, а исполняемые файлы — как PIE.</a:t>
            </a:r>
          </a:p>
          <a:p>
            <a:endParaRPr lang="ru-RU" dirty="0"/>
          </a:p>
          <a:p>
            <a:r>
              <a:rPr lang="ru-RU" dirty="0"/>
              <a:t>Однако у ASLR есть и </a:t>
            </a:r>
            <a:r>
              <a:rPr lang="ru-RU" b="1" dirty="0"/>
              <a:t>ограничения</a:t>
            </a:r>
            <a:r>
              <a:rPr lang="ru-RU" dirty="0"/>
              <a:t>. Старые программы или библиотеки, которые предполагают фиксированные адреса или не поддерживают релокацию, </a:t>
            </a:r>
            <a:r>
              <a:rPr lang="ru-RU" b="1" dirty="0"/>
              <a:t>могут не работать с ASLR</a:t>
            </a:r>
            <a:r>
              <a:rPr lang="ru-RU" dirty="0"/>
              <a:t> или вынуждены запускаться без него. В таких случаях ОС либо отключает ASLR для конкретного процесса, либо применяет его частично.</a:t>
            </a:r>
          </a:p>
          <a:p>
            <a:r>
              <a:rPr lang="ru-RU" dirty="0"/>
              <a:t>В итоге ASLR — это пример того, как механизмы управления памятью, динамические библиотеки и безопасность тесно переплетаются в современных операционных системах.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45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мы рассмотрим </a:t>
            </a:r>
            <a:r>
              <a:rPr lang="ru-RU" b="1" dirty="0"/>
              <a:t>ROP — Return-</a:t>
            </a:r>
            <a:r>
              <a:rPr lang="ru-RU" b="1" dirty="0" err="1"/>
              <a:t>Oriented</a:t>
            </a:r>
            <a:r>
              <a:rPr lang="ru-RU" b="1" dirty="0"/>
              <a:t> </a:t>
            </a:r>
            <a:r>
              <a:rPr lang="ru-RU" b="1" dirty="0" err="1"/>
              <a:t>Programming</a:t>
            </a:r>
            <a:r>
              <a:rPr lang="ru-RU" dirty="0"/>
              <a:t>, одну из ключевых техник эксплуатации уязвимостей в современных системах.</a:t>
            </a:r>
          </a:p>
          <a:p>
            <a:endParaRPr lang="en-US" dirty="0"/>
          </a:p>
          <a:p>
            <a:r>
              <a:rPr lang="ru-RU" dirty="0"/>
              <a:t>Основная идея ROP заключается в том, что злоумышленник </a:t>
            </a:r>
            <a:r>
              <a:rPr lang="ru-RU" b="1" dirty="0"/>
              <a:t>не внедряет новый машинный код</a:t>
            </a:r>
            <a:r>
              <a:rPr lang="ru-RU" dirty="0"/>
              <a:t> в память процесса. Вместо этого он использует </a:t>
            </a:r>
            <a:r>
              <a:rPr lang="ru-RU" b="1" dirty="0"/>
              <a:t>уже существующий код</a:t>
            </a:r>
            <a:r>
              <a:rPr lang="ru-RU" dirty="0"/>
              <a:t>, который содержится в самой программе и в её динамических библиотеках.</a:t>
            </a:r>
            <a:r>
              <a:rPr lang="en-US" dirty="0"/>
              <a:t> </a:t>
            </a:r>
            <a:r>
              <a:rPr lang="ru-RU" dirty="0"/>
              <a:t>ROP опирается на управление </a:t>
            </a:r>
            <a:r>
              <a:rPr lang="ru-RU" b="1" dirty="0"/>
              <a:t>адресами возврата функций</a:t>
            </a:r>
            <a:r>
              <a:rPr lang="ru-RU" dirty="0"/>
              <a:t>. В нормальной программе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 берёт адрес из стека и передаёт управление по этому адресу. Если атакующий может перезаписать стек, например через переполнение буфера, он получает возможность </a:t>
            </a:r>
            <a:r>
              <a:rPr lang="ru-RU" b="1" dirty="0"/>
              <a:t>подменить адрес возврата</a:t>
            </a:r>
            <a:r>
              <a:rPr lang="ru-RU" dirty="0"/>
              <a:t> и тем самым управлять потоком выполнения.</a:t>
            </a:r>
          </a:p>
          <a:p>
            <a:endParaRPr lang="en-US" dirty="0"/>
          </a:p>
          <a:p>
            <a:r>
              <a:rPr lang="ru-RU" dirty="0"/>
              <a:t>Программа начинает исполнять не функции целиком, а короткие фрагменты кода, называемые </a:t>
            </a:r>
            <a:r>
              <a:rPr lang="ru-RU" b="1" dirty="0" err="1"/>
              <a:t>gadgets</a:t>
            </a:r>
            <a:r>
              <a:rPr lang="ru-RU" dirty="0"/>
              <a:t>. Каждый </a:t>
            </a:r>
            <a:r>
              <a:rPr lang="ru-RU" dirty="0" err="1"/>
              <a:t>gadget</a:t>
            </a:r>
            <a:r>
              <a:rPr lang="ru-RU" dirty="0"/>
              <a:t> обычно состоит из нескольких инструкций и обязательно заканчивается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. Эти фрагменты уже присутствуют в коде программы или библиотек — как части обычных функций.</a:t>
            </a:r>
            <a:endParaRPr lang="en-US" dirty="0"/>
          </a:p>
          <a:p>
            <a:r>
              <a:rPr lang="ru-RU" dirty="0"/>
              <a:t>Злоумышленник формирует </a:t>
            </a:r>
            <a:r>
              <a:rPr lang="ru-RU" b="1" dirty="0"/>
              <a:t>ROP-цепочку</a:t>
            </a:r>
            <a:r>
              <a:rPr lang="ru-RU" dirty="0"/>
              <a:t> — последовательность адресов таких </a:t>
            </a:r>
            <a:r>
              <a:rPr lang="ru-RU" dirty="0" err="1"/>
              <a:t>gadgets</a:t>
            </a:r>
            <a:r>
              <a:rPr lang="ru-RU" dirty="0"/>
              <a:t>, размещённую в стеке. При каждом выполнении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 процессор переходит к следующему </a:t>
            </a:r>
            <a:r>
              <a:rPr lang="ru-RU" dirty="0" err="1"/>
              <a:t>gadget’у</a:t>
            </a:r>
            <a:r>
              <a:rPr lang="ru-RU" dirty="0"/>
              <a:t>, и таким образом стек фактически превращается в </a:t>
            </a:r>
            <a:r>
              <a:rPr lang="ru-RU" b="1" dirty="0"/>
              <a:t>программу управления выполнением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Важное свойство ROP — он позволяет </a:t>
            </a:r>
            <a:r>
              <a:rPr lang="ru-RU" b="1" dirty="0"/>
              <a:t>обходить защиту NX / DEP</a:t>
            </a:r>
            <a:r>
              <a:rPr lang="ru-RU" dirty="0"/>
              <a:t>, поскольку выполнение идёт из сегмента кода, а не из данных. Именно поэтому ROP стал особенно актуален после появления запрета на исполнение стека и кучи.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эффективность ROP сильно снижается при использовании </a:t>
            </a:r>
            <a:r>
              <a:rPr lang="ru-RU" b="1" dirty="0"/>
              <a:t>ASLR</a:t>
            </a:r>
            <a:r>
              <a:rPr lang="ru-RU" dirty="0"/>
              <a:t>. Поскольку адреса кода и библиотек случайны при каждом запуске, атакующему становится сложно заранее узнать адреса нужных </a:t>
            </a:r>
            <a:r>
              <a:rPr lang="ru-RU" dirty="0" err="1"/>
              <a:t>gadgets</a:t>
            </a:r>
            <a:r>
              <a:rPr lang="ru-RU" dirty="0"/>
              <a:t>. Без утечки адресов построить корректную ROP-цепочку практически невозможно.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ROP хорошо показывает, как </a:t>
            </a:r>
            <a:r>
              <a:rPr lang="ru-RU" b="1" dirty="0"/>
              <a:t>архитектура процессора, динамические библиотеки и механизмы управления памятью</a:t>
            </a:r>
            <a:r>
              <a:rPr lang="ru-RU" dirty="0"/>
              <a:t> напрямую связаны с вопросами безопасности операционных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59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в основном о </a:t>
            </a:r>
            <a:r>
              <a:rPr lang="ru-RU" b="1" dirty="0"/>
              <a:t>неявной динамической линковке</a:t>
            </a:r>
            <a:r>
              <a:rPr lang="ru-RU" dirty="0"/>
              <a:t>, когда библиотеки загружаются автоматически при запуске программы. Однако во многих случаях приложению требуется </a:t>
            </a:r>
            <a:r>
              <a:rPr lang="ru-RU" b="1" dirty="0"/>
              <a:t>загружать библиотеки по требованию</a:t>
            </a:r>
            <a:r>
              <a:rPr lang="ru-RU" dirty="0"/>
              <a:t>, уже во время выполнения.</a:t>
            </a:r>
          </a:p>
          <a:p>
            <a:endParaRPr lang="ru-RU" dirty="0"/>
          </a:p>
          <a:p>
            <a:r>
              <a:rPr lang="ru-RU" dirty="0"/>
              <a:t>Суть подхода в том, что приложение </a:t>
            </a:r>
            <a:r>
              <a:rPr lang="ru-RU" b="1" dirty="0"/>
              <a:t>само решает, когда и какую библиотеку загрузить</a:t>
            </a:r>
            <a:r>
              <a:rPr lang="ru-RU" dirty="0"/>
              <a:t>, и какие функции из неё использовать. Это широко применяется в </a:t>
            </a:r>
            <a:r>
              <a:rPr lang="ru-RU" dirty="0" err="1"/>
              <a:t>плагинных</a:t>
            </a:r>
            <a:r>
              <a:rPr lang="ru-RU" dirty="0"/>
              <a:t> системах, драйверах, графических движках и средах выполнения.</a:t>
            </a:r>
          </a:p>
          <a:p>
            <a:endParaRPr lang="ru-RU" dirty="0"/>
          </a:p>
          <a:p>
            <a:r>
              <a:rPr lang="ru-RU" b="1" dirty="0"/>
              <a:t>Загрузка в Windows</a:t>
            </a:r>
          </a:p>
          <a:p>
            <a:r>
              <a:rPr lang="ru-RU" dirty="0"/>
              <a:t>В операционных системах Windows для этого используется API загрузчика.</a:t>
            </a:r>
          </a:p>
          <a:p>
            <a:r>
              <a:rPr lang="ru-RU" dirty="0"/>
              <a:t>Функция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LoadLibrary</a:t>
            </a:r>
            <a:r>
              <a:rPr lang="ru-RU" dirty="0"/>
              <a:t> (и расширенный вариант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LoadLibraryEx</a:t>
            </a:r>
            <a:r>
              <a:rPr lang="ru-RU" dirty="0"/>
              <a:t>) загружает DLL в адресное пространство процесса. Если библиотека уже загружена, счётчик ссылок просто увеличивается, и повторной загрузки не происходит.</a:t>
            </a:r>
          </a:p>
          <a:p>
            <a:r>
              <a:rPr lang="ru-RU" dirty="0"/>
              <a:t>Когда библиотека больше не нужна, приложение вызывает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FreeLibrary</a:t>
            </a:r>
            <a:r>
              <a:rPr lang="ru-RU" dirty="0"/>
              <a:t>, уменьшая счётчик ссылок. Физическое освобождение библиотеки происходит, когда счётчик достигает нуля.</a:t>
            </a:r>
          </a:p>
          <a:p>
            <a:r>
              <a:rPr lang="ru-RU" dirty="0"/>
              <a:t>После загрузки библиотеки доступ к её функциям осуществляется через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GetProcAddress</a:t>
            </a:r>
            <a:r>
              <a:rPr lang="ru-RU" dirty="0"/>
              <a:t>. Эта функция по имени символа возвращает </a:t>
            </a:r>
            <a:r>
              <a:rPr lang="ru-RU" b="1" dirty="0"/>
              <a:t>адрес функции</a:t>
            </a:r>
            <a:r>
              <a:rPr lang="ru-RU" dirty="0"/>
              <a:t>, который затем можно вызвать через указатель.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Загрузка в Linux и POSIX-подобных системах</a:t>
            </a:r>
          </a:p>
          <a:p>
            <a:r>
              <a:rPr lang="ru-RU" dirty="0"/>
              <a:t>В Linux и других POSIX-системах используется семейство функций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libdl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ru-RU" dirty="0"/>
              <a:t> загружает динамическую библиотеку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ru-RU" dirty="0"/>
              <a:t>) и возвращает дескриптор, с которым далее работает программа.</a:t>
            </a:r>
            <a:br>
              <a:rPr lang="ru-RU" dirty="0"/>
            </a:br>
            <a:r>
              <a:rPr lang="ru-RU" dirty="0"/>
              <a:t>Функция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dlclose</a:t>
            </a:r>
            <a:r>
              <a:rPr lang="ru-RU" dirty="0"/>
              <a:t> уменьшает счётчик ссылок и при необходимости выгружает библиотеку.</a:t>
            </a:r>
          </a:p>
          <a:p>
            <a:r>
              <a:rPr lang="ru-RU" dirty="0"/>
              <a:t>Дополнительно существует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dlmopen</a:t>
            </a:r>
            <a:r>
              <a:rPr lang="ru-RU" dirty="0"/>
              <a:t>, которая позволяет загружать библиотеку в </a:t>
            </a:r>
            <a:r>
              <a:rPr lang="ru-RU" b="1" dirty="0"/>
              <a:t>отдельное пространство линковки</a:t>
            </a:r>
            <a:r>
              <a:rPr lang="ru-RU" dirty="0"/>
              <a:t>. Это используется в сложных системах для изоляции версий библиотек.</a:t>
            </a:r>
          </a:p>
          <a:p>
            <a:r>
              <a:rPr lang="ru-RU" dirty="0"/>
              <a:t>Поиск функций и переменных в загруженной библиотеке выполняется с помощью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, которая возвращает адрес символа по его имени.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Связь с предыдущими темами</a:t>
            </a:r>
          </a:p>
          <a:p>
            <a:r>
              <a:rPr lang="ru-RU" dirty="0"/>
              <a:t>Важно отметить, что при загрузке по требованию: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библиотека всё равно подчиняется </a:t>
            </a:r>
            <a:r>
              <a:rPr lang="ru-RU" b="1" dirty="0"/>
              <a:t>ASLR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используется </a:t>
            </a:r>
            <a:r>
              <a:rPr lang="ru-RU" b="1" dirty="0"/>
              <a:t>PIC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выполняется </a:t>
            </a:r>
            <a:r>
              <a:rPr lang="ru-RU" b="1" dirty="0"/>
              <a:t>релокация и связывание символов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код может быть разделяемым между процессами.</a:t>
            </a:r>
          </a:p>
          <a:p>
            <a:r>
              <a:rPr lang="ru-RU" dirty="0"/>
              <a:t>Таким образом, явная загрузка библиотек — это расширение тех же механизмов динамической линковки, но с </a:t>
            </a:r>
            <a:r>
              <a:rPr lang="ru-RU" b="1" dirty="0"/>
              <a:t>полным контролем со стороны приложения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401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</a:t>
            </a:r>
            <a:r>
              <a:rPr lang="ru-RU" b="1" dirty="0"/>
              <a:t>практический пример явной загрузки и вызова функции из динамической библиотеки в Windows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начале объявляется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PGNSI</a:t>
            </a:r>
            <a:r>
              <a:rPr lang="ru-RU" dirty="0"/>
              <a:t> — это </a:t>
            </a:r>
            <a:r>
              <a:rPr lang="ru-RU" b="1" dirty="0"/>
              <a:t>указатель на функцию</a:t>
            </a:r>
            <a:r>
              <a:rPr lang="ru-RU" dirty="0"/>
              <a:t> с соглашением вызова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WINAPI</a:t>
            </a:r>
            <a:r>
              <a:rPr lang="ru-RU" dirty="0"/>
              <a:t>. Тип полностью повторяет сигнатуру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GetNativeSystemInfo</a:t>
            </a:r>
            <a:r>
              <a:rPr lang="ru-RU" dirty="0"/>
              <a:t>, которая возвращает информацию о системе.</a:t>
            </a:r>
          </a:p>
          <a:p>
            <a:endParaRPr lang="ru-RU" dirty="0"/>
          </a:p>
          <a:p>
            <a:r>
              <a:rPr lang="ru-RU" dirty="0"/>
              <a:t>Далее создаётся структура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SYSTEM_INFO</a:t>
            </a:r>
            <a:r>
              <a:rPr lang="ru-RU" dirty="0"/>
              <a:t>, в которую будет записан результат работы функции.</a:t>
            </a:r>
          </a:p>
          <a:p>
            <a:r>
              <a:rPr lang="ru-RU" dirty="0"/>
              <a:t>Затем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GetProcAddress</a:t>
            </a:r>
            <a:r>
              <a:rPr lang="ru-RU" dirty="0"/>
              <a:t>. В качестве первого аргумента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GetModuleHandle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(L"kernel32.dll")</a:t>
            </a:r>
            <a:r>
              <a:rPr lang="ru-RU" dirty="0"/>
              <a:t>, то есть мы </a:t>
            </a:r>
            <a:r>
              <a:rPr lang="ru-RU" b="1" dirty="0"/>
              <a:t>получаем дескриптор уже загруженной библиотеки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kernel32.dll</a:t>
            </a:r>
            <a:r>
              <a:rPr lang="ru-RU" dirty="0"/>
              <a:t>. Это важный момент: стандартные системные DLL, как правило, уже присутствуют в адресном пространстве процесса, и повторная загрузка не требуется.</a:t>
            </a:r>
          </a:p>
          <a:p>
            <a:endParaRPr lang="ru-RU" dirty="0"/>
          </a:p>
          <a:p>
            <a:r>
              <a:rPr lang="ru-RU" dirty="0"/>
              <a:t>Второй аргумент —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GetNativeSystemInfo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— это </a:t>
            </a:r>
            <a:r>
              <a:rPr lang="ru-RU" b="1" dirty="0"/>
              <a:t>имя экспортируемого символа</a:t>
            </a:r>
            <a:r>
              <a:rPr lang="ru-RU" dirty="0"/>
              <a:t>, которое мы хотим найти в DLL.</a:t>
            </a:r>
          </a:p>
          <a:p>
            <a:endParaRPr lang="ru-RU" dirty="0"/>
          </a:p>
          <a:p>
            <a:r>
              <a:rPr lang="ru-RU" dirty="0"/>
              <a:t>Результат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GetProcAddress</a:t>
            </a:r>
            <a:r>
              <a:rPr lang="ru-RU" dirty="0"/>
              <a:t> — это </a:t>
            </a:r>
            <a:r>
              <a:rPr lang="ru-RU" b="1" dirty="0"/>
              <a:t>адрес функции в памяти</a:t>
            </a:r>
            <a:r>
              <a:rPr lang="ru-RU" dirty="0"/>
              <a:t>.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 этот адрес приводится к ранее объявленному типу указателя на функцию. Если функция найдена,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pGNSI</a:t>
            </a:r>
            <a:r>
              <a:rPr lang="ru-RU" dirty="0"/>
              <a:t> будет ненулевым.</a:t>
            </a:r>
          </a:p>
          <a:p>
            <a:r>
              <a:rPr lang="ru-RU" dirty="0"/>
              <a:t>В этом случае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pGNSI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(&amp;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, и управление передаётся непосредственно в код функции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kernel32.dll</a:t>
            </a:r>
            <a:r>
              <a:rPr lang="ru-RU" dirty="0"/>
              <a:t>.</a:t>
            </a:r>
          </a:p>
          <a:p>
            <a:r>
              <a:rPr lang="ru-RU" dirty="0"/>
              <a:t>Если же функция не найдена — например, на старых версиях Windows, где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GetNativeSystemInfo</a:t>
            </a:r>
            <a:r>
              <a:rPr lang="ru-RU" dirty="0"/>
              <a:t> отсутствует — выполняется запасной вариант,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GetSystemInfo</a:t>
            </a:r>
            <a:r>
              <a:rPr lang="ru-RU" dirty="0"/>
              <a:t>. Это пример </a:t>
            </a:r>
            <a:r>
              <a:rPr lang="ru-RU" b="1" dirty="0"/>
              <a:t>обратной совместимости</a:t>
            </a:r>
            <a:r>
              <a:rPr lang="ru-RU" dirty="0"/>
              <a:t>, которую удобно реализовывать именно через явную загрузку и поиск функций.</a:t>
            </a:r>
          </a:p>
          <a:p>
            <a:endParaRPr lang="ru-RU" dirty="0"/>
          </a:p>
          <a:p>
            <a:r>
              <a:rPr lang="ru-RU" dirty="0"/>
              <a:t>Таким образом, этот пример демонстрирует: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загрузку или получение уже загруженной DLL,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поиск функции по имени,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приведение адреса к корректному типу,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безопасный вызов функции с обработкой случая, когда символ отсутствует.</a:t>
            </a:r>
          </a:p>
          <a:p>
            <a:r>
              <a:rPr lang="ru-RU" dirty="0"/>
              <a:t>Этот подход широко используется, когда программа должна </a:t>
            </a:r>
            <a:r>
              <a:rPr lang="ru-RU" b="1" dirty="0"/>
              <a:t>адаптироваться к возможностям конкретной версии ОС</a:t>
            </a:r>
            <a:r>
              <a:rPr lang="ru-RU" dirty="0"/>
              <a:t> или загружать функциональность по требованию.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905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аналогичный пример, но уже для Linux и POSIX-систем — </a:t>
            </a:r>
            <a:r>
              <a:rPr lang="ru-RU" b="1" dirty="0"/>
              <a:t>явная загрузка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ru-RU" b="1" dirty="0"/>
              <a:t> и поиск символа во время выполнения</a:t>
            </a:r>
            <a:r>
              <a:rPr lang="ru-RU" dirty="0"/>
              <a:t>.</a:t>
            </a:r>
          </a:p>
          <a:p>
            <a:r>
              <a:rPr lang="ru-RU" dirty="0"/>
              <a:t>В начале подключается заголовок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dlfcn.h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 В нём объявлены основные функции динамической загрузки: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dlclose</a:t>
            </a:r>
            <a:r>
              <a:rPr lang="ru-RU" dirty="0"/>
              <a:t> и функции для получения текста ошибок.</a:t>
            </a:r>
          </a:p>
          <a:p>
            <a:endParaRPr lang="ru-RU" dirty="0"/>
          </a:p>
          <a:p>
            <a:r>
              <a:rPr lang="ru-RU" dirty="0"/>
              <a:t>Далее задаётся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AddFn</a:t>
            </a:r>
            <a:r>
              <a:rPr lang="ru-RU" dirty="0"/>
              <a:t> — это </a:t>
            </a:r>
            <a:r>
              <a:rPr lang="ru-RU" b="1" dirty="0"/>
              <a:t>указатель на функцию</a:t>
            </a:r>
            <a:r>
              <a:rPr lang="ru-RU" dirty="0"/>
              <a:t>, которая принимает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Мы заранее описываем сигнатуру,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 возвращает “сырой” указатель, который нужно привести к нужному типу.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("./libmymath.so", RTLD_LAZY)</a:t>
            </a:r>
            <a:r>
              <a:rPr lang="ru-RU" dirty="0"/>
              <a:t>.</a:t>
            </a:r>
          </a:p>
          <a:p>
            <a:r>
              <a:rPr lang="ru-RU" dirty="0"/>
              <a:t>Первый параметр — путь к библиотеке.</a:t>
            </a:r>
          </a:p>
          <a:p>
            <a:r>
              <a:rPr lang="ru-RU" dirty="0"/>
              <a:t>Второй — флаг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RTLD_LAZY</a:t>
            </a:r>
            <a:r>
              <a:rPr lang="ru-RU" dirty="0"/>
              <a:t>, который означает </a:t>
            </a:r>
            <a:r>
              <a:rPr lang="ru-RU" b="1" dirty="0"/>
              <a:t>ленивое связывание</a:t>
            </a:r>
            <a:r>
              <a:rPr lang="ru-RU" dirty="0"/>
              <a:t>: разрешение внешних символов может быть отложено до момента первого вызова. Это ускоряет старт, но ошибки могут проявиться позже.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ru-RU" dirty="0"/>
              <a:t> возвращает дескриптор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libHandle</a:t>
            </a:r>
            <a:r>
              <a:rPr lang="ru-RU" dirty="0"/>
              <a:t>. Очень важный момент — в комментарии правильно отмечено: </a:t>
            </a:r>
            <a:r>
              <a:rPr lang="ru-RU" b="1" dirty="0"/>
              <a:t>нужно проверить успешность загрузки</a:t>
            </a:r>
            <a:r>
              <a:rPr lang="ru-RU" dirty="0"/>
              <a:t>.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ru-RU" dirty="0"/>
              <a:t> вернул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, библиотека не загружена, и работать дальше нельзя. Обычно здесь вызывают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выводят причину.</a:t>
            </a:r>
          </a:p>
          <a:p>
            <a:endParaRPr lang="ru-RU" dirty="0"/>
          </a:p>
          <a:p>
            <a:r>
              <a:rPr lang="ru-RU" dirty="0"/>
              <a:t>Далее выполняется поиск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  <a:r>
              <a:rPr lang="ru-RU" dirty="0"/>
              <a:t>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 возвращает адрес символа в памяти, который приводится к типу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AddFn</a:t>
            </a:r>
            <a:r>
              <a:rPr lang="ru-RU" dirty="0"/>
              <a:t>. После этого мы можем вызывать функцию как обычную: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(3, 5)</a:t>
            </a:r>
            <a:r>
              <a:rPr lang="ru-RU" dirty="0"/>
              <a:t>.</a:t>
            </a:r>
          </a:p>
          <a:p>
            <a:r>
              <a:rPr lang="ru-RU" dirty="0"/>
              <a:t>Если функция найдена и указатель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, выводим результат. В конце обязательно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dlclose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, чтобы уменьшить счётчик ссылок на библиотеку и при необходимости выгрузить её.</a:t>
            </a:r>
          </a:p>
          <a:p>
            <a:r>
              <a:rPr lang="ru-RU" dirty="0"/>
              <a:t>Этот пример демонстрирует типичный шаблон для плагинов под Linux: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ru-RU" dirty="0"/>
              <a:t> — загрузить модуль,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 — найти точки входа,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вызвать функции,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dlclose</a:t>
            </a:r>
            <a:r>
              <a:rPr lang="ru-RU" dirty="0"/>
              <a:t> — освободить библиотеку.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Если хочешь, могу предложить улучшенную “правильную” версию этого кода для слайда: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проверками и аккуратным приведением типов.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49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80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Разберём важный момент, который часто становится неожиданностью при работе с динамическими библиотеками в C++ — </a:t>
            </a:r>
            <a:r>
              <a:rPr lang="ru-RU" b="1" dirty="0"/>
              <a:t>декорирование имён</a:t>
            </a:r>
            <a:r>
              <a:rPr lang="ru-RU" dirty="0"/>
              <a:t>, или </a:t>
            </a:r>
            <a:r>
              <a:rPr lang="ru-RU" i="1" dirty="0" err="1"/>
              <a:t>name</a:t>
            </a:r>
            <a:r>
              <a:rPr lang="ru-RU" i="1" dirty="0"/>
              <a:t> </a:t>
            </a:r>
            <a:r>
              <a:rPr lang="ru-RU" i="1" dirty="0" err="1"/>
              <a:t>mangling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отличие от языка C, в C++ компилятору нужно поддерживать такие возможности, как </a:t>
            </a:r>
            <a:r>
              <a:rPr lang="ru-RU" b="1" dirty="0"/>
              <a:t>перегрузка функций</a:t>
            </a:r>
            <a:r>
              <a:rPr lang="ru-RU" dirty="0"/>
              <a:t>, </a:t>
            </a:r>
            <a:r>
              <a:rPr lang="ru-RU" b="1" dirty="0"/>
              <a:t>пространства имён</a:t>
            </a:r>
            <a:r>
              <a:rPr lang="ru-RU" dirty="0"/>
              <a:t> и </a:t>
            </a:r>
            <a:r>
              <a:rPr lang="ru-RU" b="1" dirty="0"/>
              <a:t>методы классов</a:t>
            </a:r>
            <a:r>
              <a:rPr lang="ru-RU" dirty="0"/>
              <a:t>. Для этого недостаточно просто имени функции — компилятору нужно знать её сигнатуру и контекст.</a:t>
            </a:r>
          </a:p>
          <a:p>
            <a:endParaRPr lang="ru-RU" dirty="0"/>
          </a:p>
          <a:p>
            <a:r>
              <a:rPr lang="ru-RU" dirty="0"/>
              <a:t>Поэтому компилятор C++ </a:t>
            </a:r>
            <a:r>
              <a:rPr lang="ru-RU" b="1" dirty="0"/>
              <a:t>преобразует имя функции, метода или переменной в уникальную строку</a:t>
            </a:r>
            <a:r>
              <a:rPr lang="ru-RU" dirty="0"/>
              <a:t>, которая кодирует: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имя функции,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типы её аргументов,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пространство имён,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принадлежность к классу.</a:t>
            </a:r>
          </a:p>
          <a:p>
            <a:endParaRPr lang="ru-RU" dirty="0"/>
          </a:p>
          <a:p>
            <a:r>
              <a:rPr lang="ru-RU" dirty="0"/>
              <a:t>Например,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SayHello</a:t>
            </a:r>
            <a:r>
              <a:rPr lang="ru-RU" dirty="0"/>
              <a:t> после компиляции может превратиться в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_Z9SayHello</a:t>
            </a:r>
            <a:r>
              <a:rPr lang="ru-RU" dirty="0"/>
              <a:t>, а перегруженная версия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SayHello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_Z9SayHelloi</a:t>
            </a:r>
            <a:r>
              <a:rPr lang="ru-RU" dirty="0"/>
              <a:t>. Эти строки — </a:t>
            </a:r>
            <a:r>
              <a:rPr lang="ru-RU" b="1" dirty="0"/>
              <a:t>реальные имена символов</a:t>
            </a:r>
            <a:r>
              <a:rPr lang="ru-RU" dirty="0"/>
              <a:t>, которые попадают в таблицу экспорта библиотеки и которые видит линковщик и загрузчик ОС.</a:t>
            </a:r>
          </a:p>
          <a:p>
            <a:endParaRPr lang="ru-RU" dirty="0"/>
          </a:p>
          <a:p>
            <a:r>
              <a:rPr lang="ru-RU" dirty="0"/>
              <a:t>В результате </a:t>
            </a:r>
            <a:r>
              <a:rPr lang="ru-RU" b="1" dirty="0"/>
              <a:t>имя символа в бинарном файле отличается от исходного имени в коде</a:t>
            </a:r>
            <a:r>
              <a:rPr lang="ru-RU" dirty="0"/>
              <a:t>. Это напрямую влияет на динамическую загрузку: если мы попытаемся найти C++-функцию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GetProcAddress</a:t>
            </a:r>
            <a:r>
              <a:rPr lang="ru-RU" dirty="0"/>
              <a:t>, используя “человеческое” имя, поиск не сработает.</a:t>
            </a:r>
          </a:p>
          <a:p>
            <a:endParaRPr lang="ru-RU" dirty="0"/>
          </a:p>
          <a:p>
            <a:r>
              <a:rPr lang="ru-RU" dirty="0"/>
              <a:t>Дополнительная сложность в том, что </a:t>
            </a:r>
            <a:r>
              <a:rPr lang="ru-RU" b="1" dirty="0"/>
              <a:t>каждый компилятор использует собственную схему декорирования имён</a:t>
            </a:r>
            <a:r>
              <a:rPr lang="ru-RU" dirty="0"/>
              <a:t>. Даже один и тот же код, собранный разными компиляторами или разными версиями компилятора, может иметь разные имена символов. Это серьёзно осложняет бинарную совместимость.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37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Перейдём от самого механизма </a:t>
            </a:r>
            <a:r>
              <a:rPr lang="ru-RU" dirty="0" err="1"/>
              <a:t>name</a:t>
            </a:r>
            <a:r>
              <a:rPr lang="ru-RU" dirty="0"/>
              <a:t> </a:t>
            </a:r>
            <a:r>
              <a:rPr lang="ru-RU" dirty="0" err="1"/>
              <a:t>mangling</a:t>
            </a:r>
            <a:r>
              <a:rPr lang="ru-RU" dirty="0"/>
              <a:t> к его последствиям именно для </a:t>
            </a:r>
            <a:r>
              <a:rPr lang="ru-RU" b="1" dirty="0"/>
              <a:t>динамических библиотек</a:t>
            </a:r>
            <a:r>
              <a:rPr lang="ru-RU" dirty="0"/>
              <a:t> и ABI-совместимости.</a:t>
            </a:r>
          </a:p>
          <a:p>
            <a:endParaRPr lang="ru-RU" dirty="0"/>
          </a:p>
          <a:p>
            <a:r>
              <a:rPr lang="ru-RU" dirty="0"/>
              <a:t>Если библиотека экспортирует C++-символы в “как есть” виде, то есть без стабилизированного интерфейса, её можно надёжно использовать только в ситуации, когда </a:t>
            </a:r>
            <a:r>
              <a:rPr lang="ru-RU" b="1" dirty="0"/>
              <a:t>и библиотека, и приложение собраны одним и тем же компилятором</a:t>
            </a:r>
            <a:r>
              <a:rPr lang="ru-RU" dirty="0"/>
              <a:t>, а часто ещё и одной версией компилятора и с совместимыми настройками ABI. Причина в том, что компиляторы по-разному декорируют имена и по-разному реализуют детали ABI: порядок передачи параметров, </a:t>
            </a:r>
            <a:r>
              <a:rPr lang="ru-RU" dirty="0" err="1"/>
              <a:t>layout</a:t>
            </a:r>
            <a:r>
              <a:rPr lang="ru-RU" dirty="0"/>
              <a:t> классов, виртуальные таблицы и т.д.</a:t>
            </a:r>
          </a:p>
          <a:p>
            <a:endParaRPr lang="ru-RU" dirty="0"/>
          </a:p>
          <a:p>
            <a:r>
              <a:rPr lang="ru-RU" dirty="0"/>
              <a:t>Из-за этого подход с декорированными C++-именами </a:t>
            </a:r>
            <a:r>
              <a:rPr lang="ru-RU" b="1" dirty="0"/>
              <a:t>не подходит для системных библиотек</a:t>
            </a:r>
            <a:r>
              <a:rPr lang="ru-RU" dirty="0"/>
              <a:t>. Системная библиотека должна быть максимально совместимой: её должны уметь вызывать программы, собранные разными компиляторами, разными версиями, а иногда и разными языками.</a:t>
            </a:r>
          </a:p>
          <a:p>
            <a:endParaRPr lang="ru-RU" dirty="0"/>
          </a:p>
          <a:p>
            <a:r>
              <a:rPr lang="ru-RU" dirty="0"/>
              <a:t>По той же причине это плохо подходит для приложений, которые поддерживают </a:t>
            </a:r>
            <a:r>
              <a:rPr lang="ru-RU" b="1" dirty="0"/>
              <a:t>внешние плагины</a:t>
            </a:r>
            <a:r>
              <a:rPr lang="ru-RU" dirty="0"/>
              <a:t>. Плагин может быть написан сторонним разработчиком, собран в другой среде — и если интерфейс плагина требует “чистый C++ ABI”, то совместимость становится крайне хрупкой.</a:t>
            </a:r>
          </a:p>
          <a:p>
            <a:endParaRPr lang="ru-RU" dirty="0"/>
          </a:p>
          <a:p>
            <a:r>
              <a:rPr lang="ru-RU" dirty="0"/>
              <a:t>Ещё один важный случай — когда приложение и библиотека написаны на </a:t>
            </a:r>
            <a:r>
              <a:rPr lang="ru-RU" b="1" dirty="0"/>
              <a:t>разных языках программирования</a:t>
            </a:r>
            <a:r>
              <a:rPr lang="ru-RU" dirty="0"/>
              <a:t>. Большинство языков умеют взаимодействовать с библиотеками через C ABI, но практически никогда — через конкретный C++ ABI конкретного компилятора.</a:t>
            </a:r>
          </a:p>
          <a:p>
            <a:endParaRPr lang="ru-RU" dirty="0"/>
          </a:p>
          <a:p>
            <a:r>
              <a:rPr lang="ru-RU" dirty="0"/>
              <a:t>Поэтому в промышленной разработке обычно делают так: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наружу библиотека экспортирует </a:t>
            </a:r>
            <a:r>
              <a:rPr lang="ru-RU" b="1" dirty="0"/>
              <a:t>стабильный C-интерфейс</a:t>
            </a:r>
            <a:r>
              <a:rPr lang="ru-RU" dirty="0"/>
              <a:t> (часто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внутри может использовать C++ сколько угодно,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применяют специальные подходы для ABI-стабильности (обёртки, </a:t>
            </a:r>
            <a:r>
              <a:rPr lang="ru-RU" dirty="0" err="1"/>
              <a:t>opaque</a:t>
            </a:r>
            <a:r>
              <a:rPr lang="ru-RU" dirty="0"/>
              <a:t>-типы, </a:t>
            </a:r>
            <a:r>
              <a:rPr lang="ru-RU" dirty="0" err="1"/>
              <a:t>pImpl</a:t>
            </a:r>
            <a:r>
              <a:rPr lang="ru-RU" dirty="0"/>
              <a:t> и т.п.).</a:t>
            </a:r>
          </a:p>
          <a:p>
            <a:r>
              <a:rPr lang="ru-RU" dirty="0"/>
              <a:t>То есть главный вывод: </a:t>
            </a:r>
            <a:r>
              <a:rPr lang="ru-RU" b="1" dirty="0"/>
              <a:t>C++ </a:t>
            </a:r>
            <a:r>
              <a:rPr lang="ru-RU" b="1" dirty="0" err="1"/>
              <a:t>name</a:t>
            </a:r>
            <a:r>
              <a:rPr lang="ru-RU" b="1" dirty="0"/>
              <a:t> </a:t>
            </a:r>
            <a:r>
              <a:rPr lang="ru-RU" b="1" dirty="0" err="1"/>
              <a:t>mangling</a:t>
            </a:r>
            <a:r>
              <a:rPr lang="ru-RU" b="1" dirty="0"/>
              <a:t> удобен для компилятора</a:t>
            </a:r>
            <a:r>
              <a:rPr lang="ru-RU" dirty="0"/>
              <a:t>, но при проектировании динамических библиотек для широкого использования он создаёт проблемы совместимости, и интерфейсы обычно делают ABI-нейтральными.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561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декорирование имён в C++ делает экспорт символов “хрупким” с точки зрения совместимости. Поэтому здесь показан самый распространённый и практичный выход.</a:t>
            </a:r>
          </a:p>
          <a:p>
            <a:endParaRPr lang="ru-RU" dirty="0"/>
          </a:p>
          <a:p>
            <a:r>
              <a:rPr lang="ru-RU" dirty="0"/>
              <a:t>Язык </a:t>
            </a:r>
            <a:r>
              <a:rPr lang="ru-RU" b="1" dirty="0"/>
              <a:t>C</a:t>
            </a:r>
            <a:r>
              <a:rPr lang="ru-RU" dirty="0"/>
              <a:t> не поддерживает перегрузку функций и классы, поэтому ему </a:t>
            </a:r>
            <a:r>
              <a:rPr lang="ru-RU" b="1" dirty="0"/>
              <a:t>не нужно</a:t>
            </a:r>
            <a:r>
              <a:rPr lang="ru-RU" dirty="0"/>
              <a:t> декорирование имён. В результате имена экспортируемых символов в C обычно совпадают с тем, что мы написали в коде.</a:t>
            </a:r>
          </a:p>
          <a:p>
            <a:endParaRPr lang="ru-RU" dirty="0"/>
          </a:p>
          <a:p>
            <a:r>
              <a:rPr lang="ru-RU" dirty="0"/>
              <a:t>Именно поэтому </a:t>
            </a:r>
            <a:r>
              <a:rPr lang="ru-RU" b="1" dirty="0"/>
              <a:t>C ABI</a:t>
            </a:r>
            <a:r>
              <a:rPr lang="ru-RU" dirty="0"/>
              <a:t> исторически стал универсальным “языком общения” между модулями: библиотека может быть написана на C или C++, а использоваться из самых разных языков — главное, чтобы наружу был выведен C-интерфейс.</a:t>
            </a:r>
          </a:p>
          <a:p>
            <a:endParaRPr lang="ru-RU" dirty="0"/>
          </a:p>
          <a:p>
            <a:r>
              <a:rPr lang="ru-RU" dirty="0"/>
              <a:t>В C++ можно явно указать, что функция или переменная должна иметь </a:t>
            </a:r>
            <a:r>
              <a:rPr lang="ru-RU" b="1" dirty="0"/>
              <a:t>C-</a:t>
            </a:r>
            <a:r>
              <a:rPr lang="ru-RU" b="1" dirty="0" err="1"/>
              <a:t>linkage</a:t>
            </a:r>
            <a:r>
              <a:rPr lang="ru-RU" dirty="0"/>
              <a:t>, то есть использовать правила связывания языка C. Делается это с помощью конструкции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.</a:t>
            </a:r>
          </a:p>
          <a:p>
            <a:r>
              <a:rPr lang="ru-RU" dirty="0"/>
              <a:t>Когда мы пишем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компилятор </a:t>
            </a:r>
            <a:r>
              <a:rPr lang="ru-RU" b="1" dirty="0"/>
              <a:t>не применяет </a:t>
            </a:r>
            <a:r>
              <a:rPr lang="ru-RU" b="1" dirty="0" err="1"/>
              <a:t>name</a:t>
            </a:r>
            <a:r>
              <a:rPr lang="ru-RU" b="1" dirty="0"/>
              <a:t> </a:t>
            </a:r>
            <a:r>
              <a:rPr lang="ru-RU" b="1" dirty="0" err="1"/>
              <a:t>mangling</a:t>
            </a:r>
            <a:r>
              <a:rPr lang="ru-RU" dirty="0"/>
              <a:t> к имени символа,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экспорт/импорт становится предсказуемым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 /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GetProcAddress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также значительно повышается бинарная совместимость между разными компиляторами и языками.</a:t>
            </a:r>
          </a:p>
          <a:p>
            <a:endParaRPr lang="ru-RU" dirty="0"/>
          </a:p>
          <a:p>
            <a:r>
              <a:rPr lang="ru-RU" dirty="0"/>
              <a:t>Типичный сценарий на практике такой: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внутри библиотеки мы используем C++ (классы, шаблоны, RAII),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наружу экспортируем небольшой набор функций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через эти функции управляем объектами и логикой библиотеки.</a:t>
            </a:r>
          </a:p>
          <a:p>
            <a:r>
              <a:rPr lang="ru-RU" dirty="0"/>
              <a:t>Это позволяет совместить удобство C++ внутри и максимальную совместимость снаружи — особенно важно для системных библиотек, SDK и </a:t>
            </a:r>
            <a:r>
              <a:rPr lang="ru-RU" dirty="0" err="1"/>
              <a:t>плагинных</a:t>
            </a:r>
            <a:r>
              <a:rPr lang="ru-RU" dirty="0"/>
              <a:t> интерфейсов.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634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</a:t>
            </a:r>
            <a:r>
              <a:rPr lang="ru-RU" b="1" dirty="0"/>
              <a:t>практический шаблон</a:t>
            </a:r>
            <a:r>
              <a:rPr lang="ru-RU" dirty="0"/>
              <a:t>, который чаще всего используется в заголовочных файлах библиотек для отключения декорирования имён в C++ и сохранения совместимости с языком C.</a:t>
            </a:r>
          </a:p>
          <a:p>
            <a:endParaRPr lang="ru-RU" dirty="0"/>
          </a:p>
          <a:p>
            <a:r>
              <a:rPr lang="ru-RU" dirty="0"/>
              <a:t>Конструкция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#ifdef 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cplusplus</a:t>
            </a:r>
            <a:r>
              <a:rPr lang="ru-RU" dirty="0"/>
              <a:t> проверяет, </a:t>
            </a:r>
            <a:r>
              <a:rPr lang="ru-RU" b="1" dirty="0"/>
              <a:t>каким компилятором обрабатывается код</a:t>
            </a:r>
            <a:r>
              <a:rPr lang="ru-RU" dirty="0"/>
              <a:t>. Если заголовок подключается из C++-кода, макрос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cplusplus</a:t>
            </a:r>
            <a:r>
              <a:rPr lang="ru-RU" dirty="0"/>
              <a:t> будет определён, и компилятор обработает директиву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Блок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 { ... }</a:t>
            </a:r>
            <a:r>
              <a:rPr lang="ru-RU" dirty="0"/>
              <a:t> указывает компилятору C++, что все функции и переменные внутри него должны использовать </a:t>
            </a:r>
            <a:r>
              <a:rPr lang="ru-RU" b="1" dirty="0"/>
              <a:t>C-</a:t>
            </a:r>
            <a:r>
              <a:rPr lang="ru-RU" b="1" dirty="0" err="1"/>
              <a:t>linkage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имена символов не декорируются,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используется C ABI,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такие символы легко находить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GetProcAddress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же тот же самый заголовок подключается из C-кода, макрос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cplusplus</a:t>
            </a:r>
            <a:r>
              <a:rPr lang="ru-RU" dirty="0"/>
              <a:t> не определён, и директива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 просто игнорируется. Это делает заголовок </a:t>
            </a:r>
            <a:r>
              <a:rPr lang="ru-RU" b="1" dirty="0"/>
              <a:t>универсальным</a:t>
            </a:r>
            <a:r>
              <a:rPr lang="ru-RU" dirty="0"/>
              <a:t> — его можно использовать и в C, и в C++ без изменений.</a:t>
            </a:r>
          </a:p>
          <a:p>
            <a:endParaRPr lang="ru-RU" dirty="0"/>
          </a:p>
          <a:p>
            <a:r>
              <a:rPr lang="ru-RU" dirty="0"/>
              <a:t>Ниже на слайде показан альтернативный, более компактный вариант записи, где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 применяется только к одной функции. Оба варианта эквивалентны по смыслу, и выбор между ними — вопрос стиля и удобства.</a:t>
            </a:r>
          </a:p>
          <a:p>
            <a:endParaRPr lang="ru-RU" dirty="0"/>
          </a:p>
          <a:p>
            <a:r>
              <a:rPr lang="ru-RU" dirty="0"/>
              <a:t>Таким образом, этот шаблон: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устраняет проблемы </a:t>
            </a:r>
            <a:r>
              <a:rPr lang="ru-RU" dirty="0" err="1"/>
              <a:t>name</a:t>
            </a:r>
            <a:r>
              <a:rPr lang="ru-RU" dirty="0"/>
              <a:t> </a:t>
            </a:r>
            <a:r>
              <a:rPr lang="ru-RU" dirty="0" err="1"/>
              <a:t>mangling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обеспечивает стабильный интерфейс динамической библиотеки,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является стандартным приёмом при разработке библиотек и плагинов.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583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934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про очень практичную и часто болезненную тему: </a:t>
            </a:r>
            <a:r>
              <a:rPr lang="ru-RU" b="1" dirty="0"/>
              <a:t>почему передавать “сложные” C/C++ объекты через границу приложение ↔ DLL опасно</a:t>
            </a:r>
            <a:r>
              <a:rPr lang="ru-RU" dirty="0"/>
              <a:t>, особенно если сборка сделана в разных окружениях.</a:t>
            </a:r>
          </a:p>
          <a:p>
            <a:endParaRPr lang="ru-RU" dirty="0"/>
          </a:p>
          <a:p>
            <a:r>
              <a:rPr lang="ru-RU" dirty="0"/>
              <a:t>Первая причина — приложение и библиотека могут быть скомпонованы с </a:t>
            </a:r>
            <a:r>
              <a:rPr lang="ru-RU" b="1" dirty="0"/>
              <a:t>разными </a:t>
            </a:r>
            <a:r>
              <a:rPr lang="ru-RU" b="1" dirty="0" err="1"/>
              <a:t>runtime</a:t>
            </a:r>
            <a:r>
              <a:rPr lang="ru-RU" b="1" dirty="0"/>
              <a:t>-библиотеками</a:t>
            </a:r>
            <a:r>
              <a:rPr lang="ru-RU" dirty="0"/>
              <a:t>. Это могут быть разные версии CRT/стандартной библиотеки, разные настройки сборки (</a:t>
            </a:r>
            <a:r>
              <a:rPr lang="ru-RU" dirty="0" err="1"/>
              <a:t>Debug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), разные компиляторы и т.п. В итоге каждая сторона может жить в своём “мире” реализации памяти, исключений, контейнеров и ABI.</a:t>
            </a:r>
          </a:p>
          <a:p>
            <a:endParaRPr lang="ru-RU" dirty="0"/>
          </a:p>
          <a:p>
            <a:r>
              <a:rPr lang="ru-RU" dirty="0"/>
              <a:t>Отсюда возникает самая частая проблема — </a:t>
            </a:r>
            <a:r>
              <a:rPr lang="ru-RU" b="1" dirty="0"/>
              <a:t>динамическая память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приложение и DLL используют </a:t>
            </a:r>
            <a:r>
              <a:rPr lang="ru-RU" b="1" dirty="0"/>
              <a:t>разные пулы памяти (</a:t>
            </a:r>
            <a:r>
              <a:rPr lang="ru-RU" b="1" dirty="0" err="1"/>
              <a:t>heap</a:t>
            </a:r>
            <a:r>
              <a:rPr lang="ru-RU" b="1" dirty="0"/>
              <a:t>)</a:t>
            </a:r>
            <a:r>
              <a:rPr lang="ru-RU" dirty="0"/>
              <a:t>, то операции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 фактически обслуживаются разными </a:t>
            </a:r>
            <a:r>
              <a:rPr lang="ru-RU" dirty="0" err="1"/>
              <a:t>аллокаторами</a:t>
            </a:r>
            <a:r>
              <a:rPr lang="ru-RU" dirty="0"/>
              <a:t>. И если объект был выделен в одном пуле, а освобождается в другом, это может привести 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повреждению кучи,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утечкам,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падениям,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ошибкам, которые проявляются не сразу, а “случайно” позже.</a:t>
            </a:r>
          </a:p>
          <a:p>
            <a:endParaRPr lang="ru-RU" dirty="0"/>
          </a:p>
          <a:p>
            <a:r>
              <a:rPr lang="ru-RU" dirty="0"/>
              <a:t>Дальше идут вопросы </a:t>
            </a:r>
            <a:r>
              <a:rPr lang="ru-RU" b="1" dirty="0"/>
              <a:t>соглашений о вызовах</a:t>
            </a:r>
            <a:r>
              <a:rPr lang="ru-RU" dirty="0"/>
              <a:t> и </a:t>
            </a:r>
            <a:r>
              <a:rPr lang="ru-RU" b="1" dirty="0"/>
              <a:t>ABI</a:t>
            </a:r>
            <a:r>
              <a:rPr lang="ru-RU" dirty="0"/>
              <a:t>. Даже если типы на уровне исходника выглядят одинаково, на бинарном уровне важны детали: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передаются параметры (через стек/регистры),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кто очищает стек,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выравниваются структуры,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устроены виртуальные таблицы,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представлены исключения.</a:t>
            </a:r>
          </a:p>
          <a:p>
            <a:endParaRPr lang="ru-RU" dirty="0"/>
          </a:p>
          <a:p>
            <a:r>
              <a:rPr lang="ru-RU" dirty="0"/>
              <a:t>Если у приложения и DLL несовместимые настройки компилятора или разные версии компилятора, то “один и тот же” тип может иметь разный </a:t>
            </a:r>
            <a:r>
              <a:rPr lang="ru-RU" dirty="0" err="1"/>
              <a:t>layout</a:t>
            </a:r>
            <a:r>
              <a:rPr lang="ru-RU" dirty="0"/>
              <a:t> в памяти. Особенно часто это касается STL-типов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а также пользовательских классов с виртуальными методами.</a:t>
            </a:r>
          </a:p>
          <a:p>
            <a:endParaRPr lang="ru-RU" dirty="0"/>
          </a:p>
          <a:p>
            <a:r>
              <a:rPr lang="ru-RU" dirty="0"/>
              <a:t>Ещё один пункт — </a:t>
            </a:r>
            <a:r>
              <a:rPr lang="ru-RU" b="1" dirty="0"/>
              <a:t>отсутствие синхронизации</a:t>
            </a:r>
            <a:r>
              <a:rPr lang="ru-RU" dirty="0"/>
              <a:t>. </a:t>
            </a:r>
            <a:r>
              <a:rPr lang="ru-RU" dirty="0" err="1"/>
              <a:t>Runtime</a:t>
            </a:r>
            <a:r>
              <a:rPr lang="ru-RU" dirty="0"/>
              <a:t>-библиотеки и их </a:t>
            </a:r>
            <a:r>
              <a:rPr lang="ru-RU" dirty="0" err="1"/>
              <a:t>аллокаторы</a:t>
            </a:r>
            <a:r>
              <a:rPr lang="ru-RU" dirty="0"/>
              <a:t> могут иметь собственные механизмы </a:t>
            </a:r>
            <a:r>
              <a:rPr lang="ru-RU" dirty="0" err="1"/>
              <a:t>потокобезопасности</a:t>
            </a:r>
            <a:r>
              <a:rPr lang="ru-RU" dirty="0"/>
              <a:t>. Когда разные части программы работают с памятью и объектами через разные </a:t>
            </a:r>
            <a:r>
              <a:rPr lang="ru-RU" dirty="0" err="1"/>
              <a:t>runtime’ы</a:t>
            </a:r>
            <a:r>
              <a:rPr lang="ru-RU" dirty="0"/>
              <a:t>, согласованность и безопасность становятся сложнее гарантировать.</a:t>
            </a:r>
          </a:p>
          <a:p>
            <a:endParaRPr lang="ru-RU" dirty="0"/>
          </a:p>
          <a:p>
            <a:r>
              <a:rPr lang="ru-RU" dirty="0"/>
              <a:t>Поэтому практическое правило для проектирования интерфейсов DLL такое: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через границу DLL лучше передавать </a:t>
            </a:r>
            <a:r>
              <a:rPr lang="ru-RU" b="1" dirty="0"/>
              <a:t>простые ABI-стабильные типы</a:t>
            </a:r>
            <a:r>
              <a:rPr lang="ru-RU" dirty="0"/>
              <a:t> (числа, указатели, POD-структуры фиксированного формата),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управление памятью и жизненным циклом объектов держать </a:t>
            </a:r>
            <a:r>
              <a:rPr lang="ru-RU" b="1" dirty="0"/>
              <a:t>на одной стороне</a:t>
            </a:r>
            <a:r>
              <a:rPr lang="ru-RU" dirty="0"/>
              <a:t>: кто выделил — тот и освобождает,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сложных объектов использовать фабрики/деструкторы в DLL или “</a:t>
            </a:r>
            <a:r>
              <a:rPr lang="ru-RU" dirty="0" err="1"/>
              <a:t>opaque</a:t>
            </a:r>
            <a:r>
              <a:rPr lang="ru-RU" dirty="0"/>
              <a:t> </a:t>
            </a:r>
            <a:r>
              <a:rPr lang="ru-RU" dirty="0" err="1"/>
              <a:t>handles</a:t>
            </a:r>
            <a:r>
              <a:rPr lang="ru-RU" dirty="0"/>
              <a:t>” (непрозрачные дескрипторы).</a:t>
            </a:r>
          </a:p>
          <a:p>
            <a:r>
              <a:rPr lang="ru-RU" dirty="0"/>
              <a:t>Это позволяет избежать конфликтов </a:t>
            </a:r>
            <a:r>
              <a:rPr lang="ru-RU" dirty="0" err="1"/>
              <a:t>runtime’ов</a:t>
            </a:r>
            <a:r>
              <a:rPr lang="ru-RU" dirty="0"/>
              <a:t> и делает интерфейс библиотеки устойчивым.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771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показывает </a:t>
            </a:r>
            <a:r>
              <a:rPr lang="ru-RU" b="1" dirty="0"/>
              <a:t>классический пример ошибки</a:t>
            </a:r>
            <a:r>
              <a:rPr lang="ru-RU" dirty="0"/>
              <a:t>, которая возникает при неправильном обмене динамически выделенной памятью между приложением и DLL.</a:t>
            </a:r>
          </a:p>
          <a:p>
            <a:endParaRPr lang="ru-RU" dirty="0"/>
          </a:p>
          <a:p>
            <a:r>
              <a:rPr lang="ru-RU" dirty="0"/>
              <a:t>В верхней части показан код библиотеки.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allocate_array</a:t>
            </a:r>
            <a:r>
              <a:rPr lang="ru-RU" dirty="0"/>
              <a:t> экспортируется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, то есть проблем с декорированием имён здесь нет. Внутри функции память выделяется оператором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, то есть </a:t>
            </a:r>
            <a:r>
              <a:rPr lang="ru-RU" b="1" dirty="0"/>
              <a:t>через </a:t>
            </a:r>
            <a:r>
              <a:rPr lang="ru-RU" b="1" dirty="0" err="1"/>
              <a:t>runtime</a:t>
            </a:r>
            <a:r>
              <a:rPr lang="ru-RU" b="1" dirty="0"/>
              <a:t>-библиотеку, с которой была собрана DLL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нижней части показан код приложения. Приложение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allocate_array</a:t>
            </a:r>
            <a:r>
              <a:rPr lang="ru-RU" dirty="0"/>
              <a:t>, получает указатель на массив и затем освобождает его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. На первый взгляд код выглядит корректно: используется симметричная пара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/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Однако проблема в том, что </a:t>
            </a:r>
            <a:r>
              <a:rPr lang="ru-RU" b="1" dirty="0"/>
              <a:t>выделение и освобождение происходят в разных модулях</a:t>
            </a:r>
            <a:r>
              <a:rPr lang="ru-RU" dirty="0"/>
              <a:t>, которые могут быть скомпилированы с разными </a:t>
            </a:r>
            <a:r>
              <a:rPr lang="ru-RU" dirty="0" err="1"/>
              <a:t>runtime</a:t>
            </a:r>
            <a:r>
              <a:rPr lang="ru-RU" dirty="0"/>
              <a:t>-библиотеками. В результате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фактически работают с </a:t>
            </a:r>
            <a:r>
              <a:rPr lang="ru-RU" b="1" dirty="0"/>
              <a:t>разными пулами памяти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может привести к самым разным последствиям: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повреждение внутренней структуры кучи,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утечки памяти,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аварийное завершение программы,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трудно воспроизводимые ошибки, проявляющиеся спустя время.</a:t>
            </a:r>
          </a:p>
          <a:p>
            <a:endParaRPr lang="ru-RU" dirty="0"/>
          </a:p>
          <a:p>
            <a:r>
              <a:rPr lang="ru-RU" dirty="0"/>
              <a:t>Особенно коварно то, что такая ошибка </a:t>
            </a:r>
            <a:r>
              <a:rPr lang="ru-RU" b="1" dirty="0"/>
              <a:t>может не проявляться сразу</a:t>
            </a:r>
            <a:r>
              <a:rPr lang="ru-RU" dirty="0"/>
              <a:t>. В простых тестах программа может работать, но падать в другой конфигурации, при другом порядке вызовов или на другой версии ОС.</a:t>
            </a:r>
          </a:p>
          <a:p>
            <a:r>
              <a:rPr lang="ru-RU" dirty="0"/>
              <a:t>Правильный подход в такой ситуации — </a:t>
            </a:r>
            <a:r>
              <a:rPr lang="ru-RU" b="1" dirty="0"/>
              <a:t>не освобождать память на “чужой стороне”</a:t>
            </a:r>
            <a:r>
              <a:rPr lang="ru-RU" dirty="0"/>
              <a:t>. Вместо этого библиотека должна либо: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предоставлять функцию для освобождения памяти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free_array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управлять временем жизни объекта полностью внутри себя,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использовать заранее согласованный </a:t>
            </a:r>
            <a:r>
              <a:rPr lang="ru-RU" dirty="0" err="1"/>
              <a:t>аллокатор</a:t>
            </a:r>
            <a:r>
              <a:rPr lang="ru-RU" dirty="0"/>
              <a:t>.</a:t>
            </a:r>
          </a:p>
          <a:p>
            <a:r>
              <a:rPr lang="ru-RU" dirty="0"/>
              <a:t>Этот пример хорошо иллюстрирует общее правило: </a:t>
            </a:r>
            <a:r>
              <a:rPr lang="ru-RU" b="1" dirty="0"/>
              <a:t>кто выделяет память — тот и освобождает её</a:t>
            </a:r>
            <a:r>
              <a:rPr lang="ru-RU" dirty="0"/>
              <a:t>, особенно при работе через границу DLL.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934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 </a:t>
            </a:r>
            <a:r>
              <a:rPr lang="ru-RU" b="1" dirty="0"/>
              <a:t>одну из самых опасных и </a:t>
            </a:r>
            <a:r>
              <a:rPr lang="ru-RU" b="1" dirty="0" err="1"/>
              <a:t>трудноотлавливаемых</a:t>
            </a:r>
            <a:r>
              <a:rPr lang="ru-RU" b="1" dirty="0"/>
              <a:t> проблем</a:t>
            </a:r>
            <a:r>
              <a:rPr lang="ru-RU" dirty="0"/>
              <a:t> при взаимодействии приложения и динамической библиотеки на C++ — </a:t>
            </a:r>
            <a:r>
              <a:rPr lang="ru-RU" b="1" dirty="0"/>
              <a:t>несовместимость стандартных библиотек и ABI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верхней части показан код библиотеки. 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MakeString</a:t>
            </a:r>
            <a:r>
              <a:rPr lang="ru-RU" dirty="0"/>
              <a:t> создаётся и возвращается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 Обратите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== 24)</a:t>
            </a:r>
            <a:r>
              <a:rPr lang="ru-RU" dirty="0"/>
              <a:t>. Это означает, что библиотека была собрана с такой версией стандартной библиотеки и такими настройками компилятора, при которых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занимает 24 байта.</a:t>
            </a:r>
          </a:p>
          <a:p>
            <a:endParaRPr lang="ru-RU" dirty="0"/>
          </a:p>
          <a:p>
            <a:r>
              <a:rPr lang="ru-RU" dirty="0"/>
              <a:t>В нижней части — код приложения. Здесь аналогичная проверка показывает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== 32</a:t>
            </a:r>
            <a:r>
              <a:rPr lang="ru-RU" dirty="0"/>
              <a:t>. То есть </a:t>
            </a:r>
            <a:r>
              <a:rPr lang="ru-RU" b="1" dirty="0"/>
              <a:t>тот же самый тип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b="1" dirty="0"/>
              <a:t> имеет другой размер</a:t>
            </a:r>
            <a:r>
              <a:rPr lang="ru-RU" dirty="0"/>
              <a:t>. Это уже явный признак несовместимости ABI: внутренняя структура класса отличается.</a:t>
            </a:r>
          </a:p>
          <a:p>
            <a:endParaRPr lang="ru-RU" dirty="0"/>
          </a:p>
          <a:p>
            <a:r>
              <a:rPr lang="ru-RU" dirty="0"/>
              <a:t>Далее происходит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С точки зрения исходного кода всё выглядит корректно — возвращается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который присваивается локальной переменной. Но на бинарном уровне происходит серьёзная проблема.</a:t>
            </a:r>
          </a:p>
          <a:p>
            <a:endParaRPr lang="ru-RU" dirty="0"/>
          </a:p>
          <a:p>
            <a:r>
              <a:rPr lang="ru-RU" dirty="0"/>
              <a:t>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был создан внутри библиотеки по правилам </a:t>
            </a:r>
            <a:r>
              <a:rPr lang="ru-RU" i="1" dirty="0"/>
              <a:t>её</a:t>
            </a:r>
            <a:r>
              <a:rPr lang="ru-RU" dirty="0"/>
              <a:t> </a:t>
            </a:r>
            <a:r>
              <a:rPr lang="ru-RU" dirty="0" err="1"/>
              <a:t>runtime</a:t>
            </a:r>
            <a:r>
              <a:rPr lang="ru-RU" dirty="0"/>
              <a:t>-библиотеки,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разрушаться он будет в приложении, с использованием </a:t>
            </a:r>
            <a:r>
              <a:rPr lang="ru-RU" i="1" dirty="0"/>
              <a:t>другой</a:t>
            </a:r>
            <a:r>
              <a:rPr lang="ru-RU" dirty="0"/>
              <a:t> реализации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деструктор будет интерпретировать память объекта </a:t>
            </a:r>
            <a:r>
              <a:rPr lang="ru-RU" b="1" dirty="0"/>
              <a:t>по другому формату</a:t>
            </a:r>
            <a:r>
              <a:rPr lang="ru-RU" dirty="0"/>
              <a:t>, чем тот, в котором объект был создан. Это может привести 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повреждению памяти,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утечкам,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аварийному завершению программы,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ошибкам, которые проявляются далеко от места реальной причины.</a:t>
            </a:r>
          </a:p>
          <a:p>
            <a:endParaRPr lang="ru-RU" dirty="0"/>
          </a:p>
          <a:p>
            <a:r>
              <a:rPr lang="ru-RU" dirty="0"/>
              <a:t>Важно понимать, что такие ошибки </a:t>
            </a:r>
            <a:r>
              <a:rPr lang="ru-RU" b="1" dirty="0"/>
              <a:t>не обязаны проявляться сразу</a:t>
            </a:r>
            <a:r>
              <a:rPr lang="ru-RU" dirty="0"/>
              <a:t>. Программа может пройти тесты, но падать в других условиях или на другой машине.</a:t>
            </a:r>
          </a:p>
          <a:p>
            <a:r>
              <a:rPr lang="ru-RU" dirty="0"/>
              <a:t>Именно поэтому в интерфейсах динамических библиотек: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не рекомендуется передавать STL-объекты</a:t>
            </a:r>
            <a:r>
              <a:rPr lang="ru-RU" dirty="0"/>
              <a:t> через границу DLL,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нельзя полагаться на совпадение ABI между разными сборками,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обычно экспортируют либо C-интерфейс, либо используют непрозрачные дескрипторы и фабрики.</a:t>
            </a:r>
          </a:p>
          <a:p>
            <a:r>
              <a:rPr lang="ru-RU" dirty="0"/>
              <a:t>Этот пример хорошо иллюстрирует, что </a:t>
            </a:r>
            <a:r>
              <a:rPr lang="ru-RU" b="1" dirty="0"/>
              <a:t>совпадение исходного кода не гарантирует бинарную совместимость</a:t>
            </a:r>
            <a:r>
              <a:rPr lang="ru-RU" dirty="0"/>
              <a:t>, и почему проектирование API для динамических библиотек требует особой осторожности.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964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подводит </a:t>
            </a:r>
            <a:r>
              <a:rPr lang="ru-RU" b="1" dirty="0"/>
              <a:t>практический итог</a:t>
            </a:r>
            <a:r>
              <a:rPr lang="ru-RU" dirty="0"/>
              <a:t> всему, что мы обсудили про динамические библиотеки, ABI и </a:t>
            </a:r>
            <a:r>
              <a:rPr lang="ru-RU" dirty="0" err="1"/>
              <a:t>runtime</a:t>
            </a:r>
            <a:r>
              <a:rPr lang="ru-RU" dirty="0"/>
              <a:t>-библиотеки.</a:t>
            </a:r>
          </a:p>
          <a:p>
            <a:r>
              <a:rPr lang="ru-RU" dirty="0"/>
              <a:t>Первая и самая важная рекомендация — </a:t>
            </a:r>
            <a:r>
              <a:rPr lang="ru-RU" b="1" dirty="0"/>
              <a:t>не используйте динамическое управление памятью на границе библиотек</a:t>
            </a:r>
            <a:r>
              <a:rPr lang="ru-RU" dirty="0"/>
              <a:t>. Граница DLL — это граница между потенциально разными компиляторами, </a:t>
            </a:r>
            <a:r>
              <a:rPr lang="ru-RU" dirty="0" err="1"/>
              <a:t>runtime</a:t>
            </a:r>
            <a:r>
              <a:rPr lang="ru-RU" dirty="0"/>
              <a:t>-библиотеками и </a:t>
            </a:r>
            <a:r>
              <a:rPr lang="ru-RU" dirty="0" err="1"/>
              <a:t>аллокаторами</a:t>
            </a:r>
            <a:r>
              <a:rPr lang="ru-RU" dirty="0"/>
              <a:t>. Чем меньше “живых” объектов пересекает эту границу, тем надёжнее система.</a:t>
            </a:r>
          </a:p>
          <a:p>
            <a:r>
              <a:rPr lang="ru-RU" dirty="0"/>
              <a:t>Правильный подход — </a:t>
            </a:r>
            <a:r>
              <a:rPr lang="ru-RU" b="1" dirty="0"/>
              <a:t>передавать и возвращать только простые типы данных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числа,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перечисления,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простые POD-структуры фиксированного размера,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указатели или дескрипторы, смысл которых известен библиотеке.</a:t>
            </a:r>
          </a:p>
          <a:p>
            <a:r>
              <a:rPr lang="ru-RU" dirty="0"/>
              <a:t>Неправильный подход — </a:t>
            </a:r>
            <a:r>
              <a:rPr lang="ru-RU" b="1" dirty="0"/>
              <a:t>передавать или возвращать сложные объекты</a:t>
            </a:r>
            <a:r>
              <a:rPr lang="ru-RU" dirty="0"/>
              <a:t>, особенно те, которые используют динамическую память: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объекты с виртуальными методами,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структуры с вложенными указателями.</a:t>
            </a:r>
          </a:p>
          <a:p>
            <a:endParaRPr lang="ru-RU" dirty="0"/>
          </a:p>
          <a:p>
            <a:r>
              <a:rPr lang="ru-RU" dirty="0"/>
              <a:t>Следующее правило — </a:t>
            </a:r>
            <a:r>
              <a:rPr lang="ru-RU" b="1" dirty="0"/>
              <a:t>симметрия операций выделения и освобождения памяти</a:t>
            </a:r>
            <a:r>
              <a:rPr lang="ru-RU" dirty="0"/>
              <a:t>. Если библиотека выделяет память, она же должна предоставлять функцию для её освобождения. Приложение не должно “догадываться”, каким способом и каким </a:t>
            </a:r>
            <a:r>
              <a:rPr lang="ru-RU" dirty="0" err="1"/>
              <a:t>аллокатором</a:t>
            </a:r>
            <a:r>
              <a:rPr lang="ru-RU" dirty="0"/>
              <a:t> была выделена память.</a:t>
            </a:r>
          </a:p>
          <a:p>
            <a:endParaRPr lang="ru-RU" dirty="0"/>
          </a:p>
          <a:p>
            <a:r>
              <a:rPr lang="ru-RU" dirty="0"/>
              <a:t>На практике это означает: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фабрики и деструкторы, реализованные в библиотеке,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функции вида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_*</a:t>
            </a:r>
            <a:r>
              <a:rPr lang="ru-RU" dirty="0"/>
              <a:t> /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_*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управление временем жизни объектов полностью внутри DLL.</a:t>
            </a:r>
          </a:p>
          <a:p>
            <a:endParaRPr lang="ru-RU" dirty="0"/>
          </a:p>
          <a:p>
            <a:r>
              <a:rPr lang="ru-RU" dirty="0"/>
              <a:t>Соблюдение этих рекомендаций позволяет: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избежать конфликтов </a:t>
            </a:r>
            <a:r>
              <a:rPr lang="ru-RU" dirty="0" err="1"/>
              <a:t>heap’ов</a:t>
            </a:r>
            <a:r>
              <a:rPr lang="ru-RU" dirty="0"/>
              <a:t> и </a:t>
            </a:r>
            <a:r>
              <a:rPr lang="ru-RU" dirty="0" err="1"/>
              <a:t>runtime</a:t>
            </a:r>
            <a:r>
              <a:rPr lang="ru-RU" dirty="0"/>
              <a:t>-библиотек,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обеспечить стабильность ABI,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упростить сопровождение и обновление библиотек,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сделать динамическую линковку безопасной и предсказуемой.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3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показывает </a:t>
            </a:r>
            <a:r>
              <a:rPr lang="ru-RU" b="1" dirty="0"/>
              <a:t>правильный и безопасный шаблон</a:t>
            </a:r>
            <a:r>
              <a:rPr lang="ru-RU" dirty="0"/>
              <a:t> работы с памятью при взаимодействии приложения и динамической библиотеки.</a:t>
            </a:r>
          </a:p>
          <a:p>
            <a:r>
              <a:rPr lang="ru-RU" dirty="0"/>
              <a:t>Библиотека предоставляет две функции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AllocateMemory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— выделяет память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FreeMemory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— освобождает память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.</a:t>
            </a:r>
          </a:p>
          <a:p>
            <a:r>
              <a:rPr lang="ru-RU" dirty="0"/>
              <a:t>Ключевой момент здесь — </a:t>
            </a:r>
            <a:r>
              <a:rPr lang="ru-RU" b="1" dirty="0"/>
              <a:t>симметрия</a:t>
            </a:r>
            <a:r>
              <a:rPr lang="ru-RU" dirty="0"/>
              <a:t>: библиотека сама определяет, </a:t>
            </a:r>
            <a:r>
              <a:rPr lang="ru-RU" i="1" dirty="0"/>
              <a:t>каким способом</a:t>
            </a:r>
            <a:r>
              <a:rPr lang="ru-RU" dirty="0"/>
              <a:t> и </a:t>
            </a:r>
            <a:r>
              <a:rPr lang="ru-RU" i="1" dirty="0"/>
              <a:t>каким </a:t>
            </a:r>
            <a:r>
              <a:rPr lang="ru-RU" i="1" dirty="0" err="1"/>
              <a:t>аллокатором</a:t>
            </a:r>
            <a:r>
              <a:rPr lang="ru-RU" dirty="0"/>
              <a:t> выделяется память, и она же гарантирует корректное освобождение этой памяти тем же механизмом.</a:t>
            </a:r>
          </a:p>
          <a:p>
            <a:endParaRPr lang="ru-RU" dirty="0"/>
          </a:p>
          <a:p>
            <a:r>
              <a:rPr lang="ru-RU" dirty="0"/>
              <a:t>Приложение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AllocateMemory</a:t>
            </a:r>
            <a:r>
              <a:rPr lang="ru-RU" dirty="0"/>
              <a:t>, получает указатель и использует память как буфер. Но освобождение выполняется не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 напрямую и тем более не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dirty="0"/>
              <a:t>, а через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FreeMemory</a:t>
            </a:r>
            <a:r>
              <a:rPr lang="ru-RU" dirty="0"/>
              <a:t>, предоставленную библиотекой.</a:t>
            </a:r>
          </a:p>
          <a:p>
            <a:endParaRPr lang="ru-RU" dirty="0"/>
          </a:p>
          <a:p>
            <a:r>
              <a:rPr lang="ru-RU" dirty="0"/>
              <a:t>Это решает сразу несколько проблем: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исключает ситуацию “выделили в одном </a:t>
            </a:r>
            <a:r>
              <a:rPr lang="ru-RU" dirty="0" err="1"/>
              <a:t>heap</a:t>
            </a:r>
            <a:r>
              <a:rPr lang="ru-RU" dirty="0"/>
              <a:t> — освободили в другом”,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скрывает детали реализации </a:t>
            </a:r>
            <a:r>
              <a:rPr lang="ru-RU" dirty="0" err="1"/>
              <a:t>аллокатора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повышает совместимость даже при разных </a:t>
            </a:r>
            <a:r>
              <a:rPr lang="ru-RU" dirty="0" err="1"/>
              <a:t>runtime</a:t>
            </a:r>
            <a:r>
              <a:rPr lang="ru-RU" dirty="0"/>
              <a:t>-библиотеках,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позволяет библиотеке при необходимости заменить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 на другой </a:t>
            </a:r>
            <a:r>
              <a:rPr lang="ru-RU" dirty="0" err="1"/>
              <a:t>аллокатор</a:t>
            </a:r>
            <a:r>
              <a:rPr lang="ru-RU" dirty="0"/>
              <a:t>, не меняя внешний API.</a:t>
            </a:r>
          </a:p>
          <a:p>
            <a:r>
              <a:rPr lang="ru-RU" dirty="0"/>
              <a:t>Практическое правило, которое этот пример иллюстрирует, звучит так:</a:t>
            </a:r>
          </a:p>
          <a:p>
            <a:r>
              <a:rPr lang="ru-RU" b="1" dirty="0"/>
              <a:t>Кто выделяет память — тот должен предоставлять способ её освободить.</a:t>
            </a:r>
            <a:endParaRPr lang="ru-RU" dirty="0"/>
          </a:p>
          <a:p>
            <a:r>
              <a:rPr lang="ru-RU" dirty="0"/>
              <a:t>Именно такой подход используют многие реальные API: например, функции, которые возвращают указатель, почти всегда имеют парную функцию освобождения, чтобы клиентский код не ломал управление памятью.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278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Вот практические рекомендации</a:t>
            </a:r>
            <a:r>
              <a:rPr lang="ru-RU" dirty="0"/>
              <a:t>, которые позволяют минимизировать проблемы при работе с динамическими библиотеками и сделать интерфейсы устойчивыми и предсказуемыми.</a:t>
            </a:r>
          </a:p>
          <a:p>
            <a:r>
              <a:rPr lang="ru-RU" dirty="0"/>
              <a:t>Первая рекомендация — </a:t>
            </a:r>
            <a:r>
              <a:rPr lang="ru-RU" b="1" dirty="0"/>
              <a:t>использовать общий </a:t>
            </a:r>
            <a:r>
              <a:rPr lang="ru-RU" b="1" dirty="0" err="1"/>
              <a:t>runtime</a:t>
            </a:r>
            <a:r>
              <a:rPr lang="ru-RU" b="1" dirty="0"/>
              <a:t> для приложения и библиотеки</a:t>
            </a:r>
            <a:r>
              <a:rPr lang="ru-RU" dirty="0"/>
              <a:t>. Это означает: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одну и ту же версию компилятора,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одинаковые настройки сборки (например, </a:t>
            </a:r>
            <a:r>
              <a:rPr lang="ru-RU" dirty="0" err="1"/>
              <a:t>Debug</a:t>
            </a:r>
            <a:r>
              <a:rPr lang="ru-RU" dirty="0"/>
              <a:t> или </a:t>
            </a:r>
            <a:r>
              <a:rPr lang="ru-RU" dirty="0" err="1"/>
              <a:t>Release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одинаковые версии стандартных библиотек.</a:t>
            </a:r>
          </a:p>
          <a:p>
            <a:r>
              <a:rPr lang="ru-RU" dirty="0"/>
              <a:t>В таком случае вероятность несовместимости ABI значительно снижается, хотя полностью не исчезает.</a:t>
            </a:r>
          </a:p>
          <a:p>
            <a:endParaRPr lang="en-US" dirty="0"/>
          </a:p>
          <a:p>
            <a:r>
              <a:rPr lang="ru-RU" dirty="0"/>
              <a:t>Вторая рекомендация — </a:t>
            </a:r>
            <a:r>
              <a:rPr lang="ru-RU" b="1" dirty="0"/>
              <a:t>использовать обёртки для передачи сложных объектов</a:t>
            </a:r>
            <a:r>
              <a:rPr lang="ru-RU" dirty="0"/>
              <a:t>. Вместо того чтобы передавать через границу DLL объекты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лучше: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сериализовать</a:t>
            </a:r>
            <a:r>
              <a:rPr lang="ru-RU" dirty="0"/>
              <a:t> сложный объект в простой формат (массив байт, C-строку, структуру фиксированного размера),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передать этот простой формат,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восстановить объект на принимающей стороне.</a:t>
            </a:r>
          </a:p>
          <a:p>
            <a:r>
              <a:rPr lang="ru-RU" dirty="0"/>
              <a:t>Это особенно важно при взаимодействии между разными языками программирования или модулями с разными настройками ABI.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Третья рекомендация — </a:t>
            </a:r>
            <a:r>
              <a:rPr lang="ru-RU" b="1" dirty="0"/>
              <a:t>использовать стабильные ABI</a:t>
            </a:r>
            <a:r>
              <a:rPr lang="ru-RU" dirty="0"/>
              <a:t>. На практике это означает: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экспортировать интерфейсы в виде </a:t>
            </a:r>
            <a:r>
              <a:rPr lang="ru-RU" b="1" dirty="0"/>
              <a:t>C API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отключать декорирование имён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избегать передачи C++-типов через границу библиотеки.</a:t>
            </a:r>
          </a:p>
          <a:p>
            <a:r>
              <a:rPr lang="ru-RU" dirty="0"/>
              <a:t>C ABI является де-факто стандартом для бинарной совместимости между компиляторами, языками и платформами.</a:t>
            </a:r>
          </a:p>
          <a:p>
            <a:endParaRPr lang="en-US" dirty="0"/>
          </a:p>
          <a:p>
            <a:r>
              <a:rPr lang="ru-RU" dirty="0"/>
              <a:t>Четвёртая рекомендация — </a:t>
            </a:r>
            <a:r>
              <a:rPr lang="ru-RU" b="1" dirty="0"/>
              <a:t>использовать совместимые </a:t>
            </a:r>
            <a:r>
              <a:rPr lang="ru-RU" b="1" dirty="0" err="1"/>
              <a:t>аллокаторы</a:t>
            </a:r>
            <a:r>
              <a:rPr lang="ru-RU" dirty="0"/>
              <a:t>. Если приложению и библиотеке необходимо обмениваться динамически выделенной памятью, они должны: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использовать </a:t>
            </a:r>
            <a:r>
              <a:rPr lang="ru-RU" b="1" dirty="0"/>
              <a:t>один и тот же </a:t>
            </a:r>
            <a:r>
              <a:rPr lang="ru-RU" b="1" dirty="0" err="1"/>
              <a:t>аллокатор</a:t>
            </a:r>
            <a:r>
              <a:rPr lang="ru-RU" b="1" dirty="0"/>
              <a:t> со стабильным ABI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явно передавать функции выделения и освобождения памяти.</a:t>
            </a:r>
          </a:p>
          <a:p>
            <a:r>
              <a:rPr lang="ru-RU" dirty="0"/>
              <a:t>Такой подход позволяет безопасно управлять памятью и избежать конфликтов между разными </a:t>
            </a:r>
            <a:r>
              <a:rPr lang="ru-RU" dirty="0" err="1"/>
              <a:t>heap’ами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В совокупности эти рекомендации отражают главный принцип работы с динамическими библиотеками:</a:t>
            </a:r>
          </a:p>
          <a:p>
            <a:r>
              <a:rPr lang="ru-RU" b="1" dirty="0"/>
              <a:t>Чем проще и стабильнее интерфейс между модулями, тем надёжнее и безопаснее вся система.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705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Подведём </a:t>
            </a:r>
            <a:r>
              <a:rPr lang="ru-RU" b="1" dirty="0"/>
              <a:t>итог раздела про обмен сложными объектами</a:t>
            </a:r>
            <a:r>
              <a:rPr lang="ru-RU" dirty="0"/>
              <a:t> между приложением и динамическими библиотеками.</a:t>
            </a:r>
          </a:p>
          <a:p>
            <a:endParaRPr lang="ru-RU" dirty="0"/>
          </a:p>
          <a:p>
            <a:r>
              <a:rPr lang="ru-RU" dirty="0"/>
              <a:t>Первый и главный вывод — </a:t>
            </a:r>
            <a:r>
              <a:rPr lang="ru-RU" b="1" dirty="0"/>
              <a:t>не передавайте через границу библиотеки объекты, которые управляют динамической памятью</a:t>
            </a:r>
            <a:r>
              <a:rPr lang="ru-RU" dirty="0"/>
              <a:t>. Это относится не только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и контейнерам STL, но и к любым пользовательским классам с динамическими ресурсами, виртуальными методами или нетривиальными деструкторами. Даже если код компилируется, на бинарном уровне это может быть небезопасно.</a:t>
            </a:r>
          </a:p>
          <a:p>
            <a:endParaRPr lang="ru-RU" dirty="0"/>
          </a:p>
          <a:p>
            <a:r>
              <a:rPr lang="ru-RU" dirty="0"/>
              <a:t>Второй вывод — </a:t>
            </a:r>
            <a:r>
              <a:rPr lang="ru-RU" b="1" dirty="0"/>
              <a:t>библиотека должна быть полностью ответственна за управление памятью</a:t>
            </a:r>
            <a:r>
              <a:rPr lang="ru-RU" dirty="0"/>
              <a:t>, которую она выделяет. Если библиотека возвращает указатель или дескриптор, она же должна предоставлять функции для его корректного освобождения. Это правило избавляет от конфликтов между разными </a:t>
            </a:r>
            <a:r>
              <a:rPr lang="ru-RU" dirty="0" err="1"/>
              <a:t>heap’ами</a:t>
            </a:r>
            <a:r>
              <a:rPr lang="ru-RU" dirty="0"/>
              <a:t> и </a:t>
            </a:r>
            <a:r>
              <a:rPr lang="ru-RU" dirty="0" err="1"/>
              <a:t>runtime</a:t>
            </a:r>
            <a:r>
              <a:rPr lang="ru-RU" dirty="0"/>
              <a:t>-библиотеками.</a:t>
            </a:r>
          </a:p>
          <a:p>
            <a:endParaRPr lang="ru-RU" dirty="0"/>
          </a:p>
          <a:p>
            <a:r>
              <a:rPr lang="ru-RU" dirty="0"/>
              <a:t>Третий момент — </a:t>
            </a:r>
            <a:r>
              <a:rPr lang="ru-RU" b="1" dirty="0"/>
              <a:t>контроль совместимости окружения сборки</a:t>
            </a:r>
            <a:r>
              <a:rPr lang="ru-RU" dirty="0"/>
              <a:t>. Даже при аккуратном проектировании интерфейса важно следить за тем, чтобы: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версии компиляторов были совместимы,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использовались одинаковые или совместимые стандартные библиотеки,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совпадали ключевые настройки компиляции.</a:t>
            </a:r>
          </a:p>
          <a:p>
            <a:r>
              <a:rPr lang="ru-RU" dirty="0"/>
              <a:t>Эти факторы напрямую влияют на ABI и корректность работы динамических библиотек.</a:t>
            </a:r>
          </a:p>
          <a:p>
            <a:endParaRPr lang="ru-RU" dirty="0"/>
          </a:p>
          <a:p>
            <a:r>
              <a:rPr lang="ru-RU" dirty="0"/>
              <a:t>В итоге можно сформулировать общее правило:</a:t>
            </a:r>
          </a:p>
          <a:p>
            <a:r>
              <a:rPr lang="ru-RU" b="1" dirty="0"/>
              <a:t>Динамические библиотеки требуют строгой дисциплины на границе модулей:</a:t>
            </a:r>
            <a:br>
              <a:rPr lang="ru-RU" b="1" dirty="0"/>
            </a:br>
            <a:r>
              <a:rPr lang="ru-RU" b="1" dirty="0"/>
              <a:t>простые интерфейсы, явное управление памятью и контроль ABI.</a:t>
            </a:r>
            <a:endParaRPr lang="ru-RU" dirty="0"/>
          </a:p>
          <a:p>
            <a:r>
              <a:rPr lang="ru-RU" dirty="0"/>
              <a:t>Этот принцип позволяет избежать большинства ошибок, связанных с динамической линковкой в реальных системах.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847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463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рассматривается хорошо известное историческое явление — </a:t>
            </a:r>
            <a:r>
              <a:rPr lang="ru-RU" b="1" dirty="0"/>
              <a:t>DLL </a:t>
            </a:r>
            <a:r>
              <a:rPr lang="ru-RU" b="1" dirty="0" err="1"/>
              <a:t>Hell</a:t>
            </a:r>
            <a:r>
              <a:rPr lang="ru-RU" dirty="0"/>
              <a:t>, с которым активно сталкивались пользователи и разработчики Windows в 90-х и начале 2000-х годов.</a:t>
            </a:r>
          </a:p>
          <a:p>
            <a:endParaRPr lang="ru-RU" dirty="0"/>
          </a:p>
          <a:p>
            <a:r>
              <a:rPr lang="ru-RU" b="1" dirty="0"/>
              <a:t>DLL </a:t>
            </a:r>
            <a:r>
              <a:rPr lang="ru-RU" b="1" dirty="0" err="1"/>
              <a:t>Hell</a:t>
            </a:r>
            <a:r>
              <a:rPr lang="ru-RU" dirty="0"/>
              <a:t> — это совокупность проблем, возникавших из-за неупорядоченного управления динамическими библиотеками. В те годы DLL были широко распространены, но механизмы контроля версий и изоляции ещё не были развиты.</a:t>
            </a:r>
          </a:p>
          <a:p>
            <a:endParaRPr lang="ru-RU" dirty="0"/>
          </a:p>
          <a:p>
            <a:r>
              <a:rPr lang="ru-RU" dirty="0"/>
              <a:t>Первая и основная причина — </a:t>
            </a:r>
            <a:r>
              <a:rPr lang="ru-RU" b="1" dirty="0"/>
              <a:t>конфликт версий библиотек</a:t>
            </a:r>
            <a:r>
              <a:rPr lang="ru-RU" dirty="0"/>
              <a:t>. Несколько приложений могли использовать одну и ту же DLL, но ожидать от неё разное поведение. При установке нового приложения DLL могла обновляться, и старая программа внезапно начинала работать неправильно или вовсе переставала запускаться. Часто это происходило из-за того, что в новой версии библиотеки изменялся интерфейс или удалялись функции.</a:t>
            </a:r>
          </a:p>
          <a:p>
            <a:endParaRPr lang="ru-RU" dirty="0"/>
          </a:p>
          <a:p>
            <a:r>
              <a:rPr lang="ru-RU" dirty="0"/>
              <a:t>Вторая причина — </a:t>
            </a:r>
            <a:r>
              <a:rPr lang="ru-RU" b="1" dirty="0"/>
              <a:t>перезапись файлов</a:t>
            </a:r>
            <a:r>
              <a:rPr lang="ru-RU" dirty="0"/>
              <a:t>. Установщики приложений нередко без проверки заменяли DLL в системных каталогах на “свои” версии. Если такая версия была несовместима с уже установленными программами, это приводило к сбоям в других приложениях и даже в самой системе.</a:t>
            </a:r>
          </a:p>
          <a:p>
            <a:endParaRPr lang="ru-RU" dirty="0"/>
          </a:p>
          <a:p>
            <a:r>
              <a:rPr lang="ru-RU" dirty="0"/>
              <a:t>Третья проблема — </a:t>
            </a:r>
            <a:r>
              <a:rPr lang="ru-RU" b="1" dirty="0"/>
              <a:t>отсутствие информации о версиях библиотек</a:t>
            </a:r>
            <a:r>
              <a:rPr lang="ru-RU" dirty="0"/>
              <a:t>. Многие ранние DLL не содержали чётких данных о версии или менялись без изменения имени файла. В результате система не могла корректно определить, подходит ли конкретная библиотека для данного приложения. Если же нужной DLL не оказывалось в системе, приложение просто не запускалось, часто без понятного сообщения об ошибке.</a:t>
            </a:r>
          </a:p>
          <a:p>
            <a:endParaRPr lang="ru-RU" dirty="0"/>
          </a:p>
          <a:p>
            <a:r>
              <a:rPr lang="ru-RU" dirty="0"/>
              <a:t>Четвёртый фактор — </a:t>
            </a:r>
            <a:r>
              <a:rPr lang="ru-RU" b="1" dirty="0"/>
              <a:t>отсутствие изоляции библиотек</a:t>
            </a:r>
            <a:r>
              <a:rPr lang="ru-RU" dirty="0"/>
              <a:t>. DLL размещались в общих каталогах, таких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System32</a:t>
            </a:r>
            <a:r>
              <a:rPr lang="ru-RU" dirty="0"/>
              <a:t>, и использовались всеми приложениями совместно. У приложений не было собственных, изолированных копий библиотек, что резко увеличивало вероятность конфликтов.</a:t>
            </a:r>
          </a:p>
          <a:p>
            <a:endParaRPr lang="ru-RU" dirty="0"/>
          </a:p>
          <a:p>
            <a:r>
              <a:rPr lang="ru-RU" dirty="0"/>
              <a:t>И, наконец, </a:t>
            </a:r>
            <a:r>
              <a:rPr lang="ru-RU" b="1" dirty="0"/>
              <a:t>различия между средой разработки и средой клиента</a:t>
            </a:r>
            <a:r>
              <a:rPr lang="ru-RU" dirty="0"/>
              <a:t>. Программа могла успешно работать на компьютере разработчика, где были установлены все нужные версии DLL, но не запускаться у пользователя, у которого этих библиотек не было или они имели другие версии.</a:t>
            </a:r>
          </a:p>
          <a:p>
            <a:endParaRPr lang="ru-RU" dirty="0"/>
          </a:p>
          <a:p>
            <a:r>
              <a:rPr lang="ru-RU" dirty="0"/>
              <a:t>В совокупности эти проблемы сделали DLL </a:t>
            </a:r>
            <a:r>
              <a:rPr lang="ru-RU" dirty="0" err="1"/>
              <a:t>Hell</a:t>
            </a:r>
            <a:r>
              <a:rPr lang="ru-RU" dirty="0"/>
              <a:t> серьёзной головной болью для экосистемы Windows и стали причиной появления более современных механизмов управления зависимостями и изоляции библиотек, о которых мы поговорим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129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того как мы разобрали, что такое </a:t>
            </a:r>
            <a:r>
              <a:rPr lang="ru-RU" b="1" dirty="0"/>
              <a:t>DLL </a:t>
            </a:r>
            <a:r>
              <a:rPr lang="ru-RU" b="1" dirty="0" err="1"/>
              <a:t>Hell</a:t>
            </a:r>
            <a:r>
              <a:rPr lang="ru-RU" dirty="0"/>
              <a:t> и почему она возникала, логично посмотреть, </a:t>
            </a:r>
            <a:r>
              <a:rPr lang="ru-RU" b="1" dirty="0"/>
              <a:t>какие решения были предложены</a:t>
            </a:r>
            <a:r>
              <a:rPr lang="ru-RU" dirty="0"/>
              <a:t> и какие из них применяются до сих пор.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Первое решение — </a:t>
            </a:r>
            <a:r>
              <a:rPr lang="ru-RU" b="1" dirty="0"/>
              <a:t>введение версий DLL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Библиотеки стали явно указывать информацию о версии, а разработчики начали учитывать совместимость интерфейсов. Это позволило лучше контролировать обновления и понимать, подходит ли конкретная версия библиотеки для приложения. Однако само по себе </a:t>
            </a:r>
            <a:r>
              <a:rPr lang="ru-RU" dirty="0" err="1"/>
              <a:t>версионирование</a:t>
            </a:r>
            <a:r>
              <a:rPr lang="ru-RU" dirty="0"/>
              <a:t> не решало проблему полностью, если в системе всё равно оставалась только одна копия DLL.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Второй важный шаг — </a:t>
            </a:r>
            <a:r>
              <a:rPr lang="ru-RU" b="1" dirty="0"/>
              <a:t>Side-</a:t>
            </a:r>
            <a:r>
              <a:rPr lang="ru-RU" b="1" dirty="0" err="1"/>
              <a:t>by</a:t>
            </a:r>
            <a:r>
              <a:rPr lang="ru-RU" b="1" dirty="0"/>
              <a:t>-Side загрузка (</a:t>
            </a:r>
            <a:r>
              <a:rPr lang="ru-RU" b="1" dirty="0" err="1"/>
              <a:t>SxS</a:t>
            </a:r>
            <a:r>
              <a:rPr lang="ru-RU" b="1" dirty="0"/>
              <a:t>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Этот механизм позволяет хранить и загружать </a:t>
            </a:r>
            <a:r>
              <a:rPr lang="ru-RU" b="1" dirty="0"/>
              <a:t>несколько версий одной и той же библиотеки одновременно</a:t>
            </a:r>
            <a:r>
              <a:rPr lang="ru-RU" dirty="0"/>
              <a:t>. Приложение через манифест указывает, какая именно версия ему нужна, и система загружает именно её, не затрагивая другие приложения. </a:t>
            </a:r>
            <a:r>
              <a:rPr lang="ru-RU" dirty="0" err="1"/>
              <a:t>SxS</a:t>
            </a:r>
            <a:r>
              <a:rPr lang="ru-RU" dirty="0"/>
              <a:t> существенно снизил количество конфликтов между программами и стал одним из ключевых способов борьбы с DLL </a:t>
            </a:r>
            <a:r>
              <a:rPr lang="ru-RU" dirty="0" err="1"/>
              <a:t>Hell</a:t>
            </a:r>
            <a:r>
              <a:rPr lang="ru-RU" dirty="0"/>
              <a:t> в Windows.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Третье решение — </a:t>
            </a:r>
            <a:r>
              <a:rPr lang="ru-RU" b="1" dirty="0"/>
              <a:t>установка библиотек в директорию приложения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Вместо размещения DLL в общих системных каталогах библиотеки кладутся рядом с исполняемым файлом. В этом случае приложение использует “свои” копии DLL, и изменения в системе не влияют на его работу. Этот подход повышает изоляцию, но может приводить к дублированию библиотек и увеличению занимаемого места.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Отдельно стоит упомянуть </a:t>
            </a:r>
            <a:r>
              <a:rPr lang="ru-RU" b="1" dirty="0"/>
              <a:t>технологию .NET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.NET управление зависимостями и версиями библиотек изначально было встроено в платформу. Сборки имеют строгую идентификацию, включая версию и публичный ключ, а среда выполнения контролирует загрузку нужных компонентов. Это существенно уменьшило классические проблемы DLL </a:t>
            </a:r>
            <a:r>
              <a:rPr lang="ru-RU" dirty="0" err="1"/>
              <a:t>Hell</a:t>
            </a:r>
            <a:r>
              <a:rPr lang="ru-RU" dirty="0"/>
              <a:t> для .NET-приложений.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И, наконец, </a:t>
            </a:r>
            <a:r>
              <a:rPr lang="ru-RU" b="1" dirty="0"/>
              <a:t>статическая компоновка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Включение всех зависимостей прямо в исполняемый файл полностью устраняет проблемы динамических библиотек на стороне пользователя. Однако за это приходится платить увеличением размера программ и потерей преимуществ совместного использования кода.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каждая из этих стратегий решает проблему DLL </a:t>
            </a:r>
            <a:r>
              <a:rPr lang="ru-RU" dirty="0" err="1"/>
              <a:t>Hell</a:t>
            </a:r>
            <a:r>
              <a:rPr lang="ru-RU" dirty="0"/>
              <a:t> по-своему, и на практике часто используется </a:t>
            </a:r>
            <a:r>
              <a:rPr lang="ru-RU" b="1" dirty="0"/>
              <a:t>комбинация нескольких подходов</a:t>
            </a:r>
            <a:r>
              <a:rPr lang="ru-RU" dirty="0"/>
              <a:t>, в зависимости от требований к совместимости, обновляемости и изоляции приложений.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791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операционной системе Linux проблема, аналогичная </a:t>
            </a:r>
            <a:r>
              <a:rPr lang="ru-RU" b="1" dirty="0"/>
              <a:t>DLL Hell</a:t>
            </a:r>
            <a:r>
              <a:rPr lang="ru-RU" dirty="0"/>
              <a:t>, существовала, хотя и проявлялась в иной форме из-за особенностей управления библиотеками в этой экосистеме. Основные сложности были связаны с динамическими библиотеками (.so, shared object), которые использует Linux. Проблема получила название </a:t>
            </a:r>
            <a:r>
              <a:rPr lang="ru-RU" b="1" dirty="0"/>
              <a:t>"Dependency Hell"</a:t>
            </a:r>
            <a:r>
              <a:rPr lang="ru-RU" dirty="0"/>
              <a:t> (ад зависимостей), и её причины и проявления схожи с DLL Hell в Windows, но также имеют уникальные особенности.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444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обсуждения DLL </a:t>
            </a:r>
            <a:r>
              <a:rPr lang="ru-RU" dirty="0" err="1"/>
              <a:t>Hell</a:t>
            </a:r>
            <a:r>
              <a:rPr lang="ru-RU" dirty="0"/>
              <a:t> в Windows важно отметить, что похожие проблемы существуют и в мире Linux, хотя проявляются иначе. Здесь часто используют термин </a:t>
            </a:r>
            <a:r>
              <a:rPr lang="ru-RU" b="1" dirty="0" err="1"/>
              <a:t>dependency</a:t>
            </a:r>
            <a:r>
              <a:rPr lang="ru-RU" b="1" dirty="0"/>
              <a:t> </a:t>
            </a:r>
            <a:r>
              <a:rPr lang="ru-RU" b="1" dirty="0" err="1"/>
              <a:t>hell</a:t>
            </a:r>
            <a:r>
              <a:rPr lang="ru-RU" dirty="0"/>
              <a:t> — “ад зависимостей”.</a:t>
            </a:r>
          </a:p>
          <a:p>
            <a:r>
              <a:rPr lang="ru-RU" dirty="0"/>
              <a:t>Первое проявление — </a:t>
            </a:r>
            <a:r>
              <a:rPr lang="ru-RU" b="1" dirty="0"/>
              <a:t>конфликты версий библиотек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Если приложение рассчитано на конкретную версию библиотеки, а в системе установлена другая, оно может перестать запускаться или работать неправильно. Это особенно заметно, когда старое приложение ожидает старый ABI, а системная библиотека была обновлена.</a:t>
            </a:r>
          </a:p>
          <a:p>
            <a:r>
              <a:rPr lang="ru-RU" dirty="0"/>
              <a:t>Вторая проблема — </a:t>
            </a:r>
            <a:r>
              <a:rPr lang="ru-RU" b="1" dirty="0"/>
              <a:t>отсутствие изоляции библиотек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Традиционно библиотеки устанавливаются глобально в стандартные директории вроде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ru-RU" dirty="0"/>
              <a:t> и т.д. Когда библиотека обновляется “для системы”, это автоматически влияет на все программы, которые её используют. В итоге изменение одной зависимости способно “зацепить” множество приложений.</a:t>
            </a:r>
          </a:p>
          <a:p>
            <a:endParaRPr lang="ru-RU" dirty="0"/>
          </a:p>
          <a:p>
            <a:r>
              <a:rPr lang="ru-RU" dirty="0"/>
              <a:t>Третье проявление — </a:t>
            </a:r>
            <a:r>
              <a:rPr lang="ru-RU" b="1" dirty="0"/>
              <a:t>невозможность одновременно использовать разные версии одной и той же библиотеки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два приложения требуют несовместимые версии библиотеки, то установка одного может привести к поломке другого. На практике это часто выражается в конфликте пакетов: менеджер пакетов сообщает, что требования по версиям несовместимы.</a:t>
            </a:r>
          </a:p>
          <a:p>
            <a:endParaRPr lang="ru-RU" dirty="0"/>
          </a:p>
          <a:p>
            <a:r>
              <a:rPr lang="ru-RU" dirty="0"/>
              <a:t>И четвёртый пункт — </a:t>
            </a:r>
            <a:r>
              <a:rPr lang="ru-RU" b="1" dirty="0"/>
              <a:t>сложные цепочки зависимостей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Приложение редко зависит только от одной библиотеки. Обычно оно требует библиотеку A, которая тянет зависимости B и C, а те — ещё десятки других. Если в такой цепочке появляется несовместимость версий, проблема становится трудной для диагностики: ошибка проявляется “на поверхности”, но причина глубоко в графе зависимостей.</a:t>
            </a:r>
          </a:p>
          <a:p>
            <a:endParaRPr lang="ru-RU" dirty="0"/>
          </a:p>
          <a:p>
            <a:r>
              <a:rPr lang="ru-RU" dirty="0"/>
              <a:t>Таким образом, в Linux </a:t>
            </a:r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hell</a:t>
            </a:r>
            <a:r>
              <a:rPr lang="ru-RU" dirty="0"/>
              <a:t> — это чаще не “перезапись DLL”, как в старом Windows, а проблема </a:t>
            </a:r>
            <a:r>
              <a:rPr lang="ru-RU" b="1" dirty="0"/>
              <a:t>управления версиями и совместимостью ABI</a:t>
            </a:r>
            <a:r>
              <a:rPr lang="ru-RU" dirty="0"/>
              <a:t> в условиях глобально разделяемых библиотек и сложных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886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какие механизмы в Linux помогают бороться с </a:t>
            </a:r>
            <a:r>
              <a:rPr lang="ru-RU" b="1" dirty="0" err="1"/>
              <a:t>dependency</a:t>
            </a:r>
            <a:r>
              <a:rPr lang="ru-RU" b="1" dirty="0"/>
              <a:t> </a:t>
            </a:r>
            <a:r>
              <a:rPr lang="ru-RU" b="1" dirty="0" err="1"/>
              <a:t>hell</a:t>
            </a:r>
            <a:r>
              <a:rPr lang="ru-RU" dirty="0"/>
              <a:t> — конфликтами версий и сложными зависимостями.</a:t>
            </a:r>
          </a:p>
          <a:p>
            <a:endParaRPr lang="ru-RU" dirty="0"/>
          </a:p>
          <a:p>
            <a:r>
              <a:rPr lang="ru-RU" dirty="0"/>
              <a:t>Первый и самый базовый уровень — </a:t>
            </a:r>
            <a:r>
              <a:rPr lang="ru-RU" b="1" dirty="0"/>
              <a:t>менеджеры пакетов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dnf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yum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pacman</a:t>
            </a:r>
            <a:r>
              <a:rPr lang="ru-RU" dirty="0"/>
              <a:t> и другие. Они автоматизируют установку и обновление ПО, умеют </a:t>
            </a:r>
            <a:r>
              <a:rPr lang="ru-RU" b="1" dirty="0"/>
              <a:t>разрешать зависимости</a:t>
            </a:r>
            <a:r>
              <a:rPr lang="ru-RU" dirty="0"/>
              <a:t>, выбирать подходящие версии и, по возможности, предотвращать конфликты. Идея простая: вместо ручного копирования библиотек система хранит информацию о том, какие пакеты и версии установлены, и старается поддерживать совместимость.</a:t>
            </a:r>
          </a:p>
          <a:p>
            <a:endParaRPr lang="ru-RU" dirty="0"/>
          </a:p>
          <a:p>
            <a:r>
              <a:rPr lang="ru-RU" dirty="0"/>
              <a:t>Следующий механизм — </a:t>
            </a:r>
            <a:r>
              <a:rPr lang="ru-RU" b="1" dirty="0"/>
              <a:t>управление версиями библиотек на уровне имён файлов</a:t>
            </a:r>
            <a:r>
              <a:rPr lang="ru-RU" dirty="0"/>
              <a:t>. В Linux динамические библиотеки обычно имеют </a:t>
            </a:r>
            <a:r>
              <a:rPr lang="ru-RU" dirty="0" err="1"/>
              <a:t>версионирование</a:t>
            </a:r>
            <a:r>
              <a:rPr lang="ru-RU" dirty="0"/>
              <a:t>, позволяющее сосуществовать нескольким основным версиям,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libfoo.so.1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libfoo.so.2</a:t>
            </a:r>
            <a:r>
              <a:rPr lang="ru-RU" dirty="0"/>
              <a:t>. Это снижает риск конфликтов: разные приложения могут быть связаны с разными </a:t>
            </a:r>
            <a:r>
              <a:rPr lang="ru-RU" dirty="0" err="1"/>
              <a:t>major</a:t>
            </a:r>
            <a:r>
              <a:rPr lang="ru-RU" dirty="0"/>
              <a:t>-версиями одной и той же библиотеки, если ABI между ними несовместим.</a:t>
            </a:r>
          </a:p>
          <a:p>
            <a:endParaRPr lang="ru-RU" dirty="0"/>
          </a:p>
          <a:p>
            <a:r>
              <a:rPr lang="ru-RU" dirty="0"/>
              <a:t>Чтобы это работало удобно, используются </a:t>
            </a:r>
            <a:r>
              <a:rPr lang="ru-RU" b="1" dirty="0"/>
              <a:t>символические ссылки</a:t>
            </a:r>
            <a:r>
              <a:rPr lang="ru-RU" dirty="0"/>
              <a:t>. Часто “короткое” имя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libfoo.so</a:t>
            </a:r>
            <a:r>
              <a:rPr lang="ru-RU" dirty="0"/>
              <a:t> указывает на конкретный файл версии,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libfoo.so.1.2</a:t>
            </a:r>
            <a:r>
              <a:rPr lang="ru-RU" dirty="0"/>
              <a:t>. Это помогает и сборке, и загрузчику находить правильную библиотеку.</a:t>
            </a:r>
          </a:p>
          <a:p>
            <a:endParaRPr lang="ru-RU" dirty="0"/>
          </a:p>
          <a:p>
            <a:r>
              <a:rPr lang="ru-RU" dirty="0"/>
              <a:t>Далее — </a:t>
            </a:r>
            <a:r>
              <a:rPr lang="ru-RU" b="1" dirty="0"/>
              <a:t>переменная окружения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LD_LIBRARY_PATH</a:t>
            </a:r>
            <a:r>
              <a:rPr lang="ru-RU" dirty="0"/>
              <a:t>. Она позволяет явно указать динамическому загрузчику, где искать библиотеки, и тем самым “подсунуть” приложению нужную версию, не трогая системные каталоги. Это полезно для тестирования и локальных установок, но важно помнить, что злоупотребление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LD_LIBRARY_PATH</a:t>
            </a:r>
            <a:r>
              <a:rPr lang="ru-RU" dirty="0"/>
              <a:t> может привести к трудно диагностируемым проблемам и даже рискам безопасности.</a:t>
            </a:r>
          </a:p>
          <a:p>
            <a:endParaRPr lang="ru-RU" dirty="0"/>
          </a:p>
          <a:p>
            <a:r>
              <a:rPr lang="ru-RU" dirty="0"/>
              <a:t>Ещё один важный элемент — информация в самих ELF-файлах. Исполняемые файлы формата </a:t>
            </a:r>
            <a:r>
              <a:rPr lang="ru-RU" b="1" dirty="0"/>
              <a:t>ELF</a:t>
            </a:r>
            <a:r>
              <a:rPr lang="ru-RU" dirty="0"/>
              <a:t> содержат список требуемых библиотек (раздел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NEEDED</a:t>
            </a:r>
            <a:r>
              <a:rPr lang="ru-RU" dirty="0"/>
              <a:t>) и часто привязку к версии через механизм SONAME. Благодаря этому загрузчик знает, </a:t>
            </a:r>
            <a:r>
              <a:rPr lang="ru-RU" b="1" dirty="0"/>
              <a:t>какие именно библиотеки нужны программе</a:t>
            </a:r>
            <a:r>
              <a:rPr lang="ru-RU" dirty="0"/>
              <a:t>, а система может проверять наличие и совместимость этих зависимостей.</a:t>
            </a:r>
          </a:p>
          <a:p>
            <a:endParaRPr lang="ru-RU" dirty="0"/>
          </a:p>
          <a:p>
            <a:r>
              <a:rPr lang="ru-RU" dirty="0"/>
              <a:t>Если же совместимость обеспечить сложно, остаются более “тяжёлые”, но надёжные подходы: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статическая компоновка</a:t>
            </a:r>
            <a:r>
              <a:rPr lang="ru-RU" dirty="0"/>
              <a:t> — упаковать зависимости внутрь исполняемого файла, уменьшив зависимость от окружения, но увеличив размер и потеряв преимущества разделяемого кода;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изоляция приложений</a:t>
            </a:r>
            <a:r>
              <a:rPr lang="ru-RU" dirty="0"/>
              <a:t> — современные форматы распространения вроде </a:t>
            </a:r>
            <a:r>
              <a:rPr lang="ru-RU" dirty="0" err="1"/>
              <a:t>AppImage</a:t>
            </a:r>
            <a:r>
              <a:rPr lang="ru-RU" dirty="0"/>
              <a:t>, </a:t>
            </a:r>
            <a:r>
              <a:rPr lang="ru-RU" dirty="0" err="1"/>
              <a:t>Flatpak</a:t>
            </a:r>
            <a:r>
              <a:rPr lang="ru-RU" dirty="0"/>
              <a:t>, </a:t>
            </a:r>
            <a:r>
              <a:rPr lang="ru-RU" dirty="0" err="1"/>
              <a:t>Snap</a:t>
            </a:r>
            <a:r>
              <a:rPr lang="ru-RU" dirty="0"/>
              <a:t>, где приложение поставляется вместе со своими библиотеками;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и, наконец, </a:t>
            </a:r>
            <a:r>
              <a:rPr lang="ru-RU" b="1" dirty="0"/>
              <a:t>контейнеризация</a:t>
            </a:r>
            <a:r>
              <a:rPr lang="ru-RU" dirty="0"/>
              <a:t> (например, </a:t>
            </a:r>
            <a:r>
              <a:rPr lang="ru-RU" dirty="0" err="1"/>
              <a:t>Docker</a:t>
            </a:r>
            <a:r>
              <a:rPr lang="ru-RU" dirty="0"/>
              <a:t>), где приложение запускается в изолированной среде со своим набором библиотек и версий, практически исключая конфликты с системой.</a:t>
            </a:r>
          </a:p>
          <a:p>
            <a:r>
              <a:rPr lang="ru-RU" dirty="0"/>
              <a:t>Таким образом, в Linux проблемы </a:t>
            </a:r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hell</a:t>
            </a:r>
            <a:r>
              <a:rPr lang="ru-RU" dirty="0"/>
              <a:t> решаются на нескольких уровнях: от менеджера пакетов и </a:t>
            </a:r>
            <a:r>
              <a:rPr lang="ru-RU" dirty="0" err="1"/>
              <a:t>версионирования</a:t>
            </a:r>
            <a:r>
              <a:rPr lang="ru-RU" dirty="0"/>
              <a:t> библиотек до полной изоляции через упаковку или контейнеры — выбор зависит от требований к совместимости и управляемости.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296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утилита </a:t>
            </a:r>
            <a:r>
              <a:rPr lang="ru-RU" b="1" dirty="0"/>
              <a:t>Process Explorer</a:t>
            </a:r>
            <a:r>
              <a:rPr lang="ru-RU" dirty="0"/>
              <a:t> — расширенный инструмент для анализа процессов в операционной системе Windows, разработанный командой </a:t>
            </a:r>
            <a:r>
              <a:rPr lang="ru-RU" dirty="0" err="1"/>
              <a:t>Sysinternals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Process Explorer можно рассматривать как </a:t>
            </a:r>
            <a:r>
              <a:rPr lang="ru-RU" b="1" dirty="0"/>
              <a:t>продвинутую замену диспетчера задач</a:t>
            </a:r>
            <a:r>
              <a:rPr lang="ru-RU" dirty="0"/>
              <a:t>. Помимо базовой информации о процессах, он позволяет глубоко заглянуть во внутреннее устройство процесса, в том числе — </a:t>
            </a:r>
            <a:r>
              <a:rPr lang="ru-RU" b="1" dirty="0"/>
              <a:t>какие динамические библиотеки загружены</a:t>
            </a:r>
            <a:r>
              <a:rPr lang="ru-RU" dirty="0"/>
              <a:t> и как они используются.</a:t>
            </a:r>
          </a:p>
          <a:p>
            <a:endParaRPr lang="ru-RU" dirty="0"/>
          </a:p>
          <a:p>
            <a:r>
              <a:rPr lang="ru-RU" dirty="0"/>
              <a:t>В верхней части окна мы видим список всех процессов в системе. Каждый процесс представлен иерархически, что позволяет понять, </a:t>
            </a:r>
            <a:r>
              <a:rPr lang="ru-RU" b="1" dirty="0"/>
              <a:t>какой процесс был запущен каким</a:t>
            </a:r>
            <a:r>
              <a:rPr lang="ru-RU" dirty="0"/>
              <a:t>. Это полезно при анализе сложных приложений и сервисов.</a:t>
            </a:r>
          </a:p>
          <a:p>
            <a:endParaRPr lang="ru-RU" dirty="0"/>
          </a:p>
          <a:p>
            <a:r>
              <a:rPr lang="ru-RU" dirty="0"/>
              <a:t>В нижней части окна выбран режим </a:t>
            </a:r>
            <a:r>
              <a:rPr lang="ru-RU" b="1" dirty="0" err="1"/>
              <a:t>DLLs</a:t>
            </a:r>
            <a:r>
              <a:rPr lang="ru-RU" dirty="0"/>
              <a:t>. Здесь отображается список </a:t>
            </a:r>
            <a:r>
              <a:rPr lang="ru-RU" b="1" dirty="0"/>
              <a:t>всех динамических библиотек (DLL)</a:t>
            </a:r>
            <a:r>
              <a:rPr lang="ru-RU" dirty="0"/>
              <a:t>, загруженных в адресное пространство выбранного процесса. Для каждой библиотеки можно увидеть: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имя файла,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путь на диске,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описание,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компанию-разработчика.</a:t>
            </a:r>
          </a:p>
          <a:p>
            <a:endParaRPr lang="ru-RU" dirty="0"/>
          </a:p>
          <a:p>
            <a:r>
              <a:rPr lang="ru-RU" dirty="0"/>
              <a:t>Это очень наглядно демонстрирует идеи, которые мы обсуждали ранее: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 процесс может использовать </a:t>
            </a:r>
            <a:r>
              <a:rPr lang="ru-RU" b="1" dirty="0"/>
              <a:t>десятки и сотни DLL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большинство из них — системные библиотеки,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библиотеки загружаются автоматически загрузчиком ОС и по требованию.</a:t>
            </a:r>
          </a:p>
          <a:p>
            <a:endParaRPr lang="ru-RU" dirty="0"/>
          </a:p>
          <a:p>
            <a:r>
              <a:rPr lang="ru-RU" dirty="0"/>
              <a:t>Process Explorer позволяет на практике увидеть последствия динамической линковки: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библиотеки реально используются приложением,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откуда именно они загружаются (что важно для анализа DLL </a:t>
            </a:r>
            <a:r>
              <a:rPr lang="ru-RU" dirty="0" err="1"/>
              <a:t>Hell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какие версии библиотек находятся в памяти.</a:t>
            </a:r>
          </a:p>
          <a:p>
            <a:endParaRPr lang="ru-RU" dirty="0"/>
          </a:p>
          <a:p>
            <a:r>
              <a:rPr lang="ru-RU" dirty="0"/>
              <a:t>Кроме того, этот инструмент часто используется: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диагностики проблем с зависимостями,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поиска конфликтов DLL,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анализа подозрительных или вредоносных процессов,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изучения использования памяти и ресурсов.</a:t>
            </a:r>
          </a:p>
          <a:p>
            <a:endParaRPr lang="ru-RU" dirty="0"/>
          </a:p>
          <a:p>
            <a:r>
              <a:rPr lang="ru-RU" dirty="0"/>
              <a:t>Таким образом, Process Explorer — это </a:t>
            </a:r>
            <a:r>
              <a:rPr lang="ru-RU" b="1" dirty="0"/>
              <a:t>практический инструмент</a:t>
            </a:r>
            <a:r>
              <a:rPr lang="ru-RU" dirty="0"/>
              <a:t>, который позволяет связать теоретические знания о динамических библиотеках, адресном пространстве процесса и загрузчике ОС с реальной работающей системой.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722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Linux нет одного универсального инструмента, полностью аналогичного Process Explorer, но есть </a:t>
            </a:r>
            <a:r>
              <a:rPr lang="ru-RU" b="1" dirty="0"/>
              <a:t>набор утилит</a:t>
            </a:r>
            <a:r>
              <a:rPr lang="ru-RU" dirty="0"/>
              <a:t>, каждая из которых показывает свою часть картины работы динамических библиотек.</a:t>
            </a:r>
          </a:p>
          <a:p>
            <a:endParaRPr lang="ru-RU" dirty="0"/>
          </a:p>
          <a:p>
            <a:r>
              <a:rPr lang="ru-RU" dirty="0"/>
              <a:t>Начнём с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самый простой и часто используемый инструмент для просмотра </a:t>
            </a:r>
            <a:r>
              <a:rPr lang="ru-RU" b="1" dirty="0"/>
              <a:t>динамических зависимостей исполняемого файла</a:t>
            </a:r>
            <a:r>
              <a:rPr lang="ru-RU" dirty="0"/>
              <a:t>. Он показывает, какие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ru-RU" dirty="0"/>
              <a:t> нужны программе и </a:t>
            </a:r>
            <a:r>
              <a:rPr lang="ru-RU" b="1" dirty="0"/>
              <a:t>какие конкретно версии библиотек будут загружены</a:t>
            </a:r>
            <a:r>
              <a:rPr lang="ru-RU" dirty="0"/>
              <a:t>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ldd</a:t>
            </a:r>
            <a:r>
              <a:rPr lang="ru-RU" dirty="0"/>
              <a:t> полезен для быстрой диагностики ошибок вида </a:t>
            </a:r>
            <a:r>
              <a:rPr lang="ru-RU" i="1" dirty="0"/>
              <a:t>“</a:t>
            </a:r>
            <a:r>
              <a:rPr lang="ru-RU" i="1" dirty="0" err="1"/>
              <a:t>library</a:t>
            </a:r>
            <a:r>
              <a:rPr lang="ru-RU" i="1" dirty="0"/>
              <a:t> </a:t>
            </a:r>
            <a:r>
              <a:rPr lang="ru-RU" i="1" dirty="0" err="1"/>
              <a:t>not</a:t>
            </a:r>
            <a:r>
              <a:rPr lang="ru-RU" i="1" dirty="0"/>
              <a:t> </a:t>
            </a:r>
            <a:r>
              <a:rPr lang="ru-RU" i="1" dirty="0" err="1"/>
              <a:t>found</a:t>
            </a:r>
            <a:r>
              <a:rPr lang="ru-RU" i="1" dirty="0"/>
              <a:t>”</a:t>
            </a:r>
            <a:r>
              <a:rPr lang="ru-RU" dirty="0"/>
              <a:t> или конфликтов версий.</a:t>
            </a:r>
          </a:p>
          <a:p>
            <a:endParaRPr lang="ru-RU" dirty="0"/>
          </a:p>
          <a:p>
            <a:r>
              <a:rPr lang="ru-RU" dirty="0"/>
              <a:t>Далее —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readelf</a:t>
            </a:r>
            <a:r>
              <a:rPr lang="ru-RU" dirty="0"/>
              <a:t> 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Эти утилиты работают на уровне формата </a:t>
            </a:r>
            <a:r>
              <a:rPr lang="ru-RU" b="1" dirty="0"/>
              <a:t>ELF</a:t>
            </a:r>
            <a:r>
              <a:rPr lang="ru-RU" dirty="0"/>
              <a:t> и позволяют посмотреть: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секции файла,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список требуемых библиотек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DT_NEEDED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SONAME,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таблицы символов.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Это инструменты более низкого уровня, но именно они показывают, </a:t>
            </a:r>
            <a:r>
              <a:rPr lang="ru-RU" b="1" dirty="0"/>
              <a:t>что именно записано в </a:t>
            </a:r>
            <a:r>
              <a:rPr lang="ru-RU" b="1" dirty="0" err="1"/>
              <a:t>бинарнике</a:t>
            </a:r>
            <a:r>
              <a:rPr lang="ru-RU" dirty="0"/>
              <a:t>, а не что получилось при запуске.</a:t>
            </a:r>
          </a:p>
          <a:p>
            <a:endParaRPr lang="ru-RU" dirty="0"/>
          </a:p>
          <a:p>
            <a:r>
              <a:rPr lang="ru-RU" dirty="0"/>
              <a:t>Отдельно стоит упомянуть </a:t>
            </a:r>
            <a:r>
              <a:rPr lang="ru-RU" b="1" dirty="0"/>
              <a:t>динамический загрузчик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ld.so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ld-linux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Через переменные окружения, такие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LD_DEBUG</a:t>
            </a:r>
            <a:r>
              <a:rPr lang="ru-RU" dirty="0"/>
              <a:t>, можно получить подробный вывод о том: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где именно загрузчик ищет библиотеки,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версии выбирает,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символы и откуда связывает.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Это мощный, но довольно “шумный” способ отладки.</a:t>
            </a:r>
          </a:p>
          <a:p>
            <a:endParaRPr lang="ru-RU" dirty="0"/>
          </a:p>
          <a:p>
            <a:r>
              <a:rPr lang="ru-RU" dirty="0"/>
              <a:t>Для анализа </a:t>
            </a:r>
            <a:r>
              <a:rPr lang="ru-RU" b="1" dirty="0"/>
              <a:t>уже запущенного процесса</a:t>
            </a:r>
            <a:r>
              <a:rPr lang="ru-RU" dirty="0"/>
              <a:t> часто используют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lsof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 его помощью можно увидеть, </a:t>
            </a:r>
            <a:r>
              <a:rPr lang="ru-RU" b="1" dirty="0"/>
              <a:t>какие файлы и библиотеки реально открыты процессом</a:t>
            </a:r>
            <a:r>
              <a:rPr lang="ru-RU" dirty="0"/>
              <a:t>, включая загруженные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ru-RU" dirty="0"/>
              <a:t>. Это ближайший аналог вкладки </a:t>
            </a:r>
            <a:r>
              <a:rPr lang="ru-RU" dirty="0" err="1"/>
              <a:t>DLLs</a:t>
            </a:r>
            <a:r>
              <a:rPr lang="ru-RU" dirty="0"/>
              <a:t> в Process Explorer.</a:t>
            </a:r>
          </a:p>
          <a:p>
            <a:endParaRPr lang="ru-RU" dirty="0"/>
          </a:p>
          <a:p>
            <a:r>
              <a:rPr lang="ru-RU" dirty="0"/>
              <a:t>Ещё более наглядный инструмент —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/&lt;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&gt;/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Этот файл показывает </a:t>
            </a:r>
            <a:r>
              <a:rPr lang="ru-RU" b="1" dirty="0"/>
              <a:t>виртуальное адресное пространство процесса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сегменты памяти отображены,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библиотеки загружены,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права доступа имеют сегменты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r-x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dirty="0"/>
              <a:t> и т.д.).</a:t>
            </a:r>
          </a:p>
          <a:p>
            <a:r>
              <a:rPr lang="ru-RU" dirty="0"/>
              <a:t>Именно здесь можно увидеть,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ru-RU" dirty="0"/>
              <a:t> разных библиотек отображается в память.</a:t>
            </a:r>
          </a:p>
          <a:p>
            <a:endParaRPr lang="ru-RU" dirty="0"/>
          </a:p>
          <a:p>
            <a:r>
              <a:rPr lang="ru-RU" dirty="0"/>
              <a:t>Наконец, для динамического анализа используются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strace</a:t>
            </a:r>
            <a:r>
              <a:rPr lang="ru-RU" dirty="0"/>
              <a:t> 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ltrace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strace</a:t>
            </a:r>
            <a:r>
              <a:rPr lang="ru-RU" dirty="0"/>
              <a:t> показывает системные вызовы (например,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ltrace</a:t>
            </a:r>
            <a:r>
              <a:rPr lang="ru-RU" dirty="0"/>
              <a:t> — вызовы библиотечных функций.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Они позволяют увидеть </a:t>
            </a:r>
            <a:r>
              <a:rPr lang="ru-RU" b="1" dirty="0"/>
              <a:t>момент загрузки библиотек</a:t>
            </a:r>
            <a:r>
              <a:rPr lang="ru-RU" dirty="0"/>
              <a:t>, обращения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ru-RU" dirty="0"/>
              <a:t>, ошибки связывания и поведение программы во время выполнения.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В итоге можно сказать, что в Linux анализ динамических библиотек строится из </a:t>
            </a:r>
            <a:r>
              <a:rPr lang="ru-RU" b="1" dirty="0"/>
              <a:t>нескольких специализированных инструментов</a:t>
            </a:r>
            <a:r>
              <a:rPr lang="ru-RU" dirty="0"/>
              <a:t>, которые вместе дают даже более глубокое понимание, чем один универсальный GUI-инструмент.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2A872-64FB-4814-81C6-17E064E1074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53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686D-4560-0D66-42CB-575BAB62B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200C1-1431-440B-8548-12ADE0B62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2B6E-AE28-A3A7-CC9A-4C9BBE28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7B9F7-DE0F-E611-571F-22AA31EF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920C2-714C-02B1-37F5-17AC3E4D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B213-E140-C4C1-3395-8D9D780E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9AC3-D5FC-236D-DE4B-70E1D0DD9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36AA-CFCD-7102-01FF-B34CB078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2C56C-7DB5-E776-D09E-BC8C9333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5EFFF-C3AC-9749-C6FF-93B04125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1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90E31-49C4-13A1-1F3B-AA07C3BF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1876B-04E4-84D8-EA4D-3DCC7AD8F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43AE2-69CA-31F0-6609-1A5FF686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63D37-B402-AA24-0ECE-584FAE00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1A94-A611-878D-D589-94DEB821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41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88CA-CF51-61AF-7B8F-C5DD11EB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F3EE-FA27-4474-C164-FE81A41C1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E2564-920C-73E3-3EB3-DCE811B66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B0B18-36D7-5D65-28AC-88DA74320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65AC6-48C0-E82A-2AEC-C8EB2302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573EF-ED08-CE9E-7FF5-2C8D3E5C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9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520F-8674-5CE5-0C20-01F94978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7F3F0-A9FE-6910-0C6A-82CE202C9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DC1BF-2FB1-D6A7-7472-890B91004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49E29-526F-C2E7-622A-4B688C313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7BB67-C620-2846-DFCC-6EE785F58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01DE5-B2CF-4A56-A994-6875E897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93BB8-8B28-89D8-0A84-607B6491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12818-12AC-EE07-36C3-DD8FBF1E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7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9768-5CA2-B633-EDC4-F7385214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893DC-44F7-27A1-444B-F71698C9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B3159-5E9E-BEEB-4B30-0E752AB5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48BAA-D2BD-3E17-F5B1-18BF963C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0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1DCE9-B806-F954-8153-C14D5FDF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85C25-61B0-4A22-C577-BA726DD2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69F1B-12A8-157D-A41F-414B8CD26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1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7E34-4747-C820-CFC8-70A4F48E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32EA-2E47-BB49-EF1D-D3A44C8D1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B97E8-5643-63C7-3A4A-C490FD600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F6F01-438E-0490-87B9-FB2E331F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CB034-1D84-3EF3-B291-68EF11CC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F77A2-7087-7337-12B3-E5B037A4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1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754D-6F1F-7A56-6D44-07B716737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4938A1-6CF9-4600-9132-880D9221B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B6474-65D2-99EC-EC57-71E1CAD9E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01192-041F-019B-90CA-79C8E5EA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BEBB0-481F-29E1-B1C3-48433CB5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AEC29-7968-1585-983B-CC812E15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0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54B2-A7F5-8284-EC63-4C28E421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8795E-273D-43AA-DD84-149AAE81D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42172-3629-835E-D6CA-BDD3757DE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00096-33F6-6C3A-9C8F-4FAE0CB5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B15F8-9694-C10F-0A59-B3559CE0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9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EC522-554D-CD49-B1FC-F9DEB6118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9D12A-D069-BB9A-8CA1-213225C29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23EE3-61D2-019D-0EE1-3BCE4D13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4FF67-879B-8EF0-AFDD-50E0BCE5A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71C6-44B4-FF33-CBC7-5CD72A6E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6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33319-8ECE-1EB9-AFE2-F8C61E7B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38A9B-036A-7A22-947E-75E01E984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D5992-E28A-01A3-0306-D1C40324B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B0A91-5EE0-4730-BFA4-A816F69DD84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117A-A98A-0680-B66D-E765AFBF1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DC179-A18F-C5A8-AEA8-E1B04F410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48BDA-15F5-40E3-9B9C-2476DC24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hyperlink" Target="https://www.youtube.com/watch?v=KBZAUi9OPww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man7.org/linux/man-pages/man3/dlsym.3.html" TargetMode="External"/><Relationship Id="rId3" Type="http://schemas.openxmlformats.org/officeDocument/2006/relationships/hyperlink" Target="https://learn.microsoft.com/en-us/windows/win32/api/libloaderapi/nf-libloaderapi-loadlibraryw" TargetMode="External"/><Relationship Id="rId7" Type="http://schemas.openxmlformats.org/officeDocument/2006/relationships/hyperlink" Target="https://man7.org/linux/man-pages/man3/dlopen.3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libloaderapi/nf-libloaderapi-getprocaddress" TargetMode="External"/><Relationship Id="rId5" Type="http://schemas.openxmlformats.org/officeDocument/2006/relationships/hyperlink" Target="https://learn.microsoft.com/en-us/windows/win32/api/libloaderapi/nf-libloaderapi-freelibrary" TargetMode="External"/><Relationship Id="rId4" Type="http://schemas.openxmlformats.org/officeDocument/2006/relationships/hyperlink" Target="https://learn.microsoft.com/en-us/windows/win32/api/libloaderapi/nf-libloaderapi-loadlibraryexw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de-by-side_assembly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ysinternals/downloads/procmon" TargetMode="External"/><Relationship Id="rId2" Type="http://schemas.openxmlformats.org/officeDocument/2006/relationships/hyperlink" Target="https://learn.microsoft.com/en-us/sysinternals/downloads/process-explor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F8116-8FB0-2619-8AB6-25EAFF04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74DC0-4079-68E7-7D18-922F39AC3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/>
              <a:t>Динамические библиотеки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10EAAA-5E02-3346-4753-1AAB57082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1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02B866-B951-63A4-AA77-5C5C44E7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приложения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1A334-C871-7045-6AFA-E999374BEFD2}"/>
              </a:ext>
            </a:extLst>
          </p:cNvPr>
          <p:cNvSpPr/>
          <p:nvPr/>
        </p:nvSpPr>
        <p:spPr>
          <a:xfrm>
            <a:off x="567183" y="2355512"/>
            <a:ext cx="1418009" cy="8706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main.cpp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DBECEA-77EF-831D-435F-7489F655C2E3}"/>
              </a:ext>
            </a:extLst>
          </p:cNvPr>
          <p:cNvSpPr/>
          <p:nvPr/>
        </p:nvSpPr>
        <p:spPr>
          <a:xfrm>
            <a:off x="567183" y="3645239"/>
            <a:ext cx="1418009" cy="8706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foo.cpp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EA5DB-732C-2A71-5940-23E30C64F61B}"/>
              </a:ext>
            </a:extLst>
          </p:cNvPr>
          <p:cNvSpPr/>
          <p:nvPr/>
        </p:nvSpPr>
        <p:spPr>
          <a:xfrm>
            <a:off x="6978020" y="2351661"/>
            <a:ext cx="1219200" cy="87062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main.obj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5F56B-658E-A162-CB97-7826C7FB3D5D}"/>
              </a:ext>
            </a:extLst>
          </p:cNvPr>
          <p:cNvSpPr/>
          <p:nvPr/>
        </p:nvSpPr>
        <p:spPr>
          <a:xfrm>
            <a:off x="6978020" y="3645238"/>
            <a:ext cx="1219200" cy="87062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foo.obj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1CEDF-210E-8129-72AA-2A31FE3DD88E}"/>
              </a:ext>
            </a:extLst>
          </p:cNvPr>
          <p:cNvSpPr/>
          <p:nvPr/>
        </p:nvSpPr>
        <p:spPr>
          <a:xfrm>
            <a:off x="2345811" y="2355510"/>
            <a:ext cx="1147763" cy="8706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BF441-087E-40F7-2E4F-60A2A862A2DD}"/>
              </a:ext>
            </a:extLst>
          </p:cNvPr>
          <p:cNvSpPr/>
          <p:nvPr/>
        </p:nvSpPr>
        <p:spPr>
          <a:xfrm>
            <a:off x="2345811" y="3645238"/>
            <a:ext cx="1147763" cy="8706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9C963-517F-851C-F35C-19E6D4DBCF0C}"/>
              </a:ext>
            </a:extLst>
          </p:cNvPr>
          <p:cNvSpPr/>
          <p:nvPr/>
        </p:nvSpPr>
        <p:spPr>
          <a:xfrm>
            <a:off x="8543752" y="3003212"/>
            <a:ext cx="1147763" cy="8706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202471-DC50-DA94-5F9B-6439FE35B710}"/>
              </a:ext>
            </a:extLst>
          </p:cNvPr>
          <p:cNvSpPr/>
          <p:nvPr/>
        </p:nvSpPr>
        <p:spPr>
          <a:xfrm>
            <a:off x="10090507" y="3003212"/>
            <a:ext cx="1460872" cy="87062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Program.exe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15244-B33E-E445-444D-1BD2CBEADC31}"/>
              </a:ext>
            </a:extLst>
          </p:cNvPr>
          <p:cNvSpPr/>
          <p:nvPr/>
        </p:nvSpPr>
        <p:spPr>
          <a:xfrm>
            <a:off x="3821129" y="2351661"/>
            <a:ext cx="1219200" cy="8706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main.asm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74BB13-7A3C-9C2B-1607-4C74D1CF172F}"/>
              </a:ext>
            </a:extLst>
          </p:cNvPr>
          <p:cNvSpPr/>
          <p:nvPr/>
        </p:nvSpPr>
        <p:spPr>
          <a:xfrm>
            <a:off x="3830208" y="3645238"/>
            <a:ext cx="1219200" cy="8706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foo.asm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8CB68F-0712-B91B-9588-D53C786B378E}"/>
              </a:ext>
            </a:extLst>
          </p:cNvPr>
          <p:cNvSpPr/>
          <p:nvPr/>
        </p:nvSpPr>
        <p:spPr>
          <a:xfrm>
            <a:off x="5376963" y="2355510"/>
            <a:ext cx="1359857" cy="8706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5B886D-5963-8061-56D2-3AC0ABD6C3B9}"/>
              </a:ext>
            </a:extLst>
          </p:cNvPr>
          <p:cNvSpPr/>
          <p:nvPr/>
        </p:nvSpPr>
        <p:spPr>
          <a:xfrm>
            <a:off x="5376963" y="3645238"/>
            <a:ext cx="1359857" cy="8706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421014-3E24-D8E7-50AA-0AEA8717EE41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1985192" y="2790823"/>
            <a:ext cx="36061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375E60-6BE5-7173-C352-E251246EB69A}"/>
              </a:ext>
            </a:extLst>
          </p:cNvPr>
          <p:cNvCxnSpPr>
            <a:stCxn id="9" idx="3"/>
            <a:endCxn id="2" idx="1"/>
          </p:cNvCxnSpPr>
          <p:nvPr/>
        </p:nvCxnSpPr>
        <p:spPr>
          <a:xfrm flipV="1">
            <a:off x="3493574" y="2786974"/>
            <a:ext cx="327555" cy="3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AF35E4-DCC2-7EFE-DD93-BDFC1012D89A}"/>
              </a:ext>
            </a:extLst>
          </p:cNvPr>
          <p:cNvCxnSpPr>
            <a:stCxn id="2" idx="3"/>
            <a:endCxn id="13" idx="1"/>
          </p:cNvCxnSpPr>
          <p:nvPr/>
        </p:nvCxnSpPr>
        <p:spPr>
          <a:xfrm>
            <a:off x="5040329" y="2786974"/>
            <a:ext cx="336634" cy="3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2EDCF1-32EF-93C2-A4E5-530FFEF35F93}"/>
              </a:ext>
            </a:extLst>
          </p:cNvPr>
          <p:cNvCxnSpPr>
            <a:stCxn id="13" idx="3"/>
            <a:endCxn id="7" idx="1"/>
          </p:cNvCxnSpPr>
          <p:nvPr/>
        </p:nvCxnSpPr>
        <p:spPr>
          <a:xfrm flipV="1">
            <a:off x="6736820" y="2786974"/>
            <a:ext cx="241200" cy="3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DD75BE-8D52-3995-9D52-A4084F047B7B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8197220" y="2786974"/>
            <a:ext cx="346532" cy="651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BDB254-E7E8-4A63-28DF-55A6523EA182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1985192" y="4080551"/>
            <a:ext cx="3606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CBFF0C-D9B4-414A-2704-4FBA146F47EB}"/>
              </a:ext>
            </a:extLst>
          </p:cNvPr>
          <p:cNvCxnSpPr>
            <a:stCxn id="10" idx="3"/>
            <a:endCxn id="3" idx="1"/>
          </p:cNvCxnSpPr>
          <p:nvPr/>
        </p:nvCxnSpPr>
        <p:spPr>
          <a:xfrm>
            <a:off x="3493574" y="4080551"/>
            <a:ext cx="3366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594CF2B-757E-1086-2A4E-30A241CA52ED}"/>
              </a:ext>
            </a:extLst>
          </p:cNvPr>
          <p:cNvCxnSpPr>
            <a:stCxn id="3" idx="3"/>
            <a:endCxn id="14" idx="1"/>
          </p:cNvCxnSpPr>
          <p:nvPr/>
        </p:nvCxnSpPr>
        <p:spPr>
          <a:xfrm>
            <a:off x="5049408" y="4080551"/>
            <a:ext cx="3275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116F93-8DA0-33FF-FFE8-6BCD28A5DA31}"/>
              </a:ext>
            </a:extLst>
          </p:cNvPr>
          <p:cNvCxnSpPr>
            <a:stCxn id="14" idx="3"/>
            <a:endCxn id="8" idx="1"/>
          </p:cNvCxnSpPr>
          <p:nvPr/>
        </p:nvCxnSpPr>
        <p:spPr>
          <a:xfrm>
            <a:off x="6736820" y="4080551"/>
            <a:ext cx="241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33C5EA-EF66-7DF7-9257-C3916036796F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8197220" y="3438525"/>
            <a:ext cx="346532" cy="64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81BD1C9-0E36-5FF0-62C2-98BB153C18A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9691515" y="3438525"/>
            <a:ext cx="398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17C4811-51BD-F83E-DFD4-B33B7A47926B}"/>
              </a:ext>
            </a:extLst>
          </p:cNvPr>
          <p:cNvSpPr/>
          <p:nvPr/>
        </p:nvSpPr>
        <p:spPr>
          <a:xfrm>
            <a:off x="8508033" y="4859572"/>
            <a:ext cx="1219200" cy="870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msvcrt.lib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EE053B-C5CF-65D2-0413-B5BFE6A5B4EE}"/>
              </a:ext>
            </a:extLst>
          </p:cNvPr>
          <p:cNvCxnSpPr>
            <a:cxnSpLocks/>
            <a:stCxn id="15" idx="0"/>
            <a:endCxn id="11" idx="2"/>
          </p:cNvCxnSpPr>
          <p:nvPr/>
        </p:nvCxnSpPr>
        <p:spPr>
          <a:xfrm flipV="1">
            <a:off x="9117633" y="3873838"/>
            <a:ext cx="1" cy="985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05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" grpId="0" animBg="1"/>
      <p:bldP spid="3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E109-F923-18CF-1E8B-5E453C5C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BA149-060E-0BC3-D122-785A7824F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Наборы классов, функции и ресурсов, которые упрощают разработку программ</a:t>
            </a:r>
          </a:p>
          <a:p>
            <a:r>
              <a:rPr lang="ru-RU" dirty="0"/>
              <a:t>Не является приложением, а предназначена для использования в других программах</a:t>
            </a:r>
          </a:p>
          <a:p>
            <a:r>
              <a:rPr lang="ru-RU" dirty="0"/>
              <a:t>Способствуют повторному использованию кода</a:t>
            </a:r>
          </a:p>
          <a:p>
            <a:r>
              <a:rPr lang="ru-RU" dirty="0"/>
              <a:t>Бывают двух типов:</a:t>
            </a:r>
          </a:p>
          <a:p>
            <a:pPr lvl="1"/>
            <a:r>
              <a:rPr lang="ru-RU" dirty="0"/>
              <a:t>Статические</a:t>
            </a:r>
          </a:p>
          <a:p>
            <a:pPr lvl="1"/>
            <a:r>
              <a:rPr lang="ru-RU" dirty="0"/>
              <a:t>Динамические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2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64DC-34C1-5F59-169C-466F955B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библиотеки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6338A-EAA8-81A6-134B-4D17ACA50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Архив с объектными файлами</a:t>
            </a:r>
          </a:p>
          <a:p>
            <a:r>
              <a:rPr lang="ru-RU" dirty="0"/>
              <a:t>На этапе линковки включается в исполняемый файл программы</a:t>
            </a:r>
          </a:p>
          <a:p>
            <a:r>
              <a:rPr lang="ru-RU" dirty="0"/>
              <a:t>Достоиства</a:t>
            </a:r>
          </a:p>
          <a:p>
            <a:pPr lvl="1"/>
            <a:r>
              <a:rPr lang="ru-RU" dirty="0"/>
              <a:t>Программа не зависит от наличия библиотеки на целевой машине</a:t>
            </a:r>
          </a:p>
          <a:p>
            <a:pPr lvl="1"/>
            <a:r>
              <a:rPr lang="ru-RU" dirty="0"/>
              <a:t>Все зависимости находятся внутри одного файла</a:t>
            </a:r>
          </a:p>
          <a:p>
            <a:r>
              <a:rPr lang="ru-RU" dirty="0"/>
              <a:t>Недостатки</a:t>
            </a:r>
          </a:p>
          <a:p>
            <a:pPr lvl="1"/>
            <a:r>
              <a:rPr lang="ru-RU" dirty="0"/>
              <a:t>Увеличивается потребление памяти, так как каждая программа содержит отдельную копию библиотеки</a:t>
            </a:r>
          </a:p>
          <a:p>
            <a:pPr lvl="1"/>
            <a:r>
              <a:rPr lang="ru-RU" dirty="0"/>
              <a:t>После обновление библиотеки нужно пересобрать все использующие её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86135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25CDC9-97C1-0F1A-E047-F290AE864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Компоновка со статической библиотекой</a:t>
            </a:r>
            <a:endParaRPr lang="en-US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0A7976E1-AAC3-A0C7-20F3-AE168E42AB19}"/>
              </a:ext>
            </a:extLst>
          </p:cNvPr>
          <p:cNvSpPr/>
          <p:nvPr/>
        </p:nvSpPr>
        <p:spPr>
          <a:xfrm>
            <a:off x="857250" y="4152901"/>
            <a:ext cx="2271816" cy="20955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app1.cpp</a:t>
            </a:r>
          </a:p>
          <a:p>
            <a:pPr algn="ctr"/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Foo.h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Foo();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DF462D-045E-EAB1-3F56-F782644829A5}"/>
              </a:ext>
            </a:extLst>
          </p:cNvPr>
          <p:cNvGrpSpPr/>
          <p:nvPr/>
        </p:nvGrpSpPr>
        <p:grpSpPr>
          <a:xfrm>
            <a:off x="857249" y="2033589"/>
            <a:ext cx="4710215" cy="1647825"/>
            <a:chOff x="857249" y="2033589"/>
            <a:chExt cx="4710215" cy="16478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AE1FBD-F1C1-05D9-9866-49CD9CE99119}"/>
                </a:ext>
              </a:extLst>
            </p:cNvPr>
            <p:cNvSpPr/>
            <p:nvPr/>
          </p:nvSpPr>
          <p:spPr>
            <a:xfrm>
              <a:off x="857249" y="2033589"/>
              <a:ext cx="4710215" cy="164782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Util.lib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A4B8E7-E4E4-7D6D-809C-CE6C7FFF8A47}"/>
                </a:ext>
              </a:extLst>
            </p:cNvPr>
            <p:cNvSpPr/>
            <p:nvPr/>
          </p:nvSpPr>
          <p:spPr>
            <a:xfrm>
              <a:off x="1157389" y="2486026"/>
              <a:ext cx="1971677" cy="966787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foo.obj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016971-4959-1F5F-AC39-CDEE049DB655}"/>
                </a:ext>
              </a:extLst>
            </p:cNvPr>
            <p:cNvSpPr/>
            <p:nvPr/>
          </p:nvSpPr>
          <p:spPr>
            <a:xfrm>
              <a:off x="3300515" y="2486026"/>
              <a:ext cx="1895474" cy="94297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bar.obj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C40A32-8B14-7CA9-B49E-5E2389703E25}"/>
                </a:ext>
              </a:extLst>
            </p:cNvPr>
            <p:cNvSpPr/>
            <p:nvPr/>
          </p:nvSpPr>
          <p:spPr>
            <a:xfrm>
              <a:off x="1490764" y="2957513"/>
              <a:ext cx="1323977" cy="3429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void Foo()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AD2553-ADAC-375B-218F-2B2CC89EFBEB}"/>
                </a:ext>
              </a:extLst>
            </p:cNvPr>
            <p:cNvSpPr/>
            <p:nvPr/>
          </p:nvSpPr>
          <p:spPr>
            <a:xfrm>
              <a:off x="3476723" y="2957513"/>
              <a:ext cx="1557341" cy="3429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 Bar(char x)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BACB1FD-5A5E-01C8-8B48-DB5FE3A39792}"/>
              </a:ext>
            </a:extLst>
          </p:cNvPr>
          <p:cNvSpPr/>
          <p:nvPr/>
        </p:nvSpPr>
        <p:spPr>
          <a:xfrm>
            <a:off x="8239125" y="3176587"/>
            <a:ext cx="2162175" cy="13255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app1.exe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6F1183-EFAE-B4D2-BE58-0DBDE793D919}"/>
              </a:ext>
            </a:extLst>
          </p:cNvPr>
          <p:cNvGrpSpPr/>
          <p:nvPr/>
        </p:nvGrpSpPr>
        <p:grpSpPr>
          <a:xfrm>
            <a:off x="3671989" y="4364832"/>
            <a:ext cx="1895476" cy="1647825"/>
            <a:chOff x="3671989" y="4364832"/>
            <a:chExt cx="1895476" cy="164782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6D4EE5-11D3-8C8D-5B02-CC2160C249C5}"/>
                </a:ext>
              </a:extLst>
            </p:cNvPr>
            <p:cNvSpPr/>
            <p:nvPr/>
          </p:nvSpPr>
          <p:spPr>
            <a:xfrm>
              <a:off x="3671989" y="4364832"/>
              <a:ext cx="1895476" cy="164782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app1.obj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D59D4C-E15A-784A-B25B-6E60E4D14F95}"/>
                </a:ext>
              </a:extLst>
            </p:cNvPr>
            <p:cNvSpPr/>
            <p:nvPr/>
          </p:nvSpPr>
          <p:spPr>
            <a:xfrm>
              <a:off x="3829153" y="4848224"/>
              <a:ext cx="1323977" cy="3429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 main()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C72CACA-FCA8-E602-6E1D-850F7FD3AD2E}"/>
                </a:ext>
              </a:extLst>
            </p:cNvPr>
            <p:cNvSpPr/>
            <p:nvPr/>
          </p:nvSpPr>
          <p:spPr>
            <a:xfrm>
              <a:off x="3829154" y="5379243"/>
              <a:ext cx="1547812" cy="47148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Needs: Foo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FEB4D8D-0BAE-D72C-719F-EDF3BB7BBBE9}"/>
              </a:ext>
            </a:extLst>
          </p:cNvPr>
          <p:cNvSpPr/>
          <p:nvPr/>
        </p:nvSpPr>
        <p:spPr>
          <a:xfrm>
            <a:off x="3829153" y="4848224"/>
            <a:ext cx="1323977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 main()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B39C9-E46A-815E-86E1-6FE7A43F14C4}"/>
              </a:ext>
            </a:extLst>
          </p:cNvPr>
          <p:cNvSpPr/>
          <p:nvPr/>
        </p:nvSpPr>
        <p:spPr>
          <a:xfrm>
            <a:off x="1490765" y="2959893"/>
            <a:ext cx="1323977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void Foo()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BBA475D-F0DA-BD09-C247-A54773192B26}"/>
              </a:ext>
            </a:extLst>
          </p:cNvPr>
          <p:cNvSpPr/>
          <p:nvPr/>
        </p:nvSpPr>
        <p:spPr>
          <a:xfrm>
            <a:off x="3257654" y="4943475"/>
            <a:ext cx="381000" cy="435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EB8093E-BE21-7A17-F72C-5FAEDA57D16E}"/>
              </a:ext>
            </a:extLst>
          </p:cNvPr>
          <p:cNvSpPr/>
          <p:nvPr/>
        </p:nvSpPr>
        <p:spPr>
          <a:xfrm>
            <a:off x="6274697" y="3471863"/>
            <a:ext cx="1257196" cy="8929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Linker</a:t>
            </a:r>
          </a:p>
        </p:txBody>
      </p:sp>
    </p:spTree>
    <p:extLst>
      <p:ext uri="{BB962C8B-B14F-4D97-AF65-F5344CB8AC3E}">
        <p14:creationId xmlns:p14="http://schemas.microsoft.com/office/powerpoint/2010/main" val="180198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0.39336 -0.1247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61" y="-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48148E-6 L 0.5875 0.0803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75" y="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6" grpId="1" animBg="1"/>
      <p:bldP spid="17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4001-0CF0-2700-7B4F-DCE0A2DA8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Динамические библиотеки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7E5D5-EB2D-BCA4-4C89-CFC478FD4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Файл, который подключается к программе во время её выполнения</a:t>
            </a:r>
          </a:p>
          <a:p>
            <a:r>
              <a:rPr lang="ru-RU" dirty="0"/>
              <a:t>Программа содержит не сами функции из библиотеки, а только ссылки на них</a:t>
            </a:r>
          </a:p>
          <a:p>
            <a:r>
              <a:rPr lang="ru-RU" dirty="0"/>
              <a:t>Файлы динамических библиотек</a:t>
            </a:r>
            <a:endParaRPr lang="en-US" dirty="0"/>
          </a:p>
          <a:p>
            <a:pPr lvl="1"/>
            <a:r>
              <a:rPr lang="en-US" dirty="0"/>
              <a:t>.so </a:t>
            </a:r>
            <a:r>
              <a:rPr lang="ru-RU" dirty="0"/>
              <a:t>в *</a:t>
            </a:r>
            <a:r>
              <a:rPr lang="en-US" dirty="0"/>
              <a:t>.nix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dll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352122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9D9353-CF93-DC8C-1C7E-08CBAEF0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Глоссарий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80C41-E0C7-5CA2-0EDB-D7E0C3B61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Символы</a:t>
            </a:r>
            <a:r>
              <a:rPr lang="ru-RU" dirty="0"/>
              <a:t> – имена функций, переменных и других объектов, экспортируемых библиотекой</a:t>
            </a:r>
          </a:p>
          <a:p>
            <a:r>
              <a:rPr lang="ru-RU" b="1" dirty="0"/>
              <a:t>Таблица импорта</a:t>
            </a:r>
          </a:p>
          <a:p>
            <a:pPr lvl="1"/>
            <a:r>
              <a:rPr lang="ru-RU" dirty="0"/>
              <a:t>Механизм для связи программы с динамическими библиотеками</a:t>
            </a:r>
          </a:p>
          <a:p>
            <a:pPr lvl="1"/>
            <a:r>
              <a:rPr lang="ru-RU" dirty="0"/>
              <a:t>Содержит имена функций для связи программы с динамическими библиотеками</a:t>
            </a:r>
          </a:p>
          <a:p>
            <a:r>
              <a:rPr lang="ru-RU" b="1" dirty="0"/>
              <a:t>Таблица экспорта</a:t>
            </a:r>
          </a:p>
          <a:p>
            <a:pPr lvl="1"/>
            <a:r>
              <a:rPr lang="ru-RU" dirty="0"/>
              <a:t>Список всех функций, которые библиотека предоставляет для внешнего использования</a:t>
            </a:r>
          </a:p>
          <a:p>
            <a:r>
              <a:rPr lang="ru-RU" b="1" dirty="0"/>
              <a:t>Загрузчик</a:t>
            </a:r>
          </a:p>
          <a:p>
            <a:pPr lvl="1"/>
            <a:r>
              <a:rPr lang="ru-RU" dirty="0"/>
              <a:t>Компонент ОС, выполняющий загрузку динамических библиотек в память, разрешение зависимостей и связавание символов с программой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80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C7EC-BC76-5FA1-F318-DE3ABC1C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Достоинства и недостатки динамических библиотек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34B7-E6BB-6973-2BDB-F6440149E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Достоинства</a:t>
            </a:r>
          </a:p>
          <a:p>
            <a:pPr lvl="1"/>
            <a:r>
              <a:rPr lang="ru-RU" dirty="0"/>
              <a:t>Библиотека загружается в память, только если программа обращается к библиотеке</a:t>
            </a:r>
          </a:p>
          <a:p>
            <a:pPr lvl="1"/>
            <a:r>
              <a:rPr lang="ru-RU" dirty="0"/>
              <a:t>Код библиотеки используется несколькими программами одновременно</a:t>
            </a:r>
          </a:p>
          <a:p>
            <a:pPr lvl="1"/>
            <a:r>
              <a:rPr lang="ru-RU" dirty="0"/>
              <a:t>Обновить библиотеку можно без перекомпиляции программы</a:t>
            </a:r>
          </a:p>
          <a:p>
            <a:r>
              <a:rPr lang="ru-RU" dirty="0"/>
              <a:t>Недостатки</a:t>
            </a:r>
          </a:p>
          <a:p>
            <a:pPr lvl="1"/>
            <a:r>
              <a:rPr lang="ru-RU" dirty="0"/>
              <a:t>Проблемы из-за несовместимых версий </a:t>
            </a:r>
            <a:r>
              <a:rPr lang="en-US" dirty="0"/>
              <a:t>DLL</a:t>
            </a:r>
          </a:p>
          <a:p>
            <a:pPr lvl="1"/>
            <a:r>
              <a:rPr lang="ru-RU" dirty="0"/>
              <a:t>Более сложная настройка окружения программы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59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E72B-2441-3DCB-B712-FF34229E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динамических библиотек в ОС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50B4-68DC-F6F6-68A8-5F3C58BC8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Библиотеки, содержащие системные вызовы</a:t>
            </a:r>
          </a:p>
          <a:p>
            <a:r>
              <a:rPr lang="ru-RU" dirty="0"/>
              <a:t>Драйверы устройств</a:t>
            </a:r>
          </a:p>
          <a:p>
            <a:r>
              <a:rPr lang="en-US" dirty="0"/>
              <a:t>Runtime-</a:t>
            </a:r>
            <a:r>
              <a:rPr lang="ru-RU" dirty="0"/>
              <a:t>библиотеки языков программирования</a:t>
            </a:r>
          </a:p>
          <a:p>
            <a:r>
              <a:rPr lang="ru-RU" dirty="0"/>
              <a:t>Совместно используемые компоненты приложений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61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E2949F-EE6E-C39B-373B-4FDBF93E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Компоновка с динамической библиотекой</a:t>
            </a:r>
            <a:endParaRPr lang="en-US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5B5D67C5-E900-FBB8-5BE1-BD9A0462D86F}"/>
              </a:ext>
            </a:extLst>
          </p:cNvPr>
          <p:cNvSpPr/>
          <p:nvPr/>
        </p:nvSpPr>
        <p:spPr>
          <a:xfrm>
            <a:off x="857250" y="4152901"/>
            <a:ext cx="2271816" cy="20955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app.cpp</a:t>
            </a:r>
          </a:p>
          <a:p>
            <a:pPr algn="ctr"/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Foo.h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Foo();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83BBA95-DE54-D5C9-65EB-99C8374D09FF}"/>
              </a:ext>
            </a:extLst>
          </p:cNvPr>
          <p:cNvGrpSpPr/>
          <p:nvPr/>
        </p:nvGrpSpPr>
        <p:grpSpPr>
          <a:xfrm>
            <a:off x="838200" y="2097882"/>
            <a:ext cx="2290866" cy="1647825"/>
            <a:chOff x="838200" y="2097882"/>
            <a:chExt cx="2290866" cy="16478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1119D9-B557-0762-FC98-73B6FD71274B}"/>
                </a:ext>
              </a:extLst>
            </p:cNvPr>
            <p:cNvSpPr/>
            <p:nvPr/>
          </p:nvSpPr>
          <p:spPr>
            <a:xfrm>
              <a:off x="838200" y="2097882"/>
              <a:ext cx="2290866" cy="164782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Util.dll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E2B0A2-458C-89BE-CA24-60D71BC43BFC}"/>
                </a:ext>
              </a:extLst>
            </p:cNvPr>
            <p:cNvSpPr/>
            <p:nvPr/>
          </p:nvSpPr>
          <p:spPr>
            <a:xfrm>
              <a:off x="1178769" y="2564604"/>
              <a:ext cx="1557341" cy="3429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void Foo()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E34026-DB36-8FA2-B236-8B23321ADB7F}"/>
                </a:ext>
              </a:extLst>
            </p:cNvPr>
            <p:cNvSpPr/>
            <p:nvPr/>
          </p:nvSpPr>
          <p:spPr>
            <a:xfrm>
              <a:off x="1178769" y="3140869"/>
              <a:ext cx="1557341" cy="3429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 Bar(char x)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4F20B51-FF37-C453-FBB5-1C0F336F9C52}"/>
              </a:ext>
            </a:extLst>
          </p:cNvPr>
          <p:cNvSpPr/>
          <p:nvPr/>
        </p:nvSpPr>
        <p:spPr>
          <a:xfrm>
            <a:off x="3495675" y="2083591"/>
            <a:ext cx="2290866" cy="16621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Util.lib</a:t>
            </a:r>
          </a:p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D2688-45B2-DFD0-708A-D18393ADB22A}"/>
              </a:ext>
            </a:extLst>
          </p:cNvPr>
          <p:cNvSpPr/>
          <p:nvPr/>
        </p:nvSpPr>
        <p:spPr>
          <a:xfrm>
            <a:off x="3893394" y="2564604"/>
            <a:ext cx="1557341" cy="3429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void Foo()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BD59F8-A396-F9E4-B107-7DE3A5AACD04}"/>
              </a:ext>
            </a:extLst>
          </p:cNvPr>
          <p:cNvSpPr/>
          <p:nvPr/>
        </p:nvSpPr>
        <p:spPr>
          <a:xfrm>
            <a:off x="3893394" y="3140869"/>
            <a:ext cx="1557341" cy="3429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 Bar(char x)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7E21C5-6D88-598E-EBD3-B68EF166CA70}"/>
              </a:ext>
            </a:extLst>
          </p:cNvPr>
          <p:cNvCxnSpPr>
            <a:cxnSpLocks/>
            <a:stCxn id="13" idx="1"/>
            <a:endCxn id="7" idx="3"/>
          </p:cNvCxnSpPr>
          <p:nvPr/>
        </p:nvCxnSpPr>
        <p:spPr>
          <a:xfrm flipH="1">
            <a:off x="3129066" y="2914649"/>
            <a:ext cx="366609" cy="7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EF8128-46F2-6C30-2129-BF8A82C2C486}"/>
              </a:ext>
            </a:extLst>
          </p:cNvPr>
          <p:cNvGrpSpPr/>
          <p:nvPr/>
        </p:nvGrpSpPr>
        <p:grpSpPr>
          <a:xfrm>
            <a:off x="3671989" y="4364832"/>
            <a:ext cx="1895476" cy="1647825"/>
            <a:chOff x="3671989" y="4364832"/>
            <a:chExt cx="1895476" cy="164782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78EF506-A4F6-8799-FE02-299FE9B6AED5}"/>
                </a:ext>
              </a:extLst>
            </p:cNvPr>
            <p:cNvSpPr/>
            <p:nvPr/>
          </p:nvSpPr>
          <p:spPr>
            <a:xfrm>
              <a:off x="3671989" y="4364832"/>
              <a:ext cx="1895476" cy="164782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app.obj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8E712AF-2948-A16C-2DFF-64A08A4B0BAF}"/>
                </a:ext>
              </a:extLst>
            </p:cNvPr>
            <p:cNvSpPr/>
            <p:nvPr/>
          </p:nvSpPr>
          <p:spPr>
            <a:xfrm>
              <a:off x="3829153" y="4848224"/>
              <a:ext cx="1323977" cy="3429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 main()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2A9375B-5F1F-2C03-C53E-77EBE6D6D017}"/>
                </a:ext>
              </a:extLst>
            </p:cNvPr>
            <p:cNvSpPr/>
            <p:nvPr/>
          </p:nvSpPr>
          <p:spPr>
            <a:xfrm>
              <a:off x="3829154" y="5379243"/>
              <a:ext cx="1547812" cy="47148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Needs: Foo</a:t>
              </a:r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7E4697D-77D1-3BF5-920E-CF3368060B94}"/>
              </a:ext>
            </a:extLst>
          </p:cNvPr>
          <p:cNvSpPr/>
          <p:nvPr/>
        </p:nvSpPr>
        <p:spPr>
          <a:xfrm>
            <a:off x="3257654" y="4943475"/>
            <a:ext cx="381000" cy="435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25763D-4D12-1471-B509-3BF1CEE5399F}"/>
              </a:ext>
            </a:extLst>
          </p:cNvPr>
          <p:cNvSpPr/>
          <p:nvPr/>
        </p:nvSpPr>
        <p:spPr>
          <a:xfrm>
            <a:off x="8667751" y="3028951"/>
            <a:ext cx="2009774" cy="15049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app.exe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63C7864-0329-2D45-458A-50030AD74DED}"/>
              </a:ext>
            </a:extLst>
          </p:cNvPr>
          <p:cNvSpPr/>
          <p:nvPr/>
        </p:nvSpPr>
        <p:spPr>
          <a:xfrm>
            <a:off x="6489010" y="3483769"/>
            <a:ext cx="1257196" cy="8929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95CFD1-2EED-3E96-BF85-8518F52284CD}"/>
              </a:ext>
            </a:extLst>
          </p:cNvPr>
          <p:cNvSpPr/>
          <p:nvPr/>
        </p:nvSpPr>
        <p:spPr>
          <a:xfrm>
            <a:off x="3829152" y="4848224"/>
            <a:ext cx="1323977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 main()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BFC422-F80A-E810-9CC1-3833E899B19D}"/>
              </a:ext>
            </a:extLst>
          </p:cNvPr>
          <p:cNvSpPr/>
          <p:nvPr/>
        </p:nvSpPr>
        <p:spPr>
          <a:xfrm>
            <a:off x="8877299" y="3455987"/>
            <a:ext cx="1590676" cy="47148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Foo@Util.dll</a:t>
            </a:r>
          </a:p>
        </p:txBody>
      </p:sp>
    </p:spTree>
    <p:extLst>
      <p:ext uri="{BB962C8B-B14F-4D97-AF65-F5344CB8AC3E}">
        <p14:creationId xmlns:p14="http://schemas.microsoft.com/office/powerpoint/2010/main" val="413071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0.42461 -0.115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4" y="-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62159B-56B4-6A80-D868-CC104220F017}"/>
              </a:ext>
            </a:extLst>
          </p:cNvPr>
          <p:cNvSpPr/>
          <p:nvPr/>
        </p:nvSpPr>
        <p:spPr>
          <a:xfrm>
            <a:off x="3390898" y="1909128"/>
            <a:ext cx="3429000" cy="48109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343129-80EA-3250-36CF-EDC740CB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Заполнение таблицы импорта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7443835-34B5-C901-D56D-0C3553081905}"/>
              </a:ext>
            </a:extLst>
          </p:cNvPr>
          <p:cNvGrpSpPr/>
          <p:nvPr/>
        </p:nvGrpSpPr>
        <p:grpSpPr>
          <a:xfrm>
            <a:off x="3390898" y="5182112"/>
            <a:ext cx="3429000" cy="1310763"/>
            <a:chOff x="3390898" y="5182112"/>
            <a:chExt cx="3429000" cy="13107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0CC972-DA0D-E8E0-29E9-67780A317B89}"/>
                </a:ext>
              </a:extLst>
            </p:cNvPr>
            <p:cNvSpPr/>
            <p:nvPr/>
          </p:nvSpPr>
          <p:spPr>
            <a:xfrm>
              <a:off x="3390898" y="5182112"/>
              <a:ext cx="3429000" cy="13107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Library.dll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CEB18E-789B-6D7D-2CF1-2F8F10151343}"/>
                </a:ext>
              </a:extLst>
            </p:cNvPr>
            <p:cNvSpPr/>
            <p:nvPr/>
          </p:nvSpPr>
          <p:spPr>
            <a:xfrm>
              <a:off x="3505197" y="5671933"/>
              <a:ext cx="3200402" cy="5017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SomeFunction</a:t>
              </a:r>
              <a:r>
                <a:rPr lang="en-US" dirty="0"/>
                <a:t>: …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067DDF-9B36-320E-DA1C-6F5072EC5BF0}"/>
              </a:ext>
            </a:extLst>
          </p:cNvPr>
          <p:cNvSpPr txBox="1"/>
          <p:nvPr/>
        </p:nvSpPr>
        <p:spPr>
          <a:xfrm>
            <a:off x="537028" y="4119247"/>
            <a:ext cx="261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__imp__</a:t>
            </a:r>
            <a:r>
              <a:rPr lang="en-US" dirty="0" err="1"/>
              <a:t>SomeFunction</a:t>
            </a:r>
            <a:r>
              <a:rPr lang="en-US" dirty="0"/>
              <a:t>: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EE79BA-D0DE-B10E-3343-867E76057DB5}"/>
              </a:ext>
            </a:extLst>
          </p:cNvPr>
          <p:cNvGrpSpPr/>
          <p:nvPr/>
        </p:nvGrpSpPr>
        <p:grpSpPr>
          <a:xfrm>
            <a:off x="3390898" y="2394857"/>
            <a:ext cx="3429000" cy="2670629"/>
            <a:chOff x="3390898" y="2394857"/>
            <a:chExt cx="3429000" cy="26706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BAB94D-475A-AC9B-0057-83DF48491239}"/>
                </a:ext>
              </a:extLst>
            </p:cNvPr>
            <p:cNvSpPr/>
            <p:nvPr/>
          </p:nvSpPr>
          <p:spPr>
            <a:xfrm>
              <a:off x="3390898" y="2394857"/>
              <a:ext cx="3429000" cy="267062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Program.exe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3F1D11-6CE7-1174-24BA-62F681599118}"/>
                </a:ext>
              </a:extLst>
            </p:cNvPr>
            <p:cNvSpPr/>
            <p:nvPr/>
          </p:nvSpPr>
          <p:spPr>
            <a:xfrm>
              <a:off x="3505198" y="2769350"/>
              <a:ext cx="3200402" cy="36933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latin typeface="Consolas" panose="020B0609020204030204" pitchFamily="49" charset="0"/>
                </a:rPr>
                <a:t>CALL __imp__</a:t>
              </a:r>
              <a:r>
                <a:rPr lang="en-US" dirty="0" err="1">
                  <a:latin typeface="Consolas" panose="020B0609020204030204" pitchFamily="49" charset="0"/>
                </a:rPr>
                <a:t>SomeFunction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BDAB44-474C-12BD-5C2A-A6D8047191E1}"/>
                </a:ext>
              </a:extLst>
            </p:cNvPr>
            <p:cNvSpPr/>
            <p:nvPr/>
          </p:nvSpPr>
          <p:spPr>
            <a:xfrm>
              <a:off x="3505197" y="3774689"/>
              <a:ext cx="3200402" cy="10875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Import: Library.dll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D557B9-F118-D10E-356B-5E04C94601F5}"/>
                </a:ext>
              </a:extLst>
            </p:cNvPr>
            <p:cNvSpPr/>
            <p:nvPr/>
          </p:nvSpPr>
          <p:spPr>
            <a:xfrm>
              <a:off x="3505197" y="4119247"/>
              <a:ext cx="3200402" cy="36933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latin typeface="Consolas" panose="020B0609020204030204" pitchFamily="49" charset="0"/>
                </a:rPr>
                <a:t>JMP ???????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2531D8E-4A46-842D-547E-446913FC6105}"/>
              </a:ext>
            </a:extLst>
          </p:cNvPr>
          <p:cNvSpPr/>
          <p:nvPr/>
        </p:nvSpPr>
        <p:spPr>
          <a:xfrm>
            <a:off x="3505197" y="4119247"/>
            <a:ext cx="3200402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JMP </a:t>
            </a:r>
            <a:r>
              <a:rPr lang="en-US" dirty="0" err="1">
                <a:latin typeface="Consolas" panose="020B0609020204030204" pitchFamily="49" charset="0"/>
              </a:rPr>
              <a:t>SomeFunction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CCCD94-0EAF-9510-F9EF-A983C9203C9A}"/>
              </a:ext>
            </a:extLst>
          </p:cNvPr>
          <p:cNvCxnSpPr>
            <a:stCxn id="14" idx="3"/>
            <a:endCxn id="10" idx="3"/>
          </p:cNvCxnSpPr>
          <p:nvPr/>
        </p:nvCxnSpPr>
        <p:spPr>
          <a:xfrm>
            <a:off x="6705599" y="4303913"/>
            <a:ext cx="12700" cy="1618898"/>
          </a:xfrm>
          <a:prstGeom prst="curvedConnector3">
            <a:avLst>
              <a:gd name="adj1" fmla="val 6257142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98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303FFE-1C69-B896-1BB9-B0063871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динамических библиотек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ED114-5D53-B5B5-E5D1-2B52C3A34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1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F979-4871-4434-0860-37C9666B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Загрузка приложения и динамических библиотек в адресное пространствопроцесса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9D3F95-BF6D-E449-CB1A-67324368EB08}"/>
              </a:ext>
            </a:extLst>
          </p:cNvPr>
          <p:cNvSpPr/>
          <p:nvPr/>
        </p:nvSpPr>
        <p:spPr>
          <a:xfrm>
            <a:off x="4581524" y="2009775"/>
            <a:ext cx="3124200" cy="4555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память процесса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1A5C3-1BE2-764C-7E61-DBE2640609FB}"/>
              </a:ext>
            </a:extLst>
          </p:cNvPr>
          <p:cNvSpPr/>
          <p:nvPr/>
        </p:nvSpPr>
        <p:spPr>
          <a:xfrm>
            <a:off x="838200" y="2009775"/>
            <a:ext cx="3124200" cy="44830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Файловая система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2EDB6-6032-1291-F966-062CC77F88A0}"/>
              </a:ext>
            </a:extLst>
          </p:cNvPr>
          <p:cNvSpPr/>
          <p:nvPr/>
        </p:nvSpPr>
        <p:spPr>
          <a:xfrm>
            <a:off x="1304925" y="4467225"/>
            <a:ext cx="2324100" cy="18002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App.exe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079D47-CE59-C203-40B4-22D5E4512D4F}"/>
              </a:ext>
            </a:extLst>
          </p:cNvPr>
          <p:cNvSpPr/>
          <p:nvPr/>
        </p:nvSpPr>
        <p:spPr>
          <a:xfrm>
            <a:off x="1762124" y="4914900"/>
            <a:ext cx="1495425" cy="3238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FE4BB-15EA-81C1-4020-FC38A399F9D9}"/>
              </a:ext>
            </a:extLst>
          </p:cNvPr>
          <p:cNvSpPr/>
          <p:nvPr/>
        </p:nvSpPr>
        <p:spPr>
          <a:xfrm>
            <a:off x="1762123" y="5362575"/>
            <a:ext cx="1495425" cy="3238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FD6996-BFB2-1429-C9D9-1AE27A265DB0}"/>
              </a:ext>
            </a:extLst>
          </p:cNvPr>
          <p:cNvSpPr/>
          <p:nvPr/>
        </p:nvSpPr>
        <p:spPr>
          <a:xfrm>
            <a:off x="1762123" y="5805486"/>
            <a:ext cx="1495425" cy="3238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rodata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29509E-EB1B-25CD-413E-C0488A4E4765}"/>
              </a:ext>
            </a:extLst>
          </p:cNvPr>
          <p:cNvSpPr/>
          <p:nvPr/>
        </p:nvSpPr>
        <p:spPr>
          <a:xfrm>
            <a:off x="1304925" y="2586038"/>
            <a:ext cx="2324100" cy="174307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Util.dll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32D15C-1CA9-4D10-6166-9112D2627989}"/>
              </a:ext>
            </a:extLst>
          </p:cNvPr>
          <p:cNvSpPr/>
          <p:nvPr/>
        </p:nvSpPr>
        <p:spPr>
          <a:xfrm>
            <a:off x="1695448" y="3059910"/>
            <a:ext cx="1495425" cy="32385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BD67E-34F6-9813-B2BC-AE97AEF4F74F}"/>
              </a:ext>
            </a:extLst>
          </p:cNvPr>
          <p:cNvSpPr/>
          <p:nvPr/>
        </p:nvSpPr>
        <p:spPr>
          <a:xfrm>
            <a:off x="1695450" y="3502821"/>
            <a:ext cx="1495425" cy="32385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4B2D15-6472-11AC-FFEA-4DCCB13F49D1}"/>
              </a:ext>
            </a:extLst>
          </p:cNvPr>
          <p:cNvSpPr/>
          <p:nvPr/>
        </p:nvSpPr>
        <p:spPr>
          <a:xfrm>
            <a:off x="1695448" y="3915966"/>
            <a:ext cx="1495425" cy="32385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rodata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0E378F-3557-6C80-F70B-65DA34226DA8}"/>
              </a:ext>
            </a:extLst>
          </p:cNvPr>
          <p:cNvSpPr/>
          <p:nvPr/>
        </p:nvSpPr>
        <p:spPr>
          <a:xfrm>
            <a:off x="4776788" y="6056706"/>
            <a:ext cx="2733677" cy="3238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.text@App.exe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41622F-3A39-B39E-B143-3825F7162609}"/>
              </a:ext>
            </a:extLst>
          </p:cNvPr>
          <p:cNvSpPr/>
          <p:nvPr/>
        </p:nvSpPr>
        <p:spPr>
          <a:xfrm>
            <a:off x="4776785" y="4349551"/>
            <a:ext cx="2733677" cy="3238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.data@App.exe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53BEEF-953D-D52A-BCAB-B4BB518623A0}"/>
              </a:ext>
            </a:extLst>
          </p:cNvPr>
          <p:cNvSpPr/>
          <p:nvPr/>
        </p:nvSpPr>
        <p:spPr>
          <a:xfrm>
            <a:off x="4776785" y="5201841"/>
            <a:ext cx="2733677" cy="3238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.rodata@App.exe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41107D-AFC4-C3DB-A38D-F2A4C8FCE007}"/>
              </a:ext>
            </a:extLst>
          </p:cNvPr>
          <p:cNvSpPr/>
          <p:nvPr/>
        </p:nvSpPr>
        <p:spPr>
          <a:xfrm>
            <a:off x="4776786" y="5643561"/>
            <a:ext cx="2733677" cy="32385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.text@Util.dll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ACDC84-FE03-B1AE-88C8-EDD730071B03}"/>
              </a:ext>
            </a:extLst>
          </p:cNvPr>
          <p:cNvSpPr/>
          <p:nvPr/>
        </p:nvSpPr>
        <p:spPr>
          <a:xfrm>
            <a:off x="4776784" y="3936406"/>
            <a:ext cx="2733677" cy="32385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.data@Util.dll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6912C4-5B74-0A7D-C184-6F85745CE98A}"/>
              </a:ext>
            </a:extLst>
          </p:cNvPr>
          <p:cNvSpPr/>
          <p:nvPr/>
        </p:nvSpPr>
        <p:spPr>
          <a:xfrm>
            <a:off x="4776785" y="4785317"/>
            <a:ext cx="2733677" cy="32385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.rodata@Util.dll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7B5AD0-3734-F616-7725-856CA7F6A237}"/>
              </a:ext>
            </a:extLst>
          </p:cNvPr>
          <p:cNvSpPr/>
          <p:nvPr/>
        </p:nvSpPr>
        <p:spPr>
          <a:xfrm>
            <a:off x="4776784" y="3149205"/>
            <a:ext cx="2733677" cy="67528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Куча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65A553-8904-E848-80CB-73DC5905E53D}"/>
              </a:ext>
            </a:extLst>
          </p:cNvPr>
          <p:cNvSpPr/>
          <p:nvPr/>
        </p:nvSpPr>
        <p:spPr>
          <a:xfrm>
            <a:off x="4776784" y="2741025"/>
            <a:ext cx="2733677" cy="318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Стек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86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795E2-F747-6AE5-654C-1EADBE24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Релокация динамических библиотек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F7375-E590-161A-9934-19046828A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Динамические библиотеки создаются с возможностью загрузки в любое место адресного пространства</a:t>
            </a:r>
          </a:p>
          <a:p>
            <a:pPr lvl="1"/>
            <a:r>
              <a:rPr lang="ru-RU" dirty="0"/>
              <a:t>Для этого применяется релокация</a:t>
            </a:r>
          </a:p>
          <a:p>
            <a:r>
              <a:rPr lang="ru-RU" dirty="0"/>
              <a:t>Релокация – процесс, при котором ОС на этапе загрузки библиотеки разрешает адреса символов (функций и переменных) в памяти, чтобы они были корректно связаны с вызывающими их программами и библиотеками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44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A045-C649-7E47-16DA-DFEE22F9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релокации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8C78B-D546-938B-9A5A-E0571E980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Загрузчик определяет </a:t>
            </a:r>
            <a:r>
              <a:rPr lang="ru-RU" b="1" dirty="0"/>
              <a:t>базовый адрес</a:t>
            </a:r>
            <a:r>
              <a:rPr lang="ru-RU" dirty="0"/>
              <a:t> – место в виртуальной памяти, куда будет загружена библиотека</a:t>
            </a:r>
          </a:p>
          <a:p>
            <a:pPr lvl="1"/>
            <a:r>
              <a:rPr lang="ru-RU" dirty="0"/>
              <a:t>Если адрес занят, загрузчик должен будет выбрать другой адрес</a:t>
            </a:r>
          </a:p>
          <a:p>
            <a:r>
              <a:rPr lang="ru-RU" dirty="0"/>
              <a:t>Часто внутри библиотек все адреса функций и переменных записаны адреса относительно базового адреса</a:t>
            </a:r>
          </a:p>
          <a:p>
            <a:r>
              <a:rPr lang="ru-RU" dirty="0"/>
              <a:t>В библиотеке есть таблица релокации, где записаны все места в её коде, зависящие от базового адреса</a:t>
            </a:r>
          </a:p>
          <a:p>
            <a:pPr lvl="1"/>
            <a:r>
              <a:rPr lang="ru-RU" dirty="0"/>
              <a:t>Загрузчик корректирует эти места относительно нового базового адреса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483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BA73C-F6FD-0768-0487-F77BD8A2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Совместное использование физической памяти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7DA66F-3444-D795-03CB-BC47F7DA67E9}"/>
              </a:ext>
            </a:extLst>
          </p:cNvPr>
          <p:cNvSpPr/>
          <p:nvPr/>
        </p:nvSpPr>
        <p:spPr>
          <a:xfrm>
            <a:off x="9244804" y="1841503"/>
            <a:ext cx="2143125" cy="481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Физическая память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72662-7A1C-7884-DB04-E89DBCEAF237}"/>
              </a:ext>
            </a:extLst>
          </p:cNvPr>
          <p:cNvSpPr/>
          <p:nvPr/>
        </p:nvSpPr>
        <p:spPr>
          <a:xfrm>
            <a:off x="4133851" y="1841503"/>
            <a:ext cx="2305402" cy="481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память процесса 1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687443-B2AE-59CD-9827-548CDE2D4914}"/>
              </a:ext>
            </a:extLst>
          </p:cNvPr>
          <p:cNvSpPr/>
          <p:nvPr/>
        </p:nvSpPr>
        <p:spPr>
          <a:xfrm>
            <a:off x="6628416" y="1843808"/>
            <a:ext cx="2358419" cy="481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память процесса 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A0E67-615D-E781-58BA-29D3B3F17FB2}"/>
              </a:ext>
            </a:extLst>
          </p:cNvPr>
          <p:cNvSpPr/>
          <p:nvPr/>
        </p:nvSpPr>
        <p:spPr>
          <a:xfrm>
            <a:off x="4295775" y="5935660"/>
            <a:ext cx="1780607" cy="5572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text@PowerPnt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4066BF-FD4A-3C6D-F8B4-3716D0960933}"/>
              </a:ext>
            </a:extLst>
          </p:cNvPr>
          <p:cNvSpPr/>
          <p:nvPr/>
        </p:nvSpPr>
        <p:spPr>
          <a:xfrm>
            <a:off x="9433967" y="3402164"/>
            <a:ext cx="1780607" cy="8182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text@WinWord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589ADD-0EFD-8A5B-AB5D-2B83D5A40AC1}"/>
              </a:ext>
            </a:extLst>
          </p:cNvPr>
          <p:cNvSpPr/>
          <p:nvPr/>
        </p:nvSpPr>
        <p:spPr>
          <a:xfrm>
            <a:off x="6992143" y="5676900"/>
            <a:ext cx="1771650" cy="8182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text@WinWord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CA3163-50F0-0E51-C1C5-D09D574D05BD}"/>
              </a:ext>
            </a:extLst>
          </p:cNvPr>
          <p:cNvSpPr/>
          <p:nvPr/>
        </p:nvSpPr>
        <p:spPr>
          <a:xfrm>
            <a:off x="9433967" y="5063327"/>
            <a:ext cx="1780607" cy="5572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text@PowerPnt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FD13CB-EFE2-9F2E-E726-5547779106BB}"/>
              </a:ext>
            </a:extLst>
          </p:cNvPr>
          <p:cNvSpPr/>
          <p:nvPr/>
        </p:nvSpPr>
        <p:spPr>
          <a:xfrm>
            <a:off x="288133" y="5341934"/>
            <a:ext cx="1633537" cy="4778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WinWord.exe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8883F5-760C-37C6-DC86-A9FEFFE9ED9B}"/>
              </a:ext>
            </a:extLst>
          </p:cNvPr>
          <p:cNvSpPr/>
          <p:nvPr/>
        </p:nvSpPr>
        <p:spPr>
          <a:xfrm>
            <a:off x="2178846" y="5341934"/>
            <a:ext cx="1633537" cy="47783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PowerPnt.exe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036750-E0EC-0B2B-69BC-8183A86545E4}"/>
              </a:ext>
            </a:extLst>
          </p:cNvPr>
          <p:cNvSpPr/>
          <p:nvPr/>
        </p:nvSpPr>
        <p:spPr>
          <a:xfrm>
            <a:off x="1197771" y="3798884"/>
            <a:ext cx="163353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ole32.dll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F49359-F69F-D429-70F6-D410D7F813F8}"/>
              </a:ext>
            </a:extLst>
          </p:cNvPr>
          <p:cNvCxnSpPr>
            <a:stCxn id="13" idx="0"/>
            <a:endCxn id="15" idx="2"/>
          </p:cNvCxnSpPr>
          <p:nvPr/>
        </p:nvCxnSpPr>
        <p:spPr>
          <a:xfrm flipV="1">
            <a:off x="1104902" y="4276723"/>
            <a:ext cx="909638" cy="1065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6EC112-81DD-B426-328F-68860C00E049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2014540" y="4276723"/>
            <a:ext cx="981075" cy="1065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D77DD8E-CA95-4AEE-E905-D27609BC182A}"/>
              </a:ext>
            </a:extLst>
          </p:cNvPr>
          <p:cNvSpPr/>
          <p:nvPr/>
        </p:nvSpPr>
        <p:spPr>
          <a:xfrm>
            <a:off x="4295775" y="4976017"/>
            <a:ext cx="178060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.text@ole32.dll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C24790-BC32-9650-C91F-257975D86462}"/>
              </a:ext>
            </a:extLst>
          </p:cNvPr>
          <p:cNvSpPr/>
          <p:nvPr/>
        </p:nvSpPr>
        <p:spPr>
          <a:xfrm>
            <a:off x="6992142" y="4978322"/>
            <a:ext cx="178060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.text@ole32.dll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78517E-CB1B-0541-1EAA-A09843525237}"/>
              </a:ext>
            </a:extLst>
          </p:cNvPr>
          <p:cNvCxnSpPr>
            <a:cxnSpLocks/>
          </p:cNvCxnSpPr>
          <p:nvPr/>
        </p:nvCxnSpPr>
        <p:spPr>
          <a:xfrm>
            <a:off x="4133851" y="5457823"/>
            <a:ext cx="4743449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80FF11A-D921-C2A5-6F26-3F5565101563}"/>
              </a:ext>
            </a:extLst>
          </p:cNvPr>
          <p:cNvCxnSpPr>
            <a:cxnSpLocks/>
          </p:cNvCxnSpPr>
          <p:nvPr/>
        </p:nvCxnSpPr>
        <p:spPr>
          <a:xfrm>
            <a:off x="4133851" y="4976017"/>
            <a:ext cx="485298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AB52503-8569-6B9C-A913-827EEC166734}"/>
              </a:ext>
            </a:extLst>
          </p:cNvPr>
          <p:cNvSpPr/>
          <p:nvPr/>
        </p:nvSpPr>
        <p:spPr>
          <a:xfrm>
            <a:off x="9433967" y="4585487"/>
            <a:ext cx="178060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.text@ole32.dll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2A8FBB-877D-B1CE-4F58-2219CCCEB364}"/>
              </a:ext>
            </a:extLst>
          </p:cNvPr>
          <p:cNvSpPr/>
          <p:nvPr/>
        </p:nvSpPr>
        <p:spPr>
          <a:xfrm>
            <a:off x="9433967" y="5620541"/>
            <a:ext cx="1780607" cy="93705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176705-0F83-9FC6-BEF9-790EA17AF76E}"/>
              </a:ext>
            </a:extLst>
          </p:cNvPr>
          <p:cNvSpPr/>
          <p:nvPr/>
        </p:nvSpPr>
        <p:spPr>
          <a:xfrm>
            <a:off x="4295775" y="3594100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.data@ole32.dll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F730D2-54F0-15D8-BDE1-D778B804CFE4}"/>
              </a:ext>
            </a:extLst>
          </p:cNvPr>
          <p:cNvSpPr/>
          <p:nvPr/>
        </p:nvSpPr>
        <p:spPr>
          <a:xfrm>
            <a:off x="9433967" y="4226360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.data@ole32.dll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95FB7D-6B66-2136-159F-379F1848E05C}"/>
              </a:ext>
            </a:extLst>
          </p:cNvPr>
          <p:cNvSpPr/>
          <p:nvPr/>
        </p:nvSpPr>
        <p:spPr>
          <a:xfrm>
            <a:off x="6992142" y="3593999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.data@ole32.dll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1CBC4F-B0DF-989B-83BC-AA92BB9CB2C7}"/>
              </a:ext>
            </a:extLst>
          </p:cNvPr>
          <p:cNvSpPr/>
          <p:nvPr/>
        </p:nvSpPr>
        <p:spPr>
          <a:xfrm>
            <a:off x="9433967" y="3035557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.data@ole32.dll</a:t>
            </a:r>
          </a:p>
        </p:txBody>
      </p:sp>
    </p:spTree>
    <p:extLst>
      <p:ext uri="{BB962C8B-B14F-4D97-AF65-F5344CB8AC3E}">
        <p14:creationId xmlns:p14="http://schemas.microsoft.com/office/powerpoint/2010/main" val="393702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3" grpId="0" animBg="1"/>
      <p:bldP spid="24" grpId="0" animBg="1"/>
      <p:bldP spid="33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BE6E-B599-58B4-A419-FA82D5DD6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4777-B182-1C88-2EE0-08ADA396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Релокация динамических библиотек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651731-EAE9-3613-AC1F-CA9FE35D9D8D}"/>
              </a:ext>
            </a:extLst>
          </p:cNvPr>
          <p:cNvSpPr/>
          <p:nvPr/>
        </p:nvSpPr>
        <p:spPr>
          <a:xfrm>
            <a:off x="9244804" y="1841503"/>
            <a:ext cx="2143125" cy="481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Физическая память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C0856-AD79-294D-ACD0-604B5F332681}"/>
              </a:ext>
            </a:extLst>
          </p:cNvPr>
          <p:cNvSpPr/>
          <p:nvPr/>
        </p:nvSpPr>
        <p:spPr>
          <a:xfrm>
            <a:off x="4133851" y="1841503"/>
            <a:ext cx="2305402" cy="481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память процесса 1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6351E6-796A-80D5-EE45-219A467A5A68}"/>
              </a:ext>
            </a:extLst>
          </p:cNvPr>
          <p:cNvSpPr/>
          <p:nvPr/>
        </p:nvSpPr>
        <p:spPr>
          <a:xfrm>
            <a:off x="6628416" y="1843808"/>
            <a:ext cx="2358419" cy="4816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память процесса 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A9A04A-A003-76FC-A408-62F2648B35CE}"/>
              </a:ext>
            </a:extLst>
          </p:cNvPr>
          <p:cNvSpPr/>
          <p:nvPr/>
        </p:nvSpPr>
        <p:spPr>
          <a:xfrm>
            <a:off x="4295775" y="5935660"/>
            <a:ext cx="1780607" cy="5572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text@PowerPnt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A392B0-1BB3-1059-6FD1-B761BE7399A7}"/>
              </a:ext>
            </a:extLst>
          </p:cNvPr>
          <p:cNvSpPr/>
          <p:nvPr/>
        </p:nvSpPr>
        <p:spPr>
          <a:xfrm>
            <a:off x="9433966" y="3770642"/>
            <a:ext cx="1780607" cy="8182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text@Excel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A0755B-3E61-4457-38D3-436739DEE07A}"/>
              </a:ext>
            </a:extLst>
          </p:cNvPr>
          <p:cNvSpPr/>
          <p:nvPr/>
        </p:nvSpPr>
        <p:spPr>
          <a:xfrm>
            <a:off x="6992143" y="5245100"/>
            <a:ext cx="1771650" cy="12500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text@Excel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723B0-542E-3A16-E2AE-BA4B42FC7574}"/>
              </a:ext>
            </a:extLst>
          </p:cNvPr>
          <p:cNvSpPr/>
          <p:nvPr/>
        </p:nvSpPr>
        <p:spPr>
          <a:xfrm>
            <a:off x="9433966" y="5443172"/>
            <a:ext cx="1780607" cy="5572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text@PowerPnt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B44A8F-156C-BAF3-B4F4-A2221A513006}"/>
              </a:ext>
            </a:extLst>
          </p:cNvPr>
          <p:cNvSpPr/>
          <p:nvPr/>
        </p:nvSpPr>
        <p:spPr>
          <a:xfrm>
            <a:off x="288133" y="5341934"/>
            <a:ext cx="1633537" cy="4778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Excel.exe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D72958-D2FF-3E0F-EB19-23A9F4B3BB0C}"/>
              </a:ext>
            </a:extLst>
          </p:cNvPr>
          <p:cNvSpPr/>
          <p:nvPr/>
        </p:nvSpPr>
        <p:spPr>
          <a:xfrm>
            <a:off x="2178846" y="5341934"/>
            <a:ext cx="1633537" cy="47783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PowerPnt.exe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111FBB-2980-12FE-93F4-257227A153FE}"/>
              </a:ext>
            </a:extLst>
          </p:cNvPr>
          <p:cNvSpPr/>
          <p:nvPr/>
        </p:nvSpPr>
        <p:spPr>
          <a:xfrm>
            <a:off x="1197771" y="3798884"/>
            <a:ext cx="163353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ole32.dll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C19AB9-A216-AFA7-4610-68232FD3FE12}"/>
              </a:ext>
            </a:extLst>
          </p:cNvPr>
          <p:cNvCxnSpPr>
            <a:stCxn id="13" idx="0"/>
            <a:endCxn id="15" idx="2"/>
          </p:cNvCxnSpPr>
          <p:nvPr/>
        </p:nvCxnSpPr>
        <p:spPr>
          <a:xfrm flipV="1">
            <a:off x="1104902" y="4276723"/>
            <a:ext cx="909638" cy="1065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3451B2-E518-75B9-5E7C-94385D42765B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2014540" y="4276723"/>
            <a:ext cx="981075" cy="1065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27BEE33-9778-7384-8CAD-D36076C6B1B7}"/>
              </a:ext>
            </a:extLst>
          </p:cNvPr>
          <p:cNvSpPr/>
          <p:nvPr/>
        </p:nvSpPr>
        <p:spPr>
          <a:xfrm>
            <a:off x="4295775" y="4976017"/>
            <a:ext cx="178060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.text@ole32.dll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482646-C60E-73D4-37E7-A58E1A32F2F4}"/>
              </a:ext>
            </a:extLst>
          </p:cNvPr>
          <p:cNvSpPr/>
          <p:nvPr/>
        </p:nvSpPr>
        <p:spPr>
          <a:xfrm>
            <a:off x="6992142" y="4765275"/>
            <a:ext cx="178060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.text@ole32.dll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390D9B-BE7E-98E7-EB2C-9AFB39CA668C}"/>
              </a:ext>
            </a:extLst>
          </p:cNvPr>
          <p:cNvCxnSpPr>
            <a:cxnSpLocks/>
          </p:cNvCxnSpPr>
          <p:nvPr/>
        </p:nvCxnSpPr>
        <p:spPr>
          <a:xfrm>
            <a:off x="4133851" y="5457823"/>
            <a:ext cx="4743449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485A850-32AD-532A-518D-10185F53419C}"/>
              </a:ext>
            </a:extLst>
          </p:cNvPr>
          <p:cNvCxnSpPr>
            <a:cxnSpLocks/>
          </p:cNvCxnSpPr>
          <p:nvPr/>
        </p:nvCxnSpPr>
        <p:spPr>
          <a:xfrm>
            <a:off x="4133851" y="4976017"/>
            <a:ext cx="485298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81A2E45-4B33-AA34-B606-7E42532B97CA}"/>
              </a:ext>
            </a:extLst>
          </p:cNvPr>
          <p:cNvSpPr/>
          <p:nvPr/>
        </p:nvSpPr>
        <p:spPr>
          <a:xfrm>
            <a:off x="9433966" y="4948234"/>
            <a:ext cx="178060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.text@ole32.dll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E90797-0E9C-4F0F-D5E8-16D9DD0FE438}"/>
              </a:ext>
            </a:extLst>
          </p:cNvPr>
          <p:cNvSpPr/>
          <p:nvPr/>
        </p:nvSpPr>
        <p:spPr>
          <a:xfrm>
            <a:off x="9433967" y="6000385"/>
            <a:ext cx="1780607" cy="55721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ECB49D-DBDD-73BA-2C37-B85B864FBEE0}"/>
              </a:ext>
            </a:extLst>
          </p:cNvPr>
          <p:cNvSpPr/>
          <p:nvPr/>
        </p:nvSpPr>
        <p:spPr>
          <a:xfrm>
            <a:off x="4295775" y="3594100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.data@ole32.dll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75E0AB-1CE6-CF05-852B-70ACB5B8FCE9}"/>
              </a:ext>
            </a:extLst>
          </p:cNvPr>
          <p:cNvSpPr/>
          <p:nvPr/>
        </p:nvSpPr>
        <p:spPr>
          <a:xfrm>
            <a:off x="9433966" y="4606020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.data@ole32.dll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5E7144-CE95-EDDA-5D80-197A784A9CE4}"/>
              </a:ext>
            </a:extLst>
          </p:cNvPr>
          <p:cNvSpPr/>
          <p:nvPr/>
        </p:nvSpPr>
        <p:spPr>
          <a:xfrm>
            <a:off x="6992142" y="3593999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.data@ole32.dll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02AE21-E57D-7454-0618-07967CD7DC90}"/>
              </a:ext>
            </a:extLst>
          </p:cNvPr>
          <p:cNvSpPr/>
          <p:nvPr/>
        </p:nvSpPr>
        <p:spPr>
          <a:xfrm>
            <a:off x="9426468" y="2933490"/>
            <a:ext cx="1780607" cy="359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.data@ole32.dll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938AB-D32C-5DB5-5111-650D311992E7}"/>
              </a:ext>
            </a:extLst>
          </p:cNvPr>
          <p:cNvSpPr/>
          <p:nvPr/>
        </p:nvSpPr>
        <p:spPr>
          <a:xfrm>
            <a:off x="9426062" y="3293382"/>
            <a:ext cx="1780607" cy="477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text@ole32.dll</a:t>
            </a:r>
          </a:p>
        </p:txBody>
      </p:sp>
    </p:spTree>
    <p:extLst>
      <p:ext uri="{BB962C8B-B14F-4D97-AF65-F5344CB8AC3E}">
        <p14:creationId xmlns:p14="http://schemas.microsoft.com/office/powerpoint/2010/main" val="68094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3" grpId="0" animBg="1"/>
      <p:bldP spid="24" grpId="0" animBg="1"/>
      <p:bldP spid="33" grpId="0" animBg="1"/>
      <p:bldP spid="39" grpId="0" animBg="1"/>
      <p:bldP spid="40" grpId="0" animBg="1"/>
      <p:bldP spid="41" grpId="0" animBg="1"/>
      <p:bldP spid="42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A32C-55A9-CD37-43EF-8F4428C2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Position-Independent Code (PIC)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A7406-24A0-4410-FCD3-A9FF68194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Машинный код, который работает корректно вне зависимости от базового адреса</a:t>
            </a:r>
          </a:p>
          <a:p>
            <a:pPr lvl="1"/>
            <a:r>
              <a:rPr lang="ru-RU" dirty="0"/>
              <a:t>Используются инструкции с относительной адресацией</a:t>
            </a:r>
            <a:endParaRPr lang="en-US" dirty="0"/>
          </a:p>
          <a:p>
            <a:r>
              <a:rPr lang="ru-RU" dirty="0"/>
              <a:t>Один и тот же код может без релокации загружаться по разным виртуальным адресам</a:t>
            </a:r>
          </a:p>
          <a:p>
            <a:pPr lvl="1"/>
            <a:r>
              <a:rPr lang="ru-RU" dirty="0"/>
              <a:t>Экономит память</a:t>
            </a:r>
          </a:p>
        </p:txBody>
      </p:sp>
    </p:spTree>
    <p:extLst>
      <p:ext uri="{BB962C8B-B14F-4D97-AF65-F5344CB8AC3E}">
        <p14:creationId xmlns:p14="http://schemas.microsoft.com/office/powerpoint/2010/main" val="83058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89500D-4898-1D3F-7EAD-6762CA6C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Кодировка инструкции </a:t>
            </a:r>
            <a:r>
              <a:rPr lang="en-US" dirty="0"/>
              <a:t>CALL </a:t>
            </a:r>
            <a:r>
              <a:rPr lang="ru-RU" dirty="0"/>
              <a:t> процессора</a:t>
            </a:r>
            <a:r>
              <a:rPr lang="en-US" dirty="0"/>
              <a:t> x86 </a:t>
            </a:r>
            <a:r>
              <a:rPr lang="ru-RU" dirty="0"/>
              <a:t>и совместимость с </a:t>
            </a:r>
            <a:r>
              <a:rPr lang="en-US" dirty="0"/>
              <a:t>PIC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2D7648-3D74-3902-236C-3B354FEB8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199645"/>
              </p:ext>
            </p:extLst>
          </p:nvPr>
        </p:nvGraphicFramePr>
        <p:xfrm>
          <a:off x="838200" y="1825625"/>
          <a:ext cx="1051559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59">
                  <a:extLst>
                    <a:ext uri="{9D8B030D-6E8A-4147-A177-3AD203B41FA5}">
                      <a16:colId xmlns:a16="http://schemas.microsoft.com/office/drawing/2014/main" val="1286028092"/>
                    </a:ext>
                  </a:extLst>
                </a:gridCol>
                <a:gridCol w="1290581">
                  <a:extLst>
                    <a:ext uri="{9D8B030D-6E8A-4147-A177-3AD203B41FA5}">
                      <a16:colId xmlns:a16="http://schemas.microsoft.com/office/drawing/2014/main" val="2315804150"/>
                    </a:ext>
                  </a:extLst>
                </a:gridCol>
                <a:gridCol w="5566560">
                  <a:extLst>
                    <a:ext uri="{9D8B030D-6E8A-4147-A177-3AD203B41FA5}">
                      <a16:colId xmlns:a16="http://schemas.microsoft.com/office/drawing/2014/main" val="3532195258"/>
                    </a:ext>
                  </a:extLst>
                </a:gridCol>
                <a:gridCol w="2743198">
                  <a:extLst>
                    <a:ext uri="{9D8B030D-6E8A-4147-A177-3AD203B41FA5}">
                      <a16:colId xmlns:a16="http://schemas.microsoft.com/office/drawing/2014/main" val="2247368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Opcode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Mnemonic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Position-Independent?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023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E8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</a:rPr>
                        <a:t>cw</a:t>
                      </a:r>
                      <a:endParaRPr lang="en-US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rel16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near, relative, displacement relative to next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✅</a:t>
                      </a:r>
                      <a:endParaRPr lang="en-US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51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E8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rel32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Call near, relative, displacement relative to next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775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FF 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r/m16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near, absolute indirect, address given in r/m16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⚠️</a:t>
                      </a:r>
                      <a:endParaRPr lang="en-US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0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FF 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r/m32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Call near, absolute indirect, address given in r/m32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⚠️</a:t>
                      </a:r>
                      <a:endParaRPr lang="en-US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16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9A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ptr16:16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far, absolute, address given in operand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14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9A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ptr16:32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far, absolute, address given in operand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1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FF 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m16:16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far, absolute indirect, address given in m16:16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429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FF 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  <a:latin typeface="Arial" panose="020B0604020202020204" pitchFamily="34" charset="0"/>
                        </a:rPr>
                        <a:t>CALL m16:32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Call far, absolute indirect, address given in m16:32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Arial" panose="020B0604020202020204" pitchFamily="34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15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347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684E-AA87-B3E7-5556-B82954A1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ASLR (Address Space Layout Randomization)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C099E-4CBB-A046-0C8D-028676D4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Технология безопасности, применяемая ОС для защиты от атак, связанных с предсказуемостью адресов в памяти</a:t>
            </a:r>
          </a:p>
          <a:p>
            <a:r>
              <a:rPr lang="ru-RU" dirty="0"/>
              <a:t>При каждом запуске программы ОС случайным образом размещает разделы стека, кучи, и адреса динамических библиотек</a:t>
            </a:r>
          </a:p>
          <a:p>
            <a:r>
              <a:rPr lang="ru-RU" dirty="0"/>
              <a:t>Усложняет эсплуатацию уязвимостей в программе, так как при каждом запуске адреса данных и кода оказываются случайными</a:t>
            </a:r>
          </a:p>
          <a:p>
            <a:r>
              <a:rPr lang="ru-RU" dirty="0"/>
              <a:t>Недостатки</a:t>
            </a:r>
          </a:p>
          <a:p>
            <a:pPr lvl="1"/>
            <a:r>
              <a:rPr lang="ru-RU" dirty="0"/>
              <a:t>Старые программы могут не поддерживать </a:t>
            </a:r>
            <a:r>
              <a:rPr lang="en-US" dirty="0"/>
              <a:t>ASLR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279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8F55-9CA2-77B4-4584-DBC8FE52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ROP (Return-Oriented-Programming)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69C7F-869F-FB36-58E0-6780B4966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45468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Техника эксплуатации уязвимостей без внедрения собственного кода</a:t>
            </a:r>
          </a:p>
          <a:p>
            <a:r>
              <a:rPr lang="ru-RU" dirty="0"/>
              <a:t>Использует существующий машинный код программы и библиотек</a:t>
            </a:r>
          </a:p>
          <a:p>
            <a:r>
              <a:rPr lang="ru-RU" dirty="0"/>
              <a:t>Основана на управлении адресами возврата (</a:t>
            </a:r>
            <a:r>
              <a:rPr lang="ru-RU" dirty="0" err="1"/>
              <a:t>ret</a:t>
            </a:r>
            <a:r>
              <a:rPr lang="ru-RU" dirty="0"/>
              <a:t>)</a:t>
            </a:r>
          </a:p>
          <a:p>
            <a:r>
              <a:rPr lang="ru-RU" dirty="0"/>
              <a:t>Выполнение строится из цепочки коротких фрагментов кода (</a:t>
            </a:r>
            <a:r>
              <a:rPr lang="ru-RU" dirty="0" err="1"/>
              <a:t>gadgets</a:t>
            </a:r>
            <a:r>
              <a:rPr lang="ru-RU" dirty="0"/>
              <a:t>)</a:t>
            </a:r>
          </a:p>
          <a:p>
            <a:r>
              <a:rPr lang="ru-RU" dirty="0"/>
              <a:t>Обходит защиту NX / DEP</a:t>
            </a:r>
          </a:p>
          <a:p>
            <a:r>
              <a:rPr lang="ru-RU" dirty="0"/>
              <a:t>Эффективность снижается при включённом ASLR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6B9C41-A731-5647-6E7C-61381A17A1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52118"/>
          <a:stretch>
            <a:fillRect/>
          </a:stretch>
        </p:blipFill>
        <p:spPr>
          <a:xfrm>
            <a:off x="7283668" y="1825625"/>
            <a:ext cx="4260631" cy="244594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857E7D-68C8-F79C-3AA8-490C46213F26}"/>
              </a:ext>
            </a:extLst>
          </p:cNvPr>
          <p:cNvSpPr txBox="1"/>
          <p:nvPr/>
        </p:nvSpPr>
        <p:spPr>
          <a:xfrm>
            <a:off x="7283668" y="4271572"/>
            <a:ext cx="4908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https://www.youtube.com/watch?v=KBZAUi9OPww</a:t>
            </a:r>
            <a:r>
              <a:rPr lang="en-US" sz="1600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A00847-F392-E78D-56D0-18AC90D04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330" y="4825033"/>
            <a:ext cx="1878969" cy="18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48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DF03-8EF1-759C-1846-3D74883E9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динамических библиотек по требованию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34BDE-D97A-0E44-4599-198E7BD37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Приложение может загрузить динамическую библиотеку и использовать её функции по требованию</a:t>
            </a:r>
          </a:p>
          <a:p>
            <a:r>
              <a:rPr lang="ru-RU" dirty="0"/>
              <a:t>Загрузка в </a:t>
            </a:r>
            <a:r>
              <a:rPr lang="en-US" dirty="0"/>
              <a:t>Windows</a:t>
            </a:r>
          </a:p>
          <a:p>
            <a:pPr lvl="1"/>
            <a:r>
              <a:rPr lang="ru-RU" dirty="0"/>
              <a:t>Функции </a:t>
            </a:r>
            <a:r>
              <a:rPr lang="en-US" dirty="0" err="1">
                <a:hlinkClick r:id="rId3"/>
              </a:rPr>
              <a:t>LoadLibrary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>
                <a:hlinkClick r:id="rId4"/>
              </a:rPr>
              <a:t>LoadLibraryEx</a:t>
            </a:r>
            <a:endParaRPr lang="en-US" dirty="0"/>
          </a:p>
          <a:p>
            <a:pPr lvl="1"/>
            <a:r>
              <a:rPr lang="ru-RU" dirty="0"/>
              <a:t>Для освобождения библиотеки используется </a:t>
            </a:r>
            <a:r>
              <a:rPr lang="en-US" dirty="0" err="1">
                <a:hlinkClick r:id="rId5"/>
              </a:rPr>
              <a:t>FreeLibrary</a:t>
            </a:r>
            <a:endParaRPr lang="en-US" dirty="0"/>
          </a:p>
          <a:p>
            <a:pPr lvl="1"/>
            <a:r>
              <a:rPr lang="ru-RU" dirty="0"/>
              <a:t>Поиск функции выполняется с помощью </a:t>
            </a:r>
            <a:r>
              <a:rPr lang="en-US" dirty="0" err="1">
                <a:hlinkClick r:id="rId6"/>
              </a:rPr>
              <a:t>GetProcAddress</a:t>
            </a:r>
            <a:endParaRPr lang="en-US" dirty="0"/>
          </a:p>
          <a:p>
            <a:r>
              <a:rPr lang="ru-RU" dirty="0"/>
              <a:t>Загрузка в </a:t>
            </a:r>
            <a:r>
              <a:rPr lang="en-US" dirty="0"/>
              <a:t>Linux </a:t>
            </a:r>
            <a:r>
              <a:rPr lang="ru-RU" dirty="0"/>
              <a:t>и других </a:t>
            </a:r>
            <a:r>
              <a:rPr lang="en-US" dirty="0"/>
              <a:t>POSIX</a:t>
            </a:r>
            <a:r>
              <a:rPr lang="ru-RU" dirty="0"/>
              <a:t>-подобных системах</a:t>
            </a:r>
          </a:p>
          <a:p>
            <a:pPr lvl="1"/>
            <a:r>
              <a:rPr lang="ru-RU" dirty="0"/>
              <a:t>Функции </a:t>
            </a:r>
            <a:r>
              <a:rPr lang="en-US" dirty="0" err="1">
                <a:hlinkClick r:id="rId7"/>
              </a:rPr>
              <a:t>dlopen</a:t>
            </a:r>
            <a:r>
              <a:rPr lang="ru-RU" dirty="0">
                <a:hlinkClick r:id="rId7"/>
              </a:rPr>
              <a:t>, </a:t>
            </a:r>
            <a:r>
              <a:rPr lang="en-US" dirty="0" err="1">
                <a:hlinkClick r:id="rId7"/>
              </a:rPr>
              <a:t>dlclose</a:t>
            </a:r>
            <a:r>
              <a:rPr lang="ru-RU" dirty="0">
                <a:hlinkClick r:id="rId7"/>
              </a:rPr>
              <a:t>, </a:t>
            </a:r>
            <a:r>
              <a:rPr lang="en-US" dirty="0" err="1">
                <a:hlinkClick r:id="rId7"/>
              </a:rPr>
              <a:t>dlmopen</a:t>
            </a:r>
            <a:endParaRPr lang="ru-RU" dirty="0"/>
          </a:p>
          <a:p>
            <a:pPr lvl="1"/>
            <a:r>
              <a:rPr lang="ru-RU" dirty="0"/>
              <a:t>Поиск символа в загруженной библиотеке</a:t>
            </a:r>
            <a:r>
              <a:rPr lang="en-US" dirty="0"/>
              <a:t> </a:t>
            </a:r>
            <a:r>
              <a:rPr lang="ru-RU" dirty="0"/>
              <a:t>выполняется функцией </a:t>
            </a:r>
            <a:r>
              <a:rPr lang="en-US" dirty="0" err="1">
                <a:hlinkClick r:id="rId8"/>
              </a:rPr>
              <a:t>dlsym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847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0BE6D0-5377-E6C5-14AE-F2F20243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и вызов функции из </a:t>
            </a:r>
            <a:r>
              <a:rPr lang="en-US" dirty="0"/>
              <a:t>DLL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75FF8-ED47-9E79-8571-1AE7257177CD}"/>
              </a:ext>
            </a:extLst>
          </p:cNvPr>
          <p:cNvSpPr txBox="1"/>
          <p:nvPr/>
        </p:nvSpPr>
        <p:spPr>
          <a:xfrm>
            <a:off x="838200" y="2152650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PGNSI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WINAPI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)(LPSYSTEM_INFO);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SYSTEM_INFO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(PGNSI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pGNSI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PGNSI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GetProcAddress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GetModuleHandle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L"kernel32.dll"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GetNativeSystemInfo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pGNSI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GetSystemInfo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632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2EA2-EDF5-C9FD-9C37-3B422314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и вызов функции под </a:t>
            </a:r>
            <a:r>
              <a:rPr lang="en-US" dirty="0"/>
              <a:t>Linux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39CE7-4D4C-3712-E059-A4C1CEDDB3AC}"/>
              </a:ext>
            </a:extLst>
          </p:cNvPr>
          <p:cNvSpPr txBox="1"/>
          <p:nvPr/>
        </p:nvSpPr>
        <p:spPr>
          <a:xfrm>
            <a:off x="838200" y="2056686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dlfcn.h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AddFn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libHandle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dlopen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"./libmymath.so"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RTLD_LAZY);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TODO: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проверить успешность загрузки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AddFn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AddFn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dlsym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libHandle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"Result of add(3, 5):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dlclose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libHandle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644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D9C592-5520-8CB6-611B-33E2BA86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Декорирование имён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604FC-5977-D005-DEEA-9830B1D3A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89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FBC43-8C28-8B65-B070-8A4B735E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Декорирование имён (</a:t>
            </a:r>
            <a:r>
              <a:rPr lang="en-US" dirty="0"/>
              <a:t>name mangling)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2A57D-0501-AEDA-348E-63F2ABE2B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Компилятор </a:t>
            </a:r>
            <a:r>
              <a:rPr lang="en-US" dirty="0"/>
              <a:t>C++ </a:t>
            </a:r>
            <a:r>
              <a:rPr lang="ru-RU" dirty="0"/>
              <a:t>преобразовывает имя функции, метода или переменной в уникальную строку</a:t>
            </a:r>
          </a:p>
          <a:p>
            <a:pPr lvl="1"/>
            <a:r>
              <a:rPr lang="ru-RU" dirty="0"/>
              <a:t>Перегрузка функций</a:t>
            </a:r>
          </a:p>
          <a:p>
            <a:pPr lvl="1"/>
            <a:r>
              <a:rPr lang="ru-RU" dirty="0"/>
              <a:t>Поддержка пространств имён</a:t>
            </a:r>
          </a:p>
          <a:p>
            <a:pPr lvl="1"/>
            <a:r>
              <a:rPr lang="ru-RU" dirty="0"/>
              <a:t>Методы разных классов должны иметь уникальные идентификаторы</a:t>
            </a:r>
          </a:p>
          <a:p>
            <a:r>
              <a:rPr lang="ru-RU" dirty="0"/>
              <a:t>В итоге имя символа отличается от исходного</a:t>
            </a:r>
            <a:endParaRPr lang="en-US" dirty="0"/>
          </a:p>
          <a:p>
            <a:pPr lvl="1"/>
            <a:r>
              <a:rPr lang="en-US" dirty="0" err="1"/>
              <a:t>SayHello</a:t>
            </a:r>
            <a:r>
              <a:rPr lang="en-US" dirty="0"/>
              <a:t> -&gt;</a:t>
            </a:r>
            <a:r>
              <a:rPr lang="ru-RU" dirty="0"/>
              <a:t> _</a:t>
            </a:r>
            <a:r>
              <a:rPr lang="en-US" dirty="0"/>
              <a:t>Z9SayHello</a:t>
            </a:r>
          </a:p>
          <a:p>
            <a:pPr lvl="1"/>
            <a:r>
              <a:rPr lang="en-US" dirty="0" err="1"/>
              <a:t>SayHello</a:t>
            </a:r>
            <a:r>
              <a:rPr lang="en-US" dirty="0"/>
              <a:t>(int) -&gt; _Z9SayHelloi</a:t>
            </a:r>
          </a:p>
          <a:p>
            <a:r>
              <a:rPr lang="ru-RU" dirty="0"/>
              <a:t>Каждый компилятор декорирует имена по-своему</a:t>
            </a:r>
          </a:p>
        </p:txBody>
      </p:sp>
    </p:spTree>
    <p:extLst>
      <p:ext uri="{BB962C8B-B14F-4D97-AF65-F5344CB8AC3E}">
        <p14:creationId xmlns:p14="http://schemas.microsoft.com/office/powerpoint/2010/main" val="3774932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392E9C-D002-9D15-3A6B-87898DF5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Декорирование имён в динамических библиотеках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D4BBD-41BC-96E6-3BA0-A231AD96F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Динамические библиотеки с декорированными именами символов могут быть загружен только, когда и программа, и библиотека  скомпилированы одним компилятором</a:t>
            </a:r>
          </a:p>
          <a:p>
            <a:r>
              <a:rPr lang="ru-RU" dirty="0"/>
              <a:t>Не подходит для системных библиотек</a:t>
            </a:r>
          </a:p>
          <a:p>
            <a:r>
              <a:rPr lang="ru-RU" dirty="0"/>
              <a:t>Не подходит для приложений, поддерживающи внешние плагины</a:t>
            </a:r>
          </a:p>
          <a:p>
            <a:r>
              <a:rPr lang="ru-RU" dirty="0"/>
              <a:t>Не подходит, когда приложение и библиотека написаны на разных ЯП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80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F700-3E7B-969B-3281-59D48EA2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Выход: отключить декорирование имён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098B9-0F69-DAE1-AB31-1D9E4F38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Язык </a:t>
            </a:r>
            <a:r>
              <a:rPr lang="en-US" dirty="0"/>
              <a:t>C</a:t>
            </a:r>
            <a:r>
              <a:rPr lang="ru-RU" dirty="0"/>
              <a:t> не поддерживает декорирование имён и используется в качестве языка общения между модулями для разных языках программирования</a:t>
            </a:r>
          </a:p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можно указать для функций или переменных свойство </a:t>
            </a:r>
            <a:r>
              <a:rPr lang="en-US" dirty="0"/>
              <a:t>language linkage</a:t>
            </a:r>
            <a:r>
              <a:rPr lang="ru-RU" dirty="0"/>
              <a:t> при помощи </a:t>
            </a:r>
            <a:r>
              <a:rPr lang="en-US" dirty="0">
                <a:latin typeface="Consolas" panose="020B0609020204030204" pitchFamily="49" charset="0"/>
              </a:rPr>
              <a:t>extern "C"</a:t>
            </a:r>
          </a:p>
          <a:p>
            <a:pPr lvl="1"/>
            <a:r>
              <a:rPr lang="ru-RU" dirty="0"/>
              <a:t>Не применяется </a:t>
            </a:r>
            <a:r>
              <a:rPr lang="en-US" dirty="0"/>
              <a:t>name mangling</a:t>
            </a:r>
          </a:p>
          <a:p>
            <a:pPr lvl="1"/>
            <a:r>
              <a:rPr lang="ru-RU" dirty="0"/>
              <a:t>Экспорт и импорт становятся предсказуемыми</a:t>
            </a:r>
          </a:p>
          <a:p>
            <a:pPr lvl="1"/>
            <a:r>
              <a:rPr lang="ru-RU" dirty="0"/>
              <a:t>Повышается бинарная совместимость между разными </a:t>
            </a:r>
            <a:r>
              <a:rPr lang="ru-RU" dirty="0" err="1"/>
              <a:t>копиляторами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568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D671B4-89D0-7DFA-1D70-9CABA5B3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Отключаем декорирование имён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E72B1-723A-5478-CC68-8E3044D6E39B}"/>
              </a:ext>
            </a:extLst>
          </p:cNvPr>
          <p:cNvSpPr txBox="1"/>
          <p:nvPr/>
        </p:nvSpPr>
        <p:spPr>
          <a:xfrm>
            <a:off x="838200" y="2090057"/>
            <a:ext cx="8305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#ifdef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cplusplus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#ifdef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cplusplus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 выше можно переписать ещё так: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#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ifdef __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cplusplus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extern "C" 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#endif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void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571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FDD3F9-9971-3082-2BC5-657ECCB2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и возврат сложных объектов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B22A6-EFB5-2B0A-2103-EDE13E83A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98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E817-A4DF-4848-7239-676A6DBA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обмена сложными типами между приложением и </a:t>
            </a:r>
            <a:r>
              <a:rPr lang="en-US"/>
              <a:t>DLL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DE23-5FAC-9403-1C43-677022672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Приложение и библиотека могут быть скомпонованы с разными </a:t>
            </a:r>
            <a:r>
              <a:rPr lang="en-US" dirty="0"/>
              <a:t>runtime-</a:t>
            </a:r>
            <a:r>
              <a:rPr lang="ru-RU" dirty="0"/>
              <a:t>библиотеками</a:t>
            </a:r>
          </a:p>
          <a:p>
            <a:r>
              <a:rPr lang="ru-RU" dirty="0"/>
              <a:t>Это создаёт проблемы при передаче объектов, использующих динамическое управление памятью</a:t>
            </a:r>
          </a:p>
          <a:p>
            <a:pPr lvl="1"/>
            <a:r>
              <a:rPr lang="ru-RU" dirty="0"/>
              <a:t>Разные пулы памяти</a:t>
            </a:r>
          </a:p>
          <a:p>
            <a:pPr lvl="1"/>
            <a:r>
              <a:rPr lang="ru-RU" dirty="0"/>
              <a:t>Несовместимость соглашений о вызовах функций</a:t>
            </a:r>
          </a:p>
          <a:p>
            <a:pPr lvl="1"/>
            <a:r>
              <a:rPr lang="ru-RU" dirty="0"/>
              <a:t>Отличия в </a:t>
            </a:r>
            <a:r>
              <a:rPr lang="en-US" dirty="0"/>
              <a:t>ABI</a:t>
            </a:r>
          </a:p>
          <a:p>
            <a:pPr lvl="1"/>
            <a:r>
              <a:rPr lang="ru-RU" dirty="0"/>
              <a:t>Отсутствие синхронизации</a:t>
            </a:r>
          </a:p>
        </p:txBody>
      </p:sp>
    </p:spTree>
    <p:extLst>
      <p:ext uri="{BB962C8B-B14F-4D97-AF65-F5344CB8AC3E}">
        <p14:creationId xmlns:p14="http://schemas.microsoft.com/office/powerpoint/2010/main" val="105397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02AFA3-BF09-9515-8DB9-FEBA374A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ошибка при освобождении памяти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42148F-5E4E-94A4-634B-A809F7DF219E}"/>
              </a:ext>
            </a:extLst>
          </p:cNvPr>
          <p:cNvSpPr txBox="1"/>
          <p:nvPr/>
        </p:nvSpPr>
        <p:spPr>
          <a:xfrm>
            <a:off x="838200" y="2128058"/>
            <a:ext cx="8305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библиотеке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allocate_array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приложении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allocate_array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Освобождение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другом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пуле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памяти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387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B462-59E9-B189-1AA0-F96931938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Пример: библиотека и приложение используют несовместимые стандартные библиотеки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62274-83CC-E9BB-859B-D8B4E3C8B34A}"/>
              </a:ext>
            </a:extLst>
          </p:cNvPr>
          <p:cNvSpPr txBox="1"/>
          <p:nvPr/>
        </p:nvSpPr>
        <p:spPr>
          <a:xfrm>
            <a:off x="838200" y="2011680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библиотеке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assert(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(std::string) == 24);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приложении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  assert(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(std::string) == 32);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::string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вызван деструктор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есовместимой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Runtime-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библиотеки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1600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7E5A-F222-B990-11AF-690C6312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для безопасной работы с динамическими библиотеками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2D6D3-360B-4268-A007-BC036F44D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Не используйте динамическое управление памятью на границе библиотек</a:t>
            </a:r>
          </a:p>
          <a:p>
            <a:pPr lvl="1"/>
            <a:r>
              <a:rPr lang="ru-RU" dirty="0"/>
              <a:t>Правильно: передавайте и возвращайте только простые типы данных</a:t>
            </a:r>
          </a:p>
          <a:p>
            <a:pPr lvl="1"/>
            <a:r>
              <a:rPr lang="ru-RU" dirty="0"/>
              <a:t>Неправильно: возвращать и принимать сложные объекты или структуры с динамической памятью</a:t>
            </a:r>
          </a:p>
          <a:p>
            <a:r>
              <a:rPr lang="ru-RU" dirty="0"/>
              <a:t>Используйте симметриченые операции выделения и освобождения</a:t>
            </a:r>
          </a:p>
          <a:p>
            <a:pPr lvl="1"/>
            <a:r>
              <a:rPr lang="ru-RU" dirty="0"/>
              <a:t>Если библиотека выделяет память, она же должна предоставлять функции для ее освобождения</a:t>
            </a:r>
          </a:p>
          <a:p>
            <a:r>
              <a:rPr lang="ru-RU" dirty="0"/>
              <a:t>Динамические библиотеки дают гибкость и эффективность,</a:t>
            </a:r>
            <a:br>
              <a:rPr lang="ru-RU" dirty="0"/>
            </a:br>
            <a:r>
              <a:rPr lang="ru-RU" dirty="0"/>
              <a:t>но требуют строгой дисциплины на границе между модулями.</a:t>
            </a:r>
          </a:p>
        </p:txBody>
      </p:sp>
    </p:spTree>
    <p:extLst>
      <p:ext uri="{BB962C8B-B14F-4D97-AF65-F5344CB8AC3E}">
        <p14:creationId xmlns:p14="http://schemas.microsoft.com/office/powerpoint/2010/main" val="142177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8BA64-C749-C0E9-BADD-2D308041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Симметричное управление памятью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7B405-0B3F-C106-16C3-8134C0F4F8CB}"/>
              </a:ext>
            </a:extLst>
          </p:cNvPr>
          <p:cNvSpPr txBox="1"/>
          <p:nvPr/>
        </p:nvSpPr>
        <p:spPr>
          <a:xfrm>
            <a:off x="838200" y="1828800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библиотеке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AllocateMemory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FreeMemory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приложении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AllocateMemory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память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Освобождаем память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FreeMemory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091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D1B4-5A29-D6BE-68DC-06D30FB8B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для безопасной работы с динамическими библиотеками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CAE67-850A-7B09-4CFC-0687F25B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Используйте общий </a:t>
            </a:r>
            <a:r>
              <a:rPr lang="en-US" dirty="0"/>
              <a:t>runtime</a:t>
            </a:r>
            <a:r>
              <a:rPr lang="ru-RU" dirty="0"/>
              <a:t> для приложения и библиотеки</a:t>
            </a:r>
          </a:p>
          <a:p>
            <a:pPr lvl="1"/>
            <a:r>
              <a:rPr lang="ru-RU" dirty="0"/>
              <a:t>Одна и та же версия компилятора</a:t>
            </a:r>
          </a:p>
          <a:p>
            <a:pPr lvl="1"/>
            <a:r>
              <a:rPr lang="ru-RU" dirty="0"/>
              <a:t>Одни и те же настройки компиляции (например, </a:t>
            </a:r>
            <a:r>
              <a:rPr lang="en-US" dirty="0"/>
              <a:t>Debug</a:t>
            </a:r>
            <a:r>
              <a:rPr lang="ru-RU" dirty="0"/>
              <a:t>)</a:t>
            </a:r>
          </a:p>
          <a:p>
            <a:r>
              <a:rPr lang="ru-RU" dirty="0"/>
              <a:t>Используйте обёртки для передачи сложных объектов</a:t>
            </a:r>
          </a:p>
          <a:p>
            <a:pPr lvl="1"/>
            <a:r>
              <a:rPr lang="ru-RU" dirty="0"/>
              <a:t>Сериализуют сложный объект в простые форматы на передающей стороне</a:t>
            </a:r>
          </a:p>
          <a:p>
            <a:pPr lvl="1"/>
            <a:r>
              <a:rPr lang="ru-RU" dirty="0"/>
              <a:t>Десериализуют сложный объект на принимающей стороне</a:t>
            </a:r>
          </a:p>
          <a:p>
            <a:r>
              <a:rPr lang="ru-RU" dirty="0"/>
              <a:t>Используйте стабильные </a:t>
            </a:r>
            <a:r>
              <a:rPr lang="en-US" dirty="0"/>
              <a:t>ABI</a:t>
            </a:r>
          </a:p>
          <a:p>
            <a:pPr lvl="1"/>
            <a:r>
              <a:rPr lang="ru-RU" dirty="0"/>
              <a:t>Используйте </a:t>
            </a:r>
            <a:r>
              <a:rPr lang="en-US" dirty="0"/>
              <a:t>C API</a:t>
            </a:r>
            <a:r>
              <a:rPr lang="ru-RU" dirty="0"/>
              <a:t>, чтобы избежать проблем с </a:t>
            </a:r>
            <a:r>
              <a:rPr lang="en-US" dirty="0"/>
              <a:t>mangling </a:t>
            </a:r>
            <a:r>
              <a:rPr lang="ru-RU" dirty="0"/>
              <a:t>и несовместимостью </a:t>
            </a:r>
            <a:r>
              <a:rPr lang="en-US" dirty="0"/>
              <a:t>ABI</a:t>
            </a:r>
          </a:p>
          <a:p>
            <a:r>
              <a:rPr lang="ru-RU" dirty="0"/>
              <a:t>Используйте совместимые аллокаторы</a:t>
            </a:r>
          </a:p>
          <a:p>
            <a:pPr lvl="1"/>
            <a:r>
              <a:rPr lang="ru-RU" dirty="0"/>
              <a:t>Приложения и библиотека могут использовать общий аллокатор со стабильным </a:t>
            </a:r>
            <a:r>
              <a:rPr lang="en-US" dirty="0"/>
              <a:t>ABI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22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AA51-7AE1-5320-1C70-42F5C164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Обмен сложными объектами – 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A228B-669C-705D-D62A-729C45E38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передавайте объекты, управляющие динамической памятью</a:t>
            </a:r>
          </a:p>
          <a:p>
            <a:r>
              <a:rPr lang="ru-RU" dirty="0"/>
              <a:t>Делайте библиотеку полностью ответственной за выделение и освобождение памяти</a:t>
            </a:r>
          </a:p>
          <a:p>
            <a:r>
              <a:rPr lang="ru-RU" dirty="0"/>
              <a:t>Следите за совместимостью версий компиляторов, стандартных библиотек и настроек при сборке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7C0801-1107-B636-DCDE-ABAC30B7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DLL Hell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3DC3F-1C35-5577-3519-0E4387407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04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ADB487-1B80-42F6-3747-F3F92395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DLL Hell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2A92CA-C609-4120-45BC-7B3789670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Проблема, возникавшая при управлении динамическими библиотеками в </a:t>
            </a:r>
            <a:r>
              <a:rPr lang="en-US" dirty="0"/>
              <a:t>Windows </a:t>
            </a:r>
            <a:r>
              <a:rPr lang="ru-RU" dirty="0"/>
              <a:t>в 90-х и начале 2000-х годов</a:t>
            </a:r>
          </a:p>
          <a:p>
            <a:r>
              <a:rPr lang="ru-RU" dirty="0"/>
              <a:t>Причины:</a:t>
            </a:r>
          </a:p>
          <a:p>
            <a:pPr lvl="1"/>
            <a:r>
              <a:rPr lang="ru-RU" dirty="0"/>
              <a:t>Конфликт версий библиотек</a:t>
            </a:r>
          </a:p>
          <a:p>
            <a:pPr lvl="1"/>
            <a:r>
              <a:rPr lang="ru-RU" dirty="0"/>
              <a:t>Перезапись файлов</a:t>
            </a:r>
          </a:p>
          <a:p>
            <a:pPr lvl="1"/>
            <a:r>
              <a:rPr lang="ru-RU" dirty="0"/>
              <a:t>Отсутствие нужной версии библиотеки</a:t>
            </a:r>
          </a:p>
          <a:p>
            <a:pPr lvl="1"/>
            <a:r>
              <a:rPr lang="ru-RU" dirty="0"/>
              <a:t>Отсутствие изоляции библиотек</a:t>
            </a:r>
          </a:p>
          <a:p>
            <a:pPr lvl="1"/>
            <a:r>
              <a:rPr lang="ru-RU" dirty="0"/>
              <a:t>Различия между средой разработки и средой клиента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591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78F6-C5C7-C540-95F1-8B32C28FE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Решения проблемы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6595-2CD5-0F8C-3B89-DEFF42959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Введение версий </a:t>
            </a:r>
            <a:r>
              <a:rPr lang="en-US" dirty="0"/>
              <a:t>DLL</a:t>
            </a:r>
            <a:endParaRPr lang="ru-RU" dirty="0"/>
          </a:p>
          <a:p>
            <a:pPr lvl="1"/>
            <a:r>
              <a:rPr lang="ru-RU" dirty="0"/>
              <a:t>Библиотеки явно указывают версию</a:t>
            </a:r>
            <a:endParaRPr lang="en-US" dirty="0"/>
          </a:p>
          <a:p>
            <a:r>
              <a:rPr lang="en-US" dirty="0">
                <a:hlinkClick r:id="rId3"/>
              </a:rPr>
              <a:t>Side-by-Side </a:t>
            </a:r>
            <a:r>
              <a:rPr lang="ru-RU" dirty="0">
                <a:hlinkClick r:id="rId3"/>
              </a:rPr>
              <a:t>загрузка (</a:t>
            </a:r>
            <a:r>
              <a:rPr lang="en-US" dirty="0" err="1">
                <a:hlinkClick r:id="rId3"/>
              </a:rPr>
              <a:t>SxS</a:t>
            </a:r>
            <a:r>
              <a:rPr lang="en-US" dirty="0">
                <a:hlinkClick r:id="rId3"/>
              </a:rPr>
              <a:t>)</a:t>
            </a:r>
            <a:endParaRPr lang="ru-RU" dirty="0"/>
          </a:p>
          <a:p>
            <a:pPr lvl="1"/>
            <a:r>
              <a:rPr lang="ru-RU" dirty="0"/>
              <a:t>Приложение указывает через манифест, какая версия </a:t>
            </a:r>
            <a:r>
              <a:rPr lang="en-US" dirty="0"/>
              <a:t>DLL </a:t>
            </a:r>
            <a:r>
              <a:rPr lang="ru-RU" dirty="0"/>
              <a:t>ему нужна</a:t>
            </a:r>
            <a:endParaRPr lang="en-US" dirty="0"/>
          </a:p>
          <a:p>
            <a:r>
              <a:rPr lang="ru-RU" dirty="0"/>
              <a:t>Установка библиотек в директории приложения</a:t>
            </a:r>
          </a:p>
          <a:p>
            <a:r>
              <a:rPr lang="ru-RU" dirty="0"/>
              <a:t>Технология </a:t>
            </a:r>
            <a:r>
              <a:rPr lang="en-US" dirty="0"/>
              <a:t>.NET</a:t>
            </a:r>
          </a:p>
          <a:p>
            <a:pPr lvl="1"/>
            <a:r>
              <a:rPr lang="ru-RU" dirty="0"/>
              <a:t>Управление зависимостями и версиями встроено в платформу</a:t>
            </a:r>
          </a:p>
          <a:p>
            <a:r>
              <a:rPr lang="ru-RU" dirty="0"/>
              <a:t>Статическая компоновка</a:t>
            </a:r>
          </a:p>
        </p:txBody>
      </p:sp>
    </p:spTree>
    <p:extLst>
      <p:ext uri="{BB962C8B-B14F-4D97-AF65-F5344CB8AC3E}">
        <p14:creationId xmlns:p14="http://schemas.microsoft.com/office/powerpoint/2010/main" val="3564373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D65F-526F-31AE-CA04-A04A4587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Hell </a:t>
            </a:r>
            <a:r>
              <a:rPr lang="ru-RU" dirty="0"/>
              <a:t>в </a:t>
            </a:r>
            <a:r>
              <a:rPr lang="en-US" dirty="0"/>
              <a:t>Linux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44DFB-2467-B411-38EC-0E1E5299B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99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E7CD19-A6A4-2896-6E8C-42EC87BDA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Проявления </a:t>
            </a:r>
            <a:r>
              <a:rPr lang="en-US" dirty="0"/>
              <a:t>Dependency Hell </a:t>
            </a:r>
            <a:r>
              <a:rPr lang="ru-RU" dirty="0"/>
              <a:t>в</a:t>
            </a:r>
            <a:r>
              <a:rPr lang="en-US" dirty="0"/>
              <a:t> Linux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4DBF8-9C4C-9211-32F3-3FE8F024C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Конфликты версий библиотек</a:t>
            </a:r>
          </a:p>
          <a:p>
            <a:r>
              <a:rPr lang="ru-RU" dirty="0"/>
              <a:t>Отсутствии изоляции библиотек</a:t>
            </a:r>
          </a:p>
          <a:p>
            <a:r>
              <a:rPr lang="ru-RU" dirty="0"/>
              <a:t>Невозможность совместного использования разных версий</a:t>
            </a:r>
          </a:p>
          <a:p>
            <a:r>
              <a:rPr lang="ru-RU" dirty="0"/>
              <a:t>Сложные цепочки зависимостей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011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BC22-EECF-A7D2-31C1-A60F38EF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Решения </a:t>
            </a:r>
            <a:r>
              <a:rPr lang="en-US" dirty="0"/>
              <a:t>Dependency 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BEFC5-25F5-0560-4D9B-ACE3201C2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Менеджеры пакетов</a:t>
            </a:r>
          </a:p>
          <a:p>
            <a:r>
              <a:rPr lang="ru-RU" dirty="0"/>
              <a:t>Системы управления версиями библиотек</a:t>
            </a:r>
          </a:p>
          <a:p>
            <a:r>
              <a:rPr lang="ru-RU" dirty="0"/>
              <a:t>Изоляция приложений</a:t>
            </a:r>
          </a:p>
          <a:p>
            <a:r>
              <a:rPr lang="ru-RU" dirty="0"/>
              <a:t>Символические ссылки</a:t>
            </a:r>
          </a:p>
          <a:p>
            <a:r>
              <a:rPr lang="ru-RU" dirty="0"/>
              <a:t>Переменная окружения </a:t>
            </a:r>
            <a:r>
              <a:rPr lang="en-US" dirty="0"/>
              <a:t>LD_LIBRARY_PATH</a:t>
            </a:r>
            <a:endParaRPr lang="ru-RU" dirty="0"/>
          </a:p>
          <a:p>
            <a:r>
              <a:rPr lang="ru-RU" dirty="0"/>
              <a:t>Информация об используемых библиотеках с указанием версий в исполняемых </a:t>
            </a:r>
            <a:r>
              <a:rPr lang="en-US" dirty="0"/>
              <a:t>ELF-</a:t>
            </a:r>
            <a:r>
              <a:rPr lang="ru-RU" dirty="0"/>
              <a:t>файлах</a:t>
            </a:r>
          </a:p>
          <a:p>
            <a:r>
              <a:rPr lang="ru-RU" dirty="0"/>
              <a:t>Статическая компоновка библиотек</a:t>
            </a:r>
          </a:p>
          <a:p>
            <a:r>
              <a:rPr lang="ru-RU" dirty="0"/>
              <a:t>Контейнеризация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2464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6ADAE-121C-C289-3499-313D69A4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Утилита </a:t>
            </a:r>
            <a:r>
              <a:rPr lang="en-US" dirty="0"/>
              <a:t>Process Explorer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1E6D6F-4369-D0F4-F531-57A8A7736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16739" y="1825625"/>
            <a:ext cx="5758521" cy="4351338"/>
          </a:xfrm>
        </p:spPr>
      </p:pic>
    </p:spTree>
    <p:extLst>
      <p:ext uri="{BB962C8B-B14F-4D97-AF65-F5344CB8AC3E}">
        <p14:creationId xmlns:p14="http://schemas.microsoft.com/office/powerpoint/2010/main" val="512933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C06B-C314-F915-461F-696D0481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для работы с динамическими библиотеками в </a:t>
            </a:r>
            <a:r>
              <a:rPr lang="en-US" dirty="0"/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E41EB-BF86-9265-B247-6F69042BB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 err="1"/>
              <a:t>ldd</a:t>
            </a:r>
            <a:r>
              <a:rPr lang="ru-RU" dirty="0"/>
              <a:t> — просмотр динамических зависимостей исполняемого файла</a:t>
            </a:r>
          </a:p>
          <a:p>
            <a:r>
              <a:rPr lang="ru-RU" b="1" dirty="0" err="1"/>
              <a:t>readelf</a:t>
            </a:r>
            <a:r>
              <a:rPr lang="ru-RU" b="1" dirty="0"/>
              <a:t> / </a:t>
            </a:r>
            <a:r>
              <a:rPr lang="ru-RU" b="1" dirty="0" err="1"/>
              <a:t>objdump</a:t>
            </a:r>
            <a:r>
              <a:rPr lang="ru-RU" dirty="0"/>
              <a:t> — анализ ELF-файлов и информации о библиотеках</a:t>
            </a:r>
          </a:p>
          <a:p>
            <a:r>
              <a:rPr lang="ru-RU" b="1" dirty="0"/>
              <a:t>ld.so / </a:t>
            </a:r>
            <a:r>
              <a:rPr lang="ru-RU" b="1" dirty="0" err="1"/>
              <a:t>ld-linux</a:t>
            </a:r>
            <a:r>
              <a:rPr lang="ru-RU" dirty="0"/>
              <a:t> — динамический загрузчик (отладка через переменные окружения)</a:t>
            </a:r>
          </a:p>
          <a:p>
            <a:r>
              <a:rPr lang="ru-RU" b="1" dirty="0" err="1"/>
              <a:t>lsof</a:t>
            </a:r>
            <a:r>
              <a:rPr lang="ru-RU" dirty="0"/>
              <a:t> — список открытых файлов и загруженных библиотек процесса</a:t>
            </a:r>
          </a:p>
          <a:p>
            <a:r>
              <a:rPr lang="ru-RU" b="1" dirty="0"/>
              <a:t>/</a:t>
            </a:r>
            <a:r>
              <a:rPr lang="ru-RU" b="1" dirty="0" err="1"/>
              <a:t>proc</a:t>
            </a:r>
            <a:r>
              <a:rPr lang="ru-RU" b="1" dirty="0"/>
              <a:t>/&lt;</a:t>
            </a:r>
            <a:r>
              <a:rPr lang="ru-RU" b="1" dirty="0" err="1"/>
              <a:t>pid</a:t>
            </a:r>
            <a:r>
              <a:rPr lang="ru-RU" b="1" dirty="0"/>
              <a:t>&gt;/</a:t>
            </a:r>
            <a:r>
              <a:rPr lang="ru-RU" b="1" dirty="0" err="1"/>
              <a:t>maps</a:t>
            </a:r>
            <a:r>
              <a:rPr lang="ru-RU" dirty="0"/>
              <a:t> — отображение памяти процесса</a:t>
            </a:r>
          </a:p>
          <a:p>
            <a:r>
              <a:rPr lang="ru-RU" b="1" dirty="0" err="1"/>
              <a:t>strace</a:t>
            </a:r>
            <a:r>
              <a:rPr lang="ru-RU" b="1" dirty="0"/>
              <a:t> / </a:t>
            </a:r>
            <a:r>
              <a:rPr lang="ru-RU" b="1" dirty="0" err="1"/>
              <a:t>ltrace</a:t>
            </a:r>
            <a:r>
              <a:rPr lang="ru-RU" dirty="0"/>
              <a:t> — трассировка системных и библиотечных вызовов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42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EFB0F8-E930-EF03-D8CC-D6D13EAE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30CA1-DDA8-14C6-5586-D6CC9F42C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941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ED4D-49DF-22F0-2496-39B1F65B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FF20D-AC56-A598-AD60-7CBCE08F7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Утилита </a:t>
            </a:r>
            <a:r>
              <a:rPr lang="en-US" dirty="0"/>
              <a:t>Process Explorer</a:t>
            </a:r>
          </a:p>
          <a:p>
            <a:pPr lvl="1"/>
            <a:r>
              <a:rPr lang="en-US" dirty="0">
                <a:hlinkClick r:id="rId2"/>
              </a:rPr>
              <a:t>https://learn.microsoft.com/en-us/sysinternals/downloads/process-explorer</a:t>
            </a:r>
            <a:endParaRPr lang="en-US" dirty="0"/>
          </a:p>
          <a:p>
            <a:r>
              <a:rPr lang="ru-RU" dirty="0"/>
              <a:t>Утилита </a:t>
            </a:r>
            <a:r>
              <a:rPr lang="en-US" dirty="0"/>
              <a:t>Process Monitor</a:t>
            </a:r>
            <a:endParaRPr lang="ru-RU" dirty="0"/>
          </a:p>
          <a:p>
            <a:pPr lvl="1"/>
            <a:r>
              <a:rPr lang="en-US" dirty="0">
                <a:hlinkClick r:id="rId3"/>
              </a:rPr>
              <a:t>https://learn.microsoft.com/en-us/sysinternals/downloads/procmon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449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3131</TotalTime>
  <Words>12912</Words>
  <Application>Microsoft Office PowerPoint</Application>
  <PresentationFormat>Widescreen</PresentationFormat>
  <Paragraphs>1107</Paragraphs>
  <Slides>47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Consolas</vt:lpstr>
      <vt:lpstr>Office Theme</vt:lpstr>
      <vt:lpstr>Динамические библиотеки</vt:lpstr>
      <vt:lpstr>Сборка приложения</vt:lpstr>
      <vt:lpstr>Библиотеки</vt:lpstr>
      <vt:lpstr>Статические библиотеки</vt:lpstr>
      <vt:lpstr>Компоновка со статической библиотекой</vt:lpstr>
      <vt:lpstr>Динамические библиотеки</vt:lpstr>
      <vt:lpstr>Глоссарий</vt:lpstr>
      <vt:lpstr>Достоинства и недостатки динамических библиотек</vt:lpstr>
      <vt:lpstr>Роль динамических библиотек в ОС</vt:lpstr>
      <vt:lpstr>Компоновка с динамической библиотекой</vt:lpstr>
      <vt:lpstr>Заполнение таблицы импорта</vt:lpstr>
      <vt:lpstr>Загрузка динамических библиотек</vt:lpstr>
      <vt:lpstr>Загрузка приложения и динамических библиотек в адресное пространствопроцесса</vt:lpstr>
      <vt:lpstr>Релокация динамических библиотек</vt:lpstr>
      <vt:lpstr>Этапы релокации</vt:lpstr>
      <vt:lpstr>Совместное использование физической памяти</vt:lpstr>
      <vt:lpstr>Релокация динамических библиотек</vt:lpstr>
      <vt:lpstr>Position-Independent Code (PIC)</vt:lpstr>
      <vt:lpstr>Кодировка инструкции CALL  процессора x86 и совместимость с PIC</vt:lpstr>
      <vt:lpstr>ASLR (Address Space Layout Randomization)</vt:lpstr>
      <vt:lpstr>ROP (Return-Oriented-Programming)</vt:lpstr>
      <vt:lpstr>Загрузка динамических библиотек по требованию</vt:lpstr>
      <vt:lpstr>Поиск и вызов функции из DLL</vt:lpstr>
      <vt:lpstr>Поиск и вызов функции под Linux</vt:lpstr>
      <vt:lpstr>Декорирование имён</vt:lpstr>
      <vt:lpstr>Декорирование имён (name mangling)</vt:lpstr>
      <vt:lpstr>Декорирование имён в динамических библиотеках</vt:lpstr>
      <vt:lpstr>Выход: отключить декорирование имён</vt:lpstr>
      <vt:lpstr>Отключаем декорирование имён</vt:lpstr>
      <vt:lpstr>Передача и возврат сложных объектов</vt:lpstr>
      <vt:lpstr>Особенности обмена сложными типами между приложением и DLL</vt:lpstr>
      <vt:lpstr>Пример: ошибка при освобождении памяти</vt:lpstr>
      <vt:lpstr>Пример: библиотека и приложение используют несовместимые стандартные библиотеки</vt:lpstr>
      <vt:lpstr>Рекомендации для безопасной работы с динамическими библиотеками</vt:lpstr>
      <vt:lpstr>Симметричное управление памятью</vt:lpstr>
      <vt:lpstr>Рекомендации для безопасной работы с динамическими библиотеками</vt:lpstr>
      <vt:lpstr>Обмен сложными объектами – итоги</vt:lpstr>
      <vt:lpstr>DLL Hell</vt:lpstr>
      <vt:lpstr>DLL Hell</vt:lpstr>
      <vt:lpstr>Решения проблемы</vt:lpstr>
      <vt:lpstr>Dependency Hell в Linux</vt:lpstr>
      <vt:lpstr>Проявления Dependency Hell в Linux</vt:lpstr>
      <vt:lpstr>Решения Dependency Hell</vt:lpstr>
      <vt:lpstr>Утилита Process Explorer</vt:lpstr>
      <vt:lpstr>Инструменты для работы с динамическими библиотеками в Linux</vt:lpstr>
      <vt:lpstr>Вопросы?</vt:lpstr>
      <vt:lpstr>Ссылки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25</cp:revision>
  <dcterms:created xsi:type="dcterms:W3CDTF">2024-12-19T11:46:53Z</dcterms:created>
  <dcterms:modified xsi:type="dcterms:W3CDTF">2026-01-21T10:03:08Z</dcterms:modified>
</cp:coreProperties>
</file>