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6"/>
  </p:notesMasterIdLst>
  <p:sldIdLst>
    <p:sldId id="256" r:id="rId2"/>
    <p:sldId id="427" r:id="rId3"/>
    <p:sldId id="428" r:id="rId4"/>
    <p:sldId id="342" r:id="rId5"/>
    <p:sldId id="429" r:id="rId6"/>
    <p:sldId id="430" r:id="rId7"/>
    <p:sldId id="431" r:id="rId8"/>
    <p:sldId id="432" r:id="rId9"/>
    <p:sldId id="262" r:id="rId10"/>
    <p:sldId id="433" r:id="rId11"/>
    <p:sldId id="434" r:id="rId12"/>
    <p:sldId id="435" r:id="rId13"/>
    <p:sldId id="436" r:id="rId14"/>
    <p:sldId id="437" r:id="rId15"/>
    <p:sldId id="438" r:id="rId16"/>
    <p:sldId id="439" r:id="rId17"/>
    <p:sldId id="440" r:id="rId18"/>
    <p:sldId id="441" r:id="rId19"/>
    <p:sldId id="442" r:id="rId20"/>
    <p:sldId id="443" r:id="rId21"/>
    <p:sldId id="267" r:id="rId22"/>
    <p:sldId id="444" r:id="rId23"/>
    <p:sldId id="446" r:id="rId24"/>
    <p:sldId id="279" r:id="rId25"/>
    <p:sldId id="447" r:id="rId26"/>
    <p:sldId id="448" r:id="rId27"/>
    <p:sldId id="449" r:id="rId28"/>
    <p:sldId id="450" r:id="rId29"/>
    <p:sldId id="451" r:id="rId30"/>
    <p:sldId id="452" r:id="rId31"/>
    <p:sldId id="453" r:id="rId32"/>
    <p:sldId id="454" r:id="rId33"/>
    <p:sldId id="455" r:id="rId34"/>
    <p:sldId id="456" r:id="rId35"/>
    <p:sldId id="457" r:id="rId36"/>
    <p:sldId id="458" r:id="rId37"/>
    <p:sldId id="459" r:id="rId38"/>
    <p:sldId id="460" r:id="rId39"/>
    <p:sldId id="461" r:id="rId40"/>
    <p:sldId id="462" r:id="rId41"/>
    <p:sldId id="463" r:id="rId42"/>
    <p:sldId id="464" r:id="rId43"/>
    <p:sldId id="465" r:id="rId44"/>
    <p:sldId id="386" r:id="rId45"/>
    <p:sldId id="466" r:id="rId46"/>
    <p:sldId id="467" r:id="rId47"/>
    <p:sldId id="468" r:id="rId48"/>
    <p:sldId id="469" r:id="rId49"/>
    <p:sldId id="470" r:id="rId50"/>
    <p:sldId id="471" r:id="rId51"/>
    <p:sldId id="472" r:id="rId52"/>
    <p:sldId id="473" r:id="rId53"/>
    <p:sldId id="474" r:id="rId54"/>
    <p:sldId id="475" r:id="rId55"/>
    <p:sldId id="476" r:id="rId56"/>
    <p:sldId id="477" r:id="rId57"/>
    <p:sldId id="478" r:id="rId58"/>
    <p:sldId id="479" r:id="rId59"/>
    <p:sldId id="480" r:id="rId60"/>
    <p:sldId id="481" r:id="rId61"/>
    <p:sldId id="482" r:id="rId62"/>
    <p:sldId id="483" r:id="rId63"/>
    <p:sldId id="484" r:id="rId64"/>
    <p:sldId id="485" r:id="rId65"/>
    <p:sldId id="486" r:id="rId66"/>
    <p:sldId id="504" r:id="rId67"/>
    <p:sldId id="488" r:id="rId68"/>
    <p:sldId id="489" r:id="rId69"/>
    <p:sldId id="487" r:id="rId70"/>
    <p:sldId id="490" r:id="rId71"/>
    <p:sldId id="491" r:id="rId72"/>
    <p:sldId id="492" r:id="rId73"/>
    <p:sldId id="493" r:id="rId74"/>
    <p:sldId id="494" r:id="rId75"/>
    <p:sldId id="495" r:id="rId76"/>
    <p:sldId id="496" r:id="rId77"/>
    <p:sldId id="497" r:id="rId78"/>
    <p:sldId id="498" r:id="rId79"/>
    <p:sldId id="499" r:id="rId80"/>
    <p:sldId id="500" r:id="rId81"/>
    <p:sldId id="501" r:id="rId82"/>
    <p:sldId id="502" r:id="rId83"/>
    <p:sldId id="503" r:id="rId84"/>
    <p:sldId id="426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1B180E4-6419-458D-BD4A-9BB9A83D72D8}">
          <p14:sldIdLst>
            <p14:sldId id="256"/>
            <p14:sldId id="427"/>
            <p14:sldId id="428"/>
            <p14:sldId id="342"/>
            <p14:sldId id="429"/>
            <p14:sldId id="430"/>
            <p14:sldId id="431"/>
            <p14:sldId id="432"/>
            <p14:sldId id="262"/>
            <p14:sldId id="433"/>
            <p14:sldId id="434"/>
            <p14:sldId id="435"/>
            <p14:sldId id="436"/>
            <p14:sldId id="437"/>
            <p14:sldId id="438"/>
            <p14:sldId id="439"/>
            <p14:sldId id="440"/>
            <p14:sldId id="441"/>
            <p14:sldId id="442"/>
            <p14:sldId id="443"/>
            <p14:sldId id="267"/>
            <p14:sldId id="444"/>
            <p14:sldId id="446"/>
            <p14:sldId id="279"/>
            <p14:sldId id="447"/>
            <p14:sldId id="448"/>
            <p14:sldId id="449"/>
            <p14:sldId id="450"/>
            <p14:sldId id="451"/>
            <p14:sldId id="452"/>
            <p14:sldId id="453"/>
            <p14:sldId id="454"/>
            <p14:sldId id="455"/>
            <p14:sldId id="456"/>
            <p14:sldId id="457"/>
            <p14:sldId id="458"/>
            <p14:sldId id="459"/>
            <p14:sldId id="460"/>
            <p14:sldId id="461"/>
            <p14:sldId id="462"/>
            <p14:sldId id="463"/>
            <p14:sldId id="464"/>
            <p14:sldId id="465"/>
            <p14:sldId id="386"/>
            <p14:sldId id="466"/>
            <p14:sldId id="467"/>
            <p14:sldId id="468"/>
            <p14:sldId id="469"/>
          </p14:sldIdLst>
        </p14:section>
        <p14:section name="Следующая секция" id="{8FB89AA1-C6BA-451A-B72B-600CC90AB792}">
          <p14:sldIdLst>
            <p14:sldId id="470"/>
            <p14:sldId id="471"/>
            <p14:sldId id="472"/>
            <p14:sldId id="473"/>
            <p14:sldId id="474"/>
            <p14:sldId id="475"/>
            <p14:sldId id="476"/>
            <p14:sldId id="477"/>
            <p14:sldId id="478"/>
            <p14:sldId id="479"/>
            <p14:sldId id="480"/>
            <p14:sldId id="481"/>
            <p14:sldId id="482"/>
            <p14:sldId id="483"/>
            <p14:sldId id="484"/>
            <p14:sldId id="485"/>
            <p14:sldId id="486"/>
            <p14:sldId id="504"/>
            <p14:sldId id="488"/>
            <p14:sldId id="489"/>
            <p14:sldId id="487"/>
            <p14:sldId id="490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1"/>
            <p14:sldId id="502"/>
            <p14:sldId id="503"/>
            <p14:sldId id="42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44" autoAdjust="0"/>
    <p:restoredTop sz="66346" autoAdjust="0"/>
  </p:normalViewPr>
  <p:slideViewPr>
    <p:cSldViewPr snapToGrid="0" showGuides="1">
      <p:cViewPr varScale="1">
        <p:scale>
          <a:sx n="70" d="100"/>
          <a:sy n="70" d="100"/>
        </p:scale>
        <p:origin x="1686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-1524"/>
    </p:cViewPr>
  </p:notesText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691071-D25B-4744-BF82-44569A9EDD08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7D5863-0D15-4019-A889-1D64C284D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5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8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предыдущих</a:t>
            </a:r>
            <a:r>
              <a:rPr lang="en-US" dirty="0"/>
              <a:t> </a:t>
            </a:r>
            <a:r>
              <a:rPr lang="en-US" dirty="0" err="1"/>
              <a:t>лекциях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познакомились</a:t>
            </a:r>
            <a:r>
              <a:rPr lang="en-US" dirty="0"/>
              <a:t> с </a:t>
            </a:r>
            <a:r>
              <a:rPr lang="en-US" dirty="0" err="1"/>
              <a:t>процессами</a:t>
            </a:r>
            <a:r>
              <a:rPr lang="en-US" dirty="0"/>
              <a:t> и </a:t>
            </a:r>
            <a:r>
              <a:rPr lang="en-US" dirty="0" err="1"/>
              <a:t>потоками</a:t>
            </a:r>
            <a:r>
              <a:rPr lang="en-US" dirty="0"/>
              <a:t>.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</a:t>
            </a:r>
            <a:r>
              <a:rPr lang="en-US" dirty="0" err="1"/>
              <a:t>возникают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взаимодействовать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с </a:t>
            </a:r>
            <a:r>
              <a:rPr lang="en-US" dirty="0" err="1"/>
              <a:t>другом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Первая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— </a:t>
            </a:r>
            <a:r>
              <a:rPr lang="en-US" dirty="0" err="1"/>
              <a:t>передача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сети</a:t>
            </a:r>
            <a:r>
              <a:rPr lang="en-US" dirty="0"/>
              <a:t>, а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обрабатывает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.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совместно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с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очередью</a:t>
            </a:r>
            <a:r>
              <a:rPr lang="en-US" dirty="0"/>
              <a:t> </a:t>
            </a:r>
            <a:r>
              <a:rPr lang="en-US" dirty="0" err="1"/>
              <a:t>заданий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Вторая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— </a:t>
            </a:r>
            <a:r>
              <a:rPr lang="en-US" dirty="0" err="1"/>
              <a:t>взаимное</a:t>
            </a:r>
            <a:r>
              <a:rPr lang="en-US" dirty="0"/>
              <a:t> </a:t>
            </a:r>
            <a:r>
              <a:rPr lang="en-US" dirty="0" err="1"/>
              <a:t>исключение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изменяют</a:t>
            </a:r>
            <a:r>
              <a:rPr lang="en-US" dirty="0"/>
              <a:t> </a:t>
            </a:r>
            <a:r>
              <a:rPr lang="en-US" dirty="0" err="1"/>
              <a:t>общие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предотвратить</a:t>
            </a:r>
            <a:r>
              <a:rPr lang="en-US" dirty="0"/>
              <a:t> </a:t>
            </a:r>
            <a:r>
              <a:rPr lang="en-US" dirty="0" err="1"/>
              <a:t>конфликты</a:t>
            </a:r>
            <a:r>
              <a:rPr lang="en-US" dirty="0"/>
              <a:t>. </a:t>
            </a:r>
            <a:r>
              <a:rPr lang="en-US" dirty="0" err="1"/>
              <a:t>Иначе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мешать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другу</a:t>
            </a:r>
            <a:r>
              <a:rPr lang="en-US" dirty="0"/>
              <a:t> и </a:t>
            </a:r>
            <a:r>
              <a:rPr lang="en-US" dirty="0" err="1"/>
              <a:t>повреждать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Третья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— </a:t>
            </a:r>
            <a:r>
              <a:rPr lang="en-US" dirty="0" err="1"/>
              <a:t>координация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 </a:t>
            </a:r>
            <a:r>
              <a:rPr lang="en-US" dirty="0" err="1"/>
              <a:t>Представьте</a:t>
            </a:r>
            <a:r>
              <a:rPr lang="en-US" dirty="0"/>
              <a:t> </a:t>
            </a:r>
            <a:r>
              <a:rPr lang="en-US" dirty="0" err="1"/>
              <a:t>производителя</a:t>
            </a:r>
            <a:r>
              <a:rPr lang="en-US" dirty="0"/>
              <a:t> и </a:t>
            </a:r>
            <a:r>
              <a:rPr lang="en-US" dirty="0" err="1"/>
              <a:t>потребителя</a:t>
            </a:r>
            <a:r>
              <a:rPr lang="en-US" dirty="0"/>
              <a:t>. </a:t>
            </a:r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забирать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пустой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дождаться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производитель</a:t>
            </a:r>
            <a:r>
              <a:rPr lang="en-US" dirty="0"/>
              <a:t> </a:t>
            </a:r>
            <a:r>
              <a:rPr lang="en-US" dirty="0" err="1"/>
              <a:t>добавит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Потоки</a:t>
            </a:r>
            <a:r>
              <a:rPr lang="en-US" dirty="0"/>
              <a:t> и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решают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по-разному</a:t>
            </a:r>
            <a:r>
              <a:rPr lang="en-US" dirty="0"/>
              <a:t>.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обмениваться</a:t>
            </a:r>
            <a:r>
              <a:rPr lang="en-US" dirty="0"/>
              <a:t> </a:t>
            </a:r>
            <a:r>
              <a:rPr lang="en-US" dirty="0" err="1"/>
              <a:t>данными</a:t>
            </a:r>
            <a:r>
              <a:rPr lang="en-US" dirty="0"/>
              <a:t> </a:t>
            </a:r>
            <a:r>
              <a:rPr lang="en-US" dirty="0" err="1"/>
              <a:t>им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риск</a:t>
            </a:r>
            <a:r>
              <a:rPr lang="en-US" dirty="0"/>
              <a:t> </a:t>
            </a:r>
            <a:r>
              <a:rPr lang="en-US" dirty="0" err="1"/>
              <a:t>гонок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У </a:t>
            </a:r>
            <a:r>
              <a:rPr lang="en-US" dirty="0" err="1"/>
              <a:t>процессов</a:t>
            </a:r>
            <a:r>
              <a:rPr lang="en-US" dirty="0"/>
              <a:t> </a:t>
            </a:r>
            <a:r>
              <a:rPr lang="en-US" dirty="0" err="1"/>
              <a:t>адресные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 </a:t>
            </a:r>
            <a:r>
              <a:rPr lang="en-US" dirty="0" err="1"/>
              <a:t>изолированы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обмена</a:t>
            </a:r>
            <a:r>
              <a:rPr lang="en-US" dirty="0"/>
              <a:t> </a:t>
            </a:r>
            <a:r>
              <a:rPr lang="en-US" dirty="0" err="1"/>
              <a:t>информацией</a:t>
            </a:r>
            <a:r>
              <a:rPr lang="en-US" dirty="0"/>
              <a:t> </a:t>
            </a:r>
            <a:r>
              <a:rPr lang="en-US" dirty="0" err="1"/>
              <a:t>им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специальные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межпроцессного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— IPC.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каналы</a:t>
            </a:r>
            <a:r>
              <a:rPr lang="en-US" dirty="0"/>
              <a:t>, </a:t>
            </a:r>
            <a:r>
              <a:rPr lang="en-US" dirty="0" err="1"/>
              <a:t>сокеты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разделяемая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разберём</a:t>
            </a:r>
            <a:r>
              <a:rPr lang="en-US" dirty="0"/>
              <a:t> </a:t>
            </a:r>
            <a:r>
              <a:rPr lang="en-US" dirty="0" err="1"/>
              <a:t>синхронизацию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идеи</a:t>
            </a:r>
            <a:r>
              <a:rPr lang="en-US" dirty="0"/>
              <a:t> </a:t>
            </a:r>
            <a:r>
              <a:rPr lang="en-US" dirty="0" err="1"/>
              <a:t>применяются</a:t>
            </a:r>
            <a:r>
              <a:rPr lang="en-US" dirty="0"/>
              <a:t> к </a:t>
            </a:r>
            <a:r>
              <a:rPr lang="en-US" dirty="0" err="1"/>
              <a:t>процессам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786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простую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.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общая</a:t>
            </a:r>
            <a:r>
              <a:rPr lang="en-US" dirty="0"/>
              <a:t> </a:t>
            </a:r>
            <a:r>
              <a:rPr lang="en-US" dirty="0" err="1"/>
              <a:t>переменная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</a:t>
            </a:r>
            <a:r>
              <a:rPr lang="en-US" dirty="0"/>
              <a:t>,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нулю</a:t>
            </a:r>
            <a:r>
              <a:rPr lang="en-US" dirty="0"/>
              <a:t>.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пытаются</a:t>
            </a:r>
            <a:r>
              <a:rPr lang="en-US" dirty="0"/>
              <a:t> </a:t>
            </a:r>
            <a:r>
              <a:rPr lang="en-US" dirty="0" err="1"/>
              <a:t>увеличить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единицу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Интуитивно</a:t>
            </a:r>
            <a:r>
              <a:rPr lang="en-US" dirty="0"/>
              <a:t> </a:t>
            </a:r>
            <a:r>
              <a:rPr lang="en-US" dirty="0" err="1"/>
              <a:t>ожидается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равен</a:t>
            </a:r>
            <a:r>
              <a:rPr lang="en-US" dirty="0"/>
              <a:t> </a:t>
            </a:r>
            <a:r>
              <a:rPr lang="en-US" dirty="0" err="1"/>
              <a:t>двум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++counter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включать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: </a:t>
            </a:r>
            <a:r>
              <a:rPr lang="en-US" dirty="0" err="1"/>
              <a:t>чтение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увеличение</a:t>
            </a:r>
            <a:r>
              <a:rPr lang="en-US" dirty="0"/>
              <a:t> и </a:t>
            </a:r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результата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прочитал</a:t>
            </a:r>
            <a:r>
              <a:rPr lang="en-US" dirty="0"/>
              <a:t> </a:t>
            </a:r>
            <a:r>
              <a:rPr lang="en-US" dirty="0" err="1"/>
              <a:t>ноль</a:t>
            </a:r>
            <a:r>
              <a:rPr lang="en-US" dirty="0"/>
              <a:t>.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прочитал</a:t>
            </a:r>
            <a:r>
              <a:rPr lang="en-US" dirty="0"/>
              <a:t> </a:t>
            </a:r>
            <a:r>
              <a:rPr lang="en-US" dirty="0" err="1"/>
              <a:t>ноль</a:t>
            </a:r>
            <a:r>
              <a:rPr lang="en-US" dirty="0"/>
              <a:t>.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увеличили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единицы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записали</a:t>
            </a:r>
            <a:r>
              <a:rPr lang="en-US" dirty="0"/>
              <a:t> </a:t>
            </a:r>
            <a:r>
              <a:rPr lang="en-US" dirty="0" err="1"/>
              <a:t>единицу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 в </a:t>
            </a:r>
            <a:r>
              <a:rPr lang="en-US" dirty="0" err="1"/>
              <a:t>память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Получилось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выполнили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инкремента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увеличился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.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обновление</a:t>
            </a:r>
            <a:r>
              <a:rPr lang="en-US" dirty="0"/>
              <a:t> </a:t>
            </a:r>
            <a:r>
              <a:rPr lang="en-US" dirty="0" err="1"/>
              <a:t>оказалось</a:t>
            </a:r>
            <a:r>
              <a:rPr lang="en-US" dirty="0"/>
              <a:t> </a:t>
            </a:r>
            <a:r>
              <a:rPr lang="en-US" dirty="0" err="1"/>
              <a:t>потеряно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</a:t>
            </a:r>
            <a:r>
              <a:rPr lang="en-US" dirty="0" err="1"/>
              <a:t>состоянием</a:t>
            </a:r>
            <a:r>
              <a:rPr lang="en-US" dirty="0"/>
              <a:t> </a:t>
            </a:r>
            <a:r>
              <a:rPr lang="en-US" dirty="0" err="1"/>
              <a:t>гонки</a:t>
            </a:r>
            <a:r>
              <a:rPr lang="en-US" dirty="0"/>
              <a:t> — race condition.</a:t>
            </a:r>
          </a:p>
          <a:p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неприятно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ошибка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порядка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запуске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правильно</a:t>
            </a:r>
            <a:r>
              <a:rPr lang="en-US" dirty="0"/>
              <a:t>, а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другом</a:t>
            </a:r>
            <a:r>
              <a:rPr lang="en-US" dirty="0"/>
              <a:t> — </a:t>
            </a:r>
            <a:r>
              <a:rPr lang="en-US" dirty="0" err="1"/>
              <a:t>нет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различать</a:t>
            </a:r>
            <a:r>
              <a:rPr lang="en-US" dirty="0"/>
              <a:t> </a:t>
            </a:r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понятие</a:t>
            </a:r>
            <a:r>
              <a:rPr lang="en-US" dirty="0"/>
              <a:t> race condition и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узкий</a:t>
            </a:r>
            <a:r>
              <a:rPr lang="en-US" dirty="0"/>
              <a:t> </a:t>
            </a:r>
            <a:r>
              <a:rPr lang="en-US" dirty="0" err="1"/>
              <a:t>термин</a:t>
            </a:r>
            <a:r>
              <a:rPr lang="en-US" dirty="0"/>
              <a:t> data race в C++.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обращаются</a:t>
            </a:r>
            <a:r>
              <a:rPr lang="en-US" dirty="0"/>
              <a:t> к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необходимой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и </a:t>
            </a:r>
            <a:r>
              <a:rPr lang="en-US" dirty="0" err="1"/>
              <a:t>хотя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,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гонка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dirty="0" err="1"/>
              <a:t>неатомарных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гонка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неопределённому</a:t>
            </a:r>
            <a:r>
              <a:rPr lang="en-US" dirty="0"/>
              <a:t> </a:t>
            </a:r>
            <a:r>
              <a:rPr lang="en-US" dirty="0" err="1"/>
              <a:t>поведению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51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гонки</a:t>
            </a:r>
            <a:r>
              <a:rPr lang="en-US" dirty="0"/>
              <a:t> </a:t>
            </a:r>
            <a:r>
              <a:rPr lang="en-US" dirty="0" err="1"/>
              <a:t>проявляется</a:t>
            </a:r>
            <a:r>
              <a:rPr lang="en-US" dirty="0"/>
              <a:t> в </a:t>
            </a:r>
            <a:r>
              <a:rPr lang="en-US" dirty="0" err="1"/>
              <a:t>настоящей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C++.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.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ru-RU" dirty="0"/>
              <a:t>миллиард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увеличивает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,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ru-RU" dirty="0"/>
              <a:t>миллиард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уменьшает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считать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целиком</a:t>
            </a:r>
            <a:r>
              <a:rPr lang="en-US" dirty="0"/>
              <a:t> и </a:t>
            </a:r>
            <a:r>
              <a:rPr lang="en-US" dirty="0" err="1"/>
              <a:t>никакие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теряются</a:t>
            </a:r>
            <a:r>
              <a:rPr lang="en-US" dirty="0"/>
              <a:t>,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равен</a:t>
            </a:r>
            <a:r>
              <a:rPr lang="en-US" dirty="0"/>
              <a:t> </a:t>
            </a:r>
            <a:r>
              <a:rPr lang="en-US" dirty="0" err="1"/>
              <a:t>нулю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практике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вывести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другое</a:t>
            </a:r>
            <a:r>
              <a:rPr lang="en-US" dirty="0"/>
              <a:t> </a:t>
            </a:r>
            <a:r>
              <a:rPr lang="en-US" dirty="0" err="1"/>
              <a:t>число</a:t>
            </a:r>
            <a:r>
              <a:rPr lang="en-US" dirty="0"/>
              <a:t>.</a:t>
            </a:r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подчеркнуть</a:t>
            </a:r>
            <a:r>
              <a:rPr lang="en-US" dirty="0"/>
              <a:t>: </a:t>
            </a:r>
            <a:r>
              <a:rPr lang="en-US" dirty="0" err="1"/>
              <a:t>дело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инкременты</a:t>
            </a:r>
            <a:r>
              <a:rPr lang="en-US" dirty="0"/>
              <a:t> и </a:t>
            </a:r>
            <a:r>
              <a:rPr lang="en-US" dirty="0" err="1"/>
              <a:t>декременты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потеряться</a:t>
            </a:r>
            <a:r>
              <a:rPr lang="en-US" dirty="0"/>
              <a:t>.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стандарта</a:t>
            </a:r>
            <a:r>
              <a:rPr lang="en-US" dirty="0"/>
              <a:t> C++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data race, а </a:t>
            </a:r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определено</a:t>
            </a:r>
            <a:r>
              <a:rPr lang="en-US" dirty="0"/>
              <a:t>. </a:t>
            </a:r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вправе</a:t>
            </a:r>
            <a:r>
              <a:rPr lang="en-US" dirty="0"/>
              <a:t> </a:t>
            </a:r>
            <a:r>
              <a:rPr lang="en-US" dirty="0" err="1"/>
              <a:t>оптимизировать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исходя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предположения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подобных</a:t>
            </a:r>
            <a:r>
              <a:rPr lang="en-US" dirty="0"/>
              <a:t> </a:t>
            </a:r>
            <a:r>
              <a:rPr lang="en-US" dirty="0" err="1"/>
              <a:t>гонок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гарантировать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нулевой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какое-либо</a:t>
            </a:r>
            <a:r>
              <a:rPr lang="en-US" dirty="0"/>
              <a:t> </a:t>
            </a:r>
            <a:r>
              <a:rPr lang="en-US" dirty="0" err="1"/>
              <a:t>другое</a:t>
            </a:r>
            <a:r>
              <a:rPr lang="en-US" dirty="0"/>
              <a:t> </a:t>
            </a:r>
            <a:r>
              <a:rPr lang="en-US" dirty="0" err="1"/>
              <a:t>число</a:t>
            </a:r>
            <a:r>
              <a:rPr lang="en-US" dirty="0"/>
              <a:t>.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тысячу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подряд</a:t>
            </a:r>
            <a:r>
              <a:rPr lang="en-US" dirty="0"/>
              <a:t> </a:t>
            </a:r>
            <a:r>
              <a:rPr lang="en-US" dirty="0" err="1"/>
              <a:t>напечатала</a:t>
            </a:r>
            <a:r>
              <a:rPr lang="en-US" dirty="0"/>
              <a:t> </a:t>
            </a:r>
            <a:r>
              <a:rPr lang="en-US" dirty="0" err="1"/>
              <a:t>ноль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корректна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открыть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в Godbolt,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и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параметры</a:t>
            </a:r>
            <a:r>
              <a:rPr lang="en-US" dirty="0"/>
              <a:t> </a:t>
            </a:r>
            <a:r>
              <a:rPr lang="en-US" dirty="0" err="1"/>
              <a:t>компиляции</a:t>
            </a:r>
            <a:r>
              <a:rPr lang="en-US" dirty="0"/>
              <a:t>.</a:t>
            </a:r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исправить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07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способов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—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атомарные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стандартной</a:t>
            </a:r>
            <a:r>
              <a:rPr lang="en-US" dirty="0"/>
              <a:t> </a:t>
            </a:r>
            <a:r>
              <a:rPr lang="en-US" dirty="0" err="1"/>
              <a:t>библиотеке</a:t>
            </a:r>
            <a:r>
              <a:rPr lang="en-US" dirty="0"/>
              <a:t> C++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шаблон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std::atomic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заменяем</a:t>
            </a:r>
            <a:r>
              <a:rPr lang="en-US" dirty="0"/>
              <a:t>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std::atomic&lt;int&gt;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увеличение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уменьшение</a:t>
            </a:r>
            <a:r>
              <a:rPr lang="en-US" dirty="0"/>
              <a:t> </a:t>
            </a:r>
            <a:r>
              <a:rPr lang="en-US" dirty="0" err="1"/>
              <a:t>счётчика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атомарно</a:t>
            </a:r>
            <a:r>
              <a:rPr lang="en-US" dirty="0"/>
              <a:t>. Это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конкурирующие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согласованы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с </a:t>
            </a:r>
            <a:r>
              <a:rPr lang="en-US" dirty="0" err="1"/>
              <a:t>другом</a:t>
            </a:r>
            <a:r>
              <a:rPr lang="en-US" dirty="0"/>
              <a:t>: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обновление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потеряно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одновременного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другого</a:t>
            </a:r>
            <a:r>
              <a:rPr lang="en-US" dirty="0"/>
              <a:t> </a:t>
            </a:r>
            <a:r>
              <a:rPr lang="en-US" dirty="0" err="1"/>
              <a:t>обновления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x86 </a:t>
            </a:r>
            <a:r>
              <a:rPr lang="en-US" dirty="0" err="1"/>
              <a:t>разницу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в </a:t>
            </a:r>
            <a:r>
              <a:rPr lang="en-US" dirty="0" err="1"/>
              <a:t>машинном</a:t>
            </a:r>
            <a:r>
              <a:rPr lang="en-US" dirty="0"/>
              <a:t> </a:t>
            </a:r>
            <a:r>
              <a:rPr lang="en-US" dirty="0" err="1"/>
              <a:t>коде</a:t>
            </a:r>
            <a:r>
              <a:rPr lang="en-US" dirty="0"/>
              <a:t>.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инкремент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компилироваться</a:t>
            </a:r>
            <a:r>
              <a:rPr lang="en-US" dirty="0"/>
              <a:t> в </a:t>
            </a:r>
            <a:r>
              <a:rPr lang="en-US" dirty="0" err="1"/>
              <a:t>инструкцию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en-US" dirty="0"/>
              <a:t>, а </a:t>
            </a:r>
            <a:r>
              <a:rPr lang="en-US" dirty="0" err="1"/>
              <a:t>атомарный</a:t>
            </a:r>
            <a:r>
              <a:rPr lang="en-US" dirty="0"/>
              <a:t> — в </a:t>
            </a:r>
            <a:r>
              <a:rPr lang="en-US" dirty="0" err="1"/>
              <a:t>инструкцию</a:t>
            </a:r>
            <a:r>
              <a:rPr lang="en-US" dirty="0"/>
              <a:t> с </a:t>
            </a:r>
            <a:r>
              <a:rPr lang="en-US" dirty="0" err="1"/>
              <a:t>префиксом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Префикс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</a:t>
            </a:r>
            <a:r>
              <a:rPr lang="en-US" dirty="0"/>
              <a:t>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необходимые</a:t>
            </a:r>
            <a:r>
              <a:rPr lang="en-US" dirty="0"/>
              <a:t>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гарантии</a:t>
            </a:r>
            <a:r>
              <a:rPr lang="en-US" dirty="0"/>
              <a:t> </a:t>
            </a:r>
            <a:r>
              <a:rPr lang="en-US" dirty="0" err="1"/>
              <a:t>атомарности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процессорных</a:t>
            </a:r>
            <a:r>
              <a:rPr lang="en-US" dirty="0"/>
              <a:t> </a:t>
            </a:r>
            <a:r>
              <a:rPr lang="en-US" dirty="0" err="1"/>
              <a:t>ядер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вещи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Во-первых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std::atomic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реализуется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инструкцией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любой</a:t>
            </a:r>
            <a:r>
              <a:rPr lang="en-US" dirty="0"/>
              <a:t> </a:t>
            </a:r>
            <a:r>
              <a:rPr lang="en-US" dirty="0" err="1"/>
              <a:t>архитектуре</a:t>
            </a:r>
            <a:r>
              <a:rPr lang="en-US" dirty="0"/>
              <a:t>. Это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, </a:t>
            </a:r>
            <a:r>
              <a:rPr lang="en-US" dirty="0" err="1"/>
              <a:t>платформы</a:t>
            </a:r>
            <a:r>
              <a:rPr lang="en-US" dirty="0"/>
              <a:t> и </a:t>
            </a:r>
            <a:r>
              <a:rPr lang="en-US" dirty="0" err="1"/>
              <a:t>реализации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Во-вторых</a:t>
            </a:r>
            <a:r>
              <a:rPr lang="en-US" dirty="0"/>
              <a:t>, </a:t>
            </a:r>
            <a:r>
              <a:rPr lang="en-US" dirty="0" err="1"/>
              <a:t>атомарность</a:t>
            </a:r>
            <a:r>
              <a:rPr lang="en-US" dirty="0"/>
              <a:t> </a:t>
            </a:r>
            <a:r>
              <a:rPr lang="en-US" dirty="0" err="1"/>
              <a:t>отдельной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атомарности</a:t>
            </a:r>
            <a:r>
              <a:rPr lang="en-US" dirty="0"/>
              <a:t> </a:t>
            </a:r>
            <a:r>
              <a:rPr lang="en-US" dirty="0" err="1"/>
              <a:t>произвольной</a:t>
            </a:r>
            <a:r>
              <a:rPr lang="en-US" dirty="0"/>
              <a:t> </a:t>
            </a:r>
            <a:r>
              <a:rPr lang="en-US" dirty="0" err="1"/>
              <a:t>последовательности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проверяет</a:t>
            </a:r>
            <a:r>
              <a:rPr lang="en-US" dirty="0"/>
              <a:t> </a:t>
            </a:r>
            <a:r>
              <a:rPr lang="en-US" dirty="0" err="1"/>
              <a:t>баланс</a:t>
            </a:r>
            <a:r>
              <a:rPr lang="en-US" dirty="0"/>
              <a:t> </a:t>
            </a:r>
            <a:r>
              <a:rPr lang="en-US" dirty="0" err="1"/>
              <a:t>банковского</a:t>
            </a:r>
            <a:r>
              <a:rPr lang="en-US" dirty="0"/>
              <a:t> </a:t>
            </a:r>
            <a:r>
              <a:rPr lang="en-US" dirty="0" err="1"/>
              <a:t>счёта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списывает</a:t>
            </a:r>
            <a:r>
              <a:rPr lang="en-US" dirty="0"/>
              <a:t> </a:t>
            </a:r>
            <a:r>
              <a:rPr lang="en-US" dirty="0" err="1"/>
              <a:t>деньги</a:t>
            </a:r>
            <a:r>
              <a:rPr lang="en-US" dirty="0"/>
              <a:t> и </a:t>
            </a:r>
            <a:r>
              <a:rPr lang="en-US" dirty="0" err="1"/>
              <a:t>обновляет</a:t>
            </a:r>
            <a:r>
              <a:rPr lang="en-US" dirty="0"/>
              <a:t> </a:t>
            </a:r>
            <a:r>
              <a:rPr lang="en-US" dirty="0" err="1"/>
              <a:t>журнал</a:t>
            </a:r>
            <a:r>
              <a:rPr lang="en-US" dirty="0"/>
              <a:t> </a:t>
            </a:r>
            <a:r>
              <a:rPr lang="en-US" dirty="0" err="1"/>
              <a:t>транзакций</a:t>
            </a:r>
            <a:r>
              <a:rPr lang="en-US" dirty="0"/>
              <a:t>,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атомарной</a:t>
            </a:r>
            <a:r>
              <a:rPr lang="en-US" dirty="0"/>
              <a:t> </a:t>
            </a:r>
            <a:r>
              <a:rPr lang="en-US" dirty="0" err="1"/>
              <a:t>переменной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.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защищать</a:t>
            </a:r>
            <a:r>
              <a:rPr lang="en-US" dirty="0"/>
              <a:t> </a:t>
            </a:r>
            <a:r>
              <a:rPr lang="en-US" dirty="0" err="1"/>
              <a:t>согласованность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приводит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к </a:t>
            </a:r>
            <a:r>
              <a:rPr lang="en-US" dirty="0" err="1"/>
              <a:t>понятию</a:t>
            </a:r>
            <a:r>
              <a:rPr lang="en-US" dirty="0"/>
              <a:t> </a:t>
            </a:r>
            <a:r>
              <a:rPr lang="en-US" dirty="0" err="1"/>
              <a:t>критической</a:t>
            </a:r>
            <a:r>
              <a:rPr lang="en-US" dirty="0"/>
              <a:t> </a:t>
            </a:r>
            <a:r>
              <a:rPr lang="en-US" dirty="0" err="1"/>
              <a:t>секции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35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Атомарные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подходят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простых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переменных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многих</a:t>
            </a:r>
            <a:r>
              <a:rPr lang="en-US" dirty="0"/>
              <a:t> </a:t>
            </a:r>
            <a:r>
              <a:rPr lang="en-US" dirty="0" err="1"/>
              <a:t>случаях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целую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вмешался</a:t>
            </a:r>
            <a:r>
              <a:rPr lang="en-US" dirty="0"/>
              <a:t> </a:t>
            </a:r>
            <a:r>
              <a:rPr lang="en-US" dirty="0" err="1"/>
              <a:t>посередине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с </a:t>
            </a:r>
            <a:r>
              <a:rPr lang="en-US" dirty="0" err="1"/>
              <a:t>банковским</a:t>
            </a:r>
            <a:r>
              <a:rPr lang="en-US" dirty="0"/>
              <a:t> </a:t>
            </a:r>
            <a:r>
              <a:rPr lang="en-US" dirty="0" err="1"/>
              <a:t>счётом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 </a:t>
            </a:r>
            <a:r>
              <a:rPr lang="en-US" dirty="0" err="1"/>
              <a:t>баланс</a:t>
            </a:r>
            <a:r>
              <a:rPr lang="en-US" dirty="0"/>
              <a:t>, </a:t>
            </a:r>
            <a:r>
              <a:rPr lang="en-US" dirty="0" err="1"/>
              <a:t>списать</a:t>
            </a:r>
            <a:r>
              <a:rPr lang="en-US" dirty="0"/>
              <a:t> </a:t>
            </a:r>
            <a:r>
              <a:rPr lang="en-US" dirty="0" err="1"/>
              <a:t>деньги</a:t>
            </a:r>
            <a:r>
              <a:rPr lang="en-US" dirty="0"/>
              <a:t> и </a:t>
            </a:r>
            <a:r>
              <a:rPr lang="en-US" dirty="0" err="1"/>
              <a:t>обновить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этими</a:t>
            </a:r>
            <a:r>
              <a:rPr lang="en-US" dirty="0"/>
              <a:t> </a:t>
            </a:r>
            <a:r>
              <a:rPr lang="en-US" dirty="0" err="1"/>
              <a:t>действиями</a:t>
            </a:r>
            <a:r>
              <a:rPr lang="en-US" dirty="0"/>
              <a:t> </a:t>
            </a:r>
            <a:r>
              <a:rPr lang="en-US" dirty="0" err="1"/>
              <a:t>вмешается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,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несогласованными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Участок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, </a:t>
            </a:r>
            <a:r>
              <a:rPr lang="en-US" dirty="0" err="1"/>
              <a:t>требующий</a:t>
            </a:r>
            <a:r>
              <a:rPr lang="en-US" dirty="0"/>
              <a:t> </a:t>
            </a:r>
            <a:r>
              <a:rPr lang="en-US" dirty="0" err="1"/>
              <a:t>исключительного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к </a:t>
            </a:r>
            <a:r>
              <a:rPr lang="en-US" dirty="0" err="1"/>
              <a:t>общему</a:t>
            </a:r>
            <a:r>
              <a:rPr lang="en-US" dirty="0"/>
              <a:t> </a:t>
            </a:r>
            <a:r>
              <a:rPr lang="en-US" dirty="0" err="1"/>
              <a:t>ресурсу</a:t>
            </a:r>
            <a:r>
              <a:rPr lang="en-US" dirty="0"/>
              <a:t>, </a:t>
            </a:r>
            <a:r>
              <a:rPr lang="en-US" dirty="0" err="1"/>
              <a:t>называется</a:t>
            </a:r>
            <a:r>
              <a:rPr lang="en-US" dirty="0"/>
              <a:t> </a:t>
            </a:r>
            <a:r>
              <a:rPr lang="en-US" dirty="0" err="1"/>
              <a:t>критической</a:t>
            </a:r>
            <a:r>
              <a:rPr lang="en-US" dirty="0"/>
              <a:t> </a:t>
            </a:r>
            <a:r>
              <a:rPr lang="en-US" dirty="0" err="1"/>
              <a:t>секцией</a:t>
            </a:r>
            <a:r>
              <a:rPr lang="en-US" dirty="0"/>
              <a:t>.</a:t>
            </a:r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защитить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,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взаимное</a:t>
            </a:r>
            <a:r>
              <a:rPr lang="en-US" dirty="0"/>
              <a:t> </a:t>
            </a:r>
            <a:r>
              <a:rPr lang="en-US" dirty="0" err="1"/>
              <a:t>исключение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mutual exclusion.</a:t>
            </a:r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защищаемому</a:t>
            </a:r>
            <a:r>
              <a:rPr lang="en-US" dirty="0"/>
              <a:t> </a:t>
            </a:r>
            <a:r>
              <a:rPr lang="en-US" dirty="0" err="1"/>
              <a:t>ресурсу</a:t>
            </a:r>
            <a:r>
              <a:rPr lang="en-US" dirty="0"/>
              <a:t>.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, </a:t>
            </a:r>
            <a:r>
              <a:rPr lang="en-US" dirty="0" err="1"/>
              <a:t>которым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,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дождаться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освобождения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C++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предусмотрен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std::mutex</a:t>
            </a:r>
            <a:r>
              <a:rPr lang="en-US" dirty="0"/>
              <a:t>.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используем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lock_guard</a:t>
            </a:r>
            <a:r>
              <a:rPr lang="en-US" dirty="0"/>
              <a:t>: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создании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а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выходе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видимости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освобождает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Заметьте</a:t>
            </a:r>
            <a:r>
              <a:rPr lang="en-US" dirty="0"/>
              <a:t>, </a:t>
            </a:r>
            <a:r>
              <a:rPr lang="en-US" dirty="0" err="1"/>
              <a:t>взаимное</a:t>
            </a:r>
            <a:r>
              <a:rPr lang="en-US" dirty="0"/>
              <a:t> </a:t>
            </a:r>
            <a:r>
              <a:rPr lang="en-US" dirty="0" err="1"/>
              <a:t>исключение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dirty="0" err="1"/>
              <a:t>участникам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защиты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ресурса</a:t>
            </a:r>
            <a:r>
              <a:rPr lang="en-US" dirty="0"/>
              <a:t>.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запрещает</a:t>
            </a:r>
            <a:r>
              <a:rPr lang="en-US" dirty="0"/>
              <a:t> </a:t>
            </a:r>
            <a:r>
              <a:rPr lang="en-US" dirty="0" err="1"/>
              <a:t>остальным</a:t>
            </a:r>
            <a:r>
              <a:rPr lang="en-US" dirty="0"/>
              <a:t> </a:t>
            </a:r>
            <a:r>
              <a:rPr lang="en-US" dirty="0" err="1"/>
              <a:t>потокам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независимыми</a:t>
            </a:r>
            <a:r>
              <a:rPr lang="en-US" dirty="0"/>
              <a:t> </a:t>
            </a:r>
            <a:r>
              <a:rPr lang="en-US" dirty="0" err="1"/>
              <a:t>данными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: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строки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образуют</a:t>
            </a:r>
            <a:r>
              <a:rPr lang="en-US" dirty="0"/>
              <a:t>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. </a:t>
            </a:r>
            <a:r>
              <a:rPr lang="en-US" dirty="0" err="1"/>
              <a:t>Программист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правильно</a:t>
            </a:r>
            <a:r>
              <a:rPr lang="en-US" dirty="0"/>
              <a:t> </a:t>
            </a:r>
            <a:r>
              <a:rPr lang="en-US" dirty="0" err="1"/>
              <a:t>организовать</a:t>
            </a:r>
            <a:r>
              <a:rPr lang="en-US" dirty="0"/>
              <a:t> </a:t>
            </a:r>
            <a:r>
              <a:rPr lang="en-US" dirty="0" err="1"/>
              <a:t>синхронизацию</a:t>
            </a:r>
            <a:r>
              <a:rPr lang="en-US" dirty="0"/>
              <a:t>, </a:t>
            </a:r>
            <a:r>
              <a:rPr lang="en-US" dirty="0" err="1"/>
              <a:t>используя</a:t>
            </a:r>
            <a:r>
              <a:rPr lang="en-US" dirty="0"/>
              <a:t> </a:t>
            </a:r>
            <a:r>
              <a:rPr lang="en-US" dirty="0" err="1"/>
              <a:t>предоставленные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Подробно</a:t>
            </a:r>
            <a:r>
              <a:rPr lang="en-US" dirty="0"/>
              <a:t> </a:t>
            </a:r>
            <a:r>
              <a:rPr lang="en-US" dirty="0" err="1"/>
              <a:t>мьютексы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17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Недостаточно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запретить</a:t>
            </a:r>
            <a:r>
              <a:rPr lang="en-US" dirty="0"/>
              <a:t> </a:t>
            </a:r>
            <a:r>
              <a:rPr lang="en-US" dirty="0" err="1"/>
              <a:t>одновременный</a:t>
            </a:r>
            <a:r>
              <a:rPr lang="en-US" dirty="0"/>
              <a:t> </a:t>
            </a:r>
            <a:r>
              <a:rPr lang="en-US" dirty="0" err="1"/>
              <a:t>вход</a:t>
            </a:r>
            <a:r>
              <a:rPr lang="en-US" dirty="0"/>
              <a:t> в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. У </a:t>
            </a:r>
            <a:r>
              <a:rPr lang="en-US" dirty="0" err="1"/>
              <a:t>хорошего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важные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Первое</a:t>
            </a:r>
            <a:r>
              <a:rPr lang="en-US" dirty="0"/>
              <a:t> — mutual exclusion.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критические</a:t>
            </a:r>
            <a:r>
              <a:rPr lang="en-US" dirty="0"/>
              <a:t> </a:t>
            </a:r>
            <a:r>
              <a:rPr lang="en-US" dirty="0" err="1"/>
              <a:t>секции</a:t>
            </a:r>
            <a:r>
              <a:rPr lang="en-US" dirty="0"/>
              <a:t>, </a:t>
            </a:r>
            <a:r>
              <a:rPr lang="en-US" dirty="0" err="1"/>
              <a:t>защищающие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. Это </a:t>
            </a:r>
            <a:r>
              <a:rPr lang="en-US" dirty="0" err="1"/>
              <a:t>основное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безопасности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Второе</a:t>
            </a:r>
            <a:r>
              <a:rPr lang="en-US" dirty="0"/>
              <a:t> — progress.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 </a:t>
            </a:r>
            <a:r>
              <a:rPr lang="en-US" dirty="0" err="1"/>
              <a:t>свободен</a:t>
            </a:r>
            <a:r>
              <a:rPr lang="en-US" dirty="0"/>
              <a:t> и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хотят</a:t>
            </a:r>
            <a:r>
              <a:rPr lang="en-US" dirty="0"/>
              <a:t> в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войти</a:t>
            </a:r>
            <a:r>
              <a:rPr lang="en-US" dirty="0"/>
              <a:t>, </a:t>
            </a:r>
            <a:r>
              <a:rPr lang="en-US" dirty="0" err="1"/>
              <a:t>решение</a:t>
            </a:r>
            <a:r>
              <a:rPr lang="en-US" dirty="0"/>
              <a:t> о </a:t>
            </a:r>
            <a:r>
              <a:rPr lang="en-US" dirty="0" err="1"/>
              <a:t>следующем</a:t>
            </a:r>
            <a:r>
              <a:rPr lang="en-US" dirty="0"/>
              <a:t> </a:t>
            </a:r>
            <a:r>
              <a:rPr lang="en-US" dirty="0" err="1"/>
              <a:t>участнике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откладываться</a:t>
            </a:r>
            <a:r>
              <a:rPr lang="en-US" dirty="0"/>
              <a:t> </a:t>
            </a:r>
            <a:r>
              <a:rPr lang="en-US" dirty="0" err="1"/>
              <a:t>бесконечно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с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ресурсом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Третье</a:t>
            </a:r>
            <a:r>
              <a:rPr lang="en-US" dirty="0"/>
              <a:t> — bounded waiting,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ограниченное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запросил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,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участники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бесконечно</a:t>
            </a:r>
            <a:r>
              <a:rPr lang="en-US" dirty="0"/>
              <a:t> </a:t>
            </a:r>
            <a:r>
              <a:rPr lang="en-US" dirty="0" err="1"/>
              <a:t>обгонять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. Это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связано</a:t>
            </a:r>
            <a:r>
              <a:rPr lang="en-US" dirty="0"/>
              <a:t> с </a:t>
            </a:r>
            <a:r>
              <a:rPr lang="en-US" dirty="0" err="1"/>
              <a:t>проблемой</a:t>
            </a:r>
            <a:r>
              <a:rPr lang="en-US" dirty="0"/>
              <a:t> </a:t>
            </a:r>
            <a:r>
              <a:rPr lang="en-US" dirty="0" err="1"/>
              <a:t>голодания</a:t>
            </a:r>
            <a:r>
              <a:rPr lang="en-US" dirty="0"/>
              <a:t> — starvation.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уточнить</a:t>
            </a:r>
            <a:r>
              <a:rPr lang="en-US" dirty="0"/>
              <a:t>: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всякий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гарантирует</a:t>
            </a:r>
            <a:r>
              <a:rPr lang="en-US" dirty="0"/>
              <a:t> bounded waiting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строгую</a:t>
            </a:r>
            <a:r>
              <a:rPr lang="en-US" dirty="0"/>
              <a:t> </a:t>
            </a:r>
            <a:r>
              <a:rPr lang="en-US" dirty="0" err="1"/>
              <a:t>справедливость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C++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предоставлять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в </a:t>
            </a:r>
            <a:r>
              <a:rPr lang="en-US" dirty="0" err="1"/>
              <a:t>порядке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строить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предположении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быстрее</a:t>
            </a:r>
            <a:r>
              <a:rPr lang="en-US" dirty="0"/>
              <a:t> </a:t>
            </a:r>
            <a:r>
              <a:rPr lang="en-US" dirty="0" err="1"/>
              <a:t>другого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в </a:t>
            </a:r>
            <a:r>
              <a:rPr lang="en-US" dirty="0" err="1"/>
              <a:t>определённом</a:t>
            </a:r>
            <a:r>
              <a:rPr lang="en-US" dirty="0"/>
              <a:t> </a:t>
            </a:r>
            <a:r>
              <a:rPr lang="en-US" dirty="0" err="1"/>
              <a:t>порядке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пригодятся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дальше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рассматривать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  <a:r>
              <a:rPr lang="en-US" dirty="0" err="1"/>
              <a:t>взаимного</a:t>
            </a:r>
            <a:r>
              <a:rPr lang="en-US" dirty="0"/>
              <a:t> </a:t>
            </a:r>
            <a:r>
              <a:rPr lang="en-US" dirty="0" err="1"/>
              <a:t>исключения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некоторые</a:t>
            </a:r>
            <a:r>
              <a:rPr lang="en-US" dirty="0"/>
              <a:t> </a:t>
            </a:r>
            <a:r>
              <a:rPr lang="en-US" dirty="0" err="1"/>
              <a:t>алгоритмы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предотвращают</a:t>
            </a:r>
            <a:r>
              <a:rPr lang="en-US" dirty="0"/>
              <a:t> </a:t>
            </a:r>
            <a:r>
              <a:rPr lang="en-US" dirty="0" err="1"/>
              <a:t>гонки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плохо</a:t>
            </a:r>
            <a:r>
              <a:rPr lang="en-US" dirty="0"/>
              <a:t> </a:t>
            </a:r>
            <a:r>
              <a:rPr lang="en-US" dirty="0" err="1"/>
              <a:t>обеспечивают</a:t>
            </a:r>
            <a:r>
              <a:rPr lang="en-US" dirty="0"/>
              <a:t> </a:t>
            </a:r>
            <a:r>
              <a:rPr lang="en-US" dirty="0" err="1"/>
              <a:t>продвижение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тратят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93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выяснили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параллельном</a:t>
            </a:r>
            <a:r>
              <a:rPr lang="en-US" dirty="0"/>
              <a:t> </a:t>
            </a:r>
            <a:r>
              <a:rPr lang="en-US" dirty="0" err="1"/>
              <a:t>доступе</a:t>
            </a:r>
            <a:r>
              <a:rPr lang="en-US" dirty="0"/>
              <a:t> к </a:t>
            </a:r>
            <a:r>
              <a:rPr lang="en-US" dirty="0" err="1"/>
              <a:t>общим</a:t>
            </a:r>
            <a:r>
              <a:rPr lang="en-US" dirty="0"/>
              <a:t> </a:t>
            </a:r>
            <a:r>
              <a:rPr lang="en-US" dirty="0" err="1"/>
              <a:t>данным</a:t>
            </a:r>
            <a:r>
              <a:rPr lang="en-US" dirty="0"/>
              <a:t> </a:t>
            </a:r>
            <a:r>
              <a:rPr lang="en-US" dirty="0" err="1"/>
              <a:t>возникают</a:t>
            </a:r>
            <a:r>
              <a:rPr lang="en-US" dirty="0"/>
              <a:t> </a:t>
            </a:r>
            <a:r>
              <a:rPr lang="en-US" dirty="0" err="1"/>
              <a:t>гонки</a:t>
            </a:r>
            <a:r>
              <a:rPr lang="en-US" dirty="0"/>
              <a:t>.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избежать</a:t>
            </a:r>
            <a:r>
              <a:rPr lang="en-US" dirty="0"/>
              <a:t> </a:t>
            </a:r>
            <a:r>
              <a:rPr lang="en-US" dirty="0" err="1"/>
              <a:t>ошибок</a:t>
            </a:r>
            <a:r>
              <a:rPr lang="en-US" dirty="0"/>
              <a:t>,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синхронизировать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познакомились</a:t>
            </a:r>
            <a:r>
              <a:rPr lang="en-US" dirty="0"/>
              <a:t> с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базовыми</a:t>
            </a:r>
            <a:r>
              <a:rPr lang="en-US" dirty="0"/>
              <a:t> </a:t>
            </a:r>
            <a:r>
              <a:rPr lang="en-US" dirty="0" err="1"/>
              <a:t>подходами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Первый</a:t>
            </a:r>
            <a:r>
              <a:rPr lang="en-US" dirty="0"/>
              <a:t> — </a:t>
            </a:r>
            <a:r>
              <a:rPr lang="en-US" dirty="0" err="1"/>
              <a:t>атомарные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безопасно</a:t>
            </a:r>
            <a:r>
              <a:rPr lang="en-US" dirty="0"/>
              <a:t> </a:t>
            </a:r>
            <a:r>
              <a:rPr lang="en-US" dirty="0" err="1"/>
              <a:t>увеличить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, </a:t>
            </a:r>
            <a:r>
              <a:rPr lang="en-US" dirty="0" err="1"/>
              <a:t>зачастую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std::atomic</a:t>
            </a:r>
            <a:r>
              <a:rPr lang="en-US" dirty="0"/>
              <a:t>.</a:t>
            </a:r>
          </a:p>
          <a:p>
            <a:r>
              <a:rPr lang="en-US" dirty="0" err="1"/>
              <a:t>Второй</a:t>
            </a:r>
            <a:r>
              <a:rPr lang="en-US" dirty="0"/>
              <a:t> — </a:t>
            </a:r>
            <a:r>
              <a:rPr lang="en-US" dirty="0" err="1"/>
              <a:t>взаимное</a:t>
            </a:r>
            <a:r>
              <a:rPr lang="en-US" dirty="0"/>
              <a:t> </a:t>
            </a:r>
            <a:r>
              <a:rPr lang="en-US" dirty="0" err="1"/>
              <a:t>исключение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согласованно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переменных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зависимых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, </a:t>
            </a:r>
            <a:r>
              <a:rPr lang="en-US" dirty="0" err="1"/>
              <a:t>удобно</a:t>
            </a:r>
            <a:r>
              <a:rPr lang="en-US" dirty="0"/>
              <a:t> </a:t>
            </a:r>
            <a:r>
              <a:rPr lang="en-US" dirty="0" err="1"/>
              <a:t>защитить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dirty="0" err="1"/>
              <a:t>участок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мьютексом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войти</a:t>
            </a:r>
            <a:r>
              <a:rPr lang="en-US" dirty="0"/>
              <a:t> в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, а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занял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?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проверять</a:t>
            </a:r>
            <a:r>
              <a:rPr lang="en-US" dirty="0"/>
              <a:t>, </a:t>
            </a:r>
            <a:r>
              <a:rPr lang="en-US" dirty="0" err="1"/>
              <a:t>освободился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. Это </a:t>
            </a:r>
            <a:r>
              <a:rPr lang="en-US" dirty="0" err="1"/>
              <a:t>называется</a:t>
            </a:r>
            <a:r>
              <a:rPr lang="en-US" dirty="0"/>
              <a:t> </a:t>
            </a:r>
            <a:r>
              <a:rPr lang="en-US" dirty="0" err="1"/>
              <a:t>активным</a:t>
            </a:r>
            <a:r>
              <a:rPr lang="en-US" dirty="0"/>
              <a:t> </a:t>
            </a:r>
            <a:r>
              <a:rPr lang="en-US" dirty="0" err="1"/>
              <a:t>ожиданием</a:t>
            </a:r>
            <a:r>
              <a:rPr lang="en-US" dirty="0"/>
              <a:t> — busy waiting.</a:t>
            </a:r>
          </a:p>
          <a:p>
            <a:r>
              <a:rPr lang="en-US" dirty="0"/>
              <a:t>А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приостановить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и </a:t>
            </a: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задачам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следующих</a:t>
            </a:r>
            <a:r>
              <a:rPr lang="en-US" dirty="0"/>
              <a:t> </a:t>
            </a:r>
            <a:r>
              <a:rPr lang="en-US" dirty="0" err="1"/>
              <a:t>разделах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разберём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подхода</a:t>
            </a:r>
            <a:r>
              <a:rPr lang="en-US" dirty="0"/>
              <a:t> и </a:t>
            </a:r>
            <a:r>
              <a:rPr lang="en-US" dirty="0" err="1"/>
              <a:t>увидим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атомарные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, </a:t>
            </a:r>
            <a:r>
              <a:rPr lang="en-US" dirty="0" err="1"/>
              <a:t>спинлоки</a:t>
            </a:r>
            <a:r>
              <a:rPr lang="en-US" dirty="0"/>
              <a:t>, </a:t>
            </a:r>
            <a:r>
              <a:rPr lang="en-US" dirty="0" err="1"/>
              <a:t>мьютексы</a:t>
            </a:r>
            <a:r>
              <a:rPr lang="en-US" dirty="0"/>
              <a:t> и </a:t>
            </a:r>
            <a:r>
              <a:rPr lang="en-US" dirty="0" err="1"/>
              <a:t>механизмы</a:t>
            </a:r>
            <a:r>
              <a:rPr lang="en-US" dirty="0"/>
              <a:t> ОС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строить</a:t>
            </a:r>
            <a:r>
              <a:rPr lang="en-US" dirty="0"/>
              <a:t> </a:t>
            </a:r>
            <a:r>
              <a:rPr lang="en-US" dirty="0" err="1"/>
              <a:t>эффективную</a:t>
            </a:r>
            <a:r>
              <a:rPr lang="en-US" dirty="0"/>
              <a:t> </a:t>
            </a:r>
            <a:r>
              <a:rPr lang="en-US" dirty="0" err="1"/>
              <a:t>синхронизацию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745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39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</a:t>
            </a:r>
            <a:r>
              <a:rPr lang="en-US" dirty="0"/>
              <a:t>ы </a:t>
            </a:r>
            <a:r>
              <a:rPr lang="en-US" dirty="0" err="1"/>
              <a:t>разобрали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гонки</a:t>
            </a:r>
            <a:r>
              <a:rPr lang="en-US" dirty="0"/>
              <a:t>, </a:t>
            </a:r>
            <a:r>
              <a:rPr lang="en-US" dirty="0" err="1"/>
              <a:t>критическая</a:t>
            </a:r>
            <a:r>
              <a:rPr lang="en-US" dirty="0"/>
              <a:t> </a:t>
            </a:r>
            <a:r>
              <a:rPr lang="en-US" dirty="0" err="1"/>
              <a:t>секция</a:t>
            </a:r>
            <a:r>
              <a:rPr lang="en-US" dirty="0"/>
              <a:t> и </a:t>
            </a:r>
            <a:r>
              <a:rPr lang="en-US" dirty="0" err="1"/>
              <a:t>взаимное</a:t>
            </a:r>
            <a:r>
              <a:rPr lang="en-US" dirty="0"/>
              <a:t> </a:t>
            </a:r>
            <a:r>
              <a:rPr lang="en-US" dirty="0" err="1"/>
              <a:t>исключение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взаимное</a:t>
            </a:r>
            <a:r>
              <a:rPr lang="en-US" dirty="0"/>
              <a:t> </a:t>
            </a:r>
            <a:r>
              <a:rPr lang="en-US" dirty="0" err="1"/>
              <a:t>исключение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кажется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: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, </a:t>
            </a:r>
            <a:r>
              <a:rPr lang="en-US" dirty="0" err="1"/>
              <a:t>остальные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подождать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секция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занята</a:t>
            </a:r>
            <a:r>
              <a:rPr lang="en-US" dirty="0"/>
              <a:t>? И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гарантировать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решат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, </a:t>
            </a:r>
            <a:r>
              <a:rPr lang="en-US" dirty="0" err="1"/>
              <a:t>будто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 </a:t>
            </a:r>
            <a:r>
              <a:rPr lang="en-US" dirty="0" err="1"/>
              <a:t>свободен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Исторически</a:t>
            </a:r>
            <a:r>
              <a:rPr lang="en-US" dirty="0"/>
              <a:t> </a:t>
            </a:r>
            <a:r>
              <a:rPr lang="en-US" dirty="0" err="1"/>
              <a:t>использовались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подходы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Первый</a:t>
            </a:r>
            <a:r>
              <a:rPr lang="en-US" dirty="0"/>
              <a:t> — </a:t>
            </a:r>
            <a:r>
              <a:rPr lang="en-US" dirty="0" err="1"/>
              <a:t>запретить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вытеснен</a:t>
            </a:r>
            <a:r>
              <a:rPr lang="en-US" dirty="0"/>
              <a:t> в </a:t>
            </a:r>
            <a:r>
              <a:rPr lang="en-US" dirty="0" err="1"/>
              <a:t>неподходящий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.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полезен</a:t>
            </a:r>
            <a:r>
              <a:rPr lang="en-US" dirty="0"/>
              <a:t> в </a:t>
            </a:r>
            <a:r>
              <a:rPr lang="en-US" dirty="0" err="1"/>
              <a:t>ядре</a:t>
            </a:r>
            <a:r>
              <a:rPr lang="en-US" dirty="0"/>
              <a:t> ОС,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серьёзные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— </a:t>
            </a:r>
            <a:r>
              <a:rPr lang="en-US" dirty="0" err="1"/>
              <a:t>согласовывать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общих</a:t>
            </a:r>
            <a:r>
              <a:rPr lang="en-US" dirty="0"/>
              <a:t> </a:t>
            </a:r>
            <a:r>
              <a:rPr lang="en-US" dirty="0" err="1"/>
              <a:t>переменных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алгоритмов</a:t>
            </a:r>
            <a:r>
              <a:rPr lang="en-US" dirty="0"/>
              <a:t> и </a:t>
            </a:r>
            <a:r>
              <a:rPr lang="en-US" dirty="0" err="1"/>
              <a:t>увидим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простая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взаимного</a:t>
            </a:r>
            <a:r>
              <a:rPr lang="en-US" dirty="0"/>
              <a:t> </a:t>
            </a:r>
            <a:r>
              <a:rPr lang="en-US" dirty="0" err="1"/>
              <a:t>исключения</a:t>
            </a:r>
            <a:r>
              <a:rPr lang="en-US" dirty="0"/>
              <a:t> </a:t>
            </a:r>
            <a:r>
              <a:rPr lang="en-US" dirty="0" err="1"/>
              <a:t>оказывается</a:t>
            </a:r>
            <a:r>
              <a:rPr lang="en-US" dirty="0"/>
              <a:t> </a:t>
            </a:r>
            <a:r>
              <a:rPr lang="en-US" dirty="0" err="1"/>
              <a:t>неожиданно</a:t>
            </a:r>
            <a:r>
              <a:rPr lang="en-US" dirty="0"/>
              <a:t> </a:t>
            </a:r>
            <a:r>
              <a:rPr lang="en-US" dirty="0" err="1"/>
              <a:t>сложной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поддержку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: </a:t>
            </a:r>
            <a:r>
              <a:rPr lang="en-US" dirty="0" err="1"/>
              <a:t>специальные</a:t>
            </a:r>
            <a:r>
              <a:rPr lang="en-US" dirty="0"/>
              <a:t> </a:t>
            </a:r>
            <a:r>
              <a:rPr lang="en-US" dirty="0" err="1"/>
              <a:t>атомарные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неделимо</a:t>
            </a:r>
            <a:r>
              <a:rPr lang="en-US" dirty="0"/>
              <a:t> </a:t>
            </a:r>
            <a:r>
              <a:rPr lang="en-US" dirty="0" err="1"/>
              <a:t>прочитать</a:t>
            </a:r>
            <a:r>
              <a:rPr lang="en-US" dirty="0"/>
              <a:t> и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придём</a:t>
            </a:r>
            <a:r>
              <a:rPr lang="en-US" dirty="0"/>
              <a:t> к </a:t>
            </a:r>
            <a:r>
              <a:rPr lang="en-US" dirty="0" err="1"/>
              <a:t>спинлокам</a:t>
            </a:r>
            <a:r>
              <a:rPr lang="en-US" dirty="0"/>
              <a:t> — </a:t>
            </a:r>
            <a:r>
              <a:rPr lang="en-US" dirty="0" err="1"/>
              <a:t>простейшим</a:t>
            </a:r>
            <a:r>
              <a:rPr lang="en-US" dirty="0"/>
              <a:t> </a:t>
            </a:r>
            <a:r>
              <a:rPr lang="en-US" dirty="0" err="1"/>
              <a:t>блокировкам</a:t>
            </a:r>
            <a:r>
              <a:rPr lang="en-US" dirty="0"/>
              <a:t> с </a:t>
            </a:r>
            <a:r>
              <a:rPr lang="en-US" dirty="0" err="1"/>
              <a:t>активным</a:t>
            </a:r>
            <a:r>
              <a:rPr lang="en-US" dirty="0"/>
              <a:t> </a:t>
            </a:r>
            <a:r>
              <a:rPr lang="en-US" dirty="0" err="1"/>
              <a:t>ожиданием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4600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старейших</a:t>
            </a:r>
            <a:r>
              <a:rPr lang="en-US" dirty="0"/>
              <a:t> </a:t>
            </a:r>
            <a:r>
              <a:rPr lang="en-US" dirty="0" err="1"/>
              <a:t>способов</a:t>
            </a:r>
            <a:r>
              <a:rPr lang="en-US" dirty="0"/>
              <a:t> </a:t>
            </a:r>
            <a:r>
              <a:rPr lang="en-US" dirty="0" err="1"/>
              <a:t>защиты</a:t>
            </a:r>
            <a:r>
              <a:rPr lang="en-US" dirty="0"/>
              <a:t> </a:t>
            </a:r>
            <a:r>
              <a:rPr lang="en-US" dirty="0" err="1"/>
              <a:t>критических</a:t>
            </a:r>
            <a:r>
              <a:rPr lang="en-US" dirty="0"/>
              <a:t> </a:t>
            </a:r>
            <a:r>
              <a:rPr lang="en-US" dirty="0" err="1"/>
              <a:t>секций</a:t>
            </a:r>
            <a:r>
              <a:rPr lang="en-US" dirty="0"/>
              <a:t> — </a:t>
            </a:r>
            <a:r>
              <a:rPr lang="en-US" dirty="0" err="1"/>
              <a:t>отключения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однопроцессорную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. В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прервать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сигналу</a:t>
            </a:r>
            <a:r>
              <a:rPr lang="en-US" dirty="0"/>
              <a:t> </a:t>
            </a:r>
            <a:r>
              <a:rPr lang="en-US" dirty="0" err="1"/>
              <a:t>таймера</a:t>
            </a:r>
            <a:r>
              <a:rPr lang="en-US" dirty="0"/>
              <a:t> и </a:t>
            </a: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другому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А </a:t>
            </a:r>
            <a:r>
              <a:rPr lang="en-US" dirty="0" err="1"/>
              <a:t>что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критической</a:t>
            </a:r>
            <a:r>
              <a:rPr lang="en-US" dirty="0"/>
              <a:t> </a:t>
            </a:r>
            <a:r>
              <a:rPr lang="en-US" dirty="0" err="1"/>
              <a:t>секции</a:t>
            </a:r>
            <a:r>
              <a:rPr lang="en-US" dirty="0"/>
              <a:t> </a:t>
            </a:r>
            <a:r>
              <a:rPr lang="en-US" dirty="0" err="1"/>
              <a:t>запретить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?</a:t>
            </a:r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обрабатывать</a:t>
            </a:r>
            <a:r>
              <a:rPr lang="en-US" dirty="0"/>
              <a:t> </a:t>
            </a:r>
            <a:r>
              <a:rPr lang="en-US" dirty="0" err="1"/>
              <a:t>обычные</a:t>
            </a:r>
            <a:r>
              <a:rPr lang="en-US" dirty="0"/>
              <a:t> </a:t>
            </a:r>
            <a:r>
              <a:rPr lang="en-US" dirty="0" err="1"/>
              <a:t>маскируемые</a:t>
            </a:r>
            <a:r>
              <a:rPr lang="en-US" dirty="0"/>
              <a:t>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, </a:t>
            </a:r>
            <a:r>
              <a:rPr lang="en-US" dirty="0" err="1"/>
              <a:t>включая</a:t>
            </a:r>
            <a:r>
              <a:rPr lang="en-US" dirty="0"/>
              <a:t> </a:t>
            </a:r>
            <a:r>
              <a:rPr lang="en-US" dirty="0" err="1"/>
              <a:t>таймерные</a:t>
            </a:r>
            <a:r>
              <a:rPr lang="en-US" dirty="0"/>
              <a:t>. </a:t>
            </a:r>
            <a:r>
              <a:rPr lang="en-US" dirty="0" err="1"/>
              <a:t>Следовательно</a:t>
            </a:r>
            <a:r>
              <a:rPr lang="en-US" dirty="0"/>
              <a:t>, </a:t>
            </a:r>
            <a:r>
              <a:rPr lang="en-US" dirty="0" err="1"/>
              <a:t>вытеснение</a:t>
            </a:r>
            <a:r>
              <a:rPr lang="en-US" dirty="0"/>
              <a:t>, </a:t>
            </a:r>
            <a:r>
              <a:rPr lang="en-US" dirty="0" err="1"/>
              <a:t>инициируемое</a:t>
            </a:r>
            <a:r>
              <a:rPr lang="en-US" dirty="0"/>
              <a:t> </a:t>
            </a:r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прерыванием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архитектуре</a:t>
            </a:r>
            <a:r>
              <a:rPr lang="en-US" dirty="0"/>
              <a:t> x86-64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разрешение</a:t>
            </a:r>
            <a:r>
              <a:rPr lang="en-US" dirty="0"/>
              <a:t> </a:t>
            </a:r>
            <a:r>
              <a:rPr lang="en-US" dirty="0" err="1"/>
              <a:t>маскируемых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 IF в </a:t>
            </a:r>
            <a:r>
              <a:rPr lang="en-US" dirty="0" err="1"/>
              <a:t>регистре</a:t>
            </a:r>
            <a:r>
              <a:rPr lang="en-US" dirty="0"/>
              <a:t> RFLAGS. </a:t>
            </a:r>
            <a:r>
              <a:rPr lang="en-US" dirty="0" err="1"/>
              <a:t>Инструкция</a:t>
            </a:r>
            <a:r>
              <a:rPr lang="en-US" dirty="0"/>
              <a:t> CLI </a:t>
            </a:r>
            <a:r>
              <a:rPr lang="en-US" dirty="0" err="1"/>
              <a:t>сбрасывает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, а STI </a:t>
            </a:r>
            <a:r>
              <a:rPr lang="en-US" dirty="0" err="1"/>
              <a:t>устанавливает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.</a:t>
            </a:r>
          </a:p>
          <a:p>
            <a:r>
              <a:rPr lang="en-US" dirty="0" err="1"/>
              <a:t>Однако</a:t>
            </a:r>
            <a:r>
              <a:rPr lang="en-US" dirty="0"/>
              <a:t> в </a:t>
            </a:r>
            <a:r>
              <a:rPr lang="en-US" dirty="0" err="1"/>
              <a:t>реальном</a:t>
            </a:r>
            <a:r>
              <a:rPr lang="en-US" dirty="0"/>
              <a:t> </a:t>
            </a:r>
            <a:r>
              <a:rPr lang="en-US" dirty="0" err="1"/>
              <a:t>коде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бездумно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CLI, а </a:t>
            </a:r>
            <a:r>
              <a:rPr lang="en-US" dirty="0" err="1"/>
              <a:t>затем</a:t>
            </a:r>
            <a:r>
              <a:rPr lang="en-US" dirty="0"/>
              <a:t> STI.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r>
              <a:rPr lang="en-US" dirty="0"/>
              <a:t> </a:t>
            </a:r>
            <a:r>
              <a:rPr lang="en-US" dirty="0" err="1"/>
              <a:t>предыдущее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 и </a:t>
            </a:r>
            <a:r>
              <a:rPr lang="en-US" dirty="0" err="1"/>
              <a:t>восстанавливать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. </a:t>
            </a:r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входа</a:t>
            </a:r>
            <a:r>
              <a:rPr lang="en-US" dirty="0"/>
              <a:t> в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были</a:t>
            </a:r>
            <a:r>
              <a:rPr lang="en-US" dirty="0"/>
              <a:t> </a:t>
            </a:r>
            <a:r>
              <a:rPr lang="en-US" dirty="0" err="1"/>
              <a:t>отключены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 </a:t>
            </a:r>
            <a:r>
              <a:rPr lang="en-US" dirty="0" err="1"/>
              <a:t>ограничение</a:t>
            </a:r>
            <a:r>
              <a:rPr lang="en-US" dirty="0"/>
              <a:t>: </a:t>
            </a:r>
            <a:r>
              <a:rPr lang="en-US" dirty="0" err="1"/>
              <a:t>отключение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запрещает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исключения</a:t>
            </a:r>
            <a:r>
              <a:rPr lang="en-US" dirty="0"/>
              <a:t>, </a:t>
            </a:r>
            <a:r>
              <a:rPr lang="en-US" dirty="0" err="1"/>
              <a:t>немаскируемые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добровольную</a:t>
            </a:r>
            <a:r>
              <a:rPr lang="en-US" dirty="0"/>
              <a:t> </a:t>
            </a:r>
            <a:r>
              <a:rPr lang="en-US" dirty="0" err="1"/>
              <a:t>передачу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.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секции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блокироваться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вызывать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универсальный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, а </a:t>
            </a:r>
            <a:r>
              <a:rPr lang="en-US" dirty="0" err="1"/>
              <a:t>специальный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ОС.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258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Казалось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нашли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защиты</a:t>
            </a:r>
            <a:r>
              <a:rPr lang="en-US" dirty="0"/>
              <a:t> </a:t>
            </a:r>
            <a:r>
              <a:rPr lang="en-US" dirty="0" err="1"/>
              <a:t>критической</a:t>
            </a:r>
            <a:r>
              <a:rPr lang="en-US" dirty="0"/>
              <a:t> </a:t>
            </a:r>
            <a:r>
              <a:rPr lang="en-US" dirty="0" err="1"/>
              <a:t>секции</a:t>
            </a:r>
            <a:r>
              <a:rPr lang="en-US" dirty="0"/>
              <a:t>.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повсюду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Первая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— </a:t>
            </a:r>
            <a:r>
              <a:rPr lang="en-US" dirty="0" err="1"/>
              <a:t>многоядерные</a:t>
            </a:r>
            <a:r>
              <a:rPr lang="en-US" dirty="0"/>
              <a:t> </a:t>
            </a:r>
            <a:r>
              <a:rPr lang="en-US" dirty="0" err="1"/>
              <a:t>процессоры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современной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выполняются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ядрах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CPU 0 </a:t>
            </a:r>
            <a:r>
              <a:rPr lang="en-US" dirty="0" err="1"/>
              <a:t>отключит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никак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остановит</a:t>
            </a:r>
            <a:r>
              <a:rPr lang="en-US" dirty="0"/>
              <a:t> CPU 1.</a:t>
            </a:r>
          </a:p>
          <a:p>
            <a:r>
              <a:rPr lang="en-US" dirty="0" err="1"/>
              <a:t>Представьте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с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областью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отключил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и </a:t>
            </a:r>
            <a:r>
              <a:rPr lang="en-US" dirty="0" err="1"/>
              <a:t>приступил</a:t>
            </a:r>
            <a:r>
              <a:rPr lang="en-US" dirty="0"/>
              <a:t> к </a:t>
            </a:r>
            <a:r>
              <a:rPr lang="en-US" dirty="0" err="1"/>
              <a:t>обновлению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временем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и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изменяет</a:t>
            </a:r>
            <a:r>
              <a:rPr lang="en-US" dirty="0"/>
              <a:t>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</a:p>
          <a:p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гонки</a:t>
            </a:r>
            <a:r>
              <a:rPr lang="en-US" dirty="0"/>
              <a:t> </a:t>
            </a:r>
            <a:r>
              <a:rPr lang="en-US" dirty="0" err="1"/>
              <a:t>никуда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исчезло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Вторая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— </a:t>
            </a:r>
            <a:r>
              <a:rPr lang="en-US" dirty="0" err="1"/>
              <a:t>безопасность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разрешить</a:t>
            </a:r>
            <a:r>
              <a:rPr lang="en-US" dirty="0"/>
              <a:t> </a:t>
            </a:r>
            <a:r>
              <a:rPr lang="en-US" dirty="0" err="1"/>
              <a:t>обычной</a:t>
            </a:r>
            <a:r>
              <a:rPr lang="en-US" dirty="0"/>
              <a:t> </a:t>
            </a:r>
            <a:r>
              <a:rPr lang="en-US" dirty="0" err="1"/>
              <a:t>пользовательской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отключать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,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нарушить</a:t>
            </a:r>
            <a:r>
              <a:rPr lang="en-US" dirty="0"/>
              <a:t> </a:t>
            </a:r>
            <a:r>
              <a:rPr lang="en-US" dirty="0" err="1"/>
              <a:t>нормальную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обычной</a:t>
            </a:r>
            <a:r>
              <a:rPr lang="en-US" dirty="0"/>
              <a:t> </a:t>
            </a:r>
            <a:r>
              <a:rPr lang="en-US" dirty="0" err="1"/>
              <a:t>конфигурации</a:t>
            </a:r>
            <a:r>
              <a:rPr lang="en-US" dirty="0"/>
              <a:t> x86-64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недоступны</a:t>
            </a:r>
            <a:r>
              <a:rPr lang="en-US" dirty="0"/>
              <a:t> </a:t>
            </a:r>
            <a:r>
              <a:rPr lang="en-US" dirty="0" err="1"/>
              <a:t>пользовательскому</a:t>
            </a:r>
            <a:r>
              <a:rPr lang="en-US" dirty="0"/>
              <a:t> </a:t>
            </a:r>
            <a:r>
              <a:rPr lang="en-US" dirty="0" err="1"/>
              <a:t>коду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Третья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— </a:t>
            </a:r>
            <a:r>
              <a:rPr lang="en-US" dirty="0" err="1"/>
              <a:t>отзывчивость</a:t>
            </a:r>
            <a:r>
              <a:rPr lang="en-US" dirty="0"/>
              <a:t>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маскируемые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</a:t>
            </a:r>
            <a:r>
              <a:rPr lang="en-US" dirty="0" err="1"/>
              <a:t>отключены</a:t>
            </a:r>
            <a:r>
              <a:rPr lang="en-US" dirty="0"/>
              <a:t>,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нормально</a:t>
            </a:r>
            <a:r>
              <a:rPr lang="en-US" dirty="0"/>
              <a:t> </a:t>
            </a:r>
            <a:r>
              <a:rPr lang="en-US" dirty="0" err="1"/>
              <a:t>обрабатывать</a:t>
            </a:r>
            <a:r>
              <a:rPr lang="en-US" dirty="0"/>
              <a:t> </a:t>
            </a:r>
            <a:r>
              <a:rPr lang="en-US" dirty="0" err="1"/>
              <a:t>соответствующие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устройств</a:t>
            </a:r>
            <a:r>
              <a:rPr lang="en-US" dirty="0"/>
              <a:t> и </a:t>
            </a:r>
            <a:r>
              <a:rPr lang="en-US" dirty="0" err="1"/>
              <a:t>таймера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режим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использоваться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осторожно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менее</a:t>
            </a:r>
            <a:r>
              <a:rPr lang="en-US" dirty="0"/>
              <a:t> </a:t>
            </a:r>
            <a:r>
              <a:rPr lang="en-US" dirty="0" err="1"/>
              <a:t>отключение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полезным</a:t>
            </a:r>
            <a:r>
              <a:rPr lang="en-US" dirty="0"/>
              <a:t> </a:t>
            </a:r>
            <a:r>
              <a:rPr lang="en-US" dirty="0" err="1"/>
              <a:t>инструментом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ОС. </a:t>
            </a:r>
            <a:r>
              <a:rPr lang="en-US" dirty="0" err="1"/>
              <a:t>Например</a:t>
            </a:r>
            <a:r>
              <a:rPr lang="en-US" dirty="0"/>
              <a:t>, в Linux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spin_lock_irqsave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сочетает</a:t>
            </a:r>
            <a:r>
              <a:rPr lang="en-US" dirty="0"/>
              <a:t> </a:t>
            </a:r>
            <a:r>
              <a:rPr lang="en-US" dirty="0" err="1"/>
              <a:t>захват</a:t>
            </a:r>
            <a:r>
              <a:rPr lang="en-US" dirty="0"/>
              <a:t> </a:t>
            </a:r>
            <a:r>
              <a:rPr lang="en-US" dirty="0" err="1"/>
              <a:t>спинлока</a:t>
            </a:r>
            <a:r>
              <a:rPr lang="en-US" dirty="0"/>
              <a:t> с </a:t>
            </a:r>
            <a:r>
              <a:rPr lang="en-US" dirty="0" err="1"/>
              <a:t>отключением</a:t>
            </a:r>
            <a:r>
              <a:rPr lang="en-US" dirty="0"/>
              <a:t> </a:t>
            </a:r>
            <a:r>
              <a:rPr lang="en-US" dirty="0" err="1"/>
              <a:t>локальных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 и </a:t>
            </a:r>
            <a:r>
              <a:rPr lang="en-US" dirty="0" err="1"/>
              <a:t>сохранением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предыдущего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взаимного</a:t>
            </a:r>
            <a:r>
              <a:rPr lang="en-US" dirty="0"/>
              <a:t> </a:t>
            </a:r>
            <a:r>
              <a:rPr lang="en-US" dirty="0" err="1"/>
              <a:t>исключения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процессорными</a:t>
            </a:r>
            <a:r>
              <a:rPr lang="en-US" dirty="0"/>
              <a:t> </a:t>
            </a:r>
            <a:r>
              <a:rPr lang="en-US" dirty="0" err="1"/>
              <a:t>ядрами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16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отказаться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запрета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 и </a:t>
            </a:r>
            <a:r>
              <a:rPr lang="en-US" dirty="0" err="1"/>
              <a:t>придумать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процессорных</a:t>
            </a:r>
            <a:r>
              <a:rPr lang="en-US" dirty="0"/>
              <a:t> </a:t>
            </a:r>
            <a:r>
              <a:rPr lang="en-US" dirty="0" err="1"/>
              <a:t>ядрах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Самая</a:t>
            </a:r>
            <a:r>
              <a:rPr lang="en-US" dirty="0"/>
              <a:t> </a:t>
            </a:r>
            <a:r>
              <a:rPr lang="en-US" dirty="0" err="1"/>
              <a:t>очевидная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— </a:t>
            </a:r>
            <a:r>
              <a:rPr lang="en-US" dirty="0" err="1"/>
              <a:t>завести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переменную</a:t>
            </a:r>
            <a:r>
              <a:rPr lang="en-US" dirty="0"/>
              <a:t> lock.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равна</a:t>
            </a:r>
            <a:r>
              <a:rPr lang="en-US" dirty="0"/>
              <a:t> </a:t>
            </a:r>
            <a:r>
              <a:rPr lang="en-US" dirty="0" err="1"/>
              <a:t>нулю</a:t>
            </a:r>
            <a:r>
              <a:rPr lang="en-US" dirty="0"/>
              <a:t>, </a:t>
            </a:r>
            <a:r>
              <a:rPr lang="en-US" dirty="0" err="1"/>
              <a:t>ресурс</a:t>
            </a:r>
            <a:r>
              <a:rPr lang="en-US" dirty="0"/>
              <a:t> </a:t>
            </a:r>
            <a:r>
              <a:rPr lang="en-US" dirty="0" err="1"/>
              <a:t>свободен</a:t>
            </a:r>
            <a:r>
              <a:rPr lang="en-US" dirty="0"/>
              <a:t>.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устанавливает</a:t>
            </a:r>
            <a:r>
              <a:rPr lang="en-US" dirty="0"/>
              <a:t> </a:t>
            </a:r>
            <a:r>
              <a:rPr lang="en-US" dirty="0" err="1"/>
              <a:t>единицу</a:t>
            </a:r>
            <a:r>
              <a:rPr lang="en-US" dirty="0"/>
              <a:t> и </a:t>
            </a:r>
            <a:r>
              <a:rPr lang="en-US" dirty="0" err="1"/>
              <a:t>входит</a:t>
            </a:r>
            <a:r>
              <a:rPr lang="en-US" dirty="0"/>
              <a:t> в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переменная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равна</a:t>
            </a:r>
            <a:r>
              <a:rPr lang="en-US" dirty="0"/>
              <a:t> </a:t>
            </a:r>
            <a:r>
              <a:rPr lang="en-US" dirty="0" err="1"/>
              <a:t>единице</a:t>
            </a:r>
            <a:r>
              <a:rPr lang="en-US" dirty="0"/>
              <a:t>,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ждёт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станет</a:t>
            </a:r>
            <a:r>
              <a:rPr lang="en-US" dirty="0"/>
              <a:t> </a:t>
            </a:r>
            <a:r>
              <a:rPr lang="en-US" dirty="0" err="1"/>
              <a:t>нулём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, с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столкнулись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изменении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счётчика</a:t>
            </a:r>
            <a:r>
              <a:rPr lang="en-US" dirty="0"/>
              <a:t>.</a:t>
            </a:r>
          </a:p>
          <a:p>
            <a:r>
              <a:rPr lang="en-US" dirty="0" err="1"/>
              <a:t>Представьте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A и B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прочитали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</a:t>
            </a:r>
            <a:r>
              <a:rPr lang="en-US" dirty="0"/>
              <a:t> и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 </a:t>
            </a:r>
            <a:r>
              <a:rPr lang="en-US" dirty="0" err="1"/>
              <a:t>ноль</a:t>
            </a:r>
            <a:r>
              <a:rPr lang="en-US" dirty="0"/>
              <a:t>.</a:t>
            </a:r>
          </a:p>
          <a:p>
            <a:r>
              <a:rPr lang="en-US" dirty="0" err="1"/>
              <a:t>Поток</a:t>
            </a:r>
            <a:r>
              <a:rPr lang="en-US" dirty="0"/>
              <a:t> A </a:t>
            </a:r>
            <a:r>
              <a:rPr lang="en-US" dirty="0" err="1"/>
              <a:t>собирается</a:t>
            </a:r>
            <a:r>
              <a:rPr lang="en-US" dirty="0"/>
              <a:t> </a:t>
            </a:r>
            <a:r>
              <a:rPr lang="en-US" dirty="0" err="1"/>
              <a:t>установить</a:t>
            </a:r>
            <a:r>
              <a:rPr lang="en-US" dirty="0"/>
              <a:t> </a:t>
            </a:r>
            <a:r>
              <a:rPr lang="en-US" dirty="0" err="1"/>
              <a:t>единицу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успевает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, </a:t>
            </a:r>
            <a:r>
              <a:rPr lang="en-US" dirty="0" err="1"/>
              <a:t>поток</a:t>
            </a:r>
            <a:r>
              <a:rPr lang="en-US" dirty="0"/>
              <a:t> B </a:t>
            </a:r>
            <a:r>
              <a:rPr lang="en-US" dirty="0" err="1"/>
              <a:t>устанавливает</a:t>
            </a:r>
            <a:r>
              <a:rPr lang="en-US" dirty="0"/>
              <a:t> </a:t>
            </a:r>
            <a:r>
              <a:rPr lang="en-US" dirty="0" err="1"/>
              <a:t>единицу</a:t>
            </a:r>
            <a:r>
              <a:rPr lang="en-US" dirty="0"/>
              <a:t> и </a:t>
            </a:r>
            <a:r>
              <a:rPr lang="en-US" dirty="0" err="1"/>
              <a:t>входит</a:t>
            </a:r>
            <a:r>
              <a:rPr lang="en-US" dirty="0"/>
              <a:t> в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A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,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записывает</a:t>
            </a:r>
            <a:r>
              <a:rPr lang="en-US" dirty="0"/>
              <a:t> </a:t>
            </a:r>
            <a:r>
              <a:rPr lang="en-US" dirty="0" err="1"/>
              <a:t>единицу</a:t>
            </a:r>
            <a:r>
              <a:rPr lang="en-US" dirty="0"/>
              <a:t> и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входит</a:t>
            </a:r>
            <a:r>
              <a:rPr lang="en-US" dirty="0"/>
              <a:t> в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с </a:t>
            </a:r>
            <a:r>
              <a:rPr lang="en-US" dirty="0" err="1"/>
              <a:t>защищаемыми</a:t>
            </a:r>
            <a:r>
              <a:rPr lang="en-US" dirty="0"/>
              <a:t> </a:t>
            </a:r>
            <a:r>
              <a:rPr lang="en-US" dirty="0" err="1"/>
              <a:t>данными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отдельное</a:t>
            </a:r>
            <a:r>
              <a:rPr lang="en-US" dirty="0"/>
              <a:t> </a:t>
            </a:r>
            <a:r>
              <a:rPr lang="en-US" dirty="0" err="1"/>
              <a:t>чтение</a:t>
            </a:r>
            <a:r>
              <a:rPr lang="en-US" dirty="0"/>
              <a:t> и </a:t>
            </a:r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lock </a:t>
            </a:r>
            <a:r>
              <a:rPr lang="en-US" dirty="0" err="1"/>
              <a:t>выполняются</a:t>
            </a:r>
            <a:r>
              <a:rPr lang="en-US" dirty="0"/>
              <a:t> </a:t>
            </a:r>
            <a:r>
              <a:rPr lang="en-US" dirty="0" err="1"/>
              <a:t>атомарно</a:t>
            </a:r>
            <a:r>
              <a:rPr lang="en-US" dirty="0"/>
              <a:t>,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.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атомарность</a:t>
            </a:r>
            <a:r>
              <a:rPr lang="en-US" dirty="0"/>
              <a:t> </a:t>
            </a:r>
            <a:r>
              <a:rPr lang="en-US" dirty="0" err="1"/>
              <a:t>всей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«</a:t>
            </a:r>
            <a:r>
              <a:rPr lang="en-US" dirty="0" err="1"/>
              <a:t>проверить</a:t>
            </a:r>
            <a:r>
              <a:rPr lang="en-US" dirty="0"/>
              <a:t> и </a:t>
            </a:r>
            <a:r>
              <a:rPr lang="en-US" dirty="0" err="1"/>
              <a:t>захватить</a:t>
            </a:r>
            <a:r>
              <a:rPr lang="en-US" dirty="0"/>
              <a:t>».</a:t>
            </a:r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проверять</a:t>
            </a:r>
            <a:r>
              <a:rPr lang="en-US" dirty="0"/>
              <a:t> lock </a:t>
            </a:r>
            <a:r>
              <a:rPr lang="en-US" dirty="0" err="1"/>
              <a:t>дважды</a:t>
            </a:r>
            <a:r>
              <a:rPr lang="en-US" dirty="0"/>
              <a:t>? Это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поможет</a:t>
            </a:r>
            <a:r>
              <a:rPr lang="en-US" dirty="0"/>
              <a:t>: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вмешаться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последней</a:t>
            </a:r>
            <a:r>
              <a:rPr lang="en-US" dirty="0"/>
              <a:t> </a:t>
            </a:r>
            <a:r>
              <a:rPr lang="en-US" dirty="0" err="1"/>
              <a:t>проверки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C++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с </a:t>
            </a:r>
            <a:r>
              <a:rPr lang="en-US" dirty="0" err="1"/>
              <a:t>обычной</a:t>
            </a:r>
            <a:r>
              <a:rPr lang="en-US" dirty="0"/>
              <a:t>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переменной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к data race и </a:t>
            </a:r>
            <a:r>
              <a:rPr lang="en-US" dirty="0" err="1"/>
              <a:t>неопределённому</a:t>
            </a:r>
            <a:r>
              <a:rPr lang="en-US" dirty="0"/>
              <a:t> </a:t>
            </a:r>
            <a:r>
              <a:rPr lang="en-US" dirty="0" err="1"/>
              <a:t>поведению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слайде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представлен</a:t>
            </a:r>
            <a:r>
              <a:rPr lang="en-US" dirty="0"/>
              <a:t> </a:t>
            </a:r>
            <a:r>
              <a:rPr lang="en-US" dirty="0" err="1"/>
              <a:t>исключительно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псевдокод</a:t>
            </a:r>
            <a:r>
              <a:rPr lang="en-US" dirty="0"/>
              <a:t> </a:t>
            </a:r>
            <a:r>
              <a:rPr lang="en-US" dirty="0" err="1"/>
              <a:t>ошибочного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следующем</a:t>
            </a:r>
            <a:r>
              <a:rPr lang="en-US" dirty="0"/>
              <a:t> </a:t>
            </a:r>
            <a:r>
              <a:rPr lang="en-US" dirty="0" err="1"/>
              <a:t>слайде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хитрой</a:t>
            </a:r>
            <a:r>
              <a:rPr lang="en-US" dirty="0"/>
              <a:t> </a:t>
            </a:r>
            <a:r>
              <a:rPr lang="en-US" dirty="0" err="1"/>
              <a:t>программной</a:t>
            </a:r>
            <a:r>
              <a:rPr lang="en-US" dirty="0"/>
              <a:t> </a:t>
            </a:r>
            <a:r>
              <a:rPr lang="en-US" dirty="0" err="1"/>
              <a:t>логикой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143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придумать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позволит</a:t>
            </a:r>
            <a:r>
              <a:rPr lang="en-US" dirty="0"/>
              <a:t> </a:t>
            </a:r>
            <a:r>
              <a:rPr lang="en-US" dirty="0" err="1"/>
              <a:t>двум</a:t>
            </a:r>
            <a:r>
              <a:rPr lang="en-US" dirty="0"/>
              <a:t> </a:t>
            </a:r>
            <a:r>
              <a:rPr lang="en-US" dirty="0" err="1"/>
              <a:t>потокам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войти</a:t>
            </a:r>
            <a:r>
              <a:rPr lang="en-US" dirty="0"/>
              <a:t> в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простейших</a:t>
            </a:r>
            <a:r>
              <a:rPr lang="en-US" dirty="0"/>
              <a:t> </a:t>
            </a:r>
            <a:r>
              <a:rPr lang="en-US" dirty="0" err="1"/>
              <a:t>идей</a:t>
            </a:r>
            <a:r>
              <a:rPr lang="en-US" dirty="0"/>
              <a:t> — </a:t>
            </a:r>
            <a:r>
              <a:rPr lang="en-US" dirty="0" err="1"/>
              <a:t>строгое</a:t>
            </a:r>
            <a:r>
              <a:rPr lang="en-US" dirty="0"/>
              <a:t> </a:t>
            </a:r>
            <a:r>
              <a:rPr lang="en-US" dirty="0" err="1"/>
              <a:t>чередование</a:t>
            </a:r>
            <a:r>
              <a:rPr lang="en-US" dirty="0"/>
              <a:t>.</a:t>
            </a:r>
          </a:p>
          <a:p>
            <a:r>
              <a:rPr lang="en-US" dirty="0" err="1"/>
              <a:t>Введём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переменную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turn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равна</a:t>
            </a:r>
            <a:r>
              <a:rPr lang="en-US" dirty="0"/>
              <a:t> </a:t>
            </a:r>
            <a:r>
              <a:rPr lang="en-US" dirty="0" err="1"/>
              <a:t>нулю</a:t>
            </a:r>
            <a:r>
              <a:rPr lang="en-US" dirty="0"/>
              <a:t>, в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войти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номер</a:t>
            </a:r>
            <a:r>
              <a:rPr lang="en-US" dirty="0"/>
              <a:t> </a:t>
            </a:r>
            <a:r>
              <a:rPr lang="en-US" dirty="0" err="1"/>
              <a:t>ноль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единице</a:t>
            </a:r>
            <a:r>
              <a:rPr lang="en-US" dirty="0"/>
              <a:t> —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номер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выхода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право</a:t>
            </a:r>
            <a:r>
              <a:rPr lang="en-US" dirty="0"/>
              <a:t> </a:t>
            </a:r>
            <a:r>
              <a:rPr lang="en-US" dirty="0" err="1"/>
              <a:t>входа</a:t>
            </a:r>
            <a:r>
              <a:rPr lang="en-US" dirty="0"/>
              <a:t> </a:t>
            </a:r>
            <a:r>
              <a:rPr lang="en-US" dirty="0" err="1"/>
              <a:t>другому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Действительно</a:t>
            </a:r>
            <a:r>
              <a:rPr lang="en-US" dirty="0"/>
              <a:t>, в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смогут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в </a:t>
            </a:r>
            <a:r>
              <a:rPr lang="en-US" dirty="0" err="1"/>
              <a:t>критической</a:t>
            </a:r>
            <a:r>
              <a:rPr lang="en-US" dirty="0"/>
              <a:t> </a:t>
            </a:r>
            <a:r>
              <a:rPr lang="en-US" dirty="0" err="1"/>
              <a:t>секции</a:t>
            </a:r>
            <a:r>
              <a:rPr lang="en-US" dirty="0"/>
              <a:t>.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смысле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взаимного</a:t>
            </a:r>
            <a:r>
              <a:rPr lang="en-US" dirty="0"/>
              <a:t> </a:t>
            </a:r>
            <a:r>
              <a:rPr lang="en-US" dirty="0" err="1"/>
              <a:t>исключения</a:t>
            </a:r>
            <a:r>
              <a:rPr lang="en-US" dirty="0"/>
              <a:t> </a:t>
            </a:r>
            <a:r>
              <a:rPr lang="en-US" dirty="0" err="1"/>
              <a:t>решена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: </a:t>
            </a:r>
            <a:r>
              <a:rPr lang="en-US" dirty="0" err="1"/>
              <a:t>поток</a:t>
            </a:r>
            <a:r>
              <a:rPr lang="en-US" dirty="0"/>
              <a:t> A </a:t>
            </a:r>
            <a:r>
              <a:rPr lang="en-US" dirty="0" err="1"/>
              <a:t>выполнил</a:t>
            </a:r>
            <a:r>
              <a:rPr lang="en-US" dirty="0"/>
              <a:t>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 и </a:t>
            </a:r>
            <a:r>
              <a:rPr lang="en-US" dirty="0" err="1"/>
              <a:t>передал</a:t>
            </a:r>
            <a:r>
              <a:rPr lang="en-US" dirty="0"/>
              <a:t> </a:t>
            </a:r>
            <a:r>
              <a:rPr lang="en-US" dirty="0" err="1"/>
              <a:t>ход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 B.</a:t>
            </a:r>
          </a:p>
          <a:p>
            <a:r>
              <a:rPr lang="en-US" dirty="0" err="1"/>
              <a:t>Поток</a:t>
            </a:r>
            <a:r>
              <a:rPr lang="en-US" dirty="0"/>
              <a:t> B </a:t>
            </a:r>
            <a:r>
              <a:rPr lang="en-US" dirty="0" err="1"/>
              <a:t>занят</a:t>
            </a:r>
            <a:r>
              <a:rPr lang="en-US" dirty="0"/>
              <a:t> </a:t>
            </a:r>
            <a:r>
              <a:rPr lang="en-US" dirty="0" err="1"/>
              <a:t>долгими</a:t>
            </a:r>
            <a:r>
              <a:rPr lang="en-US" dirty="0"/>
              <a:t> </a:t>
            </a:r>
            <a:r>
              <a:rPr lang="en-US" dirty="0" err="1"/>
              <a:t>вычислениями</a:t>
            </a:r>
            <a:r>
              <a:rPr lang="en-US" dirty="0"/>
              <a:t> и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собирается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общим</a:t>
            </a:r>
            <a:r>
              <a:rPr lang="en-US" dirty="0"/>
              <a:t> </a:t>
            </a:r>
            <a:r>
              <a:rPr lang="en-US" dirty="0" err="1"/>
              <a:t>ресурсом</a:t>
            </a:r>
            <a:r>
              <a:rPr lang="en-US" dirty="0"/>
              <a:t>.</a:t>
            </a:r>
          </a:p>
          <a:p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временем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A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войти</a:t>
            </a:r>
            <a:r>
              <a:rPr lang="en-US" dirty="0"/>
              <a:t> в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. </a:t>
            </a:r>
            <a:r>
              <a:rPr lang="en-US" dirty="0" err="1"/>
              <a:t>Переменная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turn</a:t>
            </a:r>
            <a:r>
              <a:rPr lang="en-US" dirty="0"/>
              <a:t> </a:t>
            </a:r>
            <a:r>
              <a:rPr lang="en-US" dirty="0" err="1"/>
              <a:t>указывает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B, и A </a:t>
            </a:r>
            <a:r>
              <a:rPr lang="en-US" dirty="0" err="1"/>
              <a:t>вынужден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парадоксальная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: </a:t>
            </a:r>
            <a:r>
              <a:rPr lang="en-US" dirty="0" err="1"/>
              <a:t>критическая</a:t>
            </a:r>
            <a:r>
              <a:rPr lang="en-US" dirty="0"/>
              <a:t> </a:t>
            </a:r>
            <a:r>
              <a:rPr lang="en-US" dirty="0" err="1"/>
              <a:t>секция</a:t>
            </a:r>
            <a:r>
              <a:rPr lang="en-US" dirty="0"/>
              <a:t> </a:t>
            </a:r>
            <a:r>
              <a:rPr lang="en-US" dirty="0" err="1"/>
              <a:t>свободна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занять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нарушает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progress,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рассматривали</a:t>
            </a:r>
            <a:r>
              <a:rPr lang="en-US" dirty="0"/>
              <a:t> </a:t>
            </a:r>
            <a:r>
              <a:rPr lang="en-US" dirty="0" err="1"/>
              <a:t>ранее</a:t>
            </a:r>
            <a:r>
              <a:rPr lang="en-US" dirty="0"/>
              <a:t>. </a:t>
            </a:r>
            <a:r>
              <a:rPr lang="en-US" dirty="0" err="1"/>
              <a:t>Поток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заинтересованный</a:t>
            </a:r>
            <a:r>
              <a:rPr lang="en-US" dirty="0"/>
              <a:t> в </a:t>
            </a:r>
            <a:r>
              <a:rPr lang="en-US" dirty="0" err="1"/>
              <a:t>критической</a:t>
            </a:r>
            <a:r>
              <a:rPr lang="en-US" dirty="0"/>
              <a:t> </a:t>
            </a:r>
            <a:r>
              <a:rPr lang="en-US" dirty="0" err="1"/>
              <a:t>секции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мешать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потокам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en-US" dirty="0"/>
              <a:t>.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спит</a:t>
            </a:r>
            <a:r>
              <a:rPr lang="en-US" dirty="0"/>
              <a:t>, а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проверяет</a:t>
            </a:r>
            <a:r>
              <a:rPr lang="en-US" dirty="0"/>
              <a:t> </a:t>
            </a:r>
            <a:r>
              <a:rPr lang="en-US" dirty="0" err="1"/>
              <a:t>переменную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turn</a:t>
            </a:r>
            <a:r>
              <a:rPr lang="en-US" dirty="0"/>
              <a:t>. Это </a:t>
            </a:r>
            <a:r>
              <a:rPr lang="en-US" dirty="0" err="1"/>
              <a:t>называется</a:t>
            </a:r>
            <a:r>
              <a:rPr lang="en-US" dirty="0"/>
              <a:t> </a:t>
            </a:r>
            <a:r>
              <a:rPr lang="en-US" dirty="0" err="1"/>
              <a:t>активным</a:t>
            </a:r>
            <a:r>
              <a:rPr lang="en-US" dirty="0"/>
              <a:t> </a:t>
            </a:r>
            <a:r>
              <a:rPr lang="en-US" dirty="0" err="1"/>
              <a:t>ожиданием</a:t>
            </a:r>
            <a:r>
              <a:rPr lang="en-US" dirty="0"/>
              <a:t> — Busy Waiting.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используем</a:t>
            </a:r>
            <a:r>
              <a:rPr lang="en-US" dirty="0"/>
              <a:t> </a:t>
            </a:r>
            <a:r>
              <a:rPr lang="en-US" dirty="0" err="1"/>
              <a:t>абстрактную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с </a:t>
            </a:r>
            <a:r>
              <a:rPr lang="en-US" dirty="0" err="1"/>
              <a:t>согласованным</a:t>
            </a:r>
            <a:r>
              <a:rPr lang="en-US" dirty="0"/>
              <a:t> </a:t>
            </a:r>
            <a:r>
              <a:rPr lang="en-US" dirty="0" err="1"/>
              <a:t>доступом</a:t>
            </a:r>
            <a:r>
              <a:rPr lang="en-US" dirty="0"/>
              <a:t> к </a:t>
            </a:r>
            <a:r>
              <a:rPr lang="en-US" dirty="0" err="1"/>
              <a:t>переменной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turn</a:t>
            </a:r>
            <a:r>
              <a:rPr lang="en-US" dirty="0"/>
              <a:t>. </a:t>
            </a:r>
            <a:r>
              <a:rPr lang="en-US" dirty="0" err="1"/>
              <a:t>Приведённый</a:t>
            </a:r>
            <a:r>
              <a:rPr lang="en-US" dirty="0"/>
              <a:t> </a:t>
            </a:r>
            <a:r>
              <a:rPr lang="en-US" dirty="0" err="1"/>
              <a:t>псевдокод</a:t>
            </a:r>
            <a:r>
              <a:rPr lang="en-US" dirty="0"/>
              <a:t> с </a:t>
            </a:r>
            <a:r>
              <a:rPr lang="en-US" dirty="0" err="1"/>
              <a:t>обычной</a:t>
            </a:r>
            <a:r>
              <a:rPr lang="en-US" dirty="0"/>
              <a:t> </a:t>
            </a:r>
            <a:r>
              <a:rPr lang="en-US" dirty="0" err="1"/>
              <a:t>переменной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считать</a:t>
            </a:r>
            <a:r>
              <a:rPr lang="en-US" dirty="0"/>
              <a:t> </a:t>
            </a:r>
            <a:r>
              <a:rPr lang="en-US" dirty="0" err="1"/>
              <a:t>корректной</a:t>
            </a:r>
            <a:r>
              <a:rPr lang="en-US" dirty="0"/>
              <a:t> </a:t>
            </a:r>
            <a:r>
              <a:rPr lang="en-US" dirty="0" err="1"/>
              <a:t>реализацией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C++.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846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Строгое</a:t>
            </a:r>
            <a:r>
              <a:rPr lang="en-US" dirty="0"/>
              <a:t> </a:t>
            </a:r>
            <a:r>
              <a:rPr lang="en-US" dirty="0" err="1"/>
              <a:t>чередование</a:t>
            </a:r>
            <a:r>
              <a:rPr lang="en-US" dirty="0"/>
              <a:t>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взаимное</a:t>
            </a:r>
            <a:r>
              <a:rPr lang="en-US" dirty="0"/>
              <a:t> </a:t>
            </a:r>
            <a:r>
              <a:rPr lang="en-US" dirty="0" err="1"/>
              <a:t>исключение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очевидный</a:t>
            </a:r>
            <a:r>
              <a:rPr lang="en-US" dirty="0"/>
              <a:t> </a:t>
            </a:r>
            <a:r>
              <a:rPr lang="en-US" dirty="0" err="1"/>
              <a:t>недостаток</a:t>
            </a:r>
            <a:r>
              <a:rPr lang="en-US" dirty="0"/>
              <a:t>: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вынуждены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друга</a:t>
            </a:r>
            <a:r>
              <a:rPr lang="en-US" dirty="0"/>
              <a:t>,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критическая</a:t>
            </a:r>
            <a:r>
              <a:rPr lang="en-US" dirty="0"/>
              <a:t> </a:t>
            </a:r>
            <a:r>
              <a:rPr lang="en-US" dirty="0" err="1"/>
              <a:t>секция</a:t>
            </a:r>
            <a:r>
              <a:rPr lang="en-US" dirty="0"/>
              <a:t> </a:t>
            </a:r>
            <a:r>
              <a:rPr lang="en-US" dirty="0" err="1"/>
              <a:t>свободна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построить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совершенный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общие</a:t>
            </a:r>
            <a:r>
              <a:rPr lang="en-US" dirty="0"/>
              <a:t> </a:t>
            </a:r>
            <a:r>
              <a:rPr lang="en-US" dirty="0" err="1"/>
              <a:t>переменные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1981 </a:t>
            </a:r>
            <a:r>
              <a:rPr lang="en-US" dirty="0" err="1"/>
              <a:t>году</a:t>
            </a:r>
            <a:r>
              <a:rPr lang="en-US" dirty="0"/>
              <a:t> </a:t>
            </a:r>
            <a:r>
              <a:rPr lang="en-US" dirty="0" err="1"/>
              <a:t>Гэри</a:t>
            </a:r>
            <a:r>
              <a:rPr lang="en-US" dirty="0"/>
              <a:t> </a:t>
            </a:r>
            <a:r>
              <a:rPr lang="en-US" dirty="0" err="1"/>
              <a:t>Петерсон</a:t>
            </a:r>
            <a:r>
              <a:rPr lang="en-US" dirty="0"/>
              <a:t> </a:t>
            </a:r>
            <a:r>
              <a:rPr lang="en-US" dirty="0" err="1"/>
              <a:t>предложил</a:t>
            </a:r>
            <a:r>
              <a:rPr lang="en-US" dirty="0"/>
              <a:t> </a:t>
            </a:r>
            <a:r>
              <a:rPr lang="en-US" dirty="0" err="1"/>
              <a:t>элегантное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участников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идеи</a:t>
            </a:r>
            <a:r>
              <a:rPr lang="en-US" dirty="0"/>
              <a:t>.</a:t>
            </a:r>
          </a:p>
          <a:p>
            <a:r>
              <a:rPr lang="en-US" dirty="0" err="1"/>
              <a:t>Первая</a:t>
            </a:r>
            <a:r>
              <a:rPr lang="en-US" dirty="0"/>
              <a:t> — </a:t>
            </a:r>
            <a:r>
              <a:rPr lang="en-US" dirty="0" err="1"/>
              <a:t>флаги</a:t>
            </a:r>
            <a:r>
              <a:rPr lang="en-US" dirty="0"/>
              <a:t> </a:t>
            </a:r>
            <a:r>
              <a:rPr lang="en-US" dirty="0" err="1"/>
              <a:t>намерения</a:t>
            </a:r>
            <a:r>
              <a:rPr lang="en-US" dirty="0"/>
              <a:t>.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войти</a:t>
            </a:r>
            <a:r>
              <a:rPr lang="en-US" dirty="0"/>
              <a:t> в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устанавливает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dirty="0" err="1"/>
              <a:t>массива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want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en-US" dirty="0"/>
              <a:t>.</a:t>
            </a:r>
          </a:p>
          <a:p>
            <a:r>
              <a:rPr lang="en-US" dirty="0" err="1"/>
              <a:t>Вторая</a:t>
            </a:r>
            <a:r>
              <a:rPr lang="en-US" dirty="0"/>
              <a:t> — </a:t>
            </a:r>
            <a:r>
              <a:rPr lang="en-US" dirty="0" err="1"/>
              <a:t>переменная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turn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разрешить</a:t>
            </a:r>
            <a:r>
              <a:rPr lang="en-US" dirty="0"/>
              <a:t> </a:t>
            </a:r>
            <a:r>
              <a:rPr lang="en-US" dirty="0" err="1"/>
              <a:t>конфликт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хотят</a:t>
            </a:r>
            <a:r>
              <a:rPr lang="en-US" dirty="0"/>
              <a:t> </a:t>
            </a:r>
            <a:r>
              <a:rPr lang="en-US" dirty="0" err="1"/>
              <a:t>войти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Enter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объявляет</a:t>
            </a:r>
            <a:r>
              <a:rPr lang="en-US" dirty="0"/>
              <a:t> о </a:t>
            </a:r>
            <a:r>
              <a:rPr lang="en-US" dirty="0" err="1"/>
              <a:t>своём</a:t>
            </a:r>
            <a:r>
              <a:rPr lang="en-US" dirty="0"/>
              <a:t> </a:t>
            </a:r>
            <a:r>
              <a:rPr lang="en-US" dirty="0" err="1"/>
              <a:t>намерении</a:t>
            </a:r>
            <a:r>
              <a:rPr lang="en-US" dirty="0"/>
              <a:t> </a:t>
            </a:r>
            <a:r>
              <a:rPr lang="en-US" dirty="0" err="1"/>
              <a:t>войти</a:t>
            </a:r>
            <a:r>
              <a:rPr lang="en-US" dirty="0"/>
              <a:t>.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присваивает</a:t>
            </a:r>
            <a:r>
              <a:rPr lang="en-US" dirty="0"/>
              <a:t> </a:t>
            </a:r>
            <a:r>
              <a:rPr lang="en-US" dirty="0" err="1"/>
              <a:t>переменной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turn</a:t>
            </a:r>
            <a:r>
              <a:rPr lang="en-US" dirty="0"/>
              <a:t> </a:t>
            </a:r>
            <a:r>
              <a:rPr lang="en-US" dirty="0" err="1"/>
              <a:t>номер</a:t>
            </a:r>
            <a:r>
              <a:rPr lang="en-US" dirty="0"/>
              <a:t> </a:t>
            </a:r>
            <a:r>
              <a:rPr lang="en-US" dirty="0" err="1"/>
              <a:t>другого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—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уступает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право</a:t>
            </a:r>
            <a:r>
              <a:rPr lang="en-US" dirty="0"/>
              <a:t> </a:t>
            </a:r>
            <a:r>
              <a:rPr lang="en-US" dirty="0" err="1"/>
              <a:t>первоочередного</a:t>
            </a:r>
            <a:r>
              <a:rPr lang="en-US" dirty="0"/>
              <a:t> </a:t>
            </a:r>
            <a:r>
              <a:rPr lang="en-US" dirty="0" err="1"/>
              <a:t>входа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проверяет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: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войти</a:t>
            </a:r>
            <a:r>
              <a:rPr lang="en-US" dirty="0"/>
              <a:t> и </a:t>
            </a:r>
            <a:r>
              <a:rPr lang="en-US" dirty="0" err="1"/>
              <a:t>отдан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 </a:t>
            </a:r>
            <a:r>
              <a:rPr lang="en-US" dirty="0" err="1"/>
              <a:t>выполняются</a:t>
            </a:r>
            <a:r>
              <a:rPr lang="en-US" dirty="0"/>
              <a:t>,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ждёт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заинтересован</a:t>
            </a:r>
            <a:r>
              <a:rPr lang="en-US" dirty="0"/>
              <a:t> в </a:t>
            </a:r>
            <a:r>
              <a:rPr lang="en-US" dirty="0" err="1"/>
              <a:t>критической</a:t>
            </a:r>
            <a:r>
              <a:rPr lang="en-US" dirty="0"/>
              <a:t> </a:t>
            </a:r>
            <a:r>
              <a:rPr lang="en-US" dirty="0" err="1"/>
              <a:t>секции</a:t>
            </a:r>
            <a:r>
              <a:rPr lang="en-US" dirty="0"/>
              <a:t>, </a:t>
            </a:r>
            <a:r>
              <a:rPr lang="en-US" dirty="0" err="1"/>
              <a:t>ждать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—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войти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А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пытаются</a:t>
            </a:r>
            <a:r>
              <a:rPr lang="en-US" dirty="0"/>
              <a:t> </a:t>
            </a:r>
            <a:r>
              <a:rPr lang="en-US" dirty="0" err="1"/>
              <a:t>войти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устанавливают</a:t>
            </a:r>
            <a:r>
              <a:rPr lang="en-US" dirty="0"/>
              <a:t> </a:t>
            </a:r>
            <a:r>
              <a:rPr lang="en-US" dirty="0" err="1"/>
              <a:t>свои</a:t>
            </a:r>
            <a:r>
              <a:rPr lang="en-US" dirty="0"/>
              <a:t> </a:t>
            </a:r>
            <a:r>
              <a:rPr lang="en-US" dirty="0" err="1"/>
              <a:t>флаги</a:t>
            </a:r>
            <a:r>
              <a:rPr lang="en-US" dirty="0"/>
              <a:t> и </a:t>
            </a:r>
            <a:r>
              <a:rPr lang="en-US" dirty="0" err="1"/>
              <a:t>записывают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turn</a:t>
            </a:r>
            <a:r>
              <a:rPr lang="en-US" dirty="0"/>
              <a:t>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последовательной</a:t>
            </a:r>
            <a:r>
              <a:rPr lang="en-US" dirty="0"/>
              <a:t> </a:t>
            </a:r>
            <a:r>
              <a:rPr lang="en-US" dirty="0" err="1"/>
              <a:t>согласованности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записей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последней</a:t>
            </a:r>
            <a:r>
              <a:rPr lang="en-US" dirty="0"/>
              <a:t>. </a:t>
            </a:r>
            <a:r>
              <a:rPr lang="en-US" dirty="0" err="1"/>
              <a:t>Поток</a:t>
            </a:r>
            <a:r>
              <a:rPr lang="en-US" dirty="0"/>
              <a:t>, </a:t>
            </a:r>
            <a:r>
              <a:rPr lang="en-US" dirty="0" err="1"/>
              <a:t>выполнивший</a:t>
            </a:r>
            <a:r>
              <a:rPr lang="en-US" dirty="0"/>
              <a:t> </a:t>
            </a:r>
            <a:r>
              <a:rPr lang="en-US" dirty="0" err="1"/>
              <a:t>последнюю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, </a:t>
            </a:r>
            <a:r>
              <a:rPr lang="en-US" dirty="0" err="1"/>
              <a:t>уступит</a:t>
            </a:r>
            <a:r>
              <a:rPr lang="en-US" dirty="0"/>
              <a:t>, а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войти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выходе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сбрасывает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. Это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ожидающему</a:t>
            </a:r>
            <a:r>
              <a:rPr lang="en-US" dirty="0"/>
              <a:t> </a:t>
            </a:r>
            <a:r>
              <a:rPr lang="en-US" dirty="0" err="1"/>
              <a:t>участнику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удовлетворяет</a:t>
            </a:r>
            <a:r>
              <a:rPr lang="en-US" dirty="0"/>
              <a:t> </a:t>
            </a:r>
            <a:r>
              <a:rPr lang="en-US" dirty="0" err="1"/>
              <a:t>классическим</a:t>
            </a:r>
            <a:r>
              <a:rPr lang="en-US" dirty="0"/>
              <a:t> </a:t>
            </a:r>
            <a:r>
              <a:rPr lang="en-US" dirty="0" err="1"/>
              <a:t>требованиям</a:t>
            </a:r>
            <a:r>
              <a:rPr lang="en-US" dirty="0"/>
              <a:t> </a:t>
            </a:r>
            <a:r>
              <a:rPr lang="en-US" dirty="0" err="1"/>
              <a:t>взаимного</a:t>
            </a:r>
            <a:r>
              <a:rPr lang="en-US" dirty="0"/>
              <a:t> </a:t>
            </a:r>
            <a:r>
              <a:rPr lang="en-US" dirty="0" err="1"/>
              <a:t>исключения</a:t>
            </a:r>
            <a:r>
              <a:rPr lang="en-US" dirty="0"/>
              <a:t>, </a:t>
            </a:r>
            <a:r>
              <a:rPr lang="en-US" dirty="0" err="1"/>
              <a:t>продвижения</a:t>
            </a:r>
            <a:r>
              <a:rPr lang="en-US" dirty="0"/>
              <a:t> и </a:t>
            </a:r>
            <a:r>
              <a:rPr lang="en-US" dirty="0" err="1"/>
              <a:t>ограниченного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принятых</a:t>
            </a:r>
            <a:r>
              <a:rPr lang="en-US" dirty="0"/>
              <a:t> </a:t>
            </a:r>
            <a:r>
              <a:rPr lang="en-US" dirty="0" err="1"/>
              <a:t>предположениях</a:t>
            </a:r>
            <a:r>
              <a:rPr lang="en-US" dirty="0"/>
              <a:t>: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участника</a:t>
            </a:r>
            <a:r>
              <a:rPr lang="en-US" dirty="0"/>
              <a:t> </a:t>
            </a:r>
            <a:r>
              <a:rPr lang="en-US" dirty="0" err="1"/>
              <a:t>соблюдают</a:t>
            </a:r>
            <a:r>
              <a:rPr lang="en-US" dirty="0"/>
              <a:t> </a:t>
            </a:r>
            <a:r>
              <a:rPr lang="en-US" dirty="0" err="1"/>
              <a:t>протокол</a:t>
            </a:r>
            <a:r>
              <a:rPr lang="en-US" dirty="0"/>
              <a:t>, </a:t>
            </a:r>
            <a:r>
              <a:rPr lang="en-US" dirty="0" err="1"/>
              <a:t>критическая</a:t>
            </a:r>
            <a:r>
              <a:rPr lang="en-US" dirty="0"/>
              <a:t> </a:t>
            </a:r>
            <a:r>
              <a:rPr lang="en-US" dirty="0" err="1"/>
              <a:t>секция</a:t>
            </a:r>
            <a:r>
              <a:rPr lang="en-US" dirty="0"/>
              <a:t> </a:t>
            </a:r>
            <a:r>
              <a:rPr lang="en-US" dirty="0" err="1"/>
              <a:t>завершается</a:t>
            </a:r>
            <a:r>
              <a:rPr lang="en-US" dirty="0"/>
              <a:t>, а </a:t>
            </a:r>
            <a:r>
              <a:rPr lang="en-US" dirty="0" err="1"/>
              <a:t>ожидающие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продолжают</a:t>
            </a:r>
            <a:r>
              <a:rPr lang="en-US" dirty="0"/>
              <a:t> </a:t>
            </a:r>
            <a:r>
              <a:rPr lang="en-US" dirty="0" err="1"/>
              <a:t>получать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оговорка</a:t>
            </a:r>
            <a:r>
              <a:rPr lang="en-US" dirty="0"/>
              <a:t>: </a:t>
            </a:r>
            <a:r>
              <a:rPr lang="en-US" dirty="0" err="1"/>
              <a:t>оригинальный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рассматривался</a:t>
            </a:r>
            <a:r>
              <a:rPr lang="en-US" dirty="0"/>
              <a:t> в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последовательной</a:t>
            </a:r>
            <a:r>
              <a:rPr lang="en-US" dirty="0"/>
              <a:t> </a:t>
            </a:r>
            <a:r>
              <a:rPr lang="en-US" dirty="0" err="1"/>
              <a:t>согласованности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 В </a:t>
            </a:r>
            <a:r>
              <a:rPr lang="en-US" dirty="0" err="1"/>
              <a:t>современном</a:t>
            </a:r>
            <a:r>
              <a:rPr lang="en-US" dirty="0"/>
              <a:t> C++ </a:t>
            </a:r>
            <a:r>
              <a:rPr lang="en-US" dirty="0" err="1"/>
              <a:t>обычные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подходят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прямой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std::atomic</a:t>
            </a:r>
            <a:r>
              <a:rPr lang="en-US" dirty="0"/>
              <a:t> с </a:t>
            </a:r>
            <a:r>
              <a:rPr lang="en-US" dirty="0" err="1"/>
              <a:t>порядком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seq_cst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901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Петерсона</a:t>
            </a:r>
            <a:r>
              <a:rPr lang="en-US" dirty="0"/>
              <a:t> </a:t>
            </a:r>
            <a:r>
              <a:rPr lang="en-US" dirty="0" err="1"/>
              <a:t>интересен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с </a:t>
            </a:r>
            <a:r>
              <a:rPr lang="en-US" dirty="0" err="1"/>
              <a:t>теоретической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взаимного</a:t>
            </a:r>
            <a:r>
              <a:rPr lang="en-US" dirty="0"/>
              <a:t> </a:t>
            </a:r>
            <a:r>
              <a:rPr lang="en-US" dirty="0" err="1"/>
              <a:t>исключения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специальной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захвата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 —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правильно</a:t>
            </a:r>
            <a:r>
              <a:rPr lang="en-US" dirty="0"/>
              <a:t> </a:t>
            </a:r>
            <a:r>
              <a:rPr lang="en-US" dirty="0" err="1"/>
              <a:t>организованного</a:t>
            </a:r>
            <a:r>
              <a:rPr lang="en-US" dirty="0"/>
              <a:t> </a:t>
            </a:r>
            <a:r>
              <a:rPr lang="en-US" dirty="0" err="1"/>
              <a:t>обмена</a:t>
            </a:r>
            <a:r>
              <a:rPr lang="en-US" dirty="0"/>
              <a:t> </a:t>
            </a:r>
            <a:r>
              <a:rPr lang="en-US" dirty="0" err="1"/>
              <a:t>состоянием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участниками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реальных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проблем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Во-первых</a:t>
            </a:r>
            <a:r>
              <a:rPr lang="en-US" dirty="0"/>
              <a:t>, </a:t>
            </a:r>
            <a:r>
              <a:rPr lang="en-US" dirty="0" err="1"/>
              <a:t>классический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предназначен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большего</a:t>
            </a:r>
            <a:r>
              <a:rPr lang="en-US" dirty="0"/>
              <a:t> </a:t>
            </a:r>
            <a:r>
              <a:rPr lang="en-US" dirty="0" err="1"/>
              <a:t>количества</a:t>
            </a:r>
            <a:r>
              <a:rPr lang="en-US" dirty="0"/>
              <a:t> </a:t>
            </a:r>
            <a:r>
              <a:rPr lang="en-US" dirty="0" err="1"/>
              <a:t>участников</a:t>
            </a:r>
            <a:r>
              <a:rPr lang="en-US" dirty="0"/>
              <a:t> </a:t>
            </a:r>
            <a:r>
              <a:rPr lang="en-US" dirty="0" err="1"/>
              <a:t>потребуются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,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сложные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Во-вторых</a:t>
            </a:r>
            <a:r>
              <a:rPr lang="en-US" dirty="0"/>
              <a:t>,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активное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 </a:t>
            </a:r>
            <a:r>
              <a:rPr lang="en-US" dirty="0" err="1"/>
              <a:t>занят</a:t>
            </a:r>
            <a:r>
              <a:rPr lang="en-US" dirty="0"/>
              <a:t>,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, </a:t>
            </a:r>
            <a:r>
              <a:rPr lang="en-US" dirty="0" err="1"/>
              <a:t>проверяя</a:t>
            </a:r>
            <a:r>
              <a:rPr lang="en-US" dirty="0"/>
              <a:t> </a:t>
            </a:r>
            <a:r>
              <a:rPr lang="en-US" dirty="0" err="1"/>
              <a:t>общие</a:t>
            </a:r>
            <a:r>
              <a:rPr lang="en-US" dirty="0"/>
              <a:t> </a:t>
            </a:r>
            <a:r>
              <a:rPr lang="en-US" dirty="0" err="1"/>
              <a:t>переменные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Это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расходуется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полезную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, а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В-</a:t>
            </a:r>
            <a:r>
              <a:rPr lang="en-US" dirty="0" err="1"/>
              <a:t>третьих</a:t>
            </a:r>
            <a:r>
              <a:rPr lang="en-US" dirty="0"/>
              <a:t>, </a:t>
            </a:r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процессоры</a:t>
            </a:r>
            <a:r>
              <a:rPr lang="en-US" dirty="0"/>
              <a:t> и </a:t>
            </a:r>
            <a:r>
              <a:rPr lang="en-US" dirty="0" err="1"/>
              <a:t>компиляторы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обязаны</a:t>
            </a:r>
            <a:r>
              <a:rPr lang="en-US" dirty="0"/>
              <a:t> </a:t>
            </a:r>
            <a:r>
              <a:rPr lang="en-US" dirty="0" err="1"/>
              <a:t>соблюдать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с </a:t>
            </a:r>
            <a:r>
              <a:rPr lang="en-US" dirty="0" err="1"/>
              <a:t>обычной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кажется</a:t>
            </a:r>
            <a:r>
              <a:rPr lang="en-US" dirty="0"/>
              <a:t> </a:t>
            </a:r>
            <a:r>
              <a:rPr lang="en-US" dirty="0" err="1"/>
              <a:t>очевидным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чтении</a:t>
            </a:r>
            <a:r>
              <a:rPr lang="en-US" dirty="0"/>
              <a:t> </a:t>
            </a:r>
            <a:r>
              <a:rPr lang="en-US" dirty="0" err="1"/>
              <a:t>исходного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и </a:t>
            </a:r>
            <a:r>
              <a:rPr lang="en-US" dirty="0" err="1"/>
              <a:t>видимости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а </a:t>
            </a:r>
            <a:r>
              <a:rPr lang="en-US" dirty="0" err="1"/>
              <a:t>компилятор</a:t>
            </a:r>
            <a:r>
              <a:rPr lang="en-US" dirty="0"/>
              <a:t> — </a:t>
            </a:r>
            <a:r>
              <a:rPr lang="en-US" dirty="0" err="1"/>
              <a:t>переставлять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в </a:t>
            </a:r>
            <a:r>
              <a:rPr lang="en-US" dirty="0" err="1"/>
              <a:t>регистрах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прямая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 </a:t>
            </a:r>
            <a:r>
              <a:rPr lang="en-US" dirty="0" err="1"/>
              <a:t>Петерсона</a:t>
            </a:r>
            <a:r>
              <a:rPr lang="en-US" dirty="0"/>
              <a:t> с </a:t>
            </a:r>
            <a:r>
              <a:rPr lang="en-US" dirty="0" err="1"/>
              <a:t>обычными</a:t>
            </a:r>
            <a:r>
              <a:rPr lang="en-US" dirty="0"/>
              <a:t> </a:t>
            </a:r>
            <a:r>
              <a:rPr lang="en-US" dirty="0" err="1"/>
              <a:t>переменными</a:t>
            </a:r>
            <a:r>
              <a:rPr lang="en-US" dirty="0"/>
              <a:t> в C++ </a:t>
            </a:r>
            <a:r>
              <a:rPr lang="en-US" dirty="0" err="1"/>
              <a:t>некорректна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программисты</a:t>
            </a:r>
            <a:r>
              <a:rPr lang="en-US" dirty="0"/>
              <a:t> </a:t>
            </a:r>
            <a:r>
              <a:rPr lang="en-US" dirty="0" err="1"/>
              <a:t>пытаются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подобные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в C++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volatile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атомарности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необходимой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Правильное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атомарных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с </a:t>
            </a:r>
            <a:r>
              <a:rPr lang="en-US" dirty="0" err="1"/>
              <a:t>подходящими</a:t>
            </a:r>
            <a:r>
              <a:rPr lang="en-US" dirty="0"/>
              <a:t> </a:t>
            </a:r>
            <a:r>
              <a:rPr lang="en-US" dirty="0" err="1"/>
              <a:t>гарантиями</a:t>
            </a:r>
            <a:r>
              <a:rPr lang="en-US" dirty="0"/>
              <a:t> </a:t>
            </a:r>
            <a:r>
              <a:rPr lang="en-US" dirty="0" err="1"/>
              <a:t>порядка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Петерсона</a:t>
            </a:r>
            <a:r>
              <a:rPr lang="en-US" dirty="0"/>
              <a:t> в </a:t>
            </a:r>
            <a:r>
              <a:rPr lang="en-US" dirty="0" err="1"/>
              <a:t>принципе</a:t>
            </a:r>
            <a:r>
              <a:rPr lang="en-US" dirty="0"/>
              <a:t> </a:t>
            </a:r>
            <a:r>
              <a:rPr lang="en-US" dirty="0" err="1"/>
              <a:t>неработоспособен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современных</a:t>
            </a:r>
            <a:r>
              <a:rPr lang="en-US" dirty="0"/>
              <a:t> </a:t>
            </a:r>
            <a:r>
              <a:rPr lang="en-US" dirty="0" err="1"/>
              <a:t>процессорах</a:t>
            </a:r>
            <a:r>
              <a:rPr lang="en-US" dirty="0"/>
              <a:t>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корректном</a:t>
            </a:r>
            <a:r>
              <a:rPr lang="en-US" dirty="0"/>
              <a:t> </a:t>
            </a:r>
            <a:r>
              <a:rPr lang="en-US" dirty="0" err="1"/>
              <a:t>использовании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std::atomic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гораздо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простые</a:t>
            </a:r>
            <a:r>
              <a:rPr lang="en-US" dirty="0"/>
              <a:t> и </a:t>
            </a:r>
            <a:r>
              <a:rPr lang="en-US" dirty="0" err="1"/>
              <a:t>практичные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построения</a:t>
            </a:r>
            <a:r>
              <a:rPr lang="en-US" dirty="0"/>
              <a:t> </a:t>
            </a:r>
            <a:r>
              <a:rPr lang="en-US" dirty="0" err="1"/>
              <a:t>блокировок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аппаратную</a:t>
            </a:r>
            <a:r>
              <a:rPr lang="en-US" dirty="0"/>
              <a:t> </a:t>
            </a:r>
            <a:r>
              <a:rPr lang="en-US" dirty="0" err="1"/>
              <a:t>поддержку</a:t>
            </a:r>
            <a:r>
              <a:rPr lang="en-US" dirty="0"/>
              <a:t> </a:t>
            </a:r>
            <a:r>
              <a:rPr lang="en-US" dirty="0" err="1"/>
              <a:t>предоставляют</a:t>
            </a:r>
            <a:r>
              <a:rPr lang="en-US" dirty="0"/>
              <a:t> </a:t>
            </a:r>
            <a:r>
              <a:rPr lang="en-US" dirty="0" err="1"/>
              <a:t>современные</a:t>
            </a:r>
            <a:r>
              <a:rPr lang="en-US" dirty="0"/>
              <a:t> CPU.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660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идее</a:t>
            </a:r>
            <a:r>
              <a:rPr lang="en-US" dirty="0"/>
              <a:t>: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переменная</a:t>
            </a:r>
            <a:r>
              <a:rPr lang="en-US" dirty="0"/>
              <a:t> lock, </a:t>
            </a:r>
            <a:r>
              <a:rPr lang="en-US" dirty="0" err="1"/>
              <a:t>ноль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«</a:t>
            </a:r>
            <a:r>
              <a:rPr lang="en-US" dirty="0" err="1"/>
              <a:t>свободно</a:t>
            </a:r>
            <a:r>
              <a:rPr lang="en-US" dirty="0"/>
              <a:t>», </a:t>
            </a:r>
            <a:r>
              <a:rPr lang="en-US" dirty="0" err="1"/>
              <a:t>единица</a:t>
            </a:r>
            <a:r>
              <a:rPr lang="en-US" dirty="0"/>
              <a:t> — «</a:t>
            </a:r>
            <a:r>
              <a:rPr lang="en-US" dirty="0" err="1"/>
              <a:t>занято</a:t>
            </a:r>
            <a:r>
              <a:rPr lang="en-US" dirty="0"/>
              <a:t>».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проверка</a:t>
            </a:r>
            <a:r>
              <a:rPr lang="en-US" dirty="0"/>
              <a:t> и </a:t>
            </a:r>
            <a:r>
              <a:rPr lang="en-US" dirty="0" err="1"/>
              <a:t>последующая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обеспечивают</a:t>
            </a:r>
            <a:r>
              <a:rPr lang="en-US" dirty="0"/>
              <a:t> </a:t>
            </a:r>
            <a:r>
              <a:rPr lang="en-US" dirty="0" err="1"/>
              <a:t>взаимного</a:t>
            </a:r>
            <a:r>
              <a:rPr lang="en-US" dirty="0"/>
              <a:t> </a:t>
            </a:r>
            <a:r>
              <a:rPr lang="en-US" dirty="0" err="1"/>
              <a:t>исключения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процессоры</a:t>
            </a:r>
            <a:r>
              <a:rPr lang="en-US" dirty="0"/>
              <a:t> </a:t>
            </a:r>
            <a:r>
              <a:rPr lang="en-US" dirty="0" err="1"/>
              <a:t>предоставляют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атомарную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относятся</a:t>
            </a:r>
            <a:r>
              <a:rPr lang="en-US" dirty="0"/>
              <a:t> к </a:t>
            </a:r>
            <a:r>
              <a:rPr lang="en-US" dirty="0" err="1"/>
              <a:t>категории</a:t>
            </a:r>
            <a:r>
              <a:rPr lang="en-US" dirty="0"/>
              <a:t> Read-Modify-Write — </a:t>
            </a:r>
            <a:r>
              <a:rPr lang="en-US" dirty="0" err="1"/>
              <a:t>прочитать</a:t>
            </a:r>
            <a:r>
              <a:rPr lang="en-US" dirty="0"/>
              <a:t>, </a:t>
            </a:r>
            <a:r>
              <a:rPr lang="en-US" dirty="0" err="1"/>
              <a:t>изменить</a:t>
            </a:r>
            <a:r>
              <a:rPr lang="en-US" dirty="0"/>
              <a:t>, </a:t>
            </a:r>
            <a:r>
              <a:rPr lang="en-US" dirty="0" err="1"/>
              <a:t>записать</a:t>
            </a:r>
            <a:r>
              <a:rPr lang="en-US" dirty="0"/>
              <a:t>.</a:t>
            </a:r>
          </a:p>
          <a:p>
            <a:r>
              <a:rPr lang="en-US" dirty="0" err="1"/>
              <a:t>Классический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— Test and Set.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Представьте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атомарно</a:t>
            </a:r>
            <a:r>
              <a:rPr lang="en-US" dirty="0"/>
              <a:t> </a:t>
            </a:r>
            <a:r>
              <a:rPr lang="en-US" dirty="0" err="1"/>
              <a:t>записываем</a:t>
            </a:r>
            <a:r>
              <a:rPr lang="en-US" dirty="0"/>
              <a:t> в lock </a:t>
            </a:r>
            <a:r>
              <a:rPr lang="en-US" dirty="0" err="1"/>
              <a:t>единицу</a:t>
            </a:r>
            <a:r>
              <a:rPr lang="en-US" dirty="0"/>
              <a:t> и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получаем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предыдущее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старое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нулём</a:t>
            </a:r>
            <a:r>
              <a:rPr lang="en-US" dirty="0"/>
              <a:t>, </a:t>
            </a:r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блокировка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свободна</a:t>
            </a:r>
            <a:r>
              <a:rPr lang="en-US" dirty="0"/>
              <a:t> и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успешно</a:t>
            </a:r>
            <a:r>
              <a:rPr lang="en-US" dirty="0"/>
              <a:t> </a:t>
            </a:r>
            <a:r>
              <a:rPr lang="en-US" dirty="0" err="1"/>
              <a:t>захватили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старое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единицей</a:t>
            </a:r>
            <a:r>
              <a:rPr lang="en-US" dirty="0"/>
              <a:t>, </a:t>
            </a:r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блокировка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кем-то</a:t>
            </a:r>
            <a:r>
              <a:rPr lang="en-US" dirty="0"/>
              <a:t> </a:t>
            </a:r>
            <a:r>
              <a:rPr lang="en-US" dirty="0" err="1"/>
              <a:t>занята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Важнейшее </a:t>
            </a:r>
            <a:r>
              <a:rPr lang="en-US" dirty="0" err="1"/>
              <a:t>свойство</a:t>
            </a:r>
            <a:r>
              <a:rPr lang="en-US" dirty="0"/>
              <a:t> —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атомарна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процессорных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попытаются</a:t>
            </a:r>
            <a:r>
              <a:rPr lang="en-US" dirty="0"/>
              <a:t> </a:t>
            </a:r>
            <a:r>
              <a:rPr lang="en-US" dirty="0" err="1"/>
              <a:t>захватить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блокировку</a:t>
            </a:r>
            <a:r>
              <a:rPr lang="en-US" dirty="0"/>
              <a:t>,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смогут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старое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ноль</a:t>
            </a:r>
            <a:r>
              <a:rPr lang="en-US" dirty="0"/>
              <a:t>,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выполняются</a:t>
            </a:r>
            <a:r>
              <a:rPr lang="en-US" dirty="0"/>
              <a:t> в </a:t>
            </a:r>
            <a:r>
              <a:rPr lang="en-US" dirty="0" err="1"/>
              <a:t>согласованном</a:t>
            </a:r>
            <a:r>
              <a:rPr lang="en-US" dirty="0"/>
              <a:t> </a:t>
            </a:r>
            <a:r>
              <a:rPr lang="en-US" dirty="0" err="1"/>
              <a:t>атомарном</a:t>
            </a:r>
            <a:r>
              <a:rPr lang="en-US" dirty="0"/>
              <a:t> </a:t>
            </a:r>
            <a:r>
              <a:rPr lang="en-US" dirty="0" err="1"/>
              <a:t>порядке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архитектуре</a:t>
            </a:r>
            <a:r>
              <a:rPr lang="en-US" dirty="0"/>
              <a:t> x86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инструкция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XCHG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обращении</a:t>
            </a:r>
            <a:r>
              <a:rPr lang="en-US" dirty="0"/>
              <a:t> к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атомарный</a:t>
            </a:r>
            <a:r>
              <a:rPr lang="en-US" dirty="0"/>
              <a:t> </a:t>
            </a:r>
            <a:r>
              <a:rPr lang="en-US" dirty="0" err="1"/>
              <a:t>обмен</a:t>
            </a:r>
            <a:r>
              <a:rPr lang="en-US" dirty="0"/>
              <a:t>.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CMPXCHG</a:t>
            </a:r>
            <a:r>
              <a:rPr lang="en-US" dirty="0"/>
              <a:t>, </a:t>
            </a:r>
            <a:r>
              <a:rPr lang="en-US" dirty="0" err="1"/>
              <a:t>позволяющая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условный</a:t>
            </a:r>
            <a:r>
              <a:rPr lang="en-US" dirty="0"/>
              <a:t> </a:t>
            </a:r>
            <a:r>
              <a:rPr lang="en-US" dirty="0" err="1"/>
              <a:t>обмен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избежать</a:t>
            </a:r>
            <a:r>
              <a:rPr lang="en-US" dirty="0"/>
              <a:t> </a:t>
            </a:r>
            <a:r>
              <a:rPr lang="en-US" dirty="0" err="1"/>
              <a:t>распространённого</a:t>
            </a:r>
            <a:r>
              <a:rPr lang="en-US" dirty="0"/>
              <a:t> </a:t>
            </a:r>
            <a:r>
              <a:rPr lang="en-US" dirty="0" err="1"/>
              <a:t>заблуждения</a:t>
            </a:r>
            <a:r>
              <a:rPr lang="en-US" dirty="0"/>
              <a:t>: </a:t>
            </a:r>
            <a:r>
              <a:rPr lang="en-US" dirty="0" err="1"/>
              <a:t>атомарная</a:t>
            </a:r>
            <a:r>
              <a:rPr lang="en-US" dirty="0"/>
              <a:t> </a:t>
            </a:r>
            <a:r>
              <a:rPr lang="en-US" dirty="0" err="1"/>
              <a:t>инструкция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блокирует</a:t>
            </a:r>
            <a:r>
              <a:rPr lang="en-US" dirty="0"/>
              <a:t> </a:t>
            </a:r>
            <a:r>
              <a:rPr lang="en-US" dirty="0" err="1"/>
              <a:t>всю</a:t>
            </a:r>
            <a:r>
              <a:rPr lang="en-US" dirty="0"/>
              <a:t> </a:t>
            </a:r>
            <a:r>
              <a:rPr lang="en-US" dirty="0" err="1"/>
              <a:t>системную</a:t>
            </a:r>
            <a:r>
              <a:rPr lang="en-US" dirty="0"/>
              <a:t> </a:t>
            </a:r>
            <a:r>
              <a:rPr lang="en-US" dirty="0" err="1"/>
              <a:t>шину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 </a:t>
            </a:r>
            <a:r>
              <a:rPr lang="en-US" dirty="0" err="1"/>
              <a:t>Современные</a:t>
            </a:r>
            <a:r>
              <a:rPr lang="en-US" dirty="0"/>
              <a:t> x86-процессоры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обеспечивают</a:t>
            </a:r>
            <a:r>
              <a:rPr lang="en-US" dirty="0"/>
              <a:t> </a:t>
            </a:r>
            <a:r>
              <a:rPr lang="en-US" dirty="0" err="1"/>
              <a:t>атомарность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когерентности</a:t>
            </a:r>
            <a:r>
              <a:rPr lang="en-US" dirty="0"/>
              <a:t> </a:t>
            </a:r>
            <a:r>
              <a:rPr lang="en-US" dirty="0" err="1"/>
              <a:t>кэшей</a:t>
            </a:r>
            <a:r>
              <a:rPr lang="en-US" dirty="0"/>
              <a:t>. </a:t>
            </a:r>
          </a:p>
          <a:p>
            <a:r>
              <a:rPr lang="en-US" dirty="0"/>
              <a:t>Exchange Register/Memory With Register</a:t>
            </a:r>
          </a:p>
          <a:p>
            <a:r>
              <a:rPr lang="en-US" dirty="0"/>
              <a:t>+1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атомарная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составляет</a:t>
            </a:r>
            <a:r>
              <a:rPr lang="en-US" dirty="0"/>
              <a:t> </a:t>
            </a:r>
            <a:r>
              <a:rPr lang="en-US" dirty="0" err="1"/>
              <a:t>полноценного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.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повторять</a:t>
            </a:r>
            <a:r>
              <a:rPr lang="en-US" dirty="0"/>
              <a:t> </a:t>
            </a:r>
            <a:r>
              <a:rPr lang="en-US" dirty="0" err="1"/>
              <a:t>попытку</a:t>
            </a:r>
            <a:r>
              <a:rPr lang="en-US" dirty="0"/>
              <a:t> </a:t>
            </a:r>
            <a:r>
              <a:rPr lang="en-US" dirty="0" err="1"/>
              <a:t>захвата</a:t>
            </a:r>
            <a:r>
              <a:rPr lang="en-US" dirty="0"/>
              <a:t> и </a:t>
            </a:r>
            <a:r>
              <a:rPr lang="en-US" dirty="0" err="1"/>
              <a:t>каким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освободит</a:t>
            </a:r>
            <a:r>
              <a:rPr lang="en-US" dirty="0"/>
              <a:t> </a:t>
            </a:r>
            <a:r>
              <a:rPr lang="en-US" dirty="0" err="1"/>
              <a:t>блокировку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построим</a:t>
            </a:r>
            <a:r>
              <a:rPr lang="en-US" dirty="0"/>
              <a:t> </a:t>
            </a:r>
            <a:r>
              <a:rPr lang="en-US" dirty="0" err="1"/>
              <a:t>простейший</a:t>
            </a:r>
            <a:r>
              <a:rPr lang="en-US" dirty="0"/>
              <a:t> </a:t>
            </a:r>
            <a:r>
              <a:rPr lang="en-US" dirty="0" err="1"/>
              <a:t>спинлок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695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простейший</a:t>
            </a:r>
            <a:r>
              <a:rPr lang="en-US" dirty="0"/>
              <a:t> </a:t>
            </a:r>
            <a:r>
              <a:rPr lang="en-US" dirty="0" err="1"/>
              <a:t>спинлок</a:t>
            </a:r>
            <a:r>
              <a:rPr lang="en-US" dirty="0"/>
              <a:t> </a:t>
            </a:r>
            <a:r>
              <a:rPr lang="en-US" dirty="0" err="1"/>
              <a:t>средствами</a:t>
            </a:r>
            <a:r>
              <a:rPr lang="en-US" dirty="0"/>
              <a:t> </a:t>
            </a:r>
            <a:r>
              <a:rPr lang="en-US" dirty="0" err="1"/>
              <a:t>современного</a:t>
            </a:r>
            <a:r>
              <a:rPr lang="en-US" dirty="0"/>
              <a:t> C++.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стандартной</a:t>
            </a:r>
            <a:r>
              <a:rPr lang="en-US" dirty="0"/>
              <a:t> </a:t>
            </a:r>
            <a:r>
              <a:rPr lang="en-US" dirty="0" err="1"/>
              <a:t>библиотеке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atomic_flag</a:t>
            </a:r>
            <a:r>
              <a:rPr lang="en-US" dirty="0"/>
              <a:t> — </a:t>
            </a:r>
            <a:r>
              <a:rPr lang="en-US" dirty="0" err="1"/>
              <a:t>атомарный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идеально</a:t>
            </a:r>
            <a:r>
              <a:rPr lang="en-US" dirty="0"/>
              <a:t> </a:t>
            </a:r>
            <a:r>
              <a:rPr lang="en-US" dirty="0" err="1"/>
              <a:t>подходит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поддерживает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важные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test_and_set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clear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метода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</a:t>
            </a:r>
            <a:r>
              <a:rPr lang="en-US" dirty="0"/>
              <a:t>.</a:t>
            </a:r>
          </a:p>
          <a:p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test_and_set</a:t>
            </a:r>
            <a:r>
              <a:rPr lang="en-US" dirty="0"/>
              <a:t> </a:t>
            </a:r>
            <a:r>
              <a:rPr lang="en-US" dirty="0" err="1"/>
              <a:t>атомарно</a:t>
            </a:r>
            <a:r>
              <a:rPr lang="en-US" dirty="0"/>
              <a:t> </a:t>
            </a:r>
            <a:r>
              <a:rPr lang="en-US" dirty="0" err="1"/>
              <a:t>устанавливает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en-US" dirty="0"/>
              <a:t> и </a:t>
            </a:r>
            <a:r>
              <a:rPr lang="en-US" dirty="0" err="1"/>
              <a:t>возвращает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предыдущее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en-US" dirty="0"/>
              <a:t>, </a:t>
            </a:r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блокировка</a:t>
            </a:r>
            <a:r>
              <a:rPr lang="en-US" dirty="0"/>
              <a:t> </a:t>
            </a:r>
            <a:r>
              <a:rPr lang="en-US" dirty="0" err="1"/>
              <a:t>свободна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успешно</a:t>
            </a:r>
            <a:r>
              <a:rPr lang="en-US" dirty="0"/>
              <a:t> </a:t>
            </a:r>
            <a:r>
              <a:rPr lang="en-US" dirty="0" err="1"/>
              <a:t>установили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en-US" dirty="0"/>
              <a:t> и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войти</a:t>
            </a:r>
            <a:r>
              <a:rPr lang="en-US" dirty="0"/>
              <a:t> в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возвращает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блокировка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занята</a:t>
            </a:r>
            <a:r>
              <a:rPr lang="en-US" dirty="0"/>
              <a:t>.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.</a:t>
            </a:r>
          </a:p>
          <a:p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повторять</a:t>
            </a:r>
            <a:r>
              <a:rPr lang="en-US" dirty="0"/>
              <a:t> </a:t>
            </a:r>
            <a:r>
              <a:rPr lang="en-US" dirty="0" err="1"/>
              <a:t>попытки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тех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удастся</a:t>
            </a:r>
            <a:r>
              <a:rPr lang="en-US" dirty="0"/>
              <a:t> </a:t>
            </a:r>
            <a:r>
              <a:rPr lang="en-US" dirty="0" err="1"/>
              <a:t>захватить</a:t>
            </a:r>
            <a:r>
              <a:rPr lang="en-US" dirty="0"/>
              <a:t> </a:t>
            </a:r>
            <a:r>
              <a:rPr lang="en-US" dirty="0" err="1"/>
              <a:t>блокировку</a:t>
            </a:r>
            <a:r>
              <a:rPr lang="en-US" dirty="0"/>
              <a:t>.</a:t>
            </a:r>
          </a:p>
          <a:p>
            <a:r>
              <a:rPr lang="en-US" dirty="0"/>
              <a:t>Это и </a:t>
            </a:r>
            <a:r>
              <a:rPr lang="en-US" dirty="0" err="1"/>
              <a:t>есть</a:t>
            </a:r>
            <a:r>
              <a:rPr lang="en-US" dirty="0"/>
              <a:t> spinlock: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перехода</a:t>
            </a:r>
            <a:r>
              <a:rPr lang="en-US" dirty="0"/>
              <a:t> в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CPU.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владелец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 </a:t>
            </a:r>
            <a:r>
              <a:rPr lang="en-US" dirty="0" err="1"/>
              <a:t>завершает</a:t>
            </a:r>
            <a:r>
              <a:rPr lang="en-US" dirty="0"/>
              <a:t>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unlock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сбрасывает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аргументы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memory_order_acquire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memory_order_release</a:t>
            </a:r>
            <a:r>
              <a:rPr lang="en-US" dirty="0"/>
              <a:t>.</a:t>
            </a:r>
          </a:p>
          <a:p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правильно</a:t>
            </a:r>
            <a:r>
              <a:rPr lang="en-US" dirty="0"/>
              <a:t> </a:t>
            </a:r>
            <a:r>
              <a:rPr lang="en-US" dirty="0" err="1"/>
              <a:t>захватить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согласования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к </a:t>
            </a:r>
            <a:r>
              <a:rPr lang="en-US" dirty="0" err="1"/>
              <a:t>защищаемым</a:t>
            </a:r>
            <a:r>
              <a:rPr lang="en-US" dirty="0"/>
              <a:t> </a:t>
            </a:r>
            <a:r>
              <a:rPr lang="en-US" dirty="0" err="1"/>
              <a:t>данным</a:t>
            </a:r>
            <a:r>
              <a:rPr lang="en-US" dirty="0"/>
              <a:t>.</a:t>
            </a:r>
          </a:p>
          <a:p>
            <a:r>
              <a:rPr lang="en-US" dirty="0" err="1"/>
              <a:t>Успешный</a:t>
            </a:r>
            <a:r>
              <a:rPr lang="en-US" dirty="0"/>
              <a:t> </a:t>
            </a:r>
            <a:r>
              <a:rPr lang="en-US" dirty="0" err="1"/>
              <a:t>захват</a:t>
            </a:r>
            <a:r>
              <a:rPr lang="en-US" dirty="0"/>
              <a:t> с acquire </a:t>
            </a:r>
            <a:r>
              <a:rPr lang="en-US" dirty="0" err="1"/>
              <a:t>синхронизируется</a:t>
            </a:r>
            <a:r>
              <a:rPr lang="en-US" dirty="0"/>
              <a:t> с </a:t>
            </a:r>
            <a:r>
              <a:rPr lang="en-US" dirty="0" err="1"/>
              <a:t>соответствующим</a:t>
            </a:r>
            <a:r>
              <a:rPr lang="en-US" dirty="0"/>
              <a:t> </a:t>
            </a:r>
            <a:r>
              <a:rPr lang="en-US" dirty="0" err="1"/>
              <a:t>освобождением</a:t>
            </a:r>
            <a:r>
              <a:rPr lang="en-US" dirty="0"/>
              <a:t> с release. Это </a:t>
            </a:r>
            <a:r>
              <a:rPr lang="en-US" dirty="0" err="1"/>
              <a:t>гарантирует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владелец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наблюдать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  <a:r>
              <a:rPr lang="en-US" dirty="0" err="1"/>
              <a:t>выполненные</a:t>
            </a:r>
            <a:r>
              <a:rPr lang="en-US" dirty="0"/>
              <a:t> </a:t>
            </a:r>
            <a:r>
              <a:rPr lang="en-US" dirty="0" err="1"/>
              <a:t>предыдущим</a:t>
            </a:r>
            <a:r>
              <a:rPr lang="en-US" dirty="0"/>
              <a:t> </a:t>
            </a:r>
            <a:r>
              <a:rPr lang="en-US" dirty="0" err="1"/>
              <a:t>владельцем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освобождения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реализовали</a:t>
            </a:r>
            <a:r>
              <a:rPr lang="en-US" dirty="0"/>
              <a:t> </a:t>
            </a:r>
            <a:r>
              <a:rPr lang="en-US" dirty="0" err="1"/>
              <a:t>полноценный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spinlock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строк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. </a:t>
            </a:r>
            <a:r>
              <a:rPr lang="en-US" dirty="0" err="1"/>
              <a:t>Семантика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интерфейсу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atomic_flag</a:t>
            </a:r>
            <a:r>
              <a:rPr lang="en-US" dirty="0"/>
              <a:t> </a:t>
            </a:r>
            <a:r>
              <a:rPr lang="en-US" dirty="0" err="1"/>
              <a:t>стандартного</a:t>
            </a:r>
            <a:r>
              <a:rPr lang="en-US" dirty="0"/>
              <a:t> C++. </a:t>
            </a:r>
          </a:p>
          <a:p>
            <a:r>
              <a:rPr lang="en-US" dirty="0" err="1"/>
              <a:t>Важно</a:t>
            </a:r>
            <a:r>
              <a:rPr lang="en-US" dirty="0"/>
              <a:t>: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учебная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. В </a:t>
            </a:r>
            <a:r>
              <a:rPr lang="en-US" dirty="0" err="1"/>
              <a:t>реальных</a:t>
            </a:r>
            <a:r>
              <a:rPr lang="en-US" dirty="0"/>
              <a:t> </a:t>
            </a:r>
            <a:r>
              <a:rPr lang="en-US" dirty="0" err="1"/>
              <a:t>приложениях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предпочтительнее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готовые</a:t>
            </a:r>
            <a:r>
              <a:rPr lang="en-US" dirty="0"/>
              <a:t> </a:t>
            </a:r>
            <a:r>
              <a:rPr lang="en-US" dirty="0" err="1"/>
              <a:t>средства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стандартной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ОС.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766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реализовали</a:t>
            </a:r>
            <a:r>
              <a:rPr lang="en-US" dirty="0"/>
              <a:t> </a:t>
            </a:r>
            <a:r>
              <a:rPr lang="en-US" dirty="0" err="1"/>
              <a:t>простую</a:t>
            </a:r>
            <a:r>
              <a:rPr lang="en-US" dirty="0"/>
              <a:t> </a:t>
            </a:r>
            <a:r>
              <a:rPr lang="en-US" dirty="0" err="1"/>
              <a:t>блокировку</a:t>
            </a:r>
            <a:r>
              <a:rPr lang="en-US" dirty="0"/>
              <a:t> и </a:t>
            </a:r>
            <a:r>
              <a:rPr lang="en-US" dirty="0" err="1"/>
              <a:t>научились</a:t>
            </a:r>
            <a:r>
              <a:rPr lang="en-US" dirty="0"/>
              <a:t> </a:t>
            </a:r>
            <a:r>
              <a:rPr lang="en-US" dirty="0" err="1"/>
              <a:t>защищать</a:t>
            </a:r>
            <a:r>
              <a:rPr lang="en-US" dirty="0"/>
              <a:t> </a:t>
            </a:r>
            <a:r>
              <a:rPr lang="en-US" dirty="0" err="1"/>
              <a:t>критические</a:t>
            </a:r>
            <a:r>
              <a:rPr lang="en-US" dirty="0"/>
              <a:t> </a:t>
            </a:r>
            <a:r>
              <a:rPr lang="en-US" dirty="0" err="1"/>
              <a:t>секции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spinlock — </a:t>
            </a:r>
            <a:r>
              <a:rPr lang="en-US" dirty="0" err="1"/>
              <a:t>лучший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.</a:t>
            </a:r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главное</a:t>
            </a:r>
            <a:r>
              <a:rPr lang="en-US" dirty="0"/>
              <a:t> </a:t>
            </a:r>
            <a:r>
              <a:rPr lang="en-US" dirty="0" err="1"/>
              <a:t>преимущество</a:t>
            </a:r>
            <a:r>
              <a:rPr lang="en-US" dirty="0"/>
              <a:t> — </a:t>
            </a:r>
            <a:r>
              <a:rPr lang="en-US" dirty="0" err="1"/>
              <a:t>отсутствие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блокировать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ОС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ожидании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критическая</a:t>
            </a:r>
            <a:r>
              <a:rPr lang="en-US" dirty="0"/>
              <a:t> </a:t>
            </a:r>
            <a:r>
              <a:rPr lang="en-US" dirty="0" err="1"/>
              <a:t>секция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десятков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сотен</a:t>
            </a:r>
            <a:r>
              <a:rPr lang="en-US" dirty="0"/>
              <a:t> </a:t>
            </a:r>
            <a:r>
              <a:rPr lang="en-US" dirty="0" err="1"/>
              <a:t>инструкций</a:t>
            </a:r>
            <a:r>
              <a:rPr lang="en-US" dirty="0"/>
              <a:t>,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выгоднее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подождать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обращаться</a:t>
            </a:r>
            <a:r>
              <a:rPr lang="en-US" dirty="0"/>
              <a:t> к </a:t>
            </a:r>
            <a:r>
              <a:rPr lang="en-US" dirty="0" err="1"/>
              <a:t>ядру</a:t>
            </a:r>
            <a:r>
              <a:rPr lang="en-US" dirty="0"/>
              <a:t> и </a:t>
            </a:r>
            <a:r>
              <a:rPr lang="en-US" dirty="0" err="1"/>
              <a:t>переключать</a:t>
            </a:r>
            <a:r>
              <a:rPr lang="en-US" dirty="0"/>
              <a:t> </a:t>
            </a:r>
            <a:r>
              <a:rPr lang="en-US" dirty="0" err="1"/>
              <a:t>контекст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представьте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критической</a:t>
            </a:r>
            <a:r>
              <a:rPr lang="en-US" dirty="0"/>
              <a:t> </a:t>
            </a:r>
            <a:r>
              <a:rPr lang="en-US" dirty="0" err="1"/>
              <a:t>секции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длительная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захватил</a:t>
            </a:r>
            <a:r>
              <a:rPr lang="en-US" dirty="0"/>
              <a:t> </a:t>
            </a:r>
            <a:r>
              <a:rPr lang="en-US" dirty="0" err="1"/>
              <a:t>блокировку</a:t>
            </a:r>
            <a:r>
              <a:rPr lang="en-US" dirty="0"/>
              <a:t>, а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остановки</a:t>
            </a:r>
            <a:r>
              <a:rPr lang="en-US" dirty="0"/>
              <a:t> </a:t>
            </a:r>
            <a:r>
              <a:rPr lang="en-US" dirty="0" err="1"/>
              <a:t>проверяет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.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потратить</a:t>
            </a:r>
            <a:r>
              <a:rPr lang="en-US" dirty="0"/>
              <a:t> </a:t>
            </a:r>
            <a:r>
              <a:rPr lang="en-US" dirty="0" err="1"/>
              <a:t>огромное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выполнив</a:t>
            </a:r>
            <a:r>
              <a:rPr lang="en-US" dirty="0"/>
              <a:t> </a:t>
            </a:r>
            <a:r>
              <a:rPr lang="en-US" dirty="0" err="1"/>
              <a:t>никакой</a:t>
            </a:r>
            <a:r>
              <a:rPr lang="en-US" dirty="0"/>
              <a:t> </a:t>
            </a:r>
            <a:r>
              <a:rPr lang="en-US" dirty="0" err="1"/>
              <a:t>полезной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хуже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владелец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вытеснен</a:t>
            </a:r>
            <a:r>
              <a:rPr lang="en-US" dirty="0"/>
              <a:t> </a:t>
            </a:r>
            <a:r>
              <a:rPr lang="en-US" dirty="0" err="1"/>
              <a:t>планировщиком</a:t>
            </a:r>
            <a:r>
              <a:rPr lang="en-US" dirty="0"/>
              <a:t>. </a:t>
            </a:r>
            <a:r>
              <a:rPr lang="en-US" dirty="0" err="1"/>
              <a:t>Ожидающий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крутиться</a:t>
            </a:r>
            <a:r>
              <a:rPr lang="en-US" dirty="0"/>
              <a:t>, </a:t>
            </a:r>
            <a:r>
              <a:rPr lang="en-US" dirty="0" err="1"/>
              <a:t>хотя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освободиться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владелец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получит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Есть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Простой</a:t>
            </a:r>
            <a:r>
              <a:rPr lang="en-US" dirty="0"/>
              <a:t> spinlock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гарантирует</a:t>
            </a:r>
            <a:r>
              <a:rPr lang="en-US" dirty="0"/>
              <a:t> </a:t>
            </a:r>
            <a:r>
              <a:rPr lang="en-US" dirty="0" err="1"/>
              <a:t>справедливого</a:t>
            </a:r>
            <a:r>
              <a:rPr lang="en-US" dirty="0"/>
              <a:t> </a:t>
            </a:r>
            <a:r>
              <a:rPr lang="en-US" dirty="0" err="1"/>
              <a:t>распределения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.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многократно</a:t>
            </a:r>
            <a:r>
              <a:rPr lang="en-US" dirty="0"/>
              <a:t> </a:t>
            </a:r>
            <a:r>
              <a:rPr lang="en-US" dirty="0" err="1"/>
              <a:t>захватывать</a:t>
            </a:r>
            <a:r>
              <a:rPr lang="en-US" dirty="0"/>
              <a:t> </a:t>
            </a:r>
            <a:r>
              <a:rPr lang="en-US" dirty="0" err="1"/>
              <a:t>блокировку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CPU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обращаются</a:t>
            </a:r>
            <a:r>
              <a:rPr lang="en-US" dirty="0"/>
              <a:t> к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атомарной</a:t>
            </a:r>
            <a:r>
              <a:rPr lang="en-US" dirty="0"/>
              <a:t> </a:t>
            </a:r>
            <a:r>
              <a:rPr lang="en-US" dirty="0" err="1"/>
              <a:t>переменной</a:t>
            </a:r>
            <a:r>
              <a:rPr lang="en-US" dirty="0"/>
              <a:t>,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дополнительный</a:t>
            </a:r>
            <a:r>
              <a:rPr lang="en-US" dirty="0"/>
              <a:t> </a:t>
            </a:r>
            <a:r>
              <a:rPr lang="en-US" dirty="0" err="1"/>
              <a:t>обмен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кэшами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снижает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.</a:t>
            </a: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Поэтому</a:t>
            </a:r>
            <a:r>
              <a:rPr lang="en-US" dirty="0"/>
              <a:t> spinlock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применять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коротких</a:t>
            </a:r>
            <a:r>
              <a:rPr lang="en-US" dirty="0"/>
              <a:t> </a:t>
            </a:r>
            <a:r>
              <a:rPr lang="en-US" dirty="0" err="1"/>
              <a:t>критических</a:t>
            </a:r>
            <a:r>
              <a:rPr lang="en-US" dirty="0"/>
              <a:t> </a:t>
            </a:r>
            <a:r>
              <a:rPr lang="en-US" dirty="0" err="1"/>
              <a:t>секций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подходящих</a:t>
            </a:r>
            <a:r>
              <a:rPr lang="en-US" dirty="0"/>
              <a:t> </a:t>
            </a:r>
            <a:r>
              <a:rPr lang="en-US" dirty="0" err="1"/>
              <a:t>условиях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избегать</a:t>
            </a:r>
            <a:r>
              <a:rPr lang="en-US" dirty="0"/>
              <a:t> </a:t>
            </a:r>
            <a:r>
              <a:rPr lang="en-US" dirty="0" err="1"/>
              <a:t>длительных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, </a:t>
            </a:r>
            <a:r>
              <a:rPr lang="en-US" dirty="0" err="1"/>
              <a:t>блокирующих</a:t>
            </a:r>
            <a:r>
              <a:rPr lang="en-US" dirty="0"/>
              <a:t> </a:t>
            </a:r>
            <a:r>
              <a:rPr lang="en-US" dirty="0" err="1"/>
              <a:t>вызовов</a:t>
            </a:r>
            <a:r>
              <a:rPr lang="en-US" dirty="0"/>
              <a:t> и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надолго</a:t>
            </a:r>
            <a:r>
              <a:rPr lang="en-US" dirty="0"/>
              <a:t> </a:t>
            </a:r>
            <a:r>
              <a:rPr lang="en-US" dirty="0" err="1"/>
              <a:t>задержать</a:t>
            </a:r>
            <a:r>
              <a:rPr lang="en-US" dirty="0"/>
              <a:t> </a:t>
            </a:r>
            <a:r>
              <a:rPr lang="en-US" dirty="0" err="1"/>
              <a:t>освобождение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В </a:t>
            </a:r>
            <a:r>
              <a:rPr lang="en-US" dirty="0" err="1"/>
              <a:t>ядре</a:t>
            </a:r>
            <a:r>
              <a:rPr lang="en-US" dirty="0"/>
              <a:t> ОС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r>
              <a:rPr lang="en-US" dirty="0"/>
              <a:t> </a:t>
            </a:r>
            <a:r>
              <a:rPr lang="en-US" dirty="0" err="1"/>
              <a:t>спинлоков</a:t>
            </a:r>
            <a:r>
              <a:rPr lang="en-US" dirty="0"/>
              <a:t>, </a:t>
            </a:r>
            <a:r>
              <a:rPr lang="en-US" dirty="0" err="1"/>
              <a:t>связанные</a:t>
            </a:r>
            <a:r>
              <a:rPr lang="en-US" dirty="0"/>
              <a:t> с </a:t>
            </a:r>
            <a:r>
              <a:rPr lang="en-US" dirty="0" err="1"/>
              <a:t>прерываниями</a:t>
            </a:r>
            <a:r>
              <a:rPr lang="en-US" dirty="0"/>
              <a:t> и </a:t>
            </a:r>
            <a:r>
              <a:rPr lang="en-US" dirty="0" err="1"/>
              <a:t>вытеснением</a:t>
            </a:r>
            <a:r>
              <a:rPr lang="en-US" dirty="0"/>
              <a:t>.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подробно</a:t>
            </a:r>
            <a:r>
              <a:rPr lang="en-US" dirty="0"/>
              <a:t> </a:t>
            </a:r>
            <a:r>
              <a:rPr lang="en-US" dirty="0" err="1"/>
              <a:t>рассматривать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2792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Подведём</a:t>
            </a:r>
            <a:r>
              <a:rPr lang="en-US" dirty="0"/>
              <a:t> </a:t>
            </a:r>
            <a:r>
              <a:rPr lang="en-US" dirty="0" err="1"/>
              <a:t>итог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раздела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начали</a:t>
            </a:r>
            <a:r>
              <a:rPr lang="en-US" dirty="0"/>
              <a:t> с </a:t>
            </a:r>
            <a:r>
              <a:rPr lang="en-US" dirty="0" err="1"/>
              <a:t>попытки</a:t>
            </a:r>
            <a:r>
              <a:rPr lang="en-US" dirty="0"/>
              <a:t> </a:t>
            </a:r>
            <a:r>
              <a:rPr lang="en-US" dirty="0" err="1"/>
              <a:t>защитить</a:t>
            </a:r>
            <a:r>
              <a:rPr lang="en-US" dirty="0"/>
              <a:t>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 </a:t>
            </a:r>
            <a:r>
              <a:rPr lang="en-US" dirty="0" err="1"/>
              <a:t>отключением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.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полезен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универсального</a:t>
            </a:r>
            <a:r>
              <a:rPr lang="en-US" dirty="0"/>
              <a:t> </a:t>
            </a:r>
            <a:r>
              <a:rPr lang="en-US" dirty="0" err="1"/>
              <a:t>взаимного</a:t>
            </a:r>
            <a:r>
              <a:rPr lang="en-US" dirty="0"/>
              <a:t> </a:t>
            </a:r>
            <a:r>
              <a:rPr lang="en-US" dirty="0" err="1"/>
              <a:t>исключения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многоядерных</a:t>
            </a:r>
            <a:r>
              <a:rPr lang="en-US" dirty="0"/>
              <a:t> </a:t>
            </a:r>
            <a:r>
              <a:rPr lang="en-US" dirty="0" err="1"/>
              <a:t>процессорах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попробовали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переменную</a:t>
            </a:r>
            <a:r>
              <a:rPr lang="en-US" dirty="0"/>
              <a:t> lock. </a:t>
            </a:r>
            <a:r>
              <a:rPr lang="en-US" dirty="0" err="1"/>
              <a:t>Оказалось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проверкой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и </a:t>
            </a:r>
            <a:r>
              <a:rPr lang="en-US" dirty="0" err="1"/>
              <a:t>захватом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гонки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рассмотрели</a:t>
            </a:r>
            <a:r>
              <a:rPr lang="en-US" dirty="0"/>
              <a:t> </a:t>
            </a:r>
            <a:r>
              <a:rPr lang="en-US" dirty="0" err="1"/>
              <a:t>программные</a:t>
            </a:r>
            <a:r>
              <a:rPr lang="en-US" dirty="0"/>
              <a:t> </a:t>
            </a:r>
            <a:r>
              <a:rPr lang="en-US" dirty="0" err="1"/>
              <a:t>алгоритмы</a:t>
            </a:r>
            <a:r>
              <a:rPr lang="en-US" dirty="0"/>
              <a:t>.</a:t>
            </a:r>
          </a:p>
          <a:p>
            <a:r>
              <a:rPr lang="en-US" dirty="0" err="1"/>
              <a:t>Строгое</a:t>
            </a:r>
            <a:r>
              <a:rPr lang="en-US" dirty="0"/>
              <a:t> </a:t>
            </a:r>
            <a:r>
              <a:rPr lang="en-US" dirty="0" err="1"/>
              <a:t>чередование</a:t>
            </a:r>
            <a:r>
              <a:rPr lang="en-US" dirty="0"/>
              <a:t>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взаимное</a:t>
            </a:r>
            <a:r>
              <a:rPr lang="en-US" dirty="0"/>
              <a:t> </a:t>
            </a:r>
            <a:r>
              <a:rPr lang="en-US" dirty="0" err="1"/>
              <a:t>исключение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блокировать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,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критическая</a:t>
            </a:r>
            <a:r>
              <a:rPr lang="en-US" dirty="0"/>
              <a:t> </a:t>
            </a:r>
            <a:r>
              <a:rPr lang="en-US" dirty="0" err="1"/>
              <a:t>секция</a:t>
            </a:r>
            <a:r>
              <a:rPr lang="en-US" dirty="0"/>
              <a:t> </a:t>
            </a:r>
            <a:r>
              <a:rPr lang="en-US" dirty="0" err="1"/>
              <a:t>свободна</a:t>
            </a:r>
            <a:r>
              <a:rPr lang="en-US" dirty="0"/>
              <a:t>.</a:t>
            </a:r>
          </a:p>
          <a:p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Петерсона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участников</a:t>
            </a:r>
            <a:r>
              <a:rPr lang="en-US" dirty="0"/>
              <a:t> в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последовательной</a:t>
            </a:r>
            <a:r>
              <a:rPr lang="en-US" dirty="0"/>
              <a:t> </a:t>
            </a:r>
            <a:r>
              <a:rPr lang="en-US" dirty="0" err="1"/>
              <a:t>согласованности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аккуратной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памятью</a:t>
            </a:r>
            <a:r>
              <a:rPr lang="en-US" dirty="0"/>
              <a:t> и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активное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перешли</a:t>
            </a:r>
            <a:r>
              <a:rPr lang="en-US" dirty="0"/>
              <a:t> к </a:t>
            </a:r>
            <a:r>
              <a:rPr lang="en-US" dirty="0" err="1"/>
              <a:t>аппаратным</a:t>
            </a:r>
            <a:r>
              <a:rPr lang="en-US" dirty="0"/>
              <a:t> </a:t>
            </a:r>
            <a:r>
              <a:rPr lang="en-US" dirty="0" err="1"/>
              <a:t>атомарным</a:t>
            </a:r>
            <a:r>
              <a:rPr lang="en-US" dirty="0"/>
              <a:t> </a:t>
            </a:r>
            <a:r>
              <a:rPr lang="en-US" dirty="0" err="1"/>
              <a:t>операциям</a:t>
            </a:r>
            <a:r>
              <a:rPr lang="en-US" dirty="0"/>
              <a:t>.</a:t>
            </a:r>
          </a:p>
          <a:p>
            <a:r>
              <a:rPr lang="en-US" dirty="0" err="1"/>
              <a:t>Инструкции</a:t>
            </a:r>
            <a:r>
              <a:rPr lang="en-US" dirty="0"/>
              <a:t> Test-and-Set, XCHG и </a:t>
            </a:r>
            <a:r>
              <a:rPr lang="en-US" dirty="0" err="1"/>
              <a:t>подобные</a:t>
            </a:r>
            <a:r>
              <a:rPr lang="en-US" dirty="0"/>
              <a:t> </a:t>
            </a:r>
            <a:r>
              <a:rPr lang="en-US" dirty="0" err="1"/>
              <a:t>им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неделимо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 и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. Это </a:t>
            </a:r>
            <a:r>
              <a:rPr lang="en-US" dirty="0" err="1"/>
              <a:t>даёт</a:t>
            </a:r>
            <a:r>
              <a:rPr lang="en-US" dirty="0"/>
              <a:t> </a:t>
            </a:r>
            <a:r>
              <a:rPr lang="en-US" dirty="0" err="1"/>
              <a:t>удобный</a:t>
            </a:r>
            <a:r>
              <a:rPr lang="en-US" dirty="0"/>
              <a:t> </a:t>
            </a:r>
            <a:r>
              <a:rPr lang="en-US" dirty="0" err="1"/>
              <a:t>низкоуровневый</a:t>
            </a:r>
            <a:r>
              <a:rPr lang="en-US" dirty="0"/>
              <a:t> </a:t>
            </a:r>
            <a:r>
              <a:rPr lang="en-US" dirty="0" err="1"/>
              <a:t>строительный</a:t>
            </a:r>
            <a:r>
              <a:rPr lang="en-US" dirty="0"/>
              <a:t> </a:t>
            </a:r>
            <a:r>
              <a:rPr lang="en-US" dirty="0" err="1"/>
              <a:t>блок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механизмов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.</a:t>
            </a:r>
          </a:p>
          <a:p>
            <a:r>
              <a:rPr lang="en-US" dirty="0" err="1"/>
              <a:t>Используя</a:t>
            </a:r>
            <a:r>
              <a:rPr lang="en-US" dirty="0"/>
              <a:t> std::</a:t>
            </a:r>
            <a:r>
              <a:rPr lang="en-US" dirty="0" err="1"/>
              <a:t>atomic_flag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построили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спинлок</a:t>
            </a:r>
            <a:r>
              <a:rPr lang="en-US" dirty="0"/>
              <a:t> и </a:t>
            </a:r>
            <a:r>
              <a:rPr lang="en-US" dirty="0" err="1"/>
              <a:t>увидели</a:t>
            </a:r>
            <a:r>
              <a:rPr lang="en-US" dirty="0"/>
              <a:t>, </a:t>
            </a:r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осталась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захватить</a:t>
            </a:r>
            <a:r>
              <a:rPr lang="en-US" dirty="0"/>
              <a:t> </a:t>
            </a:r>
            <a:r>
              <a:rPr lang="en-US" dirty="0" err="1"/>
              <a:t>блокировку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проверяет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и </a:t>
            </a:r>
            <a:r>
              <a:rPr lang="en-US" dirty="0" err="1"/>
              <a:t>расходует</a:t>
            </a:r>
            <a:r>
              <a:rPr lang="en-US" dirty="0"/>
              <a:t> CPU.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критическая</a:t>
            </a:r>
            <a:r>
              <a:rPr lang="en-US" dirty="0"/>
              <a:t> </a:t>
            </a:r>
            <a:r>
              <a:rPr lang="en-US" dirty="0" err="1"/>
              <a:t>секция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короткая</a:t>
            </a:r>
            <a:r>
              <a:rPr lang="en-US" dirty="0"/>
              <a:t>,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оправдано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 </a:t>
            </a:r>
            <a:r>
              <a:rPr lang="en-US" dirty="0" err="1"/>
              <a:t>занят</a:t>
            </a:r>
            <a:r>
              <a:rPr lang="en-US" dirty="0"/>
              <a:t> </a:t>
            </a:r>
            <a:r>
              <a:rPr lang="en-US" dirty="0" err="1"/>
              <a:t>долго</a:t>
            </a:r>
            <a:r>
              <a:rPr lang="en-US" dirty="0"/>
              <a:t>, </a:t>
            </a:r>
            <a:r>
              <a:rPr lang="en-US" dirty="0" err="1"/>
              <a:t>разумнее</a:t>
            </a:r>
            <a:r>
              <a:rPr lang="en-US" dirty="0"/>
              <a:t> </a:t>
            </a:r>
            <a:r>
              <a:rPr lang="en-US" dirty="0" err="1"/>
              <a:t>приостановить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ожидающего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и </a:t>
            </a:r>
            <a:r>
              <a:rPr lang="en-US" dirty="0" err="1"/>
              <a:t>отдать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задачам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решают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блокирующего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в </a:t>
            </a:r>
            <a:r>
              <a:rPr lang="en-US" dirty="0" err="1"/>
              <a:t>следующем</a:t>
            </a:r>
            <a:r>
              <a:rPr lang="en-US" dirty="0"/>
              <a:t> </a:t>
            </a:r>
            <a:r>
              <a:rPr lang="en-US" dirty="0" err="1"/>
              <a:t>разделе</a:t>
            </a:r>
            <a:r>
              <a:rPr lang="en-US" dirty="0"/>
              <a:t>: Sleep/Wakeup, </a:t>
            </a:r>
            <a:r>
              <a:rPr lang="en-US" dirty="0" err="1"/>
              <a:t>мьютексы</a:t>
            </a:r>
            <a:r>
              <a:rPr lang="en-US" dirty="0"/>
              <a:t>, </a:t>
            </a:r>
            <a:r>
              <a:rPr lang="en-US" dirty="0" err="1"/>
              <a:t>семафоры</a:t>
            </a:r>
            <a:r>
              <a:rPr lang="en-US" dirty="0"/>
              <a:t> и </a:t>
            </a:r>
            <a:r>
              <a:rPr lang="en-US" dirty="0" err="1"/>
              <a:t>Futex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0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096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предыдущем</a:t>
            </a:r>
            <a:r>
              <a:rPr lang="en-US" dirty="0"/>
              <a:t> </a:t>
            </a:r>
            <a:r>
              <a:rPr lang="en-US" dirty="0" err="1"/>
              <a:t>разделе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познакомились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спинлоками</a:t>
            </a:r>
            <a:r>
              <a:rPr lang="en-US" dirty="0"/>
              <a:t> и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реализовали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SpinLock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C++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atomic_flag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спинлоки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Linux и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там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варианты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захвата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обычной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spin_lock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традиционном</a:t>
            </a:r>
            <a:r>
              <a:rPr lang="en-US" dirty="0"/>
              <a:t> </a:t>
            </a:r>
            <a:r>
              <a:rPr lang="en-US" dirty="0" err="1"/>
              <a:t>ядре</a:t>
            </a:r>
            <a:r>
              <a:rPr lang="en-US" dirty="0"/>
              <a:t> Linux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успешном</a:t>
            </a:r>
            <a:r>
              <a:rPr lang="en-US" dirty="0"/>
              <a:t> </a:t>
            </a:r>
            <a:r>
              <a:rPr lang="en-US" dirty="0" err="1"/>
              <a:t>захвате</a:t>
            </a:r>
            <a:r>
              <a:rPr lang="en-US" dirty="0"/>
              <a:t> </a:t>
            </a:r>
            <a:r>
              <a:rPr lang="en-US" dirty="0" err="1"/>
              <a:t>спинлока</a:t>
            </a:r>
            <a:r>
              <a:rPr lang="en-US" dirty="0"/>
              <a:t> </a:t>
            </a:r>
            <a:r>
              <a:rPr lang="en-US" dirty="0" err="1"/>
              <a:t>отключается</a:t>
            </a:r>
            <a:r>
              <a:rPr lang="en-US" dirty="0"/>
              <a:t> </a:t>
            </a:r>
            <a:r>
              <a:rPr lang="en-US" dirty="0" err="1"/>
              <a:t>вытеснение</a:t>
            </a:r>
            <a:r>
              <a:rPr lang="en-US" dirty="0"/>
              <a:t>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 Это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обычным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вытеснить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удерживает</a:t>
            </a:r>
            <a:r>
              <a:rPr lang="en-US" dirty="0"/>
              <a:t> </a:t>
            </a:r>
            <a:r>
              <a:rPr lang="en-US" dirty="0" err="1"/>
              <a:t>блокировку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особенность</a:t>
            </a:r>
            <a:r>
              <a:rPr lang="en-US" dirty="0"/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spin_lock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отключает</a:t>
            </a:r>
            <a:r>
              <a:rPr lang="en-US" dirty="0"/>
              <a:t>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захватил</a:t>
            </a:r>
            <a:r>
              <a:rPr lang="en-US" dirty="0"/>
              <a:t> </a:t>
            </a:r>
            <a:r>
              <a:rPr lang="en-US" dirty="0" err="1"/>
              <a:t>спинлок</a:t>
            </a:r>
            <a:r>
              <a:rPr lang="en-US" dirty="0"/>
              <a:t> и </a:t>
            </a:r>
            <a:r>
              <a:rPr lang="en-US" dirty="0" err="1"/>
              <a:t>начал</a:t>
            </a:r>
            <a:r>
              <a:rPr lang="en-US" dirty="0"/>
              <a:t>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некоторую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процессорном</a:t>
            </a:r>
            <a:r>
              <a:rPr lang="en-US" dirty="0"/>
              <a:t> </a:t>
            </a:r>
            <a:r>
              <a:rPr lang="en-US" dirty="0" err="1"/>
              <a:t>ядре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аппаратное</a:t>
            </a:r>
            <a:r>
              <a:rPr lang="en-US" dirty="0"/>
              <a:t> </a:t>
            </a:r>
            <a:r>
              <a:rPr lang="en-US" dirty="0" err="1"/>
              <a:t>прерывание</a:t>
            </a:r>
            <a:r>
              <a:rPr lang="en-US" dirty="0"/>
              <a:t>.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приостанавливает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и </a:t>
            </a:r>
            <a:r>
              <a:rPr lang="en-US" dirty="0" err="1"/>
              <a:t>переходит</a:t>
            </a:r>
            <a:r>
              <a:rPr lang="en-US" dirty="0"/>
              <a:t> в </a:t>
            </a:r>
            <a:r>
              <a:rPr lang="en-US" dirty="0" err="1"/>
              <a:t>обработчик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Допустим</a:t>
            </a:r>
            <a:r>
              <a:rPr lang="en-US" dirty="0"/>
              <a:t>, </a:t>
            </a:r>
            <a:r>
              <a:rPr lang="en-US" dirty="0" err="1"/>
              <a:t>обработчику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структура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пытается</a:t>
            </a:r>
            <a:r>
              <a:rPr lang="en-US" dirty="0"/>
              <a:t> </a:t>
            </a:r>
            <a:r>
              <a:rPr lang="en-US" dirty="0" err="1"/>
              <a:t>захватить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спинлок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блокировка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занята</a:t>
            </a:r>
            <a:r>
              <a:rPr lang="en-US" dirty="0"/>
              <a:t>!</a:t>
            </a:r>
            <a:r>
              <a:rPr lang="ru-RU" dirty="0"/>
              <a:t>у</a:t>
            </a:r>
            <a:endParaRPr lang="en-US" dirty="0"/>
          </a:p>
          <a:p>
            <a:r>
              <a:rPr lang="en-US" dirty="0" err="1"/>
              <a:t>Обработчик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активно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освобождения</a:t>
            </a:r>
            <a:r>
              <a:rPr lang="en-US" dirty="0"/>
              <a:t>. </a:t>
            </a:r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владелец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приостановлен</a:t>
            </a:r>
            <a:r>
              <a:rPr lang="en-US" dirty="0"/>
              <a:t>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самым</a:t>
            </a:r>
            <a:r>
              <a:rPr lang="en-US" dirty="0"/>
              <a:t> </a:t>
            </a:r>
            <a:r>
              <a:rPr lang="en-US" dirty="0" err="1"/>
              <a:t>прерыванием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завершится</a:t>
            </a:r>
            <a:r>
              <a:rPr lang="en-US" dirty="0"/>
              <a:t>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взаимная</a:t>
            </a:r>
            <a:r>
              <a:rPr lang="en-US" dirty="0"/>
              <a:t> </a:t>
            </a:r>
            <a:r>
              <a:rPr lang="en-US" dirty="0" err="1"/>
              <a:t>блокировка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deadlock.</a:t>
            </a:r>
          </a:p>
          <a:p>
            <a:endParaRPr lang="ru-RU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</a:t>
            </a:r>
            <a:r>
              <a:rPr lang="en-US" dirty="0" err="1"/>
              <a:t>владельца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CPU.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пытается</a:t>
            </a:r>
            <a:r>
              <a:rPr lang="en-US" dirty="0"/>
              <a:t> </a:t>
            </a:r>
            <a:r>
              <a:rPr lang="en-US" dirty="0" err="1"/>
              <a:t>захватить</a:t>
            </a:r>
            <a:r>
              <a:rPr lang="en-US" dirty="0"/>
              <a:t> </a:t>
            </a:r>
            <a:r>
              <a:rPr lang="en-US" dirty="0" err="1"/>
              <a:t>занятый</a:t>
            </a:r>
            <a:r>
              <a:rPr lang="en-US" dirty="0"/>
              <a:t> </a:t>
            </a:r>
            <a:r>
              <a:rPr lang="en-US" dirty="0" err="1"/>
              <a:t>спинлок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нормально</a:t>
            </a:r>
            <a:r>
              <a:rPr lang="en-US" dirty="0"/>
              <a:t>: </a:t>
            </a:r>
            <a:r>
              <a:rPr lang="en-US" dirty="0" err="1"/>
              <a:t>первый</a:t>
            </a:r>
            <a:r>
              <a:rPr lang="en-US" dirty="0"/>
              <a:t> CPU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и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освободить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предотвратить</a:t>
            </a:r>
            <a:r>
              <a:rPr lang="en-US" dirty="0"/>
              <a:t> </a:t>
            </a:r>
            <a:r>
              <a:rPr lang="en-US" dirty="0" err="1"/>
              <a:t>такую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, Linux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варианты</a:t>
            </a:r>
            <a:r>
              <a:rPr lang="en-US" dirty="0"/>
              <a:t> </a:t>
            </a:r>
            <a:r>
              <a:rPr lang="en-US" dirty="0" err="1"/>
              <a:t>спинлоков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дополнительно</a:t>
            </a:r>
            <a:r>
              <a:rPr lang="en-US" dirty="0"/>
              <a:t> </a:t>
            </a:r>
            <a:r>
              <a:rPr lang="en-US" dirty="0" err="1"/>
              <a:t>отключают</a:t>
            </a:r>
            <a:r>
              <a:rPr lang="en-US" dirty="0"/>
              <a:t> </a:t>
            </a:r>
            <a:r>
              <a:rPr lang="en-US" dirty="0" err="1"/>
              <a:t>локальные</a:t>
            </a:r>
            <a:r>
              <a:rPr lang="en-US" dirty="0"/>
              <a:t>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.</a:t>
            </a:r>
          </a:p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следующем</a:t>
            </a:r>
            <a:r>
              <a:rPr lang="en-US" dirty="0"/>
              <a:t> </a:t>
            </a:r>
            <a:r>
              <a:rPr lang="en-US" dirty="0" err="1"/>
              <a:t>слайде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666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Linux </a:t>
            </a:r>
            <a:r>
              <a:rPr lang="en-US" dirty="0" err="1"/>
              <a:t>предусмотрено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вариантов</a:t>
            </a:r>
            <a:r>
              <a:rPr lang="en-US" dirty="0"/>
              <a:t> </a:t>
            </a:r>
            <a:r>
              <a:rPr lang="en-US" dirty="0" err="1"/>
              <a:t>захвата</a:t>
            </a:r>
            <a:r>
              <a:rPr lang="en-US" dirty="0"/>
              <a:t> </a:t>
            </a:r>
            <a:r>
              <a:rPr lang="en-US" dirty="0" err="1"/>
              <a:t>спинлоков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отличаются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тем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взаимодействуют</a:t>
            </a:r>
            <a:r>
              <a:rPr lang="en-US" dirty="0"/>
              <a:t> с </a:t>
            </a:r>
            <a:r>
              <a:rPr lang="en-US" dirty="0" err="1"/>
              <a:t>механизмом</a:t>
            </a:r>
            <a:r>
              <a:rPr lang="en-US" dirty="0"/>
              <a:t> </a:t>
            </a:r>
            <a:r>
              <a:rPr lang="en-US" dirty="0" err="1"/>
              <a:t>аппаратных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spin_lock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dirty="0" err="1"/>
              <a:t>спинлок</a:t>
            </a:r>
            <a:r>
              <a:rPr lang="en-US" dirty="0"/>
              <a:t>, а в </a:t>
            </a:r>
            <a:r>
              <a:rPr lang="en-US" dirty="0" err="1"/>
              <a:t>обычном</a:t>
            </a:r>
            <a:r>
              <a:rPr lang="en-US" dirty="0"/>
              <a:t> </a:t>
            </a:r>
            <a:r>
              <a:rPr lang="en-US" dirty="0" err="1"/>
              <a:t>ядре</a:t>
            </a:r>
            <a:r>
              <a:rPr lang="en-US" dirty="0"/>
              <a:t> Linux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запрещает</a:t>
            </a:r>
            <a:r>
              <a:rPr lang="en-US" dirty="0"/>
              <a:t> </a:t>
            </a:r>
            <a:r>
              <a:rPr lang="en-US" dirty="0" err="1"/>
              <a:t>вытеснение</a:t>
            </a:r>
            <a:r>
              <a:rPr lang="en-US" dirty="0"/>
              <a:t>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 </a:t>
            </a:r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</a:t>
            </a:r>
            <a:r>
              <a:rPr lang="en-US" dirty="0" err="1"/>
              <a:t>остаются</a:t>
            </a:r>
            <a:r>
              <a:rPr lang="en-US" dirty="0"/>
              <a:t> </a:t>
            </a:r>
            <a:r>
              <a:rPr lang="en-US" dirty="0" err="1"/>
              <a:t>разрешёнными</a:t>
            </a:r>
            <a:r>
              <a:rPr lang="en-US" dirty="0"/>
              <a:t>.</a:t>
            </a:r>
          </a:p>
          <a:p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</a:t>
            </a:r>
            <a:r>
              <a:rPr lang="en-US" dirty="0" err="1"/>
              <a:t>подходит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уверены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защищаемая</a:t>
            </a:r>
            <a:r>
              <a:rPr lang="en-US" dirty="0"/>
              <a:t> </a:t>
            </a:r>
            <a:r>
              <a:rPr lang="en-US" dirty="0" err="1"/>
              <a:t>структура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обработчиком</a:t>
            </a:r>
            <a:r>
              <a:rPr lang="en-US" dirty="0"/>
              <a:t> </a:t>
            </a:r>
            <a:r>
              <a:rPr lang="en-US" dirty="0" err="1"/>
              <a:t>аппаратного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прервать</a:t>
            </a:r>
            <a:r>
              <a:rPr lang="en-US" dirty="0"/>
              <a:t> </a:t>
            </a:r>
            <a:r>
              <a:rPr lang="en-US" dirty="0" err="1"/>
              <a:t>владельца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CPU.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взаимное</a:t>
            </a:r>
            <a:r>
              <a:rPr lang="en-US" dirty="0"/>
              <a:t> </a:t>
            </a:r>
            <a:r>
              <a:rPr lang="en-US" dirty="0" err="1"/>
              <a:t>исключение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разными</a:t>
            </a:r>
            <a:r>
              <a:rPr lang="en-US" dirty="0"/>
              <a:t> </a:t>
            </a:r>
            <a:r>
              <a:rPr lang="en-US" dirty="0" err="1"/>
              <a:t>процессорными</a:t>
            </a:r>
            <a:r>
              <a:rPr lang="en-US" dirty="0"/>
              <a:t> </a:t>
            </a:r>
            <a:r>
              <a:rPr lang="en-US" dirty="0" err="1"/>
              <a:t>ядрами</a:t>
            </a:r>
            <a:r>
              <a:rPr lang="en-US" dirty="0"/>
              <a:t>, </a:t>
            </a:r>
            <a:r>
              <a:rPr lang="en-US" dirty="0" err="1"/>
              <a:t>конечно</a:t>
            </a:r>
            <a:r>
              <a:rPr lang="en-US" dirty="0"/>
              <a:t>, </a:t>
            </a:r>
            <a:r>
              <a:rPr lang="en-US" dirty="0" err="1"/>
              <a:t>сохраняется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—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spin_lock_irq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дополнительно</a:t>
            </a:r>
            <a:r>
              <a:rPr lang="en-US" dirty="0"/>
              <a:t> </a:t>
            </a:r>
            <a:r>
              <a:rPr lang="en-US" dirty="0" err="1"/>
              <a:t>отключает</a:t>
            </a:r>
            <a:r>
              <a:rPr lang="en-US" dirty="0"/>
              <a:t> </a:t>
            </a:r>
            <a:r>
              <a:rPr lang="en-US" dirty="0" err="1"/>
              <a:t>локальные</a:t>
            </a:r>
            <a:r>
              <a:rPr lang="en-US" dirty="0"/>
              <a:t>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.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текущем</a:t>
            </a:r>
            <a:r>
              <a:rPr lang="en-US" dirty="0"/>
              <a:t> CPU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вмешаться</a:t>
            </a:r>
            <a:r>
              <a:rPr lang="en-US" dirty="0"/>
              <a:t> в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критической</a:t>
            </a:r>
            <a:r>
              <a:rPr lang="en-US" dirty="0"/>
              <a:t> </a:t>
            </a:r>
            <a:r>
              <a:rPr lang="en-US" dirty="0" err="1"/>
              <a:t>секции</a:t>
            </a:r>
            <a:r>
              <a:rPr lang="en-US" dirty="0"/>
              <a:t> и </a:t>
            </a:r>
            <a:r>
              <a:rPr lang="en-US" dirty="0" err="1"/>
              <a:t>попытаться</a:t>
            </a:r>
            <a:r>
              <a:rPr lang="en-US" dirty="0"/>
              <a:t> </a:t>
            </a:r>
            <a:r>
              <a:rPr lang="en-US" dirty="0" err="1"/>
              <a:t>захватить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блокировку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тонкость</a:t>
            </a:r>
            <a:r>
              <a:rPr lang="en-US" dirty="0"/>
              <a:t>.</a:t>
            </a:r>
          </a:p>
          <a:p>
            <a:r>
              <a:rPr lang="en-US" dirty="0" err="1"/>
              <a:t>Парная</a:t>
            </a:r>
            <a:r>
              <a:rPr lang="en-US" dirty="0"/>
              <a:t>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spin_unlock_irq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освобождает</a:t>
            </a:r>
            <a:r>
              <a:rPr lang="en-US" dirty="0"/>
              <a:t> </a:t>
            </a:r>
            <a:r>
              <a:rPr lang="en-US" dirty="0" err="1"/>
              <a:t>спинлок</a:t>
            </a:r>
            <a:r>
              <a:rPr lang="en-US" dirty="0"/>
              <a:t> —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включает</a:t>
            </a:r>
            <a:r>
              <a:rPr lang="en-US" dirty="0"/>
              <a:t> </a:t>
            </a:r>
            <a:r>
              <a:rPr lang="en-US" dirty="0" err="1"/>
              <a:t>локальные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захвата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были</a:t>
            </a:r>
            <a:r>
              <a:rPr lang="en-US" dirty="0"/>
              <a:t> </a:t>
            </a:r>
            <a:r>
              <a:rPr lang="en-US" dirty="0" err="1"/>
              <a:t>отключены</a:t>
            </a:r>
            <a:r>
              <a:rPr lang="en-US" dirty="0"/>
              <a:t>,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нарушить</a:t>
            </a:r>
            <a:r>
              <a:rPr lang="en-US" dirty="0"/>
              <a:t> </a:t>
            </a:r>
            <a:r>
              <a:rPr lang="en-US" dirty="0" err="1"/>
              <a:t>корректность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подобных</a:t>
            </a:r>
            <a:r>
              <a:rPr lang="en-US" dirty="0"/>
              <a:t> </a:t>
            </a:r>
            <a:r>
              <a:rPr lang="en-US" dirty="0" err="1"/>
              <a:t>ситуаций</a:t>
            </a:r>
            <a:r>
              <a:rPr lang="en-US" dirty="0"/>
              <a:t> </a:t>
            </a:r>
            <a:r>
              <a:rPr lang="en-US" dirty="0" err="1"/>
              <a:t>предусмотрена</a:t>
            </a:r>
            <a:r>
              <a:rPr lang="en-US" dirty="0"/>
              <a:t>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spin_lock_irqsave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b="1" dirty="0"/>
              <a:t>.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сохраняет</a:t>
            </a:r>
            <a:r>
              <a:rPr lang="en-US" dirty="0"/>
              <a:t> </a:t>
            </a:r>
            <a:r>
              <a:rPr lang="en-US" dirty="0" err="1"/>
              <a:t>текущее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локальных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, </a:t>
            </a:r>
            <a:r>
              <a:rPr lang="en-US" dirty="0" err="1"/>
              <a:t>отключает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и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dirty="0" err="1"/>
              <a:t>спинлок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критической</a:t>
            </a:r>
            <a:r>
              <a:rPr lang="en-US" dirty="0"/>
              <a:t> </a:t>
            </a:r>
            <a:r>
              <a:rPr lang="en-US" dirty="0" err="1"/>
              <a:t>секции</a:t>
            </a:r>
            <a:r>
              <a:rPr lang="en-US" dirty="0"/>
              <a:t>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spin_unlock_irqrestore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освобождает</a:t>
            </a:r>
            <a:r>
              <a:rPr lang="en-US" dirty="0"/>
              <a:t> </a:t>
            </a:r>
            <a:r>
              <a:rPr lang="en-US" dirty="0" err="1"/>
              <a:t>блокировку</a:t>
            </a:r>
            <a:r>
              <a:rPr lang="en-US" dirty="0"/>
              <a:t> и </a:t>
            </a:r>
            <a:r>
              <a:rPr lang="en-US" dirty="0" err="1"/>
              <a:t>восстанавливает</a:t>
            </a:r>
            <a:r>
              <a:rPr lang="en-US" dirty="0"/>
              <a:t> </a:t>
            </a:r>
            <a:r>
              <a:rPr lang="en-US" dirty="0" err="1"/>
              <a:t>исходное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переменную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flags</a:t>
            </a:r>
            <a:r>
              <a:rPr lang="en-US" dirty="0"/>
              <a:t>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. В </a:t>
            </a:r>
            <a:r>
              <a:rPr lang="en-US" dirty="0" err="1"/>
              <a:t>ней</a:t>
            </a:r>
            <a:r>
              <a:rPr lang="en-US" dirty="0"/>
              <a:t> </a:t>
            </a:r>
            <a:r>
              <a:rPr lang="en-US" dirty="0" err="1"/>
              <a:t>сохраняется</a:t>
            </a:r>
            <a:r>
              <a:rPr lang="en-US" dirty="0"/>
              <a:t> </a:t>
            </a:r>
            <a:r>
              <a:rPr lang="en-US" dirty="0" err="1"/>
              <a:t>информация</a:t>
            </a:r>
            <a:r>
              <a:rPr lang="en-US" dirty="0"/>
              <a:t>, </a:t>
            </a:r>
            <a:r>
              <a:rPr lang="en-US" dirty="0" err="1"/>
              <a:t>необходимая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восстановления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и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функция</a:t>
            </a:r>
            <a:r>
              <a:rPr lang="en-US" dirty="0"/>
              <a:t>, </a:t>
            </a:r>
            <a:r>
              <a:rPr lang="en-US" dirty="0" err="1"/>
              <a:t>использующая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spin_lock_irqsave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применяться</a:t>
            </a:r>
            <a:r>
              <a:rPr lang="en-US" dirty="0"/>
              <a:t> в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допустимых</a:t>
            </a:r>
            <a:r>
              <a:rPr lang="en-US" dirty="0"/>
              <a:t> </a:t>
            </a:r>
            <a:r>
              <a:rPr lang="en-US" dirty="0" err="1"/>
              <a:t>контекстах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— в </a:t>
            </a:r>
            <a:r>
              <a:rPr lang="en-US" dirty="0" err="1"/>
              <a:t>том</a:t>
            </a:r>
            <a:r>
              <a:rPr lang="en-US" dirty="0"/>
              <a:t> </a:t>
            </a:r>
            <a:r>
              <a:rPr lang="en-US" dirty="0" err="1"/>
              <a:t>числе</a:t>
            </a:r>
            <a:r>
              <a:rPr lang="en-US" dirty="0"/>
              <a:t>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были</a:t>
            </a:r>
            <a:r>
              <a:rPr lang="en-US" dirty="0"/>
              <a:t> </a:t>
            </a:r>
            <a:r>
              <a:rPr lang="en-US" dirty="0" err="1"/>
              <a:t>отключены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spin_lock_irqsave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отключение</a:t>
            </a:r>
            <a:r>
              <a:rPr lang="en-US" dirty="0"/>
              <a:t> </a:t>
            </a:r>
            <a:r>
              <a:rPr lang="en-US" dirty="0" err="1"/>
              <a:t>аппаратных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,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spin_lock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избежать</a:t>
            </a:r>
            <a:r>
              <a:rPr lang="en-US" dirty="0"/>
              <a:t> </a:t>
            </a:r>
            <a:r>
              <a:rPr lang="en-US" dirty="0" err="1"/>
              <a:t>лишних</a:t>
            </a:r>
            <a:r>
              <a:rPr lang="en-US" dirty="0"/>
              <a:t> </a:t>
            </a:r>
            <a:r>
              <a:rPr lang="en-US" dirty="0" err="1"/>
              <a:t>ограничений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напомню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важнейших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классическими</a:t>
            </a:r>
            <a:r>
              <a:rPr lang="en-US" dirty="0"/>
              <a:t> </a:t>
            </a:r>
            <a:r>
              <a:rPr lang="en-US" dirty="0" err="1"/>
              <a:t>спинлоками</a:t>
            </a:r>
            <a:r>
              <a:rPr lang="en-US" dirty="0"/>
              <a:t>.</a:t>
            </a:r>
          </a:p>
          <a:p>
            <a:r>
              <a:rPr lang="en-US" dirty="0" err="1"/>
              <a:t>Первое</a:t>
            </a:r>
            <a:r>
              <a:rPr lang="en-US" dirty="0"/>
              <a:t> — </a:t>
            </a:r>
            <a:r>
              <a:rPr lang="en-US" dirty="0" err="1"/>
              <a:t>критическая</a:t>
            </a:r>
            <a:r>
              <a:rPr lang="en-US" dirty="0"/>
              <a:t> </a:t>
            </a:r>
            <a:r>
              <a:rPr lang="en-US" dirty="0" err="1"/>
              <a:t>секция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короткой</a:t>
            </a:r>
            <a:r>
              <a:rPr lang="en-US" dirty="0"/>
              <a:t>.</a:t>
            </a:r>
          </a:p>
          <a:p>
            <a:r>
              <a:rPr lang="en-US" dirty="0" err="1"/>
              <a:t>Второе</a:t>
            </a:r>
            <a:r>
              <a:rPr lang="en-US" dirty="0"/>
              <a:t> —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вызывать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заблокировать</a:t>
            </a:r>
            <a:r>
              <a:rPr lang="en-US" dirty="0"/>
              <a:t> </a:t>
            </a:r>
            <a:r>
              <a:rPr lang="en-US" dirty="0" err="1"/>
              <a:t>выполняющийся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перевести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</a:t>
            </a:r>
            <a:r>
              <a:rPr lang="en-US" dirty="0" err="1"/>
              <a:t>сон</a:t>
            </a:r>
            <a:r>
              <a:rPr lang="en-US" dirty="0"/>
              <a:t>. </a:t>
            </a:r>
            <a:r>
              <a:rPr lang="en-US" dirty="0" err="1"/>
              <a:t>Классический</a:t>
            </a:r>
            <a:r>
              <a:rPr lang="en-US" dirty="0"/>
              <a:t> </a:t>
            </a:r>
            <a:r>
              <a:rPr lang="en-US" dirty="0" err="1"/>
              <a:t>спинлок</a:t>
            </a:r>
            <a:r>
              <a:rPr lang="en-US" dirty="0"/>
              <a:t> </a:t>
            </a:r>
            <a:r>
              <a:rPr lang="en-US" dirty="0" err="1"/>
              <a:t>предназначен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r>
              <a:rPr lang="en-US" dirty="0"/>
              <a:t> в </a:t>
            </a:r>
            <a:r>
              <a:rPr lang="en-US" dirty="0" err="1"/>
              <a:t>атомарном</a:t>
            </a:r>
            <a:r>
              <a:rPr lang="en-US" dirty="0"/>
              <a:t> </a:t>
            </a:r>
            <a:r>
              <a:rPr lang="en-US" dirty="0" err="1"/>
              <a:t>контексте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блокирующее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недопустимо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350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992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предыдущем</a:t>
            </a:r>
            <a:r>
              <a:rPr lang="en-US" dirty="0"/>
              <a:t> </a:t>
            </a:r>
            <a:r>
              <a:rPr lang="en-US" dirty="0" err="1"/>
              <a:t>разделе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рассмотрели</a:t>
            </a:r>
            <a:r>
              <a:rPr lang="en-US" dirty="0"/>
              <a:t> </a:t>
            </a:r>
            <a:r>
              <a:rPr lang="en-US" dirty="0" err="1"/>
              <a:t>спинлоки</a:t>
            </a:r>
            <a:r>
              <a:rPr lang="en-US" dirty="0"/>
              <a:t>.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главное</a:t>
            </a:r>
            <a:r>
              <a:rPr lang="en-US" dirty="0"/>
              <a:t> </a:t>
            </a:r>
            <a:r>
              <a:rPr lang="en-US" dirty="0" err="1"/>
              <a:t>преимущество</a:t>
            </a:r>
            <a:r>
              <a:rPr lang="en-US" dirty="0"/>
              <a:t> —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захватить</a:t>
            </a:r>
            <a:r>
              <a:rPr lang="en-US" dirty="0"/>
              <a:t> </a:t>
            </a:r>
            <a:r>
              <a:rPr lang="en-US" dirty="0" err="1"/>
              <a:t>блокировку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обращаться</a:t>
            </a:r>
            <a:r>
              <a:rPr lang="en-US" dirty="0"/>
              <a:t> к </a:t>
            </a:r>
            <a:r>
              <a:rPr lang="en-US" dirty="0" err="1"/>
              <a:t>планировщику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короткое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активное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очевидный</a:t>
            </a:r>
            <a:r>
              <a:rPr lang="en-US" dirty="0"/>
              <a:t> </a:t>
            </a:r>
            <a:r>
              <a:rPr lang="en-US" dirty="0" err="1"/>
              <a:t>недостаток</a:t>
            </a:r>
            <a:r>
              <a:rPr lang="en-US" dirty="0"/>
              <a:t>: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занимать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,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полезную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Представьте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займёт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миллисекунд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непрерывно</a:t>
            </a:r>
            <a:r>
              <a:rPr lang="en-US" dirty="0"/>
              <a:t>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переменную</a:t>
            </a:r>
            <a:r>
              <a:rPr lang="en-US" dirty="0"/>
              <a:t>,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потратит</a:t>
            </a:r>
            <a:r>
              <a:rPr lang="en-US" dirty="0"/>
              <a:t> </a:t>
            </a:r>
            <a:r>
              <a:rPr lang="en-US" dirty="0" err="1"/>
              <a:t>огромное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циклов</a:t>
            </a:r>
            <a:r>
              <a:rPr lang="en-US" dirty="0"/>
              <a:t> </a:t>
            </a:r>
            <a:r>
              <a:rPr lang="en-US" dirty="0" err="1"/>
              <a:t>впустую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операционных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— </a:t>
            </a:r>
            <a:r>
              <a:rPr lang="en-US" dirty="0" err="1"/>
              <a:t>блокирующее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переходит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Running в </a:t>
            </a:r>
            <a:r>
              <a:rPr lang="en-US" dirty="0" err="1"/>
              <a:t>состояние</a:t>
            </a:r>
            <a:r>
              <a:rPr lang="en-US" dirty="0"/>
              <a:t> Blocked,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исключает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числа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, </a:t>
            </a:r>
            <a:r>
              <a:rPr lang="en-US" dirty="0" err="1"/>
              <a:t>готовых</a:t>
            </a:r>
            <a:r>
              <a:rPr lang="en-US" dirty="0"/>
              <a:t> к </a:t>
            </a:r>
            <a:r>
              <a:rPr lang="en-US" dirty="0" err="1"/>
              <a:t>выполнению</a:t>
            </a:r>
            <a:r>
              <a:rPr lang="en-US" dirty="0"/>
              <a:t>, и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ожидаемое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,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инициирует</a:t>
            </a:r>
            <a:r>
              <a:rPr lang="en-US" dirty="0"/>
              <a:t> </a:t>
            </a:r>
            <a:r>
              <a:rPr lang="en-US" dirty="0" err="1"/>
              <a:t>пробуждение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пробуждённый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немедленно</a:t>
            </a:r>
            <a:r>
              <a:rPr lang="en-US" dirty="0"/>
              <a:t>.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переходит</a:t>
            </a:r>
            <a:r>
              <a:rPr lang="en-US" dirty="0"/>
              <a:t> в </a:t>
            </a:r>
            <a:r>
              <a:rPr lang="en-US" dirty="0" err="1"/>
              <a:t>состояние</a:t>
            </a:r>
            <a:r>
              <a:rPr lang="en-US" dirty="0"/>
              <a:t> Ready — </a:t>
            </a:r>
            <a:r>
              <a:rPr lang="en-US" dirty="0" err="1"/>
              <a:t>готов</a:t>
            </a:r>
            <a:r>
              <a:rPr lang="en-US" dirty="0"/>
              <a:t> к </a:t>
            </a:r>
            <a:r>
              <a:rPr lang="en-US" dirty="0" err="1"/>
              <a:t>выполнению</a:t>
            </a:r>
            <a:r>
              <a:rPr lang="en-US" dirty="0"/>
              <a:t>.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предоставит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в </a:t>
            </a:r>
            <a:r>
              <a:rPr lang="en-US" dirty="0" err="1"/>
              <a:t>соответствии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своей</a:t>
            </a:r>
            <a:r>
              <a:rPr lang="en-US" dirty="0"/>
              <a:t> </a:t>
            </a:r>
            <a:r>
              <a:rPr lang="en-US" dirty="0" err="1"/>
              <a:t>политикой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получаем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эффективное</a:t>
            </a:r>
            <a:r>
              <a:rPr lang="en-US" dirty="0"/>
              <a:t> </a:t>
            </a:r>
            <a:r>
              <a:rPr lang="en-US" dirty="0" err="1"/>
              <a:t>использование</a:t>
            </a:r>
            <a:r>
              <a:rPr lang="en-US" dirty="0"/>
              <a:t> CPU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длительном</a:t>
            </a:r>
            <a:r>
              <a:rPr lang="en-US" dirty="0"/>
              <a:t> </a:t>
            </a:r>
            <a:r>
              <a:rPr lang="en-US" dirty="0" err="1"/>
              <a:t>ожидании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бесплатен</a:t>
            </a:r>
            <a:r>
              <a:rPr lang="en-US" dirty="0"/>
              <a:t>. </a:t>
            </a:r>
            <a:r>
              <a:rPr lang="en-US" dirty="0" err="1"/>
              <a:t>Блокировка</a:t>
            </a:r>
            <a:r>
              <a:rPr lang="en-US" dirty="0"/>
              <a:t> и </a:t>
            </a:r>
            <a:r>
              <a:rPr lang="en-US" dirty="0" err="1"/>
              <a:t>пробуждение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 с </a:t>
            </a:r>
            <a:r>
              <a:rPr lang="en-US" dirty="0" err="1"/>
              <a:t>работой</a:t>
            </a:r>
            <a:r>
              <a:rPr lang="en-US" dirty="0"/>
              <a:t> </a:t>
            </a:r>
            <a:r>
              <a:rPr lang="en-US" dirty="0" err="1"/>
              <a:t>планировщика</a:t>
            </a:r>
            <a:r>
              <a:rPr lang="en-US" dirty="0"/>
              <a:t>, а </a:t>
            </a:r>
            <a:r>
              <a:rPr lang="en-US" dirty="0" err="1"/>
              <a:t>иногда</a:t>
            </a:r>
            <a:r>
              <a:rPr lang="en-US" dirty="0"/>
              <a:t> и с </a:t>
            </a:r>
            <a:r>
              <a:rPr lang="en-US" dirty="0" err="1"/>
              <a:t>переключением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коротком</a:t>
            </a:r>
            <a:r>
              <a:rPr lang="en-US" dirty="0"/>
              <a:t> </a:t>
            </a:r>
            <a:r>
              <a:rPr lang="en-US" dirty="0" err="1"/>
              <a:t>ожидании</a:t>
            </a:r>
            <a:r>
              <a:rPr lang="en-US" dirty="0"/>
              <a:t> spinlock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эффективнее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приходим</a:t>
            </a:r>
            <a:r>
              <a:rPr lang="en-US" dirty="0"/>
              <a:t> к </a:t>
            </a:r>
            <a:r>
              <a:rPr lang="en-US" dirty="0" err="1"/>
              <a:t>важному</a:t>
            </a:r>
            <a:r>
              <a:rPr lang="en-US" dirty="0"/>
              <a:t> </a:t>
            </a:r>
            <a:r>
              <a:rPr lang="en-US" dirty="0" err="1"/>
              <a:t>принципу</a:t>
            </a:r>
            <a:r>
              <a:rPr lang="en-US" dirty="0"/>
              <a:t>: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активным</a:t>
            </a:r>
            <a:r>
              <a:rPr lang="en-US" dirty="0"/>
              <a:t> и </a:t>
            </a:r>
            <a:r>
              <a:rPr lang="en-US" dirty="0" err="1"/>
              <a:t>блокирующим</a:t>
            </a:r>
            <a:r>
              <a:rPr lang="en-US" dirty="0"/>
              <a:t> </a:t>
            </a:r>
            <a:r>
              <a:rPr lang="en-US" dirty="0" err="1"/>
              <a:t>ожиданием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ожидаемой</a:t>
            </a:r>
            <a:r>
              <a:rPr lang="en-US" dirty="0"/>
              <a:t> </a:t>
            </a:r>
            <a:r>
              <a:rPr lang="en-US" dirty="0" err="1"/>
              <a:t>продолжительности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и </a:t>
            </a:r>
            <a:r>
              <a:rPr lang="en-US" dirty="0" err="1"/>
              <a:t>стоимости</a:t>
            </a:r>
            <a:r>
              <a:rPr lang="en-US" dirty="0"/>
              <a:t> </a:t>
            </a:r>
            <a:r>
              <a:rPr lang="en-US" dirty="0" err="1"/>
              <a:t>переключения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2062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операционные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реализуют</a:t>
            </a:r>
            <a:r>
              <a:rPr lang="en-US" dirty="0"/>
              <a:t> </a:t>
            </a:r>
            <a:r>
              <a:rPr lang="en-US" dirty="0" err="1"/>
              <a:t>блокирующее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лежат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: </a:t>
            </a:r>
            <a:r>
              <a:rPr lang="en-US" dirty="0" err="1"/>
              <a:t>приостановка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наступления</a:t>
            </a:r>
            <a:r>
              <a:rPr lang="en-US" dirty="0"/>
              <a:t> </a:t>
            </a:r>
            <a:r>
              <a:rPr lang="en-US" dirty="0" err="1"/>
              <a:t>определённого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и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последующее</a:t>
            </a:r>
            <a:r>
              <a:rPr lang="en-US" dirty="0"/>
              <a:t> </a:t>
            </a:r>
            <a:r>
              <a:rPr lang="en-US" dirty="0" err="1"/>
              <a:t>пробуждение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Традиционно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называют</a:t>
            </a:r>
            <a:r>
              <a:rPr lang="en-US" dirty="0"/>
              <a:t> Sleep и Wakeup.</a:t>
            </a:r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поток-потребитель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потока-производителя</a:t>
            </a:r>
            <a:r>
              <a:rPr lang="en-US" dirty="0"/>
              <a:t>.</a:t>
            </a:r>
          </a:p>
          <a:p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проверяет</a:t>
            </a:r>
            <a:r>
              <a:rPr lang="en-US" dirty="0"/>
              <a:t>, </a:t>
            </a:r>
            <a:r>
              <a:rPr lang="en-US" dirty="0" err="1"/>
              <a:t>доступны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приостановить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— Wait Queues.</a:t>
            </a:r>
          </a:p>
          <a:p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регистрирует</a:t>
            </a:r>
            <a:r>
              <a:rPr lang="en-US" dirty="0"/>
              <a:t> </a:t>
            </a:r>
            <a:r>
              <a:rPr lang="en-US" dirty="0" err="1"/>
              <a:t>своё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определённого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 и </a:t>
            </a:r>
            <a:r>
              <a:rPr lang="en-US" dirty="0" err="1"/>
              <a:t>переводится</a:t>
            </a:r>
            <a:r>
              <a:rPr lang="en-US" dirty="0"/>
              <a:t> в </a:t>
            </a:r>
            <a:r>
              <a:rPr lang="en-US" dirty="0" err="1"/>
              <a:t>заблокированное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,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производитель</a:t>
            </a:r>
            <a:r>
              <a:rPr lang="en-US" dirty="0"/>
              <a:t> </a:t>
            </a:r>
            <a:r>
              <a:rPr lang="en-US" dirty="0" err="1"/>
              <a:t>подготовит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изменит</a:t>
            </a:r>
            <a:r>
              <a:rPr lang="en-US" dirty="0"/>
              <a:t> </a:t>
            </a:r>
            <a:r>
              <a:rPr lang="en-US" dirty="0" err="1"/>
              <a:t>соответствующее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и </a:t>
            </a:r>
            <a:r>
              <a:rPr lang="en-US" dirty="0" err="1"/>
              <a:t>инициирует</a:t>
            </a:r>
            <a:r>
              <a:rPr lang="en-US" dirty="0"/>
              <a:t> </a:t>
            </a:r>
            <a:r>
              <a:rPr lang="en-US" dirty="0" err="1"/>
              <a:t>пробуждение</a:t>
            </a:r>
            <a:r>
              <a:rPr lang="en-US" dirty="0"/>
              <a:t>.</a:t>
            </a:r>
          </a:p>
          <a:p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переведёт</a:t>
            </a:r>
            <a:r>
              <a:rPr lang="en-US" dirty="0"/>
              <a:t> </a:t>
            </a:r>
            <a:r>
              <a:rPr lang="en-US" dirty="0" err="1"/>
              <a:t>ожидающий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в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готовности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возобновить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тонкость</a:t>
            </a:r>
            <a:r>
              <a:rPr lang="en-US" dirty="0"/>
              <a:t>.</a:t>
            </a:r>
          </a:p>
          <a:p>
            <a:r>
              <a:rPr lang="en-US" dirty="0" err="1"/>
              <a:t>Представьте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проверил</a:t>
            </a:r>
            <a:r>
              <a:rPr lang="en-US" dirty="0"/>
              <a:t> </a:t>
            </a:r>
            <a:r>
              <a:rPr lang="en-US" dirty="0" err="1"/>
              <a:t>условие</a:t>
            </a:r>
            <a:r>
              <a:rPr lang="en-US" dirty="0"/>
              <a:t> и </a:t>
            </a:r>
            <a:r>
              <a:rPr lang="en-US" dirty="0" err="1"/>
              <a:t>обнаружил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успел</a:t>
            </a:r>
            <a:r>
              <a:rPr lang="en-US" dirty="0"/>
              <a:t> </a:t>
            </a:r>
            <a:r>
              <a:rPr lang="en-US" dirty="0" err="1"/>
              <a:t>заблокироваться</a:t>
            </a:r>
            <a:r>
              <a:rPr lang="en-US" dirty="0"/>
              <a:t>, </a:t>
            </a:r>
            <a:r>
              <a:rPr lang="en-US" dirty="0" err="1"/>
              <a:t>производитель</a:t>
            </a:r>
            <a:r>
              <a:rPr lang="en-US" dirty="0"/>
              <a:t> </a:t>
            </a:r>
            <a:r>
              <a:rPr lang="en-US" dirty="0" err="1"/>
              <a:t>добавил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и </a:t>
            </a:r>
            <a:r>
              <a:rPr lang="en-US" dirty="0" err="1"/>
              <a:t>отправил</a:t>
            </a:r>
            <a:r>
              <a:rPr lang="en-US" dirty="0"/>
              <a:t> </a:t>
            </a:r>
            <a:r>
              <a:rPr lang="en-US" dirty="0" err="1"/>
              <a:t>уведомление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уведомление</a:t>
            </a:r>
            <a:r>
              <a:rPr lang="en-US" dirty="0"/>
              <a:t> </a:t>
            </a:r>
            <a:r>
              <a:rPr lang="en-US" dirty="0" err="1"/>
              <a:t>никуда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сохраняется</a:t>
            </a:r>
            <a:r>
              <a:rPr lang="en-US" dirty="0"/>
              <a:t>, а </a:t>
            </a:r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засыпает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пропустить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, </a:t>
            </a:r>
            <a:r>
              <a:rPr lang="en-US" dirty="0" err="1"/>
              <a:t>которого</a:t>
            </a:r>
            <a:r>
              <a:rPr lang="en-US" dirty="0"/>
              <a:t> </a:t>
            </a:r>
            <a:r>
              <a:rPr lang="en-US" dirty="0" err="1"/>
              <a:t>ожидал</a:t>
            </a:r>
            <a:r>
              <a:rPr lang="en-US" dirty="0"/>
              <a:t>.</a:t>
            </a:r>
          </a:p>
          <a:p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Lost Wakeup — </a:t>
            </a:r>
            <a:r>
              <a:rPr lang="en-US" dirty="0" err="1"/>
              <a:t>потерянное</a:t>
            </a:r>
            <a:r>
              <a:rPr lang="en-US" dirty="0"/>
              <a:t> </a:t>
            </a:r>
            <a:r>
              <a:rPr lang="en-US" dirty="0" err="1"/>
              <a:t>пробуждение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корректные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согласуют</a:t>
            </a:r>
            <a:r>
              <a:rPr lang="en-US" dirty="0"/>
              <a:t> </a:t>
            </a:r>
            <a:r>
              <a:rPr lang="en-US" dirty="0" err="1"/>
              <a:t>проверку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 с </a:t>
            </a:r>
            <a:r>
              <a:rPr lang="en-US" dirty="0" err="1"/>
              <a:t>регистрацией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и </a:t>
            </a:r>
            <a:r>
              <a:rPr lang="en-US" dirty="0" err="1"/>
              <a:t>блокировкой</a:t>
            </a:r>
            <a:r>
              <a:rPr lang="en-US" dirty="0"/>
              <a:t>. </a:t>
            </a:r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пробуждения</a:t>
            </a:r>
            <a:r>
              <a:rPr lang="en-US" dirty="0"/>
              <a:t> </a:t>
            </a:r>
            <a:r>
              <a:rPr lang="en-US" dirty="0" err="1"/>
              <a:t>условие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потребоваться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современных</a:t>
            </a:r>
            <a:r>
              <a:rPr lang="en-US" dirty="0"/>
              <a:t> </a:t>
            </a:r>
            <a:r>
              <a:rPr lang="en-US" dirty="0" err="1"/>
              <a:t>операционных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специальные</a:t>
            </a:r>
            <a:r>
              <a:rPr lang="en-US" dirty="0"/>
              <a:t> </a:t>
            </a:r>
            <a:r>
              <a:rPr lang="en-US" dirty="0" err="1"/>
              <a:t>средства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ядре</a:t>
            </a:r>
            <a:r>
              <a:rPr lang="en-US" dirty="0"/>
              <a:t> Linux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и </a:t>
            </a:r>
            <a:r>
              <a:rPr lang="en-US" dirty="0" err="1"/>
              <a:t>интерфейсы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wait_event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wake_up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, а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,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которого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условие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пользовательском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Linux </a:t>
            </a:r>
            <a:r>
              <a:rPr lang="en-US" dirty="0" err="1"/>
              <a:t>важнейшим</a:t>
            </a:r>
            <a:r>
              <a:rPr lang="en-US" dirty="0"/>
              <a:t> </a:t>
            </a:r>
            <a:r>
              <a:rPr lang="en-US" dirty="0" err="1"/>
              <a:t>низкоуровневым</a:t>
            </a:r>
            <a:r>
              <a:rPr lang="en-US" dirty="0"/>
              <a:t> </a:t>
            </a:r>
            <a:r>
              <a:rPr lang="en-US" dirty="0" err="1"/>
              <a:t>механизмом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futex</a:t>
            </a:r>
            <a:r>
              <a:rPr lang="en-US" dirty="0"/>
              <a:t>.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FUTEX_WAIT</a:t>
            </a:r>
            <a:r>
              <a:rPr lang="en-US" dirty="0"/>
              <a:t> </a:t>
            </a:r>
            <a:r>
              <a:rPr lang="en-US" dirty="0" err="1"/>
              <a:t>атомарно</a:t>
            </a:r>
            <a:r>
              <a:rPr lang="en-US" dirty="0"/>
              <a:t> </a:t>
            </a:r>
            <a:r>
              <a:rPr lang="en-US" dirty="0" err="1"/>
              <a:t>сравнивает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в </a:t>
            </a:r>
            <a:r>
              <a:rPr lang="en-US" dirty="0" err="1"/>
              <a:t>памяти</a:t>
            </a:r>
            <a:r>
              <a:rPr lang="en-US" dirty="0"/>
              <a:t> с </a:t>
            </a:r>
            <a:r>
              <a:rPr lang="en-US" dirty="0" err="1"/>
              <a:t>ожидаемым</a:t>
            </a:r>
            <a:r>
              <a:rPr lang="en-US" dirty="0"/>
              <a:t> и </a:t>
            </a:r>
            <a:r>
              <a:rPr lang="en-US" dirty="0" err="1"/>
              <a:t>блокирует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совпадении</a:t>
            </a:r>
            <a:r>
              <a:rPr lang="en-US" dirty="0"/>
              <a:t>. Это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предотвратить</a:t>
            </a:r>
            <a:r>
              <a:rPr lang="en-US" dirty="0"/>
              <a:t> </a:t>
            </a:r>
            <a:r>
              <a:rPr lang="en-US" dirty="0" err="1"/>
              <a:t>потерю</a:t>
            </a:r>
            <a:r>
              <a:rPr lang="en-US" dirty="0"/>
              <a:t> </a:t>
            </a:r>
            <a:r>
              <a:rPr lang="en-US" dirty="0" err="1"/>
              <a:t>пробуждения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проверкой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и </a:t>
            </a:r>
            <a:r>
              <a:rPr lang="en-US" dirty="0" err="1"/>
              <a:t>переходом</a:t>
            </a:r>
            <a:r>
              <a:rPr lang="en-US" dirty="0"/>
              <a:t> в </a:t>
            </a:r>
            <a:r>
              <a:rPr lang="en-US" dirty="0" err="1"/>
              <a:t>сон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В Windows </a:t>
            </a:r>
            <a:r>
              <a:rPr lang="en-US" dirty="0" err="1"/>
              <a:t>аналогичную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решать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WaitForSingleObject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а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сигнализирует</a:t>
            </a:r>
            <a:r>
              <a:rPr lang="en-US" dirty="0"/>
              <a:t> о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наступлении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SetEvent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путать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слова</a:t>
            </a:r>
            <a:r>
              <a:rPr lang="en-US" dirty="0"/>
              <a:t> Sleep. </a:t>
            </a:r>
            <a:r>
              <a:rPr lang="en-US" dirty="0" err="1"/>
              <a:t>Пользовательские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sleep()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nanosleep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в Linux, </a:t>
            </a:r>
            <a:r>
              <a:rPr lang="en-US" dirty="0" err="1"/>
              <a:t>как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Sleep()</a:t>
            </a:r>
            <a:r>
              <a:rPr lang="en-US" dirty="0"/>
              <a:t> в Windows, </a:t>
            </a:r>
            <a:r>
              <a:rPr lang="en-US" dirty="0" err="1"/>
              <a:t>предназначены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задержки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заданный</a:t>
            </a:r>
            <a:r>
              <a:rPr lang="en-US" dirty="0"/>
              <a:t> </a:t>
            </a:r>
            <a:r>
              <a:rPr lang="en-US" dirty="0" err="1"/>
              <a:t>интервал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эквивалентны</a:t>
            </a:r>
            <a:r>
              <a:rPr lang="en-US" dirty="0"/>
              <a:t> </a:t>
            </a:r>
            <a:r>
              <a:rPr lang="en-US" dirty="0" err="1"/>
              <a:t>ожиданию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Sleep/Wakeup </a:t>
            </a:r>
            <a:r>
              <a:rPr lang="en-US" dirty="0" err="1"/>
              <a:t>универсальна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 и </a:t>
            </a:r>
            <a:r>
              <a:rPr lang="en-US" dirty="0" err="1"/>
              <a:t>внутренние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зависят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следующем</a:t>
            </a:r>
            <a:r>
              <a:rPr lang="en-US" dirty="0"/>
              <a:t> </a:t>
            </a:r>
            <a:r>
              <a:rPr lang="en-US" dirty="0" err="1"/>
              <a:t>разделе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подробно</a:t>
            </a:r>
            <a:r>
              <a:rPr lang="en-US" dirty="0"/>
              <a:t> </a:t>
            </a:r>
            <a:r>
              <a:rPr lang="en-US" dirty="0" err="1"/>
              <a:t>разберём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потерянного</a:t>
            </a:r>
            <a:r>
              <a:rPr lang="en-US" dirty="0"/>
              <a:t> </a:t>
            </a:r>
            <a:r>
              <a:rPr lang="en-US" dirty="0" err="1"/>
              <a:t>пробуждения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классическом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производителя</a:t>
            </a:r>
            <a:r>
              <a:rPr lang="en-US" dirty="0"/>
              <a:t> и </a:t>
            </a:r>
            <a:r>
              <a:rPr lang="en-US" dirty="0" err="1"/>
              <a:t>потребителя</a:t>
            </a:r>
            <a:r>
              <a:rPr lang="en-US" dirty="0"/>
              <a:t> и </a:t>
            </a:r>
            <a:r>
              <a:rPr lang="en-US" dirty="0" err="1"/>
              <a:t>увидим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решают</a:t>
            </a:r>
            <a:r>
              <a:rPr lang="en-US" dirty="0"/>
              <a:t> </a:t>
            </a:r>
            <a:r>
              <a:rPr lang="en-US" dirty="0" err="1"/>
              <a:t>семафоры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643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7260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предыдущем</a:t>
            </a:r>
            <a:r>
              <a:rPr lang="en-US" dirty="0"/>
              <a:t> </a:t>
            </a:r>
            <a:r>
              <a:rPr lang="en-US" dirty="0" err="1"/>
              <a:t>разделе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узнали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блокировать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наступления</a:t>
            </a:r>
            <a:r>
              <a:rPr lang="en-US" dirty="0"/>
              <a:t> </a:t>
            </a:r>
            <a:r>
              <a:rPr lang="en-US" dirty="0" err="1"/>
              <a:t>определённого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.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классическую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, в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необходим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«</a:t>
            </a:r>
            <a:r>
              <a:rPr lang="en-US" dirty="0" err="1"/>
              <a:t>Производитель</a:t>
            </a:r>
            <a:r>
              <a:rPr lang="en-US" dirty="0"/>
              <a:t>–</a:t>
            </a:r>
            <a:r>
              <a:rPr lang="en-US" dirty="0" err="1"/>
              <a:t>потребитель</a:t>
            </a:r>
            <a:r>
              <a:rPr lang="en-US" dirty="0"/>
              <a:t>», </a:t>
            </a:r>
            <a:r>
              <a:rPr lang="en-US" dirty="0" err="1"/>
              <a:t>или</a:t>
            </a:r>
            <a:r>
              <a:rPr lang="en-US" dirty="0"/>
              <a:t> Producer–Consumer.</a:t>
            </a:r>
          </a:p>
          <a:p>
            <a:r>
              <a:rPr lang="en-US" dirty="0" err="1"/>
              <a:t>Представьте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, в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одни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принимают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сети</a:t>
            </a:r>
            <a:r>
              <a:rPr lang="en-US" dirty="0"/>
              <a:t>, а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обрабатывают</a:t>
            </a:r>
            <a:r>
              <a:rPr lang="en-US" dirty="0"/>
              <a:t>.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общая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заданий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Потоки-производители</a:t>
            </a:r>
            <a:r>
              <a:rPr lang="en-US" dirty="0"/>
              <a:t> </a:t>
            </a:r>
            <a:r>
              <a:rPr lang="en-US" dirty="0" err="1"/>
              <a:t>добавляют</a:t>
            </a:r>
            <a:r>
              <a:rPr lang="en-US" dirty="0"/>
              <a:t> в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задания</a:t>
            </a:r>
            <a:r>
              <a:rPr lang="en-US" dirty="0"/>
              <a:t>. </a:t>
            </a:r>
            <a:r>
              <a:rPr lang="en-US" dirty="0" err="1"/>
              <a:t>Потоки-потребители</a:t>
            </a:r>
            <a:r>
              <a:rPr lang="en-US" dirty="0"/>
              <a:t> </a:t>
            </a:r>
            <a:r>
              <a:rPr lang="en-US" dirty="0" err="1"/>
              <a:t>извлекают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и </a:t>
            </a:r>
            <a:r>
              <a:rPr lang="en-US" dirty="0" err="1"/>
              <a:t>выполняют</a:t>
            </a:r>
            <a:r>
              <a:rPr lang="en-US" dirty="0"/>
              <a:t> </a:t>
            </a:r>
            <a:r>
              <a:rPr lang="en-US" dirty="0" err="1"/>
              <a:t>необходимую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ограничен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содержать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восьми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Возникают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.</a:t>
            </a:r>
          </a:p>
          <a:p>
            <a:r>
              <a:rPr lang="en-US" dirty="0" err="1"/>
              <a:t>Первая</a:t>
            </a:r>
            <a:r>
              <a:rPr lang="en-US" dirty="0"/>
              <a:t> — </a:t>
            </a:r>
            <a:r>
              <a:rPr lang="en-US" dirty="0" err="1"/>
              <a:t>защита</a:t>
            </a:r>
            <a:r>
              <a:rPr lang="en-US" dirty="0"/>
              <a:t> </a:t>
            </a:r>
            <a:r>
              <a:rPr lang="en-US" dirty="0" err="1"/>
              <a:t>общих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изменяют</a:t>
            </a:r>
            <a:r>
              <a:rPr lang="en-US" dirty="0"/>
              <a:t> </a:t>
            </a:r>
            <a:r>
              <a:rPr lang="en-US" dirty="0" err="1"/>
              <a:t>внутреннее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, </a:t>
            </a:r>
            <a:r>
              <a:rPr lang="en-US" dirty="0" err="1"/>
              <a:t>возможны</a:t>
            </a:r>
            <a:r>
              <a:rPr lang="en-US" dirty="0"/>
              <a:t> </a:t>
            </a:r>
            <a:r>
              <a:rPr lang="en-US" dirty="0" err="1"/>
              <a:t>гонки</a:t>
            </a:r>
            <a:r>
              <a:rPr lang="en-US" dirty="0"/>
              <a:t> и </a:t>
            </a:r>
            <a:r>
              <a:rPr lang="en-US" dirty="0" err="1"/>
              <a:t>повреждение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r>
              <a:rPr lang="en-US" dirty="0" err="1"/>
              <a:t>Вторая</a:t>
            </a:r>
            <a:r>
              <a:rPr lang="en-US" dirty="0"/>
              <a:t> — </a:t>
            </a:r>
            <a:r>
              <a:rPr lang="en-US" dirty="0" err="1"/>
              <a:t>координация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пустая</a:t>
            </a:r>
            <a:r>
              <a:rPr lang="en-US" dirty="0"/>
              <a:t>, </a:t>
            </a:r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извлечь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.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дождаться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 </a:t>
            </a:r>
            <a:r>
              <a:rPr lang="en-US" dirty="0" err="1"/>
              <a:t>Аналогично</a:t>
            </a:r>
            <a:r>
              <a:rPr lang="en-US" dirty="0"/>
              <a:t> </a:t>
            </a:r>
            <a:r>
              <a:rPr lang="en-US" dirty="0" err="1"/>
              <a:t>производитель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 </a:t>
            </a:r>
            <a:r>
              <a:rPr lang="en-US" dirty="0" err="1"/>
              <a:t>свободного</a:t>
            </a:r>
            <a:r>
              <a:rPr lang="en-US" dirty="0"/>
              <a:t> </a:t>
            </a:r>
            <a:r>
              <a:rPr lang="en-US" dirty="0" err="1"/>
              <a:t>места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заполнена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взаимного</a:t>
            </a:r>
            <a:r>
              <a:rPr lang="en-US" dirty="0"/>
              <a:t> </a:t>
            </a:r>
            <a:r>
              <a:rPr lang="en-US" dirty="0" err="1"/>
              <a:t>исключения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. </a:t>
            </a:r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защитить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в </a:t>
            </a:r>
            <a:r>
              <a:rPr lang="en-US" dirty="0" err="1"/>
              <a:t>ней</a:t>
            </a:r>
            <a:r>
              <a:rPr lang="en-US" dirty="0"/>
              <a:t>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предстоит</a:t>
            </a:r>
            <a:r>
              <a:rPr lang="en-US" dirty="0"/>
              <a:t> </a:t>
            </a:r>
            <a:r>
              <a:rPr lang="en-US" dirty="0" err="1"/>
              <a:t>объединить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: </a:t>
            </a:r>
            <a:r>
              <a:rPr lang="en-US" dirty="0" err="1"/>
              <a:t>защиту</a:t>
            </a:r>
            <a:r>
              <a:rPr lang="en-US" dirty="0"/>
              <a:t> </a:t>
            </a:r>
            <a:r>
              <a:rPr lang="en-US" dirty="0" err="1"/>
              <a:t>общих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и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попытаться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наивным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747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простых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Sleep и Wakeup, с </a:t>
            </a:r>
            <a:r>
              <a:rPr lang="en-US" dirty="0" err="1"/>
              <a:t>которыми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познакомились</a:t>
            </a:r>
            <a:r>
              <a:rPr lang="en-US" dirty="0"/>
              <a:t> </a:t>
            </a:r>
            <a:r>
              <a:rPr lang="en-US" dirty="0" err="1"/>
              <a:t>ранее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проверяет</a:t>
            </a:r>
            <a:r>
              <a:rPr lang="en-US" dirty="0"/>
              <a:t>,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 в </a:t>
            </a:r>
            <a:r>
              <a:rPr lang="en-US" dirty="0" err="1"/>
              <a:t>буфере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буфер</a:t>
            </a:r>
            <a:r>
              <a:rPr lang="en-US" dirty="0"/>
              <a:t> </a:t>
            </a:r>
            <a:r>
              <a:rPr lang="en-US" dirty="0" err="1"/>
              <a:t>пустой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Sleep и </a:t>
            </a:r>
            <a:r>
              <a:rPr lang="en-US" dirty="0" err="1"/>
              <a:t>блокируется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Производитель</a:t>
            </a:r>
            <a:r>
              <a:rPr lang="en-US" dirty="0"/>
              <a:t>, </a:t>
            </a:r>
            <a:r>
              <a:rPr lang="en-US" dirty="0" err="1"/>
              <a:t>добавив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, </a:t>
            </a:r>
            <a:r>
              <a:rPr lang="en-US" dirty="0" err="1"/>
              <a:t>вызывает</a:t>
            </a:r>
            <a:r>
              <a:rPr lang="en-US" dirty="0"/>
              <a:t> Wakeup,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разбудить</a:t>
            </a:r>
            <a:r>
              <a:rPr lang="en-US" dirty="0"/>
              <a:t> </a:t>
            </a:r>
            <a:r>
              <a:rPr lang="en-US" dirty="0" err="1"/>
              <a:t>ожидающего</a:t>
            </a:r>
            <a:r>
              <a:rPr lang="en-US" dirty="0"/>
              <a:t> </a:t>
            </a:r>
            <a:r>
              <a:rPr lang="en-US" dirty="0" err="1"/>
              <a:t>потребителя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правильно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следующую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проверил</a:t>
            </a:r>
            <a:r>
              <a:rPr lang="en-US" dirty="0"/>
              <a:t> </a:t>
            </a:r>
            <a:r>
              <a:rPr lang="en-US" dirty="0" err="1"/>
              <a:t>буфер</a:t>
            </a:r>
            <a:r>
              <a:rPr lang="en-US" dirty="0"/>
              <a:t> и </a:t>
            </a:r>
            <a:r>
              <a:rPr lang="en-US" dirty="0" err="1"/>
              <a:t>обнаружил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пуст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r>
              <a:rPr lang="en-US" dirty="0"/>
              <a:t> Sleep,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передал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производителю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Производитель</a:t>
            </a:r>
            <a:r>
              <a:rPr lang="en-US" dirty="0"/>
              <a:t> </a:t>
            </a:r>
            <a:r>
              <a:rPr lang="en-US" dirty="0" err="1"/>
              <a:t>добавил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и </a:t>
            </a:r>
            <a:r>
              <a:rPr lang="en-US" dirty="0" err="1"/>
              <a:t>вызвал</a:t>
            </a:r>
            <a:r>
              <a:rPr lang="en-US" dirty="0"/>
              <a:t> Wakeup.</a:t>
            </a:r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находился</a:t>
            </a:r>
            <a:r>
              <a:rPr lang="en-US" dirty="0"/>
              <a:t> в </a:t>
            </a:r>
            <a:r>
              <a:rPr lang="en-US" dirty="0" err="1"/>
              <a:t>состоянии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пробуждения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сохраняет</a:t>
            </a:r>
            <a:r>
              <a:rPr lang="en-US" dirty="0"/>
              <a:t> </a:t>
            </a:r>
            <a:r>
              <a:rPr lang="en-US" dirty="0" err="1"/>
              <a:t>уведомления</a:t>
            </a:r>
            <a:r>
              <a:rPr lang="en-US" dirty="0"/>
              <a:t>,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потеряно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и </a:t>
            </a:r>
            <a:r>
              <a:rPr lang="en-US" dirty="0" err="1"/>
              <a:t>вызывает</a:t>
            </a:r>
            <a:r>
              <a:rPr lang="en-US" dirty="0"/>
              <a:t> Sleep.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в </a:t>
            </a:r>
            <a:r>
              <a:rPr lang="en-US" dirty="0" err="1"/>
              <a:t>буфере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лежит</a:t>
            </a:r>
            <a:r>
              <a:rPr lang="en-US" dirty="0"/>
              <a:t> </a:t>
            </a:r>
            <a:r>
              <a:rPr lang="en-US" dirty="0" err="1"/>
              <a:t>готовый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спит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собирается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обрабатывать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определённом</a:t>
            </a:r>
            <a:r>
              <a:rPr lang="en-US" dirty="0"/>
              <a:t> </a:t>
            </a:r>
            <a:r>
              <a:rPr lang="en-US" dirty="0" err="1"/>
              <a:t>дальнейшем</a:t>
            </a:r>
            <a:r>
              <a:rPr lang="en-US" dirty="0"/>
              <a:t> </a:t>
            </a:r>
            <a:r>
              <a:rPr lang="en-US" dirty="0" err="1"/>
              <a:t>развитии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перестать</a:t>
            </a:r>
            <a:r>
              <a:rPr lang="en-US" dirty="0"/>
              <a:t> </a:t>
            </a:r>
            <a:r>
              <a:rPr lang="en-US" dirty="0" err="1"/>
              <a:t>продвигаться</a:t>
            </a:r>
            <a:r>
              <a:rPr lang="en-US" dirty="0"/>
              <a:t>: </a:t>
            </a:r>
            <a:r>
              <a:rPr lang="en-US" dirty="0" err="1"/>
              <a:t>производитель</a:t>
            </a:r>
            <a:r>
              <a:rPr lang="en-US" dirty="0"/>
              <a:t> </a:t>
            </a:r>
            <a:r>
              <a:rPr lang="en-US" dirty="0" err="1"/>
              <a:t>заполнит</a:t>
            </a:r>
            <a:r>
              <a:rPr lang="en-US" dirty="0"/>
              <a:t> </a:t>
            </a:r>
            <a:r>
              <a:rPr lang="en-US" dirty="0" err="1"/>
              <a:t>буфер</a:t>
            </a:r>
            <a:r>
              <a:rPr lang="en-US" dirty="0"/>
              <a:t> и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перейдёт</a:t>
            </a:r>
            <a:r>
              <a:rPr lang="en-US" dirty="0"/>
              <a:t> в </a:t>
            </a:r>
            <a:r>
              <a:rPr lang="en-US" dirty="0" err="1"/>
              <a:t>ожидание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ошибка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Lost Wakeup — </a:t>
            </a:r>
            <a:r>
              <a:rPr lang="en-US" dirty="0" err="1"/>
              <a:t>потерянное</a:t>
            </a:r>
            <a:r>
              <a:rPr lang="en-US" dirty="0"/>
              <a:t> </a:t>
            </a:r>
            <a:r>
              <a:rPr lang="en-US" dirty="0" err="1"/>
              <a:t>пробуждение</a:t>
            </a:r>
            <a:r>
              <a:rPr lang="en-US" dirty="0"/>
              <a:t>.</a:t>
            </a:r>
          </a:p>
          <a:p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причина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проверкой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 и </a:t>
            </a:r>
            <a:r>
              <a:rPr lang="en-US" dirty="0" err="1"/>
              <a:t>блокировкой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окно</a:t>
            </a:r>
            <a:r>
              <a:rPr lang="en-US" dirty="0"/>
              <a:t>, в </a:t>
            </a:r>
            <a:r>
              <a:rPr lang="en-US" dirty="0" err="1"/>
              <a:t>котором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согласует</a:t>
            </a:r>
            <a:r>
              <a:rPr lang="en-US" dirty="0"/>
              <a:t> </a:t>
            </a:r>
            <a:r>
              <a:rPr lang="en-US" dirty="0" err="1"/>
              <a:t>проверку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 и </a:t>
            </a:r>
            <a:r>
              <a:rPr lang="en-US" dirty="0" err="1"/>
              <a:t>переход</a:t>
            </a:r>
            <a:r>
              <a:rPr lang="en-US" dirty="0"/>
              <a:t> в </a:t>
            </a:r>
            <a:r>
              <a:rPr lang="en-US" dirty="0" err="1"/>
              <a:t>ожидание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позволяя</a:t>
            </a:r>
            <a:r>
              <a:rPr lang="en-US" dirty="0"/>
              <a:t> </a:t>
            </a:r>
            <a:r>
              <a:rPr lang="en-US" dirty="0" err="1"/>
              <a:t>пропустить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произошедшее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</a:t>
            </a:r>
          </a:p>
          <a:p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решений</a:t>
            </a:r>
            <a:r>
              <a:rPr lang="en-US" dirty="0"/>
              <a:t> — </a:t>
            </a:r>
            <a:r>
              <a:rPr lang="en-US" dirty="0" err="1"/>
              <a:t>сочетание</a:t>
            </a:r>
            <a:r>
              <a:rPr lang="en-US" dirty="0"/>
              <a:t> </a:t>
            </a:r>
            <a:r>
              <a:rPr lang="en-US" dirty="0" err="1"/>
              <a:t>мьютекса</a:t>
            </a:r>
            <a:r>
              <a:rPr lang="en-US" dirty="0"/>
              <a:t> и </a:t>
            </a:r>
            <a:r>
              <a:rPr lang="en-US" dirty="0" err="1"/>
              <a:t>условной</a:t>
            </a:r>
            <a:r>
              <a:rPr lang="en-US" dirty="0"/>
              <a:t> </a:t>
            </a:r>
            <a:r>
              <a:rPr lang="en-US" dirty="0" err="1"/>
              <a:t>переменной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898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защиты</a:t>
            </a:r>
            <a:r>
              <a:rPr lang="en-US" dirty="0"/>
              <a:t> </a:t>
            </a:r>
            <a:r>
              <a:rPr lang="en-US" dirty="0" err="1"/>
              <a:t>общих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Ранее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реализовали</a:t>
            </a:r>
            <a:r>
              <a:rPr lang="en-US" dirty="0"/>
              <a:t> </a:t>
            </a:r>
            <a:r>
              <a:rPr lang="en-US" dirty="0" err="1"/>
              <a:t>SpinLock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атомарных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познакомимся</a:t>
            </a:r>
            <a:r>
              <a:rPr lang="en-US" dirty="0"/>
              <a:t> с </a:t>
            </a:r>
            <a:r>
              <a:rPr lang="en-US" dirty="0" err="1"/>
              <a:t>основным</a:t>
            </a:r>
            <a:r>
              <a:rPr lang="en-US" dirty="0"/>
              <a:t> </a:t>
            </a:r>
            <a:r>
              <a:rPr lang="en-US" dirty="0" err="1"/>
              <a:t>высокоуровневым</a:t>
            </a:r>
            <a:r>
              <a:rPr lang="en-US" dirty="0"/>
              <a:t> </a:t>
            </a:r>
            <a:r>
              <a:rPr lang="en-US" dirty="0" err="1"/>
              <a:t>механизмом</a:t>
            </a:r>
            <a:r>
              <a:rPr lang="en-US" dirty="0"/>
              <a:t> </a:t>
            </a:r>
            <a:r>
              <a:rPr lang="en-US" dirty="0" err="1"/>
              <a:t>взаимного</a:t>
            </a:r>
            <a:r>
              <a:rPr lang="en-US" dirty="0"/>
              <a:t> </a:t>
            </a:r>
            <a:r>
              <a:rPr lang="en-US" dirty="0" err="1"/>
              <a:t>исключения</a:t>
            </a:r>
            <a:r>
              <a:rPr lang="en-US" dirty="0"/>
              <a:t>, </a:t>
            </a:r>
            <a:r>
              <a:rPr lang="en-US" dirty="0" err="1"/>
              <a:t>используемым</a:t>
            </a:r>
            <a:r>
              <a:rPr lang="en-US" dirty="0"/>
              <a:t> в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dirty="0" err="1"/>
              <a:t>многопоточных</a:t>
            </a:r>
            <a:r>
              <a:rPr lang="en-US" dirty="0"/>
              <a:t> </a:t>
            </a:r>
            <a:r>
              <a:rPr lang="en-US" dirty="0" err="1"/>
              <a:t>программах</a:t>
            </a:r>
            <a:r>
              <a:rPr lang="en-US" dirty="0"/>
              <a:t>, — </a:t>
            </a:r>
            <a:r>
              <a:rPr lang="en-US" dirty="0" err="1"/>
              <a:t>мьютексом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исключительное</a:t>
            </a:r>
            <a:r>
              <a:rPr lang="en-US" dirty="0"/>
              <a:t> </a:t>
            </a:r>
            <a:r>
              <a:rPr lang="en-US" dirty="0" err="1"/>
              <a:t>владение</a:t>
            </a:r>
            <a:r>
              <a:rPr lang="en-US" dirty="0"/>
              <a:t> </a:t>
            </a:r>
            <a:r>
              <a:rPr lang="en-US" dirty="0" err="1"/>
              <a:t>блокировкой</a:t>
            </a:r>
            <a:r>
              <a:rPr lang="en-US" dirty="0"/>
              <a:t>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удерживает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успешно</a:t>
            </a:r>
            <a:r>
              <a:rPr lang="en-US" dirty="0"/>
              <a:t> </a:t>
            </a:r>
            <a:r>
              <a:rPr lang="en-US" dirty="0" err="1"/>
              <a:t>захватить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Главное</a:t>
            </a:r>
            <a:r>
              <a:rPr lang="en-US" dirty="0"/>
              <a:t>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простого</a:t>
            </a:r>
            <a:r>
              <a:rPr lang="en-US" dirty="0"/>
              <a:t> </a:t>
            </a:r>
            <a:r>
              <a:rPr lang="en-US" dirty="0" err="1"/>
              <a:t>SpinLock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политике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.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занят</a:t>
            </a:r>
            <a:r>
              <a:rPr lang="en-US" dirty="0"/>
              <a:t>,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блокировать</a:t>
            </a:r>
            <a:r>
              <a:rPr lang="en-US" dirty="0"/>
              <a:t> </a:t>
            </a:r>
            <a:r>
              <a:rPr lang="en-US" dirty="0" err="1"/>
              <a:t>ожидающий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заставляя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расходовать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C++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std::mutex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обычной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редко</a:t>
            </a:r>
            <a:r>
              <a:rPr lang="en-US" dirty="0"/>
              <a:t> </a:t>
            </a:r>
            <a:r>
              <a:rPr lang="en-US" dirty="0" err="1"/>
              <a:t>вызываем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методы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lock()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unlock()</a:t>
            </a:r>
            <a:r>
              <a:rPr lang="en-US" dirty="0"/>
              <a:t> </a:t>
            </a:r>
            <a:r>
              <a:rPr lang="en-US" dirty="0" err="1"/>
              <a:t>вручную</a:t>
            </a:r>
            <a:r>
              <a:rPr lang="en-US" dirty="0"/>
              <a:t>.</a:t>
            </a:r>
          </a:p>
          <a:p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применяются</a:t>
            </a:r>
            <a:r>
              <a:rPr lang="en-US" dirty="0"/>
              <a:t> RAII-</a:t>
            </a:r>
            <a:r>
              <a:rPr lang="en-US" dirty="0" err="1"/>
              <a:t>обёртки</a:t>
            </a:r>
            <a:r>
              <a:rPr lang="en-US" dirty="0"/>
              <a:t>,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lock_guard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создании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lock_guard</a:t>
            </a:r>
            <a:r>
              <a:rPr lang="en-US" dirty="0"/>
              <a:t>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а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выходе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видимости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освобождает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существенно</a:t>
            </a:r>
            <a:r>
              <a:rPr lang="en-US" dirty="0"/>
              <a:t> </a:t>
            </a:r>
            <a:r>
              <a:rPr lang="en-US" dirty="0" err="1"/>
              <a:t>снижает</a:t>
            </a:r>
            <a:r>
              <a:rPr lang="en-US" dirty="0"/>
              <a:t> </a:t>
            </a:r>
            <a:r>
              <a:rPr lang="en-US" dirty="0" err="1"/>
              <a:t>вероятность</a:t>
            </a:r>
            <a:r>
              <a:rPr lang="en-US" dirty="0"/>
              <a:t> </a:t>
            </a:r>
            <a:r>
              <a:rPr lang="en-US" dirty="0" err="1"/>
              <a:t>ошибки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программист</a:t>
            </a:r>
            <a:r>
              <a:rPr lang="en-US" dirty="0"/>
              <a:t> </a:t>
            </a:r>
            <a:r>
              <a:rPr lang="en-US" dirty="0" err="1"/>
              <a:t>забывает</a:t>
            </a:r>
            <a:r>
              <a:rPr lang="en-US" dirty="0"/>
              <a:t> </a:t>
            </a:r>
            <a:r>
              <a:rPr lang="en-US" dirty="0" err="1"/>
              <a:t>вызвать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unlock()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раннем</a:t>
            </a:r>
            <a:r>
              <a:rPr lang="en-US" dirty="0"/>
              <a:t> </a:t>
            </a:r>
            <a:r>
              <a:rPr lang="en-US" dirty="0" err="1"/>
              <a:t>выходе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возникновении</a:t>
            </a:r>
            <a:r>
              <a:rPr lang="en-US" dirty="0"/>
              <a:t> </a:t>
            </a:r>
            <a:r>
              <a:rPr lang="en-US" dirty="0" err="1"/>
              <a:t>исключения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Есть</a:t>
            </a:r>
            <a:r>
              <a:rPr lang="en-US" dirty="0"/>
              <a:t> и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гибкий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unique_lock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временно</a:t>
            </a:r>
            <a:r>
              <a:rPr lang="en-US" dirty="0"/>
              <a:t> </a:t>
            </a:r>
            <a:r>
              <a:rPr lang="en-US" dirty="0" err="1"/>
              <a:t>освободить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и </a:t>
            </a:r>
            <a:r>
              <a:rPr lang="en-US" dirty="0" err="1"/>
              <a:t>впоследствии</a:t>
            </a:r>
            <a:r>
              <a:rPr lang="en-US" dirty="0"/>
              <a:t> </a:t>
            </a:r>
            <a:r>
              <a:rPr lang="en-US" dirty="0" err="1"/>
              <a:t>захватить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Скоро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увидим</a:t>
            </a:r>
            <a:r>
              <a:rPr lang="en-US" dirty="0"/>
              <a:t>, </a:t>
            </a:r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.</a:t>
            </a:r>
          </a:p>
          <a:p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ограниченной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защитить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внутренние</a:t>
            </a:r>
            <a:r>
              <a:rPr lang="en-US" dirty="0"/>
              <a:t> </a:t>
            </a:r>
            <a:r>
              <a:rPr lang="en-US" dirty="0" err="1"/>
              <a:t>поля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мьютекса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пуста</a:t>
            </a:r>
            <a:r>
              <a:rPr lang="en-US" dirty="0"/>
              <a:t>?</a:t>
            </a:r>
          </a:p>
          <a:p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удерживать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и </a:t>
            </a:r>
            <a:r>
              <a:rPr lang="en-US" dirty="0" err="1"/>
              <a:t>ждать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dirty="0" err="1"/>
              <a:t>элемента</a:t>
            </a:r>
            <a:r>
              <a:rPr lang="en-US" dirty="0"/>
              <a:t>: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производитель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захватить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и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освободить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и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повторять</a:t>
            </a:r>
            <a:r>
              <a:rPr lang="en-US" dirty="0"/>
              <a:t> </a:t>
            </a:r>
            <a:r>
              <a:rPr lang="en-US" dirty="0" err="1"/>
              <a:t>проверку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возвращаемся</a:t>
            </a:r>
            <a:r>
              <a:rPr lang="en-US" dirty="0"/>
              <a:t> к </a:t>
            </a:r>
            <a:r>
              <a:rPr lang="en-US" dirty="0" err="1"/>
              <a:t>активному</a:t>
            </a:r>
            <a:r>
              <a:rPr lang="en-US" dirty="0"/>
              <a:t> </a:t>
            </a:r>
            <a:r>
              <a:rPr lang="en-US" dirty="0" err="1"/>
              <a:t>ожиданию</a:t>
            </a:r>
            <a:r>
              <a:rPr lang="en-US" dirty="0"/>
              <a:t>.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наивной</a:t>
            </a:r>
            <a:r>
              <a:rPr lang="en-US" dirty="0"/>
              <a:t> </a:t>
            </a:r>
            <a:r>
              <a:rPr lang="en-US" dirty="0" err="1"/>
              <a:t>попытке</a:t>
            </a:r>
            <a:r>
              <a:rPr lang="en-US" dirty="0"/>
              <a:t> </a:t>
            </a:r>
            <a:r>
              <a:rPr lang="en-US" dirty="0" err="1"/>
              <a:t>заснуть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проверки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возникнуть</a:t>
            </a:r>
            <a:r>
              <a:rPr lang="en-US" dirty="0"/>
              <a:t> Lost Wakeup.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правильного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примитив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97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Условные</a:t>
            </a:r>
            <a:r>
              <a:rPr lang="en-US" dirty="0"/>
              <a:t> </a:t>
            </a:r>
            <a:r>
              <a:rPr lang="en-US" dirty="0" err="1"/>
              <a:t>переменные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активной</a:t>
            </a:r>
            <a:r>
              <a:rPr lang="en-US" dirty="0"/>
              <a:t> </a:t>
            </a:r>
            <a:r>
              <a:rPr lang="en-US" dirty="0" err="1"/>
              <a:t>проверки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.</a:t>
            </a:r>
          </a:p>
          <a:p>
            <a:r>
              <a:rPr lang="en-US" dirty="0"/>
              <a:t>В C++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предусмотрен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condition_variable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и </a:t>
            </a:r>
            <a:r>
              <a:rPr lang="en-US" dirty="0" err="1"/>
              <a:t>мьютекс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защищает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 </a:t>
            </a:r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дождаться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станет</a:t>
            </a:r>
            <a:r>
              <a:rPr lang="en-US" dirty="0"/>
              <a:t> </a:t>
            </a:r>
            <a:r>
              <a:rPr lang="en-US" dirty="0" err="1"/>
              <a:t>непустой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unique_lock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cv.wait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dirty="0" err="1"/>
              <a:t>передавая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 и </a:t>
            </a:r>
            <a:r>
              <a:rPr lang="en-US" dirty="0" err="1"/>
              <a:t>предикат</a:t>
            </a:r>
            <a:r>
              <a:rPr lang="en-US" dirty="0"/>
              <a:t> — </a:t>
            </a:r>
            <a:r>
              <a:rPr lang="en-US" dirty="0" err="1"/>
              <a:t>функцию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проверяет</a:t>
            </a:r>
            <a:r>
              <a:rPr lang="en-US" dirty="0"/>
              <a:t> </a:t>
            </a:r>
            <a:r>
              <a:rPr lang="en-US" dirty="0" err="1"/>
              <a:t>нужное</a:t>
            </a:r>
            <a:r>
              <a:rPr lang="en-US" dirty="0"/>
              <a:t> </a:t>
            </a:r>
            <a:r>
              <a:rPr lang="en-US" dirty="0" err="1"/>
              <a:t>условие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, </a:t>
            </a:r>
            <a:r>
              <a:rPr lang="en-US" dirty="0" err="1"/>
              <a:t>ждать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.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пуста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wait()</a:t>
            </a:r>
            <a:r>
              <a:rPr lang="en-US" dirty="0"/>
              <a:t> </a:t>
            </a:r>
            <a:r>
              <a:rPr lang="en-US" dirty="0" err="1"/>
              <a:t>освобождает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и </a:t>
            </a:r>
            <a:r>
              <a:rPr lang="en-US" dirty="0" err="1"/>
              <a:t>блокирует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ключевой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: </a:t>
            </a:r>
            <a:r>
              <a:rPr lang="en-US" dirty="0" err="1"/>
              <a:t>освобождение</a:t>
            </a:r>
            <a:r>
              <a:rPr lang="en-US" dirty="0"/>
              <a:t> </a:t>
            </a:r>
            <a:r>
              <a:rPr lang="en-US" dirty="0" err="1"/>
              <a:t>мьютекса</a:t>
            </a:r>
            <a:r>
              <a:rPr lang="en-US" dirty="0"/>
              <a:t> и </a:t>
            </a:r>
            <a:r>
              <a:rPr lang="en-US" dirty="0" err="1"/>
              <a:t>регистрация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согласованы</a:t>
            </a:r>
            <a:r>
              <a:rPr lang="en-US" dirty="0"/>
              <a:t> в </a:t>
            </a:r>
            <a:r>
              <a:rPr lang="en-US" dirty="0" err="1"/>
              <a:t>рамках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 </a:t>
            </a:r>
            <a:r>
              <a:rPr lang="en-US" dirty="0" err="1"/>
              <a:t>условной</a:t>
            </a:r>
            <a:r>
              <a:rPr lang="en-US" dirty="0"/>
              <a:t> </a:t>
            </a:r>
            <a:r>
              <a:rPr lang="en-US" dirty="0" err="1"/>
              <a:t>переменной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получаем</a:t>
            </a:r>
            <a:r>
              <a:rPr lang="en-US" dirty="0"/>
              <a:t> </a:t>
            </a:r>
            <a:r>
              <a:rPr lang="en-US" dirty="0" err="1"/>
              <a:t>опасного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ручным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unlock()</a:t>
            </a:r>
            <a:r>
              <a:rPr lang="en-US" dirty="0"/>
              <a:t> и </a:t>
            </a:r>
            <a:r>
              <a:rPr lang="en-US" dirty="0" err="1"/>
              <a:t>переходом</a:t>
            </a:r>
            <a:r>
              <a:rPr lang="en-US" dirty="0"/>
              <a:t> в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производитель</a:t>
            </a:r>
            <a:r>
              <a:rPr lang="en-US" dirty="0"/>
              <a:t> </a:t>
            </a:r>
            <a:r>
              <a:rPr lang="en-US" dirty="0" err="1"/>
              <a:t>добавит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вызвать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notify_one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и </a:t>
            </a:r>
            <a:r>
              <a:rPr lang="en-US" dirty="0" err="1"/>
              <a:t>сообщить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изменении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Ожидающий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проснётся</a:t>
            </a:r>
            <a:r>
              <a:rPr lang="en-US" dirty="0"/>
              <a:t>, </a:t>
            </a:r>
            <a:r>
              <a:rPr lang="en-US" dirty="0" err="1"/>
              <a:t>вновь</a:t>
            </a:r>
            <a:r>
              <a:rPr lang="en-US" dirty="0"/>
              <a:t> </a:t>
            </a:r>
            <a:r>
              <a:rPr lang="en-US" dirty="0" err="1"/>
              <a:t>захватит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и </a:t>
            </a:r>
            <a:r>
              <a:rPr lang="en-US" dirty="0" err="1"/>
              <a:t>повторно</a:t>
            </a:r>
            <a:r>
              <a:rPr lang="en-US" dirty="0"/>
              <a:t> </a:t>
            </a:r>
            <a:r>
              <a:rPr lang="en-US" dirty="0" err="1"/>
              <a:t>проверит</a:t>
            </a:r>
            <a:r>
              <a:rPr lang="en-US" dirty="0"/>
              <a:t> </a:t>
            </a:r>
            <a:r>
              <a:rPr lang="en-US" dirty="0" err="1"/>
              <a:t>условие</a:t>
            </a:r>
            <a:r>
              <a:rPr lang="en-US" dirty="0"/>
              <a:t>.</a:t>
            </a:r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проверка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повторно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Во-первых</a:t>
            </a:r>
            <a:r>
              <a:rPr lang="en-US" dirty="0"/>
              <a:t>, </a:t>
            </a:r>
            <a:r>
              <a:rPr lang="en-US" dirty="0" err="1"/>
              <a:t>стандарт</a:t>
            </a:r>
            <a:r>
              <a:rPr lang="en-US" dirty="0"/>
              <a:t> C++ </a:t>
            </a:r>
            <a:r>
              <a:rPr lang="en-US" dirty="0" err="1"/>
              <a:t>допускает</a:t>
            </a:r>
            <a:r>
              <a:rPr lang="en-US" dirty="0"/>
              <a:t> </a:t>
            </a:r>
            <a:r>
              <a:rPr lang="en-US" dirty="0" err="1"/>
              <a:t>ложные</a:t>
            </a:r>
            <a:r>
              <a:rPr lang="en-US" dirty="0"/>
              <a:t> </a:t>
            </a:r>
            <a:r>
              <a:rPr lang="en-US" dirty="0" err="1"/>
              <a:t>пробуждения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wait()</a:t>
            </a:r>
            <a:r>
              <a:rPr lang="en-US" dirty="0"/>
              <a:t> </a:t>
            </a:r>
            <a:r>
              <a:rPr lang="en-US" dirty="0" err="1"/>
              <a:t>возвращается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соответствующего</a:t>
            </a:r>
            <a:r>
              <a:rPr lang="en-US" dirty="0"/>
              <a:t> </a:t>
            </a:r>
            <a:r>
              <a:rPr lang="en-US" dirty="0" err="1"/>
              <a:t>уведомления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Во-вторых</a:t>
            </a:r>
            <a:r>
              <a:rPr lang="en-US" dirty="0"/>
              <a:t>,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настоящего</a:t>
            </a:r>
            <a:r>
              <a:rPr lang="en-US" dirty="0"/>
              <a:t> </a:t>
            </a:r>
            <a:r>
              <a:rPr lang="en-US" dirty="0" err="1"/>
              <a:t>уведомления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успеть</a:t>
            </a:r>
            <a:r>
              <a:rPr lang="en-US" dirty="0"/>
              <a:t> </a:t>
            </a:r>
            <a:r>
              <a:rPr lang="en-US" dirty="0" err="1"/>
              <a:t>первым</a:t>
            </a:r>
            <a:r>
              <a:rPr lang="en-US" dirty="0"/>
              <a:t> </a:t>
            </a:r>
            <a:r>
              <a:rPr lang="en-US" dirty="0" err="1"/>
              <a:t>извлечь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пробуждение</a:t>
            </a:r>
            <a:r>
              <a:rPr lang="en-US" dirty="0"/>
              <a:t>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условие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выполнено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Перегрузка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wait(lock, predicate)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повторные</a:t>
            </a:r>
            <a:r>
              <a:rPr lang="en-US" dirty="0"/>
              <a:t> </a:t>
            </a:r>
            <a:r>
              <a:rPr lang="en-US" dirty="0" err="1"/>
              <a:t>проверки</a:t>
            </a:r>
            <a:r>
              <a:rPr lang="en-US" dirty="0"/>
              <a:t>.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смыслу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эквивалентна</a:t>
            </a:r>
            <a:r>
              <a:rPr lang="en-US" dirty="0"/>
              <a:t> </a:t>
            </a:r>
            <a:r>
              <a:rPr lang="en-US" dirty="0" err="1"/>
              <a:t>циклу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en-US" dirty="0"/>
              <a:t>,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которого</a:t>
            </a:r>
            <a:r>
              <a:rPr lang="en-US" dirty="0"/>
              <a:t>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wait(lock)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помнить</a:t>
            </a:r>
            <a:r>
              <a:rPr lang="en-US" dirty="0"/>
              <a:t>: </a:t>
            </a:r>
            <a:r>
              <a:rPr lang="en-US" dirty="0" err="1"/>
              <a:t>условная</a:t>
            </a:r>
            <a:r>
              <a:rPr lang="en-US" dirty="0"/>
              <a:t> </a:t>
            </a:r>
            <a:r>
              <a:rPr lang="en-US" dirty="0" err="1"/>
              <a:t>переменная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историю</a:t>
            </a:r>
            <a:r>
              <a:rPr lang="en-US" dirty="0"/>
              <a:t> </a:t>
            </a:r>
            <a:r>
              <a:rPr lang="en-US" dirty="0" err="1"/>
              <a:t>уведомлений</a:t>
            </a:r>
            <a:r>
              <a:rPr lang="en-US" dirty="0"/>
              <a:t>.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,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храниться</a:t>
            </a:r>
            <a:r>
              <a:rPr lang="en-US" dirty="0"/>
              <a:t> </a:t>
            </a:r>
            <a:r>
              <a:rPr lang="en-US" dirty="0" err="1"/>
              <a:t>отдельно</a:t>
            </a:r>
            <a:r>
              <a:rPr lang="en-US" dirty="0"/>
              <a:t> и </a:t>
            </a:r>
            <a:r>
              <a:rPr lang="en-US" dirty="0" err="1"/>
              <a:t>проверяться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защитой</a:t>
            </a:r>
            <a:r>
              <a:rPr lang="en-US" dirty="0"/>
              <a:t> </a:t>
            </a:r>
            <a:r>
              <a:rPr lang="en-US" dirty="0" err="1"/>
              <a:t>мьютекса</a:t>
            </a:r>
            <a:r>
              <a:rPr lang="en-US" dirty="0"/>
              <a:t>.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правильно</a:t>
            </a:r>
            <a:r>
              <a:rPr lang="en-US" dirty="0"/>
              <a:t> </a:t>
            </a:r>
            <a:r>
              <a:rPr lang="en-US" dirty="0" err="1"/>
              <a:t>организованная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r>
              <a:rPr lang="en-US" dirty="0"/>
              <a:t> с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состоянием</a:t>
            </a:r>
            <a:r>
              <a:rPr lang="en-US" dirty="0"/>
              <a:t> </a:t>
            </a:r>
            <a:r>
              <a:rPr lang="en-US" dirty="0" err="1"/>
              <a:t>предотвращает</a:t>
            </a:r>
            <a:r>
              <a:rPr lang="en-US" dirty="0"/>
              <a:t> Lost Wakeup.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9221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реализуем</a:t>
            </a:r>
            <a:r>
              <a:rPr lang="en-US" dirty="0"/>
              <a:t> </a:t>
            </a:r>
            <a:r>
              <a:rPr lang="en-US" dirty="0" err="1"/>
              <a:t>нашу</a:t>
            </a:r>
            <a:r>
              <a:rPr lang="en-US" dirty="0"/>
              <a:t> </a:t>
            </a:r>
            <a:r>
              <a:rPr lang="en-US" dirty="0" err="1"/>
              <a:t>ограниченную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C++.</a:t>
            </a:r>
          </a:p>
          <a:p>
            <a:endParaRPr lang="en-US" dirty="0"/>
          </a:p>
          <a:p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кольцевой</a:t>
            </a:r>
            <a:r>
              <a:rPr lang="en-US" dirty="0"/>
              <a:t> </a:t>
            </a:r>
            <a:r>
              <a:rPr lang="en-US" dirty="0" err="1"/>
              <a:t>буфер</a:t>
            </a:r>
            <a:r>
              <a:rPr lang="en-US" dirty="0"/>
              <a:t> </a:t>
            </a:r>
            <a:r>
              <a:rPr lang="en-US" dirty="0" err="1"/>
              <a:t>фиксированной</a:t>
            </a:r>
            <a:r>
              <a:rPr lang="en-US" dirty="0"/>
              <a:t> </a:t>
            </a:r>
            <a:r>
              <a:rPr lang="en-US" dirty="0" err="1"/>
              <a:t>ёмкости</a:t>
            </a:r>
            <a:r>
              <a:rPr lang="en-US" dirty="0"/>
              <a:t>, </a:t>
            </a:r>
            <a:r>
              <a:rPr lang="en-US" dirty="0" err="1"/>
              <a:t>равной</a:t>
            </a:r>
            <a:r>
              <a:rPr lang="en-US" dirty="0"/>
              <a:t> </a:t>
            </a:r>
            <a:r>
              <a:rPr lang="en-US" dirty="0" err="1"/>
              <a:t>восьми</a:t>
            </a:r>
            <a:r>
              <a:rPr lang="en-US" dirty="0"/>
              <a:t> </a:t>
            </a:r>
            <a:r>
              <a:rPr lang="en-US" dirty="0" err="1"/>
              <a:t>элементам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хранения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применим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std::array</a:t>
            </a:r>
            <a:r>
              <a:rPr lang="en-US" dirty="0"/>
              <a:t>. </a:t>
            </a:r>
            <a:r>
              <a:rPr lang="en-US" dirty="0" err="1"/>
              <a:t>Переменная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head_</a:t>
            </a:r>
            <a:r>
              <a:rPr lang="en-US" dirty="0"/>
              <a:t> </a:t>
            </a:r>
            <a:r>
              <a:rPr lang="en-US" dirty="0" err="1"/>
              <a:t>указывает</a:t>
            </a:r>
            <a:r>
              <a:rPr lang="en-US" dirty="0"/>
              <a:t>, </a:t>
            </a:r>
            <a:r>
              <a:rPr lang="en-US" dirty="0" err="1"/>
              <a:t>откуда</a:t>
            </a:r>
            <a:r>
              <a:rPr lang="en-US" dirty="0"/>
              <a:t> </a:t>
            </a:r>
            <a:r>
              <a:rPr lang="en-US" dirty="0" err="1"/>
              <a:t>извлекать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, а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tail_</a:t>
            </a:r>
            <a:r>
              <a:rPr lang="en-US" dirty="0"/>
              <a:t> — </a:t>
            </a:r>
            <a:r>
              <a:rPr lang="en-US" dirty="0" err="1"/>
              <a:t>куда</a:t>
            </a:r>
            <a:r>
              <a:rPr lang="en-US" dirty="0"/>
              <a:t> </a:t>
            </a:r>
            <a:r>
              <a:rPr lang="en-US" dirty="0" err="1"/>
              <a:t>добавлять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.</a:t>
            </a:r>
          </a:p>
          <a:p>
            <a:r>
              <a:rPr lang="en-US" dirty="0" err="1"/>
              <a:t>Переменная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size_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текущее</a:t>
            </a:r>
            <a:r>
              <a:rPr lang="en-US" dirty="0"/>
              <a:t> </a:t>
            </a:r>
            <a:r>
              <a:rPr lang="en-US" dirty="0" err="1"/>
              <a:t>число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.</a:t>
            </a:r>
          </a:p>
          <a:p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поля</a:t>
            </a:r>
            <a:r>
              <a:rPr lang="en-US" dirty="0"/>
              <a:t> </a:t>
            </a:r>
            <a:r>
              <a:rPr lang="en-US" dirty="0" err="1"/>
              <a:t>защищаются</a:t>
            </a:r>
            <a:r>
              <a:rPr lang="en-US" dirty="0"/>
              <a:t>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мьютексом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условные</a:t>
            </a:r>
            <a:r>
              <a:rPr lang="en-US" dirty="0"/>
              <a:t> </a:t>
            </a:r>
            <a:r>
              <a:rPr lang="en-US" dirty="0" err="1"/>
              <a:t>переменные</a:t>
            </a:r>
            <a:r>
              <a:rPr lang="en-US" dirty="0"/>
              <a:t>.</a:t>
            </a:r>
          </a:p>
          <a:p>
            <a:r>
              <a:rPr lang="en-US" dirty="0" err="1"/>
              <a:t>Первая</a:t>
            </a:r>
            <a:r>
              <a:rPr lang="en-US" dirty="0"/>
              <a:t>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notEmpty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потребителям</a:t>
            </a:r>
            <a:r>
              <a:rPr lang="en-US" dirty="0"/>
              <a:t>, </a:t>
            </a:r>
            <a:r>
              <a:rPr lang="en-US" dirty="0" err="1"/>
              <a:t>ожидающим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.</a:t>
            </a:r>
          </a:p>
          <a:p>
            <a:r>
              <a:rPr lang="en-US" dirty="0" err="1"/>
              <a:t>Вторая</a:t>
            </a:r>
            <a:r>
              <a:rPr lang="en-US" dirty="0"/>
              <a:t>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notFull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производителям</a:t>
            </a:r>
            <a:r>
              <a:rPr lang="en-US" dirty="0"/>
              <a:t>, </a:t>
            </a:r>
            <a:r>
              <a:rPr lang="en-US" dirty="0" err="1"/>
              <a:t>ожидающим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dirty="0" err="1"/>
              <a:t>свободного</a:t>
            </a:r>
            <a:r>
              <a:rPr lang="en-US" dirty="0"/>
              <a:t> </a:t>
            </a:r>
            <a:r>
              <a:rPr lang="en-US" dirty="0" err="1"/>
              <a:t>места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Push()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unique_lock</a:t>
            </a:r>
            <a:r>
              <a:rPr lang="en-US" dirty="0"/>
              <a:t> и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notFull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_.wait()</a:t>
            </a:r>
            <a:r>
              <a:rPr lang="en-US" dirty="0"/>
              <a:t>. В </a:t>
            </a:r>
            <a:r>
              <a:rPr lang="en-US" dirty="0" err="1"/>
              <a:t>качестве</a:t>
            </a:r>
            <a:r>
              <a:rPr lang="en-US" dirty="0"/>
              <a:t> </a:t>
            </a:r>
            <a:r>
              <a:rPr lang="en-US" dirty="0" err="1"/>
              <a:t>предиката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передаём</a:t>
            </a:r>
            <a:r>
              <a:rPr lang="en-US" dirty="0"/>
              <a:t> </a:t>
            </a:r>
            <a:r>
              <a:rPr lang="en-US" dirty="0" err="1"/>
              <a:t>условие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size_ &lt; N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буфер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заполнен</a:t>
            </a:r>
            <a:r>
              <a:rPr lang="en-US" dirty="0"/>
              <a:t>,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места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,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освобождает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и </a:t>
            </a:r>
            <a:r>
              <a:rPr lang="en-US" dirty="0" err="1"/>
              <a:t>переходит</a:t>
            </a:r>
            <a:r>
              <a:rPr lang="en-US" dirty="0"/>
              <a:t> в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освободить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?</a:t>
            </a:r>
          </a:p>
          <a:p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захватить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, </a:t>
            </a:r>
            <a:r>
              <a:rPr lang="en-US" dirty="0" err="1"/>
              <a:t>извлечь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и </a:t>
            </a:r>
            <a:r>
              <a:rPr lang="en-US" dirty="0" err="1"/>
              <a:t>освободить</a:t>
            </a:r>
            <a:r>
              <a:rPr lang="en-US" dirty="0"/>
              <a:t> </a:t>
            </a:r>
            <a:r>
              <a:rPr lang="en-US" dirty="0" err="1"/>
              <a:t>место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 </a:t>
            </a:r>
            <a:r>
              <a:rPr lang="en-US" dirty="0" err="1"/>
              <a:t>производитель</a:t>
            </a:r>
            <a:r>
              <a:rPr lang="en-US" dirty="0"/>
              <a:t> </a:t>
            </a:r>
            <a:r>
              <a:rPr lang="en-US" dirty="0" err="1"/>
              <a:t>добавляет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в </a:t>
            </a:r>
            <a:r>
              <a:rPr lang="en-US" dirty="0" err="1"/>
              <a:t>массив</a:t>
            </a:r>
            <a:r>
              <a:rPr lang="en-US" dirty="0"/>
              <a:t>, </a:t>
            </a:r>
            <a:r>
              <a:rPr lang="en-US" dirty="0" err="1"/>
              <a:t>перемещает</a:t>
            </a:r>
            <a:r>
              <a:rPr lang="en-US" dirty="0"/>
              <a:t> </a:t>
            </a:r>
            <a:r>
              <a:rPr lang="en-US" dirty="0" err="1"/>
              <a:t>указатель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tail_</a:t>
            </a:r>
            <a:r>
              <a:rPr lang="en-US" dirty="0"/>
              <a:t> и </a:t>
            </a:r>
            <a:r>
              <a:rPr lang="en-US" dirty="0" err="1"/>
              <a:t>увеличивает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size_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защитой</a:t>
            </a:r>
            <a:r>
              <a:rPr lang="en-US" dirty="0"/>
              <a:t> </a:t>
            </a:r>
            <a:r>
              <a:rPr lang="en-US" dirty="0" err="1"/>
              <a:t>мьютекса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работающих</a:t>
            </a:r>
            <a:r>
              <a:rPr lang="en-US" dirty="0"/>
              <a:t> </a:t>
            </a:r>
            <a:r>
              <a:rPr lang="en-US" dirty="0" err="1"/>
              <a:t>производителей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смогут</a:t>
            </a:r>
            <a:r>
              <a:rPr lang="en-US" dirty="0"/>
              <a:t> </a:t>
            </a:r>
            <a:r>
              <a:rPr lang="en-US" dirty="0" err="1"/>
              <a:t>повредить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вставки</a:t>
            </a:r>
            <a:r>
              <a:rPr lang="en-US" dirty="0"/>
              <a:t> </a:t>
            </a:r>
            <a:r>
              <a:rPr lang="en-US" dirty="0" err="1"/>
              <a:t>элемента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освобождаем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и </a:t>
            </a:r>
            <a:r>
              <a:rPr lang="en-US" dirty="0" err="1"/>
              <a:t>вызываем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notEmpty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_.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notify_one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сообщаем</a:t>
            </a:r>
            <a:r>
              <a:rPr lang="en-US" dirty="0"/>
              <a:t> </a:t>
            </a:r>
            <a:r>
              <a:rPr lang="en-US" dirty="0" err="1"/>
              <a:t>одному</a:t>
            </a:r>
            <a:r>
              <a:rPr lang="en-US" dirty="0"/>
              <a:t> </a:t>
            </a:r>
            <a:r>
              <a:rPr lang="en-US" dirty="0" err="1"/>
              <a:t>ожидающему</a:t>
            </a:r>
            <a:r>
              <a:rPr lang="en-US" dirty="0"/>
              <a:t> </a:t>
            </a:r>
            <a:r>
              <a:rPr lang="en-US" dirty="0" err="1"/>
              <a:t>потребителю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в </a:t>
            </a:r>
            <a:r>
              <a:rPr lang="en-US" dirty="0" err="1"/>
              <a:t>буфере</a:t>
            </a:r>
            <a:r>
              <a:rPr lang="en-US" dirty="0"/>
              <a:t> </a:t>
            </a:r>
            <a:r>
              <a:rPr lang="en-US" dirty="0" err="1"/>
              <a:t>появились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уведомление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отправлять</a:t>
            </a:r>
            <a:r>
              <a:rPr lang="en-US" dirty="0"/>
              <a:t> и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удержании</a:t>
            </a:r>
            <a:r>
              <a:rPr lang="en-US" dirty="0"/>
              <a:t> </a:t>
            </a:r>
            <a:r>
              <a:rPr lang="en-US" dirty="0" err="1"/>
              <a:t>мьютекса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делаем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освобождения</a:t>
            </a:r>
            <a:r>
              <a:rPr lang="en-US" dirty="0"/>
              <a:t>. Это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разбуженному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конкурировать</a:t>
            </a:r>
            <a:r>
              <a:rPr lang="en-US" dirty="0"/>
              <a:t> </a:t>
            </a:r>
            <a:r>
              <a:rPr lang="en-US" dirty="0" err="1"/>
              <a:t>немедленно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занятый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: </a:t>
            </a:r>
            <a:r>
              <a:rPr lang="en-US" dirty="0" err="1"/>
              <a:t>защищает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и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доступности</a:t>
            </a:r>
            <a:r>
              <a:rPr lang="en-US" dirty="0"/>
              <a:t> </a:t>
            </a:r>
            <a:r>
              <a:rPr lang="en-US" dirty="0" err="1"/>
              <a:t>свободного</a:t>
            </a:r>
            <a:r>
              <a:rPr lang="en-US" dirty="0"/>
              <a:t> </a:t>
            </a:r>
            <a:r>
              <a:rPr lang="en-US" dirty="0" err="1"/>
              <a:t>места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4558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симметричную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— </a:t>
            </a:r>
            <a:r>
              <a:rPr lang="en-US" dirty="0" err="1"/>
              <a:t>извлечение</a:t>
            </a:r>
            <a:r>
              <a:rPr lang="en-US" dirty="0"/>
              <a:t> </a:t>
            </a:r>
            <a:r>
              <a:rPr lang="en-US" dirty="0" err="1"/>
              <a:t>элемента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Pop()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самый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notEmpty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_.wait()</a:t>
            </a:r>
            <a:r>
              <a:rPr lang="en-US" dirty="0"/>
              <a:t> с </a:t>
            </a:r>
            <a:r>
              <a:rPr lang="en-US" dirty="0" err="1"/>
              <a:t>предикатом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size_ &gt; 0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в </a:t>
            </a:r>
            <a:r>
              <a:rPr lang="en-US" dirty="0" err="1"/>
              <a:t>буфере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буфер</a:t>
            </a:r>
            <a:r>
              <a:rPr lang="en-US" dirty="0"/>
              <a:t> </a:t>
            </a:r>
            <a:r>
              <a:rPr lang="en-US" dirty="0" err="1"/>
              <a:t>пуст</a:t>
            </a:r>
            <a:r>
              <a:rPr lang="en-US" dirty="0"/>
              <a:t>, </a:t>
            </a:r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освобождает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и </a:t>
            </a:r>
            <a:r>
              <a:rPr lang="en-US" dirty="0" err="1"/>
              <a:t>блокируется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, </a:t>
            </a:r>
            <a:r>
              <a:rPr lang="en-US" dirty="0" err="1"/>
              <a:t>производитель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свободно</a:t>
            </a:r>
            <a:r>
              <a:rPr lang="en-US" dirty="0"/>
              <a:t> </a:t>
            </a:r>
            <a:r>
              <a:rPr lang="en-US" dirty="0" err="1"/>
              <a:t>захватить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и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производитель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notEmpty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_.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notify_one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просыпается</a:t>
            </a:r>
            <a:r>
              <a:rPr lang="en-US" dirty="0"/>
              <a:t>,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и </a:t>
            </a:r>
            <a:r>
              <a:rPr lang="en-US" dirty="0" err="1"/>
              <a:t>проверяет</a:t>
            </a:r>
            <a:r>
              <a:rPr lang="en-US" dirty="0"/>
              <a:t> </a:t>
            </a:r>
            <a:r>
              <a:rPr lang="en-US" dirty="0" err="1"/>
              <a:t>условие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доступны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извлекает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буфера</a:t>
            </a:r>
            <a:r>
              <a:rPr lang="en-US" dirty="0"/>
              <a:t>, </a:t>
            </a:r>
            <a:r>
              <a:rPr lang="en-US" dirty="0" err="1"/>
              <a:t>перемещает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head_</a:t>
            </a:r>
            <a:r>
              <a:rPr lang="en-US" dirty="0"/>
              <a:t> и </a:t>
            </a:r>
            <a:r>
              <a:rPr lang="en-US" dirty="0" err="1"/>
              <a:t>уменьшает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size_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освобождает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и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notFull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_.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notify_one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dirty="0" err="1"/>
              <a:t>уведомляя</a:t>
            </a:r>
            <a:r>
              <a:rPr lang="en-US" dirty="0"/>
              <a:t> </a:t>
            </a:r>
            <a:r>
              <a:rPr lang="en-US" dirty="0" err="1"/>
              <a:t>ожидающего</a:t>
            </a:r>
            <a:r>
              <a:rPr lang="en-US" dirty="0"/>
              <a:t> </a:t>
            </a:r>
            <a:r>
              <a:rPr lang="en-US" dirty="0" err="1"/>
              <a:t>производителя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в </a:t>
            </a:r>
            <a:r>
              <a:rPr lang="en-US" dirty="0" err="1"/>
              <a:t>буфере</a:t>
            </a:r>
            <a:r>
              <a:rPr lang="en-US" dirty="0"/>
              <a:t> </a:t>
            </a:r>
            <a:r>
              <a:rPr lang="en-US" dirty="0" err="1"/>
              <a:t>появилось</a:t>
            </a:r>
            <a:r>
              <a:rPr lang="en-US" dirty="0"/>
              <a:t> </a:t>
            </a:r>
            <a:r>
              <a:rPr lang="en-US" dirty="0" err="1"/>
              <a:t>свободное</a:t>
            </a:r>
            <a:r>
              <a:rPr lang="en-US" dirty="0"/>
              <a:t> </a:t>
            </a:r>
            <a:r>
              <a:rPr lang="en-US" dirty="0" err="1"/>
              <a:t>место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уведомления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означают</a:t>
            </a:r>
            <a:r>
              <a:rPr lang="en-US" dirty="0"/>
              <a:t> </a:t>
            </a:r>
            <a:r>
              <a:rPr lang="en-US" dirty="0" err="1"/>
              <a:t>обязательного</a:t>
            </a:r>
            <a:r>
              <a:rPr lang="en-US" dirty="0"/>
              <a:t> </a:t>
            </a:r>
            <a:r>
              <a:rPr lang="en-US" dirty="0" err="1"/>
              <a:t>немедленного</a:t>
            </a:r>
            <a:r>
              <a:rPr lang="en-US" dirty="0"/>
              <a:t> </a:t>
            </a:r>
            <a:r>
              <a:rPr lang="en-US" dirty="0" err="1"/>
              <a:t>переключения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ожидающим</a:t>
            </a:r>
            <a:r>
              <a:rPr lang="en-US" dirty="0"/>
              <a:t> </a:t>
            </a:r>
            <a:r>
              <a:rPr lang="en-US" dirty="0" err="1"/>
              <a:t>потокам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претендовать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производитель</a:t>
            </a:r>
            <a:r>
              <a:rPr lang="en-US" dirty="0"/>
              <a:t> и </a:t>
            </a:r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защиты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.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защищать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head_</a:t>
            </a:r>
            <a:r>
              <a:rPr lang="en-US" dirty="0"/>
              <a:t>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мьютексом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tail_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, а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size_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защищать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разработав</a:t>
            </a:r>
            <a:r>
              <a:rPr lang="en-US" dirty="0"/>
              <a:t> </a:t>
            </a:r>
            <a:r>
              <a:rPr lang="en-US" dirty="0" err="1"/>
              <a:t>специальный</a:t>
            </a:r>
            <a:r>
              <a:rPr lang="en-US" dirty="0"/>
              <a:t> </a:t>
            </a:r>
            <a:r>
              <a:rPr lang="en-US" dirty="0" err="1"/>
              <a:t>корректный</a:t>
            </a:r>
            <a:r>
              <a:rPr lang="en-US" dirty="0"/>
              <a:t> </a:t>
            </a:r>
            <a:r>
              <a:rPr lang="en-US" dirty="0" err="1"/>
              <a:t>протокол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гораздо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: </a:t>
            </a:r>
            <a:r>
              <a:rPr lang="en-US" dirty="0" err="1"/>
              <a:t>вся</a:t>
            </a:r>
            <a:r>
              <a:rPr lang="en-US" dirty="0"/>
              <a:t> </a:t>
            </a:r>
            <a:r>
              <a:rPr lang="en-US" dirty="0" err="1"/>
              <a:t>структура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защищена</a:t>
            </a:r>
            <a:r>
              <a:rPr lang="en-US" dirty="0"/>
              <a:t>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мьютексом</a:t>
            </a:r>
            <a:r>
              <a:rPr lang="en-US" dirty="0"/>
              <a:t>, а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условные</a:t>
            </a:r>
            <a:r>
              <a:rPr lang="en-US" dirty="0"/>
              <a:t> </a:t>
            </a:r>
            <a:r>
              <a:rPr lang="en-US" dirty="0" err="1"/>
              <a:t>переменные</a:t>
            </a:r>
            <a:r>
              <a:rPr lang="en-US" dirty="0"/>
              <a:t> </a:t>
            </a:r>
            <a:r>
              <a:rPr lang="en-US" dirty="0" err="1"/>
              <a:t>обслуживают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использоваться</a:t>
            </a:r>
            <a:r>
              <a:rPr lang="en-US" dirty="0"/>
              <a:t>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производителями</a:t>
            </a:r>
            <a:r>
              <a:rPr lang="en-US" dirty="0"/>
              <a:t> и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потребителями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 </a:t>
            </a:r>
            <a:r>
              <a:rPr lang="en-US" dirty="0" err="1"/>
              <a:t>корректную</a:t>
            </a:r>
            <a:r>
              <a:rPr lang="en-US" dirty="0"/>
              <a:t> </a:t>
            </a:r>
            <a:r>
              <a:rPr lang="en-US" dirty="0" err="1"/>
              <a:t>ограниченную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активного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? </a:t>
            </a:r>
            <a:r>
              <a:rPr lang="en-US" dirty="0" err="1"/>
              <a:t>Да</a:t>
            </a:r>
            <a:r>
              <a:rPr lang="en-US" dirty="0"/>
              <a:t> —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семафоров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4484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Условные</a:t>
            </a:r>
            <a:r>
              <a:rPr lang="en-US" dirty="0"/>
              <a:t> </a:t>
            </a:r>
            <a:r>
              <a:rPr lang="en-US" dirty="0" err="1"/>
              <a:t>переменные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некоторого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, </a:t>
            </a:r>
            <a:r>
              <a:rPr lang="en-US" dirty="0" err="1"/>
              <a:t>защищённого</a:t>
            </a:r>
            <a:r>
              <a:rPr lang="en-US" dirty="0"/>
              <a:t> </a:t>
            </a:r>
            <a:r>
              <a:rPr lang="en-US" dirty="0" err="1"/>
              <a:t>мьютексом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и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к </a:t>
            </a:r>
            <a:r>
              <a:rPr lang="en-US" dirty="0" err="1"/>
              <a:t>синхронизации</a:t>
            </a:r>
            <a:r>
              <a:rPr lang="en-US" dirty="0"/>
              <a:t> — </a:t>
            </a:r>
            <a:r>
              <a:rPr lang="en-US" dirty="0" err="1"/>
              <a:t>семафоры</a:t>
            </a:r>
            <a:r>
              <a:rPr lang="en-US" dirty="0"/>
              <a:t>.</a:t>
            </a:r>
          </a:p>
          <a:p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семафоров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предложена</a:t>
            </a:r>
            <a:r>
              <a:rPr lang="en-US" dirty="0"/>
              <a:t> </a:t>
            </a:r>
            <a:r>
              <a:rPr lang="en-US" dirty="0" err="1"/>
              <a:t>Эдсгером</a:t>
            </a:r>
            <a:r>
              <a:rPr lang="en-US" dirty="0"/>
              <a:t> </a:t>
            </a:r>
            <a:r>
              <a:rPr lang="en-US" dirty="0" err="1"/>
              <a:t>Дейкстрой</a:t>
            </a:r>
            <a:r>
              <a:rPr lang="en-US" dirty="0"/>
              <a:t> в 1960-х </a:t>
            </a:r>
            <a:r>
              <a:rPr lang="en-US" dirty="0" err="1"/>
              <a:t>годах</a:t>
            </a:r>
            <a:r>
              <a:rPr lang="en-US" dirty="0"/>
              <a:t>. В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лежит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разрешений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Представьте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, в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трёх</a:t>
            </a:r>
            <a:r>
              <a:rPr lang="en-US" dirty="0"/>
              <a:t> </a:t>
            </a:r>
            <a:r>
              <a:rPr lang="en-US" dirty="0" err="1"/>
              <a:t>клиентов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семафор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значением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началом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acquire()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положительный</a:t>
            </a:r>
            <a:r>
              <a:rPr lang="en-US" dirty="0"/>
              <a:t>,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атомарно</a:t>
            </a:r>
            <a:r>
              <a:rPr lang="en-US" dirty="0"/>
              <a:t> </a:t>
            </a:r>
            <a:r>
              <a:rPr lang="en-US" dirty="0" err="1"/>
              <a:t>уменьшает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единицу</a:t>
            </a:r>
            <a:r>
              <a:rPr lang="en-US" dirty="0"/>
              <a:t>, и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достигает</a:t>
            </a:r>
            <a:r>
              <a:rPr lang="en-US" dirty="0"/>
              <a:t> </a:t>
            </a:r>
            <a:r>
              <a:rPr lang="en-US" dirty="0" err="1"/>
              <a:t>нуля</a:t>
            </a:r>
            <a:r>
              <a:rPr lang="en-US" dirty="0"/>
              <a:t>,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разрешение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вынуждены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работающих</a:t>
            </a:r>
            <a:r>
              <a:rPr lang="en-US" dirty="0"/>
              <a:t> </a:t>
            </a:r>
            <a:r>
              <a:rPr lang="en-US" dirty="0" err="1"/>
              <a:t>клиентов</a:t>
            </a:r>
            <a:r>
              <a:rPr lang="en-US" dirty="0"/>
              <a:t> </a:t>
            </a:r>
            <a:r>
              <a:rPr lang="en-US" dirty="0" err="1"/>
              <a:t>завершает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release()</a:t>
            </a:r>
            <a:r>
              <a:rPr lang="en-US" dirty="0"/>
              <a:t>. </a:t>
            </a:r>
            <a:r>
              <a:rPr lang="en-US" dirty="0" err="1"/>
              <a:t>Разрешение</a:t>
            </a:r>
            <a:r>
              <a:rPr lang="en-US" dirty="0"/>
              <a:t> </a:t>
            </a:r>
            <a:r>
              <a:rPr lang="en-US" dirty="0" err="1"/>
              <a:t>возвращается</a:t>
            </a:r>
            <a:r>
              <a:rPr lang="en-US" dirty="0"/>
              <a:t> в </a:t>
            </a:r>
            <a:r>
              <a:rPr lang="en-US" dirty="0" err="1"/>
              <a:t>семафор</a:t>
            </a:r>
            <a:r>
              <a:rPr lang="en-US" dirty="0"/>
              <a:t>, </a:t>
            </a:r>
            <a:r>
              <a:rPr lang="en-US" dirty="0" err="1"/>
              <a:t>позволяя</a:t>
            </a:r>
            <a:r>
              <a:rPr lang="en-US" dirty="0"/>
              <a:t> </a:t>
            </a:r>
            <a:r>
              <a:rPr lang="en-US" dirty="0" err="1"/>
              <a:t>одному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ожидающих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с </a:t>
            </a:r>
            <a:r>
              <a:rPr lang="en-US" dirty="0" err="1"/>
              <a:t>внутренним</a:t>
            </a:r>
            <a:r>
              <a:rPr lang="en-US" dirty="0"/>
              <a:t> </a:t>
            </a:r>
            <a:r>
              <a:rPr lang="en-US" dirty="0" err="1"/>
              <a:t>счётчиком</a:t>
            </a:r>
            <a:r>
              <a:rPr lang="en-US" dirty="0"/>
              <a:t> </a:t>
            </a:r>
            <a:r>
              <a:rPr lang="en-US" dirty="0" err="1"/>
              <a:t>выполняются</a:t>
            </a:r>
            <a:r>
              <a:rPr lang="en-US" dirty="0"/>
              <a:t> </a:t>
            </a:r>
            <a:r>
              <a:rPr lang="en-US" dirty="0" err="1"/>
              <a:t>атомарно</a:t>
            </a:r>
            <a:r>
              <a:rPr lang="en-US" dirty="0"/>
              <a:t>.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допустить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и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последнее</a:t>
            </a:r>
            <a:r>
              <a:rPr lang="en-US" dirty="0"/>
              <a:t> </a:t>
            </a:r>
            <a:r>
              <a:rPr lang="en-US" dirty="0" err="1"/>
              <a:t>разрешение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C++20 </a:t>
            </a:r>
            <a:r>
              <a:rPr lang="en-US" dirty="0" err="1"/>
              <a:t>семафоры</a:t>
            </a:r>
            <a:r>
              <a:rPr lang="en-US" dirty="0"/>
              <a:t> </a:t>
            </a:r>
            <a:r>
              <a:rPr lang="en-US" dirty="0" err="1"/>
              <a:t>входят</a:t>
            </a:r>
            <a:r>
              <a:rPr lang="en-US" dirty="0"/>
              <a:t> в </a:t>
            </a:r>
            <a:r>
              <a:rPr lang="en-US" dirty="0" err="1"/>
              <a:t>стандартную</a:t>
            </a:r>
            <a:r>
              <a:rPr lang="en-US" dirty="0"/>
              <a:t> </a:t>
            </a:r>
            <a:r>
              <a:rPr lang="en-US" dirty="0" err="1"/>
              <a:t>библиотеку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counting_semaphore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разрешений</a:t>
            </a:r>
            <a:r>
              <a:rPr lang="en-US" dirty="0"/>
              <a:t>, а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binary_semaphore</a:t>
            </a:r>
            <a:r>
              <a:rPr lang="en-US" dirty="0"/>
              <a:t> </a:t>
            </a:r>
            <a:r>
              <a:rPr lang="en-US" dirty="0" err="1"/>
              <a:t>предназначен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случаев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ограничено</a:t>
            </a:r>
            <a:r>
              <a:rPr lang="en-US" dirty="0"/>
              <a:t> </a:t>
            </a:r>
            <a:r>
              <a:rPr lang="en-US" dirty="0" err="1"/>
              <a:t>нулём</a:t>
            </a:r>
            <a:r>
              <a:rPr lang="en-US" dirty="0"/>
              <a:t> и </a:t>
            </a:r>
            <a:r>
              <a:rPr lang="en-US" dirty="0" err="1"/>
              <a:t>единицей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бинарный</a:t>
            </a:r>
            <a:r>
              <a:rPr lang="en-US" dirty="0"/>
              <a:t> </a:t>
            </a:r>
            <a:r>
              <a:rPr lang="en-US" dirty="0" err="1"/>
              <a:t>семафор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мьютекса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понятие</a:t>
            </a:r>
            <a:r>
              <a:rPr lang="en-US" dirty="0"/>
              <a:t> </a:t>
            </a:r>
            <a:r>
              <a:rPr lang="en-US" dirty="0" err="1"/>
              <a:t>владельца</a:t>
            </a:r>
            <a:r>
              <a:rPr lang="en-US" dirty="0"/>
              <a:t>: </a:t>
            </a:r>
            <a:r>
              <a:rPr lang="en-US" dirty="0" err="1"/>
              <a:t>поток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захватил</a:t>
            </a:r>
            <a:r>
              <a:rPr lang="en-US" dirty="0"/>
              <a:t> </a:t>
            </a:r>
            <a:r>
              <a:rPr lang="en-US" dirty="0" err="1"/>
              <a:t>обычный</a:t>
            </a:r>
            <a:r>
              <a:rPr lang="en-US" dirty="0"/>
              <a:t> mutex,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освободить</a:t>
            </a:r>
            <a:r>
              <a:rPr lang="en-US" dirty="0"/>
              <a:t>.</a:t>
            </a:r>
          </a:p>
          <a:p>
            <a:r>
              <a:rPr lang="en-US" dirty="0" err="1"/>
              <a:t>Семафор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привязан</a:t>
            </a:r>
            <a:r>
              <a:rPr lang="en-US" dirty="0"/>
              <a:t> к </a:t>
            </a:r>
            <a:r>
              <a:rPr lang="en-US" dirty="0" err="1"/>
              <a:t>конкретному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.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вызвать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acquire()</a:t>
            </a:r>
            <a:r>
              <a:rPr lang="en-US" dirty="0"/>
              <a:t>, а </a:t>
            </a:r>
            <a:r>
              <a:rPr lang="en-US" dirty="0" err="1"/>
              <a:t>другой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release()</a:t>
            </a:r>
            <a:r>
              <a:rPr lang="en-US" dirty="0"/>
              <a:t>.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семафоры</a:t>
            </a:r>
            <a:r>
              <a:rPr lang="en-US" dirty="0"/>
              <a:t> </a:t>
            </a:r>
            <a:r>
              <a:rPr lang="en-US" dirty="0" err="1"/>
              <a:t>удобны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ресурсами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уведомления</a:t>
            </a:r>
            <a:r>
              <a:rPr lang="en-US" dirty="0"/>
              <a:t> о </a:t>
            </a:r>
            <a:r>
              <a:rPr lang="en-US" dirty="0" err="1"/>
              <a:t>событиях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семафоров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производителя</a:t>
            </a:r>
            <a:r>
              <a:rPr lang="en-US" dirty="0"/>
              <a:t> и </a:t>
            </a:r>
            <a:r>
              <a:rPr lang="en-US" dirty="0" err="1"/>
              <a:t>потребителя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7039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ограниченной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Напомню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характеристики</a:t>
            </a:r>
            <a:r>
              <a:rPr lang="en-US" dirty="0"/>
              <a:t>,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которыми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следить</a:t>
            </a:r>
            <a:r>
              <a:rPr lang="en-US" dirty="0"/>
              <a:t>: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свободных</a:t>
            </a:r>
            <a:r>
              <a:rPr lang="en-US" dirty="0"/>
              <a:t> </a:t>
            </a:r>
            <a:r>
              <a:rPr lang="en-US" dirty="0" err="1"/>
              <a:t>мест</a:t>
            </a:r>
            <a:r>
              <a:rPr lang="en-US" dirty="0"/>
              <a:t> и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семафоров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назовём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empty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разрешения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добавление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Изначально</a:t>
            </a:r>
            <a:r>
              <a:rPr lang="en-US" dirty="0"/>
              <a:t> </a:t>
            </a:r>
            <a:r>
              <a:rPr lang="en-US" dirty="0" err="1"/>
              <a:t>буфер</a:t>
            </a:r>
            <a:r>
              <a:rPr lang="en-US" dirty="0"/>
              <a:t> </a:t>
            </a:r>
            <a:r>
              <a:rPr lang="en-US" dirty="0" err="1"/>
              <a:t>пуст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N </a:t>
            </a:r>
            <a:r>
              <a:rPr lang="en-US" dirty="0" err="1"/>
              <a:t>свободных</a:t>
            </a:r>
            <a:r>
              <a:rPr lang="en-US" dirty="0"/>
              <a:t> </a:t>
            </a:r>
            <a:r>
              <a:rPr lang="en-US" dirty="0" err="1"/>
              <a:t>мест</a:t>
            </a:r>
            <a:r>
              <a:rPr lang="en-US" dirty="0"/>
              <a:t>. </a:t>
            </a:r>
            <a:r>
              <a:rPr lang="en-US" dirty="0" err="1"/>
              <a:t>Начальное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empty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N.</a:t>
            </a:r>
          </a:p>
          <a:p>
            <a:endParaRPr lang="en-US" dirty="0"/>
          </a:p>
          <a:p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семафор</a:t>
            </a:r>
            <a:r>
              <a:rPr lang="en-US" dirty="0"/>
              <a:t> </a:t>
            </a:r>
            <a:r>
              <a:rPr lang="en-US" dirty="0" err="1"/>
              <a:t>назовём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разрешения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извлечение</a:t>
            </a:r>
            <a:r>
              <a:rPr lang="en-US" dirty="0"/>
              <a:t>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Изначально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нулю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производителя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empty.acquire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и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право</a:t>
            </a:r>
            <a:r>
              <a:rPr lang="en-US" dirty="0"/>
              <a:t> </a:t>
            </a:r>
            <a:r>
              <a:rPr lang="en-US" dirty="0" err="1"/>
              <a:t>занять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место</a:t>
            </a:r>
            <a:r>
              <a:rPr lang="en-US" dirty="0"/>
              <a:t> в </a:t>
            </a:r>
            <a:r>
              <a:rPr lang="en-US" dirty="0" err="1"/>
              <a:t>буфере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свободного</a:t>
            </a:r>
            <a:r>
              <a:rPr lang="en-US" dirty="0"/>
              <a:t> </a:t>
            </a:r>
            <a:r>
              <a:rPr lang="en-US" dirty="0" err="1"/>
              <a:t>места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, </a:t>
            </a:r>
            <a:r>
              <a:rPr lang="en-US" dirty="0" err="1"/>
              <a:t>производитель</a:t>
            </a:r>
            <a:r>
              <a:rPr lang="en-US" dirty="0"/>
              <a:t> </a:t>
            </a:r>
            <a:r>
              <a:rPr lang="en-US" dirty="0" err="1"/>
              <a:t>блокируется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разрешение</a:t>
            </a:r>
            <a:r>
              <a:rPr lang="en-US" dirty="0"/>
              <a:t> </a:t>
            </a:r>
            <a:r>
              <a:rPr lang="en-US" dirty="0" err="1"/>
              <a:t>получено</a:t>
            </a:r>
            <a:r>
              <a:rPr lang="en-US" dirty="0"/>
              <a:t>,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</a:t>
            </a:r>
            <a:r>
              <a:rPr lang="en-US" dirty="0" err="1"/>
              <a:t>добавляет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в </a:t>
            </a:r>
            <a:r>
              <a:rPr lang="en-US" dirty="0" err="1"/>
              <a:t>очередь</a:t>
            </a:r>
            <a:r>
              <a:rPr lang="en-US" dirty="0"/>
              <a:t> и </a:t>
            </a:r>
            <a:r>
              <a:rPr lang="en-US" dirty="0" err="1"/>
              <a:t>освобождает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full.release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dirty="0" err="1"/>
              <a:t>сообщая</a:t>
            </a:r>
            <a:r>
              <a:rPr lang="en-US" dirty="0"/>
              <a:t> о </a:t>
            </a:r>
            <a:r>
              <a:rPr lang="en-US" dirty="0" err="1"/>
              <a:t>появлении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готового</a:t>
            </a:r>
            <a:r>
              <a:rPr lang="en-US" dirty="0"/>
              <a:t> </a:t>
            </a:r>
            <a:r>
              <a:rPr lang="en-US" dirty="0" err="1"/>
              <a:t>элемента</a:t>
            </a:r>
            <a:r>
              <a:rPr lang="en-US" dirty="0"/>
              <a:t>.</a:t>
            </a:r>
          </a:p>
          <a:p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действует</a:t>
            </a:r>
            <a:r>
              <a:rPr lang="en-US" dirty="0"/>
              <a:t> </a:t>
            </a:r>
            <a:r>
              <a:rPr lang="en-US" dirty="0" err="1"/>
              <a:t>симметрично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full.acquire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ждёт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dirty="0" err="1"/>
              <a:t>доступен</a:t>
            </a:r>
            <a:r>
              <a:rPr lang="en-US" dirty="0"/>
              <a:t>, </a:t>
            </a:r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</a:t>
            </a:r>
            <a:r>
              <a:rPr lang="en-US" dirty="0" err="1"/>
              <a:t>извлекает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и </a:t>
            </a:r>
            <a:r>
              <a:rPr lang="en-US" dirty="0" err="1"/>
              <a:t>освобождает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empty.release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dirty="0" err="1"/>
              <a:t>возвращая</a:t>
            </a:r>
            <a:r>
              <a:rPr lang="en-US" dirty="0"/>
              <a:t> </a:t>
            </a:r>
            <a:r>
              <a:rPr lang="en-US" dirty="0" err="1"/>
              <a:t>разрешение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добавление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элемента</a:t>
            </a:r>
            <a:r>
              <a:rPr lang="en-US" dirty="0"/>
              <a:t>.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различать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 </a:t>
            </a:r>
            <a:r>
              <a:rPr lang="en-US" dirty="0" err="1"/>
              <a:t>механизмов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Семафоры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empty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</a:t>
            </a:r>
            <a:r>
              <a:rPr lang="en-US" dirty="0"/>
              <a:t> </a:t>
            </a:r>
            <a:r>
              <a:rPr lang="en-US" dirty="0" err="1"/>
              <a:t>управляют</a:t>
            </a:r>
            <a:r>
              <a:rPr lang="en-US" dirty="0"/>
              <a:t> </a:t>
            </a:r>
            <a:r>
              <a:rPr lang="en-US" dirty="0" err="1"/>
              <a:t>доступностью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 и </a:t>
            </a:r>
            <a:r>
              <a:rPr lang="en-US" dirty="0" err="1"/>
              <a:t>порядком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взаимное</a:t>
            </a:r>
            <a:r>
              <a:rPr lang="en-US" dirty="0"/>
              <a:t> </a:t>
            </a:r>
            <a:r>
              <a:rPr lang="en-US" dirty="0" err="1"/>
              <a:t>исключение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непосредственном</a:t>
            </a:r>
            <a:r>
              <a:rPr lang="en-US" dirty="0"/>
              <a:t> </a:t>
            </a:r>
            <a:r>
              <a:rPr lang="en-US" dirty="0" err="1"/>
              <a:t>изменении</a:t>
            </a:r>
            <a:r>
              <a:rPr lang="en-US" dirty="0"/>
              <a:t> </a:t>
            </a:r>
            <a:r>
              <a:rPr lang="en-US" dirty="0" err="1"/>
              <a:t>буфера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принципиальный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—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захвата</a:t>
            </a:r>
            <a:r>
              <a:rPr lang="en-US" dirty="0"/>
              <a:t>.</a:t>
            </a:r>
          </a:p>
          <a:p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захватить</a:t>
            </a:r>
            <a:r>
              <a:rPr lang="en-US" dirty="0"/>
              <a:t> mutex,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empty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заблокируется</a:t>
            </a:r>
            <a:r>
              <a:rPr lang="en-US" dirty="0"/>
              <a:t>, </a:t>
            </a:r>
            <a:r>
              <a:rPr lang="en-US" dirty="0" err="1"/>
              <a:t>удерживая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участник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и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условие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пробуждения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разрешения</a:t>
            </a:r>
            <a:r>
              <a:rPr lang="en-US" dirty="0"/>
              <a:t>, а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захватывается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короткое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776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полноценную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семафоры</a:t>
            </a:r>
            <a:r>
              <a:rPr lang="en-US" dirty="0"/>
              <a:t> C++20.</a:t>
            </a:r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используем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кольцевой</a:t>
            </a:r>
            <a:r>
              <a:rPr lang="en-US" dirty="0"/>
              <a:t> </a:t>
            </a:r>
            <a:r>
              <a:rPr lang="en-US" dirty="0" err="1"/>
              <a:t>буфер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и в </a:t>
            </a:r>
            <a:r>
              <a:rPr lang="en-US" dirty="0" err="1"/>
              <a:t>предыдущей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массив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, </a:t>
            </a:r>
            <a:r>
              <a:rPr lang="en-US" dirty="0" err="1"/>
              <a:t>указатели</a:t>
            </a:r>
            <a:r>
              <a:rPr lang="en-US" dirty="0"/>
              <a:t> </a:t>
            </a:r>
            <a:r>
              <a:rPr lang="en-US" dirty="0" err="1"/>
              <a:t>начала</a:t>
            </a:r>
            <a:r>
              <a:rPr lang="en-US" dirty="0"/>
              <a:t> и </a:t>
            </a:r>
            <a:r>
              <a:rPr lang="en-US" dirty="0" err="1"/>
              <a:t>конца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 и </a:t>
            </a:r>
            <a:r>
              <a:rPr lang="en-US" dirty="0" err="1"/>
              <a:t>мьютекс</a:t>
            </a:r>
            <a:r>
              <a:rPr lang="en-US" dirty="0"/>
              <a:t>, </a:t>
            </a:r>
            <a:r>
              <a:rPr lang="en-US" dirty="0" err="1"/>
              <a:t>защищающий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ним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условных</a:t>
            </a:r>
            <a:r>
              <a:rPr lang="en-US" dirty="0"/>
              <a:t> </a:t>
            </a:r>
            <a:r>
              <a:rPr lang="en-US" dirty="0" err="1"/>
              <a:t>переменных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счётных</a:t>
            </a:r>
            <a:r>
              <a:rPr lang="en-US" dirty="0"/>
              <a:t> </a:t>
            </a:r>
            <a:r>
              <a:rPr lang="en-US" dirty="0" err="1"/>
              <a:t>семафора</a:t>
            </a:r>
            <a:r>
              <a:rPr lang="en-US" dirty="0"/>
              <a:t>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empty_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full_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Push()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empty_.acquire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dirty="0" err="1"/>
              <a:t>гарантирует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производитель</a:t>
            </a:r>
            <a:r>
              <a:rPr lang="en-US" dirty="0"/>
              <a:t> </a:t>
            </a:r>
            <a:r>
              <a:rPr lang="en-US" dirty="0" err="1"/>
              <a:t>получил</a:t>
            </a:r>
            <a:r>
              <a:rPr lang="en-US" dirty="0"/>
              <a:t> </a:t>
            </a:r>
            <a:r>
              <a:rPr lang="en-US" dirty="0" err="1"/>
              <a:t>разрешение</a:t>
            </a:r>
            <a:r>
              <a:rPr lang="en-US" dirty="0"/>
              <a:t> </a:t>
            </a:r>
            <a:r>
              <a:rPr lang="en-US" dirty="0" err="1"/>
              <a:t>занять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свободный</a:t>
            </a:r>
            <a:r>
              <a:rPr lang="en-US" dirty="0"/>
              <a:t> </a:t>
            </a:r>
            <a:r>
              <a:rPr lang="en-US" dirty="0" err="1"/>
              <a:t>слот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места</a:t>
            </a:r>
            <a:r>
              <a:rPr lang="en-US" dirty="0"/>
              <a:t> </a:t>
            </a:r>
            <a:r>
              <a:rPr lang="en-US" dirty="0" err="1"/>
              <a:t>заняты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зарезервированы</a:t>
            </a:r>
            <a:r>
              <a:rPr lang="en-US" dirty="0"/>
              <a:t> </a:t>
            </a:r>
            <a:r>
              <a:rPr lang="en-US" dirty="0" err="1"/>
              <a:t>другими</a:t>
            </a:r>
            <a:r>
              <a:rPr lang="en-US" dirty="0"/>
              <a:t> </a:t>
            </a:r>
            <a:r>
              <a:rPr lang="en-US" dirty="0" err="1"/>
              <a:t>производителями</a:t>
            </a:r>
            <a:r>
              <a:rPr lang="en-US" dirty="0"/>
              <a:t>,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захватываем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и </a:t>
            </a:r>
            <a:r>
              <a:rPr lang="en-US" dirty="0" err="1"/>
              <a:t>добавляем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в </a:t>
            </a:r>
            <a:r>
              <a:rPr lang="en-US" dirty="0" err="1"/>
              <a:t>буфер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освобождения</a:t>
            </a:r>
            <a:r>
              <a:rPr lang="en-US" dirty="0"/>
              <a:t> </a:t>
            </a:r>
            <a:r>
              <a:rPr lang="en-US" dirty="0" err="1"/>
              <a:t>мьютекса</a:t>
            </a:r>
            <a:r>
              <a:rPr lang="en-US" dirty="0"/>
              <a:t>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full_.release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разрешение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извлечение</a:t>
            </a:r>
            <a:r>
              <a:rPr lang="en-US" dirty="0"/>
              <a:t> </a:t>
            </a:r>
            <a:r>
              <a:rPr lang="en-US" dirty="0" err="1"/>
              <a:t>элемента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Pop()</a:t>
            </a:r>
            <a:r>
              <a:rPr lang="en-US" dirty="0"/>
              <a:t> </a:t>
            </a:r>
            <a:r>
              <a:rPr lang="en-US" dirty="0" err="1"/>
              <a:t>устроен</a:t>
            </a:r>
            <a:r>
              <a:rPr lang="en-US" dirty="0"/>
              <a:t> </a:t>
            </a:r>
            <a:r>
              <a:rPr lang="en-US" dirty="0" err="1"/>
              <a:t>симметрично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получаем</a:t>
            </a:r>
            <a:r>
              <a:rPr lang="en-US" dirty="0"/>
              <a:t> </a:t>
            </a:r>
            <a:r>
              <a:rPr lang="en-US" dirty="0" err="1"/>
              <a:t>разрешение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full_.acquire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защитой</a:t>
            </a:r>
            <a:r>
              <a:rPr lang="en-US" dirty="0"/>
              <a:t> </a:t>
            </a:r>
            <a:r>
              <a:rPr lang="en-US" dirty="0" err="1"/>
              <a:t>мьютекса</a:t>
            </a:r>
            <a:r>
              <a:rPr lang="en-US" dirty="0"/>
              <a:t> </a:t>
            </a:r>
            <a:r>
              <a:rPr lang="en-US" dirty="0" err="1"/>
              <a:t>извлекаем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и </a:t>
            </a:r>
            <a:r>
              <a:rPr lang="en-US" dirty="0" err="1"/>
              <a:t>перемещаем</a:t>
            </a:r>
            <a:r>
              <a:rPr lang="en-US" dirty="0"/>
              <a:t> </a:t>
            </a:r>
            <a:r>
              <a:rPr lang="en-US" dirty="0" err="1"/>
              <a:t>указатель</a:t>
            </a:r>
            <a:r>
              <a:rPr lang="en-US" dirty="0"/>
              <a:t> </a:t>
            </a:r>
            <a:r>
              <a:rPr lang="en-US" dirty="0" err="1"/>
              <a:t>начала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возвращаем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разрешение</a:t>
            </a:r>
            <a:r>
              <a:rPr lang="en-US" dirty="0"/>
              <a:t> </a:t>
            </a:r>
            <a:r>
              <a:rPr lang="en-US" dirty="0" err="1"/>
              <a:t>семафору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empty_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явно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размера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. </a:t>
            </a:r>
            <a:r>
              <a:rPr lang="en-US" dirty="0" err="1"/>
              <a:t>Наличие</a:t>
            </a:r>
            <a:r>
              <a:rPr lang="en-US" dirty="0"/>
              <a:t> </a:t>
            </a:r>
            <a:r>
              <a:rPr lang="en-US" dirty="0" err="1"/>
              <a:t>свободных</a:t>
            </a:r>
            <a:r>
              <a:rPr lang="en-US" dirty="0"/>
              <a:t> </a:t>
            </a:r>
            <a:r>
              <a:rPr lang="en-US" dirty="0" err="1"/>
              <a:t>мест</a:t>
            </a:r>
            <a:r>
              <a:rPr lang="en-US" dirty="0"/>
              <a:t> и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 </a:t>
            </a:r>
            <a:r>
              <a:rPr lang="en-US" dirty="0" err="1"/>
              <a:t>учитывается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семафоры</a:t>
            </a:r>
            <a:r>
              <a:rPr lang="en-US" dirty="0"/>
              <a:t> и </a:t>
            </a:r>
            <a:r>
              <a:rPr lang="en-US" dirty="0" err="1"/>
              <a:t>выполняющиеся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интересная</a:t>
            </a:r>
            <a:r>
              <a:rPr lang="en-US" dirty="0"/>
              <a:t> </a:t>
            </a:r>
            <a:r>
              <a:rPr lang="en-US" dirty="0" err="1"/>
              <a:t>особенность</a:t>
            </a:r>
            <a:r>
              <a:rPr lang="en-US" dirty="0"/>
              <a:t>: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производители</a:t>
            </a:r>
            <a:r>
              <a:rPr lang="en-US" dirty="0"/>
              <a:t> и </a:t>
            </a:r>
            <a:r>
              <a:rPr lang="en-US" dirty="0" err="1"/>
              <a:t>потребители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 </a:t>
            </a:r>
            <a:r>
              <a:rPr lang="en-US" dirty="0" err="1"/>
              <a:t>разрешения</a:t>
            </a:r>
            <a:r>
              <a:rPr lang="en-US" dirty="0"/>
              <a:t>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непосредственное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буфера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защитой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мьютекса</a:t>
            </a:r>
            <a:r>
              <a:rPr lang="en-US" dirty="0"/>
              <a:t>.</a:t>
            </a:r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решили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удобен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выражаются</a:t>
            </a:r>
            <a:r>
              <a:rPr lang="en-US" dirty="0"/>
              <a:t> </a:t>
            </a:r>
            <a:r>
              <a:rPr lang="en-US" dirty="0" err="1"/>
              <a:t>количеством</a:t>
            </a:r>
            <a:r>
              <a:rPr lang="en-US" dirty="0"/>
              <a:t> </a:t>
            </a:r>
            <a:r>
              <a:rPr lang="en-US" dirty="0" err="1"/>
              <a:t>доступных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Замечание</a:t>
            </a:r>
            <a:r>
              <a:rPr lang="en-US" dirty="0"/>
              <a:t>: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фиксированный</a:t>
            </a:r>
            <a:r>
              <a:rPr lang="en-US" dirty="0"/>
              <a:t> </a:t>
            </a:r>
            <a:r>
              <a:rPr lang="en-US" dirty="0" err="1"/>
              <a:t>массив</a:t>
            </a:r>
            <a:r>
              <a:rPr lang="en-US" dirty="0"/>
              <a:t> </a:t>
            </a:r>
            <a:r>
              <a:rPr lang="en-US" dirty="0" err="1"/>
              <a:t>целых</a:t>
            </a:r>
            <a:r>
              <a:rPr lang="en-US" dirty="0"/>
              <a:t> </a:t>
            </a:r>
            <a:r>
              <a:rPr lang="en-US" dirty="0" err="1"/>
              <a:t>чисел</a:t>
            </a:r>
            <a:r>
              <a:rPr lang="en-US" dirty="0"/>
              <a:t>. Это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отвлекаться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исключения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выделении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произвольных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дополнительно</a:t>
            </a:r>
            <a:r>
              <a:rPr lang="en-US" dirty="0"/>
              <a:t> </a:t>
            </a:r>
            <a:r>
              <a:rPr lang="en-US" dirty="0" err="1"/>
              <a:t>продумать</a:t>
            </a:r>
            <a:r>
              <a:rPr lang="en-US" dirty="0"/>
              <a:t> </a:t>
            </a:r>
            <a:r>
              <a:rPr lang="en-US" dirty="0" err="1"/>
              <a:t>обработку</a:t>
            </a:r>
            <a:r>
              <a:rPr lang="en-US" dirty="0"/>
              <a:t> </a:t>
            </a:r>
            <a:r>
              <a:rPr lang="en-US" dirty="0" err="1"/>
              <a:t>ошибок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успешного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acquire()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потерять</a:t>
            </a:r>
            <a:r>
              <a:rPr lang="en-US" dirty="0"/>
              <a:t> </a:t>
            </a:r>
            <a:r>
              <a:rPr lang="en-US" dirty="0" err="1"/>
              <a:t>зарезервированное</a:t>
            </a:r>
            <a:r>
              <a:rPr lang="en-US" dirty="0"/>
              <a:t> </a:t>
            </a:r>
            <a:r>
              <a:rPr lang="en-US" dirty="0" err="1"/>
              <a:t>разрешение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963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рассмотрели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и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сравним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первом</a:t>
            </a:r>
            <a:r>
              <a:rPr lang="en-US" dirty="0"/>
              <a:t> </a:t>
            </a:r>
            <a:r>
              <a:rPr lang="en-US" dirty="0" err="1"/>
              <a:t>варианте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использовали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и </a:t>
            </a:r>
            <a:r>
              <a:rPr lang="en-US" dirty="0" err="1"/>
              <a:t>условные</a:t>
            </a:r>
            <a:r>
              <a:rPr lang="en-US" dirty="0"/>
              <a:t> </a:t>
            </a:r>
            <a:r>
              <a:rPr lang="en-US" dirty="0" err="1"/>
              <a:t>переменные</a:t>
            </a:r>
            <a:r>
              <a:rPr lang="en-US" dirty="0"/>
              <a:t>.</a:t>
            </a:r>
          </a:p>
          <a:p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хранилось</a:t>
            </a:r>
            <a:r>
              <a:rPr lang="en-US" dirty="0"/>
              <a:t> в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собственных</a:t>
            </a:r>
            <a:r>
              <a:rPr lang="en-US" dirty="0"/>
              <a:t> </a:t>
            </a:r>
            <a:r>
              <a:rPr lang="en-US" dirty="0" err="1"/>
              <a:t>полях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, в </a:t>
            </a:r>
            <a:r>
              <a:rPr lang="en-US" dirty="0" err="1"/>
              <a:t>счётчике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size_</a:t>
            </a:r>
            <a:r>
              <a:rPr lang="en-US" dirty="0"/>
              <a:t>.</a:t>
            </a:r>
          </a:p>
          <a:p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ожидал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size_ &gt; 0</a:t>
            </a:r>
            <a:r>
              <a:rPr lang="en-US" dirty="0"/>
              <a:t>, а </a:t>
            </a:r>
            <a:r>
              <a:rPr lang="en-US" dirty="0" err="1"/>
              <a:t>производитель</a:t>
            </a:r>
            <a:r>
              <a:rPr lang="en-US" dirty="0"/>
              <a:t> — </a:t>
            </a:r>
            <a:r>
              <a:rPr lang="en-US" dirty="0" err="1"/>
              <a:t>условия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size_ &lt; N</a:t>
            </a:r>
            <a:r>
              <a:rPr lang="en-US" dirty="0"/>
              <a:t>.</a:t>
            </a:r>
          </a:p>
          <a:p>
            <a:r>
              <a:rPr lang="en-US" dirty="0" err="1"/>
              <a:t>Условная</a:t>
            </a:r>
            <a:r>
              <a:rPr lang="en-US" dirty="0"/>
              <a:t> </a:t>
            </a:r>
            <a:r>
              <a:rPr lang="en-US" dirty="0" err="1"/>
              <a:t>переменная</a:t>
            </a:r>
            <a:r>
              <a:rPr lang="en-US" dirty="0"/>
              <a:t> </a:t>
            </a:r>
            <a:r>
              <a:rPr lang="en-US" dirty="0" err="1"/>
              <a:t>позволяла</a:t>
            </a:r>
            <a:r>
              <a:rPr lang="en-US" dirty="0"/>
              <a:t> </a:t>
            </a:r>
            <a:r>
              <a:rPr lang="en-US" dirty="0" err="1"/>
              <a:t>приостановить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изменится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втором</a:t>
            </a:r>
            <a:r>
              <a:rPr lang="en-US" dirty="0"/>
              <a:t> </a:t>
            </a:r>
            <a:r>
              <a:rPr lang="en-US" dirty="0" err="1"/>
              <a:t>варианте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использовали</a:t>
            </a:r>
            <a:r>
              <a:rPr lang="en-US" dirty="0"/>
              <a:t> </a:t>
            </a:r>
            <a:r>
              <a:rPr lang="en-US" dirty="0" err="1"/>
              <a:t>семафоры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извлечь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dirty="0" err="1"/>
              <a:t>определялась</a:t>
            </a:r>
            <a:r>
              <a:rPr lang="en-US" dirty="0"/>
              <a:t> </a:t>
            </a:r>
            <a:r>
              <a:rPr lang="en-US" dirty="0" err="1"/>
              <a:t>наличием</a:t>
            </a:r>
            <a:r>
              <a:rPr lang="en-US" dirty="0"/>
              <a:t> </a:t>
            </a:r>
            <a:r>
              <a:rPr lang="en-US" dirty="0" err="1"/>
              <a:t>соответствующего</a:t>
            </a:r>
            <a:r>
              <a:rPr lang="en-US" dirty="0"/>
              <a:t> </a:t>
            </a:r>
            <a:r>
              <a:rPr lang="en-US" dirty="0" err="1"/>
              <a:t>разрешения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Главное</a:t>
            </a:r>
            <a:r>
              <a:rPr lang="en-US" dirty="0"/>
              <a:t> </a:t>
            </a:r>
            <a:r>
              <a:rPr lang="en-US" dirty="0" err="1"/>
              <a:t>различие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хранится</a:t>
            </a:r>
            <a:r>
              <a:rPr lang="en-US" dirty="0"/>
              <a:t> </a:t>
            </a:r>
            <a:r>
              <a:rPr lang="en-US" dirty="0" err="1"/>
              <a:t>информация</a:t>
            </a:r>
            <a:r>
              <a:rPr lang="en-US" dirty="0"/>
              <a:t>, </a:t>
            </a:r>
            <a:r>
              <a:rPr lang="en-US" dirty="0" err="1"/>
              <a:t>необходимая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продолжения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Условная</a:t>
            </a:r>
            <a:r>
              <a:rPr lang="en-US" dirty="0"/>
              <a:t> </a:t>
            </a:r>
            <a:r>
              <a:rPr lang="en-US" dirty="0" err="1"/>
              <a:t>переменная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собственного</a:t>
            </a:r>
            <a:r>
              <a:rPr lang="en-US" dirty="0"/>
              <a:t> </a:t>
            </a:r>
            <a:r>
              <a:rPr lang="en-US" dirty="0" err="1"/>
              <a:t>счётчика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вызвать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notify_one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никто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,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уведомление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сохранится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построенного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: </a:t>
            </a:r>
            <a:r>
              <a:rPr lang="en-US" dirty="0" err="1"/>
              <a:t>нужное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хранится</a:t>
            </a:r>
            <a:r>
              <a:rPr lang="en-US" dirty="0"/>
              <a:t> в </a:t>
            </a:r>
            <a:r>
              <a:rPr lang="en-US" dirty="0" err="1"/>
              <a:t>данных</a:t>
            </a:r>
            <a:r>
              <a:rPr lang="en-US" dirty="0"/>
              <a:t>, </a:t>
            </a:r>
            <a:r>
              <a:rPr lang="en-US" dirty="0" err="1"/>
              <a:t>защищённых</a:t>
            </a:r>
            <a:r>
              <a:rPr lang="en-US" dirty="0"/>
              <a:t> </a:t>
            </a:r>
            <a:r>
              <a:rPr lang="en-US" dirty="0" err="1"/>
              <a:t>мьютексом</a:t>
            </a:r>
            <a:r>
              <a:rPr lang="en-US" dirty="0"/>
              <a:t>, и </a:t>
            </a:r>
            <a:r>
              <a:rPr lang="en-US" dirty="0" err="1"/>
              <a:t>проверяется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входе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wait()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Семафор</a:t>
            </a:r>
            <a:r>
              <a:rPr lang="en-US" dirty="0"/>
              <a:t>, </a:t>
            </a:r>
            <a:r>
              <a:rPr lang="en-US" dirty="0" err="1"/>
              <a:t>наоборот</a:t>
            </a:r>
            <a:r>
              <a:rPr lang="en-US" dirty="0"/>
              <a:t>,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внутренний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разрешений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вызвать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release()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выполнит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acquire()</a:t>
            </a:r>
            <a:r>
              <a:rPr lang="en-US" dirty="0"/>
              <a:t>, </a:t>
            </a:r>
            <a:r>
              <a:rPr lang="en-US" dirty="0" err="1"/>
              <a:t>разрешение</a:t>
            </a:r>
            <a:r>
              <a:rPr lang="en-US" dirty="0"/>
              <a:t> </a:t>
            </a:r>
            <a:r>
              <a:rPr lang="en-US" dirty="0" err="1"/>
              <a:t>останется</a:t>
            </a:r>
            <a:r>
              <a:rPr lang="en-US" dirty="0"/>
              <a:t> </a:t>
            </a:r>
            <a:r>
              <a:rPr lang="en-US" dirty="0" err="1"/>
              <a:t>доступным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последующего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r>
              <a:rPr lang="en-US" dirty="0"/>
              <a:t> — в </a:t>
            </a:r>
            <a:r>
              <a:rPr lang="en-US" dirty="0" err="1"/>
              <a:t>пределах</a:t>
            </a:r>
            <a:r>
              <a:rPr lang="en-US" dirty="0"/>
              <a:t> </a:t>
            </a:r>
            <a:r>
              <a:rPr lang="en-US" dirty="0" err="1"/>
              <a:t>допустимого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семафора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?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сложного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полей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,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удобнее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condition_variable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выражается</a:t>
            </a:r>
            <a:r>
              <a:rPr lang="en-US" dirty="0"/>
              <a:t> </a:t>
            </a:r>
            <a:r>
              <a:rPr lang="en-US" dirty="0" err="1"/>
              <a:t>подсчётом</a:t>
            </a:r>
            <a:r>
              <a:rPr lang="en-US" dirty="0"/>
              <a:t> </a:t>
            </a:r>
            <a:r>
              <a:rPr lang="en-US" dirty="0" err="1"/>
              <a:t>доступных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, </a:t>
            </a:r>
            <a:r>
              <a:rPr lang="en-US" dirty="0" err="1"/>
              <a:t>семафор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ru-RU" dirty="0"/>
              <a:t>Подчеркну</a:t>
            </a:r>
            <a:r>
              <a:rPr lang="en-US" dirty="0"/>
              <a:t>: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применяться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по-разному</a:t>
            </a:r>
            <a:r>
              <a:rPr lang="en-US" dirty="0"/>
              <a:t> </a:t>
            </a:r>
            <a:r>
              <a:rPr lang="en-US" dirty="0" err="1"/>
              <a:t>выражают</a:t>
            </a:r>
            <a:r>
              <a:rPr lang="en-US" dirty="0"/>
              <a:t> </a:t>
            </a:r>
            <a:r>
              <a:rPr lang="en-US" dirty="0" err="1"/>
              <a:t>протокол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закончили</a:t>
            </a:r>
            <a:r>
              <a:rPr lang="en-US" dirty="0"/>
              <a:t> </a:t>
            </a:r>
            <a:r>
              <a:rPr lang="en-US" dirty="0" err="1"/>
              <a:t>рассматривать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</a:t>
            </a:r>
            <a:r>
              <a:rPr lang="en-US" dirty="0" err="1"/>
              <a:t>производителей</a:t>
            </a:r>
            <a:r>
              <a:rPr lang="en-US" dirty="0"/>
              <a:t> и </a:t>
            </a:r>
            <a:r>
              <a:rPr lang="en-US" dirty="0" err="1"/>
              <a:t>потребителей</a:t>
            </a:r>
            <a:r>
              <a:rPr lang="en-US" dirty="0"/>
              <a:t>.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перейдём</a:t>
            </a:r>
            <a:r>
              <a:rPr lang="en-US" dirty="0"/>
              <a:t> к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классической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потребуется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заполнения</a:t>
            </a:r>
            <a:r>
              <a:rPr lang="en-US" dirty="0"/>
              <a:t> </a:t>
            </a:r>
            <a:r>
              <a:rPr lang="en-US" dirty="0" err="1"/>
              <a:t>буфера</a:t>
            </a:r>
            <a:r>
              <a:rPr lang="en-US" dirty="0"/>
              <a:t>, а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одновременного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 </a:t>
            </a:r>
            <a:r>
              <a:rPr lang="en-US" dirty="0" err="1"/>
              <a:t>общих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0482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вторую</a:t>
            </a:r>
            <a:r>
              <a:rPr lang="en-US" dirty="0"/>
              <a:t> </a:t>
            </a:r>
            <a:r>
              <a:rPr lang="en-US" dirty="0" err="1"/>
              <a:t>классическую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— Readers–Writers, </a:t>
            </a:r>
            <a:r>
              <a:rPr lang="en-US" dirty="0" err="1"/>
              <a:t>или</a:t>
            </a:r>
            <a:r>
              <a:rPr lang="en-US" dirty="0"/>
              <a:t> «</a:t>
            </a:r>
            <a:r>
              <a:rPr lang="en-US" dirty="0" err="1"/>
              <a:t>Читатели</a:t>
            </a:r>
            <a:r>
              <a:rPr lang="en-US" dirty="0"/>
              <a:t>–</a:t>
            </a:r>
            <a:r>
              <a:rPr lang="en-US" dirty="0" err="1"/>
              <a:t>писатели</a:t>
            </a:r>
            <a:r>
              <a:rPr lang="en-US" dirty="0"/>
              <a:t>».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5007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Представьте</a:t>
            </a:r>
            <a:r>
              <a:rPr lang="en-US" dirty="0"/>
              <a:t> </a:t>
            </a:r>
            <a:r>
              <a:rPr lang="en-US" dirty="0" err="1"/>
              <a:t>сервер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некоторую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конфигурацию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Большинство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читают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: </a:t>
            </a:r>
            <a:r>
              <a:rPr lang="en-US" dirty="0" err="1"/>
              <a:t>получают</a:t>
            </a:r>
            <a:r>
              <a:rPr lang="en-US" dirty="0"/>
              <a:t> </a:t>
            </a:r>
            <a:r>
              <a:rPr lang="en-US" dirty="0" err="1"/>
              <a:t>параметры</a:t>
            </a:r>
            <a:r>
              <a:rPr lang="en-US" dirty="0"/>
              <a:t> </a:t>
            </a:r>
            <a:r>
              <a:rPr lang="en-US" dirty="0" err="1"/>
              <a:t>подключения</a:t>
            </a:r>
            <a:r>
              <a:rPr lang="en-US" dirty="0"/>
              <a:t>, </a:t>
            </a:r>
            <a:r>
              <a:rPr lang="en-US" dirty="0" err="1"/>
              <a:t>настройки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обновить</a:t>
            </a:r>
            <a:r>
              <a:rPr lang="en-US" dirty="0"/>
              <a:t> </a:t>
            </a:r>
            <a:r>
              <a:rPr lang="en-US" dirty="0" err="1"/>
              <a:t>конфигурацию</a:t>
            </a:r>
            <a:r>
              <a:rPr lang="en-US" dirty="0"/>
              <a:t>.</a:t>
            </a:r>
          </a:p>
          <a:p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защищать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обращения</a:t>
            </a:r>
            <a:r>
              <a:rPr lang="en-US" dirty="0"/>
              <a:t> к </a:t>
            </a:r>
            <a:r>
              <a:rPr lang="en-US" dirty="0" err="1"/>
              <a:t>конфигурации</a:t>
            </a:r>
            <a:r>
              <a:rPr lang="en-US" dirty="0"/>
              <a:t> </a:t>
            </a:r>
            <a:r>
              <a:rPr lang="en-US" dirty="0" err="1"/>
              <a:t>обычным</a:t>
            </a:r>
            <a:r>
              <a:rPr lang="en-US" dirty="0"/>
              <a:t> </a:t>
            </a:r>
            <a:r>
              <a:rPr lang="en-US" dirty="0" err="1"/>
              <a:t>мьютексом</a:t>
            </a:r>
            <a:r>
              <a:rPr lang="en-US" dirty="0"/>
              <a:t>?</a:t>
            </a:r>
            <a:endParaRPr lang="ru-RU" dirty="0"/>
          </a:p>
          <a:p>
            <a:r>
              <a:rPr lang="en-US" dirty="0" err="1"/>
              <a:t>Конечно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соблюдают</a:t>
            </a:r>
            <a:r>
              <a:rPr lang="en-US" dirty="0"/>
              <a:t> </a:t>
            </a:r>
            <a:r>
              <a:rPr lang="en-US" dirty="0" err="1"/>
              <a:t>протокол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блокировка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двум</a:t>
            </a:r>
            <a:r>
              <a:rPr lang="en-US" dirty="0"/>
              <a:t> </a:t>
            </a:r>
            <a:r>
              <a:rPr lang="en-US" dirty="0" err="1"/>
              <a:t>потокам</a:t>
            </a:r>
            <a:r>
              <a:rPr lang="en-US" dirty="0"/>
              <a:t> </a:t>
            </a:r>
            <a:r>
              <a:rPr lang="en-US" dirty="0" err="1"/>
              <a:t>читать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ведь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изменяются</a:t>
            </a:r>
            <a:r>
              <a:rPr lang="en-US" dirty="0"/>
              <a:t>,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читать</a:t>
            </a:r>
            <a:r>
              <a:rPr lang="en-US" dirty="0"/>
              <a:t> </a:t>
            </a:r>
            <a:r>
              <a:rPr lang="en-US" dirty="0" err="1"/>
              <a:t>параллельно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вводится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политика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.</a:t>
            </a:r>
          </a:p>
          <a:p>
            <a:r>
              <a:rPr lang="en-US" dirty="0" err="1"/>
              <a:t>Нескольким</a:t>
            </a:r>
            <a:r>
              <a:rPr lang="en-US" dirty="0"/>
              <a:t> </a:t>
            </a:r>
            <a:r>
              <a:rPr lang="en-US" dirty="0" err="1"/>
              <a:t>читателям</a:t>
            </a:r>
            <a:r>
              <a:rPr lang="en-US" dirty="0"/>
              <a:t> </a:t>
            </a:r>
            <a:r>
              <a:rPr lang="en-US" dirty="0" err="1"/>
              <a:t>разрешается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ресурсом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писатель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исключительный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изменяет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читатель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писатель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обращаться</a:t>
            </a:r>
            <a:r>
              <a:rPr lang="en-US" dirty="0"/>
              <a:t> к </a:t>
            </a:r>
            <a:r>
              <a:rPr lang="en-US" dirty="0" err="1"/>
              <a:t>защищаемому</a:t>
            </a:r>
            <a:r>
              <a:rPr lang="en-US" dirty="0"/>
              <a:t> </a:t>
            </a:r>
            <a:r>
              <a:rPr lang="en-US" dirty="0" err="1"/>
              <a:t>состоянию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чтением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внешне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Read()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незаметно</a:t>
            </a:r>
            <a:r>
              <a:rPr lang="en-US" dirty="0"/>
              <a:t> </a:t>
            </a:r>
            <a:r>
              <a:rPr lang="en-US" dirty="0" err="1"/>
              <a:t>изменяет</a:t>
            </a:r>
            <a:r>
              <a:rPr lang="en-US" dirty="0"/>
              <a:t> </a:t>
            </a:r>
            <a:r>
              <a:rPr lang="en-US" dirty="0" err="1"/>
              <a:t>внутренний</a:t>
            </a:r>
            <a:r>
              <a:rPr lang="en-US" dirty="0"/>
              <a:t> </a:t>
            </a:r>
            <a:r>
              <a:rPr lang="en-US" dirty="0" err="1"/>
              <a:t>кэш</a:t>
            </a:r>
            <a:r>
              <a:rPr lang="en-US" dirty="0"/>
              <a:t>,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дополнительной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Задача</a:t>
            </a:r>
            <a:r>
              <a:rPr lang="en-US" dirty="0"/>
              <a:t> Readers–Writers </a:t>
            </a:r>
            <a:r>
              <a:rPr lang="en-US" dirty="0" err="1"/>
              <a:t>отличается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Producer–Consumer.</a:t>
            </a:r>
          </a:p>
          <a:p>
            <a:r>
              <a:rPr lang="en-US" dirty="0"/>
              <a:t>В </a:t>
            </a:r>
            <a:r>
              <a:rPr lang="en-US" dirty="0" err="1"/>
              <a:t>первой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координировали</a:t>
            </a:r>
            <a:r>
              <a:rPr lang="en-US" dirty="0"/>
              <a:t> </a:t>
            </a:r>
            <a:r>
              <a:rPr lang="en-US" dirty="0" err="1"/>
              <a:t>производство</a:t>
            </a:r>
            <a:r>
              <a:rPr lang="en-US" dirty="0"/>
              <a:t> и </a:t>
            </a:r>
            <a:r>
              <a:rPr lang="en-US" dirty="0" err="1"/>
              <a:t>потребление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.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управляем</a:t>
            </a:r>
            <a:r>
              <a:rPr lang="en-US" dirty="0"/>
              <a:t> </a:t>
            </a:r>
            <a:r>
              <a:rPr lang="en-US" dirty="0" err="1"/>
              <a:t>разными</a:t>
            </a:r>
            <a:r>
              <a:rPr lang="en-US" dirty="0"/>
              <a:t> </a:t>
            </a:r>
            <a:r>
              <a:rPr lang="en-US" dirty="0" err="1"/>
              <a:t>режимами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к </a:t>
            </a:r>
            <a:r>
              <a:rPr lang="en-US" dirty="0" err="1"/>
              <a:t>одним</a:t>
            </a:r>
            <a:r>
              <a:rPr lang="en-US" dirty="0"/>
              <a:t> и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данным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такую</a:t>
            </a:r>
            <a:r>
              <a:rPr lang="en-US" dirty="0"/>
              <a:t> </a:t>
            </a:r>
            <a:r>
              <a:rPr lang="en-US" dirty="0" err="1"/>
              <a:t>политику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известных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семафоров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41295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Readers–Writers </a:t>
            </a:r>
            <a:r>
              <a:rPr lang="en-US" dirty="0" err="1"/>
              <a:t>самостоятельно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понадобятся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бинарных</a:t>
            </a:r>
            <a:r>
              <a:rPr lang="en-US" dirty="0"/>
              <a:t> </a:t>
            </a:r>
            <a:r>
              <a:rPr lang="en-US" dirty="0" err="1"/>
              <a:t>семафора</a:t>
            </a:r>
            <a:r>
              <a:rPr lang="en-US" dirty="0"/>
              <a:t> и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семафор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countMutex</a:t>
            </a:r>
            <a:r>
              <a:rPr lang="en-US" dirty="0"/>
              <a:t>, </a:t>
            </a:r>
            <a:r>
              <a:rPr lang="en-US" dirty="0" err="1"/>
              <a:t>защищает</a:t>
            </a:r>
            <a:r>
              <a:rPr lang="en-US" dirty="0"/>
              <a:t> </a:t>
            </a:r>
            <a:r>
              <a:rPr lang="en-US" dirty="0" err="1"/>
              <a:t>переменную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readers</a:t>
            </a:r>
            <a:r>
              <a:rPr lang="en-US" dirty="0"/>
              <a:t>, в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хранится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активных</a:t>
            </a:r>
            <a:r>
              <a:rPr lang="en-US" dirty="0"/>
              <a:t> </a:t>
            </a:r>
            <a:r>
              <a:rPr lang="en-US" dirty="0" err="1"/>
              <a:t>читателей</a:t>
            </a:r>
            <a:r>
              <a:rPr lang="en-US" dirty="0"/>
              <a:t>.</a:t>
            </a:r>
          </a:p>
          <a:p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семафор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resource</a:t>
            </a:r>
            <a:r>
              <a:rPr lang="en-US" dirty="0"/>
              <a:t>, </a:t>
            </a:r>
            <a:r>
              <a:rPr lang="en-US" dirty="0" err="1"/>
              <a:t>защищает</a:t>
            </a:r>
            <a:r>
              <a:rPr lang="en-US" dirty="0"/>
              <a:t> </a:t>
            </a:r>
            <a:r>
              <a:rPr lang="en-US" dirty="0" err="1"/>
              <a:t>саму</a:t>
            </a:r>
            <a:r>
              <a:rPr lang="en-US" dirty="0"/>
              <a:t> </a:t>
            </a:r>
            <a:r>
              <a:rPr lang="en-US" dirty="0" err="1"/>
              <a:t>разделяемую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Изначально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resource</a:t>
            </a:r>
            <a:r>
              <a:rPr lang="en-US" dirty="0"/>
              <a:t> </a:t>
            </a:r>
            <a:r>
              <a:rPr lang="en-US" dirty="0" err="1"/>
              <a:t>равен</a:t>
            </a:r>
            <a:r>
              <a:rPr lang="en-US" dirty="0"/>
              <a:t> </a:t>
            </a:r>
            <a:r>
              <a:rPr lang="en-US" dirty="0" err="1"/>
              <a:t>единице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ресурсу</a:t>
            </a:r>
            <a:r>
              <a:rPr lang="en-US" dirty="0"/>
              <a:t> </a:t>
            </a:r>
            <a:r>
              <a:rPr lang="en-US" dirty="0" err="1"/>
              <a:t>свободен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читателя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countMutex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безопасно</a:t>
            </a:r>
            <a:r>
              <a:rPr lang="en-US" dirty="0"/>
              <a:t> </a:t>
            </a:r>
            <a:r>
              <a:rPr lang="en-US" dirty="0" err="1"/>
              <a:t>увеличить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читателей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увеличения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стал</a:t>
            </a:r>
            <a:r>
              <a:rPr lang="en-US" dirty="0"/>
              <a:t> </a:t>
            </a:r>
            <a:r>
              <a:rPr lang="en-US" dirty="0" err="1"/>
              <a:t>равен</a:t>
            </a:r>
            <a:r>
              <a:rPr lang="en-US" dirty="0"/>
              <a:t> </a:t>
            </a:r>
            <a:r>
              <a:rPr lang="en-US" dirty="0" err="1"/>
              <a:t>единице</a:t>
            </a:r>
            <a:r>
              <a:rPr lang="en-US" dirty="0"/>
              <a:t>, </a:t>
            </a:r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активный</a:t>
            </a:r>
            <a:r>
              <a:rPr lang="en-US" dirty="0"/>
              <a:t> </a:t>
            </a:r>
            <a:r>
              <a:rPr lang="en-US" dirty="0" err="1"/>
              <a:t>читатель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читатель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down(resource)</a:t>
            </a:r>
            <a:r>
              <a:rPr lang="en-US" dirty="0"/>
              <a:t>, </a:t>
            </a:r>
            <a:r>
              <a:rPr lang="en-US" dirty="0" err="1"/>
              <a:t>запрещая</a:t>
            </a:r>
            <a:r>
              <a:rPr lang="en-US" dirty="0"/>
              <a:t> </a:t>
            </a:r>
            <a:r>
              <a:rPr lang="en-US" dirty="0" err="1"/>
              <a:t>писателям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данным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освобождается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countMutex</a:t>
            </a:r>
            <a:r>
              <a:rPr lang="en-US" dirty="0"/>
              <a:t>, и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чтение</a:t>
            </a:r>
            <a:r>
              <a:rPr lang="en-US" dirty="0"/>
              <a:t>.</a:t>
            </a:r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в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читатель</a:t>
            </a:r>
            <a:r>
              <a:rPr lang="en-US" dirty="0"/>
              <a:t>?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увеличит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, </a:t>
            </a:r>
            <a:r>
              <a:rPr lang="en-US" dirty="0" err="1"/>
              <a:t>повторно</a:t>
            </a:r>
            <a:r>
              <a:rPr lang="en-US" dirty="0"/>
              <a:t> </a:t>
            </a:r>
            <a:r>
              <a:rPr lang="en-US" dirty="0" err="1"/>
              <a:t>захватывать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resource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потребуется</a:t>
            </a:r>
            <a:r>
              <a:rPr lang="en-US" dirty="0"/>
              <a:t>.</a:t>
            </a:r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читателя</a:t>
            </a:r>
            <a:r>
              <a:rPr lang="en-US" dirty="0"/>
              <a:t> </a:t>
            </a:r>
            <a:r>
              <a:rPr lang="en-US" dirty="0" err="1"/>
              <a:t>смогут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читатель</a:t>
            </a:r>
            <a:r>
              <a:rPr lang="en-US" dirty="0"/>
              <a:t> </a:t>
            </a:r>
            <a:r>
              <a:rPr lang="en-US" dirty="0" err="1"/>
              <a:t>завершает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уменьшает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уменьшения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равен</a:t>
            </a:r>
            <a:r>
              <a:rPr lang="en-US" dirty="0"/>
              <a:t> </a:t>
            </a:r>
            <a:r>
              <a:rPr lang="en-US" dirty="0" err="1"/>
              <a:t>нулю</a:t>
            </a:r>
            <a:r>
              <a:rPr lang="en-US" dirty="0"/>
              <a:t>, </a:t>
            </a:r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последний</a:t>
            </a:r>
            <a:r>
              <a:rPr lang="en-US" dirty="0"/>
              <a:t> </a:t>
            </a:r>
            <a:r>
              <a:rPr lang="en-US" dirty="0" err="1"/>
              <a:t>читатель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освобождает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resource</a:t>
            </a:r>
            <a:r>
              <a:rPr lang="en-US" dirty="0"/>
              <a:t>, </a:t>
            </a:r>
            <a:r>
              <a:rPr lang="en-US" dirty="0" err="1"/>
              <a:t>позволяя</a:t>
            </a:r>
            <a:r>
              <a:rPr lang="en-US" dirty="0"/>
              <a:t> </a:t>
            </a:r>
            <a:r>
              <a:rPr lang="en-US" dirty="0" err="1"/>
              <a:t>писателю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Писатель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гораздо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.</a:t>
            </a:r>
          </a:p>
          <a:p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изменением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resource</a:t>
            </a:r>
            <a:r>
              <a:rPr lang="en-US" dirty="0"/>
              <a:t>, а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 — </a:t>
            </a:r>
            <a:r>
              <a:rPr lang="en-US" dirty="0" err="1"/>
              <a:t>освобождает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интересную</a:t>
            </a:r>
            <a:r>
              <a:rPr lang="en-US" dirty="0"/>
              <a:t> </a:t>
            </a:r>
            <a:r>
              <a:rPr lang="en-US" dirty="0" err="1"/>
              <a:t>особенность</a:t>
            </a:r>
            <a:r>
              <a:rPr lang="en-US" dirty="0"/>
              <a:t>: </a:t>
            </a:r>
            <a:r>
              <a:rPr lang="en-US" dirty="0" err="1"/>
              <a:t>семафор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resource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захвачен</a:t>
            </a:r>
            <a:r>
              <a:rPr lang="en-US" dirty="0"/>
              <a:t> </a:t>
            </a:r>
            <a:r>
              <a:rPr lang="en-US" dirty="0" err="1"/>
              <a:t>первым</a:t>
            </a:r>
            <a:r>
              <a:rPr lang="en-US" dirty="0"/>
              <a:t> </a:t>
            </a:r>
            <a:r>
              <a:rPr lang="en-US" dirty="0" err="1"/>
              <a:t>читателем</a:t>
            </a:r>
            <a:r>
              <a:rPr lang="en-US" dirty="0"/>
              <a:t>, а </a:t>
            </a:r>
            <a:r>
              <a:rPr lang="en-US" dirty="0" err="1"/>
              <a:t>освобождён</a:t>
            </a:r>
            <a:r>
              <a:rPr lang="en-US" dirty="0"/>
              <a:t> </a:t>
            </a:r>
            <a:r>
              <a:rPr lang="en-US" dirty="0" err="1"/>
              <a:t>последним</a:t>
            </a:r>
            <a:r>
              <a:rPr lang="en-US" dirty="0"/>
              <a:t>. Это </a:t>
            </a:r>
            <a:r>
              <a:rPr lang="en-US" dirty="0" err="1"/>
              <a:t>допустимо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семафор</a:t>
            </a:r>
            <a:r>
              <a:rPr lang="en-US" dirty="0"/>
              <a:t>, 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мьютекса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привязки</a:t>
            </a:r>
            <a:r>
              <a:rPr lang="en-US" dirty="0"/>
              <a:t> к </a:t>
            </a:r>
            <a:r>
              <a:rPr lang="en-US" dirty="0" err="1"/>
              <a:t>потоку-владельцу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Итак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построили</a:t>
            </a:r>
            <a:r>
              <a:rPr lang="en-US" dirty="0"/>
              <a:t> Reader–Writer Lock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простых</a:t>
            </a:r>
            <a:r>
              <a:rPr lang="en-US" dirty="0"/>
              <a:t> </a:t>
            </a:r>
            <a:r>
              <a:rPr lang="en-US" dirty="0" err="1"/>
              <a:t>механизмов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у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серьёзный</a:t>
            </a:r>
            <a:r>
              <a:rPr lang="en-US" dirty="0"/>
              <a:t> </a:t>
            </a:r>
            <a:r>
              <a:rPr lang="en-US" dirty="0" err="1"/>
              <a:t>недостаток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89158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 </a:t>
            </a:r>
            <a:r>
              <a:rPr lang="en-US" dirty="0" err="1"/>
              <a:t>корректное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Readers–Writers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взаимного</a:t>
            </a:r>
            <a:r>
              <a:rPr lang="en-US" dirty="0"/>
              <a:t> </a:t>
            </a:r>
            <a:r>
              <a:rPr lang="en-US" dirty="0" err="1"/>
              <a:t>исключения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читателей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параллельно</a:t>
            </a:r>
            <a:r>
              <a:rPr lang="en-US" dirty="0"/>
              <a:t>, а </a:t>
            </a:r>
            <a:r>
              <a:rPr lang="en-US" dirty="0" err="1"/>
              <a:t>писатель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исключительный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представьте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, в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запросов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чтение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непрерывен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читатель</a:t>
            </a:r>
            <a:r>
              <a:rPr lang="en-US" dirty="0"/>
              <a:t>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,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читатель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третий</a:t>
            </a:r>
            <a:r>
              <a:rPr lang="en-US" dirty="0"/>
              <a:t>, </a:t>
            </a:r>
            <a:r>
              <a:rPr lang="en-US" dirty="0" err="1"/>
              <a:t>четвёртый</a:t>
            </a:r>
            <a:r>
              <a:rPr lang="en-US" dirty="0"/>
              <a:t> и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далее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читатели</a:t>
            </a:r>
            <a:r>
              <a:rPr lang="en-US" dirty="0"/>
              <a:t> </a:t>
            </a:r>
            <a:r>
              <a:rPr lang="en-US" dirty="0" err="1"/>
              <a:t>допускаются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хотя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активный</a:t>
            </a:r>
            <a:r>
              <a:rPr lang="en-US" dirty="0"/>
              <a:t> </a:t>
            </a:r>
            <a:r>
              <a:rPr lang="en-US" dirty="0" err="1"/>
              <a:t>читатель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readers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долго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становиться</a:t>
            </a:r>
            <a:r>
              <a:rPr lang="en-US" dirty="0"/>
              <a:t> </a:t>
            </a:r>
            <a:r>
              <a:rPr lang="en-US" dirty="0" err="1"/>
              <a:t>равным</a:t>
            </a:r>
            <a:r>
              <a:rPr lang="en-US" dirty="0"/>
              <a:t> </a:t>
            </a:r>
            <a:r>
              <a:rPr lang="en-US" dirty="0" err="1"/>
              <a:t>нулю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достигнет</a:t>
            </a:r>
            <a:r>
              <a:rPr lang="en-US" dirty="0"/>
              <a:t> </a:t>
            </a:r>
            <a:r>
              <a:rPr lang="en-US" dirty="0" err="1"/>
              <a:t>нуля</a:t>
            </a:r>
            <a:r>
              <a:rPr lang="en-US" dirty="0"/>
              <a:t>, </a:t>
            </a:r>
            <a:r>
              <a:rPr lang="en-US" dirty="0" err="1"/>
              <a:t>семафор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resource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захваченным</a:t>
            </a:r>
            <a:r>
              <a:rPr lang="en-US" dirty="0"/>
              <a:t> </a:t>
            </a:r>
            <a:r>
              <a:rPr lang="en-US" dirty="0" err="1"/>
              <a:t>группой</a:t>
            </a:r>
            <a:r>
              <a:rPr lang="en-US" dirty="0"/>
              <a:t> </a:t>
            </a:r>
            <a:r>
              <a:rPr lang="en-US" dirty="0" err="1"/>
              <a:t>читателей</a:t>
            </a:r>
            <a:r>
              <a:rPr lang="en-US" dirty="0"/>
              <a:t>.</a:t>
            </a:r>
          </a:p>
          <a:p>
            <a:r>
              <a:rPr lang="en-US" dirty="0" err="1"/>
              <a:t>Писатель</a:t>
            </a:r>
            <a:r>
              <a:rPr lang="en-US" dirty="0"/>
              <a:t> </a:t>
            </a:r>
            <a:r>
              <a:rPr lang="en-US" dirty="0" err="1"/>
              <a:t>вынужден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определённом</a:t>
            </a:r>
            <a:r>
              <a:rPr lang="en-US" dirty="0"/>
              <a:t> </a:t>
            </a:r>
            <a:r>
              <a:rPr lang="en-US" dirty="0" err="1"/>
              <a:t>расписании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продолжаться</a:t>
            </a:r>
            <a:r>
              <a:rPr lang="en-US" dirty="0"/>
              <a:t> </a:t>
            </a:r>
            <a:r>
              <a:rPr lang="en-US" dirty="0" err="1"/>
              <a:t>неограниченно</a:t>
            </a:r>
            <a:r>
              <a:rPr lang="en-US" dirty="0"/>
              <a:t> </a:t>
            </a:r>
            <a:r>
              <a:rPr lang="en-US" dirty="0" err="1"/>
              <a:t>долго</a:t>
            </a:r>
            <a:r>
              <a:rPr lang="en-US" dirty="0"/>
              <a:t>.</a:t>
            </a:r>
          </a:p>
          <a:p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Starvation — </a:t>
            </a:r>
            <a:r>
              <a:rPr lang="en-US" dirty="0" err="1"/>
              <a:t>голодание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сталкиваемся</a:t>
            </a:r>
            <a:r>
              <a:rPr lang="en-US" dirty="0"/>
              <a:t> с </a:t>
            </a:r>
            <a:r>
              <a:rPr lang="en-US" dirty="0" err="1"/>
              <a:t>важным</a:t>
            </a:r>
            <a:r>
              <a:rPr lang="en-US" dirty="0"/>
              <a:t> </a:t>
            </a:r>
            <a:r>
              <a:rPr lang="en-US" dirty="0" err="1"/>
              <a:t>различием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взаимным</a:t>
            </a:r>
            <a:r>
              <a:rPr lang="en-US" dirty="0"/>
              <a:t> </a:t>
            </a:r>
            <a:r>
              <a:rPr lang="en-US" dirty="0" err="1"/>
              <a:t>исключением</a:t>
            </a:r>
            <a:r>
              <a:rPr lang="en-US" dirty="0"/>
              <a:t> и </a:t>
            </a:r>
            <a:r>
              <a:rPr lang="en-US" dirty="0" err="1"/>
              <a:t>справедливостью</a:t>
            </a:r>
            <a:r>
              <a:rPr lang="en-US" dirty="0"/>
              <a:t>.</a:t>
            </a:r>
          </a:p>
          <a:p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правильно</a:t>
            </a:r>
            <a:r>
              <a:rPr lang="en-US" dirty="0"/>
              <a:t> </a:t>
            </a:r>
            <a:r>
              <a:rPr lang="en-US" dirty="0" err="1"/>
              <a:t>защищать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гонок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обеспечивать</a:t>
            </a:r>
            <a:r>
              <a:rPr lang="en-US" dirty="0"/>
              <a:t> </a:t>
            </a:r>
            <a:r>
              <a:rPr lang="en-US" dirty="0" err="1"/>
              <a:t>своевременный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</a:t>
            </a:r>
            <a:r>
              <a:rPr lang="en-US" dirty="0" err="1"/>
              <a:t>каждому</a:t>
            </a:r>
            <a:r>
              <a:rPr lang="en-US" dirty="0"/>
              <a:t> </a:t>
            </a:r>
            <a:r>
              <a:rPr lang="en-US" dirty="0" err="1"/>
              <a:t>участнику</a:t>
            </a:r>
            <a:r>
              <a:rPr lang="en-US" dirty="0"/>
              <a:t>.</a:t>
            </a:r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,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 </a:t>
            </a:r>
            <a:r>
              <a:rPr lang="en-US" dirty="0" err="1"/>
              <a:t>политику</a:t>
            </a:r>
            <a:r>
              <a:rPr lang="en-US" dirty="0"/>
              <a:t> </a:t>
            </a:r>
            <a:r>
              <a:rPr lang="en-US" dirty="0" err="1"/>
              <a:t>предоставления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первоначальном</a:t>
            </a:r>
            <a:r>
              <a:rPr lang="en-US" dirty="0"/>
              <a:t> </a:t>
            </a:r>
            <a:r>
              <a:rPr lang="en-US" dirty="0" err="1"/>
              <a:t>алгоритме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реализован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 </a:t>
            </a:r>
            <a:r>
              <a:rPr lang="en-US" dirty="0" err="1"/>
              <a:t>читателей</a:t>
            </a:r>
            <a:r>
              <a:rPr lang="en-US" dirty="0"/>
              <a:t> — Reader-preferred.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политику</a:t>
            </a:r>
            <a:r>
              <a:rPr lang="en-US" dirty="0"/>
              <a:t> — Writer-preferred.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ожидающий</a:t>
            </a:r>
            <a:r>
              <a:rPr lang="en-US" dirty="0"/>
              <a:t> </a:t>
            </a:r>
            <a:r>
              <a:rPr lang="en-US" dirty="0" err="1"/>
              <a:t>писатель</a:t>
            </a:r>
            <a:r>
              <a:rPr lang="en-US" dirty="0"/>
              <a:t>,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читатели</a:t>
            </a:r>
            <a:r>
              <a:rPr lang="en-US" dirty="0"/>
              <a:t> </a:t>
            </a:r>
            <a:r>
              <a:rPr lang="en-US" dirty="0" err="1"/>
              <a:t>перестают</a:t>
            </a:r>
            <a:r>
              <a:rPr lang="en-US" dirty="0"/>
              <a:t> </a:t>
            </a:r>
            <a:r>
              <a:rPr lang="en-US" dirty="0" err="1"/>
              <a:t>допускаться</a:t>
            </a:r>
            <a:r>
              <a:rPr lang="en-US" dirty="0"/>
              <a:t>.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работающие</a:t>
            </a:r>
            <a:r>
              <a:rPr lang="en-US" dirty="0"/>
              <a:t> </a:t>
            </a:r>
            <a:r>
              <a:rPr lang="en-US" dirty="0" err="1"/>
              <a:t>читатели</a:t>
            </a:r>
            <a:r>
              <a:rPr lang="en-US" dirty="0"/>
              <a:t> </a:t>
            </a:r>
            <a:r>
              <a:rPr lang="en-US" dirty="0" err="1"/>
              <a:t>завершают</a:t>
            </a:r>
            <a:r>
              <a:rPr lang="en-US" dirty="0"/>
              <a:t> </a:t>
            </a:r>
            <a:r>
              <a:rPr lang="en-US" dirty="0" err="1"/>
              <a:t>свои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писатель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стратегия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недостаток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писатели</a:t>
            </a:r>
            <a:r>
              <a:rPr lang="en-US" dirty="0"/>
              <a:t> </a:t>
            </a:r>
            <a:r>
              <a:rPr lang="en-US" dirty="0" err="1"/>
              <a:t>поступают</a:t>
            </a:r>
            <a:r>
              <a:rPr lang="en-US" dirty="0"/>
              <a:t> </a:t>
            </a:r>
            <a:r>
              <a:rPr lang="en-US" dirty="0" err="1"/>
              <a:t>непрерывно</a:t>
            </a:r>
            <a:r>
              <a:rPr lang="en-US" dirty="0"/>
              <a:t>,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читатели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в </a:t>
            </a:r>
            <a:r>
              <a:rPr lang="en-US" dirty="0" err="1"/>
              <a:t>состоянии</a:t>
            </a:r>
            <a:r>
              <a:rPr lang="en-US" dirty="0"/>
              <a:t> </a:t>
            </a:r>
            <a:r>
              <a:rPr lang="en-US" dirty="0" err="1"/>
              <a:t>голодания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и </a:t>
            </a:r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— </a:t>
            </a:r>
            <a:r>
              <a:rPr lang="en-US" dirty="0" err="1"/>
              <a:t>справедливое</a:t>
            </a:r>
            <a:r>
              <a:rPr lang="en-US" dirty="0"/>
              <a:t> </a:t>
            </a:r>
            <a:r>
              <a:rPr lang="en-US" dirty="0" err="1"/>
              <a:t>обслуживание</a:t>
            </a:r>
            <a:r>
              <a:rPr lang="en-US" dirty="0"/>
              <a:t> </a:t>
            </a:r>
            <a:r>
              <a:rPr lang="en-US" dirty="0" err="1"/>
              <a:t>запросов</a:t>
            </a:r>
            <a:r>
              <a:rPr lang="en-US" dirty="0"/>
              <a:t> с </a:t>
            </a:r>
            <a:r>
              <a:rPr lang="en-US" dirty="0" err="1"/>
              <a:t>учётом</a:t>
            </a:r>
            <a:r>
              <a:rPr lang="en-US" dirty="0"/>
              <a:t> </a:t>
            </a:r>
            <a:r>
              <a:rPr lang="en-US" dirty="0" err="1"/>
              <a:t>порядка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поступления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Главный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: </a:t>
            </a:r>
            <a:r>
              <a:rPr lang="en-US" dirty="0" err="1"/>
              <a:t>взаимное</a:t>
            </a:r>
            <a:r>
              <a:rPr lang="en-US" dirty="0"/>
              <a:t> </a:t>
            </a:r>
            <a:r>
              <a:rPr lang="en-US" dirty="0" err="1"/>
              <a:t>исключение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,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, а </a:t>
            </a:r>
            <a:r>
              <a:rPr lang="en-US" dirty="0" err="1"/>
              <a:t>политика</a:t>
            </a:r>
            <a:r>
              <a:rPr lang="en-US" dirty="0"/>
              <a:t> </a:t>
            </a:r>
            <a:r>
              <a:rPr lang="en-US" dirty="0" err="1"/>
              <a:t>допуска</a:t>
            </a:r>
            <a:r>
              <a:rPr lang="en-US" dirty="0"/>
              <a:t> — </a:t>
            </a:r>
            <a:r>
              <a:rPr lang="en-US" dirty="0" err="1"/>
              <a:t>кто</a:t>
            </a:r>
            <a:r>
              <a:rPr lang="en-US" dirty="0"/>
              <a:t> и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получит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7717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построили</a:t>
            </a:r>
            <a:r>
              <a:rPr lang="en-US" dirty="0"/>
              <a:t> Reader–Writer Lock </a:t>
            </a:r>
            <a:r>
              <a:rPr lang="en-US" dirty="0" err="1"/>
              <a:t>самостоятельно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семафоров</a:t>
            </a:r>
            <a:r>
              <a:rPr lang="en-US" dirty="0"/>
              <a:t> и </a:t>
            </a:r>
            <a:r>
              <a:rPr lang="en-US" dirty="0" err="1"/>
              <a:t>счётчика</a:t>
            </a:r>
            <a:r>
              <a:rPr lang="en-US" dirty="0"/>
              <a:t> </a:t>
            </a:r>
            <a:r>
              <a:rPr lang="en-US" dirty="0" err="1"/>
              <a:t>читателей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реальных</a:t>
            </a:r>
            <a:r>
              <a:rPr lang="en-US" dirty="0"/>
              <a:t> C++-</a:t>
            </a:r>
            <a:r>
              <a:rPr lang="en-US" dirty="0" err="1"/>
              <a:t>приложениях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реализовывать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вручную</a:t>
            </a:r>
            <a:r>
              <a:rPr lang="en-US" dirty="0"/>
              <a:t>.</a:t>
            </a:r>
          </a:p>
          <a:p>
            <a:r>
              <a:rPr lang="en-US" dirty="0" err="1"/>
              <a:t>Начиная</a:t>
            </a:r>
            <a:r>
              <a:rPr lang="en-US" dirty="0"/>
              <a:t> с C++17 </a:t>
            </a:r>
            <a:r>
              <a:rPr lang="en-US" dirty="0" err="1"/>
              <a:t>стандартная</a:t>
            </a:r>
            <a:r>
              <a:rPr lang="en-US" dirty="0"/>
              <a:t> </a:t>
            </a:r>
            <a:r>
              <a:rPr lang="en-US" dirty="0" err="1"/>
              <a:t>библиотека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shared_mutex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обычного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std::mutex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поддерживает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режима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Первый</a:t>
            </a:r>
            <a:r>
              <a:rPr lang="en-US" dirty="0"/>
              <a:t> — </a:t>
            </a:r>
            <a:r>
              <a:rPr lang="en-US" dirty="0" err="1"/>
              <a:t>совместный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Shared Lock.</a:t>
            </a:r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режиме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владеть</a:t>
            </a:r>
            <a:r>
              <a:rPr lang="en-US" dirty="0"/>
              <a:t> </a:t>
            </a:r>
            <a:r>
              <a:rPr lang="en-US" dirty="0" err="1"/>
              <a:t>блокировкой</a:t>
            </a:r>
            <a:r>
              <a:rPr lang="en-US" dirty="0"/>
              <a:t> и </a:t>
            </a:r>
            <a:r>
              <a:rPr lang="en-US" dirty="0" err="1"/>
              <a:t>читать</a:t>
            </a:r>
            <a:r>
              <a:rPr lang="en-US" dirty="0"/>
              <a:t> </a:t>
            </a:r>
            <a:r>
              <a:rPr lang="en-US" dirty="0" err="1"/>
              <a:t>защищаемые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</a:p>
          <a:p>
            <a:r>
              <a:rPr lang="en-US" dirty="0" err="1"/>
              <a:t>Второй</a:t>
            </a:r>
            <a:r>
              <a:rPr lang="en-US" dirty="0"/>
              <a:t> — </a:t>
            </a:r>
            <a:r>
              <a:rPr lang="en-US" dirty="0" err="1"/>
              <a:t>исключительный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Exclusive Lock.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удерживает</a:t>
            </a:r>
            <a:r>
              <a:rPr lang="en-US" dirty="0"/>
              <a:t> </a:t>
            </a:r>
            <a:r>
              <a:rPr lang="en-US" dirty="0" err="1"/>
              <a:t>исключительную</a:t>
            </a:r>
            <a:r>
              <a:rPr lang="en-US" dirty="0"/>
              <a:t> </a:t>
            </a:r>
            <a:r>
              <a:rPr lang="en-US" dirty="0" err="1"/>
              <a:t>блокировку</a:t>
            </a:r>
            <a:r>
              <a:rPr lang="en-US" dirty="0"/>
              <a:t>,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совместную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исключительную</a:t>
            </a:r>
            <a:r>
              <a:rPr lang="en-US" dirty="0"/>
              <a:t> </a:t>
            </a:r>
            <a:r>
              <a:rPr lang="en-US" dirty="0" err="1"/>
              <a:t>блокировку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класса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SafeString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строку</a:t>
            </a:r>
            <a:r>
              <a:rPr lang="en-US" dirty="0"/>
              <a:t> и </a:t>
            </a:r>
            <a:r>
              <a:rPr lang="en-US" dirty="0" err="1"/>
              <a:t>мьютекс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защищает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ней</a:t>
            </a:r>
            <a:r>
              <a:rPr lang="en-US" dirty="0"/>
              <a:t>.</a:t>
            </a:r>
          </a:p>
          <a:p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Read()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shared_lock</a:t>
            </a:r>
            <a:r>
              <a:rPr lang="en-US" dirty="0"/>
              <a:t>.</a:t>
            </a:r>
          </a:p>
          <a:p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вызвать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Read()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строка</a:t>
            </a:r>
            <a:r>
              <a:rPr lang="en-US" dirty="0"/>
              <a:t> </a:t>
            </a:r>
            <a:r>
              <a:rPr lang="en-US" dirty="0" err="1"/>
              <a:t>возвращается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значению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создаётся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копия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защитой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возврата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dirty="0" err="1"/>
              <a:t>вызывающий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своей</a:t>
            </a:r>
            <a:r>
              <a:rPr lang="en-US" dirty="0"/>
              <a:t> </a:t>
            </a:r>
            <a:r>
              <a:rPr lang="en-US" dirty="0" err="1"/>
              <a:t>копией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дальнейших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исходной</a:t>
            </a:r>
            <a:r>
              <a:rPr lang="en-US" dirty="0"/>
              <a:t> </a:t>
            </a:r>
            <a:r>
              <a:rPr lang="en-US" dirty="0" err="1"/>
              <a:t>строки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методе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Write()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unique_lock</a:t>
            </a:r>
            <a:r>
              <a:rPr lang="en-US" dirty="0"/>
              <a:t>, </a:t>
            </a:r>
            <a:r>
              <a:rPr lang="en-US" dirty="0" err="1"/>
              <a:t>обеспечивающий</a:t>
            </a:r>
            <a:r>
              <a:rPr lang="en-US" dirty="0"/>
              <a:t> </a:t>
            </a:r>
            <a:r>
              <a:rPr lang="en-US" dirty="0" err="1"/>
              <a:t>исключительный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ключевое</a:t>
            </a:r>
            <a:r>
              <a:rPr lang="en-US" dirty="0"/>
              <a:t> </a:t>
            </a:r>
            <a:r>
              <a:rPr lang="en-US" dirty="0" err="1"/>
              <a:t>слово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mutable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мьютексом</a:t>
            </a:r>
            <a:r>
              <a:rPr lang="en-US" dirty="0"/>
              <a:t>.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блокировать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константного</a:t>
            </a:r>
            <a:r>
              <a:rPr lang="en-US" dirty="0"/>
              <a:t> </a:t>
            </a:r>
            <a:r>
              <a:rPr lang="en-US" dirty="0" err="1"/>
              <a:t>метода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Read()</a:t>
            </a:r>
            <a:r>
              <a:rPr lang="en-US" dirty="0"/>
              <a:t>. </a:t>
            </a:r>
            <a:r>
              <a:rPr lang="en-US" dirty="0" err="1"/>
              <a:t>Логическое</a:t>
            </a:r>
            <a:r>
              <a:rPr lang="en-US" dirty="0"/>
              <a:t> </a:t>
            </a:r>
            <a:r>
              <a:rPr lang="en-US" dirty="0" err="1"/>
              <a:t>содержимое</a:t>
            </a:r>
            <a:r>
              <a:rPr lang="en-US" dirty="0"/>
              <a:t> </a:t>
            </a:r>
            <a:r>
              <a:rPr lang="en-US" dirty="0" err="1"/>
              <a:t>строки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подчеркнуть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shared_mutex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гарантирует</a:t>
            </a:r>
            <a:r>
              <a:rPr lang="en-US" dirty="0"/>
              <a:t> </a:t>
            </a:r>
            <a:r>
              <a:rPr lang="en-US" dirty="0" err="1"/>
              <a:t>конкретную</a:t>
            </a:r>
            <a:r>
              <a:rPr lang="en-US" dirty="0"/>
              <a:t> </a:t>
            </a:r>
            <a:r>
              <a:rPr lang="en-US" dirty="0" err="1"/>
              <a:t>политику</a:t>
            </a:r>
            <a:r>
              <a:rPr lang="en-US" dirty="0"/>
              <a:t> </a:t>
            </a:r>
            <a:r>
              <a:rPr lang="en-US" dirty="0" err="1"/>
              <a:t>справедливости</a:t>
            </a:r>
            <a:r>
              <a:rPr lang="en-US" dirty="0"/>
              <a:t>.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по-разному</a:t>
            </a:r>
            <a:r>
              <a:rPr lang="en-US" dirty="0"/>
              <a:t> </a:t>
            </a:r>
            <a:r>
              <a:rPr lang="en-US" dirty="0" err="1"/>
              <a:t>организовывать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читателей</a:t>
            </a:r>
            <a:r>
              <a:rPr lang="en-US" dirty="0"/>
              <a:t> и </a:t>
            </a:r>
            <a:r>
              <a:rPr lang="en-US" dirty="0" err="1"/>
              <a:t>писателей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70272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поговорим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эффективности</a:t>
            </a:r>
            <a:r>
              <a:rPr lang="en-US" dirty="0"/>
              <a:t> и </a:t>
            </a:r>
            <a:r>
              <a:rPr lang="en-US" dirty="0" err="1"/>
              <a:t>справедливости</a:t>
            </a:r>
            <a:r>
              <a:rPr lang="en-US" dirty="0"/>
              <a:t> Reader–Writer Lock.</a:t>
            </a:r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кажется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shared_mutex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обычного</a:t>
            </a:r>
            <a:r>
              <a:rPr lang="en-US" dirty="0"/>
              <a:t> </a:t>
            </a:r>
            <a:r>
              <a:rPr lang="en-US" dirty="0" err="1"/>
              <a:t>мьютекса</a:t>
            </a:r>
            <a:r>
              <a:rPr lang="en-US" dirty="0"/>
              <a:t>.</a:t>
            </a:r>
          </a:p>
          <a:p>
            <a:r>
              <a:rPr lang="en-US" dirty="0" err="1"/>
              <a:t>Ведь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нескольким</a:t>
            </a:r>
            <a:r>
              <a:rPr lang="en-US" dirty="0"/>
              <a:t> </a:t>
            </a:r>
            <a:r>
              <a:rPr lang="en-US" dirty="0" err="1"/>
              <a:t>потокам</a:t>
            </a:r>
            <a:r>
              <a:rPr lang="en-US" dirty="0"/>
              <a:t> </a:t>
            </a:r>
            <a:r>
              <a:rPr lang="en-US" dirty="0" err="1"/>
              <a:t>читать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параллельно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Представьте</a:t>
            </a:r>
            <a:r>
              <a:rPr lang="en-US" dirty="0"/>
              <a:t> </a:t>
            </a:r>
            <a:r>
              <a:rPr lang="en-US" dirty="0" err="1"/>
              <a:t>маленькую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  <a:r>
              <a:rPr lang="en-US" dirty="0" err="1"/>
              <a:t>чтение</a:t>
            </a:r>
            <a:r>
              <a:rPr lang="en-US" dirty="0"/>
              <a:t>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занимает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инструкций</a:t>
            </a:r>
            <a:r>
              <a:rPr lang="en-US" dirty="0"/>
              <a:t>.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режимами</a:t>
            </a:r>
            <a:r>
              <a:rPr lang="en-US" dirty="0"/>
              <a:t> </a:t>
            </a:r>
            <a:r>
              <a:rPr lang="en-US" dirty="0" err="1"/>
              <a:t>совместного</a:t>
            </a:r>
            <a:r>
              <a:rPr lang="en-US" dirty="0"/>
              <a:t> и </a:t>
            </a:r>
            <a:r>
              <a:rPr lang="en-US" dirty="0" err="1"/>
              <a:t>исключительного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определённых</a:t>
            </a:r>
            <a:r>
              <a:rPr lang="en-US" dirty="0"/>
              <a:t> </a:t>
            </a:r>
            <a:r>
              <a:rPr lang="en-US" dirty="0" err="1"/>
              <a:t>затрат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таком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std::mutex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быстрее</a:t>
            </a:r>
            <a:r>
              <a:rPr lang="en-US" dirty="0"/>
              <a:t>.</a:t>
            </a:r>
          </a:p>
          <a:p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— </a:t>
            </a:r>
            <a:r>
              <a:rPr lang="en-US" dirty="0" err="1"/>
              <a:t>большая</a:t>
            </a:r>
            <a:r>
              <a:rPr lang="en-US" dirty="0"/>
              <a:t> </a:t>
            </a:r>
            <a:r>
              <a:rPr lang="en-US" dirty="0" err="1"/>
              <a:t>структура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читается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редко</a:t>
            </a:r>
            <a:r>
              <a:rPr lang="en-US" dirty="0"/>
              <a:t> </a:t>
            </a:r>
            <a:r>
              <a:rPr lang="en-US" dirty="0" err="1"/>
              <a:t>изменяется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конфигурация</a:t>
            </a:r>
            <a:r>
              <a:rPr lang="en-US" dirty="0"/>
              <a:t> </a:t>
            </a:r>
            <a:r>
              <a:rPr lang="en-US" dirty="0" err="1"/>
              <a:t>сервера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таблица</a:t>
            </a:r>
            <a:r>
              <a:rPr lang="en-US" dirty="0"/>
              <a:t> </a:t>
            </a:r>
            <a:r>
              <a:rPr lang="en-US" dirty="0" err="1"/>
              <a:t>маршрутизации</a:t>
            </a:r>
            <a:r>
              <a:rPr lang="en-US" dirty="0"/>
              <a:t>.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shared_mutex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дать</a:t>
            </a:r>
            <a:r>
              <a:rPr lang="en-US" dirty="0"/>
              <a:t> </a:t>
            </a:r>
            <a:r>
              <a:rPr lang="en-US" dirty="0" err="1"/>
              <a:t>существенный</a:t>
            </a:r>
            <a:r>
              <a:rPr lang="en-US" dirty="0"/>
              <a:t> </a:t>
            </a:r>
            <a:r>
              <a:rPr lang="en-US" dirty="0" err="1"/>
              <a:t>выигрыш</a:t>
            </a:r>
            <a:r>
              <a:rPr lang="en-US" dirty="0"/>
              <a:t>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читатели</a:t>
            </a:r>
            <a:r>
              <a:rPr lang="en-US" dirty="0"/>
              <a:t> </a:t>
            </a:r>
            <a:r>
              <a:rPr lang="en-US" dirty="0" err="1"/>
              <a:t>смогут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свои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параллельно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 </a:t>
            </a:r>
            <a:r>
              <a:rPr lang="en-US" dirty="0" err="1"/>
              <a:t>происходят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, </a:t>
            </a:r>
            <a:r>
              <a:rPr lang="en-US" dirty="0" err="1"/>
              <a:t>писателям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исключительный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. </a:t>
            </a:r>
            <a:r>
              <a:rPr lang="en-US" dirty="0" err="1"/>
              <a:t>Значительная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расходоваться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.</a:t>
            </a:r>
          </a:p>
          <a:p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— </a:t>
            </a:r>
            <a:r>
              <a:rPr lang="en-US" dirty="0" err="1"/>
              <a:t>справедливость</a:t>
            </a:r>
            <a:r>
              <a:rPr lang="en-US" dirty="0"/>
              <a:t>.</a:t>
            </a:r>
          </a:p>
          <a:p>
            <a:r>
              <a:rPr lang="en-US" dirty="0" err="1"/>
              <a:t>Стандарт</a:t>
            </a:r>
            <a:r>
              <a:rPr lang="en-US" dirty="0"/>
              <a:t> C++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гарантирует</a:t>
            </a:r>
            <a:r>
              <a:rPr lang="en-US" dirty="0"/>
              <a:t>, в </a:t>
            </a:r>
            <a:r>
              <a:rPr lang="en-US" dirty="0" err="1"/>
              <a:t>каком</a:t>
            </a:r>
            <a:r>
              <a:rPr lang="en-US" dirty="0"/>
              <a:t> </a:t>
            </a:r>
            <a:r>
              <a:rPr lang="en-US" dirty="0" err="1"/>
              <a:t>порядке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shared_mutex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</a:t>
            </a:r>
            <a:r>
              <a:rPr lang="en-US" dirty="0" err="1"/>
              <a:t>ожидающим</a:t>
            </a:r>
            <a:r>
              <a:rPr lang="en-US" dirty="0"/>
              <a:t> </a:t>
            </a:r>
            <a:r>
              <a:rPr lang="en-US" dirty="0" err="1"/>
              <a:t>читателям</a:t>
            </a:r>
            <a:r>
              <a:rPr lang="en-US" dirty="0"/>
              <a:t> и </a:t>
            </a:r>
            <a:r>
              <a:rPr lang="en-US" dirty="0" err="1"/>
              <a:t>писателям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определённая</a:t>
            </a:r>
            <a:r>
              <a:rPr lang="en-US" dirty="0"/>
              <a:t> </a:t>
            </a:r>
            <a:r>
              <a:rPr lang="en-US" dirty="0" err="1"/>
              <a:t>политика</a:t>
            </a:r>
            <a:r>
              <a:rPr lang="en-US" dirty="0"/>
              <a:t> </a:t>
            </a:r>
            <a:r>
              <a:rPr lang="en-US" dirty="0" err="1"/>
              <a:t>допуска</a:t>
            </a:r>
            <a:r>
              <a:rPr lang="en-US" dirty="0"/>
              <a:t>,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выбирать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с </a:t>
            </a:r>
            <a:r>
              <a:rPr lang="en-US" dirty="0" err="1"/>
              <a:t>соответствующими</a:t>
            </a:r>
            <a:r>
              <a:rPr lang="en-US" dirty="0"/>
              <a:t> </a:t>
            </a:r>
            <a:r>
              <a:rPr lang="en-US" dirty="0" err="1"/>
              <a:t>гарантиями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дополнительный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 </a:t>
            </a:r>
            <a:r>
              <a:rPr lang="en-US" dirty="0" err="1"/>
              <a:t>писателей</a:t>
            </a:r>
            <a:r>
              <a:rPr lang="en-US" dirty="0"/>
              <a:t>: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писатель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допускаем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читателей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писатель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получит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репозитории есть пример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FairRWLock</a:t>
            </a:r>
            <a:r>
              <a:rPr lang="en-US" dirty="0"/>
              <a:t>.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полную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разбирать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,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объёмная</a:t>
            </a:r>
            <a:r>
              <a:rPr lang="en-US" dirty="0"/>
              <a:t> и </a:t>
            </a:r>
            <a:r>
              <a:rPr lang="en-US" dirty="0" err="1"/>
              <a:t>отвлекает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идею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пожертвовать</a:t>
            </a:r>
            <a:r>
              <a:rPr lang="en-US" dirty="0"/>
              <a:t> </a:t>
            </a:r>
            <a:r>
              <a:rPr lang="en-US" dirty="0" err="1"/>
              <a:t>частью</a:t>
            </a:r>
            <a:r>
              <a:rPr lang="en-US" dirty="0"/>
              <a:t> </a:t>
            </a:r>
            <a:r>
              <a:rPr lang="en-US" dirty="0" err="1"/>
              <a:t>параллелизма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 </a:t>
            </a:r>
            <a:r>
              <a:rPr lang="en-US" dirty="0" err="1"/>
              <a:t>ради</a:t>
            </a:r>
            <a:r>
              <a:rPr lang="en-US" dirty="0"/>
              <a:t> </a:t>
            </a:r>
            <a:r>
              <a:rPr lang="en-US" dirty="0" err="1"/>
              <a:t>уменьшения</a:t>
            </a:r>
            <a:r>
              <a:rPr lang="en-US" dirty="0"/>
              <a:t> </a:t>
            </a:r>
            <a:r>
              <a:rPr lang="en-US" dirty="0" err="1"/>
              <a:t>задержек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политика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гарантирует</a:t>
            </a:r>
            <a:r>
              <a:rPr lang="en-US" dirty="0"/>
              <a:t> </a:t>
            </a:r>
            <a:r>
              <a:rPr lang="en-US" dirty="0" err="1"/>
              <a:t>справедливость</a:t>
            </a:r>
            <a:r>
              <a:rPr lang="en-US" dirty="0"/>
              <a:t> </a:t>
            </a:r>
            <a:r>
              <a:rPr lang="en-US" dirty="0" err="1"/>
              <a:t>абсолютно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: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непрерывном</a:t>
            </a:r>
            <a:r>
              <a:rPr lang="en-US" dirty="0"/>
              <a:t> </a:t>
            </a:r>
            <a:r>
              <a:rPr lang="en-US" dirty="0" err="1"/>
              <a:t>поступлении</a:t>
            </a:r>
            <a:r>
              <a:rPr lang="en-US" dirty="0"/>
              <a:t> </a:t>
            </a:r>
            <a:r>
              <a:rPr lang="en-US" dirty="0" err="1"/>
              <a:t>писателей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начать</a:t>
            </a:r>
            <a:r>
              <a:rPr lang="en-US" dirty="0"/>
              <a:t> </a:t>
            </a:r>
            <a:r>
              <a:rPr lang="en-US" dirty="0" err="1"/>
              <a:t>голодать</a:t>
            </a:r>
            <a:r>
              <a:rPr lang="en-US" dirty="0"/>
              <a:t> </a:t>
            </a:r>
            <a:r>
              <a:rPr lang="en-US" dirty="0" err="1"/>
              <a:t>читатели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практическая</a:t>
            </a:r>
            <a:r>
              <a:rPr lang="en-US" dirty="0"/>
              <a:t> </a:t>
            </a:r>
            <a:r>
              <a:rPr lang="en-US" dirty="0" err="1"/>
              <a:t>особенность</a:t>
            </a:r>
            <a:r>
              <a:rPr lang="en-US" dirty="0"/>
              <a:t>: </a:t>
            </a:r>
            <a:r>
              <a:rPr lang="en-US" dirty="0" err="1"/>
              <a:t>стандартный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shared_mutex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безопасной</a:t>
            </a:r>
            <a:r>
              <a:rPr lang="en-US" dirty="0"/>
              <a:t> </a:t>
            </a:r>
            <a:r>
              <a:rPr lang="en-US" dirty="0" err="1"/>
              <a:t>атомарной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преобразования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удерживаемой</a:t>
            </a:r>
            <a:r>
              <a:rPr lang="en-US" dirty="0"/>
              <a:t> </a:t>
            </a:r>
            <a:r>
              <a:rPr lang="en-US" dirty="0" err="1"/>
              <a:t>совместной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 в </a:t>
            </a:r>
            <a:r>
              <a:rPr lang="en-US" dirty="0" err="1"/>
              <a:t>исключительную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переход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отдельного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Главный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: </a:t>
            </a:r>
            <a:r>
              <a:rPr lang="en-US" dirty="0" err="1"/>
              <a:t>выбирать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mutex и </a:t>
            </a:r>
            <a:r>
              <a:rPr lang="en-US" dirty="0" err="1"/>
              <a:t>shared_mutex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реальной</a:t>
            </a:r>
            <a:r>
              <a:rPr lang="en-US" dirty="0"/>
              <a:t> </a:t>
            </a:r>
            <a:r>
              <a:rPr lang="en-US" dirty="0" err="1"/>
              <a:t>нагрузке</a:t>
            </a:r>
            <a:r>
              <a:rPr lang="en-US" dirty="0"/>
              <a:t> и </a:t>
            </a:r>
            <a:r>
              <a:rPr lang="en-US" dirty="0" err="1"/>
              <a:t>необходимым</a:t>
            </a:r>
            <a:r>
              <a:rPr lang="en-US" dirty="0"/>
              <a:t> </a:t>
            </a:r>
            <a:r>
              <a:rPr lang="en-US" dirty="0" err="1"/>
              <a:t>гарантиям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количеству</a:t>
            </a:r>
            <a:r>
              <a:rPr lang="en-US" dirty="0"/>
              <a:t> </a:t>
            </a:r>
            <a:r>
              <a:rPr lang="en-US" dirty="0" err="1"/>
              <a:t>читателей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6913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Бенчмарки показывают, что:</a:t>
            </a:r>
          </a:p>
          <a:p>
            <a:r>
              <a:rPr lang="ru-RU" dirty="0"/>
              <a:t>При </a:t>
            </a:r>
            <a:r>
              <a:rPr lang="ru-RU" b="1" dirty="0"/>
              <a:t>доминировании чтений</a:t>
            </a:r>
            <a:r>
              <a:rPr lang="ru-RU" dirty="0"/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shared_mutex</a:t>
            </a:r>
            <a:r>
              <a:rPr lang="ru-RU" dirty="0"/>
              <a:t> быстрее, так как не блокирует новых читателей — даже если писатели ждут.</a:t>
            </a:r>
          </a:p>
          <a:p>
            <a:r>
              <a:rPr lang="ru-RU" dirty="0"/>
              <a:t>При </a:t>
            </a:r>
            <a:r>
              <a:rPr lang="ru-RU" b="1" dirty="0"/>
              <a:t>сбалансированных или запись-ориентированных сценариях</a:t>
            </a:r>
            <a:r>
              <a:rPr lang="ru-RU" dirty="0"/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FairRWLock</a:t>
            </a:r>
            <a:r>
              <a:rPr lang="ru-RU" dirty="0"/>
              <a:t> даёт огромный выигрыш за счёт честного распределения доступа.</a:t>
            </a:r>
          </a:p>
          <a:p>
            <a:r>
              <a:rPr lang="ru-RU" dirty="0"/>
              <a:t>В экстремальных случаях (100 k записей)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FairRWLock</a:t>
            </a:r>
            <a:r>
              <a:rPr lang="ru-RU" dirty="0"/>
              <a:t> работает более чем в </a:t>
            </a:r>
            <a:r>
              <a:rPr lang="ru-RU" b="1" dirty="0"/>
              <a:t>20 раз быстрее</a:t>
            </a:r>
            <a:r>
              <a:rPr lang="ru-RU" dirty="0"/>
              <a:t>, потому что писатели не простаивают.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36079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2493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рассматривали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стандартной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 C++.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интересный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?</a:t>
            </a:r>
          </a:p>
          <a:p>
            <a:r>
              <a:rPr lang="en-US" dirty="0" err="1"/>
              <a:t>Вспомним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подхода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изучили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Первый</a:t>
            </a:r>
            <a:r>
              <a:rPr lang="en-US" dirty="0"/>
              <a:t> — </a:t>
            </a:r>
            <a:r>
              <a:rPr lang="en-US" dirty="0" err="1"/>
              <a:t>активное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атомарных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отсутствии</a:t>
            </a:r>
            <a:r>
              <a:rPr lang="en-US" dirty="0"/>
              <a:t> </a:t>
            </a:r>
            <a:r>
              <a:rPr lang="en-US" dirty="0" err="1"/>
              <a:t>конкуренции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бесполезно</a:t>
            </a:r>
            <a:r>
              <a:rPr lang="en-US" dirty="0"/>
              <a:t> </a:t>
            </a:r>
            <a:r>
              <a:rPr lang="en-US" dirty="0" err="1"/>
              <a:t>расходовать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длительном</a:t>
            </a:r>
            <a:r>
              <a:rPr lang="en-US" dirty="0"/>
              <a:t> </a:t>
            </a:r>
            <a:r>
              <a:rPr lang="en-US" dirty="0" err="1"/>
              <a:t>ожидании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Второй</a:t>
            </a:r>
            <a:r>
              <a:rPr lang="en-US" dirty="0"/>
              <a:t> — </a:t>
            </a:r>
            <a:r>
              <a:rPr lang="en-US" dirty="0" err="1"/>
              <a:t>блокирующее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.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экономит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предполагает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с </a:t>
            </a:r>
            <a:r>
              <a:rPr lang="en-US" dirty="0" err="1"/>
              <a:t>ядром</a:t>
            </a:r>
            <a:r>
              <a:rPr lang="en-US" dirty="0"/>
              <a:t> и </a:t>
            </a:r>
            <a:r>
              <a:rPr lang="en-US" dirty="0" err="1"/>
              <a:t>планировщиком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Linux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подходы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эффективно</a:t>
            </a:r>
            <a:r>
              <a:rPr lang="en-US" dirty="0"/>
              <a:t> </a:t>
            </a:r>
            <a:r>
              <a:rPr lang="en-US" dirty="0" err="1"/>
              <a:t>комбинировать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 </a:t>
            </a:r>
            <a:r>
              <a:rPr lang="en-US" dirty="0" err="1"/>
              <a:t>Futex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Название</a:t>
            </a:r>
            <a:r>
              <a:rPr lang="en-US" dirty="0"/>
              <a:t> </a:t>
            </a:r>
            <a:r>
              <a:rPr lang="en-US" dirty="0" err="1"/>
              <a:t>расшифровывается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Fast </a:t>
            </a:r>
            <a:r>
              <a:rPr lang="en-US" dirty="0" err="1"/>
              <a:t>Userspace</a:t>
            </a:r>
            <a:r>
              <a:rPr lang="en-US" dirty="0"/>
              <a:t> Mutex.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: </a:t>
            </a:r>
            <a:r>
              <a:rPr lang="en-US" dirty="0" err="1"/>
              <a:t>futex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готовый</a:t>
            </a:r>
            <a:r>
              <a:rPr lang="en-US" dirty="0"/>
              <a:t> </a:t>
            </a:r>
            <a:r>
              <a:rPr lang="en-US" dirty="0" err="1"/>
              <a:t>пользовательский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а </a:t>
            </a:r>
            <a:r>
              <a:rPr lang="en-US" dirty="0" err="1"/>
              <a:t>низкоуровневый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, </a:t>
            </a:r>
            <a:r>
              <a:rPr lang="en-US" dirty="0" err="1"/>
              <a:t>предоставляемый</a:t>
            </a:r>
            <a:r>
              <a:rPr lang="en-US" dirty="0"/>
              <a:t> </a:t>
            </a:r>
            <a:r>
              <a:rPr lang="en-US" dirty="0" err="1"/>
              <a:t>ядром</a:t>
            </a:r>
            <a:r>
              <a:rPr lang="en-US" dirty="0"/>
              <a:t> Linux.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Покажем</a:t>
            </a:r>
            <a:r>
              <a:rPr lang="en-US" dirty="0"/>
              <a:t> </a:t>
            </a:r>
            <a:r>
              <a:rPr lang="en-US" dirty="0" err="1"/>
              <a:t>типичную</a:t>
            </a:r>
            <a:r>
              <a:rPr lang="en-US" dirty="0"/>
              <a:t> </a:t>
            </a:r>
            <a:r>
              <a:rPr lang="en-US" dirty="0" err="1"/>
              <a:t>схему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библиотека</a:t>
            </a:r>
            <a:r>
              <a:rPr lang="en-US" dirty="0"/>
              <a:t> </a:t>
            </a:r>
            <a:r>
              <a:rPr lang="en-US" dirty="0" err="1"/>
              <a:t>пытается</a:t>
            </a:r>
            <a:r>
              <a:rPr lang="en-US" dirty="0"/>
              <a:t> </a:t>
            </a:r>
            <a:r>
              <a:rPr lang="en-US" dirty="0" err="1"/>
              <a:t>захватить</a:t>
            </a:r>
            <a:r>
              <a:rPr lang="en-US" dirty="0"/>
              <a:t> </a:t>
            </a:r>
            <a:r>
              <a:rPr lang="en-US" dirty="0" err="1"/>
              <a:t>блокировку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атомарной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в </a:t>
            </a:r>
            <a:r>
              <a:rPr lang="en-US" dirty="0" err="1"/>
              <a:t>пространстве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блокировка</a:t>
            </a:r>
            <a:r>
              <a:rPr lang="en-US" dirty="0"/>
              <a:t> </a:t>
            </a:r>
            <a:r>
              <a:rPr lang="en-US" dirty="0" err="1"/>
              <a:t>свободна</a:t>
            </a:r>
            <a:r>
              <a:rPr lang="en-US" dirty="0"/>
              <a:t>,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завершается</a:t>
            </a:r>
            <a:r>
              <a:rPr lang="en-US" dirty="0"/>
              <a:t> </a:t>
            </a:r>
            <a:r>
              <a:rPr lang="en-US" dirty="0" err="1"/>
              <a:t>успешно</a:t>
            </a:r>
            <a:r>
              <a:rPr lang="en-US" dirty="0"/>
              <a:t>. </a:t>
            </a:r>
            <a:r>
              <a:rPr lang="en-US" dirty="0" err="1"/>
              <a:t>Системный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блокировка</a:t>
            </a:r>
            <a:r>
              <a:rPr lang="en-US" dirty="0"/>
              <a:t> </a:t>
            </a:r>
            <a:r>
              <a:rPr lang="en-US" dirty="0" err="1"/>
              <a:t>занята</a:t>
            </a:r>
            <a:r>
              <a:rPr lang="en-US" dirty="0"/>
              <a:t>, </a:t>
            </a:r>
            <a:r>
              <a:rPr lang="en-US" dirty="0" err="1"/>
              <a:t>библиотека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вызвать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FUTEX_WAIT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заблокировать</a:t>
            </a:r>
            <a:r>
              <a:rPr lang="en-US" dirty="0"/>
              <a:t>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Ядро</a:t>
            </a:r>
            <a:r>
              <a:rPr lang="en-US" dirty="0"/>
              <a:t> Linux </a:t>
            </a:r>
            <a:r>
              <a:rPr lang="en-US" dirty="0" err="1"/>
              <a:t>проверяет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соответствующего</a:t>
            </a:r>
            <a:r>
              <a:rPr lang="en-US" dirty="0"/>
              <a:t> </a:t>
            </a:r>
            <a:r>
              <a:rPr lang="en-US" dirty="0" err="1"/>
              <a:t>слова</a:t>
            </a:r>
            <a:r>
              <a:rPr lang="en-US" dirty="0"/>
              <a:t> в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совпадает</a:t>
            </a:r>
            <a:r>
              <a:rPr lang="en-US" dirty="0"/>
              <a:t> с </a:t>
            </a:r>
            <a:r>
              <a:rPr lang="en-US" dirty="0" err="1"/>
              <a:t>ожидаемым</a:t>
            </a:r>
            <a:r>
              <a:rPr lang="en-US" dirty="0"/>
              <a:t>,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помещается</a:t>
            </a:r>
            <a:r>
              <a:rPr lang="en-US" dirty="0"/>
              <a:t> в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изменилось</a:t>
            </a:r>
            <a:r>
              <a:rPr lang="en-US" dirty="0"/>
              <a:t>,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завершается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перехода</a:t>
            </a:r>
            <a:r>
              <a:rPr lang="en-US" dirty="0"/>
              <a:t> в </a:t>
            </a:r>
            <a:r>
              <a:rPr lang="en-US" dirty="0" err="1"/>
              <a:t>сон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проверка</a:t>
            </a:r>
            <a:r>
              <a:rPr lang="en-US" dirty="0"/>
              <a:t>?</a:t>
            </a:r>
          </a:p>
          <a:p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первоначальной</a:t>
            </a:r>
            <a:r>
              <a:rPr lang="en-US" dirty="0"/>
              <a:t> </a:t>
            </a:r>
            <a:r>
              <a:rPr lang="en-US" dirty="0" err="1"/>
              <a:t>пользовательской</a:t>
            </a:r>
            <a:r>
              <a:rPr lang="en-US" dirty="0"/>
              <a:t> </a:t>
            </a:r>
            <a:r>
              <a:rPr lang="en-US" dirty="0" err="1"/>
              <a:t>проверкой</a:t>
            </a:r>
            <a:r>
              <a:rPr lang="en-US" dirty="0"/>
              <a:t> и </a:t>
            </a:r>
            <a:r>
              <a:rPr lang="en-US" dirty="0" err="1"/>
              <a:t>вызовом</a:t>
            </a:r>
            <a:r>
              <a:rPr lang="en-US" dirty="0"/>
              <a:t> </a:t>
            </a:r>
            <a:r>
              <a:rPr lang="en-US" dirty="0" err="1"/>
              <a:t>системного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 </a:t>
            </a:r>
            <a:r>
              <a:rPr lang="en-US" dirty="0" err="1"/>
              <a:t>могло</a:t>
            </a:r>
            <a:r>
              <a:rPr lang="en-US" dirty="0"/>
              <a:t> </a:t>
            </a:r>
            <a:r>
              <a:rPr lang="en-US" dirty="0" err="1"/>
              <a:t>измениться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Атомарная</a:t>
            </a:r>
            <a:r>
              <a:rPr lang="en-US" dirty="0"/>
              <a:t> </a:t>
            </a:r>
            <a:r>
              <a:rPr lang="en-US" dirty="0" err="1"/>
              <a:t>проверка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FUTEX_WAIT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предотвратить</a:t>
            </a:r>
            <a:r>
              <a:rPr lang="en-US" dirty="0"/>
              <a:t> </a:t>
            </a:r>
            <a:r>
              <a:rPr lang="en-US" dirty="0" err="1"/>
              <a:t>потерянное</a:t>
            </a:r>
            <a:r>
              <a:rPr lang="en-US" dirty="0"/>
              <a:t> </a:t>
            </a:r>
            <a:r>
              <a:rPr lang="en-US" dirty="0" err="1"/>
              <a:t>пробуждение</a:t>
            </a:r>
            <a:r>
              <a:rPr lang="en-US" dirty="0"/>
              <a:t>, с </a:t>
            </a:r>
            <a:r>
              <a:rPr lang="en-US" dirty="0" err="1"/>
              <a:t>которым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столкнулись</a:t>
            </a:r>
            <a:r>
              <a:rPr lang="en-US" dirty="0"/>
              <a:t> </a:t>
            </a:r>
            <a:r>
              <a:rPr lang="en-US" dirty="0" err="1"/>
              <a:t>ранее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блокировка</a:t>
            </a:r>
            <a:r>
              <a:rPr lang="en-US" dirty="0"/>
              <a:t> </a:t>
            </a:r>
            <a:r>
              <a:rPr lang="en-US" dirty="0" err="1"/>
              <a:t>освобождается</a:t>
            </a:r>
            <a:r>
              <a:rPr lang="en-US" dirty="0"/>
              <a:t>,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FUTEX_WAKE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разбудить</a:t>
            </a:r>
            <a:r>
              <a:rPr lang="en-US" dirty="0"/>
              <a:t> </a:t>
            </a:r>
            <a:r>
              <a:rPr lang="en-US" dirty="0" err="1"/>
              <a:t>ожидающих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пробуждения</a:t>
            </a:r>
            <a:r>
              <a:rPr lang="en-US" dirty="0"/>
              <a:t> </a:t>
            </a:r>
            <a:r>
              <a:rPr lang="en-US" dirty="0" err="1"/>
              <a:t>библиотека</a:t>
            </a:r>
            <a:r>
              <a:rPr lang="en-US" dirty="0"/>
              <a:t> </a:t>
            </a:r>
            <a:r>
              <a:rPr lang="en-US" dirty="0" err="1"/>
              <a:t>повторно</a:t>
            </a:r>
            <a:r>
              <a:rPr lang="en-US" dirty="0"/>
              <a:t> </a:t>
            </a:r>
            <a:r>
              <a:rPr lang="en-US" dirty="0" err="1"/>
              <a:t>проверяет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: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пробуждение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успешного</a:t>
            </a:r>
            <a:r>
              <a:rPr lang="en-US" dirty="0"/>
              <a:t> </a:t>
            </a:r>
            <a:r>
              <a:rPr lang="en-US" dirty="0" err="1"/>
              <a:t>захвата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получаем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преимущество</a:t>
            </a:r>
            <a:r>
              <a:rPr lang="en-US" dirty="0"/>
              <a:t>: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отсутствии</a:t>
            </a:r>
            <a:r>
              <a:rPr lang="en-US" dirty="0"/>
              <a:t> </a:t>
            </a:r>
            <a:r>
              <a:rPr lang="en-US" dirty="0" err="1"/>
              <a:t>конкуренции</a:t>
            </a:r>
            <a:r>
              <a:rPr lang="en-US" dirty="0"/>
              <a:t> </a:t>
            </a:r>
            <a:r>
              <a:rPr lang="en-US" dirty="0" err="1"/>
              <a:t>большинство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в User Space, а </a:t>
            </a:r>
            <a:r>
              <a:rPr lang="en-US" dirty="0" err="1"/>
              <a:t>дорогостоящее</a:t>
            </a:r>
            <a:r>
              <a:rPr lang="en-US" dirty="0"/>
              <a:t> </a:t>
            </a:r>
            <a:r>
              <a:rPr lang="en-US" dirty="0" err="1"/>
              <a:t>блокирующее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Linux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применяется</a:t>
            </a:r>
            <a:r>
              <a:rPr lang="en-US" dirty="0"/>
              <a:t> в </a:t>
            </a:r>
            <a:r>
              <a:rPr lang="en-US" dirty="0" err="1"/>
              <a:t>распространённых</a:t>
            </a:r>
            <a:r>
              <a:rPr lang="en-US" dirty="0"/>
              <a:t> </a:t>
            </a:r>
            <a:r>
              <a:rPr lang="en-US" dirty="0" err="1"/>
              <a:t>реализациях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pthread_mutex</a:t>
            </a:r>
            <a:r>
              <a:rPr lang="en-US" dirty="0"/>
              <a:t> и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синхронизаторов</a:t>
            </a:r>
            <a:r>
              <a:rPr lang="en-US" dirty="0"/>
              <a:t>. </a:t>
            </a:r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конкретная</a:t>
            </a:r>
            <a:r>
              <a:rPr lang="en-US" dirty="0"/>
              <a:t> </a:t>
            </a:r>
            <a:r>
              <a:rPr lang="en-US" dirty="0" err="1"/>
              <a:t>схема</a:t>
            </a:r>
            <a:r>
              <a:rPr lang="en-US" dirty="0"/>
              <a:t> </a:t>
            </a:r>
            <a:r>
              <a:rPr lang="en-US" dirty="0" err="1"/>
              <a:t>быстрого</a:t>
            </a:r>
            <a:r>
              <a:rPr lang="en-US" dirty="0"/>
              <a:t> </a:t>
            </a:r>
            <a:r>
              <a:rPr lang="en-US" dirty="0" err="1"/>
              <a:t>пути</a:t>
            </a:r>
            <a:r>
              <a:rPr lang="en-US" dirty="0"/>
              <a:t> </a:t>
            </a:r>
            <a:r>
              <a:rPr lang="en-US" dirty="0" err="1"/>
              <a:t>определяется</a:t>
            </a:r>
            <a:r>
              <a:rPr lang="en-US" dirty="0"/>
              <a:t> </a:t>
            </a:r>
            <a:r>
              <a:rPr lang="en-US" dirty="0" err="1"/>
              <a:t>библиотекой</a:t>
            </a:r>
            <a:r>
              <a:rPr lang="en-US" dirty="0"/>
              <a:t>, а </a:t>
            </a:r>
            <a:r>
              <a:rPr lang="en-US" dirty="0" err="1"/>
              <a:t>стандарт</a:t>
            </a:r>
            <a:r>
              <a:rPr lang="en-US" dirty="0"/>
              <a:t> C++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предписывает</a:t>
            </a:r>
            <a:r>
              <a:rPr lang="en-US" dirty="0"/>
              <a:t> </a:t>
            </a:r>
            <a:r>
              <a:rPr lang="en-US" dirty="0" err="1"/>
              <a:t>использование</a:t>
            </a:r>
            <a:r>
              <a:rPr lang="en-US" dirty="0"/>
              <a:t> </a:t>
            </a:r>
            <a:r>
              <a:rPr lang="en-US" dirty="0" err="1"/>
              <a:t>futex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2672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рассмотрели</a:t>
            </a:r>
            <a:r>
              <a:rPr lang="en-US" dirty="0"/>
              <a:t> </a:t>
            </a:r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примитивы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средствами</a:t>
            </a:r>
            <a:r>
              <a:rPr lang="en-US" dirty="0"/>
              <a:t> C++.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в Linux и </a:t>
            </a:r>
            <a:r>
              <a:rPr lang="en-US" dirty="0" err="1"/>
              <a:t>других</a:t>
            </a:r>
            <a:r>
              <a:rPr lang="en-US" dirty="0"/>
              <a:t> UNIX-</a:t>
            </a:r>
            <a:r>
              <a:rPr lang="en-US" dirty="0" err="1"/>
              <a:t>подобных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 POSIX.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std::mutex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pthread_mutex_t</a:t>
            </a:r>
            <a:r>
              <a:rPr lang="en-US" dirty="0"/>
              <a:t>.</a:t>
            </a:r>
          </a:p>
          <a:p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condition_variable</a:t>
            </a:r>
            <a:r>
              <a:rPr lang="en-US" dirty="0"/>
              <a:t>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pthread_cond_t</a:t>
            </a:r>
            <a:r>
              <a:rPr lang="en-US" dirty="0"/>
              <a:t>.</a:t>
            </a:r>
          </a:p>
          <a:p>
            <a:r>
              <a:rPr lang="en-US" dirty="0"/>
              <a:t>В POSIX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семафоры</a:t>
            </a:r>
            <a:r>
              <a:rPr lang="en-US" dirty="0"/>
              <a:t> и </a:t>
            </a:r>
            <a:r>
              <a:rPr lang="en-US" dirty="0" err="1"/>
              <a:t>блокировки</a:t>
            </a:r>
            <a:r>
              <a:rPr lang="en-US" dirty="0"/>
              <a:t> </a:t>
            </a:r>
            <a:r>
              <a:rPr lang="en-US" dirty="0" err="1"/>
              <a:t>чтения-записи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назначению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многом</a:t>
            </a:r>
            <a:r>
              <a:rPr lang="en-US" dirty="0"/>
              <a:t> </a:t>
            </a:r>
            <a:r>
              <a:rPr lang="en-US" dirty="0" err="1"/>
              <a:t>совпадают</a:t>
            </a:r>
            <a:r>
              <a:rPr lang="en-US" dirty="0"/>
              <a:t> с </a:t>
            </a:r>
            <a:r>
              <a:rPr lang="en-US" dirty="0" err="1"/>
              <a:t>соответствующими</a:t>
            </a:r>
            <a:r>
              <a:rPr lang="en-US" dirty="0"/>
              <a:t> </a:t>
            </a:r>
            <a:r>
              <a:rPr lang="en-US" dirty="0" err="1"/>
              <a:t>примитивами</a:t>
            </a:r>
            <a:r>
              <a:rPr lang="en-US" dirty="0"/>
              <a:t> C++.</a:t>
            </a:r>
          </a:p>
          <a:p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преимущество</a:t>
            </a:r>
            <a:r>
              <a:rPr lang="en-US" dirty="0"/>
              <a:t> </a:t>
            </a:r>
            <a:r>
              <a:rPr lang="en-US" dirty="0" err="1"/>
              <a:t>стандартной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 C++ — </a:t>
            </a:r>
            <a:r>
              <a:rPr lang="en-US" dirty="0" err="1"/>
              <a:t>удобные</a:t>
            </a:r>
            <a:r>
              <a:rPr lang="en-US" dirty="0"/>
              <a:t> RAII-</a:t>
            </a:r>
            <a:r>
              <a:rPr lang="en-US" dirty="0" err="1"/>
              <a:t>обёртки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управляют</a:t>
            </a:r>
            <a:r>
              <a:rPr lang="en-US" dirty="0"/>
              <a:t> </a:t>
            </a:r>
            <a:r>
              <a:rPr lang="en-US" dirty="0" err="1"/>
              <a:t>временем</a:t>
            </a:r>
            <a:r>
              <a:rPr lang="en-US" dirty="0"/>
              <a:t> </a:t>
            </a:r>
            <a:r>
              <a:rPr lang="en-US" dirty="0" err="1"/>
              <a:t>владения</a:t>
            </a:r>
            <a:r>
              <a:rPr lang="en-US" dirty="0"/>
              <a:t> </a:t>
            </a:r>
            <a:r>
              <a:rPr lang="en-US" dirty="0" err="1"/>
              <a:t>блокировками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курса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операционным</a:t>
            </a:r>
            <a:r>
              <a:rPr lang="en-US" dirty="0"/>
              <a:t> </a:t>
            </a:r>
            <a:r>
              <a:rPr lang="en-US" dirty="0" err="1"/>
              <a:t>системам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помнить</a:t>
            </a:r>
            <a:r>
              <a:rPr lang="en-US" dirty="0"/>
              <a:t> и о </a:t>
            </a:r>
            <a:r>
              <a:rPr lang="en-US" dirty="0" err="1"/>
              <a:t>различии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 и </a:t>
            </a:r>
            <a:r>
              <a:rPr lang="en-US" dirty="0" err="1"/>
              <a:t>процессами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,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std::mutex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защищать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доступные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потокам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изолированные</a:t>
            </a:r>
            <a:r>
              <a:rPr lang="en-US" dirty="0"/>
              <a:t> </a:t>
            </a:r>
            <a:r>
              <a:rPr lang="en-US" dirty="0" err="1"/>
              <a:t>адресные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организовать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разделяемую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обычного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std::mutex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: </a:t>
            </a:r>
            <a:r>
              <a:rPr lang="en-US" dirty="0" err="1"/>
              <a:t>стандарт</a:t>
            </a:r>
            <a:r>
              <a:rPr lang="en-US" dirty="0"/>
              <a:t> C++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гарантирует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использование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POSIX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с </a:t>
            </a:r>
            <a:r>
              <a:rPr lang="en-US" dirty="0" err="1"/>
              <a:t>явной</a:t>
            </a:r>
            <a:r>
              <a:rPr lang="en-US" dirty="0"/>
              <a:t> </a:t>
            </a:r>
            <a:r>
              <a:rPr lang="en-US" dirty="0" err="1"/>
              <a:t>поддержкой</a:t>
            </a:r>
            <a:r>
              <a:rPr lang="en-US" dirty="0"/>
              <a:t> </a:t>
            </a:r>
            <a:r>
              <a:rPr lang="en-US" dirty="0" err="1"/>
              <a:t>межпроцессной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создании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pthread_mutex_t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настроить</a:t>
            </a:r>
            <a:r>
              <a:rPr lang="en-US" dirty="0"/>
              <a:t> </a:t>
            </a:r>
            <a:r>
              <a:rPr lang="en-US" dirty="0" err="1"/>
              <a:t>атрибут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PTHREAD_PROCESS_SHARED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нескольким</a:t>
            </a:r>
            <a:r>
              <a:rPr lang="en-US" dirty="0"/>
              <a:t> </a:t>
            </a:r>
            <a:r>
              <a:rPr lang="en-US" dirty="0" err="1"/>
              <a:t>процессам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размещён</a:t>
            </a:r>
            <a:r>
              <a:rPr lang="en-US" dirty="0"/>
              <a:t> в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Аналогичные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у POSIX-</a:t>
            </a:r>
            <a:r>
              <a:rPr lang="en-US" dirty="0" err="1"/>
              <a:t>семафоров</a:t>
            </a:r>
            <a:r>
              <a:rPr lang="en-US" dirty="0"/>
              <a:t> и </a:t>
            </a:r>
            <a:r>
              <a:rPr lang="en-US" dirty="0" err="1"/>
              <a:t>некоторых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механизмов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остаются</a:t>
            </a:r>
            <a:r>
              <a:rPr lang="en-US" dirty="0"/>
              <a:t> </a:t>
            </a:r>
            <a:r>
              <a:rPr lang="en-US" dirty="0" err="1"/>
              <a:t>похожими</a:t>
            </a:r>
            <a:r>
              <a:rPr lang="en-US" dirty="0"/>
              <a:t>: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либо</a:t>
            </a:r>
            <a:r>
              <a:rPr lang="en-US" dirty="0"/>
              <a:t> </a:t>
            </a:r>
            <a:r>
              <a:rPr lang="en-US" dirty="0" err="1"/>
              <a:t>взаимное</a:t>
            </a:r>
            <a:r>
              <a:rPr lang="en-US" dirty="0"/>
              <a:t> </a:t>
            </a:r>
            <a:r>
              <a:rPr lang="en-US" dirty="0" err="1"/>
              <a:t>исключение</a:t>
            </a:r>
            <a:r>
              <a:rPr lang="en-US" dirty="0"/>
              <a:t>, </a:t>
            </a:r>
            <a:r>
              <a:rPr lang="en-US" dirty="0" err="1"/>
              <a:t>либо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, </a:t>
            </a:r>
            <a:r>
              <a:rPr lang="en-US" dirty="0" err="1"/>
              <a:t>либо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количеством</a:t>
            </a:r>
            <a:r>
              <a:rPr lang="en-US" dirty="0"/>
              <a:t> </a:t>
            </a:r>
            <a:r>
              <a:rPr lang="en-US" dirty="0" err="1"/>
              <a:t>доступных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ru-RU" dirty="0"/>
              <a:t>К</a:t>
            </a:r>
            <a:r>
              <a:rPr lang="en-US" dirty="0" err="1"/>
              <a:t>онкретные</a:t>
            </a:r>
            <a:r>
              <a:rPr lang="en-US" dirty="0"/>
              <a:t> </a:t>
            </a:r>
            <a:r>
              <a:rPr lang="en-US" dirty="0" err="1"/>
              <a:t>примитивы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выбирать</a:t>
            </a:r>
            <a:r>
              <a:rPr lang="en-US" dirty="0"/>
              <a:t> с </a:t>
            </a:r>
            <a:r>
              <a:rPr lang="en-US" dirty="0" err="1"/>
              <a:t>учётом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взаимодействуют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04448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Подведём</a:t>
            </a:r>
            <a:r>
              <a:rPr lang="en-US" dirty="0"/>
              <a:t> </a:t>
            </a:r>
            <a:r>
              <a:rPr lang="en-US" dirty="0" err="1"/>
              <a:t>итог</a:t>
            </a:r>
            <a:r>
              <a:rPr lang="en-US" dirty="0"/>
              <a:t> </a:t>
            </a:r>
            <a:r>
              <a:rPr lang="en-US" dirty="0" err="1"/>
              <a:t>большого</a:t>
            </a:r>
            <a:r>
              <a:rPr lang="en-US" dirty="0"/>
              <a:t> </a:t>
            </a:r>
            <a:r>
              <a:rPr lang="en-US" dirty="0" err="1"/>
              <a:t>раздела</a:t>
            </a:r>
            <a:r>
              <a:rPr lang="en-US" dirty="0"/>
              <a:t> о </a:t>
            </a:r>
            <a:r>
              <a:rPr lang="en-US" dirty="0" err="1"/>
              <a:t>механизмах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начали</a:t>
            </a:r>
            <a:r>
              <a:rPr lang="en-US" dirty="0"/>
              <a:t> с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производителя</a:t>
            </a:r>
            <a:r>
              <a:rPr lang="en-US" dirty="0"/>
              <a:t> и </a:t>
            </a:r>
            <a:r>
              <a:rPr lang="en-US" dirty="0" err="1"/>
              <a:t>потребителя</a:t>
            </a:r>
            <a:r>
              <a:rPr lang="en-US" dirty="0"/>
              <a:t>.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показала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с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очередью</a:t>
            </a:r>
            <a:r>
              <a:rPr lang="en-US" dirty="0"/>
              <a:t> </a:t>
            </a:r>
            <a:r>
              <a:rPr lang="en-US" dirty="0" err="1"/>
              <a:t>возникают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.</a:t>
            </a:r>
          </a:p>
          <a:p>
            <a:r>
              <a:rPr lang="en-US" dirty="0" err="1"/>
              <a:t>Первая</a:t>
            </a:r>
            <a:r>
              <a:rPr lang="en-US" dirty="0"/>
              <a:t> — </a:t>
            </a:r>
            <a:r>
              <a:rPr lang="en-US" dirty="0" err="1"/>
              <a:t>защита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одновременного</a:t>
            </a:r>
            <a:r>
              <a:rPr lang="en-US" dirty="0"/>
              <a:t> </a:t>
            </a:r>
            <a:r>
              <a:rPr lang="en-US" dirty="0" err="1"/>
              <a:t>некорректного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  <a:p>
            <a:r>
              <a:rPr lang="en-US" dirty="0" err="1"/>
              <a:t>Вторая</a:t>
            </a:r>
            <a:r>
              <a:rPr lang="en-US" dirty="0"/>
              <a:t> — </a:t>
            </a:r>
            <a:r>
              <a:rPr lang="en-US" dirty="0" err="1"/>
              <a:t>координация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: </a:t>
            </a:r>
            <a:r>
              <a:rPr lang="en-US" dirty="0" err="1"/>
              <a:t>производитель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 </a:t>
            </a:r>
            <a:r>
              <a:rPr lang="en-US" dirty="0" err="1"/>
              <a:t>свободного</a:t>
            </a:r>
            <a:r>
              <a:rPr lang="en-US" dirty="0"/>
              <a:t> </a:t>
            </a:r>
            <a:r>
              <a:rPr lang="en-US" dirty="0" err="1"/>
              <a:t>места</a:t>
            </a:r>
            <a:r>
              <a:rPr lang="en-US" dirty="0"/>
              <a:t>, а </a:t>
            </a:r>
            <a:r>
              <a:rPr lang="en-US" dirty="0" err="1"/>
              <a:t>потребитель</a:t>
            </a:r>
            <a:r>
              <a:rPr lang="en-US" dirty="0"/>
              <a:t> —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использовали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подхода</a:t>
            </a:r>
            <a:r>
              <a:rPr lang="en-US" dirty="0"/>
              <a:t>.</a:t>
            </a:r>
          </a:p>
          <a:p>
            <a:r>
              <a:rPr lang="en-US" dirty="0" err="1"/>
              <a:t>Первый</a:t>
            </a:r>
            <a:r>
              <a:rPr lang="en-US" dirty="0"/>
              <a:t> — </a:t>
            </a:r>
            <a:r>
              <a:rPr lang="en-US" dirty="0" err="1"/>
              <a:t>мьютекс</a:t>
            </a:r>
            <a:r>
              <a:rPr lang="en-US" dirty="0"/>
              <a:t> и </a:t>
            </a:r>
            <a:r>
              <a:rPr lang="en-US" dirty="0" err="1"/>
              <a:t>условные</a:t>
            </a:r>
            <a:r>
              <a:rPr lang="en-US" dirty="0"/>
              <a:t> </a:t>
            </a:r>
            <a:r>
              <a:rPr lang="en-US" dirty="0" err="1"/>
              <a:t>переменные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защищает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, а </a:t>
            </a:r>
            <a:r>
              <a:rPr lang="en-US" dirty="0" err="1"/>
              <a:t>условные</a:t>
            </a:r>
            <a:r>
              <a:rPr lang="en-US" dirty="0"/>
              <a:t> </a:t>
            </a:r>
            <a:r>
              <a:rPr lang="en-US" dirty="0" err="1"/>
              <a:t>переменные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потокам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нужных</a:t>
            </a:r>
            <a:r>
              <a:rPr lang="en-US" dirty="0"/>
              <a:t> </a:t>
            </a:r>
            <a:r>
              <a:rPr lang="en-US" dirty="0" err="1"/>
              <a:t>условий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Второй</a:t>
            </a:r>
            <a:r>
              <a:rPr lang="en-US" dirty="0"/>
              <a:t> — </a:t>
            </a:r>
            <a:r>
              <a:rPr lang="en-US" dirty="0" err="1"/>
              <a:t>семафоры</a:t>
            </a:r>
            <a:r>
              <a:rPr lang="en-US" dirty="0"/>
              <a:t>.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доступность</a:t>
            </a:r>
            <a:r>
              <a:rPr lang="en-US" dirty="0"/>
              <a:t> </a:t>
            </a:r>
            <a:r>
              <a:rPr lang="en-US" dirty="0" err="1"/>
              <a:t>свободных</a:t>
            </a:r>
            <a:r>
              <a:rPr lang="en-US" dirty="0"/>
              <a:t> </a:t>
            </a:r>
            <a:r>
              <a:rPr lang="en-US" dirty="0" err="1"/>
              <a:t>мест</a:t>
            </a:r>
            <a:r>
              <a:rPr lang="en-US" dirty="0"/>
              <a:t> и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 </a:t>
            </a:r>
            <a:r>
              <a:rPr lang="en-US" dirty="0" err="1"/>
              <a:t>выражается</a:t>
            </a:r>
            <a:r>
              <a:rPr lang="en-US" dirty="0"/>
              <a:t> </a:t>
            </a:r>
            <a:r>
              <a:rPr lang="en-US" dirty="0" err="1"/>
              <a:t>количеством</a:t>
            </a:r>
            <a:r>
              <a:rPr lang="en-US" dirty="0"/>
              <a:t> </a:t>
            </a:r>
            <a:r>
              <a:rPr lang="en-US" dirty="0" err="1"/>
              <a:t>разрешений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учитывается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внутренних</a:t>
            </a:r>
            <a:r>
              <a:rPr lang="en-US" dirty="0"/>
              <a:t> </a:t>
            </a:r>
            <a:r>
              <a:rPr lang="en-US" dirty="0" err="1"/>
              <a:t>счётчиках</a:t>
            </a:r>
            <a:r>
              <a:rPr lang="en-US" dirty="0"/>
              <a:t> </a:t>
            </a:r>
            <a:r>
              <a:rPr lang="en-US" dirty="0" err="1"/>
              <a:t>семафоров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перешли</a:t>
            </a:r>
            <a:r>
              <a:rPr lang="en-US" dirty="0"/>
              <a:t> к </a:t>
            </a:r>
            <a:r>
              <a:rPr lang="en-US" dirty="0" err="1"/>
              <a:t>задаче</a:t>
            </a:r>
            <a:r>
              <a:rPr lang="en-US" dirty="0"/>
              <a:t> </a:t>
            </a:r>
            <a:r>
              <a:rPr lang="en-US" dirty="0" err="1"/>
              <a:t>читателей</a:t>
            </a:r>
            <a:r>
              <a:rPr lang="en-US" dirty="0"/>
              <a:t> и </a:t>
            </a:r>
            <a:r>
              <a:rPr lang="en-US" dirty="0" err="1"/>
              <a:t>писателей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показала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всякое</a:t>
            </a:r>
            <a:r>
              <a:rPr lang="en-US" dirty="0"/>
              <a:t> </a:t>
            </a:r>
            <a:r>
              <a:rPr lang="en-US" dirty="0" err="1"/>
              <a:t>совместное</a:t>
            </a:r>
            <a:r>
              <a:rPr lang="en-US" dirty="0"/>
              <a:t> </a:t>
            </a:r>
            <a:r>
              <a:rPr lang="en-US" dirty="0" err="1"/>
              <a:t>использование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полного</a:t>
            </a:r>
            <a:r>
              <a:rPr lang="en-US" dirty="0"/>
              <a:t> </a:t>
            </a:r>
            <a:r>
              <a:rPr lang="en-US" dirty="0" err="1"/>
              <a:t>запрета</a:t>
            </a:r>
            <a:r>
              <a:rPr lang="en-US" dirty="0"/>
              <a:t> </a:t>
            </a:r>
            <a:r>
              <a:rPr lang="en-US" dirty="0" err="1"/>
              <a:t>параллелизма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читателей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безопасно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изменяются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писателю</a:t>
            </a:r>
            <a:r>
              <a:rPr lang="en-US" dirty="0"/>
              <a:t> </a:t>
            </a:r>
            <a:r>
              <a:rPr lang="en-US" dirty="0" err="1"/>
              <a:t>необходим</a:t>
            </a:r>
            <a:r>
              <a:rPr lang="en-US" dirty="0"/>
              <a:t> </a:t>
            </a:r>
            <a:r>
              <a:rPr lang="en-US" dirty="0" err="1"/>
              <a:t>исключительный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реализуется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семафоры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познакомились</a:t>
            </a:r>
            <a:r>
              <a:rPr lang="en-US" dirty="0"/>
              <a:t> с </a:t>
            </a:r>
            <a:r>
              <a:rPr lang="en-US" dirty="0" err="1"/>
              <a:t>готовым</a:t>
            </a:r>
            <a:r>
              <a:rPr lang="en-US" dirty="0"/>
              <a:t> </a:t>
            </a:r>
            <a:r>
              <a:rPr lang="en-US" dirty="0" err="1"/>
              <a:t>примитивом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shared_mutex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обсудили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голодания</a:t>
            </a:r>
            <a:r>
              <a:rPr lang="en-US" dirty="0"/>
              <a:t> и </a:t>
            </a:r>
            <a:r>
              <a:rPr lang="en-US" dirty="0" err="1"/>
              <a:t>выяснили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отсутствие</a:t>
            </a:r>
            <a:r>
              <a:rPr lang="en-US" dirty="0"/>
              <a:t> </a:t>
            </a:r>
            <a:r>
              <a:rPr lang="en-US" dirty="0" err="1"/>
              <a:t>гонок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справедливого</a:t>
            </a:r>
            <a:r>
              <a:rPr lang="en-US" dirty="0"/>
              <a:t> </a:t>
            </a:r>
            <a:r>
              <a:rPr lang="en-US" dirty="0" err="1"/>
              <a:t>распределения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заглянули</a:t>
            </a:r>
            <a:r>
              <a:rPr lang="en-US" dirty="0"/>
              <a:t> </a:t>
            </a:r>
            <a:r>
              <a:rPr lang="en-US" dirty="0" err="1"/>
              <a:t>внутрь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и </a:t>
            </a:r>
            <a:r>
              <a:rPr lang="en-US" dirty="0" err="1"/>
              <a:t>рассмотрели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futex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библиотекам</a:t>
            </a:r>
            <a:r>
              <a:rPr lang="en-US" dirty="0"/>
              <a:t> </a:t>
            </a:r>
            <a:r>
              <a:rPr lang="en-US" dirty="0" err="1"/>
              <a:t>сочетать</a:t>
            </a:r>
            <a:r>
              <a:rPr lang="en-US" dirty="0"/>
              <a:t> </a:t>
            </a:r>
            <a:r>
              <a:rPr lang="en-US" dirty="0" err="1"/>
              <a:t>быстрые</a:t>
            </a:r>
            <a:r>
              <a:rPr lang="en-US" dirty="0"/>
              <a:t> </a:t>
            </a:r>
            <a:r>
              <a:rPr lang="en-US" dirty="0" err="1"/>
              <a:t>атомарные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в </a:t>
            </a:r>
            <a:r>
              <a:rPr lang="en-US" dirty="0" err="1"/>
              <a:t>пространстве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с </a:t>
            </a:r>
            <a:r>
              <a:rPr lang="en-US" dirty="0" err="1"/>
              <a:t>блокирующим</a:t>
            </a:r>
            <a:r>
              <a:rPr lang="en-US" dirty="0"/>
              <a:t> </a:t>
            </a:r>
            <a:r>
              <a:rPr lang="en-US" dirty="0" err="1"/>
              <a:t>ожиданием</a:t>
            </a:r>
            <a:r>
              <a:rPr lang="en-US" dirty="0"/>
              <a:t> </a:t>
            </a:r>
            <a:r>
              <a:rPr lang="en-US" dirty="0" err="1"/>
              <a:t>средствами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Linux.</a:t>
            </a:r>
          </a:p>
          <a:p>
            <a:r>
              <a:rPr lang="en-US" dirty="0" err="1"/>
              <a:t>Главный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универсального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случаи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атомарно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,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std::atomic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защитить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взаимосвязанных</a:t>
            </a:r>
            <a:r>
              <a:rPr lang="en-US" dirty="0"/>
              <a:t> </a:t>
            </a:r>
            <a:r>
              <a:rPr lang="en-US" dirty="0" err="1"/>
              <a:t>полей</a:t>
            </a:r>
            <a:r>
              <a:rPr lang="en-US" dirty="0"/>
              <a:t> — </a:t>
            </a:r>
            <a:r>
              <a:rPr lang="en-US" dirty="0" err="1"/>
              <a:t>используем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дождаться</a:t>
            </a:r>
            <a:r>
              <a:rPr lang="en-US" dirty="0"/>
              <a:t> </a:t>
            </a:r>
            <a:r>
              <a:rPr lang="en-US" dirty="0" err="1"/>
              <a:t>определённого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— </a:t>
            </a:r>
            <a:r>
              <a:rPr lang="en-US" dirty="0" err="1"/>
              <a:t>условную</a:t>
            </a:r>
            <a:r>
              <a:rPr lang="en-US" dirty="0"/>
              <a:t> </a:t>
            </a:r>
            <a:r>
              <a:rPr lang="en-US" dirty="0" err="1"/>
              <a:t>переменную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доступных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 — </a:t>
            </a:r>
            <a:r>
              <a:rPr lang="en-US" dirty="0" err="1"/>
              <a:t>семафор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допускает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одновременных</a:t>
            </a:r>
            <a:r>
              <a:rPr lang="en-US" dirty="0"/>
              <a:t> </a:t>
            </a:r>
            <a:r>
              <a:rPr lang="en-US" dirty="0" err="1"/>
              <a:t>читателей</a:t>
            </a:r>
            <a:r>
              <a:rPr lang="en-US" dirty="0"/>
              <a:t> и </a:t>
            </a:r>
            <a:r>
              <a:rPr lang="en-US" dirty="0" err="1"/>
              <a:t>редкие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рассмотреть</a:t>
            </a:r>
            <a:r>
              <a:rPr lang="en-US" dirty="0"/>
              <a:t> Reader–Writer Lock.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выбрали</a:t>
            </a:r>
            <a:r>
              <a:rPr lang="en-US" dirty="0"/>
              <a:t>,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необходимость</a:t>
            </a:r>
            <a:r>
              <a:rPr lang="en-US" dirty="0"/>
              <a:t> </a:t>
            </a:r>
            <a:r>
              <a:rPr lang="en-US" dirty="0" err="1"/>
              <a:t>правильно</a:t>
            </a:r>
            <a:r>
              <a:rPr lang="en-US" dirty="0"/>
              <a:t> </a:t>
            </a:r>
            <a:r>
              <a:rPr lang="en-US" dirty="0" err="1"/>
              <a:t>проектировать</a:t>
            </a:r>
            <a:r>
              <a:rPr lang="en-US" dirty="0"/>
              <a:t> </a:t>
            </a:r>
            <a:r>
              <a:rPr lang="en-US" dirty="0" err="1"/>
              <a:t>протокол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к </a:t>
            </a:r>
            <a:r>
              <a:rPr lang="en-US" dirty="0" err="1"/>
              <a:t>данным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</a:t>
            </a:r>
            <a:r>
              <a:rPr lang="en-US" dirty="0" err="1"/>
              <a:t>семафор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атомарная</a:t>
            </a:r>
            <a:r>
              <a:rPr lang="en-US" dirty="0"/>
              <a:t> </a:t>
            </a:r>
            <a:r>
              <a:rPr lang="en-US" dirty="0" err="1"/>
              <a:t>переменная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гарантирует</a:t>
            </a:r>
            <a:r>
              <a:rPr lang="en-US" dirty="0"/>
              <a:t> </a:t>
            </a:r>
            <a:r>
              <a:rPr lang="en-US" dirty="0" err="1"/>
              <a:t>корректности</a:t>
            </a:r>
            <a:r>
              <a:rPr lang="en-US" dirty="0"/>
              <a:t> </a:t>
            </a:r>
            <a:r>
              <a:rPr lang="en-US" dirty="0" err="1"/>
              <a:t>произвольной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Синхронизация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примитива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правильная</a:t>
            </a:r>
            <a:r>
              <a:rPr lang="en-US" dirty="0"/>
              <a:t> </a:t>
            </a:r>
            <a:r>
              <a:rPr lang="en-US" dirty="0" err="1"/>
              <a:t>организация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36014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Ранее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познакомились</a:t>
            </a:r>
            <a:r>
              <a:rPr lang="en-US" dirty="0"/>
              <a:t> с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механизмами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: </a:t>
            </a:r>
            <a:r>
              <a:rPr lang="en-US" dirty="0" err="1"/>
              <a:t>мьютексами</a:t>
            </a:r>
            <a:r>
              <a:rPr lang="en-US" dirty="0"/>
              <a:t>, </a:t>
            </a:r>
            <a:r>
              <a:rPr lang="en-US" dirty="0" err="1"/>
              <a:t>семафорами</a:t>
            </a:r>
            <a:r>
              <a:rPr lang="en-US" dirty="0"/>
              <a:t> и </a:t>
            </a:r>
            <a:r>
              <a:rPr lang="en-US" dirty="0" err="1"/>
              <a:t>условными</a:t>
            </a:r>
            <a:r>
              <a:rPr lang="en-US" dirty="0"/>
              <a:t> </a:t>
            </a:r>
            <a:r>
              <a:rPr lang="en-US" dirty="0" err="1"/>
              <a:t>переменными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примитив</a:t>
            </a:r>
            <a:r>
              <a:rPr lang="en-US" dirty="0"/>
              <a:t> — </a:t>
            </a:r>
            <a:r>
              <a:rPr lang="en-US" dirty="0" err="1"/>
              <a:t>барьер</a:t>
            </a:r>
            <a:r>
              <a:rPr lang="en-US" dirty="0"/>
              <a:t>.</a:t>
            </a:r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параллельно</a:t>
            </a:r>
            <a:r>
              <a:rPr lang="en-US" dirty="0"/>
              <a:t> </a:t>
            </a:r>
            <a:r>
              <a:rPr lang="en-US" dirty="0" err="1"/>
              <a:t>выполняют</a:t>
            </a:r>
            <a:r>
              <a:rPr lang="en-US" dirty="0"/>
              <a:t> </a:t>
            </a:r>
            <a:r>
              <a:rPr lang="en-US" dirty="0" err="1"/>
              <a:t>некоторую</a:t>
            </a:r>
            <a:r>
              <a:rPr lang="en-US" dirty="0"/>
              <a:t> </a:t>
            </a:r>
            <a:r>
              <a:rPr lang="en-US" dirty="0" err="1"/>
              <a:t>вычислительную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обрабатывает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началом</a:t>
            </a:r>
            <a:r>
              <a:rPr lang="en-US" dirty="0"/>
              <a:t> </a:t>
            </a:r>
            <a:r>
              <a:rPr lang="en-US" dirty="0" err="1"/>
              <a:t>следующего</a:t>
            </a:r>
            <a:r>
              <a:rPr lang="en-US" dirty="0"/>
              <a:t> </a:t>
            </a:r>
            <a:r>
              <a:rPr lang="en-US" dirty="0" err="1"/>
              <a:t>этапа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убедиться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участники</a:t>
            </a:r>
            <a:r>
              <a:rPr lang="en-US" dirty="0"/>
              <a:t> </a:t>
            </a:r>
            <a:r>
              <a:rPr lang="en-US" dirty="0" err="1"/>
              <a:t>завершили</a:t>
            </a:r>
            <a:r>
              <a:rPr lang="en-US" dirty="0"/>
              <a:t> </a:t>
            </a:r>
            <a:r>
              <a:rPr lang="en-US" dirty="0" err="1"/>
              <a:t>предыдущий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моделируем</a:t>
            </a:r>
            <a:r>
              <a:rPr lang="en-US" dirty="0"/>
              <a:t> </a:t>
            </a:r>
            <a:r>
              <a:rPr lang="en-US" dirty="0" err="1"/>
              <a:t>физический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.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итерации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вычислить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предыдущего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следующую</a:t>
            </a:r>
            <a:r>
              <a:rPr lang="en-US" dirty="0"/>
              <a:t> </a:t>
            </a:r>
            <a:r>
              <a:rPr lang="en-US" dirty="0" err="1"/>
              <a:t>итерацию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рано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остальные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закончили</a:t>
            </a:r>
            <a:r>
              <a:rPr lang="en-US" dirty="0"/>
              <a:t> </a:t>
            </a:r>
            <a:r>
              <a:rPr lang="en-US" dirty="0" err="1"/>
              <a:t>обновлять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и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барьер</a:t>
            </a:r>
            <a:r>
              <a:rPr lang="en-US" dirty="0"/>
              <a:t>.</a:t>
            </a:r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и, </a:t>
            </a:r>
            <a:r>
              <a:rPr lang="en-US" dirty="0" err="1"/>
              <a:t>достигнув</a:t>
            </a:r>
            <a:r>
              <a:rPr lang="en-US" dirty="0"/>
              <a:t> </a:t>
            </a:r>
            <a:r>
              <a:rPr lang="en-US" dirty="0" err="1"/>
              <a:t>барьера</a:t>
            </a:r>
            <a:r>
              <a:rPr lang="en-US" dirty="0"/>
              <a:t>,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остальных</a:t>
            </a:r>
            <a:r>
              <a:rPr lang="en-US" dirty="0"/>
              <a:t>.</a:t>
            </a:r>
          </a:p>
          <a:p>
            <a:r>
              <a:rPr lang="en-US" dirty="0" err="1"/>
              <a:t>Допустим</a:t>
            </a:r>
            <a:r>
              <a:rPr lang="en-US" dirty="0"/>
              <a:t>, </a:t>
            </a:r>
            <a:r>
              <a:rPr lang="en-US" dirty="0" err="1"/>
              <a:t>поток</a:t>
            </a:r>
            <a:r>
              <a:rPr lang="en-US" dirty="0"/>
              <a:t> A </a:t>
            </a:r>
            <a:r>
              <a:rPr lang="en-US" dirty="0" err="1"/>
              <a:t>завершил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остальных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останавливается</a:t>
            </a:r>
            <a:r>
              <a:rPr lang="en-US" dirty="0"/>
              <a:t> у </a:t>
            </a:r>
            <a:r>
              <a:rPr lang="en-US" dirty="0" err="1"/>
              <a:t>барьера</a:t>
            </a:r>
            <a:r>
              <a:rPr lang="en-US" dirty="0"/>
              <a:t>.</a:t>
            </a:r>
          </a:p>
          <a:p>
            <a:r>
              <a:rPr lang="en-US" dirty="0" err="1"/>
              <a:t>Поток</a:t>
            </a:r>
            <a:r>
              <a:rPr lang="en-US" dirty="0"/>
              <a:t> B </a:t>
            </a:r>
            <a:r>
              <a:rPr lang="en-US" dirty="0" err="1"/>
              <a:t>заканчивает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 и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C, </a:t>
            </a:r>
            <a:r>
              <a:rPr lang="en-US" dirty="0" err="1"/>
              <a:t>последний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участников</a:t>
            </a:r>
            <a:r>
              <a:rPr lang="en-US" dirty="0"/>
              <a:t>, </a:t>
            </a:r>
            <a:r>
              <a:rPr lang="en-US" dirty="0" err="1"/>
              <a:t>достигает</a:t>
            </a:r>
            <a:r>
              <a:rPr lang="en-US" dirty="0"/>
              <a:t> </a:t>
            </a:r>
            <a:r>
              <a:rPr lang="en-US" dirty="0" err="1"/>
              <a:t>барьера</a:t>
            </a:r>
            <a:r>
              <a:rPr lang="en-US" dirty="0"/>
              <a:t>, </a:t>
            </a:r>
            <a:r>
              <a:rPr lang="en-US" dirty="0" err="1"/>
              <a:t>текущая</a:t>
            </a:r>
            <a:r>
              <a:rPr lang="en-US" dirty="0"/>
              <a:t> </a:t>
            </a:r>
            <a:r>
              <a:rPr lang="en-US" dirty="0" err="1"/>
              <a:t>фаза</a:t>
            </a:r>
            <a:r>
              <a:rPr lang="en-US" dirty="0"/>
              <a:t> </a:t>
            </a:r>
            <a:r>
              <a:rPr lang="en-US" dirty="0" err="1"/>
              <a:t>завершается</a:t>
            </a:r>
            <a:r>
              <a:rPr lang="en-US" dirty="0"/>
              <a:t>.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получают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барьер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строго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кому</a:t>
            </a:r>
            <a:r>
              <a:rPr lang="en-US" dirty="0"/>
              <a:t> и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выделить</a:t>
            </a:r>
            <a:r>
              <a:rPr lang="en-US" dirty="0"/>
              <a:t> CPU.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пройти</a:t>
            </a:r>
            <a:r>
              <a:rPr lang="en-US" dirty="0"/>
              <a:t> </a:t>
            </a:r>
            <a:r>
              <a:rPr lang="en-US" dirty="0" err="1"/>
              <a:t>точку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фазы</a:t>
            </a:r>
            <a:r>
              <a:rPr lang="en-US" dirty="0"/>
              <a:t> </a:t>
            </a:r>
            <a:r>
              <a:rPr lang="en-US" dirty="0" err="1"/>
              <a:t>всеми</a:t>
            </a:r>
            <a:r>
              <a:rPr lang="en-US" dirty="0"/>
              <a:t> </a:t>
            </a:r>
            <a:r>
              <a:rPr lang="en-US" dirty="0" err="1"/>
              <a:t>участниками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мьютекса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назначении</a:t>
            </a:r>
            <a:r>
              <a:rPr lang="en-US" dirty="0"/>
              <a:t>.</a:t>
            </a:r>
          </a:p>
          <a:p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позволять</a:t>
            </a:r>
            <a:r>
              <a:rPr lang="en-US" dirty="0"/>
              <a:t> </a:t>
            </a:r>
            <a:r>
              <a:rPr lang="en-US" dirty="0" err="1"/>
              <a:t>потокам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определённые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 </a:t>
            </a:r>
            <a:r>
              <a:rPr lang="en-US" dirty="0" err="1"/>
              <a:t>Барьер</a:t>
            </a:r>
            <a:r>
              <a:rPr lang="en-US" dirty="0"/>
              <a:t>, </a:t>
            </a:r>
            <a:r>
              <a:rPr lang="en-US" dirty="0" err="1"/>
              <a:t>наоборот</a:t>
            </a:r>
            <a:r>
              <a:rPr lang="en-US" dirty="0"/>
              <a:t>,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нескольким</a:t>
            </a:r>
            <a:r>
              <a:rPr lang="en-US" dirty="0"/>
              <a:t> </a:t>
            </a:r>
            <a:r>
              <a:rPr lang="en-US" dirty="0" err="1"/>
              <a:t>потокам</a:t>
            </a:r>
            <a:r>
              <a:rPr lang="en-US" dirty="0"/>
              <a:t> </a:t>
            </a:r>
            <a:r>
              <a:rPr lang="en-US" dirty="0" err="1"/>
              <a:t>согласованно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параллельные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9004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Начиная</a:t>
            </a:r>
            <a:r>
              <a:rPr lang="en-US" dirty="0"/>
              <a:t> с C++20 в </a:t>
            </a:r>
            <a:r>
              <a:rPr lang="en-US" dirty="0" err="1"/>
              <a:t>стандартной</a:t>
            </a:r>
            <a:r>
              <a:rPr lang="en-US" dirty="0"/>
              <a:t> </a:t>
            </a:r>
            <a:r>
              <a:rPr lang="en-US" dirty="0" err="1"/>
              <a:t>библиотеке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готовая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dirty="0" err="1"/>
              <a:t>барьера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std::barrier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создании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указываем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ожидаемых</a:t>
            </a:r>
            <a:r>
              <a:rPr lang="en-US" dirty="0"/>
              <a:t> </a:t>
            </a:r>
            <a:r>
              <a:rPr lang="en-US" dirty="0" err="1"/>
              <a:t>участников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.</a:t>
            </a:r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PrepareData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первую</a:t>
            </a:r>
            <a:r>
              <a:rPr lang="en-US" dirty="0"/>
              <a:t> </a:t>
            </a:r>
            <a:r>
              <a:rPr lang="en-US" dirty="0" err="1"/>
              <a:t>фазу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syncPoint.arrive_and_wait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барьеру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участник</a:t>
            </a:r>
            <a:r>
              <a:rPr lang="en-US" dirty="0"/>
              <a:t> </a:t>
            </a:r>
            <a:r>
              <a:rPr lang="en-US" dirty="0" err="1"/>
              <a:t>завершил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фазу</a:t>
            </a:r>
            <a:r>
              <a:rPr lang="en-US" dirty="0"/>
              <a:t>, и </a:t>
            </a:r>
            <a:r>
              <a:rPr lang="en-US" dirty="0" err="1"/>
              <a:t>приостанавливает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фазы</a:t>
            </a:r>
            <a:r>
              <a:rPr lang="en-US" dirty="0"/>
              <a:t> </a:t>
            </a:r>
            <a:r>
              <a:rPr lang="en-US" dirty="0" err="1"/>
              <a:t>всей</a:t>
            </a:r>
            <a:r>
              <a:rPr lang="en-US" dirty="0"/>
              <a:t> </a:t>
            </a:r>
            <a:r>
              <a:rPr lang="en-US" dirty="0" err="1"/>
              <a:t>группой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вызовут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arrive_and_wait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dirty="0" err="1"/>
              <a:t>барьер</a:t>
            </a:r>
            <a:r>
              <a:rPr lang="en-US" dirty="0"/>
              <a:t> </a:t>
            </a:r>
            <a:r>
              <a:rPr lang="en-US" dirty="0" err="1"/>
              <a:t>позволит</a:t>
            </a:r>
            <a:r>
              <a:rPr lang="en-US" dirty="0"/>
              <a:t> </a:t>
            </a:r>
            <a:r>
              <a:rPr lang="en-US" dirty="0" err="1"/>
              <a:t>им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приступить</a:t>
            </a:r>
            <a:r>
              <a:rPr lang="en-US" dirty="0"/>
              <a:t> к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ProcessResults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особенность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std::barrier</a:t>
            </a:r>
            <a:r>
              <a:rPr lang="en-US" dirty="0"/>
              <a:t> —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многократного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r>
              <a:rPr lang="en-US" dirty="0"/>
              <a:t>. Это </a:t>
            </a:r>
            <a:r>
              <a:rPr lang="en-US" dirty="0" err="1"/>
              <a:t>отличает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std::latch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предназначен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однократной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полезная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— completion function.</a:t>
            </a:r>
          </a:p>
          <a:p>
            <a:r>
              <a:rPr lang="en-US" dirty="0"/>
              <a:t>Это </a:t>
            </a:r>
            <a:r>
              <a:rPr lang="en-US" dirty="0" err="1"/>
              <a:t>функция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прибытия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участников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ожидающие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продолжат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обновления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, </a:t>
            </a:r>
            <a:r>
              <a:rPr lang="en-US" dirty="0" err="1"/>
              <a:t>переключения</a:t>
            </a:r>
            <a:r>
              <a:rPr lang="en-US" dirty="0"/>
              <a:t> </a:t>
            </a:r>
            <a:r>
              <a:rPr lang="en-US" dirty="0" err="1"/>
              <a:t>буферов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увеличения</a:t>
            </a:r>
            <a:r>
              <a:rPr lang="en-US" dirty="0"/>
              <a:t> </a:t>
            </a:r>
            <a:r>
              <a:rPr lang="en-US" dirty="0" err="1"/>
              <a:t>номера</a:t>
            </a:r>
            <a:r>
              <a:rPr lang="en-US" dirty="0"/>
              <a:t> </a:t>
            </a:r>
            <a:r>
              <a:rPr lang="en-US" dirty="0" err="1"/>
              <a:t>итерации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arrive_and_drop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завершает</a:t>
            </a:r>
            <a:r>
              <a:rPr lang="en-US" dirty="0"/>
              <a:t> </a:t>
            </a:r>
            <a:r>
              <a:rPr lang="en-US" dirty="0" err="1"/>
              <a:t>участие</a:t>
            </a:r>
            <a:r>
              <a:rPr lang="en-US" dirty="0"/>
              <a:t> в </a:t>
            </a:r>
            <a:r>
              <a:rPr lang="en-US" dirty="0" err="1"/>
              <a:t>вычислениях</a:t>
            </a:r>
            <a:r>
              <a:rPr lang="en-US" dirty="0"/>
              <a:t> и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учитываться</a:t>
            </a:r>
            <a:r>
              <a:rPr lang="en-US" dirty="0"/>
              <a:t> в </a:t>
            </a:r>
            <a:r>
              <a:rPr lang="en-US" dirty="0" err="1"/>
              <a:t>последующих</a:t>
            </a:r>
            <a:r>
              <a:rPr lang="en-US" dirty="0"/>
              <a:t> </a:t>
            </a:r>
            <a:r>
              <a:rPr lang="en-US" dirty="0" err="1"/>
              <a:t>фазах</a:t>
            </a:r>
            <a:r>
              <a:rPr lang="en-US" dirty="0"/>
              <a:t> </a:t>
            </a:r>
            <a:r>
              <a:rPr lang="en-US" dirty="0" err="1"/>
              <a:t>барьера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подчеркнуть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барьер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необходимые</a:t>
            </a:r>
            <a:r>
              <a:rPr lang="en-US" dirty="0"/>
              <a:t> </a:t>
            </a:r>
            <a:r>
              <a:rPr lang="en-US" dirty="0" err="1"/>
              <a:t>гарантии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фазами</a:t>
            </a:r>
            <a:r>
              <a:rPr lang="en-US" dirty="0"/>
              <a:t>. Это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: </a:t>
            </a:r>
            <a:r>
              <a:rPr lang="en-US" dirty="0" err="1"/>
              <a:t>изменения</a:t>
            </a:r>
            <a:r>
              <a:rPr lang="en-US" dirty="0"/>
              <a:t>, </a:t>
            </a:r>
            <a:r>
              <a:rPr lang="en-US" dirty="0" err="1"/>
              <a:t>сделанные</a:t>
            </a:r>
            <a:r>
              <a:rPr lang="en-US" dirty="0"/>
              <a:t> </a:t>
            </a:r>
            <a:r>
              <a:rPr lang="en-US" dirty="0" err="1"/>
              <a:t>участниками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фазы</a:t>
            </a:r>
            <a:r>
              <a:rPr lang="en-US" dirty="0"/>
              <a:t>, </a:t>
            </a:r>
            <a:r>
              <a:rPr lang="en-US" dirty="0" err="1"/>
              <a:t>должным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упорядочиваются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барьера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барьер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</a:t>
            </a:r>
            <a:r>
              <a:rPr lang="en-US" dirty="0" err="1"/>
              <a:t>аварийного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участников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перестанет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достигнет</a:t>
            </a:r>
            <a:r>
              <a:rPr lang="en-US" dirty="0"/>
              <a:t> </a:t>
            </a:r>
            <a:r>
              <a:rPr lang="en-US" dirty="0" err="1"/>
              <a:t>барьера</a:t>
            </a:r>
            <a:r>
              <a:rPr lang="en-US" dirty="0"/>
              <a:t>, </a:t>
            </a:r>
            <a:r>
              <a:rPr lang="en-US" dirty="0" err="1"/>
              <a:t>остальные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остаться</a:t>
            </a:r>
            <a:r>
              <a:rPr lang="en-US" dirty="0"/>
              <a:t> в </a:t>
            </a:r>
            <a:r>
              <a:rPr lang="en-US" dirty="0" err="1"/>
              <a:t>ожидании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73790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, в </a:t>
            </a:r>
            <a:r>
              <a:rPr lang="en-US" dirty="0" err="1"/>
              <a:t>котором</a:t>
            </a:r>
            <a:r>
              <a:rPr lang="en-US" dirty="0"/>
              <a:t> </a:t>
            </a:r>
            <a:r>
              <a:rPr lang="en-US" dirty="0" err="1"/>
              <a:t>барьеры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полезны</a:t>
            </a:r>
            <a:r>
              <a:rPr lang="en-US" dirty="0"/>
              <a:t>, — </a:t>
            </a:r>
            <a:r>
              <a:rPr lang="en-US" dirty="0" err="1"/>
              <a:t>игру</a:t>
            </a:r>
            <a:r>
              <a:rPr lang="en-US" dirty="0"/>
              <a:t> «</a:t>
            </a:r>
            <a:r>
              <a:rPr lang="en-US" dirty="0" err="1"/>
              <a:t>Жизнь</a:t>
            </a:r>
            <a:r>
              <a:rPr lang="en-US" dirty="0"/>
              <a:t>» </a:t>
            </a:r>
            <a:r>
              <a:rPr lang="en-US" dirty="0" err="1"/>
              <a:t>Джона</a:t>
            </a:r>
            <a:r>
              <a:rPr lang="en-US" dirty="0"/>
              <a:t> </a:t>
            </a:r>
            <a:r>
              <a:rPr lang="en-US" dirty="0" err="1"/>
              <a:t>Конвея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клеточный</a:t>
            </a:r>
            <a:r>
              <a:rPr lang="en-US" dirty="0"/>
              <a:t> </a:t>
            </a:r>
            <a:r>
              <a:rPr lang="en-US" dirty="0" err="1"/>
              <a:t>автомат</a:t>
            </a:r>
            <a:r>
              <a:rPr lang="en-US" dirty="0"/>
              <a:t>: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двумерное</a:t>
            </a:r>
            <a:r>
              <a:rPr lang="en-US" dirty="0"/>
              <a:t> </a:t>
            </a:r>
            <a:r>
              <a:rPr lang="en-US" dirty="0" err="1"/>
              <a:t>поле</a:t>
            </a:r>
            <a:r>
              <a:rPr lang="en-US" dirty="0"/>
              <a:t>,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клетка</a:t>
            </a:r>
            <a:r>
              <a:rPr lang="en-US" dirty="0"/>
              <a:t> </a:t>
            </a:r>
            <a:r>
              <a:rPr lang="en-US" dirty="0" err="1"/>
              <a:t>которого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состояний</a:t>
            </a:r>
            <a:r>
              <a:rPr lang="en-US" dirty="0"/>
              <a:t> — </a:t>
            </a:r>
            <a:r>
              <a:rPr lang="en-US" dirty="0" err="1"/>
              <a:t>живая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мёртвая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каждом</a:t>
            </a:r>
            <a:r>
              <a:rPr lang="en-US" dirty="0"/>
              <a:t> </a:t>
            </a:r>
            <a:r>
              <a:rPr lang="en-US" dirty="0" err="1"/>
              <a:t>шаге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вычисляем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клеток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простым</a:t>
            </a:r>
            <a:r>
              <a:rPr lang="en-US" dirty="0"/>
              <a:t> </a:t>
            </a:r>
            <a:r>
              <a:rPr lang="en-US" dirty="0" err="1"/>
              <a:t>правилам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Живая</a:t>
            </a:r>
            <a:r>
              <a:rPr lang="en-US" dirty="0"/>
              <a:t> </a:t>
            </a:r>
            <a:r>
              <a:rPr lang="en-US" dirty="0" err="1"/>
              <a:t>клетка</a:t>
            </a:r>
            <a:r>
              <a:rPr lang="en-US" dirty="0"/>
              <a:t> </a:t>
            </a:r>
            <a:r>
              <a:rPr lang="en-US" dirty="0" err="1"/>
              <a:t>сохраняется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у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живых</a:t>
            </a:r>
            <a:r>
              <a:rPr lang="en-US" dirty="0"/>
              <a:t> </a:t>
            </a:r>
            <a:r>
              <a:rPr lang="en-US" dirty="0" err="1"/>
              <a:t>соседа</a:t>
            </a:r>
            <a:r>
              <a:rPr lang="en-US" dirty="0"/>
              <a:t>. </a:t>
            </a:r>
            <a:r>
              <a:rPr lang="en-US" dirty="0" err="1"/>
              <a:t>Мёртвая</a:t>
            </a:r>
            <a:r>
              <a:rPr lang="en-US" dirty="0"/>
              <a:t> </a:t>
            </a:r>
            <a:r>
              <a:rPr lang="en-US" dirty="0" err="1"/>
              <a:t>клетка</a:t>
            </a:r>
            <a:r>
              <a:rPr lang="en-US" dirty="0"/>
              <a:t> </a:t>
            </a:r>
            <a:r>
              <a:rPr lang="en-US" dirty="0" err="1"/>
              <a:t>оживает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у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ровно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живых</a:t>
            </a:r>
            <a:r>
              <a:rPr lang="en-US" dirty="0"/>
              <a:t> </a:t>
            </a:r>
            <a:r>
              <a:rPr lang="en-US" dirty="0" err="1"/>
              <a:t>соседа</a:t>
            </a:r>
            <a:r>
              <a:rPr lang="en-US" dirty="0"/>
              <a:t>. В </a:t>
            </a:r>
            <a:r>
              <a:rPr lang="en-US" dirty="0" err="1"/>
              <a:t>остальных</a:t>
            </a:r>
            <a:r>
              <a:rPr lang="en-US" dirty="0"/>
              <a:t> </a:t>
            </a:r>
            <a:r>
              <a:rPr lang="en-US" dirty="0" err="1"/>
              <a:t>случаях</a:t>
            </a:r>
            <a:r>
              <a:rPr lang="en-US" dirty="0"/>
              <a:t> </a:t>
            </a:r>
            <a:r>
              <a:rPr lang="en-US" dirty="0" err="1"/>
              <a:t>клетка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мёртвой</a:t>
            </a:r>
            <a:r>
              <a:rPr lang="en-US" dirty="0"/>
              <a:t>.</a:t>
            </a:r>
          </a:p>
          <a:p>
            <a:r>
              <a:rPr lang="en-US" dirty="0" err="1"/>
              <a:t>Главное</a:t>
            </a:r>
            <a:r>
              <a:rPr lang="en-US" dirty="0"/>
              <a:t> </a:t>
            </a:r>
            <a:r>
              <a:rPr lang="en-US" dirty="0" err="1"/>
              <a:t>условие</a:t>
            </a:r>
            <a:r>
              <a:rPr lang="en-US" dirty="0"/>
              <a:t>: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клетки</a:t>
            </a:r>
            <a:r>
              <a:rPr lang="en-US" dirty="0"/>
              <a:t> </a:t>
            </a:r>
            <a:r>
              <a:rPr lang="en-US" dirty="0" err="1"/>
              <a:t>следующего</a:t>
            </a:r>
            <a:r>
              <a:rPr lang="en-US" dirty="0"/>
              <a:t> </a:t>
            </a:r>
            <a:r>
              <a:rPr lang="en-US" dirty="0" err="1"/>
              <a:t>поколения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вычисляться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и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предыдущего</a:t>
            </a:r>
            <a:r>
              <a:rPr lang="en-US" dirty="0"/>
              <a:t> </a:t>
            </a:r>
            <a:r>
              <a:rPr lang="en-US" dirty="0" err="1"/>
              <a:t>поколения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клетки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в </a:t>
            </a:r>
            <a:r>
              <a:rPr lang="en-US" dirty="0" err="1"/>
              <a:t>исходном</a:t>
            </a:r>
            <a:r>
              <a:rPr lang="en-US" dirty="0"/>
              <a:t> </a:t>
            </a:r>
            <a:r>
              <a:rPr lang="en-US" dirty="0" err="1"/>
              <a:t>поле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ошибку</a:t>
            </a:r>
            <a:r>
              <a:rPr lang="en-US" dirty="0"/>
              <a:t>: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вычислении</a:t>
            </a:r>
            <a:r>
              <a:rPr lang="en-US" dirty="0"/>
              <a:t> </a:t>
            </a:r>
            <a:r>
              <a:rPr lang="en-US" dirty="0" err="1"/>
              <a:t>соседних</a:t>
            </a:r>
            <a:r>
              <a:rPr lang="en-US" dirty="0"/>
              <a:t> </a:t>
            </a:r>
            <a:r>
              <a:rPr lang="en-US" dirty="0" err="1"/>
              <a:t>клеток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относиться</a:t>
            </a:r>
            <a:r>
              <a:rPr lang="en-US" dirty="0"/>
              <a:t> к </a:t>
            </a:r>
            <a:r>
              <a:rPr lang="en-US" dirty="0" err="1"/>
              <a:t>следующему</a:t>
            </a:r>
            <a:r>
              <a:rPr lang="en-US" dirty="0"/>
              <a:t> </a:t>
            </a:r>
            <a:r>
              <a:rPr lang="en-US" dirty="0" err="1"/>
              <a:t>поколению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используем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поля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</a:t>
            </a:r>
            <a:r>
              <a:rPr lang="en-US" dirty="0"/>
              <a:t>.</a:t>
            </a:r>
          </a:p>
          <a:p>
            <a:r>
              <a:rPr lang="en-US" dirty="0" err="1"/>
              <a:t>Первое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текущее</a:t>
            </a:r>
            <a:r>
              <a:rPr lang="en-US" dirty="0"/>
              <a:t> </a:t>
            </a:r>
            <a:r>
              <a:rPr lang="en-US" dirty="0" err="1"/>
              <a:t>поколение</a:t>
            </a:r>
            <a:r>
              <a:rPr lang="en-US" dirty="0"/>
              <a:t>, а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второе</a:t>
            </a:r>
            <a:r>
              <a:rPr lang="en-US" dirty="0"/>
              <a:t> </a:t>
            </a:r>
            <a:r>
              <a:rPr lang="en-US" dirty="0" err="1"/>
              <a:t>записывается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разделим</a:t>
            </a:r>
            <a:r>
              <a:rPr lang="en-US" dirty="0"/>
              <a:t> </a:t>
            </a:r>
            <a:r>
              <a:rPr lang="en-US" dirty="0" err="1"/>
              <a:t>строки</a:t>
            </a:r>
            <a:r>
              <a:rPr lang="en-US" dirty="0"/>
              <a:t> </a:t>
            </a:r>
            <a:r>
              <a:rPr lang="en-US" dirty="0" err="1"/>
              <a:t>поля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рабочих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,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вычисляет</a:t>
            </a:r>
            <a:r>
              <a:rPr lang="en-US" dirty="0"/>
              <a:t> </a:t>
            </a:r>
            <a:r>
              <a:rPr lang="en-US" dirty="0" err="1"/>
              <a:t>строки</a:t>
            </a:r>
            <a:r>
              <a:rPr lang="en-US" dirty="0"/>
              <a:t> с </a:t>
            </a:r>
            <a:r>
              <a:rPr lang="en-US" dirty="0" err="1"/>
              <a:t>номерами</a:t>
            </a:r>
            <a:r>
              <a:rPr lang="en-US" dirty="0"/>
              <a:t> 0, 3, 6 и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далее</a:t>
            </a:r>
            <a:r>
              <a:rPr lang="en-US" dirty="0"/>
              <a:t>. </a:t>
            </a:r>
            <a:r>
              <a:rPr lang="en-US" dirty="0" err="1"/>
              <a:t>Второй</a:t>
            </a:r>
            <a:r>
              <a:rPr lang="en-US" dirty="0"/>
              <a:t> — </a:t>
            </a:r>
            <a:r>
              <a:rPr lang="en-US" dirty="0" err="1"/>
              <a:t>строки</a:t>
            </a:r>
            <a:r>
              <a:rPr lang="en-US" dirty="0"/>
              <a:t> 1, 4, 7. </a:t>
            </a:r>
            <a:r>
              <a:rPr lang="en-US" dirty="0" err="1"/>
              <a:t>Третий</a:t>
            </a:r>
            <a:r>
              <a:rPr lang="en-US" dirty="0"/>
              <a:t> — </a:t>
            </a:r>
            <a:r>
              <a:rPr lang="en-US" dirty="0" err="1"/>
              <a:t>строки</a:t>
            </a:r>
            <a:r>
              <a:rPr lang="en-US" dirty="0"/>
              <a:t> 2, 5, 8.</a:t>
            </a:r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читает</a:t>
            </a:r>
            <a:r>
              <a:rPr lang="en-US" dirty="0"/>
              <a:t> </a:t>
            </a:r>
            <a:r>
              <a:rPr lang="en-US" dirty="0" err="1"/>
              <a:t>одни</a:t>
            </a:r>
            <a:r>
              <a:rPr lang="en-US" dirty="0"/>
              <a:t> и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записывает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в </a:t>
            </a:r>
            <a:r>
              <a:rPr lang="en-US" dirty="0" err="1"/>
              <a:t>принадлежащие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строки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конфликтуют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завершил</a:t>
            </a:r>
            <a:r>
              <a:rPr lang="en-US" dirty="0"/>
              <a:t> </a:t>
            </a:r>
            <a:r>
              <a:rPr lang="en-US" dirty="0" err="1"/>
              <a:t>вычисление</a:t>
            </a:r>
            <a:r>
              <a:rPr lang="en-US" dirty="0"/>
              <a:t> </a:t>
            </a:r>
            <a:r>
              <a:rPr lang="en-US" dirty="0" err="1"/>
              <a:t>своих</a:t>
            </a:r>
            <a:r>
              <a:rPr lang="en-US" dirty="0"/>
              <a:t> </a:t>
            </a:r>
            <a:r>
              <a:rPr lang="en-US" dirty="0" err="1"/>
              <a:t>строк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arrive_and_wait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 </a:t>
            </a:r>
            <a:r>
              <a:rPr lang="en-US" dirty="0" err="1"/>
              <a:t>всеми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completion function </a:t>
            </a:r>
            <a:r>
              <a:rPr lang="en-US" dirty="0" err="1"/>
              <a:t>барьера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ней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меняем</a:t>
            </a:r>
            <a:r>
              <a:rPr lang="en-US" dirty="0"/>
              <a:t> </a:t>
            </a:r>
            <a:r>
              <a:rPr lang="en-US" dirty="0" err="1"/>
              <a:t>указатели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</a:t>
            </a:r>
            <a:r>
              <a:rPr lang="en-US" dirty="0"/>
              <a:t> </a:t>
            </a:r>
            <a:r>
              <a:rPr lang="en-US" dirty="0" err="1"/>
              <a:t>местами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вычисленное</a:t>
            </a:r>
            <a:r>
              <a:rPr lang="en-US" dirty="0"/>
              <a:t> </a:t>
            </a:r>
            <a:r>
              <a:rPr lang="en-US" dirty="0" err="1"/>
              <a:t>поколение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текущим</a:t>
            </a:r>
            <a:r>
              <a:rPr lang="en-US" dirty="0"/>
              <a:t>, а </a:t>
            </a:r>
            <a:r>
              <a:rPr lang="en-US" dirty="0" err="1"/>
              <a:t>старый</a:t>
            </a:r>
            <a:r>
              <a:rPr lang="en-US" dirty="0"/>
              <a:t> </a:t>
            </a:r>
            <a:r>
              <a:rPr lang="en-US" dirty="0" err="1"/>
              <a:t>буфер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следующего</a:t>
            </a:r>
            <a:r>
              <a:rPr lang="en-US" dirty="0"/>
              <a:t> </a:t>
            </a:r>
            <a:r>
              <a:rPr lang="en-US" dirty="0" err="1"/>
              <a:t>шага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и </a:t>
            </a:r>
            <a:r>
              <a:rPr lang="en-US" dirty="0" err="1"/>
              <a:t>корректный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многопоточного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 </a:t>
            </a:r>
            <a:r>
              <a:rPr lang="en-US" dirty="0" err="1"/>
              <a:t>игры</a:t>
            </a:r>
            <a:r>
              <a:rPr lang="en-US" dirty="0"/>
              <a:t> «</a:t>
            </a:r>
            <a:r>
              <a:rPr lang="en-US" dirty="0" err="1"/>
              <a:t>Жизнь</a:t>
            </a:r>
            <a:r>
              <a:rPr lang="en-US" dirty="0"/>
              <a:t>».</a:t>
            </a:r>
          </a:p>
          <a:p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swap()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фазу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отдельно</a:t>
            </a:r>
            <a:r>
              <a:rPr lang="en-US" dirty="0"/>
              <a:t> </a:t>
            </a:r>
            <a:r>
              <a:rPr lang="en-US" dirty="0" err="1"/>
              <a:t>каждым</a:t>
            </a:r>
            <a:r>
              <a:rPr lang="en-US" dirty="0"/>
              <a:t> </a:t>
            </a:r>
            <a:r>
              <a:rPr lang="en-US" dirty="0" err="1"/>
              <a:t>потоком</a:t>
            </a:r>
            <a:r>
              <a:rPr lang="en-US" dirty="0"/>
              <a:t>.</a:t>
            </a:r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демонстрирует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барьер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заставить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, а </a:t>
            </a:r>
            <a:r>
              <a:rPr lang="en-US" dirty="0" err="1"/>
              <a:t>средство</a:t>
            </a:r>
            <a:r>
              <a:rPr lang="en-US" dirty="0"/>
              <a:t> </a:t>
            </a:r>
            <a:r>
              <a:rPr lang="en-US" dirty="0" err="1"/>
              <a:t>поддержания</a:t>
            </a:r>
            <a:r>
              <a:rPr lang="en-US" dirty="0"/>
              <a:t> </a:t>
            </a:r>
            <a:r>
              <a:rPr lang="en-US" dirty="0" err="1"/>
              <a:t>согласованности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последовательными</a:t>
            </a:r>
            <a:r>
              <a:rPr lang="en-US" dirty="0"/>
              <a:t> </a:t>
            </a:r>
            <a:r>
              <a:rPr lang="en-US" dirty="0" err="1"/>
              <a:t>этапами</a:t>
            </a:r>
            <a:r>
              <a:rPr lang="en-US" dirty="0"/>
              <a:t> </a:t>
            </a:r>
            <a:r>
              <a:rPr lang="en-US" dirty="0" err="1"/>
              <a:t>параллельного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52917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рассматривали</a:t>
            </a:r>
            <a:r>
              <a:rPr lang="en-US" dirty="0"/>
              <a:t> </a:t>
            </a:r>
            <a:r>
              <a:rPr lang="en-US" dirty="0" err="1"/>
              <a:t>ситуации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выполняют</a:t>
            </a:r>
            <a:r>
              <a:rPr lang="en-US" dirty="0"/>
              <a:t> </a:t>
            </a:r>
            <a:r>
              <a:rPr lang="en-US" dirty="0" err="1"/>
              <a:t>некоторую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и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нормально</a:t>
            </a:r>
            <a:r>
              <a:rPr lang="en-US" dirty="0"/>
              <a:t> </a:t>
            </a:r>
            <a:r>
              <a:rPr lang="en-US" dirty="0" err="1"/>
              <a:t>завершаются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настоящих</a:t>
            </a:r>
            <a:r>
              <a:rPr lang="en-US" dirty="0"/>
              <a:t> </a:t>
            </a:r>
            <a:r>
              <a:rPr lang="en-US" dirty="0" err="1"/>
              <a:t>приложениях</a:t>
            </a:r>
            <a:r>
              <a:rPr lang="en-US" dirty="0"/>
              <a:t> </a:t>
            </a:r>
            <a:r>
              <a:rPr lang="en-US" dirty="0" err="1"/>
              <a:t>рабочие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длительное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сервер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в </a:t>
            </a:r>
            <a:r>
              <a:rPr lang="en-US" dirty="0" err="1"/>
              <a:t>цикле</a:t>
            </a:r>
            <a:r>
              <a:rPr lang="en-US" dirty="0"/>
              <a:t> </a:t>
            </a:r>
            <a:r>
              <a:rPr lang="en-US" dirty="0" err="1"/>
              <a:t>обрабатывают</a:t>
            </a:r>
            <a:r>
              <a:rPr lang="en-US" dirty="0"/>
              <a:t> </a:t>
            </a:r>
            <a:r>
              <a:rPr lang="en-US" dirty="0" err="1"/>
              <a:t>поступающие</a:t>
            </a:r>
            <a:r>
              <a:rPr lang="en-US" dirty="0"/>
              <a:t> </a:t>
            </a:r>
            <a:r>
              <a:rPr lang="en-US" dirty="0" err="1"/>
              <a:t>запросы</a:t>
            </a:r>
            <a:r>
              <a:rPr lang="en-US" dirty="0"/>
              <a:t>.</a:t>
            </a:r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захочет</a:t>
            </a:r>
            <a:r>
              <a:rPr lang="en-US" dirty="0"/>
              <a:t> </a:t>
            </a:r>
            <a:r>
              <a:rPr lang="en-US" dirty="0" err="1"/>
              <a:t>завершить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уничтожить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.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в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общие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удерживать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.</a:t>
            </a:r>
          </a:p>
          <a:p>
            <a:r>
              <a:rPr lang="en-US" dirty="0" err="1"/>
              <a:t>Принудительная</a:t>
            </a:r>
            <a:r>
              <a:rPr lang="en-US" dirty="0"/>
              <a:t> </a:t>
            </a:r>
            <a:r>
              <a:rPr lang="en-US" dirty="0" err="1"/>
              <a:t>остановка</a:t>
            </a:r>
            <a:r>
              <a:rPr lang="en-US" dirty="0"/>
              <a:t> </a:t>
            </a:r>
            <a:r>
              <a:rPr lang="en-US" dirty="0" err="1"/>
              <a:t>произвольного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опасна</a:t>
            </a:r>
            <a:r>
              <a:rPr lang="en-US" dirty="0"/>
              <a:t>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оставить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в </a:t>
            </a:r>
            <a:r>
              <a:rPr lang="en-US" dirty="0" err="1"/>
              <a:t>некорректном</a:t>
            </a:r>
            <a:r>
              <a:rPr lang="en-US" dirty="0"/>
              <a:t> </a:t>
            </a:r>
            <a:r>
              <a:rPr lang="en-US" dirty="0" err="1"/>
              <a:t>состоянии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современном</a:t>
            </a:r>
            <a:r>
              <a:rPr lang="en-US" dirty="0"/>
              <a:t> C++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кооперативной</a:t>
            </a:r>
            <a:r>
              <a:rPr lang="en-US" dirty="0"/>
              <a:t> </a:t>
            </a:r>
            <a:r>
              <a:rPr lang="en-US" dirty="0" err="1"/>
              <a:t>отмены</a:t>
            </a:r>
            <a:r>
              <a:rPr lang="en-US" dirty="0"/>
              <a:t>.</a:t>
            </a:r>
          </a:p>
          <a:p>
            <a:r>
              <a:rPr lang="en-US" dirty="0" err="1"/>
              <a:t>Начиная</a:t>
            </a:r>
            <a:r>
              <a:rPr lang="en-US" dirty="0"/>
              <a:t> с C++20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похож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std::thread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дополнительно</a:t>
            </a:r>
            <a:r>
              <a:rPr lang="en-US" dirty="0"/>
              <a:t> </a:t>
            </a:r>
            <a:r>
              <a:rPr lang="en-US" dirty="0" err="1"/>
              <a:t>поддерживает</a:t>
            </a:r>
            <a:r>
              <a:rPr lang="en-US" dirty="0"/>
              <a:t> </a:t>
            </a:r>
            <a:r>
              <a:rPr lang="en-US" dirty="0" err="1"/>
              <a:t>запросы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остановку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создании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dirty="0" err="1"/>
              <a:t>рабочей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stop_token</a:t>
            </a:r>
            <a:r>
              <a:rPr lang="en-US" dirty="0"/>
              <a:t>.</a:t>
            </a:r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 </a:t>
            </a:r>
            <a:r>
              <a:rPr lang="en-US" dirty="0" err="1"/>
              <a:t>проверять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поступил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запрос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завершение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ProcessNextTask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тех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stop_requested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возвращает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request_stop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в </a:t>
            </a:r>
            <a:r>
              <a:rPr lang="en-US" dirty="0" err="1"/>
              <a:t>общем</a:t>
            </a:r>
            <a:r>
              <a:rPr lang="en-US" dirty="0"/>
              <a:t> </a:t>
            </a:r>
            <a:r>
              <a:rPr lang="en-US" dirty="0" err="1"/>
              <a:t>состоянии</a:t>
            </a:r>
            <a:r>
              <a:rPr lang="en-US" dirty="0"/>
              <a:t> </a:t>
            </a:r>
            <a:r>
              <a:rPr lang="en-US" dirty="0" err="1"/>
              <a:t>остановки</a:t>
            </a:r>
            <a:r>
              <a:rPr lang="en-US" dirty="0"/>
              <a:t> </a:t>
            </a:r>
            <a:r>
              <a:rPr lang="en-US" dirty="0" err="1"/>
              <a:t>устанавливается</a:t>
            </a:r>
            <a:r>
              <a:rPr lang="en-US" dirty="0"/>
              <a:t> </a:t>
            </a:r>
            <a:r>
              <a:rPr lang="en-US" dirty="0" err="1"/>
              <a:t>соответствующий</a:t>
            </a:r>
            <a:r>
              <a:rPr lang="en-US" dirty="0"/>
              <a:t> </a:t>
            </a:r>
            <a:r>
              <a:rPr lang="en-US" dirty="0" err="1"/>
              <a:t>признак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следующей</a:t>
            </a:r>
            <a:r>
              <a:rPr lang="en-US" dirty="0"/>
              <a:t> </a:t>
            </a:r>
            <a:r>
              <a:rPr lang="en-US" dirty="0" err="1"/>
              <a:t>проверке</a:t>
            </a:r>
            <a:r>
              <a:rPr lang="en-US" dirty="0"/>
              <a:t> </a:t>
            </a:r>
            <a:r>
              <a:rPr lang="en-US" dirty="0" err="1"/>
              <a:t>рабочий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обнаружит</a:t>
            </a:r>
            <a:r>
              <a:rPr lang="en-US" dirty="0"/>
              <a:t> </a:t>
            </a:r>
            <a:r>
              <a:rPr lang="en-US" dirty="0" err="1"/>
              <a:t>запрос</a:t>
            </a:r>
            <a:r>
              <a:rPr lang="en-US" dirty="0"/>
              <a:t>, </a:t>
            </a:r>
            <a:r>
              <a:rPr lang="en-US" dirty="0" err="1"/>
              <a:t>выйдет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цикла</a:t>
            </a:r>
            <a:r>
              <a:rPr lang="en-US" dirty="0"/>
              <a:t> и </a:t>
            </a:r>
            <a:r>
              <a:rPr lang="en-US" dirty="0" err="1"/>
              <a:t>завершит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join()</a:t>
            </a:r>
            <a:r>
              <a:rPr lang="en-US" dirty="0"/>
              <a:t> </a:t>
            </a:r>
            <a:r>
              <a:rPr lang="en-US" dirty="0" err="1"/>
              <a:t>позволит</a:t>
            </a:r>
            <a:r>
              <a:rPr lang="en-US" dirty="0"/>
              <a:t> </a:t>
            </a:r>
            <a:r>
              <a:rPr lang="en-US" dirty="0" err="1"/>
              <a:t>вызывающему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 </a:t>
            </a:r>
            <a:r>
              <a:rPr lang="en-US" dirty="0" err="1"/>
              <a:t>дождаться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.</a:t>
            </a:r>
          </a:p>
          <a:p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особенность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en-US" dirty="0"/>
              <a:t>: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уничтожении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связан</a:t>
            </a:r>
            <a:r>
              <a:rPr lang="en-US" dirty="0"/>
              <a:t> с </a:t>
            </a:r>
            <a:r>
              <a:rPr lang="en-US" dirty="0" err="1"/>
              <a:t>потоком</a:t>
            </a:r>
            <a:r>
              <a:rPr lang="en-US" dirty="0"/>
              <a:t>,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деструктор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request_stop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join()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помнить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запрос</a:t>
            </a:r>
            <a:r>
              <a:rPr lang="en-US" dirty="0"/>
              <a:t> </a:t>
            </a:r>
            <a:r>
              <a:rPr lang="en-US" dirty="0" err="1"/>
              <a:t>остановки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командой</a:t>
            </a:r>
            <a:r>
              <a:rPr lang="en-US" dirty="0"/>
              <a:t> </a:t>
            </a:r>
            <a:r>
              <a:rPr lang="en-US" dirty="0" err="1"/>
              <a:t>немедленного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рабочий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долгую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навсегда</a:t>
            </a:r>
            <a:r>
              <a:rPr lang="en-US" dirty="0"/>
              <a:t> </a:t>
            </a:r>
            <a:r>
              <a:rPr lang="en-US" dirty="0" err="1"/>
              <a:t>заблокирован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успеть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stop_token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деструктор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долго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остановить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состоянии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20448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интересную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рабочий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ждёт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условная</a:t>
            </a:r>
            <a:r>
              <a:rPr lang="en-US" dirty="0"/>
              <a:t> </a:t>
            </a:r>
            <a:r>
              <a:rPr lang="en-US" dirty="0" err="1"/>
              <a:t>переменная</a:t>
            </a:r>
            <a:r>
              <a:rPr lang="en-US" dirty="0"/>
              <a:t>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недоступны</a:t>
            </a:r>
            <a:r>
              <a:rPr lang="en-US" dirty="0"/>
              <a:t>,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заблокирован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расходует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остановить</a:t>
            </a:r>
            <a:r>
              <a:rPr lang="en-US" dirty="0"/>
              <a:t>?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вызвать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request_stop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dirty="0" err="1"/>
              <a:t>обычная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condition_variable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обязана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пробудить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.</a:t>
            </a:r>
          </a:p>
          <a:p>
            <a:r>
              <a:rPr lang="en-US" dirty="0"/>
              <a:t>В C++20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удобный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condition_variable_any</a:t>
            </a:r>
            <a:r>
              <a:rPr lang="en-US" dirty="0"/>
              <a:t> с </a:t>
            </a:r>
            <a:r>
              <a:rPr lang="en-US" dirty="0" err="1"/>
              <a:t>поддержкой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stop_token</a:t>
            </a:r>
            <a:r>
              <a:rPr lang="en-US" dirty="0"/>
              <a:t>.</a:t>
            </a:r>
          </a:p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</a:t>
            </a:r>
            <a:r>
              <a:rPr lang="en-US" dirty="0" err="1"/>
              <a:t>условную</a:t>
            </a:r>
            <a:r>
              <a:rPr lang="en-US" dirty="0"/>
              <a:t> </a:t>
            </a:r>
            <a:r>
              <a:rPr lang="en-US" dirty="0" err="1"/>
              <a:t>переменную</a:t>
            </a:r>
            <a:r>
              <a:rPr lang="en-US" dirty="0"/>
              <a:t> и </a:t>
            </a:r>
            <a:r>
              <a:rPr lang="en-US" dirty="0" err="1"/>
              <a:t>флаг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 о </a:t>
            </a:r>
            <a:r>
              <a:rPr lang="en-US" dirty="0" err="1"/>
              <a:t>доступности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r>
              <a:rPr lang="en-US" dirty="0" err="1"/>
              <a:t>Изначально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en-US" dirty="0"/>
              <a:t> </a:t>
            </a:r>
            <a:r>
              <a:rPr lang="en-US" dirty="0" err="1"/>
              <a:t>равен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en-US" dirty="0"/>
              <a:t>. </a:t>
            </a:r>
            <a:r>
              <a:rPr lang="en-US" dirty="0" err="1"/>
              <a:t>Рабочая</a:t>
            </a:r>
            <a:r>
              <a:rPr lang="en-US" dirty="0"/>
              <a:t>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stop_token</a:t>
            </a:r>
            <a:r>
              <a:rPr lang="en-US" dirty="0"/>
              <a:t>,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и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cv.wait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dirty="0" err="1"/>
              <a:t>передавая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аргумента</a:t>
            </a:r>
            <a:r>
              <a:rPr lang="en-US" dirty="0"/>
              <a:t>: </a:t>
            </a:r>
            <a:r>
              <a:rPr lang="en-US" dirty="0" err="1"/>
              <a:t>блокировку</a:t>
            </a:r>
            <a:r>
              <a:rPr lang="en-US" dirty="0"/>
              <a:t>, </a:t>
            </a:r>
            <a:r>
              <a:rPr lang="en-US" dirty="0" err="1"/>
              <a:t>токен</a:t>
            </a:r>
            <a:r>
              <a:rPr lang="en-US" dirty="0"/>
              <a:t> </a:t>
            </a:r>
            <a:r>
              <a:rPr lang="en-US" dirty="0" err="1"/>
              <a:t>остановки</a:t>
            </a:r>
            <a:r>
              <a:rPr lang="en-US" dirty="0"/>
              <a:t> и </a:t>
            </a:r>
            <a:r>
              <a:rPr lang="en-US" dirty="0" err="1"/>
              <a:t>предикат</a:t>
            </a:r>
            <a:r>
              <a:rPr lang="en-US" dirty="0"/>
              <a:t>.</a:t>
            </a:r>
          </a:p>
          <a:p>
            <a:r>
              <a:rPr lang="en-US" dirty="0" err="1"/>
              <a:t>Предикат</a:t>
            </a:r>
            <a:r>
              <a:rPr lang="en-US" dirty="0"/>
              <a:t> </a:t>
            </a:r>
            <a:r>
              <a:rPr lang="en-US" dirty="0" err="1"/>
              <a:t>проверяет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en-US" dirty="0"/>
              <a:t>.</a:t>
            </a:r>
          </a:p>
          <a:p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готовы</a:t>
            </a:r>
            <a:r>
              <a:rPr lang="en-US" dirty="0"/>
              <a:t>,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, 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обычного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condition_variable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::wait()</a:t>
            </a:r>
            <a:r>
              <a:rPr lang="en-US" dirty="0"/>
              <a:t>,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реагирует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запрос</a:t>
            </a:r>
            <a:r>
              <a:rPr lang="en-US" dirty="0"/>
              <a:t> </a:t>
            </a:r>
            <a:r>
              <a:rPr lang="en-US" dirty="0" err="1"/>
              <a:t>остановки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worker.request_stop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уведомление</a:t>
            </a:r>
            <a:r>
              <a:rPr lang="en-US" dirty="0"/>
              <a:t> о </a:t>
            </a:r>
            <a:r>
              <a:rPr lang="en-US" dirty="0" err="1"/>
              <a:t>запросе</a:t>
            </a:r>
            <a:r>
              <a:rPr lang="en-US" dirty="0"/>
              <a:t> и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завершить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,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равен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en-US" dirty="0"/>
              <a:t>.</a:t>
            </a:r>
          </a:p>
          <a:p>
            <a:r>
              <a:rPr lang="en-US" dirty="0" err="1"/>
              <a:t>Возвращаемое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, </a:t>
            </a:r>
            <a:r>
              <a:rPr lang="en-US" dirty="0" err="1"/>
              <a:t>выполнился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предикат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hasData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== false</a:t>
            </a:r>
            <a:r>
              <a:rPr lang="en-US" dirty="0"/>
              <a:t>, </a:t>
            </a:r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необходимое</a:t>
            </a:r>
            <a:r>
              <a:rPr lang="en-US" dirty="0"/>
              <a:t> </a:t>
            </a:r>
            <a:r>
              <a:rPr lang="en-US" dirty="0" err="1"/>
              <a:t>условие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выполнено</a:t>
            </a:r>
            <a:r>
              <a:rPr lang="en-US" dirty="0"/>
              <a:t>.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запроса</a:t>
            </a:r>
            <a:r>
              <a:rPr lang="en-US" dirty="0"/>
              <a:t> </a:t>
            </a:r>
            <a:r>
              <a:rPr lang="en-US" dirty="0" err="1"/>
              <a:t>остановки</a:t>
            </a:r>
            <a:r>
              <a:rPr lang="en-US" dirty="0"/>
              <a:t>.</a:t>
            </a:r>
          </a:p>
          <a:p>
            <a:r>
              <a:rPr lang="en-US" dirty="0" err="1"/>
              <a:t>Рабочий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выводит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Cancelled</a:t>
            </a:r>
            <a:r>
              <a:rPr lang="en-US" dirty="0"/>
              <a:t> и </a:t>
            </a:r>
            <a:r>
              <a:rPr lang="en-US" dirty="0" err="1"/>
              <a:t>завершает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.</a:t>
            </a:r>
          </a:p>
          <a:p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join()</a:t>
            </a:r>
            <a:r>
              <a:rPr lang="en-US" dirty="0"/>
              <a:t> и </a:t>
            </a:r>
            <a:r>
              <a:rPr lang="en-US" dirty="0" err="1"/>
              <a:t>дожидается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worker.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Busy Waiting.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stop_requested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в </a:t>
            </a:r>
            <a:r>
              <a:rPr lang="en-US" dirty="0" err="1"/>
              <a:t>цикле</a:t>
            </a:r>
            <a:r>
              <a:rPr lang="en-US" dirty="0"/>
              <a:t>.</a:t>
            </a:r>
          </a:p>
          <a:p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искусственной</a:t>
            </a:r>
            <a:r>
              <a:rPr lang="en-US" dirty="0"/>
              <a:t> </a:t>
            </a:r>
            <a:r>
              <a:rPr lang="en-US" dirty="0" err="1"/>
              <a:t>задержки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sleep_for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: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успел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worker </a:t>
            </a:r>
            <a:r>
              <a:rPr lang="en-US" dirty="0" err="1"/>
              <a:t>войти</a:t>
            </a:r>
            <a:r>
              <a:rPr lang="en-US" dirty="0"/>
              <a:t> в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request_stop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: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wait()</a:t>
            </a:r>
            <a:r>
              <a:rPr lang="en-US" dirty="0"/>
              <a:t> </a:t>
            </a:r>
            <a:r>
              <a:rPr lang="en-US" dirty="0" err="1"/>
              <a:t>возвращает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с </a:t>
            </a:r>
            <a:r>
              <a:rPr lang="en-US" dirty="0" err="1"/>
              <a:t>вновь</a:t>
            </a:r>
            <a:r>
              <a:rPr lang="en-US" dirty="0"/>
              <a:t> </a:t>
            </a:r>
            <a:r>
              <a:rPr lang="en-US" dirty="0" err="1"/>
              <a:t>захваченным</a:t>
            </a:r>
            <a:r>
              <a:rPr lang="en-US" dirty="0"/>
              <a:t> </a:t>
            </a:r>
            <a:r>
              <a:rPr lang="en-US" dirty="0" err="1"/>
              <a:t>мьютексом</a:t>
            </a:r>
            <a:r>
              <a:rPr lang="en-US" dirty="0"/>
              <a:t>.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unique_lock</a:t>
            </a:r>
            <a:r>
              <a:rPr lang="en-US" dirty="0"/>
              <a:t>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освободит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выходе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видимости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запроса</a:t>
            </a:r>
            <a:r>
              <a:rPr lang="en-US" dirty="0"/>
              <a:t> </a:t>
            </a:r>
            <a:r>
              <a:rPr lang="en-US" dirty="0" err="1"/>
              <a:t>остановки</a:t>
            </a:r>
            <a:r>
              <a:rPr lang="en-US" dirty="0"/>
              <a:t> </a:t>
            </a:r>
            <a:r>
              <a:rPr lang="en-US" dirty="0" err="1"/>
              <a:t>хотели</a:t>
            </a:r>
            <a:r>
              <a:rPr lang="en-US" dirty="0"/>
              <a:t> </a:t>
            </a:r>
            <a:r>
              <a:rPr lang="en-US" dirty="0" err="1"/>
              <a:t>сообщить</a:t>
            </a:r>
            <a:r>
              <a:rPr lang="en-US" dirty="0"/>
              <a:t> о </a:t>
            </a:r>
            <a:r>
              <a:rPr lang="en-US" dirty="0" err="1"/>
              <a:t>появлении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защитой</a:t>
            </a:r>
            <a:r>
              <a:rPr lang="en-US" dirty="0"/>
              <a:t> </a:t>
            </a:r>
            <a:r>
              <a:rPr lang="en-US" dirty="0" err="1"/>
              <a:t>мьютекса</a:t>
            </a:r>
            <a:r>
              <a:rPr lang="en-US" dirty="0"/>
              <a:t> и </a:t>
            </a:r>
            <a:r>
              <a:rPr lang="en-US" dirty="0" err="1"/>
              <a:t>вызвать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cv.notify_one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поддерживает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сценария</a:t>
            </a:r>
            <a:r>
              <a:rPr lang="en-US" dirty="0"/>
              <a:t>: </a:t>
            </a:r>
            <a:r>
              <a:rPr lang="en-US" dirty="0" err="1"/>
              <a:t>нормальное</a:t>
            </a:r>
            <a:r>
              <a:rPr lang="en-US" dirty="0"/>
              <a:t> </a:t>
            </a:r>
            <a:r>
              <a:rPr lang="en-US" dirty="0" err="1"/>
              <a:t>получение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и </a:t>
            </a:r>
            <a:r>
              <a:rPr lang="en-US" dirty="0" err="1"/>
              <a:t>кооперативную</a:t>
            </a:r>
            <a:r>
              <a:rPr lang="en-US" dirty="0"/>
              <a:t> </a:t>
            </a:r>
            <a:r>
              <a:rPr lang="en-US" dirty="0" err="1"/>
              <a:t>отмену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9668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задаче</a:t>
            </a:r>
            <a:r>
              <a:rPr lang="en-US" dirty="0"/>
              <a:t> </a:t>
            </a:r>
            <a:r>
              <a:rPr lang="en-US" dirty="0" err="1"/>
              <a:t>производителя</a:t>
            </a:r>
            <a:r>
              <a:rPr lang="en-US" dirty="0"/>
              <a:t> и </a:t>
            </a:r>
            <a:r>
              <a:rPr lang="en-US" dirty="0" err="1"/>
              <a:t>потребителя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подробно</a:t>
            </a:r>
            <a:r>
              <a:rPr lang="en-US" dirty="0"/>
              <a:t> </a:t>
            </a:r>
            <a:r>
              <a:rPr lang="en-US" dirty="0" err="1"/>
              <a:t>разбирали</a:t>
            </a:r>
            <a:r>
              <a:rPr lang="en-US" dirty="0"/>
              <a:t> </a:t>
            </a:r>
            <a:r>
              <a:rPr lang="en-US" dirty="0" err="1"/>
              <a:t>ранее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ограниченную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BoundedQueue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помещают</a:t>
            </a:r>
            <a:r>
              <a:rPr lang="en-US" dirty="0"/>
              <a:t> в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, а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извлекают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пуста</a:t>
            </a:r>
            <a:r>
              <a:rPr lang="en-US" dirty="0"/>
              <a:t>, </a:t>
            </a:r>
            <a:r>
              <a:rPr lang="en-US" dirty="0" err="1"/>
              <a:t>потребители</a:t>
            </a:r>
            <a:r>
              <a:rPr lang="en-US" dirty="0"/>
              <a:t> </a:t>
            </a:r>
            <a:r>
              <a:rPr lang="en-US" dirty="0" err="1"/>
              <a:t>блокируются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условной</a:t>
            </a:r>
            <a:r>
              <a:rPr lang="en-US" dirty="0"/>
              <a:t> </a:t>
            </a:r>
            <a:r>
              <a:rPr lang="en-US" dirty="0" err="1"/>
              <a:t>переменной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notEmpty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завершает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 </a:t>
            </a:r>
            <a:r>
              <a:rPr lang="en-US" dirty="0" err="1"/>
              <a:t>Производители</a:t>
            </a:r>
            <a:r>
              <a:rPr lang="en-US" dirty="0"/>
              <a:t> </a:t>
            </a:r>
            <a:r>
              <a:rPr lang="en-US" dirty="0" err="1"/>
              <a:t>остановились</a:t>
            </a:r>
            <a:r>
              <a:rPr lang="en-US" dirty="0"/>
              <a:t>, и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.</a:t>
            </a:r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 с </a:t>
            </a:r>
            <a:r>
              <a:rPr lang="en-US" dirty="0" err="1"/>
              <a:t>потребителями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ждут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size_ &gt; 0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остаться</a:t>
            </a:r>
            <a:r>
              <a:rPr lang="en-US" dirty="0"/>
              <a:t> </a:t>
            </a:r>
            <a:r>
              <a:rPr lang="en-US" dirty="0" err="1"/>
              <a:t>заблокированными</a:t>
            </a:r>
            <a:r>
              <a:rPr lang="en-US" dirty="0"/>
              <a:t> </a:t>
            </a:r>
            <a:r>
              <a:rPr lang="en-US" dirty="0" err="1"/>
              <a:t>навсегда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,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предусмотреть</a:t>
            </a:r>
            <a:r>
              <a:rPr lang="en-US" dirty="0"/>
              <a:t> </a:t>
            </a:r>
            <a:r>
              <a:rPr lang="en-US" dirty="0" err="1"/>
              <a:t>явный</a:t>
            </a:r>
            <a:r>
              <a:rPr lang="en-US" dirty="0"/>
              <a:t> </a:t>
            </a:r>
            <a:r>
              <a:rPr lang="en-US" dirty="0" err="1"/>
              <a:t>протокол</a:t>
            </a:r>
            <a:r>
              <a:rPr lang="en-US" dirty="0"/>
              <a:t> </a:t>
            </a:r>
            <a:r>
              <a:rPr lang="en-US" dirty="0" err="1"/>
              <a:t>закрытия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.</a:t>
            </a:r>
          </a:p>
          <a:p>
            <a:r>
              <a:rPr lang="en-US" dirty="0" err="1"/>
              <a:t>Добавим</a:t>
            </a:r>
            <a:r>
              <a:rPr lang="en-US" dirty="0"/>
              <a:t> в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поле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closed_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en-US" dirty="0"/>
              <a:t>,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в </a:t>
            </a:r>
            <a:r>
              <a:rPr lang="en-US" dirty="0" err="1"/>
              <a:t>обычном</a:t>
            </a:r>
            <a:r>
              <a:rPr lang="en-US" dirty="0"/>
              <a:t> </a:t>
            </a:r>
            <a:r>
              <a:rPr lang="en-US" dirty="0" err="1"/>
              <a:t>режиме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завершить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,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Close()</a:t>
            </a:r>
            <a:r>
              <a:rPr lang="en-US" dirty="0"/>
              <a:t>.</a:t>
            </a:r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</a:t>
            </a:r>
            <a:r>
              <a:rPr lang="en-US" dirty="0" err="1"/>
              <a:t>устанавливает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closed_ = true</a:t>
            </a:r>
            <a:r>
              <a:rPr lang="en-US" dirty="0"/>
              <a:t>, </a:t>
            </a:r>
            <a:r>
              <a:rPr lang="en-US" dirty="0" err="1"/>
              <a:t>освобождает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и </a:t>
            </a:r>
            <a:r>
              <a:rPr lang="en-US" dirty="0" err="1"/>
              <a:t>уведомляет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ожидающие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.</a:t>
            </a:r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notify_all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notify_one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?</a:t>
            </a:r>
          </a:p>
          <a:p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производителей</a:t>
            </a:r>
            <a:r>
              <a:rPr lang="en-US" dirty="0"/>
              <a:t> и </a:t>
            </a:r>
            <a:r>
              <a:rPr lang="en-US" dirty="0" err="1"/>
              <a:t>потребителей</a:t>
            </a:r>
            <a:r>
              <a:rPr lang="en-US" dirty="0"/>
              <a:t>.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узнать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нормальная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невозможна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изменим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.</a:t>
            </a:r>
          </a:p>
          <a:p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ожидал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либо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  <a:r>
              <a:rPr lang="en-US" dirty="0" err="1"/>
              <a:t>либо</a:t>
            </a:r>
            <a:r>
              <a:rPr lang="en-US" dirty="0"/>
              <a:t> </a:t>
            </a:r>
            <a:r>
              <a:rPr lang="en-US" dirty="0" err="1"/>
              <a:t>закрытия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закрыта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, </a:t>
            </a:r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извлекать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закрыта</a:t>
            </a:r>
            <a:r>
              <a:rPr lang="en-US" dirty="0"/>
              <a:t> и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опустела</a:t>
            </a:r>
            <a:r>
              <a:rPr lang="en-US" dirty="0"/>
              <a:t>,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Pop()</a:t>
            </a:r>
            <a:r>
              <a:rPr lang="en-US" dirty="0"/>
              <a:t> </a:t>
            </a:r>
            <a:r>
              <a:rPr lang="en-US" dirty="0" err="1"/>
              <a:t>возвращает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nullopt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вызывающему</a:t>
            </a:r>
            <a:r>
              <a:rPr lang="en-US" dirty="0"/>
              <a:t> </a:t>
            </a:r>
            <a:r>
              <a:rPr lang="en-US" dirty="0" err="1"/>
              <a:t>коду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дальнейших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.</a:t>
            </a:r>
          </a:p>
          <a:p>
            <a:r>
              <a:rPr lang="en-US" dirty="0" err="1"/>
              <a:t>Аналогичным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Push()</a:t>
            </a:r>
            <a:r>
              <a:rPr lang="en-US" dirty="0"/>
              <a:t>: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 </a:t>
            </a:r>
            <a:r>
              <a:rPr lang="en-US" dirty="0" err="1"/>
              <a:t>условие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closed_ || size_ &lt; N</a:t>
            </a:r>
            <a:r>
              <a:rPr lang="en-US" dirty="0"/>
              <a:t>,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закрытие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пробуждения</a:t>
            </a:r>
            <a:r>
              <a:rPr lang="en-US" dirty="0"/>
              <a:t> и </a:t>
            </a:r>
            <a:r>
              <a:rPr lang="en-US" dirty="0" err="1"/>
              <a:t>сообщать</a:t>
            </a:r>
            <a:r>
              <a:rPr lang="en-US" dirty="0"/>
              <a:t> о </a:t>
            </a:r>
            <a:r>
              <a:rPr lang="en-US" dirty="0" err="1"/>
              <a:t>неуспешной</a:t>
            </a:r>
            <a:r>
              <a:rPr lang="en-US" dirty="0"/>
              <a:t> </a:t>
            </a:r>
            <a:r>
              <a:rPr lang="en-US" dirty="0" err="1"/>
              <a:t>вставке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dirty="0" err="1"/>
              <a:t>возвращая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у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полноценный</a:t>
            </a:r>
            <a:r>
              <a:rPr lang="en-US" dirty="0"/>
              <a:t> </a:t>
            </a:r>
            <a:r>
              <a:rPr lang="en-US" dirty="0" err="1"/>
              <a:t>жизненный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открыта</a:t>
            </a:r>
            <a:r>
              <a:rPr lang="en-US" dirty="0"/>
              <a:t> и </a:t>
            </a:r>
            <a:r>
              <a:rPr lang="en-US" dirty="0" err="1"/>
              <a:t>принимает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закрывается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оставшиеся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обработаны</a:t>
            </a:r>
            <a:r>
              <a:rPr lang="en-US" dirty="0"/>
              <a:t>. </a:t>
            </a:r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рабочие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завершаются</a:t>
            </a:r>
            <a:r>
              <a:rPr lang="en-US" dirty="0"/>
              <a:t>, и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безопасно</a:t>
            </a:r>
            <a:r>
              <a:rPr lang="en-US" dirty="0"/>
              <a:t> </a:t>
            </a:r>
            <a:r>
              <a:rPr lang="en-US" dirty="0" err="1"/>
              <a:t>уничтожить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многопоточный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проектироваться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нормальной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корректного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17402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научились</a:t>
            </a:r>
            <a:r>
              <a:rPr lang="en-US" dirty="0"/>
              <a:t> </a:t>
            </a:r>
            <a:r>
              <a:rPr lang="en-US" dirty="0" err="1"/>
              <a:t>защищать</a:t>
            </a:r>
            <a:r>
              <a:rPr lang="en-US" dirty="0"/>
              <a:t> </a:t>
            </a:r>
            <a:r>
              <a:rPr lang="en-US" dirty="0" err="1"/>
              <a:t>общие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мьютексов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правильно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и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общих</a:t>
            </a:r>
            <a:r>
              <a:rPr lang="en-US" dirty="0"/>
              <a:t> </a:t>
            </a:r>
            <a:r>
              <a:rPr lang="en-US" dirty="0" err="1"/>
              <a:t>ресурса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защиты</a:t>
            </a:r>
            <a:r>
              <a:rPr lang="en-US" dirty="0"/>
              <a:t> </a:t>
            </a:r>
            <a:r>
              <a:rPr lang="en-US" dirty="0" err="1"/>
              <a:t>первого</a:t>
            </a:r>
            <a:r>
              <a:rPr lang="en-US" dirty="0"/>
              <a:t> </a:t>
            </a:r>
            <a:r>
              <a:rPr lang="en-US" dirty="0" err="1"/>
              <a:t>ресурса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mutex1</a:t>
            </a:r>
            <a:r>
              <a:rPr lang="en-US" dirty="0"/>
              <a:t>, а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второго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mutex2</a:t>
            </a:r>
            <a:r>
              <a:rPr lang="en-US" dirty="0"/>
              <a:t>.</a:t>
            </a:r>
          </a:p>
          <a:p>
            <a:r>
              <a:rPr lang="en-US" dirty="0" err="1"/>
              <a:t>Поток</a:t>
            </a:r>
            <a:r>
              <a:rPr lang="en-US" dirty="0"/>
              <a:t> A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mutex1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пытается</a:t>
            </a:r>
            <a:r>
              <a:rPr lang="en-US" dirty="0"/>
              <a:t> </a:t>
            </a:r>
            <a:r>
              <a:rPr lang="en-US" dirty="0" err="1"/>
              <a:t>захватить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mutex2</a:t>
            </a:r>
            <a:r>
              <a:rPr lang="en-US" dirty="0"/>
              <a:t>.</a:t>
            </a:r>
          </a:p>
          <a:p>
            <a:r>
              <a:rPr lang="en-US" dirty="0" err="1"/>
              <a:t>Поток</a:t>
            </a:r>
            <a:r>
              <a:rPr lang="en-US" dirty="0"/>
              <a:t> B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обратном</a:t>
            </a:r>
            <a:r>
              <a:rPr lang="en-US" dirty="0"/>
              <a:t> </a:t>
            </a:r>
            <a:r>
              <a:rPr lang="en-US" dirty="0" err="1"/>
              <a:t>порядке</a:t>
            </a:r>
            <a:r>
              <a:rPr lang="en-US" dirty="0"/>
              <a:t>: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mutex2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пытается</a:t>
            </a:r>
            <a:r>
              <a:rPr lang="en-US" dirty="0"/>
              <a:t> </a:t>
            </a:r>
            <a:r>
              <a:rPr lang="en-US" dirty="0" err="1"/>
              <a:t>захватить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mutex1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возможный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</a:p>
          <a:p>
            <a:r>
              <a:rPr lang="en-US" dirty="0" err="1"/>
              <a:t>Поток</a:t>
            </a:r>
            <a:r>
              <a:rPr lang="en-US" dirty="0"/>
              <a:t> A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переключает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B,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A </a:t>
            </a:r>
            <a:r>
              <a:rPr lang="en-US" dirty="0" err="1"/>
              <a:t>пытается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: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занят</a:t>
            </a:r>
            <a:r>
              <a:rPr lang="en-US" dirty="0"/>
              <a:t> </a:t>
            </a:r>
            <a:r>
              <a:rPr lang="en-US" dirty="0" err="1"/>
              <a:t>потоком</a:t>
            </a:r>
            <a:r>
              <a:rPr lang="en-US" dirty="0"/>
              <a:t> B.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блокируется</a:t>
            </a:r>
            <a:r>
              <a:rPr lang="en-US" dirty="0"/>
              <a:t>, </a:t>
            </a:r>
            <a:r>
              <a:rPr lang="en-US" dirty="0" err="1"/>
              <a:t>продолжая</a:t>
            </a:r>
            <a:r>
              <a:rPr lang="en-US" dirty="0"/>
              <a:t> </a:t>
            </a:r>
            <a:r>
              <a:rPr lang="en-US" dirty="0" err="1"/>
              <a:t>удерживать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.</a:t>
            </a:r>
          </a:p>
          <a:p>
            <a:r>
              <a:rPr lang="en-US" dirty="0" err="1"/>
              <a:t>Поток</a:t>
            </a:r>
            <a:r>
              <a:rPr lang="en-US" dirty="0"/>
              <a:t> B </a:t>
            </a:r>
            <a:r>
              <a:rPr lang="en-US" dirty="0" err="1"/>
              <a:t>пытается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занят</a:t>
            </a:r>
            <a:r>
              <a:rPr lang="en-US" dirty="0"/>
              <a:t> </a:t>
            </a:r>
            <a:r>
              <a:rPr lang="en-US" dirty="0" err="1"/>
              <a:t>потоком</a:t>
            </a:r>
            <a:r>
              <a:rPr lang="en-US" dirty="0"/>
              <a:t> A.</a:t>
            </a:r>
          </a:p>
          <a:p>
            <a:r>
              <a:rPr lang="en-US" dirty="0" err="1"/>
              <a:t>Теперь</a:t>
            </a:r>
            <a:r>
              <a:rPr lang="en-US" dirty="0"/>
              <a:t> B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блокируется</a:t>
            </a:r>
            <a:r>
              <a:rPr lang="en-US" dirty="0"/>
              <a:t>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замкнутый</a:t>
            </a:r>
            <a:r>
              <a:rPr lang="en-US" dirty="0"/>
              <a:t> </a:t>
            </a:r>
            <a:r>
              <a:rPr lang="en-US" dirty="0" err="1"/>
              <a:t>круг</a:t>
            </a:r>
            <a:r>
              <a:rPr lang="en-US" dirty="0"/>
              <a:t>: A </a:t>
            </a:r>
            <a:r>
              <a:rPr lang="en-US" dirty="0" err="1"/>
              <a:t>ждёт</a:t>
            </a:r>
            <a:r>
              <a:rPr lang="en-US" dirty="0"/>
              <a:t> B, а B </a:t>
            </a:r>
            <a:r>
              <a:rPr lang="en-US" dirty="0" err="1"/>
              <a:t>ждёт</a:t>
            </a:r>
            <a:r>
              <a:rPr lang="en-US" dirty="0"/>
              <a:t> A.</a:t>
            </a:r>
          </a:p>
          <a:p>
            <a:r>
              <a:rPr lang="en-US" dirty="0" err="1"/>
              <a:t>Никто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продвинуться</a:t>
            </a:r>
            <a:r>
              <a:rPr lang="en-US" dirty="0"/>
              <a:t> </a:t>
            </a:r>
            <a:r>
              <a:rPr lang="en-US" dirty="0" err="1"/>
              <a:t>вперёд</a:t>
            </a:r>
            <a:r>
              <a:rPr lang="en-US" dirty="0"/>
              <a:t>, а </a:t>
            </a:r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никто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освободить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захваченные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.</a:t>
            </a:r>
          </a:p>
          <a:p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Deadlock — </a:t>
            </a:r>
            <a:r>
              <a:rPr lang="en-US" dirty="0" err="1"/>
              <a:t>взаимная</a:t>
            </a:r>
            <a:r>
              <a:rPr lang="en-US" dirty="0"/>
              <a:t> </a:t>
            </a:r>
            <a:r>
              <a:rPr lang="en-US" dirty="0" err="1"/>
              <a:t>блокировка</a:t>
            </a:r>
            <a:r>
              <a:rPr lang="en-US" dirty="0"/>
              <a:t>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гонки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доступе</a:t>
            </a:r>
            <a:r>
              <a:rPr lang="en-US" dirty="0"/>
              <a:t> к </a:t>
            </a:r>
            <a:r>
              <a:rPr lang="en-US" dirty="0" err="1"/>
              <a:t>данным</a:t>
            </a:r>
            <a:r>
              <a:rPr lang="en-US" dirty="0"/>
              <a:t>.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взаимное</a:t>
            </a:r>
            <a:r>
              <a:rPr lang="en-US" dirty="0"/>
              <a:t> </a:t>
            </a:r>
            <a:r>
              <a:rPr lang="en-US" dirty="0" err="1"/>
              <a:t>исключение</a:t>
            </a:r>
            <a:r>
              <a:rPr lang="en-US" dirty="0"/>
              <a:t>.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неправильной</a:t>
            </a:r>
            <a:r>
              <a:rPr lang="en-US" dirty="0"/>
              <a:t> </a:t>
            </a:r>
            <a:r>
              <a:rPr lang="en-US" dirty="0" err="1"/>
              <a:t>организации</a:t>
            </a:r>
            <a:r>
              <a:rPr lang="en-US" dirty="0"/>
              <a:t> </a:t>
            </a:r>
            <a:r>
              <a:rPr lang="en-US" dirty="0" err="1"/>
              <a:t>порядка</a:t>
            </a:r>
            <a:r>
              <a:rPr lang="en-US" dirty="0"/>
              <a:t> </a:t>
            </a:r>
            <a:r>
              <a:rPr lang="en-US" dirty="0" err="1"/>
              <a:t>захвата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: </a:t>
            </a:r>
            <a:r>
              <a:rPr lang="en-US" dirty="0" err="1"/>
              <a:t>данный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зависнет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каждом</a:t>
            </a:r>
            <a:r>
              <a:rPr lang="en-US" dirty="0"/>
              <a:t> </a:t>
            </a:r>
            <a:r>
              <a:rPr lang="en-US" dirty="0" err="1"/>
              <a:t>запуске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успеет</a:t>
            </a:r>
            <a:r>
              <a:rPr lang="en-US" dirty="0"/>
              <a:t> </a:t>
            </a:r>
            <a:r>
              <a:rPr lang="en-US" dirty="0" err="1"/>
              <a:t>захватить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мьютекса</a:t>
            </a:r>
            <a:r>
              <a:rPr lang="en-US" dirty="0"/>
              <a:t> и </a:t>
            </a:r>
            <a:r>
              <a:rPr lang="en-US" dirty="0" err="1"/>
              <a:t>освободить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другого</a:t>
            </a:r>
            <a:r>
              <a:rPr lang="en-US" dirty="0"/>
              <a:t>,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завершится</a:t>
            </a:r>
            <a:r>
              <a:rPr lang="en-US" dirty="0"/>
              <a:t> </a:t>
            </a:r>
            <a:r>
              <a:rPr lang="en-US" dirty="0" err="1"/>
              <a:t>нормально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взаимные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трудно</a:t>
            </a:r>
            <a:r>
              <a:rPr lang="en-US" dirty="0"/>
              <a:t> </a:t>
            </a:r>
            <a:r>
              <a:rPr lang="en-US" dirty="0" err="1"/>
              <a:t>воспроизводимыми</a:t>
            </a:r>
            <a:r>
              <a:rPr lang="en-US" dirty="0"/>
              <a:t> </a:t>
            </a:r>
            <a:r>
              <a:rPr lang="en-US" dirty="0" err="1"/>
              <a:t>ошибками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18395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Deadlock?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классической</a:t>
            </a:r>
            <a:r>
              <a:rPr lang="en-US" dirty="0"/>
              <a:t> </a:t>
            </a:r>
            <a:r>
              <a:rPr lang="en-US" dirty="0" err="1"/>
              <a:t>теории</a:t>
            </a:r>
            <a:r>
              <a:rPr lang="en-US" dirty="0"/>
              <a:t> </a:t>
            </a:r>
            <a:r>
              <a:rPr lang="en-US" dirty="0" err="1"/>
              <a:t>операционных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выделяют</a:t>
            </a:r>
            <a:r>
              <a:rPr lang="en-US" dirty="0"/>
              <a:t> </a:t>
            </a:r>
            <a:r>
              <a:rPr lang="en-US" dirty="0" err="1"/>
              <a:t>четыре</a:t>
            </a:r>
            <a:r>
              <a:rPr lang="en-US" dirty="0"/>
              <a:t> </a:t>
            </a:r>
            <a:r>
              <a:rPr lang="en-US" dirty="0" err="1"/>
              <a:t>необходимых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 </a:t>
            </a:r>
            <a:r>
              <a:rPr lang="en-US" dirty="0" err="1"/>
              <a:t>возникновения</a:t>
            </a:r>
            <a:r>
              <a:rPr lang="en-US" dirty="0"/>
              <a:t> </a:t>
            </a:r>
            <a:r>
              <a:rPr lang="en-US" dirty="0" err="1"/>
              <a:t>взаимной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.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называют</a:t>
            </a:r>
            <a:r>
              <a:rPr lang="en-US" dirty="0"/>
              <a:t> </a:t>
            </a:r>
            <a:r>
              <a:rPr lang="en-US" dirty="0" err="1"/>
              <a:t>условиями</a:t>
            </a:r>
            <a:r>
              <a:rPr lang="en-US" dirty="0"/>
              <a:t> </a:t>
            </a:r>
            <a:r>
              <a:rPr lang="en-US" dirty="0" err="1"/>
              <a:t>Коффмана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Первое</a:t>
            </a:r>
            <a:r>
              <a:rPr lang="en-US" dirty="0"/>
              <a:t> — </a:t>
            </a:r>
            <a:r>
              <a:rPr lang="en-US" dirty="0" err="1"/>
              <a:t>взаимное</a:t>
            </a:r>
            <a:r>
              <a:rPr lang="en-US" dirty="0"/>
              <a:t> </a:t>
            </a:r>
            <a:r>
              <a:rPr lang="en-US" dirty="0" err="1"/>
              <a:t>исключение</a:t>
            </a:r>
            <a:r>
              <a:rPr lang="en-US" dirty="0"/>
              <a:t>, Mutual Exclusion.</a:t>
            </a:r>
          </a:p>
          <a:p>
            <a:r>
              <a:rPr lang="en-US" dirty="0"/>
              <a:t>Это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некоторый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 в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принадлежать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одному</a:t>
            </a:r>
            <a:r>
              <a:rPr lang="en-US" dirty="0"/>
              <a:t> </a:t>
            </a:r>
            <a:r>
              <a:rPr lang="en-US" dirty="0" err="1"/>
              <a:t>участнику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Второе</a:t>
            </a:r>
            <a:r>
              <a:rPr lang="en-US" dirty="0"/>
              <a:t> </a:t>
            </a:r>
            <a:r>
              <a:rPr lang="en-US" dirty="0" err="1"/>
              <a:t>условие</a:t>
            </a:r>
            <a:r>
              <a:rPr lang="en-US" dirty="0"/>
              <a:t> — Hold and Wait.</a:t>
            </a:r>
          </a:p>
          <a:p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удерживает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пытается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и </a:t>
            </a:r>
            <a:r>
              <a:rPr lang="en-US" dirty="0" err="1"/>
              <a:t>блокируется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освобождая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произошло</a:t>
            </a:r>
            <a:r>
              <a:rPr lang="en-US" dirty="0"/>
              <a:t>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с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мьютексами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Третье</a:t>
            </a:r>
            <a:r>
              <a:rPr lang="en-US" dirty="0"/>
              <a:t> </a:t>
            </a:r>
            <a:r>
              <a:rPr lang="en-US" dirty="0" err="1"/>
              <a:t>условие</a:t>
            </a:r>
            <a:r>
              <a:rPr lang="en-US" dirty="0"/>
              <a:t> — No Preemption.</a:t>
            </a:r>
          </a:p>
          <a:p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отобрать</a:t>
            </a:r>
            <a:r>
              <a:rPr lang="en-US" dirty="0"/>
              <a:t> </a:t>
            </a:r>
            <a:r>
              <a:rPr lang="en-US" dirty="0" err="1"/>
              <a:t>захваченный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у </a:t>
            </a:r>
            <a:r>
              <a:rPr lang="en-US" dirty="0" err="1"/>
              <a:t>другого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. </a:t>
            </a:r>
            <a:r>
              <a:rPr lang="en-US" dirty="0" err="1"/>
              <a:t>Владелец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освободить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Четвёртое</a:t>
            </a:r>
            <a:r>
              <a:rPr lang="en-US" dirty="0"/>
              <a:t> — Circular Wait,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циклическое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.</a:t>
            </a:r>
          </a:p>
          <a:p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замкнутая</a:t>
            </a:r>
            <a:r>
              <a:rPr lang="en-US" dirty="0"/>
              <a:t> </a:t>
            </a:r>
            <a:r>
              <a:rPr lang="en-US" dirty="0" err="1"/>
              <a:t>цепочка</a:t>
            </a:r>
            <a:r>
              <a:rPr lang="en-US" dirty="0"/>
              <a:t>: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 </a:t>
            </a:r>
            <a:r>
              <a:rPr lang="en-US" dirty="0" err="1"/>
              <a:t>второго</a:t>
            </a:r>
            <a:r>
              <a:rPr lang="en-US" dirty="0"/>
              <a:t>, </a:t>
            </a:r>
            <a:r>
              <a:rPr lang="en-US" dirty="0" err="1"/>
              <a:t>второй</a:t>
            </a:r>
            <a:r>
              <a:rPr lang="en-US" dirty="0"/>
              <a:t> — </a:t>
            </a:r>
            <a:r>
              <a:rPr lang="en-US" dirty="0" err="1"/>
              <a:t>третьего</a:t>
            </a:r>
            <a:r>
              <a:rPr lang="en-US" dirty="0"/>
              <a:t> и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далее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последний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 </a:t>
            </a:r>
            <a:r>
              <a:rPr lang="en-US" dirty="0" err="1"/>
              <a:t>первого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состоял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взаимная</a:t>
            </a:r>
            <a:r>
              <a:rPr lang="en-US" dirty="0"/>
              <a:t> </a:t>
            </a:r>
            <a:r>
              <a:rPr lang="en-US" dirty="0" err="1"/>
              <a:t>блокировка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связана</a:t>
            </a:r>
            <a:r>
              <a:rPr lang="en-US" dirty="0"/>
              <a:t> с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мьютексами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поток</a:t>
            </a:r>
            <a:r>
              <a:rPr lang="en-US" dirty="0"/>
              <a:t> A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вызвать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join()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B, </a:t>
            </a:r>
            <a:r>
              <a:rPr lang="en-US" dirty="0" err="1"/>
              <a:t>удерживая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</a:t>
            </a:r>
            <a:r>
              <a:rPr lang="en-US" dirty="0" err="1"/>
              <a:t>необходимый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 B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Получится</a:t>
            </a:r>
            <a:r>
              <a:rPr lang="en-US" dirty="0"/>
              <a:t> </a:t>
            </a:r>
            <a:r>
              <a:rPr lang="en-US" dirty="0" err="1"/>
              <a:t>аналогичная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: A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B, а B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освобождения</a:t>
            </a:r>
            <a:r>
              <a:rPr lang="en-US" dirty="0"/>
              <a:t> </a:t>
            </a:r>
            <a:r>
              <a:rPr lang="en-US" dirty="0" err="1"/>
              <a:t>мьютекса</a:t>
            </a:r>
            <a:r>
              <a:rPr lang="en-US" dirty="0"/>
              <a:t>, </a:t>
            </a:r>
            <a:r>
              <a:rPr lang="en-US" dirty="0" err="1"/>
              <a:t>удерживаемого</a:t>
            </a:r>
            <a:r>
              <a:rPr lang="en-US" dirty="0"/>
              <a:t> A.</a:t>
            </a:r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отличать</a:t>
            </a:r>
            <a:r>
              <a:rPr lang="en-US" dirty="0"/>
              <a:t> Deadlock </a:t>
            </a:r>
            <a:r>
              <a:rPr lang="en-US" dirty="0" err="1"/>
              <a:t>от</a:t>
            </a:r>
            <a:r>
              <a:rPr lang="en-US" dirty="0"/>
              <a:t> Starvation,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встречали</a:t>
            </a:r>
            <a:r>
              <a:rPr lang="en-US" dirty="0"/>
              <a:t> в </a:t>
            </a:r>
            <a:r>
              <a:rPr lang="en-US" dirty="0" err="1"/>
              <a:t>задаче</a:t>
            </a:r>
            <a:r>
              <a:rPr lang="en-US" dirty="0"/>
              <a:t> Readers–Writers.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голодании</a:t>
            </a:r>
            <a:r>
              <a:rPr lang="en-US" dirty="0"/>
              <a:t> </a:t>
            </a:r>
            <a:r>
              <a:rPr lang="en-US" dirty="0" err="1"/>
              <a:t>одни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продолжают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, а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неопределённо</a:t>
            </a:r>
            <a:r>
              <a:rPr lang="en-US" dirty="0"/>
              <a:t> </a:t>
            </a:r>
            <a:r>
              <a:rPr lang="en-US" dirty="0" err="1"/>
              <a:t>долго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взаимной</a:t>
            </a:r>
            <a:r>
              <a:rPr lang="en-US" dirty="0"/>
              <a:t> </a:t>
            </a:r>
            <a:r>
              <a:rPr lang="en-US" dirty="0" err="1"/>
              <a:t>блокировке</a:t>
            </a:r>
            <a:r>
              <a:rPr lang="en-US" dirty="0"/>
              <a:t> </a:t>
            </a:r>
            <a:r>
              <a:rPr lang="en-US" dirty="0" err="1"/>
              <a:t>участники</a:t>
            </a:r>
            <a:r>
              <a:rPr lang="en-US" dirty="0"/>
              <a:t> </a:t>
            </a:r>
            <a:r>
              <a:rPr lang="en-US" dirty="0" err="1"/>
              <a:t>замкнутого</a:t>
            </a:r>
            <a:r>
              <a:rPr lang="en-US" dirty="0"/>
              <a:t> </a:t>
            </a:r>
            <a:r>
              <a:rPr lang="en-US" dirty="0" err="1"/>
              <a:t>цикла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продвинуться</a:t>
            </a:r>
            <a:r>
              <a:rPr lang="en-US" dirty="0"/>
              <a:t> </a:t>
            </a:r>
            <a:r>
              <a:rPr lang="en-US" dirty="0" err="1"/>
              <a:t>вперёд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внешнего</a:t>
            </a:r>
            <a:r>
              <a:rPr lang="en-US" dirty="0"/>
              <a:t> </a:t>
            </a:r>
            <a:r>
              <a:rPr lang="en-US" dirty="0" err="1"/>
              <a:t>вмешательства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предотвращать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ошибки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92192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Хорошая</a:t>
            </a:r>
            <a:r>
              <a:rPr lang="en-US" dirty="0"/>
              <a:t> </a:t>
            </a:r>
            <a:r>
              <a:rPr lang="en-US" dirty="0" err="1"/>
              <a:t>новость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большинство</a:t>
            </a:r>
            <a:r>
              <a:rPr lang="en-US" dirty="0"/>
              <a:t> </a:t>
            </a:r>
            <a:r>
              <a:rPr lang="en-US" dirty="0" err="1"/>
              <a:t>подобных</a:t>
            </a:r>
            <a:r>
              <a:rPr lang="en-US" dirty="0"/>
              <a:t> </a:t>
            </a:r>
            <a:r>
              <a:rPr lang="en-US" dirty="0" err="1"/>
              <a:t>взаимных</a:t>
            </a:r>
            <a:r>
              <a:rPr lang="en-US" dirty="0"/>
              <a:t> </a:t>
            </a:r>
            <a:r>
              <a:rPr lang="en-US" dirty="0" err="1"/>
              <a:t>блокировок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предотвратить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этапе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простого</a:t>
            </a:r>
            <a:r>
              <a:rPr lang="en-US" dirty="0"/>
              <a:t> </a:t>
            </a:r>
            <a:r>
              <a:rPr lang="en-US" dirty="0" err="1"/>
              <a:t>подхода</a:t>
            </a:r>
            <a:r>
              <a:rPr lang="en-US" dirty="0"/>
              <a:t> — </a:t>
            </a:r>
            <a:r>
              <a:rPr lang="en-US" dirty="0" err="1"/>
              <a:t>единого</a:t>
            </a:r>
            <a:r>
              <a:rPr lang="en-US" dirty="0"/>
              <a:t> </a:t>
            </a:r>
            <a:r>
              <a:rPr lang="en-US" dirty="0" err="1"/>
              <a:t>порядка</a:t>
            </a:r>
            <a:r>
              <a:rPr lang="en-US" dirty="0"/>
              <a:t> </a:t>
            </a:r>
            <a:r>
              <a:rPr lang="en-US" dirty="0" err="1"/>
              <a:t>захвата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в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мьютекса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m1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m2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договориться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любой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, </a:t>
            </a:r>
            <a:r>
              <a:rPr lang="en-US" dirty="0" err="1"/>
              <a:t>которому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ресурса</a:t>
            </a:r>
            <a:r>
              <a:rPr lang="en-US" dirty="0"/>
              <a:t>,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m1</a:t>
            </a:r>
            <a:r>
              <a:rPr lang="en-US" dirty="0"/>
              <a:t>, а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m2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устранить</a:t>
            </a:r>
            <a:r>
              <a:rPr lang="en-US" dirty="0"/>
              <a:t> </a:t>
            </a:r>
            <a:r>
              <a:rPr lang="en-US" dirty="0" err="1"/>
              <a:t>циклическое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этими</a:t>
            </a:r>
            <a:r>
              <a:rPr lang="en-US" dirty="0"/>
              <a:t> </a:t>
            </a:r>
            <a:r>
              <a:rPr lang="en-US" dirty="0" err="1"/>
              <a:t>блокировками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программисту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следить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соблюдением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соглашения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участках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современном</a:t>
            </a:r>
            <a:r>
              <a:rPr lang="en-US" dirty="0"/>
              <a:t> C++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удобный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.</a:t>
            </a:r>
          </a:p>
          <a:p>
            <a:r>
              <a:rPr lang="en-US" dirty="0" err="1"/>
              <a:t>Начиная</a:t>
            </a:r>
            <a:r>
              <a:rPr lang="en-US" dirty="0"/>
              <a:t> с C++17 </a:t>
            </a:r>
            <a:r>
              <a:rPr lang="en-US" dirty="0" err="1"/>
              <a:t>стандартная</a:t>
            </a:r>
            <a:r>
              <a:rPr lang="en-US" dirty="0"/>
              <a:t> </a:t>
            </a:r>
            <a:r>
              <a:rPr lang="en-US" dirty="0" err="1"/>
              <a:t>библиотека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scoped_lock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передаём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мьютексов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совместного</a:t>
            </a:r>
            <a:r>
              <a:rPr lang="en-US" dirty="0"/>
              <a:t> </a:t>
            </a:r>
            <a:r>
              <a:rPr lang="en-US" dirty="0" err="1"/>
              <a:t>захвата</a:t>
            </a:r>
            <a:r>
              <a:rPr lang="en-US" dirty="0"/>
              <a:t>, </a:t>
            </a:r>
            <a:r>
              <a:rPr lang="en-US" dirty="0" err="1"/>
              <a:t>предотвращающий</a:t>
            </a:r>
            <a:r>
              <a:rPr lang="en-US" dirty="0"/>
              <a:t> </a:t>
            </a:r>
            <a:r>
              <a:rPr lang="en-US" dirty="0" err="1"/>
              <a:t>взаимную</a:t>
            </a:r>
            <a:r>
              <a:rPr lang="en-US" dirty="0"/>
              <a:t> </a:t>
            </a:r>
            <a:r>
              <a:rPr lang="en-US" dirty="0" err="1"/>
              <a:t>блокировку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этими</a:t>
            </a:r>
            <a:r>
              <a:rPr lang="en-US" dirty="0"/>
              <a:t> </a:t>
            </a:r>
            <a:r>
              <a:rPr lang="en-US" dirty="0" err="1"/>
              <a:t>мьютексами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успешного</a:t>
            </a:r>
            <a:r>
              <a:rPr lang="en-US" dirty="0"/>
              <a:t> </a:t>
            </a:r>
            <a:r>
              <a:rPr lang="en-US" dirty="0" err="1"/>
              <a:t>захвата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безопасно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обоими</a:t>
            </a:r>
            <a:r>
              <a:rPr lang="en-US" dirty="0"/>
              <a:t> </a:t>
            </a:r>
            <a:r>
              <a:rPr lang="en-US" dirty="0" err="1"/>
              <a:t>защищаемыми</a:t>
            </a:r>
            <a:r>
              <a:rPr lang="en-US" dirty="0"/>
              <a:t> </a:t>
            </a:r>
            <a:r>
              <a:rPr lang="en-US" dirty="0" err="1"/>
              <a:t>ресурсами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scoped_lock</a:t>
            </a:r>
            <a:r>
              <a:rPr lang="en-US" dirty="0"/>
              <a:t> </a:t>
            </a:r>
            <a:r>
              <a:rPr lang="en-US" dirty="0" err="1"/>
              <a:t>выходит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видимости</a:t>
            </a:r>
            <a:r>
              <a:rPr lang="en-US" dirty="0"/>
              <a:t>,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захваченные</a:t>
            </a:r>
            <a:r>
              <a:rPr lang="en-US" dirty="0"/>
              <a:t> </a:t>
            </a:r>
            <a:r>
              <a:rPr lang="en-US" dirty="0" err="1"/>
              <a:t>мьютексы</a:t>
            </a:r>
            <a:r>
              <a:rPr lang="en-US" dirty="0"/>
              <a:t> </a:t>
            </a:r>
            <a:r>
              <a:rPr lang="en-US" dirty="0" err="1"/>
              <a:t>освобождаются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. Это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RAII, с </a:t>
            </a:r>
            <a:r>
              <a:rPr lang="en-US" dirty="0" err="1"/>
              <a:t>которым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знакомы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гарантий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scoped_lock</a:t>
            </a:r>
            <a:r>
              <a:rPr lang="en-US" dirty="0"/>
              <a:t> </a:t>
            </a:r>
            <a:r>
              <a:rPr lang="en-US" dirty="0" err="1"/>
              <a:t>предотвращает</a:t>
            </a:r>
            <a:r>
              <a:rPr lang="en-US" dirty="0"/>
              <a:t> Deadlock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совместном</a:t>
            </a:r>
            <a:r>
              <a:rPr lang="en-US" dirty="0"/>
              <a:t> </a:t>
            </a:r>
            <a:r>
              <a:rPr lang="en-US" dirty="0" err="1"/>
              <a:t>захвате</a:t>
            </a:r>
            <a:r>
              <a:rPr lang="en-US" dirty="0"/>
              <a:t> </a:t>
            </a:r>
            <a:r>
              <a:rPr lang="en-US" dirty="0" err="1"/>
              <a:t>переданных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мьютексов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гарантировать</a:t>
            </a:r>
            <a:r>
              <a:rPr lang="en-US" dirty="0"/>
              <a:t> </a:t>
            </a:r>
            <a:r>
              <a:rPr lang="en-US" dirty="0" err="1"/>
              <a:t>отсутствие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взаимных</a:t>
            </a:r>
            <a:r>
              <a:rPr lang="en-US" dirty="0"/>
              <a:t> </a:t>
            </a:r>
            <a:r>
              <a:rPr lang="en-US" dirty="0" err="1"/>
              <a:t>блокировок</a:t>
            </a:r>
            <a:r>
              <a:rPr lang="en-US" dirty="0"/>
              <a:t> в </a:t>
            </a:r>
            <a:r>
              <a:rPr lang="en-US" dirty="0" err="1"/>
              <a:t>произвольной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удерживает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и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другого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scoped_lock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исправит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остаются</a:t>
            </a:r>
            <a:r>
              <a:rPr lang="en-US" dirty="0"/>
              <a:t> </a:t>
            </a:r>
            <a:r>
              <a:rPr lang="en-US" dirty="0" err="1"/>
              <a:t>важными</a:t>
            </a:r>
            <a:r>
              <a:rPr lang="en-US" dirty="0"/>
              <a:t> </a:t>
            </a:r>
            <a:r>
              <a:rPr lang="en-US" dirty="0" err="1"/>
              <a:t>общие</a:t>
            </a:r>
            <a:r>
              <a:rPr lang="en-US" dirty="0"/>
              <a:t> </a:t>
            </a:r>
            <a:r>
              <a:rPr lang="en-US" dirty="0" err="1"/>
              <a:t>рекомендации</a:t>
            </a:r>
            <a:r>
              <a:rPr lang="en-US" dirty="0"/>
              <a:t>.</a:t>
            </a:r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удерживать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длительных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,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r>
              <a:rPr lang="en-US" dirty="0"/>
              <a:t> </a:t>
            </a:r>
            <a:r>
              <a:rPr lang="en-US" dirty="0" err="1"/>
              <a:t>функций</a:t>
            </a:r>
            <a:r>
              <a:rPr lang="en-US" dirty="0"/>
              <a:t>,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которых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захвата</a:t>
            </a:r>
            <a:r>
              <a:rPr lang="en-US" dirty="0"/>
              <a:t> </a:t>
            </a:r>
            <a:r>
              <a:rPr lang="en-US" dirty="0" err="1"/>
              <a:t>мьютексов</a:t>
            </a:r>
            <a:r>
              <a:rPr lang="en-US" dirty="0"/>
              <a:t> </a:t>
            </a:r>
            <a:r>
              <a:rPr lang="en-US" dirty="0" err="1"/>
              <a:t>неизвестно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меньше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удержания</a:t>
            </a:r>
            <a:r>
              <a:rPr lang="en-US" dirty="0"/>
              <a:t> </a:t>
            </a:r>
            <a:r>
              <a:rPr lang="en-US" dirty="0" err="1"/>
              <a:t>ресурса</a:t>
            </a:r>
            <a:r>
              <a:rPr lang="en-US" dirty="0"/>
              <a:t> и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 </a:t>
            </a:r>
            <a:r>
              <a:rPr lang="en-US" dirty="0" err="1"/>
              <a:t>протокол</a:t>
            </a:r>
            <a:r>
              <a:rPr lang="en-US" dirty="0"/>
              <a:t> </a:t>
            </a:r>
            <a:r>
              <a:rPr lang="en-US" dirty="0" err="1"/>
              <a:t>захвата</a:t>
            </a:r>
            <a:r>
              <a:rPr lang="en-US" dirty="0"/>
              <a:t>,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легче</a:t>
            </a:r>
            <a:r>
              <a:rPr lang="en-US" dirty="0"/>
              <a:t> </a:t>
            </a:r>
            <a:r>
              <a:rPr lang="en-US" dirty="0" err="1"/>
              <a:t>анализировать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и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меньше</a:t>
            </a:r>
            <a:r>
              <a:rPr lang="en-US" dirty="0"/>
              <a:t> </a:t>
            </a:r>
            <a:r>
              <a:rPr lang="en-US" dirty="0" err="1"/>
              <a:t>вероятность</a:t>
            </a:r>
            <a:r>
              <a:rPr lang="en-US" dirty="0"/>
              <a:t> </a:t>
            </a:r>
            <a:r>
              <a:rPr lang="en-US" dirty="0" err="1"/>
              <a:t>взаимной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мьютексов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scoped_lock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ресурсами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продуман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1765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рассмотрели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циклического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бывает</a:t>
            </a:r>
            <a:r>
              <a:rPr lang="en-US" dirty="0"/>
              <a:t> и </a:t>
            </a:r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: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зависает</a:t>
            </a:r>
            <a:r>
              <a:rPr lang="en-US" dirty="0"/>
              <a:t> </a:t>
            </a:r>
            <a:r>
              <a:rPr lang="en-US" dirty="0" err="1"/>
              <a:t>навсегда</a:t>
            </a:r>
            <a:r>
              <a:rPr lang="en-US" dirty="0"/>
              <a:t>, </a:t>
            </a:r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поздно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опасна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операционных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с </a:t>
            </a:r>
            <a:r>
              <a:rPr lang="en-US" dirty="0" err="1"/>
              <a:t>разными</a:t>
            </a:r>
            <a:r>
              <a:rPr lang="en-US" dirty="0"/>
              <a:t> </a:t>
            </a:r>
            <a:r>
              <a:rPr lang="en-US" dirty="0" err="1"/>
              <a:t>приоритетами</a:t>
            </a:r>
            <a:r>
              <a:rPr lang="en-US" dirty="0"/>
              <a:t>.</a:t>
            </a:r>
          </a:p>
          <a:p>
            <a:r>
              <a:rPr lang="en-US" dirty="0" err="1"/>
              <a:t>Поток</a:t>
            </a:r>
            <a:r>
              <a:rPr lang="en-US" dirty="0"/>
              <a:t> H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самый</a:t>
            </a:r>
            <a:r>
              <a:rPr lang="en-US" dirty="0"/>
              <a:t> </a:t>
            </a:r>
            <a:r>
              <a:rPr lang="en-US" dirty="0" err="1"/>
              <a:t>высокий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некоторую</a:t>
            </a:r>
            <a:r>
              <a:rPr lang="en-US" dirty="0"/>
              <a:t> </a:t>
            </a:r>
            <a:r>
              <a:rPr lang="en-US" dirty="0" err="1"/>
              <a:t>критически</a:t>
            </a:r>
            <a:r>
              <a:rPr lang="en-US" dirty="0"/>
              <a:t> </a:t>
            </a:r>
            <a:r>
              <a:rPr lang="en-US" dirty="0" err="1"/>
              <a:t>важную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оборудованием</a:t>
            </a:r>
            <a:r>
              <a:rPr lang="en-US" dirty="0"/>
              <a:t>.</a:t>
            </a:r>
          </a:p>
          <a:p>
            <a:r>
              <a:rPr lang="en-US" dirty="0" err="1"/>
              <a:t>Поток</a:t>
            </a:r>
            <a:r>
              <a:rPr lang="en-US" dirty="0"/>
              <a:t> M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средний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.</a:t>
            </a:r>
          </a:p>
          <a:p>
            <a:r>
              <a:rPr lang="en-US" dirty="0" err="1"/>
              <a:t>Поток</a:t>
            </a:r>
            <a:r>
              <a:rPr lang="en-US" dirty="0"/>
              <a:t> L — </a:t>
            </a:r>
            <a:r>
              <a:rPr lang="en-US" dirty="0" err="1"/>
              <a:t>самый</a:t>
            </a:r>
            <a:r>
              <a:rPr lang="en-US" dirty="0"/>
              <a:t> </a:t>
            </a:r>
            <a:r>
              <a:rPr lang="en-US" dirty="0" err="1"/>
              <a:t>низкий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L.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общие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готовым</a:t>
            </a:r>
            <a:r>
              <a:rPr lang="en-US" dirty="0"/>
              <a:t> к </a:t>
            </a:r>
            <a:r>
              <a:rPr lang="en-US" dirty="0" err="1"/>
              <a:t>выполнению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H.</a:t>
            </a:r>
          </a:p>
          <a:p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,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 </a:t>
            </a:r>
            <a:r>
              <a:rPr lang="en-US" dirty="0" err="1"/>
              <a:t>выше</a:t>
            </a:r>
            <a:r>
              <a:rPr lang="en-US" dirty="0"/>
              <a:t>.</a:t>
            </a:r>
          </a:p>
          <a:p>
            <a:r>
              <a:rPr lang="en-US" dirty="0" err="1"/>
              <a:t>Однако</a:t>
            </a:r>
            <a:r>
              <a:rPr lang="en-US" dirty="0"/>
              <a:t> H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удерживает</a:t>
            </a:r>
            <a:r>
              <a:rPr lang="en-US" dirty="0"/>
              <a:t> L.</a:t>
            </a:r>
          </a:p>
          <a:p>
            <a:r>
              <a:rPr lang="en-US" dirty="0" err="1"/>
              <a:t>Поэтому</a:t>
            </a:r>
            <a:r>
              <a:rPr lang="en-US" dirty="0"/>
              <a:t> H </a:t>
            </a:r>
            <a:r>
              <a:rPr lang="en-US" dirty="0" err="1"/>
              <a:t>блокируется</a:t>
            </a:r>
            <a:r>
              <a:rPr lang="en-US" dirty="0"/>
              <a:t>.</a:t>
            </a:r>
          </a:p>
          <a:p>
            <a:r>
              <a:rPr lang="en-US" dirty="0" err="1"/>
              <a:t>Казалось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,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дать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L </a:t>
            </a:r>
            <a:r>
              <a:rPr lang="en-US" dirty="0" err="1"/>
              <a:t>завершить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и </a:t>
            </a:r>
            <a:r>
              <a:rPr lang="en-US" dirty="0" err="1"/>
              <a:t>освободить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готовым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M.</a:t>
            </a:r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 </a:t>
            </a:r>
            <a:r>
              <a:rPr lang="en-US" dirty="0" err="1"/>
              <a:t>выше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у L,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M.</a:t>
            </a:r>
          </a:p>
          <a:p>
            <a:r>
              <a:rPr lang="en-US" dirty="0"/>
              <a:t>И </a:t>
            </a:r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парадокс</a:t>
            </a:r>
            <a:r>
              <a:rPr lang="en-US" dirty="0"/>
              <a:t>: </a:t>
            </a:r>
            <a:r>
              <a:rPr lang="en-US" dirty="0" err="1"/>
              <a:t>высокоприоритетный</a:t>
            </a:r>
            <a:r>
              <a:rPr lang="en-US" dirty="0"/>
              <a:t> H </a:t>
            </a:r>
            <a:r>
              <a:rPr lang="en-US" dirty="0" err="1"/>
              <a:t>ждёт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низкоприоритетного</a:t>
            </a:r>
            <a:r>
              <a:rPr lang="en-US" dirty="0"/>
              <a:t> L,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среднеприоритетный</a:t>
            </a:r>
            <a:r>
              <a:rPr lang="en-US" dirty="0"/>
              <a:t> M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даёт</a:t>
            </a:r>
            <a:r>
              <a:rPr lang="en-US" dirty="0"/>
              <a:t> L </a:t>
            </a:r>
            <a:r>
              <a:rPr lang="en-US" dirty="0" err="1"/>
              <a:t>получить</a:t>
            </a:r>
            <a:r>
              <a:rPr lang="en-US" dirty="0"/>
              <a:t> CPU.</a:t>
            </a:r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H </a:t>
            </a:r>
            <a:r>
              <a:rPr lang="en-US" dirty="0" err="1"/>
              <a:t>задерживается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определяется</a:t>
            </a:r>
            <a:r>
              <a:rPr lang="en-US" dirty="0"/>
              <a:t> </a:t>
            </a:r>
            <a:r>
              <a:rPr lang="en-US" dirty="0" err="1"/>
              <a:t>продолжительностью</a:t>
            </a:r>
            <a:r>
              <a:rPr lang="en-US" dirty="0"/>
              <a:t> </a:t>
            </a:r>
            <a:r>
              <a:rPr lang="en-US" dirty="0" err="1"/>
              <a:t>критической</a:t>
            </a:r>
            <a:r>
              <a:rPr lang="en-US" dirty="0"/>
              <a:t> </a:t>
            </a:r>
            <a:r>
              <a:rPr lang="en-US" dirty="0" err="1"/>
              <a:t>секции</a:t>
            </a:r>
            <a:r>
              <a:rPr lang="en-US" dirty="0"/>
              <a:t> L.</a:t>
            </a:r>
          </a:p>
          <a:p>
            <a:endParaRPr lang="en-US" dirty="0"/>
          </a:p>
          <a:p>
            <a:r>
              <a:rPr lang="en-US" dirty="0"/>
              <a:t>Это и </a:t>
            </a:r>
            <a:r>
              <a:rPr lang="en-US" dirty="0" err="1"/>
              <a:t>называется</a:t>
            </a:r>
            <a:r>
              <a:rPr lang="en-US" dirty="0"/>
              <a:t> Priority Inversion — </a:t>
            </a:r>
            <a:r>
              <a:rPr lang="en-US" dirty="0" err="1"/>
              <a:t>инверсия</a:t>
            </a:r>
            <a:r>
              <a:rPr lang="en-US" dirty="0"/>
              <a:t> </a:t>
            </a:r>
            <a:r>
              <a:rPr lang="en-US" dirty="0" err="1"/>
              <a:t>приоритетов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Deadlock.</a:t>
            </a:r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M </a:t>
            </a:r>
            <a:r>
              <a:rPr lang="en-US" dirty="0" err="1"/>
              <a:t>перестанет</a:t>
            </a:r>
            <a:r>
              <a:rPr lang="en-US" dirty="0"/>
              <a:t> </a:t>
            </a:r>
            <a:r>
              <a:rPr lang="en-US" dirty="0" err="1"/>
              <a:t>занимать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, L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, </a:t>
            </a:r>
            <a:r>
              <a:rPr lang="en-US" dirty="0" err="1"/>
              <a:t>освободить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и H </a:t>
            </a:r>
            <a:r>
              <a:rPr lang="en-US" dirty="0" err="1"/>
              <a:t>наконец</a:t>
            </a:r>
            <a:r>
              <a:rPr lang="en-US" dirty="0"/>
              <a:t> </a:t>
            </a:r>
            <a:r>
              <a:rPr lang="en-US" dirty="0" err="1"/>
              <a:t>возобновит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задержка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недопустима</a:t>
            </a:r>
            <a:r>
              <a:rPr lang="en-US" dirty="0"/>
              <a:t>,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в </a:t>
            </a:r>
            <a:r>
              <a:rPr lang="en-US" dirty="0" err="1"/>
              <a:t>конечном</a:t>
            </a:r>
            <a:r>
              <a:rPr lang="en-US" dirty="0"/>
              <a:t> </a:t>
            </a:r>
            <a:r>
              <a:rPr lang="en-US" dirty="0" err="1"/>
              <a:t>итоге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успешно</a:t>
            </a:r>
            <a:r>
              <a:rPr lang="en-US" dirty="0"/>
              <a:t> </a:t>
            </a:r>
            <a:r>
              <a:rPr lang="en-US" dirty="0" err="1"/>
              <a:t>завершатся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662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инверсии</a:t>
            </a:r>
            <a:r>
              <a:rPr lang="en-US" dirty="0"/>
              <a:t> </a:t>
            </a:r>
            <a:r>
              <a:rPr lang="en-US" dirty="0" err="1"/>
              <a:t>приоритетов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наиболее</a:t>
            </a:r>
            <a:r>
              <a:rPr lang="en-US" dirty="0"/>
              <a:t> </a:t>
            </a:r>
            <a:r>
              <a:rPr lang="en-US" dirty="0" err="1"/>
              <a:t>известных</a:t>
            </a:r>
            <a:r>
              <a:rPr lang="en-US" dirty="0"/>
              <a:t> </a:t>
            </a:r>
            <a:r>
              <a:rPr lang="en-US" dirty="0" err="1"/>
              <a:t>механизмов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Priority Inheritance — </a:t>
            </a:r>
            <a:r>
              <a:rPr lang="en-US" dirty="0" err="1"/>
              <a:t>наследование</a:t>
            </a:r>
            <a:r>
              <a:rPr lang="en-US" dirty="0"/>
              <a:t> </a:t>
            </a:r>
            <a:r>
              <a:rPr lang="en-US" dirty="0" err="1"/>
              <a:t>приоритета</a:t>
            </a:r>
            <a:r>
              <a:rPr lang="en-US" dirty="0"/>
              <a:t>.</a:t>
            </a:r>
          </a:p>
          <a:p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нашему</a:t>
            </a:r>
            <a:r>
              <a:rPr lang="en-US" dirty="0"/>
              <a:t> </a:t>
            </a:r>
            <a:r>
              <a:rPr lang="en-US" dirty="0" err="1"/>
              <a:t>примеру</a:t>
            </a:r>
            <a:r>
              <a:rPr lang="en-US" dirty="0"/>
              <a:t> с </a:t>
            </a:r>
            <a:r>
              <a:rPr lang="en-US" dirty="0" err="1"/>
              <a:t>тремя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Низкоприоритетный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L </a:t>
            </a:r>
            <a:r>
              <a:rPr lang="en-US" dirty="0" err="1"/>
              <a:t>удерживает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</a:t>
            </a:r>
            <a:r>
              <a:rPr lang="en-US" dirty="0" err="1"/>
              <a:t>необходимый</a:t>
            </a:r>
            <a:r>
              <a:rPr lang="en-US" dirty="0"/>
              <a:t> </a:t>
            </a:r>
            <a:r>
              <a:rPr lang="en-US" dirty="0" err="1"/>
              <a:t>высокоприоритетному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 H.</a:t>
            </a:r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H </a:t>
            </a:r>
            <a:r>
              <a:rPr lang="en-US" dirty="0" err="1"/>
              <a:t>пытается</a:t>
            </a:r>
            <a:r>
              <a:rPr lang="en-US" dirty="0"/>
              <a:t> </a:t>
            </a:r>
            <a:r>
              <a:rPr lang="en-US" dirty="0" err="1"/>
              <a:t>захватить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и </a:t>
            </a:r>
            <a:r>
              <a:rPr lang="en-US" dirty="0" err="1"/>
              <a:t>блокируется</a:t>
            </a:r>
            <a:r>
              <a:rPr lang="en-US" dirty="0"/>
              <a:t>,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обнаруживает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 L </a:t>
            </a:r>
            <a:r>
              <a:rPr lang="en-US" dirty="0" err="1"/>
              <a:t>временно</a:t>
            </a:r>
            <a:r>
              <a:rPr lang="en-US" dirty="0"/>
              <a:t> </a:t>
            </a:r>
            <a:r>
              <a:rPr lang="en-US" dirty="0" err="1"/>
              <a:t>повышается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</a:t>
            </a:r>
            <a:r>
              <a:rPr lang="en-US" dirty="0" err="1"/>
              <a:t>приоритета</a:t>
            </a:r>
            <a:r>
              <a:rPr lang="en-US" dirty="0"/>
              <a:t> H.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среднеприоритетный</a:t>
            </a:r>
            <a:r>
              <a:rPr lang="en-US" dirty="0"/>
              <a:t> M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вытеснять</a:t>
            </a:r>
            <a:r>
              <a:rPr lang="en-US" dirty="0"/>
              <a:t> L.</a:t>
            </a:r>
          </a:p>
          <a:p>
            <a:r>
              <a:rPr lang="en-US" dirty="0"/>
              <a:t>L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, </a:t>
            </a:r>
            <a:r>
              <a:rPr lang="en-US" dirty="0" err="1"/>
              <a:t>завершает</a:t>
            </a:r>
            <a:r>
              <a:rPr lang="en-US" dirty="0"/>
              <a:t>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 и </a:t>
            </a:r>
            <a:r>
              <a:rPr lang="en-US" dirty="0" err="1"/>
              <a:t>освобождает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освобождения</a:t>
            </a:r>
            <a:r>
              <a:rPr lang="en-US" dirty="0"/>
              <a:t> </a:t>
            </a:r>
            <a:r>
              <a:rPr lang="en-US" dirty="0" err="1"/>
              <a:t>ресурса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 </a:t>
            </a:r>
            <a:r>
              <a:rPr lang="en-US" dirty="0" err="1"/>
              <a:t>возвращается</a:t>
            </a:r>
            <a:r>
              <a:rPr lang="en-US" dirty="0"/>
              <a:t> к </a:t>
            </a:r>
            <a:r>
              <a:rPr lang="en-US" dirty="0" err="1"/>
              <a:t>обычному</a:t>
            </a:r>
            <a:r>
              <a:rPr lang="en-US" dirty="0"/>
              <a:t> </a:t>
            </a:r>
            <a:r>
              <a:rPr lang="en-US" dirty="0" err="1"/>
              <a:t>значению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причин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повышения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H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блокировку</a:t>
            </a:r>
            <a:r>
              <a:rPr lang="en-US" dirty="0"/>
              <a:t> и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устраняем</a:t>
            </a:r>
            <a:r>
              <a:rPr lang="en-US" dirty="0"/>
              <a:t> </a:t>
            </a:r>
            <a:r>
              <a:rPr lang="en-US" dirty="0" err="1"/>
              <a:t>главную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: </a:t>
            </a:r>
            <a:r>
              <a:rPr lang="en-US" dirty="0" err="1"/>
              <a:t>среднеприоритетные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произвольно</a:t>
            </a:r>
            <a:r>
              <a:rPr lang="en-US" dirty="0"/>
              <a:t> </a:t>
            </a:r>
            <a:r>
              <a:rPr lang="en-US" dirty="0" err="1"/>
              <a:t>задерживать</a:t>
            </a:r>
            <a:r>
              <a:rPr lang="en-US" dirty="0"/>
              <a:t> </a:t>
            </a:r>
            <a:r>
              <a:rPr lang="en-US" dirty="0" err="1"/>
              <a:t>освобождение</a:t>
            </a:r>
            <a:r>
              <a:rPr lang="en-US" dirty="0"/>
              <a:t> </a:t>
            </a:r>
            <a:r>
              <a:rPr lang="en-US" dirty="0" err="1"/>
              <a:t>ресурса</a:t>
            </a:r>
            <a:r>
              <a:rPr lang="en-US" dirty="0"/>
              <a:t>, </a:t>
            </a:r>
            <a:r>
              <a:rPr lang="en-US" dirty="0" err="1"/>
              <a:t>необходимого</a:t>
            </a:r>
            <a:r>
              <a:rPr lang="en-US" dirty="0"/>
              <a:t> </a:t>
            </a:r>
            <a:r>
              <a:rPr lang="en-US" dirty="0" err="1"/>
              <a:t>высокоприоритетной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Существует</a:t>
            </a:r>
            <a:r>
              <a:rPr lang="en-US" dirty="0"/>
              <a:t> и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— Priority Ceiling.</a:t>
            </a:r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мьютекса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определяется</a:t>
            </a:r>
            <a:r>
              <a:rPr lang="en-US" dirty="0"/>
              <a:t> </a:t>
            </a:r>
            <a:r>
              <a:rPr lang="en-US" dirty="0" err="1"/>
              <a:t>определённый</a:t>
            </a:r>
            <a:r>
              <a:rPr lang="en-US" dirty="0"/>
              <a:t> </a:t>
            </a:r>
            <a:r>
              <a:rPr lang="en-US" dirty="0" err="1"/>
              <a:t>потолок</a:t>
            </a:r>
            <a:r>
              <a:rPr lang="en-US" dirty="0"/>
              <a:t> </a:t>
            </a:r>
            <a:r>
              <a:rPr lang="en-US" dirty="0" err="1"/>
              <a:t>приоритета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эффективный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 </a:t>
            </a:r>
            <a:r>
              <a:rPr lang="en-US" dirty="0" err="1"/>
              <a:t>повышается</a:t>
            </a:r>
            <a:r>
              <a:rPr lang="en-US" dirty="0"/>
              <a:t> в </a:t>
            </a:r>
            <a:r>
              <a:rPr lang="en-US" dirty="0" err="1"/>
              <a:t>соответствии</a:t>
            </a:r>
            <a:r>
              <a:rPr lang="en-US" dirty="0"/>
              <a:t> с </a:t>
            </a:r>
            <a:r>
              <a:rPr lang="en-US" dirty="0" err="1"/>
              <a:t>выбранным</a:t>
            </a:r>
            <a:r>
              <a:rPr lang="en-US" dirty="0"/>
              <a:t> </a:t>
            </a:r>
            <a:r>
              <a:rPr lang="en-US" dirty="0" err="1"/>
              <a:t>протоколом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удобен</a:t>
            </a:r>
            <a:r>
              <a:rPr lang="en-US" dirty="0"/>
              <a:t> в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и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приоритеты</a:t>
            </a:r>
            <a:r>
              <a:rPr lang="en-US" dirty="0"/>
              <a:t> </a:t>
            </a:r>
            <a:r>
              <a:rPr lang="en-US" dirty="0" err="1"/>
              <a:t>известны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POSIX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специальные</a:t>
            </a:r>
            <a:r>
              <a:rPr lang="en-US" dirty="0"/>
              <a:t> </a:t>
            </a:r>
            <a:r>
              <a:rPr lang="en-US" dirty="0" err="1"/>
              <a:t>атрибуты</a:t>
            </a:r>
            <a:r>
              <a:rPr lang="en-US" dirty="0"/>
              <a:t> </a:t>
            </a:r>
            <a:r>
              <a:rPr lang="en-US" dirty="0" err="1"/>
              <a:t>мьютексов</a:t>
            </a:r>
            <a:r>
              <a:rPr lang="en-US" dirty="0"/>
              <a:t>, </a:t>
            </a:r>
            <a:r>
              <a:rPr lang="en-US" dirty="0" err="1"/>
              <a:t>позволяющие</a:t>
            </a:r>
            <a:r>
              <a:rPr lang="en-US" dirty="0"/>
              <a:t> </a:t>
            </a:r>
            <a:r>
              <a:rPr lang="en-US" dirty="0" err="1"/>
              <a:t>задавать</a:t>
            </a:r>
            <a:r>
              <a:rPr lang="en-US" dirty="0"/>
              <a:t> </a:t>
            </a:r>
            <a:r>
              <a:rPr lang="en-US" dirty="0" err="1"/>
              <a:t>протоколы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PTHREAD_PRIO_INHERIT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PTHREAD_PRIO_PROTECT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соответствующие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поддерживаются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системой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расскажу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известном</a:t>
            </a:r>
            <a:r>
              <a:rPr lang="en-US" dirty="0"/>
              <a:t> </a:t>
            </a:r>
            <a:r>
              <a:rPr lang="en-US" dirty="0" err="1"/>
              <a:t>реальном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1997 </a:t>
            </a:r>
            <a:r>
              <a:rPr lang="en-US" dirty="0" err="1"/>
              <a:t>году</a:t>
            </a:r>
            <a:r>
              <a:rPr lang="en-US" dirty="0"/>
              <a:t> </a:t>
            </a:r>
            <a:r>
              <a:rPr lang="en-US" dirty="0" err="1"/>
              <a:t>космический</a:t>
            </a:r>
            <a:r>
              <a:rPr lang="en-US" dirty="0"/>
              <a:t> </a:t>
            </a:r>
            <a:r>
              <a:rPr lang="en-US" dirty="0" err="1"/>
              <a:t>аппарат</a:t>
            </a:r>
            <a:r>
              <a:rPr lang="en-US" dirty="0"/>
              <a:t> Mars Pathfinder </a:t>
            </a:r>
            <a:r>
              <a:rPr lang="en-US" dirty="0" err="1"/>
              <a:t>успешно</a:t>
            </a:r>
            <a:r>
              <a:rPr lang="en-US" dirty="0"/>
              <a:t> </a:t>
            </a:r>
            <a:r>
              <a:rPr lang="en-US" dirty="0" err="1"/>
              <a:t>приземлился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Марсе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вскоре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посадки</a:t>
            </a:r>
            <a:r>
              <a:rPr lang="en-US" dirty="0"/>
              <a:t> </a:t>
            </a:r>
            <a:r>
              <a:rPr lang="en-US" dirty="0" err="1"/>
              <a:t>начал</a:t>
            </a:r>
            <a:r>
              <a:rPr lang="en-US" dirty="0"/>
              <a:t> </a:t>
            </a:r>
            <a:r>
              <a:rPr lang="en-US" dirty="0" err="1"/>
              <a:t>периодически</a:t>
            </a:r>
            <a:r>
              <a:rPr lang="en-US" dirty="0"/>
              <a:t> </a:t>
            </a:r>
            <a:r>
              <a:rPr lang="en-US" dirty="0" err="1"/>
              <a:t>перезапускаться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Расследование</a:t>
            </a:r>
            <a:r>
              <a:rPr lang="en-US" dirty="0"/>
              <a:t> </a:t>
            </a:r>
            <a:r>
              <a:rPr lang="en-US" dirty="0" err="1"/>
              <a:t>показало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причиной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инверсия</a:t>
            </a:r>
            <a:r>
              <a:rPr lang="en-US" dirty="0"/>
              <a:t> </a:t>
            </a:r>
            <a:r>
              <a:rPr lang="en-US" dirty="0" err="1"/>
              <a:t>приоритетов</a:t>
            </a:r>
            <a:r>
              <a:rPr lang="en-US" dirty="0"/>
              <a:t> в </a:t>
            </a:r>
            <a:r>
              <a:rPr lang="en-US" dirty="0" err="1"/>
              <a:t>бортовой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, </a:t>
            </a:r>
            <a:r>
              <a:rPr lang="en-US" dirty="0" err="1"/>
              <a:t>использовавшей</a:t>
            </a:r>
            <a:r>
              <a:rPr lang="en-US" dirty="0"/>
              <a:t> </a:t>
            </a:r>
            <a:r>
              <a:rPr lang="en-US" dirty="0" err="1"/>
              <a:t>операционную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VxWorks.</a:t>
            </a:r>
          </a:p>
          <a:p>
            <a:endParaRPr lang="en-US" dirty="0"/>
          </a:p>
          <a:p>
            <a:r>
              <a:rPr lang="en-US" dirty="0" err="1"/>
              <a:t>Низкоприоритетная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удерживала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требовался</a:t>
            </a:r>
            <a:r>
              <a:rPr lang="en-US" dirty="0"/>
              <a:t> </a:t>
            </a:r>
            <a:r>
              <a:rPr lang="en-US" dirty="0" err="1"/>
              <a:t>высокоприоритетной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средним</a:t>
            </a:r>
            <a:r>
              <a:rPr lang="en-US" dirty="0"/>
              <a:t> </a:t>
            </a:r>
            <a:r>
              <a:rPr lang="en-US" dirty="0" err="1"/>
              <a:t>приоритетом</a:t>
            </a:r>
            <a:r>
              <a:rPr lang="en-US" dirty="0"/>
              <a:t> </a:t>
            </a:r>
            <a:r>
              <a:rPr lang="en-US" dirty="0" err="1"/>
              <a:t>могли</a:t>
            </a:r>
            <a:r>
              <a:rPr lang="en-US" dirty="0"/>
              <a:t> </a:t>
            </a:r>
            <a:r>
              <a:rPr lang="en-US" dirty="0" err="1"/>
              <a:t>задерживать</a:t>
            </a:r>
            <a:r>
              <a:rPr lang="en-US" dirty="0"/>
              <a:t> </a:t>
            </a:r>
            <a:r>
              <a:rPr lang="en-US" dirty="0" err="1"/>
              <a:t>освобождение</a:t>
            </a:r>
            <a:r>
              <a:rPr lang="en-US" dirty="0"/>
              <a:t> </a:t>
            </a:r>
            <a:r>
              <a:rPr lang="en-US" dirty="0" err="1"/>
              <a:t>ресурса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высокоприоритетная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успевала</a:t>
            </a:r>
            <a:r>
              <a:rPr lang="en-US" dirty="0"/>
              <a:t> </a:t>
            </a:r>
            <a:r>
              <a:rPr lang="en-US" dirty="0" err="1"/>
              <a:t>завершить</a:t>
            </a:r>
            <a:r>
              <a:rPr lang="en-US" dirty="0"/>
              <a:t> </a:t>
            </a:r>
            <a:r>
              <a:rPr lang="en-US" dirty="0" err="1"/>
              <a:t>необходимые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и </a:t>
            </a:r>
            <a:r>
              <a:rPr lang="en-US" dirty="0" err="1"/>
              <a:t>срабатывал</a:t>
            </a:r>
            <a:r>
              <a:rPr lang="en-US" dirty="0"/>
              <a:t> </a:t>
            </a:r>
            <a:r>
              <a:rPr lang="en-US" dirty="0" err="1"/>
              <a:t>сторожевой</a:t>
            </a:r>
            <a:r>
              <a:rPr lang="en-US" dirty="0"/>
              <a:t> </a:t>
            </a:r>
            <a:r>
              <a:rPr lang="en-US" dirty="0" err="1"/>
              <a:t>таймер</a:t>
            </a:r>
            <a:r>
              <a:rPr lang="en-US" dirty="0"/>
              <a:t>, </a:t>
            </a:r>
            <a:r>
              <a:rPr lang="en-US" dirty="0" err="1"/>
              <a:t>вызывавший</a:t>
            </a:r>
            <a:r>
              <a:rPr lang="en-US" dirty="0"/>
              <a:t> </a:t>
            </a:r>
            <a:r>
              <a:rPr lang="en-US" dirty="0" err="1"/>
              <a:t>перезапуск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Инженерам</a:t>
            </a:r>
            <a:r>
              <a:rPr lang="en-US" dirty="0"/>
              <a:t> </a:t>
            </a:r>
            <a:r>
              <a:rPr lang="en-US" dirty="0" err="1"/>
              <a:t>удалось</a:t>
            </a:r>
            <a:r>
              <a:rPr lang="en-US" dirty="0"/>
              <a:t> </a:t>
            </a:r>
            <a:r>
              <a:rPr lang="en-US" dirty="0" err="1"/>
              <a:t>воспроизвести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Земле</a:t>
            </a:r>
            <a:r>
              <a:rPr lang="en-US" dirty="0"/>
              <a:t>.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изменили</a:t>
            </a:r>
            <a:r>
              <a:rPr lang="en-US" dirty="0"/>
              <a:t> </a:t>
            </a:r>
            <a:r>
              <a:rPr lang="en-US" dirty="0" err="1"/>
              <a:t>настройки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, </a:t>
            </a:r>
            <a:r>
              <a:rPr lang="en-US" dirty="0" err="1"/>
              <a:t>включив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наследования</a:t>
            </a:r>
            <a:r>
              <a:rPr lang="en-US" dirty="0"/>
              <a:t> </a:t>
            </a:r>
            <a:r>
              <a:rPr lang="en-US" dirty="0" err="1"/>
              <a:t>приоритета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соответствующего</a:t>
            </a:r>
            <a:r>
              <a:rPr lang="en-US" dirty="0"/>
              <a:t> </a:t>
            </a:r>
            <a:r>
              <a:rPr lang="en-US" dirty="0" err="1"/>
              <a:t>мьютекса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исправления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с </a:t>
            </a:r>
            <a:r>
              <a:rPr lang="en-US" dirty="0" err="1"/>
              <a:t>перезапусками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устранена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тесно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 с </a:t>
            </a:r>
            <a:r>
              <a:rPr lang="en-US" dirty="0" err="1"/>
              <a:t>планированием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защищать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гонок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соответствующего</a:t>
            </a:r>
            <a:r>
              <a:rPr lang="en-US" dirty="0"/>
              <a:t> </a:t>
            </a:r>
            <a:r>
              <a:rPr lang="en-US" dirty="0" err="1"/>
              <a:t>протокола</a:t>
            </a:r>
            <a:r>
              <a:rPr lang="en-US" dirty="0"/>
              <a:t> </a:t>
            </a:r>
            <a:r>
              <a:rPr lang="en-US" dirty="0" err="1"/>
              <a:t>приоритетов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предсказуемое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выбирать</a:t>
            </a:r>
            <a:r>
              <a:rPr lang="en-US" dirty="0"/>
              <a:t> </a:t>
            </a:r>
            <a:r>
              <a:rPr lang="en-US" dirty="0" err="1"/>
              <a:t>правильные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с </a:t>
            </a:r>
            <a:r>
              <a:rPr lang="en-US" dirty="0" err="1"/>
              <a:t>планировщиком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93804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предыдущих</a:t>
            </a:r>
            <a:r>
              <a:rPr lang="en-US" dirty="0"/>
              <a:t> </a:t>
            </a:r>
            <a:r>
              <a:rPr lang="en-US" dirty="0" err="1"/>
              <a:t>разделах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изучили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, </a:t>
            </a:r>
            <a:r>
              <a:rPr lang="en-US" dirty="0" err="1"/>
              <a:t>принадлежащих</a:t>
            </a:r>
            <a:r>
              <a:rPr lang="en-US" dirty="0"/>
              <a:t> </a:t>
            </a:r>
            <a:r>
              <a:rPr lang="en-US" dirty="0" err="1"/>
              <a:t>одному</a:t>
            </a:r>
            <a:r>
              <a:rPr lang="en-US" dirty="0"/>
              <a:t> </a:t>
            </a:r>
            <a:r>
              <a:rPr lang="en-US" dirty="0" err="1"/>
              <a:t>процессу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обращаться</a:t>
            </a:r>
            <a:r>
              <a:rPr lang="en-US" dirty="0"/>
              <a:t> к </a:t>
            </a:r>
            <a:r>
              <a:rPr lang="en-US" dirty="0" err="1"/>
              <a:t>одним</a:t>
            </a:r>
            <a:r>
              <a:rPr lang="en-US" dirty="0"/>
              <a:t> и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объектам</a:t>
            </a:r>
            <a:r>
              <a:rPr lang="en-US" dirty="0"/>
              <a:t>, а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защиты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мьютексы</a:t>
            </a:r>
            <a:r>
              <a:rPr lang="en-US" dirty="0"/>
              <a:t>, </a:t>
            </a:r>
            <a:r>
              <a:rPr lang="en-US" dirty="0" err="1"/>
              <a:t>семафоры</a:t>
            </a:r>
            <a:r>
              <a:rPr lang="en-US" dirty="0"/>
              <a:t> и </a:t>
            </a:r>
            <a:r>
              <a:rPr lang="en-US" dirty="0" err="1"/>
              <a:t>условные</a:t>
            </a:r>
            <a:r>
              <a:rPr lang="en-US" dirty="0"/>
              <a:t> </a:t>
            </a:r>
            <a:r>
              <a:rPr lang="en-US" dirty="0" err="1"/>
              <a:t>переменные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независимых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принимает</a:t>
            </a:r>
            <a:r>
              <a:rPr lang="en-US" dirty="0"/>
              <a:t> </a:t>
            </a:r>
            <a:r>
              <a:rPr lang="en-US" dirty="0" err="1"/>
              <a:t>запросы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пользователей</a:t>
            </a:r>
            <a:r>
              <a:rPr lang="en-US" dirty="0"/>
              <a:t>, а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обработку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умолчанию</a:t>
            </a:r>
            <a:r>
              <a:rPr lang="en-US" dirty="0"/>
              <a:t> у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своё</a:t>
            </a:r>
            <a:r>
              <a:rPr lang="en-US" dirty="0"/>
              <a:t> </a:t>
            </a:r>
            <a:r>
              <a:rPr lang="en-US" dirty="0" err="1"/>
              <a:t>виртуальное</a:t>
            </a:r>
            <a:r>
              <a:rPr lang="en-US" dirty="0"/>
              <a:t>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.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указатель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другого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и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им</a:t>
            </a:r>
            <a:r>
              <a:rPr lang="en-US" dirty="0"/>
              <a:t> </a:t>
            </a:r>
            <a:r>
              <a:rPr lang="en-US" dirty="0" err="1"/>
              <a:t>взаимодействовать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Операционные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предлагают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основных</a:t>
            </a:r>
            <a:r>
              <a:rPr lang="en-US" dirty="0"/>
              <a:t> </a:t>
            </a:r>
            <a:r>
              <a:rPr lang="en-US" dirty="0" err="1"/>
              <a:t>подхода</a:t>
            </a:r>
            <a:r>
              <a:rPr lang="en-US" dirty="0"/>
              <a:t>.</a:t>
            </a:r>
          </a:p>
          <a:p>
            <a:r>
              <a:rPr lang="en-US" dirty="0" err="1"/>
              <a:t>Первый</a:t>
            </a:r>
            <a:r>
              <a:rPr lang="en-US" dirty="0"/>
              <a:t> — </a:t>
            </a:r>
            <a:r>
              <a:rPr lang="en-US" dirty="0" err="1"/>
              <a:t>разделяемая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Shared Memory.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ОС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нескольким</a:t>
            </a:r>
            <a:r>
              <a:rPr lang="en-US" dirty="0"/>
              <a:t> </a:t>
            </a:r>
            <a:r>
              <a:rPr lang="en-US" dirty="0" err="1"/>
              <a:t>процессам</a:t>
            </a:r>
            <a:r>
              <a:rPr lang="en-US" dirty="0"/>
              <a:t> </a:t>
            </a:r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одни</a:t>
            </a:r>
            <a:r>
              <a:rPr lang="en-US" dirty="0"/>
              <a:t> и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физические</a:t>
            </a:r>
            <a:r>
              <a:rPr lang="en-US" dirty="0"/>
              <a:t> </a:t>
            </a:r>
            <a:r>
              <a:rPr lang="en-US" dirty="0" err="1"/>
              <a:t>страницы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в </a:t>
            </a:r>
            <a:r>
              <a:rPr lang="en-US" dirty="0" err="1"/>
              <a:t>собственные</a:t>
            </a:r>
            <a:r>
              <a:rPr lang="en-US" dirty="0"/>
              <a:t> </a:t>
            </a:r>
            <a:r>
              <a:rPr lang="en-US" dirty="0" err="1"/>
              <a:t>виртуальные</a:t>
            </a:r>
            <a:r>
              <a:rPr lang="en-US" dirty="0"/>
              <a:t> </a:t>
            </a:r>
            <a:r>
              <a:rPr lang="en-US" dirty="0" err="1"/>
              <a:t>адресные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этими</a:t>
            </a:r>
            <a:r>
              <a:rPr lang="en-US" dirty="0"/>
              <a:t> </a:t>
            </a:r>
            <a:r>
              <a:rPr lang="en-US" dirty="0" err="1"/>
              <a:t>данными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обычные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необходимость</a:t>
            </a:r>
            <a:r>
              <a:rPr lang="en-US" dirty="0"/>
              <a:t> </a:t>
            </a:r>
            <a:r>
              <a:rPr lang="en-US" dirty="0" err="1"/>
              <a:t>межпроцессной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— Message Passing, </a:t>
            </a:r>
            <a:r>
              <a:rPr lang="en-US" dirty="0" err="1"/>
              <a:t>обмен</a:t>
            </a:r>
            <a:r>
              <a:rPr lang="en-US" dirty="0"/>
              <a:t> </a:t>
            </a:r>
            <a:r>
              <a:rPr lang="en-US" dirty="0" err="1"/>
              <a:t>сообщениями</a:t>
            </a:r>
            <a:r>
              <a:rPr lang="en-US" dirty="0"/>
              <a:t>.</a:t>
            </a:r>
          </a:p>
          <a:p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непосредственного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к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структуре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отправляет</a:t>
            </a:r>
            <a:r>
              <a:rPr lang="en-US" dirty="0"/>
              <a:t> </a:t>
            </a:r>
            <a:r>
              <a:rPr lang="en-US" dirty="0" err="1"/>
              <a:t>сообщение</a:t>
            </a:r>
            <a:r>
              <a:rPr lang="en-US" dirty="0"/>
              <a:t>, а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передачу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и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очередями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каналами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соответствующий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некоторыми</a:t>
            </a:r>
            <a:r>
              <a:rPr lang="en-US" dirty="0"/>
              <a:t> </a:t>
            </a:r>
            <a:r>
              <a:rPr lang="en-US" dirty="0" err="1"/>
              <a:t>примерами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знакомы</a:t>
            </a:r>
            <a:r>
              <a:rPr lang="en-US" dirty="0"/>
              <a:t>. В </a:t>
            </a:r>
            <a:r>
              <a:rPr lang="en-US" dirty="0" err="1"/>
              <a:t>лекции</a:t>
            </a:r>
            <a:r>
              <a:rPr lang="en-US" dirty="0"/>
              <a:t> о </a:t>
            </a:r>
            <a:r>
              <a:rPr lang="en-US" dirty="0" err="1"/>
              <a:t>процессах</a:t>
            </a:r>
            <a:r>
              <a:rPr lang="en-US" dirty="0"/>
              <a:t> </a:t>
            </a:r>
            <a:r>
              <a:rPr lang="en-US" dirty="0" err="1"/>
              <a:t>рассматривали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pipe</a:t>
            </a:r>
            <a:r>
              <a:rPr lang="en-US" dirty="0"/>
              <a:t> и FIFO.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познакомимся</a:t>
            </a:r>
            <a:r>
              <a:rPr lang="en-US" dirty="0"/>
              <a:t> с </a:t>
            </a:r>
            <a:r>
              <a:rPr lang="en-US" dirty="0" err="1"/>
              <a:t>другими</a:t>
            </a:r>
            <a:r>
              <a:rPr lang="en-US" dirty="0"/>
              <a:t> </a:t>
            </a:r>
            <a:r>
              <a:rPr lang="en-US" dirty="0" err="1"/>
              <a:t>средствами</a:t>
            </a:r>
            <a:r>
              <a:rPr lang="en-US" dirty="0"/>
              <a:t> Linux и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в </a:t>
            </a:r>
            <a:r>
              <a:rPr lang="en-US" dirty="0" err="1"/>
              <a:t>каких</a:t>
            </a:r>
            <a:r>
              <a:rPr lang="en-US" dirty="0"/>
              <a:t> </a:t>
            </a:r>
            <a:r>
              <a:rPr lang="en-US" dirty="0" err="1"/>
              <a:t>ситуациях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а в </a:t>
            </a:r>
            <a:r>
              <a:rPr lang="en-US" dirty="0" err="1"/>
              <a:t>каких</a:t>
            </a:r>
            <a:r>
              <a:rPr lang="en-US" dirty="0"/>
              <a:t> — </a:t>
            </a:r>
            <a:r>
              <a:rPr lang="en-US" dirty="0" err="1"/>
              <a:t>обмен</a:t>
            </a:r>
            <a:r>
              <a:rPr lang="en-US" dirty="0"/>
              <a:t> </a:t>
            </a:r>
            <a:r>
              <a:rPr lang="en-US" dirty="0" err="1"/>
              <a:t>сообщениями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5028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Кратко расскажу о том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устроена</a:t>
            </a:r>
            <a:r>
              <a:rPr lang="en-US" dirty="0"/>
              <a:t> </a:t>
            </a:r>
            <a:r>
              <a:rPr lang="en-US" dirty="0" err="1"/>
              <a:t>виртуальная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виртуальными</a:t>
            </a:r>
            <a:r>
              <a:rPr lang="en-US" dirty="0"/>
              <a:t> </a:t>
            </a:r>
            <a:r>
              <a:rPr lang="en-US" dirty="0" err="1"/>
              <a:t>адресами</a:t>
            </a:r>
            <a:r>
              <a:rPr lang="en-US" dirty="0"/>
              <a:t>. </a:t>
            </a:r>
            <a:r>
              <a:rPr lang="en-US" dirty="0" err="1"/>
              <a:t>Процессор</a:t>
            </a:r>
            <a:r>
              <a:rPr lang="en-US" dirty="0"/>
              <a:t> и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таблиц</a:t>
            </a:r>
            <a:r>
              <a:rPr lang="en-US" dirty="0"/>
              <a:t> </a:t>
            </a:r>
            <a:r>
              <a:rPr lang="en-US" dirty="0" err="1"/>
              <a:t>страниц</a:t>
            </a:r>
            <a:r>
              <a:rPr lang="en-US" dirty="0"/>
              <a:t> </a:t>
            </a:r>
            <a:r>
              <a:rPr lang="en-US" dirty="0" err="1"/>
              <a:t>преобразуют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адреса</a:t>
            </a:r>
            <a:r>
              <a:rPr lang="en-US" dirty="0"/>
              <a:t> в </a:t>
            </a:r>
            <a:r>
              <a:rPr lang="en-US" dirty="0" err="1"/>
              <a:t>физические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виртуальные</a:t>
            </a:r>
            <a:r>
              <a:rPr lang="en-US" dirty="0"/>
              <a:t> </a:t>
            </a:r>
            <a:r>
              <a:rPr lang="en-US" dirty="0" err="1"/>
              <a:t>адресные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</a:t>
            </a:r>
            <a:r>
              <a:rPr lang="en-US" dirty="0" err="1"/>
              <a:t>изолированы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физические</a:t>
            </a:r>
            <a:r>
              <a:rPr lang="en-US" dirty="0"/>
              <a:t> </a:t>
            </a:r>
            <a:r>
              <a:rPr lang="en-US" dirty="0" err="1"/>
              <a:t>страницы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,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виртуальные</a:t>
            </a:r>
            <a:r>
              <a:rPr lang="en-US" dirty="0"/>
              <a:t> </a:t>
            </a:r>
            <a:r>
              <a:rPr lang="en-US" dirty="0" err="1"/>
              <a:t>адреса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</a:t>
            </a:r>
            <a:r>
              <a:rPr lang="en-US" dirty="0" err="1"/>
              <a:t>указывают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и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физическую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принципе</a:t>
            </a:r>
            <a:r>
              <a:rPr lang="en-US" dirty="0"/>
              <a:t> </a:t>
            </a:r>
            <a:r>
              <a:rPr lang="en-US" dirty="0" err="1"/>
              <a:t>основана</a:t>
            </a:r>
            <a:r>
              <a:rPr lang="en-US" dirty="0"/>
              <a:t> Shared Memory.</a:t>
            </a:r>
          </a:p>
          <a:p>
            <a:r>
              <a:rPr lang="en-US" dirty="0" err="1"/>
              <a:t>Представьте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A </a:t>
            </a:r>
            <a:r>
              <a:rPr lang="en-US" dirty="0" err="1"/>
              <a:t>отображает</a:t>
            </a:r>
            <a:r>
              <a:rPr lang="en-US" dirty="0"/>
              <a:t> </a:t>
            </a:r>
            <a:r>
              <a:rPr lang="en-US" dirty="0" err="1"/>
              <a:t>некоторый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виртуальному</a:t>
            </a:r>
            <a:r>
              <a:rPr lang="en-US" dirty="0"/>
              <a:t> </a:t>
            </a:r>
            <a:r>
              <a:rPr lang="en-US" dirty="0" err="1"/>
              <a:t>адресу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0x10000000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процесс</a:t>
            </a:r>
            <a:r>
              <a:rPr lang="en-US" dirty="0"/>
              <a:t> B </a:t>
            </a:r>
            <a:r>
              <a:rPr lang="en-US" dirty="0" err="1"/>
              <a:t>отображает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другому</a:t>
            </a:r>
            <a:r>
              <a:rPr lang="en-US" dirty="0"/>
              <a:t> </a:t>
            </a:r>
            <a:r>
              <a:rPr lang="en-US" dirty="0" err="1"/>
              <a:t>адресу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0x70000000</a:t>
            </a:r>
            <a:r>
              <a:rPr lang="en-US" dirty="0"/>
              <a:t>.</a:t>
            </a:r>
          </a:p>
          <a:p>
            <a:r>
              <a:rPr lang="en-US" dirty="0" err="1"/>
              <a:t>Хотя</a:t>
            </a:r>
            <a:r>
              <a:rPr lang="en-US" dirty="0"/>
              <a:t> </a:t>
            </a:r>
            <a:r>
              <a:rPr lang="en-US" dirty="0" err="1"/>
              <a:t>виртуальные</a:t>
            </a:r>
            <a:r>
              <a:rPr lang="en-US" dirty="0"/>
              <a:t> </a:t>
            </a:r>
            <a:r>
              <a:rPr lang="en-US" dirty="0" err="1"/>
              <a:t>адреса</a:t>
            </a:r>
            <a:r>
              <a:rPr lang="en-US" dirty="0"/>
              <a:t> </a:t>
            </a:r>
            <a:r>
              <a:rPr lang="en-US" dirty="0" err="1"/>
              <a:t>различаются</a:t>
            </a:r>
            <a:r>
              <a:rPr lang="en-US" dirty="0"/>
              <a:t>, </a:t>
            </a:r>
            <a:r>
              <a:rPr lang="en-US" dirty="0" err="1"/>
              <a:t>физические</a:t>
            </a:r>
            <a:r>
              <a:rPr lang="en-US" dirty="0"/>
              <a:t> </a:t>
            </a:r>
            <a:r>
              <a:rPr lang="en-US" dirty="0" err="1"/>
              <a:t>страницы</a:t>
            </a:r>
            <a:r>
              <a:rPr lang="en-US" dirty="0"/>
              <a:t>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общими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A </a:t>
            </a:r>
            <a:r>
              <a:rPr lang="en-US" dirty="0" err="1"/>
              <a:t>изменит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в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, </a:t>
            </a:r>
            <a:r>
              <a:rPr lang="en-US" dirty="0" err="1"/>
              <a:t>процесс</a:t>
            </a:r>
            <a:r>
              <a:rPr lang="en-US" dirty="0"/>
              <a:t> B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наблюдать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своё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Преимущество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передавать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системный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настройки</a:t>
            </a:r>
            <a:r>
              <a:rPr lang="en-US" dirty="0"/>
              <a:t>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обращаться</a:t>
            </a:r>
            <a:r>
              <a:rPr lang="en-US" dirty="0"/>
              <a:t> к </a:t>
            </a:r>
            <a:r>
              <a:rPr lang="en-US" dirty="0" err="1"/>
              <a:t>ней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обмене</a:t>
            </a:r>
            <a:r>
              <a:rPr lang="en-US" dirty="0"/>
              <a:t> </a:t>
            </a:r>
            <a:r>
              <a:rPr lang="en-US" dirty="0" err="1"/>
              <a:t>большими</a:t>
            </a:r>
            <a:r>
              <a:rPr lang="en-US" dirty="0"/>
              <a:t> </a:t>
            </a:r>
            <a:r>
              <a:rPr lang="en-US" dirty="0" err="1"/>
              <a:t>объёмами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Linux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</a:t>
            </a:r>
            <a:r>
              <a:rPr lang="en-US" dirty="0" err="1"/>
              <a:t>создаётся</a:t>
            </a:r>
            <a:r>
              <a:rPr lang="en-US" dirty="0"/>
              <a:t>, в </a:t>
            </a:r>
            <a:r>
              <a:rPr lang="en-US" dirty="0" err="1"/>
              <a:t>частности</a:t>
            </a:r>
            <a:r>
              <a:rPr lang="en-US" dirty="0"/>
              <a:t>,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mmap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и </a:t>
            </a:r>
            <a:r>
              <a:rPr lang="en-US" dirty="0" err="1"/>
              <a:t>флага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MAP_SHARED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принципиальный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Shared Memory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доступность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безопасность</a:t>
            </a:r>
            <a:r>
              <a:rPr lang="en-US" dirty="0"/>
              <a:t> </a:t>
            </a:r>
            <a:r>
              <a:rPr lang="en-US" dirty="0" err="1"/>
              <a:t>одновременных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выполнят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counter++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переменной</a:t>
            </a:r>
            <a:r>
              <a:rPr lang="en-US" dirty="0"/>
              <a:t>,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возникнуть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гонка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изучали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с </a:t>
            </a:r>
            <a:r>
              <a:rPr lang="en-US" dirty="0" err="1"/>
              <a:t>потоками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разделяемая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и </a:t>
            </a:r>
            <a:r>
              <a:rPr lang="en-US" dirty="0" err="1"/>
              <a:t>межпроцессная</a:t>
            </a:r>
            <a:r>
              <a:rPr lang="en-US" dirty="0"/>
              <a:t> </a:t>
            </a:r>
            <a:r>
              <a:rPr lang="en-US" dirty="0" err="1"/>
              <a:t>синхронизация</a:t>
            </a:r>
            <a:r>
              <a:rPr lang="en-US" dirty="0"/>
              <a:t> —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совместно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3423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разделяемую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в Linux.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воспользуемся</a:t>
            </a:r>
            <a:r>
              <a:rPr lang="en-US" dirty="0"/>
              <a:t> POSIX Shared Memory API.</a:t>
            </a:r>
          </a:p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процесса</a:t>
            </a:r>
            <a:r>
              <a:rPr lang="en-US" dirty="0"/>
              <a:t> A.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shm_open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и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-demo</a:t>
            </a:r>
            <a:r>
              <a:rPr lang="en-US" dirty="0"/>
              <a:t>.</a:t>
            </a:r>
          </a:p>
          <a:p>
            <a:r>
              <a:rPr lang="en-US" dirty="0" err="1"/>
              <a:t>Флаги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O_CREAT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O_EXCL</a:t>
            </a:r>
            <a:r>
              <a:rPr lang="en-US" dirty="0"/>
              <a:t> </a:t>
            </a:r>
            <a:r>
              <a:rPr lang="en-US" dirty="0" err="1"/>
              <a:t>означают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и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ошибку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с </a:t>
            </a:r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именем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O_RDWR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открывать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 и </a:t>
            </a:r>
            <a:r>
              <a:rPr lang="en-US" dirty="0" err="1"/>
              <a:t>записи</a:t>
            </a:r>
            <a:r>
              <a:rPr lang="en-US" dirty="0"/>
              <a:t>.</a:t>
            </a:r>
          </a:p>
          <a:p>
            <a:r>
              <a:rPr lang="en-US" dirty="0" err="1"/>
              <a:t>Последний</a:t>
            </a:r>
            <a:r>
              <a:rPr lang="en-US" dirty="0"/>
              <a:t> </a:t>
            </a:r>
            <a:r>
              <a:rPr lang="en-US" dirty="0" err="1"/>
              <a:t>аргумент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0600</a:t>
            </a:r>
            <a:r>
              <a:rPr lang="en-US" dirty="0"/>
              <a:t>, </a:t>
            </a:r>
            <a:r>
              <a:rPr lang="en-US" dirty="0" err="1"/>
              <a:t>задаёт</a:t>
            </a:r>
            <a:r>
              <a:rPr lang="en-US" dirty="0"/>
              <a:t> </a:t>
            </a:r>
            <a:r>
              <a:rPr lang="en-US" dirty="0" err="1"/>
              <a:t>разрешения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чтение</a:t>
            </a:r>
            <a:r>
              <a:rPr lang="en-US" dirty="0"/>
              <a:t> и </a:t>
            </a:r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владельцу</a:t>
            </a:r>
            <a:r>
              <a:rPr lang="en-US" dirty="0"/>
              <a:t>, с </a:t>
            </a:r>
            <a:r>
              <a:rPr lang="en-US" dirty="0" err="1"/>
              <a:t>учётом</a:t>
            </a:r>
            <a:r>
              <a:rPr lang="en-US" dirty="0"/>
              <a:t> </a:t>
            </a:r>
            <a:r>
              <a:rPr lang="en-US" dirty="0" err="1"/>
              <a:t>правил</a:t>
            </a:r>
            <a:r>
              <a:rPr lang="en-US" dirty="0"/>
              <a:t> </a:t>
            </a:r>
            <a:r>
              <a:rPr lang="en-US" dirty="0" err="1"/>
              <a:t>создания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и </a:t>
            </a:r>
            <a:r>
              <a:rPr lang="en-US" dirty="0" err="1"/>
              <a:t>маски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umask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успешного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получаем</a:t>
            </a:r>
            <a:r>
              <a:rPr lang="en-US" dirty="0"/>
              <a:t> </a:t>
            </a:r>
            <a:r>
              <a:rPr lang="en-US" dirty="0" err="1"/>
              <a:t>файловый</a:t>
            </a:r>
            <a:r>
              <a:rPr lang="en-US" dirty="0"/>
              <a:t> </a:t>
            </a:r>
            <a:r>
              <a:rPr lang="en-US" dirty="0" err="1"/>
              <a:t>дескриптор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нулевой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следующим</a:t>
            </a:r>
            <a:r>
              <a:rPr lang="en-US" dirty="0"/>
              <a:t> </a:t>
            </a:r>
            <a:r>
              <a:rPr lang="en-US" dirty="0" err="1"/>
              <a:t>шагом</a:t>
            </a:r>
            <a:r>
              <a:rPr lang="en-US" dirty="0"/>
              <a:t> </a:t>
            </a:r>
            <a:r>
              <a:rPr lang="en-US" dirty="0" err="1"/>
              <a:t>вызываем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ftruncate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и </a:t>
            </a:r>
            <a:r>
              <a:rPr lang="en-US" dirty="0" err="1"/>
              <a:t>задаём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 —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целого</a:t>
            </a:r>
            <a:r>
              <a:rPr lang="en-US" dirty="0"/>
              <a:t> </a:t>
            </a:r>
            <a:r>
              <a:rPr lang="en-US" dirty="0" err="1"/>
              <a:t>числа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вызываем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mmap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просим</a:t>
            </a:r>
            <a:r>
              <a:rPr lang="en-US" dirty="0"/>
              <a:t> </a:t>
            </a:r>
            <a:r>
              <a:rPr lang="en-US" dirty="0" err="1"/>
              <a:t>операционную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отобразить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в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с </a:t>
            </a:r>
            <a:r>
              <a:rPr lang="en-US" dirty="0" err="1"/>
              <a:t>возможностью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 и </a:t>
            </a:r>
            <a:r>
              <a:rPr lang="en-US" dirty="0" err="1"/>
              <a:t>записи</a:t>
            </a:r>
            <a:r>
              <a:rPr lang="en-US" dirty="0"/>
              <a:t>.</a:t>
            </a:r>
          </a:p>
          <a:p>
            <a:r>
              <a:rPr lang="en-US" dirty="0" err="1"/>
              <a:t>Ключевой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MAP_SHARED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процессам</a:t>
            </a:r>
            <a:r>
              <a:rPr lang="en-US" dirty="0"/>
              <a:t> </a:t>
            </a:r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и </a:t>
            </a:r>
            <a:r>
              <a:rPr lang="en-US" dirty="0" err="1"/>
              <a:t>видеть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содержимое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успешного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mmap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получаем</a:t>
            </a:r>
            <a:r>
              <a:rPr lang="en-US" dirty="0"/>
              <a:t> </a:t>
            </a:r>
            <a:r>
              <a:rPr lang="en-US" dirty="0" err="1"/>
              <a:t>адрес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адрес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записать</a:t>
            </a:r>
            <a:r>
              <a:rPr lang="en-US" dirty="0"/>
              <a:t> </a:t>
            </a:r>
            <a:r>
              <a:rPr lang="en-US" dirty="0" err="1"/>
              <a:t>число</a:t>
            </a:r>
            <a:r>
              <a:rPr lang="en-US" dirty="0"/>
              <a:t> 42.</a:t>
            </a:r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запустим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B.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shm_open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с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именем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-demo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флага</a:t>
            </a:r>
            <a:r>
              <a:rPr lang="en-US" dirty="0"/>
              <a:t> </a:t>
            </a:r>
            <a:r>
              <a:rPr lang="en-US" dirty="0" err="1"/>
              <a:t>создания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mmap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с </a:t>
            </a:r>
            <a:r>
              <a:rPr lang="en-US" dirty="0" err="1"/>
              <a:t>доступом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чтение</a:t>
            </a:r>
            <a:r>
              <a:rPr lang="en-US" dirty="0"/>
              <a:t> и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B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прочитать</a:t>
            </a:r>
            <a:r>
              <a:rPr lang="en-US" dirty="0"/>
              <a:t> </a:t>
            </a:r>
            <a:r>
              <a:rPr lang="en-US" dirty="0" err="1"/>
              <a:t>записанное</a:t>
            </a:r>
            <a:r>
              <a:rPr lang="en-US" dirty="0"/>
              <a:t> </a:t>
            </a:r>
            <a:r>
              <a:rPr lang="en-US" dirty="0" err="1"/>
              <a:t>процессом</a:t>
            </a:r>
            <a:r>
              <a:rPr lang="en-US" dirty="0"/>
              <a:t> A </a:t>
            </a:r>
            <a:r>
              <a:rPr lang="en-US" dirty="0" err="1"/>
              <a:t>значение</a:t>
            </a:r>
            <a:r>
              <a:rPr lang="en-US" dirty="0"/>
              <a:t>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процессам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виртуальные</a:t>
            </a:r>
            <a:r>
              <a:rPr lang="en-US" dirty="0"/>
              <a:t> </a:t>
            </a:r>
            <a:r>
              <a:rPr lang="en-US" dirty="0" err="1"/>
              <a:t>адреса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друга</a:t>
            </a:r>
            <a:r>
              <a:rPr lang="en-US" dirty="0"/>
              <a:t>.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адрес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Также</a:t>
            </a:r>
            <a:r>
              <a:rPr lang="en-US" dirty="0"/>
              <a:t> в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: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предполагаем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B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чтение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, </a:t>
            </a:r>
            <a:r>
              <a:rPr lang="en-US" dirty="0" err="1"/>
              <a:t>понадобится</a:t>
            </a:r>
            <a:r>
              <a:rPr lang="en-US" dirty="0"/>
              <a:t> </a:t>
            </a:r>
            <a:r>
              <a:rPr lang="en-US" dirty="0" err="1"/>
              <a:t>дополнительный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практические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успешного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mmap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файловый</a:t>
            </a:r>
            <a:r>
              <a:rPr lang="en-US" dirty="0"/>
              <a:t> </a:t>
            </a:r>
            <a:r>
              <a:rPr lang="en-US" dirty="0" err="1"/>
              <a:t>дескриптор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закрыть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уничтожая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. А в </a:t>
            </a:r>
            <a:r>
              <a:rPr lang="en-US" dirty="0" err="1"/>
              <a:t>настоящей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результаты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shm_open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ftruncate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mmap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— </a:t>
            </a:r>
            <a:r>
              <a:rPr lang="en-US" dirty="0" err="1"/>
              <a:t>системные</a:t>
            </a:r>
            <a:r>
              <a:rPr lang="en-US" dirty="0"/>
              <a:t> </a:t>
            </a:r>
            <a:r>
              <a:rPr lang="en-US" dirty="0" err="1"/>
              <a:t>вызовы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завершиться</a:t>
            </a:r>
            <a:r>
              <a:rPr lang="en-US" dirty="0"/>
              <a:t> </a:t>
            </a:r>
            <a:r>
              <a:rPr lang="en-US" dirty="0" err="1"/>
              <a:t>ошибк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3826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научились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долго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и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уничтожается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различать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сущности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Первая</a:t>
            </a:r>
            <a:r>
              <a:rPr lang="en-US" dirty="0"/>
              <a:t> —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разделяемой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r>
              <a:rPr lang="en-US" dirty="0" err="1"/>
              <a:t>Вторая</a:t>
            </a:r>
            <a:r>
              <a:rPr lang="en-US" dirty="0"/>
              <a:t> — </a:t>
            </a:r>
            <a:r>
              <a:rPr lang="en-US" dirty="0" err="1"/>
              <a:t>файловые</a:t>
            </a:r>
            <a:r>
              <a:rPr lang="en-US" dirty="0"/>
              <a:t> </a:t>
            </a:r>
            <a:r>
              <a:rPr lang="en-US" dirty="0" err="1"/>
              <a:t>дескрипторы</a:t>
            </a:r>
            <a:r>
              <a:rPr lang="en-US" dirty="0"/>
              <a:t>,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открывают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.</a:t>
            </a:r>
          </a:p>
          <a:p>
            <a:r>
              <a:rPr lang="en-US" dirty="0" err="1"/>
              <a:t>Третья</a:t>
            </a:r>
            <a:r>
              <a:rPr lang="en-US" dirty="0"/>
              <a:t> — </a:t>
            </a:r>
            <a:r>
              <a:rPr lang="en-US" dirty="0" err="1"/>
              <a:t>отображения</a:t>
            </a:r>
            <a:r>
              <a:rPr lang="en-US" dirty="0"/>
              <a:t>, </a:t>
            </a:r>
            <a:r>
              <a:rPr lang="en-US" dirty="0" err="1"/>
              <a:t>созданные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mmap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shm_open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дескриптор</a:t>
            </a:r>
            <a:r>
              <a:rPr lang="en-US" dirty="0"/>
              <a:t> </a:t>
            </a:r>
            <a:r>
              <a:rPr lang="en-US" dirty="0" err="1"/>
              <a:t>существующего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mmap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у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в </a:t>
            </a:r>
            <a:r>
              <a:rPr lang="en-US" dirty="0" err="1"/>
              <a:t>виртуальном</a:t>
            </a:r>
            <a:r>
              <a:rPr lang="en-US" dirty="0"/>
              <a:t> </a:t>
            </a:r>
            <a:r>
              <a:rPr lang="en-US" dirty="0" err="1"/>
              <a:t>адресном</a:t>
            </a:r>
            <a:r>
              <a:rPr lang="en-US" dirty="0"/>
              <a:t> </a:t>
            </a:r>
            <a:r>
              <a:rPr lang="en-US" dirty="0" err="1"/>
              <a:t>пространстве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закрыть</a:t>
            </a:r>
            <a:r>
              <a:rPr lang="en-US" dirty="0"/>
              <a:t> </a:t>
            </a:r>
            <a:r>
              <a:rPr lang="en-US" dirty="0" err="1"/>
              <a:t>файловый</a:t>
            </a:r>
            <a:r>
              <a:rPr lang="en-US" dirty="0"/>
              <a:t> </a:t>
            </a:r>
            <a:r>
              <a:rPr lang="en-US" dirty="0" err="1"/>
              <a:t>дескриптор</a:t>
            </a:r>
            <a:r>
              <a:rPr lang="en-US" dirty="0"/>
              <a:t>.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исчезнет</a:t>
            </a:r>
            <a:r>
              <a:rPr lang="en-US" dirty="0"/>
              <a:t>.</a:t>
            </a:r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удалить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,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вызвать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munmap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завершить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уничтожит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Shared Memory,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продолжать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удаления</a:t>
            </a:r>
            <a:r>
              <a:rPr lang="en-US" dirty="0"/>
              <a:t> </a:t>
            </a:r>
            <a:r>
              <a:rPr lang="en-US" dirty="0" err="1"/>
              <a:t>имени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</a:t>
            </a:r>
            <a:r>
              <a:rPr lang="en-US" dirty="0" err="1"/>
              <a:t>предназначена</a:t>
            </a:r>
            <a:r>
              <a:rPr lang="en-US" dirty="0"/>
              <a:t>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shm_unlink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смогут</a:t>
            </a:r>
            <a:r>
              <a:rPr lang="en-US" dirty="0"/>
              <a:t> </a:t>
            </a:r>
            <a:r>
              <a:rPr lang="en-US" dirty="0" err="1"/>
              <a:t>открыть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старому</a:t>
            </a:r>
            <a:r>
              <a:rPr lang="en-US" dirty="0"/>
              <a:t> </a:t>
            </a:r>
            <a:r>
              <a:rPr lang="en-US" dirty="0" err="1"/>
              <a:t>имени</a:t>
            </a:r>
            <a:r>
              <a:rPr lang="en-US" dirty="0"/>
              <a:t>. </a:t>
            </a:r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, у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открытые</a:t>
            </a:r>
            <a:r>
              <a:rPr lang="en-US" dirty="0"/>
              <a:t> </a:t>
            </a:r>
            <a:r>
              <a:rPr lang="en-US" dirty="0" err="1"/>
              <a:t>дескрипторы</a:t>
            </a:r>
            <a:r>
              <a:rPr lang="en-US" dirty="0"/>
              <a:t>, </a:t>
            </a:r>
            <a:r>
              <a:rPr lang="en-US" dirty="0" err="1"/>
              <a:t>смогут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</a:p>
          <a:p>
            <a:r>
              <a:rPr lang="en-US" dirty="0" err="1"/>
              <a:t>Фактическое</a:t>
            </a:r>
            <a:r>
              <a:rPr lang="en-US" dirty="0"/>
              <a:t> </a:t>
            </a:r>
            <a:r>
              <a:rPr lang="en-US" dirty="0" err="1"/>
              <a:t>освобождение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исчезновения</a:t>
            </a:r>
            <a:r>
              <a:rPr lang="en-US" dirty="0"/>
              <a:t> </a:t>
            </a:r>
            <a:r>
              <a:rPr lang="en-US" dirty="0" err="1"/>
              <a:t>последних</a:t>
            </a:r>
            <a:r>
              <a:rPr lang="en-US" dirty="0"/>
              <a:t> </a:t>
            </a:r>
            <a:r>
              <a:rPr lang="en-US" dirty="0" err="1"/>
              <a:t>ссылок</a:t>
            </a:r>
            <a:r>
              <a:rPr lang="en-US" dirty="0"/>
              <a:t> и </a:t>
            </a:r>
            <a:r>
              <a:rPr lang="en-US" dirty="0" err="1"/>
              <a:t>отображений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похоже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dirty="0" err="1"/>
              <a:t>файлов</a:t>
            </a:r>
            <a:r>
              <a:rPr lang="en-US" dirty="0"/>
              <a:t> в Linux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вызове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unlink()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особенность</a:t>
            </a:r>
            <a:r>
              <a:rPr lang="en-US" dirty="0"/>
              <a:t> </a:t>
            </a:r>
            <a:r>
              <a:rPr lang="en-US" dirty="0" err="1"/>
              <a:t>связана</a:t>
            </a:r>
            <a:r>
              <a:rPr lang="en-US" dirty="0"/>
              <a:t> с </a:t>
            </a:r>
            <a:r>
              <a:rPr lang="en-US" dirty="0" err="1"/>
              <a:t>указателями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процесс</a:t>
            </a:r>
            <a:r>
              <a:rPr lang="en-US" dirty="0"/>
              <a:t> A </a:t>
            </a:r>
            <a:r>
              <a:rPr lang="en-US" dirty="0" err="1"/>
              <a:t>разместил</a:t>
            </a:r>
            <a:r>
              <a:rPr lang="en-US" dirty="0"/>
              <a:t> в Shared Memory </a:t>
            </a:r>
            <a:r>
              <a:rPr lang="en-US" dirty="0" err="1"/>
              <a:t>структуру</a:t>
            </a:r>
            <a:r>
              <a:rPr lang="en-US" dirty="0"/>
              <a:t>,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поле-указатель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записал</a:t>
            </a:r>
            <a:r>
              <a:rPr lang="en-US" dirty="0"/>
              <a:t> в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поле</a:t>
            </a:r>
            <a:r>
              <a:rPr lang="en-US" dirty="0"/>
              <a:t> </a:t>
            </a:r>
            <a:r>
              <a:rPr lang="en-US" dirty="0" err="1"/>
              <a:t>адрес</a:t>
            </a:r>
            <a:r>
              <a:rPr lang="en-US" dirty="0"/>
              <a:t> </a:t>
            </a:r>
            <a:r>
              <a:rPr lang="en-US" dirty="0" err="1"/>
              <a:t>другого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B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другому</a:t>
            </a:r>
            <a:r>
              <a:rPr lang="en-US" dirty="0"/>
              <a:t> </a:t>
            </a:r>
            <a:r>
              <a:rPr lang="en-US" dirty="0" err="1"/>
              <a:t>виртуальному</a:t>
            </a:r>
            <a:r>
              <a:rPr lang="en-US" dirty="0"/>
              <a:t> </a:t>
            </a:r>
            <a:r>
              <a:rPr lang="en-US" dirty="0" err="1"/>
              <a:t>адресу</a:t>
            </a:r>
            <a:r>
              <a:rPr lang="en-US" dirty="0"/>
              <a:t>, </a:t>
            </a:r>
            <a:r>
              <a:rPr lang="en-US" dirty="0" err="1"/>
              <a:t>сохранённый</a:t>
            </a:r>
            <a:r>
              <a:rPr lang="en-US" dirty="0"/>
              <a:t> </a:t>
            </a:r>
            <a:r>
              <a:rPr lang="en-US" dirty="0" err="1"/>
              <a:t>указатель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 в </a:t>
            </a:r>
            <a:r>
              <a:rPr lang="en-US" dirty="0" err="1"/>
              <a:t>адресном</a:t>
            </a:r>
            <a:r>
              <a:rPr lang="en-US" dirty="0"/>
              <a:t> </a:t>
            </a:r>
            <a:r>
              <a:rPr lang="en-US" dirty="0" err="1"/>
              <a:t>пространстве</a:t>
            </a:r>
            <a:r>
              <a:rPr lang="en-US" dirty="0"/>
              <a:t> B.</a:t>
            </a:r>
          </a:p>
          <a:p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структурах</a:t>
            </a:r>
            <a:r>
              <a:rPr lang="en-US" dirty="0"/>
              <a:t> Shared Memory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относительные</a:t>
            </a:r>
            <a:r>
              <a:rPr lang="en-US" dirty="0"/>
              <a:t> </a:t>
            </a:r>
            <a:r>
              <a:rPr lang="en-US" dirty="0" err="1"/>
              <a:t>смещения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начала</a:t>
            </a:r>
            <a:r>
              <a:rPr lang="en-US" dirty="0"/>
              <a:t>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dirty="0" err="1"/>
              <a:t>указателей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Наконец</a:t>
            </a:r>
            <a:r>
              <a:rPr lang="en-US" dirty="0"/>
              <a:t>, в Linux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memfd_create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анонимный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представленный</a:t>
            </a:r>
            <a:r>
              <a:rPr lang="en-US" dirty="0"/>
              <a:t> </a:t>
            </a:r>
            <a:r>
              <a:rPr lang="en-US" dirty="0" err="1"/>
              <a:t>файловым</a:t>
            </a:r>
            <a:r>
              <a:rPr lang="en-US" dirty="0"/>
              <a:t> </a:t>
            </a:r>
            <a:r>
              <a:rPr lang="en-US" dirty="0" err="1"/>
              <a:t>дескриптором</a:t>
            </a:r>
            <a:r>
              <a:rPr lang="en-US" dirty="0"/>
              <a:t>.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дескриптор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dirty="0" err="1"/>
              <a:t>другому</a:t>
            </a:r>
            <a:r>
              <a:rPr lang="en-US" dirty="0"/>
              <a:t> </a:t>
            </a:r>
            <a:r>
              <a:rPr lang="en-US" dirty="0" err="1"/>
              <a:t>процессу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Unix Domain Socket,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отобразить</a:t>
            </a:r>
            <a:r>
              <a:rPr lang="en-US" dirty="0"/>
              <a:t>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современная</a:t>
            </a:r>
            <a:r>
              <a:rPr lang="en-US" dirty="0"/>
              <a:t> </a:t>
            </a:r>
            <a:r>
              <a:rPr lang="en-US" dirty="0" err="1"/>
              <a:t>комбинация</a:t>
            </a:r>
            <a:r>
              <a:rPr lang="en-US" dirty="0"/>
              <a:t> IPC-</a:t>
            </a:r>
            <a:r>
              <a:rPr lang="en-US" dirty="0" err="1"/>
              <a:t>механизмов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подробно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разбирать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92003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проблеме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создали</a:t>
            </a:r>
            <a:r>
              <a:rPr lang="en-US" dirty="0"/>
              <a:t> Shared Memory, в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выполняют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counter++</a:t>
            </a:r>
            <a:r>
              <a:rPr lang="en-US" dirty="0"/>
              <a:t>.</a:t>
            </a:r>
          </a:p>
          <a:p>
            <a:r>
              <a:rPr lang="en-US" dirty="0" err="1"/>
              <a:t>Вспомним</a:t>
            </a:r>
            <a:r>
              <a:rPr lang="en-US" dirty="0"/>
              <a:t> </a:t>
            </a:r>
            <a:r>
              <a:rPr lang="en-US" dirty="0" err="1"/>
              <a:t>предыдущие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: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обязана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атомарная</a:t>
            </a:r>
            <a:r>
              <a:rPr lang="en-US" dirty="0"/>
              <a:t> </a:t>
            </a:r>
            <a:r>
              <a:rPr lang="en-US" dirty="0" err="1"/>
              <a:t>инструкция</a:t>
            </a:r>
            <a:r>
              <a:rPr lang="en-US" dirty="0"/>
              <a:t>.</a:t>
            </a:r>
          </a:p>
          <a:p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прочитать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и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старое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, </a:t>
            </a:r>
            <a:r>
              <a:rPr lang="en-US" dirty="0" err="1"/>
              <a:t>увеличить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и </a:t>
            </a:r>
            <a:r>
              <a:rPr lang="en-US" dirty="0" err="1"/>
              <a:t>записать</a:t>
            </a:r>
            <a:r>
              <a:rPr lang="en-US" dirty="0"/>
              <a:t> </a:t>
            </a:r>
            <a:r>
              <a:rPr lang="en-US" dirty="0" err="1"/>
              <a:t>одинаковый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.</a:t>
            </a:r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потеряется</a:t>
            </a:r>
            <a:r>
              <a:rPr lang="en-US" dirty="0"/>
              <a:t>.</a:t>
            </a:r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исправить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знакомы</a:t>
            </a:r>
            <a:r>
              <a:rPr lang="en-US" dirty="0"/>
              <a:t> с </a:t>
            </a:r>
            <a:r>
              <a:rPr lang="en-US" dirty="0" err="1"/>
              <a:t>мьютексами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, а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независимыми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POSIX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специальный</a:t>
            </a:r>
            <a:r>
              <a:rPr lang="en-US" dirty="0"/>
              <a:t> </a:t>
            </a:r>
            <a:r>
              <a:rPr lang="en-US" dirty="0" err="1"/>
              <a:t>атрибут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PTHREAD_PROCESS_SHARED</a:t>
            </a:r>
            <a:r>
              <a:rPr lang="en-US" dirty="0"/>
              <a:t>.</a:t>
            </a:r>
          </a:p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SharedData</a:t>
            </a:r>
            <a:r>
              <a:rPr lang="en-US" dirty="0"/>
              <a:t>.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и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 в </a:t>
            </a:r>
            <a:r>
              <a:rPr lang="en-US" dirty="0" err="1"/>
              <a:t>разделяемой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r>
              <a:rPr lang="en-US" dirty="0" err="1"/>
              <a:t>Недостаточно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одному</a:t>
            </a:r>
            <a:r>
              <a:rPr lang="en-US" dirty="0"/>
              <a:t> </a:t>
            </a:r>
            <a:r>
              <a:rPr lang="en-US" dirty="0" err="1"/>
              <a:t>мьютексу</a:t>
            </a:r>
            <a:r>
              <a:rPr lang="en-US" dirty="0"/>
              <a:t> в </a:t>
            </a:r>
            <a:r>
              <a:rPr lang="en-US" dirty="0" err="1"/>
              <a:t>каждом</a:t>
            </a:r>
            <a:r>
              <a:rPr lang="en-US" dirty="0"/>
              <a:t> </a:t>
            </a:r>
            <a:r>
              <a:rPr lang="en-US" dirty="0" err="1"/>
              <a:t>процессе</a:t>
            </a:r>
            <a:r>
              <a:rPr lang="en-US" dirty="0"/>
              <a:t> с </a:t>
            </a:r>
            <a:r>
              <a:rPr lang="en-US" dirty="0" err="1"/>
              <a:t>одинаковым</a:t>
            </a:r>
            <a:r>
              <a:rPr lang="en-US" dirty="0"/>
              <a:t> </a:t>
            </a:r>
            <a:r>
              <a:rPr lang="en-US" dirty="0" err="1"/>
              <a:t>именем</a:t>
            </a:r>
            <a:r>
              <a:rPr lang="en-US" dirty="0"/>
              <a:t> </a:t>
            </a:r>
            <a:r>
              <a:rPr lang="en-US" dirty="0" err="1"/>
              <a:t>переменной</a:t>
            </a:r>
            <a:r>
              <a:rPr lang="en-US" dirty="0"/>
              <a:t>. Это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независимых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смогут</a:t>
            </a:r>
            <a:r>
              <a:rPr lang="en-US" dirty="0"/>
              <a:t> </a:t>
            </a:r>
            <a:r>
              <a:rPr lang="en-US" dirty="0" err="1"/>
              <a:t>синхронизировать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одному</a:t>
            </a:r>
            <a:r>
              <a:rPr lang="en-US" dirty="0"/>
              <a:t> </a:t>
            </a:r>
            <a:r>
              <a:rPr lang="en-US" dirty="0" err="1"/>
              <a:t>ресурсу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размещаем</a:t>
            </a:r>
            <a:r>
              <a:rPr lang="en-US" dirty="0"/>
              <a:t> </a:t>
            </a:r>
            <a:r>
              <a:rPr lang="en-US" dirty="0" err="1"/>
              <a:t>всю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в Shared Memory.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инициализации</a:t>
            </a:r>
            <a:r>
              <a:rPr lang="en-US" dirty="0"/>
              <a:t> </a:t>
            </a:r>
            <a:r>
              <a:rPr lang="en-US" dirty="0" err="1"/>
              <a:t>мьютекса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атрибутов</a:t>
            </a:r>
            <a:r>
              <a:rPr lang="en-US" dirty="0"/>
              <a:t> и </a:t>
            </a:r>
            <a:r>
              <a:rPr lang="en-US" dirty="0" err="1"/>
              <a:t>устанавливаем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PTHREAD_PROCESS_SHARED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вызываем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pthread_mutex_init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 err="1"/>
              <a:t>Инициализацию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участник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начнут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.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, </a:t>
            </a:r>
            <a:r>
              <a:rPr lang="en-US" dirty="0" err="1"/>
              <a:t>создающий</a:t>
            </a:r>
            <a:r>
              <a:rPr lang="en-US" dirty="0"/>
              <a:t> </a:t>
            </a:r>
            <a:r>
              <a:rPr lang="en-US" dirty="0" err="1"/>
              <a:t>разделяемую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обращаться</a:t>
            </a:r>
            <a:r>
              <a:rPr lang="en-US" dirty="0"/>
              <a:t> к </a:t>
            </a:r>
            <a:r>
              <a:rPr lang="en-US" dirty="0" err="1"/>
              <a:t>мьютексу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свои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.</a:t>
            </a:r>
          </a:p>
          <a:p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изменением</a:t>
            </a:r>
            <a:r>
              <a:rPr lang="en-US" dirty="0"/>
              <a:t> </a:t>
            </a:r>
            <a:r>
              <a:rPr lang="en-US" dirty="0" err="1"/>
              <a:t>счётчика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pthread_mutex_lock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а </a:t>
            </a:r>
            <a:r>
              <a:rPr lang="en-US" dirty="0" err="1"/>
              <a:t>после</a:t>
            </a:r>
            <a:r>
              <a:rPr lang="en-US" dirty="0"/>
              <a:t>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pthread_mutex_unlock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смогут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войти</a:t>
            </a:r>
            <a:r>
              <a:rPr lang="en-US" dirty="0"/>
              <a:t> в </a:t>
            </a:r>
            <a:r>
              <a:rPr lang="en-US" dirty="0" err="1"/>
              <a:t>защищённую</a:t>
            </a:r>
            <a:r>
              <a:rPr lang="en-US" dirty="0"/>
              <a:t>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интересный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: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мьютексом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виртуальные</a:t>
            </a:r>
            <a:r>
              <a:rPr lang="en-US" dirty="0"/>
              <a:t> </a:t>
            </a:r>
            <a:r>
              <a:rPr lang="en-US" dirty="0" err="1"/>
              <a:t>адреса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соответствующие</a:t>
            </a:r>
            <a:r>
              <a:rPr lang="en-US" dirty="0"/>
              <a:t> </a:t>
            </a:r>
            <a:r>
              <a:rPr lang="en-US" dirty="0" err="1"/>
              <a:t>адреса</a:t>
            </a:r>
            <a:r>
              <a:rPr lang="en-US" dirty="0"/>
              <a:t> </a:t>
            </a:r>
            <a:r>
              <a:rPr lang="en-US" dirty="0" err="1"/>
              <a:t>отображаются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физическую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общим</a:t>
            </a:r>
            <a:r>
              <a:rPr lang="en-US" dirty="0"/>
              <a:t> </a:t>
            </a:r>
            <a:r>
              <a:rPr lang="en-US" dirty="0" err="1"/>
              <a:t>объектом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замечание</a:t>
            </a:r>
            <a:r>
              <a:rPr lang="en-US" dirty="0"/>
              <a:t>.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умолчанию</a:t>
            </a:r>
            <a:r>
              <a:rPr lang="en-US" dirty="0"/>
              <a:t> POSIX-</a:t>
            </a:r>
            <a:r>
              <a:rPr lang="en-US" dirty="0" err="1"/>
              <a:t>мьютексы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режим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PTHREAD_PROCESS_PRIVATE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простого</a:t>
            </a:r>
            <a:r>
              <a:rPr lang="en-US" dirty="0"/>
              <a:t> </a:t>
            </a:r>
            <a:r>
              <a:rPr lang="en-US" dirty="0" err="1"/>
              <a:t>размещения</a:t>
            </a:r>
            <a:r>
              <a:rPr lang="en-US" dirty="0"/>
              <a:t> </a:t>
            </a:r>
            <a:r>
              <a:rPr lang="en-US" dirty="0" err="1"/>
              <a:t>мьютекса</a:t>
            </a:r>
            <a:r>
              <a:rPr lang="en-US" dirty="0"/>
              <a:t> в Shared Memory </a:t>
            </a:r>
            <a:r>
              <a:rPr lang="en-US" dirty="0" err="1"/>
              <a:t>недостаточно</a:t>
            </a:r>
            <a:r>
              <a:rPr lang="en-US" dirty="0"/>
              <a:t> —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явно</a:t>
            </a:r>
            <a:r>
              <a:rPr lang="en-US" dirty="0"/>
              <a:t> </a:t>
            </a:r>
            <a:r>
              <a:rPr lang="en-US" dirty="0" err="1"/>
              <a:t>задать</a:t>
            </a:r>
            <a:r>
              <a:rPr lang="en-US" dirty="0"/>
              <a:t> </a:t>
            </a:r>
            <a:r>
              <a:rPr lang="en-US" dirty="0" err="1"/>
              <a:t>нужный</a:t>
            </a:r>
            <a:r>
              <a:rPr lang="en-US" dirty="0"/>
              <a:t> </a:t>
            </a:r>
            <a:r>
              <a:rPr lang="en-US" dirty="0" err="1"/>
              <a:t>атрибут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8492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научились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мьютексы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взаимного</a:t>
            </a:r>
            <a:r>
              <a:rPr lang="en-US" dirty="0"/>
              <a:t> </a:t>
            </a:r>
            <a:r>
              <a:rPr lang="en-US" dirty="0" err="1"/>
              <a:t>исключения</a:t>
            </a:r>
            <a:r>
              <a:rPr lang="en-US" dirty="0"/>
              <a:t>. А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процессу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дождаться</a:t>
            </a:r>
            <a:r>
              <a:rPr lang="en-US" dirty="0"/>
              <a:t> </a:t>
            </a:r>
            <a:r>
              <a:rPr lang="en-US" dirty="0" err="1"/>
              <a:t>определённого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готовит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а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приступить</a:t>
            </a:r>
            <a:r>
              <a:rPr lang="en-US" dirty="0"/>
              <a:t> к </a:t>
            </a:r>
            <a:r>
              <a:rPr lang="en-US" dirty="0" err="1"/>
              <a:t>обработке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готовы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семафоры</a:t>
            </a:r>
            <a:r>
              <a:rPr lang="en-US" dirty="0"/>
              <a:t>.</a:t>
            </a:r>
          </a:p>
          <a:p>
            <a:r>
              <a:rPr lang="en-US" dirty="0" err="1"/>
              <a:t>Семафоры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знакомы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 Producer–Consumer.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применять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независимыми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POSIX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варианта</a:t>
            </a:r>
            <a:r>
              <a:rPr lang="en-US" dirty="0"/>
              <a:t> </a:t>
            </a:r>
            <a:r>
              <a:rPr lang="en-US" dirty="0" err="1"/>
              <a:t>семафоров</a:t>
            </a:r>
            <a:r>
              <a:rPr lang="en-US" dirty="0"/>
              <a:t>.</a:t>
            </a:r>
          </a:p>
          <a:p>
            <a:r>
              <a:rPr lang="en-US" dirty="0" err="1"/>
              <a:t>Первый</a:t>
            </a:r>
            <a:r>
              <a:rPr lang="en-US" dirty="0"/>
              <a:t> — </a:t>
            </a:r>
            <a:r>
              <a:rPr lang="en-US" dirty="0" err="1"/>
              <a:t>именованные</a:t>
            </a:r>
            <a:r>
              <a:rPr lang="en-US" dirty="0"/>
              <a:t> </a:t>
            </a:r>
            <a:r>
              <a:rPr lang="en-US" dirty="0" err="1"/>
              <a:t>семафоры</a:t>
            </a:r>
            <a:r>
              <a:rPr lang="en-US" dirty="0"/>
              <a:t>.</a:t>
            </a:r>
          </a:p>
          <a:p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sem_open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и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семафору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имени</a:t>
            </a:r>
            <a:r>
              <a:rPr lang="en-US" dirty="0"/>
              <a:t>.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независимый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открыть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используя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— </a:t>
            </a:r>
            <a:r>
              <a:rPr lang="en-US" dirty="0" err="1"/>
              <a:t>неименованные</a:t>
            </a:r>
            <a:r>
              <a:rPr lang="en-US" dirty="0"/>
              <a:t> </a:t>
            </a:r>
            <a:r>
              <a:rPr lang="en-US" dirty="0" err="1"/>
              <a:t>семафоры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семафор</a:t>
            </a:r>
            <a:r>
              <a:rPr lang="en-US" dirty="0"/>
              <a:t> </a:t>
            </a:r>
            <a:r>
              <a:rPr lang="en-US" dirty="0" err="1"/>
              <a:t>размещается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в </a:t>
            </a:r>
            <a:r>
              <a:rPr lang="en-US" dirty="0" err="1"/>
              <a:t>разделяемой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инициализации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sem_init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аргумент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pshared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равен</a:t>
            </a:r>
            <a:r>
              <a:rPr lang="en-US" dirty="0"/>
              <a:t> </a:t>
            </a:r>
            <a:r>
              <a:rPr lang="en-US" dirty="0" err="1"/>
              <a:t>нулю</a:t>
            </a:r>
            <a:r>
              <a:rPr lang="en-US" dirty="0"/>
              <a:t>, </a:t>
            </a:r>
            <a:r>
              <a:rPr lang="en-US" dirty="0" err="1"/>
              <a:t>семафор</a:t>
            </a:r>
            <a:r>
              <a:rPr lang="en-US" dirty="0"/>
              <a:t> </a:t>
            </a:r>
            <a:r>
              <a:rPr lang="en-US" dirty="0" err="1"/>
              <a:t>предназначен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ненулевой</a:t>
            </a:r>
            <a:r>
              <a:rPr lang="en-US" dirty="0"/>
              <a:t>, </a:t>
            </a:r>
            <a:r>
              <a:rPr lang="en-US" dirty="0" err="1"/>
              <a:t>семафор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использоваться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условии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sem_t</a:t>
            </a:r>
            <a:r>
              <a:rPr lang="en-US" dirty="0"/>
              <a:t> </a:t>
            </a:r>
            <a:r>
              <a:rPr lang="en-US" dirty="0" err="1"/>
              <a:t>размещён</a:t>
            </a:r>
            <a:r>
              <a:rPr lang="en-US" dirty="0"/>
              <a:t> в Shared Memory.</a:t>
            </a:r>
          </a:p>
          <a:p>
            <a:endParaRPr lang="en-US" dirty="0"/>
          </a:p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SharedData</a:t>
            </a:r>
            <a:r>
              <a:rPr lang="en-US" dirty="0"/>
              <a:t>, </a:t>
            </a:r>
            <a:r>
              <a:rPr lang="en-US" dirty="0" err="1"/>
              <a:t>содержащую</a:t>
            </a:r>
            <a:r>
              <a:rPr lang="en-US" dirty="0"/>
              <a:t> </a:t>
            </a:r>
            <a:r>
              <a:rPr lang="en-US" dirty="0" err="1"/>
              <a:t>целое</a:t>
            </a:r>
            <a:r>
              <a:rPr lang="en-US" dirty="0"/>
              <a:t> </a:t>
            </a:r>
            <a:r>
              <a:rPr lang="en-US" dirty="0" err="1"/>
              <a:t>число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en-US" dirty="0"/>
              <a:t> и </a:t>
            </a:r>
            <a:r>
              <a:rPr lang="en-US" dirty="0" err="1"/>
              <a:t>семафор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en-US" dirty="0"/>
              <a:t>.</a:t>
            </a:r>
          </a:p>
          <a:p>
            <a:r>
              <a:rPr lang="en-US" dirty="0" err="1"/>
              <a:t>Изначально</a:t>
            </a:r>
            <a:r>
              <a:rPr lang="en-US" dirty="0"/>
              <a:t> </a:t>
            </a:r>
            <a:r>
              <a:rPr lang="en-US" dirty="0" err="1"/>
              <a:t>семафор</a:t>
            </a:r>
            <a:r>
              <a:rPr lang="en-US" dirty="0"/>
              <a:t> </a:t>
            </a:r>
            <a:r>
              <a:rPr lang="en-US" dirty="0" err="1"/>
              <a:t>равен</a:t>
            </a:r>
            <a:r>
              <a:rPr lang="en-US" dirty="0"/>
              <a:t> </a:t>
            </a:r>
            <a:r>
              <a:rPr lang="en-US" dirty="0" err="1"/>
              <a:t>нулю</a:t>
            </a:r>
            <a:r>
              <a:rPr lang="en-US" dirty="0"/>
              <a:t>.</a:t>
            </a:r>
          </a:p>
          <a:p>
            <a:r>
              <a:rPr lang="en-US" dirty="0" err="1"/>
              <a:t>Процесс-потребитель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sem_wait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разрешения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блокируется</a:t>
            </a:r>
            <a:r>
              <a:rPr lang="en-US" dirty="0"/>
              <a:t>.</a:t>
            </a:r>
          </a:p>
          <a:p>
            <a:r>
              <a:rPr lang="en-US" dirty="0" err="1"/>
              <a:t>Процесс-производитель</a:t>
            </a:r>
            <a:r>
              <a:rPr lang="en-US" dirty="0"/>
              <a:t> </a:t>
            </a:r>
            <a:r>
              <a:rPr lang="en-US" dirty="0" err="1"/>
              <a:t>записывает</a:t>
            </a:r>
            <a:r>
              <a:rPr lang="en-US" dirty="0"/>
              <a:t> </a:t>
            </a:r>
            <a:r>
              <a:rPr lang="en-US" dirty="0" err="1"/>
              <a:t>число</a:t>
            </a:r>
            <a:r>
              <a:rPr lang="en-US" dirty="0"/>
              <a:t> 42 в </a:t>
            </a:r>
            <a:r>
              <a:rPr lang="en-US" dirty="0" err="1"/>
              <a:t>разделяемую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sem_post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разрешение</a:t>
            </a:r>
            <a:r>
              <a:rPr lang="en-US" dirty="0"/>
              <a:t>, </a:t>
            </a:r>
            <a:r>
              <a:rPr lang="en-US" dirty="0" err="1"/>
              <a:t>просыпается</a:t>
            </a:r>
            <a:r>
              <a:rPr lang="en-US" dirty="0"/>
              <a:t> и </a:t>
            </a:r>
            <a:r>
              <a:rPr lang="en-US" dirty="0" err="1"/>
              <a:t>читает</a:t>
            </a:r>
            <a:r>
              <a:rPr lang="en-US" dirty="0"/>
              <a:t> </a:t>
            </a:r>
            <a:r>
              <a:rPr lang="en-US" dirty="0" err="1"/>
              <a:t>подготовленное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разделение</a:t>
            </a:r>
            <a:r>
              <a:rPr lang="en-US" dirty="0"/>
              <a:t> </a:t>
            </a:r>
            <a:r>
              <a:rPr lang="en-US" dirty="0" err="1"/>
              <a:t>обязанностей</a:t>
            </a:r>
            <a:r>
              <a:rPr lang="en-US" dirty="0"/>
              <a:t>.</a:t>
            </a:r>
          </a:p>
          <a:p>
            <a:r>
              <a:rPr lang="en-US" dirty="0" err="1"/>
              <a:t>Разделяемая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.</a:t>
            </a:r>
          </a:p>
          <a:p>
            <a:r>
              <a:rPr lang="en-US" dirty="0" err="1"/>
              <a:t>Семафор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готово</a:t>
            </a:r>
            <a:r>
              <a:rPr lang="en-US" dirty="0"/>
              <a:t> и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семафор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нужную</a:t>
            </a:r>
            <a:r>
              <a:rPr lang="en-US" dirty="0"/>
              <a:t> </a:t>
            </a:r>
            <a:r>
              <a:rPr lang="en-US" dirty="0" err="1"/>
              <a:t>синхронизацию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публикацией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и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чтением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примера</a:t>
            </a:r>
            <a:r>
              <a:rPr lang="en-US" dirty="0"/>
              <a:t> с </a:t>
            </a:r>
            <a:r>
              <a:rPr lang="en-US" dirty="0" err="1"/>
              <a:t>обычным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предыдущих</a:t>
            </a:r>
            <a:r>
              <a:rPr lang="en-US" dirty="0"/>
              <a:t> </a:t>
            </a:r>
            <a:r>
              <a:rPr lang="en-US" dirty="0" err="1"/>
              <a:t>слайдах</a:t>
            </a:r>
            <a:r>
              <a:rPr lang="en-US" dirty="0"/>
              <a:t>,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пытается</a:t>
            </a:r>
            <a:r>
              <a:rPr lang="en-US" dirty="0"/>
              <a:t> </a:t>
            </a:r>
            <a:r>
              <a:rPr lang="en-US" dirty="0" err="1"/>
              <a:t>читать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с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записью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деталь</a:t>
            </a:r>
            <a:r>
              <a:rPr lang="en-US" dirty="0"/>
              <a:t>: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производитель</a:t>
            </a:r>
            <a:r>
              <a:rPr lang="en-US" dirty="0"/>
              <a:t> </a:t>
            </a:r>
            <a:r>
              <a:rPr lang="en-US" dirty="0" err="1"/>
              <a:t>вызовет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sem_post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выполнит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sem_wait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dirty="0" err="1"/>
              <a:t>разрешение</a:t>
            </a:r>
            <a:r>
              <a:rPr lang="en-US" dirty="0"/>
              <a:t> </a:t>
            </a:r>
            <a:r>
              <a:rPr lang="en-US" dirty="0" err="1"/>
              <a:t>сохранится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уведомление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потеряется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настоящем</a:t>
            </a:r>
            <a:r>
              <a:rPr lang="en-US" dirty="0"/>
              <a:t> </a:t>
            </a:r>
            <a:r>
              <a:rPr lang="en-US" dirty="0" err="1"/>
              <a:t>приложении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результаты</a:t>
            </a:r>
            <a:r>
              <a:rPr lang="en-US" dirty="0"/>
              <a:t> </a:t>
            </a:r>
            <a:r>
              <a:rPr lang="en-US" dirty="0" err="1"/>
              <a:t>системных</a:t>
            </a:r>
            <a:r>
              <a:rPr lang="en-US" dirty="0"/>
              <a:t> </a:t>
            </a:r>
            <a:r>
              <a:rPr lang="en-US" dirty="0" err="1"/>
              <a:t>вызовов</a:t>
            </a:r>
            <a:r>
              <a:rPr lang="en-US" dirty="0"/>
              <a:t>. В </a:t>
            </a:r>
            <a:r>
              <a:rPr lang="en-US" dirty="0" err="1"/>
              <a:t>частности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sem_wait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прерван</a:t>
            </a:r>
            <a:r>
              <a:rPr lang="en-US" dirty="0"/>
              <a:t> </a:t>
            </a:r>
            <a:r>
              <a:rPr lang="en-US" dirty="0" err="1"/>
              <a:t>сигналом</a:t>
            </a:r>
            <a:r>
              <a:rPr lang="en-US" dirty="0"/>
              <a:t> и </a:t>
            </a:r>
            <a:r>
              <a:rPr lang="en-US" dirty="0" err="1"/>
              <a:t>завершиться</a:t>
            </a:r>
            <a:r>
              <a:rPr lang="en-US" dirty="0"/>
              <a:t> </a:t>
            </a:r>
            <a:r>
              <a:rPr lang="en-US" dirty="0" err="1"/>
              <a:t>ошибкой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EINTR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обработать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95933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предполагали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выполняются</a:t>
            </a:r>
            <a:r>
              <a:rPr lang="en-US" dirty="0"/>
              <a:t> </a:t>
            </a:r>
            <a:r>
              <a:rPr lang="en-US" dirty="0" err="1"/>
              <a:t>нормально</a:t>
            </a:r>
            <a:r>
              <a:rPr lang="en-US" dirty="0"/>
              <a:t> и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освобождают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захваченные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аварийно</a:t>
            </a:r>
            <a:r>
              <a:rPr lang="en-US" dirty="0"/>
              <a:t> </a:t>
            </a:r>
            <a:r>
              <a:rPr lang="en-US" dirty="0" err="1"/>
              <a:t>завершаться</a:t>
            </a:r>
            <a:r>
              <a:rPr lang="en-US" dirty="0"/>
              <a:t>.</a:t>
            </a:r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Shared Memory.</a:t>
            </a:r>
          </a:p>
          <a:p>
            <a:endParaRPr lang="en-US" dirty="0"/>
          </a:p>
          <a:p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и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обновляет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взаимосвязанных</a:t>
            </a:r>
            <a:r>
              <a:rPr lang="en-US" dirty="0"/>
              <a:t> </a:t>
            </a:r>
            <a:r>
              <a:rPr lang="en-US" dirty="0" err="1"/>
              <a:t>поля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удовлетворять</a:t>
            </a:r>
            <a:r>
              <a:rPr lang="en-US" dirty="0"/>
              <a:t> </a:t>
            </a:r>
            <a:r>
              <a:rPr lang="en-US" dirty="0" err="1"/>
              <a:t>некоторому</a:t>
            </a:r>
            <a:r>
              <a:rPr lang="en-US" dirty="0"/>
              <a:t> </a:t>
            </a:r>
            <a:r>
              <a:rPr lang="en-US" dirty="0" err="1"/>
              <a:t>инварианту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первого</a:t>
            </a:r>
            <a:r>
              <a:rPr lang="en-US" dirty="0"/>
              <a:t> </a:t>
            </a:r>
            <a:r>
              <a:rPr lang="en-US" dirty="0" err="1"/>
              <a:t>поля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аварийно</a:t>
            </a:r>
            <a:r>
              <a:rPr lang="en-US" dirty="0"/>
              <a:t> </a:t>
            </a:r>
            <a:r>
              <a:rPr lang="en-US" dirty="0" err="1"/>
              <a:t>завершается</a:t>
            </a:r>
            <a:r>
              <a:rPr lang="en-US" dirty="0"/>
              <a:t>.</a:t>
            </a:r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вторым</a:t>
            </a:r>
            <a:r>
              <a:rPr lang="en-US" dirty="0"/>
              <a:t> </a:t>
            </a:r>
            <a:r>
              <a:rPr lang="en-US" dirty="0" err="1"/>
              <a:t>процессом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 </a:t>
            </a:r>
            <a:r>
              <a:rPr lang="en-US" dirty="0" err="1"/>
              <a:t>восстановления</a:t>
            </a:r>
            <a:r>
              <a:rPr lang="en-US" dirty="0"/>
              <a:t>,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остаться</a:t>
            </a:r>
            <a:r>
              <a:rPr lang="en-US" dirty="0"/>
              <a:t> </a:t>
            </a:r>
            <a:r>
              <a:rPr lang="en-US" dirty="0" err="1"/>
              <a:t>заблокированным</a:t>
            </a:r>
            <a:r>
              <a:rPr lang="en-US" dirty="0"/>
              <a:t>, </a:t>
            </a:r>
            <a:r>
              <a:rPr lang="en-US" dirty="0" err="1"/>
              <a:t>ожидая</a:t>
            </a:r>
            <a:r>
              <a:rPr lang="en-US" dirty="0"/>
              <a:t> </a:t>
            </a:r>
            <a:r>
              <a:rPr lang="en-US" dirty="0" err="1"/>
              <a:t>освобождения</a:t>
            </a:r>
            <a:r>
              <a:rPr lang="en-US" dirty="0"/>
              <a:t> </a:t>
            </a:r>
            <a:r>
              <a:rPr lang="en-US" dirty="0" err="1"/>
              <a:t>ресурса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POSIX </a:t>
            </a:r>
            <a:r>
              <a:rPr lang="en-US" dirty="0" err="1"/>
              <a:t>предоставляет</a:t>
            </a:r>
            <a:r>
              <a:rPr lang="en-US" dirty="0"/>
              <a:t> Robust Mutex.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создании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мьютекса</a:t>
            </a:r>
            <a:r>
              <a:rPr lang="en-US" dirty="0"/>
              <a:t> </a:t>
            </a:r>
            <a:r>
              <a:rPr lang="en-US" dirty="0" err="1"/>
              <a:t>устанавливается</a:t>
            </a:r>
            <a:r>
              <a:rPr lang="en-US" dirty="0"/>
              <a:t> </a:t>
            </a:r>
            <a:r>
              <a:rPr lang="en-US" dirty="0" err="1"/>
              <a:t>атрибут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PTHREAD_MUTEX_ROBUST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владелец</a:t>
            </a:r>
            <a:r>
              <a:rPr lang="en-US" dirty="0"/>
              <a:t> </a:t>
            </a:r>
            <a:r>
              <a:rPr lang="en-US" dirty="0" err="1"/>
              <a:t>завершится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освободив</a:t>
            </a:r>
            <a:r>
              <a:rPr lang="en-US" dirty="0"/>
              <a:t> </a:t>
            </a:r>
            <a:r>
              <a:rPr lang="en-US" dirty="0" err="1"/>
              <a:t>блокировку</a:t>
            </a:r>
            <a:r>
              <a:rPr lang="en-US" dirty="0"/>
              <a:t>,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pthread_mutex_lock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вернуть</a:t>
            </a:r>
            <a:r>
              <a:rPr lang="en-US" dirty="0"/>
              <a:t> </a:t>
            </a:r>
            <a:r>
              <a:rPr lang="en-US" dirty="0" err="1"/>
              <a:t>специальное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EOWNERDEAD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захват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состоялся</a:t>
            </a:r>
            <a:r>
              <a:rPr lang="en-US" dirty="0"/>
              <a:t>.</a:t>
            </a:r>
          </a:p>
          <a:p>
            <a:r>
              <a:rPr lang="en-US" dirty="0" err="1"/>
              <a:t>Напротив</a:t>
            </a:r>
            <a:r>
              <a:rPr lang="en-US" dirty="0"/>
              <a:t>,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владеет</a:t>
            </a:r>
            <a:r>
              <a:rPr lang="en-US" dirty="0"/>
              <a:t> </a:t>
            </a:r>
            <a:r>
              <a:rPr lang="en-US" dirty="0" err="1"/>
              <a:t>мьютексом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предупреждает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предыдущий</a:t>
            </a:r>
            <a:r>
              <a:rPr lang="en-US" dirty="0"/>
              <a:t> </a:t>
            </a:r>
            <a:r>
              <a:rPr lang="en-US" dirty="0" err="1"/>
              <a:t>владелец</a:t>
            </a:r>
            <a:r>
              <a:rPr lang="en-US" dirty="0"/>
              <a:t> </a:t>
            </a:r>
            <a:r>
              <a:rPr lang="en-US" dirty="0" err="1"/>
              <a:t>завершился</a:t>
            </a:r>
            <a:r>
              <a:rPr lang="en-US" dirty="0"/>
              <a:t> в </a:t>
            </a:r>
            <a:r>
              <a:rPr lang="en-US" dirty="0" err="1"/>
              <a:t>критической</a:t>
            </a:r>
            <a:r>
              <a:rPr lang="en-US" dirty="0"/>
              <a:t> </a:t>
            </a:r>
            <a:r>
              <a:rPr lang="en-US" dirty="0" err="1"/>
              <a:t>секции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Следовательно</a:t>
            </a:r>
            <a:r>
              <a:rPr lang="en-US" dirty="0"/>
              <a:t>, </a:t>
            </a:r>
            <a:r>
              <a:rPr lang="en-US" dirty="0" err="1"/>
              <a:t>защищаемые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 в </a:t>
            </a:r>
            <a:r>
              <a:rPr lang="en-US" dirty="0" err="1"/>
              <a:t>некорректном</a:t>
            </a:r>
            <a:r>
              <a:rPr lang="en-US" dirty="0"/>
              <a:t> </a:t>
            </a:r>
            <a:r>
              <a:rPr lang="en-US" dirty="0" err="1"/>
              <a:t>состоянии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владельца</a:t>
            </a:r>
            <a:r>
              <a:rPr lang="en-US" dirty="0"/>
              <a:t> — </a:t>
            </a:r>
            <a:r>
              <a:rPr lang="en-US" dirty="0" err="1"/>
              <a:t>восстановить</a:t>
            </a:r>
            <a:r>
              <a:rPr lang="en-US" dirty="0"/>
              <a:t> </a:t>
            </a:r>
            <a:r>
              <a:rPr lang="en-US" dirty="0" err="1"/>
              <a:t>согласованность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перепроверить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, </a:t>
            </a:r>
            <a:r>
              <a:rPr lang="en-US" dirty="0" err="1"/>
              <a:t>откатить</a:t>
            </a:r>
            <a:r>
              <a:rPr lang="en-US" dirty="0"/>
              <a:t> </a:t>
            </a:r>
            <a:r>
              <a:rPr lang="en-US" dirty="0" err="1"/>
              <a:t>незавершённую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восстановить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журнала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успешного</a:t>
            </a:r>
            <a:r>
              <a:rPr lang="en-US" dirty="0"/>
              <a:t> </a:t>
            </a:r>
            <a:r>
              <a:rPr lang="en-US" dirty="0" err="1"/>
              <a:t>восстановления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вызвать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pthread_mutex_consistent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подтверждает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в </a:t>
            </a:r>
            <a:r>
              <a:rPr lang="en-US" dirty="0" err="1"/>
              <a:t>корректном</a:t>
            </a:r>
            <a:r>
              <a:rPr lang="en-US" dirty="0"/>
              <a:t> </a:t>
            </a:r>
            <a:r>
              <a:rPr lang="en-US" dirty="0" err="1"/>
              <a:t>состоянии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нормально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и </a:t>
            </a:r>
            <a:r>
              <a:rPr lang="en-US" dirty="0" err="1"/>
              <a:t>освобождать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восстановить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и </a:t>
            </a:r>
            <a:r>
              <a:rPr lang="en-US" dirty="0" err="1"/>
              <a:t>освобождает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pthread_mutex_consistent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dirty="0" err="1"/>
              <a:t>блокировка</a:t>
            </a:r>
            <a:r>
              <a:rPr lang="en-US" dirty="0"/>
              <a:t> </a:t>
            </a:r>
            <a:r>
              <a:rPr lang="en-US" dirty="0" err="1"/>
              <a:t>перейдёт</a:t>
            </a:r>
            <a:r>
              <a:rPr lang="en-US" dirty="0"/>
              <a:t> в </a:t>
            </a:r>
            <a:r>
              <a:rPr lang="en-US" dirty="0" err="1"/>
              <a:t>невосстановимое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 </a:t>
            </a:r>
            <a:r>
              <a:rPr lang="en-US" dirty="0" err="1"/>
              <a:t>Последующие</a:t>
            </a:r>
            <a:r>
              <a:rPr lang="en-US" dirty="0"/>
              <a:t> </a:t>
            </a:r>
            <a:r>
              <a:rPr lang="en-US" dirty="0" err="1"/>
              <a:t>попытки</a:t>
            </a:r>
            <a:r>
              <a:rPr lang="en-US" dirty="0"/>
              <a:t> </a:t>
            </a:r>
            <a:r>
              <a:rPr lang="en-US" dirty="0" err="1"/>
              <a:t>захвата</a:t>
            </a:r>
            <a:r>
              <a:rPr lang="en-US" dirty="0"/>
              <a:t> </a:t>
            </a:r>
            <a:r>
              <a:rPr lang="en-US" dirty="0" err="1"/>
              <a:t>вернут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ENOTRECOVERABLE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Главный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: Robust Mutex </a:t>
            </a:r>
            <a:r>
              <a:rPr lang="en-US" dirty="0" err="1"/>
              <a:t>обнаруживает</a:t>
            </a:r>
            <a:r>
              <a:rPr lang="en-US" dirty="0"/>
              <a:t> </a:t>
            </a:r>
            <a:r>
              <a:rPr lang="en-US" dirty="0" err="1"/>
              <a:t>аварийное</a:t>
            </a:r>
            <a:r>
              <a:rPr lang="en-US" dirty="0"/>
              <a:t> </a:t>
            </a:r>
            <a:r>
              <a:rPr lang="en-US" dirty="0" err="1"/>
              <a:t>завершение</a:t>
            </a:r>
            <a:r>
              <a:rPr lang="en-US" dirty="0"/>
              <a:t> </a:t>
            </a:r>
            <a:r>
              <a:rPr lang="en-US" dirty="0" err="1"/>
              <a:t>владельца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исправляет</a:t>
            </a:r>
            <a:r>
              <a:rPr lang="en-US" dirty="0"/>
              <a:t> </a:t>
            </a:r>
            <a:r>
              <a:rPr lang="en-US" dirty="0" err="1"/>
              <a:t>повреждённые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определять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восстанавливать</a:t>
            </a:r>
            <a:r>
              <a:rPr lang="en-US" dirty="0"/>
              <a:t> </a:t>
            </a:r>
            <a:r>
              <a:rPr lang="en-US" dirty="0" err="1"/>
              <a:t>свои</a:t>
            </a:r>
            <a:r>
              <a:rPr lang="en-US" dirty="0"/>
              <a:t> </a:t>
            </a:r>
            <a:r>
              <a:rPr lang="en-US" dirty="0" err="1"/>
              <a:t>инварианты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0889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перейдём</a:t>
            </a:r>
            <a:r>
              <a:rPr lang="en-US" dirty="0"/>
              <a:t> </a:t>
            </a:r>
            <a:r>
              <a:rPr lang="en-US" dirty="0" err="1"/>
              <a:t>ко</a:t>
            </a:r>
            <a:r>
              <a:rPr lang="en-US" dirty="0"/>
              <a:t> </a:t>
            </a:r>
            <a:r>
              <a:rPr lang="en-US" dirty="0" err="1"/>
              <a:t>второму</a:t>
            </a:r>
            <a:r>
              <a:rPr lang="en-US" dirty="0"/>
              <a:t> </a:t>
            </a:r>
            <a:r>
              <a:rPr lang="en-US" dirty="0" err="1"/>
              <a:t>подходу</a:t>
            </a:r>
            <a:r>
              <a:rPr lang="en-US" dirty="0"/>
              <a:t> к IPC — </a:t>
            </a:r>
            <a:r>
              <a:rPr lang="en-US" dirty="0" err="1"/>
              <a:t>обмену</a:t>
            </a:r>
            <a:r>
              <a:rPr lang="en-US" dirty="0"/>
              <a:t> </a:t>
            </a:r>
            <a:r>
              <a:rPr lang="en-US" dirty="0" err="1"/>
              <a:t>сообщениями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лекции</a:t>
            </a:r>
            <a:r>
              <a:rPr lang="en-US" dirty="0"/>
              <a:t> о </a:t>
            </a:r>
            <a:r>
              <a:rPr lang="en-US" dirty="0" err="1"/>
              <a:t>процессах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рассматривали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pipe</a:t>
            </a:r>
            <a:r>
              <a:rPr lang="en-US" dirty="0"/>
              <a:t> и FIFO.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в Linux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локального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— Unix Domain Sockets.</a:t>
            </a:r>
          </a:p>
          <a:p>
            <a:endParaRPr lang="en-US" dirty="0"/>
          </a:p>
          <a:p>
            <a:r>
              <a:rPr lang="en-US" dirty="0" err="1"/>
              <a:t>Сокеты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ассоциируются</a:t>
            </a:r>
            <a:r>
              <a:rPr lang="en-US" dirty="0"/>
              <a:t> с </a:t>
            </a:r>
            <a:r>
              <a:rPr lang="en-US" dirty="0" err="1"/>
              <a:t>сетевым</a:t>
            </a:r>
            <a:r>
              <a:rPr lang="en-US" dirty="0"/>
              <a:t> </a:t>
            </a:r>
            <a:r>
              <a:rPr lang="en-US" dirty="0" err="1"/>
              <a:t>программированием</a:t>
            </a:r>
            <a:r>
              <a:rPr lang="en-US" dirty="0"/>
              <a:t>: TCP, UDP, IP-</a:t>
            </a:r>
            <a:r>
              <a:rPr lang="en-US" dirty="0" err="1"/>
              <a:t>адресами</a:t>
            </a:r>
            <a:r>
              <a:rPr lang="en-US" dirty="0"/>
              <a:t> и </a:t>
            </a:r>
            <a:r>
              <a:rPr lang="en-US" dirty="0" err="1"/>
              <a:t>портами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сокетный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и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связи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компьютере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предназначено</a:t>
            </a:r>
            <a:r>
              <a:rPr lang="en-US" dirty="0"/>
              <a:t> </a:t>
            </a:r>
            <a:r>
              <a:rPr lang="en-US" dirty="0" err="1"/>
              <a:t>семейство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AF_UNIX</a:t>
            </a:r>
            <a:r>
              <a:rPr lang="en-US" dirty="0"/>
              <a:t>,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называемое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AF_LOCAL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с </a:t>
            </a:r>
            <a:r>
              <a:rPr lang="en-US" dirty="0" err="1"/>
              <a:t>такими</a:t>
            </a:r>
            <a:r>
              <a:rPr lang="en-US" dirty="0"/>
              <a:t> </a:t>
            </a:r>
            <a:r>
              <a:rPr lang="en-US" dirty="0" err="1"/>
              <a:t>сокетами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обращаться</a:t>
            </a:r>
            <a:r>
              <a:rPr lang="en-US" dirty="0"/>
              <a:t> к </a:t>
            </a:r>
            <a:r>
              <a:rPr lang="en-US" dirty="0" err="1"/>
              <a:t>удалённому</a:t>
            </a:r>
            <a:r>
              <a:rPr lang="en-US" dirty="0"/>
              <a:t> </a:t>
            </a:r>
            <a:r>
              <a:rPr lang="en-US" dirty="0" err="1"/>
              <a:t>компьютеру</a:t>
            </a:r>
            <a:r>
              <a:rPr lang="en-US" dirty="0"/>
              <a:t>.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машине</a:t>
            </a:r>
            <a:r>
              <a:rPr lang="en-US" dirty="0"/>
              <a:t>, а </a:t>
            </a:r>
            <a:r>
              <a:rPr lang="en-US" dirty="0" err="1"/>
              <a:t>обмен</a:t>
            </a:r>
            <a:r>
              <a:rPr lang="en-US" dirty="0"/>
              <a:t> </a:t>
            </a:r>
            <a:r>
              <a:rPr lang="en-US" dirty="0" err="1"/>
              <a:t>организуется</a:t>
            </a:r>
            <a:r>
              <a:rPr lang="en-US" dirty="0"/>
              <a:t> </a:t>
            </a:r>
            <a:r>
              <a:rPr lang="en-US" dirty="0" err="1"/>
              <a:t>средствами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ОС.</a:t>
            </a:r>
          </a:p>
          <a:p>
            <a:endParaRPr lang="en-US" dirty="0"/>
          </a:p>
          <a:p>
            <a:r>
              <a:rPr lang="en-US" dirty="0"/>
              <a:t>Unix Domain Sockets </a:t>
            </a:r>
            <a:r>
              <a:rPr lang="en-US" dirty="0" err="1"/>
              <a:t>поддерживают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режимов</a:t>
            </a:r>
            <a:r>
              <a:rPr lang="en-US" dirty="0"/>
              <a:t>.</a:t>
            </a:r>
          </a:p>
          <a:p>
            <a:r>
              <a:rPr lang="en-US" dirty="0" err="1"/>
              <a:t>Первый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SOCK_STREAM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непрерывный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байтов</a:t>
            </a:r>
            <a:r>
              <a:rPr lang="en-US" dirty="0"/>
              <a:t>, </a:t>
            </a:r>
            <a:r>
              <a:rPr lang="en-US" dirty="0" err="1"/>
              <a:t>похожий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семантике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TCP-</a:t>
            </a:r>
            <a:r>
              <a:rPr lang="en-US" dirty="0" err="1"/>
              <a:t>соединение</a:t>
            </a:r>
            <a:r>
              <a:rPr lang="en-US" dirty="0"/>
              <a:t>.</a:t>
            </a:r>
          </a:p>
          <a:p>
            <a:r>
              <a:rPr lang="en-US" dirty="0" err="1"/>
              <a:t>Второй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SOCK_DGRAM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режиме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передаются</a:t>
            </a:r>
            <a:r>
              <a:rPr lang="en-US" dirty="0"/>
              <a:t> </a:t>
            </a:r>
            <a:r>
              <a:rPr lang="en-US" dirty="0" err="1"/>
              <a:t>отдельными</a:t>
            </a:r>
            <a:r>
              <a:rPr lang="en-US" dirty="0"/>
              <a:t> </a:t>
            </a:r>
            <a:r>
              <a:rPr lang="en-US" dirty="0" err="1"/>
              <a:t>сообщениями</a:t>
            </a:r>
            <a:r>
              <a:rPr lang="en-US" dirty="0"/>
              <a:t>.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 </a:t>
            </a:r>
            <a:r>
              <a:rPr lang="en-US" dirty="0" err="1"/>
              <a:t>сохраняются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Третий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SOCK_SEQPACKET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сочетает</a:t>
            </a:r>
            <a:r>
              <a:rPr lang="en-US" dirty="0"/>
              <a:t> </a:t>
            </a:r>
            <a:r>
              <a:rPr lang="en-US" dirty="0" err="1"/>
              <a:t>установление</a:t>
            </a:r>
            <a:r>
              <a:rPr lang="en-US" dirty="0"/>
              <a:t> </a:t>
            </a:r>
            <a:r>
              <a:rPr lang="en-US" dirty="0" err="1"/>
              <a:t>соединения</a:t>
            </a:r>
            <a:r>
              <a:rPr lang="en-US" dirty="0"/>
              <a:t> с </a:t>
            </a:r>
            <a:r>
              <a:rPr lang="en-US" dirty="0" err="1"/>
              <a:t>сохранением</a:t>
            </a:r>
            <a:r>
              <a:rPr lang="en-US" dirty="0"/>
              <a:t> </a:t>
            </a:r>
            <a:r>
              <a:rPr lang="en-US" dirty="0" err="1"/>
              <a:t>границ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 и </a:t>
            </a:r>
            <a:r>
              <a:rPr lang="en-US" dirty="0" err="1"/>
              <a:t>порядка</a:t>
            </a:r>
            <a:r>
              <a:rPr lang="en-US" dirty="0"/>
              <a:t> </a:t>
            </a:r>
            <a:r>
              <a:rPr lang="en-US" dirty="0" err="1"/>
              <a:t>доставки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удобно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отдельными</a:t>
            </a:r>
            <a:r>
              <a:rPr lang="en-US" dirty="0"/>
              <a:t> </a:t>
            </a:r>
            <a:r>
              <a:rPr lang="en-US" dirty="0" err="1"/>
              <a:t>запросами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командами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преимущество</a:t>
            </a:r>
            <a:r>
              <a:rPr lang="en-US" dirty="0"/>
              <a:t> Unix Domain Sockets —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организовать</a:t>
            </a:r>
            <a:r>
              <a:rPr lang="en-US" dirty="0"/>
              <a:t> </a:t>
            </a:r>
            <a:r>
              <a:rPr lang="en-US" dirty="0" err="1"/>
              <a:t>локальный</a:t>
            </a:r>
            <a:r>
              <a:rPr lang="en-US" dirty="0"/>
              <a:t> </a:t>
            </a:r>
            <a:r>
              <a:rPr lang="en-US" dirty="0" err="1"/>
              <a:t>клиент-серверный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фоновая</a:t>
            </a:r>
            <a:r>
              <a:rPr lang="en-US" dirty="0"/>
              <a:t> </a:t>
            </a:r>
            <a:r>
              <a:rPr lang="en-US" dirty="0" err="1"/>
              <a:t>служба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сокет</a:t>
            </a:r>
            <a:r>
              <a:rPr lang="en-US" dirty="0"/>
              <a:t> с </a:t>
            </a:r>
            <a:r>
              <a:rPr lang="en-US" dirty="0" err="1"/>
              <a:t>определённым</a:t>
            </a:r>
            <a:r>
              <a:rPr lang="en-US" dirty="0"/>
              <a:t> </a:t>
            </a:r>
            <a:r>
              <a:rPr lang="en-US" dirty="0" err="1"/>
              <a:t>именем</a:t>
            </a:r>
            <a:r>
              <a:rPr lang="en-US" dirty="0"/>
              <a:t> в </a:t>
            </a:r>
            <a:r>
              <a:rPr lang="en-US" dirty="0" err="1"/>
              <a:t>файловой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.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смогут</a:t>
            </a:r>
            <a:r>
              <a:rPr lang="en-US" dirty="0"/>
              <a:t> </a:t>
            </a:r>
            <a:r>
              <a:rPr lang="en-US" dirty="0" err="1"/>
              <a:t>подключаться</a:t>
            </a:r>
            <a:r>
              <a:rPr lang="en-US" dirty="0"/>
              <a:t> к </a:t>
            </a:r>
            <a:r>
              <a:rPr lang="en-US" dirty="0" err="1"/>
              <a:t>ней</a:t>
            </a:r>
            <a:r>
              <a:rPr lang="en-US" dirty="0"/>
              <a:t> и </a:t>
            </a:r>
            <a:r>
              <a:rPr lang="en-US" dirty="0" err="1"/>
              <a:t>отправлять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Есть</a:t>
            </a:r>
            <a:r>
              <a:rPr lang="en-US" dirty="0"/>
              <a:t> и </a:t>
            </a:r>
            <a:r>
              <a:rPr lang="en-US" dirty="0" err="1"/>
              <a:t>дополнительная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, </a:t>
            </a:r>
            <a:r>
              <a:rPr lang="en-US" dirty="0" err="1"/>
              <a:t>специфичная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локального</a:t>
            </a:r>
            <a:r>
              <a:rPr lang="en-US" dirty="0"/>
              <a:t> IPC: </a:t>
            </a:r>
            <a:r>
              <a:rPr lang="en-US" dirty="0" err="1"/>
              <a:t>передача</a:t>
            </a:r>
            <a:r>
              <a:rPr lang="en-US" dirty="0"/>
              <a:t> </a:t>
            </a:r>
            <a:r>
              <a:rPr lang="en-US" dirty="0" err="1"/>
              <a:t>файловых</a:t>
            </a:r>
            <a:r>
              <a:rPr lang="en-US" dirty="0"/>
              <a:t> </a:t>
            </a:r>
            <a:r>
              <a:rPr lang="en-US" dirty="0" err="1"/>
              <a:t>дескрипторов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открыть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memfd_create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нему</a:t>
            </a:r>
            <a:r>
              <a:rPr lang="en-US" dirty="0"/>
              <a:t> </a:t>
            </a:r>
            <a:r>
              <a:rPr lang="en-US" dirty="0" err="1"/>
              <a:t>другому</a:t>
            </a:r>
            <a:r>
              <a:rPr lang="en-US" dirty="0"/>
              <a:t> </a:t>
            </a:r>
            <a:r>
              <a:rPr lang="en-US" dirty="0" err="1"/>
              <a:t>процессу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Unix Domain Socket.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дескрипторов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вспомогательных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SCM_RIGHTS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Unix Domain Sockets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служить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каналом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способом</a:t>
            </a:r>
            <a:r>
              <a:rPr lang="en-US" dirty="0"/>
              <a:t> </a:t>
            </a:r>
            <a:r>
              <a:rPr lang="en-US" dirty="0" err="1"/>
              <a:t>безопасно</a:t>
            </a:r>
            <a:r>
              <a:rPr lang="en-US" dirty="0"/>
              <a:t> </a:t>
            </a:r>
            <a:r>
              <a:rPr lang="en-US" dirty="0" err="1"/>
              <a:t>передавать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ресурсам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25724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способа</a:t>
            </a:r>
            <a:r>
              <a:rPr lang="en-US" dirty="0"/>
              <a:t> </a:t>
            </a:r>
            <a:r>
              <a:rPr lang="en-US" dirty="0" err="1"/>
              <a:t>организации</a:t>
            </a:r>
            <a:r>
              <a:rPr lang="en-US" dirty="0"/>
              <a:t> </a:t>
            </a:r>
            <a:r>
              <a:rPr lang="en-US" dirty="0" err="1"/>
              <a:t>связи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Unix Domain Sockets.</a:t>
            </a:r>
          </a:p>
          <a:p>
            <a:endParaRPr lang="en-US" dirty="0"/>
          </a:p>
          <a:p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 — </a:t>
            </a:r>
            <a:r>
              <a:rPr lang="en-US" dirty="0" err="1"/>
              <a:t>взаимодействие</a:t>
            </a:r>
            <a:r>
              <a:rPr lang="en-US" dirty="0"/>
              <a:t> </a:t>
            </a:r>
            <a:r>
              <a:rPr lang="en-US" dirty="0" err="1"/>
              <a:t>родственных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дочерний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воспользоваться</a:t>
            </a:r>
            <a:r>
              <a:rPr lang="en-US" dirty="0"/>
              <a:t> </a:t>
            </a:r>
            <a:r>
              <a:rPr lang="en-US" dirty="0" err="1"/>
              <a:t>функцией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socketpair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связанных</a:t>
            </a:r>
            <a:r>
              <a:rPr lang="en-US" dirty="0"/>
              <a:t> </a:t>
            </a:r>
            <a:r>
              <a:rPr lang="en-US" dirty="0" err="1"/>
              <a:t>сокета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наследуют</a:t>
            </a:r>
            <a:r>
              <a:rPr lang="en-US" dirty="0"/>
              <a:t> </a:t>
            </a:r>
            <a:r>
              <a:rPr lang="en-US" dirty="0" err="1"/>
              <a:t>файловые</a:t>
            </a:r>
            <a:r>
              <a:rPr lang="en-US" dirty="0"/>
              <a:t> </a:t>
            </a:r>
            <a:r>
              <a:rPr lang="en-US" dirty="0" err="1"/>
              <a:t>дескрипторы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пары</a:t>
            </a:r>
            <a:r>
              <a:rPr lang="en-US" dirty="0"/>
              <a:t>.</a:t>
            </a:r>
          </a:p>
          <a:p>
            <a:r>
              <a:rPr lang="en-US" dirty="0" err="1"/>
              <a:t>Родитель</a:t>
            </a:r>
            <a:r>
              <a:rPr lang="en-US" dirty="0"/>
              <a:t> </a:t>
            </a:r>
            <a:r>
              <a:rPr lang="en-US" dirty="0" err="1"/>
              <a:t>оставляет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конец</a:t>
            </a:r>
            <a:r>
              <a:rPr lang="en-US" dirty="0"/>
              <a:t>, а </a:t>
            </a:r>
            <a:r>
              <a:rPr lang="en-US" dirty="0" err="1"/>
              <a:t>дочерний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— </a:t>
            </a:r>
            <a:r>
              <a:rPr lang="en-US" dirty="0" err="1"/>
              <a:t>другой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обмениваться</a:t>
            </a:r>
            <a:r>
              <a:rPr lang="en-US" dirty="0"/>
              <a:t> </a:t>
            </a:r>
            <a:r>
              <a:rPr lang="en-US" dirty="0" err="1"/>
              <a:t>данными</a:t>
            </a:r>
            <a:r>
              <a:rPr lang="en-US" dirty="0"/>
              <a:t> в </a:t>
            </a:r>
            <a:r>
              <a:rPr lang="en-US" dirty="0" err="1"/>
              <a:t>обоих</a:t>
            </a:r>
            <a:r>
              <a:rPr lang="en-US" dirty="0"/>
              <a:t> </a:t>
            </a:r>
            <a:r>
              <a:rPr lang="en-US" dirty="0" err="1"/>
              <a:t>направлениях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SOCK_SEQPACKET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отдельными</a:t>
            </a:r>
            <a:r>
              <a:rPr lang="en-US" dirty="0"/>
              <a:t> </a:t>
            </a:r>
            <a:r>
              <a:rPr lang="en-US" dirty="0" err="1"/>
              <a:t>сообщениями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с </a:t>
            </a:r>
            <a:r>
              <a:rPr lang="en-US" dirty="0" err="1"/>
              <a:t>непрерывным</a:t>
            </a:r>
            <a:r>
              <a:rPr lang="en-US" dirty="0"/>
              <a:t> </a:t>
            </a:r>
            <a:r>
              <a:rPr lang="en-US" dirty="0" err="1"/>
              <a:t>потоком</a:t>
            </a:r>
            <a:r>
              <a:rPr lang="en-US" dirty="0"/>
              <a:t> </a:t>
            </a:r>
            <a:r>
              <a:rPr lang="en-US" dirty="0" err="1"/>
              <a:t>байтов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Родитель</a:t>
            </a:r>
            <a:r>
              <a:rPr lang="en-US" dirty="0"/>
              <a:t> </a:t>
            </a:r>
            <a:r>
              <a:rPr lang="en-US" dirty="0" err="1"/>
              <a:t>отправляет</a:t>
            </a:r>
            <a:r>
              <a:rPr lang="en-US" dirty="0"/>
              <a:t> </a:t>
            </a:r>
            <a:r>
              <a:rPr lang="en-US" dirty="0" err="1"/>
              <a:t>строку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HELLO</a:t>
            </a:r>
            <a:r>
              <a:rPr lang="en-US" dirty="0"/>
              <a:t>.</a:t>
            </a:r>
          </a:p>
          <a:p>
            <a:r>
              <a:rPr lang="en-US" dirty="0" err="1"/>
              <a:t>Дочерний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принимает</a:t>
            </a:r>
            <a:r>
              <a:rPr lang="en-US" dirty="0"/>
              <a:t> </a:t>
            </a:r>
            <a:r>
              <a:rPr lang="en-US" dirty="0" err="1"/>
              <a:t>сообщение</a:t>
            </a:r>
            <a:r>
              <a:rPr lang="en-US" dirty="0"/>
              <a:t> и </a:t>
            </a:r>
            <a:r>
              <a:rPr lang="en-US" dirty="0" err="1"/>
              <a:t>отправляет</a:t>
            </a:r>
            <a:r>
              <a:rPr lang="en-US" dirty="0"/>
              <a:t> </a:t>
            </a:r>
            <a:r>
              <a:rPr lang="en-US" dirty="0" err="1"/>
              <a:t>ответ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OK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обмена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закрывает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дескриптор</a:t>
            </a:r>
            <a:r>
              <a:rPr lang="en-US" dirty="0"/>
              <a:t>, а </a:t>
            </a:r>
            <a:r>
              <a:rPr lang="en-US" dirty="0" err="1"/>
              <a:t>родитель</a:t>
            </a:r>
            <a:r>
              <a:rPr lang="en-US" dirty="0"/>
              <a:t> </a:t>
            </a:r>
            <a:r>
              <a:rPr lang="en-US" dirty="0" err="1"/>
              <a:t>дополнительно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дочернего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в </a:t>
            </a:r>
            <a:r>
              <a:rPr lang="en-US" dirty="0" err="1"/>
              <a:t>файловой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и </a:t>
            </a:r>
            <a:r>
              <a:rPr lang="en-US" dirty="0" err="1"/>
              <a:t>придумывать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. </a:t>
            </a:r>
            <a:r>
              <a:rPr lang="en-US" dirty="0" err="1"/>
              <a:t>Канал</a:t>
            </a:r>
            <a:r>
              <a:rPr lang="en-US" dirty="0"/>
              <a:t> </a:t>
            </a:r>
            <a:r>
              <a:rPr lang="en-US" dirty="0" err="1"/>
              <a:t>связи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созданные</a:t>
            </a:r>
            <a:r>
              <a:rPr lang="en-US" dirty="0"/>
              <a:t> </a:t>
            </a:r>
            <a:r>
              <a:rPr lang="en-US" dirty="0" err="1"/>
              <a:t>файловые</a:t>
            </a:r>
            <a:r>
              <a:rPr lang="en-US" dirty="0"/>
              <a:t> </a:t>
            </a:r>
            <a:r>
              <a:rPr lang="en-US" dirty="0" err="1"/>
              <a:t>дескрипторы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удобен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родственных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</a:t>
            </a:r>
            <a:r>
              <a:rPr lang="en-US" dirty="0" err="1"/>
              <a:t>либо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ситуаций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файловые</a:t>
            </a:r>
            <a:r>
              <a:rPr lang="en-US" dirty="0"/>
              <a:t> </a:t>
            </a:r>
            <a:r>
              <a:rPr lang="en-US" dirty="0" err="1"/>
              <a:t>дескрипторы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независимых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запущены</a:t>
            </a:r>
            <a:r>
              <a:rPr lang="en-US" dirty="0"/>
              <a:t> </a:t>
            </a:r>
            <a:r>
              <a:rPr lang="en-US" dirty="0" err="1"/>
              <a:t>отдельно</a:t>
            </a:r>
            <a:r>
              <a:rPr lang="en-US" dirty="0"/>
              <a:t>?</a:t>
            </a:r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именованный</a:t>
            </a:r>
            <a:r>
              <a:rPr lang="en-US" dirty="0"/>
              <a:t> Unix Domain Socket.</a:t>
            </a:r>
          </a:p>
          <a:p>
            <a:endParaRPr lang="en-US" dirty="0"/>
          </a:p>
          <a:p>
            <a:r>
              <a:rPr lang="en-US" dirty="0" err="1"/>
              <a:t>Сервер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сокет</a:t>
            </a:r>
            <a:r>
              <a:rPr lang="en-US" dirty="0"/>
              <a:t>,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bind()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назначения</a:t>
            </a:r>
            <a:r>
              <a:rPr lang="en-US" dirty="0"/>
              <a:t> </a:t>
            </a:r>
            <a:r>
              <a:rPr lang="en-US" dirty="0" err="1"/>
              <a:t>локального</a:t>
            </a:r>
            <a:r>
              <a:rPr lang="en-US" dirty="0"/>
              <a:t> </a:t>
            </a:r>
            <a:r>
              <a:rPr lang="en-US" dirty="0" err="1"/>
              <a:t>адреса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listen()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accept()</a:t>
            </a:r>
            <a:r>
              <a:rPr lang="en-US" dirty="0"/>
              <a:t>.</a:t>
            </a:r>
          </a:p>
          <a:p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сокет</a:t>
            </a:r>
            <a:r>
              <a:rPr lang="en-US" dirty="0"/>
              <a:t> и </a:t>
            </a:r>
            <a:r>
              <a:rPr lang="en-US" dirty="0" err="1"/>
              <a:t>подключается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connect()</a:t>
            </a:r>
            <a:r>
              <a:rPr lang="en-US" dirty="0"/>
              <a:t>.</a:t>
            </a:r>
          </a:p>
          <a:p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своей</a:t>
            </a:r>
            <a:r>
              <a:rPr lang="en-US" dirty="0"/>
              <a:t> </a:t>
            </a:r>
            <a:r>
              <a:rPr lang="en-US" dirty="0" err="1"/>
              <a:t>структуре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похож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обычное</a:t>
            </a:r>
            <a:r>
              <a:rPr lang="en-US" dirty="0"/>
              <a:t> </a:t>
            </a:r>
            <a:r>
              <a:rPr lang="en-US" dirty="0" err="1"/>
              <a:t>сетевое</a:t>
            </a:r>
            <a:r>
              <a:rPr lang="en-US" dirty="0"/>
              <a:t> </a:t>
            </a:r>
            <a:r>
              <a:rPr lang="en-US" dirty="0" err="1"/>
              <a:t>сокетное</a:t>
            </a:r>
            <a:r>
              <a:rPr lang="en-US" dirty="0"/>
              <a:t> </a:t>
            </a:r>
            <a:r>
              <a:rPr lang="en-US" dirty="0" err="1"/>
              <a:t>программирование</a:t>
            </a:r>
            <a:r>
              <a:rPr lang="en-US" dirty="0"/>
              <a:t>.</a:t>
            </a:r>
          </a:p>
          <a:p>
            <a:r>
              <a:rPr lang="en-US" dirty="0" err="1"/>
              <a:t>Разница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IP-</a:t>
            </a:r>
            <a:r>
              <a:rPr lang="en-US" dirty="0" err="1"/>
              <a:t>адреса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локальный</a:t>
            </a:r>
            <a:r>
              <a:rPr lang="en-US" dirty="0"/>
              <a:t> </a:t>
            </a:r>
            <a:r>
              <a:rPr lang="en-US" dirty="0" err="1"/>
              <a:t>адрес</a:t>
            </a:r>
            <a:r>
              <a:rPr lang="en-US" dirty="0"/>
              <a:t> Unix Domain Socket.</a:t>
            </a:r>
          </a:p>
          <a:p>
            <a:endParaRPr lang="en-US" dirty="0"/>
          </a:p>
          <a:p>
            <a:r>
              <a:rPr lang="en-US" dirty="0"/>
              <a:t>В Linux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называемые</a:t>
            </a:r>
            <a:r>
              <a:rPr lang="en-US" dirty="0"/>
              <a:t> abstract Unix sockets,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понимания</a:t>
            </a:r>
            <a:r>
              <a:rPr lang="en-US" dirty="0"/>
              <a:t> </a:t>
            </a:r>
            <a:r>
              <a:rPr lang="en-US" dirty="0" err="1"/>
              <a:t>базового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dirty="0" err="1"/>
              <a:t>сокетов</a:t>
            </a:r>
            <a:r>
              <a:rPr lang="en-US" dirty="0"/>
              <a:t> с </a:t>
            </a:r>
            <a:r>
              <a:rPr lang="en-US" dirty="0" err="1"/>
              <a:t>путём</a:t>
            </a:r>
            <a:r>
              <a:rPr lang="en-US" dirty="0"/>
              <a:t> в </a:t>
            </a:r>
            <a:r>
              <a:rPr lang="en-US" dirty="0" err="1"/>
              <a:t>файловой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подчеркну</a:t>
            </a:r>
            <a:r>
              <a:rPr lang="en-US" dirty="0"/>
              <a:t>: </a:t>
            </a:r>
            <a:r>
              <a:rPr lang="en-US" dirty="0" err="1"/>
              <a:t>приведённый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предназначен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демонстрации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. В </a:t>
            </a:r>
            <a:r>
              <a:rPr lang="en-US" dirty="0" err="1"/>
              <a:t>настоящей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результаты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socketpair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send()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а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длину</a:t>
            </a:r>
            <a:r>
              <a:rPr lang="en-US" dirty="0"/>
              <a:t> </a:t>
            </a:r>
            <a:r>
              <a:rPr lang="en-US" dirty="0" err="1"/>
              <a:t>переданных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r>
              <a:rPr lang="ru-RU" dirty="0"/>
              <a:t>Далее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разберём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о </a:t>
            </a:r>
            <a:r>
              <a:rPr lang="en-US" dirty="0" err="1"/>
              <a:t>границах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важен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использовании</a:t>
            </a:r>
            <a:r>
              <a:rPr lang="en-US" dirty="0"/>
              <a:t> </a:t>
            </a:r>
            <a:r>
              <a:rPr lang="en-US" dirty="0" err="1"/>
              <a:t>сокетов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0797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познакомились</a:t>
            </a:r>
            <a:r>
              <a:rPr lang="en-US" dirty="0"/>
              <a:t> с Unix Domain Sockets и </a:t>
            </a:r>
            <a:r>
              <a:rPr lang="en-US" dirty="0" err="1"/>
              <a:t>увидели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поддерживают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режимы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?</a:t>
            </a:r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отправитель</a:t>
            </a:r>
            <a:r>
              <a:rPr lang="en-US" dirty="0"/>
              <a:t> </a:t>
            </a:r>
            <a:r>
              <a:rPr lang="en-US" dirty="0" err="1"/>
              <a:t>дважды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send()</a:t>
            </a:r>
            <a:r>
              <a:rPr lang="en-US" dirty="0"/>
              <a:t>.</a:t>
            </a:r>
          </a:p>
          <a:p>
            <a:r>
              <a:rPr lang="en-US" dirty="0" err="1"/>
              <a:t>Первым</a:t>
            </a:r>
            <a:r>
              <a:rPr lang="en-US" dirty="0"/>
              <a:t> </a:t>
            </a:r>
            <a:r>
              <a:rPr lang="en-US" dirty="0" err="1"/>
              <a:t>вызовом</a:t>
            </a:r>
            <a:r>
              <a:rPr lang="en-US" dirty="0"/>
              <a:t> </a:t>
            </a:r>
            <a:r>
              <a:rPr lang="en-US" dirty="0" err="1"/>
              <a:t>отправляет</a:t>
            </a:r>
            <a:r>
              <a:rPr lang="en-US" dirty="0"/>
              <a:t> </a:t>
            </a:r>
            <a:r>
              <a:rPr lang="en-US" dirty="0" err="1"/>
              <a:t>строку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HELLO</a:t>
            </a:r>
            <a:r>
              <a:rPr lang="en-US" dirty="0"/>
              <a:t>, а </a:t>
            </a:r>
            <a:r>
              <a:rPr lang="en-US" dirty="0" err="1"/>
              <a:t>вторым</a:t>
            </a:r>
            <a:r>
              <a:rPr lang="en-US" dirty="0"/>
              <a:t> — </a:t>
            </a:r>
            <a:r>
              <a:rPr lang="en-US" dirty="0" err="1"/>
              <a:t>строку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WORLD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SOCK_STREAM</a:t>
            </a:r>
            <a:r>
              <a:rPr lang="en-US" dirty="0"/>
              <a:t>, </a:t>
            </a:r>
            <a:r>
              <a:rPr lang="en-US" dirty="0" err="1"/>
              <a:t>получатель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dirty="0" err="1"/>
              <a:t>непрерывную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байтов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HELLOWORLD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возвращать</a:t>
            </a:r>
            <a:r>
              <a:rPr lang="en-US" dirty="0"/>
              <a:t> </a:t>
            </a:r>
            <a:r>
              <a:rPr lang="en-US" dirty="0" err="1"/>
              <a:t>ровно</a:t>
            </a:r>
            <a:r>
              <a:rPr lang="en-US" dirty="0"/>
              <a:t> </a:t>
            </a:r>
            <a:r>
              <a:rPr lang="en-US" dirty="0" err="1"/>
              <a:t>столько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передано</a:t>
            </a:r>
            <a:r>
              <a:rPr lang="en-US" dirty="0"/>
              <a:t>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вызовом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send()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вернуть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</a:t>
            </a:r>
            <a:r>
              <a:rPr lang="en-US" dirty="0"/>
              <a:t>, </a:t>
            </a:r>
            <a:r>
              <a:rPr lang="en-US" dirty="0" err="1"/>
              <a:t>второй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LOWO</a:t>
            </a:r>
            <a:r>
              <a:rPr lang="en-US" dirty="0"/>
              <a:t>, </a:t>
            </a:r>
            <a:r>
              <a:rPr lang="en-US" dirty="0" err="1"/>
              <a:t>третий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RLD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вернуть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десять</a:t>
            </a:r>
            <a:r>
              <a:rPr lang="en-US" dirty="0"/>
              <a:t> </a:t>
            </a:r>
            <a:r>
              <a:rPr lang="en-US" dirty="0" err="1"/>
              <a:t>байтов</a:t>
            </a:r>
            <a:r>
              <a:rPr lang="en-US" dirty="0"/>
              <a:t>.</a:t>
            </a:r>
          </a:p>
          <a:p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сценария</a:t>
            </a:r>
            <a:r>
              <a:rPr lang="en-US" dirty="0"/>
              <a:t> </a:t>
            </a:r>
            <a:r>
              <a:rPr lang="en-US" dirty="0" err="1"/>
              <a:t>допустимы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использовании</a:t>
            </a:r>
            <a:r>
              <a:rPr lang="en-US" dirty="0"/>
              <a:t> </a:t>
            </a:r>
            <a:r>
              <a:rPr lang="en-US" dirty="0" err="1"/>
              <a:t>потокового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определять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встречались</a:t>
            </a:r>
            <a:r>
              <a:rPr lang="en-US" dirty="0"/>
              <a:t> с </a:t>
            </a:r>
            <a:r>
              <a:rPr lang="en-US" dirty="0" err="1"/>
              <a:t>аналогичной</a:t>
            </a:r>
            <a:r>
              <a:rPr lang="en-US" dirty="0"/>
              <a:t> </a:t>
            </a:r>
            <a:r>
              <a:rPr lang="en-US" dirty="0" err="1"/>
              <a:t>проблемой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изучении</a:t>
            </a:r>
            <a:r>
              <a:rPr lang="en-US" dirty="0"/>
              <a:t> pipe и FIFO.</a:t>
            </a:r>
          </a:p>
          <a:p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решений</a:t>
            </a:r>
            <a:r>
              <a:rPr lang="en-US" dirty="0"/>
              <a:t> — </a:t>
            </a:r>
            <a:r>
              <a:rPr lang="en-US" dirty="0" err="1"/>
              <a:t>передавать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каждым</a:t>
            </a:r>
            <a:r>
              <a:rPr lang="en-US" dirty="0"/>
              <a:t> </a:t>
            </a:r>
            <a:r>
              <a:rPr lang="en-US" dirty="0" err="1"/>
              <a:t>сообщением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.</a:t>
            </a:r>
          </a:p>
          <a:p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—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специальный</a:t>
            </a:r>
            <a:r>
              <a:rPr lang="en-US" dirty="0"/>
              <a:t> </a:t>
            </a:r>
            <a:r>
              <a:rPr lang="en-US" dirty="0" err="1"/>
              <a:t>разделитель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IPC,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сохраняет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Unix Domain Socket </a:t>
            </a:r>
            <a:r>
              <a:rPr lang="en-US" dirty="0" err="1"/>
              <a:t>типа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SOCK_DGRAM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SOCK_SEQPACKET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отдельными</a:t>
            </a:r>
            <a:r>
              <a:rPr lang="en-US" dirty="0"/>
              <a:t> </a:t>
            </a:r>
            <a:r>
              <a:rPr lang="en-US" dirty="0" err="1"/>
              <a:t>сообщениями</a:t>
            </a:r>
            <a:r>
              <a:rPr lang="en-US" dirty="0"/>
              <a:t>. </a:t>
            </a:r>
            <a:r>
              <a:rPr lang="en-US" dirty="0" err="1"/>
              <a:t>Правда</a:t>
            </a:r>
            <a:r>
              <a:rPr lang="en-US" dirty="0"/>
              <a:t>,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предоставлять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большой</a:t>
            </a:r>
            <a:r>
              <a:rPr lang="en-US" dirty="0"/>
              <a:t> </a:t>
            </a:r>
            <a:r>
              <a:rPr lang="en-US" dirty="0" err="1"/>
              <a:t>буфер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приёма</a:t>
            </a:r>
            <a:r>
              <a:rPr lang="en-US" dirty="0"/>
              <a:t> </a:t>
            </a:r>
            <a:r>
              <a:rPr lang="en-US" dirty="0" err="1"/>
              <a:t>сообщения</a:t>
            </a:r>
            <a:r>
              <a:rPr lang="en-US" dirty="0"/>
              <a:t> и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поговорим</a:t>
            </a:r>
            <a:r>
              <a:rPr lang="en-US" dirty="0"/>
              <a:t> о </a:t>
            </a:r>
            <a:r>
              <a:rPr lang="en-US" dirty="0" err="1"/>
              <a:t>блокирующем</a:t>
            </a:r>
            <a:r>
              <a:rPr lang="en-US" dirty="0"/>
              <a:t> </a:t>
            </a:r>
            <a:r>
              <a:rPr lang="en-US" dirty="0" err="1"/>
              <a:t>обмене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получатель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а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,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перейти</a:t>
            </a:r>
            <a:r>
              <a:rPr lang="en-US" dirty="0"/>
              <a:t> в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отправитель</a:t>
            </a:r>
            <a:r>
              <a:rPr lang="en-US" dirty="0"/>
              <a:t> </a:t>
            </a:r>
            <a:r>
              <a:rPr lang="en-US" dirty="0" err="1"/>
              <a:t>пытается</a:t>
            </a:r>
            <a:r>
              <a:rPr lang="en-US" dirty="0"/>
              <a:t> </a:t>
            </a:r>
            <a:r>
              <a:rPr lang="en-US" dirty="0" err="1"/>
              <a:t>записать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буфер</a:t>
            </a:r>
            <a:r>
              <a:rPr lang="en-US" dirty="0"/>
              <a:t> </a:t>
            </a:r>
            <a:r>
              <a:rPr lang="en-US" dirty="0" err="1"/>
              <a:t>отправки</a:t>
            </a:r>
            <a:r>
              <a:rPr lang="en-US" dirty="0"/>
              <a:t> </a:t>
            </a:r>
            <a:r>
              <a:rPr lang="en-US" dirty="0" err="1"/>
              <a:t>переполнен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заблокироваться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естественный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 </a:t>
            </a:r>
            <a:r>
              <a:rPr lang="en-US" dirty="0" err="1"/>
              <a:t>скорости</a:t>
            </a:r>
            <a:r>
              <a:rPr lang="en-US" dirty="0"/>
              <a:t> </a:t>
            </a:r>
            <a:r>
              <a:rPr lang="en-US" dirty="0" err="1"/>
              <a:t>производителя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медленном</a:t>
            </a:r>
            <a:r>
              <a:rPr lang="en-US" dirty="0"/>
              <a:t> </a:t>
            </a:r>
            <a:r>
              <a:rPr lang="en-US" dirty="0" err="1"/>
              <a:t>потребителе</a:t>
            </a:r>
            <a:r>
              <a:rPr lang="en-US" dirty="0"/>
              <a:t>.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называют</a:t>
            </a:r>
            <a:r>
              <a:rPr lang="en-US" dirty="0"/>
              <a:t> Backpressure — </a:t>
            </a:r>
            <a:r>
              <a:rPr lang="en-US" dirty="0" err="1"/>
              <a:t>обратное</a:t>
            </a:r>
            <a:r>
              <a:rPr lang="en-US" dirty="0"/>
              <a:t> </a:t>
            </a:r>
            <a:r>
              <a:rPr lang="en-US" dirty="0" err="1"/>
              <a:t>давление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и в </a:t>
            </a:r>
            <a:r>
              <a:rPr lang="en-US" dirty="0" err="1"/>
              <a:t>неблокирующем</a:t>
            </a:r>
            <a:r>
              <a:rPr lang="en-US" dirty="0"/>
              <a:t> </a:t>
            </a:r>
            <a:r>
              <a:rPr lang="en-US" dirty="0" err="1"/>
              <a:t>режиме</a:t>
            </a:r>
            <a:r>
              <a:rPr lang="en-US" dirty="0"/>
              <a:t>.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, а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невозможности</a:t>
            </a:r>
            <a:r>
              <a:rPr lang="en-US" dirty="0"/>
              <a:t> </a:t>
            </a:r>
            <a:r>
              <a:rPr lang="en-US" dirty="0" err="1"/>
              <a:t>немедленно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вернёт</a:t>
            </a:r>
            <a:r>
              <a:rPr lang="en-US" dirty="0"/>
              <a:t> </a:t>
            </a:r>
            <a:r>
              <a:rPr lang="en-US" dirty="0" err="1"/>
              <a:t>соответствующую</a:t>
            </a:r>
            <a:r>
              <a:rPr lang="en-US" dirty="0"/>
              <a:t> </a:t>
            </a:r>
            <a:r>
              <a:rPr lang="en-US" dirty="0" err="1"/>
              <a:t>ошибку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EAGAIN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последнее</a:t>
            </a:r>
            <a:r>
              <a:rPr lang="en-US" dirty="0"/>
              <a:t> </a:t>
            </a:r>
            <a:r>
              <a:rPr lang="en-US" dirty="0" err="1"/>
              <a:t>замечание</a:t>
            </a:r>
            <a:r>
              <a:rPr lang="en-US" dirty="0"/>
              <a:t>: </a:t>
            </a:r>
            <a:r>
              <a:rPr lang="en-US" dirty="0" err="1"/>
              <a:t>успешная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в </a:t>
            </a:r>
            <a:r>
              <a:rPr lang="en-US" dirty="0" err="1"/>
              <a:t>сокет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отправки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принята</a:t>
            </a:r>
            <a:r>
              <a:rPr lang="en-US" dirty="0"/>
              <a:t> </a:t>
            </a:r>
            <a:r>
              <a:rPr lang="en-US" dirty="0" err="1"/>
              <a:t>механизмом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удалённый</a:t>
            </a:r>
            <a:r>
              <a:rPr lang="en-US" dirty="0"/>
              <a:t> </a:t>
            </a:r>
            <a:r>
              <a:rPr lang="en-US" dirty="0" err="1"/>
              <a:t>участник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обработал</a:t>
            </a:r>
            <a:r>
              <a:rPr lang="en-US" dirty="0"/>
              <a:t> </a:t>
            </a:r>
            <a:r>
              <a:rPr lang="en-US" dirty="0" err="1"/>
              <a:t>соответствующую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подтвердить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обработку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предусмотрено</a:t>
            </a:r>
            <a:r>
              <a:rPr lang="en-US" dirty="0"/>
              <a:t> </a:t>
            </a:r>
            <a:r>
              <a:rPr lang="en-US" dirty="0" err="1"/>
              <a:t>протоколом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05385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IPC,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обмена</a:t>
            </a:r>
            <a:r>
              <a:rPr lang="en-US" dirty="0"/>
              <a:t> </a:t>
            </a:r>
            <a:r>
              <a:rPr lang="en-US" dirty="0" err="1"/>
              <a:t>сообщениями</a:t>
            </a:r>
            <a:r>
              <a:rPr lang="en-US" dirty="0"/>
              <a:t>, — POSIX Message Queues.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Shared Memory,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программист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буфер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обращается</a:t>
            </a:r>
            <a:r>
              <a:rPr lang="en-US" dirty="0"/>
              <a:t> к </a:t>
            </a:r>
            <a:r>
              <a:rPr lang="en-US" dirty="0" err="1"/>
              <a:t>именованной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обслуживает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создания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открытия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mq_open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Как</a:t>
            </a:r>
            <a:r>
              <a:rPr lang="en-US" dirty="0"/>
              <a:t> и в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shm_open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, </a:t>
            </a:r>
            <a:r>
              <a:rPr lang="en-US" dirty="0" err="1"/>
              <a:t>начинающееся</a:t>
            </a:r>
            <a:r>
              <a:rPr lang="en-US" dirty="0"/>
              <a:t> с </a:t>
            </a:r>
            <a:r>
              <a:rPr lang="en-US" dirty="0" err="1"/>
              <a:t>косой</a:t>
            </a:r>
            <a:r>
              <a:rPr lang="en-US" dirty="0"/>
              <a:t> </a:t>
            </a:r>
            <a:r>
              <a:rPr lang="en-US" dirty="0" err="1"/>
              <a:t>черты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-tasks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, а </a:t>
            </a:r>
            <a:r>
              <a:rPr lang="en-US" dirty="0" err="1"/>
              <a:t>остальные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открыть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тому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имени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наличии</a:t>
            </a:r>
            <a:r>
              <a:rPr lang="en-US" dirty="0"/>
              <a:t> </a:t>
            </a:r>
            <a:r>
              <a:rPr lang="en-US" dirty="0" err="1"/>
              <a:t>соответствующих</a:t>
            </a:r>
            <a:r>
              <a:rPr lang="en-US" dirty="0"/>
              <a:t> </a:t>
            </a:r>
            <a:r>
              <a:rPr lang="en-US" dirty="0" err="1"/>
              <a:t>прав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слайде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задаём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важных</a:t>
            </a:r>
            <a:r>
              <a:rPr lang="en-US" dirty="0"/>
              <a:t> </a:t>
            </a:r>
            <a:r>
              <a:rPr lang="en-US" dirty="0" err="1"/>
              <a:t>параметра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mq_maxmsg</a:t>
            </a:r>
            <a:r>
              <a:rPr lang="en-US" dirty="0"/>
              <a:t> — </a:t>
            </a:r>
            <a:r>
              <a:rPr lang="en-US" dirty="0" err="1"/>
              <a:t>максимальное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 в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mq_msgsize</a:t>
            </a:r>
            <a:r>
              <a:rPr lang="en-US" dirty="0"/>
              <a:t> — </a:t>
            </a:r>
            <a:r>
              <a:rPr lang="en-US" dirty="0" err="1"/>
              <a:t>максимальный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сообщения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содержать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десяти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 </a:t>
            </a:r>
            <a:r>
              <a:rPr lang="en-US" dirty="0" err="1"/>
              <a:t>размером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128 </a:t>
            </a:r>
            <a:r>
              <a:rPr lang="en-US" dirty="0" err="1"/>
              <a:t>байт</a:t>
            </a:r>
            <a:r>
              <a:rPr lang="en-US" dirty="0"/>
              <a:t>.</a:t>
            </a:r>
          </a:p>
          <a:p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 </a:t>
            </a:r>
            <a:r>
              <a:rPr lang="en-US" dirty="0" err="1"/>
              <a:t>помогают</a:t>
            </a:r>
            <a:r>
              <a:rPr lang="en-US" dirty="0"/>
              <a:t> </a:t>
            </a:r>
            <a:r>
              <a:rPr lang="en-US" dirty="0" err="1"/>
              <a:t>контролировать</a:t>
            </a:r>
            <a:r>
              <a:rPr lang="en-US" dirty="0"/>
              <a:t> </a:t>
            </a:r>
            <a:r>
              <a:rPr lang="en-US" dirty="0" err="1"/>
              <a:t>использование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производитель</a:t>
            </a:r>
            <a:r>
              <a:rPr lang="en-US" dirty="0"/>
              <a:t> </a:t>
            </a:r>
            <a:r>
              <a:rPr lang="en-US" dirty="0" err="1"/>
              <a:t>пытается</a:t>
            </a:r>
            <a:r>
              <a:rPr lang="en-US" dirty="0"/>
              <a:t> </a:t>
            </a:r>
            <a:r>
              <a:rPr lang="en-US" dirty="0" err="1"/>
              <a:t>отправить</a:t>
            </a:r>
            <a:r>
              <a:rPr lang="en-US" dirty="0"/>
              <a:t> </a:t>
            </a:r>
            <a:r>
              <a:rPr lang="en-US" dirty="0" err="1"/>
              <a:t>сообщение</a:t>
            </a:r>
            <a:r>
              <a:rPr lang="en-US" dirty="0"/>
              <a:t>, а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заполнена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mq_send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умолчанию</a:t>
            </a:r>
            <a:r>
              <a:rPr lang="en-US" dirty="0"/>
              <a:t> </a:t>
            </a:r>
            <a:r>
              <a:rPr lang="en-US" dirty="0" err="1"/>
              <a:t>блокируется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mq_receive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а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пуста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блокируется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доступности</a:t>
            </a:r>
            <a:r>
              <a:rPr lang="en-US" dirty="0"/>
              <a:t> </a:t>
            </a:r>
            <a:r>
              <a:rPr lang="en-US" dirty="0" err="1"/>
              <a:t>сообщения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свободного</a:t>
            </a:r>
            <a:r>
              <a:rPr lang="en-US" dirty="0"/>
              <a:t> </a:t>
            </a:r>
            <a:r>
              <a:rPr lang="en-US" dirty="0" err="1"/>
              <a:t>места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интересная</a:t>
            </a:r>
            <a:r>
              <a:rPr lang="en-US" dirty="0"/>
              <a:t> </a:t>
            </a:r>
            <a:r>
              <a:rPr lang="en-US" dirty="0" err="1"/>
              <a:t>особенность</a:t>
            </a:r>
            <a:r>
              <a:rPr lang="en-US" dirty="0"/>
              <a:t> POSIX Message Queues — </a:t>
            </a:r>
            <a:r>
              <a:rPr lang="en-US" dirty="0" err="1"/>
              <a:t>поддержка</a:t>
            </a:r>
            <a:r>
              <a:rPr lang="en-US" dirty="0"/>
              <a:t> </a:t>
            </a:r>
            <a:r>
              <a:rPr lang="en-US" dirty="0" err="1"/>
              <a:t>приоритетов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отправке</a:t>
            </a:r>
            <a:r>
              <a:rPr lang="en-US" dirty="0"/>
              <a:t> </a:t>
            </a:r>
            <a:r>
              <a:rPr lang="en-US" dirty="0" err="1"/>
              <a:t>сообщения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указать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. </a:t>
            </a:r>
            <a:r>
              <a:rPr lang="en-US" dirty="0" err="1"/>
              <a:t>Получатель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извлекает</a:t>
            </a:r>
            <a:r>
              <a:rPr lang="en-US" dirty="0"/>
              <a:t> </a:t>
            </a:r>
            <a:r>
              <a:rPr lang="en-US" dirty="0" err="1"/>
              <a:t>сообщения</a:t>
            </a:r>
            <a:r>
              <a:rPr lang="en-US" dirty="0"/>
              <a:t> с </a:t>
            </a:r>
            <a:r>
              <a:rPr lang="en-US" dirty="0" err="1"/>
              <a:t>наибольшим</a:t>
            </a:r>
            <a:r>
              <a:rPr lang="en-US" dirty="0"/>
              <a:t> </a:t>
            </a:r>
            <a:r>
              <a:rPr lang="en-US" dirty="0" err="1"/>
              <a:t>приоритетом</a:t>
            </a:r>
            <a:r>
              <a:rPr lang="en-US" dirty="0"/>
              <a:t>, а </a:t>
            </a:r>
            <a:r>
              <a:rPr lang="en-US" dirty="0" err="1"/>
              <a:t>среди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 с </a:t>
            </a:r>
            <a:r>
              <a:rPr lang="en-US" dirty="0" err="1"/>
              <a:t>одинаковым</a:t>
            </a:r>
            <a:r>
              <a:rPr lang="en-US" dirty="0"/>
              <a:t> </a:t>
            </a:r>
            <a:r>
              <a:rPr lang="en-US" dirty="0" err="1"/>
              <a:t>приоритетом</a:t>
            </a:r>
            <a:r>
              <a:rPr lang="en-US" dirty="0"/>
              <a:t> </a:t>
            </a:r>
            <a:r>
              <a:rPr lang="en-US" dirty="0" err="1"/>
              <a:t>сохраняется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поступления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использоваться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важных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остальных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FIFO, POSIX Message Queue </a:t>
            </a:r>
            <a:r>
              <a:rPr lang="en-US" dirty="0" err="1"/>
              <a:t>сохраняет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потребителю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восстанавливать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байтов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получении</a:t>
            </a:r>
            <a:r>
              <a:rPr lang="en-US" dirty="0"/>
              <a:t> </a:t>
            </a:r>
            <a:r>
              <a:rPr lang="en-US" dirty="0" err="1"/>
              <a:t>сообщения</a:t>
            </a:r>
            <a:r>
              <a:rPr lang="en-US" dirty="0"/>
              <a:t> </a:t>
            </a:r>
            <a:r>
              <a:rPr lang="en-US" dirty="0" err="1"/>
              <a:t>буфер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большим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меньше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mq_msgsize</a:t>
            </a:r>
            <a:r>
              <a:rPr lang="en-US" dirty="0"/>
              <a:t>, </a:t>
            </a:r>
            <a:r>
              <a:rPr lang="en-US" dirty="0" err="1"/>
              <a:t>установленного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Важна</a:t>
            </a:r>
            <a:r>
              <a:rPr lang="en-US" dirty="0"/>
              <a:t> и </a:t>
            </a:r>
            <a:r>
              <a:rPr lang="en-US" dirty="0" err="1"/>
              <a:t>правильная</a:t>
            </a:r>
            <a:r>
              <a:rPr lang="en-US" dirty="0"/>
              <a:t> </a:t>
            </a:r>
            <a:r>
              <a:rPr lang="en-US" dirty="0" err="1"/>
              <a:t>очистка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mq_close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закрывает</a:t>
            </a:r>
            <a:r>
              <a:rPr lang="en-US" dirty="0"/>
              <a:t> </a:t>
            </a:r>
            <a:r>
              <a:rPr lang="en-US" dirty="0" err="1"/>
              <a:t>дескриптор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 в </a:t>
            </a:r>
            <a:r>
              <a:rPr lang="en-US" dirty="0" err="1"/>
              <a:t>конкретном</a:t>
            </a:r>
            <a:r>
              <a:rPr lang="en-US" dirty="0"/>
              <a:t> </a:t>
            </a:r>
            <a:r>
              <a:rPr lang="en-US" dirty="0" err="1"/>
              <a:t>процессе</a:t>
            </a:r>
            <a:r>
              <a:rPr lang="en-US" dirty="0"/>
              <a:t>, а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mq_unlink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удаляет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продолжать</a:t>
            </a:r>
            <a:r>
              <a:rPr lang="en-US" dirty="0"/>
              <a:t> </a:t>
            </a:r>
            <a:r>
              <a:rPr lang="en-US" dirty="0" err="1"/>
              <a:t>существовать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остаются</a:t>
            </a:r>
            <a:r>
              <a:rPr lang="en-US" dirty="0"/>
              <a:t> </a:t>
            </a:r>
            <a:r>
              <a:rPr lang="en-US" dirty="0" err="1"/>
              <a:t>открытые</a:t>
            </a:r>
            <a:r>
              <a:rPr lang="en-US" dirty="0"/>
              <a:t> </a:t>
            </a:r>
            <a:r>
              <a:rPr lang="en-US" dirty="0" err="1"/>
              <a:t>ссылки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19301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главных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— Producer–Consumer.</a:t>
            </a:r>
          </a:p>
          <a:p>
            <a:endParaRPr lang="en-US" dirty="0"/>
          </a:p>
          <a:p>
            <a:r>
              <a:rPr lang="en-US" dirty="0" err="1"/>
              <a:t>Ранее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решали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ограниченной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, </a:t>
            </a:r>
            <a:r>
              <a:rPr lang="en-US" dirty="0" err="1"/>
              <a:t>хранящейся</a:t>
            </a:r>
            <a:r>
              <a:rPr lang="en-US" dirty="0"/>
              <a:t> в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защиты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использовали</a:t>
            </a:r>
            <a:r>
              <a:rPr lang="en-US" dirty="0"/>
              <a:t> </a:t>
            </a:r>
            <a:r>
              <a:rPr lang="en-US" dirty="0" err="1"/>
              <a:t>мьютексы</a:t>
            </a:r>
            <a:r>
              <a:rPr lang="en-US" dirty="0"/>
              <a:t>, а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производителя</a:t>
            </a:r>
            <a:r>
              <a:rPr lang="en-US" dirty="0"/>
              <a:t> и </a:t>
            </a:r>
            <a:r>
              <a:rPr lang="en-US" dirty="0" err="1"/>
              <a:t>потребителя</a:t>
            </a:r>
            <a:r>
              <a:rPr lang="en-US" dirty="0"/>
              <a:t> — </a:t>
            </a:r>
            <a:r>
              <a:rPr lang="en-US" dirty="0" err="1"/>
              <a:t>условные</a:t>
            </a:r>
            <a:r>
              <a:rPr lang="en-US" dirty="0"/>
              <a:t> </a:t>
            </a:r>
            <a:r>
              <a:rPr lang="en-US" dirty="0" err="1"/>
              <a:t>переменные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семафоры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организовать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 и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межпроцессные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создания</a:t>
            </a:r>
            <a:r>
              <a:rPr lang="en-US" dirty="0"/>
              <a:t> Shared Memory </a:t>
            </a:r>
            <a:r>
              <a:rPr lang="en-US" dirty="0" err="1"/>
              <a:t>воспользуемся</a:t>
            </a:r>
            <a:r>
              <a:rPr lang="en-US" dirty="0"/>
              <a:t> POSIX Message Queue.</a:t>
            </a:r>
          </a:p>
          <a:p>
            <a:endParaRPr lang="en-US" dirty="0"/>
          </a:p>
          <a:p>
            <a:r>
              <a:rPr lang="en-US" dirty="0" err="1"/>
              <a:t>Пусть</a:t>
            </a:r>
            <a:r>
              <a:rPr lang="en-US" dirty="0"/>
              <a:t> </a:t>
            </a:r>
            <a:r>
              <a:rPr lang="en-US" dirty="0" err="1"/>
              <a:t>процесс-производитель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задания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.</a:t>
            </a:r>
          </a:p>
          <a:p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задание</a:t>
            </a:r>
            <a:r>
              <a:rPr lang="en-US" dirty="0"/>
              <a:t> </a:t>
            </a:r>
            <a:r>
              <a:rPr lang="en-US" dirty="0" err="1"/>
              <a:t>представлено</a:t>
            </a:r>
            <a:r>
              <a:rPr lang="en-US" dirty="0"/>
              <a:t> </a:t>
            </a:r>
            <a:r>
              <a:rPr lang="en-US" dirty="0" err="1"/>
              <a:t>отдельным</a:t>
            </a:r>
            <a:r>
              <a:rPr lang="en-US" dirty="0"/>
              <a:t> </a:t>
            </a:r>
            <a:r>
              <a:rPr lang="en-US" dirty="0" err="1"/>
              <a:t>сообщением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отправки</a:t>
            </a:r>
            <a:r>
              <a:rPr lang="en-US" dirty="0"/>
              <a:t> </a:t>
            </a:r>
            <a:r>
              <a:rPr lang="en-US" dirty="0" err="1"/>
              <a:t>производитель</a:t>
            </a:r>
            <a:r>
              <a:rPr lang="en-US" dirty="0"/>
              <a:t> </a:t>
            </a:r>
            <a:r>
              <a:rPr lang="en-US" dirty="0" err="1"/>
              <a:t>открывает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-tasks</a:t>
            </a:r>
            <a:r>
              <a:rPr lang="en-US" dirty="0"/>
              <a:t> и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mq_send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отправляется</a:t>
            </a:r>
            <a:r>
              <a:rPr lang="en-US" dirty="0"/>
              <a:t> </a:t>
            </a:r>
            <a:r>
              <a:rPr lang="en-US" dirty="0" err="1"/>
              <a:t>сообщение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JOB-42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заполнена</a:t>
            </a:r>
            <a:r>
              <a:rPr lang="en-US" dirty="0"/>
              <a:t>, </a:t>
            </a:r>
            <a:r>
              <a:rPr lang="en-US" dirty="0" err="1"/>
              <a:t>сообщение</a:t>
            </a:r>
            <a:r>
              <a:rPr lang="en-US" dirty="0"/>
              <a:t> </a:t>
            </a:r>
            <a:r>
              <a:rPr lang="en-US" dirty="0" err="1"/>
              <a:t>помещается</a:t>
            </a:r>
            <a:r>
              <a:rPr lang="en-US" dirty="0"/>
              <a:t> в </a:t>
            </a:r>
            <a:r>
              <a:rPr lang="en-US" dirty="0" err="1"/>
              <a:t>неё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заполнена</a:t>
            </a:r>
            <a:r>
              <a:rPr lang="en-US" dirty="0"/>
              <a:t>, </a:t>
            </a:r>
            <a:r>
              <a:rPr lang="en-US" dirty="0" err="1"/>
              <a:t>производитель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умолчанию</a:t>
            </a:r>
            <a:r>
              <a:rPr lang="en-US" dirty="0"/>
              <a:t> </a:t>
            </a:r>
            <a:r>
              <a:rPr lang="en-US" dirty="0" err="1"/>
              <a:t>блокируется</a:t>
            </a:r>
            <a:r>
              <a:rPr lang="en-US" dirty="0"/>
              <a:t> и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dirty="0" err="1"/>
              <a:t>свободного</a:t>
            </a:r>
            <a:r>
              <a:rPr lang="en-US" dirty="0"/>
              <a:t> </a:t>
            </a:r>
            <a:r>
              <a:rPr lang="en-US" dirty="0" err="1"/>
              <a:t>места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Процесс-потребитель</a:t>
            </a:r>
            <a:r>
              <a:rPr lang="en-US" dirty="0"/>
              <a:t> </a:t>
            </a:r>
            <a:r>
              <a:rPr lang="en-US" dirty="0" err="1"/>
              <a:t>открывает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и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mq_receive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сообщение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доступно</a:t>
            </a:r>
            <a:r>
              <a:rPr lang="en-US" dirty="0"/>
              <a:t>,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копируется</a:t>
            </a:r>
            <a:r>
              <a:rPr lang="en-US" dirty="0"/>
              <a:t> в </a:t>
            </a:r>
            <a:r>
              <a:rPr lang="en-US" dirty="0" err="1"/>
              <a:t>пользовательский</a:t>
            </a:r>
            <a:r>
              <a:rPr lang="en-US" dirty="0"/>
              <a:t> </a:t>
            </a:r>
            <a:r>
              <a:rPr lang="en-US" dirty="0" err="1"/>
              <a:t>буфер</a:t>
            </a:r>
            <a:r>
              <a:rPr lang="en-US" dirty="0"/>
              <a:t> </a:t>
            </a:r>
            <a:r>
              <a:rPr lang="en-US" dirty="0" err="1"/>
              <a:t>потребителя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,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блокируется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индексами</a:t>
            </a:r>
            <a:r>
              <a:rPr lang="en-US" dirty="0"/>
              <a:t> </a:t>
            </a:r>
            <a:r>
              <a:rPr lang="en-US" dirty="0" err="1"/>
              <a:t>кольцевого</a:t>
            </a:r>
            <a:r>
              <a:rPr lang="en-US" dirty="0"/>
              <a:t> </a:t>
            </a:r>
            <a:r>
              <a:rPr lang="en-US" dirty="0" err="1"/>
              <a:t>буфера</a:t>
            </a:r>
            <a:r>
              <a:rPr lang="en-US" dirty="0"/>
              <a:t>, </a:t>
            </a:r>
            <a:r>
              <a:rPr lang="en-US" dirty="0" err="1"/>
              <a:t>счётчиком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 и </a:t>
            </a:r>
            <a:r>
              <a:rPr lang="en-US" dirty="0" err="1"/>
              <a:t>мьютексом</a:t>
            </a:r>
            <a:r>
              <a:rPr lang="en-US" dirty="0"/>
              <a:t>, </a:t>
            </a:r>
            <a:r>
              <a:rPr lang="en-US" dirty="0" err="1"/>
              <a:t>защищающим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внутреннее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POSIX Message Queue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разным</a:t>
            </a:r>
            <a:r>
              <a:rPr lang="en-US" dirty="0"/>
              <a:t> </a:t>
            </a:r>
            <a:r>
              <a:rPr lang="en-US" dirty="0" err="1"/>
              <a:t>независимым</a:t>
            </a:r>
            <a:r>
              <a:rPr lang="en-US" dirty="0"/>
              <a:t> </a:t>
            </a:r>
            <a:r>
              <a:rPr lang="en-US" dirty="0" err="1"/>
              <a:t>процессам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очередью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производителей</a:t>
            </a:r>
            <a:r>
              <a:rPr lang="en-US" dirty="0"/>
              <a:t> </a:t>
            </a:r>
            <a:r>
              <a:rPr lang="en-US" dirty="0" err="1"/>
              <a:t>заданий</a:t>
            </a:r>
            <a:r>
              <a:rPr lang="en-US" dirty="0"/>
              <a:t> и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процессов-обработчиков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Передача</a:t>
            </a:r>
            <a:r>
              <a:rPr lang="en-US" dirty="0"/>
              <a:t> </a:t>
            </a:r>
            <a:r>
              <a:rPr lang="en-US" dirty="0" err="1"/>
              <a:t>сообщения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предполагает</a:t>
            </a:r>
            <a:r>
              <a:rPr lang="en-US" dirty="0"/>
              <a:t> </a:t>
            </a:r>
            <a:r>
              <a:rPr lang="en-US" dirty="0" err="1"/>
              <a:t>копирование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в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в </a:t>
            </a:r>
            <a:r>
              <a:rPr lang="en-US" dirty="0" err="1"/>
              <a:t>буфер</a:t>
            </a:r>
            <a:r>
              <a:rPr lang="en-US" dirty="0"/>
              <a:t> </a:t>
            </a:r>
            <a:r>
              <a:rPr lang="en-US" dirty="0" err="1"/>
              <a:t>получателя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размеры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 и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ограничены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POSIX Message Queues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подходят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, </a:t>
            </a:r>
            <a:r>
              <a:rPr lang="en-US" dirty="0" err="1"/>
              <a:t>событий</a:t>
            </a:r>
            <a:r>
              <a:rPr lang="en-US" dirty="0"/>
              <a:t> и </a:t>
            </a:r>
            <a:r>
              <a:rPr lang="en-US" dirty="0" err="1"/>
              <a:t>сравнительно</a:t>
            </a:r>
            <a:r>
              <a:rPr lang="en-US" dirty="0"/>
              <a:t> </a:t>
            </a:r>
            <a:r>
              <a:rPr lang="en-US" dirty="0" err="1"/>
              <a:t>небольших</a:t>
            </a:r>
            <a:r>
              <a:rPr lang="en-US" dirty="0"/>
              <a:t> </a:t>
            </a:r>
            <a:r>
              <a:rPr lang="en-US" dirty="0" err="1"/>
              <a:t>заданий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процессам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обмениваться</a:t>
            </a:r>
            <a:r>
              <a:rPr lang="en-US" dirty="0"/>
              <a:t> </a:t>
            </a:r>
            <a:r>
              <a:rPr lang="en-US" dirty="0" err="1"/>
              <a:t>большими</a:t>
            </a:r>
            <a:r>
              <a:rPr lang="en-US" dirty="0"/>
              <a:t> </a:t>
            </a:r>
            <a:r>
              <a:rPr lang="en-US" dirty="0" err="1"/>
              <a:t>массивами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Shared Memory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эффективной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последнее</a:t>
            </a:r>
            <a:r>
              <a:rPr lang="en-US" dirty="0"/>
              <a:t> </a:t>
            </a:r>
            <a:r>
              <a:rPr lang="en-US" dirty="0" err="1"/>
              <a:t>замечание</a:t>
            </a:r>
            <a:r>
              <a:rPr lang="en-US" dirty="0"/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mq_receive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возвращает</a:t>
            </a:r>
            <a:r>
              <a:rPr lang="en-US" dirty="0"/>
              <a:t> </a:t>
            </a:r>
            <a:r>
              <a:rPr lang="en-US" dirty="0" err="1"/>
              <a:t>реальное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полученных</a:t>
            </a:r>
            <a:r>
              <a:rPr lang="en-US" dirty="0"/>
              <a:t> </a:t>
            </a:r>
            <a:r>
              <a:rPr lang="en-US" dirty="0" err="1"/>
              <a:t>байтов</a:t>
            </a:r>
            <a:r>
              <a:rPr lang="en-US" dirty="0"/>
              <a:t>. </a:t>
            </a:r>
            <a:r>
              <a:rPr lang="en-US" dirty="0" err="1"/>
              <a:t>Полученные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строкой</a:t>
            </a:r>
            <a:r>
              <a:rPr lang="en-US" dirty="0"/>
              <a:t> C с </a:t>
            </a:r>
            <a:r>
              <a:rPr lang="en-US" dirty="0" err="1"/>
              <a:t>завершающим</a:t>
            </a:r>
            <a:r>
              <a:rPr lang="en-US" dirty="0"/>
              <a:t> </a:t>
            </a:r>
            <a:r>
              <a:rPr lang="en-US" dirty="0" err="1"/>
              <a:t>нулём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обработке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возвращённую</a:t>
            </a:r>
            <a:r>
              <a:rPr lang="en-US" dirty="0"/>
              <a:t> </a:t>
            </a:r>
            <a:r>
              <a:rPr lang="en-US" dirty="0" err="1"/>
              <a:t>длину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1896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Остался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межпроцессной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встречается</a:t>
            </a:r>
            <a:r>
              <a:rPr lang="en-US" dirty="0"/>
              <a:t> в </a:t>
            </a:r>
            <a:r>
              <a:rPr lang="en-US" dirty="0" err="1"/>
              <a:t>практических</a:t>
            </a:r>
            <a:r>
              <a:rPr lang="en-US" dirty="0"/>
              <a:t> </a:t>
            </a:r>
            <a:r>
              <a:rPr lang="en-US" dirty="0" err="1"/>
              <a:t>приложениях</a:t>
            </a:r>
            <a:r>
              <a:rPr lang="en-US" dirty="0"/>
              <a:t>, — </a:t>
            </a:r>
            <a:r>
              <a:rPr lang="en-US" dirty="0" err="1"/>
              <a:t>файловые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экземпляра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пытаются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 </a:t>
            </a:r>
            <a:r>
              <a:rPr lang="en-US" dirty="0" err="1"/>
              <a:t>конфигурации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прочитают</a:t>
            </a:r>
            <a:r>
              <a:rPr lang="en-US" dirty="0"/>
              <a:t> </a:t>
            </a:r>
            <a:r>
              <a:rPr lang="en-US" dirty="0" err="1"/>
              <a:t>старое</a:t>
            </a:r>
            <a:r>
              <a:rPr lang="en-US" dirty="0"/>
              <a:t> </a:t>
            </a:r>
            <a:r>
              <a:rPr lang="en-US" dirty="0" err="1"/>
              <a:t>содержимое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внесут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и </a:t>
            </a:r>
            <a:r>
              <a:rPr lang="en-US" dirty="0" err="1"/>
              <a:t>запишут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,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обновлений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потеряться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похожа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гонки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доступе</a:t>
            </a:r>
            <a:r>
              <a:rPr lang="en-US" dirty="0"/>
              <a:t> к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а </a:t>
            </a:r>
            <a:r>
              <a:rPr lang="en-US" dirty="0" err="1"/>
              <a:t>файл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Linux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, </a:t>
            </a:r>
            <a:r>
              <a:rPr lang="en-US" dirty="0" err="1"/>
              <a:t>позволяющие</a:t>
            </a:r>
            <a:r>
              <a:rPr lang="en-US" dirty="0"/>
              <a:t> </a:t>
            </a:r>
            <a:r>
              <a:rPr lang="en-US" dirty="0" err="1"/>
              <a:t>процессам</a:t>
            </a:r>
            <a:r>
              <a:rPr lang="en-US" dirty="0"/>
              <a:t> </a:t>
            </a:r>
            <a:r>
              <a:rPr lang="en-US" dirty="0" err="1"/>
              <a:t>договориться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исключительном</a:t>
            </a:r>
            <a:r>
              <a:rPr lang="en-US" dirty="0"/>
              <a:t> </a:t>
            </a:r>
            <a:r>
              <a:rPr lang="en-US" dirty="0" err="1"/>
              <a:t>доступе</a:t>
            </a:r>
            <a:r>
              <a:rPr lang="en-US" dirty="0"/>
              <a:t> к </a:t>
            </a:r>
            <a:r>
              <a:rPr lang="en-US" dirty="0" err="1"/>
              <a:t>файлу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самых</a:t>
            </a:r>
            <a:r>
              <a:rPr lang="en-US" dirty="0"/>
              <a:t> </a:t>
            </a:r>
            <a:r>
              <a:rPr lang="en-US" dirty="0" err="1"/>
              <a:t>простых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flock()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режима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.</a:t>
            </a:r>
          </a:p>
          <a:p>
            <a:r>
              <a:rPr lang="en-US" dirty="0" err="1"/>
              <a:t>Первый</a:t>
            </a:r>
            <a:r>
              <a:rPr lang="en-US" dirty="0"/>
              <a:t> — Shared Lock,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LOCK_SH</a:t>
            </a:r>
            <a:r>
              <a:rPr lang="en-US" dirty="0"/>
              <a:t>.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удерживать</a:t>
            </a:r>
            <a:r>
              <a:rPr lang="en-US" dirty="0"/>
              <a:t> </a:t>
            </a:r>
            <a:r>
              <a:rPr lang="en-US" dirty="0" err="1"/>
              <a:t>совместную</a:t>
            </a:r>
            <a:r>
              <a:rPr lang="en-US" dirty="0"/>
              <a:t> </a:t>
            </a:r>
            <a:r>
              <a:rPr lang="en-US" dirty="0" err="1"/>
              <a:t>блокировку</a:t>
            </a:r>
            <a:r>
              <a:rPr lang="en-US" dirty="0"/>
              <a:t>.</a:t>
            </a:r>
          </a:p>
          <a:p>
            <a:r>
              <a:rPr lang="en-US" dirty="0" err="1"/>
              <a:t>Второй</a:t>
            </a:r>
            <a:r>
              <a:rPr lang="en-US" dirty="0"/>
              <a:t> — Exclusive Lock,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LOCK_EX</a:t>
            </a:r>
            <a:r>
              <a:rPr lang="en-US" dirty="0"/>
              <a:t>.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блокировка</a:t>
            </a:r>
            <a:r>
              <a:rPr lang="en-US" dirty="0"/>
              <a:t> </a:t>
            </a:r>
            <a:r>
              <a:rPr lang="en-US" dirty="0" err="1"/>
              <a:t>несовместима</a:t>
            </a:r>
            <a:r>
              <a:rPr lang="en-US" dirty="0"/>
              <a:t> с </a:t>
            </a:r>
            <a:r>
              <a:rPr lang="en-US" dirty="0" err="1"/>
              <a:t>другими</a:t>
            </a:r>
            <a:r>
              <a:rPr lang="en-US" dirty="0"/>
              <a:t> </a:t>
            </a:r>
            <a:r>
              <a:rPr lang="en-US" dirty="0" err="1"/>
              <a:t>блокировками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файла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заблокирован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процессом</a:t>
            </a:r>
            <a:r>
              <a:rPr lang="en-US" dirty="0"/>
              <a:t>,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flock()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умолчанию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освобождения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и </a:t>
            </a:r>
            <a:r>
              <a:rPr lang="en-US" dirty="0" err="1"/>
              <a:t>неблокирующий</a:t>
            </a:r>
            <a:r>
              <a:rPr lang="en-US" dirty="0"/>
              <a:t> </a:t>
            </a:r>
            <a:r>
              <a:rPr lang="en-US" dirty="0" err="1"/>
              <a:t>режим</a:t>
            </a:r>
            <a:r>
              <a:rPr lang="en-US" dirty="0"/>
              <a:t>, </a:t>
            </a:r>
            <a:r>
              <a:rPr lang="en-US" dirty="0" err="1"/>
              <a:t>добавив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LOCK_NB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открывается</a:t>
            </a:r>
            <a:r>
              <a:rPr lang="en-US" dirty="0"/>
              <a:t> </a:t>
            </a:r>
            <a:r>
              <a:rPr lang="en-US" dirty="0" err="1"/>
              <a:t>специальный</a:t>
            </a:r>
            <a:r>
              <a:rPr lang="en-US" dirty="0"/>
              <a:t> lock-</a:t>
            </a:r>
            <a:r>
              <a:rPr lang="en-US" dirty="0" err="1"/>
              <a:t>файл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tmp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app.lock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dirty="0" err="1"/>
              <a:t>исключительную</a:t>
            </a:r>
            <a:r>
              <a:rPr lang="en-US" dirty="0"/>
              <a:t> </a:t>
            </a:r>
            <a:r>
              <a:rPr lang="en-US" dirty="0" err="1"/>
              <a:t>блокировку</a:t>
            </a:r>
            <a:r>
              <a:rPr lang="en-US" dirty="0"/>
              <a:t>, </a:t>
            </a:r>
            <a:r>
              <a:rPr lang="en-US" dirty="0" err="1"/>
              <a:t>изменяет</a:t>
            </a:r>
            <a:r>
              <a:rPr lang="en-US" dirty="0"/>
              <a:t> </a:t>
            </a:r>
            <a:r>
              <a:rPr lang="en-US" dirty="0" err="1"/>
              <a:t>конфигурацию</a:t>
            </a:r>
            <a:r>
              <a:rPr lang="en-US" dirty="0"/>
              <a:t> и </a:t>
            </a:r>
            <a:r>
              <a:rPr lang="en-US" dirty="0" err="1"/>
              <a:t>освобождает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блокировать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 с </a:t>
            </a:r>
            <a:r>
              <a:rPr lang="en-US" dirty="0" err="1"/>
              <a:t>данными</a:t>
            </a:r>
            <a:r>
              <a:rPr lang="en-US" dirty="0"/>
              <a:t>, а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lock-</a:t>
            </a:r>
            <a:r>
              <a:rPr lang="en-US" dirty="0" err="1"/>
              <a:t>файл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взаимодействующие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соблюдают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протокол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мьютексов</a:t>
            </a:r>
            <a:r>
              <a:rPr lang="en-US" dirty="0"/>
              <a:t>, </a:t>
            </a:r>
            <a:r>
              <a:rPr lang="en-US" dirty="0" err="1"/>
              <a:t>защищающих</a:t>
            </a:r>
            <a:r>
              <a:rPr lang="en-US" dirty="0"/>
              <a:t> </a:t>
            </a:r>
            <a:r>
              <a:rPr lang="en-US" dirty="0" err="1"/>
              <a:t>обычную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Файловые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 в Linux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рекомендательный</a:t>
            </a:r>
            <a:r>
              <a:rPr lang="en-US" dirty="0"/>
              <a:t> </a:t>
            </a:r>
            <a:r>
              <a:rPr lang="en-US" dirty="0" err="1"/>
              <a:t>характер</a:t>
            </a:r>
            <a:r>
              <a:rPr lang="en-US" dirty="0"/>
              <a:t> — Advisory Locking.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запрещает</a:t>
            </a:r>
            <a:r>
              <a:rPr lang="en-US" dirty="0"/>
              <a:t> </a:t>
            </a:r>
            <a:r>
              <a:rPr lang="en-US" dirty="0" err="1"/>
              <a:t>произвольной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открыть</a:t>
            </a:r>
            <a:r>
              <a:rPr lang="en-US" dirty="0"/>
              <a:t> и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,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вызвала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flock()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полезен</a:t>
            </a:r>
            <a:r>
              <a:rPr lang="en-US" dirty="0"/>
              <a:t>,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участники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договориться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.</a:t>
            </a:r>
          </a:p>
          <a:p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особенность</a:t>
            </a:r>
            <a:r>
              <a:rPr lang="en-US" dirty="0"/>
              <a:t> Linux: </a:t>
            </a:r>
            <a:r>
              <a:rPr lang="en-US" dirty="0" err="1"/>
              <a:t>блокировки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flock()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 с </a:t>
            </a:r>
            <a:r>
              <a:rPr lang="en-US" dirty="0" err="1"/>
              <a:t>открытым</a:t>
            </a:r>
            <a:r>
              <a:rPr lang="en-US" dirty="0"/>
              <a:t> </a:t>
            </a:r>
            <a:r>
              <a:rPr lang="en-US" dirty="0" err="1"/>
              <a:t>файловым</a:t>
            </a:r>
            <a:r>
              <a:rPr lang="en-US" dirty="0"/>
              <a:t> </a:t>
            </a:r>
            <a:r>
              <a:rPr lang="en-US" dirty="0" err="1"/>
              <a:t>описанием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Дескрипторы</a:t>
            </a:r>
            <a:r>
              <a:rPr lang="en-US" dirty="0"/>
              <a:t>, </a:t>
            </a:r>
            <a:r>
              <a:rPr lang="en-US" dirty="0" err="1"/>
              <a:t>полученные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dup()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унаследованные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,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ссылаться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блокировку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освобождается</a:t>
            </a:r>
            <a:r>
              <a:rPr lang="en-US" dirty="0"/>
              <a:t> </a:t>
            </a:r>
            <a:r>
              <a:rPr lang="en-US" dirty="0" err="1"/>
              <a:t>явно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LOCK_UN</a:t>
            </a:r>
            <a:r>
              <a:rPr lang="en-US" dirty="0"/>
              <a:t> </a:t>
            </a:r>
            <a:r>
              <a:rPr lang="en-US" dirty="0" err="1"/>
              <a:t>либо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закрытия</a:t>
            </a:r>
            <a:r>
              <a:rPr lang="en-US" dirty="0"/>
              <a:t> </a:t>
            </a:r>
            <a:r>
              <a:rPr lang="en-US" dirty="0" err="1"/>
              <a:t>последней</a:t>
            </a:r>
            <a:r>
              <a:rPr lang="en-US" dirty="0"/>
              <a:t> </a:t>
            </a:r>
            <a:r>
              <a:rPr lang="en-US" dirty="0" err="1"/>
              <a:t>соответствующей</a:t>
            </a:r>
            <a:r>
              <a:rPr lang="en-US" dirty="0"/>
              <a:t> </a:t>
            </a:r>
            <a:r>
              <a:rPr lang="en-US" dirty="0" err="1"/>
              <a:t>ссылки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fcntl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варианты</a:t>
            </a:r>
            <a:r>
              <a:rPr lang="en-US" dirty="0"/>
              <a:t> </a:t>
            </a:r>
            <a:r>
              <a:rPr lang="en-US" dirty="0" err="1"/>
              <a:t>файловых</a:t>
            </a:r>
            <a:r>
              <a:rPr lang="en-US" dirty="0"/>
              <a:t> </a:t>
            </a:r>
            <a:r>
              <a:rPr lang="en-US" dirty="0" err="1"/>
              <a:t>блокировок</a:t>
            </a:r>
            <a:r>
              <a:rPr lang="en-US" dirty="0"/>
              <a:t>, </a:t>
            </a:r>
            <a:r>
              <a:rPr lang="en-US" dirty="0" err="1"/>
              <a:t>включая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с </a:t>
            </a:r>
            <a:r>
              <a:rPr lang="en-US" dirty="0" err="1"/>
              <a:t>диапазонами</a:t>
            </a:r>
            <a:r>
              <a:rPr lang="en-US" dirty="0"/>
              <a:t> </a:t>
            </a:r>
            <a:r>
              <a:rPr lang="en-US" dirty="0" err="1"/>
              <a:t>байтов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большинства</a:t>
            </a:r>
            <a:r>
              <a:rPr lang="en-US" dirty="0"/>
              <a:t> </a:t>
            </a:r>
            <a:r>
              <a:rPr lang="en-US" dirty="0" err="1"/>
              <a:t>учебных</a:t>
            </a:r>
            <a:r>
              <a:rPr lang="en-US" dirty="0"/>
              <a:t> </a:t>
            </a:r>
            <a:r>
              <a:rPr lang="en-US" dirty="0" err="1"/>
              <a:t>примеров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flock()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понимания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1024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Подведём</a:t>
            </a:r>
            <a:r>
              <a:rPr lang="en-US" dirty="0"/>
              <a:t> </a:t>
            </a:r>
            <a:r>
              <a:rPr lang="en-US" dirty="0" err="1"/>
              <a:t>итог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раздела</a:t>
            </a:r>
            <a:r>
              <a:rPr lang="en-US" dirty="0"/>
              <a:t> о </a:t>
            </a:r>
            <a:r>
              <a:rPr lang="en-US" dirty="0" err="1"/>
              <a:t>межпроцессном</a:t>
            </a:r>
            <a:r>
              <a:rPr lang="en-US" dirty="0"/>
              <a:t> </a:t>
            </a:r>
            <a:r>
              <a:rPr lang="en-US" dirty="0" err="1"/>
              <a:t>взаимодействии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познакомились</a:t>
            </a:r>
            <a:r>
              <a:rPr lang="en-US" dirty="0"/>
              <a:t> с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механизмами</a:t>
            </a:r>
            <a:r>
              <a:rPr lang="en-US" dirty="0"/>
              <a:t> Linux и </a:t>
            </a:r>
            <a:r>
              <a:rPr lang="en-US" dirty="0" err="1"/>
              <a:t>увидели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решают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— Shared Memory.</a:t>
            </a:r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главное</a:t>
            </a:r>
            <a:r>
              <a:rPr lang="en-US" dirty="0"/>
              <a:t> </a:t>
            </a:r>
            <a:r>
              <a:rPr lang="en-US" dirty="0" err="1"/>
              <a:t>преимущество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одними</a:t>
            </a:r>
            <a:r>
              <a:rPr lang="en-US" dirty="0"/>
              <a:t> и </a:t>
            </a:r>
            <a:r>
              <a:rPr lang="en-US" dirty="0" err="1"/>
              <a:t>теми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физическими</a:t>
            </a:r>
            <a:r>
              <a:rPr lang="en-US" dirty="0"/>
              <a:t> </a:t>
            </a:r>
            <a:r>
              <a:rPr lang="en-US" dirty="0" err="1"/>
              <a:t>страницами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обмене</a:t>
            </a:r>
            <a:r>
              <a:rPr lang="en-US" dirty="0"/>
              <a:t> </a:t>
            </a:r>
            <a:r>
              <a:rPr lang="en-US" dirty="0" err="1"/>
              <a:t>большими</a:t>
            </a:r>
            <a:r>
              <a:rPr lang="en-US" dirty="0"/>
              <a:t> </a:t>
            </a:r>
            <a:r>
              <a:rPr lang="en-US" dirty="0" err="1"/>
              <a:t>объёмами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удобство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платить</a:t>
            </a:r>
            <a:r>
              <a:rPr lang="en-US" dirty="0"/>
              <a:t> </a:t>
            </a:r>
            <a:r>
              <a:rPr lang="en-US" dirty="0" err="1"/>
              <a:t>дополнительной</a:t>
            </a:r>
            <a:r>
              <a:rPr lang="en-US" dirty="0"/>
              <a:t> </a:t>
            </a:r>
            <a:r>
              <a:rPr lang="en-US" dirty="0" err="1"/>
              <a:t>сложностью</a:t>
            </a:r>
            <a:r>
              <a:rPr lang="en-US" dirty="0"/>
              <a:t>.</a:t>
            </a:r>
          </a:p>
          <a:p>
            <a:r>
              <a:rPr lang="en-US" dirty="0" err="1"/>
              <a:t>Программист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организовать</a:t>
            </a:r>
            <a:r>
              <a:rPr lang="en-US" dirty="0"/>
              <a:t> </a:t>
            </a:r>
            <a:r>
              <a:rPr lang="en-US" dirty="0" err="1"/>
              <a:t>синхронизацию</a:t>
            </a:r>
            <a:r>
              <a:rPr lang="en-US" dirty="0"/>
              <a:t>, </a:t>
            </a:r>
            <a:r>
              <a:rPr lang="en-US" dirty="0" err="1"/>
              <a:t>определить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и </a:t>
            </a:r>
            <a:r>
              <a:rPr lang="en-US" dirty="0" err="1"/>
              <a:t>обеспечить</a:t>
            </a:r>
            <a:r>
              <a:rPr lang="en-US" dirty="0"/>
              <a:t> </a:t>
            </a:r>
            <a:r>
              <a:rPr lang="en-US" dirty="0" err="1"/>
              <a:t>корректный</a:t>
            </a:r>
            <a:r>
              <a:rPr lang="en-US" dirty="0"/>
              <a:t> </a:t>
            </a:r>
            <a:r>
              <a:rPr lang="en-US" dirty="0" err="1"/>
              <a:t>жизненный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рассмотрели</a:t>
            </a:r>
            <a:r>
              <a:rPr lang="en-US" dirty="0"/>
              <a:t> process-shared mutex и POSIX-</a:t>
            </a:r>
            <a:r>
              <a:rPr lang="en-US" dirty="0" err="1"/>
              <a:t>семафоры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решать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аварийном</a:t>
            </a:r>
            <a:r>
              <a:rPr lang="en-US" dirty="0"/>
              <a:t> </a:t>
            </a:r>
            <a:r>
              <a:rPr lang="en-US" dirty="0" err="1"/>
              <a:t>завершении</a:t>
            </a:r>
            <a:r>
              <a:rPr lang="en-US" dirty="0"/>
              <a:t> </a:t>
            </a:r>
            <a:r>
              <a:rPr lang="en-US" dirty="0" err="1"/>
              <a:t>участника</a:t>
            </a:r>
            <a:r>
              <a:rPr lang="en-US" dirty="0"/>
              <a:t>, </a:t>
            </a:r>
            <a:r>
              <a:rPr lang="en-US" dirty="0" err="1"/>
              <a:t>удерживающего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и </a:t>
            </a:r>
            <a:r>
              <a:rPr lang="en-US" dirty="0" err="1"/>
              <a:t>познакомились</a:t>
            </a:r>
            <a:r>
              <a:rPr lang="en-US" dirty="0"/>
              <a:t> с Robust Mutex.</a:t>
            </a:r>
          </a:p>
          <a:p>
            <a:endParaRPr lang="en-US" dirty="0"/>
          </a:p>
          <a:p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— Message Passing.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прямого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к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структуре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отправки</a:t>
            </a:r>
            <a:r>
              <a:rPr lang="en-US" dirty="0"/>
              <a:t> и </a:t>
            </a:r>
            <a:r>
              <a:rPr lang="en-US" dirty="0" err="1"/>
              <a:t>получения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взаимодействовать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Unix Domain Sockets </a:t>
            </a:r>
            <a:r>
              <a:rPr lang="en-US" dirty="0" err="1"/>
              <a:t>или</a:t>
            </a:r>
            <a:r>
              <a:rPr lang="en-US" dirty="0"/>
              <a:t> POSIX Message Queues.</a:t>
            </a:r>
          </a:p>
          <a:p>
            <a:r>
              <a:rPr lang="en-US" dirty="0"/>
              <a:t>В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случаях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обязано</a:t>
            </a:r>
            <a:r>
              <a:rPr lang="en-US" dirty="0"/>
              <a:t> </a:t>
            </a:r>
            <a:r>
              <a:rPr lang="en-US" dirty="0" err="1"/>
              <a:t>вручную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внутренними</a:t>
            </a:r>
            <a:r>
              <a:rPr lang="en-US" dirty="0"/>
              <a:t> </a:t>
            </a:r>
            <a:r>
              <a:rPr lang="en-US" dirty="0" err="1"/>
              <a:t>индексами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 и </a:t>
            </a:r>
            <a:r>
              <a:rPr lang="en-US" dirty="0" err="1"/>
              <a:t>защищать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собственным</a:t>
            </a:r>
            <a:r>
              <a:rPr lang="en-US" dirty="0"/>
              <a:t> </a:t>
            </a:r>
            <a:r>
              <a:rPr lang="en-US" dirty="0" err="1"/>
              <a:t>мьютексом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: </a:t>
            </a:r>
            <a:r>
              <a:rPr lang="en-US" dirty="0" err="1"/>
              <a:t>определить</a:t>
            </a:r>
            <a:r>
              <a:rPr lang="en-US" dirty="0"/>
              <a:t> </a:t>
            </a:r>
            <a:r>
              <a:rPr lang="en-US" dirty="0" err="1"/>
              <a:t>формат</a:t>
            </a:r>
            <a:r>
              <a:rPr lang="en-US" dirty="0"/>
              <a:t> </a:t>
            </a:r>
            <a:r>
              <a:rPr lang="en-US" dirty="0" err="1"/>
              <a:t>сообщения</a:t>
            </a:r>
            <a:r>
              <a:rPr lang="en-US" dirty="0"/>
              <a:t>, </a:t>
            </a:r>
            <a:r>
              <a:rPr lang="en-US" dirty="0" err="1"/>
              <a:t>обработать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 </a:t>
            </a:r>
            <a:r>
              <a:rPr lang="en-US" dirty="0" err="1"/>
              <a:t>отсутствия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  <a:r>
              <a:rPr lang="en-US" dirty="0" err="1"/>
              <a:t>переполнение</a:t>
            </a:r>
            <a:r>
              <a:rPr lang="en-US" dirty="0"/>
              <a:t> </a:t>
            </a:r>
            <a:r>
              <a:rPr lang="en-US" dirty="0" err="1"/>
              <a:t>буферов</a:t>
            </a:r>
            <a:r>
              <a:rPr lang="en-US" dirty="0"/>
              <a:t>, </a:t>
            </a:r>
            <a:r>
              <a:rPr lang="en-US" dirty="0" err="1"/>
              <a:t>завершение</a:t>
            </a:r>
            <a:r>
              <a:rPr lang="en-US" dirty="0"/>
              <a:t> </a:t>
            </a:r>
            <a:r>
              <a:rPr lang="en-US" dirty="0" err="1"/>
              <a:t>соединения</a:t>
            </a:r>
            <a:r>
              <a:rPr lang="en-US" dirty="0"/>
              <a:t> и </a:t>
            </a:r>
            <a:r>
              <a:rPr lang="en-US" dirty="0" err="1"/>
              <a:t>ошибки</a:t>
            </a:r>
            <a:r>
              <a:rPr lang="en-US" dirty="0"/>
              <a:t> </a:t>
            </a:r>
            <a:r>
              <a:rPr lang="en-US" dirty="0" err="1"/>
              <a:t>системных</a:t>
            </a:r>
            <a:r>
              <a:rPr lang="en-US" dirty="0"/>
              <a:t> </a:t>
            </a:r>
            <a:r>
              <a:rPr lang="en-US" dirty="0" err="1"/>
              <a:t>вызовов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назвать</a:t>
            </a:r>
            <a:r>
              <a:rPr lang="en-US" dirty="0"/>
              <a:t> </a:t>
            </a:r>
            <a:r>
              <a:rPr lang="en-US" dirty="0" err="1"/>
              <a:t>универсально</a:t>
            </a:r>
            <a:r>
              <a:rPr lang="en-US" dirty="0"/>
              <a:t> </a:t>
            </a:r>
            <a:r>
              <a:rPr lang="en-US" dirty="0" err="1"/>
              <a:t>лучшим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двум</a:t>
            </a:r>
            <a:r>
              <a:rPr lang="en-US" dirty="0"/>
              <a:t> </a:t>
            </a:r>
            <a:r>
              <a:rPr lang="en-US" dirty="0" err="1"/>
              <a:t>процессам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совместно</a:t>
            </a:r>
            <a:r>
              <a:rPr lang="en-US" dirty="0"/>
              <a:t> </a:t>
            </a:r>
            <a:r>
              <a:rPr lang="en-US" dirty="0" err="1"/>
              <a:t>обрабатывать</a:t>
            </a:r>
            <a:r>
              <a:rPr lang="en-US" dirty="0"/>
              <a:t> </a:t>
            </a:r>
            <a:r>
              <a:rPr lang="en-US" dirty="0" err="1"/>
              <a:t>большой</a:t>
            </a:r>
            <a:r>
              <a:rPr lang="en-US" dirty="0"/>
              <a:t> </a:t>
            </a:r>
            <a:r>
              <a:rPr lang="en-US" dirty="0" err="1"/>
              <a:t>массив</a:t>
            </a:r>
            <a:r>
              <a:rPr lang="en-US" dirty="0"/>
              <a:t> </a:t>
            </a:r>
            <a:r>
              <a:rPr lang="en-US" dirty="0" err="1"/>
              <a:t>чисел</a:t>
            </a:r>
            <a:r>
              <a:rPr lang="en-US" dirty="0"/>
              <a:t>,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удобнее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Shared Memory.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отправлять</a:t>
            </a:r>
            <a:r>
              <a:rPr lang="en-US" dirty="0"/>
              <a:t> </a:t>
            </a:r>
            <a:r>
              <a:rPr lang="en-US" dirty="0" err="1"/>
              <a:t>другому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задания</a:t>
            </a:r>
            <a:r>
              <a:rPr lang="en-US" dirty="0"/>
              <a:t>, </a:t>
            </a:r>
            <a:r>
              <a:rPr lang="en-US" dirty="0" err="1"/>
              <a:t>обмен</a:t>
            </a:r>
            <a:r>
              <a:rPr lang="en-US" dirty="0"/>
              <a:t> </a:t>
            </a:r>
            <a:r>
              <a:rPr lang="en-US" dirty="0" err="1"/>
              <a:t>сообщениями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локальный</a:t>
            </a:r>
            <a:r>
              <a:rPr lang="en-US" dirty="0"/>
              <a:t> </a:t>
            </a:r>
            <a:r>
              <a:rPr lang="en-US" dirty="0" err="1"/>
              <a:t>клиент-серверный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, </a:t>
            </a:r>
            <a:r>
              <a:rPr lang="en-US" dirty="0" err="1"/>
              <a:t>хорошим</a:t>
            </a:r>
            <a:r>
              <a:rPr lang="en-US" dirty="0"/>
              <a:t> </a:t>
            </a:r>
            <a:r>
              <a:rPr lang="en-US" dirty="0" err="1"/>
              <a:t>выбором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оказывается</a:t>
            </a:r>
            <a:r>
              <a:rPr lang="en-US" dirty="0"/>
              <a:t> Unix Domain Socket.</a:t>
            </a:r>
          </a:p>
          <a:p>
            <a:r>
              <a:rPr lang="en-US" dirty="0"/>
              <a:t>А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изменяют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файловые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практике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IPC </a:t>
            </a:r>
            <a:r>
              <a:rPr lang="en-US" dirty="0" err="1"/>
              <a:t>нередко</a:t>
            </a:r>
            <a:r>
              <a:rPr lang="en-US" dirty="0"/>
              <a:t> </a:t>
            </a:r>
            <a:r>
              <a:rPr lang="en-US" dirty="0" err="1"/>
              <a:t>комбинируются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Unix Domain Socket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использоваться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файлового</a:t>
            </a:r>
            <a:r>
              <a:rPr lang="en-US" dirty="0"/>
              <a:t> </a:t>
            </a:r>
            <a:r>
              <a:rPr lang="en-US" dirty="0" err="1"/>
              <a:t>дескриптора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Shared Memory.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передаются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а </a:t>
            </a:r>
            <a:r>
              <a:rPr lang="en-US" dirty="0" err="1"/>
              <a:t>управляющие</a:t>
            </a:r>
            <a:r>
              <a:rPr lang="en-US" dirty="0"/>
              <a:t> </a:t>
            </a:r>
            <a:r>
              <a:rPr lang="en-US" dirty="0" err="1"/>
              <a:t>сообщения</a:t>
            </a:r>
            <a:r>
              <a:rPr lang="en-US" dirty="0"/>
              <a:t> —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сокет</a:t>
            </a:r>
            <a:r>
              <a:rPr lang="en-US" dirty="0"/>
              <a:t>.</a:t>
            </a:r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объединяем</a:t>
            </a:r>
            <a:r>
              <a:rPr lang="en-US" dirty="0"/>
              <a:t> </a:t>
            </a:r>
            <a:r>
              <a:rPr lang="en-US" dirty="0" err="1"/>
              <a:t>преимущества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подходов</a:t>
            </a:r>
            <a:r>
              <a:rPr lang="en-US" dirty="0"/>
              <a:t>.</a:t>
            </a:r>
          </a:p>
          <a:p>
            <a:r>
              <a:rPr lang="en-US" dirty="0" err="1"/>
              <a:t>Главный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: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проектировании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ответить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вопроса</a:t>
            </a:r>
            <a:r>
              <a:rPr lang="en-US" dirty="0"/>
              <a:t>: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согласуется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ним</a:t>
            </a:r>
            <a:r>
              <a:rPr lang="en-US" dirty="0"/>
              <a:t> и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завершении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участников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D5863-0D15-4019-A889-1D64C284DE50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34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17AC7-2E53-055A-8F5A-438AD0EBF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5C068E-3A82-DDBF-C373-E796BDB856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3E3D7-190C-6C5E-FCA8-091B76DBC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5A5CD-D9AE-4106-949D-71AE0FB253E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D2D9B-4D23-DE28-CFFC-1040FF685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372CE-A89B-F1E9-BAAB-B70B0BAD0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2A51E-64A3-4D54-8851-606C76AA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90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367C8-6EE5-EE31-42E7-5EC21D2FD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885C7-1210-0C98-105E-CE5FD1729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195FA-5F21-6B57-40CD-712E289A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5A5CD-D9AE-4106-949D-71AE0FB253E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27BAB-5910-FCB5-4752-5D19125C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A6793-0155-4C0A-6F93-ECA65E3D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2A51E-64A3-4D54-8851-606C76AA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71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CF63F-FF84-6061-492A-06DAD70C4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0EDB8-BBAB-3965-F2F2-51D7FD64B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E80EA-2AC0-F6DB-2236-86DAB6411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5A5CD-D9AE-4106-949D-71AE0FB253E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88784-F3DF-C742-1069-436029A76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117DC-A107-FF01-CDE4-CBF620B96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2A51E-64A3-4D54-8851-606C76AA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09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F8472-7F96-FF08-5294-85B6CF2A0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624FC-912E-B356-8EF8-9C160AFA88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C4286-270B-FF81-69D0-1848E8225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2CCE1-42EB-0A6E-6082-F4243633A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5A5CD-D9AE-4106-949D-71AE0FB253E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93476-25DA-A00D-2AD3-DC7DCF970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9892B-7627-B4AA-8CB6-F6E57D7E6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2A51E-64A3-4D54-8851-606C76AA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95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F8472-7F96-FF08-5294-85B6CF2A0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624FC-912E-B356-8EF8-9C160AFA88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6195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C4286-270B-FF81-69D0-1848E8225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0100" y="1825625"/>
            <a:ext cx="312420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2CCE1-42EB-0A6E-6082-F4243633A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5A5CD-D9AE-4106-949D-71AE0FB253E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93476-25DA-A00D-2AD3-DC7DCF970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9892B-7627-B4AA-8CB6-F6E57D7E6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2A51E-64A3-4D54-8851-606C76AA498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93FA7F2-FDDD-4684-9157-9CBCFDE9A8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886702" y="1825625"/>
            <a:ext cx="3467098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4717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BE221-918B-FBF1-897D-30D0FB054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ED452-B2C7-BA0F-1013-D839D3BAB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2480A-15F7-ED7D-8765-067E0C267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F53E63-1DE0-F8A1-E2CF-4449B06F57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2FF460-EB3B-DC2E-B251-CFFF127C7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5C48C5-D48D-AC05-872F-4879EB8F6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5A5CD-D9AE-4106-949D-71AE0FB253E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0F76BA-F203-FC90-7343-30EC7D60F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20C91B-4A21-1C95-A2FA-5562D02C0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2A51E-64A3-4D54-8851-606C76AA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4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DD6C2-B7B2-0B68-3E47-D85AF186F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E766CA-555A-91AA-A6C6-EE1CAB124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5A5CD-D9AE-4106-949D-71AE0FB253E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E9C57-58D0-A1F9-FE35-C93BFF4F8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0B5208-FC2D-8F87-83BC-06E38FA92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2A51E-64A3-4D54-8851-606C76AA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41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D20195-65D8-FDA8-90AE-C7095A9A4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5A5CD-D9AE-4106-949D-71AE0FB253E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4EB47A-A8E1-D480-5867-690A18153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48D6F-7A6F-969D-C155-7D623FF7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2A51E-64A3-4D54-8851-606C76AA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270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CA472-F62D-ED61-02AB-773AF49E3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ADD0B-2E8C-3BFD-F9E1-92498CEAC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A1CA84-78D1-426D-EC11-0A8AA29A8B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78492-5474-3DD5-E2E9-453789715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5A5CD-D9AE-4106-949D-71AE0FB253E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FA71F-D7C5-B425-6288-3F4E2B56B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227D0B-AAD4-B48C-829D-662B2FE6C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2A51E-64A3-4D54-8851-606C76AA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26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3B1F3-9D09-CE3C-757B-6913AC126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90B201-22EC-FAAC-B54C-65137B4ACA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4BDAA-A2D7-C06B-7249-686F0E7E3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36CF2-B5D1-DAD5-1D8A-0F687E791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5A5CD-D9AE-4106-949D-71AE0FB253E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60EFE-A7E8-51D5-3E73-08D641FCB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74E0C3-9CA5-DF4C-2247-E355F9B7A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2A51E-64A3-4D54-8851-606C76AA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C3644-EEC3-A392-18F6-77C47F90C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FFFCA4-0E46-6564-1C9E-2101936C4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D8640-FF61-C8E4-F953-89F58A754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5A5CD-D9AE-4106-949D-71AE0FB253E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30E93-544A-C496-AACD-FE2AE939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B26C3-C04D-4068-8947-2A0B61CD1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2A51E-64A3-4D54-8851-606C76AA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12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B3CEAB-BB46-50EF-14B1-7CEC3312D8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8BAB5-5A2A-1CF2-574C-4BE7AD7E1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1D5CB-460B-9435-1954-38B592C7C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5A5CD-D9AE-4106-949D-71AE0FB253E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170DA-F51A-5F01-B2B9-D8FAA95EE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AD448-A6EC-E280-19B0-DCE2B0C46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2A51E-64A3-4D54-8851-606C76AA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52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E8C5F2-3094-3178-8D3D-530B5E37F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23D5D-C7CC-51CA-D7BC-24750BD5A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0E1F7-5575-9F25-6D8B-E46CA4A56A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55A5CD-D9AE-4106-949D-71AE0FB253EE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23855-FB9B-6706-CBD2-2904694332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969B8-F610-6902-8B35-337059EB9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D2A51E-64A3-4D54-8851-606C76AA4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52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88dW3n6b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exey-malov/os-course/blob/main/lectures/05/samples/fair_rwlock/fair_rwlock.cpp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J3tg3EIrvPA" TargetMode="Externa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FC58D-D2CB-A57E-CBA9-24AEB6A7D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ru-RU" dirty="0"/>
              <a:t>Синхронизация</a:t>
            </a:r>
            <a:r>
              <a:rPr lang="en-US" dirty="0"/>
              <a:t> </a:t>
            </a:r>
            <a:r>
              <a:rPr lang="ru-RU" dirty="0"/>
              <a:t>потоков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2B891BE-724B-9135-424E-5D3D8473DD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502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708EE-5C41-FDF1-E499-F5BCE63A9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Слайд 1. Зачем нужна синхронизация?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1A985-D324-6AE0-B7B3-C7E15E12F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параллельной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и </a:t>
            </a:r>
            <a:r>
              <a:rPr lang="en-US" dirty="0" err="1"/>
              <a:t>процессов</a:t>
            </a:r>
            <a:r>
              <a:rPr lang="en-US" dirty="0"/>
              <a:t> </a:t>
            </a:r>
            <a:r>
              <a:rPr lang="en-US" dirty="0" err="1"/>
              <a:t>возникают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:</a:t>
            </a:r>
          </a:p>
          <a:p>
            <a:pPr lvl="1"/>
            <a:r>
              <a:rPr lang="en-US" b="1" dirty="0" err="1"/>
              <a:t>Передача</a:t>
            </a:r>
            <a:r>
              <a:rPr lang="en-US" b="1" dirty="0"/>
              <a:t> </a:t>
            </a:r>
            <a:r>
              <a:rPr lang="en-US" b="1" dirty="0" err="1"/>
              <a:t>данных</a:t>
            </a:r>
            <a:r>
              <a:rPr lang="en-US" dirty="0"/>
              <a:t> —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участник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 </a:t>
            </a:r>
            <a:r>
              <a:rPr lang="en-US" dirty="0" err="1"/>
              <a:t>другому</a:t>
            </a:r>
            <a:r>
              <a:rPr lang="en-US" dirty="0"/>
              <a:t>.</a:t>
            </a:r>
          </a:p>
          <a:p>
            <a:pPr lvl="1"/>
            <a:r>
              <a:rPr lang="en-US" b="1" dirty="0" err="1"/>
              <a:t>Взаимное</a:t>
            </a:r>
            <a:r>
              <a:rPr lang="en-US" b="1" dirty="0"/>
              <a:t> </a:t>
            </a:r>
            <a:r>
              <a:rPr lang="en-US" b="1" dirty="0" err="1"/>
              <a:t>исключение</a:t>
            </a:r>
            <a:r>
              <a:rPr lang="en-US" dirty="0"/>
              <a:t> — </a:t>
            </a:r>
            <a:r>
              <a:rPr lang="en-US" dirty="0" err="1"/>
              <a:t>предотвращение</a:t>
            </a:r>
            <a:r>
              <a:rPr lang="en-US" dirty="0"/>
              <a:t> </a:t>
            </a:r>
            <a:r>
              <a:rPr lang="en-US" dirty="0" err="1"/>
              <a:t>конфликтов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доступе</a:t>
            </a:r>
            <a:r>
              <a:rPr lang="en-US" dirty="0"/>
              <a:t> к </a:t>
            </a:r>
            <a:r>
              <a:rPr lang="en-US" dirty="0" err="1"/>
              <a:t>общим</a:t>
            </a:r>
            <a:r>
              <a:rPr lang="en-US" dirty="0"/>
              <a:t> </a:t>
            </a:r>
            <a:r>
              <a:rPr lang="en-US" dirty="0" err="1"/>
              <a:t>данным</a:t>
            </a:r>
            <a:r>
              <a:rPr lang="en-US" dirty="0"/>
              <a:t>.</a:t>
            </a:r>
          </a:p>
          <a:p>
            <a:pPr lvl="1"/>
            <a:r>
              <a:rPr lang="en-US" b="1" dirty="0" err="1"/>
              <a:t>Координация</a:t>
            </a:r>
            <a:r>
              <a:rPr lang="en-US" b="1" dirty="0"/>
              <a:t> </a:t>
            </a:r>
            <a:r>
              <a:rPr lang="en-US" b="1" dirty="0" err="1"/>
              <a:t>выполнения</a:t>
            </a:r>
            <a:r>
              <a:rPr lang="en-US" dirty="0"/>
              <a:t> — </a:t>
            </a:r>
            <a:r>
              <a:rPr lang="en-US" dirty="0" err="1"/>
              <a:t>соблюдение</a:t>
            </a:r>
            <a:r>
              <a:rPr lang="en-US" dirty="0"/>
              <a:t> </a:t>
            </a:r>
            <a:r>
              <a:rPr lang="en-US" dirty="0" err="1"/>
              <a:t>порядка</a:t>
            </a:r>
            <a:r>
              <a:rPr lang="en-US" dirty="0"/>
              <a:t> </a:t>
            </a:r>
            <a:r>
              <a:rPr lang="en-US" dirty="0" err="1"/>
              <a:t>зависимых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</a:t>
            </a:r>
          </a:p>
          <a:p>
            <a:r>
              <a:rPr lang="en-US" b="1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синхронизировать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ней</a:t>
            </a:r>
            <a:r>
              <a:rPr lang="en-US" dirty="0"/>
              <a:t>.</a:t>
            </a:r>
          </a:p>
          <a:p>
            <a:r>
              <a:rPr lang="en-US" b="1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изолированные</a:t>
            </a:r>
            <a:r>
              <a:rPr lang="en-US" dirty="0"/>
              <a:t> </a:t>
            </a:r>
            <a:r>
              <a:rPr lang="en-US" dirty="0" err="1"/>
              <a:t>адресные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 и </a:t>
            </a:r>
            <a:r>
              <a:rPr lang="en-US" dirty="0" err="1"/>
              <a:t>используют</a:t>
            </a:r>
            <a:r>
              <a:rPr lang="en-US" dirty="0"/>
              <a:t> IPC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обмена</a:t>
            </a:r>
            <a:r>
              <a:rPr lang="en-US" dirty="0"/>
              <a:t> </a:t>
            </a:r>
            <a:r>
              <a:rPr lang="en-US" dirty="0" err="1"/>
              <a:t>данными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583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A02A2-4DE5-F7B0-4951-FCAD64F3F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гонки</a:t>
            </a:r>
            <a:r>
              <a:rPr lang="en-US" dirty="0"/>
              <a:t> (Race Condition)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536D8-C282-306E-98D6-2A9BE3D7B3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Race condition </a:t>
            </a:r>
            <a:r>
              <a:rPr lang="en-US" dirty="0"/>
              <a:t>— </a:t>
            </a:r>
            <a:r>
              <a:rPr lang="en-US" dirty="0" err="1"/>
              <a:t>ситуация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порядка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параллельных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</a:t>
            </a:r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опасно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Ошибка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последовательности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редко</a:t>
            </a:r>
            <a:r>
              <a:rPr lang="en-US" dirty="0"/>
              <a:t> </a:t>
            </a:r>
            <a:r>
              <a:rPr lang="en-US" dirty="0" err="1"/>
              <a:t>воспроизводиться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Трудно</a:t>
            </a:r>
            <a:r>
              <a:rPr lang="en-US" dirty="0"/>
              <a:t> </a:t>
            </a:r>
            <a:r>
              <a:rPr lang="en-US" dirty="0" err="1"/>
              <a:t>обнаруживается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тестировании</a:t>
            </a:r>
            <a:r>
              <a:rPr lang="en-US" dirty="0"/>
              <a:t>.</a:t>
            </a:r>
          </a:p>
          <a:p>
            <a:r>
              <a:rPr lang="en-US" b="1" dirty="0"/>
              <a:t>Data Race</a:t>
            </a:r>
            <a:r>
              <a:rPr lang="en-US" dirty="0"/>
              <a:t> – </a:t>
            </a:r>
            <a:r>
              <a:rPr lang="ru-RU" dirty="0"/>
              <a:t>несколько потоков обращаются к одной памяти без синхронизации и хотя бы один выполняет запись -  </a:t>
            </a:r>
            <a:r>
              <a:rPr lang="en-US" dirty="0"/>
              <a:t>UB </a:t>
            </a:r>
            <a:r>
              <a:rPr lang="ru-RU" dirty="0"/>
              <a:t>в </a:t>
            </a:r>
            <a:r>
              <a:rPr lang="en-US" dirty="0"/>
              <a:t>C++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0288DE-44D9-83EE-7E22-49C25ECEA2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999" y="2032883"/>
            <a:ext cx="6133735" cy="322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005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41D0ED-D0C6-EE45-DAE3-6F937EE2A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Гонка в программе на </a:t>
            </a:r>
            <a:r>
              <a:rPr lang="en-US" dirty="0"/>
              <a:t>C++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D25D4E-C7DE-FE5D-D896-6DC6163B5AE9}"/>
              </a:ext>
            </a:extLst>
          </p:cNvPr>
          <p:cNvSpPr txBox="1"/>
          <p:nvPr/>
        </p:nvSpPr>
        <p:spPr>
          <a:xfrm>
            <a:off x="838200" y="1690688"/>
            <a:ext cx="609743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counter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t1{ [&amp;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1'000'000'000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dirty="0">
                <a:solidFill>
                  <a:srgbClr val="74531F"/>
                </a:solidFill>
                <a:latin typeface="Consolas" panose="020B0609020204030204" pitchFamily="49" charset="0"/>
              </a:rPr>
              <a:t>    ++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t2{ [&amp;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1'000'000'000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dirty="0">
                <a:solidFill>
                  <a:srgbClr val="74531F"/>
                </a:solidFill>
                <a:latin typeface="Consolas" panose="020B0609020204030204" pitchFamily="49" charset="0"/>
              </a:rPr>
              <a:t>    --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counter;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Counter: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counter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014785-54D4-C7CB-8AEE-58885B3607DE}"/>
              </a:ext>
            </a:extLst>
          </p:cNvPr>
          <p:cNvSpPr txBox="1"/>
          <p:nvPr/>
        </p:nvSpPr>
        <p:spPr>
          <a:xfrm>
            <a:off x="8448173" y="4621148"/>
            <a:ext cx="3615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https://godbolt.org/z/88dW3n6bE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E1B9B5-1BF0-79C2-59DA-976FCA674984}"/>
              </a:ext>
            </a:extLst>
          </p:cNvPr>
          <p:cNvSpPr txBox="1"/>
          <p:nvPr/>
        </p:nvSpPr>
        <p:spPr>
          <a:xfrm>
            <a:off x="8540749" y="5166477"/>
            <a:ext cx="3345277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Counter: </a:t>
            </a:r>
            <a:r>
              <a:rPr lang="ru-RU" dirty="0">
                <a:latin typeface="Consolas" panose="020B0609020204030204" pitchFamily="49" charset="0"/>
              </a:rPr>
              <a:t>7503159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DB6288-D9DC-4293-0407-12EBE0ADC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480" y="1815884"/>
            <a:ext cx="2648320" cy="26292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C3191D-C313-C553-B85A-3F7837ADFCC4}"/>
              </a:ext>
            </a:extLst>
          </p:cNvPr>
          <p:cNvSpPr txBox="1"/>
          <p:nvPr/>
        </p:nvSpPr>
        <p:spPr>
          <a:xfrm>
            <a:off x="7108165" y="5934670"/>
            <a:ext cx="49554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/>
              <a:t>Ожидаемый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: </a:t>
            </a:r>
            <a:r>
              <a:rPr lang="en-US" dirty="0">
                <a:latin typeface="+mn-lt"/>
              </a:rPr>
              <a:t>Counter: 0</a:t>
            </a:r>
            <a:endParaRPr lang="en-US" dirty="0"/>
          </a:p>
          <a:p>
            <a:pPr>
              <a:buNone/>
            </a:pPr>
            <a:r>
              <a:rPr lang="en-US" dirty="0" err="1"/>
              <a:t>Фактический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: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любым</a:t>
            </a:r>
            <a:r>
              <a:rPr lang="en-US" dirty="0"/>
              <a:t> —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определено</a:t>
            </a:r>
            <a:r>
              <a:rPr lang="en-US" dirty="0"/>
              <a:t> </a:t>
            </a:r>
            <a:r>
              <a:rPr lang="en-US" dirty="0" err="1"/>
              <a:t>стандартом</a:t>
            </a:r>
            <a:r>
              <a:rPr lang="en-US" dirty="0"/>
              <a:t> C++.</a:t>
            </a:r>
          </a:p>
        </p:txBody>
      </p:sp>
    </p:spTree>
    <p:extLst>
      <p:ext uri="{BB962C8B-B14F-4D97-AF65-F5344CB8AC3E}">
        <p14:creationId xmlns:p14="http://schemas.microsoft.com/office/powerpoint/2010/main" val="3801044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1C6FF-02E4-D7CA-718C-168569735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Решение: атомарные операции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81337-7A70-8002-6343-DDD5473F0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77708"/>
          </a:xfrm>
        </p:spPr>
        <p:txBody>
          <a:bodyPr>
            <a:normAutofit/>
          </a:bodyPr>
          <a:lstStyle/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переменной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std::atomic.</a:t>
            </a:r>
          </a:p>
          <a:p>
            <a:pPr lvl="1"/>
            <a:r>
              <a:rPr lang="en-US" dirty="0"/>
              <a:t>std::atomic&lt;int&gt; counter{0};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ru-RU" dirty="0"/>
              <a:t>выполняются атомарно — конкурирующие обновления не теряются.</a:t>
            </a:r>
            <a:endParaRPr lang="en-US" dirty="0"/>
          </a:p>
          <a:p>
            <a:r>
              <a:rPr lang="en-US" dirty="0"/>
              <a:t>std::atomic </a:t>
            </a:r>
            <a:r>
              <a:rPr lang="ru-RU" dirty="0"/>
              <a:t>не обязательно реализуется одной инструкцией</a:t>
            </a:r>
          </a:p>
          <a:p>
            <a:r>
              <a:rPr lang="ru-RU" dirty="0"/>
              <a:t>Атомарность</a:t>
            </a:r>
            <a:r>
              <a:rPr lang="en-US" dirty="0"/>
              <a:t> </a:t>
            </a:r>
            <a:r>
              <a:rPr lang="ru-RU" dirty="0"/>
              <a:t>отдельно операции </a:t>
            </a:r>
            <a:r>
              <a:rPr lang="en-US" dirty="0"/>
              <a:t>&lt;&gt; </a:t>
            </a:r>
            <a:r>
              <a:rPr lang="ru-RU" dirty="0"/>
              <a:t>атомарность произвольной последовательности операций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70F2ED-4CDF-FA6A-40E0-0B39A46A94B3}"/>
              </a:ext>
            </a:extLst>
          </p:cNvPr>
          <p:cNvSpPr txBox="1"/>
          <p:nvPr/>
        </p:nvSpPr>
        <p:spPr>
          <a:xfrm>
            <a:off x="973667" y="5715298"/>
            <a:ext cx="47836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b="0" dirty="0">
                <a:solidFill>
                  <a:srgbClr val="3030C0"/>
                </a:solidFill>
                <a:effectLst/>
                <a:latin typeface="Consolas" panose="020B0609020204030204" pitchFamily="49" charset="0"/>
              </a:rPr>
              <a:t>0x1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C6953A-B2A6-1DA3-ECF8-56BB58D5CEE1}"/>
              </a:ext>
            </a:extLst>
          </p:cNvPr>
          <p:cNvSpPr txBox="1"/>
          <p:nvPr/>
        </p:nvSpPr>
        <p:spPr>
          <a:xfrm>
            <a:off x="6231467" y="5697719"/>
            <a:ext cx="5257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&gt;&amp;):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DWORD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 err="1">
                <a:solidFill>
                  <a:srgbClr val="4864AA"/>
                </a:solidFill>
                <a:effectLst/>
                <a:latin typeface="Consolas" panose="020B0609020204030204" pitchFamily="49" charset="0"/>
              </a:rPr>
              <a:t>rdi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b="0" dirty="0">
                <a:solidFill>
                  <a:srgbClr val="3030C0"/>
                </a:solidFill>
                <a:effectLst/>
                <a:latin typeface="Consolas" panose="020B0609020204030204" pitchFamily="49" charset="0"/>
              </a:rPr>
              <a:t>0x1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560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14A0D-6DB5-5653-B9D2-166842D30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Критическая секция и взаимное исключение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A9306-9927-77B3-98A4-220B0E24D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40600" cy="4351338"/>
          </a:xfrm>
        </p:spPr>
        <p:txBody>
          <a:bodyPr>
            <a:normAutofit lnSpcReduction="10000"/>
          </a:bodyPr>
          <a:lstStyle/>
          <a:p>
            <a:r>
              <a:rPr lang="en-US" b="1" dirty="0" err="1"/>
              <a:t>Критическая</a:t>
            </a:r>
            <a:r>
              <a:rPr lang="en-US" b="1" dirty="0"/>
              <a:t> </a:t>
            </a:r>
            <a:r>
              <a:rPr lang="en-US" b="1" dirty="0" err="1"/>
              <a:t>секция</a:t>
            </a:r>
            <a:r>
              <a:rPr lang="en-US" b="1" dirty="0"/>
              <a:t> (Critical Section)</a:t>
            </a:r>
            <a:endParaRPr lang="en-US" dirty="0"/>
          </a:p>
          <a:p>
            <a:pPr lvl="1"/>
            <a:r>
              <a:rPr lang="en-US" dirty="0" err="1"/>
              <a:t>участок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с </a:t>
            </a:r>
            <a:r>
              <a:rPr lang="en-US" dirty="0" err="1"/>
              <a:t>исключительным</a:t>
            </a:r>
            <a:r>
              <a:rPr lang="en-US" dirty="0"/>
              <a:t> </a:t>
            </a:r>
            <a:r>
              <a:rPr lang="en-US" dirty="0" err="1"/>
              <a:t>доступом</a:t>
            </a:r>
            <a:r>
              <a:rPr lang="en-US" dirty="0"/>
              <a:t> к </a:t>
            </a:r>
            <a:r>
              <a:rPr lang="en-US" dirty="0" err="1"/>
              <a:t>определённому</a:t>
            </a:r>
            <a:r>
              <a:rPr lang="en-US" dirty="0"/>
              <a:t> </a:t>
            </a:r>
            <a:r>
              <a:rPr lang="en-US" dirty="0" err="1"/>
              <a:t>разделяемому</a:t>
            </a:r>
            <a:r>
              <a:rPr lang="en-US" dirty="0"/>
              <a:t> </a:t>
            </a:r>
            <a:r>
              <a:rPr lang="en-US" dirty="0" err="1"/>
              <a:t>ресурсу</a:t>
            </a:r>
            <a:r>
              <a:rPr lang="en-US" dirty="0"/>
              <a:t>.</a:t>
            </a:r>
          </a:p>
          <a:p>
            <a:r>
              <a:rPr lang="en-US" b="1" dirty="0" err="1"/>
              <a:t>Взаимное</a:t>
            </a:r>
            <a:r>
              <a:rPr lang="en-US" b="1" dirty="0"/>
              <a:t> </a:t>
            </a:r>
            <a:r>
              <a:rPr lang="en-US" b="1" dirty="0" err="1"/>
              <a:t>исключение</a:t>
            </a:r>
            <a:r>
              <a:rPr lang="en-US" b="1" dirty="0"/>
              <a:t> (Mutual Exclusion</a:t>
            </a:r>
            <a:r>
              <a:rPr lang="en-US" dirty="0"/>
              <a:t>) </a:t>
            </a:r>
            <a:r>
              <a:rPr lang="en-US" dirty="0" err="1"/>
              <a:t>гарантирует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участника</a:t>
            </a:r>
            <a:r>
              <a:rPr lang="en-US" dirty="0"/>
              <a:t>.</a:t>
            </a:r>
            <a:endParaRPr lang="ru-RU" dirty="0"/>
          </a:p>
          <a:p>
            <a:pPr lvl="1"/>
            <a:r>
              <a:rPr lang="en-US" dirty="0" err="1"/>
              <a:t>Std:mutex</a:t>
            </a:r>
            <a:endParaRPr lang="en-US" dirty="0"/>
          </a:p>
          <a:p>
            <a:r>
              <a:rPr lang="ru-RU" dirty="0"/>
              <a:t>З</a:t>
            </a:r>
            <a:r>
              <a:rPr lang="en-US" dirty="0" err="1"/>
              <a:t>ащищается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конкретная</a:t>
            </a:r>
            <a:r>
              <a:rPr lang="en-US" dirty="0"/>
              <a:t> </a:t>
            </a:r>
            <a:r>
              <a:rPr lang="en-US" dirty="0" err="1"/>
              <a:t>инструкция</a:t>
            </a:r>
            <a:r>
              <a:rPr lang="en-US" dirty="0"/>
              <a:t>, а </a:t>
            </a:r>
            <a:r>
              <a:rPr lang="en-US" dirty="0" err="1"/>
              <a:t>согласованное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общих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77FD0-2D28-A76D-03EE-1FC82CF6A276}"/>
              </a:ext>
            </a:extLst>
          </p:cNvPr>
          <p:cNvSpPr txBox="1"/>
          <p:nvPr/>
        </p:nvSpPr>
        <p:spPr>
          <a:xfrm>
            <a:off x="8178800" y="1825625"/>
            <a:ext cx="353906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UpdateSharedData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3595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04D85-CC7E-C68F-4C0D-DF25707C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Требования</a:t>
            </a:r>
            <a:r>
              <a:rPr lang="en-US" dirty="0"/>
              <a:t> к </a:t>
            </a:r>
            <a:r>
              <a:rPr lang="en-US" dirty="0" err="1"/>
              <a:t>корректной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8D0B0-2809-7CA7-5506-801F46161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Mutual Exclusion — </a:t>
            </a:r>
            <a:r>
              <a:rPr lang="en-US" dirty="0" err="1"/>
              <a:t>взаимное</a:t>
            </a:r>
            <a:r>
              <a:rPr lang="en-US" dirty="0"/>
              <a:t> </a:t>
            </a:r>
            <a:r>
              <a:rPr lang="en-US" dirty="0" err="1"/>
              <a:t>исключение</a:t>
            </a:r>
            <a:endParaRPr lang="en-US" dirty="0"/>
          </a:p>
          <a:p>
            <a:pPr lvl="1"/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участника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защищённой</a:t>
            </a:r>
            <a:r>
              <a:rPr lang="en-US" dirty="0"/>
              <a:t> </a:t>
            </a:r>
            <a:r>
              <a:rPr lang="en-US" dirty="0" err="1"/>
              <a:t>критической</a:t>
            </a:r>
            <a:r>
              <a:rPr lang="en-US" dirty="0"/>
              <a:t> </a:t>
            </a:r>
            <a:r>
              <a:rPr lang="en-US" dirty="0" err="1"/>
              <a:t>секции</a:t>
            </a:r>
            <a:r>
              <a:rPr lang="en-US" dirty="0"/>
              <a:t>.</a:t>
            </a:r>
          </a:p>
          <a:p>
            <a:r>
              <a:rPr lang="en-US" dirty="0"/>
              <a:t>Progress —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продвижения</a:t>
            </a:r>
            <a:endParaRPr lang="en-US" dirty="0"/>
          </a:p>
          <a:p>
            <a:pPr lvl="1"/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вне</a:t>
            </a:r>
            <a:r>
              <a:rPr lang="en-US" dirty="0"/>
              <a:t> </a:t>
            </a:r>
            <a:r>
              <a:rPr lang="en-US" dirty="0" err="1"/>
              <a:t>критической</a:t>
            </a:r>
            <a:r>
              <a:rPr lang="en-US" dirty="0"/>
              <a:t> </a:t>
            </a:r>
            <a:r>
              <a:rPr lang="en-US" dirty="0" err="1"/>
              <a:t>секции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мешать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войти</a:t>
            </a:r>
            <a:r>
              <a:rPr lang="en-US" dirty="0"/>
              <a:t> в </a:t>
            </a:r>
            <a:r>
              <a:rPr lang="en-US" dirty="0" err="1"/>
              <a:t>свободную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.</a:t>
            </a:r>
          </a:p>
          <a:p>
            <a:r>
              <a:rPr lang="en-US" dirty="0"/>
              <a:t>Bounded Waiting — </a:t>
            </a:r>
            <a:r>
              <a:rPr lang="en-US" dirty="0" err="1"/>
              <a:t>ограниченное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endParaRPr lang="en-US" dirty="0"/>
          </a:p>
          <a:p>
            <a:pPr lvl="1"/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бесконечно</a:t>
            </a:r>
            <a:r>
              <a:rPr lang="en-US" dirty="0"/>
              <a:t> </a:t>
            </a:r>
            <a:r>
              <a:rPr lang="en-US" dirty="0" err="1"/>
              <a:t>уступать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претендентам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Корректность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зависеть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скорости</a:t>
            </a:r>
            <a:r>
              <a:rPr lang="en-US" dirty="0"/>
              <a:t> </a:t>
            </a:r>
            <a:r>
              <a:rPr lang="en-US" dirty="0" err="1"/>
              <a:t>процессоров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удачного</a:t>
            </a:r>
            <a:r>
              <a:rPr lang="en-US" dirty="0"/>
              <a:t> </a:t>
            </a:r>
            <a:r>
              <a:rPr lang="en-US" dirty="0" err="1"/>
              <a:t>порядка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497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382A6-202D-3194-80AD-4073C1A5D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способа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</a:t>
            </a:r>
            <a:r>
              <a:rPr lang="en-US" dirty="0" err="1"/>
              <a:t>гонок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EB767-2FD0-F718-3E7D-F99C58BE1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Атомарные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std::atomic&lt;int&gt; count;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++count;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en-US" dirty="0" err="1"/>
              <a:t>Подходят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ru-RU" dirty="0"/>
              <a:t> п</a:t>
            </a:r>
            <a:r>
              <a:rPr lang="en-US" dirty="0" err="1"/>
              <a:t>ростых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переменных</a:t>
            </a:r>
            <a:r>
              <a:rPr lang="en-US" dirty="0"/>
              <a:t>.</a:t>
            </a:r>
          </a:p>
          <a:p>
            <a:r>
              <a:rPr lang="ru-RU" dirty="0"/>
              <a:t>Взаимное исключение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</a:rPr>
              <a:t>lock_guard</a:t>
            </a:r>
            <a:r>
              <a:rPr lang="en-US" dirty="0">
                <a:latin typeface="Consolas" panose="020B0609020204030204" pitchFamily="49" charset="0"/>
              </a:rPr>
              <a:t> lock{m};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UpdateSharedData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/>
              <a:t>К</a:t>
            </a:r>
            <a:r>
              <a:rPr lang="en-US" dirty="0" err="1"/>
              <a:t>ак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взаимное</a:t>
            </a:r>
            <a:r>
              <a:rPr lang="en-US" dirty="0"/>
              <a:t> </a:t>
            </a:r>
            <a:r>
              <a:rPr lang="en-US" dirty="0" err="1"/>
              <a:t>исключение</a:t>
            </a:r>
            <a:r>
              <a:rPr lang="en-US" dirty="0"/>
              <a:t> и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занят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6064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595117-5BAA-422C-DCBD-2A3A301EA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Взаимное исключение и </a:t>
            </a:r>
            <a:r>
              <a:rPr lang="en-US" dirty="0"/>
              <a:t>Busy Waiting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65D1FA-8E68-84CE-024F-474420CE6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842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C25030-F1F4-E405-DF05-D6DBD62FF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обеспечения</a:t>
            </a:r>
            <a:r>
              <a:rPr lang="en-US" dirty="0"/>
              <a:t> </a:t>
            </a:r>
            <a:r>
              <a:rPr lang="en-US" dirty="0" err="1"/>
              <a:t>взаимного</a:t>
            </a:r>
            <a:r>
              <a:rPr lang="en-US" dirty="0"/>
              <a:t> </a:t>
            </a:r>
            <a:r>
              <a:rPr lang="en-US" dirty="0" err="1"/>
              <a:t>исключения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2FBE7C-0E21-BD0D-6F53-A71B57347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Задача</a:t>
            </a:r>
            <a:r>
              <a:rPr lang="en-US" dirty="0"/>
              <a:t>: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допустить</a:t>
            </a:r>
            <a:r>
              <a:rPr lang="en-US" dirty="0"/>
              <a:t> </a:t>
            </a:r>
            <a:r>
              <a:rPr lang="en-US" dirty="0" err="1"/>
              <a:t>одновременного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критической</a:t>
            </a:r>
            <a:r>
              <a:rPr lang="en-US" dirty="0"/>
              <a:t> </a:t>
            </a:r>
            <a:r>
              <a:rPr lang="en-US" dirty="0" err="1"/>
              <a:t>секции</a:t>
            </a:r>
            <a:r>
              <a:rPr lang="en-US" dirty="0"/>
              <a:t>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.</a:t>
            </a:r>
          </a:p>
          <a:p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подхода</a:t>
            </a:r>
            <a:r>
              <a:rPr lang="en-US" dirty="0"/>
              <a:t>:</a:t>
            </a:r>
          </a:p>
          <a:p>
            <a:pPr lvl="1"/>
            <a:r>
              <a:rPr lang="en-US" b="1" dirty="0" err="1"/>
              <a:t>Запрет</a:t>
            </a:r>
            <a:r>
              <a:rPr lang="en-US" b="1" dirty="0"/>
              <a:t> </a:t>
            </a:r>
            <a:r>
              <a:rPr lang="en-US" b="1" dirty="0" err="1"/>
              <a:t>прерываний</a:t>
            </a:r>
            <a:r>
              <a:rPr lang="en-US" dirty="0"/>
              <a:t> — </a:t>
            </a:r>
            <a:r>
              <a:rPr lang="en-US" dirty="0" err="1"/>
              <a:t>ограничить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вытеснения</a:t>
            </a:r>
            <a:r>
              <a:rPr lang="en-US" dirty="0"/>
              <a:t> </a:t>
            </a:r>
            <a:r>
              <a:rPr lang="en-US" dirty="0" err="1"/>
              <a:t>выполняемого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текущем</a:t>
            </a:r>
            <a:r>
              <a:rPr lang="en-US" dirty="0"/>
              <a:t> CPU.</a:t>
            </a:r>
            <a:endParaRPr lang="en-US" b="1" dirty="0"/>
          </a:p>
          <a:p>
            <a:pPr lvl="1"/>
            <a:r>
              <a:rPr lang="en-US" b="1" dirty="0" err="1"/>
              <a:t>Программные</a:t>
            </a:r>
            <a:r>
              <a:rPr lang="en-US" b="1" dirty="0"/>
              <a:t> </a:t>
            </a:r>
            <a:r>
              <a:rPr lang="en-US" b="1" dirty="0" err="1"/>
              <a:t>алгоритмы</a:t>
            </a:r>
            <a:r>
              <a:rPr lang="en-US" dirty="0"/>
              <a:t> — </a:t>
            </a:r>
            <a:r>
              <a:rPr lang="en-US" dirty="0" err="1"/>
              <a:t>согласовывать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общих</a:t>
            </a:r>
            <a:r>
              <a:rPr lang="en-US" dirty="0"/>
              <a:t> </a:t>
            </a:r>
            <a:r>
              <a:rPr lang="en-US" dirty="0" err="1"/>
              <a:t>переменных</a:t>
            </a:r>
            <a:r>
              <a:rPr lang="en-US" dirty="0"/>
              <a:t>.</a:t>
            </a:r>
          </a:p>
          <a:p>
            <a:pPr lvl="1"/>
            <a:r>
              <a:rPr lang="en-US" b="1" dirty="0" err="1"/>
              <a:t>Аппаратные</a:t>
            </a:r>
            <a:r>
              <a:rPr lang="en-US" b="1" dirty="0"/>
              <a:t> </a:t>
            </a:r>
            <a:r>
              <a:rPr lang="en-US" b="1" dirty="0" err="1"/>
              <a:t>атомарные</a:t>
            </a:r>
            <a:r>
              <a:rPr lang="en-US" b="1" dirty="0"/>
              <a:t> </a:t>
            </a:r>
            <a:r>
              <a:rPr lang="en-US" b="1" dirty="0" err="1"/>
              <a:t>операции</a:t>
            </a:r>
            <a:r>
              <a:rPr lang="en-US" dirty="0"/>
              <a:t> — </a:t>
            </a:r>
            <a:r>
              <a:rPr lang="en-US" dirty="0" err="1"/>
              <a:t>неделимо</a:t>
            </a:r>
            <a:r>
              <a:rPr lang="en-US" dirty="0"/>
              <a:t> </a:t>
            </a:r>
            <a:r>
              <a:rPr lang="en-US" dirty="0" err="1"/>
              <a:t>проверять</a:t>
            </a:r>
            <a:r>
              <a:rPr lang="en-US" dirty="0"/>
              <a:t> и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.</a:t>
            </a:r>
          </a:p>
          <a:p>
            <a:r>
              <a:rPr lang="ru-RU" dirty="0"/>
              <a:t>К</a:t>
            </a:r>
            <a:r>
              <a:rPr lang="en-US" dirty="0" err="1"/>
              <a:t>ак</a:t>
            </a:r>
            <a:r>
              <a:rPr lang="en-US" dirty="0"/>
              <a:t> </a:t>
            </a:r>
            <a:r>
              <a:rPr lang="en-US" dirty="0" err="1"/>
              <a:t>организовать</a:t>
            </a:r>
            <a:r>
              <a:rPr lang="en-US" dirty="0"/>
              <a:t> </a:t>
            </a:r>
            <a:r>
              <a:rPr lang="en-US" dirty="0" err="1"/>
              <a:t>безопасный</a:t>
            </a:r>
            <a:r>
              <a:rPr lang="en-US" dirty="0"/>
              <a:t> </a:t>
            </a:r>
            <a:r>
              <a:rPr lang="en-US" dirty="0" err="1"/>
              <a:t>вход</a:t>
            </a:r>
            <a:r>
              <a:rPr lang="en-US" dirty="0"/>
              <a:t> в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499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91B28-4258-2785-13C6-8F2912764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Взаимное</a:t>
            </a:r>
            <a:r>
              <a:rPr lang="en-US" dirty="0"/>
              <a:t> </a:t>
            </a:r>
            <a:r>
              <a:rPr lang="en-US" dirty="0" err="1"/>
              <a:t>исключение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запрет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654CE-1EBD-A271-3B5E-6D002DFC9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однопроцессорной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входом</a:t>
            </a:r>
            <a:r>
              <a:rPr lang="en-US" dirty="0"/>
              <a:t> в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 </a:t>
            </a:r>
            <a:r>
              <a:rPr lang="en-US" dirty="0" err="1"/>
              <a:t>отключить</a:t>
            </a:r>
            <a:r>
              <a:rPr lang="en-US" dirty="0"/>
              <a:t> </a:t>
            </a:r>
            <a:r>
              <a:rPr lang="en-US" dirty="0" err="1"/>
              <a:t>маскируемые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вытеснения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таймеру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выхода</a:t>
            </a:r>
            <a:r>
              <a:rPr lang="en-US" dirty="0"/>
              <a:t> </a:t>
            </a:r>
            <a:r>
              <a:rPr lang="en-US" dirty="0" err="1"/>
              <a:t>восстановить</a:t>
            </a:r>
            <a:r>
              <a:rPr lang="en-US" dirty="0"/>
              <a:t> </a:t>
            </a:r>
            <a:r>
              <a:rPr lang="en-US" dirty="0" err="1"/>
              <a:t>исходное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x86-64:</a:t>
            </a:r>
          </a:p>
          <a:p>
            <a:pPr lvl="1"/>
            <a:r>
              <a:rPr lang="en-US" dirty="0"/>
              <a:t>CLI — </a:t>
            </a:r>
            <a:r>
              <a:rPr lang="en-US" dirty="0" err="1"/>
              <a:t>сбрасывает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 IF в </a:t>
            </a:r>
            <a:r>
              <a:rPr lang="en-US" dirty="0" err="1"/>
              <a:t>регистре</a:t>
            </a:r>
            <a:r>
              <a:rPr lang="en-US" dirty="0"/>
              <a:t> RFLAGS.</a:t>
            </a:r>
          </a:p>
          <a:p>
            <a:pPr lvl="1"/>
            <a:r>
              <a:rPr lang="en-US" dirty="0"/>
              <a:t>STI — </a:t>
            </a:r>
            <a:r>
              <a:rPr lang="en-US" dirty="0" err="1"/>
              <a:t>устанавливает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 IF.</a:t>
            </a:r>
          </a:p>
          <a:p>
            <a:r>
              <a:rPr lang="ru-RU" dirty="0"/>
              <a:t>Алгоритм</a:t>
            </a:r>
          </a:p>
          <a:p>
            <a:pPr lvl="1"/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IF</a:t>
            </a:r>
          </a:p>
          <a:p>
            <a:pPr lvl="1"/>
            <a:r>
              <a:rPr lang="en-US" dirty="0"/>
              <a:t>CLI</a:t>
            </a:r>
          </a:p>
          <a:p>
            <a:pPr lvl="1"/>
            <a:r>
              <a:rPr lang="en-US" dirty="0" err="1"/>
              <a:t>Критическая</a:t>
            </a:r>
            <a:r>
              <a:rPr lang="en-US" dirty="0"/>
              <a:t> </a:t>
            </a:r>
            <a:r>
              <a:rPr lang="en-US" dirty="0" err="1"/>
              <a:t>секция</a:t>
            </a:r>
            <a:endParaRPr lang="en-US" dirty="0"/>
          </a:p>
          <a:p>
            <a:pPr lvl="1"/>
            <a:r>
              <a:rPr lang="en-US" dirty="0" err="1"/>
              <a:t>Восстановить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IF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050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0AC1-FF7D-B511-BF27-9CB6272CA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отключения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7A8F2-9630-6632-4596-8D15C93ED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Ограничения</a:t>
            </a:r>
            <a:r>
              <a:rPr lang="en-US" dirty="0"/>
              <a:t> </a:t>
            </a:r>
            <a:r>
              <a:rPr lang="en-US" dirty="0" err="1"/>
              <a:t>метода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Многоядерность</a:t>
            </a:r>
            <a:r>
              <a:rPr lang="en-US" dirty="0"/>
              <a:t> (SMP) — </a:t>
            </a:r>
            <a:r>
              <a:rPr lang="en-US" dirty="0" err="1"/>
              <a:t>прерывания</a:t>
            </a:r>
            <a:r>
              <a:rPr lang="en-US" dirty="0"/>
              <a:t> </a:t>
            </a:r>
            <a:r>
              <a:rPr lang="en-US" dirty="0" err="1"/>
              <a:t>отключаются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текущем</a:t>
            </a:r>
            <a:r>
              <a:rPr lang="en-US" dirty="0"/>
              <a:t> CPU.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продолжают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Привилегии</a:t>
            </a:r>
            <a:r>
              <a:rPr lang="en-US" dirty="0"/>
              <a:t> — </a:t>
            </a:r>
            <a:r>
              <a:rPr lang="en-US" dirty="0" err="1"/>
              <a:t>обычные</a:t>
            </a:r>
            <a:r>
              <a:rPr lang="en-US" dirty="0"/>
              <a:t> </a:t>
            </a:r>
            <a:r>
              <a:rPr lang="en-US" dirty="0" err="1"/>
              <a:t>пользовательские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 CLI/STI.</a:t>
            </a:r>
          </a:p>
          <a:p>
            <a:pPr lvl="1"/>
            <a:r>
              <a:rPr lang="en-US" dirty="0" err="1"/>
              <a:t>Отзывчивость</a:t>
            </a:r>
            <a:r>
              <a:rPr lang="en-US" dirty="0"/>
              <a:t> — </a:t>
            </a:r>
            <a:r>
              <a:rPr lang="en-US" dirty="0" err="1"/>
              <a:t>длительный</a:t>
            </a:r>
            <a:r>
              <a:rPr lang="en-US" dirty="0"/>
              <a:t> </a:t>
            </a:r>
            <a:r>
              <a:rPr lang="en-US" dirty="0" err="1"/>
              <a:t>запрет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 </a:t>
            </a:r>
            <a:r>
              <a:rPr lang="en-US" dirty="0" err="1"/>
              <a:t>задерживает</a:t>
            </a:r>
            <a:r>
              <a:rPr lang="en-US" dirty="0"/>
              <a:t> </a:t>
            </a:r>
            <a:r>
              <a:rPr lang="en-US" dirty="0" err="1"/>
              <a:t>обработку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устройств</a:t>
            </a:r>
            <a:r>
              <a:rPr lang="en-US" dirty="0"/>
              <a:t>.</a:t>
            </a:r>
          </a:p>
          <a:p>
            <a:r>
              <a:rPr lang="en-US" b="1" dirty="0" err="1"/>
              <a:t>Где</a:t>
            </a:r>
            <a:r>
              <a:rPr lang="en-US" b="1" dirty="0"/>
              <a:t> </a:t>
            </a:r>
            <a:r>
              <a:rPr lang="en-US" b="1" dirty="0" err="1"/>
              <a:t>применяется</a:t>
            </a:r>
            <a:r>
              <a:rPr lang="en-US" dirty="0"/>
              <a:t>: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ОС,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коротких</a:t>
            </a:r>
            <a:r>
              <a:rPr lang="en-US" dirty="0"/>
              <a:t> </a:t>
            </a:r>
            <a:r>
              <a:rPr lang="en-US" dirty="0" err="1"/>
              <a:t>участков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,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совместно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спинлоками</a:t>
            </a:r>
            <a:r>
              <a:rPr lang="en-US" dirty="0"/>
              <a:t>.</a:t>
            </a:r>
          </a:p>
          <a:p>
            <a:r>
              <a:rPr lang="en-US" b="1" dirty="0" err="1"/>
              <a:t>Вывод</a:t>
            </a:r>
            <a:r>
              <a:rPr lang="en-US" dirty="0"/>
              <a:t>: </a:t>
            </a:r>
            <a:r>
              <a:rPr lang="en-US" dirty="0" err="1"/>
              <a:t>отключение</a:t>
            </a:r>
            <a:r>
              <a:rPr lang="en-US" dirty="0"/>
              <a:t> </a:t>
            </a:r>
            <a:r>
              <a:rPr lang="en-US" dirty="0" err="1"/>
              <a:t>локальных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взаимное</a:t>
            </a:r>
            <a:r>
              <a:rPr lang="en-US" dirty="0"/>
              <a:t> </a:t>
            </a:r>
            <a:r>
              <a:rPr lang="en-US" dirty="0" err="1"/>
              <a:t>исключение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CPU.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580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06662-9C18-FAC3-940A-3512ABE07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Простая</a:t>
            </a:r>
            <a:r>
              <a:rPr lang="en-US" dirty="0"/>
              <a:t> </a:t>
            </a:r>
            <a:r>
              <a:rPr lang="en-US" dirty="0" err="1"/>
              <a:t>переменная</a:t>
            </a:r>
            <a:r>
              <a:rPr lang="en-US" dirty="0"/>
              <a:t> lock: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8E3FA-0E8C-9798-7694-4C632D82B7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Идея</a:t>
            </a:r>
            <a:r>
              <a:rPr lang="en-US" dirty="0"/>
              <a:t>: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переменную</a:t>
            </a:r>
            <a:r>
              <a:rPr lang="en-US" dirty="0"/>
              <a:t> lock.</a:t>
            </a:r>
          </a:p>
          <a:p>
            <a:pPr lvl="1"/>
            <a:r>
              <a:rPr lang="en-US" dirty="0"/>
              <a:t>lock = 0 — </a:t>
            </a:r>
            <a:r>
              <a:rPr lang="en-US" dirty="0" err="1"/>
              <a:t>ресурс</a:t>
            </a:r>
            <a:r>
              <a:rPr lang="en-US" dirty="0"/>
              <a:t> </a:t>
            </a:r>
            <a:r>
              <a:rPr lang="en-US" dirty="0" err="1"/>
              <a:t>свободен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lock = 1 — </a:t>
            </a:r>
            <a:r>
              <a:rPr lang="en-US" dirty="0" err="1"/>
              <a:t>ресурс</a:t>
            </a:r>
            <a:r>
              <a:rPr lang="en-US" dirty="0"/>
              <a:t> </a:t>
            </a:r>
            <a:r>
              <a:rPr lang="en-US" dirty="0" err="1"/>
              <a:t>занят</a:t>
            </a:r>
            <a:r>
              <a:rPr lang="en-US" dirty="0"/>
              <a:t>.</a:t>
            </a:r>
          </a:p>
          <a:p>
            <a:r>
              <a:rPr lang="en-US" dirty="0" err="1"/>
              <a:t>Проблема</a:t>
            </a:r>
            <a:r>
              <a:rPr lang="en-US" dirty="0"/>
              <a:t>: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проверкой</a:t>
            </a:r>
            <a:r>
              <a:rPr lang="en-US" dirty="0"/>
              <a:t> lock и </a:t>
            </a:r>
            <a:r>
              <a:rPr lang="en-US" dirty="0" err="1"/>
              <a:t>установкой</a:t>
            </a:r>
            <a:r>
              <a:rPr lang="en-US" dirty="0"/>
              <a:t> lock = 1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вмешаться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069031D-C84E-173D-3CA6-369980417C2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75153597"/>
              </p:ext>
            </p:extLst>
          </p:nvPr>
        </p:nvGraphicFramePr>
        <p:xfrm>
          <a:off x="6172202" y="4399491"/>
          <a:ext cx="561974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878">
                  <a:extLst>
                    <a:ext uri="{9D8B030D-6E8A-4147-A177-3AD203B41FA5}">
                      <a16:colId xmlns:a16="http://schemas.microsoft.com/office/drawing/2014/main" val="3183483595"/>
                    </a:ext>
                  </a:extLst>
                </a:gridCol>
                <a:gridCol w="2369170">
                  <a:extLst>
                    <a:ext uri="{9D8B030D-6E8A-4147-A177-3AD203B41FA5}">
                      <a16:colId xmlns:a16="http://schemas.microsoft.com/office/drawing/2014/main" val="4149630957"/>
                    </a:ext>
                  </a:extLst>
                </a:gridCol>
                <a:gridCol w="2552701">
                  <a:extLst>
                    <a:ext uri="{9D8B030D-6E8A-4147-A177-3AD203B41FA5}">
                      <a16:colId xmlns:a16="http://schemas.microsoft.com/office/drawing/2014/main" val="16824523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Шаг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Поток </a:t>
                      </a:r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Поток </a:t>
                      </a:r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476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Читает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lock =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954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Читает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lock = 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501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Записывает</a:t>
                      </a:r>
                      <a:r>
                        <a:rPr lang="en-US" dirty="0"/>
                        <a:t>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lock = 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26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Записывает</a:t>
                      </a:r>
                      <a:r>
                        <a:rPr lang="en-US" dirty="0"/>
                        <a:t>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lock =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16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Входит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в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секцию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Входит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в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секцию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8544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3D792C7-3F02-1552-13E8-EC9327C41D02}"/>
              </a:ext>
            </a:extLst>
          </p:cNvPr>
          <p:cNvSpPr txBox="1"/>
          <p:nvPr/>
        </p:nvSpPr>
        <p:spPr>
          <a:xfrm>
            <a:off x="6366933" y="1825625"/>
            <a:ext cx="498686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Псевдокод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— НЕ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корректная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блокировка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!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Ждём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освобождения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 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Захватываем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critical_section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lock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 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Освобождаем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833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DC2C3-3084-03FA-5FCB-1B601A18B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Строгое</a:t>
            </a:r>
            <a:r>
              <a:rPr lang="en-US" dirty="0"/>
              <a:t> </a:t>
            </a:r>
            <a:r>
              <a:rPr lang="en-US" dirty="0" err="1"/>
              <a:t>чередование</a:t>
            </a:r>
            <a:r>
              <a:rPr lang="en-US" dirty="0"/>
              <a:t> (Strict Alternation)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6C71B-DF11-71E6-25AE-E5205EDD9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67350" cy="4351338"/>
          </a:xfrm>
        </p:spPr>
        <p:txBody>
          <a:bodyPr>
            <a:normAutofit/>
          </a:bodyPr>
          <a:lstStyle/>
          <a:p>
            <a:r>
              <a:rPr lang="en-US" dirty="0" err="1"/>
              <a:t>Идея</a:t>
            </a:r>
            <a:r>
              <a:rPr lang="en-US" dirty="0"/>
              <a:t>: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получают</a:t>
            </a:r>
            <a:r>
              <a:rPr lang="en-US" dirty="0"/>
              <a:t> </a:t>
            </a:r>
            <a:r>
              <a:rPr lang="en-US" dirty="0" err="1"/>
              <a:t>право</a:t>
            </a:r>
            <a:r>
              <a:rPr lang="en-US" dirty="0"/>
              <a:t> </a:t>
            </a:r>
            <a:r>
              <a:rPr lang="en-US" dirty="0" err="1"/>
              <a:t>входить</a:t>
            </a:r>
            <a:r>
              <a:rPr lang="en-US" dirty="0"/>
              <a:t> в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.</a:t>
            </a:r>
          </a:p>
          <a:p>
            <a:r>
              <a:rPr lang="en-US" dirty="0" err="1"/>
              <a:t>Общая</a:t>
            </a:r>
            <a:r>
              <a:rPr lang="en-US" dirty="0"/>
              <a:t> </a:t>
            </a:r>
            <a:r>
              <a:rPr lang="en-US" dirty="0" err="1"/>
              <a:t>переменная</a:t>
            </a:r>
            <a:r>
              <a:rPr lang="en-US" dirty="0"/>
              <a:t> turn </a:t>
            </a:r>
            <a:r>
              <a:rPr lang="en-US" dirty="0" err="1"/>
              <a:t>определяет</a:t>
            </a:r>
            <a:r>
              <a:rPr lang="en-US" dirty="0"/>
              <a:t>, </a:t>
            </a:r>
            <a:r>
              <a:rPr lang="en-US" dirty="0" err="1"/>
              <a:t>чей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ход</a:t>
            </a:r>
            <a:r>
              <a:rPr lang="en-US" dirty="0"/>
              <a:t>.</a:t>
            </a:r>
          </a:p>
          <a:p>
            <a:r>
              <a:rPr lang="en-US" dirty="0" err="1"/>
              <a:t>Проблема</a:t>
            </a:r>
            <a:r>
              <a:rPr lang="en-US" dirty="0"/>
              <a:t>: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,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критическая</a:t>
            </a:r>
            <a:r>
              <a:rPr lang="en-US" dirty="0"/>
              <a:t> </a:t>
            </a:r>
            <a:r>
              <a:rPr lang="en-US" dirty="0" err="1"/>
              <a:t>секция</a:t>
            </a:r>
            <a:r>
              <a:rPr lang="en-US" dirty="0"/>
              <a:t> </a:t>
            </a:r>
            <a:r>
              <a:rPr lang="en-US" dirty="0" err="1"/>
              <a:t>свободна</a:t>
            </a:r>
            <a:r>
              <a:rPr lang="en-US" dirty="0"/>
              <a:t>.</a:t>
            </a:r>
          </a:p>
          <a:p>
            <a:r>
              <a:rPr lang="en-US" dirty="0" err="1"/>
              <a:t>Нарушается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Progress.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73AA9E-025E-E412-40D5-EFDFA3B4AF52}"/>
              </a:ext>
            </a:extLst>
          </p:cNvPr>
          <p:cNvSpPr txBox="1"/>
          <p:nvPr/>
        </p:nvSpPr>
        <p:spPr>
          <a:xfrm>
            <a:off x="6305550" y="2045014"/>
            <a:ext cx="54673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Псевдокод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двух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потоков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(id = 0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или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1)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Ждём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своей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очереди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critical_section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turn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Передаём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ход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другому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674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6E4D6-F62E-2E5A-3946-439AEC4A3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Петерсона</a:t>
            </a:r>
            <a:r>
              <a:rPr lang="ru-RU" dirty="0"/>
              <a:t> (1981)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CCC23-2E66-03B9-FF75-C9CA4B1F3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Петерсона</a:t>
            </a:r>
            <a:r>
              <a:rPr lang="en-US" dirty="0"/>
              <a:t> (1981) — </a:t>
            </a:r>
            <a:r>
              <a:rPr lang="en-US" dirty="0" err="1"/>
              <a:t>программное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взаимного</a:t>
            </a:r>
            <a:r>
              <a:rPr lang="en-US" dirty="0"/>
              <a:t> </a:t>
            </a:r>
            <a:r>
              <a:rPr lang="en-US" dirty="0" err="1"/>
              <a:t>исключения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участников</a:t>
            </a:r>
            <a:r>
              <a:rPr lang="en-US" dirty="0"/>
              <a:t>.</a:t>
            </a:r>
          </a:p>
          <a:p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общие</a:t>
            </a:r>
            <a:r>
              <a:rPr lang="en-US" dirty="0"/>
              <a:t> </a:t>
            </a:r>
            <a:r>
              <a:rPr lang="en-US" dirty="0" err="1"/>
              <a:t>сущности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want[2] — </a:t>
            </a:r>
            <a:r>
              <a:rPr lang="en-US" dirty="0" err="1"/>
              <a:t>флаги</a:t>
            </a:r>
            <a:r>
              <a:rPr lang="en-US" dirty="0"/>
              <a:t> </a:t>
            </a:r>
            <a:r>
              <a:rPr lang="en-US" dirty="0" err="1"/>
              <a:t>намерения</a:t>
            </a:r>
            <a:r>
              <a:rPr lang="en-US" dirty="0"/>
              <a:t> </a:t>
            </a:r>
            <a:r>
              <a:rPr lang="en-US" dirty="0" err="1"/>
              <a:t>войти</a:t>
            </a:r>
            <a:r>
              <a:rPr lang="en-US" dirty="0"/>
              <a:t> в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turn — </a:t>
            </a:r>
            <a:r>
              <a:rPr lang="en-US" dirty="0" err="1"/>
              <a:t>кому</a:t>
            </a:r>
            <a:r>
              <a:rPr lang="en-US" dirty="0"/>
              <a:t> </a:t>
            </a:r>
            <a:r>
              <a:rPr lang="en-US" dirty="0" err="1"/>
              <a:t>уступаем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одновременном</a:t>
            </a:r>
            <a:r>
              <a:rPr lang="en-US" dirty="0"/>
              <a:t> </a:t>
            </a:r>
            <a:r>
              <a:rPr lang="en-US" dirty="0" err="1"/>
              <a:t>запросе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Гарантии</a:t>
            </a:r>
            <a:r>
              <a:rPr lang="en-US" dirty="0"/>
              <a:t> в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последовательной</a:t>
            </a:r>
            <a:r>
              <a:rPr lang="en-US" dirty="0"/>
              <a:t> </a:t>
            </a:r>
            <a:r>
              <a:rPr lang="en-US" dirty="0" err="1"/>
              <a:t>согласованности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Mutual Exclusion, Progress, Bounded Waiting.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4AA94-70CD-18C9-6B9A-36E37CAE35FA}"/>
              </a:ext>
            </a:extLst>
          </p:cNvPr>
          <p:cNvSpPr txBox="1"/>
          <p:nvPr/>
        </p:nvSpPr>
        <p:spPr>
          <a:xfrm>
            <a:off x="6705600" y="1690688"/>
            <a:ext cx="4648200" cy="4946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want[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]{};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turn{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Enter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want[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turn.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(want[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&amp;&amp;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turn.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==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Busy waiting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Leave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want[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37204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40E7F-5D60-B7A7-1915-FE8B31309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программные</a:t>
            </a:r>
            <a:r>
              <a:rPr lang="en-US" dirty="0"/>
              <a:t> </a:t>
            </a:r>
            <a:r>
              <a:rPr lang="en-US" dirty="0" err="1"/>
              <a:t>алгоритмы</a:t>
            </a:r>
            <a:r>
              <a:rPr lang="en-US" dirty="0"/>
              <a:t> </a:t>
            </a:r>
            <a:r>
              <a:rPr lang="en-US" dirty="0" err="1"/>
              <a:t>неудобны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практике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8AB7F-F584-6A71-84BD-174B13697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Петерсона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Busy Waiting — </a:t>
            </a:r>
            <a:r>
              <a:rPr lang="en-US" dirty="0" err="1"/>
              <a:t>ожидающий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расходует</a:t>
            </a:r>
            <a:r>
              <a:rPr lang="en-US" dirty="0"/>
              <a:t> CPU.</a:t>
            </a:r>
          </a:p>
          <a:p>
            <a:pPr lvl="1"/>
            <a:r>
              <a:rPr lang="en-US" dirty="0" err="1"/>
              <a:t>Масштабирование</a:t>
            </a:r>
            <a:r>
              <a:rPr lang="en-US" dirty="0"/>
              <a:t> — </a:t>
            </a:r>
            <a:r>
              <a:rPr lang="en-US" dirty="0" err="1"/>
              <a:t>классический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рассчитан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участников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— </a:t>
            </a:r>
            <a:r>
              <a:rPr lang="en-US" dirty="0" err="1"/>
              <a:t>необходимы</a:t>
            </a:r>
            <a:r>
              <a:rPr lang="en-US" dirty="0"/>
              <a:t> </a:t>
            </a:r>
            <a:r>
              <a:rPr lang="en-US" dirty="0" err="1"/>
              <a:t>гарантии</a:t>
            </a:r>
            <a:r>
              <a:rPr lang="en-US" dirty="0"/>
              <a:t> </a:t>
            </a:r>
            <a:r>
              <a:rPr lang="en-US" dirty="0" err="1"/>
              <a:t>атомарности</a:t>
            </a:r>
            <a:r>
              <a:rPr lang="en-US" dirty="0"/>
              <a:t> и </a:t>
            </a:r>
            <a:r>
              <a:rPr lang="en-US" dirty="0" err="1"/>
              <a:t>порядка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Производительность</a:t>
            </a:r>
            <a:r>
              <a:rPr lang="en-US" dirty="0"/>
              <a:t> — </a:t>
            </a:r>
            <a:r>
              <a:rPr lang="en-US" dirty="0" err="1"/>
              <a:t>постоянные</a:t>
            </a:r>
            <a:r>
              <a:rPr lang="en-US" dirty="0"/>
              <a:t> </a:t>
            </a:r>
            <a:r>
              <a:rPr lang="en-US" dirty="0" err="1"/>
              <a:t>обращения</a:t>
            </a:r>
            <a:r>
              <a:rPr lang="en-US" dirty="0"/>
              <a:t> к </a:t>
            </a:r>
            <a:r>
              <a:rPr lang="en-US" dirty="0" err="1"/>
              <a:t>общим</a:t>
            </a:r>
            <a:r>
              <a:rPr lang="en-US" dirty="0"/>
              <a:t> </a:t>
            </a:r>
            <a:r>
              <a:rPr lang="en-US" dirty="0" err="1"/>
              <a:t>переменным</a:t>
            </a:r>
            <a:r>
              <a:rPr lang="en-US" dirty="0"/>
              <a:t> </a:t>
            </a:r>
            <a:r>
              <a:rPr lang="en-US" dirty="0" err="1"/>
              <a:t>создают</a:t>
            </a:r>
            <a:r>
              <a:rPr lang="en-US" dirty="0"/>
              <a:t> </a:t>
            </a:r>
            <a:r>
              <a:rPr lang="en-US" dirty="0" err="1"/>
              <a:t>накладные</a:t>
            </a:r>
            <a:r>
              <a:rPr lang="en-US" dirty="0"/>
              <a:t> </a:t>
            </a:r>
            <a:r>
              <a:rPr lang="en-US" dirty="0" err="1"/>
              <a:t>расходы</a:t>
            </a:r>
            <a:r>
              <a:rPr lang="en-US" dirty="0"/>
              <a:t>.</a:t>
            </a:r>
          </a:p>
          <a:p>
            <a:r>
              <a:rPr lang="en-US" dirty="0"/>
              <a:t>В C++:</a:t>
            </a:r>
          </a:p>
          <a:p>
            <a:pPr lvl="1"/>
            <a:r>
              <a:rPr lang="en-US" dirty="0" err="1"/>
              <a:t>Обычные</a:t>
            </a:r>
            <a:r>
              <a:rPr lang="en-US" dirty="0"/>
              <a:t> </a:t>
            </a:r>
            <a:r>
              <a:rPr lang="en-US" dirty="0" err="1"/>
              <a:t>переменные</a:t>
            </a:r>
            <a:r>
              <a:rPr lang="en-US" dirty="0"/>
              <a:t> → </a:t>
            </a:r>
            <a:r>
              <a:rPr lang="en-US" dirty="0" err="1"/>
              <a:t>возможен</a:t>
            </a:r>
            <a:r>
              <a:rPr lang="en-US" dirty="0"/>
              <a:t> data race.</a:t>
            </a:r>
          </a:p>
          <a:p>
            <a:pPr lvl="1"/>
            <a:r>
              <a:rPr lang="en-US" dirty="0"/>
              <a:t>volatile →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межпоточную</a:t>
            </a:r>
            <a:r>
              <a:rPr lang="en-US" dirty="0"/>
              <a:t> </a:t>
            </a:r>
            <a:r>
              <a:rPr lang="en-US" dirty="0" err="1"/>
              <a:t>синхронизацию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std::atomic →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необходимые</a:t>
            </a:r>
            <a:r>
              <a:rPr lang="en-US" dirty="0"/>
              <a:t> </a:t>
            </a:r>
            <a:r>
              <a:rPr lang="en-US" dirty="0" err="1"/>
              <a:t>атомарные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и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r>
              <a:rPr lang="en-US" b="1" dirty="0" err="1"/>
              <a:t>Вывод</a:t>
            </a:r>
            <a:r>
              <a:rPr lang="en-US" dirty="0"/>
              <a:t>: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удобные</a:t>
            </a:r>
            <a:r>
              <a:rPr lang="en-US" dirty="0"/>
              <a:t> </a:t>
            </a:r>
            <a:r>
              <a:rPr lang="en-US" dirty="0" err="1"/>
              <a:t>низкоуровневые</a:t>
            </a:r>
            <a:r>
              <a:rPr lang="en-US" dirty="0"/>
              <a:t> </a:t>
            </a:r>
            <a:r>
              <a:rPr lang="en-US" dirty="0" err="1"/>
              <a:t>примитивы</a:t>
            </a:r>
            <a:r>
              <a:rPr lang="en-US" dirty="0"/>
              <a:t>, </a:t>
            </a:r>
            <a:r>
              <a:rPr lang="en-US" dirty="0" err="1"/>
              <a:t>поддерживаемые</a:t>
            </a:r>
            <a:r>
              <a:rPr lang="en-US" dirty="0"/>
              <a:t> </a:t>
            </a:r>
            <a:r>
              <a:rPr lang="en-US" dirty="0" err="1"/>
              <a:t>процессором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850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8E9C7-9D62-A088-DF9D-A385CEAB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атомарные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: TSL и XCHG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29DE2-750C-B4C1-096F-50DA14404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Проблема</a:t>
            </a:r>
            <a:r>
              <a:rPr lang="en-US" dirty="0"/>
              <a:t>: </a:t>
            </a:r>
            <a:r>
              <a:rPr lang="en-US" dirty="0" err="1"/>
              <a:t>проверка</a:t>
            </a:r>
            <a:r>
              <a:rPr lang="en-US" dirty="0"/>
              <a:t> и </a:t>
            </a:r>
            <a:r>
              <a:rPr lang="en-US" dirty="0" err="1"/>
              <a:t>установка</a:t>
            </a:r>
            <a:r>
              <a:rPr lang="en-US" dirty="0"/>
              <a:t> </a:t>
            </a:r>
            <a:r>
              <a:rPr lang="en-US" dirty="0" err="1"/>
              <a:t>переменной</a:t>
            </a:r>
            <a:r>
              <a:rPr lang="en-US" dirty="0"/>
              <a:t> lock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неделимой</a:t>
            </a:r>
            <a:r>
              <a:rPr lang="en-US" dirty="0"/>
              <a:t> </a:t>
            </a:r>
            <a:r>
              <a:rPr lang="en-US" dirty="0" err="1"/>
              <a:t>операцией</a:t>
            </a:r>
            <a:r>
              <a:rPr lang="en-US" dirty="0"/>
              <a:t>.</a:t>
            </a:r>
          </a:p>
          <a:p>
            <a:r>
              <a:rPr lang="en-US" dirty="0" err="1"/>
              <a:t>Решение</a:t>
            </a:r>
            <a:r>
              <a:rPr lang="en-US" dirty="0"/>
              <a:t>: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Read-Modify-Write (RMW).</a:t>
            </a:r>
          </a:p>
          <a:p>
            <a:r>
              <a:rPr lang="en-US" dirty="0" err="1"/>
              <a:t>Примеры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TSL (Test and Set Lock) — </a:t>
            </a:r>
            <a:r>
              <a:rPr lang="en-US" dirty="0" err="1"/>
              <a:t>атомарно</a:t>
            </a:r>
            <a:r>
              <a:rPr lang="en-US" dirty="0"/>
              <a:t> </a:t>
            </a:r>
            <a:r>
              <a:rPr lang="en-US" dirty="0" err="1"/>
              <a:t>прочитать</a:t>
            </a:r>
            <a:r>
              <a:rPr lang="en-US" dirty="0"/>
              <a:t> </a:t>
            </a:r>
            <a:r>
              <a:rPr lang="en-US" dirty="0" err="1"/>
              <a:t>предыдущее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и </a:t>
            </a:r>
            <a:r>
              <a:rPr lang="en-US" dirty="0" err="1"/>
              <a:t>установить</a:t>
            </a:r>
            <a:r>
              <a:rPr lang="en-US" dirty="0"/>
              <a:t> </a:t>
            </a:r>
            <a:r>
              <a:rPr lang="en-US" dirty="0" err="1"/>
              <a:t>блокировку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XCHG — </a:t>
            </a:r>
            <a:r>
              <a:rPr lang="en-US" dirty="0" err="1"/>
              <a:t>атомарно</a:t>
            </a:r>
            <a:r>
              <a:rPr lang="en-US" dirty="0"/>
              <a:t> </a:t>
            </a:r>
            <a:r>
              <a:rPr lang="en-US" dirty="0" err="1"/>
              <a:t>обменять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регистра</a:t>
            </a:r>
            <a:r>
              <a:rPr lang="en-US" dirty="0"/>
              <a:t> и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CMPXCHG — </a:t>
            </a:r>
            <a:r>
              <a:rPr lang="en-US" dirty="0" err="1"/>
              <a:t>атомарно</a:t>
            </a:r>
            <a:r>
              <a:rPr lang="en-US" dirty="0"/>
              <a:t> </a:t>
            </a:r>
            <a:r>
              <a:rPr lang="en-US" dirty="0" err="1"/>
              <a:t>сравнить</a:t>
            </a:r>
            <a:r>
              <a:rPr lang="en-US" dirty="0"/>
              <a:t> и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выполнении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 </a:t>
            </a:r>
            <a:r>
              <a:rPr lang="en-US" dirty="0" err="1"/>
              <a:t>обменять</a:t>
            </a:r>
            <a:r>
              <a:rPr lang="en-US" dirty="0"/>
              <a:t>.</a:t>
            </a:r>
          </a:p>
          <a:p>
            <a:r>
              <a:rPr lang="ru-RU" dirty="0"/>
              <a:t>Гарантируется </a:t>
            </a:r>
            <a:r>
              <a:rPr lang="en-US" dirty="0" err="1"/>
              <a:t>атомарность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ru-RU" dirty="0"/>
              <a:t>на многоядерных системах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168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AB138-ED9C-757C-D380-839FF5DEF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Реализация Spinlock через std::atomic_flag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2BF9F-A717-8E94-4C30-ACADDFE9B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67400" cy="4351338"/>
          </a:xfrm>
        </p:spPr>
        <p:txBody>
          <a:bodyPr>
            <a:normAutofit/>
          </a:bodyPr>
          <a:lstStyle/>
          <a:p>
            <a:r>
              <a:rPr lang="en-US" dirty="0"/>
              <a:t>Spinlock — </a:t>
            </a:r>
            <a:r>
              <a:rPr lang="en-US" dirty="0" err="1"/>
              <a:t>блокировка</a:t>
            </a:r>
            <a:r>
              <a:rPr lang="en-US" dirty="0"/>
              <a:t>,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активно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освобождения</a:t>
            </a:r>
            <a:r>
              <a:rPr lang="en-US" dirty="0"/>
              <a:t> </a:t>
            </a:r>
            <a:r>
              <a:rPr lang="en-US" dirty="0" err="1"/>
              <a:t>ресурса</a:t>
            </a:r>
            <a:r>
              <a:rPr lang="en-US" dirty="0"/>
              <a:t>.</a:t>
            </a:r>
          </a:p>
          <a:p>
            <a:r>
              <a:rPr lang="en-US" dirty="0" err="1"/>
              <a:t>Ключевые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test_and_set</a:t>
            </a:r>
            <a:r>
              <a:rPr lang="en-US" dirty="0"/>
              <a:t>() — </a:t>
            </a:r>
            <a:r>
              <a:rPr lang="en-US" dirty="0" err="1"/>
              <a:t>атомарно</a:t>
            </a:r>
            <a:r>
              <a:rPr lang="en-US" dirty="0"/>
              <a:t> </a:t>
            </a:r>
            <a:r>
              <a:rPr lang="en-US" dirty="0" err="1"/>
              <a:t>устанавливает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 и </a:t>
            </a:r>
            <a:r>
              <a:rPr lang="en-US" dirty="0" err="1"/>
              <a:t>возвращает</a:t>
            </a:r>
            <a:r>
              <a:rPr lang="en-US" dirty="0"/>
              <a:t> </a:t>
            </a:r>
            <a:r>
              <a:rPr lang="en-US" dirty="0" err="1"/>
              <a:t>предыдущее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clear() — </a:t>
            </a:r>
            <a:r>
              <a:rPr lang="en-US" dirty="0" err="1"/>
              <a:t>освобождает</a:t>
            </a:r>
            <a:r>
              <a:rPr lang="en-US" dirty="0"/>
              <a:t> </a:t>
            </a:r>
            <a:r>
              <a:rPr lang="en-US" dirty="0" err="1"/>
              <a:t>блокировку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acquire/release — </a:t>
            </a:r>
            <a:r>
              <a:rPr lang="en-US" dirty="0" err="1"/>
              <a:t>обеспечивают</a:t>
            </a:r>
            <a:r>
              <a:rPr lang="en-US" dirty="0"/>
              <a:t> </a:t>
            </a:r>
            <a:r>
              <a:rPr lang="en-US" dirty="0" err="1"/>
              <a:t>необходимый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к </a:t>
            </a:r>
            <a:r>
              <a:rPr lang="en-US" dirty="0" err="1"/>
              <a:t>защищаемым</a:t>
            </a:r>
            <a:r>
              <a:rPr lang="en-US" dirty="0"/>
              <a:t> </a:t>
            </a:r>
            <a:r>
              <a:rPr lang="en-US" dirty="0" err="1"/>
              <a:t>данным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2A11CF-5A61-043D-6D2C-1DE109028118}"/>
              </a:ext>
            </a:extLst>
          </p:cNvPr>
          <p:cNvSpPr txBox="1"/>
          <p:nvPr/>
        </p:nvSpPr>
        <p:spPr>
          <a:xfrm>
            <a:off x="6705600" y="1825625"/>
            <a:ext cx="5353050" cy="372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SpinLock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m_locked.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test_and_set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memory_order_acquire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// Busy waiting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13095"/>
              </a:lnSpc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unlock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m_locked.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memory_order_release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atomic_flag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m_locked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ATOMIC_FLAG_INIT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05027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26491-FBDB-5A23-E0AF-BF0C8B038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Когда</a:t>
            </a:r>
            <a:r>
              <a:rPr lang="en-US" dirty="0"/>
              <a:t> Spinlock </a:t>
            </a:r>
            <a:r>
              <a:rPr lang="en-US" dirty="0" err="1"/>
              <a:t>эффективен</a:t>
            </a:r>
            <a:r>
              <a:rPr lang="en-US" dirty="0"/>
              <a:t>, а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858AE-C50B-CE1C-61E7-E44E1BAF3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13075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Преимущества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блокирующее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Эффективен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 </a:t>
            </a:r>
            <a:r>
              <a:rPr lang="en-US" dirty="0" err="1"/>
              <a:t>освобождается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использоваться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коротких</a:t>
            </a:r>
            <a:r>
              <a:rPr lang="en-US" dirty="0"/>
              <a:t> </a:t>
            </a:r>
            <a:r>
              <a:rPr lang="en-US" dirty="0" err="1"/>
              <a:t>критических</a:t>
            </a:r>
            <a:r>
              <a:rPr lang="en-US" dirty="0"/>
              <a:t> </a:t>
            </a:r>
            <a:r>
              <a:rPr lang="en-US" dirty="0" err="1"/>
              <a:t>секций</a:t>
            </a:r>
            <a:r>
              <a:rPr lang="en-US" dirty="0"/>
              <a:t>.</a:t>
            </a:r>
          </a:p>
          <a:p>
            <a:r>
              <a:rPr lang="en-US" dirty="0" err="1"/>
              <a:t>Недостатки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Busy waiting </a:t>
            </a:r>
            <a:r>
              <a:rPr lang="en-US" dirty="0" err="1"/>
              <a:t>расходует</a:t>
            </a:r>
            <a:r>
              <a:rPr lang="en-US" dirty="0"/>
              <a:t> CPU.</a:t>
            </a:r>
          </a:p>
          <a:p>
            <a:pPr lvl="1"/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гарантии</a:t>
            </a:r>
            <a:r>
              <a:rPr lang="en-US" dirty="0"/>
              <a:t> </a:t>
            </a:r>
            <a:r>
              <a:rPr lang="en-US" dirty="0" err="1"/>
              <a:t>справедливости</a:t>
            </a:r>
            <a:r>
              <a:rPr lang="en-US" dirty="0"/>
              <a:t> — </a:t>
            </a:r>
            <a:r>
              <a:rPr lang="en-US" dirty="0" err="1"/>
              <a:t>возможно</a:t>
            </a:r>
            <a:r>
              <a:rPr lang="en-US" dirty="0"/>
              <a:t> </a:t>
            </a:r>
            <a:r>
              <a:rPr lang="en-US" dirty="0" err="1"/>
              <a:t>голодание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владелец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 </a:t>
            </a:r>
            <a:r>
              <a:rPr lang="en-US" dirty="0" err="1"/>
              <a:t>вытеснен</a:t>
            </a:r>
            <a:r>
              <a:rPr lang="en-US" dirty="0"/>
              <a:t>, </a:t>
            </a:r>
            <a:r>
              <a:rPr lang="en-US" dirty="0" err="1"/>
              <a:t>ожидающий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бесполезно</a:t>
            </a:r>
            <a:r>
              <a:rPr lang="en-US" dirty="0"/>
              <a:t> </a:t>
            </a:r>
            <a:r>
              <a:rPr lang="en-US" dirty="0" err="1"/>
              <a:t>занимать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высокой</a:t>
            </a:r>
            <a:r>
              <a:rPr lang="en-US" dirty="0"/>
              <a:t> </a:t>
            </a:r>
            <a:r>
              <a:rPr lang="en-US" dirty="0" err="1"/>
              <a:t>конкуренцией</a:t>
            </a:r>
            <a:r>
              <a:rPr lang="en-US" dirty="0"/>
              <a:t> </a:t>
            </a:r>
            <a:r>
              <a:rPr lang="en-US" dirty="0" err="1"/>
              <a:t>растут</a:t>
            </a:r>
            <a:r>
              <a:rPr lang="en-US" dirty="0"/>
              <a:t> </a:t>
            </a:r>
            <a:r>
              <a:rPr lang="en-US" dirty="0" err="1"/>
              <a:t>накладные</a:t>
            </a:r>
            <a:r>
              <a:rPr lang="en-US" dirty="0"/>
              <a:t> </a:t>
            </a:r>
            <a:r>
              <a:rPr lang="en-US" dirty="0" err="1"/>
              <a:t>расходы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синхронизацию</a:t>
            </a:r>
            <a:r>
              <a:rPr lang="en-US" dirty="0"/>
              <a:t> </a:t>
            </a:r>
            <a:r>
              <a:rPr lang="en-US" dirty="0" err="1"/>
              <a:t>кэшей</a:t>
            </a:r>
            <a:r>
              <a:rPr lang="en-US" dirty="0"/>
              <a:t>.</a:t>
            </a:r>
          </a:p>
          <a:p>
            <a:r>
              <a:rPr lang="en-US" dirty="0"/>
              <a:t>Spinlock </a:t>
            </a:r>
            <a:r>
              <a:rPr lang="en-US" dirty="0" err="1"/>
              <a:t>подходит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ожидаемое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удержания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мало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3650C-6A53-0D40-D211-5CA52C363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625" y="4992687"/>
            <a:ext cx="8954750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654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D7E77-D023-844C-9599-8D75B6016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Итоги</a:t>
            </a:r>
            <a:r>
              <a:rPr lang="en-US" dirty="0"/>
              <a:t>: </a:t>
            </a:r>
            <a:r>
              <a:rPr lang="en-US" dirty="0" err="1"/>
              <a:t>от</a:t>
            </a:r>
            <a:r>
              <a:rPr lang="en-US" dirty="0"/>
              <a:t> Busy Waiting к </a:t>
            </a:r>
            <a:r>
              <a:rPr lang="en-US" dirty="0" err="1"/>
              <a:t>блокирующей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367F0-336A-B43C-7F95-3DC1DFDDA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Мы рассмотрели несколько способов реализации взаимного исключения:</a:t>
            </a:r>
          </a:p>
          <a:p>
            <a:pPr lvl="1"/>
            <a:r>
              <a:rPr lang="en-US" dirty="0" err="1"/>
              <a:t>Отключение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ru-RU" dirty="0"/>
              <a:t> – действует локально на 1 </a:t>
            </a:r>
            <a:r>
              <a:rPr lang="en-US" dirty="0"/>
              <a:t>CPU</a:t>
            </a:r>
          </a:p>
          <a:p>
            <a:pPr lvl="1"/>
            <a:r>
              <a:rPr lang="en-US" dirty="0" err="1"/>
              <a:t>Простая</a:t>
            </a:r>
            <a:r>
              <a:rPr lang="en-US" dirty="0"/>
              <a:t> lock-</a:t>
            </a:r>
            <a:r>
              <a:rPr lang="en-US" dirty="0" err="1"/>
              <a:t>переменная</a:t>
            </a:r>
            <a:r>
              <a:rPr lang="en-US" dirty="0"/>
              <a:t>:</a:t>
            </a:r>
            <a:r>
              <a:rPr lang="ru-RU" dirty="0"/>
              <a:t> - гонка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проверкой</a:t>
            </a:r>
            <a:r>
              <a:rPr lang="en-US" dirty="0"/>
              <a:t> и </a:t>
            </a:r>
            <a:r>
              <a:rPr lang="en-US" dirty="0" err="1"/>
              <a:t>захватом</a:t>
            </a:r>
            <a:endParaRPr lang="ru-RU" dirty="0"/>
          </a:p>
          <a:p>
            <a:pPr lvl="1"/>
            <a:r>
              <a:rPr lang="en-US" dirty="0"/>
              <a:t>Strict Alternation</a:t>
            </a:r>
            <a:r>
              <a:rPr lang="ru-RU" dirty="0"/>
              <a:t> - </a:t>
            </a:r>
            <a:r>
              <a:rPr lang="en-US" dirty="0" err="1"/>
              <a:t>Нарушает</a:t>
            </a:r>
            <a:r>
              <a:rPr lang="en-US" dirty="0"/>
              <a:t> progress</a:t>
            </a:r>
            <a:endParaRPr lang="ru-RU" dirty="0"/>
          </a:p>
          <a:p>
            <a:pPr lvl="1"/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Петерсона</a:t>
            </a:r>
            <a:r>
              <a:rPr lang="ru-RU" dirty="0"/>
              <a:t> – </a:t>
            </a:r>
            <a:r>
              <a:rPr lang="en-US" dirty="0" err="1"/>
              <a:t>Сложность</a:t>
            </a:r>
            <a:r>
              <a:rPr lang="ru-RU" dirty="0"/>
              <a:t> </a:t>
            </a:r>
            <a:r>
              <a:rPr lang="en-US" dirty="0" err="1"/>
              <a:t>практического</a:t>
            </a:r>
            <a:r>
              <a:rPr lang="en-US" dirty="0"/>
              <a:t> </a:t>
            </a:r>
            <a:r>
              <a:rPr lang="en-US" dirty="0" err="1"/>
              <a:t>применения</a:t>
            </a:r>
            <a:endParaRPr lang="ru-RU" dirty="0"/>
          </a:p>
          <a:p>
            <a:pPr lvl="1"/>
            <a:r>
              <a:rPr lang="en-US" dirty="0" err="1"/>
              <a:t>Атомарные</a:t>
            </a:r>
            <a:r>
              <a:rPr lang="en-US" dirty="0"/>
              <a:t> RMW-</a:t>
            </a:r>
            <a:r>
              <a:rPr lang="en-US" dirty="0" err="1"/>
              <a:t>инструкции</a:t>
            </a:r>
            <a:r>
              <a:rPr lang="ru-RU" dirty="0"/>
              <a:t> - </a:t>
            </a:r>
            <a:r>
              <a:rPr lang="en-US" dirty="0" err="1"/>
              <a:t>Основа</a:t>
            </a:r>
            <a:r>
              <a:rPr lang="en-US" dirty="0"/>
              <a:t> </a:t>
            </a:r>
            <a:r>
              <a:rPr lang="en-US" dirty="0" err="1"/>
              <a:t>блокировок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готовая</a:t>
            </a:r>
            <a:r>
              <a:rPr lang="en-US" dirty="0"/>
              <a:t> </a:t>
            </a:r>
            <a:r>
              <a:rPr lang="en-US" dirty="0" err="1"/>
              <a:t>политика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endParaRPr lang="ru-RU" dirty="0"/>
          </a:p>
          <a:p>
            <a:pPr lvl="1"/>
            <a:r>
              <a:rPr lang="en-US" dirty="0"/>
              <a:t>Spinlock</a:t>
            </a:r>
            <a:r>
              <a:rPr lang="ru-RU" dirty="0"/>
              <a:t> - </a:t>
            </a:r>
            <a:r>
              <a:rPr lang="en-US" dirty="0" err="1"/>
              <a:t>Расходует</a:t>
            </a:r>
            <a:r>
              <a:rPr lang="en-US" dirty="0"/>
              <a:t> CPU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ожидании</a:t>
            </a:r>
            <a:endParaRPr lang="ru-RU" dirty="0"/>
          </a:p>
          <a:p>
            <a:r>
              <a:rPr lang="en-US" dirty="0" err="1"/>
              <a:t>Атомарные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построить</a:t>
            </a:r>
            <a:r>
              <a:rPr lang="en-US" dirty="0"/>
              <a:t> </a:t>
            </a:r>
            <a:r>
              <a:rPr lang="en-US" dirty="0" err="1"/>
              <a:t>корректную</a:t>
            </a:r>
            <a:r>
              <a:rPr lang="en-US" dirty="0"/>
              <a:t> </a:t>
            </a:r>
            <a:r>
              <a:rPr lang="en-US" dirty="0" err="1"/>
              <a:t>блокировку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активное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эффективно</a:t>
            </a:r>
            <a:r>
              <a:rPr lang="en-US" dirty="0"/>
              <a:t>.</a:t>
            </a:r>
          </a:p>
          <a:p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шаг</a:t>
            </a:r>
            <a:r>
              <a:rPr lang="en-US" dirty="0"/>
              <a:t>: </a:t>
            </a:r>
            <a:r>
              <a:rPr lang="en-US" dirty="0" err="1"/>
              <a:t>блокировать</a:t>
            </a:r>
            <a:r>
              <a:rPr lang="en-US" dirty="0"/>
              <a:t> </a:t>
            </a:r>
            <a:r>
              <a:rPr lang="en-US" dirty="0" err="1"/>
              <a:t>ожидающий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и </a:t>
            </a:r>
            <a:r>
              <a:rPr lang="en-US" dirty="0" err="1"/>
              <a:t>освобождать</a:t>
            </a:r>
            <a:r>
              <a:rPr lang="en-US" dirty="0"/>
              <a:t> CPU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131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45BC9AF-5D00-BD2C-E827-924B37C93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Спинлоки</a:t>
            </a:r>
            <a:r>
              <a:rPr lang="ru-RU" dirty="0"/>
              <a:t> в ядре </a:t>
            </a:r>
            <a:r>
              <a:rPr lang="en-US" dirty="0"/>
              <a:t>Linux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2F09B7-D51F-29B4-3E7B-FB0255DF2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814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A57D56-8FBC-C764-CBFA-0265EF3B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Спинлоки</a:t>
            </a:r>
            <a:r>
              <a:rPr lang="en-US" dirty="0"/>
              <a:t> и </a:t>
            </a:r>
            <a:r>
              <a:rPr lang="en-US" dirty="0" err="1"/>
              <a:t>прерывания</a:t>
            </a:r>
            <a:r>
              <a:rPr lang="en-US" dirty="0"/>
              <a:t>: </a:t>
            </a:r>
            <a:r>
              <a:rPr lang="en-US" dirty="0" err="1"/>
              <a:t>опасность</a:t>
            </a:r>
            <a:r>
              <a:rPr lang="en-US" dirty="0"/>
              <a:t> </a:t>
            </a:r>
            <a:r>
              <a:rPr lang="en-US" dirty="0" err="1"/>
              <a:t>взаимной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13D5D5-FDF3-D8A4-CFE5-A86D494A0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В </a:t>
            </a:r>
            <a:r>
              <a:rPr lang="en-US" dirty="0" err="1"/>
              <a:t>обычном</a:t>
            </a:r>
            <a:r>
              <a:rPr lang="en-US" dirty="0"/>
              <a:t> </a:t>
            </a:r>
            <a:r>
              <a:rPr lang="en-US" dirty="0" err="1"/>
              <a:t>ядре</a:t>
            </a:r>
            <a:r>
              <a:rPr lang="en-US" dirty="0"/>
              <a:t> Linux </a:t>
            </a:r>
            <a:r>
              <a:rPr lang="en-US" b="1" dirty="0" err="1"/>
              <a:t>spin_lock</a:t>
            </a:r>
            <a:r>
              <a:rPr lang="en-US" b="1" dirty="0"/>
              <a:t>()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dirty="0" err="1"/>
              <a:t>спинлок</a:t>
            </a:r>
            <a:r>
              <a:rPr lang="en-US" dirty="0"/>
              <a:t> и </a:t>
            </a:r>
            <a:r>
              <a:rPr lang="en-US" dirty="0" err="1"/>
              <a:t>запрещает</a:t>
            </a:r>
            <a:r>
              <a:rPr lang="en-US" dirty="0"/>
              <a:t> </a:t>
            </a:r>
            <a:r>
              <a:rPr lang="en-US" dirty="0" err="1"/>
              <a:t>вытеснение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.</a:t>
            </a:r>
          </a:p>
          <a:p>
            <a:pPr lvl="1"/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отключает</a:t>
            </a:r>
            <a:r>
              <a:rPr lang="en-US" dirty="0"/>
              <a:t>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текущем</a:t>
            </a:r>
            <a:r>
              <a:rPr lang="en-US" dirty="0"/>
              <a:t> CPU.</a:t>
            </a:r>
          </a:p>
          <a:p>
            <a:pPr lvl="1"/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привести</a:t>
            </a:r>
            <a:r>
              <a:rPr lang="en-US" dirty="0"/>
              <a:t> к deadlock,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</a:t>
            </a:r>
            <a:r>
              <a:rPr lang="en-US" dirty="0" err="1"/>
              <a:t>попытается</a:t>
            </a:r>
            <a:r>
              <a:rPr lang="en-US" dirty="0"/>
              <a:t> </a:t>
            </a:r>
            <a:r>
              <a:rPr lang="en-US" dirty="0" err="1"/>
              <a:t>захватить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спинлок</a:t>
            </a:r>
            <a:r>
              <a:rPr lang="en-US" dirty="0"/>
              <a:t>.</a:t>
            </a:r>
          </a:p>
          <a:p>
            <a:r>
              <a:rPr lang="en-US" dirty="0" err="1"/>
              <a:t>Сценарий</a:t>
            </a:r>
            <a:r>
              <a:rPr lang="en-US" dirty="0"/>
              <a:t> </a:t>
            </a:r>
            <a:r>
              <a:rPr lang="en-US" dirty="0" err="1"/>
              <a:t>взаимной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: </a:t>
            </a:r>
            <a:r>
              <a:rPr lang="en-US" dirty="0" err="1"/>
              <a:t>spin_lock</a:t>
            </a:r>
            <a:r>
              <a:rPr lang="en-US" dirty="0"/>
              <a:t>(&amp;lock)</a:t>
            </a:r>
          </a:p>
          <a:p>
            <a:pPr lvl="1"/>
            <a:r>
              <a:rPr lang="en-US" dirty="0" err="1"/>
              <a:t>Аппаратное</a:t>
            </a:r>
            <a:r>
              <a:rPr lang="en-US" dirty="0"/>
              <a:t> </a:t>
            </a:r>
            <a:r>
              <a:rPr lang="en-US" dirty="0" err="1"/>
              <a:t>прерывание</a:t>
            </a:r>
            <a:endParaRPr lang="en-US" dirty="0"/>
          </a:p>
          <a:p>
            <a:pPr lvl="1"/>
            <a:r>
              <a:rPr lang="en-US" dirty="0"/>
              <a:t>IRQ handler: </a:t>
            </a:r>
            <a:r>
              <a:rPr lang="en-US" dirty="0" err="1"/>
              <a:t>spin_lock</a:t>
            </a:r>
            <a:r>
              <a:rPr lang="en-US" dirty="0"/>
              <a:t>(&amp;lock)</a:t>
            </a:r>
          </a:p>
          <a:p>
            <a:pPr lvl="1"/>
            <a:r>
              <a:rPr lang="en-US" dirty="0"/>
              <a:t>DEADLOCK</a:t>
            </a:r>
            <a:endParaRPr lang="ru-RU" dirty="0"/>
          </a:p>
          <a:p>
            <a:r>
              <a:rPr lang="en-US" b="1" dirty="0" err="1"/>
              <a:t>Причина</a:t>
            </a:r>
            <a:r>
              <a:rPr lang="en-US" dirty="0"/>
              <a:t>: </a:t>
            </a:r>
            <a:r>
              <a:rPr lang="en-US" dirty="0" err="1"/>
              <a:t>обработчик</a:t>
            </a:r>
            <a:r>
              <a:rPr lang="en-US" dirty="0"/>
              <a:t> </a:t>
            </a:r>
            <a:r>
              <a:rPr lang="en-US" dirty="0" err="1"/>
              <a:t>ждёт</a:t>
            </a:r>
            <a:r>
              <a:rPr lang="en-US" dirty="0"/>
              <a:t> </a:t>
            </a:r>
            <a:r>
              <a:rPr lang="en-US" dirty="0" err="1"/>
              <a:t>освобождения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владелец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завершится</a:t>
            </a:r>
            <a:r>
              <a:rPr lang="en-US" dirty="0"/>
              <a:t>.</a:t>
            </a:r>
          </a:p>
          <a:p>
            <a:r>
              <a:rPr lang="en-US" b="1" dirty="0" err="1"/>
              <a:t>Решение</a:t>
            </a:r>
            <a:r>
              <a:rPr lang="en-US" dirty="0"/>
              <a:t>: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отключать</a:t>
            </a:r>
            <a:r>
              <a:rPr lang="en-US" dirty="0"/>
              <a:t> </a:t>
            </a:r>
            <a:r>
              <a:rPr lang="en-US" dirty="0" err="1"/>
              <a:t>локальные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захватом</a:t>
            </a:r>
            <a:r>
              <a:rPr lang="en-US" dirty="0"/>
              <a:t> </a:t>
            </a:r>
            <a:r>
              <a:rPr lang="en-US" dirty="0" err="1"/>
              <a:t>спинлока</a:t>
            </a:r>
            <a:r>
              <a:rPr lang="en-US" dirty="0"/>
              <a:t>.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032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A2E56-CDB6-5460-A732-54D513923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Спинлоки</a:t>
            </a:r>
            <a:r>
              <a:rPr lang="en-US" dirty="0"/>
              <a:t> в Linux: </a:t>
            </a:r>
            <a:r>
              <a:rPr lang="en-US" dirty="0" err="1"/>
              <a:t>spin_lock</a:t>
            </a:r>
            <a:r>
              <a:rPr lang="en-US" dirty="0"/>
              <a:t>, </a:t>
            </a:r>
            <a:r>
              <a:rPr lang="en-US" dirty="0" err="1"/>
              <a:t>irq</a:t>
            </a:r>
            <a:r>
              <a:rPr lang="en-US" dirty="0"/>
              <a:t> и </a:t>
            </a:r>
            <a:r>
              <a:rPr lang="en-US" dirty="0" err="1"/>
              <a:t>irqsave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F1F799D-B15F-1CBC-C4AA-F59ADBD7C7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7180459"/>
              </p:ext>
            </p:extLst>
          </p:nvPr>
        </p:nvGraphicFramePr>
        <p:xfrm>
          <a:off x="838200" y="1825625"/>
          <a:ext cx="105156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830">
                  <a:extLst>
                    <a:ext uri="{9D8B030D-6E8A-4147-A177-3AD203B41FA5}">
                      <a16:colId xmlns:a16="http://schemas.microsoft.com/office/drawing/2014/main" val="1603202591"/>
                    </a:ext>
                  </a:extLst>
                </a:gridCol>
                <a:gridCol w="4771570">
                  <a:extLst>
                    <a:ext uri="{9D8B030D-6E8A-4147-A177-3AD203B41FA5}">
                      <a16:colId xmlns:a16="http://schemas.microsoft.com/office/drawing/2014/main" val="376178133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462143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Функция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Поведение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Когда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использовать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41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spin_lock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Захватывает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блокировку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отключает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вытеснение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Нет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конкуренции</a:t>
                      </a:r>
                      <a:r>
                        <a:rPr lang="en-US" dirty="0"/>
                        <a:t> с </a:t>
                      </a:r>
                      <a:r>
                        <a:rPr lang="en-US" dirty="0" err="1"/>
                        <a:t>обработчиками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прерываний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219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spin_lock_irq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Дополнительно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отключает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локальные</a:t>
                      </a:r>
                      <a:r>
                        <a:rPr lang="en-US" dirty="0"/>
                        <a:t> IRQ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Прерывания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заведомо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разрешены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перед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захватом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872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spin_lock_irqsave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Сохраняет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состояние</a:t>
                      </a:r>
                      <a:r>
                        <a:rPr lang="en-US" dirty="0"/>
                        <a:t> IRQ и </a:t>
                      </a:r>
                      <a:r>
                        <a:rPr lang="en-US" dirty="0" err="1"/>
                        <a:t>отключает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их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Исходное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состояние</a:t>
                      </a:r>
                      <a:r>
                        <a:rPr lang="en-US" dirty="0"/>
                        <a:t> IRQ </a:t>
                      </a:r>
                      <a:r>
                        <a:rPr lang="en-US" dirty="0" err="1"/>
                        <a:t>может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быть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различным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5546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D96110E-808C-1EB0-89E0-4A5020925D5C}"/>
              </a:ext>
            </a:extLst>
          </p:cNvPr>
          <p:cNvSpPr txBox="1"/>
          <p:nvPr/>
        </p:nvSpPr>
        <p:spPr>
          <a:xfrm>
            <a:off x="838199" y="4385898"/>
            <a:ext cx="782682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flags;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spin_lock_irqsave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flags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update_shared_data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Короткая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критическая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секция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spin_unlock_irqrestore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flags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717364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14A3DA-7744-52FB-6CFD-ABB0023D7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Сон и пробуждение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7A82F0-5F02-3A08-169E-C1FC0AA0A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76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5BCEDE-7182-B6FD-62C0-C79DB6560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Блокирующее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Busy Waiting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0FE8DF-8925-3C98-3892-1777652FF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277549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Проблема</a:t>
            </a:r>
            <a:r>
              <a:rPr lang="en-US" dirty="0"/>
              <a:t>: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активном</a:t>
            </a:r>
            <a:r>
              <a:rPr lang="en-US" dirty="0"/>
              <a:t> </a:t>
            </a:r>
            <a:r>
              <a:rPr lang="en-US" dirty="0" err="1"/>
              <a:t>ожидании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расходует</a:t>
            </a:r>
            <a:r>
              <a:rPr lang="en-US" dirty="0"/>
              <a:t> CPU,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 </a:t>
            </a:r>
            <a:r>
              <a:rPr lang="en-US" dirty="0" err="1"/>
              <a:t>занят</a:t>
            </a:r>
            <a:r>
              <a:rPr lang="en-US" dirty="0"/>
              <a:t>.</a:t>
            </a:r>
          </a:p>
          <a:p>
            <a:r>
              <a:rPr lang="en-US" dirty="0" err="1"/>
              <a:t>Решение</a:t>
            </a:r>
            <a:r>
              <a:rPr lang="en-US" dirty="0"/>
              <a:t> — </a:t>
            </a:r>
            <a:r>
              <a:rPr lang="en-US" dirty="0" err="1"/>
              <a:t>блокирующее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 (Blocking Wait):</a:t>
            </a:r>
          </a:p>
          <a:p>
            <a:pPr lvl="1"/>
            <a:r>
              <a:rPr lang="en-US" b="1" dirty="0"/>
              <a:t>Sleep</a:t>
            </a:r>
            <a:r>
              <a:rPr lang="en-US" dirty="0"/>
              <a:t> —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переходит</a:t>
            </a:r>
            <a:r>
              <a:rPr lang="en-US" dirty="0"/>
              <a:t> в </a:t>
            </a:r>
            <a:r>
              <a:rPr lang="en-US" dirty="0" err="1"/>
              <a:t>состояние</a:t>
            </a:r>
            <a:r>
              <a:rPr lang="en-US" dirty="0"/>
              <a:t> Blocked и </a:t>
            </a:r>
            <a:r>
              <a:rPr lang="en-US" dirty="0" err="1"/>
              <a:t>освобождает</a:t>
            </a:r>
            <a:r>
              <a:rPr lang="en-US" dirty="0"/>
              <a:t> CPU.</a:t>
            </a:r>
          </a:p>
          <a:p>
            <a:pPr lvl="1"/>
            <a:r>
              <a:rPr lang="en-US" b="1" dirty="0"/>
              <a:t>Wakeup</a:t>
            </a:r>
            <a:r>
              <a:rPr lang="en-US" dirty="0"/>
              <a:t> —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наступлении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переводится</a:t>
            </a:r>
            <a:r>
              <a:rPr lang="en-US" dirty="0"/>
              <a:t> в </a:t>
            </a:r>
            <a:r>
              <a:rPr lang="en-US" dirty="0" err="1"/>
              <a:t>состояние</a:t>
            </a:r>
            <a:r>
              <a:rPr lang="en-US" dirty="0"/>
              <a:t> Ready.</a:t>
            </a:r>
          </a:p>
          <a:p>
            <a:pPr lvl="1"/>
            <a:r>
              <a:rPr lang="en-US" b="1" dirty="0"/>
              <a:t>Scheduler</a:t>
            </a:r>
            <a:r>
              <a:rPr lang="en-US" dirty="0"/>
              <a:t> — </a:t>
            </a:r>
            <a:r>
              <a:rPr lang="en-US" dirty="0" err="1"/>
              <a:t>возобновляет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выделит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.</a:t>
            </a:r>
          </a:p>
          <a:p>
            <a:r>
              <a:rPr lang="ru-RU" dirty="0"/>
              <a:t>П</a:t>
            </a:r>
            <a:r>
              <a:rPr lang="en-US" dirty="0" err="1"/>
              <a:t>ока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ждёт</a:t>
            </a:r>
            <a:r>
              <a:rPr lang="en-US" dirty="0"/>
              <a:t>, CPU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r>
              <a:rPr lang="ru-RU" dirty="0"/>
              <a:t>Б</a:t>
            </a:r>
            <a:r>
              <a:rPr lang="en-US" dirty="0" err="1"/>
              <a:t>локировка</a:t>
            </a:r>
            <a:r>
              <a:rPr lang="en-US" dirty="0"/>
              <a:t> и </a:t>
            </a:r>
            <a:r>
              <a:rPr lang="en-US" dirty="0" err="1"/>
              <a:t>пробуждение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потребовать</a:t>
            </a:r>
            <a:r>
              <a:rPr lang="en-US" dirty="0"/>
              <a:t> </a:t>
            </a:r>
            <a:r>
              <a:rPr lang="en-US" dirty="0" err="1"/>
              <a:t>переключения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8B95C0-225B-B38C-3E2E-66B841118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696" y="4913393"/>
            <a:ext cx="6774608" cy="175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7951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4DA2A-19A0-677E-1DA9-345472055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Sleep/Wakeup: </a:t>
            </a:r>
            <a:r>
              <a:rPr lang="en-US" dirty="0" err="1"/>
              <a:t>ожидание</a:t>
            </a:r>
            <a:r>
              <a:rPr lang="en-US" dirty="0"/>
              <a:t> и </a:t>
            </a:r>
            <a:r>
              <a:rPr lang="en-US" dirty="0" err="1"/>
              <a:t>пробуждение</a:t>
            </a:r>
            <a:r>
              <a:rPr lang="en-US" dirty="0"/>
              <a:t> в ОС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D9AF9-8386-C1C5-F4CD-0F518FA76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48153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проверяет</a:t>
            </a:r>
            <a:r>
              <a:rPr lang="en-US" dirty="0"/>
              <a:t> </a:t>
            </a:r>
            <a:r>
              <a:rPr lang="en-US" dirty="0" err="1"/>
              <a:t>условие</a:t>
            </a:r>
            <a:r>
              <a:rPr lang="en-US" dirty="0"/>
              <a:t> </a:t>
            </a:r>
            <a:r>
              <a:rPr lang="en-US" dirty="0" err="1"/>
              <a:t>продолжения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условие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выполнено</a:t>
            </a:r>
            <a:r>
              <a:rPr lang="en-US" dirty="0"/>
              <a:t> — </a:t>
            </a:r>
            <a:r>
              <a:rPr lang="en-US" dirty="0" err="1"/>
              <a:t>становится</a:t>
            </a:r>
            <a:r>
              <a:rPr lang="en-US" dirty="0"/>
              <a:t> в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и </a:t>
            </a:r>
            <a:r>
              <a:rPr lang="en-US" dirty="0" err="1"/>
              <a:t>блокируется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изменяет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и </a:t>
            </a:r>
            <a:r>
              <a:rPr lang="en-US" dirty="0" err="1"/>
              <a:t>инициирует</a:t>
            </a:r>
            <a:r>
              <a:rPr lang="en-US" dirty="0"/>
              <a:t> </a:t>
            </a:r>
            <a:r>
              <a:rPr lang="en-US" dirty="0" err="1"/>
              <a:t>пробуждение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Пробуждённый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проверяет</a:t>
            </a:r>
            <a:r>
              <a:rPr lang="en-US" dirty="0"/>
              <a:t> </a:t>
            </a:r>
            <a:r>
              <a:rPr lang="en-US" dirty="0" err="1"/>
              <a:t>условие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Примеры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Linux, </a:t>
            </a:r>
            <a:r>
              <a:rPr lang="en-US" dirty="0" err="1"/>
              <a:t>ядро</a:t>
            </a:r>
            <a:r>
              <a:rPr lang="en-US" dirty="0"/>
              <a:t>: </a:t>
            </a:r>
            <a:r>
              <a:rPr lang="en-US" dirty="0" err="1"/>
              <a:t>wait_event</a:t>
            </a:r>
            <a:r>
              <a:rPr lang="en-US" dirty="0"/>
              <a:t>(), </a:t>
            </a:r>
            <a:r>
              <a:rPr lang="en-US" dirty="0" err="1"/>
              <a:t>wake_up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Linux, </a:t>
            </a:r>
            <a:r>
              <a:rPr lang="en-US" dirty="0" err="1"/>
              <a:t>пользовательский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r>
              <a:rPr lang="en-US" dirty="0"/>
              <a:t>: </a:t>
            </a:r>
            <a:r>
              <a:rPr lang="en-US" dirty="0" err="1"/>
              <a:t>futex</a:t>
            </a:r>
            <a:endParaRPr lang="en-US" dirty="0"/>
          </a:p>
          <a:p>
            <a:pPr lvl="1"/>
            <a:r>
              <a:rPr lang="en-US" dirty="0"/>
              <a:t>Windows: </a:t>
            </a:r>
            <a:r>
              <a:rPr lang="en-US" dirty="0" err="1"/>
              <a:t>WaitForSingleObject</a:t>
            </a:r>
            <a:r>
              <a:rPr lang="en-US" dirty="0"/>
              <a:t>(), </a:t>
            </a:r>
            <a:r>
              <a:rPr lang="en-US" dirty="0" err="1"/>
              <a:t>SetEvent</a:t>
            </a:r>
            <a:r>
              <a:rPr lang="en-US" dirty="0"/>
              <a:t>()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8A2A00-AC23-9193-6026-F0FAB6E9647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9735" y="1825625"/>
            <a:ext cx="4485509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252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5FE75C-DF61-3E50-622A-2091FBC47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«Производитель-потребитель»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38CF08-BB27-1B75-7122-EBEE1A439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8572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30913F-56E3-0E3B-22DE-84E14963F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Задача «Производитель–потребитель» (Producer–Consumer)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FCF4C3-3677-3F4A-32BC-F68DD1A70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447790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Н</a:t>
            </a:r>
            <a:r>
              <a:rPr lang="en-US" dirty="0" err="1"/>
              <a:t>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обмениваются</a:t>
            </a:r>
            <a:r>
              <a:rPr lang="en-US" dirty="0"/>
              <a:t> </a:t>
            </a:r>
            <a:r>
              <a:rPr lang="en-US" dirty="0" err="1"/>
              <a:t>данными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буфер</a:t>
            </a:r>
            <a:r>
              <a:rPr lang="en-US" dirty="0"/>
              <a:t> </a:t>
            </a:r>
            <a:endParaRPr lang="ru-RU" dirty="0"/>
          </a:p>
          <a:p>
            <a:pPr lvl="1"/>
            <a:r>
              <a:rPr lang="en-US" dirty="0"/>
              <a:t>Producer —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 и </a:t>
            </a:r>
            <a:r>
              <a:rPr lang="en-US" dirty="0" err="1"/>
              <a:t>помещает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в </a:t>
            </a:r>
            <a:r>
              <a:rPr lang="en-US" dirty="0" err="1"/>
              <a:t>буфер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Consumer — </a:t>
            </a:r>
            <a:r>
              <a:rPr lang="en-US" dirty="0" err="1"/>
              <a:t>извлекает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 и </a:t>
            </a:r>
            <a:r>
              <a:rPr lang="en-US" dirty="0" err="1"/>
              <a:t>обрабатывает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.</a:t>
            </a:r>
          </a:p>
          <a:p>
            <a:r>
              <a:rPr lang="en-US" dirty="0" err="1"/>
              <a:t>Требования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Буфер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переполняться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читаться</a:t>
            </a:r>
            <a:r>
              <a:rPr lang="en-US" dirty="0"/>
              <a:t> </a:t>
            </a:r>
            <a:r>
              <a:rPr lang="en-US" dirty="0" err="1"/>
              <a:t>пустым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Одновременный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повреждать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Busy Waiting.</a:t>
            </a:r>
          </a:p>
          <a:p>
            <a:pPr lvl="1"/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: </a:t>
            </a:r>
            <a:r>
              <a:rPr lang="en-US" dirty="0" err="1"/>
              <a:t>взаимное</a:t>
            </a:r>
            <a:r>
              <a:rPr lang="en-US" dirty="0"/>
              <a:t> </a:t>
            </a:r>
            <a:r>
              <a:rPr lang="en-US" dirty="0" err="1"/>
              <a:t>исключение</a:t>
            </a:r>
            <a:r>
              <a:rPr lang="en-US" dirty="0"/>
              <a:t> +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77D6834-0FD4-BBD7-6208-CF3444399C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7164" y="1825625"/>
            <a:ext cx="4129905" cy="16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5628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C35A1-CC2C-8D55-A9AB-436CD9309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потерянного</a:t>
            </a:r>
            <a:r>
              <a:rPr lang="en-US" dirty="0"/>
              <a:t> </a:t>
            </a:r>
            <a:r>
              <a:rPr lang="en-US" dirty="0" err="1"/>
              <a:t>пробуждения</a:t>
            </a:r>
            <a:r>
              <a:rPr lang="en-US" dirty="0"/>
              <a:t> (Lost Wakeup)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E9CF1-5EC8-284D-6C92-92A7B61C0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538885" cy="4351338"/>
          </a:xfrm>
        </p:spPr>
        <p:txBody>
          <a:bodyPr>
            <a:normAutofit/>
          </a:bodyPr>
          <a:lstStyle/>
          <a:p>
            <a:r>
              <a:rPr lang="en-US" dirty="0" err="1"/>
              <a:t>Сценарий</a:t>
            </a:r>
            <a:r>
              <a:rPr lang="en-US" dirty="0"/>
              <a:t> </a:t>
            </a:r>
            <a:r>
              <a:rPr lang="en-US" dirty="0" err="1"/>
              <a:t>ошибки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Consumer </a:t>
            </a:r>
            <a:r>
              <a:rPr lang="en-US" dirty="0" err="1"/>
              <a:t>проверил</a:t>
            </a:r>
            <a:r>
              <a:rPr lang="en-US" dirty="0"/>
              <a:t> </a:t>
            </a:r>
            <a:r>
              <a:rPr lang="en-US" dirty="0" err="1"/>
              <a:t>буфер</a:t>
            </a:r>
            <a:r>
              <a:rPr lang="en-US" dirty="0"/>
              <a:t> —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пуст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Producer </a:t>
            </a:r>
            <a:r>
              <a:rPr lang="en-US" dirty="0" err="1"/>
              <a:t>добавил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и </a:t>
            </a:r>
            <a:r>
              <a:rPr lang="en-US" dirty="0" err="1"/>
              <a:t>вызвал</a:t>
            </a:r>
            <a:r>
              <a:rPr lang="en-US" dirty="0"/>
              <a:t> wakeup().</a:t>
            </a:r>
          </a:p>
          <a:p>
            <a:pPr lvl="1"/>
            <a:r>
              <a:rPr lang="en-US" dirty="0"/>
              <a:t>Consumer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спал</a:t>
            </a:r>
            <a:r>
              <a:rPr lang="en-US" dirty="0"/>
              <a:t> — </a:t>
            </a:r>
            <a:r>
              <a:rPr lang="en-US" dirty="0" err="1"/>
              <a:t>уведомление</a:t>
            </a:r>
            <a:r>
              <a:rPr lang="en-US" dirty="0"/>
              <a:t> </a:t>
            </a:r>
            <a:r>
              <a:rPr lang="en-US" dirty="0" err="1"/>
              <a:t>потерялось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Consumer </a:t>
            </a:r>
            <a:r>
              <a:rPr lang="en-US" dirty="0" err="1"/>
              <a:t>вызывает</a:t>
            </a:r>
            <a:r>
              <a:rPr lang="en-US" dirty="0"/>
              <a:t> sleep(), </a:t>
            </a:r>
            <a:r>
              <a:rPr lang="en-US" dirty="0" err="1"/>
              <a:t>хотя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доступны</a:t>
            </a:r>
            <a:r>
              <a:rPr lang="en-US" dirty="0"/>
              <a:t>.</a:t>
            </a:r>
          </a:p>
          <a:p>
            <a:r>
              <a:rPr lang="en-US" dirty="0" err="1"/>
              <a:t>Причина</a:t>
            </a:r>
            <a:r>
              <a:rPr lang="en-US" dirty="0"/>
              <a:t>: </a:t>
            </a:r>
            <a:r>
              <a:rPr lang="en-US" dirty="0" err="1"/>
              <a:t>проверка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 и </a:t>
            </a:r>
            <a:r>
              <a:rPr lang="en-US" dirty="0" err="1"/>
              <a:t>переход</a:t>
            </a:r>
            <a:r>
              <a:rPr lang="en-US" dirty="0"/>
              <a:t> в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согласованы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77CE3B-C2C2-2B1F-6EEB-B74BFFB035AA}"/>
              </a:ext>
            </a:extLst>
          </p:cNvPr>
          <p:cNvSpPr txBox="1"/>
          <p:nvPr/>
        </p:nvSpPr>
        <p:spPr>
          <a:xfrm>
            <a:off x="8377085" y="2079643"/>
            <a:ext cx="3529166" cy="3186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Consumer thread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8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8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13095"/>
              </a:lnSpc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item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buffer.</a:t>
            </a:r>
            <a:r>
              <a:rPr lang="en-US" sz="18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Producer thread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buffer.</a:t>
            </a:r>
            <a:r>
              <a:rPr lang="en-US" sz="18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8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wake_up_consumer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3990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8D40F-CBEC-A933-BE66-7A87E55F1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Мьютексы</a:t>
            </a:r>
            <a:r>
              <a:rPr lang="en-US" dirty="0"/>
              <a:t>: </a:t>
            </a:r>
            <a:r>
              <a:rPr lang="en-US" dirty="0" err="1"/>
              <a:t>защита</a:t>
            </a:r>
            <a:r>
              <a:rPr lang="en-US" dirty="0"/>
              <a:t> </a:t>
            </a:r>
            <a:r>
              <a:rPr lang="en-US" dirty="0" err="1"/>
              <a:t>общих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78125-8FFE-E813-0046-BDB1995C7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Mutex (Mutual Exclusion) —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исключительного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к </a:t>
            </a:r>
            <a:r>
              <a:rPr lang="en-US" dirty="0" err="1"/>
              <a:t>общим</a:t>
            </a:r>
            <a:r>
              <a:rPr lang="en-US" dirty="0"/>
              <a:t> </a:t>
            </a:r>
            <a:r>
              <a:rPr lang="en-US" dirty="0" err="1"/>
              <a:t>данным</a:t>
            </a:r>
            <a:r>
              <a:rPr lang="en-US" dirty="0"/>
              <a:t>.</a:t>
            </a:r>
          </a:p>
          <a:p>
            <a:r>
              <a:rPr lang="en-US" dirty="0"/>
              <a:t>В C++ </a:t>
            </a:r>
            <a:r>
              <a:rPr lang="en-US" dirty="0" err="1"/>
              <a:t>используется</a:t>
            </a:r>
            <a:r>
              <a:rPr lang="en-US" dirty="0"/>
              <a:t> std::mutex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заголовка</a:t>
            </a:r>
            <a:r>
              <a:rPr lang="en-US" dirty="0"/>
              <a:t> &lt;mutex&gt;.</a:t>
            </a:r>
          </a:p>
          <a:p>
            <a:pPr lvl="1"/>
            <a:r>
              <a:rPr lang="en-US" dirty="0"/>
              <a:t>std::mutex </a:t>
            </a:r>
            <a:r>
              <a:rPr lang="en-US" dirty="0" err="1"/>
              <a:t>mutex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// </a:t>
            </a:r>
            <a:r>
              <a:rPr lang="en-US" dirty="0" err="1"/>
              <a:t>Критическая</a:t>
            </a:r>
            <a:r>
              <a:rPr lang="en-US" dirty="0"/>
              <a:t> </a:t>
            </a:r>
            <a:r>
              <a:rPr lang="en-US" dirty="0" err="1"/>
              <a:t>секция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std::</a:t>
            </a:r>
            <a:r>
              <a:rPr lang="en-US" dirty="0" err="1"/>
              <a:t>lock_guard</a:t>
            </a:r>
            <a:r>
              <a:rPr lang="en-US" dirty="0"/>
              <a:t> lock{mutex};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sharedData.Update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} // mutex </a:t>
            </a:r>
            <a:r>
              <a:rPr lang="en-US" dirty="0" err="1"/>
              <a:t>освобождается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endParaRPr lang="en-US" dirty="0"/>
          </a:p>
          <a:p>
            <a:r>
              <a:rPr lang="en-US" dirty="0"/>
              <a:t>RAII-</a:t>
            </a:r>
            <a:r>
              <a:rPr lang="en-US" dirty="0" err="1"/>
              <a:t>обёртки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lock_guard</a:t>
            </a:r>
            <a:r>
              <a:rPr lang="en-US" dirty="0"/>
              <a:t> — </a:t>
            </a:r>
            <a:r>
              <a:rPr lang="en-US" dirty="0" err="1"/>
              <a:t>захват</a:t>
            </a:r>
            <a:r>
              <a:rPr lang="en-US" dirty="0"/>
              <a:t> и </a:t>
            </a:r>
            <a:r>
              <a:rPr lang="en-US" dirty="0" err="1"/>
              <a:t>автоматическое</a:t>
            </a:r>
            <a:r>
              <a:rPr lang="en-US" dirty="0"/>
              <a:t> </a:t>
            </a:r>
            <a:r>
              <a:rPr lang="en-US" dirty="0" err="1"/>
              <a:t>освобождение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unique_lock</a:t>
            </a:r>
            <a:r>
              <a:rPr lang="en-US" dirty="0"/>
              <a:t> —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дополнительно</a:t>
            </a:r>
            <a:r>
              <a:rPr lang="en-US" dirty="0"/>
              <a:t> </a:t>
            </a:r>
            <a:r>
              <a:rPr lang="en-US" dirty="0" err="1"/>
              <a:t>освобождать</a:t>
            </a:r>
            <a:r>
              <a:rPr lang="en-US" dirty="0"/>
              <a:t> и </a:t>
            </a:r>
            <a:r>
              <a:rPr lang="en-US" dirty="0" err="1"/>
              <a:t>повторно</a:t>
            </a:r>
            <a:r>
              <a:rPr lang="en-US" dirty="0"/>
              <a:t> </a:t>
            </a:r>
            <a:r>
              <a:rPr lang="en-US" dirty="0" err="1"/>
              <a:t>захватывать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mutex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8189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13BC3-4012-E817-F4D7-5D21F8F9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Условные</a:t>
            </a:r>
            <a:r>
              <a:rPr lang="en-US" dirty="0"/>
              <a:t> </a:t>
            </a:r>
            <a:r>
              <a:rPr lang="en-US" dirty="0" err="1"/>
              <a:t>переменные</a:t>
            </a:r>
            <a:r>
              <a:rPr lang="en-US" dirty="0"/>
              <a:t> (Condition Variables)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12781-C60C-99A5-4483-1C8C1885A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Condition Variable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, </a:t>
            </a:r>
            <a:r>
              <a:rPr lang="en-US" dirty="0" err="1"/>
              <a:t>временно</a:t>
            </a:r>
            <a:r>
              <a:rPr lang="en-US" dirty="0"/>
              <a:t> </a:t>
            </a:r>
            <a:r>
              <a:rPr lang="en-US" dirty="0" err="1"/>
              <a:t>освобождая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.</a:t>
            </a:r>
          </a:p>
          <a:p>
            <a:r>
              <a:rPr lang="en-US" dirty="0"/>
              <a:t>В C++: std::</a:t>
            </a:r>
            <a:r>
              <a:rPr lang="en-US" dirty="0" err="1"/>
              <a:t>condition_variable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unique_lock</a:t>
            </a:r>
            <a:r>
              <a:rPr lang="en-US" dirty="0"/>
              <a:t> lock{mutex};</a:t>
            </a:r>
            <a:br>
              <a:rPr lang="en-US" dirty="0"/>
            </a:br>
            <a:r>
              <a:rPr lang="en-US" dirty="0" err="1"/>
              <a:t>cv.wait</a:t>
            </a:r>
            <a:r>
              <a:rPr lang="en-US" dirty="0"/>
              <a:t>(lock, [&amp;] {</a:t>
            </a:r>
            <a:br>
              <a:rPr lang="en-US" dirty="0"/>
            </a:br>
            <a:r>
              <a:rPr lang="en-US" dirty="0"/>
              <a:t>    return !</a:t>
            </a:r>
            <a:r>
              <a:rPr lang="en-US" dirty="0" err="1"/>
              <a:t>queue.empty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});</a:t>
            </a:r>
            <a:br>
              <a:rPr lang="en-US" dirty="0"/>
            </a:br>
            <a:r>
              <a:rPr lang="en-US" dirty="0"/>
              <a:t>//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условие</a:t>
            </a:r>
            <a:r>
              <a:rPr lang="en-US" dirty="0"/>
              <a:t> </a:t>
            </a:r>
            <a:r>
              <a:rPr lang="en-US" dirty="0" err="1"/>
              <a:t>выполнено</a:t>
            </a:r>
            <a:r>
              <a:rPr lang="en-US" dirty="0"/>
              <a:t>, mutex </a:t>
            </a:r>
            <a:r>
              <a:rPr lang="en-US" dirty="0" err="1"/>
              <a:t>захвачен</a:t>
            </a:r>
            <a:endParaRPr lang="en-US" dirty="0"/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wait():</a:t>
            </a:r>
          </a:p>
          <a:p>
            <a:pPr lvl="1"/>
            <a:r>
              <a:rPr lang="en-US" dirty="0" err="1"/>
              <a:t>Проверяет</a:t>
            </a:r>
            <a:r>
              <a:rPr lang="en-US" dirty="0"/>
              <a:t> </a:t>
            </a:r>
            <a:r>
              <a:rPr lang="en-US" dirty="0" err="1"/>
              <a:t>предикат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ложен</a:t>
            </a:r>
            <a:r>
              <a:rPr lang="en-US" dirty="0"/>
              <a:t> — </a:t>
            </a:r>
            <a:r>
              <a:rPr lang="en-US" dirty="0" err="1"/>
              <a:t>атомарно</a:t>
            </a:r>
            <a:r>
              <a:rPr lang="en-US" dirty="0"/>
              <a:t> </a:t>
            </a:r>
            <a:r>
              <a:rPr lang="en-US" dirty="0" err="1"/>
              <a:t>освобождает</a:t>
            </a:r>
            <a:r>
              <a:rPr lang="en-US" dirty="0"/>
              <a:t> mutex и </a:t>
            </a:r>
            <a:r>
              <a:rPr lang="en-US" dirty="0" err="1"/>
              <a:t>переходит</a:t>
            </a:r>
            <a:r>
              <a:rPr lang="en-US" dirty="0"/>
              <a:t> в </a:t>
            </a:r>
            <a:r>
              <a:rPr lang="en-US" dirty="0" err="1"/>
              <a:t>ожидание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пробуждения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захватывает</a:t>
            </a:r>
            <a:r>
              <a:rPr lang="en-US" dirty="0"/>
              <a:t> mutex и </a:t>
            </a:r>
            <a:r>
              <a:rPr lang="en-US" dirty="0" err="1"/>
              <a:t>проверяет</a:t>
            </a:r>
            <a:r>
              <a:rPr lang="en-US" dirty="0"/>
              <a:t> </a:t>
            </a:r>
            <a:r>
              <a:rPr lang="en-US" dirty="0" err="1"/>
              <a:t>предикат</a:t>
            </a:r>
            <a:r>
              <a:rPr lang="en-US" dirty="0"/>
              <a:t>.</a:t>
            </a:r>
          </a:p>
          <a:p>
            <a:r>
              <a:rPr lang="en-US" dirty="0" err="1"/>
              <a:t>Уведомления</a:t>
            </a:r>
            <a:r>
              <a:rPr lang="en-US" dirty="0"/>
              <a:t>: </a:t>
            </a:r>
            <a:r>
              <a:rPr lang="en-US" dirty="0" err="1"/>
              <a:t>notify_one</a:t>
            </a:r>
            <a:r>
              <a:rPr lang="en-US" dirty="0"/>
              <a:t>() и </a:t>
            </a:r>
            <a:r>
              <a:rPr lang="en-US" dirty="0" err="1"/>
              <a:t>notify_all</a:t>
            </a:r>
            <a:r>
              <a:rPr lang="en-US" dirty="0"/>
              <a:t>().</a:t>
            </a:r>
          </a:p>
          <a:p>
            <a:r>
              <a:rPr lang="en-US" dirty="0" err="1"/>
              <a:t>Важно</a:t>
            </a:r>
            <a:r>
              <a:rPr lang="en-US" dirty="0"/>
              <a:t>: </a:t>
            </a:r>
            <a:r>
              <a:rPr lang="en-US" dirty="0" err="1"/>
              <a:t>возможны</a:t>
            </a:r>
            <a:r>
              <a:rPr lang="en-US" dirty="0"/>
              <a:t> </a:t>
            </a:r>
            <a:r>
              <a:rPr lang="en-US" dirty="0" err="1"/>
              <a:t>ложные</a:t>
            </a:r>
            <a:r>
              <a:rPr lang="en-US" dirty="0"/>
              <a:t> </a:t>
            </a:r>
            <a:r>
              <a:rPr lang="en-US" dirty="0" err="1"/>
              <a:t>пробуждения</a:t>
            </a:r>
            <a:r>
              <a:rPr lang="en-US" dirty="0"/>
              <a:t> (Spurious Wakeups).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6942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2DAA6-21FC-BD1A-6310-A58B7F8E2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Producer–Consumer: Producer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50CDF8-BE60-B0A7-33A2-5CB102432F83}"/>
              </a:ext>
            </a:extLst>
          </p:cNvPr>
          <p:cNvSpPr txBox="1"/>
          <p:nvPr/>
        </p:nvSpPr>
        <p:spPr>
          <a:xfrm>
            <a:off x="838200" y="1690688"/>
            <a:ext cx="52578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BoundedQueue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Producer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{m_};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notFull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_.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[&amp;]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size_ &lt; N;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});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buffer_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[tail_] =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tail_ = (tail_ +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% N;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++size_;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unlock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notEmpty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notify_one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Consumer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buffer_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head_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tail_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size_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m_;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condition_variable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notEmpty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notFull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8E353E-13A9-B62F-FDD8-D4FB1C2A156E}"/>
              </a:ext>
            </a:extLst>
          </p:cNvPr>
          <p:cNvSpPr txBox="1"/>
          <p:nvPr/>
        </p:nvSpPr>
        <p:spPr>
          <a:xfrm>
            <a:off x="6096000" y="2369920"/>
            <a:ext cx="5257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Producer</a:t>
            </a:r>
            <a:r>
              <a:rPr lang="ru-RU" dirty="0"/>
              <a:t> ждёт свободного места → добавляет элемент → уведомляет Consumer.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2488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46B23-C0C5-BBDE-BE0F-08E799BAB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Producer–Consumer: Consumer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4927BF-824F-92AB-C9B2-05AA4E2B3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Consumer </a:t>
            </a:r>
            <a:r>
              <a:rPr lang="en-US" dirty="0" err="1"/>
              <a:t>ждёт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→ </a:t>
            </a:r>
            <a:r>
              <a:rPr lang="en-US" dirty="0" err="1"/>
              <a:t>извлекает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→ </a:t>
            </a:r>
            <a:r>
              <a:rPr lang="en-US" dirty="0" err="1"/>
              <a:t>уведомляет</a:t>
            </a:r>
            <a:r>
              <a:rPr lang="en-US" dirty="0"/>
              <a:t> Producer.</a:t>
            </a:r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буфера</a:t>
            </a:r>
            <a:r>
              <a:rPr lang="en-US" dirty="0"/>
              <a:t> </a:t>
            </a:r>
            <a:r>
              <a:rPr lang="en-US" dirty="0" err="1"/>
              <a:t>защищены</a:t>
            </a:r>
            <a:r>
              <a:rPr lang="en-US" dirty="0"/>
              <a:t> </a:t>
            </a:r>
            <a:r>
              <a:rPr lang="en-US" dirty="0" err="1"/>
              <a:t>одним</a:t>
            </a:r>
            <a:r>
              <a:rPr lang="en-US" dirty="0"/>
              <a:t> mutex.</a:t>
            </a:r>
          </a:p>
          <a:p>
            <a:pPr lvl="1"/>
            <a:r>
              <a:rPr lang="en-US" dirty="0"/>
              <a:t>wait() </a:t>
            </a:r>
            <a:r>
              <a:rPr lang="en-US" dirty="0" err="1"/>
              <a:t>освобождает</a:t>
            </a:r>
            <a:r>
              <a:rPr lang="en-US" dirty="0"/>
              <a:t> mutex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Предикат</a:t>
            </a:r>
            <a:r>
              <a:rPr lang="en-US" dirty="0"/>
              <a:t> </a:t>
            </a:r>
            <a:r>
              <a:rPr lang="en-US" dirty="0" err="1"/>
              <a:t>повторно</a:t>
            </a:r>
            <a:r>
              <a:rPr lang="en-US" dirty="0"/>
              <a:t> </a:t>
            </a:r>
            <a:r>
              <a:rPr lang="en-US" dirty="0" err="1"/>
              <a:t>проверяется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пробуждения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Буфер</a:t>
            </a:r>
            <a:r>
              <a:rPr lang="en-US" dirty="0"/>
              <a:t> </a:t>
            </a:r>
            <a:r>
              <a:rPr lang="en-US" dirty="0" err="1"/>
              <a:t>никогда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читается</a:t>
            </a:r>
            <a:r>
              <a:rPr lang="en-US" dirty="0"/>
              <a:t> </a:t>
            </a:r>
            <a:r>
              <a:rPr lang="en-US" dirty="0" err="1"/>
              <a:t>пустым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переполняется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9729E-14BE-D4F7-FA94-E50EE7725529}"/>
              </a:ext>
            </a:extLst>
          </p:cNvPr>
          <p:cNvSpPr txBox="1"/>
          <p:nvPr/>
        </p:nvSpPr>
        <p:spPr>
          <a:xfrm>
            <a:off x="838200" y="1424140"/>
            <a:ext cx="5257800" cy="5433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BoundedQueue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Consumer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m_ };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notEmpty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_.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[&amp;] {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size_ &gt;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pPr>
              <a:lnSpc>
                <a:spcPct val="113095"/>
              </a:lnSpc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buffer_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[head_];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head_ = (head_ +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% N;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--size_;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unlock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notFull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notify_one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buffer_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head_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tail_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size_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m_;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condition_variable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notEmpty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notFull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0661149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D9F3C-51B9-85F9-6029-69B3A4558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Семафоры</a:t>
            </a:r>
            <a:r>
              <a:rPr lang="en-US" dirty="0"/>
              <a:t>: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доступных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F5B1F-DCBE-A88D-5C3A-5B763ED2C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Семафор</a:t>
            </a:r>
            <a:r>
              <a:rPr lang="en-US" dirty="0"/>
              <a:t> (Semaphore) —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разрешений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использование</a:t>
            </a:r>
            <a:r>
              <a:rPr lang="en-US" dirty="0"/>
              <a:t> </a:t>
            </a:r>
            <a:r>
              <a:rPr lang="en-US" dirty="0" err="1"/>
              <a:t>ресурса</a:t>
            </a:r>
            <a:r>
              <a:rPr lang="en-US" dirty="0"/>
              <a:t>.</a:t>
            </a:r>
          </a:p>
          <a:p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acquire() (P/down) —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разрешение</a:t>
            </a:r>
            <a:r>
              <a:rPr lang="en-US" dirty="0"/>
              <a:t>;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, </a:t>
            </a:r>
            <a:r>
              <a:rPr lang="en-US" dirty="0" err="1"/>
              <a:t>ждать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release() (V/up) —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разрешение</a:t>
            </a:r>
            <a:r>
              <a:rPr lang="en-US" dirty="0"/>
              <a:t> и,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, </a:t>
            </a:r>
            <a:r>
              <a:rPr lang="en-US" dirty="0" err="1"/>
              <a:t>разбудить</a:t>
            </a:r>
            <a:r>
              <a:rPr lang="en-US" dirty="0"/>
              <a:t> </a:t>
            </a:r>
            <a:r>
              <a:rPr lang="en-US" dirty="0" err="1"/>
              <a:t>ожидающий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.</a:t>
            </a:r>
          </a:p>
          <a:p>
            <a:r>
              <a:rPr lang="en-US" dirty="0" err="1"/>
              <a:t>Разновидности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counting_semaphore</a:t>
            </a:r>
            <a:r>
              <a:rPr lang="en-US" dirty="0"/>
              <a:t>&lt;N&gt; — </a:t>
            </a:r>
            <a:r>
              <a:rPr lang="en-US" dirty="0" err="1"/>
              <a:t>счётный</a:t>
            </a:r>
            <a:r>
              <a:rPr lang="en-US" dirty="0"/>
              <a:t> </a:t>
            </a:r>
            <a:r>
              <a:rPr lang="en-US" dirty="0" err="1"/>
              <a:t>семафор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binary_semaphore</a:t>
            </a:r>
            <a:r>
              <a:rPr lang="en-US" dirty="0"/>
              <a:t> — </a:t>
            </a:r>
            <a:r>
              <a:rPr lang="en-US" dirty="0" err="1"/>
              <a:t>бинарный</a:t>
            </a:r>
            <a:r>
              <a:rPr lang="en-US" dirty="0"/>
              <a:t> </a:t>
            </a:r>
            <a:r>
              <a:rPr lang="en-US" dirty="0" err="1"/>
              <a:t>семафор</a:t>
            </a:r>
            <a:r>
              <a:rPr lang="en-US" dirty="0"/>
              <a:t>.</a:t>
            </a:r>
          </a:p>
          <a:p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mutex: </a:t>
            </a:r>
            <a:r>
              <a:rPr lang="en-US" dirty="0" err="1"/>
              <a:t>семафор</a:t>
            </a:r>
            <a:r>
              <a:rPr lang="en-US" dirty="0"/>
              <a:t> </a:t>
            </a:r>
            <a:r>
              <a:rPr lang="en-US" dirty="0" err="1"/>
              <a:t>учитывает</a:t>
            </a:r>
            <a:r>
              <a:rPr lang="en-US" dirty="0"/>
              <a:t> </a:t>
            </a:r>
            <a:r>
              <a:rPr lang="en-US" dirty="0" err="1"/>
              <a:t>разрешения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привязан</a:t>
            </a:r>
            <a:r>
              <a:rPr lang="en-US" dirty="0"/>
              <a:t> к </a:t>
            </a:r>
            <a:r>
              <a:rPr lang="en-US" dirty="0" err="1"/>
              <a:t>конкретному</a:t>
            </a:r>
            <a:r>
              <a:rPr lang="en-US" dirty="0"/>
              <a:t> </a:t>
            </a:r>
            <a:r>
              <a:rPr lang="en-US" dirty="0" err="1"/>
              <a:t>потоку-владельцу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503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7337B-1B23-3E5A-E74F-B13061AC3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Producer–Consumer: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семафоры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8E1CF-AAFB-FB20-D2D6-5187CFEB4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Используем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empty = N — </a:t>
            </a:r>
            <a:r>
              <a:rPr lang="en-US" dirty="0" err="1"/>
              <a:t>разрешения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добавление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full = 0 — </a:t>
            </a:r>
            <a:r>
              <a:rPr lang="en-US" dirty="0" err="1"/>
              <a:t>разрешения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извлечение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mutex — </a:t>
            </a:r>
            <a:r>
              <a:rPr lang="en-US" dirty="0" err="1"/>
              <a:t>защита</a:t>
            </a:r>
            <a:r>
              <a:rPr lang="en-US" dirty="0"/>
              <a:t> </a:t>
            </a:r>
            <a:r>
              <a:rPr lang="en-US" dirty="0" err="1"/>
              <a:t>внутренних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буфера</a:t>
            </a:r>
            <a:r>
              <a:rPr lang="en-US" dirty="0"/>
              <a:t>.</a:t>
            </a:r>
          </a:p>
          <a:p>
            <a:r>
              <a:rPr lang="en-US" dirty="0"/>
              <a:t>Producer:</a:t>
            </a:r>
          </a:p>
          <a:p>
            <a:pPr lvl="1"/>
            <a:r>
              <a:rPr lang="en-US" dirty="0" err="1"/>
              <a:t>empty.acquire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mutex.lock</a:t>
            </a:r>
            <a:r>
              <a:rPr lang="en-US" dirty="0"/>
              <a:t>()</a:t>
            </a:r>
          </a:p>
          <a:p>
            <a:pPr lvl="1"/>
            <a:r>
              <a:rPr lang="ru-RU" dirty="0"/>
              <a:t>добавить элемент</a:t>
            </a:r>
          </a:p>
          <a:p>
            <a:pPr lvl="1"/>
            <a:r>
              <a:rPr lang="en-US" dirty="0" err="1"/>
              <a:t>mutex.unlock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full.release</a:t>
            </a:r>
            <a:r>
              <a:rPr lang="en-US" dirty="0"/>
              <a:t>()</a:t>
            </a:r>
          </a:p>
          <a:p>
            <a:r>
              <a:rPr lang="en-US" dirty="0"/>
              <a:t>Consumer:</a:t>
            </a:r>
          </a:p>
          <a:p>
            <a:pPr lvl="1"/>
            <a:r>
              <a:rPr lang="en-US" dirty="0" err="1"/>
              <a:t>full.acquire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mutex.lock</a:t>
            </a:r>
            <a:r>
              <a:rPr lang="en-US" dirty="0"/>
              <a:t>()</a:t>
            </a:r>
          </a:p>
          <a:p>
            <a:pPr lvl="1"/>
            <a:r>
              <a:rPr lang="ru-RU" dirty="0"/>
              <a:t>извлечь элемент</a:t>
            </a:r>
          </a:p>
          <a:p>
            <a:pPr lvl="1"/>
            <a:r>
              <a:rPr lang="en-US" dirty="0" err="1"/>
              <a:t>mutex.unlock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empty.release</a:t>
            </a:r>
            <a:r>
              <a:rPr lang="en-US" dirty="0"/>
              <a:t>()</a:t>
            </a:r>
          </a:p>
          <a:p>
            <a:r>
              <a:rPr lang="en-US" dirty="0" err="1"/>
              <a:t>Важно</a:t>
            </a:r>
            <a:r>
              <a:rPr lang="en-US" dirty="0"/>
              <a:t>: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ожидаем</a:t>
            </a:r>
            <a:r>
              <a:rPr lang="en-US" dirty="0"/>
              <a:t> </a:t>
            </a:r>
            <a:r>
              <a:rPr lang="en-US" dirty="0" err="1"/>
              <a:t>разрешение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захватываем</a:t>
            </a:r>
            <a:r>
              <a:rPr lang="en-US" dirty="0"/>
              <a:t> mutex.</a:t>
            </a:r>
          </a:p>
        </p:txBody>
      </p:sp>
    </p:spTree>
    <p:extLst>
      <p:ext uri="{BB962C8B-B14F-4D97-AF65-F5344CB8AC3E}">
        <p14:creationId xmlns:p14="http://schemas.microsoft.com/office/powerpoint/2010/main" val="25450502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14D01-89C4-45E7-133D-3A817375E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dirty="0" err="1"/>
              <a:t>BoundedQueue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std::</a:t>
            </a:r>
            <a:r>
              <a:rPr lang="en-US" dirty="0" err="1"/>
              <a:t>counting_semaphore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422FB8-06EE-BA3F-6DB0-27AB2FC4F317}"/>
              </a:ext>
            </a:extLst>
          </p:cNvPr>
          <p:cNvSpPr txBox="1"/>
          <p:nvPr/>
        </p:nvSpPr>
        <p:spPr>
          <a:xfrm>
            <a:off x="835924" y="1748909"/>
            <a:ext cx="733652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BoundedQueue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ptrdiff_t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buffer_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head_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tail_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m_;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counting_semaphore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empty_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full_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7B38E5-7DE8-4ADD-5155-180A5CA2320A}"/>
              </a:ext>
            </a:extLst>
          </p:cNvPr>
          <p:cNvSpPr txBox="1"/>
          <p:nvPr/>
        </p:nvSpPr>
        <p:spPr>
          <a:xfrm>
            <a:off x="835924" y="4549676"/>
            <a:ext cx="48387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BoundedQueue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empty_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acquire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m_ 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buffer_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[tail_] 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tail_ = (tail_ +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% N;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full_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release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8F4BD4-E5EB-0080-3FCF-72266973A231}"/>
              </a:ext>
            </a:extLst>
          </p:cNvPr>
          <p:cNvSpPr txBox="1"/>
          <p:nvPr/>
        </p:nvSpPr>
        <p:spPr>
          <a:xfrm>
            <a:off x="6007100" y="4057233"/>
            <a:ext cx="6096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BoundedQueue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full_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acquire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m_ 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buffer_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[head_];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head_ = (head_ +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% N;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empty_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release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771800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5C939-5802-017E-3835-034B7408B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Variable </a:t>
            </a:r>
            <a:r>
              <a:rPr lang="en-US" dirty="0" err="1"/>
              <a:t>или</a:t>
            </a:r>
            <a:r>
              <a:rPr lang="en-US" dirty="0"/>
              <a:t> Semaphore?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E43CC4E-A12B-8D9D-5891-A072C8B5DAA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10005164"/>
              </p:ext>
            </p:extLst>
          </p:nvPr>
        </p:nvGraphicFramePr>
        <p:xfrm>
          <a:off x="838200" y="1825625"/>
          <a:ext cx="10515600" cy="2589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35352441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4714924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12876123"/>
                    </a:ext>
                  </a:extLst>
                </a:gridCol>
              </a:tblGrid>
              <a:tr h="3481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Condition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Semaphore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62696"/>
                  </a:ext>
                </a:extLst>
              </a:tr>
              <a:tr h="348192">
                <a:tc>
                  <a:txBody>
                    <a:bodyPr/>
                    <a:lstStyle/>
                    <a:p>
                      <a:r>
                        <a:rPr lang="en-US" dirty="0" err="1"/>
                        <a:t>Что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ожидаем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Выполнение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условия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Доступное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разрешение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383186"/>
                  </a:ext>
                </a:extLst>
              </a:tr>
              <a:tr h="497417">
                <a:tc>
                  <a:txBody>
                    <a:bodyPr/>
                    <a:lstStyle/>
                    <a:p>
                      <a:r>
                        <a:rPr lang="en-US" dirty="0" err="1"/>
                        <a:t>Где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хранится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состояние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В </a:t>
                      </a:r>
                      <a:r>
                        <a:rPr lang="en-US" dirty="0" err="1"/>
                        <a:t>защищаемых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данных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Во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внутреннем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счётчике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799246"/>
                  </a:ext>
                </a:extLst>
              </a:tr>
              <a:tr h="348192">
                <a:tc>
                  <a:txBody>
                    <a:bodyPr/>
                    <a:lstStyle/>
                    <a:p>
                      <a:r>
                        <a:rPr lang="en-US" dirty="0" err="1"/>
                        <a:t>Запоминает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уведомления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Нет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Учитывает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разрешения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810999"/>
                  </a:ext>
                </a:extLst>
              </a:tr>
              <a:tr h="497417">
                <a:tc>
                  <a:txBody>
                    <a:bodyPr/>
                    <a:lstStyle/>
                    <a:p>
                      <a:r>
                        <a:rPr lang="en-US" dirty="0" err="1"/>
                        <a:t>Требуется</a:t>
                      </a:r>
                      <a:r>
                        <a:rPr lang="en-US" dirty="0"/>
                        <a:t> mutex?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Для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работы</a:t>
                      </a:r>
                      <a:r>
                        <a:rPr lang="en-US" dirty="0"/>
                        <a:t> с </a:t>
                      </a:r>
                      <a:r>
                        <a:rPr lang="en-US" dirty="0" err="1"/>
                        <a:t>условием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Не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для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счётчика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семафора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151920"/>
                  </a:ext>
                </a:extLst>
              </a:tr>
              <a:tr h="497417">
                <a:tc>
                  <a:txBody>
                    <a:bodyPr/>
                    <a:lstStyle/>
                    <a:p>
                      <a:r>
                        <a:rPr lang="en-US" dirty="0" err="1"/>
                        <a:t>Пример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Очередь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не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пуста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Есть</a:t>
                      </a:r>
                      <a:r>
                        <a:rPr lang="en-US" dirty="0"/>
                        <a:t> N </a:t>
                      </a:r>
                      <a:r>
                        <a:rPr lang="en-US" dirty="0" err="1"/>
                        <a:t>свободных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слотов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567472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C4DE0-C8E5-CBAC-4FE1-8418C5D4A6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953000"/>
            <a:ext cx="10515600" cy="1223962"/>
          </a:xfrm>
        </p:spPr>
        <p:txBody>
          <a:bodyPr/>
          <a:lstStyle/>
          <a:p>
            <a:r>
              <a:rPr lang="en-US" dirty="0"/>
              <a:t>Condition Variable: «</a:t>
            </a:r>
            <a:r>
              <a:rPr lang="en-US" dirty="0" err="1"/>
              <a:t>Ждать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условие</a:t>
            </a:r>
            <a:r>
              <a:rPr lang="en-US" dirty="0"/>
              <a:t> </a:t>
            </a:r>
            <a:r>
              <a:rPr lang="en-US" dirty="0" err="1"/>
              <a:t>станет</a:t>
            </a:r>
            <a:r>
              <a:rPr lang="en-US" dirty="0"/>
              <a:t> </a:t>
            </a:r>
            <a:r>
              <a:rPr lang="en-US" dirty="0" err="1"/>
              <a:t>истинным</a:t>
            </a:r>
            <a:r>
              <a:rPr lang="en-US" dirty="0"/>
              <a:t>».</a:t>
            </a:r>
          </a:p>
          <a:p>
            <a:r>
              <a:rPr lang="en-US" dirty="0"/>
              <a:t>Semaphore: «</a:t>
            </a:r>
            <a:r>
              <a:rPr lang="en-US" dirty="0" err="1"/>
              <a:t>Ждать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dirty="0" err="1"/>
              <a:t>разрешение</a:t>
            </a:r>
            <a:r>
              <a:rPr lang="en-US" dirty="0"/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35628087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909C1-6B55-DE3C-7A36-48A639627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Задача</a:t>
            </a:r>
            <a:r>
              <a:rPr lang="en-US" dirty="0"/>
              <a:t> «</a:t>
            </a:r>
            <a:r>
              <a:rPr lang="en-US" dirty="0" err="1"/>
              <a:t>Читатели</a:t>
            </a:r>
            <a:r>
              <a:rPr lang="en-US" dirty="0"/>
              <a:t>–</a:t>
            </a:r>
            <a:r>
              <a:rPr lang="en-US" dirty="0" err="1"/>
              <a:t>писатели</a:t>
            </a:r>
            <a:r>
              <a:rPr lang="en-US" dirty="0"/>
              <a:t>»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9C82D9-228D-A83D-9AEE-6BEA6E3D7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651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199899-28EC-B248-23C7-70F780327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Задача</a:t>
            </a:r>
            <a:r>
              <a:rPr lang="en-US" dirty="0"/>
              <a:t> «</a:t>
            </a:r>
            <a:r>
              <a:rPr lang="en-US" dirty="0" err="1"/>
              <a:t>Читатели</a:t>
            </a:r>
            <a:r>
              <a:rPr lang="en-US" dirty="0"/>
              <a:t>–</a:t>
            </a:r>
            <a:r>
              <a:rPr lang="en-US" dirty="0" err="1"/>
              <a:t>писатели</a:t>
            </a:r>
            <a:r>
              <a:rPr lang="en-US" dirty="0"/>
              <a:t>» (Readers–Writers)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D7EA91-8E75-94A6-69E2-E178F5AE5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09016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Задача</a:t>
            </a:r>
            <a:r>
              <a:rPr lang="en-US" dirty="0"/>
              <a:t>: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обращаются</a:t>
            </a:r>
            <a:r>
              <a:rPr lang="en-US" dirty="0"/>
              <a:t> к </a:t>
            </a:r>
            <a:r>
              <a:rPr lang="en-US" dirty="0" err="1"/>
              <a:t>общим</a:t>
            </a:r>
            <a:r>
              <a:rPr lang="en-US" dirty="0"/>
              <a:t> </a:t>
            </a:r>
            <a:r>
              <a:rPr lang="en-US" dirty="0" err="1"/>
              <a:t>данным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одни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читают</a:t>
            </a:r>
            <a:r>
              <a:rPr lang="en-US" dirty="0"/>
              <a:t>, а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изменяют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.</a:t>
            </a:r>
          </a:p>
          <a:p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читателей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Писатель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исключительный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читатели</a:t>
            </a:r>
            <a:r>
              <a:rPr lang="en-US" dirty="0"/>
              <a:t> и </a:t>
            </a:r>
            <a:r>
              <a:rPr lang="en-US" dirty="0" err="1"/>
              <a:t>писатели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допускаются</a:t>
            </a:r>
            <a:r>
              <a:rPr lang="en-US" dirty="0"/>
              <a:t>.</a:t>
            </a:r>
          </a:p>
          <a:p>
            <a:r>
              <a:rPr lang="en-US" b="1" dirty="0" err="1"/>
              <a:t>Примеры</a:t>
            </a:r>
            <a:r>
              <a:rPr lang="en-US" dirty="0"/>
              <a:t>: </a:t>
            </a:r>
            <a:r>
              <a:rPr lang="en-US" dirty="0" err="1"/>
              <a:t>кэш</a:t>
            </a:r>
            <a:r>
              <a:rPr lang="en-US" dirty="0"/>
              <a:t>, </a:t>
            </a:r>
            <a:r>
              <a:rPr lang="en-US" dirty="0" err="1"/>
              <a:t>таблица</a:t>
            </a:r>
            <a:r>
              <a:rPr lang="en-US" dirty="0"/>
              <a:t> </a:t>
            </a:r>
            <a:r>
              <a:rPr lang="en-US" dirty="0" err="1"/>
              <a:t>маршрутизации</a:t>
            </a:r>
            <a:r>
              <a:rPr lang="en-US" dirty="0"/>
              <a:t>, </a:t>
            </a:r>
            <a:r>
              <a:rPr lang="en-US" dirty="0" err="1"/>
              <a:t>конфигурация</a:t>
            </a:r>
            <a:r>
              <a:rPr lang="en-US" dirty="0"/>
              <a:t> </a:t>
            </a:r>
            <a:r>
              <a:rPr lang="en-US" dirty="0" err="1"/>
              <a:t>сервера</a:t>
            </a:r>
            <a:r>
              <a:rPr lang="en-US" dirty="0"/>
              <a:t>.</a:t>
            </a:r>
          </a:p>
          <a:p>
            <a:r>
              <a:rPr lang="en-US" b="1" dirty="0" err="1"/>
              <a:t>Цель</a:t>
            </a:r>
            <a:r>
              <a:rPr lang="en-US" dirty="0"/>
              <a:t>: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корректность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запрещая</a:t>
            </a:r>
            <a:r>
              <a:rPr lang="en-US" dirty="0"/>
              <a:t> </a:t>
            </a:r>
            <a:r>
              <a:rPr lang="en-US" dirty="0" err="1"/>
              <a:t>безопасное</a:t>
            </a:r>
            <a:r>
              <a:rPr lang="en-US" dirty="0"/>
              <a:t> </a:t>
            </a:r>
            <a:r>
              <a:rPr lang="en-US" dirty="0" err="1"/>
              <a:t>параллельное</a:t>
            </a:r>
            <a:r>
              <a:rPr lang="en-US" dirty="0"/>
              <a:t> </a:t>
            </a:r>
            <a:r>
              <a:rPr lang="en-US" dirty="0" err="1"/>
              <a:t>чтение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0884CC-C572-19EA-5413-8D859DF82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1547" y="4634641"/>
            <a:ext cx="7008906" cy="185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2091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4F6D3-D8C7-FB37-E263-B01CF342F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Решение</a:t>
            </a:r>
            <a:r>
              <a:rPr lang="en-US" dirty="0"/>
              <a:t> Readers–Writers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семафоры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ABC9A-6108-CC33-02CB-26B7DE44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Используем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readers = 0 —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активных</a:t>
            </a:r>
            <a:r>
              <a:rPr lang="en-US" dirty="0"/>
              <a:t> </a:t>
            </a:r>
            <a:r>
              <a:rPr lang="en-US" dirty="0" err="1"/>
              <a:t>читателей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countMutex</a:t>
            </a:r>
            <a:r>
              <a:rPr lang="en-US" dirty="0"/>
              <a:t> = 1 — </a:t>
            </a:r>
            <a:r>
              <a:rPr lang="en-US" dirty="0" err="1"/>
              <a:t>защита</a:t>
            </a:r>
            <a:r>
              <a:rPr lang="en-US" dirty="0"/>
              <a:t> </a:t>
            </a:r>
            <a:r>
              <a:rPr lang="en-US" dirty="0" err="1"/>
              <a:t>счётчика</a:t>
            </a:r>
            <a:r>
              <a:rPr lang="en-US" dirty="0"/>
              <a:t> </a:t>
            </a:r>
            <a:r>
              <a:rPr lang="en-US" dirty="0" err="1"/>
              <a:t>читателей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resource = 1 — </a:t>
            </a:r>
            <a:r>
              <a:rPr lang="en-US" dirty="0" err="1"/>
              <a:t>исключительный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данны</a:t>
            </a:r>
            <a:r>
              <a:rPr lang="ru-RU" dirty="0"/>
              <a:t>м</a:t>
            </a:r>
            <a:endParaRPr lang="en-US" dirty="0"/>
          </a:p>
          <a:p>
            <a:r>
              <a:rPr lang="en-US" dirty="0" err="1"/>
              <a:t>Принцип</a:t>
            </a:r>
            <a:r>
              <a:rPr lang="en-US" dirty="0"/>
              <a:t>: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читатель</a:t>
            </a:r>
            <a:r>
              <a:rPr lang="en-US" dirty="0"/>
              <a:t>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, </a:t>
            </a:r>
            <a:r>
              <a:rPr lang="en-US" dirty="0" err="1"/>
              <a:t>последний</a:t>
            </a:r>
            <a:r>
              <a:rPr lang="en-US" dirty="0"/>
              <a:t> — </a:t>
            </a:r>
            <a:r>
              <a:rPr lang="en-US" dirty="0" err="1"/>
              <a:t>освобождает</a:t>
            </a:r>
            <a:r>
              <a:rPr lang="en-US" dirty="0"/>
              <a:t>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A5C0F4-C39B-4776-0981-1D66CE1D2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600449"/>
            <a:ext cx="5086350" cy="2576513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Читатель</a:t>
            </a:r>
            <a:endParaRPr lang="ru-RU" dirty="0"/>
          </a:p>
          <a:p>
            <a:pPr lvl="1"/>
            <a:r>
              <a:rPr lang="en-US" dirty="0"/>
              <a:t>down(</a:t>
            </a:r>
            <a:r>
              <a:rPr lang="en-US" dirty="0" err="1"/>
              <a:t>countMutex</a:t>
            </a:r>
            <a:r>
              <a:rPr lang="en-US" dirty="0"/>
              <a:t>)</a:t>
            </a:r>
            <a:br>
              <a:rPr lang="ru-RU" dirty="0"/>
            </a:br>
            <a:r>
              <a:rPr lang="en-US" dirty="0"/>
              <a:t>if (++readers == 1)</a:t>
            </a:r>
            <a:br>
              <a:rPr lang="ru-RU" dirty="0"/>
            </a:br>
            <a:r>
              <a:rPr lang="en-US" dirty="0"/>
              <a:t>    down(resource)   //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читатель</a:t>
            </a:r>
            <a:br>
              <a:rPr lang="ru-RU" dirty="0"/>
            </a:br>
            <a:r>
              <a:rPr lang="en-US" dirty="0"/>
              <a:t>up(</a:t>
            </a:r>
            <a:r>
              <a:rPr lang="en-US" dirty="0" err="1"/>
              <a:t>countMutex</a:t>
            </a:r>
            <a:r>
              <a:rPr lang="en-US" dirty="0"/>
              <a:t>)</a:t>
            </a:r>
            <a:br>
              <a:rPr lang="ru-RU" dirty="0"/>
            </a:br>
            <a:br>
              <a:rPr lang="ru-RU" dirty="0"/>
            </a:br>
            <a:r>
              <a:rPr lang="en-US" dirty="0" err="1"/>
              <a:t>read_data</a:t>
            </a:r>
            <a:r>
              <a:rPr lang="en-US" dirty="0"/>
              <a:t>()</a:t>
            </a:r>
            <a:br>
              <a:rPr lang="ru-RU" dirty="0"/>
            </a:br>
            <a:br>
              <a:rPr lang="ru-RU" dirty="0"/>
            </a:br>
            <a:r>
              <a:rPr lang="en-US" dirty="0"/>
              <a:t>down(</a:t>
            </a:r>
            <a:r>
              <a:rPr lang="en-US" dirty="0" err="1"/>
              <a:t>countMutex</a:t>
            </a:r>
            <a:r>
              <a:rPr lang="en-US" dirty="0"/>
              <a:t>)</a:t>
            </a:r>
            <a:br>
              <a:rPr lang="ru-RU" dirty="0"/>
            </a:br>
            <a:r>
              <a:rPr lang="en-US" dirty="0"/>
              <a:t>if (--readers == 0)</a:t>
            </a:r>
            <a:br>
              <a:rPr lang="ru-RU" dirty="0"/>
            </a:br>
            <a:r>
              <a:rPr lang="en-US" dirty="0"/>
              <a:t>    up(resource) // </a:t>
            </a:r>
            <a:r>
              <a:rPr lang="en-US" dirty="0" err="1"/>
              <a:t>Последний</a:t>
            </a:r>
            <a:r>
              <a:rPr lang="en-US" dirty="0"/>
              <a:t> </a:t>
            </a:r>
            <a:r>
              <a:rPr lang="en-US" dirty="0" err="1"/>
              <a:t>читатель</a:t>
            </a:r>
            <a:br>
              <a:rPr lang="ru-RU" dirty="0"/>
            </a:br>
            <a:r>
              <a:rPr lang="en-US" dirty="0"/>
              <a:t>up(</a:t>
            </a:r>
            <a:r>
              <a:rPr lang="en-US" dirty="0" err="1"/>
              <a:t>countMutex</a:t>
            </a:r>
            <a:r>
              <a:rPr lang="en-US" dirty="0"/>
              <a:t>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EBB3D6-D61C-B0EE-635F-E1759EA1257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96000" y="3600449"/>
            <a:ext cx="5257800" cy="2576514"/>
          </a:xfrm>
        </p:spPr>
        <p:txBody>
          <a:bodyPr/>
          <a:lstStyle/>
          <a:p>
            <a:r>
              <a:rPr lang="ru-RU" dirty="0"/>
              <a:t>Писатель:</a:t>
            </a:r>
          </a:p>
          <a:p>
            <a:pPr lvl="1"/>
            <a:r>
              <a:rPr lang="en-US" dirty="0"/>
              <a:t>down(resource)</a:t>
            </a:r>
          </a:p>
          <a:p>
            <a:pPr lvl="1"/>
            <a:r>
              <a:rPr lang="en-US" dirty="0" err="1"/>
              <a:t>write_data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up(resource)</a:t>
            </a:r>
          </a:p>
        </p:txBody>
      </p:sp>
    </p:spTree>
    <p:extLst>
      <p:ext uri="{BB962C8B-B14F-4D97-AF65-F5344CB8AC3E}">
        <p14:creationId xmlns:p14="http://schemas.microsoft.com/office/powerpoint/2010/main" val="25786642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34AE0-E05D-3469-9E37-4AEE5E5EC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голодания</a:t>
            </a:r>
            <a:r>
              <a:rPr lang="en-US" dirty="0"/>
              <a:t> </a:t>
            </a:r>
            <a:r>
              <a:rPr lang="en-US" dirty="0" err="1"/>
              <a:t>писателей</a:t>
            </a:r>
            <a:r>
              <a:rPr lang="en-US" dirty="0"/>
              <a:t> (Writer Starvation)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80BD4E-FCCA-417B-7304-034C228BE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читатели</a:t>
            </a:r>
            <a:r>
              <a:rPr lang="en-US" dirty="0"/>
              <a:t> </a:t>
            </a:r>
            <a:r>
              <a:rPr lang="en-US" dirty="0" err="1"/>
              <a:t>приходят</a:t>
            </a:r>
            <a:r>
              <a:rPr lang="en-US" dirty="0"/>
              <a:t> </a:t>
            </a:r>
            <a:r>
              <a:rPr lang="en-US" dirty="0" err="1"/>
              <a:t>непрерывно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читатель</a:t>
            </a:r>
            <a:r>
              <a:rPr lang="en-US" dirty="0"/>
              <a:t>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читатели</a:t>
            </a:r>
            <a:r>
              <a:rPr lang="en-US" dirty="0"/>
              <a:t> </a:t>
            </a:r>
            <a:r>
              <a:rPr lang="en-US" dirty="0" err="1"/>
              <a:t>присоединяются</a:t>
            </a:r>
            <a:r>
              <a:rPr lang="en-US" dirty="0"/>
              <a:t> к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работающим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активных</a:t>
            </a:r>
            <a:r>
              <a:rPr lang="en-US" dirty="0"/>
              <a:t> </a:t>
            </a:r>
            <a:r>
              <a:rPr lang="en-US" dirty="0" err="1"/>
              <a:t>читателей</a:t>
            </a:r>
            <a:r>
              <a:rPr lang="en-US" dirty="0"/>
              <a:t> </a:t>
            </a:r>
            <a:r>
              <a:rPr lang="en-US" dirty="0" err="1"/>
              <a:t>долго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достигает</a:t>
            </a:r>
            <a:r>
              <a:rPr lang="en-US" dirty="0"/>
              <a:t> </a:t>
            </a:r>
            <a:r>
              <a:rPr lang="en-US" dirty="0" err="1"/>
              <a:t>нуля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Писатель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исключительный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.</a:t>
            </a:r>
          </a:p>
          <a:p>
            <a:r>
              <a:rPr lang="en-US" b="1" dirty="0"/>
              <a:t>Starvation (</a:t>
            </a:r>
            <a:r>
              <a:rPr lang="en-US" b="1" dirty="0" err="1"/>
              <a:t>голодание</a:t>
            </a:r>
            <a:r>
              <a:rPr lang="en-US" b="1" dirty="0"/>
              <a:t>)</a:t>
            </a:r>
            <a:r>
              <a:rPr lang="en-US" dirty="0"/>
              <a:t> —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 </a:t>
            </a:r>
            <a:r>
              <a:rPr lang="en-US" dirty="0" err="1"/>
              <a:t>неопределённо</a:t>
            </a:r>
            <a:r>
              <a:rPr lang="en-US" dirty="0"/>
              <a:t> </a:t>
            </a:r>
            <a:r>
              <a:rPr lang="en-US" dirty="0" err="1"/>
              <a:t>долго</a:t>
            </a:r>
            <a:r>
              <a:rPr lang="en-US" dirty="0"/>
              <a:t>, </a:t>
            </a:r>
            <a:r>
              <a:rPr lang="en-US" dirty="0" err="1"/>
              <a:t>хотя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продолжают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</a:p>
          <a:p>
            <a:r>
              <a:rPr lang="en-US" dirty="0" err="1"/>
              <a:t>Возможные</a:t>
            </a:r>
            <a:r>
              <a:rPr lang="en-US" dirty="0"/>
              <a:t> </a:t>
            </a:r>
            <a:r>
              <a:rPr lang="en-US" dirty="0" err="1"/>
              <a:t>политики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Reader-preferred</a:t>
            </a:r>
            <a:r>
              <a:rPr lang="en-US" dirty="0"/>
              <a:t> — </a:t>
            </a:r>
            <a:r>
              <a:rPr lang="en-US" dirty="0" err="1"/>
              <a:t>приоритет</a:t>
            </a:r>
            <a:r>
              <a:rPr lang="en-US" dirty="0"/>
              <a:t> </a:t>
            </a:r>
            <a:r>
              <a:rPr lang="en-US" dirty="0" err="1"/>
              <a:t>читателей</a:t>
            </a:r>
            <a:r>
              <a:rPr lang="en-US" dirty="0"/>
              <a:t>.</a:t>
            </a:r>
            <a:endParaRPr lang="en-US" b="1" dirty="0"/>
          </a:p>
          <a:p>
            <a:pPr lvl="1"/>
            <a:r>
              <a:rPr lang="en-US" b="1" dirty="0"/>
              <a:t>Writer-preferred</a:t>
            </a:r>
            <a:r>
              <a:rPr lang="en-US" dirty="0"/>
              <a:t> —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читатели</a:t>
            </a:r>
            <a:r>
              <a:rPr lang="en-US" dirty="0"/>
              <a:t> </a:t>
            </a:r>
            <a:r>
              <a:rPr lang="en-US" dirty="0" err="1"/>
              <a:t>ждут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ожидающий</a:t>
            </a:r>
            <a:r>
              <a:rPr lang="en-US" dirty="0"/>
              <a:t> </a:t>
            </a:r>
            <a:r>
              <a:rPr lang="en-US" dirty="0" err="1"/>
              <a:t>писатель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Fair/FIFO</a:t>
            </a:r>
            <a:r>
              <a:rPr lang="en-US" dirty="0"/>
              <a:t> — </a:t>
            </a:r>
            <a:r>
              <a:rPr lang="en-US" dirty="0" err="1"/>
              <a:t>организация</a:t>
            </a:r>
            <a:r>
              <a:rPr lang="en-US" dirty="0"/>
              <a:t> </a:t>
            </a:r>
            <a:r>
              <a:rPr lang="en-US" dirty="0" err="1"/>
              <a:t>допуска</a:t>
            </a:r>
            <a:r>
              <a:rPr lang="en-US" dirty="0"/>
              <a:t> с </a:t>
            </a:r>
            <a:r>
              <a:rPr lang="en-US" dirty="0" err="1"/>
              <a:t>учётом</a:t>
            </a:r>
            <a:r>
              <a:rPr lang="en-US" dirty="0"/>
              <a:t> </a:t>
            </a:r>
            <a:r>
              <a:rPr lang="en-US" dirty="0" err="1"/>
              <a:t>порядка</a:t>
            </a:r>
            <a:r>
              <a:rPr lang="en-US" dirty="0"/>
              <a:t> </a:t>
            </a:r>
            <a:r>
              <a:rPr lang="en-US" dirty="0" err="1"/>
              <a:t>запросов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0954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EC3A3-35D1-964E-26FD-AF62EEC85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shared_mutex</a:t>
            </a:r>
            <a:r>
              <a:rPr lang="en-US" dirty="0"/>
              <a:t>: </a:t>
            </a:r>
            <a:r>
              <a:rPr lang="en-US" dirty="0" err="1"/>
              <a:t>готовый</a:t>
            </a:r>
            <a:r>
              <a:rPr lang="en-US" dirty="0"/>
              <a:t> Reader–Writer 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89226-7BC7-92C9-D65C-D97BE5FEE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В C++17 </a:t>
            </a:r>
            <a:r>
              <a:rPr lang="en-US" dirty="0" err="1"/>
              <a:t>появился</a:t>
            </a:r>
            <a:r>
              <a:rPr lang="en-US" dirty="0"/>
              <a:t> std::</a:t>
            </a:r>
            <a:r>
              <a:rPr lang="en-US" dirty="0" err="1"/>
              <a:t>shared_mutex</a:t>
            </a:r>
            <a:r>
              <a:rPr lang="en-US" dirty="0"/>
              <a:t> — </a:t>
            </a:r>
            <a:r>
              <a:rPr lang="en-US" dirty="0" err="1"/>
              <a:t>мьютекс</a:t>
            </a:r>
            <a:r>
              <a:rPr lang="en-US" dirty="0"/>
              <a:t> с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режимами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Shared Lock — </a:t>
            </a:r>
            <a:r>
              <a:rPr lang="en-US" dirty="0" err="1"/>
              <a:t>совместное</a:t>
            </a:r>
            <a:r>
              <a:rPr lang="en-US" dirty="0"/>
              <a:t> </a:t>
            </a:r>
            <a:r>
              <a:rPr lang="en-US" dirty="0" err="1"/>
              <a:t>чтение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Exclusive Lock — </a:t>
            </a:r>
            <a:r>
              <a:rPr lang="en-US" dirty="0" err="1"/>
              <a:t>исключительная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.</a:t>
            </a:r>
          </a:p>
          <a:p>
            <a:r>
              <a:rPr lang="en-US" dirty="0"/>
              <a:t>std::</a:t>
            </a:r>
            <a:r>
              <a:rPr lang="en-US" dirty="0" err="1"/>
              <a:t>shared_lock</a:t>
            </a:r>
            <a:r>
              <a:rPr lang="en-US" dirty="0"/>
              <a:t> —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читателей</a:t>
            </a:r>
            <a:r>
              <a:rPr lang="en-US" dirty="0"/>
              <a:t>, std::</a:t>
            </a:r>
            <a:r>
              <a:rPr lang="en-US" dirty="0" err="1"/>
              <a:t>unique_lock</a:t>
            </a:r>
            <a:r>
              <a:rPr lang="en-US" dirty="0"/>
              <a:t> —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писателей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CBEF2D-DF4F-1C24-F2BE-48BBAB5944C2}"/>
              </a:ext>
            </a:extLst>
          </p:cNvPr>
          <p:cNvSpPr txBox="1"/>
          <p:nvPr/>
        </p:nvSpPr>
        <p:spPr>
          <a:xfrm>
            <a:off x="6096000" y="1744821"/>
            <a:ext cx="52578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SafeString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shared_lock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shared_mutex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0268193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624EF-BBF3-8593-8EA3-1DF29D477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Справедливость</a:t>
            </a:r>
            <a:r>
              <a:rPr lang="en-US" dirty="0"/>
              <a:t> и </a:t>
            </a:r>
            <a:r>
              <a:rPr lang="en-US" dirty="0" err="1"/>
              <a:t>производительность</a:t>
            </a:r>
            <a:r>
              <a:rPr lang="en-US" dirty="0"/>
              <a:t> Reader–Writer 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646E5-5915-FEE3-3FB3-B2A022329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Преимущество</a:t>
            </a:r>
            <a:r>
              <a:rPr lang="en-US" dirty="0"/>
              <a:t> </a:t>
            </a:r>
            <a:r>
              <a:rPr lang="en-US" dirty="0" err="1"/>
              <a:t>shared_mutex</a:t>
            </a:r>
            <a:r>
              <a:rPr lang="en-US" dirty="0"/>
              <a:t>: </a:t>
            </a:r>
            <a:r>
              <a:rPr lang="en-US" dirty="0" err="1"/>
              <a:t>параллельное</a:t>
            </a:r>
            <a:r>
              <a:rPr lang="en-US" dirty="0"/>
              <a:t> </a:t>
            </a:r>
            <a:r>
              <a:rPr lang="en-US" dirty="0" err="1"/>
              <a:t>чтение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повысить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преобладании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компромиссы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частых</a:t>
            </a:r>
            <a:r>
              <a:rPr lang="en-US" dirty="0"/>
              <a:t> </a:t>
            </a:r>
            <a:r>
              <a:rPr lang="en-US" dirty="0" err="1"/>
              <a:t>записях</a:t>
            </a:r>
            <a:r>
              <a:rPr lang="en-US" dirty="0"/>
              <a:t> </a:t>
            </a:r>
            <a:r>
              <a:rPr lang="en-US" dirty="0" err="1"/>
              <a:t>преимущество</a:t>
            </a:r>
            <a:r>
              <a:rPr lang="en-US" dirty="0"/>
              <a:t> </a:t>
            </a:r>
            <a:r>
              <a:rPr lang="en-US" dirty="0" err="1"/>
              <a:t>параллельного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 </a:t>
            </a:r>
            <a:r>
              <a:rPr lang="en-US" dirty="0" err="1"/>
              <a:t>уменьшается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режимами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накладные</a:t>
            </a:r>
            <a:r>
              <a:rPr lang="en-US" dirty="0"/>
              <a:t> </a:t>
            </a:r>
            <a:r>
              <a:rPr lang="en-US" dirty="0" err="1"/>
              <a:t>расходы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предоставления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</a:t>
            </a:r>
            <a:r>
              <a:rPr lang="en-US" dirty="0" err="1"/>
              <a:t>читателям</a:t>
            </a:r>
            <a:r>
              <a:rPr lang="en-US" dirty="0"/>
              <a:t> и </a:t>
            </a:r>
            <a:r>
              <a:rPr lang="en-US" dirty="0" err="1"/>
              <a:t>писателям</a:t>
            </a:r>
            <a:r>
              <a:rPr lang="en-US" dirty="0"/>
              <a:t> </a:t>
            </a:r>
            <a:r>
              <a:rPr lang="en-US" dirty="0" err="1"/>
              <a:t>стандартом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гарантируется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Прямой</a:t>
            </a:r>
            <a:r>
              <a:rPr lang="en-US" dirty="0"/>
              <a:t> </a:t>
            </a:r>
            <a:r>
              <a:rPr lang="en-US" dirty="0" err="1"/>
              <a:t>переход</a:t>
            </a:r>
            <a:r>
              <a:rPr lang="en-US" dirty="0"/>
              <a:t> shared → exclusive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освобождения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поддерживается</a:t>
            </a:r>
            <a:r>
              <a:rPr lang="en-US" dirty="0"/>
              <a:t>.</a:t>
            </a:r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избежать</a:t>
            </a:r>
            <a:r>
              <a:rPr lang="en-US" dirty="0"/>
              <a:t> </a:t>
            </a:r>
            <a:r>
              <a:rPr lang="en-US" dirty="0" err="1"/>
              <a:t>голодания</a:t>
            </a:r>
            <a:r>
              <a:rPr lang="en-US" dirty="0"/>
              <a:t> </a:t>
            </a:r>
            <a:r>
              <a:rPr lang="en-US" dirty="0" err="1"/>
              <a:t>писателей</a:t>
            </a:r>
            <a:r>
              <a:rPr lang="en-US" dirty="0"/>
              <a:t>?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с </a:t>
            </a:r>
            <a:r>
              <a:rPr lang="en-US" dirty="0" err="1"/>
              <a:t>приоритетом</a:t>
            </a:r>
            <a:r>
              <a:rPr lang="en-US" dirty="0"/>
              <a:t> </a:t>
            </a:r>
            <a:r>
              <a:rPr lang="en-US" dirty="0" err="1"/>
              <a:t>писателей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писатель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,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читатели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допускаются</a:t>
            </a:r>
            <a:endParaRPr lang="en-US" dirty="0"/>
          </a:p>
          <a:p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характера</a:t>
            </a:r>
            <a:r>
              <a:rPr lang="en-US" dirty="0"/>
              <a:t> </a:t>
            </a:r>
            <a:r>
              <a:rPr lang="en-US" dirty="0" err="1"/>
              <a:t>нагрузки</a:t>
            </a:r>
            <a:r>
              <a:rPr lang="en-US" dirty="0"/>
              <a:t> и </a:t>
            </a:r>
            <a:r>
              <a:rPr lang="en-US" dirty="0" err="1"/>
              <a:t>требований</a:t>
            </a:r>
            <a:r>
              <a:rPr lang="en-US" dirty="0"/>
              <a:t> к </a:t>
            </a:r>
            <a:r>
              <a:rPr lang="en-US" dirty="0" err="1"/>
              <a:t>задержкам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2987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0A5A93-8CC4-34B2-6954-D938D41CC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</a:t>
            </a:r>
            <a:r>
              <a:rPr lang="en-US" dirty="0" err="1"/>
              <a:t>FairRWLock</a:t>
            </a:r>
            <a:r>
              <a:rPr lang="ru-RU" dirty="0"/>
              <a:t> и </a:t>
            </a:r>
            <a:r>
              <a:rPr lang="en-US" dirty="0" err="1"/>
              <a:t>shared_mutex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9274AB8-4639-9C43-2B60-944343D122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1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108">
                  <a:extLst>
                    <a:ext uri="{9D8B030D-6E8A-4147-A177-3AD203B41FA5}">
                      <a16:colId xmlns:a16="http://schemas.microsoft.com/office/drawing/2014/main" val="485424862"/>
                    </a:ext>
                  </a:extLst>
                </a:gridCol>
                <a:gridCol w="1494692">
                  <a:extLst>
                    <a:ext uri="{9D8B030D-6E8A-4147-A177-3AD203B41FA5}">
                      <a16:colId xmlns:a16="http://schemas.microsoft.com/office/drawing/2014/main" val="1754818225"/>
                    </a:ext>
                  </a:extLst>
                </a:gridCol>
                <a:gridCol w="1793631">
                  <a:extLst>
                    <a:ext uri="{9D8B030D-6E8A-4147-A177-3AD203B41FA5}">
                      <a16:colId xmlns:a16="http://schemas.microsoft.com/office/drawing/2014/main" val="2956631199"/>
                    </a:ext>
                  </a:extLst>
                </a:gridCol>
                <a:gridCol w="1776046">
                  <a:extLst>
                    <a:ext uri="{9D8B030D-6E8A-4147-A177-3AD203B41FA5}">
                      <a16:colId xmlns:a16="http://schemas.microsoft.com/office/drawing/2014/main" val="3494847477"/>
                    </a:ext>
                  </a:extLst>
                </a:gridCol>
                <a:gridCol w="3212124">
                  <a:extLst>
                    <a:ext uri="{9D8B030D-6E8A-4147-A177-3AD203B41FA5}">
                      <a16:colId xmlns:a16="http://schemas.microsoft.com/office/drawing/2014/main" val="781251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Сценарий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FairRWLock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shared_mutex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Победитель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Вывод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253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 писателя × 10k, 10 читателей × 100k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118.1</a:t>
                      </a:r>
                      <a:r>
                        <a:rPr lang="en-US" dirty="0" err="1"/>
                        <a:t>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89.6ms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shared_mutex</a:t>
                      </a:r>
                      <a:r>
                        <a:rPr lang="en-US" dirty="0"/>
                        <a:t> (1.3x)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Много чтений – выигрывает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shared_lock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400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 писателя × 10k, 10 читателей × 10k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13.9ms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58.5ms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FairRWLock</a:t>
                      </a:r>
                      <a:r>
                        <a:rPr lang="en-US" dirty="0"/>
                        <a:t> (4x)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Баланс чтений и записей </a:t>
                      </a:r>
                      <a:r>
                        <a:rPr lang="en-US" dirty="0"/>
                        <a:t>– </a:t>
                      </a:r>
                      <a:r>
                        <a:rPr lang="ru-RU" dirty="0"/>
                        <a:t>выигрывает </a:t>
                      </a:r>
                      <a:r>
                        <a:rPr lang="en-US" dirty="0" err="1"/>
                        <a:t>FairRWLock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472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 писателя × 100k, 10 читателей × 10k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23.3ms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519.9ms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FairRWLock</a:t>
                      </a:r>
                      <a:r>
                        <a:rPr lang="en-US" dirty="0"/>
                        <a:t> (22x)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FairLock</a:t>
                      </a:r>
                      <a:r>
                        <a:rPr lang="ru-RU" dirty="0"/>
                        <a:t> решает проблему голодания писателей при интенсивных записях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34454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5E5E45B-A937-AB92-3020-DEC654E56F14}"/>
              </a:ext>
            </a:extLst>
          </p:cNvPr>
          <p:cNvSpPr txBox="1"/>
          <p:nvPr/>
        </p:nvSpPr>
        <p:spPr>
          <a:xfrm>
            <a:off x="161730" y="4464902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https://github.com/alexey-malov/os-course/blob/main/lectures/05/samples/fair_rwlock/fair_rwlock.cpp</a:t>
            </a: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61CFE6-B9A3-B52C-88B3-C541C77F75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0280" y="4834234"/>
            <a:ext cx="1969990" cy="194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033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159CFC-E761-7094-9A48-745B96BBA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реализована</a:t>
            </a:r>
            <a:r>
              <a:rPr lang="en-US" dirty="0"/>
              <a:t> </a:t>
            </a:r>
            <a:r>
              <a:rPr lang="en-US" dirty="0" err="1"/>
              <a:t>синхронизация</a:t>
            </a:r>
            <a:r>
              <a:rPr lang="en-US" dirty="0"/>
              <a:t> в </a:t>
            </a:r>
            <a:r>
              <a:rPr lang="en-US" dirty="0" err="1"/>
              <a:t>операционных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0E7F93-C13D-BDE4-F6AF-A245434BC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4374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9BB2E1-3E3F-AD47-91B6-3CD21F530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Futex</a:t>
            </a:r>
            <a:r>
              <a:rPr lang="en-US" dirty="0"/>
              <a:t>: </a:t>
            </a:r>
            <a:r>
              <a:rPr lang="en-US" dirty="0" err="1"/>
              <a:t>синхронизация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лишних</a:t>
            </a:r>
            <a:r>
              <a:rPr lang="en-US" dirty="0"/>
              <a:t> </a:t>
            </a:r>
            <a:r>
              <a:rPr lang="en-US" dirty="0" err="1"/>
              <a:t>системных</a:t>
            </a:r>
            <a:r>
              <a:rPr lang="en-US" dirty="0"/>
              <a:t> </a:t>
            </a:r>
            <a:r>
              <a:rPr lang="en-US" dirty="0" err="1"/>
              <a:t>вызовов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EA48CF-D081-BE87-3E39-22122C584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Futex</a:t>
            </a:r>
            <a:r>
              <a:rPr lang="en-US" dirty="0"/>
              <a:t> (Fast </a:t>
            </a:r>
            <a:r>
              <a:rPr lang="en-US" dirty="0" err="1"/>
              <a:t>Userspace</a:t>
            </a:r>
            <a:r>
              <a:rPr lang="en-US" dirty="0"/>
              <a:t> Mutex) — </a:t>
            </a:r>
            <a:r>
              <a:rPr lang="en-US" dirty="0" err="1"/>
              <a:t>низкоуровневый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Linux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и </a:t>
            </a:r>
            <a:r>
              <a:rPr lang="en-US" dirty="0" err="1"/>
              <a:t>пробуждения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значению</a:t>
            </a:r>
            <a:r>
              <a:rPr lang="en-US" dirty="0"/>
              <a:t> </a:t>
            </a:r>
            <a:r>
              <a:rPr lang="en-US" dirty="0" err="1"/>
              <a:t>переменной</a:t>
            </a:r>
            <a:r>
              <a:rPr lang="en-US" dirty="0"/>
              <a:t> в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Fast Path: </a:t>
            </a:r>
            <a:r>
              <a:rPr lang="en-US" dirty="0" err="1"/>
              <a:t>атомарная</a:t>
            </a:r>
            <a:r>
              <a:rPr lang="en-US" dirty="0"/>
              <a:t> </a:t>
            </a:r>
            <a:r>
              <a:rPr lang="en-US" dirty="0" err="1"/>
              <a:t>попытка</a:t>
            </a:r>
            <a:r>
              <a:rPr lang="en-US" dirty="0"/>
              <a:t> </a:t>
            </a:r>
            <a:r>
              <a:rPr lang="en-US" dirty="0" err="1"/>
              <a:t>захвата</a:t>
            </a:r>
            <a:r>
              <a:rPr lang="en-US" dirty="0"/>
              <a:t> в User Space.</a:t>
            </a:r>
          </a:p>
          <a:p>
            <a:pPr lvl="1"/>
            <a:r>
              <a:rPr lang="en-US" dirty="0"/>
              <a:t>Slow Path: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блокировка</a:t>
            </a:r>
            <a:r>
              <a:rPr lang="en-US" dirty="0"/>
              <a:t> </a:t>
            </a:r>
            <a:r>
              <a:rPr lang="en-US" dirty="0" err="1"/>
              <a:t>занята</a:t>
            </a:r>
            <a:r>
              <a:rPr lang="en-US" dirty="0"/>
              <a:t> — </a:t>
            </a:r>
            <a:r>
              <a:rPr lang="en-US" dirty="0" err="1"/>
              <a:t>обращение</a:t>
            </a:r>
            <a:r>
              <a:rPr lang="en-US" dirty="0"/>
              <a:t> к </a:t>
            </a:r>
            <a:r>
              <a:rPr lang="en-US" dirty="0" err="1"/>
              <a:t>ядру</a:t>
            </a:r>
            <a:r>
              <a:rPr lang="en-US" dirty="0"/>
              <a:t> и </a:t>
            </a:r>
            <a:r>
              <a:rPr lang="en-US" dirty="0" err="1"/>
              <a:t>переход</a:t>
            </a:r>
            <a:r>
              <a:rPr lang="en-US" dirty="0"/>
              <a:t> в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Wakeup: </a:t>
            </a:r>
            <a:r>
              <a:rPr lang="en-US" dirty="0" err="1"/>
              <a:t>освобождающий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будит</a:t>
            </a:r>
            <a:r>
              <a:rPr lang="en-US" dirty="0"/>
              <a:t> </a:t>
            </a:r>
            <a:r>
              <a:rPr lang="en-US" dirty="0" err="1"/>
              <a:t>ожидающих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.</a:t>
            </a:r>
          </a:p>
          <a:p>
            <a:r>
              <a:rPr lang="en-US" dirty="0" err="1"/>
              <a:t>Операции</a:t>
            </a:r>
            <a:r>
              <a:rPr lang="en-US" dirty="0"/>
              <a:t> Linux:</a:t>
            </a:r>
          </a:p>
          <a:p>
            <a:pPr lvl="1"/>
            <a:r>
              <a:rPr lang="en-US" dirty="0"/>
              <a:t>FUTEX_WAIT — </a:t>
            </a:r>
            <a:r>
              <a:rPr lang="en-US" dirty="0" err="1"/>
              <a:t>сравнить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с </a:t>
            </a:r>
            <a:r>
              <a:rPr lang="en-US" dirty="0" err="1"/>
              <a:t>ожидаемым</a:t>
            </a:r>
            <a:r>
              <a:rPr lang="en-US" dirty="0"/>
              <a:t> и </a:t>
            </a:r>
            <a:r>
              <a:rPr lang="en-US" dirty="0" err="1"/>
              <a:t>блокироваться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совпадает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FUTEX_WAKE — </a:t>
            </a:r>
            <a:r>
              <a:rPr lang="en-US" dirty="0" err="1"/>
              <a:t>пробудить</a:t>
            </a:r>
            <a:r>
              <a:rPr lang="en-US" dirty="0"/>
              <a:t> </a:t>
            </a:r>
            <a:r>
              <a:rPr lang="en-US" dirty="0" err="1"/>
              <a:t>ожидающие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.</a:t>
            </a:r>
          </a:p>
          <a:p>
            <a:r>
              <a:rPr lang="en-US" dirty="0" err="1"/>
              <a:t>Итог</a:t>
            </a:r>
            <a:r>
              <a:rPr lang="en-US" dirty="0"/>
              <a:t>: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отсутствии</a:t>
            </a:r>
            <a:r>
              <a:rPr lang="en-US" dirty="0"/>
              <a:t> </a:t>
            </a:r>
            <a:r>
              <a:rPr lang="en-US" dirty="0" err="1"/>
              <a:t>конкуренции</a:t>
            </a:r>
            <a:r>
              <a:rPr lang="en-US" dirty="0"/>
              <a:t> </a:t>
            </a:r>
            <a:r>
              <a:rPr lang="en-US" dirty="0" err="1"/>
              <a:t>блокировка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обходится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системного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851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83A9-C0D6-5C19-2C00-C428E14A4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Примитивы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: C++ и POSIX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2582F4B-7B1A-C7C6-D95D-F1F622D7A8A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92672926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47715581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357000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38504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Назначение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850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Взаимное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исключение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std::mutex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pthread_mutex_t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755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Ожидание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условия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std::</a:t>
                      </a:r>
                      <a:r>
                        <a:rPr lang="en-US" dirty="0" err="1"/>
                        <a:t>condition_variable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pthread_cond_t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85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Счётчик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разрешений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std::</a:t>
                      </a:r>
                      <a:r>
                        <a:rPr lang="en-US" dirty="0" err="1"/>
                        <a:t>counting_semaphore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sem_t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25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Чтение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запись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std::</a:t>
                      </a:r>
                      <a:r>
                        <a:rPr lang="en-US" dirty="0" err="1"/>
                        <a:t>shared_mutex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pthread_rwlock_t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702216"/>
                  </a:ext>
                </a:extLst>
              </a:tr>
            </a:tbl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E5FADB-4FE1-D12F-EF11-A08233E0C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814761"/>
            <a:ext cx="10515600" cy="2362201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различие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стандартных</a:t>
            </a:r>
            <a:r>
              <a:rPr lang="en-US" dirty="0"/>
              <a:t> </a:t>
            </a:r>
            <a:r>
              <a:rPr lang="en-US" dirty="0" err="1"/>
              <a:t>средств</a:t>
            </a:r>
            <a:r>
              <a:rPr lang="en-US" dirty="0"/>
              <a:t> C++.</a:t>
            </a:r>
          </a:p>
          <a:p>
            <a:pPr lvl="1"/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с </a:t>
            </a:r>
            <a:r>
              <a:rPr lang="en-US" dirty="0" err="1"/>
              <a:t>поддержкой</a:t>
            </a:r>
            <a:r>
              <a:rPr lang="en-US" dirty="0"/>
              <a:t> Process Shared и </a:t>
            </a:r>
            <a:r>
              <a:rPr lang="en-US" dirty="0" err="1"/>
              <a:t>общая</a:t>
            </a:r>
            <a:r>
              <a:rPr lang="en-US" dirty="0"/>
              <a:t> </a:t>
            </a:r>
            <a:r>
              <a:rPr lang="en-US" dirty="0" err="1"/>
              <a:t>доступная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.</a:t>
            </a:r>
          </a:p>
          <a:p>
            <a:r>
              <a:rPr lang="en-US" b="1" dirty="0" err="1"/>
              <a:t>Пример</a:t>
            </a:r>
            <a:r>
              <a:rPr lang="en-US" b="1" dirty="0"/>
              <a:t> POSIX</a:t>
            </a:r>
            <a:r>
              <a:rPr lang="en-US" dirty="0"/>
              <a:t>: PTHREAD_PROCESS_SHARED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мьютекса</a:t>
            </a:r>
            <a:r>
              <a:rPr lang="en-US" dirty="0"/>
              <a:t>, </a:t>
            </a:r>
            <a:r>
              <a:rPr lang="en-US" dirty="0" err="1"/>
              <a:t>расположенного</a:t>
            </a:r>
            <a:r>
              <a:rPr lang="en-US" dirty="0"/>
              <a:t> в </a:t>
            </a:r>
            <a:r>
              <a:rPr lang="en-US" dirty="0" err="1"/>
              <a:t>разделяемой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4729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572F0-B874-AEE8-CBCF-F032175FA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примитив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?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D595BF9-CAC4-83AE-FBCE-11E33FD441A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18077653"/>
              </p:ext>
            </p:extLst>
          </p:nvPr>
        </p:nvGraphicFramePr>
        <p:xfrm>
          <a:off x="838200" y="1825625"/>
          <a:ext cx="105156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39797829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44230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Задача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Подходящий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механизм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2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Атомарно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изменить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простой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счётчик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std::atomic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271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Защитить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общий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объект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или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структуру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данных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std::mutex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983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Дождаться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выполнения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условия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std::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condition_variable</a:t>
                      </a:r>
                      <a:r>
                        <a:rPr lang="en-US" dirty="0"/>
                        <a:t> + mutex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639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Учитывать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свободные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ресурсы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std::</a:t>
                      </a:r>
                      <a:r>
                        <a:rPr lang="en-US" dirty="0" err="1"/>
                        <a:t>counting_semaphore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625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Разрешить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параллельное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чтение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std::</a:t>
                      </a:r>
                      <a:r>
                        <a:rPr lang="en-US" dirty="0" err="1"/>
                        <a:t>shared_mutex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04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Реализовать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блокирующую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синхронизацию</a:t>
                      </a:r>
                      <a:r>
                        <a:rPr lang="en-US" dirty="0"/>
                        <a:t> в Linux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Futex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как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низкоуровневая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основа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557396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B51A3-E898-057A-3A10-830F3B113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825682"/>
            <a:ext cx="10515600" cy="1351280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классические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Producer–Consumer — </a:t>
            </a:r>
            <a:r>
              <a:rPr lang="en-US" dirty="0" err="1"/>
              <a:t>защита</a:t>
            </a:r>
            <a:r>
              <a:rPr lang="en-US" dirty="0"/>
              <a:t> </a:t>
            </a:r>
            <a:r>
              <a:rPr lang="en-US" dirty="0" err="1"/>
              <a:t>буфера</a:t>
            </a:r>
            <a:r>
              <a:rPr lang="en-US" dirty="0"/>
              <a:t> + </a:t>
            </a:r>
            <a:r>
              <a:rPr lang="en-US" dirty="0" err="1"/>
              <a:t>координация</a:t>
            </a:r>
            <a:r>
              <a:rPr lang="en-US" dirty="0"/>
              <a:t> </a:t>
            </a:r>
            <a:r>
              <a:rPr lang="en-US" dirty="0" err="1"/>
              <a:t>готовности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Readers–Writers — </a:t>
            </a:r>
            <a:r>
              <a:rPr lang="en-US" dirty="0" err="1"/>
              <a:t>совместное</a:t>
            </a:r>
            <a:r>
              <a:rPr lang="en-US" dirty="0"/>
              <a:t> </a:t>
            </a:r>
            <a:r>
              <a:rPr lang="en-US" dirty="0" err="1"/>
              <a:t>чтение</a:t>
            </a:r>
            <a:r>
              <a:rPr lang="en-US" dirty="0"/>
              <a:t> + </a:t>
            </a:r>
            <a:r>
              <a:rPr lang="en-US" dirty="0" err="1"/>
              <a:t>исключительная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.</a:t>
            </a:r>
          </a:p>
          <a:p>
            <a:r>
              <a:rPr lang="ru-RU" dirty="0"/>
              <a:t>В</a:t>
            </a:r>
            <a:r>
              <a:rPr lang="en-US" dirty="0" err="1"/>
              <a:t>ыбор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характера</a:t>
            </a:r>
            <a:r>
              <a:rPr lang="en-US" dirty="0"/>
              <a:t> </a:t>
            </a:r>
            <a:r>
              <a:rPr lang="en-US" dirty="0" err="1"/>
              <a:t>совместного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и </a:t>
            </a:r>
            <a:r>
              <a:rPr lang="en-US" dirty="0" err="1"/>
              <a:t>условий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969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B84A6F-AAA2-ADE9-F033-9772DF4C4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Барьеры – синхронизация потоков по фазам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5B6A4B-357E-8AF3-5506-10303A02F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090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408134-2FE9-DDBB-02C6-D90B4AC28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Барьеры</a:t>
            </a:r>
            <a:r>
              <a:rPr lang="en-US" dirty="0"/>
              <a:t>: </a:t>
            </a:r>
            <a:r>
              <a:rPr lang="en-US" dirty="0" err="1"/>
              <a:t>синхронизация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фазам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F254FB-9E19-5425-79A2-8F51CB257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2836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Барьер</a:t>
            </a:r>
            <a:r>
              <a:rPr lang="en-US" dirty="0"/>
              <a:t> (Barrier) —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, в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ожидают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остальных</a:t>
            </a:r>
            <a:r>
              <a:rPr lang="en-US" dirty="0"/>
              <a:t> </a:t>
            </a:r>
            <a:r>
              <a:rPr lang="en-US" dirty="0" err="1"/>
              <a:t>участников</a:t>
            </a:r>
            <a:r>
              <a:rPr lang="en-US" dirty="0"/>
              <a:t>.</a:t>
            </a:r>
          </a:p>
          <a:p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фазы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Достигнув</a:t>
            </a:r>
            <a:r>
              <a:rPr lang="en-US" dirty="0"/>
              <a:t> </a:t>
            </a:r>
            <a:r>
              <a:rPr lang="en-US" dirty="0" err="1"/>
              <a:t>барьера</a:t>
            </a:r>
            <a:r>
              <a:rPr lang="en-US" dirty="0"/>
              <a:t>,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остальные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участники</a:t>
            </a:r>
            <a:r>
              <a:rPr lang="en-US" dirty="0"/>
              <a:t> </a:t>
            </a:r>
            <a:r>
              <a:rPr lang="en-US" dirty="0" err="1"/>
              <a:t>достигли</a:t>
            </a:r>
            <a:r>
              <a:rPr lang="en-US" dirty="0"/>
              <a:t> </a:t>
            </a:r>
            <a:r>
              <a:rPr lang="en-US" dirty="0" err="1"/>
              <a:t>барьера</a:t>
            </a:r>
            <a:r>
              <a:rPr lang="en-US" dirty="0"/>
              <a:t>,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перейти</a:t>
            </a:r>
            <a:r>
              <a:rPr lang="en-US" dirty="0"/>
              <a:t> к </a:t>
            </a:r>
            <a:r>
              <a:rPr lang="en-US" dirty="0" err="1"/>
              <a:t>следующей</a:t>
            </a:r>
            <a:r>
              <a:rPr lang="en-US" dirty="0"/>
              <a:t> </a:t>
            </a:r>
            <a:r>
              <a:rPr lang="en-US" dirty="0" err="1"/>
              <a:t>фазе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Барьер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многократно</a:t>
            </a:r>
            <a:r>
              <a:rPr lang="en-US" dirty="0"/>
              <a:t>.</a:t>
            </a:r>
          </a:p>
          <a:p>
            <a:r>
              <a:rPr lang="en-US" dirty="0" err="1"/>
              <a:t>Применение</a:t>
            </a:r>
            <a:r>
              <a:rPr lang="en-US" dirty="0"/>
              <a:t>: </a:t>
            </a:r>
            <a:r>
              <a:rPr lang="en-US" dirty="0" err="1"/>
              <a:t>параллельные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, </a:t>
            </a:r>
            <a:r>
              <a:rPr lang="en-US" dirty="0" err="1"/>
              <a:t>симуляции</a:t>
            </a:r>
            <a:r>
              <a:rPr lang="en-US" dirty="0"/>
              <a:t>, </a:t>
            </a:r>
            <a:r>
              <a:rPr lang="en-US" dirty="0" err="1"/>
              <a:t>итеративные</a:t>
            </a:r>
            <a:r>
              <a:rPr lang="en-US" dirty="0"/>
              <a:t> </a:t>
            </a:r>
            <a:r>
              <a:rPr lang="en-US" dirty="0" err="1"/>
              <a:t>алгоритмы</a:t>
            </a:r>
            <a:r>
              <a:rPr lang="en-US" dirty="0"/>
              <a:t>.</a:t>
            </a:r>
          </a:p>
          <a:p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Mutex: </a:t>
            </a:r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ограничивает</a:t>
            </a:r>
            <a:r>
              <a:rPr lang="en-US" dirty="0"/>
              <a:t> </a:t>
            </a:r>
            <a:r>
              <a:rPr lang="en-US" dirty="0" err="1"/>
              <a:t>одновременный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, а </a:t>
            </a:r>
            <a:r>
              <a:rPr lang="en-US" dirty="0" err="1"/>
              <a:t>барьер</a:t>
            </a:r>
            <a:r>
              <a:rPr lang="en-US" dirty="0"/>
              <a:t> </a:t>
            </a:r>
            <a:r>
              <a:rPr lang="en-US" dirty="0" err="1"/>
              <a:t>согласует</a:t>
            </a:r>
            <a:r>
              <a:rPr lang="en-US" dirty="0"/>
              <a:t> </a:t>
            </a:r>
            <a:r>
              <a:rPr lang="en-US" dirty="0" err="1"/>
              <a:t>переход</a:t>
            </a:r>
            <a:r>
              <a:rPr lang="en-US" dirty="0"/>
              <a:t> к </a:t>
            </a:r>
            <a:r>
              <a:rPr lang="en-US" dirty="0" err="1"/>
              <a:t>следующему</a:t>
            </a:r>
            <a:r>
              <a:rPr lang="en-US" dirty="0"/>
              <a:t> </a:t>
            </a:r>
            <a:r>
              <a:rPr lang="en-US" dirty="0" err="1"/>
              <a:t>этапу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91C158B-0CB6-CD6A-BAED-13A113C65AF3}"/>
              </a:ext>
            </a:extLst>
          </p:cNvPr>
          <p:cNvGrpSpPr/>
          <p:nvPr/>
        </p:nvGrpSpPr>
        <p:grpSpPr>
          <a:xfrm>
            <a:off x="7382318" y="2688337"/>
            <a:ext cx="3971482" cy="2155450"/>
            <a:chOff x="2788318" y="2169695"/>
            <a:chExt cx="6734175" cy="3205885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2855204-1E39-1FEA-7FEF-AD7872DEAB3C}"/>
                </a:ext>
              </a:extLst>
            </p:cNvPr>
            <p:cNvCxnSpPr>
              <a:cxnSpLocks/>
            </p:cNvCxnSpPr>
            <p:nvPr/>
          </p:nvCxnSpPr>
          <p:spPr>
            <a:xfrm>
              <a:off x="2788318" y="2760245"/>
              <a:ext cx="67341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7D8604F-CCF3-2AC8-B162-39DB0F339080}"/>
                </a:ext>
              </a:extLst>
            </p:cNvPr>
            <p:cNvCxnSpPr>
              <a:cxnSpLocks/>
            </p:cNvCxnSpPr>
            <p:nvPr/>
          </p:nvCxnSpPr>
          <p:spPr>
            <a:xfrm>
              <a:off x="2788318" y="3293645"/>
              <a:ext cx="66675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ECE439C-DA84-FC2F-8998-8563BF9C56BD}"/>
                </a:ext>
              </a:extLst>
            </p:cNvPr>
            <p:cNvCxnSpPr>
              <a:cxnSpLocks/>
            </p:cNvCxnSpPr>
            <p:nvPr/>
          </p:nvCxnSpPr>
          <p:spPr>
            <a:xfrm>
              <a:off x="2788318" y="3827045"/>
              <a:ext cx="66675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7FA6443-557E-8BF8-EAAB-4F4AF824FE0B}"/>
                </a:ext>
              </a:extLst>
            </p:cNvPr>
            <p:cNvCxnSpPr/>
            <p:nvPr/>
          </p:nvCxnSpPr>
          <p:spPr>
            <a:xfrm>
              <a:off x="4674262" y="2169695"/>
              <a:ext cx="0" cy="22479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DF43938-5BAD-34D2-74D4-0A0762344DFF}"/>
                </a:ext>
              </a:extLst>
            </p:cNvPr>
            <p:cNvSpPr/>
            <p:nvPr/>
          </p:nvSpPr>
          <p:spPr>
            <a:xfrm>
              <a:off x="3169318" y="2607845"/>
              <a:ext cx="533400" cy="280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77ED552-4716-9284-CD03-6CD568E817D8}"/>
                </a:ext>
              </a:extLst>
            </p:cNvPr>
            <p:cNvSpPr/>
            <p:nvPr/>
          </p:nvSpPr>
          <p:spPr>
            <a:xfrm>
              <a:off x="3359818" y="3153151"/>
              <a:ext cx="1276347" cy="280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E4B5040-2835-C512-D476-1497D073A02D}"/>
                </a:ext>
              </a:extLst>
            </p:cNvPr>
            <p:cNvSpPr/>
            <p:nvPr/>
          </p:nvSpPr>
          <p:spPr>
            <a:xfrm>
              <a:off x="3083596" y="3698457"/>
              <a:ext cx="1276347" cy="280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7D84733-19AB-92FB-E16C-F8D855964EB6}"/>
                </a:ext>
              </a:extLst>
            </p:cNvPr>
            <p:cNvCxnSpPr/>
            <p:nvPr/>
          </p:nvCxnSpPr>
          <p:spPr>
            <a:xfrm flipV="1">
              <a:off x="4131343" y="3979444"/>
              <a:ext cx="228600" cy="619126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6116CD-7A91-066C-25BB-200FC8495FD4}"/>
                </a:ext>
              </a:extLst>
            </p:cNvPr>
            <p:cNvSpPr txBox="1"/>
            <p:nvPr/>
          </p:nvSpPr>
          <p:spPr>
            <a:xfrm>
              <a:off x="3197896" y="4722395"/>
              <a:ext cx="1771645" cy="389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/>
                <a:t>barrier.arrive</a:t>
              </a:r>
              <a:r>
                <a:rPr lang="en-US" sz="1100" dirty="0"/>
                <a:t>()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C5590A5-D32F-38A3-04C2-99A937F17025}"/>
                </a:ext>
              </a:extLst>
            </p:cNvPr>
            <p:cNvCxnSpPr/>
            <p:nvPr/>
          </p:nvCxnSpPr>
          <p:spPr>
            <a:xfrm>
              <a:off x="5118762" y="2169695"/>
              <a:ext cx="0" cy="22479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4F1C924-B269-88C5-897C-B4BC0FE615A4}"/>
                </a:ext>
              </a:extLst>
            </p:cNvPr>
            <p:cNvSpPr/>
            <p:nvPr/>
          </p:nvSpPr>
          <p:spPr>
            <a:xfrm>
              <a:off x="4715547" y="3163232"/>
              <a:ext cx="365121" cy="280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39C6055-822B-A566-B422-C09027741DAC}"/>
                </a:ext>
              </a:extLst>
            </p:cNvPr>
            <p:cNvSpPr txBox="1"/>
            <p:nvPr/>
          </p:nvSpPr>
          <p:spPr>
            <a:xfrm>
              <a:off x="5118760" y="4800739"/>
              <a:ext cx="3101975" cy="389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/>
                <a:t>Завершающий шаг</a:t>
              </a:r>
              <a:endParaRPr lang="en-US" sz="1100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92A31D0-DCEB-22DC-A720-1882E44805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23484" y="3503198"/>
              <a:ext cx="508003" cy="1371595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DAB22B1-BBE6-38A8-A18D-9176BADDDC35}"/>
                </a:ext>
              </a:extLst>
            </p:cNvPr>
            <p:cNvSpPr/>
            <p:nvPr/>
          </p:nvSpPr>
          <p:spPr>
            <a:xfrm>
              <a:off x="5150518" y="2611178"/>
              <a:ext cx="2270118" cy="280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0E15CD3-E6F2-C8ED-0319-9C8B45D5B3A8}"/>
                </a:ext>
              </a:extLst>
            </p:cNvPr>
            <p:cNvSpPr/>
            <p:nvPr/>
          </p:nvSpPr>
          <p:spPr>
            <a:xfrm>
              <a:off x="5150519" y="3163232"/>
              <a:ext cx="1787520" cy="280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84667A9-8AB6-17A4-854A-6B07791A230F}"/>
                </a:ext>
              </a:extLst>
            </p:cNvPr>
            <p:cNvSpPr/>
            <p:nvPr/>
          </p:nvSpPr>
          <p:spPr>
            <a:xfrm>
              <a:off x="5150519" y="3700602"/>
              <a:ext cx="3009898" cy="280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4EF63F5-AF4A-9D31-E5B1-D23FFA184544}"/>
                </a:ext>
              </a:extLst>
            </p:cNvPr>
            <p:cNvCxnSpPr/>
            <p:nvPr/>
          </p:nvCxnSpPr>
          <p:spPr>
            <a:xfrm>
              <a:off x="8220737" y="2169695"/>
              <a:ext cx="0" cy="22479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3D76CC4-E17F-7B1B-C241-357E4CF6AAA8}"/>
                </a:ext>
              </a:extLst>
            </p:cNvPr>
            <p:cNvCxnSpPr/>
            <p:nvPr/>
          </p:nvCxnSpPr>
          <p:spPr>
            <a:xfrm>
              <a:off x="8665237" y="2169695"/>
              <a:ext cx="0" cy="22479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5D1C26D-A8AC-F077-1016-8AF973A70C0E}"/>
                </a:ext>
              </a:extLst>
            </p:cNvPr>
            <p:cNvCxnSpPr>
              <a:cxnSpLocks/>
              <a:stCxn id="26" idx="0"/>
            </p:cNvCxnSpPr>
            <p:nvPr/>
          </p:nvCxnSpPr>
          <p:spPr>
            <a:xfrm flipV="1">
              <a:off x="7776229" y="3979445"/>
              <a:ext cx="384188" cy="1007033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3C34BB9-5C77-29E9-A4BE-013AD50CF3D2}"/>
                </a:ext>
              </a:extLst>
            </p:cNvPr>
            <p:cNvSpPr txBox="1"/>
            <p:nvPr/>
          </p:nvSpPr>
          <p:spPr>
            <a:xfrm>
              <a:off x="6890406" y="4986477"/>
              <a:ext cx="1771645" cy="389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/>
                <a:t>barrier.arrive</a:t>
              </a:r>
              <a:r>
                <a:rPr lang="en-US" sz="1100" dirty="0"/>
                <a:t>()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37DBBB6-A4A4-C139-057E-7ED7A76AE848}"/>
                </a:ext>
              </a:extLst>
            </p:cNvPr>
            <p:cNvSpPr/>
            <p:nvPr/>
          </p:nvSpPr>
          <p:spPr>
            <a:xfrm>
              <a:off x="8260427" y="3703737"/>
              <a:ext cx="365121" cy="280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69611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CDA62-E1FC-8225-04E6-BF9D9BBE3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std::barrier в C++20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25B28-4F02-8990-D4F4-8D7D5C133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4351338"/>
          </a:xfrm>
        </p:spPr>
        <p:txBody>
          <a:bodyPr>
            <a:normAutofit/>
          </a:bodyPr>
          <a:lstStyle/>
          <a:p>
            <a:r>
              <a:rPr lang="en-US" dirty="0"/>
              <a:t>В C++20 </a:t>
            </a:r>
            <a:r>
              <a:rPr lang="en-US" dirty="0" err="1"/>
              <a:t>появился</a:t>
            </a:r>
            <a:r>
              <a:rPr lang="en-US" dirty="0"/>
              <a:t> std::barrier (</a:t>
            </a:r>
            <a:r>
              <a:rPr lang="en-US" dirty="0" err="1"/>
              <a:t>заголовок</a:t>
            </a:r>
            <a:r>
              <a:rPr lang="en-US" dirty="0"/>
              <a:t> &lt;barrier&gt;).</a:t>
            </a:r>
          </a:p>
          <a:p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arrive_and_wait</a:t>
            </a:r>
            <a:r>
              <a:rPr lang="en-US" dirty="0"/>
              <a:t>() — </a:t>
            </a:r>
            <a:r>
              <a:rPr lang="en-US" dirty="0" err="1"/>
              <a:t>завершить</a:t>
            </a:r>
            <a:r>
              <a:rPr lang="en-US" dirty="0"/>
              <a:t> </a:t>
            </a:r>
            <a:r>
              <a:rPr lang="en-US" dirty="0" err="1"/>
              <a:t>фазу</a:t>
            </a:r>
            <a:r>
              <a:rPr lang="en-US" dirty="0"/>
              <a:t> и </a:t>
            </a:r>
            <a:r>
              <a:rPr lang="en-US" dirty="0" err="1"/>
              <a:t>дождаться</a:t>
            </a:r>
            <a:r>
              <a:rPr lang="en-US" dirty="0"/>
              <a:t> </a:t>
            </a:r>
            <a:r>
              <a:rPr lang="en-US" dirty="0" err="1"/>
              <a:t>остальных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arrive_and_drop</a:t>
            </a:r>
            <a:r>
              <a:rPr lang="en-US" dirty="0"/>
              <a:t>() — </a:t>
            </a:r>
            <a:r>
              <a:rPr lang="en-US" dirty="0" err="1"/>
              <a:t>завершить</a:t>
            </a:r>
            <a:r>
              <a:rPr lang="en-US" dirty="0"/>
              <a:t> </a:t>
            </a:r>
            <a:r>
              <a:rPr lang="en-US" dirty="0" err="1"/>
              <a:t>участие</a:t>
            </a:r>
            <a:r>
              <a:rPr lang="en-US" dirty="0"/>
              <a:t> и </a:t>
            </a:r>
            <a:r>
              <a:rPr lang="en-US" dirty="0" err="1"/>
              <a:t>выйти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группы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последующих</a:t>
            </a:r>
            <a:r>
              <a:rPr lang="en-US" dirty="0"/>
              <a:t> </a:t>
            </a:r>
            <a:r>
              <a:rPr lang="en-US" dirty="0" err="1"/>
              <a:t>фаз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Completion function — </a:t>
            </a:r>
            <a:r>
              <a:rPr lang="en-US" dirty="0" err="1"/>
              <a:t>действие</a:t>
            </a:r>
            <a:r>
              <a:rPr lang="en-US" dirty="0"/>
              <a:t>, </a:t>
            </a:r>
            <a:r>
              <a:rPr lang="en-US" dirty="0" err="1"/>
              <a:t>выполняемое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завершении</a:t>
            </a:r>
            <a:r>
              <a:rPr lang="en-US" dirty="0"/>
              <a:t> </a:t>
            </a:r>
            <a:r>
              <a:rPr lang="en-US" dirty="0" err="1"/>
              <a:t>фазы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1EBB15-D6E0-CE8E-2102-83A4E4656AB4}"/>
              </a:ext>
            </a:extLst>
          </p:cNvPr>
          <p:cNvSpPr txBox="1"/>
          <p:nvPr/>
        </p:nvSpPr>
        <p:spPr>
          <a:xfrm>
            <a:off x="7581900" y="1836128"/>
            <a:ext cx="4102100" cy="369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barrier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syncPoint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[&amp;](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PrepareData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syncPoint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arrive_and_wait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ProcessResults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3D9F22-48B3-A246-633F-D3215D158771}"/>
              </a:ext>
            </a:extLst>
          </p:cNvPr>
          <p:cNvSpPr txBox="1"/>
          <p:nvPr/>
        </p:nvSpPr>
        <p:spPr>
          <a:xfrm>
            <a:off x="5957316" y="5864300"/>
            <a:ext cx="6099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ProcessResults</a:t>
            </a:r>
            <a:r>
              <a:rPr lang="ru-RU" dirty="0"/>
              <a:t>() начнётся только после завершения </a:t>
            </a:r>
            <a:r>
              <a:rPr lang="ru-RU" dirty="0" err="1"/>
              <a:t>PrepareData</a:t>
            </a:r>
            <a:r>
              <a:rPr lang="ru-RU" dirty="0"/>
              <a:t>() всеми тремя потоками.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8377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54440-7E42-AB04-B661-4D55F27C6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Игра</a:t>
            </a:r>
            <a:r>
              <a:rPr lang="en-US" dirty="0"/>
              <a:t> «</a:t>
            </a:r>
            <a:r>
              <a:rPr lang="en-US" dirty="0" err="1"/>
              <a:t>Жизнь</a:t>
            </a:r>
            <a:r>
              <a:rPr lang="en-US" dirty="0"/>
              <a:t>»: </a:t>
            </a:r>
            <a:r>
              <a:rPr lang="en-US" dirty="0" err="1"/>
              <a:t>параллельные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 с </a:t>
            </a:r>
            <a:r>
              <a:rPr lang="en-US" dirty="0" err="1"/>
              <a:t>барьером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CE579-318A-EA2C-0813-40CF623DC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Игра</a:t>
            </a:r>
            <a:r>
              <a:rPr lang="en-US" dirty="0"/>
              <a:t> «</a:t>
            </a:r>
            <a:r>
              <a:rPr lang="en-US" dirty="0" err="1"/>
              <a:t>Жизнь</a:t>
            </a:r>
            <a:r>
              <a:rPr lang="en-US" dirty="0"/>
              <a:t>» — </a:t>
            </a:r>
            <a:r>
              <a:rPr lang="en-US" dirty="0" err="1"/>
              <a:t>клеточный</a:t>
            </a:r>
            <a:r>
              <a:rPr lang="en-US" dirty="0"/>
              <a:t> </a:t>
            </a:r>
            <a:r>
              <a:rPr lang="en-US" dirty="0" err="1"/>
              <a:t>автомат</a:t>
            </a:r>
            <a:r>
              <a:rPr lang="en-US" dirty="0"/>
              <a:t>, в </a:t>
            </a:r>
            <a:r>
              <a:rPr lang="en-US" dirty="0" err="1"/>
              <a:t>котором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поколение</a:t>
            </a:r>
            <a:r>
              <a:rPr lang="en-US" dirty="0"/>
              <a:t> </a:t>
            </a:r>
            <a:r>
              <a:rPr lang="en-US" dirty="0" err="1"/>
              <a:t>вычисляется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предыдущего</a:t>
            </a:r>
            <a:r>
              <a:rPr lang="en-US" dirty="0"/>
              <a:t>.</a:t>
            </a:r>
          </a:p>
          <a:p>
            <a:r>
              <a:rPr lang="en-US" dirty="0" err="1"/>
              <a:t>Распараллеливание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Делим</a:t>
            </a:r>
            <a:r>
              <a:rPr lang="en-US" dirty="0"/>
              <a:t> </a:t>
            </a:r>
            <a:r>
              <a:rPr lang="en-US" dirty="0" err="1"/>
              <a:t>поле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строкам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читает</a:t>
            </a:r>
            <a:r>
              <a:rPr lang="en-US" dirty="0"/>
              <a:t> current и </a:t>
            </a:r>
            <a:r>
              <a:rPr lang="en-US" dirty="0" err="1"/>
              <a:t>вычисляет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фрагмент</a:t>
            </a:r>
            <a:r>
              <a:rPr lang="en-US" dirty="0"/>
              <a:t> next.</a:t>
            </a:r>
          </a:p>
          <a:p>
            <a:pPr lvl="1"/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ожидают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барьера</a:t>
            </a:r>
            <a:r>
              <a:rPr lang="en-US" dirty="0"/>
              <a:t> </a:t>
            </a:r>
            <a:r>
              <a:rPr lang="en-US" dirty="0" err="1"/>
              <a:t>меняем</a:t>
            </a:r>
            <a:r>
              <a:rPr lang="en-US" dirty="0"/>
              <a:t> </a:t>
            </a:r>
            <a:r>
              <a:rPr lang="en-US" dirty="0" err="1"/>
              <a:t>местами</a:t>
            </a:r>
            <a:r>
              <a:rPr lang="en-US" dirty="0"/>
              <a:t> current и next.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A80A37-FAC7-F0FB-0A64-98E333E92EE1}"/>
              </a:ext>
            </a:extLst>
          </p:cNvPr>
          <p:cNvSpPr txBox="1"/>
          <p:nvPr/>
        </p:nvSpPr>
        <p:spPr>
          <a:xfrm>
            <a:off x="6095999" y="2018742"/>
            <a:ext cx="5943601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barrier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syncPoint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[&amp;]()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[&amp;](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step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step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step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(*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NextCell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syncPoint.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arrive_and_wait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27A94E-07B3-C856-722B-166B6496A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823" y="5059047"/>
            <a:ext cx="4065977" cy="143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7491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D477F3-6835-5EBA-8DD1-B9CEB5E3C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Завершение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и </a:t>
            </a:r>
            <a:r>
              <a:rPr lang="en-US" dirty="0" err="1"/>
              <a:t>отмена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299AC2-D467-54E5-972A-7A804E9AD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0578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B1D787-17C0-6A29-BFE3-E2C0FF106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завершать</a:t>
            </a:r>
            <a:r>
              <a:rPr lang="en-US" dirty="0"/>
              <a:t> </a:t>
            </a:r>
            <a:r>
              <a:rPr lang="en-US" dirty="0" err="1"/>
              <a:t>рабочие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E141AF-8B5F-0106-34BB-629B2BEDF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531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Проблема</a:t>
            </a:r>
            <a:r>
              <a:rPr lang="en-US" dirty="0"/>
              <a:t>: </a:t>
            </a:r>
            <a:r>
              <a:rPr lang="en-US" dirty="0" err="1"/>
              <a:t>рабочий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продолжать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завершить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</a:p>
          <a:p>
            <a:r>
              <a:rPr lang="en-US" dirty="0"/>
              <a:t>В C++20: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jthread</a:t>
            </a:r>
            <a:r>
              <a:rPr lang="en-US" dirty="0"/>
              <a:t> — </a:t>
            </a:r>
            <a:r>
              <a:rPr lang="en-US" dirty="0" err="1"/>
              <a:t>поток</a:t>
            </a:r>
            <a:r>
              <a:rPr lang="en-US" dirty="0"/>
              <a:t> с </a:t>
            </a:r>
            <a:r>
              <a:rPr lang="en-US" dirty="0" err="1"/>
              <a:t>автоматическим</a:t>
            </a:r>
            <a:r>
              <a:rPr lang="en-US" dirty="0"/>
              <a:t> </a:t>
            </a:r>
            <a:r>
              <a:rPr lang="en-US" dirty="0" err="1"/>
              <a:t>ожиданием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endParaRPr lang="en-US" dirty="0"/>
          </a:p>
          <a:p>
            <a:pPr lvl="1"/>
            <a:r>
              <a:rPr lang="en-US" dirty="0"/>
              <a:t>std::</a:t>
            </a:r>
            <a:r>
              <a:rPr lang="en-US" dirty="0" err="1"/>
              <a:t>stop_token</a:t>
            </a:r>
            <a:r>
              <a:rPr lang="en-US" dirty="0"/>
              <a:t> —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 о </a:t>
            </a:r>
            <a:r>
              <a:rPr lang="en-US" dirty="0" err="1"/>
              <a:t>запросе</a:t>
            </a:r>
            <a:r>
              <a:rPr lang="en-US" dirty="0"/>
              <a:t> </a:t>
            </a:r>
            <a:r>
              <a:rPr lang="en-US" dirty="0" err="1"/>
              <a:t>остановки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request_stop</a:t>
            </a:r>
            <a:r>
              <a:rPr lang="en-US" dirty="0"/>
              <a:t>() — </a:t>
            </a:r>
            <a:r>
              <a:rPr lang="en-US" dirty="0" err="1"/>
              <a:t>отправляет</a:t>
            </a:r>
            <a:r>
              <a:rPr lang="en-US" dirty="0"/>
              <a:t> </a:t>
            </a:r>
            <a:r>
              <a:rPr lang="en-US" dirty="0" err="1"/>
              <a:t>запрос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остановку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join() —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.</a:t>
            </a:r>
          </a:p>
          <a:p>
            <a:r>
              <a:rPr lang="en-US" dirty="0" err="1"/>
              <a:t>Отмена</a:t>
            </a:r>
            <a:r>
              <a:rPr lang="en-US" dirty="0"/>
              <a:t> </a:t>
            </a:r>
            <a:r>
              <a:rPr lang="en-US" dirty="0" err="1"/>
              <a:t>кооперативная</a:t>
            </a:r>
            <a:r>
              <a:rPr lang="en-US" dirty="0"/>
              <a:t>: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ru-RU" dirty="0"/>
              <a:t>сам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ru-RU" dirty="0"/>
              <a:t>безопасно</a:t>
            </a:r>
            <a:r>
              <a:rPr lang="en-US" dirty="0"/>
              <a:t> </a:t>
            </a:r>
            <a:r>
              <a:rPr lang="en-US" dirty="0" err="1"/>
              <a:t>завершить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DA97E1-F6B7-EFBE-9B24-699342CCB523}"/>
              </a:ext>
            </a:extLst>
          </p:cNvPr>
          <p:cNvSpPr txBox="1"/>
          <p:nvPr/>
        </p:nvSpPr>
        <p:spPr>
          <a:xfrm>
            <a:off x="6803136" y="1825625"/>
            <a:ext cx="53202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worker([](std::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stop_token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stop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stop_requested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ProcessNextTask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Когда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необходимо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остановить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поток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worker.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request_stop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worker.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1617254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73E7B-5CCE-4D9A-7C70-6F309B6B1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отменить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, </a:t>
            </a:r>
            <a:r>
              <a:rPr lang="en-US" dirty="0" err="1"/>
              <a:t>ожидающий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FA720-AE38-3C07-12B6-F0FC61DCA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11800" cy="4351338"/>
          </a:xfrm>
        </p:spPr>
        <p:txBody>
          <a:bodyPr/>
          <a:lstStyle/>
          <a:p>
            <a:r>
              <a:rPr lang="en-US" dirty="0" err="1"/>
              <a:t>Проблема</a:t>
            </a:r>
            <a:r>
              <a:rPr lang="en-US" dirty="0"/>
              <a:t>: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заблокирован</a:t>
            </a:r>
            <a:r>
              <a:rPr lang="en-US" dirty="0"/>
              <a:t> в wait()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 </a:t>
            </a:r>
            <a:r>
              <a:rPr lang="en-US" dirty="0" err="1"/>
              <a:t>stop_requested</a:t>
            </a:r>
            <a:r>
              <a:rPr lang="en-US" dirty="0"/>
              <a:t>().</a:t>
            </a:r>
          </a:p>
          <a:p>
            <a:r>
              <a:rPr lang="en-US" dirty="0" err="1"/>
              <a:t>Решение</a:t>
            </a:r>
            <a:r>
              <a:rPr lang="en-US" dirty="0"/>
              <a:t> в C++20:</a:t>
            </a:r>
            <a:endParaRPr lang="ru-RU" dirty="0"/>
          </a:p>
          <a:p>
            <a:pPr lvl="1"/>
            <a:r>
              <a:rPr lang="en-US" dirty="0"/>
              <a:t>std::</a:t>
            </a:r>
            <a:r>
              <a:rPr lang="en-US" dirty="0" err="1"/>
              <a:t>condition_variable_any</a:t>
            </a:r>
            <a:r>
              <a:rPr lang="en-US" dirty="0"/>
              <a:t> </a:t>
            </a:r>
            <a:r>
              <a:rPr lang="en-US" dirty="0" err="1"/>
              <a:t>поддерживает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 с std::</a:t>
            </a:r>
            <a:r>
              <a:rPr lang="en-US" dirty="0" err="1"/>
              <a:t>stop_token</a:t>
            </a:r>
            <a:r>
              <a:rPr lang="en-US" dirty="0"/>
              <a:t>.</a:t>
            </a:r>
            <a:endParaRPr lang="ru-RU" dirty="0"/>
          </a:p>
          <a:p>
            <a:pPr lvl="1"/>
            <a:r>
              <a:rPr lang="en-US" dirty="0"/>
              <a:t>wait() </a:t>
            </a:r>
            <a:r>
              <a:rPr lang="en-US" dirty="0" err="1"/>
              <a:t>завершается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выполнении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запросе</a:t>
            </a:r>
            <a:r>
              <a:rPr lang="en-US" dirty="0"/>
              <a:t> </a:t>
            </a:r>
            <a:r>
              <a:rPr lang="en-US" dirty="0" err="1"/>
              <a:t>остановки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246D9A-A4F8-68A6-EF89-CE73469E6849}"/>
              </a:ext>
            </a:extLst>
          </p:cNvPr>
          <p:cNvSpPr txBox="1"/>
          <p:nvPr/>
        </p:nvSpPr>
        <p:spPr>
          <a:xfrm>
            <a:off x="6350000" y="1595021"/>
            <a:ext cx="5842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condition_variable_any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cv</a:t>
            </a:r>
            <a:r>
              <a:rPr lang="en-US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([&amp;](std::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stop_token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hasData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cv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[&amp;]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hasData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Cancelled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Data ready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request_stop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1556048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73D5C-98E0-920E-C13D-FE3F2D3D1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правильно</a:t>
            </a:r>
            <a:r>
              <a:rPr lang="en-US" dirty="0"/>
              <a:t> </a:t>
            </a:r>
            <a:r>
              <a:rPr lang="en-US" dirty="0" err="1"/>
              <a:t>закрыть</a:t>
            </a:r>
            <a:r>
              <a:rPr lang="en-US" dirty="0"/>
              <a:t> </a:t>
            </a:r>
            <a:r>
              <a:rPr lang="en-US" dirty="0" err="1"/>
              <a:t>многопоточную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92708-027C-435C-E8D4-6EFC7059E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24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Проблема</a:t>
            </a:r>
            <a:r>
              <a:rPr lang="en-US" dirty="0"/>
              <a:t>: </a:t>
            </a:r>
            <a:r>
              <a:rPr lang="en-US" dirty="0" err="1"/>
              <a:t>потребитель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производители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добавлять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</a:p>
          <a:p>
            <a:r>
              <a:rPr lang="en-US" dirty="0" err="1"/>
              <a:t>Решение</a:t>
            </a:r>
            <a:r>
              <a:rPr lang="en-US" dirty="0"/>
              <a:t> — </a:t>
            </a:r>
            <a:r>
              <a:rPr lang="en-US" dirty="0" err="1"/>
              <a:t>явное</a:t>
            </a:r>
            <a:r>
              <a:rPr lang="en-US" dirty="0"/>
              <a:t> </a:t>
            </a:r>
            <a:r>
              <a:rPr lang="en-US" dirty="0" err="1"/>
              <a:t>закрытие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closed.</a:t>
            </a:r>
          </a:p>
          <a:p>
            <a:pPr lvl="1"/>
            <a:r>
              <a:rPr lang="en-US" dirty="0" err="1"/>
              <a:t>Метод</a:t>
            </a:r>
            <a:r>
              <a:rPr lang="en-US" dirty="0"/>
              <a:t> Close() </a:t>
            </a:r>
            <a:r>
              <a:rPr lang="en-US" dirty="0" err="1"/>
              <a:t>запрещает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добавления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ожидающие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пробуждаются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Потребители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обработать</a:t>
            </a:r>
            <a:r>
              <a:rPr lang="en-US" dirty="0"/>
              <a:t> </a:t>
            </a:r>
            <a:r>
              <a:rPr lang="en-US" dirty="0" err="1"/>
              <a:t>оставшиеся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завершиться</a:t>
            </a:r>
            <a:r>
              <a:rPr lang="en-US" dirty="0"/>
              <a:t>.</a:t>
            </a:r>
          </a:p>
          <a:p>
            <a:r>
              <a:rPr lang="ru-RU" dirty="0"/>
              <a:t>У</a:t>
            </a:r>
            <a:r>
              <a:rPr lang="en-US" dirty="0" err="1"/>
              <a:t>ничтожать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940234-D173-62B1-E666-E1BF0D00272B}"/>
              </a:ext>
            </a:extLst>
          </p:cNvPr>
          <p:cNvSpPr txBox="1"/>
          <p:nvPr/>
        </p:nvSpPr>
        <p:spPr>
          <a:xfrm>
            <a:off x="6960358" y="1744821"/>
            <a:ext cx="523164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mutex_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closed_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notEmpty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notify_all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notFull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notify_all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Ожидание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в Pop():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notEmpty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_.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[&amp;]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closed_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size_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size_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return std::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&gt;{};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7D5FB8-A63D-D78E-C8B7-F313E554C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0" y="5742273"/>
            <a:ext cx="5723410" cy="86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734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DFB65E-EFD0-E16E-9158-0AEDF2E0B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Взаимная блокировка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255B97-68E8-7272-C670-C7CA9B90B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7824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86A7FB-37AB-B041-26A2-BA30E0405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Deadlock: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блокируют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друга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F5400-AA96-BC08-9556-5FFD418C7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Deadlock (</a:t>
            </a:r>
            <a:r>
              <a:rPr lang="en-US" dirty="0" err="1"/>
              <a:t>взаимная</a:t>
            </a:r>
            <a:r>
              <a:rPr lang="en-US" dirty="0"/>
              <a:t> </a:t>
            </a:r>
            <a:r>
              <a:rPr lang="en-US" dirty="0" err="1"/>
              <a:t>блокировка</a:t>
            </a:r>
            <a:r>
              <a:rPr lang="en-US" dirty="0"/>
              <a:t>) — </a:t>
            </a:r>
            <a:r>
              <a:rPr lang="en-US" dirty="0" err="1"/>
              <a:t>ситуация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,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, </a:t>
            </a:r>
            <a:r>
              <a:rPr lang="en-US" dirty="0" err="1"/>
              <a:t>удерживаемый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endParaRPr lang="ru-RU" dirty="0"/>
          </a:p>
          <a:p>
            <a:pPr lvl="1"/>
            <a:r>
              <a:rPr lang="ru-RU" dirty="0"/>
              <a:t>Поток 1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std::</a:t>
            </a:r>
            <a:r>
              <a:rPr lang="en-US" dirty="0" err="1"/>
              <a:t>lock_guard</a:t>
            </a:r>
            <a:r>
              <a:rPr lang="en-US" dirty="0"/>
              <a:t> l1{m1};</a:t>
            </a:r>
            <a:br>
              <a:rPr lang="en-US" dirty="0"/>
            </a:br>
            <a:r>
              <a:rPr lang="en-US" dirty="0"/>
              <a:t>std::</a:t>
            </a:r>
            <a:r>
              <a:rPr lang="en-US" dirty="0" err="1"/>
              <a:t>lock_guard</a:t>
            </a:r>
            <a:r>
              <a:rPr lang="en-US" dirty="0"/>
              <a:t> l2{m2};</a:t>
            </a:r>
            <a:br>
              <a:rPr lang="en-US" dirty="0"/>
            </a:br>
            <a:r>
              <a:rPr lang="en-US" dirty="0" err="1"/>
              <a:t>DoWork</a:t>
            </a:r>
            <a:r>
              <a:rPr lang="en-US" dirty="0"/>
              <a:t>();</a:t>
            </a:r>
          </a:p>
          <a:p>
            <a:pPr lvl="1"/>
            <a:r>
              <a:rPr lang="ru-RU" dirty="0"/>
              <a:t>Поток 2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std::</a:t>
            </a:r>
            <a:r>
              <a:rPr lang="en-US" dirty="0" err="1"/>
              <a:t>lock_guard</a:t>
            </a:r>
            <a:r>
              <a:rPr lang="en-US" dirty="0"/>
              <a:t> l2{m2};</a:t>
            </a:r>
            <a:br>
              <a:rPr lang="en-US" dirty="0"/>
            </a:br>
            <a:r>
              <a:rPr lang="en-US" dirty="0"/>
              <a:t>std::</a:t>
            </a:r>
            <a:r>
              <a:rPr lang="en-US" dirty="0" err="1"/>
              <a:t>lock_guard</a:t>
            </a:r>
            <a:r>
              <a:rPr lang="en-US" dirty="0"/>
              <a:t> l1{m1};</a:t>
            </a:r>
            <a:br>
              <a:rPr lang="en-US" dirty="0"/>
            </a:br>
            <a:r>
              <a:rPr lang="en-US" dirty="0" err="1"/>
              <a:t>DoWork</a:t>
            </a:r>
            <a:r>
              <a:rPr lang="en-US" dirty="0"/>
              <a:t>();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3AC51F-CEED-DD7C-239F-9C03EA3D5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777632"/>
            <a:ext cx="5197830" cy="36112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768117-4E5A-1AFD-55B5-C65BE772DA61}"/>
              </a:ext>
            </a:extLst>
          </p:cNvPr>
          <p:cNvSpPr txBox="1"/>
          <p:nvPr/>
        </p:nvSpPr>
        <p:spPr>
          <a:xfrm>
            <a:off x="6515100" y="6388858"/>
            <a:ext cx="541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https://youtu.be/J3tg3EIrvPA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38103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EBEF4-A3E0-057D-218D-82447EF8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Deadlock?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875DC-0ECB-0167-1D33-2FAFD1362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Четыре</a:t>
            </a:r>
            <a:r>
              <a:rPr lang="en-US" dirty="0"/>
              <a:t> </a:t>
            </a:r>
            <a:r>
              <a:rPr lang="en-US" dirty="0" err="1"/>
              <a:t>необходимых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 </a:t>
            </a:r>
            <a:r>
              <a:rPr lang="en-US" dirty="0" err="1"/>
              <a:t>возникновения</a:t>
            </a:r>
            <a:r>
              <a:rPr lang="en-US" dirty="0"/>
              <a:t> </a:t>
            </a:r>
            <a:r>
              <a:rPr lang="en-US" dirty="0" err="1"/>
              <a:t>классической</a:t>
            </a:r>
            <a:r>
              <a:rPr lang="en-US" dirty="0"/>
              <a:t> </a:t>
            </a:r>
            <a:r>
              <a:rPr lang="en-US" dirty="0" err="1"/>
              <a:t>взаимной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 (</a:t>
            </a:r>
            <a:r>
              <a:rPr lang="en-US" dirty="0" err="1"/>
              <a:t>условия</a:t>
            </a:r>
            <a:r>
              <a:rPr lang="en-US" dirty="0"/>
              <a:t> </a:t>
            </a:r>
            <a:r>
              <a:rPr lang="en-US" dirty="0" err="1"/>
              <a:t>Коффмана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Mutual Exclusion — </a:t>
            </a:r>
            <a:r>
              <a:rPr lang="en-US" dirty="0" err="1"/>
              <a:t>ресурс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принадлежать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одному</a:t>
            </a:r>
            <a:r>
              <a:rPr lang="en-US" dirty="0"/>
              <a:t> </a:t>
            </a:r>
            <a:r>
              <a:rPr lang="en-US" dirty="0" err="1"/>
              <a:t>участнику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Hold and Wait —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удерживает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, </a:t>
            </a:r>
            <a:r>
              <a:rPr lang="en-US" dirty="0" err="1"/>
              <a:t>ожидая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No Preemption — </a:t>
            </a:r>
            <a:r>
              <a:rPr lang="en-US" dirty="0" err="1"/>
              <a:t>ресурс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принудительно</a:t>
            </a:r>
            <a:r>
              <a:rPr lang="en-US" dirty="0"/>
              <a:t> </a:t>
            </a:r>
            <a:r>
              <a:rPr lang="en-US" dirty="0" err="1"/>
              <a:t>отобрать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Circular Wait —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циклическая</a:t>
            </a:r>
            <a:r>
              <a:rPr lang="en-US" dirty="0"/>
              <a:t> </a:t>
            </a:r>
            <a:r>
              <a:rPr lang="en-US" dirty="0" err="1"/>
              <a:t>цепочка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.</a:t>
            </a:r>
          </a:p>
          <a:p>
            <a:r>
              <a:rPr lang="en-US" dirty="0"/>
              <a:t>Deadlock ≠ Starvation</a:t>
            </a:r>
          </a:p>
          <a:p>
            <a:pPr lvl="1"/>
            <a:r>
              <a:rPr lang="en-US" dirty="0"/>
              <a:t>Deadlock: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взаимных</a:t>
            </a:r>
            <a:r>
              <a:rPr lang="en-US" dirty="0"/>
              <a:t> </a:t>
            </a:r>
            <a:r>
              <a:rPr lang="en-US" dirty="0" err="1"/>
              <a:t>зависимостей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Starvation: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неопределённо</a:t>
            </a:r>
            <a:r>
              <a:rPr lang="en-US" dirty="0"/>
              <a:t> </a:t>
            </a:r>
            <a:r>
              <a:rPr lang="en-US" dirty="0" err="1"/>
              <a:t>долго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, </a:t>
            </a:r>
            <a:r>
              <a:rPr lang="en-US" dirty="0" err="1"/>
              <a:t>хотя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продолжают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6380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622AB-F45F-B857-E6CB-833BCDE7B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избежать </a:t>
            </a:r>
            <a:r>
              <a:rPr lang="en-US" dirty="0"/>
              <a:t>deadlock?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14844-FC6C-4684-341A-D8D6BE476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предотвращения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Захватывать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 в </a:t>
            </a:r>
            <a:r>
              <a:rPr lang="en-US" dirty="0" err="1"/>
              <a:t>едином</a:t>
            </a:r>
            <a:r>
              <a:rPr lang="en-US" dirty="0"/>
              <a:t> </a:t>
            </a:r>
            <a:r>
              <a:rPr lang="en-US" dirty="0" err="1"/>
              <a:t>порядке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Использовать</a:t>
            </a:r>
            <a:r>
              <a:rPr lang="en-US" dirty="0"/>
              <a:t> std::</a:t>
            </a:r>
            <a:r>
              <a:rPr lang="en-US" dirty="0" err="1"/>
              <a:t>scoped_lock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совместного</a:t>
            </a:r>
            <a:r>
              <a:rPr lang="en-US" dirty="0"/>
              <a:t> </a:t>
            </a:r>
            <a:r>
              <a:rPr lang="en-US" dirty="0" err="1"/>
              <a:t>захвата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мьютексов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удерживать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длительных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блокирующих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Сокращать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удержания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.</a:t>
            </a:r>
          </a:p>
          <a:p>
            <a:r>
              <a:rPr lang="en-US" dirty="0"/>
              <a:t>C++17: </a:t>
            </a:r>
            <a:r>
              <a:rPr lang="en-US" dirty="0" err="1"/>
              <a:t>безопасный</a:t>
            </a:r>
            <a:r>
              <a:rPr lang="en-US" dirty="0"/>
              <a:t> </a:t>
            </a:r>
            <a:r>
              <a:rPr lang="en-US" dirty="0" err="1"/>
              <a:t>совместный</a:t>
            </a:r>
            <a:r>
              <a:rPr lang="en-US" dirty="0"/>
              <a:t> </a:t>
            </a:r>
            <a:r>
              <a:rPr lang="en-US" dirty="0" err="1"/>
              <a:t>захват</a:t>
            </a:r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std::mutex m1, m2;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void Transfer()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std::</a:t>
            </a:r>
            <a:r>
              <a:rPr lang="en-US" dirty="0" err="1">
                <a:latin typeface="Consolas" panose="020B0609020204030204" pitchFamily="49" charset="0"/>
              </a:rPr>
              <a:t>scoped_lock</a:t>
            </a:r>
            <a:r>
              <a:rPr lang="en-US" dirty="0">
                <a:latin typeface="Consolas" panose="020B0609020204030204" pitchFamily="49" charset="0"/>
              </a:rPr>
              <a:t> lock{m1, m2};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// </a:t>
            </a:r>
            <a:r>
              <a:rPr lang="en-US" dirty="0" err="1">
                <a:latin typeface="Consolas" panose="020B0609020204030204" pitchFamily="49" charset="0"/>
              </a:rPr>
              <a:t>Работа</a:t>
            </a:r>
            <a:r>
              <a:rPr lang="en-US" dirty="0">
                <a:latin typeface="Consolas" panose="020B0609020204030204" pitchFamily="49" charset="0"/>
              </a:rPr>
              <a:t> с </a:t>
            </a:r>
            <a:r>
              <a:rPr lang="en-US" dirty="0" err="1">
                <a:latin typeface="Consolas" panose="020B0609020204030204" pitchFamily="49" charset="0"/>
              </a:rPr>
              <a:t>двумя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защищёнными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ресурсами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 // </a:t>
            </a:r>
            <a:r>
              <a:rPr lang="en-US" dirty="0" err="1">
                <a:latin typeface="Consolas" panose="020B0609020204030204" pitchFamily="49" charset="0"/>
              </a:rPr>
              <a:t>Оба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мьютекса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освобождаются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/>
              <a:t>std::</a:t>
            </a:r>
            <a:r>
              <a:rPr lang="en-US" b="1" dirty="0" err="1"/>
              <a:t>scoped_lock</a:t>
            </a:r>
            <a:r>
              <a:rPr lang="en-US" b="1" dirty="0"/>
              <a:t> </a:t>
            </a:r>
            <a:r>
              <a:rPr lang="en-US" dirty="0" err="1"/>
              <a:t>применяет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захвата</a:t>
            </a:r>
            <a:r>
              <a:rPr lang="en-US" dirty="0"/>
              <a:t>, </a:t>
            </a:r>
            <a:r>
              <a:rPr lang="en-US" dirty="0" err="1"/>
              <a:t>предотвращающий</a:t>
            </a:r>
            <a:r>
              <a:rPr lang="en-US" dirty="0"/>
              <a:t> Deadlock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переданными</a:t>
            </a:r>
            <a:r>
              <a:rPr lang="en-US" dirty="0"/>
              <a:t> </a:t>
            </a:r>
            <a:r>
              <a:rPr lang="en-US" dirty="0" err="1"/>
              <a:t>мьютексами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844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FD734-9E98-50F8-E415-FE8BA38B1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Инверсия приоритетов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14509-D621-51C7-32D5-A602287CC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823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D8B4FB-6ACA-6C58-73CF-48FAF6C6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Инверсия</a:t>
            </a:r>
            <a:r>
              <a:rPr lang="en-US" dirty="0"/>
              <a:t> </a:t>
            </a:r>
            <a:r>
              <a:rPr lang="en-US" dirty="0" err="1"/>
              <a:t>приоритетов</a:t>
            </a:r>
            <a:r>
              <a:rPr lang="en-US" dirty="0"/>
              <a:t>: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ждёт</a:t>
            </a:r>
            <a:r>
              <a:rPr lang="en-US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309673-189F-71D3-BB61-BA3C5FC53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И</a:t>
            </a:r>
            <a:r>
              <a:rPr lang="en-US" dirty="0" err="1"/>
              <a:t>нверсия</a:t>
            </a:r>
            <a:r>
              <a:rPr lang="en-US" dirty="0"/>
              <a:t> </a:t>
            </a:r>
            <a:r>
              <a:rPr lang="en-US" dirty="0" err="1"/>
              <a:t>приоритетов</a:t>
            </a:r>
            <a:r>
              <a:rPr lang="en-US" dirty="0"/>
              <a:t> (Priority Inversion) — </a:t>
            </a:r>
            <a:r>
              <a:rPr lang="en-US" dirty="0" err="1"/>
              <a:t>ситуация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высокоприоритетный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ru-RU" dirty="0"/>
              <a:t>ожидает </a:t>
            </a:r>
            <a:r>
              <a:rPr lang="en-US" dirty="0" err="1"/>
              <a:t>низкоприоритетный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удерживаемого</a:t>
            </a:r>
            <a:r>
              <a:rPr lang="en-US" dirty="0"/>
              <a:t> </a:t>
            </a:r>
            <a:r>
              <a:rPr lang="en-US" dirty="0" err="1"/>
              <a:t>ресурса</a:t>
            </a:r>
            <a:r>
              <a:rPr lang="en-US" dirty="0"/>
              <a:t>.</a:t>
            </a:r>
          </a:p>
          <a:p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одном</a:t>
            </a:r>
            <a:r>
              <a:rPr lang="en-US" dirty="0"/>
              <a:t> CPU:</a:t>
            </a:r>
          </a:p>
          <a:p>
            <a:pPr lvl="1"/>
            <a:r>
              <a:rPr lang="en-US" dirty="0"/>
              <a:t>H (High) — </a:t>
            </a:r>
            <a:r>
              <a:rPr lang="en-US" dirty="0" err="1"/>
              <a:t>высокий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, </a:t>
            </a:r>
            <a:r>
              <a:rPr lang="en-US" dirty="0" err="1"/>
              <a:t>ждёт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M (Medium) — </a:t>
            </a:r>
            <a:r>
              <a:rPr lang="en-US" dirty="0" err="1"/>
              <a:t>средний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L (Low) — </a:t>
            </a:r>
            <a:r>
              <a:rPr lang="en-US" dirty="0" err="1"/>
              <a:t>низкий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, </a:t>
            </a:r>
            <a:r>
              <a:rPr lang="en-US" dirty="0" err="1"/>
              <a:t>удерживает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.</a:t>
            </a:r>
          </a:p>
          <a:p>
            <a:r>
              <a:rPr lang="en-US" dirty="0" err="1"/>
              <a:t>Сценарий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 </a:t>
            </a:r>
            <a:r>
              <a:rPr lang="en-US" dirty="0" err="1"/>
              <a:t>захватывает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H </a:t>
            </a:r>
            <a:r>
              <a:rPr lang="en-US" dirty="0" err="1"/>
              <a:t>пытается</a:t>
            </a:r>
            <a:r>
              <a:rPr lang="en-US" dirty="0"/>
              <a:t> </a:t>
            </a:r>
            <a:r>
              <a:rPr lang="en-US" dirty="0" err="1"/>
              <a:t>захватить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и </a:t>
            </a:r>
            <a:r>
              <a:rPr lang="en-US" dirty="0" err="1"/>
              <a:t>блокируется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M </a:t>
            </a:r>
            <a:r>
              <a:rPr lang="en-US" dirty="0" err="1"/>
              <a:t>вытесняет</a:t>
            </a:r>
            <a:r>
              <a:rPr lang="en-US" dirty="0"/>
              <a:t> L.</a:t>
            </a:r>
          </a:p>
          <a:p>
            <a:pPr lvl="1"/>
            <a:r>
              <a:rPr lang="en-US" dirty="0"/>
              <a:t>L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освободить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M </a:t>
            </a:r>
            <a:r>
              <a:rPr lang="en-US" dirty="0" err="1"/>
              <a:t>занимает</a:t>
            </a:r>
            <a:r>
              <a:rPr lang="en-US" dirty="0"/>
              <a:t> CPU.</a:t>
            </a:r>
          </a:p>
          <a:p>
            <a:pPr lvl="1"/>
            <a:r>
              <a:rPr lang="en-US" dirty="0"/>
              <a:t>H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, </a:t>
            </a:r>
            <a:r>
              <a:rPr lang="en-US" dirty="0" err="1"/>
              <a:t>несмотря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самый</a:t>
            </a:r>
            <a:r>
              <a:rPr lang="en-US" dirty="0"/>
              <a:t> </a:t>
            </a:r>
            <a:r>
              <a:rPr lang="en-US" dirty="0" err="1"/>
              <a:t>высокий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.</a:t>
            </a:r>
          </a:p>
          <a:p>
            <a:r>
              <a:rPr lang="en-US" dirty="0" err="1"/>
              <a:t>Опасность</a:t>
            </a:r>
            <a:r>
              <a:rPr lang="en-US" dirty="0"/>
              <a:t>: </a:t>
            </a:r>
            <a:r>
              <a:rPr lang="en-US" dirty="0" err="1"/>
              <a:t>высокоприоритетная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пропустить</a:t>
            </a:r>
            <a:r>
              <a:rPr lang="en-US" dirty="0"/>
              <a:t> </a:t>
            </a:r>
            <a:r>
              <a:rPr lang="en-US" dirty="0" err="1"/>
              <a:t>дедлайн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634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996A4-E413-870A-EED9-9D6330784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бороться</a:t>
            </a:r>
            <a:r>
              <a:rPr lang="en-US" dirty="0"/>
              <a:t> с </a:t>
            </a:r>
            <a:r>
              <a:rPr lang="en-US" dirty="0" err="1"/>
              <a:t>инверсией</a:t>
            </a:r>
            <a:r>
              <a:rPr lang="en-US" dirty="0"/>
              <a:t> </a:t>
            </a:r>
            <a:r>
              <a:rPr lang="en-US" dirty="0" err="1"/>
              <a:t>приоритетов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507FA-2B07-CDCB-786A-1F58EEE7E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Priority Inheritance (</a:t>
            </a:r>
            <a:r>
              <a:rPr lang="en-US" dirty="0" err="1"/>
              <a:t>наследование</a:t>
            </a:r>
            <a:r>
              <a:rPr lang="en-US" dirty="0"/>
              <a:t> </a:t>
            </a:r>
            <a:r>
              <a:rPr lang="en-US" dirty="0" err="1"/>
              <a:t>приоритета</a:t>
            </a:r>
            <a:r>
              <a:rPr lang="en-US" dirty="0"/>
              <a:t>)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H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</a:t>
            </a:r>
            <a:r>
              <a:rPr lang="en-US" dirty="0" err="1"/>
              <a:t>удерживаемый</a:t>
            </a:r>
            <a:r>
              <a:rPr lang="en-US" dirty="0"/>
              <a:t> L:</a:t>
            </a:r>
          </a:p>
          <a:p>
            <a:pPr lvl="1"/>
            <a:r>
              <a:rPr lang="en-US" dirty="0"/>
              <a:t>L </a:t>
            </a:r>
            <a:r>
              <a:rPr lang="en-US" dirty="0" err="1"/>
              <a:t>временно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повышенный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M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вытесняет</a:t>
            </a:r>
            <a:r>
              <a:rPr lang="en-US" dirty="0"/>
              <a:t> L.</a:t>
            </a:r>
          </a:p>
          <a:p>
            <a:pPr lvl="1"/>
            <a:r>
              <a:rPr lang="en-US" dirty="0"/>
              <a:t>L </a:t>
            </a:r>
            <a:r>
              <a:rPr lang="en-US" dirty="0" err="1"/>
              <a:t>завершает</a:t>
            </a:r>
            <a:r>
              <a:rPr lang="en-US" dirty="0"/>
              <a:t>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 и </a:t>
            </a:r>
            <a:r>
              <a:rPr lang="en-US" dirty="0" err="1"/>
              <a:t>освобождает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Приоритет L </a:t>
            </a:r>
            <a:r>
              <a:rPr lang="en-US" dirty="0" err="1"/>
              <a:t>возвращается</a:t>
            </a:r>
            <a:r>
              <a:rPr lang="en-US" dirty="0"/>
              <a:t> к </a:t>
            </a:r>
            <a:r>
              <a:rPr lang="en-US" dirty="0" err="1"/>
              <a:t>исходному</a:t>
            </a:r>
            <a:r>
              <a:rPr lang="en-US" dirty="0"/>
              <a:t> </a:t>
            </a:r>
            <a:r>
              <a:rPr lang="en-US" dirty="0" err="1"/>
              <a:t>уровню</a:t>
            </a:r>
            <a:r>
              <a:rPr lang="en-US" dirty="0"/>
              <a:t>.</a:t>
            </a:r>
          </a:p>
          <a:p>
            <a:r>
              <a:rPr lang="en-US" dirty="0"/>
              <a:t>Priority Ceiling (</a:t>
            </a:r>
            <a:r>
              <a:rPr lang="en-US" dirty="0" err="1"/>
              <a:t>потолок</a:t>
            </a:r>
            <a:r>
              <a:rPr lang="en-US" dirty="0"/>
              <a:t> </a:t>
            </a:r>
            <a:r>
              <a:rPr lang="en-US" dirty="0" err="1"/>
              <a:t>приоритета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Мьютексу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назначается</a:t>
            </a:r>
            <a:r>
              <a:rPr lang="en-US" dirty="0"/>
              <a:t> </a:t>
            </a:r>
            <a:r>
              <a:rPr lang="en-US" dirty="0" err="1"/>
              <a:t>потолок</a:t>
            </a:r>
            <a:r>
              <a:rPr lang="en-US" dirty="0"/>
              <a:t> </a:t>
            </a:r>
            <a:r>
              <a:rPr lang="en-US" dirty="0" err="1"/>
              <a:t>приоритета</a:t>
            </a:r>
            <a:r>
              <a:rPr lang="en-US" dirty="0"/>
              <a:t>, </a:t>
            </a:r>
            <a:r>
              <a:rPr lang="en-US" dirty="0" err="1"/>
              <a:t>применяемый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захвате</a:t>
            </a:r>
            <a:r>
              <a:rPr lang="en-US" dirty="0"/>
              <a:t> в </a:t>
            </a:r>
            <a:r>
              <a:rPr lang="en-US" dirty="0" err="1"/>
              <a:t>соответствии</a:t>
            </a:r>
            <a:r>
              <a:rPr lang="en-US" dirty="0"/>
              <a:t> с </a:t>
            </a:r>
            <a:r>
              <a:rPr lang="en-US" dirty="0" err="1"/>
              <a:t>выбранным</a:t>
            </a:r>
            <a:r>
              <a:rPr lang="en-US" dirty="0"/>
              <a:t> </a:t>
            </a:r>
            <a:r>
              <a:rPr lang="en-US" dirty="0" err="1"/>
              <a:t>протоколом</a:t>
            </a:r>
            <a:r>
              <a:rPr lang="en-US" dirty="0"/>
              <a:t>.</a:t>
            </a:r>
          </a:p>
          <a:p>
            <a:r>
              <a:rPr lang="en-US" dirty="0"/>
              <a:t>В POSIX:</a:t>
            </a:r>
          </a:p>
          <a:p>
            <a:pPr lvl="1"/>
            <a:r>
              <a:rPr lang="en-US" dirty="0"/>
              <a:t>PTHREAD_PRIO_INHERIT</a:t>
            </a:r>
          </a:p>
          <a:p>
            <a:pPr lvl="1"/>
            <a:r>
              <a:rPr lang="en-US" dirty="0"/>
              <a:t>PTHREAD_PRIO_PROTECT</a:t>
            </a:r>
          </a:p>
          <a:p>
            <a:r>
              <a:rPr lang="en-US" dirty="0" err="1"/>
              <a:t>Реальный</a:t>
            </a:r>
            <a:r>
              <a:rPr lang="en-US" dirty="0"/>
              <a:t> </a:t>
            </a:r>
            <a:r>
              <a:rPr lang="en-US" dirty="0" err="1"/>
              <a:t>случай</a:t>
            </a:r>
            <a:r>
              <a:rPr lang="en-US" dirty="0"/>
              <a:t>: Mars Pathfinder, 1997 </a:t>
            </a:r>
            <a:r>
              <a:rPr lang="en-US" dirty="0" err="1"/>
              <a:t>год</a:t>
            </a:r>
            <a:r>
              <a:rPr lang="en-US" dirty="0"/>
              <a:t> — </a:t>
            </a:r>
            <a:r>
              <a:rPr lang="en-US" dirty="0" err="1"/>
              <a:t>инверсия</a:t>
            </a:r>
            <a:r>
              <a:rPr lang="en-US" dirty="0"/>
              <a:t> </a:t>
            </a:r>
            <a:r>
              <a:rPr lang="en-US" dirty="0" err="1"/>
              <a:t>приоритетов</a:t>
            </a:r>
            <a:r>
              <a:rPr lang="en-US" dirty="0"/>
              <a:t> </a:t>
            </a:r>
            <a:r>
              <a:rPr lang="en-US" dirty="0" err="1"/>
              <a:t>приводила</a:t>
            </a:r>
            <a:r>
              <a:rPr lang="en-US" dirty="0"/>
              <a:t> к </a:t>
            </a:r>
            <a:r>
              <a:rPr lang="en-US" dirty="0" err="1"/>
              <a:t>перезапускам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9068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0BC9E8-02B8-3358-29F6-3A16EC669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Межпроцессное</a:t>
            </a:r>
            <a:r>
              <a:rPr lang="ru-RU" dirty="0"/>
              <a:t> взаимодействие и синхронизация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0CB2BF-1C6B-AB3E-C388-0683A1450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0002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CA3C3-3E0D-AD90-0C14-24C9BD36E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взаимодействуют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F3DCD-6475-43FB-8E48-C09FD66FD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72002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Проблема</a:t>
            </a:r>
            <a:r>
              <a:rPr lang="en-US" dirty="0"/>
              <a:t>: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собственное</a:t>
            </a:r>
            <a:r>
              <a:rPr lang="en-US" dirty="0"/>
              <a:t> </a:t>
            </a:r>
            <a:r>
              <a:rPr lang="en-US" dirty="0" err="1"/>
              <a:t>виртуальное</a:t>
            </a:r>
            <a:r>
              <a:rPr lang="en-US" dirty="0"/>
              <a:t>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.</a:t>
            </a:r>
          </a:p>
          <a:p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основных</a:t>
            </a:r>
            <a:r>
              <a:rPr lang="en-US" dirty="0"/>
              <a:t> </a:t>
            </a:r>
            <a:r>
              <a:rPr lang="en-US" dirty="0" err="1"/>
              <a:t>подхода</a:t>
            </a:r>
            <a:r>
              <a:rPr lang="en-US" dirty="0"/>
              <a:t> к IPC (Inter-Process Communication):</a:t>
            </a:r>
          </a:p>
          <a:p>
            <a:pPr lvl="1"/>
            <a:r>
              <a:rPr lang="en-US" b="1" dirty="0"/>
              <a:t>Shared Memory </a:t>
            </a:r>
            <a:r>
              <a:rPr lang="en-US" dirty="0"/>
              <a:t>—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отображают</a:t>
            </a:r>
            <a:r>
              <a:rPr lang="en-US" dirty="0"/>
              <a:t> </a:t>
            </a:r>
            <a:r>
              <a:rPr lang="en-US" dirty="0" err="1"/>
              <a:t>общие</a:t>
            </a:r>
            <a:r>
              <a:rPr lang="en-US" dirty="0"/>
              <a:t> </a:t>
            </a:r>
            <a:r>
              <a:rPr lang="en-US" dirty="0" err="1"/>
              <a:t>физические</a:t>
            </a:r>
            <a:r>
              <a:rPr lang="en-US" dirty="0"/>
              <a:t> </a:t>
            </a:r>
            <a:r>
              <a:rPr lang="en-US" dirty="0" err="1"/>
              <a:t>страницы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и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с </a:t>
            </a:r>
            <a:r>
              <a:rPr lang="en-US" dirty="0" err="1"/>
              <a:t>данными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Message Passing </a:t>
            </a:r>
            <a:r>
              <a:rPr lang="en-US" dirty="0"/>
              <a:t>—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передают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ОС: </a:t>
            </a:r>
            <a:r>
              <a:rPr lang="en-US" dirty="0" err="1"/>
              <a:t>каналы</a:t>
            </a:r>
            <a:r>
              <a:rPr lang="en-US" dirty="0"/>
              <a:t>, </a:t>
            </a:r>
            <a:r>
              <a:rPr lang="en-US" dirty="0" err="1"/>
              <a:t>сокеты</a:t>
            </a:r>
            <a:r>
              <a:rPr lang="en-US" dirty="0"/>
              <a:t>,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.</a:t>
            </a:r>
          </a:p>
          <a:p>
            <a:r>
              <a:rPr lang="en-US" dirty="0" err="1"/>
              <a:t>Роль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Организовать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IPC-</a:t>
            </a:r>
            <a:r>
              <a:rPr lang="en-US" dirty="0" err="1"/>
              <a:t>ресурсам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Разграничить</a:t>
            </a:r>
            <a:r>
              <a:rPr lang="en-US" dirty="0"/>
              <a:t> </a:t>
            </a:r>
            <a:r>
              <a:rPr lang="en-US" dirty="0" err="1"/>
              <a:t>права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Предоставить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 и </a:t>
            </a:r>
            <a:r>
              <a:rPr lang="en-US" dirty="0" err="1"/>
              <a:t>пробуждения</a:t>
            </a:r>
            <a:r>
              <a:rPr lang="en-US" dirty="0"/>
              <a:t>.</a:t>
            </a:r>
          </a:p>
          <a:p>
            <a:r>
              <a:rPr lang="en-US" dirty="0" err="1"/>
              <a:t>Главный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управляет</a:t>
            </a:r>
            <a:r>
              <a:rPr lang="en-US" dirty="0"/>
              <a:t> </a:t>
            </a:r>
            <a:r>
              <a:rPr lang="en-US" dirty="0" err="1"/>
              <a:t>общими</a:t>
            </a:r>
            <a:r>
              <a:rPr lang="en-US" dirty="0"/>
              <a:t> </a:t>
            </a:r>
            <a:r>
              <a:rPr lang="en-US" dirty="0" err="1"/>
              <a:t>данными</a:t>
            </a:r>
            <a:r>
              <a:rPr lang="en-US" dirty="0"/>
              <a:t> и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синхронизацию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CFA35A-7195-2A74-E896-05FC08BD8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1803" y="1825624"/>
            <a:ext cx="3241998" cy="11810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D07147-CB13-96CA-D75E-8ACFA8008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0202" y="3429000"/>
            <a:ext cx="3043599" cy="130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0819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E5E17C-A431-9C8A-7DBD-07D4AAD9A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032022-8442-EA10-3C9B-A2F1B9FFD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027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CADB0-A1F6-F070-90DA-3C2186A69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Memory: </a:t>
            </a:r>
            <a:r>
              <a:rPr lang="en-US" dirty="0" err="1"/>
              <a:t>общие</a:t>
            </a:r>
            <a:r>
              <a:rPr lang="en-US" dirty="0"/>
              <a:t> </a:t>
            </a:r>
            <a:r>
              <a:rPr lang="en-US" dirty="0" err="1"/>
              <a:t>физические</a:t>
            </a:r>
            <a:r>
              <a:rPr lang="en-US" dirty="0"/>
              <a:t> </a:t>
            </a:r>
            <a:r>
              <a:rPr lang="en-US" dirty="0" err="1"/>
              <a:t>страницы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2C290-FA7E-B80B-0F6A-7A9CE52085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Shared Memory — </a:t>
            </a:r>
            <a:r>
              <a:rPr lang="en-US" dirty="0" err="1"/>
              <a:t>область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доступная</a:t>
            </a:r>
            <a:r>
              <a:rPr lang="en-US" dirty="0"/>
              <a:t> </a:t>
            </a:r>
            <a:r>
              <a:rPr lang="en-US" dirty="0" err="1"/>
              <a:t>нескольким</a:t>
            </a:r>
            <a:r>
              <a:rPr lang="en-US" dirty="0"/>
              <a:t> </a:t>
            </a:r>
            <a:r>
              <a:rPr lang="en-US" dirty="0" err="1"/>
              <a:t>процессам</a:t>
            </a:r>
            <a:r>
              <a:rPr lang="en-US" dirty="0"/>
              <a:t>.</a:t>
            </a:r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У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собственные</a:t>
            </a:r>
            <a:r>
              <a:rPr lang="en-US" dirty="0"/>
              <a:t> </a:t>
            </a:r>
            <a:r>
              <a:rPr lang="en-US" dirty="0" err="1"/>
              <a:t>виртуальные</a:t>
            </a:r>
            <a:r>
              <a:rPr lang="en-US" dirty="0"/>
              <a:t> </a:t>
            </a:r>
            <a:r>
              <a:rPr lang="en-US" dirty="0" err="1"/>
              <a:t>адреса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Таблицы</a:t>
            </a:r>
            <a:r>
              <a:rPr lang="en-US" dirty="0"/>
              <a:t> </a:t>
            </a:r>
            <a:r>
              <a:rPr lang="en-US" dirty="0" err="1"/>
              <a:t>страниц</a:t>
            </a:r>
            <a:r>
              <a:rPr lang="en-US" dirty="0"/>
              <a:t> </a:t>
            </a:r>
            <a:r>
              <a:rPr lang="en-US" dirty="0" err="1"/>
              <a:t>отображают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одни</a:t>
            </a:r>
            <a:r>
              <a:rPr lang="en-US" dirty="0"/>
              <a:t> и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физические</a:t>
            </a:r>
            <a:r>
              <a:rPr lang="en-US" dirty="0"/>
              <a:t> </a:t>
            </a:r>
            <a:r>
              <a:rPr lang="en-US" dirty="0" err="1"/>
              <a:t>страницы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Изменения</a:t>
            </a:r>
            <a:r>
              <a:rPr lang="en-US" dirty="0"/>
              <a:t> в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доступны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процессам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данными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передача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.</a:t>
            </a:r>
          </a:p>
          <a:p>
            <a:r>
              <a:rPr lang="en-US" dirty="0"/>
              <a:t>В Linux: </a:t>
            </a:r>
            <a:r>
              <a:rPr lang="en-US" dirty="0" err="1"/>
              <a:t>mmap</a:t>
            </a:r>
            <a:r>
              <a:rPr lang="en-US" dirty="0"/>
              <a:t>() с </a:t>
            </a:r>
            <a:r>
              <a:rPr lang="en-US" dirty="0" err="1"/>
              <a:t>флагом</a:t>
            </a:r>
            <a:r>
              <a:rPr lang="en-US" dirty="0"/>
              <a:t> MAP_SHARED.</a:t>
            </a:r>
          </a:p>
          <a:p>
            <a:r>
              <a:rPr lang="en-US" dirty="0" err="1"/>
              <a:t>Важно</a:t>
            </a:r>
            <a:r>
              <a:rPr lang="en-US" dirty="0"/>
              <a:t>: Shared Memory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защищает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Race Condition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29BDE81-943B-6BDD-EEA9-AFB94ABDA3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615355"/>
            <a:ext cx="5181600" cy="277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816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6E0EA-9013-E8A7-64DF-14D8D3FFC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Создание</a:t>
            </a:r>
            <a:r>
              <a:rPr lang="en-US" dirty="0"/>
              <a:t> Shared Memory: </a:t>
            </a:r>
            <a:r>
              <a:rPr lang="en-US" dirty="0" err="1"/>
              <a:t>shm_open</a:t>
            </a:r>
            <a:r>
              <a:rPr lang="en-US" dirty="0"/>
              <a:t> и </a:t>
            </a:r>
            <a:r>
              <a:rPr lang="en-US" dirty="0" err="1"/>
              <a:t>mmap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B7A76-359B-B8B3-3D08-1AAA0874D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00275"/>
          </a:xfrm>
        </p:spPr>
        <p:txBody>
          <a:bodyPr/>
          <a:lstStyle/>
          <a:p>
            <a:r>
              <a:rPr lang="en-US" dirty="0"/>
              <a:t>POSIX Shared Memory в Linux:</a:t>
            </a:r>
          </a:p>
          <a:p>
            <a:pPr lvl="1"/>
            <a:r>
              <a:rPr lang="en-US" dirty="0" err="1"/>
              <a:t>shm_open</a:t>
            </a:r>
            <a:r>
              <a:rPr lang="en-US" dirty="0"/>
              <a:t>() —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открыть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ftruncate</a:t>
            </a:r>
            <a:r>
              <a:rPr lang="en-US" dirty="0"/>
              <a:t>() — </a:t>
            </a:r>
            <a:r>
              <a:rPr lang="en-US" dirty="0" err="1"/>
              <a:t>задать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mmap</a:t>
            </a:r>
            <a:r>
              <a:rPr lang="en-US" dirty="0"/>
              <a:t>(MAP_SHARED) — </a:t>
            </a:r>
            <a:r>
              <a:rPr lang="en-US" dirty="0" err="1"/>
              <a:t>отобразить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в </a:t>
            </a:r>
            <a:r>
              <a:rPr lang="en-US" dirty="0" err="1"/>
              <a:t>память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Читать</a:t>
            </a:r>
            <a:r>
              <a:rPr lang="en-US" dirty="0"/>
              <a:t> и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полученный</a:t>
            </a:r>
            <a:r>
              <a:rPr lang="en-US" dirty="0"/>
              <a:t> </a:t>
            </a:r>
            <a:r>
              <a:rPr lang="en-US" dirty="0" err="1"/>
              <a:t>адрес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A7EFB6-C039-7141-295C-B24E22F76287}"/>
              </a:ext>
            </a:extLst>
          </p:cNvPr>
          <p:cNvSpPr txBox="1"/>
          <p:nvPr/>
        </p:nvSpPr>
        <p:spPr>
          <a:xfrm>
            <a:off x="6096000" y="4254500"/>
            <a:ext cx="49911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Process B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shm_open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-demo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O_RDONLY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mem =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mmap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PROT_READ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MAP_SHARED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 = *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*&gt;(mem);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5FA60F-BE6F-54D5-14A6-FCFC4EB02694}"/>
              </a:ext>
            </a:extLst>
          </p:cNvPr>
          <p:cNvSpPr txBox="1"/>
          <p:nvPr/>
        </p:nvSpPr>
        <p:spPr>
          <a:xfrm>
            <a:off x="838200" y="4254500"/>
            <a:ext cx="52578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Process A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shm_open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-demo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O_CREAT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O_EXCL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O_RDWR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0600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ftruncate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mem =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mmap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PROT_READ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PROT_WRITE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MAP_SHARED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*&gt;(mem)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605405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CF42-3BBD-ECAF-D43C-5B190CB2D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Жизненный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разделяемой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E1D8D8A-EBCC-6326-630C-D988C76F566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15169817"/>
              </p:ext>
            </p:extLst>
          </p:nvPr>
        </p:nvGraphicFramePr>
        <p:xfrm>
          <a:off x="838200" y="1825625"/>
          <a:ext cx="518160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900">
                  <a:extLst>
                    <a:ext uri="{9D8B030D-6E8A-4147-A177-3AD203B41FA5}">
                      <a16:colId xmlns:a16="http://schemas.microsoft.com/office/drawing/2014/main" val="2780393679"/>
                    </a:ext>
                  </a:extLst>
                </a:gridCol>
                <a:gridCol w="3441700">
                  <a:extLst>
                    <a:ext uri="{9D8B030D-6E8A-4147-A177-3AD203B41FA5}">
                      <a16:colId xmlns:a16="http://schemas.microsoft.com/office/drawing/2014/main" val="2226467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Операция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Действие</a:t>
                      </a:r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0706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nsolas" panose="020B0609020204030204" pitchFamily="49" charset="0"/>
                        </a:rPr>
                        <a:t>shm_open()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Открывает объект, возвращает файловый дескриптор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3921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nsolas" panose="020B0609020204030204" pitchFamily="49" charset="0"/>
                        </a:rPr>
                        <a:t>mmap()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Создаёт отображение в текущем процессе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359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nsolas" panose="020B0609020204030204" pitchFamily="49" charset="0"/>
                        </a:rPr>
                        <a:t>close(fd)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Закрывает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дескриптор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но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не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удаляет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отображение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050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nsolas" panose="020B0609020204030204" pitchFamily="49" charset="0"/>
                        </a:rPr>
                        <a:t>munmap()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Удаляет отображение из текущего процесса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878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nsolas" panose="020B0609020204030204" pitchFamily="49" charset="0"/>
                        </a:rPr>
                        <a:t>shm_unlink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Удаляет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имя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объекта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для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последующих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открытий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176053"/>
                  </a:ext>
                </a:extLst>
              </a:tr>
            </a:tbl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5131CE-1978-B86A-2400-DC78872E9D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Важные</a:t>
            </a:r>
            <a:r>
              <a:rPr lang="en-US" dirty="0"/>
              <a:t> </a:t>
            </a:r>
            <a:r>
              <a:rPr lang="en-US" dirty="0" err="1"/>
              <a:t>особенности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У </a:t>
            </a:r>
            <a:r>
              <a:rPr lang="en-US" dirty="0" err="1"/>
              <a:t>процессов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виртуальные</a:t>
            </a:r>
            <a:r>
              <a:rPr lang="en-US" dirty="0"/>
              <a:t> </a:t>
            </a:r>
            <a:r>
              <a:rPr lang="en-US" dirty="0" err="1"/>
              <a:t>адреса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Удаление</a:t>
            </a:r>
            <a:r>
              <a:rPr lang="en-US" dirty="0"/>
              <a:t> </a:t>
            </a:r>
            <a:r>
              <a:rPr lang="en-US" dirty="0" err="1"/>
              <a:t>имени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разрушает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Обычные</a:t>
            </a:r>
            <a:r>
              <a:rPr lang="en-US" dirty="0"/>
              <a:t> </a:t>
            </a:r>
            <a:r>
              <a:rPr lang="en-US" dirty="0" err="1"/>
              <a:t>абсолютные</a:t>
            </a:r>
            <a:r>
              <a:rPr lang="en-US" dirty="0"/>
              <a:t> </a:t>
            </a:r>
            <a:r>
              <a:rPr lang="en-US" dirty="0" err="1"/>
              <a:t>указатели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подходят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.</a:t>
            </a:r>
          </a:p>
          <a:p>
            <a:r>
              <a:rPr lang="en-US" dirty="0"/>
              <a:t>Linux:</a:t>
            </a:r>
          </a:p>
          <a:p>
            <a:pPr lvl="1"/>
            <a:r>
              <a:rPr lang="en-US" dirty="0" err="1"/>
              <a:t>memfd_create</a:t>
            </a:r>
            <a:r>
              <a:rPr lang="en-US" dirty="0"/>
              <a:t>() — </a:t>
            </a:r>
            <a:r>
              <a:rPr lang="en-US" dirty="0" err="1"/>
              <a:t>создание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имени</a:t>
            </a:r>
            <a:r>
              <a:rPr lang="en-US" dirty="0"/>
              <a:t> в POSIX Shared Memory.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89158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B95E5-875E-074D-03C5-BC5766318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Process-shared mutex: </a:t>
            </a:r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DB516-6C0D-A8E4-D7C6-1A5A924AC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 err="1"/>
              <a:t>Проблема</a:t>
            </a:r>
            <a:r>
              <a:rPr lang="en-US" dirty="0"/>
              <a:t>: Shared Memory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защищает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одновременного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  <a:p>
            <a:r>
              <a:rPr lang="en-US" dirty="0" err="1"/>
              <a:t>Решение</a:t>
            </a:r>
            <a:r>
              <a:rPr lang="en-US" dirty="0"/>
              <a:t>: POSIX-</a:t>
            </a:r>
            <a:r>
              <a:rPr lang="en-US" dirty="0" err="1"/>
              <a:t>мьютекс</a:t>
            </a:r>
            <a:r>
              <a:rPr lang="en-US" dirty="0"/>
              <a:t> с </a:t>
            </a:r>
            <a:r>
              <a:rPr lang="en-US" dirty="0" err="1"/>
              <a:t>атрибутом</a:t>
            </a:r>
            <a:r>
              <a:rPr lang="en-US" dirty="0"/>
              <a:t> PTHREAD_PROCESS_SHARED.</a:t>
            </a:r>
          </a:p>
          <a:p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располагаться</a:t>
            </a:r>
            <a:r>
              <a:rPr lang="en-US" dirty="0"/>
              <a:t> в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ABAF66-3E13-8EA9-F7B9-1C8B56F93B7A}"/>
              </a:ext>
            </a:extLst>
          </p:cNvPr>
          <p:cNvSpPr txBox="1"/>
          <p:nvPr/>
        </p:nvSpPr>
        <p:spPr>
          <a:xfrm>
            <a:off x="6096000" y="1470900"/>
            <a:ext cx="6096000" cy="470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Хранится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в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разделяемой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памяти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pthread_mutex_t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mutex;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counter;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Инициализация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один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раз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начала</a:t>
            </a:r>
            <a:endParaRPr lang="ru-RU" sz="1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работы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с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разделяемыми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данными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pthread_mutexattr_t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pthread_mutexattr_init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pthread_mutexattr_setpshared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PTHREAD_PROCESS_SHARED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pthread_mutex_init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(&amp;data-&gt;mutex, &amp;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attr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pthread_mutexattr_destroy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data-&gt;counter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Использование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разных процессах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pthread_mutex_lock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(&amp;data-&gt;mutex);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-&gt;counter;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pthread_mutex_unlock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(&amp;data-&gt;mutex);</a:t>
            </a:r>
          </a:p>
        </p:txBody>
      </p:sp>
    </p:spTree>
    <p:extLst>
      <p:ext uri="{BB962C8B-B14F-4D97-AF65-F5344CB8AC3E}">
        <p14:creationId xmlns:p14="http://schemas.microsoft.com/office/powerpoint/2010/main" val="22602186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F5133-2E3D-DD15-3749-C68E939F7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Межпроцессные</a:t>
            </a:r>
            <a:r>
              <a:rPr lang="en-US" dirty="0"/>
              <a:t> </a:t>
            </a:r>
            <a:r>
              <a:rPr lang="en-US" dirty="0" err="1"/>
              <a:t>семафоры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DEA59-917E-FBC4-5B71-EA6CF81E1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93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POSIX-</a:t>
            </a:r>
            <a:r>
              <a:rPr lang="en-US" dirty="0" err="1"/>
              <a:t>семафоры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синхронизировать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независимых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Именованные семафор</a:t>
            </a:r>
          </a:p>
          <a:p>
            <a:pPr lvl="1"/>
            <a:r>
              <a:rPr lang="en-US" dirty="0" err="1"/>
              <a:t>sem_open</a:t>
            </a:r>
            <a:r>
              <a:rPr lang="en-US" dirty="0"/>
              <a:t>(), </a:t>
            </a:r>
            <a:r>
              <a:rPr lang="en-US" dirty="0" err="1"/>
              <a:t>sem_close</a:t>
            </a:r>
            <a:r>
              <a:rPr lang="en-US" dirty="0"/>
              <a:t>(), </a:t>
            </a:r>
            <a:r>
              <a:rPr lang="en-US" dirty="0" err="1"/>
              <a:t>sem_unlink</a:t>
            </a:r>
            <a:r>
              <a:rPr lang="en-US" dirty="0"/>
              <a:t>()</a:t>
            </a:r>
            <a:endParaRPr lang="ru-RU" dirty="0"/>
          </a:p>
          <a:p>
            <a:r>
              <a:rPr lang="en-US" dirty="0" err="1"/>
              <a:t>Неименованный</a:t>
            </a:r>
            <a:r>
              <a:rPr lang="ru-RU" dirty="0"/>
              <a:t> семафор</a:t>
            </a:r>
          </a:p>
          <a:p>
            <a:pPr lvl="1"/>
            <a:r>
              <a:rPr lang="en-US" dirty="0" err="1"/>
              <a:t>sem_init</a:t>
            </a:r>
            <a:r>
              <a:rPr lang="en-US" dirty="0"/>
              <a:t>(), </a:t>
            </a:r>
            <a:r>
              <a:rPr lang="en-US" dirty="0" err="1"/>
              <a:t>sem_destroy</a:t>
            </a:r>
            <a:r>
              <a:rPr lang="en-US" dirty="0"/>
              <a:t>()</a:t>
            </a:r>
            <a:endParaRPr lang="ru-RU" dirty="0"/>
          </a:p>
          <a:p>
            <a:r>
              <a:rPr lang="en-US" dirty="0" err="1"/>
              <a:t>Общие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sem_wait</a:t>
            </a:r>
            <a:r>
              <a:rPr lang="en-US" dirty="0"/>
              <a:t>() —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разрешение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заблокироваться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sem_post</a:t>
            </a:r>
            <a:r>
              <a:rPr lang="en-US" dirty="0"/>
              <a:t>() — </a:t>
            </a:r>
            <a:r>
              <a:rPr lang="en-US" dirty="0" err="1"/>
              <a:t>предоставить</a:t>
            </a:r>
            <a:r>
              <a:rPr lang="en-US" dirty="0"/>
              <a:t> </a:t>
            </a:r>
            <a:r>
              <a:rPr lang="en-US" dirty="0" err="1"/>
              <a:t>разрешение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/>
              <a:t>Shared Memory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семафор</a:t>
            </a:r>
            <a:r>
              <a:rPr lang="en-US" dirty="0"/>
              <a:t> </a:t>
            </a:r>
            <a:r>
              <a:rPr lang="en-US" dirty="0" err="1"/>
              <a:t>согласует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B1F354-0A2B-92BC-ACCE-35DF81CE5EC1}"/>
              </a:ext>
            </a:extLst>
          </p:cNvPr>
          <p:cNvSpPr txBox="1"/>
          <p:nvPr/>
        </p:nvSpPr>
        <p:spPr>
          <a:xfrm>
            <a:off x="6667500" y="1922621"/>
            <a:ext cx="50673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SharedData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sem_t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ready;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Инициализация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в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создателе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общей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памяти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sem_init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(&amp;data-&gt;ready,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Producer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data-&gt;value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sem_post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(&amp;data-&gt;ready);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Consumer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sem_wait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(&amp;data-&gt;ready);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 = data-&gt;value;</a:t>
            </a:r>
          </a:p>
        </p:txBody>
      </p:sp>
    </p:spTree>
    <p:extLst>
      <p:ext uri="{BB962C8B-B14F-4D97-AF65-F5344CB8AC3E}">
        <p14:creationId xmlns:p14="http://schemas.microsoft.com/office/powerpoint/2010/main" val="8608093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7D97B-757E-58D3-FDE2-983E83A05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Robust Mutex: </a:t>
            </a:r>
            <a:r>
              <a:rPr lang="en-US" dirty="0" err="1"/>
              <a:t>восстановление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сбоя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81C25-B892-385E-7085-F159B1533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Проблема</a:t>
            </a:r>
            <a:r>
              <a:rPr lang="en-US" dirty="0"/>
              <a:t>: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завершился</a:t>
            </a:r>
            <a:r>
              <a:rPr lang="en-US" dirty="0"/>
              <a:t>, </a:t>
            </a:r>
            <a:r>
              <a:rPr lang="en-US" dirty="0" err="1"/>
              <a:t>удерживая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закончив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r>
              <a:rPr lang="en-US" dirty="0"/>
              <a:t>Robust Mutex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обнаружить</a:t>
            </a:r>
            <a:r>
              <a:rPr lang="en-US" dirty="0"/>
              <a:t> </a:t>
            </a:r>
            <a:r>
              <a:rPr lang="en-US" dirty="0" err="1"/>
              <a:t>гибель</a:t>
            </a:r>
            <a:r>
              <a:rPr lang="en-US" dirty="0"/>
              <a:t> </a:t>
            </a:r>
            <a:r>
              <a:rPr lang="en-US" dirty="0" err="1"/>
              <a:t>владельца</a:t>
            </a:r>
            <a:r>
              <a:rPr lang="en-US" dirty="0"/>
              <a:t>.</a:t>
            </a:r>
          </a:p>
          <a:p>
            <a:r>
              <a:rPr lang="en-US" dirty="0"/>
              <a:t>EOWNERDEAD:</a:t>
            </a:r>
          </a:p>
          <a:p>
            <a:pPr lvl="1"/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участник</a:t>
            </a:r>
            <a:r>
              <a:rPr lang="en-US" dirty="0"/>
              <a:t> </a:t>
            </a:r>
            <a:r>
              <a:rPr lang="en-US" dirty="0" err="1"/>
              <a:t>получил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защищаемых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некорректным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FFE73D-686F-D28E-A7CD-9B23994A17D4}"/>
              </a:ext>
            </a:extLst>
          </p:cNvPr>
          <p:cNvSpPr txBox="1"/>
          <p:nvPr/>
        </p:nvSpPr>
        <p:spPr>
          <a:xfrm>
            <a:off x="6096000" y="1825625"/>
            <a:ext cx="58293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инициализации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pthread_mutexattr_setrobust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&amp;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attr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PTHREAD_MUTEX_ROBUST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работе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с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защищёнными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данными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pthread_mutex_lock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-&gt;mutex);</a:t>
            </a:r>
          </a:p>
          <a:p>
            <a:pPr>
              <a:buNone/>
            </a:pP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EOWNERDEAD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RestoreSharedData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pthread_mutex_consistent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-&gt;mutex);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Работа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с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защищёнными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данными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pthread_mutex_unlock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-&gt;mutex);</a:t>
            </a:r>
          </a:p>
        </p:txBody>
      </p:sp>
    </p:spTree>
    <p:extLst>
      <p:ext uri="{BB962C8B-B14F-4D97-AF65-F5344CB8AC3E}">
        <p14:creationId xmlns:p14="http://schemas.microsoft.com/office/powerpoint/2010/main" val="153419204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85C1C4-702B-98DE-3877-B158630B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 Domain sockets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01EF5C-E70C-89AA-F660-0DAF74B9F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95017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18C0D7-B75F-7486-B6D8-3C8E9AAF7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 Domain Sockets: </a:t>
            </a:r>
            <a:r>
              <a:rPr lang="en-US" dirty="0" err="1"/>
              <a:t>локальное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F716ED-6F68-1D13-E1DF-D0B672C413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436058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Unix Domain Socket (AF_UNIX) —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обмена</a:t>
            </a:r>
            <a:r>
              <a:rPr lang="en-US" dirty="0"/>
              <a:t> </a:t>
            </a:r>
            <a:r>
              <a:rPr lang="en-US" dirty="0" err="1"/>
              <a:t>данными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компьютере</a:t>
            </a:r>
            <a:r>
              <a:rPr lang="en-US" dirty="0"/>
              <a:t>.</a:t>
            </a:r>
          </a:p>
          <a:p>
            <a:r>
              <a:rPr lang="en-US" dirty="0" err="1"/>
              <a:t>Поддерживает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режима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SOCK_STREAM - </a:t>
            </a:r>
            <a:r>
              <a:rPr lang="en-US" dirty="0" err="1"/>
              <a:t>Непрерывный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байтов</a:t>
            </a:r>
            <a:endParaRPr lang="en-US" dirty="0"/>
          </a:p>
          <a:p>
            <a:pPr lvl="1"/>
            <a:r>
              <a:rPr lang="en-US" dirty="0"/>
              <a:t>SOCK_DGRAM -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сообщения</a:t>
            </a:r>
            <a:endParaRPr lang="en-US" dirty="0"/>
          </a:p>
          <a:p>
            <a:pPr lvl="1"/>
            <a:r>
              <a:rPr lang="en-US" dirty="0"/>
              <a:t>SOCK_SEQPACKET - </a:t>
            </a:r>
            <a:r>
              <a:rPr lang="en-US" dirty="0" err="1"/>
              <a:t>Упорядоченные</a:t>
            </a:r>
            <a:r>
              <a:rPr lang="en-US" dirty="0"/>
              <a:t> </a:t>
            </a:r>
            <a:r>
              <a:rPr lang="en-US" dirty="0" err="1"/>
              <a:t>сообщения</a:t>
            </a:r>
            <a:r>
              <a:rPr lang="en-US" dirty="0"/>
              <a:t> в </a:t>
            </a:r>
            <a:r>
              <a:rPr lang="en-US" dirty="0" err="1"/>
              <a:t>соединении</a:t>
            </a:r>
            <a:endParaRPr lang="en-US" dirty="0"/>
          </a:p>
          <a:p>
            <a:r>
              <a:rPr lang="en-US" dirty="0" err="1"/>
              <a:t>Преимущества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Двунаправленное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Удобная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локального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r>
              <a:rPr lang="en-US" dirty="0"/>
              <a:t> и </a:t>
            </a:r>
            <a:r>
              <a:rPr lang="en-US" dirty="0" err="1"/>
              <a:t>сервера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использование</a:t>
            </a:r>
            <a:r>
              <a:rPr lang="en-US" dirty="0"/>
              <a:t> IP-</a:t>
            </a:r>
            <a:r>
              <a:rPr lang="en-US" dirty="0" err="1"/>
              <a:t>адресов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Возможна</a:t>
            </a:r>
            <a:r>
              <a:rPr lang="en-US" dirty="0"/>
              <a:t> </a:t>
            </a:r>
            <a:r>
              <a:rPr lang="en-US" dirty="0" err="1"/>
              <a:t>передача</a:t>
            </a:r>
            <a:r>
              <a:rPr lang="en-US" dirty="0"/>
              <a:t> </a:t>
            </a:r>
            <a:r>
              <a:rPr lang="en-US" dirty="0" err="1"/>
              <a:t>файловых</a:t>
            </a:r>
            <a:r>
              <a:rPr lang="en-US" dirty="0"/>
              <a:t> </a:t>
            </a:r>
            <a:r>
              <a:rPr lang="en-US" dirty="0" err="1"/>
              <a:t>дескрипторов</a:t>
            </a:r>
            <a:r>
              <a:rPr lang="en-US" dirty="0"/>
              <a:t> (SCM_RIGHTS).</a:t>
            </a:r>
          </a:p>
          <a:p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5E6AD80-0D3B-C845-9D78-B995E11A8C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370809" y="1869980"/>
            <a:ext cx="4610787" cy="201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5792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487E1-E0AE-F621-C75E-91A34F241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 Domain Sockets: </a:t>
            </a:r>
            <a:r>
              <a:rPr lang="en-US" dirty="0" err="1"/>
              <a:t>создание</a:t>
            </a:r>
            <a:r>
              <a:rPr lang="en-US" dirty="0"/>
              <a:t> </a:t>
            </a:r>
            <a:r>
              <a:rPr lang="en-US" dirty="0" err="1"/>
              <a:t>соединения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76996-37CB-8437-9088-E3CF1E9CE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606143" cy="4351338"/>
          </a:xfrm>
        </p:spPr>
        <p:txBody>
          <a:bodyPr/>
          <a:lstStyle/>
          <a:p>
            <a:r>
              <a:rPr lang="en-US" dirty="0" err="1"/>
              <a:t>Родственные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endParaRPr lang="en-US" dirty="0"/>
          </a:p>
          <a:p>
            <a:pPr lvl="1"/>
            <a:r>
              <a:rPr lang="en-US" dirty="0" err="1"/>
              <a:t>socketpair</a:t>
            </a:r>
            <a:r>
              <a:rPr lang="en-US" dirty="0"/>
              <a:t>() + fork().</a:t>
            </a:r>
          </a:p>
          <a:p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С</a:t>
            </a:r>
            <a:r>
              <a:rPr lang="en-US" dirty="0" err="1"/>
              <a:t>ервер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socket() → bind() → listen() → accept()</a:t>
            </a:r>
          </a:p>
          <a:p>
            <a:pPr lvl="1"/>
            <a:r>
              <a:rPr lang="ru-RU" dirty="0"/>
              <a:t>К</a:t>
            </a:r>
            <a:r>
              <a:rPr lang="en-US" dirty="0" err="1"/>
              <a:t>лиент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 socket() → connect().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F9142D-A673-8B76-2ACF-51E4E219C0EE}"/>
              </a:ext>
            </a:extLst>
          </p:cNvPr>
          <p:cNvSpPr txBox="1"/>
          <p:nvPr/>
        </p:nvSpPr>
        <p:spPr>
          <a:xfrm>
            <a:off x="6618514" y="1825625"/>
            <a:ext cx="5200447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socketpair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AF_UNIX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SOCK_SEQPACKET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pid_t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fork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sz="15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Дочерний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процесс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recv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_exit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5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Родительский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процесс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send(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reply[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recv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reply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(reply),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close(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waitpid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2323079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F1235-5C03-C352-BC9A-A71438B91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байтов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сообщения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78E51-D43E-5CF8-FAFB-6E87047B4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байтов</a:t>
            </a:r>
            <a:endParaRPr lang="ru-RU" dirty="0"/>
          </a:p>
          <a:p>
            <a:pPr lvl="1"/>
            <a:r>
              <a:rPr lang="en-US" dirty="0" err="1"/>
              <a:t>Непрерывная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байтов</a:t>
            </a:r>
            <a:endParaRPr lang="ru-RU" dirty="0"/>
          </a:p>
          <a:p>
            <a:pPr lvl="1"/>
            <a:r>
              <a:rPr lang="en-US" dirty="0"/>
              <a:t>send() и </a:t>
            </a:r>
            <a:r>
              <a:rPr lang="en-US" dirty="0" err="1"/>
              <a:t>recv</a:t>
            </a:r>
            <a:r>
              <a:rPr lang="en-US" dirty="0"/>
              <a:t>()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обязаны</a:t>
            </a:r>
            <a:r>
              <a:rPr lang="en-US" dirty="0"/>
              <a:t> </a:t>
            </a:r>
            <a:r>
              <a:rPr lang="en-US" dirty="0" err="1"/>
              <a:t>совпадать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границам</a:t>
            </a:r>
            <a:endParaRPr lang="ru-RU" dirty="0"/>
          </a:p>
          <a:p>
            <a:pPr lvl="1"/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выделяет</a:t>
            </a:r>
            <a:r>
              <a:rPr lang="en-US" dirty="0"/>
              <a:t> </a:t>
            </a:r>
            <a:r>
              <a:rPr lang="en-US" dirty="0" err="1"/>
              <a:t>сообщения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endParaRPr lang="ru-RU" dirty="0"/>
          </a:p>
          <a:p>
            <a:pPr lvl="1"/>
            <a:r>
              <a:rPr lang="en-US" dirty="0"/>
              <a:t>SOCK_STREAM, pipe, FIFO</a:t>
            </a:r>
            <a:endParaRPr lang="ru-RU" dirty="0"/>
          </a:p>
          <a:p>
            <a:r>
              <a:rPr lang="en-US" dirty="0" err="1"/>
              <a:t>Сообщения</a:t>
            </a:r>
            <a:endParaRPr lang="ru-RU" dirty="0"/>
          </a:p>
          <a:p>
            <a:pPr lvl="1"/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endParaRPr lang="ru-RU" dirty="0"/>
          </a:p>
          <a:p>
            <a:pPr lvl="1"/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 </a:t>
            </a:r>
            <a:r>
              <a:rPr lang="en-US" dirty="0" err="1"/>
              <a:t>сохраняются</a:t>
            </a:r>
            <a:endParaRPr lang="ru-RU" dirty="0"/>
          </a:p>
          <a:p>
            <a:pPr lvl="1"/>
            <a:r>
              <a:rPr lang="en-US" dirty="0" err="1"/>
              <a:t>Приёмник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очередное</a:t>
            </a:r>
            <a:r>
              <a:rPr lang="en-US" dirty="0"/>
              <a:t> </a:t>
            </a:r>
            <a:r>
              <a:rPr lang="en-US" dirty="0" err="1"/>
              <a:t>сообщение</a:t>
            </a:r>
            <a:endParaRPr lang="ru-RU" dirty="0"/>
          </a:p>
          <a:p>
            <a:pPr lvl="1"/>
            <a:r>
              <a:rPr lang="en-US" dirty="0"/>
              <a:t>SOCK_DGRAM, SOCK_SEQPACKET, POSIX MQ</a:t>
            </a:r>
            <a:endParaRPr lang="ru-RU" dirty="0"/>
          </a:p>
          <a:p>
            <a:r>
              <a:rPr lang="en-US" dirty="0" err="1"/>
              <a:t>Блокирующий</a:t>
            </a:r>
            <a:r>
              <a:rPr lang="en-US" dirty="0"/>
              <a:t> </a:t>
            </a:r>
            <a:r>
              <a:rPr lang="en-US" dirty="0" err="1"/>
              <a:t>обмен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→ </a:t>
            </a:r>
            <a:r>
              <a:rPr lang="en-US" dirty="0" err="1"/>
              <a:t>recv</a:t>
            </a:r>
            <a:r>
              <a:rPr lang="en-US" dirty="0"/>
              <a:t>()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Заполнен</a:t>
            </a:r>
            <a:r>
              <a:rPr lang="en-US" dirty="0"/>
              <a:t> </a:t>
            </a:r>
            <a:r>
              <a:rPr lang="en-US" dirty="0" err="1"/>
              <a:t>буфер</a:t>
            </a:r>
            <a:r>
              <a:rPr lang="en-US" dirty="0"/>
              <a:t> </a:t>
            </a:r>
            <a:r>
              <a:rPr lang="en-US" dirty="0" err="1"/>
              <a:t>отправки</a:t>
            </a:r>
            <a:r>
              <a:rPr lang="en-US" dirty="0"/>
              <a:t> → send()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O_NONBLOCK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;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невозможности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возможна</a:t>
            </a:r>
            <a:r>
              <a:rPr lang="en-US" dirty="0"/>
              <a:t> </a:t>
            </a:r>
            <a:r>
              <a:rPr lang="en-US" dirty="0" err="1"/>
              <a:t>ошибка</a:t>
            </a:r>
            <a:r>
              <a:rPr lang="en-US" dirty="0"/>
              <a:t> EAGAIN.</a:t>
            </a:r>
          </a:p>
          <a:p>
            <a:pPr lvl="1"/>
            <a:r>
              <a:rPr lang="en-US" dirty="0" err="1"/>
              <a:t>Важно</a:t>
            </a:r>
            <a:r>
              <a:rPr lang="en-US" dirty="0"/>
              <a:t>: </a:t>
            </a:r>
            <a:r>
              <a:rPr lang="en-US" dirty="0" err="1"/>
              <a:t>успешный</a:t>
            </a:r>
            <a:r>
              <a:rPr lang="en-US" dirty="0"/>
              <a:t> send()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получатель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обработал</a:t>
            </a:r>
            <a:r>
              <a:rPr lang="en-US" dirty="0"/>
              <a:t> </a:t>
            </a:r>
            <a:r>
              <a:rPr lang="en-US" dirty="0" err="1"/>
              <a:t>сообщение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E5A627-8466-188B-A06B-275B50724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6033" y="2104385"/>
            <a:ext cx="4969044" cy="207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70481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B03253-85F6-298C-2E12-9E3A6104D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POSIX Message Queues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FDF09E-2C59-9DDD-F812-E0A318B41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1925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B0F833-28C0-2A26-A096-6FBAF3148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POSIX Message Queues: </a:t>
            </a:r>
            <a:r>
              <a:rPr lang="en-US" dirty="0" err="1"/>
              <a:t>именованные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1CFB90-BB2B-B643-33A9-44111F6EB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17343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POSIX Message Queue — </a:t>
            </a:r>
            <a:r>
              <a:rPr lang="en-US" dirty="0" err="1"/>
              <a:t>управляемая</a:t>
            </a:r>
            <a:r>
              <a:rPr lang="en-US" dirty="0"/>
              <a:t> </a:t>
            </a:r>
            <a:r>
              <a:rPr lang="en-US" dirty="0" err="1"/>
              <a:t>ядром</a:t>
            </a:r>
            <a:r>
              <a:rPr lang="en-US" dirty="0"/>
              <a:t> </a:t>
            </a:r>
            <a:r>
              <a:rPr lang="en-US" dirty="0" err="1"/>
              <a:t>именованная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.</a:t>
            </a:r>
          </a:p>
          <a:p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mq_open</a:t>
            </a:r>
            <a:r>
              <a:rPr lang="en-US" dirty="0"/>
              <a:t>() —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открыть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mq_send</a:t>
            </a:r>
            <a:r>
              <a:rPr lang="en-US" dirty="0"/>
              <a:t>() — </a:t>
            </a:r>
            <a:r>
              <a:rPr lang="en-US" dirty="0" err="1"/>
              <a:t>отправить</a:t>
            </a:r>
            <a:r>
              <a:rPr lang="en-US" dirty="0"/>
              <a:t> </a:t>
            </a:r>
            <a:r>
              <a:rPr lang="en-US" dirty="0" err="1"/>
              <a:t>сообщение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mq_receive</a:t>
            </a:r>
            <a:r>
              <a:rPr lang="en-US" dirty="0"/>
              <a:t>() —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сообщение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mq_close</a:t>
            </a:r>
            <a:r>
              <a:rPr lang="en-US" dirty="0"/>
              <a:t>() / </a:t>
            </a:r>
            <a:r>
              <a:rPr lang="en-US" dirty="0" err="1"/>
              <a:t>mq_unlink</a:t>
            </a:r>
            <a:r>
              <a:rPr lang="en-US" dirty="0"/>
              <a:t>() — </a:t>
            </a:r>
            <a:r>
              <a:rPr lang="en-US" dirty="0" err="1"/>
              <a:t>закрыть</a:t>
            </a:r>
            <a:r>
              <a:rPr lang="en-US" dirty="0"/>
              <a:t> </a:t>
            </a:r>
            <a:r>
              <a:rPr lang="en-US" dirty="0" err="1"/>
              <a:t>дескриптор</a:t>
            </a:r>
            <a:r>
              <a:rPr lang="en-US" dirty="0"/>
              <a:t> / </a:t>
            </a:r>
            <a:r>
              <a:rPr lang="en-US" dirty="0" err="1"/>
              <a:t>удалить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.</a:t>
            </a:r>
          </a:p>
          <a:p>
            <a:r>
              <a:rPr lang="en-US" dirty="0" err="1"/>
              <a:t>Особенности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Сохраняются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Ограничены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и </a:t>
            </a:r>
            <a:r>
              <a:rPr lang="en-US" dirty="0" err="1"/>
              <a:t>размер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Сообщения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приоритеты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Отправитель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получатель</a:t>
            </a:r>
            <a:r>
              <a:rPr lang="en-US" dirty="0"/>
              <a:t> </a:t>
            </a:r>
            <a:r>
              <a:rPr lang="ru-RU" dirty="0"/>
              <a:t>могут</a:t>
            </a:r>
            <a:r>
              <a:rPr lang="en-US" dirty="0"/>
              <a:t> </a:t>
            </a:r>
            <a:r>
              <a:rPr lang="en-US" dirty="0" err="1"/>
              <a:t>блокироваться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отсутствии</a:t>
            </a:r>
            <a:r>
              <a:rPr lang="en-US" dirty="0"/>
              <a:t> </a:t>
            </a:r>
            <a:r>
              <a:rPr lang="en-US" dirty="0" err="1"/>
              <a:t>доступной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75486A-F1D2-32F3-AEE9-042B0D6E5DF6}"/>
              </a:ext>
            </a:extLst>
          </p:cNvPr>
          <p:cNvSpPr txBox="1"/>
          <p:nvPr/>
        </p:nvSpPr>
        <p:spPr>
          <a:xfrm>
            <a:off x="7172690" y="1825625"/>
            <a:ext cx="4888681" cy="2023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mq_attr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attr.mq_maxmsg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attr.mq_msgsize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mqd_t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q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mq_open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-tasks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O_CREAT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O_EXCL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O_RDWR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 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0600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6A83AC-C7FF-01BA-BA38-EA710B045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690" y="4281714"/>
            <a:ext cx="4888681" cy="189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73558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9C9F-89BD-B625-18C9-0170AC01B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Producer–Consumer </a:t>
            </a:r>
            <a:r>
              <a:rPr lang="en-US" dirty="0" err="1"/>
              <a:t>через</a:t>
            </a:r>
            <a:r>
              <a:rPr lang="en-US" dirty="0"/>
              <a:t> POSIX Message Queues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D82F7-792A-D899-077E-3850D4BB7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083629" cy="4351338"/>
          </a:xfrm>
        </p:spPr>
        <p:txBody>
          <a:bodyPr>
            <a:normAutofit/>
          </a:bodyPr>
          <a:lstStyle/>
          <a:p>
            <a:pPr lvl="0"/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 </a:t>
            </a:r>
            <a:r>
              <a:rPr lang="en-US" dirty="0" err="1"/>
              <a:t>хранится</a:t>
            </a:r>
            <a:r>
              <a:rPr lang="en-US" dirty="0"/>
              <a:t> и </a:t>
            </a:r>
            <a:r>
              <a:rPr lang="en-US" dirty="0" err="1"/>
              <a:t>обслуживается</a:t>
            </a:r>
            <a:r>
              <a:rPr lang="en-US" dirty="0"/>
              <a:t> </a:t>
            </a:r>
            <a:r>
              <a:rPr lang="en-US" dirty="0" err="1"/>
              <a:t>ядром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вручную</a:t>
            </a:r>
            <a:r>
              <a:rPr lang="en-US" dirty="0"/>
              <a:t> </a:t>
            </a:r>
            <a:r>
              <a:rPr lang="en-US" dirty="0" err="1"/>
              <a:t>защищать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внутренние</a:t>
            </a:r>
            <a:r>
              <a:rPr lang="en-US" dirty="0"/>
              <a:t> </a:t>
            </a:r>
            <a:r>
              <a:rPr lang="en-US" dirty="0" err="1"/>
              <a:t>поля</a:t>
            </a:r>
            <a:r>
              <a:rPr lang="en-US" dirty="0"/>
              <a:t> </a:t>
            </a:r>
            <a:r>
              <a:rPr lang="en-US" dirty="0" err="1"/>
              <a:t>мьютексом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Переполнение</a:t>
            </a:r>
            <a:r>
              <a:rPr lang="en-US" dirty="0"/>
              <a:t> и </a:t>
            </a:r>
            <a:r>
              <a:rPr lang="en-US" dirty="0" err="1"/>
              <a:t>отсутствие</a:t>
            </a:r>
            <a:r>
              <a:rPr lang="en-US" dirty="0"/>
              <a:t> </a:t>
            </a:r>
            <a:r>
              <a:rPr lang="en-US" dirty="0" err="1"/>
              <a:t>сообщений</a:t>
            </a:r>
            <a:r>
              <a:rPr lang="en-US" dirty="0"/>
              <a:t> </a:t>
            </a:r>
            <a:r>
              <a:rPr lang="en-US" dirty="0" err="1"/>
              <a:t>обрабатываются</a:t>
            </a:r>
            <a:r>
              <a:rPr lang="en-US" dirty="0"/>
              <a:t> </a:t>
            </a:r>
            <a:r>
              <a:rPr lang="en-US" dirty="0" err="1"/>
              <a:t>средствами</a:t>
            </a:r>
            <a:r>
              <a:rPr lang="en-US" dirty="0"/>
              <a:t> IPC.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FBC0C2-DA35-6449-2258-FBFACC1978B7}"/>
              </a:ext>
            </a:extLst>
          </p:cNvPr>
          <p:cNvSpPr txBox="1"/>
          <p:nvPr/>
        </p:nvSpPr>
        <p:spPr>
          <a:xfrm>
            <a:off x="6444341" y="1825625"/>
            <a:ext cx="539931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Producer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mqd_t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q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mq_open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-tasks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O_WRONLY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task[] =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JOB-42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mq_send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(task),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mq_close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Consumer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mqd_t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q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mq_open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-tasks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O_RDONLY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buffer[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mq_receive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q, buffer,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(buffer),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ProcessMessage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mq_close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87325870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BB58D-E354-C5E8-2BE8-DD52B194F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Межпроцессная</a:t>
            </a:r>
            <a:r>
              <a:rPr lang="en-US" dirty="0"/>
              <a:t> </a:t>
            </a:r>
            <a:r>
              <a:rPr lang="en-US" dirty="0" err="1"/>
              <a:t>синхронизация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файлы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CD180F-27F4-9314-CF9C-BB67924FA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485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58DD15-D825-9AE4-1C8D-3E8986781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Файловые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: flock и </a:t>
            </a:r>
            <a:r>
              <a:rPr lang="en-US" dirty="0" err="1"/>
              <a:t>fcntl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EC7BCA-5BDA-77CC-02EB-998C97556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80314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Задача</a:t>
            </a:r>
            <a:r>
              <a:rPr lang="en-US" dirty="0"/>
              <a:t>: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согласованно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файлом</a:t>
            </a:r>
            <a:r>
              <a:rPr lang="en-US" dirty="0"/>
              <a:t>.</a:t>
            </a:r>
          </a:p>
          <a:p>
            <a:r>
              <a:rPr lang="en-US" dirty="0" err="1"/>
              <a:t>Механизмы</a:t>
            </a:r>
            <a:r>
              <a:rPr lang="en-US" dirty="0"/>
              <a:t> Linux:</a:t>
            </a:r>
          </a:p>
          <a:p>
            <a:pPr lvl="1"/>
            <a:r>
              <a:rPr lang="en-US" dirty="0"/>
              <a:t>flock() — </a:t>
            </a:r>
            <a:r>
              <a:rPr lang="en-US" dirty="0" err="1"/>
              <a:t>блокировка</a:t>
            </a:r>
            <a:r>
              <a:rPr lang="en-US" dirty="0"/>
              <a:t> </a:t>
            </a:r>
            <a:r>
              <a:rPr lang="en-US" dirty="0" err="1"/>
              <a:t>файла</a:t>
            </a:r>
            <a:r>
              <a:rPr lang="en-US" dirty="0"/>
              <a:t> </a:t>
            </a:r>
            <a:r>
              <a:rPr lang="en-US" dirty="0" err="1"/>
              <a:t>целиком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fcntl</a:t>
            </a:r>
            <a:r>
              <a:rPr lang="en-US" dirty="0"/>
              <a:t>() — в </a:t>
            </a:r>
            <a:r>
              <a:rPr lang="en-US" dirty="0" err="1"/>
              <a:t>том</a:t>
            </a:r>
            <a:r>
              <a:rPr lang="en-US" dirty="0"/>
              <a:t> </a:t>
            </a:r>
            <a:r>
              <a:rPr lang="en-US" dirty="0" err="1"/>
              <a:t>числе</a:t>
            </a:r>
            <a:r>
              <a:rPr lang="en-US" dirty="0"/>
              <a:t> </a:t>
            </a:r>
            <a:r>
              <a:rPr lang="en-US" dirty="0" err="1"/>
              <a:t>блокировка</a:t>
            </a:r>
            <a:r>
              <a:rPr lang="en-US" dirty="0"/>
              <a:t> </a:t>
            </a:r>
            <a:r>
              <a:rPr lang="en-US" dirty="0" err="1"/>
              <a:t>диапазонов</a:t>
            </a:r>
            <a:r>
              <a:rPr lang="en-US" dirty="0"/>
              <a:t> </a:t>
            </a:r>
            <a:r>
              <a:rPr lang="en-US" dirty="0" err="1"/>
              <a:t>байтов</a:t>
            </a:r>
            <a:r>
              <a:rPr lang="en-US" dirty="0"/>
              <a:t>.</a:t>
            </a:r>
          </a:p>
          <a:p>
            <a:r>
              <a:rPr lang="en-US" dirty="0" err="1"/>
              <a:t>Режимы</a:t>
            </a:r>
            <a:r>
              <a:rPr lang="en-US" dirty="0"/>
              <a:t> flock():</a:t>
            </a:r>
          </a:p>
          <a:p>
            <a:pPr lvl="1"/>
            <a:r>
              <a:rPr lang="en-US" dirty="0"/>
              <a:t>LOCK_SH — </a:t>
            </a:r>
            <a:r>
              <a:rPr lang="en-US" dirty="0" err="1"/>
              <a:t>совместная</a:t>
            </a:r>
            <a:r>
              <a:rPr lang="en-US" dirty="0"/>
              <a:t> </a:t>
            </a:r>
            <a:r>
              <a:rPr lang="en-US" dirty="0" err="1"/>
              <a:t>блокировка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LOCK_EX — </a:t>
            </a:r>
            <a:r>
              <a:rPr lang="en-US" dirty="0" err="1"/>
              <a:t>исключительная</a:t>
            </a:r>
            <a:r>
              <a:rPr lang="en-US" dirty="0"/>
              <a:t> </a:t>
            </a:r>
            <a:r>
              <a:rPr lang="en-US" dirty="0" err="1"/>
              <a:t>блокировка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LOCK_UN — </a:t>
            </a:r>
            <a:r>
              <a:rPr lang="en-US" dirty="0" err="1"/>
              <a:t>освобождение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LOCK_NB — </a:t>
            </a:r>
            <a:r>
              <a:rPr lang="en-US" dirty="0" err="1"/>
              <a:t>попытка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.</a:t>
            </a:r>
          </a:p>
          <a:p>
            <a:r>
              <a:rPr lang="ru-RU" dirty="0"/>
              <a:t>П</a:t>
            </a:r>
            <a:r>
              <a:rPr lang="en-US" dirty="0" err="1"/>
              <a:t>рограммы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добровольно</a:t>
            </a:r>
            <a:r>
              <a:rPr lang="en-US" dirty="0"/>
              <a:t> </a:t>
            </a:r>
            <a:r>
              <a:rPr lang="en-US" dirty="0" err="1"/>
              <a:t>соблюдать</a:t>
            </a:r>
            <a:r>
              <a:rPr lang="en-US" dirty="0"/>
              <a:t> </a:t>
            </a:r>
            <a:r>
              <a:rPr lang="en-US" dirty="0" err="1"/>
              <a:t>соглашение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55A7BE-9C72-2008-C5F8-EB0FFE4FF37B}"/>
              </a:ext>
            </a:extLst>
          </p:cNvPr>
          <p:cNvSpPr txBox="1"/>
          <p:nvPr/>
        </p:nvSpPr>
        <p:spPr>
          <a:xfrm>
            <a:off x="7039429" y="1825625"/>
            <a:ext cx="50074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app.lock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O_CREAT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O_RDWR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0600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flock(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LOCK_EX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UpdateConfiguration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flock(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LOCK_UN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close(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5335975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FBF75-279E-85E6-CCBE-41F787A69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 </a:t>
            </a:r>
            <a:r>
              <a:rPr lang="en-US" dirty="0" err="1"/>
              <a:t>или</a:t>
            </a:r>
            <a:r>
              <a:rPr lang="en-US" dirty="0"/>
              <a:t> Message Passing?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F16A7-AC5F-FE17-9AF5-79FAF2A2F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37276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3F1D5D-762E-2FA9-1488-EE692A41B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межпроцессного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?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86E17DD-53DD-CFFA-47A2-F80073F8889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22140558"/>
              </p:ext>
            </p:extLst>
          </p:nvPr>
        </p:nvGraphicFramePr>
        <p:xfrm>
          <a:off x="838200" y="1825625"/>
          <a:ext cx="10515600" cy="2796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8964612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4094789283"/>
                    </a:ext>
                  </a:extLst>
                </a:gridCol>
                <a:gridCol w="4368800">
                  <a:extLst>
                    <a:ext uri="{9D8B030D-6E8A-4147-A177-3AD203B41FA5}">
                      <a16:colId xmlns:a16="http://schemas.microsoft.com/office/drawing/2014/main" val="1476148985"/>
                    </a:ext>
                  </a:extLst>
                </a:gridCol>
              </a:tblGrid>
              <a:tr h="277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Критерий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Shared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Message Passing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1874590"/>
                  </a:ext>
                </a:extLst>
              </a:tr>
              <a:tr h="358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Где находятся данные?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В общей памяти процессов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Передаются через IPC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238905"/>
                  </a:ext>
                </a:extLst>
              </a:tr>
              <a:tr h="254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Обмен данными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Прямой доступ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Отправка и получение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0673987"/>
                  </a:ext>
                </a:extLst>
              </a:tr>
              <a:tr h="466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Синхронизация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Организуется приложением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Частично обеспечивается механизмом передачи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9171600"/>
                  </a:ext>
                </a:extLst>
              </a:tr>
              <a:tr h="466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Производительность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/>
                        <a:t>Выгодна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для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больших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объёмов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данных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Удобна для команд и событий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562155"/>
                  </a:ext>
                </a:extLst>
              </a:tr>
              <a:tr h="466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Сложность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Управление общей памятью и блокировками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/>
                        <a:t>Протокол</a:t>
                      </a:r>
                      <a:r>
                        <a:rPr lang="en-US" sz="1600" dirty="0"/>
                        <a:t> и </a:t>
                      </a:r>
                      <a:r>
                        <a:rPr lang="en-US" sz="1600" dirty="0" err="1"/>
                        <a:t>обработка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сообщений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3577605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DBFFA25-27DC-D8FC-5BA6-B1914AA24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622574"/>
            <a:ext cx="10515600" cy="2103664"/>
          </a:xfrm>
        </p:spPr>
        <p:txBody>
          <a:bodyPr>
            <a:normAutofit/>
          </a:bodyPr>
          <a:lstStyle/>
          <a:p>
            <a:pPr lvl="0"/>
            <a:r>
              <a:rPr lang="en-US" dirty="0" err="1"/>
              <a:t>Большие</a:t>
            </a:r>
            <a:r>
              <a:rPr lang="en-US" dirty="0"/>
              <a:t> </a:t>
            </a:r>
            <a:r>
              <a:rPr lang="en-US" dirty="0" err="1"/>
              <a:t>массивы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: Shared Memory.</a:t>
            </a:r>
          </a:p>
          <a:p>
            <a:pPr lvl="0"/>
            <a:r>
              <a:rPr lang="en-US" dirty="0" err="1"/>
              <a:t>Локальный</a:t>
            </a:r>
            <a:r>
              <a:rPr lang="en-US" dirty="0"/>
              <a:t> </a:t>
            </a:r>
            <a:r>
              <a:rPr lang="en-US" dirty="0" err="1"/>
              <a:t>клиент</a:t>
            </a:r>
            <a:r>
              <a:rPr lang="en-US" dirty="0"/>
              <a:t>–</a:t>
            </a:r>
            <a:r>
              <a:rPr lang="en-US" dirty="0" err="1"/>
              <a:t>сервер</a:t>
            </a:r>
            <a:r>
              <a:rPr lang="en-US" dirty="0"/>
              <a:t>: Unix Domain Socket.</a:t>
            </a:r>
          </a:p>
          <a:p>
            <a:pPr lvl="0"/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задания</a:t>
            </a:r>
            <a:r>
              <a:rPr lang="en-US" dirty="0"/>
              <a:t> и </a:t>
            </a:r>
            <a:r>
              <a:rPr lang="en-US" dirty="0" err="1"/>
              <a:t>события</a:t>
            </a:r>
            <a:r>
              <a:rPr lang="en-US" dirty="0"/>
              <a:t>: POSIX Message Queue.</a:t>
            </a:r>
          </a:p>
          <a:p>
            <a:pPr lvl="0"/>
            <a:r>
              <a:rPr lang="en-US" dirty="0" err="1"/>
              <a:t>Согласование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к </a:t>
            </a:r>
            <a:r>
              <a:rPr lang="en-US" dirty="0" err="1"/>
              <a:t>файлу</a:t>
            </a:r>
            <a:r>
              <a:rPr lang="en-US" dirty="0"/>
              <a:t>: File Locking.</a:t>
            </a:r>
          </a:p>
        </p:txBody>
      </p:sp>
    </p:spTree>
    <p:extLst>
      <p:ext uri="{BB962C8B-B14F-4D97-AF65-F5344CB8AC3E}">
        <p14:creationId xmlns:p14="http://schemas.microsoft.com/office/powerpoint/2010/main" val="8388286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5C4F-E527-7F76-2519-187D60A73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6A8AC-F830-E459-F86E-4EA5E8B85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146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3795</TotalTime>
  <Words>25082</Words>
  <Application>Microsoft Office PowerPoint</Application>
  <PresentationFormat>Widescreen</PresentationFormat>
  <Paragraphs>2703</Paragraphs>
  <Slides>84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9" baseType="lpstr">
      <vt:lpstr>Aptos</vt:lpstr>
      <vt:lpstr>Aptos Display</vt:lpstr>
      <vt:lpstr>Arial</vt:lpstr>
      <vt:lpstr>Consolas</vt:lpstr>
      <vt:lpstr>Office Theme</vt:lpstr>
      <vt:lpstr>Синхронизация потоков</vt:lpstr>
      <vt:lpstr>Слайд 1. Зачем нужна синхронизация?</vt:lpstr>
      <vt:lpstr>Состояние гонки (Race Condition)</vt:lpstr>
      <vt:lpstr>Гонка в программе на C++</vt:lpstr>
      <vt:lpstr>Решение: атомарные операции</vt:lpstr>
      <vt:lpstr>Критическая секция и взаимное исключение</vt:lpstr>
      <vt:lpstr>Требования к корректной синхронизации</vt:lpstr>
      <vt:lpstr>Два способа решения проблемы гонок</vt:lpstr>
      <vt:lpstr>Взаимное исключение и Busy Waiting</vt:lpstr>
      <vt:lpstr>Способы обеспечения взаимного исключения</vt:lpstr>
      <vt:lpstr>Взаимное исключение через запрет прерываний</vt:lpstr>
      <vt:lpstr>Почему отключения прерываний недостаточно?</vt:lpstr>
      <vt:lpstr>Простая переменная lock: почему это не работает?</vt:lpstr>
      <vt:lpstr>Строгое чередование (Strict Alternation)</vt:lpstr>
      <vt:lpstr>Алгоритм Петерсона (1981)</vt:lpstr>
      <vt:lpstr>Почему программные алгоритмы неудобны на практике?</vt:lpstr>
      <vt:lpstr>Аппаратные атомарные операции: TSL и XCHG</vt:lpstr>
      <vt:lpstr>Реализация Spinlock через std::atomic_flag</vt:lpstr>
      <vt:lpstr>Когда Spinlock эффективен, а когда нет?</vt:lpstr>
      <vt:lpstr>Итоги: от Busy Waiting к блокирующей синхронизации</vt:lpstr>
      <vt:lpstr>Спинлоки в ядре Linux</vt:lpstr>
      <vt:lpstr>Спинлоки и прерывания: опасность взаимной блокировки</vt:lpstr>
      <vt:lpstr>Спинлоки в Linux: spin_lock, irq и irqsave</vt:lpstr>
      <vt:lpstr>Сон и пробуждение</vt:lpstr>
      <vt:lpstr>Блокирующее ожидание вместо Busy Waiting</vt:lpstr>
      <vt:lpstr>Sleep/Wakeup: ожидание и пробуждение в ОС</vt:lpstr>
      <vt:lpstr>Задача «Производитель-потребитель»</vt:lpstr>
      <vt:lpstr>Задача «Производитель–потребитель» (Producer–Consumer)</vt:lpstr>
      <vt:lpstr>Проблема потерянного пробуждения (Lost Wakeup)</vt:lpstr>
      <vt:lpstr>Мьютексы: защита общих данных</vt:lpstr>
      <vt:lpstr>Условные переменные (Condition Variables)</vt:lpstr>
      <vt:lpstr>Producer–Consumer: Producer</vt:lpstr>
      <vt:lpstr>Producer–Consumer: Consumer</vt:lpstr>
      <vt:lpstr>Семафоры: счётчик доступных ресурсов</vt:lpstr>
      <vt:lpstr>Producer–Consumer: решение через семафоры</vt:lpstr>
      <vt:lpstr>Реализация BoundedQueue через std::counting_semaphore</vt:lpstr>
      <vt:lpstr>Condition Variable или Semaphore?</vt:lpstr>
      <vt:lpstr>Задача «Читатели–писатели»</vt:lpstr>
      <vt:lpstr>Задача «Читатели–писатели» (Readers–Writers)</vt:lpstr>
      <vt:lpstr>Решение Readers–Writers через семафоры</vt:lpstr>
      <vt:lpstr>Проблема голодания писателей (Writer Starvation)</vt:lpstr>
      <vt:lpstr>std::shared_mutex: готовый Reader–Writer Lock</vt:lpstr>
      <vt:lpstr>Справедливость и производительность Reader–Writer Lock</vt:lpstr>
      <vt:lpstr>Сравнение FairRWLock и shared_mutex</vt:lpstr>
      <vt:lpstr>Как реализована синхронизация в операционных системах</vt:lpstr>
      <vt:lpstr>Futex: синхронизация без лишних системных вызовов</vt:lpstr>
      <vt:lpstr>Примитивы синхронизации: C++ и POSIX</vt:lpstr>
      <vt:lpstr>Какой примитив синхронизации выбрать?</vt:lpstr>
      <vt:lpstr>Барьеры – синхронизация потоков по фазам</vt:lpstr>
      <vt:lpstr>Барьеры: синхронизация потоков по фазам</vt:lpstr>
      <vt:lpstr>std::barrier в C++20</vt:lpstr>
      <vt:lpstr>Игра «Жизнь»: параллельные вычисления с барьером</vt:lpstr>
      <vt:lpstr>Завершение потоков и отмена ожидания</vt:lpstr>
      <vt:lpstr>Как корректно завершать рабочие потоки?</vt:lpstr>
      <vt:lpstr>Как отменить поток, ожидающий события?</vt:lpstr>
      <vt:lpstr>Как правильно закрыть многопоточную очередь?</vt:lpstr>
      <vt:lpstr>Взаимная блокировка</vt:lpstr>
      <vt:lpstr>Deadlock: когда потоки блокируют друг друга</vt:lpstr>
      <vt:lpstr>Почему возникает Deadlock?</vt:lpstr>
      <vt:lpstr>Как избежать deadlock?</vt:lpstr>
      <vt:lpstr>Инверсия приоритетов</vt:lpstr>
      <vt:lpstr>Инверсия приоритетов: почему важная задача ждёт?</vt:lpstr>
      <vt:lpstr>Как бороться с инверсией приоритетов?</vt:lpstr>
      <vt:lpstr>Межпроцессное взаимодействие и синхронизация</vt:lpstr>
      <vt:lpstr>Как взаимодействуют независимые процессы?</vt:lpstr>
      <vt:lpstr>Shared Memory</vt:lpstr>
      <vt:lpstr>Shared Memory: общие физические страницы</vt:lpstr>
      <vt:lpstr>Создание Shared Memory: shm_open и mmap</vt:lpstr>
      <vt:lpstr>Жизненный цикл разделяемой памяти</vt:lpstr>
      <vt:lpstr>Process-shared mutex: мьютекс между процессами</vt:lpstr>
      <vt:lpstr>Межпроцессные семафоры</vt:lpstr>
      <vt:lpstr>Robust Mutex: восстановление после сбоя процесса</vt:lpstr>
      <vt:lpstr>Unix Domain sockets</vt:lpstr>
      <vt:lpstr>Unix Domain Sockets: локальное взаимодействие процессов</vt:lpstr>
      <vt:lpstr>Unix Domain Sockets: создание соединения</vt:lpstr>
      <vt:lpstr>Поток байтов или отдельные сообщения?</vt:lpstr>
      <vt:lpstr>POSIX Message Queues</vt:lpstr>
      <vt:lpstr>POSIX Message Queues: именованные очереди сообщений</vt:lpstr>
      <vt:lpstr>Producer–Consumer через POSIX Message Queues</vt:lpstr>
      <vt:lpstr>Межпроцессная синхронизация через файлы</vt:lpstr>
      <vt:lpstr>Файловые блокировки: flock и fcntl</vt:lpstr>
      <vt:lpstr>Shared Memory или Message Passing?</vt:lpstr>
      <vt:lpstr>Как выбрать механизм межпроцессного взаимодействия?</vt:lpstr>
      <vt:lpstr>Вопросы?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176</cp:revision>
  <dcterms:created xsi:type="dcterms:W3CDTF">2025-09-28T18:01:00Z</dcterms:created>
  <dcterms:modified xsi:type="dcterms:W3CDTF">2026-10-16T20:57:32Z</dcterms:modified>
</cp:coreProperties>
</file>