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8" r:id="rId72"/>
    <p:sldId id="327" r:id="rId73"/>
    <p:sldId id="329" r:id="rId74"/>
    <p:sldId id="330" r:id="rId75"/>
    <p:sldId id="331" r:id="rId76"/>
    <p:sldId id="332" r:id="rId77"/>
    <p:sldId id="333" r:id="rId78"/>
    <p:sldId id="335" r:id="rId79"/>
    <p:sldId id="334" r:id="rId80"/>
    <p:sldId id="336" r:id="rId81"/>
    <p:sldId id="338" r:id="rId82"/>
    <p:sldId id="339" r:id="rId83"/>
    <p:sldId id="337" r:id="rId84"/>
    <p:sldId id="341" r:id="rId85"/>
    <p:sldId id="342" r:id="rId86"/>
    <p:sldId id="343" r:id="rId87"/>
    <p:sldId id="344" r:id="rId88"/>
    <p:sldId id="345" r:id="rId89"/>
    <p:sldId id="348" r:id="rId90"/>
    <p:sldId id="346" r:id="rId91"/>
    <p:sldId id="347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3" r:id="rId126"/>
    <p:sldId id="384" r:id="rId127"/>
    <p:sldId id="382" r:id="rId128"/>
    <p:sldId id="386" r:id="rId129"/>
    <p:sldId id="385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400" r:id="rId143"/>
    <p:sldId id="399" r:id="rId144"/>
    <p:sldId id="401" r:id="rId145"/>
    <p:sldId id="402" r:id="rId146"/>
    <p:sldId id="403" r:id="rId147"/>
    <p:sldId id="404" r:id="rId148"/>
    <p:sldId id="405" r:id="rId149"/>
    <p:sldId id="406" r:id="rId150"/>
    <p:sldId id="407" r:id="rId151"/>
    <p:sldId id="408" r:id="rId152"/>
    <p:sldId id="409" r:id="rId153"/>
    <p:sldId id="410" r:id="rId154"/>
    <p:sldId id="411" r:id="rId155"/>
    <p:sldId id="412" r:id="rId156"/>
    <p:sldId id="413" r:id="rId157"/>
    <p:sldId id="414" r:id="rId158"/>
    <p:sldId id="470" r:id="rId159"/>
    <p:sldId id="471" r:id="rId160"/>
    <p:sldId id="472" r:id="rId161"/>
    <p:sldId id="473" r:id="rId162"/>
    <p:sldId id="474" r:id="rId163"/>
    <p:sldId id="475" r:id="rId164"/>
    <p:sldId id="476" r:id="rId165"/>
    <p:sldId id="477" r:id="rId166"/>
    <p:sldId id="478" r:id="rId167"/>
    <p:sldId id="479" r:id="rId168"/>
    <p:sldId id="480" r:id="rId169"/>
    <p:sldId id="481" r:id="rId170"/>
    <p:sldId id="482" r:id="rId171"/>
    <p:sldId id="415" r:id="rId172"/>
    <p:sldId id="416" r:id="rId173"/>
    <p:sldId id="417" r:id="rId174"/>
    <p:sldId id="418" r:id="rId175"/>
    <p:sldId id="423" r:id="rId176"/>
    <p:sldId id="419" r:id="rId177"/>
    <p:sldId id="420" r:id="rId178"/>
    <p:sldId id="421" r:id="rId179"/>
    <p:sldId id="422" r:id="rId180"/>
    <p:sldId id="424" r:id="rId181"/>
    <p:sldId id="425" r:id="rId182"/>
    <p:sldId id="426" r:id="rId183"/>
    <p:sldId id="427" r:id="rId184"/>
    <p:sldId id="428" r:id="rId185"/>
    <p:sldId id="429" r:id="rId186"/>
    <p:sldId id="430" r:id="rId187"/>
    <p:sldId id="431" r:id="rId188"/>
    <p:sldId id="432" r:id="rId189"/>
    <p:sldId id="433" r:id="rId190"/>
    <p:sldId id="434" r:id="rId191"/>
    <p:sldId id="435" r:id="rId192"/>
    <p:sldId id="436" r:id="rId193"/>
    <p:sldId id="437" r:id="rId194"/>
    <p:sldId id="438" r:id="rId195"/>
    <p:sldId id="439" r:id="rId196"/>
    <p:sldId id="440" r:id="rId197"/>
    <p:sldId id="441" r:id="rId198"/>
    <p:sldId id="442" r:id="rId199"/>
    <p:sldId id="447" r:id="rId200"/>
    <p:sldId id="443" r:id="rId201"/>
    <p:sldId id="444" r:id="rId202"/>
    <p:sldId id="445" r:id="rId203"/>
    <p:sldId id="446" r:id="rId204"/>
    <p:sldId id="448" r:id="rId205"/>
    <p:sldId id="449" r:id="rId206"/>
    <p:sldId id="450" r:id="rId207"/>
    <p:sldId id="451" r:id="rId208"/>
    <p:sldId id="452" r:id="rId209"/>
    <p:sldId id="453" r:id="rId210"/>
    <p:sldId id="454" r:id="rId211"/>
    <p:sldId id="455" r:id="rId212"/>
    <p:sldId id="456" r:id="rId213"/>
    <p:sldId id="457" r:id="rId214"/>
    <p:sldId id="458" r:id="rId215"/>
    <p:sldId id="459" r:id="rId216"/>
    <p:sldId id="460" r:id="rId217"/>
    <p:sldId id="461" r:id="rId218"/>
    <p:sldId id="462" r:id="rId219"/>
    <p:sldId id="463" r:id="rId220"/>
    <p:sldId id="464" r:id="rId221"/>
    <p:sldId id="465" r:id="rId222"/>
    <p:sldId id="466" r:id="rId223"/>
    <p:sldId id="467" r:id="rId224"/>
    <p:sldId id="483" r:id="rId225"/>
    <p:sldId id="468" r:id="rId226"/>
    <p:sldId id="469" r:id="rId2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B297147-A0E9-472B-953F-905352E88EDB}">
          <p14:sldIdLst>
            <p14:sldId id="256"/>
            <p14:sldId id="257"/>
            <p14:sldId id="258"/>
            <p14:sldId id="259"/>
            <p14:sldId id="260"/>
          </p14:sldIdLst>
        </p14:section>
        <p14:section name="Файлы" id="{DC06825F-9C93-4301-84F0-AE7C9FC7056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8"/>
            <p14:sldId id="327"/>
          </p14:sldIdLst>
        </p14:section>
        <p14:section name="Реализация файловых систем" id="{94D6519C-A1D1-4CA2-BC9E-5A033A8DEB04}">
          <p14:sldIdLst>
            <p14:sldId id="329"/>
            <p14:sldId id="330"/>
            <p14:sldId id="331"/>
            <p14:sldId id="332"/>
            <p14:sldId id="333"/>
            <p14:sldId id="335"/>
            <p14:sldId id="334"/>
            <p14:sldId id="336"/>
            <p14:sldId id="338"/>
            <p14:sldId id="339"/>
            <p14:sldId id="337"/>
            <p14:sldId id="341"/>
            <p14:sldId id="342"/>
            <p14:sldId id="343"/>
            <p14:sldId id="344"/>
            <p14:sldId id="345"/>
            <p14:sldId id="348"/>
            <p14:sldId id="346"/>
            <p14:sldId id="347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3"/>
            <p14:sldId id="384"/>
            <p14:sldId id="382"/>
            <p14:sldId id="386"/>
            <p14:sldId id="385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400"/>
            <p14:sldId id="399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15"/>
            <p14:sldId id="416"/>
            <p14:sldId id="417"/>
            <p14:sldId id="418"/>
            <p14:sldId id="423"/>
            <p14:sldId id="419"/>
            <p14:sldId id="420"/>
            <p14:sldId id="421"/>
            <p14:sldId id="422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7"/>
            <p14:sldId id="443"/>
            <p14:sldId id="444"/>
            <p14:sldId id="445"/>
            <p14:sldId id="446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83"/>
            <p14:sldId id="468"/>
            <p14:sldId id="4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121" autoAdjust="0"/>
  </p:normalViewPr>
  <p:slideViewPr>
    <p:cSldViewPr snapToGrid="0" showGuides="1">
      <p:cViewPr varScale="1">
        <p:scale>
          <a:sx n="71" d="100"/>
          <a:sy n="71" d="100"/>
        </p:scale>
        <p:origin x="2028" y="28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presProps" Target="presProp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viewProps" Target="view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theme" Target="theme/theme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C0146-8AB6-4B5E-950E-E49A3E51927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A3548-F974-4B28-9500-7C27F0838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3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3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Любое приложение, которое мы запускаем, должно где-то хранить свои данные. Пока программа работает, часть информации можно держать в оперативной памяти. Но объём RAM ограничен — его часто не хватает, особенно если речь идёт о терабайтах данных.</a:t>
            </a:r>
          </a:p>
          <a:p>
            <a:endParaRPr lang="ru-RU" dirty="0"/>
          </a:p>
          <a:p>
            <a:r>
              <a:rPr lang="ru-RU" dirty="0"/>
              <a:t>Более того, оперативная память не сохраняет данные после завершения процесса или отключения питания. Для многих приложений, например баз данных, это неприемлемо — информация должна сохраняться неделями, месяцами и даже годами.</a:t>
            </a:r>
          </a:p>
          <a:p>
            <a:endParaRPr lang="ru-RU" dirty="0"/>
          </a:p>
          <a:p>
            <a:r>
              <a:rPr lang="ru-RU" dirty="0"/>
              <a:t>Наконец, данные часто нужны нескольким процессам одновременно — один записывает, другой читает. Это требует способа хранения, который не зависит от конкретного процесса.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51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решения этих задач используются внешние накопители — жёсткие диски и SSD. Они обеспечивают большой объём и долговечность хранения.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SSD стали популярны, потому что у них нет движущихся частей, они быстрее и надёжнее. Несмотря на разницу в технологии, и HDD, и SSD предоставляют одинаковый интерфейс: возможность читать и записывать блоки данных — операции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такие операции слишком низкоуровневые: представьте, что пользователю нужно искать нужные блоки вручную — это неудобно и неэффективно. Кроме того, в многозадачных ОС блок, который миллисекунду назад был свободен, может оказаться занятым другим процессом. Поэтому ОС предлагает более высокий уровень абстракции.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22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Операционная система вводит понятие </a:t>
            </a:r>
            <a:r>
              <a:rPr lang="ru-RU" b="1" dirty="0"/>
              <a:t>файла</a:t>
            </a:r>
            <a:r>
              <a:rPr lang="ru-RU" dirty="0"/>
              <a:t>. Файл — это логическая единица информации, которую создаёт процесс.</a:t>
            </a:r>
          </a:p>
          <a:p>
            <a:r>
              <a:rPr lang="ru-RU" dirty="0"/>
              <a:t>В отличие от данных в оперативной памяти, файл существует независимо от процесса. Он остаётся в системе после завершения программы и удаляется только по желанию пользователя.</a:t>
            </a:r>
          </a:p>
          <a:p>
            <a:r>
              <a:rPr lang="ru-RU" dirty="0"/>
              <a:t>Процессы могут создавать новые файлы, читать и изменять существующие. Таким образом, файл — это универсальный механизм долговременного хранения информации.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03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Управлением всех файлов занимается </a:t>
            </a:r>
            <a:r>
              <a:rPr lang="ru-RU" b="1" dirty="0"/>
              <a:t>файловая система</a:t>
            </a:r>
            <a:r>
              <a:rPr lang="ru-RU" dirty="0"/>
              <a:t>. Она определяет, как файлы хранятся на диске, как называются, кто имеет к ним доступ, какие операции разрешены.</a:t>
            </a:r>
          </a:p>
          <a:p>
            <a:r>
              <a:rPr lang="ru-RU" dirty="0"/>
              <a:t>С точки зрения пользователя важны имена, структура каталогов, безопасность и удобство работы.</a:t>
            </a:r>
          </a:p>
          <a:p>
            <a:r>
              <a:rPr lang="ru-RU" dirty="0"/>
              <a:t>А вот внутренние детали — например, как ОС отмечает свободные блоки или организует таблицы размещения файлов — интересны уже разработчикам ОС.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13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54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Файл — это не просто набор байтов на диске, а удобная абстракция, с помощью которой пользователь и программа могут хранить и извлекать данные, не задумываясь о технических деталях.</a:t>
            </a:r>
          </a:p>
          <a:p>
            <a:endParaRPr lang="ru-RU" dirty="0"/>
          </a:p>
          <a:p>
            <a:r>
              <a:rPr lang="ru-RU" dirty="0"/>
              <a:t>Когда процесс создаёт файл, он даёт ему имя — именно по этому имени другие процессы смогут обращаться к нему позже. Это делает файл независимым от конкретной программы.</a:t>
            </a:r>
          </a:p>
          <a:p>
            <a:endParaRPr lang="ru-RU" dirty="0"/>
          </a:p>
          <a:p>
            <a:r>
              <a:rPr lang="ru-RU" dirty="0"/>
              <a:t>Таким образом, имя файла — это ключ к информации, а файловая система отвечает за то, чтобы это имя оставалось стабильным и уникальным.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1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Правила именования файлов различаются между операционными системами.</a:t>
            </a:r>
          </a:p>
          <a:p>
            <a:endParaRPr lang="ru-RU" dirty="0"/>
          </a:p>
          <a:p>
            <a:r>
              <a:rPr lang="ru-RU" dirty="0"/>
              <a:t>Например, старый формат FAT16, использовавшийся в MS-DOS и ранних версиях Windows, ограничивал длину имени восьмью символами и тремя символами расширения. Сегодня такие ограничения почти исчезли — мы можем использовать длинные, читаемые имена, включая символы вроде пробела или восклицательного знака.</a:t>
            </a:r>
          </a:p>
          <a:p>
            <a:endParaRPr lang="ru-RU" dirty="0"/>
          </a:p>
          <a:p>
            <a:r>
              <a:rPr lang="ru-RU" dirty="0"/>
              <a:t>Обратите внимание на регистр букв: в UNIX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test.txt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Test.txt</a:t>
            </a:r>
            <a:r>
              <a:rPr lang="ru-RU" dirty="0"/>
              <a:t> — это разные файлы, а в Windows — один и тот же. Это важный момент при переносе программ и данных между системами.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26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Windows унаследовала файловую систему FAT от MS-DOS. FAT16 и FAT32 использовались десятилетиями — они просты, но ограничены по размеру тома и количеству файлов.</a:t>
            </a:r>
          </a:p>
          <a:p>
            <a:endParaRPr lang="ru-RU" dirty="0"/>
          </a:p>
          <a:p>
            <a:r>
              <a:rPr lang="ru-RU" dirty="0"/>
              <a:t>Современные версии Windows перешли на NTFS — более надёжную и защищённую систему с поддержкой прав доступа, журналирования и шифрования.</a:t>
            </a:r>
          </a:p>
          <a:p>
            <a:endParaRPr lang="ru-RU" dirty="0"/>
          </a:p>
          <a:p>
            <a:r>
              <a:rPr lang="ru-RU" dirty="0"/>
              <a:t>Для серверов Microsoft предложила </a:t>
            </a:r>
            <a:r>
              <a:rPr lang="ru-RU" dirty="0" err="1"/>
              <a:t>ReFS</a:t>
            </a:r>
            <a:r>
              <a:rPr lang="ru-RU" dirty="0"/>
              <a:t> — устойчивую файловую систему, а для флешек и внешних накопителей разработала </a:t>
            </a:r>
            <a:r>
              <a:rPr lang="ru-RU" dirty="0" err="1"/>
              <a:t>exFAT</a:t>
            </a:r>
            <a:r>
              <a:rPr lang="ru-RU" dirty="0"/>
              <a:t>, которая стала стандартом для обмена данными между разными устройствами.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51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Расширения — это удобный способ указать, с какими данными мы имеем дело.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— исходный код на C,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jpg</a:t>
            </a:r>
            <a:r>
              <a:rPr lang="ru-RU" dirty="0"/>
              <a:t> — изображение,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</a:t>
            </a:r>
            <a:r>
              <a:rPr lang="ru-RU" dirty="0"/>
              <a:t> — документ.</a:t>
            </a:r>
          </a:p>
          <a:p>
            <a:endParaRPr lang="ru-RU" dirty="0"/>
          </a:p>
          <a:p>
            <a:r>
              <a:rPr lang="ru-RU" dirty="0"/>
              <a:t>В UNIX расширения нужны только человеку — сама ОС не придаёт им значения. Но программы, например компилятор C, могут требовать, чтобы файл заканчивался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Windows всё устроено иначе: система «знает», что делать с каждым типом файла. Расширение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docx</a:t>
            </a:r>
            <a:r>
              <a:rPr lang="ru-RU" dirty="0"/>
              <a:t> связано с Microsoft Word,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.mp3</a:t>
            </a:r>
            <a:r>
              <a:rPr lang="ru-RU" dirty="0"/>
              <a:t> — с медиаплеером. Поэтому, когда пользователь дважды щёлкает по файлу, запускается нужная программа автоматически.</a:t>
            </a:r>
          </a:p>
          <a:p>
            <a:endParaRPr lang="ru-RU" dirty="0"/>
          </a:p>
          <a:p>
            <a:r>
              <a:rPr lang="ru-RU" dirty="0"/>
              <a:t>Это упрощает работу, но делает расширения более критичными — если их изменить, система может «потерять» связь с нужным приложением.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68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Таблица показывает примеры распространённых расширений. Мы видим, что по ним легко определить назначение файла.</a:t>
            </a:r>
          </a:p>
          <a:p>
            <a:r>
              <a:rPr lang="ru-RU" dirty="0"/>
              <a:t>Это облегчает взаимодействие пользователя с системой и программами. Расширения фактически стали универсальным языком обмена между приложениями.</a:t>
            </a:r>
          </a:p>
          <a:p>
            <a:r>
              <a:rPr lang="ru-RU" dirty="0"/>
              <a:t>При этом важно понимать: ОС не всегда проверяет содержимое файла. Например, можно назвать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virus.txt</a:t>
            </a:r>
            <a:r>
              <a:rPr lang="ru-RU" dirty="0"/>
              <a:t>, но внутри может быть исполняемый код. Поэтому расширения — лишь подсказка, а не гарантия безопасности.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4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90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Структура файла определяет, как данные организованы и как к ним можно обращаться.</a:t>
            </a:r>
          </a:p>
          <a:p>
            <a:r>
              <a:rPr lang="ru-RU" dirty="0"/>
              <a:t>Современные операционные системы — такие как UNIX, Linux, </a:t>
            </a:r>
            <a:r>
              <a:rPr lang="ru-RU" dirty="0" err="1"/>
              <a:t>macOS</a:t>
            </a:r>
            <a:r>
              <a:rPr lang="ru-RU" dirty="0"/>
              <a:t> и Windows — рассматривают файл просто как поток байтов. Они не знают, текст это, изображение или исполняемый код. Такой подход универсален и позволяет программам самим решать, как интерпретировать данные.</a:t>
            </a:r>
          </a:p>
          <a:p>
            <a:r>
              <a:rPr lang="ru-RU" dirty="0"/>
              <a:t>Другие модели — последовательности записей и деревья — встречаются реже, но важны для понимания эволюции файловых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32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модели «последовательность байтов» файл — это просто цепочка байтов.</a:t>
            </a:r>
          </a:p>
          <a:p>
            <a:r>
              <a:rPr lang="ru-RU" dirty="0"/>
              <a:t>Операционная система не хранит никакой информации о структуре содержимого. Для неё — это просто набор данных.</a:t>
            </a:r>
          </a:p>
          <a:p>
            <a:r>
              <a:rPr lang="ru-RU" dirty="0"/>
              <a:t>Такой подход делает систему универсальной. Программы сами решают, что значат эти байты: текст, изображение или бинарный код.</a:t>
            </a:r>
          </a:p>
          <a:p>
            <a:r>
              <a:rPr lang="ru-RU" dirty="0"/>
              <a:t>Это основа всех современных ОС: UNIX, Linux, </a:t>
            </a:r>
            <a:r>
              <a:rPr lang="ru-RU" dirty="0" err="1"/>
              <a:t>macOS</a:t>
            </a:r>
            <a:r>
              <a:rPr lang="ru-RU" dirty="0"/>
              <a:t> и Windows используют именно такую модель, поскольку она не ограничивает разработчиков.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56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уровень организации — файлы, состоящие из записей фиксированной длины.</a:t>
            </a:r>
          </a:p>
          <a:p>
            <a:r>
              <a:rPr lang="ru-RU" dirty="0"/>
              <a:t>Это историческая модель, возникшая во времена перфокарт, когда каждая карта имела 80 символов.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Программы тех лет читали данные по одной записи — одной карте — и записывали результат строками для принтера, обычно по 132 символа.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Сегодня такие структуры почти не используются в обычных системах, но их идея легла в основу хранения данных в базах и табличных форматах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56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Третий тип — древовидная структура. Здесь каждая запись имеет ключ, например, имя животного в базе данных зоопарка.</a:t>
            </a:r>
          </a:p>
          <a:p>
            <a:r>
              <a:rPr lang="ru-RU" dirty="0"/>
              <a:t>Операционная система может быстро найти нужную запись по ключу, не просматривая весь файл.</a:t>
            </a:r>
          </a:p>
          <a:p>
            <a:r>
              <a:rPr lang="ru-RU" dirty="0"/>
              <a:t>Добавление новых записей тоже выполняет ОС — она решает, куда их поместить в дереве, чтобы сохранить порядок.</a:t>
            </a:r>
          </a:p>
          <a:p>
            <a:r>
              <a:rPr lang="ru-RU" dirty="0"/>
              <a:t>Такая структура характерна для больших коммерческих систем, где нужно быстро искать и обновлять данные — например, в банковских или складских базах.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96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сравнить три модели, становится очевидно, почему современные ОС используют первую.</a:t>
            </a:r>
          </a:p>
          <a:p>
            <a:r>
              <a:rPr lang="ru-RU" dirty="0"/>
              <a:t>Модель байтового потока максимально гибкая: она не диктует формат и не ограничивает разработчиков.</a:t>
            </a:r>
          </a:p>
          <a:p>
            <a:r>
              <a:rPr lang="ru-RU" dirty="0"/>
              <a:t>Записные и древовидные модели эффективны в узких сценариях, но менее универсальны. Сегодня их принципы используются внутри баз данных и файловых систем, но не как внешний интерфейс для пользователей.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5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0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большинстве операционных систем файлы делятся на несколько категорий.</a:t>
            </a:r>
          </a:p>
          <a:p>
            <a:r>
              <a:rPr lang="ru-RU" dirty="0"/>
              <a:t>Самые привычные — это </a:t>
            </a:r>
            <a:r>
              <a:rPr lang="ru-RU" b="1" dirty="0"/>
              <a:t>обычные файлы</a:t>
            </a:r>
            <a:r>
              <a:rPr lang="ru-RU" dirty="0"/>
              <a:t>, которые содержат пользовательскую информацию: тексты, программы, изображения.</a:t>
            </a:r>
          </a:p>
          <a:p>
            <a:r>
              <a:rPr lang="ru-RU" dirty="0"/>
              <a:t>Второй тип — </a:t>
            </a:r>
            <a:r>
              <a:rPr lang="ru-RU" b="1" dirty="0"/>
              <a:t>каталоги</a:t>
            </a:r>
            <a:r>
              <a:rPr lang="ru-RU" dirty="0"/>
              <a:t>. Это тоже файлы, но они управляют структурой файловой системы и хранят сведения о других файлах.</a:t>
            </a:r>
          </a:p>
          <a:p>
            <a:r>
              <a:rPr lang="ru-RU" dirty="0"/>
              <a:t>Кроме того, UNIX-подобные системы используют </a:t>
            </a:r>
            <a:r>
              <a:rPr lang="ru-RU" b="1" dirty="0"/>
              <a:t>файлы устройств</a:t>
            </a:r>
            <a:r>
              <a:rPr lang="ru-RU" dirty="0"/>
              <a:t>: </a:t>
            </a:r>
            <a:r>
              <a:rPr lang="ru-RU" i="1" dirty="0" err="1"/>
              <a:t>character</a:t>
            </a:r>
            <a:r>
              <a:rPr lang="ru-RU" i="1" dirty="0"/>
              <a:t> </a:t>
            </a:r>
            <a:r>
              <a:rPr lang="ru-RU" i="1" dirty="0" err="1"/>
              <a:t>special</a:t>
            </a:r>
            <a:r>
              <a:rPr lang="ru-RU" dirty="0"/>
              <a:t> моделируют устройства последовательного ввода-вывода (например, терминалы), а </a:t>
            </a:r>
            <a:r>
              <a:rPr lang="ru-RU" i="1" dirty="0" err="1"/>
              <a:t>block</a:t>
            </a:r>
            <a:r>
              <a:rPr lang="ru-RU" i="1" dirty="0"/>
              <a:t> </a:t>
            </a:r>
            <a:r>
              <a:rPr lang="ru-RU" i="1" dirty="0" err="1"/>
              <a:t>special</a:t>
            </a:r>
            <a:r>
              <a:rPr lang="ru-RU" dirty="0"/>
              <a:t> — устройства блочного доступа, такие как диски.</a:t>
            </a:r>
          </a:p>
          <a:p>
            <a:r>
              <a:rPr lang="ru-RU" dirty="0"/>
              <a:t>Это решение делает работу с устройствами унифицированной: в UNIX всё — это файл.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83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Обычные файлы бывают двух типов: </a:t>
            </a:r>
            <a:r>
              <a:rPr lang="ru-RU" b="1" dirty="0"/>
              <a:t>текстовые (ASCII)</a:t>
            </a:r>
            <a:r>
              <a:rPr lang="ru-RU" dirty="0"/>
              <a:t> и </a:t>
            </a:r>
            <a:r>
              <a:rPr lang="ru-RU" b="1" dirty="0"/>
              <a:t>бинарные</a:t>
            </a:r>
            <a:r>
              <a:rPr lang="ru-RU" dirty="0"/>
              <a:t>.</a:t>
            </a:r>
          </a:p>
          <a:p>
            <a:r>
              <a:rPr lang="ru-RU" dirty="0"/>
              <a:t>Текстовые файлы содержат строки символов — их легко открыть, просмотреть и передавать между программами. Это основа совместимости в UNIX: одна программа может выводить текст, а другая — читать его через конвейер.</a:t>
            </a:r>
          </a:p>
          <a:p>
            <a:r>
              <a:rPr lang="ru-RU" dirty="0"/>
              <a:t>Бинарные файлы — это уже формат, понятный только программам, которые их используют. Например, исполняемый файл содержит код, данные, таблицы символов — и всё это в машинном представлении.</a:t>
            </a:r>
          </a:p>
          <a:p>
            <a:r>
              <a:rPr lang="ru-RU" dirty="0"/>
              <a:t>Распечатав бинарный файл, вы увидите лишь хаотичные символы, но для компьютера они имеют чёткое значение.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12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показана типичная структура исполняемого бинарного файла в UNIX. </a:t>
            </a:r>
          </a:p>
          <a:p>
            <a:r>
              <a:rPr lang="ru-RU" dirty="0"/>
              <a:t>На первый взгляд он выглядит как последовательность байтов, но ОС может выполнить этот файл, если он имеет определённый формат.</a:t>
            </a:r>
          </a:p>
          <a:p>
            <a:r>
              <a:rPr lang="ru-RU" dirty="0"/>
              <a:t>Секция </a:t>
            </a:r>
            <a:r>
              <a:rPr lang="ru-RU" b="1" dirty="0" err="1"/>
              <a:t>Header</a:t>
            </a:r>
            <a:r>
              <a:rPr lang="ru-RU" dirty="0"/>
              <a:t> содержит «магическое число» — специальный идентификатор, подтверждающий, что файл можно запускать. Там же указаны размеры частей и адрес точки входа.</a:t>
            </a:r>
          </a:p>
          <a:p>
            <a:r>
              <a:rPr lang="ru-RU" dirty="0"/>
              <a:t>Далее идут сегменты </a:t>
            </a:r>
            <a:r>
              <a:rPr lang="ru-RU" b="1" dirty="0"/>
              <a:t>текста</a:t>
            </a:r>
            <a:r>
              <a:rPr lang="ru-RU" dirty="0"/>
              <a:t> и </a:t>
            </a:r>
            <a:r>
              <a:rPr lang="ru-RU" b="1" dirty="0"/>
              <a:t>данных</a:t>
            </a:r>
            <a:r>
              <a:rPr lang="ru-RU" dirty="0"/>
              <a:t>, которые при запуске загружаются в память.</a:t>
            </a:r>
          </a:p>
          <a:p>
            <a:r>
              <a:rPr lang="ru-RU" dirty="0"/>
              <a:t>Секция </a:t>
            </a:r>
            <a:r>
              <a:rPr lang="ru-RU" b="1" dirty="0" err="1"/>
              <a:t>Relocation</a:t>
            </a:r>
            <a:r>
              <a:rPr lang="ru-RU" b="1" dirty="0"/>
              <a:t> </a:t>
            </a:r>
            <a:r>
              <a:rPr lang="ru-RU" b="1" dirty="0" err="1"/>
              <a:t>bits</a:t>
            </a:r>
            <a:r>
              <a:rPr lang="ru-RU" dirty="0"/>
              <a:t> используется для корректировки адресов при загрузке, а </a:t>
            </a:r>
            <a:r>
              <a:rPr lang="ru-RU" b="1" dirty="0" err="1"/>
              <a:t>symbol</a:t>
            </a:r>
            <a:r>
              <a:rPr lang="ru-RU" b="1" dirty="0"/>
              <a:t> </a:t>
            </a:r>
            <a:r>
              <a:rPr lang="ru-RU" b="1" dirty="0" err="1"/>
              <a:t>table</a:t>
            </a:r>
            <a:r>
              <a:rPr lang="ru-RU" dirty="0"/>
              <a:t> хранит имена функций и переменных — она нужна при отладке.</a:t>
            </a:r>
          </a:p>
          <a:p>
            <a:endParaRPr lang="ru-RU" dirty="0"/>
          </a:p>
          <a:p>
            <a:r>
              <a:rPr lang="ru-RU" dirty="0"/>
              <a:t>Ещё один пример бинарного файла — </a:t>
            </a:r>
            <a:r>
              <a:rPr lang="ru-RU" b="1" dirty="0"/>
              <a:t>архив</a:t>
            </a:r>
            <a:r>
              <a:rPr lang="ru-RU" dirty="0"/>
              <a:t>, содержащий набор готовых модулей.</a:t>
            </a:r>
          </a:p>
          <a:p>
            <a:r>
              <a:rPr lang="ru-RU" dirty="0"/>
              <a:t>Каждый модуль начинается с собственного заголовка, где указаны имя, дата создания, права доступа и размер.</a:t>
            </a:r>
          </a:p>
          <a:p>
            <a:r>
              <a:rPr lang="ru-RU" dirty="0"/>
              <a:t>Такой формат позволяет компоновщику быстро находить нужный модуль при сборке программы.</a:t>
            </a:r>
          </a:p>
          <a:p>
            <a:r>
              <a:rPr lang="ru-RU" dirty="0"/>
              <a:t>Если вывести архив на экран, вы увидите бессмысленный набор символов — ведь это чисто машинные 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123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некоторых старых системах типы файлов были жёстко заданы.</a:t>
            </a:r>
          </a:p>
          <a:p>
            <a:r>
              <a:rPr lang="ru-RU" dirty="0"/>
              <a:t>Например, система TOPS-20 при запуске программы проверяла, не изменился ли исходный код после компиляции, и при необходимости автоматически перекомпилировала его.</a:t>
            </a:r>
          </a:p>
          <a:p>
            <a:r>
              <a:rPr lang="ru-RU" dirty="0"/>
              <a:t>Однако такой подход создавал трудности: если пользователь хотел использовать файл нестандартным образом, ОС просто не позволяла. Поэтому современные системы гораздо гибче — они не навязывают тип, а лишь дают подсказку, например через расширение</a:t>
            </a:r>
          </a:p>
          <a:p>
            <a:endParaRPr lang="ru-RU" dirty="0"/>
          </a:p>
          <a:p>
            <a:r>
              <a:rPr lang="ru-RU" dirty="0"/>
              <a:t>UNIX предлагает инструмент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dirty="0"/>
              <a:t>, который определяет тип файла по его содержимому, а не по расширению.</a:t>
            </a:r>
          </a:p>
          <a:p>
            <a:r>
              <a:rPr lang="ru-RU" dirty="0"/>
              <a:t>Он анализирует начальные байты и применяет эвристики, чтобы распознать текст, изображение, исполняемый код или каталог. Это делает работу более надёжной: даже если вы измените расширение, 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dirty="0"/>
              <a:t> всё равно определит реальный тип. Такой подход отражает философию UNIX — «всё можно узнать, если смотреть на данные напрямую».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063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21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первые операционные системы поддерживали только </a:t>
            </a:r>
            <a:r>
              <a:rPr lang="ru-RU" b="1" dirty="0"/>
              <a:t>последовательный доступ</a:t>
            </a:r>
            <a:r>
              <a:rPr lang="ru-RU" dirty="0"/>
              <a:t>.</a:t>
            </a:r>
          </a:p>
          <a:p>
            <a:r>
              <a:rPr lang="ru-RU" dirty="0"/>
              <a:t>Программа могла читать файл только от начала до конца, байт за байтом. Такой подход идеально подходил для </a:t>
            </a:r>
            <a:r>
              <a:rPr lang="ru-RU" b="1" dirty="0"/>
              <a:t>магнитных лент</a:t>
            </a:r>
            <a:r>
              <a:rPr lang="ru-RU" dirty="0"/>
              <a:t>, где перемотка занимала много времени, а случайный доступ был невозможен.</a:t>
            </a:r>
          </a:p>
          <a:p>
            <a:endParaRPr lang="ru-RU" dirty="0"/>
          </a:p>
          <a:p>
            <a:r>
              <a:rPr lang="ru-RU" dirty="0"/>
              <a:t>С появлением </a:t>
            </a:r>
            <a:r>
              <a:rPr lang="ru-RU" b="1" dirty="0"/>
              <a:t>жёстких дисков</a:t>
            </a:r>
            <a:r>
              <a:rPr lang="ru-RU" dirty="0"/>
              <a:t> ситуация изменилась — теперь можно было переходить к любому месту в файле. Так появился </a:t>
            </a:r>
            <a:r>
              <a:rPr lang="ru-RU" b="1" dirty="0"/>
              <a:t>произвольный доступ (</a:t>
            </a:r>
            <a:r>
              <a:rPr lang="ru-RU" b="1" dirty="0" err="1"/>
              <a:t>random</a:t>
            </a:r>
            <a:r>
              <a:rPr lang="ru-RU" b="1" dirty="0"/>
              <a:t> </a:t>
            </a:r>
            <a:r>
              <a:rPr lang="ru-RU" b="1" dirty="0" err="1"/>
              <a:t>access</a:t>
            </a:r>
            <a:r>
              <a:rPr lang="ru-RU" b="1" dirty="0"/>
              <a:t>)</a:t>
            </a:r>
            <a:r>
              <a:rPr lang="ru-RU" dirty="0"/>
              <a:t>, который стал необходим для приложений, где нужно быстро находить конкретные данные, например в базах данных или системах бронирования авиабилетов.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последовательном доступе данные читаются только в том порядке, в котором они записаны.</a:t>
            </a:r>
          </a:p>
          <a:p>
            <a:r>
              <a:rPr lang="ru-RU" dirty="0"/>
              <a:t>Этот метод прост и подходит для работы с линейными носителями, где последовательность чтения естественна — например, при обработке логов или потоковых данных.</a:t>
            </a:r>
          </a:p>
          <a:p>
            <a:r>
              <a:rPr lang="ru-RU" dirty="0"/>
              <a:t>Хотя можно «перемотать» файл и начать чтение заново, перемещение к произвольной позиции невозможно.</a:t>
            </a:r>
          </a:p>
          <a:p>
            <a:r>
              <a:rPr lang="ru-RU" dirty="0"/>
              <a:t>Сегодня этот тип доступа встречается редко, но он по-прежнему используется в системах потоковой записи и резервного копирования.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70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/>
              <a:t>произвольном доступе</a:t>
            </a:r>
            <a:r>
              <a:rPr lang="ru-RU" dirty="0"/>
              <a:t> программа может обратиться к любому месту файла напрямую.</a:t>
            </a:r>
          </a:p>
          <a:p>
            <a:r>
              <a:rPr lang="ru-RU" dirty="0"/>
              <a:t>Например, если нужно изменить запись №5000, нет необходимости читать первые 4999 — достаточно перейти к нужной позиции.</a:t>
            </a:r>
          </a:p>
          <a:p>
            <a:r>
              <a:rPr lang="ru-RU" dirty="0"/>
              <a:t>В UNIX и Windows для этого используется операция </a:t>
            </a:r>
            <a:r>
              <a:rPr lang="ru-RU" b="1" dirty="0" err="1"/>
              <a:t>seek</a:t>
            </a:r>
            <a:r>
              <a:rPr lang="ru-RU" dirty="0"/>
              <a:t>, которая устанавливает текущую позицию чтения или записи. После этого можно продолжить работу с файлом как обычно. Это делает доступ к данным чрезвычайно быстрым — именно поэтому такой подход обязателен для баз данных, редакторов и современных файловых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642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66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имени и содержимого, каждый файл имеет </a:t>
            </a:r>
            <a:r>
              <a:rPr lang="ru-RU" b="1" dirty="0"/>
              <a:t>набор атрибутов</a:t>
            </a:r>
            <a:r>
              <a:rPr lang="ru-RU" dirty="0"/>
              <a:t>, или метаданных.</a:t>
            </a:r>
          </a:p>
          <a:p>
            <a:r>
              <a:rPr lang="ru-RU" dirty="0"/>
              <a:t>Это информация, которую сама операционная система хранит и обновляет при каждом изменении файла.</a:t>
            </a:r>
          </a:p>
          <a:p>
            <a:r>
              <a:rPr lang="ru-RU" dirty="0"/>
              <a:t>Атрибуты помогают системе знать, кто может читать файл, когда он был изменён, сколько он весит, и нужно ли его, например, скрыть от пользователя.</a:t>
            </a:r>
          </a:p>
          <a:p>
            <a:r>
              <a:rPr lang="ru-RU" dirty="0"/>
              <a:t>Без атрибутов работа файловой системы была бы невозможна — ведь именно они управляют поведением файла и его видимостью.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451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Первая группа атрибутов касается </a:t>
            </a:r>
            <a:r>
              <a:rPr lang="ru-RU" b="1" dirty="0"/>
              <a:t>доступа и защиты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Атрибут </a:t>
            </a:r>
            <a:r>
              <a:rPr lang="ru-RU" i="1" dirty="0"/>
              <a:t>Protection</a:t>
            </a:r>
            <a:r>
              <a:rPr lang="ru-RU" dirty="0"/>
              <a:t> определяет, какие пользователи и с какими правами могут читать, изменять или удалять файл.</a:t>
            </a:r>
          </a:p>
          <a:p>
            <a:r>
              <a:rPr lang="ru-RU" dirty="0"/>
              <a:t>Некоторые системы требуют пароль для открытия — тогда пароль хранится прямо как атрибут.</a:t>
            </a:r>
          </a:p>
          <a:p>
            <a:endParaRPr lang="ru-RU" dirty="0"/>
          </a:p>
          <a:p>
            <a:r>
              <a:rPr lang="ru-RU" dirty="0"/>
              <a:t>Кроме того, сохраняются данные о </a:t>
            </a:r>
            <a:r>
              <a:rPr lang="ru-RU" b="1" dirty="0"/>
              <a:t>создателе</a:t>
            </a:r>
            <a:r>
              <a:rPr lang="ru-RU" dirty="0"/>
              <a:t> файла и его </a:t>
            </a:r>
            <a:r>
              <a:rPr lang="ru-RU" b="1" dirty="0"/>
              <a:t>текущем владельце</a:t>
            </a:r>
            <a:r>
              <a:rPr lang="ru-RU" dirty="0"/>
              <a:t> — это важно в многопользовательских системах, таких как UNIX или Windows Server, где каждый файл принадлежит определённому пользователю или группе.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654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Вторая группа атрибутов — это </a:t>
            </a:r>
            <a:r>
              <a:rPr lang="ru-RU" b="1" dirty="0"/>
              <a:t>флаги</a:t>
            </a:r>
            <a:r>
              <a:rPr lang="ru-RU" dirty="0"/>
              <a:t>, то есть короткие битовые поля, определяющие состояние файла.</a:t>
            </a:r>
          </a:p>
          <a:p>
            <a:r>
              <a:rPr lang="ru-RU" dirty="0"/>
              <a:t>Например, </a:t>
            </a:r>
            <a:r>
              <a:rPr lang="ru-RU" i="1" dirty="0" err="1"/>
              <a:t>Read-only</a:t>
            </a:r>
            <a:r>
              <a:rPr lang="ru-RU" dirty="0"/>
              <a:t> запрещает запись, </a:t>
            </a:r>
            <a:r>
              <a:rPr lang="ru-RU" i="1" dirty="0" err="1"/>
              <a:t>Hidden</a:t>
            </a:r>
            <a:r>
              <a:rPr lang="ru-RU" dirty="0"/>
              <a:t> скрывает файл от обычных пользователей, а </a:t>
            </a:r>
            <a:r>
              <a:rPr lang="ru-RU" i="1" dirty="0"/>
              <a:t>System</a:t>
            </a:r>
            <a:r>
              <a:rPr lang="ru-RU" dirty="0"/>
              <a:t> отмечает служебные файлы ОС.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Флаг </a:t>
            </a:r>
            <a:r>
              <a:rPr lang="ru-RU" i="1" dirty="0" err="1"/>
              <a:t>Archive</a:t>
            </a:r>
            <a:r>
              <a:rPr lang="ru-RU" dirty="0"/>
              <a:t> используется программами резервного копирования: когда файл изменяется, система устанавливает этот флаг, а после успешного бэкапа — программа сбрасывает его.</a:t>
            </a:r>
            <a:endParaRPr lang="en-US" dirty="0"/>
          </a:p>
          <a:p>
            <a:endParaRPr lang="ru-RU" dirty="0"/>
          </a:p>
          <a:p>
            <a:r>
              <a:rPr lang="ru-RU" i="1" dirty="0" err="1"/>
              <a:t>Temporary</a:t>
            </a:r>
            <a:r>
              <a:rPr lang="ru-RU" dirty="0"/>
              <a:t> сообщает ОС, что при закрытии файла можно не записывать его содержимое на носитель, если в ОЗУ достаточно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флаги делают файловую систему «умной»: она знает, как обращаться с каждым файлом без участия пользователя.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90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одна важная категория атрибутов — </a:t>
            </a:r>
            <a:r>
              <a:rPr lang="ru-RU" b="1" dirty="0"/>
              <a:t>время</a:t>
            </a:r>
            <a:r>
              <a:rPr lang="ru-RU" dirty="0"/>
              <a:t>.</a:t>
            </a:r>
          </a:p>
          <a:p>
            <a:r>
              <a:rPr lang="ru-RU" dirty="0"/>
              <a:t>Система хранит дату и время создания, последнего доступа и последнего изменения.</a:t>
            </a:r>
          </a:p>
          <a:p>
            <a:r>
              <a:rPr lang="ru-RU" dirty="0"/>
              <a:t>Эти данные используются для синхронизации и автоматизации. Например, компилятор проверяет: если исходный код изменён позже, чем скомпилированный бинарный файл, — программу нужно перекомпилировать.</a:t>
            </a:r>
          </a:p>
          <a:p>
            <a:r>
              <a:rPr lang="ru-RU" dirty="0"/>
              <a:t>Кроме того, по времени доступа можно определить, какие файлы недавно использовались пользователем, что полезно для оптимизации или аудита.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195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Атрибуты, связанные с размерами и записями, особенно важны для файлов, содержащих структурированные данные.</a:t>
            </a:r>
          </a:p>
          <a:p>
            <a:r>
              <a:rPr lang="ru-RU" i="1" dirty="0"/>
              <a:t>Current </a:t>
            </a:r>
            <a:r>
              <a:rPr lang="ru-RU" i="1" dirty="0" err="1"/>
              <a:t>size</a:t>
            </a:r>
            <a:r>
              <a:rPr lang="ru-RU" dirty="0"/>
              <a:t> показывает фактический объём файла, а </a:t>
            </a:r>
            <a:r>
              <a:rPr lang="ru-RU" i="1" dirty="0" err="1"/>
              <a:t>Maximum</a:t>
            </a:r>
            <a:r>
              <a:rPr lang="ru-RU" i="1" dirty="0"/>
              <a:t> </a:t>
            </a:r>
            <a:r>
              <a:rPr lang="ru-RU" i="1" dirty="0" err="1"/>
              <a:t>size</a:t>
            </a:r>
            <a:r>
              <a:rPr lang="ru-RU" dirty="0"/>
              <a:t> использовался в старых ОС для резервирования места заранее — сегодня это не требуется.</a:t>
            </a:r>
          </a:p>
          <a:p>
            <a:r>
              <a:rPr lang="ru-RU" dirty="0"/>
              <a:t>В системах, где доступ к данным осуществляется по ключам, например в базах данных, дополнительно указываются длина записи, позиция и размер ключевого поля.</a:t>
            </a:r>
          </a:p>
          <a:p>
            <a:r>
              <a:rPr lang="ru-RU" dirty="0"/>
              <a:t>Эти параметры позволяют программам быстро находить нужные данные без полного перебора.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275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видно, как атрибуты отображаются в UNIX.</a:t>
            </a:r>
          </a:p>
          <a:p>
            <a:r>
              <a:rPr lang="ru-RU" dirty="0"/>
              <a:t>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ru-RU" dirty="0"/>
              <a:t> выводит не только имя файла, но и права доступа, владельца, размер и дату изменения.</a:t>
            </a:r>
          </a:p>
          <a:p>
            <a:r>
              <a:rPr lang="ru-RU" dirty="0"/>
              <a:t>Каждый элемент — это часть набора метаданных, которые ОС хранит в структуре, называемой </a:t>
            </a:r>
            <a:r>
              <a:rPr lang="ru-RU" b="1" dirty="0" err="1"/>
              <a:t>inode</a:t>
            </a:r>
            <a:r>
              <a:rPr lang="ru-RU" dirty="0"/>
              <a:t>.</a:t>
            </a:r>
          </a:p>
          <a:p>
            <a:r>
              <a:rPr lang="ru-RU" dirty="0"/>
              <a:t>Благодаря этим данным система знает, кто имеет право читать файл, сколько он весит, и когда был изменён. Всё это делает файловую систему надёжной и управляемой.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657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046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приложения могли работать с файлами, операционная система предоставляет стандартный набор системных вызовов.</a:t>
            </a:r>
          </a:p>
          <a:p>
            <a:r>
              <a:rPr lang="ru-RU" dirty="0"/>
              <a:t>Эти вызовы делятся на несколько групп: создание и удаление файлов, открытие и закрытие, операции ввода-вывода, управление текущей позицией и работа с атрибутами.</a:t>
            </a:r>
          </a:p>
          <a:p>
            <a:r>
              <a:rPr lang="ru-RU" dirty="0"/>
              <a:t>Они образуют универсальный интерфейс, с помощью которого любая программа может взаимодействовать с файловой системой, независимо от того, работает ли она в Windows, UNIX или Linux.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289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Операция </a:t>
            </a:r>
            <a:r>
              <a:rPr lang="ru-RU" b="1" dirty="0" err="1"/>
              <a:t>Create</a:t>
            </a:r>
            <a:r>
              <a:rPr lang="ru-RU" dirty="0"/>
              <a:t> создаёт новый файл — обычно пустой, но уже со всеми нужными атрибутами: владельцем, правами доступа, метками времени.</a:t>
            </a:r>
          </a:p>
          <a:p>
            <a:r>
              <a:rPr lang="ru-RU" dirty="0"/>
              <a:t>Когда файл больше не нужен, используется операция </a:t>
            </a:r>
            <a:r>
              <a:rPr lang="ru-RU" b="1" dirty="0" err="1"/>
              <a:t>Delete</a:t>
            </a:r>
            <a:r>
              <a:rPr lang="ru-RU" dirty="0"/>
              <a:t>, которая не только удаляет его из каталога, но и освобождает блоки диска.</a:t>
            </a:r>
          </a:p>
          <a:p>
            <a:r>
              <a:rPr lang="ru-RU" dirty="0"/>
              <a:t>Это критически важно, потому что без удаления файлов диск быстро заполнился бы мусором.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257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работой с файлом его необходимо </a:t>
            </a:r>
            <a:r>
              <a:rPr lang="ru-RU" b="1" dirty="0"/>
              <a:t>открыть</a:t>
            </a:r>
            <a:r>
              <a:rPr lang="ru-RU" dirty="0"/>
              <a:t>.</a:t>
            </a:r>
          </a:p>
          <a:p>
            <a:r>
              <a:rPr lang="ru-RU" dirty="0"/>
              <a:t>При этом операционная система считывает важные данные — атрибуты и таблицу блоков — и размещает их в оперативной памяти, чтобы последующие операции выполнялись быстрее.</a:t>
            </a:r>
          </a:p>
          <a:p>
            <a:r>
              <a:rPr lang="ru-RU" dirty="0"/>
              <a:t>После завершения работы вызывается </a:t>
            </a:r>
            <a:r>
              <a:rPr lang="ru-RU" b="1" dirty="0" err="1"/>
              <a:t>Close</a:t>
            </a:r>
            <a:r>
              <a:rPr lang="ru-RU" dirty="0"/>
              <a:t>. Это освобождает ресурсы и гарантирует, что последний блок данных будет записан на диск, даже если он неполный.</a:t>
            </a:r>
          </a:p>
          <a:p>
            <a:r>
              <a:rPr lang="ru-RU" dirty="0"/>
              <a:t>Многие ОС ограничивают количество одновременно открытых файлов, что стимулирует разработчиков не забывать закрывать файлы.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746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Read</a:t>
            </a:r>
            <a:r>
              <a:rPr lang="ru-RU" dirty="0"/>
              <a:t> — читает данные из файла в буфер программы.</a:t>
            </a:r>
          </a:p>
          <a:p>
            <a:r>
              <a:rPr lang="ru-RU" b="1" dirty="0" err="1"/>
              <a:t>Write</a:t>
            </a:r>
            <a:r>
              <a:rPr lang="ru-RU" dirty="0"/>
              <a:t> — записывает данные. Если текущая позиция находится в середине файла, данные будут перезаписаны — прежнее содержимое теряется навсегда. Если позиция стоит на конце файла, файл увеличится.</a:t>
            </a:r>
          </a:p>
          <a:p>
            <a:r>
              <a:rPr lang="ru-RU" b="1" dirty="0" err="1"/>
              <a:t>Append</a:t>
            </a:r>
            <a:r>
              <a:rPr lang="ru-RU" dirty="0"/>
              <a:t> позволяет добавлять данные только в конец файла. Такой вызов удобен для логов или журналов, где важно не перезаписывать старую информацию.</a:t>
            </a:r>
          </a:p>
          <a:p>
            <a:r>
              <a:rPr lang="ru-RU" dirty="0"/>
              <a:t>Некоторые системы не имеют отдельного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</a:t>
            </a:r>
            <a:r>
              <a:rPr lang="ru-RU" dirty="0"/>
              <a:t>, потому что его можно реализовать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336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Операция </a:t>
            </a:r>
            <a:r>
              <a:rPr lang="ru-RU" b="1" dirty="0" err="1"/>
              <a:t>seek</a:t>
            </a:r>
            <a:r>
              <a:rPr lang="ru-RU" dirty="0"/>
              <a:t> — основа произвольного доступа к файлу.</a:t>
            </a:r>
          </a:p>
          <a:p>
            <a:r>
              <a:rPr lang="ru-RU" dirty="0"/>
              <a:t>Она позволяет указать, откуда продолжать чтение или запись. После её выполнения файл ведёт себя как при обычном последовательном доступе, но начинается работа с новой позиции.</a:t>
            </a:r>
          </a:p>
          <a:p>
            <a:r>
              <a:rPr lang="ru-RU" dirty="0"/>
              <a:t>Благодаря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ru-RU" dirty="0"/>
              <a:t> программы могут быстро находить нужные записи — например, в базе данных или большом журнале.</a:t>
            </a:r>
          </a:p>
          <a:p>
            <a:r>
              <a:rPr lang="ru-RU" dirty="0"/>
              <a:t>В UNIX и Windows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ru-RU" dirty="0"/>
              <a:t> обеспечивает мощный и гибкий доступ к файлам.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720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Многие программы используют атрибуты файлов для принятия решений.</a:t>
            </a:r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ru-RU" dirty="0"/>
              <a:t> проверяет: если код изменён позже, чем объектный файл, нужно перекомпилировать программу. Для этого он использует вызов </a:t>
            </a:r>
            <a:r>
              <a:rPr lang="ru-RU" b="1" dirty="0"/>
              <a:t>Get </a:t>
            </a:r>
            <a:r>
              <a:rPr lang="ru-RU" b="1" dirty="0" err="1"/>
              <a:t>attributes</a:t>
            </a:r>
            <a:r>
              <a:rPr lang="ru-RU" dirty="0"/>
              <a:t>.</a:t>
            </a:r>
          </a:p>
          <a:p>
            <a:r>
              <a:rPr lang="ru-RU" dirty="0"/>
              <a:t>Другие атрибуты — например, права доступа — могут быть изменены пользователем с помощью </a:t>
            </a:r>
            <a:r>
              <a:rPr lang="ru-RU" b="1" dirty="0" err="1"/>
              <a:t>Set</a:t>
            </a:r>
            <a:r>
              <a:rPr lang="ru-RU" b="1" dirty="0"/>
              <a:t> </a:t>
            </a:r>
            <a:r>
              <a:rPr lang="ru-RU" b="1" dirty="0" err="1"/>
              <a:t>attributes</a:t>
            </a:r>
            <a:r>
              <a:rPr lang="ru-RU" dirty="0"/>
              <a:t>.</a:t>
            </a:r>
          </a:p>
          <a:p>
            <a:r>
              <a:rPr lang="ru-RU" dirty="0"/>
              <a:t>Это ключевой элемент управления безопасностью и организацией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523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Вызов </a:t>
            </a:r>
            <a:r>
              <a:rPr lang="ru-RU" b="1" dirty="0" err="1"/>
              <a:t>Rename</a:t>
            </a:r>
            <a:r>
              <a:rPr lang="ru-RU" dirty="0"/>
              <a:t> переименовывает файл, не перемещая и не копируя его содержимое.</a:t>
            </a:r>
          </a:p>
          <a:p>
            <a:r>
              <a:rPr lang="ru-RU" dirty="0"/>
              <a:t>Внутри операционной системы это просто изменение записи в каталоге.</a:t>
            </a:r>
          </a:p>
          <a:p>
            <a:r>
              <a:rPr lang="ru-RU" dirty="0"/>
              <a:t>В противном случае, чтобы переименовать 50-гигабайтный файл, пришлось бы скопировать его в новый файл и удалить старый — это заняло бы огромное количество времени.</a:t>
            </a:r>
          </a:p>
          <a:p>
            <a:r>
              <a:rPr lang="ru-RU" dirty="0"/>
              <a:t>Поэтому отдельный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rename</a:t>
            </a:r>
            <a:r>
              <a:rPr lang="ru-RU" dirty="0"/>
              <a:t> — обязательная часть любой современной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570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094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Программа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copyfile</a:t>
            </a:r>
            <a:r>
              <a:rPr lang="ru-RU" dirty="0"/>
              <a:t> получает два аргумента командной строки: имя исходного файла и имя файла назначения. Она открывает первый файл для чтения, создаёт второй для записи, затем в цикле читает фрагменты по 4096 байт и записывает их в выходной файл.</a:t>
            </a:r>
          </a:p>
          <a:p>
            <a:r>
              <a:rPr lang="ru-RU" dirty="0"/>
              <a:t>Ключевые элементы программы: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открывает файл и возвращает файловый дескриптор;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создаёт файл и задаёт режим защиты;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количество реально прочитанных байтов;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записывает эти байты в выходной файл;</a:t>
            </a:r>
          </a:p>
          <a:p>
            <a:r>
              <a:rPr lang="ru-RU" dirty="0"/>
              <a:t>цикл завершается, 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0 (достигнут конец файла);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закрывает оба файла;</a:t>
            </a:r>
          </a:p>
          <a:p>
            <a:r>
              <a:rPr lang="ru-RU" dirty="0"/>
              <a:t>завершение с кодом 0 означает успех.</a:t>
            </a:r>
          </a:p>
          <a:p>
            <a:r>
              <a:rPr lang="ru-RU" dirty="0"/>
              <a:t>Этот пример демонстрирует, как программы взаимодействуют с файловой системой на низком уровне.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949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362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Каталог — это файл, который содержит записи о других файлах.</a:t>
            </a:r>
          </a:p>
          <a:p>
            <a:r>
              <a:rPr lang="ru-RU" dirty="0"/>
              <a:t>Его задача — организовать хранение данных так, чтобы пользователь мог легко находить, создавать и удалять файлы.</a:t>
            </a:r>
          </a:p>
          <a:p>
            <a:r>
              <a:rPr lang="ru-RU" dirty="0"/>
              <a:t>Каталог содержит имена файлов и ссылки на их атрибуты, такие как права, размеры и место на диске.</a:t>
            </a:r>
          </a:p>
          <a:p>
            <a:r>
              <a:rPr lang="ru-RU" dirty="0"/>
              <a:t>Все современные файловые системы используют каталоги, причём каталоги сами являются файлами — просто особого типа.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709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Самая простая форма организации — это система, где есть </a:t>
            </a:r>
            <a:r>
              <a:rPr lang="ru-RU" b="1" dirty="0"/>
              <a:t>только один каталог</a:t>
            </a:r>
            <a:r>
              <a:rPr lang="ru-RU" dirty="0"/>
              <a:t>.</a:t>
            </a:r>
          </a:p>
          <a:p>
            <a:r>
              <a:rPr lang="ru-RU" dirty="0"/>
              <a:t>Все файлы помещаются в него, имена обязательно уникальны, никаких подкаталогов нет.</a:t>
            </a:r>
          </a:p>
          <a:p>
            <a:r>
              <a:rPr lang="ru-RU" dirty="0"/>
              <a:t>Такое решение встречалось на ранних персональных компьютерах и даже на суперкомпьютере CDC 6600.</a:t>
            </a:r>
          </a:p>
          <a:p>
            <a:r>
              <a:rPr lang="ru-RU" dirty="0"/>
              <a:t>Несмотря на примитивность, у него есть достоинства: оно простое и очень быстрое — искать файл можно только в одном месте.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919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Такое устройство каталогов имеет очевидные преимущества — прежде всего простоту.</a:t>
            </a:r>
          </a:p>
          <a:p>
            <a:r>
              <a:rPr lang="ru-RU" dirty="0"/>
              <a:t>Оно идеально подходит для устройств с минимальными ресурсами: там, где нет многопользовательских сценариев, нет сложных структур данных, и файлов мало.</a:t>
            </a:r>
          </a:p>
          <a:p>
            <a:r>
              <a:rPr lang="ru-RU" dirty="0"/>
              <a:t>Однако при увеличении числа файлов возникают проблемы: отсутствие группировки, невозможность создавать подкаталоги, невозможность двух пользователей иметь файлы с одинаковыми именами.</a:t>
            </a:r>
          </a:p>
          <a:p>
            <a:r>
              <a:rPr lang="ru-RU" dirty="0"/>
              <a:t>Поэтому в современных ОС одноуровневые каталоги не применяются, но в маленьких встроенных системах — очень даже.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649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Автор подчёркивает интересный исторический цикл: идеи, от которых отказываются в больших системах, через годы возвращаются в маленьких устройствах.</a:t>
            </a:r>
          </a:p>
          <a:p>
            <a:r>
              <a:rPr lang="ru-RU" dirty="0"/>
              <a:t>Одноуровневый каталог — отличный пример. Он был слишком прост для современных компьютеров, но идеально подходит для микроконтроллеров, RFID-чипов или цифровых камер.</a:t>
            </a:r>
          </a:p>
          <a:p>
            <a:r>
              <a:rPr lang="ru-RU" dirty="0"/>
              <a:t>В таких устройствах нет сложных требований, нет многопользовательского режима, файлов мало — и простота становится преимуществом.</a:t>
            </a:r>
          </a:p>
          <a:p>
            <a:r>
              <a:rPr lang="ru-RU" dirty="0"/>
              <a:t>Поэтому, когда вы видите что-то «устаревшее» — подумайте, где это может оказаться полезным сегодня.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09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2774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Одноуровневая система каталогов — слишком примитивна для реальной работы.</a:t>
            </a:r>
          </a:p>
          <a:p>
            <a:r>
              <a:rPr lang="ru-RU" dirty="0"/>
              <a:t>Современные пользователи хранят тысячи файлов: документы, проекты, программы, фотографии, архивы. Если бы все они лежали в одном списке, найти нужный было бы практически невозможно.</a:t>
            </a:r>
          </a:p>
          <a:p>
            <a:r>
              <a:rPr lang="ru-RU" dirty="0"/>
              <a:t>Поэтому используется иерархическая структура — дерево каталогов. Она позволяет группировать файлы по тематике, проектам или владельцам и обеспечивает порядок в большой файловой системе.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94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001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многопользовательских системах файловая система используется сразу многими людьми.</a:t>
            </a:r>
          </a:p>
          <a:p>
            <a:r>
              <a:rPr lang="ru-RU" dirty="0"/>
              <a:t>Чтобы разделить их данные, каждому создаётся собственный </a:t>
            </a:r>
            <a:r>
              <a:rPr lang="ru-RU" b="1" dirty="0"/>
              <a:t>домашний каталог</a:t>
            </a:r>
            <a:r>
              <a:rPr lang="ru-RU" dirty="0"/>
              <a:t>, который служит корнем его личной иерархии.</a:t>
            </a:r>
          </a:p>
          <a:p>
            <a:r>
              <a:rPr lang="ru-RU" dirty="0"/>
              <a:t>Внутри него пользователь может организовать файлы так, как считает нужным: создавать папки под отдельные проекты, архивы, документы и т. д.</a:t>
            </a:r>
          </a:p>
          <a:p>
            <a:r>
              <a:rPr lang="ru-RU" dirty="0"/>
              <a:t>Это не только удобно, но и обеспечивает безопасность — пользователи не мешают друг другу.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146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Главные преимущества иерархических каталогов — гибкость и масштабируемость.</a:t>
            </a:r>
          </a:p>
          <a:p>
            <a:r>
              <a:rPr lang="ru-RU" dirty="0"/>
              <a:t>Пользователь может создать сколь угодно глубокое дерево, отражающее структуру его работы. Например, каталог курса → лабораторные → по неделям → по студентам.</a:t>
            </a:r>
          </a:p>
          <a:p>
            <a:r>
              <a:rPr lang="ru-RU" dirty="0"/>
              <a:t>Такая модель хорошо соответствует реальной организации информации и значительно упрощает навигацию.</a:t>
            </a:r>
          </a:p>
          <a:p>
            <a:r>
              <a:rPr lang="ru-RU" dirty="0"/>
              <a:t>Именно поэтому все современные операционные системы — от Linux до Windows и </a:t>
            </a:r>
            <a:r>
              <a:rPr lang="ru-RU" dirty="0" err="1"/>
              <a:t>macOS</a:t>
            </a:r>
            <a:r>
              <a:rPr lang="ru-RU" dirty="0"/>
              <a:t> — используют иерархические каталоги.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513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Интересно, что идея иерархических каталогов не возникла сразу.</a:t>
            </a:r>
          </a:p>
          <a:p>
            <a:r>
              <a:rPr lang="ru-RU" dirty="0"/>
              <a:t>Она появилась в системе </a:t>
            </a:r>
            <a:r>
              <a:rPr lang="ru-RU" b="1" dirty="0" err="1"/>
              <a:t>Multics</a:t>
            </a:r>
            <a:r>
              <a:rPr lang="ru-RU" dirty="0"/>
              <a:t> — уникальной и очень передовой ОС 1960-х годов, от которой позже пошёл UNIX.</a:t>
            </a:r>
          </a:p>
          <a:p>
            <a:r>
              <a:rPr lang="ru-RU" dirty="0"/>
              <a:t>Многие идеи </a:t>
            </a:r>
            <a:r>
              <a:rPr lang="ru-RU" dirty="0" err="1"/>
              <a:t>Multics</a:t>
            </a:r>
            <a:r>
              <a:rPr lang="ru-RU" dirty="0"/>
              <a:t> стали стандартом, включая дерево каталогов.</a:t>
            </a:r>
          </a:p>
          <a:p>
            <a:r>
              <a:rPr lang="ru-RU" dirty="0"/>
              <a:t>Сегодня трудно представить файловую систему без иерархии — это настолько привычно, что кажется само собой разумеющимся. Но когда-то это была революция в организации данных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852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927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иерархии каталогов важно уметь точно указать, где находится файл.</a:t>
            </a:r>
          </a:p>
          <a:p>
            <a:r>
              <a:rPr lang="ru-RU" dirty="0"/>
              <a:t>Для этого используются два типа путей: абсолютные и относительные.</a:t>
            </a:r>
          </a:p>
          <a:p>
            <a:r>
              <a:rPr lang="ru-RU" dirty="0"/>
              <a:t>Абсолютный путь всегда начинается от корня и однозначно определяет местоположение.</a:t>
            </a:r>
          </a:p>
          <a:p>
            <a:r>
              <a:rPr lang="ru-RU" dirty="0"/>
              <a:t>Относительный — интерпретируется относительно текущего рабочего каталога процесса.</a:t>
            </a:r>
          </a:p>
          <a:p>
            <a:r>
              <a:rPr lang="ru-RU" dirty="0"/>
              <a:t>В реальной работе оба варианта активно используются.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308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Абсолютный путь — это полный маршрут от корневого каталога до файла.</a:t>
            </a:r>
          </a:p>
          <a:p>
            <a:r>
              <a:rPr lang="ru-RU" dirty="0"/>
              <a:t>В UNIX используется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, в Windows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ru-RU" dirty="0"/>
              <a:t>, в MULTICS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r>
              <a:rPr lang="ru-RU" dirty="0"/>
              <a:t>Абсолютные пути хороши тем, что не зависят от текущего каталога. Они всегда приводят к одному и тому же файлу.</a:t>
            </a:r>
          </a:p>
          <a:p>
            <a:r>
              <a:rPr lang="ru-RU" dirty="0"/>
              <a:t>Поэтому программы, которым нужно гарантированно получить доступ к определённому файлу, обязаны использовать абсолютные пути.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3349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Относительные пути не начинаются с разделителя.</a:t>
            </a:r>
          </a:p>
          <a:p>
            <a:r>
              <a:rPr lang="ru-RU" dirty="0"/>
              <a:t>Они интерпретируются относительно </a:t>
            </a:r>
            <a:r>
              <a:rPr lang="ru-RU" b="1" dirty="0"/>
              <a:t>рабочего каталога</a:t>
            </a:r>
            <a:r>
              <a:rPr lang="ru-RU" dirty="0"/>
              <a:t>, который есть у каждого процесса.</a:t>
            </a:r>
          </a:p>
          <a:p>
            <a:r>
              <a:rPr lang="ru-RU" dirty="0"/>
              <a:t>Например, если рабочий каталог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dirty="0"/>
              <a:t>, то имя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dirty="0"/>
              <a:t> эквивалентно полному пути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dirty="0"/>
              <a:t>.</a:t>
            </a:r>
          </a:p>
          <a:p>
            <a:r>
              <a:rPr lang="ru-RU" dirty="0"/>
              <a:t>Пользователю намного удобнее работать с короткими относительными путями.</a:t>
            </a:r>
          </a:p>
          <a:p>
            <a:r>
              <a:rPr lang="ru-RU" dirty="0"/>
              <a:t>Однако программы должны быть осторожны: если рабочий каталог неизвестен, лучше использовать абсолютный путь.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2121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видно, как работает относительный путь.</a:t>
            </a:r>
          </a:p>
          <a:p>
            <a:r>
              <a:rPr lang="ru-RU" dirty="0"/>
              <a:t>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mailbox.bak</a:t>
            </a:r>
            <a:r>
              <a:rPr lang="ru-RU" dirty="0"/>
              <a:t> использует абсолютные пути.</a:t>
            </a:r>
          </a:p>
          <a:p>
            <a:r>
              <a:rPr lang="ru-RU" dirty="0"/>
              <a:t>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mailbox.bak</a:t>
            </a:r>
            <a:r>
              <a:rPr lang="ru-RU" dirty="0"/>
              <a:t> делает то же самое, потому что файл находится в текущем каталоге.</a:t>
            </a:r>
          </a:p>
          <a:p>
            <a:r>
              <a:rPr lang="ru-RU" dirty="0"/>
              <a:t>Это показывает, что относительные пути — всего лишь удобное сокращение.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7602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некоторых ситуациях относительные пути неприемлемы.</a:t>
            </a:r>
          </a:p>
          <a:p>
            <a:r>
              <a:rPr lang="ru-RU" dirty="0"/>
              <a:t>Например, программа проверки орфографии должна всегда открывать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dictionary</a:t>
            </a:r>
            <a:r>
              <a:rPr lang="ru-RU" dirty="0"/>
              <a:t>.</a:t>
            </a:r>
          </a:p>
          <a:p>
            <a:r>
              <a:rPr lang="ru-RU" dirty="0"/>
              <a:t>Она не может полагаться на то, в каком каталоге её запустил пользователь.</a:t>
            </a:r>
          </a:p>
          <a:p>
            <a:r>
              <a:rPr lang="ru-RU" dirty="0"/>
              <a:t>Абсолютные пути дают гарантированный результат и позволяют избежать ошибок.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729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Каждый процесс имеет свой собственный рабочий каталог и может менять его.</a:t>
            </a:r>
          </a:p>
          <a:p>
            <a:r>
              <a:rPr lang="ru-RU" dirty="0"/>
              <a:t>Это изменение локально — оно не влияет на другие процессы.</a:t>
            </a:r>
          </a:p>
          <a:p>
            <a:r>
              <a:rPr lang="ru-RU" dirty="0"/>
              <a:t>Однако библиотечные функции избегают изменения каталога, потому что это может нарушить работу остальной программы.</a:t>
            </a:r>
          </a:p>
          <a:p>
            <a:r>
              <a:rPr lang="ru-RU" dirty="0"/>
              <a:t>Если им всё же приходится делать это, они обязаны вернуть каталог обратно.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5250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любом каталоге существуют два специальных элемента: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</a:t>
            </a:r>
            <a:r>
              <a:rPr lang="ru-RU" dirty="0"/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означает текущий каталог,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</a:t>
            </a:r>
            <a:r>
              <a:rPr lang="ru-RU" dirty="0"/>
              <a:t> — его родителя.</a:t>
            </a:r>
          </a:p>
          <a:p>
            <a:r>
              <a:rPr lang="ru-RU" dirty="0"/>
              <a:t>Эти обозначения позволяют легко перемещаться по дереву каталогов, не вводя длинные пути.</a:t>
            </a:r>
          </a:p>
          <a:p>
            <a:r>
              <a:rPr lang="ru-RU" dirty="0"/>
              <a:t>Например: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../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dictionary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</a:t>
            </a:r>
            <a:br>
              <a:rPr lang="ru-RU" dirty="0"/>
            </a:br>
            <a:r>
              <a:rPr lang="ru-RU" dirty="0"/>
              <a:t>копирует файл из соседнего каталога в текущий.</a:t>
            </a:r>
          </a:p>
          <a:p>
            <a:r>
              <a:rPr lang="ru-RU" dirty="0"/>
              <a:t>Это удобный и мощный механизм, который используют все UNIX-подобные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4880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7888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Каталоги — это ключевой элемент файловой системы, и операционная система предоставляет специальные вызовы для управления ими.</a:t>
            </a:r>
          </a:p>
          <a:p>
            <a:r>
              <a:rPr lang="ru-RU" dirty="0"/>
              <a:t>Большинство операций напоминают работу с обычными файлами: каталоги тоже можно открывать, читать, закрывать и переименовывать.</a:t>
            </a:r>
          </a:p>
          <a:p>
            <a:r>
              <a:rPr lang="ru-RU" dirty="0"/>
              <a:t>Есть и особые операции — например, создание жёстких ссылок или удаление записи каталога. Эти механизмы определяют, как файлы появляются в каталоге, как исчезают и как могут иметь несколько имён.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050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Команда или системный вызов </a:t>
            </a:r>
            <a:r>
              <a:rPr lang="ru-RU" b="1" dirty="0" err="1"/>
              <a:t>mkdir</a:t>
            </a:r>
            <a:r>
              <a:rPr lang="ru-RU" dirty="0"/>
              <a:t> создаёт каталог, который по умолчанию содержит два элемента: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— сам каталог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</a:t>
            </a:r>
            <a:r>
              <a:rPr lang="ru-RU" dirty="0"/>
              <a:t> — ссылку на родителя.</a:t>
            </a:r>
          </a:p>
          <a:p>
            <a:r>
              <a:rPr lang="ru-RU" dirty="0"/>
              <a:t>Удаление каталога возможно только тогда, когда он пуст — то есть содержит только эти две специальные записи. Это предотвращает случайное удаление данных.</a:t>
            </a:r>
          </a:p>
          <a:p>
            <a:r>
              <a:rPr lang="ru-RU" dirty="0"/>
              <a:t>Такой подход обеспечивает целостность структуры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8728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прочитать содержимое каталога, его необходимо открыть с помощью </a:t>
            </a:r>
            <a:r>
              <a:rPr lang="ru-RU" b="1" dirty="0" err="1"/>
              <a:t>opendir</a:t>
            </a:r>
            <a:r>
              <a:rPr lang="ru-RU" dirty="0"/>
              <a:t>.</a:t>
            </a:r>
          </a:p>
          <a:p>
            <a:r>
              <a:rPr lang="ru-RU" dirty="0"/>
              <a:t>В цикле вызывается </a:t>
            </a:r>
            <a:r>
              <a:rPr lang="ru-RU" b="1" dirty="0" err="1"/>
              <a:t>readdir</a:t>
            </a:r>
            <a:r>
              <a:rPr lang="ru-RU" dirty="0"/>
              <a:t>, который возвращает по одной записи — имя файла или подкаталога.</a:t>
            </a:r>
          </a:p>
          <a:p>
            <a:r>
              <a:rPr lang="ru-RU" dirty="0"/>
              <a:t>Так работает, например, 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dirty="0"/>
              <a:t>.</a:t>
            </a:r>
          </a:p>
          <a:p>
            <a:r>
              <a:rPr lang="ru-RU" dirty="0"/>
              <a:t>Раньше было возможно читать каталоги обычным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, но это требовало знания внутреннего формата каталога — а он различается между файловыми системами.</a:t>
            </a:r>
          </a:p>
          <a:p>
            <a:r>
              <a:rPr lang="ru-RU" dirty="0"/>
              <a:t>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readdir</a:t>
            </a:r>
            <a:r>
              <a:rPr lang="ru-RU" dirty="0"/>
              <a:t> делает интерфейс унифицированным и защищает программы от несовместимостей.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1691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Операция </a:t>
            </a:r>
            <a:r>
              <a:rPr lang="ru-RU" b="1" dirty="0" err="1"/>
              <a:t>rename</a:t>
            </a:r>
            <a:r>
              <a:rPr lang="ru-RU" dirty="0"/>
              <a:t> для каталога работает точно так же, как для файла.</a:t>
            </a:r>
          </a:p>
          <a:p>
            <a:r>
              <a:rPr lang="ru-RU" dirty="0"/>
              <a:t>Каталог остаётся тем же, меняется только имя в списке его родителя.</a:t>
            </a:r>
          </a:p>
          <a:p>
            <a:r>
              <a:rPr lang="ru-RU" dirty="0"/>
              <a:t>Это дёшево и эффективно: каталоги не копируются и не перемещаются физически, меняется только запись в структуре каталога.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144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Жёсткая ссылка — это дополнительное имя для существующего файла.</a:t>
            </a:r>
          </a:p>
          <a:p>
            <a:r>
              <a:rPr lang="ru-RU" dirty="0"/>
              <a:t>Запись в каталоге указывает на тот же </a:t>
            </a:r>
            <a:r>
              <a:rPr lang="ru-RU" dirty="0" err="1"/>
              <a:t>inode</a:t>
            </a:r>
            <a:r>
              <a:rPr lang="ru-RU" dirty="0"/>
              <a:t>, что и исходный файл.</a:t>
            </a:r>
          </a:p>
          <a:p>
            <a:r>
              <a:rPr lang="ru-RU" dirty="0" err="1"/>
              <a:t>inode</a:t>
            </a:r>
            <a:r>
              <a:rPr lang="ru-RU" dirty="0"/>
              <a:t> содержит счётчик ссылок: пока он больше нуля, файл существует.</a:t>
            </a:r>
          </a:p>
          <a:p>
            <a:r>
              <a:rPr lang="ru-RU" dirty="0"/>
              <a:t>Такой механизм делает хранение эффективным: данные не копируются.</a:t>
            </a:r>
          </a:p>
          <a:p>
            <a:r>
              <a:rPr lang="ru-RU" dirty="0"/>
              <a:t>Есть ограничения: жёсткие ссылки работают только внутри одного диска, и в UNIX нельзя делать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link</a:t>
            </a:r>
            <a:r>
              <a:rPr lang="ru-RU" dirty="0"/>
              <a:t> на каталоги, чтобы избежать циклов в дереве.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7180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Вызов </a:t>
            </a:r>
            <a:r>
              <a:rPr lang="ru-RU" b="1" dirty="0" err="1"/>
              <a:t>unlink</a:t>
            </a:r>
            <a:r>
              <a:rPr lang="ru-RU" dirty="0"/>
              <a:t> удаляет запись каталога.</a:t>
            </a:r>
          </a:p>
          <a:p>
            <a:r>
              <a:rPr lang="ru-RU" dirty="0"/>
              <a:t>Если это была единственная ссылка на файл, система удаляет и </a:t>
            </a:r>
            <a:r>
              <a:rPr lang="ru-RU" dirty="0" err="1"/>
              <a:t>inode</a:t>
            </a:r>
            <a:r>
              <a:rPr lang="ru-RU" dirty="0"/>
              <a:t>, и данные.</a:t>
            </a:r>
          </a:p>
          <a:p>
            <a:r>
              <a:rPr lang="ru-RU" dirty="0"/>
              <a:t>Если ссылок несколько, файл остаётся доступным через другие имена.</a:t>
            </a:r>
          </a:p>
          <a:p>
            <a:r>
              <a:rPr lang="ru-RU" dirty="0"/>
              <a:t>Это отличается от удаления в Windows, где файл удаляется целиком и всегда.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7624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нами демонстрация того, как работают </a:t>
            </a:r>
            <a:r>
              <a:rPr lang="ru-RU" b="1" dirty="0"/>
              <a:t>жёсткие ссылки (</a:t>
            </a:r>
            <a:r>
              <a:rPr lang="ru-RU" b="1" dirty="0" err="1"/>
              <a:t>hard</a:t>
            </a:r>
            <a:r>
              <a:rPr lang="ru-RU" b="1" dirty="0"/>
              <a:t> </a:t>
            </a:r>
            <a:r>
              <a:rPr lang="ru-RU" b="1" dirty="0" err="1"/>
              <a:t>links</a:t>
            </a:r>
            <a:r>
              <a:rPr lang="ru-RU" b="1" dirty="0"/>
              <a:t>)</a:t>
            </a:r>
            <a:r>
              <a:rPr lang="ru-RU" dirty="0"/>
              <a:t> в файловой системе Linux.</a:t>
            </a:r>
          </a:p>
          <a:p>
            <a:r>
              <a:rPr lang="ru-RU" dirty="0"/>
              <a:t>Сначала командой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ru-RU" dirty="0"/>
              <a:t> мы смотрим содержимое каталога. Видим один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file2.txt</a:t>
            </a:r>
            <a:r>
              <a:rPr lang="ru-RU" dirty="0"/>
              <a:t>. В столбце перед именем файла находится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 — это количество жёстких ссылок на данный файл, то есть количество записей в каталогах, указывающих на один и тот же </a:t>
            </a:r>
            <a:r>
              <a:rPr lang="ru-RU" dirty="0" err="1"/>
              <a:t>inode</a:t>
            </a:r>
            <a:r>
              <a:rPr lang="ru-RU" dirty="0"/>
              <a:t>.</a:t>
            </a:r>
          </a:p>
          <a:p>
            <a:r>
              <a:rPr lang="ru-RU" dirty="0"/>
              <a:t>Далее мы создаём жёсткую ссылку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, выполнив команду: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file2.txt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endParaRPr lang="ru-RU" dirty="0"/>
          </a:p>
          <a:p>
            <a:r>
              <a:rPr lang="ru-RU" dirty="0"/>
              <a:t>После этого снова выводим каталог командой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ru-RU" dirty="0"/>
              <a:t>. Теперь в списке два файла: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file2.txt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. Обратите внимание, что оба файла имеют </a:t>
            </a:r>
            <a:r>
              <a:rPr lang="ru-RU" b="1" dirty="0"/>
              <a:t>одинаковый размер, дату и права</a:t>
            </a:r>
            <a:r>
              <a:rPr lang="ru-RU" dirty="0"/>
              <a:t>, а главное — </a:t>
            </a:r>
            <a:r>
              <a:rPr lang="ru-RU" b="1" dirty="0"/>
              <a:t>число ссылок изменилось с 1 до 2</a:t>
            </a:r>
            <a:r>
              <a:rPr lang="ru-RU" dirty="0"/>
              <a:t>. Это означает, что оба имени указывают на один и тот же </a:t>
            </a:r>
            <a:r>
              <a:rPr lang="ru-RU" dirty="0" err="1"/>
              <a:t>inode</a:t>
            </a:r>
            <a:r>
              <a:rPr lang="ru-RU" dirty="0"/>
              <a:t>, то есть физически это один файл с двумя разными именами.</a:t>
            </a:r>
          </a:p>
          <a:p>
            <a:r>
              <a:rPr lang="ru-RU" dirty="0"/>
              <a:t>Теперь выполним команду: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file2.txt</a:t>
            </a:r>
            <a:endParaRPr lang="ru-RU" dirty="0"/>
          </a:p>
          <a:p>
            <a:r>
              <a:rPr lang="ru-RU" dirty="0"/>
              <a:t>Она удаляет только имя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file2.txt</a:t>
            </a:r>
            <a:r>
              <a:rPr lang="ru-RU" dirty="0"/>
              <a:t> из каталога, но не удаляет сам файл, потому что на него осталась ещё одна жёсткая ссылка –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.</a:t>
            </a:r>
          </a:p>
          <a:p>
            <a:r>
              <a:rPr lang="ru-RU" dirty="0"/>
              <a:t>После этого снова смотрим каталог. Теперь видим только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, а число ссылок стало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. Это означает, что физически файл всё ещё существует, но у него осталось только одно имя.</a:t>
            </a:r>
          </a:p>
          <a:p>
            <a:r>
              <a:rPr lang="ru-RU" dirty="0"/>
              <a:t>Таким образом, эта демонстрация показывает, что </a:t>
            </a:r>
            <a:r>
              <a:rPr lang="ru-RU" b="1" dirty="0"/>
              <a:t>удаление имени файла не обязательно удаляет сам файл</a:t>
            </a:r>
            <a:r>
              <a:rPr lang="ru-RU" dirty="0"/>
              <a:t>: он исчезает только после удаления последней ссылки на него. Это ключевой принцип работы UNIX-подобных файловых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140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Символическая ссылка — это отдельный файл, в котором хранится путь к другому файлу.</a:t>
            </a:r>
          </a:p>
          <a:p>
            <a:r>
              <a:rPr lang="ru-RU" dirty="0"/>
              <a:t>Когда программа открывает символическую ссылку, файловая система автоматически следует пути и открывает настоящий файл.</a:t>
            </a:r>
          </a:p>
          <a:p>
            <a:r>
              <a:rPr lang="ru-RU" dirty="0"/>
              <a:t>В отличие от жёсткой ссылки, символическая может указывать на файл на другом диске или даже на удалённом сервере.</a:t>
            </a:r>
          </a:p>
          <a:p>
            <a:r>
              <a:rPr lang="ru-RU" dirty="0"/>
              <a:t>Однако она работает чуть медленнее: нужно сначала прочитать путь, а потом открыть целевой файл.</a:t>
            </a:r>
          </a:p>
          <a:p>
            <a:r>
              <a:rPr lang="ru-RU" dirty="0" err="1"/>
              <a:t>Symbolic</a:t>
            </a:r>
            <a:r>
              <a:rPr lang="ru-RU" dirty="0"/>
              <a:t> </a:t>
            </a:r>
            <a:r>
              <a:rPr lang="ru-RU" dirty="0" err="1"/>
              <a:t>links</a:t>
            </a:r>
            <a:r>
              <a:rPr lang="ru-RU" dirty="0"/>
              <a:t> — важный инструмент UNIX-подобных систем: они обеспечивают гибкость, аналогичную ярлыкам Windows.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9431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6838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рассматривали файловую систему глазами пользователя: имена файлов, каталоги, операции.</a:t>
            </a:r>
          </a:p>
          <a:p>
            <a:r>
              <a:rPr lang="ru-RU" dirty="0"/>
              <a:t>Но под капотом всё работает иначе. Разработчикам систем важно знать, как файлы лежат на диске, что хранится в метаданных, как организовано свободное пространство.</a:t>
            </a:r>
          </a:p>
          <a:p>
            <a:r>
              <a:rPr lang="ru-RU" dirty="0"/>
              <a:t>Эти детали определяют скорость работы, надёжность и возможность восстановления данных. Сейчас мы углубимся во внутреннее устройство — в физическую разметку диска и структуры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5658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— типичный пример того, как файловая система размещается внутри раздела.</a:t>
            </a:r>
          </a:p>
          <a:p>
            <a:r>
              <a:rPr lang="ru-RU" dirty="0"/>
              <a:t>В начале находится </a:t>
            </a:r>
            <a:r>
              <a:rPr lang="ru-RU" b="1" dirty="0" err="1"/>
              <a:t>boot</a:t>
            </a:r>
            <a:r>
              <a:rPr lang="ru-RU" b="1" dirty="0"/>
              <a:t> </a:t>
            </a:r>
            <a:r>
              <a:rPr lang="ru-RU" b="1" dirty="0" err="1"/>
              <a:t>block</a:t>
            </a:r>
            <a:r>
              <a:rPr lang="ru-RU" dirty="0"/>
              <a:t> — код, запускающий ОС.</a:t>
            </a:r>
          </a:p>
          <a:p>
            <a:r>
              <a:rPr lang="ru-RU" dirty="0"/>
              <a:t>Затем идёт </a:t>
            </a:r>
            <a:r>
              <a:rPr lang="ru-RU" b="1" dirty="0" err="1"/>
              <a:t>superblock</a:t>
            </a:r>
            <a:r>
              <a:rPr lang="ru-RU" dirty="0"/>
              <a:t> — ключевая структура, описывающая параметры всей файловой системы: число блоков, тип ФС, магическое число.</a:t>
            </a:r>
          </a:p>
          <a:p>
            <a:r>
              <a:rPr lang="ru-RU" dirty="0"/>
              <a:t>Далее хранится информация о свободном пространстве — </a:t>
            </a:r>
            <a:r>
              <a:rPr lang="ru-RU" dirty="0" err="1"/>
              <a:t>bitmap</a:t>
            </a:r>
            <a:r>
              <a:rPr lang="ru-RU" dirty="0"/>
              <a:t> или список свободных блоков.</a:t>
            </a:r>
          </a:p>
          <a:p>
            <a:r>
              <a:rPr lang="ru-RU" dirty="0"/>
              <a:t>Следом идёт массив </a:t>
            </a:r>
            <a:r>
              <a:rPr lang="ru-RU" b="1" dirty="0" err="1"/>
              <a:t>inode</a:t>
            </a:r>
            <a:r>
              <a:rPr lang="ru-RU" dirty="0"/>
              <a:t> — одна запись для каждого файла.</a:t>
            </a:r>
          </a:p>
          <a:p>
            <a:r>
              <a:rPr lang="ru-RU" dirty="0"/>
              <a:t>Затем — корневой каталог, и наконец основная область данных.</a:t>
            </a:r>
          </a:p>
          <a:p>
            <a:r>
              <a:rPr lang="ru-RU" dirty="0"/>
              <a:t>Это общий принцип — конкретные форматы могут отличаться, но логика одинакова.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591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старых ПК загрузка выполнялась через BIOS и MBR.</a:t>
            </a:r>
          </a:p>
          <a:p>
            <a:r>
              <a:rPr lang="ru-RU" dirty="0"/>
              <a:t>В секторе 0 диска находился </a:t>
            </a:r>
            <a:r>
              <a:rPr lang="ru-RU" b="1" dirty="0"/>
              <a:t>MBR</a:t>
            </a:r>
            <a:r>
              <a:rPr lang="ru-RU" dirty="0"/>
              <a:t> — небольшой кусочек кода и таблица разделов.</a:t>
            </a:r>
          </a:p>
          <a:p>
            <a:r>
              <a:rPr lang="ru-RU" dirty="0"/>
              <a:t>BIOS загружал MBR, MBR искал активный раздел и запускал его загрузочный блок.</a:t>
            </a:r>
          </a:p>
          <a:p>
            <a:r>
              <a:rPr lang="ru-RU" dirty="0"/>
              <a:t>Этот механизм существовал десятилетиями, но имеет серьёзные ограничения:</a:t>
            </a:r>
            <a:br>
              <a:rPr lang="ru-RU" dirty="0"/>
            </a:br>
            <a:r>
              <a:rPr lang="ru-RU" dirty="0"/>
              <a:t>— не поддерживает большие диски</a:t>
            </a:r>
            <a:br>
              <a:rPr lang="ru-RU" dirty="0"/>
            </a:br>
            <a:r>
              <a:rPr lang="ru-RU" dirty="0"/>
              <a:t>— зависит от архитектуры</a:t>
            </a:r>
            <a:br>
              <a:rPr lang="ru-RU" dirty="0"/>
            </a:br>
            <a:r>
              <a:rPr lang="ru-RU" dirty="0"/>
              <a:t>— работает медленно и небезопасно.</a:t>
            </a:r>
          </a:p>
          <a:p>
            <a:r>
              <a:rPr lang="ru-RU" dirty="0"/>
              <a:t>Именно поэтому появилась более современная система загрузки — UEFI.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5449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UEFI — это современная замена BIOS, решающая множество проблем MBR: ограниченный размер дисков, низкая скорость, зависимость от архитектуры.</a:t>
            </a:r>
          </a:p>
          <a:p>
            <a:r>
              <a:rPr lang="ru-RU" dirty="0"/>
              <a:t>В режиме UEFI используется структура GPT — таблица разделов нового поколения. Она хранится в двух местах: в начале и в конце диска, что повышает надёжность.</a:t>
            </a:r>
          </a:p>
          <a:p>
            <a:r>
              <a:rPr lang="ru-RU" dirty="0"/>
              <a:t>UEFI гораздо умнее BIOS:</a:t>
            </a:r>
            <a:br>
              <a:rPr lang="ru-RU" dirty="0"/>
            </a:br>
            <a:r>
              <a:rPr lang="ru-RU" dirty="0"/>
              <a:t>— умеет читать файловые системы (как минимум FAT);</a:t>
            </a:r>
            <a:br>
              <a:rPr lang="ru-RU" dirty="0"/>
            </a:br>
            <a:r>
              <a:rPr lang="ru-RU" dirty="0"/>
              <a:t>— понимает структуру каталогов;</a:t>
            </a:r>
            <a:br>
              <a:rPr lang="ru-RU" dirty="0"/>
            </a:br>
            <a:r>
              <a:rPr lang="ru-RU" dirty="0"/>
              <a:t>— запускает программы в формате PE, как Windows;</a:t>
            </a:r>
            <a:br>
              <a:rPr lang="ru-RU" dirty="0"/>
            </a:br>
            <a:r>
              <a:rPr lang="ru-RU" dirty="0"/>
              <a:t>— хранит загрузчики в специальном разделе ESP.</a:t>
            </a:r>
          </a:p>
          <a:p>
            <a:r>
              <a:rPr lang="ru-RU" dirty="0"/>
              <a:t>По сути, UEFI — это мини-операционная система, встроенная в компьютер.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8619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87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вы видите ключевые различия между MBR и UEFI/GPT.</a:t>
            </a:r>
          </a:p>
          <a:p>
            <a:r>
              <a:rPr lang="ru-RU" dirty="0"/>
              <a:t>UEFI намного более гибкая и мощная система: она обеспечивает быстрый старт, надёжность, поддержку огромных дисков и загрузчиков в виде обычных файлов.</a:t>
            </a:r>
          </a:p>
          <a:p>
            <a:r>
              <a:rPr lang="ru-RU"/>
              <a:t>MBR — это наследие времён первых IBM PC, но знать о нём важно, потому что многие файловые системы и инструменты всё ещё поддерживают его для совместимости.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8766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1643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Внутренняя реализация файлов в файловой системе начинается с вопроса: как связать блоки диска с конкретным файлом? Один из самых простых способов —</a:t>
            </a:r>
            <a:r>
              <a:rPr lang="en-US" dirty="0"/>
              <a:t> </a:t>
            </a:r>
            <a:r>
              <a:rPr lang="ru-RU" i="1" dirty="0"/>
              <a:t>непрерывное размещение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5766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способ организации файлов — это непрерывное размещение.</a:t>
            </a:r>
          </a:p>
          <a:p>
            <a:r>
              <a:rPr lang="ru-RU" dirty="0"/>
              <a:t>Его идея проста: весь файл лежит на диске в виде одного непрерывного фрагмента блоков.</a:t>
            </a:r>
          </a:p>
          <a:p>
            <a:r>
              <a:rPr lang="ru-RU" dirty="0"/>
              <a:t>В результате файловой системе нужно запомнить всего два параметра — номер первого блока и длину файла.</a:t>
            </a:r>
          </a:p>
          <a:p>
            <a:r>
              <a:rPr lang="ru-RU" dirty="0"/>
              <a:t>Это крайне удобно и обеспечивает максимальную скорость чтения, потому что нужен только один переход головки, а дальше блоки читаются подряд.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798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этой схеме показано, как файлы могут располагаться подряд в непрерывных областях.</a:t>
            </a:r>
          </a:p>
          <a:p>
            <a:r>
              <a:rPr lang="ru-RU" dirty="0"/>
              <a:t>Сначала записан файл A, затем сразу за ним — файл B, далее файл C, и так далее.</a:t>
            </a:r>
          </a:p>
          <a:p>
            <a:r>
              <a:rPr lang="ru-RU" dirty="0"/>
              <a:t>В таком идеальном сценарии всё работает очень эффективно: любой файл можно прочитать быстро и без лишних перемещений по диску.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8102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Непрерывное размещение прекрасно работает там, где файлы не меняют размера — например, в системах хранения фильмов, ISO-образов, архивов.</a:t>
            </a:r>
          </a:p>
          <a:p>
            <a:r>
              <a:rPr lang="ru-RU" dirty="0"/>
              <a:t>Чтение идёт с максимальной пропускной способностью диска, ведь файл лежит одним куском.</a:t>
            </a:r>
          </a:p>
          <a:p>
            <a:r>
              <a:rPr lang="ru-RU" dirty="0"/>
              <a:t>С точки зрения разработчика файловой системы — это рай: минимум метаданных, минимум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5696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 у непрерывного размещения есть критически важный недостаток — </a:t>
            </a:r>
            <a:r>
              <a:rPr lang="ru-RU" b="1" dirty="0"/>
              <a:t>фрагментация</a:t>
            </a:r>
            <a:r>
              <a:rPr lang="ru-RU" dirty="0"/>
              <a:t>.</a:t>
            </a:r>
          </a:p>
          <a:p>
            <a:r>
              <a:rPr lang="ru-RU" dirty="0"/>
              <a:t>Когда файлы удаляются, на их месте образуются свободные участки — «дыры».</a:t>
            </a:r>
          </a:p>
          <a:p>
            <a:r>
              <a:rPr lang="ru-RU" dirty="0"/>
              <a:t>Диск уже нельзя считать сплошной полосой свободного места, и записывать новые большие файлы становится трудно.</a:t>
            </a:r>
          </a:p>
          <a:p>
            <a:r>
              <a:rPr lang="ru-RU" dirty="0"/>
              <a:t>Уплотнение диска теоретически возможно, но на практике нереально — нужно перемещать гигабайты или терабайты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740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одна серьёзная проблема — необходимость заранее знать конечный размер файла.</a:t>
            </a:r>
          </a:p>
          <a:p>
            <a:r>
              <a:rPr lang="ru-RU" dirty="0"/>
              <a:t>Представьте, что человек записывает видео. Редактор должен спросить: «А какой будет точный размер файла?»</a:t>
            </a:r>
          </a:p>
          <a:p>
            <a:r>
              <a:rPr lang="ru-RU" dirty="0"/>
              <a:t>Если пользователь скажет слишком маленькое число, запись остановится, потому что дыра закончилась.</a:t>
            </a:r>
          </a:p>
          <a:p>
            <a:r>
              <a:rPr lang="ru-RU" dirty="0"/>
              <a:t>Если число слишком большое — подходящей дыры может просто не найтись.</a:t>
            </a:r>
          </a:p>
          <a:p>
            <a:r>
              <a:rPr lang="ru-RU" dirty="0"/>
              <a:t>Очевидно, это приводит к ужасному пользовательскому опыту.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2430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Хотя непрерывное размещение выглядит элегантно, оно плохо подходит для современных систем, где файлы создаются, удаляются, растут и сокращаются постоянно.</a:t>
            </a:r>
          </a:p>
          <a:p>
            <a:r>
              <a:rPr lang="ru-RU" dirty="0"/>
              <a:t>Из-за фрагментации и необходимости знать размер файла заранее этот метод практически не используется в современных ОС, за исключением специальных случаев вроде CD-образов.</a:t>
            </a:r>
          </a:p>
          <a:p>
            <a:r>
              <a:rPr lang="ru-RU" dirty="0"/>
              <a:t>В следующих разделах мы увидим, какие более гибкие методы пришли на замену.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7687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866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переходим к самому важному: каким образом файловая система узнаёт, какие блоки принадлежат конкретному файлу.</a:t>
            </a:r>
          </a:p>
          <a:p>
            <a:r>
              <a:rPr lang="ru-RU" dirty="0"/>
              <a:t>Существует несколько методов — от простых до очень масштабируемых.</a:t>
            </a:r>
          </a:p>
          <a:p>
            <a:r>
              <a:rPr lang="ru-RU" dirty="0"/>
              <a:t>Мы рассмотрим цепочки блоков, таблицу FAT и наиболее современный метод — i-</a:t>
            </a:r>
            <a:r>
              <a:rPr lang="ru-RU" dirty="0" err="1"/>
              <a:t>nodes</a:t>
            </a:r>
            <a:r>
              <a:rPr lang="ru-RU" dirty="0"/>
              <a:t>.</a:t>
            </a:r>
          </a:p>
          <a:p>
            <a:r>
              <a:rPr lang="ru-RU" dirty="0"/>
              <a:t>Понимание этих структур критически важно, потому что именно они определяют скорость работы файловой системы, её устойчивость и возможность работать с большими дисками.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4037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метод — связанное размещение.</a:t>
            </a:r>
          </a:p>
          <a:p>
            <a:r>
              <a:rPr lang="ru-RU" dirty="0"/>
              <a:t>Каждый блок содержит указатель на следующий, и таким образом все блоки файла образуют цепочку. Такой подход устраняет проблему фрагментации — свободные блоки можно использовать в любом порядке.</a:t>
            </a:r>
          </a:p>
          <a:p>
            <a:r>
              <a:rPr lang="ru-RU" dirty="0"/>
              <a:t>Но есть два больших недостатка.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произвольный доступ становится почти невозможным: чтобы прочитать блок номер n, нужно пройти все предыдущие.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часть блока расходуется на указатель, а значит размер блока перестаёт быть степенью двойки, что ухудшает производительность ввода-вывода.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011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устранить недостатки цепочного размещения, разработали FAT.</a:t>
            </a:r>
          </a:p>
          <a:p>
            <a:r>
              <a:rPr lang="ru-RU" dirty="0"/>
              <a:t>Теперь указатель к следующему блоку хранится не в самом блоке, а в массиве в памяти.</a:t>
            </a:r>
          </a:p>
          <a:p>
            <a:r>
              <a:rPr lang="ru-RU" dirty="0"/>
              <a:t>Это позволяет использовать блок на 100% под данные и ускоряет поиск следующего блока, потому что вся цепочка доступна в RAM.</a:t>
            </a:r>
          </a:p>
          <a:p>
            <a:r>
              <a:rPr lang="ru-RU" dirty="0"/>
              <a:t>Но появляется огромная проблема: FAT должна помещаться в памяти целиком.</a:t>
            </a:r>
          </a:p>
          <a:p>
            <a:r>
              <a:rPr lang="ru-RU" dirty="0"/>
              <a:t>Для большого диска таблица может занимать гигабайты, поэтому FAT подходит только для флешек, SD-карт малого объёма и старых систем вроде MS-DOS.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5393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I-</a:t>
            </a:r>
            <a:r>
              <a:rPr lang="ru-RU" dirty="0" err="1"/>
              <a:t>nodes</a:t>
            </a:r>
            <a:r>
              <a:rPr lang="ru-RU" dirty="0"/>
              <a:t> решают проблему масштабируемости полностью.</a:t>
            </a:r>
          </a:p>
          <a:p>
            <a:r>
              <a:rPr lang="ru-RU" dirty="0"/>
              <a:t>Каждому файлу соответствует i-</a:t>
            </a:r>
            <a:r>
              <a:rPr lang="ru-RU" dirty="0" err="1"/>
              <a:t>node</a:t>
            </a:r>
            <a:r>
              <a:rPr lang="ru-RU" dirty="0"/>
              <a:t> — структура, в которой хранятся его атрибуты и адреса блоков.</a:t>
            </a:r>
          </a:p>
          <a:p>
            <a:r>
              <a:rPr lang="ru-RU" dirty="0"/>
              <a:t>В отличие от FAT, в памяти нужно держать только i-</a:t>
            </a:r>
            <a:r>
              <a:rPr lang="ru-RU" dirty="0" err="1"/>
              <a:t>nodes</a:t>
            </a:r>
            <a:r>
              <a:rPr lang="ru-RU" dirty="0"/>
              <a:t> для открытых файлов.</a:t>
            </a:r>
          </a:p>
          <a:p>
            <a:r>
              <a:rPr lang="ru-RU" dirty="0"/>
              <a:t>Это означает, что файловая система спокойно масштабируется на петабайты и эксабайты.</a:t>
            </a:r>
          </a:p>
          <a:p>
            <a:r>
              <a:rPr lang="ru-RU" dirty="0"/>
              <a:t>Проблему фиксированного числа адресов решают косвенные блоки:</a:t>
            </a:r>
            <a:br>
              <a:rPr lang="ru-RU" dirty="0"/>
            </a:br>
            <a:r>
              <a:rPr lang="ru-RU" dirty="0"/>
              <a:t>— один блок содержит адреса дополнительных блоков;</a:t>
            </a:r>
            <a:br>
              <a:rPr lang="ru-RU" dirty="0"/>
            </a:br>
            <a:r>
              <a:rPr lang="ru-RU" dirty="0"/>
              <a:t>— двойные и тройные косвенные блоки позволяют адресовать миллионы блоков.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5883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7655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1638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7026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Каталог — это структура, которая связывает человеко-читаемое имя файла с тем, где фактически лежат его блоки на диске.</a:t>
            </a:r>
          </a:p>
          <a:p>
            <a:r>
              <a:rPr lang="ru-RU" dirty="0"/>
              <a:t>Когда мы открываем файл, система должна по имени найти соответствующую запись каталога и получить всю информацию: первый блок, номер i-</a:t>
            </a:r>
            <a:r>
              <a:rPr lang="ru-RU" dirty="0" err="1"/>
              <a:t>node</a:t>
            </a:r>
            <a:r>
              <a:rPr lang="ru-RU" dirty="0"/>
              <a:t>, или другие данные.</a:t>
            </a:r>
          </a:p>
          <a:p>
            <a:r>
              <a:rPr lang="ru-RU" dirty="0"/>
              <a:t>Каталоги могут быть простыми и содержать всё прямо в записи, или более гибкими — как в UNIX, где запись содержит лишь имя и номер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497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Самая примитивная схема — хранить имя файла фиксированной длины, например 255 байт.</a:t>
            </a:r>
          </a:p>
          <a:p>
            <a:r>
              <a:rPr lang="ru-RU" dirty="0"/>
              <a:t>Это легко реализовать, но крайне неэффективно: подавляющее большинство файлов имеют короткие имена, а место в каталоге тратится зря.</a:t>
            </a:r>
          </a:p>
          <a:p>
            <a:r>
              <a:rPr lang="ru-RU" dirty="0"/>
              <a:t>Сегодня такой подход почти не используется.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9744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UNIX и других современных системах запись каталога содержит только имя и номер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r>
              <a:rPr lang="ru-RU" dirty="0"/>
              <a:t>Это делает каталоги компактными и ускоряет их обработку.</a:t>
            </a:r>
          </a:p>
          <a:p>
            <a:r>
              <a:rPr lang="ru-RU" dirty="0"/>
              <a:t>Атрибуты файла хранятся в i-</a:t>
            </a:r>
            <a:r>
              <a:rPr lang="ru-RU" dirty="0" err="1"/>
              <a:t>node</a:t>
            </a:r>
            <a:r>
              <a:rPr lang="ru-RU" dirty="0"/>
              <a:t> — и система может менять их, не изменяя каталог.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8429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поддерживать длинные имена, можно сделать записи переменной длины.</a:t>
            </a:r>
          </a:p>
          <a:p>
            <a:r>
              <a:rPr lang="ru-RU" dirty="0"/>
              <a:t>Тогда каждая запись начинается с фиксированного заголовка, а имя файла идёт следом, столько байт, сколько нужно.</a:t>
            </a:r>
          </a:p>
          <a:p>
            <a:r>
              <a:rPr lang="ru-RU" dirty="0"/>
              <a:t>Это экономит место, но создаёт проблемы — при удалении появляются дырки, каталог деградирует и может потребовать уплотнения.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6157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Другая стратегия — делать сами записи каталога фиксированного размера, но хранить имена отдельно в куче.</a:t>
            </a:r>
          </a:p>
          <a:p>
            <a:r>
              <a:rPr lang="ru-RU" dirty="0"/>
              <a:t>Тогда при удалении записи её место может занять другая, а имена лежат плотно в отдельной области.</a:t>
            </a:r>
          </a:p>
          <a:p>
            <a:r>
              <a:rPr lang="ru-RU" dirty="0"/>
              <a:t>Это сложнее в реализации, но эффективно при большом числе файлов.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6582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больших каталогах линейный поиск становится слишком медленным.</a:t>
            </a:r>
          </a:p>
          <a:p>
            <a:r>
              <a:rPr lang="ru-RU" dirty="0"/>
              <a:t>Поэтому можно использовать хеш-таблицу: имя </a:t>
            </a:r>
            <a:r>
              <a:rPr lang="ru-RU" dirty="0" err="1"/>
              <a:t>хешируется</a:t>
            </a:r>
            <a:r>
              <a:rPr lang="ru-RU" dirty="0"/>
              <a:t>, и система смотрит только те записи, которые попали в соответствующий </a:t>
            </a:r>
            <a:r>
              <a:rPr lang="ru-RU" dirty="0" err="1"/>
              <a:t>bucket</a:t>
            </a:r>
            <a:r>
              <a:rPr lang="ru-RU" dirty="0"/>
              <a:t>.</a:t>
            </a:r>
          </a:p>
          <a:p>
            <a:r>
              <a:rPr lang="ru-RU" dirty="0"/>
              <a:t>Такой подход существенно ускоряет поиск, но усложняет реализацию — поэтому используется в системах, где каталоги могут содержать сотни или тысячи файлов.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22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один способ ускорить поиск — кеширование.</a:t>
            </a:r>
          </a:p>
          <a:p>
            <a:r>
              <a:rPr lang="ru-RU" dirty="0"/>
              <a:t>Если многие операции обращаются к одной группе файлов, их имена сохраняются в кеше, что позволяет находить записи каталога мгновенно.</a:t>
            </a:r>
          </a:p>
          <a:p>
            <a:r>
              <a:rPr lang="ru-RU" dirty="0"/>
              <a:t>Технология простая, но даёт реальный выигрыш в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9667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5207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несколько пользователей работают над общим проектом, им нужен совместный доступ к одним и тем же данным.</a:t>
            </a:r>
          </a:p>
          <a:p>
            <a:r>
              <a:rPr lang="ru-RU" dirty="0"/>
              <a:t>Наиболее удобный способ — дать файлу несколько имён в разных каталогах. Но как только файл появляется в более чем одном месте, файловая система перестаёт быть деревом и превращается в ориентированный ациклический граф.</a:t>
            </a:r>
          </a:p>
          <a:p>
            <a:r>
              <a:rPr lang="ru-RU" dirty="0"/>
              <a:t>Это открывает новые возможности, но и усложняет обслуживание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7190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Жёсткая ссылка — это ещё одно имя, которое указывает на тот же i-</a:t>
            </a:r>
            <a:r>
              <a:rPr lang="ru-RU" dirty="0" err="1"/>
              <a:t>node</a:t>
            </a:r>
            <a:r>
              <a:rPr lang="ru-RU" dirty="0"/>
              <a:t>. Все имена равноправны: нет «главного» и «побочного».</a:t>
            </a:r>
          </a:p>
          <a:p>
            <a:r>
              <a:rPr lang="ru-RU" dirty="0"/>
              <a:t>Файл существует до тех пор, пока счётчик ссылок в его i-</a:t>
            </a:r>
            <a:r>
              <a:rPr lang="ru-RU" dirty="0" err="1"/>
              <a:t>node</a:t>
            </a:r>
            <a:r>
              <a:rPr lang="ru-RU" dirty="0"/>
              <a:t> не станет нулём. Если пользователь С удаляет файл, но пользователь B имеет на него ссылку, i-</a:t>
            </a:r>
            <a:r>
              <a:rPr lang="ru-RU" dirty="0" err="1"/>
              <a:t>node</a:t>
            </a:r>
            <a:r>
              <a:rPr lang="ru-RU" dirty="0"/>
              <a:t> остаётся. Такой файл «живёт» пока не удалит его последний пользователь — что создаёт сложности учёта и квот.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6971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Одна из главных проблем жёстких ссылок — невозможность отследить, где ещё находятся ссылки на этот файл.</a:t>
            </a:r>
          </a:p>
          <a:p>
            <a:r>
              <a:rPr lang="ru-RU" dirty="0"/>
              <a:t>i-</a:t>
            </a:r>
            <a:r>
              <a:rPr lang="ru-RU" dirty="0" err="1"/>
              <a:t>node</a:t>
            </a:r>
            <a:r>
              <a:rPr lang="ru-RU" dirty="0"/>
              <a:t> хранит только счётчик, но не список каталогов.</a:t>
            </a:r>
          </a:p>
          <a:p>
            <a:r>
              <a:rPr lang="ru-RU" dirty="0"/>
              <a:t>Поэтому при удалении «своего» имени файл остаётся, и владелец может продолжать занимать дисковое пространство, даже не подозревая об этом.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8009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Символическая ссылка — это не ссылка на i-</a:t>
            </a:r>
            <a:r>
              <a:rPr lang="ru-RU" dirty="0" err="1"/>
              <a:t>node</a:t>
            </a:r>
            <a:r>
              <a:rPr lang="ru-RU" dirty="0"/>
              <a:t>, а просто файл с текстовым путём.</a:t>
            </a:r>
          </a:p>
          <a:p>
            <a:r>
              <a:rPr lang="ru-RU" dirty="0"/>
              <a:t>При открытии система читает путь, разбирает его и переходит по нему к настоящему файлу.</a:t>
            </a:r>
          </a:p>
          <a:p>
            <a:r>
              <a:rPr lang="ru-RU" dirty="0"/>
              <a:t>Большой плюс — владелец может удалить файл, и это не вызывает коллизий: остальные просто получают недействительную ссылку.</a:t>
            </a:r>
          </a:p>
          <a:p>
            <a:r>
              <a:rPr lang="ru-RU" dirty="0"/>
              <a:t>Ещё одно преимущество — можно ссылаться на файлы где угодно, даже по сети.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280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символических ссылок есть цена:</a:t>
            </a:r>
          </a:p>
          <a:p>
            <a:r>
              <a:rPr lang="ru-RU" dirty="0"/>
              <a:t>Чтобы открыть файл, приходится сначала читать ссылку, затем разбирать путь, а потом открывать целевой файл.</a:t>
            </a:r>
          </a:p>
          <a:p>
            <a:r>
              <a:rPr lang="ru-RU" dirty="0"/>
              <a:t>Это добавляет задержки и требует больше системных вызовов.</a:t>
            </a:r>
          </a:p>
          <a:p>
            <a:r>
              <a:rPr lang="ru-RU" dirty="0"/>
              <a:t>Кроме того, символические ссылки могут стать «висящими», если исходный файл удалён — что тоже нужно учитывать при работе системных утилит.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2614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файлы имеют несколько путей, программы обхода каталогов начинают видеть их по нескольку раз.</a:t>
            </a:r>
          </a:p>
          <a:p>
            <a:r>
              <a:rPr lang="ru-RU" dirty="0"/>
              <a:t>Это может привести к ошибкам в </a:t>
            </a:r>
            <a:r>
              <a:rPr lang="ru-RU" dirty="0" err="1"/>
              <a:t>backup</a:t>
            </a:r>
            <a:r>
              <a:rPr lang="ru-RU" dirty="0"/>
              <a:t> — один и тот же файл будет скопирован дважды.</a:t>
            </a:r>
          </a:p>
          <a:p>
            <a:r>
              <a:rPr lang="ru-RU" dirty="0"/>
              <a:t>А при восстановлении утрачивается структура ссылок — вместо единичного файла появляются две физические копии.</a:t>
            </a:r>
          </a:p>
          <a:p>
            <a:r>
              <a:rPr lang="ru-RU" dirty="0"/>
              <a:t>Поэтому работа с ссылками требует аккуратных и «умных» утилит.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0121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3096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понять, почему появилась лог-структурированная файловая система, нужно посмотреть на тренды развития техники.</a:t>
            </a:r>
          </a:p>
          <a:p>
            <a:r>
              <a:rPr lang="ru-RU" dirty="0"/>
              <a:t>Процессоры становятся быстрее, память увеличивается, а диски растут в объёме. Но магнитный диск всё так же ограничен механикой — позиционирование головки остаётся медленным.</a:t>
            </a:r>
          </a:p>
          <a:p>
            <a:r>
              <a:rPr lang="ru-RU" dirty="0"/>
              <a:t>Сегодня большинство чтений удовлетворяется из кэша, и основная нагрузка — это маленькие записи.</a:t>
            </a:r>
            <a:br>
              <a:rPr lang="ru-RU" dirty="0"/>
            </a:br>
            <a:r>
              <a:rPr lang="ru-RU" dirty="0"/>
              <a:t>Классические файловые системы плохо справляются с большим количеством маленьких обновлений.</a:t>
            </a:r>
            <a:br>
              <a:rPr lang="ru-RU" dirty="0"/>
            </a:br>
            <a:r>
              <a:rPr lang="ru-RU" dirty="0"/>
              <a:t>Именно здесь появляется идея полностью изменить философию записи на диск.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5168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идея LFS радикальна, но проста:</a:t>
            </a:r>
            <a:br>
              <a:rPr lang="ru-RU" dirty="0"/>
            </a:br>
            <a:r>
              <a:rPr lang="ru-RU" b="1" dirty="0"/>
              <a:t>вместо множества маленьких записей делаем одну большую запись</a:t>
            </a:r>
            <a:r>
              <a:rPr lang="ru-RU" dirty="0"/>
              <a:t>.</a:t>
            </a:r>
          </a:p>
          <a:p>
            <a:r>
              <a:rPr lang="ru-RU" dirty="0"/>
              <a:t>Изменения копятся в памяти, и затем одним сегментом — обычно мегабайтного размера — записываются в конец лога.</a:t>
            </a:r>
          </a:p>
          <a:p>
            <a:r>
              <a:rPr lang="ru-RU" dirty="0"/>
              <a:t>Так минимизируется количество </a:t>
            </a:r>
            <a:r>
              <a:rPr lang="ru-RU" dirty="0" err="1"/>
              <a:t>seek</a:t>
            </a:r>
            <a:r>
              <a:rPr lang="ru-RU" dirty="0"/>
              <a:t>, и диск использует свою максимальную пропускную способность.</a:t>
            </a:r>
            <a:br>
              <a:rPr lang="ru-RU" dirty="0"/>
            </a:br>
            <a:r>
              <a:rPr lang="ru-RU" dirty="0"/>
              <a:t>В сегменте могут одновременно находиться и данные файлов, и новые версии i-</a:t>
            </a:r>
            <a:r>
              <a:rPr lang="ru-RU" dirty="0" err="1"/>
              <a:t>nodes</a:t>
            </a:r>
            <a:r>
              <a:rPr lang="ru-RU" dirty="0"/>
              <a:t>, и обновления каталогов.</a:t>
            </a:r>
            <a:br>
              <a:rPr lang="ru-RU" dirty="0"/>
            </a:br>
            <a:r>
              <a:rPr lang="ru-RU" dirty="0"/>
              <a:t>Всё это завершается заголовком сегмента, который описывает содержимое.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748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Поскольку записи идут строго в конец лога, i-</a:t>
            </a:r>
            <a:r>
              <a:rPr lang="ru-RU" dirty="0" err="1"/>
              <a:t>nodes</a:t>
            </a:r>
            <a:r>
              <a:rPr lang="ru-RU" dirty="0"/>
              <a:t> теряют фиксированное расположение.</a:t>
            </a:r>
          </a:p>
          <a:p>
            <a:r>
              <a:rPr lang="ru-RU" dirty="0"/>
              <a:t>В UNIX адрес i-</a:t>
            </a:r>
            <a:r>
              <a:rPr lang="ru-RU" dirty="0" err="1"/>
              <a:t>node</a:t>
            </a:r>
            <a:r>
              <a:rPr lang="ru-RU" dirty="0"/>
              <a:t> можно вычислить напрямую, но в LFS это невозможно.</a:t>
            </a:r>
          </a:p>
          <a:p>
            <a:r>
              <a:rPr lang="ru-RU" dirty="0"/>
              <a:t>Поэтому используется i-</a:t>
            </a:r>
            <a:r>
              <a:rPr lang="ru-RU" dirty="0" err="1"/>
              <a:t>node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— таблица, которая сопоставляет номер i-</a:t>
            </a:r>
            <a:r>
              <a:rPr lang="ru-RU" dirty="0" err="1"/>
              <a:t>node</a:t>
            </a:r>
            <a:r>
              <a:rPr lang="ru-RU" dirty="0"/>
              <a:t> с реальным адресом последней версии в логе.</a:t>
            </a:r>
            <a:br>
              <a:rPr lang="ru-RU" dirty="0"/>
            </a:br>
            <a:r>
              <a:rPr lang="ru-RU" dirty="0"/>
              <a:t>Эта таблица хранится и на диске, и в кэше памяти, что ускоряет поиск.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8795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бы диск был бесконечным, можно было бы просто дописывать лог бесконечно.</a:t>
            </a:r>
            <a:br>
              <a:rPr lang="ru-RU" dirty="0"/>
            </a:br>
            <a:r>
              <a:rPr lang="ru-RU" dirty="0"/>
              <a:t>Но диск конечен. Старые сегменты переполнены устаревшими блоками — например, старыми версиями файла, который давно был переписан.</a:t>
            </a:r>
          </a:p>
          <a:p>
            <a:r>
              <a:rPr lang="ru-RU" dirty="0"/>
              <a:t>Поэтому в LFS работает отдельный поток — </a:t>
            </a:r>
            <a:r>
              <a:rPr lang="ru-RU" dirty="0" err="1"/>
              <a:t>cleaner</a:t>
            </a:r>
            <a:r>
              <a:rPr lang="ru-RU" dirty="0"/>
              <a:t>. Он просматривает сегмент, сравнивает его содержимое с i-</a:t>
            </a:r>
            <a:r>
              <a:rPr lang="ru-RU" dirty="0" err="1"/>
              <a:t>node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и определяет, что ещё актуально. Живые данные переносятся в новые сегменты, а освобождённые помечаются как свободные.</a:t>
            </a:r>
          </a:p>
          <a:p>
            <a:r>
              <a:rPr lang="ru-RU" dirty="0"/>
              <a:t>Таким образом, лог превращается в кольцевой буфер: один конец используется для записи, другой — для очистки.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3701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Реальные измерения показали, что LFS превосходит классический UNIX FS на порядок при выполнении множества маленьких записей.</a:t>
            </a:r>
          </a:p>
          <a:p>
            <a:r>
              <a:rPr lang="ru-RU" dirty="0"/>
              <a:t>При чтении производительность такая же или даже немного выше благодаря оптимизации работы кэша.</a:t>
            </a:r>
          </a:p>
          <a:p>
            <a:r>
              <a:rPr lang="ru-RU" dirty="0"/>
              <a:t>Таким образом, LFS — это стратегия, идеально подходящая для современных систем, где записи доминируют над чтениями.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1351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Подведём итог.</a:t>
            </a:r>
          </a:p>
          <a:p>
            <a:r>
              <a:rPr lang="ru-RU" dirty="0"/>
              <a:t>LFS — это кардинально иной взгляд на файл-систему.</a:t>
            </a:r>
            <a:br>
              <a:rPr lang="ru-RU" dirty="0"/>
            </a:br>
            <a:r>
              <a:rPr lang="ru-RU" dirty="0"/>
              <a:t>Она превращает диск в лог, пишет только крупными сегментами, ускоряя операции записи на порядок.</a:t>
            </a:r>
          </a:p>
          <a:p>
            <a:r>
              <a:rPr lang="ru-RU" dirty="0"/>
              <a:t>Сложность обеспечивают карта i-</a:t>
            </a:r>
            <a:r>
              <a:rPr lang="ru-RU" dirty="0" err="1"/>
              <a:t>nodes</a:t>
            </a:r>
            <a:r>
              <a:rPr lang="ru-RU" dirty="0"/>
              <a:t> и процесс очистки, но итог — очень высокая производительность и устойчивость к нагрузкам с маленькими обновлениями.</a:t>
            </a:r>
          </a:p>
          <a:p>
            <a:r>
              <a:rPr lang="ru-RU" dirty="0"/>
              <a:t>Благодаря этим преимуществам идеи LFS легли в основу таких систем, как современных </a:t>
            </a:r>
            <a:r>
              <a:rPr lang="ru-RU" dirty="0" err="1"/>
              <a:t>journaling</a:t>
            </a:r>
            <a:r>
              <a:rPr lang="ru-RU" dirty="0"/>
              <a:t> FS и </a:t>
            </a:r>
            <a:r>
              <a:rPr lang="ru-RU" dirty="0" err="1"/>
              <a:t>log-structured</a:t>
            </a:r>
            <a:r>
              <a:rPr lang="ru-RU" dirty="0"/>
              <a:t> системы для SSD.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9165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454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обычной файловой системе даже простейшая операция, например удаление файла, состоит из нескольких последовательных действий.</a:t>
            </a:r>
          </a:p>
          <a:p>
            <a:r>
              <a:rPr lang="ru-RU" dirty="0"/>
              <a:t>Если система упадёт между этими шагами, структура файловой системы окажется несогласованной.</a:t>
            </a:r>
          </a:p>
          <a:p>
            <a:r>
              <a:rPr lang="ru-RU" dirty="0"/>
              <a:t>Возможны утечки блоков, повреждение каталогов, неправильные ссылки на i-</a:t>
            </a:r>
            <a:r>
              <a:rPr lang="ru-RU" dirty="0" err="1"/>
              <a:t>nodes</a:t>
            </a:r>
            <a:r>
              <a:rPr lang="ru-RU" dirty="0"/>
              <a:t>.</a:t>
            </a:r>
          </a:p>
          <a:p>
            <a:r>
              <a:rPr lang="ru-RU" dirty="0"/>
              <a:t>Чтобы избежать этого, современные ОС используют журналирование — механизм, который гарантирует целостность структур файловой системы даже при внезапных сбоях.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4296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Журналируемая</a:t>
            </a:r>
            <a:r>
              <a:rPr lang="ru-RU" dirty="0"/>
              <a:t> файловая система сначала записывает в особый лог то, что собирается выполнить.</a:t>
            </a:r>
          </a:p>
          <a:p>
            <a:r>
              <a:rPr lang="ru-RU" dirty="0"/>
              <a:t>Это похоже на то, как бухгалтер делает черновик перед тем, как вносить данные в основную книгу.</a:t>
            </a:r>
          </a:p>
          <a:p>
            <a:r>
              <a:rPr lang="ru-RU" dirty="0"/>
              <a:t>Как только запись в журнале подтверждена, файловая система выполняет реальные изменения.</a:t>
            </a:r>
          </a:p>
          <a:p>
            <a:r>
              <a:rPr lang="ru-RU" dirty="0"/>
              <a:t>После успешного завершения запись из журнала удаляется.</a:t>
            </a:r>
          </a:p>
          <a:p>
            <a:r>
              <a:rPr lang="ru-RU" dirty="0"/>
              <a:t>Если система падает, при загрузке журнал проверяется:</a:t>
            </a:r>
            <a:br>
              <a:rPr lang="ru-RU" dirty="0"/>
            </a:br>
            <a:r>
              <a:rPr lang="ru-RU" dirty="0"/>
              <a:t>— если в нём есть незавершённая операция → её можно повторить, не опасаясь дополнительных повреждений.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7185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операцию удаления файла.</a:t>
            </a:r>
          </a:p>
          <a:p>
            <a:r>
              <a:rPr lang="ru-RU" dirty="0"/>
              <a:t>В UNIX она выполняется в три шага:</a:t>
            </a:r>
          </a:p>
          <a:p>
            <a:r>
              <a:rPr lang="ru-RU" dirty="0"/>
              <a:t>Удалить запись в каталоге.</a:t>
            </a:r>
          </a:p>
          <a:p>
            <a:r>
              <a:rPr lang="ru-RU" dirty="0"/>
              <a:t>Освободить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r>
              <a:rPr lang="ru-RU" dirty="0"/>
              <a:t>Освободить блоки данных.</a:t>
            </a:r>
          </a:p>
          <a:p>
            <a:r>
              <a:rPr lang="ru-RU" dirty="0"/>
              <a:t>Падение между шагами может привести к различным видам повреждений.</a:t>
            </a:r>
          </a:p>
          <a:p>
            <a:r>
              <a:rPr lang="ru-RU" dirty="0"/>
              <a:t>Например, файл исчез из каталога, но его блоки так и не были освобождены.</a:t>
            </a:r>
            <a:br>
              <a:rPr lang="ru-RU" dirty="0"/>
            </a:br>
            <a:r>
              <a:rPr lang="ru-RU" dirty="0"/>
              <a:t>Или — наоборот — блоки освобождены, но i-</a:t>
            </a:r>
            <a:r>
              <a:rPr lang="ru-RU" dirty="0" err="1"/>
              <a:t>node</a:t>
            </a:r>
            <a:r>
              <a:rPr lang="ru-RU" dirty="0"/>
              <a:t> всё ещё указывает на них.</a:t>
            </a:r>
          </a:p>
          <a:p>
            <a:r>
              <a:rPr lang="ru-RU" dirty="0"/>
              <a:t>Именно этот тип ошибки и предотвращает журналирование.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2256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требование </a:t>
            </a:r>
            <a:r>
              <a:rPr lang="ru-RU" dirty="0" err="1"/>
              <a:t>журналируемых</a:t>
            </a:r>
            <a:r>
              <a:rPr lang="ru-RU" dirty="0"/>
              <a:t> файловых систем — идемпотентность.</a:t>
            </a:r>
          </a:p>
          <a:p>
            <a:r>
              <a:rPr lang="ru-RU" dirty="0"/>
              <a:t>Это значит, что любую операцию можно повторить сколько угодно раз, и она не приведёт к повреждению данных. Например, пометить блок как свободный можно хоть сто раз.</a:t>
            </a:r>
            <a:br>
              <a:rPr lang="ru-RU" dirty="0"/>
            </a:br>
            <a:r>
              <a:rPr lang="ru-RU" dirty="0"/>
              <a:t>А вот добавлять блок в конец свободного списка повторно нельзя — он появится там дважды.</a:t>
            </a:r>
            <a:br>
              <a:rPr lang="ru-RU" dirty="0"/>
            </a:br>
            <a:r>
              <a:rPr lang="ru-RU" dirty="0"/>
              <a:t>Поэтому внутренние структуры данных проектируются так, чтобы все операции были идемпотентными.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0340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ещё большей надёжности </a:t>
            </a:r>
            <a:r>
              <a:rPr lang="ru-RU" dirty="0" err="1"/>
              <a:t>журналируемые</a:t>
            </a:r>
            <a:r>
              <a:rPr lang="ru-RU" dirty="0"/>
              <a:t> файловые системы используют транзакции.</a:t>
            </a:r>
          </a:p>
          <a:p>
            <a:r>
              <a:rPr lang="ru-RU" dirty="0"/>
              <a:t>Все изменения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</a:t>
            </a:r>
            <a:r>
              <a:rPr lang="ru-RU" dirty="0"/>
              <a:t> выполняются как единое целое.</a:t>
            </a:r>
          </a:p>
          <a:p>
            <a:r>
              <a:rPr lang="ru-RU" dirty="0"/>
              <a:t>При сбое до коммита изменения отменяются; после коммита — повторяются до полного завершения.</a:t>
            </a:r>
          </a:p>
          <a:p>
            <a:r>
              <a:rPr lang="ru-RU" dirty="0"/>
              <a:t>Этот механизм уменьшает вероятность потери метаданных и делает файловую систему гораздо более устойчивой к авариям.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1544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Журналирование стало стандартом де-факто.</a:t>
            </a:r>
          </a:p>
          <a:p>
            <a:r>
              <a:rPr lang="ru-RU" dirty="0"/>
              <a:t>В Windows NTFS использует развитую технологию журналирования с 1993 года.</a:t>
            </a:r>
          </a:p>
          <a:p>
            <a:r>
              <a:rPr lang="ru-RU" dirty="0"/>
              <a:t>В Linux первым появился </a:t>
            </a:r>
            <a:r>
              <a:rPr lang="ru-RU" dirty="0" err="1"/>
              <a:t>ReiserFS</a:t>
            </a:r>
            <a:r>
              <a:rPr lang="ru-RU" dirty="0"/>
              <a:t>, но широкое распространение получил ext3 благодаря совместимости с ext2.</a:t>
            </a:r>
          </a:p>
          <a:p>
            <a:r>
              <a:rPr lang="ru-RU" dirty="0"/>
              <a:t>ext4 продолжил эту линию и сейчас является одной из наиболее популярных </a:t>
            </a:r>
            <a:r>
              <a:rPr lang="ru-RU" dirty="0" err="1"/>
              <a:t>журналируемых</a:t>
            </a:r>
            <a:r>
              <a:rPr lang="ru-RU" dirty="0"/>
              <a:t> файловых систем.</a:t>
            </a:r>
          </a:p>
          <a:p>
            <a:r>
              <a:rPr lang="ru-RU" dirty="0"/>
              <a:t>На </a:t>
            </a:r>
            <a:r>
              <a:rPr lang="ru-RU" dirty="0" err="1"/>
              <a:t>macOS</a:t>
            </a:r>
            <a:r>
              <a:rPr lang="ru-RU" dirty="0"/>
              <a:t> </a:t>
            </a:r>
            <a:r>
              <a:rPr lang="ru-RU" dirty="0" err="1"/>
              <a:t>journaling</a:t>
            </a:r>
            <a:r>
              <a:rPr lang="ru-RU" dirty="0"/>
              <a:t> тоже включён по умолчанию.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994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2461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SSD — это не просто «быстрый жёсткий диск». </a:t>
            </a:r>
            <a:r>
              <a:rPr lang="ru-RU" dirty="0" err="1"/>
              <a:t>Флеш</a:t>
            </a:r>
            <a:r>
              <a:rPr lang="ru-RU" dirty="0"/>
              <a:t>-память работает по совершенно другим правилам.</a:t>
            </a:r>
          </a:p>
          <a:p>
            <a:r>
              <a:rPr lang="ru-RU" dirty="0"/>
              <a:t>Здесь нет задержек позиционирования, чтение очень быстрое, но запись медленная и энергозатратная.</a:t>
            </a:r>
          </a:p>
          <a:p>
            <a:r>
              <a:rPr lang="ru-RU" dirty="0"/>
              <a:t>Кроме того, изменить страницу напрямую невозможно — сперва нужно стереть весь блок, содержащий десятки или сотни страниц.</a:t>
            </a:r>
          </a:p>
          <a:p>
            <a:r>
              <a:rPr lang="ru-RU" dirty="0"/>
              <a:t>И самое важное — </a:t>
            </a:r>
            <a:r>
              <a:rPr lang="ru-RU" dirty="0" err="1"/>
              <a:t>флеш</a:t>
            </a:r>
            <a:r>
              <a:rPr lang="ru-RU" dirty="0"/>
              <a:t> изнашивается. Поэтому мы не можем бесконечно перезаписывать одни и те же места.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3999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Из-за асимметрии чтения и записи </a:t>
            </a:r>
            <a:r>
              <a:rPr lang="ru-RU" dirty="0" err="1"/>
              <a:t>флеш</a:t>
            </a:r>
            <a:r>
              <a:rPr lang="ru-RU" dirty="0"/>
              <a:t>-память работает с двумя уровнями гранулярности.</a:t>
            </a:r>
          </a:p>
          <a:p>
            <a:r>
              <a:rPr lang="ru-RU" dirty="0"/>
              <a:t>Страница — минимальная единица чтения/записи.</a:t>
            </a:r>
          </a:p>
          <a:p>
            <a:r>
              <a:rPr lang="ru-RU" dirty="0"/>
              <a:t>Но очистка происходит блоками, которые могут быть в сотни раз больше.</a:t>
            </a:r>
          </a:p>
          <a:p>
            <a:r>
              <a:rPr lang="ru-RU" dirty="0"/>
              <a:t>Это и создаёт основную проблему: изменить байт данных означает переписать весь блок.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4537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обновляем данные, SSD не перезаписывает страницу — это невозможно.</a:t>
            </a:r>
          </a:p>
          <a:p>
            <a:r>
              <a:rPr lang="ru-RU" dirty="0"/>
              <a:t>Он помечает старую страницу как недействительную и пишет новую версию в другом месте.</a:t>
            </a:r>
          </a:p>
          <a:p>
            <a:r>
              <a:rPr lang="ru-RU" dirty="0"/>
              <a:t>Если свободных блоков нет, начинается дорогостоящий процесс стирания.</a:t>
            </a:r>
          </a:p>
          <a:p>
            <a:r>
              <a:rPr lang="ru-RU" dirty="0"/>
              <a:t>Именно поэтому небольшие случайные записи стоят так дорого для </a:t>
            </a:r>
            <a:r>
              <a:rPr lang="ru-RU" dirty="0" err="1"/>
              <a:t>флеш</a:t>
            </a:r>
            <a:r>
              <a:rPr lang="ru-RU" dirty="0"/>
              <a:t>-памяти.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2511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 – Flash Package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30794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FTL — мозг SSD.</a:t>
            </a:r>
          </a:p>
          <a:p>
            <a:r>
              <a:rPr lang="ru-RU" dirty="0"/>
              <a:t>Он скрывает от ОС всю сложность устройства </a:t>
            </a:r>
            <a:r>
              <a:rPr lang="ru-RU" dirty="0" err="1"/>
              <a:t>флеш</a:t>
            </a:r>
            <a:r>
              <a:rPr lang="ru-RU" dirty="0"/>
              <a:t>-памяти и обеспечивает карту соответствия логических адресов физическим.</a:t>
            </a:r>
          </a:p>
          <a:p>
            <a:r>
              <a:rPr lang="ru-RU" dirty="0"/>
              <a:t>Кроме того, FTL занимается распределением нагрузки, перемещением данных, собирает мусор и следит за равномерным износом.</a:t>
            </a:r>
          </a:p>
          <a:p>
            <a:r>
              <a:rPr lang="ru-RU" dirty="0"/>
              <a:t>Из-за сложности FTL — это настоящая «секретная начинка» каждого SSD.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2687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Garbage</a:t>
            </a:r>
            <a:r>
              <a:rPr lang="ru-RU" dirty="0"/>
              <a:t> </a:t>
            </a:r>
            <a:r>
              <a:rPr lang="ru-RU" dirty="0" err="1"/>
              <a:t>collection</a:t>
            </a:r>
            <a:r>
              <a:rPr lang="ru-RU" dirty="0"/>
              <a:t> — это процесс очистки </a:t>
            </a:r>
            <a:r>
              <a:rPr lang="ru-RU" dirty="0" err="1"/>
              <a:t>флеш</a:t>
            </a:r>
            <a:r>
              <a:rPr lang="ru-RU" dirty="0"/>
              <a:t>-памяти от устаревших страниц.</a:t>
            </a:r>
          </a:p>
          <a:p>
            <a:r>
              <a:rPr lang="ru-RU" dirty="0"/>
              <a:t>Алгоритм сложен: нужно выбрать блок, где мало живых данных, аккуратно перенести живые страницы, стереть блок и вернуть его в пул свободных.</a:t>
            </a:r>
          </a:p>
          <a:p>
            <a:r>
              <a:rPr lang="ru-RU" dirty="0"/>
              <a:t>Всё это делает FTL, балансируя </a:t>
            </a:r>
            <a:r>
              <a:rPr lang="ru-RU" dirty="0" err="1"/>
              <a:t>wear-leveling</a:t>
            </a:r>
            <a:r>
              <a:rPr lang="ru-RU" dirty="0"/>
              <a:t>, производительность и состояние устройства.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6165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Обычная файловая система работает с логическими блоками, а SSD — с физическими страницами.</a:t>
            </a:r>
          </a:p>
          <a:p>
            <a:r>
              <a:rPr lang="ru-RU" dirty="0"/>
              <a:t>Когда файл удаляется, ОС знает, какие блоки стали свободны.</a:t>
            </a:r>
          </a:p>
          <a:p>
            <a:r>
              <a:rPr lang="ru-RU" dirty="0"/>
              <a:t>Но SSD об этом не знает!</a:t>
            </a:r>
          </a:p>
          <a:p>
            <a:r>
              <a:rPr lang="ru-RU" dirty="0"/>
              <a:t>Команда TRIM передает эту информацию FTL, позволяя делать </a:t>
            </a:r>
            <a:r>
              <a:rPr lang="ru-RU" dirty="0" err="1"/>
              <a:t>garbage</a:t>
            </a:r>
            <a:r>
              <a:rPr lang="ru-RU" dirty="0"/>
              <a:t> </a:t>
            </a:r>
            <a:r>
              <a:rPr lang="ru-RU" dirty="0" err="1"/>
              <a:t>collection</a:t>
            </a:r>
            <a:r>
              <a:rPr lang="ru-RU" dirty="0"/>
              <a:t> более эффективно.</a:t>
            </a:r>
          </a:p>
          <a:p>
            <a:r>
              <a:rPr lang="ru-RU" dirty="0"/>
              <a:t>Без TRIM SSD работает, но производительность и </a:t>
            </a:r>
            <a:r>
              <a:rPr lang="ru-RU" dirty="0" err="1"/>
              <a:t>wear-leveling</a:t>
            </a:r>
            <a:r>
              <a:rPr lang="ru-RU" dirty="0"/>
              <a:t> страдают.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51387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Вспомним идею </a:t>
            </a:r>
            <a:r>
              <a:rPr lang="ru-RU" dirty="0" err="1"/>
              <a:t>log-structured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.</a:t>
            </a:r>
          </a:p>
          <a:p>
            <a:r>
              <a:rPr lang="ru-RU" dirty="0"/>
              <a:t>Она пишет данные последовательно, большими сегментами — это именно то, что любит </a:t>
            </a:r>
            <a:r>
              <a:rPr lang="ru-RU" dirty="0" err="1"/>
              <a:t>флеш</a:t>
            </a:r>
            <a:r>
              <a:rPr lang="ru-RU" dirty="0"/>
              <a:t>.</a:t>
            </a:r>
          </a:p>
          <a:p>
            <a:r>
              <a:rPr lang="ru-RU" dirty="0"/>
              <a:t>Отсутствие перезаписи </a:t>
            </a:r>
            <a:r>
              <a:rPr lang="ru-RU" dirty="0" err="1"/>
              <a:t>in-place</a:t>
            </a:r>
            <a:r>
              <a:rPr lang="ru-RU" dirty="0"/>
              <a:t> идеально подходит физике SSD.</a:t>
            </a:r>
          </a:p>
          <a:p>
            <a:r>
              <a:rPr lang="ru-RU" dirty="0"/>
              <a:t>Поэтому LFS — естественный кандидат для </a:t>
            </a:r>
            <a:r>
              <a:rPr lang="ru-RU" dirty="0" err="1"/>
              <a:t>флеш</a:t>
            </a:r>
            <a:r>
              <a:rPr lang="ru-RU" dirty="0"/>
              <a:t>-памяти.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55177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 лог-структурированные файловые системы имеют слабое место: обновление метаданных.</a:t>
            </a:r>
          </a:p>
          <a:p>
            <a:r>
              <a:rPr lang="ru-RU" dirty="0"/>
              <a:t>Если файл большой, его структура включает i-</a:t>
            </a:r>
            <a:r>
              <a:rPr lang="ru-RU" dirty="0" err="1"/>
              <a:t>nodes</a:t>
            </a:r>
            <a:r>
              <a:rPr lang="ru-RU" dirty="0"/>
              <a:t> и уровни косвенных блоков.</a:t>
            </a:r>
          </a:p>
          <a:p>
            <a:r>
              <a:rPr lang="ru-RU" dirty="0"/>
              <a:t>Изменение одной страницы запускает каскад пересоздания всех связанных структур.</a:t>
            </a:r>
          </a:p>
          <a:p>
            <a:r>
              <a:rPr lang="ru-RU" dirty="0"/>
              <a:t>Это называется </a:t>
            </a:r>
            <a:r>
              <a:rPr lang="ru-RU" dirty="0" err="1"/>
              <a:t>wandering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 и может вызвать серьёзную нагрузку.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85828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уменьшить число каскадных обновлений, в современных </a:t>
            </a:r>
            <a:r>
              <a:rPr lang="ru-RU" dirty="0" err="1"/>
              <a:t>флеш</a:t>
            </a:r>
            <a:r>
              <a:rPr lang="ru-RU" dirty="0"/>
              <a:t>-ориентированных FS используют глобальные таблицы отображения.</a:t>
            </a:r>
          </a:p>
          <a:p>
            <a:r>
              <a:rPr lang="ru-RU" dirty="0"/>
              <a:t>Они хранят постоянные идентификаторы блоков, а в одном месте — их реальные адреса.</a:t>
            </a:r>
          </a:p>
          <a:p>
            <a:r>
              <a:rPr lang="ru-RU" dirty="0"/>
              <a:t>Поэтому обновление файла требует изменения лишь одной таблицы, а не всей цепочки структур.</a:t>
            </a:r>
          </a:p>
          <a:p>
            <a:r>
              <a:rPr lang="ru-RU" dirty="0"/>
              <a:t>Так работает F2FS — популярная файловая система для </a:t>
            </a:r>
            <a:r>
              <a:rPr lang="ru-RU" dirty="0" err="1"/>
              <a:t>Android</a:t>
            </a:r>
            <a:r>
              <a:rPr lang="ru-RU" dirty="0"/>
              <a:t> и Linux.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7038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завершение: </a:t>
            </a:r>
            <a:r>
              <a:rPr lang="ru-RU" dirty="0" err="1"/>
              <a:t>флеш</a:t>
            </a:r>
            <a:r>
              <a:rPr lang="ru-RU" dirty="0"/>
              <a:t> — это новая модель хранения, и она меняет всё.</a:t>
            </a:r>
          </a:p>
          <a:p>
            <a:r>
              <a:rPr lang="ru-RU" dirty="0" err="1"/>
              <a:t>Журналируемые</a:t>
            </a:r>
            <a:r>
              <a:rPr lang="ru-RU" dirty="0"/>
              <a:t> файловые системы были адаптацией для HDD, а LFS и F2FS — шаг вперёд для </a:t>
            </a:r>
            <a:r>
              <a:rPr lang="ru-RU" dirty="0" err="1"/>
              <a:t>флеш</a:t>
            </a:r>
            <a:r>
              <a:rPr lang="ru-RU" dirty="0"/>
              <a:t>-памяти.</a:t>
            </a:r>
          </a:p>
          <a:p>
            <a:r>
              <a:rPr lang="ru-RU" dirty="0"/>
              <a:t>Современные SSD сложны, но когда файловая система учитывает физику </a:t>
            </a:r>
            <a:r>
              <a:rPr lang="ru-RU" dirty="0" err="1"/>
              <a:t>флеш</a:t>
            </a:r>
            <a:r>
              <a:rPr lang="ru-RU"/>
              <a:t>-памяти, производительность и срок службы устройства значительно улучшаются.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89829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2912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современном компьютере редко используется только одна файловая система.</a:t>
            </a:r>
          </a:p>
          <a:p>
            <a:r>
              <a:rPr lang="ru-RU" dirty="0"/>
              <a:t>На Windows мы можем встретить NTFS, старый FAT-32, флешку с </a:t>
            </a:r>
            <a:r>
              <a:rPr lang="ru-RU" dirty="0" err="1"/>
              <a:t>exFAT</a:t>
            </a:r>
            <a:r>
              <a:rPr lang="ru-RU" dirty="0"/>
              <a:t> и т.д.</a:t>
            </a:r>
          </a:p>
          <a:p>
            <a:r>
              <a:rPr lang="ru-RU" dirty="0"/>
              <a:t>Windows решает это «в лоб»: каждая файловая система — свой логический диск: C:, D:, E:. Между ними нет настоящего объединения.</a:t>
            </a:r>
          </a:p>
          <a:p>
            <a:r>
              <a:rPr lang="ru-RU" dirty="0"/>
              <a:t>В UNIX-подобных системах подход другой: все файловые системы монтируются в </a:t>
            </a:r>
            <a:r>
              <a:rPr lang="ru-RU" b="1" dirty="0"/>
              <a:t>одно дерево каталогов</a:t>
            </a:r>
            <a:r>
              <a:rPr lang="ru-RU" dirty="0"/>
              <a:t>.</a:t>
            </a:r>
          </a:p>
          <a:p>
            <a:r>
              <a:rPr lang="ru-RU" dirty="0"/>
              <a:t>Чтобы это работало прозрачно для приложений, нужен промежуточный слой — </a:t>
            </a:r>
            <a:r>
              <a:rPr lang="ru-RU" b="1" dirty="0"/>
              <a:t>Virtual File System</a:t>
            </a:r>
            <a:r>
              <a:rPr lang="ru-RU" dirty="0"/>
              <a:t>, который скрывает различия между конкретными файловыми системами.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99345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VFS — это прослойка между приложениями и конкретной файловой системой.</a:t>
            </a:r>
          </a:p>
          <a:p>
            <a:r>
              <a:rPr lang="ru-RU" dirty="0"/>
              <a:t>Сверху он предоставляет стандартный POSIX-интерфейс — тот, который видит программист, когда пишет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Снизу VFS работает с конкретными файловыми системами через другой набор функций.</a:t>
            </a:r>
            <a:r>
              <a:rPr lang="en-US" dirty="0"/>
              <a:t> </a:t>
            </a:r>
            <a:r>
              <a:rPr lang="ru-RU" dirty="0"/>
              <a:t>Каждая файловая система должна предоставить реализации этих функций — своего рода «драйвер» файловой системы.</a:t>
            </a:r>
          </a:p>
          <a:p>
            <a:r>
              <a:rPr lang="ru-RU" dirty="0"/>
              <a:t>VFS вызывает нужную функцию в зависимости от того, на каком типе файловой системы находится файл.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0669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Хотя VFS обычно написан на C, внутри он по сути объектно-ориентирован.</a:t>
            </a:r>
          </a:p>
          <a:p>
            <a:r>
              <a:rPr lang="ru-RU" dirty="0"/>
              <a:t>У него есть несколько основных типов объектов:</a:t>
            </a:r>
            <a:br>
              <a:rPr lang="ru-RU" dirty="0"/>
            </a:br>
            <a:r>
              <a:rPr lang="ru-RU" dirty="0"/>
              <a:t>— </a:t>
            </a:r>
            <a:r>
              <a:rPr lang="ru-RU" dirty="0" err="1"/>
              <a:t>superblock</a:t>
            </a:r>
            <a:r>
              <a:rPr lang="ru-RU" dirty="0"/>
              <a:t> описывает файловую систему целиком;</a:t>
            </a:r>
            <a:br>
              <a:rPr lang="ru-RU" dirty="0"/>
            </a:br>
            <a:r>
              <a:rPr lang="ru-RU" dirty="0"/>
              <a:t>— v-</a:t>
            </a:r>
            <a:r>
              <a:rPr lang="ru-RU" dirty="0" err="1"/>
              <a:t>node</a:t>
            </a:r>
            <a:r>
              <a:rPr lang="ru-RU" dirty="0"/>
              <a:t> — конкретный файл;</a:t>
            </a:r>
            <a:br>
              <a:rPr lang="ru-RU" dirty="0"/>
            </a:br>
            <a:r>
              <a:rPr lang="ru-RU" dirty="0"/>
              <a:t>— отдельные структуры описывают каталоги.</a:t>
            </a:r>
          </a:p>
          <a:p>
            <a:r>
              <a:rPr lang="ru-RU" dirty="0"/>
              <a:t>Дополнительно существует таблица монтирования, которая хранит информацию обо всех подключённых файловых системах, и таблицы файловых дескрипторов для каждого процесса. Вместе они позволяют VFS понимать, к какой файловой системе нужно направить запрос.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78092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система загружается, базовая файловая система (</a:t>
            </a:r>
            <a:r>
              <a:rPr lang="ru-RU" dirty="0" err="1"/>
              <a:t>root</a:t>
            </a:r>
            <a:r>
              <a:rPr lang="ru-RU" dirty="0"/>
              <a:t>) регистрируется в VFS.</a:t>
            </a:r>
          </a:p>
          <a:p>
            <a:r>
              <a:rPr lang="ru-RU" dirty="0"/>
              <a:t>При монтировании дополнительных файловых систем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mnt</a:t>
            </a:r>
            <a:r>
              <a:rPr lang="ru-RU" dirty="0"/>
              <a:t> — они тоже регистрируются.</a:t>
            </a:r>
          </a:p>
          <a:p>
            <a:r>
              <a:rPr lang="ru-RU" dirty="0"/>
              <a:t>Регистрация — это, по сути, сообщение VFS:</a:t>
            </a:r>
            <a:br>
              <a:rPr lang="ru-RU" dirty="0"/>
            </a:br>
            <a:r>
              <a:rPr lang="ru-RU" dirty="0"/>
              <a:t>«Вот вектор функций: если тебе нужно прочитать блок,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[3]</a:t>
            </a:r>
            <a:r>
              <a:rPr lang="ru-RU" dirty="0"/>
              <a:t>; если нужно записать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[4]</a:t>
            </a:r>
            <a:r>
              <a:rPr lang="ru-RU" dirty="0"/>
              <a:t> и т.д.».</a:t>
            </a:r>
          </a:p>
          <a:p>
            <a:r>
              <a:rPr lang="ru-RU" dirty="0"/>
              <a:t>После этого VFS не интересуют внутренние детали реализации — он просто вызывает нужную функцию по указателю.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92727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конкретный пример: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O_RDONLY)</a:t>
            </a:r>
            <a:r>
              <a:rPr lang="ru-RU" dirty="0"/>
              <a:t>.</a:t>
            </a:r>
          </a:p>
          <a:p>
            <a:r>
              <a:rPr lang="ru-RU" dirty="0"/>
              <a:t>Сначала системный вызов попадает в VFS.</a:t>
            </a:r>
          </a:p>
          <a:p>
            <a:r>
              <a:rPr lang="ru-RU" dirty="0"/>
              <a:t>VFS разбирает путь, видит,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dirty="0"/>
              <a:t> — это точка монтирования другой файловой системы, и по таблице монтирования находит её </a:t>
            </a:r>
            <a:r>
              <a:rPr lang="ru-RU" dirty="0" err="1"/>
              <a:t>superblock</a:t>
            </a:r>
            <a:r>
              <a:rPr lang="ru-RU" dirty="0"/>
              <a:t>.</a:t>
            </a:r>
          </a:p>
          <a:p>
            <a:r>
              <a:rPr lang="ru-RU" dirty="0"/>
              <a:t>Затем он спускается в каталог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ru-RU" dirty="0"/>
              <a:t>, находит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ru-RU" dirty="0"/>
              <a:t> и запрашивает у конкретной файловой системы </a:t>
            </a:r>
            <a:r>
              <a:rPr lang="ru-RU" dirty="0" err="1"/>
              <a:t>inode</a:t>
            </a:r>
            <a:r>
              <a:rPr lang="ru-RU" dirty="0"/>
              <a:t> этого файла.</a:t>
            </a:r>
          </a:p>
          <a:p>
            <a:r>
              <a:rPr lang="ru-RU" dirty="0"/>
              <a:t>На основе </a:t>
            </a:r>
            <a:r>
              <a:rPr lang="ru-RU" dirty="0" err="1"/>
              <a:t>inode</a:t>
            </a:r>
            <a:r>
              <a:rPr lang="ru-RU" dirty="0"/>
              <a:t> создаётся объект v-</a:t>
            </a:r>
            <a:r>
              <a:rPr lang="ru-RU" dirty="0" err="1"/>
              <a:t>node</a:t>
            </a:r>
            <a:r>
              <a:rPr lang="ru-RU" dirty="0"/>
              <a:t> в памяти. В него записываются атрибуты файла и важнейшая вещь — указатель на таблицу функций этой файловой системы.</a:t>
            </a:r>
          </a:p>
          <a:p>
            <a:r>
              <a:rPr lang="ru-RU" dirty="0"/>
              <a:t>Потом VFS создаёт запись в таблице дескрипторов процесса, ссылающуюся на этот v-</a:t>
            </a:r>
            <a:r>
              <a:rPr lang="ru-RU" dirty="0" err="1"/>
              <a:t>node</a:t>
            </a:r>
            <a:r>
              <a:rPr lang="ru-RU" dirty="0"/>
              <a:t>, и возвращает номер дескриптора пользователю.</a:t>
            </a:r>
          </a:p>
          <a:p>
            <a:r>
              <a:rPr lang="ru-RU" dirty="0"/>
              <a:t>С этого момента процесс может читать файл, не задумываясь, на какой именно файловой системе он расположен.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2078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Теперь, когда файловый дескриптор получен, процесс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.</a:t>
            </a:r>
          </a:p>
          <a:p>
            <a:r>
              <a:rPr lang="ru-RU" dirty="0"/>
              <a:t>VFS берёт номер дескриптора, находит связанную с ним структуру, затем — связанный с ней v-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r>
              <a:rPr lang="ru-RU" dirty="0"/>
              <a:t>Внутри v-</a:t>
            </a:r>
            <a:r>
              <a:rPr lang="ru-RU" dirty="0" err="1"/>
              <a:t>node</a:t>
            </a:r>
            <a:r>
              <a:rPr lang="ru-RU" dirty="0"/>
              <a:t> находится указатель на таблицу функций соответствующей файловой системы.</a:t>
            </a:r>
          </a:p>
          <a:p>
            <a:r>
              <a:rPr lang="ru-RU" dirty="0"/>
              <a:t>VFS вызывает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 из этой таблицы — а дальше работает уже код конкретной файловой системы: ext4, NFS, F2FS или другой.</a:t>
            </a:r>
          </a:p>
          <a:p>
            <a:r>
              <a:rPr lang="ru-RU" dirty="0"/>
              <a:t>Для VFS и приложения нет разницы, где физически находятся данные — на локальном диске, сетевом сервере или флешке.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4165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добавить новую файловую систему, разработчик не должен переписывать VFS.</a:t>
            </a:r>
          </a:p>
          <a:p>
            <a:r>
              <a:rPr lang="ru-RU" dirty="0"/>
              <a:t>Ему достаточно реализовать набор функций, который VFS ожидает от конкретной FS: чтение блока, запись, создание файла, удаление, и так далее.</a:t>
            </a:r>
          </a:p>
          <a:p>
            <a:r>
              <a:rPr lang="ru-RU" dirty="0"/>
              <a:t>Либо, если файловая система уже существует, — написать тонкие обёртки вокруг её собственных вызовов.</a:t>
            </a:r>
          </a:p>
          <a:p>
            <a:r>
              <a:rPr lang="ru-RU"/>
              <a:t>После регистрации в VFS новая файловая система становится равной среди других: приложения продолжают пользоваться теми же POSIX-вызовами и даже не знают, что под ними появился новый тип файловой системы.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752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2670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Windows работа с несколькими файловыми системами построена по принципу полного разделения.</a:t>
            </a:r>
          </a:p>
          <a:p>
            <a:r>
              <a:rPr lang="ru-RU" dirty="0"/>
              <a:t>Каждый тип файловой системы — NTFS, FAT32, </a:t>
            </a:r>
            <a:r>
              <a:rPr lang="ru-RU" dirty="0" err="1"/>
              <a:t>exFAT</a:t>
            </a:r>
            <a:r>
              <a:rPr lang="ru-RU" dirty="0"/>
              <a:t> — размещается на отдельном логическом диске, который получает собственную букву: C:, D:, E:.</a:t>
            </a:r>
          </a:p>
          <a:p>
            <a:r>
              <a:rPr lang="ru-RU" dirty="0"/>
              <a:t>Приложения обязаны указывать, с каким именно диском они работают.</a:t>
            </a:r>
          </a:p>
          <a:p>
            <a:r>
              <a:rPr lang="ru-RU" dirty="0"/>
              <a:t>Системе не требуется объединять разные файловые системы в единую структуру — Windows просто держит их раздельно.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8822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UNIX и Linux делают принципиально иначе.</a:t>
            </a:r>
            <a:br>
              <a:rPr lang="ru-RU" dirty="0"/>
            </a:br>
            <a:r>
              <a:rPr lang="ru-RU" dirty="0"/>
              <a:t>Все файловые системы — даже разных типов — объединяются в единое дерево каталогов.</a:t>
            </a:r>
          </a:p>
          <a:p>
            <a:r>
              <a:rPr lang="ru-RU" dirty="0"/>
              <a:t>Корень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 может быть ext4,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dirty="0"/>
              <a:t> — ext3,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dirty="0"/>
              <a:t> — </a:t>
            </a:r>
            <a:r>
              <a:rPr lang="ru-RU" dirty="0" err="1"/>
              <a:t>ReiserFS</a:t>
            </a:r>
            <a:r>
              <a:rPr lang="ru-RU" dirty="0"/>
              <a:t>, флешка на F2FS может быть временно смонтирована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mnt</a:t>
            </a:r>
            <a:r>
              <a:rPr lang="ru-RU" dirty="0"/>
              <a:t>.</a:t>
            </a:r>
          </a:p>
          <a:p>
            <a:r>
              <a:rPr lang="ru-RU" dirty="0"/>
              <a:t>Однако пользователю это невидимо: он видит лишь одну иерархию каталогов.</a:t>
            </a:r>
          </a:p>
          <a:p>
            <a:r>
              <a:rPr lang="ru-RU" dirty="0"/>
              <a:t>Все различия между типами файловых систем скрываются внутри VFS.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195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Windows путь всегда начинается с буквенного обозначения.</a:t>
            </a:r>
          </a:p>
          <a:p>
            <a:r>
              <a:rPr lang="ru-RU" dirty="0"/>
              <a:t>Это сразу говорит системе, к какой файловой системе нужно обращаться.</a:t>
            </a:r>
          </a:p>
          <a:p>
            <a:r>
              <a:rPr lang="ru-RU" dirty="0"/>
              <a:t>После этого Windows вызывает драйвер NTFS, FAT или иной.</a:t>
            </a:r>
          </a:p>
          <a:p>
            <a:r>
              <a:rPr lang="ru-RU" dirty="0"/>
              <a:t>Важно: Windows не пытается объединить разные файловые системы — она просто даёт им разные диски.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0395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UNIX/Linux путь всегда абсолютен и всегда принадлежит общей иерархии.</a:t>
            </a:r>
          </a:p>
          <a:p>
            <a:r>
              <a:rPr lang="ru-RU" dirty="0"/>
              <a:t>VFS разбирает путь:</a:t>
            </a:r>
            <a:br>
              <a:rPr lang="ru-RU" dirty="0"/>
            </a:br>
            <a:r>
              <a:rPr lang="ru-RU" dirty="0"/>
              <a:t>– проверяет, где находятся точки монтирования;</a:t>
            </a:r>
            <a:br>
              <a:rPr lang="ru-RU" dirty="0"/>
            </a:br>
            <a:r>
              <a:rPr lang="ru-RU" dirty="0"/>
              <a:t>– выбирает правильную файловую систему;</a:t>
            </a:r>
            <a:br>
              <a:rPr lang="ru-RU" dirty="0"/>
            </a:br>
            <a:r>
              <a:rPr lang="ru-RU" dirty="0"/>
              <a:t>– вызывает нужные функции этой файловой системы через таблицу методов.</a:t>
            </a:r>
          </a:p>
          <a:p>
            <a:r>
              <a:rPr lang="ru-RU" dirty="0"/>
              <a:t>Благодаря этому приложения не замечают, что данные хранятся на разных ФС.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8711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сравнить подходы, разница видна невооружённым глазом.</a:t>
            </a:r>
          </a:p>
          <a:p>
            <a:r>
              <a:rPr lang="ru-RU" dirty="0"/>
              <a:t>Windows использует буквенные диски и не пытается объединить разные файловые системы — она лишь переключает драйверы по первой букве пути.</a:t>
            </a:r>
          </a:p>
          <a:p>
            <a:r>
              <a:rPr lang="ru-RU" dirty="0"/>
              <a:t>UNIX/Linux создаёт единое дерево каталогов, внутри которого каждая файловая система занимает свою точку монтирования.</a:t>
            </a:r>
          </a:p>
          <a:p>
            <a:r>
              <a:rPr lang="ru-RU" dirty="0"/>
              <a:t>VFS полностью скрывает различия между файловыми системами, обеспечивая единую POSIX-семантику.</a:t>
            </a:r>
          </a:p>
          <a:p>
            <a:r>
              <a:rPr lang="ru-RU" dirty="0"/>
              <a:t>Это делает UNIX-подобные системы более гибкими для серверов, виртуализации, сетевых файловых систем и разработки новых типов ФС.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2782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 VFS особенно ярко проявляются там, где нужно смешивать множество различных файловых систем.</a:t>
            </a:r>
          </a:p>
          <a:p>
            <a:r>
              <a:rPr lang="ru-RU" dirty="0"/>
              <a:t>Сетевые ФС — NFS или SMB — интегрируются в дерево точно так же, как локальные.</a:t>
            </a:r>
          </a:p>
          <a:p>
            <a:r>
              <a:rPr lang="ru-RU" dirty="0"/>
              <a:t>Виртуальные ФС — например, </a:t>
            </a:r>
            <a:r>
              <a:rPr lang="ru-RU" dirty="0" err="1"/>
              <a:t>псевдофайловая</a:t>
            </a:r>
            <a:r>
              <a:rPr lang="ru-RU" dirty="0"/>
              <a:t> система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</a:t>
            </a:r>
            <a:r>
              <a:rPr lang="ru-RU" dirty="0"/>
              <a:t> — тоже существуют благодаря VFS.</a:t>
            </a:r>
          </a:p>
          <a:p>
            <a:r>
              <a:rPr lang="ru-RU" dirty="0"/>
              <a:t>Приложение всегда работает через POSIX и не знает, что под ним: ext4, NFS или виртуальная структура ядра.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80572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привычной модели C:, D:, Windows поддерживает особый формат путей — UNC.</a:t>
            </a:r>
          </a:p>
          <a:p>
            <a:r>
              <a:rPr lang="ru-RU" dirty="0"/>
              <a:t>Он используется для сетевых ресурсов и позволяет обращаться к файлам по схеме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\\сервер\папка\путь</a:t>
            </a:r>
            <a:r>
              <a:rPr lang="ru-RU" dirty="0"/>
              <a:t>.</a:t>
            </a:r>
          </a:p>
          <a:p>
            <a:r>
              <a:rPr lang="ru-RU" dirty="0"/>
              <a:t>Это избавляет от необходимости вручную назначать буквы дисков сетевым папкам.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6013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UNC-пути не встраиваются в дерево каталогов локального диска.</a:t>
            </a:r>
          </a:p>
          <a:p>
            <a:r>
              <a:rPr lang="ru-RU" dirty="0"/>
              <a:t>Пространство имён UNC живёт параллельно: путь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\\Server\Share</a:t>
            </a:r>
            <a:r>
              <a:rPr lang="ru-RU" dirty="0"/>
              <a:t> никогда не будет доступен как подпапка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C:\</a:t>
            </a:r>
            <a:r>
              <a:rPr lang="ru-RU" dirty="0"/>
              <a:t>.</a:t>
            </a:r>
          </a:p>
          <a:p>
            <a:r>
              <a:rPr lang="ru-RU" dirty="0"/>
              <a:t>Приложения обязаны понимать, что они работают с UNC, и использовать специальные </a:t>
            </a:r>
            <a:r>
              <a:rPr lang="ru-RU" dirty="0" err="1"/>
              <a:t>WinAPI</a:t>
            </a:r>
            <a:r>
              <a:rPr lang="ru-RU" dirty="0"/>
              <a:t>-функции, если путь длинный или требует сетевых привилегий.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8520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UNC полезен для автоматизации, сетевых папок и сценариев, где не хочется назначать буквы дисков.</a:t>
            </a:r>
          </a:p>
          <a:p>
            <a:r>
              <a:rPr lang="ru-RU" dirty="0"/>
              <a:t>Но он не имеет архитектурной интеграции с локальной ФС.</a:t>
            </a:r>
          </a:p>
          <a:p>
            <a:r>
              <a:rPr lang="ru-RU" dirty="0"/>
              <a:t>Поэтому Windows остаётся системой с фактически двумя независимыми пространствами путей — в отличие от UNIX, где всё объединено в одно дерево.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3865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Windows есть специальный формат пути, начинающийся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\\?\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отключает часть обработки, которую </a:t>
            </a:r>
            <a:r>
              <a:rPr lang="ru-RU" dirty="0" err="1"/>
              <a:t>WinAPI</a:t>
            </a:r>
            <a:r>
              <a:rPr lang="ru-RU" dirty="0"/>
              <a:t> обычно делает над путём,</a:t>
            </a:r>
            <a:br>
              <a:rPr lang="ru-RU" dirty="0"/>
            </a:br>
            <a:r>
              <a:rPr lang="ru-RU" dirty="0"/>
              <a:t>— нормализацию, проверку символов, ограничение длины и так далее.</a:t>
            </a:r>
          </a:p>
          <a:p>
            <a:r>
              <a:rPr lang="ru-RU" dirty="0"/>
              <a:t>Благодаря этому можно работать с очень длинными путями и файлами с необычными именами.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70246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Ограничение длины пути в Windows — историческое.</a:t>
            </a:r>
            <a:br>
              <a:rPr lang="ru-RU" dirty="0"/>
            </a:br>
            <a:r>
              <a:rPr lang="ru-RU" dirty="0"/>
              <a:t>Win32 API до сих пор по умолчанию не позволяет работать с путями длиннее 260 символов.</a:t>
            </a:r>
          </a:p>
          <a:p>
            <a:r>
              <a:rPr lang="ru-RU" dirty="0"/>
              <a:t>Чтобы обойти это, применяется префикс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\\?\</a:t>
            </a:r>
            <a:r>
              <a:rPr lang="ru-RU" dirty="0"/>
              <a:t>, который включает режим длинных путей NT </a:t>
            </a:r>
            <a:r>
              <a:rPr lang="ru-RU" dirty="0" err="1"/>
              <a:t>kernel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06573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\\?\</a:t>
            </a:r>
            <a:r>
              <a:rPr lang="ru-RU" dirty="0"/>
              <a:t> можно указывать пути, значительно превышающие MAX_PATH.</a:t>
            </a:r>
          </a:p>
          <a:p>
            <a:r>
              <a:rPr lang="ru-RU" dirty="0"/>
              <a:t>Для сетевых путей используется форма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особенно важно на серверах и при работе со сложными древовидными структурами каталогов.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47394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путь начинается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\\?\</a:t>
            </a:r>
            <a:r>
              <a:rPr lang="ru-RU" dirty="0"/>
              <a:t>, Windows выключает целую серию проверок.</a:t>
            </a:r>
          </a:p>
          <a:p>
            <a:r>
              <a:rPr lang="ru-RU" dirty="0"/>
              <a:t>Путь абсолютно буквально передаётся драйверу файловой системы.</a:t>
            </a:r>
          </a:p>
          <a:p>
            <a:r>
              <a:rPr lang="ru-RU" dirty="0"/>
              <a:t>Это даёт мощность — но требует осторожности, потому что </a:t>
            </a:r>
            <a:r>
              <a:rPr lang="ru-RU" dirty="0" err="1"/>
              <a:t>WinAPI</a:t>
            </a:r>
            <a:r>
              <a:rPr lang="ru-RU" dirty="0"/>
              <a:t> уже не будет защищать от ошибок.</a:t>
            </a:r>
          </a:p>
          <a:p>
            <a:r>
              <a:rPr lang="ru-RU" dirty="0"/>
              <a:t>Есть важные ограничения.</a:t>
            </a:r>
          </a:p>
          <a:p>
            <a:r>
              <a:rPr lang="ru-RU" dirty="0"/>
              <a:t>Например, путь должен быть абсолютным, обратные слэши обязательны, и некоторые старые программы всё равно не смогут его обработать.</a:t>
            </a:r>
          </a:p>
          <a:p>
            <a:r>
              <a:rPr lang="ru-RU" dirty="0"/>
              <a:t>В новых версиях Windows 10/11 режим длинных путей можно включать глобально.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65143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9584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FUSE — это технология Linux, позволяющая реализовать файловую систему полностью в пространстве пользователя.</a:t>
            </a:r>
            <a:br>
              <a:rPr lang="ru-RU" dirty="0"/>
            </a:br>
            <a:r>
              <a:rPr lang="ru-RU" dirty="0"/>
              <a:t>Обычно файловые системы реализуются внутри ядра — что сложно, опасно и требует высокого уровня подготовки.</a:t>
            </a:r>
            <a:br>
              <a:rPr lang="ru-RU" dirty="0"/>
            </a:br>
            <a:r>
              <a:rPr lang="ru-RU" dirty="0"/>
              <a:t>FUSE разделяет задачи: ядро предоставляет минимальный модуль, который передаёт запросы пользовательскому процессу.</a:t>
            </a:r>
            <a:br>
              <a:rPr lang="ru-RU" dirty="0"/>
            </a:br>
            <a:r>
              <a:rPr lang="ru-RU" dirty="0"/>
              <a:t>Это делает разработку файловых систем гораздо проще и безопаснее.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62378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Механизм FUSE состоит из двух частей: крошечного драйвера в ядре и пользовательского процесса, который мы пишем сами.</a:t>
            </a:r>
            <a:br>
              <a:rPr lang="ru-RU" dirty="0"/>
            </a:br>
            <a:r>
              <a:rPr lang="ru-RU" dirty="0"/>
              <a:t>Когда приложение читает или пишет файл, FUSE перехватывает запрос, упаковывает его в сообщение и отправляет нашему процессу.</a:t>
            </a:r>
            <a:br>
              <a:rPr lang="ru-RU" dirty="0"/>
            </a:br>
            <a:r>
              <a:rPr lang="ru-RU" dirty="0"/>
              <a:t>Тот обрабатывает команду — например, читает данные из ZIP-архива, базы данных, удалённого сервера — и возвращает ответ.</a:t>
            </a:r>
            <a:br>
              <a:rPr lang="ru-RU" dirty="0"/>
            </a:br>
            <a:r>
              <a:rPr lang="ru-RU" dirty="0"/>
              <a:t>Это полностью прозрачная подмена логики работы с файлами.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19587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Главное преимущество FUSE в том, что писать файловые системы можно как обычные программы, без риска вывести систему из строя.</a:t>
            </a:r>
            <a:br>
              <a:rPr lang="ru-RU" dirty="0"/>
            </a:br>
            <a:r>
              <a:rPr lang="ru-RU" dirty="0"/>
              <a:t>Для FUSE существуют привязки практически для всех языков: от C и </a:t>
            </a:r>
            <a:r>
              <a:rPr lang="ru-RU" dirty="0" err="1"/>
              <a:t>Rust</a:t>
            </a:r>
            <a:r>
              <a:rPr lang="ru-RU" dirty="0"/>
              <a:t> до Python.</a:t>
            </a:r>
            <a:br>
              <a:rPr lang="ru-RU" dirty="0"/>
            </a:br>
            <a:r>
              <a:rPr lang="ru-RU" dirty="0"/>
              <a:t>Файловая система становится просто приложением: её можно отлаживать, обновлять, перезапускать.</a:t>
            </a:r>
            <a:br>
              <a:rPr lang="ru-RU" dirty="0"/>
            </a:br>
            <a:r>
              <a:rPr lang="ru-RU" dirty="0"/>
              <a:t>И самое важное — можно запускать её даже без </a:t>
            </a:r>
            <a:r>
              <a:rPr lang="ru-RU" dirty="0" err="1"/>
              <a:t>root</a:t>
            </a:r>
            <a:r>
              <a:rPr lang="ru-RU" dirty="0"/>
              <a:t>-прав.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6133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видим FUSE постоянно, даже если не замечаем этого.</a:t>
            </a:r>
            <a:br>
              <a:rPr lang="ru-RU" dirty="0"/>
            </a:br>
            <a:r>
              <a:rPr lang="ru-RU" dirty="0"/>
              <a:t>Например, </a:t>
            </a:r>
            <a:r>
              <a:rPr lang="ru-RU" dirty="0" err="1"/>
              <a:t>sshfs</a:t>
            </a:r>
            <a:r>
              <a:rPr lang="ru-RU" dirty="0"/>
              <a:t> позволяет работать с удалённым сервером как с локальной папкой — всё через FUSE.</a:t>
            </a:r>
            <a:br>
              <a:rPr lang="ru-RU" dirty="0"/>
            </a:br>
            <a:r>
              <a:rPr lang="ru-RU" dirty="0"/>
              <a:t>ntfs-3g — один из самых популярных драйверов NTFS под Linux, и он тоже работает через FUSE.</a:t>
            </a:r>
            <a:br>
              <a:rPr lang="ru-RU" dirty="0"/>
            </a:br>
            <a:r>
              <a:rPr lang="ru-RU" dirty="0"/>
              <a:t>Есть файловые системы, монтирующие ZIP-файлы, сетевые API, облачные сервисы — всё благодаря гибкости 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4056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Структура FUSE очень простая: ядро предоставляет специальный псевдо-устройство /</a:t>
            </a:r>
            <a:r>
              <a:rPr lang="ru-RU" dirty="0" err="1"/>
              <a:t>dev</a:t>
            </a:r>
            <a:r>
              <a:rPr lang="ru-RU" dirty="0"/>
              <a:t>/</a:t>
            </a:r>
            <a:r>
              <a:rPr lang="ru-RU" dirty="0" err="1"/>
              <a:t>fuse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Когда мы запускаем нашу FUSE-ФС, она открывает /</a:t>
            </a:r>
            <a:r>
              <a:rPr lang="ru-RU" dirty="0" err="1"/>
              <a:t>dev</a:t>
            </a:r>
            <a:r>
              <a:rPr lang="ru-RU" dirty="0"/>
              <a:t>/</a:t>
            </a:r>
            <a:r>
              <a:rPr lang="ru-RU" dirty="0" err="1"/>
              <a:t>fuse</a:t>
            </a:r>
            <a:r>
              <a:rPr lang="ru-RU" dirty="0"/>
              <a:t>, регистрирует функции обратного вызова, и ядро начинает слать ей сообщения о файловых операциях.</a:t>
            </a:r>
            <a:br>
              <a:rPr lang="ru-RU" dirty="0"/>
            </a:br>
            <a:r>
              <a:rPr lang="ru-RU" dirty="0"/>
              <a:t>Вся логика — это набор </a:t>
            </a:r>
            <a:r>
              <a:rPr lang="ru-RU" dirty="0" err="1"/>
              <a:t>callback</a:t>
            </a:r>
            <a:r>
              <a:rPr lang="ru-RU" dirty="0"/>
              <a:t>-функций: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readdir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mkdir</a:t>
            </a:r>
            <a:r>
              <a:rPr lang="ru-RU" dirty="0"/>
              <a:t>, и так далее.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696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Хотя FUSE очень удобен, он не заменяет полноценные высокопроизводительные файловые системы.</a:t>
            </a:r>
            <a:br>
              <a:rPr lang="ru-RU" dirty="0"/>
            </a:br>
            <a:r>
              <a:rPr lang="ru-RU" dirty="0"/>
              <a:t>Каждая файловая операция проходит через несколько контекстов: ядро → пользователь → ядро → приложение. Это создаёт задержки.</a:t>
            </a:r>
            <a:br>
              <a:rPr lang="ru-RU" dirty="0"/>
            </a:br>
            <a:r>
              <a:rPr lang="ru-RU" dirty="0"/>
              <a:t>Поэтому FUSE идеально подходит для функциональных, «умных» файловых систем, но не для экстремальных нагрузок.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30610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FUSE особенно хорош там, где файловая система — это просто удобный интерфейс к чему-то другому: к базе данных, облаку, REST API или устройству.</a:t>
            </a:r>
            <a:br>
              <a:rPr lang="ru-RU" dirty="0"/>
            </a:br>
            <a:r>
              <a:rPr lang="ru-RU" dirty="0"/>
              <a:t>И также FUSE незаменим для исследований: можно быстро </a:t>
            </a:r>
            <a:r>
              <a:rPr lang="ru-RU" dirty="0" err="1"/>
              <a:t>прототипировать</a:t>
            </a:r>
            <a:r>
              <a:rPr lang="ru-RU" dirty="0"/>
              <a:t> новые идеи без модификации ядра.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62747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84266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69733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25370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18949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63103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75410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Реальная файловая система должна не просто работать, но работать эффективно: быстро, надёжно и экономно.</a:t>
            </a:r>
          </a:p>
          <a:p>
            <a:r>
              <a:rPr lang="ru-RU" dirty="0"/>
              <a:t>Для этого разработчик ФС должен решить несколько задач — от выбора размера блока до механизмов контроля использования диска пользователями.</a:t>
            </a:r>
          </a:p>
          <a:p>
            <a:r>
              <a:rPr lang="ru-RU" dirty="0"/>
              <a:t>Сегодня мы рассмотрим три ключевых темы: размер блока, управление свободными блоками и дисковые квоты.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6819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только решено хранить файлы фиксированными блоками, возникает вопрос: какой размер блока выбрать?</a:t>
            </a:r>
          </a:p>
          <a:p>
            <a:r>
              <a:rPr lang="ru-RU" dirty="0"/>
              <a:t>Малые блоки дают хорошую плотность хранения — мало потерь на последний неполный блок.</a:t>
            </a:r>
          </a:p>
          <a:p>
            <a:r>
              <a:rPr lang="ru-RU" dirty="0"/>
              <a:t>Но чтение больших файлов разбивается на множество обращений — много </a:t>
            </a:r>
            <a:r>
              <a:rPr lang="ru-RU" dirty="0" err="1"/>
              <a:t>seek</a:t>
            </a:r>
            <a:r>
              <a:rPr lang="ru-RU" dirty="0"/>
              <a:t>, низкая производительность.</a:t>
            </a:r>
          </a:p>
          <a:p>
            <a:r>
              <a:rPr lang="ru-RU" dirty="0"/>
              <a:t>Большие блоки — наоборот: отличная скорость, но большие потери пространства.</a:t>
            </a:r>
          </a:p>
          <a:p>
            <a:endParaRPr lang="ru-RU" dirty="0"/>
          </a:p>
          <a:p>
            <a:r>
              <a:rPr lang="ru-RU" dirty="0"/>
              <a:t>Рассмотрим простой пример — файлы по 4 KB.</a:t>
            </a:r>
          </a:p>
          <a:p>
            <a:r>
              <a:rPr lang="ru-RU" dirty="0"/>
              <a:t>С маленькими блоками мы тратим много операций чтения.</a:t>
            </a:r>
            <a:br>
              <a:rPr lang="ru-RU" dirty="0"/>
            </a:br>
            <a:r>
              <a:rPr lang="ru-RU" dirty="0"/>
              <a:t>С большими блоками теряем дисковое пространство.</a:t>
            </a:r>
          </a:p>
          <a:p>
            <a:r>
              <a:rPr lang="ru-RU" dirty="0"/>
              <a:t>Это классическая дилемма — либо экономим место, либо повышаем производительность.</a:t>
            </a:r>
          </a:p>
          <a:p>
            <a:r>
              <a:rPr lang="ru-RU" dirty="0"/>
              <a:t>Исторически использовали 1–4 KB, но гигантские современные диски позволяют увеличивать блок.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8371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Второй метод — </a:t>
            </a:r>
            <a:r>
              <a:rPr lang="ru-RU" dirty="0" err="1"/>
              <a:t>bitmap</a:t>
            </a:r>
            <a:r>
              <a:rPr lang="ru-RU" dirty="0"/>
              <a:t>.</a:t>
            </a:r>
          </a:p>
          <a:p>
            <a:r>
              <a:rPr lang="ru-RU" dirty="0"/>
              <a:t>Он невероятно эффективен по памяти: всего один бит на блок.</a:t>
            </a:r>
          </a:p>
          <a:p>
            <a:r>
              <a:rPr lang="ru-RU" dirty="0"/>
              <a:t>Для терабайтного диска — всего 125 KB для </a:t>
            </a:r>
            <a:r>
              <a:rPr lang="ru-RU" dirty="0" err="1"/>
              <a:t>bitmap</a:t>
            </a:r>
            <a:r>
              <a:rPr lang="ru-RU" dirty="0"/>
              <a:t>.</a:t>
            </a:r>
          </a:p>
          <a:p>
            <a:r>
              <a:rPr lang="ru-RU" dirty="0"/>
              <a:t>Кроме того, в </a:t>
            </a:r>
            <a:r>
              <a:rPr lang="ru-RU" dirty="0" err="1"/>
              <a:t>bitmap</a:t>
            </a:r>
            <a:r>
              <a:rPr lang="ru-RU" dirty="0"/>
              <a:t> удобно искать подряд идущие свободные блоки, что хорошо для минимизации </a:t>
            </a:r>
            <a:r>
              <a:rPr lang="ru-RU" dirty="0" err="1"/>
              <a:t>seek</a:t>
            </a:r>
            <a:r>
              <a:rPr lang="ru-RU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Второй метод — </a:t>
            </a:r>
            <a:r>
              <a:rPr lang="ru-RU" dirty="0" err="1"/>
              <a:t>bitmap</a:t>
            </a:r>
            <a:r>
              <a:rPr lang="ru-RU" dirty="0"/>
              <a:t>.</a:t>
            </a:r>
          </a:p>
          <a:p>
            <a:r>
              <a:rPr lang="ru-RU" dirty="0"/>
              <a:t>Он невероятно эффективен по памяти: всего один бит на блок.</a:t>
            </a:r>
          </a:p>
          <a:p>
            <a:r>
              <a:rPr lang="ru-RU" dirty="0"/>
              <a:t>Для терабайтного диска — всего 125 KB для </a:t>
            </a:r>
            <a:r>
              <a:rPr lang="ru-RU" dirty="0" err="1"/>
              <a:t>bitmap</a:t>
            </a:r>
            <a:r>
              <a:rPr lang="ru-RU" dirty="0"/>
              <a:t>.</a:t>
            </a:r>
          </a:p>
          <a:p>
            <a:r>
              <a:rPr lang="ru-RU" dirty="0"/>
              <a:t>Кроме того, в </a:t>
            </a:r>
            <a:r>
              <a:rPr lang="ru-RU" dirty="0" err="1"/>
              <a:t>bitmap</a:t>
            </a:r>
            <a:r>
              <a:rPr lang="ru-RU" dirty="0"/>
              <a:t> удобно искать подряд идущие свободные блоки, что хорошо для минимизации </a:t>
            </a:r>
            <a:r>
              <a:rPr lang="ru-RU" dirty="0" err="1"/>
              <a:t>seek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3100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16867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</a:t>
            </a:r>
            <a:r>
              <a:rPr lang="ru-RU" dirty="0" err="1"/>
              <a:t>pointer</a:t>
            </a:r>
            <a:r>
              <a:rPr lang="ru-RU" dirty="0"/>
              <a:t> </a:t>
            </a:r>
            <a:r>
              <a:rPr lang="ru-RU" dirty="0" err="1"/>
              <a:t>block</a:t>
            </a:r>
            <a:r>
              <a:rPr lang="ru-RU" dirty="0"/>
              <a:t> почти пустой или почти полный, временные файлы могут вызвать бурю лишнего дискового I/O.</a:t>
            </a:r>
          </a:p>
          <a:p>
            <a:r>
              <a:rPr lang="ru-RU" dirty="0"/>
              <a:t>Чтобы этого избежать, хранят </a:t>
            </a:r>
            <a:r>
              <a:rPr lang="ru-RU" dirty="0" err="1"/>
              <a:t>pointer</a:t>
            </a:r>
            <a:r>
              <a:rPr lang="ru-RU" dirty="0"/>
              <a:t> </a:t>
            </a:r>
            <a:r>
              <a:rPr lang="ru-RU" dirty="0" err="1"/>
              <a:t>block</a:t>
            </a:r>
            <a:r>
              <a:rPr lang="ru-RU" dirty="0"/>
              <a:t> в памяти примерно наполовину заполненным.</a:t>
            </a:r>
          </a:p>
          <a:p>
            <a:r>
              <a:rPr lang="ru-RU" dirty="0"/>
              <a:t>Тогда создание и удаление временных файлов не вызывает постоянного чтения-записи </a:t>
            </a:r>
            <a:r>
              <a:rPr lang="ru-RU" dirty="0" err="1"/>
              <a:t>pointer</a:t>
            </a:r>
            <a:r>
              <a:rPr lang="ru-RU" dirty="0"/>
              <a:t> </a:t>
            </a:r>
            <a:r>
              <a:rPr lang="ru-RU" dirty="0" err="1"/>
              <a:t>blocks</a:t>
            </a:r>
            <a:r>
              <a:rPr lang="ru-RU" dirty="0"/>
              <a:t> на диск.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01833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Bitmap</a:t>
            </a:r>
            <a:r>
              <a:rPr lang="ru-RU" dirty="0"/>
              <a:t> тоже можно хранить очень эффективно: достаточно держать в памяти только одну его страницу и подгружать остальные по необходимости.</a:t>
            </a:r>
          </a:p>
          <a:p>
            <a:r>
              <a:rPr lang="ru-RU" dirty="0"/>
              <a:t>Это помогает распределять выделения так, что данные располагаются близко друг к другу, уменьшая перемещения головки.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68473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многопользовательских системах всегда есть риск, что один пользователь заполнит весь диск — намеренно или случайно.</a:t>
            </a:r>
          </a:p>
          <a:p>
            <a:r>
              <a:rPr lang="ru-RU" dirty="0"/>
              <a:t>Квоты ограничивают количество файлов и объём хранимых данных для каждого пользователя.</a:t>
            </a:r>
          </a:p>
          <a:p>
            <a:r>
              <a:rPr lang="ru-RU" dirty="0"/>
              <a:t>Есть мягкие и жёсткие лимиты. Жёсткие нарушить нельзя никогда.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21936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пользователь открывает файл, система определяет владельца и связывает файл с записью квоты.</a:t>
            </a:r>
          </a:p>
          <a:p>
            <a:r>
              <a:rPr lang="ru-RU" dirty="0"/>
              <a:t>Каждое добавление блока проверяет лимиты.</a:t>
            </a:r>
          </a:p>
          <a:p>
            <a:r>
              <a:rPr lang="ru-RU" dirty="0"/>
              <a:t>Soft </a:t>
            </a:r>
            <a:r>
              <a:rPr lang="ru-RU" dirty="0" err="1"/>
              <a:t>limit</a:t>
            </a:r>
            <a:r>
              <a:rPr lang="ru-RU" dirty="0"/>
              <a:t> можно превышать, но при входе пользователь получает предупреждение.</a:t>
            </a:r>
          </a:p>
          <a:p>
            <a:r>
              <a:rPr lang="ru-RU" dirty="0"/>
              <a:t>Если он игнорирует предупреждения достаточно долго, система может запретить вход до очистки места.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37559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247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Файловая система — это самое ценное, что хранится на компьютере. Если сгорел сам компьютер — это неприятно, но заменяемо.</a:t>
            </a:r>
            <a:br>
              <a:rPr lang="ru-RU" dirty="0"/>
            </a:br>
            <a:r>
              <a:rPr lang="ru-RU" dirty="0"/>
              <a:t>Если же потеряна файловая система — программы, документы, база клиентов — это зачастую невосполнимо. Поэтому резервное копирование — обязательная часть эксплуатации любого хранилища.</a:t>
            </a:r>
          </a:p>
          <a:p>
            <a:endParaRPr lang="ru-RU" dirty="0"/>
          </a:p>
          <a:p>
            <a:r>
              <a:rPr lang="ru-RU" dirty="0"/>
              <a:t>Бэкапы нужны по двум основным причинам:</a:t>
            </a:r>
          </a:p>
          <a:p>
            <a:pPr marL="228600" indent="-228600">
              <a:buFont typeface="+mj-lt"/>
              <a:buAutoNum type="arabicPeriod"/>
            </a:pPr>
            <a:r>
              <a:rPr lang="ru-RU" b="1" dirty="0"/>
              <a:t>Катастрофы.</a:t>
            </a:r>
            <a:r>
              <a:rPr lang="ru-RU" dirty="0"/>
              <a:t> Случаются редко, но последствия ужасающие: пожар, перепад напряжения, отказ диска.</a:t>
            </a:r>
          </a:p>
          <a:p>
            <a:pPr marL="228600" indent="-228600">
              <a:buFont typeface="+mj-lt"/>
              <a:buAutoNum type="arabicPeriod"/>
            </a:pPr>
            <a:r>
              <a:rPr lang="ru-RU" b="1" dirty="0"/>
              <a:t>Ошибки пользователей.</a:t>
            </a:r>
            <a:r>
              <a:rPr lang="ru-RU" dirty="0"/>
              <a:t> Удалённый файл через неделю вдруг оказался нужным — это гораздо более частый сценарий.</a:t>
            </a:r>
          </a:p>
          <a:p>
            <a:pPr marL="228600" indent="-228600">
              <a:buFont typeface="+mj-lt"/>
              <a:buAutoNum type="arabicPeriod"/>
            </a:pPr>
            <a:endParaRPr lang="ru-RU" dirty="0"/>
          </a:p>
          <a:p>
            <a:r>
              <a:rPr lang="ru-RU" dirty="0"/>
              <a:t>Поэтому организации делают резервные копии ежедневно. Носители бывают разные, но ленты всё ещё используются — они стоят меньше $10 за терабайт. На больших объёмах это существенно.»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78773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Первая проблема — нужно ли копировать </a:t>
            </a:r>
            <a:r>
              <a:rPr lang="ru-RU" i="1" dirty="0"/>
              <a:t>всё</a:t>
            </a:r>
            <a:r>
              <a:rPr lang="ru-RU" dirty="0"/>
              <a:t>. Обычно — нет.</a:t>
            </a:r>
            <a:br>
              <a:rPr lang="ru-RU" dirty="0"/>
            </a:br>
            <a:r>
              <a:rPr lang="ru-RU" dirty="0"/>
              <a:t>Например, папка /</a:t>
            </a:r>
            <a:r>
              <a:rPr lang="ru-RU" dirty="0" err="1"/>
              <a:t>dev</a:t>
            </a:r>
            <a:r>
              <a:rPr lang="ru-RU" dirty="0"/>
              <a:t> в UNIX содержит файловые интерфейсы устройств. Попытка их копировать может «заморозить» программу дампа.</a:t>
            </a:r>
          </a:p>
          <a:p>
            <a:r>
              <a:rPr lang="ru-RU" dirty="0"/>
              <a:t>Временные каталоги и исполняемые файлы, которые можно переустановить, тоже обычно исключают.</a:t>
            </a:r>
          </a:p>
          <a:p>
            <a:endParaRPr lang="ru-RU" dirty="0"/>
          </a:p>
          <a:p>
            <a:r>
              <a:rPr lang="ru-RU" dirty="0"/>
              <a:t>Вторая важная идея — </a:t>
            </a:r>
            <a:r>
              <a:rPr lang="ru-RU" b="1" dirty="0"/>
              <a:t>инкрементальные копии</a:t>
            </a:r>
            <a:r>
              <a:rPr lang="ru-RU" dirty="0"/>
              <a:t>. Полный бэкап может занимать часы и терабайты, поэтому часто копируют только изменённые файлы.</a:t>
            </a:r>
          </a:p>
          <a:p>
            <a:r>
              <a:rPr lang="ru-RU" dirty="0"/>
              <a:t>Но тогда усложняется восстановление: нужно применить полный бэкап, а затем цепочку инкрементальных — в правильном порядке.</a:t>
            </a:r>
          </a:p>
          <a:p>
            <a:endParaRPr lang="ru-RU" dirty="0"/>
          </a:p>
          <a:p>
            <a:r>
              <a:rPr lang="ru-RU" dirty="0"/>
              <a:t>Третье — </a:t>
            </a:r>
            <a:r>
              <a:rPr lang="ru-RU" b="1" dirty="0"/>
              <a:t>компрессия</a:t>
            </a:r>
            <a:r>
              <a:rPr lang="ru-RU" dirty="0"/>
              <a:t>. Она экономит место, но проблема в том, что один дефект на ленте может сделать весь сжатый поток нечитаемым.</a:t>
            </a:r>
          </a:p>
          <a:p>
            <a:endParaRPr lang="ru-RU" dirty="0"/>
          </a:p>
          <a:p>
            <a:r>
              <a:rPr lang="ru-RU" dirty="0"/>
              <a:t>Четвёртое — </a:t>
            </a:r>
            <a:r>
              <a:rPr lang="ru-RU" b="1" dirty="0"/>
              <a:t>консистентность</a:t>
            </a:r>
            <a:r>
              <a:rPr lang="ru-RU" dirty="0"/>
              <a:t>. Если файловая система активно меняется во время бэкапа, копия может быть </a:t>
            </a:r>
            <a:r>
              <a:rPr lang="ru-RU" dirty="0" err="1"/>
              <a:t>неконсистентной</a:t>
            </a:r>
            <a:r>
              <a:rPr lang="ru-RU" dirty="0"/>
              <a:t>. Поэтому были придуманы </a:t>
            </a:r>
            <a:r>
              <a:rPr lang="ru-RU" dirty="0" err="1"/>
              <a:t>snapshots</a:t>
            </a:r>
            <a:r>
              <a:rPr lang="ru-RU" dirty="0"/>
              <a:t> — быстрые снимки состояния: мы фиксируем состояние метаданных, и дальше изменения пишутся в новые блоки.</a:t>
            </a:r>
          </a:p>
          <a:p>
            <a:endParaRPr lang="ru-RU" dirty="0"/>
          </a:p>
          <a:p>
            <a:r>
              <a:rPr lang="ru-RU" dirty="0"/>
              <a:t>И наконец — безопасность бэкап-носителей. Украсть ленту из кабинета администратора гораздо проще, чем взломать сеть. И хранить бэкапы надо вне офиса, иначе пожар уничтожит всё.»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62648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«Физический дамп — это максимально простой способ: мы просто копируем диск блок за блоком, начиная с нулевого.</a:t>
            </a:r>
          </a:p>
          <a:p>
            <a:r>
              <a:rPr lang="ru-RU" dirty="0"/>
              <a:t>Это почти идеальный код: очень простой, практически без ошибок, и работает на полной скорости диска.</a:t>
            </a:r>
          </a:p>
          <a:p>
            <a:r>
              <a:rPr lang="ru-RU" dirty="0"/>
              <a:t>Но минусы значительные: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нельзя выбрать директории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нельзя сделать инкрементальный бэкап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нельзя восстановить один конкретный файл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нужно учитывать </a:t>
            </a:r>
            <a:r>
              <a:rPr lang="ru-RU" dirty="0" err="1"/>
              <a:t>bad</a:t>
            </a:r>
            <a:r>
              <a:rPr lang="ru-RU" dirty="0"/>
              <a:t> </a:t>
            </a:r>
            <a:r>
              <a:rPr lang="ru-RU" dirty="0" err="1"/>
              <a:t>blocks</a:t>
            </a:r>
            <a:r>
              <a:rPr lang="ru-RU" dirty="0"/>
              <a:t>, иначе программа будет падать при чтении</a:t>
            </a:r>
          </a:p>
          <a:p>
            <a:r>
              <a:rPr lang="ru-RU" dirty="0"/>
              <a:t>Поэтому физический </a:t>
            </a:r>
            <a:r>
              <a:rPr lang="ru-RU" dirty="0" err="1"/>
              <a:t>dump</a:t>
            </a:r>
            <a:r>
              <a:rPr lang="ru-RU" dirty="0"/>
              <a:t> используют редко.»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6805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Логический дамп — подход, который используется в UNIX-подобных системах.</a:t>
            </a:r>
            <a:br>
              <a:rPr lang="ru-RU" dirty="0"/>
            </a:br>
            <a:r>
              <a:rPr lang="ru-RU" dirty="0"/>
              <a:t>Он работает с файловой системой логически: обходит дерево каталогов, определяет изменённые файлы, копирует их, а также копирует каталоги, даже если они сами не изменились.</a:t>
            </a:r>
          </a:p>
          <a:p>
            <a:r>
              <a:rPr lang="ru-RU" dirty="0"/>
              <a:t>Почему каталоги тоже нужны?</a:t>
            </a:r>
            <a:br>
              <a:rPr lang="ru-RU" dirty="0"/>
            </a:br>
            <a:r>
              <a:rPr lang="ru-RU" dirty="0"/>
              <a:t>Потому что при восстановлении структуры каталогов мы должны восстановить путь к файлу: нельзя восстановить файл, если каталоги, в которых он лежит, отсутствуют.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9752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«UNIX-алгоритм включает четыре фазы.</a:t>
            </a:r>
          </a:p>
          <a:p>
            <a:r>
              <a:rPr lang="ru-RU" b="1" dirty="0"/>
              <a:t>Фаза 1:</a:t>
            </a:r>
            <a:r>
              <a:rPr lang="ru-RU" dirty="0"/>
              <a:t> рекурсивно посещаем дерево и помечаем все изменённые файлы, а также все каталоги.</a:t>
            </a:r>
          </a:p>
          <a:p>
            <a:r>
              <a:rPr lang="ru-RU" b="1" dirty="0"/>
              <a:t>Фаза 2:</a:t>
            </a:r>
            <a:r>
              <a:rPr lang="ru-RU" dirty="0"/>
              <a:t> убираем те каталоги, где нет изменённых элементов.</a:t>
            </a:r>
          </a:p>
          <a:p>
            <a:r>
              <a:rPr lang="ru-RU" b="1" dirty="0"/>
              <a:t>Фаза 3:</a:t>
            </a:r>
            <a:r>
              <a:rPr lang="ru-RU" dirty="0"/>
              <a:t> записываем каталоги в дамп — они идут первыми, чтобы создать «скелет» структуры при восстановлении.</a:t>
            </a:r>
          </a:p>
          <a:p>
            <a:r>
              <a:rPr lang="ru-RU" b="1" dirty="0"/>
              <a:t>Фаза 4:</a:t>
            </a:r>
            <a:r>
              <a:rPr lang="ru-RU" dirty="0"/>
              <a:t> записываем сами изменённые файлы.</a:t>
            </a:r>
          </a:p>
          <a:p>
            <a:r>
              <a:rPr lang="ru-RU" dirty="0"/>
              <a:t>Такой подход позволяет удобно восстанавливать и отдельные файлы, и всю систему.»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84252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«Восстановление из логического дампа тоже имеет нюансы.</a:t>
            </a:r>
          </a:p>
          <a:p>
            <a:r>
              <a:rPr lang="ru-RU" b="1" dirty="0"/>
              <a:t>Свободные блоки.</a:t>
            </a:r>
            <a:r>
              <a:rPr lang="ru-RU" dirty="0"/>
              <a:t> Их не сохраняют, поэтому после восстановления система заново строит список свободных блоков: это просто «все блоки минус занятые».</a:t>
            </a:r>
          </a:p>
          <a:p>
            <a:r>
              <a:rPr lang="ru-RU" b="1" dirty="0"/>
              <a:t>Ссылки (</a:t>
            </a:r>
            <a:r>
              <a:rPr lang="ru-RU" b="1" dirty="0" err="1"/>
              <a:t>hard</a:t>
            </a:r>
            <a:r>
              <a:rPr lang="ru-RU" b="1" dirty="0"/>
              <a:t> </a:t>
            </a:r>
            <a:r>
              <a:rPr lang="ru-RU" b="1" dirty="0" err="1"/>
              <a:t>links</a:t>
            </a:r>
            <a:r>
              <a:rPr lang="ru-RU" b="1" dirty="0"/>
              <a:t>).</a:t>
            </a:r>
            <a:r>
              <a:rPr lang="ru-RU" dirty="0"/>
              <a:t> Чтобы файл с несколькими ссылками не был восстановлен несколько раз, система должна отслеживать его </a:t>
            </a:r>
            <a:r>
              <a:rPr lang="ru-RU" dirty="0" err="1"/>
              <a:t>inode</a:t>
            </a:r>
            <a:r>
              <a:rPr lang="ru-RU" dirty="0"/>
              <a:t>.</a:t>
            </a:r>
          </a:p>
          <a:p>
            <a:r>
              <a:rPr lang="ru-RU" b="1" dirty="0" err="1"/>
              <a:t>Sparse</a:t>
            </a:r>
            <a:r>
              <a:rPr lang="ru-RU" b="1" dirty="0"/>
              <a:t>-файлы.</a:t>
            </a:r>
            <a:r>
              <a:rPr lang="ru-RU" dirty="0"/>
              <a:t> Если в файле есть "дырки" — пропуски между блоками — их нельзя восстанавливать как реальные нулевые блоки, иначе файл вырастет до гигантского размера.</a:t>
            </a:r>
          </a:p>
          <a:p>
            <a:r>
              <a:rPr lang="ru-RU" b="1" dirty="0"/>
              <a:t>Специальные файлы и FIFO</a:t>
            </a:r>
            <a:r>
              <a:rPr lang="ru-RU" dirty="0"/>
              <a:t> — копировать нельзя, восстановление должно создавать их заново.</a:t>
            </a:r>
          </a:p>
          <a:p>
            <a:r>
              <a:rPr lang="ru-RU" dirty="0"/>
              <a:t>В итоге логическое резервирование — гибкое, надёжное и даёт удобное восстановление.»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71055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«Как и в UNIX, в Windows сам компьютер заменить легко.</a:t>
            </a:r>
            <a:br>
              <a:rPr lang="ru-RU" dirty="0"/>
            </a:br>
            <a:r>
              <a:rPr lang="ru-RU" dirty="0"/>
              <a:t>Но если исчезла файловая система—документы, фотографии, финансовая отчётность—это настоящая катастрофа.</a:t>
            </a:r>
          </a:p>
          <a:p>
            <a:r>
              <a:rPr lang="ru-RU" dirty="0"/>
              <a:t>В Windows встроено несколько механизмов резервного копирования.</a:t>
            </a:r>
            <a:br>
              <a:rPr lang="ru-RU" dirty="0"/>
            </a:br>
            <a:r>
              <a:rPr lang="ru-RU" dirty="0"/>
              <a:t>Даже домашняя система имеет: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i="1" dirty="0"/>
              <a:t>File </a:t>
            </a:r>
            <a:r>
              <a:rPr lang="ru-RU" i="1" dirty="0" err="1"/>
              <a:t>History</a:t>
            </a:r>
            <a:r>
              <a:rPr lang="ru-RU" dirty="0"/>
              <a:t> — хранит старые версии файлов, как UNIX-инкрементальные </a:t>
            </a:r>
            <a:r>
              <a:rPr lang="ru-RU" dirty="0" err="1"/>
              <a:t>dump’ы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i="1" dirty="0" err="1"/>
              <a:t>Backup</a:t>
            </a:r>
            <a:r>
              <a:rPr lang="ru-RU" i="1" dirty="0"/>
              <a:t> </a:t>
            </a:r>
            <a:r>
              <a:rPr lang="ru-RU" i="1" dirty="0" err="1"/>
              <a:t>and</a:t>
            </a:r>
            <a:r>
              <a:rPr lang="ru-RU" i="1" dirty="0"/>
              <a:t> </a:t>
            </a:r>
            <a:r>
              <a:rPr lang="ru-RU" i="1" dirty="0" err="1"/>
              <a:t>Restore</a:t>
            </a:r>
            <a:r>
              <a:rPr lang="ru-RU" dirty="0"/>
              <a:t> — классическая система бэкапа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i="1" dirty="0" err="1"/>
              <a:t>Volume</a:t>
            </a:r>
            <a:r>
              <a:rPr lang="ru-RU" i="1" dirty="0"/>
              <a:t> Shadow </a:t>
            </a:r>
            <a:r>
              <a:rPr lang="ru-RU" i="1" dirty="0" err="1"/>
              <a:t>Copy</a:t>
            </a:r>
            <a:r>
              <a:rPr lang="ru-RU" i="1" dirty="0"/>
              <a:t> Service (VSS)</a:t>
            </a:r>
            <a:r>
              <a:rPr lang="ru-RU" dirty="0"/>
              <a:t> — технологию, позволяющую делать снимки работающей системы</a:t>
            </a:r>
          </a:p>
          <a:p>
            <a:r>
              <a:rPr lang="ru-RU" dirty="0"/>
              <a:t>Все они направлены на два сценария: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катастрофическое восстановление (полная копия тома);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восстановление случайно удалённых или изменённых данных.»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46679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«Резервировать нужно не всё подряд.</a:t>
            </a:r>
          </a:p>
          <a:p>
            <a:r>
              <a:rPr lang="ru-RU" dirty="0"/>
              <a:t>Файлы, которые бессмысленно копировать: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dirty="0"/>
              <a:t>pagefile.sys</a:t>
            </a:r>
            <a:r>
              <a:rPr lang="en-US" dirty="0"/>
              <a:t> — </a:t>
            </a:r>
            <a:r>
              <a:rPr lang="ru-RU" dirty="0"/>
              <a:t>файл подкачки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dirty="0"/>
              <a:t>hiberfil.sys</a:t>
            </a:r>
            <a:r>
              <a:rPr lang="en-US" dirty="0"/>
              <a:t> — </a:t>
            </a:r>
            <a:r>
              <a:rPr lang="ru-RU" dirty="0"/>
              <a:t>файл гибернации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dirty="0"/>
              <a:t>System Volume Information</a:t>
            </a:r>
            <a:r>
              <a:rPr lang="en-US" dirty="0"/>
              <a:t> — </a:t>
            </a:r>
            <a:r>
              <a:rPr lang="ru-RU" dirty="0"/>
              <a:t>системная зона, создаёт сама </a:t>
            </a:r>
            <a:r>
              <a:rPr lang="en-US" dirty="0"/>
              <a:t>Windows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временные каталоги</a:t>
            </a:r>
          </a:p>
          <a:p>
            <a:r>
              <a:rPr lang="ru-RU" dirty="0"/>
              <a:t>Основные пользовательские данные в </a:t>
            </a:r>
            <a:r>
              <a:rPr lang="en-US" dirty="0"/>
              <a:t>Windows </a:t>
            </a:r>
            <a:r>
              <a:rPr lang="ru-RU" dirty="0"/>
              <a:t>хранятся в: </a:t>
            </a:r>
            <a:r>
              <a:rPr lang="en-US" dirty="0"/>
              <a:t>C:\Users\</a:t>
            </a:r>
            <a:r>
              <a:rPr lang="ru-RU" dirty="0" err="1"/>
              <a:t>ИмяПользователя</a:t>
            </a:r>
            <a:r>
              <a:rPr lang="ru-RU" dirty="0"/>
              <a:t>\</a:t>
            </a:r>
          </a:p>
          <a:p>
            <a:r>
              <a:rPr lang="ru-RU" dirty="0"/>
              <a:t>Системные файлы Windows можно восстановить из ISO или Windows Recovery, поэтому их обычно не дублируют.</a:t>
            </a:r>
          </a:p>
          <a:p>
            <a:r>
              <a:rPr lang="ru-RU" dirty="0"/>
              <a:t>Организации часто делают два типа бэкапа: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пользовательские файлы</a:t>
            </a:r>
            <a:r>
              <a:rPr lang="ru-RU" dirty="0"/>
              <a:t> — частые, инкрементальные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системный образ</a:t>
            </a:r>
            <a:r>
              <a:rPr lang="ru-RU" dirty="0"/>
              <a:t> — полный снимок раз в неделю/месяц»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36380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Volume</a:t>
            </a:r>
            <a:r>
              <a:rPr lang="ru-RU" dirty="0"/>
              <a:t> Shadow </a:t>
            </a:r>
            <a:r>
              <a:rPr lang="ru-RU" dirty="0" err="1"/>
              <a:t>Copy</a:t>
            </a:r>
            <a:r>
              <a:rPr lang="ru-RU" dirty="0"/>
              <a:t> Service — ключевая технология Windows, которая делает бэкап консистентным.</a:t>
            </a:r>
          </a:p>
          <a:p>
            <a:r>
              <a:rPr lang="ru-RU" dirty="0"/>
              <a:t>Проблема: нельзя просто так читать работающий файл, особенно базу данных.</a:t>
            </a:r>
          </a:p>
          <a:p>
            <a:r>
              <a:rPr lang="ru-RU" dirty="0"/>
              <a:t>VSS решает это: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приложение сообщает, как «заморозить» свои данные (VSS </a:t>
            </a:r>
            <a:r>
              <a:rPr lang="ru-RU" dirty="0" err="1"/>
              <a:t>Writer</a:t>
            </a:r>
            <a:r>
              <a:rPr lang="ru-RU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VSS создаёт </a:t>
            </a:r>
            <a:r>
              <a:rPr lang="ru-RU" b="1" dirty="0"/>
              <a:t>точку во времени</a:t>
            </a:r>
            <a:r>
              <a:rPr lang="ru-RU" dirty="0"/>
              <a:t>, полностью консистентный </a:t>
            </a:r>
            <a:r>
              <a:rPr lang="ru-RU" dirty="0" err="1"/>
              <a:t>snapshot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бэкап читает данные </a:t>
            </a:r>
            <a:r>
              <a:rPr lang="ru-RU" i="1" dirty="0"/>
              <a:t>как они были в момент снимка</a:t>
            </a:r>
            <a:r>
              <a:rPr lang="ru-RU" dirty="0"/>
              <a:t>, пока система продолжает работать</a:t>
            </a:r>
          </a:p>
          <a:p>
            <a:r>
              <a:rPr lang="ru-RU" dirty="0"/>
              <a:t>Так Windows решает задачу, аналогичную </a:t>
            </a:r>
            <a:r>
              <a:rPr lang="ru-RU" dirty="0" err="1"/>
              <a:t>snapshot’ам</a:t>
            </a:r>
            <a:r>
              <a:rPr lang="ru-RU" dirty="0"/>
              <a:t> в UNIX.»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22260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</a:t>
            </a:r>
            <a:r>
              <a:rPr lang="ru-RU" dirty="0"/>
              <a:t>использует несколько уровня </a:t>
            </a:r>
            <a:r>
              <a:rPr lang="ru-RU" dirty="0" err="1"/>
              <a:t>инкрементальности</a:t>
            </a:r>
            <a:r>
              <a:rPr lang="ru-RU" dirty="0"/>
              <a:t>:</a:t>
            </a:r>
          </a:p>
          <a:p>
            <a:r>
              <a:rPr lang="en-US" b="1" dirty="0"/>
              <a:t>File History</a:t>
            </a:r>
            <a:r>
              <a:rPr lang="en-US" dirty="0"/>
              <a:t> — </a:t>
            </a:r>
            <a:r>
              <a:rPr lang="ru-RU" dirty="0"/>
              <a:t>отслеживает изменения в пользовательских файлах</a:t>
            </a:r>
          </a:p>
          <a:p>
            <a:r>
              <a:rPr lang="en-US" b="1" dirty="0"/>
              <a:t>Previous Versions</a:t>
            </a:r>
            <a:r>
              <a:rPr lang="en-US" dirty="0"/>
              <a:t> — </a:t>
            </a:r>
            <a:r>
              <a:rPr lang="ru-RU" dirty="0"/>
              <a:t>хранит </a:t>
            </a:r>
            <a:r>
              <a:rPr lang="en-US" dirty="0"/>
              <a:t>shadow copies</a:t>
            </a:r>
          </a:p>
          <a:p>
            <a:r>
              <a:rPr lang="en-US" b="1" dirty="0"/>
              <a:t>Backup and Restore</a:t>
            </a:r>
            <a:r>
              <a:rPr lang="en-US" dirty="0"/>
              <a:t> — </a:t>
            </a:r>
            <a:r>
              <a:rPr lang="ru-RU" dirty="0" err="1"/>
              <a:t>томовые</a:t>
            </a:r>
            <a:r>
              <a:rPr lang="ru-RU" dirty="0"/>
              <a:t> инкрементальные копии</a:t>
            </a:r>
          </a:p>
          <a:p>
            <a:r>
              <a:rPr lang="en-US" dirty="0"/>
              <a:t>File History </a:t>
            </a:r>
            <a:r>
              <a:rPr lang="ru-RU" dirty="0"/>
              <a:t>копирует только изменённые файлы, как логический </a:t>
            </a:r>
            <a:r>
              <a:rPr lang="en-US" dirty="0"/>
              <a:t>dump </a:t>
            </a:r>
            <a:r>
              <a:rPr lang="ru-RU" dirty="0"/>
              <a:t>в </a:t>
            </a:r>
            <a:r>
              <a:rPr lang="en-US" dirty="0"/>
              <a:t>UNIX.</a:t>
            </a:r>
          </a:p>
          <a:p>
            <a:r>
              <a:rPr lang="en-US" dirty="0"/>
              <a:t>Previous Versions </a:t>
            </a:r>
            <a:r>
              <a:rPr lang="ru-RU" dirty="0"/>
              <a:t>позволяют открыть файл </a:t>
            </a:r>
            <a:r>
              <a:rPr lang="ru-RU" i="1" dirty="0"/>
              <a:t>как он выглядел вчера или месяц назад</a:t>
            </a:r>
            <a:r>
              <a:rPr lang="ru-RU" dirty="0"/>
              <a:t> — отличное средство борьбы с ошибками пользователей.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00663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Windows поддерживает:</a:t>
            </a:r>
          </a:p>
          <a:p>
            <a:r>
              <a:rPr lang="ru-RU" b="1" dirty="0"/>
              <a:t>Full </a:t>
            </a:r>
            <a:r>
              <a:rPr lang="ru-RU" b="1" dirty="0" err="1"/>
              <a:t>backup</a:t>
            </a:r>
            <a:r>
              <a:rPr lang="ru-RU" dirty="0"/>
              <a:t> — полная копия</a:t>
            </a:r>
          </a:p>
          <a:p>
            <a:r>
              <a:rPr lang="ru-RU" b="1" dirty="0" err="1"/>
              <a:t>Differential</a:t>
            </a:r>
            <a:r>
              <a:rPr lang="ru-RU" dirty="0"/>
              <a:t> — копирует всё, что изменилось со времени последнего полного бэкапа</a:t>
            </a:r>
          </a:p>
          <a:p>
            <a:r>
              <a:rPr lang="ru-RU" b="1" dirty="0" err="1"/>
              <a:t>Incremental</a:t>
            </a:r>
            <a:r>
              <a:rPr lang="ru-RU" dirty="0"/>
              <a:t> — копирует изменения после последнего инкрементального бэкапа</a:t>
            </a:r>
          </a:p>
          <a:p>
            <a:r>
              <a:rPr lang="en-US" b="1" dirty="0"/>
              <a:t>Volume</a:t>
            </a:r>
            <a:r>
              <a:rPr lang="ru-RU" b="1" dirty="0"/>
              <a:t>-</a:t>
            </a:r>
            <a:r>
              <a:rPr lang="ru-RU" b="1" dirty="0" err="1"/>
              <a:t>level</a:t>
            </a:r>
            <a:r>
              <a:rPr lang="ru-RU" b="1" dirty="0"/>
              <a:t> </a:t>
            </a:r>
            <a:r>
              <a:rPr lang="ru-RU" b="1" dirty="0" err="1"/>
              <a:t>backup</a:t>
            </a:r>
            <a:r>
              <a:rPr lang="ru-RU" dirty="0"/>
              <a:t> — копирование уровня тома, работает через VSS</a:t>
            </a:r>
          </a:p>
          <a:p>
            <a:r>
              <a:rPr lang="ru-RU" b="1" dirty="0"/>
              <a:t>System Image</a:t>
            </a:r>
            <a:r>
              <a:rPr lang="ru-RU" dirty="0"/>
              <a:t> — создаёт VHD/VDI с образом всей системы</a:t>
            </a:r>
          </a:p>
          <a:p>
            <a:r>
              <a:rPr lang="ru-RU" dirty="0"/>
              <a:t>Большие организации используют </a:t>
            </a:r>
            <a:r>
              <a:rPr lang="en-US" dirty="0"/>
              <a:t>volume-</a:t>
            </a:r>
            <a:r>
              <a:rPr lang="ru-RU" dirty="0" err="1"/>
              <a:t>level</a:t>
            </a:r>
            <a:r>
              <a:rPr lang="ru-RU" dirty="0"/>
              <a:t> </a:t>
            </a:r>
            <a:r>
              <a:rPr lang="ru-RU" dirty="0" err="1"/>
              <a:t>backup</a:t>
            </a:r>
            <a:r>
              <a:rPr lang="ru-RU" dirty="0"/>
              <a:t>, потому что это быстрее и даёт консистентность.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7165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Windows не использует аналог </a:t>
            </a:r>
            <a:r>
              <a:rPr lang="ru-RU" dirty="0" err="1"/>
              <a:t>dd</a:t>
            </a:r>
            <a:r>
              <a:rPr lang="ru-RU" dirty="0"/>
              <a:t> для резервирования, кроме специальных ситуаций.</a:t>
            </a:r>
          </a:p>
          <a:p>
            <a:r>
              <a:rPr lang="ru-RU" dirty="0"/>
              <a:t>Причина: Windows работает с </a:t>
            </a:r>
            <a:r>
              <a:rPr lang="ru-RU" i="1" dirty="0"/>
              <a:t>томами</a:t>
            </a:r>
            <a:r>
              <a:rPr lang="ru-RU" dirty="0"/>
              <a:t> и </a:t>
            </a:r>
            <a:r>
              <a:rPr lang="ru-RU" i="1" dirty="0"/>
              <a:t>VSS-снимками</a:t>
            </a:r>
            <a:r>
              <a:rPr lang="ru-RU" dirty="0"/>
              <a:t>, а не с сырыми блоками диска.</a:t>
            </a:r>
          </a:p>
          <a:p>
            <a:r>
              <a:rPr lang="ru-RU" dirty="0"/>
              <a:t>Поэтому резервирование: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читается через VSS </a:t>
            </a:r>
            <a:r>
              <a:rPr lang="ru-RU" dirty="0" err="1"/>
              <a:t>snapshot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исключает ненужные системные файлы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повторно анализирует NTFS метаданные (MFT) для восстановления</a:t>
            </a:r>
          </a:p>
          <a:p>
            <a:r>
              <a:rPr lang="ru-RU" dirty="0"/>
              <a:t>В отличие от UNIX, где физический дамп может быть очень простым, в Windows делается акцент на консистентности приложения — SQL, Exchange, NTFS-метаданные.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69649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</a:t>
            </a:r>
            <a:r>
              <a:rPr lang="ru-RU" dirty="0"/>
              <a:t>сталкивается с несколькими типичными сложностями:</a:t>
            </a:r>
          </a:p>
          <a:p>
            <a:r>
              <a:rPr lang="en-US" b="1" dirty="0"/>
              <a:t>Sparse-</a:t>
            </a:r>
            <a:r>
              <a:rPr lang="ru-RU" b="1" dirty="0"/>
              <a:t>файлы </a:t>
            </a:r>
            <a:r>
              <a:rPr lang="en-US" b="1" dirty="0"/>
              <a:t>NTFS</a:t>
            </a:r>
            <a:r>
              <a:rPr lang="en-US" dirty="0"/>
              <a:t> — </a:t>
            </a:r>
            <a:r>
              <a:rPr lang="ru-RU" dirty="0"/>
              <a:t>поддерживаются, но нужно правильно их обрабатывать</a:t>
            </a:r>
          </a:p>
          <a:p>
            <a:r>
              <a:rPr lang="en-US" b="1" dirty="0"/>
              <a:t>Junctions </a:t>
            </a:r>
            <a:r>
              <a:rPr lang="ru-RU" b="1" dirty="0"/>
              <a:t>и </a:t>
            </a:r>
            <a:r>
              <a:rPr lang="en-US" b="1" dirty="0" err="1"/>
              <a:t>symlinks</a:t>
            </a:r>
            <a:r>
              <a:rPr lang="en-US" dirty="0"/>
              <a:t> — </a:t>
            </a:r>
            <a:r>
              <a:rPr lang="ru-RU" dirty="0"/>
              <a:t>могут создавать циклы</a:t>
            </a:r>
          </a:p>
          <a:p>
            <a:r>
              <a:rPr lang="en-US" b="1" dirty="0" err="1"/>
              <a:t>Hardlinks</a:t>
            </a:r>
            <a:r>
              <a:rPr lang="en-US" dirty="0"/>
              <a:t> — </a:t>
            </a:r>
            <a:r>
              <a:rPr lang="ru-RU" dirty="0"/>
              <a:t>один файл может иметь несколько имён в </a:t>
            </a:r>
            <a:r>
              <a:rPr lang="en-US" dirty="0"/>
              <a:t>MFT</a:t>
            </a:r>
          </a:p>
          <a:p>
            <a:r>
              <a:rPr lang="ru-RU" b="1" dirty="0"/>
              <a:t>Реестр</a:t>
            </a:r>
            <a:r>
              <a:rPr lang="ru-RU" dirty="0"/>
              <a:t> — хранится в </a:t>
            </a:r>
            <a:r>
              <a:rPr lang="en-US" dirty="0"/>
              <a:t>hive-</a:t>
            </a:r>
            <a:r>
              <a:rPr lang="ru-RU" dirty="0"/>
              <a:t>файлах:</a:t>
            </a:r>
          </a:p>
          <a:p>
            <a:pPr lvl="1"/>
            <a:r>
              <a:rPr lang="ru-RU" dirty="0"/>
              <a:t>\</a:t>
            </a:r>
            <a:r>
              <a:rPr lang="en-US" dirty="0"/>
              <a:t>Windows\System32\config\SYSTEM</a:t>
            </a:r>
          </a:p>
          <a:p>
            <a:pPr lvl="1"/>
            <a:r>
              <a:rPr lang="en-US" dirty="0"/>
              <a:t>SOFTWARE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SAM</a:t>
            </a:r>
            <a:br>
              <a:rPr lang="en-US" dirty="0"/>
            </a:br>
            <a:r>
              <a:rPr lang="ru-RU" dirty="0"/>
              <a:t>и другие</a:t>
            </a:r>
          </a:p>
          <a:p>
            <a:r>
              <a:rPr lang="en-US" dirty="0"/>
              <a:t>VSS Writers </a:t>
            </a:r>
            <a:r>
              <a:rPr lang="ru-RU" dirty="0"/>
              <a:t>обеспечивают корректное состояние реестра и служб перед </a:t>
            </a:r>
            <a:r>
              <a:rPr lang="en-US" dirty="0"/>
              <a:t>snapshot’</a:t>
            </a:r>
            <a:r>
              <a:rPr lang="ru-RU" dirty="0"/>
              <a:t>ом, иначе восстановление системы может быть некорректным.»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0866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Сценарии восстановления:</a:t>
            </a:r>
          </a:p>
          <a:p>
            <a:r>
              <a:rPr lang="ru-RU" b="1" dirty="0"/>
              <a:t>File </a:t>
            </a:r>
            <a:r>
              <a:rPr lang="ru-RU" b="1" dirty="0" err="1"/>
              <a:t>History</a:t>
            </a:r>
            <a:r>
              <a:rPr lang="ru-RU" dirty="0"/>
              <a:t> — «вернуть прежнюю версию» файла или папки</a:t>
            </a:r>
          </a:p>
          <a:p>
            <a:r>
              <a:rPr lang="ru-RU" b="1" dirty="0" err="1"/>
              <a:t>Previous</a:t>
            </a:r>
            <a:r>
              <a:rPr lang="ru-RU" b="1" dirty="0"/>
              <a:t> </a:t>
            </a:r>
            <a:r>
              <a:rPr lang="ru-RU" b="1" dirty="0" err="1"/>
              <a:t>Versions</a:t>
            </a:r>
            <a:r>
              <a:rPr lang="ru-RU" dirty="0"/>
              <a:t> — восстановить состояние каталога по VSS</a:t>
            </a:r>
          </a:p>
          <a:p>
            <a:r>
              <a:rPr lang="ru-RU" b="1" dirty="0" err="1"/>
              <a:t>Backup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Restore</a:t>
            </a:r>
            <a:r>
              <a:rPr lang="ru-RU" dirty="0"/>
              <a:t> — восстановить весь диск</a:t>
            </a:r>
          </a:p>
          <a:p>
            <a:r>
              <a:rPr lang="ru-RU" b="1" dirty="0"/>
              <a:t>System Image Recovery</a:t>
            </a:r>
            <a:r>
              <a:rPr lang="ru-RU" dirty="0"/>
              <a:t> — полная </a:t>
            </a:r>
            <a:r>
              <a:rPr lang="ru-RU" dirty="0" err="1"/>
              <a:t>перезаливка</a:t>
            </a:r>
            <a:r>
              <a:rPr lang="ru-RU" dirty="0"/>
              <a:t> системы, как клон диска</a:t>
            </a:r>
          </a:p>
          <a:p>
            <a:r>
              <a:rPr lang="ru-RU" dirty="0"/>
              <a:t>Как и в UNIX, свободное пространство не хранится в бэкапе — NTFS пересобирает </a:t>
            </a:r>
            <a:r>
              <a:rPr lang="ru-RU" dirty="0" err="1"/>
              <a:t>bitmap</a:t>
            </a:r>
            <a:r>
              <a:rPr lang="ru-RU" dirty="0"/>
              <a:t> блоков автоматически.</a:t>
            </a:r>
          </a:p>
          <a:p>
            <a:r>
              <a:rPr lang="ru-RU" dirty="0"/>
              <a:t>Ссылки и </a:t>
            </a:r>
            <a:r>
              <a:rPr lang="ru-RU" dirty="0" err="1"/>
              <a:t>sparse</a:t>
            </a:r>
            <a:r>
              <a:rPr lang="ru-RU" dirty="0"/>
              <a:t>-файлы корректно восстанавливаются, если бэкап сделан через VSS.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4123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75069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Файловые системы активно кэшируют данные: i-</a:t>
            </a:r>
            <a:r>
              <a:rPr lang="ru-RU" dirty="0" err="1"/>
              <a:t>node’ы</a:t>
            </a:r>
            <a:r>
              <a:rPr lang="ru-RU" dirty="0"/>
              <a:t>, каталоги, битовые карты свободных блоков.</a:t>
            </a:r>
            <a:br>
              <a:rPr lang="ru-RU" dirty="0"/>
            </a:br>
            <a:r>
              <a:rPr lang="ru-RU" dirty="0"/>
              <a:t>Операционная система не пишет изменения немедленно — они копятся в памяти и сбрасываются на диск позже.</a:t>
            </a:r>
          </a:p>
          <a:p>
            <a:r>
              <a:rPr lang="ru-RU" dirty="0"/>
              <a:t>Если происходит авария — например, отключение питания или ядро падает — часть обновлений оказывается не записанной. Это может привести к тому, что структура файловой системы станет </a:t>
            </a:r>
            <a:r>
              <a:rPr lang="ru-RU" i="1" dirty="0"/>
              <a:t>несогласованной</a:t>
            </a:r>
            <a:r>
              <a:rPr lang="ru-RU" dirty="0"/>
              <a:t>: в каталогах упоминаются файлы, которых не существует; блоки помечены как свободные, но фактически заняты; или наоборот — заняты, но ни один файл на них не ссылается.</a:t>
            </a:r>
          </a:p>
          <a:p>
            <a:r>
              <a:rPr lang="ru-RU" dirty="0"/>
              <a:t>Особенно опасно, когда повреждены i-</a:t>
            </a:r>
            <a:r>
              <a:rPr lang="ru-RU" dirty="0" err="1"/>
              <a:t>node</a:t>
            </a:r>
            <a:r>
              <a:rPr lang="ru-RU" dirty="0"/>
              <a:t> блоки или каталог — то есть критические структуры, управляющие всей ФС.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50998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восстановления согласованности почти все ОС имеют специальные утилиты.</a:t>
            </a:r>
          </a:p>
          <a:p>
            <a:r>
              <a:rPr lang="ru-RU" dirty="0"/>
              <a:t>В UNIX/Linux это знаменитая 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fsck</a:t>
            </a:r>
            <a:r>
              <a:rPr lang="ru-RU" dirty="0"/>
              <a:t> — </a:t>
            </a:r>
            <a:r>
              <a:rPr lang="ru-RU" dirty="0" err="1"/>
              <a:t>file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check</a:t>
            </a:r>
            <a:r>
              <a:rPr lang="ru-RU" dirty="0"/>
              <a:t>. Она проверяет целостность каждого раздела независимо. В Windows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chkdsk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sfc</a:t>
            </a:r>
            <a:r>
              <a:rPr lang="ru-RU" dirty="0"/>
              <a:t>, но принцип примерно один: анализировать структуру ФС и устранять обнаруженные несоответствия.</a:t>
            </a:r>
          </a:p>
          <a:p>
            <a:r>
              <a:rPr lang="ru-RU" dirty="0"/>
              <a:t>При этом </a:t>
            </a:r>
            <a:r>
              <a:rPr lang="ru-RU" dirty="0" err="1"/>
              <a:t>журналируемые</a:t>
            </a:r>
            <a:r>
              <a:rPr lang="ru-RU" dirty="0"/>
              <a:t> файловые системы, такие как ext4, NTFS, </a:t>
            </a:r>
            <a:r>
              <a:rPr lang="ru-RU" dirty="0" err="1"/>
              <a:t>ReiserFS</a:t>
            </a:r>
            <a:r>
              <a:rPr lang="ru-RU" dirty="0"/>
              <a:t>, обладают встроенными механизмами восстановления: после сбоя они «доигрывают» журнал и сами исправляют большинство ошибок без запуска отдельного проверяющего инструмента.»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75913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проверке блоков </a:t>
            </a:r>
            <a:r>
              <a:rPr lang="ru-RU" dirty="0" err="1"/>
              <a:t>fsck</a:t>
            </a:r>
            <a:r>
              <a:rPr lang="ru-RU" dirty="0"/>
              <a:t> создаёт две таблицы, где каждому блоку диска соответствует счётчик: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Сколько раз он встречается в файлах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Сколько раз он встречается в списке свободных блоков</a:t>
            </a:r>
          </a:p>
          <a:p>
            <a:r>
              <a:rPr lang="ru-RU" dirty="0"/>
              <a:t>Алгоритм обходит </a:t>
            </a:r>
            <a:r>
              <a:rPr lang="ru-RU" i="1" dirty="0"/>
              <a:t>все i-</a:t>
            </a:r>
            <a:r>
              <a:rPr lang="ru-RU" i="1" dirty="0" err="1"/>
              <a:t>node’ы</a:t>
            </a:r>
            <a:r>
              <a:rPr lang="ru-RU" dirty="0"/>
              <a:t> (чтение производится через </a:t>
            </a:r>
            <a:r>
              <a:rPr lang="ru-RU" dirty="0" err="1"/>
              <a:t>raw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, минуя ФС), извлекает адреса блоков и увеличивает счётчики. Затем анализируется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 или </a:t>
            </a:r>
            <a:r>
              <a:rPr lang="ru-RU" dirty="0" err="1"/>
              <a:t>bitmap</a:t>
            </a:r>
            <a:r>
              <a:rPr lang="ru-RU" dirty="0"/>
              <a:t>, и тоже обновляются счётчики.</a:t>
            </a:r>
          </a:p>
          <a:p>
            <a:r>
              <a:rPr lang="ru-RU" dirty="0"/>
              <a:t>В идеале каждый блок должен появиться либо среди занятых, либо среди свободных — но ровно один раз. Сбой может привести к трём типичным ошибкам.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86045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59717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случай — блок </a:t>
            </a:r>
            <a:r>
              <a:rPr lang="ru-RU" i="1" dirty="0"/>
              <a:t>не значится</a:t>
            </a:r>
            <a:r>
              <a:rPr lang="ru-RU" dirty="0"/>
              <a:t> ни среди занятых, ни среди свободных. Это потерянное пространство. Самое простое решение — вернуть его в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.</a:t>
            </a:r>
          </a:p>
          <a:p>
            <a:r>
              <a:rPr lang="ru-RU" dirty="0"/>
              <a:t>Второй случай — блок дважды отмечен как свободный. Такая ситуация возможна, если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 — список, а не битовая карта. Исправление простое — перестроить список свободных блоков.</a:t>
            </a:r>
          </a:p>
          <a:p>
            <a:r>
              <a:rPr lang="ru-RU" dirty="0"/>
              <a:t>Третий и самый опасный случай — один блок включён в два разных файла. Если любой из этих файлов удалить, блок попадёт в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, и позже его могут перезаписать другие файлы. Поэтому </a:t>
            </a:r>
            <a:r>
              <a:rPr lang="ru-RU" dirty="0" err="1"/>
              <a:t>fsck</a:t>
            </a:r>
            <a:r>
              <a:rPr lang="ru-RU" dirty="0"/>
              <a:t> создаёт копию блока и корректирует один из файлов.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1129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этап — проверка согласованности каталогов. Для каждого i-</a:t>
            </a:r>
            <a:r>
              <a:rPr lang="ru-RU" dirty="0" err="1"/>
              <a:t>node</a:t>
            </a:r>
            <a:r>
              <a:rPr lang="ru-RU" dirty="0"/>
              <a:t> </a:t>
            </a:r>
            <a:r>
              <a:rPr lang="ru-RU" dirty="0" err="1"/>
              <a:t>fsck</a:t>
            </a:r>
            <a:r>
              <a:rPr lang="ru-RU" dirty="0"/>
              <a:t> считает, в скольких каталогах он встречается. Затем проверяет его внутренний атрибут — </a:t>
            </a:r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.</a:t>
            </a:r>
          </a:p>
          <a:p>
            <a:r>
              <a:rPr lang="ru-RU" dirty="0"/>
              <a:t>Есть два варианта ошибок: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 больше реального количества ссылок. Эта ошибка просто приводит к тому, что файл никогда не удалится полностью, и место на диске будет утекать. Исправляется уменьшением счётчика.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 меньше числа ссылок. Это куда опаснее: если удалить один </a:t>
            </a:r>
            <a:r>
              <a:rPr lang="ru-RU" dirty="0" err="1"/>
              <a:t>каталогную</a:t>
            </a:r>
            <a:r>
              <a:rPr lang="ru-RU" dirty="0"/>
              <a:t> ссылку, </a:t>
            </a:r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 станет 0, и система освободит блоки, даже если файл всё ещё используется другим каталогом.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8741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Дополнительно проверяются: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корректность формата каталогов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допустимость i-</a:t>
            </a:r>
            <a:r>
              <a:rPr lang="ru-RU" dirty="0" err="1"/>
              <a:t>node</a:t>
            </a:r>
            <a:r>
              <a:rPr lang="ru-RU" dirty="0"/>
              <a:t> номеров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подозрительные права доступа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слишком большие каталоги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SUID </a:t>
            </a:r>
            <a:r>
              <a:rPr lang="ru-RU" dirty="0" err="1"/>
              <a:t>root</a:t>
            </a:r>
            <a:r>
              <a:rPr lang="ru-RU" dirty="0"/>
              <a:t> файлы в пользовательских каталогах — потенциальный риск безопасности</a:t>
            </a:r>
          </a:p>
          <a:p>
            <a:r>
              <a:rPr lang="ru-RU" dirty="0"/>
              <a:t>Также проверяется корректность специальных файлов: </a:t>
            </a:r>
            <a:r>
              <a:rPr lang="ru-RU" dirty="0" err="1"/>
              <a:t>pipes</a:t>
            </a:r>
            <a:r>
              <a:rPr lang="ru-RU" dirty="0"/>
              <a:t>, </a:t>
            </a:r>
            <a:r>
              <a:rPr lang="ru-RU" dirty="0" err="1"/>
              <a:t>device</a:t>
            </a:r>
            <a:r>
              <a:rPr lang="ru-RU" dirty="0"/>
              <a:t> </a:t>
            </a:r>
            <a:r>
              <a:rPr lang="ru-RU" dirty="0" err="1"/>
              <a:t>nodes</a:t>
            </a:r>
            <a:r>
              <a:rPr lang="ru-RU" dirty="0"/>
              <a:t>, </a:t>
            </a:r>
            <a:r>
              <a:rPr lang="ru-RU" dirty="0" err="1"/>
              <a:t>sockets</a:t>
            </a:r>
            <a:r>
              <a:rPr lang="ru-RU" dirty="0"/>
              <a:t>. Они не должны восстанавливаться как обычные файлы.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26840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что насчёт ошибок пользователя?</a:t>
            </a:r>
            <a:br>
              <a:rPr lang="ru-RU" dirty="0"/>
            </a:br>
            <a:r>
              <a:rPr lang="ru-RU" dirty="0"/>
              <a:t>UNIX здесь строг — если пользователь ошибся с шаблоном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</a:t>
            </a:r>
            <a:r>
              <a:rPr lang="ru-RU" dirty="0"/>
              <a:t>, ничего восстановить нельзя, если заранее не настроены </a:t>
            </a:r>
            <a:r>
              <a:rPr lang="ru-RU" dirty="0" err="1"/>
              <a:t>snapshot’ы</a:t>
            </a:r>
            <a:r>
              <a:rPr lang="ru-RU" dirty="0"/>
              <a:t> или </a:t>
            </a:r>
            <a:r>
              <a:rPr lang="ru-RU" dirty="0" err="1"/>
              <a:t>backup</a:t>
            </a:r>
            <a:r>
              <a:rPr lang="ru-RU" dirty="0"/>
              <a:t>.</a:t>
            </a:r>
          </a:p>
          <a:p>
            <a:r>
              <a:rPr lang="ru-RU" dirty="0"/>
              <a:t>Windows действует мягче: удалённые файлы перемещаются в </a:t>
            </a:r>
            <a:r>
              <a:rPr lang="ru-RU" dirty="0" err="1"/>
              <a:t>Recycle</a:t>
            </a:r>
            <a:r>
              <a:rPr lang="ru-RU" dirty="0"/>
              <a:t> </a:t>
            </a:r>
            <a:r>
              <a:rPr lang="ru-RU" dirty="0" err="1"/>
              <a:t>Bin</a:t>
            </a:r>
            <a:r>
              <a:rPr lang="ru-RU" dirty="0"/>
              <a:t>. Их легко вернуть. Но стоит понимать: корзина защищает от случайного удаления, но не от неверного шаблона или скрипта, который удаляет слишком много.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17370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00082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Главная причина всех оптимизаций в файловых системах — огромная разница в скорости между памятью и диском.</a:t>
            </a:r>
            <a:br>
              <a:rPr lang="ru-RU" dirty="0"/>
            </a:br>
            <a:r>
              <a:rPr lang="ru-RU" dirty="0"/>
              <a:t>Память — 10 наносекунд, SSD — десятки микросекунд, а магнитный диск добавляет ещё миллисекунды на перемещение головки и ожидание сектора.</a:t>
            </a:r>
            <a:br>
              <a:rPr lang="ru-RU" dirty="0"/>
            </a:br>
            <a:r>
              <a:rPr lang="ru-RU" dirty="0"/>
              <a:t>Это разница в </a:t>
            </a:r>
            <a:r>
              <a:rPr lang="ru-RU" i="1" dirty="0"/>
              <a:t>миллионы раз</a:t>
            </a:r>
            <a:r>
              <a:rPr lang="ru-RU" dirty="0"/>
              <a:t>, и файловая система должна всеми способами уменьшать количество обращений к диску.</a:t>
            </a:r>
            <a:br>
              <a:rPr lang="ru-RU" dirty="0"/>
            </a:br>
            <a:r>
              <a:rPr lang="ru-RU" dirty="0"/>
              <a:t>Отсюда — кэширование, опережающее чтение, группировка блоков и многие другие методы.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0188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Кэширование — главный способ ускорения работы дисковой подсистемы.</a:t>
            </a:r>
            <a:br>
              <a:rPr lang="ru-RU" dirty="0"/>
            </a:br>
            <a:r>
              <a:rPr lang="ru-RU" dirty="0"/>
              <a:t>При каждом чтении система сначала проверяет, есть ли нужный блок в кэше. Если да — диск не участвует. Если нет — блок загружается в память и остаётся там для последующих операций.</a:t>
            </a:r>
          </a:p>
          <a:p>
            <a:r>
              <a:rPr lang="ru-RU" dirty="0"/>
              <a:t>Блоки организованы в хеш-таблицу, чтобы быстро проверять наличие. При заполнении кэша используется политика вытеснения — часто LRU.</a:t>
            </a:r>
          </a:p>
          <a:p>
            <a:r>
              <a:rPr lang="ru-RU" dirty="0"/>
              <a:t>Однако — парадокс — в файловых системах </a:t>
            </a:r>
            <a:r>
              <a:rPr lang="ru-RU" i="1" dirty="0"/>
              <a:t>точный LRU вреден</a:t>
            </a:r>
            <a:r>
              <a:rPr lang="ru-RU" dirty="0"/>
              <a:t>. Почему?</a:t>
            </a:r>
            <a:br>
              <a:rPr lang="ru-RU" dirty="0"/>
            </a:br>
            <a:r>
              <a:rPr lang="ru-RU" dirty="0"/>
              <a:t>Потому что критические структуры, такие как i-</a:t>
            </a:r>
            <a:r>
              <a:rPr lang="ru-RU" dirty="0" err="1"/>
              <a:t>node</a:t>
            </a:r>
            <a:r>
              <a:rPr lang="ru-RU" dirty="0"/>
              <a:t> блоки, могут слишком долго «жить» в кэше без записи на диск. Если произойдёт сбой — файл может быть потерян или повреждён.</a:t>
            </a:r>
          </a:p>
          <a:p>
            <a:r>
              <a:rPr lang="ru-RU" dirty="0"/>
              <a:t>Поэтому блоки делятся на категории: одни ставятся в конец списка (если могут понадобиться снова), другие — в начало, чтобы как можно скорее освободить место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88248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Консистентность файловой системы важнее скорости.</a:t>
            </a:r>
            <a:br>
              <a:rPr lang="ru-RU" dirty="0"/>
            </a:br>
            <a:r>
              <a:rPr lang="ru-RU" dirty="0"/>
              <a:t>Поэтому если изменяется критический блок — структура каталогов, i-</a:t>
            </a:r>
            <a:r>
              <a:rPr lang="ru-RU" dirty="0" err="1"/>
              <a:t>node</a:t>
            </a:r>
            <a:r>
              <a:rPr lang="ru-RU" dirty="0"/>
              <a:t>, битовая карта свободного пространства — такие блоки должны быть записаны на диск немедленно. Это напрямую снижает риск повреждения структуры ФС.</a:t>
            </a:r>
          </a:p>
          <a:p>
            <a:r>
              <a:rPr lang="ru-RU" dirty="0"/>
              <a:t>Обычные данные, например текст файла, можно отложить, но и здесь есть ограничения — иначе пользователь может потерять целый день работы, если кэш ещё не сбросился на диск.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36649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UNIX изменённые блоки периодически сбрасываются командой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Фоновая служба делает это каждые 30 секунд — это компромисс между скоростью и надёжностью.</a:t>
            </a:r>
          </a:p>
          <a:p>
            <a:r>
              <a:rPr lang="ru-RU" dirty="0"/>
              <a:t>Первоначальные версии Windows/MS-DOS применяли </a:t>
            </a:r>
            <a:r>
              <a:rPr lang="ru-RU" dirty="0" err="1"/>
              <a:t>write-through</a:t>
            </a:r>
            <a:r>
              <a:rPr lang="ru-RU" dirty="0"/>
              <a:t>: каждый байт записывался на диск немедленно. Это делалось потому, что данные лежали на съёмных носителях, и неожиданное извлечение дискеты нельзя было предусмотреть.</a:t>
            </a:r>
          </a:p>
          <a:p>
            <a:r>
              <a:rPr lang="ru-RU" dirty="0"/>
              <a:t>Сейчас Windows использует кэширование, но NTFS компенсирует риски журналированием — критические данные фиксируются в журнале перед записью.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48215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Раньше существовали два разных кэша: </a:t>
            </a:r>
            <a:r>
              <a:rPr lang="ru-RU" dirty="0" err="1"/>
              <a:t>buffer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 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Buffer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 работал с «дисковыми блоками»,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 — с «страницами памяти». Но данные зачастую были одни и те же, просто хранились дважды.</a:t>
            </a:r>
          </a:p>
          <a:p>
            <a:r>
              <a:rPr lang="ru-RU" dirty="0"/>
              <a:t>Современные ОС объединяют оба механизма: страницы файла, загруженные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ru-RU" dirty="0"/>
              <a:t>, и блоки, загруженные по </a:t>
            </a:r>
            <a:r>
              <a:rPr lang="ru-RU" dirty="0" err="1"/>
              <a:t>read</a:t>
            </a:r>
            <a:r>
              <a:rPr lang="ru-RU" dirty="0"/>
              <a:t>, фактически лежат в одной и той же области памяти. Это увеличивает эффективность использования памяти и сокращает копирования.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58126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Опережающее чтение даёт огромный выигрыш в случае последовательного чтения. Если мы прочитали блок k, то, скорее всего, следующим будет k+1. ОС запрашивает следующий блок заранее — к моменту обращения он уже находится в кэше.</a:t>
            </a:r>
          </a:p>
          <a:p>
            <a:r>
              <a:rPr lang="ru-RU" dirty="0"/>
              <a:t>Если программа начинает выполнять </a:t>
            </a:r>
            <a:r>
              <a:rPr lang="ru-RU" dirty="0" err="1"/>
              <a:t>seek</a:t>
            </a:r>
            <a:r>
              <a:rPr lang="ru-RU" dirty="0"/>
              <a:t> — значит доступ случайный, и читать вперёд бесполезно. Файловая система динамически переключается между этими режимами.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44834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магнитных дисков скорость определяется временем перемещения головки. Поэтому файловые системы стараются размещать последовательные блоки рядом друг с другом.</a:t>
            </a:r>
          </a:p>
          <a:p>
            <a:r>
              <a:rPr lang="ru-RU" dirty="0"/>
              <a:t>BSD FFS впервые ввёл </a:t>
            </a:r>
            <a:r>
              <a:rPr lang="ru-RU" dirty="0" err="1"/>
              <a:t>cylinder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: каждая группа имеет свои i-</a:t>
            </a:r>
            <a:r>
              <a:rPr lang="ru-RU" dirty="0" err="1"/>
              <a:t>node</a:t>
            </a:r>
            <a:r>
              <a:rPr lang="ru-RU" dirty="0"/>
              <a:t>, </a:t>
            </a:r>
            <a:r>
              <a:rPr lang="ru-RU" dirty="0" err="1"/>
              <a:t>bitmap</a:t>
            </a:r>
            <a:r>
              <a:rPr lang="ru-RU" dirty="0"/>
              <a:t> и блоки данных. Это уменьшает среднее расстояние между i-</a:t>
            </a:r>
            <a:r>
              <a:rPr lang="ru-RU" dirty="0" err="1"/>
              <a:t>node</a:t>
            </a:r>
            <a:r>
              <a:rPr lang="ru-RU" dirty="0"/>
              <a:t> и данными и снижает количество </a:t>
            </a:r>
            <a:r>
              <a:rPr lang="ru-RU" dirty="0" err="1"/>
              <a:t>seek’ов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05226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41087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система только установлена, состояние диска почти идеальное: все файлы лежат подряд, а свободное пространство — одним непрерывным блоком. Но по мере работы пользователи создают и удаляют файлы, обновляют программы, и пустые области появляются в середине диска.</a:t>
            </a:r>
          </a:p>
          <a:p>
            <a:r>
              <a:rPr lang="ru-RU" dirty="0"/>
              <a:t>Это приводит к фрагментации: один файл может быть разбросан по десяткам разных мест. Для HDD это критично — головка должна прыгать по поверхности, чтобы собрать файл целиком. Поэтому читаемость и скорость резко падают.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5582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Дефрагментация — это процесс «уборки» на диске. ОС анализирует расположение блоков и начинает перемещать куски файлов так, чтобы каждый файл стал лежать в одном непрерывном фрагменте.</a:t>
            </a:r>
          </a:p>
          <a:p>
            <a:r>
              <a:rPr lang="ru-RU" dirty="0"/>
              <a:t>Также она старается сгруппировать свободное пространство, чтобы последующие записи могли снова ложиться подряд. Windows поставляется с утилитой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defrag</a:t>
            </a:r>
            <a:r>
              <a:rPr lang="ru-RU" dirty="0"/>
              <a:t>, которая делает именно это. На классических HDD это действительно улучшает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072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</a:t>
            </a:r>
            <a:r>
              <a:rPr lang="ru-RU" dirty="0" err="1"/>
              <a:t>дефрагментатора</a:t>
            </a:r>
            <a:r>
              <a:rPr lang="ru-RU" dirty="0"/>
              <a:t> напоминает игру в «пятнашки».</a:t>
            </a:r>
            <a:br>
              <a:rPr lang="ru-RU" dirty="0"/>
            </a:br>
            <a:r>
              <a:rPr lang="ru-RU" dirty="0"/>
              <a:t>Чтобы переставить данные, нужна свободная площадка — обычно это большой пустой участок в конце раздела. Программа переносит туда фрагментированные файлы, освобождает место в начале и затем «вкладывает» туда другие файлы в правильном порядке.</a:t>
            </a:r>
          </a:p>
          <a:p>
            <a:r>
              <a:rPr lang="ru-RU" dirty="0"/>
              <a:t>Так шаг за шагом переставляются сотни мегабайт и гигабайты данных, пока структура файловой системы не станет значительно более упорядоченной.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2300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 все файлы можно двигать. Файл подкачки, файл гибернации, журнал NTFS — это системные структуры, для которых перемещение потребовало бы сложных административных операций. Поэтому они состоят в списке </a:t>
            </a:r>
            <a:r>
              <a:rPr lang="ru-RU" dirty="0" err="1"/>
              <a:t>несдвигаемых</a:t>
            </a:r>
            <a:r>
              <a:rPr lang="ru-RU" dirty="0"/>
              <a:t>.</a:t>
            </a:r>
          </a:p>
          <a:p>
            <a:r>
              <a:rPr lang="ru-RU" dirty="0"/>
              <a:t>Если такие файлы лежат в конце раздела, это может помешать его уменьшению. Обычно проблему решают так: временно отключают файл подкачки или гибернации, уменьшают раздел, а затем включают их снова — и система создаёт новые файлы в другом месте.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9664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Linux-файловые системы, особенно ext3/ext4, используют продвинутые алгоритмы размещения блоков. Они заранее пытаются положить файл в подходящую область, избегая фрагментации ещё до её появления.</a:t>
            </a:r>
          </a:p>
          <a:p>
            <a:r>
              <a:rPr lang="ru-RU" dirty="0"/>
              <a:t>Поэтому сильной фрагментации там обычно нет, и необходимость ручной дефрагментации возникает крайне редко. В Linux она присутствует скорее как вспомогательная возможность, нежели как регулярная процедура.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52446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SSD фрагментация не имеет никакого значения.</a:t>
            </a:r>
            <a:br>
              <a:rPr lang="ru-RU" dirty="0"/>
            </a:br>
            <a:r>
              <a:rPr lang="ru-RU" dirty="0"/>
              <a:t>Нет ни головок, ни вращения диска — каждый блок читается одинаково быстро. Более того, дефрагментация вредна: она создаёт тысячи дополнительных операций записи, а каждая запись уменьшает ресурс ячеек </a:t>
            </a:r>
            <a:r>
              <a:rPr lang="ru-RU" dirty="0" err="1"/>
              <a:t>флеш</a:t>
            </a:r>
            <a:r>
              <a:rPr lang="ru-RU" dirty="0"/>
              <a:t>-памяти.</a:t>
            </a:r>
          </a:p>
          <a:p>
            <a:r>
              <a:rPr lang="ru-RU" dirty="0"/>
              <a:t>Поэтому на SSD дефрагментация полностью бесполезна и даже вредна — современные ОС это понимают и запускают вместо неё оптимизацию TRIM, а не перемещение блоков.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20479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90998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понимать: когда вы удаляете файл, он фактически никуда не исчезает.</a:t>
            </a:r>
            <a:br>
              <a:rPr lang="ru-RU" dirty="0"/>
            </a:br>
            <a:r>
              <a:rPr lang="ru-RU" dirty="0"/>
              <a:t>ОС лишь стирает запись в каталоге и помечает блоки как свободные. Сами данные продолжают лежать на диске до тех пор, пока не будут перезаписаны.</a:t>
            </a:r>
            <a:br>
              <a:rPr lang="ru-RU" dirty="0"/>
            </a:br>
            <a:r>
              <a:rPr lang="ru-RU" dirty="0"/>
              <a:t>Поэтому, если злоумышленник возьмёт диск и подключит к другой системе — он сможет прочитать любые блоки напрямую, игнорируя права доступа.</a:t>
            </a:r>
            <a:br>
              <a:rPr lang="ru-RU" dirty="0"/>
            </a:br>
            <a:r>
              <a:rPr lang="ru-RU" dirty="0"/>
              <a:t>Это делает простое удаление крайне ненадёжным с точки зрения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25863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Надёжное уничтожение данных — нетривиальная задача.</a:t>
            </a:r>
            <a:br>
              <a:rPr lang="ru-RU" dirty="0"/>
            </a:br>
            <a:r>
              <a:rPr lang="ru-RU" dirty="0"/>
              <a:t>На магнитных дисках старые данные могут быть восстановлены из остаточных намагничиваний рядом с дорожками.</a:t>
            </a:r>
            <a:br>
              <a:rPr lang="ru-RU" dirty="0"/>
            </a:br>
            <a:r>
              <a:rPr lang="ru-RU" dirty="0"/>
              <a:t>На SSD ситуация ещё хуже: вы вообще не можете гарантировать, что перезаписываете тот же самый физический блок — это решает контроллер </a:t>
            </a:r>
            <a:r>
              <a:rPr lang="ru-RU" dirty="0" err="1"/>
              <a:t>флеш</a:t>
            </a:r>
            <a:r>
              <a:rPr lang="ru-RU" dirty="0"/>
              <a:t>-памяти. Он может мигрировать данные, оставляя старые копии в других ячейках.</a:t>
            </a:r>
            <a:br>
              <a:rPr lang="ru-RU" dirty="0"/>
            </a:br>
            <a:r>
              <a:rPr lang="ru-RU" dirty="0"/>
              <a:t>Кроме того, копии файла могут существовать в резервных блоках, в памяти кэша или теневых копиях 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7265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обычных HDD считается достаточным выполнить несколько проходов перезаписи: нули, затем случайные данные, снова нули. Есть ряд утилит, которые делают это автоматически.</a:t>
            </a:r>
            <a:br>
              <a:rPr lang="ru-RU" dirty="0"/>
            </a:br>
            <a:r>
              <a:rPr lang="ru-RU" dirty="0"/>
              <a:t>Но для SSD даже это не помогает — из-за FTL вы всё равно не знаете, какой именно блок перезаписывается.</a:t>
            </a:r>
            <a:br>
              <a:rPr lang="ru-RU" dirty="0"/>
            </a:br>
            <a:r>
              <a:rPr lang="ru-RU" dirty="0"/>
              <a:t>Если нужно уничтожить диск наверняка и он не будет использоваться снова — наиболее радикальный и надёжный метод — физическое разрушение. Классический пример — термит, который прожигает диск насквозь.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95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Лучший способ гарантировать, что данные невозможно восстановить — просто никогда не хранить их в открытом виде. То есть — использовать полное шифрование диска.</a:t>
            </a:r>
            <a:br>
              <a:rPr lang="ru-RU" dirty="0"/>
            </a:br>
            <a:r>
              <a:rPr lang="ru-RU" dirty="0"/>
              <a:t>Даже если кто-то украдёт диск или получит необработанные блоки, он увидит только зашифрованный мусор.</a:t>
            </a:r>
            <a:br>
              <a:rPr lang="ru-RU" dirty="0"/>
            </a:br>
            <a:r>
              <a:rPr lang="ru-RU" dirty="0"/>
              <a:t>Главное — использовать сильные алгоритмы вроде AES и надёжно хранить ключи.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89986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29355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Существуют так называемые Self-</a:t>
            </a:r>
            <a:r>
              <a:rPr lang="ru-RU" dirty="0" err="1"/>
              <a:t>Encrypting</a:t>
            </a:r>
            <a:r>
              <a:rPr lang="ru-RU" dirty="0"/>
              <a:t> </a:t>
            </a:r>
            <a:r>
              <a:rPr lang="ru-RU" dirty="0" err="1"/>
              <a:t>Drives</a:t>
            </a:r>
            <a:r>
              <a:rPr lang="ru-RU" dirty="0"/>
              <a:t> — накопители, которые выполняют шифрование </a:t>
            </a:r>
            <a:r>
              <a:rPr lang="ru-RU" dirty="0" err="1"/>
              <a:t>аппаратно</a:t>
            </a:r>
            <a:r>
              <a:rPr lang="ru-RU" dirty="0"/>
              <a:t>. Это удобно: ОС почти не участвует, производительность очень высокая.</a:t>
            </a:r>
            <a:br>
              <a:rPr lang="ru-RU" dirty="0"/>
            </a:br>
            <a:r>
              <a:rPr lang="ru-RU" dirty="0"/>
              <a:t>Но в 2019 году исследователи нашли серьёзные уязвимости в ряде популярных моделей SED. Это означает, что шифрование может оказаться ненадёжным, и злоумышленник может обойти защиту. Поэтому слепо доверять аппаратному шифрованию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33393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BitLocker</a:t>
            </a:r>
            <a:r>
              <a:rPr lang="ru-RU" dirty="0"/>
              <a:t> использует </a:t>
            </a:r>
            <a:r>
              <a:rPr lang="ru-RU" dirty="0" err="1"/>
              <a:t>Volume</a:t>
            </a:r>
            <a:r>
              <a:rPr lang="ru-RU" dirty="0"/>
              <a:t> Master Key — главный ключ, которым шифруются все данные.</a:t>
            </a:r>
            <a:br>
              <a:rPr lang="ru-RU" dirty="0"/>
            </a:br>
            <a:r>
              <a:rPr lang="ru-RU" dirty="0"/>
              <a:t>VMK сам хранится в зашифрованном виде и может быть восстановлен только тремя путями:</a:t>
            </a:r>
            <a:br>
              <a:rPr lang="ru-RU" dirty="0"/>
            </a:br>
            <a:r>
              <a:rPr lang="ru-RU" dirty="0"/>
              <a:t>— паролем пользователя,</a:t>
            </a:r>
            <a:br>
              <a:rPr lang="ru-RU" dirty="0"/>
            </a:br>
            <a:r>
              <a:rPr lang="ru-RU" dirty="0"/>
              <a:t>— заранее сгенерированным </a:t>
            </a:r>
            <a:r>
              <a:rPr lang="ru-RU" dirty="0" err="1"/>
              <a:t>recovery</a:t>
            </a:r>
            <a:r>
              <a:rPr lang="ru-RU" dirty="0"/>
              <a:t> </a:t>
            </a:r>
            <a:r>
              <a:rPr lang="ru-RU" dirty="0" err="1"/>
              <a:t>key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— или через TPM — специальный защищённый </a:t>
            </a:r>
            <a:r>
              <a:rPr lang="ru-RU" dirty="0" err="1"/>
              <a:t>крипточип</a:t>
            </a:r>
            <a:r>
              <a:rPr lang="ru-RU" dirty="0"/>
              <a:t>.</a:t>
            </a:r>
          </a:p>
          <a:p>
            <a:r>
              <a:rPr lang="ru-RU" dirty="0"/>
              <a:t>Как только система получает ключ — она автоматически шифрует и расшифровывает данные «на лету», незаметно для пользователя.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1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020B-C7D2-2FAC-91A0-5C8B50189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CB3ED-9BCD-3397-E963-FE6314B7E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132E-94E0-B30C-09B0-2E8AC434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61D43-AC26-DB6B-D707-9FBDFFC1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4F8E8-E822-0BC7-400B-FD2FA63D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91A4-5BF5-E90A-350F-5D5AE2C4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83E6-9324-7422-8910-F484399CD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AF69-6051-A92E-B3EC-8007BF7D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06E6-436C-69A2-C346-EAB28B17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D7AE-B7B1-5E4F-87F5-C3BBC06C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7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00E7-38F8-ED7B-43A2-044B6BB2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BB879-E022-B168-3D86-41227E59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9DC91-E3D6-94A8-8C31-EB21565C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0C20-892E-1379-DE1A-17EEC1A8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1985-2029-9F68-2C6C-6A36903B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7A80-BF2C-A904-F2F4-AFDDEF24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2C64-00C1-0E04-E4D8-D1E447F39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D6A15-B660-251C-2B3F-8E1CC0673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A0DF5-FE6D-1DF7-585C-680EDE6E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941C9-8A67-CCB3-82AA-1035DA30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8427D-DBED-0D0D-5432-1CF78924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5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E10B-84BB-CB6A-1A37-7032AE5E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3991F-24EA-A9C5-D754-0A8B863E5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D275A-D3FF-AE5C-830C-F69808182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5EFE0-6098-1964-FA03-627479406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F5153-C873-F51D-E4D3-3503E7056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594A8-7EEB-DA07-B27E-60184AE1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76B4D-AC05-0D50-596E-6CBFED45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05C0C-3F89-E616-BC4F-DACBEB14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1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91F4-A401-123A-A9CC-FB65CA0F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600E8-CF17-2248-8185-9F923F12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47E8E-15D2-5B28-04F8-A092881E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C5B4E-32E1-E6E8-9F81-BD35C8F4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3664A-C103-76C1-5974-F3D8009A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B6D61-DAF3-E65B-B2C0-52E9E9C8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CE12-DFFB-F8CE-BE00-EC1EE0E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2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DBBF-B095-0B55-D419-C5325FA7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7C8-E584-F21D-30FE-37DA34E6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80B0F-E3BA-9E36-FE6F-A799B2AC9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D0F5-3230-7876-132B-589F7ABC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397F6-13BE-DAA0-9541-E8259E9A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87B76-A972-C908-2884-4C99004F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8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AA4A-CCC4-BBDF-B71D-05FB2C09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D07F8-9F4E-955B-FEFD-E738A5549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F18AE-5625-A2BA-CCAB-A44F7F53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731F7-B0EE-73A8-FA1F-4B5313C9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C2C36-1B81-C57D-6674-69A81B5D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478C6-5F61-C182-819F-EB4B65FC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C9C4-B4BA-4DA8-B7CC-695820F4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5F878-4143-DB0D-9CCD-0E5239FE4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C1BF3-E81C-7619-0F27-DA95921D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FE882-C968-4592-95C6-EB211722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FCDF-81F0-38E5-1C48-7EDCA80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3ECB0-D789-24ED-AD7D-E2400774F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0EB49-D8CE-DBF6-6372-B5F5282F5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B9536-B30F-02CC-F5F3-C962FA07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CEC74-CE7B-9468-4AA8-F8BBF94B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83024-2605-AE5D-7AE4-9BB7E701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5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9CAA5-ABCC-3D1D-55DB-ADB2DDD8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F9AE-2B97-3C6E-3EB0-258951D82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97C7-C8D5-C870-5C2D-44A2C6F2E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C64EA-184C-4C83-8202-F93067E264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39EB-0F68-091F-F82B-7DDA0249F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D456-6DFD-D76B-25D7-9933EB8D1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NTF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ExFAT" TargetMode="External"/><Relationship Id="rId4" Type="http://schemas.openxmlformats.org/officeDocument/2006/relationships/hyperlink" Target="https://ru.wikipedia.org/wiki/ReF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5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3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windows-server/storage/file-server/volume-shadow-copy-service" TargetMode="External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3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3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3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F566-3310-2689-76D0-332DBDEE2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Файловые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D7AC3-90FC-6C13-8B7B-14640FF7D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2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804E-5FA8-576D-F316-7A8183E1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Необходимость файловых систем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CBF08-BF36-BD35-AFC9-4F130404B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Приложения должны хранить и обрабатывать большие объёмы данных, однако ОЗУ слишком малом и теряет данные при завершении процесса</a:t>
            </a:r>
          </a:p>
          <a:p>
            <a:r>
              <a:rPr lang="ru-RU" dirty="0"/>
              <a:t>Данные должны сохраняться даже после сбоев и выключения питания</a:t>
            </a:r>
          </a:p>
          <a:p>
            <a:r>
              <a:rPr lang="ru-RU" dirty="0"/>
              <a:t>Несколько процессов должны иметь доступ к одной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76487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46C3-F6A3-B400-9292-8F099D09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Устройства для долговременного хранения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80BB6-6D77-39CE-A20D-71E9958F5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носители: жёсткие диски и SSD</a:t>
            </a:r>
          </a:p>
          <a:p>
            <a:pPr lvl="1"/>
            <a:r>
              <a:rPr lang="ru-RU" dirty="0"/>
              <a:t>SSD — быстрые, без подвижных частей, но тоже "дисковые" по интерфейсу</a:t>
            </a:r>
          </a:p>
          <a:p>
            <a:r>
              <a:rPr lang="ru-RU" dirty="0"/>
              <a:t>Операции:</a:t>
            </a:r>
          </a:p>
          <a:p>
            <a:pPr lvl="1"/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block</a:t>
            </a:r>
            <a:r>
              <a:rPr lang="ru-RU" dirty="0"/>
              <a:t> k</a:t>
            </a:r>
          </a:p>
          <a:p>
            <a:pPr lvl="1"/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block</a:t>
            </a:r>
            <a:r>
              <a:rPr lang="ru-RU" dirty="0"/>
              <a:t> k</a:t>
            </a:r>
          </a:p>
          <a:p>
            <a:r>
              <a:rPr lang="ru-RU" dirty="0"/>
              <a:t>Недостаток: неудобно для пользователя и многозадачных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860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1C9C-7FD1-6741-E942-8C0C8E83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3CF0C-331F-3591-2BD2-1077609C3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 — логическая единица информации, создаваемая процессом и управляемая операционной системой</a:t>
            </a:r>
          </a:p>
          <a:p>
            <a:r>
              <a:rPr lang="ru-RU" dirty="0"/>
              <a:t>Хранит данные независимо от процессов</a:t>
            </a:r>
          </a:p>
          <a:p>
            <a:r>
              <a:rPr lang="ru-RU" dirty="0"/>
              <a:t>Исчезает только по инициативе владельца</a:t>
            </a:r>
          </a:p>
        </p:txBody>
      </p:sp>
    </p:spTree>
    <p:extLst>
      <p:ext uri="{BB962C8B-B14F-4D97-AF65-F5344CB8AC3E}">
        <p14:creationId xmlns:p14="http://schemas.microsoft.com/office/powerpoint/2010/main" val="281854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F3EF-DBFF-314E-742C-59A9956D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файловой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27D9-340B-24A5-84FC-402D53C7C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Компонент операционной системы, который управляет структурой, доступом и хранением файлов</a:t>
            </a:r>
          </a:p>
          <a:p>
            <a:r>
              <a:rPr lang="ru-RU" dirty="0"/>
              <a:t>Обеспечивает:</a:t>
            </a:r>
          </a:p>
          <a:p>
            <a:pPr lvl="1"/>
            <a:r>
              <a:rPr lang="ru-RU" dirty="0"/>
              <a:t>Удобный интерфейс для пользователя</a:t>
            </a:r>
          </a:p>
          <a:p>
            <a:pPr lvl="1"/>
            <a:r>
              <a:rPr lang="ru-RU" dirty="0"/>
              <a:t>Безопасность и совместный доступ</a:t>
            </a:r>
          </a:p>
          <a:p>
            <a:r>
              <a:rPr lang="ru-RU" dirty="0"/>
              <a:t>Внутреннее устройство ФС скрыто от пользователей и программ</a:t>
            </a:r>
          </a:p>
        </p:txBody>
      </p:sp>
    </p:spTree>
    <p:extLst>
      <p:ext uri="{BB962C8B-B14F-4D97-AF65-F5344CB8AC3E}">
        <p14:creationId xmlns:p14="http://schemas.microsoft.com/office/powerpoint/2010/main" val="3370425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FD9878-76A8-524D-0470-8F7373032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с точки зрения пользователя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CD6C33-3028-4643-073B-7AB5F8261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1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7E611E-97B6-866D-E6D2-C3225ED3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файл и зачем нужны имена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6F2EBF-963C-AA19-6BA7-E741B41B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 — абстракция для хранения информации на диске</a:t>
            </a:r>
          </a:p>
          <a:p>
            <a:r>
              <a:rPr lang="ru-RU" dirty="0"/>
              <a:t>Скрывает детали физического хранения</a:t>
            </a:r>
          </a:p>
          <a:p>
            <a:r>
              <a:rPr lang="ru-RU" dirty="0"/>
              <a:t>Каждый файл имеет </a:t>
            </a:r>
            <a:r>
              <a:rPr lang="ru-RU" b="1" dirty="0"/>
              <a:t>имя</a:t>
            </a:r>
            <a:r>
              <a:rPr lang="ru-RU" dirty="0"/>
              <a:t>, по которому его находят</a:t>
            </a:r>
          </a:p>
          <a:p>
            <a:r>
              <a:rPr lang="ru-RU" dirty="0"/>
              <a:t>После завершения процесса файл продолжает существовать</a:t>
            </a:r>
          </a:p>
        </p:txBody>
      </p:sp>
    </p:spTree>
    <p:extLst>
      <p:ext uri="{BB962C8B-B14F-4D97-AF65-F5344CB8AC3E}">
        <p14:creationId xmlns:p14="http://schemas.microsoft.com/office/powerpoint/2010/main" val="49755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FE1A-A89E-9A54-B2D6-E2B52D09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именования файлов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6FC6A-0E37-7DEF-FA89-7A623B69F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Имя задаётся пользователем при создании файла</a:t>
            </a:r>
          </a:p>
          <a:p>
            <a:r>
              <a:rPr lang="ru-RU" dirty="0"/>
              <a:t>Современные ОС: до 255 символов (буквы, цифры, спецсимволы)</a:t>
            </a:r>
          </a:p>
          <a:p>
            <a:r>
              <a:rPr lang="ru-RU" dirty="0"/>
              <a:t>Старые системы (MS-DOS): 8 символов + 3 для расширения</a:t>
            </a:r>
          </a:p>
          <a:p>
            <a:r>
              <a:rPr lang="ru-RU" dirty="0"/>
              <a:t>Чувствительность к регистру:</a:t>
            </a:r>
          </a:p>
          <a:p>
            <a:pPr lvl="1"/>
            <a:r>
              <a:rPr lang="ru-RU" dirty="0"/>
              <a:t>UNIX различает имена: </a:t>
            </a:r>
            <a:r>
              <a:rPr lang="ru-RU" dirty="0" err="1"/>
              <a:t>maria</a:t>
            </a:r>
            <a:r>
              <a:rPr lang="ru-RU" dirty="0"/>
              <a:t>, Maria, MARIA – разные файлы</a:t>
            </a:r>
          </a:p>
          <a:p>
            <a:pPr lvl="1"/>
            <a:r>
              <a:rPr lang="ru-RU" dirty="0"/>
              <a:t>MS-DOS — нет</a:t>
            </a:r>
          </a:p>
        </p:txBody>
      </p:sp>
    </p:spTree>
    <p:extLst>
      <p:ext uri="{BB962C8B-B14F-4D97-AF65-F5344CB8AC3E}">
        <p14:creationId xmlns:p14="http://schemas.microsoft.com/office/powerpoint/2010/main" val="242269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D150-1E5F-3C68-5EE1-2C272D4E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Семейство файловых систем Windows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FFB4-75B6-C8C0-DC57-1540A8095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Старые Windows: FAT16, FAT32</a:t>
            </a:r>
          </a:p>
          <a:p>
            <a:r>
              <a:rPr lang="ru-RU" dirty="0"/>
              <a:t>Современные: </a:t>
            </a:r>
            <a:r>
              <a:rPr lang="ru-RU" dirty="0">
                <a:hlinkClick r:id="rId3"/>
              </a:rPr>
              <a:t>NTFS</a:t>
            </a:r>
            <a:r>
              <a:rPr lang="ru-RU" dirty="0"/>
              <a:t> (настольные версии), </a:t>
            </a:r>
            <a:r>
              <a:rPr lang="ru-RU" dirty="0" err="1">
                <a:hlinkClick r:id="rId4"/>
              </a:rPr>
              <a:t>ReFS</a:t>
            </a:r>
            <a:r>
              <a:rPr lang="ru-RU" dirty="0"/>
              <a:t> (серверные версии)</a:t>
            </a:r>
          </a:p>
          <a:p>
            <a:r>
              <a:rPr lang="ru-RU" dirty="0" err="1">
                <a:hlinkClick r:id="rId5"/>
              </a:rPr>
              <a:t>exFAT</a:t>
            </a:r>
            <a:r>
              <a:rPr lang="ru-RU" dirty="0"/>
              <a:t> — оптимизирован для флешек и больших томов</a:t>
            </a:r>
          </a:p>
          <a:p>
            <a:r>
              <a:rPr lang="ru-RU" dirty="0"/>
              <a:t>FAT-семейство всё ещё поддерживается ради совместимости</a:t>
            </a:r>
          </a:p>
        </p:txBody>
      </p:sp>
    </p:spTree>
    <p:extLst>
      <p:ext uri="{BB962C8B-B14F-4D97-AF65-F5344CB8AC3E}">
        <p14:creationId xmlns:p14="http://schemas.microsoft.com/office/powerpoint/2010/main" val="119282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D28E-9226-FC5E-63CC-69837666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Расширения файлов и их значение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87880-88C4-42C8-CF1C-200AD7C39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Имя часто состоит из двух частей: </a:t>
            </a:r>
            <a:r>
              <a:rPr lang="ru-RU" dirty="0" err="1"/>
              <a:t>имя.расширение</a:t>
            </a:r>
            <a:endParaRPr lang="ru-RU" dirty="0"/>
          </a:p>
          <a:p>
            <a:r>
              <a:rPr lang="ru-RU" dirty="0"/>
              <a:t>Расширение указывает тип содержимого: .</a:t>
            </a:r>
            <a:r>
              <a:rPr lang="ru-RU" dirty="0" err="1"/>
              <a:t>txt</a:t>
            </a:r>
            <a:r>
              <a:rPr lang="ru-RU" dirty="0"/>
              <a:t>, .</a:t>
            </a:r>
            <a:r>
              <a:rPr lang="ru-RU" dirty="0" err="1"/>
              <a:t>jpg</a:t>
            </a:r>
            <a:r>
              <a:rPr lang="ru-RU" dirty="0"/>
              <a:t>, .mp3, .</a:t>
            </a:r>
            <a:r>
              <a:rPr lang="ru-RU" dirty="0" err="1"/>
              <a:t>zip</a:t>
            </a:r>
            <a:r>
              <a:rPr lang="ru-RU" dirty="0"/>
              <a:t> и т.д.</a:t>
            </a:r>
          </a:p>
          <a:p>
            <a:r>
              <a:rPr lang="ru-RU" dirty="0"/>
              <a:t>В UNIX — только соглашение (ОС не проверяет)</a:t>
            </a:r>
          </a:p>
          <a:p>
            <a:r>
              <a:rPr lang="ru-RU" dirty="0"/>
              <a:t>В Windows — важная часть системы: расширение связано с программой, обрабатывающей его</a:t>
            </a:r>
          </a:p>
        </p:txBody>
      </p:sp>
    </p:spTree>
    <p:extLst>
      <p:ext uri="{BB962C8B-B14F-4D97-AF65-F5344CB8AC3E}">
        <p14:creationId xmlns:p14="http://schemas.microsoft.com/office/powerpoint/2010/main" val="4281798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7F08-E235-2570-0697-4BE8BFBC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расширений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1DE247-DBF9-E516-E6AC-03B72D567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628253"/>
              </p:ext>
            </p:extLst>
          </p:nvPr>
        </p:nvGraphicFramePr>
        <p:xfrm>
          <a:off x="838200" y="1825625"/>
          <a:ext cx="1051560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455">
                  <a:extLst>
                    <a:ext uri="{9D8B030D-6E8A-4147-A177-3AD203B41FA5}">
                      <a16:colId xmlns:a16="http://schemas.microsoft.com/office/drawing/2014/main" val="1910608278"/>
                    </a:ext>
                  </a:extLst>
                </a:gridCol>
                <a:gridCol w="5701145">
                  <a:extLst>
                    <a:ext uri="{9D8B030D-6E8A-4147-A177-3AD203B41FA5}">
                      <a16:colId xmlns:a16="http://schemas.microsoft.com/office/drawing/2014/main" val="3795449646"/>
                    </a:ext>
                  </a:extLst>
                </a:gridCol>
              </a:tblGrid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Расширение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014543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bak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Резервная копия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042784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Исходный код на </a:t>
                      </a:r>
                      <a:r>
                        <a:rPr lang="en-US" sz="1600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81324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.gif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Графический формат </a:t>
                      </a:r>
                      <a:r>
                        <a:rPr lang="en-US" sz="1600" dirty="0"/>
                        <a:t>GIF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1105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.html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Веб-страница </a:t>
                      </a:r>
                      <a:r>
                        <a:rPr lang="en-US" sz="1600" dirty="0"/>
                        <a:t>HTML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447401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.jpg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Изображение </a:t>
                      </a:r>
                      <a:r>
                        <a:rPr lang="en-US" sz="1600" dirty="0"/>
                        <a:t>JPEG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843801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.mp3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Аудио (</a:t>
                      </a:r>
                      <a:r>
                        <a:rPr lang="en-US" sz="1600" dirty="0"/>
                        <a:t>MPEG Layer 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927499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.mpg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Видео (</a:t>
                      </a:r>
                      <a:r>
                        <a:rPr lang="en-US" sz="1600" dirty="0"/>
                        <a:t>MPEG)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96773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.o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Объектный файл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812613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.pdf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Документ </a:t>
                      </a:r>
                      <a:r>
                        <a:rPr lang="en-US" sz="1600" dirty="0"/>
                        <a:t>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60446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ps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Формат </a:t>
                      </a:r>
                      <a:r>
                        <a:rPr lang="en-US" sz="1600" dirty="0"/>
                        <a:t>PostScript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075620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tex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Текст для системы </a:t>
                      </a:r>
                      <a:r>
                        <a:rPr lang="en-US" sz="1600" dirty="0"/>
                        <a:t>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780676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.txt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Обычный текст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35593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.zip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Сжатый архив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64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799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F3B5B9-65D2-7954-BAB4-DFB2685D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файла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B0D75-710E-CA8A-B95D-FB08AB748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9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A1D6FF-7049-502C-58C1-EFA90D28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структуры файлов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83A7675-0543-5CA7-8825-ED094BDA2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512224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9053662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860498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12492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структуры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 использования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69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байтов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Поток байтов без внутренней структуры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UNIX,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06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Фиксированные записи одинаковой длины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Старые мэйнфреймы, перфокарты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74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Дерево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Записи с ключами, упорядоченные в виде дерева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Коммерческие базы данных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294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218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D6EE-1D52-40BF-150E-FDD3B8E0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как последовательность байтов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120E-C922-FC53-E25A-F21227985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809509" cy="4351338"/>
          </a:xfrm>
        </p:spPr>
        <p:txBody>
          <a:bodyPr/>
          <a:lstStyle/>
          <a:p>
            <a:r>
              <a:rPr lang="ru-RU" dirty="0"/>
              <a:t>ОС не знает, что хранится в файле</a:t>
            </a:r>
          </a:p>
          <a:p>
            <a:r>
              <a:rPr lang="ru-RU" dirty="0"/>
              <a:t>В файле могут храниться любые данные — текст, изображение, программа</a:t>
            </a:r>
          </a:p>
          <a:p>
            <a:r>
              <a:rPr lang="ru-RU" dirty="0"/>
              <a:t>Этот подход даёт максимальную гибкость и широко используется в UNIX, Linux, </a:t>
            </a:r>
            <a:r>
              <a:rPr lang="ru-RU" dirty="0" err="1"/>
              <a:t>macOS</a:t>
            </a:r>
            <a:r>
              <a:rPr lang="ru-RU" dirty="0"/>
              <a:t>, Windows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A9F5FC-0543-D37D-C884-46CE829707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72263" y="1825625"/>
            <a:ext cx="15814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08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EC27-F267-E5BD-3F61-6838BD7D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как последовательность записей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DBD53-1896-71A5-72A1-613043714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272549" cy="4351338"/>
          </a:xfrm>
        </p:spPr>
        <p:txBody>
          <a:bodyPr>
            <a:normAutofit/>
          </a:bodyPr>
          <a:lstStyle/>
          <a:p>
            <a:r>
              <a:rPr lang="ru-RU" dirty="0"/>
              <a:t>Файлы состоят из фиксированных по длине записей</a:t>
            </a:r>
          </a:p>
          <a:p>
            <a:r>
              <a:rPr lang="ru-RU" dirty="0"/>
              <a:t>Каждая операция чтения/записи работает с одной записью</a:t>
            </a:r>
          </a:p>
          <a:p>
            <a:r>
              <a:rPr lang="ru-RU" dirty="0"/>
              <a:t>Использовалось в эпоху перфокарт (80 символов) и линейных принтеров (132 символа)</a:t>
            </a:r>
          </a:p>
          <a:p>
            <a:r>
              <a:rPr lang="ru-RU" dirty="0"/>
              <a:t>Сейчас практически не используется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403A50-E4CC-84D5-3315-D90559195A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326955" y="1825625"/>
            <a:ext cx="1897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2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9F95-4BDA-E76B-E7CE-304F8B75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как деревья записей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DE44-1780-F1D4-7D2A-85876D0CF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42954" cy="4351338"/>
          </a:xfrm>
        </p:spPr>
        <p:txBody>
          <a:bodyPr>
            <a:normAutofit/>
          </a:bodyPr>
          <a:lstStyle/>
          <a:p>
            <a:r>
              <a:rPr lang="ru-RU" dirty="0"/>
              <a:t>Записи различной длины</a:t>
            </a:r>
          </a:p>
          <a:p>
            <a:r>
              <a:rPr lang="ru-RU" dirty="0"/>
              <a:t>Каждая запись содержит </a:t>
            </a:r>
            <a:r>
              <a:rPr lang="ru-RU" b="1" dirty="0"/>
              <a:t>ключ</a:t>
            </a:r>
            <a:r>
              <a:rPr lang="ru-RU" dirty="0"/>
              <a:t> для поиска</a:t>
            </a:r>
          </a:p>
          <a:p>
            <a:r>
              <a:rPr lang="ru-RU" dirty="0"/>
              <a:t>Файл организован как </a:t>
            </a:r>
            <a:r>
              <a:rPr lang="ru-RU" b="1" dirty="0"/>
              <a:t>дерево</a:t>
            </a:r>
            <a:r>
              <a:rPr lang="ru-RU" dirty="0"/>
              <a:t>, отсортированное по ключам</a:t>
            </a:r>
          </a:p>
          <a:p>
            <a:r>
              <a:rPr lang="ru-RU" dirty="0"/>
              <a:t>Поддерживает быстрый поиск и вставку</a:t>
            </a:r>
          </a:p>
          <a:p>
            <a:r>
              <a:rPr lang="ru-RU" dirty="0"/>
              <a:t>Используется в коммерческих и банковских системах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EEE000-C3B7-2941-DA53-6559A6A077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15446" y="1825626"/>
            <a:ext cx="4138353" cy="191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31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7D604B-8063-1D85-08B4-6836BD6A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подходов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3FD506B-A100-2337-8CB5-FBC2E5F81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2707186"/>
              </p:ext>
            </p:extLst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292406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37469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875937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0609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байтов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Дерево записей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71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Неструктурированная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Фиксированные записи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Иерархическая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94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Гибкость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Максимальная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00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Скорость поиска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Линейная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 записи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Быстрая (по ключу)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867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современные ОС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Исторические системы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Коммерческие БД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622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65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B63B8B-C04B-EEA9-01A4-EE0086CE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6C720-308D-8662-5FE3-37016B01F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9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150868-5F12-2671-C024-AB6C2147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типы файлов в ОС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31963C4-DD27-D631-1AAC-E922F750E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026894"/>
              </p:ext>
            </p:extLst>
          </p:nvPr>
        </p:nvGraphicFramePr>
        <p:xfrm>
          <a:off x="838200" y="1825625"/>
          <a:ext cx="10515597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142">
                  <a:extLst>
                    <a:ext uri="{9D8B030D-6E8A-4147-A177-3AD203B41FA5}">
                      <a16:colId xmlns:a16="http://schemas.microsoft.com/office/drawing/2014/main" val="1710407236"/>
                    </a:ext>
                  </a:extLst>
                </a:gridCol>
                <a:gridCol w="4490256">
                  <a:extLst>
                    <a:ext uri="{9D8B030D-6E8A-4147-A177-3AD203B41FA5}">
                      <a16:colId xmlns:a16="http://schemas.microsoft.com/office/drawing/2014/main" val="36333762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03296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Тип файла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Назначение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Примеры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69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Обычные (</a:t>
                      </a:r>
                      <a:r>
                        <a:rPr lang="en-US" sz="2000" dirty="0"/>
                        <a:t>Regular)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Пользовательские данные и программы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Документы, изображения, исполняемые файлы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06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Каталоги </a:t>
                      </a:r>
                      <a:r>
                        <a:rPr lang="en-US" sz="2000" dirty="0"/>
                        <a:t>(Directories)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Системные файлы, описывающие структуру ФС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/home</a:t>
                      </a:r>
                    </a:p>
                    <a:p>
                      <a:r>
                        <a:rPr lang="en-US" sz="2000" dirty="0"/>
                        <a:t>C:\Users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1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Character special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Последовательные устройства ввода/вывода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Терминалы, принтеры, </a:t>
                      </a:r>
                      <a:r>
                        <a:rPr lang="en-US" sz="2000" dirty="0"/>
                        <a:t>COM-</a:t>
                      </a:r>
                      <a:r>
                        <a:rPr lang="ru-RU" sz="2000" dirty="0"/>
                        <a:t>порты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84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Block special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Блочные устройства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Жесткие диски,</a:t>
                      </a:r>
                      <a:r>
                        <a:rPr lang="en-US" sz="2000" dirty="0"/>
                        <a:t> SSD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884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747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EB90-687E-F1CC-6493-C9A6E9DA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Текстовые и бинарные файлы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4C5A35-D4C1-FFA5-304E-877F17D11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793092"/>
              </p:ext>
            </p:extLst>
          </p:nvPr>
        </p:nvGraphicFramePr>
        <p:xfrm>
          <a:off x="838200" y="1825625"/>
          <a:ext cx="105156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795665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70597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23365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96420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файла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Формат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Особенности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ASCII (</a:t>
                      </a:r>
                      <a:r>
                        <a:rPr lang="ru-RU" dirty="0"/>
                        <a:t>текстовые)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Человекочитаемые</a:t>
                      </a:r>
                      <a:r>
                        <a:rPr lang="ru-RU" dirty="0"/>
                        <a:t> символы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Можно открыть любым редактором, удобно для обмена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Конфигурация, логи, исходный код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8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Бинарные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Машинный формат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Нечитаемые напрямую, структурированы программой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Исполняемые файлы, архивы, изображения, аудио, видео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76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313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6169-B350-CCB7-3702-552BA3D3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структуры исполняемого файла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323330-A787-93FE-80ED-BC62048C0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94363" y="1572582"/>
            <a:ext cx="5403273" cy="528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1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DB9D-25CC-AFAC-AF18-D03E9CFB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Типизация файлов и 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5581-D053-E76F-1AA4-5E6B50D6B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 должны уметь распознавать хотя бы один тип файлов: свои собственные исполняемые файлы</a:t>
            </a:r>
          </a:p>
          <a:p>
            <a:pPr lvl="1"/>
            <a:r>
              <a:rPr lang="ru-RU" dirty="0"/>
              <a:t>Некоторые ОС были весьма креативны (</a:t>
            </a:r>
            <a:r>
              <a:rPr lang="en-US" dirty="0"/>
              <a:t>TOPS-20)</a:t>
            </a:r>
          </a:p>
          <a:p>
            <a:r>
              <a:rPr lang="ru-RU" dirty="0"/>
              <a:t>В </a:t>
            </a:r>
            <a:r>
              <a:rPr lang="en-US" dirty="0"/>
              <a:t>Windows</a:t>
            </a:r>
            <a:r>
              <a:rPr lang="ru-RU" dirty="0"/>
              <a:t> многое определяется расширением файла</a:t>
            </a:r>
          </a:p>
          <a:p>
            <a:r>
              <a:rPr lang="ru-RU" dirty="0"/>
              <a:t>В </a:t>
            </a:r>
            <a:r>
              <a:rPr lang="en-US" dirty="0"/>
              <a:t>*nix</a:t>
            </a:r>
            <a:r>
              <a:rPr lang="ru-RU" dirty="0"/>
              <a:t> предлагает утилиту </a:t>
            </a:r>
            <a:r>
              <a:rPr lang="en-US" dirty="0"/>
              <a:t>file</a:t>
            </a:r>
            <a:r>
              <a:rPr lang="ru-RU" dirty="0"/>
              <a:t>, который определяет тип файла по его содержимому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293C9-669C-266B-E20C-6822E257B046}"/>
              </a:ext>
            </a:extLst>
          </p:cNvPr>
          <p:cNvSpPr txBox="1"/>
          <p:nvPr/>
        </p:nvSpPr>
        <p:spPr>
          <a:xfrm>
            <a:off x="218901" y="4649429"/>
            <a:ext cx="11754197" cy="20621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vivid@MSI</a:t>
            </a:r>
            <a:r>
              <a:rPr lang="en-US" sz="1600" dirty="0">
                <a:latin typeface="Consolas" panose="020B0609020204030204" pitchFamily="49" charset="0"/>
              </a:rPr>
              <a:t>:~/code$ ls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a.out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prog.c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vivid@MSI</a:t>
            </a:r>
            <a:r>
              <a:rPr lang="en-US" sz="1600" dirty="0">
                <a:latin typeface="Consolas" panose="020B0609020204030204" pitchFamily="49" charset="0"/>
              </a:rPr>
              <a:t>:~/code$ file </a:t>
            </a:r>
            <a:r>
              <a:rPr lang="en-US" sz="1600" dirty="0" err="1">
                <a:latin typeface="Consolas" panose="020B0609020204030204" pitchFamily="49" charset="0"/>
              </a:rPr>
              <a:t>prog.c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prog.c</a:t>
            </a:r>
            <a:r>
              <a:rPr lang="en-US" sz="1600" dirty="0">
                <a:latin typeface="Consolas" panose="020B0609020204030204" pitchFamily="49" charset="0"/>
              </a:rPr>
              <a:t>: C source, ASCII text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vivid@MSI</a:t>
            </a:r>
            <a:r>
              <a:rPr lang="en-US" sz="1600" dirty="0">
                <a:latin typeface="Consolas" panose="020B0609020204030204" pitchFamily="49" charset="0"/>
              </a:rPr>
              <a:t>:~/code$ file </a:t>
            </a:r>
            <a:r>
              <a:rPr lang="en-US" sz="1600" dirty="0" err="1">
                <a:latin typeface="Consolas" panose="020B0609020204030204" pitchFamily="49" charset="0"/>
              </a:rPr>
              <a:t>a.out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a.out</a:t>
            </a:r>
            <a:r>
              <a:rPr lang="en-US" sz="1600" dirty="0">
                <a:latin typeface="Consolas" panose="020B0609020204030204" pitchFamily="49" charset="0"/>
              </a:rPr>
              <a:t>: ELF 64-bit LSB pie executable, x86-64, version 1 (SYSV), dynamically linked, interpreter /lib64/ld-linux-x86-64.so.2, </a:t>
            </a:r>
            <a:r>
              <a:rPr lang="en-US" sz="1600" dirty="0" err="1">
                <a:latin typeface="Consolas" panose="020B0609020204030204" pitchFamily="49" charset="0"/>
              </a:rPr>
              <a:t>BuildID</a:t>
            </a:r>
            <a:r>
              <a:rPr lang="en-US" sz="1600" dirty="0">
                <a:latin typeface="Consolas" panose="020B0609020204030204" pitchFamily="49" charset="0"/>
              </a:rPr>
              <a:t>[sha1]=b694a25e80326865fd957f750b3e469d303f03ab, for GNU/Linux 3.2.0, not stripped</a:t>
            </a:r>
          </a:p>
        </p:txBody>
      </p:sp>
    </p:spTree>
    <p:extLst>
      <p:ext uri="{BB962C8B-B14F-4D97-AF65-F5344CB8AC3E}">
        <p14:creationId xmlns:p14="http://schemas.microsoft.com/office/powerpoint/2010/main" val="305176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4737A-D7A3-6360-C0D0-98F1C7EE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содержимому файла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746A6-9E46-0FC6-914A-31B88D81D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4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6774DB-D224-33E1-2D2C-FC1D3CAA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доступа к файлам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0E3CA22-187F-A219-DD4B-5A3448C68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111461"/>
              </p:ext>
            </p:extLst>
          </p:nvPr>
        </p:nvGraphicFramePr>
        <p:xfrm>
          <a:off x="838200" y="1825625"/>
          <a:ext cx="10515597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027889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452926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38917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доступа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62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Последовательный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и запись только в порядке следования байтов или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Магнитные ленты, логи, потоковые данные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22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Произвольный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 к любому месту файла напрямую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Базы данных, системы бронирования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64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462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5428-2E52-A923-191D-2A17D2E6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Последовательный доступ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005F-110D-F845-2E7D-95DAEFD12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Данные читаются строго по порядку</a:t>
            </a:r>
          </a:p>
          <a:p>
            <a:r>
              <a:rPr lang="ru-RU" dirty="0"/>
              <a:t>Нельзя «перепрыгнуть» к нужной записи</a:t>
            </a:r>
          </a:p>
          <a:p>
            <a:r>
              <a:rPr lang="ru-RU" dirty="0"/>
              <a:t>Можно «перемотать» файл и начать сначала</a:t>
            </a:r>
          </a:p>
          <a:p>
            <a:r>
              <a:rPr lang="ru-RU" dirty="0"/>
              <a:t>Простая реализация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4F88-C401-96F1-2933-D32754FA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Произвольный доступ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82DDA-A433-8633-6DE7-99CB879B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читать или записывать данные в любом месте файла</a:t>
            </a:r>
          </a:p>
          <a:p>
            <a:r>
              <a:rPr lang="ru-RU" dirty="0"/>
              <a:t>Работает только на дисковых устройствах (HDD, SSD)</a:t>
            </a:r>
          </a:p>
          <a:p>
            <a:r>
              <a:rPr lang="ru-RU" dirty="0"/>
              <a:t>Ключевая операция — </a:t>
            </a:r>
            <a:r>
              <a:rPr lang="ru-RU" b="1" dirty="0" err="1"/>
              <a:t>seek</a:t>
            </a:r>
            <a:r>
              <a:rPr lang="ru-RU" dirty="0"/>
              <a:t> (установить позицию)</a:t>
            </a:r>
          </a:p>
          <a:p>
            <a:pPr lvl="1"/>
            <a:r>
              <a:rPr lang="ru-RU" dirty="0"/>
              <a:t>После </a:t>
            </a:r>
            <a:r>
              <a:rPr lang="ru-RU" dirty="0" err="1"/>
              <a:t>seek</a:t>
            </a:r>
            <a:r>
              <a:rPr lang="ru-RU" dirty="0"/>
              <a:t> можно читать или писать последовательно</a:t>
            </a:r>
          </a:p>
          <a:p>
            <a:r>
              <a:rPr lang="ru-RU" dirty="0"/>
              <a:t>Применяется в современных ОС (UNIX, Windows)</a:t>
            </a:r>
          </a:p>
        </p:txBody>
      </p:sp>
    </p:spTree>
    <p:extLst>
      <p:ext uri="{BB962C8B-B14F-4D97-AF65-F5344CB8AC3E}">
        <p14:creationId xmlns:p14="http://schemas.microsoft.com/office/powerpoint/2010/main" val="1472117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0AE2-6EB4-54E9-66DB-DF29A9C0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методов доступа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57AA73-4D74-077C-2598-5B380C247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9864555"/>
              </p:ext>
            </p:extLst>
          </p:nvPr>
        </p:nvGraphicFramePr>
        <p:xfrm>
          <a:off x="838200" y="1825625"/>
          <a:ext cx="1051559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228187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7457990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47273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Последовательный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Произвольный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64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Порядок чтения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последовательно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Произвольный порядок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26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Скорость поиска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0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Устройство хранения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Магнитная лента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Диски (</a:t>
                      </a:r>
                      <a:r>
                        <a:rPr lang="en-US" dirty="0"/>
                        <a:t>HDD/SSD)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56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Типичные задачи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Лог-файлы, резервные копии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Базы данных, видео-форматы, архивы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91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Гибкость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322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649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04B4-C605-3757-518F-C583DD70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файла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3CD4A-7F97-A71B-B95E-953158EDF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49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48CCB-B476-B227-32F6-BE103582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атрибуты файла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18A6A7-4596-32EA-FAD9-2D07FFBAB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Дополнительные данные, описывающие файл</a:t>
            </a:r>
          </a:p>
          <a:p>
            <a:r>
              <a:rPr lang="ru-RU" dirty="0"/>
              <a:t>Также называются </a:t>
            </a:r>
            <a:r>
              <a:rPr lang="ru-RU" b="1" dirty="0"/>
              <a:t>метаданными</a:t>
            </a:r>
            <a:endParaRPr lang="ru-RU" dirty="0"/>
          </a:p>
          <a:p>
            <a:r>
              <a:rPr lang="ru-RU" dirty="0"/>
              <a:t>Содержат сведения о:</a:t>
            </a:r>
          </a:p>
          <a:p>
            <a:pPr lvl="1"/>
            <a:r>
              <a:rPr lang="ru-RU" dirty="0"/>
              <a:t>Владельце и правах доступа</a:t>
            </a:r>
          </a:p>
          <a:p>
            <a:pPr lvl="1"/>
            <a:r>
              <a:rPr lang="ru-RU" dirty="0"/>
              <a:t>Времени создания и изменения</a:t>
            </a:r>
          </a:p>
          <a:p>
            <a:pPr lvl="1"/>
            <a:r>
              <a:rPr lang="ru-RU" dirty="0"/>
              <a:t>Типе, флагах и размере файла</a:t>
            </a:r>
          </a:p>
          <a:p>
            <a:r>
              <a:rPr lang="ru-RU" dirty="0"/>
              <a:t>Используются ОС для управления и защиты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40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B878-9171-61B7-9B85-9736A3B1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Атрибуты, связанные с безопасностью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81FCC2-391E-9D6C-7EA0-F4ABC59F0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487930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793">
                  <a:extLst>
                    <a:ext uri="{9D8B030D-6E8A-4147-A177-3AD203B41FA5}">
                      <a16:colId xmlns:a16="http://schemas.microsoft.com/office/drawing/2014/main" val="2702067174"/>
                    </a:ext>
                  </a:extLst>
                </a:gridCol>
                <a:gridCol w="7047807">
                  <a:extLst>
                    <a:ext uri="{9D8B030D-6E8A-4147-A177-3AD203B41FA5}">
                      <a16:colId xmlns:a16="http://schemas.microsoft.com/office/drawing/2014/main" val="2106650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Атрибут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44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Определяет, кто и как может обращаться к файлу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06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ли пароль для доступа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42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Указывает, кто создал файл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7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Текущий владелец файла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66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380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A143-A03B-E782-03AD-E21C793F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Флаги и специальные признаки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363138-6DE2-26BA-C621-B34EC5745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3636461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924">
                  <a:extLst>
                    <a:ext uri="{9D8B030D-6E8A-4147-A177-3AD203B41FA5}">
                      <a16:colId xmlns:a16="http://schemas.microsoft.com/office/drawing/2014/main" val="3032614314"/>
                    </a:ext>
                  </a:extLst>
                </a:gridCol>
                <a:gridCol w="6831676">
                  <a:extLst>
                    <a:ext uri="{9D8B030D-6E8A-4147-A177-3AD203B41FA5}">
                      <a16:colId xmlns:a16="http://schemas.microsoft.com/office/drawing/2014/main" val="3323321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Флаг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99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Read-only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— чтение/запись, 1 — только чтение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87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Hidden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— отображается, 1 — скрыт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6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системный файл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3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требует резервного копирования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6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Temporary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удалить после закрытия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46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файл заблокирован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002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ASCII/Binary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Указывает тип данных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29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поддерживает произвольный доступ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34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11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94B2-C4BB-D683-B52F-999841CC9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Временн</a:t>
            </a:r>
            <a:r>
              <a:rPr lang="ru-RU" b="1" dirty="0"/>
              <a:t>ы</a:t>
            </a:r>
            <a:r>
              <a:rPr lang="ru-RU" dirty="0"/>
              <a:t>е метки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942BD9-64E8-2C06-4F50-C620EB753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533488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200661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89045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Атрибут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8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файл был создан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 Access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файл последний раз открывался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20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 Modification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файл последний раз изменялся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24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641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8C8298-8C35-BCD3-0489-5BFF0303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Размеры и структура записи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116E33C-EFA1-F01A-412B-4EE60BE117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432501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455365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29226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Атрибут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9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Current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Текущий размер файла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3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Maximum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Максимально допустимый размер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50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Record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Размер одной записи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Смещение ключа в записи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6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Длина ключевого поля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230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88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1A83-80BD-D696-90E7-21BF0DD0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атрибутов файлов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31EF5-8E67-5FBF-EDE3-BF7FFB7C4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$ ls -l report.txt</a:t>
            </a:r>
            <a:br>
              <a:rPr lang="pt-BR" dirty="0"/>
            </a:br>
            <a:r>
              <a:rPr lang="pt-BR" dirty="0"/>
              <a:t>-rw-r--r-- 1 alice users 5420 Nov 10 15:42 report.txt</a:t>
            </a:r>
          </a:p>
          <a:p>
            <a:r>
              <a:rPr lang="pt-BR" dirty="0"/>
              <a:t>-rw-r--r–</a:t>
            </a:r>
            <a:r>
              <a:rPr lang="ru-RU" dirty="0"/>
              <a:t> права доступа</a:t>
            </a:r>
          </a:p>
          <a:p>
            <a:r>
              <a:rPr lang="en-US" dirty="0"/>
              <a:t>1</a:t>
            </a:r>
            <a:r>
              <a:rPr lang="ru-RU" dirty="0"/>
              <a:t> - количество ссылок</a:t>
            </a:r>
          </a:p>
          <a:p>
            <a:r>
              <a:rPr lang="en-US" dirty="0" err="1"/>
              <a:t>alice</a:t>
            </a:r>
            <a:r>
              <a:rPr lang="en-US" dirty="0"/>
              <a:t> </a:t>
            </a:r>
            <a:r>
              <a:rPr lang="ru-RU" dirty="0"/>
              <a:t>– владелец</a:t>
            </a:r>
          </a:p>
          <a:p>
            <a:r>
              <a:rPr lang="en-US" dirty="0"/>
              <a:t>users </a:t>
            </a:r>
            <a:r>
              <a:rPr lang="ru-RU" dirty="0"/>
              <a:t>- Группа</a:t>
            </a:r>
          </a:p>
          <a:p>
            <a:r>
              <a:rPr lang="ru-RU" dirty="0"/>
              <a:t>5420 - размер (байт</a:t>
            </a:r>
          </a:p>
          <a:p>
            <a:r>
              <a:rPr lang="en-US" dirty="0"/>
              <a:t>Nov 10 15:42 </a:t>
            </a:r>
            <a:r>
              <a:rPr lang="ru-RU" dirty="0"/>
              <a:t>время последнего изменения</a:t>
            </a:r>
          </a:p>
          <a:p>
            <a:r>
              <a:rPr lang="en-US" dirty="0"/>
              <a:t>report.txt </a:t>
            </a:r>
            <a:r>
              <a:rPr lang="ru-RU" dirty="0"/>
              <a:t>Имя файла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62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D4371D-9B2E-8688-4371-8ABA5708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файлами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2FF7A5-428A-CA98-19E1-501D4D81A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30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AC5FCE-CCCA-2F59-F27F-FC75E45B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группы операций над файлами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AF897C-20FD-6451-D83B-94399A0D8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и удаление: </a:t>
            </a:r>
            <a:r>
              <a:rPr lang="en-US" b="1" dirty="0"/>
              <a:t>Create, Delete</a:t>
            </a:r>
            <a:endParaRPr lang="en-US" dirty="0"/>
          </a:p>
          <a:p>
            <a:r>
              <a:rPr lang="ru-RU" dirty="0"/>
              <a:t>Управление доступом: </a:t>
            </a:r>
            <a:r>
              <a:rPr lang="en-US" b="1" dirty="0"/>
              <a:t>Open, Close</a:t>
            </a:r>
            <a:endParaRPr lang="en-US" dirty="0"/>
          </a:p>
          <a:p>
            <a:r>
              <a:rPr lang="ru-RU" dirty="0"/>
              <a:t>Чтение и запись: </a:t>
            </a:r>
            <a:r>
              <a:rPr lang="en-US" b="1" dirty="0"/>
              <a:t>Read, Write, Append</a:t>
            </a:r>
            <a:endParaRPr lang="en-US" dirty="0"/>
          </a:p>
          <a:p>
            <a:r>
              <a:rPr lang="ru-RU" dirty="0"/>
              <a:t>Работа с позицией: </a:t>
            </a:r>
            <a:r>
              <a:rPr lang="en-US" b="1" dirty="0"/>
              <a:t>Seek</a:t>
            </a:r>
            <a:endParaRPr lang="en-US" dirty="0"/>
          </a:p>
          <a:p>
            <a:r>
              <a:rPr lang="ru-RU" dirty="0"/>
              <a:t>Метаданные: </a:t>
            </a:r>
            <a:r>
              <a:rPr lang="en-US" b="1" dirty="0"/>
              <a:t>Get attributes, Set attributes</a:t>
            </a:r>
            <a:endParaRPr lang="en-US" dirty="0"/>
          </a:p>
          <a:p>
            <a:r>
              <a:rPr lang="ru-RU" dirty="0"/>
              <a:t>Прочее: </a:t>
            </a:r>
            <a:r>
              <a:rPr lang="en-US" b="1" dirty="0"/>
              <a:t>Rename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528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FD33-ACAD-1549-0C4C-876026D6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удаление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A6BC5-028E-81E1-33F7-2DEDEE62B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Create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Создаёт новый пустой файл</a:t>
            </a:r>
          </a:p>
          <a:p>
            <a:pPr lvl="1"/>
            <a:r>
              <a:rPr lang="ru-RU" dirty="0"/>
              <a:t>Устанавливает начальные атрибуты</a:t>
            </a:r>
          </a:p>
          <a:p>
            <a:r>
              <a:rPr lang="ru-RU" b="1" dirty="0" err="1"/>
              <a:t>Delete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Удаляет файл из файловой системы</a:t>
            </a:r>
          </a:p>
          <a:p>
            <a:pPr lvl="1"/>
            <a:r>
              <a:rPr lang="ru-RU" dirty="0"/>
              <a:t>Освобождает занимаемое дисковое пространство</a:t>
            </a:r>
          </a:p>
        </p:txBody>
      </p:sp>
    </p:spTree>
    <p:extLst>
      <p:ext uri="{BB962C8B-B14F-4D97-AF65-F5344CB8AC3E}">
        <p14:creationId xmlns:p14="http://schemas.microsoft.com/office/powerpoint/2010/main" val="31648017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F324-7FD5-564E-DCCA-0B19335B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Открытие и закрытие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DB70-EC11-ACC7-96F0-5FE30ED57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Open:</a:t>
            </a:r>
            <a:endParaRPr lang="ru-RU" dirty="0"/>
          </a:p>
          <a:p>
            <a:pPr lvl="1"/>
            <a:r>
              <a:rPr lang="ru-RU" dirty="0"/>
              <a:t>Загружает атрибуты и дисковые адреса в память</a:t>
            </a:r>
          </a:p>
          <a:p>
            <a:pPr lvl="1"/>
            <a:r>
              <a:rPr lang="ru-RU" dirty="0"/>
              <a:t>Готовит файл к быстрому доступу</a:t>
            </a:r>
          </a:p>
          <a:p>
            <a:r>
              <a:rPr lang="ru-RU" b="1" dirty="0" err="1"/>
              <a:t>Close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Освобождает внутренние структуры ОС</a:t>
            </a:r>
          </a:p>
          <a:p>
            <a:pPr lvl="1"/>
            <a:r>
              <a:rPr lang="ru-RU" dirty="0"/>
              <a:t>Записывает последний незаполненный блок</a:t>
            </a:r>
          </a:p>
        </p:txBody>
      </p:sp>
    </p:spTree>
    <p:extLst>
      <p:ext uri="{BB962C8B-B14F-4D97-AF65-F5344CB8AC3E}">
        <p14:creationId xmlns:p14="http://schemas.microsoft.com/office/powerpoint/2010/main" val="1857227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B975-761E-7586-D82A-90106B5B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содержимым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5310-ECAA-2B2D-1E4A-B934D2D3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</a:t>
            </a:r>
          </a:p>
          <a:p>
            <a:pPr lvl="1"/>
            <a:r>
              <a:rPr lang="ru-RU" dirty="0"/>
              <a:t>Читает данные из файла (обычно, с текущей позиции)</a:t>
            </a:r>
            <a:endParaRPr lang="en-US" dirty="0"/>
          </a:p>
          <a:p>
            <a:r>
              <a:rPr lang="en-US" dirty="0"/>
              <a:t>Write</a:t>
            </a:r>
            <a:endParaRPr lang="ru-RU" dirty="0"/>
          </a:p>
          <a:p>
            <a:pPr lvl="1"/>
            <a:r>
              <a:rPr lang="ru-RU" dirty="0"/>
              <a:t>Записывает данные, может расширить файл или переписать существующие данные</a:t>
            </a:r>
            <a:endParaRPr lang="en-US" dirty="0"/>
          </a:p>
          <a:p>
            <a:r>
              <a:rPr lang="en-US" dirty="0"/>
              <a:t>Append</a:t>
            </a:r>
            <a:endParaRPr lang="ru-RU" dirty="0"/>
          </a:p>
          <a:p>
            <a:pPr lvl="1"/>
            <a:r>
              <a:rPr lang="ru-RU" dirty="0"/>
              <a:t>Добавляет данные в конец файла</a:t>
            </a:r>
          </a:p>
          <a:p>
            <a:pPr lvl="1"/>
            <a:r>
              <a:rPr lang="ru-RU" dirty="0"/>
              <a:t>Может быть реализован через </a:t>
            </a:r>
            <a:r>
              <a:rPr lang="en-US" dirty="0" err="1"/>
              <a:t>Seek+Write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874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5553-7D40-2412-7DD7-9B36FDF7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Seek – </a:t>
            </a:r>
            <a:r>
              <a:rPr lang="ru-RU" dirty="0"/>
              <a:t>произвольный доступ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2F6D2-02E0-D19C-4E1E-81C328CAD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Устанавливает текущую позицию в файле</a:t>
            </a:r>
          </a:p>
          <a:p>
            <a:r>
              <a:rPr lang="ru-RU" dirty="0"/>
              <a:t>Позволяет читать/писать данные с произвольного места</a:t>
            </a:r>
          </a:p>
          <a:p>
            <a:r>
              <a:rPr lang="ru-RU" dirty="0"/>
              <a:t>Используется в UNIX и Windows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3F0E0-1BE7-D282-ED99-34291D460C8B}"/>
              </a:ext>
            </a:extLst>
          </p:cNvPr>
          <p:cNvSpPr/>
          <p:nvPr/>
        </p:nvSpPr>
        <p:spPr>
          <a:xfrm>
            <a:off x="980902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D492B-568A-DF61-0660-3193CD5EA43A}"/>
              </a:ext>
            </a:extLst>
          </p:cNvPr>
          <p:cNvSpPr/>
          <p:nvPr/>
        </p:nvSpPr>
        <p:spPr>
          <a:xfrm>
            <a:off x="1596044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0F112-307D-0496-F8D8-2D178CDB2651}"/>
              </a:ext>
            </a:extLst>
          </p:cNvPr>
          <p:cNvSpPr/>
          <p:nvPr/>
        </p:nvSpPr>
        <p:spPr>
          <a:xfrm>
            <a:off x="2211186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CD5AA-697D-194A-CAB0-9D21D5C5937E}"/>
              </a:ext>
            </a:extLst>
          </p:cNvPr>
          <p:cNvSpPr/>
          <p:nvPr/>
        </p:nvSpPr>
        <p:spPr>
          <a:xfrm>
            <a:off x="2826328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C2B2D6-025C-D99A-41F5-98D5BE316611}"/>
              </a:ext>
            </a:extLst>
          </p:cNvPr>
          <p:cNvSpPr/>
          <p:nvPr/>
        </p:nvSpPr>
        <p:spPr>
          <a:xfrm>
            <a:off x="3441470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AE174B-6D3D-75AA-C68B-01CB09488338}"/>
              </a:ext>
            </a:extLst>
          </p:cNvPr>
          <p:cNvSpPr/>
          <p:nvPr/>
        </p:nvSpPr>
        <p:spPr>
          <a:xfrm>
            <a:off x="4056612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780F1-E6F0-76D7-473A-08EDAE59F38E}"/>
              </a:ext>
            </a:extLst>
          </p:cNvPr>
          <p:cNvSpPr/>
          <p:nvPr/>
        </p:nvSpPr>
        <p:spPr>
          <a:xfrm>
            <a:off x="4671754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9D64A-6EEF-B1C7-4E46-2F56EFAE5D62}"/>
              </a:ext>
            </a:extLst>
          </p:cNvPr>
          <p:cNvSpPr/>
          <p:nvPr/>
        </p:nvSpPr>
        <p:spPr>
          <a:xfrm>
            <a:off x="5286896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E4D9D7-A611-BD40-A1C2-2D54006A81C9}"/>
              </a:ext>
            </a:extLst>
          </p:cNvPr>
          <p:cNvSpPr/>
          <p:nvPr/>
        </p:nvSpPr>
        <p:spPr>
          <a:xfrm>
            <a:off x="5902038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0C70CC-97B7-1E3F-26D1-2BDE802CBB8A}"/>
              </a:ext>
            </a:extLst>
          </p:cNvPr>
          <p:cNvSpPr/>
          <p:nvPr/>
        </p:nvSpPr>
        <p:spPr>
          <a:xfrm>
            <a:off x="6517180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22826E86-FE74-022E-D632-92812FE7F9B1}"/>
              </a:ext>
            </a:extLst>
          </p:cNvPr>
          <p:cNvSpPr/>
          <p:nvPr/>
        </p:nvSpPr>
        <p:spPr>
          <a:xfrm>
            <a:off x="1654233" y="4958845"/>
            <a:ext cx="498764" cy="5486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CA1E26-DDED-27FC-605F-AC58B8B80BA6}"/>
              </a:ext>
            </a:extLst>
          </p:cNvPr>
          <p:cNvSpPr/>
          <p:nvPr/>
        </p:nvSpPr>
        <p:spPr>
          <a:xfrm>
            <a:off x="7132322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9617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0.14935 0.000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6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4171-3D9D-5633-8D60-CE35A78F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атрибутами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B093-BBEA-1B4A-1AB9-1FEA3E957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Get </a:t>
            </a:r>
            <a:r>
              <a:rPr lang="ru-RU" b="1" dirty="0" err="1"/>
              <a:t>attributes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Позволяет программам читать метаданные файла</a:t>
            </a:r>
          </a:p>
          <a:p>
            <a:pPr lvl="1"/>
            <a:r>
              <a:rPr lang="ru-RU" dirty="0"/>
              <a:t>Например, </a:t>
            </a:r>
            <a:r>
              <a:rPr lang="ru-RU" dirty="0" err="1"/>
              <a:t>make</a:t>
            </a:r>
            <a:r>
              <a:rPr lang="ru-RU" dirty="0"/>
              <a:t> проверяет время модификации исходников</a:t>
            </a:r>
          </a:p>
          <a:p>
            <a:r>
              <a:rPr lang="ru-RU" b="1" dirty="0" err="1"/>
              <a:t>Set</a:t>
            </a:r>
            <a:r>
              <a:rPr lang="ru-RU" b="1" dirty="0"/>
              <a:t> </a:t>
            </a:r>
            <a:r>
              <a:rPr lang="ru-RU" b="1" dirty="0" err="1"/>
              <a:t>attributes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Изменяет некоторые параметры: права доступа, флаги и др.</a:t>
            </a:r>
          </a:p>
        </p:txBody>
      </p:sp>
    </p:spTree>
    <p:extLst>
      <p:ext uri="{BB962C8B-B14F-4D97-AF65-F5344CB8AC3E}">
        <p14:creationId xmlns:p14="http://schemas.microsoft.com/office/powerpoint/2010/main" val="28896386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EF94-39C6-E41C-65DB-BB745825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131DD-DED8-F472-D7FD-C5AB2433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Быстрое переименование файла</a:t>
            </a:r>
          </a:p>
          <a:p>
            <a:r>
              <a:rPr lang="ru-RU" dirty="0"/>
              <a:t>Не требует копирования данных</a:t>
            </a:r>
          </a:p>
          <a:p>
            <a:r>
              <a:rPr lang="ru-RU" dirty="0"/>
              <a:t>Гораздо эффективнее, чем «копировать → удалить»</a:t>
            </a:r>
          </a:p>
          <a:p>
            <a:r>
              <a:rPr lang="ru-RU" dirty="0"/>
              <a:t>Особенно важно для больших файлов (ГБ–ТБ)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65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39F7-B8AB-3A79-5D97-F810E93E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программа </a:t>
            </a:r>
            <a:r>
              <a:rPr lang="en-US" dirty="0" err="1"/>
              <a:t>copyfile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8F2-75DC-62DF-C572-C5A6C71FF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Простая UNIX-программа </a:t>
            </a:r>
            <a:r>
              <a:rPr lang="ru-RU" dirty="0" err="1"/>
              <a:t>copyfile</a:t>
            </a:r>
            <a:endParaRPr lang="ru-RU" dirty="0"/>
          </a:p>
          <a:p>
            <a:r>
              <a:rPr lang="ru-RU" dirty="0"/>
              <a:t>Копирует файл: </a:t>
            </a:r>
            <a:r>
              <a:rPr lang="ru-RU" dirty="0" err="1"/>
              <a:t>copyfile</a:t>
            </a:r>
            <a:r>
              <a:rPr lang="ru-RU" dirty="0"/>
              <a:t> </a:t>
            </a:r>
            <a:r>
              <a:rPr lang="ru-RU" dirty="0" err="1"/>
              <a:t>abc</a:t>
            </a:r>
            <a:r>
              <a:rPr lang="ru-RU" dirty="0"/>
              <a:t> </a:t>
            </a:r>
            <a:r>
              <a:rPr lang="ru-RU" dirty="0" err="1"/>
              <a:t>xyz</a:t>
            </a:r>
            <a:endParaRPr lang="ru-RU" dirty="0"/>
          </a:p>
          <a:p>
            <a:r>
              <a:rPr lang="ru-RU" dirty="0"/>
              <a:t>Использует системные вызовы файловой системы</a:t>
            </a:r>
          </a:p>
          <a:p>
            <a:r>
              <a:rPr lang="ru-RU" dirty="0"/>
              <a:t>Показывает практическое применение </a:t>
            </a:r>
            <a:r>
              <a:rPr lang="ru-RU" dirty="0" err="1"/>
              <a:t>open</a:t>
            </a:r>
            <a:r>
              <a:rPr lang="ru-RU" dirty="0"/>
              <a:t>, </a:t>
            </a:r>
            <a:r>
              <a:rPr lang="ru-RU" dirty="0" err="1"/>
              <a:t>read</a:t>
            </a:r>
            <a:r>
              <a:rPr lang="ru-RU" dirty="0"/>
              <a:t>, </a:t>
            </a:r>
            <a:r>
              <a:rPr lang="ru-RU" dirty="0" err="1"/>
              <a:t>write</a:t>
            </a:r>
            <a:r>
              <a:rPr lang="ru-RU" dirty="0"/>
              <a:t>, </a:t>
            </a:r>
            <a:r>
              <a:rPr lang="ru-RU" dirty="0" err="1"/>
              <a:t>close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4832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B12BB5-F479-8BE3-0849-16BB97C0B71D}"/>
              </a:ext>
            </a:extLst>
          </p:cNvPr>
          <p:cNvSpPr txBox="1"/>
          <p:nvPr/>
        </p:nvSpPr>
        <p:spPr>
          <a:xfrm>
            <a:off x="0" y="-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4096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OUTPUT_MODE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0700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O_RDONLY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OUTPUT_MODE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0400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B41A-FDCF-8E22-854B-6EB7551C9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Директории (каталоги)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53116-1502-D80C-D087-BE6150192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493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829729-5EFB-1E7E-351F-6F9754CE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каталог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0E7144-34D6-FAF2-562B-2952AEE3D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Каталог — специальный файл, который хранит список файлов</a:t>
            </a:r>
          </a:p>
          <a:p>
            <a:r>
              <a:rPr lang="ru-RU" dirty="0"/>
              <a:t>Используется для организации структуры ФС</a:t>
            </a:r>
          </a:p>
          <a:p>
            <a:r>
              <a:rPr lang="ru-RU" dirty="0"/>
              <a:t>Содержит имена файлов + указатели на их метаданные</a:t>
            </a:r>
          </a:p>
          <a:p>
            <a:r>
              <a:rPr lang="ru-RU" dirty="0"/>
              <a:t>Применяется в любой файловой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1445979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2C41-332E-466B-A6F6-3416B3D9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Одноуровневая система каталогов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9984B-02B9-FB35-9B40-D2721D7B8E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Поддерживается только один каталог верхнего уровня</a:t>
            </a:r>
          </a:p>
          <a:p>
            <a:r>
              <a:rPr lang="ru-RU" dirty="0"/>
              <a:t>Все файлы лежат вместе</a:t>
            </a:r>
          </a:p>
          <a:p>
            <a:r>
              <a:rPr lang="ru-RU" dirty="0"/>
              <a:t>Имена должны быть уникальными</a:t>
            </a:r>
          </a:p>
          <a:p>
            <a:r>
              <a:rPr lang="ru-RU" dirty="0"/>
              <a:t>Очень простая реализация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3452D5-5381-EFD6-623A-F386E2BACC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[ROOT]</a:t>
            </a:r>
          </a:p>
          <a:p>
            <a:pPr lvl="1"/>
            <a:r>
              <a:rPr lang="en-US" dirty="0"/>
              <a:t>Game1.exe</a:t>
            </a:r>
          </a:p>
          <a:p>
            <a:pPr lvl="1"/>
            <a:r>
              <a:rPr lang="en-US" dirty="0"/>
              <a:t>Game1.dat</a:t>
            </a:r>
          </a:p>
          <a:p>
            <a:pPr lvl="1"/>
            <a:r>
              <a:rPr lang="en-US" dirty="0"/>
              <a:t>Game2.exe</a:t>
            </a:r>
          </a:p>
          <a:p>
            <a:pPr lvl="1"/>
            <a:r>
              <a:rPr lang="en-US" dirty="0"/>
              <a:t>G2Levels.bin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3911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B7CD02-A594-8575-CD65-CE430BE0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Плюсы и минусы одноуровневой системы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C67219-47B9-7310-D481-FE551411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Плюсы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44E8EF-466F-9216-04B2-87E90097EC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Простейшая реализация</a:t>
            </a:r>
          </a:p>
          <a:p>
            <a:r>
              <a:rPr lang="ru-RU" dirty="0"/>
              <a:t>Быстрый поиск</a:t>
            </a:r>
          </a:p>
          <a:p>
            <a:r>
              <a:rPr lang="ru-RU" dirty="0"/>
              <a:t>Подходит для устройств с ограниченными ресурсами</a:t>
            </a:r>
          </a:p>
          <a:p>
            <a:r>
              <a:rPr lang="ru-RU" dirty="0"/>
              <a:t>Минимальные требования к памяти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8583E5-117B-870D-B3AA-2CAECA303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Минусы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0DB6AA-9B4E-E92E-3776-7FD9624BD78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Нет группировки файлов</a:t>
            </a:r>
          </a:p>
          <a:p>
            <a:r>
              <a:rPr lang="ru-RU" dirty="0"/>
              <a:t>Имена файлов должны быть уникальными</a:t>
            </a:r>
          </a:p>
          <a:p>
            <a:r>
              <a:rPr lang="ru-RU" dirty="0"/>
              <a:t>Невозможно работать с несколькими пользователями</a:t>
            </a:r>
          </a:p>
          <a:p>
            <a:r>
              <a:rPr lang="ru-RU" dirty="0"/>
              <a:t>Плохо масштабируется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79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F39C84-D4B5-2A60-11E0-D897422C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старые идеи возвращаются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3DFF86-E179-75C7-208F-15EDA33A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Концепции из мэйнфреймов → персональные ПК → </a:t>
            </a:r>
            <a:r>
              <a:rPr lang="ru-RU" dirty="0" err="1"/>
              <a:t>embedded</a:t>
            </a:r>
            <a:endParaRPr lang="ru-RU" dirty="0"/>
          </a:p>
          <a:p>
            <a:r>
              <a:rPr lang="ru-RU" dirty="0"/>
              <a:t>Простота важна для дешёвых устройств</a:t>
            </a:r>
          </a:p>
          <a:p>
            <a:r>
              <a:rPr lang="ru-RU" dirty="0"/>
              <a:t>RFID-метки, смарт-карты, камеры, плееры</a:t>
            </a:r>
          </a:p>
          <a:p>
            <a:r>
              <a:rPr lang="ru-RU" dirty="0"/>
              <a:t>Одноуровневая система пригодна для минимальных ФС</a:t>
            </a:r>
          </a:p>
        </p:txBody>
      </p:sp>
    </p:spTree>
    <p:extLst>
      <p:ext uri="{BB962C8B-B14F-4D97-AF65-F5344CB8AC3E}">
        <p14:creationId xmlns:p14="http://schemas.microsoft.com/office/powerpoint/2010/main" val="23815165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0051B9-DBED-D125-43D1-F5DF7DBB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Иерархические системы каталогов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CEDE9-4FE1-71E3-9153-D8774EE04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024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2C4F04-4C9E-BD67-95EA-8D96D47C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Необходимость в иерархии каталогов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1ABA40-A0E0-8EE2-6737-9906F766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Одного каталога недостаточно для тысяч файлов</a:t>
            </a:r>
          </a:p>
          <a:p>
            <a:r>
              <a:rPr lang="ru-RU" dirty="0"/>
              <a:t>Необходима группировка по темам и проектам</a:t>
            </a:r>
          </a:p>
          <a:p>
            <a:r>
              <a:rPr lang="ru-RU" dirty="0"/>
              <a:t>Позволяет структурировать рабочие данные</a:t>
            </a:r>
          </a:p>
          <a:p>
            <a:r>
              <a:rPr lang="ru-RU" dirty="0"/>
              <a:t>Основа всех современных файловых систем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3689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6D62-ADF5-58F2-8973-D718A7A1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дерева каталогов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C18C-F34A-9FE3-E44B-C269041E0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📁/</a:t>
            </a:r>
          </a:p>
          <a:p>
            <a:pPr lvl="1"/>
            <a:r>
              <a:rPr lang="en-US" dirty="0"/>
              <a:t>📁Documents</a:t>
            </a:r>
          </a:p>
          <a:p>
            <a:pPr lvl="2"/>
            <a:r>
              <a:rPr lang="en-US" dirty="0"/>
              <a:t>🗎Presentation1.pptx</a:t>
            </a:r>
          </a:p>
          <a:p>
            <a:pPr lvl="2"/>
            <a:r>
              <a:rPr lang="en-US" dirty="0"/>
              <a:t>🗎Report.xlsx</a:t>
            </a:r>
          </a:p>
          <a:p>
            <a:pPr lvl="1"/>
            <a:r>
              <a:rPr lang="en-US" dirty="0"/>
              <a:t>📁Games</a:t>
            </a:r>
          </a:p>
          <a:p>
            <a:pPr lvl="2"/>
            <a:r>
              <a:rPr lang="en-US" dirty="0"/>
              <a:t>GTA-V</a:t>
            </a:r>
          </a:p>
          <a:p>
            <a:pPr lvl="2"/>
            <a:r>
              <a:rPr lang="en-US" dirty="0"/>
              <a:t>📁</a:t>
            </a:r>
            <a:r>
              <a:rPr lang="en-US" dirty="0" err="1"/>
              <a:t>Cybepunk</a:t>
            </a:r>
            <a:r>
              <a:rPr lang="en-US" dirty="0"/>
              <a:t> 2077</a:t>
            </a:r>
          </a:p>
          <a:p>
            <a:pPr lvl="3"/>
            <a:r>
              <a:rPr lang="en-US" dirty="0"/>
              <a:t>🗎Launcher.exe</a:t>
            </a:r>
          </a:p>
          <a:p>
            <a:pPr lvl="1"/>
            <a:r>
              <a:rPr lang="en-US" dirty="0"/>
              <a:t>📁Photos</a:t>
            </a:r>
          </a:p>
          <a:p>
            <a:pPr lvl="2"/>
            <a:r>
              <a:rPr lang="en-US" dirty="0"/>
              <a:t>📁2024</a:t>
            </a:r>
          </a:p>
          <a:p>
            <a:pPr lvl="3"/>
            <a:r>
              <a:rPr lang="en-US" dirty="0"/>
              <a:t>🖼️Photo1.jpg</a:t>
            </a:r>
          </a:p>
          <a:p>
            <a:pPr lvl="2"/>
            <a:r>
              <a:rPr lang="en-US" dirty="0"/>
              <a:t>📁2025</a:t>
            </a:r>
          </a:p>
          <a:p>
            <a:pPr lvl="3"/>
            <a:r>
              <a:rPr lang="en-US" dirty="0"/>
              <a:t>🖼️Picture1.jpg</a:t>
            </a:r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2965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1C40-8DD3-164F-EAD3-3175A865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в многопользовательских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A1D11-F560-6212-CA50-54FE0256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пользователь имеет собственный домашний каталог (</a:t>
            </a:r>
            <a:r>
              <a:rPr lang="ru-RU" dirty="0" err="1"/>
              <a:t>home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), играющий роль корня его личной иерархии файлов</a:t>
            </a:r>
          </a:p>
          <a:p>
            <a:r>
              <a:rPr lang="ru-RU" dirty="0"/>
              <a:t>Пользователь может создавать любое число подкаталогов</a:t>
            </a:r>
          </a:p>
          <a:p>
            <a:r>
              <a:rPr lang="ru-RU" dirty="0"/>
              <a:t>Изоляция данных разных пользователей</a:t>
            </a:r>
          </a:p>
          <a:p>
            <a:r>
              <a:rPr lang="ru-RU" dirty="0"/>
              <a:t>Удобная организация проектов</a:t>
            </a:r>
          </a:p>
        </p:txBody>
      </p:sp>
    </p:spTree>
    <p:extLst>
      <p:ext uri="{BB962C8B-B14F-4D97-AF65-F5344CB8AC3E}">
        <p14:creationId xmlns:p14="http://schemas.microsoft.com/office/powerpoint/2010/main" val="29847853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FC3D-C421-CBBB-A714-BF63BB0C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1EBD4-9936-9309-1576-F4C205E56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Масштабирование</a:t>
            </a:r>
          </a:p>
          <a:p>
            <a:pPr lvl="1"/>
            <a:r>
              <a:rPr lang="ru-RU" dirty="0"/>
              <a:t>Можно хранить миллионы файлов</a:t>
            </a:r>
          </a:p>
          <a:p>
            <a:r>
              <a:rPr lang="ru-RU" dirty="0"/>
              <a:t>Гибкость</a:t>
            </a:r>
          </a:p>
          <a:p>
            <a:pPr lvl="1"/>
            <a:r>
              <a:rPr lang="ru-RU" dirty="0"/>
              <a:t>Произвольная глубина структуры каталогов</a:t>
            </a:r>
          </a:p>
          <a:p>
            <a:r>
              <a:rPr lang="ru-RU" dirty="0"/>
              <a:t>Удобство</a:t>
            </a:r>
          </a:p>
          <a:p>
            <a:pPr lvl="1"/>
            <a:r>
              <a:rPr lang="ru-RU" dirty="0"/>
              <a:t>Легко ориентироваться в данных</a:t>
            </a:r>
          </a:p>
          <a:p>
            <a:r>
              <a:rPr lang="ru-RU" dirty="0"/>
              <a:t>Многопользовательская поддержка</a:t>
            </a:r>
          </a:p>
          <a:p>
            <a:pPr lvl="1"/>
            <a:r>
              <a:rPr lang="ru-RU" dirty="0"/>
              <a:t>Данные разных пользователей находятся в разных каталогах</a:t>
            </a:r>
          </a:p>
          <a:p>
            <a:r>
              <a:rPr lang="ru-RU" dirty="0"/>
              <a:t>Понятная логическая модель</a:t>
            </a:r>
          </a:p>
          <a:p>
            <a:pPr lvl="1"/>
            <a:r>
              <a:rPr lang="ru-RU" dirty="0"/>
              <a:t>Дерево каталогов отражает структуру проектов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4318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174C-B69D-62C0-E302-F3FD7C9C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Исторический аспект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4E25-9032-7789-802B-E19F18BB6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Иерархические каталоги появились в </a:t>
            </a:r>
            <a:r>
              <a:rPr lang="ru-RU" b="1" dirty="0" err="1"/>
              <a:t>Multics</a:t>
            </a:r>
            <a:r>
              <a:rPr lang="ru-RU" b="1" dirty="0"/>
              <a:t> (1960-е)</a:t>
            </a:r>
            <a:endParaRPr lang="ru-RU" dirty="0"/>
          </a:p>
          <a:p>
            <a:r>
              <a:rPr lang="ru-RU" dirty="0"/>
              <a:t>Идея стала стандартом в UNIX</a:t>
            </a:r>
          </a:p>
          <a:p>
            <a:r>
              <a:rPr lang="ru-RU" dirty="0"/>
              <a:t>Применяется в Linux, Windows, </a:t>
            </a:r>
            <a:r>
              <a:rPr lang="ru-RU" dirty="0" err="1"/>
              <a:t>macOS</a:t>
            </a:r>
            <a:endParaRPr lang="ru-RU" dirty="0"/>
          </a:p>
          <a:p>
            <a:r>
              <a:rPr lang="ru-RU" dirty="0"/>
              <a:t>Пример важной концепции, пришедшей из ранних ОС</a:t>
            </a:r>
          </a:p>
        </p:txBody>
      </p:sp>
    </p:spTree>
    <p:extLst>
      <p:ext uri="{BB962C8B-B14F-4D97-AF65-F5344CB8AC3E}">
        <p14:creationId xmlns:p14="http://schemas.microsoft.com/office/powerpoint/2010/main" val="12516181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ADD488-35B8-294C-BE34-36DC8F18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Пути к файлам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3318D-DD91-1C94-A5D4-BE83D1B48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257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12C64B-D034-BB83-3C7C-A8F66E47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Два способа указания пути к файлам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8006B4-32C0-1D43-EC89-6EC433E7A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Абсолютные пути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Относительные пути</a:t>
            </a:r>
          </a:p>
          <a:p>
            <a:r>
              <a:rPr lang="ru-RU" dirty="0"/>
              <a:t>Необходимы в иерархической файловой системе</a:t>
            </a:r>
          </a:p>
          <a:p>
            <a:r>
              <a:rPr lang="ru-RU" dirty="0"/>
              <a:t>Определяют, где находится файл в дереве каталогов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0887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DE3F-29DB-4A11-5ECB-190ADD34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Абсолютные пути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CCE6-7283-3F2C-395D-FA6768868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Примеры:</a:t>
            </a:r>
          </a:p>
          <a:p>
            <a:pPr lvl="1"/>
            <a:r>
              <a:rPr lang="en-US" dirty="0"/>
              <a:t>UNIX →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ast</a:t>
            </a:r>
            <a:r>
              <a:rPr lang="en-US" dirty="0"/>
              <a:t>/mailbox</a:t>
            </a:r>
          </a:p>
          <a:p>
            <a:pPr lvl="1"/>
            <a:r>
              <a:rPr lang="en-US" dirty="0"/>
              <a:t>Windows → \</a:t>
            </a:r>
            <a:r>
              <a:rPr lang="en-US" dirty="0" err="1"/>
              <a:t>usr</a:t>
            </a:r>
            <a:r>
              <a:rPr lang="en-US" dirty="0"/>
              <a:t>\</a:t>
            </a:r>
            <a:r>
              <a:rPr lang="en-US" dirty="0" err="1"/>
              <a:t>ast</a:t>
            </a:r>
            <a:r>
              <a:rPr lang="en-US" dirty="0"/>
              <a:t>\mailbox</a:t>
            </a:r>
          </a:p>
          <a:p>
            <a:pPr lvl="1"/>
            <a:r>
              <a:rPr lang="en-US" dirty="0"/>
              <a:t>MULTICS → &gt;</a:t>
            </a:r>
            <a:r>
              <a:rPr lang="en-US" dirty="0" err="1"/>
              <a:t>usr</a:t>
            </a:r>
            <a:r>
              <a:rPr lang="en-US" dirty="0"/>
              <a:t>&gt;</a:t>
            </a:r>
            <a:r>
              <a:rPr lang="en-US" dirty="0" err="1"/>
              <a:t>ast</a:t>
            </a:r>
            <a:r>
              <a:rPr lang="en-US" dirty="0"/>
              <a:t>&gt;mailbox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Всегда начинаются с разделителя</a:t>
            </a:r>
          </a:p>
          <a:p>
            <a:pPr lvl="1"/>
            <a:r>
              <a:rPr lang="ru-RU" dirty="0"/>
              <a:t>Независимы от текущего каталога</a:t>
            </a:r>
          </a:p>
          <a:p>
            <a:pPr lvl="1"/>
            <a:r>
              <a:rPr lang="ru-RU" dirty="0"/>
              <a:t>Универсальны и надёжны</a:t>
            </a:r>
          </a:p>
        </p:txBody>
      </p:sp>
    </p:spTree>
    <p:extLst>
      <p:ext uri="{BB962C8B-B14F-4D97-AF65-F5344CB8AC3E}">
        <p14:creationId xmlns:p14="http://schemas.microsoft.com/office/powerpoint/2010/main" val="22751595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E1F4-C9A2-55B7-23A1-3B8CB292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Относительные пути и рабочий каталог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A023-29A4-E406-EE45-4644A2DC6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Считаются относительно рабочего каталога</a:t>
            </a:r>
          </a:p>
          <a:p>
            <a:r>
              <a:rPr lang="ru-RU" dirty="0"/>
              <a:t>Удобнее для пользователя</a:t>
            </a:r>
          </a:p>
          <a:p>
            <a:r>
              <a:rPr lang="ru-RU" dirty="0"/>
              <a:t>Рабочий каталог может меняться процессом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ru-RU" dirty="0"/>
              <a:t>Рабочий каталог</a:t>
            </a:r>
            <a:r>
              <a:rPr lang="en-US" dirty="0"/>
              <a:t>: /home/user1</a:t>
            </a:r>
          </a:p>
          <a:p>
            <a:pPr lvl="1"/>
            <a:r>
              <a:rPr lang="ru-RU" dirty="0"/>
              <a:t>Путь </a:t>
            </a:r>
            <a:r>
              <a:rPr lang="en-US" b="1" dirty="0"/>
              <a:t>mailbox</a:t>
            </a:r>
            <a:r>
              <a:rPr lang="en-US" dirty="0"/>
              <a:t> </a:t>
            </a:r>
            <a:r>
              <a:rPr lang="ru-RU" dirty="0"/>
              <a:t>интерпретируется как </a:t>
            </a:r>
            <a:r>
              <a:rPr lang="en-US" dirty="0"/>
              <a:t>/home/user1/mailbox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803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BE221-2CC7-845A-6E4C-FA7A1846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равнозначных команд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5E5C-6EC2-9AEB-EC0C-7E4CF4167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Следующие команды делают одно и то же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root</a:t>
            </a:r>
            <a:r>
              <a:rPr lang="en-US" dirty="0"/>
              <a:t>: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/home/user1</a:t>
            </a:r>
            <a:r>
              <a:rPr lang="en-US" dirty="0"/>
              <a:t>$ cp /home/user1/mailbox /home/user1/</a:t>
            </a:r>
            <a:r>
              <a:rPr lang="en-US" dirty="0" err="1"/>
              <a:t>mailbox.bak</a:t>
            </a:r>
            <a:endParaRPr lang="en-US" dirty="0"/>
          </a:p>
          <a:p>
            <a:pPr lvl="1"/>
            <a:r>
              <a:rPr lang="en-US" dirty="0">
                <a:solidFill>
                  <a:srgbClr val="00B050"/>
                </a:solidFill>
              </a:rPr>
              <a:t>root</a:t>
            </a:r>
            <a:r>
              <a:rPr lang="en-US" dirty="0"/>
              <a:t>: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/home/user1</a:t>
            </a:r>
            <a:r>
              <a:rPr lang="en-US" dirty="0"/>
              <a:t>$ cp mailbox </a:t>
            </a:r>
            <a:r>
              <a:rPr lang="en-US" dirty="0" err="1"/>
              <a:t>mailbox.bak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8165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60FA-82F3-5BED-4E59-B4204C83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обязательны абсолютные пути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92D7B-CC0D-3361-9B19-FEFD5D20F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Программы, которым нужен конкретный файл</a:t>
            </a:r>
          </a:p>
          <a:p>
            <a:r>
              <a:rPr lang="ru-RU" dirty="0"/>
              <a:t>Пример: /</a:t>
            </a:r>
            <a:r>
              <a:rPr lang="ru-RU" dirty="0" err="1"/>
              <a:t>usr</a:t>
            </a:r>
            <a:r>
              <a:rPr lang="ru-RU" dirty="0"/>
              <a:t>/</a:t>
            </a:r>
            <a:r>
              <a:rPr lang="ru-RU" dirty="0" err="1"/>
              <a:t>lib</a:t>
            </a:r>
            <a:r>
              <a:rPr lang="ru-RU" dirty="0"/>
              <a:t>/</a:t>
            </a:r>
            <a:r>
              <a:rPr lang="ru-RU" dirty="0" err="1"/>
              <a:t>dictionary</a:t>
            </a:r>
            <a:endParaRPr lang="ru-RU" dirty="0"/>
          </a:p>
          <a:p>
            <a:r>
              <a:rPr lang="ru-RU" dirty="0"/>
              <a:t>Рабочий каталог может быть неизвестным</a:t>
            </a:r>
          </a:p>
          <a:p>
            <a:r>
              <a:rPr lang="ru-RU" dirty="0"/>
              <a:t>Абсолютный путь всегда корректен</a:t>
            </a:r>
          </a:p>
        </p:txBody>
      </p:sp>
    </p:spTree>
    <p:extLst>
      <p:ext uri="{BB962C8B-B14F-4D97-AF65-F5344CB8AC3E}">
        <p14:creationId xmlns:p14="http://schemas.microsoft.com/office/powerpoint/2010/main" val="33187936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E155-7895-AF02-2FD1-35C5580D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рабочего каталога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34D5E-C9F9-E062-9704-D7E49D46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 может изменить рабочий каталог через системный вызов</a:t>
            </a:r>
          </a:p>
          <a:p>
            <a:r>
              <a:rPr lang="ru-RU" dirty="0"/>
              <a:t>Это влияет только на данный процесс</a:t>
            </a:r>
          </a:p>
          <a:p>
            <a:r>
              <a:rPr lang="ru-RU" dirty="0"/>
              <a:t>После завершения процесса система возвращается в прежнее состояние</a:t>
            </a:r>
          </a:p>
          <a:p>
            <a:r>
              <a:rPr lang="ru-RU" dirty="0"/>
              <a:t>Библиотечные функции </a:t>
            </a:r>
            <a:r>
              <a:rPr lang="ru-RU" b="1" dirty="0"/>
              <a:t>почти никогда</a:t>
            </a:r>
            <a:r>
              <a:rPr lang="ru-RU" dirty="0"/>
              <a:t> не меняют рабочий каталог</a:t>
            </a:r>
          </a:p>
        </p:txBody>
      </p:sp>
    </p:spTree>
    <p:extLst>
      <p:ext uri="{BB962C8B-B14F-4D97-AF65-F5344CB8AC3E}">
        <p14:creationId xmlns:p14="http://schemas.microsoft.com/office/powerpoint/2010/main" val="7354179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3267-AD32-C0C2-4691-F85F9D37A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Специальные имена «</a:t>
            </a:r>
            <a:r>
              <a:rPr lang="en-US" dirty="0"/>
              <a:t>.</a:t>
            </a:r>
            <a:r>
              <a:rPr lang="ru-RU" dirty="0"/>
              <a:t>» и «</a:t>
            </a:r>
            <a:r>
              <a:rPr lang="en-US" dirty="0"/>
              <a:t>..</a:t>
            </a:r>
            <a:r>
              <a:rPr lang="ru-RU" dirty="0"/>
              <a:t>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CA67A-4AB5-8B5F-D0DF-CC0C0374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любом каталоге (кроме корневого) существуют два специальных элемента:</a:t>
            </a:r>
          </a:p>
          <a:p>
            <a:pPr lvl="1"/>
            <a:r>
              <a:rPr lang="en-US" dirty="0"/>
              <a:t>. </a:t>
            </a:r>
            <a:r>
              <a:rPr lang="ru-RU" dirty="0"/>
              <a:t>обозначает текущий каталог</a:t>
            </a:r>
          </a:p>
          <a:p>
            <a:pPr lvl="1"/>
            <a:r>
              <a:rPr lang="ru-RU" dirty="0"/>
              <a:t>.. Обозначает родительский</a:t>
            </a:r>
          </a:p>
          <a:p>
            <a:r>
              <a:rPr lang="ru-RU" dirty="0"/>
              <a:t>Это позволяет не указывать длинные абсолютные пути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en-US" dirty="0"/>
              <a:t>cp ../lib/dictionary .</a:t>
            </a:r>
          </a:p>
          <a:p>
            <a:pPr lvl="2"/>
            <a:r>
              <a:rPr lang="ru-RU" dirty="0"/>
              <a:t>Копирует файл </a:t>
            </a:r>
            <a:r>
              <a:rPr lang="en-US" dirty="0"/>
              <a:t>dictionary </a:t>
            </a:r>
            <a:r>
              <a:rPr lang="ru-RU" dirty="0"/>
              <a:t>из соседнего каталога в текущий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1107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0793-86F2-BCA1-A6E1-BCFF5F45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каталогами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5C2F9-EC34-5E98-AA6E-20A993A09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923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D1F43F-CC19-0F9F-A5AA-08525251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операции над каталогами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18094A-F600-018A-8B70-5C602E19F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Create</a:t>
            </a:r>
            <a:r>
              <a:rPr lang="ru-RU" dirty="0"/>
              <a:t> — создать каталог</a:t>
            </a:r>
          </a:p>
          <a:p>
            <a:r>
              <a:rPr lang="ru-RU" b="1" dirty="0" err="1"/>
              <a:t>Delete</a:t>
            </a:r>
            <a:r>
              <a:rPr lang="ru-RU" dirty="0"/>
              <a:t> — удалить каталог</a:t>
            </a:r>
          </a:p>
          <a:p>
            <a:r>
              <a:rPr lang="ru-RU" b="1" dirty="0" err="1"/>
              <a:t>Opendir</a:t>
            </a:r>
            <a:r>
              <a:rPr lang="ru-RU" b="1" dirty="0"/>
              <a:t> / </a:t>
            </a:r>
            <a:r>
              <a:rPr lang="ru-RU" b="1" dirty="0" err="1"/>
              <a:t>Closedir</a:t>
            </a:r>
            <a:r>
              <a:rPr lang="ru-RU" dirty="0"/>
              <a:t> — открыть и закрыть каталог</a:t>
            </a:r>
          </a:p>
          <a:p>
            <a:r>
              <a:rPr lang="ru-RU" b="1" dirty="0" err="1"/>
              <a:t>Readdir</a:t>
            </a:r>
            <a:r>
              <a:rPr lang="ru-RU" dirty="0"/>
              <a:t> — прочитать следующую запись</a:t>
            </a:r>
          </a:p>
          <a:p>
            <a:r>
              <a:rPr lang="ru-RU" b="1" dirty="0" err="1"/>
              <a:t>Rename</a:t>
            </a:r>
            <a:r>
              <a:rPr lang="ru-RU" dirty="0"/>
              <a:t> — переименовать каталог</a:t>
            </a:r>
          </a:p>
          <a:p>
            <a:r>
              <a:rPr lang="ru-RU" b="1" dirty="0"/>
              <a:t>Link / </a:t>
            </a:r>
            <a:r>
              <a:rPr lang="ru-RU" b="1" dirty="0" err="1"/>
              <a:t>Unlink</a:t>
            </a:r>
            <a:r>
              <a:rPr lang="ru-RU" dirty="0"/>
              <a:t> — создавать и удалять ссылки</a:t>
            </a:r>
          </a:p>
          <a:p>
            <a:r>
              <a:rPr lang="ru-RU" dirty="0"/>
              <a:t>Каталоги — такие же файлы, но со специальной структурой</a:t>
            </a:r>
          </a:p>
        </p:txBody>
      </p:sp>
    </p:spTree>
    <p:extLst>
      <p:ext uri="{BB962C8B-B14F-4D97-AF65-F5344CB8AC3E}">
        <p14:creationId xmlns:p14="http://schemas.microsoft.com/office/powerpoint/2010/main" val="23930564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D625-01E9-35CD-E18E-C995E68B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удаление каталогов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D30E-C44B-8F02-3CEE-3D5EF082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Create</a:t>
            </a:r>
            <a:r>
              <a:rPr lang="ru-RU" b="1" dirty="0"/>
              <a:t> (</a:t>
            </a:r>
            <a:r>
              <a:rPr lang="ru-RU" b="1" dirty="0" err="1"/>
              <a:t>mkdir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Создаёт каталог</a:t>
            </a:r>
          </a:p>
          <a:p>
            <a:pPr lvl="1"/>
            <a:r>
              <a:rPr lang="ru-RU" dirty="0"/>
              <a:t>Добавляет записи . и .. Автоматически</a:t>
            </a:r>
          </a:p>
          <a:p>
            <a:r>
              <a:rPr lang="ru-RU" b="1" dirty="0" err="1"/>
              <a:t>Delete</a:t>
            </a:r>
            <a:r>
              <a:rPr lang="ru-RU" b="1" dirty="0"/>
              <a:t> (</a:t>
            </a:r>
            <a:r>
              <a:rPr lang="ru-RU" b="1" dirty="0" err="1"/>
              <a:t>rmdir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Можно удалить </a:t>
            </a:r>
            <a:r>
              <a:rPr lang="ru-RU" b="1" dirty="0"/>
              <a:t>только пустой каталог</a:t>
            </a:r>
            <a:endParaRPr lang="ru-RU" dirty="0"/>
          </a:p>
          <a:p>
            <a:pPr lvl="1"/>
            <a:r>
              <a:rPr lang="ru-RU" dirty="0"/>
              <a:t>Каталог с файлами удалить нельзя</a:t>
            </a:r>
          </a:p>
        </p:txBody>
      </p:sp>
    </p:spTree>
    <p:extLst>
      <p:ext uri="{BB962C8B-B14F-4D97-AF65-F5344CB8AC3E}">
        <p14:creationId xmlns:p14="http://schemas.microsoft.com/office/powerpoint/2010/main" val="23430081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FEB7-F890-BA06-8A0C-9C2C24DE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каталогов</a:t>
            </a:r>
            <a:r>
              <a:rPr lang="en-US" dirty="0"/>
              <a:t>: </a:t>
            </a:r>
            <a:r>
              <a:rPr lang="en-US" dirty="0" err="1"/>
              <a:t>opendir</a:t>
            </a:r>
            <a:r>
              <a:rPr lang="en-US" dirty="0"/>
              <a:t>, </a:t>
            </a:r>
            <a:r>
              <a:rPr lang="en-US" dirty="0" err="1"/>
              <a:t>readdir</a:t>
            </a:r>
            <a:r>
              <a:rPr lang="en-US" dirty="0"/>
              <a:t>, </a:t>
            </a:r>
            <a:r>
              <a:rPr lang="en-US" dirty="0" err="1"/>
              <a:t>closedir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76B0-47E2-524A-6CB4-D1A62121F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</a:t>
            </a:r>
            <a:r>
              <a:rPr lang="ru-RU" b="1" dirty="0" err="1"/>
              <a:t>pendir</a:t>
            </a:r>
            <a:r>
              <a:rPr lang="ru-RU" dirty="0"/>
              <a:t> — открыть каталог</a:t>
            </a:r>
          </a:p>
          <a:p>
            <a:r>
              <a:rPr lang="en-US" b="1" dirty="0"/>
              <a:t>r</a:t>
            </a:r>
            <a:r>
              <a:rPr lang="ru-RU" b="1" dirty="0" err="1"/>
              <a:t>eaddir</a:t>
            </a:r>
            <a:r>
              <a:rPr lang="ru-RU" dirty="0"/>
              <a:t> — вернуть следующую запись (имя файла)</a:t>
            </a:r>
          </a:p>
          <a:p>
            <a:r>
              <a:rPr lang="en-US" b="1" dirty="0"/>
              <a:t>c</a:t>
            </a:r>
            <a:r>
              <a:rPr lang="ru-RU" b="1" dirty="0" err="1"/>
              <a:t>losedir</a:t>
            </a:r>
            <a:r>
              <a:rPr lang="ru-RU" dirty="0"/>
              <a:t> — закрыть каталог</a:t>
            </a:r>
          </a:p>
          <a:p>
            <a:r>
              <a:rPr lang="ru-RU" b="1" dirty="0"/>
              <a:t>Почему нельзя использовать обычный </a:t>
            </a:r>
            <a:r>
              <a:rPr lang="ru-RU" b="1" dirty="0" err="1"/>
              <a:t>read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Разные файловые системы имеют разные внутренние форматы каталогов</a:t>
            </a:r>
          </a:p>
          <a:p>
            <a:pPr lvl="1"/>
            <a:r>
              <a:rPr lang="ru-RU" dirty="0" err="1"/>
              <a:t>readdir</a:t>
            </a:r>
            <a:r>
              <a:rPr lang="ru-RU" dirty="0"/>
              <a:t> возвращает стандартную структуру</a:t>
            </a:r>
          </a:p>
          <a:p>
            <a:pPr lvl="1"/>
            <a:r>
              <a:rPr lang="ru-RU" dirty="0"/>
              <a:t>Программисту не нужно знать детали реализации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0748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16FF-33C3-B141-0023-147C14DD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Rename</a:t>
            </a:r>
            <a:r>
              <a:rPr lang="ru-RU" dirty="0"/>
              <a:t> — переименование каталогов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B85F-5031-AFFB-B800-D393CEB9F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Каталоги можно переименовывать так же, как файлы</a:t>
            </a:r>
          </a:p>
          <a:p>
            <a:r>
              <a:rPr lang="ru-RU" dirty="0"/>
              <a:t>ОС просто меняет запись в родительском каталоге</a:t>
            </a:r>
          </a:p>
          <a:p>
            <a:r>
              <a:rPr lang="ru-RU" dirty="0"/>
              <a:t>Нет необходимости копировать данные</a:t>
            </a:r>
          </a:p>
        </p:txBody>
      </p:sp>
    </p:spTree>
    <p:extLst>
      <p:ext uri="{BB962C8B-B14F-4D97-AF65-F5344CB8AC3E}">
        <p14:creationId xmlns:p14="http://schemas.microsoft.com/office/powerpoint/2010/main" val="41660942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88C5-6C49-CD6D-7788-23D4CD3F2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link – </a:t>
            </a:r>
            <a:r>
              <a:rPr lang="ru-RU" dirty="0"/>
              <a:t>жёсткие ссылки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B802C-7C1F-AEE1-792A-31F822D60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Несколько имён могут ссылаться на один и тот же файл</a:t>
            </a:r>
          </a:p>
          <a:p>
            <a:r>
              <a:rPr lang="ru-RU" dirty="0"/>
              <a:t>При этом увеличивается счётчик ссылок в </a:t>
            </a:r>
            <a:r>
              <a:rPr lang="ru-RU" dirty="0" err="1"/>
              <a:t>inode</a:t>
            </a:r>
            <a:endParaRPr lang="ru-RU" dirty="0"/>
          </a:p>
          <a:p>
            <a:r>
              <a:rPr lang="ru-RU" dirty="0"/>
              <a:t>Файл удаляется только когда счётчик равен 0</a:t>
            </a:r>
          </a:p>
          <a:p>
            <a:r>
              <a:rPr lang="ru-RU" dirty="0"/>
              <a:t>Ссылки должны быть на одном диске</a:t>
            </a:r>
          </a:p>
          <a:p>
            <a:r>
              <a:rPr lang="ru-RU" dirty="0"/>
              <a:t>Нельзя делать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link</a:t>
            </a:r>
            <a:r>
              <a:rPr lang="ru-RU" dirty="0"/>
              <a:t> на каталог (в UNIX), чтобы избежать циклов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6631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5AB0-A4F9-00EF-9428-DC108F510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Unlink </a:t>
            </a:r>
            <a:r>
              <a:rPr lang="ru-RU" dirty="0"/>
              <a:t>– удаление записи из каталога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C102E-6BAA-8874-1874-BA3BFE315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Удаляет имя файла из каталога</a:t>
            </a:r>
          </a:p>
          <a:p>
            <a:r>
              <a:rPr lang="ru-RU" dirty="0"/>
              <a:t>Если это была последняя ссылка → файл удаляется</a:t>
            </a:r>
          </a:p>
          <a:p>
            <a:r>
              <a:rPr lang="ru-RU" dirty="0"/>
              <a:t>Если есть другие ссылки → данные остаются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854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D0F580-7AD6-DF57-C6AE-E3C967A3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478B2-BD31-2B84-E495-660BFC7450C4}"/>
              </a:ext>
            </a:extLst>
          </p:cNvPr>
          <p:cNvSpPr txBox="1"/>
          <p:nvPr/>
        </p:nvSpPr>
        <p:spPr>
          <a:xfrm>
            <a:off x="838200" y="1720840"/>
            <a:ext cx="10515599" cy="3416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ls -l</a:t>
            </a:r>
          </a:p>
          <a:p>
            <a:r>
              <a:rPr lang="en-US" dirty="0">
                <a:latin typeface="Consolas" panose="020B0609020204030204" pitchFamily="49" charset="0"/>
              </a:rPr>
              <a:t>total 4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file2.txt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ln file2.txt ref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ls -l</a:t>
            </a:r>
          </a:p>
          <a:p>
            <a:r>
              <a:rPr lang="en-US" dirty="0">
                <a:latin typeface="Consolas" panose="020B0609020204030204" pitchFamily="49" charset="0"/>
              </a:rPr>
              <a:t>total 8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file2.txt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ref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unlink file2.txt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ls -l</a:t>
            </a:r>
          </a:p>
          <a:p>
            <a:r>
              <a:rPr lang="en-US" dirty="0">
                <a:latin typeface="Consolas" panose="020B0609020204030204" pitchFamily="49" charset="0"/>
              </a:rPr>
              <a:t>total 4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ref</a:t>
            </a:r>
          </a:p>
        </p:txBody>
      </p:sp>
    </p:spTree>
    <p:extLst>
      <p:ext uri="{BB962C8B-B14F-4D97-AF65-F5344CB8AC3E}">
        <p14:creationId xmlns:p14="http://schemas.microsoft.com/office/powerpoint/2010/main" val="20638051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2A58-C560-EDE2-94A2-CD34409D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Символические ссылки </a:t>
            </a:r>
            <a:r>
              <a:rPr lang="en-US" dirty="0"/>
              <a:t>(soft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BFE6-E1BD-5E76-63EF-934EC0C86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маленький файл, содержащий путь к другому файлу</a:t>
            </a:r>
          </a:p>
          <a:p>
            <a:r>
              <a:rPr lang="ru-RU" dirty="0"/>
              <a:t>Может ссылаться на файлы на других дисках</a:t>
            </a:r>
          </a:p>
          <a:p>
            <a:r>
              <a:rPr lang="ru-RU" dirty="0"/>
              <a:t>Может указывать на удалённые файлы</a:t>
            </a:r>
          </a:p>
          <a:p>
            <a:r>
              <a:rPr lang="ru-RU" dirty="0"/>
              <a:t>Гибче, но медленнее, чем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links</a:t>
            </a:r>
            <a:endParaRPr lang="en-US" dirty="0"/>
          </a:p>
          <a:p>
            <a:r>
              <a:rPr lang="ru-RU" dirty="0"/>
              <a:t>Схема:</a:t>
            </a:r>
          </a:p>
          <a:p>
            <a:pPr lvl="1"/>
            <a:r>
              <a:rPr lang="en-US" dirty="0"/>
              <a:t>docs/report.txt</a:t>
            </a:r>
          </a:p>
          <a:p>
            <a:pPr lvl="1"/>
            <a:r>
              <a:rPr lang="en-US" dirty="0"/>
              <a:t>shortcut → "docs/report.txt“</a:t>
            </a:r>
          </a:p>
          <a:p>
            <a:r>
              <a:rPr lang="ru-RU" dirty="0"/>
              <a:t>Создание символической ссылки в </a:t>
            </a:r>
            <a:r>
              <a:rPr lang="en-US" dirty="0"/>
              <a:t>Linux:</a:t>
            </a:r>
          </a:p>
          <a:p>
            <a:pPr lvl="1"/>
            <a:r>
              <a:rPr lang="en-US" dirty="0"/>
              <a:t>ln –s </a:t>
            </a:r>
            <a:r>
              <a:rPr lang="ru-RU" dirty="0" err="1"/>
              <a:t>путь_к_файлу</a:t>
            </a:r>
            <a:r>
              <a:rPr lang="ru-RU" dirty="0"/>
              <a:t> </a:t>
            </a:r>
            <a:r>
              <a:rPr lang="ru-RU" dirty="0" err="1"/>
              <a:t>имя_ссылки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2132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8FB212-5FB5-5D5B-79D1-DBE94AF6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Файловые системы с точки зрения реализации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D8A9F-BB46-5C3D-7418-4C59C5FE4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980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6F13DB-517F-BDCE-EC7C-19C38660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устроена файловая система на диске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C276D1-A82C-5C9B-6D67-98C2BF340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Разработчиков интересует:</a:t>
            </a:r>
          </a:p>
          <a:p>
            <a:pPr lvl="1"/>
            <a:r>
              <a:rPr lang="ru-RU" dirty="0"/>
              <a:t>хранение файлов и каталогов</a:t>
            </a:r>
          </a:p>
          <a:p>
            <a:pPr lvl="1"/>
            <a:r>
              <a:rPr lang="ru-RU" dirty="0"/>
              <a:t>управление свободным местом</a:t>
            </a:r>
          </a:p>
          <a:p>
            <a:pPr lvl="1"/>
            <a:r>
              <a:rPr lang="ru-RU" dirty="0"/>
              <a:t>структура разделов</a:t>
            </a:r>
          </a:p>
          <a:p>
            <a:pPr lvl="1"/>
            <a:r>
              <a:rPr lang="ru-RU" dirty="0"/>
              <a:t>эффективность и надёжность</a:t>
            </a:r>
          </a:p>
          <a:p>
            <a:r>
              <a:rPr lang="ru-RU" dirty="0"/>
              <a:t>Внутреннее устройство файловой системы ≠ интерфейс пользователя</a:t>
            </a:r>
          </a:p>
          <a:p>
            <a:r>
              <a:rPr lang="ru-RU" dirty="0"/>
              <a:t>Изучаем реальные структуры на диске</a:t>
            </a:r>
          </a:p>
        </p:txBody>
      </p:sp>
    </p:spTree>
    <p:extLst>
      <p:ext uri="{BB962C8B-B14F-4D97-AF65-F5344CB8AC3E}">
        <p14:creationId xmlns:p14="http://schemas.microsoft.com/office/powerpoint/2010/main" val="12039541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4FCE-279B-23EC-798A-630D8FDC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раздела файловой системы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C66CB-A242-37C8-49A0-7BDE8EBA6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9716" y="1825625"/>
            <a:ext cx="102525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315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5875-8B74-5493-D6B9-813D5D63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Старый стиль </a:t>
            </a:r>
            <a:r>
              <a:rPr lang="en-US" dirty="0"/>
              <a:t>BIOS + MBR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D4F90-4529-E3BB-B29F-3623CFE61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MBR (Master Boot </a:t>
            </a:r>
            <a:r>
              <a:rPr lang="ru-RU" b="1" dirty="0" err="1"/>
              <a:t>Record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Находится в секторе 0</a:t>
            </a:r>
          </a:p>
          <a:p>
            <a:pPr lvl="1"/>
            <a:r>
              <a:rPr lang="ru-RU" dirty="0"/>
              <a:t>Содержит загрузочный код</a:t>
            </a:r>
          </a:p>
          <a:p>
            <a:pPr lvl="1"/>
            <a:r>
              <a:rPr lang="ru-RU" dirty="0"/>
              <a:t>В конце хранится </a:t>
            </a:r>
            <a:r>
              <a:rPr lang="ru-RU" b="1" dirty="0" err="1"/>
              <a:t>partition</a:t>
            </a:r>
            <a:r>
              <a:rPr lang="ru-RU" b="1" dirty="0"/>
              <a:t> </a:t>
            </a:r>
            <a:r>
              <a:rPr lang="ru-RU" b="1" dirty="0" err="1"/>
              <a:t>table</a:t>
            </a:r>
            <a:endParaRPr lang="ru-RU" dirty="0"/>
          </a:p>
          <a:p>
            <a:pPr lvl="1"/>
            <a:r>
              <a:rPr lang="ru-RU" dirty="0"/>
              <a:t>Один раздел помечается как </a:t>
            </a:r>
            <a:r>
              <a:rPr lang="ru-RU" dirty="0" err="1"/>
              <a:t>active</a:t>
            </a:r>
            <a:endParaRPr lang="ru-RU" dirty="0"/>
          </a:p>
          <a:p>
            <a:pPr lvl="1"/>
            <a:r>
              <a:rPr lang="ru-RU" dirty="0"/>
              <a:t>Размер диска ограничен (~2 ТБ)</a:t>
            </a:r>
          </a:p>
          <a:p>
            <a:pPr lvl="1"/>
            <a:r>
              <a:rPr lang="ru-RU" dirty="0"/>
              <a:t>Архитектурно зависит от BIOS</a:t>
            </a:r>
          </a:p>
          <a:p>
            <a:r>
              <a:rPr lang="ru-RU" b="1" dirty="0"/>
              <a:t>Последовательность загрузки:</a:t>
            </a:r>
            <a:endParaRPr lang="ru-RU" dirty="0"/>
          </a:p>
          <a:p>
            <a:pPr lvl="1"/>
            <a:r>
              <a:rPr lang="en-US" dirty="0"/>
              <a:t>BIOS → MBR → boot block → OS</a:t>
            </a:r>
          </a:p>
        </p:txBody>
      </p:sp>
    </p:spTree>
    <p:extLst>
      <p:ext uri="{BB962C8B-B14F-4D97-AF65-F5344CB8AC3E}">
        <p14:creationId xmlns:p14="http://schemas.microsoft.com/office/powerpoint/2010/main" val="662365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EBC6-3A16-5A36-0B4A-08EC10D8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Современный подход </a:t>
            </a:r>
            <a:r>
              <a:rPr lang="en-US" dirty="0"/>
              <a:t>UEFI+GPT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0417-C557-C41E-738B-DAC93FFFB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Особенности UEFI:</a:t>
            </a:r>
          </a:p>
          <a:p>
            <a:pPr lvl="1"/>
            <a:r>
              <a:rPr lang="ru-RU" dirty="0"/>
              <a:t>Не использует MBR</a:t>
            </a:r>
          </a:p>
          <a:p>
            <a:pPr lvl="1"/>
            <a:r>
              <a:rPr lang="ru-RU" dirty="0"/>
              <a:t>GPT в </a:t>
            </a:r>
            <a:r>
              <a:rPr lang="ru-RU" i="1" dirty="0"/>
              <a:t>двух местах</a:t>
            </a:r>
            <a:r>
              <a:rPr lang="ru-RU" dirty="0"/>
              <a:t>: в начале и в конце диска</a:t>
            </a:r>
          </a:p>
          <a:p>
            <a:pPr lvl="1"/>
            <a:r>
              <a:rPr lang="ru-RU" dirty="0"/>
              <a:t>Быстрая загрузка</a:t>
            </a:r>
          </a:p>
          <a:p>
            <a:pPr lvl="1"/>
            <a:r>
              <a:rPr lang="ru-RU" dirty="0"/>
              <a:t>Поддержка дисков до 8 </a:t>
            </a:r>
            <a:r>
              <a:rPr lang="ru-RU" dirty="0" err="1"/>
              <a:t>ZiB</a:t>
            </a:r>
            <a:endParaRPr lang="ru-RU" dirty="0"/>
          </a:p>
          <a:p>
            <a:pPr lvl="1"/>
            <a:r>
              <a:rPr lang="ru-RU" dirty="0"/>
              <a:t>Работает на разных архитектурах</a:t>
            </a:r>
          </a:p>
          <a:p>
            <a:pPr lvl="1"/>
            <a:r>
              <a:rPr lang="ru-RU" dirty="0"/>
              <a:t>Может читать файловые системы</a:t>
            </a:r>
          </a:p>
          <a:p>
            <a:pPr lvl="1"/>
            <a:r>
              <a:rPr lang="ru-RU" dirty="0"/>
              <a:t>Может исполнять PE-файлы</a:t>
            </a:r>
          </a:p>
          <a:p>
            <a:r>
              <a:rPr lang="ru-RU" dirty="0"/>
              <a:t>EFI System </a:t>
            </a:r>
            <a:r>
              <a:rPr lang="ru-RU" dirty="0" err="1"/>
              <a:t>Partition</a:t>
            </a:r>
            <a:r>
              <a:rPr lang="ru-RU" dirty="0"/>
              <a:t> (ESP):</a:t>
            </a:r>
          </a:p>
          <a:p>
            <a:pPr lvl="1"/>
            <a:r>
              <a:rPr lang="ru-RU" dirty="0"/>
              <a:t>Специальный раздел</a:t>
            </a:r>
          </a:p>
          <a:p>
            <a:pPr lvl="1"/>
            <a:r>
              <a:rPr lang="ru-RU" dirty="0"/>
              <a:t>Содержит загрузчики, конфиги</a:t>
            </a:r>
          </a:p>
          <a:p>
            <a:pPr lvl="1"/>
            <a:r>
              <a:rPr lang="ru-RU" dirty="0"/>
              <a:t>Обычно формат FAT32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022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42D3-832C-4C37-731C-C5BC6DCA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таблицы разделов </a:t>
            </a:r>
            <a:r>
              <a:rPr lang="en-US" dirty="0"/>
              <a:t>UEFI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EB6AE0-D91A-2B2C-9262-B5D3E0820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008587"/>
            <a:ext cx="10515600" cy="198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800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E484-0963-2340-2F90-B48DF86C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MBR </a:t>
            </a:r>
            <a:r>
              <a:rPr lang="ru-RU" dirty="0"/>
              <a:t>и </a:t>
            </a:r>
            <a:r>
              <a:rPr lang="en-US" dirty="0"/>
              <a:t>UEFI/GPT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56A4EB-BE76-389B-E50E-2E504DC64A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869637"/>
              </p:ext>
            </p:extLst>
          </p:nvPr>
        </p:nvGraphicFramePr>
        <p:xfrm>
          <a:off x="838200" y="1825625"/>
          <a:ext cx="10515597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324987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328146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3022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UEFI + GPT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155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Поколение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Старое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Современное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356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Максимальный размер диска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8 </a:t>
                      </a:r>
                      <a:r>
                        <a:rPr lang="en-US" dirty="0"/>
                        <a:t>ZiB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43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 загрузки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BIOS → MBR → Boot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UEFI → ESP →</a:t>
                      </a:r>
                      <a:r>
                        <a:rPr lang="ru-RU" dirty="0"/>
                        <a:t> Загрузчик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12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Таблица разделов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 конце </a:t>
                      </a:r>
                      <a:r>
                        <a:rPr lang="en-US" dirty="0"/>
                        <a:t>MBR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GPT </a:t>
                      </a:r>
                      <a:r>
                        <a:rPr lang="ru-RU" dirty="0"/>
                        <a:t>в начале и в конце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819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Архитектура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Любая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66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Надёжность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75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Поддержка нескольких загрузчиков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Ограничено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Встроенная поддержка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84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2716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5A534B-1D77-E964-E00C-C7E8F91F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работы с файлами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B0050-AE3B-154B-0AF8-627570EF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857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876C03-1694-84BE-C243-AE0E1953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B610C-3D90-7B68-295C-24BB478B6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868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895D96-0B8C-4DF9-8879-6443B852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E2450B-A18B-21EB-0C3D-F9C8F465D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 хранится как последовательность прилегающих блоков</a:t>
            </a:r>
          </a:p>
          <a:p>
            <a:r>
              <a:rPr lang="ru-RU" dirty="0"/>
              <a:t>Описывается: </a:t>
            </a:r>
            <a:r>
              <a:rPr lang="ru-RU" b="1" dirty="0"/>
              <a:t>адрес первого блока + длина</a:t>
            </a:r>
            <a:endParaRPr lang="ru-RU" dirty="0"/>
          </a:p>
          <a:p>
            <a:r>
              <a:rPr lang="ru-RU" dirty="0"/>
              <a:t>Очень удобно для чтения</a:t>
            </a:r>
          </a:p>
          <a:p>
            <a:r>
              <a:rPr lang="ru-RU" dirty="0"/>
              <a:t>Очень просто реализовать</a:t>
            </a:r>
          </a:p>
        </p:txBody>
      </p:sp>
    </p:spTree>
    <p:extLst>
      <p:ext uri="{BB962C8B-B14F-4D97-AF65-F5344CB8AC3E}">
        <p14:creationId xmlns:p14="http://schemas.microsoft.com/office/powerpoint/2010/main" val="16930172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04D38F-B97F-9A2A-14F3-51D7ACE3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024782-0841-84D5-4873-56B133E7E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838"/>
          <a:stretch>
            <a:fillRect/>
          </a:stretch>
        </p:blipFill>
        <p:spPr>
          <a:xfrm>
            <a:off x="838200" y="2816616"/>
            <a:ext cx="10515600" cy="2369355"/>
          </a:xfrm>
        </p:spPr>
      </p:pic>
    </p:spTree>
    <p:extLst>
      <p:ext uri="{BB962C8B-B14F-4D97-AF65-F5344CB8AC3E}">
        <p14:creationId xmlns:p14="http://schemas.microsoft.com/office/powerpoint/2010/main" val="21033585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74A7-24CF-53E4-72F9-55C8A043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непрерывного размещения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1B774-FAE8-187C-4BD5-FAD4ECEAD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Простота реализации</a:t>
            </a:r>
          </a:p>
          <a:p>
            <a:r>
              <a:rPr lang="ru-RU" dirty="0"/>
              <a:t>Максимальная скорость последовательного чтения</a:t>
            </a:r>
          </a:p>
          <a:p>
            <a:r>
              <a:rPr lang="ru-RU" dirty="0"/>
              <a:t>Один </a:t>
            </a:r>
            <a:r>
              <a:rPr lang="ru-RU" dirty="0" err="1"/>
              <a:t>seek</a:t>
            </a:r>
            <a:r>
              <a:rPr lang="ru-RU" dirty="0"/>
              <a:t> → всё остальное читается подряд</a:t>
            </a:r>
          </a:p>
          <a:p>
            <a:r>
              <a:rPr lang="ru-RU" dirty="0"/>
              <a:t>Отлично работает для статичных файлов</a:t>
            </a:r>
          </a:p>
        </p:txBody>
      </p:sp>
    </p:spTree>
    <p:extLst>
      <p:ext uri="{BB962C8B-B14F-4D97-AF65-F5344CB8AC3E}">
        <p14:creationId xmlns:p14="http://schemas.microsoft.com/office/powerpoint/2010/main" val="24632038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35EC-5273-47F3-CCFC-D018DF5C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Главная проблема - фрагментация</a:t>
            </a:r>
            <a:endParaRPr lang="en-US" dirty="0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6A2B3E24-D4B6-6587-FB9B-8FE000AA4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11083" y="1825625"/>
            <a:ext cx="73698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353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E9D4-1556-D579-306A-7749701C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Необходимость заранее знать размер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57C5-B3D7-4F6D-F8FD-6AA6CD9CC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Нужно выбрать подходящую «дыру»</a:t>
            </a:r>
          </a:p>
          <a:p>
            <a:r>
              <a:rPr lang="ru-RU" dirty="0"/>
              <a:t>Файл должен полностью поместиться</a:t>
            </a:r>
          </a:p>
          <a:p>
            <a:r>
              <a:rPr lang="ru-RU" dirty="0"/>
              <a:t>Если размер окажется больше — файл нельзя продолжить!</a:t>
            </a:r>
          </a:p>
          <a:p>
            <a:r>
              <a:rPr lang="ru-RU" dirty="0"/>
              <a:t>Пример: видеоредактор должен узнать размер будущего файла заранее</a:t>
            </a:r>
          </a:p>
        </p:txBody>
      </p:sp>
    </p:spTree>
    <p:extLst>
      <p:ext uri="{BB962C8B-B14F-4D97-AF65-F5344CB8AC3E}">
        <p14:creationId xmlns:p14="http://schemas.microsoft.com/office/powerpoint/2010/main" val="30045475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FF4D-3DCB-B0EC-4F42-FE5F4D80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непрерывное размещение файлов больше почти не используется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B9C2-BE67-960F-E0AF-0D14DF3E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Сильная фрагментация</a:t>
            </a:r>
          </a:p>
          <a:p>
            <a:r>
              <a:rPr lang="ru-RU" dirty="0"/>
              <a:t>Невозможность динамического увеличения файлов</a:t>
            </a:r>
          </a:p>
          <a:p>
            <a:r>
              <a:rPr lang="ru-RU" dirty="0"/>
              <a:t>Огромная стоимость дефрагментации</a:t>
            </a:r>
          </a:p>
          <a:p>
            <a:r>
              <a:rPr lang="ru-RU" dirty="0"/>
              <a:t>Требует заранее знать размер</a:t>
            </a:r>
          </a:p>
          <a:p>
            <a:r>
              <a:rPr lang="ru-RU" dirty="0"/>
              <a:t>Непригодно для современных ОС</a:t>
            </a:r>
          </a:p>
        </p:txBody>
      </p:sp>
    </p:spTree>
    <p:extLst>
      <p:ext uri="{BB962C8B-B14F-4D97-AF65-F5344CB8AC3E}">
        <p14:creationId xmlns:p14="http://schemas.microsoft.com/office/powerpoint/2010/main" val="15074500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182E2A-025F-C8CA-017C-3FB4B390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в виде цепочки блоков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D965C-63C6-204C-E8F6-A1A765CD4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Linked-list allocation</a:t>
            </a:r>
          </a:p>
        </p:txBody>
      </p:sp>
    </p:spTree>
    <p:extLst>
      <p:ext uri="{BB962C8B-B14F-4D97-AF65-F5344CB8AC3E}">
        <p14:creationId xmlns:p14="http://schemas.microsoft.com/office/powerpoint/2010/main" val="492175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6FBADD-E909-C033-65DF-FE885815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реализации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B3B829-1E57-3AA3-C77F-AFD35DE31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Linked-list</a:t>
            </a:r>
            <a:r>
              <a:rPr lang="ru-RU" dirty="0"/>
              <a:t> </a:t>
            </a:r>
            <a:r>
              <a:rPr lang="ru-RU" dirty="0" err="1"/>
              <a:t>allocation</a:t>
            </a:r>
            <a:endParaRPr lang="ru-RU" dirty="0"/>
          </a:p>
          <a:p>
            <a:r>
              <a:rPr lang="ru-RU" dirty="0"/>
              <a:t>FAT (таблица в памяти)</a:t>
            </a:r>
          </a:p>
          <a:p>
            <a:r>
              <a:rPr lang="ru-RU" dirty="0"/>
              <a:t>I-</a:t>
            </a:r>
            <a:r>
              <a:rPr lang="ru-RU" dirty="0" err="1"/>
              <a:t>nodes</a:t>
            </a:r>
            <a:endParaRPr lang="ru-RU" dirty="0"/>
          </a:p>
          <a:p>
            <a:r>
              <a:rPr lang="ru-RU" dirty="0"/>
              <a:t>Все методы связывают блоки диска с логическим файлом</a:t>
            </a:r>
          </a:p>
          <a:p>
            <a:r>
              <a:rPr lang="ru-RU" dirty="0"/>
              <a:t>Отличаются скоростью и масштабируемостью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67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1ABC01-10D8-FA4D-81AA-C46D3055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в виде односвязного списка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9A27349-1252-47BE-8E4A-478B23D588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Файл хранится как цепочка блоков</a:t>
            </a:r>
          </a:p>
          <a:p>
            <a:pPr lvl="1"/>
            <a:r>
              <a:rPr lang="ru-RU" dirty="0"/>
              <a:t>Каждый блок указывает на следующий</a:t>
            </a:r>
          </a:p>
          <a:p>
            <a:r>
              <a:rPr lang="ru-RU" dirty="0"/>
              <a:t>Плюсы</a:t>
            </a:r>
          </a:p>
          <a:p>
            <a:pPr lvl="1"/>
            <a:r>
              <a:rPr lang="ru-RU" dirty="0"/>
              <a:t>Нет внешней фрагментации</a:t>
            </a:r>
          </a:p>
          <a:p>
            <a:pPr lvl="1"/>
            <a:r>
              <a:rPr lang="ru-RU" dirty="0"/>
              <a:t>Нужно знать только первый блок</a:t>
            </a:r>
          </a:p>
          <a:p>
            <a:r>
              <a:rPr lang="ru-RU" dirty="0"/>
              <a:t>Минусы</a:t>
            </a:r>
          </a:p>
          <a:p>
            <a:pPr lvl="1"/>
            <a:r>
              <a:rPr lang="ru-RU" dirty="0"/>
              <a:t>Крайне медленный произвольный доступ</a:t>
            </a:r>
          </a:p>
          <a:p>
            <a:pPr lvl="1"/>
            <a:r>
              <a:rPr lang="ru-RU" dirty="0"/>
              <a:t>Блоки хранят меньше данных</a:t>
            </a:r>
            <a:endParaRPr lang="en-US" dirty="0"/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6ECA6988-DDBD-EE40-6D3D-056BA7410F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71384"/>
            <a:ext cx="5181600" cy="42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615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EABCC-A363-B956-4D98-92E57705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FAT – File Allocation Table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5E0FD-38A8-AAC1-348B-189A2A02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Идея:</a:t>
            </a:r>
            <a:endParaRPr lang="ru-RU" dirty="0"/>
          </a:p>
          <a:p>
            <a:pPr lvl="1"/>
            <a:r>
              <a:rPr lang="ru-RU" dirty="0"/>
              <a:t>указатели не в блоках → а в </a:t>
            </a:r>
            <a:r>
              <a:rPr lang="ru-RU" i="1" dirty="0"/>
              <a:t>таблице в памяти</a:t>
            </a:r>
            <a:r>
              <a:rPr lang="ru-RU" dirty="0"/>
              <a:t>.</a:t>
            </a:r>
          </a:p>
          <a:p>
            <a:r>
              <a:rPr lang="ru-RU" b="1" dirty="0"/>
              <a:t>Плюсы:</a:t>
            </a:r>
            <a:endParaRPr lang="ru-RU" dirty="0"/>
          </a:p>
          <a:p>
            <a:pPr lvl="1"/>
            <a:r>
              <a:rPr lang="ru-RU" dirty="0"/>
              <a:t>блок полностью доступен для данных;</a:t>
            </a:r>
          </a:p>
          <a:p>
            <a:pPr lvl="1"/>
            <a:r>
              <a:rPr lang="ru-RU" dirty="0"/>
              <a:t>быстрый доступ — цепочку можно проходить в RAM</a:t>
            </a:r>
          </a:p>
          <a:p>
            <a:r>
              <a:rPr lang="ru-RU" b="1" dirty="0"/>
              <a:t>Минусы:</a:t>
            </a:r>
            <a:endParaRPr lang="ru-RU" dirty="0"/>
          </a:p>
          <a:p>
            <a:pPr lvl="1"/>
            <a:r>
              <a:rPr lang="ru-RU" dirty="0"/>
              <a:t>таблица FAT должна храниться в памяти целиком;</a:t>
            </a:r>
          </a:p>
          <a:p>
            <a:pPr lvl="1"/>
            <a:r>
              <a:rPr lang="ru-RU" dirty="0"/>
              <a:t>плохо масштабируется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8E4C91-8C48-80D6-129B-0F17375AB7E8}"/>
              </a:ext>
            </a:extLst>
          </p:cNvPr>
          <p:cNvSpPr/>
          <p:nvPr/>
        </p:nvSpPr>
        <p:spPr>
          <a:xfrm>
            <a:off x="7419975" y="1690688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80E0D9-021D-343D-3AEF-A8D5501FC0DC}"/>
              </a:ext>
            </a:extLst>
          </p:cNvPr>
          <p:cNvSpPr/>
          <p:nvPr/>
        </p:nvSpPr>
        <p:spPr>
          <a:xfrm>
            <a:off x="7067549" y="1690688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0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89D78F-38D2-E845-EB44-4E4612D25F5E}"/>
              </a:ext>
            </a:extLst>
          </p:cNvPr>
          <p:cNvSpPr/>
          <p:nvPr/>
        </p:nvSpPr>
        <p:spPr>
          <a:xfrm>
            <a:off x="7419974" y="1971675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A153D0-B7FC-BC27-B643-30E08667D423}"/>
              </a:ext>
            </a:extLst>
          </p:cNvPr>
          <p:cNvSpPr/>
          <p:nvPr/>
        </p:nvSpPr>
        <p:spPr>
          <a:xfrm>
            <a:off x="7067548" y="1971675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E2FD25-0EFC-17DA-260D-AE5D159D6D69}"/>
              </a:ext>
            </a:extLst>
          </p:cNvPr>
          <p:cNvSpPr/>
          <p:nvPr/>
        </p:nvSpPr>
        <p:spPr>
          <a:xfrm>
            <a:off x="7419973" y="2252662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10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FF1119-3507-5ABB-57B8-7630B1D1EEA1}"/>
              </a:ext>
            </a:extLst>
          </p:cNvPr>
          <p:cNvSpPr/>
          <p:nvPr/>
        </p:nvSpPr>
        <p:spPr>
          <a:xfrm>
            <a:off x="7067547" y="2252662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2</a:t>
            </a:r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E0F7B8-BADC-DE87-9C3A-8FED656532EC}"/>
              </a:ext>
            </a:extLst>
          </p:cNvPr>
          <p:cNvSpPr/>
          <p:nvPr/>
        </p:nvSpPr>
        <p:spPr>
          <a:xfrm>
            <a:off x="7419972" y="2533649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11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C9CC2-8648-13EE-33BD-4B2428E4C0FD}"/>
              </a:ext>
            </a:extLst>
          </p:cNvPr>
          <p:cNvSpPr/>
          <p:nvPr/>
        </p:nvSpPr>
        <p:spPr>
          <a:xfrm>
            <a:off x="7067546" y="2533649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3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D738B6-935D-BD2B-391A-0C75D7AC02D8}"/>
              </a:ext>
            </a:extLst>
          </p:cNvPr>
          <p:cNvSpPr/>
          <p:nvPr/>
        </p:nvSpPr>
        <p:spPr>
          <a:xfrm>
            <a:off x="7419971" y="2814636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7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31B29D-274C-1E05-EB86-01CF7ACA0C5B}"/>
              </a:ext>
            </a:extLst>
          </p:cNvPr>
          <p:cNvSpPr/>
          <p:nvPr/>
        </p:nvSpPr>
        <p:spPr>
          <a:xfrm>
            <a:off x="7067545" y="2814636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4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4AE416-BD60-F06A-23F6-E0B2FED4FA7E}"/>
              </a:ext>
            </a:extLst>
          </p:cNvPr>
          <p:cNvSpPr/>
          <p:nvPr/>
        </p:nvSpPr>
        <p:spPr>
          <a:xfrm>
            <a:off x="7419970" y="3095623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2EB9A2-6543-7E7B-FF5C-89421BB546E0}"/>
              </a:ext>
            </a:extLst>
          </p:cNvPr>
          <p:cNvSpPr/>
          <p:nvPr/>
        </p:nvSpPr>
        <p:spPr>
          <a:xfrm>
            <a:off x="7067544" y="3095623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5</a:t>
            </a:r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219708-2E86-D976-6688-F5585B34C5BC}"/>
              </a:ext>
            </a:extLst>
          </p:cNvPr>
          <p:cNvSpPr/>
          <p:nvPr/>
        </p:nvSpPr>
        <p:spPr>
          <a:xfrm>
            <a:off x="7419969" y="3376610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3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958635-6423-14AE-FAB3-B944411ED717}"/>
              </a:ext>
            </a:extLst>
          </p:cNvPr>
          <p:cNvSpPr/>
          <p:nvPr/>
        </p:nvSpPr>
        <p:spPr>
          <a:xfrm>
            <a:off x="7067543" y="3376610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6</a:t>
            </a: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2ABA20-361A-B4DA-D879-7F882C9DB2F5}"/>
              </a:ext>
            </a:extLst>
          </p:cNvPr>
          <p:cNvSpPr/>
          <p:nvPr/>
        </p:nvSpPr>
        <p:spPr>
          <a:xfrm>
            <a:off x="7419968" y="3657597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2</a:t>
            </a:r>
            <a:endParaRPr lang="en-US" sz="11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91E971-3CF7-6E4D-AD18-009EEE46C19E}"/>
              </a:ext>
            </a:extLst>
          </p:cNvPr>
          <p:cNvSpPr/>
          <p:nvPr/>
        </p:nvSpPr>
        <p:spPr>
          <a:xfrm>
            <a:off x="7067542" y="3657597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7</a:t>
            </a:r>
            <a:endParaRPr lang="en-US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2D49C2-1647-176C-FF51-E18E6319589E}"/>
              </a:ext>
            </a:extLst>
          </p:cNvPr>
          <p:cNvSpPr/>
          <p:nvPr/>
        </p:nvSpPr>
        <p:spPr>
          <a:xfrm>
            <a:off x="7419967" y="3938584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FFC952-E7F0-0217-AF2F-11BFD2C4F263}"/>
              </a:ext>
            </a:extLst>
          </p:cNvPr>
          <p:cNvSpPr/>
          <p:nvPr/>
        </p:nvSpPr>
        <p:spPr>
          <a:xfrm>
            <a:off x="7067541" y="3938584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8</a:t>
            </a:r>
            <a:endParaRPr lang="en-US" sz="11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3879BA-2772-986C-F9F4-4B9DE0A3668B}"/>
              </a:ext>
            </a:extLst>
          </p:cNvPr>
          <p:cNvSpPr/>
          <p:nvPr/>
        </p:nvSpPr>
        <p:spPr>
          <a:xfrm>
            <a:off x="7419966" y="4219571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A2FA05-7608-4BF8-CCEA-62B74B41AA76}"/>
              </a:ext>
            </a:extLst>
          </p:cNvPr>
          <p:cNvSpPr/>
          <p:nvPr/>
        </p:nvSpPr>
        <p:spPr>
          <a:xfrm>
            <a:off x="7067540" y="4219571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9</a:t>
            </a:r>
            <a:endParaRPr lang="en-US" sz="11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C93D1A-226A-6B30-55BD-354FA2779524}"/>
              </a:ext>
            </a:extLst>
          </p:cNvPr>
          <p:cNvSpPr/>
          <p:nvPr/>
        </p:nvSpPr>
        <p:spPr>
          <a:xfrm>
            <a:off x="7419965" y="4500558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12</a:t>
            </a:r>
            <a:endParaRPr lang="en-US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47E437-11BC-C6AF-5C6A-AE773E77FBB7}"/>
              </a:ext>
            </a:extLst>
          </p:cNvPr>
          <p:cNvSpPr/>
          <p:nvPr/>
        </p:nvSpPr>
        <p:spPr>
          <a:xfrm>
            <a:off x="7067539" y="4500558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10</a:t>
            </a:r>
            <a:endParaRPr lang="en-US" sz="11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6916D-AF19-862C-5CA9-A08DAEC7AD5E}"/>
              </a:ext>
            </a:extLst>
          </p:cNvPr>
          <p:cNvSpPr/>
          <p:nvPr/>
        </p:nvSpPr>
        <p:spPr>
          <a:xfrm>
            <a:off x="7419964" y="4781545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14</a:t>
            </a:r>
            <a:endParaRPr lang="en-US" sz="11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BF994D-2D4D-448A-1E07-967A3EA446B0}"/>
              </a:ext>
            </a:extLst>
          </p:cNvPr>
          <p:cNvSpPr/>
          <p:nvPr/>
        </p:nvSpPr>
        <p:spPr>
          <a:xfrm>
            <a:off x="7067538" y="4781545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11</a:t>
            </a:r>
            <a:endParaRPr lang="en-US" sz="11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88E1C0-3540-2D6A-B2A0-5BC7FAEF5CDD}"/>
              </a:ext>
            </a:extLst>
          </p:cNvPr>
          <p:cNvSpPr/>
          <p:nvPr/>
        </p:nvSpPr>
        <p:spPr>
          <a:xfrm>
            <a:off x="7419963" y="5062532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-1</a:t>
            </a:r>
            <a:endParaRPr lang="en-US" sz="11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000357-B2E6-0342-46DC-0B1E61D18B5A}"/>
              </a:ext>
            </a:extLst>
          </p:cNvPr>
          <p:cNvSpPr/>
          <p:nvPr/>
        </p:nvSpPr>
        <p:spPr>
          <a:xfrm>
            <a:off x="7067537" y="5062532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12</a:t>
            </a:r>
            <a:endParaRPr lang="en-US" sz="11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958BFC-4789-68DB-FB1D-EE7CF54C9D77}"/>
              </a:ext>
            </a:extLst>
          </p:cNvPr>
          <p:cNvSpPr/>
          <p:nvPr/>
        </p:nvSpPr>
        <p:spPr>
          <a:xfrm>
            <a:off x="7419962" y="5343519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D60D6D-F6AB-6B23-DB97-4EAED76BAC2C}"/>
              </a:ext>
            </a:extLst>
          </p:cNvPr>
          <p:cNvSpPr/>
          <p:nvPr/>
        </p:nvSpPr>
        <p:spPr>
          <a:xfrm>
            <a:off x="7067536" y="5343519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13</a:t>
            </a: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36CF43-F8DB-EB04-A030-D0BD1F4D38E3}"/>
              </a:ext>
            </a:extLst>
          </p:cNvPr>
          <p:cNvSpPr/>
          <p:nvPr/>
        </p:nvSpPr>
        <p:spPr>
          <a:xfrm>
            <a:off x="7419961" y="5624506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-1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2B5CAD-C777-432B-5336-E9B728141DC2}"/>
              </a:ext>
            </a:extLst>
          </p:cNvPr>
          <p:cNvSpPr/>
          <p:nvPr/>
        </p:nvSpPr>
        <p:spPr>
          <a:xfrm>
            <a:off x="7067535" y="5624506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14</a:t>
            </a:r>
            <a:endParaRPr lang="en-US" sz="11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5074CD-F030-B443-10B1-27D6FBE97AE1}"/>
              </a:ext>
            </a:extLst>
          </p:cNvPr>
          <p:cNvSpPr/>
          <p:nvPr/>
        </p:nvSpPr>
        <p:spPr>
          <a:xfrm>
            <a:off x="7419960" y="5905493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ABDE75-AD8C-23D1-80DC-CDE72C447347}"/>
              </a:ext>
            </a:extLst>
          </p:cNvPr>
          <p:cNvSpPr/>
          <p:nvPr/>
        </p:nvSpPr>
        <p:spPr>
          <a:xfrm>
            <a:off x="7067534" y="5905493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15</a:t>
            </a:r>
            <a:endParaRPr lang="en-US" sz="11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24D22FE-74EB-17A8-C264-F1A61BB0173A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8867771" y="2955130"/>
            <a:ext cx="479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E17F0F1-792F-F1EE-6ABB-4CF7648F60B1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8867769" y="3517104"/>
            <a:ext cx="479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7ECE5F1-6AB9-2D82-29EA-D29E76A7F8A0}"/>
              </a:ext>
            </a:extLst>
          </p:cNvPr>
          <p:cNvSpPr txBox="1"/>
          <p:nvPr/>
        </p:nvSpPr>
        <p:spPr>
          <a:xfrm>
            <a:off x="9404350" y="2767017"/>
            <a:ext cx="194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файла </a:t>
            </a:r>
            <a:r>
              <a:rPr lang="en-US" dirty="0"/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958981C-7F15-4A96-A514-A1541AE45E06}"/>
              </a:ext>
            </a:extLst>
          </p:cNvPr>
          <p:cNvSpPr txBox="1"/>
          <p:nvPr/>
        </p:nvSpPr>
        <p:spPr>
          <a:xfrm>
            <a:off x="9404350" y="3332437"/>
            <a:ext cx="194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файла </a:t>
            </a:r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330658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9A6E-F601-9137-BE4D-2251F757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I-nodes — </a:t>
            </a:r>
            <a:r>
              <a:rPr lang="ru-RU" dirty="0"/>
              <a:t>современный подход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3B93-8E54-6114-F5F9-1B7C86A23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Inode</a:t>
            </a:r>
            <a:r>
              <a:rPr lang="en-US" dirty="0"/>
              <a:t> (Index node) – </a:t>
            </a:r>
            <a:r>
              <a:rPr lang="ru-RU" dirty="0"/>
              <a:t>структура данных, содержащая метаинформацию о файле или каталоге, </a:t>
            </a:r>
            <a:r>
              <a:rPr lang="ru-RU" b="1" dirty="0"/>
              <a:t>но не сами данные или имя</a:t>
            </a:r>
          </a:p>
          <a:p>
            <a:pPr lvl="1"/>
            <a:r>
              <a:rPr lang="ru-RU" dirty="0"/>
              <a:t>Права доступа</a:t>
            </a:r>
          </a:p>
          <a:p>
            <a:pPr lvl="1"/>
            <a:r>
              <a:rPr lang="ru-RU" dirty="0"/>
              <a:t>Владелец и группа файла</a:t>
            </a:r>
          </a:p>
          <a:p>
            <a:pPr lvl="1"/>
            <a:r>
              <a:rPr lang="ru-RU" dirty="0"/>
              <a:t>Размер файла</a:t>
            </a:r>
          </a:p>
          <a:p>
            <a:pPr lvl="1"/>
            <a:r>
              <a:rPr lang="ru-RU" dirty="0"/>
              <a:t>Временные метки</a:t>
            </a:r>
          </a:p>
          <a:p>
            <a:pPr lvl="1"/>
            <a:r>
              <a:rPr lang="ru-RU" dirty="0"/>
              <a:t>Ссылки на блоки данных, где хранится содержимое</a:t>
            </a:r>
          </a:p>
          <a:p>
            <a:r>
              <a:rPr lang="ru-RU" dirty="0"/>
              <a:t>Количество </a:t>
            </a:r>
            <a:r>
              <a:rPr lang="en-US" dirty="0" err="1"/>
              <a:t>inodes</a:t>
            </a:r>
            <a:r>
              <a:rPr lang="en-US" dirty="0"/>
              <a:t> </a:t>
            </a:r>
            <a:r>
              <a:rPr lang="ru-RU" dirty="0"/>
              <a:t>фиксировано и задаётся на этапе инициализации файловой системы</a:t>
            </a:r>
            <a:endParaRPr lang="en-US" dirty="0"/>
          </a:p>
          <a:p>
            <a:r>
              <a:rPr lang="ru-RU" dirty="0"/>
              <a:t>Плюсы:</a:t>
            </a:r>
          </a:p>
          <a:p>
            <a:pPr lvl="1"/>
            <a:r>
              <a:rPr lang="ru-RU" dirty="0"/>
              <a:t>в памяти хранится только i-</a:t>
            </a:r>
            <a:r>
              <a:rPr lang="ru-RU" dirty="0" err="1"/>
              <a:t>node</a:t>
            </a:r>
            <a:r>
              <a:rPr lang="ru-RU" dirty="0"/>
              <a:t> открытого файла;</a:t>
            </a:r>
          </a:p>
          <a:p>
            <a:pPr lvl="1"/>
            <a:r>
              <a:rPr lang="ru-RU" dirty="0"/>
              <a:t>масштабируется для огромных дисков;</a:t>
            </a:r>
          </a:p>
          <a:p>
            <a:pPr lvl="1"/>
            <a:r>
              <a:rPr lang="ru-RU" dirty="0"/>
              <a:t>эффективный произвольный доступ.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518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DA8C178-1277-9417-2DF9-B2D30502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 err="1"/>
              <a:t>i</a:t>
            </a:r>
            <a:r>
              <a:rPr lang="en-US" dirty="0"/>
              <a:t>-node</a:t>
            </a:r>
          </a:p>
        </p:txBody>
      </p:sp>
      <p:pic>
        <p:nvPicPr>
          <p:cNvPr id="9" name="Content Placeholder 8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6049FE70-8548-9064-48A2-DE74AFDC8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545" y="1837816"/>
            <a:ext cx="6466910" cy="4916551"/>
          </a:xfrm>
        </p:spPr>
      </p:pic>
    </p:spTree>
    <p:extLst>
      <p:ext uri="{BB962C8B-B14F-4D97-AF65-F5344CB8AC3E}">
        <p14:creationId xmlns:p14="http://schemas.microsoft.com/office/powerpoint/2010/main" val="15656986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5CB9-F744-CB2A-AAFE-E2BE68F5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Гду</a:t>
            </a:r>
            <a:r>
              <a:rPr lang="ru-RU" dirty="0"/>
              <a:t> используются </a:t>
            </a:r>
            <a:r>
              <a:rPr lang="en-US" dirty="0" err="1"/>
              <a:t>i</a:t>
            </a:r>
            <a:r>
              <a:rPr lang="en-US" dirty="0"/>
              <a:t>-nodes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2DF4-D745-9E29-E956-0839A61C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UNIX, Linux (ext2/ext3/ext4)</a:t>
            </a:r>
          </a:p>
          <a:p>
            <a:r>
              <a:rPr lang="en-US" dirty="0"/>
              <a:t>macOS</a:t>
            </a:r>
          </a:p>
          <a:p>
            <a:r>
              <a:rPr lang="en-US" dirty="0"/>
              <a:t>FreeBSD, OpenBSD</a:t>
            </a:r>
          </a:p>
          <a:p>
            <a:r>
              <a:rPr lang="en-US" dirty="0"/>
              <a:t>NTFS — </a:t>
            </a:r>
            <a:r>
              <a:rPr lang="ru-RU" dirty="0"/>
              <a:t>похожая 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23398193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D0C67E-F4F0-A176-47AC-07302555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работы каталогов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3C283-E82D-5F62-6711-7DD88F18F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763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FD2DD-EFF9-3E03-25A3-1CD3D453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каталогов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39A4B9-0F7A-29E6-FF09-A2B49EFEE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Сопоставляют имя файла и данные, необходимые для доступа</a:t>
            </a:r>
          </a:p>
          <a:p>
            <a:r>
              <a:rPr lang="ru-RU" dirty="0"/>
              <a:t>Основная роль: </a:t>
            </a:r>
            <a:r>
              <a:rPr lang="ru-RU" b="1" dirty="0"/>
              <a:t>преобразование имени в расположение файла</a:t>
            </a:r>
            <a:endParaRPr lang="ru-RU" dirty="0"/>
          </a:p>
          <a:p>
            <a:r>
              <a:rPr lang="ru-RU" dirty="0"/>
              <a:t>Содержат либо адреса блоков, либо номера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Могут хранить атрибуты файла</a:t>
            </a:r>
          </a:p>
        </p:txBody>
      </p:sp>
    </p:spTree>
    <p:extLst>
      <p:ext uri="{BB962C8B-B14F-4D97-AF65-F5344CB8AC3E}">
        <p14:creationId xmlns:p14="http://schemas.microsoft.com/office/powerpoint/2010/main" val="22509148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E744-0779-04E7-A041-C4701452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Фиксированная запись каталога (старые системы)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FC6F65-3A06-E758-D5CD-DA59A8EB6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23973" y="2059621"/>
            <a:ext cx="8944054" cy="443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763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5545-9E69-C5A9-2D31-C8FA97CE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Каталоги с </a:t>
            </a:r>
            <a:r>
              <a:rPr lang="en-US" dirty="0" err="1"/>
              <a:t>i</a:t>
            </a:r>
            <a:r>
              <a:rPr lang="en-US" dirty="0"/>
              <a:t>-nodes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4A32B-3636-6E61-8F6E-9E50A28BD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Принцип: атрибуты хранятся в </a:t>
            </a:r>
            <a:r>
              <a:rPr lang="en-US" dirty="0" err="1"/>
              <a:t>i</a:t>
            </a:r>
            <a:r>
              <a:rPr lang="en-US" dirty="0"/>
              <a:t>-node</a:t>
            </a:r>
            <a:r>
              <a:rPr lang="ru-RU" dirty="0"/>
              <a:t>, а не в каталоге</a:t>
            </a:r>
          </a:p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Каталоги маленькие</a:t>
            </a:r>
          </a:p>
          <a:p>
            <a:pPr lvl="1"/>
            <a:r>
              <a:rPr lang="ru-RU" dirty="0"/>
              <a:t>Изменение атрибутов не перезаписывает каталог</a:t>
            </a:r>
          </a:p>
          <a:p>
            <a:pPr lvl="1"/>
            <a:r>
              <a:rPr lang="ru-RU" dirty="0"/>
              <a:t>Ускоряет работу ФС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8DF674-B657-64A4-5AB5-4F1CF8557C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08613056"/>
              </p:ext>
            </p:extLst>
          </p:nvPr>
        </p:nvGraphicFramePr>
        <p:xfrm>
          <a:off x="6172200" y="1825625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91646817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981908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Имя файла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-node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54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File1.txt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50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File2.txt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19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File4.txt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207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1990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4852-E514-0A98-21FA-2EF42850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Переменная длина имени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98F12-F84A-543C-0B12-557D4E86AD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Каждая запись начинается с фиксированного заголовка, за которым следует имя</a:t>
            </a:r>
          </a:p>
          <a:p>
            <a:r>
              <a:rPr lang="ru-RU" dirty="0"/>
              <a:t>Плюсы:</a:t>
            </a:r>
          </a:p>
          <a:p>
            <a:pPr lvl="1"/>
            <a:r>
              <a:rPr lang="ru-RU" dirty="0"/>
              <a:t>эффективно для длинных имён</a:t>
            </a:r>
          </a:p>
          <a:p>
            <a:r>
              <a:rPr lang="ru-RU" dirty="0"/>
              <a:t>Минусы:</a:t>
            </a:r>
          </a:p>
          <a:p>
            <a:pPr lvl="1"/>
            <a:r>
              <a:rPr lang="ru-RU" dirty="0"/>
              <a:t>Дыры при удалении</a:t>
            </a:r>
          </a:p>
          <a:p>
            <a:pPr lvl="1"/>
            <a:r>
              <a:rPr lang="ru-RU" dirty="0"/>
              <a:t>Возможные </a:t>
            </a:r>
            <a:r>
              <a:rPr lang="en-US" dirty="0"/>
              <a:t>Page faults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02ADE3-D75F-BD3E-033F-1DB1426FBC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87840" y="1825625"/>
            <a:ext cx="27503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950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7D99-D7E2-7E52-EBF5-89417DC29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Фиксированные записи + куча имён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CA9C2-66F2-0898-6165-74D9CF03EE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Записи каталога имеют фиксированный размер, но имена хранятся в куче</a:t>
            </a:r>
          </a:p>
          <a:p>
            <a:r>
              <a:rPr lang="ru-RU" dirty="0"/>
              <a:t>Плюсы</a:t>
            </a:r>
          </a:p>
          <a:p>
            <a:pPr lvl="1"/>
            <a:r>
              <a:rPr lang="ru-RU" dirty="0"/>
              <a:t>Новая запись всегда помещается</a:t>
            </a:r>
          </a:p>
          <a:p>
            <a:r>
              <a:rPr lang="ru-RU" dirty="0"/>
              <a:t>Минусы:</a:t>
            </a:r>
          </a:p>
          <a:p>
            <a:pPr lvl="1"/>
            <a:r>
              <a:rPr lang="ru-RU" dirty="0"/>
              <a:t>Нужно управлять кучей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615068-82C3-B37F-47D4-2C64541245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67127" y="1825625"/>
            <a:ext cx="31917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5951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4A5579-D231-8927-B87C-096CA04C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Ускорение поиска: </a:t>
            </a:r>
            <a:r>
              <a:rPr lang="ru-RU" dirty="0" err="1"/>
              <a:t>хеш</a:t>
            </a:r>
            <a:r>
              <a:rPr lang="ru-RU" dirty="0"/>
              <a:t> таблицы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58128-BC0B-BAB1-E800-B3E64F9C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Хеш имени ссылается на </a:t>
            </a:r>
            <a:r>
              <a:rPr lang="ru-RU" dirty="0" err="1"/>
              <a:t>bucket</a:t>
            </a:r>
            <a:endParaRPr lang="ru-RU" dirty="0"/>
          </a:p>
          <a:p>
            <a:r>
              <a:rPr lang="ru-RU" dirty="0"/>
              <a:t>Связный список всех файлов с одинаковым </a:t>
            </a:r>
            <a:r>
              <a:rPr lang="ru-RU" dirty="0" err="1"/>
              <a:t>хешем</a:t>
            </a:r>
            <a:endParaRPr lang="ru-RU" dirty="0"/>
          </a:p>
          <a:p>
            <a:r>
              <a:rPr lang="ru-RU" dirty="0"/>
              <a:t>Поиск сильно ускоряется</a:t>
            </a:r>
          </a:p>
          <a:p>
            <a:r>
              <a:rPr lang="ru-RU" dirty="0"/>
              <a:t>Сложнее управление структурой</a:t>
            </a:r>
          </a:p>
        </p:txBody>
      </p:sp>
    </p:spTree>
    <p:extLst>
      <p:ext uri="{BB962C8B-B14F-4D97-AF65-F5344CB8AC3E}">
        <p14:creationId xmlns:p14="http://schemas.microsoft.com/office/powerpoint/2010/main" val="10296206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273A-8BE8-1742-7EA4-B75D6750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Кеширование результатов поиска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7FE9-F699-5321-516E-156C54C77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Сохранение результатов частых обращений</a:t>
            </a:r>
          </a:p>
          <a:p>
            <a:r>
              <a:rPr lang="ru-RU" dirty="0"/>
              <a:t>Отлично работает, если большинство файлов используются регулярно</a:t>
            </a:r>
          </a:p>
          <a:p>
            <a:r>
              <a:rPr lang="ru-RU" dirty="0"/>
              <a:t>Простое, но эффективное ускорение</a:t>
            </a:r>
          </a:p>
        </p:txBody>
      </p:sp>
    </p:spTree>
    <p:extLst>
      <p:ext uri="{BB962C8B-B14F-4D97-AF65-F5344CB8AC3E}">
        <p14:creationId xmlns:p14="http://schemas.microsoft.com/office/powerpoint/2010/main" val="35607620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DF72D-6412-AC54-10B4-15CAEDB8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общего доступа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999A6-36BC-5F6D-984E-0372762B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420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FE8EB-B326-638D-907D-3316EAAA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Совместно используемые файлы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09AC4C-B45A-9502-0752-F119174888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Общие файлы в проектах</a:t>
            </a:r>
          </a:p>
          <a:p>
            <a:r>
              <a:rPr lang="ru-RU" dirty="0"/>
              <a:t>Один файл включается в несколько каталогов разных пользователей</a:t>
            </a:r>
          </a:p>
          <a:p>
            <a:r>
              <a:rPr lang="ru-RU" dirty="0"/>
              <a:t>Файловая система становится DAG, а не деревом</a:t>
            </a:r>
          </a:p>
          <a:p>
            <a:r>
              <a:rPr lang="ru-RU" dirty="0"/>
              <a:t>Поддержка ссылок: </a:t>
            </a:r>
            <a:r>
              <a:rPr lang="ru-RU" dirty="0" err="1"/>
              <a:t>hard</a:t>
            </a:r>
            <a:r>
              <a:rPr lang="ru-RU" dirty="0"/>
              <a:t> и </a:t>
            </a:r>
            <a:r>
              <a:rPr lang="ru-RU" dirty="0" err="1"/>
              <a:t>symbolic</a:t>
            </a:r>
            <a:endParaRPr lang="ru-R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1AC755-A684-0E24-1C84-4A4D1DA882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57133" y="1825625"/>
            <a:ext cx="46117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017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0265-F572-7FDA-8401-ECAB0BE4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Жесткие ссылки (</a:t>
            </a:r>
            <a:r>
              <a:rPr lang="en-US" dirty="0"/>
              <a:t>Hard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EA52-3E42-F660-3239-0B704E1907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Запись каталога указывает прямо на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Один файл — несколько имён</a:t>
            </a:r>
          </a:p>
          <a:p>
            <a:r>
              <a:rPr lang="ru-RU" dirty="0"/>
              <a:t>Счётчик ссылок в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Файл удаляется только при </a:t>
            </a:r>
            <a:r>
              <a:rPr lang="ru-RU" dirty="0" err="1"/>
              <a:t>count</a:t>
            </a:r>
            <a:r>
              <a:rPr lang="ru-RU" dirty="0"/>
              <a:t> = 0</a:t>
            </a:r>
          </a:p>
          <a:p>
            <a:r>
              <a:rPr lang="ru-RU" dirty="0"/>
              <a:t>Как </a:t>
            </a:r>
            <a:r>
              <a:rPr lang="en-US" dirty="0" err="1"/>
              <a:t>shared_ptr</a:t>
            </a:r>
            <a:r>
              <a:rPr lang="ru-RU" dirty="0"/>
              <a:t>, но в файловой системе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90F88C-E5EF-4935-4826-3B62E97B2A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666284"/>
            <a:ext cx="5181600" cy="26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815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1D01-DAFF-6D84-7A31-7956639E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</a:t>
            </a:r>
            <a:r>
              <a:rPr lang="en-US" dirty="0"/>
              <a:t>hard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03C3-F60B-3D7C-ED86-032B01B00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Владелец может удалить свою ссылку, но файл остаётся</a:t>
            </a:r>
          </a:p>
          <a:p>
            <a:r>
              <a:rPr lang="ru-RU" dirty="0"/>
              <a:t>Невозможно узнать, в каких каталогах есть другие ссылки</a:t>
            </a:r>
          </a:p>
          <a:p>
            <a:r>
              <a:rPr lang="ru-RU" dirty="0"/>
              <a:t>Владелец продолжает «платить» за файл до полного удаления</a:t>
            </a:r>
          </a:p>
          <a:p>
            <a:r>
              <a:rPr lang="ru-RU" dirty="0"/>
              <a:t>Риск несоответствия между каталогами и i-</a:t>
            </a:r>
            <a:r>
              <a:rPr lang="ru-RU" dirty="0" err="1"/>
              <a:t>node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35564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61B9-EB60-81D4-E026-9E45EBBE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Символические ссылки</a:t>
            </a:r>
            <a:r>
              <a:rPr lang="en-US" dirty="0"/>
              <a:t> (Symbolic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558F6-591E-7CC4-1A13-DEA13F441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Отдельный файл, содержащий путь к целевому</a:t>
            </a:r>
          </a:p>
          <a:p>
            <a:r>
              <a:rPr lang="ru-RU" dirty="0"/>
              <a:t>Не указывает на i-</a:t>
            </a:r>
            <a:r>
              <a:rPr lang="ru-RU" dirty="0" err="1"/>
              <a:t>node</a:t>
            </a:r>
            <a:r>
              <a:rPr lang="ru-RU" dirty="0"/>
              <a:t> напрямую</a:t>
            </a:r>
          </a:p>
          <a:p>
            <a:r>
              <a:rPr lang="ru-RU" dirty="0"/>
              <a:t>Может ссылаться на файлы на других дисках, разделах, серверах</a:t>
            </a:r>
          </a:p>
          <a:p>
            <a:r>
              <a:rPr lang="ru-RU" dirty="0"/>
              <a:t>При удалении исходного файла ссылка становится «сломанной»</a:t>
            </a:r>
          </a:p>
        </p:txBody>
      </p:sp>
    </p:spTree>
    <p:extLst>
      <p:ext uri="{BB962C8B-B14F-4D97-AF65-F5344CB8AC3E}">
        <p14:creationId xmlns:p14="http://schemas.microsoft.com/office/powerpoint/2010/main" val="158310004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ACC1-66E2-0EC5-E191-A8FC8A4D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symbolic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E08C-7651-DA6E-BD97-463D6E4F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Дополнительные дисковые операции</a:t>
            </a:r>
          </a:p>
          <a:p>
            <a:r>
              <a:rPr lang="ru-RU" dirty="0"/>
              <a:t>Хранение пути требует i-</a:t>
            </a:r>
            <a:r>
              <a:rPr lang="ru-RU" dirty="0" err="1"/>
              <a:t>node</a:t>
            </a:r>
            <a:r>
              <a:rPr lang="ru-RU" dirty="0"/>
              <a:t> и блока</a:t>
            </a:r>
          </a:p>
          <a:p>
            <a:r>
              <a:rPr lang="ru-RU" dirty="0"/>
              <a:t>Возможны циклы ссылок</a:t>
            </a:r>
          </a:p>
          <a:p>
            <a:r>
              <a:rPr lang="ru-RU" dirty="0"/>
              <a:t>«Сломанные» ссылки при удалении исходного файла</a:t>
            </a:r>
          </a:p>
        </p:txBody>
      </p:sp>
    </p:spTree>
    <p:extLst>
      <p:ext uri="{BB962C8B-B14F-4D97-AF65-F5344CB8AC3E}">
        <p14:creationId xmlns:p14="http://schemas.microsoft.com/office/powerpoint/2010/main" val="403990222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A321-6E5E-461F-8E04-EAABFC60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множественных путей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6D815-ED36-F01D-6420-3BB13C62B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файл может встречаться несколько раз при обходе дерева</a:t>
            </a:r>
          </a:p>
          <a:p>
            <a:r>
              <a:rPr lang="ru-RU" dirty="0"/>
              <a:t>Наивная программа для </a:t>
            </a:r>
            <a:r>
              <a:rPr lang="en-US" dirty="0"/>
              <a:t>b</a:t>
            </a:r>
            <a:r>
              <a:rPr lang="ru-RU" dirty="0" err="1"/>
              <a:t>ackup</a:t>
            </a:r>
            <a:r>
              <a:rPr lang="ru-RU" dirty="0"/>
              <a:t> может сделать несколько копий одного файла</a:t>
            </a:r>
          </a:p>
          <a:p>
            <a:r>
              <a:rPr lang="ru-RU" dirty="0"/>
              <a:t>При переносе на другую систему структура ссылок может быть утеряна</a:t>
            </a:r>
          </a:p>
        </p:txBody>
      </p:sp>
    </p:spTree>
    <p:extLst>
      <p:ext uri="{BB962C8B-B14F-4D97-AF65-F5344CB8AC3E}">
        <p14:creationId xmlns:p14="http://schemas.microsoft.com/office/powerpoint/2010/main" val="298379602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AE98E2-876B-7F2B-0AB1-F4355952B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LFS (Log-Structured File System)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927C3-E9B1-2DF7-A2E0-748E7A192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719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20922A-E921-737D-D947-36AAB9DD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понадобились </a:t>
            </a:r>
            <a:r>
              <a:rPr lang="en-US" dirty="0"/>
              <a:t>LFS?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1D2EF1-837F-A111-1E38-E0C87AC1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Диски растут, но не ускоряются</a:t>
            </a:r>
          </a:p>
          <a:p>
            <a:r>
              <a:rPr lang="ru-RU" dirty="0" err="1"/>
              <a:t>Seek</a:t>
            </a:r>
            <a:r>
              <a:rPr lang="ru-RU" dirty="0"/>
              <a:t> остаётся узким местом</a:t>
            </a:r>
          </a:p>
          <a:p>
            <a:r>
              <a:rPr lang="ru-RU" dirty="0"/>
              <a:t>Кэш памяти обслуживает большинство чтений</a:t>
            </a:r>
          </a:p>
          <a:p>
            <a:r>
              <a:rPr lang="ru-RU" dirty="0"/>
              <a:t>Большинство дисковых операций состоят из маленьких операций записи</a:t>
            </a:r>
          </a:p>
          <a:p>
            <a:r>
              <a:rPr lang="ru-RU" dirty="0"/>
              <a:t>Классические файловые системы — неэффективны</a:t>
            </a:r>
          </a:p>
        </p:txBody>
      </p:sp>
    </p:spTree>
    <p:extLst>
      <p:ext uri="{BB962C8B-B14F-4D97-AF65-F5344CB8AC3E}">
        <p14:creationId xmlns:p14="http://schemas.microsoft.com/office/powerpoint/2010/main" val="14489169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FCC0-99DC-60A3-2DA6-3FC1F941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LFS – </a:t>
            </a:r>
            <a:r>
              <a:rPr lang="ru-RU" dirty="0"/>
              <a:t>диск, как большой лог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12BA2-8921-094C-1C9E-B05DBA7B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изменения сначала буферизуются в RAM</a:t>
            </a:r>
          </a:p>
          <a:p>
            <a:r>
              <a:rPr lang="ru-RU" dirty="0"/>
              <a:t>Запись производится </a:t>
            </a:r>
            <a:r>
              <a:rPr lang="ru-RU" b="1" dirty="0"/>
              <a:t>крупным сегментом</a:t>
            </a:r>
            <a:r>
              <a:rPr lang="ru-RU" dirty="0"/>
              <a:t>, например 1 МБ</a:t>
            </a:r>
          </a:p>
          <a:p>
            <a:r>
              <a:rPr lang="ru-RU" dirty="0"/>
              <a:t>Сегмент записывается в </a:t>
            </a:r>
            <a:r>
              <a:rPr lang="ru-RU" b="1" dirty="0"/>
              <a:t>конец лога</a:t>
            </a:r>
            <a:endParaRPr lang="ru-RU" dirty="0"/>
          </a:p>
          <a:p>
            <a:r>
              <a:rPr lang="ru-RU" dirty="0"/>
              <a:t>В одном сегменте смешаны: данные, i-</a:t>
            </a:r>
            <a:r>
              <a:rPr lang="ru-RU" dirty="0" err="1"/>
              <a:t>nodes</a:t>
            </a:r>
            <a:r>
              <a:rPr lang="ru-RU" dirty="0"/>
              <a:t>, каталоги</a:t>
            </a:r>
          </a:p>
          <a:p>
            <a:r>
              <a:rPr lang="ru-RU" dirty="0"/>
              <a:t>В начале сегмента — </a:t>
            </a:r>
            <a:r>
              <a:rPr lang="ru-RU" b="1" dirty="0" err="1"/>
              <a:t>segment</a:t>
            </a:r>
            <a:r>
              <a:rPr lang="ru-RU" b="1" dirty="0"/>
              <a:t> </a:t>
            </a:r>
            <a:r>
              <a:rPr lang="ru-RU" b="1" dirty="0" err="1"/>
              <a:t>summary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18369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628A-0D21-00AA-5002-D5347272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находятся </a:t>
            </a:r>
            <a:r>
              <a:rPr lang="en-US" dirty="0" err="1"/>
              <a:t>i</a:t>
            </a:r>
            <a:r>
              <a:rPr lang="en-US" dirty="0"/>
              <a:t>-nodes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478B3-D1EE-7026-AE0A-B90E5708E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i-</a:t>
            </a:r>
            <a:r>
              <a:rPr lang="ru-RU" dirty="0" err="1"/>
              <a:t>nodes</a:t>
            </a:r>
            <a:r>
              <a:rPr lang="ru-RU" dirty="0"/>
              <a:t> существуют, но «размазаны» по логу</a:t>
            </a:r>
          </a:p>
          <a:p>
            <a:r>
              <a:rPr lang="ru-RU" dirty="0"/>
              <a:t>Их позиция меняется после каждого обновления</a:t>
            </a:r>
          </a:p>
          <a:p>
            <a:r>
              <a:rPr lang="ru-RU" dirty="0"/>
              <a:t>Используется </a:t>
            </a:r>
            <a:r>
              <a:rPr lang="ru-RU" b="1" dirty="0"/>
              <a:t>i-</a:t>
            </a:r>
            <a:r>
              <a:rPr lang="ru-RU" b="1" dirty="0" err="1"/>
              <a:t>node</a:t>
            </a:r>
            <a:r>
              <a:rPr lang="ru-RU" b="1" dirty="0"/>
              <a:t> </a:t>
            </a:r>
            <a:r>
              <a:rPr lang="ru-RU" b="1" dirty="0" err="1"/>
              <a:t>map</a:t>
            </a:r>
            <a:endParaRPr lang="ru-RU" dirty="0"/>
          </a:p>
          <a:p>
            <a:r>
              <a:rPr lang="ru-RU" dirty="0" err="1"/>
              <a:t>Map</a:t>
            </a:r>
            <a:r>
              <a:rPr lang="ru-RU" dirty="0"/>
              <a:t> хранится на диске и в кэше RAM</a:t>
            </a:r>
          </a:p>
          <a:p>
            <a:r>
              <a:rPr lang="ru-RU" dirty="0"/>
              <a:t>По номеру i-</a:t>
            </a:r>
            <a:r>
              <a:rPr lang="ru-RU" dirty="0" err="1"/>
              <a:t>node</a:t>
            </a:r>
            <a:r>
              <a:rPr lang="ru-RU" dirty="0"/>
              <a:t> → адрес последней версии в логе</a:t>
            </a:r>
          </a:p>
        </p:txBody>
      </p:sp>
    </p:spTree>
    <p:extLst>
      <p:ext uri="{BB962C8B-B14F-4D97-AF65-F5344CB8AC3E}">
        <p14:creationId xmlns:p14="http://schemas.microsoft.com/office/powerpoint/2010/main" val="106207770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AA85-5DD7-A180-3DD9-28826F4A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переполнения лога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B9F4-1B0C-127B-3B0D-20C1A2B7E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Диск конечен, а лог растёт до конца</a:t>
            </a:r>
          </a:p>
          <a:p>
            <a:r>
              <a:rPr lang="ru-RU" dirty="0"/>
              <a:t>Старые сегменты содержат устаревшие версии данных</a:t>
            </a:r>
          </a:p>
          <a:p>
            <a:r>
              <a:rPr lang="ru-RU" dirty="0"/>
              <a:t>Нужен механизм очистки</a:t>
            </a:r>
          </a:p>
          <a:p>
            <a:r>
              <a:rPr lang="ru-RU" dirty="0"/>
              <a:t>Решение: </a:t>
            </a:r>
            <a:r>
              <a:rPr lang="ru-RU" dirty="0" err="1"/>
              <a:t>Cleaner</a:t>
            </a:r>
            <a:r>
              <a:rPr lang="ru-RU" dirty="0"/>
              <a:t> </a:t>
            </a:r>
            <a:r>
              <a:rPr lang="ru-RU" dirty="0" err="1"/>
              <a:t>Thread</a:t>
            </a:r>
            <a:endParaRPr lang="ru-RU" dirty="0"/>
          </a:p>
          <a:p>
            <a:pPr lvl="1"/>
            <a:r>
              <a:rPr lang="ru-RU" dirty="0"/>
              <a:t>читает сегменты по кругу</a:t>
            </a:r>
          </a:p>
          <a:p>
            <a:pPr lvl="1"/>
            <a:r>
              <a:rPr lang="ru-RU" dirty="0"/>
              <a:t>проверяет i-</a:t>
            </a:r>
            <a:r>
              <a:rPr lang="ru-RU" dirty="0" err="1"/>
              <a:t>nodes</a:t>
            </a:r>
            <a:r>
              <a:rPr lang="ru-RU" dirty="0"/>
              <a:t> в сегменте на актуальность</a:t>
            </a:r>
          </a:p>
          <a:p>
            <a:pPr lvl="1"/>
            <a:r>
              <a:rPr lang="ru-RU" dirty="0"/>
              <a:t>живые данные переписывает в новый сегмент</a:t>
            </a:r>
          </a:p>
          <a:p>
            <a:pPr lvl="1"/>
            <a:r>
              <a:rPr lang="ru-RU" dirty="0"/>
              <a:t>сегмент помечает как свободный</a:t>
            </a:r>
          </a:p>
        </p:txBody>
      </p:sp>
    </p:spTree>
    <p:extLst>
      <p:ext uri="{BB962C8B-B14F-4D97-AF65-F5344CB8AC3E}">
        <p14:creationId xmlns:p14="http://schemas.microsoft.com/office/powerpoint/2010/main" val="188188041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32D0-5686-7DD1-996F-9BCDB3A8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</a:t>
            </a:r>
            <a:r>
              <a:rPr lang="en-US" dirty="0"/>
              <a:t>LFS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450B4-27E3-E632-7A2A-A7F0D3AD6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Маленькие записи ускоряются до 10 раз</a:t>
            </a:r>
          </a:p>
          <a:p>
            <a:r>
              <a:rPr lang="ru-RU" dirty="0"/>
              <a:t>Чтение — на уровне UNIX</a:t>
            </a:r>
          </a:p>
          <a:p>
            <a:r>
              <a:rPr lang="ru-RU" dirty="0"/>
              <a:t>Крупные записи — также эффективны</a:t>
            </a:r>
          </a:p>
          <a:p>
            <a:r>
              <a:rPr lang="ru-RU" dirty="0"/>
              <a:t>Хорошо подходит для рабочих нагрузок с большим числом обновлений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9653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E3CA-E3BA-600E-8B77-EB75691B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по </a:t>
            </a:r>
            <a:r>
              <a:rPr lang="en-US" dirty="0"/>
              <a:t>LFS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5EFB-F6ED-CB23-74B1-E9F2C80A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Логирование всех изменений</a:t>
            </a:r>
          </a:p>
          <a:p>
            <a:r>
              <a:rPr lang="ru-RU" dirty="0"/>
              <a:t>Минимум </a:t>
            </a:r>
            <a:r>
              <a:rPr lang="ru-RU" dirty="0" err="1"/>
              <a:t>seek</a:t>
            </a:r>
            <a:r>
              <a:rPr lang="ru-RU" dirty="0"/>
              <a:t> и максимальная скорость записи</a:t>
            </a:r>
          </a:p>
          <a:p>
            <a:r>
              <a:rPr lang="ru-RU" dirty="0"/>
              <a:t>Использование сегментов</a:t>
            </a:r>
          </a:p>
          <a:p>
            <a:r>
              <a:rPr lang="ru-RU" dirty="0"/>
              <a:t>i-</a:t>
            </a:r>
            <a:r>
              <a:rPr lang="ru-RU" dirty="0" err="1"/>
              <a:t>node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для поиска метаданных</a:t>
            </a:r>
          </a:p>
          <a:p>
            <a:r>
              <a:rPr lang="ru-RU" dirty="0" err="1"/>
              <a:t>Cleaner</a:t>
            </a:r>
            <a:r>
              <a:rPr lang="ru-RU" dirty="0"/>
              <a:t> для сборки «мусора»</a:t>
            </a:r>
          </a:p>
          <a:p>
            <a:r>
              <a:rPr lang="ru-RU" dirty="0"/>
              <a:t>Значительный выигрыш при </a:t>
            </a:r>
            <a:r>
              <a:rPr lang="ru-RU" dirty="0" err="1"/>
              <a:t>small</a:t>
            </a:r>
            <a:r>
              <a:rPr lang="ru-RU" dirty="0"/>
              <a:t> </a:t>
            </a:r>
            <a:r>
              <a:rPr lang="ru-RU" dirty="0" err="1"/>
              <a:t>writes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7615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46C638-0DA6-AA26-666B-F6291033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Файловые системы, использующие журналирование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2EED9-5C24-C03C-7400-13968333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6267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E305C4-9C21-6742-5423-32B41836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нужно журналирование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B645AE-6C7F-CF0B-18D7-8EA951105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Системы часто падают: отключение питания,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panic</a:t>
            </a:r>
            <a:endParaRPr lang="ru-RU" dirty="0"/>
          </a:p>
          <a:p>
            <a:r>
              <a:rPr lang="ru-RU" dirty="0"/>
              <a:t>Простые операции состоят из нескольких шагов</a:t>
            </a:r>
          </a:p>
          <a:p>
            <a:r>
              <a:rPr lang="ru-RU" dirty="0"/>
              <a:t>Разрыв операции при сбое приводит к коррупции FS</a:t>
            </a:r>
          </a:p>
          <a:p>
            <a:r>
              <a:rPr lang="ru-RU" dirty="0"/>
              <a:t>Необходимо гарантировать целостность метаданных</a:t>
            </a:r>
          </a:p>
        </p:txBody>
      </p:sp>
    </p:spTree>
    <p:extLst>
      <p:ext uri="{BB962C8B-B14F-4D97-AF65-F5344CB8AC3E}">
        <p14:creationId xmlns:p14="http://schemas.microsoft.com/office/powerpoint/2010/main" val="316618005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A5CE-0BF1-540F-6075-442C4E1F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журналирование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548C0-A649-F62D-EED1-01768E99B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Операции НЕ выполняются сразу</a:t>
            </a:r>
          </a:p>
          <a:p>
            <a:r>
              <a:rPr lang="ru-RU" dirty="0"/>
              <a:t>Сначала записывается запись в журнал</a:t>
            </a:r>
          </a:p>
          <a:p>
            <a:r>
              <a:rPr lang="ru-RU" dirty="0"/>
              <a:t>Журнал фиксирует </a:t>
            </a:r>
            <a:r>
              <a:rPr lang="ru-RU" i="1" dirty="0"/>
              <a:t>что будет сделано</a:t>
            </a:r>
            <a:endParaRPr lang="ru-RU" dirty="0"/>
          </a:p>
          <a:p>
            <a:r>
              <a:rPr lang="ru-RU" dirty="0"/>
              <a:t>После успешной записи выполняется операция</a:t>
            </a:r>
          </a:p>
          <a:p>
            <a:r>
              <a:rPr lang="ru-RU" dirty="0"/>
              <a:t>По завершении — запись удаляется</a:t>
            </a:r>
          </a:p>
        </p:txBody>
      </p:sp>
    </p:spTree>
    <p:extLst>
      <p:ext uri="{BB962C8B-B14F-4D97-AF65-F5344CB8AC3E}">
        <p14:creationId xmlns:p14="http://schemas.microsoft.com/office/powerpoint/2010/main" val="269546542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3803-AC36-FFB2-F3C4-C010309C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удаление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671A-DF5B-ECD9-035E-15685BED9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Три шага в UNIX:</a:t>
            </a:r>
          </a:p>
          <a:p>
            <a:pPr lvl="1"/>
            <a:r>
              <a:rPr lang="ru-RU" dirty="0"/>
              <a:t>Удаление записи из каталога</a:t>
            </a:r>
          </a:p>
          <a:p>
            <a:pPr lvl="1"/>
            <a:r>
              <a:rPr lang="ru-RU" dirty="0"/>
              <a:t>Освобождение i-</a:t>
            </a:r>
            <a:r>
              <a:rPr lang="ru-RU" dirty="0" err="1"/>
              <a:t>node</a:t>
            </a:r>
            <a:endParaRPr lang="ru-RU" dirty="0"/>
          </a:p>
          <a:p>
            <a:pPr lvl="1"/>
            <a:r>
              <a:rPr lang="ru-RU" dirty="0"/>
              <a:t>Освобождение блоков файла</a:t>
            </a:r>
          </a:p>
          <a:p>
            <a:r>
              <a:rPr lang="ru-RU" dirty="0"/>
              <a:t>Если сбой произойдёт между шагами, это приведёт повреждение FS.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9977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219A-9DA4-C084-685C-C6C9693A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Идемпотентные операции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B2F6-204C-2795-868F-76854D02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Журналируемые</a:t>
            </a:r>
            <a:r>
              <a:rPr lang="ru-RU" dirty="0"/>
              <a:t> действия должны быть </a:t>
            </a:r>
            <a:r>
              <a:rPr lang="ru-RU" i="1" dirty="0"/>
              <a:t>повторяемыми без последствий</a:t>
            </a:r>
            <a:endParaRPr lang="ru-RU" dirty="0"/>
          </a:p>
          <a:p>
            <a:r>
              <a:rPr lang="ru-RU" dirty="0"/>
              <a:t>«Освободить блок n» — безопасно многократно</a:t>
            </a:r>
          </a:p>
          <a:p>
            <a:r>
              <a:rPr lang="ru-RU" dirty="0"/>
              <a:t>«Удалить запись </a:t>
            </a:r>
            <a:r>
              <a:rPr lang="ru-RU" dirty="0" err="1"/>
              <a:t>foobar</a:t>
            </a:r>
            <a:r>
              <a:rPr lang="ru-RU" dirty="0"/>
              <a:t> из каталога» — тоже</a:t>
            </a:r>
          </a:p>
          <a:p>
            <a:r>
              <a:rPr lang="ru-RU" dirty="0"/>
              <a:t>«Добавить блок n в конец списка свободных» — </a:t>
            </a:r>
            <a:r>
              <a:rPr lang="ru-RU" b="1" dirty="0"/>
              <a:t>нельзя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5201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E85E-2EF2-531C-C5D5-699C2330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BE306-B250-806A-F200-954D1EC98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Несколько действий объединяются в атомарную операцию</a:t>
            </a:r>
          </a:p>
          <a:p>
            <a:r>
              <a:rPr lang="ru-RU" dirty="0" err="1"/>
              <a:t>begin</a:t>
            </a:r>
            <a:r>
              <a:rPr lang="ru-RU" dirty="0"/>
              <a:t> </a:t>
            </a:r>
            <a:r>
              <a:rPr lang="ru-RU" dirty="0" err="1"/>
              <a:t>transaction</a:t>
            </a:r>
            <a:r>
              <a:rPr lang="ru-RU" dirty="0"/>
              <a:t> — </a:t>
            </a:r>
            <a:r>
              <a:rPr lang="ru-RU" dirty="0" err="1"/>
              <a:t>start</a:t>
            </a:r>
            <a:endParaRPr lang="ru-RU" dirty="0"/>
          </a:p>
          <a:p>
            <a:r>
              <a:rPr lang="ru-RU" dirty="0" err="1"/>
              <a:t>end</a:t>
            </a:r>
            <a:r>
              <a:rPr lang="ru-RU" dirty="0"/>
              <a:t> </a:t>
            </a:r>
            <a:r>
              <a:rPr lang="ru-RU" dirty="0" err="1"/>
              <a:t>transaction</a:t>
            </a:r>
            <a:r>
              <a:rPr lang="ru-RU" dirty="0"/>
              <a:t> — </a:t>
            </a:r>
            <a:r>
              <a:rPr lang="ru-RU" dirty="0" err="1"/>
              <a:t>commit</a:t>
            </a:r>
            <a:endParaRPr lang="ru-RU" dirty="0"/>
          </a:p>
          <a:p>
            <a:r>
              <a:rPr lang="ru-RU" dirty="0"/>
              <a:t>Либо выполняются все действия, либо ни одно</a:t>
            </a:r>
          </a:p>
        </p:txBody>
      </p:sp>
    </p:spTree>
    <p:extLst>
      <p:ext uri="{BB962C8B-B14F-4D97-AF65-F5344CB8AC3E}">
        <p14:creationId xmlns:p14="http://schemas.microsoft.com/office/powerpoint/2010/main" val="189575799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98F8-4D89-3BE3-19CB-B7B2E045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используется журналирование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3561B-F2BC-F8CE-B854-7717190BD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NTFS (Windows) — </a:t>
            </a:r>
            <a:r>
              <a:rPr lang="ru-RU" dirty="0"/>
              <a:t>мощная система журналирования</a:t>
            </a:r>
          </a:p>
          <a:p>
            <a:r>
              <a:rPr lang="en-US" dirty="0"/>
              <a:t>ext3/ext4 (Linux)</a:t>
            </a:r>
          </a:p>
          <a:p>
            <a:r>
              <a:rPr lang="en-US" dirty="0" err="1"/>
              <a:t>ReiserFS</a:t>
            </a:r>
            <a:r>
              <a:rPr lang="en-US" dirty="0"/>
              <a:t> — </a:t>
            </a:r>
            <a:r>
              <a:rPr lang="ru-RU" dirty="0"/>
              <a:t>первая </a:t>
            </a:r>
            <a:r>
              <a:rPr lang="ru-RU" dirty="0" err="1"/>
              <a:t>журналируемая</a:t>
            </a:r>
            <a:r>
              <a:rPr lang="ru-RU" dirty="0"/>
              <a:t> </a:t>
            </a:r>
            <a:r>
              <a:rPr lang="en-US" dirty="0"/>
              <a:t>FS </a:t>
            </a:r>
            <a:r>
              <a:rPr lang="ru-RU" dirty="0"/>
              <a:t>в </a:t>
            </a:r>
            <a:r>
              <a:rPr lang="en-US" dirty="0"/>
              <a:t>Linux</a:t>
            </a:r>
          </a:p>
          <a:p>
            <a:r>
              <a:rPr lang="en-US" dirty="0"/>
              <a:t>HFS+/APFS — MacOS (journaling </a:t>
            </a:r>
            <a:r>
              <a:rPr lang="ru-RU" dirty="0"/>
              <a:t>по умолчанию)</a:t>
            </a:r>
          </a:p>
        </p:txBody>
      </p:sp>
    </p:spTree>
    <p:extLst>
      <p:ext uri="{BB962C8B-B14F-4D97-AF65-F5344CB8AC3E}">
        <p14:creationId xmlns:p14="http://schemas.microsoft.com/office/powerpoint/2010/main" val="401171517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AE0F5-FB50-0C84-122F-C2ADCF72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работы ФС на </a:t>
            </a:r>
            <a:r>
              <a:rPr lang="en-US" dirty="0"/>
              <a:t>Flash</a:t>
            </a:r>
            <a:r>
              <a:rPr lang="ru-RU" dirty="0"/>
              <a:t> накопителях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4E5DA-BD88-D71C-3786-B46562803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7892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6E7D37-A381-ED2F-EBCF-ABFF3AB3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Различия </a:t>
            </a:r>
            <a:r>
              <a:rPr lang="en-US" dirty="0"/>
              <a:t>SSD </a:t>
            </a:r>
            <a:r>
              <a:rPr lang="ru-RU" dirty="0"/>
              <a:t>от </a:t>
            </a:r>
            <a:r>
              <a:rPr lang="en-US" dirty="0"/>
              <a:t>HDD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DD102F-003D-4B34-808A-2D39248AF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Нет механических задержек</a:t>
            </a:r>
          </a:p>
          <a:p>
            <a:r>
              <a:rPr lang="ru-RU" dirty="0"/>
              <a:t>Чтение быстро, запись медленнее</a:t>
            </a:r>
          </a:p>
          <a:p>
            <a:r>
              <a:rPr lang="ru-RU" dirty="0"/>
              <a:t>Нельзя перезаписать страницу напрямую</a:t>
            </a:r>
          </a:p>
          <a:p>
            <a:r>
              <a:rPr lang="ru-RU" dirty="0"/>
              <a:t>Стирание происходит блоками</a:t>
            </a:r>
          </a:p>
          <a:p>
            <a:r>
              <a:rPr lang="ru-RU" dirty="0"/>
              <a:t>Износ ячеек (ограниченные P/E циклы)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5835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C7E5-13FA-39A5-6F9F-0B0BB099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Единицы хранения данных на </a:t>
            </a:r>
            <a:r>
              <a:rPr lang="en-US" dirty="0"/>
              <a:t>Flash-</a:t>
            </a:r>
            <a:r>
              <a:rPr lang="ru-RU" dirty="0"/>
              <a:t>накопителях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AA33F-D1EA-6865-93FE-81744877F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Единицы хранения во </a:t>
            </a:r>
            <a:r>
              <a:rPr lang="ru-RU" b="1" dirty="0" err="1"/>
              <a:t>флеш</a:t>
            </a:r>
            <a:endParaRPr lang="ru-RU" b="1" dirty="0"/>
          </a:p>
          <a:p>
            <a:r>
              <a:rPr lang="ru-RU" dirty="0"/>
              <a:t>Flash </a:t>
            </a:r>
            <a:r>
              <a:rPr lang="ru-RU" dirty="0" err="1"/>
              <a:t>block</a:t>
            </a:r>
            <a:r>
              <a:rPr lang="ru-RU" dirty="0"/>
              <a:t> = единица стирания (64–256 страниц)</a:t>
            </a:r>
          </a:p>
          <a:p>
            <a:r>
              <a:rPr lang="ru-RU" dirty="0"/>
              <a:t>Запись возможна только в стертый блок</a:t>
            </a:r>
          </a:p>
          <a:p>
            <a:r>
              <a:rPr lang="ru-RU" dirty="0"/>
              <a:t>Перезапись страницы означает перемещение данных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59043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29ACA6-8BA0-FA05-A2AC-D8312E24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данные перезаписываются «в сторону»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FC8045-10EC-D16E-EDB3-3CCF30DA2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Нельзя перезаписать страницу</a:t>
            </a:r>
          </a:p>
          <a:p>
            <a:r>
              <a:rPr lang="ru-RU" dirty="0"/>
              <a:t>Старые страницы становятся </a:t>
            </a:r>
            <a:r>
              <a:rPr lang="ru-RU" dirty="0" err="1"/>
              <a:t>invalid</a:t>
            </a:r>
            <a:endParaRPr lang="ru-RU" dirty="0"/>
          </a:p>
          <a:p>
            <a:r>
              <a:rPr lang="ru-RU" dirty="0"/>
              <a:t>Новые страницы пишутся в другой блок</a:t>
            </a:r>
          </a:p>
          <a:p>
            <a:r>
              <a:rPr lang="ru-RU" dirty="0"/>
              <a:t>При нехватке свободных блоков требуется стирание</a:t>
            </a:r>
          </a:p>
        </p:txBody>
      </p:sp>
    </p:spTree>
    <p:extLst>
      <p:ext uri="{BB962C8B-B14F-4D97-AF65-F5344CB8AC3E}">
        <p14:creationId xmlns:p14="http://schemas.microsoft.com/office/powerpoint/2010/main" val="12733271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18B7-6F32-7435-A5D4-FFD6DAF3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</a:t>
            </a:r>
            <a:r>
              <a:rPr lang="en-US" dirty="0"/>
              <a:t> SSD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9D9F77-E037-7B32-412E-850205FB9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37009"/>
            <a:ext cx="10515600" cy="372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8580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B573-99E2-DAED-1A4F-943896F9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FTL – Flash Translation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6728-3F83-6062-51A8-11E12889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Компонент устройства, который переводит логические адреса в физические (</a:t>
            </a:r>
            <a:r>
              <a:rPr lang="en-US" dirty="0"/>
              <a:t>package/die/plane/block/page)</a:t>
            </a:r>
          </a:p>
          <a:p>
            <a:r>
              <a:rPr lang="en-US" dirty="0"/>
              <a:t>Wear-leveling</a:t>
            </a:r>
          </a:p>
          <a:p>
            <a:r>
              <a:rPr lang="ru-RU" dirty="0"/>
              <a:t>Миграция данных</a:t>
            </a:r>
            <a:endParaRPr lang="en-US" dirty="0"/>
          </a:p>
          <a:p>
            <a:r>
              <a:rPr lang="ru-RU" dirty="0"/>
              <a:t>Сборка мусора</a:t>
            </a:r>
            <a:endParaRPr lang="en-US" dirty="0"/>
          </a:p>
          <a:p>
            <a:r>
              <a:rPr lang="ru-RU" dirty="0"/>
              <a:t>Управление износом</a:t>
            </a:r>
          </a:p>
        </p:txBody>
      </p:sp>
    </p:spTree>
    <p:extLst>
      <p:ext uri="{BB962C8B-B14F-4D97-AF65-F5344CB8AC3E}">
        <p14:creationId xmlns:p14="http://schemas.microsoft.com/office/powerpoint/2010/main" val="38534764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684E-52A4-542D-942E-5DEAB9C5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мусора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C5D93-BA2D-1C9B-8953-50039FDF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Ищет блоки с </a:t>
            </a:r>
            <a:r>
              <a:rPr lang="en-US" dirty="0"/>
              <a:t>invalid pages</a:t>
            </a:r>
          </a:p>
          <a:p>
            <a:r>
              <a:rPr lang="ru-RU" dirty="0"/>
              <a:t>Копирует </a:t>
            </a:r>
            <a:r>
              <a:rPr lang="en-US" dirty="0"/>
              <a:t>live pages </a:t>
            </a:r>
            <a:r>
              <a:rPr lang="ru-RU" dirty="0"/>
              <a:t>в другой блок</a:t>
            </a:r>
          </a:p>
          <a:p>
            <a:r>
              <a:rPr lang="ru-RU" dirty="0"/>
              <a:t>Стирает блок целиком</a:t>
            </a:r>
          </a:p>
          <a:p>
            <a:r>
              <a:rPr lang="ru-RU" dirty="0"/>
              <a:t>Выбор </a:t>
            </a:r>
            <a:r>
              <a:rPr lang="en-US" dirty="0"/>
              <a:t>victim </a:t>
            </a:r>
            <a:r>
              <a:rPr lang="ru-RU" dirty="0"/>
              <a:t>и </a:t>
            </a:r>
            <a:r>
              <a:rPr lang="en-US" dirty="0"/>
              <a:t>target block </a:t>
            </a:r>
            <a:r>
              <a:rPr lang="ru-RU" dirty="0"/>
              <a:t>зависит от:</a:t>
            </a:r>
          </a:p>
          <a:p>
            <a:pPr lvl="1"/>
            <a:r>
              <a:rPr lang="en-US" dirty="0"/>
              <a:t>wear</a:t>
            </a:r>
          </a:p>
          <a:p>
            <a:pPr lvl="1"/>
            <a:r>
              <a:rPr lang="en-US" dirty="0"/>
              <a:t>hot/cold data</a:t>
            </a:r>
          </a:p>
          <a:p>
            <a:pPr lvl="1"/>
            <a:r>
              <a:rPr lang="ru-RU" dirty="0"/>
              <a:t>наличия свободного места</a:t>
            </a:r>
          </a:p>
          <a:p>
            <a:pPr lvl="1"/>
            <a:r>
              <a:rPr lang="ru-RU" dirty="0"/>
              <a:t>текущей загрузки </a:t>
            </a:r>
            <a:r>
              <a:rPr lang="en-US" dirty="0"/>
              <a:t>SSD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22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0F08-3EEA-A405-2B53-7718A6D6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TRIM</a:t>
            </a:r>
            <a:r>
              <a:rPr lang="ru-RU" dirty="0"/>
              <a:t> и семантический разрыв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4873-97BE-A082-14C1-AF97B2870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Файловая система знает удалённые логические блоки</a:t>
            </a:r>
          </a:p>
          <a:p>
            <a:r>
              <a:rPr lang="ru-RU" dirty="0"/>
              <a:t>SSD — нет</a:t>
            </a:r>
          </a:p>
          <a:p>
            <a:r>
              <a:rPr lang="ru-RU" dirty="0"/>
              <a:t>Команда TRIM сообщает SSD, какие страницы можно считать свободными</a:t>
            </a:r>
          </a:p>
          <a:p>
            <a:r>
              <a:rPr lang="ru-RU" dirty="0"/>
              <a:t>Без TRIM SSD работает, но менее эффективно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2054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8F55-011E-7C4E-BE85-066BD1B5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LFS </a:t>
            </a:r>
            <a:r>
              <a:rPr lang="ru-RU" dirty="0"/>
              <a:t>подходят для </a:t>
            </a:r>
            <a:r>
              <a:rPr lang="en-US" dirty="0"/>
              <a:t>Flash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3E479-D906-00BE-911C-67A9E1DA8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SSD любит последовательные записи</a:t>
            </a:r>
          </a:p>
          <a:p>
            <a:r>
              <a:rPr lang="ru-RU" dirty="0"/>
              <a:t>LFS записывает данные большими сегментами</a:t>
            </a:r>
          </a:p>
          <a:p>
            <a:r>
              <a:rPr lang="ru-RU" dirty="0"/>
              <a:t>Никаких перезаписей “</a:t>
            </a:r>
            <a:r>
              <a:rPr lang="ru-RU" dirty="0" err="1"/>
              <a:t>in-place</a:t>
            </a:r>
            <a:r>
              <a:rPr lang="ru-RU" dirty="0"/>
              <a:t>”</a:t>
            </a:r>
          </a:p>
          <a:p>
            <a:r>
              <a:rPr lang="ru-RU" dirty="0"/>
              <a:t>Отлично распределяет износ</a:t>
            </a:r>
          </a:p>
          <a:p>
            <a:r>
              <a:rPr lang="ru-RU" dirty="0"/>
              <a:t>Хорошо взаимодействует с FTL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298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D417-2B06-942E-C81F-21107349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«Бродячего дерева»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0A4A-6212-1104-1D4B-8BD20F1C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Обновление данных приводит к созданию новых страниц</a:t>
            </a:r>
          </a:p>
          <a:p>
            <a:r>
              <a:rPr lang="ru-RU" dirty="0"/>
              <a:t>Нужно обновить </a:t>
            </a:r>
            <a:r>
              <a:rPr lang="ru-RU" dirty="0" err="1"/>
              <a:t>indirect</a:t>
            </a:r>
            <a:r>
              <a:rPr lang="ru-RU" dirty="0"/>
              <a:t> </a:t>
            </a:r>
            <a:r>
              <a:rPr lang="ru-RU" dirty="0" err="1"/>
              <a:t>block</a:t>
            </a:r>
            <a:endParaRPr lang="ru-RU" dirty="0"/>
          </a:p>
          <a:p>
            <a:r>
              <a:rPr lang="ru-RU" dirty="0"/>
              <a:t>Нужно обновить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Нужно обновить i-</a:t>
            </a:r>
            <a:r>
              <a:rPr lang="ru-RU" dirty="0" err="1"/>
              <a:t>node</a:t>
            </a:r>
            <a:r>
              <a:rPr lang="ru-RU" dirty="0"/>
              <a:t> </a:t>
            </a:r>
            <a:r>
              <a:rPr lang="ru-RU" dirty="0" err="1"/>
              <a:t>map</a:t>
            </a:r>
            <a:endParaRPr lang="ru-RU" dirty="0"/>
          </a:p>
          <a:p>
            <a:pPr lvl="1"/>
            <a:r>
              <a:rPr lang="ru-RU" dirty="0"/>
              <a:t>каскад записей</a:t>
            </a:r>
          </a:p>
          <a:p>
            <a:pPr lvl="1"/>
            <a:r>
              <a:rPr lang="ru-RU" dirty="0"/>
              <a:t>Следствие - ухудшение производительности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45104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B3A1-87F2-117D-786D-BA83972B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Решение: глобальные таблицы отображения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5039F-38C7-219D-2502-1668ADB2C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Вместо хранения адресов хранятся постоянные номера блоков</a:t>
            </a:r>
          </a:p>
          <a:p>
            <a:r>
              <a:rPr lang="ru-RU" dirty="0"/>
              <a:t>Глобальная таблица сопоставляет номера на физические адреса</a:t>
            </a:r>
          </a:p>
          <a:p>
            <a:r>
              <a:rPr lang="ru-RU" dirty="0"/>
              <a:t>Обновление файла требует изменить лишь одну таблицу, а не всю цепочку структур</a:t>
            </a:r>
          </a:p>
          <a:p>
            <a:r>
              <a:rPr lang="ru-RU" dirty="0"/>
              <a:t>Меньше каскадных обновлений</a:t>
            </a:r>
          </a:p>
          <a:p>
            <a:r>
              <a:rPr lang="ru-RU" dirty="0"/>
              <a:t>Пример: F2FS (Flash-</a:t>
            </a:r>
            <a:r>
              <a:rPr lang="ru-RU" dirty="0" err="1"/>
              <a:t>Friendly</a:t>
            </a:r>
            <a:r>
              <a:rPr lang="ru-RU" dirty="0"/>
              <a:t> File System для </a:t>
            </a:r>
            <a:r>
              <a:rPr lang="en-US" dirty="0"/>
              <a:t>Android </a:t>
            </a:r>
            <a:r>
              <a:rPr lang="ru-RU" dirty="0"/>
              <a:t>и </a:t>
            </a:r>
            <a:r>
              <a:rPr lang="en-US" dirty="0"/>
              <a:t>Linux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319033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416E-6C5B-D10C-4F27-DA98D228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по файловым системам для </a:t>
            </a:r>
            <a:r>
              <a:rPr lang="en-US" dirty="0"/>
              <a:t>Flash</a:t>
            </a:r>
            <a:r>
              <a:rPr lang="ru-RU" dirty="0"/>
              <a:t>-накопителей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9C1B7-8F9B-88DC-003F-26C831AC1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SSD — не «быстрый HDD», а совсем другая технология</a:t>
            </a:r>
          </a:p>
          <a:p>
            <a:r>
              <a:rPr lang="ru-RU" dirty="0"/>
              <a:t>Нуждается в других подходах к записи</a:t>
            </a:r>
          </a:p>
          <a:p>
            <a:r>
              <a:rPr lang="ru-RU" dirty="0"/>
              <a:t>LFS и F2FS лучше соответствуют физике </a:t>
            </a:r>
            <a:r>
              <a:rPr lang="ru-RU" dirty="0" err="1"/>
              <a:t>флеш</a:t>
            </a:r>
            <a:r>
              <a:rPr lang="ru-RU" dirty="0"/>
              <a:t>-памяти</a:t>
            </a:r>
          </a:p>
          <a:p>
            <a:r>
              <a:rPr lang="ru-RU" dirty="0"/>
              <a:t>FTL скрывает сложность устройства, но создаёт семантический разрыв</a:t>
            </a:r>
          </a:p>
          <a:p>
            <a:r>
              <a:rPr lang="ru-RU" dirty="0"/>
              <a:t>TRIM помогает согласовать работу FS и SSD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5167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C70DDA-BD50-3CF2-B67A-25D80C3E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Виртуальные файловые системы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C49F7-31A0-6990-E249-5336CB5A3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7959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B21F91-6288-C484-159C-E46EEC79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виртуальные файловые системы (</a:t>
            </a:r>
            <a:r>
              <a:rPr lang="en-US" dirty="0"/>
              <a:t>VFS)?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7F8BE3-98CC-A973-7D7D-0666218F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одном компьютере могут одновременно использоваться несколько типов файловых систем</a:t>
            </a:r>
          </a:p>
          <a:p>
            <a:r>
              <a:rPr lang="ru-RU" dirty="0"/>
              <a:t>Подход </a:t>
            </a:r>
            <a:r>
              <a:rPr lang="en-US" dirty="0"/>
              <a:t>Windows: C:, D:, E: </a:t>
            </a:r>
            <a:r>
              <a:rPr lang="ru-RU" dirty="0"/>
              <a:t>без единого дерева</a:t>
            </a:r>
          </a:p>
          <a:p>
            <a:r>
              <a:rPr lang="ru-RU" dirty="0"/>
              <a:t>Подход </a:t>
            </a:r>
            <a:r>
              <a:rPr lang="en-US" dirty="0"/>
              <a:t>UNIX / Linux: </a:t>
            </a:r>
            <a:r>
              <a:rPr lang="ru-RU" dirty="0"/>
              <a:t>единая иерархия / с разными </a:t>
            </a:r>
            <a:r>
              <a:rPr lang="en-US" dirty="0"/>
              <a:t>FS </a:t>
            </a:r>
            <a:r>
              <a:rPr lang="ru-RU" dirty="0"/>
              <a:t>под капотом</a:t>
            </a:r>
          </a:p>
          <a:p>
            <a:r>
              <a:rPr lang="ru-RU" dirty="0"/>
              <a:t>Нужен слой, который их объединяет – </a:t>
            </a:r>
            <a:r>
              <a:rPr lang="en-US" b="1" dirty="0"/>
              <a:t>VFS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60650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E54E-4AAE-3DE6-5643-99E5AD1A9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  <a:r>
              <a:rPr lang="en-US" dirty="0"/>
              <a:t> VFS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24EA81-B8DC-1EF5-C405-D5089A61F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16760" y="1825625"/>
            <a:ext cx="85584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1986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574D-5433-0BDF-D045-45D4B512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объектов в </a:t>
            </a:r>
            <a:r>
              <a:rPr lang="en-US" dirty="0"/>
              <a:t>VFS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1F1E4-970F-41B5-19AB-025C48D7C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Superblock</a:t>
            </a:r>
            <a:r>
              <a:rPr lang="en-US" dirty="0"/>
              <a:t> </a:t>
            </a:r>
            <a:r>
              <a:rPr lang="ru-RU" dirty="0"/>
              <a:t>описывает файловую систему целиком</a:t>
            </a:r>
          </a:p>
          <a:p>
            <a:r>
              <a:rPr lang="en-US" b="1" dirty="0"/>
              <a:t>v-node</a:t>
            </a:r>
            <a:r>
              <a:rPr lang="en-US" dirty="0"/>
              <a:t> — </a:t>
            </a:r>
            <a:r>
              <a:rPr lang="ru-RU" dirty="0"/>
              <a:t>абстракция файла</a:t>
            </a:r>
          </a:p>
          <a:p>
            <a:r>
              <a:rPr lang="en-US" b="1" dirty="0"/>
              <a:t>Directory object</a:t>
            </a:r>
            <a:r>
              <a:rPr lang="en-US" dirty="0"/>
              <a:t> — </a:t>
            </a:r>
            <a:r>
              <a:rPr lang="ru-RU" dirty="0"/>
              <a:t>абстракция каталога</a:t>
            </a:r>
          </a:p>
          <a:p>
            <a:r>
              <a:rPr lang="en-US" b="1" dirty="0"/>
              <a:t>Mount table</a:t>
            </a:r>
            <a:r>
              <a:rPr lang="en-US" dirty="0"/>
              <a:t> — </a:t>
            </a:r>
            <a:r>
              <a:rPr lang="ru-RU" dirty="0"/>
              <a:t>список смонтированных ФС</a:t>
            </a:r>
          </a:p>
          <a:p>
            <a:r>
              <a:rPr lang="ru-RU" dirty="0"/>
              <a:t>Таблица файловых дескрипторов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337185889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EF57-6D3E-2C8E-FCD9-CE681A32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Регистрация файловой системы в </a:t>
            </a:r>
            <a:r>
              <a:rPr lang="en-US" dirty="0"/>
              <a:t>VFS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EA24C-159D-D37D-D12D-AEE07FEC0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загрузке регистрируется корневая файловая система</a:t>
            </a:r>
          </a:p>
          <a:p>
            <a:r>
              <a:rPr lang="ru-RU" dirty="0"/>
              <a:t>При монтировании дополнительных ФС они тоже регистрируются</a:t>
            </a:r>
          </a:p>
          <a:p>
            <a:r>
              <a:rPr lang="ru-RU" dirty="0"/>
              <a:t>ФС передаёт VFS таблицу указателей на свои функции</a:t>
            </a:r>
          </a:p>
          <a:p>
            <a:r>
              <a:rPr lang="ru-RU" dirty="0"/>
              <a:t>VFS знает, какая функция ФС реализует тот или иной системный вызов вроде </a:t>
            </a:r>
            <a:r>
              <a:rPr lang="en-US" dirty="0"/>
              <a:t>read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23990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B4F1-A0C9-EE24-0C92-8AAA35DB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</a:t>
            </a:r>
            <a:r>
              <a:rPr lang="en-US" dirty="0"/>
              <a:t>open("/</a:t>
            </a:r>
            <a:r>
              <a:rPr lang="en-US" dirty="0" err="1"/>
              <a:t>usr</a:t>
            </a:r>
            <a:r>
              <a:rPr lang="en-US" dirty="0"/>
              <a:t>/include/</a:t>
            </a:r>
            <a:r>
              <a:rPr lang="en-US" dirty="0" err="1"/>
              <a:t>unistd.h</a:t>
            </a:r>
            <a:r>
              <a:rPr lang="en-US" dirty="0"/>
              <a:t>“)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712C4-9A4E-A4EC-21D5-FF15E0A89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Процесс вызывает </a:t>
            </a:r>
            <a:r>
              <a:rPr lang="ru-RU" dirty="0" err="1"/>
              <a:t>open</a:t>
            </a:r>
            <a:r>
              <a:rPr lang="ru-RU" dirty="0"/>
              <a:t>, и системный вызов попадает в VFS</a:t>
            </a:r>
          </a:p>
          <a:p>
            <a:r>
              <a:rPr lang="ru-RU" dirty="0"/>
              <a:t>VFS </a:t>
            </a:r>
            <a:r>
              <a:rPr lang="ru-RU" dirty="0" err="1"/>
              <a:t>парсит</a:t>
            </a:r>
            <a:r>
              <a:rPr lang="ru-RU" dirty="0"/>
              <a:t> путь /</a:t>
            </a:r>
            <a:r>
              <a:rPr lang="ru-RU" dirty="0" err="1"/>
              <a:t>usr</a:t>
            </a:r>
            <a:r>
              <a:rPr lang="ru-RU" dirty="0"/>
              <a:t>/</a:t>
            </a:r>
            <a:r>
              <a:rPr lang="ru-RU" dirty="0" err="1"/>
              <a:t>include</a:t>
            </a:r>
            <a:r>
              <a:rPr lang="ru-RU" dirty="0"/>
              <a:t>/</a:t>
            </a:r>
            <a:r>
              <a:rPr lang="ru-RU" dirty="0" err="1"/>
              <a:t>unistd.h</a:t>
            </a:r>
            <a:endParaRPr lang="ru-RU" dirty="0"/>
          </a:p>
          <a:p>
            <a:r>
              <a:rPr lang="ru-RU" dirty="0"/>
              <a:t>Видит, что /</a:t>
            </a:r>
            <a:r>
              <a:rPr lang="ru-RU" dirty="0" err="1"/>
              <a:t>usr</a:t>
            </a:r>
            <a:r>
              <a:rPr lang="ru-RU" dirty="0"/>
              <a:t> — точка монтирования другой ФС</a:t>
            </a:r>
          </a:p>
          <a:p>
            <a:r>
              <a:rPr lang="ru-RU" dirty="0"/>
              <a:t>Находит её </a:t>
            </a:r>
            <a:r>
              <a:rPr lang="ru-RU" b="1" dirty="0" err="1"/>
              <a:t>superblock</a:t>
            </a:r>
            <a:r>
              <a:rPr lang="ru-RU" dirty="0"/>
              <a:t>, корень смонтированной ФС</a:t>
            </a:r>
          </a:p>
          <a:p>
            <a:r>
              <a:rPr lang="ru-RU" dirty="0"/>
              <a:t>Внутри неё ищет </a:t>
            </a:r>
            <a:r>
              <a:rPr lang="ru-RU" dirty="0" err="1"/>
              <a:t>include</a:t>
            </a:r>
            <a:r>
              <a:rPr lang="ru-RU" dirty="0"/>
              <a:t>/</a:t>
            </a:r>
            <a:r>
              <a:rPr lang="ru-RU" dirty="0" err="1"/>
              <a:t>unistd.h</a:t>
            </a:r>
            <a:endParaRPr lang="ru-RU" dirty="0"/>
          </a:p>
          <a:p>
            <a:r>
              <a:rPr lang="ru-RU" dirty="0"/>
              <a:t>Получает </a:t>
            </a:r>
            <a:r>
              <a:rPr lang="ru-RU" dirty="0" err="1"/>
              <a:t>inode</a:t>
            </a:r>
            <a:r>
              <a:rPr lang="ru-RU" dirty="0"/>
              <a:t> файла</a:t>
            </a:r>
          </a:p>
          <a:p>
            <a:r>
              <a:rPr lang="ru-RU" dirty="0"/>
              <a:t>Создаёт </a:t>
            </a:r>
            <a:r>
              <a:rPr lang="ru-RU" b="1" dirty="0"/>
              <a:t>v-</a:t>
            </a:r>
            <a:r>
              <a:rPr lang="ru-RU" b="1" dirty="0" err="1"/>
              <a:t>node</a:t>
            </a:r>
            <a:r>
              <a:rPr lang="ru-RU" dirty="0"/>
              <a:t> и заполняет его данными:</a:t>
            </a:r>
          </a:p>
          <a:p>
            <a:pPr lvl="1"/>
            <a:r>
              <a:rPr lang="ru-RU" dirty="0"/>
              <a:t>атрибуты файла,</a:t>
            </a:r>
          </a:p>
          <a:p>
            <a:pPr lvl="1"/>
            <a:r>
              <a:rPr lang="ru-RU" dirty="0"/>
              <a:t>указатель на таблицу функций конкретной файловой системы</a:t>
            </a:r>
          </a:p>
          <a:p>
            <a:r>
              <a:rPr lang="ru-RU" dirty="0"/>
              <a:t>Создаёт запись в таблице файловых дескрипторов процесса</a:t>
            </a:r>
          </a:p>
          <a:p>
            <a:r>
              <a:rPr lang="ru-RU" dirty="0"/>
              <a:t>Возвращает номер дескриптора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0334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A1E1D-A1DC-84DF-3818-4D7D488D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</a:t>
            </a:r>
            <a:r>
              <a:rPr lang="en-US" dirty="0"/>
              <a:t>read </a:t>
            </a:r>
            <a:r>
              <a:rPr lang="ru-RU" dirty="0"/>
              <a:t>через </a:t>
            </a:r>
            <a:r>
              <a:rPr lang="en-US" dirty="0" err="1"/>
              <a:t>vfs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D2FD8-38D2-A08A-9F14-2B43D8D256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Процесс вызывает </a:t>
            </a:r>
            <a:r>
              <a:rPr lang="ru-RU" dirty="0" err="1"/>
              <a:t>read</a:t>
            </a:r>
            <a:r>
              <a:rPr lang="ru-RU" dirty="0"/>
              <a:t>(</a:t>
            </a:r>
            <a:r>
              <a:rPr lang="ru-RU" dirty="0" err="1"/>
              <a:t>fd</a:t>
            </a:r>
            <a:r>
              <a:rPr lang="ru-RU" dirty="0"/>
              <a:t>, ...)</a:t>
            </a:r>
          </a:p>
          <a:p>
            <a:r>
              <a:rPr lang="ru-RU" dirty="0"/>
              <a:t>VFS по </a:t>
            </a:r>
            <a:r>
              <a:rPr lang="ru-RU" dirty="0" err="1"/>
              <a:t>fd</a:t>
            </a:r>
            <a:r>
              <a:rPr lang="ru-RU" dirty="0"/>
              <a:t> находит запись в таблице дескрипторов</a:t>
            </a:r>
          </a:p>
          <a:p>
            <a:r>
              <a:rPr lang="ru-RU" dirty="0"/>
              <a:t>Из записи получает указатель на v-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Из v-</a:t>
            </a:r>
            <a:r>
              <a:rPr lang="ru-RU" dirty="0" err="1"/>
              <a:t>node</a:t>
            </a:r>
            <a:r>
              <a:rPr lang="ru-RU" dirty="0"/>
              <a:t> достаёт таблицу функций конкретной ФС</a:t>
            </a:r>
          </a:p>
          <a:p>
            <a:r>
              <a:rPr lang="ru-RU" dirty="0"/>
              <a:t>Вызывает её метод </a:t>
            </a:r>
            <a:r>
              <a:rPr lang="ru-RU" dirty="0" err="1"/>
              <a:t>read</a:t>
            </a:r>
            <a:endParaRPr lang="ru-RU" dirty="0"/>
          </a:p>
          <a:p>
            <a:r>
              <a:rPr lang="ru-RU" dirty="0"/>
              <a:t>Конкретная ФС читает блоки и возвращает данные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EF07599-290C-D0B8-0AA1-A76E400665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4690" y="1690688"/>
            <a:ext cx="5701144" cy="435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74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1F71-449F-7F03-94E3-EDB9D416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новой ФС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85E61D-AEE8-1895-333E-1678E74F0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Получаем спецификацию VFS-интерфейса</a:t>
            </a:r>
          </a:p>
          <a:p>
            <a:r>
              <a:rPr lang="ru-RU" dirty="0"/>
              <a:t>Реализуем все требуемые функции (или обёртки к существующему коду)</a:t>
            </a:r>
          </a:p>
          <a:p>
            <a:r>
              <a:rPr lang="ru-RU" dirty="0"/>
              <a:t>Регистрируем FS в VFS</a:t>
            </a:r>
          </a:p>
          <a:p>
            <a:r>
              <a:rPr lang="ru-RU" dirty="0"/>
              <a:t>После этого новая ФС становится доступна для 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81223209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A45554-1C98-E5F0-298D-01B98C926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vs Linux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FC4BA-A27A-FEB3-7BD5-0DCF58066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5838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87589-6704-AAFF-199B-45A4E999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«Каждая ФС – отдельный диск»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52BE4E-63E2-E6B0-6405-9C3F248F2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NTFS, FAT32, </a:t>
            </a:r>
            <a:r>
              <a:rPr lang="ru-RU" dirty="0" err="1"/>
              <a:t>exFAT</a:t>
            </a:r>
            <a:r>
              <a:rPr lang="ru-RU" dirty="0"/>
              <a:t> и др. существуют раздельно</a:t>
            </a:r>
          </a:p>
          <a:p>
            <a:r>
              <a:rPr lang="ru-RU" dirty="0"/>
              <a:t>Каждая файловая система имеет букву диска: </a:t>
            </a:r>
            <a:r>
              <a:rPr lang="ru-RU" b="1" dirty="0"/>
              <a:t>C:, D:, E:</a:t>
            </a:r>
            <a:endParaRPr lang="ru-RU" dirty="0"/>
          </a:p>
          <a:p>
            <a:r>
              <a:rPr lang="ru-RU" dirty="0"/>
              <a:t>Нет единого дерева каталогов</a:t>
            </a:r>
          </a:p>
          <a:p>
            <a:r>
              <a:rPr lang="ru-RU" dirty="0"/>
              <a:t>Приложения явно указывают диск</a:t>
            </a:r>
          </a:p>
          <a:p>
            <a:r>
              <a:rPr lang="ru-RU" dirty="0"/>
              <a:t>Минимальная интеграция между файловыми системами</a:t>
            </a:r>
          </a:p>
        </p:txBody>
      </p:sp>
    </p:spTree>
    <p:extLst>
      <p:ext uri="{BB962C8B-B14F-4D97-AF65-F5344CB8AC3E}">
        <p14:creationId xmlns:p14="http://schemas.microsoft.com/office/powerpoint/2010/main" val="128954495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BBA3-C16D-7E78-99D3-C9CB690F3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Unix/Linux – </a:t>
            </a:r>
            <a:r>
              <a:rPr lang="ru-RU" dirty="0"/>
              <a:t>единое дерево каталогов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8D18-BC10-04A1-5F3B-1BE24E3CB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файловые системы монтируются в одно дерево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/>
              <a:t>/ — ext4</a:t>
            </a:r>
          </a:p>
          <a:p>
            <a:pPr lvl="1"/>
            <a:r>
              <a:rPr lang="ru-RU" dirty="0"/>
              <a:t>/</a:t>
            </a:r>
            <a:r>
              <a:rPr lang="ru-RU" dirty="0" err="1"/>
              <a:t>usr</a:t>
            </a:r>
            <a:r>
              <a:rPr lang="ru-RU" dirty="0"/>
              <a:t> — ext3</a:t>
            </a:r>
          </a:p>
          <a:p>
            <a:pPr lvl="1"/>
            <a:r>
              <a:rPr lang="ru-RU" dirty="0"/>
              <a:t>/</a:t>
            </a:r>
            <a:r>
              <a:rPr lang="ru-RU" dirty="0" err="1"/>
              <a:t>home</a:t>
            </a:r>
            <a:r>
              <a:rPr lang="ru-RU" dirty="0"/>
              <a:t> — </a:t>
            </a:r>
            <a:r>
              <a:rPr lang="ru-RU" dirty="0" err="1"/>
              <a:t>ReiserFS</a:t>
            </a:r>
            <a:endParaRPr lang="ru-RU" dirty="0"/>
          </a:p>
          <a:p>
            <a:pPr lvl="1"/>
            <a:r>
              <a:rPr lang="ru-RU" dirty="0"/>
              <a:t>/</a:t>
            </a:r>
            <a:r>
              <a:rPr lang="ru-RU" dirty="0" err="1"/>
              <a:t>mnt</a:t>
            </a:r>
            <a:r>
              <a:rPr lang="ru-RU" dirty="0"/>
              <a:t> — F2FS</a:t>
            </a:r>
          </a:p>
          <a:p>
            <a:r>
              <a:rPr lang="ru-RU" dirty="0"/>
              <a:t>Пользователь видит </a:t>
            </a:r>
            <a:r>
              <a:rPr lang="ru-RU" b="1" dirty="0"/>
              <a:t>единую</a:t>
            </a:r>
            <a:r>
              <a:rPr lang="ru-RU" dirty="0"/>
              <a:t> файловую систему</a:t>
            </a:r>
          </a:p>
          <a:p>
            <a:r>
              <a:rPr lang="ru-RU" dirty="0"/>
              <a:t>Типы ФС скрыты за VFS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244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45A5-CA00-9F03-BF9E-43E79382D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</a:t>
            </a:r>
            <a:r>
              <a:rPr lang="en-US" dirty="0"/>
              <a:t>Windows </a:t>
            </a:r>
            <a:r>
              <a:rPr lang="ru-RU" dirty="0"/>
              <a:t>выбирает файловую систему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43B08-8E59-C5AB-346E-A1AD921BB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Приложение указывает путь вида D:\data\file.txt</a:t>
            </a:r>
          </a:p>
          <a:p>
            <a:r>
              <a:rPr lang="ru-RU" dirty="0"/>
              <a:t>Драйвер ядра смотрит на букву диска и узнаёт тип ФС</a:t>
            </a:r>
          </a:p>
          <a:p>
            <a:r>
              <a:rPr lang="ru-RU" dirty="0"/>
              <a:t>Запрос направляется в соответствующий драйвер (NTFS, FAT, </a:t>
            </a:r>
            <a:r>
              <a:rPr lang="ru-RU" dirty="0" err="1"/>
              <a:t>exFAT</a:t>
            </a:r>
            <a:r>
              <a:rPr lang="ru-RU" dirty="0"/>
              <a:t>)</a:t>
            </a:r>
          </a:p>
          <a:p>
            <a:r>
              <a:rPr lang="ru-RU" dirty="0"/>
              <a:t>Нет абстракции объединения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47153470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CC29-D57B-90FA-AFF0-9BDCB314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</a:t>
            </a:r>
            <a:r>
              <a:rPr lang="en-US" dirty="0"/>
              <a:t>Unix/Linux</a:t>
            </a:r>
            <a:r>
              <a:rPr lang="ru-RU" dirty="0"/>
              <a:t> выбирает файловую систему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92B87-C79A-E16F-8186-101DD3C25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Приложение вызывает </a:t>
            </a:r>
            <a:r>
              <a:rPr lang="ru-RU" dirty="0" err="1"/>
              <a:t>open</a:t>
            </a:r>
            <a:r>
              <a:rPr lang="ru-RU" dirty="0"/>
              <a:t>("/</a:t>
            </a:r>
            <a:r>
              <a:rPr lang="ru-RU" dirty="0" err="1"/>
              <a:t>usr</a:t>
            </a:r>
            <a:r>
              <a:rPr lang="ru-RU" dirty="0"/>
              <a:t>/</a:t>
            </a:r>
            <a:r>
              <a:rPr lang="ru-RU" dirty="0" err="1"/>
              <a:t>bin</a:t>
            </a:r>
            <a:r>
              <a:rPr lang="ru-RU" dirty="0"/>
              <a:t>/</a:t>
            </a:r>
            <a:r>
              <a:rPr lang="ru-RU" dirty="0" err="1"/>
              <a:t>bash</a:t>
            </a:r>
            <a:r>
              <a:rPr lang="ru-RU" dirty="0"/>
              <a:t>")</a:t>
            </a:r>
          </a:p>
          <a:p>
            <a:r>
              <a:rPr lang="ru-RU" dirty="0"/>
              <a:t>VFS разбирает путь</a:t>
            </a:r>
          </a:p>
          <a:p>
            <a:r>
              <a:rPr lang="ru-RU" dirty="0"/>
              <a:t>Определяет точку монтирования (/, /</a:t>
            </a:r>
            <a:r>
              <a:rPr lang="ru-RU" dirty="0" err="1"/>
              <a:t>usr</a:t>
            </a:r>
            <a:r>
              <a:rPr lang="ru-RU" dirty="0"/>
              <a:t>, /</a:t>
            </a:r>
            <a:r>
              <a:rPr lang="ru-RU" dirty="0" err="1"/>
              <a:t>home</a:t>
            </a:r>
            <a:r>
              <a:rPr lang="ru-RU" dirty="0"/>
              <a:t> …)</a:t>
            </a:r>
          </a:p>
          <a:p>
            <a:r>
              <a:rPr lang="ru-RU" dirty="0"/>
              <a:t>По ней находят </a:t>
            </a:r>
            <a:r>
              <a:rPr lang="ru-RU" i="1" dirty="0"/>
              <a:t>какая файловая система обслуживает этот путь</a:t>
            </a:r>
            <a:endParaRPr lang="ru-RU" dirty="0"/>
          </a:p>
          <a:p>
            <a:r>
              <a:rPr lang="ru-RU" dirty="0"/>
              <a:t>Затем вызывает её функции через таблицу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260492946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5DE6-0A80-6141-6512-88DBBDB8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различия </a:t>
            </a:r>
            <a:r>
              <a:rPr lang="en-US" dirty="0"/>
              <a:t>Windows </a:t>
            </a:r>
            <a:r>
              <a:rPr lang="ru-RU" dirty="0"/>
              <a:t>и </a:t>
            </a:r>
            <a:r>
              <a:rPr lang="en-US" dirty="0"/>
              <a:t>UNIX/Linux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D746-B852-CC4A-B612-DA306E35F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7B5A3C-5A23-68FF-19EF-B25F48EC78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Простая модель: каждый диск — отдельная ФС</a:t>
            </a:r>
          </a:p>
          <a:p>
            <a:r>
              <a:rPr lang="ru-RU" dirty="0"/>
              <a:t>Приложение знает букву диска</a:t>
            </a:r>
          </a:p>
          <a:p>
            <a:r>
              <a:rPr lang="ru-RU" dirty="0"/>
              <a:t>Нет единого дерева каталогов</a:t>
            </a:r>
          </a:p>
          <a:p>
            <a:r>
              <a:rPr lang="ru-RU" dirty="0"/>
              <a:t>Нет абстракции VFS</a:t>
            </a:r>
          </a:p>
          <a:p>
            <a:r>
              <a:rPr lang="ru-RU" dirty="0"/>
              <a:t>Каждый драйвер файловой системы работает напрямую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4B7F60-2057-AF56-D921-9C34A33CD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UNX/Linux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D2C08E-C20B-0F2C-A403-C396C399A71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Единое дерево каталогов</a:t>
            </a:r>
          </a:p>
          <a:p>
            <a:r>
              <a:rPr lang="ru-RU" dirty="0"/>
              <a:t>VFS скрывает различия между файловыми системами</a:t>
            </a:r>
          </a:p>
          <a:p>
            <a:r>
              <a:rPr lang="ru-RU" dirty="0"/>
              <a:t>Приложения не знают тип ФС</a:t>
            </a:r>
          </a:p>
          <a:p>
            <a:r>
              <a:rPr lang="ru-RU" dirty="0"/>
              <a:t>Файловые системы взаимозаменяемы</a:t>
            </a:r>
          </a:p>
          <a:p>
            <a:r>
              <a:rPr lang="ru-RU" dirty="0"/>
              <a:t>Можно легко добавлять новые ФС (через VFS)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6548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191749-BAFF-38D8-929B-358C28F2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преимущество </a:t>
            </a:r>
            <a:r>
              <a:rPr lang="en-US" dirty="0"/>
              <a:t>VFS </a:t>
            </a:r>
            <a:r>
              <a:rPr lang="ru-RU" dirty="0"/>
              <a:t>заметно сильнее всего</a:t>
            </a:r>
            <a:r>
              <a:rPr lang="en-US" dirty="0"/>
              <a:t>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9D32C8-F2F4-9157-6CC0-A3B3E6AD1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Сетевые ФС (NFS, SMB)</a:t>
            </a:r>
          </a:p>
          <a:p>
            <a:r>
              <a:rPr lang="ru-RU" dirty="0"/>
              <a:t>Контейнеры и виртуализация</a:t>
            </a:r>
          </a:p>
          <a:p>
            <a:r>
              <a:rPr lang="ru-RU" dirty="0"/>
              <a:t>Поддержка </a:t>
            </a:r>
            <a:r>
              <a:rPr lang="ru-RU" dirty="0" err="1"/>
              <a:t>флеш</a:t>
            </a:r>
            <a:r>
              <a:rPr lang="ru-RU" dirty="0"/>
              <a:t>-ФС (F2FS)</a:t>
            </a:r>
          </a:p>
          <a:p>
            <a:r>
              <a:rPr lang="ru-RU" dirty="0"/>
              <a:t>Работа с ISO-образами</a:t>
            </a:r>
          </a:p>
          <a:p>
            <a:r>
              <a:rPr lang="ru-RU" dirty="0"/>
              <a:t>Лёгкость монтирования в любом каталоге</a:t>
            </a:r>
          </a:p>
          <a:p>
            <a:r>
              <a:rPr lang="ru-RU" dirty="0"/>
              <a:t>Прозрачность для 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22452540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E7B6-B794-182A-7B54-7361C8E7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UNC-</a:t>
            </a:r>
            <a:r>
              <a:rPr lang="ru-RU" dirty="0"/>
              <a:t>пути в </a:t>
            </a:r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3D2E8-4F7C-6C28-0577-0C010022D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 </a:t>
            </a:r>
            <a:r>
              <a:rPr lang="ru-RU" dirty="0"/>
              <a:t>(</a:t>
            </a:r>
            <a:r>
              <a:rPr lang="en-US" dirty="0"/>
              <a:t>Universal Naming Convention</a:t>
            </a:r>
            <a:r>
              <a:rPr lang="ru-RU" dirty="0"/>
              <a:t>) – вторая система обозначения путей</a:t>
            </a:r>
          </a:p>
          <a:p>
            <a:r>
              <a:rPr lang="ru-RU" dirty="0"/>
              <a:t>Формат</a:t>
            </a:r>
            <a:r>
              <a:rPr lang="en-US" dirty="0"/>
              <a:t> UNC-</a:t>
            </a:r>
            <a:r>
              <a:rPr lang="ru-RU" dirty="0"/>
              <a:t>пути: </a:t>
            </a:r>
            <a:r>
              <a:rPr lang="ru-RU" b="1" dirty="0"/>
              <a:t>\\Server\Share\Path\To\File</a:t>
            </a:r>
            <a:endParaRPr lang="ru-RU" dirty="0"/>
          </a:p>
          <a:p>
            <a:r>
              <a:rPr lang="ru-RU" dirty="0"/>
              <a:t>Используются для сетевых файловых ресурсов (SMB/CIFS)</a:t>
            </a:r>
          </a:p>
          <a:p>
            <a:r>
              <a:rPr lang="ru-RU" dirty="0"/>
              <a:t>Не требуют буквы диска</a:t>
            </a:r>
          </a:p>
          <a:p>
            <a:r>
              <a:rPr lang="ru-RU" dirty="0"/>
              <a:t>Можно работать напрямую без </a:t>
            </a:r>
            <a:r>
              <a:rPr lang="ru-RU" b="1" dirty="0"/>
              <a:t>Z:</a:t>
            </a:r>
            <a:r>
              <a:rPr lang="ru-RU" dirty="0"/>
              <a:t> и других </a:t>
            </a:r>
            <a:r>
              <a:rPr lang="ru-RU" dirty="0" err="1"/>
              <a:t>маппингов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174935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4711-E95A-6841-8B5C-103AFB8D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UNC – отдельная параллельная иерархия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55CE-5B73-DBFF-51DC-054165C05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UNC-пространство существует </a:t>
            </a:r>
            <a:r>
              <a:rPr lang="ru-RU" b="1" dirty="0"/>
              <a:t>вне</a:t>
            </a:r>
            <a:r>
              <a:rPr lang="ru-RU" dirty="0"/>
              <a:t> C:\</a:t>
            </a:r>
          </a:p>
          <a:p>
            <a:r>
              <a:rPr lang="ru-RU" dirty="0"/>
              <a:t>Локальные пути и UNC-пути — разные вселенные</a:t>
            </a:r>
          </a:p>
          <a:p>
            <a:r>
              <a:rPr lang="ru-RU" dirty="0"/>
              <a:t>Приложения должны явно различать тип пути</a:t>
            </a:r>
          </a:p>
          <a:p>
            <a:r>
              <a:rPr lang="ru-RU" dirty="0"/>
              <a:t>Нет объединения с локальной ФС</a:t>
            </a:r>
          </a:p>
        </p:txBody>
      </p:sp>
    </p:spTree>
    <p:extLst>
      <p:ext uri="{BB962C8B-B14F-4D97-AF65-F5344CB8AC3E}">
        <p14:creationId xmlns:p14="http://schemas.microsoft.com/office/powerpoint/2010/main" val="316330903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9512-A1C3-3BAD-F749-C7DFA390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</a:t>
            </a:r>
            <a:r>
              <a:rPr lang="en-US" dirty="0"/>
              <a:t>UNC</a:t>
            </a:r>
            <a:r>
              <a:rPr lang="ru-RU" dirty="0"/>
              <a:t> удобен, а где нет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D097B-A2A3-97E7-D7F8-303E163E2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Плюсы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89B12-5FB3-00E3-1CBA-C1C37CCDA0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Быстрый доступ к сетевым ресурсам</a:t>
            </a:r>
          </a:p>
          <a:p>
            <a:r>
              <a:rPr lang="ru-RU" dirty="0"/>
              <a:t>Не нужно монтировать как диск</a:t>
            </a:r>
          </a:p>
          <a:p>
            <a:r>
              <a:rPr lang="ru-RU" dirty="0"/>
              <a:t>Удобно для скриптов, администрирования, CI/CD</a:t>
            </a:r>
            <a:endParaRPr lang="ru-RU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B8E65-CBAF-4E20-F4B8-5E3A7AD3F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Минусы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A1A6F-5E62-50B7-9A43-70668CA941B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 является частью общего дерева каталогов</a:t>
            </a:r>
          </a:p>
          <a:p>
            <a:r>
              <a:rPr lang="ru-RU" dirty="0"/>
              <a:t>Некоторые программы плохо работают с UNC</a:t>
            </a:r>
          </a:p>
          <a:p>
            <a:r>
              <a:rPr lang="ru-RU" dirty="0"/>
              <a:t>Ограничения </a:t>
            </a:r>
            <a:r>
              <a:rPr lang="ru-RU" dirty="0" err="1"/>
              <a:t>WinAPI</a:t>
            </a:r>
            <a:r>
              <a:rPr lang="ru-RU" dirty="0"/>
              <a:t> на длину путей (без префикса \\?\)</a:t>
            </a:r>
          </a:p>
          <a:p>
            <a:r>
              <a:rPr lang="ru-RU" dirty="0"/>
              <a:t>Нет абстракции уровня VFS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2974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CFE2FF2-FAEF-917F-4492-70FDF0CC5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Extended-length path </a:t>
            </a:r>
            <a:r>
              <a:rPr lang="ru-RU" dirty="0"/>
              <a:t>в </a:t>
            </a:r>
            <a:r>
              <a:rPr lang="en-US" dirty="0"/>
              <a:t>Windows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C8333E-B098-A066-2908-920D46BDA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Путь с префиксом </a:t>
            </a:r>
            <a:r>
              <a:rPr lang="en-US" dirty="0"/>
              <a:t>\\?\ -</a:t>
            </a:r>
            <a:r>
              <a:rPr lang="ru-RU" dirty="0"/>
              <a:t> путь расширенной длины</a:t>
            </a:r>
          </a:p>
          <a:p>
            <a:r>
              <a:rPr lang="ru-RU" dirty="0"/>
              <a:t>Обходит ограничения </a:t>
            </a:r>
            <a:r>
              <a:rPr lang="ru-RU" dirty="0" err="1"/>
              <a:t>WinAPI</a:t>
            </a:r>
            <a:endParaRPr lang="ru-RU" dirty="0"/>
          </a:p>
          <a:p>
            <a:r>
              <a:rPr lang="ru-RU" dirty="0"/>
              <a:t>Путь передаётся драйверу файловой системы «как есть»</a:t>
            </a:r>
          </a:p>
          <a:p>
            <a:r>
              <a:rPr lang="ru-RU" dirty="0"/>
              <a:t>Используется для длинных (</a:t>
            </a:r>
            <a:r>
              <a:rPr lang="en-US" dirty="0"/>
              <a:t>&gt;260 </a:t>
            </a:r>
            <a:r>
              <a:rPr lang="ru-RU" dirty="0"/>
              <a:t>символов) путей и нестандартных имён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050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7552-1162-4CC5-9CA4-E7FC3271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</a:t>
            </a:r>
            <a:r>
              <a:rPr lang="en-US" dirty="0"/>
              <a:t>MAX_PATH = 260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C5670-B903-392D-E561-F6D0EDE31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Обычные </a:t>
            </a:r>
            <a:r>
              <a:rPr lang="ru-RU" dirty="0" err="1"/>
              <a:t>WinAPI</a:t>
            </a:r>
            <a:r>
              <a:rPr lang="ru-RU" dirty="0"/>
              <a:t>-функции ограничены 260 символами</a:t>
            </a:r>
          </a:p>
          <a:p>
            <a:r>
              <a:rPr lang="ru-RU" dirty="0"/>
              <a:t>Историческое наследие MS-DOS</a:t>
            </a:r>
          </a:p>
          <a:p>
            <a:r>
              <a:rPr lang="ru-RU" dirty="0"/>
              <a:t>Префикс \\?\ повышает предел до ~32767 символов</a:t>
            </a:r>
          </a:p>
          <a:p>
            <a:r>
              <a:rPr lang="ru-RU" dirty="0"/>
              <a:t>Поддерживается NTFS, </a:t>
            </a:r>
            <a:r>
              <a:rPr lang="ru-RU" dirty="0" err="1"/>
              <a:t>ReFS</a:t>
            </a:r>
            <a:r>
              <a:rPr lang="ru-RU" dirty="0"/>
              <a:t>, SMB (частично)</a:t>
            </a:r>
          </a:p>
        </p:txBody>
      </p:sp>
    </p:spTree>
    <p:extLst>
      <p:ext uri="{BB962C8B-B14F-4D97-AF65-F5344CB8AC3E}">
        <p14:creationId xmlns:p14="http://schemas.microsoft.com/office/powerpoint/2010/main" val="106316494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C7E1-06D7-9E86-5F64-472A6CAE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F61EE-DD7A-112C-1078-C52AB9787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Локальный путь</a:t>
            </a:r>
          </a:p>
          <a:p>
            <a:pPr lvl="1"/>
            <a:r>
              <a:rPr lang="en-US" dirty="0"/>
              <a:t>\\?\C:\very\long\path\file.txt</a:t>
            </a:r>
            <a:endParaRPr lang="ru-RU" dirty="0"/>
          </a:p>
          <a:p>
            <a:r>
              <a:rPr lang="en-US" dirty="0"/>
              <a:t>UNC-</a:t>
            </a:r>
            <a:r>
              <a:rPr lang="ru-RU" dirty="0"/>
              <a:t>сетевой путь</a:t>
            </a:r>
          </a:p>
          <a:p>
            <a:pPr lvl="1"/>
            <a:r>
              <a:rPr lang="en-US" dirty="0"/>
              <a:t>\\?\UNC\Server\Share\folder\file.txt</a:t>
            </a:r>
            <a:endParaRPr lang="ru-RU" dirty="0"/>
          </a:p>
          <a:p>
            <a:r>
              <a:rPr lang="ru-RU" dirty="0"/>
              <a:t>Пример длинного пути</a:t>
            </a:r>
          </a:p>
          <a:p>
            <a:pPr lvl="1"/>
            <a:r>
              <a:rPr lang="en-US" dirty="0"/>
              <a:t>\\?\C:\projects\2024\super_long_directory_name\...\file.log</a:t>
            </a:r>
          </a:p>
        </p:txBody>
      </p:sp>
    </p:spTree>
    <p:extLst>
      <p:ext uri="{BB962C8B-B14F-4D97-AF65-F5344CB8AC3E}">
        <p14:creationId xmlns:p14="http://schemas.microsoft.com/office/powerpoint/2010/main" val="133387305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A87B-F341-1020-E749-A9124A6D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таких путей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D8D81-7704-1468-E7D7-D4F452595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Отключены:</a:t>
            </a:r>
          </a:p>
          <a:p>
            <a:pPr lvl="1"/>
            <a:r>
              <a:rPr lang="ru-RU" dirty="0"/>
              <a:t>Нормализацию пути</a:t>
            </a:r>
            <a:endParaRPr lang="en-US" dirty="0"/>
          </a:p>
          <a:p>
            <a:pPr lvl="2"/>
            <a:r>
              <a:rPr lang="ru-RU" dirty="0"/>
              <a:t>Путь должен быть абсолютным</a:t>
            </a:r>
          </a:p>
          <a:p>
            <a:pPr lvl="2"/>
            <a:r>
              <a:rPr lang="ru-RU" dirty="0"/>
              <a:t>Для разделения директорий должны использоваться только обратные слеши</a:t>
            </a:r>
          </a:p>
          <a:p>
            <a:pPr lvl="1"/>
            <a:r>
              <a:rPr lang="ru-RU" dirty="0"/>
              <a:t>Интерпретация . и ..</a:t>
            </a:r>
          </a:p>
          <a:p>
            <a:pPr lvl="1"/>
            <a:r>
              <a:rPr lang="ru-RU" dirty="0"/>
              <a:t>Проверка зарезервированных имён</a:t>
            </a:r>
            <a:r>
              <a:rPr lang="en-US" dirty="0"/>
              <a:t> (CON, PRN, AUX)</a:t>
            </a:r>
            <a:endParaRPr lang="ru-RU" dirty="0"/>
          </a:p>
          <a:p>
            <a:pPr lvl="1"/>
            <a:r>
              <a:rPr lang="ru-RU" dirty="0"/>
              <a:t>Автоматическое удаление пробелов</a:t>
            </a:r>
          </a:p>
          <a:p>
            <a:pPr lvl="1"/>
            <a:r>
              <a:rPr lang="ru-RU" dirty="0"/>
              <a:t>Сокращение двойных \</a:t>
            </a:r>
          </a:p>
          <a:p>
            <a:pPr lvl="1"/>
            <a:r>
              <a:rPr lang="ru-RU" dirty="0"/>
              <a:t>Ограничение длины пути в 260 символов</a:t>
            </a:r>
          </a:p>
          <a:p>
            <a:r>
              <a:rPr lang="ru-RU" dirty="0"/>
              <a:t>Частично зависит от версии </a:t>
            </a:r>
            <a:r>
              <a:rPr lang="en-US" dirty="0"/>
              <a:t>Windows </a:t>
            </a:r>
            <a:r>
              <a:rPr lang="ru-RU" dirty="0"/>
              <a:t>и настроек реестра</a:t>
            </a:r>
          </a:p>
        </p:txBody>
      </p:sp>
    </p:spTree>
    <p:extLst>
      <p:ext uri="{BB962C8B-B14F-4D97-AF65-F5344CB8AC3E}">
        <p14:creationId xmlns:p14="http://schemas.microsoft.com/office/powerpoint/2010/main" val="395807343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9199F0-D410-119F-727A-6A33322E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FUSE (Filesystem in user space)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234FF-FABC-1406-3BB3-A17D028E2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5598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023503-96CB-BA0F-D7C4-77214C52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FUSE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9DAAA-319C-7663-049E-A9964BA4D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Технология ОС </a:t>
            </a:r>
            <a:r>
              <a:rPr lang="en-US" dirty="0"/>
              <a:t>Linux</a:t>
            </a:r>
            <a:r>
              <a:rPr lang="ru-RU" dirty="0"/>
              <a:t>, позволяющая реализовать файловую систему в пространстве пользователя</a:t>
            </a:r>
          </a:p>
          <a:p>
            <a:r>
              <a:rPr lang="ru-RU" dirty="0"/>
              <a:t>Позволяет создавать файловые системы без кода в ядре</a:t>
            </a:r>
          </a:p>
          <a:p>
            <a:r>
              <a:rPr lang="ru-RU" dirty="0"/>
              <a:t>Ядро = модуль </a:t>
            </a:r>
            <a:r>
              <a:rPr lang="ru-RU" dirty="0" err="1"/>
              <a:t>fuse.ko</a:t>
            </a:r>
            <a:endParaRPr lang="ru-RU" dirty="0"/>
          </a:p>
          <a:p>
            <a:r>
              <a:rPr lang="ru-RU" dirty="0"/>
              <a:t>Логика ФС = обычный пользовательский процесс</a:t>
            </a:r>
          </a:p>
          <a:p>
            <a:r>
              <a:rPr lang="ru-RU" dirty="0"/>
              <a:t>Безопасно, удобно, переносимо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2738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60FD-A768-04A0-E46B-BB4631D6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</a:t>
            </a:r>
            <a:r>
              <a:rPr lang="en-US" dirty="0"/>
              <a:t> FUSE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CA68A-5543-F411-EFCC-79445458C1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Приложение делает системный вызов (</a:t>
            </a:r>
            <a:r>
              <a:rPr lang="ru-RU" dirty="0" err="1"/>
              <a:t>open</a:t>
            </a:r>
            <a:r>
              <a:rPr lang="ru-RU" dirty="0"/>
              <a:t>, </a:t>
            </a:r>
            <a:r>
              <a:rPr lang="ru-RU" dirty="0" err="1"/>
              <a:t>read</a:t>
            </a:r>
            <a:r>
              <a:rPr lang="ru-RU" dirty="0"/>
              <a:t>, </a:t>
            </a:r>
            <a:r>
              <a:rPr lang="ru-RU" dirty="0" err="1"/>
              <a:t>write</a:t>
            </a:r>
            <a:r>
              <a:rPr lang="ru-RU" dirty="0"/>
              <a:t>…)</a:t>
            </a:r>
          </a:p>
          <a:p>
            <a:r>
              <a:rPr lang="ru-RU" dirty="0"/>
              <a:t>FUSE-модуль ядра перехватывает вызов</a:t>
            </a:r>
          </a:p>
          <a:p>
            <a:r>
              <a:rPr lang="ru-RU" dirty="0"/>
              <a:t>Передаёт его пользовательскому процессу (FS-демону)</a:t>
            </a:r>
          </a:p>
          <a:p>
            <a:r>
              <a:rPr lang="ru-RU" dirty="0"/>
              <a:t>Демон выполняет логику файловой системы</a:t>
            </a:r>
          </a:p>
          <a:p>
            <a:r>
              <a:rPr lang="ru-RU" dirty="0"/>
              <a:t>Результат возвращается через ядро обратно приложению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4F2FD2-D1DD-3E43-0387-A5527885EF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7413"/>
            <a:ext cx="5181600" cy="388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8540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0BEAD4-A0E3-FF9C-B2F6-5E5BE35C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Достоинства </a:t>
            </a:r>
            <a:r>
              <a:rPr lang="en-US" dirty="0"/>
              <a:t>FUSE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6915C-88CC-C4B5-1208-F4C2D11C2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Разработка файловой системы без риска краша ядра</a:t>
            </a:r>
          </a:p>
          <a:p>
            <a:r>
              <a:rPr lang="ru-RU" dirty="0"/>
              <a:t>Можно писать на C, C++, Python, </a:t>
            </a:r>
            <a:r>
              <a:rPr lang="ru-RU" dirty="0" err="1"/>
              <a:t>Rust</a:t>
            </a:r>
            <a:r>
              <a:rPr lang="ru-RU" dirty="0"/>
              <a:t>, Go</a:t>
            </a:r>
          </a:p>
          <a:p>
            <a:r>
              <a:rPr lang="ru-RU" dirty="0"/>
              <a:t>ФС легко отлаживается, </a:t>
            </a:r>
            <a:r>
              <a:rPr lang="ru-RU" dirty="0" err="1"/>
              <a:t>логируется</a:t>
            </a:r>
            <a:r>
              <a:rPr lang="ru-RU" dirty="0"/>
              <a:t>, перезапускается</a:t>
            </a:r>
          </a:p>
          <a:p>
            <a:r>
              <a:rPr lang="ru-RU" dirty="0"/>
              <a:t>Полная изоляция — работает под обычным пользователем (не требует прав </a:t>
            </a:r>
            <a:r>
              <a:rPr lang="en-US" dirty="0"/>
              <a:t>root)</a:t>
            </a:r>
            <a:endParaRPr lang="ru-RU" dirty="0"/>
          </a:p>
          <a:p>
            <a:r>
              <a:rPr lang="ru-RU" dirty="0"/>
              <a:t>Кроссплатформенность: Linux, </a:t>
            </a:r>
            <a:r>
              <a:rPr lang="ru-RU" dirty="0" err="1"/>
              <a:t>macOS</a:t>
            </a:r>
            <a:r>
              <a:rPr lang="ru-RU" dirty="0"/>
              <a:t> (</a:t>
            </a:r>
            <a:r>
              <a:rPr lang="ru-RU" dirty="0" err="1"/>
              <a:t>osxfuse</a:t>
            </a:r>
            <a:r>
              <a:rPr lang="ru-RU" dirty="0"/>
              <a:t>), BSD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68908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6B9B-7F0A-B320-755A-687527F3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A1A28-0BB8-89F0-2455-1BD4FC44D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sshfs</a:t>
            </a:r>
            <a:r>
              <a:rPr lang="en-US" dirty="0"/>
              <a:t> — </a:t>
            </a:r>
            <a:r>
              <a:rPr lang="ru-RU" dirty="0"/>
              <a:t>монтирование удалённого сервера через </a:t>
            </a:r>
            <a:r>
              <a:rPr lang="en-US" dirty="0"/>
              <a:t>SSH</a:t>
            </a:r>
          </a:p>
          <a:p>
            <a:r>
              <a:rPr lang="en-US" b="1" dirty="0" err="1"/>
              <a:t>encfs</a:t>
            </a:r>
            <a:r>
              <a:rPr lang="en-US" b="1" dirty="0"/>
              <a:t> / </a:t>
            </a:r>
            <a:r>
              <a:rPr lang="en-US" b="1" dirty="0" err="1"/>
              <a:t>gocryptfs</a:t>
            </a:r>
            <a:r>
              <a:rPr lang="en-US" dirty="0"/>
              <a:t> — </a:t>
            </a:r>
            <a:r>
              <a:rPr lang="ru-RU" dirty="0"/>
              <a:t>шифрование каталогов</a:t>
            </a:r>
          </a:p>
          <a:p>
            <a:r>
              <a:rPr lang="en-US" b="1" dirty="0"/>
              <a:t>ntfs-3g</a:t>
            </a:r>
            <a:r>
              <a:rPr lang="en-US" dirty="0"/>
              <a:t> — </a:t>
            </a:r>
            <a:r>
              <a:rPr lang="ru-RU" dirty="0"/>
              <a:t>реализация </a:t>
            </a:r>
            <a:r>
              <a:rPr lang="en-US" dirty="0"/>
              <a:t>NTFS </a:t>
            </a:r>
            <a:r>
              <a:rPr lang="ru-RU" dirty="0"/>
              <a:t>в </a:t>
            </a:r>
            <a:r>
              <a:rPr lang="en-US" dirty="0" err="1"/>
              <a:t>userspace</a:t>
            </a:r>
            <a:endParaRPr lang="en-US" dirty="0"/>
          </a:p>
          <a:p>
            <a:r>
              <a:rPr lang="en-US" b="1" dirty="0" err="1"/>
              <a:t>bindfs</a:t>
            </a:r>
            <a:r>
              <a:rPr lang="en-US" dirty="0"/>
              <a:t> — </a:t>
            </a:r>
            <a:r>
              <a:rPr lang="ru-RU" dirty="0"/>
              <a:t>переназначение прав доступа и владельцев</a:t>
            </a:r>
          </a:p>
          <a:p>
            <a:r>
              <a:rPr lang="en-US" b="1" dirty="0" err="1"/>
              <a:t>Archivemount</a:t>
            </a:r>
            <a:r>
              <a:rPr lang="en-US" dirty="0"/>
              <a:t> — </a:t>
            </a:r>
            <a:r>
              <a:rPr lang="ru-RU" dirty="0"/>
              <a:t>монтирование </a:t>
            </a:r>
            <a:r>
              <a:rPr lang="en-US" dirty="0"/>
              <a:t>ZIP/ISO </a:t>
            </a:r>
            <a:r>
              <a:rPr lang="ru-RU" dirty="0"/>
              <a:t>как каталогов</a:t>
            </a:r>
          </a:p>
          <a:p>
            <a:r>
              <a:rPr lang="en-US" b="1" dirty="0" err="1"/>
              <a:t>rclone</a:t>
            </a:r>
            <a:r>
              <a:rPr lang="en-US" b="1" dirty="0"/>
              <a:t> mount</a:t>
            </a:r>
            <a:r>
              <a:rPr lang="en-US" dirty="0"/>
              <a:t> — </a:t>
            </a:r>
            <a:r>
              <a:rPr lang="ru-RU" dirty="0"/>
              <a:t>облачное хранилище как локальный диск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5507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19F9-6F9F-0FBB-9FE1-727FBB5C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приложения на базе </a:t>
            </a:r>
            <a:r>
              <a:rPr lang="en-US" dirty="0"/>
              <a:t>FUSE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2ECAC-ADF3-3799-6741-B977351EE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Ядро загружает модуль </a:t>
            </a:r>
            <a:r>
              <a:rPr lang="en-US" dirty="0"/>
              <a:t>fuse</a:t>
            </a:r>
          </a:p>
          <a:p>
            <a:r>
              <a:rPr lang="ru-RU" dirty="0"/>
              <a:t>Файловая система запускается как процесс: </a:t>
            </a:r>
            <a:r>
              <a:rPr lang="en-US" dirty="0" err="1"/>
              <a:t>myfs</a:t>
            </a:r>
            <a:r>
              <a:rPr lang="en-US" dirty="0"/>
              <a:t> --mount /</a:t>
            </a:r>
            <a:r>
              <a:rPr lang="en-US" dirty="0" err="1"/>
              <a:t>mnt</a:t>
            </a:r>
            <a:r>
              <a:rPr lang="en-US" dirty="0"/>
              <a:t>/x</a:t>
            </a:r>
          </a:p>
          <a:p>
            <a:r>
              <a:rPr lang="ru-RU" dirty="0"/>
              <a:t>Программа реализует </a:t>
            </a:r>
            <a:r>
              <a:rPr lang="en-US" dirty="0"/>
              <a:t>callbacks:</a:t>
            </a:r>
          </a:p>
          <a:p>
            <a:pPr lvl="1"/>
            <a:r>
              <a:rPr lang="en-US" dirty="0" err="1"/>
              <a:t>getattr</a:t>
            </a:r>
            <a:endParaRPr lang="en-US" dirty="0"/>
          </a:p>
          <a:p>
            <a:pPr lvl="1"/>
            <a:r>
              <a:rPr lang="en-US" dirty="0" err="1"/>
              <a:t>readdir</a:t>
            </a:r>
            <a:endParaRPr lang="en-US" dirty="0"/>
          </a:p>
          <a:p>
            <a:pPr lvl="1"/>
            <a:r>
              <a:rPr lang="en-US" dirty="0"/>
              <a:t>read/write</a:t>
            </a:r>
          </a:p>
          <a:p>
            <a:pPr lvl="1"/>
            <a:r>
              <a:rPr lang="en-US" dirty="0" err="1"/>
              <a:t>mkdir</a:t>
            </a:r>
            <a:r>
              <a:rPr lang="en-US" dirty="0"/>
              <a:t>/</a:t>
            </a:r>
            <a:r>
              <a:rPr lang="en-US" dirty="0" err="1"/>
              <a:t>rmdir</a:t>
            </a:r>
            <a:endParaRPr lang="en-US" dirty="0"/>
          </a:p>
          <a:p>
            <a:pPr lvl="1"/>
            <a:r>
              <a:rPr lang="en-US" dirty="0"/>
              <a:t>open/release</a:t>
            </a:r>
          </a:p>
          <a:p>
            <a:pPr lvl="1"/>
            <a:r>
              <a:rPr lang="ru-RU" dirty="0"/>
              <a:t>и др.</a:t>
            </a:r>
          </a:p>
          <a:p>
            <a:r>
              <a:rPr lang="ru-RU" dirty="0"/>
              <a:t>Взаимодействие через /</a:t>
            </a:r>
            <a:r>
              <a:rPr lang="en-US" dirty="0"/>
              <a:t>dev/fuse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53708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DEB1-1889-FD99-AFA8-3048CC54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FUSE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38D0-84B7-4C9D-99D3-9BD232DA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Медленнее, чем драйверы в ядре</a:t>
            </a:r>
          </a:p>
          <a:p>
            <a:r>
              <a:rPr lang="ru-RU" dirty="0"/>
              <a:t>Не подходит для высоконагруженных ФС</a:t>
            </a:r>
          </a:p>
          <a:p>
            <a:r>
              <a:rPr lang="ru-RU" dirty="0"/>
              <a:t>Зависит от контекста пользователя</a:t>
            </a:r>
          </a:p>
          <a:p>
            <a:r>
              <a:rPr lang="ru-RU" dirty="0"/>
              <a:t>Нужна поддержка в ядре (модуль </a:t>
            </a:r>
            <a:r>
              <a:rPr lang="ru-RU" dirty="0" err="1"/>
              <a:t>fuse</a:t>
            </a:r>
            <a:r>
              <a:rPr lang="ru-RU" dirty="0"/>
              <a:t>)</a:t>
            </a:r>
          </a:p>
          <a:p>
            <a:r>
              <a:rPr lang="ru-RU" dirty="0"/>
              <a:t>Не идеален для очень крупных файлов</a:t>
            </a:r>
          </a:p>
        </p:txBody>
      </p:sp>
    </p:spTree>
    <p:extLst>
      <p:ext uri="{BB962C8B-B14F-4D97-AF65-F5344CB8AC3E}">
        <p14:creationId xmlns:p14="http://schemas.microsoft.com/office/powerpoint/2010/main" val="186444590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972D6-FE46-BEBE-91E5-AFDD4620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FUSE особенно незаменим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C3C47-0DAC-2779-D009-018728057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Монтирование нестандартных хранилищ:</a:t>
            </a:r>
          </a:p>
          <a:p>
            <a:pPr lvl="1"/>
            <a:r>
              <a:rPr lang="ru-RU" dirty="0"/>
              <a:t>базы данных</a:t>
            </a:r>
          </a:p>
          <a:p>
            <a:pPr lvl="1"/>
            <a:r>
              <a:rPr lang="ru-RU" dirty="0"/>
              <a:t>сетевые API</a:t>
            </a:r>
          </a:p>
          <a:p>
            <a:pPr lvl="1"/>
            <a:r>
              <a:rPr lang="ru-RU" dirty="0"/>
              <a:t>виртуальные файловые системы</a:t>
            </a:r>
          </a:p>
          <a:p>
            <a:r>
              <a:rPr lang="ru-RU" dirty="0"/>
              <a:t>Эмуляция ФС для тестирования</a:t>
            </a:r>
          </a:p>
          <a:p>
            <a:r>
              <a:rPr lang="ru-RU" dirty="0"/>
              <a:t>ФС, которые невозможно реализовать в ядре</a:t>
            </a:r>
          </a:p>
          <a:p>
            <a:r>
              <a:rPr lang="ru-RU" dirty="0"/>
              <a:t>Прототипирование новых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3167724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FB8351-8175-6284-F3AE-34660C1DBAC6}"/>
              </a:ext>
            </a:extLst>
          </p:cNvPr>
          <p:cNvSpPr txBox="1"/>
          <p:nvPr/>
        </p:nvSpPr>
        <p:spPr>
          <a:xfrm>
            <a:off x="0" y="2056686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hello_getattr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hello_readdir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fuse_fill_dir_t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fuse_readdir_flags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fuse_operations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hello_ops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getattr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hello_getattr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.read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hello_readdir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fuse_main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hello_ops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5815D6-8C9C-9A70-8471-D28E7C21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</a:t>
            </a:r>
            <a:r>
              <a:rPr lang="en-US" dirty="0"/>
              <a:t>FUSE</a:t>
            </a:r>
          </a:p>
        </p:txBody>
      </p:sp>
    </p:spTree>
    <p:extLst>
      <p:ext uri="{BB962C8B-B14F-4D97-AF65-F5344CB8AC3E}">
        <p14:creationId xmlns:p14="http://schemas.microsoft.com/office/powerpoint/2010/main" val="80059447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1C50-4440-713B-02DF-C7048734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59CDA1-49B0-E6DF-3F73-473CBFB1BB5F}"/>
              </a:ext>
            </a:extLst>
          </p:cNvPr>
          <p:cNvSpPr txBox="1"/>
          <p:nvPr/>
        </p:nvSpPr>
        <p:spPr>
          <a:xfrm>
            <a:off x="0" y="1779687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Hello, FUSE!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Получение атрибутов файлов */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hello_getattr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(struct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S_IFDIR |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0755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st_nlink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S_IFREG |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0444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st_nlink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ENOENT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8F5F2-6FDE-DD34-77D2-286E7BB4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атрибутов файлов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88438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D45A-5F53-CA02-FFA8-DDC22732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38082-6DB3-9071-7DD2-31D8B53DB876}"/>
              </a:ext>
            </a:extLst>
          </p:cNvPr>
          <p:cNvSpPr txBox="1"/>
          <p:nvPr/>
        </p:nvSpPr>
        <p:spPr>
          <a:xfrm>
            <a:off x="0" y="0"/>
            <a:ext cx="12192000" cy="2280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Hello, FUSE!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Получение атрибутов файлов */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hello_getattr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(struct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S_IFDIR |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0755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st_nlink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S_IFREG |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0444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st_nlink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ENOENT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каталога "/" */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hello_readdir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fuse_fill_dir_t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fuse_readdir_flags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ENOENT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fuse_fill_dir_flags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fuse_fill_dir_flags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fuse_fill_dir_flags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файла */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ENOENT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fuse_operations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hello_ops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getattr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hello_getattr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.read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hello_readdir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fuse_main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hello_ops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19578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E1F8-6209-16BA-2A90-F9621655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42099A-C9D0-5978-6D38-C30A0679DFA6}"/>
              </a:ext>
            </a:extLst>
          </p:cNvPr>
          <p:cNvSpPr txBox="1"/>
          <p:nvPr/>
        </p:nvSpPr>
        <p:spPr>
          <a:xfrm>
            <a:off x="838200" y="1720840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каталога "/" */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hello_readdir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fuse_fill_dir_t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fuse_readdir_flags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ENOENT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fuse_fill_dir_flags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fuse_fill_dir_flags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fuse_fill_dir_flags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DCE4D-A899-215E-EEB3-7EB95E65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каталога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77292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15A8-FC4C-75B7-6DB8-9553DC7E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78DC32-46E0-2D82-3969-A13587B495BA}"/>
              </a:ext>
            </a:extLst>
          </p:cNvPr>
          <p:cNvSpPr txBox="1"/>
          <p:nvPr/>
        </p:nvSpPr>
        <p:spPr>
          <a:xfrm>
            <a:off x="838200" y="1690688"/>
            <a:ext cx="108661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hello_read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fuse_file_info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ENOENT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35E6B-5DE6-03F1-6710-F81238D2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файла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4846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598FCA-D682-5661-CD97-A5B4F74C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и оптимизация файловых систем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05051-1547-031F-5BF1-9D2833E66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9510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A762-75AE-8945-40E0-590D41DE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задачи управления ФС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DA766-59E9-E7FB-F74C-A49CB85A7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Выбор размера блока</a:t>
            </a:r>
          </a:p>
          <a:p>
            <a:r>
              <a:rPr lang="ru-RU" dirty="0"/>
              <a:t>Отслеживание свободного места</a:t>
            </a:r>
          </a:p>
          <a:p>
            <a:r>
              <a:rPr lang="ru-RU" dirty="0"/>
              <a:t>Минимизация лишних I/O</a:t>
            </a:r>
          </a:p>
          <a:p>
            <a:r>
              <a:rPr lang="ru-RU" dirty="0"/>
              <a:t>Ограничения пользователей (</a:t>
            </a:r>
            <a:r>
              <a:rPr lang="ru-RU" dirty="0" err="1"/>
              <a:t>quotas</a:t>
            </a:r>
            <a:r>
              <a:rPr lang="ru-RU" dirty="0"/>
              <a:t>)</a:t>
            </a:r>
          </a:p>
          <a:p>
            <a:r>
              <a:rPr lang="ru-RU" dirty="0"/>
              <a:t>Баланс производительности и эффективности хранения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8467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1E67-7B57-3F02-1509-8729B427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блока – фундаментальный компромисс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9B98E-ED12-E444-814F-67C8F41FD0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Фундаментальный компромисс</a:t>
            </a:r>
          </a:p>
          <a:p>
            <a:pPr lvl="1"/>
            <a:r>
              <a:rPr lang="ru-RU" dirty="0"/>
              <a:t>Малые блоки – экономия места</a:t>
            </a:r>
          </a:p>
          <a:p>
            <a:pPr lvl="1"/>
            <a:r>
              <a:rPr lang="ru-RU" dirty="0"/>
              <a:t>Крупные блоки – высокая скорость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/>
              <a:t>4 </a:t>
            </a:r>
            <a:r>
              <a:rPr lang="en-US" dirty="0"/>
              <a:t>KB </a:t>
            </a:r>
            <a:r>
              <a:rPr lang="ru-RU" dirty="0"/>
              <a:t>файлы →</a:t>
            </a:r>
          </a:p>
          <a:p>
            <a:pPr lvl="2"/>
            <a:r>
              <a:rPr lang="ru-RU" dirty="0"/>
              <a:t>1 </a:t>
            </a:r>
            <a:r>
              <a:rPr lang="en-US" dirty="0"/>
              <a:t>KB </a:t>
            </a:r>
            <a:r>
              <a:rPr lang="ru-RU" dirty="0"/>
              <a:t>блок: 4 блока/файл</a:t>
            </a:r>
          </a:p>
          <a:p>
            <a:pPr lvl="2"/>
            <a:r>
              <a:rPr lang="ru-RU" dirty="0"/>
              <a:t>2 </a:t>
            </a:r>
            <a:r>
              <a:rPr lang="en-US" dirty="0"/>
              <a:t>KB </a:t>
            </a:r>
            <a:r>
              <a:rPr lang="ru-RU" dirty="0"/>
              <a:t>блок: 2 блока/файл</a:t>
            </a:r>
          </a:p>
          <a:p>
            <a:pPr lvl="2"/>
            <a:r>
              <a:rPr lang="ru-RU" dirty="0"/>
              <a:t>4 </a:t>
            </a:r>
            <a:r>
              <a:rPr lang="en-US" dirty="0"/>
              <a:t>KB </a:t>
            </a:r>
            <a:r>
              <a:rPr lang="ru-RU" dirty="0"/>
              <a:t>блок: 1 блок/файл</a:t>
            </a:r>
          </a:p>
          <a:p>
            <a:pPr lvl="2"/>
            <a:r>
              <a:rPr lang="ru-RU" dirty="0"/>
              <a:t>8 </a:t>
            </a:r>
            <a:r>
              <a:rPr lang="en-US" dirty="0"/>
              <a:t>KB </a:t>
            </a:r>
            <a:r>
              <a:rPr lang="ru-RU" dirty="0"/>
              <a:t>блок: 50% </a:t>
            </a:r>
            <a:r>
              <a:rPr lang="en-US" dirty="0"/>
              <a:t>waste</a:t>
            </a:r>
          </a:p>
          <a:p>
            <a:pPr lvl="2"/>
            <a:r>
              <a:rPr lang="en-US" dirty="0"/>
              <a:t>16 KB </a:t>
            </a:r>
            <a:r>
              <a:rPr lang="ru-RU" dirty="0"/>
              <a:t>блок: 25% </a:t>
            </a:r>
            <a:r>
              <a:rPr lang="en-US" dirty="0"/>
              <a:t>waste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B47C68-2FA7-6F79-CA74-23A522F29A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6019800" cy="348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1307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3432-7171-15C5-AB58-E6AD5555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свободными блоками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1E3D0-0774-503D-BA4D-3B8F649A6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Метод 1: связный список свободных блоков</a:t>
            </a:r>
          </a:p>
          <a:p>
            <a:pPr lvl="1"/>
            <a:r>
              <a:rPr lang="ru-RU" dirty="0"/>
              <a:t>Каждый блок содержит номера других свободных блоков</a:t>
            </a:r>
          </a:p>
          <a:p>
            <a:pPr lvl="2"/>
            <a:r>
              <a:rPr lang="ru-RU" dirty="0"/>
              <a:t>В конце блока хранится ссылка на следующий свободный блок</a:t>
            </a:r>
          </a:p>
          <a:p>
            <a:pPr lvl="1"/>
            <a:r>
              <a:rPr lang="ru-RU" dirty="0"/>
              <a:t>Простая реализация</a:t>
            </a:r>
          </a:p>
          <a:p>
            <a:pPr lvl="1"/>
            <a:r>
              <a:rPr lang="ru-RU" dirty="0"/>
              <a:t>Занимает много места</a:t>
            </a:r>
          </a:p>
          <a:p>
            <a:pPr lvl="1"/>
            <a:r>
              <a:rPr lang="ru-RU" dirty="0"/>
              <a:t>Плохо масштабируется (32 бита на каждую запись)</a:t>
            </a:r>
          </a:p>
          <a:p>
            <a:r>
              <a:rPr lang="ru-RU" dirty="0"/>
              <a:t>Метод 2: битовая карта</a:t>
            </a:r>
          </a:p>
          <a:p>
            <a:pPr lvl="1"/>
            <a:r>
              <a:rPr lang="ru-RU" dirty="0"/>
              <a:t>Один бит = один блок</a:t>
            </a:r>
          </a:p>
          <a:p>
            <a:pPr lvl="1"/>
            <a:r>
              <a:rPr lang="ru-RU" dirty="0"/>
              <a:t>Очень компактно</a:t>
            </a:r>
            <a:endParaRPr lang="en-US" dirty="0"/>
          </a:p>
          <a:p>
            <a:pPr lvl="2"/>
            <a:r>
              <a:rPr lang="en-US" dirty="0"/>
              <a:t>1TB </a:t>
            </a:r>
            <a:r>
              <a:rPr lang="ru-RU" dirty="0"/>
              <a:t>диск содержит 1 млрд блоков по 1 </a:t>
            </a:r>
            <a:r>
              <a:rPr lang="en-US" dirty="0" err="1"/>
              <a:t>Kb</a:t>
            </a:r>
            <a:r>
              <a:rPr lang="en-US" dirty="0"/>
              <a:t>.</a:t>
            </a:r>
            <a:r>
              <a:rPr lang="ru-RU" dirty="0"/>
              <a:t> Для хранения надо 125 </a:t>
            </a:r>
            <a:r>
              <a:rPr lang="en-US" dirty="0"/>
              <a:t>MB</a:t>
            </a:r>
            <a:endParaRPr lang="ru-RU" dirty="0"/>
          </a:p>
          <a:p>
            <a:pPr lvl="1"/>
            <a:r>
              <a:rPr lang="ru-RU" dirty="0"/>
              <a:t>Можно быстро искать последовательности свободных блоков</a:t>
            </a:r>
          </a:p>
          <a:p>
            <a:pPr lvl="1"/>
            <a:r>
              <a:rPr lang="ru-RU" dirty="0"/>
              <a:t>Легко держать в памяти (или в </a:t>
            </a:r>
            <a:r>
              <a:rPr lang="ru-RU" dirty="0" err="1"/>
              <a:t>swap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31414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1D7D-9352-78E4-315B-2D149B5F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Free-List </a:t>
            </a:r>
            <a:r>
              <a:rPr lang="ru-RU" dirty="0"/>
              <a:t>и </a:t>
            </a:r>
            <a:r>
              <a:rPr lang="en-US" dirty="0"/>
              <a:t>Bitmap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FFE3D6-09A3-4F34-5938-33FA5DFBC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60568" y="1825625"/>
            <a:ext cx="60708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1482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6595-E632-35DA-8120-A3BEA2B1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</a:t>
            </a:r>
            <a:r>
              <a:rPr lang="en-US" dirty="0"/>
              <a:t> free-list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C47C7-A728-69DA-62DE-04760672C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98571" cy="4351338"/>
          </a:xfrm>
        </p:spPr>
        <p:txBody>
          <a:bodyPr/>
          <a:lstStyle/>
          <a:p>
            <a:r>
              <a:rPr lang="ru-RU" dirty="0"/>
              <a:t>Проблема: частые записи блока </a:t>
            </a:r>
            <a:r>
              <a:rPr lang="ru-RU" dirty="0" err="1"/>
              <a:t>pointer</a:t>
            </a:r>
            <a:r>
              <a:rPr lang="ru-RU" dirty="0"/>
              <a:t> </a:t>
            </a:r>
            <a:r>
              <a:rPr lang="ru-RU" dirty="0" err="1"/>
              <a:t>list</a:t>
            </a:r>
            <a:endParaRPr lang="ru-RU" dirty="0"/>
          </a:p>
          <a:p>
            <a:r>
              <a:rPr lang="ru-RU" dirty="0"/>
              <a:t>Решение: держать </a:t>
            </a:r>
            <a:r>
              <a:rPr lang="ru-RU" dirty="0" err="1"/>
              <a:t>pointer</a:t>
            </a:r>
            <a:r>
              <a:rPr lang="ru-RU" dirty="0"/>
              <a:t> </a:t>
            </a:r>
            <a:r>
              <a:rPr lang="ru-RU" dirty="0" err="1"/>
              <a:t>block</a:t>
            </a:r>
            <a:r>
              <a:rPr lang="ru-RU" dirty="0"/>
              <a:t> в памяти наполовину заполненным</a:t>
            </a:r>
          </a:p>
          <a:p>
            <a:pPr lvl="1"/>
            <a:r>
              <a:rPr lang="ru-RU" dirty="0"/>
              <a:t>Уменьшает I/O при работе с временными файлами</a:t>
            </a:r>
          </a:p>
          <a:p>
            <a:pPr lvl="1"/>
            <a:r>
              <a:rPr lang="ru-RU" dirty="0"/>
              <a:t>Меньше переполнений и недозагрузок блока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AB9F1B-2755-C867-E641-83C6C881D1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060668"/>
            <a:ext cx="5957455" cy="291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4851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99D5-8103-E236-A281-59CEAAAE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Bitmap </a:t>
            </a:r>
            <a:r>
              <a:rPr lang="ru-RU" dirty="0"/>
              <a:t>в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53AA7-9CB3-3BE9-FFD0-F5CF8032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Хранится по одной странице</a:t>
            </a:r>
          </a:p>
          <a:p>
            <a:r>
              <a:rPr lang="ru-RU" dirty="0"/>
              <a:t>Дисковые обращения нужны только при полном заполнении / очистке страницы</a:t>
            </a:r>
          </a:p>
          <a:p>
            <a:r>
              <a:rPr lang="ru-RU" dirty="0" err="1"/>
              <a:t>Кластеризует</a:t>
            </a:r>
            <a:r>
              <a:rPr lang="ru-RU" dirty="0"/>
              <a:t> аллокации → блоки в ФС ближе друг к другу</a:t>
            </a:r>
          </a:p>
          <a:p>
            <a:r>
              <a:rPr lang="ru-RU" dirty="0"/>
              <a:t>Меньше </a:t>
            </a:r>
            <a:r>
              <a:rPr lang="ru-RU" dirty="0" err="1"/>
              <a:t>seek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1911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24A1-645F-1F81-56C7-CE6E2664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Дисковые квоты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A71B-FF65-C224-A06D-F2F7245E9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Зачем нужны квоты?</a:t>
            </a:r>
          </a:p>
          <a:p>
            <a:pPr lvl="1"/>
            <a:r>
              <a:rPr lang="ru-RU" dirty="0"/>
              <a:t>Ограничивают использование диска пользователями</a:t>
            </a:r>
          </a:p>
          <a:p>
            <a:pPr lvl="1"/>
            <a:r>
              <a:rPr lang="ru-RU" dirty="0"/>
              <a:t>Защищает систему от заполнения диска одним пользователем</a:t>
            </a:r>
          </a:p>
          <a:p>
            <a:r>
              <a:rPr lang="ru-RU" dirty="0"/>
              <a:t>Контроль:</a:t>
            </a:r>
          </a:p>
          <a:p>
            <a:pPr lvl="1"/>
            <a:r>
              <a:rPr lang="ru-RU" dirty="0"/>
              <a:t>количества файлов</a:t>
            </a:r>
          </a:p>
          <a:p>
            <a:pPr lvl="1"/>
            <a:r>
              <a:rPr lang="ru-RU" dirty="0"/>
              <a:t>объёма используемых блоков</a:t>
            </a:r>
          </a:p>
          <a:p>
            <a:pPr lvl="1"/>
            <a:r>
              <a:rPr lang="ru-RU" dirty="0" err="1"/>
              <a:t>soft</a:t>
            </a:r>
            <a:r>
              <a:rPr lang="ru-RU" dirty="0"/>
              <a:t>/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limits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97091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2062-FC7B-4067-CCD0-60735B68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квот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EB6B5-D242-7728-5BFA-67290A9C90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таблице 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files</a:t>
            </a:r>
            <a:r>
              <a:rPr lang="ru-RU" dirty="0"/>
              <a:t> хранится указатель на запись квоты</a:t>
            </a:r>
          </a:p>
          <a:p>
            <a:r>
              <a:rPr lang="ru-RU" dirty="0"/>
              <a:t>При увеличении размера файла:</a:t>
            </a:r>
          </a:p>
          <a:p>
            <a:pPr lvl="1"/>
            <a:r>
              <a:rPr lang="ru-RU" dirty="0"/>
              <a:t>увеличивается счётчик блоков</a:t>
            </a:r>
          </a:p>
          <a:p>
            <a:pPr lvl="1"/>
            <a:r>
              <a:rPr lang="ru-RU" dirty="0"/>
              <a:t>проверяются лимиты</a:t>
            </a:r>
          </a:p>
          <a:p>
            <a:r>
              <a:rPr lang="ru-RU" dirty="0" err="1"/>
              <a:t>soft</a:t>
            </a:r>
            <a:r>
              <a:rPr lang="ru-RU" dirty="0"/>
              <a:t> </a:t>
            </a:r>
            <a:r>
              <a:rPr lang="ru-RU" dirty="0" err="1"/>
              <a:t>limit</a:t>
            </a:r>
            <a:r>
              <a:rPr lang="ru-RU" dirty="0"/>
              <a:t> можно превышать временно</a:t>
            </a:r>
          </a:p>
          <a:p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limit</a:t>
            </a:r>
            <a:r>
              <a:rPr lang="ru-RU" dirty="0"/>
              <a:t> — нельзя</a:t>
            </a:r>
          </a:p>
          <a:p>
            <a:r>
              <a:rPr lang="ru-RU" dirty="0"/>
              <a:t>При входе в систему выдаётся предупреждение, если </a:t>
            </a:r>
            <a:r>
              <a:rPr lang="ru-RU" dirty="0" err="1"/>
              <a:t>soft</a:t>
            </a:r>
            <a:r>
              <a:rPr lang="ru-RU" dirty="0"/>
              <a:t> </a:t>
            </a:r>
            <a:r>
              <a:rPr lang="en-US" dirty="0"/>
              <a:t>limit</a:t>
            </a:r>
            <a:r>
              <a:rPr lang="ru-RU" dirty="0"/>
              <a:t> превышен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08CB535A-DC09-3FD6-057E-A09CC9CDBB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6089852" cy="378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777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F6E4DE-5EE8-EE1C-4F67-B62640AB5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Резервное копирование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427ED3-08D6-2D14-77E3-C6E7C9269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1682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46E002-FBDC-8F98-86B7-CF046F41D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резервные копии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37389B-E7F0-8CB2-11FF-DF6AE6C49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Потеря файловой системы критичнее, чем потеря компьютера</a:t>
            </a:r>
          </a:p>
          <a:p>
            <a:r>
              <a:rPr lang="ru-RU" dirty="0"/>
              <a:t>Две цели бэкапа:</a:t>
            </a:r>
          </a:p>
          <a:p>
            <a:pPr lvl="1"/>
            <a:r>
              <a:rPr lang="ru-RU" dirty="0"/>
              <a:t>восстановление после катастрофы</a:t>
            </a:r>
          </a:p>
          <a:p>
            <a:pPr lvl="1"/>
            <a:r>
              <a:rPr lang="ru-RU" dirty="0"/>
              <a:t>исправление ошибок пользователя</a:t>
            </a:r>
          </a:p>
          <a:p>
            <a:r>
              <a:rPr lang="ru-RU" dirty="0"/>
              <a:t>Типичные носители: диски, ленты (дёшево — $10/ТБ)</a:t>
            </a:r>
          </a:p>
          <a:p>
            <a:r>
              <a:rPr lang="ru-RU" dirty="0"/>
              <a:t>Бэкап — не тривиальная задача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01795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B253-6DD8-3BD4-D104-FDB009FF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учитывать при организации бэкапов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2EE47-ECCF-AC23-3317-9C7B77D3F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Какие директории копировать (исключения: /</a:t>
            </a:r>
            <a:r>
              <a:rPr lang="ru-RU" dirty="0" err="1"/>
              <a:t>dev</a:t>
            </a:r>
            <a:r>
              <a:rPr lang="ru-RU" dirty="0"/>
              <a:t>, </a:t>
            </a:r>
            <a:r>
              <a:rPr lang="ru-RU" dirty="0" err="1"/>
              <a:t>tmp</a:t>
            </a:r>
            <a:r>
              <a:rPr lang="ru-RU" dirty="0"/>
              <a:t>, </a:t>
            </a:r>
            <a:r>
              <a:rPr lang="ru-RU" dirty="0" err="1"/>
              <a:t>swap</a:t>
            </a:r>
            <a:r>
              <a:rPr lang="ru-RU" dirty="0"/>
              <a:t>)</a:t>
            </a:r>
          </a:p>
          <a:p>
            <a:r>
              <a:rPr lang="ru-RU" dirty="0"/>
              <a:t>Инкрементальные копии</a:t>
            </a:r>
          </a:p>
          <a:p>
            <a:r>
              <a:rPr lang="ru-RU" dirty="0"/>
              <a:t>Компрессия данных</a:t>
            </a:r>
          </a:p>
          <a:p>
            <a:r>
              <a:rPr lang="ru-RU" dirty="0"/>
              <a:t>Проблемы активной файловой системы</a:t>
            </a:r>
          </a:p>
          <a:p>
            <a:r>
              <a:rPr lang="ru-RU" dirty="0"/>
              <a:t>Безопасность носителей (офлайн хранение, защита от краж)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723985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F898-3EA9-AC73-DEE0-8EC7CF21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Физический </a:t>
            </a:r>
            <a:r>
              <a:rPr lang="ru-RU" dirty="0" err="1"/>
              <a:t>dump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C1D40-D178-8403-4CBB-A3BC40F4B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Копирование всех блоков диска</a:t>
            </a:r>
          </a:p>
          <a:p>
            <a:r>
              <a:rPr lang="ru-RU" dirty="0"/>
              <a:t>Очень простая реализация</a:t>
            </a:r>
          </a:p>
          <a:p>
            <a:r>
              <a:rPr lang="ru-RU" dirty="0"/>
              <a:t>Очень высокая скорость</a:t>
            </a:r>
          </a:p>
          <a:p>
            <a:r>
              <a:rPr lang="ru-RU" dirty="0"/>
              <a:t>Проблемы:</a:t>
            </a:r>
          </a:p>
          <a:p>
            <a:pPr lvl="1"/>
            <a:r>
              <a:rPr lang="ru-RU" dirty="0"/>
              <a:t>невозможность выбрать каталоги</a:t>
            </a:r>
          </a:p>
          <a:p>
            <a:pPr lvl="1"/>
            <a:r>
              <a:rPr lang="ru-RU" dirty="0"/>
              <a:t>невозможность восстановить отдельные файлы</a:t>
            </a:r>
          </a:p>
          <a:p>
            <a:pPr lvl="1"/>
            <a:r>
              <a:rPr lang="ru-RU" dirty="0"/>
              <a:t>необходимость учитывать </a:t>
            </a:r>
            <a:r>
              <a:rPr lang="ru-RU" dirty="0" err="1"/>
              <a:t>bad</a:t>
            </a:r>
            <a:r>
              <a:rPr lang="ru-RU" dirty="0"/>
              <a:t> </a:t>
            </a:r>
            <a:r>
              <a:rPr lang="ru-RU" dirty="0" err="1"/>
              <a:t>blocks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6335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5476-AD03-9163-64BA-92E50701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Логический </a:t>
            </a:r>
            <a:r>
              <a:rPr lang="ru-RU" dirty="0" err="1"/>
              <a:t>dump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DDE-16FB-4059-DF56-19871FA04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Рекурсивный обход дерева каталогов</a:t>
            </a:r>
          </a:p>
          <a:p>
            <a:r>
              <a:rPr lang="ru-RU" dirty="0"/>
              <a:t>Копируются только изменённые файлы</a:t>
            </a:r>
          </a:p>
          <a:p>
            <a:r>
              <a:rPr lang="ru-RU" dirty="0"/>
              <a:t>Всегда копируются каталоги на пути к изменённым файлам</a:t>
            </a:r>
          </a:p>
          <a:p>
            <a:r>
              <a:rPr lang="ru-RU" dirty="0"/>
              <a:t>Удобно для восстановления</a:t>
            </a:r>
          </a:p>
          <a:p>
            <a:r>
              <a:rPr lang="ru-RU" dirty="0"/>
              <a:t>Используется большинством UNIX систем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3482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C5BB-3780-F52B-39E4-AB17ECF3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логического дампа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44EB7-2F07-41DC-2669-1BB00F75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Поиск всех изменённых файлов и всех каталогов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Удаление каталогов без изменённых элементов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Запись каталогов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Запись файлов</a:t>
            </a:r>
          </a:p>
        </p:txBody>
      </p:sp>
    </p:spTree>
    <p:extLst>
      <p:ext uri="{BB962C8B-B14F-4D97-AF65-F5344CB8AC3E}">
        <p14:creationId xmlns:p14="http://schemas.microsoft.com/office/powerpoint/2010/main" val="86502065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12C9-7659-75C8-920A-64DDD5D49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Проблемы и особенности восстановления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DF99F-DD11-2F2B-DF2F-C6FAFD43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Восстановление свободных блоков</a:t>
            </a:r>
          </a:p>
          <a:p>
            <a:r>
              <a:rPr lang="ru-RU" dirty="0"/>
              <a:t>Работа с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links</a:t>
            </a:r>
            <a:endParaRPr lang="ru-RU" dirty="0"/>
          </a:p>
          <a:p>
            <a:r>
              <a:rPr lang="ru-RU" dirty="0"/>
              <a:t>«Разрежённые» файлы (</a:t>
            </a:r>
            <a:r>
              <a:rPr lang="ru-RU" dirty="0" err="1"/>
              <a:t>sparse</a:t>
            </a:r>
            <a:r>
              <a:rPr lang="ru-RU" dirty="0"/>
              <a:t> </a:t>
            </a:r>
            <a:r>
              <a:rPr lang="ru-RU" dirty="0" err="1"/>
              <a:t>files</a:t>
            </a:r>
            <a:r>
              <a:rPr lang="ru-RU" dirty="0"/>
              <a:t>)</a:t>
            </a:r>
          </a:p>
          <a:p>
            <a:r>
              <a:rPr lang="ru-RU" dirty="0"/>
              <a:t>Исключение </a:t>
            </a:r>
            <a:r>
              <a:rPr lang="ru-RU" dirty="0" err="1"/>
              <a:t>спецфайлов</a:t>
            </a:r>
            <a:r>
              <a:rPr lang="ru-RU" dirty="0"/>
              <a:t> (</a:t>
            </a:r>
            <a:r>
              <a:rPr lang="ru-RU" dirty="0" err="1"/>
              <a:t>device</a:t>
            </a:r>
            <a:r>
              <a:rPr lang="ru-RU" dirty="0"/>
              <a:t> </a:t>
            </a:r>
            <a:r>
              <a:rPr lang="ru-RU" dirty="0" err="1"/>
              <a:t>files</a:t>
            </a:r>
            <a:r>
              <a:rPr lang="ru-RU" dirty="0"/>
              <a:t>, </a:t>
            </a:r>
            <a:r>
              <a:rPr lang="ru-RU" dirty="0" err="1"/>
              <a:t>pipes</a:t>
            </a:r>
            <a:r>
              <a:rPr lang="ru-RU" dirty="0"/>
              <a:t>)</a:t>
            </a:r>
          </a:p>
          <a:p>
            <a:r>
              <a:rPr lang="ru-RU" dirty="0"/>
              <a:t>Последовательное применение </a:t>
            </a:r>
            <a:r>
              <a:rPr lang="ru-RU" dirty="0" err="1"/>
              <a:t>full</a:t>
            </a:r>
            <a:r>
              <a:rPr lang="ru-RU" dirty="0"/>
              <a:t> + </a:t>
            </a:r>
            <a:r>
              <a:rPr lang="ru-RU" dirty="0" err="1"/>
              <a:t>incrementals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990166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A121-5022-B2FF-2920-2644D477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Резервирование в </a:t>
            </a:r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821B-6304-F5CB-2E2B-B210E3E0E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Встроенные механизмы:</a:t>
            </a:r>
          </a:p>
          <a:p>
            <a:pPr lvl="1"/>
            <a:r>
              <a:rPr lang="en-US" i="1" dirty="0"/>
              <a:t>Windows Backup and Restore</a:t>
            </a:r>
            <a:endParaRPr lang="en-US" dirty="0"/>
          </a:p>
          <a:p>
            <a:pPr lvl="1"/>
            <a:r>
              <a:rPr lang="en-US" i="1" dirty="0"/>
              <a:t>File History</a:t>
            </a:r>
            <a:endParaRPr lang="en-US" dirty="0"/>
          </a:p>
          <a:p>
            <a:pPr lvl="1"/>
            <a:r>
              <a:rPr lang="en-US" i="1" dirty="0"/>
              <a:t>Volume Shadow Copy (VSS)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39516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C1A1-BF6B-5E1F-7EF9-7A82958E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нужно учитывать в </a:t>
            </a:r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6A91F-9B71-2E34-A6D0-2207E14E2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Какие каталоги копировать:</a:t>
            </a:r>
          </a:p>
          <a:p>
            <a:pPr lvl="1"/>
            <a:r>
              <a:rPr lang="ru-RU" dirty="0"/>
              <a:t>исключать </a:t>
            </a:r>
            <a:r>
              <a:rPr lang="ru-RU" i="1" dirty="0"/>
              <a:t>pagefile.sys</a:t>
            </a:r>
            <a:r>
              <a:rPr lang="ru-RU" dirty="0"/>
              <a:t>, </a:t>
            </a:r>
            <a:r>
              <a:rPr lang="ru-RU" i="1" dirty="0"/>
              <a:t>hiberfil.sys</a:t>
            </a:r>
            <a:r>
              <a:rPr lang="ru-RU" dirty="0"/>
              <a:t>, временные каталоги</a:t>
            </a:r>
          </a:p>
          <a:p>
            <a:r>
              <a:rPr lang="ru-RU" dirty="0"/>
              <a:t>Пользовательские данные → </a:t>
            </a:r>
            <a:r>
              <a:rPr lang="ru-RU" i="1" dirty="0"/>
              <a:t>C:\Users\…</a:t>
            </a:r>
            <a:endParaRPr lang="ru-RU" dirty="0"/>
          </a:p>
          <a:p>
            <a:r>
              <a:rPr lang="ru-RU" dirty="0"/>
              <a:t>Системные файлы можно восстановить из установочного образа</a:t>
            </a:r>
          </a:p>
          <a:p>
            <a:r>
              <a:rPr lang="ru-RU" dirty="0"/>
              <a:t>Две стратегии:</a:t>
            </a:r>
          </a:p>
          <a:p>
            <a:pPr lvl="1"/>
            <a:r>
              <a:rPr lang="ru-RU" dirty="0"/>
              <a:t>резервирование пользовательских данных</a:t>
            </a:r>
          </a:p>
          <a:p>
            <a:pPr lvl="1"/>
            <a:r>
              <a:rPr lang="ru-RU" dirty="0"/>
              <a:t>резервирование всего системного тома</a:t>
            </a:r>
          </a:p>
        </p:txBody>
      </p:sp>
    </p:spTree>
    <p:extLst>
      <p:ext uri="{BB962C8B-B14F-4D97-AF65-F5344CB8AC3E}">
        <p14:creationId xmlns:p14="http://schemas.microsoft.com/office/powerpoint/2010/main" val="421539283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4DEB-919B-1B9C-DA6F-ADFF54BB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VSS – </a:t>
            </a:r>
            <a:r>
              <a:rPr lang="ru-RU" dirty="0"/>
              <a:t>основа бэкапов </a:t>
            </a:r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200E5-CECB-62C3-2862-DD5E46621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Volume Shadow Copy Service</a:t>
            </a:r>
            <a:endParaRPr lang="en-US" dirty="0"/>
          </a:p>
          <a:p>
            <a:r>
              <a:rPr lang="ru-RU" dirty="0"/>
              <a:t>Делает </a:t>
            </a:r>
            <a:r>
              <a:rPr lang="ru-RU" i="1" dirty="0"/>
              <a:t>моментальные снимки</a:t>
            </a:r>
            <a:r>
              <a:rPr lang="ru-RU" dirty="0"/>
              <a:t> (</a:t>
            </a:r>
            <a:r>
              <a:rPr lang="en-US" dirty="0"/>
              <a:t>snapshots) </a:t>
            </a:r>
            <a:r>
              <a:rPr lang="ru-RU" dirty="0"/>
              <a:t>тома</a:t>
            </a:r>
          </a:p>
          <a:p>
            <a:r>
              <a:rPr lang="ru-RU" dirty="0"/>
              <a:t>Позволяет выполнять бэкап работающей системы</a:t>
            </a:r>
          </a:p>
          <a:p>
            <a:r>
              <a:rPr lang="ru-RU" dirty="0"/>
              <a:t>Проблема «консистентности» решена:</a:t>
            </a:r>
          </a:p>
          <a:p>
            <a:pPr lvl="1"/>
            <a:r>
              <a:rPr lang="ru-RU" dirty="0"/>
              <a:t>приложение → </a:t>
            </a:r>
            <a:r>
              <a:rPr lang="en-US" dirty="0"/>
              <a:t>VSS Writer</a:t>
            </a:r>
          </a:p>
          <a:p>
            <a:pPr lvl="1"/>
            <a:r>
              <a:rPr lang="ru-RU" dirty="0"/>
              <a:t>сервис → </a:t>
            </a:r>
            <a:r>
              <a:rPr lang="en-US" dirty="0"/>
              <a:t>VSS Service</a:t>
            </a:r>
          </a:p>
          <a:p>
            <a:pPr lvl="1"/>
            <a:r>
              <a:rPr lang="ru-RU" dirty="0"/>
              <a:t>провайдер хранения → </a:t>
            </a:r>
            <a:r>
              <a:rPr lang="en-US" dirty="0"/>
              <a:t>VSS Provider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31236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E3AB-4D1B-1F27-AFEF-159F714D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Инкрементальные копии в </a:t>
            </a:r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C158C-71A3-F7A4-D2EF-62139DD33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3 уровня </a:t>
            </a:r>
            <a:r>
              <a:rPr lang="ru-RU" dirty="0" err="1"/>
              <a:t>инкрементальности</a:t>
            </a:r>
            <a:r>
              <a:rPr lang="ru-RU" dirty="0"/>
              <a:t>:</a:t>
            </a:r>
          </a:p>
          <a:p>
            <a:r>
              <a:rPr lang="ru-RU" dirty="0"/>
              <a:t>File </a:t>
            </a:r>
            <a:r>
              <a:rPr lang="ru-RU" dirty="0" err="1"/>
              <a:t>History</a:t>
            </a:r>
            <a:r>
              <a:rPr lang="ru-RU" dirty="0"/>
              <a:t> — инкрементальный бэкап пользовательских данных</a:t>
            </a:r>
          </a:p>
          <a:p>
            <a:r>
              <a:rPr lang="ru-RU" dirty="0"/>
              <a:t>Windows </a:t>
            </a:r>
            <a:r>
              <a:rPr lang="ru-RU" dirty="0" err="1"/>
              <a:t>Backup</a:t>
            </a:r>
            <a:r>
              <a:rPr lang="ru-RU" dirty="0"/>
              <a:t> — инкрементальные </a:t>
            </a:r>
            <a:r>
              <a:rPr lang="ru-RU" dirty="0" err="1"/>
              <a:t>томовые</a:t>
            </a:r>
            <a:r>
              <a:rPr lang="ru-RU" dirty="0"/>
              <a:t> копии</a:t>
            </a:r>
          </a:p>
          <a:p>
            <a:r>
              <a:rPr lang="ru-RU" dirty="0"/>
              <a:t>Бэкап хранит </a:t>
            </a:r>
            <a:r>
              <a:rPr lang="ru-RU" dirty="0" err="1"/>
              <a:t>full</a:t>
            </a:r>
            <a:r>
              <a:rPr lang="ru-RU" dirty="0"/>
              <a:t> + цепочку изменений</a:t>
            </a:r>
          </a:p>
          <a:p>
            <a:r>
              <a:rPr lang="ru-RU" dirty="0"/>
              <a:t>Возможность восстановления по времени (</a:t>
            </a:r>
            <a:r>
              <a:rPr lang="ru-RU" dirty="0" err="1"/>
              <a:t>Previous</a:t>
            </a:r>
            <a:r>
              <a:rPr lang="ru-RU" dirty="0"/>
              <a:t> </a:t>
            </a:r>
            <a:r>
              <a:rPr lang="ru-RU" dirty="0" err="1"/>
              <a:t>Versions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6399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D0AF-33BF-D242-B3F0-C5D9ACEC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резервного копирования (</a:t>
            </a:r>
            <a:r>
              <a:rPr lang="en-US" dirty="0"/>
              <a:t>Windows)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0793D-4AE0-6536-ED30-7E0B1DE9F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Полный (</a:t>
            </a:r>
            <a:r>
              <a:rPr lang="en-US" dirty="0"/>
              <a:t>Full)</a:t>
            </a:r>
          </a:p>
          <a:p>
            <a:r>
              <a:rPr lang="ru-RU" dirty="0"/>
              <a:t>Дифференциальный (</a:t>
            </a:r>
            <a:r>
              <a:rPr lang="en-US" dirty="0"/>
              <a:t>Differential)</a:t>
            </a:r>
          </a:p>
          <a:p>
            <a:r>
              <a:rPr lang="ru-RU" dirty="0"/>
              <a:t>Инкрементальный (</a:t>
            </a:r>
            <a:r>
              <a:rPr lang="en-US" dirty="0"/>
              <a:t>Incremental)</a:t>
            </a:r>
          </a:p>
          <a:p>
            <a:r>
              <a:rPr lang="en-US" dirty="0"/>
              <a:t>Volume-level backup </a:t>
            </a:r>
            <a:r>
              <a:rPr lang="ru-RU" dirty="0"/>
              <a:t>через </a:t>
            </a:r>
            <a:r>
              <a:rPr lang="en-US" dirty="0"/>
              <a:t>VSS</a:t>
            </a:r>
          </a:p>
          <a:p>
            <a:r>
              <a:rPr lang="en-US" dirty="0"/>
              <a:t>System image backup (WIM/VDI)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8678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214F-FF75-8279-494B-F8D22FEE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Логический и физический дамп в </a:t>
            </a:r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E108-862B-E7C3-7689-C0654FE7D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Физического дампа нет как в </a:t>
            </a:r>
            <a:r>
              <a:rPr lang="en-US" dirty="0"/>
              <a:t>UNIX (dd).</a:t>
            </a:r>
          </a:p>
          <a:p>
            <a:r>
              <a:rPr lang="en-US" dirty="0"/>
              <a:t>Windows </a:t>
            </a:r>
            <a:r>
              <a:rPr lang="ru-RU" dirty="0"/>
              <a:t>использует:</a:t>
            </a:r>
          </a:p>
          <a:p>
            <a:pPr lvl="1"/>
            <a:r>
              <a:rPr lang="ru-RU" dirty="0"/>
              <a:t>чтение файловой системы через </a:t>
            </a:r>
            <a:r>
              <a:rPr lang="en-US" dirty="0"/>
              <a:t>VSS</a:t>
            </a:r>
          </a:p>
          <a:p>
            <a:pPr lvl="1"/>
            <a:r>
              <a:rPr lang="ru-RU" dirty="0"/>
              <a:t>чтение томов на уровне блоков (</a:t>
            </a:r>
            <a:r>
              <a:rPr lang="en-US" dirty="0"/>
              <a:t>block-level backup)</a:t>
            </a:r>
          </a:p>
          <a:p>
            <a:pPr lvl="1"/>
            <a:r>
              <a:rPr lang="en-US" dirty="0"/>
              <a:t>exclusion lists: pagefile.sys, hibernation, temp</a:t>
            </a:r>
          </a:p>
        </p:txBody>
      </p:sp>
    </p:spTree>
    <p:extLst>
      <p:ext uri="{BB962C8B-B14F-4D97-AF65-F5344CB8AC3E}">
        <p14:creationId xmlns:p14="http://schemas.microsoft.com/office/powerpoint/2010/main" val="277577593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6641-82A3-BFA3-2FDE-B86EA019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Проблемы при резервном </a:t>
            </a:r>
            <a:r>
              <a:rPr lang="ru-RU" dirty="0" err="1"/>
              <a:t>копировани</a:t>
            </a:r>
            <a:r>
              <a:rPr lang="ru-RU" dirty="0"/>
              <a:t> (</a:t>
            </a:r>
            <a:r>
              <a:rPr lang="en-US" dirty="0"/>
              <a:t>Windows)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CEE1-4A44-67D9-7DBD-CB19521FB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Файлы, «занятые» процессами → решает </a:t>
            </a:r>
            <a:r>
              <a:rPr lang="en-US" dirty="0"/>
              <a:t>VSS</a:t>
            </a:r>
          </a:p>
          <a:p>
            <a:r>
              <a:rPr lang="en-US" dirty="0"/>
              <a:t>NTFS sparse files → </a:t>
            </a:r>
            <a:r>
              <a:rPr lang="ru-RU" dirty="0"/>
              <a:t>корректно обрабатываются</a:t>
            </a:r>
          </a:p>
          <a:p>
            <a:r>
              <a:rPr lang="en-US" dirty="0"/>
              <a:t>NTFS </a:t>
            </a:r>
            <a:r>
              <a:rPr lang="en-US" dirty="0" err="1"/>
              <a:t>symlinks</a:t>
            </a:r>
            <a:r>
              <a:rPr lang="en-US" dirty="0"/>
              <a:t>/junctions/</a:t>
            </a:r>
            <a:r>
              <a:rPr lang="en-US" dirty="0" err="1"/>
              <a:t>hardlinks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junctions </a:t>
            </a:r>
            <a:r>
              <a:rPr lang="ru-RU" dirty="0"/>
              <a:t>могут уводить в рекурсию</a:t>
            </a:r>
          </a:p>
          <a:p>
            <a:pPr lvl="1"/>
            <a:r>
              <a:rPr lang="en-US" dirty="0" err="1"/>
              <a:t>hardlink</a:t>
            </a:r>
            <a:r>
              <a:rPr lang="en-US" dirty="0"/>
              <a:t>’</a:t>
            </a:r>
            <a:r>
              <a:rPr lang="ru-RU" dirty="0"/>
              <a:t>и могут вести на один и тот же файл</a:t>
            </a:r>
          </a:p>
          <a:p>
            <a:r>
              <a:rPr lang="ru-RU" dirty="0"/>
              <a:t>Реестр — отдельный набор </a:t>
            </a:r>
            <a:r>
              <a:rPr lang="en-US" dirty="0"/>
              <a:t>hive-</a:t>
            </a:r>
            <a:r>
              <a:rPr lang="ru-RU" dirty="0"/>
              <a:t>файлов: </a:t>
            </a:r>
            <a:r>
              <a:rPr lang="en-US" dirty="0"/>
              <a:t>SOFTWARE, SYSTEM…</a:t>
            </a:r>
          </a:p>
        </p:txBody>
      </p:sp>
    </p:spTree>
    <p:extLst>
      <p:ext uri="{BB962C8B-B14F-4D97-AF65-F5344CB8AC3E}">
        <p14:creationId xmlns:p14="http://schemas.microsoft.com/office/powerpoint/2010/main" val="249950326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591D-A04D-94C2-8560-481F2815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в Windows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3C19-E4C7-6E42-A50C-2B7235B5C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File </a:t>
            </a:r>
            <a:r>
              <a:rPr lang="ru-RU" i="1" dirty="0" err="1"/>
              <a:t>History</a:t>
            </a:r>
            <a:r>
              <a:rPr lang="ru-RU" i="1" dirty="0"/>
              <a:t> → вернуть старую версию файла</a:t>
            </a:r>
            <a:endParaRPr lang="ru-RU" dirty="0"/>
          </a:p>
          <a:p>
            <a:r>
              <a:rPr lang="ru-RU" i="1" dirty="0" err="1"/>
              <a:t>Backup</a:t>
            </a:r>
            <a:r>
              <a:rPr lang="ru-RU" i="1" dirty="0"/>
              <a:t> </a:t>
            </a:r>
            <a:r>
              <a:rPr lang="ru-RU" i="1" dirty="0" err="1"/>
              <a:t>and</a:t>
            </a:r>
            <a:r>
              <a:rPr lang="ru-RU" i="1" dirty="0"/>
              <a:t> </a:t>
            </a:r>
            <a:r>
              <a:rPr lang="ru-RU" i="1" dirty="0" err="1"/>
              <a:t>Restore</a:t>
            </a:r>
            <a:r>
              <a:rPr lang="ru-RU" i="1" dirty="0"/>
              <a:t> → восстановить весь том</a:t>
            </a:r>
            <a:endParaRPr lang="ru-RU" dirty="0"/>
          </a:p>
          <a:p>
            <a:r>
              <a:rPr lang="ru-RU" i="1" dirty="0"/>
              <a:t>Системный образ → полный откат состояния</a:t>
            </a:r>
            <a:endParaRPr lang="ru-RU" dirty="0"/>
          </a:p>
          <a:p>
            <a:r>
              <a:rPr lang="ru-RU" dirty="0"/>
              <a:t>Важно: VSS гарантирует консистентность</a:t>
            </a:r>
          </a:p>
          <a:p>
            <a:r>
              <a:rPr lang="ru-RU" dirty="0"/>
              <a:t>Свободные блоки пересчитываются NTFS автоматически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71394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5F292-98BC-823E-C9B0-57AFA21F8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Обеспечение согласованности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32B83-D34C-E2C1-5CA4-CB506FC36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2460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00305F-78E4-12C3-743C-D3F5C625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Устойчивость к сбоям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92604-0BBC-A974-8809-A4852D98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Сбой или внезапное выключение приведёт к тому, что часть блоков не будет записана</a:t>
            </a:r>
          </a:p>
          <a:p>
            <a:r>
              <a:rPr lang="ru-RU" dirty="0"/>
              <a:t>Возможная порча:</a:t>
            </a:r>
          </a:p>
          <a:p>
            <a:pPr lvl="1"/>
            <a:r>
              <a:rPr lang="ru-RU" dirty="0"/>
              <a:t>i-</a:t>
            </a:r>
            <a:r>
              <a:rPr lang="ru-RU" dirty="0" err="1"/>
              <a:t>node</a:t>
            </a:r>
            <a:r>
              <a:rPr lang="ru-RU" dirty="0"/>
              <a:t> блоков</a:t>
            </a:r>
          </a:p>
          <a:p>
            <a:pPr lvl="1"/>
            <a:r>
              <a:rPr lang="ru-RU" dirty="0"/>
              <a:t>каталогов</a:t>
            </a:r>
          </a:p>
          <a:p>
            <a:pPr lvl="1"/>
            <a:r>
              <a:rPr lang="ru-RU" dirty="0"/>
              <a:t>битовой карты (или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)</a:t>
            </a:r>
          </a:p>
          <a:p>
            <a:r>
              <a:rPr lang="ru-RU" dirty="0"/>
              <a:t>Файловая система может оказаться в </a:t>
            </a:r>
            <a:r>
              <a:rPr lang="ru-RU" i="1" dirty="0"/>
              <a:t>несогласованном</a:t>
            </a:r>
            <a:r>
              <a:rPr lang="ru-RU" dirty="0"/>
              <a:t> состоянии</a:t>
            </a:r>
          </a:p>
          <a:p>
            <a:r>
              <a:rPr lang="ru-RU" dirty="0"/>
              <a:t>Требуется специальная проверка после сбоя</a:t>
            </a:r>
          </a:p>
        </p:txBody>
      </p:sp>
    </p:spTree>
    <p:extLst>
      <p:ext uri="{BB962C8B-B14F-4D97-AF65-F5344CB8AC3E}">
        <p14:creationId xmlns:p14="http://schemas.microsoft.com/office/powerpoint/2010/main" val="395236486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2DF6-585F-A199-1E56-7B039DC1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проверки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74D5D-0054-359F-EF75-756A47C76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Linux/UNIX: </a:t>
            </a:r>
            <a:r>
              <a:rPr lang="en-US" b="1" dirty="0" err="1"/>
              <a:t>fsck</a:t>
            </a:r>
            <a:endParaRPr lang="en-US" dirty="0"/>
          </a:p>
          <a:p>
            <a:r>
              <a:rPr lang="en-US" dirty="0"/>
              <a:t>Windows: </a:t>
            </a:r>
            <a:r>
              <a:rPr lang="en-US" b="1" dirty="0" err="1"/>
              <a:t>sfc</a:t>
            </a:r>
            <a:r>
              <a:rPr lang="en-US" dirty="0"/>
              <a:t>, </a:t>
            </a:r>
            <a:r>
              <a:rPr lang="en-US" b="1" dirty="0" err="1"/>
              <a:t>chkdsk</a:t>
            </a:r>
            <a:endParaRPr lang="en-US" dirty="0"/>
          </a:p>
          <a:p>
            <a:r>
              <a:rPr lang="ru-RU" dirty="0"/>
              <a:t>Проверяют каждую файловую систему </a:t>
            </a:r>
            <a:r>
              <a:rPr lang="ru-RU" i="1" dirty="0"/>
              <a:t>отдельно</a:t>
            </a:r>
            <a:endParaRPr lang="ru-RU" dirty="0"/>
          </a:p>
          <a:p>
            <a:r>
              <a:rPr lang="ru-RU" dirty="0" err="1"/>
              <a:t>Журналируемые</a:t>
            </a:r>
            <a:r>
              <a:rPr lang="ru-RU" dirty="0"/>
              <a:t> </a:t>
            </a:r>
            <a:r>
              <a:rPr lang="en-US" dirty="0"/>
              <a:t>FS </a:t>
            </a:r>
            <a:r>
              <a:rPr lang="ru-RU" dirty="0"/>
              <a:t>часто могут восстанавливаться автоматически (</a:t>
            </a:r>
            <a:r>
              <a:rPr lang="en-US" dirty="0"/>
              <a:t>ext4, NTFS, </a:t>
            </a:r>
            <a:r>
              <a:rPr lang="en-US" dirty="0" err="1"/>
              <a:t>ReiserFS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1459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3E7A-80EC-1865-F96B-0BBAD4BF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блоков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E9964-6926-BA36-086B-6D3BD0FC6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fsck</a:t>
            </a:r>
            <a:r>
              <a:rPr lang="ru-RU" dirty="0"/>
              <a:t> строит две таблицы:</a:t>
            </a:r>
          </a:p>
          <a:p>
            <a:pPr lvl="1"/>
            <a:r>
              <a:rPr lang="ru-RU" dirty="0"/>
              <a:t>Таблица «используемых блоков»</a:t>
            </a:r>
          </a:p>
          <a:p>
            <a:pPr lvl="1"/>
            <a:r>
              <a:rPr lang="ru-RU" dirty="0"/>
              <a:t>Таблица «свободных блоков»</a:t>
            </a:r>
          </a:p>
          <a:p>
            <a:r>
              <a:rPr lang="ru-RU" dirty="0"/>
              <a:t>Сырые i-</a:t>
            </a:r>
            <a:r>
              <a:rPr lang="ru-RU" dirty="0" err="1"/>
              <a:t>node’ы</a:t>
            </a:r>
            <a:r>
              <a:rPr lang="ru-RU" dirty="0"/>
              <a:t> читаются напрямую</a:t>
            </a:r>
          </a:p>
          <a:p>
            <a:r>
              <a:rPr lang="ru-RU" dirty="0"/>
              <a:t>Каждая ссылка на блок увеличивает счётчик</a:t>
            </a:r>
          </a:p>
          <a:p>
            <a:r>
              <a:rPr lang="ru-RU" dirty="0"/>
              <a:t>Возможные ошибки:</a:t>
            </a:r>
          </a:p>
          <a:p>
            <a:pPr lvl="1"/>
            <a:r>
              <a:rPr lang="ru-RU" dirty="0"/>
              <a:t>блок потерян</a:t>
            </a:r>
          </a:p>
          <a:p>
            <a:pPr lvl="1"/>
            <a:r>
              <a:rPr lang="ru-RU" dirty="0"/>
              <a:t>блок дважды в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list</a:t>
            </a:r>
            <a:endParaRPr lang="ru-RU" dirty="0"/>
          </a:p>
          <a:p>
            <a:pPr lvl="1"/>
            <a:r>
              <a:rPr lang="ru-RU" dirty="0"/>
              <a:t>блок принадлежит двум файлам одновременно</a:t>
            </a:r>
          </a:p>
        </p:txBody>
      </p:sp>
    </p:spTree>
    <p:extLst>
      <p:ext uri="{BB962C8B-B14F-4D97-AF65-F5344CB8AC3E}">
        <p14:creationId xmlns:p14="http://schemas.microsoft.com/office/powerpoint/2010/main" val="216149182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3C6A-ECF7-1F80-1A1D-6C966591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Консистентные и </a:t>
            </a:r>
            <a:r>
              <a:rPr lang="ru-RU" dirty="0" err="1"/>
              <a:t>неконсистентные</a:t>
            </a:r>
            <a:r>
              <a:rPr lang="ru-RU" dirty="0"/>
              <a:t> состояния ФС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D4DDF-6C2B-9197-6473-8D67AA78F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9624" y="1825625"/>
            <a:ext cx="83927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0964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A644-A06F-8324-B5A9-A8F092CE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Исправление ошибок блоков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D92EA-6A7F-070A-1969-BFF02DA01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Потерянные блоки добавляются в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list</a:t>
            </a:r>
            <a:endParaRPr lang="ru-RU" dirty="0"/>
          </a:p>
          <a:p>
            <a:r>
              <a:rPr lang="ru-RU" dirty="0"/>
              <a:t>Дубликаты требуют перестраивания списка свободных блоков</a:t>
            </a:r>
          </a:p>
          <a:p>
            <a:r>
              <a:rPr lang="ru-RU" dirty="0"/>
              <a:t>Если найден блок, принадлежащий двум файлам, создаётся копия</a:t>
            </a:r>
          </a:p>
          <a:p>
            <a:pPr lvl="1"/>
            <a:r>
              <a:rPr lang="ru-RU" dirty="0"/>
              <a:t>целостность файлов нарушена, но FS исправлена)</a:t>
            </a:r>
          </a:p>
        </p:txBody>
      </p:sp>
    </p:spTree>
    <p:extLst>
      <p:ext uri="{BB962C8B-B14F-4D97-AF65-F5344CB8AC3E}">
        <p14:creationId xmlns:p14="http://schemas.microsoft.com/office/powerpoint/2010/main" val="196279537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6D9A-9104-FE00-5663-0A5016F0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каталогов и ссылок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C854C-046B-0B86-D45A-8519D21EB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Подсчёт ссылок на i-</a:t>
            </a:r>
            <a:r>
              <a:rPr lang="ru-RU" dirty="0" err="1"/>
              <a:t>node</a:t>
            </a:r>
            <a:r>
              <a:rPr lang="ru-RU" dirty="0"/>
              <a:t> из каталогов</a:t>
            </a:r>
          </a:p>
          <a:p>
            <a:r>
              <a:rPr lang="ru-RU" dirty="0"/>
              <a:t>Сравнение с </a:t>
            </a:r>
            <a:r>
              <a:rPr lang="ru-RU" i="1" dirty="0" err="1"/>
              <a:t>link</a:t>
            </a:r>
            <a:r>
              <a:rPr lang="ru-RU" i="1" dirty="0"/>
              <a:t> </a:t>
            </a:r>
            <a:r>
              <a:rPr lang="ru-RU" i="1" dirty="0" err="1"/>
              <a:t>count</a:t>
            </a:r>
            <a:r>
              <a:rPr lang="ru-RU" dirty="0"/>
              <a:t> внутри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Ошибки:</a:t>
            </a:r>
          </a:p>
          <a:p>
            <a:pPr lvl="1"/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 слишком велик → уменьшаем</a:t>
            </a:r>
          </a:p>
          <a:p>
            <a:pPr lvl="1"/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 слишком мал → увеличиваем</a:t>
            </a:r>
          </a:p>
          <a:p>
            <a:r>
              <a:rPr lang="ru-RU" dirty="0"/>
              <a:t>Неверный </a:t>
            </a:r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 может привести к утрате файла (с преждевременным освобождением блоков!)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33308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363E-CAE9-1796-0B07-77FEF3FD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Прочие проверки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113D-85D3-73CC-3CD9-5ADAA21BF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Проверка структуры каталогов</a:t>
            </a:r>
          </a:p>
          <a:p>
            <a:r>
              <a:rPr lang="ru-RU" dirty="0"/>
              <a:t>Некорректные номера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Подозрительные разрешения</a:t>
            </a:r>
          </a:p>
          <a:p>
            <a:r>
              <a:rPr lang="ru-RU" dirty="0"/>
              <a:t>Очень большие каталоги</a:t>
            </a:r>
          </a:p>
          <a:p>
            <a:r>
              <a:rPr lang="ru-RU" dirty="0"/>
              <a:t>Файлы с SUID-</a:t>
            </a:r>
            <a:r>
              <a:rPr lang="ru-RU" dirty="0" err="1"/>
              <a:t>root</a:t>
            </a:r>
            <a:r>
              <a:rPr lang="ru-RU" dirty="0"/>
              <a:t> в пользовательских каталогах</a:t>
            </a:r>
          </a:p>
          <a:p>
            <a:r>
              <a:rPr lang="ru-RU" dirty="0"/>
              <a:t>Особые файлы не должны попадать в </a:t>
            </a:r>
            <a:r>
              <a:rPr lang="ru-RU" dirty="0" err="1"/>
              <a:t>dump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670028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66D8-2C89-624E-2762-92A545E02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ошибок пользователя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5B13D-57E1-2536-6EE6-16BF1C43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UNIX не защищает от случайного </a:t>
            </a:r>
            <a:r>
              <a:rPr lang="ru-RU" dirty="0" err="1"/>
              <a:t>rm</a:t>
            </a:r>
            <a:endParaRPr lang="ru-RU" dirty="0"/>
          </a:p>
          <a:p>
            <a:r>
              <a:rPr lang="ru-RU" dirty="0"/>
              <a:t>Windows — корзина (</a:t>
            </a:r>
            <a:r>
              <a:rPr lang="ru-RU" dirty="0" err="1"/>
              <a:t>Recycle</a:t>
            </a:r>
            <a:r>
              <a:rPr lang="ru-RU" dirty="0"/>
              <a:t> </a:t>
            </a:r>
            <a:r>
              <a:rPr lang="ru-RU" dirty="0" err="1"/>
              <a:t>Bin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восстановление удалённых файлов</a:t>
            </a:r>
          </a:p>
          <a:p>
            <a:pPr lvl="1"/>
            <a:r>
              <a:rPr lang="ru-RU" dirty="0"/>
              <a:t>место освобождается только после очистки корзины</a:t>
            </a:r>
          </a:p>
          <a:p>
            <a:r>
              <a:rPr lang="ru-RU" dirty="0"/>
              <a:t>Но ошибки типа </a:t>
            </a:r>
            <a:r>
              <a:rPr lang="ru-RU" b="1" dirty="0" err="1">
                <a:latin typeface="Consolas" panose="020B0609020204030204" pitchFamily="49" charset="0"/>
              </a:rPr>
              <a:t>rm</a:t>
            </a:r>
            <a:r>
              <a:rPr lang="ru-RU" b="1" dirty="0">
                <a:latin typeface="Consolas" panose="020B0609020204030204" pitchFamily="49" charset="0"/>
              </a:rPr>
              <a:t> * .o</a:t>
            </a:r>
            <a:r>
              <a:rPr lang="ru-RU" dirty="0"/>
              <a:t> всё равно опасны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6069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3C9D3E-BF53-36C4-656A-290C32BF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файловых систем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6CD984-2234-932F-FFD7-51CA41073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242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AC8E0-E982-3481-6814-CC685B7C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Огромная разница в скорости: память </a:t>
            </a:r>
            <a:r>
              <a:rPr lang="ru-RU" dirty="0" err="1"/>
              <a:t>vs</a:t>
            </a:r>
            <a:r>
              <a:rPr lang="ru-RU" dirty="0"/>
              <a:t> диск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C3F431-65CC-A395-1AC4-9C641158B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ОЗУ: ~10 </a:t>
            </a:r>
            <a:r>
              <a:rPr lang="ru-RU" dirty="0" err="1"/>
              <a:t>нс</a:t>
            </a:r>
            <a:endParaRPr lang="ru-RU" dirty="0"/>
          </a:p>
          <a:p>
            <a:r>
              <a:rPr lang="ru-RU" dirty="0"/>
              <a:t>SSD: десятки–сотни мкс</a:t>
            </a:r>
          </a:p>
          <a:p>
            <a:r>
              <a:rPr lang="ru-RU" dirty="0"/>
              <a:t>HDD: 5–10 мс задержек + медленная передача</a:t>
            </a:r>
          </a:p>
          <a:p>
            <a:r>
              <a:rPr lang="ru-RU" dirty="0"/>
              <a:t>Одиночный доступ к диску медленнее доступа к памяти в </a:t>
            </a:r>
            <a:r>
              <a:rPr lang="ru-RU" b="1" dirty="0"/>
              <a:t>миллион раз</a:t>
            </a:r>
            <a:endParaRPr lang="ru-RU" dirty="0"/>
          </a:p>
          <a:p>
            <a:r>
              <a:rPr lang="ru-RU" dirty="0"/>
              <a:t>Поэтому файловые системы используют множество оптимизаций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5447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3BEF-E70C-1E6A-94B0-E4BE0649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Кеширование блоков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EC35-20F9-C7E8-CCE3-8BD564A21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Кэш в памяти хранит недавно прочитанные/изменённые блоки</a:t>
            </a:r>
          </a:p>
          <a:p>
            <a:r>
              <a:rPr lang="ru-RU" dirty="0"/>
              <a:t>Сначала проверка в кэше → если есть, диск не нужен</a:t>
            </a:r>
          </a:p>
          <a:p>
            <a:r>
              <a:rPr lang="ru-RU" dirty="0"/>
              <a:t>Хеш-таблица для быстрого поиска блока</a:t>
            </a:r>
          </a:p>
          <a:p>
            <a:r>
              <a:rPr lang="ru-RU" dirty="0"/>
              <a:t>При переполнении выбираем жертву: LRU, FIFO, Second </a:t>
            </a:r>
            <a:r>
              <a:rPr lang="ru-RU" dirty="0" err="1"/>
              <a:t>Chance</a:t>
            </a:r>
            <a:endParaRPr lang="ru-RU" dirty="0"/>
          </a:p>
          <a:p>
            <a:r>
              <a:rPr lang="ru-RU" dirty="0"/>
              <a:t>Точный LRU возможен, но нежелателен из-за рисков для целостности</a:t>
            </a:r>
          </a:p>
        </p:txBody>
      </p:sp>
    </p:spTree>
    <p:extLst>
      <p:ext uri="{BB962C8B-B14F-4D97-AF65-F5344CB8AC3E}">
        <p14:creationId xmlns:p14="http://schemas.microsoft.com/office/powerpoint/2010/main" val="415673861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8570-9867-ABD8-AB63-7759D683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Немедленная запись важных блоков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33E3-2555-5712-2E83-3AA182857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Некоторые блоки нельзя долго держать в кэше</a:t>
            </a:r>
          </a:p>
          <a:p>
            <a:pPr lvl="1"/>
            <a:r>
              <a:rPr lang="ru-RU" dirty="0"/>
              <a:t>i-</a:t>
            </a:r>
            <a:r>
              <a:rPr lang="ru-RU" dirty="0" err="1"/>
              <a:t>node</a:t>
            </a:r>
            <a:r>
              <a:rPr lang="ru-RU" dirty="0"/>
              <a:t> блоки</a:t>
            </a:r>
          </a:p>
          <a:p>
            <a:pPr lvl="1"/>
            <a:r>
              <a:rPr lang="ru-RU" dirty="0"/>
              <a:t>каталоги</a:t>
            </a:r>
          </a:p>
          <a:p>
            <a:pPr lvl="1"/>
            <a:r>
              <a:rPr lang="ru-RU" dirty="0" err="1"/>
              <a:t>индиректные</a:t>
            </a:r>
            <a:r>
              <a:rPr lang="ru-RU" dirty="0"/>
              <a:t> блоки</a:t>
            </a:r>
          </a:p>
          <a:p>
            <a:r>
              <a:rPr lang="ru-RU" dirty="0"/>
              <a:t>Если они изменены — они пишутся на диск сразу</a:t>
            </a:r>
          </a:p>
          <a:p>
            <a:r>
              <a:rPr lang="ru-RU" dirty="0"/>
              <a:t>Это снижает риск разрушения файловой системы при сбое</a:t>
            </a:r>
          </a:p>
          <a:p>
            <a:r>
              <a:rPr lang="ru-RU" dirty="0"/>
              <a:t>Пользовательские данные можно держать дольше, но тоже ограничено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62999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A6F7-C7F4-6201-3F0C-BEA7DA8B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Политики сброса данных на диск: UNIX </a:t>
            </a:r>
            <a:r>
              <a:rPr lang="ru-RU" dirty="0" err="1"/>
              <a:t>vs</a:t>
            </a:r>
            <a:r>
              <a:rPr lang="ru-RU" dirty="0"/>
              <a:t> Windows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CC349-9E0B-EE01-BD89-8D363FB6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UNIX: программа </a:t>
            </a:r>
            <a:r>
              <a:rPr lang="ru-RU" dirty="0" err="1"/>
              <a:t>update</a:t>
            </a:r>
            <a:r>
              <a:rPr lang="ru-RU" dirty="0"/>
              <a:t> вызывает </a:t>
            </a:r>
            <a:r>
              <a:rPr lang="ru-RU" dirty="0" err="1"/>
              <a:t>sync</a:t>
            </a:r>
            <a:r>
              <a:rPr lang="ru-RU" dirty="0"/>
              <a:t> каждые ~30 секунд</a:t>
            </a:r>
          </a:p>
          <a:p>
            <a:r>
              <a:rPr lang="ru-RU" dirty="0"/>
              <a:t>Потерять можно максимум 30 секунд работы</a:t>
            </a:r>
          </a:p>
          <a:p>
            <a:r>
              <a:rPr lang="ru-RU" dirty="0"/>
              <a:t>Windows (ранние версии): </a:t>
            </a:r>
            <a:r>
              <a:rPr lang="ru-RU" dirty="0" err="1"/>
              <a:t>write-through</a:t>
            </a:r>
            <a:r>
              <a:rPr lang="ru-RU" dirty="0"/>
              <a:t> — запись на диск </a:t>
            </a:r>
            <a:r>
              <a:rPr lang="ru-RU" b="1" dirty="0"/>
              <a:t>сразу</a:t>
            </a:r>
            <a:endParaRPr lang="ru-RU" dirty="0"/>
          </a:p>
          <a:p>
            <a:r>
              <a:rPr lang="ru-RU" dirty="0"/>
              <a:t>Менее эффективно, но полностью безопасно</a:t>
            </a:r>
          </a:p>
          <a:p>
            <a:r>
              <a:rPr lang="ru-RU" dirty="0"/>
              <a:t>Сейчас Windows тоже использует буферизацию + журналирование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0253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7913-7187-A2D2-C832-19E241BA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Буферный кэш и Page </a:t>
            </a:r>
            <a:r>
              <a:rPr lang="ru-RU" dirty="0" err="1"/>
              <a:t>Cache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7BBF0-6496-EDD4-3DB9-AECF49093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Page </a:t>
            </a:r>
            <a:r>
              <a:rPr lang="ru-RU" dirty="0" err="1"/>
              <a:t>cache</a:t>
            </a:r>
            <a:r>
              <a:rPr lang="ru-RU" dirty="0"/>
              <a:t> — кэш страниц файлов, интегрирован с виртуальной памятью</a:t>
            </a:r>
          </a:p>
          <a:p>
            <a:r>
              <a:rPr lang="ru-RU" dirty="0" err="1"/>
              <a:t>Buffer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 — кэш дисковых блоков</a:t>
            </a:r>
          </a:p>
          <a:p>
            <a:r>
              <a:rPr lang="ru-RU" dirty="0"/>
              <a:t>В современных системах они объединены</a:t>
            </a:r>
          </a:p>
          <a:p>
            <a:r>
              <a:rPr lang="ru-RU" dirty="0"/>
              <a:t>Маппинг файла в память (</a:t>
            </a:r>
            <a:r>
              <a:rPr lang="ru-RU" dirty="0" err="1"/>
              <a:t>mmap</a:t>
            </a:r>
            <a:r>
              <a:rPr lang="ru-RU" dirty="0"/>
              <a:t>) использует те же страницы</a:t>
            </a:r>
          </a:p>
          <a:p>
            <a:r>
              <a:rPr lang="ru-RU" dirty="0"/>
              <a:t>Это экономит память и ускоряет операции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3089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E639-17BF-97B8-6EA6-1C31FBE6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Опережающее чтение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FA00D-1AED-AC82-6C0D-2278809D9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Наблюдение: многие файлы читаются </a:t>
            </a:r>
            <a:r>
              <a:rPr lang="ru-RU" b="1" dirty="0"/>
              <a:t>последовательно</a:t>
            </a:r>
            <a:endParaRPr lang="ru-RU" dirty="0"/>
          </a:p>
          <a:p>
            <a:r>
              <a:rPr lang="ru-RU" dirty="0"/>
              <a:t>Поэтому при чтении блока k система запрашивает и k+1</a:t>
            </a:r>
          </a:p>
          <a:p>
            <a:r>
              <a:rPr lang="ru-RU" dirty="0"/>
              <a:t>Если доступ случайный — </a:t>
            </a:r>
            <a:r>
              <a:rPr lang="ru-RU" dirty="0" err="1"/>
              <a:t>read-ahead</a:t>
            </a:r>
            <a:r>
              <a:rPr lang="ru-RU" dirty="0"/>
              <a:t> отключается</a:t>
            </a:r>
          </a:p>
          <a:p>
            <a:r>
              <a:rPr lang="ru-RU" dirty="0"/>
              <a:t>Система отслеживает шаблон доступа:</a:t>
            </a:r>
          </a:p>
          <a:p>
            <a:pPr lvl="1"/>
            <a:r>
              <a:rPr lang="ru-RU" dirty="0"/>
              <a:t>последовательный → включить </a:t>
            </a:r>
            <a:r>
              <a:rPr lang="ru-RU" dirty="0" err="1"/>
              <a:t>read-ahead</a:t>
            </a:r>
            <a:endParaRPr lang="ru-RU" dirty="0"/>
          </a:p>
          <a:p>
            <a:pPr lvl="1"/>
            <a:r>
              <a:rPr lang="ru-RU" dirty="0"/>
              <a:t>был </a:t>
            </a:r>
            <a:r>
              <a:rPr lang="ru-RU" dirty="0" err="1"/>
              <a:t>seek</a:t>
            </a:r>
            <a:r>
              <a:rPr lang="ru-RU" dirty="0"/>
              <a:t> → считать доступ случайным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34096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4A71F-8D57-01F1-A8B9-128C3542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Снижение движения дисковой головки (HDD)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CE45-1FF0-2D8A-15E2-FC8E6C409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 HDD </a:t>
            </a:r>
            <a:r>
              <a:rPr lang="ru-RU" dirty="0" err="1"/>
              <a:t>seek</a:t>
            </a:r>
            <a:r>
              <a:rPr lang="ru-RU" dirty="0"/>
              <a:t> — главный источник задержек</a:t>
            </a:r>
          </a:p>
          <a:p>
            <a:r>
              <a:rPr lang="ru-RU" dirty="0"/>
              <a:t>Файлы стремятся размещать так, чтобы:</a:t>
            </a:r>
          </a:p>
          <a:p>
            <a:pPr lvl="1"/>
            <a:r>
              <a:rPr lang="ru-RU" dirty="0"/>
              <a:t>блоки шли подряд</a:t>
            </a:r>
          </a:p>
          <a:p>
            <a:pPr lvl="1"/>
            <a:r>
              <a:rPr lang="ru-RU" dirty="0"/>
              <a:t>в пределах одного цилиндра</a:t>
            </a:r>
          </a:p>
          <a:p>
            <a:pPr lvl="1"/>
            <a:r>
              <a:rPr lang="ru-RU" dirty="0"/>
              <a:t>рядом с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Используются:</a:t>
            </a:r>
          </a:p>
          <a:p>
            <a:pPr lvl="1"/>
            <a:r>
              <a:rPr lang="ru-RU" dirty="0"/>
              <a:t>блоковая группировка</a:t>
            </a:r>
          </a:p>
          <a:p>
            <a:pPr lvl="1"/>
            <a:r>
              <a:rPr lang="ru-RU" dirty="0"/>
              <a:t>цилиндровые группы (BSD FFS)</a:t>
            </a:r>
          </a:p>
          <a:p>
            <a:pPr lvl="1"/>
            <a:r>
              <a:rPr lang="ru-RU" dirty="0"/>
              <a:t>учёт позиции головки и вращения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18945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8A105-F1C0-FCCA-7612-F63EDB70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Дефрагментация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68B1F-6F4F-20F0-0584-203E4DE78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8523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BC45B-72F8-519C-2FB3-E7A64BAD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фрагментации диска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012A34-D423-D69B-320C-07D4ABC5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установки ОС файлы лежат </a:t>
            </a:r>
            <a:r>
              <a:rPr lang="ru-RU" b="1" dirty="0"/>
              <a:t>последовательно</a:t>
            </a:r>
            <a:endParaRPr lang="ru-RU" dirty="0"/>
          </a:p>
          <a:p>
            <a:r>
              <a:rPr lang="ru-RU" dirty="0"/>
              <a:t>В результате создания и удаления файлов появляются «дырки»</a:t>
            </a:r>
          </a:p>
          <a:p>
            <a:r>
              <a:rPr lang="ru-RU" dirty="0"/>
              <a:t>Новые файлы записываются в разные части диска</a:t>
            </a:r>
          </a:p>
          <a:p>
            <a:r>
              <a:rPr lang="ru-RU" dirty="0"/>
              <a:t>Итог: </a:t>
            </a:r>
            <a:r>
              <a:rPr lang="ru-RU" b="1" dirty="0"/>
              <a:t>фрагментация</a:t>
            </a:r>
            <a:r>
              <a:rPr lang="ru-RU" dirty="0"/>
              <a:t> — файл разбит на куски по всему диску</a:t>
            </a:r>
          </a:p>
          <a:p>
            <a:r>
              <a:rPr lang="ru-RU" dirty="0"/>
              <a:t>Последствие: ухудшение производительности на HDD</a:t>
            </a:r>
          </a:p>
        </p:txBody>
      </p:sp>
    </p:spTree>
    <p:extLst>
      <p:ext uri="{BB962C8B-B14F-4D97-AF65-F5344CB8AC3E}">
        <p14:creationId xmlns:p14="http://schemas.microsoft.com/office/powerpoint/2010/main" val="41909773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E424-572C-FD9A-7052-ED728C88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 дефрагментация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B601-205B-3320-F1F6-E33BA8966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Составляет карту всех файлов и свободных областей</a:t>
            </a:r>
          </a:p>
          <a:p>
            <a:r>
              <a:rPr lang="ru-RU" dirty="0"/>
              <a:t>Перемещает данные, чтобы:</a:t>
            </a:r>
          </a:p>
          <a:p>
            <a:pPr lvl="1"/>
            <a:r>
              <a:rPr lang="ru-RU" dirty="0"/>
              <a:t>собрать файлы в </a:t>
            </a:r>
            <a:r>
              <a:rPr lang="ru-RU" b="1" dirty="0"/>
              <a:t>непрерывные области</a:t>
            </a:r>
            <a:endParaRPr lang="ru-RU" dirty="0"/>
          </a:p>
          <a:p>
            <a:pPr lvl="1"/>
            <a:r>
              <a:rPr lang="ru-RU" dirty="0"/>
              <a:t>сгруппировать свободное пространство</a:t>
            </a:r>
          </a:p>
          <a:p>
            <a:r>
              <a:rPr lang="ru-RU" dirty="0"/>
              <a:t>Windows: встроенная утилита </a:t>
            </a:r>
            <a:r>
              <a:rPr lang="ru-RU" b="1" dirty="0" err="1"/>
              <a:t>defrag</a:t>
            </a:r>
            <a:endParaRPr lang="ru-RU" dirty="0"/>
          </a:p>
          <a:p>
            <a:r>
              <a:rPr lang="ru-RU" dirty="0"/>
              <a:t>Регулярный запуск полезен </a:t>
            </a:r>
            <a:r>
              <a:rPr lang="ru-RU" b="1" dirty="0"/>
              <a:t>только для HDD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89490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3E68-74BE-EDB8-3C66-A0118CE5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</a:t>
            </a:r>
            <a:r>
              <a:rPr lang="ru-RU" dirty="0" err="1"/>
              <a:t>дефрагментатора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032E7-AB7A-A363-8E22-A578C4BF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Нужна крупная свободная область, обычно в конце раздела</a:t>
            </a:r>
          </a:p>
          <a:p>
            <a:r>
              <a:rPr lang="ru-RU" dirty="0"/>
              <a:t>Фрагментированные файлы переносятся туда целиком</a:t>
            </a:r>
          </a:p>
          <a:p>
            <a:r>
              <a:rPr lang="ru-RU" dirty="0"/>
              <a:t>Затем освобождённое пространство используется для дальнейшей перестановки</a:t>
            </a:r>
          </a:p>
          <a:p>
            <a:r>
              <a:rPr lang="ru-RU" dirty="0"/>
              <a:t>Процесс повторяется, пока структура диска не станет оптимальной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09747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D3DE-7532-687A-2E74-25D750DB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Файлы, которые нельзя перемещать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A6530-CE0F-55F7-ED79-CFFE54F9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Paging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(pagefile.sys)</a:t>
            </a:r>
          </a:p>
          <a:p>
            <a:r>
              <a:rPr lang="ru-RU" dirty="0" err="1"/>
              <a:t>Hibernation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(hiberfil.sys)</a:t>
            </a:r>
          </a:p>
          <a:p>
            <a:r>
              <a:rPr lang="ru-RU" dirty="0"/>
              <a:t>Логи журналирования (NTFS </a:t>
            </a:r>
            <a:r>
              <a:rPr lang="ru-RU" dirty="0" err="1"/>
              <a:t>journal</a:t>
            </a:r>
            <a:r>
              <a:rPr lang="ru-RU" dirty="0"/>
              <a:t>)</a:t>
            </a:r>
          </a:p>
          <a:p>
            <a:r>
              <a:rPr lang="ru-RU" dirty="0"/>
              <a:t>Эти файлы:</a:t>
            </a:r>
          </a:p>
          <a:p>
            <a:pPr lvl="1"/>
            <a:r>
              <a:rPr lang="ru-RU" dirty="0"/>
              <a:t>либо фиксируются как </a:t>
            </a:r>
            <a:r>
              <a:rPr lang="ru-RU" i="1" dirty="0" err="1"/>
              <a:t>несдвигаемые</a:t>
            </a:r>
            <a:endParaRPr lang="ru-RU" dirty="0"/>
          </a:p>
          <a:p>
            <a:pPr lvl="1"/>
            <a:r>
              <a:rPr lang="ru-RU" dirty="0"/>
              <a:t>либо изначально занимают непрерывную область</a:t>
            </a:r>
          </a:p>
          <a:p>
            <a:r>
              <a:rPr lang="ru-RU" dirty="0"/>
              <a:t>Проблема: если они лежат в конце раздела — нельзя уменьшить его размер</a:t>
            </a:r>
          </a:p>
          <a:p>
            <a:pPr lvl="1"/>
            <a:r>
              <a:rPr lang="ru-RU" dirty="0"/>
              <a:t>Решение: временно отключить/уменьшить файл подкачки/гибернации, а затем включить снова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2188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C41A-9220-535E-D6C4-BA9032F8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</a:t>
            </a:r>
            <a:r>
              <a:rPr lang="ru-RU" dirty="0"/>
              <a:t>и 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5A5A-9E16-F282-81C6-C01AE60E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ext3/ext4 фрагментируются значительно меньше</a:t>
            </a:r>
          </a:p>
          <a:p>
            <a:r>
              <a:rPr lang="ru-RU" dirty="0" err="1"/>
              <a:t>Аллокатор</a:t>
            </a:r>
            <a:r>
              <a:rPr lang="ru-RU" dirty="0"/>
              <a:t> блоков старается размещать файлы в одной группе цилиндров</a:t>
            </a:r>
          </a:p>
          <a:p>
            <a:r>
              <a:rPr lang="ru-RU" dirty="0"/>
              <a:t>Часто ручная дефрагментация не нужна</a:t>
            </a:r>
          </a:p>
          <a:p>
            <a:r>
              <a:rPr lang="ru-RU" dirty="0"/>
              <a:t>Есть инструменты (e4defrag), но применяются редко</a:t>
            </a:r>
          </a:p>
        </p:txBody>
      </p:sp>
    </p:spTree>
    <p:extLst>
      <p:ext uri="{BB962C8B-B14F-4D97-AF65-F5344CB8AC3E}">
        <p14:creationId xmlns:p14="http://schemas.microsoft.com/office/powerpoint/2010/main" val="325355031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C371-3C97-EAC2-385F-4C020BC3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</a:t>
            </a:r>
            <a:r>
              <a:rPr lang="ru-RU" dirty="0"/>
              <a:t>и 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0ACCD-7818-5249-F735-4DBEB122E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SSD не имеют движущихся частей</a:t>
            </a:r>
          </a:p>
          <a:p>
            <a:r>
              <a:rPr lang="ru-RU" dirty="0"/>
              <a:t>Доступ к любому блоку одинаков по времени</a:t>
            </a:r>
          </a:p>
          <a:p>
            <a:r>
              <a:rPr lang="ru-RU" dirty="0"/>
              <a:t>Фрагментация не влияет на скорость</a:t>
            </a:r>
          </a:p>
          <a:p>
            <a:r>
              <a:rPr lang="ru-RU" dirty="0"/>
              <a:t>Дефрагментация вредит SSD, так как вызывает лишние записи и ускоряет износ </a:t>
            </a:r>
            <a:r>
              <a:rPr lang="ru-RU" dirty="0" err="1"/>
              <a:t>флеш</a:t>
            </a:r>
            <a:r>
              <a:rPr lang="ru-RU" dirty="0"/>
              <a:t> памяти</a:t>
            </a:r>
          </a:p>
        </p:txBody>
      </p:sp>
    </p:spTree>
    <p:extLst>
      <p:ext uri="{BB962C8B-B14F-4D97-AF65-F5344CB8AC3E}">
        <p14:creationId xmlns:p14="http://schemas.microsoft.com/office/powerpoint/2010/main" val="263598720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FDC337-8C4C-0EDB-499D-B25D2D3F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Шифрование и безопасное удаление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9C48B-9A01-496B-9E6C-ECBF44D89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2507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99AC22-2360-CA15-40BA-B34E6B06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безопасного удаления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D3ADD2-4665-88C2-5221-6CF9E827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файла в ОС не приводит к уничтожению данных</a:t>
            </a:r>
          </a:p>
          <a:p>
            <a:r>
              <a:rPr lang="ru-RU" dirty="0"/>
              <a:t>Файл удаляется только из директории и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Содержимое остаётся в блоках диска</a:t>
            </a:r>
          </a:p>
          <a:p>
            <a:r>
              <a:rPr lang="ru-RU" dirty="0"/>
              <a:t>Злоумышленник может прочитать «сырые» блоки</a:t>
            </a:r>
          </a:p>
          <a:p>
            <a:r>
              <a:rPr lang="ru-RU" dirty="0"/>
              <a:t>Права доступа файловой системы легко обходятся, если у злоумышленника есть физический доступ к носителю</a:t>
            </a:r>
          </a:p>
        </p:txBody>
      </p:sp>
    </p:spTree>
    <p:extLst>
      <p:ext uri="{BB962C8B-B14F-4D97-AF65-F5344CB8AC3E}">
        <p14:creationId xmlns:p14="http://schemas.microsoft.com/office/powerpoint/2010/main" val="373849874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3E00-4324-1447-D9B0-93FB4275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сложно уничтожить данные надёжно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6945-21F5-11C7-4D4D-8BED527F7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Перезапись нулями иногда недостаточна</a:t>
            </a:r>
          </a:p>
          <a:p>
            <a:r>
              <a:rPr lang="ru-RU" dirty="0"/>
              <a:t>На HDD остаются магнитные «следы» рядом с дорожками</a:t>
            </a:r>
          </a:p>
          <a:p>
            <a:r>
              <a:rPr lang="ru-RU" dirty="0"/>
              <a:t>SSD ещё сложнее:</a:t>
            </a:r>
          </a:p>
          <a:p>
            <a:pPr lvl="1"/>
            <a:r>
              <a:rPr lang="ru-RU" dirty="0"/>
              <a:t>Файловая система не контролирует фактические физические блоки</a:t>
            </a:r>
          </a:p>
          <a:p>
            <a:pPr lvl="1"/>
            <a:r>
              <a:rPr lang="ru-RU" dirty="0"/>
              <a:t>FTL перенаправляет записи в произвольные места</a:t>
            </a:r>
          </a:p>
          <a:p>
            <a:pPr lvl="1"/>
            <a:r>
              <a:rPr lang="ru-RU" dirty="0"/>
              <a:t>Старая копия может оставаться в другой ячейке</a:t>
            </a:r>
          </a:p>
          <a:p>
            <a:r>
              <a:rPr lang="ru-RU" dirty="0"/>
              <a:t>Данные могут существовать в кэше, теневых копиях, бэкапах</a:t>
            </a:r>
          </a:p>
        </p:txBody>
      </p:sp>
    </p:spTree>
    <p:extLst>
      <p:ext uri="{BB962C8B-B14F-4D97-AF65-F5344CB8AC3E}">
        <p14:creationId xmlns:p14="http://schemas.microsoft.com/office/powerpoint/2010/main" val="409643180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7AAB-2FD2-4E43-E53D-630845C5C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надёжного удаления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1510-9F73-7E10-6F2D-2546B8AFD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Многократная перезапись (3–7 проходов):</a:t>
            </a:r>
          </a:p>
          <a:p>
            <a:pPr lvl="1"/>
            <a:r>
              <a:rPr lang="ru-RU" dirty="0"/>
              <a:t>нули → случайные данные → нули</a:t>
            </a:r>
          </a:p>
          <a:p>
            <a:r>
              <a:rPr lang="ru-RU" dirty="0"/>
              <a:t>Специальные утилиты (</a:t>
            </a:r>
            <a:r>
              <a:rPr lang="ru-RU" dirty="0" err="1"/>
              <a:t>wipe</a:t>
            </a:r>
            <a:r>
              <a:rPr lang="ru-RU" dirty="0"/>
              <a:t>, </a:t>
            </a:r>
            <a:r>
              <a:rPr lang="ru-RU" dirty="0" err="1"/>
              <a:t>sdelete</a:t>
            </a:r>
            <a:r>
              <a:rPr lang="ru-RU" dirty="0"/>
              <a:t>, </a:t>
            </a:r>
            <a:r>
              <a:rPr lang="ru-RU" dirty="0" err="1"/>
              <a:t>shred</a:t>
            </a:r>
            <a:r>
              <a:rPr lang="ru-RU" dirty="0"/>
              <a:t>)</a:t>
            </a:r>
          </a:p>
          <a:p>
            <a:r>
              <a:rPr lang="ru-RU" dirty="0"/>
              <a:t>Для полного уничтожения дисков:</a:t>
            </a:r>
          </a:p>
          <a:p>
            <a:pPr lvl="1"/>
            <a:r>
              <a:rPr lang="ru-RU" dirty="0"/>
              <a:t>физическое разрушение</a:t>
            </a:r>
          </a:p>
          <a:p>
            <a:pPr lvl="1"/>
            <a:r>
              <a:rPr lang="ru-RU" dirty="0"/>
              <a:t>🔥 термит: гарантированное уничтожение (не повторять дома!)</a:t>
            </a:r>
          </a:p>
          <a:p>
            <a:r>
              <a:rPr lang="ru-RU" dirty="0"/>
              <a:t>Для SSD многократная перезапись ненадёжна</a:t>
            </a:r>
          </a:p>
        </p:txBody>
      </p:sp>
    </p:spTree>
    <p:extLst>
      <p:ext uri="{BB962C8B-B14F-4D97-AF65-F5344CB8AC3E}">
        <p14:creationId xmlns:p14="http://schemas.microsoft.com/office/powerpoint/2010/main" val="3155185632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9F0-AE8D-C252-0A99-8E61FABF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Решение проблемы: полное шифрование диска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E384-6D89-B3FF-B7B4-1A1FDBEE3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Единственный 100% способ предотвратить восстановление</a:t>
            </a:r>
          </a:p>
          <a:p>
            <a:r>
              <a:rPr lang="ru-RU" dirty="0"/>
              <a:t>Даже если блоки не удалены физически — данные зашифрованы</a:t>
            </a:r>
          </a:p>
          <a:p>
            <a:r>
              <a:rPr lang="ru-RU" dirty="0"/>
              <a:t>Требуется:</a:t>
            </a:r>
          </a:p>
          <a:p>
            <a:pPr lvl="1"/>
            <a:r>
              <a:rPr lang="ru-RU" dirty="0"/>
              <a:t>надёжный алгоритм (AES)</a:t>
            </a:r>
          </a:p>
          <a:p>
            <a:pPr lvl="1"/>
            <a:r>
              <a:rPr lang="ru-RU" dirty="0"/>
              <a:t>длинный ключ</a:t>
            </a:r>
          </a:p>
          <a:p>
            <a:pPr lvl="1"/>
            <a:r>
              <a:rPr lang="ru-RU" dirty="0"/>
              <a:t>отсутствие утечек пароля</a:t>
            </a:r>
          </a:p>
          <a:p>
            <a:r>
              <a:rPr lang="ru-RU" dirty="0"/>
              <a:t>Современные ОС включают шифрование:</a:t>
            </a:r>
          </a:p>
          <a:p>
            <a:pPr lvl="1"/>
            <a:r>
              <a:rPr lang="ru-RU" dirty="0"/>
              <a:t>Windows: </a:t>
            </a:r>
            <a:r>
              <a:rPr lang="ru-RU" dirty="0" err="1"/>
              <a:t>BitLocker</a:t>
            </a:r>
            <a:endParaRPr lang="ru-RU" dirty="0"/>
          </a:p>
          <a:p>
            <a:pPr lvl="1"/>
            <a:r>
              <a:rPr lang="ru-RU" dirty="0"/>
              <a:t>Linux: LUKS/</a:t>
            </a:r>
            <a:r>
              <a:rPr lang="ru-RU" dirty="0" err="1"/>
              <a:t>dm-crypt</a:t>
            </a:r>
            <a:endParaRPr lang="ru-RU" dirty="0"/>
          </a:p>
          <a:p>
            <a:pPr lvl="1"/>
            <a:r>
              <a:rPr lang="ru-RU" dirty="0" err="1"/>
              <a:t>macOS</a:t>
            </a:r>
            <a:r>
              <a:rPr lang="ru-RU" dirty="0"/>
              <a:t>: </a:t>
            </a:r>
            <a:r>
              <a:rPr lang="ru-RU" dirty="0" err="1"/>
              <a:t>FileVault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0423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A6D0-D2A8-CE28-5A54-4A9AD8FA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забывайте про </a:t>
            </a:r>
            <a:r>
              <a:rPr lang="ru-RU" dirty="0" err="1"/>
              <a:t>терморектальный</a:t>
            </a:r>
            <a:r>
              <a:rPr lang="ru-RU" dirty="0"/>
              <a:t> криптоанализ</a:t>
            </a:r>
            <a:endParaRPr lang="en-US" dirty="0"/>
          </a:p>
        </p:txBody>
      </p:sp>
      <p:pic>
        <p:nvPicPr>
          <p:cNvPr id="2050" name="Picture 2" descr="Security">
            <a:extLst>
              <a:ext uri="{FF2B5EF4-FFF2-40B4-BE49-F238E27FC236}">
                <a16:creationId xmlns:a16="http://schemas.microsoft.com/office/drawing/2014/main" id="{3CF33D25-FB6C-F35B-8C93-43ABA86B80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610" y="2005199"/>
            <a:ext cx="7494780" cy="458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48151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33D2-D90E-46FF-1BEB-B9409AE4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Самошифрующиеся</a:t>
            </a:r>
            <a:r>
              <a:rPr lang="ru-RU" dirty="0"/>
              <a:t> диски (SED)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B276-3530-521E-41D3-24D2699D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SED = диски с аппаратным шифрованием</a:t>
            </a:r>
          </a:p>
          <a:p>
            <a:r>
              <a:rPr lang="ru-RU" dirty="0"/>
              <a:t>Шифрование/дешифрование выполняет контроллер</a:t>
            </a:r>
          </a:p>
          <a:p>
            <a:r>
              <a:rPr lang="ru-RU" dirty="0"/>
              <a:t>Производительность выше (снимает нагрузку с CPU)</a:t>
            </a:r>
          </a:p>
          <a:p>
            <a:r>
              <a:rPr lang="ru-RU" dirty="0"/>
              <a:t>Windows и другие ОС автоматически используют SED</a:t>
            </a:r>
          </a:p>
          <a:p>
            <a:pPr lvl="1"/>
            <a:r>
              <a:rPr lang="ru-RU" dirty="0"/>
              <a:t>Проблема: обнаружены серьёзные уязвимости (2019)</a:t>
            </a:r>
          </a:p>
        </p:txBody>
      </p:sp>
    </p:spTree>
    <p:extLst>
      <p:ext uri="{BB962C8B-B14F-4D97-AF65-F5344CB8AC3E}">
        <p14:creationId xmlns:p14="http://schemas.microsoft.com/office/powerpoint/2010/main" val="45250235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96A7-7B2A-29A6-C329-BE8DDE44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BitLocker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A38E-0727-25A5-7774-168A2DB6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 AES и </a:t>
            </a:r>
            <a:r>
              <a:rPr lang="ru-RU" dirty="0" err="1"/>
              <a:t>Volume</a:t>
            </a:r>
            <a:r>
              <a:rPr lang="ru-RU" dirty="0"/>
              <a:t> Master Key (VMK)</a:t>
            </a:r>
          </a:p>
          <a:p>
            <a:r>
              <a:rPr lang="ru-RU" dirty="0"/>
              <a:t>VMK хранится в зашифрованном виде</a:t>
            </a:r>
          </a:p>
          <a:p>
            <a:r>
              <a:rPr lang="ru-RU" dirty="0"/>
              <a:t>Расшифровка возможна через:</a:t>
            </a:r>
          </a:p>
          <a:p>
            <a:pPr lvl="1"/>
            <a:r>
              <a:rPr lang="ru-RU" dirty="0"/>
              <a:t>пользовательский пароль</a:t>
            </a:r>
          </a:p>
          <a:p>
            <a:pPr lvl="1"/>
            <a:r>
              <a:rPr lang="ru-RU" dirty="0" err="1"/>
              <a:t>recovery</a:t>
            </a:r>
            <a:r>
              <a:rPr lang="ru-RU" dirty="0"/>
              <a:t> </a:t>
            </a:r>
            <a:r>
              <a:rPr lang="ru-RU" dirty="0" err="1"/>
              <a:t>key</a:t>
            </a:r>
            <a:endParaRPr lang="ru-RU" dirty="0"/>
          </a:p>
          <a:p>
            <a:pPr lvl="1"/>
            <a:r>
              <a:rPr lang="ru-RU" dirty="0"/>
              <a:t>TPM-модуль (</a:t>
            </a:r>
            <a:r>
              <a:rPr lang="en-US" dirty="0"/>
              <a:t>Trusted Platform Module)</a:t>
            </a:r>
            <a:endParaRPr lang="ru-RU" dirty="0"/>
          </a:p>
          <a:p>
            <a:r>
              <a:rPr lang="ru-RU" dirty="0"/>
              <a:t>Шифрование прозрачно для пользователя</a:t>
            </a:r>
          </a:p>
          <a:p>
            <a:r>
              <a:rPr lang="ru-RU" dirty="0"/>
              <a:t>Все данные на диске всегда зашифрованы</a:t>
            </a:r>
          </a:p>
        </p:txBody>
      </p:sp>
    </p:spTree>
    <p:extLst>
      <p:ext uri="{BB962C8B-B14F-4D97-AF65-F5344CB8AC3E}">
        <p14:creationId xmlns:p14="http://schemas.microsoft.com/office/powerpoint/2010/main" val="175128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4669</TotalTime>
  <Words>22205</Words>
  <Application>Microsoft Office PowerPoint</Application>
  <PresentationFormat>Widescreen</PresentationFormat>
  <Paragraphs>2522</Paragraphs>
  <Slides>226</Slides>
  <Notes>226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226</vt:i4>
      </vt:variant>
    </vt:vector>
  </HeadingPairs>
  <TitlesOfParts>
    <vt:vector size="232" baseType="lpstr">
      <vt:lpstr>Aptos</vt:lpstr>
      <vt:lpstr>Aptos Display</vt:lpstr>
      <vt:lpstr>Arial</vt:lpstr>
      <vt:lpstr>Consolas</vt:lpstr>
      <vt:lpstr>Courier New</vt:lpstr>
      <vt:lpstr>Office Theme</vt:lpstr>
      <vt:lpstr>Файловые системы</vt:lpstr>
      <vt:lpstr>Необходимость файловых систем</vt:lpstr>
      <vt:lpstr>Устройства для долговременного хранения</vt:lpstr>
      <vt:lpstr>Абстракция файла</vt:lpstr>
      <vt:lpstr>Роль файловой системы</vt:lpstr>
      <vt:lpstr>Файлы с точки зрения пользователя</vt:lpstr>
      <vt:lpstr>Что такое файл и зачем нужны имена</vt:lpstr>
      <vt:lpstr>Правила именования файлов</vt:lpstr>
      <vt:lpstr>Семейство файловых систем Windows</vt:lpstr>
      <vt:lpstr>Расширения файлов и их значение</vt:lpstr>
      <vt:lpstr>Примеры расширений</vt:lpstr>
      <vt:lpstr>Структура файла</vt:lpstr>
      <vt:lpstr>Основные структуры файлов</vt:lpstr>
      <vt:lpstr>Файлы как последовательность байтов</vt:lpstr>
      <vt:lpstr>Файлы как последовательность записей</vt:lpstr>
      <vt:lpstr>Файлы как деревья записей</vt:lpstr>
      <vt:lpstr>Сравнение подходов</vt:lpstr>
      <vt:lpstr>Типы файлов</vt:lpstr>
      <vt:lpstr>Основные типы файлов в ОС</vt:lpstr>
      <vt:lpstr>Текстовые и бинарные файлы</vt:lpstr>
      <vt:lpstr>Пример структуры исполняемого файла</vt:lpstr>
      <vt:lpstr>Типизация файлов и ограничения</vt:lpstr>
      <vt:lpstr>Доступ к содержимому файла</vt:lpstr>
      <vt:lpstr>Виды доступа к файлам</vt:lpstr>
      <vt:lpstr>Последовательный доступ</vt:lpstr>
      <vt:lpstr>Произвольный доступ</vt:lpstr>
      <vt:lpstr>Сравнение методов доступа</vt:lpstr>
      <vt:lpstr>Атрибуты файла</vt:lpstr>
      <vt:lpstr>Что такое атрибуты файла</vt:lpstr>
      <vt:lpstr>Атрибуты, связанные с безопасностью</vt:lpstr>
      <vt:lpstr>Флаги и специальные признаки</vt:lpstr>
      <vt:lpstr>Временные метки</vt:lpstr>
      <vt:lpstr>Размеры и структура записи</vt:lpstr>
      <vt:lpstr>Пример атрибутов файлов </vt:lpstr>
      <vt:lpstr>Операции над файлами</vt:lpstr>
      <vt:lpstr>Основные группы операций над файлами</vt:lpstr>
      <vt:lpstr>Создание и удаление</vt:lpstr>
      <vt:lpstr>Открытие и закрытие</vt:lpstr>
      <vt:lpstr>Работа с содержимым файла</vt:lpstr>
      <vt:lpstr>Seek – произвольный доступ</vt:lpstr>
      <vt:lpstr>Работа с атрибутами</vt:lpstr>
      <vt:lpstr>Rename</vt:lpstr>
      <vt:lpstr>Пример – программа copyfile</vt:lpstr>
      <vt:lpstr>PowerPoint Presentation</vt:lpstr>
      <vt:lpstr>Директории (каталоги)</vt:lpstr>
      <vt:lpstr>Что такое каталог?</vt:lpstr>
      <vt:lpstr>Одноуровневая система каталогов</vt:lpstr>
      <vt:lpstr>Плюсы и минусы одноуровневой системы</vt:lpstr>
      <vt:lpstr>Почему старые идеи возвращаются</vt:lpstr>
      <vt:lpstr>Иерархические системы каталогов</vt:lpstr>
      <vt:lpstr>Необходимость в иерархии каталогов</vt:lpstr>
      <vt:lpstr>Пример дерева каталогов</vt:lpstr>
      <vt:lpstr>Иерархия в многопользовательских системах</vt:lpstr>
      <vt:lpstr>Преимущества</vt:lpstr>
      <vt:lpstr>Исторический аспект</vt:lpstr>
      <vt:lpstr>Пути к файлам</vt:lpstr>
      <vt:lpstr>Два способа указания пути к файлам</vt:lpstr>
      <vt:lpstr>Абсолютные пути</vt:lpstr>
      <vt:lpstr>Относительные пути и рабочий каталог</vt:lpstr>
      <vt:lpstr>Пример равнозначных команд</vt:lpstr>
      <vt:lpstr>Когда обязательны абсолютные пути</vt:lpstr>
      <vt:lpstr>Изменение рабочего каталога</vt:lpstr>
      <vt:lpstr>Специальные имена «.» и «..»</vt:lpstr>
      <vt:lpstr>Операции над каталогами</vt:lpstr>
      <vt:lpstr>Основные операции над каталогами</vt:lpstr>
      <vt:lpstr>Создание и удаление каталогов</vt:lpstr>
      <vt:lpstr>Чтение каталогов: opendir, readdir, closedir</vt:lpstr>
      <vt:lpstr>Rename — переименование каталогов</vt:lpstr>
      <vt:lpstr>Hard link – жёсткие ссылки</vt:lpstr>
      <vt:lpstr>Unlink – удаление записи из каталога</vt:lpstr>
      <vt:lpstr>Пример</vt:lpstr>
      <vt:lpstr>Символические ссылки (soft links)</vt:lpstr>
      <vt:lpstr>Файловые системы с точки зрения реализации</vt:lpstr>
      <vt:lpstr>Как устроена файловая система на диске</vt:lpstr>
      <vt:lpstr>Структура раздела файловой системы</vt:lpstr>
      <vt:lpstr>Старый стиль BIOS + MBR</vt:lpstr>
      <vt:lpstr>Современный подход UEFI+GPT</vt:lpstr>
      <vt:lpstr>Схема таблицы разделов UEFI</vt:lpstr>
      <vt:lpstr>Сравнение MBR и UEFI/GPT</vt:lpstr>
      <vt:lpstr>Реализация работы с файлами</vt:lpstr>
      <vt:lpstr>Непрерывное размещение файлов</vt:lpstr>
      <vt:lpstr>Непрерывное размещение файлов</vt:lpstr>
      <vt:lpstr>Непрерывное размещение файлов</vt:lpstr>
      <vt:lpstr>Преимущества непрерывного размещения</vt:lpstr>
      <vt:lpstr>Главная проблема - фрагментация</vt:lpstr>
      <vt:lpstr>Необходимость заранее знать размер файла</vt:lpstr>
      <vt:lpstr>Почему непрерывное размещение файлов больше почти не используется</vt:lpstr>
      <vt:lpstr>Размещение в виде цепочки блоков</vt:lpstr>
      <vt:lpstr>Методы реализации файлов</vt:lpstr>
      <vt:lpstr>Размещение в виде односвязного списка</vt:lpstr>
      <vt:lpstr>FAT – File Allocation Table</vt:lpstr>
      <vt:lpstr>I-nodes — современный подход</vt:lpstr>
      <vt:lpstr>Структура i-node</vt:lpstr>
      <vt:lpstr>Гду используются i-nodes</vt:lpstr>
      <vt:lpstr>Реализация работы каталогов</vt:lpstr>
      <vt:lpstr>Задача каталогов</vt:lpstr>
      <vt:lpstr>Фиксированная запись каталога (старые системы)</vt:lpstr>
      <vt:lpstr>Каталоги с i-nodes</vt:lpstr>
      <vt:lpstr>Переменная длина имени</vt:lpstr>
      <vt:lpstr>Фиксированные записи + куча имён</vt:lpstr>
      <vt:lpstr>Ускорение поиска: хеш таблицы</vt:lpstr>
      <vt:lpstr>Кеширование результатов поиска</vt:lpstr>
      <vt:lpstr>Организация общего доступа</vt:lpstr>
      <vt:lpstr>Совместно используемые файлы</vt:lpstr>
      <vt:lpstr>Жесткие ссылки (Hard Links)</vt:lpstr>
      <vt:lpstr>Проблемы hard links</vt:lpstr>
      <vt:lpstr>Символические ссылки (Symbolic Links)</vt:lpstr>
      <vt:lpstr>Недостатки symbolic links</vt:lpstr>
      <vt:lpstr>Проблема множественных путей</vt:lpstr>
      <vt:lpstr>LFS (Log-Structured File System)</vt:lpstr>
      <vt:lpstr>Почему понадобились LFS?</vt:lpstr>
      <vt:lpstr>Идея LFS – диск, как большой лог</vt:lpstr>
      <vt:lpstr>Где находятся i-nodes</vt:lpstr>
      <vt:lpstr>Проблема переполнения лога</vt:lpstr>
      <vt:lpstr>Производительность LFS</vt:lpstr>
      <vt:lpstr>Итоги по LFS</vt:lpstr>
      <vt:lpstr>Файловые системы, использующие журналирование</vt:lpstr>
      <vt:lpstr>Зачем нужно журналирование</vt:lpstr>
      <vt:lpstr>Как работает журналирование?</vt:lpstr>
      <vt:lpstr>Пример: удаление файла</vt:lpstr>
      <vt:lpstr>Идемпотентные операции</vt:lpstr>
      <vt:lpstr>Транзакции</vt:lpstr>
      <vt:lpstr>Где используется журналирование</vt:lpstr>
      <vt:lpstr>Особенности работы ФС на Flash накопителях</vt:lpstr>
      <vt:lpstr>Различия SSD от HDD</vt:lpstr>
      <vt:lpstr>Единицы хранения данных на Flash-накопителях</vt:lpstr>
      <vt:lpstr>Почему данные перезаписываются «в сторону»</vt:lpstr>
      <vt:lpstr>Компоненты SSD</vt:lpstr>
      <vt:lpstr>FTL – Flash Translation Layer</vt:lpstr>
      <vt:lpstr>Сборка мусора</vt:lpstr>
      <vt:lpstr>TRIM и семантический разрыв</vt:lpstr>
      <vt:lpstr>Почему LFS подходят для Flash</vt:lpstr>
      <vt:lpstr>Проблема «Бродячего дерева»</vt:lpstr>
      <vt:lpstr>Решение: глобальные таблицы отображения</vt:lpstr>
      <vt:lpstr>Итоги по файловым системам для Flash-накопителей</vt:lpstr>
      <vt:lpstr>Виртуальные файловые системы</vt:lpstr>
      <vt:lpstr>Зачем нужны виртуальные файловые системы (VFS)?</vt:lpstr>
      <vt:lpstr>Архитектура VFS</vt:lpstr>
      <vt:lpstr>Типы объектов в VFS</vt:lpstr>
      <vt:lpstr>Регистрация файловой системы в VFS</vt:lpstr>
      <vt:lpstr>Пример: open("/usr/include/unistd.h“)</vt:lpstr>
      <vt:lpstr>Вызов read через vfs</vt:lpstr>
      <vt:lpstr>Добавление новой ФС</vt:lpstr>
      <vt:lpstr>Windows vs Linux</vt:lpstr>
      <vt:lpstr>Модель «Каждая ФС – отдельный диск»</vt:lpstr>
      <vt:lpstr>Unix/Linux – единое дерево каталогов</vt:lpstr>
      <vt:lpstr>Как Windows выбирает файловую систему</vt:lpstr>
      <vt:lpstr>Как Unix/Linux выбирает файловую систему</vt:lpstr>
      <vt:lpstr>Ключевые различия Windows и UNIX/Linux</vt:lpstr>
      <vt:lpstr>Где преимущество VFS заметно сильнее всего?</vt:lpstr>
      <vt:lpstr>UNC-пути в Windows</vt:lpstr>
      <vt:lpstr>UNC – отдельная параллельная иерархия</vt:lpstr>
      <vt:lpstr>Где UNC удобен, а где нет?</vt:lpstr>
      <vt:lpstr>Extended-length path в Windows</vt:lpstr>
      <vt:lpstr>Проблема MAX_PATH = 260</vt:lpstr>
      <vt:lpstr>Примеры</vt:lpstr>
      <vt:lpstr>Особенности таких путей</vt:lpstr>
      <vt:lpstr>FUSE (Filesystem in user space)</vt:lpstr>
      <vt:lpstr>Что такое FUSE</vt:lpstr>
      <vt:lpstr>Как работает FUSE</vt:lpstr>
      <vt:lpstr>Достоинства FUSE</vt:lpstr>
      <vt:lpstr>Примеры использования</vt:lpstr>
      <vt:lpstr>Архитектура приложения на базе FUSE</vt:lpstr>
      <vt:lpstr>Ограничения FUSE</vt:lpstr>
      <vt:lpstr>Где FUSE особенно незаменим</vt:lpstr>
      <vt:lpstr>Пример использования FUSE</vt:lpstr>
      <vt:lpstr>Получение атрибутов файлов</vt:lpstr>
      <vt:lpstr>PowerPoint Presentation</vt:lpstr>
      <vt:lpstr>Чтение каталога</vt:lpstr>
      <vt:lpstr>Чтение файла</vt:lpstr>
      <vt:lpstr>Управление и оптимизация файловых систем</vt:lpstr>
      <vt:lpstr>Основные задачи управления ФС</vt:lpstr>
      <vt:lpstr>Размер блока – фундаментальный компромисс</vt:lpstr>
      <vt:lpstr>Управление свободными блоками</vt:lpstr>
      <vt:lpstr>Сравнение Free-List и Bitmap</vt:lpstr>
      <vt:lpstr>Оптимизация free-list</vt:lpstr>
      <vt:lpstr>Bitmap в памяти</vt:lpstr>
      <vt:lpstr>Дисковые квоты</vt:lpstr>
      <vt:lpstr>Принцип работы квот</vt:lpstr>
      <vt:lpstr>Резервное копирование</vt:lpstr>
      <vt:lpstr>Зачем нужны резервные копии</vt:lpstr>
      <vt:lpstr>Что учитывать при организации бэкапов</vt:lpstr>
      <vt:lpstr>Физический dump</vt:lpstr>
      <vt:lpstr>Логический dump</vt:lpstr>
      <vt:lpstr>Алгоритм логического дампа</vt:lpstr>
      <vt:lpstr>Проблемы и особенности восстановления</vt:lpstr>
      <vt:lpstr>Резервирование в Windows</vt:lpstr>
      <vt:lpstr>Что нужно учитывать в Windows</vt:lpstr>
      <vt:lpstr>VSS – основа бэкапов Windows</vt:lpstr>
      <vt:lpstr>Инкрементальные копии в Windows</vt:lpstr>
      <vt:lpstr>Типы резервного копирования (Windows)</vt:lpstr>
      <vt:lpstr>Логический и физический дамп в Windows</vt:lpstr>
      <vt:lpstr>Проблемы при резервном копировани (Windows)</vt:lpstr>
      <vt:lpstr>Восстановление в Windows</vt:lpstr>
      <vt:lpstr>Обеспечение согласованности</vt:lpstr>
      <vt:lpstr>Устойчивость к сбоям</vt:lpstr>
      <vt:lpstr>Инструменты проверки</vt:lpstr>
      <vt:lpstr>Проверка блоков</vt:lpstr>
      <vt:lpstr>Консистентные и неконсистентные состояния ФС</vt:lpstr>
      <vt:lpstr>Исправление ошибок блоков</vt:lpstr>
      <vt:lpstr>Проверка каталогов и ссылок</vt:lpstr>
      <vt:lpstr>Прочие проверки</vt:lpstr>
      <vt:lpstr>Защита от ошибок пользователя</vt:lpstr>
      <vt:lpstr>Производительность файловых систем</vt:lpstr>
      <vt:lpstr>Огромная разница в скорости: память vs диск</vt:lpstr>
      <vt:lpstr>Кеширование блоков</vt:lpstr>
      <vt:lpstr>Немедленная запись важных блоков</vt:lpstr>
      <vt:lpstr>Политики сброса данных на диск: UNIX vs Windows</vt:lpstr>
      <vt:lpstr>Буферный кэш и Page Cache</vt:lpstr>
      <vt:lpstr>Опережающее чтение</vt:lpstr>
      <vt:lpstr>Снижение движения дисковой головки (HDD)</vt:lpstr>
      <vt:lpstr>Дефрагментация</vt:lpstr>
      <vt:lpstr>Причины фрагментации диска</vt:lpstr>
      <vt:lpstr>Что делает дефрагментация</vt:lpstr>
      <vt:lpstr>Алгоритм работы дефрагментатора</vt:lpstr>
      <vt:lpstr>Файлы, которые нельзя перемещать</vt:lpstr>
      <vt:lpstr>Linux и фрагментация</vt:lpstr>
      <vt:lpstr>SSD и фрагментация</vt:lpstr>
      <vt:lpstr>Шифрование и безопасное удаление файлов</vt:lpstr>
      <vt:lpstr>Проблема безопасного удаления файлов</vt:lpstr>
      <vt:lpstr>Почему сложно уничтожить данные надёжно</vt:lpstr>
      <vt:lpstr>Методы надёжного удаления</vt:lpstr>
      <vt:lpstr>Решение проблемы: полное шифрование диска</vt:lpstr>
      <vt:lpstr>Не забывайте про терморектальный криптоанализ</vt:lpstr>
      <vt:lpstr>Самошифрующиеся диски (SED)</vt:lpstr>
      <vt:lpstr>Windows BitLocker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15</cp:revision>
  <dcterms:created xsi:type="dcterms:W3CDTF">2025-11-11T19:32:04Z</dcterms:created>
  <dcterms:modified xsi:type="dcterms:W3CDTF">2026-01-20T07:13:25Z</dcterms:modified>
</cp:coreProperties>
</file>