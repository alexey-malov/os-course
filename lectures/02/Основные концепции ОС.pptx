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2"/>
  </p:notesMasterIdLst>
  <p:sldIdLst>
    <p:sldId id="256" r:id="rId2"/>
    <p:sldId id="257" r:id="rId3"/>
    <p:sldId id="258" r:id="rId4"/>
    <p:sldId id="269" r:id="rId5"/>
    <p:sldId id="259" r:id="rId6"/>
    <p:sldId id="270" r:id="rId7"/>
    <p:sldId id="260" r:id="rId8"/>
    <p:sldId id="272" r:id="rId9"/>
    <p:sldId id="271" r:id="rId10"/>
    <p:sldId id="274" r:id="rId11"/>
    <p:sldId id="273" r:id="rId12"/>
    <p:sldId id="261" r:id="rId13"/>
    <p:sldId id="262" r:id="rId14"/>
    <p:sldId id="275" r:id="rId15"/>
    <p:sldId id="276" r:id="rId16"/>
    <p:sldId id="277" r:id="rId17"/>
    <p:sldId id="263" r:id="rId18"/>
    <p:sldId id="278" r:id="rId19"/>
    <p:sldId id="279" r:id="rId20"/>
    <p:sldId id="280" r:id="rId21"/>
    <p:sldId id="281" r:id="rId22"/>
    <p:sldId id="264" r:id="rId23"/>
    <p:sldId id="282" r:id="rId24"/>
    <p:sldId id="265" r:id="rId25"/>
    <p:sldId id="267" r:id="rId26"/>
    <p:sldId id="283" r:id="rId27"/>
    <p:sldId id="328" r:id="rId28"/>
    <p:sldId id="329" r:id="rId29"/>
    <p:sldId id="330" r:id="rId30"/>
    <p:sldId id="290" r:id="rId31"/>
    <p:sldId id="331" r:id="rId32"/>
    <p:sldId id="332" r:id="rId33"/>
    <p:sldId id="333" r:id="rId34"/>
    <p:sldId id="307" r:id="rId35"/>
    <p:sldId id="319" r:id="rId36"/>
    <p:sldId id="334" r:id="rId37"/>
    <p:sldId id="335" r:id="rId38"/>
    <p:sldId id="336" r:id="rId39"/>
    <p:sldId id="327" r:id="rId40"/>
    <p:sldId id="326"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8C69CC0-0066-447E-B05D-A7A539600639}">
          <p14:sldIdLst>
            <p14:sldId id="256"/>
            <p14:sldId id="257"/>
          </p14:sldIdLst>
        </p14:section>
        <p14:section name="Процессы" id="{8E90ADF7-1FE3-4B5A-90BA-D178218BA7DA}">
          <p14:sldIdLst>
            <p14:sldId id="258"/>
            <p14:sldId id="269"/>
            <p14:sldId id="259"/>
            <p14:sldId id="270"/>
          </p14:sldIdLst>
        </p14:section>
        <p14:section name="Пользователи и права" id="{592AEF61-D8CD-43DB-8CA4-611E00955C74}">
          <p14:sldIdLst>
            <p14:sldId id="260"/>
            <p14:sldId id="272"/>
            <p14:sldId id="271"/>
            <p14:sldId id="274"/>
            <p14:sldId id="273"/>
          </p14:sldIdLst>
        </p14:section>
        <p14:section name="Память процесса" id="{24F8073D-FC8F-4DE3-8223-81468AF589C8}">
          <p14:sldIdLst>
            <p14:sldId id="261"/>
            <p14:sldId id="262"/>
            <p14:sldId id="275"/>
            <p14:sldId id="276"/>
            <p14:sldId id="277"/>
          </p14:sldIdLst>
        </p14:section>
        <p14:section name="Файловая система" id="{F48A5892-8E94-44A1-8CCF-7E9E44A4007A}">
          <p14:sldIdLst>
            <p14:sldId id="263"/>
            <p14:sldId id="278"/>
            <p14:sldId id="279"/>
            <p14:sldId id="280"/>
            <p14:sldId id="281"/>
            <p14:sldId id="264"/>
            <p14:sldId id="282"/>
            <p14:sldId id="265"/>
            <p14:sldId id="267"/>
          </p14:sldIdLst>
        </p14:section>
        <p14:section name="Развитие железа и ОС" id="{22F514B8-B0C7-4291-A449-06CAEB8469F6}">
          <p14:sldIdLst>
            <p14:sldId id="283"/>
            <p14:sldId id="328"/>
            <p14:sldId id="329"/>
            <p14:sldId id="330"/>
          </p14:sldIdLst>
        </p14:section>
        <p14:section name="Системные вызовы" id="{A7F74F3E-DCD1-493E-AF2B-1D38632BB1F1}">
          <p14:sldIdLst>
            <p14:sldId id="290"/>
            <p14:sldId id="331"/>
            <p14:sldId id="332"/>
            <p14:sldId id="333"/>
            <p14:sldId id="307"/>
            <p14:sldId id="319"/>
            <p14:sldId id="334"/>
            <p14:sldId id="335"/>
            <p14:sldId id="336"/>
            <p14:sldId id="327"/>
            <p14:sldId id="326"/>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794" autoAdjust="0"/>
    <p:restoredTop sz="83535" autoAdjust="0"/>
  </p:normalViewPr>
  <p:slideViewPr>
    <p:cSldViewPr snapToGrid="0" showGuides="1">
      <p:cViewPr varScale="1">
        <p:scale>
          <a:sx n="89" d="100"/>
          <a:sy n="89" d="100"/>
        </p:scale>
        <p:origin x="906"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88D6FC-EC0A-432E-82BE-72AB49F75BA1}" type="datetimeFigureOut">
              <a:rPr lang="en-US" smtClean="0"/>
              <a:t>9/11/2026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EE74EF-BE85-44F3-968F-E74DD74A629E}" type="slidenum">
              <a:rPr lang="en-US" smtClean="0"/>
              <a:t>‹#›</a:t>
            </a:fld>
            <a:endParaRPr lang="en-US"/>
          </a:p>
        </p:txBody>
      </p:sp>
    </p:spTree>
    <p:extLst>
      <p:ext uri="{BB962C8B-B14F-4D97-AF65-F5344CB8AC3E}">
        <p14:creationId xmlns:p14="http://schemas.microsoft.com/office/powerpoint/2010/main" val="2735175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3EE74EF-BE85-44F3-968F-E74DD74A629E}" type="slidenum">
              <a:rPr lang="en-US" smtClean="0"/>
              <a:t>1</a:t>
            </a:fld>
            <a:endParaRPr lang="en-US"/>
          </a:p>
        </p:txBody>
      </p:sp>
    </p:spTree>
    <p:extLst>
      <p:ext uri="{BB962C8B-B14F-4D97-AF65-F5344CB8AC3E}">
        <p14:creationId xmlns:p14="http://schemas.microsoft.com/office/powerpoint/2010/main" val="30549093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Операционная система предоставляет ряд базовых понятий, без которых невозможно понять, как она работает.</a:t>
            </a:r>
            <a:endParaRPr lang="en-US" dirty="0"/>
          </a:p>
          <a:p>
            <a:endParaRPr lang="en-US" dirty="0"/>
          </a:p>
          <a:p>
            <a:r>
              <a:rPr lang="ru-RU" dirty="0"/>
              <a:t>В первую очередь это процессы, адресные пространства и файлы. Эти три элемента можно считать своеобразными строительными блоками: процессы обеспечивают выполнение программ, адресное пространство — их работу с памятью, а файлы — хранение данных.</a:t>
            </a:r>
            <a:br>
              <a:rPr lang="ru-RU" dirty="0"/>
            </a:br>
            <a:endParaRPr lang="en-US" dirty="0"/>
          </a:p>
          <a:p>
            <a:r>
              <a:rPr lang="ru-RU" dirty="0"/>
              <a:t>Важно понимать, что эти абстракции универсальны: они встречаются во всех операционных системах, хотя могут быть реализованы по-разному. В курсе мы будем чаще всего использовать примеры из UNIX, потому что это одна из классических систем, которая повлияла на многие современные ОС.</a:t>
            </a:r>
            <a:endParaRPr lang="en-US" dirty="0"/>
          </a:p>
          <a:p>
            <a:endParaRPr lang="en-US" dirty="0"/>
          </a:p>
          <a:p>
            <a:r>
              <a:rPr lang="ru-RU" dirty="0"/>
              <a:t>Но подобные механизмы можно найти и в Windows, и в других системах.</a:t>
            </a:r>
            <a:endParaRPr lang="en-US" dirty="0"/>
          </a:p>
        </p:txBody>
      </p:sp>
      <p:sp>
        <p:nvSpPr>
          <p:cNvPr id="4" name="Slide Number Placeholder 3"/>
          <p:cNvSpPr>
            <a:spLocks noGrp="1"/>
          </p:cNvSpPr>
          <p:nvPr>
            <p:ph type="sldNum" sz="quarter" idx="5"/>
          </p:nvPr>
        </p:nvSpPr>
        <p:spPr/>
        <p:txBody>
          <a:bodyPr/>
          <a:lstStyle/>
          <a:p>
            <a:fld id="{A3EE74EF-BE85-44F3-968F-E74DD74A629E}" type="slidenum">
              <a:rPr lang="en-US" smtClean="0"/>
              <a:t>2</a:t>
            </a:fld>
            <a:endParaRPr lang="en-US"/>
          </a:p>
        </p:txBody>
      </p:sp>
    </p:spTree>
    <p:extLst>
      <p:ext uri="{BB962C8B-B14F-4D97-AF65-F5344CB8AC3E}">
        <p14:creationId xmlns:p14="http://schemas.microsoft.com/office/powerpoint/2010/main" val="4269886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Процесс — это программа в состоянии выполнения. Это не просто код на диске, а именно выполняющийся экземпляр, у которого есть своё адресное пространство. В этом пространстве размещаются три основных компонента: исполняемый код программы, данные и стек, который используется для хранения временных переменных и вызовов функций.</a:t>
            </a:r>
            <a:endParaRPr lang="en-US" dirty="0"/>
          </a:p>
          <a:p>
            <a:br>
              <a:rPr lang="ru-RU" dirty="0"/>
            </a:br>
            <a:r>
              <a:rPr lang="ru-RU" dirty="0"/>
              <a:t>Кроме этого, процесс связан с ресурсами: регистрами процессора (например, счётчик команд и указатель стека), списком открытых файлов, таймерами, а также связями с другими процессами.</a:t>
            </a:r>
            <a:endParaRPr lang="en-US" dirty="0"/>
          </a:p>
          <a:p>
            <a:br>
              <a:rPr lang="ru-RU" dirty="0"/>
            </a:br>
            <a:r>
              <a:rPr lang="ru-RU" dirty="0"/>
              <a:t>Операционная система управляет жизненным циклом процесса: она умеет создавать новые процессы, завершать их, приостанавливать и снова возобновлять. </a:t>
            </a:r>
            <a:endParaRPr lang="en-US" dirty="0"/>
          </a:p>
          <a:p>
            <a:endParaRPr lang="en-US" dirty="0"/>
          </a:p>
          <a:p>
            <a:r>
              <a:rPr lang="ru-RU" dirty="0"/>
              <a:t>Чтобы это было возможно, при остановке всё состояние процесса должно быть сохранено.</a:t>
            </a:r>
          </a:p>
          <a:p>
            <a:endParaRPr lang="en-US" dirty="0"/>
          </a:p>
          <a:p>
            <a:r>
              <a:rPr lang="ru-RU" dirty="0"/>
              <a:t>Для этого в ОС существует специальная таблица процессов. В ней хранится вся необходимая информация: значения регистров, позиции в открытых файлах, ссылки на ресурсы и другие данные. Благодаря этому при возобновлении процесс возвращается в то же самое состояние, в котором он был до остановки.</a:t>
            </a:r>
            <a:br>
              <a:rPr lang="ru-RU" dirty="0"/>
            </a:br>
            <a:endParaRPr lang="ru-RU" dirty="0"/>
          </a:p>
          <a:p>
            <a:r>
              <a:rPr lang="ru-RU" dirty="0"/>
              <a:t>Таким образом, процесс можно представить как контейнер, в котором находится всё необходимое для выполнения программы.</a:t>
            </a:r>
            <a:endParaRPr lang="en-US" dirty="0"/>
          </a:p>
        </p:txBody>
      </p:sp>
      <p:sp>
        <p:nvSpPr>
          <p:cNvPr id="4" name="Slide Number Placeholder 3"/>
          <p:cNvSpPr>
            <a:spLocks noGrp="1"/>
          </p:cNvSpPr>
          <p:nvPr>
            <p:ph type="sldNum" sz="quarter" idx="5"/>
          </p:nvPr>
        </p:nvSpPr>
        <p:spPr/>
        <p:txBody>
          <a:bodyPr/>
          <a:lstStyle/>
          <a:p>
            <a:fld id="{A3EE74EF-BE85-44F3-968F-E74DD74A629E}" type="slidenum">
              <a:rPr lang="en-US" smtClean="0"/>
              <a:t>3</a:t>
            </a:fld>
            <a:endParaRPr lang="en-US"/>
          </a:p>
        </p:txBody>
      </p:sp>
    </p:spTree>
    <p:extLst>
      <p:ext uri="{BB962C8B-B14F-4D97-AF65-F5344CB8AC3E}">
        <p14:creationId xmlns:p14="http://schemas.microsoft.com/office/powerpoint/2010/main" val="32011141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Теперь</a:t>
            </a:r>
            <a:r>
              <a:rPr lang="en-US" dirty="0"/>
              <a:t> </a:t>
            </a:r>
            <a:r>
              <a:rPr lang="en-US" dirty="0" err="1"/>
              <a:t>посмотрим</a:t>
            </a:r>
            <a:r>
              <a:rPr lang="en-US" dirty="0"/>
              <a:t>, </a:t>
            </a:r>
            <a:r>
              <a:rPr lang="en-US" dirty="0" err="1"/>
              <a:t>как</a:t>
            </a:r>
            <a:r>
              <a:rPr lang="en-US" dirty="0"/>
              <a:t> </a:t>
            </a:r>
            <a:r>
              <a:rPr lang="en-US" dirty="0" err="1"/>
              <a:t>процессы</a:t>
            </a:r>
            <a:r>
              <a:rPr lang="en-US" dirty="0"/>
              <a:t> </a:t>
            </a:r>
            <a:r>
              <a:rPr lang="en-US" dirty="0" err="1"/>
              <a:t>выглядят</a:t>
            </a:r>
            <a:r>
              <a:rPr lang="en-US" dirty="0"/>
              <a:t> в </a:t>
            </a:r>
            <a:r>
              <a:rPr lang="en-US" dirty="0" err="1"/>
              <a:t>реальной</a:t>
            </a:r>
            <a:r>
              <a:rPr lang="en-US" dirty="0"/>
              <a:t> </a:t>
            </a:r>
            <a:r>
              <a:rPr lang="en-US" dirty="0" err="1"/>
              <a:t>системе</a:t>
            </a:r>
            <a:r>
              <a:rPr lang="en-US" dirty="0"/>
              <a:t>.</a:t>
            </a:r>
          </a:p>
          <a:p>
            <a:endParaRPr lang="en-US" dirty="0"/>
          </a:p>
          <a:p>
            <a:r>
              <a:rPr lang="en-US" dirty="0"/>
              <a:t>В Linux </a:t>
            </a:r>
            <a:r>
              <a:rPr lang="en-US" dirty="0" err="1"/>
              <a:t>один</a:t>
            </a:r>
            <a:r>
              <a:rPr lang="en-US" dirty="0"/>
              <a:t> </a:t>
            </a:r>
            <a:r>
              <a:rPr lang="en-US" dirty="0" err="1"/>
              <a:t>из</a:t>
            </a:r>
            <a:r>
              <a:rPr lang="en-US" dirty="0"/>
              <a:t> </a:t>
            </a:r>
            <a:r>
              <a:rPr lang="en-US" dirty="0" err="1"/>
              <a:t>самых</a:t>
            </a:r>
            <a:r>
              <a:rPr lang="en-US" dirty="0"/>
              <a:t> </a:t>
            </a:r>
            <a:r>
              <a:rPr lang="en-US" dirty="0" err="1"/>
              <a:t>простых</a:t>
            </a:r>
            <a:r>
              <a:rPr lang="en-US" dirty="0"/>
              <a:t> </a:t>
            </a:r>
            <a:r>
              <a:rPr lang="en-US" dirty="0" err="1"/>
              <a:t>способов</a:t>
            </a:r>
            <a:r>
              <a:rPr lang="en-US" dirty="0"/>
              <a:t> </a:t>
            </a:r>
            <a:r>
              <a:rPr lang="en-US" dirty="0" err="1"/>
              <a:t>получить</a:t>
            </a:r>
            <a:r>
              <a:rPr lang="en-US" dirty="0"/>
              <a:t> </a:t>
            </a:r>
            <a:r>
              <a:rPr lang="en-US" dirty="0" err="1"/>
              <a:t>список</a:t>
            </a:r>
            <a:r>
              <a:rPr lang="en-US" dirty="0"/>
              <a:t> </a:t>
            </a:r>
            <a:r>
              <a:rPr lang="en-US" dirty="0" err="1"/>
              <a:t>процессов</a:t>
            </a:r>
            <a:r>
              <a:rPr lang="en-US" dirty="0"/>
              <a:t> — </a:t>
            </a:r>
            <a:r>
              <a:rPr lang="en-US" dirty="0" err="1"/>
              <a:t>команда</a:t>
            </a:r>
            <a:r>
              <a:rPr lang="en-US" dirty="0"/>
              <a:t> </a:t>
            </a:r>
            <a:r>
              <a:rPr lang="en-US" sz="1200" kern="1200" dirty="0">
                <a:solidFill>
                  <a:schemeClr val="tx1"/>
                </a:solidFill>
                <a:latin typeface="+mn-lt"/>
                <a:ea typeface="+mn-ea"/>
                <a:cs typeface="+mn-cs"/>
              </a:rPr>
              <a:t>ps</a:t>
            </a:r>
            <a:r>
              <a:rPr lang="en-US" dirty="0"/>
              <a:t>. В </a:t>
            </a:r>
            <a:r>
              <a:rPr lang="en-US" dirty="0" err="1"/>
              <a:t>нашем</a:t>
            </a:r>
            <a:r>
              <a:rPr lang="en-US" dirty="0"/>
              <a:t> </a:t>
            </a:r>
            <a:r>
              <a:rPr lang="en-US" dirty="0" err="1"/>
              <a:t>примере</a:t>
            </a:r>
            <a:r>
              <a:rPr lang="en-US" dirty="0"/>
              <a:t> </a:t>
            </a:r>
            <a:r>
              <a:rPr lang="en-US" dirty="0" err="1"/>
              <a:t>используется</a:t>
            </a:r>
            <a:r>
              <a:rPr lang="en-US" dirty="0"/>
              <a:t> </a:t>
            </a:r>
            <a:r>
              <a:rPr lang="en-US" dirty="0" err="1"/>
              <a:t>запись</a:t>
            </a:r>
            <a:r>
              <a:rPr lang="en-US" dirty="0"/>
              <a:t> </a:t>
            </a:r>
            <a:r>
              <a:rPr lang="en-US" sz="1200" kern="1200" dirty="0" err="1">
                <a:solidFill>
                  <a:schemeClr val="tx1"/>
                </a:solidFill>
                <a:latin typeface="+mn-lt"/>
                <a:ea typeface="+mn-ea"/>
                <a:cs typeface="+mn-cs"/>
              </a:rPr>
              <a:t>ps</a:t>
            </a:r>
            <a:r>
              <a:rPr lang="en-US" sz="1200" kern="1200" dirty="0">
                <a:solidFill>
                  <a:schemeClr val="tx1"/>
                </a:solidFill>
                <a:latin typeface="+mn-lt"/>
                <a:ea typeface="+mn-ea"/>
                <a:cs typeface="+mn-cs"/>
              </a:rPr>
              <a:t> aux</a:t>
            </a:r>
            <a:r>
              <a:rPr lang="en-US" dirty="0"/>
              <a:t>. </a:t>
            </a:r>
            <a:r>
              <a:rPr lang="en-US" dirty="0" err="1"/>
              <a:t>Здесь</a:t>
            </a:r>
            <a:r>
              <a:rPr lang="en-US" dirty="0"/>
              <a:t> </a:t>
            </a:r>
            <a:r>
              <a:rPr lang="en-US" dirty="0" err="1"/>
              <a:t>важно</a:t>
            </a:r>
            <a:r>
              <a:rPr lang="en-US" dirty="0"/>
              <a:t> </a:t>
            </a:r>
            <a:r>
              <a:rPr lang="en-US" dirty="0" err="1"/>
              <a:t>понимать</a:t>
            </a:r>
            <a:r>
              <a:rPr lang="en-US" dirty="0"/>
              <a:t>, </a:t>
            </a:r>
            <a:r>
              <a:rPr lang="en-US" dirty="0" err="1"/>
              <a:t>что</a:t>
            </a:r>
            <a:r>
              <a:rPr lang="en-US" dirty="0"/>
              <a:t> </a:t>
            </a:r>
            <a:r>
              <a:rPr lang="en-US" sz="1200" kern="1200" dirty="0">
                <a:solidFill>
                  <a:schemeClr val="tx1"/>
                </a:solidFill>
                <a:latin typeface="+mn-lt"/>
                <a:ea typeface="+mn-ea"/>
                <a:cs typeface="+mn-cs"/>
              </a:rPr>
              <a:t>aux</a:t>
            </a:r>
            <a:r>
              <a:rPr lang="en-US" dirty="0"/>
              <a:t> — </a:t>
            </a:r>
            <a:r>
              <a:rPr lang="en-US" dirty="0" err="1"/>
              <a:t>это</a:t>
            </a:r>
            <a:r>
              <a:rPr lang="en-US" dirty="0"/>
              <a:t> </a:t>
            </a:r>
            <a:r>
              <a:rPr lang="en-US" dirty="0" err="1"/>
              <a:t>не</a:t>
            </a:r>
            <a:r>
              <a:rPr lang="en-US" dirty="0"/>
              <a:t> </a:t>
            </a:r>
            <a:r>
              <a:rPr lang="en-US" dirty="0" err="1"/>
              <a:t>одно</a:t>
            </a:r>
            <a:r>
              <a:rPr lang="en-US" dirty="0"/>
              <a:t> </a:t>
            </a:r>
            <a:r>
              <a:rPr lang="en-US" dirty="0" err="1"/>
              <a:t>слово</a:t>
            </a:r>
            <a:r>
              <a:rPr lang="en-US" dirty="0"/>
              <a:t>, а </a:t>
            </a:r>
            <a:r>
              <a:rPr lang="en-US" dirty="0" err="1"/>
              <a:t>три</a:t>
            </a:r>
            <a:r>
              <a:rPr lang="en-US" dirty="0"/>
              <a:t> </a:t>
            </a:r>
            <a:r>
              <a:rPr lang="en-US" dirty="0" err="1"/>
              <a:t>опции</a:t>
            </a:r>
            <a:r>
              <a:rPr lang="en-US" dirty="0"/>
              <a:t>, </a:t>
            </a:r>
            <a:r>
              <a:rPr lang="en-US" dirty="0" err="1"/>
              <a:t>записанные</a:t>
            </a:r>
            <a:r>
              <a:rPr lang="en-US" dirty="0"/>
              <a:t> </a:t>
            </a:r>
            <a:r>
              <a:rPr lang="en-US" dirty="0" err="1"/>
              <a:t>подряд</a:t>
            </a:r>
            <a:r>
              <a:rPr lang="en-US" dirty="0"/>
              <a:t>.</a:t>
            </a:r>
          </a:p>
          <a:p>
            <a:endParaRPr lang="en-US" dirty="0"/>
          </a:p>
          <a:p>
            <a:r>
              <a:rPr lang="en-US" dirty="0" err="1"/>
              <a:t>Опция</a:t>
            </a:r>
            <a:r>
              <a:rPr lang="en-US" dirty="0"/>
              <a:t> </a:t>
            </a:r>
            <a:r>
              <a:rPr lang="en-US" sz="1200" kern="1200" dirty="0">
                <a:solidFill>
                  <a:schemeClr val="tx1"/>
                </a:solidFill>
                <a:latin typeface="+mn-lt"/>
                <a:ea typeface="+mn-ea"/>
                <a:cs typeface="+mn-cs"/>
              </a:rPr>
              <a:t>a</a:t>
            </a:r>
            <a:r>
              <a:rPr lang="en-US" dirty="0"/>
              <a:t> </a:t>
            </a:r>
            <a:r>
              <a:rPr lang="en-US" dirty="0" err="1"/>
              <a:t>показывает</a:t>
            </a:r>
            <a:r>
              <a:rPr lang="en-US" dirty="0"/>
              <a:t> </a:t>
            </a:r>
            <a:r>
              <a:rPr lang="en-US" dirty="0" err="1"/>
              <a:t>процессы</a:t>
            </a:r>
            <a:r>
              <a:rPr lang="en-US" dirty="0"/>
              <a:t> </a:t>
            </a:r>
            <a:r>
              <a:rPr lang="en-US" dirty="0" err="1"/>
              <a:t>всех</a:t>
            </a:r>
            <a:r>
              <a:rPr lang="en-US" dirty="0"/>
              <a:t> </a:t>
            </a:r>
            <a:r>
              <a:rPr lang="en-US" dirty="0" err="1"/>
              <a:t>пользователей</a:t>
            </a:r>
            <a:r>
              <a:rPr lang="en-US" dirty="0"/>
              <a:t>, а </a:t>
            </a:r>
            <a:r>
              <a:rPr lang="en-US" dirty="0" err="1"/>
              <a:t>не</a:t>
            </a:r>
            <a:r>
              <a:rPr lang="en-US" dirty="0"/>
              <a:t> </a:t>
            </a:r>
            <a:r>
              <a:rPr lang="en-US" dirty="0" err="1"/>
              <a:t>только</a:t>
            </a:r>
            <a:r>
              <a:rPr lang="en-US" dirty="0"/>
              <a:t> </a:t>
            </a:r>
            <a:r>
              <a:rPr lang="en-US" dirty="0" err="1"/>
              <a:t>процессы</a:t>
            </a:r>
            <a:r>
              <a:rPr lang="en-US" dirty="0"/>
              <a:t> </a:t>
            </a:r>
            <a:r>
              <a:rPr lang="en-US" dirty="0" err="1"/>
              <a:t>текущего</a:t>
            </a:r>
            <a:r>
              <a:rPr lang="en-US" dirty="0"/>
              <a:t> </a:t>
            </a:r>
            <a:r>
              <a:rPr lang="en-US" dirty="0" err="1"/>
              <a:t>пользователя</a:t>
            </a:r>
            <a:r>
              <a:rPr lang="en-US" dirty="0"/>
              <a:t>. </a:t>
            </a:r>
            <a:r>
              <a:rPr lang="en-US" dirty="0" err="1"/>
              <a:t>Исключение</a:t>
            </a:r>
            <a:r>
              <a:rPr lang="en-US" dirty="0"/>
              <a:t> </a:t>
            </a:r>
            <a:r>
              <a:rPr lang="en-US" dirty="0" err="1"/>
              <a:t>составляют</a:t>
            </a:r>
            <a:r>
              <a:rPr lang="en-US" dirty="0"/>
              <a:t> </a:t>
            </a:r>
            <a:r>
              <a:rPr lang="en-US" dirty="0" err="1"/>
              <a:t>процессы</a:t>
            </a:r>
            <a:r>
              <a:rPr lang="en-US" dirty="0"/>
              <a:t>, </a:t>
            </a:r>
            <a:r>
              <a:rPr lang="en-US" dirty="0" err="1"/>
              <a:t>которые</a:t>
            </a:r>
            <a:r>
              <a:rPr lang="en-US" dirty="0"/>
              <a:t> </a:t>
            </a:r>
            <a:r>
              <a:rPr lang="en-US" dirty="0" err="1"/>
              <a:t>не</a:t>
            </a:r>
            <a:r>
              <a:rPr lang="en-US" dirty="0"/>
              <a:t> </a:t>
            </a:r>
            <a:r>
              <a:rPr lang="en-US" dirty="0" err="1"/>
              <a:t>связаны</a:t>
            </a:r>
            <a:r>
              <a:rPr lang="en-US" dirty="0"/>
              <a:t> с </a:t>
            </a:r>
            <a:r>
              <a:rPr lang="en-US" dirty="0" err="1"/>
              <a:t>терминалом</a:t>
            </a:r>
            <a:r>
              <a:rPr lang="en-US" dirty="0"/>
              <a:t>.</a:t>
            </a:r>
          </a:p>
          <a:p>
            <a:endParaRPr lang="en-US" dirty="0"/>
          </a:p>
          <a:p>
            <a:r>
              <a:rPr lang="en-US" dirty="0" err="1"/>
              <a:t>Опция</a:t>
            </a:r>
            <a:r>
              <a:rPr lang="en-US" dirty="0"/>
              <a:t> </a:t>
            </a:r>
            <a:r>
              <a:rPr lang="en-US" sz="1200" kern="1200" dirty="0">
                <a:solidFill>
                  <a:schemeClr val="tx1"/>
                </a:solidFill>
                <a:latin typeface="+mn-lt"/>
                <a:ea typeface="+mn-ea"/>
                <a:cs typeface="+mn-cs"/>
              </a:rPr>
              <a:t>u</a:t>
            </a:r>
            <a:r>
              <a:rPr lang="en-US" dirty="0"/>
              <a:t> </a:t>
            </a:r>
            <a:r>
              <a:rPr lang="en-US" dirty="0" err="1"/>
              <a:t>включает</a:t>
            </a:r>
            <a:r>
              <a:rPr lang="en-US" dirty="0"/>
              <a:t> </a:t>
            </a:r>
            <a:r>
              <a:rPr lang="en-US" dirty="0" err="1"/>
              <a:t>пользовательский</a:t>
            </a:r>
            <a:r>
              <a:rPr lang="en-US" dirty="0"/>
              <a:t> </a:t>
            </a:r>
            <a:r>
              <a:rPr lang="en-US" dirty="0" err="1"/>
              <a:t>формат</a:t>
            </a:r>
            <a:r>
              <a:rPr lang="en-US" dirty="0"/>
              <a:t> </a:t>
            </a:r>
            <a:r>
              <a:rPr lang="en-US" dirty="0" err="1"/>
              <a:t>вывода</a:t>
            </a:r>
            <a:r>
              <a:rPr lang="en-US" dirty="0"/>
              <a:t>. </a:t>
            </a:r>
            <a:r>
              <a:rPr lang="en-US" dirty="0" err="1"/>
              <a:t>Благодаря</a:t>
            </a:r>
            <a:r>
              <a:rPr lang="en-US" dirty="0"/>
              <a:t> </a:t>
            </a:r>
            <a:r>
              <a:rPr lang="en-US" dirty="0" err="1"/>
              <a:t>ей</a:t>
            </a:r>
            <a:r>
              <a:rPr lang="en-US" dirty="0"/>
              <a:t> </a:t>
            </a:r>
            <a:r>
              <a:rPr lang="en-US" dirty="0" err="1"/>
              <a:t>мы</a:t>
            </a:r>
            <a:r>
              <a:rPr lang="en-US" dirty="0"/>
              <a:t> </a:t>
            </a:r>
            <a:r>
              <a:rPr lang="en-US" dirty="0" err="1"/>
              <a:t>видим</a:t>
            </a:r>
            <a:r>
              <a:rPr lang="en-US" dirty="0"/>
              <a:t> </a:t>
            </a:r>
            <a:r>
              <a:rPr lang="en-US" dirty="0" err="1"/>
              <a:t>более</a:t>
            </a:r>
            <a:r>
              <a:rPr lang="en-US" dirty="0"/>
              <a:t> </a:t>
            </a:r>
            <a:r>
              <a:rPr lang="en-US" dirty="0" err="1"/>
              <a:t>подробную</a:t>
            </a:r>
            <a:r>
              <a:rPr lang="en-US" dirty="0"/>
              <a:t> </a:t>
            </a:r>
            <a:r>
              <a:rPr lang="en-US" dirty="0" err="1"/>
              <a:t>таблицу</a:t>
            </a:r>
            <a:r>
              <a:rPr lang="en-US" dirty="0"/>
              <a:t>: </a:t>
            </a:r>
            <a:r>
              <a:rPr lang="en-US" dirty="0" err="1"/>
              <a:t>пользователя</a:t>
            </a:r>
            <a:r>
              <a:rPr lang="en-US" dirty="0"/>
              <a:t>, PID, </a:t>
            </a:r>
            <a:r>
              <a:rPr lang="en-US" dirty="0" err="1"/>
              <a:t>загрузку</a:t>
            </a:r>
            <a:r>
              <a:rPr lang="en-US" dirty="0"/>
              <a:t> </a:t>
            </a:r>
            <a:r>
              <a:rPr lang="en-US" dirty="0" err="1"/>
              <a:t>процессора</a:t>
            </a:r>
            <a:r>
              <a:rPr lang="en-US" dirty="0"/>
              <a:t> и </a:t>
            </a:r>
            <a:r>
              <a:rPr lang="en-US" dirty="0" err="1"/>
              <a:t>памяти</a:t>
            </a:r>
            <a:r>
              <a:rPr lang="en-US" dirty="0"/>
              <a:t>, </a:t>
            </a:r>
            <a:r>
              <a:rPr lang="en-US" dirty="0" err="1"/>
              <a:t>размеры</a:t>
            </a:r>
            <a:r>
              <a:rPr lang="en-US" dirty="0"/>
              <a:t> </a:t>
            </a:r>
            <a:r>
              <a:rPr lang="en-US" dirty="0" err="1"/>
              <a:t>виртуальной</a:t>
            </a:r>
            <a:r>
              <a:rPr lang="en-US" dirty="0"/>
              <a:t> и </a:t>
            </a:r>
            <a:r>
              <a:rPr lang="en-US" dirty="0" err="1"/>
              <a:t>физической</a:t>
            </a:r>
            <a:r>
              <a:rPr lang="en-US" dirty="0"/>
              <a:t> </a:t>
            </a:r>
            <a:r>
              <a:rPr lang="en-US" dirty="0" err="1"/>
              <a:t>памяти</a:t>
            </a:r>
            <a:r>
              <a:rPr lang="en-US" dirty="0"/>
              <a:t>, </a:t>
            </a:r>
            <a:r>
              <a:rPr lang="en-US" dirty="0" err="1"/>
              <a:t>состояние</a:t>
            </a:r>
            <a:r>
              <a:rPr lang="en-US" dirty="0"/>
              <a:t> </a:t>
            </a:r>
            <a:r>
              <a:rPr lang="en-US" dirty="0" err="1"/>
              <a:t>процесса</a:t>
            </a:r>
            <a:r>
              <a:rPr lang="en-US" dirty="0"/>
              <a:t> и </a:t>
            </a:r>
            <a:r>
              <a:rPr lang="en-US" dirty="0" err="1"/>
              <a:t>команду</a:t>
            </a:r>
            <a:r>
              <a:rPr lang="en-US" dirty="0"/>
              <a:t> </a:t>
            </a:r>
            <a:r>
              <a:rPr lang="en-US" dirty="0" err="1"/>
              <a:t>запуска</a:t>
            </a:r>
            <a:r>
              <a:rPr lang="en-US" dirty="0"/>
              <a:t>.</a:t>
            </a:r>
          </a:p>
          <a:p>
            <a:endParaRPr lang="en-US" dirty="0"/>
          </a:p>
          <a:p>
            <a:r>
              <a:rPr lang="en-US" dirty="0" err="1"/>
              <a:t>Опция</a:t>
            </a:r>
            <a:r>
              <a:rPr lang="en-US" dirty="0"/>
              <a:t> </a:t>
            </a:r>
            <a:r>
              <a:rPr lang="en-US" sz="1200" kern="1200" dirty="0">
                <a:solidFill>
                  <a:schemeClr val="tx1"/>
                </a:solidFill>
                <a:latin typeface="+mn-lt"/>
                <a:ea typeface="+mn-ea"/>
                <a:cs typeface="+mn-cs"/>
              </a:rPr>
              <a:t>x</a:t>
            </a:r>
            <a:r>
              <a:rPr lang="en-US" dirty="0"/>
              <a:t> </a:t>
            </a:r>
            <a:r>
              <a:rPr lang="en-US" dirty="0" err="1"/>
              <a:t>добавляет</a:t>
            </a:r>
            <a:r>
              <a:rPr lang="en-US" dirty="0"/>
              <a:t> </a:t>
            </a:r>
            <a:r>
              <a:rPr lang="en-US" dirty="0" err="1"/>
              <a:t>процессы</a:t>
            </a:r>
            <a:r>
              <a:rPr lang="en-US" dirty="0"/>
              <a:t>, у </a:t>
            </a:r>
            <a:r>
              <a:rPr lang="en-US" dirty="0" err="1"/>
              <a:t>которых</a:t>
            </a:r>
            <a:r>
              <a:rPr lang="en-US" dirty="0"/>
              <a:t> </a:t>
            </a:r>
            <a:r>
              <a:rPr lang="en-US" dirty="0" err="1"/>
              <a:t>нет</a:t>
            </a:r>
            <a:r>
              <a:rPr lang="en-US" dirty="0"/>
              <a:t> </a:t>
            </a:r>
            <a:r>
              <a:rPr lang="en-US" dirty="0" err="1"/>
              <a:t>управляющего</a:t>
            </a:r>
            <a:r>
              <a:rPr lang="en-US" dirty="0"/>
              <a:t> </a:t>
            </a:r>
            <a:r>
              <a:rPr lang="en-US" dirty="0" err="1"/>
              <a:t>терминала</a:t>
            </a:r>
            <a:r>
              <a:rPr lang="en-US" dirty="0"/>
              <a:t>. Это, </a:t>
            </a:r>
            <a:r>
              <a:rPr lang="en-US" dirty="0" err="1"/>
              <a:t>например</a:t>
            </a:r>
            <a:r>
              <a:rPr lang="en-US" dirty="0"/>
              <a:t>, </a:t>
            </a:r>
            <a:r>
              <a:rPr lang="en-US" dirty="0" err="1"/>
              <a:t>фоновые</a:t>
            </a:r>
            <a:r>
              <a:rPr lang="en-US" dirty="0"/>
              <a:t> </a:t>
            </a:r>
            <a:r>
              <a:rPr lang="en-US" dirty="0" err="1"/>
              <a:t>службы</a:t>
            </a:r>
            <a:r>
              <a:rPr lang="en-US" dirty="0"/>
              <a:t> и </a:t>
            </a:r>
            <a:r>
              <a:rPr lang="en-US" dirty="0" err="1"/>
              <a:t>системные</a:t>
            </a:r>
            <a:r>
              <a:rPr lang="en-US" dirty="0"/>
              <a:t> </a:t>
            </a:r>
            <a:r>
              <a:rPr lang="en-US" dirty="0" err="1"/>
              <a:t>процессы</a:t>
            </a:r>
            <a:r>
              <a:rPr lang="en-US" dirty="0"/>
              <a:t>. </a:t>
            </a:r>
            <a:r>
              <a:rPr lang="en-US" dirty="0" err="1"/>
              <a:t>Без</a:t>
            </a:r>
            <a:r>
              <a:rPr lang="en-US" dirty="0"/>
              <a:t> </a:t>
            </a:r>
            <a:r>
              <a:rPr lang="en-US" sz="1200" kern="1200" dirty="0">
                <a:solidFill>
                  <a:schemeClr val="tx1"/>
                </a:solidFill>
                <a:latin typeface="+mn-lt"/>
                <a:ea typeface="+mn-ea"/>
                <a:cs typeface="+mn-cs"/>
              </a:rPr>
              <a:t>x</a:t>
            </a:r>
            <a:r>
              <a:rPr lang="en-US" dirty="0"/>
              <a:t> </a:t>
            </a:r>
            <a:r>
              <a:rPr lang="en-US" dirty="0" err="1"/>
              <a:t>команда</a:t>
            </a:r>
            <a:r>
              <a:rPr lang="en-US" dirty="0"/>
              <a:t> </a:t>
            </a:r>
            <a:r>
              <a:rPr lang="en-US" dirty="0" err="1"/>
              <a:t>могла</a:t>
            </a:r>
            <a:r>
              <a:rPr lang="en-US" dirty="0"/>
              <a:t> </a:t>
            </a:r>
            <a:r>
              <a:rPr lang="en-US" dirty="0" err="1"/>
              <a:t>бы</a:t>
            </a:r>
            <a:r>
              <a:rPr lang="en-US" dirty="0"/>
              <a:t> </a:t>
            </a:r>
            <a:r>
              <a:rPr lang="en-US" dirty="0" err="1"/>
              <a:t>показать</a:t>
            </a:r>
            <a:r>
              <a:rPr lang="en-US" dirty="0"/>
              <a:t> </a:t>
            </a:r>
            <a:r>
              <a:rPr lang="en-US" dirty="0" err="1"/>
              <a:t>только</a:t>
            </a:r>
            <a:r>
              <a:rPr lang="en-US" dirty="0"/>
              <a:t> </a:t>
            </a:r>
            <a:r>
              <a:rPr lang="en-US" dirty="0" err="1"/>
              <a:t>процессы</a:t>
            </a:r>
            <a:r>
              <a:rPr lang="en-US" dirty="0"/>
              <a:t>, </a:t>
            </a:r>
            <a:r>
              <a:rPr lang="en-US" dirty="0" err="1"/>
              <a:t>связанные</a:t>
            </a:r>
            <a:r>
              <a:rPr lang="en-US" dirty="0"/>
              <a:t> с </a:t>
            </a:r>
            <a:r>
              <a:rPr lang="en-US" dirty="0" err="1"/>
              <a:t>каким-либо</a:t>
            </a:r>
            <a:r>
              <a:rPr lang="en-US" dirty="0"/>
              <a:t> </a:t>
            </a:r>
            <a:r>
              <a:rPr lang="en-US" dirty="0" err="1"/>
              <a:t>терминалом</a:t>
            </a:r>
            <a:r>
              <a:rPr lang="en-US" dirty="0"/>
              <a:t>, и </a:t>
            </a:r>
            <a:r>
              <a:rPr lang="en-US" dirty="0" err="1"/>
              <a:t>список</a:t>
            </a:r>
            <a:r>
              <a:rPr lang="en-US" dirty="0"/>
              <a:t> </a:t>
            </a:r>
            <a:r>
              <a:rPr lang="en-US" dirty="0" err="1"/>
              <a:t>оказался</a:t>
            </a:r>
            <a:r>
              <a:rPr lang="en-US" dirty="0"/>
              <a:t> </a:t>
            </a:r>
            <a:r>
              <a:rPr lang="en-US" dirty="0" err="1"/>
              <a:t>бы</a:t>
            </a:r>
            <a:r>
              <a:rPr lang="en-US" dirty="0"/>
              <a:t> </a:t>
            </a:r>
            <a:r>
              <a:rPr lang="en-US" dirty="0" err="1"/>
              <a:t>неполным</a:t>
            </a:r>
            <a:r>
              <a:rPr lang="en-US" dirty="0"/>
              <a:t>.</a:t>
            </a:r>
          </a:p>
          <a:p>
            <a:endParaRPr lang="en-US" dirty="0"/>
          </a:p>
          <a:p>
            <a:r>
              <a:rPr lang="en-US" dirty="0" err="1"/>
              <a:t>Таким</a:t>
            </a:r>
            <a:r>
              <a:rPr lang="en-US" dirty="0"/>
              <a:t> </a:t>
            </a:r>
            <a:r>
              <a:rPr lang="en-US" dirty="0" err="1"/>
              <a:t>образом</a:t>
            </a:r>
            <a:r>
              <a:rPr lang="en-US" dirty="0"/>
              <a:t>, </a:t>
            </a:r>
            <a:r>
              <a:rPr lang="en-US" sz="1200" kern="1200" dirty="0" err="1">
                <a:solidFill>
                  <a:schemeClr val="tx1"/>
                </a:solidFill>
                <a:latin typeface="+mn-lt"/>
                <a:ea typeface="+mn-ea"/>
                <a:cs typeface="+mn-cs"/>
              </a:rPr>
              <a:t>ps</a:t>
            </a:r>
            <a:r>
              <a:rPr lang="en-US" sz="1200" kern="1200" dirty="0">
                <a:solidFill>
                  <a:schemeClr val="tx1"/>
                </a:solidFill>
                <a:latin typeface="+mn-lt"/>
                <a:ea typeface="+mn-ea"/>
                <a:cs typeface="+mn-cs"/>
              </a:rPr>
              <a:t> aux</a:t>
            </a:r>
            <a:r>
              <a:rPr lang="en-US" dirty="0"/>
              <a:t> </a:t>
            </a:r>
            <a:r>
              <a:rPr lang="en-US" dirty="0" err="1"/>
              <a:t>можно</a:t>
            </a:r>
            <a:r>
              <a:rPr lang="en-US" dirty="0"/>
              <a:t> </a:t>
            </a:r>
            <a:r>
              <a:rPr lang="en-US" dirty="0" err="1"/>
              <a:t>понимать</a:t>
            </a:r>
            <a:r>
              <a:rPr lang="en-US" dirty="0"/>
              <a:t> </a:t>
            </a:r>
            <a:r>
              <a:rPr lang="en-US" dirty="0" err="1"/>
              <a:t>как</a:t>
            </a:r>
            <a:r>
              <a:rPr lang="en-US" dirty="0"/>
              <a:t> </a:t>
            </a:r>
            <a:r>
              <a:rPr lang="en-US" dirty="0" err="1"/>
              <a:t>запрос</a:t>
            </a:r>
            <a:r>
              <a:rPr lang="en-US" dirty="0"/>
              <a:t>: </a:t>
            </a:r>
            <a:r>
              <a:rPr lang="en-US" dirty="0" err="1"/>
              <a:t>показать</a:t>
            </a:r>
            <a:r>
              <a:rPr lang="en-US" dirty="0"/>
              <a:t> </a:t>
            </a:r>
            <a:r>
              <a:rPr lang="en-US" dirty="0" err="1"/>
              <a:t>процессы</a:t>
            </a:r>
            <a:r>
              <a:rPr lang="en-US" dirty="0"/>
              <a:t> </a:t>
            </a:r>
            <a:r>
              <a:rPr lang="en-US" dirty="0" err="1"/>
              <a:t>всех</a:t>
            </a:r>
            <a:r>
              <a:rPr lang="en-US" dirty="0"/>
              <a:t> </a:t>
            </a:r>
            <a:r>
              <a:rPr lang="en-US" dirty="0" err="1"/>
              <a:t>пользователей</a:t>
            </a:r>
            <a:r>
              <a:rPr lang="en-US" dirty="0"/>
              <a:t>, </a:t>
            </a:r>
            <a:r>
              <a:rPr lang="en-US" dirty="0" err="1"/>
              <a:t>включая</a:t>
            </a:r>
            <a:r>
              <a:rPr lang="en-US" dirty="0"/>
              <a:t> </a:t>
            </a:r>
            <a:r>
              <a:rPr lang="en-US" dirty="0" err="1"/>
              <a:t>фоновые</a:t>
            </a:r>
            <a:r>
              <a:rPr lang="en-US" dirty="0"/>
              <a:t> </a:t>
            </a:r>
            <a:r>
              <a:rPr lang="en-US" dirty="0" err="1"/>
              <a:t>процессы</a:t>
            </a:r>
            <a:r>
              <a:rPr lang="en-US" dirty="0"/>
              <a:t> </a:t>
            </a:r>
            <a:r>
              <a:rPr lang="en-US" dirty="0" err="1"/>
              <a:t>без</a:t>
            </a:r>
            <a:r>
              <a:rPr lang="en-US" dirty="0"/>
              <a:t> </a:t>
            </a:r>
            <a:r>
              <a:rPr lang="en-US" dirty="0" err="1"/>
              <a:t>терминала</a:t>
            </a:r>
            <a:r>
              <a:rPr lang="en-US" dirty="0"/>
              <a:t>, и </a:t>
            </a:r>
            <a:r>
              <a:rPr lang="en-US" dirty="0" err="1"/>
              <a:t>вывести</a:t>
            </a:r>
            <a:r>
              <a:rPr lang="en-US" dirty="0"/>
              <a:t> </a:t>
            </a:r>
            <a:r>
              <a:rPr lang="en-US" dirty="0" err="1"/>
              <a:t>их</a:t>
            </a:r>
            <a:r>
              <a:rPr lang="en-US" dirty="0"/>
              <a:t> в </a:t>
            </a:r>
            <a:r>
              <a:rPr lang="en-US" dirty="0" err="1"/>
              <a:t>подробном</a:t>
            </a:r>
            <a:r>
              <a:rPr lang="en-US" dirty="0"/>
              <a:t> </a:t>
            </a:r>
            <a:r>
              <a:rPr lang="en-US" dirty="0" err="1"/>
              <a:t>формате</a:t>
            </a:r>
            <a:r>
              <a:rPr lang="en-US" dirty="0"/>
              <a:t>.</a:t>
            </a:r>
          </a:p>
          <a:p>
            <a:endParaRPr lang="en-US" dirty="0"/>
          </a:p>
          <a:p>
            <a:r>
              <a:rPr lang="en-US" dirty="0" err="1"/>
              <a:t>Команда</a:t>
            </a:r>
            <a:r>
              <a:rPr lang="en-US" dirty="0"/>
              <a:t> </a:t>
            </a:r>
            <a:r>
              <a:rPr lang="en-US" sz="1200" kern="1200" dirty="0">
                <a:solidFill>
                  <a:schemeClr val="tx1"/>
                </a:solidFill>
                <a:latin typeface="+mn-lt"/>
                <a:ea typeface="+mn-ea"/>
                <a:cs typeface="+mn-cs"/>
              </a:rPr>
              <a:t>head -5</a:t>
            </a:r>
            <a:r>
              <a:rPr lang="en-US" dirty="0"/>
              <a:t> </a:t>
            </a:r>
            <a:r>
              <a:rPr lang="en-US" dirty="0" err="1"/>
              <a:t>нужна</a:t>
            </a:r>
            <a:r>
              <a:rPr lang="en-US" dirty="0"/>
              <a:t> </a:t>
            </a:r>
            <a:r>
              <a:rPr lang="en-US" dirty="0" err="1"/>
              <a:t>только</a:t>
            </a:r>
            <a:r>
              <a:rPr lang="en-US" dirty="0"/>
              <a:t> </a:t>
            </a:r>
            <a:r>
              <a:rPr lang="en-US" dirty="0" err="1"/>
              <a:t>для</a:t>
            </a:r>
            <a:r>
              <a:rPr lang="en-US" dirty="0"/>
              <a:t> </a:t>
            </a:r>
            <a:r>
              <a:rPr lang="en-US" dirty="0" err="1"/>
              <a:t>того</a:t>
            </a:r>
            <a:r>
              <a:rPr lang="en-US" dirty="0"/>
              <a:t>, </a:t>
            </a:r>
            <a:r>
              <a:rPr lang="en-US" dirty="0" err="1"/>
              <a:t>чтобы</a:t>
            </a:r>
            <a:r>
              <a:rPr lang="en-US" dirty="0"/>
              <a:t> </a:t>
            </a:r>
            <a:r>
              <a:rPr lang="en-US" dirty="0" err="1"/>
              <a:t>ограничить</a:t>
            </a:r>
            <a:r>
              <a:rPr lang="en-US" dirty="0"/>
              <a:t> </a:t>
            </a:r>
            <a:r>
              <a:rPr lang="en-US" dirty="0" err="1"/>
              <a:t>вывод</a:t>
            </a:r>
            <a:r>
              <a:rPr lang="en-US" dirty="0"/>
              <a:t> </a:t>
            </a:r>
            <a:r>
              <a:rPr lang="en-US" dirty="0" err="1"/>
              <a:t>первыми</a:t>
            </a:r>
            <a:r>
              <a:rPr lang="en-US" dirty="0"/>
              <a:t> </a:t>
            </a:r>
            <a:r>
              <a:rPr lang="en-US" dirty="0" err="1"/>
              <a:t>несколькими</a:t>
            </a:r>
            <a:r>
              <a:rPr lang="en-US" dirty="0"/>
              <a:t> </a:t>
            </a:r>
            <a:r>
              <a:rPr lang="en-US" dirty="0" err="1"/>
              <a:t>строками</a:t>
            </a:r>
            <a:r>
              <a:rPr lang="en-US" dirty="0"/>
              <a:t>. </a:t>
            </a:r>
            <a:r>
              <a:rPr lang="en-US" dirty="0" err="1"/>
              <a:t>Само</a:t>
            </a:r>
            <a:r>
              <a:rPr lang="en-US" dirty="0"/>
              <a:t> </a:t>
            </a:r>
            <a:r>
              <a:rPr lang="en-US" dirty="0" err="1"/>
              <a:t>слово</a:t>
            </a:r>
            <a:r>
              <a:rPr lang="en-US" dirty="0"/>
              <a:t> </a:t>
            </a:r>
            <a:r>
              <a:rPr lang="en-US" sz="1200" kern="1200" dirty="0">
                <a:solidFill>
                  <a:schemeClr val="tx1"/>
                </a:solidFill>
                <a:latin typeface="+mn-lt"/>
                <a:ea typeface="+mn-ea"/>
                <a:cs typeface="+mn-cs"/>
              </a:rPr>
              <a:t>head</a:t>
            </a:r>
            <a:r>
              <a:rPr lang="en-US" dirty="0"/>
              <a:t> </a:t>
            </a:r>
            <a:r>
              <a:rPr lang="en-US" dirty="0" err="1"/>
              <a:t>означает</a:t>
            </a:r>
            <a:r>
              <a:rPr lang="en-US" dirty="0"/>
              <a:t> «</a:t>
            </a:r>
            <a:r>
              <a:rPr lang="en-US" dirty="0" err="1"/>
              <a:t>начало</a:t>
            </a:r>
            <a:r>
              <a:rPr lang="en-US" dirty="0"/>
              <a:t>», а </a:t>
            </a:r>
            <a:r>
              <a:rPr lang="en-US" dirty="0" err="1"/>
              <a:t>число</a:t>
            </a:r>
            <a:r>
              <a:rPr lang="en-US" dirty="0"/>
              <a:t> </a:t>
            </a:r>
            <a:r>
              <a:rPr lang="en-US" sz="1200" kern="1200" dirty="0">
                <a:solidFill>
                  <a:schemeClr val="tx1"/>
                </a:solidFill>
                <a:latin typeface="+mn-lt"/>
                <a:ea typeface="+mn-ea"/>
                <a:cs typeface="+mn-cs"/>
              </a:rPr>
              <a:t>5</a:t>
            </a:r>
            <a:r>
              <a:rPr lang="en-US" dirty="0"/>
              <a:t> </a:t>
            </a:r>
            <a:r>
              <a:rPr lang="en-US" dirty="0" err="1"/>
              <a:t>говорит</a:t>
            </a:r>
            <a:r>
              <a:rPr lang="en-US" dirty="0"/>
              <a:t>, </a:t>
            </a:r>
            <a:r>
              <a:rPr lang="en-US" dirty="0" err="1"/>
              <a:t>сколько</a:t>
            </a:r>
            <a:r>
              <a:rPr lang="en-US" dirty="0"/>
              <a:t> </a:t>
            </a:r>
            <a:r>
              <a:rPr lang="en-US" dirty="0" err="1"/>
              <a:t>строк</a:t>
            </a:r>
            <a:r>
              <a:rPr lang="en-US" dirty="0"/>
              <a:t> </a:t>
            </a:r>
            <a:r>
              <a:rPr lang="en-US" dirty="0" err="1"/>
              <a:t>нужно</a:t>
            </a:r>
            <a:r>
              <a:rPr lang="en-US" dirty="0"/>
              <a:t> </a:t>
            </a:r>
            <a:r>
              <a:rPr lang="en-US" dirty="0" err="1"/>
              <a:t>оставить</a:t>
            </a:r>
            <a:r>
              <a:rPr lang="en-US" dirty="0"/>
              <a:t>. В </a:t>
            </a:r>
            <a:r>
              <a:rPr lang="en-US" dirty="0" err="1"/>
              <a:t>результате</a:t>
            </a:r>
            <a:r>
              <a:rPr lang="en-US" dirty="0"/>
              <a:t> </a:t>
            </a:r>
            <a:r>
              <a:rPr lang="en-US" dirty="0" err="1"/>
              <a:t>мы</a:t>
            </a:r>
            <a:r>
              <a:rPr lang="en-US" dirty="0"/>
              <a:t> </a:t>
            </a:r>
            <a:r>
              <a:rPr lang="en-US" dirty="0" err="1"/>
              <a:t>видим</a:t>
            </a:r>
            <a:r>
              <a:rPr lang="en-US" dirty="0"/>
              <a:t> </a:t>
            </a:r>
            <a:r>
              <a:rPr lang="en-US" dirty="0" err="1"/>
              <a:t>заголовок</a:t>
            </a:r>
            <a:r>
              <a:rPr lang="en-US" dirty="0"/>
              <a:t> </a:t>
            </a:r>
            <a:r>
              <a:rPr lang="en-US" dirty="0" err="1"/>
              <a:t>таблицы</a:t>
            </a:r>
            <a:r>
              <a:rPr lang="en-US" dirty="0"/>
              <a:t> и </a:t>
            </a:r>
            <a:r>
              <a:rPr lang="en-US" dirty="0" err="1"/>
              <a:t>несколько</a:t>
            </a:r>
            <a:r>
              <a:rPr lang="en-US" dirty="0"/>
              <a:t> </a:t>
            </a:r>
            <a:r>
              <a:rPr lang="en-US" dirty="0" err="1"/>
              <a:t>первых</a:t>
            </a:r>
            <a:r>
              <a:rPr lang="en-US" dirty="0"/>
              <a:t> </a:t>
            </a:r>
            <a:r>
              <a:rPr lang="en-US" dirty="0" err="1"/>
              <a:t>процессов</a:t>
            </a:r>
            <a:r>
              <a:rPr lang="en-US" dirty="0"/>
              <a:t>.</a:t>
            </a:r>
          </a:p>
          <a:p>
            <a:endParaRPr lang="en-US" dirty="0"/>
          </a:p>
          <a:p>
            <a:r>
              <a:rPr lang="en-US" dirty="0" err="1"/>
              <a:t>Каждая</a:t>
            </a:r>
            <a:r>
              <a:rPr lang="en-US" dirty="0"/>
              <a:t> </a:t>
            </a:r>
            <a:r>
              <a:rPr lang="en-US" dirty="0" err="1"/>
              <a:t>строка</a:t>
            </a:r>
            <a:r>
              <a:rPr lang="en-US" dirty="0"/>
              <a:t> </a:t>
            </a:r>
            <a:r>
              <a:rPr lang="en-US" dirty="0" err="1"/>
              <a:t>после</a:t>
            </a:r>
            <a:r>
              <a:rPr lang="en-US" dirty="0"/>
              <a:t> </a:t>
            </a:r>
            <a:r>
              <a:rPr lang="en-US" dirty="0" err="1"/>
              <a:t>заголовка</a:t>
            </a:r>
            <a:r>
              <a:rPr lang="en-US" dirty="0"/>
              <a:t> </a:t>
            </a:r>
            <a:r>
              <a:rPr lang="en-US" dirty="0" err="1"/>
              <a:t>соответствует</a:t>
            </a:r>
            <a:r>
              <a:rPr lang="en-US" dirty="0"/>
              <a:t> </a:t>
            </a:r>
            <a:r>
              <a:rPr lang="en-US" dirty="0" err="1"/>
              <a:t>отдельному</a:t>
            </a:r>
            <a:r>
              <a:rPr lang="en-US" dirty="0"/>
              <a:t> </a:t>
            </a:r>
            <a:r>
              <a:rPr lang="en-US" dirty="0" err="1"/>
              <a:t>процессу</a:t>
            </a:r>
            <a:r>
              <a:rPr lang="en-US" dirty="0"/>
              <a:t>.</a:t>
            </a:r>
          </a:p>
          <a:p>
            <a:endParaRPr lang="en-US" dirty="0"/>
          </a:p>
          <a:p>
            <a:r>
              <a:rPr lang="en-US" dirty="0" err="1"/>
              <a:t>Первый</a:t>
            </a:r>
            <a:r>
              <a:rPr lang="en-US" dirty="0"/>
              <a:t> </a:t>
            </a:r>
            <a:r>
              <a:rPr lang="en-US" dirty="0" err="1"/>
              <a:t>столбец</a:t>
            </a:r>
            <a:r>
              <a:rPr lang="en-US" dirty="0"/>
              <a:t>, </a:t>
            </a:r>
            <a:r>
              <a:rPr lang="en-US" sz="1200" kern="1200" dirty="0">
                <a:solidFill>
                  <a:schemeClr val="tx1"/>
                </a:solidFill>
                <a:latin typeface="+mn-lt"/>
                <a:ea typeface="+mn-ea"/>
                <a:cs typeface="+mn-cs"/>
              </a:rPr>
              <a:t>USER</a:t>
            </a:r>
            <a:r>
              <a:rPr lang="en-US" dirty="0"/>
              <a:t>, </a:t>
            </a:r>
            <a:r>
              <a:rPr lang="en-US" dirty="0" err="1"/>
              <a:t>показывает</a:t>
            </a:r>
            <a:r>
              <a:rPr lang="en-US" dirty="0"/>
              <a:t>, </a:t>
            </a:r>
            <a:r>
              <a:rPr lang="en-US" dirty="0" err="1"/>
              <a:t>от</a:t>
            </a:r>
            <a:r>
              <a:rPr lang="en-US" dirty="0"/>
              <a:t> </a:t>
            </a:r>
            <a:r>
              <a:rPr lang="en-US" dirty="0" err="1"/>
              <a:t>имени</a:t>
            </a:r>
            <a:r>
              <a:rPr lang="en-US" dirty="0"/>
              <a:t> </a:t>
            </a:r>
            <a:r>
              <a:rPr lang="en-US" dirty="0" err="1"/>
              <a:t>какого</a:t>
            </a:r>
            <a:r>
              <a:rPr lang="en-US" dirty="0"/>
              <a:t> </a:t>
            </a:r>
            <a:r>
              <a:rPr lang="en-US" dirty="0" err="1"/>
              <a:t>пользователя</a:t>
            </a:r>
            <a:r>
              <a:rPr lang="en-US" dirty="0"/>
              <a:t> </a:t>
            </a:r>
            <a:r>
              <a:rPr lang="en-US" dirty="0" err="1"/>
              <a:t>запущен</a:t>
            </a:r>
            <a:r>
              <a:rPr lang="en-US" dirty="0"/>
              <a:t> </a:t>
            </a:r>
            <a:r>
              <a:rPr lang="en-US" dirty="0" err="1"/>
              <a:t>процесс</a:t>
            </a:r>
            <a:r>
              <a:rPr lang="en-US" dirty="0"/>
              <a:t>. </a:t>
            </a:r>
            <a:r>
              <a:rPr lang="en-US" dirty="0" err="1"/>
              <a:t>Например</a:t>
            </a:r>
            <a:r>
              <a:rPr lang="en-US" dirty="0"/>
              <a:t>, </a:t>
            </a:r>
            <a:r>
              <a:rPr lang="en-US" dirty="0" err="1"/>
              <a:t>здесь</a:t>
            </a:r>
            <a:r>
              <a:rPr lang="en-US" dirty="0"/>
              <a:t> </a:t>
            </a:r>
            <a:r>
              <a:rPr lang="en-US" dirty="0" err="1"/>
              <a:t>первые</a:t>
            </a:r>
            <a:r>
              <a:rPr lang="en-US" dirty="0"/>
              <a:t> </a:t>
            </a:r>
            <a:r>
              <a:rPr lang="en-US" dirty="0" err="1"/>
              <a:t>процессы</a:t>
            </a:r>
            <a:r>
              <a:rPr lang="en-US" dirty="0"/>
              <a:t> </a:t>
            </a:r>
            <a:r>
              <a:rPr lang="en-US" dirty="0" err="1"/>
              <a:t>принадлежат</a:t>
            </a:r>
            <a:r>
              <a:rPr lang="en-US" dirty="0"/>
              <a:t> </a:t>
            </a:r>
            <a:r>
              <a:rPr lang="en-US" dirty="0" err="1"/>
              <a:t>пользователю</a:t>
            </a:r>
            <a:r>
              <a:rPr lang="en-US" dirty="0"/>
              <a:t> </a:t>
            </a:r>
            <a:r>
              <a:rPr lang="en-US" sz="1200" kern="1200" dirty="0">
                <a:solidFill>
                  <a:schemeClr val="tx1"/>
                </a:solidFill>
                <a:latin typeface="+mn-lt"/>
                <a:ea typeface="+mn-ea"/>
                <a:cs typeface="+mn-cs"/>
              </a:rPr>
              <a:t>root</a:t>
            </a:r>
            <a:r>
              <a:rPr lang="en-US" dirty="0"/>
              <a:t>, </a:t>
            </a:r>
            <a:r>
              <a:rPr lang="en-US" dirty="0" err="1"/>
              <a:t>то</a:t>
            </a:r>
            <a:r>
              <a:rPr lang="en-US" dirty="0"/>
              <a:t> </a:t>
            </a:r>
            <a:r>
              <a:rPr lang="en-US" dirty="0" err="1"/>
              <a:t>есть</a:t>
            </a:r>
            <a:r>
              <a:rPr lang="en-US" dirty="0"/>
              <a:t> </a:t>
            </a:r>
            <a:r>
              <a:rPr lang="en-US" dirty="0" err="1"/>
              <a:t>системному</a:t>
            </a:r>
            <a:r>
              <a:rPr lang="en-US" dirty="0"/>
              <a:t> </a:t>
            </a:r>
            <a:r>
              <a:rPr lang="en-US" dirty="0" err="1"/>
              <a:t>администратору</a:t>
            </a:r>
            <a:r>
              <a:rPr lang="en-US" dirty="0"/>
              <a:t>.</a:t>
            </a:r>
          </a:p>
          <a:p>
            <a:endParaRPr lang="en-US" dirty="0"/>
          </a:p>
          <a:p>
            <a:r>
              <a:rPr lang="en-US" sz="1200" kern="1200" dirty="0">
                <a:solidFill>
                  <a:schemeClr val="tx1"/>
                </a:solidFill>
                <a:latin typeface="+mn-lt"/>
                <a:ea typeface="+mn-ea"/>
                <a:cs typeface="+mn-cs"/>
              </a:rPr>
              <a:t>PID</a:t>
            </a:r>
            <a:r>
              <a:rPr lang="en-US" dirty="0"/>
              <a:t> — </a:t>
            </a:r>
            <a:r>
              <a:rPr lang="en-US" dirty="0" err="1"/>
              <a:t>это</a:t>
            </a:r>
            <a:r>
              <a:rPr lang="en-US" dirty="0"/>
              <a:t> </a:t>
            </a:r>
            <a:r>
              <a:rPr lang="en-US" dirty="0" err="1"/>
              <a:t>уникальный</a:t>
            </a:r>
            <a:r>
              <a:rPr lang="en-US" dirty="0"/>
              <a:t> </a:t>
            </a:r>
            <a:r>
              <a:rPr lang="en-US" dirty="0" err="1"/>
              <a:t>идентификатор</a:t>
            </a:r>
            <a:r>
              <a:rPr lang="en-US" dirty="0"/>
              <a:t> </a:t>
            </a:r>
            <a:r>
              <a:rPr lang="en-US" dirty="0" err="1"/>
              <a:t>процесса</a:t>
            </a:r>
            <a:r>
              <a:rPr lang="en-US" dirty="0"/>
              <a:t>. </a:t>
            </a:r>
            <a:r>
              <a:rPr lang="en-US" dirty="0" err="1"/>
              <a:t>Операционная</a:t>
            </a:r>
            <a:r>
              <a:rPr lang="en-US" dirty="0"/>
              <a:t> </a:t>
            </a:r>
            <a:r>
              <a:rPr lang="en-US" dirty="0" err="1"/>
              <a:t>система</a:t>
            </a:r>
            <a:r>
              <a:rPr lang="en-US" dirty="0"/>
              <a:t> </a:t>
            </a:r>
            <a:r>
              <a:rPr lang="en-US" dirty="0" err="1"/>
              <a:t>использует</a:t>
            </a:r>
            <a:r>
              <a:rPr lang="en-US" dirty="0"/>
              <a:t> </a:t>
            </a:r>
            <a:r>
              <a:rPr lang="en-US" dirty="0" err="1"/>
              <a:t>его</a:t>
            </a:r>
            <a:r>
              <a:rPr lang="en-US" dirty="0"/>
              <a:t>, </a:t>
            </a:r>
            <a:r>
              <a:rPr lang="en-US" dirty="0" err="1"/>
              <a:t>чтобы</a:t>
            </a:r>
            <a:r>
              <a:rPr lang="en-US" dirty="0"/>
              <a:t> </a:t>
            </a:r>
            <a:r>
              <a:rPr lang="en-US" dirty="0" err="1"/>
              <a:t>однозначно</a:t>
            </a:r>
            <a:r>
              <a:rPr lang="en-US" dirty="0"/>
              <a:t> </a:t>
            </a:r>
            <a:r>
              <a:rPr lang="en-US" dirty="0" err="1"/>
              <a:t>различать</a:t>
            </a:r>
            <a:r>
              <a:rPr lang="en-US" dirty="0"/>
              <a:t> </a:t>
            </a:r>
            <a:r>
              <a:rPr lang="en-US" dirty="0" err="1"/>
              <a:t>процессы</a:t>
            </a:r>
            <a:r>
              <a:rPr lang="en-US" dirty="0"/>
              <a:t>. </a:t>
            </a:r>
            <a:r>
              <a:rPr lang="en-US" dirty="0" err="1"/>
              <a:t>Например</a:t>
            </a:r>
            <a:r>
              <a:rPr lang="en-US" dirty="0"/>
              <a:t>, PID </a:t>
            </a:r>
            <a:r>
              <a:rPr lang="en-US" dirty="0" err="1"/>
              <a:t>можно</a:t>
            </a:r>
            <a:r>
              <a:rPr lang="en-US" dirty="0"/>
              <a:t> </a:t>
            </a:r>
            <a:r>
              <a:rPr lang="en-US" dirty="0" err="1"/>
              <a:t>указать</a:t>
            </a:r>
            <a:r>
              <a:rPr lang="en-US" dirty="0"/>
              <a:t>, </a:t>
            </a:r>
            <a:r>
              <a:rPr lang="en-US" dirty="0" err="1"/>
              <a:t>если</a:t>
            </a:r>
            <a:r>
              <a:rPr lang="en-US" dirty="0"/>
              <a:t> </a:t>
            </a:r>
            <a:r>
              <a:rPr lang="en-US" dirty="0" err="1"/>
              <a:t>мы</a:t>
            </a:r>
            <a:r>
              <a:rPr lang="en-US" dirty="0"/>
              <a:t> </a:t>
            </a:r>
            <a:r>
              <a:rPr lang="en-US" dirty="0" err="1"/>
              <a:t>хотим</a:t>
            </a:r>
            <a:r>
              <a:rPr lang="en-US" dirty="0"/>
              <a:t> </a:t>
            </a:r>
            <a:r>
              <a:rPr lang="en-US" dirty="0" err="1"/>
              <a:t>отправить</a:t>
            </a:r>
            <a:r>
              <a:rPr lang="en-US" dirty="0"/>
              <a:t> </a:t>
            </a:r>
            <a:r>
              <a:rPr lang="en-US" dirty="0" err="1"/>
              <a:t>процессу</a:t>
            </a:r>
            <a:r>
              <a:rPr lang="en-US" dirty="0"/>
              <a:t> </a:t>
            </a:r>
            <a:r>
              <a:rPr lang="en-US" dirty="0" err="1"/>
              <a:t>сигнал</a:t>
            </a:r>
            <a:r>
              <a:rPr lang="en-US" dirty="0"/>
              <a:t> </a:t>
            </a:r>
            <a:r>
              <a:rPr lang="en-US" dirty="0" err="1"/>
              <a:t>или</a:t>
            </a:r>
            <a:r>
              <a:rPr lang="en-US" dirty="0"/>
              <a:t> </a:t>
            </a:r>
            <a:r>
              <a:rPr lang="en-US" dirty="0" err="1"/>
              <a:t>завершить</a:t>
            </a:r>
            <a:r>
              <a:rPr lang="en-US" dirty="0"/>
              <a:t> </a:t>
            </a:r>
            <a:r>
              <a:rPr lang="en-US" dirty="0" err="1"/>
              <a:t>его</a:t>
            </a:r>
            <a:r>
              <a:rPr lang="en-US" dirty="0"/>
              <a:t>.</a:t>
            </a:r>
          </a:p>
          <a:p>
            <a:endParaRPr lang="en-US" dirty="0"/>
          </a:p>
          <a:p>
            <a:r>
              <a:rPr lang="en-US" dirty="0" err="1"/>
              <a:t>Столбцы</a:t>
            </a:r>
            <a:r>
              <a:rPr lang="en-US" dirty="0"/>
              <a:t> </a:t>
            </a:r>
            <a:r>
              <a:rPr lang="en-US" sz="1200" kern="1200" dirty="0">
                <a:solidFill>
                  <a:schemeClr val="tx1"/>
                </a:solidFill>
                <a:latin typeface="+mn-lt"/>
                <a:ea typeface="+mn-ea"/>
                <a:cs typeface="+mn-cs"/>
              </a:rPr>
              <a:t>%CPU</a:t>
            </a:r>
            <a:r>
              <a:rPr lang="en-US" dirty="0"/>
              <a:t> и </a:t>
            </a:r>
            <a:r>
              <a:rPr lang="en-US" sz="1200" kern="1200" dirty="0">
                <a:solidFill>
                  <a:schemeClr val="tx1"/>
                </a:solidFill>
                <a:latin typeface="+mn-lt"/>
                <a:ea typeface="+mn-ea"/>
                <a:cs typeface="+mn-cs"/>
              </a:rPr>
              <a:t>%MEM</a:t>
            </a:r>
            <a:r>
              <a:rPr lang="en-US" dirty="0"/>
              <a:t> </a:t>
            </a:r>
            <a:r>
              <a:rPr lang="en-US" dirty="0" err="1"/>
              <a:t>показывают</a:t>
            </a:r>
            <a:r>
              <a:rPr lang="en-US" dirty="0"/>
              <a:t>, </a:t>
            </a:r>
            <a:r>
              <a:rPr lang="en-US" dirty="0" err="1"/>
              <a:t>какую</a:t>
            </a:r>
            <a:r>
              <a:rPr lang="en-US" dirty="0"/>
              <a:t> </a:t>
            </a:r>
            <a:r>
              <a:rPr lang="en-US" dirty="0" err="1"/>
              <a:t>долю</a:t>
            </a:r>
            <a:r>
              <a:rPr lang="en-US" dirty="0"/>
              <a:t> </a:t>
            </a:r>
            <a:r>
              <a:rPr lang="en-US" dirty="0" err="1"/>
              <a:t>процессорного</a:t>
            </a:r>
            <a:r>
              <a:rPr lang="en-US" dirty="0"/>
              <a:t> </a:t>
            </a:r>
            <a:r>
              <a:rPr lang="en-US" dirty="0" err="1"/>
              <a:t>времени</a:t>
            </a:r>
            <a:r>
              <a:rPr lang="en-US" dirty="0"/>
              <a:t> и </a:t>
            </a:r>
            <a:r>
              <a:rPr lang="en-US" dirty="0" err="1"/>
              <a:t>оперативной</a:t>
            </a:r>
            <a:r>
              <a:rPr lang="en-US" dirty="0"/>
              <a:t> </a:t>
            </a:r>
            <a:r>
              <a:rPr lang="en-US" dirty="0" err="1"/>
              <a:t>памяти</a:t>
            </a:r>
            <a:r>
              <a:rPr lang="en-US" dirty="0"/>
              <a:t> </a:t>
            </a:r>
            <a:r>
              <a:rPr lang="en-US" dirty="0" err="1"/>
              <a:t>использует</a:t>
            </a:r>
            <a:r>
              <a:rPr lang="en-US" dirty="0"/>
              <a:t> </a:t>
            </a:r>
            <a:r>
              <a:rPr lang="en-US" dirty="0" err="1"/>
              <a:t>процесс</a:t>
            </a:r>
            <a:r>
              <a:rPr lang="en-US" dirty="0"/>
              <a:t>.</a:t>
            </a:r>
          </a:p>
          <a:p>
            <a:r>
              <a:rPr lang="en-US" dirty="0" err="1"/>
              <a:t>Дальше</a:t>
            </a:r>
            <a:r>
              <a:rPr lang="en-US" dirty="0"/>
              <a:t> </a:t>
            </a:r>
            <a:r>
              <a:rPr lang="en-US" dirty="0" err="1"/>
              <a:t>идут</a:t>
            </a:r>
            <a:r>
              <a:rPr lang="en-US" dirty="0"/>
              <a:t> </a:t>
            </a:r>
            <a:r>
              <a:rPr lang="en-US" sz="1200" kern="1200" dirty="0">
                <a:solidFill>
                  <a:schemeClr val="tx1"/>
                </a:solidFill>
                <a:latin typeface="+mn-lt"/>
                <a:ea typeface="+mn-ea"/>
                <a:cs typeface="+mn-cs"/>
              </a:rPr>
              <a:t>VSZ</a:t>
            </a:r>
            <a:r>
              <a:rPr lang="en-US" dirty="0"/>
              <a:t> и </a:t>
            </a:r>
            <a:r>
              <a:rPr lang="en-US" sz="1200" kern="1200" dirty="0">
                <a:solidFill>
                  <a:schemeClr val="tx1"/>
                </a:solidFill>
                <a:latin typeface="+mn-lt"/>
                <a:ea typeface="+mn-ea"/>
                <a:cs typeface="+mn-cs"/>
              </a:rPr>
              <a:t>RSS</a:t>
            </a:r>
            <a:r>
              <a:rPr lang="en-US" dirty="0"/>
              <a:t>. </a:t>
            </a:r>
            <a:r>
              <a:rPr lang="en-US" sz="1200" kern="1200" dirty="0">
                <a:solidFill>
                  <a:schemeClr val="tx1"/>
                </a:solidFill>
                <a:latin typeface="+mn-lt"/>
                <a:ea typeface="+mn-ea"/>
                <a:cs typeface="+mn-cs"/>
              </a:rPr>
              <a:t>VSZ</a:t>
            </a:r>
            <a:r>
              <a:rPr lang="en-US" dirty="0"/>
              <a:t> </a:t>
            </a:r>
            <a:r>
              <a:rPr lang="en-US" dirty="0" err="1"/>
              <a:t>характеризует</a:t>
            </a:r>
            <a:r>
              <a:rPr lang="en-US" dirty="0"/>
              <a:t> </a:t>
            </a:r>
            <a:r>
              <a:rPr lang="en-US" dirty="0" err="1"/>
              <a:t>размер</a:t>
            </a:r>
            <a:r>
              <a:rPr lang="en-US" dirty="0"/>
              <a:t> </a:t>
            </a:r>
            <a:r>
              <a:rPr lang="en-US" dirty="0" err="1"/>
              <a:t>виртуальной</a:t>
            </a:r>
            <a:r>
              <a:rPr lang="en-US" dirty="0"/>
              <a:t> </a:t>
            </a:r>
            <a:r>
              <a:rPr lang="en-US" dirty="0" err="1"/>
              <a:t>памяти</a:t>
            </a:r>
            <a:r>
              <a:rPr lang="en-US" dirty="0"/>
              <a:t> </a:t>
            </a:r>
            <a:r>
              <a:rPr lang="en-US" dirty="0" err="1"/>
              <a:t>процесса</a:t>
            </a:r>
            <a:r>
              <a:rPr lang="en-US" dirty="0"/>
              <a:t>, а </a:t>
            </a:r>
            <a:r>
              <a:rPr lang="en-US" sz="1200" kern="1200" dirty="0">
                <a:solidFill>
                  <a:schemeClr val="tx1"/>
                </a:solidFill>
                <a:latin typeface="+mn-lt"/>
                <a:ea typeface="+mn-ea"/>
                <a:cs typeface="+mn-cs"/>
              </a:rPr>
              <a:t>RSS</a:t>
            </a:r>
            <a:r>
              <a:rPr lang="en-US" dirty="0"/>
              <a:t> — </a:t>
            </a:r>
            <a:r>
              <a:rPr lang="en-US" dirty="0" err="1"/>
              <a:t>объём</a:t>
            </a:r>
            <a:r>
              <a:rPr lang="en-US" dirty="0"/>
              <a:t> </a:t>
            </a:r>
            <a:r>
              <a:rPr lang="en-US" dirty="0" err="1"/>
              <a:t>его</a:t>
            </a:r>
            <a:r>
              <a:rPr lang="en-US" dirty="0"/>
              <a:t> </a:t>
            </a:r>
            <a:r>
              <a:rPr lang="en-US" dirty="0" err="1"/>
              <a:t>памяти</a:t>
            </a:r>
            <a:r>
              <a:rPr lang="en-US" dirty="0"/>
              <a:t>, </a:t>
            </a:r>
            <a:r>
              <a:rPr lang="en-US" dirty="0" err="1"/>
              <a:t>который</a:t>
            </a:r>
            <a:r>
              <a:rPr lang="en-US" dirty="0"/>
              <a:t> в </a:t>
            </a:r>
            <a:r>
              <a:rPr lang="en-US" dirty="0" err="1"/>
              <a:t>данный</a:t>
            </a:r>
            <a:r>
              <a:rPr lang="en-US" dirty="0"/>
              <a:t> </a:t>
            </a:r>
            <a:r>
              <a:rPr lang="en-US" dirty="0" err="1"/>
              <a:t>момент</a:t>
            </a:r>
            <a:r>
              <a:rPr lang="en-US" dirty="0"/>
              <a:t> </a:t>
            </a:r>
            <a:r>
              <a:rPr lang="en-US" dirty="0" err="1"/>
              <a:t>находится</a:t>
            </a:r>
            <a:r>
              <a:rPr lang="en-US" dirty="0"/>
              <a:t> в </a:t>
            </a:r>
            <a:r>
              <a:rPr lang="en-US" dirty="0" err="1"/>
              <a:t>оперативной</a:t>
            </a:r>
            <a:r>
              <a:rPr lang="en-US" dirty="0"/>
              <a:t> </a:t>
            </a:r>
            <a:r>
              <a:rPr lang="en-US" dirty="0" err="1"/>
              <a:t>памяти</a:t>
            </a:r>
            <a:r>
              <a:rPr lang="en-US" dirty="0"/>
              <a:t>.</a:t>
            </a:r>
          </a:p>
          <a:p>
            <a:r>
              <a:rPr lang="en-US" dirty="0"/>
              <a:t>В </a:t>
            </a:r>
            <a:r>
              <a:rPr lang="en-US" dirty="0" err="1"/>
              <a:t>столбце</a:t>
            </a:r>
            <a:r>
              <a:rPr lang="en-US" dirty="0"/>
              <a:t> </a:t>
            </a:r>
            <a:r>
              <a:rPr lang="en-US" sz="1200" kern="1200" dirty="0">
                <a:solidFill>
                  <a:schemeClr val="tx1"/>
                </a:solidFill>
                <a:latin typeface="+mn-lt"/>
                <a:ea typeface="+mn-ea"/>
                <a:cs typeface="+mn-cs"/>
              </a:rPr>
              <a:t>STAT</a:t>
            </a:r>
            <a:r>
              <a:rPr lang="en-US" dirty="0"/>
              <a:t> </a:t>
            </a:r>
            <a:r>
              <a:rPr lang="en-US" dirty="0" err="1"/>
              <a:t>отображается</a:t>
            </a:r>
            <a:r>
              <a:rPr lang="en-US" dirty="0"/>
              <a:t> </a:t>
            </a:r>
            <a:r>
              <a:rPr lang="en-US" dirty="0" err="1"/>
              <a:t>текущее</a:t>
            </a:r>
            <a:r>
              <a:rPr lang="en-US" dirty="0"/>
              <a:t> </a:t>
            </a:r>
            <a:r>
              <a:rPr lang="en-US" dirty="0" err="1"/>
              <a:t>состояние</a:t>
            </a:r>
            <a:r>
              <a:rPr lang="en-US" dirty="0"/>
              <a:t> </a:t>
            </a:r>
            <a:r>
              <a:rPr lang="en-US" dirty="0" err="1"/>
              <a:t>процесса</a:t>
            </a:r>
            <a:r>
              <a:rPr lang="en-US" dirty="0"/>
              <a:t>. </a:t>
            </a:r>
            <a:r>
              <a:rPr lang="en-US" dirty="0" err="1"/>
              <a:t>Например</a:t>
            </a:r>
            <a:r>
              <a:rPr lang="en-US" dirty="0"/>
              <a:t>, </a:t>
            </a:r>
            <a:r>
              <a:rPr lang="en-US" dirty="0" err="1"/>
              <a:t>процесс</a:t>
            </a:r>
            <a:r>
              <a:rPr lang="en-US" dirty="0"/>
              <a:t> </a:t>
            </a:r>
            <a:r>
              <a:rPr lang="en-US" dirty="0" err="1"/>
              <a:t>может</a:t>
            </a:r>
            <a:r>
              <a:rPr lang="en-US" dirty="0"/>
              <a:t> </a:t>
            </a:r>
            <a:r>
              <a:rPr lang="en-US" dirty="0" err="1"/>
              <a:t>выполняться</a:t>
            </a:r>
            <a:r>
              <a:rPr lang="en-US" dirty="0"/>
              <a:t>, </a:t>
            </a:r>
            <a:r>
              <a:rPr lang="en-US" dirty="0" err="1"/>
              <a:t>ожидать</a:t>
            </a:r>
            <a:r>
              <a:rPr lang="en-US" dirty="0"/>
              <a:t> </a:t>
            </a:r>
            <a:r>
              <a:rPr lang="en-US" dirty="0" err="1"/>
              <a:t>какого-либо</a:t>
            </a:r>
            <a:r>
              <a:rPr lang="en-US" dirty="0"/>
              <a:t> </a:t>
            </a:r>
            <a:r>
              <a:rPr lang="en-US" dirty="0" err="1"/>
              <a:t>события</a:t>
            </a:r>
            <a:r>
              <a:rPr lang="en-US" dirty="0"/>
              <a:t> </a:t>
            </a:r>
            <a:r>
              <a:rPr lang="en-US" dirty="0" err="1"/>
              <a:t>или</a:t>
            </a:r>
            <a:r>
              <a:rPr lang="en-US" dirty="0"/>
              <a:t> </a:t>
            </a:r>
            <a:r>
              <a:rPr lang="en-US" dirty="0" err="1"/>
              <a:t>быть</a:t>
            </a:r>
            <a:r>
              <a:rPr lang="en-US" dirty="0"/>
              <a:t> </a:t>
            </a:r>
            <a:r>
              <a:rPr lang="en-US" dirty="0" err="1"/>
              <a:t>приостановлен</a:t>
            </a:r>
            <a:r>
              <a:rPr lang="en-US" dirty="0"/>
              <a:t>.</a:t>
            </a:r>
          </a:p>
          <a:p>
            <a:endParaRPr lang="en-US" dirty="0"/>
          </a:p>
          <a:p>
            <a:r>
              <a:rPr lang="en-US" sz="1200" kern="1200" dirty="0">
                <a:solidFill>
                  <a:schemeClr val="tx1"/>
                </a:solidFill>
                <a:latin typeface="+mn-lt"/>
                <a:ea typeface="+mn-ea"/>
                <a:cs typeface="+mn-cs"/>
              </a:rPr>
              <a:t>START</a:t>
            </a:r>
            <a:r>
              <a:rPr lang="en-US" dirty="0"/>
              <a:t> </a:t>
            </a:r>
            <a:r>
              <a:rPr lang="en-US" dirty="0" err="1"/>
              <a:t>показывает</a:t>
            </a:r>
            <a:r>
              <a:rPr lang="en-US" dirty="0"/>
              <a:t>, </a:t>
            </a:r>
            <a:r>
              <a:rPr lang="en-US" dirty="0" err="1"/>
              <a:t>когда</a:t>
            </a:r>
            <a:r>
              <a:rPr lang="en-US" dirty="0"/>
              <a:t> </a:t>
            </a:r>
            <a:r>
              <a:rPr lang="en-US" dirty="0" err="1"/>
              <a:t>процесс</a:t>
            </a:r>
            <a:r>
              <a:rPr lang="en-US" dirty="0"/>
              <a:t> </a:t>
            </a:r>
            <a:r>
              <a:rPr lang="en-US" dirty="0" err="1"/>
              <a:t>был</a:t>
            </a:r>
            <a:r>
              <a:rPr lang="en-US" dirty="0"/>
              <a:t> </a:t>
            </a:r>
            <a:r>
              <a:rPr lang="en-US" dirty="0" err="1"/>
              <a:t>запущен</a:t>
            </a:r>
            <a:r>
              <a:rPr lang="en-US" dirty="0"/>
              <a:t>, а </a:t>
            </a:r>
            <a:r>
              <a:rPr lang="en-US" sz="1200" kern="1200" dirty="0">
                <a:solidFill>
                  <a:schemeClr val="tx1"/>
                </a:solidFill>
                <a:latin typeface="+mn-lt"/>
                <a:ea typeface="+mn-ea"/>
                <a:cs typeface="+mn-cs"/>
              </a:rPr>
              <a:t>TIME</a:t>
            </a:r>
            <a:r>
              <a:rPr lang="en-US" dirty="0"/>
              <a:t> — </a:t>
            </a:r>
            <a:r>
              <a:rPr lang="en-US" dirty="0" err="1"/>
              <a:t>сколько</a:t>
            </a:r>
            <a:r>
              <a:rPr lang="en-US" dirty="0"/>
              <a:t> </a:t>
            </a:r>
            <a:r>
              <a:rPr lang="en-US" dirty="0" err="1"/>
              <a:t>процессорного</a:t>
            </a:r>
            <a:r>
              <a:rPr lang="en-US" dirty="0"/>
              <a:t> </a:t>
            </a:r>
            <a:r>
              <a:rPr lang="en-US" dirty="0" err="1"/>
              <a:t>времени</a:t>
            </a:r>
            <a:r>
              <a:rPr lang="en-US" dirty="0"/>
              <a:t> </a:t>
            </a:r>
            <a:r>
              <a:rPr lang="en-US" dirty="0" err="1"/>
              <a:t>он</a:t>
            </a:r>
            <a:r>
              <a:rPr lang="en-US" dirty="0"/>
              <a:t> </a:t>
            </a:r>
            <a:r>
              <a:rPr lang="en-US" dirty="0" err="1"/>
              <a:t>уже</a:t>
            </a:r>
            <a:r>
              <a:rPr lang="en-US" dirty="0"/>
              <a:t> </a:t>
            </a:r>
            <a:r>
              <a:rPr lang="en-US" dirty="0" err="1"/>
              <a:t>получил</a:t>
            </a:r>
            <a:r>
              <a:rPr lang="en-US" dirty="0"/>
              <a:t>.</a:t>
            </a:r>
          </a:p>
          <a:p>
            <a:r>
              <a:rPr lang="en-US" dirty="0"/>
              <a:t>И </a:t>
            </a:r>
            <a:r>
              <a:rPr lang="en-US" dirty="0" err="1"/>
              <a:t>наконец</a:t>
            </a:r>
            <a:r>
              <a:rPr lang="en-US" dirty="0"/>
              <a:t>, </a:t>
            </a:r>
            <a:r>
              <a:rPr lang="en-US" sz="1200" kern="1200" dirty="0">
                <a:solidFill>
                  <a:schemeClr val="tx1"/>
                </a:solidFill>
                <a:latin typeface="+mn-lt"/>
                <a:ea typeface="+mn-ea"/>
                <a:cs typeface="+mn-cs"/>
              </a:rPr>
              <a:t>COMMAND</a:t>
            </a:r>
            <a:r>
              <a:rPr lang="en-US" dirty="0"/>
              <a:t> </a:t>
            </a:r>
            <a:r>
              <a:rPr lang="en-US" dirty="0" err="1"/>
              <a:t>показывает</a:t>
            </a:r>
            <a:r>
              <a:rPr lang="en-US" dirty="0"/>
              <a:t> </a:t>
            </a:r>
            <a:r>
              <a:rPr lang="en-US" dirty="0" err="1"/>
              <a:t>программу</a:t>
            </a:r>
            <a:r>
              <a:rPr lang="en-US" dirty="0"/>
              <a:t> </a:t>
            </a:r>
            <a:r>
              <a:rPr lang="en-US" dirty="0" err="1"/>
              <a:t>или</a:t>
            </a:r>
            <a:r>
              <a:rPr lang="en-US" dirty="0"/>
              <a:t> </a:t>
            </a:r>
            <a:r>
              <a:rPr lang="en-US" dirty="0" err="1"/>
              <a:t>командную</a:t>
            </a:r>
            <a:r>
              <a:rPr lang="en-US" dirty="0"/>
              <a:t> </a:t>
            </a:r>
            <a:r>
              <a:rPr lang="en-US" dirty="0" err="1"/>
              <a:t>строку</a:t>
            </a:r>
            <a:r>
              <a:rPr lang="en-US" dirty="0"/>
              <a:t>, </a:t>
            </a:r>
            <a:r>
              <a:rPr lang="en-US" dirty="0" err="1"/>
              <a:t>соответствующую</a:t>
            </a:r>
            <a:r>
              <a:rPr lang="en-US" dirty="0"/>
              <a:t> </a:t>
            </a:r>
            <a:r>
              <a:rPr lang="en-US" dirty="0" err="1"/>
              <a:t>процессу</a:t>
            </a:r>
            <a:r>
              <a:rPr lang="en-US" dirty="0"/>
              <a:t>.</a:t>
            </a:r>
          </a:p>
          <a:p>
            <a:endParaRPr lang="en-US" dirty="0"/>
          </a:p>
          <a:p>
            <a:r>
              <a:rPr lang="en-US" dirty="0" err="1"/>
              <a:t>Например</a:t>
            </a:r>
            <a:r>
              <a:rPr lang="en-US" dirty="0"/>
              <a:t>, в </a:t>
            </a:r>
            <a:r>
              <a:rPr lang="en-US" dirty="0" err="1"/>
              <a:t>первой</a:t>
            </a:r>
            <a:r>
              <a:rPr lang="en-US" dirty="0"/>
              <a:t> </a:t>
            </a:r>
            <a:r>
              <a:rPr lang="en-US" dirty="0" err="1"/>
              <a:t>строке</a:t>
            </a:r>
            <a:r>
              <a:rPr lang="en-US" dirty="0"/>
              <a:t> </a:t>
            </a:r>
            <a:r>
              <a:rPr lang="en-US" dirty="0" err="1"/>
              <a:t>мы</a:t>
            </a:r>
            <a:r>
              <a:rPr lang="en-US" dirty="0"/>
              <a:t> </a:t>
            </a:r>
            <a:r>
              <a:rPr lang="en-US" dirty="0" err="1"/>
              <a:t>видим</a:t>
            </a:r>
            <a:r>
              <a:rPr lang="en-US" dirty="0"/>
              <a:t> </a:t>
            </a:r>
            <a:r>
              <a:rPr lang="en-US" dirty="0" err="1"/>
              <a:t>процесс</a:t>
            </a:r>
            <a:r>
              <a:rPr lang="en-US" dirty="0"/>
              <a:t> с PID 1. Это </a:t>
            </a:r>
            <a:r>
              <a:rPr lang="en-US" dirty="0" err="1"/>
              <a:t>один</a:t>
            </a:r>
            <a:r>
              <a:rPr lang="en-US" dirty="0"/>
              <a:t> </a:t>
            </a:r>
            <a:r>
              <a:rPr lang="en-US" dirty="0" err="1"/>
              <a:t>из</a:t>
            </a:r>
            <a:r>
              <a:rPr lang="en-US" dirty="0"/>
              <a:t> </a:t>
            </a:r>
            <a:r>
              <a:rPr lang="en-US" dirty="0" err="1"/>
              <a:t>первых</a:t>
            </a:r>
            <a:r>
              <a:rPr lang="en-US" dirty="0"/>
              <a:t> </a:t>
            </a:r>
            <a:r>
              <a:rPr lang="en-US" dirty="0" err="1"/>
              <a:t>процессов</a:t>
            </a:r>
            <a:r>
              <a:rPr lang="en-US" dirty="0"/>
              <a:t>, </a:t>
            </a:r>
            <a:r>
              <a:rPr lang="en-US" dirty="0" err="1"/>
              <a:t>запускаемых</a:t>
            </a:r>
            <a:r>
              <a:rPr lang="en-US" dirty="0"/>
              <a:t> </a:t>
            </a:r>
            <a:r>
              <a:rPr lang="en-US" dirty="0" err="1"/>
              <a:t>системой</a:t>
            </a:r>
            <a:r>
              <a:rPr lang="en-US" dirty="0"/>
              <a:t>. </a:t>
            </a:r>
            <a:r>
              <a:rPr lang="en-US" dirty="0" err="1"/>
              <a:t>Остальные</a:t>
            </a:r>
            <a:r>
              <a:rPr lang="en-US" dirty="0"/>
              <a:t> </a:t>
            </a:r>
            <a:r>
              <a:rPr lang="en-US" dirty="0" err="1"/>
              <a:t>процессы</a:t>
            </a:r>
            <a:r>
              <a:rPr lang="en-US" dirty="0"/>
              <a:t> </a:t>
            </a:r>
            <a:r>
              <a:rPr lang="en-US" dirty="0" err="1"/>
              <a:t>получают</a:t>
            </a:r>
            <a:r>
              <a:rPr lang="en-US" dirty="0"/>
              <a:t> </a:t>
            </a:r>
            <a:r>
              <a:rPr lang="en-US" dirty="0" err="1"/>
              <a:t>свои</a:t>
            </a:r>
            <a:r>
              <a:rPr lang="en-US" dirty="0"/>
              <a:t> PID и </a:t>
            </a:r>
            <a:r>
              <a:rPr lang="en-US" dirty="0" err="1"/>
              <a:t>существуют</a:t>
            </a:r>
            <a:r>
              <a:rPr lang="en-US" dirty="0"/>
              <a:t> </a:t>
            </a:r>
            <a:r>
              <a:rPr lang="en-US" dirty="0" err="1"/>
              <a:t>параллельно</a:t>
            </a:r>
            <a:r>
              <a:rPr lang="en-US" dirty="0"/>
              <a:t> с </a:t>
            </a:r>
            <a:r>
              <a:rPr lang="en-US" dirty="0" err="1"/>
              <a:t>ним</a:t>
            </a:r>
            <a:r>
              <a:rPr lang="en-US" dirty="0"/>
              <a:t>.</a:t>
            </a:r>
          </a:p>
          <a:p>
            <a:endParaRPr lang="en-US" dirty="0"/>
          </a:p>
          <a:p>
            <a:r>
              <a:rPr lang="en-US" dirty="0" err="1"/>
              <a:t>Таким</a:t>
            </a:r>
            <a:r>
              <a:rPr lang="en-US" dirty="0"/>
              <a:t> </a:t>
            </a:r>
            <a:r>
              <a:rPr lang="en-US" dirty="0" err="1"/>
              <a:t>образом</a:t>
            </a:r>
            <a:r>
              <a:rPr lang="en-US" dirty="0"/>
              <a:t>, </a:t>
            </a:r>
            <a:r>
              <a:rPr lang="en-US" dirty="0" err="1"/>
              <a:t>команда</a:t>
            </a:r>
            <a:r>
              <a:rPr lang="en-US" dirty="0"/>
              <a:t> </a:t>
            </a:r>
            <a:r>
              <a:rPr lang="en-US" sz="1200" kern="1200" dirty="0" err="1">
                <a:solidFill>
                  <a:schemeClr val="tx1"/>
                </a:solidFill>
                <a:latin typeface="+mn-lt"/>
                <a:ea typeface="+mn-ea"/>
                <a:cs typeface="+mn-cs"/>
              </a:rPr>
              <a:t>ps</a:t>
            </a:r>
            <a:r>
              <a:rPr lang="en-US" sz="1200" kern="1200" dirty="0">
                <a:solidFill>
                  <a:schemeClr val="tx1"/>
                </a:solidFill>
                <a:latin typeface="+mn-lt"/>
                <a:ea typeface="+mn-ea"/>
                <a:cs typeface="+mn-cs"/>
              </a:rPr>
              <a:t> aux</a:t>
            </a:r>
            <a:r>
              <a:rPr lang="en-US" dirty="0"/>
              <a:t> </a:t>
            </a:r>
            <a:r>
              <a:rPr lang="en-US" dirty="0" err="1"/>
              <a:t>позволяет</a:t>
            </a:r>
            <a:r>
              <a:rPr lang="en-US" dirty="0"/>
              <a:t> </a:t>
            </a:r>
            <a:r>
              <a:rPr lang="en-US" dirty="0" err="1"/>
              <a:t>увидеть</a:t>
            </a:r>
            <a:r>
              <a:rPr lang="en-US" dirty="0"/>
              <a:t> </a:t>
            </a:r>
            <a:r>
              <a:rPr lang="en-US" dirty="0" err="1"/>
              <a:t>на</a:t>
            </a:r>
            <a:r>
              <a:rPr lang="en-US" dirty="0"/>
              <a:t> </a:t>
            </a:r>
            <a:r>
              <a:rPr lang="en-US" dirty="0" err="1"/>
              <a:t>практике</a:t>
            </a:r>
            <a:r>
              <a:rPr lang="en-US" dirty="0"/>
              <a:t> </a:t>
            </a:r>
            <a:r>
              <a:rPr lang="en-US" dirty="0" err="1"/>
              <a:t>то</a:t>
            </a:r>
            <a:r>
              <a:rPr lang="en-US" dirty="0"/>
              <a:t>, о </a:t>
            </a:r>
            <a:r>
              <a:rPr lang="en-US" dirty="0" err="1"/>
              <a:t>чём</a:t>
            </a:r>
            <a:r>
              <a:rPr lang="en-US" dirty="0"/>
              <a:t> </a:t>
            </a:r>
            <a:r>
              <a:rPr lang="en-US" dirty="0" err="1"/>
              <a:t>мы</a:t>
            </a:r>
            <a:r>
              <a:rPr lang="en-US" dirty="0"/>
              <a:t> </a:t>
            </a:r>
            <a:r>
              <a:rPr lang="en-US" dirty="0" err="1"/>
              <a:t>говорили</a:t>
            </a:r>
            <a:r>
              <a:rPr lang="en-US" dirty="0"/>
              <a:t> </a:t>
            </a:r>
            <a:r>
              <a:rPr lang="en-US" dirty="0" err="1"/>
              <a:t>раньше</a:t>
            </a:r>
            <a:r>
              <a:rPr lang="en-US" dirty="0"/>
              <a:t>: в </a:t>
            </a:r>
            <a:r>
              <a:rPr lang="en-US" dirty="0" err="1"/>
              <a:t>системе</a:t>
            </a:r>
            <a:r>
              <a:rPr lang="en-US" dirty="0"/>
              <a:t> </a:t>
            </a:r>
            <a:r>
              <a:rPr lang="en-US" dirty="0" err="1"/>
              <a:t>одновременно</a:t>
            </a:r>
            <a:r>
              <a:rPr lang="en-US" dirty="0"/>
              <a:t> </a:t>
            </a:r>
            <a:r>
              <a:rPr lang="en-US" dirty="0" err="1"/>
              <a:t>существует</a:t>
            </a:r>
            <a:r>
              <a:rPr lang="en-US" dirty="0"/>
              <a:t> </a:t>
            </a:r>
            <a:r>
              <a:rPr lang="en-US" dirty="0" err="1"/>
              <a:t>множество</a:t>
            </a:r>
            <a:r>
              <a:rPr lang="en-US" dirty="0"/>
              <a:t> </a:t>
            </a:r>
            <a:r>
              <a:rPr lang="en-US" dirty="0" err="1"/>
              <a:t>процессов</a:t>
            </a:r>
            <a:r>
              <a:rPr lang="en-US" dirty="0"/>
              <a:t>, и </a:t>
            </a:r>
            <a:r>
              <a:rPr lang="en-US" dirty="0" err="1"/>
              <a:t>операционная</a:t>
            </a:r>
            <a:r>
              <a:rPr lang="en-US" dirty="0"/>
              <a:t> </a:t>
            </a:r>
            <a:r>
              <a:rPr lang="en-US" dirty="0" err="1"/>
              <a:t>система</a:t>
            </a:r>
            <a:r>
              <a:rPr lang="en-US" dirty="0"/>
              <a:t> </a:t>
            </a:r>
            <a:r>
              <a:rPr lang="en-US" dirty="0" err="1"/>
              <a:t>хранит</a:t>
            </a:r>
            <a:r>
              <a:rPr lang="en-US" dirty="0"/>
              <a:t> </a:t>
            </a:r>
            <a:r>
              <a:rPr lang="en-US" dirty="0" err="1"/>
              <a:t>для</a:t>
            </a:r>
            <a:r>
              <a:rPr lang="en-US" dirty="0"/>
              <a:t> </a:t>
            </a:r>
            <a:r>
              <a:rPr lang="en-US" dirty="0" err="1"/>
              <a:t>каждого</a:t>
            </a:r>
            <a:r>
              <a:rPr lang="en-US" dirty="0"/>
              <a:t> </a:t>
            </a:r>
            <a:r>
              <a:rPr lang="en-US" dirty="0" err="1"/>
              <a:t>из</a:t>
            </a:r>
            <a:r>
              <a:rPr lang="en-US" dirty="0"/>
              <a:t> </a:t>
            </a:r>
            <a:r>
              <a:rPr lang="en-US" dirty="0" err="1"/>
              <a:t>них</a:t>
            </a:r>
            <a:r>
              <a:rPr lang="en-US" dirty="0"/>
              <a:t> </a:t>
            </a:r>
            <a:r>
              <a:rPr lang="en-US" dirty="0" err="1"/>
              <a:t>идентификатор</a:t>
            </a:r>
            <a:r>
              <a:rPr lang="en-US" dirty="0"/>
              <a:t>, </a:t>
            </a:r>
            <a:r>
              <a:rPr lang="en-US" dirty="0" err="1"/>
              <a:t>состояние</a:t>
            </a:r>
            <a:r>
              <a:rPr lang="en-US" dirty="0"/>
              <a:t>, </a:t>
            </a:r>
            <a:r>
              <a:rPr lang="en-US" dirty="0" err="1"/>
              <a:t>информацию</a:t>
            </a:r>
            <a:r>
              <a:rPr lang="en-US" dirty="0"/>
              <a:t> </a:t>
            </a:r>
            <a:r>
              <a:rPr lang="en-US" dirty="0" err="1"/>
              <a:t>об</a:t>
            </a:r>
            <a:r>
              <a:rPr lang="en-US" dirty="0"/>
              <a:t> </a:t>
            </a:r>
            <a:r>
              <a:rPr lang="en-US" dirty="0" err="1"/>
              <a:t>используемой</a:t>
            </a:r>
            <a:r>
              <a:rPr lang="en-US" dirty="0"/>
              <a:t> </a:t>
            </a:r>
            <a:r>
              <a:rPr lang="en-US" dirty="0" err="1"/>
              <a:t>памяти</a:t>
            </a:r>
            <a:r>
              <a:rPr lang="en-US" dirty="0"/>
              <a:t>, </a:t>
            </a:r>
            <a:r>
              <a:rPr lang="en-US" dirty="0" err="1"/>
              <a:t>владельце</a:t>
            </a:r>
            <a:r>
              <a:rPr lang="en-US" dirty="0"/>
              <a:t> и </a:t>
            </a:r>
            <a:r>
              <a:rPr lang="en-US" dirty="0" err="1"/>
              <a:t>другие</a:t>
            </a:r>
            <a:r>
              <a:rPr lang="en-US" dirty="0"/>
              <a:t> </a:t>
            </a:r>
            <a:r>
              <a:rPr lang="en-US" dirty="0" err="1"/>
              <a:t>параметры</a:t>
            </a:r>
            <a:r>
              <a:rPr lang="en-US" dirty="0"/>
              <a:t>.</a:t>
            </a:r>
          </a:p>
          <a:p>
            <a:endParaRPr lang="en-US" dirty="0"/>
          </a:p>
        </p:txBody>
      </p:sp>
      <p:sp>
        <p:nvSpPr>
          <p:cNvPr id="4" name="Slide Number Placeholder 3"/>
          <p:cNvSpPr>
            <a:spLocks noGrp="1"/>
          </p:cNvSpPr>
          <p:nvPr>
            <p:ph type="sldNum" sz="quarter" idx="5"/>
          </p:nvPr>
        </p:nvSpPr>
        <p:spPr/>
        <p:txBody>
          <a:bodyPr/>
          <a:lstStyle/>
          <a:p>
            <a:fld id="{A3EE74EF-BE85-44F3-968F-E74DD74A629E}" type="slidenum">
              <a:rPr lang="en-US" smtClean="0"/>
              <a:t>4</a:t>
            </a:fld>
            <a:endParaRPr lang="en-US"/>
          </a:p>
        </p:txBody>
      </p:sp>
    </p:spTree>
    <p:extLst>
      <p:ext uri="{BB962C8B-B14F-4D97-AF65-F5344CB8AC3E}">
        <p14:creationId xmlns:p14="http://schemas.microsoft.com/office/powerpoint/2010/main" val="1983782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До</a:t>
            </a:r>
            <a:r>
              <a:rPr lang="en-US" dirty="0"/>
              <a:t> </a:t>
            </a:r>
            <a:r>
              <a:rPr lang="en-US" dirty="0" err="1"/>
              <a:t>сих</a:t>
            </a:r>
            <a:r>
              <a:rPr lang="en-US" dirty="0"/>
              <a:t> </a:t>
            </a:r>
            <a:r>
              <a:rPr lang="en-US" dirty="0" err="1"/>
              <a:t>пор</a:t>
            </a:r>
            <a:r>
              <a:rPr lang="en-US" dirty="0"/>
              <a:t> </a:t>
            </a:r>
            <a:r>
              <a:rPr lang="en-US" dirty="0" err="1"/>
              <a:t>мы</a:t>
            </a:r>
            <a:r>
              <a:rPr lang="en-US" dirty="0"/>
              <a:t> </a:t>
            </a:r>
            <a:r>
              <a:rPr lang="en-US" dirty="0" err="1"/>
              <a:t>рассматривали</a:t>
            </a:r>
            <a:r>
              <a:rPr lang="en-US" dirty="0"/>
              <a:t> </a:t>
            </a:r>
            <a:r>
              <a:rPr lang="en-US" dirty="0" err="1"/>
              <a:t>процесс</a:t>
            </a:r>
            <a:r>
              <a:rPr lang="en-US" dirty="0"/>
              <a:t> </a:t>
            </a:r>
            <a:r>
              <a:rPr lang="en-US" dirty="0" err="1"/>
              <a:t>как</a:t>
            </a:r>
            <a:r>
              <a:rPr lang="en-US" dirty="0"/>
              <a:t> </a:t>
            </a:r>
            <a:r>
              <a:rPr lang="en-US" dirty="0" err="1"/>
              <a:t>отдельный</a:t>
            </a:r>
            <a:r>
              <a:rPr lang="en-US" dirty="0"/>
              <a:t> </a:t>
            </a:r>
            <a:r>
              <a:rPr lang="en-US" dirty="0" err="1"/>
              <a:t>контейнер</a:t>
            </a:r>
            <a:r>
              <a:rPr lang="en-US" dirty="0"/>
              <a:t> </a:t>
            </a:r>
            <a:r>
              <a:rPr lang="en-US" dirty="0" err="1"/>
              <a:t>со</a:t>
            </a:r>
            <a:r>
              <a:rPr lang="en-US" dirty="0"/>
              <a:t> </a:t>
            </a:r>
            <a:r>
              <a:rPr lang="en-US" dirty="0" err="1"/>
              <a:t>своим</a:t>
            </a:r>
            <a:r>
              <a:rPr lang="en-US" dirty="0"/>
              <a:t> </a:t>
            </a:r>
            <a:r>
              <a:rPr lang="en-US" dirty="0" err="1"/>
              <a:t>состоянием</a:t>
            </a:r>
            <a:r>
              <a:rPr lang="en-US" dirty="0"/>
              <a:t> и </a:t>
            </a:r>
            <a:r>
              <a:rPr lang="en-US" dirty="0" err="1"/>
              <a:t>ресурсами</a:t>
            </a:r>
            <a:r>
              <a:rPr lang="en-US" dirty="0"/>
              <a:t>. </a:t>
            </a:r>
            <a:r>
              <a:rPr lang="en-US" dirty="0" err="1"/>
              <a:t>Но</a:t>
            </a:r>
            <a:r>
              <a:rPr lang="en-US" dirty="0"/>
              <a:t> в </a:t>
            </a:r>
            <a:r>
              <a:rPr lang="en-US" dirty="0" err="1"/>
              <a:t>реальной</a:t>
            </a:r>
            <a:r>
              <a:rPr lang="en-US" dirty="0"/>
              <a:t> </a:t>
            </a:r>
            <a:r>
              <a:rPr lang="en-US" dirty="0" err="1"/>
              <a:t>системе</a:t>
            </a:r>
            <a:r>
              <a:rPr lang="en-US" dirty="0"/>
              <a:t> </a:t>
            </a:r>
            <a:r>
              <a:rPr lang="en-US" dirty="0" err="1"/>
              <a:t>процессы</a:t>
            </a:r>
            <a:r>
              <a:rPr lang="en-US" dirty="0"/>
              <a:t> </a:t>
            </a:r>
            <a:r>
              <a:rPr lang="en-US" dirty="0" err="1"/>
              <a:t>редко</a:t>
            </a:r>
            <a:r>
              <a:rPr lang="en-US" dirty="0"/>
              <a:t> </a:t>
            </a:r>
            <a:r>
              <a:rPr lang="en-US" dirty="0" err="1"/>
              <a:t>существуют</a:t>
            </a:r>
            <a:r>
              <a:rPr lang="en-US" dirty="0"/>
              <a:t> </a:t>
            </a:r>
            <a:r>
              <a:rPr lang="en-US" dirty="0" err="1"/>
              <a:t>полностью</a:t>
            </a:r>
            <a:r>
              <a:rPr lang="en-US" dirty="0"/>
              <a:t> </a:t>
            </a:r>
            <a:r>
              <a:rPr lang="en-US" dirty="0" err="1"/>
              <a:t>независимо</a:t>
            </a:r>
            <a:r>
              <a:rPr lang="en-US" dirty="0"/>
              <a:t> </a:t>
            </a:r>
            <a:r>
              <a:rPr lang="en-US" dirty="0" err="1"/>
              <a:t>друг</a:t>
            </a:r>
            <a:r>
              <a:rPr lang="en-US" dirty="0"/>
              <a:t> </a:t>
            </a:r>
            <a:r>
              <a:rPr lang="en-US" dirty="0" err="1"/>
              <a:t>от</a:t>
            </a:r>
            <a:r>
              <a:rPr lang="en-US" dirty="0"/>
              <a:t> </a:t>
            </a:r>
            <a:r>
              <a:rPr lang="en-US" dirty="0" err="1"/>
              <a:t>друга</a:t>
            </a:r>
            <a:r>
              <a:rPr lang="en-US" dirty="0"/>
              <a:t>.</a:t>
            </a:r>
            <a:endParaRPr lang="ru-RU" dirty="0"/>
          </a:p>
          <a:p>
            <a:endParaRPr lang="en-US" dirty="0"/>
          </a:p>
          <a:p>
            <a:r>
              <a:rPr lang="en-US" dirty="0" err="1"/>
              <a:t>Во-первых</a:t>
            </a:r>
            <a:r>
              <a:rPr lang="en-US" dirty="0"/>
              <a:t>, </a:t>
            </a:r>
            <a:r>
              <a:rPr lang="en-US" dirty="0" err="1"/>
              <a:t>процессы</a:t>
            </a:r>
            <a:r>
              <a:rPr lang="en-US" dirty="0"/>
              <a:t> </a:t>
            </a:r>
            <a:r>
              <a:rPr lang="en-US" dirty="0" err="1"/>
              <a:t>могут</a:t>
            </a:r>
            <a:r>
              <a:rPr lang="en-US" dirty="0"/>
              <a:t> </a:t>
            </a:r>
            <a:r>
              <a:rPr lang="en-US" dirty="0" err="1"/>
              <a:t>создавать</a:t>
            </a:r>
            <a:r>
              <a:rPr lang="en-US" dirty="0"/>
              <a:t> </a:t>
            </a:r>
            <a:r>
              <a:rPr lang="en-US" dirty="0" err="1"/>
              <a:t>другие</a:t>
            </a:r>
            <a:r>
              <a:rPr lang="en-US" dirty="0"/>
              <a:t> </a:t>
            </a:r>
            <a:r>
              <a:rPr lang="en-US" dirty="0" err="1"/>
              <a:t>процессы</a:t>
            </a:r>
            <a:r>
              <a:rPr lang="en-US" dirty="0"/>
              <a:t>. </a:t>
            </a:r>
            <a:r>
              <a:rPr lang="en-US" dirty="0" err="1"/>
              <a:t>Процесс</a:t>
            </a:r>
            <a:r>
              <a:rPr lang="en-US" dirty="0"/>
              <a:t>, </a:t>
            </a:r>
            <a:r>
              <a:rPr lang="en-US" dirty="0" err="1"/>
              <a:t>который</a:t>
            </a:r>
            <a:r>
              <a:rPr lang="en-US" dirty="0"/>
              <a:t> </a:t>
            </a:r>
            <a:r>
              <a:rPr lang="en-US" dirty="0" err="1"/>
              <a:t>создал</a:t>
            </a:r>
            <a:r>
              <a:rPr lang="en-US" dirty="0"/>
              <a:t> </a:t>
            </a:r>
            <a:r>
              <a:rPr lang="en-US" dirty="0" err="1"/>
              <a:t>новый</a:t>
            </a:r>
            <a:r>
              <a:rPr lang="en-US" dirty="0"/>
              <a:t> </a:t>
            </a:r>
            <a:r>
              <a:rPr lang="en-US" dirty="0" err="1"/>
              <a:t>процесс</a:t>
            </a:r>
            <a:r>
              <a:rPr lang="en-US" dirty="0"/>
              <a:t>, </a:t>
            </a:r>
            <a:r>
              <a:rPr lang="en-US" dirty="0" err="1"/>
              <a:t>называют</a:t>
            </a:r>
            <a:r>
              <a:rPr lang="en-US" dirty="0"/>
              <a:t> </a:t>
            </a:r>
            <a:r>
              <a:rPr lang="en-US" dirty="0" err="1"/>
              <a:t>родительским</a:t>
            </a:r>
            <a:r>
              <a:rPr lang="en-US" dirty="0"/>
              <a:t>, а </a:t>
            </a:r>
            <a:r>
              <a:rPr lang="en-US" dirty="0" err="1"/>
              <a:t>созданный</a:t>
            </a:r>
            <a:r>
              <a:rPr lang="en-US" dirty="0"/>
              <a:t> </a:t>
            </a:r>
            <a:r>
              <a:rPr lang="en-US" dirty="0" err="1"/>
              <a:t>процесс</a:t>
            </a:r>
            <a:r>
              <a:rPr lang="en-US" dirty="0"/>
              <a:t> — </a:t>
            </a:r>
            <a:r>
              <a:rPr lang="en-US" dirty="0" err="1"/>
              <a:t>дочерним</a:t>
            </a:r>
            <a:r>
              <a:rPr lang="en-US" dirty="0"/>
              <a:t>. </a:t>
            </a:r>
            <a:r>
              <a:rPr lang="en-US" dirty="0" err="1"/>
              <a:t>Так</a:t>
            </a:r>
            <a:r>
              <a:rPr lang="en-US" dirty="0"/>
              <a:t> </a:t>
            </a:r>
            <a:r>
              <a:rPr lang="en-US" dirty="0" err="1"/>
              <a:t>постепенно</a:t>
            </a:r>
            <a:r>
              <a:rPr lang="en-US" dirty="0"/>
              <a:t> </a:t>
            </a:r>
            <a:r>
              <a:rPr lang="en-US" dirty="0" err="1"/>
              <a:t>возникает</a:t>
            </a:r>
            <a:r>
              <a:rPr lang="en-US" dirty="0"/>
              <a:t> </a:t>
            </a:r>
            <a:r>
              <a:rPr lang="en-US" dirty="0" err="1"/>
              <a:t>иерархия</a:t>
            </a:r>
            <a:r>
              <a:rPr lang="en-US" dirty="0"/>
              <a:t>, </a:t>
            </a:r>
            <a:r>
              <a:rPr lang="en-US" dirty="0" err="1"/>
              <a:t>или</a:t>
            </a:r>
            <a:r>
              <a:rPr lang="en-US" dirty="0"/>
              <a:t> </a:t>
            </a:r>
            <a:r>
              <a:rPr lang="en-US" dirty="0" err="1"/>
              <a:t>дерево</a:t>
            </a:r>
            <a:r>
              <a:rPr lang="en-US" dirty="0"/>
              <a:t> </a:t>
            </a:r>
            <a:r>
              <a:rPr lang="en-US" dirty="0" err="1"/>
              <a:t>процессов</a:t>
            </a:r>
            <a:r>
              <a:rPr lang="en-US" dirty="0"/>
              <a:t>.</a:t>
            </a:r>
          </a:p>
          <a:p>
            <a:r>
              <a:rPr lang="en-US" dirty="0" err="1"/>
              <a:t>Например</a:t>
            </a:r>
            <a:r>
              <a:rPr lang="en-US" dirty="0"/>
              <a:t>, </a:t>
            </a:r>
            <a:r>
              <a:rPr lang="en-US" dirty="0" err="1"/>
              <a:t>когда</a:t>
            </a:r>
            <a:r>
              <a:rPr lang="en-US" dirty="0"/>
              <a:t> </a:t>
            </a:r>
            <a:r>
              <a:rPr lang="en-US" dirty="0" err="1"/>
              <a:t>пользователь</a:t>
            </a:r>
            <a:r>
              <a:rPr lang="en-US" dirty="0"/>
              <a:t> </a:t>
            </a:r>
            <a:r>
              <a:rPr lang="en-US" dirty="0" err="1"/>
              <a:t>запускает</a:t>
            </a:r>
            <a:r>
              <a:rPr lang="en-US" dirty="0"/>
              <a:t> </a:t>
            </a:r>
            <a:r>
              <a:rPr lang="en-US" dirty="0" err="1"/>
              <a:t>программу</a:t>
            </a:r>
            <a:r>
              <a:rPr lang="en-US" dirty="0"/>
              <a:t> </a:t>
            </a:r>
            <a:r>
              <a:rPr lang="en-US" dirty="0" err="1"/>
              <a:t>из</a:t>
            </a:r>
            <a:r>
              <a:rPr lang="en-US" dirty="0"/>
              <a:t> </a:t>
            </a:r>
            <a:r>
              <a:rPr lang="en-US" dirty="0" err="1"/>
              <a:t>командной</a:t>
            </a:r>
            <a:r>
              <a:rPr lang="en-US" dirty="0"/>
              <a:t> </a:t>
            </a:r>
            <a:r>
              <a:rPr lang="en-US" dirty="0" err="1"/>
              <a:t>оболочки</a:t>
            </a:r>
            <a:r>
              <a:rPr lang="en-US" dirty="0"/>
              <a:t>, shell </a:t>
            </a:r>
            <a:r>
              <a:rPr lang="en-US" dirty="0" err="1"/>
              <a:t>создаёт</a:t>
            </a:r>
            <a:r>
              <a:rPr lang="en-US" dirty="0"/>
              <a:t> </a:t>
            </a:r>
            <a:r>
              <a:rPr lang="en-US" dirty="0" err="1"/>
              <a:t>новый</a:t>
            </a:r>
            <a:r>
              <a:rPr lang="en-US" dirty="0"/>
              <a:t> </a:t>
            </a:r>
            <a:r>
              <a:rPr lang="en-US" dirty="0" err="1"/>
              <a:t>процесс</a:t>
            </a:r>
            <a:r>
              <a:rPr lang="en-US" dirty="0"/>
              <a:t> </a:t>
            </a:r>
            <a:r>
              <a:rPr lang="en-US" dirty="0" err="1"/>
              <a:t>для</a:t>
            </a:r>
            <a:r>
              <a:rPr lang="en-US" dirty="0"/>
              <a:t> </a:t>
            </a:r>
            <a:r>
              <a:rPr lang="en-US" dirty="0" err="1"/>
              <a:t>выполнения</a:t>
            </a:r>
            <a:r>
              <a:rPr lang="en-US" dirty="0"/>
              <a:t> </a:t>
            </a:r>
            <a:r>
              <a:rPr lang="en-US" dirty="0" err="1"/>
              <a:t>этой</a:t>
            </a:r>
            <a:r>
              <a:rPr lang="en-US" dirty="0"/>
              <a:t> </a:t>
            </a:r>
            <a:r>
              <a:rPr lang="en-US" dirty="0" err="1"/>
              <a:t>программы</a:t>
            </a:r>
            <a:r>
              <a:rPr lang="en-US" dirty="0"/>
              <a:t>. </a:t>
            </a:r>
            <a:r>
              <a:rPr lang="en-US" dirty="0" err="1"/>
              <a:t>Сама</a:t>
            </a:r>
            <a:r>
              <a:rPr lang="en-US" dirty="0"/>
              <a:t> </a:t>
            </a:r>
            <a:r>
              <a:rPr lang="en-US" dirty="0" err="1"/>
              <a:t>оболочка</a:t>
            </a:r>
            <a:r>
              <a:rPr lang="en-US" dirty="0"/>
              <a:t> </a:t>
            </a:r>
            <a:r>
              <a:rPr lang="en-US" dirty="0" err="1"/>
              <a:t>при</a:t>
            </a:r>
            <a:r>
              <a:rPr lang="en-US" dirty="0"/>
              <a:t> </a:t>
            </a:r>
            <a:r>
              <a:rPr lang="en-US" dirty="0" err="1"/>
              <a:t>этом</a:t>
            </a:r>
            <a:r>
              <a:rPr lang="en-US" dirty="0"/>
              <a:t> </a:t>
            </a:r>
            <a:r>
              <a:rPr lang="en-US" dirty="0" err="1"/>
              <a:t>продолжает</a:t>
            </a:r>
            <a:r>
              <a:rPr lang="en-US" dirty="0"/>
              <a:t> </a:t>
            </a:r>
            <a:r>
              <a:rPr lang="en-US" dirty="0" err="1"/>
              <a:t>существовать</a:t>
            </a:r>
            <a:r>
              <a:rPr lang="en-US" dirty="0"/>
              <a:t> и </a:t>
            </a:r>
            <a:r>
              <a:rPr lang="en-US" dirty="0" err="1"/>
              <a:t>остаётся</a:t>
            </a:r>
            <a:r>
              <a:rPr lang="en-US" dirty="0"/>
              <a:t> </a:t>
            </a:r>
            <a:r>
              <a:rPr lang="en-US" dirty="0" err="1"/>
              <a:t>родительским</a:t>
            </a:r>
            <a:r>
              <a:rPr lang="en-US" dirty="0"/>
              <a:t> </a:t>
            </a:r>
            <a:r>
              <a:rPr lang="en-US" dirty="0" err="1"/>
              <a:t>процессом</a:t>
            </a:r>
            <a:r>
              <a:rPr lang="en-US" dirty="0"/>
              <a:t>. </a:t>
            </a:r>
            <a:r>
              <a:rPr lang="en-US" dirty="0" err="1"/>
              <a:t>Позже</a:t>
            </a:r>
            <a:r>
              <a:rPr lang="en-US" dirty="0"/>
              <a:t> </a:t>
            </a:r>
            <a:r>
              <a:rPr lang="en-US" dirty="0" err="1"/>
              <a:t>мы</a:t>
            </a:r>
            <a:r>
              <a:rPr lang="en-US" dirty="0"/>
              <a:t> </a:t>
            </a:r>
            <a:r>
              <a:rPr lang="en-US" dirty="0" err="1"/>
              <a:t>подробнее</a:t>
            </a:r>
            <a:r>
              <a:rPr lang="en-US" dirty="0"/>
              <a:t> </a:t>
            </a:r>
            <a:r>
              <a:rPr lang="en-US" dirty="0" err="1"/>
              <a:t>разберём</a:t>
            </a:r>
            <a:r>
              <a:rPr lang="en-US" dirty="0"/>
              <a:t>, </a:t>
            </a:r>
            <a:r>
              <a:rPr lang="en-US" dirty="0" err="1"/>
              <a:t>как</a:t>
            </a:r>
            <a:r>
              <a:rPr lang="en-US" dirty="0"/>
              <a:t> </a:t>
            </a:r>
            <a:r>
              <a:rPr lang="en-US" dirty="0" err="1"/>
              <a:t>это</a:t>
            </a:r>
            <a:r>
              <a:rPr lang="en-US" dirty="0"/>
              <a:t> </a:t>
            </a:r>
            <a:r>
              <a:rPr lang="en-US" dirty="0" err="1"/>
              <a:t>происходит</a:t>
            </a:r>
            <a:r>
              <a:rPr lang="en-US" dirty="0"/>
              <a:t> с </a:t>
            </a:r>
            <a:r>
              <a:rPr lang="en-US" dirty="0" err="1"/>
              <a:t>помощью</a:t>
            </a:r>
            <a:r>
              <a:rPr lang="en-US" dirty="0"/>
              <a:t> </a:t>
            </a:r>
            <a:r>
              <a:rPr lang="en-US" dirty="0" err="1"/>
              <a:t>системных</a:t>
            </a:r>
            <a:r>
              <a:rPr lang="en-US" dirty="0"/>
              <a:t> </a:t>
            </a:r>
            <a:r>
              <a:rPr lang="en-US" dirty="0" err="1"/>
              <a:t>вызовов</a:t>
            </a:r>
            <a:r>
              <a:rPr lang="en-US" dirty="0"/>
              <a:t> </a:t>
            </a:r>
            <a:r>
              <a:rPr lang="en-US" sz="1200" kern="1200" dirty="0">
                <a:solidFill>
                  <a:schemeClr val="tx1"/>
                </a:solidFill>
                <a:latin typeface="+mn-lt"/>
                <a:ea typeface="+mn-ea"/>
                <a:cs typeface="+mn-cs"/>
              </a:rPr>
              <a:t>fork</a:t>
            </a:r>
            <a:r>
              <a:rPr lang="en-US" dirty="0"/>
              <a:t> и </a:t>
            </a:r>
            <a:r>
              <a:rPr lang="en-US" sz="1200" kern="1200" dirty="0">
                <a:solidFill>
                  <a:schemeClr val="tx1"/>
                </a:solidFill>
                <a:latin typeface="+mn-lt"/>
                <a:ea typeface="+mn-ea"/>
                <a:cs typeface="+mn-cs"/>
              </a:rPr>
              <a:t>exec</a:t>
            </a:r>
            <a:r>
              <a:rPr lang="en-US" dirty="0"/>
              <a:t>.</a:t>
            </a:r>
            <a:endParaRPr lang="ru-RU" dirty="0"/>
          </a:p>
          <a:p>
            <a:endParaRPr lang="en-US" dirty="0"/>
          </a:p>
          <a:p>
            <a:r>
              <a:rPr lang="en-US" dirty="0" err="1"/>
              <a:t>Но</a:t>
            </a:r>
            <a:r>
              <a:rPr lang="en-US" dirty="0"/>
              <a:t> </a:t>
            </a:r>
            <a:r>
              <a:rPr lang="en-US" dirty="0" err="1"/>
              <a:t>одной</a:t>
            </a:r>
            <a:r>
              <a:rPr lang="en-US" dirty="0"/>
              <a:t> </a:t>
            </a:r>
            <a:r>
              <a:rPr lang="en-US" dirty="0" err="1"/>
              <a:t>возможности</a:t>
            </a:r>
            <a:r>
              <a:rPr lang="en-US" dirty="0"/>
              <a:t> </a:t>
            </a:r>
            <a:r>
              <a:rPr lang="en-US" dirty="0" err="1"/>
              <a:t>создавать</a:t>
            </a:r>
            <a:r>
              <a:rPr lang="en-US" dirty="0"/>
              <a:t> </a:t>
            </a:r>
            <a:r>
              <a:rPr lang="en-US" dirty="0" err="1"/>
              <a:t>процессы</a:t>
            </a:r>
            <a:r>
              <a:rPr lang="en-US" dirty="0"/>
              <a:t> </a:t>
            </a:r>
            <a:r>
              <a:rPr lang="en-US" dirty="0" err="1"/>
              <a:t>недостаточно</a:t>
            </a:r>
            <a:r>
              <a:rPr lang="en-US" dirty="0"/>
              <a:t>. </a:t>
            </a:r>
            <a:r>
              <a:rPr lang="en-US" dirty="0" err="1"/>
              <a:t>Часто</a:t>
            </a:r>
            <a:r>
              <a:rPr lang="en-US" dirty="0"/>
              <a:t> </a:t>
            </a:r>
            <a:r>
              <a:rPr lang="en-US" dirty="0" err="1"/>
              <a:t>нескольким</a:t>
            </a:r>
            <a:r>
              <a:rPr lang="en-US" dirty="0"/>
              <a:t> </a:t>
            </a:r>
            <a:r>
              <a:rPr lang="en-US" dirty="0" err="1"/>
              <a:t>процессам</a:t>
            </a:r>
            <a:r>
              <a:rPr lang="en-US" dirty="0"/>
              <a:t> </a:t>
            </a:r>
            <a:r>
              <a:rPr lang="en-US" dirty="0" err="1"/>
              <a:t>нужно</a:t>
            </a:r>
            <a:r>
              <a:rPr lang="en-US" dirty="0"/>
              <a:t> </a:t>
            </a:r>
            <a:r>
              <a:rPr lang="en-US" dirty="0" err="1"/>
              <a:t>совместно</a:t>
            </a:r>
            <a:r>
              <a:rPr lang="en-US" dirty="0"/>
              <a:t> </a:t>
            </a:r>
            <a:r>
              <a:rPr lang="en-US" dirty="0" err="1"/>
              <a:t>решать</a:t>
            </a:r>
            <a:r>
              <a:rPr lang="en-US" dirty="0"/>
              <a:t> </a:t>
            </a:r>
            <a:r>
              <a:rPr lang="en-US" dirty="0" err="1"/>
              <a:t>одну</a:t>
            </a:r>
            <a:r>
              <a:rPr lang="en-US" dirty="0"/>
              <a:t> </a:t>
            </a:r>
            <a:r>
              <a:rPr lang="en-US" dirty="0" err="1"/>
              <a:t>задачу</a:t>
            </a:r>
            <a:r>
              <a:rPr lang="en-US" dirty="0"/>
              <a:t>. </a:t>
            </a:r>
            <a:r>
              <a:rPr lang="en-US" dirty="0" err="1"/>
              <a:t>Один</a:t>
            </a:r>
            <a:r>
              <a:rPr lang="en-US" dirty="0"/>
              <a:t> </a:t>
            </a:r>
            <a:r>
              <a:rPr lang="en-US" dirty="0" err="1"/>
              <a:t>процесс</a:t>
            </a:r>
            <a:r>
              <a:rPr lang="en-US" dirty="0"/>
              <a:t> </a:t>
            </a:r>
            <a:r>
              <a:rPr lang="en-US" dirty="0" err="1"/>
              <a:t>может</a:t>
            </a:r>
            <a:r>
              <a:rPr lang="en-US" dirty="0"/>
              <a:t> </a:t>
            </a:r>
            <a:r>
              <a:rPr lang="en-US" dirty="0" err="1"/>
              <a:t>получать</a:t>
            </a:r>
            <a:r>
              <a:rPr lang="en-US" dirty="0"/>
              <a:t> </a:t>
            </a:r>
            <a:r>
              <a:rPr lang="en-US" dirty="0" err="1"/>
              <a:t>данные</a:t>
            </a:r>
            <a:r>
              <a:rPr lang="en-US" dirty="0"/>
              <a:t>, </a:t>
            </a:r>
            <a:r>
              <a:rPr lang="en-US" dirty="0" err="1"/>
              <a:t>другой</a:t>
            </a:r>
            <a:r>
              <a:rPr lang="en-US" dirty="0"/>
              <a:t> — </a:t>
            </a:r>
            <a:r>
              <a:rPr lang="en-US" dirty="0" err="1"/>
              <a:t>обрабатывать</a:t>
            </a:r>
            <a:r>
              <a:rPr lang="en-US" dirty="0"/>
              <a:t> </a:t>
            </a:r>
            <a:r>
              <a:rPr lang="en-US" dirty="0" err="1"/>
              <a:t>их</a:t>
            </a:r>
            <a:r>
              <a:rPr lang="en-US" dirty="0"/>
              <a:t>, </a:t>
            </a:r>
            <a:r>
              <a:rPr lang="en-US" dirty="0" err="1"/>
              <a:t>третий</a:t>
            </a:r>
            <a:r>
              <a:rPr lang="en-US" dirty="0"/>
              <a:t> — </a:t>
            </a:r>
            <a:r>
              <a:rPr lang="en-US" dirty="0" err="1"/>
              <a:t>сохранять</a:t>
            </a:r>
            <a:r>
              <a:rPr lang="en-US" dirty="0"/>
              <a:t> </a:t>
            </a:r>
            <a:r>
              <a:rPr lang="en-US" dirty="0" err="1"/>
              <a:t>результат</a:t>
            </a:r>
            <a:r>
              <a:rPr lang="en-US" dirty="0"/>
              <a:t>.</a:t>
            </a:r>
          </a:p>
          <a:p>
            <a:r>
              <a:rPr lang="en-US" dirty="0" err="1"/>
              <a:t>Для</a:t>
            </a:r>
            <a:r>
              <a:rPr lang="en-US" dirty="0"/>
              <a:t> </a:t>
            </a:r>
            <a:r>
              <a:rPr lang="en-US" dirty="0" err="1"/>
              <a:t>этого</a:t>
            </a:r>
            <a:r>
              <a:rPr lang="en-US" dirty="0"/>
              <a:t> </a:t>
            </a:r>
            <a:r>
              <a:rPr lang="en-US" dirty="0" err="1"/>
              <a:t>операционная</a:t>
            </a:r>
            <a:r>
              <a:rPr lang="en-US" dirty="0"/>
              <a:t> </a:t>
            </a:r>
            <a:r>
              <a:rPr lang="en-US" dirty="0" err="1"/>
              <a:t>система</a:t>
            </a:r>
            <a:r>
              <a:rPr lang="en-US" dirty="0"/>
              <a:t> </a:t>
            </a:r>
            <a:r>
              <a:rPr lang="en-US" dirty="0" err="1"/>
              <a:t>предоставляет</a:t>
            </a:r>
            <a:r>
              <a:rPr lang="en-US" dirty="0"/>
              <a:t> </a:t>
            </a:r>
            <a:r>
              <a:rPr lang="en-US" dirty="0" err="1"/>
              <a:t>механизмы</a:t>
            </a:r>
            <a:r>
              <a:rPr lang="en-US" dirty="0"/>
              <a:t> </a:t>
            </a:r>
            <a:r>
              <a:rPr lang="en-US" dirty="0" err="1"/>
              <a:t>межпроцессного</a:t>
            </a:r>
            <a:r>
              <a:rPr lang="en-US" dirty="0"/>
              <a:t> </a:t>
            </a:r>
            <a:r>
              <a:rPr lang="en-US" dirty="0" err="1"/>
              <a:t>взаимодействия</a:t>
            </a:r>
            <a:r>
              <a:rPr lang="en-US" dirty="0"/>
              <a:t> — IPC, </a:t>
            </a:r>
            <a:r>
              <a:rPr lang="en-US" dirty="0" err="1"/>
              <a:t>то</a:t>
            </a:r>
            <a:r>
              <a:rPr lang="en-US" dirty="0"/>
              <a:t> </a:t>
            </a:r>
            <a:r>
              <a:rPr lang="en-US" dirty="0" err="1"/>
              <a:t>есть</a:t>
            </a:r>
            <a:r>
              <a:rPr lang="en-US" dirty="0"/>
              <a:t> Inter-Process Communication. </a:t>
            </a:r>
            <a:r>
              <a:rPr lang="en-US" dirty="0" err="1"/>
              <a:t>Они</a:t>
            </a:r>
            <a:r>
              <a:rPr lang="en-US" dirty="0"/>
              <a:t> </a:t>
            </a:r>
            <a:r>
              <a:rPr lang="en-US" dirty="0" err="1"/>
              <a:t>позволяют</a:t>
            </a:r>
            <a:r>
              <a:rPr lang="en-US" dirty="0"/>
              <a:t> </a:t>
            </a:r>
            <a:r>
              <a:rPr lang="en-US" dirty="0" err="1"/>
              <a:t>процессам</a:t>
            </a:r>
            <a:r>
              <a:rPr lang="en-US" dirty="0"/>
              <a:t> </a:t>
            </a:r>
            <a:r>
              <a:rPr lang="en-US" dirty="0" err="1"/>
              <a:t>передавать</a:t>
            </a:r>
            <a:r>
              <a:rPr lang="en-US" dirty="0"/>
              <a:t> </a:t>
            </a:r>
            <a:r>
              <a:rPr lang="en-US" dirty="0" err="1"/>
              <a:t>друг</a:t>
            </a:r>
            <a:r>
              <a:rPr lang="en-US" dirty="0"/>
              <a:t> </a:t>
            </a:r>
            <a:r>
              <a:rPr lang="en-US" dirty="0" err="1"/>
              <a:t>другу</a:t>
            </a:r>
            <a:r>
              <a:rPr lang="en-US" dirty="0"/>
              <a:t> </a:t>
            </a:r>
            <a:r>
              <a:rPr lang="en-US" dirty="0" err="1"/>
              <a:t>данные</a:t>
            </a:r>
            <a:r>
              <a:rPr lang="en-US" dirty="0"/>
              <a:t>, а </a:t>
            </a:r>
            <a:r>
              <a:rPr lang="en-US" dirty="0" err="1"/>
              <a:t>также</a:t>
            </a:r>
            <a:r>
              <a:rPr lang="en-US" dirty="0"/>
              <a:t> </a:t>
            </a:r>
            <a:r>
              <a:rPr lang="en-US" dirty="0" err="1"/>
              <a:t>синхронизировать</a:t>
            </a:r>
            <a:r>
              <a:rPr lang="en-US" dirty="0"/>
              <a:t> </a:t>
            </a:r>
            <a:r>
              <a:rPr lang="en-US" dirty="0" err="1"/>
              <a:t>свою</a:t>
            </a:r>
            <a:r>
              <a:rPr lang="en-US" dirty="0"/>
              <a:t> </a:t>
            </a:r>
            <a:r>
              <a:rPr lang="en-US" dirty="0" err="1"/>
              <a:t>работу</a:t>
            </a:r>
            <a:r>
              <a:rPr lang="en-US" dirty="0"/>
              <a:t>: </a:t>
            </a:r>
            <a:r>
              <a:rPr lang="en-US" dirty="0" err="1"/>
              <a:t>например</a:t>
            </a:r>
            <a:r>
              <a:rPr lang="en-US" dirty="0"/>
              <a:t>, </a:t>
            </a:r>
            <a:r>
              <a:rPr lang="en-US" dirty="0" err="1"/>
              <a:t>один</a:t>
            </a:r>
            <a:r>
              <a:rPr lang="en-US" dirty="0"/>
              <a:t> </a:t>
            </a:r>
            <a:r>
              <a:rPr lang="en-US" dirty="0" err="1"/>
              <a:t>процесс</a:t>
            </a:r>
            <a:r>
              <a:rPr lang="en-US" dirty="0"/>
              <a:t> </a:t>
            </a:r>
            <a:r>
              <a:rPr lang="en-US" dirty="0" err="1"/>
              <a:t>может</a:t>
            </a:r>
            <a:r>
              <a:rPr lang="en-US" dirty="0"/>
              <a:t> </a:t>
            </a:r>
            <a:r>
              <a:rPr lang="en-US" dirty="0" err="1"/>
              <a:t>ждать</a:t>
            </a:r>
            <a:r>
              <a:rPr lang="en-US" dirty="0"/>
              <a:t>, </a:t>
            </a:r>
            <a:r>
              <a:rPr lang="en-US" dirty="0" err="1"/>
              <a:t>пока</a:t>
            </a:r>
            <a:r>
              <a:rPr lang="en-US" dirty="0"/>
              <a:t> </a:t>
            </a:r>
            <a:r>
              <a:rPr lang="en-US" dirty="0" err="1"/>
              <a:t>другой</a:t>
            </a:r>
            <a:r>
              <a:rPr lang="en-US" dirty="0"/>
              <a:t> </a:t>
            </a:r>
            <a:r>
              <a:rPr lang="en-US" dirty="0" err="1"/>
              <a:t>закончит</a:t>
            </a:r>
            <a:r>
              <a:rPr lang="en-US" dirty="0"/>
              <a:t> </a:t>
            </a:r>
            <a:r>
              <a:rPr lang="en-US" dirty="0" err="1"/>
              <a:t>определённую</a:t>
            </a:r>
            <a:r>
              <a:rPr lang="en-US" dirty="0"/>
              <a:t> </a:t>
            </a:r>
            <a:r>
              <a:rPr lang="en-US" dirty="0" err="1"/>
              <a:t>операцию</a:t>
            </a:r>
            <a:r>
              <a:rPr lang="en-US" dirty="0"/>
              <a:t>.</a:t>
            </a:r>
            <a:endParaRPr lang="ru-RU" dirty="0"/>
          </a:p>
          <a:p>
            <a:endParaRPr lang="en-US" dirty="0"/>
          </a:p>
          <a:p>
            <a:r>
              <a:rPr lang="en-US" dirty="0" err="1"/>
              <a:t>Отдельный</a:t>
            </a:r>
            <a:r>
              <a:rPr lang="en-US" dirty="0"/>
              <a:t> </a:t>
            </a:r>
            <a:r>
              <a:rPr lang="en-US" dirty="0" err="1"/>
              <a:t>механизм</a:t>
            </a:r>
            <a:r>
              <a:rPr lang="en-US" dirty="0"/>
              <a:t> </a:t>
            </a:r>
            <a:r>
              <a:rPr lang="en-US" dirty="0" err="1"/>
              <a:t>взаимодействия</a:t>
            </a:r>
            <a:r>
              <a:rPr lang="en-US" dirty="0"/>
              <a:t> — </a:t>
            </a:r>
            <a:r>
              <a:rPr lang="en-US" dirty="0" err="1"/>
              <a:t>сигналы</a:t>
            </a:r>
            <a:r>
              <a:rPr lang="en-US" dirty="0"/>
              <a:t>. </a:t>
            </a:r>
            <a:r>
              <a:rPr lang="en-US" dirty="0" err="1"/>
              <a:t>Сигнал</a:t>
            </a:r>
            <a:r>
              <a:rPr lang="en-US" dirty="0"/>
              <a:t> </a:t>
            </a:r>
            <a:r>
              <a:rPr lang="en-US" dirty="0" err="1"/>
              <a:t>позволяет</a:t>
            </a:r>
            <a:r>
              <a:rPr lang="en-US" dirty="0"/>
              <a:t> </a:t>
            </a:r>
            <a:r>
              <a:rPr lang="en-US" dirty="0" err="1"/>
              <a:t>уведомить</a:t>
            </a:r>
            <a:r>
              <a:rPr lang="en-US" dirty="0"/>
              <a:t> </a:t>
            </a:r>
            <a:r>
              <a:rPr lang="en-US" dirty="0" err="1"/>
              <a:t>процесс</a:t>
            </a:r>
            <a:r>
              <a:rPr lang="en-US" dirty="0"/>
              <a:t> о </a:t>
            </a:r>
            <a:r>
              <a:rPr lang="en-US" dirty="0" err="1"/>
              <a:t>наступлении</a:t>
            </a:r>
            <a:r>
              <a:rPr lang="en-US" dirty="0"/>
              <a:t> </a:t>
            </a:r>
            <a:r>
              <a:rPr lang="en-US" dirty="0" err="1"/>
              <a:t>некоторого</a:t>
            </a:r>
            <a:r>
              <a:rPr lang="en-US" dirty="0"/>
              <a:t> </a:t>
            </a:r>
            <a:r>
              <a:rPr lang="en-US" dirty="0" err="1"/>
              <a:t>события</a:t>
            </a:r>
            <a:r>
              <a:rPr lang="en-US" dirty="0"/>
              <a:t>.</a:t>
            </a:r>
          </a:p>
          <a:p>
            <a:r>
              <a:rPr lang="en-US" dirty="0" err="1"/>
              <a:t>Например</a:t>
            </a:r>
            <a:r>
              <a:rPr lang="en-US" dirty="0"/>
              <a:t>, </a:t>
            </a:r>
            <a:r>
              <a:rPr lang="en-US" dirty="0" err="1"/>
              <a:t>когда</a:t>
            </a:r>
            <a:r>
              <a:rPr lang="en-US" dirty="0"/>
              <a:t> </a:t>
            </a:r>
            <a:r>
              <a:rPr lang="en-US" dirty="0" err="1"/>
              <a:t>мы</a:t>
            </a:r>
            <a:r>
              <a:rPr lang="en-US" dirty="0"/>
              <a:t> </a:t>
            </a:r>
            <a:r>
              <a:rPr lang="en-US" dirty="0" err="1"/>
              <a:t>нажимаем</a:t>
            </a:r>
            <a:r>
              <a:rPr lang="en-US" dirty="0"/>
              <a:t> </a:t>
            </a:r>
            <a:r>
              <a:rPr lang="en-US" sz="1200" kern="1200" dirty="0" err="1">
                <a:solidFill>
                  <a:schemeClr val="tx1"/>
                </a:solidFill>
                <a:latin typeface="+mn-lt"/>
                <a:ea typeface="+mn-ea"/>
                <a:cs typeface="+mn-cs"/>
              </a:rPr>
              <a:t>Ctrl+C</a:t>
            </a:r>
            <a:r>
              <a:rPr lang="en-US" dirty="0"/>
              <a:t> в </a:t>
            </a:r>
            <a:r>
              <a:rPr lang="en-US" dirty="0" err="1"/>
              <a:t>терминале</a:t>
            </a:r>
            <a:r>
              <a:rPr lang="en-US" dirty="0"/>
              <a:t>, </a:t>
            </a:r>
            <a:r>
              <a:rPr lang="en-US" dirty="0" err="1"/>
              <a:t>активному</a:t>
            </a:r>
            <a:r>
              <a:rPr lang="en-US" dirty="0"/>
              <a:t> </a:t>
            </a:r>
            <a:r>
              <a:rPr lang="en-US" dirty="0" err="1"/>
              <a:t>процессу</a:t>
            </a:r>
            <a:r>
              <a:rPr lang="en-US" dirty="0"/>
              <a:t> </a:t>
            </a:r>
            <a:r>
              <a:rPr lang="en-US" dirty="0" err="1"/>
              <a:t>обычно</a:t>
            </a:r>
            <a:r>
              <a:rPr lang="en-US" dirty="0"/>
              <a:t> </a:t>
            </a:r>
            <a:r>
              <a:rPr lang="en-US" dirty="0" err="1"/>
              <a:t>отправляется</a:t>
            </a:r>
            <a:r>
              <a:rPr lang="en-US" dirty="0"/>
              <a:t> </a:t>
            </a:r>
            <a:r>
              <a:rPr lang="en-US" dirty="0" err="1"/>
              <a:t>сигнал</a:t>
            </a:r>
            <a:r>
              <a:rPr lang="en-US" dirty="0"/>
              <a:t> с </a:t>
            </a:r>
            <a:r>
              <a:rPr lang="en-US" dirty="0" err="1"/>
              <a:t>просьбой</a:t>
            </a:r>
            <a:r>
              <a:rPr lang="en-US" dirty="0"/>
              <a:t> </a:t>
            </a:r>
            <a:r>
              <a:rPr lang="en-US" dirty="0" err="1"/>
              <a:t>завершить</a:t>
            </a:r>
            <a:r>
              <a:rPr lang="en-US" dirty="0"/>
              <a:t> </a:t>
            </a:r>
            <a:r>
              <a:rPr lang="en-US" dirty="0" err="1"/>
              <a:t>работу</a:t>
            </a:r>
            <a:r>
              <a:rPr lang="en-US" dirty="0"/>
              <a:t>. </a:t>
            </a:r>
            <a:r>
              <a:rPr lang="en-US" dirty="0" err="1"/>
              <a:t>Сигналы</a:t>
            </a:r>
            <a:r>
              <a:rPr lang="en-US" dirty="0"/>
              <a:t> </a:t>
            </a:r>
            <a:r>
              <a:rPr lang="en-US" dirty="0" err="1"/>
              <a:t>могут</a:t>
            </a:r>
            <a:r>
              <a:rPr lang="en-US" dirty="0"/>
              <a:t> </a:t>
            </a:r>
            <a:r>
              <a:rPr lang="en-US" dirty="0" err="1"/>
              <a:t>возникать</a:t>
            </a:r>
            <a:r>
              <a:rPr lang="en-US" dirty="0"/>
              <a:t> и </a:t>
            </a:r>
            <a:r>
              <a:rPr lang="en-US" dirty="0" err="1"/>
              <a:t>при</a:t>
            </a:r>
            <a:r>
              <a:rPr lang="en-US" dirty="0"/>
              <a:t> </a:t>
            </a:r>
            <a:r>
              <a:rPr lang="en-US" dirty="0" err="1"/>
              <a:t>ошибках</a:t>
            </a:r>
            <a:r>
              <a:rPr lang="en-US" dirty="0"/>
              <a:t>: </a:t>
            </a:r>
            <a:r>
              <a:rPr lang="en-US" dirty="0" err="1"/>
              <a:t>например</a:t>
            </a:r>
            <a:r>
              <a:rPr lang="en-US" dirty="0"/>
              <a:t>, </a:t>
            </a:r>
            <a:r>
              <a:rPr lang="en-US" dirty="0" err="1"/>
              <a:t>если</a:t>
            </a:r>
            <a:r>
              <a:rPr lang="en-US" dirty="0"/>
              <a:t> </a:t>
            </a:r>
            <a:r>
              <a:rPr lang="en-US" dirty="0" err="1"/>
              <a:t>программа</a:t>
            </a:r>
            <a:r>
              <a:rPr lang="en-US" dirty="0"/>
              <a:t> </a:t>
            </a:r>
            <a:r>
              <a:rPr lang="en-US" dirty="0" err="1"/>
              <a:t>пытается</a:t>
            </a:r>
            <a:r>
              <a:rPr lang="en-US" dirty="0"/>
              <a:t> </a:t>
            </a:r>
            <a:r>
              <a:rPr lang="en-US" dirty="0" err="1"/>
              <a:t>обратиться</a:t>
            </a:r>
            <a:r>
              <a:rPr lang="en-US" dirty="0"/>
              <a:t> к </a:t>
            </a:r>
            <a:r>
              <a:rPr lang="en-US" dirty="0" err="1"/>
              <a:t>недопустимой</a:t>
            </a:r>
            <a:r>
              <a:rPr lang="en-US" dirty="0"/>
              <a:t> </a:t>
            </a:r>
            <a:r>
              <a:rPr lang="en-US" dirty="0" err="1"/>
              <a:t>области</a:t>
            </a:r>
            <a:r>
              <a:rPr lang="en-US" dirty="0"/>
              <a:t> </a:t>
            </a:r>
            <a:r>
              <a:rPr lang="en-US" dirty="0" err="1"/>
              <a:t>памяти</a:t>
            </a:r>
            <a:r>
              <a:rPr lang="en-US" dirty="0"/>
              <a:t>.</a:t>
            </a:r>
            <a:endParaRPr lang="ru-RU" dirty="0"/>
          </a:p>
          <a:p>
            <a:endParaRPr lang="en-US" dirty="0"/>
          </a:p>
          <a:p>
            <a:r>
              <a:rPr lang="en-US" dirty="0" err="1"/>
              <a:t>Процесс</a:t>
            </a:r>
            <a:r>
              <a:rPr lang="en-US" dirty="0"/>
              <a:t> </a:t>
            </a:r>
            <a:r>
              <a:rPr lang="en-US" dirty="0" err="1"/>
              <a:t>может</a:t>
            </a:r>
            <a:r>
              <a:rPr lang="en-US" dirty="0"/>
              <a:t> </a:t>
            </a:r>
            <a:r>
              <a:rPr lang="en-US" dirty="0" err="1"/>
              <a:t>установить</a:t>
            </a:r>
            <a:r>
              <a:rPr lang="en-US" dirty="0"/>
              <a:t> </a:t>
            </a:r>
            <a:r>
              <a:rPr lang="en-US" dirty="0" err="1"/>
              <a:t>собственный</a:t>
            </a:r>
            <a:r>
              <a:rPr lang="en-US" dirty="0"/>
              <a:t> </a:t>
            </a:r>
            <a:r>
              <a:rPr lang="en-US" dirty="0" err="1"/>
              <a:t>обработчик</a:t>
            </a:r>
            <a:r>
              <a:rPr lang="en-US" dirty="0"/>
              <a:t> </a:t>
            </a:r>
            <a:r>
              <a:rPr lang="en-US" dirty="0" err="1"/>
              <a:t>некоторых</a:t>
            </a:r>
            <a:r>
              <a:rPr lang="en-US" dirty="0"/>
              <a:t> </a:t>
            </a:r>
            <a:r>
              <a:rPr lang="en-US" dirty="0" err="1"/>
              <a:t>сигналов</a:t>
            </a:r>
            <a:r>
              <a:rPr lang="en-US" dirty="0"/>
              <a:t> и </a:t>
            </a:r>
            <a:r>
              <a:rPr lang="en-US" dirty="0" err="1"/>
              <a:t>определённым</a:t>
            </a:r>
            <a:r>
              <a:rPr lang="en-US" dirty="0"/>
              <a:t> </a:t>
            </a:r>
            <a:r>
              <a:rPr lang="en-US" dirty="0" err="1"/>
              <a:t>образом</a:t>
            </a:r>
            <a:r>
              <a:rPr lang="en-US" dirty="0"/>
              <a:t> </a:t>
            </a:r>
            <a:r>
              <a:rPr lang="en-US" dirty="0" err="1"/>
              <a:t>на</a:t>
            </a:r>
            <a:r>
              <a:rPr lang="en-US" dirty="0"/>
              <a:t> </a:t>
            </a:r>
            <a:r>
              <a:rPr lang="en-US" dirty="0" err="1"/>
              <a:t>них</a:t>
            </a:r>
            <a:r>
              <a:rPr lang="en-US" dirty="0"/>
              <a:t> </a:t>
            </a:r>
            <a:r>
              <a:rPr lang="en-US" dirty="0" err="1"/>
              <a:t>реагировать</a:t>
            </a:r>
            <a:r>
              <a:rPr lang="en-US" dirty="0"/>
              <a:t>. </a:t>
            </a:r>
            <a:r>
              <a:rPr lang="en-US" dirty="0" err="1"/>
              <a:t>Если</a:t>
            </a:r>
            <a:r>
              <a:rPr lang="en-US" dirty="0"/>
              <a:t> </a:t>
            </a:r>
            <a:r>
              <a:rPr lang="en-US" dirty="0" err="1"/>
              <a:t>специального</a:t>
            </a:r>
            <a:r>
              <a:rPr lang="en-US" dirty="0"/>
              <a:t> </a:t>
            </a:r>
            <a:r>
              <a:rPr lang="en-US" dirty="0" err="1"/>
              <a:t>обработчика</a:t>
            </a:r>
            <a:r>
              <a:rPr lang="en-US" dirty="0"/>
              <a:t> </a:t>
            </a:r>
            <a:r>
              <a:rPr lang="en-US" dirty="0" err="1"/>
              <a:t>нет</a:t>
            </a:r>
            <a:r>
              <a:rPr lang="en-US" dirty="0"/>
              <a:t>, </a:t>
            </a:r>
            <a:r>
              <a:rPr lang="en-US" dirty="0" err="1"/>
              <a:t>операционная</a:t>
            </a:r>
            <a:r>
              <a:rPr lang="en-US" dirty="0"/>
              <a:t> </a:t>
            </a:r>
            <a:r>
              <a:rPr lang="en-US" dirty="0" err="1"/>
              <a:t>система</a:t>
            </a:r>
            <a:r>
              <a:rPr lang="en-US" dirty="0"/>
              <a:t> </a:t>
            </a:r>
            <a:r>
              <a:rPr lang="en-US" dirty="0" err="1"/>
              <a:t>выполняет</a:t>
            </a:r>
            <a:r>
              <a:rPr lang="en-US" dirty="0"/>
              <a:t> </a:t>
            </a:r>
            <a:r>
              <a:rPr lang="en-US" dirty="0" err="1"/>
              <a:t>действие</a:t>
            </a:r>
            <a:r>
              <a:rPr lang="en-US" dirty="0"/>
              <a:t>, </a:t>
            </a:r>
            <a:r>
              <a:rPr lang="en-US" dirty="0" err="1"/>
              <a:t>предусмотренное</a:t>
            </a:r>
            <a:r>
              <a:rPr lang="en-US" dirty="0"/>
              <a:t> </a:t>
            </a:r>
            <a:r>
              <a:rPr lang="en-US" dirty="0" err="1"/>
              <a:t>для</a:t>
            </a:r>
            <a:r>
              <a:rPr lang="en-US" dirty="0"/>
              <a:t> </a:t>
            </a:r>
            <a:r>
              <a:rPr lang="en-US" dirty="0" err="1"/>
              <a:t>данного</a:t>
            </a:r>
            <a:r>
              <a:rPr lang="en-US" dirty="0"/>
              <a:t> </a:t>
            </a:r>
            <a:r>
              <a:rPr lang="en-US" dirty="0" err="1"/>
              <a:t>сигнала</a:t>
            </a:r>
            <a:r>
              <a:rPr lang="en-US" dirty="0"/>
              <a:t> </a:t>
            </a:r>
            <a:r>
              <a:rPr lang="en-US" dirty="0" err="1"/>
              <a:t>по</a:t>
            </a:r>
            <a:r>
              <a:rPr lang="en-US" dirty="0"/>
              <a:t> </a:t>
            </a:r>
            <a:r>
              <a:rPr lang="en-US" dirty="0" err="1"/>
              <a:t>умолчанию</a:t>
            </a:r>
            <a:r>
              <a:rPr lang="en-US" dirty="0"/>
              <a:t>.</a:t>
            </a:r>
            <a:endParaRPr lang="ru-RU" dirty="0"/>
          </a:p>
          <a:p>
            <a:endParaRPr lang="en-US" dirty="0"/>
          </a:p>
          <a:p>
            <a:r>
              <a:rPr lang="en-US" dirty="0" err="1"/>
              <a:t>Таким</a:t>
            </a:r>
            <a:r>
              <a:rPr lang="en-US" dirty="0"/>
              <a:t> </a:t>
            </a:r>
            <a:r>
              <a:rPr lang="en-US" dirty="0" err="1"/>
              <a:t>образом</a:t>
            </a:r>
            <a:r>
              <a:rPr lang="en-US" dirty="0"/>
              <a:t>, </a:t>
            </a:r>
            <a:r>
              <a:rPr lang="en-US" dirty="0" err="1"/>
              <a:t>процессы</a:t>
            </a:r>
            <a:r>
              <a:rPr lang="en-US" dirty="0"/>
              <a:t> в </a:t>
            </a:r>
            <a:r>
              <a:rPr lang="en-US" dirty="0" err="1"/>
              <a:t>операционной</a:t>
            </a:r>
            <a:r>
              <a:rPr lang="en-US" dirty="0"/>
              <a:t> </a:t>
            </a:r>
            <a:r>
              <a:rPr lang="en-US" dirty="0" err="1"/>
              <a:t>системе</a:t>
            </a:r>
            <a:r>
              <a:rPr lang="en-US" dirty="0"/>
              <a:t> </a:t>
            </a:r>
            <a:r>
              <a:rPr lang="en-US" dirty="0" err="1"/>
              <a:t>не</a:t>
            </a:r>
            <a:r>
              <a:rPr lang="en-US" dirty="0"/>
              <a:t> </a:t>
            </a:r>
            <a:r>
              <a:rPr lang="en-US" dirty="0" err="1"/>
              <a:t>просто</a:t>
            </a:r>
            <a:r>
              <a:rPr lang="en-US" dirty="0"/>
              <a:t> </a:t>
            </a:r>
            <a:r>
              <a:rPr lang="en-US" dirty="0" err="1"/>
              <a:t>выполняются</a:t>
            </a:r>
            <a:r>
              <a:rPr lang="en-US" dirty="0"/>
              <a:t> </a:t>
            </a:r>
            <a:r>
              <a:rPr lang="en-US" dirty="0" err="1"/>
              <a:t>параллельно</a:t>
            </a:r>
            <a:r>
              <a:rPr lang="en-US" dirty="0"/>
              <a:t>. </a:t>
            </a:r>
            <a:r>
              <a:rPr lang="en-US" dirty="0" err="1"/>
              <a:t>Они</a:t>
            </a:r>
            <a:r>
              <a:rPr lang="en-US" dirty="0"/>
              <a:t> </a:t>
            </a:r>
            <a:r>
              <a:rPr lang="en-US" dirty="0" err="1"/>
              <a:t>образуют</a:t>
            </a:r>
            <a:r>
              <a:rPr lang="en-US" dirty="0"/>
              <a:t> </a:t>
            </a:r>
            <a:r>
              <a:rPr lang="en-US" dirty="0" err="1"/>
              <a:t>определённую</a:t>
            </a:r>
            <a:r>
              <a:rPr lang="en-US" dirty="0"/>
              <a:t> </a:t>
            </a:r>
            <a:r>
              <a:rPr lang="en-US" dirty="0" err="1"/>
              <a:t>структуру</a:t>
            </a:r>
            <a:r>
              <a:rPr lang="en-US" dirty="0"/>
              <a:t>, </a:t>
            </a:r>
            <a:r>
              <a:rPr lang="en-US" dirty="0" err="1"/>
              <a:t>могут</a:t>
            </a:r>
            <a:r>
              <a:rPr lang="en-US" dirty="0"/>
              <a:t> </a:t>
            </a:r>
            <a:r>
              <a:rPr lang="en-US" dirty="0" err="1"/>
              <a:t>обмениваться</a:t>
            </a:r>
            <a:r>
              <a:rPr lang="en-US" dirty="0"/>
              <a:t> </a:t>
            </a:r>
            <a:r>
              <a:rPr lang="en-US" dirty="0" err="1"/>
              <a:t>данными</a:t>
            </a:r>
            <a:r>
              <a:rPr lang="en-US" dirty="0"/>
              <a:t>, </a:t>
            </a:r>
            <a:r>
              <a:rPr lang="en-US" dirty="0" err="1"/>
              <a:t>синхронизировать</a:t>
            </a:r>
            <a:r>
              <a:rPr lang="en-US" dirty="0"/>
              <a:t> </a:t>
            </a:r>
            <a:r>
              <a:rPr lang="en-US" dirty="0" err="1"/>
              <a:t>свою</a:t>
            </a:r>
            <a:r>
              <a:rPr lang="en-US" dirty="0"/>
              <a:t> </a:t>
            </a:r>
            <a:r>
              <a:rPr lang="en-US" dirty="0" err="1"/>
              <a:t>работу</a:t>
            </a:r>
            <a:r>
              <a:rPr lang="en-US" dirty="0"/>
              <a:t> и </a:t>
            </a:r>
            <a:r>
              <a:rPr lang="en-US" dirty="0" err="1"/>
              <a:t>получать</a:t>
            </a:r>
            <a:r>
              <a:rPr lang="en-US" dirty="0"/>
              <a:t> </a:t>
            </a:r>
            <a:r>
              <a:rPr lang="en-US" dirty="0" err="1"/>
              <a:t>уведомления</a:t>
            </a:r>
            <a:r>
              <a:rPr lang="en-US" dirty="0"/>
              <a:t> о </a:t>
            </a:r>
            <a:r>
              <a:rPr lang="en-US" dirty="0" err="1"/>
              <a:t>различных</a:t>
            </a:r>
            <a:r>
              <a:rPr lang="en-US" dirty="0"/>
              <a:t> </a:t>
            </a:r>
            <a:r>
              <a:rPr lang="en-US" dirty="0" err="1"/>
              <a:t>событиях</a:t>
            </a:r>
            <a:r>
              <a:rPr lang="en-US" dirty="0"/>
              <a:t>. </a:t>
            </a:r>
            <a:r>
              <a:rPr lang="en-US" dirty="0" err="1"/>
              <a:t>Дальше</a:t>
            </a:r>
            <a:r>
              <a:rPr lang="en-US" dirty="0"/>
              <a:t> </a:t>
            </a:r>
            <a:r>
              <a:rPr lang="en-US" dirty="0" err="1"/>
              <a:t>мы</a:t>
            </a:r>
            <a:r>
              <a:rPr lang="en-US" dirty="0"/>
              <a:t> </a:t>
            </a:r>
            <a:r>
              <a:rPr lang="en-US" dirty="0" err="1"/>
              <a:t>увидим</a:t>
            </a:r>
            <a:r>
              <a:rPr lang="en-US" dirty="0"/>
              <a:t> </a:t>
            </a:r>
            <a:r>
              <a:rPr lang="en-US" dirty="0" err="1"/>
              <a:t>эти</a:t>
            </a:r>
            <a:r>
              <a:rPr lang="en-US" dirty="0"/>
              <a:t> </a:t>
            </a:r>
            <a:r>
              <a:rPr lang="en-US" dirty="0" err="1"/>
              <a:t>механизмы</a:t>
            </a:r>
            <a:r>
              <a:rPr lang="en-US" dirty="0"/>
              <a:t> </a:t>
            </a:r>
            <a:r>
              <a:rPr lang="en-US" dirty="0" err="1"/>
              <a:t>уже</a:t>
            </a:r>
            <a:r>
              <a:rPr lang="en-US" dirty="0"/>
              <a:t> </a:t>
            </a:r>
            <a:r>
              <a:rPr lang="en-US" dirty="0" err="1"/>
              <a:t>на</a:t>
            </a:r>
            <a:r>
              <a:rPr lang="en-US" dirty="0"/>
              <a:t> </a:t>
            </a:r>
            <a:r>
              <a:rPr lang="en-US" dirty="0" err="1"/>
              <a:t>конкретных</a:t>
            </a:r>
            <a:r>
              <a:rPr lang="en-US" dirty="0"/>
              <a:t> </a:t>
            </a:r>
            <a:r>
              <a:rPr lang="en-US" dirty="0" err="1"/>
              <a:t>примерах</a:t>
            </a:r>
            <a:r>
              <a:rPr lang="en-US" dirty="0"/>
              <a:t> UNIX.</a:t>
            </a:r>
          </a:p>
        </p:txBody>
      </p:sp>
      <p:sp>
        <p:nvSpPr>
          <p:cNvPr id="4" name="Slide Number Placeholder 3"/>
          <p:cNvSpPr>
            <a:spLocks noGrp="1"/>
          </p:cNvSpPr>
          <p:nvPr>
            <p:ph type="sldNum" sz="quarter" idx="5"/>
          </p:nvPr>
        </p:nvSpPr>
        <p:spPr/>
        <p:txBody>
          <a:bodyPr/>
          <a:lstStyle/>
          <a:p>
            <a:fld id="{A3EE74EF-BE85-44F3-968F-E74DD74A629E}" type="slidenum">
              <a:rPr lang="en-US" smtClean="0"/>
              <a:t>5</a:t>
            </a:fld>
            <a:endParaRPr lang="en-US"/>
          </a:p>
        </p:txBody>
      </p:sp>
    </p:spTree>
    <p:extLst>
      <p:ext uri="{BB962C8B-B14F-4D97-AF65-F5344CB8AC3E}">
        <p14:creationId xmlns:p14="http://schemas.microsoft.com/office/powerpoint/2010/main" val="24793548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Мы</a:t>
            </a:r>
            <a:r>
              <a:rPr lang="en-US" dirty="0"/>
              <a:t> </a:t>
            </a:r>
            <a:r>
              <a:rPr lang="en-US" dirty="0" err="1"/>
              <a:t>уже</a:t>
            </a:r>
            <a:r>
              <a:rPr lang="en-US" dirty="0"/>
              <a:t> </a:t>
            </a:r>
            <a:r>
              <a:rPr lang="en-US" dirty="0" err="1"/>
              <a:t>посмотрели</a:t>
            </a:r>
            <a:r>
              <a:rPr lang="en-US" dirty="0"/>
              <a:t> </a:t>
            </a:r>
            <a:r>
              <a:rPr lang="en-US" dirty="0" err="1"/>
              <a:t>обычный</a:t>
            </a:r>
            <a:r>
              <a:rPr lang="en-US" dirty="0"/>
              <a:t> </a:t>
            </a:r>
            <a:r>
              <a:rPr lang="en-US" dirty="0" err="1"/>
              <a:t>список</a:t>
            </a:r>
            <a:r>
              <a:rPr lang="en-US" dirty="0"/>
              <a:t> </a:t>
            </a:r>
            <a:r>
              <a:rPr lang="en-US" dirty="0" err="1"/>
              <a:t>процессов</a:t>
            </a:r>
            <a:r>
              <a:rPr lang="en-US" dirty="0"/>
              <a:t>. </a:t>
            </a:r>
            <a:r>
              <a:rPr lang="en-US" dirty="0" err="1"/>
              <a:t>Теперь</a:t>
            </a:r>
            <a:r>
              <a:rPr lang="en-US" dirty="0"/>
              <a:t> </a:t>
            </a:r>
            <a:r>
              <a:rPr lang="en-US" dirty="0" err="1"/>
              <a:t>попробуем</a:t>
            </a:r>
            <a:r>
              <a:rPr lang="en-US" dirty="0"/>
              <a:t> </a:t>
            </a:r>
            <a:r>
              <a:rPr lang="en-US" dirty="0" err="1"/>
              <a:t>увидеть</a:t>
            </a:r>
            <a:r>
              <a:rPr lang="en-US" dirty="0"/>
              <a:t> </a:t>
            </a:r>
            <a:r>
              <a:rPr lang="en-US" dirty="0" err="1"/>
              <a:t>их</a:t>
            </a:r>
            <a:r>
              <a:rPr lang="en-US" dirty="0"/>
              <a:t> </a:t>
            </a:r>
            <a:r>
              <a:rPr lang="en-US" dirty="0" err="1"/>
              <a:t>не</a:t>
            </a:r>
            <a:r>
              <a:rPr lang="en-US" dirty="0"/>
              <a:t> </a:t>
            </a:r>
            <a:r>
              <a:rPr lang="en-US" dirty="0" err="1"/>
              <a:t>просто</a:t>
            </a:r>
            <a:r>
              <a:rPr lang="en-US" dirty="0"/>
              <a:t> </a:t>
            </a:r>
            <a:r>
              <a:rPr lang="en-US" dirty="0" err="1"/>
              <a:t>как</a:t>
            </a:r>
            <a:r>
              <a:rPr lang="en-US" dirty="0"/>
              <a:t> </a:t>
            </a:r>
            <a:r>
              <a:rPr lang="en-US" dirty="0" err="1"/>
              <a:t>набор</a:t>
            </a:r>
            <a:r>
              <a:rPr lang="en-US" dirty="0"/>
              <a:t> </a:t>
            </a:r>
            <a:r>
              <a:rPr lang="en-US" dirty="0" err="1"/>
              <a:t>независимых</a:t>
            </a:r>
            <a:r>
              <a:rPr lang="en-US" dirty="0"/>
              <a:t> </a:t>
            </a:r>
            <a:r>
              <a:rPr lang="en-US" dirty="0" err="1"/>
              <a:t>строк</a:t>
            </a:r>
            <a:r>
              <a:rPr lang="en-US" dirty="0"/>
              <a:t>, а </a:t>
            </a:r>
            <a:r>
              <a:rPr lang="en-US" dirty="0" err="1"/>
              <a:t>как</a:t>
            </a:r>
            <a:r>
              <a:rPr lang="en-US" dirty="0"/>
              <a:t> </a:t>
            </a:r>
            <a:r>
              <a:rPr lang="en-US" dirty="0" err="1"/>
              <a:t>иерархию</a:t>
            </a:r>
            <a:r>
              <a:rPr lang="en-US" dirty="0"/>
              <a:t>.</a:t>
            </a:r>
            <a:endParaRPr lang="ru-RU" dirty="0"/>
          </a:p>
          <a:p>
            <a:endParaRPr lang="en-US" dirty="0"/>
          </a:p>
          <a:p>
            <a:r>
              <a:rPr lang="en-US" dirty="0" err="1"/>
              <a:t>Для</a:t>
            </a:r>
            <a:r>
              <a:rPr lang="en-US" dirty="0"/>
              <a:t> </a:t>
            </a:r>
            <a:r>
              <a:rPr lang="en-US" dirty="0" err="1"/>
              <a:t>этого</a:t>
            </a:r>
            <a:r>
              <a:rPr lang="en-US" dirty="0"/>
              <a:t> к </a:t>
            </a:r>
            <a:r>
              <a:rPr lang="en-US" dirty="0" err="1"/>
              <a:t>команде</a:t>
            </a:r>
            <a:r>
              <a:rPr lang="en-US" dirty="0"/>
              <a:t> </a:t>
            </a:r>
            <a:r>
              <a:rPr lang="en-US" sz="1200" kern="1200" dirty="0" err="1">
                <a:solidFill>
                  <a:schemeClr val="tx1"/>
                </a:solidFill>
                <a:latin typeface="+mn-lt"/>
                <a:ea typeface="+mn-ea"/>
                <a:cs typeface="+mn-cs"/>
              </a:rPr>
              <a:t>ps</a:t>
            </a:r>
            <a:r>
              <a:rPr lang="en-US" sz="1200" kern="1200" dirty="0">
                <a:solidFill>
                  <a:schemeClr val="tx1"/>
                </a:solidFill>
                <a:latin typeface="+mn-lt"/>
                <a:ea typeface="+mn-ea"/>
                <a:cs typeface="+mn-cs"/>
              </a:rPr>
              <a:t> aux</a:t>
            </a:r>
            <a:r>
              <a:rPr lang="en-US" dirty="0"/>
              <a:t> </a:t>
            </a:r>
            <a:r>
              <a:rPr lang="en-US" dirty="0" err="1"/>
              <a:t>можно</a:t>
            </a:r>
            <a:r>
              <a:rPr lang="en-US" dirty="0"/>
              <a:t> </a:t>
            </a:r>
            <a:r>
              <a:rPr lang="en-US" dirty="0" err="1"/>
              <a:t>добавить</a:t>
            </a:r>
            <a:r>
              <a:rPr lang="en-US" dirty="0"/>
              <a:t> </a:t>
            </a:r>
            <a:r>
              <a:rPr lang="en-US" dirty="0" err="1"/>
              <a:t>параметр</a:t>
            </a:r>
            <a:r>
              <a:rPr lang="en-US" dirty="0"/>
              <a:t> </a:t>
            </a:r>
            <a:r>
              <a:rPr lang="en-US" sz="1200" kern="1200" dirty="0">
                <a:solidFill>
                  <a:schemeClr val="tx1"/>
                </a:solidFill>
                <a:latin typeface="+mn-lt"/>
                <a:ea typeface="+mn-ea"/>
                <a:cs typeface="+mn-cs"/>
              </a:rPr>
              <a:t>--forest</a:t>
            </a:r>
            <a:r>
              <a:rPr lang="en-US" dirty="0"/>
              <a:t>. </a:t>
            </a:r>
            <a:r>
              <a:rPr lang="en-US" dirty="0" err="1"/>
              <a:t>Он</a:t>
            </a:r>
            <a:r>
              <a:rPr lang="en-US" dirty="0"/>
              <a:t> </a:t>
            </a:r>
            <a:r>
              <a:rPr lang="en-US" dirty="0" err="1"/>
              <a:t>не</a:t>
            </a:r>
            <a:r>
              <a:rPr lang="en-US" dirty="0"/>
              <a:t> </a:t>
            </a:r>
            <a:r>
              <a:rPr lang="en-US" dirty="0" err="1"/>
              <a:t>меняет</a:t>
            </a:r>
            <a:r>
              <a:rPr lang="en-US" dirty="0"/>
              <a:t> </a:t>
            </a:r>
            <a:r>
              <a:rPr lang="en-US" dirty="0" err="1"/>
              <a:t>сами</a:t>
            </a:r>
            <a:r>
              <a:rPr lang="en-US" dirty="0"/>
              <a:t> </a:t>
            </a:r>
            <a:r>
              <a:rPr lang="en-US" dirty="0" err="1"/>
              <a:t>процессы</a:t>
            </a:r>
            <a:r>
              <a:rPr lang="en-US" dirty="0"/>
              <a:t>, </a:t>
            </a:r>
            <a:r>
              <a:rPr lang="en-US" dirty="0" err="1"/>
              <a:t>которые</a:t>
            </a:r>
            <a:r>
              <a:rPr lang="en-US" dirty="0"/>
              <a:t> </a:t>
            </a:r>
            <a:r>
              <a:rPr lang="en-US" dirty="0" err="1"/>
              <a:t>показывает</a:t>
            </a:r>
            <a:r>
              <a:rPr lang="en-US" dirty="0"/>
              <a:t> </a:t>
            </a:r>
            <a:r>
              <a:rPr lang="en-US" sz="1200" kern="1200" dirty="0" err="1">
                <a:solidFill>
                  <a:schemeClr val="tx1"/>
                </a:solidFill>
                <a:latin typeface="+mn-lt"/>
                <a:ea typeface="+mn-ea"/>
                <a:cs typeface="+mn-cs"/>
              </a:rPr>
              <a:t>ps</a:t>
            </a:r>
            <a:r>
              <a:rPr lang="en-US" dirty="0"/>
              <a:t>, а </a:t>
            </a:r>
            <a:r>
              <a:rPr lang="en-US" dirty="0" err="1"/>
              <a:t>просто</a:t>
            </a:r>
            <a:r>
              <a:rPr lang="en-US" dirty="0"/>
              <a:t> </a:t>
            </a:r>
            <a:r>
              <a:rPr lang="en-US" dirty="0" err="1"/>
              <a:t>отображает</a:t>
            </a:r>
            <a:r>
              <a:rPr lang="en-US" dirty="0"/>
              <a:t> </a:t>
            </a:r>
            <a:r>
              <a:rPr lang="en-US" dirty="0" err="1"/>
              <a:t>связи</a:t>
            </a:r>
            <a:r>
              <a:rPr lang="en-US" dirty="0"/>
              <a:t> </a:t>
            </a:r>
            <a:r>
              <a:rPr lang="en-US" dirty="0" err="1"/>
              <a:t>между</a:t>
            </a:r>
            <a:r>
              <a:rPr lang="en-US" dirty="0"/>
              <a:t> </a:t>
            </a:r>
            <a:r>
              <a:rPr lang="en-US" dirty="0" err="1"/>
              <a:t>ними</a:t>
            </a:r>
            <a:r>
              <a:rPr lang="en-US" dirty="0"/>
              <a:t> в </a:t>
            </a:r>
            <a:r>
              <a:rPr lang="en-US" dirty="0" err="1"/>
              <a:t>виде</a:t>
            </a:r>
            <a:r>
              <a:rPr lang="en-US" dirty="0"/>
              <a:t> </a:t>
            </a:r>
            <a:r>
              <a:rPr lang="en-US" dirty="0" err="1"/>
              <a:t>дерева</a:t>
            </a:r>
            <a:r>
              <a:rPr lang="en-US" dirty="0"/>
              <a:t>.</a:t>
            </a:r>
            <a:endParaRPr lang="ru-RU" dirty="0"/>
          </a:p>
          <a:p>
            <a:endParaRPr lang="en-US" dirty="0"/>
          </a:p>
          <a:p>
            <a:r>
              <a:rPr lang="en-US" dirty="0" err="1"/>
              <a:t>Обратите</a:t>
            </a:r>
            <a:r>
              <a:rPr lang="en-US" dirty="0"/>
              <a:t> </a:t>
            </a:r>
            <a:r>
              <a:rPr lang="en-US" dirty="0" err="1"/>
              <a:t>внимание</a:t>
            </a:r>
            <a:r>
              <a:rPr lang="en-US" dirty="0"/>
              <a:t> </a:t>
            </a:r>
            <a:r>
              <a:rPr lang="en-US" dirty="0" err="1"/>
              <a:t>на</a:t>
            </a:r>
            <a:r>
              <a:rPr lang="en-US" dirty="0"/>
              <a:t> </a:t>
            </a:r>
            <a:r>
              <a:rPr lang="en-US" dirty="0" err="1"/>
              <a:t>столбец</a:t>
            </a:r>
            <a:r>
              <a:rPr lang="en-US" dirty="0"/>
              <a:t> </a:t>
            </a:r>
            <a:r>
              <a:rPr lang="en-US" sz="1200" kern="1200" dirty="0">
                <a:solidFill>
                  <a:schemeClr val="tx1"/>
                </a:solidFill>
                <a:latin typeface="+mn-lt"/>
                <a:ea typeface="+mn-ea"/>
                <a:cs typeface="+mn-cs"/>
              </a:rPr>
              <a:t>COMMAND</a:t>
            </a:r>
            <a:r>
              <a:rPr lang="en-US" dirty="0"/>
              <a:t>. </a:t>
            </a:r>
            <a:r>
              <a:rPr lang="en-US" dirty="0" err="1"/>
              <a:t>Перед</a:t>
            </a:r>
            <a:r>
              <a:rPr lang="en-US" dirty="0"/>
              <a:t> </a:t>
            </a:r>
            <a:r>
              <a:rPr lang="en-US" dirty="0" err="1"/>
              <a:t>именами</a:t>
            </a:r>
            <a:r>
              <a:rPr lang="en-US" dirty="0"/>
              <a:t> </a:t>
            </a:r>
            <a:r>
              <a:rPr lang="en-US" dirty="0" err="1"/>
              <a:t>некоторых</a:t>
            </a:r>
            <a:r>
              <a:rPr lang="en-US" dirty="0"/>
              <a:t> </a:t>
            </a:r>
            <a:r>
              <a:rPr lang="en-US" dirty="0" err="1"/>
              <a:t>программ</a:t>
            </a:r>
            <a:r>
              <a:rPr lang="en-US" dirty="0"/>
              <a:t> </a:t>
            </a:r>
            <a:r>
              <a:rPr lang="en-US" dirty="0" err="1"/>
              <a:t>появились</a:t>
            </a:r>
            <a:r>
              <a:rPr lang="en-US" dirty="0"/>
              <a:t> </a:t>
            </a:r>
            <a:r>
              <a:rPr lang="en-US" dirty="0" err="1"/>
              <a:t>вертикальные</a:t>
            </a:r>
            <a:r>
              <a:rPr lang="en-US" dirty="0"/>
              <a:t> </a:t>
            </a:r>
            <a:r>
              <a:rPr lang="en-US" dirty="0" err="1"/>
              <a:t>линии</a:t>
            </a:r>
            <a:r>
              <a:rPr lang="en-US" dirty="0"/>
              <a:t> и </a:t>
            </a:r>
            <a:r>
              <a:rPr lang="en-US" dirty="0" err="1"/>
              <a:t>ответвления</a:t>
            </a:r>
            <a:r>
              <a:rPr lang="en-US" dirty="0"/>
              <a:t>. </a:t>
            </a:r>
            <a:r>
              <a:rPr lang="en-US" dirty="0" err="1"/>
              <a:t>Они</a:t>
            </a:r>
            <a:r>
              <a:rPr lang="en-US" dirty="0"/>
              <a:t> </a:t>
            </a:r>
            <a:r>
              <a:rPr lang="en-US" dirty="0" err="1"/>
              <a:t>показывают</a:t>
            </a:r>
            <a:r>
              <a:rPr lang="en-US" dirty="0"/>
              <a:t>, </a:t>
            </a:r>
            <a:r>
              <a:rPr lang="en-US" dirty="0" err="1"/>
              <a:t>какой</a:t>
            </a:r>
            <a:r>
              <a:rPr lang="en-US" dirty="0"/>
              <a:t> </a:t>
            </a:r>
            <a:r>
              <a:rPr lang="en-US" dirty="0" err="1"/>
              <a:t>процесс</a:t>
            </a:r>
            <a:r>
              <a:rPr lang="en-US" dirty="0"/>
              <a:t> </a:t>
            </a:r>
            <a:r>
              <a:rPr lang="en-US" dirty="0" err="1"/>
              <a:t>был</a:t>
            </a:r>
            <a:r>
              <a:rPr lang="en-US" dirty="0"/>
              <a:t> </a:t>
            </a:r>
            <a:r>
              <a:rPr lang="en-US" dirty="0" err="1"/>
              <a:t>создан</a:t>
            </a:r>
            <a:r>
              <a:rPr lang="en-US" dirty="0"/>
              <a:t> </a:t>
            </a:r>
            <a:r>
              <a:rPr lang="en-US" dirty="0" err="1"/>
              <a:t>каким</a:t>
            </a:r>
            <a:r>
              <a:rPr lang="en-US" dirty="0"/>
              <a:t>.</a:t>
            </a:r>
          </a:p>
          <a:p>
            <a:r>
              <a:rPr lang="en-US" dirty="0" err="1"/>
              <a:t>Например</a:t>
            </a:r>
            <a:r>
              <a:rPr lang="en-US" dirty="0"/>
              <a:t>, </a:t>
            </a:r>
            <a:r>
              <a:rPr lang="en-US" dirty="0" err="1"/>
              <a:t>здесь</a:t>
            </a:r>
            <a:r>
              <a:rPr lang="en-US" dirty="0"/>
              <a:t> </a:t>
            </a:r>
            <a:r>
              <a:rPr lang="en-US" dirty="0" err="1"/>
              <a:t>сверху</a:t>
            </a:r>
            <a:r>
              <a:rPr lang="en-US" dirty="0"/>
              <a:t> </a:t>
            </a:r>
            <a:r>
              <a:rPr lang="en-US" dirty="0" err="1"/>
              <a:t>находится</a:t>
            </a:r>
            <a:r>
              <a:rPr lang="en-US" dirty="0"/>
              <a:t> </a:t>
            </a:r>
            <a:r>
              <a:rPr lang="en-US" dirty="0" err="1"/>
              <a:t>один</a:t>
            </a:r>
            <a:r>
              <a:rPr lang="en-US" dirty="0"/>
              <a:t> </a:t>
            </a:r>
            <a:r>
              <a:rPr lang="en-US" dirty="0" err="1"/>
              <a:t>из</a:t>
            </a:r>
            <a:r>
              <a:rPr lang="en-US" dirty="0"/>
              <a:t> </a:t>
            </a:r>
            <a:r>
              <a:rPr lang="en-US" dirty="0" err="1"/>
              <a:t>системных</a:t>
            </a:r>
            <a:r>
              <a:rPr lang="en-US" dirty="0"/>
              <a:t> </a:t>
            </a:r>
            <a:r>
              <a:rPr lang="en-US" dirty="0" err="1"/>
              <a:t>процессов</a:t>
            </a:r>
            <a:r>
              <a:rPr lang="en-US" dirty="0"/>
              <a:t>, а </a:t>
            </a:r>
            <a:r>
              <a:rPr lang="en-US" dirty="0" err="1"/>
              <a:t>ниже</a:t>
            </a:r>
            <a:r>
              <a:rPr lang="en-US" dirty="0"/>
              <a:t> </a:t>
            </a:r>
            <a:r>
              <a:rPr lang="en-US" dirty="0" err="1"/>
              <a:t>мы</a:t>
            </a:r>
            <a:r>
              <a:rPr lang="en-US" dirty="0"/>
              <a:t> </a:t>
            </a:r>
            <a:r>
              <a:rPr lang="en-US" dirty="0" err="1"/>
              <a:t>видим</a:t>
            </a:r>
            <a:r>
              <a:rPr lang="en-US" dirty="0"/>
              <a:t> </a:t>
            </a:r>
            <a:r>
              <a:rPr lang="en-US" dirty="0" err="1"/>
              <a:t>запущенные</a:t>
            </a:r>
            <a:r>
              <a:rPr lang="en-US" dirty="0"/>
              <a:t> </a:t>
            </a:r>
            <a:r>
              <a:rPr lang="en-US" dirty="0" err="1"/>
              <a:t>им</a:t>
            </a:r>
            <a:r>
              <a:rPr lang="en-US" dirty="0"/>
              <a:t> </a:t>
            </a:r>
            <a:r>
              <a:rPr lang="en-US" dirty="0" err="1"/>
              <a:t>дочерние</a:t>
            </a:r>
            <a:r>
              <a:rPr lang="en-US" dirty="0"/>
              <a:t> </a:t>
            </a:r>
            <a:r>
              <a:rPr lang="en-US" dirty="0" err="1"/>
              <a:t>процессы</a:t>
            </a:r>
            <a:r>
              <a:rPr lang="en-US" dirty="0"/>
              <a:t>. В </a:t>
            </a:r>
            <a:r>
              <a:rPr lang="en-US" dirty="0" err="1"/>
              <a:t>одной</a:t>
            </a:r>
            <a:r>
              <a:rPr lang="en-US" dirty="0"/>
              <a:t> </a:t>
            </a:r>
            <a:r>
              <a:rPr lang="en-US" dirty="0" err="1"/>
              <a:t>из</a:t>
            </a:r>
            <a:r>
              <a:rPr lang="en-US" dirty="0"/>
              <a:t> </a:t>
            </a:r>
            <a:r>
              <a:rPr lang="en-US" dirty="0" err="1"/>
              <a:t>ветвей</a:t>
            </a:r>
            <a:r>
              <a:rPr lang="en-US" dirty="0"/>
              <a:t> </a:t>
            </a:r>
            <a:r>
              <a:rPr lang="en-US" dirty="0" err="1"/>
              <a:t>появляется</a:t>
            </a:r>
            <a:r>
              <a:rPr lang="en-US" dirty="0"/>
              <a:t> </a:t>
            </a:r>
            <a:r>
              <a:rPr lang="en-US" dirty="0" err="1"/>
              <a:t>оболочка</a:t>
            </a:r>
            <a:r>
              <a:rPr lang="en-US" dirty="0"/>
              <a:t> </a:t>
            </a:r>
            <a:r>
              <a:rPr lang="en-US" sz="1200" kern="1200" dirty="0">
                <a:solidFill>
                  <a:schemeClr val="tx1"/>
                </a:solidFill>
                <a:latin typeface="+mn-lt"/>
                <a:ea typeface="+mn-ea"/>
                <a:cs typeface="+mn-cs"/>
              </a:rPr>
              <a:t>bash</a:t>
            </a:r>
            <a:r>
              <a:rPr lang="en-US" dirty="0"/>
              <a:t>. Это </a:t>
            </a:r>
            <a:r>
              <a:rPr lang="en-US" dirty="0" err="1"/>
              <a:t>тот</a:t>
            </a:r>
            <a:r>
              <a:rPr lang="en-US" dirty="0"/>
              <a:t> </a:t>
            </a:r>
            <a:r>
              <a:rPr lang="en-US" dirty="0" err="1"/>
              <a:t>самый</a:t>
            </a:r>
            <a:r>
              <a:rPr lang="en-US" dirty="0"/>
              <a:t> </a:t>
            </a:r>
            <a:r>
              <a:rPr lang="en-US" dirty="0" err="1"/>
              <a:t>командный</a:t>
            </a:r>
            <a:r>
              <a:rPr lang="en-US" dirty="0"/>
              <a:t> </a:t>
            </a:r>
            <a:r>
              <a:rPr lang="en-US" dirty="0" err="1"/>
              <a:t>интерпретатор</a:t>
            </a:r>
            <a:r>
              <a:rPr lang="en-US" dirty="0"/>
              <a:t>, в </a:t>
            </a:r>
            <a:r>
              <a:rPr lang="en-US" dirty="0" err="1"/>
              <a:t>котором</a:t>
            </a:r>
            <a:r>
              <a:rPr lang="en-US" dirty="0"/>
              <a:t> </a:t>
            </a:r>
            <a:r>
              <a:rPr lang="en-US" dirty="0" err="1"/>
              <a:t>пользователь</a:t>
            </a:r>
            <a:r>
              <a:rPr lang="en-US" dirty="0"/>
              <a:t> </a:t>
            </a:r>
            <a:r>
              <a:rPr lang="en-US" dirty="0" err="1"/>
              <a:t>вводит</a:t>
            </a:r>
            <a:r>
              <a:rPr lang="en-US" dirty="0"/>
              <a:t> </a:t>
            </a:r>
            <a:r>
              <a:rPr lang="en-US" dirty="0" err="1"/>
              <a:t>команды</a:t>
            </a:r>
            <a:r>
              <a:rPr lang="en-US" dirty="0"/>
              <a:t>.</a:t>
            </a:r>
          </a:p>
          <a:p>
            <a:endParaRPr lang="en-US" dirty="0"/>
          </a:p>
          <a:p>
            <a:r>
              <a:rPr lang="en-US" dirty="0"/>
              <a:t>А </a:t>
            </a:r>
            <a:r>
              <a:rPr lang="en-US" dirty="0" err="1"/>
              <a:t>теперь</a:t>
            </a:r>
            <a:r>
              <a:rPr lang="en-US" dirty="0"/>
              <a:t> </a:t>
            </a:r>
            <a:r>
              <a:rPr lang="en-US" dirty="0" err="1"/>
              <a:t>посмотрим</a:t>
            </a:r>
            <a:r>
              <a:rPr lang="en-US" dirty="0"/>
              <a:t> </a:t>
            </a:r>
            <a:r>
              <a:rPr lang="en-US" dirty="0" err="1"/>
              <a:t>на</a:t>
            </a:r>
            <a:r>
              <a:rPr lang="en-US" dirty="0"/>
              <a:t> </a:t>
            </a:r>
            <a:r>
              <a:rPr lang="en-US" dirty="0" err="1"/>
              <a:t>выделенную</a:t>
            </a:r>
            <a:r>
              <a:rPr lang="en-US" dirty="0"/>
              <a:t> </a:t>
            </a:r>
            <a:r>
              <a:rPr lang="en-US" dirty="0" err="1"/>
              <a:t>строку</a:t>
            </a:r>
            <a:r>
              <a:rPr lang="en-US" dirty="0"/>
              <a:t>. </a:t>
            </a:r>
            <a:r>
              <a:rPr lang="en-US" dirty="0" err="1"/>
              <a:t>Здесь</a:t>
            </a:r>
            <a:r>
              <a:rPr lang="en-US" dirty="0"/>
              <a:t> </a:t>
            </a:r>
            <a:r>
              <a:rPr lang="en-US" dirty="0" err="1"/>
              <a:t>находится</a:t>
            </a:r>
            <a:r>
              <a:rPr lang="en-US" dirty="0"/>
              <a:t> </a:t>
            </a:r>
            <a:r>
              <a:rPr lang="en-US" dirty="0" err="1"/>
              <a:t>процесс</a:t>
            </a:r>
            <a:r>
              <a:rPr lang="en-US" dirty="0"/>
              <a:t> </a:t>
            </a:r>
            <a:r>
              <a:rPr lang="en-US" sz="1200" kern="1200" dirty="0" err="1">
                <a:solidFill>
                  <a:schemeClr val="tx1"/>
                </a:solidFill>
                <a:latin typeface="+mn-lt"/>
                <a:ea typeface="+mn-ea"/>
                <a:cs typeface="+mn-cs"/>
              </a:rPr>
              <a:t>ps</a:t>
            </a:r>
            <a:r>
              <a:rPr lang="en-US" sz="1200" kern="1200" dirty="0">
                <a:solidFill>
                  <a:schemeClr val="tx1"/>
                </a:solidFill>
                <a:latin typeface="+mn-lt"/>
                <a:ea typeface="+mn-ea"/>
                <a:cs typeface="+mn-cs"/>
              </a:rPr>
              <a:t> aux --forest</a:t>
            </a:r>
            <a:r>
              <a:rPr lang="en-US" dirty="0"/>
              <a:t> — </a:t>
            </a:r>
            <a:r>
              <a:rPr lang="en-US" dirty="0" err="1"/>
              <a:t>то</a:t>
            </a:r>
            <a:r>
              <a:rPr lang="en-US" dirty="0"/>
              <a:t> </a:t>
            </a:r>
            <a:r>
              <a:rPr lang="en-US" dirty="0" err="1"/>
              <a:t>есть</a:t>
            </a:r>
            <a:r>
              <a:rPr lang="en-US" dirty="0"/>
              <a:t> </a:t>
            </a:r>
            <a:r>
              <a:rPr lang="en-US" dirty="0" err="1"/>
              <a:t>та</a:t>
            </a:r>
            <a:r>
              <a:rPr lang="en-US" dirty="0"/>
              <a:t> </a:t>
            </a:r>
            <a:r>
              <a:rPr lang="en-US" dirty="0" err="1"/>
              <a:t>самая</a:t>
            </a:r>
            <a:r>
              <a:rPr lang="en-US" dirty="0"/>
              <a:t> </a:t>
            </a:r>
            <a:r>
              <a:rPr lang="en-US" dirty="0" err="1"/>
              <a:t>команда</a:t>
            </a:r>
            <a:r>
              <a:rPr lang="en-US" dirty="0"/>
              <a:t>, </a:t>
            </a:r>
            <a:r>
              <a:rPr lang="en-US" dirty="0" err="1"/>
              <a:t>которую</a:t>
            </a:r>
            <a:r>
              <a:rPr lang="en-US" dirty="0"/>
              <a:t> </a:t>
            </a:r>
            <a:r>
              <a:rPr lang="en-US" dirty="0" err="1"/>
              <a:t>мы</a:t>
            </a:r>
            <a:r>
              <a:rPr lang="en-US" dirty="0"/>
              <a:t> </a:t>
            </a:r>
            <a:r>
              <a:rPr lang="en-US" dirty="0" err="1"/>
              <a:t>только</a:t>
            </a:r>
            <a:r>
              <a:rPr lang="en-US" dirty="0"/>
              <a:t> </a:t>
            </a:r>
            <a:r>
              <a:rPr lang="en-US" dirty="0" err="1"/>
              <a:t>что</a:t>
            </a:r>
            <a:r>
              <a:rPr lang="en-US" dirty="0"/>
              <a:t> </a:t>
            </a:r>
            <a:r>
              <a:rPr lang="en-US" dirty="0" err="1"/>
              <a:t>запустили</a:t>
            </a:r>
            <a:r>
              <a:rPr lang="en-US" dirty="0"/>
              <a:t>.</a:t>
            </a:r>
          </a:p>
          <a:p>
            <a:r>
              <a:rPr lang="en-US" dirty="0" err="1"/>
              <a:t>Почему</a:t>
            </a:r>
            <a:r>
              <a:rPr lang="en-US" dirty="0"/>
              <a:t> </a:t>
            </a:r>
            <a:r>
              <a:rPr lang="en-US" dirty="0" err="1"/>
              <a:t>она</a:t>
            </a:r>
            <a:r>
              <a:rPr lang="en-US" dirty="0"/>
              <a:t> </a:t>
            </a:r>
            <a:r>
              <a:rPr lang="en-US" dirty="0" err="1"/>
              <a:t>сама</a:t>
            </a:r>
            <a:r>
              <a:rPr lang="en-US" dirty="0"/>
              <a:t> </a:t>
            </a:r>
            <a:r>
              <a:rPr lang="en-US" dirty="0" err="1"/>
              <a:t>присутствует</a:t>
            </a:r>
            <a:r>
              <a:rPr lang="en-US" dirty="0"/>
              <a:t> в </a:t>
            </a:r>
            <a:r>
              <a:rPr lang="en-US" dirty="0" err="1"/>
              <a:t>списке</a:t>
            </a:r>
            <a:r>
              <a:rPr lang="en-US" dirty="0"/>
              <a:t>? </a:t>
            </a:r>
            <a:r>
              <a:rPr lang="en-US" dirty="0" err="1"/>
              <a:t>Потому</a:t>
            </a:r>
            <a:r>
              <a:rPr lang="en-US" dirty="0"/>
              <a:t> </a:t>
            </a:r>
            <a:r>
              <a:rPr lang="en-US" dirty="0" err="1"/>
              <a:t>что</a:t>
            </a:r>
            <a:r>
              <a:rPr lang="en-US" dirty="0"/>
              <a:t> </a:t>
            </a:r>
            <a:r>
              <a:rPr lang="en-US" sz="1200" kern="1200" dirty="0" err="1">
                <a:solidFill>
                  <a:schemeClr val="tx1"/>
                </a:solidFill>
                <a:latin typeface="+mn-lt"/>
                <a:ea typeface="+mn-ea"/>
                <a:cs typeface="+mn-cs"/>
              </a:rPr>
              <a:t>ps</a:t>
            </a:r>
            <a:r>
              <a:rPr lang="en-US" dirty="0"/>
              <a:t> — </a:t>
            </a:r>
            <a:r>
              <a:rPr lang="en-US" dirty="0" err="1"/>
              <a:t>тоже</a:t>
            </a:r>
            <a:r>
              <a:rPr lang="en-US" dirty="0"/>
              <a:t> </a:t>
            </a:r>
            <a:r>
              <a:rPr lang="en-US" dirty="0" err="1"/>
              <a:t>обычная</a:t>
            </a:r>
            <a:r>
              <a:rPr lang="en-US" dirty="0"/>
              <a:t> </a:t>
            </a:r>
            <a:r>
              <a:rPr lang="en-US" dirty="0" err="1"/>
              <a:t>программа</a:t>
            </a:r>
            <a:r>
              <a:rPr lang="en-US" dirty="0"/>
              <a:t>. </a:t>
            </a:r>
            <a:r>
              <a:rPr lang="en-US" dirty="0" err="1"/>
              <a:t>Когда</a:t>
            </a:r>
            <a:r>
              <a:rPr lang="en-US" dirty="0"/>
              <a:t> </a:t>
            </a:r>
            <a:r>
              <a:rPr lang="en-US" dirty="0" err="1"/>
              <a:t>мы</a:t>
            </a:r>
            <a:r>
              <a:rPr lang="en-US" dirty="0"/>
              <a:t> </a:t>
            </a:r>
            <a:r>
              <a:rPr lang="en-US" dirty="0" err="1"/>
              <a:t>вводим</a:t>
            </a:r>
            <a:r>
              <a:rPr lang="en-US" dirty="0"/>
              <a:t> </a:t>
            </a:r>
            <a:r>
              <a:rPr lang="en-US" dirty="0" err="1"/>
              <a:t>эту</a:t>
            </a:r>
            <a:r>
              <a:rPr lang="en-US" dirty="0"/>
              <a:t> </a:t>
            </a:r>
            <a:r>
              <a:rPr lang="en-US" dirty="0" err="1"/>
              <a:t>команду</a:t>
            </a:r>
            <a:r>
              <a:rPr lang="en-US" dirty="0"/>
              <a:t> в </a:t>
            </a:r>
            <a:r>
              <a:rPr lang="en-US" sz="1200" kern="1200" dirty="0">
                <a:solidFill>
                  <a:schemeClr val="tx1"/>
                </a:solidFill>
                <a:latin typeface="+mn-lt"/>
                <a:ea typeface="+mn-ea"/>
                <a:cs typeface="+mn-cs"/>
              </a:rPr>
              <a:t>bash</a:t>
            </a:r>
            <a:r>
              <a:rPr lang="en-US" dirty="0"/>
              <a:t>, </a:t>
            </a:r>
            <a:r>
              <a:rPr lang="en-US" dirty="0" err="1"/>
              <a:t>оболочка</a:t>
            </a:r>
            <a:r>
              <a:rPr lang="en-US" dirty="0"/>
              <a:t> </a:t>
            </a:r>
            <a:r>
              <a:rPr lang="en-US" dirty="0" err="1"/>
              <a:t>создаёт</a:t>
            </a:r>
            <a:r>
              <a:rPr lang="en-US" dirty="0"/>
              <a:t> </a:t>
            </a:r>
            <a:r>
              <a:rPr lang="en-US" dirty="0" err="1"/>
              <a:t>новый</a:t>
            </a:r>
            <a:r>
              <a:rPr lang="en-US" dirty="0"/>
              <a:t> </a:t>
            </a:r>
            <a:r>
              <a:rPr lang="en-US" dirty="0" err="1"/>
              <a:t>процесс</a:t>
            </a:r>
            <a:r>
              <a:rPr lang="en-US" dirty="0"/>
              <a:t> </a:t>
            </a:r>
            <a:r>
              <a:rPr lang="en-US" dirty="0" err="1"/>
              <a:t>для</a:t>
            </a:r>
            <a:r>
              <a:rPr lang="en-US" dirty="0"/>
              <a:t> </a:t>
            </a:r>
            <a:r>
              <a:rPr lang="en-US" dirty="0" err="1"/>
              <a:t>выполнения</a:t>
            </a:r>
            <a:r>
              <a:rPr lang="en-US" dirty="0"/>
              <a:t> </a:t>
            </a:r>
            <a:r>
              <a:rPr lang="en-US" sz="1200" kern="1200" dirty="0">
                <a:solidFill>
                  <a:schemeClr val="tx1"/>
                </a:solidFill>
                <a:latin typeface="+mn-lt"/>
                <a:ea typeface="+mn-ea"/>
                <a:cs typeface="+mn-cs"/>
              </a:rPr>
              <a:t>ps</a:t>
            </a:r>
            <a:r>
              <a:rPr lang="en-US" dirty="0"/>
              <a:t>. </a:t>
            </a:r>
            <a:r>
              <a:rPr lang="en-US" dirty="0" err="1"/>
              <a:t>Пока</a:t>
            </a:r>
            <a:r>
              <a:rPr lang="en-US" dirty="0"/>
              <a:t> </a:t>
            </a:r>
            <a:r>
              <a:rPr lang="en-US" sz="1200" kern="1200" dirty="0" err="1">
                <a:solidFill>
                  <a:schemeClr val="tx1"/>
                </a:solidFill>
                <a:latin typeface="+mn-lt"/>
                <a:ea typeface="+mn-ea"/>
                <a:cs typeface="+mn-cs"/>
              </a:rPr>
              <a:t>ps</a:t>
            </a:r>
            <a:r>
              <a:rPr lang="en-US" dirty="0"/>
              <a:t> </a:t>
            </a:r>
            <a:r>
              <a:rPr lang="en-US" dirty="0" err="1"/>
              <a:t>работает</a:t>
            </a:r>
            <a:r>
              <a:rPr lang="en-US" dirty="0"/>
              <a:t> и </a:t>
            </a:r>
            <a:r>
              <a:rPr lang="en-US" dirty="0" err="1"/>
              <a:t>собирает</a:t>
            </a:r>
            <a:r>
              <a:rPr lang="en-US" dirty="0"/>
              <a:t> </a:t>
            </a:r>
            <a:r>
              <a:rPr lang="en-US" dirty="0" err="1"/>
              <a:t>информацию</a:t>
            </a:r>
            <a:r>
              <a:rPr lang="en-US" dirty="0"/>
              <a:t> о </a:t>
            </a:r>
            <a:r>
              <a:rPr lang="en-US" dirty="0" err="1"/>
              <a:t>процессах</a:t>
            </a:r>
            <a:r>
              <a:rPr lang="en-US" dirty="0"/>
              <a:t> </a:t>
            </a:r>
            <a:r>
              <a:rPr lang="en-US" dirty="0" err="1"/>
              <a:t>системы</a:t>
            </a:r>
            <a:r>
              <a:rPr lang="en-US" dirty="0"/>
              <a:t>, </a:t>
            </a:r>
            <a:r>
              <a:rPr lang="en-US" dirty="0" err="1"/>
              <a:t>он</a:t>
            </a:r>
            <a:r>
              <a:rPr lang="en-US" dirty="0"/>
              <a:t> </a:t>
            </a:r>
            <a:r>
              <a:rPr lang="en-US" dirty="0" err="1"/>
              <a:t>успевает</a:t>
            </a:r>
            <a:r>
              <a:rPr lang="en-US" dirty="0"/>
              <a:t> </a:t>
            </a:r>
            <a:r>
              <a:rPr lang="en-US" dirty="0" err="1"/>
              <a:t>увидеть</a:t>
            </a:r>
            <a:r>
              <a:rPr lang="en-US" dirty="0"/>
              <a:t> в </a:t>
            </a:r>
            <a:r>
              <a:rPr lang="en-US" dirty="0" err="1"/>
              <a:t>том</a:t>
            </a:r>
            <a:r>
              <a:rPr lang="en-US" dirty="0"/>
              <a:t> </a:t>
            </a:r>
            <a:r>
              <a:rPr lang="en-US" dirty="0" err="1"/>
              <a:t>числе</a:t>
            </a:r>
            <a:r>
              <a:rPr lang="en-US" dirty="0"/>
              <a:t> </a:t>
            </a:r>
            <a:r>
              <a:rPr lang="en-US" dirty="0" err="1"/>
              <a:t>самого</a:t>
            </a:r>
            <a:r>
              <a:rPr lang="en-US" dirty="0"/>
              <a:t> </a:t>
            </a:r>
            <a:r>
              <a:rPr lang="en-US" dirty="0" err="1"/>
              <a:t>себя</a:t>
            </a:r>
            <a:r>
              <a:rPr lang="en-US" dirty="0"/>
              <a:t>.</a:t>
            </a:r>
          </a:p>
          <a:p>
            <a:r>
              <a:rPr lang="en-US" dirty="0" err="1"/>
              <a:t>По</a:t>
            </a:r>
            <a:r>
              <a:rPr lang="en-US" dirty="0"/>
              <a:t> </a:t>
            </a:r>
            <a:r>
              <a:rPr lang="en-US" dirty="0" err="1"/>
              <a:t>дереву</a:t>
            </a:r>
            <a:r>
              <a:rPr lang="en-US" dirty="0"/>
              <a:t> </a:t>
            </a:r>
            <a:r>
              <a:rPr lang="en-US" dirty="0" err="1"/>
              <a:t>хорошо</a:t>
            </a:r>
            <a:r>
              <a:rPr lang="en-US" dirty="0"/>
              <a:t> </a:t>
            </a:r>
            <a:r>
              <a:rPr lang="en-US" dirty="0" err="1"/>
              <a:t>видно</a:t>
            </a:r>
            <a:r>
              <a:rPr lang="en-US" dirty="0"/>
              <a:t>, </a:t>
            </a:r>
            <a:r>
              <a:rPr lang="en-US" dirty="0" err="1"/>
              <a:t>что</a:t>
            </a:r>
            <a:r>
              <a:rPr lang="en-US" dirty="0"/>
              <a:t> </a:t>
            </a:r>
            <a:r>
              <a:rPr lang="en-US" sz="1200" kern="1200" dirty="0" err="1">
                <a:solidFill>
                  <a:schemeClr val="tx1"/>
                </a:solidFill>
                <a:latin typeface="+mn-lt"/>
                <a:ea typeface="+mn-ea"/>
                <a:cs typeface="+mn-cs"/>
              </a:rPr>
              <a:t>ps</a:t>
            </a:r>
            <a:r>
              <a:rPr lang="en-US" dirty="0"/>
              <a:t> </a:t>
            </a:r>
            <a:r>
              <a:rPr lang="en-US" dirty="0" err="1"/>
              <a:t>находится</a:t>
            </a:r>
            <a:r>
              <a:rPr lang="en-US" dirty="0"/>
              <a:t> </a:t>
            </a:r>
            <a:r>
              <a:rPr lang="en-US" dirty="0" err="1"/>
              <a:t>ниже</a:t>
            </a:r>
            <a:r>
              <a:rPr lang="en-US" dirty="0"/>
              <a:t> </a:t>
            </a:r>
            <a:r>
              <a:rPr lang="en-US" sz="1200" kern="1200" dirty="0">
                <a:solidFill>
                  <a:schemeClr val="tx1"/>
                </a:solidFill>
                <a:latin typeface="+mn-lt"/>
                <a:ea typeface="+mn-ea"/>
                <a:cs typeface="+mn-cs"/>
              </a:rPr>
              <a:t>bash</a:t>
            </a:r>
            <a:r>
              <a:rPr lang="en-US" dirty="0"/>
              <a:t>, </a:t>
            </a:r>
            <a:r>
              <a:rPr lang="en-US" dirty="0" err="1"/>
              <a:t>то</a:t>
            </a:r>
            <a:r>
              <a:rPr lang="en-US" dirty="0"/>
              <a:t> </a:t>
            </a:r>
            <a:r>
              <a:rPr lang="en-US" dirty="0" err="1"/>
              <a:t>есть</a:t>
            </a:r>
            <a:r>
              <a:rPr lang="en-US" dirty="0"/>
              <a:t> </a:t>
            </a:r>
            <a:r>
              <a:rPr lang="en-US" dirty="0" err="1"/>
              <a:t>является</a:t>
            </a:r>
            <a:r>
              <a:rPr lang="en-US" dirty="0"/>
              <a:t> </a:t>
            </a:r>
            <a:r>
              <a:rPr lang="en-US" dirty="0" err="1"/>
              <a:t>его</a:t>
            </a:r>
            <a:r>
              <a:rPr lang="en-US" dirty="0"/>
              <a:t> </a:t>
            </a:r>
            <a:r>
              <a:rPr lang="en-US" dirty="0" err="1"/>
              <a:t>дочерним</a:t>
            </a:r>
            <a:r>
              <a:rPr lang="en-US" dirty="0"/>
              <a:t> </a:t>
            </a:r>
            <a:r>
              <a:rPr lang="en-US" dirty="0" err="1"/>
              <a:t>процессом</a:t>
            </a:r>
            <a:r>
              <a:rPr lang="en-US" dirty="0"/>
              <a:t>. </a:t>
            </a:r>
            <a:r>
              <a:rPr lang="en-US" dirty="0" err="1"/>
              <a:t>После</a:t>
            </a:r>
            <a:r>
              <a:rPr lang="en-US" dirty="0"/>
              <a:t> </a:t>
            </a:r>
            <a:r>
              <a:rPr lang="en-US" dirty="0" err="1"/>
              <a:t>того</a:t>
            </a:r>
            <a:r>
              <a:rPr lang="en-US" dirty="0"/>
              <a:t> </a:t>
            </a:r>
            <a:r>
              <a:rPr lang="en-US" dirty="0" err="1"/>
              <a:t>как</a:t>
            </a:r>
            <a:r>
              <a:rPr lang="en-US" dirty="0"/>
              <a:t> </a:t>
            </a:r>
            <a:r>
              <a:rPr lang="en-US" sz="1200" kern="1200" dirty="0" err="1">
                <a:solidFill>
                  <a:schemeClr val="tx1"/>
                </a:solidFill>
                <a:latin typeface="+mn-lt"/>
                <a:ea typeface="+mn-ea"/>
                <a:cs typeface="+mn-cs"/>
              </a:rPr>
              <a:t>ps</a:t>
            </a:r>
            <a:r>
              <a:rPr lang="en-US" dirty="0"/>
              <a:t> </a:t>
            </a:r>
            <a:r>
              <a:rPr lang="en-US" dirty="0" err="1"/>
              <a:t>выведет</a:t>
            </a:r>
            <a:r>
              <a:rPr lang="en-US" dirty="0"/>
              <a:t> </a:t>
            </a:r>
            <a:r>
              <a:rPr lang="en-US" dirty="0" err="1"/>
              <a:t>результат</a:t>
            </a:r>
            <a:r>
              <a:rPr lang="en-US" dirty="0"/>
              <a:t>, </a:t>
            </a:r>
            <a:r>
              <a:rPr lang="en-US" dirty="0" err="1"/>
              <a:t>этот</a:t>
            </a:r>
            <a:r>
              <a:rPr lang="en-US" dirty="0"/>
              <a:t> </a:t>
            </a:r>
            <a:r>
              <a:rPr lang="en-US" dirty="0" err="1"/>
              <a:t>процесс</a:t>
            </a:r>
            <a:r>
              <a:rPr lang="en-US" dirty="0"/>
              <a:t> </a:t>
            </a:r>
            <a:r>
              <a:rPr lang="en-US" dirty="0" err="1"/>
              <a:t>завершится</a:t>
            </a:r>
            <a:r>
              <a:rPr lang="en-US" dirty="0"/>
              <a:t>, а </a:t>
            </a:r>
            <a:r>
              <a:rPr lang="en-US" sz="1200" kern="1200" dirty="0">
                <a:solidFill>
                  <a:schemeClr val="tx1"/>
                </a:solidFill>
                <a:latin typeface="+mn-lt"/>
                <a:ea typeface="+mn-ea"/>
                <a:cs typeface="+mn-cs"/>
              </a:rPr>
              <a:t>bash</a:t>
            </a:r>
            <a:r>
              <a:rPr lang="en-US" dirty="0"/>
              <a:t> </a:t>
            </a:r>
            <a:r>
              <a:rPr lang="en-US" dirty="0" err="1"/>
              <a:t>продолжит</a:t>
            </a:r>
            <a:r>
              <a:rPr lang="en-US" dirty="0"/>
              <a:t> </a:t>
            </a:r>
            <a:r>
              <a:rPr lang="en-US" dirty="0" err="1"/>
              <a:t>работу</a:t>
            </a:r>
            <a:r>
              <a:rPr lang="en-US" dirty="0"/>
              <a:t> и </a:t>
            </a:r>
            <a:r>
              <a:rPr lang="en-US" dirty="0" err="1"/>
              <a:t>снова</a:t>
            </a:r>
            <a:r>
              <a:rPr lang="en-US" dirty="0"/>
              <a:t> </a:t>
            </a:r>
            <a:r>
              <a:rPr lang="en-US" dirty="0" err="1"/>
              <a:t>будет</a:t>
            </a:r>
            <a:r>
              <a:rPr lang="en-US" dirty="0"/>
              <a:t> </a:t>
            </a:r>
            <a:r>
              <a:rPr lang="en-US" dirty="0" err="1"/>
              <a:t>ждать</a:t>
            </a:r>
            <a:r>
              <a:rPr lang="en-US" dirty="0"/>
              <a:t> </a:t>
            </a:r>
            <a:r>
              <a:rPr lang="en-US" dirty="0" err="1"/>
              <a:t>следующую</a:t>
            </a:r>
            <a:r>
              <a:rPr lang="en-US" dirty="0"/>
              <a:t> </a:t>
            </a:r>
            <a:r>
              <a:rPr lang="en-US" dirty="0" err="1"/>
              <a:t>команду</a:t>
            </a:r>
            <a:r>
              <a:rPr lang="en-US" dirty="0"/>
              <a:t> </a:t>
            </a:r>
            <a:r>
              <a:rPr lang="en-US" dirty="0" err="1"/>
              <a:t>пользователя</a:t>
            </a:r>
            <a:r>
              <a:rPr lang="en-US" dirty="0"/>
              <a:t>.</a:t>
            </a:r>
          </a:p>
          <a:p>
            <a:endParaRPr lang="en-US" dirty="0"/>
          </a:p>
          <a:p>
            <a:r>
              <a:rPr lang="en-US" dirty="0" err="1"/>
              <a:t>Получается</a:t>
            </a:r>
            <a:r>
              <a:rPr lang="en-US" dirty="0"/>
              <a:t> </a:t>
            </a:r>
            <a:r>
              <a:rPr lang="en-US" dirty="0" err="1"/>
              <a:t>важная</a:t>
            </a:r>
            <a:r>
              <a:rPr lang="en-US" dirty="0"/>
              <a:t> </a:t>
            </a:r>
            <a:r>
              <a:rPr lang="en-US" dirty="0" err="1"/>
              <a:t>картина</a:t>
            </a:r>
            <a:r>
              <a:rPr lang="en-US" dirty="0"/>
              <a:t>: </a:t>
            </a:r>
            <a:r>
              <a:rPr lang="en-US" dirty="0" err="1"/>
              <a:t>когда</a:t>
            </a:r>
            <a:r>
              <a:rPr lang="en-US" dirty="0"/>
              <a:t> </a:t>
            </a:r>
            <a:r>
              <a:rPr lang="en-US" dirty="0" err="1"/>
              <a:t>мы</a:t>
            </a:r>
            <a:r>
              <a:rPr lang="en-US" dirty="0"/>
              <a:t> </a:t>
            </a:r>
            <a:r>
              <a:rPr lang="en-US" dirty="0" err="1"/>
              <a:t>запускаем</a:t>
            </a:r>
            <a:r>
              <a:rPr lang="en-US" dirty="0"/>
              <a:t> </a:t>
            </a:r>
            <a:r>
              <a:rPr lang="en-US" dirty="0" err="1"/>
              <a:t>программу</a:t>
            </a:r>
            <a:r>
              <a:rPr lang="en-US" dirty="0"/>
              <a:t> </a:t>
            </a:r>
            <a:r>
              <a:rPr lang="en-US" dirty="0" err="1"/>
              <a:t>из</a:t>
            </a:r>
            <a:r>
              <a:rPr lang="en-US" dirty="0"/>
              <a:t> </a:t>
            </a:r>
            <a:r>
              <a:rPr lang="en-US" dirty="0" err="1"/>
              <a:t>командной</a:t>
            </a:r>
            <a:r>
              <a:rPr lang="en-US" dirty="0"/>
              <a:t> </a:t>
            </a:r>
            <a:r>
              <a:rPr lang="en-US" dirty="0" err="1"/>
              <a:t>строки</a:t>
            </a:r>
            <a:r>
              <a:rPr lang="en-US" dirty="0"/>
              <a:t>, </a:t>
            </a:r>
            <a:r>
              <a:rPr lang="en-US" dirty="0" err="1"/>
              <a:t>она</a:t>
            </a:r>
            <a:r>
              <a:rPr lang="en-US" dirty="0"/>
              <a:t> </a:t>
            </a:r>
            <a:r>
              <a:rPr lang="en-US" dirty="0" err="1"/>
              <a:t>не</a:t>
            </a:r>
            <a:r>
              <a:rPr lang="en-US" dirty="0"/>
              <a:t> </a:t>
            </a:r>
            <a:r>
              <a:rPr lang="en-US" dirty="0" err="1"/>
              <a:t>возникает</a:t>
            </a:r>
            <a:r>
              <a:rPr lang="en-US" dirty="0"/>
              <a:t> </a:t>
            </a:r>
            <a:r>
              <a:rPr lang="en-US" dirty="0" err="1"/>
              <a:t>сама</a:t>
            </a:r>
            <a:r>
              <a:rPr lang="en-US" dirty="0"/>
              <a:t> </a:t>
            </a:r>
            <a:r>
              <a:rPr lang="en-US" dirty="0" err="1"/>
              <a:t>по</a:t>
            </a:r>
            <a:r>
              <a:rPr lang="en-US" dirty="0"/>
              <a:t> </a:t>
            </a:r>
            <a:r>
              <a:rPr lang="en-US" dirty="0" err="1"/>
              <a:t>себе</a:t>
            </a:r>
            <a:r>
              <a:rPr lang="en-US" dirty="0"/>
              <a:t>. </a:t>
            </a:r>
            <a:r>
              <a:rPr lang="en-US" dirty="0" err="1"/>
              <a:t>Уже</a:t>
            </a:r>
            <a:r>
              <a:rPr lang="en-US" dirty="0"/>
              <a:t> </a:t>
            </a:r>
            <a:r>
              <a:rPr lang="en-US" dirty="0" err="1"/>
              <a:t>работающий</a:t>
            </a:r>
            <a:r>
              <a:rPr lang="en-US" dirty="0"/>
              <a:t> </a:t>
            </a:r>
            <a:r>
              <a:rPr lang="en-US" dirty="0" err="1"/>
              <a:t>процесс</a:t>
            </a:r>
            <a:r>
              <a:rPr lang="en-US" dirty="0"/>
              <a:t> — в </a:t>
            </a:r>
            <a:r>
              <a:rPr lang="en-US" dirty="0" err="1"/>
              <a:t>данном</a:t>
            </a:r>
            <a:r>
              <a:rPr lang="en-US" dirty="0"/>
              <a:t> </a:t>
            </a:r>
            <a:r>
              <a:rPr lang="en-US" dirty="0" err="1"/>
              <a:t>случае</a:t>
            </a:r>
            <a:r>
              <a:rPr lang="en-US" dirty="0"/>
              <a:t> shell — </a:t>
            </a:r>
            <a:r>
              <a:rPr lang="en-US" dirty="0" err="1"/>
              <a:t>создаёт</a:t>
            </a:r>
            <a:r>
              <a:rPr lang="en-US" dirty="0"/>
              <a:t> </a:t>
            </a:r>
            <a:r>
              <a:rPr lang="en-US" dirty="0" err="1"/>
              <a:t>новый</a:t>
            </a:r>
            <a:r>
              <a:rPr lang="en-US" dirty="0"/>
              <a:t> </a:t>
            </a:r>
            <a:r>
              <a:rPr lang="en-US" dirty="0" err="1"/>
              <a:t>процесс</a:t>
            </a:r>
            <a:r>
              <a:rPr lang="en-US" dirty="0"/>
              <a:t>, и </a:t>
            </a:r>
            <a:r>
              <a:rPr lang="en-US" dirty="0" err="1"/>
              <a:t>таким</a:t>
            </a:r>
            <a:r>
              <a:rPr lang="en-US" dirty="0"/>
              <a:t> </a:t>
            </a:r>
            <a:r>
              <a:rPr lang="en-US" dirty="0" err="1"/>
              <a:t>образом</a:t>
            </a:r>
            <a:r>
              <a:rPr lang="en-US" dirty="0"/>
              <a:t> </a:t>
            </a:r>
            <a:r>
              <a:rPr lang="en-US" dirty="0" err="1"/>
              <a:t>постепенно</a:t>
            </a:r>
            <a:r>
              <a:rPr lang="en-US" dirty="0"/>
              <a:t> </a:t>
            </a:r>
            <a:r>
              <a:rPr lang="en-US" dirty="0" err="1"/>
              <a:t>формируется</a:t>
            </a:r>
            <a:r>
              <a:rPr lang="en-US" dirty="0"/>
              <a:t> </a:t>
            </a:r>
            <a:r>
              <a:rPr lang="en-US" dirty="0" err="1"/>
              <a:t>дерево</a:t>
            </a:r>
            <a:r>
              <a:rPr lang="en-US" dirty="0"/>
              <a:t> </a:t>
            </a:r>
            <a:r>
              <a:rPr lang="en-US" dirty="0" err="1"/>
              <a:t>процессов</a:t>
            </a:r>
            <a:r>
              <a:rPr lang="en-US" dirty="0"/>
              <a:t>.</a:t>
            </a:r>
          </a:p>
          <a:p>
            <a:endParaRPr lang="en-US" dirty="0"/>
          </a:p>
        </p:txBody>
      </p:sp>
      <p:sp>
        <p:nvSpPr>
          <p:cNvPr id="4" name="Slide Number Placeholder 3"/>
          <p:cNvSpPr>
            <a:spLocks noGrp="1"/>
          </p:cNvSpPr>
          <p:nvPr>
            <p:ph type="sldNum" sz="quarter" idx="5"/>
          </p:nvPr>
        </p:nvSpPr>
        <p:spPr/>
        <p:txBody>
          <a:bodyPr/>
          <a:lstStyle/>
          <a:p>
            <a:fld id="{A3EE74EF-BE85-44F3-968F-E74DD74A629E}" type="slidenum">
              <a:rPr lang="en-US" smtClean="0"/>
              <a:t>6</a:t>
            </a:fld>
            <a:endParaRPr lang="en-US"/>
          </a:p>
        </p:txBody>
      </p:sp>
    </p:spTree>
    <p:extLst>
      <p:ext uri="{BB962C8B-B14F-4D97-AF65-F5344CB8AC3E}">
        <p14:creationId xmlns:p14="http://schemas.microsoft.com/office/powerpoint/2010/main" val="26261385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Теперь</a:t>
            </a:r>
            <a:r>
              <a:rPr lang="en-US" dirty="0"/>
              <a:t> </a:t>
            </a:r>
            <a:r>
              <a:rPr lang="en-US" dirty="0" err="1"/>
              <a:t>добавим</a:t>
            </a:r>
            <a:r>
              <a:rPr lang="en-US" dirty="0"/>
              <a:t> к </a:t>
            </a:r>
            <a:r>
              <a:rPr lang="en-US" dirty="0" err="1"/>
              <a:t>понятию</a:t>
            </a:r>
            <a:r>
              <a:rPr lang="en-US" dirty="0"/>
              <a:t> </a:t>
            </a:r>
            <a:r>
              <a:rPr lang="en-US" dirty="0" err="1"/>
              <a:t>процесса</a:t>
            </a:r>
            <a:r>
              <a:rPr lang="en-US" dirty="0"/>
              <a:t> </a:t>
            </a:r>
            <a:r>
              <a:rPr lang="en-US" dirty="0" err="1"/>
              <a:t>ещё</a:t>
            </a:r>
            <a:r>
              <a:rPr lang="en-US" dirty="0"/>
              <a:t> </a:t>
            </a:r>
            <a:r>
              <a:rPr lang="en-US" dirty="0" err="1"/>
              <a:t>одну</a:t>
            </a:r>
            <a:r>
              <a:rPr lang="en-US" dirty="0"/>
              <a:t> </a:t>
            </a:r>
            <a:r>
              <a:rPr lang="en-US" dirty="0" err="1"/>
              <a:t>важную</a:t>
            </a:r>
            <a:r>
              <a:rPr lang="en-US" dirty="0"/>
              <a:t> </a:t>
            </a:r>
            <a:r>
              <a:rPr lang="en-US" dirty="0" err="1"/>
              <a:t>характеристику</a:t>
            </a:r>
            <a:r>
              <a:rPr lang="en-US" dirty="0"/>
              <a:t> — </a:t>
            </a:r>
            <a:r>
              <a:rPr lang="en-US" b="1" dirty="0" err="1"/>
              <a:t>от</a:t>
            </a:r>
            <a:r>
              <a:rPr lang="en-US" b="1" dirty="0"/>
              <a:t> </a:t>
            </a:r>
            <a:r>
              <a:rPr lang="en-US" b="1" dirty="0" err="1"/>
              <a:t>имени</a:t>
            </a:r>
            <a:r>
              <a:rPr lang="en-US" b="1" dirty="0"/>
              <a:t> </a:t>
            </a:r>
            <a:r>
              <a:rPr lang="en-US" b="1" dirty="0" err="1"/>
              <a:t>какого</a:t>
            </a:r>
            <a:r>
              <a:rPr lang="en-US" b="1" dirty="0"/>
              <a:t> </a:t>
            </a:r>
            <a:r>
              <a:rPr lang="en-US" b="1" dirty="0" err="1"/>
              <a:t>пользователя</a:t>
            </a:r>
            <a:r>
              <a:rPr lang="en-US" b="1" dirty="0"/>
              <a:t> </a:t>
            </a:r>
            <a:r>
              <a:rPr lang="en-US" b="1" dirty="0" err="1"/>
              <a:t>он</a:t>
            </a:r>
            <a:r>
              <a:rPr lang="en-US" b="1" dirty="0"/>
              <a:t> </a:t>
            </a:r>
            <a:r>
              <a:rPr lang="en-US" b="1" dirty="0" err="1"/>
              <a:t>выполняется</a:t>
            </a:r>
            <a:r>
              <a:rPr lang="en-US" dirty="0"/>
              <a:t>.</a:t>
            </a:r>
            <a:endParaRPr lang="ru-RU" dirty="0"/>
          </a:p>
          <a:p>
            <a:endParaRPr lang="en-US" dirty="0"/>
          </a:p>
          <a:p>
            <a:r>
              <a:rPr lang="en-US" dirty="0"/>
              <a:t>В UNIX-</a:t>
            </a:r>
            <a:r>
              <a:rPr lang="en-US" dirty="0" err="1"/>
              <a:t>подобных</a:t>
            </a:r>
            <a:r>
              <a:rPr lang="en-US" dirty="0"/>
              <a:t> </a:t>
            </a:r>
            <a:r>
              <a:rPr lang="en-US" dirty="0" err="1"/>
              <a:t>системах</a:t>
            </a:r>
            <a:r>
              <a:rPr lang="en-US" dirty="0"/>
              <a:t> </a:t>
            </a:r>
            <a:r>
              <a:rPr lang="en-US" dirty="0" err="1"/>
              <a:t>каждая</a:t>
            </a:r>
            <a:r>
              <a:rPr lang="en-US" dirty="0"/>
              <a:t> </a:t>
            </a:r>
            <a:r>
              <a:rPr lang="en-US" dirty="0" err="1"/>
              <a:t>учётная</a:t>
            </a:r>
            <a:r>
              <a:rPr lang="en-US" dirty="0"/>
              <a:t> </a:t>
            </a:r>
            <a:r>
              <a:rPr lang="en-US" dirty="0" err="1"/>
              <a:t>запись</a:t>
            </a:r>
            <a:r>
              <a:rPr lang="en-US" dirty="0"/>
              <a:t> </a:t>
            </a:r>
            <a:r>
              <a:rPr lang="en-US" dirty="0" err="1"/>
              <a:t>имеет</a:t>
            </a:r>
            <a:r>
              <a:rPr lang="en-US" dirty="0"/>
              <a:t> </a:t>
            </a:r>
            <a:r>
              <a:rPr lang="en-US" dirty="0" err="1"/>
              <a:t>числовой</a:t>
            </a:r>
            <a:r>
              <a:rPr lang="en-US" dirty="0"/>
              <a:t> </a:t>
            </a:r>
            <a:r>
              <a:rPr lang="en-US" dirty="0" err="1"/>
              <a:t>идентификатор</a:t>
            </a:r>
            <a:r>
              <a:rPr lang="en-US" dirty="0"/>
              <a:t> — </a:t>
            </a:r>
            <a:r>
              <a:rPr lang="en-US" sz="1200" kern="1200" dirty="0">
                <a:solidFill>
                  <a:schemeClr val="tx1"/>
                </a:solidFill>
                <a:latin typeface="+mn-lt"/>
                <a:ea typeface="+mn-ea"/>
                <a:cs typeface="+mn-cs"/>
              </a:rPr>
              <a:t>UID</a:t>
            </a:r>
            <a:r>
              <a:rPr lang="en-US" dirty="0"/>
              <a:t>, User ID. </a:t>
            </a:r>
            <a:r>
              <a:rPr lang="en-US" dirty="0" err="1"/>
              <a:t>Для</a:t>
            </a:r>
            <a:r>
              <a:rPr lang="en-US" dirty="0"/>
              <a:t> </a:t>
            </a:r>
            <a:r>
              <a:rPr lang="en-US" dirty="0" err="1"/>
              <a:t>человека</a:t>
            </a:r>
            <a:r>
              <a:rPr lang="en-US" dirty="0"/>
              <a:t> </a:t>
            </a:r>
            <a:r>
              <a:rPr lang="en-US" dirty="0" err="1"/>
              <a:t>обычно</a:t>
            </a:r>
            <a:r>
              <a:rPr lang="en-US" dirty="0"/>
              <a:t> </a:t>
            </a:r>
            <a:r>
              <a:rPr lang="en-US" dirty="0" err="1"/>
              <a:t>удобнее</a:t>
            </a:r>
            <a:r>
              <a:rPr lang="en-US" dirty="0"/>
              <a:t> </a:t>
            </a:r>
            <a:r>
              <a:rPr lang="en-US" dirty="0" err="1"/>
              <a:t>имя</a:t>
            </a:r>
            <a:r>
              <a:rPr lang="en-US" dirty="0"/>
              <a:t> </a:t>
            </a:r>
            <a:r>
              <a:rPr lang="en-US" dirty="0" err="1"/>
              <a:t>пользователя</a:t>
            </a:r>
            <a:r>
              <a:rPr lang="en-US" dirty="0"/>
              <a:t>, </a:t>
            </a:r>
            <a:r>
              <a:rPr lang="en-US" dirty="0" err="1"/>
              <a:t>например</a:t>
            </a:r>
            <a:r>
              <a:rPr lang="en-US" dirty="0"/>
              <a:t> </a:t>
            </a:r>
            <a:r>
              <a:rPr lang="en-US" sz="1200" kern="1200" dirty="0">
                <a:solidFill>
                  <a:schemeClr val="tx1"/>
                </a:solidFill>
                <a:latin typeface="+mn-lt"/>
                <a:ea typeface="+mn-ea"/>
                <a:cs typeface="+mn-cs"/>
              </a:rPr>
              <a:t>student</a:t>
            </a:r>
            <a:r>
              <a:rPr lang="en-US" dirty="0"/>
              <a:t>, </a:t>
            </a:r>
            <a:r>
              <a:rPr lang="en-US" dirty="0" err="1"/>
              <a:t>но</a:t>
            </a:r>
            <a:r>
              <a:rPr lang="en-US" dirty="0"/>
              <a:t> </a:t>
            </a:r>
            <a:r>
              <a:rPr lang="en-US" dirty="0" err="1"/>
              <a:t>внутри</a:t>
            </a:r>
            <a:r>
              <a:rPr lang="en-US" dirty="0"/>
              <a:t> </a:t>
            </a:r>
            <a:r>
              <a:rPr lang="en-US" dirty="0" err="1"/>
              <a:t>системы</a:t>
            </a:r>
            <a:r>
              <a:rPr lang="en-US" dirty="0"/>
              <a:t> </a:t>
            </a:r>
            <a:r>
              <a:rPr lang="en-US" dirty="0" err="1"/>
              <a:t>во</a:t>
            </a:r>
            <a:r>
              <a:rPr lang="en-US" dirty="0"/>
              <a:t> </a:t>
            </a:r>
            <a:r>
              <a:rPr lang="en-US" dirty="0" err="1"/>
              <a:t>многих</a:t>
            </a:r>
            <a:r>
              <a:rPr lang="en-US" dirty="0"/>
              <a:t> </a:t>
            </a:r>
            <a:r>
              <a:rPr lang="en-US" dirty="0" err="1"/>
              <a:t>местах</a:t>
            </a:r>
            <a:r>
              <a:rPr lang="en-US" dirty="0"/>
              <a:t> </a:t>
            </a:r>
            <a:r>
              <a:rPr lang="en-US" dirty="0" err="1"/>
              <a:t>используется</a:t>
            </a:r>
            <a:r>
              <a:rPr lang="en-US" dirty="0"/>
              <a:t> </a:t>
            </a:r>
            <a:r>
              <a:rPr lang="en-US" dirty="0" err="1"/>
              <a:t>именно</a:t>
            </a:r>
            <a:r>
              <a:rPr lang="en-US" dirty="0"/>
              <a:t> </a:t>
            </a:r>
            <a:r>
              <a:rPr lang="en-US" dirty="0" err="1"/>
              <a:t>числовой</a:t>
            </a:r>
            <a:r>
              <a:rPr lang="en-US" dirty="0"/>
              <a:t> UID.</a:t>
            </a:r>
            <a:endParaRPr lang="ru-RU" dirty="0"/>
          </a:p>
          <a:p>
            <a:endParaRPr lang="en-US" dirty="0"/>
          </a:p>
          <a:p>
            <a:r>
              <a:rPr lang="en-US" dirty="0" err="1"/>
              <a:t>Когда</a:t>
            </a:r>
            <a:r>
              <a:rPr lang="en-US" dirty="0"/>
              <a:t> </a:t>
            </a:r>
            <a:r>
              <a:rPr lang="en-US" dirty="0" err="1"/>
              <a:t>пользователь</a:t>
            </a:r>
            <a:r>
              <a:rPr lang="en-US" dirty="0"/>
              <a:t> </a:t>
            </a:r>
            <a:r>
              <a:rPr lang="en-US" dirty="0" err="1"/>
              <a:t>запускает</a:t>
            </a:r>
            <a:r>
              <a:rPr lang="en-US" dirty="0"/>
              <a:t> </a:t>
            </a:r>
            <a:r>
              <a:rPr lang="en-US" dirty="0" err="1"/>
              <a:t>программу</a:t>
            </a:r>
            <a:r>
              <a:rPr lang="en-US" dirty="0"/>
              <a:t>, </a:t>
            </a:r>
            <a:r>
              <a:rPr lang="en-US" dirty="0" err="1"/>
              <a:t>созданный</a:t>
            </a:r>
            <a:r>
              <a:rPr lang="en-US" dirty="0"/>
              <a:t> </a:t>
            </a:r>
            <a:r>
              <a:rPr lang="en-US" dirty="0" err="1"/>
              <a:t>процесс</a:t>
            </a:r>
            <a:r>
              <a:rPr lang="en-US" dirty="0"/>
              <a:t> </a:t>
            </a:r>
            <a:r>
              <a:rPr lang="en-US" dirty="0" err="1"/>
              <a:t>выполняется</a:t>
            </a:r>
            <a:r>
              <a:rPr lang="en-US" dirty="0"/>
              <a:t> с </a:t>
            </a:r>
            <a:r>
              <a:rPr lang="en-US" dirty="0" err="1"/>
              <a:t>его</a:t>
            </a:r>
            <a:r>
              <a:rPr lang="en-US" dirty="0"/>
              <a:t> </a:t>
            </a:r>
            <a:r>
              <a:rPr lang="en-US" dirty="0" err="1"/>
              <a:t>идентификаторами</a:t>
            </a:r>
            <a:r>
              <a:rPr lang="en-US" dirty="0"/>
              <a:t> </a:t>
            </a:r>
            <a:r>
              <a:rPr lang="en-US" dirty="0" err="1"/>
              <a:t>пользователя</a:t>
            </a:r>
            <a:r>
              <a:rPr lang="en-US" dirty="0"/>
              <a:t>. </a:t>
            </a:r>
            <a:r>
              <a:rPr lang="en-US" dirty="0" err="1"/>
              <a:t>Благодаря</a:t>
            </a:r>
            <a:r>
              <a:rPr lang="en-US" dirty="0"/>
              <a:t> </a:t>
            </a:r>
            <a:r>
              <a:rPr lang="en-US" dirty="0" err="1"/>
              <a:t>этому</a:t>
            </a:r>
            <a:r>
              <a:rPr lang="en-US" dirty="0"/>
              <a:t> </a:t>
            </a:r>
            <a:r>
              <a:rPr lang="en-US" dirty="0" err="1"/>
              <a:t>операционная</a:t>
            </a:r>
            <a:r>
              <a:rPr lang="en-US" dirty="0"/>
              <a:t> </a:t>
            </a:r>
            <a:r>
              <a:rPr lang="en-US" dirty="0" err="1"/>
              <a:t>система</a:t>
            </a:r>
            <a:r>
              <a:rPr lang="en-US" dirty="0"/>
              <a:t> </a:t>
            </a:r>
            <a:r>
              <a:rPr lang="en-US" dirty="0" err="1"/>
              <a:t>понимает</a:t>
            </a:r>
            <a:r>
              <a:rPr lang="en-US" dirty="0"/>
              <a:t>, </a:t>
            </a:r>
            <a:r>
              <a:rPr lang="en-US" b="1" dirty="0" err="1"/>
              <a:t>от</a:t>
            </a:r>
            <a:r>
              <a:rPr lang="en-US" b="1" dirty="0"/>
              <a:t> </a:t>
            </a:r>
            <a:r>
              <a:rPr lang="en-US" b="1" dirty="0" err="1"/>
              <a:t>чьего</a:t>
            </a:r>
            <a:r>
              <a:rPr lang="en-US" b="1" dirty="0"/>
              <a:t> </a:t>
            </a:r>
            <a:r>
              <a:rPr lang="en-US" b="1" dirty="0" err="1"/>
              <a:t>имени</a:t>
            </a:r>
            <a:r>
              <a:rPr lang="en-US" b="1" dirty="0"/>
              <a:t> </a:t>
            </a:r>
            <a:r>
              <a:rPr lang="en-US" b="1" dirty="0" err="1"/>
              <a:t>процесс</a:t>
            </a:r>
            <a:r>
              <a:rPr lang="en-US" b="1" dirty="0"/>
              <a:t> </a:t>
            </a:r>
            <a:r>
              <a:rPr lang="en-US" b="1" dirty="0" err="1"/>
              <a:t>пытается</a:t>
            </a:r>
            <a:r>
              <a:rPr lang="en-US" b="1" dirty="0"/>
              <a:t> </a:t>
            </a:r>
            <a:r>
              <a:rPr lang="en-US" b="1" dirty="0" err="1"/>
              <a:t>выполнить</a:t>
            </a:r>
            <a:r>
              <a:rPr lang="en-US" b="1" dirty="0"/>
              <a:t> </a:t>
            </a:r>
            <a:r>
              <a:rPr lang="en-US" b="1" dirty="0" err="1"/>
              <a:t>какую-либо</a:t>
            </a:r>
            <a:r>
              <a:rPr lang="en-US" b="1" dirty="0"/>
              <a:t> </a:t>
            </a:r>
            <a:r>
              <a:rPr lang="en-US" b="1" dirty="0" err="1"/>
              <a:t>операцию</a:t>
            </a:r>
            <a:r>
              <a:rPr lang="en-US" dirty="0"/>
              <a:t>.</a:t>
            </a:r>
            <a:endParaRPr lang="ru-RU" dirty="0"/>
          </a:p>
          <a:p>
            <a:endParaRPr lang="en-US" dirty="0"/>
          </a:p>
          <a:p>
            <a:r>
              <a:rPr lang="en-US" dirty="0" err="1"/>
              <a:t>Например</a:t>
            </a:r>
            <a:r>
              <a:rPr lang="en-US" dirty="0"/>
              <a:t>, </a:t>
            </a:r>
            <a:r>
              <a:rPr lang="en-US" dirty="0" err="1"/>
              <a:t>программа</a:t>
            </a:r>
            <a:r>
              <a:rPr lang="en-US" dirty="0"/>
              <a:t> </a:t>
            </a:r>
            <a:r>
              <a:rPr lang="en-US" dirty="0" err="1"/>
              <a:t>хочет</a:t>
            </a:r>
            <a:r>
              <a:rPr lang="en-US" dirty="0"/>
              <a:t> </a:t>
            </a:r>
            <a:r>
              <a:rPr lang="en-US" dirty="0" err="1"/>
              <a:t>открыть</a:t>
            </a:r>
            <a:r>
              <a:rPr lang="en-US" dirty="0"/>
              <a:t> </a:t>
            </a:r>
            <a:r>
              <a:rPr lang="en-US" dirty="0" err="1"/>
              <a:t>файл</a:t>
            </a:r>
            <a:r>
              <a:rPr lang="en-US" dirty="0"/>
              <a:t> </a:t>
            </a:r>
            <a:r>
              <a:rPr lang="en-US" dirty="0" err="1"/>
              <a:t>для</a:t>
            </a:r>
            <a:r>
              <a:rPr lang="en-US" dirty="0"/>
              <a:t> </a:t>
            </a:r>
            <a:r>
              <a:rPr lang="en-US" dirty="0" err="1"/>
              <a:t>записи</a:t>
            </a:r>
            <a:r>
              <a:rPr lang="en-US" dirty="0"/>
              <a:t>. </a:t>
            </a:r>
            <a:r>
              <a:rPr lang="en-US" dirty="0" err="1"/>
              <a:t>Ядро</a:t>
            </a:r>
            <a:r>
              <a:rPr lang="en-US" dirty="0"/>
              <a:t> </a:t>
            </a:r>
            <a:r>
              <a:rPr lang="en-US" dirty="0" err="1"/>
              <a:t>знает</a:t>
            </a:r>
            <a:r>
              <a:rPr lang="en-US" dirty="0"/>
              <a:t> UID </a:t>
            </a:r>
            <a:r>
              <a:rPr lang="en-US" dirty="0" err="1"/>
              <a:t>процесса</a:t>
            </a:r>
            <a:r>
              <a:rPr lang="en-US" dirty="0"/>
              <a:t>, </a:t>
            </a:r>
            <a:r>
              <a:rPr lang="en-US" dirty="0" err="1"/>
              <a:t>знает</a:t>
            </a:r>
            <a:r>
              <a:rPr lang="en-US" dirty="0"/>
              <a:t> </a:t>
            </a:r>
            <a:r>
              <a:rPr lang="en-US" dirty="0" err="1"/>
              <a:t>владельца</a:t>
            </a:r>
            <a:r>
              <a:rPr lang="en-US" dirty="0"/>
              <a:t> </a:t>
            </a:r>
            <a:r>
              <a:rPr lang="en-US" dirty="0" err="1"/>
              <a:t>файла</a:t>
            </a:r>
            <a:r>
              <a:rPr lang="en-US" dirty="0"/>
              <a:t> и </a:t>
            </a:r>
            <a:r>
              <a:rPr lang="en-US" dirty="0" err="1"/>
              <a:t>его</a:t>
            </a:r>
            <a:r>
              <a:rPr lang="en-US" dirty="0"/>
              <a:t> </a:t>
            </a:r>
            <a:r>
              <a:rPr lang="en-US" dirty="0" err="1"/>
              <a:t>права</a:t>
            </a:r>
            <a:r>
              <a:rPr lang="en-US" dirty="0"/>
              <a:t> </a:t>
            </a:r>
            <a:r>
              <a:rPr lang="en-US" dirty="0" err="1"/>
              <a:t>доступа</a:t>
            </a:r>
            <a:r>
              <a:rPr lang="en-US" dirty="0"/>
              <a:t> и </a:t>
            </a:r>
            <a:r>
              <a:rPr lang="en-US" dirty="0" err="1"/>
              <a:t>на</a:t>
            </a:r>
            <a:r>
              <a:rPr lang="en-US" dirty="0"/>
              <a:t> </a:t>
            </a:r>
            <a:r>
              <a:rPr lang="en-US" dirty="0" err="1"/>
              <a:t>основании</a:t>
            </a:r>
            <a:r>
              <a:rPr lang="en-US" dirty="0"/>
              <a:t> </a:t>
            </a:r>
            <a:r>
              <a:rPr lang="en-US" dirty="0" err="1"/>
              <a:t>этого</a:t>
            </a:r>
            <a:r>
              <a:rPr lang="en-US" dirty="0"/>
              <a:t> </a:t>
            </a:r>
            <a:r>
              <a:rPr lang="en-US" dirty="0" err="1"/>
              <a:t>решает</a:t>
            </a:r>
            <a:r>
              <a:rPr lang="en-US" dirty="0"/>
              <a:t>, </a:t>
            </a:r>
            <a:r>
              <a:rPr lang="en-US" dirty="0" err="1"/>
              <a:t>разрешить</a:t>
            </a:r>
            <a:r>
              <a:rPr lang="en-US" dirty="0"/>
              <a:t> </a:t>
            </a:r>
            <a:r>
              <a:rPr lang="en-US" dirty="0" err="1"/>
              <a:t>операцию</a:t>
            </a:r>
            <a:r>
              <a:rPr lang="en-US" dirty="0"/>
              <a:t> </a:t>
            </a:r>
            <a:r>
              <a:rPr lang="en-US" dirty="0" err="1"/>
              <a:t>или</a:t>
            </a:r>
            <a:r>
              <a:rPr lang="en-US" dirty="0"/>
              <a:t> </a:t>
            </a:r>
            <a:r>
              <a:rPr lang="en-US" dirty="0" err="1"/>
              <a:t>отказать</a:t>
            </a:r>
            <a:r>
              <a:rPr lang="en-US" dirty="0"/>
              <a:t>.</a:t>
            </a:r>
          </a:p>
          <a:p>
            <a:endParaRPr lang="en-US" dirty="0"/>
          </a:p>
          <a:p>
            <a:r>
              <a:rPr lang="en-US" dirty="0" err="1"/>
              <a:t>Поэтому</a:t>
            </a:r>
            <a:r>
              <a:rPr lang="en-US" dirty="0"/>
              <a:t> </a:t>
            </a:r>
            <a:r>
              <a:rPr lang="en-US" dirty="0" err="1"/>
              <a:t>права</a:t>
            </a:r>
            <a:r>
              <a:rPr lang="en-US" dirty="0"/>
              <a:t> </a:t>
            </a:r>
            <a:r>
              <a:rPr lang="en-US" dirty="0" err="1"/>
              <a:t>пользователя</a:t>
            </a:r>
            <a:r>
              <a:rPr lang="en-US" dirty="0"/>
              <a:t> </a:t>
            </a:r>
            <a:r>
              <a:rPr lang="en-US" dirty="0" err="1"/>
              <a:t>на</a:t>
            </a:r>
            <a:r>
              <a:rPr lang="en-US" dirty="0"/>
              <a:t> </a:t>
            </a:r>
            <a:r>
              <a:rPr lang="en-US" dirty="0" err="1"/>
              <a:t>практике</a:t>
            </a:r>
            <a:r>
              <a:rPr lang="en-US" dirty="0"/>
              <a:t> </a:t>
            </a:r>
            <a:r>
              <a:rPr lang="en-US" dirty="0" err="1"/>
              <a:t>превращаются</a:t>
            </a:r>
            <a:r>
              <a:rPr lang="en-US" dirty="0"/>
              <a:t> в </a:t>
            </a:r>
            <a:r>
              <a:rPr lang="en-US" dirty="0" err="1"/>
              <a:t>права</a:t>
            </a:r>
            <a:r>
              <a:rPr lang="en-US" dirty="0"/>
              <a:t> </a:t>
            </a:r>
            <a:r>
              <a:rPr lang="en-US" dirty="0" err="1"/>
              <a:t>выполняющихся</a:t>
            </a:r>
            <a:r>
              <a:rPr lang="en-US" dirty="0"/>
              <a:t> </a:t>
            </a:r>
            <a:r>
              <a:rPr lang="en-US" dirty="0" err="1"/>
              <a:t>от</a:t>
            </a:r>
            <a:r>
              <a:rPr lang="en-US" dirty="0"/>
              <a:t> </a:t>
            </a:r>
            <a:r>
              <a:rPr lang="en-US" dirty="0" err="1"/>
              <a:t>его</a:t>
            </a:r>
            <a:r>
              <a:rPr lang="en-US" dirty="0"/>
              <a:t> </a:t>
            </a:r>
            <a:r>
              <a:rPr lang="en-US" dirty="0" err="1"/>
              <a:t>имени</a:t>
            </a:r>
            <a:r>
              <a:rPr lang="en-US" dirty="0"/>
              <a:t> </a:t>
            </a:r>
            <a:r>
              <a:rPr lang="en-US" dirty="0" err="1"/>
              <a:t>процессов</a:t>
            </a:r>
            <a:r>
              <a:rPr lang="en-US" dirty="0"/>
              <a:t>. </a:t>
            </a:r>
            <a:r>
              <a:rPr lang="en-US" dirty="0" err="1"/>
              <a:t>Если</a:t>
            </a:r>
            <a:r>
              <a:rPr lang="en-US" dirty="0"/>
              <a:t> у </a:t>
            </a:r>
            <a:r>
              <a:rPr lang="en-US" dirty="0" err="1"/>
              <a:t>пользователя</a:t>
            </a:r>
            <a:r>
              <a:rPr lang="en-US" dirty="0"/>
              <a:t> </a:t>
            </a:r>
            <a:r>
              <a:rPr lang="en-US" dirty="0" err="1"/>
              <a:t>нет</a:t>
            </a:r>
            <a:r>
              <a:rPr lang="en-US" dirty="0"/>
              <a:t> </a:t>
            </a:r>
            <a:r>
              <a:rPr lang="en-US" dirty="0" err="1"/>
              <a:t>доступа</a:t>
            </a:r>
            <a:r>
              <a:rPr lang="en-US" dirty="0"/>
              <a:t> к </a:t>
            </a:r>
            <a:r>
              <a:rPr lang="en-US" dirty="0" err="1"/>
              <a:t>определённому</a:t>
            </a:r>
            <a:r>
              <a:rPr lang="en-US" dirty="0"/>
              <a:t> </a:t>
            </a:r>
            <a:r>
              <a:rPr lang="en-US" dirty="0" err="1"/>
              <a:t>файлу</a:t>
            </a:r>
            <a:r>
              <a:rPr lang="en-US" dirty="0"/>
              <a:t>, </a:t>
            </a:r>
            <a:r>
              <a:rPr lang="en-US" dirty="0" err="1"/>
              <a:t>то</a:t>
            </a:r>
            <a:r>
              <a:rPr lang="en-US" dirty="0"/>
              <a:t> </a:t>
            </a:r>
            <a:r>
              <a:rPr lang="en-US" dirty="0" err="1"/>
              <a:t>обычная</a:t>
            </a:r>
            <a:r>
              <a:rPr lang="en-US" dirty="0"/>
              <a:t> </a:t>
            </a:r>
            <a:r>
              <a:rPr lang="en-US" dirty="0" err="1"/>
              <a:t>программа</a:t>
            </a:r>
            <a:r>
              <a:rPr lang="en-US" dirty="0"/>
              <a:t>, </a:t>
            </a:r>
            <a:r>
              <a:rPr lang="en-US" dirty="0" err="1"/>
              <a:t>которую</a:t>
            </a:r>
            <a:r>
              <a:rPr lang="en-US" dirty="0"/>
              <a:t> </a:t>
            </a:r>
            <a:r>
              <a:rPr lang="en-US" dirty="0" err="1"/>
              <a:t>он</a:t>
            </a:r>
            <a:r>
              <a:rPr lang="en-US" dirty="0"/>
              <a:t> </a:t>
            </a:r>
            <a:r>
              <a:rPr lang="en-US" dirty="0" err="1"/>
              <a:t>запустил</a:t>
            </a:r>
            <a:r>
              <a:rPr lang="en-US" dirty="0"/>
              <a:t>, </a:t>
            </a:r>
            <a:r>
              <a:rPr lang="en-US" dirty="0" err="1"/>
              <a:t>тоже</a:t>
            </a:r>
            <a:r>
              <a:rPr lang="en-US" dirty="0"/>
              <a:t> </a:t>
            </a:r>
            <a:r>
              <a:rPr lang="en-US" dirty="0" err="1"/>
              <a:t>не</a:t>
            </a:r>
            <a:r>
              <a:rPr lang="en-US" dirty="0"/>
              <a:t> </a:t>
            </a:r>
            <a:r>
              <a:rPr lang="en-US" dirty="0" err="1"/>
              <a:t>сможет</a:t>
            </a:r>
            <a:r>
              <a:rPr lang="en-US" dirty="0"/>
              <a:t> </a:t>
            </a:r>
            <a:r>
              <a:rPr lang="en-US" dirty="0" err="1"/>
              <a:t>просто</a:t>
            </a:r>
            <a:r>
              <a:rPr lang="en-US" dirty="0"/>
              <a:t> </a:t>
            </a:r>
            <a:r>
              <a:rPr lang="en-US" dirty="0" err="1"/>
              <a:t>так</a:t>
            </a:r>
            <a:r>
              <a:rPr lang="en-US" dirty="0"/>
              <a:t> </a:t>
            </a:r>
            <a:r>
              <a:rPr lang="en-US" dirty="0" err="1"/>
              <a:t>этот</a:t>
            </a:r>
            <a:r>
              <a:rPr lang="en-US" dirty="0"/>
              <a:t> </a:t>
            </a:r>
            <a:r>
              <a:rPr lang="en-US" dirty="0" err="1"/>
              <a:t>файл</a:t>
            </a:r>
            <a:r>
              <a:rPr lang="en-US" dirty="0"/>
              <a:t> </a:t>
            </a:r>
            <a:r>
              <a:rPr lang="en-US" dirty="0" err="1"/>
              <a:t>открыть</a:t>
            </a:r>
            <a:r>
              <a:rPr lang="en-US" dirty="0"/>
              <a:t>.</a:t>
            </a:r>
          </a:p>
          <a:p>
            <a:endParaRPr lang="en-US" dirty="0"/>
          </a:p>
          <a:p>
            <a:r>
              <a:rPr lang="en-US" dirty="0" err="1"/>
              <a:t>Кроме</a:t>
            </a:r>
            <a:r>
              <a:rPr lang="en-US" dirty="0"/>
              <a:t> </a:t>
            </a:r>
            <a:r>
              <a:rPr lang="en-US" dirty="0" err="1"/>
              <a:t>пользователей</a:t>
            </a:r>
            <a:r>
              <a:rPr lang="en-US" dirty="0"/>
              <a:t> </a:t>
            </a:r>
            <a:r>
              <a:rPr lang="en-US" dirty="0" err="1"/>
              <a:t>существуют</a:t>
            </a:r>
            <a:r>
              <a:rPr lang="en-US" dirty="0"/>
              <a:t> </a:t>
            </a:r>
            <a:r>
              <a:rPr lang="en-US" b="1" dirty="0" err="1"/>
              <a:t>группы</a:t>
            </a:r>
            <a:r>
              <a:rPr lang="en-US" dirty="0"/>
              <a:t>. </a:t>
            </a:r>
            <a:r>
              <a:rPr lang="en-US" dirty="0" err="1"/>
              <a:t>Группа</a:t>
            </a:r>
            <a:r>
              <a:rPr lang="en-US" dirty="0"/>
              <a:t> </a:t>
            </a:r>
            <a:r>
              <a:rPr lang="en-US" dirty="0" err="1"/>
              <a:t>имеет</a:t>
            </a:r>
            <a:r>
              <a:rPr lang="en-US" dirty="0"/>
              <a:t> </a:t>
            </a:r>
            <a:r>
              <a:rPr lang="en-US" dirty="0" err="1"/>
              <a:t>собственный</a:t>
            </a:r>
            <a:r>
              <a:rPr lang="en-US" dirty="0"/>
              <a:t> </a:t>
            </a:r>
            <a:r>
              <a:rPr lang="en-US" dirty="0" err="1"/>
              <a:t>идентификатор</a:t>
            </a:r>
            <a:r>
              <a:rPr lang="en-US" dirty="0"/>
              <a:t> — </a:t>
            </a:r>
            <a:r>
              <a:rPr lang="en-US" sz="1200" kern="1200" dirty="0">
                <a:solidFill>
                  <a:schemeClr val="tx1"/>
                </a:solidFill>
                <a:latin typeface="+mn-lt"/>
                <a:ea typeface="+mn-ea"/>
                <a:cs typeface="+mn-cs"/>
              </a:rPr>
              <a:t>GID</a:t>
            </a:r>
            <a:r>
              <a:rPr lang="en-US" dirty="0"/>
              <a:t>. </a:t>
            </a:r>
            <a:r>
              <a:rPr lang="en-US" dirty="0" err="1"/>
              <a:t>Один</a:t>
            </a:r>
            <a:r>
              <a:rPr lang="en-US" dirty="0"/>
              <a:t> </a:t>
            </a:r>
            <a:r>
              <a:rPr lang="en-US" dirty="0" err="1"/>
              <a:t>пользователь</a:t>
            </a:r>
            <a:r>
              <a:rPr lang="en-US" dirty="0"/>
              <a:t> </a:t>
            </a:r>
            <a:r>
              <a:rPr lang="en-US" dirty="0" err="1"/>
              <a:t>может</a:t>
            </a:r>
            <a:r>
              <a:rPr lang="en-US" dirty="0"/>
              <a:t> </a:t>
            </a:r>
            <a:r>
              <a:rPr lang="en-US" dirty="0" err="1"/>
              <a:t>состоять</a:t>
            </a:r>
            <a:r>
              <a:rPr lang="en-US" dirty="0"/>
              <a:t> </a:t>
            </a:r>
            <a:r>
              <a:rPr lang="en-US" dirty="0" err="1"/>
              <a:t>сразу</a:t>
            </a:r>
            <a:r>
              <a:rPr lang="en-US" dirty="0"/>
              <a:t> в </a:t>
            </a:r>
            <a:r>
              <a:rPr lang="en-US" dirty="0" err="1"/>
              <a:t>нескольких</a:t>
            </a:r>
            <a:r>
              <a:rPr lang="en-US" dirty="0"/>
              <a:t> </a:t>
            </a:r>
            <a:r>
              <a:rPr lang="en-US" dirty="0" err="1"/>
              <a:t>группах</a:t>
            </a:r>
            <a:r>
              <a:rPr lang="en-US" dirty="0"/>
              <a:t>. Это </a:t>
            </a:r>
            <a:r>
              <a:rPr lang="en-US" dirty="0" err="1"/>
              <a:t>удобно</a:t>
            </a:r>
            <a:r>
              <a:rPr lang="en-US" dirty="0"/>
              <a:t>, </a:t>
            </a:r>
            <a:r>
              <a:rPr lang="en-US" dirty="0" err="1"/>
              <a:t>когда</a:t>
            </a:r>
            <a:r>
              <a:rPr lang="en-US" dirty="0"/>
              <a:t> </a:t>
            </a:r>
            <a:r>
              <a:rPr lang="en-US" dirty="0" err="1"/>
              <a:t>одинаковые</a:t>
            </a:r>
            <a:r>
              <a:rPr lang="en-US" dirty="0"/>
              <a:t> </a:t>
            </a:r>
            <a:r>
              <a:rPr lang="en-US" dirty="0" err="1"/>
              <a:t>права</a:t>
            </a:r>
            <a:r>
              <a:rPr lang="en-US" dirty="0"/>
              <a:t> </a:t>
            </a:r>
            <a:r>
              <a:rPr lang="en-US" dirty="0" err="1"/>
              <a:t>нужно</a:t>
            </a:r>
            <a:r>
              <a:rPr lang="en-US" dirty="0"/>
              <a:t> </a:t>
            </a:r>
            <a:r>
              <a:rPr lang="en-US" dirty="0" err="1"/>
              <a:t>предоставить</a:t>
            </a:r>
            <a:r>
              <a:rPr lang="en-US" dirty="0"/>
              <a:t> </a:t>
            </a:r>
            <a:r>
              <a:rPr lang="en-US" dirty="0" err="1"/>
              <a:t>сразу</a:t>
            </a:r>
            <a:r>
              <a:rPr lang="en-US" dirty="0"/>
              <a:t> </a:t>
            </a:r>
            <a:r>
              <a:rPr lang="en-US" dirty="0" err="1"/>
              <a:t>нескольким</a:t>
            </a:r>
            <a:r>
              <a:rPr lang="en-US" dirty="0"/>
              <a:t> </a:t>
            </a:r>
            <a:r>
              <a:rPr lang="en-US" dirty="0" err="1"/>
              <a:t>людям</a:t>
            </a:r>
            <a:r>
              <a:rPr lang="en-US" dirty="0"/>
              <a:t>. </a:t>
            </a:r>
            <a:r>
              <a:rPr lang="en-US" dirty="0" err="1"/>
              <a:t>Например</a:t>
            </a:r>
            <a:r>
              <a:rPr lang="en-US" dirty="0"/>
              <a:t>, </a:t>
            </a:r>
            <a:r>
              <a:rPr lang="en-US" dirty="0" err="1"/>
              <a:t>все</a:t>
            </a:r>
            <a:r>
              <a:rPr lang="en-US" dirty="0"/>
              <a:t> </a:t>
            </a:r>
            <a:r>
              <a:rPr lang="en-US" dirty="0" err="1"/>
              <a:t>участники</a:t>
            </a:r>
            <a:r>
              <a:rPr lang="en-US" dirty="0"/>
              <a:t> </a:t>
            </a:r>
            <a:r>
              <a:rPr lang="en-US" dirty="0" err="1"/>
              <a:t>проекта</a:t>
            </a:r>
            <a:r>
              <a:rPr lang="en-US" dirty="0"/>
              <a:t> </a:t>
            </a:r>
            <a:r>
              <a:rPr lang="en-US" dirty="0" err="1"/>
              <a:t>могут</a:t>
            </a:r>
            <a:r>
              <a:rPr lang="en-US" dirty="0"/>
              <a:t> </a:t>
            </a:r>
            <a:r>
              <a:rPr lang="en-US" dirty="0" err="1"/>
              <a:t>входить</a:t>
            </a:r>
            <a:r>
              <a:rPr lang="en-US" dirty="0"/>
              <a:t> в </a:t>
            </a:r>
            <a:r>
              <a:rPr lang="en-US" dirty="0" err="1"/>
              <a:t>одну</a:t>
            </a:r>
            <a:r>
              <a:rPr lang="en-US" dirty="0"/>
              <a:t> </a:t>
            </a:r>
            <a:r>
              <a:rPr lang="en-US" dirty="0" err="1"/>
              <a:t>группу</a:t>
            </a:r>
            <a:r>
              <a:rPr lang="en-US" dirty="0"/>
              <a:t> и </a:t>
            </a:r>
            <a:r>
              <a:rPr lang="en-US" dirty="0" err="1"/>
              <a:t>получать</a:t>
            </a:r>
            <a:r>
              <a:rPr lang="en-US" dirty="0"/>
              <a:t> </a:t>
            </a:r>
            <a:r>
              <a:rPr lang="en-US" dirty="0" err="1"/>
              <a:t>доступ</a:t>
            </a:r>
            <a:r>
              <a:rPr lang="en-US" dirty="0"/>
              <a:t> к </a:t>
            </a:r>
            <a:r>
              <a:rPr lang="en-US" dirty="0" err="1"/>
              <a:t>общим</a:t>
            </a:r>
            <a:r>
              <a:rPr lang="en-US" dirty="0"/>
              <a:t> </a:t>
            </a:r>
            <a:r>
              <a:rPr lang="en-US" dirty="0" err="1"/>
              <a:t>файлам</a:t>
            </a:r>
            <a:r>
              <a:rPr lang="en-US" dirty="0"/>
              <a:t>.</a:t>
            </a:r>
          </a:p>
          <a:p>
            <a:endParaRPr lang="en-US" dirty="0"/>
          </a:p>
          <a:p>
            <a:r>
              <a:rPr lang="en-US" dirty="0"/>
              <a:t>В </a:t>
            </a:r>
            <a:r>
              <a:rPr lang="en-US" dirty="0" err="1"/>
              <a:t>классической</a:t>
            </a:r>
            <a:r>
              <a:rPr lang="en-US" dirty="0"/>
              <a:t> </a:t>
            </a:r>
            <a:r>
              <a:rPr lang="en-US" dirty="0" err="1"/>
              <a:t>модели</a:t>
            </a:r>
            <a:r>
              <a:rPr lang="en-US" dirty="0"/>
              <a:t> UNIX </a:t>
            </a:r>
            <a:r>
              <a:rPr lang="en-US" dirty="0" err="1"/>
              <a:t>права</a:t>
            </a:r>
            <a:r>
              <a:rPr lang="en-US" dirty="0"/>
              <a:t> </a:t>
            </a:r>
            <a:r>
              <a:rPr lang="en-US" dirty="0" err="1"/>
              <a:t>файла</a:t>
            </a:r>
            <a:r>
              <a:rPr lang="en-US" dirty="0"/>
              <a:t> </a:t>
            </a:r>
            <a:r>
              <a:rPr lang="en-US" dirty="0" err="1"/>
              <a:t>задаются</a:t>
            </a:r>
            <a:r>
              <a:rPr lang="en-US" dirty="0"/>
              <a:t> </a:t>
            </a:r>
            <a:r>
              <a:rPr lang="en-US" dirty="0" err="1"/>
              <a:t>отдельно</a:t>
            </a:r>
            <a:r>
              <a:rPr lang="en-US" dirty="0"/>
              <a:t> </a:t>
            </a:r>
            <a:r>
              <a:rPr lang="en-US" dirty="0" err="1"/>
              <a:t>для</a:t>
            </a:r>
            <a:r>
              <a:rPr lang="en-US" dirty="0"/>
              <a:t> </a:t>
            </a:r>
            <a:r>
              <a:rPr lang="en-US" dirty="0" err="1"/>
              <a:t>трёх</a:t>
            </a:r>
            <a:r>
              <a:rPr lang="en-US" dirty="0"/>
              <a:t> </a:t>
            </a:r>
            <a:r>
              <a:rPr lang="en-US" dirty="0" err="1"/>
              <a:t>категорий</a:t>
            </a:r>
            <a:r>
              <a:rPr lang="en-US" dirty="0"/>
              <a:t>: </a:t>
            </a:r>
            <a:r>
              <a:rPr lang="en-US" dirty="0" err="1"/>
              <a:t>владельца</a:t>
            </a:r>
            <a:r>
              <a:rPr lang="en-US" dirty="0"/>
              <a:t> </a:t>
            </a:r>
            <a:r>
              <a:rPr lang="en-US" dirty="0" err="1"/>
              <a:t>файла</a:t>
            </a:r>
            <a:r>
              <a:rPr lang="en-US" dirty="0"/>
              <a:t>, </a:t>
            </a:r>
            <a:r>
              <a:rPr lang="en-US" dirty="0" err="1"/>
              <a:t>группы</a:t>
            </a:r>
            <a:r>
              <a:rPr lang="en-US" dirty="0"/>
              <a:t> и </a:t>
            </a:r>
            <a:r>
              <a:rPr lang="en-US" dirty="0" err="1"/>
              <a:t>всех</a:t>
            </a:r>
            <a:r>
              <a:rPr lang="en-US" dirty="0"/>
              <a:t> </a:t>
            </a:r>
            <a:r>
              <a:rPr lang="en-US" dirty="0" err="1"/>
              <a:t>остальных</a:t>
            </a:r>
            <a:r>
              <a:rPr lang="en-US" dirty="0"/>
              <a:t> </a:t>
            </a:r>
            <a:r>
              <a:rPr lang="en-US" dirty="0" err="1"/>
              <a:t>пользователей</a:t>
            </a:r>
            <a:r>
              <a:rPr lang="en-US" dirty="0"/>
              <a:t>. </a:t>
            </a:r>
            <a:r>
              <a:rPr lang="en-US" dirty="0" err="1"/>
              <a:t>Позже</a:t>
            </a:r>
            <a:r>
              <a:rPr lang="en-US" dirty="0"/>
              <a:t> </a:t>
            </a:r>
            <a:r>
              <a:rPr lang="en-US" dirty="0" err="1"/>
              <a:t>мы</a:t>
            </a:r>
            <a:r>
              <a:rPr lang="en-US" dirty="0"/>
              <a:t> </a:t>
            </a:r>
            <a:r>
              <a:rPr lang="en-US" dirty="0" err="1"/>
              <a:t>увидим</a:t>
            </a:r>
            <a:r>
              <a:rPr lang="en-US" dirty="0"/>
              <a:t> </a:t>
            </a:r>
            <a:r>
              <a:rPr lang="en-US" dirty="0" err="1"/>
              <a:t>это</a:t>
            </a:r>
            <a:r>
              <a:rPr lang="en-US" dirty="0"/>
              <a:t> </a:t>
            </a:r>
            <a:r>
              <a:rPr lang="en-US" dirty="0" err="1"/>
              <a:t>непосредственно</a:t>
            </a:r>
            <a:r>
              <a:rPr lang="en-US" dirty="0"/>
              <a:t> в </a:t>
            </a:r>
            <a:r>
              <a:rPr lang="en-US" dirty="0" err="1"/>
              <a:t>выводе</a:t>
            </a:r>
            <a:r>
              <a:rPr lang="en-US" dirty="0"/>
              <a:t> </a:t>
            </a:r>
            <a:r>
              <a:rPr lang="en-US" dirty="0" err="1"/>
              <a:t>команды</a:t>
            </a:r>
            <a:r>
              <a:rPr lang="en-US" dirty="0"/>
              <a:t> </a:t>
            </a:r>
            <a:r>
              <a:rPr lang="en-US" sz="1200" kern="1200" dirty="0">
                <a:solidFill>
                  <a:schemeClr val="tx1"/>
                </a:solidFill>
                <a:latin typeface="+mn-lt"/>
                <a:ea typeface="+mn-ea"/>
                <a:cs typeface="+mn-cs"/>
              </a:rPr>
              <a:t>ls -l</a:t>
            </a:r>
            <a:r>
              <a:rPr lang="en-US" dirty="0"/>
              <a:t>.</a:t>
            </a:r>
          </a:p>
          <a:p>
            <a:endParaRPr lang="en-US" dirty="0"/>
          </a:p>
          <a:p>
            <a:r>
              <a:rPr lang="en-US" dirty="0" err="1"/>
              <a:t>Особое</a:t>
            </a:r>
            <a:r>
              <a:rPr lang="en-US" dirty="0"/>
              <a:t> </a:t>
            </a:r>
            <a:r>
              <a:rPr lang="en-US" dirty="0" err="1"/>
              <a:t>положение</a:t>
            </a:r>
            <a:r>
              <a:rPr lang="en-US" dirty="0"/>
              <a:t> </a:t>
            </a:r>
            <a:r>
              <a:rPr lang="en-US" dirty="0" err="1"/>
              <a:t>занимает</a:t>
            </a:r>
            <a:r>
              <a:rPr lang="en-US" dirty="0"/>
              <a:t> </a:t>
            </a:r>
            <a:r>
              <a:rPr lang="en-US" dirty="0" err="1"/>
              <a:t>пользователь</a:t>
            </a:r>
            <a:r>
              <a:rPr lang="en-US" dirty="0"/>
              <a:t> </a:t>
            </a:r>
            <a:r>
              <a:rPr lang="en-US" sz="1200" kern="1200" dirty="0">
                <a:solidFill>
                  <a:schemeClr val="tx1"/>
                </a:solidFill>
                <a:latin typeface="+mn-lt"/>
                <a:ea typeface="+mn-ea"/>
                <a:cs typeface="+mn-cs"/>
              </a:rPr>
              <a:t>root</a:t>
            </a:r>
            <a:r>
              <a:rPr lang="en-US" dirty="0"/>
              <a:t>. У </a:t>
            </a:r>
            <a:r>
              <a:rPr lang="en-US" dirty="0" err="1"/>
              <a:t>него</a:t>
            </a:r>
            <a:r>
              <a:rPr lang="en-US" dirty="0"/>
              <a:t> UID </a:t>
            </a:r>
            <a:r>
              <a:rPr lang="en-US" dirty="0" err="1"/>
              <a:t>равен</a:t>
            </a:r>
            <a:r>
              <a:rPr lang="en-US" dirty="0"/>
              <a:t> </a:t>
            </a:r>
            <a:r>
              <a:rPr lang="en-US" dirty="0" err="1"/>
              <a:t>нулю</a:t>
            </a:r>
            <a:r>
              <a:rPr lang="en-US" dirty="0"/>
              <a:t>, и </a:t>
            </a:r>
            <a:r>
              <a:rPr lang="en-US" dirty="0" err="1"/>
              <a:t>ядро</a:t>
            </a:r>
            <a:r>
              <a:rPr lang="en-US" dirty="0"/>
              <a:t> </a:t>
            </a:r>
            <a:r>
              <a:rPr lang="en-US" dirty="0" err="1"/>
              <a:t>предоставляет</a:t>
            </a:r>
            <a:r>
              <a:rPr lang="en-US" dirty="0"/>
              <a:t> </a:t>
            </a:r>
            <a:r>
              <a:rPr lang="en-US" dirty="0" err="1"/>
              <a:t>ему</a:t>
            </a:r>
            <a:r>
              <a:rPr lang="en-US" dirty="0"/>
              <a:t> </a:t>
            </a:r>
            <a:r>
              <a:rPr lang="en-US" dirty="0" err="1"/>
              <a:t>очень</a:t>
            </a:r>
            <a:r>
              <a:rPr lang="en-US" dirty="0"/>
              <a:t> </a:t>
            </a:r>
            <a:r>
              <a:rPr lang="en-US" dirty="0" err="1"/>
              <a:t>широкие</a:t>
            </a:r>
            <a:r>
              <a:rPr lang="en-US" dirty="0"/>
              <a:t> </a:t>
            </a:r>
            <a:r>
              <a:rPr lang="en-US" dirty="0" err="1"/>
              <a:t>привилегии</a:t>
            </a:r>
            <a:r>
              <a:rPr lang="en-US" dirty="0"/>
              <a:t>. </a:t>
            </a:r>
            <a:r>
              <a:rPr lang="en-US" dirty="0" err="1"/>
              <a:t>Поэтому</a:t>
            </a:r>
            <a:r>
              <a:rPr lang="en-US" dirty="0"/>
              <a:t> </a:t>
            </a:r>
            <a:r>
              <a:rPr lang="en-US" dirty="0" err="1"/>
              <a:t>системное</a:t>
            </a:r>
            <a:r>
              <a:rPr lang="en-US" dirty="0"/>
              <a:t> </a:t>
            </a:r>
            <a:r>
              <a:rPr lang="en-US" dirty="0" err="1"/>
              <a:t>администрирование</a:t>
            </a:r>
            <a:r>
              <a:rPr lang="en-US" dirty="0"/>
              <a:t> </a:t>
            </a:r>
            <a:r>
              <a:rPr lang="en-US" dirty="0" err="1"/>
              <a:t>часто</a:t>
            </a:r>
            <a:r>
              <a:rPr lang="en-US" dirty="0"/>
              <a:t> </a:t>
            </a:r>
            <a:r>
              <a:rPr lang="en-US" dirty="0" err="1"/>
              <a:t>требует</a:t>
            </a:r>
            <a:r>
              <a:rPr lang="en-US" dirty="0"/>
              <a:t> </a:t>
            </a:r>
            <a:r>
              <a:rPr lang="en-US" dirty="0" err="1"/>
              <a:t>выполнения</a:t>
            </a:r>
            <a:r>
              <a:rPr lang="en-US" dirty="0"/>
              <a:t> </a:t>
            </a:r>
            <a:r>
              <a:rPr lang="en-US" dirty="0" err="1"/>
              <a:t>отдельных</a:t>
            </a:r>
            <a:r>
              <a:rPr lang="en-US" dirty="0"/>
              <a:t> </a:t>
            </a:r>
            <a:r>
              <a:rPr lang="en-US" dirty="0" err="1"/>
              <a:t>операций</a:t>
            </a:r>
            <a:r>
              <a:rPr lang="en-US" dirty="0"/>
              <a:t> </a:t>
            </a:r>
            <a:r>
              <a:rPr lang="en-US" dirty="0" err="1"/>
              <a:t>от</a:t>
            </a:r>
            <a:r>
              <a:rPr lang="en-US" dirty="0"/>
              <a:t> </a:t>
            </a:r>
            <a:r>
              <a:rPr lang="en-US" dirty="0" err="1"/>
              <a:t>имени</a:t>
            </a:r>
            <a:r>
              <a:rPr lang="en-US" dirty="0"/>
              <a:t> </a:t>
            </a:r>
            <a:r>
              <a:rPr lang="en-US" sz="1200" kern="1200" dirty="0">
                <a:solidFill>
                  <a:schemeClr val="tx1"/>
                </a:solidFill>
                <a:latin typeface="+mn-lt"/>
                <a:ea typeface="+mn-ea"/>
                <a:cs typeface="+mn-cs"/>
              </a:rPr>
              <a:t>root</a:t>
            </a:r>
            <a:r>
              <a:rPr lang="en-US" dirty="0"/>
              <a:t>.</a:t>
            </a:r>
          </a:p>
          <a:p>
            <a:endParaRPr lang="en-US" dirty="0"/>
          </a:p>
          <a:p>
            <a:r>
              <a:rPr lang="en-US" dirty="0" err="1"/>
              <a:t>Но</a:t>
            </a:r>
            <a:r>
              <a:rPr lang="en-US" dirty="0"/>
              <a:t> </a:t>
            </a:r>
            <a:r>
              <a:rPr lang="en-US" dirty="0" err="1"/>
              <a:t>постоянно</a:t>
            </a:r>
            <a:r>
              <a:rPr lang="en-US" dirty="0"/>
              <a:t> </a:t>
            </a:r>
            <a:r>
              <a:rPr lang="en-US" dirty="0" err="1"/>
              <a:t>работать</a:t>
            </a:r>
            <a:r>
              <a:rPr lang="en-US" dirty="0"/>
              <a:t> с </a:t>
            </a:r>
            <a:r>
              <a:rPr lang="en-US" dirty="0" err="1"/>
              <a:t>такими</a:t>
            </a:r>
            <a:r>
              <a:rPr lang="en-US" dirty="0"/>
              <a:t> </a:t>
            </a:r>
            <a:r>
              <a:rPr lang="en-US" dirty="0" err="1"/>
              <a:t>правами</a:t>
            </a:r>
            <a:r>
              <a:rPr lang="en-US" dirty="0"/>
              <a:t> </a:t>
            </a:r>
            <a:r>
              <a:rPr lang="en-US" dirty="0" err="1"/>
              <a:t>нежелательно</a:t>
            </a:r>
            <a:r>
              <a:rPr lang="en-US" dirty="0"/>
              <a:t>: </a:t>
            </a:r>
            <a:r>
              <a:rPr lang="en-US" dirty="0" err="1"/>
              <a:t>ошибка</a:t>
            </a:r>
            <a:r>
              <a:rPr lang="en-US" dirty="0"/>
              <a:t> в </a:t>
            </a:r>
            <a:r>
              <a:rPr lang="en-US" dirty="0" err="1"/>
              <a:t>обычной</a:t>
            </a:r>
            <a:r>
              <a:rPr lang="en-US" dirty="0"/>
              <a:t> </a:t>
            </a:r>
            <a:r>
              <a:rPr lang="en-US" dirty="0" err="1"/>
              <a:t>программе</a:t>
            </a:r>
            <a:r>
              <a:rPr lang="en-US" dirty="0"/>
              <a:t> </a:t>
            </a:r>
            <a:r>
              <a:rPr lang="en-US" dirty="0" err="1"/>
              <a:t>тогда</a:t>
            </a:r>
            <a:r>
              <a:rPr lang="en-US" dirty="0"/>
              <a:t> </a:t>
            </a:r>
            <a:r>
              <a:rPr lang="en-US" dirty="0" err="1"/>
              <a:t>может</a:t>
            </a:r>
            <a:r>
              <a:rPr lang="en-US" dirty="0"/>
              <a:t> </a:t>
            </a:r>
            <a:r>
              <a:rPr lang="en-US" dirty="0" err="1"/>
              <a:t>затронуть</a:t>
            </a:r>
            <a:r>
              <a:rPr lang="en-US" dirty="0"/>
              <a:t> </a:t>
            </a:r>
            <a:r>
              <a:rPr lang="en-US" dirty="0" err="1"/>
              <a:t>всю</a:t>
            </a:r>
            <a:r>
              <a:rPr lang="en-US" dirty="0"/>
              <a:t> </a:t>
            </a:r>
            <a:r>
              <a:rPr lang="en-US" dirty="0" err="1"/>
              <a:t>систему</a:t>
            </a:r>
            <a:r>
              <a:rPr lang="en-US" dirty="0"/>
              <a:t>. </a:t>
            </a:r>
            <a:r>
              <a:rPr lang="en-US" dirty="0" err="1"/>
              <a:t>Поэтому</a:t>
            </a:r>
            <a:r>
              <a:rPr lang="en-US" dirty="0"/>
              <a:t> </a:t>
            </a:r>
            <a:r>
              <a:rPr lang="en-US" dirty="0" err="1"/>
              <a:t>дальше</a:t>
            </a:r>
            <a:r>
              <a:rPr lang="en-US" dirty="0"/>
              <a:t> </a:t>
            </a:r>
            <a:r>
              <a:rPr lang="en-US" dirty="0" err="1"/>
              <a:t>мы</a:t>
            </a:r>
            <a:r>
              <a:rPr lang="en-US" dirty="0"/>
              <a:t> </a:t>
            </a:r>
            <a:r>
              <a:rPr lang="en-US" dirty="0" err="1"/>
              <a:t>посмотрим</a:t>
            </a:r>
            <a:r>
              <a:rPr lang="en-US" dirty="0"/>
              <a:t> </a:t>
            </a:r>
            <a:r>
              <a:rPr lang="en-US" dirty="0" err="1"/>
              <a:t>на</a:t>
            </a:r>
            <a:r>
              <a:rPr lang="en-US" dirty="0"/>
              <a:t> </a:t>
            </a:r>
            <a:r>
              <a:rPr lang="en-US" dirty="0" err="1"/>
              <a:t>команды</a:t>
            </a:r>
            <a:r>
              <a:rPr lang="en-US" dirty="0"/>
              <a:t> </a:t>
            </a:r>
            <a:r>
              <a:rPr lang="en-US" sz="1200" kern="1200" dirty="0" err="1">
                <a:solidFill>
                  <a:schemeClr val="tx1"/>
                </a:solidFill>
                <a:latin typeface="+mn-lt"/>
                <a:ea typeface="+mn-ea"/>
                <a:cs typeface="+mn-cs"/>
              </a:rPr>
              <a:t>su</a:t>
            </a:r>
            <a:r>
              <a:rPr lang="en-US" dirty="0"/>
              <a:t> и </a:t>
            </a:r>
            <a:r>
              <a:rPr lang="en-US" sz="1200" kern="1200" dirty="0" err="1">
                <a:solidFill>
                  <a:schemeClr val="tx1"/>
                </a:solidFill>
                <a:latin typeface="+mn-lt"/>
                <a:ea typeface="+mn-ea"/>
                <a:cs typeface="+mn-cs"/>
              </a:rPr>
              <a:t>sudo</a:t>
            </a:r>
            <a:r>
              <a:rPr lang="en-US" dirty="0"/>
              <a:t>, </a:t>
            </a:r>
            <a:r>
              <a:rPr lang="en-US" dirty="0" err="1"/>
              <a:t>которые</a:t>
            </a:r>
            <a:r>
              <a:rPr lang="en-US" dirty="0"/>
              <a:t> </a:t>
            </a:r>
            <a:r>
              <a:rPr lang="en-US" dirty="0" err="1"/>
              <a:t>позволяют</a:t>
            </a:r>
            <a:r>
              <a:rPr lang="en-US" dirty="0"/>
              <a:t> </a:t>
            </a:r>
            <a:r>
              <a:rPr lang="en-US" dirty="0" err="1"/>
              <a:t>управлять</a:t>
            </a:r>
            <a:r>
              <a:rPr lang="en-US" dirty="0"/>
              <a:t> </a:t>
            </a:r>
            <a:r>
              <a:rPr lang="en-US" dirty="0" err="1"/>
              <a:t>повышением</a:t>
            </a:r>
            <a:r>
              <a:rPr lang="en-US" dirty="0"/>
              <a:t> </a:t>
            </a:r>
            <a:r>
              <a:rPr lang="en-US" dirty="0" err="1"/>
              <a:t>привилегий</a:t>
            </a:r>
            <a:r>
              <a:rPr lang="en-US" dirty="0"/>
              <a:t>.</a:t>
            </a:r>
          </a:p>
          <a:p>
            <a:endParaRPr lang="en-US" dirty="0"/>
          </a:p>
          <a:p>
            <a:r>
              <a:rPr lang="en-US" dirty="0" err="1"/>
              <a:t>Главная</a:t>
            </a:r>
            <a:r>
              <a:rPr lang="en-US" dirty="0"/>
              <a:t> </a:t>
            </a:r>
            <a:r>
              <a:rPr lang="en-US" dirty="0" err="1"/>
              <a:t>идея</a:t>
            </a:r>
            <a:r>
              <a:rPr lang="en-US" dirty="0"/>
              <a:t> </a:t>
            </a:r>
            <a:r>
              <a:rPr lang="en-US" dirty="0" err="1"/>
              <a:t>этого</a:t>
            </a:r>
            <a:r>
              <a:rPr lang="en-US" dirty="0"/>
              <a:t> </a:t>
            </a:r>
            <a:r>
              <a:rPr lang="en-US" dirty="0" err="1"/>
              <a:t>слайда</a:t>
            </a:r>
            <a:r>
              <a:rPr lang="en-US" dirty="0"/>
              <a:t> </a:t>
            </a:r>
            <a:r>
              <a:rPr lang="en-US" dirty="0" err="1"/>
              <a:t>такая</a:t>
            </a:r>
            <a:r>
              <a:rPr lang="en-US" dirty="0"/>
              <a:t>: </a:t>
            </a:r>
            <a:r>
              <a:rPr lang="en-US" b="1" dirty="0" err="1"/>
              <a:t>процесс</a:t>
            </a:r>
            <a:r>
              <a:rPr lang="en-US" b="1" dirty="0"/>
              <a:t> </a:t>
            </a:r>
            <a:r>
              <a:rPr lang="en-US" b="1" dirty="0" err="1"/>
              <a:t>выполняется</a:t>
            </a:r>
            <a:r>
              <a:rPr lang="en-US" b="1" dirty="0"/>
              <a:t> </a:t>
            </a:r>
            <a:r>
              <a:rPr lang="en-US" b="1" dirty="0" err="1"/>
              <a:t>не</a:t>
            </a:r>
            <a:r>
              <a:rPr lang="en-US" b="1" dirty="0"/>
              <a:t> </a:t>
            </a:r>
            <a:r>
              <a:rPr lang="en-US" b="1" dirty="0" err="1"/>
              <a:t>просто</a:t>
            </a:r>
            <a:r>
              <a:rPr lang="en-US" b="1" dirty="0"/>
              <a:t> </a:t>
            </a:r>
            <a:r>
              <a:rPr lang="en-US" b="1" dirty="0" err="1"/>
              <a:t>сам</a:t>
            </a:r>
            <a:r>
              <a:rPr lang="en-US" b="1" dirty="0"/>
              <a:t> </a:t>
            </a:r>
            <a:r>
              <a:rPr lang="en-US" b="1" dirty="0" err="1"/>
              <a:t>по</a:t>
            </a:r>
            <a:r>
              <a:rPr lang="en-US" b="1" dirty="0"/>
              <a:t> </a:t>
            </a:r>
            <a:r>
              <a:rPr lang="en-US" b="1" dirty="0" err="1"/>
              <a:t>себе</a:t>
            </a:r>
            <a:r>
              <a:rPr lang="en-US" b="1" dirty="0"/>
              <a:t> — </a:t>
            </a:r>
            <a:r>
              <a:rPr lang="en-US" b="1" dirty="0" err="1"/>
              <a:t>он</a:t>
            </a:r>
            <a:r>
              <a:rPr lang="en-US" b="1" dirty="0"/>
              <a:t> </a:t>
            </a:r>
            <a:r>
              <a:rPr lang="en-US" b="1" dirty="0" err="1"/>
              <a:t>действует</a:t>
            </a:r>
            <a:r>
              <a:rPr lang="en-US" b="1" dirty="0"/>
              <a:t> </a:t>
            </a:r>
            <a:r>
              <a:rPr lang="en-US" b="1" dirty="0" err="1"/>
              <a:t>от</a:t>
            </a:r>
            <a:r>
              <a:rPr lang="en-US" b="1" dirty="0"/>
              <a:t> </a:t>
            </a:r>
            <a:r>
              <a:rPr lang="en-US" b="1" dirty="0" err="1"/>
              <a:t>имени</a:t>
            </a:r>
            <a:r>
              <a:rPr lang="en-US" b="1" dirty="0"/>
              <a:t> </a:t>
            </a:r>
            <a:r>
              <a:rPr lang="en-US" b="1" dirty="0" err="1"/>
              <a:t>некоторого</a:t>
            </a:r>
            <a:r>
              <a:rPr lang="en-US" b="1" dirty="0"/>
              <a:t> </a:t>
            </a:r>
            <a:r>
              <a:rPr lang="en-US" b="1" dirty="0" err="1"/>
              <a:t>пользователя</a:t>
            </a:r>
            <a:r>
              <a:rPr lang="en-US" b="1" dirty="0"/>
              <a:t>, а ОС </a:t>
            </a:r>
            <a:r>
              <a:rPr lang="en-US" b="1" dirty="0" err="1"/>
              <a:t>использует</a:t>
            </a:r>
            <a:r>
              <a:rPr lang="en-US" b="1" dirty="0"/>
              <a:t> </a:t>
            </a:r>
            <a:r>
              <a:rPr lang="en-US" b="1" dirty="0" err="1"/>
              <a:t>эту</a:t>
            </a:r>
            <a:r>
              <a:rPr lang="en-US" b="1" dirty="0"/>
              <a:t> </a:t>
            </a:r>
            <a:r>
              <a:rPr lang="en-US" b="1" dirty="0" err="1"/>
              <a:t>информацию</a:t>
            </a:r>
            <a:r>
              <a:rPr lang="en-US" b="1" dirty="0"/>
              <a:t> </a:t>
            </a:r>
            <a:r>
              <a:rPr lang="en-US" b="1" dirty="0" err="1"/>
              <a:t>при</a:t>
            </a:r>
            <a:r>
              <a:rPr lang="en-US" b="1" dirty="0"/>
              <a:t> </a:t>
            </a:r>
            <a:r>
              <a:rPr lang="en-US" b="1" dirty="0" err="1"/>
              <a:t>проверке</a:t>
            </a:r>
            <a:r>
              <a:rPr lang="en-US" b="1" dirty="0"/>
              <a:t> </a:t>
            </a:r>
            <a:r>
              <a:rPr lang="en-US" b="1" dirty="0" err="1"/>
              <a:t>доступа</a:t>
            </a:r>
            <a:r>
              <a:rPr lang="en-US" b="1" dirty="0"/>
              <a:t> к </a:t>
            </a:r>
            <a:r>
              <a:rPr lang="en-US" b="1" dirty="0" err="1"/>
              <a:t>ресурсам</a:t>
            </a:r>
            <a:r>
              <a:rPr lang="en-US" dirty="0"/>
              <a:t>.</a:t>
            </a:r>
          </a:p>
        </p:txBody>
      </p:sp>
      <p:sp>
        <p:nvSpPr>
          <p:cNvPr id="4" name="Slide Number Placeholder 3"/>
          <p:cNvSpPr>
            <a:spLocks noGrp="1"/>
          </p:cNvSpPr>
          <p:nvPr>
            <p:ph type="sldNum" sz="quarter" idx="5"/>
          </p:nvPr>
        </p:nvSpPr>
        <p:spPr/>
        <p:txBody>
          <a:bodyPr/>
          <a:lstStyle/>
          <a:p>
            <a:fld id="{A3EE74EF-BE85-44F3-968F-E74DD74A629E}" type="slidenum">
              <a:rPr lang="en-US" smtClean="0"/>
              <a:t>7</a:t>
            </a:fld>
            <a:endParaRPr lang="en-US"/>
          </a:p>
        </p:txBody>
      </p:sp>
    </p:spTree>
    <p:extLst>
      <p:ext uri="{BB962C8B-B14F-4D97-AF65-F5344CB8AC3E}">
        <p14:creationId xmlns:p14="http://schemas.microsoft.com/office/powerpoint/2010/main" val="13893416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Команды </a:t>
            </a:r>
            <a:r>
              <a:rPr lang="ru-RU" sz="1200" kern="1200" dirty="0" err="1">
                <a:solidFill>
                  <a:schemeClr val="tx1"/>
                </a:solidFill>
                <a:latin typeface="+mn-lt"/>
                <a:ea typeface="+mn-ea"/>
                <a:cs typeface="+mn-cs"/>
              </a:rPr>
              <a:t>su</a:t>
            </a:r>
            <a:r>
              <a:rPr lang="ru-RU" dirty="0"/>
              <a:t> и </a:t>
            </a:r>
            <a:r>
              <a:rPr lang="ru-RU" sz="1200" kern="1200" dirty="0" err="1">
                <a:solidFill>
                  <a:schemeClr val="tx1"/>
                </a:solidFill>
                <a:latin typeface="+mn-lt"/>
                <a:ea typeface="+mn-ea"/>
                <a:cs typeface="+mn-cs"/>
              </a:rPr>
              <a:t>sudo</a:t>
            </a:r>
            <a:r>
              <a:rPr lang="ru-RU" dirty="0"/>
              <a:t> используются для управления правами доступа и перехода от обычного пользователя к суперпользователю.</a:t>
            </a:r>
          </a:p>
          <a:p>
            <a:r>
              <a:rPr lang="ru-RU" sz="1200" b="1" kern="1200" dirty="0" err="1">
                <a:solidFill>
                  <a:schemeClr val="tx1"/>
                </a:solidFill>
                <a:latin typeface="+mn-lt"/>
                <a:ea typeface="+mn-ea"/>
                <a:cs typeface="+mn-cs"/>
              </a:rPr>
              <a:t>su</a:t>
            </a:r>
            <a:r>
              <a:rPr lang="ru-RU" b="1" dirty="0"/>
              <a:t> (</a:t>
            </a:r>
            <a:r>
              <a:rPr lang="ru-RU" b="1" dirty="0" err="1"/>
              <a:t>substitute</a:t>
            </a:r>
            <a:r>
              <a:rPr lang="ru-RU" b="1" dirty="0"/>
              <a:t> </a:t>
            </a:r>
            <a:r>
              <a:rPr lang="ru-RU" b="1" dirty="0" err="1"/>
              <a:t>user</a:t>
            </a:r>
            <a:r>
              <a:rPr lang="ru-RU" b="1" dirty="0"/>
              <a:t>)</a:t>
            </a:r>
            <a:br>
              <a:rPr lang="ru-RU" dirty="0"/>
            </a:br>
            <a:endParaRPr lang="ru-RU" dirty="0"/>
          </a:p>
          <a:p>
            <a:r>
              <a:rPr lang="ru-RU" dirty="0"/>
              <a:t>Если набрать команду</a:t>
            </a:r>
          </a:p>
          <a:p>
            <a:r>
              <a:rPr lang="en-US" dirty="0"/>
              <a:t>$ </a:t>
            </a:r>
            <a:r>
              <a:rPr lang="en-US" dirty="0" err="1"/>
              <a:t>su</a:t>
            </a:r>
            <a:endParaRPr lang="en-US" dirty="0"/>
          </a:p>
          <a:p>
            <a:r>
              <a:rPr lang="ru-RU" dirty="0"/>
              <a:t>оболочка попросит ввести пароль </a:t>
            </a:r>
            <a:r>
              <a:rPr lang="ru-RU" dirty="0" err="1"/>
              <a:t>root</a:t>
            </a:r>
            <a:r>
              <a:rPr lang="ru-RU" dirty="0"/>
              <a:t> и запустит новую сессию от имени суперпользователя.</a:t>
            </a:r>
          </a:p>
          <a:p>
            <a:endParaRPr lang="ru-RU" dirty="0"/>
          </a:p>
          <a:p>
            <a:r>
              <a:rPr lang="ru-RU" dirty="0"/>
              <a:t>Можно также указать имя пользователя, например:</a:t>
            </a:r>
            <a:endParaRPr lang="en-US" dirty="0"/>
          </a:p>
          <a:p>
            <a:r>
              <a:rPr lang="en-US" dirty="0"/>
              <a:t>$ </a:t>
            </a:r>
            <a:r>
              <a:rPr lang="en-US" dirty="0" err="1"/>
              <a:t>su</a:t>
            </a:r>
            <a:r>
              <a:rPr lang="en-US" dirty="0"/>
              <a:t> student</a:t>
            </a:r>
          </a:p>
          <a:p>
            <a:r>
              <a:rPr lang="ru-RU" dirty="0"/>
              <a:t>Тогда вы переключитесь на указанного пользователя. Это удобно для администрирования, но небезопасно, так как требует знания чужого пароля.</a:t>
            </a:r>
          </a:p>
          <a:p>
            <a:endParaRPr lang="ru-RU" dirty="0"/>
          </a:p>
          <a:p>
            <a:r>
              <a:rPr lang="ru-RU" sz="1200" b="1" kern="1200" dirty="0" err="1">
                <a:solidFill>
                  <a:schemeClr val="tx1"/>
                </a:solidFill>
                <a:latin typeface="+mn-lt"/>
                <a:ea typeface="+mn-ea"/>
                <a:cs typeface="+mn-cs"/>
              </a:rPr>
              <a:t>sudo</a:t>
            </a:r>
            <a:r>
              <a:rPr lang="ru-RU" b="1" dirty="0"/>
              <a:t> (</a:t>
            </a:r>
            <a:r>
              <a:rPr lang="ru-RU" b="1" dirty="0" err="1"/>
              <a:t>superuser</a:t>
            </a:r>
            <a:r>
              <a:rPr lang="ru-RU" b="1" dirty="0"/>
              <a:t> </a:t>
            </a:r>
            <a:r>
              <a:rPr lang="ru-RU" b="1" dirty="0" err="1"/>
              <a:t>do</a:t>
            </a:r>
            <a:r>
              <a:rPr lang="ru-RU" b="1" dirty="0"/>
              <a:t>)</a:t>
            </a:r>
            <a:br>
              <a:rPr lang="ru-RU" dirty="0"/>
            </a:br>
            <a:r>
              <a:rPr lang="ru-RU" dirty="0"/>
              <a:t>Более современный и безопасный механизм. Он позволяет выполнять отдельные команды от имени </a:t>
            </a:r>
            <a:r>
              <a:rPr lang="ru-RU" dirty="0" err="1"/>
              <a:t>root</a:t>
            </a:r>
            <a:r>
              <a:rPr lang="ru-RU" dirty="0"/>
              <a:t>, не заходя полностью под этим пользователем. Например:</a:t>
            </a:r>
          </a:p>
          <a:p>
            <a:r>
              <a:rPr lang="en-US" dirty="0"/>
              <a:t>$ </a:t>
            </a:r>
            <a:r>
              <a:rPr lang="en-US" dirty="0" err="1"/>
              <a:t>sudo</a:t>
            </a:r>
            <a:r>
              <a:rPr lang="en-US" dirty="0"/>
              <a:t> apt update</a:t>
            </a:r>
          </a:p>
          <a:p>
            <a:endParaRPr lang="ru-RU" dirty="0"/>
          </a:p>
          <a:p>
            <a:r>
              <a:rPr lang="ru-RU" dirty="0"/>
              <a:t>Здесь команда </a:t>
            </a:r>
            <a:r>
              <a:rPr lang="ru-RU" sz="1200" kern="1200" dirty="0" err="1">
                <a:solidFill>
                  <a:schemeClr val="tx1"/>
                </a:solidFill>
                <a:latin typeface="+mn-lt"/>
                <a:ea typeface="+mn-ea"/>
                <a:cs typeface="+mn-cs"/>
              </a:rPr>
              <a:t>apt</a:t>
            </a:r>
            <a:r>
              <a:rPr lang="ru-RU" sz="1200" kern="1200" dirty="0">
                <a:solidFill>
                  <a:schemeClr val="tx1"/>
                </a:solidFill>
                <a:latin typeface="+mn-lt"/>
                <a:ea typeface="+mn-ea"/>
                <a:cs typeface="+mn-cs"/>
              </a:rPr>
              <a:t> </a:t>
            </a:r>
            <a:r>
              <a:rPr lang="ru-RU" sz="1200" kern="1200" dirty="0" err="1">
                <a:solidFill>
                  <a:schemeClr val="tx1"/>
                </a:solidFill>
                <a:latin typeface="+mn-lt"/>
                <a:ea typeface="+mn-ea"/>
                <a:cs typeface="+mn-cs"/>
              </a:rPr>
              <a:t>update</a:t>
            </a:r>
            <a:r>
              <a:rPr lang="ru-RU" dirty="0"/>
              <a:t> будет выполнена с правами суперпользователя, но пользователь останется в своей сессии. Система попросит ввести пароль текущего пользователя — при условии, что он входит в группу </a:t>
            </a:r>
            <a:r>
              <a:rPr lang="ru-RU" sz="1200" kern="1200" dirty="0" err="1">
                <a:solidFill>
                  <a:schemeClr val="tx1"/>
                </a:solidFill>
                <a:latin typeface="+mn-lt"/>
                <a:ea typeface="+mn-ea"/>
                <a:cs typeface="+mn-cs"/>
              </a:rPr>
              <a:t>sudo</a:t>
            </a:r>
            <a:r>
              <a:rPr lang="ru-RU" dirty="0"/>
              <a:t>.</a:t>
            </a:r>
            <a:endParaRPr lang="en-US" dirty="0"/>
          </a:p>
          <a:p>
            <a:endParaRPr lang="ru-RU" b="1" dirty="0"/>
          </a:p>
          <a:p>
            <a:r>
              <a:rPr lang="ru-RU" b="1" dirty="0"/>
              <a:t>Различие</a:t>
            </a:r>
            <a:br>
              <a:rPr lang="ru-RU" dirty="0"/>
            </a:br>
            <a:r>
              <a:rPr lang="ru-RU" dirty="0"/>
              <a:t>Главное отличие в том, что </a:t>
            </a:r>
            <a:r>
              <a:rPr lang="ru-RU" sz="1200" kern="1200" dirty="0" err="1">
                <a:solidFill>
                  <a:schemeClr val="tx1"/>
                </a:solidFill>
                <a:latin typeface="+mn-lt"/>
                <a:ea typeface="+mn-ea"/>
                <a:cs typeface="+mn-cs"/>
              </a:rPr>
              <a:t>su</a:t>
            </a:r>
            <a:r>
              <a:rPr lang="ru-RU" dirty="0"/>
              <a:t> переключает пользователя и открывает новую сессию, а </a:t>
            </a:r>
            <a:r>
              <a:rPr lang="ru-RU" sz="1200" kern="1200" dirty="0" err="1">
                <a:solidFill>
                  <a:schemeClr val="tx1"/>
                </a:solidFill>
                <a:latin typeface="+mn-lt"/>
                <a:ea typeface="+mn-ea"/>
                <a:cs typeface="+mn-cs"/>
              </a:rPr>
              <a:t>sudo</a:t>
            </a:r>
            <a:r>
              <a:rPr lang="ru-RU" dirty="0"/>
              <a:t> просто даёт временные права </a:t>
            </a:r>
            <a:r>
              <a:rPr lang="ru-RU" dirty="0" err="1"/>
              <a:t>root</a:t>
            </a:r>
            <a:r>
              <a:rPr lang="ru-RU" dirty="0"/>
              <a:t> для одной команды. Поэтому </a:t>
            </a:r>
            <a:r>
              <a:rPr lang="ru-RU" sz="1200" kern="1200" dirty="0" err="1">
                <a:solidFill>
                  <a:schemeClr val="tx1"/>
                </a:solidFill>
                <a:latin typeface="+mn-lt"/>
                <a:ea typeface="+mn-ea"/>
                <a:cs typeface="+mn-cs"/>
              </a:rPr>
              <a:t>sudo</a:t>
            </a:r>
            <a:r>
              <a:rPr lang="ru-RU" dirty="0"/>
              <a:t> считается более безопасным и удобным способом администрирования.</a:t>
            </a:r>
            <a:endParaRPr lang="en-US" dirty="0"/>
          </a:p>
          <a:p>
            <a:endParaRPr lang="en-US" dirty="0"/>
          </a:p>
        </p:txBody>
      </p:sp>
      <p:sp>
        <p:nvSpPr>
          <p:cNvPr id="4" name="Slide Number Placeholder 3"/>
          <p:cNvSpPr>
            <a:spLocks noGrp="1"/>
          </p:cNvSpPr>
          <p:nvPr>
            <p:ph type="sldNum" sz="quarter" idx="5"/>
          </p:nvPr>
        </p:nvSpPr>
        <p:spPr/>
        <p:txBody>
          <a:bodyPr/>
          <a:lstStyle/>
          <a:p>
            <a:fld id="{A3EE74EF-BE85-44F3-968F-E74DD74A629E}" type="slidenum">
              <a:rPr lang="en-US" smtClean="0"/>
              <a:t>8</a:t>
            </a:fld>
            <a:endParaRPr lang="en-US"/>
          </a:p>
        </p:txBody>
      </p:sp>
    </p:spTree>
    <p:extLst>
      <p:ext uri="{BB962C8B-B14F-4D97-AF65-F5344CB8AC3E}">
        <p14:creationId xmlns:p14="http://schemas.microsoft.com/office/powerpoint/2010/main" val="21362367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Команда </a:t>
            </a:r>
            <a:r>
              <a:rPr lang="ru-RU" sz="1200" kern="1200" dirty="0" err="1">
                <a:solidFill>
                  <a:schemeClr val="tx1"/>
                </a:solidFill>
                <a:latin typeface="+mn-lt"/>
                <a:ea typeface="+mn-ea"/>
                <a:cs typeface="+mn-cs"/>
              </a:rPr>
              <a:t>whoami</a:t>
            </a:r>
            <a:r>
              <a:rPr lang="ru-RU" dirty="0"/>
              <a:t> просто выводит имя текущего пользователя. Это удобно для быстрых проверок.</a:t>
            </a:r>
            <a:endParaRPr lang="en-US" dirty="0"/>
          </a:p>
          <a:p>
            <a:endParaRPr lang="en-US" dirty="0"/>
          </a:p>
          <a:p>
            <a:r>
              <a:rPr lang="ru-RU" dirty="0"/>
              <a:t>Команда </a:t>
            </a:r>
            <a:r>
              <a:rPr lang="ru-RU" sz="1200" kern="1200" dirty="0" err="1">
                <a:solidFill>
                  <a:schemeClr val="tx1"/>
                </a:solidFill>
                <a:latin typeface="+mn-lt"/>
                <a:ea typeface="+mn-ea"/>
                <a:cs typeface="+mn-cs"/>
              </a:rPr>
              <a:t>id</a:t>
            </a:r>
            <a:r>
              <a:rPr lang="ru-RU" dirty="0"/>
              <a:t> показывает уникальный идентификатор пользователя (UID), идентификатор группы (GID) и список всех групп</a:t>
            </a:r>
            <a:endParaRPr lang="en-US" dirty="0"/>
          </a:p>
          <a:p>
            <a:endParaRPr lang="en-US" dirty="0"/>
          </a:p>
          <a:p>
            <a:r>
              <a:rPr lang="ru-RU" dirty="0"/>
              <a:t>Здесь видно, что пользователь </a:t>
            </a:r>
            <a:r>
              <a:rPr lang="en-US" i="1" dirty="0"/>
              <a:t>vivid</a:t>
            </a:r>
            <a:r>
              <a:rPr lang="ru-RU" dirty="0"/>
              <a:t> имеет UID=1000, состоит в основной группе с GID=1000 и также входит в группу </a:t>
            </a:r>
            <a:r>
              <a:rPr lang="ru-RU" i="1" dirty="0" err="1"/>
              <a:t>sudo</a:t>
            </a:r>
            <a:r>
              <a:rPr lang="ru-RU" dirty="0"/>
              <a:t>.</a:t>
            </a:r>
            <a:endParaRPr lang="en-US" dirty="0"/>
          </a:p>
          <a:p>
            <a:endParaRPr lang="en-US" dirty="0"/>
          </a:p>
          <a:p>
            <a:r>
              <a:rPr lang="ru-RU" dirty="0"/>
              <a:t>При выполнении этих же команд через </a:t>
            </a:r>
            <a:r>
              <a:rPr lang="en-US" dirty="0" err="1"/>
              <a:t>sudo</a:t>
            </a:r>
            <a:r>
              <a:rPr lang="ru-RU" dirty="0"/>
              <a:t>, происходит переключение на другого пользователя на время выполнения команды.</a:t>
            </a:r>
            <a:endParaRPr lang="en-US" dirty="0"/>
          </a:p>
        </p:txBody>
      </p:sp>
      <p:sp>
        <p:nvSpPr>
          <p:cNvPr id="4" name="Slide Number Placeholder 3"/>
          <p:cNvSpPr>
            <a:spLocks noGrp="1"/>
          </p:cNvSpPr>
          <p:nvPr>
            <p:ph type="sldNum" sz="quarter" idx="5"/>
          </p:nvPr>
        </p:nvSpPr>
        <p:spPr/>
        <p:txBody>
          <a:bodyPr/>
          <a:lstStyle/>
          <a:p>
            <a:fld id="{A3EE74EF-BE85-44F3-968F-E74DD74A629E}" type="slidenum">
              <a:rPr lang="en-US" smtClean="0"/>
              <a:t>9</a:t>
            </a:fld>
            <a:endParaRPr lang="en-US"/>
          </a:p>
        </p:txBody>
      </p:sp>
    </p:spTree>
    <p:extLst>
      <p:ext uri="{BB962C8B-B14F-4D97-AF65-F5344CB8AC3E}">
        <p14:creationId xmlns:p14="http://schemas.microsoft.com/office/powerpoint/2010/main" val="6561118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Теперь</a:t>
            </a:r>
            <a:r>
              <a:rPr lang="en-US" dirty="0"/>
              <a:t> </a:t>
            </a:r>
            <a:r>
              <a:rPr lang="en-US" dirty="0" err="1"/>
              <a:t>посмотрим</a:t>
            </a:r>
            <a:r>
              <a:rPr lang="en-US" dirty="0"/>
              <a:t>, </a:t>
            </a:r>
            <a:r>
              <a:rPr lang="en-US" dirty="0" err="1"/>
              <a:t>что</a:t>
            </a:r>
            <a:r>
              <a:rPr lang="en-US" dirty="0"/>
              <a:t> </a:t>
            </a:r>
            <a:r>
              <a:rPr lang="en-US" dirty="0" err="1"/>
              <a:t>происходит</a:t>
            </a:r>
            <a:r>
              <a:rPr lang="en-US" dirty="0"/>
              <a:t> с </a:t>
            </a:r>
            <a:r>
              <a:rPr lang="en-US" dirty="0" err="1"/>
              <a:t>процессами</a:t>
            </a:r>
            <a:r>
              <a:rPr lang="en-US" dirty="0"/>
              <a:t>, </a:t>
            </a:r>
            <a:r>
              <a:rPr lang="en-US" dirty="0" err="1"/>
              <a:t>когда</a:t>
            </a:r>
            <a:r>
              <a:rPr lang="en-US" dirty="0"/>
              <a:t> </a:t>
            </a:r>
            <a:r>
              <a:rPr lang="en-US" dirty="0" err="1"/>
              <a:t>мы</a:t>
            </a:r>
            <a:r>
              <a:rPr lang="en-US" dirty="0"/>
              <a:t> </a:t>
            </a:r>
            <a:r>
              <a:rPr lang="en-US" dirty="0" err="1"/>
              <a:t>запускаем</a:t>
            </a:r>
            <a:r>
              <a:rPr lang="en-US" dirty="0"/>
              <a:t> </a:t>
            </a:r>
            <a:r>
              <a:rPr lang="en-US" dirty="0" err="1"/>
              <a:t>команду</a:t>
            </a:r>
            <a:r>
              <a:rPr lang="en-US" dirty="0"/>
              <a:t> </a:t>
            </a:r>
            <a:r>
              <a:rPr lang="en-US" dirty="0" err="1"/>
              <a:t>через</a:t>
            </a:r>
            <a:r>
              <a:rPr lang="en-US" dirty="0"/>
              <a:t> </a:t>
            </a:r>
            <a:r>
              <a:rPr lang="en-US" sz="1200" kern="1200" dirty="0" err="1">
                <a:solidFill>
                  <a:schemeClr val="tx1"/>
                </a:solidFill>
                <a:latin typeface="+mn-lt"/>
                <a:ea typeface="+mn-ea"/>
                <a:cs typeface="+mn-cs"/>
              </a:rPr>
              <a:t>sudo</a:t>
            </a:r>
            <a:r>
              <a:rPr lang="en-US" dirty="0"/>
              <a:t>.</a:t>
            </a:r>
            <a:endParaRPr lang="ru-RU" dirty="0"/>
          </a:p>
          <a:p>
            <a:endParaRPr lang="en-US" dirty="0"/>
          </a:p>
          <a:p>
            <a:r>
              <a:rPr lang="en-US" dirty="0" err="1"/>
              <a:t>Обратите</a:t>
            </a:r>
            <a:r>
              <a:rPr lang="en-US" dirty="0"/>
              <a:t> </a:t>
            </a:r>
            <a:r>
              <a:rPr lang="en-US" dirty="0" err="1"/>
              <a:t>внимание</a:t>
            </a:r>
            <a:r>
              <a:rPr lang="en-US" dirty="0"/>
              <a:t> </a:t>
            </a:r>
            <a:r>
              <a:rPr lang="en-US" dirty="0" err="1"/>
              <a:t>на</a:t>
            </a:r>
            <a:r>
              <a:rPr lang="en-US" dirty="0"/>
              <a:t> </a:t>
            </a:r>
            <a:r>
              <a:rPr lang="en-US" dirty="0" err="1"/>
              <a:t>приглашение</a:t>
            </a:r>
            <a:r>
              <a:rPr lang="en-US" dirty="0"/>
              <a:t> </a:t>
            </a:r>
            <a:r>
              <a:rPr lang="en-US" dirty="0" err="1"/>
              <a:t>командной</a:t>
            </a:r>
            <a:r>
              <a:rPr lang="en-US" dirty="0"/>
              <a:t> </a:t>
            </a:r>
            <a:r>
              <a:rPr lang="en-US" dirty="0" err="1"/>
              <a:t>строки</a:t>
            </a:r>
            <a:r>
              <a:rPr lang="en-US" dirty="0"/>
              <a:t>: </a:t>
            </a:r>
            <a:r>
              <a:rPr lang="en-US" dirty="0" err="1"/>
              <a:t>оболочка</a:t>
            </a:r>
            <a:r>
              <a:rPr lang="en-US" dirty="0"/>
              <a:t> </a:t>
            </a:r>
            <a:r>
              <a:rPr lang="en-US" sz="1200" kern="1200" dirty="0">
                <a:solidFill>
                  <a:schemeClr val="tx1"/>
                </a:solidFill>
                <a:latin typeface="+mn-lt"/>
                <a:ea typeface="+mn-ea"/>
                <a:cs typeface="+mn-cs"/>
              </a:rPr>
              <a:t>bash</a:t>
            </a:r>
            <a:r>
              <a:rPr lang="en-US" dirty="0"/>
              <a:t> </a:t>
            </a:r>
            <a:r>
              <a:rPr lang="en-US" dirty="0" err="1"/>
              <a:t>запущена</a:t>
            </a:r>
            <a:r>
              <a:rPr lang="en-US" dirty="0"/>
              <a:t> </a:t>
            </a:r>
            <a:r>
              <a:rPr lang="en-US" dirty="0" err="1"/>
              <a:t>от</a:t>
            </a:r>
            <a:r>
              <a:rPr lang="en-US" dirty="0"/>
              <a:t> </a:t>
            </a:r>
            <a:r>
              <a:rPr lang="en-US" dirty="0" err="1"/>
              <a:t>имени</a:t>
            </a:r>
            <a:r>
              <a:rPr lang="en-US" dirty="0"/>
              <a:t> </a:t>
            </a:r>
            <a:r>
              <a:rPr lang="en-US" dirty="0" err="1"/>
              <a:t>пользователя</a:t>
            </a:r>
            <a:r>
              <a:rPr lang="en-US" dirty="0"/>
              <a:t> </a:t>
            </a:r>
            <a:r>
              <a:rPr lang="en-US" sz="1200" kern="1200" dirty="0">
                <a:solidFill>
                  <a:schemeClr val="tx1"/>
                </a:solidFill>
                <a:latin typeface="+mn-lt"/>
                <a:ea typeface="+mn-ea"/>
                <a:cs typeface="+mn-cs"/>
              </a:rPr>
              <a:t>vivid</a:t>
            </a:r>
            <a:r>
              <a:rPr lang="en-US" dirty="0"/>
              <a:t>. В </a:t>
            </a:r>
            <a:r>
              <a:rPr lang="en-US" dirty="0" err="1"/>
              <a:t>дереве</a:t>
            </a:r>
            <a:r>
              <a:rPr lang="en-US" dirty="0"/>
              <a:t> </a:t>
            </a:r>
            <a:r>
              <a:rPr lang="en-US" dirty="0" err="1"/>
              <a:t>процессов</a:t>
            </a:r>
            <a:r>
              <a:rPr lang="en-US" dirty="0"/>
              <a:t> </a:t>
            </a:r>
            <a:r>
              <a:rPr lang="en-US" dirty="0" err="1"/>
              <a:t>она</a:t>
            </a:r>
            <a:r>
              <a:rPr lang="en-US" dirty="0"/>
              <a:t> </a:t>
            </a:r>
            <a:r>
              <a:rPr lang="en-US" dirty="0" err="1"/>
              <a:t>тоже</a:t>
            </a:r>
            <a:r>
              <a:rPr lang="en-US" dirty="0"/>
              <a:t> </a:t>
            </a:r>
            <a:r>
              <a:rPr lang="en-US" dirty="0" err="1"/>
              <a:t>отображается</a:t>
            </a:r>
            <a:r>
              <a:rPr lang="en-US" dirty="0"/>
              <a:t> с </a:t>
            </a:r>
            <a:r>
              <a:rPr lang="en-US" dirty="0" err="1"/>
              <a:t>пользователем</a:t>
            </a:r>
            <a:r>
              <a:rPr lang="en-US" dirty="0"/>
              <a:t> </a:t>
            </a:r>
            <a:r>
              <a:rPr lang="en-US" sz="1200" kern="1200" dirty="0">
                <a:solidFill>
                  <a:schemeClr val="tx1"/>
                </a:solidFill>
                <a:latin typeface="+mn-lt"/>
                <a:ea typeface="+mn-ea"/>
                <a:cs typeface="+mn-cs"/>
              </a:rPr>
              <a:t>vivid</a:t>
            </a:r>
            <a:r>
              <a:rPr lang="en-US" dirty="0"/>
              <a:t>.</a:t>
            </a:r>
            <a:endParaRPr lang="ru-RU" dirty="0"/>
          </a:p>
          <a:p>
            <a:endParaRPr lang="en-US" dirty="0"/>
          </a:p>
          <a:p>
            <a:r>
              <a:rPr lang="en-US" dirty="0" err="1"/>
              <a:t>Теперь</a:t>
            </a:r>
            <a:r>
              <a:rPr lang="en-US" dirty="0"/>
              <a:t> </a:t>
            </a:r>
            <a:r>
              <a:rPr lang="en-US" dirty="0" err="1"/>
              <a:t>из</a:t>
            </a:r>
            <a:r>
              <a:rPr lang="en-US" dirty="0"/>
              <a:t> </a:t>
            </a:r>
            <a:r>
              <a:rPr lang="en-US" dirty="0" err="1"/>
              <a:t>этой</a:t>
            </a:r>
            <a:r>
              <a:rPr lang="en-US" dirty="0"/>
              <a:t> </a:t>
            </a:r>
            <a:r>
              <a:rPr lang="en-US" dirty="0" err="1"/>
              <a:t>оболочки</a:t>
            </a:r>
            <a:r>
              <a:rPr lang="en-US" dirty="0"/>
              <a:t> </a:t>
            </a:r>
            <a:r>
              <a:rPr lang="en-US" dirty="0" err="1"/>
              <a:t>мы</a:t>
            </a:r>
            <a:r>
              <a:rPr lang="en-US" dirty="0"/>
              <a:t> </a:t>
            </a:r>
            <a:r>
              <a:rPr lang="en-US" dirty="0" err="1"/>
              <a:t>выполняем</a:t>
            </a:r>
            <a:r>
              <a:rPr lang="en-US" dirty="0"/>
              <a:t>:</a:t>
            </a:r>
          </a:p>
          <a:p>
            <a:r>
              <a:rPr lang="en-US" sz="1200" kern="1200" dirty="0" err="1">
                <a:solidFill>
                  <a:schemeClr val="tx1"/>
                </a:solidFill>
                <a:latin typeface="+mn-lt"/>
                <a:ea typeface="+mn-ea"/>
                <a:cs typeface="+mn-cs"/>
              </a:rPr>
              <a:t>sudo</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ps</a:t>
            </a:r>
            <a:r>
              <a:rPr lang="en-US" sz="1200" kern="1200" dirty="0">
                <a:solidFill>
                  <a:schemeClr val="tx1"/>
                </a:solidFill>
                <a:latin typeface="+mn-lt"/>
                <a:ea typeface="+mn-ea"/>
                <a:cs typeface="+mn-cs"/>
              </a:rPr>
              <a:t> aux –forest</a:t>
            </a:r>
            <a:endParaRPr lang="ru-RU" sz="1200" kern="1200" dirty="0">
              <a:solidFill>
                <a:schemeClr val="tx1"/>
              </a:solidFill>
              <a:latin typeface="+mn-lt"/>
              <a:ea typeface="+mn-ea"/>
              <a:cs typeface="+mn-cs"/>
            </a:endParaRPr>
          </a:p>
          <a:p>
            <a:endParaRPr lang="en-US" dirty="0"/>
          </a:p>
          <a:p>
            <a:r>
              <a:rPr lang="en-US" dirty="0" err="1"/>
              <a:t>Команда</a:t>
            </a:r>
            <a:r>
              <a:rPr lang="en-US" dirty="0"/>
              <a:t> </a:t>
            </a:r>
            <a:r>
              <a:rPr lang="en-US" sz="1200" kern="1200" dirty="0" err="1">
                <a:solidFill>
                  <a:schemeClr val="tx1"/>
                </a:solidFill>
                <a:latin typeface="+mn-lt"/>
                <a:ea typeface="+mn-ea"/>
                <a:cs typeface="+mn-cs"/>
              </a:rPr>
              <a:t>sudo</a:t>
            </a:r>
            <a:r>
              <a:rPr lang="en-US" dirty="0"/>
              <a:t> </a:t>
            </a:r>
            <a:r>
              <a:rPr lang="en-US" dirty="0" err="1"/>
              <a:t>проверяет</a:t>
            </a:r>
            <a:r>
              <a:rPr lang="en-US" dirty="0"/>
              <a:t>, </a:t>
            </a:r>
            <a:r>
              <a:rPr lang="en-US" dirty="0" err="1"/>
              <a:t>разрешено</a:t>
            </a:r>
            <a:r>
              <a:rPr lang="en-US" dirty="0"/>
              <a:t> </a:t>
            </a:r>
            <a:r>
              <a:rPr lang="en-US" dirty="0" err="1"/>
              <a:t>ли</a:t>
            </a:r>
            <a:r>
              <a:rPr lang="en-US" dirty="0"/>
              <a:t> </a:t>
            </a:r>
            <a:r>
              <a:rPr lang="en-US" dirty="0" err="1"/>
              <a:t>текущему</a:t>
            </a:r>
            <a:r>
              <a:rPr lang="en-US" dirty="0"/>
              <a:t> </a:t>
            </a:r>
            <a:r>
              <a:rPr lang="en-US" dirty="0" err="1"/>
              <a:t>пользователю</a:t>
            </a:r>
            <a:r>
              <a:rPr lang="en-US" dirty="0"/>
              <a:t> </a:t>
            </a:r>
            <a:r>
              <a:rPr lang="en-US" dirty="0" err="1"/>
              <a:t>выполнять</a:t>
            </a:r>
            <a:r>
              <a:rPr lang="en-US" dirty="0"/>
              <a:t> </a:t>
            </a:r>
            <a:r>
              <a:rPr lang="en-US" dirty="0" err="1"/>
              <a:t>эту</a:t>
            </a:r>
            <a:r>
              <a:rPr lang="en-US" dirty="0"/>
              <a:t> </a:t>
            </a:r>
            <a:r>
              <a:rPr lang="en-US" dirty="0" err="1"/>
              <a:t>операцию</a:t>
            </a:r>
            <a:r>
              <a:rPr lang="en-US" dirty="0"/>
              <a:t> с </a:t>
            </a:r>
            <a:r>
              <a:rPr lang="en-US" dirty="0" err="1"/>
              <a:t>повышенными</a:t>
            </a:r>
            <a:r>
              <a:rPr lang="en-US" dirty="0"/>
              <a:t> </a:t>
            </a:r>
            <a:r>
              <a:rPr lang="en-US" dirty="0" err="1"/>
              <a:t>привилегиями</a:t>
            </a:r>
            <a:r>
              <a:rPr lang="en-US" dirty="0"/>
              <a:t>. </a:t>
            </a:r>
            <a:r>
              <a:rPr lang="en-US" dirty="0" err="1"/>
              <a:t>При</a:t>
            </a:r>
            <a:r>
              <a:rPr lang="en-US" dirty="0"/>
              <a:t> </a:t>
            </a:r>
            <a:r>
              <a:rPr lang="en-US" dirty="0" err="1"/>
              <a:t>необходимости</a:t>
            </a:r>
            <a:r>
              <a:rPr lang="en-US" dirty="0"/>
              <a:t> </a:t>
            </a:r>
            <a:r>
              <a:rPr lang="en-US" dirty="0" err="1"/>
              <a:t>она</a:t>
            </a:r>
            <a:r>
              <a:rPr lang="en-US" dirty="0"/>
              <a:t> </a:t>
            </a:r>
            <a:r>
              <a:rPr lang="en-US" dirty="0" err="1"/>
              <a:t>запрашивает</a:t>
            </a:r>
            <a:r>
              <a:rPr lang="en-US" dirty="0"/>
              <a:t> </a:t>
            </a:r>
            <a:r>
              <a:rPr lang="en-US" dirty="0" err="1"/>
              <a:t>пароль</a:t>
            </a:r>
            <a:r>
              <a:rPr lang="en-US" dirty="0"/>
              <a:t> </a:t>
            </a:r>
            <a:r>
              <a:rPr lang="en-US" dirty="0" err="1"/>
              <a:t>пользователя</a:t>
            </a:r>
            <a:r>
              <a:rPr lang="en-US" dirty="0"/>
              <a:t>.</a:t>
            </a:r>
            <a:endParaRPr lang="ru-RU" dirty="0"/>
          </a:p>
          <a:p>
            <a:endParaRPr lang="en-US" dirty="0"/>
          </a:p>
          <a:p>
            <a:r>
              <a:rPr lang="en-US" dirty="0" err="1"/>
              <a:t>После</a:t>
            </a:r>
            <a:r>
              <a:rPr lang="en-US" dirty="0"/>
              <a:t> </a:t>
            </a:r>
            <a:r>
              <a:rPr lang="en-US" dirty="0" err="1"/>
              <a:t>успешной</a:t>
            </a:r>
            <a:r>
              <a:rPr lang="en-US" dirty="0"/>
              <a:t> </a:t>
            </a:r>
            <a:r>
              <a:rPr lang="en-US" dirty="0" err="1"/>
              <a:t>проверки</a:t>
            </a:r>
            <a:r>
              <a:rPr lang="en-US" dirty="0"/>
              <a:t> </a:t>
            </a:r>
            <a:r>
              <a:rPr lang="en-US" dirty="0" err="1"/>
              <a:t>запускаемая</a:t>
            </a:r>
            <a:r>
              <a:rPr lang="en-US" dirty="0"/>
              <a:t> </a:t>
            </a:r>
            <a:r>
              <a:rPr lang="en-US" dirty="0" err="1"/>
              <a:t>команда</a:t>
            </a:r>
            <a:r>
              <a:rPr lang="en-US" dirty="0"/>
              <a:t> </a:t>
            </a:r>
            <a:r>
              <a:rPr lang="en-US" dirty="0" err="1"/>
              <a:t>выполняется</a:t>
            </a:r>
            <a:r>
              <a:rPr lang="en-US" dirty="0"/>
              <a:t> </a:t>
            </a:r>
            <a:r>
              <a:rPr lang="en-US" dirty="0" err="1"/>
              <a:t>уже</a:t>
            </a:r>
            <a:r>
              <a:rPr lang="en-US" dirty="0"/>
              <a:t> с </a:t>
            </a:r>
            <a:r>
              <a:rPr lang="en-US" dirty="0" err="1"/>
              <a:t>другими</a:t>
            </a:r>
            <a:r>
              <a:rPr lang="en-US" dirty="0"/>
              <a:t> </a:t>
            </a:r>
            <a:r>
              <a:rPr lang="en-US" dirty="0" err="1"/>
              <a:t>учётными</a:t>
            </a:r>
            <a:r>
              <a:rPr lang="en-US" dirty="0"/>
              <a:t> </a:t>
            </a:r>
            <a:r>
              <a:rPr lang="en-US" dirty="0" err="1"/>
              <a:t>данными</a:t>
            </a:r>
            <a:r>
              <a:rPr lang="en-US" dirty="0"/>
              <a:t> — в </a:t>
            </a:r>
            <a:r>
              <a:rPr lang="en-US" dirty="0" err="1"/>
              <a:t>данном</a:t>
            </a:r>
            <a:r>
              <a:rPr lang="en-US" dirty="0"/>
              <a:t> </a:t>
            </a:r>
            <a:r>
              <a:rPr lang="en-US" dirty="0" err="1"/>
              <a:t>случае</a:t>
            </a:r>
            <a:r>
              <a:rPr lang="en-US" dirty="0"/>
              <a:t> </a:t>
            </a:r>
            <a:r>
              <a:rPr lang="en-US" dirty="0" err="1"/>
              <a:t>от</a:t>
            </a:r>
            <a:r>
              <a:rPr lang="en-US" dirty="0"/>
              <a:t> </a:t>
            </a:r>
            <a:r>
              <a:rPr lang="en-US" dirty="0" err="1"/>
              <a:t>имени</a:t>
            </a:r>
            <a:r>
              <a:rPr lang="en-US" dirty="0"/>
              <a:t> </a:t>
            </a:r>
            <a:r>
              <a:rPr lang="en-US" sz="1200" kern="1200" dirty="0">
                <a:solidFill>
                  <a:schemeClr val="tx1"/>
                </a:solidFill>
                <a:latin typeface="+mn-lt"/>
                <a:ea typeface="+mn-ea"/>
                <a:cs typeface="+mn-cs"/>
              </a:rPr>
              <a:t>root</a:t>
            </a:r>
            <a:r>
              <a:rPr lang="en-US" dirty="0"/>
              <a:t>.</a:t>
            </a:r>
            <a:endParaRPr lang="ru-RU" dirty="0"/>
          </a:p>
          <a:p>
            <a:endParaRPr lang="en-US" dirty="0"/>
          </a:p>
          <a:p>
            <a:r>
              <a:rPr lang="en-US" dirty="0"/>
              <a:t>Это </a:t>
            </a:r>
            <a:r>
              <a:rPr lang="en-US" dirty="0" err="1"/>
              <a:t>хорошо</a:t>
            </a:r>
            <a:r>
              <a:rPr lang="en-US" dirty="0"/>
              <a:t> </a:t>
            </a:r>
            <a:r>
              <a:rPr lang="en-US" dirty="0" err="1"/>
              <a:t>видно</a:t>
            </a:r>
            <a:r>
              <a:rPr lang="en-US" dirty="0"/>
              <a:t> </a:t>
            </a:r>
            <a:r>
              <a:rPr lang="en-US" dirty="0" err="1"/>
              <a:t>прямо</a:t>
            </a:r>
            <a:r>
              <a:rPr lang="en-US" dirty="0"/>
              <a:t> в </a:t>
            </a:r>
            <a:r>
              <a:rPr lang="en-US" dirty="0" err="1"/>
              <a:t>дереве</a:t>
            </a:r>
            <a:r>
              <a:rPr lang="en-US" dirty="0"/>
              <a:t> </a:t>
            </a:r>
            <a:r>
              <a:rPr lang="en-US" dirty="0" err="1"/>
              <a:t>процессов</a:t>
            </a:r>
            <a:r>
              <a:rPr lang="en-US" dirty="0"/>
              <a:t>. </a:t>
            </a:r>
            <a:r>
              <a:rPr lang="en-US" dirty="0" err="1"/>
              <a:t>Родительская</a:t>
            </a:r>
            <a:r>
              <a:rPr lang="en-US" dirty="0"/>
              <a:t> </a:t>
            </a:r>
            <a:r>
              <a:rPr lang="en-US" dirty="0" err="1"/>
              <a:t>оболочка</a:t>
            </a:r>
            <a:r>
              <a:rPr lang="en-US" dirty="0"/>
              <a:t> </a:t>
            </a:r>
            <a:r>
              <a:rPr lang="en-US" sz="1200" kern="1200" dirty="0">
                <a:solidFill>
                  <a:schemeClr val="tx1"/>
                </a:solidFill>
                <a:latin typeface="+mn-lt"/>
                <a:ea typeface="+mn-ea"/>
                <a:cs typeface="+mn-cs"/>
              </a:rPr>
              <a:t>bash</a:t>
            </a:r>
            <a:r>
              <a:rPr lang="en-US" dirty="0"/>
              <a:t> </a:t>
            </a:r>
            <a:r>
              <a:rPr lang="en-US" dirty="0" err="1"/>
              <a:t>по-прежнему</a:t>
            </a:r>
            <a:r>
              <a:rPr lang="en-US" dirty="0"/>
              <a:t> </a:t>
            </a:r>
            <a:r>
              <a:rPr lang="en-US" dirty="0" err="1"/>
              <a:t>принадлежит</a:t>
            </a:r>
            <a:r>
              <a:rPr lang="en-US" dirty="0"/>
              <a:t> </a:t>
            </a:r>
            <a:r>
              <a:rPr lang="en-US" dirty="0" err="1"/>
              <a:t>пользователю</a:t>
            </a:r>
            <a:r>
              <a:rPr lang="en-US" dirty="0"/>
              <a:t> </a:t>
            </a:r>
            <a:r>
              <a:rPr lang="en-US" sz="1200" kern="1200" dirty="0">
                <a:solidFill>
                  <a:schemeClr val="tx1"/>
                </a:solidFill>
                <a:latin typeface="+mn-lt"/>
                <a:ea typeface="+mn-ea"/>
                <a:cs typeface="+mn-cs"/>
              </a:rPr>
              <a:t>vivid</a:t>
            </a:r>
            <a:r>
              <a:rPr lang="en-US" dirty="0"/>
              <a:t>, </a:t>
            </a:r>
            <a:r>
              <a:rPr lang="en-US" dirty="0" err="1"/>
              <a:t>то</a:t>
            </a:r>
            <a:r>
              <a:rPr lang="en-US" dirty="0"/>
              <a:t> </a:t>
            </a:r>
            <a:r>
              <a:rPr lang="en-US" dirty="0" err="1"/>
              <a:t>есть</a:t>
            </a:r>
            <a:r>
              <a:rPr lang="en-US" dirty="0"/>
              <a:t> </a:t>
            </a:r>
            <a:r>
              <a:rPr lang="en-US" sz="1200" kern="1200" dirty="0" err="1">
                <a:solidFill>
                  <a:schemeClr val="tx1"/>
                </a:solidFill>
                <a:latin typeface="+mn-lt"/>
                <a:ea typeface="+mn-ea"/>
                <a:cs typeface="+mn-cs"/>
              </a:rPr>
              <a:t>sudo</a:t>
            </a:r>
            <a:r>
              <a:rPr lang="en-US" dirty="0"/>
              <a:t> </a:t>
            </a:r>
            <a:r>
              <a:rPr lang="en-US" dirty="0" err="1"/>
              <a:t>не</a:t>
            </a:r>
            <a:r>
              <a:rPr lang="en-US" dirty="0"/>
              <a:t> </a:t>
            </a:r>
            <a:r>
              <a:rPr lang="en-US" dirty="0" err="1"/>
              <a:t>превращает</a:t>
            </a:r>
            <a:r>
              <a:rPr lang="en-US" dirty="0"/>
              <a:t> </a:t>
            </a:r>
            <a:r>
              <a:rPr lang="en-US" dirty="0" err="1"/>
              <a:t>всю</a:t>
            </a:r>
            <a:r>
              <a:rPr lang="en-US" dirty="0"/>
              <a:t> </a:t>
            </a:r>
            <a:r>
              <a:rPr lang="en-US" dirty="0" err="1"/>
              <a:t>нашу</a:t>
            </a:r>
            <a:r>
              <a:rPr lang="en-US" dirty="0"/>
              <a:t> </a:t>
            </a:r>
            <a:r>
              <a:rPr lang="en-US" dirty="0" err="1"/>
              <a:t>текущую</a:t>
            </a:r>
            <a:r>
              <a:rPr lang="en-US" dirty="0"/>
              <a:t> </a:t>
            </a:r>
            <a:r>
              <a:rPr lang="en-US" dirty="0" err="1"/>
              <a:t>сессию</a:t>
            </a:r>
            <a:r>
              <a:rPr lang="en-US" dirty="0"/>
              <a:t> в </a:t>
            </a:r>
            <a:r>
              <a:rPr lang="en-US" dirty="0" err="1"/>
              <a:t>сессию</a:t>
            </a:r>
            <a:r>
              <a:rPr lang="en-US" dirty="0"/>
              <a:t> </a:t>
            </a:r>
            <a:r>
              <a:rPr lang="en-US" sz="1200" kern="1200" dirty="0">
                <a:solidFill>
                  <a:schemeClr val="tx1"/>
                </a:solidFill>
                <a:latin typeface="+mn-lt"/>
                <a:ea typeface="+mn-ea"/>
                <a:cs typeface="+mn-cs"/>
              </a:rPr>
              <a:t>root</a:t>
            </a:r>
            <a:r>
              <a:rPr lang="en-US" dirty="0"/>
              <a:t>.</a:t>
            </a:r>
            <a:endParaRPr lang="ru-RU" dirty="0"/>
          </a:p>
          <a:p>
            <a:endParaRPr lang="en-US" dirty="0"/>
          </a:p>
          <a:p>
            <a:r>
              <a:rPr lang="en-US" dirty="0" err="1"/>
              <a:t>Но</a:t>
            </a:r>
            <a:r>
              <a:rPr lang="en-US" dirty="0"/>
              <a:t> </a:t>
            </a:r>
            <a:r>
              <a:rPr lang="en-US" dirty="0" err="1"/>
              <a:t>ниже</a:t>
            </a:r>
            <a:r>
              <a:rPr lang="en-US" dirty="0"/>
              <a:t> в </a:t>
            </a:r>
            <a:r>
              <a:rPr lang="en-US" dirty="0" err="1"/>
              <a:t>дереве</a:t>
            </a:r>
            <a:r>
              <a:rPr lang="en-US" dirty="0"/>
              <a:t> </a:t>
            </a:r>
            <a:r>
              <a:rPr lang="en-US" dirty="0" err="1"/>
              <a:t>появляются</a:t>
            </a:r>
            <a:r>
              <a:rPr lang="en-US" dirty="0"/>
              <a:t> </a:t>
            </a:r>
            <a:r>
              <a:rPr lang="en-US" dirty="0" err="1"/>
              <a:t>процессы</a:t>
            </a:r>
            <a:r>
              <a:rPr lang="en-US" dirty="0"/>
              <a:t> </a:t>
            </a:r>
            <a:r>
              <a:rPr lang="en-US" sz="1200" kern="1200" dirty="0" err="1">
                <a:solidFill>
                  <a:schemeClr val="tx1"/>
                </a:solidFill>
                <a:latin typeface="+mn-lt"/>
                <a:ea typeface="+mn-ea"/>
                <a:cs typeface="+mn-cs"/>
              </a:rPr>
              <a:t>sudo</a:t>
            </a:r>
            <a:r>
              <a:rPr lang="en-US" dirty="0"/>
              <a:t>, а </a:t>
            </a:r>
            <a:r>
              <a:rPr lang="en-US" dirty="0" err="1"/>
              <a:t>затем</a:t>
            </a:r>
            <a:r>
              <a:rPr lang="en-US" dirty="0"/>
              <a:t> </a:t>
            </a:r>
            <a:r>
              <a:rPr lang="en-US" dirty="0" err="1"/>
              <a:t>сам</a:t>
            </a:r>
            <a:r>
              <a:rPr lang="en-US" dirty="0"/>
              <a:t> </a:t>
            </a:r>
            <a:r>
              <a:rPr lang="en-US" sz="1200" kern="1200" dirty="0" err="1">
                <a:solidFill>
                  <a:schemeClr val="tx1"/>
                </a:solidFill>
                <a:latin typeface="+mn-lt"/>
                <a:ea typeface="+mn-ea"/>
                <a:cs typeface="+mn-cs"/>
              </a:rPr>
              <a:t>ps</a:t>
            </a:r>
            <a:r>
              <a:rPr lang="en-US" dirty="0"/>
              <a:t>, и в </a:t>
            </a:r>
            <a:r>
              <a:rPr lang="en-US" dirty="0" err="1"/>
              <a:t>столбце</a:t>
            </a:r>
            <a:r>
              <a:rPr lang="en-US" dirty="0"/>
              <a:t> </a:t>
            </a:r>
            <a:r>
              <a:rPr lang="en-US" sz="1200" kern="1200" dirty="0">
                <a:solidFill>
                  <a:schemeClr val="tx1"/>
                </a:solidFill>
                <a:latin typeface="+mn-lt"/>
                <a:ea typeface="+mn-ea"/>
                <a:cs typeface="+mn-cs"/>
              </a:rPr>
              <a:t>USER</a:t>
            </a:r>
            <a:r>
              <a:rPr lang="en-US" dirty="0"/>
              <a:t> </a:t>
            </a:r>
            <a:r>
              <a:rPr lang="en-US" dirty="0" err="1"/>
              <a:t>для</a:t>
            </a:r>
            <a:r>
              <a:rPr lang="en-US" dirty="0"/>
              <a:t> </a:t>
            </a:r>
            <a:r>
              <a:rPr lang="en-US" dirty="0" err="1"/>
              <a:t>них</a:t>
            </a:r>
            <a:r>
              <a:rPr lang="en-US" dirty="0"/>
              <a:t> </a:t>
            </a:r>
            <a:r>
              <a:rPr lang="en-US" dirty="0" err="1"/>
              <a:t>мы</a:t>
            </a:r>
            <a:r>
              <a:rPr lang="en-US" dirty="0"/>
              <a:t> </a:t>
            </a:r>
            <a:r>
              <a:rPr lang="en-US" dirty="0" err="1"/>
              <a:t>уже</a:t>
            </a:r>
            <a:r>
              <a:rPr lang="en-US" dirty="0"/>
              <a:t> </a:t>
            </a:r>
            <a:r>
              <a:rPr lang="en-US" dirty="0" err="1"/>
              <a:t>видим</a:t>
            </a:r>
            <a:r>
              <a:rPr lang="en-US" dirty="0"/>
              <a:t> </a:t>
            </a:r>
            <a:r>
              <a:rPr lang="en-US" sz="1200" kern="1200" dirty="0">
                <a:solidFill>
                  <a:schemeClr val="tx1"/>
                </a:solidFill>
                <a:latin typeface="+mn-lt"/>
                <a:ea typeface="+mn-ea"/>
                <a:cs typeface="+mn-cs"/>
              </a:rPr>
              <a:t>root</a:t>
            </a:r>
            <a:r>
              <a:rPr lang="en-US" dirty="0"/>
              <a:t>.</a:t>
            </a:r>
          </a:p>
          <a:p>
            <a:r>
              <a:rPr lang="en-US" dirty="0" err="1"/>
              <a:t>То</a:t>
            </a:r>
            <a:r>
              <a:rPr lang="en-US" dirty="0"/>
              <a:t> </a:t>
            </a:r>
            <a:r>
              <a:rPr lang="en-US" dirty="0" err="1"/>
              <a:t>есть</a:t>
            </a:r>
            <a:r>
              <a:rPr lang="en-US" dirty="0"/>
              <a:t> </a:t>
            </a:r>
            <a:r>
              <a:rPr lang="en-US" dirty="0" err="1"/>
              <a:t>повышение</a:t>
            </a:r>
            <a:r>
              <a:rPr lang="en-US" dirty="0"/>
              <a:t> </a:t>
            </a:r>
            <a:r>
              <a:rPr lang="en-US" dirty="0" err="1"/>
              <a:t>привилегий</a:t>
            </a:r>
            <a:r>
              <a:rPr lang="en-US" dirty="0"/>
              <a:t> </a:t>
            </a:r>
            <a:r>
              <a:rPr lang="en-US" dirty="0" err="1"/>
              <a:t>относится</a:t>
            </a:r>
            <a:r>
              <a:rPr lang="en-US" dirty="0"/>
              <a:t> к </a:t>
            </a:r>
            <a:r>
              <a:rPr lang="en-US" dirty="0" err="1"/>
              <a:t>запускаемой</a:t>
            </a:r>
            <a:r>
              <a:rPr lang="en-US" dirty="0"/>
              <a:t> </a:t>
            </a:r>
            <a:r>
              <a:rPr lang="en-US" dirty="0" err="1"/>
              <a:t>через</a:t>
            </a:r>
            <a:r>
              <a:rPr lang="en-US" dirty="0"/>
              <a:t> </a:t>
            </a:r>
            <a:r>
              <a:rPr lang="en-US" sz="1200" kern="1200" dirty="0" err="1">
                <a:solidFill>
                  <a:schemeClr val="tx1"/>
                </a:solidFill>
                <a:latin typeface="+mn-lt"/>
                <a:ea typeface="+mn-ea"/>
                <a:cs typeface="+mn-cs"/>
              </a:rPr>
              <a:t>sudo</a:t>
            </a:r>
            <a:r>
              <a:rPr lang="en-US" dirty="0"/>
              <a:t> </a:t>
            </a:r>
            <a:r>
              <a:rPr lang="en-US" dirty="0" err="1"/>
              <a:t>команде</a:t>
            </a:r>
            <a:r>
              <a:rPr lang="en-US" dirty="0"/>
              <a:t>, а </a:t>
            </a:r>
            <a:r>
              <a:rPr lang="en-US" dirty="0" err="1"/>
              <a:t>не</a:t>
            </a:r>
            <a:r>
              <a:rPr lang="en-US" dirty="0"/>
              <a:t> </a:t>
            </a:r>
            <a:r>
              <a:rPr lang="en-US" dirty="0" err="1"/>
              <a:t>ко</a:t>
            </a:r>
            <a:r>
              <a:rPr lang="en-US" dirty="0"/>
              <a:t> </a:t>
            </a:r>
            <a:r>
              <a:rPr lang="en-US" dirty="0" err="1"/>
              <a:t>всем</a:t>
            </a:r>
            <a:r>
              <a:rPr lang="en-US" dirty="0"/>
              <a:t> </a:t>
            </a:r>
            <a:r>
              <a:rPr lang="en-US" dirty="0" err="1"/>
              <a:t>процессам</a:t>
            </a:r>
            <a:r>
              <a:rPr lang="en-US" dirty="0"/>
              <a:t> </a:t>
            </a:r>
            <a:r>
              <a:rPr lang="en-US" dirty="0" err="1"/>
              <a:t>пользователя</a:t>
            </a:r>
            <a:r>
              <a:rPr lang="en-US" dirty="0"/>
              <a:t>.</a:t>
            </a:r>
            <a:endParaRPr lang="ru-RU" dirty="0"/>
          </a:p>
          <a:p>
            <a:endParaRPr lang="en-US" dirty="0"/>
          </a:p>
          <a:p>
            <a:r>
              <a:rPr lang="en-US" dirty="0"/>
              <a:t>В </a:t>
            </a:r>
            <a:r>
              <a:rPr lang="en-US" dirty="0" err="1"/>
              <a:t>этом</a:t>
            </a:r>
            <a:r>
              <a:rPr lang="en-US" dirty="0"/>
              <a:t> </a:t>
            </a:r>
            <a:r>
              <a:rPr lang="en-US" dirty="0" err="1"/>
              <a:t>конкретном</a:t>
            </a:r>
            <a:r>
              <a:rPr lang="en-US" dirty="0"/>
              <a:t> </a:t>
            </a:r>
            <a:r>
              <a:rPr lang="en-US" dirty="0" err="1"/>
              <a:t>выводе</a:t>
            </a:r>
            <a:r>
              <a:rPr lang="en-US" dirty="0"/>
              <a:t> </a:t>
            </a:r>
            <a:r>
              <a:rPr lang="en-US" dirty="0" err="1"/>
              <a:t>между</a:t>
            </a:r>
            <a:r>
              <a:rPr lang="en-US" dirty="0"/>
              <a:t> </a:t>
            </a:r>
            <a:r>
              <a:rPr lang="en-US" sz="1200" kern="1200" dirty="0">
                <a:solidFill>
                  <a:schemeClr val="tx1"/>
                </a:solidFill>
                <a:latin typeface="+mn-lt"/>
                <a:ea typeface="+mn-ea"/>
                <a:cs typeface="+mn-cs"/>
              </a:rPr>
              <a:t>bash</a:t>
            </a:r>
            <a:r>
              <a:rPr lang="en-US" dirty="0"/>
              <a:t> и </a:t>
            </a:r>
            <a:r>
              <a:rPr lang="en-US" sz="1200" kern="1200" dirty="0" err="1">
                <a:solidFill>
                  <a:schemeClr val="tx1"/>
                </a:solidFill>
                <a:latin typeface="+mn-lt"/>
                <a:ea typeface="+mn-ea"/>
                <a:cs typeface="+mn-cs"/>
              </a:rPr>
              <a:t>ps</a:t>
            </a:r>
            <a:r>
              <a:rPr lang="en-US" dirty="0"/>
              <a:t> </a:t>
            </a:r>
            <a:r>
              <a:rPr lang="en-US" dirty="0" err="1"/>
              <a:t>видно</a:t>
            </a:r>
            <a:r>
              <a:rPr lang="en-US" dirty="0"/>
              <a:t> </a:t>
            </a:r>
            <a:r>
              <a:rPr lang="en-US" dirty="0" err="1"/>
              <a:t>несколько</a:t>
            </a:r>
            <a:r>
              <a:rPr lang="en-US" dirty="0"/>
              <a:t> </a:t>
            </a:r>
            <a:r>
              <a:rPr lang="en-US" dirty="0" err="1"/>
              <a:t>процессов</a:t>
            </a:r>
            <a:r>
              <a:rPr lang="en-US" dirty="0"/>
              <a:t> </a:t>
            </a:r>
            <a:r>
              <a:rPr lang="en-US" sz="1200" kern="1200" dirty="0" err="1">
                <a:solidFill>
                  <a:schemeClr val="tx1"/>
                </a:solidFill>
                <a:latin typeface="+mn-lt"/>
                <a:ea typeface="+mn-ea"/>
                <a:cs typeface="+mn-cs"/>
              </a:rPr>
              <a:t>sudo</a:t>
            </a:r>
            <a:r>
              <a:rPr lang="en-US" dirty="0"/>
              <a:t>. Это </a:t>
            </a:r>
            <a:r>
              <a:rPr lang="en-US" dirty="0" err="1"/>
              <a:t>внутренние</a:t>
            </a:r>
            <a:r>
              <a:rPr lang="en-US" dirty="0"/>
              <a:t> </a:t>
            </a:r>
            <a:r>
              <a:rPr lang="en-US" dirty="0" err="1"/>
              <a:t>детали</a:t>
            </a:r>
            <a:r>
              <a:rPr lang="en-US" dirty="0"/>
              <a:t> </a:t>
            </a:r>
            <a:r>
              <a:rPr lang="en-US" dirty="0" err="1"/>
              <a:t>реализации</a:t>
            </a:r>
            <a:r>
              <a:rPr lang="en-US" dirty="0"/>
              <a:t> и </a:t>
            </a:r>
            <a:r>
              <a:rPr lang="en-US" dirty="0" err="1"/>
              <a:t>конфигурации</a:t>
            </a:r>
            <a:r>
              <a:rPr lang="en-US" dirty="0"/>
              <a:t> </a:t>
            </a:r>
            <a:r>
              <a:rPr lang="en-US" sz="1200" kern="1200" dirty="0" err="1">
                <a:solidFill>
                  <a:schemeClr val="tx1"/>
                </a:solidFill>
                <a:latin typeface="+mn-lt"/>
                <a:ea typeface="+mn-ea"/>
                <a:cs typeface="+mn-cs"/>
              </a:rPr>
              <a:t>sudo</a:t>
            </a:r>
            <a:r>
              <a:rPr lang="en-US" dirty="0"/>
              <a:t>; </a:t>
            </a:r>
            <a:r>
              <a:rPr lang="en-US" dirty="0" err="1"/>
              <a:t>для</a:t>
            </a:r>
            <a:r>
              <a:rPr lang="en-US" dirty="0"/>
              <a:t> </a:t>
            </a:r>
            <a:r>
              <a:rPr lang="en-US" dirty="0" err="1"/>
              <a:t>нас</a:t>
            </a:r>
            <a:r>
              <a:rPr lang="en-US" dirty="0"/>
              <a:t> </a:t>
            </a:r>
            <a:r>
              <a:rPr lang="en-US" dirty="0" err="1"/>
              <a:t>сейчас</a:t>
            </a:r>
            <a:r>
              <a:rPr lang="en-US" dirty="0"/>
              <a:t> </a:t>
            </a:r>
            <a:r>
              <a:rPr lang="en-US" dirty="0" err="1"/>
              <a:t>важна</a:t>
            </a:r>
            <a:r>
              <a:rPr lang="en-US" dirty="0"/>
              <a:t> </a:t>
            </a:r>
            <a:r>
              <a:rPr lang="en-US" dirty="0" err="1"/>
              <a:t>общая</a:t>
            </a:r>
            <a:r>
              <a:rPr lang="en-US" dirty="0"/>
              <a:t> </a:t>
            </a:r>
            <a:r>
              <a:rPr lang="en-US" dirty="0" err="1"/>
              <a:t>цепочка</a:t>
            </a:r>
            <a:r>
              <a:rPr lang="en-US" dirty="0"/>
              <a:t>: </a:t>
            </a:r>
            <a:r>
              <a:rPr lang="en-US" dirty="0" err="1"/>
              <a:t>обычный</a:t>
            </a:r>
            <a:r>
              <a:rPr lang="en-US" dirty="0"/>
              <a:t> </a:t>
            </a:r>
            <a:r>
              <a:rPr lang="en-US" dirty="0" err="1"/>
              <a:t>пользователь</a:t>
            </a:r>
            <a:r>
              <a:rPr lang="en-US" dirty="0"/>
              <a:t> </a:t>
            </a:r>
            <a:r>
              <a:rPr lang="en-US" dirty="0" err="1"/>
              <a:t>запускает</a:t>
            </a:r>
            <a:r>
              <a:rPr lang="en-US" dirty="0"/>
              <a:t> </a:t>
            </a:r>
            <a:r>
              <a:rPr lang="en-US" sz="1200" kern="1200" dirty="0" err="1">
                <a:solidFill>
                  <a:schemeClr val="tx1"/>
                </a:solidFill>
                <a:latin typeface="+mn-lt"/>
                <a:ea typeface="+mn-ea"/>
                <a:cs typeface="+mn-cs"/>
              </a:rPr>
              <a:t>sudo</a:t>
            </a:r>
            <a:r>
              <a:rPr lang="en-US" dirty="0"/>
              <a:t>, а </a:t>
            </a:r>
            <a:r>
              <a:rPr lang="en-US" sz="1200" kern="1200" dirty="0" err="1">
                <a:solidFill>
                  <a:schemeClr val="tx1"/>
                </a:solidFill>
                <a:latin typeface="+mn-lt"/>
                <a:ea typeface="+mn-ea"/>
                <a:cs typeface="+mn-cs"/>
              </a:rPr>
              <a:t>sudo</a:t>
            </a:r>
            <a:r>
              <a:rPr lang="en-US" dirty="0"/>
              <a:t> </a:t>
            </a:r>
            <a:r>
              <a:rPr lang="en-US" dirty="0" err="1"/>
              <a:t>организует</a:t>
            </a:r>
            <a:r>
              <a:rPr lang="en-US" dirty="0"/>
              <a:t> </a:t>
            </a:r>
            <a:r>
              <a:rPr lang="en-US" dirty="0" err="1"/>
              <a:t>выполнение</a:t>
            </a:r>
            <a:r>
              <a:rPr lang="en-US" dirty="0"/>
              <a:t> </a:t>
            </a:r>
            <a:r>
              <a:rPr lang="en-US" dirty="0" err="1"/>
              <a:t>нужной</a:t>
            </a:r>
            <a:r>
              <a:rPr lang="en-US" dirty="0"/>
              <a:t> </a:t>
            </a:r>
            <a:r>
              <a:rPr lang="en-US" dirty="0" err="1"/>
              <a:t>программы</a:t>
            </a:r>
            <a:r>
              <a:rPr lang="en-US" dirty="0"/>
              <a:t> с </a:t>
            </a:r>
            <a:r>
              <a:rPr lang="en-US" dirty="0" err="1"/>
              <a:t>повышенными</a:t>
            </a:r>
            <a:r>
              <a:rPr lang="en-US" dirty="0"/>
              <a:t> </a:t>
            </a:r>
            <a:r>
              <a:rPr lang="en-US" dirty="0" err="1"/>
              <a:t>привилегиями</a:t>
            </a:r>
            <a:r>
              <a:rPr lang="en-US" dirty="0"/>
              <a:t>.</a:t>
            </a:r>
            <a:endParaRPr lang="ru-RU" dirty="0"/>
          </a:p>
          <a:p>
            <a:endParaRPr lang="en-US" dirty="0"/>
          </a:p>
          <a:p>
            <a:r>
              <a:rPr lang="en-US" dirty="0"/>
              <a:t>В </a:t>
            </a:r>
            <a:r>
              <a:rPr lang="en-US" dirty="0" err="1"/>
              <a:t>результате</a:t>
            </a:r>
            <a:r>
              <a:rPr lang="en-US" dirty="0"/>
              <a:t> </a:t>
            </a:r>
            <a:r>
              <a:rPr lang="en-US" dirty="0" err="1"/>
              <a:t>получается</a:t>
            </a:r>
            <a:r>
              <a:rPr lang="en-US" dirty="0"/>
              <a:t> </a:t>
            </a:r>
            <a:r>
              <a:rPr lang="en-US" dirty="0" err="1"/>
              <a:t>наглядная</a:t>
            </a:r>
            <a:r>
              <a:rPr lang="en-US" dirty="0"/>
              <a:t> </a:t>
            </a:r>
            <a:r>
              <a:rPr lang="en-US" dirty="0" err="1"/>
              <a:t>связь</a:t>
            </a:r>
            <a:r>
              <a:rPr lang="en-US" dirty="0"/>
              <a:t> с </a:t>
            </a:r>
            <a:r>
              <a:rPr lang="en-US" dirty="0" err="1"/>
              <a:t>предыдущим</a:t>
            </a:r>
            <a:r>
              <a:rPr lang="en-US" dirty="0"/>
              <a:t> </a:t>
            </a:r>
            <a:r>
              <a:rPr lang="en-US" dirty="0" err="1"/>
              <a:t>слайдом</a:t>
            </a:r>
            <a:r>
              <a:rPr lang="en-US" dirty="0"/>
              <a:t>: </a:t>
            </a:r>
            <a:r>
              <a:rPr lang="en-US" dirty="0" err="1"/>
              <a:t>права</a:t>
            </a:r>
            <a:r>
              <a:rPr lang="en-US" dirty="0"/>
              <a:t> </a:t>
            </a:r>
            <a:r>
              <a:rPr lang="en-US" dirty="0" err="1"/>
              <a:t>относятся</a:t>
            </a:r>
            <a:r>
              <a:rPr lang="en-US" dirty="0"/>
              <a:t> </a:t>
            </a:r>
            <a:r>
              <a:rPr lang="en-US" dirty="0" err="1"/>
              <a:t>не</a:t>
            </a:r>
            <a:r>
              <a:rPr lang="en-US" dirty="0"/>
              <a:t> </a:t>
            </a:r>
            <a:r>
              <a:rPr lang="en-US" dirty="0" err="1"/>
              <a:t>просто</a:t>
            </a:r>
            <a:r>
              <a:rPr lang="en-US" dirty="0"/>
              <a:t> к </a:t>
            </a:r>
            <a:r>
              <a:rPr lang="en-US" dirty="0" err="1"/>
              <a:t>человеку</a:t>
            </a:r>
            <a:r>
              <a:rPr lang="en-US" dirty="0"/>
              <a:t> </a:t>
            </a:r>
            <a:r>
              <a:rPr lang="en-US" dirty="0" err="1"/>
              <a:t>как</a:t>
            </a:r>
            <a:r>
              <a:rPr lang="en-US" dirty="0"/>
              <a:t> </a:t>
            </a:r>
            <a:r>
              <a:rPr lang="en-US" dirty="0" err="1"/>
              <a:t>таковому</a:t>
            </a:r>
            <a:r>
              <a:rPr lang="en-US" dirty="0"/>
              <a:t>. </a:t>
            </a:r>
            <a:r>
              <a:rPr lang="en-US" dirty="0" err="1"/>
              <a:t>Ядро</a:t>
            </a:r>
            <a:r>
              <a:rPr lang="en-US" dirty="0"/>
              <a:t> </a:t>
            </a:r>
            <a:r>
              <a:rPr lang="en-US" dirty="0" err="1"/>
              <a:t>проверяет</a:t>
            </a:r>
            <a:r>
              <a:rPr lang="en-US" dirty="0"/>
              <a:t> </a:t>
            </a:r>
            <a:r>
              <a:rPr lang="en-US" dirty="0" err="1"/>
              <a:t>учётные</a:t>
            </a:r>
            <a:r>
              <a:rPr lang="en-US" dirty="0"/>
              <a:t> </a:t>
            </a:r>
            <a:r>
              <a:rPr lang="en-US" dirty="0" err="1"/>
              <a:t>данные</a:t>
            </a:r>
            <a:r>
              <a:rPr lang="en-US" dirty="0"/>
              <a:t> </a:t>
            </a:r>
            <a:r>
              <a:rPr lang="en-US" dirty="0" err="1"/>
              <a:t>конкретного</a:t>
            </a:r>
            <a:r>
              <a:rPr lang="en-US" dirty="0"/>
              <a:t> </a:t>
            </a:r>
            <a:r>
              <a:rPr lang="en-US" dirty="0" err="1"/>
              <a:t>процесса</a:t>
            </a:r>
            <a:r>
              <a:rPr lang="en-US" dirty="0"/>
              <a:t>. </a:t>
            </a:r>
            <a:r>
              <a:rPr lang="en-US" dirty="0" err="1"/>
              <a:t>Поэтому</a:t>
            </a:r>
            <a:r>
              <a:rPr lang="en-US" dirty="0"/>
              <a:t> </a:t>
            </a:r>
            <a:r>
              <a:rPr lang="en-US" dirty="0" err="1"/>
              <a:t>два</a:t>
            </a:r>
            <a:r>
              <a:rPr lang="en-US" dirty="0"/>
              <a:t> </a:t>
            </a:r>
            <a:r>
              <a:rPr lang="en-US" dirty="0" err="1"/>
              <a:t>процесса</a:t>
            </a:r>
            <a:r>
              <a:rPr lang="en-US" dirty="0"/>
              <a:t> в </a:t>
            </a:r>
            <a:r>
              <a:rPr lang="en-US" dirty="0" err="1"/>
              <a:t>одном</a:t>
            </a:r>
            <a:r>
              <a:rPr lang="en-US" dirty="0"/>
              <a:t> </a:t>
            </a:r>
            <a:r>
              <a:rPr lang="en-US" dirty="0" err="1"/>
              <a:t>дереве</a:t>
            </a:r>
            <a:r>
              <a:rPr lang="en-US" dirty="0"/>
              <a:t> </a:t>
            </a:r>
            <a:r>
              <a:rPr lang="en-US" dirty="0" err="1"/>
              <a:t>могут</a:t>
            </a:r>
            <a:r>
              <a:rPr lang="en-US" dirty="0"/>
              <a:t> </a:t>
            </a:r>
            <a:r>
              <a:rPr lang="en-US" dirty="0" err="1"/>
              <a:t>выполняться</a:t>
            </a:r>
            <a:r>
              <a:rPr lang="en-US" dirty="0"/>
              <a:t> </a:t>
            </a:r>
            <a:r>
              <a:rPr lang="en-US" dirty="0" err="1"/>
              <a:t>от</a:t>
            </a:r>
            <a:r>
              <a:rPr lang="en-US" dirty="0"/>
              <a:t> </a:t>
            </a:r>
            <a:r>
              <a:rPr lang="en-US" dirty="0" err="1"/>
              <a:t>имени</a:t>
            </a:r>
            <a:r>
              <a:rPr lang="en-US" dirty="0"/>
              <a:t> </a:t>
            </a:r>
            <a:r>
              <a:rPr lang="en-US" dirty="0" err="1"/>
              <a:t>разных</a:t>
            </a:r>
            <a:r>
              <a:rPr lang="en-US" dirty="0"/>
              <a:t> </a:t>
            </a:r>
            <a:r>
              <a:rPr lang="en-US" dirty="0" err="1"/>
              <a:t>пользователей</a:t>
            </a:r>
            <a:r>
              <a:rPr lang="en-US" dirty="0"/>
              <a:t> и </a:t>
            </a:r>
            <a:r>
              <a:rPr lang="en-US" dirty="0" err="1"/>
              <a:t>обладать</a:t>
            </a:r>
            <a:r>
              <a:rPr lang="en-US" dirty="0"/>
              <a:t> </a:t>
            </a:r>
            <a:r>
              <a:rPr lang="en-US" dirty="0" err="1"/>
              <a:t>разными</a:t>
            </a:r>
            <a:r>
              <a:rPr lang="en-US" dirty="0"/>
              <a:t> </a:t>
            </a:r>
            <a:r>
              <a:rPr lang="en-US" dirty="0" err="1"/>
              <a:t>правами</a:t>
            </a:r>
            <a:r>
              <a:rPr lang="en-US" dirty="0"/>
              <a:t>.</a:t>
            </a:r>
            <a:endParaRPr lang="ru-RU" dirty="0"/>
          </a:p>
          <a:p>
            <a:endParaRPr lang="en-US" dirty="0"/>
          </a:p>
          <a:p>
            <a:r>
              <a:rPr lang="en-US" dirty="0" err="1"/>
              <a:t>После</a:t>
            </a:r>
            <a:r>
              <a:rPr lang="en-US" dirty="0"/>
              <a:t> </a:t>
            </a:r>
            <a:r>
              <a:rPr lang="en-US" dirty="0" err="1"/>
              <a:t>завершения</a:t>
            </a:r>
            <a:r>
              <a:rPr lang="en-US" dirty="0"/>
              <a:t> </a:t>
            </a:r>
            <a:r>
              <a:rPr lang="en-US" sz="1200" kern="1200" dirty="0" err="1">
                <a:solidFill>
                  <a:schemeClr val="tx1"/>
                </a:solidFill>
                <a:latin typeface="+mn-lt"/>
                <a:ea typeface="+mn-ea"/>
                <a:cs typeface="+mn-cs"/>
              </a:rPr>
              <a:t>ps</a:t>
            </a:r>
            <a:r>
              <a:rPr lang="en-US" dirty="0"/>
              <a:t> </a:t>
            </a:r>
            <a:r>
              <a:rPr lang="en-US" dirty="0" err="1"/>
              <a:t>мы</a:t>
            </a:r>
            <a:r>
              <a:rPr lang="en-US" dirty="0"/>
              <a:t> </a:t>
            </a:r>
            <a:r>
              <a:rPr lang="en-US" dirty="0" err="1"/>
              <a:t>снова</a:t>
            </a:r>
            <a:r>
              <a:rPr lang="en-US" dirty="0"/>
              <a:t> </a:t>
            </a:r>
            <a:r>
              <a:rPr lang="en-US" dirty="0" err="1"/>
              <a:t>возвращаемся</a:t>
            </a:r>
            <a:r>
              <a:rPr lang="en-US" dirty="0"/>
              <a:t> в </a:t>
            </a:r>
            <a:r>
              <a:rPr lang="en-US" dirty="0" err="1"/>
              <a:t>ту</a:t>
            </a:r>
            <a:r>
              <a:rPr lang="en-US" dirty="0"/>
              <a:t> </a:t>
            </a:r>
            <a:r>
              <a:rPr lang="en-US" dirty="0" err="1"/>
              <a:t>же</a:t>
            </a:r>
            <a:r>
              <a:rPr lang="en-US" dirty="0"/>
              <a:t> </a:t>
            </a:r>
            <a:r>
              <a:rPr lang="en-US" dirty="0" err="1"/>
              <a:t>оболочку</a:t>
            </a:r>
            <a:r>
              <a:rPr lang="en-US" dirty="0"/>
              <a:t> </a:t>
            </a:r>
            <a:r>
              <a:rPr lang="en-US" sz="1200" kern="1200" dirty="0">
                <a:solidFill>
                  <a:schemeClr val="tx1"/>
                </a:solidFill>
                <a:latin typeface="+mn-lt"/>
                <a:ea typeface="+mn-ea"/>
                <a:cs typeface="+mn-cs"/>
              </a:rPr>
              <a:t>bash</a:t>
            </a:r>
            <a:r>
              <a:rPr lang="en-US" dirty="0"/>
              <a:t>, </a:t>
            </a:r>
            <a:r>
              <a:rPr lang="en-US" dirty="0" err="1"/>
              <a:t>которая</a:t>
            </a:r>
            <a:r>
              <a:rPr lang="en-US" dirty="0"/>
              <a:t> </a:t>
            </a:r>
            <a:r>
              <a:rPr lang="en-US" dirty="0" err="1"/>
              <a:t>как</a:t>
            </a:r>
            <a:r>
              <a:rPr lang="en-US" dirty="0"/>
              <a:t> </a:t>
            </a:r>
            <a:r>
              <a:rPr lang="en-US" dirty="0" err="1"/>
              <a:t>была</a:t>
            </a:r>
            <a:r>
              <a:rPr lang="en-US" dirty="0"/>
              <a:t> </a:t>
            </a:r>
            <a:r>
              <a:rPr lang="en-US" dirty="0" err="1"/>
              <a:t>процессом</a:t>
            </a:r>
            <a:r>
              <a:rPr lang="en-US" dirty="0"/>
              <a:t> </a:t>
            </a:r>
            <a:r>
              <a:rPr lang="en-US" dirty="0" err="1"/>
              <a:t>пользователя</a:t>
            </a:r>
            <a:r>
              <a:rPr lang="en-US" dirty="0"/>
              <a:t> </a:t>
            </a:r>
            <a:r>
              <a:rPr lang="en-US" sz="1200" kern="1200" dirty="0">
                <a:solidFill>
                  <a:schemeClr val="tx1"/>
                </a:solidFill>
                <a:latin typeface="+mn-lt"/>
                <a:ea typeface="+mn-ea"/>
                <a:cs typeface="+mn-cs"/>
              </a:rPr>
              <a:t>vivid</a:t>
            </a:r>
            <a:r>
              <a:rPr lang="en-US" dirty="0"/>
              <a:t>, </a:t>
            </a:r>
            <a:r>
              <a:rPr lang="en-US" dirty="0" err="1"/>
              <a:t>так</a:t>
            </a:r>
            <a:r>
              <a:rPr lang="en-US" dirty="0"/>
              <a:t> </a:t>
            </a:r>
            <a:r>
              <a:rPr lang="en-US" dirty="0" err="1"/>
              <a:t>им</a:t>
            </a:r>
            <a:r>
              <a:rPr lang="en-US" dirty="0"/>
              <a:t> и </a:t>
            </a:r>
            <a:r>
              <a:rPr lang="en-US" dirty="0" err="1"/>
              <a:t>остаётся</a:t>
            </a:r>
            <a:r>
              <a:rPr lang="en-US" dirty="0"/>
              <a:t>.</a:t>
            </a:r>
          </a:p>
          <a:p>
            <a:endParaRPr lang="en-US" dirty="0"/>
          </a:p>
        </p:txBody>
      </p:sp>
      <p:sp>
        <p:nvSpPr>
          <p:cNvPr id="4" name="Slide Number Placeholder 3"/>
          <p:cNvSpPr>
            <a:spLocks noGrp="1"/>
          </p:cNvSpPr>
          <p:nvPr>
            <p:ph type="sldNum" sz="quarter" idx="5"/>
          </p:nvPr>
        </p:nvSpPr>
        <p:spPr/>
        <p:txBody>
          <a:bodyPr/>
          <a:lstStyle/>
          <a:p>
            <a:fld id="{A3EE74EF-BE85-44F3-968F-E74DD74A629E}" type="slidenum">
              <a:rPr lang="en-US" smtClean="0"/>
              <a:t>10</a:t>
            </a:fld>
            <a:endParaRPr lang="en-US"/>
          </a:p>
        </p:txBody>
      </p:sp>
    </p:spTree>
    <p:extLst>
      <p:ext uri="{BB962C8B-B14F-4D97-AF65-F5344CB8AC3E}">
        <p14:creationId xmlns:p14="http://schemas.microsoft.com/office/powerpoint/2010/main" val="4606270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Теперь</a:t>
            </a:r>
            <a:r>
              <a:rPr lang="en-US" dirty="0"/>
              <a:t> </a:t>
            </a:r>
            <a:r>
              <a:rPr lang="en-US" dirty="0" err="1"/>
              <a:t>посмотрим</a:t>
            </a:r>
            <a:r>
              <a:rPr lang="en-US" dirty="0"/>
              <a:t>, </a:t>
            </a:r>
            <a:r>
              <a:rPr lang="en-US" dirty="0" err="1"/>
              <a:t>где</a:t>
            </a:r>
            <a:r>
              <a:rPr lang="en-US" dirty="0"/>
              <a:t> в Linux </a:t>
            </a:r>
            <a:r>
              <a:rPr lang="en-US" dirty="0" err="1"/>
              <a:t>хранится</a:t>
            </a:r>
            <a:r>
              <a:rPr lang="en-US" dirty="0"/>
              <a:t> </a:t>
            </a:r>
            <a:r>
              <a:rPr lang="en-US" dirty="0" err="1"/>
              <a:t>базовая</a:t>
            </a:r>
            <a:r>
              <a:rPr lang="en-US" dirty="0"/>
              <a:t> </a:t>
            </a:r>
            <a:r>
              <a:rPr lang="en-US" dirty="0" err="1"/>
              <a:t>информация</a:t>
            </a:r>
            <a:r>
              <a:rPr lang="en-US" dirty="0"/>
              <a:t> </a:t>
            </a:r>
            <a:r>
              <a:rPr lang="en-US" dirty="0" err="1"/>
              <a:t>об</a:t>
            </a:r>
            <a:r>
              <a:rPr lang="en-US" dirty="0"/>
              <a:t> </a:t>
            </a:r>
            <a:r>
              <a:rPr lang="en-US" dirty="0" err="1"/>
              <a:t>учётных</a:t>
            </a:r>
            <a:r>
              <a:rPr lang="en-US" dirty="0"/>
              <a:t> </a:t>
            </a:r>
            <a:r>
              <a:rPr lang="en-US" dirty="0" err="1"/>
              <a:t>записях</a:t>
            </a:r>
            <a:r>
              <a:rPr lang="en-US" dirty="0"/>
              <a:t> </a:t>
            </a:r>
            <a:r>
              <a:rPr lang="en-US" dirty="0" err="1"/>
              <a:t>пользователей</a:t>
            </a:r>
            <a:r>
              <a:rPr lang="en-US" dirty="0"/>
              <a:t>.</a:t>
            </a:r>
          </a:p>
          <a:p>
            <a:r>
              <a:rPr lang="en-US" dirty="0" err="1"/>
              <a:t>Для</a:t>
            </a:r>
            <a:r>
              <a:rPr lang="en-US" dirty="0"/>
              <a:t> </a:t>
            </a:r>
            <a:r>
              <a:rPr lang="en-US" dirty="0" err="1"/>
              <a:t>этого</a:t>
            </a:r>
            <a:r>
              <a:rPr lang="en-US" dirty="0"/>
              <a:t> </a:t>
            </a:r>
            <a:r>
              <a:rPr lang="en-US" dirty="0" err="1"/>
              <a:t>можно</a:t>
            </a:r>
            <a:r>
              <a:rPr lang="en-US" dirty="0"/>
              <a:t> </a:t>
            </a:r>
            <a:r>
              <a:rPr lang="en-US" dirty="0" err="1"/>
              <a:t>вывести</a:t>
            </a:r>
            <a:r>
              <a:rPr lang="en-US" dirty="0"/>
              <a:t> </a:t>
            </a:r>
            <a:r>
              <a:rPr lang="en-US" dirty="0" err="1"/>
              <a:t>содержимое</a:t>
            </a:r>
            <a:r>
              <a:rPr lang="en-US" dirty="0"/>
              <a:t> </a:t>
            </a:r>
            <a:r>
              <a:rPr lang="en-US" dirty="0" err="1"/>
              <a:t>файла</a:t>
            </a:r>
            <a:r>
              <a:rPr lang="en-US" dirty="0"/>
              <a:t>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etc</a:t>
            </a:r>
            <a:r>
              <a:rPr lang="en-US" sz="1200" kern="1200" dirty="0">
                <a:solidFill>
                  <a:schemeClr val="tx1"/>
                </a:solidFill>
                <a:latin typeface="+mn-lt"/>
                <a:ea typeface="+mn-ea"/>
                <a:cs typeface="+mn-cs"/>
              </a:rPr>
              <a:t>/passwd</a:t>
            </a:r>
            <a:r>
              <a:rPr lang="en-US" dirty="0"/>
              <a:t>:</a:t>
            </a:r>
          </a:p>
          <a:p>
            <a:r>
              <a:rPr lang="en-US" sz="1200" kern="1200" dirty="0">
                <a:solidFill>
                  <a:schemeClr val="tx1"/>
                </a:solidFill>
                <a:latin typeface="+mn-lt"/>
                <a:ea typeface="+mn-ea"/>
                <a:cs typeface="+mn-cs"/>
              </a:rPr>
              <a:t>cat /</a:t>
            </a:r>
            <a:r>
              <a:rPr lang="en-US" sz="1200" kern="1200" dirty="0" err="1">
                <a:solidFill>
                  <a:schemeClr val="tx1"/>
                </a:solidFill>
                <a:latin typeface="+mn-lt"/>
                <a:ea typeface="+mn-ea"/>
                <a:cs typeface="+mn-cs"/>
              </a:rPr>
              <a:t>etc</a:t>
            </a:r>
            <a:r>
              <a:rPr lang="en-US" sz="1200" kern="1200" dirty="0">
                <a:solidFill>
                  <a:schemeClr val="tx1"/>
                </a:solidFill>
                <a:latin typeface="+mn-lt"/>
                <a:ea typeface="+mn-ea"/>
                <a:cs typeface="+mn-cs"/>
              </a:rPr>
              <a:t>/passwd</a:t>
            </a:r>
            <a:endParaRPr lang="ru-RU" sz="1200" kern="1200" dirty="0">
              <a:solidFill>
                <a:schemeClr val="tx1"/>
              </a:solidFill>
              <a:latin typeface="+mn-lt"/>
              <a:ea typeface="+mn-ea"/>
              <a:cs typeface="+mn-cs"/>
            </a:endParaRPr>
          </a:p>
          <a:p>
            <a:endParaRPr lang="en-US" dirty="0"/>
          </a:p>
          <a:p>
            <a:r>
              <a:rPr lang="en-US" dirty="0" err="1"/>
              <a:t>Несмотря</a:t>
            </a:r>
            <a:r>
              <a:rPr lang="en-US" dirty="0"/>
              <a:t> </a:t>
            </a:r>
            <a:r>
              <a:rPr lang="en-US" dirty="0" err="1"/>
              <a:t>на</a:t>
            </a:r>
            <a:r>
              <a:rPr lang="en-US" dirty="0"/>
              <a:t> </a:t>
            </a:r>
            <a:r>
              <a:rPr lang="en-US" dirty="0" err="1"/>
              <a:t>название</a:t>
            </a:r>
            <a:r>
              <a:rPr lang="en-US" dirty="0"/>
              <a:t>, </a:t>
            </a:r>
            <a:r>
              <a:rPr lang="en-US" dirty="0" err="1"/>
              <a:t>современные</a:t>
            </a:r>
            <a:r>
              <a:rPr lang="en-US" dirty="0"/>
              <a:t> </a:t>
            </a:r>
            <a:r>
              <a:rPr lang="en-US" dirty="0" err="1"/>
              <a:t>системы</a:t>
            </a:r>
            <a:r>
              <a:rPr lang="en-US" dirty="0"/>
              <a:t> </a:t>
            </a:r>
            <a:r>
              <a:rPr lang="en-US" dirty="0" err="1"/>
              <a:t>не</a:t>
            </a:r>
            <a:r>
              <a:rPr lang="en-US" dirty="0"/>
              <a:t> </a:t>
            </a:r>
            <a:r>
              <a:rPr lang="en-US" dirty="0" err="1"/>
              <a:t>хранят</a:t>
            </a:r>
            <a:r>
              <a:rPr lang="en-US" dirty="0"/>
              <a:t> </a:t>
            </a:r>
            <a:r>
              <a:rPr lang="en-US" dirty="0" err="1"/>
              <a:t>здесь</a:t>
            </a:r>
            <a:r>
              <a:rPr lang="en-US" dirty="0"/>
              <a:t> </a:t>
            </a:r>
            <a:r>
              <a:rPr lang="en-US" dirty="0" err="1"/>
              <a:t>сами</a:t>
            </a:r>
            <a:r>
              <a:rPr lang="en-US" dirty="0"/>
              <a:t> </a:t>
            </a:r>
            <a:r>
              <a:rPr lang="en-US" dirty="0" err="1"/>
              <a:t>пароли</a:t>
            </a:r>
            <a:r>
              <a:rPr lang="en-US" dirty="0"/>
              <a:t> </a:t>
            </a:r>
            <a:r>
              <a:rPr lang="en-US" dirty="0" err="1"/>
              <a:t>пользователей</a:t>
            </a:r>
            <a:r>
              <a:rPr lang="en-US" dirty="0"/>
              <a:t>. В </a:t>
            </a:r>
            <a:r>
              <a:rPr lang="en-US" dirty="0" err="1"/>
              <a:t>этом</a:t>
            </a:r>
            <a:r>
              <a:rPr lang="en-US" dirty="0"/>
              <a:t> </a:t>
            </a:r>
            <a:r>
              <a:rPr lang="en-US" dirty="0" err="1"/>
              <a:t>файле</a:t>
            </a:r>
            <a:r>
              <a:rPr lang="en-US" dirty="0"/>
              <a:t> </a:t>
            </a:r>
            <a:r>
              <a:rPr lang="en-US" dirty="0" err="1"/>
              <a:t>содержится</a:t>
            </a:r>
            <a:r>
              <a:rPr lang="en-US" dirty="0"/>
              <a:t> </a:t>
            </a:r>
            <a:r>
              <a:rPr lang="en-US" dirty="0" err="1"/>
              <a:t>основная</a:t>
            </a:r>
            <a:r>
              <a:rPr lang="en-US" dirty="0"/>
              <a:t> </a:t>
            </a:r>
            <a:r>
              <a:rPr lang="en-US" dirty="0" err="1"/>
              <a:t>информация</a:t>
            </a:r>
            <a:r>
              <a:rPr lang="en-US" dirty="0"/>
              <a:t> </a:t>
            </a:r>
            <a:r>
              <a:rPr lang="en-US" dirty="0" err="1"/>
              <a:t>об</a:t>
            </a:r>
            <a:r>
              <a:rPr lang="en-US" dirty="0"/>
              <a:t> </a:t>
            </a:r>
            <a:r>
              <a:rPr lang="en-US" dirty="0" err="1"/>
              <a:t>учётных</a:t>
            </a:r>
            <a:r>
              <a:rPr lang="en-US" dirty="0"/>
              <a:t> </a:t>
            </a:r>
            <a:r>
              <a:rPr lang="en-US" dirty="0" err="1"/>
              <a:t>записях</a:t>
            </a:r>
            <a:r>
              <a:rPr lang="en-US" dirty="0"/>
              <a:t>.</a:t>
            </a:r>
          </a:p>
          <a:p>
            <a:r>
              <a:rPr lang="en-US" dirty="0" err="1"/>
              <a:t>Каждая</a:t>
            </a:r>
            <a:r>
              <a:rPr lang="en-US" dirty="0"/>
              <a:t> </a:t>
            </a:r>
            <a:r>
              <a:rPr lang="en-US" dirty="0" err="1"/>
              <a:t>строка</a:t>
            </a:r>
            <a:r>
              <a:rPr lang="en-US" dirty="0"/>
              <a:t> </a:t>
            </a:r>
            <a:r>
              <a:rPr lang="en-US" dirty="0" err="1"/>
              <a:t>соответствует</a:t>
            </a:r>
            <a:r>
              <a:rPr lang="en-US" dirty="0"/>
              <a:t> </a:t>
            </a:r>
            <a:r>
              <a:rPr lang="en-US" dirty="0" err="1"/>
              <a:t>одной</a:t>
            </a:r>
            <a:r>
              <a:rPr lang="en-US" dirty="0"/>
              <a:t> </a:t>
            </a:r>
            <a:r>
              <a:rPr lang="en-US" dirty="0" err="1"/>
              <a:t>учётной</a:t>
            </a:r>
            <a:r>
              <a:rPr lang="en-US" dirty="0"/>
              <a:t> </a:t>
            </a:r>
            <a:r>
              <a:rPr lang="en-US" dirty="0" err="1"/>
              <a:t>записи</a:t>
            </a:r>
            <a:r>
              <a:rPr lang="en-US" dirty="0"/>
              <a:t>, а </a:t>
            </a:r>
            <a:r>
              <a:rPr lang="en-US" dirty="0" err="1"/>
              <a:t>отдельные</a:t>
            </a:r>
            <a:r>
              <a:rPr lang="en-US" dirty="0"/>
              <a:t> </a:t>
            </a:r>
            <a:r>
              <a:rPr lang="en-US" dirty="0" err="1"/>
              <a:t>поля</a:t>
            </a:r>
            <a:r>
              <a:rPr lang="en-US" dirty="0"/>
              <a:t> </a:t>
            </a:r>
            <a:r>
              <a:rPr lang="en-US" dirty="0" err="1"/>
              <a:t>разделены</a:t>
            </a:r>
            <a:r>
              <a:rPr lang="en-US" dirty="0"/>
              <a:t> </a:t>
            </a:r>
            <a:r>
              <a:rPr lang="en-US" dirty="0" err="1"/>
              <a:t>двоеточиями</a:t>
            </a:r>
            <a:r>
              <a:rPr lang="en-US" dirty="0"/>
              <a:t>.</a:t>
            </a:r>
            <a:endParaRPr lang="ru-RU" dirty="0"/>
          </a:p>
          <a:p>
            <a:endParaRPr lang="en-US" dirty="0"/>
          </a:p>
          <a:p>
            <a:r>
              <a:rPr lang="en-US" dirty="0" err="1"/>
              <a:t>Первое</a:t>
            </a:r>
            <a:r>
              <a:rPr lang="en-US" dirty="0"/>
              <a:t> </a:t>
            </a:r>
            <a:r>
              <a:rPr lang="en-US" dirty="0" err="1"/>
              <a:t>поле</a:t>
            </a:r>
            <a:r>
              <a:rPr lang="en-US" dirty="0"/>
              <a:t> — </a:t>
            </a:r>
            <a:r>
              <a:rPr lang="en-US" dirty="0" err="1"/>
              <a:t>имя</a:t>
            </a:r>
            <a:r>
              <a:rPr lang="en-US" dirty="0"/>
              <a:t> </a:t>
            </a:r>
            <a:r>
              <a:rPr lang="en-US" dirty="0" err="1"/>
              <a:t>пользователя</a:t>
            </a:r>
            <a:r>
              <a:rPr lang="en-US" dirty="0"/>
              <a:t>. </a:t>
            </a:r>
            <a:r>
              <a:rPr lang="en-US" dirty="0" err="1"/>
              <a:t>Затем</a:t>
            </a:r>
            <a:r>
              <a:rPr lang="en-US" dirty="0"/>
              <a:t> </a:t>
            </a:r>
            <a:r>
              <a:rPr lang="en-US" dirty="0" err="1"/>
              <a:t>идёт</a:t>
            </a:r>
            <a:r>
              <a:rPr lang="en-US" dirty="0"/>
              <a:t> </a:t>
            </a:r>
            <a:r>
              <a:rPr lang="en-US" dirty="0" err="1"/>
              <a:t>символ</a:t>
            </a:r>
            <a:r>
              <a:rPr lang="en-US" dirty="0"/>
              <a:t> </a:t>
            </a:r>
            <a:r>
              <a:rPr lang="en-US" sz="1200" kern="1200" dirty="0">
                <a:solidFill>
                  <a:schemeClr val="tx1"/>
                </a:solidFill>
                <a:latin typeface="+mn-lt"/>
                <a:ea typeface="+mn-ea"/>
                <a:cs typeface="+mn-cs"/>
              </a:rPr>
              <a:t>x</a:t>
            </a:r>
            <a:r>
              <a:rPr lang="en-US" dirty="0"/>
              <a:t>: </a:t>
            </a:r>
            <a:r>
              <a:rPr lang="en-US" dirty="0" err="1"/>
              <a:t>он</a:t>
            </a:r>
            <a:r>
              <a:rPr lang="en-US" dirty="0"/>
              <a:t> </a:t>
            </a:r>
            <a:r>
              <a:rPr lang="en-US" dirty="0" err="1"/>
              <a:t>означает</a:t>
            </a:r>
            <a:r>
              <a:rPr lang="en-US" dirty="0"/>
              <a:t>, </a:t>
            </a:r>
            <a:r>
              <a:rPr lang="en-US" dirty="0" err="1"/>
              <a:t>что</a:t>
            </a:r>
            <a:r>
              <a:rPr lang="en-US" dirty="0"/>
              <a:t> </a:t>
            </a:r>
            <a:r>
              <a:rPr lang="en-US" dirty="0" err="1"/>
              <a:t>информация</a:t>
            </a:r>
            <a:r>
              <a:rPr lang="en-US" dirty="0"/>
              <a:t> о </a:t>
            </a:r>
            <a:r>
              <a:rPr lang="en-US" dirty="0" err="1"/>
              <a:t>пароле</a:t>
            </a:r>
            <a:r>
              <a:rPr lang="en-US" dirty="0"/>
              <a:t> </a:t>
            </a:r>
            <a:r>
              <a:rPr lang="en-US" dirty="0" err="1"/>
              <a:t>хранится</a:t>
            </a:r>
            <a:r>
              <a:rPr lang="en-US" dirty="0"/>
              <a:t> </a:t>
            </a:r>
            <a:r>
              <a:rPr lang="en-US" dirty="0" err="1"/>
              <a:t>отдельно</a:t>
            </a:r>
            <a:r>
              <a:rPr lang="en-US" dirty="0"/>
              <a:t>, </a:t>
            </a:r>
            <a:r>
              <a:rPr lang="en-US" dirty="0" err="1"/>
              <a:t>обычно</a:t>
            </a:r>
            <a:r>
              <a:rPr lang="en-US" dirty="0"/>
              <a:t> в </a:t>
            </a:r>
            <a:r>
              <a:rPr lang="en-US" dirty="0" err="1"/>
              <a:t>защищённом</a:t>
            </a:r>
            <a:r>
              <a:rPr lang="en-US" dirty="0"/>
              <a:t> </a:t>
            </a:r>
            <a:r>
              <a:rPr lang="en-US" dirty="0" err="1"/>
              <a:t>файле</a:t>
            </a:r>
            <a:r>
              <a:rPr lang="en-US" dirty="0"/>
              <a:t>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etc</a:t>
            </a:r>
            <a:r>
              <a:rPr lang="en-US" sz="1200" kern="1200" dirty="0">
                <a:solidFill>
                  <a:schemeClr val="tx1"/>
                </a:solidFill>
                <a:latin typeface="+mn-lt"/>
                <a:ea typeface="+mn-ea"/>
                <a:cs typeface="+mn-cs"/>
              </a:rPr>
              <a:t>/shadow</a:t>
            </a:r>
            <a:r>
              <a:rPr lang="en-US" dirty="0"/>
              <a:t>.</a:t>
            </a:r>
            <a:endParaRPr lang="ru-RU" dirty="0"/>
          </a:p>
          <a:p>
            <a:endParaRPr lang="en-US" dirty="0"/>
          </a:p>
          <a:p>
            <a:r>
              <a:rPr lang="en-US" dirty="0" err="1"/>
              <a:t>Дальше</a:t>
            </a:r>
            <a:r>
              <a:rPr lang="en-US" dirty="0"/>
              <a:t> </a:t>
            </a:r>
            <a:r>
              <a:rPr lang="en-US" dirty="0" err="1"/>
              <a:t>идут</a:t>
            </a:r>
            <a:r>
              <a:rPr lang="en-US" dirty="0"/>
              <a:t> </a:t>
            </a:r>
            <a:r>
              <a:rPr lang="en-US" sz="1200" kern="1200" dirty="0">
                <a:solidFill>
                  <a:schemeClr val="tx1"/>
                </a:solidFill>
                <a:latin typeface="+mn-lt"/>
                <a:ea typeface="+mn-ea"/>
                <a:cs typeface="+mn-cs"/>
              </a:rPr>
              <a:t>UID</a:t>
            </a:r>
            <a:r>
              <a:rPr lang="en-US" dirty="0"/>
              <a:t> и </a:t>
            </a:r>
            <a:r>
              <a:rPr lang="en-US" sz="1200" kern="1200" dirty="0">
                <a:solidFill>
                  <a:schemeClr val="tx1"/>
                </a:solidFill>
                <a:latin typeface="+mn-lt"/>
                <a:ea typeface="+mn-ea"/>
                <a:cs typeface="+mn-cs"/>
              </a:rPr>
              <a:t>GID</a:t>
            </a:r>
            <a:r>
              <a:rPr lang="en-US" dirty="0"/>
              <a:t> — </a:t>
            </a:r>
            <a:r>
              <a:rPr lang="en-US" dirty="0" err="1"/>
              <a:t>числовые</a:t>
            </a:r>
            <a:r>
              <a:rPr lang="en-US" dirty="0"/>
              <a:t> </a:t>
            </a:r>
            <a:r>
              <a:rPr lang="en-US" dirty="0" err="1"/>
              <a:t>идентификаторы</a:t>
            </a:r>
            <a:r>
              <a:rPr lang="en-US" dirty="0"/>
              <a:t> </a:t>
            </a:r>
            <a:r>
              <a:rPr lang="en-US" dirty="0" err="1"/>
              <a:t>пользователя</a:t>
            </a:r>
            <a:r>
              <a:rPr lang="en-US" dirty="0"/>
              <a:t> и </a:t>
            </a:r>
            <a:r>
              <a:rPr lang="en-US" dirty="0" err="1"/>
              <a:t>его</a:t>
            </a:r>
            <a:r>
              <a:rPr lang="en-US" dirty="0"/>
              <a:t> </a:t>
            </a:r>
            <a:r>
              <a:rPr lang="en-US" dirty="0" err="1"/>
              <a:t>основной</a:t>
            </a:r>
            <a:r>
              <a:rPr lang="en-US" dirty="0"/>
              <a:t> </a:t>
            </a:r>
            <a:r>
              <a:rPr lang="en-US" dirty="0" err="1"/>
              <a:t>группы</a:t>
            </a:r>
            <a:r>
              <a:rPr lang="en-US" dirty="0"/>
              <a:t>.</a:t>
            </a:r>
            <a:endParaRPr lang="ru-RU" dirty="0"/>
          </a:p>
          <a:p>
            <a:endParaRPr lang="en-US" dirty="0"/>
          </a:p>
          <a:p>
            <a:r>
              <a:rPr lang="en-US" dirty="0" err="1"/>
              <a:t>Следующее</a:t>
            </a:r>
            <a:r>
              <a:rPr lang="en-US" dirty="0"/>
              <a:t> </a:t>
            </a:r>
            <a:r>
              <a:rPr lang="en-US" dirty="0" err="1"/>
              <a:t>поле</a:t>
            </a:r>
            <a:r>
              <a:rPr lang="en-US" dirty="0"/>
              <a:t> </a:t>
            </a:r>
            <a:r>
              <a:rPr lang="en-US" dirty="0" err="1"/>
              <a:t>предназначено</a:t>
            </a:r>
            <a:r>
              <a:rPr lang="en-US" dirty="0"/>
              <a:t> </a:t>
            </a:r>
            <a:r>
              <a:rPr lang="en-US" dirty="0" err="1"/>
              <a:t>для</a:t>
            </a:r>
            <a:r>
              <a:rPr lang="en-US" dirty="0"/>
              <a:t> </a:t>
            </a:r>
            <a:r>
              <a:rPr lang="en-US" dirty="0" err="1"/>
              <a:t>дополнительной</a:t>
            </a:r>
            <a:r>
              <a:rPr lang="en-US" dirty="0"/>
              <a:t> </a:t>
            </a:r>
            <a:r>
              <a:rPr lang="en-US" dirty="0" err="1"/>
              <a:t>информации</a:t>
            </a:r>
            <a:r>
              <a:rPr lang="en-US" dirty="0"/>
              <a:t> о </a:t>
            </a:r>
            <a:r>
              <a:rPr lang="en-US" dirty="0" err="1"/>
              <a:t>пользователе</a:t>
            </a:r>
            <a:r>
              <a:rPr lang="en-US" dirty="0"/>
              <a:t>. </a:t>
            </a:r>
            <a:r>
              <a:rPr lang="en-US" dirty="0" err="1"/>
              <a:t>Исторически</a:t>
            </a:r>
            <a:r>
              <a:rPr lang="en-US" dirty="0"/>
              <a:t> </a:t>
            </a:r>
            <a:r>
              <a:rPr lang="en-US" dirty="0" err="1"/>
              <a:t>его</a:t>
            </a:r>
            <a:r>
              <a:rPr lang="en-US" dirty="0"/>
              <a:t> </a:t>
            </a:r>
            <a:r>
              <a:rPr lang="en-US" dirty="0" err="1"/>
              <a:t>называют</a:t>
            </a:r>
            <a:r>
              <a:rPr lang="en-US" dirty="0"/>
              <a:t> </a:t>
            </a:r>
            <a:r>
              <a:rPr lang="en-US" dirty="0" err="1"/>
              <a:t>полем</a:t>
            </a:r>
            <a:r>
              <a:rPr lang="en-US" dirty="0"/>
              <a:t> </a:t>
            </a:r>
            <a:r>
              <a:rPr lang="en-US" dirty="0" err="1"/>
              <a:t>комментария</a:t>
            </a:r>
            <a:r>
              <a:rPr lang="en-US" dirty="0"/>
              <a:t> </a:t>
            </a:r>
            <a:r>
              <a:rPr lang="en-US" dirty="0" err="1"/>
              <a:t>или</a:t>
            </a:r>
            <a:r>
              <a:rPr lang="en-US" dirty="0"/>
              <a:t> GECOS.</a:t>
            </a:r>
            <a:endParaRPr lang="ru-RU" dirty="0"/>
          </a:p>
          <a:p>
            <a:endParaRPr lang="en-US" dirty="0"/>
          </a:p>
          <a:p>
            <a:r>
              <a:rPr lang="en-US" dirty="0" err="1"/>
              <a:t>После</a:t>
            </a:r>
            <a:r>
              <a:rPr lang="en-US" dirty="0"/>
              <a:t> </a:t>
            </a:r>
            <a:r>
              <a:rPr lang="en-US" dirty="0" err="1"/>
              <a:t>него</a:t>
            </a:r>
            <a:r>
              <a:rPr lang="en-US" dirty="0"/>
              <a:t> </a:t>
            </a:r>
            <a:r>
              <a:rPr lang="en-US" dirty="0" err="1"/>
              <a:t>указан</a:t>
            </a:r>
            <a:r>
              <a:rPr lang="en-US" dirty="0"/>
              <a:t> </a:t>
            </a:r>
            <a:r>
              <a:rPr lang="en-US" dirty="0" err="1"/>
              <a:t>домашний</a:t>
            </a:r>
            <a:r>
              <a:rPr lang="en-US" dirty="0"/>
              <a:t> </a:t>
            </a:r>
            <a:r>
              <a:rPr lang="en-US" dirty="0" err="1"/>
              <a:t>каталог</a:t>
            </a:r>
            <a:r>
              <a:rPr lang="en-US" dirty="0"/>
              <a:t> </a:t>
            </a:r>
            <a:r>
              <a:rPr lang="en-US" dirty="0" err="1"/>
              <a:t>пользователя</a:t>
            </a:r>
            <a:r>
              <a:rPr lang="en-US" dirty="0"/>
              <a:t> — </a:t>
            </a:r>
            <a:r>
              <a:rPr lang="en-US" dirty="0" err="1"/>
              <a:t>каталог</a:t>
            </a:r>
            <a:r>
              <a:rPr lang="en-US" dirty="0"/>
              <a:t>, в </a:t>
            </a:r>
            <a:r>
              <a:rPr lang="en-US" dirty="0" err="1"/>
              <a:t>котором</a:t>
            </a:r>
            <a:r>
              <a:rPr lang="en-US" dirty="0"/>
              <a:t> </a:t>
            </a:r>
            <a:r>
              <a:rPr lang="en-US" dirty="0" err="1"/>
              <a:t>он</a:t>
            </a:r>
            <a:r>
              <a:rPr lang="en-US" dirty="0"/>
              <a:t> </a:t>
            </a:r>
            <a:r>
              <a:rPr lang="en-US" dirty="0" err="1"/>
              <a:t>обычно</a:t>
            </a:r>
            <a:r>
              <a:rPr lang="en-US" dirty="0"/>
              <a:t> </a:t>
            </a:r>
            <a:r>
              <a:rPr lang="en-US" dirty="0" err="1"/>
              <a:t>начинает</a:t>
            </a:r>
            <a:r>
              <a:rPr lang="en-US" dirty="0"/>
              <a:t> </a:t>
            </a:r>
            <a:r>
              <a:rPr lang="en-US" dirty="0" err="1"/>
              <a:t>работу</a:t>
            </a:r>
            <a:r>
              <a:rPr lang="en-US" dirty="0"/>
              <a:t> </a:t>
            </a:r>
            <a:r>
              <a:rPr lang="en-US" dirty="0" err="1"/>
              <a:t>после</a:t>
            </a:r>
            <a:r>
              <a:rPr lang="en-US" dirty="0"/>
              <a:t> </a:t>
            </a:r>
            <a:r>
              <a:rPr lang="en-US" dirty="0" err="1"/>
              <a:t>входа</a:t>
            </a:r>
            <a:r>
              <a:rPr lang="en-US" dirty="0"/>
              <a:t> в </a:t>
            </a:r>
            <a:r>
              <a:rPr lang="en-US" dirty="0" err="1"/>
              <a:t>систему</a:t>
            </a:r>
            <a:r>
              <a:rPr lang="en-US" dirty="0"/>
              <a:t>.</a:t>
            </a:r>
            <a:endParaRPr lang="ru-RU" dirty="0"/>
          </a:p>
          <a:p>
            <a:endParaRPr lang="en-US" dirty="0"/>
          </a:p>
          <a:p>
            <a:r>
              <a:rPr lang="en-US" dirty="0" err="1"/>
              <a:t>Последнее</a:t>
            </a:r>
            <a:r>
              <a:rPr lang="en-US" dirty="0"/>
              <a:t> </a:t>
            </a:r>
            <a:r>
              <a:rPr lang="en-US" dirty="0" err="1"/>
              <a:t>поле</a:t>
            </a:r>
            <a:r>
              <a:rPr lang="en-US" dirty="0"/>
              <a:t> </a:t>
            </a:r>
            <a:r>
              <a:rPr lang="en-US" dirty="0" err="1"/>
              <a:t>задаёт</a:t>
            </a:r>
            <a:r>
              <a:rPr lang="en-US" dirty="0"/>
              <a:t> </a:t>
            </a:r>
            <a:r>
              <a:rPr lang="en-US" dirty="0" err="1"/>
              <a:t>программу</a:t>
            </a:r>
            <a:r>
              <a:rPr lang="en-US" dirty="0"/>
              <a:t>, </a:t>
            </a:r>
            <a:r>
              <a:rPr lang="en-US" dirty="0" err="1"/>
              <a:t>которая</a:t>
            </a:r>
            <a:r>
              <a:rPr lang="en-US" dirty="0"/>
              <a:t> </a:t>
            </a:r>
            <a:r>
              <a:rPr lang="en-US" dirty="0" err="1"/>
              <a:t>запускается</a:t>
            </a:r>
            <a:r>
              <a:rPr lang="en-US" dirty="0"/>
              <a:t> </a:t>
            </a:r>
            <a:r>
              <a:rPr lang="en-US" dirty="0" err="1"/>
              <a:t>при</a:t>
            </a:r>
            <a:r>
              <a:rPr lang="en-US" dirty="0"/>
              <a:t> </a:t>
            </a:r>
            <a:r>
              <a:rPr lang="en-US" dirty="0" err="1"/>
              <a:t>входе</a:t>
            </a:r>
            <a:r>
              <a:rPr lang="en-US" dirty="0"/>
              <a:t> </a:t>
            </a:r>
            <a:r>
              <a:rPr lang="en-US" dirty="0" err="1"/>
              <a:t>пользователя</a:t>
            </a:r>
            <a:r>
              <a:rPr lang="en-US" dirty="0"/>
              <a:t> в </a:t>
            </a:r>
            <a:r>
              <a:rPr lang="en-US" dirty="0" err="1"/>
              <a:t>систему</a:t>
            </a:r>
            <a:r>
              <a:rPr lang="en-US" dirty="0"/>
              <a:t>. </a:t>
            </a:r>
            <a:r>
              <a:rPr lang="en-US" dirty="0" err="1"/>
              <a:t>Чаще</a:t>
            </a:r>
            <a:r>
              <a:rPr lang="en-US" dirty="0"/>
              <a:t> </a:t>
            </a:r>
            <a:r>
              <a:rPr lang="en-US" dirty="0" err="1"/>
              <a:t>всего</a:t>
            </a:r>
            <a:r>
              <a:rPr lang="en-US" dirty="0"/>
              <a:t> </a:t>
            </a:r>
            <a:r>
              <a:rPr lang="en-US" dirty="0" err="1"/>
              <a:t>для</a:t>
            </a:r>
            <a:r>
              <a:rPr lang="en-US" dirty="0"/>
              <a:t> </a:t>
            </a:r>
            <a:r>
              <a:rPr lang="en-US" dirty="0" err="1"/>
              <a:t>обычного</a:t>
            </a:r>
            <a:r>
              <a:rPr lang="en-US" dirty="0"/>
              <a:t> </a:t>
            </a:r>
            <a:r>
              <a:rPr lang="en-US" dirty="0" err="1"/>
              <a:t>пользователя</a:t>
            </a:r>
            <a:r>
              <a:rPr lang="en-US" dirty="0"/>
              <a:t> </a:t>
            </a:r>
            <a:r>
              <a:rPr lang="en-US" dirty="0" err="1"/>
              <a:t>это</a:t>
            </a:r>
            <a:r>
              <a:rPr lang="en-US" dirty="0"/>
              <a:t> </a:t>
            </a:r>
            <a:r>
              <a:rPr lang="en-US" dirty="0" err="1"/>
              <a:t>командная</a:t>
            </a:r>
            <a:r>
              <a:rPr lang="en-US" dirty="0"/>
              <a:t> </a:t>
            </a:r>
            <a:r>
              <a:rPr lang="en-US" dirty="0" err="1"/>
              <a:t>оболочка</a:t>
            </a:r>
            <a:r>
              <a:rPr lang="en-US" dirty="0"/>
              <a:t>, </a:t>
            </a:r>
            <a:r>
              <a:rPr lang="en-US" dirty="0" err="1"/>
              <a:t>например</a:t>
            </a:r>
            <a:r>
              <a:rPr lang="en-US" dirty="0"/>
              <a:t> </a:t>
            </a:r>
            <a:r>
              <a:rPr lang="en-US" sz="1200" kern="1200" dirty="0">
                <a:solidFill>
                  <a:schemeClr val="tx1"/>
                </a:solidFill>
                <a:latin typeface="+mn-lt"/>
                <a:ea typeface="+mn-ea"/>
                <a:cs typeface="+mn-cs"/>
              </a:rPr>
              <a:t>/bin/bash</a:t>
            </a:r>
            <a:r>
              <a:rPr lang="en-US" dirty="0"/>
              <a:t>.</a:t>
            </a:r>
            <a:endParaRPr lang="ru-RU" dirty="0"/>
          </a:p>
          <a:p>
            <a:endParaRPr lang="en-US" dirty="0"/>
          </a:p>
          <a:p>
            <a:r>
              <a:rPr lang="en-US" dirty="0" err="1"/>
              <a:t>Обратите</a:t>
            </a:r>
            <a:r>
              <a:rPr lang="en-US" dirty="0"/>
              <a:t> </a:t>
            </a:r>
            <a:r>
              <a:rPr lang="en-US" dirty="0" err="1"/>
              <a:t>внимание</a:t>
            </a:r>
            <a:r>
              <a:rPr lang="en-US" dirty="0"/>
              <a:t> </a:t>
            </a:r>
            <a:r>
              <a:rPr lang="en-US" dirty="0" err="1"/>
              <a:t>на</a:t>
            </a:r>
            <a:r>
              <a:rPr lang="en-US" dirty="0"/>
              <a:t> </a:t>
            </a:r>
            <a:r>
              <a:rPr lang="en-US" dirty="0" err="1"/>
              <a:t>первую</a:t>
            </a:r>
            <a:r>
              <a:rPr lang="en-US" dirty="0"/>
              <a:t> </a:t>
            </a:r>
            <a:r>
              <a:rPr lang="en-US" dirty="0" err="1"/>
              <a:t>строку</a:t>
            </a:r>
            <a:r>
              <a:rPr lang="en-US" dirty="0"/>
              <a:t>. </a:t>
            </a:r>
            <a:r>
              <a:rPr lang="en-US" dirty="0" err="1"/>
              <a:t>Пользователь</a:t>
            </a:r>
            <a:r>
              <a:rPr lang="en-US" dirty="0"/>
              <a:t> </a:t>
            </a:r>
            <a:r>
              <a:rPr lang="en-US" sz="1200" kern="1200" dirty="0">
                <a:solidFill>
                  <a:schemeClr val="tx1"/>
                </a:solidFill>
                <a:latin typeface="+mn-lt"/>
                <a:ea typeface="+mn-ea"/>
                <a:cs typeface="+mn-cs"/>
              </a:rPr>
              <a:t>root</a:t>
            </a:r>
            <a:r>
              <a:rPr lang="en-US" dirty="0"/>
              <a:t> </a:t>
            </a:r>
            <a:r>
              <a:rPr lang="en-US" dirty="0" err="1"/>
              <a:t>имеет</a:t>
            </a:r>
            <a:r>
              <a:rPr lang="en-US" dirty="0"/>
              <a:t> UID 0 и </a:t>
            </a:r>
            <a:r>
              <a:rPr lang="en-US" dirty="0" err="1"/>
              <a:t>домашний</a:t>
            </a:r>
            <a:r>
              <a:rPr lang="en-US" dirty="0"/>
              <a:t> </a:t>
            </a:r>
            <a:r>
              <a:rPr lang="en-US" dirty="0" err="1"/>
              <a:t>каталог</a:t>
            </a:r>
            <a:r>
              <a:rPr lang="en-US" dirty="0"/>
              <a:t> </a:t>
            </a:r>
            <a:r>
              <a:rPr lang="en-US" sz="1200" kern="1200" dirty="0">
                <a:solidFill>
                  <a:schemeClr val="tx1"/>
                </a:solidFill>
                <a:latin typeface="+mn-lt"/>
                <a:ea typeface="+mn-ea"/>
                <a:cs typeface="+mn-cs"/>
              </a:rPr>
              <a:t>/root</a:t>
            </a:r>
            <a:r>
              <a:rPr lang="en-US" dirty="0"/>
              <a:t>.</a:t>
            </a:r>
            <a:endParaRPr lang="ru-RU" dirty="0"/>
          </a:p>
          <a:p>
            <a:endParaRPr lang="en-US" dirty="0"/>
          </a:p>
          <a:p>
            <a:r>
              <a:rPr lang="en-US" dirty="0"/>
              <a:t>А у </a:t>
            </a:r>
            <a:r>
              <a:rPr lang="en-US" dirty="0" err="1"/>
              <a:t>нашего</a:t>
            </a:r>
            <a:r>
              <a:rPr lang="en-US" dirty="0"/>
              <a:t> </a:t>
            </a:r>
            <a:r>
              <a:rPr lang="en-US" dirty="0" err="1"/>
              <a:t>обычного</a:t>
            </a:r>
            <a:r>
              <a:rPr lang="en-US" dirty="0"/>
              <a:t> </a:t>
            </a:r>
            <a:r>
              <a:rPr lang="en-US" dirty="0" err="1"/>
              <a:t>пользователя</a:t>
            </a:r>
            <a:r>
              <a:rPr lang="en-US" dirty="0"/>
              <a:t> </a:t>
            </a:r>
            <a:r>
              <a:rPr lang="en-US" sz="1200" kern="1200" dirty="0">
                <a:solidFill>
                  <a:schemeClr val="tx1"/>
                </a:solidFill>
                <a:latin typeface="+mn-lt"/>
                <a:ea typeface="+mn-ea"/>
                <a:cs typeface="+mn-cs"/>
              </a:rPr>
              <a:t>vivid</a:t>
            </a:r>
            <a:r>
              <a:rPr lang="en-US" dirty="0"/>
              <a:t> UID </a:t>
            </a:r>
            <a:r>
              <a:rPr lang="en-US" dirty="0" err="1"/>
              <a:t>равен</a:t>
            </a:r>
            <a:r>
              <a:rPr lang="en-US" dirty="0"/>
              <a:t> 1000, </a:t>
            </a:r>
            <a:r>
              <a:rPr lang="en-US" dirty="0" err="1"/>
              <a:t>домашний</a:t>
            </a:r>
            <a:r>
              <a:rPr lang="en-US" dirty="0"/>
              <a:t> </a:t>
            </a:r>
            <a:r>
              <a:rPr lang="en-US" dirty="0" err="1"/>
              <a:t>каталог</a:t>
            </a:r>
            <a:r>
              <a:rPr lang="en-US" dirty="0"/>
              <a:t> — </a:t>
            </a:r>
            <a:r>
              <a:rPr lang="en-US" sz="1200" kern="1200" dirty="0">
                <a:solidFill>
                  <a:schemeClr val="tx1"/>
                </a:solidFill>
                <a:latin typeface="+mn-lt"/>
                <a:ea typeface="+mn-ea"/>
                <a:cs typeface="+mn-cs"/>
              </a:rPr>
              <a:t>/home/vivid</a:t>
            </a:r>
            <a:r>
              <a:rPr lang="en-US" dirty="0"/>
              <a:t>, а в </a:t>
            </a:r>
            <a:r>
              <a:rPr lang="en-US" dirty="0" err="1"/>
              <a:t>качестве</a:t>
            </a:r>
            <a:r>
              <a:rPr lang="en-US" dirty="0"/>
              <a:t> </a:t>
            </a:r>
            <a:r>
              <a:rPr lang="en-US" dirty="0" err="1"/>
              <a:t>оболочки</a:t>
            </a:r>
            <a:r>
              <a:rPr lang="en-US" dirty="0"/>
              <a:t> </a:t>
            </a:r>
            <a:r>
              <a:rPr lang="en-US" dirty="0" err="1"/>
              <a:t>используется</a:t>
            </a:r>
            <a:r>
              <a:rPr lang="en-US" dirty="0"/>
              <a:t> </a:t>
            </a:r>
            <a:r>
              <a:rPr lang="en-US" sz="1200" kern="1200" dirty="0">
                <a:solidFill>
                  <a:schemeClr val="tx1"/>
                </a:solidFill>
                <a:latin typeface="+mn-lt"/>
                <a:ea typeface="+mn-ea"/>
                <a:cs typeface="+mn-cs"/>
              </a:rPr>
              <a:t>/bin/bash</a:t>
            </a:r>
            <a:r>
              <a:rPr lang="en-US" dirty="0"/>
              <a:t>.</a:t>
            </a:r>
            <a:endParaRPr lang="ru-RU" dirty="0"/>
          </a:p>
          <a:p>
            <a:endParaRPr lang="en-US" dirty="0"/>
          </a:p>
          <a:p>
            <a:r>
              <a:rPr lang="en-US" dirty="0" err="1"/>
              <a:t>При</a:t>
            </a:r>
            <a:r>
              <a:rPr lang="en-US" dirty="0"/>
              <a:t> </a:t>
            </a:r>
            <a:r>
              <a:rPr lang="en-US" dirty="0" err="1"/>
              <a:t>этом</a:t>
            </a:r>
            <a:r>
              <a:rPr lang="en-US" dirty="0"/>
              <a:t> в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etc</a:t>
            </a:r>
            <a:r>
              <a:rPr lang="en-US" sz="1200" kern="1200" dirty="0">
                <a:solidFill>
                  <a:schemeClr val="tx1"/>
                </a:solidFill>
                <a:latin typeface="+mn-lt"/>
                <a:ea typeface="+mn-ea"/>
                <a:cs typeface="+mn-cs"/>
              </a:rPr>
              <a:t>/passwd</a:t>
            </a:r>
            <a:r>
              <a:rPr lang="en-US" dirty="0"/>
              <a:t> </a:t>
            </a:r>
            <a:r>
              <a:rPr lang="en-US" dirty="0" err="1"/>
              <a:t>находятся</a:t>
            </a:r>
            <a:r>
              <a:rPr lang="en-US" dirty="0"/>
              <a:t> </a:t>
            </a:r>
            <a:r>
              <a:rPr lang="en-US" dirty="0" err="1"/>
              <a:t>не</a:t>
            </a:r>
            <a:r>
              <a:rPr lang="en-US" dirty="0"/>
              <a:t> </a:t>
            </a:r>
            <a:r>
              <a:rPr lang="en-US" dirty="0" err="1"/>
              <a:t>только</a:t>
            </a:r>
            <a:r>
              <a:rPr lang="en-US" dirty="0"/>
              <a:t> </a:t>
            </a:r>
            <a:r>
              <a:rPr lang="en-US" dirty="0" err="1"/>
              <a:t>учётные</a:t>
            </a:r>
            <a:r>
              <a:rPr lang="en-US" dirty="0"/>
              <a:t> </a:t>
            </a:r>
            <a:r>
              <a:rPr lang="en-US" dirty="0" err="1"/>
              <a:t>записи</a:t>
            </a:r>
            <a:r>
              <a:rPr lang="en-US" dirty="0"/>
              <a:t> </a:t>
            </a:r>
            <a:r>
              <a:rPr lang="en-US" dirty="0" err="1"/>
              <a:t>людей</a:t>
            </a:r>
            <a:r>
              <a:rPr lang="en-US" dirty="0"/>
              <a:t>. </a:t>
            </a:r>
            <a:r>
              <a:rPr lang="en-US" dirty="0" err="1"/>
              <a:t>Здесь</a:t>
            </a:r>
            <a:r>
              <a:rPr lang="en-US" dirty="0"/>
              <a:t> </a:t>
            </a:r>
            <a:r>
              <a:rPr lang="en-US" dirty="0" err="1"/>
              <a:t>есть</a:t>
            </a:r>
            <a:r>
              <a:rPr lang="en-US" dirty="0"/>
              <a:t> и </a:t>
            </a:r>
            <a:r>
              <a:rPr lang="en-US" dirty="0" err="1"/>
              <a:t>системные</a:t>
            </a:r>
            <a:r>
              <a:rPr lang="en-US" dirty="0"/>
              <a:t> </a:t>
            </a:r>
            <a:r>
              <a:rPr lang="en-US" dirty="0" err="1"/>
              <a:t>пользователи</a:t>
            </a:r>
            <a:r>
              <a:rPr lang="en-US" dirty="0"/>
              <a:t>, </a:t>
            </a:r>
            <a:r>
              <a:rPr lang="en-US" dirty="0" err="1"/>
              <a:t>например</a:t>
            </a:r>
            <a:r>
              <a:rPr lang="en-US" dirty="0"/>
              <a:t> </a:t>
            </a:r>
            <a:r>
              <a:rPr lang="en-US" sz="1200" kern="1200" dirty="0">
                <a:solidFill>
                  <a:schemeClr val="tx1"/>
                </a:solidFill>
                <a:latin typeface="+mn-lt"/>
                <a:ea typeface="+mn-ea"/>
                <a:cs typeface="+mn-cs"/>
              </a:rPr>
              <a:t>daemon</a:t>
            </a:r>
            <a:r>
              <a:rPr lang="en-US" dirty="0"/>
              <a:t>, </a:t>
            </a:r>
            <a:r>
              <a:rPr lang="en-US" sz="1200" kern="1200" dirty="0">
                <a:solidFill>
                  <a:schemeClr val="tx1"/>
                </a:solidFill>
                <a:latin typeface="+mn-lt"/>
                <a:ea typeface="+mn-ea"/>
                <a:cs typeface="+mn-cs"/>
              </a:rPr>
              <a:t>bin</a:t>
            </a:r>
            <a:r>
              <a:rPr lang="en-US" dirty="0"/>
              <a:t> </a:t>
            </a:r>
            <a:r>
              <a:rPr lang="en-US" dirty="0" err="1"/>
              <a:t>или</a:t>
            </a:r>
            <a:r>
              <a:rPr lang="en-US" dirty="0"/>
              <a:t> </a:t>
            </a:r>
            <a:r>
              <a:rPr lang="en-US" sz="1200" kern="1200" dirty="0">
                <a:solidFill>
                  <a:schemeClr val="tx1"/>
                </a:solidFill>
                <a:latin typeface="+mn-lt"/>
                <a:ea typeface="+mn-ea"/>
                <a:cs typeface="+mn-cs"/>
              </a:rPr>
              <a:t>sys</a:t>
            </a:r>
            <a:r>
              <a:rPr lang="en-US" dirty="0"/>
              <a:t>. </a:t>
            </a:r>
            <a:r>
              <a:rPr lang="en-US" dirty="0" err="1"/>
              <a:t>Они</a:t>
            </a:r>
            <a:r>
              <a:rPr lang="en-US" dirty="0"/>
              <a:t> </a:t>
            </a:r>
            <a:r>
              <a:rPr lang="en-US" dirty="0" err="1"/>
              <a:t>нужны</a:t>
            </a:r>
            <a:r>
              <a:rPr lang="en-US" dirty="0"/>
              <a:t> </a:t>
            </a:r>
            <a:r>
              <a:rPr lang="en-US" dirty="0" err="1"/>
              <a:t>для</a:t>
            </a:r>
            <a:r>
              <a:rPr lang="en-US" dirty="0"/>
              <a:t> </a:t>
            </a:r>
            <a:r>
              <a:rPr lang="en-US" dirty="0" err="1"/>
              <a:t>запуска</a:t>
            </a:r>
            <a:r>
              <a:rPr lang="en-US" dirty="0"/>
              <a:t> </a:t>
            </a:r>
            <a:r>
              <a:rPr lang="en-US" dirty="0" err="1"/>
              <a:t>различных</a:t>
            </a:r>
            <a:r>
              <a:rPr lang="en-US" dirty="0"/>
              <a:t> </a:t>
            </a:r>
            <a:r>
              <a:rPr lang="en-US" dirty="0" err="1"/>
              <a:t>служб</a:t>
            </a:r>
            <a:r>
              <a:rPr lang="en-US" dirty="0"/>
              <a:t> с </a:t>
            </a:r>
            <a:r>
              <a:rPr lang="en-US" dirty="0" err="1"/>
              <a:t>ограниченными</a:t>
            </a:r>
            <a:r>
              <a:rPr lang="en-US" dirty="0"/>
              <a:t> </a:t>
            </a:r>
            <a:r>
              <a:rPr lang="en-US" dirty="0" err="1"/>
              <a:t>правами</a:t>
            </a:r>
            <a:r>
              <a:rPr lang="en-US" dirty="0"/>
              <a:t>. </a:t>
            </a:r>
            <a:r>
              <a:rPr lang="en-US" dirty="0" err="1"/>
              <a:t>Поэтому</a:t>
            </a:r>
            <a:r>
              <a:rPr lang="en-US" dirty="0"/>
              <a:t> у </a:t>
            </a:r>
            <a:r>
              <a:rPr lang="en-US" dirty="0" err="1"/>
              <a:t>многих</a:t>
            </a:r>
            <a:r>
              <a:rPr lang="en-US" dirty="0"/>
              <a:t> </a:t>
            </a:r>
            <a:r>
              <a:rPr lang="en-US" dirty="0" err="1"/>
              <a:t>из</a:t>
            </a:r>
            <a:r>
              <a:rPr lang="en-US" dirty="0"/>
              <a:t> </a:t>
            </a:r>
            <a:r>
              <a:rPr lang="en-US" dirty="0" err="1"/>
              <a:t>них</a:t>
            </a:r>
            <a:r>
              <a:rPr lang="en-US" dirty="0"/>
              <a:t> в </a:t>
            </a:r>
            <a:r>
              <a:rPr lang="en-US" dirty="0" err="1"/>
              <a:t>последнем</a:t>
            </a:r>
            <a:r>
              <a:rPr lang="en-US" dirty="0"/>
              <a:t> </a:t>
            </a:r>
            <a:r>
              <a:rPr lang="en-US" dirty="0" err="1"/>
              <a:t>поле</a:t>
            </a:r>
            <a:r>
              <a:rPr lang="en-US" dirty="0"/>
              <a:t> </a:t>
            </a:r>
            <a:r>
              <a:rPr lang="en-US" dirty="0" err="1"/>
              <a:t>указано</a:t>
            </a:r>
            <a:r>
              <a:rPr lang="en-US" dirty="0"/>
              <a:t>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usr</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sbin</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nologin</a:t>
            </a:r>
            <a:r>
              <a:rPr lang="en-US" dirty="0"/>
              <a:t>: </a:t>
            </a:r>
            <a:r>
              <a:rPr lang="en-US" dirty="0" err="1"/>
              <a:t>интерактивно</a:t>
            </a:r>
            <a:r>
              <a:rPr lang="en-US" dirty="0"/>
              <a:t> </a:t>
            </a:r>
            <a:r>
              <a:rPr lang="en-US" dirty="0" err="1"/>
              <a:t>войти</a:t>
            </a:r>
            <a:r>
              <a:rPr lang="en-US" dirty="0"/>
              <a:t> в </a:t>
            </a:r>
            <a:r>
              <a:rPr lang="en-US" dirty="0" err="1"/>
              <a:t>систему</a:t>
            </a:r>
            <a:r>
              <a:rPr lang="en-US" dirty="0"/>
              <a:t> </a:t>
            </a:r>
            <a:r>
              <a:rPr lang="en-US" dirty="0" err="1"/>
              <a:t>под</a:t>
            </a:r>
            <a:r>
              <a:rPr lang="en-US" dirty="0"/>
              <a:t> </a:t>
            </a:r>
            <a:r>
              <a:rPr lang="en-US" dirty="0" err="1"/>
              <a:t>такой</a:t>
            </a:r>
            <a:r>
              <a:rPr lang="en-US" dirty="0"/>
              <a:t> </a:t>
            </a:r>
            <a:r>
              <a:rPr lang="en-US" dirty="0" err="1"/>
              <a:t>учётной</a:t>
            </a:r>
            <a:r>
              <a:rPr lang="en-US" dirty="0"/>
              <a:t> </a:t>
            </a:r>
            <a:r>
              <a:rPr lang="en-US" dirty="0" err="1"/>
              <a:t>записью</a:t>
            </a:r>
            <a:r>
              <a:rPr lang="en-US" dirty="0"/>
              <a:t> </a:t>
            </a:r>
            <a:r>
              <a:rPr lang="en-US" dirty="0" err="1"/>
              <a:t>обычно</a:t>
            </a:r>
            <a:r>
              <a:rPr lang="en-US" dirty="0"/>
              <a:t> </a:t>
            </a:r>
            <a:r>
              <a:rPr lang="en-US" dirty="0" err="1"/>
              <a:t>нельзя</a:t>
            </a:r>
            <a:r>
              <a:rPr lang="en-US" dirty="0"/>
              <a:t>.</a:t>
            </a:r>
            <a:endParaRPr lang="ru-RU" dirty="0"/>
          </a:p>
          <a:p>
            <a:endParaRPr lang="en-US" dirty="0"/>
          </a:p>
          <a:p>
            <a:r>
              <a:rPr lang="en-US" dirty="0" err="1"/>
              <a:t>Таким</a:t>
            </a:r>
            <a:r>
              <a:rPr lang="en-US" dirty="0"/>
              <a:t> </a:t>
            </a:r>
            <a:r>
              <a:rPr lang="en-US" dirty="0" err="1"/>
              <a:t>образом</a:t>
            </a:r>
            <a:r>
              <a:rPr lang="en-US" dirty="0"/>
              <a:t>,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etc</a:t>
            </a:r>
            <a:r>
              <a:rPr lang="en-US" sz="1200" kern="1200" dirty="0">
                <a:solidFill>
                  <a:schemeClr val="tx1"/>
                </a:solidFill>
                <a:latin typeface="+mn-lt"/>
                <a:ea typeface="+mn-ea"/>
                <a:cs typeface="+mn-cs"/>
              </a:rPr>
              <a:t>/passwd</a:t>
            </a:r>
            <a:r>
              <a:rPr lang="en-US" dirty="0"/>
              <a:t> </a:t>
            </a:r>
            <a:r>
              <a:rPr lang="en-US" dirty="0" err="1"/>
              <a:t>хорошо</a:t>
            </a:r>
            <a:r>
              <a:rPr lang="en-US" dirty="0"/>
              <a:t> </a:t>
            </a:r>
            <a:r>
              <a:rPr lang="en-US" dirty="0" err="1"/>
              <a:t>показывает</a:t>
            </a:r>
            <a:r>
              <a:rPr lang="en-US" dirty="0"/>
              <a:t>, </a:t>
            </a:r>
            <a:r>
              <a:rPr lang="en-US" dirty="0" err="1"/>
              <a:t>что</a:t>
            </a:r>
            <a:r>
              <a:rPr lang="en-US" dirty="0"/>
              <a:t> </a:t>
            </a:r>
            <a:r>
              <a:rPr lang="en-US" dirty="0" err="1"/>
              <a:t>для</a:t>
            </a:r>
            <a:r>
              <a:rPr lang="en-US" dirty="0"/>
              <a:t> </a:t>
            </a:r>
            <a:r>
              <a:rPr lang="en-US" dirty="0" err="1"/>
              <a:t>операционной</a:t>
            </a:r>
            <a:r>
              <a:rPr lang="en-US" dirty="0"/>
              <a:t> </a:t>
            </a:r>
            <a:r>
              <a:rPr lang="en-US" dirty="0" err="1"/>
              <a:t>системы</a:t>
            </a:r>
            <a:r>
              <a:rPr lang="en-US" dirty="0"/>
              <a:t> </a:t>
            </a:r>
            <a:r>
              <a:rPr lang="en-US" dirty="0" err="1"/>
              <a:t>пользователь</a:t>
            </a:r>
            <a:r>
              <a:rPr lang="en-US" dirty="0"/>
              <a:t> — </a:t>
            </a:r>
            <a:r>
              <a:rPr lang="en-US" dirty="0" err="1"/>
              <a:t>это</a:t>
            </a:r>
            <a:r>
              <a:rPr lang="en-US" dirty="0"/>
              <a:t> </a:t>
            </a:r>
            <a:r>
              <a:rPr lang="en-US" dirty="0" err="1"/>
              <a:t>не</a:t>
            </a:r>
            <a:r>
              <a:rPr lang="en-US" dirty="0"/>
              <a:t> </a:t>
            </a:r>
            <a:r>
              <a:rPr lang="en-US" dirty="0" err="1"/>
              <a:t>просто</a:t>
            </a:r>
            <a:r>
              <a:rPr lang="en-US" dirty="0"/>
              <a:t> </a:t>
            </a:r>
            <a:r>
              <a:rPr lang="en-US" dirty="0" err="1"/>
              <a:t>имя</a:t>
            </a:r>
            <a:r>
              <a:rPr lang="en-US" dirty="0"/>
              <a:t>. С </a:t>
            </a:r>
            <a:r>
              <a:rPr lang="en-US" dirty="0" err="1"/>
              <a:t>ним</a:t>
            </a:r>
            <a:r>
              <a:rPr lang="en-US" dirty="0"/>
              <a:t> </a:t>
            </a:r>
            <a:r>
              <a:rPr lang="en-US" dirty="0" err="1"/>
              <a:t>связаны</a:t>
            </a:r>
            <a:r>
              <a:rPr lang="en-US" dirty="0"/>
              <a:t> </a:t>
            </a:r>
            <a:r>
              <a:rPr lang="en-US" dirty="0" err="1"/>
              <a:t>числовые</a:t>
            </a:r>
            <a:r>
              <a:rPr lang="en-US" dirty="0"/>
              <a:t> UID и GID, </a:t>
            </a:r>
            <a:r>
              <a:rPr lang="en-US" dirty="0" err="1"/>
              <a:t>домашний</a:t>
            </a:r>
            <a:r>
              <a:rPr lang="en-US" dirty="0"/>
              <a:t> </a:t>
            </a:r>
            <a:r>
              <a:rPr lang="en-US" dirty="0" err="1"/>
              <a:t>каталог</a:t>
            </a:r>
            <a:r>
              <a:rPr lang="en-US" dirty="0"/>
              <a:t>, </a:t>
            </a:r>
            <a:r>
              <a:rPr lang="en-US" dirty="0" err="1"/>
              <a:t>оболочка</a:t>
            </a:r>
            <a:r>
              <a:rPr lang="en-US" dirty="0"/>
              <a:t> и </a:t>
            </a:r>
            <a:r>
              <a:rPr lang="en-US" dirty="0" err="1"/>
              <a:t>другие</a:t>
            </a:r>
            <a:r>
              <a:rPr lang="en-US" dirty="0"/>
              <a:t> </a:t>
            </a:r>
            <a:r>
              <a:rPr lang="en-US" dirty="0" err="1"/>
              <a:t>параметры</a:t>
            </a:r>
            <a:r>
              <a:rPr lang="en-US" dirty="0"/>
              <a:t>. </a:t>
            </a:r>
            <a:r>
              <a:rPr lang="en-US" dirty="0" err="1"/>
              <a:t>Именно</a:t>
            </a:r>
            <a:r>
              <a:rPr lang="en-US" dirty="0"/>
              <a:t> </a:t>
            </a:r>
            <a:r>
              <a:rPr lang="en-US" dirty="0" err="1"/>
              <a:t>эти</a:t>
            </a:r>
            <a:r>
              <a:rPr lang="en-US" dirty="0"/>
              <a:t> </a:t>
            </a:r>
            <a:r>
              <a:rPr lang="en-US" dirty="0" err="1"/>
              <a:t>идентификаторы</a:t>
            </a:r>
            <a:r>
              <a:rPr lang="en-US" dirty="0"/>
              <a:t> </a:t>
            </a:r>
            <a:r>
              <a:rPr lang="en-US" dirty="0" err="1"/>
              <a:t>затем</a:t>
            </a:r>
            <a:r>
              <a:rPr lang="en-US" dirty="0"/>
              <a:t> </a:t>
            </a:r>
            <a:r>
              <a:rPr lang="en-US" dirty="0" err="1"/>
              <a:t>используются</a:t>
            </a:r>
            <a:r>
              <a:rPr lang="en-US" dirty="0"/>
              <a:t> </a:t>
            </a:r>
            <a:r>
              <a:rPr lang="en-US" dirty="0" err="1"/>
              <a:t>процессами</a:t>
            </a:r>
            <a:r>
              <a:rPr lang="en-US" dirty="0"/>
              <a:t> и </a:t>
            </a:r>
            <a:r>
              <a:rPr lang="en-US" dirty="0" err="1"/>
              <a:t>системой</a:t>
            </a:r>
            <a:r>
              <a:rPr lang="en-US" dirty="0"/>
              <a:t> </a:t>
            </a:r>
            <a:r>
              <a:rPr lang="en-US" dirty="0" err="1"/>
              <a:t>разграничения</a:t>
            </a:r>
            <a:r>
              <a:rPr lang="en-US" dirty="0"/>
              <a:t> </a:t>
            </a:r>
            <a:r>
              <a:rPr lang="en-US" dirty="0" err="1"/>
              <a:t>доступа</a:t>
            </a:r>
            <a:r>
              <a:rPr lang="en-US" dirty="0"/>
              <a:t>.</a:t>
            </a:r>
          </a:p>
          <a:p>
            <a:endParaRPr lang="en-US" dirty="0"/>
          </a:p>
        </p:txBody>
      </p:sp>
      <p:sp>
        <p:nvSpPr>
          <p:cNvPr id="4" name="Slide Number Placeholder 3"/>
          <p:cNvSpPr>
            <a:spLocks noGrp="1"/>
          </p:cNvSpPr>
          <p:nvPr>
            <p:ph type="sldNum" sz="quarter" idx="5"/>
          </p:nvPr>
        </p:nvSpPr>
        <p:spPr/>
        <p:txBody>
          <a:bodyPr/>
          <a:lstStyle/>
          <a:p>
            <a:fld id="{A3EE74EF-BE85-44F3-968F-E74DD74A629E}" type="slidenum">
              <a:rPr lang="en-US" smtClean="0"/>
              <a:t>11</a:t>
            </a:fld>
            <a:endParaRPr lang="en-US"/>
          </a:p>
        </p:txBody>
      </p:sp>
    </p:spTree>
    <p:extLst>
      <p:ext uri="{BB962C8B-B14F-4D97-AF65-F5344CB8AC3E}">
        <p14:creationId xmlns:p14="http://schemas.microsoft.com/office/powerpoint/2010/main" val="19011465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Каждый процесс в операционной системе работает в рамках своего адресного пространства. Это диапазон адресов, который процесс может использовать для хранения кода, данных и стека.</a:t>
            </a:r>
          </a:p>
          <a:p>
            <a:br>
              <a:rPr lang="ru-RU" dirty="0"/>
            </a:br>
            <a:r>
              <a:rPr lang="ru-RU" dirty="0"/>
              <a:t>В самых простых операционных системах в памяти находился только один процесс. Если нужно было запустить другой, первый выгружался, а второй загружался — такой механизм назывался </a:t>
            </a:r>
            <a:r>
              <a:rPr lang="ru-RU" dirty="0" err="1"/>
              <a:t>swapping</a:t>
            </a:r>
            <a:r>
              <a:rPr lang="ru-RU" dirty="0"/>
              <a:t>.</a:t>
            </a:r>
          </a:p>
          <a:p>
            <a:br>
              <a:rPr lang="ru-RU" dirty="0"/>
            </a:br>
            <a:r>
              <a:rPr lang="ru-RU" dirty="0"/>
              <a:t>Современные системы устроены сложнее: в оперативной памяти одновременно могут находиться несколько процессов. Чтобы они не мешали друг другу, например не перезаписывали данные друг друга или данные самой ОС, используется механизм защиты. Операционная система управляет этим механизмом, а сама защита реализуется </a:t>
            </a:r>
            <a:r>
              <a:rPr lang="ru-RU" dirty="0" err="1"/>
              <a:t>аппаратно</a:t>
            </a:r>
            <a:r>
              <a:rPr lang="ru-RU" dirty="0"/>
              <a:t> — средствами процессора.</a:t>
            </a:r>
            <a:endParaRPr lang="en-US" dirty="0"/>
          </a:p>
        </p:txBody>
      </p:sp>
      <p:sp>
        <p:nvSpPr>
          <p:cNvPr id="4" name="Slide Number Placeholder 3"/>
          <p:cNvSpPr>
            <a:spLocks noGrp="1"/>
          </p:cNvSpPr>
          <p:nvPr>
            <p:ph type="sldNum" sz="quarter" idx="5"/>
          </p:nvPr>
        </p:nvSpPr>
        <p:spPr/>
        <p:txBody>
          <a:bodyPr/>
          <a:lstStyle/>
          <a:p>
            <a:fld id="{A3EE74EF-BE85-44F3-968F-E74DD74A629E}" type="slidenum">
              <a:rPr lang="en-US" smtClean="0"/>
              <a:t>12</a:t>
            </a:fld>
            <a:endParaRPr lang="en-US"/>
          </a:p>
        </p:txBody>
      </p:sp>
    </p:spTree>
    <p:extLst>
      <p:ext uri="{BB962C8B-B14F-4D97-AF65-F5344CB8AC3E}">
        <p14:creationId xmlns:p14="http://schemas.microsoft.com/office/powerpoint/2010/main" val="6716421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Современные процессоры имеют большие адресные пространства: 32-битные адреса позволяют обращаться к 4 гигабайтам памяти, а 64-битные — теоретически к огромным объёмам, в эксабайтах. Но физическая память компьютера всегда ограничена и намного меньше. Возникает вопрос: что делать, если программа хочет использовать больше памяти, чем есть в реальности?</a:t>
            </a:r>
          </a:p>
          <a:p>
            <a:br>
              <a:rPr lang="ru-RU" dirty="0"/>
            </a:br>
            <a:r>
              <a:rPr lang="ru-RU" dirty="0"/>
              <a:t>Решение — виртуальная память. В этом подходе часть адресного пространства хранится в оперативной памяти, а часть — на диске или SSD. Операционная система динамически «подгружает» нужные фрагменты в RAM и «выгружает» ненужные. Таким образом, для процесса создаётся иллюзия непрерывного и большого адресного пространства, которое может быть больше, чем физическая память.</a:t>
            </a:r>
          </a:p>
          <a:p>
            <a:br>
              <a:rPr lang="ru-RU" dirty="0"/>
            </a:br>
            <a:r>
              <a:rPr lang="ru-RU" dirty="0"/>
              <a:t>Это ключевая абстракция, которая позволяет запускать одновременно много программ и эффективно использовать ресурсы компьютера. Управление адресными пространствами и физической памятью — одна из важнейших функций ОС. Будем рассматривать в отдельных лекциях</a:t>
            </a:r>
            <a:endParaRPr lang="en-US" dirty="0"/>
          </a:p>
        </p:txBody>
      </p:sp>
      <p:sp>
        <p:nvSpPr>
          <p:cNvPr id="4" name="Slide Number Placeholder 3"/>
          <p:cNvSpPr>
            <a:spLocks noGrp="1"/>
          </p:cNvSpPr>
          <p:nvPr>
            <p:ph type="sldNum" sz="quarter" idx="5"/>
          </p:nvPr>
        </p:nvSpPr>
        <p:spPr/>
        <p:txBody>
          <a:bodyPr/>
          <a:lstStyle/>
          <a:p>
            <a:fld id="{A3EE74EF-BE85-44F3-968F-E74DD74A629E}" type="slidenum">
              <a:rPr lang="en-US" smtClean="0"/>
              <a:t>13</a:t>
            </a:fld>
            <a:endParaRPr lang="en-US"/>
          </a:p>
        </p:txBody>
      </p:sp>
    </p:spTree>
    <p:extLst>
      <p:ext uri="{BB962C8B-B14F-4D97-AF65-F5344CB8AC3E}">
        <p14:creationId xmlns:p14="http://schemas.microsoft.com/office/powerpoint/2010/main" val="11250829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Теперь</a:t>
            </a:r>
            <a:r>
              <a:rPr lang="en-US" dirty="0"/>
              <a:t> </a:t>
            </a:r>
            <a:r>
              <a:rPr lang="en-US" dirty="0" err="1"/>
              <a:t>посмотрим</a:t>
            </a:r>
            <a:r>
              <a:rPr lang="en-US" dirty="0"/>
              <a:t>, </a:t>
            </a:r>
            <a:r>
              <a:rPr lang="en-US" dirty="0" err="1"/>
              <a:t>как</a:t>
            </a:r>
            <a:r>
              <a:rPr lang="en-US" dirty="0"/>
              <a:t> </a:t>
            </a:r>
            <a:r>
              <a:rPr lang="en-US" dirty="0" err="1"/>
              <a:t>использование</a:t>
            </a:r>
            <a:r>
              <a:rPr lang="en-US" dirty="0"/>
              <a:t> </a:t>
            </a:r>
            <a:r>
              <a:rPr lang="en-US" dirty="0" err="1"/>
              <a:t>памяти</a:t>
            </a:r>
            <a:r>
              <a:rPr lang="en-US" dirty="0"/>
              <a:t> </a:t>
            </a:r>
            <a:r>
              <a:rPr lang="en-US" dirty="0" err="1"/>
              <a:t>можно</a:t>
            </a:r>
            <a:r>
              <a:rPr lang="en-US" dirty="0"/>
              <a:t> </a:t>
            </a:r>
            <a:r>
              <a:rPr lang="en-US" dirty="0" err="1"/>
              <a:t>наблюдать</a:t>
            </a:r>
            <a:r>
              <a:rPr lang="en-US" dirty="0"/>
              <a:t> </a:t>
            </a:r>
            <a:r>
              <a:rPr lang="en-US" dirty="0" err="1"/>
              <a:t>непосредственно</a:t>
            </a:r>
            <a:r>
              <a:rPr lang="en-US" dirty="0"/>
              <a:t> в Linux.</a:t>
            </a:r>
            <a:endParaRPr lang="ru-RU" dirty="0"/>
          </a:p>
          <a:p>
            <a:endParaRPr lang="en-US" dirty="0"/>
          </a:p>
          <a:p>
            <a:r>
              <a:rPr lang="en-US" dirty="0" err="1"/>
              <a:t>Самая</a:t>
            </a:r>
            <a:r>
              <a:rPr lang="en-US" dirty="0"/>
              <a:t> </a:t>
            </a:r>
            <a:r>
              <a:rPr lang="en-US" dirty="0" err="1"/>
              <a:t>простая</a:t>
            </a:r>
            <a:r>
              <a:rPr lang="en-US" dirty="0"/>
              <a:t> </a:t>
            </a:r>
            <a:r>
              <a:rPr lang="en-US" dirty="0" err="1"/>
              <a:t>команда</a:t>
            </a:r>
            <a:r>
              <a:rPr lang="en-US" dirty="0"/>
              <a:t> — </a:t>
            </a:r>
            <a:r>
              <a:rPr lang="en-US" sz="1200" kern="1200" dirty="0">
                <a:solidFill>
                  <a:schemeClr val="tx1"/>
                </a:solidFill>
                <a:latin typeface="+mn-lt"/>
                <a:ea typeface="+mn-ea"/>
                <a:cs typeface="+mn-cs"/>
              </a:rPr>
              <a:t>free</a:t>
            </a:r>
            <a:r>
              <a:rPr lang="en-US" dirty="0"/>
              <a:t>. </a:t>
            </a:r>
            <a:r>
              <a:rPr lang="en-US" dirty="0" err="1"/>
              <a:t>Здесь</a:t>
            </a:r>
            <a:r>
              <a:rPr lang="en-US" dirty="0"/>
              <a:t> </a:t>
            </a:r>
            <a:r>
              <a:rPr lang="en-US" dirty="0" err="1"/>
              <a:t>используется</a:t>
            </a:r>
            <a:r>
              <a:rPr lang="en-US" dirty="0"/>
              <a:t> </a:t>
            </a:r>
            <a:r>
              <a:rPr lang="en-US" dirty="0" err="1"/>
              <a:t>ключ</a:t>
            </a:r>
            <a:r>
              <a:rPr lang="en-US" dirty="0"/>
              <a:t> </a:t>
            </a:r>
            <a:r>
              <a:rPr lang="en-US" sz="1200" kern="1200" dirty="0">
                <a:solidFill>
                  <a:schemeClr val="tx1"/>
                </a:solidFill>
                <a:latin typeface="+mn-lt"/>
                <a:ea typeface="+mn-ea"/>
                <a:cs typeface="+mn-cs"/>
              </a:rPr>
              <a:t>-h</a:t>
            </a:r>
            <a:r>
              <a:rPr lang="en-US" dirty="0"/>
              <a:t>, </a:t>
            </a:r>
            <a:r>
              <a:rPr lang="en-US" dirty="0" err="1"/>
              <a:t>то</a:t>
            </a:r>
            <a:r>
              <a:rPr lang="en-US" dirty="0"/>
              <a:t> </a:t>
            </a:r>
            <a:r>
              <a:rPr lang="en-US" dirty="0" err="1"/>
              <a:t>есть</a:t>
            </a:r>
            <a:r>
              <a:rPr lang="en-US" dirty="0"/>
              <a:t> human-readable: </a:t>
            </a:r>
            <a:r>
              <a:rPr lang="en-US" dirty="0" err="1"/>
              <a:t>объёмы</a:t>
            </a:r>
            <a:r>
              <a:rPr lang="en-US" dirty="0"/>
              <a:t> </a:t>
            </a:r>
            <a:r>
              <a:rPr lang="en-US" dirty="0" err="1"/>
              <a:t>памяти</a:t>
            </a:r>
            <a:r>
              <a:rPr lang="en-US" dirty="0"/>
              <a:t> </a:t>
            </a:r>
            <a:r>
              <a:rPr lang="en-US" dirty="0" err="1"/>
              <a:t>выводятся</a:t>
            </a:r>
            <a:r>
              <a:rPr lang="en-US" dirty="0"/>
              <a:t> в </a:t>
            </a:r>
            <a:r>
              <a:rPr lang="en-US" dirty="0" err="1"/>
              <a:t>удобных</a:t>
            </a:r>
            <a:r>
              <a:rPr lang="en-US" dirty="0"/>
              <a:t> </a:t>
            </a:r>
            <a:r>
              <a:rPr lang="en-US" dirty="0" err="1"/>
              <a:t>единицах</a:t>
            </a:r>
            <a:r>
              <a:rPr lang="en-US" dirty="0"/>
              <a:t> — </a:t>
            </a:r>
            <a:r>
              <a:rPr lang="en-US" dirty="0" err="1"/>
              <a:t>мегабайтах</a:t>
            </a:r>
            <a:r>
              <a:rPr lang="en-US" dirty="0"/>
              <a:t> и </a:t>
            </a:r>
            <a:r>
              <a:rPr lang="en-US" dirty="0" err="1"/>
              <a:t>гигабайтах</a:t>
            </a:r>
            <a:r>
              <a:rPr lang="en-US" dirty="0"/>
              <a:t>, а </a:t>
            </a:r>
            <a:r>
              <a:rPr lang="en-US" dirty="0" err="1"/>
              <a:t>не</a:t>
            </a:r>
            <a:r>
              <a:rPr lang="en-US" dirty="0"/>
              <a:t> </a:t>
            </a:r>
            <a:r>
              <a:rPr lang="en-US" dirty="0" err="1"/>
              <a:t>просто</a:t>
            </a:r>
            <a:r>
              <a:rPr lang="en-US" dirty="0"/>
              <a:t> в </a:t>
            </a:r>
            <a:r>
              <a:rPr lang="en-US" dirty="0" err="1"/>
              <a:t>байтах</a:t>
            </a:r>
            <a:r>
              <a:rPr lang="en-US" dirty="0"/>
              <a:t>.</a:t>
            </a:r>
          </a:p>
          <a:p>
            <a:r>
              <a:rPr lang="en-US" dirty="0"/>
              <a:t>В </a:t>
            </a:r>
            <a:r>
              <a:rPr lang="en-US" dirty="0" err="1"/>
              <a:t>первой</a:t>
            </a:r>
            <a:r>
              <a:rPr lang="en-US" dirty="0"/>
              <a:t> </a:t>
            </a:r>
            <a:r>
              <a:rPr lang="en-US" dirty="0" err="1"/>
              <a:t>строке</a:t>
            </a:r>
            <a:r>
              <a:rPr lang="en-US" dirty="0"/>
              <a:t> </a:t>
            </a:r>
            <a:r>
              <a:rPr lang="en-US" dirty="0" err="1"/>
              <a:t>мы</a:t>
            </a:r>
            <a:r>
              <a:rPr lang="en-US" dirty="0"/>
              <a:t> </a:t>
            </a:r>
            <a:r>
              <a:rPr lang="en-US" dirty="0" err="1"/>
              <a:t>видим</a:t>
            </a:r>
            <a:r>
              <a:rPr lang="en-US" dirty="0"/>
              <a:t> </a:t>
            </a:r>
            <a:r>
              <a:rPr lang="en-US" dirty="0" err="1"/>
              <a:t>информацию</a:t>
            </a:r>
            <a:r>
              <a:rPr lang="en-US" dirty="0"/>
              <a:t> </a:t>
            </a:r>
            <a:r>
              <a:rPr lang="en-US" dirty="0" err="1"/>
              <a:t>об</a:t>
            </a:r>
            <a:r>
              <a:rPr lang="en-US" dirty="0"/>
              <a:t> </a:t>
            </a:r>
            <a:r>
              <a:rPr lang="en-US" dirty="0" err="1"/>
              <a:t>оперативной</a:t>
            </a:r>
            <a:r>
              <a:rPr lang="en-US" dirty="0"/>
              <a:t> </a:t>
            </a:r>
            <a:r>
              <a:rPr lang="en-US" dirty="0" err="1"/>
              <a:t>памяти</a:t>
            </a:r>
            <a:r>
              <a:rPr lang="en-US" dirty="0"/>
              <a:t>. </a:t>
            </a:r>
            <a:r>
              <a:rPr lang="en-US" sz="1200" kern="1200" dirty="0">
                <a:solidFill>
                  <a:schemeClr val="tx1"/>
                </a:solidFill>
                <a:latin typeface="+mn-lt"/>
                <a:ea typeface="+mn-ea"/>
                <a:cs typeface="+mn-cs"/>
              </a:rPr>
              <a:t>total</a:t>
            </a:r>
            <a:r>
              <a:rPr lang="en-US" dirty="0"/>
              <a:t> — </a:t>
            </a:r>
            <a:r>
              <a:rPr lang="en-US" dirty="0" err="1"/>
              <a:t>общий</a:t>
            </a:r>
            <a:r>
              <a:rPr lang="en-US" dirty="0"/>
              <a:t> </a:t>
            </a:r>
            <a:r>
              <a:rPr lang="en-US" dirty="0" err="1"/>
              <a:t>объём</a:t>
            </a:r>
            <a:r>
              <a:rPr lang="en-US" dirty="0"/>
              <a:t> RAM, </a:t>
            </a:r>
            <a:r>
              <a:rPr lang="en-US" sz="1200" kern="1200" dirty="0">
                <a:solidFill>
                  <a:schemeClr val="tx1"/>
                </a:solidFill>
                <a:latin typeface="+mn-lt"/>
                <a:ea typeface="+mn-ea"/>
                <a:cs typeface="+mn-cs"/>
              </a:rPr>
              <a:t>used</a:t>
            </a:r>
            <a:r>
              <a:rPr lang="en-US" dirty="0"/>
              <a:t> — </a:t>
            </a:r>
            <a:r>
              <a:rPr lang="en-US" dirty="0" err="1"/>
              <a:t>используемая</a:t>
            </a:r>
            <a:r>
              <a:rPr lang="en-US" dirty="0"/>
              <a:t> </a:t>
            </a:r>
            <a:r>
              <a:rPr lang="en-US" dirty="0" err="1"/>
              <a:t>память</a:t>
            </a:r>
            <a:r>
              <a:rPr lang="en-US" dirty="0"/>
              <a:t>, </a:t>
            </a:r>
            <a:r>
              <a:rPr lang="en-US" sz="1200" kern="1200" dirty="0">
                <a:solidFill>
                  <a:schemeClr val="tx1"/>
                </a:solidFill>
                <a:latin typeface="+mn-lt"/>
                <a:ea typeface="+mn-ea"/>
                <a:cs typeface="+mn-cs"/>
              </a:rPr>
              <a:t>free</a:t>
            </a:r>
            <a:r>
              <a:rPr lang="en-US" dirty="0"/>
              <a:t> — </a:t>
            </a:r>
            <a:r>
              <a:rPr lang="en-US" dirty="0" err="1"/>
              <a:t>полностью</a:t>
            </a:r>
            <a:r>
              <a:rPr lang="en-US" dirty="0"/>
              <a:t> </a:t>
            </a:r>
            <a:r>
              <a:rPr lang="en-US" dirty="0" err="1"/>
              <a:t>свободная</a:t>
            </a:r>
            <a:r>
              <a:rPr lang="en-US" dirty="0"/>
              <a:t>.</a:t>
            </a:r>
            <a:endParaRPr lang="ru-RU" dirty="0"/>
          </a:p>
          <a:p>
            <a:endParaRPr lang="en-US" dirty="0"/>
          </a:p>
          <a:p>
            <a:r>
              <a:rPr lang="en-US" dirty="0" err="1"/>
              <a:t>Отдельно</a:t>
            </a:r>
            <a:r>
              <a:rPr lang="en-US" dirty="0"/>
              <a:t> </a:t>
            </a:r>
            <a:r>
              <a:rPr lang="en-US" dirty="0" err="1"/>
              <a:t>показан</a:t>
            </a:r>
            <a:r>
              <a:rPr lang="en-US" dirty="0"/>
              <a:t> </a:t>
            </a:r>
            <a:r>
              <a:rPr lang="en-US" sz="1200" kern="1200" dirty="0">
                <a:solidFill>
                  <a:schemeClr val="tx1"/>
                </a:solidFill>
                <a:latin typeface="+mn-lt"/>
                <a:ea typeface="+mn-ea"/>
                <a:cs typeface="+mn-cs"/>
              </a:rPr>
              <a:t>buff/cache</a:t>
            </a:r>
            <a:r>
              <a:rPr lang="en-US" dirty="0"/>
              <a:t> — </a:t>
            </a:r>
            <a:r>
              <a:rPr lang="en-US" dirty="0" err="1"/>
              <a:t>память</a:t>
            </a:r>
            <a:r>
              <a:rPr lang="en-US" dirty="0"/>
              <a:t>, </a:t>
            </a:r>
            <a:r>
              <a:rPr lang="en-US" dirty="0" err="1"/>
              <a:t>которую</a:t>
            </a:r>
            <a:r>
              <a:rPr lang="en-US" dirty="0"/>
              <a:t> Linux </a:t>
            </a:r>
            <a:r>
              <a:rPr lang="en-US" dirty="0" err="1"/>
              <a:t>использует</a:t>
            </a:r>
            <a:r>
              <a:rPr lang="en-US" dirty="0"/>
              <a:t> </a:t>
            </a:r>
            <a:r>
              <a:rPr lang="en-US" dirty="0" err="1"/>
              <a:t>для</a:t>
            </a:r>
            <a:r>
              <a:rPr lang="en-US" dirty="0"/>
              <a:t> </a:t>
            </a:r>
            <a:r>
              <a:rPr lang="en-US" dirty="0" err="1"/>
              <a:t>буферов</a:t>
            </a:r>
            <a:r>
              <a:rPr lang="en-US" dirty="0"/>
              <a:t> и </a:t>
            </a:r>
            <a:r>
              <a:rPr lang="en-US" dirty="0" err="1"/>
              <a:t>файлового</a:t>
            </a:r>
            <a:r>
              <a:rPr lang="en-US" dirty="0"/>
              <a:t> </a:t>
            </a:r>
            <a:r>
              <a:rPr lang="en-US" dirty="0" err="1"/>
              <a:t>кэша</a:t>
            </a:r>
            <a:r>
              <a:rPr lang="en-US" dirty="0"/>
              <a:t>. Это </a:t>
            </a:r>
            <a:r>
              <a:rPr lang="en-US" dirty="0" err="1"/>
              <a:t>важный</a:t>
            </a:r>
            <a:r>
              <a:rPr lang="en-US" dirty="0"/>
              <a:t> </a:t>
            </a:r>
            <a:r>
              <a:rPr lang="en-US" dirty="0" err="1"/>
              <a:t>момент</a:t>
            </a:r>
            <a:r>
              <a:rPr lang="en-US" dirty="0"/>
              <a:t>: </a:t>
            </a:r>
            <a:r>
              <a:rPr lang="en-US" dirty="0" err="1"/>
              <a:t>операционная</a:t>
            </a:r>
            <a:r>
              <a:rPr lang="en-US" dirty="0"/>
              <a:t> </a:t>
            </a:r>
            <a:r>
              <a:rPr lang="en-US" dirty="0" err="1"/>
              <a:t>система</a:t>
            </a:r>
            <a:r>
              <a:rPr lang="en-US" dirty="0"/>
              <a:t> </a:t>
            </a:r>
            <a:r>
              <a:rPr lang="en-US" dirty="0" err="1"/>
              <a:t>старается</a:t>
            </a:r>
            <a:r>
              <a:rPr lang="en-US" dirty="0"/>
              <a:t> </a:t>
            </a:r>
            <a:r>
              <a:rPr lang="en-US" dirty="0" err="1"/>
              <a:t>не</a:t>
            </a:r>
            <a:r>
              <a:rPr lang="en-US" dirty="0"/>
              <a:t> </a:t>
            </a:r>
            <a:r>
              <a:rPr lang="en-US" dirty="0" err="1"/>
              <a:t>оставлять</a:t>
            </a:r>
            <a:r>
              <a:rPr lang="en-US" dirty="0"/>
              <a:t> </a:t>
            </a:r>
            <a:r>
              <a:rPr lang="en-US" dirty="0" err="1"/>
              <a:t>оперативную</a:t>
            </a:r>
            <a:r>
              <a:rPr lang="en-US" dirty="0"/>
              <a:t> </a:t>
            </a:r>
            <a:r>
              <a:rPr lang="en-US" dirty="0" err="1"/>
              <a:t>память</a:t>
            </a:r>
            <a:r>
              <a:rPr lang="en-US" dirty="0"/>
              <a:t> </a:t>
            </a:r>
            <a:r>
              <a:rPr lang="en-US" dirty="0" err="1"/>
              <a:t>без</a:t>
            </a:r>
            <a:r>
              <a:rPr lang="en-US" dirty="0"/>
              <a:t> </a:t>
            </a:r>
            <a:r>
              <a:rPr lang="en-US" dirty="0" err="1"/>
              <a:t>дела</a:t>
            </a:r>
            <a:r>
              <a:rPr lang="en-US" dirty="0"/>
              <a:t> и </a:t>
            </a:r>
            <a:r>
              <a:rPr lang="en-US" dirty="0" err="1"/>
              <a:t>использует</a:t>
            </a:r>
            <a:r>
              <a:rPr lang="en-US" dirty="0"/>
              <a:t> </a:t>
            </a:r>
            <a:r>
              <a:rPr lang="en-US" dirty="0" err="1"/>
              <a:t>свободное</a:t>
            </a:r>
            <a:r>
              <a:rPr lang="en-US" dirty="0"/>
              <a:t> </a:t>
            </a:r>
            <a:r>
              <a:rPr lang="en-US" dirty="0" err="1"/>
              <a:t>место</a:t>
            </a:r>
            <a:r>
              <a:rPr lang="en-US" dirty="0"/>
              <a:t> </a:t>
            </a:r>
            <a:r>
              <a:rPr lang="en-US" dirty="0" err="1"/>
              <a:t>для</a:t>
            </a:r>
            <a:r>
              <a:rPr lang="en-US" dirty="0"/>
              <a:t> </a:t>
            </a:r>
            <a:r>
              <a:rPr lang="en-US" dirty="0" err="1"/>
              <a:t>ускорения</a:t>
            </a:r>
            <a:r>
              <a:rPr lang="en-US" dirty="0"/>
              <a:t> </a:t>
            </a:r>
            <a:r>
              <a:rPr lang="en-US" dirty="0" err="1"/>
              <a:t>работы</a:t>
            </a:r>
            <a:r>
              <a:rPr lang="en-US" dirty="0"/>
              <a:t> с </a:t>
            </a:r>
            <a:r>
              <a:rPr lang="en-US" dirty="0" err="1"/>
              <a:t>данными</a:t>
            </a:r>
            <a:r>
              <a:rPr lang="en-US" dirty="0"/>
              <a:t>.</a:t>
            </a:r>
            <a:endParaRPr lang="ru-RU" dirty="0"/>
          </a:p>
          <a:p>
            <a:endParaRPr lang="en-US" dirty="0"/>
          </a:p>
          <a:p>
            <a:r>
              <a:rPr lang="en-US" dirty="0" err="1"/>
              <a:t>Поэтому</a:t>
            </a:r>
            <a:r>
              <a:rPr lang="en-US" dirty="0"/>
              <a:t> </a:t>
            </a:r>
            <a:r>
              <a:rPr lang="en-US" dirty="0" err="1"/>
              <a:t>при</a:t>
            </a:r>
            <a:r>
              <a:rPr lang="en-US" dirty="0"/>
              <a:t> </a:t>
            </a:r>
            <a:r>
              <a:rPr lang="en-US" dirty="0" err="1"/>
              <a:t>оценке</a:t>
            </a:r>
            <a:r>
              <a:rPr lang="en-US" dirty="0"/>
              <a:t> </a:t>
            </a:r>
            <a:r>
              <a:rPr lang="en-US" dirty="0" err="1"/>
              <a:t>того</a:t>
            </a:r>
            <a:r>
              <a:rPr lang="en-US" dirty="0"/>
              <a:t>, </a:t>
            </a:r>
            <a:r>
              <a:rPr lang="en-US" dirty="0" err="1"/>
              <a:t>сколько</a:t>
            </a:r>
            <a:r>
              <a:rPr lang="en-US" dirty="0"/>
              <a:t> </a:t>
            </a:r>
            <a:r>
              <a:rPr lang="en-US" dirty="0" err="1"/>
              <a:t>памяти</a:t>
            </a:r>
            <a:r>
              <a:rPr lang="en-US" dirty="0"/>
              <a:t> </a:t>
            </a:r>
            <a:r>
              <a:rPr lang="en-US" dirty="0" err="1"/>
              <a:t>ещё</a:t>
            </a:r>
            <a:r>
              <a:rPr lang="en-US" dirty="0"/>
              <a:t> </a:t>
            </a:r>
            <a:r>
              <a:rPr lang="en-US" dirty="0" err="1"/>
              <a:t>можно</a:t>
            </a:r>
            <a:r>
              <a:rPr lang="en-US" dirty="0"/>
              <a:t> </a:t>
            </a:r>
            <a:r>
              <a:rPr lang="en-US" dirty="0" err="1"/>
              <a:t>использовать</a:t>
            </a:r>
            <a:r>
              <a:rPr lang="en-US" dirty="0"/>
              <a:t>, </a:t>
            </a:r>
            <a:r>
              <a:rPr lang="en-US" dirty="0" err="1"/>
              <a:t>полезнее</a:t>
            </a:r>
            <a:r>
              <a:rPr lang="en-US" dirty="0"/>
              <a:t> </a:t>
            </a:r>
            <a:r>
              <a:rPr lang="en-US" dirty="0" err="1"/>
              <a:t>смотреть</a:t>
            </a:r>
            <a:r>
              <a:rPr lang="en-US" dirty="0"/>
              <a:t> </a:t>
            </a:r>
            <a:r>
              <a:rPr lang="en-US" dirty="0" err="1"/>
              <a:t>не</a:t>
            </a:r>
            <a:r>
              <a:rPr lang="en-US" dirty="0"/>
              <a:t> </a:t>
            </a:r>
            <a:r>
              <a:rPr lang="en-US" dirty="0" err="1"/>
              <a:t>только</a:t>
            </a:r>
            <a:r>
              <a:rPr lang="en-US" dirty="0"/>
              <a:t> </a:t>
            </a:r>
            <a:r>
              <a:rPr lang="en-US" dirty="0" err="1"/>
              <a:t>на</a:t>
            </a:r>
            <a:r>
              <a:rPr lang="en-US" dirty="0"/>
              <a:t> </a:t>
            </a:r>
            <a:r>
              <a:rPr lang="en-US" sz="1200" kern="1200" dirty="0">
                <a:solidFill>
                  <a:schemeClr val="tx1"/>
                </a:solidFill>
                <a:latin typeface="+mn-lt"/>
                <a:ea typeface="+mn-ea"/>
                <a:cs typeface="+mn-cs"/>
              </a:rPr>
              <a:t>free</a:t>
            </a:r>
            <a:r>
              <a:rPr lang="en-US" dirty="0"/>
              <a:t>, </a:t>
            </a:r>
            <a:r>
              <a:rPr lang="en-US" dirty="0" err="1"/>
              <a:t>но</a:t>
            </a:r>
            <a:r>
              <a:rPr lang="en-US" dirty="0"/>
              <a:t> и </a:t>
            </a:r>
            <a:r>
              <a:rPr lang="en-US" dirty="0" err="1"/>
              <a:t>на</a:t>
            </a:r>
            <a:r>
              <a:rPr lang="en-US" dirty="0"/>
              <a:t> </a:t>
            </a:r>
            <a:r>
              <a:rPr lang="en-US" dirty="0" err="1"/>
              <a:t>столбец</a:t>
            </a:r>
            <a:r>
              <a:rPr lang="en-US" dirty="0"/>
              <a:t> </a:t>
            </a:r>
            <a:r>
              <a:rPr lang="en-US" sz="1200" kern="1200" dirty="0">
                <a:solidFill>
                  <a:schemeClr val="tx1"/>
                </a:solidFill>
                <a:latin typeface="+mn-lt"/>
                <a:ea typeface="+mn-ea"/>
                <a:cs typeface="+mn-cs"/>
              </a:rPr>
              <a:t>available</a:t>
            </a:r>
            <a:r>
              <a:rPr lang="en-US" dirty="0"/>
              <a:t>. </a:t>
            </a:r>
            <a:r>
              <a:rPr lang="en-US" dirty="0" err="1"/>
              <a:t>Он</a:t>
            </a:r>
            <a:r>
              <a:rPr lang="en-US" dirty="0"/>
              <a:t> </a:t>
            </a:r>
            <a:r>
              <a:rPr lang="en-US" dirty="0" err="1"/>
              <a:t>оценивает</a:t>
            </a:r>
            <a:r>
              <a:rPr lang="en-US" dirty="0"/>
              <a:t>, </a:t>
            </a:r>
            <a:r>
              <a:rPr lang="en-US" dirty="0" err="1"/>
              <a:t>сколько</a:t>
            </a:r>
            <a:r>
              <a:rPr lang="en-US" dirty="0"/>
              <a:t> </a:t>
            </a:r>
            <a:r>
              <a:rPr lang="en-US" dirty="0" err="1"/>
              <a:t>памяти</a:t>
            </a:r>
            <a:r>
              <a:rPr lang="en-US" dirty="0"/>
              <a:t> </a:t>
            </a:r>
            <a:r>
              <a:rPr lang="en-US" dirty="0" err="1"/>
              <a:t>система</a:t>
            </a:r>
            <a:r>
              <a:rPr lang="en-US" dirty="0"/>
              <a:t> </a:t>
            </a:r>
            <a:r>
              <a:rPr lang="en-US" dirty="0" err="1"/>
              <a:t>сможет</a:t>
            </a:r>
            <a:r>
              <a:rPr lang="en-US" dirty="0"/>
              <a:t> </a:t>
            </a:r>
            <a:r>
              <a:rPr lang="en-US" dirty="0" err="1"/>
              <a:t>предоставить</a:t>
            </a:r>
            <a:r>
              <a:rPr lang="en-US" dirty="0"/>
              <a:t> </a:t>
            </a:r>
            <a:r>
              <a:rPr lang="en-US" dirty="0" err="1"/>
              <a:t>новым</a:t>
            </a:r>
            <a:r>
              <a:rPr lang="en-US" dirty="0"/>
              <a:t> </a:t>
            </a:r>
            <a:r>
              <a:rPr lang="en-US" dirty="0" err="1"/>
              <a:t>программам</a:t>
            </a:r>
            <a:r>
              <a:rPr lang="en-US" dirty="0"/>
              <a:t> </a:t>
            </a:r>
            <a:r>
              <a:rPr lang="en-US" dirty="0" err="1"/>
              <a:t>без</a:t>
            </a:r>
            <a:r>
              <a:rPr lang="en-US" dirty="0"/>
              <a:t> </a:t>
            </a:r>
            <a:r>
              <a:rPr lang="en-US" dirty="0" err="1"/>
              <a:t>активного</a:t>
            </a:r>
            <a:r>
              <a:rPr lang="en-US" dirty="0"/>
              <a:t> </a:t>
            </a:r>
            <a:r>
              <a:rPr lang="en-US" dirty="0" err="1"/>
              <a:t>использования</a:t>
            </a:r>
            <a:r>
              <a:rPr lang="en-US" dirty="0"/>
              <a:t> swap.</a:t>
            </a:r>
            <a:endParaRPr lang="ru-RU" dirty="0"/>
          </a:p>
          <a:p>
            <a:endParaRPr lang="en-US" dirty="0"/>
          </a:p>
          <a:p>
            <a:r>
              <a:rPr lang="en-US" dirty="0" err="1"/>
              <a:t>Ниже</a:t>
            </a:r>
            <a:r>
              <a:rPr lang="en-US" dirty="0"/>
              <a:t> </a:t>
            </a:r>
            <a:r>
              <a:rPr lang="en-US" dirty="0" err="1"/>
              <a:t>находится</a:t>
            </a:r>
            <a:r>
              <a:rPr lang="en-US" dirty="0"/>
              <a:t> </a:t>
            </a:r>
            <a:r>
              <a:rPr lang="en-US" dirty="0" err="1"/>
              <a:t>строка</a:t>
            </a:r>
            <a:r>
              <a:rPr lang="en-US" dirty="0"/>
              <a:t> </a:t>
            </a:r>
            <a:r>
              <a:rPr lang="en-US" sz="1200" kern="1200" dirty="0">
                <a:solidFill>
                  <a:schemeClr val="tx1"/>
                </a:solidFill>
                <a:latin typeface="+mn-lt"/>
                <a:ea typeface="+mn-ea"/>
                <a:cs typeface="+mn-cs"/>
              </a:rPr>
              <a:t>Swap</a:t>
            </a:r>
            <a:r>
              <a:rPr lang="en-US" dirty="0"/>
              <a:t>. Swap — </a:t>
            </a:r>
            <a:r>
              <a:rPr lang="en-US" dirty="0" err="1"/>
              <a:t>это</a:t>
            </a:r>
            <a:r>
              <a:rPr lang="en-US" dirty="0"/>
              <a:t> </a:t>
            </a:r>
            <a:r>
              <a:rPr lang="en-US" dirty="0" err="1"/>
              <a:t>область</a:t>
            </a:r>
            <a:r>
              <a:rPr lang="en-US" dirty="0"/>
              <a:t> </a:t>
            </a:r>
            <a:r>
              <a:rPr lang="en-US" dirty="0" err="1"/>
              <a:t>на</a:t>
            </a:r>
            <a:r>
              <a:rPr lang="en-US" dirty="0"/>
              <a:t> </a:t>
            </a:r>
            <a:r>
              <a:rPr lang="en-US" dirty="0" err="1"/>
              <a:t>диске</a:t>
            </a:r>
            <a:r>
              <a:rPr lang="en-US" dirty="0"/>
              <a:t>, </a:t>
            </a:r>
            <a:r>
              <a:rPr lang="en-US" dirty="0" err="1"/>
              <a:t>которую</a:t>
            </a:r>
            <a:r>
              <a:rPr lang="en-US" dirty="0"/>
              <a:t> </a:t>
            </a:r>
            <a:r>
              <a:rPr lang="en-US" dirty="0" err="1"/>
              <a:t>система</a:t>
            </a:r>
            <a:r>
              <a:rPr lang="en-US" dirty="0"/>
              <a:t> </a:t>
            </a:r>
            <a:r>
              <a:rPr lang="en-US" dirty="0" err="1"/>
              <a:t>при</a:t>
            </a:r>
            <a:r>
              <a:rPr lang="en-US" dirty="0"/>
              <a:t> </a:t>
            </a:r>
            <a:r>
              <a:rPr lang="en-US" dirty="0" err="1"/>
              <a:t>необходимости</a:t>
            </a:r>
            <a:r>
              <a:rPr lang="en-US" dirty="0"/>
              <a:t> </a:t>
            </a:r>
            <a:r>
              <a:rPr lang="en-US" dirty="0" err="1"/>
              <a:t>может</a:t>
            </a:r>
            <a:r>
              <a:rPr lang="en-US" dirty="0"/>
              <a:t> </a:t>
            </a:r>
            <a:r>
              <a:rPr lang="en-US" dirty="0" err="1"/>
              <a:t>использовать</a:t>
            </a:r>
            <a:r>
              <a:rPr lang="en-US" dirty="0"/>
              <a:t> </a:t>
            </a:r>
            <a:r>
              <a:rPr lang="en-US" dirty="0" err="1"/>
              <a:t>для</a:t>
            </a:r>
            <a:r>
              <a:rPr lang="en-US" dirty="0"/>
              <a:t> </a:t>
            </a:r>
            <a:r>
              <a:rPr lang="en-US" dirty="0" err="1"/>
              <a:t>размещения</a:t>
            </a:r>
            <a:r>
              <a:rPr lang="en-US" dirty="0"/>
              <a:t> </a:t>
            </a:r>
            <a:r>
              <a:rPr lang="en-US" dirty="0" err="1"/>
              <a:t>страниц</a:t>
            </a:r>
            <a:r>
              <a:rPr lang="en-US" dirty="0"/>
              <a:t> </a:t>
            </a:r>
            <a:r>
              <a:rPr lang="en-US" dirty="0" err="1"/>
              <a:t>памяти</a:t>
            </a:r>
            <a:r>
              <a:rPr lang="en-US" dirty="0"/>
              <a:t>. В </a:t>
            </a:r>
            <a:r>
              <a:rPr lang="en-US" dirty="0" err="1"/>
              <a:t>нашем</a:t>
            </a:r>
            <a:r>
              <a:rPr lang="en-US" dirty="0"/>
              <a:t> </a:t>
            </a:r>
            <a:r>
              <a:rPr lang="en-US" dirty="0" err="1"/>
              <a:t>примере</a:t>
            </a:r>
            <a:r>
              <a:rPr lang="en-US" dirty="0"/>
              <a:t> </a:t>
            </a:r>
            <a:r>
              <a:rPr lang="en-US" dirty="0" err="1"/>
              <a:t>выделено</a:t>
            </a:r>
            <a:r>
              <a:rPr lang="en-US" dirty="0"/>
              <a:t> 2 </a:t>
            </a:r>
            <a:r>
              <a:rPr lang="en-US" dirty="0" err="1"/>
              <a:t>гигабайта</a:t>
            </a:r>
            <a:r>
              <a:rPr lang="en-US" dirty="0"/>
              <a:t> swap, </a:t>
            </a:r>
            <a:r>
              <a:rPr lang="en-US" dirty="0" err="1"/>
              <a:t>но</a:t>
            </a:r>
            <a:r>
              <a:rPr lang="en-US" dirty="0"/>
              <a:t> </a:t>
            </a:r>
            <a:r>
              <a:rPr lang="en-US" dirty="0" err="1"/>
              <a:t>сейчас</a:t>
            </a:r>
            <a:r>
              <a:rPr lang="en-US" dirty="0"/>
              <a:t> </a:t>
            </a:r>
            <a:r>
              <a:rPr lang="en-US" dirty="0" err="1"/>
              <a:t>он</a:t>
            </a:r>
            <a:r>
              <a:rPr lang="en-US" dirty="0"/>
              <a:t> </a:t>
            </a:r>
            <a:r>
              <a:rPr lang="en-US" dirty="0" err="1"/>
              <a:t>вообще</a:t>
            </a:r>
            <a:r>
              <a:rPr lang="en-US" dirty="0"/>
              <a:t> </a:t>
            </a:r>
            <a:r>
              <a:rPr lang="en-US" dirty="0" err="1"/>
              <a:t>не</a:t>
            </a:r>
            <a:r>
              <a:rPr lang="en-US" dirty="0"/>
              <a:t> </a:t>
            </a:r>
            <a:r>
              <a:rPr lang="en-US" dirty="0" err="1"/>
              <a:t>используется</a:t>
            </a:r>
            <a:r>
              <a:rPr lang="en-US" dirty="0"/>
              <a:t>.</a:t>
            </a:r>
            <a:endParaRPr lang="ru-RU" dirty="0"/>
          </a:p>
          <a:p>
            <a:endParaRPr lang="en-US" dirty="0"/>
          </a:p>
          <a:p>
            <a:r>
              <a:rPr lang="en-US" dirty="0" err="1"/>
              <a:t>Более</a:t>
            </a:r>
            <a:r>
              <a:rPr lang="en-US" dirty="0"/>
              <a:t> </a:t>
            </a:r>
            <a:r>
              <a:rPr lang="en-US" dirty="0" err="1"/>
              <a:t>подробную</a:t>
            </a:r>
            <a:r>
              <a:rPr lang="en-US" dirty="0"/>
              <a:t> </a:t>
            </a:r>
            <a:r>
              <a:rPr lang="en-US" dirty="0" err="1"/>
              <a:t>динамическую</a:t>
            </a:r>
            <a:r>
              <a:rPr lang="en-US" dirty="0"/>
              <a:t> </a:t>
            </a:r>
            <a:r>
              <a:rPr lang="en-US" dirty="0" err="1"/>
              <a:t>статистику</a:t>
            </a:r>
            <a:r>
              <a:rPr lang="en-US" dirty="0"/>
              <a:t> </a:t>
            </a:r>
            <a:r>
              <a:rPr lang="en-US" dirty="0" err="1"/>
              <a:t>показывает</a:t>
            </a:r>
            <a:r>
              <a:rPr lang="en-US" dirty="0"/>
              <a:t> </a:t>
            </a:r>
            <a:r>
              <a:rPr lang="en-US" dirty="0" err="1"/>
              <a:t>команда</a:t>
            </a:r>
            <a:r>
              <a:rPr lang="en-US" dirty="0"/>
              <a:t> </a:t>
            </a:r>
            <a:r>
              <a:rPr lang="en-US" sz="1200" kern="1200" dirty="0" err="1">
                <a:solidFill>
                  <a:schemeClr val="tx1"/>
                </a:solidFill>
                <a:latin typeface="+mn-lt"/>
                <a:ea typeface="+mn-ea"/>
                <a:cs typeface="+mn-cs"/>
              </a:rPr>
              <a:t>vmstat</a:t>
            </a:r>
            <a:r>
              <a:rPr lang="en-US" dirty="0"/>
              <a:t>, </a:t>
            </a:r>
            <a:r>
              <a:rPr lang="en-US" dirty="0" err="1"/>
              <a:t>то</a:t>
            </a:r>
            <a:r>
              <a:rPr lang="en-US" dirty="0"/>
              <a:t> </a:t>
            </a:r>
            <a:r>
              <a:rPr lang="en-US" dirty="0" err="1"/>
              <a:t>есть</a:t>
            </a:r>
            <a:r>
              <a:rPr lang="en-US" dirty="0"/>
              <a:t> Virtual Memory Statistics.</a:t>
            </a:r>
            <a:endParaRPr lang="ru-RU" dirty="0"/>
          </a:p>
          <a:p>
            <a:endParaRPr lang="en-US" dirty="0"/>
          </a:p>
          <a:p>
            <a:r>
              <a:rPr lang="en-US" dirty="0" err="1"/>
              <a:t>Здесь</a:t>
            </a:r>
            <a:r>
              <a:rPr lang="en-US" dirty="0"/>
              <a:t> </a:t>
            </a:r>
            <a:r>
              <a:rPr lang="en-US" dirty="0" err="1"/>
              <a:t>нас</a:t>
            </a:r>
            <a:r>
              <a:rPr lang="en-US" dirty="0"/>
              <a:t> </a:t>
            </a:r>
            <a:r>
              <a:rPr lang="en-US" dirty="0" err="1"/>
              <a:t>прежде</a:t>
            </a:r>
            <a:r>
              <a:rPr lang="en-US" dirty="0"/>
              <a:t> </a:t>
            </a:r>
            <a:r>
              <a:rPr lang="en-US" dirty="0" err="1"/>
              <a:t>всего</a:t>
            </a:r>
            <a:r>
              <a:rPr lang="en-US" dirty="0"/>
              <a:t> </a:t>
            </a:r>
            <a:r>
              <a:rPr lang="en-US" dirty="0" err="1"/>
              <a:t>интересуют</a:t>
            </a:r>
            <a:r>
              <a:rPr lang="en-US" dirty="0"/>
              <a:t> </a:t>
            </a:r>
            <a:r>
              <a:rPr lang="en-US" dirty="0" err="1"/>
              <a:t>несколько</a:t>
            </a:r>
            <a:r>
              <a:rPr lang="en-US" dirty="0"/>
              <a:t> </a:t>
            </a:r>
            <a:r>
              <a:rPr lang="en-US" dirty="0" err="1"/>
              <a:t>групп</a:t>
            </a:r>
            <a:r>
              <a:rPr lang="en-US" dirty="0"/>
              <a:t> </a:t>
            </a:r>
            <a:r>
              <a:rPr lang="en-US" dirty="0" err="1"/>
              <a:t>показателей</a:t>
            </a:r>
            <a:r>
              <a:rPr lang="en-US" dirty="0"/>
              <a:t>.</a:t>
            </a:r>
          </a:p>
          <a:p>
            <a:r>
              <a:rPr lang="en-US" dirty="0"/>
              <a:t>В </a:t>
            </a:r>
            <a:r>
              <a:rPr lang="en-US" dirty="0" err="1"/>
              <a:t>секции</a:t>
            </a:r>
            <a:r>
              <a:rPr lang="en-US" dirty="0"/>
              <a:t> </a:t>
            </a:r>
            <a:r>
              <a:rPr lang="en-US" sz="1200" kern="1200" dirty="0">
                <a:solidFill>
                  <a:schemeClr val="tx1"/>
                </a:solidFill>
                <a:latin typeface="+mn-lt"/>
                <a:ea typeface="+mn-ea"/>
                <a:cs typeface="+mn-cs"/>
              </a:rPr>
              <a:t>memory</a:t>
            </a:r>
            <a:r>
              <a:rPr lang="en-US" dirty="0"/>
              <a:t> </a:t>
            </a:r>
            <a:r>
              <a:rPr lang="en-US" dirty="0" err="1"/>
              <a:t>можно</a:t>
            </a:r>
            <a:r>
              <a:rPr lang="en-US" dirty="0"/>
              <a:t> </a:t>
            </a:r>
            <a:r>
              <a:rPr lang="en-US" dirty="0" err="1"/>
              <a:t>увидеть</a:t>
            </a:r>
            <a:r>
              <a:rPr lang="en-US" dirty="0"/>
              <a:t> </a:t>
            </a:r>
            <a:r>
              <a:rPr lang="en-US" dirty="0" err="1"/>
              <a:t>объём</a:t>
            </a:r>
            <a:r>
              <a:rPr lang="en-US" dirty="0"/>
              <a:t> </a:t>
            </a:r>
            <a:r>
              <a:rPr lang="en-US" dirty="0" err="1"/>
              <a:t>свободной</a:t>
            </a:r>
            <a:r>
              <a:rPr lang="en-US" dirty="0"/>
              <a:t> </a:t>
            </a:r>
            <a:r>
              <a:rPr lang="en-US" dirty="0" err="1"/>
              <a:t>памяти</a:t>
            </a:r>
            <a:r>
              <a:rPr lang="en-US" dirty="0"/>
              <a:t>, </a:t>
            </a:r>
            <a:r>
              <a:rPr lang="en-US" dirty="0" err="1"/>
              <a:t>буферов</a:t>
            </a:r>
            <a:r>
              <a:rPr lang="en-US" dirty="0"/>
              <a:t> и </a:t>
            </a:r>
            <a:r>
              <a:rPr lang="en-US" dirty="0" err="1"/>
              <a:t>кэша</a:t>
            </a:r>
            <a:r>
              <a:rPr lang="en-US" dirty="0"/>
              <a:t>.</a:t>
            </a:r>
            <a:endParaRPr lang="ru-RU" dirty="0"/>
          </a:p>
          <a:p>
            <a:endParaRPr lang="en-US" dirty="0"/>
          </a:p>
          <a:p>
            <a:r>
              <a:rPr lang="en-US" dirty="0" err="1"/>
              <a:t>Столбцы</a:t>
            </a:r>
            <a:r>
              <a:rPr lang="en-US" dirty="0"/>
              <a:t> </a:t>
            </a:r>
            <a:r>
              <a:rPr lang="en-US" sz="1200" kern="1200" dirty="0" err="1">
                <a:solidFill>
                  <a:schemeClr val="tx1"/>
                </a:solidFill>
                <a:latin typeface="+mn-lt"/>
                <a:ea typeface="+mn-ea"/>
                <a:cs typeface="+mn-cs"/>
              </a:rPr>
              <a:t>si</a:t>
            </a:r>
            <a:r>
              <a:rPr lang="en-US" dirty="0"/>
              <a:t> и </a:t>
            </a:r>
            <a:r>
              <a:rPr lang="en-US" sz="1200" kern="1200" dirty="0">
                <a:solidFill>
                  <a:schemeClr val="tx1"/>
                </a:solidFill>
                <a:latin typeface="+mn-lt"/>
                <a:ea typeface="+mn-ea"/>
                <a:cs typeface="+mn-cs"/>
              </a:rPr>
              <a:t>so</a:t>
            </a:r>
            <a:r>
              <a:rPr lang="en-US" dirty="0"/>
              <a:t> </a:t>
            </a:r>
            <a:r>
              <a:rPr lang="en-US" dirty="0" err="1"/>
              <a:t>показывают</a:t>
            </a:r>
            <a:r>
              <a:rPr lang="en-US" dirty="0"/>
              <a:t> </a:t>
            </a:r>
            <a:r>
              <a:rPr lang="en-US" dirty="0" err="1"/>
              <a:t>активность</a:t>
            </a:r>
            <a:r>
              <a:rPr lang="en-US" dirty="0"/>
              <a:t> swap: </a:t>
            </a:r>
            <a:r>
              <a:rPr lang="en-US" dirty="0" err="1"/>
              <a:t>сколько</a:t>
            </a:r>
            <a:r>
              <a:rPr lang="en-US" dirty="0"/>
              <a:t> </a:t>
            </a:r>
            <a:r>
              <a:rPr lang="en-US" dirty="0" err="1"/>
              <a:t>данных</a:t>
            </a:r>
            <a:r>
              <a:rPr lang="en-US" dirty="0"/>
              <a:t> </a:t>
            </a:r>
            <a:r>
              <a:rPr lang="en-US" dirty="0" err="1"/>
              <a:t>подкачивается</a:t>
            </a:r>
            <a:r>
              <a:rPr lang="en-US" dirty="0"/>
              <a:t> с </a:t>
            </a:r>
            <a:r>
              <a:rPr lang="en-US" dirty="0" err="1"/>
              <a:t>диска</a:t>
            </a:r>
            <a:r>
              <a:rPr lang="en-US" dirty="0"/>
              <a:t> в </a:t>
            </a:r>
            <a:r>
              <a:rPr lang="en-US" dirty="0" err="1"/>
              <a:t>память</a:t>
            </a:r>
            <a:r>
              <a:rPr lang="en-US" dirty="0"/>
              <a:t> и </a:t>
            </a:r>
            <a:r>
              <a:rPr lang="en-US" dirty="0" err="1"/>
              <a:t>выгружается</a:t>
            </a:r>
            <a:r>
              <a:rPr lang="en-US" dirty="0"/>
              <a:t> </a:t>
            </a:r>
            <a:r>
              <a:rPr lang="en-US" dirty="0" err="1"/>
              <a:t>обратно</a:t>
            </a:r>
            <a:r>
              <a:rPr lang="en-US" dirty="0"/>
              <a:t>. В </a:t>
            </a:r>
            <a:r>
              <a:rPr lang="en-US" dirty="0" err="1"/>
              <a:t>нашем</a:t>
            </a:r>
            <a:r>
              <a:rPr lang="en-US" dirty="0"/>
              <a:t> </a:t>
            </a:r>
            <a:r>
              <a:rPr lang="en-US" dirty="0" err="1"/>
              <a:t>примере</a:t>
            </a:r>
            <a:r>
              <a:rPr lang="en-US" dirty="0"/>
              <a:t> </a:t>
            </a:r>
            <a:r>
              <a:rPr lang="en-US" dirty="0" err="1"/>
              <a:t>оба</a:t>
            </a:r>
            <a:r>
              <a:rPr lang="en-US" dirty="0"/>
              <a:t> </a:t>
            </a:r>
            <a:r>
              <a:rPr lang="en-US" dirty="0" err="1"/>
              <a:t>значения</a:t>
            </a:r>
            <a:r>
              <a:rPr lang="en-US" dirty="0"/>
              <a:t> </a:t>
            </a:r>
            <a:r>
              <a:rPr lang="en-US" dirty="0" err="1"/>
              <a:t>равны</a:t>
            </a:r>
            <a:r>
              <a:rPr lang="en-US" dirty="0"/>
              <a:t> </a:t>
            </a:r>
            <a:r>
              <a:rPr lang="en-US" dirty="0" err="1"/>
              <a:t>нулю</a:t>
            </a:r>
            <a:r>
              <a:rPr lang="en-US" dirty="0"/>
              <a:t>, </a:t>
            </a:r>
            <a:r>
              <a:rPr lang="en-US" dirty="0" err="1"/>
              <a:t>то</a:t>
            </a:r>
            <a:r>
              <a:rPr lang="en-US" dirty="0"/>
              <a:t> </a:t>
            </a:r>
            <a:r>
              <a:rPr lang="en-US" dirty="0" err="1"/>
              <a:t>есть</a:t>
            </a:r>
            <a:r>
              <a:rPr lang="en-US" dirty="0"/>
              <a:t> </a:t>
            </a:r>
            <a:r>
              <a:rPr lang="en-US" dirty="0" err="1"/>
              <a:t>система</a:t>
            </a:r>
            <a:r>
              <a:rPr lang="en-US" dirty="0"/>
              <a:t> </a:t>
            </a:r>
            <a:r>
              <a:rPr lang="en-US" dirty="0" err="1"/>
              <a:t>сейчас</a:t>
            </a:r>
            <a:r>
              <a:rPr lang="en-US" dirty="0"/>
              <a:t> </a:t>
            </a:r>
            <a:r>
              <a:rPr lang="en-US" dirty="0" err="1"/>
              <a:t>не</a:t>
            </a:r>
            <a:r>
              <a:rPr lang="en-US" dirty="0"/>
              <a:t> </a:t>
            </a:r>
            <a:r>
              <a:rPr lang="en-US" dirty="0" err="1"/>
              <a:t>занимается</a:t>
            </a:r>
            <a:r>
              <a:rPr lang="en-US" dirty="0"/>
              <a:t> </a:t>
            </a:r>
            <a:r>
              <a:rPr lang="en-US" dirty="0" err="1"/>
              <a:t>подкачкой</a:t>
            </a:r>
            <a:r>
              <a:rPr lang="en-US" dirty="0"/>
              <a:t>.</a:t>
            </a:r>
            <a:endParaRPr lang="ru-RU" dirty="0"/>
          </a:p>
          <a:p>
            <a:endParaRPr lang="en-US" dirty="0"/>
          </a:p>
          <a:p>
            <a:r>
              <a:rPr lang="en-US" dirty="0" err="1"/>
              <a:t>Справа</a:t>
            </a:r>
            <a:r>
              <a:rPr lang="en-US" dirty="0"/>
              <a:t> </a:t>
            </a:r>
            <a:r>
              <a:rPr lang="en-US" dirty="0" err="1"/>
              <a:t>также</a:t>
            </a:r>
            <a:r>
              <a:rPr lang="en-US" dirty="0"/>
              <a:t> </a:t>
            </a:r>
            <a:r>
              <a:rPr lang="en-US" dirty="0" err="1"/>
              <a:t>показана</a:t>
            </a:r>
            <a:r>
              <a:rPr lang="en-US" dirty="0"/>
              <a:t> </a:t>
            </a:r>
            <a:r>
              <a:rPr lang="en-US" dirty="0" err="1"/>
              <a:t>статистика</a:t>
            </a:r>
            <a:r>
              <a:rPr lang="en-US" dirty="0"/>
              <a:t> </a:t>
            </a:r>
            <a:r>
              <a:rPr lang="en-US" dirty="0" err="1"/>
              <a:t>процессора</a:t>
            </a:r>
            <a:r>
              <a:rPr lang="en-US" dirty="0"/>
              <a:t>. </a:t>
            </a:r>
            <a:r>
              <a:rPr lang="en-US" dirty="0" err="1"/>
              <a:t>Например</a:t>
            </a:r>
            <a:r>
              <a:rPr lang="en-US" dirty="0"/>
              <a:t>, </a:t>
            </a:r>
            <a:r>
              <a:rPr lang="en-US" sz="1200" kern="1200" dirty="0">
                <a:solidFill>
                  <a:schemeClr val="tx1"/>
                </a:solidFill>
                <a:latin typeface="+mn-lt"/>
                <a:ea typeface="+mn-ea"/>
                <a:cs typeface="+mn-cs"/>
              </a:rPr>
              <a:t>id</a:t>
            </a:r>
            <a:r>
              <a:rPr lang="en-US" dirty="0"/>
              <a:t> </a:t>
            </a:r>
            <a:r>
              <a:rPr lang="en-US" dirty="0" err="1"/>
              <a:t>означает</a:t>
            </a:r>
            <a:r>
              <a:rPr lang="en-US" dirty="0"/>
              <a:t> </a:t>
            </a:r>
            <a:r>
              <a:rPr lang="en-US" dirty="0" err="1"/>
              <a:t>долю</a:t>
            </a:r>
            <a:r>
              <a:rPr lang="en-US" dirty="0"/>
              <a:t> </a:t>
            </a:r>
            <a:r>
              <a:rPr lang="en-US" dirty="0" err="1"/>
              <a:t>времени</a:t>
            </a:r>
            <a:r>
              <a:rPr lang="en-US" dirty="0"/>
              <a:t>, </a:t>
            </a:r>
            <a:r>
              <a:rPr lang="en-US" dirty="0" err="1"/>
              <a:t>когда</a:t>
            </a:r>
            <a:r>
              <a:rPr lang="en-US" dirty="0"/>
              <a:t> </a:t>
            </a:r>
            <a:r>
              <a:rPr lang="en-US" dirty="0" err="1"/>
              <a:t>процессор</a:t>
            </a:r>
            <a:r>
              <a:rPr lang="en-US" dirty="0"/>
              <a:t> </a:t>
            </a:r>
            <a:r>
              <a:rPr lang="en-US" dirty="0" err="1"/>
              <a:t>простаивал</a:t>
            </a:r>
            <a:r>
              <a:rPr lang="en-US" dirty="0"/>
              <a:t>. </a:t>
            </a:r>
            <a:r>
              <a:rPr lang="en-US" dirty="0" err="1"/>
              <a:t>Здесь</a:t>
            </a:r>
            <a:r>
              <a:rPr lang="en-US" dirty="0"/>
              <a:t> </a:t>
            </a:r>
            <a:r>
              <a:rPr lang="en-US" dirty="0" err="1"/>
              <a:t>она</a:t>
            </a:r>
            <a:r>
              <a:rPr lang="en-US" dirty="0"/>
              <a:t> </a:t>
            </a:r>
            <a:r>
              <a:rPr lang="en-US" dirty="0" err="1"/>
              <a:t>практически</a:t>
            </a:r>
            <a:r>
              <a:rPr lang="en-US" dirty="0"/>
              <a:t> </a:t>
            </a:r>
            <a:r>
              <a:rPr lang="en-US" dirty="0" err="1"/>
              <a:t>равна</a:t>
            </a:r>
            <a:r>
              <a:rPr lang="en-US" dirty="0"/>
              <a:t> </a:t>
            </a:r>
            <a:r>
              <a:rPr lang="en-US" dirty="0" err="1"/>
              <a:t>ста</a:t>
            </a:r>
            <a:r>
              <a:rPr lang="en-US" dirty="0"/>
              <a:t> </a:t>
            </a:r>
            <a:r>
              <a:rPr lang="en-US" dirty="0" err="1"/>
              <a:t>процентам</a:t>
            </a:r>
            <a:r>
              <a:rPr lang="en-US" dirty="0"/>
              <a:t>, </a:t>
            </a:r>
            <a:r>
              <a:rPr lang="en-US" dirty="0" err="1"/>
              <a:t>поэтому</a:t>
            </a:r>
            <a:r>
              <a:rPr lang="en-US" dirty="0"/>
              <a:t> в </a:t>
            </a:r>
            <a:r>
              <a:rPr lang="en-US" dirty="0" err="1"/>
              <a:t>момент</a:t>
            </a:r>
            <a:r>
              <a:rPr lang="en-US" dirty="0"/>
              <a:t> </a:t>
            </a:r>
            <a:r>
              <a:rPr lang="en-US" dirty="0" err="1"/>
              <a:t>измерения</a:t>
            </a:r>
            <a:r>
              <a:rPr lang="en-US" dirty="0"/>
              <a:t> </a:t>
            </a:r>
            <a:r>
              <a:rPr lang="en-US" dirty="0" err="1"/>
              <a:t>система</a:t>
            </a:r>
            <a:r>
              <a:rPr lang="en-US" dirty="0"/>
              <a:t> </a:t>
            </a:r>
            <a:r>
              <a:rPr lang="en-US" dirty="0" err="1"/>
              <a:t>почти</a:t>
            </a:r>
            <a:r>
              <a:rPr lang="en-US" dirty="0"/>
              <a:t> </a:t>
            </a:r>
            <a:r>
              <a:rPr lang="en-US" dirty="0" err="1"/>
              <a:t>ничем</a:t>
            </a:r>
            <a:r>
              <a:rPr lang="en-US" dirty="0"/>
              <a:t> </a:t>
            </a:r>
            <a:r>
              <a:rPr lang="en-US" dirty="0" err="1"/>
              <a:t>не</a:t>
            </a:r>
            <a:r>
              <a:rPr lang="en-US" dirty="0"/>
              <a:t> </a:t>
            </a:r>
            <a:r>
              <a:rPr lang="en-US" dirty="0" err="1"/>
              <a:t>была</a:t>
            </a:r>
            <a:r>
              <a:rPr lang="en-US" dirty="0"/>
              <a:t> </a:t>
            </a:r>
            <a:r>
              <a:rPr lang="en-US" dirty="0" err="1"/>
              <a:t>загружена</a:t>
            </a:r>
            <a:r>
              <a:rPr lang="en-US" dirty="0"/>
              <a:t>.</a:t>
            </a:r>
            <a:endParaRPr lang="ru-RU" dirty="0"/>
          </a:p>
          <a:p>
            <a:endParaRPr lang="en-US" dirty="0"/>
          </a:p>
          <a:p>
            <a:r>
              <a:rPr lang="en-US" dirty="0" err="1"/>
              <a:t>Таким</a:t>
            </a:r>
            <a:r>
              <a:rPr lang="en-US" dirty="0"/>
              <a:t> </a:t>
            </a:r>
            <a:r>
              <a:rPr lang="en-US" dirty="0" err="1"/>
              <a:t>образом</a:t>
            </a:r>
            <a:r>
              <a:rPr lang="en-US" dirty="0"/>
              <a:t>, </a:t>
            </a:r>
            <a:r>
              <a:rPr lang="en-US" sz="1200" kern="1200" dirty="0">
                <a:solidFill>
                  <a:schemeClr val="tx1"/>
                </a:solidFill>
                <a:latin typeface="+mn-lt"/>
                <a:ea typeface="+mn-ea"/>
                <a:cs typeface="+mn-cs"/>
              </a:rPr>
              <a:t>free</a:t>
            </a:r>
            <a:r>
              <a:rPr lang="en-US" dirty="0"/>
              <a:t> </a:t>
            </a:r>
            <a:r>
              <a:rPr lang="en-US" dirty="0" err="1"/>
              <a:t>удобно</a:t>
            </a:r>
            <a:r>
              <a:rPr lang="en-US" dirty="0"/>
              <a:t> </a:t>
            </a:r>
            <a:r>
              <a:rPr lang="en-US" dirty="0" err="1"/>
              <a:t>использовать</a:t>
            </a:r>
            <a:r>
              <a:rPr lang="en-US" dirty="0"/>
              <a:t> </a:t>
            </a:r>
            <a:r>
              <a:rPr lang="en-US" dirty="0" err="1"/>
              <a:t>для</a:t>
            </a:r>
            <a:r>
              <a:rPr lang="en-US" dirty="0"/>
              <a:t> </a:t>
            </a:r>
            <a:r>
              <a:rPr lang="en-US" dirty="0" err="1"/>
              <a:t>быстрого</a:t>
            </a:r>
            <a:r>
              <a:rPr lang="en-US" dirty="0"/>
              <a:t> </a:t>
            </a:r>
            <a:r>
              <a:rPr lang="en-US" dirty="0" err="1"/>
              <a:t>ответа</a:t>
            </a:r>
            <a:r>
              <a:rPr lang="en-US" dirty="0"/>
              <a:t> </a:t>
            </a:r>
            <a:r>
              <a:rPr lang="en-US" dirty="0" err="1"/>
              <a:t>на</a:t>
            </a:r>
            <a:r>
              <a:rPr lang="en-US" dirty="0"/>
              <a:t> </a:t>
            </a:r>
            <a:r>
              <a:rPr lang="en-US" dirty="0" err="1"/>
              <a:t>вопрос</a:t>
            </a:r>
            <a:r>
              <a:rPr lang="en-US" dirty="0"/>
              <a:t> «</a:t>
            </a:r>
            <a:r>
              <a:rPr lang="en-US" dirty="0" err="1"/>
              <a:t>сколько</a:t>
            </a:r>
            <a:r>
              <a:rPr lang="en-US" dirty="0"/>
              <a:t> </a:t>
            </a:r>
            <a:r>
              <a:rPr lang="en-US" dirty="0" err="1"/>
              <a:t>памяти</a:t>
            </a:r>
            <a:r>
              <a:rPr lang="en-US" dirty="0"/>
              <a:t> у </a:t>
            </a:r>
            <a:r>
              <a:rPr lang="en-US" dirty="0" err="1"/>
              <a:t>нас</a:t>
            </a:r>
            <a:r>
              <a:rPr lang="en-US" dirty="0"/>
              <a:t> </a:t>
            </a:r>
            <a:r>
              <a:rPr lang="en-US" dirty="0" err="1"/>
              <a:t>есть</a:t>
            </a:r>
            <a:r>
              <a:rPr lang="en-US" dirty="0"/>
              <a:t> и </a:t>
            </a:r>
            <a:r>
              <a:rPr lang="en-US" dirty="0" err="1"/>
              <a:t>сколько</a:t>
            </a:r>
            <a:r>
              <a:rPr lang="en-US" dirty="0"/>
              <a:t> </a:t>
            </a:r>
            <a:r>
              <a:rPr lang="en-US" dirty="0" err="1"/>
              <a:t>доступно</a:t>
            </a:r>
            <a:r>
              <a:rPr lang="en-US" dirty="0"/>
              <a:t>», а </a:t>
            </a:r>
            <a:r>
              <a:rPr lang="en-US" sz="1200" kern="1200" dirty="0" err="1">
                <a:solidFill>
                  <a:schemeClr val="tx1"/>
                </a:solidFill>
                <a:latin typeface="+mn-lt"/>
                <a:ea typeface="+mn-ea"/>
                <a:cs typeface="+mn-cs"/>
              </a:rPr>
              <a:t>vmstat</a:t>
            </a:r>
            <a:r>
              <a:rPr lang="en-US" dirty="0"/>
              <a:t> — </a:t>
            </a:r>
            <a:r>
              <a:rPr lang="en-US" dirty="0" err="1"/>
              <a:t>когда</a:t>
            </a:r>
            <a:r>
              <a:rPr lang="en-US" dirty="0"/>
              <a:t> </a:t>
            </a:r>
            <a:r>
              <a:rPr lang="en-US" dirty="0" err="1"/>
              <a:t>нужно</a:t>
            </a:r>
            <a:r>
              <a:rPr lang="en-US" dirty="0"/>
              <a:t> </a:t>
            </a:r>
            <a:r>
              <a:rPr lang="en-US" dirty="0" err="1"/>
              <a:t>понять</a:t>
            </a:r>
            <a:r>
              <a:rPr lang="en-US" dirty="0"/>
              <a:t>, </a:t>
            </a:r>
            <a:r>
              <a:rPr lang="en-US" dirty="0" err="1"/>
              <a:t>что</a:t>
            </a:r>
            <a:r>
              <a:rPr lang="en-US" dirty="0"/>
              <a:t> </a:t>
            </a:r>
            <a:r>
              <a:rPr lang="en-US" dirty="0" err="1"/>
              <a:t>происходит</a:t>
            </a:r>
            <a:r>
              <a:rPr lang="en-US" dirty="0"/>
              <a:t> с </a:t>
            </a:r>
            <a:r>
              <a:rPr lang="en-US" dirty="0" err="1"/>
              <a:t>памятью</a:t>
            </a:r>
            <a:r>
              <a:rPr lang="en-US" dirty="0"/>
              <a:t> и </a:t>
            </a:r>
            <a:r>
              <a:rPr lang="en-US" dirty="0" err="1"/>
              <a:t>системой</a:t>
            </a:r>
            <a:r>
              <a:rPr lang="en-US" dirty="0"/>
              <a:t> в </a:t>
            </a:r>
            <a:r>
              <a:rPr lang="en-US" dirty="0" err="1"/>
              <a:t>динамике</a:t>
            </a:r>
            <a:r>
              <a:rPr lang="en-US" dirty="0"/>
              <a:t>.</a:t>
            </a:r>
          </a:p>
          <a:p>
            <a:r>
              <a:rPr lang="en-US" dirty="0"/>
              <a:t>А </a:t>
            </a:r>
            <a:r>
              <a:rPr lang="en-US" dirty="0" err="1"/>
              <a:t>если</a:t>
            </a:r>
            <a:r>
              <a:rPr lang="en-US" dirty="0"/>
              <a:t> </a:t>
            </a:r>
            <a:r>
              <a:rPr lang="en-US" dirty="0" err="1"/>
              <a:t>мы</a:t>
            </a:r>
            <a:r>
              <a:rPr lang="en-US" dirty="0"/>
              <a:t> </a:t>
            </a:r>
            <a:r>
              <a:rPr lang="en-US" dirty="0" err="1"/>
              <a:t>хотим</a:t>
            </a:r>
            <a:r>
              <a:rPr lang="en-US" dirty="0"/>
              <a:t> </a:t>
            </a:r>
            <a:r>
              <a:rPr lang="en-US" dirty="0" err="1"/>
              <a:t>увидеть</a:t>
            </a:r>
            <a:r>
              <a:rPr lang="en-US" dirty="0"/>
              <a:t>, </a:t>
            </a:r>
            <a:r>
              <a:rPr lang="en-US" dirty="0" err="1"/>
              <a:t>какие</a:t>
            </a:r>
            <a:r>
              <a:rPr lang="en-US" dirty="0"/>
              <a:t> </a:t>
            </a:r>
            <a:r>
              <a:rPr lang="en-US" dirty="0" err="1"/>
              <a:t>именно</a:t>
            </a:r>
            <a:r>
              <a:rPr lang="en-US" dirty="0"/>
              <a:t> </a:t>
            </a:r>
            <a:r>
              <a:rPr lang="en-US" dirty="0" err="1"/>
              <a:t>процессы</a:t>
            </a:r>
            <a:r>
              <a:rPr lang="en-US" dirty="0"/>
              <a:t> </a:t>
            </a:r>
            <a:r>
              <a:rPr lang="en-US" dirty="0" err="1"/>
              <a:t>используют</a:t>
            </a:r>
            <a:r>
              <a:rPr lang="en-US" dirty="0"/>
              <a:t> </a:t>
            </a:r>
            <a:r>
              <a:rPr lang="en-US" dirty="0" err="1"/>
              <a:t>память</a:t>
            </a:r>
            <a:r>
              <a:rPr lang="en-US" dirty="0"/>
              <a:t>, </a:t>
            </a:r>
            <a:r>
              <a:rPr lang="en-US" dirty="0" err="1"/>
              <a:t>для</a:t>
            </a:r>
            <a:r>
              <a:rPr lang="en-US" dirty="0"/>
              <a:t> </a:t>
            </a:r>
            <a:r>
              <a:rPr lang="en-US" dirty="0" err="1"/>
              <a:t>этого</a:t>
            </a:r>
            <a:r>
              <a:rPr lang="en-US" dirty="0"/>
              <a:t> </a:t>
            </a:r>
            <a:r>
              <a:rPr lang="en-US" dirty="0" err="1"/>
              <a:t>удобнее</a:t>
            </a:r>
            <a:r>
              <a:rPr lang="en-US" dirty="0"/>
              <a:t> </a:t>
            </a:r>
            <a:r>
              <a:rPr lang="en-US" dirty="0" err="1"/>
              <a:t>команды</a:t>
            </a:r>
            <a:r>
              <a:rPr lang="en-US" dirty="0"/>
              <a:t> </a:t>
            </a:r>
            <a:r>
              <a:rPr lang="en-US" sz="1200" kern="1200" dirty="0">
                <a:solidFill>
                  <a:schemeClr val="tx1"/>
                </a:solidFill>
                <a:latin typeface="+mn-lt"/>
                <a:ea typeface="+mn-ea"/>
                <a:cs typeface="+mn-cs"/>
              </a:rPr>
              <a:t>top</a:t>
            </a:r>
            <a:r>
              <a:rPr lang="en-US" dirty="0"/>
              <a:t> и </a:t>
            </a:r>
            <a:r>
              <a:rPr lang="en-US" sz="1200" kern="1200" dirty="0" err="1">
                <a:solidFill>
                  <a:schemeClr val="tx1"/>
                </a:solidFill>
                <a:latin typeface="+mn-lt"/>
                <a:ea typeface="+mn-ea"/>
                <a:cs typeface="+mn-cs"/>
              </a:rPr>
              <a:t>htop</a:t>
            </a:r>
            <a:r>
              <a:rPr lang="en-US" dirty="0"/>
              <a:t>, </a:t>
            </a:r>
            <a:r>
              <a:rPr lang="en-US" dirty="0" err="1"/>
              <a:t>которые</a:t>
            </a:r>
            <a:r>
              <a:rPr lang="en-US" dirty="0"/>
              <a:t> </a:t>
            </a:r>
            <a:r>
              <a:rPr lang="en-US" dirty="0" err="1"/>
              <a:t>мы</a:t>
            </a:r>
            <a:r>
              <a:rPr lang="en-US" dirty="0"/>
              <a:t> </a:t>
            </a:r>
            <a:r>
              <a:rPr lang="en-US" dirty="0" err="1"/>
              <a:t>рассмотрим</a:t>
            </a:r>
            <a:r>
              <a:rPr lang="en-US" dirty="0"/>
              <a:t> </a:t>
            </a:r>
            <a:r>
              <a:rPr lang="en-US" dirty="0" err="1"/>
              <a:t>дальше</a:t>
            </a:r>
            <a:r>
              <a:rPr lang="en-US" dirty="0"/>
              <a:t>.</a:t>
            </a:r>
          </a:p>
          <a:p>
            <a:endParaRPr lang="en-US" dirty="0"/>
          </a:p>
        </p:txBody>
      </p:sp>
      <p:sp>
        <p:nvSpPr>
          <p:cNvPr id="4" name="Slide Number Placeholder 3"/>
          <p:cNvSpPr>
            <a:spLocks noGrp="1"/>
          </p:cNvSpPr>
          <p:nvPr>
            <p:ph type="sldNum" sz="quarter" idx="5"/>
          </p:nvPr>
        </p:nvSpPr>
        <p:spPr/>
        <p:txBody>
          <a:bodyPr/>
          <a:lstStyle/>
          <a:p>
            <a:fld id="{A3EE74EF-BE85-44F3-968F-E74DD74A629E}" type="slidenum">
              <a:rPr lang="en-US" smtClean="0"/>
              <a:t>14</a:t>
            </a:fld>
            <a:endParaRPr lang="en-US"/>
          </a:p>
        </p:txBody>
      </p:sp>
    </p:spTree>
    <p:extLst>
      <p:ext uri="{BB962C8B-B14F-4D97-AF65-F5344CB8AC3E}">
        <p14:creationId xmlns:p14="http://schemas.microsoft.com/office/powerpoint/2010/main" val="35966399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Теперь</a:t>
            </a:r>
            <a:r>
              <a:rPr lang="en-US" dirty="0"/>
              <a:t> </a:t>
            </a:r>
            <a:r>
              <a:rPr lang="en-US" dirty="0" err="1"/>
              <a:t>посмотрим</a:t>
            </a:r>
            <a:r>
              <a:rPr lang="en-US" dirty="0"/>
              <a:t> </a:t>
            </a:r>
            <a:r>
              <a:rPr lang="en-US" dirty="0" err="1"/>
              <a:t>на</a:t>
            </a:r>
            <a:r>
              <a:rPr lang="en-US" dirty="0"/>
              <a:t> </a:t>
            </a:r>
            <a:r>
              <a:rPr lang="en-US" dirty="0" err="1"/>
              <a:t>команду</a:t>
            </a:r>
            <a:r>
              <a:rPr lang="en-US" dirty="0"/>
              <a:t> </a:t>
            </a:r>
            <a:r>
              <a:rPr lang="en-US" sz="1200" kern="1200" dirty="0">
                <a:solidFill>
                  <a:schemeClr val="tx1"/>
                </a:solidFill>
                <a:latin typeface="+mn-lt"/>
                <a:ea typeface="+mn-ea"/>
                <a:cs typeface="+mn-cs"/>
              </a:rPr>
              <a:t>top</a:t>
            </a:r>
            <a:r>
              <a:rPr lang="en-US" dirty="0"/>
              <a:t>. В </a:t>
            </a:r>
            <a:r>
              <a:rPr lang="en-US" dirty="0" err="1"/>
              <a:t>отличие</a:t>
            </a:r>
            <a:r>
              <a:rPr lang="en-US" dirty="0"/>
              <a:t> </a:t>
            </a:r>
            <a:r>
              <a:rPr lang="en-US" dirty="0" err="1"/>
              <a:t>от</a:t>
            </a:r>
            <a:r>
              <a:rPr lang="en-US" dirty="0"/>
              <a:t> </a:t>
            </a:r>
            <a:r>
              <a:rPr lang="en-US" sz="1200" kern="1200" dirty="0" err="1">
                <a:solidFill>
                  <a:schemeClr val="tx1"/>
                </a:solidFill>
                <a:latin typeface="+mn-lt"/>
                <a:ea typeface="+mn-ea"/>
                <a:cs typeface="+mn-cs"/>
              </a:rPr>
              <a:t>ps</a:t>
            </a:r>
            <a:r>
              <a:rPr lang="en-US" dirty="0"/>
              <a:t>, </a:t>
            </a:r>
            <a:r>
              <a:rPr lang="en-US" dirty="0" err="1"/>
              <a:t>который</a:t>
            </a:r>
            <a:r>
              <a:rPr lang="en-US" dirty="0"/>
              <a:t> </a:t>
            </a:r>
            <a:r>
              <a:rPr lang="en-US" dirty="0" err="1"/>
              <a:t>показывает</a:t>
            </a:r>
            <a:r>
              <a:rPr lang="en-US" dirty="0"/>
              <a:t> </a:t>
            </a:r>
            <a:r>
              <a:rPr lang="en-US" dirty="0" err="1"/>
              <a:t>список</a:t>
            </a:r>
            <a:r>
              <a:rPr lang="en-US" dirty="0"/>
              <a:t> </a:t>
            </a:r>
            <a:r>
              <a:rPr lang="en-US" dirty="0" err="1"/>
              <a:t>процессов</a:t>
            </a:r>
            <a:r>
              <a:rPr lang="en-US" dirty="0"/>
              <a:t> в </a:t>
            </a:r>
            <a:r>
              <a:rPr lang="en-US" dirty="0" err="1"/>
              <a:t>некоторый</a:t>
            </a:r>
            <a:r>
              <a:rPr lang="en-US" dirty="0"/>
              <a:t> </a:t>
            </a:r>
            <a:r>
              <a:rPr lang="en-US" dirty="0" err="1"/>
              <a:t>момент</a:t>
            </a:r>
            <a:r>
              <a:rPr lang="en-US" dirty="0"/>
              <a:t> </a:t>
            </a:r>
            <a:r>
              <a:rPr lang="en-US" dirty="0" err="1"/>
              <a:t>времени</a:t>
            </a:r>
            <a:r>
              <a:rPr lang="en-US" dirty="0"/>
              <a:t>, </a:t>
            </a:r>
            <a:r>
              <a:rPr lang="en-US" sz="1200" kern="1200" dirty="0">
                <a:solidFill>
                  <a:schemeClr val="tx1"/>
                </a:solidFill>
                <a:latin typeface="+mn-lt"/>
                <a:ea typeface="+mn-ea"/>
                <a:cs typeface="+mn-cs"/>
              </a:rPr>
              <a:t>top</a:t>
            </a:r>
            <a:r>
              <a:rPr lang="en-US" dirty="0"/>
              <a:t> </a:t>
            </a:r>
            <a:r>
              <a:rPr lang="en-US" dirty="0" err="1"/>
              <a:t>удобно</a:t>
            </a:r>
            <a:r>
              <a:rPr lang="en-US" dirty="0"/>
              <a:t> </a:t>
            </a:r>
            <a:r>
              <a:rPr lang="en-US" dirty="0" err="1"/>
              <a:t>использовать</a:t>
            </a:r>
            <a:r>
              <a:rPr lang="en-US" dirty="0"/>
              <a:t> </a:t>
            </a:r>
            <a:r>
              <a:rPr lang="en-US" dirty="0" err="1"/>
              <a:t>для</a:t>
            </a:r>
            <a:r>
              <a:rPr lang="en-US" dirty="0"/>
              <a:t> </a:t>
            </a:r>
            <a:r>
              <a:rPr lang="en-US" dirty="0" err="1"/>
              <a:t>наблюдения</a:t>
            </a:r>
            <a:r>
              <a:rPr lang="en-US" dirty="0"/>
              <a:t> </a:t>
            </a:r>
            <a:r>
              <a:rPr lang="en-US" dirty="0" err="1"/>
              <a:t>за</a:t>
            </a:r>
            <a:r>
              <a:rPr lang="en-US" dirty="0"/>
              <a:t> </a:t>
            </a:r>
            <a:r>
              <a:rPr lang="en-US" dirty="0" err="1"/>
              <a:t>состоянием</a:t>
            </a:r>
            <a:r>
              <a:rPr lang="en-US" dirty="0"/>
              <a:t> </a:t>
            </a:r>
            <a:r>
              <a:rPr lang="en-US" dirty="0" err="1"/>
              <a:t>системы</a:t>
            </a:r>
            <a:r>
              <a:rPr lang="en-US" dirty="0"/>
              <a:t> и </a:t>
            </a:r>
            <a:r>
              <a:rPr lang="en-US" dirty="0" err="1"/>
              <a:t>отдельными</a:t>
            </a:r>
            <a:r>
              <a:rPr lang="en-US" dirty="0"/>
              <a:t> </a:t>
            </a:r>
            <a:r>
              <a:rPr lang="en-US" dirty="0" err="1"/>
              <a:t>процессами</a:t>
            </a:r>
            <a:r>
              <a:rPr lang="en-US" dirty="0"/>
              <a:t>.</a:t>
            </a:r>
            <a:endParaRPr lang="ru-RU" dirty="0"/>
          </a:p>
          <a:p>
            <a:endParaRPr lang="en-US" dirty="0"/>
          </a:p>
          <a:p>
            <a:r>
              <a:rPr lang="en-US" dirty="0" err="1"/>
              <a:t>Вывод</a:t>
            </a:r>
            <a:r>
              <a:rPr lang="en-US" dirty="0"/>
              <a:t> </a:t>
            </a:r>
            <a:r>
              <a:rPr lang="en-US" dirty="0" err="1"/>
              <a:t>можно</a:t>
            </a:r>
            <a:r>
              <a:rPr lang="en-US" dirty="0"/>
              <a:t> </a:t>
            </a:r>
            <a:r>
              <a:rPr lang="en-US" dirty="0" err="1"/>
              <a:t>условно</a:t>
            </a:r>
            <a:r>
              <a:rPr lang="en-US" dirty="0"/>
              <a:t> </a:t>
            </a:r>
            <a:r>
              <a:rPr lang="en-US" dirty="0" err="1"/>
              <a:t>разделить</a:t>
            </a:r>
            <a:r>
              <a:rPr lang="en-US" dirty="0"/>
              <a:t> </a:t>
            </a:r>
            <a:r>
              <a:rPr lang="en-US" dirty="0" err="1"/>
              <a:t>на</a:t>
            </a:r>
            <a:r>
              <a:rPr lang="en-US" dirty="0"/>
              <a:t> </a:t>
            </a:r>
            <a:r>
              <a:rPr lang="en-US" dirty="0" err="1"/>
              <a:t>две</a:t>
            </a:r>
            <a:r>
              <a:rPr lang="en-US" dirty="0"/>
              <a:t> </a:t>
            </a:r>
            <a:r>
              <a:rPr lang="en-US" dirty="0" err="1"/>
              <a:t>части</a:t>
            </a:r>
            <a:r>
              <a:rPr lang="en-US" dirty="0"/>
              <a:t>.</a:t>
            </a:r>
            <a:endParaRPr lang="ru-RU" dirty="0"/>
          </a:p>
          <a:p>
            <a:endParaRPr lang="en-US" dirty="0"/>
          </a:p>
          <a:p>
            <a:r>
              <a:rPr lang="en-US" dirty="0"/>
              <a:t>В </a:t>
            </a:r>
            <a:r>
              <a:rPr lang="en-US" dirty="0" err="1"/>
              <a:t>верхней</a:t>
            </a:r>
            <a:r>
              <a:rPr lang="en-US" dirty="0"/>
              <a:t> </a:t>
            </a:r>
            <a:r>
              <a:rPr lang="en-US" dirty="0" err="1"/>
              <a:t>части</a:t>
            </a:r>
            <a:r>
              <a:rPr lang="en-US" dirty="0"/>
              <a:t> </a:t>
            </a:r>
            <a:r>
              <a:rPr lang="en-US" dirty="0" err="1"/>
              <a:t>находится</a:t>
            </a:r>
            <a:r>
              <a:rPr lang="en-US" dirty="0"/>
              <a:t> </a:t>
            </a:r>
            <a:r>
              <a:rPr lang="en-US" dirty="0" err="1"/>
              <a:t>общая</a:t>
            </a:r>
            <a:r>
              <a:rPr lang="en-US" dirty="0"/>
              <a:t> </a:t>
            </a:r>
            <a:r>
              <a:rPr lang="en-US" dirty="0" err="1"/>
              <a:t>информация</a:t>
            </a:r>
            <a:r>
              <a:rPr lang="en-US" dirty="0"/>
              <a:t> о </a:t>
            </a:r>
            <a:r>
              <a:rPr lang="en-US" dirty="0" err="1"/>
              <a:t>системе</a:t>
            </a:r>
            <a:r>
              <a:rPr lang="en-US" dirty="0"/>
              <a:t>. </a:t>
            </a:r>
            <a:r>
              <a:rPr lang="en-US" dirty="0" err="1"/>
              <a:t>Здесь</a:t>
            </a:r>
            <a:r>
              <a:rPr lang="en-US" dirty="0"/>
              <a:t> </a:t>
            </a:r>
            <a:r>
              <a:rPr lang="en-US" dirty="0" err="1"/>
              <a:t>мы</a:t>
            </a:r>
            <a:r>
              <a:rPr lang="en-US" dirty="0"/>
              <a:t> </a:t>
            </a:r>
            <a:r>
              <a:rPr lang="en-US" dirty="0" err="1"/>
              <a:t>видим</a:t>
            </a:r>
            <a:r>
              <a:rPr lang="en-US" dirty="0"/>
              <a:t> </a:t>
            </a:r>
            <a:r>
              <a:rPr lang="en-US" dirty="0" err="1"/>
              <a:t>количество</a:t>
            </a:r>
            <a:r>
              <a:rPr lang="en-US" dirty="0"/>
              <a:t> </a:t>
            </a:r>
            <a:r>
              <a:rPr lang="en-US" dirty="0" err="1"/>
              <a:t>процессов</a:t>
            </a:r>
            <a:r>
              <a:rPr lang="en-US" dirty="0"/>
              <a:t>: </a:t>
            </a:r>
            <a:r>
              <a:rPr lang="en-US" dirty="0" err="1"/>
              <a:t>всего</a:t>
            </a:r>
            <a:r>
              <a:rPr lang="en-US" dirty="0"/>
              <a:t> </a:t>
            </a:r>
            <a:r>
              <a:rPr lang="en-US" dirty="0" err="1"/>
              <a:t>их</a:t>
            </a:r>
            <a:r>
              <a:rPr lang="en-US" dirty="0"/>
              <a:t> 44, </a:t>
            </a:r>
            <a:r>
              <a:rPr lang="en-US" dirty="0" err="1"/>
              <a:t>один</a:t>
            </a:r>
            <a:r>
              <a:rPr lang="en-US" dirty="0"/>
              <a:t> </a:t>
            </a:r>
            <a:r>
              <a:rPr lang="en-US" dirty="0" err="1"/>
              <a:t>сейчас</a:t>
            </a:r>
            <a:r>
              <a:rPr lang="en-US" dirty="0"/>
              <a:t> </a:t>
            </a:r>
            <a:r>
              <a:rPr lang="en-US" dirty="0" err="1"/>
              <a:t>выполняется</a:t>
            </a:r>
            <a:r>
              <a:rPr lang="en-US" dirty="0"/>
              <a:t>, а </a:t>
            </a:r>
            <a:r>
              <a:rPr lang="en-US" dirty="0" err="1"/>
              <a:t>остальные</a:t>
            </a:r>
            <a:r>
              <a:rPr lang="en-US" dirty="0"/>
              <a:t> в </a:t>
            </a:r>
            <a:r>
              <a:rPr lang="en-US" dirty="0" err="1"/>
              <a:t>основном</a:t>
            </a:r>
            <a:r>
              <a:rPr lang="en-US" dirty="0"/>
              <a:t> </a:t>
            </a:r>
            <a:r>
              <a:rPr lang="en-US" dirty="0" err="1"/>
              <a:t>находятся</a:t>
            </a:r>
            <a:r>
              <a:rPr lang="en-US" dirty="0"/>
              <a:t> в </a:t>
            </a:r>
            <a:r>
              <a:rPr lang="en-US" dirty="0" err="1"/>
              <a:t>состоянии</a:t>
            </a:r>
            <a:r>
              <a:rPr lang="en-US" dirty="0"/>
              <a:t> </a:t>
            </a:r>
            <a:r>
              <a:rPr lang="en-US" dirty="0" err="1"/>
              <a:t>ожидания</a:t>
            </a:r>
            <a:r>
              <a:rPr lang="en-US" dirty="0"/>
              <a:t>.</a:t>
            </a:r>
            <a:endParaRPr lang="ru-RU" dirty="0"/>
          </a:p>
          <a:p>
            <a:endParaRPr lang="en-US" dirty="0"/>
          </a:p>
          <a:p>
            <a:r>
              <a:rPr lang="en-US" dirty="0" err="1"/>
              <a:t>Следующая</a:t>
            </a:r>
            <a:r>
              <a:rPr lang="en-US" dirty="0"/>
              <a:t> </a:t>
            </a:r>
            <a:r>
              <a:rPr lang="en-US" dirty="0" err="1"/>
              <a:t>строка</a:t>
            </a:r>
            <a:r>
              <a:rPr lang="en-US" dirty="0"/>
              <a:t> </a:t>
            </a:r>
            <a:r>
              <a:rPr lang="en-US" dirty="0" err="1"/>
              <a:t>показывает</a:t>
            </a:r>
            <a:r>
              <a:rPr lang="en-US" dirty="0"/>
              <a:t> </a:t>
            </a:r>
            <a:r>
              <a:rPr lang="en-US" dirty="0" err="1"/>
              <a:t>загрузку</a:t>
            </a:r>
            <a:r>
              <a:rPr lang="en-US" dirty="0"/>
              <a:t> </a:t>
            </a:r>
            <a:r>
              <a:rPr lang="en-US" dirty="0" err="1"/>
              <a:t>процессора</a:t>
            </a:r>
            <a:r>
              <a:rPr lang="en-US" dirty="0"/>
              <a:t>. В </a:t>
            </a:r>
            <a:r>
              <a:rPr lang="en-US" dirty="0" err="1"/>
              <a:t>нашем</a:t>
            </a:r>
            <a:r>
              <a:rPr lang="en-US" dirty="0"/>
              <a:t> </a:t>
            </a:r>
            <a:r>
              <a:rPr lang="en-US" dirty="0" err="1"/>
              <a:t>примере</a:t>
            </a:r>
            <a:r>
              <a:rPr lang="en-US" dirty="0"/>
              <a:t> </a:t>
            </a:r>
            <a:r>
              <a:rPr lang="en-US" dirty="0" err="1"/>
              <a:t>почти</a:t>
            </a:r>
            <a:r>
              <a:rPr lang="en-US" dirty="0"/>
              <a:t> </a:t>
            </a:r>
            <a:r>
              <a:rPr lang="en-US" dirty="0" err="1"/>
              <a:t>всё</a:t>
            </a:r>
            <a:r>
              <a:rPr lang="en-US" dirty="0"/>
              <a:t> </a:t>
            </a:r>
            <a:r>
              <a:rPr lang="en-US" dirty="0" err="1"/>
              <a:t>время</a:t>
            </a:r>
            <a:r>
              <a:rPr lang="en-US" dirty="0"/>
              <a:t> </a:t>
            </a:r>
            <a:r>
              <a:rPr lang="en-US" dirty="0" err="1"/>
              <a:t>процессор</a:t>
            </a:r>
            <a:r>
              <a:rPr lang="en-US" dirty="0"/>
              <a:t> </a:t>
            </a:r>
            <a:r>
              <a:rPr lang="en-US" dirty="0" err="1"/>
              <a:t>простаивает</a:t>
            </a:r>
            <a:r>
              <a:rPr lang="en-US" dirty="0"/>
              <a:t> — </a:t>
            </a:r>
            <a:r>
              <a:rPr lang="en-US" dirty="0" err="1"/>
              <a:t>значение</a:t>
            </a:r>
            <a:r>
              <a:rPr lang="en-US" dirty="0"/>
              <a:t> </a:t>
            </a:r>
            <a:r>
              <a:rPr lang="en-US" sz="1200" kern="1200" dirty="0">
                <a:solidFill>
                  <a:schemeClr val="tx1"/>
                </a:solidFill>
                <a:latin typeface="+mn-lt"/>
                <a:ea typeface="+mn-ea"/>
                <a:cs typeface="+mn-cs"/>
              </a:rPr>
              <a:t>id</a:t>
            </a:r>
            <a:r>
              <a:rPr lang="en-US" dirty="0"/>
              <a:t>, </a:t>
            </a:r>
            <a:r>
              <a:rPr lang="en-US" dirty="0" err="1"/>
              <a:t>то</a:t>
            </a:r>
            <a:r>
              <a:rPr lang="en-US" dirty="0"/>
              <a:t> </a:t>
            </a:r>
            <a:r>
              <a:rPr lang="en-US" dirty="0" err="1"/>
              <a:t>есть</a:t>
            </a:r>
            <a:r>
              <a:rPr lang="en-US" dirty="0"/>
              <a:t> idle, </a:t>
            </a:r>
            <a:r>
              <a:rPr lang="en-US" dirty="0" err="1"/>
              <a:t>составляет</a:t>
            </a:r>
            <a:r>
              <a:rPr lang="en-US" dirty="0"/>
              <a:t> </a:t>
            </a:r>
            <a:r>
              <a:rPr lang="en-US" dirty="0" err="1"/>
              <a:t>почти</a:t>
            </a:r>
            <a:r>
              <a:rPr lang="en-US" dirty="0"/>
              <a:t> 100 </a:t>
            </a:r>
            <a:r>
              <a:rPr lang="en-US" dirty="0" err="1"/>
              <a:t>процентов</a:t>
            </a:r>
            <a:r>
              <a:rPr lang="en-US" dirty="0"/>
              <a:t>. </a:t>
            </a:r>
            <a:r>
              <a:rPr lang="en-US" dirty="0" err="1"/>
              <a:t>Значит</a:t>
            </a:r>
            <a:r>
              <a:rPr lang="en-US" dirty="0"/>
              <a:t>, в </a:t>
            </a:r>
            <a:r>
              <a:rPr lang="en-US" dirty="0" err="1"/>
              <a:t>момент</a:t>
            </a:r>
            <a:r>
              <a:rPr lang="en-US" dirty="0"/>
              <a:t> </a:t>
            </a:r>
            <a:r>
              <a:rPr lang="en-US" dirty="0" err="1"/>
              <a:t>запуска</a:t>
            </a:r>
            <a:r>
              <a:rPr lang="en-US" dirty="0"/>
              <a:t> </a:t>
            </a:r>
            <a:r>
              <a:rPr lang="en-US" sz="1200" kern="1200" dirty="0">
                <a:solidFill>
                  <a:schemeClr val="tx1"/>
                </a:solidFill>
                <a:latin typeface="+mn-lt"/>
                <a:ea typeface="+mn-ea"/>
                <a:cs typeface="+mn-cs"/>
              </a:rPr>
              <a:t>top</a:t>
            </a:r>
            <a:r>
              <a:rPr lang="en-US" dirty="0"/>
              <a:t> </a:t>
            </a:r>
            <a:r>
              <a:rPr lang="en-US" dirty="0" err="1"/>
              <a:t>система</a:t>
            </a:r>
            <a:r>
              <a:rPr lang="en-US" dirty="0"/>
              <a:t> </a:t>
            </a:r>
            <a:r>
              <a:rPr lang="en-US" dirty="0" err="1"/>
              <a:t>практически</a:t>
            </a:r>
            <a:r>
              <a:rPr lang="en-US" dirty="0"/>
              <a:t> </a:t>
            </a:r>
            <a:r>
              <a:rPr lang="en-US" dirty="0" err="1"/>
              <a:t>не</a:t>
            </a:r>
            <a:r>
              <a:rPr lang="en-US" dirty="0"/>
              <a:t> </a:t>
            </a:r>
            <a:r>
              <a:rPr lang="en-US" dirty="0" err="1"/>
              <a:t>была</a:t>
            </a:r>
            <a:r>
              <a:rPr lang="en-US" dirty="0"/>
              <a:t> </a:t>
            </a:r>
            <a:r>
              <a:rPr lang="en-US" dirty="0" err="1"/>
              <a:t>нагружена</a:t>
            </a:r>
            <a:r>
              <a:rPr lang="en-US" dirty="0"/>
              <a:t>.</a:t>
            </a:r>
            <a:endParaRPr lang="ru-RU" dirty="0"/>
          </a:p>
          <a:p>
            <a:endParaRPr lang="en-US" dirty="0"/>
          </a:p>
          <a:p>
            <a:r>
              <a:rPr lang="en-US" dirty="0" err="1"/>
              <a:t>Дальше</a:t>
            </a:r>
            <a:r>
              <a:rPr lang="en-US" dirty="0"/>
              <a:t> </a:t>
            </a:r>
            <a:r>
              <a:rPr lang="en-US" dirty="0" err="1"/>
              <a:t>идёт</a:t>
            </a:r>
            <a:r>
              <a:rPr lang="en-US" dirty="0"/>
              <a:t> </a:t>
            </a:r>
            <a:r>
              <a:rPr lang="en-US" dirty="0" err="1"/>
              <a:t>информация</a:t>
            </a:r>
            <a:r>
              <a:rPr lang="en-US" dirty="0"/>
              <a:t> о </a:t>
            </a:r>
            <a:r>
              <a:rPr lang="en-US" dirty="0" err="1"/>
              <a:t>памяти</a:t>
            </a:r>
            <a:r>
              <a:rPr lang="en-US" dirty="0"/>
              <a:t>. </a:t>
            </a:r>
            <a:r>
              <a:rPr lang="en-US" dirty="0" err="1"/>
              <a:t>Здесь</a:t>
            </a:r>
            <a:r>
              <a:rPr lang="en-US" dirty="0"/>
              <a:t> </a:t>
            </a:r>
            <a:r>
              <a:rPr lang="en-US" dirty="0" err="1"/>
              <a:t>видно</a:t>
            </a:r>
            <a:r>
              <a:rPr lang="en-US" dirty="0"/>
              <a:t> </a:t>
            </a:r>
            <a:r>
              <a:rPr lang="en-US" dirty="0" err="1"/>
              <a:t>около</a:t>
            </a:r>
            <a:r>
              <a:rPr lang="en-US" dirty="0"/>
              <a:t> 7,8 </a:t>
            </a:r>
            <a:r>
              <a:rPr lang="en-US" dirty="0" err="1"/>
              <a:t>гигабайт</a:t>
            </a:r>
            <a:r>
              <a:rPr lang="en-US" dirty="0"/>
              <a:t> </a:t>
            </a:r>
            <a:r>
              <a:rPr lang="en-US" dirty="0" err="1"/>
              <a:t>оперативной</a:t>
            </a:r>
            <a:r>
              <a:rPr lang="en-US" dirty="0"/>
              <a:t> </a:t>
            </a:r>
            <a:r>
              <a:rPr lang="en-US" dirty="0" err="1"/>
              <a:t>памяти</a:t>
            </a:r>
            <a:r>
              <a:rPr lang="en-US" dirty="0"/>
              <a:t>: </a:t>
            </a:r>
            <a:r>
              <a:rPr lang="en-US" dirty="0" err="1"/>
              <a:t>сколько</a:t>
            </a:r>
            <a:r>
              <a:rPr lang="en-US" dirty="0"/>
              <a:t> </a:t>
            </a:r>
            <a:r>
              <a:rPr lang="en-US" dirty="0" err="1"/>
              <a:t>из</a:t>
            </a:r>
            <a:r>
              <a:rPr lang="en-US" dirty="0"/>
              <a:t> </a:t>
            </a:r>
            <a:r>
              <a:rPr lang="en-US" dirty="0" err="1"/>
              <a:t>неё</a:t>
            </a:r>
            <a:r>
              <a:rPr lang="en-US" dirty="0"/>
              <a:t> </a:t>
            </a:r>
            <a:r>
              <a:rPr lang="en-US" dirty="0" err="1"/>
              <a:t>свободно</a:t>
            </a:r>
            <a:r>
              <a:rPr lang="en-US" dirty="0"/>
              <a:t>, </a:t>
            </a:r>
            <a:r>
              <a:rPr lang="en-US" dirty="0" err="1"/>
              <a:t>сколько</a:t>
            </a:r>
            <a:r>
              <a:rPr lang="en-US" dirty="0"/>
              <a:t> </a:t>
            </a:r>
            <a:r>
              <a:rPr lang="en-US" dirty="0" err="1"/>
              <a:t>используется</a:t>
            </a:r>
            <a:r>
              <a:rPr lang="en-US" dirty="0"/>
              <a:t> и </a:t>
            </a:r>
            <a:r>
              <a:rPr lang="en-US" dirty="0" err="1"/>
              <a:t>сколько</a:t>
            </a:r>
            <a:r>
              <a:rPr lang="en-US" dirty="0"/>
              <a:t> </a:t>
            </a:r>
            <a:r>
              <a:rPr lang="en-US" dirty="0" err="1"/>
              <a:t>занято</a:t>
            </a:r>
            <a:r>
              <a:rPr lang="en-US" dirty="0"/>
              <a:t> </a:t>
            </a:r>
            <a:r>
              <a:rPr lang="en-US" dirty="0" err="1"/>
              <a:t>буферами</a:t>
            </a:r>
            <a:r>
              <a:rPr lang="en-US" dirty="0"/>
              <a:t> и </a:t>
            </a:r>
            <a:r>
              <a:rPr lang="en-US" dirty="0" err="1"/>
              <a:t>кэшем</a:t>
            </a:r>
            <a:r>
              <a:rPr lang="en-US" dirty="0"/>
              <a:t>. </a:t>
            </a:r>
            <a:r>
              <a:rPr lang="en-US" dirty="0" err="1"/>
              <a:t>Ниже</a:t>
            </a:r>
            <a:r>
              <a:rPr lang="en-US" dirty="0"/>
              <a:t> </a:t>
            </a:r>
            <a:r>
              <a:rPr lang="en-US" dirty="0" err="1"/>
              <a:t>отдельно</a:t>
            </a:r>
            <a:r>
              <a:rPr lang="en-US" dirty="0"/>
              <a:t> </a:t>
            </a:r>
            <a:r>
              <a:rPr lang="en-US" dirty="0" err="1"/>
              <a:t>показывается</a:t>
            </a:r>
            <a:r>
              <a:rPr lang="en-US" dirty="0"/>
              <a:t> swap. </a:t>
            </a:r>
            <a:r>
              <a:rPr lang="en-US" dirty="0" err="1"/>
              <a:t>Как</a:t>
            </a:r>
            <a:r>
              <a:rPr lang="en-US" dirty="0"/>
              <a:t> и </a:t>
            </a:r>
            <a:r>
              <a:rPr lang="en-US" dirty="0" err="1"/>
              <a:t>на</a:t>
            </a:r>
            <a:r>
              <a:rPr lang="en-US" dirty="0"/>
              <a:t> </a:t>
            </a:r>
            <a:r>
              <a:rPr lang="en-US" dirty="0" err="1"/>
              <a:t>предыдущем</a:t>
            </a:r>
            <a:r>
              <a:rPr lang="en-US" dirty="0"/>
              <a:t> </a:t>
            </a:r>
            <a:r>
              <a:rPr lang="en-US" dirty="0" err="1"/>
              <a:t>слайде</a:t>
            </a:r>
            <a:r>
              <a:rPr lang="en-US" dirty="0"/>
              <a:t>, в </a:t>
            </a:r>
            <a:r>
              <a:rPr lang="en-US" dirty="0" err="1"/>
              <a:t>нашем</a:t>
            </a:r>
            <a:r>
              <a:rPr lang="en-US" dirty="0"/>
              <a:t> </a:t>
            </a:r>
            <a:r>
              <a:rPr lang="en-US" dirty="0" err="1"/>
              <a:t>примере</a:t>
            </a:r>
            <a:r>
              <a:rPr lang="en-US" dirty="0"/>
              <a:t> swap </a:t>
            </a:r>
            <a:r>
              <a:rPr lang="en-US" dirty="0" err="1"/>
              <a:t>есть</a:t>
            </a:r>
            <a:r>
              <a:rPr lang="en-US" dirty="0"/>
              <a:t>, </a:t>
            </a:r>
            <a:r>
              <a:rPr lang="en-US" dirty="0" err="1"/>
              <a:t>но</a:t>
            </a:r>
            <a:r>
              <a:rPr lang="en-US" dirty="0"/>
              <a:t> </a:t>
            </a:r>
            <a:r>
              <a:rPr lang="en-US" dirty="0" err="1"/>
              <a:t>он</a:t>
            </a:r>
            <a:r>
              <a:rPr lang="en-US" dirty="0"/>
              <a:t> </a:t>
            </a:r>
            <a:r>
              <a:rPr lang="en-US" dirty="0" err="1"/>
              <a:t>сейчас</a:t>
            </a:r>
            <a:r>
              <a:rPr lang="en-US" dirty="0"/>
              <a:t> </a:t>
            </a:r>
            <a:r>
              <a:rPr lang="en-US" dirty="0" err="1"/>
              <a:t>не</a:t>
            </a:r>
            <a:r>
              <a:rPr lang="en-US" dirty="0"/>
              <a:t> </a:t>
            </a:r>
            <a:r>
              <a:rPr lang="en-US" dirty="0" err="1"/>
              <a:t>используется</a:t>
            </a:r>
            <a:r>
              <a:rPr lang="en-US" dirty="0"/>
              <a:t>.</a:t>
            </a:r>
            <a:endParaRPr lang="ru-RU" dirty="0"/>
          </a:p>
          <a:p>
            <a:endParaRPr lang="en-US" dirty="0"/>
          </a:p>
          <a:p>
            <a:r>
              <a:rPr lang="en-US" dirty="0"/>
              <a:t>А </a:t>
            </a:r>
            <a:r>
              <a:rPr lang="en-US" dirty="0" err="1"/>
              <a:t>нижняя</a:t>
            </a:r>
            <a:r>
              <a:rPr lang="en-US" dirty="0"/>
              <a:t> </a:t>
            </a:r>
            <a:r>
              <a:rPr lang="en-US" dirty="0" err="1"/>
              <a:t>часть</a:t>
            </a:r>
            <a:r>
              <a:rPr lang="en-US" dirty="0"/>
              <a:t> </a:t>
            </a:r>
            <a:r>
              <a:rPr lang="en-US" dirty="0" err="1"/>
              <a:t>экрана</a:t>
            </a:r>
            <a:r>
              <a:rPr lang="en-US" dirty="0"/>
              <a:t> — </a:t>
            </a:r>
            <a:r>
              <a:rPr lang="en-US" dirty="0" err="1"/>
              <a:t>это</a:t>
            </a:r>
            <a:r>
              <a:rPr lang="en-US" dirty="0"/>
              <a:t> </a:t>
            </a:r>
            <a:r>
              <a:rPr lang="en-US" dirty="0" err="1"/>
              <a:t>уже</a:t>
            </a:r>
            <a:r>
              <a:rPr lang="en-US" dirty="0"/>
              <a:t> </a:t>
            </a:r>
            <a:r>
              <a:rPr lang="en-US" dirty="0" err="1"/>
              <a:t>таблица</a:t>
            </a:r>
            <a:r>
              <a:rPr lang="en-US" dirty="0"/>
              <a:t> </a:t>
            </a:r>
            <a:r>
              <a:rPr lang="en-US" dirty="0" err="1"/>
              <a:t>отдельных</a:t>
            </a:r>
            <a:r>
              <a:rPr lang="en-US" dirty="0"/>
              <a:t> </a:t>
            </a:r>
            <a:r>
              <a:rPr lang="en-US" dirty="0" err="1"/>
              <a:t>процессов</a:t>
            </a:r>
            <a:r>
              <a:rPr lang="en-US" dirty="0"/>
              <a:t>.</a:t>
            </a:r>
          </a:p>
          <a:p>
            <a:r>
              <a:rPr lang="en-US" dirty="0" err="1"/>
              <a:t>Некоторые</a:t>
            </a:r>
            <a:r>
              <a:rPr lang="en-US" dirty="0"/>
              <a:t> </a:t>
            </a:r>
            <a:r>
              <a:rPr lang="en-US" dirty="0" err="1"/>
              <a:t>столбцы</a:t>
            </a:r>
            <a:r>
              <a:rPr lang="en-US" dirty="0"/>
              <a:t> </a:t>
            </a:r>
            <a:r>
              <a:rPr lang="en-US" dirty="0" err="1"/>
              <a:t>нам</a:t>
            </a:r>
            <a:r>
              <a:rPr lang="en-US" dirty="0"/>
              <a:t> </a:t>
            </a:r>
            <a:r>
              <a:rPr lang="en-US" dirty="0" err="1"/>
              <a:t>знакомы</a:t>
            </a:r>
            <a:r>
              <a:rPr lang="en-US" dirty="0"/>
              <a:t> </a:t>
            </a:r>
            <a:r>
              <a:rPr lang="en-US" dirty="0" err="1"/>
              <a:t>по</a:t>
            </a:r>
            <a:r>
              <a:rPr lang="en-US" dirty="0"/>
              <a:t> </a:t>
            </a:r>
            <a:r>
              <a:rPr lang="en-US" sz="1200" kern="1200" dirty="0" err="1">
                <a:solidFill>
                  <a:schemeClr val="tx1"/>
                </a:solidFill>
                <a:latin typeface="+mn-lt"/>
                <a:ea typeface="+mn-ea"/>
                <a:cs typeface="+mn-cs"/>
              </a:rPr>
              <a:t>ps</a:t>
            </a:r>
            <a:r>
              <a:rPr lang="en-US" dirty="0"/>
              <a:t>: </a:t>
            </a:r>
            <a:r>
              <a:rPr lang="en-US" sz="1200" kern="1200" dirty="0">
                <a:solidFill>
                  <a:schemeClr val="tx1"/>
                </a:solidFill>
                <a:latin typeface="+mn-lt"/>
                <a:ea typeface="+mn-ea"/>
                <a:cs typeface="+mn-cs"/>
              </a:rPr>
              <a:t>PID</a:t>
            </a:r>
            <a:r>
              <a:rPr lang="en-US" dirty="0"/>
              <a:t> — </a:t>
            </a:r>
            <a:r>
              <a:rPr lang="en-US" dirty="0" err="1"/>
              <a:t>идентификатор</a:t>
            </a:r>
            <a:r>
              <a:rPr lang="en-US" dirty="0"/>
              <a:t> </a:t>
            </a:r>
            <a:r>
              <a:rPr lang="en-US" dirty="0" err="1"/>
              <a:t>процесса</a:t>
            </a:r>
            <a:r>
              <a:rPr lang="en-US" dirty="0"/>
              <a:t>, </a:t>
            </a:r>
            <a:r>
              <a:rPr lang="en-US" sz="1200" kern="1200" dirty="0">
                <a:solidFill>
                  <a:schemeClr val="tx1"/>
                </a:solidFill>
                <a:latin typeface="+mn-lt"/>
                <a:ea typeface="+mn-ea"/>
                <a:cs typeface="+mn-cs"/>
              </a:rPr>
              <a:t>USER</a:t>
            </a:r>
            <a:r>
              <a:rPr lang="en-US" dirty="0"/>
              <a:t> — </a:t>
            </a:r>
            <a:r>
              <a:rPr lang="en-US" dirty="0" err="1"/>
              <a:t>пользователь</a:t>
            </a:r>
            <a:r>
              <a:rPr lang="en-US" dirty="0"/>
              <a:t>, </a:t>
            </a:r>
            <a:r>
              <a:rPr lang="en-US" dirty="0" err="1"/>
              <a:t>от</a:t>
            </a:r>
            <a:r>
              <a:rPr lang="en-US" dirty="0"/>
              <a:t> </a:t>
            </a:r>
            <a:r>
              <a:rPr lang="en-US" dirty="0" err="1"/>
              <a:t>имени</a:t>
            </a:r>
            <a:r>
              <a:rPr lang="en-US" dirty="0"/>
              <a:t> </a:t>
            </a:r>
            <a:r>
              <a:rPr lang="en-US" dirty="0" err="1"/>
              <a:t>которого</a:t>
            </a:r>
            <a:r>
              <a:rPr lang="en-US" dirty="0"/>
              <a:t> </a:t>
            </a:r>
            <a:r>
              <a:rPr lang="en-US" dirty="0" err="1"/>
              <a:t>он</a:t>
            </a:r>
            <a:r>
              <a:rPr lang="en-US" dirty="0"/>
              <a:t> </a:t>
            </a:r>
            <a:r>
              <a:rPr lang="en-US" dirty="0" err="1"/>
              <a:t>выполняется</a:t>
            </a:r>
            <a:r>
              <a:rPr lang="en-US" dirty="0"/>
              <a:t>, </a:t>
            </a:r>
            <a:r>
              <a:rPr lang="en-US" sz="1200" kern="1200" dirty="0">
                <a:solidFill>
                  <a:schemeClr val="tx1"/>
                </a:solidFill>
                <a:latin typeface="+mn-lt"/>
                <a:ea typeface="+mn-ea"/>
                <a:cs typeface="+mn-cs"/>
              </a:rPr>
              <a:t>%CPU</a:t>
            </a:r>
            <a:r>
              <a:rPr lang="en-US" dirty="0"/>
              <a:t> и </a:t>
            </a:r>
            <a:r>
              <a:rPr lang="en-US" sz="1200" kern="1200" dirty="0">
                <a:solidFill>
                  <a:schemeClr val="tx1"/>
                </a:solidFill>
                <a:latin typeface="+mn-lt"/>
                <a:ea typeface="+mn-ea"/>
                <a:cs typeface="+mn-cs"/>
              </a:rPr>
              <a:t>%MEM</a:t>
            </a:r>
            <a:r>
              <a:rPr lang="en-US" dirty="0"/>
              <a:t> — </a:t>
            </a:r>
            <a:r>
              <a:rPr lang="en-US" dirty="0" err="1"/>
              <a:t>использование</a:t>
            </a:r>
            <a:r>
              <a:rPr lang="en-US" dirty="0"/>
              <a:t> </a:t>
            </a:r>
            <a:r>
              <a:rPr lang="en-US" dirty="0" err="1"/>
              <a:t>процессора</a:t>
            </a:r>
            <a:r>
              <a:rPr lang="en-US" dirty="0"/>
              <a:t> и </a:t>
            </a:r>
            <a:r>
              <a:rPr lang="en-US" dirty="0" err="1"/>
              <a:t>оперативной</a:t>
            </a:r>
            <a:r>
              <a:rPr lang="en-US" dirty="0"/>
              <a:t> </a:t>
            </a:r>
            <a:r>
              <a:rPr lang="en-US" dirty="0" err="1"/>
              <a:t>памяти</a:t>
            </a:r>
            <a:r>
              <a:rPr lang="en-US" dirty="0"/>
              <a:t>, а </a:t>
            </a:r>
            <a:r>
              <a:rPr lang="en-US" sz="1200" kern="1200" dirty="0">
                <a:solidFill>
                  <a:schemeClr val="tx1"/>
                </a:solidFill>
                <a:latin typeface="+mn-lt"/>
                <a:ea typeface="+mn-ea"/>
                <a:cs typeface="+mn-cs"/>
              </a:rPr>
              <a:t>COMMAND</a:t>
            </a:r>
            <a:r>
              <a:rPr lang="en-US" dirty="0"/>
              <a:t> </a:t>
            </a:r>
            <a:r>
              <a:rPr lang="en-US" dirty="0" err="1"/>
              <a:t>показывает</a:t>
            </a:r>
            <a:r>
              <a:rPr lang="en-US" dirty="0"/>
              <a:t> </a:t>
            </a:r>
            <a:r>
              <a:rPr lang="en-US" dirty="0" err="1"/>
              <a:t>имя</a:t>
            </a:r>
            <a:r>
              <a:rPr lang="en-US" dirty="0"/>
              <a:t> </a:t>
            </a:r>
            <a:r>
              <a:rPr lang="en-US" dirty="0" err="1"/>
              <a:t>программы</a:t>
            </a:r>
            <a:r>
              <a:rPr lang="en-US" dirty="0"/>
              <a:t>.</a:t>
            </a:r>
            <a:endParaRPr lang="ru-RU" dirty="0"/>
          </a:p>
          <a:p>
            <a:endParaRPr lang="en-US" dirty="0"/>
          </a:p>
          <a:p>
            <a:r>
              <a:rPr lang="en-US" dirty="0" err="1"/>
              <a:t>Для</a:t>
            </a:r>
            <a:r>
              <a:rPr lang="en-US" dirty="0"/>
              <a:t> </a:t>
            </a:r>
            <a:r>
              <a:rPr lang="en-US" dirty="0" err="1"/>
              <a:t>памяти</a:t>
            </a:r>
            <a:r>
              <a:rPr lang="en-US" dirty="0"/>
              <a:t> </a:t>
            </a:r>
            <a:r>
              <a:rPr lang="en-US" dirty="0" err="1"/>
              <a:t>здесь</a:t>
            </a:r>
            <a:r>
              <a:rPr lang="en-US" dirty="0"/>
              <a:t> </a:t>
            </a:r>
            <a:r>
              <a:rPr lang="en-US" dirty="0" err="1"/>
              <a:t>есть</a:t>
            </a:r>
            <a:r>
              <a:rPr lang="en-US" dirty="0"/>
              <a:t> </a:t>
            </a:r>
            <a:r>
              <a:rPr lang="en-US" dirty="0" err="1"/>
              <a:t>сразу</a:t>
            </a:r>
            <a:r>
              <a:rPr lang="en-US" dirty="0"/>
              <a:t> </a:t>
            </a:r>
            <a:r>
              <a:rPr lang="en-US" dirty="0" err="1"/>
              <a:t>несколько</a:t>
            </a:r>
            <a:r>
              <a:rPr lang="en-US" dirty="0"/>
              <a:t> </a:t>
            </a:r>
            <a:r>
              <a:rPr lang="en-US" dirty="0" err="1"/>
              <a:t>показателей</a:t>
            </a:r>
            <a:r>
              <a:rPr lang="en-US" dirty="0"/>
              <a:t>.</a:t>
            </a:r>
          </a:p>
          <a:p>
            <a:r>
              <a:rPr lang="en-US" sz="1200" kern="1200" dirty="0">
                <a:solidFill>
                  <a:schemeClr val="tx1"/>
                </a:solidFill>
                <a:latin typeface="+mn-lt"/>
                <a:ea typeface="+mn-ea"/>
                <a:cs typeface="+mn-cs"/>
              </a:rPr>
              <a:t>VIRT</a:t>
            </a:r>
            <a:r>
              <a:rPr lang="en-US" dirty="0"/>
              <a:t> — </a:t>
            </a:r>
            <a:r>
              <a:rPr lang="en-US" dirty="0" err="1"/>
              <a:t>размер</a:t>
            </a:r>
            <a:r>
              <a:rPr lang="en-US" dirty="0"/>
              <a:t> </a:t>
            </a:r>
            <a:r>
              <a:rPr lang="en-US" dirty="0" err="1"/>
              <a:t>виртуального</a:t>
            </a:r>
            <a:r>
              <a:rPr lang="en-US" dirty="0"/>
              <a:t> </a:t>
            </a:r>
            <a:r>
              <a:rPr lang="en-US" dirty="0" err="1"/>
              <a:t>адресного</a:t>
            </a:r>
            <a:r>
              <a:rPr lang="en-US" dirty="0"/>
              <a:t> </a:t>
            </a:r>
            <a:r>
              <a:rPr lang="en-US" dirty="0" err="1"/>
              <a:t>пространства</a:t>
            </a:r>
            <a:r>
              <a:rPr lang="en-US" dirty="0"/>
              <a:t>, </a:t>
            </a:r>
            <a:r>
              <a:rPr lang="en-US" dirty="0" err="1"/>
              <a:t>связанного</a:t>
            </a:r>
            <a:r>
              <a:rPr lang="en-US" dirty="0"/>
              <a:t> с </a:t>
            </a:r>
            <a:r>
              <a:rPr lang="en-US" dirty="0" err="1"/>
              <a:t>процессом</a:t>
            </a:r>
            <a:r>
              <a:rPr lang="en-US" dirty="0"/>
              <a:t>. Это </a:t>
            </a:r>
            <a:r>
              <a:rPr lang="en-US" dirty="0" err="1"/>
              <a:t>не</a:t>
            </a:r>
            <a:r>
              <a:rPr lang="en-US" dirty="0"/>
              <a:t> </a:t>
            </a:r>
            <a:r>
              <a:rPr lang="en-US" dirty="0" err="1"/>
              <a:t>означает</a:t>
            </a:r>
            <a:r>
              <a:rPr lang="en-US" dirty="0"/>
              <a:t>, </a:t>
            </a:r>
            <a:r>
              <a:rPr lang="en-US" dirty="0" err="1"/>
              <a:t>что</a:t>
            </a:r>
            <a:r>
              <a:rPr lang="en-US" dirty="0"/>
              <a:t> </a:t>
            </a:r>
            <a:r>
              <a:rPr lang="en-US" dirty="0" err="1"/>
              <a:t>весь</a:t>
            </a:r>
            <a:r>
              <a:rPr lang="en-US" dirty="0"/>
              <a:t> </a:t>
            </a:r>
            <a:r>
              <a:rPr lang="en-US" dirty="0" err="1"/>
              <a:t>этот</a:t>
            </a:r>
            <a:r>
              <a:rPr lang="en-US" dirty="0"/>
              <a:t> </a:t>
            </a:r>
            <a:r>
              <a:rPr lang="en-US" dirty="0" err="1"/>
              <a:t>объём</a:t>
            </a:r>
            <a:r>
              <a:rPr lang="en-US" dirty="0"/>
              <a:t> </a:t>
            </a:r>
            <a:r>
              <a:rPr lang="en-US" dirty="0" err="1"/>
              <a:t>реально</a:t>
            </a:r>
            <a:r>
              <a:rPr lang="en-US" dirty="0"/>
              <a:t> </a:t>
            </a:r>
            <a:r>
              <a:rPr lang="en-US" dirty="0" err="1"/>
              <a:t>находится</a:t>
            </a:r>
            <a:r>
              <a:rPr lang="en-US" dirty="0"/>
              <a:t> в </a:t>
            </a:r>
            <a:r>
              <a:rPr lang="en-US" dirty="0" err="1"/>
              <a:t>оперативной</a:t>
            </a:r>
            <a:r>
              <a:rPr lang="en-US" dirty="0"/>
              <a:t> </a:t>
            </a:r>
            <a:r>
              <a:rPr lang="en-US" dirty="0" err="1"/>
              <a:t>памяти</a:t>
            </a:r>
            <a:r>
              <a:rPr lang="en-US" dirty="0"/>
              <a:t>.</a:t>
            </a:r>
          </a:p>
          <a:p>
            <a:r>
              <a:rPr lang="en-US" sz="1200" kern="1200" dirty="0">
                <a:solidFill>
                  <a:schemeClr val="tx1"/>
                </a:solidFill>
                <a:latin typeface="+mn-lt"/>
                <a:ea typeface="+mn-ea"/>
                <a:cs typeface="+mn-cs"/>
              </a:rPr>
              <a:t>RES</a:t>
            </a:r>
            <a:r>
              <a:rPr lang="en-US" dirty="0"/>
              <a:t> — resident memory, </a:t>
            </a:r>
            <a:r>
              <a:rPr lang="en-US" dirty="0" err="1"/>
              <a:t>то</a:t>
            </a:r>
            <a:r>
              <a:rPr lang="en-US" dirty="0"/>
              <a:t> </a:t>
            </a:r>
            <a:r>
              <a:rPr lang="en-US" dirty="0" err="1"/>
              <a:t>есть</a:t>
            </a:r>
            <a:r>
              <a:rPr lang="en-US" dirty="0"/>
              <a:t> </a:t>
            </a:r>
            <a:r>
              <a:rPr lang="en-US" dirty="0" err="1"/>
              <a:t>память</a:t>
            </a:r>
            <a:r>
              <a:rPr lang="en-US" dirty="0"/>
              <a:t> </a:t>
            </a:r>
            <a:r>
              <a:rPr lang="en-US" dirty="0" err="1"/>
              <a:t>процесса</a:t>
            </a:r>
            <a:r>
              <a:rPr lang="en-US" dirty="0"/>
              <a:t>, </a:t>
            </a:r>
            <a:r>
              <a:rPr lang="en-US" dirty="0" err="1"/>
              <a:t>которая</a:t>
            </a:r>
            <a:r>
              <a:rPr lang="en-US" dirty="0"/>
              <a:t> </a:t>
            </a:r>
            <a:r>
              <a:rPr lang="en-US" dirty="0" err="1"/>
              <a:t>сейчас</a:t>
            </a:r>
            <a:r>
              <a:rPr lang="en-US" dirty="0"/>
              <a:t> </a:t>
            </a:r>
            <a:r>
              <a:rPr lang="en-US" dirty="0" err="1"/>
              <a:t>находится</a:t>
            </a:r>
            <a:r>
              <a:rPr lang="en-US" dirty="0"/>
              <a:t> в RAM. </a:t>
            </a:r>
            <a:r>
              <a:rPr lang="en-US" dirty="0" err="1"/>
              <a:t>Поэтому</a:t>
            </a:r>
            <a:r>
              <a:rPr lang="en-US" dirty="0"/>
              <a:t>, </a:t>
            </a:r>
            <a:r>
              <a:rPr lang="en-US" dirty="0" err="1"/>
              <a:t>если</a:t>
            </a:r>
            <a:r>
              <a:rPr lang="en-US" dirty="0"/>
              <a:t> </a:t>
            </a:r>
            <a:r>
              <a:rPr lang="en-US" dirty="0" err="1"/>
              <a:t>нас</a:t>
            </a:r>
            <a:r>
              <a:rPr lang="en-US" dirty="0"/>
              <a:t> </a:t>
            </a:r>
            <a:r>
              <a:rPr lang="en-US" dirty="0" err="1"/>
              <a:t>интересует</a:t>
            </a:r>
            <a:r>
              <a:rPr lang="en-US" dirty="0"/>
              <a:t> </a:t>
            </a:r>
            <a:r>
              <a:rPr lang="en-US" dirty="0" err="1"/>
              <a:t>фактическое</a:t>
            </a:r>
            <a:r>
              <a:rPr lang="en-US" dirty="0"/>
              <a:t> </a:t>
            </a:r>
            <a:r>
              <a:rPr lang="en-US" dirty="0" err="1"/>
              <a:t>присутствие</a:t>
            </a:r>
            <a:r>
              <a:rPr lang="en-US" dirty="0"/>
              <a:t> </a:t>
            </a:r>
            <a:r>
              <a:rPr lang="en-US" dirty="0" err="1"/>
              <a:t>процесса</a:t>
            </a:r>
            <a:r>
              <a:rPr lang="en-US" dirty="0"/>
              <a:t> в </a:t>
            </a:r>
            <a:r>
              <a:rPr lang="en-US" dirty="0" err="1"/>
              <a:t>оперативной</a:t>
            </a:r>
            <a:r>
              <a:rPr lang="en-US" dirty="0"/>
              <a:t> </a:t>
            </a:r>
            <a:r>
              <a:rPr lang="en-US" dirty="0" err="1"/>
              <a:t>памяти</a:t>
            </a:r>
            <a:r>
              <a:rPr lang="en-US" dirty="0"/>
              <a:t>, </a:t>
            </a:r>
            <a:r>
              <a:rPr lang="en-US" sz="1200" kern="1200" dirty="0">
                <a:solidFill>
                  <a:schemeClr val="tx1"/>
                </a:solidFill>
                <a:latin typeface="+mn-lt"/>
                <a:ea typeface="+mn-ea"/>
                <a:cs typeface="+mn-cs"/>
              </a:rPr>
              <a:t>RES</a:t>
            </a:r>
            <a:r>
              <a:rPr lang="en-US" dirty="0"/>
              <a:t> </a:t>
            </a:r>
            <a:r>
              <a:rPr lang="en-US" dirty="0" err="1"/>
              <a:t>обычно</a:t>
            </a:r>
            <a:r>
              <a:rPr lang="en-US" dirty="0"/>
              <a:t> </a:t>
            </a:r>
            <a:r>
              <a:rPr lang="en-US" dirty="0" err="1"/>
              <a:t>информативнее</a:t>
            </a:r>
            <a:r>
              <a:rPr lang="en-US" dirty="0"/>
              <a:t>, </a:t>
            </a:r>
            <a:r>
              <a:rPr lang="en-US" dirty="0" err="1"/>
              <a:t>чем</a:t>
            </a:r>
            <a:r>
              <a:rPr lang="en-US" dirty="0"/>
              <a:t> </a:t>
            </a:r>
            <a:r>
              <a:rPr lang="en-US" sz="1200" kern="1200" dirty="0">
                <a:solidFill>
                  <a:schemeClr val="tx1"/>
                </a:solidFill>
                <a:latin typeface="+mn-lt"/>
                <a:ea typeface="+mn-ea"/>
                <a:cs typeface="+mn-cs"/>
              </a:rPr>
              <a:t>VIRT</a:t>
            </a:r>
            <a:r>
              <a:rPr lang="en-US" dirty="0"/>
              <a:t>.</a:t>
            </a:r>
          </a:p>
          <a:p>
            <a:r>
              <a:rPr lang="en-US" sz="1200" kern="1200" dirty="0">
                <a:solidFill>
                  <a:schemeClr val="tx1"/>
                </a:solidFill>
                <a:latin typeface="+mn-lt"/>
                <a:ea typeface="+mn-ea"/>
                <a:cs typeface="+mn-cs"/>
              </a:rPr>
              <a:t>SHR</a:t>
            </a:r>
            <a:r>
              <a:rPr lang="en-US" dirty="0"/>
              <a:t> </a:t>
            </a:r>
            <a:r>
              <a:rPr lang="en-US" dirty="0" err="1"/>
              <a:t>показывает</a:t>
            </a:r>
            <a:r>
              <a:rPr lang="en-US" dirty="0"/>
              <a:t> </a:t>
            </a:r>
            <a:r>
              <a:rPr lang="en-US" dirty="0" err="1"/>
              <a:t>часть</a:t>
            </a:r>
            <a:r>
              <a:rPr lang="en-US" dirty="0"/>
              <a:t> </a:t>
            </a:r>
            <a:r>
              <a:rPr lang="en-US" dirty="0" err="1"/>
              <a:t>памяти</a:t>
            </a:r>
            <a:r>
              <a:rPr lang="en-US" dirty="0"/>
              <a:t>, </a:t>
            </a:r>
            <a:r>
              <a:rPr lang="en-US" dirty="0" err="1"/>
              <a:t>которая</a:t>
            </a:r>
            <a:r>
              <a:rPr lang="en-US" dirty="0"/>
              <a:t> </a:t>
            </a:r>
            <a:r>
              <a:rPr lang="en-US" dirty="0" err="1"/>
              <a:t>может</a:t>
            </a:r>
            <a:r>
              <a:rPr lang="en-US" dirty="0"/>
              <a:t> </a:t>
            </a:r>
            <a:r>
              <a:rPr lang="en-US" dirty="0" err="1"/>
              <a:t>быть</a:t>
            </a:r>
            <a:r>
              <a:rPr lang="en-US" dirty="0"/>
              <a:t> </a:t>
            </a:r>
            <a:r>
              <a:rPr lang="en-US" dirty="0" err="1"/>
              <a:t>общей</a:t>
            </a:r>
            <a:r>
              <a:rPr lang="en-US" dirty="0"/>
              <a:t> с </a:t>
            </a:r>
            <a:r>
              <a:rPr lang="en-US" dirty="0" err="1"/>
              <a:t>другими</a:t>
            </a:r>
            <a:r>
              <a:rPr lang="en-US" dirty="0"/>
              <a:t> </a:t>
            </a:r>
            <a:r>
              <a:rPr lang="en-US" dirty="0" err="1"/>
              <a:t>процессами</a:t>
            </a:r>
            <a:r>
              <a:rPr lang="en-US" dirty="0"/>
              <a:t>, </a:t>
            </a:r>
            <a:r>
              <a:rPr lang="en-US" dirty="0" err="1"/>
              <a:t>например</a:t>
            </a:r>
            <a:r>
              <a:rPr lang="en-US" dirty="0"/>
              <a:t> </a:t>
            </a:r>
            <a:r>
              <a:rPr lang="en-US" dirty="0" err="1"/>
              <a:t>память</a:t>
            </a:r>
            <a:r>
              <a:rPr lang="en-US" dirty="0"/>
              <a:t> </a:t>
            </a:r>
            <a:r>
              <a:rPr lang="en-US" dirty="0" err="1"/>
              <a:t>совместно</a:t>
            </a:r>
            <a:r>
              <a:rPr lang="en-US" dirty="0"/>
              <a:t> </a:t>
            </a:r>
            <a:r>
              <a:rPr lang="en-US" dirty="0" err="1"/>
              <a:t>используемых</a:t>
            </a:r>
            <a:r>
              <a:rPr lang="en-US" dirty="0"/>
              <a:t> </a:t>
            </a:r>
            <a:r>
              <a:rPr lang="en-US" dirty="0" err="1"/>
              <a:t>библиотек</a:t>
            </a:r>
            <a:r>
              <a:rPr lang="en-US" dirty="0"/>
              <a:t>.</a:t>
            </a:r>
            <a:endParaRPr lang="ru-RU" dirty="0"/>
          </a:p>
          <a:p>
            <a:endParaRPr lang="en-US" dirty="0"/>
          </a:p>
          <a:p>
            <a:r>
              <a:rPr lang="en-US" dirty="0" err="1"/>
              <a:t>Столбец</a:t>
            </a:r>
            <a:r>
              <a:rPr lang="en-US" dirty="0"/>
              <a:t> </a:t>
            </a:r>
            <a:r>
              <a:rPr lang="en-US" sz="1200" kern="1200" dirty="0">
                <a:solidFill>
                  <a:schemeClr val="tx1"/>
                </a:solidFill>
                <a:latin typeface="+mn-lt"/>
                <a:ea typeface="+mn-ea"/>
                <a:cs typeface="+mn-cs"/>
              </a:rPr>
              <a:t>S</a:t>
            </a:r>
            <a:r>
              <a:rPr lang="en-US" dirty="0"/>
              <a:t> </a:t>
            </a:r>
            <a:r>
              <a:rPr lang="en-US" dirty="0" err="1"/>
              <a:t>показывает</a:t>
            </a:r>
            <a:r>
              <a:rPr lang="en-US" dirty="0"/>
              <a:t> </a:t>
            </a:r>
            <a:r>
              <a:rPr lang="en-US" dirty="0" err="1"/>
              <a:t>состояние</a:t>
            </a:r>
            <a:r>
              <a:rPr lang="en-US" dirty="0"/>
              <a:t> </a:t>
            </a:r>
            <a:r>
              <a:rPr lang="en-US" dirty="0" err="1"/>
              <a:t>процесса</a:t>
            </a:r>
            <a:r>
              <a:rPr lang="en-US" dirty="0"/>
              <a:t>. </a:t>
            </a:r>
            <a:r>
              <a:rPr lang="en-US" dirty="0" err="1"/>
              <a:t>Например</a:t>
            </a:r>
            <a:r>
              <a:rPr lang="en-US" dirty="0"/>
              <a:t>, </a:t>
            </a:r>
            <a:r>
              <a:rPr lang="en-US" sz="1200" kern="1200" dirty="0">
                <a:solidFill>
                  <a:schemeClr val="tx1"/>
                </a:solidFill>
                <a:latin typeface="+mn-lt"/>
                <a:ea typeface="+mn-ea"/>
                <a:cs typeface="+mn-cs"/>
              </a:rPr>
              <a:t>R</a:t>
            </a:r>
            <a:r>
              <a:rPr lang="en-US" dirty="0"/>
              <a:t> </a:t>
            </a:r>
            <a:r>
              <a:rPr lang="en-US" dirty="0" err="1"/>
              <a:t>означает</a:t>
            </a:r>
            <a:r>
              <a:rPr lang="en-US" dirty="0"/>
              <a:t>, </a:t>
            </a:r>
            <a:r>
              <a:rPr lang="en-US" dirty="0" err="1"/>
              <a:t>что</a:t>
            </a:r>
            <a:r>
              <a:rPr lang="en-US" dirty="0"/>
              <a:t> </a:t>
            </a:r>
            <a:r>
              <a:rPr lang="en-US" dirty="0" err="1"/>
              <a:t>процесс</a:t>
            </a:r>
            <a:r>
              <a:rPr lang="en-US" dirty="0"/>
              <a:t> </a:t>
            </a:r>
            <a:r>
              <a:rPr lang="en-US" dirty="0" err="1"/>
              <a:t>выполняется</a:t>
            </a:r>
            <a:r>
              <a:rPr lang="en-US" dirty="0"/>
              <a:t>, а </a:t>
            </a:r>
            <a:r>
              <a:rPr lang="en-US" sz="1200" kern="1200" dirty="0">
                <a:solidFill>
                  <a:schemeClr val="tx1"/>
                </a:solidFill>
                <a:latin typeface="+mn-lt"/>
                <a:ea typeface="+mn-ea"/>
                <a:cs typeface="+mn-cs"/>
              </a:rPr>
              <a:t>S</a:t>
            </a:r>
            <a:r>
              <a:rPr lang="en-US" dirty="0"/>
              <a:t> — </a:t>
            </a:r>
            <a:r>
              <a:rPr lang="en-US" dirty="0" err="1"/>
              <a:t>что</a:t>
            </a:r>
            <a:r>
              <a:rPr lang="en-US" dirty="0"/>
              <a:t> </a:t>
            </a:r>
            <a:r>
              <a:rPr lang="en-US" dirty="0" err="1"/>
              <a:t>он</a:t>
            </a:r>
            <a:r>
              <a:rPr lang="en-US" dirty="0"/>
              <a:t> </a:t>
            </a:r>
            <a:r>
              <a:rPr lang="en-US" dirty="0" err="1"/>
              <a:t>сейчас</a:t>
            </a:r>
            <a:r>
              <a:rPr lang="en-US" dirty="0"/>
              <a:t> </a:t>
            </a:r>
            <a:r>
              <a:rPr lang="en-US" dirty="0" err="1"/>
              <a:t>ожидает</a:t>
            </a:r>
            <a:r>
              <a:rPr lang="en-US" dirty="0"/>
              <a:t> </a:t>
            </a:r>
            <a:r>
              <a:rPr lang="en-US" dirty="0" err="1"/>
              <a:t>некоторого</a:t>
            </a:r>
            <a:r>
              <a:rPr lang="en-US" dirty="0"/>
              <a:t> </a:t>
            </a:r>
            <a:r>
              <a:rPr lang="en-US" dirty="0" err="1"/>
              <a:t>события</a:t>
            </a:r>
            <a:r>
              <a:rPr lang="en-US" dirty="0"/>
              <a:t>. В </a:t>
            </a:r>
            <a:r>
              <a:rPr lang="en-US" dirty="0" err="1"/>
              <a:t>нашем</a:t>
            </a:r>
            <a:r>
              <a:rPr lang="en-US" dirty="0"/>
              <a:t> </a:t>
            </a:r>
            <a:r>
              <a:rPr lang="en-US" dirty="0" err="1"/>
              <a:t>примере</a:t>
            </a:r>
            <a:r>
              <a:rPr lang="en-US" dirty="0"/>
              <a:t> </a:t>
            </a:r>
            <a:r>
              <a:rPr lang="en-US" dirty="0" err="1"/>
              <a:t>сама</a:t>
            </a:r>
            <a:r>
              <a:rPr lang="en-US" dirty="0"/>
              <a:t> </a:t>
            </a:r>
            <a:r>
              <a:rPr lang="en-US" dirty="0" err="1"/>
              <a:t>программа</a:t>
            </a:r>
            <a:r>
              <a:rPr lang="en-US" dirty="0"/>
              <a:t> </a:t>
            </a:r>
            <a:r>
              <a:rPr lang="en-US" sz="1200" kern="1200" dirty="0">
                <a:solidFill>
                  <a:schemeClr val="tx1"/>
                </a:solidFill>
                <a:latin typeface="+mn-lt"/>
                <a:ea typeface="+mn-ea"/>
                <a:cs typeface="+mn-cs"/>
              </a:rPr>
              <a:t>top</a:t>
            </a:r>
            <a:r>
              <a:rPr lang="en-US" dirty="0"/>
              <a:t> </a:t>
            </a:r>
            <a:r>
              <a:rPr lang="en-US" dirty="0" err="1"/>
              <a:t>находится</a:t>
            </a:r>
            <a:r>
              <a:rPr lang="en-US" dirty="0"/>
              <a:t> в </a:t>
            </a:r>
            <a:r>
              <a:rPr lang="en-US" dirty="0" err="1"/>
              <a:t>состоянии</a:t>
            </a:r>
            <a:r>
              <a:rPr lang="en-US" dirty="0"/>
              <a:t> </a:t>
            </a:r>
            <a:r>
              <a:rPr lang="en-US" sz="1200" kern="1200" dirty="0">
                <a:solidFill>
                  <a:schemeClr val="tx1"/>
                </a:solidFill>
                <a:latin typeface="+mn-lt"/>
                <a:ea typeface="+mn-ea"/>
                <a:cs typeface="+mn-cs"/>
              </a:rPr>
              <a:t>R</a:t>
            </a:r>
            <a:r>
              <a:rPr lang="en-US" dirty="0"/>
              <a:t>, </a:t>
            </a:r>
            <a:r>
              <a:rPr lang="en-US" dirty="0" err="1"/>
              <a:t>потому</a:t>
            </a:r>
            <a:r>
              <a:rPr lang="en-US" dirty="0"/>
              <a:t> </a:t>
            </a:r>
            <a:r>
              <a:rPr lang="en-US" dirty="0" err="1"/>
              <a:t>что</a:t>
            </a:r>
            <a:r>
              <a:rPr lang="en-US" dirty="0"/>
              <a:t> </a:t>
            </a:r>
            <a:r>
              <a:rPr lang="en-US" dirty="0" err="1"/>
              <a:t>именно</a:t>
            </a:r>
            <a:r>
              <a:rPr lang="en-US" dirty="0"/>
              <a:t> </a:t>
            </a:r>
            <a:r>
              <a:rPr lang="en-US" dirty="0" err="1"/>
              <a:t>она</a:t>
            </a:r>
            <a:r>
              <a:rPr lang="en-US" dirty="0"/>
              <a:t> </a:t>
            </a:r>
            <a:r>
              <a:rPr lang="en-US" dirty="0" err="1"/>
              <a:t>сейчас</a:t>
            </a:r>
            <a:r>
              <a:rPr lang="en-US" dirty="0"/>
              <a:t> </a:t>
            </a:r>
            <a:r>
              <a:rPr lang="en-US" dirty="0" err="1"/>
              <a:t>работает</a:t>
            </a:r>
            <a:r>
              <a:rPr lang="en-US" dirty="0"/>
              <a:t> и </a:t>
            </a:r>
            <a:r>
              <a:rPr lang="en-US" dirty="0" err="1"/>
              <a:t>формирует</a:t>
            </a:r>
            <a:r>
              <a:rPr lang="en-US" dirty="0"/>
              <a:t> </a:t>
            </a:r>
            <a:r>
              <a:rPr lang="en-US" dirty="0" err="1"/>
              <a:t>этот</a:t>
            </a:r>
            <a:r>
              <a:rPr lang="en-US" dirty="0"/>
              <a:t> </a:t>
            </a:r>
            <a:r>
              <a:rPr lang="en-US" dirty="0" err="1"/>
              <a:t>вывод</a:t>
            </a:r>
            <a:r>
              <a:rPr lang="en-US" dirty="0"/>
              <a:t>.</a:t>
            </a:r>
            <a:endParaRPr lang="ru-RU" dirty="0"/>
          </a:p>
          <a:p>
            <a:endParaRPr lang="en-US" dirty="0"/>
          </a:p>
          <a:p>
            <a:r>
              <a:rPr lang="en-US" dirty="0" err="1"/>
              <a:t>Есть</a:t>
            </a:r>
            <a:r>
              <a:rPr lang="en-US" dirty="0"/>
              <a:t> </a:t>
            </a:r>
            <a:r>
              <a:rPr lang="en-US" dirty="0" err="1"/>
              <a:t>также</a:t>
            </a:r>
            <a:r>
              <a:rPr lang="en-US" dirty="0"/>
              <a:t> </a:t>
            </a:r>
            <a:r>
              <a:rPr lang="en-US" dirty="0" err="1"/>
              <a:t>столбцы</a:t>
            </a:r>
            <a:r>
              <a:rPr lang="en-US" dirty="0"/>
              <a:t> </a:t>
            </a:r>
            <a:r>
              <a:rPr lang="en-US" sz="1200" kern="1200" dirty="0">
                <a:solidFill>
                  <a:schemeClr val="tx1"/>
                </a:solidFill>
                <a:latin typeface="+mn-lt"/>
                <a:ea typeface="+mn-ea"/>
                <a:cs typeface="+mn-cs"/>
              </a:rPr>
              <a:t>PR</a:t>
            </a:r>
            <a:r>
              <a:rPr lang="en-US" dirty="0"/>
              <a:t> и </a:t>
            </a:r>
            <a:r>
              <a:rPr lang="en-US" sz="1200" kern="1200" dirty="0">
                <a:solidFill>
                  <a:schemeClr val="tx1"/>
                </a:solidFill>
                <a:latin typeface="+mn-lt"/>
                <a:ea typeface="+mn-ea"/>
                <a:cs typeface="+mn-cs"/>
              </a:rPr>
              <a:t>NI</a:t>
            </a:r>
            <a:r>
              <a:rPr lang="en-US" dirty="0"/>
              <a:t>, </a:t>
            </a:r>
            <a:r>
              <a:rPr lang="en-US" dirty="0" err="1"/>
              <a:t>связанные</a:t>
            </a:r>
            <a:r>
              <a:rPr lang="en-US" dirty="0"/>
              <a:t> с </a:t>
            </a:r>
            <a:r>
              <a:rPr lang="en-US" dirty="0" err="1"/>
              <a:t>приоритетом</a:t>
            </a:r>
            <a:r>
              <a:rPr lang="en-US" dirty="0"/>
              <a:t> </a:t>
            </a:r>
            <a:r>
              <a:rPr lang="en-US" dirty="0" err="1"/>
              <a:t>выполнения</a:t>
            </a:r>
            <a:r>
              <a:rPr lang="en-US" dirty="0"/>
              <a:t>. </a:t>
            </a:r>
            <a:r>
              <a:rPr lang="en-US" sz="1200" kern="1200" dirty="0">
                <a:solidFill>
                  <a:schemeClr val="tx1"/>
                </a:solidFill>
                <a:latin typeface="+mn-lt"/>
                <a:ea typeface="+mn-ea"/>
                <a:cs typeface="+mn-cs"/>
              </a:rPr>
              <a:t>NI</a:t>
            </a:r>
            <a:r>
              <a:rPr lang="en-US" dirty="0"/>
              <a:t> — </a:t>
            </a:r>
            <a:r>
              <a:rPr lang="en-US" dirty="0" err="1"/>
              <a:t>это</a:t>
            </a:r>
            <a:r>
              <a:rPr lang="en-US" dirty="0"/>
              <a:t> </a:t>
            </a:r>
            <a:r>
              <a:rPr lang="en-US" dirty="0" err="1"/>
              <a:t>так</a:t>
            </a:r>
            <a:r>
              <a:rPr lang="en-US" dirty="0"/>
              <a:t> </a:t>
            </a:r>
            <a:r>
              <a:rPr lang="en-US" dirty="0" err="1"/>
              <a:t>называемое</a:t>
            </a:r>
            <a:r>
              <a:rPr lang="en-US" dirty="0"/>
              <a:t> nice value: </a:t>
            </a:r>
            <a:r>
              <a:rPr lang="en-US" dirty="0" err="1"/>
              <a:t>изменяя</a:t>
            </a:r>
            <a:r>
              <a:rPr lang="en-US" dirty="0"/>
              <a:t> </a:t>
            </a:r>
            <a:r>
              <a:rPr lang="en-US" dirty="0" err="1"/>
              <a:t>его</a:t>
            </a:r>
            <a:r>
              <a:rPr lang="en-US" dirty="0"/>
              <a:t>, </a:t>
            </a:r>
            <a:r>
              <a:rPr lang="en-US" dirty="0" err="1"/>
              <a:t>можно</a:t>
            </a:r>
            <a:r>
              <a:rPr lang="en-US" dirty="0"/>
              <a:t> </a:t>
            </a:r>
            <a:r>
              <a:rPr lang="en-US" dirty="0" err="1"/>
              <a:t>влиять</a:t>
            </a:r>
            <a:r>
              <a:rPr lang="en-US" dirty="0"/>
              <a:t> </a:t>
            </a:r>
            <a:r>
              <a:rPr lang="en-US" dirty="0" err="1"/>
              <a:t>на</a:t>
            </a:r>
            <a:r>
              <a:rPr lang="en-US" dirty="0"/>
              <a:t> </a:t>
            </a:r>
            <a:r>
              <a:rPr lang="en-US" dirty="0" err="1"/>
              <a:t>приоритет</a:t>
            </a:r>
            <a:r>
              <a:rPr lang="en-US" dirty="0"/>
              <a:t> </a:t>
            </a:r>
            <a:r>
              <a:rPr lang="en-US" dirty="0" err="1"/>
              <a:t>процесса</a:t>
            </a:r>
            <a:r>
              <a:rPr lang="en-US" dirty="0"/>
              <a:t>. </a:t>
            </a:r>
            <a:r>
              <a:rPr lang="en-US" dirty="0" err="1"/>
              <a:t>Более</a:t>
            </a:r>
            <a:r>
              <a:rPr lang="en-US" dirty="0"/>
              <a:t> </a:t>
            </a:r>
            <a:r>
              <a:rPr lang="en-US" dirty="0" err="1"/>
              <a:t>отрицательное</a:t>
            </a:r>
            <a:r>
              <a:rPr lang="en-US" dirty="0"/>
              <a:t> </a:t>
            </a:r>
            <a:r>
              <a:rPr lang="en-US" dirty="0" err="1"/>
              <a:t>значение</a:t>
            </a:r>
            <a:r>
              <a:rPr lang="en-US" dirty="0"/>
              <a:t> </a:t>
            </a:r>
            <a:r>
              <a:rPr lang="en-US" dirty="0" err="1"/>
              <a:t>соответствует</a:t>
            </a:r>
            <a:r>
              <a:rPr lang="en-US" dirty="0"/>
              <a:t> </a:t>
            </a:r>
            <a:r>
              <a:rPr lang="en-US" dirty="0" err="1"/>
              <a:t>более</a:t>
            </a:r>
            <a:r>
              <a:rPr lang="en-US" dirty="0"/>
              <a:t> </a:t>
            </a:r>
            <a:r>
              <a:rPr lang="en-US" dirty="0" err="1"/>
              <a:t>высокому</a:t>
            </a:r>
            <a:r>
              <a:rPr lang="en-US" dirty="0"/>
              <a:t> </a:t>
            </a:r>
            <a:r>
              <a:rPr lang="en-US" dirty="0" err="1"/>
              <a:t>приоритету</a:t>
            </a:r>
            <a:r>
              <a:rPr lang="en-US" dirty="0"/>
              <a:t>, а </a:t>
            </a:r>
            <a:r>
              <a:rPr lang="en-US" dirty="0" err="1"/>
              <a:t>положительное</a:t>
            </a:r>
            <a:r>
              <a:rPr lang="en-US" dirty="0"/>
              <a:t> — </a:t>
            </a:r>
            <a:r>
              <a:rPr lang="en-US" dirty="0" err="1"/>
              <a:t>более</a:t>
            </a:r>
            <a:r>
              <a:rPr lang="en-US" dirty="0"/>
              <a:t> </a:t>
            </a:r>
            <a:r>
              <a:rPr lang="en-US" dirty="0" err="1"/>
              <a:t>низкому</a:t>
            </a:r>
            <a:r>
              <a:rPr lang="en-US" dirty="0"/>
              <a:t>.</a:t>
            </a:r>
            <a:endParaRPr lang="ru-RU" dirty="0"/>
          </a:p>
          <a:p>
            <a:endParaRPr lang="en-US" dirty="0"/>
          </a:p>
          <a:p>
            <a:r>
              <a:rPr lang="en-US" dirty="0" err="1"/>
              <a:t>Наконец</a:t>
            </a:r>
            <a:r>
              <a:rPr lang="en-US" dirty="0"/>
              <a:t>, </a:t>
            </a:r>
            <a:r>
              <a:rPr lang="en-US" sz="1200" kern="1200" dirty="0">
                <a:solidFill>
                  <a:schemeClr val="tx1"/>
                </a:solidFill>
                <a:latin typeface="+mn-lt"/>
                <a:ea typeface="+mn-ea"/>
                <a:cs typeface="+mn-cs"/>
              </a:rPr>
              <a:t>TIME+</a:t>
            </a:r>
            <a:r>
              <a:rPr lang="en-US" dirty="0"/>
              <a:t> </a:t>
            </a:r>
            <a:r>
              <a:rPr lang="en-US" dirty="0" err="1"/>
              <a:t>показывает</a:t>
            </a:r>
            <a:r>
              <a:rPr lang="en-US" dirty="0"/>
              <a:t> </a:t>
            </a:r>
            <a:r>
              <a:rPr lang="en-US" dirty="0" err="1"/>
              <a:t>суммарное</a:t>
            </a:r>
            <a:r>
              <a:rPr lang="en-US" dirty="0"/>
              <a:t> </a:t>
            </a:r>
            <a:r>
              <a:rPr lang="en-US" dirty="0" err="1"/>
              <a:t>процессорное</a:t>
            </a:r>
            <a:r>
              <a:rPr lang="en-US" dirty="0"/>
              <a:t> </a:t>
            </a:r>
            <a:r>
              <a:rPr lang="en-US" dirty="0" err="1"/>
              <a:t>время</a:t>
            </a:r>
            <a:r>
              <a:rPr lang="en-US" dirty="0"/>
              <a:t>, </a:t>
            </a:r>
            <a:r>
              <a:rPr lang="en-US" dirty="0" err="1"/>
              <a:t>которое</a:t>
            </a:r>
            <a:r>
              <a:rPr lang="en-US" dirty="0"/>
              <a:t> </a:t>
            </a:r>
            <a:r>
              <a:rPr lang="en-US" dirty="0" err="1"/>
              <a:t>процесс</a:t>
            </a:r>
            <a:r>
              <a:rPr lang="en-US" dirty="0"/>
              <a:t> </a:t>
            </a:r>
            <a:r>
              <a:rPr lang="en-US" dirty="0" err="1"/>
              <a:t>получил</a:t>
            </a:r>
            <a:r>
              <a:rPr lang="en-US" dirty="0"/>
              <a:t> с </a:t>
            </a:r>
            <a:r>
              <a:rPr lang="en-US" dirty="0" err="1"/>
              <a:t>момента</a:t>
            </a:r>
            <a:r>
              <a:rPr lang="en-US" dirty="0"/>
              <a:t> </a:t>
            </a:r>
            <a:r>
              <a:rPr lang="en-US" dirty="0" err="1"/>
              <a:t>своего</a:t>
            </a:r>
            <a:r>
              <a:rPr lang="en-US" dirty="0"/>
              <a:t> </a:t>
            </a:r>
            <a:r>
              <a:rPr lang="en-US" dirty="0" err="1"/>
              <a:t>запуска</a:t>
            </a:r>
            <a:r>
              <a:rPr lang="en-US" dirty="0"/>
              <a:t>.</a:t>
            </a:r>
          </a:p>
          <a:p>
            <a:r>
              <a:rPr lang="en-US" dirty="0" err="1"/>
              <a:t>Таким</a:t>
            </a:r>
            <a:r>
              <a:rPr lang="en-US" dirty="0"/>
              <a:t> </a:t>
            </a:r>
            <a:r>
              <a:rPr lang="en-US" dirty="0" err="1"/>
              <a:t>образом</a:t>
            </a:r>
            <a:r>
              <a:rPr lang="en-US" dirty="0"/>
              <a:t>, </a:t>
            </a:r>
            <a:r>
              <a:rPr lang="en-US" sz="1200" kern="1200" dirty="0">
                <a:solidFill>
                  <a:schemeClr val="tx1"/>
                </a:solidFill>
                <a:latin typeface="+mn-lt"/>
                <a:ea typeface="+mn-ea"/>
                <a:cs typeface="+mn-cs"/>
              </a:rPr>
              <a:t>top</a:t>
            </a:r>
            <a:r>
              <a:rPr lang="en-US" dirty="0"/>
              <a:t> </a:t>
            </a:r>
            <a:r>
              <a:rPr lang="en-US" dirty="0" err="1"/>
              <a:t>объединяет</a:t>
            </a:r>
            <a:r>
              <a:rPr lang="en-US" dirty="0"/>
              <a:t> </a:t>
            </a:r>
            <a:r>
              <a:rPr lang="en-US" dirty="0" err="1"/>
              <a:t>два</a:t>
            </a:r>
            <a:r>
              <a:rPr lang="en-US" dirty="0"/>
              <a:t> </a:t>
            </a:r>
            <a:r>
              <a:rPr lang="en-US" dirty="0" err="1"/>
              <a:t>уровня</a:t>
            </a:r>
            <a:r>
              <a:rPr lang="en-US" dirty="0"/>
              <a:t> </a:t>
            </a:r>
            <a:r>
              <a:rPr lang="en-US" dirty="0" err="1"/>
              <a:t>информации</a:t>
            </a:r>
            <a:r>
              <a:rPr lang="en-US" dirty="0"/>
              <a:t>.</a:t>
            </a:r>
          </a:p>
          <a:p>
            <a:endParaRPr lang="en-US" dirty="0"/>
          </a:p>
          <a:p>
            <a:r>
              <a:rPr lang="en-US" dirty="0" err="1"/>
              <a:t>Сверху</a:t>
            </a:r>
            <a:r>
              <a:rPr lang="en-US" dirty="0"/>
              <a:t> </a:t>
            </a:r>
            <a:r>
              <a:rPr lang="en-US" dirty="0" err="1"/>
              <a:t>мы</a:t>
            </a:r>
            <a:r>
              <a:rPr lang="en-US" dirty="0"/>
              <a:t> </a:t>
            </a:r>
            <a:r>
              <a:rPr lang="en-US" dirty="0" err="1"/>
              <a:t>видим</a:t>
            </a:r>
            <a:r>
              <a:rPr lang="en-US" dirty="0"/>
              <a:t> </a:t>
            </a:r>
            <a:r>
              <a:rPr lang="en-US" dirty="0" err="1"/>
              <a:t>состояние</a:t>
            </a:r>
            <a:r>
              <a:rPr lang="en-US" dirty="0"/>
              <a:t> </a:t>
            </a:r>
            <a:r>
              <a:rPr lang="en-US" dirty="0" err="1"/>
              <a:t>системы</a:t>
            </a:r>
            <a:r>
              <a:rPr lang="en-US" dirty="0"/>
              <a:t> в </a:t>
            </a:r>
            <a:r>
              <a:rPr lang="en-US" dirty="0" err="1"/>
              <a:t>целом</a:t>
            </a:r>
            <a:r>
              <a:rPr lang="en-US" dirty="0"/>
              <a:t> — </a:t>
            </a:r>
            <a:r>
              <a:rPr lang="en-US" dirty="0" err="1"/>
              <a:t>процессы</a:t>
            </a:r>
            <a:r>
              <a:rPr lang="en-US" dirty="0"/>
              <a:t>, </a:t>
            </a:r>
            <a:r>
              <a:rPr lang="en-US" dirty="0" err="1"/>
              <a:t>процессор</a:t>
            </a:r>
            <a:r>
              <a:rPr lang="en-US" dirty="0"/>
              <a:t> и </a:t>
            </a:r>
            <a:r>
              <a:rPr lang="en-US" dirty="0" err="1"/>
              <a:t>память</a:t>
            </a:r>
            <a:r>
              <a:rPr lang="en-US" dirty="0"/>
              <a:t>, — а </a:t>
            </a:r>
            <a:r>
              <a:rPr lang="en-US" dirty="0" err="1"/>
              <a:t>снизу</a:t>
            </a:r>
            <a:r>
              <a:rPr lang="en-US" dirty="0"/>
              <a:t> </a:t>
            </a:r>
            <a:r>
              <a:rPr lang="en-US" dirty="0" err="1"/>
              <a:t>можем</a:t>
            </a:r>
            <a:r>
              <a:rPr lang="en-US" dirty="0"/>
              <a:t> </a:t>
            </a:r>
            <a:r>
              <a:rPr lang="en-US" dirty="0" err="1"/>
              <a:t>посмотреть</a:t>
            </a:r>
            <a:r>
              <a:rPr lang="en-US" dirty="0"/>
              <a:t>, </a:t>
            </a:r>
            <a:r>
              <a:rPr lang="en-US" dirty="0" err="1"/>
              <a:t>какие</a:t>
            </a:r>
            <a:r>
              <a:rPr lang="en-US" dirty="0"/>
              <a:t> </a:t>
            </a:r>
            <a:r>
              <a:rPr lang="en-US" dirty="0" err="1"/>
              <a:t>конкретно</a:t>
            </a:r>
            <a:r>
              <a:rPr lang="en-US" dirty="0"/>
              <a:t> </a:t>
            </a:r>
            <a:r>
              <a:rPr lang="en-US" dirty="0" err="1"/>
              <a:t>процессы</a:t>
            </a:r>
            <a:r>
              <a:rPr lang="en-US" dirty="0"/>
              <a:t> </a:t>
            </a:r>
            <a:r>
              <a:rPr lang="en-US" dirty="0" err="1"/>
              <a:t>используют</a:t>
            </a:r>
            <a:r>
              <a:rPr lang="en-US" dirty="0"/>
              <a:t> </a:t>
            </a:r>
            <a:r>
              <a:rPr lang="en-US" dirty="0" err="1"/>
              <a:t>эти</a:t>
            </a:r>
            <a:r>
              <a:rPr lang="en-US" dirty="0"/>
              <a:t> </a:t>
            </a:r>
            <a:r>
              <a:rPr lang="en-US" dirty="0" err="1"/>
              <a:t>ресурсы</a:t>
            </a:r>
            <a:r>
              <a:rPr lang="en-US" dirty="0"/>
              <a:t>.</a:t>
            </a:r>
          </a:p>
          <a:p>
            <a:r>
              <a:rPr lang="en-US" dirty="0" err="1"/>
              <a:t>Поэтому</a:t>
            </a:r>
            <a:r>
              <a:rPr lang="en-US" dirty="0"/>
              <a:t> </a:t>
            </a:r>
            <a:r>
              <a:rPr lang="en-US" sz="1200" kern="1200" dirty="0" err="1">
                <a:solidFill>
                  <a:schemeClr val="tx1"/>
                </a:solidFill>
                <a:latin typeface="+mn-lt"/>
                <a:ea typeface="+mn-ea"/>
                <a:cs typeface="+mn-cs"/>
              </a:rPr>
              <a:t>ps</a:t>
            </a:r>
            <a:r>
              <a:rPr lang="en-US" dirty="0"/>
              <a:t> </a:t>
            </a:r>
            <a:r>
              <a:rPr lang="en-US" dirty="0" err="1"/>
              <a:t>удобно</a:t>
            </a:r>
            <a:r>
              <a:rPr lang="en-US" dirty="0"/>
              <a:t> </a:t>
            </a:r>
            <a:r>
              <a:rPr lang="en-US" dirty="0" err="1"/>
              <a:t>применять</a:t>
            </a:r>
            <a:r>
              <a:rPr lang="en-US" dirty="0"/>
              <a:t>, </a:t>
            </a:r>
            <a:r>
              <a:rPr lang="en-US" dirty="0" err="1"/>
              <a:t>когда</a:t>
            </a:r>
            <a:r>
              <a:rPr lang="en-US" dirty="0"/>
              <a:t> </a:t>
            </a:r>
            <a:r>
              <a:rPr lang="en-US" dirty="0" err="1"/>
              <a:t>нужен</a:t>
            </a:r>
            <a:r>
              <a:rPr lang="en-US" dirty="0"/>
              <a:t> </a:t>
            </a:r>
            <a:r>
              <a:rPr lang="en-US" dirty="0" err="1"/>
              <a:t>снимок</a:t>
            </a:r>
            <a:r>
              <a:rPr lang="en-US" dirty="0"/>
              <a:t> </a:t>
            </a:r>
            <a:r>
              <a:rPr lang="en-US" dirty="0" err="1"/>
              <a:t>списка</a:t>
            </a:r>
            <a:r>
              <a:rPr lang="en-US" dirty="0"/>
              <a:t> </a:t>
            </a:r>
            <a:r>
              <a:rPr lang="en-US" dirty="0" err="1"/>
              <a:t>процессов</a:t>
            </a:r>
            <a:r>
              <a:rPr lang="en-US" dirty="0"/>
              <a:t>, а </a:t>
            </a:r>
            <a:r>
              <a:rPr lang="en-US" sz="1200" kern="1200" dirty="0">
                <a:solidFill>
                  <a:schemeClr val="tx1"/>
                </a:solidFill>
                <a:latin typeface="+mn-lt"/>
                <a:ea typeface="+mn-ea"/>
                <a:cs typeface="+mn-cs"/>
              </a:rPr>
              <a:t>top</a:t>
            </a:r>
            <a:r>
              <a:rPr lang="en-US" dirty="0"/>
              <a:t> — </a:t>
            </a:r>
            <a:r>
              <a:rPr lang="en-US" dirty="0" err="1"/>
              <a:t>когда</a:t>
            </a:r>
            <a:r>
              <a:rPr lang="en-US" dirty="0"/>
              <a:t> </a:t>
            </a:r>
            <a:r>
              <a:rPr lang="en-US" dirty="0" err="1"/>
              <a:t>мы</a:t>
            </a:r>
            <a:r>
              <a:rPr lang="en-US" dirty="0"/>
              <a:t> </a:t>
            </a:r>
            <a:r>
              <a:rPr lang="en-US" dirty="0" err="1"/>
              <a:t>хотим</a:t>
            </a:r>
            <a:r>
              <a:rPr lang="en-US" dirty="0"/>
              <a:t> </a:t>
            </a:r>
            <a:r>
              <a:rPr lang="en-US" dirty="0" err="1"/>
              <a:t>наблюдать</a:t>
            </a:r>
            <a:r>
              <a:rPr lang="en-US" dirty="0"/>
              <a:t> </a:t>
            </a:r>
            <a:r>
              <a:rPr lang="en-US" dirty="0" err="1"/>
              <a:t>за</a:t>
            </a:r>
            <a:r>
              <a:rPr lang="en-US" dirty="0"/>
              <a:t> </a:t>
            </a:r>
            <a:r>
              <a:rPr lang="en-US" dirty="0" err="1"/>
              <a:t>использованием</a:t>
            </a:r>
            <a:r>
              <a:rPr lang="en-US" dirty="0"/>
              <a:t> </a:t>
            </a:r>
            <a:r>
              <a:rPr lang="en-US" dirty="0" err="1"/>
              <a:t>ресурсов</a:t>
            </a:r>
            <a:r>
              <a:rPr lang="en-US" dirty="0"/>
              <a:t> и </a:t>
            </a:r>
            <a:r>
              <a:rPr lang="en-US" dirty="0" err="1"/>
              <a:t>быстро</a:t>
            </a:r>
            <a:r>
              <a:rPr lang="en-US" dirty="0"/>
              <a:t> </a:t>
            </a:r>
            <a:r>
              <a:rPr lang="en-US" dirty="0" err="1"/>
              <a:t>находить</a:t>
            </a:r>
            <a:r>
              <a:rPr lang="en-US" dirty="0"/>
              <a:t> </a:t>
            </a:r>
            <a:r>
              <a:rPr lang="en-US" dirty="0" err="1"/>
              <a:t>наиболее</a:t>
            </a:r>
            <a:r>
              <a:rPr lang="en-US" dirty="0"/>
              <a:t> </a:t>
            </a:r>
            <a:r>
              <a:rPr lang="en-US" dirty="0" err="1"/>
              <a:t>активные</a:t>
            </a:r>
            <a:r>
              <a:rPr lang="en-US" dirty="0"/>
              <a:t> </a:t>
            </a:r>
            <a:r>
              <a:rPr lang="en-US" dirty="0" err="1"/>
              <a:t>процессы</a:t>
            </a:r>
            <a:r>
              <a:rPr lang="en-US" dirty="0"/>
              <a:t>.</a:t>
            </a:r>
          </a:p>
        </p:txBody>
      </p:sp>
      <p:sp>
        <p:nvSpPr>
          <p:cNvPr id="4" name="Slide Number Placeholder 3"/>
          <p:cNvSpPr>
            <a:spLocks noGrp="1"/>
          </p:cNvSpPr>
          <p:nvPr>
            <p:ph type="sldNum" sz="quarter" idx="5"/>
          </p:nvPr>
        </p:nvSpPr>
        <p:spPr/>
        <p:txBody>
          <a:bodyPr/>
          <a:lstStyle/>
          <a:p>
            <a:fld id="{A3EE74EF-BE85-44F3-968F-E74DD74A629E}" type="slidenum">
              <a:rPr lang="en-US" smtClean="0"/>
              <a:t>15</a:t>
            </a:fld>
            <a:endParaRPr lang="en-US"/>
          </a:p>
        </p:txBody>
      </p:sp>
    </p:spTree>
    <p:extLst>
      <p:ext uri="{BB962C8B-B14F-4D97-AF65-F5344CB8AC3E}">
        <p14:creationId xmlns:p14="http://schemas.microsoft.com/office/powerpoint/2010/main" val="3355138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Здесь</a:t>
            </a:r>
            <a:r>
              <a:rPr lang="en-US" dirty="0"/>
              <a:t> </a:t>
            </a:r>
            <a:r>
              <a:rPr lang="en-US" dirty="0" err="1"/>
              <a:t>мы</a:t>
            </a:r>
            <a:r>
              <a:rPr lang="en-US" dirty="0"/>
              <a:t> </a:t>
            </a:r>
            <a:r>
              <a:rPr lang="en-US" dirty="0" err="1"/>
              <a:t>видим</a:t>
            </a:r>
            <a:r>
              <a:rPr lang="en-US" dirty="0"/>
              <a:t> </a:t>
            </a:r>
            <a:r>
              <a:rPr lang="en-US" sz="1200" kern="1200" dirty="0" err="1">
                <a:solidFill>
                  <a:schemeClr val="tx1"/>
                </a:solidFill>
                <a:latin typeface="+mn-lt"/>
                <a:ea typeface="+mn-ea"/>
                <a:cs typeface="+mn-cs"/>
              </a:rPr>
              <a:t>htop</a:t>
            </a:r>
            <a:r>
              <a:rPr lang="en-US" dirty="0"/>
              <a:t> — </a:t>
            </a:r>
            <a:r>
              <a:rPr lang="en-US" dirty="0" err="1"/>
              <a:t>более</a:t>
            </a:r>
            <a:r>
              <a:rPr lang="en-US" dirty="0"/>
              <a:t> </a:t>
            </a:r>
            <a:r>
              <a:rPr lang="en-US" dirty="0" err="1"/>
              <a:t>наглядный</a:t>
            </a:r>
            <a:r>
              <a:rPr lang="en-US" dirty="0"/>
              <a:t> и </a:t>
            </a:r>
            <a:r>
              <a:rPr lang="en-US" dirty="0" err="1"/>
              <a:t>интерактивный</a:t>
            </a:r>
            <a:r>
              <a:rPr lang="en-US" dirty="0"/>
              <a:t> </a:t>
            </a:r>
            <a:r>
              <a:rPr lang="en-US" dirty="0" err="1"/>
              <a:t>аналог</a:t>
            </a:r>
            <a:r>
              <a:rPr lang="en-US" dirty="0"/>
              <a:t> </a:t>
            </a:r>
            <a:r>
              <a:rPr lang="en-US" sz="1200" kern="1200" dirty="0">
                <a:solidFill>
                  <a:schemeClr val="tx1"/>
                </a:solidFill>
                <a:latin typeface="+mn-lt"/>
                <a:ea typeface="+mn-ea"/>
                <a:cs typeface="+mn-cs"/>
              </a:rPr>
              <a:t>top</a:t>
            </a:r>
            <a:r>
              <a:rPr lang="en-US" dirty="0"/>
              <a:t>.</a:t>
            </a:r>
            <a:endParaRPr lang="ru-RU" dirty="0"/>
          </a:p>
          <a:p>
            <a:endParaRPr lang="en-US" dirty="0"/>
          </a:p>
          <a:p>
            <a:r>
              <a:rPr lang="en-US" dirty="0"/>
              <a:t>В </a:t>
            </a:r>
            <a:r>
              <a:rPr lang="en-US" dirty="0" err="1"/>
              <a:t>верхней</a:t>
            </a:r>
            <a:r>
              <a:rPr lang="en-US" dirty="0"/>
              <a:t> </a:t>
            </a:r>
            <a:r>
              <a:rPr lang="en-US" dirty="0" err="1"/>
              <a:t>части</a:t>
            </a:r>
            <a:r>
              <a:rPr lang="en-US" dirty="0"/>
              <a:t> </a:t>
            </a:r>
            <a:r>
              <a:rPr lang="en-US" dirty="0" err="1"/>
              <a:t>отображается</a:t>
            </a:r>
            <a:r>
              <a:rPr lang="en-US" dirty="0"/>
              <a:t> </a:t>
            </a:r>
            <a:r>
              <a:rPr lang="en-US" dirty="0" err="1"/>
              <a:t>общая</a:t>
            </a:r>
            <a:r>
              <a:rPr lang="en-US" dirty="0"/>
              <a:t> </a:t>
            </a:r>
            <a:r>
              <a:rPr lang="en-US" dirty="0" err="1"/>
              <a:t>загрузка</a:t>
            </a:r>
            <a:r>
              <a:rPr lang="en-US" dirty="0"/>
              <a:t> </a:t>
            </a:r>
            <a:r>
              <a:rPr lang="en-US" dirty="0" err="1"/>
              <a:t>процессора</a:t>
            </a:r>
            <a:r>
              <a:rPr lang="en-US" dirty="0"/>
              <a:t>, </a:t>
            </a:r>
            <a:r>
              <a:rPr lang="en-US" dirty="0" err="1"/>
              <a:t>памяти</a:t>
            </a:r>
            <a:r>
              <a:rPr lang="en-US" dirty="0"/>
              <a:t> и swap. </a:t>
            </a:r>
            <a:r>
              <a:rPr lang="en-US" dirty="0" err="1"/>
              <a:t>Ниже</a:t>
            </a:r>
            <a:r>
              <a:rPr lang="en-US" dirty="0"/>
              <a:t> </a:t>
            </a:r>
            <a:r>
              <a:rPr lang="en-US" dirty="0" err="1"/>
              <a:t>находится</a:t>
            </a:r>
            <a:r>
              <a:rPr lang="en-US" dirty="0"/>
              <a:t> </a:t>
            </a:r>
            <a:r>
              <a:rPr lang="en-US" dirty="0" err="1"/>
              <a:t>таблица</a:t>
            </a:r>
            <a:r>
              <a:rPr lang="en-US" dirty="0"/>
              <a:t> </a:t>
            </a:r>
            <a:r>
              <a:rPr lang="en-US" dirty="0" err="1"/>
              <a:t>процессов</a:t>
            </a:r>
            <a:r>
              <a:rPr lang="en-US" dirty="0"/>
              <a:t> с </a:t>
            </a:r>
            <a:r>
              <a:rPr lang="en-US" dirty="0" err="1"/>
              <a:t>уже</a:t>
            </a:r>
            <a:r>
              <a:rPr lang="en-US" dirty="0"/>
              <a:t> </a:t>
            </a:r>
            <a:r>
              <a:rPr lang="en-US" dirty="0" err="1"/>
              <a:t>знакомыми</a:t>
            </a:r>
            <a:r>
              <a:rPr lang="en-US" dirty="0"/>
              <a:t> </a:t>
            </a:r>
            <a:r>
              <a:rPr lang="en-US" dirty="0" err="1"/>
              <a:t>нам</a:t>
            </a:r>
            <a:r>
              <a:rPr lang="en-US" dirty="0"/>
              <a:t> </a:t>
            </a:r>
            <a:r>
              <a:rPr lang="en-US" dirty="0" err="1"/>
              <a:t>полями</a:t>
            </a:r>
            <a:r>
              <a:rPr lang="en-US" dirty="0"/>
              <a:t>: PID, </a:t>
            </a:r>
            <a:r>
              <a:rPr lang="en-US" dirty="0" err="1"/>
              <a:t>пользователь</a:t>
            </a:r>
            <a:r>
              <a:rPr lang="en-US" dirty="0"/>
              <a:t>, </a:t>
            </a:r>
            <a:r>
              <a:rPr lang="en-US" dirty="0" err="1"/>
              <a:t>использование</a:t>
            </a:r>
            <a:r>
              <a:rPr lang="en-US" dirty="0"/>
              <a:t> CPU и </a:t>
            </a:r>
            <a:r>
              <a:rPr lang="en-US" dirty="0" err="1"/>
              <a:t>памяти</a:t>
            </a:r>
            <a:r>
              <a:rPr lang="en-US" dirty="0"/>
              <a:t>, </a:t>
            </a:r>
            <a:r>
              <a:rPr lang="en-US" dirty="0" err="1"/>
              <a:t>состояние</a:t>
            </a:r>
            <a:r>
              <a:rPr lang="en-US" dirty="0"/>
              <a:t> и </a:t>
            </a:r>
            <a:r>
              <a:rPr lang="en-US" dirty="0" err="1"/>
              <a:t>команда</a:t>
            </a:r>
            <a:r>
              <a:rPr lang="en-US" dirty="0"/>
              <a:t> </a:t>
            </a:r>
            <a:r>
              <a:rPr lang="en-US" dirty="0" err="1"/>
              <a:t>запуска</a:t>
            </a:r>
            <a:r>
              <a:rPr lang="en-US" dirty="0"/>
              <a:t>.</a:t>
            </a:r>
            <a:endParaRPr lang="ru-RU" dirty="0"/>
          </a:p>
          <a:p>
            <a:endParaRPr lang="en-US" dirty="0"/>
          </a:p>
          <a:p>
            <a:r>
              <a:rPr lang="en-US" dirty="0" err="1"/>
              <a:t>Главное</a:t>
            </a:r>
            <a:r>
              <a:rPr lang="en-US" dirty="0"/>
              <a:t> </a:t>
            </a:r>
            <a:r>
              <a:rPr lang="en-US" dirty="0" err="1"/>
              <a:t>отличие</a:t>
            </a:r>
            <a:r>
              <a:rPr lang="en-US" dirty="0"/>
              <a:t> — </a:t>
            </a:r>
            <a:r>
              <a:rPr lang="en-US" sz="1200" kern="1200" dirty="0" err="1">
                <a:solidFill>
                  <a:schemeClr val="tx1"/>
                </a:solidFill>
                <a:latin typeface="+mn-lt"/>
                <a:ea typeface="+mn-ea"/>
                <a:cs typeface="+mn-cs"/>
              </a:rPr>
              <a:t>htop</a:t>
            </a:r>
            <a:r>
              <a:rPr lang="en-US" dirty="0"/>
              <a:t> </a:t>
            </a:r>
            <a:r>
              <a:rPr lang="en-US" dirty="0" err="1"/>
              <a:t>удобнее</a:t>
            </a:r>
            <a:r>
              <a:rPr lang="en-US" dirty="0"/>
              <a:t> </a:t>
            </a:r>
            <a:r>
              <a:rPr lang="en-US" dirty="0" err="1"/>
              <a:t>для</a:t>
            </a:r>
            <a:r>
              <a:rPr lang="en-US" dirty="0"/>
              <a:t> </a:t>
            </a:r>
            <a:r>
              <a:rPr lang="en-US" dirty="0" err="1"/>
              <a:t>интерактивной</a:t>
            </a:r>
            <a:r>
              <a:rPr lang="en-US" dirty="0"/>
              <a:t> </a:t>
            </a:r>
            <a:r>
              <a:rPr lang="en-US" dirty="0" err="1"/>
              <a:t>работы</a:t>
            </a:r>
            <a:r>
              <a:rPr lang="en-US" dirty="0"/>
              <a:t>: </a:t>
            </a:r>
            <a:r>
              <a:rPr lang="en-US" dirty="0" err="1"/>
              <a:t>процессы</a:t>
            </a:r>
            <a:r>
              <a:rPr lang="en-US" dirty="0"/>
              <a:t> </a:t>
            </a:r>
            <a:r>
              <a:rPr lang="en-US" dirty="0" err="1"/>
              <a:t>можно</a:t>
            </a:r>
            <a:r>
              <a:rPr lang="en-US" dirty="0"/>
              <a:t> </a:t>
            </a:r>
            <a:r>
              <a:rPr lang="en-US" dirty="0" err="1"/>
              <a:t>сортировать</a:t>
            </a:r>
            <a:r>
              <a:rPr lang="en-US" dirty="0"/>
              <a:t>, </a:t>
            </a:r>
            <a:r>
              <a:rPr lang="en-US" dirty="0" err="1"/>
              <a:t>искать</a:t>
            </a:r>
            <a:r>
              <a:rPr lang="en-US" dirty="0"/>
              <a:t>, </a:t>
            </a:r>
            <a:r>
              <a:rPr lang="en-US" dirty="0" err="1"/>
              <a:t>выбирать</a:t>
            </a:r>
            <a:r>
              <a:rPr lang="en-US" dirty="0"/>
              <a:t> и </a:t>
            </a:r>
            <a:r>
              <a:rPr lang="en-US" dirty="0" err="1"/>
              <a:t>завершать</a:t>
            </a:r>
            <a:r>
              <a:rPr lang="en-US" dirty="0"/>
              <a:t> </a:t>
            </a:r>
            <a:r>
              <a:rPr lang="en-US" dirty="0" err="1"/>
              <a:t>прямо</a:t>
            </a:r>
            <a:r>
              <a:rPr lang="en-US" dirty="0"/>
              <a:t> </a:t>
            </a:r>
            <a:r>
              <a:rPr lang="en-US" dirty="0" err="1"/>
              <a:t>из</a:t>
            </a:r>
            <a:r>
              <a:rPr lang="en-US" dirty="0"/>
              <a:t> </a:t>
            </a:r>
            <a:r>
              <a:rPr lang="en-US" dirty="0" err="1"/>
              <a:t>интерфейса</a:t>
            </a:r>
            <a:r>
              <a:rPr lang="en-US" dirty="0"/>
              <a:t>. </a:t>
            </a:r>
            <a:r>
              <a:rPr lang="en-US" dirty="0" err="1"/>
              <a:t>Кроме</a:t>
            </a:r>
            <a:r>
              <a:rPr lang="en-US" dirty="0"/>
              <a:t> </a:t>
            </a:r>
            <a:r>
              <a:rPr lang="en-US" dirty="0" err="1"/>
              <a:t>того</a:t>
            </a:r>
            <a:r>
              <a:rPr lang="en-US" dirty="0"/>
              <a:t>, </a:t>
            </a:r>
            <a:r>
              <a:rPr lang="en-US" dirty="0" err="1"/>
              <a:t>дерево</a:t>
            </a:r>
            <a:r>
              <a:rPr lang="en-US" dirty="0"/>
              <a:t> </a:t>
            </a:r>
            <a:r>
              <a:rPr lang="en-US" dirty="0" err="1"/>
              <a:t>процессов</a:t>
            </a:r>
            <a:r>
              <a:rPr lang="en-US" dirty="0"/>
              <a:t> </a:t>
            </a:r>
            <a:r>
              <a:rPr lang="en-US" dirty="0" err="1"/>
              <a:t>здесь</a:t>
            </a:r>
            <a:r>
              <a:rPr lang="en-US" dirty="0"/>
              <a:t> </a:t>
            </a:r>
            <a:r>
              <a:rPr lang="en-US" dirty="0" err="1"/>
              <a:t>видно</a:t>
            </a:r>
            <a:r>
              <a:rPr lang="en-US" dirty="0"/>
              <a:t> </a:t>
            </a:r>
            <a:r>
              <a:rPr lang="en-US" dirty="0" err="1"/>
              <a:t>гораздо</a:t>
            </a:r>
            <a:r>
              <a:rPr lang="en-US" dirty="0"/>
              <a:t> </a:t>
            </a:r>
            <a:r>
              <a:rPr lang="en-US" dirty="0" err="1"/>
              <a:t>нагляднее</a:t>
            </a:r>
            <a:r>
              <a:rPr lang="en-US" dirty="0"/>
              <a:t>.</a:t>
            </a:r>
            <a:endParaRPr lang="ru-RU" dirty="0"/>
          </a:p>
          <a:p>
            <a:endParaRPr lang="en-US" dirty="0"/>
          </a:p>
          <a:p>
            <a:r>
              <a:rPr lang="en-US" dirty="0" err="1"/>
              <a:t>По</a:t>
            </a:r>
            <a:r>
              <a:rPr lang="en-US" dirty="0"/>
              <a:t> </a:t>
            </a:r>
            <a:r>
              <a:rPr lang="en-US" dirty="0" err="1"/>
              <a:t>сути</a:t>
            </a:r>
            <a:r>
              <a:rPr lang="en-US" dirty="0"/>
              <a:t>, </a:t>
            </a:r>
            <a:r>
              <a:rPr lang="en-US" sz="1200" kern="1200" dirty="0" err="1">
                <a:solidFill>
                  <a:schemeClr val="tx1"/>
                </a:solidFill>
                <a:latin typeface="+mn-lt"/>
                <a:ea typeface="+mn-ea"/>
                <a:cs typeface="+mn-cs"/>
              </a:rPr>
              <a:t>htop</a:t>
            </a:r>
            <a:r>
              <a:rPr lang="en-US" dirty="0"/>
              <a:t> </a:t>
            </a:r>
            <a:r>
              <a:rPr lang="en-US" dirty="0" err="1"/>
              <a:t>показывает</a:t>
            </a:r>
            <a:r>
              <a:rPr lang="en-US" dirty="0"/>
              <a:t> </a:t>
            </a:r>
            <a:r>
              <a:rPr lang="en-US" dirty="0" err="1"/>
              <a:t>ту</a:t>
            </a:r>
            <a:r>
              <a:rPr lang="en-US" dirty="0"/>
              <a:t> </a:t>
            </a:r>
            <a:r>
              <a:rPr lang="en-US" dirty="0" err="1"/>
              <a:t>же</a:t>
            </a:r>
            <a:r>
              <a:rPr lang="en-US" dirty="0"/>
              <a:t> </a:t>
            </a:r>
            <a:r>
              <a:rPr lang="en-US" dirty="0" err="1"/>
              <a:t>информацию</a:t>
            </a:r>
            <a:r>
              <a:rPr lang="en-US" dirty="0"/>
              <a:t>, </a:t>
            </a:r>
            <a:r>
              <a:rPr lang="en-US" dirty="0" err="1"/>
              <a:t>что</a:t>
            </a:r>
            <a:r>
              <a:rPr lang="en-US" dirty="0"/>
              <a:t> и </a:t>
            </a:r>
            <a:r>
              <a:rPr lang="en-US" sz="1200" kern="1200" dirty="0">
                <a:solidFill>
                  <a:schemeClr val="tx1"/>
                </a:solidFill>
                <a:latin typeface="+mn-lt"/>
                <a:ea typeface="+mn-ea"/>
                <a:cs typeface="+mn-cs"/>
              </a:rPr>
              <a:t>top</a:t>
            </a:r>
            <a:r>
              <a:rPr lang="en-US" dirty="0"/>
              <a:t>, </a:t>
            </a:r>
            <a:r>
              <a:rPr lang="en-US" dirty="0" err="1"/>
              <a:t>но</a:t>
            </a:r>
            <a:r>
              <a:rPr lang="en-US" dirty="0"/>
              <a:t> в </a:t>
            </a:r>
            <a:r>
              <a:rPr lang="en-US" dirty="0" err="1"/>
              <a:t>более</a:t>
            </a:r>
            <a:r>
              <a:rPr lang="en-US" dirty="0"/>
              <a:t> </a:t>
            </a:r>
            <a:r>
              <a:rPr lang="en-US" dirty="0" err="1"/>
              <a:t>удобной</a:t>
            </a:r>
            <a:r>
              <a:rPr lang="en-US" dirty="0"/>
              <a:t> </a:t>
            </a:r>
            <a:r>
              <a:rPr lang="en-US" dirty="0" err="1"/>
              <a:t>для</a:t>
            </a:r>
            <a:r>
              <a:rPr lang="en-US" dirty="0"/>
              <a:t> </a:t>
            </a:r>
            <a:r>
              <a:rPr lang="en-US" dirty="0" err="1"/>
              <a:t>человека</a:t>
            </a:r>
            <a:r>
              <a:rPr lang="en-US" dirty="0"/>
              <a:t> </a:t>
            </a:r>
            <a:r>
              <a:rPr lang="en-US" dirty="0" err="1"/>
              <a:t>форме</a:t>
            </a:r>
            <a:r>
              <a:rPr lang="en-US" dirty="0"/>
              <a:t>.</a:t>
            </a:r>
          </a:p>
          <a:p>
            <a:endParaRPr lang="en-US" dirty="0"/>
          </a:p>
        </p:txBody>
      </p:sp>
      <p:sp>
        <p:nvSpPr>
          <p:cNvPr id="4" name="Slide Number Placeholder 3"/>
          <p:cNvSpPr>
            <a:spLocks noGrp="1"/>
          </p:cNvSpPr>
          <p:nvPr>
            <p:ph type="sldNum" sz="quarter" idx="5"/>
          </p:nvPr>
        </p:nvSpPr>
        <p:spPr/>
        <p:txBody>
          <a:bodyPr/>
          <a:lstStyle/>
          <a:p>
            <a:fld id="{A3EE74EF-BE85-44F3-968F-E74DD74A629E}" type="slidenum">
              <a:rPr lang="en-US" smtClean="0"/>
              <a:t>16</a:t>
            </a:fld>
            <a:endParaRPr lang="en-US"/>
          </a:p>
        </p:txBody>
      </p:sp>
    </p:spTree>
    <p:extLst>
      <p:ext uri="{BB962C8B-B14F-4D97-AF65-F5344CB8AC3E}">
        <p14:creationId xmlns:p14="http://schemas.microsoft.com/office/powerpoint/2010/main" val="6270659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Следующая</a:t>
            </a:r>
            <a:r>
              <a:rPr lang="en-US" dirty="0"/>
              <a:t> </a:t>
            </a:r>
            <a:r>
              <a:rPr lang="en-US" dirty="0" err="1"/>
              <a:t>важная</a:t>
            </a:r>
            <a:r>
              <a:rPr lang="en-US" dirty="0"/>
              <a:t> </a:t>
            </a:r>
            <a:r>
              <a:rPr lang="en-US" dirty="0" err="1"/>
              <a:t>абстракция</a:t>
            </a:r>
            <a:r>
              <a:rPr lang="en-US" dirty="0"/>
              <a:t> </a:t>
            </a:r>
            <a:r>
              <a:rPr lang="en-US" dirty="0" err="1"/>
              <a:t>операционной</a:t>
            </a:r>
            <a:r>
              <a:rPr lang="en-US" dirty="0"/>
              <a:t> </a:t>
            </a:r>
            <a:r>
              <a:rPr lang="en-US" dirty="0" err="1"/>
              <a:t>системы</a:t>
            </a:r>
            <a:r>
              <a:rPr lang="en-US" dirty="0"/>
              <a:t> — </a:t>
            </a:r>
            <a:r>
              <a:rPr lang="en-US" dirty="0" err="1"/>
              <a:t>файловая</a:t>
            </a:r>
            <a:r>
              <a:rPr lang="en-US" dirty="0"/>
              <a:t> </a:t>
            </a:r>
            <a:r>
              <a:rPr lang="en-US" dirty="0" err="1"/>
              <a:t>система</a:t>
            </a:r>
            <a:r>
              <a:rPr lang="en-US" dirty="0"/>
              <a:t>.</a:t>
            </a:r>
            <a:endParaRPr lang="ru-RU" dirty="0"/>
          </a:p>
          <a:p>
            <a:endParaRPr lang="en-US" dirty="0"/>
          </a:p>
          <a:p>
            <a:r>
              <a:rPr lang="en-US" dirty="0" err="1"/>
              <a:t>Физически</a:t>
            </a:r>
            <a:r>
              <a:rPr lang="en-US" dirty="0"/>
              <a:t> </a:t>
            </a:r>
            <a:r>
              <a:rPr lang="en-US" dirty="0" err="1"/>
              <a:t>данные</a:t>
            </a:r>
            <a:r>
              <a:rPr lang="en-US" dirty="0"/>
              <a:t> </a:t>
            </a:r>
            <a:r>
              <a:rPr lang="en-US" dirty="0" err="1"/>
              <a:t>хранятся</a:t>
            </a:r>
            <a:r>
              <a:rPr lang="en-US" dirty="0"/>
              <a:t> </a:t>
            </a:r>
            <a:r>
              <a:rPr lang="en-US" dirty="0" err="1"/>
              <a:t>на</a:t>
            </a:r>
            <a:r>
              <a:rPr lang="en-US" dirty="0"/>
              <a:t> </a:t>
            </a:r>
            <a:r>
              <a:rPr lang="en-US" dirty="0" err="1"/>
              <a:t>конкретных</a:t>
            </a:r>
            <a:r>
              <a:rPr lang="en-US" dirty="0"/>
              <a:t> </a:t>
            </a:r>
            <a:r>
              <a:rPr lang="en-US" dirty="0" err="1"/>
              <a:t>устройствах</a:t>
            </a:r>
            <a:r>
              <a:rPr lang="en-US" dirty="0"/>
              <a:t>: HDD, SSD, </a:t>
            </a:r>
            <a:r>
              <a:rPr lang="en-US" dirty="0" err="1"/>
              <a:t>флешках</a:t>
            </a:r>
            <a:r>
              <a:rPr lang="en-US" dirty="0"/>
              <a:t> и </a:t>
            </a:r>
            <a:r>
              <a:rPr lang="en-US" dirty="0" err="1"/>
              <a:t>других</a:t>
            </a:r>
            <a:r>
              <a:rPr lang="en-US" dirty="0"/>
              <a:t> </a:t>
            </a:r>
            <a:r>
              <a:rPr lang="en-US" dirty="0" err="1"/>
              <a:t>накопителях</a:t>
            </a:r>
            <a:r>
              <a:rPr lang="en-US" dirty="0"/>
              <a:t>. </a:t>
            </a:r>
            <a:r>
              <a:rPr lang="en-US" dirty="0" err="1"/>
              <a:t>Но</a:t>
            </a:r>
            <a:r>
              <a:rPr lang="en-US" dirty="0"/>
              <a:t> </a:t>
            </a:r>
            <a:r>
              <a:rPr lang="en-US" dirty="0" err="1"/>
              <a:t>прикладной</a:t>
            </a:r>
            <a:r>
              <a:rPr lang="en-US" dirty="0"/>
              <a:t> </a:t>
            </a:r>
            <a:r>
              <a:rPr lang="en-US" dirty="0" err="1"/>
              <a:t>программе</a:t>
            </a:r>
            <a:r>
              <a:rPr lang="en-US" dirty="0"/>
              <a:t> </a:t>
            </a:r>
            <a:r>
              <a:rPr lang="en-US" dirty="0" err="1"/>
              <a:t>обычно</a:t>
            </a:r>
            <a:r>
              <a:rPr lang="en-US" dirty="0"/>
              <a:t> </a:t>
            </a:r>
            <a:r>
              <a:rPr lang="en-US" dirty="0" err="1"/>
              <a:t>не</a:t>
            </a:r>
            <a:r>
              <a:rPr lang="en-US" dirty="0"/>
              <a:t> </a:t>
            </a:r>
            <a:r>
              <a:rPr lang="en-US" dirty="0" err="1"/>
              <a:t>нужно</a:t>
            </a:r>
            <a:r>
              <a:rPr lang="en-US" dirty="0"/>
              <a:t> </a:t>
            </a:r>
            <a:r>
              <a:rPr lang="en-US" dirty="0" err="1"/>
              <a:t>знать</a:t>
            </a:r>
            <a:r>
              <a:rPr lang="en-US" dirty="0"/>
              <a:t>, в </a:t>
            </a:r>
            <a:r>
              <a:rPr lang="en-US" dirty="0" err="1"/>
              <a:t>каком</a:t>
            </a:r>
            <a:r>
              <a:rPr lang="en-US" dirty="0"/>
              <a:t> </a:t>
            </a:r>
            <a:r>
              <a:rPr lang="en-US" dirty="0" err="1"/>
              <a:t>секторе</a:t>
            </a:r>
            <a:r>
              <a:rPr lang="en-US" dirty="0"/>
              <a:t> </a:t>
            </a:r>
            <a:r>
              <a:rPr lang="en-US" dirty="0" err="1"/>
              <a:t>диска</a:t>
            </a:r>
            <a:r>
              <a:rPr lang="en-US" dirty="0"/>
              <a:t> </a:t>
            </a:r>
            <a:r>
              <a:rPr lang="en-US" dirty="0" err="1"/>
              <a:t>находятся</a:t>
            </a:r>
            <a:r>
              <a:rPr lang="en-US" dirty="0"/>
              <a:t> </a:t>
            </a:r>
            <a:r>
              <a:rPr lang="en-US" dirty="0" err="1"/>
              <a:t>нужные</a:t>
            </a:r>
            <a:r>
              <a:rPr lang="en-US" dirty="0"/>
              <a:t> </a:t>
            </a:r>
            <a:r>
              <a:rPr lang="en-US" dirty="0" err="1"/>
              <a:t>ей</a:t>
            </a:r>
            <a:r>
              <a:rPr lang="en-US" dirty="0"/>
              <a:t> </a:t>
            </a:r>
            <a:r>
              <a:rPr lang="en-US" dirty="0" err="1"/>
              <a:t>данные</a:t>
            </a:r>
            <a:r>
              <a:rPr lang="en-US" dirty="0"/>
              <a:t> и </a:t>
            </a:r>
            <a:r>
              <a:rPr lang="en-US" dirty="0" err="1"/>
              <a:t>как</a:t>
            </a:r>
            <a:r>
              <a:rPr lang="en-US" dirty="0"/>
              <a:t> </a:t>
            </a:r>
            <a:r>
              <a:rPr lang="en-US" dirty="0" err="1"/>
              <a:t>именно</a:t>
            </a:r>
            <a:r>
              <a:rPr lang="en-US" dirty="0"/>
              <a:t> </a:t>
            </a:r>
            <a:r>
              <a:rPr lang="en-US" dirty="0" err="1"/>
              <a:t>устроено</a:t>
            </a:r>
            <a:r>
              <a:rPr lang="en-US" dirty="0"/>
              <a:t> </a:t>
            </a:r>
            <a:r>
              <a:rPr lang="en-US" dirty="0" err="1"/>
              <a:t>устройство</a:t>
            </a:r>
            <a:r>
              <a:rPr lang="en-US" dirty="0"/>
              <a:t>.</a:t>
            </a:r>
            <a:endParaRPr lang="ru-RU" dirty="0"/>
          </a:p>
          <a:p>
            <a:endParaRPr lang="en-US" dirty="0"/>
          </a:p>
          <a:p>
            <a:r>
              <a:rPr lang="en-US" dirty="0" err="1"/>
              <a:t>Операционная</a:t>
            </a:r>
            <a:r>
              <a:rPr lang="en-US" dirty="0"/>
              <a:t> </a:t>
            </a:r>
            <a:r>
              <a:rPr lang="en-US" dirty="0" err="1"/>
              <a:t>система</a:t>
            </a:r>
            <a:r>
              <a:rPr lang="en-US" dirty="0"/>
              <a:t> </a:t>
            </a:r>
            <a:r>
              <a:rPr lang="en-US" dirty="0" err="1"/>
              <a:t>скрывает</a:t>
            </a:r>
            <a:r>
              <a:rPr lang="en-US" dirty="0"/>
              <a:t> </a:t>
            </a:r>
            <a:r>
              <a:rPr lang="en-US" dirty="0" err="1"/>
              <a:t>эти</a:t>
            </a:r>
            <a:r>
              <a:rPr lang="en-US" dirty="0"/>
              <a:t> </a:t>
            </a:r>
            <a:r>
              <a:rPr lang="en-US" dirty="0" err="1"/>
              <a:t>детали</a:t>
            </a:r>
            <a:r>
              <a:rPr lang="en-US" dirty="0"/>
              <a:t> и </a:t>
            </a:r>
            <a:r>
              <a:rPr lang="en-US" dirty="0" err="1"/>
              <a:t>предоставляет</a:t>
            </a:r>
            <a:r>
              <a:rPr lang="en-US" dirty="0"/>
              <a:t> </a:t>
            </a:r>
            <a:r>
              <a:rPr lang="en-US" dirty="0" err="1"/>
              <a:t>более</a:t>
            </a:r>
            <a:r>
              <a:rPr lang="en-US" dirty="0"/>
              <a:t> </a:t>
            </a:r>
            <a:r>
              <a:rPr lang="en-US" dirty="0" err="1"/>
              <a:t>удобную</a:t>
            </a:r>
            <a:r>
              <a:rPr lang="en-US" dirty="0"/>
              <a:t> </a:t>
            </a:r>
            <a:r>
              <a:rPr lang="en-US" dirty="0" err="1"/>
              <a:t>абстракцию</a:t>
            </a:r>
            <a:r>
              <a:rPr lang="en-US" dirty="0"/>
              <a:t> — </a:t>
            </a:r>
            <a:r>
              <a:rPr lang="en-US" dirty="0" err="1"/>
              <a:t>файлы</a:t>
            </a:r>
            <a:r>
              <a:rPr lang="en-US" dirty="0"/>
              <a:t>.</a:t>
            </a:r>
          </a:p>
          <a:p>
            <a:r>
              <a:rPr lang="en-US" dirty="0"/>
              <a:t>С </a:t>
            </a:r>
            <a:r>
              <a:rPr lang="en-US" dirty="0" err="1"/>
              <a:t>точки</a:t>
            </a:r>
            <a:r>
              <a:rPr lang="en-US" dirty="0"/>
              <a:t> </a:t>
            </a:r>
            <a:r>
              <a:rPr lang="en-US" dirty="0" err="1"/>
              <a:t>зрения</a:t>
            </a:r>
            <a:r>
              <a:rPr lang="en-US" dirty="0"/>
              <a:t> </a:t>
            </a:r>
            <a:r>
              <a:rPr lang="en-US" dirty="0" err="1"/>
              <a:t>программы</a:t>
            </a:r>
            <a:r>
              <a:rPr lang="en-US" dirty="0"/>
              <a:t> </a:t>
            </a:r>
            <a:r>
              <a:rPr lang="en-US" dirty="0" err="1"/>
              <a:t>файл</a:t>
            </a:r>
            <a:r>
              <a:rPr lang="en-US" dirty="0"/>
              <a:t> — </a:t>
            </a:r>
            <a:r>
              <a:rPr lang="en-US" dirty="0" err="1"/>
              <a:t>это</a:t>
            </a:r>
            <a:r>
              <a:rPr lang="en-US" dirty="0"/>
              <a:t> </a:t>
            </a:r>
            <a:r>
              <a:rPr lang="en-US" dirty="0" err="1"/>
              <a:t>объект</a:t>
            </a:r>
            <a:r>
              <a:rPr lang="en-US" dirty="0"/>
              <a:t>, с </a:t>
            </a:r>
            <a:r>
              <a:rPr lang="en-US" dirty="0" err="1"/>
              <a:t>которым</a:t>
            </a:r>
            <a:r>
              <a:rPr lang="en-US" dirty="0"/>
              <a:t> </a:t>
            </a:r>
            <a:r>
              <a:rPr lang="en-US" dirty="0" err="1"/>
              <a:t>можно</a:t>
            </a:r>
            <a:r>
              <a:rPr lang="en-US" dirty="0"/>
              <a:t> </a:t>
            </a:r>
            <a:r>
              <a:rPr lang="en-US" dirty="0" err="1"/>
              <a:t>выполнять</a:t>
            </a:r>
            <a:r>
              <a:rPr lang="en-US" dirty="0"/>
              <a:t> </a:t>
            </a:r>
            <a:r>
              <a:rPr lang="en-US" dirty="0" err="1"/>
              <a:t>стандартные</a:t>
            </a:r>
            <a:r>
              <a:rPr lang="en-US" dirty="0"/>
              <a:t> </a:t>
            </a:r>
            <a:r>
              <a:rPr lang="en-US" dirty="0" err="1"/>
              <a:t>операции</a:t>
            </a:r>
            <a:r>
              <a:rPr lang="en-US" dirty="0"/>
              <a:t>: </a:t>
            </a:r>
            <a:r>
              <a:rPr lang="en-US" dirty="0" err="1"/>
              <a:t>открыть</a:t>
            </a:r>
            <a:r>
              <a:rPr lang="en-US" dirty="0"/>
              <a:t>, </a:t>
            </a:r>
            <a:r>
              <a:rPr lang="en-US" dirty="0" err="1"/>
              <a:t>прочитать</a:t>
            </a:r>
            <a:r>
              <a:rPr lang="en-US" dirty="0"/>
              <a:t> </a:t>
            </a:r>
            <a:r>
              <a:rPr lang="en-US" dirty="0" err="1"/>
              <a:t>данные</a:t>
            </a:r>
            <a:r>
              <a:rPr lang="en-US" dirty="0"/>
              <a:t>, </a:t>
            </a:r>
            <a:r>
              <a:rPr lang="en-US" dirty="0" err="1"/>
              <a:t>записать</a:t>
            </a:r>
            <a:r>
              <a:rPr lang="en-US" dirty="0"/>
              <a:t> </a:t>
            </a:r>
            <a:r>
              <a:rPr lang="en-US" dirty="0" err="1"/>
              <a:t>новые</a:t>
            </a:r>
            <a:r>
              <a:rPr lang="en-US" dirty="0"/>
              <a:t> </a:t>
            </a:r>
            <a:r>
              <a:rPr lang="en-US" dirty="0" err="1"/>
              <a:t>данные</a:t>
            </a:r>
            <a:r>
              <a:rPr lang="en-US" dirty="0"/>
              <a:t>, </a:t>
            </a:r>
            <a:r>
              <a:rPr lang="en-US" dirty="0" err="1"/>
              <a:t>закрыть</a:t>
            </a:r>
            <a:r>
              <a:rPr lang="en-US" dirty="0"/>
              <a:t>, </a:t>
            </a:r>
            <a:r>
              <a:rPr lang="en-US" dirty="0" err="1"/>
              <a:t>создать</a:t>
            </a:r>
            <a:r>
              <a:rPr lang="en-US" dirty="0"/>
              <a:t> </a:t>
            </a:r>
            <a:r>
              <a:rPr lang="en-US" dirty="0" err="1"/>
              <a:t>или</a:t>
            </a:r>
            <a:r>
              <a:rPr lang="en-US" dirty="0"/>
              <a:t> </a:t>
            </a:r>
            <a:r>
              <a:rPr lang="en-US" dirty="0" err="1"/>
              <a:t>удалить</a:t>
            </a:r>
            <a:r>
              <a:rPr lang="en-US" dirty="0"/>
              <a:t>.</a:t>
            </a:r>
            <a:endParaRPr lang="ru-RU" dirty="0"/>
          </a:p>
          <a:p>
            <a:endParaRPr lang="en-US" dirty="0"/>
          </a:p>
          <a:p>
            <a:r>
              <a:rPr lang="en-US" dirty="0" err="1"/>
              <a:t>Чтобы</a:t>
            </a:r>
            <a:r>
              <a:rPr lang="en-US" dirty="0"/>
              <a:t> </a:t>
            </a:r>
            <a:r>
              <a:rPr lang="en-US" dirty="0" err="1"/>
              <a:t>организовать</a:t>
            </a:r>
            <a:r>
              <a:rPr lang="en-US" dirty="0"/>
              <a:t> </a:t>
            </a:r>
            <a:r>
              <a:rPr lang="en-US" dirty="0" err="1"/>
              <a:t>большое</a:t>
            </a:r>
            <a:r>
              <a:rPr lang="en-US" dirty="0"/>
              <a:t> </a:t>
            </a:r>
            <a:r>
              <a:rPr lang="en-US" dirty="0" err="1"/>
              <a:t>количество</a:t>
            </a:r>
            <a:r>
              <a:rPr lang="en-US" dirty="0"/>
              <a:t> </a:t>
            </a:r>
            <a:r>
              <a:rPr lang="en-US" dirty="0" err="1"/>
              <a:t>файлов</a:t>
            </a:r>
            <a:r>
              <a:rPr lang="en-US" dirty="0"/>
              <a:t>, </a:t>
            </a:r>
            <a:r>
              <a:rPr lang="en-US" dirty="0" err="1"/>
              <a:t>используются</a:t>
            </a:r>
            <a:r>
              <a:rPr lang="en-US" dirty="0"/>
              <a:t> </a:t>
            </a:r>
            <a:r>
              <a:rPr lang="en-US" dirty="0" err="1"/>
              <a:t>каталоги</a:t>
            </a:r>
            <a:r>
              <a:rPr lang="en-US" dirty="0"/>
              <a:t>, </a:t>
            </a:r>
            <a:r>
              <a:rPr lang="en-US" dirty="0" err="1"/>
              <a:t>или</a:t>
            </a:r>
            <a:r>
              <a:rPr lang="en-US" dirty="0"/>
              <a:t> </a:t>
            </a:r>
            <a:r>
              <a:rPr lang="en-US" dirty="0" err="1"/>
              <a:t>директории</a:t>
            </a:r>
            <a:r>
              <a:rPr lang="en-US" dirty="0"/>
              <a:t>. </a:t>
            </a:r>
            <a:r>
              <a:rPr lang="en-US" dirty="0" err="1"/>
              <a:t>Каталог</a:t>
            </a:r>
            <a:r>
              <a:rPr lang="en-US" dirty="0"/>
              <a:t> </a:t>
            </a:r>
            <a:r>
              <a:rPr lang="en-US" dirty="0" err="1"/>
              <a:t>может</a:t>
            </a:r>
            <a:r>
              <a:rPr lang="en-US" dirty="0"/>
              <a:t> </a:t>
            </a:r>
            <a:r>
              <a:rPr lang="en-US" dirty="0" err="1"/>
              <a:t>содержать</a:t>
            </a:r>
            <a:r>
              <a:rPr lang="en-US" dirty="0"/>
              <a:t> </a:t>
            </a:r>
            <a:r>
              <a:rPr lang="en-US" dirty="0" err="1"/>
              <a:t>файлы</a:t>
            </a:r>
            <a:r>
              <a:rPr lang="en-US" dirty="0"/>
              <a:t> и </a:t>
            </a:r>
            <a:r>
              <a:rPr lang="en-US" dirty="0" err="1"/>
              <a:t>другие</a:t>
            </a:r>
            <a:r>
              <a:rPr lang="en-US" dirty="0"/>
              <a:t> </a:t>
            </a:r>
            <a:r>
              <a:rPr lang="en-US" dirty="0" err="1"/>
              <a:t>каталоги</a:t>
            </a:r>
            <a:r>
              <a:rPr lang="en-US" dirty="0"/>
              <a:t>, </a:t>
            </a:r>
            <a:r>
              <a:rPr lang="en-US" dirty="0" err="1"/>
              <a:t>поэтому</a:t>
            </a:r>
            <a:r>
              <a:rPr lang="en-US" dirty="0"/>
              <a:t> </a:t>
            </a:r>
            <a:r>
              <a:rPr lang="en-US" dirty="0" err="1"/>
              <a:t>файловая</a:t>
            </a:r>
            <a:r>
              <a:rPr lang="en-US" dirty="0"/>
              <a:t> </a:t>
            </a:r>
            <a:r>
              <a:rPr lang="en-US" dirty="0" err="1"/>
              <a:t>система</a:t>
            </a:r>
            <a:r>
              <a:rPr lang="en-US" dirty="0"/>
              <a:t> </a:t>
            </a:r>
            <a:r>
              <a:rPr lang="en-US" dirty="0" err="1"/>
              <a:t>образует</a:t>
            </a:r>
            <a:r>
              <a:rPr lang="en-US" dirty="0"/>
              <a:t> </a:t>
            </a:r>
            <a:r>
              <a:rPr lang="en-US" dirty="0" err="1"/>
              <a:t>иерархическую</a:t>
            </a:r>
            <a:r>
              <a:rPr lang="en-US" dirty="0"/>
              <a:t> </a:t>
            </a:r>
            <a:r>
              <a:rPr lang="en-US" dirty="0" err="1"/>
              <a:t>структуру</a:t>
            </a:r>
            <a:r>
              <a:rPr lang="en-US" dirty="0"/>
              <a:t> — </a:t>
            </a:r>
            <a:r>
              <a:rPr lang="en-US" dirty="0" err="1"/>
              <a:t>дерево</a:t>
            </a:r>
            <a:r>
              <a:rPr lang="en-US" dirty="0"/>
              <a:t>.</a:t>
            </a:r>
          </a:p>
          <a:p>
            <a:r>
              <a:rPr lang="en-US" dirty="0" err="1"/>
              <a:t>Для</a:t>
            </a:r>
            <a:r>
              <a:rPr lang="en-US" dirty="0"/>
              <a:t> </a:t>
            </a:r>
            <a:r>
              <a:rPr lang="en-US" dirty="0" err="1"/>
              <a:t>обращения</a:t>
            </a:r>
            <a:r>
              <a:rPr lang="en-US" dirty="0"/>
              <a:t> к </a:t>
            </a:r>
            <a:r>
              <a:rPr lang="en-US" dirty="0" err="1"/>
              <a:t>файлу</a:t>
            </a:r>
            <a:r>
              <a:rPr lang="en-US" dirty="0"/>
              <a:t> </a:t>
            </a:r>
            <a:r>
              <a:rPr lang="en-US" dirty="0" err="1"/>
              <a:t>или</a:t>
            </a:r>
            <a:r>
              <a:rPr lang="en-US" dirty="0"/>
              <a:t> </a:t>
            </a:r>
            <a:r>
              <a:rPr lang="en-US" dirty="0" err="1"/>
              <a:t>каталогу</a:t>
            </a:r>
            <a:r>
              <a:rPr lang="en-US" dirty="0"/>
              <a:t> </a:t>
            </a:r>
            <a:r>
              <a:rPr lang="en-US" dirty="0" err="1"/>
              <a:t>используется</a:t>
            </a:r>
            <a:r>
              <a:rPr lang="en-US" dirty="0"/>
              <a:t> </a:t>
            </a:r>
            <a:r>
              <a:rPr lang="en-US" dirty="0" err="1"/>
              <a:t>путь</a:t>
            </a:r>
            <a:r>
              <a:rPr lang="en-US" dirty="0"/>
              <a:t>.</a:t>
            </a:r>
            <a:endParaRPr lang="ru-RU" dirty="0"/>
          </a:p>
          <a:p>
            <a:endParaRPr lang="en-US" dirty="0"/>
          </a:p>
          <a:p>
            <a:r>
              <a:rPr lang="en-US" dirty="0" err="1"/>
              <a:t>Абсолютный</a:t>
            </a:r>
            <a:r>
              <a:rPr lang="en-US" dirty="0"/>
              <a:t> </a:t>
            </a:r>
            <a:r>
              <a:rPr lang="en-US" dirty="0" err="1"/>
              <a:t>путь</a:t>
            </a:r>
            <a:r>
              <a:rPr lang="en-US" dirty="0"/>
              <a:t> </a:t>
            </a:r>
            <a:r>
              <a:rPr lang="en-US" dirty="0" err="1"/>
              <a:t>задаётся</a:t>
            </a:r>
            <a:r>
              <a:rPr lang="en-US" dirty="0"/>
              <a:t> </a:t>
            </a:r>
            <a:r>
              <a:rPr lang="en-US" dirty="0" err="1"/>
              <a:t>начиная</a:t>
            </a:r>
            <a:r>
              <a:rPr lang="en-US" dirty="0"/>
              <a:t> </a:t>
            </a:r>
            <a:r>
              <a:rPr lang="en-US" dirty="0" err="1"/>
              <a:t>от</a:t>
            </a:r>
            <a:r>
              <a:rPr lang="en-US" dirty="0"/>
              <a:t> </a:t>
            </a:r>
            <a:r>
              <a:rPr lang="en-US" dirty="0" err="1"/>
              <a:t>корня</a:t>
            </a:r>
            <a:r>
              <a:rPr lang="en-US" dirty="0"/>
              <a:t> </a:t>
            </a:r>
            <a:r>
              <a:rPr lang="en-US" dirty="0" err="1"/>
              <a:t>файловой</a:t>
            </a:r>
            <a:r>
              <a:rPr lang="en-US" dirty="0"/>
              <a:t> </a:t>
            </a:r>
            <a:r>
              <a:rPr lang="en-US" dirty="0" err="1"/>
              <a:t>системы</a:t>
            </a:r>
            <a:r>
              <a:rPr lang="en-US" dirty="0"/>
              <a:t>. В UNIX </a:t>
            </a:r>
            <a:r>
              <a:rPr lang="en-US" dirty="0" err="1"/>
              <a:t>корень</a:t>
            </a:r>
            <a:r>
              <a:rPr lang="en-US" dirty="0"/>
              <a:t> </a:t>
            </a:r>
            <a:r>
              <a:rPr lang="en-US" dirty="0" err="1"/>
              <a:t>обозначается</a:t>
            </a:r>
            <a:r>
              <a:rPr lang="en-US" dirty="0"/>
              <a:t> </a:t>
            </a:r>
            <a:r>
              <a:rPr lang="en-US" dirty="0" err="1"/>
              <a:t>символом</a:t>
            </a:r>
            <a:r>
              <a:rPr lang="en-US" dirty="0"/>
              <a:t> </a:t>
            </a:r>
            <a:r>
              <a:rPr lang="en-US" sz="1200" kern="1200" dirty="0">
                <a:solidFill>
                  <a:schemeClr val="tx1"/>
                </a:solidFill>
                <a:latin typeface="+mn-lt"/>
                <a:ea typeface="+mn-ea"/>
                <a:cs typeface="+mn-cs"/>
              </a:rPr>
              <a:t>/</a:t>
            </a:r>
            <a:r>
              <a:rPr lang="en-US" dirty="0"/>
              <a:t>. </a:t>
            </a:r>
            <a:r>
              <a:rPr lang="en-US" dirty="0" err="1"/>
              <a:t>Например</a:t>
            </a:r>
            <a:r>
              <a:rPr lang="en-US" dirty="0"/>
              <a:t>, </a:t>
            </a:r>
            <a:r>
              <a:rPr lang="en-US" sz="1200" kern="1200" dirty="0">
                <a:solidFill>
                  <a:schemeClr val="tx1"/>
                </a:solidFill>
                <a:latin typeface="+mn-lt"/>
                <a:ea typeface="+mn-ea"/>
                <a:cs typeface="+mn-cs"/>
              </a:rPr>
              <a:t>/home/vivid/file.txt</a:t>
            </a:r>
            <a:r>
              <a:rPr lang="en-US" dirty="0"/>
              <a:t> — </a:t>
            </a:r>
            <a:r>
              <a:rPr lang="en-US" dirty="0" err="1"/>
              <a:t>абсолютный</a:t>
            </a:r>
            <a:r>
              <a:rPr lang="en-US" dirty="0"/>
              <a:t> </a:t>
            </a:r>
            <a:r>
              <a:rPr lang="en-US" dirty="0" err="1"/>
              <a:t>путь</a:t>
            </a:r>
            <a:r>
              <a:rPr lang="en-US" dirty="0"/>
              <a:t>: </a:t>
            </a:r>
            <a:r>
              <a:rPr lang="en-US" dirty="0" err="1"/>
              <a:t>он</a:t>
            </a:r>
            <a:r>
              <a:rPr lang="en-US" dirty="0"/>
              <a:t> </a:t>
            </a:r>
            <a:r>
              <a:rPr lang="en-US" dirty="0" err="1"/>
              <a:t>не</a:t>
            </a:r>
            <a:r>
              <a:rPr lang="en-US" dirty="0"/>
              <a:t> </a:t>
            </a:r>
            <a:r>
              <a:rPr lang="en-US" dirty="0" err="1"/>
              <a:t>зависит</a:t>
            </a:r>
            <a:r>
              <a:rPr lang="en-US" dirty="0"/>
              <a:t> </a:t>
            </a:r>
            <a:r>
              <a:rPr lang="en-US" dirty="0" err="1"/>
              <a:t>от</a:t>
            </a:r>
            <a:r>
              <a:rPr lang="en-US" dirty="0"/>
              <a:t> </a:t>
            </a:r>
            <a:r>
              <a:rPr lang="en-US" dirty="0" err="1"/>
              <a:t>того</a:t>
            </a:r>
            <a:r>
              <a:rPr lang="en-US" dirty="0"/>
              <a:t>, </a:t>
            </a:r>
            <a:r>
              <a:rPr lang="en-US" dirty="0" err="1"/>
              <a:t>где</a:t>
            </a:r>
            <a:r>
              <a:rPr lang="en-US" dirty="0"/>
              <a:t> </a:t>
            </a:r>
            <a:r>
              <a:rPr lang="en-US" dirty="0" err="1"/>
              <a:t>сейчас</a:t>
            </a:r>
            <a:r>
              <a:rPr lang="en-US" dirty="0"/>
              <a:t> </a:t>
            </a:r>
            <a:r>
              <a:rPr lang="en-US" dirty="0" err="1"/>
              <a:t>находится</a:t>
            </a:r>
            <a:r>
              <a:rPr lang="en-US" dirty="0"/>
              <a:t> </a:t>
            </a:r>
            <a:r>
              <a:rPr lang="en-US" dirty="0" err="1"/>
              <a:t>программа</a:t>
            </a:r>
            <a:r>
              <a:rPr lang="en-US" dirty="0"/>
              <a:t>.</a:t>
            </a:r>
          </a:p>
          <a:p>
            <a:r>
              <a:rPr lang="en-US" dirty="0" err="1"/>
              <a:t>Относительный</a:t>
            </a:r>
            <a:r>
              <a:rPr lang="en-US" dirty="0"/>
              <a:t> </a:t>
            </a:r>
            <a:r>
              <a:rPr lang="en-US" dirty="0" err="1"/>
              <a:t>путь</a:t>
            </a:r>
            <a:r>
              <a:rPr lang="en-US" dirty="0"/>
              <a:t>, </a:t>
            </a:r>
            <a:r>
              <a:rPr lang="en-US" dirty="0" err="1"/>
              <a:t>наоборот</a:t>
            </a:r>
            <a:r>
              <a:rPr lang="en-US" dirty="0"/>
              <a:t>, </a:t>
            </a:r>
            <a:r>
              <a:rPr lang="en-US" dirty="0" err="1"/>
              <a:t>отсчитывается</a:t>
            </a:r>
            <a:r>
              <a:rPr lang="en-US" dirty="0"/>
              <a:t> </a:t>
            </a:r>
            <a:r>
              <a:rPr lang="en-US" dirty="0" err="1"/>
              <a:t>от</a:t>
            </a:r>
            <a:r>
              <a:rPr lang="en-US" dirty="0"/>
              <a:t> </a:t>
            </a:r>
            <a:r>
              <a:rPr lang="en-US" dirty="0" err="1"/>
              <a:t>текущего</a:t>
            </a:r>
            <a:r>
              <a:rPr lang="en-US" dirty="0"/>
              <a:t> </a:t>
            </a:r>
            <a:r>
              <a:rPr lang="en-US" dirty="0" err="1"/>
              <a:t>рабочего</a:t>
            </a:r>
            <a:r>
              <a:rPr lang="en-US" dirty="0"/>
              <a:t> </a:t>
            </a:r>
            <a:r>
              <a:rPr lang="en-US" dirty="0" err="1"/>
              <a:t>каталога</a:t>
            </a:r>
            <a:r>
              <a:rPr lang="en-US" dirty="0"/>
              <a:t> </a:t>
            </a:r>
            <a:r>
              <a:rPr lang="en-US" dirty="0" err="1"/>
              <a:t>процесса</a:t>
            </a:r>
            <a:r>
              <a:rPr lang="en-US" dirty="0"/>
              <a:t>. </a:t>
            </a:r>
            <a:r>
              <a:rPr lang="en-US" dirty="0" err="1"/>
              <a:t>Например</a:t>
            </a:r>
            <a:r>
              <a:rPr lang="en-US" dirty="0"/>
              <a:t>, </a:t>
            </a:r>
            <a:r>
              <a:rPr lang="en-US" dirty="0" err="1"/>
              <a:t>если</a:t>
            </a:r>
            <a:r>
              <a:rPr lang="en-US" dirty="0"/>
              <a:t> </a:t>
            </a:r>
            <a:r>
              <a:rPr lang="en-US" dirty="0" err="1"/>
              <a:t>процесс</a:t>
            </a:r>
            <a:r>
              <a:rPr lang="en-US" dirty="0"/>
              <a:t> </a:t>
            </a:r>
            <a:r>
              <a:rPr lang="en-US" dirty="0" err="1"/>
              <a:t>находится</a:t>
            </a:r>
            <a:r>
              <a:rPr lang="en-US" dirty="0"/>
              <a:t> в </a:t>
            </a:r>
            <a:r>
              <a:rPr lang="en-US" sz="1200" kern="1200" dirty="0">
                <a:solidFill>
                  <a:schemeClr val="tx1"/>
                </a:solidFill>
                <a:latin typeface="+mn-lt"/>
                <a:ea typeface="+mn-ea"/>
                <a:cs typeface="+mn-cs"/>
              </a:rPr>
              <a:t>/home/vivid</a:t>
            </a:r>
            <a:r>
              <a:rPr lang="en-US" dirty="0"/>
              <a:t>, </a:t>
            </a:r>
            <a:r>
              <a:rPr lang="en-US" dirty="0" err="1"/>
              <a:t>то</a:t>
            </a:r>
            <a:r>
              <a:rPr lang="en-US" dirty="0"/>
              <a:t> к </a:t>
            </a:r>
            <a:r>
              <a:rPr lang="en-US" dirty="0" err="1"/>
              <a:t>тому</a:t>
            </a:r>
            <a:r>
              <a:rPr lang="en-US" dirty="0"/>
              <a:t> </a:t>
            </a:r>
            <a:r>
              <a:rPr lang="en-US" dirty="0" err="1"/>
              <a:t>же</a:t>
            </a:r>
            <a:r>
              <a:rPr lang="en-US" dirty="0"/>
              <a:t> </a:t>
            </a:r>
            <a:r>
              <a:rPr lang="en-US" dirty="0" err="1"/>
              <a:t>файлу</a:t>
            </a:r>
            <a:r>
              <a:rPr lang="en-US" dirty="0"/>
              <a:t> </a:t>
            </a:r>
            <a:r>
              <a:rPr lang="en-US" dirty="0" err="1"/>
              <a:t>можно</a:t>
            </a:r>
            <a:r>
              <a:rPr lang="en-US" dirty="0"/>
              <a:t> </a:t>
            </a:r>
            <a:r>
              <a:rPr lang="en-US" dirty="0" err="1"/>
              <a:t>обратиться</a:t>
            </a:r>
            <a:r>
              <a:rPr lang="en-US" dirty="0"/>
              <a:t> </a:t>
            </a:r>
            <a:r>
              <a:rPr lang="en-US" dirty="0" err="1"/>
              <a:t>просто</a:t>
            </a:r>
            <a:r>
              <a:rPr lang="en-US" dirty="0"/>
              <a:t> </a:t>
            </a:r>
            <a:r>
              <a:rPr lang="en-US" dirty="0" err="1"/>
              <a:t>как</a:t>
            </a:r>
            <a:r>
              <a:rPr lang="en-US" dirty="0"/>
              <a:t> </a:t>
            </a:r>
            <a:r>
              <a:rPr lang="en-US" sz="1200" kern="1200" dirty="0">
                <a:solidFill>
                  <a:schemeClr val="tx1"/>
                </a:solidFill>
                <a:latin typeface="+mn-lt"/>
                <a:ea typeface="+mn-ea"/>
                <a:cs typeface="+mn-cs"/>
              </a:rPr>
              <a:t>file.txt</a:t>
            </a:r>
            <a:r>
              <a:rPr lang="en-US" dirty="0"/>
              <a:t>.</a:t>
            </a:r>
            <a:endParaRPr lang="ru-RU" dirty="0"/>
          </a:p>
          <a:p>
            <a:endParaRPr lang="en-US" dirty="0"/>
          </a:p>
          <a:p>
            <a:r>
              <a:rPr lang="en-US" dirty="0" err="1"/>
              <a:t>Здесь</a:t>
            </a:r>
            <a:r>
              <a:rPr lang="en-US" dirty="0"/>
              <a:t> </a:t>
            </a:r>
            <a:r>
              <a:rPr lang="en-US" dirty="0" err="1"/>
              <a:t>важно</a:t>
            </a:r>
            <a:r>
              <a:rPr lang="en-US" dirty="0"/>
              <a:t> </a:t>
            </a:r>
            <a:r>
              <a:rPr lang="en-US" dirty="0" err="1"/>
              <a:t>связать</a:t>
            </a:r>
            <a:r>
              <a:rPr lang="en-US" dirty="0"/>
              <a:t> </a:t>
            </a:r>
            <a:r>
              <a:rPr lang="en-US" dirty="0" err="1"/>
              <a:t>это</a:t>
            </a:r>
            <a:r>
              <a:rPr lang="en-US" dirty="0"/>
              <a:t> с </a:t>
            </a:r>
            <a:r>
              <a:rPr lang="en-US" dirty="0" err="1"/>
              <a:t>темой</a:t>
            </a:r>
            <a:r>
              <a:rPr lang="en-US" dirty="0"/>
              <a:t> </a:t>
            </a:r>
            <a:r>
              <a:rPr lang="en-US" dirty="0" err="1"/>
              <a:t>процессов</a:t>
            </a:r>
            <a:r>
              <a:rPr lang="en-US" dirty="0"/>
              <a:t>: </a:t>
            </a:r>
            <a:r>
              <a:rPr lang="en-US" dirty="0" err="1"/>
              <a:t>текущий</a:t>
            </a:r>
            <a:r>
              <a:rPr lang="en-US" dirty="0"/>
              <a:t> </a:t>
            </a:r>
            <a:r>
              <a:rPr lang="en-US" dirty="0" err="1"/>
              <a:t>рабочий</a:t>
            </a:r>
            <a:r>
              <a:rPr lang="en-US" dirty="0"/>
              <a:t> </a:t>
            </a:r>
            <a:r>
              <a:rPr lang="en-US" dirty="0" err="1"/>
              <a:t>каталог</a:t>
            </a:r>
            <a:r>
              <a:rPr lang="en-US" dirty="0"/>
              <a:t> — </a:t>
            </a:r>
            <a:r>
              <a:rPr lang="en-US" dirty="0" err="1"/>
              <a:t>это</a:t>
            </a:r>
            <a:r>
              <a:rPr lang="en-US" dirty="0"/>
              <a:t> </a:t>
            </a:r>
            <a:r>
              <a:rPr lang="en-US" dirty="0" err="1"/>
              <a:t>часть</a:t>
            </a:r>
            <a:r>
              <a:rPr lang="en-US" dirty="0"/>
              <a:t> </a:t>
            </a:r>
            <a:r>
              <a:rPr lang="en-US" dirty="0" err="1"/>
              <a:t>состояния</a:t>
            </a:r>
            <a:r>
              <a:rPr lang="en-US" dirty="0"/>
              <a:t> </a:t>
            </a:r>
            <a:r>
              <a:rPr lang="en-US" dirty="0" err="1"/>
              <a:t>конкретного</a:t>
            </a:r>
            <a:r>
              <a:rPr lang="en-US" dirty="0"/>
              <a:t> </a:t>
            </a:r>
            <a:r>
              <a:rPr lang="en-US" dirty="0" err="1"/>
              <a:t>процесса</a:t>
            </a:r>
            <a:r>
              <a:rPr lang="en-US" dirty="0"/>
              <a:t>. </a:t>
            </a:r>
            <a:r>
              <a:rPr lang="en-US" dirty="0" err="1"/>
              <a:t>Поэтому</a:t>
            </a:r>
            <a:r>
              <a:rPr lang="en-US" dirty="0"/>
              <a:t> </a:t>
            </a:r>
            <a:r>
              <a:rPr lang="en-US" dirty="0" err="1"/>
              <a:t>два</a:t>
            </a:r>
            <a:r>
              <a:rPr lang="en-US" dirty="0"/>
              <a:t> </a:t>
            </a:r>
            <a:r>
              <a:rPr lang="en-US" dirty="0" err="1"/>
              <a:t>процесса</a:t>
            </a:r>
            <a:r>
              <a:rPr lang="en-US" dirty="0"/>
              <a:t> </a:t>
            </a:r>
            <a:r>
              <a:rPr lang="en-US" dirty="0" err="1"/>
              <a:t>могут</a:t>
            </a:r>
            <a:r>
              <a:rPr lang="en-US" dirty="0"/>
              <a:t> </a:t>
            </a:r>
            <a:r>
              <a:rPr lang="en-US" dirty="0" err="1"/>
              <a:t>иметь</a:t>
            </a:r>
            <a:r>
              <a:rPr lang="en-US" dirty="0"/>
              <a:t> </a:t>
            </a:r>
            <a:r>
              <a:rPr lang="en-US" dirty="0" err="1"/>
              <a:t>разные</a:t>
            </a:r>
            <a:r>
              <a:rPr lang="en-US" dirty="0"/>
              <a:t> </a:t>
            </a:r>
            <a:r>
              <a:rPr lang="en-US" dirty="0" err="1"/>
              <a:t>текущие</a:t>
            </a:r>
            <a:r>
              <a:rPr lang="en-US" dirty="0"/>
              <a:t> </a:t>
            </a:r>
            <a:r>
              <a:rPr lang="en-US" dirty="0" err="1"/>
              <a:t>каталоги</a:t>
            </a:r>
            <a:r>
              <a:rPr lang="en-US" dirty="0"/>
              <a:t> и </a:t>
            </a:r>
            <a:r>
              <a:rPr lang="en-US" dirty="0" err="1"/>
              <a:t>по-разному</a:t>
            </a:r>
            <a:r>
              <a:rPr lang="en-US" dirty="0"/>
              <a:t> </a:t>
            </a:r>
            <a:r>
              <a:rPr lang="en-US" dirty="0" err="1"/>
              <a:t>интерпретировать</a:t>
            </a:r>
            <a:r>
              <a:rPr lang="en-US" dirty="0"/>
              <a:t> </a:t>
            </a:r>
            <a:r>
              <a:rPr lang="en-US" dirty="0" err="1"/>
              <a:t>один</a:t>
            </a:r>
            <a:r>
              <a:rPr lang="en-US" dirty="0"/>
              <a:t> и </a:t>
            </a:r>
            <a:r>
              <a:rPr lang="en-US" dirty="0" err="1"/>
              <a:t>тот</a:t>
            </a:r>
            <a:r>
              <a:rPr lang="en-US" dirty="0"/>
              <a:t> </a:t>
            </a:r>
            <a:r>
              <a:rPr lang="en-US" dirty="0" err="1"/>
              <a:t>же</a:t>
            </a:r>
            <a:r>
              <a:rPr lang="en-US" dirty="0"/>
              <a:t> </a:t>
            </a:r>
            <a:r>
              <a:rPr lang="en-US" dirty="0" err="1"/>
              <a:t>относительный</a:t>
            </a:r>
            <a:r>
              <a:rPr lang="en-US" dirty="0"/>
              <a:t> </a:t>
            </a:r>
            <a:r>
              <a:rPr lang="en-US" dirty="0" err="1"/>
              <a:t>путь</a:t>
            </a:r>
            <a:r>
              <a:rPr lang="en-US" dirty="0"/>
              <a:t>.</a:t>
            </a:r>
            <a:endParaRPr lang="ru-RU" dirty="0"/>
          </a:p>
          <a:p>
            <a:endParaRPr lang="en-US" dirty="0"/>
          </a:p>
          <a:p>
            <a:r>
              <a:rPr lang="en-US" dirty="0" err="1"/>
              <a:t>Таким</a:t>
            </a:r>
            <a:r>
              <a:rPr lang="en-US" dirty="0"/>
              <a:t> </a:t>
            </a:r>
            <a:r>
              <a:rPr lang="en-US" dirty="0" err="1"/>
              <a:t>образом</a:t>
            </a:r>
            <a:r>
              <a:rPr lang="en-US" dirty="0"/>
              <a:t>, </a:t>
            </a:r>
            <a:r>
              <a:rPr lang="en-US" dirty="0" err="1"/>
              <a:t>файловая</a:t>
            </a:r>
            <a:r>
              <a:rPr lang="en-US" dirty="0"/>
              <a:t> </a:t>
            </a:r>
            <a:r>
              <a:rPr lang="en-US" dirty="0" err="1"/>
              <a:t>система</a:t>
            </a:r>
            <a:r>
              <a:rPr lang="en-US" dirty="0"/>
              <a:t> </a:t>
            </a:r>
            <a:r>
              <a:rPr lang="en-US" dirty="0" err="1"/>
              <a:t>даёт</a:t>
            </a:r>
            <a:r>
              <a:rPr lang="en-US" dirty="0"/>
              <a:t> </a:t>
            </a:r>
            <a:r>
              <a:rPr lang="en-US" dirty="0" err="1"/>
              <a:t>нам</a:t>
            </a:r>
            <a:r>
              <a:rPr lang="en-US" dirty="0"/>
              <a:t> </a:t>
            </a:r>
            <a:r>
              <a:rPr lang="en-US" dirty="0" err="1"/>
              <a:t>две</a:t>
            </a:r>
            <a:r>
              <a:rPr lang="en-US" dirty="0"/>
              <a:t> </a:t>
            </a:r>
            <a:r>
              <a:rPr lang="en-US" dirty="0" err="1"/>
              <a:t>важные</a:t>
            </a:r>
            <a:r>
              <a:rPr lang="en-US" dirty="0"/>
              <a:t> </a:t>
            </a:r>
            <a:r>
              <a:rPr lang="en-US" dirty="0" err="1"/>
              <a:t>вещи</a:t>
            </a:r>
            <a:r>
              <a:rPr lang="en-US" dirty="0"/>
              <a:t>: </a:t>
            </a:r>
            <a:r>
              <a:rPr lang="en-US" dirty="0" err="1"/>
              <a:t>универсальный</a:t>
            </a:r>
            <a:r>
              <a:rPr lang="en-US" dirty="0"/>
              <a:t> </a:t>
            </a:r>
            <a:r>
              <a:rPr lang="en-US" dirty="0" err="1"/>
              <a:t>интерфейс</a:t>
            </a:r>
            <a:r>
              <a:rPr lang="en-US" dirty="0"/>
              <a:t> </a:t>
            </a:r>
            <a:r>
              <a:rPr lang="en-US" dirty="0" err="1"/>
              <a:t>для</a:t>
            </a:r>
            <a:r>
              <a:rPr lang="en-US" dirty="0"/>
              <a:t> </a:t>
            </a:r>
            <a:r>
              <a:rPr lang="en-US" dirty="0" err="1"/>
              <a:t>работы</a:t>
            </a:r>
            <a:r>
              <a:rPr lang="en-US" dirty="0"/>
              <a:t> с </a:t>
            </a:r>
            <a:r>
              <a:rPr lang="en-US" dirty="0" err="1"/>
              <a:t>данными</a:t>
            </a:r>
            <a:r>
              <a:rPr lang="en-US" dirty="0"/>
              <a:t> и </a:t>
            </a:r>
            <a:r>
              <a:rPr lang="en-US" dirty="0" err="1"/>
              <a:t>удобную</a:t>
            </a:r>
            <a:r>
              <a:rPr lang="en-US" dirty="0"/>
              <a:t> </a:t>
            </a:r>
            <a:r>
              <a:rPr lang="en-US" dirty="0" err="1"/>
              <a:t>иерархию</a:t>
            </a:r>
            <a:r>
              <a:rPr lang="en-US" dirty="0"/>
              <a:t>, в </a:t>
            </a:r>
            <a:r>
              <a:rPr lang="en-US" dirty="0" err="1"/>
              <a:t>которой</a:t>
            </a:r>
            <a:r>
              <a:rPr lang="en-US" dirty="0"/>
              <a:t> </a:t>
            </a:r>
            <a:r>
              <a:rPr lang="en-US" dirty="0" err="1"/>
              <a:t>эти</a:t>
            </a:r>
            <a:r>
              <a:rPr lang="en-US" dirty="0"/>
              <a:t> </a:t>
            </a:r>
            <a:r>
              <a:rPr lang="en-US" dirty="0" err="1"/>
              <a:t>данные</a:t>
            </a:r>
            <a:r>
              <a:rPr lang="en-US" dirty="0"/>
              <a:t> </a:t>
            </a:r>
            <a:r>
              <a:rPr lang="en-US" dirty="0" err="1"/>
              <a:t>можно</a:t>
            </a:r>
            <a:r>
              <a:rPr lang="en-US" dirty="0"/>
              <a:t> </a:t>
            </a:r>
            <a:r>
              <a:rPr lang="en-US" dirty="0" err="1"/>
              <a:t>находить</a:t>
            </a:r>
            <a:r>
              <a:rPr lang="en-US" dirty="0"/>
              <a:t> </a:t>
            </a:r>
            <a:r>
              <a:rPr lang="en-US" dirty="0" err="1"/>
              <a:t>по</a:t>
            </a:r>
            <a:r>
              <a:rPr lang="en-US" dirty="0"/>
              <a:t> </a:t>
            </a:r>
            <a:r>
              <a:rPr lang="en-US" dirty="0" err="1"/>
              <a:t>путям</a:t>
            </a:r>
            <a:r>
              <a:rPr lang="en-US" dirty="0"/>
              <a:t>.</a:t>
            </a:r>
            <a:endParaRPr lang="ru-RU" dirty="0"/>
          </a:p>
          <a:p>
            <a:endParaRPr lang="en-US" dirty="0"/>
          </a:p>
          <a:p>
            <a:r>
              <a:rPr lang="en-US" dirty="0" err="1"/>
              <a:t>Дальше</a:t>
            </a:r>
            <a:r>
              <a:rPr lang="en-US" dirty="0"/>
              <a:t> </a:t>
            </a:r>
            <a:r>
              <a:rPr lang="en-US" dirty="0" err="1"/>
              <a:t>мы</a:t>
            </a:r>
            <a:r>
              <a:rPr lang="en-US" dirty="0"/>
              <a:t> </a:t>
            </a:r>
            <a:r>
              <a:rPr lang="en-US" dirty="0" err="1"/>
              <a:t>посмотрим</a:t>
            </a:r>
            <a:r>
              <a:rPr lang="en-US" dirty="0"/>
              <a:t>, </a:t>
            </a:r>
            <a:r>
              <a:rPr lang="en-US" dirty="0" err="1"/>
              <a:t>как</a:t>
            </a:r>
            <a:r>
              <a:rPr lang="en-US" dirty="0"/>
              <a:t> </a:t>
            </a:r>
            <a:r>
              <a:rPr lang="en-US" dirty="0" err="1"/>
              <a:t>всё</a:t>
            </a:r>
            <a:r>
              <a:rPr lang="en-US" dirty="0"/>
              <a:t> </a:t>
            </a:r>
            <a:r>
              <a:rPr lang="en-US" dirty="0" err="1"/>
              <a:t>это</a:t>
            </a:r>
            <a:r>
              <a:rPr lang="en-US" dirty="0"/>
              <a:t> </a:t>
            </a:r>
            <a:r>
              <a:rPr lang="en-US" dirty="0" err="1"/>
              <a:t>выглядит</a:t>
            </a:r>
            <a:r>
              <a:rPr lang="en-US" dirty="0"/>
              <a:t> </a:t>
            </a:r>
            <a:r>
              <a:rPr lang="en-US" dirty="0" err="1"/>
              <a:t>непосредственно</a:t>
            </a:r>
            <a:r>
              <a:rPr lang="en-US" dirty="0"/>
              <a:t> в Linux: </a:t>
            </a:r>
            <a:r>
              <a:rPr lang="en-US" dirty="0" err="1"/>
              <a:t>как</a:t>
            </a:r>
            <a:r>
              <a:rPr lang="en-US" dirty="0"/>
              <a:t> </a:t>
            </a:r>
            <a:r>
              <a:rPr lang="en-US" dirty="0" err="1"/>
              <a:t>узнать</a:t>
            </a:r>
            <a:r>
              <a:rPr lang="en-US" dirty="0"/>
              <a:t> </a:t>
            </a:r>
            <a:r>
              <a:rPr lang="en-US" dirty="0" err="1"/>
              <a:t>текущий</a:t>
            </a:r>
            <a:r>
              <a:rPr lang="en-US" dirty="0"/>
              <a:t> </a:t>
            </a:r>
            <a:r>
              <a:rPr lang="en-US" dirty="0" err="1"/>
              <a:t>каталог</a:t>
            </a:r>
            <a:r>
              <a:rPr lang="en-US" dirty="0"/>
              <a:t>, </a:t>
            </a:r>
            <a:r>
              <a:rPr lang="en-US" dirty="0" err="1"/>
              <a:t>посмотреть</a:t>
            </a:r>
            <a:r>
              <a:rPr lang="en-US" dirty="0"/>
              <a:t> </a:t>
            </a:r>
            <a:r>
              <a:rPr lang="en-US" dirty="0" err="1"/>
              <a:t>его</a:t>
            </a:r>
            <a:r>
              <a:rPr lang="en-US" dirty="0"/>
              <a:t> </a:t>
            </a:r>
            <a:r>
              <a:rPr lang="en-US" dirty="0" err="1"/>
              <a:t>содержимое</a:t>
            </a:r>
            <a:r>
              <a:rPr lang="en-US" dirty="0"/>
              <a:t> и </a:t>
            </a:r>
            <a:r>
              <a:rPr lang="en-US" dirty="0" err="1"/>
              <a:t>перемещаться</a:t>
            </a:r>
            <a:r>
              <a:rPr lang="en-US" dirty="0"/>
              <a:t> </a:t>
            </a:r>
            <a:r>
              <a:rPr lang="en-US" dirty="0" err="1"/>
              <a:t>по</a:t>
            </a:r>
            <a:r>
              <a:rPr lang="en-US" dirty="0"/>
              <a:t> </a:t>
            </a:r>
            <a:r>
              <a:rPr lang="en-US" dirty="0" err="1"/>
              <a:t>дереву</a:t>
            </a:r>
            <a:r>
              <a:rPr lang="en-US" dirty="0"/>
              <a:t> </a:t>
            </a:r>
            <a:r>
              <a:rPr lang="en-US" dirty="0" err="1"/>
              <a:t>файловой</a:t>
            </a:r>
            <a:r>
              <a:rPr lang="en-US" dirty="0"/>
              <a:t> </a:t>
            </a:r>
            <a:r>
              <a:rPr lang="en-US" dirty="0" err="1"/>
              <a:t>системы</a:t>
            </a:r>
            <a:r>
              <a:rPr lang="en-US" dirty="0"/>
              <a:t>.</a:t>
            </a:r>
          </a:p>
        </p:txBody>
      </p:sp>
      <p:sp>
        <p:nvSpPr>
          <p:cNvPr id="4" name="Slide Number Placeholder 3"/>
          <p:cNvSpPr>
            <a:spLocks noGrp="1"/>
          </p:cNvSpPr>
          <p:nvPr>
            <p:ph type="sldNum" sz="quarter" idx="5"/>
          </p:nvPr>
        </p:nvSpPr>
        <p:spPr/>
        <p:txBody>
          <a:bodyPr/>
          <a:lstStyle/>
          <a:p>
            <a:fld id="{A3EE74EF-BE85-44F3-968F-E74DD74A629E}" type="slidenum">
              <a:rPr lang="en-US" smtClean="0"/>
              <a:t>17</a:t>
            </a:fld>
            <a:endParaRPr lang="en-US"/>
          </a:p>
        </p:txBody>
      </p:sp>
    </p:spTree>
    <p:extLst>
      <p:ext uri="{BB962C8B-B14F-4D97-AF65-F5344CB8AC3E}">
        <p14:creationId xmlns:p14="http://schemas.microsoft.com/office/powerpoint/2010/main" val="21679213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Теперь</a:t>
            </a:r>
            <a:r>
              <a:rPr lang="en-US" dirty="0"/>
              <a:t> </a:t>
            </a:r>
            <a:r>
              <a:rPr lang="en-US" dirty="0" err="1"/>
              <a:t>посмотрим</a:t>
            </a:r>
            <a:r>
              <a:rPr lang="en-US" dirty="0"/>
              <a:t> </a:t>
            </a:r>
            <a:r>
              <a:rPr lang="en-US" dirty="0" err="1"/>
              <a:t>на</a:t>
            </a:r>
            <a:r>
              <a:rPr lang="en-US" dirty="0"/>
              <a:t> </a:t>
            </a:r>
            <a:r>
              <a:rPr lang="en-US" dirty="0" err="1"/>
              <a:t>самые</a:t>
            </a:r>
            <a:r>
              <a:rPr lang="en-US" dirty="0"/>
              <a:t> </a:t>
            </a:r>
            <a:r>
              <a:rPr lang="en-US" dirty="0" err="1"/>
              <a:t>базовые</a:t>
            </a:r>
            <a:r>
              <a:rPr lang="en-US" dirty="0"/>
              <a:t> </a:t>
            </a:r>
            <a:r>
              <a:rPr lang="en-US" dirty="0" err="1"/>
              <a:t>команды</a:t>
            </a:r>
            <a:r>
              <a:rPr lang="en-US" dirty="0"/>
              <a:t> </a:t>
            </a:r>
            <a:r>
              <a:rPr lang="en-US" dirty="0" err="1"/>
              <a:t>для</a:t>
            </a:r>
            <a:r>
              <a:rPr lang="en-US" dirty="0"/>
              <a:t> </a:t>
            </a:r>
            <a:r>
              <a:rPr lang="en-US" dirty="0" err="1"/>
              <a:t>навигации</a:t>
            </a:r>
            <a:r>
              <a:rPr lang="en-US" dirty="0"/>
              <a:t> </a:t>
            </a:r>
            <a:r>
              <a:rPr lang="en-US" dirty="0" err="1"/>
              <a:t>по</a:t>
            </a:r>
            <a:r>
              <a:rPr lang="en-US" dirty="0"/>
              <a:t> </a:t>
            </a:r>
            <a:r>
              <a:rPr lang="en-US" dirty="0" err="1"/>
              <a:t>файловой</a:t>
            </a:r>
            <a:r>
              <a:rPr lang="en-US" dirty="0"/>
              <a:t> </a:t>
            </a:r>
            <a:r>
              <a:rPr lang="en-US" dirty="0" err="1"/>
              <a:t>системе</a:t>
            </a:r>
            <a:r>
              <a:rPr lang="en-US" dirty="0"/>
              <a:t>.</a:t>
            </a:r>
            <a:endParaRPr lang="ru-RU" dirty="0"/>
          </a:p>
          <a:p>
            <a:endParaRPr lang="en-US" dirty="0"/>
          </a:p>
          <a:p>
            <a:r>
              <a:rPr lang="en-US" dirty="0" err="1"/>
              <a:t>Команда</a:t>
            </a:r>
            <a:r>
              <a:rPr lang="en-US" dirty="0"/>
              <a:t> </a:t>
            </a:r>
            <a:r>
              <a:rPr lang="en-US" sz="1200" kern="1200" dirty="0" err="1">
                <a:solidFill>
                  <a:schemeClr val="tx1"/>
                </a:solidFill>
                <a:latin typeface="+mn-lt"/>
                <a:ea typeface="+mn-ea"/>
                <a:cs typeface="+mn-cs"/>
              </a:rPr>
              <a:t>pwd</a:t>
            </a:r>
            <a:r>
              <a:rPr lang="en-US" dirty="0"/>
              <a:t> </a:t>
            </a:r>
            <a:r>
              <a:rPr lang="en-US" dirty="0" err="1"/>
              <a:t>показывает</a:t>
            </a:r>
            <a:r>
              <a:rPr lang="en-US" dirty="0"/>
              <a:t> </a:t>
            </a:r>
            <a:r>
              <a:rPr lang="en-US" dirty="0" err="1"/>
              <a:t>текущий</a:t>
            </a:r>
            <a:r>
              <a:rPr lang="en-US" dirty="0"/>
              <a:t> </a:t>
            </a:r>
            <a:r>
              <a:rPr lang="en-US" dirty="0" err="1"/>
              <a:t>рабочий</a:t>
            </a:r>
            <a:r>
              <a:rPr lang="en-US" dirty="0"/>
              <a:t> </a:t>
            </a:r>
            <a:r>
              <a:rPr lang="en-US" dirty="0" err="1"/>
              <a:t>каталог</a:t>
            </a:r>
            <a:r>
              <a:rPr lang="en-US" dirty="0"/>
              <a:t>. Это </a:t>
            </a:r>
            <a:r>
              <a:rPr lang="en-US" dirty="0" err="1"/>
              <a:t>тот</a:t>
            </a:r>
            <a:r>
              <a:rPr lang="en-US" dirty="0"/>
              <a:t> </a:t>
            </a:r>
            <a:r>
              <a:rPr lang="en-US" dirty="0" err="1"/>
              <a:t>каталог</a:t>
            </a:r>
            <a:r>
              <a:rPr lang="en-US" dirty="0"/>
              <a:t>, </a:t>
            </a:r>
            <a:r>
              <a:rPr lang="en-US" dirty="0" err="1"/>
              <a:t>относительно</a:t>
            </a:r>
            <a:r>
              <a:rPr lang="en-US" dirty="0"/>
              <a:t> </a:t>
            </a:r>
            <a:r>
              <a:rPr lang="en-US" dirty="0" err="1"/>
              <a:t>которого</a:t>
            </a:r>
            <a:r>
              <a:rPr lang="en-US" dirty="0"/>
              <a:t> </a:t>
            </a:r>
            <a:r>
              <a:rPr lang="en-US" dirty="0" err="1"/>
              <a:t>будут</a:t>
            </a:r>
            <a:r>
              <a:rPr lang="en-US" dirty="0"/>
              <a:t> </a:t>
            </a:r>
            <a:r>
              <a:rPr lang="en-US" dirty="0" err="1"/>
              <a:t>интерпретироваться</a:t>
            </a:r>
            <a:r>
              <a:rPr lang="en-US" dirty="0"/>
              <a:t> </a:t>
            </a:r>
            <a:r>
              <a:rPr lang="en-US" dirty="0" err="1"/>
              <a:t>относительные</a:t>
            </a:r>
            <a:r>
              <a:rPr lang="en-US" dirty="0"/>
              <a:t> </a:t>
            </a:r>
            <a:r>
              <a:rPr lang="en-US" dirty="0" err="1"/>
              <a:t>пути</a:t>
            </a:r>
            <a:r>
              <a:rPr lang="en-US" dirty="0"/>
              <a:t>.</a:t>
            </a:r>
            <a:endParaRPr lang="ru-RU" dirty="0"/>
          </a:p>
          <a:p>
            <a:endParaRPr lang="en-US" dirty="0"/>
          </a:p>
          <a:p>
            <a:r>
              <a:rPr lang="en-US" dirty="0" err="1"/>
              <a:t>Команда</a:t>
            </a:r>
            <a:r>
              <a:rPr lang="en-US" dirty="0"/>
              <a:t> </a:t>
            </a:r>
            <a:r>
              <a:rPr lang="en-US" sz="1200" kern="1200" dirty="0">
                <a:solidFill>
                  <a:schemeClr val="tx1"/>
                </a:solidFill>
                <a:latin typeface="+mn-lt"/>
                <a:ea typeface="+mn-ea"/>
                <a:cs typeface="+mn-cs"/>
              </a:rPr>
              <a:t>ls</a:t>
            </a:r>
            <a:r>
              <a:rPr lang="en-US" dirty="0"/>
              <a:t> </a:t>
            </a:r>
            <a:r>
              <a:rPr lang="en-US" dirty="0" err="1"/>
              <a:t>выводит</a:t>
            </a:r>
            <a:r>
              <a:rPr lang="en-US" dirty="0"/>
              <a:t> </a:t>
            </a:r>
            <a:r>
              <a:rPr lang="en-US" dirty="0" err="1"/>
              <a:t>содержимое</a:t>
            </a:r>
            <a:r>
              <a:rPr lang="en-US" dirty="0"/>
              <a:t> </a:t>
            </a:r>
            <a:r>
              <a:rPr lang="en-US" dirty="0" err="1"/>
              <a:t>текущего</a:t>
            </a:r>
            <a:r>
              <a:rPr lang="en-US" dirty="0"/>
              <a:t> </a:t>
            </a:r>
            <a:r>
              <a:rPr lang="en-US" dirty="0" err="1"/>
              <a:t>каталога</a:t>
            </a:r>
            <a:r>
              <a:rPr lang="en-US" dirty="0"/>
              <a:t>: </a:t>
            </a:r>
            <a:r>
              <a:rPr lang="en-US" dirty="0" err="1"/>
              <a:t>файлы</a:t>
            </a:r>
            <a:r>
              <a:rPr lang="en-US" dirty="0"/>
              <a:t> и </a:t>
            </a:r>
            <a:r>
              <a:rPr lang="en-US" dirty="0" err="1"/>
              <a:t>вложенные</a:t>
            </a:r>
            <a:r>
              <a:rPr lang="en-US" dirty="0"/>
              <a:t> </a:t>
            </a:r>
            <a:r>
              <a:rPr lang="en-US" dirty="0" err="1"/>
              <a:t>директории</a:t>
            </a:r>
            <a:r>
              <a:rPr lang="en-US" dirty="0"/>
              <a:t>.</a:t>
            </a:r>
          </a:p>
          <a:p>
            <a:endParaRPr lang="en-US" dirty="0"/>
          </a:p>
          <a:p>
            <a:r>
              <a:rPr lang="en-US" dirty="0"/>
              <a:t>У </a:t>
            </a:r>
            <a:r>
              <a:rPr lang="en-US" sz="1200" kern="1200" dirty="0">
                <a:solidFill>
                  <a:schemeClr val="tx1"/>
                </a:solidFill>
                <a:latin typeface="+mn-lt"/>
                <a:ea typeface="+mn-ea"/>
                <a:cs typeface="+mn-cs"/>
              </a:rPr>
              <a:t>ls</a:t>
            </a:r>
            <a:r>
              <a:rPr lang="en-US" dirty="0"/>
              <a:t> </a:t>
            </a:r>
            <a:r>
              <a:rPr lang="en-US" dirty="0" err="1"/>
              <a:t>есть</a:t>
            </a:r>
            <a:r>
              <a:rPr lang="en-US" dirty="0"/>
              <a:t> </a:t>
            </a:r>
            <a:r>
              <a:rPr lang="en-US" dirty="0" err="1"/>
              <a:t>полезные</a:t>
            </a:r>
            <a:r>
              <a:rPr lang="en-US" dirty="0"/>
              <a:t> </a:t>
            </a:r>
            <a:r>
              <a:rPr lang="en-US" dirty="0" err="1"/>
              <a:t>параметры</a:t>
            </a:r>
            <a:r>
              <a:rPr lang="en-US" dirty="0"/>
              <a:t>. </a:t>
            </a:r>
            <a:r>
              <a:rPr lang="en-US" dirty="0" err="1"/>
              <a:t>Например</a:t>
            </a:r>
            <a:r>
              <a:rPr lang="en-US" dirty="0"/>
              <a:t>, </a:t>
            </a:r>
            <a:r>
              <a:rPr lang="en-US" sz="1200" kern="1200" dirty="0">
                <a:solidFill>
                  <a:schemeClr val="tx1"/>
                </a:solidFill>
                <a:latin typeface="+mn-lt"/>
                <a:ea typeface="+mn-ea"/>
                <a:cs typeface="+mn-cs"/>
              </a:rPr>
              <a:t>ls -l</a:t>
            </a:r>
            <a:r>
              <a:rPr lang="en-US" dirty="0"/>
              <a:t> </a:t>
            </a:r>
            <a:r>
              <a:rPr lang="en-US" dirty="0" err="1"/>
              <a:t>показывает</a:t>
            </a:r>
            <a:r>
              <a:rPr lang="en-US" dirty="0"/>
              <a:t> </a:t>
            </a:r>
            <a:r>
              <a:rPr lang="en-US" dirty="0" err="1"/>
              <a:t>подробную</a:t>
            </a:r>
            <a:r>
              <a:rPr lang="en-US" dirty="0"/>
              <a:t> </a:t>
            </a:r>
            <a:r>
              <a:rPr lang="en-US" dirty="0" err="1"/>
              <a:t>информацию</a:t>
            </a:r>
            <a:r>
              <a:rPr lang="en-US" dirty="0"/>
              <a:t>: </a:t>
            </a:r>
            <a:r>
              <a:rPr lang="en-US" dirty="0" err="1"/>
              <a:t>права</a:t>
            </a:r>
            <a:r>
              <a:rPr lang="en-US" dirty="0"/>
              <a:t> </a:t>
            </a:r>
            <a:r>
              <a:rPr lang="en-US" dirty="0" err="1"/>
              <a:t>доступа</a:t>
            </a:r>
            <a:r>
              <a:rPr lang="en-US" dirty="0"/>
              <a:t>, </a:t>
            </a:r>
            <a:r>
              <a:rPr lang="en-US" dirty="0" err="1"/>
              <a:t>владельца</a:t>
            </a:r>
            <a:r>
              <a:rPr lang="en-US" dirty="0"/>
              <a:t>, </a:t>
            </a:r>
            <a:r>
              <a:rPr lang="en-US" dirty="0" err="1"/>
              <a:t>размер</a:t>
            </a:r>
            <a:r>
              <a:rPr lang="en-US" dirty="0"/>
              <a:t> и </a:t>
            </a:r>
            <a:r>
              <a:rPr lang="en-US" dirty="0" err="1"/>
              <a:t>другие</a:t>
            </a:r>
            <a:r>
              <a:rPr lang="en-US" dirty="0"/>
              <a:t> </a:t>
            </a:r>
            <a:r>
              <a:rPr lang="en-US" dirty="0" err="1"/>
              <a:t>атрибуты</a:t>
            </a:r>
            <a:r>
              <a:rPr lang="en-US" dirty="0"/>
              <a:t> </a:t>
            </a:r>
            <a:r>
              <a:rPr lang="en-US" dirty="0" err="1"/>
              <a:t>файлов</a:t>
            </a:r>
            <a:r>
              <a:rPr lang="en-US" dirty="0"/>
              <a:t>.</a:t>
            </a:r>
          </a:p>
          <a:p>
            <a:endParaRPr lang="en-US" dirty="0"/>
          </a:p>
          <a:p>
            <a:r>
              <a:rPr lang="en-US" dirty="0"/>
              <a:t>А </a:t>
            </a:r>
            <a:r>
              <a:rPr lang="en-US" sz="1200" kern="1200" dirty="0">
                <a:solidFill>
                  <a:schemeClr val="tx1"/>
                </a:solidFill>
                <a:latin typeface="+mn-lt"/>
                <a:ea typeface="+mn-ea"/>
                <a:cs typeface="+mn-cs"/>
              </a:rPr>
              <a:t>ls -a</a:t>
            </a:r>
            <a:r>
              <a:rPr lang="en-US" dirty="0"/>
              <a:t> </a:t>
            </a:r>
            <a:r>
              <a:rPr lang="en-US" dirty="0" err="1"/>
              <a:t>дополнительно</a:t>
            </a:r>
            <a:r>
              <a:rPr lang="en-US" dirty="0"/>
              <a:t> </a:t>
            </a:r>
            <a:r>
              <a:rPr lang="en-US" dirty="0" err="1"/>
              <a:t>показывает</a:t>
            </a:r>
            <a:r>
              <a:rPr lang="en-US" dirty="0"/>
              <a:t> </a:t>
            </a:r>
            <a:r>
              <a:rPr lang="en-US" dirty="0" err="1"/>
              <a:t>скрытые</a:t>
            </a:r>
            <a:r>
              <a:rPr lang="en-US" dirty="0"/>
              <a:t> </a:t>
            </a:r>
            <a:r>
              <a:rPr lang="en-US" dirty="0" err="1"/>
              <a:t>файлы</a:t>
            </a:r>
            <a:r>
              <a:rPr lang="en-US" dirty="0"/>
              <a:t>. В UNIX </a:t>
            </a:r>
            <a:r>
              <a:rPr lang="en-US" dirty="0" err="1"/>
              <a:t>скрытыми</a:t>
            </a:r>
            <a:r>
              <a:rPr lang="en-US" dirty="0"/>
              <a:t> </a:t>
            </a:r>
            <a:r>
              <a:rPr lang="en-US" dirty="0" err="1"/>
              <a:t>считаются</a:t>
            </a:r>
            <a:r>
              <a:rPr lang="en-US" dirty="0"/>
              <a:t> </a:t>
            </a:r>
            <a:r>
              <a:rPr lang="en-US" dirty="0" err="1"/>
              <a:t>файлы</a:t>
            </a:r>
            <a:r>
              <a:rPr lang="en-US" dirty="0"/>
              <a:t> и </a:t>
            </a:r>
            <a:r>
              <a:rPr lang="en-US" dirty="0" err="1"/>
              <a:t>каталоги</a:t>
            </a:r>
            <a:r>
              <a:rPr lang="en-US" dirty="0"/>
              <a:t>, </a:t>
            </a:r>
            <a:r>
              <a:rPr lang="en-US" dirty="0" err="1"/>
              <a:t>имя</a:t>
            </a:r>
            <a:r>
              <a:rPr lang="en-US" dirty="0"/>
              <a:t> </a:t>
            </a:r>
            <a:r>
              <a:rPr lang="en-US" dirty="0" err="1"/>
              <a:t>которых</a:t>
            </a:r>
            <a:r>
              <a:rPr lang="en-US" dirty="0"/>
              <a:t> </a:t>
            </a:r>
            <a:r>
              <a:rPr lang="en-US" dirty="0" err="1"/>
              <a:t>начинается</a:t>
            </a:r>
            <a:r>
              <a:rPr lang="en-US" dirty="0"/>
              <a:t> с </a:t>
            </a:r>
            <a:r>
              <a:rPr lang="en-US" dirty="0" err="1"/>
              <a:t>точки</a:t>
            </a:r>
            <a:r>
              <a:rPr lang="en-US" dirty="0"/>
              <a:t>.</a:t>
            </a:r>
          </a:p>
          <a:p>
            <a:endParaRPr lang="en-US" dirty="0"/>
          </a:p>
          <a:p>
            <a:r>
              <a:rPr lang="en-US" dirty="0" err="1"/>
              <a:t>Для</a:t>
            </a:r>
            <a:r>
              <a:rPr lang="en-US" dirty="0"/>
              <a:t> </a:t>
            </a:r>
            <a:r>
              <a:rPr lang="en-US" dirty="0" err="1"/>
              <a:t>перехода</a:t>
            </a:r>
            <a:r>
              <a:rPr lang="en-US" dirty="0"/>
              <a:t> в </a:t>
            </a:r>
            <a:r>
              <a:rPr lang="en-US" dirty="0" err="1"/>
              <a:t>другой</a:t>
            </a:r>
            <a:r>
              <a:rPr lang="en-US" dirty="0"/>
              <a:t> </a:t>
            </a:r>
            <a:r>
              <a:rPr lang="en-US" dirty="0" err="1"/>
              <a:t>каталог</a:t>
            </a:r>
            <a:r>
              <a:rPr lang="en-US" dirty="0"/>
              <a:t> </a:t>
            </a:r>
            <a:r>
              <a:rPr lang="en-US" dirty="0" err="1"/>
              <a:t>используется</a:t>
            </a:r>
            <a:r>
              <a:rPr lang="en-US" dirty="0"/>
              <a:t> </a:t>
            </a:r>
            <a:r>
              <a:rPr lang="en-US" dirty="0" err="1"/>
              <a:t>команда</a:t>
            </a:r>
            <a:r>
              <a:rPr lang="en-US" dirty="0"/>
              <a:t> </a:t>
            </a:r>
            <a:r>
              <a:rPr lang="en-US" sz="1200" kern="1200" dirty="0">
                <a:solidFill>
                  <a:schemeClr val="tx1"/>
                </a:solidFill>
                <a:latin typeface="+mn-lt"/>
                <a:ea typeface="+mn-ea"/>
                <a:cs typeface="+mn-cs"/>
              </a:rPr>
              <a:t>cd</a:t>
            </a:r>
            <a:r>
              <a:rPr lang="en-US" dirty="0"/>
              <a:t>.</a:t>
            </a:r>
          </a:p>
          <a:p>
            <a:r>
              <a:rPr lang="en-US" dirty="0" err="1"/>
              <a:t>Например</a:t>
            </a:r>
            <a:r>
              <a:rPr lang="en-US" dirty="0"/>
              <a:t>, </a:t>
            </a:r>
            <a:r>
              <a:rPr lang="en-US" sz="1200" kern="1200" dirty="0">
                <a:solidFill>
                  <a:schemeClr val="tx1"/>
                </a:solidFill>
                <a:latin typeface="+mn-lt"/>
                <a:ea typeface="+mn-ea"/>
                <a:cs typeface="+mn-cs"/>
              </a:rPr>
              <a:t>cd docs</a:t>
            </a:r>
            <a:r>
              <a:rPr lang="en-US" dirty="0"/>
              <a:t> </a:t>
            </a:r>
            <a:r>
              <a:rPr lang="en-US" dirty="0" err="1"/>
              <a:t>переводит</a:t>
            </a:r>
            <a:r>
              <a:rPr lang="en-US" dirty="0"/>
              <a:t> </a:t>
            </a:r>
            <a:r>
              <a:rPr lang="en-US" dirty="0" err="1"/>
              <a:t>нас</a:t>
            </a:r>
            <a:r>
              <a:rPr lang="en-US" dirty="0"/>
              <a:t> в </a:t>
            </a:r>
            <a:r>
              <a:rPr lang="en-US" dirty="0" err="1"/>
              <a:t>каталог</a:t>
            </a:r>
            <a:r>
              <a:rPr lang="en-US" dirty="0"/>
              <a:t> </a:t>
            </a:r>
            <a:r>
              <a:rPr lang="en-US" sz="1200" kern="1200" dirty="0">
                <a:solidFill>
                  <a:schemeClr val="tx1"/>
                </a:solidFill>
                <a:latin typeface="+mn-lt"/>
                <a:ea typeface="+mn-ea"/>
                <a:cs typeface="+mn-cs"/>
              </a:rPr>
              <a:t>docs</a:t>
            </a:r>
            <a:r>
              <a:rPr lang="en-US" dirty="0"/>
              <a:t>, </a:t>
            </a:r>
            <a:r>
              <a:rPr lang="en-US" dirty="0" err="1"/>
              <a:t>если</a:t>
            </a:r>
            <a:r>
              <a:rPr lang="en-US" dirty="0"/>
              <a:t> </a:t>
            </a:r>
            <a:r>
              <a:rPr lang="en-US" dirty="0" err="1"/>
              <a:t>он</a:t>
            </a:r>
            <a:r>
              <a:rPr lang="en-US" dirty="0"/>
              <a:t> </a:t>
            </a:r>
            <a:r>
              <a:rPr lang="en-US" dirty="0" err="1"/>
              <a:t>находится</a:t>
            </a:r>
            <a:r>
              <a:rPr lang="en-US" dirty="0"/>
              <a:t> </a:t>
            </a:r>
            <a:r>
              <a:rPr lang="en-US" dirty="0" err="1"/>
              <a:t>внутри</a:t>
            </a:r>
            <a:r>
              <a:rPr lang="en-US" dirty="0"/>
              <a:t> </a:t>
            </a:r>
            <a:r>
              <a:rPr lang="en-US" dirty="0" err="1"/>
              <a:t>текущего</a:t>
            </a:r>
            <a:r>
              <a:rPr lang="en-US" dirty="0"/>
              <a:t> </a:t>
            </a:r>
            <a:r>
              <a:rPr lang="en-US" dirty="0" err="1"/>
              <a:t>каталога</a:t>
            </a:r>
            <a:r>
              <a:rPr lang="en-US" dirty="0"/>
              <a:t>.</a:t>
            </a:r>
          </a:p>
          <a:p>
            <a:r>
              <a:rPr lang="en-US" dirty="0"/>
              <a:t>А </a:t>
            </a:r>
            <a:r>
              <a:rPr lang="en-US" dirty="0" err="1"/>
              <a:t>запись</a:t>
            </a:r>
            <a:r>
              <a:rPr lang="en-US" dirty="0"/>
              <a:t> </a:t>
            </a:r>
            <a:r>
              <a:rPr lang="en-US" sz="1200" kern="1200" dirty="0">
                <a:solidFill>
                  <a:schemeClr val="tx1"/>
                </a:solidFill>
                <a:latin typeface="+mn-lt"/>
                <a:ea typeface="+mn-ea"/>
                <a:cs typeface="+mn-cs"/>
              </a:rPr>
              <a:t>cd ..</a:t>
            </a:r>
            <a:r>
              <a:rPr lang="en-US" dirty="0"/>
              <a:t> </a:t>
            </a:r>
            <a:r>
              <a:rPr lang="en-US" dirty="0" err="1"/>
              <a:t>означает</a:t>
            </a:r>
            <a:r>
              <a:rPr lang="en-US" dirty="0"/>
              <a:t> </a:t>
            </a:r>
            <a:r>
              <a:rPr lang="en-US" dirty="0" err="1"/>
              <a:t>переход</a:t>
            </a:r>
            <a:r>
              <a:rPr lang="en-US" dirty="0"/>
              <a:t> </a:t>
            </a:r>
            <a:r>
              <a:rPr lang="en-US" dirty="0" err="1"/>
              <a:t>на</a:t>
            </a:r>
            <a:r>
              <a:rPr lang="en-US" dirty="0"/>
              <a:t> </a:t>
            </a:r>
            <a:r>
              <a:rPr lang="en-US" dirty="0" err="1"/>
              <a:t>один</a:t>
            </a:r>
            <a:r>
              <a:rPr lang="en-US" dirty="0"/>
              <a:t> </a:t>
            </a:r>
            <a:r>
              <a:rPr lang="en-US" dirty="0" err="1"/>
              <a:t>уровень</a:t>
            </a:r>
            <a:r>
              <a:rPr lang="en-US" dirty="0"/>
              <a:t> </a:t>
            </a:r>
            <a:r>
              <a:rPr lang="en-US" dirty="0" err="1"/>
              <a:t>выше</a:t>
            </a:r>
            <a:r>
              <a:rPr lang="en-US" dirty="0"/>
              <a:t>. </a:t>
            </a:r>
            <a:r>
              <a:rPr lang="en-US" dirty="0" err="1"/>
              <a:t>Две</a:t>
            </a:r>
            <a:r>
              <a:rPr lang="en-US" dirty="0"/>
              <a:t> </a:t>
            </a:r>
            <a:r>
              <a:rPr lang="en-US" dirty="0" err="1"/>
              <a:t>точки</a:t>
            </a:r>
            <a:r>
              <a:rPr lang="en-US" dirty="0"/>
              <a:t> — </a:t>
            </a:r>
            <a:r>
              <a:rPr lang="en-US" dirty="0" err="1"/>
              <a:t>это</a:t>
            </a:r>
            <a:r>
              <a:rPr lang="en-US" dirty="0"/>
              <a:t> </a:t>
            </a:r>
            <a:r>
              <a:rPr lang="en-US" dirty="0" err="1"/>
              <a:t>специальное</a:t>
            </a:r>
            <a:r>
              <a:rPr lang="en-US" dirty="0"/>
              <a:t> </a:t>
            </a:r>
            <a:r>
              <a:rPr lang="en-US" dirty="0" err="1"/>
              <a:t>имя</a:t>
            </a:r>
            <a:r>
              <a:rPr lang="en-US" dirty="0"/>
              <a:t> </a:t>
            </a:r>
            <a:r>
              <a:rPr lang="en-US" dirty="0" err="1"/>
              <a:t>родительского</a:t>
            </a:r>
            <a:r>
              <a:rPr lang="en-US" dirty="0"/>
              <a:t> </a:t>
            </a:r>
            <a:r>
              <a:rPr lang="en-US" dirty="0" err="1"/>
              <a:t>каталога</a:t>
            </a:r>
            <a:r>
              <a:rPr lang="en-US" dirty="0"/>
              <a:t>.</a:t>
            </a:r>
          </a:p>
          <a:p>
            <a:endParaRPr lang="en-US" dirty="0"/>
          </a:p>
          <a:p>
            <a:r>
              <a:rPr lang="en-US" dirty="0" err="1"/>
              <a:t>Таким</a:t>
            </a:r>
            <a:r>
              <a:rPr lang="en-US" dirty="0"/>
              <a:t> </a:t>
            </a:r>
            <a:r>
              <a:rPr lang="en-US" dirty="0" err="1"/>
              <a:t>образом</a:t>
            </a:r>
            <a:r>
              <a:rPr lang="en-US" dirty="0"/>
              <a:t>, с </a:t>
            </a:r>
            <a:r>
              <a:rPr lang="en-US" dirty="0" err="1"/>
              <a:t>помощью</a:t>
            </a:r>
            <a:r>
              <a:rPr lang="en-US" dirty="0"/>
              <a:t> </a:t>
            </a:r>
            <a:r>
              <a:rPr lang="en-US" sz="1200" kern="1200" dirty="0" err="1">
                <a:solidFill>
                  <a:schemeClr val="tx1"/>
                </a:solidFill>
                <a:latin typeface="+mn-lt"/>
                <a:ea typeface="+mn-ea"/>
                <a:cs typeface="+mn-cs"/>
              </a:rPr>
              <a:t>pwd</a:t>
            </a:r>
            <a:r>
              <a:rPr lang="en-US" dirty="0"/>
              <a:t>, </a:t>
            </a:r>
            <a:r>
              <a:rPr lang="en-US" sz="1200" kern="1200" dirty="0">
                <a:solidFill>
                  <a:schemeClr val="tx1"/>
                </a:solidFill>
                <a:latin typeface="+mn-lt"/>
                <a:ea typeface="+mn-ea"/>
                <a:cs typeface="+mn-cs"/>
              </a:rPr>
              <a:t>ls</a:t>
            </a:r>
            <a:r>
              <a:rPr lang="en-US" dirty="0"/>
              <a:t> и </a:t>
            </a:r>
            <a:r>
              <a:rPr lang="en-US" sz="1200" kern="1200" dirty="0">
                <a:solidFill>
                  <a:schemeClr val="tx1"/>
                </a:solidFill>
                <a:latin typeface="+mn-lt"/>
                <a:ea typeface="+mn-ea"/>
                <a:cs typeface="+mn-cs"/>
              </a:rPr>
              <a:t>cd</a:t>
            </a:r>
            <a:r>
              <a:rPr lang="en-US" dirty="0"/>
              <a:t> </a:t>
            </a:r>
            <a:r>
              <a:rPr lang="en-US" dirty="0" err="1"/>
              <a:t>можно</a:t>
            </a:r>
            <a:r>
              <a:rPr lang="en-US" dirty="0"/>
              <a:t> </a:t>
            </a:r>
            <a:r>
              <a:rPr lang="en-US" dirty="0" err="1"/>
              <a:t>выполнять</a:t>
            </a:r>
            <a:r>
              <a:rPr lang="en-US" dirty="0"/>
              <a:t> </a:t>
            </a:r>
            <a:r>
              <a:rPr lang="en-US" dirty="0" err="1"/>
              <a:t>три</a:t>
            </a:r>
            <a:r>
              <a:rPr lang="en-US" dirty="0"/>
              <a:t> </a:t>
            </a:r>
            <a:r>
              <a:rPr lang="en-US" dirty="0" err="1"/>
              <a:t>основные</a:t>
            </a:r>
            <a:r>
              <a:rPr lang="en-US" dirty="0"/>
              <a:t> </a:t>
            </a:r>
            <a:r>
              <a:rPr lang="en-US" dirty="0" err="1"/>
              <a:t>операции</a:t>
            </a:r>
            <a:r>
              <a:rPr lang="en-US" dirty="0"/>
              <a:t> </a:t>
            </a:r>
            <a:r>
              <a:rPr lang="en-US" dirty="0" err="1"/>
              <a:t>навигации</a:t>
            </a:r>
            <a:r>
              <a:rPr lang="en-US" dirty="0"/>
              <a:t>: </a:t>
            </a:r>
            <a:r>
              <a:rPr lang="en-US" dirty="0" err="1"/>
              <a:t>понять</a:t>
            </a:r>
            <a:r>
              <a:rPr lang="en-US" dirty="0"/>
              <a:t>, </a:t>
            </a:r>
            <a:r>
              <a:rPr lang="en-US" dirty="0" err="1"/>
              <a:t>где</a:t>
            </a:r>
            <a:r>
              <a:rPr lang="en-US" dirty="0"/>
              <a:t> </a:t>
            </a:r>
            <a:r>
              <a:rPr lang="en-US" dirty="0" err="1"/>
              <a:t>мы</a:t>
            </a:r>
            <a:r>
              <a:rPr lang="en-US" dirty="0"/>
              <a:t> </a:t>
            </a:r>
            <a:r>
              <a:rPr lang="en-US" dirty="0" err="1"/>
              <a:t>находимся</a:t>
            </a:r>
            <a:r>
              <a:rPr lang="en-US" dirty="0"/>
              <a:t>, </a:t>
            </a:r>
            <a:r>
              <a:rPr lang="en-US" dirty="0" err="1"/>
              <a:t>посмотреть</a:t>
            </a:r>
            <a:r>
              <a:rPr lang="en-US" dirty="0"/>
              <a:t>, </a:t>
            </a:r>
            <a:r>
              <a:rPr lang="en-US" dirty="0" err="1"/>
              <a:t>что</a:t>
            </a:r>
            <a:r>
              <a:rPr lang="en-US" dirty="0"/>
              <a:t> </a:t>
            </a:r>
            <a:r>
              <a:rPr lang="en-US" dirty="0" err="1"/>
              <a:t>находится</a:t>
            </a:r>
            <a:r>
              <a:rPr lang="en-US" dirty="0"/>
              <a:t> </a:t>
            </a:r>
            <a:r>
              <a:rPr lang="en-US" dirty="0" err="1"/>
              <a:t>вокруг</a:t>
            </a:r>
            <a:r>
              <a:rPr lang="en-US" dirty="0"/>
              <a:t>, и </a:t>
            </a:r>
            <a:r>
              <a:rPr lang="en-US" dirty="0" err="1"/>
              <a:t>перейти</a:t>
            </a:r>
            <a:r>
              <a:rPr lang="en-US" dirty="0"/>
              <a:t> в </a:t>
            </a:r>
            <a:r>
              <a:rPr lang="en-US" dirty="0" err="1"/>
              <a:t>нужное</a:t>
            </a:r>
            <a:r>
              <a:rPr lang="en-US" dirty="0"/>
              <a:t> </a:t>
            </a:r>
            <a:r>
              <a:rPr lang="en-US" dirty="0" err="1"/>
              <a:t>место</a:t>
            </a:r>
            <a:r>
              <a:rPr lang="en-US" dirty="0"/>
              <a:t>.</a:t>
            </a:r>
          </a:p>
          <a:p>
            <a:endParaRPr lang="en-US" dirty="0"/>
          </a:p>
          <a:p>
            <a:r>
              <a:rPr lang="en-US" dirty="0" err="1"/>
              <a:t>На</a:t>
            </a:r>
            <a:r>
              <a:rPr lang="en-US" dirty="0"/>
              <a:t> </a:t>
            </a:r>
            <a:r>
              <a:rPr lang="en-US" dirty="0" err="1"/>
              <a:t>следующем</a:t>
            </a:r>
            <a:r>
              <a:rPr lang="en-US" dirty="0"/>
              <a:t> </a:t>
            </a:r>
            <a:r>
              <a:rPr lang="en-US" dirty="0" err="1"/>
              <a:t>слайде</a:t>
            </a:r>
            <a:r>
              <a:rPr lang="en-US" dirty="0"/>
              <a:t> </a:t>
            </a:r>
            <a:r>
              <a:rPr lang="en-US" dirty="0" err="1"/>
              <a:t>посмотрим</a:t>
            </a:r>
            <a:r>
              <a:rPr lang="en-US" dirty="0"/>
              <a:t> </a:t>
            </a:r>
            <a:r>
              <a:rPr lang="en-US" dirty="0" err="1"/>
              <a:t>на</a:t>
            </a:r>
            <a:r>
              <a:rPr lang="en-US" dirty="0"/>
              <a:t> </a:t>
            </a:r>
            <a:r>
              <a:rPr lang="en-US" dirty="0" err="1"/>
              <a:t>эти</a:t>
            </a:r>
            <a:r>
              <a:rPr lang="en-US" dirty="0"/>
              <a:t> </a:t>
            </a:r>
            <a:r>
              <a:rPr lang="en-US" dirty="0" err="1"/>
              <a:t>команды</a:t>
            </a:r>
            <a:r>
              <a:rPr lang="en-US" dirty="0"/>
              <a:t> </a:t>
            </a:r>
            <a:r>
              <a:rPr lang="en-US" dirty="0" err="1"/>
              <a:t>уже</a:t>
            </a:r>
            <a:r>
              <a:rPr lang="en-US" dirty="0"/>
              <a:t> </a:t>
            </a:r>
            <a:r>
              <a:rPr lang="en-US" dirty="0" err="1"/>
              <a:t>на</a:t>
            </a:r>
            <a:r>
              <a:rPr lang="en-US" dirty="0"/>
              <a:t> </a:t>
            </a:r>
            <a:r>
              <a:rPr lang="en-US" dirty="0" err="1"/>
              <a:t>реальном</a:t>
            </a:r>
            <a:r>
              <a:rPr lang="en-US" dirty="0"/>
              <a:t> </a:t>
            </a:r>
            <a:r>
              <a:rPr lang="en-US" dirty="0" err="1"/>
              <a:t>примере</a:t>
            </a:r>
            <a:r>
              <a:rPr lang="en-US" dirty="0"/>
              <a:t>.</a:t>
            </a:r>
          </a:p>
          <a:p>
            <a:endParaRPr lang="en-US" dirty="0"/>
          </a:p>
        </p:txBody>
      </p:sp>
      <p:sp>
        <p:nvSpPr>
          <p:cNvPr id="4" name="Slide Number Placeholder 3"/>
          <p:cNvSpPr>
            <a:spLocks noGrp="1"/>
          </p:cNvSpPr>
          <p:nvPr>
            <p:ph type="sldNum" sz="quarter" idx="5"/>
          </p:nvPr>
        </p:nvSpPr>
        <p:spPr/>
        <p:txBody>
          <a:bodyPr/>
          <a:lstStyle/>
          <a:p>
            <a:fld id="{A3EE74EF-BE85-44F3-968F-E74DD74A629E}" type="slidenum">
              <a:rPr lang="en-US" smtClean="0"/>
              <a:t>18</a:t>
            </a:fld>
            <a:endParaRPr lang="en-US"/>
          </a:p>
        </p:txBody>
      </p:sp>
    </p:spTree>
    <p:extLst>
      <p:ext uri="{BB962C8B-B14F-4D97-AF65-F5344CB8AC3E}">
        <p14:creationId xmlns:p14="http://schemas.microsoft.com/office/powerpoint/2010/main" val="2647413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Теперь</a:t>
            </a:r>
            <a:r>
              <a:rPr lang="en-US" dirty="0"/>
              <a:t> </a:t>
            </a:r>
            <a:r>
              <a:rPr lang="en-US" dirty="0" err="1"/>
              <a:t>посмотрим</a:t>
            </a:r>
            <a:r>
              <a:rPr lang="en-US" dirty="0"/>
              <a:t>, </a:t>
            </a:r>
            <a:r>
              <a:rPr lang="en-US" dirty="0" err="1"/>
              <a:t>как</a:t>
            </a:r>
            <a:r>
              <a:rPr lang="en-US" dirty="0"/>
              <a:t> </a:t>
            </a:r>
            <a:r>
              <a:rPr lang="en-US" dirty="0" err="1"/>
              <a:t>эти</a:t>
            </a:r>
            <a:r>
              <a:rPr lang="en-US" dirty="0"/>
              <a:t> </a:t>
            </a:r>
            <a:r>
              <a:rPr lang="en-US" dirty="0" err="1"/>
              <a:t>команды</a:t>
            </a:r>
            <a:r>
              <a:rPr lang="en-US" dirty="0"/>
              <a:t> </a:t>
            </a:r>
            <a:r>
              <a:rPr lang="en-US" dirty="0" err="1"/>
              <a:t>работают</a:t>
            </a:r>
            <a:r>
              <a:rPr lang="en-US" dirty="0"/>
              <a:t> </a:t>
            </a:r>
            <a:r>
              <a:rPr lang="en-US" dirty="0" err="1"/>
              <a:t>вместе</a:t>
            </a:r>
            <a:r>
              <a:rPr lang="en-US" dirty="0"/>
              <a:t> </a:t>
            </a:r>
            <a:r>
              <a:rPr lang="en-US" dirty="0" err="1"/>
              <a:t>на</a:t>
            </a:r>
            <a:r>
              <a:rPr lang="en-US" dirty="0"/>
              <a:t> </a:t>
            </a:r>
            <a:r>
              <a:rPr lang="en-US" dirty="0" err="1"/>
              <a:t>реальном</a:t>
            </a:r>
            <a:r>
              <a:rPr lang="en-US" dirty="0"/>
              <a:t> </a:t>
            </a:r>
            <a:r>
              <a:rPr lang="en-US" dirty="0" err="1"/>
              <a:t>примере</a:t>
            </a:r>
            <a:r>
              <a:rPr lang="en-US" dirty="0"/>
              <a:t>.</a:t>
            </a:r>
          </a:p>
          <a:p>
            <a:endParaRPr lang="en-US" dirty="0"/>
          </a:p>
          <a:p>
            <a:r>
              <a:rPr lang="en-US" dirty="0" err="1"/>
              <a:t>Сначала</a:t>
            </a:r>
            <a:r>
              <a:rPr lang="en-US" dirty="0"/>
              <a:t> </a:t>
            </a:r>
            <a:r>
              <a:rPr lang="en-US" dirty="0" err="1"/>
              <a:t>выполняем</a:t>
            </a:r>
            <a:r>
              <a:rPr lang="en-US" dirty="0"/>
              <a:t> </a:t>
            </a:r>
            <a:r>
              <a:rPr lang="en-US" sz="1200" kern="1200" dirty="0" err="1">
                <a:solidFill>
                  <a:schemeClr val="tx1"/>
                </a:solidFill>
                <a:latin typeface="+mn-lt"/>
                <a:ea typeface="+mn-ea"/>
                <a:cs typeface="+mn-cs"/>
              </a:rPr>
              <a:t>pwd</a:t>
            </a:r>
            <a:r>
              <a:rPr lang="en-US" dirty="0"/>
              <a:t> и </a:t>
            </a:r>
            <a:r>
              <a:rPr lang="en-US" dirty="0" err="1"/>
              <a:t>видим</a:t>
            </a:r>
            <a:r>
              <a:rPr lang="en-US" dirty="0"/>
              <a:t>, </a:t>
            </a:r>
            <a:r>
              <a:rPr lang="en-US" dirty="0" err="1"/>
              <a:t>что</a:t>
            </a:r>
            <a:r>
              <a:rPr lang="en-US" dirty="0"/>
              <a:t> </a:t>
            </a:r>
            <a:r>
              <a:rPr lang="en-US" dirty="0" err="1"/>
              <a:t>текущий</a:t>
            </a:r>
            <a:r>
              <a:rPr lang="en-US" dirty="0"/>
              <a:t> </a:t>
            </a:r>
            <a:r>
              <a:rPr lang="en-US" dirty="0" err="1"/>
              <a:t>рабочий</a:t>
            </a:r>
            <a:r>
              <a:rPr lang="en-US" dirty="0"/>
              <a:t> </a:t>
            </a:r>
            <a:r>
              <a:rPr lang="en-US" dirty="0" err="1"/>
              <a:t>каталог</a:t>
            </a:r>
            <a:r>
              <a:rPr lang="en-US" dirty="0"/>
              <a:t> — </a:t>
            </a:r>
            <a:r>
              <a:rPr lang="en-US" sz="1200" kern="1200" dirty="0">
                <a:solidFill>
                  <a:schemeClr val="tx1"/>
                </a:solidFill>
                <a:latin typeface="+mn-lt"/>
                <a:ea typeface="+mn-ea"/>
                <a:cs typeface="+mn-cs"/>
              </a:rPr>
              <a:t>/home/vivid</a:t>
            </a:r>
            <a:r>
              <a:rPr lang="en-US" dirty="0"/>
              <a:t>. </a:t>
            </a:r>
            <a:r>
              <a:rPr lang="en-US" dirty="0" err="1"/>
              <a:t>Символ</a:t>
            </a:r>
            <a:r>
              <a:rPr lang="en-US" dirty="0"/>
              <a:t> </a:t>
            </a:r>
            <a:r>
              <a:rPr lang="en-US" sz="1200" kern="1200" dirty="0">
                <a:solidFill>
                  <a:schemeClr val="tx1"/>
                </a:solidFill>
                <a:latin typeface="+mn-lt"/>
                <a:ea typeface="+mn-ea"/>
                <a:cs typeface="+mn-cs"/>
              </a:rPr>
              <a:t>~</a:t>
            </a:r>
            <a:r>
              <a:rPr lang="en-US" dirty="0"/>
              <a:t> в </a:t>
            </a:r>
            <a:r>
              <a:rPr lang="en-US" dirty="0" err="1"/>
              <a:t>приглашении</a:t>
            </a:r>
            <a:r>
              <a:rPr lang="en-US" dirty="0"/>
              <a:t> </a:t>
            </a:r>
            <a:r>
              <a:rPr lang="en-US" dirty="0" err="1"/>
              <a:t>командной</a:t>
            </a:r>
            <a:r>
              <a:rPr lang="en-US" dirty="0"/>
              <a:t> </a:t>
            </a:r>
            <a:r>
              <a:rPr lang="en-US" dirty="0" err="1"/>
              <a:t>строки</a:t>
            </a:r>
            <a:r>
              <a:rPr lang="en-US" dirty="0"/>
              <a:t> </a:t>
            </a:r>
            <a:r>
              <a:rPr lang="en-US" dirty="0" err="1"/>
              <a:t>как</a:t>
            </a:r>
            <a:r>
              <a:rPr lang="en-US" dirty="0"/>
              <a:t> </a:t>
            </a:r>
            <a:r>
              <a:rPr lang="en-US" dirty="0" err="1"/>
              <a:t>раз</a:t>
            </a:r>
            <a:r>
              <a:rPr lang="en-US" dirty="0"/>
              <a:t> </a:t>
            </a:r>
            <a:r>
              <a:rPr lang="en-US" dirty="0" err="1"/>
              <a:t>обозначает</a:t>
            </a:r>
            <a:r>
              <a:rPr lang="en-US" dirty="0"/>
              <a:t> </a:t>
            </a:r>
            <a:r>
              <a:rPr lang="en-US" dirty="0" err="1"/>
              <a:t>домашний</a:t>
            </a:r>
            <a:r>
              <a:rPr lang="en-US" dirty="0"/>
              <a:t> </a:t>
            </a:r>
            <a:r>
              <a:rPr lang="en-US" dirty="0" err="1"/>
              <a:t>каталог</a:t>
            </a:r>
            <a:r>
              <a:rPr lang="en-US" dirty="0"/>
              <a:t> </a:t>
            </a:r>
            <a:r>
              <a:rPr lang="en-US" dirty="0" err="1"/>
              <a:t>текущего</a:t>
            </a:r>
            <a:r>
              <a:rPr lang="en-US" dirty="0"/>
              <a:t> </a:t>
            </a:r>
            <a:r>
              <a:rPr lang="en-US" dirty="0" err="1"/>
              <a:t>пользователя</a:t>
            </a:r>
            <a:r>
              <a:rPr lang="en-US" dirty="0"/>
              <a:t>.</a:t>
            </a:r>
          </a:p>
          <a:p>
            <a:endParaRPr lang="en-US" dirty="0"/>
          </a:p>
          <a:p>
            <a:r>
              <a:rPr lang="en-US" dirty="0" err="1"/>
              <a:t>Дальше</a:t>
            </a:r>
            <a:r>
              <a:rPr lang="en-US" dirty="0"/>
              <a:t> </a:t>
            </a:r>
            <a:r>
              <a:rPr lang="en-US" dirty="0" err="1"/>
              <a:t>команда</a:t>
            </a:r>
            <a:r>
              <a:rPr lang="en-US" dirty="0"/>
              <a:t> </a:t>
            </a:r>
            <a:r>
              <a:rPr lang="en-US" sz="1200" kern="1200" dirty="0">
                <a:solidFill>
                  <a:schemeClr val="tx1"/>
                </a:solidFill>
                <a:latin typeface="+mn-lt"/>
                <a:ea typeface="+mn-ea"/>
                <a:cs typeface="+mn-cs"/>
              </a:rPr>
              <a:t>ls</a:t>
            </a:r>
            <a:r>
              <a:rPr lang="en-US" dirty="0"/>
              <a:t> </a:t>
            </a:r>
            <a:r>
              <a:rPr lang="en-US" dirty="0" err="1"/>
              <a:t>показывает</a:t>
            </a:r>
            <a:r>
              <a:rPr lang="en-US" dirty="0"/>
              <a:t> </a:t>
            </a:r>
            <a:r>
              <a:rPr lang="en-US" dirty="0" err="1"/>
              <a:t>содержимое</a:t>
            </a:r>
            <a:r>
              <a:rPr lang="en-US" dirty="0"/>
              <a:t> </a:t>
            </a:r>
            <a:r>
              <a:rPr lang="en-US" dirty="0" err="1"/>
              <a:t>этого</a:t>
            </a:r>
            <a:r>
              <a:rPr lang="en-US" dirty="0"/>
              <a:t> </a:t>
            </a:r>
            <a:r>
              <a:rPr lang="en-US" dirty="0" err="1"/>
              <a:t>каталога</a:t>
            </a:r>
            <a:r>
              <a:rPr lang="en-US" dirty="0"/>
              <a:t>. </a:t>
            </a:r>
            <a:r>
              <a:rPr lang="en-US" dirty="0" err="1"/>
              <a:t>Здесь</a:t>
            </a:r>
            <a:r>
              <a:rPr lang="en-US" dirty="0"/>
              <a:t> </a:t>
            </a:r>
            <a:r>
              <a:rPr lang="en-US" dirty="0" err="1"/>
              <a:t>есть</a:t>
            </a:r>
            <a:r>
              <a:rPr lang="en-US" dirty="0"/>
              <a:t> и </a:t>
            </a:r>
            <a:r>
              <a:rPr lang="en-US" dirty="0" err="1"/>
              <a:t>обычные</a:t>
            </a:r>
            <a:r>
              <a:rPr lang="en-US" dirty="0"/>
              <a:t> </a:t>
            </a:r>
            <a:r>
              <a:rPr lang="en-US" dirty="0" err="1"/>
              <a:t>файлы</a:t>
            </a:r>
            <a:r>
              <a:rPr lang="en-US" dirty="0"/>
              <a:t>, и </a:t>
            </a:r>
            <a:r>
              <a:rPr lang="en-US" dirty="0" err="1"/>
              <a:t>каталоги</a:t>
            </a:r>
            <a:r>
              <a:rPr lang="en-US" dirty="0"/>
              <a:t>.</a:t>
            </a:r>
          </a:p>
          <a:p>
            <a:r>
              <a:rPr lang="en-US" dirty="0" err="1"/>
              <a:t>Если</a:t>
            </a:r>
            <a:r>
              <a:rPr lang="en-US" dirty="0"/>
              <a:t> </a:t>
            </a:r>
            <a:r>
              <a:rPr lang="en-US" dirty="0" err="1"/>
              <a:t>выполнить</a:t>
            </a:r>
            <a:r>
              <a:rPr lang="en-US" dirty="0"/>
              <a:t> </a:t>
            </a:r>
            <a:r>
              <a:rPr lang="en-US" sz="1200" kern="1200" dirty="0">
                <a:solidFill>
                  <a:schemeClr val="tx1"/>
                </a:solidFill>
                <a:latin typeface="+mn-lt"/>
                <a:ea typeface="+mn-ea"/>
                <a:cs typeface="+mn-cs"/>
              </a:rPr>
              <a:t>ls -l</a:t>
            </a:r>
            <a:r>
              <a:rPr lang="en-US" dirty="0"/>
              <a:t>, </a:t>
            </a:r>
            <a:r>
              <a:rPr lang="en-US" dirty="0" err="1"/>
              <a:t>мы</a:t>
            </a:r>
            <a:r>
              <a:rPr lang="en-US" dirty="0"/>
              <a:t> </a:t>
            </a:r>
            <a:r>
              <a:rPr lang="en-US" dirty="0" err="1"/>
              <a:t>получим</a:t>
            </a:r>
            <a:r>
              <a:rPr lang="en-US" dirty="0"/>
              <a:t> </a:t>
            </a:r>
            <a:r>
              <a:rPr lang="en-US" dirty="0" err="1"/>
              <a:t>более</a:t>
            </a:r>
            <a:r>
              <a:rPr lang="en-US" dirty="0"/>
              <a:t> </a:t>
            </a:r>
            <a:r>
              <a:rPr lang="en-US" dirty="0" err="1"/>
              <a:t>подробный</a:t>
            </a:r>
            <a:r>
              <a:rPr lang="en-US" dirty="0"/>
              <a:t> </a:t>
            </a:r>
            <a:r>
              <a:rPr lang="en-US" dirty="0" err="1"/>
              <a:t>вывод</a:t>
            </a:r>
            <a:r>
              <a:rPr lang="en-US" dirty="0"/>
              <a:t>. В </a:t>
            </a:r>
            <a:r>
              <a:rPr lang="en-US" dirty="0" err="1"/>
              <a:t>начале</a:t>
            </a:r>
            <a:r>
              <a:rPr lang="en-US" dirty="0"/>
              <a:t> </a:t>
            </a:r>
            <a:r>
              <a:rPr lang="en-US" dirty="0" err="1"/>
              <a:t>каждой</a:t>
            </a:r>
            <a:r>
              <a:rPr lang="en-US" dirty="0"/>
              <a:t> </a:t>
            </a:r>
            <a:r>
              <a:rPr lang="en-US" dirty="0" err="1"/>
              <a:t>строки</a:t>
            </a:r>
            <a:r>
              <a:rPr lang="en-US" dirty="0"/>
              <a:t> </a:t>
            </a:r>
            <a:r>
              <a:rPr lang="en-US" dirty="0" err="1"/>
              <a:t>видно</a:t>
            </a:r>
            <a:r>
              <a:rPr lang="en-US" dirty="0"/>
              <a:t> </a:t>
            </a:r>
            <a:r>
              <a:rPr lang="en-US" dirty="0" err="1"/>
              <a:t>тип</a:t>
            </a:r>
            <a:r>
              <a:rPr lang="en-US" dirty="0"/>
              <a:t> </a:t>
            </a:r>
            <a:r>
              <a:rPr lang="en-US" dirty="0" err="1"/>
              <a:t>объекта</a:t>
            </a:r>
            <a:r>
              <a:rPr lang="en-US" dirty="0"/>
              <a:t> и </a:t>
            </a:r>
            <a:r>
              <a:rPr lang="en-US" dirty="0" err="1"/>
              <a:t>его</a:t>
            </a:r>
            <a:r>
              <a:rPr lang="en-US" dirty="0"/>
              <a:t> </a:t>
            </a:r>
            <a:r>
              <a:rPr lang="en-US" dirty="0" err="1"/>
              <a:t>права</a:t>
            </a:r>
            <a:r>
              <a:rPr lang="en-US" dirty="0"/>
              <a:t> </a:t>
            </a:r>
            <a:r>
              <a:rPr lang="en-US" dirty="0" err="1"/>
              <a:t>доступа</a:t>
            </a:r>
            <a:r>
              <a:rPr lang="en-US" dirty="0"/>
              <a:t>. </a:t>
            </a:r>
            <a:r>
              <a:rPr lang="en-US" dirty="0" err="1"/>
              <a:t>Например</a:t>
            </a:r>
            <a:r>
              <a:rPr lang="en-US" dirty="0"/>
              <a:t>, </a:t>
            </a:r>
            <a:r>
              <a:rPr lang="en-US" dirty="0" err="1"/>
              <a:t>строки</a:t>
            </a:r>
            <a:r>
              <a:rPr lang="en-US" dirty="0"/>
              <a:t>, </a:t>
            </a:r>
            <a:r>
              <a:rPr lang="en-US" dirty="0" err="1"/>
              <a:t>начинающиеся</a:t>
            </a:r>
            <a:r>
              <a:rPr lang="en-US" dirty="0"/>
              <a:t> с </a:t>
            </a:r>
            <a:r>
              <a:rPr lang="en-US" sz="1200" kern="1200" dirty="0">
                <a:solidFill>
                  <a:schemeClr val="tx1"/>
                </a:solidFill>
                <a:latin typeface="+mn-lt"/>
                <a:ea typeface="+mn-ea"/>
                <a:cs typeface="+mn-cs"/>
              </a:rPr>
              <a:t>d</a:t>
            </a:r>
            <a:r>
              <a:rPr lang="en-US" dirty="0"/>
              <a:t>, </a:t>
            </a:r>
            <a:r>
              <a:rPr lang="en-US" dirty="0" err="1"/>
              <a:t>соответствуют</a:t>
            </a:r>
            <a:r>
              <a:rPr lang="en-US" dirty="0"/>
              <a:t> </a:t>
            </a:r>
            <a:r>
              <a:rPr lang="en-US" dirty="0" err="1"/>
              <a:t>каталогам</a:t>
            </a:r>
            <a:r>
              <a:rPr lang="en-US" dirty="0"/>
              <a:t>, а </a:t>
            </a:r>
            <a:r>
              <a:rPr lang="en-US" dirty="0" err="1"/>
              <a:t>строка</a:t>
            </a:r>
            <a:r>
              <a:rPr lang="en-US" dirty="0"/>
              <a:t> с </a:t>
            </a:r>
            <a:r>
              <a:rPr lang="en-US" dirty="0" err="1"/>
              <a:t>обычным</a:t>
            </a:r>
            <a:r>
              <a:rPr lang="en-US" dirty="0"/>
              <a:t> </a:t>
            </a:r>
            <a:r>
              <a:rPr lang="en-US" dirty="0" err="1"/>
              <a:t>дефисом</a:t>
            </a:r>
            <a:r>
              <a:rPr lang="en-US" dirty="0"/>
              <a:t> — </a:t>
            </a:r>
            <a:r>
              <a:rPr lang="en-US" dirty="0" err="1"/>
              <a:t>обычному</a:t>
            </a:r>
            <a:r>
              <a:rPr lang="en-US" dirty="0"/>
              <a:t> </a:t>
            </a:r>
            <a:r>
              <a:rPr lang="en-US" dirty="0" err="1"/>
              <a:t>файлу</a:t>
            </a:r>
            <a:r>
              <a:rPr lang="en-US" dirty="0"/>
              <a:t>. </a:t>
            </a:r>
            <a:r>
              <a:rPr lang="en-US" dirty="0" err="1"/>
              <a:t>Здесь</a:t>
            </a:r>
            <a:r>
              <a:rPr lang="en-US" dirty="0"/>
              <a:t> </a:t>
            </a:r>
            <a:r>
              <a:rPr lang="en-US" dirty="0" err="1"/>
              <a:t>же</a:t>
            </a:r>
            <a:r>
              <a:rPr lang="en-US" dirty="0"/>
              <a:t> </a:t>
            </a:r>
            <a:r>
              <a:rPr lang="en-US" dirty="0" err="1"/>
              <a:t>отображаются</a:t>
            </a:r>
            <a:r>
              <a:rPr lang="en-US" dirty="0"/>
              <a:t> </a:t>
            </a:r>
            <a:r>
              <a:rPr lang="en-US" dirty="0" err="1"/>
              <a:t>владелец</a:t>
            </a:r>
            <a:r>
              <a:rPr lang="en-US" dirty="0"/>
              <a:t>, </a:t>
            </a:r>
            <a:r>
              <a:rPr lang="en-US" dirty="0" err="1"/>
              <a:t>группа</a:t>
            </a:r>
            <a:r>
              <a:rPr lang="en-US" dirty="0"/>
              <a:t>, </a:t>
            </a:r>
            <a:r>
              <a:rPr lang="en-US" dirty="0" err="1"/>
              <a:t>размер</a:t>
            </a:r>
            <a:r>
              <a:rPr lang="en-US" dirty="0"/>
              <a:t> и </a:t>
            </a:r>
            <a:r>
              <a:rPr lang="en-US" dirty="0" err="1"/>
              <a:t>время</a:t>
            </a:r>
            <a:r>
              <a:rPr lang="en-US" dirty="0"/>
              <a:t> </a:t>
            </a:r>
            <a:r>
              <a:rPr lang="en-US" dirty="0" err="1"/>
              <a:t>последнего</a:t>
            </a:r>
            <a:r>
              <a:rPr lang="en-US" dirty="0"/>
              <a:t> </a:t>
            </a:r>
            <a:r>
              <a:rPr lang="en-US" dirty="0" err="1"/>
              <a:t>изменения</a:t>
            </a:r>
            <a:r>
              <a:rPr lang="en-US" dirty="0"/>
              <a:t>.</a:t>
            </a:r>
          </a:p>
          <a:p>
            <a:endParaRPr lang="en-US" dirty="0"/>
          </a:p>
          <a:p>
            <a:r>
              <a:rPr lang="en-US" dirty="0" err="1"/>
              <a:t>Можно</a:t>
            </a:r>
            <a:r>
              <a:rPr lang="en-US" dirty="0"/>
              <a:t> </a:t>
            </a:r>
            <a:r>
              <a:rPr lang="en-US" dirty="0" err="1"/>
              <a:t>заметить</a:t>
            </a:r>
            <a:r>
              <a:rPr lang="en-US" dirty="0"/>
              <a:t> и </a:t>
            </a:r>
            <a:r>
              <a:rPr lang="en-US" dirty="0" err="1"/>
              <a:t>символическую</a:t>
            </a:r>
            <a:r>
              <a:rPr lang="en-US" dirty="0"/>
              <a:t> </a:t>
            </a:r>
            <a:r>
              <a:rPr lang="en-US" dirty="0" err="1"/>
              <a:t>ссылку</a:t>
            </a:r>
            <a:r>
              <a:rPr lang="en-US" dirty="0"/>
              <a:t>: </a:t>
            </a:r>
            <a:r>
              <a:rPr lang="en-US" sz="1200" kern="1200" dirty="0">
                <a:solidFill>
                  <a:schemeClr val="tx1"/>
                </a:solidFill>
                <a:latin typeface="+mn-lt"/>
                <a:ea typeface="+mn-ea"/>
                <a:cs typeface="+mn-cs"/>
              </a:rPr>
              <a:t>source -&gt; /</a:t>
            </a:r>
            <a:r>
              <a:rPr lang="en-US" sz="1200" kern="1200" dirty="0" err="1">
                <a:solidFill>
                  <a:schemeClr val="tx1"/>
                </a:solidFill>
                <a:latin typeface="+mn-lt"/>
                <a:ea typeface="+mn-ea"/>
                <a:cs typeface="+mn-cs"/>
              </a:rPr>
              <a:t>mnt</a:t>
            </a:r>
            <a:r>
              <a:rPr lang="en-US" sz="1200" kern="1200" dirty="0">
                <a:solidFill>
                  <a:schemeClr val="tx1"/>
                </a:solidFill>
                <a:latin typeface="+mn-lt"/>
                <a:ea typeface="+mn-ea"/>
                <a:cs typeface="+mn-cs"/>
              </a:rPr>
              <a:t>/source/</a:t>
            </a:r>
            <a:r>
              <a:rPr lang="en-US" dirty="0"/>
              <a:t>. </a:t>
            </a:r>
            <a:r>
              <a:rPr lang="en-US" dirty="0" err="1"/>
              <a:t>Буква</a:t>
            </a:r>
            <a:r>
              <a:rPr lang="en-US" dirty="0"/>
              <a:t> </a:t>
            </a:r>
            <a:r>
              <a:rPr lang="en-US" sz="1200" kern="1200" dirty="0">
                <a:solidFill>
                  <a:schemeClr val="tx1"/>
                </a:solidFill>
                <a:latin typeface="+mn-lt"/>
                <a:ea typeface="+mn-ea"/>
                <a:cs typeface="+mn-cs"/>
              </a:rPr>
              <a:t>l</a:t>
            </a:r>
            <a:r>
              <a:rPr lang="en-US" dirty="0"/>
              <a:t> в </a:t>
            </a:r>
            <a:r>
              <a:rPr lang="en-US" dirty="0" err="1"/>
              <a:t>начале</a:t>
            </a:r>
            <a:r>
              <a:rPr lang="en-US" dirty="0"/>
              <a:t> </a:t>
            </a:r>
            <a:r>
              <a:rPr lang="en-US" dirty="0" err="1"/>
              <a:t>строки</a:t>
            </a:r>
            <a:r>
              <a:rPr lang="en-US" dirty="0"/>
              <a:t> </a:t>
            </a:r>
            <a:r>
              <a:rPr lang="en-US" dirty="0" err="1"/>
              <a:t>означает</a:t>
            </a:r>
            <a:r>
              <a:rPr lang="en-US" dirty="0"/>
              <a:t> link, а </a:t>
            </a:r>
            <a:r>
              <a:rPr lang="en-US" dirty="0" err="1"/>
              <a:t>стрелка</a:t>
            </a:r>
            <a:r>
              <a:rPr lang="en-US" dirty="0"/>
              <a:t> </a:t>
            </a:r>
            <a:r>
              <a:rPr lang="en-US" dirty="0" err="1"/>
              <a:t>показывает</a:t>
            </a:r>
            <a:r>
              <a:rPr lang="en-US" dirty="0"/>
              <a:t>, </a:t>
            </a:r>
            <a:r>
              <a:rPr lang="en-US" dirty="0" err="1"/>
              <a:t>куда</a:t>
            </a:r>
            <a:r>
              <a:rPr lang="en-US" dirty="0"/>
              <a:t> </a:t>
            </a:r>
            <a:r>
              <a:rPr lang="en-US" dirty="0" err="1"/>
              <a:t>эта</a:t>
            </a:r>
            <a:r>
              <a:rPr lang="en-US" dirty="0"/>
              <a:t> </a:t>
            </a:r>
            <a:r>
              <a:rPr lang="en-US" dirty="0" err="1"/>
              <a:t>ссылка</a:t>
            </a:r>
            <a:r>
              <a:rPr lang="en-US" dirty="0"/>
              <a:t> </a:t>
            </a:r>
            <a:r>
              <a:rPr lang="en-US" dirty="0" err="1"/>
              <a:t>ведёт</a:t>
            </a:r>
            <a:r>
              <a:rPr lang="en-US" dirty="0"/>
              <a:t>.</a:t>
            </a:r>
          </a:p>
          <a:p>
            <a:endParaRPr lang="en-US" dirty="0"/>
          </a:p>
          <a:p>
            <a:r>
              <a:rPr lang="en-US" dirty="0" err="1"/>
              <a:t>Теперь</a:t>
            </a:r>
            <a:r>
              <a:rPr lang="en-US" dirty="0"/>
              <a:t> </a:t>
            </a:r>
            <a:r>
              <a:rPr lang="en-US" dirty="0" err="1"/>
              <a:t>используем</a:t>
            </a:r>
            <a:r>
              <a:rPr lang="en-US" dirty="0"/>
              <a:t> </a:t>
            </a:r>
            <a:r>
              <a:rPr lang="en-US" sz="1200" kern="1200" dirty="0">
                <a:solidFill>
                  <a:schemeClr val="tx1"/>
                </a:solidFill>
                <a:latin typeface="+mn-lt"/>
                <a:ea typeface="+mn-ea"/>
                <a:cs typeface="+mn-cs"/>
              </a:rPr>
              <a:t>ls -a</a:t>
            </a:r>
            <a:r>
              <a:rPr lang="en-US" dirty="0"/>
              <a:t>. В </a:t>
            </a:r>
            <a:r>
              <a:rPr lang="en-US" dirty="0" err="1"/>
              <a:t>выводе</a:t>
            </a:r>
            <a:r>
              <a:rPr lang="en-US" dirty="0"/>
              <a:t> </a:t>
            </a:r>
            <a:r>
              <a:rPr lang="en-US" dirty="0" err="1"/>
              <a:t>появляются</a:t>
            </a:r>
            <a:r>
              <a:rPr lang="en-US" dirty="0"/>
              <a:t> </a:t>
            </a:r>
            <a:r>
              <a:rPr lang="en-US" dirty="0" err="1"/>
              <a:t>файлы</a:t>
            </a:r>
            <a:r>
              <a:rPr lang="en-US" dirty="0"/>
              <a:t> и </a:t>
            </a:r>
            <a:r>
              <a:rPr lang="en-US" dirty="0" err="1"/>
              <a:t>каталоги</a:t>
            </a:r>
            <a:r>
              <a:rPr lang="en-US" dirty="0"/>
              <a:t>, </a:t>
            </a:r>
            <a:r>
              <a:rPr lang="en-US" dirty="0" err="1"/>
              <a:t>имена</a:t>
            </a:r>
            <a:r>
              <a:rPr lang="en-US" dirty="0"/>
              <a:t> </a:t>
            </a:r>
            <a:r>
              <a:rPr lang="en-US" dirty="0" err="1"/>
              <a:t>которых</a:t>
            </a:r>
            <a:r>
              <a:rPr lang="en-US" dirty="0"/>
              <a:t> </a:t>
            </a:r>
            <a:r>
              <a:rPr lang="en-US" dirty="0" err="1"/>
              <a:t>начинаются</a:t>
            </a:r>
            <a:r>
              <a:rPr lang="en-US" dirty="0"/>
              <a:t> с </a:t>
            </a:r>
            <a:r>
              <a:rPr lang="en-US" dirty="0" err="1"/>
              <a:t>точки</a:t>
            </a:r>
            <a:r>
              <a:rPr lang="en-US" dirty="0"/>
              <a:t>: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bashrc</a:t>
            </a:r>
            <a:r>
              <a:rPr lang="en-US" dirty="0"/>
              <a:t>, </a:t>
            </a:r>
            <a:r>
              <a:rPr lang="en-US" sz="1200" kern="1200" dirty="0">
                <a:solidFill>
                  <a:schemeClr val="tx1"/>
                </a:solidFill>
                <a:latin typeface="+mn-lt"/>
                <a:ea typeface="+mn-ea"/>
                <a:cs typeface="+mn-cs"/>
              </a:rPr>
              <a:t>.config</a:t>
            </a:r>
            <a:r>
              <a:rPr lang="en-US" dirty="0"/>
              <a:t>, </a:t>
            </a:r>
            <a:r>
              <a:rPr lang="en-US" sz="1200" kern="1200" dirty="0">
                <a:solidFill>
                  <a:schemeClr val="tx1"/>
                </a:solidFill>
                <a:latin typeface="+mn-lt"/>
                <a:ea typeface="+mn-ea"/>
                <a:cs typeface="+mn-cs"/>
              </a:rPr>
              <a:t>.ssh</a:t>
            </a:r>
            <a:r>
              <a:rPr lang="en-US" dirty="0"/>
              <a:t> и </a:t>
            </a:r>
            <a:r>
              <a:rPr lang="en-US" dirty="0" err="1"/>
              <a:t>другие</a:t>
            </a:r>
            <a:r>
              <a:rPr lang="en-US" dirty="0"/>
              <a:t>. </a:t>
            </a:r>
            <a:r>
              <a:rPr lang="en-US" dirty="0" err="1"/>
              <a:t>Обычно</a:t>
            </a:r>
            <a:r>
              <a:rPr lang="en-US" dirty="0"/>
              <a:t> </a:t>
            </a:r>
            <a:r>
              <a:rPr lang="en-US" dirty="0" err="1"/>
              <a:t>это</a:t>
            </a:r>
            <a:r>
              <a:rPr lang="en-US" dirty="0"/>
              <a:t> </a:t>
            </a:r>
            <a:r>
              <a:rPr lang="en-US" dirty="0" err="1"/>
              <a:t>служебные</a:t>
            </a:r>
            <a:r>
              <a:rPr lang="en-US" dirty="0"/>
              <a:t> </a:t>
            </a:r>
            <a:r>
              <a:rPr lang="en-US" dirty="0" err="1"/>
              <a:t>или</a:t>
            </a:r>
            <a:r>
              <a:rPr lang="en-US" dirty="0"/>
              <a:t> </a:t>
            </a:r>
            <a:r>
              <a:rPr lang="en-US" dirty="0" err="1"/>
              <a:t>конфигурационные</a:t>
            </a:r>
            <a:r>
              <a:rPr lang="en-US" dirty="0"/>
              <a:t> </a:t>
            </a:r>
            <a:r>
              <a:rPr lang="en-US" dirty="0" err="1"/>
              <a:t>файлы</a:t>
            </a:r>
            <a:r>
              <a:rPr lang="en-US" dirty="0"/>
              <a:t>, </a:t>
            </a:r>
            <a:r>
              <a:rPr lang="en-US" dirty="0" err="1"/>
              <a:t>поэтому</a:t>
            </a:r>
            <a:r>
              <a:rPr lang="en-US" dirty="0"/>
              <a:t> </a:t>
            </a:r>
            <a:r>
              <a:rPr lang="en-US" dirty="0" err="1"/>
              <a:t>без</a:t>
            </a:r>
            <a:r>
              <a:rPr lang="en-US" dirty="0"/>
              <a:t> </a:t>
            </a:r>
            <a:r>
              <a:rPr lang="en-US" dirty="0" err="1"/>
              <a:t>ключа</a:t>
            </a:r>
            <a:r>
              <a:rPr lang="en-US" dirty="0"/>
              <a:t> </a:t>
            </a:r>
            <a:r>
              <a:rPr lang="en-US" sz="1200" kern="1200" dirty="0">
                <a:solidFill>
                  <a:schemeClr val="tx1"/>
                </a:solidFill>
                <a:latin typeface="+mn-lt"/>
                <a:ea typeface="+mn-ea"/>
                <a:cs typeface="+mn-cs"/>
              </a:rPr>
              <a:t>-a</a:t>
            </a:r>
            <a:r>
              <a:rPr lang="en-US" dirty="0"/>
              <a:t> </a:t>
            </a:r>
            <a:r>
              <a:rPr lang="en-US" dirty="0" err="1"/>
              <a:t>они</a:t>
            </a:r>
            <a:r>
              <a:rPr lang="en-US" dirty="0"/>
              <a:t> </a:t>
            </a:r>
            <a:r>
              <a:rPr lang="en-US" dirty="0" err="1"/>
              <a:t>скрыты</a:t>
            </a:r>
            <a:r>
              <a:rPr lang="en-US" dirty="0"/>
              <a:t>.</a:t>
            </a:r>
          </a:p>
          <a:p>
            <a:endParaRPr lang="en-US" dirty="0"/>
          </a:p>
          <a:p>
            <a:r>
              <a:rPr lang="en-US" dirty="0" err="1"/>
              <a:t>Обратите</a:t>
            </a:r>
            <a:r>
              <a:rPr lang="en-US" dirty="0"/>
              <a:t> </a:t>
            </a:r>
            <a:r>
              <a:rPr lang="en-US" dirty="0" err="1"/>
              <a:t>внимание</a:t>
            </a:r>
            <a:r>
              <a:rPr lang="en-US" dirty="0"/>
              <a:t> </a:t>
            </a:r>
            <a:r>
              <a:rPr lang="en-US" dirty="0" err="1"/>
              <a:t>также</a:t>
            </a:r>
            <a:r>
              <a:rPr lang="en-US" dirty="0"/>
              <a:t> </a:t>
            </a:r>
            <a:r>
              <a:rPr lang="en-US" dirty="0" err="1"/>
              <a:t>на</a:t>
            </a:r>
            <a:r>
              <a:rPr lang="en-US" dirty="0"/>
              <a:t> </a:t>
            </a:r>
            <a:r>
              <a:rPr lang="en-US" dirty="0" err="1"/>
              <a:t>две</a:t>
            </a:r>
            <a:r>
              <a:rPr lang="en-US" dirty="0"/>
              <a:t> </a:t>
            </a:r>
            <a:r>
              <a:rPr lang="en-US" dirty="0" err="1"/>
              <a:t>специальные</a:t>
            </a:r>
            <a:r>
              <a:rPr lang="en-US" dirty="0"/>
              <a:t> </a:t>
            </a:r>
            <a:r>
              <a:rPr lang="en-US" dirty="0" err="1"/>
              <a:t>записи</a:t>
            </a:r>
            <a:r>
              <a:rPr lang="en-US" dirty="0"/>
              <a:t>: </a:t>
            </a:r>
            <a:r>
              <a:rPr lang="en-US" sz="1200" kern="1200" dirty="0">
                <a:solidFill>
                  <a:schemeClr val="tx1"/>
                </a:solidFill>
                <a:latin typeface="+mn-lt"/>
                <a:ea typeface="+mn-ea"/>
                <a:cs typeface="+mn-cs"/>
              </a:rPr>
              <a:t>.</a:t>
            </a:r>
            <a:r>
              <a:rPr lang="en-US" dirty="0"/>
              <a:t> </a:t>
            </a:r>
            <a:r>
              <a:rPr lang="en-US" dirty="0" err="1"/>
              <a:t>обозначает</a:t>
            </a:r>
            <a:r>
              <a:rPr lang="en-US" dirty="0"/>
              <a:t> </a:t>
            </a:r>
            <a:r>
              <a:rPr lang="en-US" dirty="0" err="1"/>
              <a:t>текущий</a:t>
            </a:r>
            <a:r>
              <a:rPr lang="en-US" dirty="0"/>
              <a:t> </a:t>
            </a:r>
            <a:r>
              <a:rPr lang="en-US" dirty="0" err="1"/>
              <a:t>каталог</a:t>
            </a:r>
            <a:r>
              <a:rPr lang="en-US" dirty="0"/>
              <a:t>, а </a:t>
            </a:r>
            <a:r>
              <a:rPr lang="en-US" sz="1200" kern="1200" dirty="0">
                <a:solidFill>
                  <a:schemeClr val="tx1"/>
                </a:solidFill>
                <a:latin typeface="+mn-lt"/>
                <a:ea typeface="+mn-ea"/>
                <a:cs typeface="+mn-cs"/>
              </a:rPr>
              <a:t>..</a:t>
            </a:r>
            <a:r>
              <a:rPr lang="en-US" dirty="0"/>
              <a:t> — </a:t>
            </a:r>
            <a:r>
              <a:rPr lang="en-US" dirty="0" err="1"/>
              <a:t>родительский</a:t>
            </a:r>
            <a:r>
              <a:rPr lang="en-US" dirty="0"/>
              <a:t>.</a:t>
            </a:r>
          </a:p>
          <a:p>
            <a:r>
              <a:rPr lang="en-US" dirty="0" err="1"/>
              <a:t>Именно</a:t>
            </a:r>
            <a:r>
              <a:rPr lang="en-US" dirty="0"/>
              <a:t> </a:t>
            </a:r>
            <a:r>
              <a:rPr lang="en-US" dirty="0" err="1"/>
              <a:t>поэтому</a:t>
            </a:r>
            <a:r>
              <a:rPr lang="en-US" dirty="0"/>
              <a:t> </a:t>
            </a:r>
            <a:r>
              <a:rPr lang="en-US" dirty="0" err="1"/>
              <a:t>команда</a:t>
            </a:r>
            <a:r>
              <a:rPr lang="en-US" dirty="0"/>
              <a:t> </a:t>
            </a:r>
            <a:r>
              <a:rPr lang="en-US" sz="1200" kern="1200" dirty="0">
                <a:solidFill>
                  <a:schemeClr val="tx1"/>
                </a:solidFill>
                <a:latin typeface="+mn-lt"/>
                <a:ea typeface="+mn-ea"/>
                <a:cs typeface="+mn-cs"/>
              </a:rPr>
              <a:t>cd ..</a:t>
            </a:r>
            <a:r>
              <a:rPr lang="en-US" dirty="0"/>
              <a:t> </a:t>
            </a:r>
            <a:r>
              <a:rPr lang="en-US" dirty="0" err="1"/>
              <a:t>переводит</a:t>
            </a:r>
            <a:r>
              <a:rPr lang="en-US" dirty="0"/>
              <a:t> </a:t>
            </a:r>
            <a:r>
              <a:rPr lang="en-US" dirty="0" err="1"/>
              <a:t>нас</a:t>
            </a:r>
            <a:r>
              <a:rPr lang="en-US" dirty="0"/>
              <a:t> </a:t>
            </a:r>
            <a:r>
              <a:rPr lang="en-US" dirty="0" err="1"/>
              <a:t>на</a:t>
            </a:r>
            <a:r>
              <a:rPr lang="en-US" dirty="0"/>
              <a:t> </a:t>
            </a:r>
            <a:r>
              <a:rPr lang="en-US" dirty="0" err="1"/>
              <a:t>уровень</a:t>
            </a:r>
            <a:r>
              <a:rPr lang="en-US" dirty="0"/>
              <a:t> </a:t>
            </a:r>
            <a:r>
              <a:rPr lang="en-US" dirty="0" err="1"/>
              <a:t>выше</a:t>
            </a:r>
            <a:r>
              <a:rPr lang="en-US" dirty="0"/>
              <a:t>. </a:t>
            </a:r>
            <a:r>
              <a:rPr lang="en-US" dirty="0" err="1"/>
              <a:t>Мы</a:t>
            </a:r>
            <a:r>
              <a:rPr lang="en-US" dirty="0"/>
              <a:t> </a:t>
            </a:r>
            <a:r>
              <a:rPr lang="en-US" dirty="0" err="1"/>
              <a:t>находились</a:t>
            </a:r>
            <a:r>
              <a:rPr lang="en-US" dirty="0"/>
              <a:t> в </a:t>
            </a:r>
            <a:r>
              <a:rPr lang="en-US" sz="1200" kern="1200" dirty="0">
                <a:solidFill>
                  <a:schemeClr val="tx1"/>
                </a:solidFill>
                <a:latin typeface="+mn-lt"/>
                <a:ea typeface="+mn-ea"/>
                <a:cs typeface="+mn-cs"/>
              </a:rPr>
              <a:t>/home/vivid</a:t>
            </a:r>
            <a:r>
              <a:rPr lang="en-US" dirty="0"/>
              <a:t>, а </a:t>
            </a:r>
            <a:r>
              <a:rPr lang="en-US" dirty="0" err="1"/>
              <a:t>после</a:t>
            </a:r>
            <a:r>
              <a:rPr lang="en-US" dirty="0"/>
              <a:t> </a:t>
            </a:r>
            <a:r>
              <a:rPr lang="en-US" dirty="0" err="1"/>
              <a:t>перехода</a:t>
            </a:r>
            <a:r>
              <a:rPr lang="en-US" dirty="0"/>
              <a:t> </a:t>
            </a:r>
            <a:r>
              <a:rPr lang="en-US" dirty="0" err="1"/>
              <a:t>оказываемся</a:t>
            </a:r>
            <a:r>
              <a:rPr lang="en-US" dirty="0"/>
              <a:t> в </a:t>
            </a:r>
            <a:r>
              <a:rPr lang="en-US" sz="1200" kern="1200" dirty="0">
                <a:solidFill>
                  <a:schemeClr val="tx1"/>
                </a:solidFill>
                <a:latin typeface="+mn-lt"/>
                <a:ea typeface="+mn-ea"/>
                <a:cs typeface="+mn-cs"/>
              </a:rPr>
              <a:t>/home</a:t>
            </a:r>
            <a:r>
              <a:rPr lang="en-US" dirty="0"/>
              <a:t>.</a:t>
            </a:r>
          </a:p>
          <a:p>
            <a:endParaRPr lang="en-US" dirty="0"/>
          </a:p>
          <a:p>
            <a:r>
              <a:rPr lang="en-US" dirty="0" err="1"/>
              <a:t>Если</a:t>
            </a:r>
            <a:r>
              <a:rPr lang="en-US" dirty="0"/>
              <a:t> </a:t>
            </a:r>
            <a:r>
              <a:rPr lang="en-US" dirty="0" err="1"/>
              <a:t>теперь</a:t>
            </a:r>
            <a:r>
              <a:rPr lang="en-US" dirty="0"/>
              <a:t> </a:t>
            </a:r>
            <a:r>
              <a:rPr lang="en-US" dirty="0" err="1"/>
              <a:t>выполнить</a:t>
            </a:r>
            <a:r>
              <a:rPr lang="en-US" dirty="0"/>
              <a:t> </a:t>
            </a:r>
            <a:r>
              <a:rPr lang="en-US" sz="1200" kern="1200" dirty="0">
                <a:solidFill>
                  <a:schemeClr val="tx1"/>
                </a:solidFill>
                <a:latin typeface="+mn-lt"/>
                <a:ea typeface="+mn-ea"/>
                <a:cs typeface="+mn-cs"/>
              </a:rPr>
              <a:t>ls</a:t>
            </a:r>
            <a:r>
              <a:rPr lang="en-US" dirty="0"/>
              <a:t>, </a:t>
            </a:r>
            <a:r>
              <a:rPr lang="en-US" dirty="0" err="1"/>
              <a:t>мы</a:t>
            </a:r>
            <a:r>
              <a:rPr lang="en-US" dirty="0"/>
              <a:t> </a:t>
            </a:r>
            <a:r>
              <a:rPr lang="en-US" dirty="0" err="1"/>
              <a:t>видим</a:t>
            </a:r>
            <a:r>
              <a:rPr lang="en-US" dirty="0"/>
              <a:t> </a:t>
            </a:r>
            <a:r>
              <a:rPr lang="en-US" dirty="0" err="1"/>
              <a:t>каталог</a:t>
            </a:r>
            <a:r>
              <a:rPr lang="en-US" dirty="0"/>
              <a:t> </a:t>
            </a:r>
            <a:r>
              <a:rPr lang="en-US" sz="1200" kern="1200" dirty="0">
                <a:solidFill>
                  <a:schemeClr val="tx1"/>
                </a:solidFill>
                <a:latin typeface="+mn-lt"/>
                <a:ea typeface="+mn-ea"/>
                <a:cs typeface="+mn-cs"/>
              </a:rPr>
              <a:t>vivid</a:t>
            </a:r>
            <a:r>
              <a:rPr lang="en-US" dirty="0"/>
              <a:t>. </a:t>
            </a:r>
            <a:r>
              <a:rPr lang="en-US" dirty="0" err="1"/>
              <a:t>То</a:t>
            </a:r>
            <a:r>
              <a:rPr lang="en-US" dirty="0"/>
              <a:t> </a:t>
            </a:r>
            <a:r>
              <a:rPr lang="en-US" dirty="0" err="1"/>
              <a:t>есть</a:t>
            </a:r>
            <a:r>
              <a:rPr lang="en-US" dirty="0"/>
              <a:t> </a:t>
            </a:r>
            <a:r>
              <a:rPr lang="en-US" dirty="0" err="1"/>
              <a:t>можно</a:t>
            </a:r>
            <a:r>
              <a:rPr lang="en-US" dirty="0"/>
              <a:t> </a:t>
            </a:r>
            <a:r>
              <a:rPr lang="en-US" dirty="0" err="1"/>
              <a:t>проследить</a:t>
            </a:r>
            <a:r>
              <a:rPr lang="en-US" dirty="0"/>
              <a:t> </a:t>
            </a:r>
            <a:r>
              <a:rPr lang="en-US" dirty="0" err="1"/>
              <a:t>структуру</a:t>
            </a:r>
            <a:r>
              <a:rPr lang="en-US" dirty="0"/>
              <a:t> </a:t>
            </a:r>
            <a:r>
              <a:rPr lang="en-US" dirty="0" err="1"/>
              <a:t>файловой</a:t>
            </a:r>
            <a:r>
              <a:rPr lang="en-US" dirty="0"/>
              <a:t> </a:t>
            </a:r>
            <a:r>
              <a:rPr lang="en-US" dirty="0" err="1"/>
              <a:t>системы</a:t>
            </a:r>
            <a:r>
              <a:rPr lang="en-US" dirty="0"/>
              <a:t> </a:t>
            </a:r>
            <a:r>
              <a:rPr lang="en-US" dirty="0" err="1"/>
              <a:t>как</a:t>
            </a:r>
            <a:r>
              <a:rPr lang="en-US" dirty="0"/>
              <a:t> </a:t>
            </a:r>
            <a:r>
              <a:rPr lang="en-US" dirty="0" err="1"/>
              <a:t>дерево</a:t>
            </a:r>
            <a:r>
              <a:rPr lang="en-US" dirty="0"/>
              <a:t>: </a:t>
            </a:r>
            <a:r>
              <a:rPr lang="en-US" sz="1200" kern="1200" dirty="0">
                <a:solidFill>
                  <a:schemeClr val="tx1"/>
                </a:solidFill>
                <a:latin typeface="+mn-lt"/>
                <a:ea typeface="+mn-ea"/>
                <a:cs typeface="+mn-cs"/>
              </a:rPr>
              <a:t>/home</a:t>
            </a:r>
            <a:r>
              <a:rPr lang="en-US" dirty="0"/>
              <a:t> </a:t>
            </a:r>
            <a:r>
              <a:rPr lang="en-US" dirty="0" err="1"/>
              <a:t>содержит</a:t>
            </a:r>
            <a:r>
              <a:rPr lang="en-US" dirty="0"/>
              <a:t> </a:t>
            </a:r>
            <a:r>
              <a:rPr lang="en-US" dirty="0" err="1"/>
              <a:t>каталог</a:t>
            </a:r>
            <a:r>
              <a:rPr lang="en-US" dirty="0"/>
              <a:t> </a:t>
            </a:r>
            <a:r>
              <a:rPr lang="en-US" dirty="0" err="1"/>
              <a:t>пользователя</a:t>
            </a:r>
            <a:r>
              <a:rPr lang="en-US" dirty="0"/>
              <a:t> </a:t>
            </a:r>
            <a:r>
              <a:rPr lang="en-US" sz="1200" kern="1200" dirty="0">
                <a:solidFill>
                  <a:schemeClr val="tx1"/>
                </a:solidFill>
                <a:latin typeface="+mn-lt"/>
                <a:ea typeface="+mn-ea"/>
                <a:cs typeface="+mn-cs"/>
              </a:rPr>
              <a:t>vivid</a:t>
            </a:r>
            <a:r>
              <a:rPr lang="en-US" dirty="0"/>
              <a:t>, а </a:t>
            </a:r>
            <a:r>
              <a:rPr lang="en-US" dirty="0" err="1"/>
              <a:t>уже</a:t>
            </a:r>
            <a:r>
              <a:rPr lang="en-US" dirty="0"/>
              <a:t> </a:t>
            </a:r>
            <a:r>
              <a:rPr lang="en-US" dirty="0" err="1"/>
              <a:t>внутри</a:t>
            </a:r>
            <a:r>
              <a:rPr lang="en-US" dirty="0"/>
              <a:t> </a:t>
            </a:r>
            <a:r>
              <a:rPr lang="en-US" dirty="0" err="1"/>
              <a:t>него</a:t>
            </a:r>
            <a:r>
              <a:rPr lang="en-US" dirty="0"/>
              <a:t> </a:t>
            </a:r>
            <a:r>
              <a:rPr lang="en-US" dirty="0" err="1"/>
              <a:t>находятся</a:t>
            </a:r>
            <a:r>
              <a:rPr lang="en-US" dirty="0"/>
              <a:t> </a:t>
            </a:r>
            <a:r>
              <a:rPr lang="en-US" dirty="0" err="1"/>
              <a:t>его</a:t>
            </a:r>
            <a:r>
              <a:rPr lang="en-US" dirty="0"/>
              <a:t> </a:t>
            </a:r>
            <a:r>
              <a:rPr lang="en-US" dirty="0" err="1"/>
              <a:t>файлы</a:t>
            </a:r>
            <a:r>
              <a:rPr lang="en-US" dirty="0"/>
              <a:t> и </a:t>
            </a:r>
            <a:r>
              <a:rPr lang="en-US" dirty="0" err="1"/>
              <a:t>подкаталоги</a:t>
            </a:r>
            <a:r>
              <a:rPr lang="en-US" dirty="0"/>
              <a:t>.</a:t>
            </a:r>
          </a:p>
          <a:p>
            <a:endParaRPr lang="en-US" dirty="0"/>
          </a:p>
          <a:p>
            <a:r>
              <a:rPr lang="en-US" dirty="0" err="1"/>
              <a:t>Этот</a:t>
            </a:r>
            <a:r>
              <a:rPr lang="en-US" dirty="0"/>
              <a:t> </a:t>
            </a:r>
            <a:r>
              <a:rPr lang="en-US" dirty="0" err="1"/>
              <a:t>пример</a:t>
            </a:r>
            <a:r>
              <a:rPr lang="en-US" dirty="0"/>
              <a:t> </a:t>
            </a:r>
            <a:r>
              <a:rPr lang="en-US" dirty="0" err="1"/>
              <a:t>показывает</a:t>
            </a:r>
            <a:r>
              <a:rPr lang="en-US" dirty="0"/>
              <a:t> </a:t>
            </a:r>
            <a:r>
              <a:rPr lang="en-US" dirty="0" err="1"/>
              <a:t>основную</a:t>
            </a:r>
            <a:r>
              <a:rPr lang="en-US" dirty="0"/>
              <a:t> </a:t>
            </a:r>
            <a:r>
              <a:rPr lang="en-US" dirty="0" err="1"/>
              <a:t>логику</a:t>
            </a:r>
            <a:r>
              <a:rPr lang="en-US" dirty="0"/>
              <a:t> </a:t>
            </a:r>
            <a:r>
              <a:rPr lang="en-US" dirty="0" err="1"/>
              <a:t>навигации</a:t>
            </a:r>
            <a:r>
              <a:rPr lang="en-US" dirty="0"/>
              <a:t>: </a:t>
            </a:r>
            <a:r>
              <a:rPr lang="en-US" sz="1200" kern="1200" dirty="0" err="1">
                <a:solidFill>
                  <a:schemeClr val="tx1"/>
                </a:solidFill>
                <a:latin typeface="+mn-lt"/>
                <a:ea typeface="+mn-ea"/>
                <a:cs typeface="+mn-cs"/>
              </a:rPr>
              <a:t>pwd</a:t>
            </a:r>
            <a:r>
              <a:rPr lang="en-US" dirty="0"/>
              <a:t> </a:t>
            </a:r>
            <a:r>
              <a:rPr lang="en-US" dirty="0" err="1"/>
              <a:t>отвечает</a:t>
            </a:r>
            <a:r>
              <a:rPr lang="en-US" dirty="0"/>
              <a:t> </a:t>
            </a:r>
            <a:r>
              <a:rPr lang="en-US" dirty="0" err="1"/>
              <a:t>на</a:t>
            </a:r>
            <a:r>
              <a:rPr lang="en-US" dirty="0"/>
              <a:t> </a:t>
            </a:r>
            <a:r>
              <a:rPr lang="en-US" dirty="0" err="1"/>
              <a:t>вопрос</a:t>
            </a:r>
            <a:r>
              <a:rPr lang="en-US" dirty="0"/>
              <a:t> «</a:t>
            </a:r>
            <a:r>
              <a:rPr lang="en-US" dirty="0" err="1"/>
              <a:t>где</a:t>
            </a:r>
            <a:r>
              <a:rPr lang="en-US" dirty="0"/>
              <a:t> </a:t>
            </a:r>
            <a:r>
              <a:rPr lang="en-US" dirty="0" err="1"/>
              <a:t>мы</a:t>
            </a:r>
            <a:r>
              <a:rPr lang="en-US" dirty="0"/>
              <a:t> </a:t>
            </a:r>
            <a:r>
              <a:rPr lang="en-US" dirty="0" err="1"/>
              <a:t>сейчас</a:t>
            </a:r>
            <a:r>
              <a:rPr lang="en-US" dirty="0"/>
              <a:t>», </a:t>
            </a:r>
            <a:r>
              <a:rPr lang="en-US" sz="1200" kern="1200" dirty="0">
                <a:solidFill>
                  <a:schemeClr val="tx1"/>
                </a:solidFill>
                <a:latin typeface="+mn-lt"/>
                <a:ea typeface="+mn-ea"/>
                <a:cs typeface="+mn-cs"/>
              </a:rPr>
              <a:t>ls</a:t>
            </a:r>
            <a:r>
              <a:rPr lang="en-US" dirty="0"/>
              <a:t> — «</a:t>
            </a:r>
            <a:r>
              <a:rPr lang="en-US" dirty="0" err="1"/>
              <a:t>что</a:t>
            </a:r>
            <a:r>
              <a:rPr lang="en-US" dirty="0"/>
              <a:t> </a:t>
            </a:r>
            <a:r>
              <a:rPr lang="en-US" dirty="0" err="1"/>
              <a:t>здесь</a:t>
            </a:r>
            <a:r>
              <a:rPr lang="en-US" dirty="0"/>
              <a:t> </a:t>
            </a:r>
            <a:r>
              <a:rPr lang="en-US" dirty="0" err="1"/>
              <a:t>находится</a:t>
            </a:r>
            <a:r>
              <a:rPr lang="en-US" dirty="0"/>
              <a:t>», а </a:t>
            </a:r>
            <a:r>
              <a:rPr lang="en-US" sz="1200" kern="1200" dirty="0">
                <a:solidFill>
                  <a:schemeClr val="tx1"/>
                </a:solidFill>
                <a:latin typeface="+mn-lt"/>
                <a:ea typeface="+mn-ea"/>
                <a:cs typeface="+mn-cs"/>
              </a:rPr>
              <a:t>cd</a:t>
            </a:r>
            <a:r>
              <a:rPr lang="en-US" dirty="0"/>
              <a:t> — «</a:t>
            </a:r>
            <a:r>
              <a:rPr lang="en-US" dirty="0" err="1"/>
              <a:t>куда</a:t>
            </a:r>
            <a:r>
              <a:rPr lang="en-US" dirty="0"/>
              <a:t> </a:t>
            </a:r>
            <a:r>
              <a:rPr lang="en-US" dirty="0" err="1"/>
              <a:t>перейти</a:t>
            </a:r>
            <a:r>
              <a:rPr lang="en-US" dirty="0"/>
              <a:t> </a:t>
            </a:r>
            <a:r>
              <a:rPr lang="en-US" dirty="0" err="1"/>
              <a:t>дальше</a:t>
            </a:r>
            <a:r>
              <a:rPr lang="en-US" dirty="0"/>
              <a:t>».</a:t>
            </a:r>
          </a:p>
          <a:p>
            <a:endParaRPr lang="en-US" dirty="0"/>
          </a:p>
        </p:txBody>
      </p:sp>
      <p:sp>
        <p:nvSpPr>
          <p:cNvPr id="4" name="Slide Number Placeholder 3"/>
          <p:cNvSpPr>
            <a:spLocks noGrp="1"/>
          </p:cNvSpPr>
          <p:nvPr>
            <p:ph type="sldNum" sz="quarter" idx="5"/>
          </p:nvPr>
        </p:nvSpPr>
        <p:spPr/>
        <p:txBody>
          <a:bodyPr/>
          <a:lstStyle/>
          <a:p>
            <a:fld id="{A3EE74EF-BE85-44F3-968F-E74DD74A629E}" type="slidenum">
              <a:rPr lang="en-US" smtClean="0"/>
              <a:t>19</a:t>
            </a:fld>
            <a:endParaRPr lang="en-US"/>
          </a:p>
        </p:txBody>
      </p:sp>
    </p:spTree>
    <p:extLst>
      <p:ext uri="{BB962C8B-B14F-4D97-AF65-F5344CB8AC3E}">
        <p14:creationId xmlns:p14="http://schemas.microsoft.com/office/powerpoint/2010/main" val="19178363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Теперь</a:t>
            </a:r>
            <a:r>
              <a:rPr lang="en-US" dirty="0"/>
              <a:t> </a:t>
            </a:r>
            <a:r>
              <a:rPr lang="en-US" dirty="0" err="1"/>
              <a:t>посмотрим</a:t>
            </a:r>
            <a:r>
              <a:rPr lang="en-US" dirty="0"/>
              <a:t> </a:t>
            </a:r>
            <a:r>
              <a:rPr lang="en-US" dirty="0" err="1"/>
              <a:t>на</a:t>
            </a:r>
            <a:r>
              <a:rPr lang="en-US" dirty="0"/>
              <a:t> </a:t>
            </a:r>
            <a:r>
              <a:rPr lang="en-US" dirty="0" err="1"/>
              <a:t>базовые</a:t>
            </a:r>
            <a:r>
              <a:rPr lang="en-US" dirty="0"/>
              <a:t> </a:t>
            </a:r>
            <a:r>
              <a:rPr lang="en-US" dirty="0" err="1"/>
              <a:t>команды</a:t>
            </a:r>
            <a:r>
              <a:rPr lang="en-US" dirty="0"/>
              <a:t> </a:t>
            </a:r>
            <a:r>
              <a:rPr lang="en-US" dirty="0" err="1"/>
              <a:t>для</a:t>
            </a:r>
            <a:r>
              <a:rPr lang="en-US" dirty="0"/>
              <a:t> </a:t>
            </a:r>
            <a:r>
              <a:rPr lang="en-US" dirty="0" err="1"/>
              <a:t>работы</a:t>
            </a:r>
            <a:r>
              <a:rPr lang="en-US" dirty="0"/>
              <a:t> с </a:t>
            </a:r>
            <a:r>
              <a:rPr lang="en-US" dirty="0" err="1"/>
              <a:t>файлами</a:t>
            </a:r>
            <a:r>
              <a:rPr lang="en-US" dirty="0"/>
              <a:t> и </a:t>
            </a:r>
            <a:r>
              <a:rPr lang="en-US" dirty="0" err="1"/>
              <a:t>каталогами</a:t>
            </a:r>
            <a:r>
              <a:rPr lang="en-US" dirty="0"/>
              <a:t>.</a:t>
            </a:r>
            <a:endParaRPr lang="ru-RU" dirty="0"/>
          </a:p>
          <a:p>
            <a:endParaRPr lang="en-US" dirty="0"/>
          </a:p>
          <a:p>
            <a:r>
              <a:rPr lang="en-US" dirty="0" err="1"/>
              <a:t>Команда</a:t>
            </a:r>
            <a:r>
              <a:rPr lang="en-US" dirty="0"/>
              <a:t> </a:t>
            </a:r>
            <a:r>
              <a:rPr lang="en-US" sz="1200" kern="1200" dirty="0">
                <a:solidFill>
                  <a:schemeClr val="tx1"/>
                </a:solidFill>
                <a:latin typeface="+mn-lt"/>
                <a:ea typeface="+mn-ea"/>
                <a:cs typeface="+mn-cs"/>
              </a:rPr>
              <a:t>touch file.txt</a:t>
            </a:r>
            <a:r>
              <a:rPr lang="en-US" dirty="0"/>
              <a:t> </a:t>
            </a:r>
            <a:r>
              <a:rPr lang="en-US" dirty="0" err="1"/>
              <a:t>создаёт</a:t>
            </a:r>
            <a:r>
              <a:rPr lang="en-US" dirty="0"/>
              <a:t> </a:t>
            </a:r>
            <a:r>
              <a:rPr lang="en-US" dirty="0" err="1"/>
              <a:t>пустой</a:t>
            </a:r>
            <a:r>
              <a:rPr lang="en-US" dirty="0"/>
              <a:t> </a:t>
            </a:r>
            <a:r>
              <a:rPr lang="en-US" dirty="0" err="1"/>
              <a:t>файл</a:t>
            </a:r>
            <a:r>
              <a:rPr lang="en-US" dirty="0"/>
              <a:t>, </a:t>
            </a:r>
            <a:r>
              <a:rPr lang="en-US" dirty="0" err="1"/>
              <a:t>если</a:t>
            </a:r>
            <a:r>
              <a:rPr lang="en-US" dirty="0"/>
              <a:t> </a:t>
            </a:r>
            <a:r>
              <a:rPr lang="en-US" dirty="0" err="1"/>
              <a:t>такого</a:t>
            </a:r>
            <a:r>
              <a:rPr lang="en-US" dirty="0"/>
              <a:t> </a:t>
            </a:r>
            <a:r>
              <a:rPr lang="en-US" dirty="0" err="1"/>
              <a:t>файла</a:t>
            </a:r>
            <a:r>
              <a:rPr lang="en-US" dirty="0"/>
              <a:t> </a:t>
            </a:r>
            <a:r>
              <a:rPr lang="en-US" dirty="0" err="1"/>
              <a:t>ещё</a:t>
            </a:r>
            <a:r>
              <a:rPr lang="en-US" dirty="0"/>
              <a:t> </a:t>
            </a:r>
            <a:r>
              <a:rPr lang="en-US" dirty="0" err="1"/>
              <a:t>нет</a:t>
            </a:r>
            <a:r>
              <a:rPr lang="en-US" dirty="0"/>
              <a:t>. </a:t>
            </a:r>
            <a:r>
              <a:rPr lang="en-US" dirty="0" err="1"/>
              <a:t>Если</a:t>
            </a:r>
            <a:r>
              <a:rPr lang="en-US" dirty="0"/>
              <a:t> </a:t>
            </a:r>
            <a:r>
              <a:rPr lang="en-US" dirty="0" err="1"/>
              <a:t>файл</a:t>
            </a:r>
            <a:r>
              <a:rPr lang="en-US" dirty="0"/>
              <a:t> </a:t>
            </a:r>
            <a:r>
              <a:rPr lang="en-US" dirty="0" err="1"/>
              <a:t>уже</a:t>
            </a:r>
            <a:r>
              <a:rPr lang="en-US" dirty="0"/>
              <a:t> </a:t>
            </a:r>
            <a:r>
              <a:rPr lang="en-US" dirty="0" err="1"/>
              <a:t>существует</a:t>
            </a:r>
            <a:r>
              <a:rPr lang="en-US" dirty="0"/>
              <a:t>, </a:t>
            </a:r>
            <a:r>
              <a:rPr lang="en-US" dirty="0" err="1"/>
              <a:t>его</a:t>
            </a:r>
            <a:r>
              <a:rPr lang="en-US" dirty="0"/>
              <a:t> </a:t>
            </a:r>
            <a:r>
              <a:rPr lang="en-US" dirty="0" err="1"/>
              <a:t>содержимое</a:t>
            </a:r>
            <a:r>
              <a:rPr lang="en-US" dirty="0"/>
              <a:t> </a:t>
            </a:r>
            <a:r>
              <a:rPr lang="en-US" dirty="0" err="1"/>
              <a:t>не</a:t>
            </a:r>
            <a:r>
              <a:rPr lang="en-US" dirty="0"/>
              <a:t> </a:t>
            </a:r>
            <a:r>
              <a:rPr lang="en-US" dirty="0" err="1"/>
              <a:t>меняется</a:t>
            </a:r>
            <a:r>
              <a:rPr lang="en-US" dirty="0"/>
              <a:t>, </a:t>
            </a:r>
            <a:r>
              <a:rPr lang="en-US" dirty="0" err="1"/>
              <a:t>но</a:t>
            </a:r>
            <a:r>
              <a:rPr lang="en-US" dirty="0"/>
              <a:t> </a:t>
            </a:r>
            <a:r>
              <a:rPr lang="en-US" dirty="0" err="1"/>
              <a:t>обновляется</a:t>
            </a:r>
            <a:r>
              <a:rPr lang="en-US" dirty="0"/>
              <a:t> </a:t>
            </a:r>
            <a:r>
              <a:rPr lang="en-US" dirty="0" err="1"/>
              <a:t>время</a:t>
            </a:r>
            <a:r>
              <a:rPr lang="en-US" dirty="0"/>
              <a:t> </a:t>
            </a:r>
            <a:r>
              <a:rPr lang="en-US" dirty="0" err="1"/>
              <a:t>последнего</a:t>
            </a:r>
            <a:r>
              <a:rPr lang="en-US" dirty="0"/>
              <a:t> </a:t>
            </a:r>
            <a:r>
              <a:rPr lang="en-US" dirty="0" err="1"/>
              <a:t>изменения</a:t>
            </a:r>
            <a:r>
              <a:rPr lang="en-US" dirty="0"/>
              <a:t>.</a:t>
            </a:r>
            <a:endParaRPr lang="ru-RU" dirty="0"/>
          </a:p>
          <a:p>
            <a:endParaRPr lang="en-US" dirty="0"/>
          </a:p>
          <a:p>
            <a:r>
              <a:rPr lang="en-US" dirty="0" err="1"/>
              <a:t>Команда</a:t>
            </a:r>
            <a:r>
              <a:rPr lang="en-US" dirty="0"/>
              <a:t> </a:t>
            </a:r>
            <a:r>
              <a:rPr lang="en-US" sz="1200" kern="1200" dirty="0">
                <a:solidFill>
                  <a:schemeClr val="tx1"/>
                </a:solidFill>
                <a:latin typeface="+mn-lt"/>
                <a:ea typeface="+mn-ea"/>
                <a:cs typeface="+mn-cs"/>
              </a:rPr>
              <a:t>cat file.txt</a:t>
            </a:r>
            <a:r>
              <a:rPr lang="en-US" dirty="0"/>
              <a:t> </a:t>
            </a:r>
            <a:r>
              <a:rPr lang="en-US" dirty="0" err="1"/>
              <a:t>выводит</a:t>
            </a:r>
            <a:r>
              <a:rPr lang="en-US" dirty="0"/>
              <a:t> </a:t>
            </a:r>
            <a:r>
              <a:rPr lang="en-US" dirty="0" err="1"/>
              <a:t>содержимое</a:t>
            </a:r>
            <a:r>
              <a:rPr lang="en-US" dirty="0"/>
              <a:t> </a:t>
            </a:r>
            <a:r>
              <a:rPr lang="en-US" dirty="0" err="1"/>
              <a:t>файла</a:t>
            </a:r>
            <a:r>
              <a:rPr lang="en-US" dirty="0"/>
              <a:t> в </a:t>
            </a:r>
            <a:r>
              <a:rPr lang="en-US" dirty="0" err="1"/>
              <a:t>стандартный</a:t>
            </a:r>
            <a:r>
              <a:rPr lang="en-US" dirty="0"/>
              <a:t> </a:t>
            </a:r>
            <a:r>
              <a:rPr lang="en-US" dirty="0" err="1"/>
              <a:t>поток</a:t>
            </a:r>
            <a:r>
              <a:rPr lang="en-US" dirty="0"/>
              <a:t> </a:t>
            </a:r>
            <a:r>
              <a:rPr lang="en-US" dirty="0" err="1"/>
              <a:t>вывода</a:t>
            </a:r>
            <a:r>
              <a:rPr lang="en-US" dirty="0"/>
              <a:t>, </a:t>
            </a:r>
            <a:r>
              <a:rPr lang="en-US" dirty="0" err="1"/>
              <a:t>то</a:t>
            </a:r>
            <a:r>
              <a:rPr lang="en-US" dirty="0"/>
              <a:t> </a:t>
            </a:r>
            <a:r>
              <a:rPr lang="en-US" dirty="0" err="1"/>
              <a:t>есть</a:t>
            </a:r>
            <a:r>
              <a:rPr lang="en-US" dirty="0"/>
              <a:t> </a:t>
            </a:r>
            <a:r>
              <a:rPr lang="en-US" dirty="0" err="1"/>
              <a:t>обычно</a:t>
            </a:r>
            <a:r>
              <a:rPr lang="en-US" dirty="0"/>
              <a:t> </a:t>
            </a:r>
            <a:r>
              <a:rPr lang="en-US" dirty="0" err="1"/>
              <a:t>прямо</a:t>
            </a:r>
            <a:r>
              <a:rPr lang="en-US" dirty="0"/>
              <a:t> в </a:t>
            </a:r>
            <a:r>
              <a:rPr lang="en-US" dirty="0" err="1"/>
              <a:t>терминал</a:t>
            </a:r>
            <a:r>
              <a:rPr lang="en-US" dirty="0"/>
              <a:t>. </a:t>
            </a:r>
            <a:r>
              <a:rPr lang="en-US" sz="1200" kern="1200" dirty="0">
                <a:solidFill>
                  <a:schemeClr val="tx1"/>
                </a:solidFill>
                <a:latin typeface="+mn-lt"/>
                <a:ea typeface="+mn-ea"/>
                <a:cs typeface="+mn-cs"/>
              </a:rPr>
              <a:t>cat</a:t>
            </a:r>
            <a:r>
              <a:rPr lang="en-US" dirty="0"/>
              <a:t> </a:t>
            </a:r>
            <a:r>
              <a:rPr lang="en-US" dirty="0" err="1"/>
              <a:t>также</a:t>
            </a:r>
            <a:r>
              <a:rPr lang="en-US" dirty="0"/>
              <a:t> </a:t>
            </a:r>
            <a:r>
              <a:rPr lang="en-US" dirty="0" err="1"/>
              <a:t>умеет</a:t>
            </a:r>
            <a:r>
              <a:rPr lang="en-US" dirty="0"/>
              <a:t> </a:t>
            </a:r>
            <a:r>
              <a:rPr lang="en-US" dirty="0" err="1"/>
              <a:t>работать</a:t>
            </a:r>
            <a:r>
              <a:rPr lang="en-US" dirty="0"/>
              <a:t> </a:t>
            </a:r>
            <a:r>
              <a:rPr lang="en-US" dirty="0" err="1"/>
              <a:t>сразу</a:t>
            </a:r>
            <a:r>
              <a:rPr lang="en-US" dirty="0"/>
              <a:t> с </a:t>
            </a:r>
            <a:r>
              <a:rPr lang="en-US" dirty="0" err="1"/>
              <a:t>несколькими</a:t>
            </a:r>
            <a:r>
              <a:rPr lang="en-US" dirty="0"/>
              <a:t> </a:t>
            </a:r>
            <a:r>
              <a:rPr lang="en-US" dirty="0" err="1"/>
              <a:t>файлами</a:t>
            </a:r>
            <a:r>
              <a:rPr lang="en-US" dirty="0"/>
              <a:t> и </a:t>
            </a:r>
            <a:r>
              <a:rPr lang="en-US" dirty="0" err="1"/>
              <a:t>выводить</a:t>
            </a:r>
            <a:r>
              <a:rPr lang="en-US" dirty="0"/>
              <a:t> </a:t>
            </a:r>
            <a:r>
              <a:rPr lang="en-US" dirty="0" err="1"/>
              <a:t>их</a:t>
            </a:r>
            <a:r>
              <a:rPr lang="en-US" dirty="0"/>
              <a:t> </a:t>
            </a:r>
            <a:r>
              <a:rPr lang="en-US" dirty="0" err="1"/>
              <a:t>содержимое</a:t>
            </a:r>
            <a:r>
              <a:rPr lang="en-US" dirty="0"/>
              <a:t> </a:t>
            </a:r>
            <a:r>
              <a:rPr lang="en-US" dirty="0" err="1"/>
              <a:t>последовательно</a:t>
            </a:r>
            <a:r>
              <a:rPr lang="en-US" dirty="0"/>
              <a:t>.</a:t>
            </a:r>
            <a:endParaRPr lang="ru-RU" dirty="0"/>
          </a:p>
          <a:p>
            <a:endParaRPr lang="en-US" dirty="0"/>
          </a:p>
          <a:p>
            <a:r>
              <a:rPr lang="en-US" dirty="0" err="1"/>
              <a:t>Для</a:t>
            </a:r>
            <a:r>
              <a:rPr lang="en-US" dirty="0"/>
              <a:t> </a:t>
            </a:r>
            <a:r>
              <a:rPr lang="en-US" dirty="0" err="1"/>
              <a:t>создания</a:t>
            </a:r>
            <a:r>
              <a:rPr lang="en-US" dirty="0"/>
              <a:t> </a:t>
            </a:r>
            <a:r>
              <a:rPr lang="en-US" dirty="0" err="1"/>
              <a:t>нового</a:t>
            </a:r>
            <a:r>
              <a:rPr lang="en-US" dirty="0"/>
              <a:t> </a:t>
            </a:r>
            <a:r>
              <a:rPr lang="en-US" dirty="0" err="1"/>
              <a:t>каталога</a:t>
            </a:r>
            <a:r>
              <a:rPr lang="en-US" dirty="0"/>
              <a:t> </a:t>
            </a:r>
            <a:r>
              <a:rPr lang="en-US" dirty="0" err="1"/>
              <a:t>используется</a:t>
            </a:r>
            <a:r>
              <a:rPr lang="en-US" dirty="0"/>
              <a:t> </a:t>
            </a:r>
            <a:r>
              <a:rPr lang="en-US" sz="1200" kern="1200" dirty="0" err="1">
                <a:solidFill>
                  <a:schemeClr val="tx1"/>
                </a:solidFill>
                <a:latin typeface="+mn-lt"/>
                <a:ea typeface="+mn-ea"/>
                <a:cs typeface="+mn-cs"/>
              </a:rPr>
              <a:t>mkdir</a:t>
            </a:r>
            <a:r>
              <a:rPr lang="en-US" dirty="0"/>
              <a:t>. </a:t>
            </a:r>
            <a:r>
              <a:rPr lang="en-US" dirty="0" err="1"/>
              <a:t>Например</a:t>
            </a:r>
            <a:r>
              <a:rPr lang="en-US" dirty="0"/>
              <a:t>, </a:t>
            </a:r>
            <a:r>
              <a:rPr lang="en-US" sz="1200" kern="1200" dirty="0" err="1">
                <a:solidFill>
                  <a:schemeClr val="tx1"/>
                </a:solidFill>
                <a:latin typeface="+mn-lt"/>
                <a:ea typeface="+mn-ea"/>
                <a:cs typeface="+mn-cs"/>
              </a:rPr>
              <a:t>mkdir</a:t>
            </a:r>
            <a:r>
              <a:rPr lang="en-US" sz="1200" kern="1200" dirty="0">
                <a:solidFill>
                  <a:schemeClr val="tx1"/>
                </a:solidFill>
                <a:latin typeface="+mn-lt"/>
                <a:ea typeface="+mn-ea"/>
                <a:cs typeface="+mn-cs"/>
              </a:rPr>
              <a:t> docs</a:t>
            </a:r>
            <a:r>
              <a:rPr lang="en-US" dirty="0"/>
              <a:t> </a:t>
            </a:r>
            <a:r>
              <a:rPr lang="en-US" dirty="0" err="1"/>
              <a:t>создаст</a:t>
            </a:r>
            <a:r>
              <a:rPr lang="en-US" dirty="0"/>
              <a:t> </a:t>
            </a:r>
            <a:r>
              <a:rPr lang="en-US" dirty="0" err="1"/>
              <a:t>каталог</a:t>
            </a:r>
            <a:r>
              <a:rPr lang="en-US" dirty="0"/>
              <a:t> </a:t>
            </a:r>
            <a:r>
              <a:rPr lang="en-US" sz="1200" kern="1200" dirty="0">
                <a:solidFill>
                  <a:schemeClr val="tx1"/>
                </a:solidFill>
                <a:latin typeface="+mn-lt"/>
                <a:ea typeface="+mn-ea"/>
                <a:cs typeface="+mn-cs"/>
              </a:rPr>
              <a:t>docs</a:t>
            </a:r>
            <a:r>
              <a:rPr lang="en-US" dirty="0"/>
              <a:t> в </a:t>
            </a:r>
            <a:r>
              <a:rPr lang="en-US" dirty="0" err="1"/>
              <a:t>текущей</a:t>
            </a:r>
            <a:r>
              <a:rPr lang="en-US" dirty="0"/>
              <a:t> </a:t>
            </a:r>
            <a:r>
              <a:rPr lang="en-US" dirty="0" err="1"/>
              <a:t>директории</a:t>
            </a:r>
            <a:r>
              <a:rPr lang="en-US" dirty="0"/>
              <a:t>.</a:t>
            </a:r>
            <a:endParaRPr lang="ru-RU" dirty="0"/>
          </a:p>
          <a:p>
            <a:endParaRPr lang="en-US" dirty="0"/>
          </a:p>
          <a:p>
            <a:r>
              <a:rPr lang="en-US" dirty="0" err="1"/>
              <a:t>Команда</a:t>
            </a:r>
            <a:r>
              <a:rPr lang="en-US" dirty="0"/>
              <a:t> </a:t>
            </a:r>
            <a:r>
              <a:rPr lang="en-US" sz="1200" kern="1200" dirty="0">
                <a:solidFill>
                  <a:schemeClr val="tx1"/>
                </a:solidFill>
                <a:latin typeface="+mn-lt"/>
                <a:ea typeface="+mn-ea"/>
                <a:cs typeface="+mn-cs"/>
              </a:rPr>
              <a:t>cp</a:t>
            </a:r>
            <a:r>
              <a:rPr lang="en-US" dirty="0"/>
              <a:t> </a:t>
            </a:r>
            <a:r>
              <a:rPr lang="en-US" dirty="0" err="1"/>
              <a:t>копирует</a:t>
            </a:r>
            <a:r>
              <a:rPr lang="en-US" dirty="0"/>
              <a:t> </a:t>
            </a:r>
            <a:r>
              <a:rPr lang="en-US" dirty="0" err="1"/>
              <a:t>файлы</a:t>
            </a:r>
            <a:r>
              <a:rPr lang="en-US" dirty="0"/>
              <a:t>. В </a:t>
            </a:r>
            <a:r>
              <a:rPr lang="en-US" dirty="0" err="1"/>
              <a:t>записи</a:t>
            </a:r>
            <a:r>
              <a:rPr lang="en-US" dirty="0"/>
              <a:t> </a:t>
            </a:r>
            <a:r>
              <a:rPr lang="en-US" sz="1200" kern="1200" dirty="0">
                <a:solidFill>
                  <a:schemeClr val="tx1"/>
                </a:solidFill>
                <a:latin typeface="+mn-lt"/>
                <a:ea typeface="+mn-ea"/>
                <a:cs typeface="+mn-cs"/>
              </a:rPr>
              <a:t>cp file1.txt file2.txt</a:t>
            </a:r>
            <a:r>
              <a:rPr lang="en-US" dirty="0"/>
              <a:t> </a:t>
            </a:r>
            <a:r>
              <a:rPr lang="en-US" dirty="0" err="1"/>
              <a:t>первый</a:t>
            </a:r>
            <a:r>
              <a:rPr lang="en-US" dirty="0"/>
              <a:t> </a:t>
            </a:r>
            <a:r>
              <a:rPr lang="en-US" dirty="0" err="1"/>
              <a:t>аргумент</a:t>
            </a:r>
            <a:r>
              <a:rPr lang="en-US" dirty="0"/>
              <a:t> — </a:t>
            </a:r>
            <a:r>
              <a:rPr lang="en-US" dirty="0" err="1"/>
              <a:t>исходный</a:t>
            </a:r>
            <a:r>
              <a:rPr lang="en-US" dirty="0"/>
              <a:t> </a:t>
            </a:r>
            <a:r>
              <a:rPr lang="en-US" dirty="0" err="1"/>
              <a:t>файл</a:t>
            </a:r>
            <a:r>
              <a:rPr lang="en-US" dirty="0"/>
              <a:t>, а </a:t>
            </a:r>
            <a:r>
              <a:rPr lang="en-US" dirty="0" err="1"/>
              <a:t>второй</a:t>
            </a:r>
            <a:r>
              <a:rPr lang="en-US" dirty="0"/>
              <a:t> — </a:t>
            </a:r>
            <a:r>
              <a:rPr lang="en-US" dirty="0" err="1"/>
              <a:t>имя</a:t>
            </a:r>
            <a:r>
              <a:rPr lang="en-US" dirty="0"/>
              <a:t> </a:t>
            </a:r>
            <a:r>
              <a:rPr lang="en-US" dirty="0" err="1"/>
              <a:t>копии</a:t>
            </a:r>
            <a:r>
              <a:rPr lang="en-US" dirty="0"/>
              <a:t>.</a:t>
            </a:r>
            <a:endParaRPr lang="ru-RU" dirty="0"/>
          </a:p>
          <a:p>
            <a:endParaRPr lang="en-US" dirty="0"/>
          </a:p>
          <a:p>
            <a:r>
              <a:rPr lang="en-US" dirty="0" err="1"/>
              <a:t>Команда</a:t>
            </a:r>
            <a:r>
              <a:rPr lang="en-US" dirty="0"/>
              <a:t> </a:t>
            </a:r>
            <a:r>
              <a:rPr lang="en-US" sz="1200" kern="1200" dirty="0">
                <a:solidFill>
                  <a:schemeClr val="tx1"/>
                </a:solidFill>
                <a:latin typeface="+mn-lt"/>
                <a:ea typeface="+mn-ea"/>
                <a:cs typeface="+mn-cs"/>
              </a:rPr>
              <a:t>mv</a:t>
            </a:r>
            <a:r>
              <a:rPr lang="en-US" dirty="0"/>
              <a:t> </a:t>
            </a:r>
            <a:r>
              <a:rPr lang="en-US" dirty="0" err="1"/>
              <a:t>используется</a:t>
            </a:r>
            <a:r>
              <a:rPr lang="en-US" dirty="0"/>
              <a:t> </a:t>
            </a:r>
            <a:r>
              <a:rPr lang="en-US" dirty="0" err="1"/>
              <a:t>для</a:t>
            </a:r>
            <a:r>
              <a:rPr lang="en-US" dirty="0"/>
              <a:t> </a:t>
            </a:r>
            <a:r>
              <a:rPr lang="en-US" dirty="0" err="1"/>
              <a:t>перемещения</a:t>
            </a:r>
            <a:r>
              <a:rPr lang="en-US" dirty="0"/>
              <a:t> </a:t>
            </a:r>
            <a:r>
              <a:rPr lang="en-US" dirty="0" err="1"/>
              <a:t>файлов</a:t>
            </a:r>
            <a:r>
              <a:rPr lang="en-US" dirty="0"/>
              <a:t>. </a:t>
            </a:r>
            <a:r>
              <a:rPr lang="en-US" dirty="0" err="1"/>
              <a:t>Например</a:t>
            </a:r>
            <a:r>
              <a:rPr lang="en-US" dirty="0"/>
              <a:t>, </a:t>
            </a:r>
            <a:r>
              <a:rPr lang="en-US" sz="1200" kern="1200" dirty="0">
                <a:solidFill>
                  <a:schemeClr val="tx1"/>
                </a:solidFill>
                <a:latin typeface="+mn-lt"/>
                <a:ea typeface="+mn-ea"/>
                <a:cs typeface="+mn-cs"/>
              </a:rPr>
              <a:t>mv file.txt docs/</a:t>
            </a:r>
            <a:r>
              <a:rPr lang="en-US" dirty="0"/>
              <a:t> </a:t>
            </a:r>
            <a:r>
              <a:rPr lang="en-US" dirty="0" err="1"/>
              <a:t>перенесёт</a:t>
            </a:r>
            <a:r>
              <a:rPr lang="en-US" dirty="0"/>
              <a:t> </a:t>
            </a:r>
            <a:r>
              <a:rPr lang="en-US" dirty="0" err="1"/>
              <a:t>файл</a:t>
            </a:r>
            <a:r>
              <a:rPr lang="en-US" dirty="0"/>
              <a:t> в </a:t>
            </a:r>
            <a:r>
              <a:rPr lang="en-US" dirty="0" err="1"/>
              <a:t>каталог</a:t>
            </a:r>
            <a:r>
              <a:rPr lang="en-US" dirty="0"/>
              <a:t> </a:t>
            </a:r>
            <a:r>
              <a:rPr lang="en-US" sz="1200" kern="1200" dirty="0">
                <a:solidFill>
                  <a:schemeClr val="tx1"/>
                </a:solidFill>
                <a:latin typeface="+mn-lt"/>
                <a:ea typeface="+mn-ea"/>
                <a:cs typeface="+mn-cs"/>
              </a:rPr>
              <a:t>docs</a:t>
            </a:r>
            <a:r>
              <a:rPr lang="en-US" dirty="0"/>
              <a:t>. </a:t>
            </a:r>
            <a:r>
              <a:rPr lang="en-US" dirty="0" err="1"/>
              <a:t>Эта</a:t>
            </a:r>
            <a:r>
              <a:rPr lang="en-US" dirty="0"/>
              <a:t> </a:t>
            </a:r>
            <a:r>
              <a:rPr lang="en-US" dirty="0" err="1"/>
              <a:t>же</a:t>
            </a:r>
            <a:r>
              <a:rPr lang="en-US" dirty="0"/>
              <a:t> </a:t>
            </a:r>
            <a:r>
              <a:rPr lang="en-US" dirty="0" err="1"/>
              <a:t>команда</a:t>
            </a:r>
            <a:r>
              <a:rPr lang="en-US" dirty="0"/>
              <a:t> </a:t>
            </a:r>
            <a:r>
              <a:rPr lang="en-US" dirty="0" err="1"/>
              <a:t>используется</a:t>
            </a:r>
            <a:r>
              <a:rPr lang="en-US" dirty="0"/>
              <a:t> и </a:t>
            </a:r>
            <a:r>
              <a:rPr lang="en-US" dirty="0" err="1"/>
              <a:t>для</a:t>
            </a:r>
            <a:r>
              <a:rPr lang="en-US" dirty="0"/>
              <a:t> </a:t>
            </a:r>
            <a:r>
              <a:rPr lang="en-US" dirty="0" err="1"/>
              <a:t>переименования</a:t>
            </a:r>
            <a:r>
              <a:rPr lang="en-US" dirty="0"/>
              <a:t>.</a:t>
            </a:r>
            <a:endParaRPr lang="ru-RU" dirty="0"/>
          </a:p>
          <a:p>
            <a:endParaRPr lang="en-US" dirty="0"/>
          </a:p>
          <a:p>
            <a:r>
              <a:rPr lang="en-US" dirty="0" err="1"/>
              <a:t>Для</a:t>
            </a:r>
            <a:r>
              <a:rPr lang="en-US" dirty="0"/>
              <a:t> </a:t>
            </a:r>
            <a:r>
              <a:rPr lang="en-US" dirty="0" err="1"/>
              <a:t>удаления</a:t>
            </a:r>
            <a:r>
              <a:rPr lang="en-US" dirty="0"/>
              <a:t> </a:t>
            </a:r>
            <a:r>
              <a:rPr lang="en-US" dirty="0" err="1"/>
              <a:t>обычного</a:t>
            </a:r>
            <a:r>
              <a:rPr lang="en-US" dirty="0"/>
              <a:t> </a:t>
            </a:r>
            <a:r>
              <a:rPr lang="en-US" dirty="0" err="1"/>
              <a:t>файла</a:t>
            </a:r>
            <a:r>
              <a:rPr lang="en-US" dirty="0"/>
              <a:t> </a:t>
            </a:r>
            <a:r>
              <a:rPr lang="en-US" dirty="0" err="1"/>
              <a:t>используется</a:t>
            </a:r>
            <a:r>
              <a:rPr lang="en-US" dirty="0"/>
              <a:t> </a:t>
            </a:r>
            <a:r>
              <a:rPr lang="en-US" sz="1200" kern="1200" dirty="0">
                <a:solidFill>
                  <a:schemeClr val="tx1"/>
                </a:solidFill>
                <a:latin typeface="+mn-lt"/>
                <a:ea typeface="+mn-ea"/>
                <a:cs typeface="+mn-cs"/>
              </a:rPr>
              <a:t>rm</a:t>
            </a:r>
            <a:r>
              <a:rPr lang="en-US" dirty="0"/>
              <a:t>.</a:t>
            </a:r>
          </a:p>
          <a:p>
            <a:r>
              <a:rPr lang="en-US" dirty="0" err="1"/>
              <a:t>Если</a:t>
            </a:r>
            <a:r>
              <a:rPr lang="en-US" dirty="0"/>
              <a:t> </a:t>
            </a:r>
            <a:r>
              <a:rPr lang="en-US" dirty="0" err="1"/>
              <a:t>нужно</a:t>
            </a:r>
            <a:r>
              <a:rPr lang="en-US" dirty="0"/>
              <a:t> </a:t>
            </a:r>
            <a:r>
              <a:rPr lang="en-US" dirty="0" err="1"/>
              <a:t>удалить</a:t>
            </a:r>
            <a:r>
              <a:rPr lang="en-US" dirty="0"/>
              <a:t> </a:t>
            </a:r>
            <a:r>
              <a:rPr lang="en-US" dirty="0" err="1"/>
              <a:t>каталог</a:t>
            </a:r>
            <a:r>
              <a:rPr lang="en-US" dirty="0"/>
              <a:t> </a:t>
            </a:r>
            <a:r>
              <a:rPr lang="en-US" dirty="0" err="1"/>
              <a:t>вместе</a:t>
            </a:r>
            <a:r>
              <a:rPr lang="en-US" dirty="0"/>
              <a:t> </a:t>
            </a:r>
            <a:r>
              <a:rPr lang="en-US" dirty="0" err="1"/>
              <a:t>со</a:t>
            </a:r>
            <a:r>
              <a:rPr lang="en-US" dirty="0"/>
              <a:t> </a:t>
            </a:r>
            <a:r>
              <a:rPr lang="en-US" dirty="0" err="1"/>
              <a:t>всем</a:t>
            </a:r>
            <a:r>
              <a:rPr lang="en-US" dirty="0"/>
              <a:t> </a:t>
            </a:r>
            <a:r>
              <a:rPr lang="en-US" dirty="0" err="1"/>
              <a:t>его</a:t>
            </a:r>
            <a:r>
              <a:rPr lang="en-US" dirty="0"/>
              <a:t> </a:t>
            </a:r>
            <a:r>
              <a:rPr lang="en-US" dirty="0" err="1"/>
              <a:t>содержимым</a:t>
            </a:r>
            <a:r>
              <a:rPr lang="en-US" dirty="0"/>
              <a:t>, </a:t>
            </a:r>
            <a:r>
              <a:rPr lang="en-US" dirty="0" err="1"/>
              <a:t>применяется</a:t>
            </a:r>
            <a:r>
              <a:rPr lang="en-US" dirty="0"/>
              <a:t> </a:t>
            </a:r>
            <a:r>
              <a:rPr lang="en-US" sz="1200" kern="1200" dirty="0">
                <a:solidFill>
                  <a:schemeClr val="tx1"/>
                </a:solidFill>
                <a:latin typeface="+mn-lt"/>
                <a:ea typeface="+mn-ea"/>
                <a:cs typeface="+mn-cs"/>
              </a:rPr>
              <a:t>rm -r</a:t>
            </a:r>
            <a:r>
              <a:rPr lang="en-US" dirty="0"/>
              <a:t>. </a:t>
            </a:r>
            <a:r>
              <a:rPr lang="en-US" dirty="0" err="1"/>
              <a:t>Ключ</a:t>
            </a:r>
            <a:r>
              <a:rPr lang="en-US" dirty="0"/>
              <a:t> </a:t>
            </a:r>
            <a:r>
              <a:rPr lang="en-US" sz="1200" kern="1200" dirty="0">
                <a:solidFill>
                  <a:schemeClr val="tx1"/>
                </a:solidFill>
                <a:latin typeface="+mn-lt"/>
                <a:ea typeface="+mn-ea"/>
                <a:cs typeface="+mn-cs"/>
              </a:rPr>
              <a:t>-r</a:t>
            </a:r>
            <a:r>
              <a:rPr lang="en-US" dirty="0"/>
              <a:t> </a:t>
            </a:r>
            <a:r>
              <a:rPr lang="en-US" dirty="0" err="1"/>
              <a:t>означает</a:t>
            </a:r>
            <a:r>
              <a:rPr lang="en-US" dirty="0"/>
              <a:t> </a:t>
            </a:r>
            <a:r>
              <a:rPr lang="en-US" dirty="0" err="1"/>
              <a:t>рекурсивный</a:t>
            </a:r>
            <a:r>
              <a:rPr lang="en-US" dirty="0"/>
              <a:t> </a:t>
            </a:r>
            <a:r>
              <a:rPr lang="en-US" dirty="0" err="1"/>
              <a:t>обход</a:t>
            </a:r>
            <a:r>
              <a:rPr lang="en-US" dirty="0"/>
              <a:t>: </a:t>
            </a:r>
            <a:r>
              <a:rPr lang="en-US" dirty="0" err="1"/>
              <a:t>команда</a:t>
            </a:r>
            <a:r>
              <a:rPr lang="en-US" dirty="0"/>
              <a:t> </a:t>
            </a:r>
            <a:r>
              <a:rPr lang="en-US" dirty="0" err="1"/>
              <a:t>удалит</a:t>
            </a:r>
            <a:r>
              <a:rPr lang="en-US" dirty="0"/>
              <a:t> </a:t>
            </a:r>
            <a:r>
              <a:rPr lang="en-US" dirty="0" err="1"/>
              <a:t>не</a:t>
            </a:r>
            <a:r>
              <a:rPr lang="en-US" dirty="0"/>
              <a:t> </a:t>
            </a:r>
            <a:r>
              <a:rPr lang="en-US" dirty="0" err="1"/>
              <a:t>только</a:t>
            </a:r>
            <a:r>
              <a:rPr lang="en-US" dirty="0"/>
              <a:t> </a:t>
            </a:r>
            <a:r>
              <a:rPr lang="en-US" dirty="0" err="1"/>
              <a:t>сам</a:t>
            </a:r>
            <a:r>
              <a:rPr lang="en-US" dirty="0"/>
              <a:t> </a:t>
            </a:r>
            <a:r>
              <a:rPr lang="en-US" dirty="0" err="1"/>
              <a:t>каталог</a:t>
            </a:r>
            <a:r>
              <a:rPr lang="en-US" dirty="0"/>
              <a:t>, </a:t>
            </a:r>
            <a:r>
              <a:rPr lang="en-US" dirty="0" err="1"/>
              <a:t>но</a:t>
            </a:r>
            <a:r>
              <a:rPr lang="en-US" dirty="0"/>
              <a:t> и </a:t>
            </a:r>
            <a:r>
              <a:rPr lang="en-US" dirty="0" err="1"/>
              <a:t>все</a:t>
            </a:r>
            <a:r>
              <a:rPr lang="en-US" dirty="0"/>
              <a:t> </a:t>
            </a:r>
            <a:r>
              <a:rPr lang="en-US" dirty="0" err="1"/>
              <a:t>вложенные</a:t>
            </a:r>
            <a:r>
              <a:rPr lang="en-US" dirty="0"/>
              <a:t> </a:t>
            </a:r>
            <a:r>
              <a:rPr lang="en-US" dirty="0" err="1"/>
              <a:t>файлы</a:t>
            </a:r>
            <a:r>
              <a:rPr lang="en-US" dirty="0"/>
              <a:t> и </a:t>
            </a:r>
            <a:r>
              <a:rPr lang="en-US" dirty="0" err="1"/>
              <a:t>подкаталоги</a:t>
            </a:r>
            <a:r>
              <a:rPr lang="en-US" dirty="0"/>
              <a:t>.</a:t>
            </a:r>
            <a:endParaRPr lang="ru-RU" dirty="0"/>
          </a:p>
          <a:p>
            <a:endParaRPr lang="en-US" dirty="0"/>
          </a:p>
          <a:p>
            <a:r>
              <a:rPr lang="en-US" dirty="0" err="1"/>
              <a:t>Поэтому</a:t>
            </a:r>
            <a:r>
              <a:rPr lang="en-US" dirty="0"/>
              <a:t> с </a:t>
            </a:r>
            <a:r>
              <a:rPr lang="en-US" sz="1200" kern="1200" dirty="0">
                <a:solidFill>
                  <a:schemeClr val="tx1"/>
                </a:solidFill>
                <a:latin typeface="+mn-lt"/>
                <a:ea typeface="+mn-ea"/>
                <a:cs typeface="+mn-cs"/>
              </a:rPr>
              <a:t>rm -r</a:t>
            </a:r>
            <a:r>
              <a:rPr lang="en-US" dirty="0"/>
              <a:t> </a:t>
            </a:r>
            <a:r>
              <a:rPr lang="en-US" dirty="0" err="1"/>
              <a:t>нужно</a:t>
            </a:r>
            <a:r>
              <a:rPr lang="en-US" dirty="0"/>
              <a:t> </a:t>
            </a:r>
            <a:r>
              <a:rPr lang="en-US" dirty="0" err="1"/>
              <a:t>быть</a:t>
            </a:r>
            <a:r>
              <a:rPr lang="en-US" dirty="0"/>
              <a:t> </a:t>
            </a:r>
            <a:r>
              <a:rPr lang="en-US" dirty="0" err="1"/>
              <a:t>особенно</a:t>
            </a:r>
            <a:r>
              <a:rPr lang="en-US" dirty="0"/>
              <a:t> </a:t>
            </a:r>
            <a:r>
              <a:rPr lang="en-US" dirty="0" err="1"/>
              <a:t>внимательным</a:t>
            </a:r>
            <a:r>
              <a:rPr lang="en-US" dirty="0"/>
              <a:t>: в </a:t>
            </a:r>
            <a:r>
              <a:rPr lang="en-US" dirty="0" err="1"/>
              <a:t>отличие</a:t>
            </a:r>
            <a:r>
              <a:rPr lang="en-US" dirty="0"/>
              <a:t> </a:t>
            </a:r>
            <a:r>
              <a:rPr lang="en-US" dirty="0" err="1"/>
              <a:t>от</a:t>
            </a:r>
            <a:r>
              <a:rPr lang="en-US" dirty="0"/>
              <a:t> </a:t>
            </a:r>
            <a:r>
              <a:rPr lang="en-US" dirty="0" err="1"/>
              <a:t>графического</a:t>
            </a:r>
            <a:r>
              <a:rPr lang="en-US" dirty="0"/>
              <a:t> </a:t>
            </a:r>
            <a:r>
              <a:rPr lang="en-US" dirty="0" err="1"/>
              <a:t>интерфейса</a:t>
            </a:r>
            <a:r>
              <a:rPr lang="en-US" dirty="0"/>
              <a:t>, </a:t>
            </a:r>
            <a:r>
              <a:rPr lang="en-US" dirty="0" err="1"/>
              <a:t>удаление</a:t>
            </a:r>
            <a:r>
              <a:rPr lang="en-US" dirty="0"/>
              <a:t> </a:t>
            </a:r>
            <a:r>
              <a:rPr lang="en-US" dirty="0" err="1"/>
              <a:t>обычно</a:t>
            </a:r>
            <a:r>
              <a:rPr lang="en-US" dirty="0"/>
              <a:t> </a:t>
            </a:r>
            <a:r>
              <a:rPr lang="en-US" dirty="0" err="1"/>
              <a:t>происходит</a:t>
            </a:r>
            <a:r>
              <a:rPr lang="en-US" dirty="0"/>
              <a:t> </a:t>
            </a:r>
            <a:r>
              <a:rPr lang="en-US" dirty="0" err="1"/>
              <a:t>сразу</a:t>
            </a:r>
            <a:r>
              <a:rPr lang="en-US" dirty="0"/>
              <a:t>, </a:t>
            </a:r>
            <a:r>
              <a:rPr lang="en-US" dirty="0" err="1"/>
              <a:t>без</a:t>
            </a:r>
            <a:r>
              <a:rPr lang="en-US" dirty="0"/>
              <a:t> </a:t>
            </a:r>
            <a:r>
              <a:rPr lang="en-US" dirty="0" err="1"/>
              <a:t>перемещения</a:t>
            </a:r>
            <a:r>
              <a:rPr lang="en-US" dirty="0"/>
              <a:t> в </a:t>
            </a:r>
            <a:r>
              <a:rPr lang="en-US" dirty="0" err="1"/>
              <a:t>корзину</a:t>
            </a:r>
            <a:r>
              <a:rPr lang="en-US" dirty="0"/>
              <a:t>.</a:t>
            </a:r>
            <a:endParaRPr lang="ru-RU" dirty="0"/>
          </a:p>
          <a:p>
            <a:endParaRPr lang="en-US" dirty="0"/>
          </a:p>
          <a:p>
            <a:r>
              <a:rPr lang="en-US" dirty="0" err="1"/>
              <a:t>На</a:t>
            </a:r>
            <a:r>
              <a:rPr lang="en-US" dirty="0"/>
              <a:t> </a:t>
            </a:r>
            <a:r>
              <a:rPr lang="en-US" dirty="0" err="1"/>
              <a:t>следующем</a:t>
            </a:r>
            <a:r>
              <a:rPr lang="en-US" dirty="0"/>
              <a:t> </a:t>
            </a:r>
            <a:r>
              <a:rPr lang="en-US" dirty="0" err="1"/>
              <a:t>слайде</a:t>
            </a:r>
            <a:r>
              <a:rPr lang="en-US" dirty="0"/>
              <a:t> </a:t>
            </a:r>
            <a:r>
              <a:rPr lang="en-US" dirty="0" err="1"/>
              <a:t>мы</a:t>
            </a:r>
            <a:r>
              <a:rPr lang="en-US" dirty="0"/>
              <a:t> </a:t>
            </a:r>
            <a:r>
              <a:rPr lang="en-US" dirty="0" err="1"/>
              <a:t>посмотрим</a:t>
            </a:r>
            <a:r>
              <a:rPr lang="en-US" dirty="0"/>
              <a:t>, </a:t>
            </a:r>
            <a:r>
              <a:rPr lang="en-US" dirty="0" err="1"/>
              <a:t>как</a:t>
            </a:r>
            <a:r>
              <a:rPr lang="en-US" dirty="0"/>
              <a:t> </a:t>
            </a:r>
            <a:r>
              <a:rPr lang="en-US" dirty="0" err="1"/>
              <a:t>эти</a:t>
            </a:r>
            <a:r>
              <a:rPr lang="en-US" dirty="0"/>
              <a:t> </a:t>
            </a:r>
            <a:r>
              <a:rPr lang="en-US" dirty="0" err="1"/>
              <a:t>команды</a:t>
            </a:r>
            <a:r>
              <a:rPr lang="en-US" dirty="0"/>
              <a:t> </a:t>
            </a:r>
            <a:r>
              <a:rPr lang="en-US" dirty="0" err="1"/>
              <a:t>работают</a:t>
            </a:r>
            <a:r>
              <a:rPr lang="en-US" dirty="0"/>
              <a:t> </a:t>
            </a:r>
            <a:r>
              <a:rPr lang="en-US" dirty="0" err="1"/>
              <a:t>вместе</a:t>
            </a:r>
            <a:r>
              <a:rPr lang="en-US" dirty="0"/>
              <a:t> </a:t>
            </a:r>
            <a:r>
              <a:rPr lang="en-US" dirty="0" err="1"/>
              <a:t>на</a:t>
            </a:r>
            <a:r>
              <a:rPr lang="en-US" dirty="0"/>
              <a:t> </a:t>
            </a:r>
            <a:r>
              <a:rPr lang="en-US" dirty="0" err="1"/>
              <a:t>небольшом</a:t>
            </a:r>
            <a:r>
              <a:rPr lang="en-US" dirty="0"/>
              <a:t> </a:t>
            </a:r>
            <a:r>
              <a:rPr lang="en-US" dirty="0" err="1"/>
              <a:t>примере</a:t>
            </a:r>
            <a:r>
              <a:rPr lang="en-US" dirty="0"/>
              <a:t>.</a:t>
            </a:r>
          </a:p>
          <a:p>
            <a:endParaRPr lang="en-US" dirty="0"/>
          </a:p>
        </p:txBody>
      </p:sp>
      <p:sp>
        <p:nvSpPr>
          <p:cNvPr id="4" name="Slide Number Placeholder 3"/>
          <p:cNvSpPr>
            <a:spLocks noGrp="1"/>
          </p:cNvSpPr>
          <p:nvPr>
            <p:ph type="sldNum" sz="quarter" idx="5"/>
          </p:nvPr>
        </p:nvSpPr>
        <p:spPr/>
        <p:txBody>
          <a:bodyPr/>
          <a:lstStyle/>
          <a:p>
            <a:fld id="{A3EE74EF-BE85-44F3-968F-E74DD74A629E}" type="slidenum">
              <a:rPr lang="en-US" smtClean="0"/>
              <a:t>20</a:t>
            </a:fld>
            <a:endParaRPr lang="en-US"/>
          </a:p>
        </p:txBody>
      </p:sp>
    </p:spTree>
    <p:extLst>
      <p:ext uri="{BB962C8B-B14F-4D97-AF65-F5344CB8AC3E}">
        <p14:creationId xmlns:p14="http://schemas.microsoft.com/office/powerpoint/2010/main" val="16790599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Теперь</a:t>
            </a:r>
            <a:r>
              <a:rPr lang="en-US" dirty="0"/>
              <a:t> </a:t>
            </a:r>
            <a:r>
              <a:rPr lang="en-US" dirty="0" err="1"/>
              <a:t>посмотрим</a:t>
            </a:r>
            <a:r>
              <a:rPr lang="en-US" dirty="0"/>
              <a:t>, </a:t>
            </a:r>
            <a:r>
              <a:rPr lang="en-US" dirty="0" err="1"/>
              <a:t>как</a:t>
            </a:r>
            <a:r>
              <a:rPr lang="en-US" dirty="0"/>
              <a:t> </a:t>
            </a:r>
            <a:r>
              <a:rPr lang="en-US" dirty="0" err="1"/>
              <a:t>эти</a:t>
            </a:r>
            <a:r>
              <a:rPr lang="en-US" dirty="0"/>
              <a:t> </a:t>
            </a:r>
            <a:r>
              <a:rPr lang="en-US" dirty="0" err="1"/>
              <a:t>команды</a:t>
            </a:r>
            <a:r>
              <a:rPr lang="en-US" dirty="0"/>
              <a:t> </a:t>
            </a:r>
            <a:r>
              <a:rPr lang="en-US" dirty="0" err="1"/>
              <a:t>работают</a:t>
            </a:r>
            <a:r>
              <a:rPr lang="en-US" dirty="0"/>
              <a:t> </a:t>
            </a:r>
            <a:r>
              <a:rPr lang="en-US" dirty="0" err="1"/>
              <a:t>вместе</a:t>
            </a:r>
            <a:r>
              <a:rPr lang="en-US" dirty="0"/>
              <a:t> </a:t>
            </a:r>
            <a:r>
              <a:rPr lang="en-US" dirty="0" err="1"/>
              <a:t>на</a:t>
            </a:r>
            <a:r>
              <a:rPr lang="en-US" dirty="0"/>
              <a:t> </a:t>
            </a:r>
            <a:r>
              <a:rPr lang="en-US" dirty="0" err="1"/>
              <a:t>небольшом</a:t>
            </a:r>
            <a:r>
              <a:rPr lang="en-US" dirty="0"/>
              <a:t> </a:t>
            </a:r>
            <a:r>
              <a:rPr lang="en-US" dirty="0" err="1"/>
              <a:t>примере</a:t>
            </a:r>
            <a:r>
              <a:rPr lang="en-US" dirty="0"/>
              <a:t>.</a:t>
            </a:r>
            <a:endParaRPr lang="ru-RU" dirty="0"/>
          </a:p>
          <a:p>
            <a:endParaRPr lang="en-US" dirty="0"/>
          </a:p>
          <a:p>
            <a:r>
              <a:rPr lang="en-US" dirty="0" err="1"/>
              <a:t>Мы</a:t>
            </a:r>
            <a:r>
              <a:rPr lang="en-US" dirty="0"/>
              <a:t> </a:t>
            </a:r>
            <a:r>
              <a:rPr lang="en-US" dirty="0" err="1"/>
              <a:t>находимся</a:t>
            </a:r>
            <a:r>
              <a:rPr lang="en-US" dirty="0"/>
              <a:t> в </a:t>
            </a:r>
            <a:r>
              <a:rPr lang="en-US" dirty="0" err="1"/>
              <a:t>каталоге</a:t>
            </a:r>
            <a:r>
              <a:rPr lang="en-US" dirty="0"/>
              <a:t>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tmp</a:t>
            </a:r>
            <a:r>
              <a:rPr lang="en-US" dirty="0"/>
              <a:t>. </a:t>
            </a:r>
            <a:r>
              <a:rPr lang="en-US" dirty="0" err="1"/>
              <a:t>Сначала</a:t>
            </a:r>
            <a:r>
              <a:rPr lang="en-US" dirty="0"/>
              <a:t> </a:t>
            </a:r>
            <a:r>
              <a:rPr lang="en-US" dirty="0" err="1"/>
              <a:t>создаём</a:t>
            </a:r>
            <a:r>
              <a:rPr lang="en-US" dirty="0"/>
              <a:t> </a:t>
            </a:r>
            <a:r>
              <a:rPr lang="en-US" dirty="0" err="1"/>
              <a:t>пустой</a:t>
            </a:r>
            <a:r>
              <a:rPr lang="en-US" dirty="0"/>
              <a:t> </a:t>
            </a:r>
            <a:r>
              <a:rPr lang="en-US" dirty="0" err="1"/>
              <a:t>файл</a:t>
            </a:r>
            <a:r>
              <a:rPr lang="en-US" dirty="0"/>
              <a:t> </a:t>
            </a:r>
            <a:r>
              <a:rPr lang="en-US" dirty="0" err="1"/>
              <a:t>командой</a:t>
            </a:r>
            <a:r>
              <a:rPr lang="en-US" dirty="0"/>
              <a:t> </a:t>
            </a:r>
            <a:r>
              <a:rPr lang="en-US" sz="1200" kern="1200" dirty="0">
                <a:solidFill>
                  <a:schemeClr val="tx1"/>
                </a:solidFill>
                <a:latin typeface="+mn-lt"/>
                <a:ea typeface="+mn-ea"/>
                <a:cs typeface="+mn-cs"/>
              </a:rPr>
              <a:t>touch file.txt</a:t>
            </a:r>
            <a:r>
              <a:rPr lang="en-US" dirty="0"/>
              <a:t> и </a:t>
            </a:r>
            <a:r>
              <a:rPr lang="en-US" dirty="0" err="1"/>
              <a:t>проверяем</a:t>
            </a:r>
            <a:r>
              <a:rPr lang="en-US" dirty="0"/>
              <a:t> </a:t>
            </a:r>
            <a:r>
              <a:rPr lang="en-US" dirty="0" err="1"/>
              <a:t>результат</a:t>
            </a:r>
            <a:r>
              <a:rPr lang="en-US" dirty="0"/>
              <a:t> с </a:t>
            </a:r>
            <a:r>
              <a:rPr lang="en-US" dirty="0" err="1"/>
              <a:t>помощью</a:t>
            </a:r>
            <a:r>
              <a:rPr lang="en-US" dirty="0"/>
              <a:t> </a:t>
            </a:r>
            <a:r>
              <a:rPr lang="en-US" sz="1200" kern="1200" dirty="0">
                <a:solidFill>
                  <a:schemeClr val="tx1"/>
                </a:solidFill>
                <a:latin typeface="+mn-lt"/>
                <a:ea typeface="+mn-ea"/>
                <a:cs typeface="+mn-cs"/>
              </a:rPr>
              <a:t>ls</a:t>
            </a:r>
            <a:r>
              <a:rPr lang="en-US" dirty="0"/>
              <a:t>.</a:t>
            </a:r>
            <a:endParaRPr lang="ru-RU" dirty="0"/>
          </a:p>
          <a:p>
            <a:endParaRPr lang="en-US" dirty="0"/>
          </a:p>
          <a:p>
            <a:r>
              <a:rPr lang="en-US" dirty="0" err="1"/>
              <a:t>Затем</a:t>
            </a:r>
            <a:r>
              <a:rPr lang="en-US" dirty="0"/>
              <a:t> </a:t>
            </a:r>
            <a:r>
              <a:rPr lang="en-US" dirty="0" err="1"/>
              <a:t>создаём</a:t>
            </a:r>
            <a:r>
              <a:rPr lang="en-US" dirty="0"/>
              <a:t> </a:t>
            </a:r>
            <a:r>
              <a:rPr lang="en-US" dirty="0" err="1"/>
              <a:t>каталог</a:t>
            </a:r>
            <a:r>
              <a:rPr lang="en-US" dirty="0"/>
              <a:t> </a:t>
            </a:r>
            <a:r>
              <a:rPr lang="en-US" sz="1200" kern="1200" dirty="0">
                <a:solidFill>
                  <a:schemeClr val="tx1"/>
                </a:solidFill>
                <a:latin typeface="+mn-lt"/>
                <a:ea typeface="+mn-ea"/>
                <a:cs typeface="+mn-cs"/>
              </a:rPr>
              <a:t>docs</a:t>
            </a:r>
            <a:r>
              <a:rPr lang="en-US" dirty="0"/>
              <a:t> и </a:t>
            </a:r>
            <a:r>
              <a:rPr lang="en-US" dirty="0" err="1"/>
              <a:t>копируем</a:t>
            </a:r>
            <a:r>
              <a:rPr lang="en-US" dirty="0"/>
              <a:t> </a:t>
            </a:r>
            <a:r>
              <a:rPr lang="en-US" dirty="0" err="1"/>
              <a:t>исходный</a:t>
            </a:r>
            <a:r>
              <a:rPr lang="en-US" dirty="0"/>
              <a:t> </a:t>
            </a:r>
            <a:r>
              <a:rPr lang="en-US" dirty="0" err="1"/>
              <a:t>файл</a:t>
            </a:r>
            <a:r>
              <a:rPr lang="en-US" dirty="0"/>
              <a:t> в </a:t>
            </a:r>
            <a:r>
              <a:rPr lang="en-US" dirty="0" err="1"/>
              <a:t>новый</a:t>
            </a:r>
            <a:r>
              <a:rPr lang="en-US" dirty="0"/>
              <a:t> </a:t>
            </a:r>
            <a:r>
              <a:rPr lang="en-US" dirty="0" err="1"/>
              <a:t>файл</a:t>
            </a:r>
            <a:r>
              <a:rPr lang="en-US" dirty="0"/>
              <a:t> </a:t>
            </a:r>
            <a:r>
              <a:rPr lang="en-US" sz="1200" kern="1200" dirty="0">
                <a:solidFill>
                  <a:schemeClr val="tx1"/>
                </a:solidFill>
                <a:latin typeface="+mn-lt"/>
                <a:ea typeface="+mn-ea"/>
                <a:cs typeface="+mn-cs"/>
              </a:rPr>
              <a:t>file2.txt</a:t>
            </a:r>
            <a:r>
              <a:rPr lang="en-US" dirty="0"/>
              <a:t> с </a:t>
            </a:r>
            <a:r>
              <a:rPr lang="en-US" dirty="0" err="1"/>
              <a:t>помощью</a:t>
            </a:r>
            <a:r>
              <a:rPr lang="en-US" dirty="0"/>
              <a:t> </a:t>
            </a:r>
            <a:r>
              <a:rPr lang="en-US" dirty="0" err="1"/>
              <a:t>команды</a:t>
            </a:r>
            <a:r>
              <a:rPr lang="en-US" dirty="0"/>
              <a:t> </a:t>
            </a:r>
            <a:r>
              <a:rPr lang="en-US" sz="1200" kern="1200" dirty="0">
                <a:solidFill>
                  <a:schemeClr val="tx1"/>
                </a:solidFill>
                <a:latin typeface="+mn-lt"/>
                <a:ea typeface="+mn-ea"/>
                <a:cs typeface="+mn-cs"/>
              </a:rPr>
              <a:t>cp</a:t>
            </a:r>
            <a:r>
              <a:rPr lang="en-US" dirty="0"/>
              <a:t>. </a:t>
            </a:r>
            <a:r>
              <a:rPr lang="en-US" dirty="0" err="1"/>
              <a:t>После</a:t>
            </a:r>
            <a:r>
              <a:rPr lang="en-US" dirty="0"/>
              <a:t> </a:t>
            </a:r>
            <a:r>
              <a:rPr lang="en-US" dirty="0" err="1"/>
              <a:t>этого</a:t>
            </a:r>
            <a:r>
              <a:rPr lang="en-US" dirty="0"/>
              <a:t> в </a:t>
            </a:r>
            <a:r>
              <a:rPr lang="en-US" dirty="0" err="1"/>
              <a:t>текущем</a:t>
            </a:r>
            <a:r>
              <a:rPr lang="en-US" dirty="0"/>
              <a:t> </a:t>
            </a:r>
            <a:r>
              <a:rPr lang="en-US" dirty="0" err="1"/>
              <a:t>каталоге</a:t>
            </a:r>
            <a:r>
              <a:rPr lang="en-US" dirty="0"/>
              <a:t> </a:t>
            </a:r>
            <a:r>
              <a:rPr lang="en-US" dirty="0" err="1"/>
              <a:t>находятся</a:t>
            </a:r>
            <a:r>
              <a:rPr lang="en-US" dirty="0"/>
              <a:t> </a:t>
            </a:r>
            <a:r>
              <a:rPr lang="en-US" dirty="0" err="1"/>
              <a:t>уже</a:t>
            </a:r>
            <a:r>
              <a:rPr lang="en-US" dirty="0"/>
              <a:t> </a:t>
            </a:r>
            <a:r>
              <a:rPr lang="en-US" dirty="0" err="1"/>
              <a:t>три</a:t>
            </a:r>
            <a:r>
              <a:rPr lang="en-US" dirty="0"/>
              <a:t> </a:t>
            </a:r>
            <a:r>
              <a:rPr lang="en-US" dirty="0" err="1"/>
              <a:t>объекта</a:t>
            </a:r>
            <a:r>
              <a:rPr lang="en-US" dirty="0"/>
              <a:t>: </a:t>
            </a:r>
            <a:r>
              <a:rPr lang="en-US" dirty="0" err="1"/>
              <a:t>каталог</a:t>
            </a:r>
            <a:r>
              <a:rPr lang="en-US" dirty="0"/>
              <a:t> </a:t>
            </a:r>
            <a:r>
              <a:rPr lang="en-US" sz="1200" kern="1200" dirty="0">
                <a:solidFill>
                  <a:schemeClr val="tx1"/>
                </a:solidFill>
                <a:latin typeface="+mn-lt"/>
                <a:ea typeface="+mn-ea"/>
                <a:cs typeface="+mn-cs"/>
              </a:rPr>
              <a:t>docs</a:t>
            </a:r>
            <a:r>
              <a:rPr lang="en-US" dirty="0"/>
              <a:t> и </a:t>
            </a:r>
            <a:r>
              <a:rPr lang="en-US" dirty="0" err="1"/>
              <a:t>два</a:t>
            </a:r>
            <a:r>
              <a:rPr lang="en-US" dirty="0"/>
              <a:t> </a:t>
            </a:r>
            <a:r>
              <a:rPr lang="en-US" dirty="0" err="1"/>
              <a:t>файла</a:t>
            </a:r>
            <a:r>
              <a:rPr lang="en-US" dirty="0"/>
              <a:t>.</a:t>
            </a:r>
            <a:endParaRPr lang="ru-RU" dirty="0"/>
          </a:p>
          <a:p>
            <a:endParaRPr lang="en-US" dirty="0"/>
          </a:p>
          <a:p>
            <a:r>
              <a:rPr lang="en-US" dirty="0" err="1"/>
              <a:t>Следующая</a:t>
            </a:r>
            <a:r>
              <a:rPr lang="en-US" dirty="0"/>
              <a:t> </a:t>
            </a:r>
            <a:r>
              <a:rPr lang="en-US" dirty="0" err="1"/>
              <a:t>команда</a:t>
            </a:r>
            <a:r>
              <a:rPr lang="en-US" dirty="0"/>
              <a:t>:</a:t>
            </a:r>
          </a:p>
          <a:p>
            <a:r>
              <a:rPr lang="en-US" sz="1200" kern="1200" dirty="0">
                <a:solidFill>
                  <a:schemeClr val="tx1"/>
                </a:solidFill>
                <a:latin typeface="+mn-lt"/>
                <a:ea typeface="+mn-ea"/>
                <a:cs typeface="+mn-cs"/>
              </a:rPr>
              <a:t>mv file.txt docs/</a:t>
            </a:r>
            <a:endParaRPr lang="en-US" dirty="0"/>
          </a:p>
          <a:p>
            <a:r>
              <a:rPr lang="en-US" dirty="0" err="1"/>
              <a:t>перемещает</a:t>
            </a:r>
            <a:r>
              <a:rPr lang="en-US" dirty="0"/>
              <a:t> </a:t>
            </a:r>
            <a:r>
              <a:rPr lang="en-US" sz="1200" kern="1200" dirty="0">
                <a:solidFill>
                  <a:schemeClr val="tx1"/>
                </a:solidFill>
                <a:latin typeface="+mn-lt"/>
                <a:ea typeface="+mn-ea"/>
                <a:cs typeface="+mn-cs"/>
              </a:rPr>
              <a:t>file.txt</a:t>
            </a:r>
            <a:r>
              <a:rPr lang="en-US" dirty="0"/>
              <a:t> </a:t>
            </a:r>
            <a:r>
              <a:rPr lang="en-US" dirty="0" err="1"/>
              <a:t>внутрь</a:t>
            </a:r>
            <a:r>
              <a:rPr lang="en-US" dirty="0"/>
              <a:t> </a:t>
            </a:r>
            <a:r>
              <a:rPr lang="en-US" dirty="0" err="1"/>
              <a:t>каталога</a:t>
            </a:r>
            <a:r>
              <a:rPr lang="en-US" dirty="0"/>
              <a:t> </a:t>
            </a:r>
            <a:r>
              <a:rPr lang="en-US" sz="1200" kern="1200" dirty="0">
                <a:solidFill>
                  <a:schemeClr val="tx1"/>
                </a:solidFill>
                <a:latin typeface="+mn-lt"/>
                <a:ea typeface="+mn-ea"/>
                <a:cs typeface="+mn-cs"/>
              </a:rPr>
              <a:t>docs</a:t>
            </a:r>
            <a:r>
              <a:rPr lang="en-US" dirty="0"/>
              <a:t>. </a:t>
            </a:r>
            <a:r>
              <a:rPr lang="en-US" dirty="0" err="1"/>
              <a:t>Если</a:t>
            </a:r>
            <a:r>
              <a:rPr lang="en-US" dirty="0"/>
              <a:t> </a:t>
            </a:r>
            <a:r>
              <a:rPr lang="en-US" dirty="0" err="1"/>
              <a:t>снова</a:t>
            </a:r>
            <a:r>
              <a:rPr lang="en-US" dirty="0"/>
              <a:t> </a:t>
            </a:r>
            <a:r>
              <a:rPr lang="en-US" dirty="0" err="1"/>
              <a:t>выполнить</a:t>
            </a:r>
            <a:r>
              <a:rPr lang="en-US" dirty="0"/>
              <a:t> </a:t>
            </a:r>
            <a:r>
              <a:rPr lang="en-US" sz="1200" kern="1200" dirty="0">
                <a:solidFill>
                  <a:schemeClr val="tx1"/>
                </a:solidFill>
                <a:latin typeface="+mn-lt"/>
                <a:ea typeface="+mn-ea"/>
                <a:cs typeface="+mn-cs"/>
              </a:rPr>
              <a:t>ls</a:t>
            </a:r>
            <a:r>
              <a:rPr lang="en-US" dirty="0"/>
              <a:t>, в </a:t>
            </a:r>
            <a:r>
              <a:rPr lang="en-US" dirty="0" err="1"/>
              <a:t>текущем</a:t>
            </a:r>
            <a:r>
              <a:rPr lang="en-US" dirty="0"/>
              <a:t> </a:t>
            </a:r>
            <a:r>
              <a:rPr lang="en-US" dirty="0" err="1"/>
              <a:t>каталоге</a:t>
            </a:r>
            <a:r>
              <a:rPr lang="en-US" dirty="0"/>
              <a:t> </a:t>
            </a:r>
            <a:r>
              <a:rPr lang="en-US" dirty="0" err="1"/>
              <a:t>останутся</a:t>
            </a:r>
            <a:r>
              <a:rPr lang="en-US" dirty="0"/>
              <a:t> </a:t>
            </a:r>
            <a:r>
              <a:rPr lang="en-US" dirty="0" err="1"/>
              <a:t>только</a:t>
            </a:r>
            <a:r>
              <a:rPr lang="en-US" dirty="0"/>
              <a:t> </a:t>
            </a:r>
            <a:r>
              <a:rPr lang="en-US" sz="1200" kern="1200" dirty="0">
                <a:solidFill>
                  <a:schemeClr val="tx1"/>
                </a:solidFill>
                <a:latin typeface="+mn-lt"/>
                <a:ea typeface="+mn-ea"/>
                <a:cs typeface="+mn-cs"/>
              </a:rPr>
              <a:t>docs</a:t>
            </a:r>
            <a:r>
              <a:rPr lang="en-US" dirty="0"/>
              <a:t> и </a:t>
            </a:r>
            <a:r>
              <a:rPr lang="en-US" sz="1200" kern="1200" dirty="0">
                <a:solidFill>
                  <a:schemeClr val="tx1"/>
                </a:solidFill>
                <a:latin typeface="+mn-lt"/>
                <a:ea typeface="+mn-ea"/>
                <a:cs typeface="+mn-cs"/>
              </a:rPr>
              <a:t>file2.txt</a:t>
            </a:r>
            <a:r>
              <a:rPr lang="en-US" dirty="0"/>
              <a:t>. А </a:t>
            </a:r>
            <a:r>
              <a:rPr lang="en-US" dirty="0" err="1"/>
              <a:t>команда</a:t>
            </a:r>
            <a:r>
              <a:rPr lang="en-US" dirty="0"/>
              <a:t> </a:t>
            </a:r>
            <a:r>
              <a:rPr lang="en-US" sz="1200" kern="1200" dirty="0">
                <a:solidFill>
                  <a:schemeClr val="tx1"/>
                </a:solidFill>
                <a:latin typeface="+mn-lt"/>
                <a:ea typeface="+mn-ea"/>
                <a:cs typeface="+mn-cs"/>
              </a:rPr>
              <a:t>ls docs</a:t>
            </a:r>
            <a:r>
              <a:rPr lang="en-US" dirty="0"/>
              <a:t> </a:t>
            </a:r>
            <a:r>
              <a:rPr lang="en-US" dirty="0" err="1"/>
              <a:t>показывает</a:t>
            </a:r>
            <a:r>
              <a:rPr lang="en-US" dirty="0"/>
              <a:t>, </a:t>
            </a:r>
            <a:r>
              <a:rPr lang="en-US" dirty="0" err="1"/>
              <a:t>что</a:t>
            </a:r>
            <a:r>
              <a:rPr lang="en-US" dirty="0"/>
              <a:t> </a:t>
            </a:r>
            <a:r>
              <a:rPr lang="en-US" dirty="0" err="1"/>
              <a:t>исходный</a:t>
            </a:r>
            <a:r>
              <a:rPr lang="en-US" dirty="0"/>
              <a:t> </a:t>
            </a:r>
            <a:r>
              <a:rPr lang="en-US" sz="1200" kern="1200" dirty="0">
                <a:solidFill>
                  <a:schemeClr val="tx1"/>
                </a:solidFill>
                <a:latin typeface="+mn-lt"/>
                <a:ea typeface="+mn-ea"/>
                <a:cs typeface="+mn-cs"/>
              </a:rPr>
              <a:t>file.txt</a:t>
            </a:r>
            <a:r>
              <a:rPr lang="en-US" dirty="0"/>
              <a:t> </a:t>
            </a:r>
            <a:r>
              <a:rPr lang="en-US" dirty="0" err="1"/>
              <a:t>теперь</a:t>
            </a:r>
            <a:r>
              <a:rPr lang="en-US" dirty="0"/>
              <a:t> </a:t>
            </a:r>
            <a:r>
              <a:rPr lang="en-US" dirty="0" err="1"/>
              <a:t>находится</a:t>
            </a:r>
            <a:r>
              <a:rPr lang="en-US" dirty="0"/>
              <a:t> </a:t>
            </a:r>
            <a:r>
              <a:rPr lang="en-US" dirty="0" err="1"/>
              <a:t>внутри</a:t>
            </a:r>
            <a:r>
              <a:rPr lang="en-US" dirty="0"/>
              <a:t> </a:t>
            </a:r>
            <a:r>
              <a:rPr lang="en-US" sz="1200" kern="1200" dirty="0">
                <a:solidFill>
                  <a:schemeClr val="tx1"/>
                </a:solidFill>
                <a:latin typeface="+mn-lt"/>
                <a:ea typeface="+mn-ea"/>
                <a:cs typeface="+mn-cs"/>
              </a:rPr>
              <a:t>docs</a:t>
            </a:r>
            <a:r>
              <a:rPr lang="en-US" dirty="0"/>
              <a:t>.</a:t>
            </a:r>
            <a:endParaRPr lang="ru-RU" dirty="0"/>
          </a:p>
          <a:p>
            <a:endParaRPr lang="en-US" dirty="0"/>
          </a:p>
          <a:p>
            <a:r>
              <a:rPr lang="en-US" dirty="0" err="1"/>
              <a:t>Дальше</a:t>
            </a:r>
            <a:r>
              <a:rPr lang="en-US" dirty="0"/>
              <a:t> </a:t>
            </a:r>
            <a:r>
              <a:rPr lang="en-US" dirty="0" err="1"/>
              <a:t>удаляем</a:t>
            </a:r>
            <a:r>
              <a:rPr lang="en-US" dirty="0"/>
              <a:t> </a:t>
            </a:r>
            <a:r>
              <a:rPr lang="en-US" dirty="0" err="1"/>
              <a:t>этот</a:t>
            </a:r>
            <a:r>
              <a:rPr lang="en-US" dirty="0"/>
              <a:t> </a:t>
            </a:r>
            <a:r>
              <a:rPr lang="en-US" dirty="0" err="1"/>
              <a:t>файл</a:t>
            </a:r>
            <a:r>
              <a:rPr lang="en-US" dirty="0"/>
              <a:t> </a:t>
            </a:r>
            <a:r>
              <a:rPr lang="en-US" dirty="0" err="1"/>
              <a:t>командой</a:t>
            </a:r>
            <a:r>
              <a:rPr lang="en-US" dirty="0"/>
              <a:t> </a:t>
            </a:r>
            <a:r>
              <a:rPr lang="en-US" sz="1200" kern="1200" dirty="0">
                <a:solidFill>
                  <a:schemeClr val="tx1"/>
                </a:solidFill>
                <a:latin typeface="+mn-lt"/>
                <a:ea typeface="+mn-ea"/>
                <a:cs typeface="+mn-cs"/>
              </a:rPr>
              <a:t>rm docs/file.txt</a:t>
            </a:r>
            <a:r>
              <a:rPr lang="en-US" dirty="0"/>
              <a:t>. </a:t>
            </a:r>
            <a:r>
              <a:rPr lang="en-US" dirty="0" err="1"/>
              <a:t>Каталог</a:t>
            </a:r>
            <a:r>
              <a:rPr lang="en-US" dirty="0"/>
              <a:t> </a:t>
            </a:r>
            <a:r>
              <a:rPr lang="en-US" sz="1200" kern="1200" dirty="0">
                <a:solidFill>
                  <a:schemeClr val="tx1"/>
                </a:solidFill>
                <a:latin typeface="+mn-lt"/>
                <a:ea typeface="+mn-ea"/>
                <a:cs typeface="+mn-cs"/>
              </a:rPr>
              <a:t>docs</a:t>
            </a:r>
            <a:r>
              <a:rPr lang="en-US" dirty="0"/>
              <a:t> </a:t>
            </a:r>
            <a:r>
              <a:rPr lang="en-US" dirty="0" err="1"/>
              <a:t>после</a:t>
            </a:r>
            <a:r>
              <a:rPr lang="en-US" dirty="0"/>
              <a:t> </a:t>
            </a:r>
            <a:r>
              <a:rPr lang="en-US" dirty="0" err="1"/>
              <a:t>этого</a:t>
            </a:r>
            <a:r>
              <a:rPr lang="en-US" dirty="0"/>
              <a:t> </a:t>
            </a:r>
            <a:r>
              <a:rPr lang="en-US" dirty="0" err="1"/>
              <a:t>становится</a:t>
            </a:r>
            <a:r>
              <a:rPr lang="en-US" dirty="0"/>
              <a:t> </a:t>
            </a:r>
            <a:r>
              <a:rPr lang="en-US" dirty="0" err="1"/>
              <a:t>пустым</a:t>
            </a:r>
            <a:r>
              <a:rPr lang="en-US" dirty="0"/>
              <a:t>.</a:t>
            </a:r>
            <a:endParaRPr lang="ru-RU" dirty="0"/>
          </a:p>
          <a:p>
            <a:endParaRPr lang="en-US" dirty="0"/>
          </a:p>
          <a:p>
            <a:r>
              <a:rPr lang="en-US" dirty="0" err="1"/>
              <a:t>Теперь</a:t>
            </a:r>
            <a:r>
              <a:rPr lang="en-US" dirty="0"/>
              <a:t> </a:t>
            </a:r>
            <a:r>
              <a:rPr lang="en-US" dirty="0" err="1"/>
              <a:t>интересный</a:t>
            </a:r>
            <a:r>
              <a:rPr lang="en-US" dirty="0"/>
              <a:t> </a:t>
            </a:r>
            <a:r>
              <a:rPr lang="en-US" dirty="0" err="1"/>
              <a:t>момент</a:t>
            </a:r>
            <a:r>
              <a:rPr lang="en-US" dirty="0"/>
              <a:t>. </a:t>
            </a:r>
            <a:r>
              <a:rPr lang="en-US" dirty="0" err="1"/>
              <a:t>Мы</a:t>
            </a:r>
            <a:r>
              <a:rPr lang="en-US" dirty="0"/>
              <a:t> </a:t>
            </a:r>
            <a:r>
              <a:rPr lang="en-US" dirty="0" err="1"/>
              <a:t>пытаемся</a:t>
            </a:r>
            <a:r>
              <a:rPr lang="en-US" dirty="0"/>
              <a:t> </a:t>
            </a:r>
            <a:r>
              <a:rPr lang="en-US" dirty="0" err="1"/>
              <a:t>выполнить</a:t>
            </a:r>
            <a:r>
              <a:rPr lang="en-US" dirty="0"/>
              <a:t> </a:t>
            </a:r>
            <a:r>
              <a:rPr lang="en-US" sz="1200" kern="1200" dirty="0">
                <a:solidFill>
                  <a:schemeClr val="tx1"/>
                </a:solidFill>
                <a:latin typeface="+mn-lt"/>
                <a:ea typeface="+mn-ea"/>
                <a:cs typeface="+mn-cs"/>
              </a:rPr>
              <a:t>rm docs</a:t>
            </a:r>
            <a:r>
              <a:rPr lang="en-US" dirty="0"/>
              <a:t>, </a:t>
            </a:r>
            <a:r>
              <a:rPr lang="en-US" dirty="0" err="1"/>
              <a:t>но</a:t>
            </a:r>
            <a:r>
              <a:rPr lang="en-US" dirty="0"/>
              <a:t> </a:t>
            </a:r>
            <a:r>
              <a:rPr lang="en-US" dirty="0" err="1"/>
              <a:t>получаем</a:t>
            </a:r>
            <a:r>
              <a:rPr lang="en-US" dirty="0"/>
              <a:t> </a:t>
            </a:r>
            <a:r>
              <a:rPr lang="en-US" dirty="0" err="1"/>
              <a:t>ошибку</a:t>
            </a:r>
            <a:r>
              <a:rPr lang="en-US" dirty="0"/>
              <a:t>: </a:t>
            </a:r>
            <a:r>
              <a:rPr lang="en-US" sz="1200" kern="1200" dirty="0">
                <a:solidFill>
                  <a:schemeClr val="tx1"/>
                </a:solidFill>
                <a:latin typeface="+mn-lt"/>
                <a:ea typeface="+mn-ea"/>
                <a:cs typeface="+mn-cs"/>
              </a:rPr>
              <a:t>Is a directory</a:t>
            </a:r>
            <a:r>
              <a:rPr lang="en-US" dirty="0"/>
              <a:t>. </a:t>
            </a:r>
            <a:r>
              <a:rPr lang="en-US" dirty="0" err="1"/>
              <a:t>Обычный</a:t>
            </a:r>
            <a:r>
              <a:rPr lang="en-US" dirty="0"/>
              <a:t> </a:t>
            </a:r>
            <a:r>
              <a:rPr lang="en-US" sz="1200" kern="1200" dirty="0">
                <a:solidFill>
                  <a:schemeClr val="tx1"/>
                </a:solidFill>
                <a:latin typeface="+mn-lt"/>
                <a:ea typeface="+mn-ea"/>
                <a:cs typeface="+mn-cs"/>
              </a:rPr>
              <a:t>rm</a:t>
            </a:r>
            <a:r>
              <a:rPr lang="en-US" dirty="0"/>
              <a:t> </a:t>
            </a:r>
            <a:r>
              <a:rPr lang="en-US" dirty="0" err="1"/>
              <a:t>предназначен</a:t>
            </a:r>
            <a:r>
              <a:rPr lang="en-US" dirty="0"/>
              <a:t> </a:t>
            </a:r>
            <a:r>
              <a:rPr lang="en-US" dirty="0" err="1"/>
              <a:t>для</a:t>
            </a:r>
            <a:r>
              <a:rPr lang="en-US" dirty="0"/>
              <a:t> </a:t>
            </a:r>
            <a:r>
              <a:rPr lang="en-US" dirty="0" err="1"/>
              <a:t>удаления</a:t>
            </a:r>
            <a:r>
              <a:rPr lang="en-US" dirty="0"/>
              <a:t> </a:t>
            </a:r>
            <a:r>
              <a:rPr lang="en-US" dirty="0" err="1"/>
              <a:t>файлов</a:t>
            </a:r>
            <a:r>
              <a:rPr lang="en-US" dirty="0"/>
              <a:t> и </a:t>
            </a:r>
            <a:r>
              <a:rPr lang="en-US" dirty="0" err="1"/>
              <a:t>не</a:t>
            </a:r>
            <a:r>
              <a:rPr lang="en-US" dirty="0"/>
              <a:t> </a:t>
            </a:r>
            <a:r>
              <a:rPr lang="en-US" dirty="0" err="1"/>
              <a:t>удаляет</a:t>
            </a:r>
            <a:r>
              <a:rPr lang="en-US" dirty="0"/>
              <a:t> </a:t>
            </a:r>
            <a:r>
              <a:rPr lang="en-US" dirty="0" err="1"/>
              <a:t>каталоги</a:t>
            </a:r>
            <a:r>
              <a:rPr lang="en-US" dirty="0"/>
              <a:t> </a:t>
            </a:r>
            <a:r>
              <a:rPr lang="en-US" dirty="0" err="1"/>
              <a:t>таким</a:t>
            </a:r>
            <a:r>
              <a:rPr lang="en-US" dirty="0"/>
              <a:t> </a:t>
            </a:r>
            <a:r>
              <a:rPr lang="en-US" dirty="0" err="1"/>
              <a:t>способом</a:t>
            </a:r>
            <a:r>
              <a:rPr lang="en-US" dirty="0"/>
              <a:t>.</a:t>
            </a:r>
            <a:endParaRPr lang="ru-RU" dirty="0"/>
          </a:p>
          <a:p>
            <a:endParaRPr lang="en-US" dirty="0"/>
          </a:p>
          <a:p>
            <a:r>
              <a:rPr lang="en-US" dirty="0" err="1"/>
              <a:t>Поскольку</a:t>
            </a:r>
            <a:r>
              <a:rPr lang="en-US" dirty="0"/>
              <a:t> </a:t>
            </a:r>
            <a:r>
              <a:rPr lang="en-US" dirty="0" err="1"/>
              <a:t>каталог</a:t>
            </a:r>
            <a:r>
              <a:rPr lang="en-US" dirty="0"/>
              <a:t> у </a:t>
            </a:r>
            <a:r>
              <a:rPr lang="en-US" dirty="0" err="1"/>
              <a:t>нас</a:t>
            </a:r>
            <a:r>
              <a:rPr lang="en-US" dirty="0"/>
              <a:t> </a:t>
            </a:r>
            <a:r>
              <a:rPr lang="en-US" dirty="0" err="1"/>
              <a:t>уже</a:t>
            </a:r>
            <a:r>
              <a:rPr lang="en-US" dirty="0"/>
              <a:t> </a:t>
            </a:r>
            <a:r>
              <a:rPr lang="en-US" dirty="0" err="1"/>
              <a:t>пустой</a:t>
            </a:r>
            <a:r>
              <a:rPr lang="en-US" dirty="0"/>
              <a:t>, </a:t>
            </a:r>
            <a:r>
              <a:rPr lang="en-US" dirty="0" err="1"/>
              <a:t>его</a:t>
            </a:r>
            <a:r>
              <a:rPr lang="en-US" dirty="0"/>
              <a:t> </a:t>
            </a:r>
            <a:r>
              <a:rPr lang="en-US" dirty="0" err="1"/>
              <a:t>можно</a:t>
            </a:r>
            <a:r>
              <a:rPr lang="en-US" dirty="0"/>
              <a:t> </a:t>
            </a:r>
            <a:r>
              <a:rPr lang="en-US" dirty="0" err="1"/>
              <a:t>удалить</a:t>
            </a:r>
            <a:r>
              <a:rPr lang="en-US" dirty="0"/>
              <a:t> </a:t>
            </a:r>
            <a:r>
              <a:rPr lang="en-US" dirty="0" err="1"/>
              <a:t>командой</a:t>
            </a:r>
            <a:r>
              <a:rPr lang="en-US" dirty="0"/>
              <a:t> </a:t>
            </a:r>
            <a:r>
              <a:rPr lang="en-US" sz="1200" kern="1200" dirty="0" err="1">
                <a:solidFill>
                  <a:schemeClr val="tx1"/>
                </a:solidFill>
                <a:latin typeface="+mn-lt"/>
                <a:ea typeface="+mn-ea"/>
                <a:cs typeface="+mn-cs"/>
              </a:rPr>
              <a:t>rmdir</a:t>
            </a:r>
            <a:r>
              <a:rPr lang="en-US" sz="1200" kern="1200" dirty="0">
                <a:solidFill>
                  <a:schemeClr val="tx1"/>
                </a:solidFill>
                <a:latin typeface="+mn-lt"/>
                <a:ea typeface="+mn-ea"/>
                <a:cs typeface="+mn-cs"/>
              </a:rPr>
              <a:t> docs</a:t>
            </a:r>
            <a:r>
              <a:rPr lang="en-US" dirty="0"/>
              <a:t>.</a:t>
            </a:r>
            <a:endParaRPr lang="ru-RU" dirty="0"/>
          </a:p>
          <a:p>
            <a:endParaRPr lang="en-US" dirty="0"/>
          </a:p>
          <a:p>
            <a:r>
              <a:rPr lang="en-US" dirty="0" err="1"/>
              <a:t>Если</a:t>
            </a:r>
            <a:r>
              <a:rPr lang="en-US" dirty="0"/>
              <a:t> </a:t>
            </a:r>
            <a:r>
              <a:rPr lang="en-US" dirty="0" err="1"/>
              <a:t>бы</a:t>
            </a:r>
            <a:r>
              <a:rPr lang="en-US" dirty="0"/>
              <a:t> </a:t>
            </a:r>
            <a:r>
              <a:rPr lang="en-US" dirty="0" err="1"/>
              <a:t>внутри</a:t>
            </a:r>
            <a:r>
              <a:rPr lang="en-US" dirty="0"/>
              <a:t> </a:t>
            </a:r>
            <a:r>
              <a:rPr lang="en-US" dirty="0" err="1"/>
              <a:t>него</a:t>
            </a:r>
            <a:r>
              <a:rPr lang="en-US" dirty="0"/>
              <a:t> </a:t>
            </a:r>
            <a:r>
              <a:rPr lang="en-US" dirty="0" err="1"/>
              <a:t>ещё</a:t>
            </a:r>
            <a:r>
              <a:rPr lang="en-US" dirty="0"/>
              <a:t> </a:t>
            </a:r>
            <a:r>
              <a:rPr lang="en-US" dirty="0" err="1"/>
              <a:t>оставались</a:t>
            </a:r>
            <a:r>
              <a:rPr lang="en-US" dirty="0"/>
              <a:t> </a:t>
            </a:r>
            <a:r>
              <a:rPr lang="en-US" dirty="0" err="1"/>
              <a:t>файлы</a:t>
            </a:r>
            <a:r>
              <a:rPr lang="en-US" dirty="0"/>
              <a:t> </a:t>
            </a:r>
            <a:r>
              <a:rPr lang="en-US" dirty="0" err="1"/>
              <a:t>или</a:t>
            </a:r>
            <a:r>
              <a:rPr lang="en-US" dirty="0"/>
              <a:t> </a:t>
            </a:r>
            <a:r>
              <a:rPr lang="en-US" dirty="0" err="1"/>
              <a:t>другие</a:t>
            </a:r>
            <a:r>
              <a:rPr lang="en-US" dirty="0"/>
              <a:t> </a:t>
            </a:r>
            <a:r>
              <a:rPr lang="en-US" dirty="0" err="1"/>
              <a:t>каталоги</a:t>
            </a:r>
            <a:r>
              <a:rPr lang="en-US" dirty="0"/>
              <a:t>, </a:t>
            </a:r>
            <a:r>
              <a:rPr lang="en-US" sz="1200" kern="1200" dirty="0" err="1">
                <a:solidFill>
                  <a:schemeClr val="tx1"/>
                </a:solidFill>
                <a:latin typeface="+mn-lt"/>
                <a:ea typeface="+mn-ea"/>
                <a:cs typeface="+mn-cs"/>
              </a:rPr>
              <a:t>rmdir</a:t>
            </a:r>
            <a:r>
              <a:rPr lang="en-US" dirty="0"/>
              <a:t> </a:t>
            </a:r>
            <a:r>
              <a:rPr lang="en-US" dirty="0" err="1"/>
              <a:t>отказался</a:t>
            </a:r>
            <a:r>
              <a:rPr lang="en-US" dirty="0"/>
              <a:t> </a:t>
            </a:r>
            <a:r>
              <a:rPr lang="en-US" dirty="0" err="1"/>
              <a:t>бы</a:t>
            </a:r>
            <a:r>
              <a:rPr lang="en-US" dirty="0"/>
              <a:t> </a:t>
            </a:r>
            <a:r>
              <a:rPr lang="en-US" dirty="0" err="1"/>
              <a:t>его</a:t>
            </a:r>
            <a:r>
              <a:rPr lang="en-US" dirty="0"/>
              <a:t> </a:t>
            </a:r>
            <a:r>
              <a:rPr lang="en-US" dirty="0" err="1"/>
              <a:t>удалять</a:t>
            </a:r>
            <a:r>
              <a:rPr lang="en-US" dirty="0"/>
              <a:t>. В </a:t>
            </a:r>
            <a:r>
              <a:rPr lang="en-US" dirty="0" err="1"/>
              <a:t>таком</a:t>
            </a:r>
            <a:r>
              <a:rPr lang="en-US" dirty="0"/>
              <a:t> </a:t>
            </a:r>
            <a:r>
              <a:rPr lang="en-US" dirty="0" err="1"/>
              <a:t>случае</a:t>
            </a:r>
            <a:r>
              <a:rPr lang="en-US" dirty="0"/>
              <a:t> </a:t>
            </a:r>
            <a:r>
              <a:rPr lang="en-US" dirty="0" err="1"/>
              <a:t>для</a:t>
            </a:r>
            <a:r>
              <a:rPr lang="en-US" dirty="0"/>
              <a:t> </a:t>
            </a:r>
            <a:r>
              <a:rPr lang="en-US" dirty="0" err="1"/>
              <a:t>удаления</a:t>
            </a:r>
            <a:r>
              <a:rPr lang="en-US" dirty="0"/>
              <a:t> </a:t>
            </a:r>
            <a:r>
              <a:rPr lang="en-US" dirty="0" err="1"/>
              <a:t>всего</a:t>
            </a:r>
            <a:r>
              <a:rPr lang="en-US" dirty="0"/>
              <a:t> </a:t>
            </a:r>
            <a:r>
              <a:rPr lang="en-US" dirty="0" err="1"/>
              <a:t>дерева</a:t>
            </a:r>
            <a:r>
              <a:rPr lang="en-US" dirty="0"/>
              <a:t> </a:t>
            </a:r>
            <a:r>
              <a:rPr lang="en-US" dirty="0" err="1"/>
              <a:t>можно</a:t>
            </a:r>
            <a:r>
              <a:rPr lang="en-US" dirty="0"/>
              <a:t> </a:t>
            </a:r>
            <a:r>
              <a:rPr lang="en-US" dirty="0" err="1"/>
              <a:t>было</a:t>
            </a:r>
            <a:r>
              <a:rPr lang="en-US" dirty="0"/>
              <a:t> </a:t>
            </a:r>
            <a:r>
              <a:rPr lang="en-US" dirty="0" err="1"/>
              <a:t>бы</a:t>
            </a:r>
            <a:r>
              <a:rPr lang="en-US" dirty="0"/>
              <a:t> </a:t>
            </a:r>
            <a:r>
              <a:rPr lang="en-US" dirty="0" err="1"/>
              <a:t>использовать</a:t>
            </a:r>
            <a:r>
              <a:rPr lang="en-US" dirty="0"/>
              <a:t> </a:t>
            </a:r>
            <a:r>
              <a:rPr lang="en-US" sz="1200" kern="1200" dirty="0">
                <a:solidFill>
                  <a:schemeClr val="tx1"/>
                </a:solidFill>
                <a:latin typeface="+mn-lt"/>
                <a:ea typeface="+mn-ea"/>
                <a:cs typeface="+mn-cs"/>
              </a:rPr>
              <a:t>rm -r</a:t>
            </a:r>
            <a:r>
              <a:rPr lang="en-US" dirty="0"/>
              <a:t>, </a:t>
            </a:r>
            <a:r>
              <a:rPr lang="en-US" dirty="0" err="1"/>
              <a:t>который</a:t>
            </a:r>
            <a:r>
              <a:rPr lang="en-US" dirty="0"/>
              <a:t> </a:t>
            </a:r>
            <a:r>
              <a:rPr lang="en-US" dirty="0" err="1"/>
              <a:t>мы</a:t>
            </a:r>
            <a:r>
              <a:rPr lang="en-US" dirty="0"/>
              <a:t> </a:t>
            </a:r>
            <a:r>
              <a:rPr lang="en-US" dirty="0" err="1"/>
              <a:t>видели</a:t>
            </a:r>
            <a:r>
              <a:rPr lang="en-US" dirty="0"/>
              <a:t> </a:t>
            </a:r>
            <a:r>
              <a:rPr lang="en-US" dirty="0" err="1"/>
              <a:t>на</a:t>
            </a:r>
            <a:r>
              <a:rPr lang="en-US" dirty="0"/>
              <a:t> </a:t>
            </a:r>
            <a:r>
              <a:rPr lang="en-US" dirty="0" err="1"/>
              <a:t>предыдущем</a:t>
            </a:r>
            <a:r>
              <a:rPr lang="en-US" dirty="0"/>
              <a:t> </a:t>
            </a:r>
            <a:r>
              <a:rPr lang="en-US" dirty="0" err="1"/>
              <a:t>слайде</a:t>
            </a:r>
            <a:r>
              <a:rPr lang="en-US" dirty="0"/>
              <a:t>.</a:t>
            </a:r>
            <a:endParaRPr lang="ru-RU" dirty="0"/>
          </a:p>
          <a:p>
            <a:endParaRPr lang="en-US" dirty="0"/>
          </a:p>
          <a:p>
            <a:r>
              <a:rPr lang="en-US" dirty="0"/>
              <a:t>В </a:t>
            </a:r>
            <a:r>
              <a:rPr lang="en-US" dirty="0" err="1"/>
              <a:t>конце</a:t>
            </a:r>
            <a:r>
              <a:rPr lang="en-US" dirty="0"/>
              <a:t> </a:t>
            </a:r>
            <a:r>
              <a:rPr lang="en-US" dirty="0" err="1"/>
              <a:t>снова</a:t>
            </a:r>
            <a:r>
              <a:rPr lang="en-US" dirty="0"/>
              <a:t> </a:t>
            </a:r>
            <a:r>
              <a:rPr lang="en-US" dirty="0" err="1"/>
              <a:t>выполняем</a:t>
            </a:r>
            <a:r>
              <a:rPr lang="en-US" dirty="0"/>
              <a:t> </a:t>
            </a:r>
            <a:r>
              <a:rPr lang="en-US" sz="1200" kern="1200" dirty="0">
                <a:solidFill>
                  <a:schemeClr val="tx1"/>
                </a:solidFill>
                <a:latin typeface="+mn-lt"/>
                <a:ea typeface="+mn-ea"/>
                <a:cs typeface="+mn-cs"/>
              </a:rPr>
              <a:t>ls</a:t>
            </a:r>
            <a:r>
              <a:rPr lang="en-US" dirty="0"/>
              <a:t> и </a:t>
            </a:r>
            <a:r>
              <a:rPr lang="en-US" dirty="0" err="1"/>
              <a:t>видим</a:t>
            </a:r>
            <a:r>
              <a:rPr lang="en-US" dirty="0"/>
              <a:t>, </a:t>
            </a:r>
            <a:r>
              <a:rPr lang="en-US" dirty="0" err="1"/>
              <a:t>что</a:t>
            </a:r>
            <a:r>
              <a:rPr lang="en-US" dirty="0"/>
              <a:t> </a:t>
            </a:r>
            <a:r>
              <a:rPr lang="en-US" dirty="0" err="1"/>
              <a:t>остался</a:t>
            </a:r>
            <a:r>
              <a:rPr lang="en-US" dirty="0"/>
              <a:t> </a:t>
            </a:r>
            <a:r>
              <a:rPr lang="en-US" dirty="0" err="1"/>
              <a:t>только</a:t>
            </a:r>
            <a:r>
              <a:rPr lang="en-US" dirty="0"/>
              <a:t> </a:t>
            </a:r>
            <a:r>
              <a:rPr lang="en-US" sz="1200" kern="1200" dirty="0">
                <a:solidFill>
                  <a:schemeClr val="tx1"/>
                </a:solidFill>
                <a:latin typeface="+mn-lt"/>
                <a:ea typeface="+mn-ea"/>
                <a:cs typeface="+mn-cs"/>
              </a:rPr>
              <a:t>file2.txt</a:t>
            </a:r>
            <a:r>
              <a:rPr lang="en-US" dirty="0"/>
              <a:t>.</a:t>
            </a:r>
            <a:endParaRPr lang="ru-RU" dirty="0"/>
          </a:p>
          <a:p>
            <a:endParaRPr lang="en-US" dirty="0"/>
          </a:p>
          <a:p>
            <a:r>
              <a:rPr lang="en-US" dirty="0" err="1"/>
              <a:t>Этот</a:t>
            </a:r>
            <a:r>
              <a:rPr lang="en-US" dirty="0"/>
              <a:t> </a:t>
            </a:r>
            <a:r>
              <a:rPr lang="en-US" dirty="0" err="1"/>
              <a:t>пример</a:t>
            </a:r>
            <a:r>
              <a:rPr lang="en-US" dirty="0"/>
              <a:t> </a:t>
            </a:r>
            <a:r>
              <a:rPr lang="en-US" dirty="0" err="1"/>
              <a:t>показывает</a:t>
            </a:r>
            <a:r>
              <a:rPr lang="en-US" dirty="0"/>
              <a:t> </a:t>
            </a:r>
            <a:r>
              <a:rPr lang="en-US" dirty="0" err="1"/>
              <a:t>типичный</a:t>
            </a:r>
            <a:r>
              <a:rPr lang="en-US" dirty="0"/>
              <a:t> </a:t>
            </a:r>
            <a:r>
              <a:rPr lang="en-US" dirty="0" err="1"/>
              <a:t>цикл</a:t>
            </a:r>
            <a:r>
              <a:rPr lang="en-US" dirty="0"/>
              <a:t> </a:t>
            </a:r>
            <a:r>
              <a:rPr lang="en-US" dirty="0" err="1"/>
              <a:t>работы</a:t>
            </a:r>
            <a:r>
              <a:rPr lang="en-US" dirty="0"/>
              <a:t> с </a:t>
            </a:r>
            <a:r>
              <a:rPr lang="en-US" dirty="0" err="1"/>
              <a:t>файловой</a:t>
            </a:r>
            <a:r>
              <a:rPr lang="en-US" dirty="0"/>
              <a:t> </a:t>
            </a:r>
            <a:r>
              <a:rPr lang="en-US" dirty="0" err="1"/>
              <a:t>системой</a:t>
            </a:r>
            <a:r>
              <a:rPr lang="en-US" dirty="0"/>
              <a:t>: </a:t>
            </a:r>
            <a:r>
              <a:rPr lang="en-US" dirty="0" err="1"/>
              <a:t>создать</a:t>
            </a:r>
            <a:r>
              <a:rPr lang="en-US" dirty="0"/>
              <a:t> </a:t>
            </a:r>
            <a:r>
              <a:rPr lang="en-US" dirty="0" err="1"/>
              <a:t>объект</a:t>
            </a:r>
            <a:r>
              <a:rPr lang="en-US" dirty="0"/>
              <a:t>, </a:t>
            </a:r>
            <a:r>
              <a:rPr lang="en-US" dirty="0" err="1"/>
              <a:t>скопировать</a:t>
            </a:r>
            <a:r>
              <a:rPr lang="en-US" dirty="0"/>
              <a:t> </a:t>
            </a:r>
            <a:r>
              <a:rPr lang="en-US" dirty="0" err="1"/>
              <a:t>его</a:t>
            </a:r>
            <a:r>
              <a:rPr lang="en-US" dirty="0"/>
              <a:t>, </a:t>
            </a:r>
            <a:r>
              <a:rPr lang="en-US" dirty="0" err="1"/>
              <a:t>переместить</a:t>
            </a:r>
            <a:r>
              <a:rPr lang="en-US" dirty="0"/>
              <a:t> в </a:t>
            </a:r>
            <a:r>
              <a:rPr lang="en-US" dirty="0" err="1"/>
              <a:t>другой</a:t>
            </a:r>
            <a:r>
              <a:rPr lang="en-US" dirty="0"/>
              <a:t> </a:t>
            </a:r>
            <a:r>
              <a:rPr lang="en-US" dirty="0" err="1"/>
              <a:t>каталог</a:t>
            </a:r>
            <a:r>
              <a:rPr lang="en-US" dirty="0"/>
              <a:t>, а </a:t>
            </a:r>
            <a:r>
              <a:rPr lang="en-US" dirty="0" err="1"/>
              <a:t>затем</a:t>
            </a:r>
            <a:r>
              <a:rPr lang="en-US" dirty="0"/>
              <a:t> </a:t>
            </a:r>
            <a:r>
              <a:rPr lang="en-US" dirty="0" err="1"/>
              <a:t>удалить</a:t>
            </a:r>
            <a:r>
              <a:rPr lang="en-US" dirty="0"/>
              <a:t> </a:t>
            </a:r>
            <a:r>
              <a:rPr lang="en-US" dirty="0" err="1"/>
              <a:t>ненужные</a:t>
            </a:r>
            <a:r>
              <a:rPr lang="en-US" dirty="0"/>
              <a:t> </a:t>
            </a:r>
            <a:r>
              <a:rPr lang="en-US" dirty="0" err="1"/>
              <a:t>файлы</a:t>
            </a:r>
            <a:r>
              <a:rPr lang="en-US" dirty="0"/>
              <a:t> и </a:t>
            </a:r>
            <a:r>
              <a:rPr lang="en-US" dirty="0" err="1"/>
              <a:t>каталоги</a:t>
            </a:r>
            <a:r>
              <a:rPr lang="en-US" dirty="0"/>
              <a:t>.</a:t>
            </a:r>
          </a:p>
          <a:p>
            <a:endParaRPr lang="en-US" dirty="0"/>
          </a:p>
        </p:txBody>
      </p:sp>
      <p:sp>
        <p:nvSpPr>
          <p:cNvPr id="4" name="Slide Number Placeholder 3"/>
          <p:cNvSpPr>
            <a:spLocks noGrp="1"/>
          </p:cNvSpPr>
          <p:nvPr>
            <p:ph type="sldNum" sz="quarter" idx="5"/>
          </p:nvPr>
        </p:nvSpPr>
        <p:spPr/>
        <p:txBody>
          <a:bodyPr/>
          <a:lstStyle/>
          <a:p>
            <a:fld id="{A3EE74EF-BE85-44F3-968F-E74DD74A629E}" type="slidenum">
              <a:rPr lang="en-US" smtClean="0"/>
              <a:t>21</a:t>
            </a:fld>
            <a:endParaRPr lang="en-US"/>
          </a:p>
        </p:txBody>
      </p:sp>
    </p:spTree>
    <p:extLst>
      <p:ext uri="{BB962C8B-B14F-4D97-AF65-F5344CB8AC3E}">
        <p14:creationId xmlns:p14="http://schemas.microsoft.com/office/powerpoint/2010/main" val="35780082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До</a:t>
            </a:r>
            <a:r>
              <a:rPr lang="en-US" dirty="0"/>
              <a:t> </a:t>
            </a:r>
            <a:r>
              <a:rPr lang="en-US" dirty="0" err="1"/>
              <a:t>сих</a:t>
            </a:r>
            <a:r>
              <a:rPr lang="en-US" dirty="0"/>
              <a:t> </a:t>
            </a:r>
            <a:r>
              <a:rPr lang="en-US" dirty="0" err="1"/>
              <a:t>пор</a:t>
            </a:r>
            <a:r>
              <a:rPr lang="en-US" dirty="0"/>
              <a:t> </a:t>
            </a:r>
            <a:r>
              <a:rPr lang="en-US" dirty="0" err="1"/>
              <a:t>мы</a:t>
            </a:r>
            <a:r>
              <a:rPr lang="en-US" dirty="0"/>
              <a:t> </a:t>
            </a:r>
            <a:r>
              <a:rPr lang="en-US" dirty="0" err="1"/>
              <a:t>рассматривали</a:t>
            </a:r>
            <a:r>
              <a:rPr lang="en-US" dirty="0"/>
              <a:t> </a:t>
            </a:r>
            <a:r>
              <a:rPr lang="en-US" dirty="0" err="1"/>
              <a:t>файловую</a:t>
            </a:r>
            <a:r>
              <a:rPr lang="en-US" dirty="0"/>
              <a:t> </a:t>
            </a:r>
            <a:r>
              <a:rPr lang="en-US" dirty="0" err="1"/>
              <a:t>систему</a:t>
            </a:r>
            <a:r>
              <a:rPr lang="en-US" dirty="0"/>
              <a:t> в </a:t>
            </a:r>
            <a:r>
              <a:rPr lang="en-US" dirty="0" err="1"/>
              <a:t>самом</a:t>
            </a:r>
            <a:r>
              <a:rPr lang="en-US" dirty="0"/>
              <a:t> </a:t>
            </a:r>
            <a:r>
              <a:rPr lang="en-US" dirty="0" err="1"/>
              <a:t>простом</a:t>
            </a:r>
            <a:r>
              <a:rPr lang="en-US" dirty="0"/>
              <a:t> </a:t>
            </a:r>
            <a:r>
              <a:rPr lang="en-US" dirty="0" err="1"/>
              <a:t>виде</a:t>
            </a:r>
            <a:r>
              <a:rPr lang="en-US" dirty="0"/>
              <a:t>: </a:t>
            </a:r>
            <a:r>
              <a:rPr lang="en-US" dirty="0" err="1"/>
              <a:t>файлы</a:t>
            </a:r>
            <a:r>
              <a:rPr lang="en-US" dirty="0"/>
              <a:t>, </a:t>
            </a:r>
            <a:r>
              <a:rPr lang="en-US" dirty="0" err="1"/>
              <a:t>каталоги</a:t>
            </a:r>
            <a:r>
              <a:rPr lang="en-US" dirty="0"/>
              <a:t> и </a:t>
            </a:r>
            <a:r>
              <a:rPr lang="en-US" dirty="0" err="1"/>
              <a:t>пути</a:t>
            </a:r>
            <a:r>
              <a:rPr lang="en-US" dirty="0"/>
              <a:t>. </a:t>
            </a:r>
            <a:r>
              <a:rPr lang="en-US" dirty="0" err="1"/>
              <a:t>Но</a:t>
            </a:r>
            <a:r>
              <a:rPr lang="en-US" dirty="0"/>
              <a:t> в UNIX </a:t>
            </a:r>
            <a:r>
              <a:rPr lang="en-US" dirty="0" err="1"/>
              <a:t>эта</a:t>
            </a:r>
            <a:r>
              <a:rPr lang="en-US" dirty="0"/>
              <a:t> </a:t>
            </a:r>
            <a:r>
              <a:rPr lang="en-US" dirty="0" err="1"/>
              <a:t>модель</a:t>
            </a:r>
            <a:r>
              <a:rPr lang="en-US" dirty="0"/>
              <a:t> </a:t>
            </a:r>
            <a:r>
              <a:rPr lang="en-US" dirty="0" err="1"/>
              <a:t>используется</a:t>
            </a:r>
            <a:r>
              <a:rPr lang="en-US" dirty="0"/>
              <a:t> </a:t>
            </a:r>
            <a:r>
              <a:rPr lang="en-US" dirty="0" err="1"/>
              <a:t>гораздо</a:t>
            </a:r>
            <a:r>
              <a:rPr lang="en-US" dirty="0"/>
              <a:t> </a:t>
            </a:r>
            <a:r>
              <a:rPr lang="en-US" dirty="0" err="1"/>
              <a:t>шире</a:t>
            </a:r>
            <a:r>
              <a:rPr lang="en-US" dirty="0"/>
              <a:t>.</a:t>
            </a:r>
            <a:endParaRPr lang="ru-RU" dirty="0"/>
          </a:p>
          <a:p>
            <a:endParaRPr lang="en-US" dirty="0"/>
          </a:p>
          <a:p>
            <a:r>
              <a:rPr lang="en-US" dirty="0" err="1"/>
              <a:t>Первая</a:t>
            </a:r>
            <a:r>
              <a:rPr lang="en-US" dirty="0"/>
              <a:t> </a:t>
            </a:r>
            <a:r>
              <a:rPr lang="en-US" dirty="0" err="1"/>
              <a:t>важная</a:t>
            </a:r>
            <a:r>
              <a:rPr lang="en-US" dirty="0"/>
              <a:t> </a:t>
            </a:r>
            <a:r>
              <a:rPr lang="en-US" dirty="0" err="1"/>
              <a:t>возможность</a:t>
            </a:r>
            <a:r>
              <a:rPr lang="en-US" dirty="0"/>
              <a:t> — </a:t>
            </a:r>
            <a:r>
              <a:rPr lang="en-US" b="1" dirty="0" err="1"/>
              <a:t>монтирование</a:t>
            </a:r>
            <a:r>
              <a:rPr lang="en-US" dirty="0"/>
              <a:t>.</a:t>
            </a:r>
          </a:p>
          <a:p>
            <a:r>
              <a:rPr lang="en-US" dirty="0"/>
              <a:t>В UNIX </a:t>
            </a:r>
            <a:r>
              <a:rPr lang="en-US" dirty="0" err="1"/>
              <a:t>существует</a:t>
            </a:r>
            <a:r>
              <a:rPr lang="en-US" dirty="0"/>
              <a:t> </a:t>
            </a:r>
            <a:r>
              <a:rPr lang="en-US" dirty="0" err="1"/>
              <a:t>единое</a:t>
            </a:r>
            <a:r>
              <a:rPr lang="en-US" dirty="0"/>
              <a:t> </a:t>
            </a:r>
            <a:r>
              <a:rPr lang="en-US" dirty="0" err="1"/>
              <a:t>дерево</a:t>
            </a:r>
            <a:r>
              <a:rPr lang="en-US" dirty="0"/>
              <a:t> </a:t>
            </a:r>
            <a:r>
              <a:rPr lang="en-US" dirty="0" err="1"/>
              <a:t>каталогов</a:t>
            </a:r>
            <a:r>
              <a:rPr lang="en-US" dirty="0"/>
              <a:t> с </a:t>
            </a:r>
            <a:r>
              <a:rPr lang="en-US" dirty="0" err="1"/>
              <a:t>корнем</a:t>
            </a:r>
            <a:r>
              <a:rPr lang="en-US" dirty="0"/>
              <a:t> </a:t>
            </a:r>
            <a:r>
              <a:rPr lang="en-US" sz="1200" kern="1200" dirty="0">
                <a:solidFill>
                  <a:schemeClr val="tx1"/>
                </a:solidFill>
                <a:latin typeface="+mn-lt"/>
                <a:ea typeface="+mn-ea"/>
                <a:cs typeface="+mn-cs"/>
              </a:rPr>
              <a:t>/</a:t>
            </a:r>
            <a:r>
              <a:rPr lang="en-US" dirty="0"/>
              <a:t>. </a:t>
            </a:r>
            <a:r>
              <a:rPr lang="en-US" dirty="0" err="1"/>
              <a:t>Если</a:t>
            </a:r>
            <a:r>
              <a:rPr lang="en-US" dirty="0"/>
              <a:t> </a:t>
            </a:r>
            <a:r>
              <a:rPr lang="en-US" dirty="0" err="1"/>
              <a:t>мы</a:t>
            </a:r>
            <a:r>
              <a:rPr lang="en-US" dirty="0"/>
              <a:t> </a:t>
            </a:r>
            <a:r>
              <a:rPr lang="en-US" dirty="0" err="1"/>
              <a:t>подключаем</a:t>
            </a:r>
            <a:r>
              <a:rPr lang="en-US" dirty="0"/>
              <a:t> </a:t>
            </a:r>
            <a:r>
              <a:rPr lang="en-US" dirty="0" err="1"/>
              <a:t>дополнительную</a:t>
            </a:r>
            <a:r>
              <a:rPr lang="en-US" dirty="0"/>
              <a:t> </a:t>
            </a:r>
            <a:r>
              <a:rPr lang="en-US" dirty="0" err="1"/>
              <a:t>файловую</a:t>
            </a:r>
            <a:r>
              <a:rPr lang="en-US" dirty="0"/>
              <a:t> </a:t>
            </a:r>
            <a:r>
              <a:rPr lang="en-US" dirty="0" err="1"/>
              <a:t>систему</a:t>
            </a:r>
            <a:r>
              <a:rPr lang="en-US" dirty="0"/>
              <a:t> — </a:t>
            </a:r>
            <a:r>
              <a:rPr lang="en-US" dirty="0" err="1"/>
              <a:t>например</a:t>
            </a:r>
            <a:r>
              <a:rPr lang="en-US" dirty="0"/>
              <a:t>, </a:t>
            </a:r>
            <a:r>
              <a:rPr lang="en-US" dirty="0" err="1"/>
              <a:t>флешку</a:t>
            </a:r>
            <a:r>
              <a:rPr lang="en-US" dirty="0"/>
              <a:t> </a:t>
            </a:r>
            <a:r>
              <a:rPr lang="en-US" dirty="0" err="1"/>
              <a:t>или</a:t>
            </a:r>
            <a:r>
              <a:rPr lang="en-US" dirty="0"/>
              <a:t> </a:t>
            </a:r>
            <a:r>
              <a:rPr lang="en-US" dirty="0" err="1"/>
              <a:t>другой</a:t>
            </a:r>
            <a:r>
              <a:rPr lang="en-US" dirty="0"/>
              <a:t> </a:t>
            </a:r>
            <a:r>
              <a:rPr lang="en-US" dirty="0" err="1"/>
              <a:t>раздел</a:t>
            </a:r>
            <a:r>
              <a:rPr lang="en-US" dirty="0"/>
              <a:t> </a:t>
            </a:r>
            <a:r>
              <a:rPr lang="en-US" dirty="0" err="1"/>
              <a:t>диска</a:t>
            </a:r>
            <a:r>
              <a:rPr lang="en-US" dirty="0"/>
              <a:t>, — </a:t>
            </a:r>
            <a:r>
              <a:rPr lang="en-US" dirty="0" err="1"/>
              <a:t>она</a:t>
            </a:r>
            <a:r>
              <a:rPr lang="en-US" dirty="0"/>
              <a:t> </a:t>
            </a:r>
            <a:r>
              <a:rPr lang="en-US" dirty="0" err="1"/>
              <a:t>не</a:t>
            </a:r>
            <a:r>
              <a:rPr lang="en-US" dirty="0"/>
              <a:t> </a:t>
            </a:r>
            <a:r>
              <a:rPr lang="en-US" dirty="0" err="1"/>
              <a:t>обязательно</a:t>
            </a:r>
            <a:r>
              <a:rPr lang="en-US" dirty="0"/>
              <a:t> </a:t>
            </a:r>
            <a:r>
              <a:rPr lang="en-US" dirty="0" err="1"/>
              <a:t>появляется</a:t>
            </a:r>
            <a:r>
              <a:rPr lang="en-US" dirty="0"/>
              <a:t> </a:t>
            </a:r>
            <a:r>
              <a:rPr lang="en-US" dirty="0" err="1"/>
              <a:t>как</a:t>
            </a:r>
            <a:r>
              <a:rPr lang="en-US" dirty="0"/>
              <a:t> </a:t>
            </a:r>
            <a:r>
              <a:rPr lang="en-US" dirty="0" err="1"/>
              <a:t>отдельный</a:t>
            </a:r>
            <a:r>
              <a:rPr lang="en-US" dirty="0"/>
              <a:t> </a:t>
            </a:r>
            <a:r>
              <a:rPr lang="en-US" dirty="0" err="1"/>
              <a:t>диск</a:t>
            </a:r>
            <a:r>
              <a:rPr lang="en-US" dirty="0"/>
              <a:t> с </a:t>
            </a:r>
            <a:r>
              <a:rPr lang="en-US" dirty="0" err="1"/>
              <a:t>собственной</a:t>
            </a:r>
            <a:r>
              <a:rPr lang="en-US" dirty="0"/>
              <a:t> </a:t>
            </a:r>
            <a:r>
              <a:rPr lang="en-US" dirty="0" err="1"/>
              <a:t>буквой</a:t>
            </a:r>
            <a:r>
              <a:rPr lang="en-US" dirty="0"/>
              <a:t>. </a:t>
            </a:r>
            <a:r>
              <a:rPr lang="en-US" dirty="0" err="1"/>
              <a:t>Вместо</a:t>
            </a:r>
            <a:r>
              <a:rPr lang="en-US" dirty="0"/>
              <a:t> </a:t>
            </a:r>
            <a:r>
              <a:rPr lang="en-US" dirty="0" err="1"/>
              <a:t>этого</a:t>
            </a:r>
            <a:r>
              <a:rPr lang="en-US" dirty="0"/>
              <a:t> </a:t>
            </a:r>
            <a:r>
              <a:rPr lang="en-US" dirty="0" err="1"/>
              <a:t>её</a:t>
            </a:r>
            <a:r>
              <a:rPr lang="en-US" dirty="0"/>
              <a:t> </a:t>
            </a:r>
            <a:r>
              <a:rPr lang="en-US" dirty="0" err="1"/>
              <a:t>подключают</a:t>
            </a:r>
            <a:r>
              <a:rPr lang="en-US" dirty="0"/>
              <a:t> к </a:t>
            </a:r>
            <a:r>
              <a:rPr lang="en-US" dirty="0" err="1"/>
              <a:t>некоторому</a:t>
            </a:r>
            <a:r>
              <a:rPr lang="en-US" dirty="0"/>
              <a:t> </a:t>
            </a:r>
            <a:r>
              <a:rPr lang="en-US" dirty="0" err="1"/>
              <a:t>каталогу</a:t>
            </a:r>
            <a:r>
              <a:rPr lang="en-US" dirty="0"/>
              <a:t> </a:t>
            </a:r>
            <a:r>
              <a:rPr lang="en-US" dirty="0" err="1"/>
              <a:t>существующего</a:t>
            </a:r>
            <a:r>
              <a:rPr lang="en-US" dirty="0"/>
              <a:t> </a:t>
            </a:r>
            <a:r>
              <a:rPr lang="en-US" dirty="0" err="1"/>
              <a:t>дерева</a:t>
            </a:r>
            <a:r>
              <a:rPr lang="en-US" dirty="0"/>
              <a:t>.</a:t>
            </a:r>
            <a:endParaRPr lang="ru-RU" dirty="0"/>
          </a:p>
          <a:p>
            <a:endParaRPr lang="en-US" dirty="0"/>
          </a:p>
          <a:p>
            <a:r>
              <a:rPr lang="en-US" dirty="0" err="1"/>
              <a:t>Например</a:t>
            </a:r>
            <a:r>
              <a:rPr lang="en-US" dirty="0"/>
              <a:t>, </a:t>
            </a:r>
            <a:r>
              <a:rPr lang="en-US" dirty="0" err="1"/>
              <a:t>файловую</a:t>
            </a:r>
            <a:r>
              <a:rPr lang="en-US" dirty="0"/>
              <a:t> </a:t>
            </a:r>
            <a:r>
              <a:rPr lang="en-US" dirty="0" err="1"/>
              <a:t>систему</a:t>
            </a:r>
            <a:r>
              <a:rPr lang="en-US" dirty="0"/>
              <a:t> </a:t>
            </a:r>
            <a:r>
              <a:rPr lang="en-US" dirty="0" err="1"/>
              <a:t>флешки</a:t>
            </a:r>
            <a:r>
              <a:rPr lang="en-US" dirty="0"/>
              <a:t> </a:t>
            </a:r>
            <a:r>
              <a:rPr lang="en-US" dirty="0" err="1"/>
              <a:t>можно</a:t>
            </a:r>
            <a:r>
              <a:rPr lang="en-US" dirty="0"/>
              <a:t> </a:t>
            </a:r>
            <a:r>
              <a:rPr lang="en-US" dirty="0" err="1"/>
              <a:t>смонтировать</a:t>
            </a:r>
            <a:r>
              <a:rPr lang="en-US" dirty="0"/>
              <a:t> в </a:t>
            </a:r>
            <a:r>
              <a:rPr lang="en-US" dirty="0" err="1"/>
              <a:t>каталог</a:t>
            </a:r>
            <a:r>
              <a:rPr lang="en-US" dirty="0"/>
              <a:t>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mnt</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usb</a:t>
            </a:r>
            <a:r>
              <a:rPr lang="en-US" dirty="0"/>
              <a:t>. </a:t>
            </a:r>
            <a:r>
              <a:rPr lang="en-US" dirty="0" err="1"/>
              <a:t>После</a:t>
            </a:r>
            <a:r>
              <a:rPr lang="en-US" dirty="0"/>
              <a:t> </a:t>
            </a:r>
            <a:r>
              <a:rPr lang="en-US" dirty="0" err="1"/>
              <a:t>этого</a:t>
            </a:r>
            <a:r>
              <a:rPr lang="en-US" dirty="0"/>
              <a:t> </a:t>
            </a:r>
            <a:r>
              <a:rPr lang="en-US" dirty="0" err="1"/>
              <a:t>её</a:t>
            </a:r>
            <a:r>
              <a:rPr lang="en-US" dirty="0"/>
              <a:t> </a:t>
            </a:r>
            <a:r>
              <a:rPr lang="en-US" dirty="0" err="1"/>
              <a:t>файлы</a:t>
            </a:r>
            <a:r>
              <a:rPr lang="en-US" dirty="0"/>
              <a:t> </a:t>
            </a:r>
            <a:r>
              <a:rPr lang="en-US" dirty="0" err="1"/>
              <a:t>будут</a:t>
            </a:r>
            <a:r>
              <a:rPr lang="en-US" dirty="0"/>
              <a:t> </a:t>
            </a:r>
            <a:r>
              <a:rPr lang="en-US" dirty="0" err="1"/>
              <a:t>доступны</a:t>
            </a:r>
            <a:r>
              <a:rPr lang="en-US" dirty="0"/>
              <a:t> </a:t>
            </a:r>
            <a:r>
              <a:rPr lang="en-US" dirty="0" err="1"/>
              <a:t>по</a:t>
            </a:r>
            <a:r>
              <a:rPr lang="en-US" dirty="0"/>
              <a:t> </a:t>
            </a:r>
            <a:r>
              <a:rPr lang="en-US" dirty="0" err="1"/>
              <a:t>обычным</a:t>
            </a:r>
            <a:r>
              <a:rPr lang="en-US" dirty="0"/>
              <a:t> </a:t>
            </a:r>
            <a:r>
              <a:rPr lang="en-US" dirty="0" err="1"/>
              <a:t>путям</a:t>
            </a:r>
            <a:r>
              <a:rPr lang="en-US" dirty="0"/>
              <a:t> </a:t>
            </a:r>
            <a:r>
              <a:rPr lang="en-US" dirty="0" err="1"/>
              <a:t>внутри</a:t>
            </a:r>
            <a:r>
              <a:rPr lang="en-US" dirty="0"/>
              <a:t> </a:t>
            </a:r>
            <a:r>
              <a:rPr lang="en-US" dirty="0" err="1"/>
              <a:t>общего</a:t>
            </a:r>
            <a:r>
              <a:rPr lang="en-US" dirty="0"/>
              <a:t> </a:t>
            </a:r>
            <a:r>
              <a:rPr lang="en-US" dirty="0" err="1"/>
              <a:t>дерева</a:t>
            </a:r>
            <a:r>
              <a:rPr lang="en-US" dirty="0"/>
              <a:t> </a:t>
            </a:r>
            <a:r>
              <a:rPr lang="en-US" dirty="0" err="1"/>
              <a:t>каталогов</a:t>
            </a:r>
            <a:r>
              <a:rPr lang="en-US" dirty="0"/>
              <a:t>. </a:t>
            </a:r>
            <a:r>
              <a:rPr lang="en-US" dirty="0" err="1"/>
              <a:t>Для</a:t>
            </a:r>
            <a:r>
              <a:rPr lang="en-US" dirty="0"/>
              <a:t> </a:t>
            </a:r>
            <a:r>
              <a:rPr lang="en-US" dirty="0" err="1"/>
              <a:t>программы</a:t>
            </a:r>
            <a:r>
              <a:rPr lang="en-US" dirty="0"/>
              <a:t> </a:t>
            </a:r>
            <a:r>
              <a:rPr lang="en-US" dirty="0" err="1"/>
              <a:t>это</a:t>
            </a:r>
            <a:r>
              <a:rPr lang="en-US" dirty="0"/>
              <a:t> </a:t>
            </a:r>
            <a:r>
              <a:rPr lang="en-US" dirty="0" err="1"/>
              <a:t>выглядит</a:t>
            </a:r>
            <a:r>
              <a:rPr lang="en-US" dirty="0"/>
              <a:t> </a:t>
            </a:r>
            <a:r>
              <a:rPr lang="en-US" dirty="0" err="1"/>
              <a:t>так</a:t>
            </a:r>
            <a:r>
              <a:rPr lang="en-US" dirty="0"/>
              <a:t>, </a:t>
            </a:r>
            <a:r>
              <a:rPr lang="en-US" dirty="0" err="1"/>
              <a:t>будто</a:t>
            </a:r>
            <a:r>
              <a:rPr lang="en-US" dirty="0"/>
              <a:t> </a:t>
            </a:r>
            <a:r>
              <a:rPr lang="en-US" dirty="0" err="1"/>
              <a:t>они</a:t>
            </a:r>
            <a:r>
              <a:rPr lang="en-US" dirty="0"/>
              <a:t> </a:t>
            </a:r>
            <a:r>
              <a:rPr lang="en-US" dirty="0" err="1"/>
              <a:t>всегда</a:t>
            </a:r>
            <a:r>
              <a:rPr lang="en-US" dirty="0"/>
              <a:t> </a:t>
            </a:r>
            <a:r>
              <a:rPr lang="en-US" dirty="0" err="1"/>
              <a:t>были</a:t>
            </a:r>
            <a:r>
              <a:rPr lang="en-US" dirty="0"/>
              <a:t> </a:t>
            </a:r>
            <a:r>
              <a:rPr lang="en-US" dirty="0" err="1"/>
              <a:t>частью</a:t>
            </a:r>
            <a:r>
              <a:rPr lang="en-US" dirty="0"/>
              <a:t> </a:t>
            </a:r>
            <a:r>
              <a:rPr lang="en-US" dirty="0" err="1"/>
              <a:t>одной</a:t>
            </a:r>
            <a:r>
              <a:rPr lang="en-US" dirty="0"/>
              <a:t> </a:t>
            </a:r>
            <a:r>
              <a:rPr lang="en-US" dirty="0" err="1"/>
              <a:t>файловой</a:t>
            </a:r>
            <a:r>
              <a:rPr lang="en-US" dirty="0"/>
              <a:t> </a:t>
            </a:r>
            <a:r>
              <a:rPr lang="en-US" dirty="0" err="1"/>
              <a:t>системы</a:t>
            </a:r>
            <a:r>
              <a:rPr lang="en-US" dirty="0"/>
              <a:t>.</a:t>
            </a:r>
            <a:endParaRPr lang="ru-RU" dirty="0"/>
          </a:p>
          <a:p>
            <a:endParaRPr lang="en-US" dirty="0"/>
          </a:p>
          <a:p>
            <a:r>
              <a:rPr lang="en-US" dirty="0" err="1"/>
              <a:t>Вторая</a:t>
            </a:r>
            <a:r>
              <a:rPr lang="en-US" dirty="0"/>
              <a:t> </a:t>
            </a:r>
            <a:r>
              <a:rPr lang="en-US" dirty="0" err="1"/>
              <a:t>особенность</a:t>
            </a:r>
            <a:r>
              <a:rPr lang="en-US" dirty="0"/>
              <a:t> — </a:t>
            </a:r>
            <a:r>
              <a:rPr lang="en-US" b="1" dirty="0" err="1"/>
              <a:t>специальные</a:t>
            </a:r>
            <a:r>
              <a:rPr lang="en-US" b="1" dirty="0"/>
              <a:t> </a:t>
            </a:r>
            <a:r>
              <a:rPr lang="en-US" b="1" dirty="0" err="1"/>
              <a:t>файлы</a:t>
            </a:r>
            <a:r>
              <a:rPr lang="en-US" b="1" dirty="0"/>
              <a:t> </a:t>
            </a:r>
            <a:r>
              <a:rPr lang="en-US" b="1" dirty="0" err="1"/>
              <a:t>устройств</a:t>
            </a:r>
            <a:r>
              <a:rPr lang="en-US" dirty="0"/>
              <a:t>. В </a:t>
            </a:r>
            <a:r>
              <a:rPr lang="en-US" dirty="0" err="1"/>
              <a:t>каталоге</a:t>
            </a:r>
            <a:r>
              <a:rPr lang="en-US" dirty="0"/>
              <a:t> </a:t>
            </a:r>
            <a:r>
              <a:rPr lang="en-US" sz="1200" kern="1200" dirty="0">
                <a:solidFill>
                  <a:schemeClr val="tx1"/>
                </a:solidFill>
                <a:latin typeface="+mn-lt"/>
                <a:ea typeface="+mn-ea"/>
                <a:cs typeface="+mn-cs"/>
              </a:rPr>
              <a:t>/dev</a:t>
            </a:r>
            <a:r>
              <a:rPr lang="en-US" dirty="0"/>
              <a:t> </a:t>
            </a:r>
            <a:r>
              <a:rPr lang="en-US" dirty="0" err="1"/>
              <a:t>находятся</a:t>
            </a:r>
            <a:r>
              <a:rPr lang="en-US" dirty="0"/>
              <a:t> </a:t>
            </a:r>
            <a:r>
              <a:rPr lang="en-US" dirty="0" err="1"/>
              <a:t>объекты</a:t>
            </a:r>
            <a:r>
              <a:rPr lang="en-US" dirty="0"/>
              <a:t>, </a:t>
            </a:r>
            <a:r>
              <a:rPr lang="en-US" dirty="0" err="1"/>
              <a:t>через</a:t>
            </a:r>
            <a:r>
              <a:rPr lang="en-US" dirty="0"/>
              <a:t> </a:t>
            </a:r>
            <a:r>
              <a:rPr lang="en-US" dirty="0" err="1"/>
              <a:t>которые</a:t>
            </a:r>
            <a:r>
              <a:rPr lang="en-US" dirty="0"/>
              <a:t> </a:t>
            </a:r>
            <a:r>
              <a:rPr lang="en-US" dirty="0" err="1"/>
              <a:t>программы</a:t>
            </a:r>
            <a:r>
              <a:rPr lang="en-US" dirty="0"/>
              <a:t> </a:t>
            </a:r>
            <a:r>
              <a:rPr lang="en-US" dirty="0" err="1"/>
              <a:t>могут</a:t>
            </a:r>
            <a:r>
              <a:rPr lang="en-US" dirty="0"/>
              <a:t> </a:t>
            </a:r>
            <a:r>
              <a:rPr lang="en-US" dirty="0" err="1"/>
              <a:t>взаимодействовать</a:t>
            </a:r>
            <a:r>
              <a:rPr lang="en-US" dirty="0"/>
              <a:t> с </a:t>
            </a:r>
            <a:r>
              <a:rPr lang="en-US" dirty="0" err="1"/>
              <a:t>устройствами</a:t>
            </a:r>
            <a:r>
              <a:rPr lang="en-US" dirty="0"/>
              <a:t>.</a:t>
            </a:r>
            <a:endParaRPr lang="ru-RU" dirty="0"/>
          </a:p>
          <a:p>
            <a:endParaRPr lang="en-US" dirty="0"/>
          </a:p>
          <a:p>
            <a:r>
              <a:rPr lang="en-US" dirty="0" err="1"/>
              <a:t>Есть</a:t>
            </a:r>
            <a:r>
              <a:rPr lang="en-US" dirty="0"/>
              <a:t> </a:t>
            </a:r>
            <a:r>
              <a:rPr lang="en-US" dirty="0" err="1"/>
              <a:t>блочные</a:t>
            </a:r>
            <a:r>
              <a:rPr lang="en-US" dirty="0"/>
              <a:t> </a:t>
            </a:r>
            <a:r>
              <a:rPr lang="en-US" dirty="0" err="1"/>
              <a:t>устройства</a:t>
            </a:r>
            <a:r>
              <a:rPr lang="en-US" dirty="0"/>
              <a:t> — </a:t>
            </a:r>
            <a:r>
              <a:rPr lang="en-US" dirty="0" err="1"/>
              <a:t>например</a:t>
            </a:r>
            <a:r>
              <a:rPr lang="en-US" dirty="0"/>
              <a:t>, </a:t>
            </a:r>
            <a:r>
              <a:rPr lang="en-US" dirty="0" err="1"/>
              <a:t>диски</a:t>
            </a:r>
            <a:r>
              <a:rPr lang="en-US" dirty="0"/>
              <a:t>, </a:t>
            </a:r>
            <a:r>
              <a:rPr lang="en-US" dirty="0" err="1"/>
              <a:t>где</a:t>
            </a:r>
            <a:r>
              <a:rPr lang="en-US" dirty="0"/>
              <a:t> </a:t>
            </a:r>
            <a:r>
              <a:rPr lang="en-US" dirty="0" err="1"/>
              <a:t>данные</a:t>
            </a:r>
            <a:r>
              <a:rPr lang="en-US" dirty="0"/>
              <a:t> </a:t>
            </a:r>
            <a:r>
              <a:rPr lang="en-US" dirty="0" err="1"/>
              <a:t>организованы</a:t>
            </a:r>
            <a:r>
              <a:rPr lang="en-US" dirty="0"/>
              <a:t> в </a:t>
            </a:r>
            <a:r>
              <a:rPr lang="en-US" dirty="0" err="1"/>
              <a:t>блоки</a:t>
            </a:r>
            <a:r>
              <a:rPr lang="en-US" dirty="0"/>
              <a:t>, — и </a:t>
            </a:r>
            <a:r>
              <a:rPr lang="en-US" dirty="0" err="1"/>
              <a:t>символьные</a:t>
            </a:r>
            <a:r>
              <a:rPr lang="en-US" dirty="0"/>
              <a:t> </a:t>
            </a:r>
            <a:r>
              <a:rPr lang="en-US" dirty="0" err="1"/>
              <a:t>устройства</a:t>
            </a:r>
            <a:r>
              <a:rPr lang="en-US" dirty="0"/>
              <a:t>, </a:t>
            </a:r>
            <a:r>
              <a:rPr lang="en-US" dirty="0" err="1"/>
              <a:t>которые</a:t>
            </a:r>
            <a:r>
              <a:rPr lang="en-US" dirty="0"/>
              <a:t> </a:t>
            </a:r>
            <a:r>
              <a:rPr lang="en-US" dirty="0" err="1"/>
              <a:t>представляют</a:t>
            </a:r>
            <a:r>
              <a:rPr lang="en-US" dirty="0"/>
              <a:t> </a:t>
            </a:r>
            <a:r>
              <a:rPr lang="en-US" dirty="0" err="1"/>
              <a:t>поток</a:t>
            </a:r>
            <a:r>
              <a:rPr lang="en-US" dirty="0"/>
              <a:t> </a:t>
            </a:r>
            <a:r>
              <a:rPr lang="en-US" dirty="0" err="1"/>
              <a:t>данных</a:t>
            </a:r>
            <a:r>
              <a:rPr lang="en-US" dirty="0"/>
              <a:t>, </a:t>
            </a:r>
            <a:r>
              <a:rPr lang="en-US" dirty="0" err="1"/>
              <a:t>например</a:t>
            </a:r>
            <a:r>
              <a:rPr lang="en-US" dirty="0"/>
              <a:t> </a:t>
            </a:r>
            <a:r>
              <a:rPr lang="en-US" dirty="0" err="1"/>
              <a:t>терминал</a:t>
            </a:r>
            <a:r>
              <a:rPr lang="en-US" dirty="0"/>
              <a:t>.</a:t>
            </a:r>
          </a:p>
          <a:p>
            <a:r>
              <a:rPr lang="en-US" dirty="0" err="1"/>
              <a:t>Важно</a:t>
            </a:r>
            <a:r>
              <a:rPr lang="en-US" dirty="0"/>
              <a:t>, </a:t>
            </a:r>
            <a:r>
              <a:rPr lang="en-US" dirty="0" err="1"/>
              <a:t>что</a:t>
            </a:r>
            <a:r>
              <a:rPr lang="en-US" dirty="0"/>
              <a:t> </a:t>
            </a:r>
            <a:r>
              <a:rPr lang="en-US" dirty="0" err="1"/>
              <a:t>программа</a:t>
            </a:r>
            <a:r>
              <a:rPr lang="en-US" dirty="0"/>
              <a:t> </a:t>
            </a:r>
            <a:r>
              <a:rPr lang="en-US" dirty="0" err="1"/>
              <a:t>может</a:t>
            </a:r>
            <a:r>
              <a:rPr lang="en-US" dirty="0"/>
              <a:t> </a:t>
            </a:r>
            <a:r>
              <a:rPr lang="en-US" dirty="0" err="1"/>
              <a:t>обращаться</a:t>
            </a:r>
            <a:r>
              <a:rPr lang="en-US" dirty="0"/>
              <a:t> к </a:t>
            </a:r>
            <a:r>
              <a:rPr lang="en-US" dirty="0" err="1"/>
              <a:t>таким</a:t>
            </a:r>
            <a:r>
              <a:rPr lang="en-US" dirty="0"/>
              <a:t> </a:t>
            </a:r>
            <a:r>
              <a:rPr lang="en-US" dirty="0" err="1"/>
              <a:t>устройствам</a:t>
            </a:r>
            <a:r>
              <a:rPr lang="en-US" dirty="0"/>
              <a:t> с </a:t>
            </a:r>
            <a:r>
              <a:rPr lang="en-US" dirty="0" err="1"/>
              <a:t>помощью</a:t>
            </a:r>
            <a:r>
              <a:rPr lang="en-US" dirty="0"/>
              <a:t> </a:t>
            </a:r>
            <a:r>
              <a:rPr lang="en-US" dirty="0" err="1"/>
              <a:t>привычных</a:t>
            </a:r>
            <a:r>
              <a:rPr lang="en-US" dirty="0"/>
              <a:t> </a:t>
            </a:r>
            <a:r>
              <a:rPr lang="en-US" dirty="0" err="1"/>
              <a:t>операций</a:t>
            </a:r>
            <a:r>
              <a:rPr lang="en-US" dirty="0"/>
              <a:t> </a:t>
            </a:r>
            <a:r>
              <a:rPr lang="en-US" dirty="0" err="1"/>
              <a:t>чтения</a:t>
            </a:r>
            <a:r>
              <a:rPr lang="en-US" dirty="0"/>
              <a:t> и </a:t>
            </a:r>
            <a:r>
              <a:rPr lang="en-US" dirty="0" err="1"/>
              <a:t>записи</a:t>
            </a:r>
            <a:r>
              <a:rPr lang="en-US" dirty="0"/>
              <a:t>. </a:t>
            </a:r>
            <a:r>
              <a:rPr lang="en-US" dirty="0" err="1"/>
              <a:t>То</a:t>
            </a:r>
            <a:r>
              <a:rPr lang="en-US" dirty="0"/>
              <a:t> </a:t>
            </a:r>
            <a:r>
              <a:rPr lang="en-US" dirty="0" err="1"/>
              <a:t>есть</a:t>
            </a:r>
            <a:r>
              <a:rPr lang="en-US" dirty="0"/>
              <a:t> </a:t>
            </a:r>
            <a:r>
              <a:rPr lang="en-US" dirty="0" err="1"/>
              <a:t>часть</a:t>
            </a:r>
            <a:r>
              <a:rPr lang="en-US" dirty="0"/>
              <a:t> </a:t>
            </a:r>
            <a:r>
              <a:rPr lang="en-US" dirty="0" err="1"/>
              <a:t>различий</a:t>
            </a:r>
            <a:r>
              <a:rPr lang="en-US" dirty="0"/>
              <a:t> </a:t>
            </a:r>
            <a:r>
              <a:rPr lang="en-US" dirty="0" err="1"/>
              <a:t>между</a:t>
            </a:r>
            <a:r>
              <a:rPr lang="en-US" dirty="0"/>
              <a:t> </a:t>
            </a:r>
            <a:r>
              <a:rPr lang="en-US" dirty="0" err="1"/>
              <a:t>обычным</a:t>
            </a:r>
            <a:r>
              <a:rPr lang="en-US" dirty="0"/>
              <a:t> </a:t>
            </a:r>
            <a:r>
              <a:rPr lang="en-US" dirty="0" err="1"/>
              <a:t>файлом</a:t>
            </a:r>
            <a:r>
              <a:rPr lang="en-US" dirty="0"/>
              <a:t> и </a:t>
            </a:r>
            <a:r>
              <a:rPr lang="en-US" dirty="0" err="1"/>
              <a:t>физическим</a:t>
            </a:r>
            <a:r>
              <a:rPr lang="en-US" dirty="0"/>
              <a:t> </a:t>
            </a:r>
            <a:r>
              <a:rPr lang="en-US" dirty="0" err="1"/>
              <a:t>устройством</a:t>
            </a:r>
            <a:r>
              <a:rPr lang="en-US" dirty="0"/>
              <a:t> </a:t>
            </a:r>
            <a:r>
              <a:rPr lang="en-US" dirty="0" err="1"/>
              <a:t>скрывает</a:t>
            </a:r>
            <a:r>
              <a:rPr lang="en-US" dirty="0"/>
              <a:t> </a:t>
            </a:r>
            <a:r>
              <a:rPr lang="en-US" dirty="0" err="1"/>
              <a:t>операционная</a:t>
            </a:r>
            <a:r>
              <a:rPr lang="en-US" dirty="0"/>
              <a:t> </a:t>
            </a:r>
            <a:r>
              <a:rPr lang="en-US" dirty="0" err="1"/>
              <a:t>система</a:t>
            </a:r>
            <a:r>
              <a:rPr lang="en-US" dirty="0"/>
              <a:t>.</a:t>
            </a:r>
          </a:p>
          <a:p>
            <a:endParaRPr lang="ru-RU" dirty="0"/>
          </a:p>
          <a:p>
            <a:r>
              <a:rPr lang="en-US" dirty="0" err="1"/>
              <a:t>Ещё</a:t>
            </a:r>
            <a:r>
              <a:rPr lang="en-US" dirty="0"/>
              <a:t> </a:t>
            </a:r>
            <a:r>
              <a:rPr lang="en-US" dirty="0" err="1"/>
              <a:t>один</a:t>
            </a:r>
            <a:r>
              <a:rPr lang="en-US" dirty="0"/>
              <a:t> </a:t>
            </a:r>
            <a:r>
              <a:rPr lang="en-US" dirty="0" err="1"/>
              <a:t>пример</a:t>
            </a:r>
            <a:r>
              <a:rPr lang="en-US" dirty="0"/>
              <a:t> </a:t>
            </a:r>
            <a:r>
              <a:rPr lang="en-US" dirty="0" err="1"/>
              <a:t>похожего</a:t>
            </a:r>
            <a:r>
              <a:rPr lang="en-US" dirty="0"/>
              <a:t> </a:t>
            </a:r>
            <a:r>
              <a:rPr lang="en-US" dirty="0" err="1"/>
              <a:t>интерфейса</a:t>
            </a:r>
            <a:r>
              <a:rPr lang="en-US" dirty="0"/>
              <a:t> — </a:t>
            </a:r>
            <a:r>
              <a:rPr lang="en-US" b="1" dirty="0" err="1"/>
              <a:t>каналы</a:t>
            </a:r>
            <a:r>
              <a:rPr lang="en-US" b="1" dirty="0"/>
              <a:t>, </a:t>
            </a:r>
            <a:r>
              <a:rPr lang="en-US" b="1" dirty="0" err="1"/>
              <a:t>или</a:t>
            </a:r>
            <a:r>
              <a:rPr lang="en-US" b="1" dirty="0"/>
              <a:t> pipes</a:t>
            </a:r>
            <a:r>
              <a:rPr lang="en-US" dirty="0"/>
              <a:t>. </a:t>
            </a:r>
            <a:r>
              <a:rPr lang="en-US" dirty="0" err="1"/>
              <a:t>Они</a:t>
            </a:r>
            <a:r>
              <a:rPr lang="en-US" dirty="0"/>
              <a:t> </a:t>
            </a:r>
            <a:r>
              <a:rPr lang="en-US" dirty="0" err="1"/>
              <a:t>позволяют</a:t>
            </a:r>
            <a:r>
              <a:rPr lang="en-US" dirty="0"/>
              <a:t> </a:t>
            </a:r>
            <a:r>
              <a:rPr lang="en-US" dirty="0" err="1"/>
              <a:t>одному</a:t>
            </a:r>
            <a:r>
              <a:rPr lang="en-US" dirty="0"/>
              <a:t> </a:t>
            </a:r>
            <a:r>
              <a:rPr lang="en-US" dirty="0" err="1"/>
              <a:t>процессу</a:t>
            </a:r>
            <a:r>
              <a:rPr lang="en-US" dirty="0"/>
              <a:t> </a:t>
            </a:r>
            <a:r>
              <a:rPr lang="en-US" dirty="0" err="1"/>
              <a:t>передавать</a:t>
            </a:r>
            <a:r>
              <a:rPr lang="en-US" dirty="0"/>
              <a:t> </a:t>
            </a:r>
            <a:r>
              <a:rPr lang="en-US" dirty="0" err="1"/>
              <a:t>поток</a:t>
            </a:r>
            <a:r>
              <a:rPr lang="en-US" dirty="0"/>
              <a:t> </a:t>
            </a:r>
            <a:r>
              <a:rPr lang="en-US" dirty="0" err="1"/>
              <a:t>данных</a:t>
            </a:r>
            <a:r>
              <a:rPr lang="en-US" dirty="0"/>
              <a:t> </a:t>
            </a:r>
            <a:r>
              <a:rPr lang="en-US" dirty="0" err="1"/>
              <a:t>другому</a:t>
            </a:r>
            <a:r>
              <a:rPr lang="en-US" dirty="0"/>
              <a:t> </a:t>
            </a:r>
            <a:r>
              <a:rPr lang="en-US" dirty="0" err="1"/>
              <a:t>процессу</a:t>
            </a:r>
            <a:r>
              <a:rPr lang="en-US" dirty="0"/>
              <a:t>. </a:t>
            </a:r>
            <a:r>
              <a:rPr lang="en-US" dirty="0" err="1"/>
              <a:t>Один</a:t>
            </a:r>
            <a:r>
              <a:rPr lang="en-US" dirty="0"/>
              <a:t> </a:t>
            </a:r>
            <a:r>
              <a:rPr lang="en-US" dirty="0" err="1"/>
              <a:t>процесс</a:t>
            </a:r>
            <a:r>
              <a:rPr lang="en-US" dirty="0"/>
              <a:t> </a:t>
            </a:r>
            <a:r>
              <a:rPr lang="en-US" dirty="0" err="1"/>
              <a:t>пишет</a:t>
            </a:r>
            <a:r>
              <a:rPr lang="en-US" dirty="0"/>
              <a:t> </a:t>
            </a:r>
            <a:r>
              <a:rPr lang="en-US" dirty="0" err="1"/>
              <a:t>данные</a:t>
            </a:r>
            <a:r>
              <a:rPr lang="en-US" dirty="0"/>
              <a:t> в </a:t>
            </a:r>
            <a:r>
              <a:rPr lang="en-US" dirty="0" err="1"/>
              <a:t>канал</a:t>
            </a:r>
            <a:r>
              <a:rPr lang="en-US" dirty="0"/>
              <a:t>, а </a:t>
            </a:r>
            <a:r>
              <a:rPr lang="en-US" dirty="0" err="1"/>
              <a:t>другой</a:t>
            </a:r>
            <a:r>
              <a:rPr lang="en-US" dirty="0"/>
              <a:t> </a:t>
            </a:r>
            <a:r>
              <a:rPr lang="en-US" dirty="0" err="1"/>
              <a:t>их</a:t>
            </a:r>
            <a:r>
              <a:rPr lang="en-US" dirty="0"/>
              <a:t> </a:t>
            </a:r>
            <a:r>
              <a:rPr lang="en-US" dirty="0" err="1"/>
              <a:t>читает</a:t>
            </a:r>
            <a:r>
              <a:rPr lang="en-US" dirty="0"/>
              <a:t>.</a:t>
            </a:r>
            <a:endParaRPr lang="ru-RU" dirty="0"/>
          </a:p>
          <a:p>
            <a:endParaRPr lang="en-US" dirty="0"/>
          </a:p>
          <a:p>
            <a:r>
              <a:rPr lang="en-US" dirty="0" err="1"/>
              <a:t>При</a:t>
            </a:r>
            <a:r>
              <a:rPr lang="en-US" dirty="0"/>
              <a:t> </a:t>
            </a:r>
            <a:r>
              <a:rPr lang="en-US" dirty="0" err="1"/>
              <a:t>этом</a:t>
            </a:r>
            <a:r>
              <a:rPr lang="en-US" dirty="0"/>
              <a:t> </a:t>
            </a:r>
            <a:r>
              <a:rPr lang="en-US" dirty="0" err="1"/>
              <a:t>обычный</a:t>
            </a:r>
            <a:r>
              <a:rPr lang="en-US" dirty="0"/>
              <a:t> </a:t>
            </a:r>
            <a:r>
              <a:rPr lang="en-US" dirty="0" err="1"/>
              <a:t>неименованный</a:t>
            </a:r>
            <a:r>
              <a:rPr lang="en-US" dirty="0"/>
              <a:t> pipe </a:t>
            </a:r>
            <a:r>
              <a:rPr lang="en-US" dirty="0" err="1"/>
              <a:t>не</a:t>
            </a:r>
            <a:r>
              <a:rPr lang="en-US" dirty="0"/>
              <a:t> </a:t>
            </a:r>
            <a:r>
              <a:rPr lang="en-US" dirty="0" err="1"/>
              <a:t>является</a:t>
            </a:r>
            <a:r>
              <a:rPr lang="en-US" dirty="0"/>
              <a:t> </a:t>
            </a:r>
            <a:r>
              <a:rPr lang="en-US" dirty="0" err="1"/>
              <a:t>файлом</a:t>
            </a:r>
            <a:r>
              <a:rPr lang="en-US" dirty="0"/>
              <a:t> </a:t>
            </a:r>
            <a:r>
              <a:rPr lang="en-US" dirty="0" err="1"/>
              <a:t>на</a:t>
            </a:r>
            <a:r>
              <a:rPr lang="en-US" dirty="0"/>
              <a:t> </a:t>
            </a:r>
            <a:r>
              <a:rPr lang="en-US" dirty="0" err="1"/>
              <a:t>диске</a:t>
            </a:r>
            <a:r>
              <a:rPr lang="en-US" dirty="0"/>
              <a:t>. </a:t>
            </a:r>
            <a:r>
              <a:rPr lang="en-US" dirty="0" err="1"/>
              <a:t>Но</a:t>
            </a:r>
            <a:r>
              <a:rPr lang="en-US" dirty="0"/>
              <a:t> </a:t>
            </a:r>
            <a:r>
              <a:rPr lang="en-US" dirty="0" err="1"/>
              <a:t>для</a:t>
            </a:r>
            <a:r>
              <a:rPr lang="en-US" dirty="0"/>
              <a:t> </a:t>
            </a:r>
            <a:r>
              <a:rPr lang="en-US" dirty="0" err="1"/>
              <a:t>процесса</a:t>
            </a:r>
            <a:r>
              <a:rPr lang="en-US" dirty="0"/>
              <a:t> </a:t>
            </a:r>
            <a:r>
              <a:rPr lang="en-US" dirty="0" err="1"/>
              <a:t>он</a:t>
            </a:r>
            <a:r>
              <a:rPr lang="en-US" dirty="0"/>
              <a:t> </a:t>
            </a:r>
            <a:r>
              <a:rPr lang="en-US" dirty="0" err="1"/>
              <a:t>представлен</a:t>
            </a:r>
            <a:r>
              <a:rPr lang="en-US" dirty="0"/>
              <a:t> </a:t>
            </a:r>
            <a:r>
              <a:rPr lang="en-US" dirty="0" err="1"/>
              <a:t>файловыми</a:t>
            </a:r>
            <a:r>
              <a:rPr lang="en-US" dirty="0"/>
              <a:t> </a:t>
            </a:r>
            <a:r>
              <a:rPr lang="en-US" dirty="0" err="1"/>
              <a:t>дескрипторами</a:t>
            </a:r>
            <a:r>
              <a:rPr lang="en-US" dirty="0"/>
              <a:t>, </a:t>
            </a:r>
            <a:r>
              <a:rPr lang="en-US" dirty="0" err="1"/>
              <a:t>поэтому</a:t>
            </a:r>
            <a:r>
              <a:rPr lang="en-US" dirty="0"/>
              <a:t> с </a:t>
            </a:r>
            <a:r>
              <a:rPr lang="en-US" dirty="0" err="1"/>
              <a:t>ним</a:t>
            </a:r>
            <a:r>
              <a:rPr lang="en-US" dirty="0"/>
              <a:t> </a:t>
            </a:r>
            <a:r>
              <a:rPr lang="en-US" dirty="0" err="1"/>
              <a:t>можно</a:t>
            </a:r>
            <a:r>
              <a:rPr lang="en-US" dirty="0"/>
              <a:t> </a:t>
            </a:r>
            <a:r>
              <a:rPr lang="en-US" dirty="0" err="1"/>
              <a:t>работать</a:t>
            </a:r>
            <a:r>
              <a:rPr lang="en-US" dirty="0"/>
              <a:t> </a:t>
            </a:r>
            <a:r>
              <a:rPr lang="en-US" dirty="0" err="1"/>
              <a:t>теми</a:t>
            </a:r>
            <a:r>
              <a:rPr lang="en-US" dirty="0"/>
              <a:t> </a:t>
            </a:r>
            <a:r>
              <a:rPr lang="en-US" dirty="0" err="1"/>
              <a:t>же</a:t>
            </a:r>
            <a:r>
              <a:rPr lang="en-US" dirty="0"/>
              <a:t> </a:t>
            </a:r>
            <a:r>
              <a:rPr lang="en-US" dirty="0" err="1"/>
              <a:t>операциями</a:t>
            </a:r>
            <a:r>
              <a:rPr lang="en-US" dirty="0"/>
              <a:t> </a:t>
            </a:r>
            <a:r>
              <a:rPr lang="en-US" sz="1200" kern="1200" dirty="0">
                <a:solidFill>
                  <a:schemeClr val="tx1"/>
                </a:solidFill>
                <a:latin typeface="+mn-lt"/>
                <a:ea typeface="+mn-ea"/>
                <a:cs typeface="+mn-cs"/>
              </a:rPr>
              <a:t>read</a:t>
            </a:r>
            <a:r>
              <a:rPr lang="en-US" dirty="0"/>
              <a:t> и </a:t>
            </a:r>
            <a:r>
              <a:rPr lang="en-US" sz="1200" kern="1200" dirty="0">
                <a:solidFill>
                  <a:schemeClr val="tx1"/>
                </a:solidFill>
                <a:latin typeface="+mn-lt"/>
                <a:ea typeface="+mn-ea"/>
                <a:cs typeface="+mn-cs"/>
              </a:rPr>
              <a:t>write</a:t>
            </a:r>
            <a:r>
              <a:rPr lang="en-US" dirty="0"/>
              <a:t>, </a:t>
            </a:r>
            <a:r>
              <a:rPr lang="en-US" dirty="0" err="1"/>
              <a:t>что</a:t>
            </a:r>
            <a:r>
              <a:rPr lang="en-US" dirty="0"/>
              <a:t> и с </a:t>
            </a:r>
            <a:r>
              <a:rPr lang="en-US" dirty="0" err="1"/>
              <a:t>обычными</a:t>
            </a:r>
            <a:r>
              <a:rPr lang="en-US" dirty="0"/>
              <a:t> </a:t>
            </a:r>
            <a:r>
              <a:rPr lang="en-US" dirty="0" err="1"/>
              <a:t>файлами</a:t>
            </a:r>
            <a:r>
              <a:rPr lang="en-US" dirty="0"/>
              <a:t>. </a:t>
            </a:r>
            <a:r>
              <a:rPr lang="en-US" dirty="0" err="1"/>
              <a:t>Существуют</a:t>
            </a:r>
            <a:r>
              <a:rPr lang="en-US" dirty="0"/>
              <a:t> </a:t>
            </a:r>
            <a:r>
              <a:rPr lang="en-US" dirty="0" err="1"/>
              <a:t>также</a:t>
            </a:r>
            <a:r>
              <a:rPr lang="en-US" dirty="0"/>
              <a:t> </a:t>
            </a:r>
            <a:r>
              <a:rPr lang="en-US" dirty="0" err="1"/>
              <a:t>именованные</a:t>
            </a:r>
            <a:r>
              <a:rPr lang="en-US" dirty="0"/>
              <a:t> </a:t>
            </a:r>
            <a:r>
              <a:rPr lang="en-US" dirty="0" err="1"/>
              <a:t>каналы</a:t>
            </a:r>
            <a:r>
              <a:rPr lang="en-US" dirty="0"/>
              <a:t> — FIFO, </a:t>
            </a:r>
            <a:r>
              <a:rPr lang="en-US" dirty="0" err="1"/>
              <a:t>которые</a:t>
            </a:r>
            <a:r>
              <a:rPr lang="en-US" dirty="0"/>
              <a:t> </a:t>
            </a:r>
            <a:r>
              <a:rPr lang="en-US" dirty="0" err="1"/>
              <a:t>уже</a:t>
            </a:r>
            <a:r>
              <a:rPr lang="en-US" dirty="0"/>
              <a:t> </a:t>
            </a:r>
            <a:r>
              <a:rPr lang="en-US" dirty="0" err="1"/>
              <a:t>имеют</a:t>
            </a:r>
            <a:r>
              <a:rPr lang="en-US" dirty="0"/>
              <a:t> </a:t>
            </a:r>
            <a:r>
              <a:rPr lang="en-US" dirty="0" err="1"/>
              <a:t>имя</a:t>
            </a:r>
            <a:r>
              <a:rPr lang="en-US" dirty="0"/>
              <a:t> в </a:t>
            </a:r>
            <a:r>
              <a:rPr lang="en-US" dirty="0" err="1"/>
              <a:t>файловой</a:t>
            </a:r>
            <a:r>
              <a:rPr lang="en-US" dirty="0"/>
              <a:t> </a:t>
            </a:r>
            <a:r>
              <a:rPr lang="en-US" dirty="0" err="1"/>
              <a:t>системе</a:t>
            </a:r>
            <a:r>
              <a:rPr lang="en-US" dirty="0"/>
              <a:t>.</a:t>
            </a:r>
            <a:endParaRPr lang="ru-RU" dirty="0"/>
          </a:p>
          <a:p>
            <a:endParaRPr lang="en-US" dirty="0"/>
          </a:p>
          <a:p>
            <a:r>
              <a:rPr lang="en-US" dirty="0"/>
              <a:t>В </a:t>
            </a:r>
            <a:r>
              <a:rPr lang="en-US" dirty="0" err="1"/>
              <a:t>этом</a:t>
            </a:r>
            <a:r>
              <a:rPr lang="en-US" dirty="0"/>
              <a:t> и </a:t>
            </a:r>
            <a:r>
              <a:rPr lang="en-US" dirty="0" err="1"/>
              <a:t>состоит</a:t>
            </a:r>
            <a:r>
              <a:rPr lang="en-US" dirty="0"/>
              <a:t> </a:t>
            </a:r>
            <a:r>
              <a:rPr lang="en-US" dirty="0" err="1"/>
              <a:t>важная</a:t>
            </a:r>
            <a:r>
              <a:rPr lang="en-US" dirty="0"/>
              <a:t> </a:t>
            </a:r>
            <a:r>
              <a:rPr lang="en-US" dirty="0" err="1"/>
              <a:t>идея</a:t>
            </a:r>
            <a:r>
              <a:rPr lang="en-US" dirty="0"/>
              <a:t> UNIX: </a:t>
            </a:r>
            <a:r>
              <a:rPr lang="en-US" dirty="0" err="1"/>
              <a:t>обычные</a:t>
            </a:r>
            <a:r>
              <a:rPr lang="en-US" dirty="0"/>
              <a:t> </a:t>
            </a:r>
            <a:r>
              <a:rPr lang="en-US" dirty="0" err="1"/>
              <a:t>файлы</a:t>
            </a:r>
            <a:r>
              <a:rPr lang="en-US" dirty="0"/>
              <a:t>, </a:t>
            </a:r>
            <a:r>
              <a:rPr lang="en-US" dirty="0" err="1"/>
              <a:t>устройства</a:t>
            </a:r>
            <a:r>
              <a:rPr lang="en-US" dirty="0"/>
              <a:t> и </a:t>
            </a:r>
            <a:r>
              <a:rPr lang="en-US" dirty="0" err="1"/>
              <a:t>многие</a:t>
            </a:r>
            <a:r>
              <a:rPr lang="en-US" dirty="0"/>
              <a:t> </a:t>
            </a:r>
            <a:r>
              <a:rPr lang="en-US" dirty="0" err="1"/>
              <a:t>механизмы</a:t>
            </a:r>
            <a:r>
              <a:rPr lang="en-US" dirty="0"/>
              <a:t> </a:t>
            </a:r>
            <a:r>
              <a:rPr lang="en-US" dirty="0" err="1"/>
              <a:t>межпроцессного</a:t>
            </a:r>
            <a:r>
              <a:rPr lang="en-US" dirty="0"/>
              <a:t> </a:t>
            </a:r>
            <a:r>
              <a:rPr lang="en-US" dirty="0" err="1"/>
              <a:t>взаимодействия</a:t>
            </a:r>
            <a:r>
              <a:rPr lang="en-US" dirty="0"/>
              <a:t> </a:t>
            </a:r>
            <a:r>
              <a:rPr lang="en-US" dirty="0" err="1"/>
              <a:t>предоставляют</a:t>
            </a:r>
            <a:r>
              <a:rPr lang="en-US" dirty="0"/>
              <a:t> </a:t>
            </a:r>
            <a:r>
              <a:rPr lang="en-US" dirty="0" err="1"/>
              <a:t>программе</a:t>
            </a:r>
            <a:r>
              <a:rPr lang="en-US" dirty="0"/>
              <a:t> </a:t>
            </a:r>
            <a:r>
              <a:rPr lang="en-US" dirty="0" err="1"/>
              <a:t>похожий</a:t>
            </a:r>
            <a:r>
              <a:rPr lang="en-US" dirty="0"/>
              <a:t> </a:t>
            </a:r>
            <a:r>
              <a:rPr lang="en-US" dirty="0" err="1"/>
              <a:t>интерфейс</a:t>
            </a:r>
            <a:r>
              <a:rPr lang="en-US" dirty="0"/>
              <a:t>.</a:t>
            </a:r>
            <a:endParaRPr lang="ru-RU" dirty="0"/>
          </a:p>
          <a:p>
            <a:endParaRPr lang="en-US" dirty="0"/>
          </a:p>
          <a:p>
            <a:r>
              <a:rPr lang="en-US" dirty="0"/>
              <a:t>Это </a:t>
            </a:r>
            <a:r>
              <a:rPr lang="en-US" dirty="0" err="1"/>
              <a:t>сильно</a:t>
            </a:r>
            <a:r>
              <a:rPr lang="en-US" dirty="0"/>
              <a:t> </a:t>
            </a:r>
            <a:r>
              <a:rPr lang="en-US" dirty="0" err="1"/>
              <a:t>упрощает</a:t>
            </a:r>
            <a:r>
              <a:rPr lang="en-US" dirty="0"/>
              <a:t> </a:t>
            </a:r>
            <a:r>
              <a:rPr lang="en-US" dirty="0" err="1"/>
              <a:t>работу</a:t>
            </a:r>
            <a:r>
              <a:rPr lang="en-US" dirty="0"/>
              <a:t> </a:t>
            </a:r>
            <a:r>
              <a:rPr lang="en-US" dirty="0" err="1"/>
              <a:t>программ</a:t>
            </a:r>
            <a:r>
              <a:rPr lang="en-US" dirty="0"/>
              <a:t>. </a:t>
            </a:r>
            <a:r>
              <a:rPr lang="en-US" dirty="0" err="1"/>
              <a:t>Например</a:t>
            </a:r>
            <a:r>
              <a:rPr lang="en-US" dirty="0"/>
              <a:t>, </a:t>
            </a:r>
            <a:r>
              <a:rPr lang="en-US" dirty="0" err="1"/>
              <a:t>результат</a:t>
            </a:r>
            <a:r>
              <a:rPr lang="en-US" dirty="0"/>
              <a:t> </a:t>
            </a:r>
            <a:r>
              <a:rPr lang="en-US" dirty="0" err="1"/>
              <a:t>одной</a:t>
            </a:r>
            <a:r>
              <a:rPr lang="en-US" dirty="0"/>
              <a:t> </a:t>
            </a:r>
            <a:r>
              <a:rPr lang="en-US" dirty="0" err="1"/>
              <a:t>программы</a:t>
            </a:r>
            <a:r>
              <a:rPr lang="en-US" dirty="0"/>
              <a:t> </a:t>
            </a:r>
            <a:r>
              <a:rPr lang="en-US" dirty="0" err="1"/>
              <a:t>можно</a:t>
            </a:r>
            <a:r>
              <a:rPr lang="en-US" dirty="0"/>
              <a:t> </a:t>
            </a:r>
            <a:r>
              <a:rPr lang="en-US" dirty="0" err="1"/>
              <a:t>записать</a:t>
            </a:r>
            <a:r>
              <a:rPr lang="en-US" dirty="0"/>
              <a:t> в </a:t>
            </a:r>
            <a:r>
              <a:rPr lang="en-US" dirty="0" err="1"/>
              <a:t>файл</a:t>
            </a:r>
            <a:r>
              <a:rPr lang="en-US" dirty="0"/>
              <a:t>, </a:t>
            </a:r>
            <a:r>
              <a:rPr lang="en-US" dirty="0" err="1"/>
              <a:t>отправить</a:t>
            </a:r>
            <a:r>
              <a:rPr lang="en-US" dirty="0"/>
              <a:t> </a:t>
            </a:r>
            <a:r>
              <a:rPr lang="en-US" dirty="0" err="1"/>
              <a:t>на</a:t>
            </a:r>
            <a:r>
              <a:rPr lang="en-US" dirty="0"/>
              <a:t> </a:t>
            </a:r>
            <a:r>
              <a:rPr lang="en-US" dirty="0" err="1"/>
              <a:t>устройство</a:t>
            </a:r>
            <a:r>
              <a:rPr lang="en-US" dirty="0"/>
              <a:t> </a:t>
            </a:r>
            <a:r>
              <a:rPr lang="en-US" dirty="0" err="1"/>
              <a:t>или</a:t>
            </a:r>
            <a:r>
              <a:rPr lang="en-US" dirty="0"/>
              <a:t> </a:t>
            </a:r>
            <a:r>
              <a:rPr lang="en-US" dirty="0" err="1"/>
              <a:t>передать</a:t>
            </a:r>
            <a:r>
              <a:rPr lang="en-US" dirty="0"/>
              <a:t> </a:t>
            </a:r>
            <a:r>
              <a:rPr lang="en-US" dirty="0" err="1"/>
              <a:t>другой</a:t>
            </a:r>
            <a:r>
              <a:rPr lang="en-US" dirty="0"/>
              <a:t> </a:t>
            </a:r>
            <a:r>
              <a:rPr lang="en-US" dirty="0" err="1"/>
              <a:t>программе</a:t>
            </a:r>
            <a:r>
              <a:rPr lang="en-US" dirty="0"/>
              <a:t>, </a:t>
            </a:r>
            <a:r>
              <a:rPr lang="en-US" dirty="0" err="1"/>
              <a:t>не</a:t>
            </a:r>
            <a:r>
              <a:rPr lang="en-US" dirty="0"/>
              <a:t> </a:t>
            </a:r>
            <a:r>
              <a:rPr lang="en-US" dirty="0" err="1"/>
              <a:t>меняя</a:t>
            </a:r>
            <a:r>
              <a:rPr lang="en-US" dirty="0"/>
              <a:t> </a:t>
            </a:r>
            <a:r>
              <a:rPr lang="en-US" dirty="0" err="1"/>
              <a:t>сам</a:t>
            </a:r>
            <a:r>
              <a:rPr lang="en-US" dirty="0"/>
              <a:t> </a:t>
            </a:r>
            <a:r>
              <a:rPr lang="en-US" dirty="0" err="1"/>
              <a:t>принцип</a:t>
            </a:r>
            <a:r>
              <a:rPr lang="en-US" dirty="0"/>
              <a:t> </a:t>
            </a:r>
            <a:r>
              <a:rPr lang="en-US" dirty="0" err="1"/>
              <a:t>работы</a:t>
            </a:r>
            <a:r>
              <a:rPr lang="en-US" dirty="0"/>
              <a:t> с </a:t>
            </a:r>
            <a:r>
              <a:rPr lang="en-US" dirty="0" err="1"/>
              <a:t>потоком</a:t>
            </a:r>
            <a:r>
              <a:rPr lang="en-US" dirty="0"/>
              <a:t> </a:t>
            </a:r>
            <a:r>
              <a:rPr lang="en-US" dirty="0" err="1"/>
              <a:t>данных</a:t>
            </a:r>
            <a:r>
              <a:rPr lang="en-US" dirty="0"/>
              <a:t>.</a:t>
            </a:r>
          </a:p>
          <a:p>
            <a:endParaRPr lang="en-US" dirty="0"/>
          </a:p>
        </p:txBody>
      </p:sp>
      <p:sp>
        <p:nvSpPr>
          <p:cNvPr id="4" name="Slide Number Placeholder 3"/>
          <p:cNvSpPr>
            <a:spLocks noGrp="1"/>
          </p:cNvSpPr>
          <p:nvPr>
            <p:ph type="sldNum" sz="quarter" idx="5"/>
          </p:nvPr>
        </p:nvSpPr>
        <p:spPr/>
        <p:txBody>
          <a:bodyPr/>
          <a:lstStyle/>
          <a:p>
            <a:fld id="{A3EE74EF-BE85-44F3-968F-E74DD74A629E}" type="slidenum">
              <a:rPr lang="en-US" smtClean="0"/>
              <a:t>22</a:t>
            </a:fld>
            <a:endParaRPr lang="en-US"/>
          </a:p>
        </p:txBody>
      </p:sp>
    </p:spTree>
    <p:extLst>
      <p:ext uri="{BB962C8B-B14F-4D97-AF65-F5344CB8AC3E}">
        <p14:creationId xmlns:p14="http://schemas.microsoft.com/office/powerpoint/2010/main" val="497698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Теперь</a:t>
            </a:r>
            <a:r>
              <a:rPr lang="en-US" dirty="0"/>
              <a:t> </a:t>
            </a:r>
            <a:r>
              <a:rPr lang="en-US" dirty="0" err="1"/>
              <a:t>посмотрим</a:t>
            </a:r>
            <a:r>
              <a:rPr lang="en-US" dirty="0"/>
              <a:t> </a:t>
            </a:r>
            <a:r>
              <a:rPr lang="en-US" dirty="0" err="1"/>
              <a:t>на</a:t>
            </a:r>
            <a:r>
              <a:rPr lang="en-US" dirty="0"/>
              <a:t> </a:t>
            </a:r>
            <a:r>
              <a:rPr lang="en-US" dirty="0" err="1"/>
              <a:t>несколько</a:t>
            </a:r>
            <a:r>
              <a:rPr lang="en-US" dirty="0"/>
              <a:t> </a:t>
            </a:r>
            <a:r>
              <a:rPr lang="en-US" dirty="0" err="1"/>
              <a:t>механизмов</a:t>
            </a:r>
            <a:r>
              <a:rPr lang="en-US" dirty="0"/>
              <a:t>, </a:t>
            </a:r>
            <a:r>
              <a:rPr lang="en-US" dirty="0" err="1"/>
              <a:t>которые</a:t>
            </a:r>
            <a:r>
              <a:rPr lang="en-US" dirty="0"/>
              <a:t> </a:t>
            </a:r>
            <a:r>
              <a:rPr lang="en-US" dirty="0" err="1"/>
              <a:t>показывают</a:t>
            </a:r>
            <a:r>
              <a:rPr lang="en-US" dirty="0"/>
              <a:t>, </a:t>
            </a:r>
            <a:r>
              <a:rPr lang="en-US" dirty="0" err="1"/>
              <a:t>насколько</a:t>
            </a:r>
            <a:r>
              <a:rPr lang="en-US" dirty="0"/>
              <a:t> </a:t>
            </a:r>
            <a:r>
              <a:rPr lang="en-US" dirty="0" err="1"/>
              <a:t>широко</a:t>
            </a:r>
            <a:r>
              <a:rPr lang="en-US" dirty="0"/>
              <a:t> UNIX </a:t>
            </a:r>
            <a:r>
              <a:rPr lang="en-US" dirty="0" err="1"/>
              <a:t>использует</a:t>
            </a:r>
            <a:r>
              <a:rPr lang="en-US" dirty="0"/>
              <a:t> </a:t>
            </a:r>
            <a:r>
              <a:rPr lang="en-US" dirty="0" err="1"/>
              <a:t>файловую</a:t>
            </a:r>
            <a:r>
              <a:rPr lang="en-US" dirty="0"/>
              <a:t> </a:t>
            </a:r>
            <a:r>
              <a:rPr lang="en-US" dirty="0" err="1"/>
              <a:t>модель</a:t>
            </a:r>
            <a:r>
              <a:rPr lang="en-US" dirty="0"/>
              <a:t>.</a:t>
            </a:r>
            <a:endParaRPr lang="ru-RU" dirty="0"/>
          </a:p>
          <a:p>
            <a:endParaRPr lang="en-US" dirty="0"/>
          </a:p>
          <a:p>
            <a:r>
              <a:rPr lang="en-US" dirty="0" err="1"/>
              <a:t>Начнём</a:t>
            </a:r>
            <a:r>
              <a:rPr lang="en-US" dirty="0"/>
              <a:t> с </a:t>
            </a:r>
            <a:r>
              <a:rPr lang="en-US" b="1" dirty="0" err="1"/>
              <a:t>монтирования</a:t>
            </a:r>
            <a:r>
              <a:rPr lang="en-US" dirty="0"/>
              <a:t>. В UNIX </a:t>
            </a:r>
            <a:r>
              <a:rPr lang="en-US" dirty="0" err="1"/>
              <a:t>существует</a:t>
            </a:r>
            <a:r>
              <a:rPr lang="en-US" dirty="0"/>
              <a:t> </a:t>
            </a:r>
            <a:r>
              <a:rPr lang="en-US" dirty="0" err="1"/>
              <a:t>единое</a:t>
            </a:r>
            <a:r>
              <a:rPr lang="en-US" dirty="0"/>
              <a:t> </a:t>
            </a:r>
            <a:r>
              <a:rPr lang="en-US" dirty="0" err="1"/>
              <a:t>дерево</a:t>
            </a:r>
            <a:r>
              <a:rPr lang="en-US" dirty="0"/>
              <a:t> </a:t>
            </a:r>
            <a:r>
              <a:rPr lang="en-US" dirty="0" err="1"/>
              <a:t>каталогов</a:t>
            </a:r>
            <a:r>
              <a:rPr lang="en-US" dirty="0"/>
              <a:t>, </a:t>
            </a:r>
            <a:r>
              <a:rPr lang="en-US" dirty="0" err="1"/>
              <a:t>начинающееся</a:t>
            </a:r>
            <a:r>
              <a:rPr lang="en-US" dirty="0"/>
              <a:t> с </a:t>
            </a:r>
            <a:r>
              <a:rPr lang="en-US" dirty="0" err="1"/>
              <a:t>корня</a:t>
            </a:r>
            <a:r>
              <a:rPr lang="en-US" dirty="0"/>
              <a:t> </a:t>
            </a:r>
            <a:r>
              <a:rPr lang="en-US" sz="1200" kern="1200" dirty="0">
                <a:solidFill>
                  <a:schemeClr val="tx1"/>
                </a:solidFill>
                <a:latin typeface="+mn-lt"/>
                <a:ea typeface="+mn-ea"/>
                <a:cs typeface="+mn-cs"/>
              </a:rPr>
              <a:t>/</a:t>
            </a:r>
            <a:r>
              <a:rPr lang="en-US" dirty="0"/>
              <a:t>. </a:t>
            </a:r>
            <a:r>
              <a:rPr lang="en-US" dirty="0" err="1"/>
              <a:t>Когда</a:t>
            </a:r>
            <a:r>
              <a:rPr lang="en-US" dirty="0"/>
              <a:t> </a:t>
            </a:r>
            <a:r>
              <a:rPr lang="en-US" dirty="0" err="1"/>
              <a:t>появляется</a:t>
            </a:r>
            <a:r>
              <a:rPr lang="en-US" dirty="0"/>
              <a:t> </a:t>
            </a:r>
            <a:r>
              <a:rPr lang="en-US" dirty="0" err="1"/>
              <a:t>дополнительная</a:t>
            </a:r>
            <a:r>
              <a:rPr lang="en-US" dirty="0"/>
              <a:t> </a:t>
            </a:r>
            <a:r>
              <a:rPr lang="en-US" dirty="0" err="1"/>
              <a:t>файловая</a:t>
            </a:r>
            <a:r>
              <a:rPr lang="en-US" dirty="0"/>
              <a:t> </a:t>
            </a:r>
            <a:r>
              <a:rPr lang="en-US" dirty="0" err="1"/>
              <a:t>система</a:t>
            </a:r>
            <a:r>
              <a:rPr lang="en-US" dirty="0"/>
              <a:t>, </a:t>
            </a:r>
            <a:r>
              <a:rPr lang="en-US" dirty="0" err="1"/>
              <a:t>её</a:t>
            </a:r>
            <a:r>
              <a:rPr lang="en-US" dirty="0"/>
              <a:t> </a:t>
            </a:r>
            <a:r>
              <a:rPr lang="en-US" dirty="0" err="1"/>
              <a:t>можно</a:t>
            </a:r>
            <a:r>
              <a:rPr lang="en-US" dirty="0"/>
              <a:t> </a:t>
            </a:r>
            <a:r>
              <a:rPr lang="en-US" dirty="0" err="1"/>
              <a:t>подключить</a:t>
            </a:r>
            <a:r>
              <a:rPr lang="en-US" dirty="0"/>
              <a:t> к </a:t>
            </a:r>
            <a:r>
              <a:rPr lang="en-US" dirty="0" err="1"/>
              <a:t>некоторому</a:t>
            </a:r>
            <a:r>
              <a:rPr lang="en-US" dirty="0"/>
              <a:t> </a:t>
            </a:r>
            <a:r>
              <a:rPr lang="en-US" dirty="0" err="1"/>
              <a:t>каталогу</a:t>
            </a:r>
            <a:r>
              <a:rPr lang="en-US" dirty="0"/>
              <a:t> </a:t>
            </a:r>
            <a:r>
              <a:rPr lang="en-US" dirty="0" err="1"/>
              <a:t>этого</a:t>
            </a:r>
            <a:r>
              <a:rPr lang="en-US" dirty="0"/>
              <a:t> </a:t>
            </a:r>
            <a:r>
              <a:rPr lang="en-US" dirty="0" err="1"/>
              <a:t>дерева</a:t>
            </a:r>
            <a:r>
              <a:rPr lang="en-US" dirty="0"/>
              <a:t>.</a:t>
            </a:r>
            <a:endParaRPr lang="ru-RU" dirty="0"/>
          </a:p>
          <a:p>
            <a:endParaRPr lang="en-US" dirty="0"/>
          </a:p>
          <a:p>
            <a:r>
              <a:rPr lang="en-US" dirty="0" err="1"/>
              <a:t>Здесь</a:t>
            </a:r>
            <a:r>
              <a:rPr lang="en-US" dirty="0"/>
              <a:t> </a:t>
            </a:r>
            <a:r>
              <a:rPr lang="en-US" dirty="0" err="1"/>
              <a:t>приведён</a:t>
            </a:r>
            <a:r>
              <a:rPr lang="en-US" dirty="0"/>
              <a:t> </a:t>
            </a:r>
            <a:r>
              <a:rPr lang="en-US" dirty="0" err="1"/>
              <a:t>пример</a:t>
            </a:r>
            <a:r>
              <a:rPr lang="en-US" dirty="0"/>
              <a:t> </a:t>
            </a:r>
            <a:r>
              <a:rPr lang="en-US" dirty="0" err="1"/>
              <a:t>для</a:t>
            </a:r>
            <a:r>
              <a:rPr lang="en-US" dirty="0"/>
              <a:t> WSL — Linux-</a:t>
            </a:r>
            <a:r>
              <a:rPr lang="en-US" dirty="0" err="1"/>
              <a:t>среды</a:t>
            </a:r>
            <a:r>
              <a:rPr lang="en-US" dirty="0"/>
              <a:t> </a:t>
            </a:r>
            <a:r>
              <a:rPr lang="en-US" dirty="0" err="1"/>
              <a:t>внутри</a:t>
            </a:r>
            <a:r>
              <a:rPr lang="en-US" dirty="0"/>
              <a:t> Windows. </a:t>
            </a:r>
            <a:r>
              <a:rPr lang="en-US" dirty="0" err="1"/>
              <a:t>Сначала</a:t>
            </a:r>
            <a:r>
              <a:rPr lang="en-US" dirty="0"/>
              <a:t> </a:t>
            </a:r>
            <a:r>
              <a:rPr lang="en-US" dirty="0" err="1"/>
              <a:t>мы</a:t>
            </a:r>
            <a:r>
              <a:rPr lang="en-US" dirty="0"/>
              <a:t> </a:t>
            </a:r>
            <a:r>
              <a:rPr lang="en-US" dirty="0" err="1"/>
              <a:t>создаём</a:t>
            </a:r>
            <a:r>
              <a:rPr lang="en-US" dirty="0"/>
              <a:t> </a:t>
            </a:r>
            <a:r>
              <a:rPr lang="en-US" dirty="0" err="1"/>
              <a:t>каталог</a:t>
            </a:r>
            <a:r>
              <a:rPr lang="en-US" dirty="0"/>
              <a:t>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mnt</a:t>
            </a:r>
            <a:r>
              <a:rPr lang="en-US" sz="1200" kern="1200" dirty="0">
                <a:solidFill>
                  <a:schemeClr val="tx1"/>
                </a:solidFill>
                <a:latin typeface="+mn-lt"/>
                <a:ea typeface="+mn-ea"/>
                <a:cs typeface="+mn-cs"/>
              </a:rPr>
              <a:t>/disk-d</a:t>
            </a:r>
            <a:r>
              <a:rPr lang="en-US" dirty="0"/>
              <a:t>. </a:t>
            </a:r>
            <a:r>
              <a:rPr lang="en-US" dirty="0" err="1"/>
              <a:t>Затем</a:t>
            </a:r>
            <a:r>
              <a:rPr lang="en-US" dirty="0"/>
              <a:t> </a:t>
            </a:r>
            <a:r>
              <a:rPr lang="en-US" dirty="0" err="1"/>
              <a:t>командой</a:t>
            </a:r>
            <a:endParaRPr lang="en-US" dirty="0"/>
          </a:p>
          <a:p>
            <a:r>
              <a:rPr lang="en-US" sz="1200" kern="1200" dirty="0">
                <a:solidFill>
                  <a:schemeClr val="tx1"/>
                </a:solidFill>
                <a:latin typeface="+mn-lt"/>
                <a:ea typeface="+mn-ea"/>
                <a:cs typeface="+mn-cs"/>
              </a:rPr>
              <a:t>mount -t </a:t>
            </a:r>
            <a:r>
              <a:rPr lang="en-US" sz="1200" kern="1200" dirty="0" err="1">
                <a:solidFill>
                  <a:schemeClr val="tx1"/>
                </a:solidFill>
                <a:latin typeface="+mn-lt"/>
                <a:ea typeface="+mn-ea"/>
                <a:cs typeface="+mn-cs"/>
              </a:rPr>
              <a:t>drvfs</a:t>
            </a:r>
            <a:r>
              <a:rPr lang="en-US" sz="1200" kern="1200" dirty="0">
                <a:solidFill>
                  <a:schemeClr val="tx1"/>
                </a:solidFill>
                <a:latin typeface="+mn-lt"/>
                <a:ea typeface="+mn-ea"/>
                <a:cs typeface="+mn-cs"/>
              </a:rPr>
              <a:t> D: /</a:t>
            </a:r>
            <a:r>
              <a:rPr lang="en-US" sz="1200" kern="1200" dirty="0" err="1">
                <a:solidFill>
                  <a:schemeClr val="tx1"/>
                </a:solidFill>
                <a:latin typeface="+mn-lt"/>
                <a:ea typeface="+mn-ea"/>
                <a:cs typeface="+mn-cs"/>
              </a:rPr>
              <a:t>mnt</a:t>
            </a:r>
            <a:r>
              <a:rPr lang="en-US" sz="1200" kern="1200" dirty="0">
                <a:solidFill>
                  <a:schemeClr val="tx1"/>
                </a:solidFill>
                <a:latin typeface="+mn-lt"/>
                <a:ea typeface="+mn-ea"/>
                <a:cs typeface="+mn-cs"/>
              </a:rPr>
              <a:t>/disk-d</a:t>
            </a:r>
            <a:endParaRPr lang="en-US" dirty="0"/>
          </a:p>
          <a:p>
            <a:r>
              <a:rPr lang="en-US" dirty="0" err="1"/>
              <a:t>подключаем</a:t>
            </a:r>
            <a:r>
              <a:rPr lang="en-US" dirty="0"/>
              <a:t> к </a:t>
            </a:r>
            <a:r>
              <a:rPr lang="en-US" dirty="0" err="1"/>
              <a:t>нему</a:t>
            </a:r>
            <a:r>
              <a:rPr lang="en-US" dirty="0"/>
              <a:t> </a:t>
            </a:r>
            <a:r>
              <a:rPr lang="en-US" dirty="0" err="1"/>
              <a:t>диск</a:t>
            </a:r>
            <a:r>
              <a:rPr lang="en-US" dirty="0"/>
              <a:t> </a:t>
            </a:r>
            <a:r>
              <a:rPr lang="en-US" sz="1200" kern="1200" dirty="0">
                <a:solidFill>
                  <a:schemeClr val="tx1"/>
                </a:solidFill>
                <a:latin typeface="+mn-lt"/>
                <a:ea typeface="+mn-ea"/>
                <a:cs typeface="+mn-cs"/>
              </a:rPr>
              <a:t>D:</a:t>
            </a:r>
            <a:r>
              <a:rPr lang="en-US" dirty="0"/>
              <a:t> </a:t>
            </a:r>
            <a:r>
              <a:rPr lang="en-US" dirty="0" err="1"/>
              <a:t>из</a:t>
            </a:r>
            <a:r>
              <a:rPr lang="en-US" dirty="0"/>
              <a:t> Windows.</a:t>
            </a:r>
          </a:p>
          <a:p>
            <a:r>
              <a:rPr lang="en-US" dirty="0" err="1"/>
              <a:t>После</a:t>
            </a:r>
            <a:r>
              <a:rPr lang="en-US" dirty="0"/>
              <a:t> </a:t>
            </a:r>
            <a:r>
              <a:rPr lang="en-US" dirty="0" err="1"/>
              <a:t>этого</a:t>
            </a:r>
            <a:r>
              <a:rPr lang="en-US" dirty="0"/>
              <a:t> </a:t>
            </a:r>
            <a:r>
              <a:rPr lang="en-US" dirty="0" err="1"/>
              <a:t>содержимое</a:t>
            </a:r>
            <a:r>
              <a:rPr lang="en-US" dirty="0"/>
              <a:t> Windows-</a:t>
            </a:r>
            <a:r>
              <a:rPr lang="en-US" dirty="0" err="1"/>
              <a:t>диска</a:t>
            </a:r>
            <a:r>
              <a:rPr lang="en-US" dirty="0"/>
              <a:t> </a:t>
            </a:r>
            <a:r>
              <a:rPr lang="en-US" dirty="0" err="1"/>
              <a:t>становится</a:t>
            </a:r>
            <a:r>
              <a:rPr lang="en-US" dirty="0"/>
              <a:t> </a:t>
            </a:r>
            <a:r>
              <a:rPr lang="en-US" dirty="0" err="1"/>
              <a:t>доступно</a:t>
            </a:r>
            <a:r>
              <a:rPr lang="en-US" dirty="0"/>
              <a:t> в Linux </a:t>
            </a:r>
            <a:r>
              <a:rPr lang="en-US" dirty="0" err="1"/>
              <a:t>по</a:t>
            </a:r>
            <a:r>
              <a:rPr lang="en-US" dirty="0"/>
              <a:t> </a:t>
            </a:r>
            <a:r>
              <a:rPr lang="en-US" dirty="0" err="1"/>
              <a:t>обычному</a:t>
            </a:r>
            <a:r>
              <a:rPr lang="en-US" dirty="0"/>
              <a:t> </a:t>
            </a:r>
            <a:r>
              <a:rPr lang="en-US" dirty="0" err="1"/>
              <a:t>пути</a:t>
            </a:r>
            <a:r>
              <a:rPr lang="en-US" dirty="0"/>
              <a:t>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mnt</a:t>
            </a:r>
            <a:r>
              <a:rPr lang="en-US" sz="1200" kern="1200" dirty="0">
                <a:solidFill>
                  <a:schemeClr val="tx1"/>
                </a:solidFill>
                <a:latin typeface="+mn-lt"/>
                <a:ea typeface="+mn-ea"/>
                <a:cs typeface="+mn-cs"/>
              </a:rPr>
              <a:t>/disk-d</a:t>
            </a:r>
            <a:r>
              <a:rPr lang="en-US" dirty="0"/>
              <a:t>. </a:t>
            </a:r>
            <a:r>
              <a:rPr lang="en-US" dirty="0" err="1"/>
              <a:t>Для</a:t>
            </a:r>
            <a:r>
              <a:rPr lang="en-US" dirty="0"/>
              <a:t> </a:t>
            </a:r>
            <a:r>
              <a:rPr lang="en-US" dirty="0" err="1"/>
              <a:t>программ</a:t>
            </a:r>
            <a:r>
              <a:rPr lang="en-US" dirty="0"/>
              <a:t> </a:t>
            </a:r>
            <a:r>
              <a:rPr lang="en-US" dirty="0" err="1"/>
              <a:t>это</a:t>
            </a:r>
            <a:r>
              <a:rPr lang="en-US" dirty="0"/>
              <a:t> </a:t>
            </a:r>
            <a:r>
              <a:rPr lang="en-US" dirty="0" err="1"/>
              <a:t>выглядит</a:t>
            </a:r>
            <a:r>
              <a:rPr lang="en-US" dirty="0"/>
              <a:t> </a:t>
            </a:r>
            <a:r>
              <a:rPr lang="en-US" dirty="0" err="1"/>
              <a:t>как</a:t>
            </a:r>
            <a:r>
              <a:rPr lang="en-US" dirty="0"/>
              <a:t> </a:t>
            </a:r>
            <a:r>
              <a:rPr lang="en-US" dirty="0" err="1"/>
              <a:t>часть</a:t>
            </a:r>
            <a:r>
              <a:rPr lang="en-US" dirty="0"/>
              <a:t> </a:t>
            </a:r>
            <a:r>
              <a:rPr lang="en-US" dirty="0" err="1"/>
              <a:t>общего</a:t>
            </a:r>
            <a:r>
              <a:rPr lang="en-US" dirty="0"/>
              <a:t> </a:t>
            </a:r>
            <a:r>
              <a:rPr lang="en-US" dirty="0" err="1"/>
              <a:t>дерева</a:t>
            </a:r>
            <a:r>
              <a:rPr lang="en-US" dirty="0"/>
              <a:t> </a:t>
            </a:r>
            <a:r>
              <a:rPr lang="en-US" dirty="0" err="1"/>
              <a:t>каталогов</a:t>
            </a:r>
            <a:r>
              <a:rPr lang="en-US" dirty="0"/>
              <a:t>.</a:t>
            </a:r>
            <a:endParaRPr lang="ru-RU" dirty="0"/>
          </a:p>
          <a:p>
            <a:endParaRPr lang="en-US" dirty="0"/>
          </a:p>
          <a:p>
            <a:r>
              <a:rPr lang="en-US" dirty="0" err="1"/>
              <a:t>Когда</a:t>
            </a:r>
            <a:r>
              <a:rPr lang="en-US" dirty="0"/>
              <a:t> </a:t>
            </a:r>
            <a:r>
              <a:rPr lang="en-US" dirty="0" err="1"/>
              <a:t>диск</a:t>
            </a:r>
            <a:r>
              <a:rPr lang="en-US" dirty="0"/>
              <a:t> </a:t>
            </a:r>
            <a:r>
              <a:rPr lang="en-US" dirty="0" err="1"/>
              <a:t>больше</a:t>
            </a:r>
            <a:r>
              <a:rPr lang="en-US" dirty="0"/>
              <a:t> </a:t>
            </a:r>
            <a:r>
              <a:rPr lang="en-US" dirty="0" err="1"/>
              <a:t>не</a:t>
            </a:r>
            <a:r>
              <a:rPr lang="en-US" dirty="0"/>
              <a:t> </a:t>
            </a:r>
            <a:r>
              <a:rPr lang="en-US" dirty="0" err="1"/>
              <a:t>нужен</a:t>
            </a:r>
            <a:r>
              <a:rPr lang="en-US" dirty="0"/>
              <a:t>, </a:t>
            </a:r>
            <a:r>
              <a:rPr lang="en-US" dirty="0" err="1"/>
              <a:t>мы</a:t>
            </a:r>
            <a:r>
              <a:rPr lang="en-US" dirty="0"/>
              <a:t> </a:t>
            </a:r>
            <a:r>
              <a:rPr lang="en-US" dirty="0" err="1"/>
              <a:t>выполняем</a:t>
            </a:r>
            <a:r>
              <a:rPr lang="en-US" dirty="0"/>
              <a:t> </a:t>
            </a:r>
            <a:r>
              <a:rPr lang="en-US" sz="1200" kern="1200" dirty="0" err="1">
                <a:solidFill>
                  <a:schemeClr val="tx1"/>
                </a:solidFill>
                <a:latin typeface="+mn-lt"/>
                <a:ea typeface="+mn-ea"/>
                <a:cs typeface="+mn-cs"/>
              </a:rPr>
              <a:t>umount</a:t>
            </a:r>
            <a:r>
              <a:rPr lang="en-US" dirty="0"/>
              <a:t>, а </a:t>
            </a:r>
            <a:r>
              <a:rPr lang="en-US" dirty="0" err="1"/>
              <a:t>затем</a:t>
            </a:r>
            <a:r>
              <a:rPr lang="en-US" dirty="0"/>
              <a:t> </a:t>
            </a:r>
            <a:r>
              <a:rPr lang="en-US" dirty="0" err="1"/>
              <a:t>можем</a:t>
            </a:r>
            <a:r>
              <a:rPr lang="en-US" dirty="0"/>
              <a:t> </a:t>
            </a:r>
            <a:r>
              <a:rPr lang="en-US" dirty="0" err="1"/>
              <a:t>удалить</a:t>
            </a:r>
            <a:r>
              <a:rPr lang="en-US" dirty="0"/>
              <a:t> </a:t>
            </a:r>
            <a:r>
              <a:rPr lang="en-US" dirty="0" err="1"/>
              <a:t>пустой</a:t>
            </a:r>
            <a:r>
              <a:rPr lang="en-US" dirty="0"/>
              <a:t> </a:t>
            </a:r>
            <a:r>
              <a:rPr lang="en-US" dirty="0" err="1"/>
              <a:t>каталог</a:t>
            </a:r>
            <a:r>
              <a:rPr lang="en-US" dirty="0"/>
              <a:t>, </a:t>
            </a:r>
            <a:r>
              <a:rPr lang="en-US" dirty="0" err="1"/>
              <a:t>который</a:t>
            </a:r>
            <a:r>
              <a:rPr lang="en-US" dirty="0"/>
              <a:t> </a:t>
            </a:r>
            <a:r>
              <a:rPr lang="en-US" dirty="0" err="1"/>
              <a:t>использовали</a:t>
            </a:r>
            <a:r>
              <a:rPr lang="en-US" dirty="0"/>
              <a:t> </a:t>
            </a:r>
            <a:r>
              <a:rPr lang="en-US" dirty="0" err="1"/>
              <a:t>как</a:t>
            </a:r>
            <a:r>
              <a:rPr lang="en-US" dirty="0"/>
              <a:t> </a:t>
            </a:r>
            <a:r>
              <a:rPr lang="en-US" dirty="0" err="1"/>
              <a:t>точку</a:t>
            </a:r>
            <a:r>
              <a:rPr lang="en-US" dirty="0"/>
              <a:t> </a:t>
            </a:r>
            <a:r>
              <a:rPr lang="en-US" dirty="0" err="1"/>
              <a:t>монтирования</a:t>
            </a:r>
            <a:r>
              <a:rPr lang="en-US" dirty="0"/>
              <a:t>.</a:t>
            </a:r>
            <a:endParaRPr lang="ru-RU" dirty="0"/>
          </a:p>
          <a:p>
            <a:endParaRPr lang="en-US" dirty="0"/>
          </a:p>
          <a:p>
            <a:r>
              <a:rPr lang="en-US" dirty="0" err="1"/>
              <a:t>Теперь</a:t>
            </a:r>
            <a:r>
              <a:rPr lang="en-US" dirty="0"/>
              <a:t> </a:t>
            </a:r>
            <a:r>
              <a:rPr lang="en-US" dirty="0" err="1"/>
              <a:t>посмотрим</a:t>
            </a:r>
            <a:r>
              <a:rPr lang="en-US" dirty="0"/>
              <a:t> </a:t>
            </a:r>
            <a:r>
              <a:rPr lang="en-US" dirty="0" err="1"/>
              <a:t>ещё</a:t>
            </a:r>
            <a:r>
              <a:rPr lang="en-US" dirty="0"/>
              <a:t> </a:t>
            </a:r>
            <a:r>
              <a:rPr lang="en-US" dirty="0" err="1"/>
              <a:t>на</a:t>
            </a:r>
            <a:r>
              <a:rPr lang="en-US" dirty="0"/>
              <a:t> </a:t>
            </a:r>
            <a:r>
              <a:rPr lang="en-US" dirty="0" err="1"/>
              <a:t>одну</a:t>
            </a:r>
            <a:r>
              <a:rPr lang="en-US" dirty="0"/>
              <a:t> </a:t>
            </a:r>
            <a:r>
              <a:rPr lang="en-US" dirty="0" err="1"/>
              <a:t>характерную</a:t>
            </a:r>
            <a:r>
              <a:rPr lang="en-US" dirty="0"/>
              <a:t> </a:t>
            </a:r>
            <a:r>
              <a:rPr lang="en-US" dirty="0" err="1"/>
              <a:t>особенность</a:t>
            </a:r>
            <a:r>
              <a:rPr lang="en-US" dirty="0"/>
              <a:t> UNIX — </a:t>
            </a:r>
            <a:r>
              <a:rPr lang="en-US" dirty="0" err="1"/>
              <a:t>специальные</a:t>
            </a:r>
            <a:r>
              <a:rPr lang="en-US" dirty="0"/>
              <a:t> </a:t>
            </a:r>
            <a:r>
              <a:rPr lang="en-US" dirty="0" err="1"/>
              <a:t>объекты</a:t>
            </a:r>
            <a:r>
              <a:rPr lang="en-US" dirty="0"/>
              <a:t> в </a:t>
            </a:r>
            <a:r>
              <a:rPr lang="en-US" sz="1200" kern="1200" dirty="0">
                <a:solidFill>
                  <a:schemeClr val="tx1"/>
                </a:solidFill>
                <a:latin typeface="+mn-lt"/>
                <a:ea typeface="+mn-ea"/>
                <a:cs typeface="+mn-cs"/>
              </a:rPr>
              <a:t>/dev</a:t>
            </a:r>
            <a:r>
              <a:rPr lang="en-US" dirty="0"/>
              <a:t>.</a:t>
            </a:r>
          </a:p>
          <a:p>
            <a:r>
              <a:rPr lang="en-US" dirty="0" err="1"/>
              <a:t>Например</a:t>
            </a:r>
            <a:r>
              <a:rPr lang="en-US" dirty="0"/>
              <a:t>, </a:t>
            </a:r>
            <a:r>
              <a:rPr lang="en-US" sz="1200" kern="1200" dirty="0">
                <a:solidFill>
                  <a:schemeClr val="tx1"/>
                </a:solidFill>
                <a:latin typeface="+mn-lt"/>
                <a:ea typeface="+mn-ea"/>
                <a:cs typeface="+mn-cs"/>
              </a:rPr>
              <a:t>/dev/</a:t>
            </a:r>
            <a:r>
              <a:rPr lang="en-US" sz="1200" kern="1200" dirty="0" err="1">
                <a:solidFill>
                  <a:schemeClr val="tx1"/>
                </a:solidFill>
                <a:latin typeface="+mn-lt"/>
                <a:ea typeface="+mn-ea"/>
                <a:cs typeface="+mn-cs"/>
              </a:rPr>
              <a:t>stdout</a:t>
            </a:r>
            <a:r>
              <a:rPr lang="en-US" dirty="0"/>
              <a:t> </a:t>
            </a:r>
            <a:r>
              <a:rPr lang="en-US" dirty="0" err="1"/>
              <a:t>связан</a:t>
            </a:r>
            <a:r>
              <a:rPr lang="en-US" dirty="0"/>
              <a:t> </a:t>
            </a:r>
            <a:r>
              <a:rPr lang="en-US" dirty="0" err="1"/>
              <a:t>со</a:t>
            </a:r>
            <a:r>
              <a:rPr lang="en-US" dirty="0"/>
              <a:t> </a:t>
            </a:r>
            <a:r>
              <a:rPr lang="en-US" dirty="0" err="1"/>
              <a:t>стандартным</a:t>
            </a:r>
            <a:r>
              <a:rPr lang="en-US" dirty="0"/>
              <a:t> </a:t>
            </a:r>
            <a:r>
              <a:rPr lang="en-US" dirty="0" err="1"/>
              <a:t>потоком</a:t>
            </a:r>
            <a:r>
              <a:rPr lang="en-US" dirty="0"/>
              <a:t> </a:t>
            </a:r>
            <a:r>
              <a:rPr lang="en-US" dirty="0" err="1"/>
              <a:t>вывода</a:t>
            </a:r>
            <a:r>
              <a:rPr lang="en-US" dirty="0"/>
              <a:t> </a:t>
            </a:r>
            <a:r>
              <a:rPr lang="en-US" dirty="0" err="1"/>
              <a:t>процесса</a:t>
            </a:r>
            <a:r>
              <a:rPr lang="en-US" dirty="0"/>
              <a:t>. </a:t>
            </a:r>
            <a:r>
              <a:rPr lang="en-US" dirty="0" err="1"/>
              <a:t>Если</a:t>
            </a:r>
            <a:r>
              <a:rPr lang="en-US" dirty="0"/>
              <a:t> </a:t>
            </a:r>
            <a:r>
              <a:rPr lang="en-US" dirty="0" err="1"/>
              <a:t>мы</a:t>
            </a:r>
            <a:r>
              <a:rPr lang="en-US" dirty="0"/>
              <a:t> </a:t>
            </a:r>
            <a:r>
              <a:rPr lang="en-US" dirty="0" err="1"/>
              <a:t>сначала</a:t>
            </a:r>
            <a:r>
              <a:rPr lang="en-US" dirty="0"/>
              <a:t> </a:t>
            </a:r>
            <a:r>
              <a:rPr lang="en-US" dirty="0" err="1"/>
              <a:t>запишем</a:t>
            </a:r>
            <a:r>
              <a:rPr lang="en-US" dirty="0"/>
              <a:t> </a:t>
            </a:r>
            <a:r>
              <a:rPr lang="en-US" dirty="0" err="1"/>
              <a:t>строку</a:t>
            </a:r>
            <a:r>
              <a:rPr lang="en-US" dirty="0"/>
              <a:t> </a:t>
            </a:r>
            <a:r>
              <a:rPr lang="en-US" sz="1200" kern="1200" dirty="0">
                <a:solidFill>
                  <a:schemeClr val="tx1"/>
                </a:solidFill>
                <a:latin typeface="+mn-lt"/>
                <a:ea typeface="+mn-ea"/>
                <a:cs typeface="+mn-cs"/>
              </a:rPr>
              <a:t>hello</a:t>
            </a:r>
            <a:r>
              <a:rPr lang="en-US" dirty="0"/>
              <a:t> в </a:t>
            </a:r>
            <a:r>
              <a:rPr lang="en-US" dirty="0" err="1"/>
              <a:t>файл</a:t>
            </a:r>
            <a:r>
              <a:rPr lang="en-US" dirty="0"/>
              <a:t>, а </a:t>
            </a:r>
            <a:r>
              <a:rPr lang="en-US" dirty="0" err="1"/>
              <a:t>затем</a:t>
            </a:r>
            <a:r>
              <a:rPr lang="en-US" dirty="0"/>
              <a:t> </a:t>
            </a:r>
            <a:r>
              <a:rPr lang="en-US" dirty="0" err="1"/>
              <a:t>скопируем</a:t>
            </a:r>
            <a:r>
              <a:rPr lang="en-US" dirty="0"/>
              <a:t> </a:t>
            </a:r>
            <a:r>
              <a:rPr lang="en-US" dirty="0" err="1"/>
              <a:t>этот</a:t>
            </a:r>
            <a:r>
              <a:rPr lang="en-US" dirty="0"/>
              <a:t> </a:t>
            </a:r>
            <a:r>
              <a:rPr lang="en-US" dirty="0" err="1"/>
              <a:t>файл</a:t>
            </a:r>
            <a:r>
              <a:rPr lang="en-US" dirty="0"/>
              <a:t> в </a:t>
            </a:r>
            <a:r>
              <a:rPr lang="en-US" sz="1200" kern="1200" dirty="0">
                <a:solidFill>
                  <a:schemeClr val="tx1"/>
                </a:solidFill>
                <a:latin typeface="+mn-lt"/>
                <a:ea typeface="+mn-ea"/>
                <a:cs typeface="+mn-cs"/>
              </a:rPr>
              <a:t>/dev/</a:t>
            </a:r>
            <a:r>
              <a:rPr lang="en-US" sz="1200" kern="1200" dirty="0" err="1">
                <a:solidFill>
                  <a:schemeClr val="tx1"/>
                </a:solidFill>
                <a:latin typeface="+mn-lt"/>
                <a:ea typeface="+mn-ea"/>
                <a:cs typeface="+mn-cs"/>
              </a:rPr>
              <a:t>stdout</a:t>
            </a:r>
            <a:r>
              <a:rPr lang="en-US" dirty="0"/>
              <a:t>, </a:t>
            </a:r>
            <a:r>
              <a:rPr lang="en-US" dirty="0" err="1"/>
              <a:t>его</a:t>
            </a:r>
            <a:r>
              <a:rPr lang="en-US" dirty="0"/>
              <a:t> </a:t>
            </a:r>
            <a:r>
              <a:rPr lang="en-US" dirty="0" err="1"/>
              <a:t>содержимое</a:t>
            </a:r>
            <a:r>
              <a:rPr lang="en-US" dirty="0"/>
              <a:t> </a:t>
            </a:r>
            <a:r>
              <a:rPr lang="en-US" dirty="0" err="1"/>
              <a:t>появится</a:t>
            </a:r>
            <a:r>
              <a:rPr lang="en-US" dirty="0"/>
              <a:t> в </a:t>
            </a:r>
            <a:r>
              <a:rPr lang="en-US" dirty="0" err="1"/>
              <a:t>терминале</a:t>
            </a:r>
            <a:r>
              <a:rPr lang="en-US" dirty="0"/>
              <a:t>.</a:t>
            </a:r>
          </a:p>
          <a:p>
            <a:r>
              <a:rPr lang="en-US" dirty="0" err="1"/>
              <a:t>То</a:t>
            </a:r>
            <a:r>
              <a:rPr lang="en-US" dirty="0"/>
              <a:t> </a:t>
            </a:r>
            <a:r>
              <a:rPr lang="en-US" dirty="0" err="1"/>
              <a:t>есть</a:t>
            </a:r>
            <a:r>
              <a:rPr lang="en-US" dirty="0"/>
              <a:t> </a:t>
            </a:r>
            <a:r>
              <a:rPr lang="en-US" dirty="0" err="1"/>
              <a:t>обычная</a:t>
            </a:r>
            <a:r>
              <a:rPr lang="en-US" dirty="0"/>
              <a:t> </a:t>
            </a:r>
            <a:r>
              <a:rPr lang="en-US" dirty="0" err="1"/>
              <a:t>операция</a:t>
            </a:r>
            <a:r>
              <a:rPr lang="en-US" dirty="0"/>
              <a:t> </a:t>
            </a:r>
            <a:r>
              <a:rPr lang="en-US" dirty="0" err="1"/>
              <a:t>записи</a:t>
            </a:r>
            <a:r>
              <a:rPr lang="en-US" dirty="0"/>
              <a:t> </a:t>
            </a:r>
            <a:r>
              <a:rPr lang="en-US" dirty="0" err="1"/>
              <a:t>может</a:t>
            </a:r>
            <a:r>
              <a:rPr lang="en-US" dirty="0"/>
              <a:t> </a:t>
            </a:r>
            <a:r>
              <a:rPr lang="en-US" dirty="0" err="1"/>
              <a:t>быть</a:t>
            </a:r>
            <a:r>
              <a:rPr lang="en-US" dirty="0"/>
              <a:t> </a:t>
            </a:r>
            <a:r>
              <a:rPr lang="en-US" dirty="0" err="1"/>
              <a:t>направлена</a:t>
            </a:r>
            <a:r>
              <a:rPr lang="en-US" dirty="0"/>
              <a:t> </a:t>
            </a:r>
            <a:r>
              <a:rPr lang="en-US" dirty="0" err="1"/>
              <a:t>не</a:t>
            </a:r>
            <a:r>
              <a:rPr lang="en-US" dirty="0"/>
              <a:t> </a:t>
            </a:r>
            <a:r>
              <a:rPr lang="en-US" dirty="0" err="1"/>
              <a:t>только</a:t>
            </a:r>
            <a:r>
              <a:rPr lang="en-US" dirty="0"/>
              <a:t> в </a:t>
            </a:r>
            <a:r>
              <a:rPr lang="en-US" dirty="0" err="1"/>
              <a:t>файл</a:t>
            </a:r>
            <a:r>
              <a:rPr lang="en-US" dirty="0"/>
              <a:t> </a:t>
            </a:r>
            <a:r>
              <a:rPr lang="en-US" dirty="0" err="1"/>
              <a:t>на</a:t>
            </a:r>
            <a:r>
              <a:rPr lang="en-US" dirty="0"/>
              <a:t> </a:t>
            </a:r>
            <a:r>
              <a:rPr lang="en-US" dirty="0" err="1"/>
              <a:t>диске</a:t>
            </a:r>
            <a:r>
              <a:rPr lang="en-US" dirty="0"/>
              <a:t>, </a:t>
            </a:r>
            <a:r>
              <a:rPr lang="en-US" dirty="0" err="1"/>
              <a:t>но</a:t>
            </a:r>
            <a:r>
              <a:rPr lang="en-US" dirty="0"/>
              <a:t> и в </a:t>
            </a:r>
            <a:r>
              <a:rPr lang="en-US" dirty="0" err="1"/>
              <a:t>поток</a:t>
            </a:r>
            <a:r>
              <a:rPr lang="en-US" dirty="0"/>
              <a:t> </a:t>
            </a:r>
            <a:r>
              <a:rPr lang="en-US" dirty="0" err="1"/>
              <a:t>вывода</a:t>
            </a:r>
            <a:r>
              <a:rPr lang="en-US" dirty="0"/>
              <a:t> </a:t>
            </a:r>
            <a:r>
              <a:rPr lang="en-US" dirty="0" err="1"/>
              <a:t>программы</a:t>
            </a:r>
            <a:r>
              <a:rPr lang="en-US" dirty="0"/>
              <a:t>.</a:t>
            </a:r>
            <a:endParaRPr lang="ru-RU" dirty="0"/>
          </a:p>
          <a:p>
            <a:endParaRPr lang="en-US" dirty="0"/>
          </a:p>
          <a:p>
            <a:r>
              <a:rPr lang="en-US" dirty="0" err="1"/>
              <a:t>Есть</a:t>
            </a:r>
            <a:r>
              <a:rPr lang="en-US" dirty="0"/>
              <a:t> и </a:t>
            </a:r>
            <a:r>
              <a:rPr lang="en-US" dirty="0" err="1"/>
              <a:t>специальное</a:t>
            </a:r>
            <a:r>
              <a:rPr lang="en-US" dirty="0"/>
              <a:t> </a:t>
            </a:r>
            <a:r>
              <a:rPr lang="en-US" dirty="0" err="1"/>
              <a:t>устройство</a:t>
            </a:r>
            <a:r>
              <a:rPr lang="en-US" dirty="0"/>
              <a:t> </a:t>
            </a:r>
            <a:r>
              <a:rPr lang="en-US" sz="1200" kern="1200" dirty="0">
                <a:solidFill>
                  <a:schemeClr val="tx1"/>
                </a:solidFill>
                <a:latin typeface="+mn-lt"/>
                <a:ea typeface="+mn-ea"/>
                <a:cs typeface="+mn-cs"/>
              </a:rPr>
              <a:t>/dev/null</a:t>
            </a:r>
            <a:r>
              <a:rPr lang="en-US" dirty="0"/>
              <a:t>. </a:t>
            </a:r>
            <a:r>
              <a:rPr lang="en-US" dirty="0" err="1"/>
              <a:t>Всё</a:t>
            </a:r>
            <a:r>
              <a:rPr lang="en-US" dirty="0"/>
              <a:t>, </a:t>
            </a:r>
            <a:r>
              <a:rPr lang="en-US" dirty="0" err="1"/>
              <a:t>что</a:t>
            </a:r>
            <a:r>
              <a:rPr lang="en-US" dirty="0"/>
              <a:t> </a:t>
            </a:r>
            <a:r>
              <a:rPr lang="en-US" dirty="0" err="1"/>
              <a:t>мы</a:t>
            </a:r>
            <a:r>
              <a:rPr lang="en-US" dirty="0"/>
              <a:t> </a:t>
            </a:r>
            <a:r>
              <a:rPr lang="en-US" dirty="0" err="1"/>
              <a:t>туда</a:t>
            </a:r>
            <a:r>
              <a:rPr lang="en-US" dirty="0"/>
              <a:t> </a:t>
            </a:r>
            <a:r>
              <a:rPr lang="en-US" dirty="0" err="1"/>
              <a:t>записываем</a:t>
            </a:r>
            <a:r>
              <a:rPr lang="en-US" dirty="0"/>
              <a:t>, </a:t>
            </a:r>
            <a:r>
              <a:rPr lang="en-US" dirty="0" err="1"/>
              <a:t>просто</a:t>
            </a:r>
            <a:r>
              <a:rPr lang="en-US" dirty="0"/>
              <a:t> </a:t>
            </a:r>
            <a:r>
              <a:rPr lang="en-US" dirty="0" err="1"/>
              <a:t>отбрасывается</a:t>
            </a:r>
            <a:r>
              <a:rPr lang="en-US" dirty="0"/>
              <a:t>.</a:t>
            </a:r>
          </a:p>
          <a:p>
            <a:r>
              <a:rPr lang="en-US" dirty="0" err="1"/>
              <a:t>Например</a:t>
            </a:r>
            <a:r>
              <a:rPr lang="en-US" dirty="0"/>
              <a:t>:</a:t>
            </a:r>
          </a:p>
          <a:p>
            <a:r>
              <a:rPr lang="en-US" sz="1200" kern="1200" dirty="0" err="1">
                <a:solidFill>
                  <a:schemeClr val="tx1"/>
                </a:solidFill>
                <a:latin typeface="+mn-lt"/>
                <a:ea typeface="+mn-ea"/>
                <a:cs typeface="+mn-cs"/>
              </a:rPr>
              <a:t>myprog</a:t>
            </a:r>
            <a:r>
              <a:rPr lang="en-US" sz="1200" kern="1200" dirty="0">
                <a:solidFill>
                  <a:schemeClr val="tx1"/>
                </a:solidFill>
                <a:latin typeface="+mn-lt"/>
                <a:ea typeface="+mn-ea"/>
                <a:cs typeface="+mn-cs"/>
              </a:rPr>
              <a:t> 2&gt; /dev/null</a:t>
            </a:r>
            <a:endParaRPr lang="en-US" dirty="0"/>
          </a:p>
          <a:p>
            <a:r>
              <a:rPr lang="en-US" dirty="0" err="1"/>
              <a:t>Здесь</a:t>
            </a:r>
            <a:r>
              <a:rPr lang="en-US" dirty="0"/>
              <a:t> </a:t>
            </a:r>
            <a:r>
              <a:rPr lang="en-US" dirty="0" err="1"/>
              <a:t>число</a:t>
            </a:r>
            <a:r>
              <a:rPr lang="en-US" dirty="0"/>
              <a:t> </a:t>
            </a:r>
            <a:r>
              <a:rPr lang="en-US" sz="1200" kern="1200" dirty="0">
                <a:solidFill>
                  <a:schemeClr val="tx1"/>
                </a:solidFill>
                <a:latin typeface="+mn-lt"/>
                <a:ea typeface="+mn-ea"/>
                <a:cs typeface="+mn-cs"/>
              </a:rPr>
              <a:t>2</a:t>
            </a:r>
            <a:r>
              <a:rPr lang="en-US" dirty="0"/>
              <a:t> </a:t>
            </a:r>
            <a:r>
              <a:rPr lang="en-US" dirty="0" err="1"/>
              <a:t>обозначает</a:t>
            </a:r>
            <a:r>
              <a:rPr lang="en-US" dirty="0"/>
              <a:t> </a:t>
            </a:r>
            <a:r>
              <a:rPr lang="en-US" dirty="0" err="1"/>
              <a:t>стандартный</a:t>
            </a:r>
            <a:r>
              <a:rPr lang="en-US" dirty="0"/>
              <a:t> </a:t>
            </a:r>
            <a:r>
              <a:rPr lang="en-US" dirty="0" err="1"/>
              <a:t>поток</a:t>
            </a:r>
            <a:r>
              <a:rPr lang="en-US" dirty="0"/>
              <a:t> </a:t>
            </a:r>
            <a:r>
              <a:rPr lang="en-US" dirty="0" err="1"/>
              <a:t>ошибок</a:t>
            </a:r>
            <a:r>
              <a:rPr lang="en-US" dirty="0"/>
              <a:t> — </a:t>
            </a:r>
            <a:r>
              <a:rPr lang="en-US" sz="1200" kern="1200" dirty="0">
                <a:solidFill>
                  <a:schemeClr val="tx1"/>
                </a:solidFill>
                <a:latin typeface="+mn-lt"/>
                <a:ea typeface="+mn-ea"/>
                <a:cs typeface="+mn-cs"/>
              </a:rPr>
              <a:t>stderr</a:t>
            </a:r>
            <a:r>
              <a:rPr lang="en-US" dirty="0"/>
              <a:t>. </a:t>
            </a:r>
            <a:r>
              <a:rPr lang="en-US" dirty="0" err="1"/>
              <a:t>Поэтому</a:t>
            </a:r>
            <a:r>
              <a:rPr lang="en-US" dirty="0"/>
              <a:t> </a:t>
            </a:r>
            <a:r>
              <a:rPr lang="en-US" dirty="0" err="1"/>
              <a:t>сообщения</a:t>
            </a:r>
            <a:r>
              <a:rPr lang="en-US" dirty="0"/>
              <a:t> </a:t>
            </a:r>
            <a:r>
              <a:rPr lang="en-US" dirty="0" err="1"/>
              <a:t>об</a:t>
            </a:r>
            <a:r>
              <a:rPr lang="en-US" dirty="0"/>
              <a:t> </a:t>
            </a:r>
            <a:r>
              <a:rPr lang="en-US" dirty="0" err="1"/>
              <a:t>ошибках</a:t>
            </a:r>
            <a:r>
              <a:rPr lang="en-US" dirty="0"/>
              <a:t> </a:t>
            </a:r>
            <a:r>
              <a:rPr lang="en-US" dirty="0" err="1"/>
              <a:t>программы</a:t>
            </a:r>
            <a:r>
              <a:rPr lang="en-US" dirty="0"/>
              <a:t> </a:t>
            </a:r>
            <a:r>
              <a:rPr lang="en-US" dirty="0" err="1"/>
              <a:t>будут</a:t>
            </a:r>
            <a:r>
              <a:rPr lang="en-US" dirty="0"/>
              <a:t> </a:t>
            </a:r>
            <a:r>
              <a:rPr lang="en-US" dirty="0" err="1"/>
              <a:t>перенаправлены</a:t>
            </a:r>
            <a:r>
              <a:rPr lang="en-US" dirty="0"/>
              <a:t> в </a:t>
            </a:r>
            <a:r>
              <a:rPr lang="en-US" sz="1200" kern="1200" dirty="0">
                <a:solidFill>
                  <a:schemeClr val="tx1"/>
                </a:solidFill>
                <a:latin typeface="+mn-lt"/>
                <a:ea typeface="+mn-ea"/>
                <a:cs typeface="+mn-cs"/>
              </a:rPr>
              <a:t>/dev/null</a:t>
            </a:r>
            <a:r>
              <a:rPr lang="en-US" dirty="0"/>
              <a:t> и </a:t>
            </a:r>
            <a:r>
              <a:rPr lang="en-US" dirty="0" err="1"/>
              <a:t>не</a:t>
            </a:r>
            <a:r>
              <a:rPr lang="en-US" dirty="0"/>
              <a:t> </a:t>
            </a:r>
            <a:r>
              <a:rPr lang="en-US" dirty="0" err="1"/>
              <a:t>появятся</a:t>
            </a:r>
            <a:r>
              <a:rPr lang="en-US" dirty="0"/>
              <a:t> </a:t>
            </a:r>
            <a:r>
              <a:rPr lang="en-US" dirty="0" err="1"/>
              <a:t>на</a:t>
            </a:r>
            <a:r>
              <a:rPr lang="en-US" dirty="0"/>
              <a:t> </a:t>
            </a:r>
            <a:r>
              <a:rPr lang="en-US" dirty="0" err="1"/>
              <a:t>экране</a:t>
            </a:r>
            <a:r>
              <a:rPr lang="en-US" dirty="0"/>
              <a:t>.</a:t>
            </a:r>
          </a:p>
          <a:p>
            <a:endParaRPr lang="en-US" dirty="0"/>
          </a:p>
          <a:p>
            <a:r>
              <a:rPr lang="en-US" dirty="0" err="1"/>
              <a:t>Наконец</a:t>
            </a:r>
            <a:r>
              <a:rPr lang="en-US" dirty="0"/>
              <a:t>, </a:t>
            </a:r>
            <a:r>
              <a:rPr lang="en-US" dirty="0" err="1"/>
              <a:t>похожая</a:t>
            </a:r>
            <a:r>
              <a:rPr lang="en-US" dirty="0"/>
              <a:t> </a:t>
            </a:r>
            <a:r>
              <a:rPr lang="en-US" dirty="0" err="1"/>
              <a:t>идея</a:t>
            </a:r>
            <a:r>
              <a:rPr lang="en-US" dirty="0"/>
              <a:t> </a:t>
            </a:r>
            <a:r>
              <a:rPr lang="en-US" dirty="0" err="1"/>
              <a:t>используется</a:t>
            </a:r>
            <a:r>
              <a:rPr lang="en-US" dirty="0"/>
              <a:t> в </a:t>
            </a:r>
            <a:r>
              <a:rPr lang="en-US" b="1" dirty="0" err="1"/>
              <a:t>каналах</a:t>
            </a:r>
            <a:r>
              <a:rPr lang="en-US" b="1" dirty="0"/>
              <a:t> — pipes</a:t>
            </a:r>
            <a:r>
              <a:rPr lang="en-US" dirty="0"/>
              <a:t>.</a:t>
            </a:r>
          </a:p>
          <a:p>
            <a:r>
              <a:rPr lang="en-US" dirty="0"/>
              <a:t>В </a:t>
            </a:r>
            <a:r>
              <a:rPr lang="en-US" dirty="0" err="1"/>
              <a:t>команде</a:t>
            </a:r>
            <a:endParaRPr lang="en-US" dirty="0"/>
          </a:p>
          <a:p>
            <a:r>
              <a:rPr lang="en-US" sz="1200" kern="1200" dirty="0">
                <a:solidFill>
                  <a:schemeClr val="tx1"/>
                </a:solidFill>
                <a:latin typeface="+mn-lt"/>
                <a:ea typeface="+mn-ea"/>
                <a:cs typeface="+mn-cs"/>
              </a:rPr>
              <a:t>cat file.txt | grep "error"</a:t>
            </a:r>
            <a:endParaRPr lang="en-US" dirty="0"/>
          </a:p>
          <a:p>
            <a:r>
              <a:rPr lang="en-US" dirty="0" err="1"/>
              <a:t>программа</a:t>
            </a:r>
            <a:r>
              <a:rPr lang="en-US" dirty="0"/>
              <a:t> </a:t>
            </a:r>
            <a:r>
              <a:rPr lang="en-US" sz="1200" kern="1200" dirty="0">
                <a:solidFill>
                  <a:schemeClr val="tx1"/>
                </a:solidFill>
                <a:latin typeface="+mn-lt"/>
                <a:ea typeface="+mn-ea"/>
                <a:cs typeface="+mn-cs"/>
              </a:rPr>
              <a:t>cat</a:t>
            </a:r>
            <a:r>
              <a:rPr lang="en-US" dirty="0"/>
              <a:t> </a:t>
            </a:r>
            <a:r>
              <a:rPr lang="en-US" dirty="0" err="1"/>
              <a:t>читает</a:t>
            </a:r>
            <a:r>
              <a:rPr lang="en-US" dirty="0"/>
              <a:t> </a:t>
            </a:r>
            <a:r>
              <a:rPr lang="en-US" dirty="0" err="1"/>
              <a:t>файл</a:t>
            </a:r>
            <a:r>
              <a:rPr lang="en-US" dirty="0"/>
              <a:t> и </a:t>
            </a:r>
            <a:r>
              <a:rPr lang="en-US" dirty="0" err="1"/>
              <a:t>пишет</a:t>
            </a:r>
            <a:r>
              <a:rPr lang="en-US" dirty="0"/>
              <a:t> </a:t>
            </a:r>
            <a:r>
              <a:rPr lang="en-US" dirty="0" err="1"/>
              <a:t>результат</a:t>
            </a:r>
            <a:r>
              <a:rPr lang="en-US" dirty="0"/>
              <a:t> в </a:t>
            </a:r>
            <a:r>
              <a:rPr lang="en-US" dirty="0" err="1"/>
              <a:t>свой</a:t>
            </a:r>
            <a:r>
              <a:rPr lang="en-US" dirty="0"/>
              <a:t> </a:t>
            </a:r>
            <a:r>
              <a:rPr lang="en-US" dirty="0" err="1"/>
              <a:t>стандартный</a:t>
            </a:r>
            <a:r>
              <a:rPr lang="en-US" dirty="0"/>
              <a:t> </a:t>
            </a:r>
            <a:r>
              <a:rPr lang="en-US" dirty="0" err="1"/>
              <a:t>вывод</a:t>
            </a:r>
            <a:r>
              <a:rPr lang="en-US" dirty="0"/>
              <a:t>. </a:t>
            </a:r>
            <a:r>
              <a:rPr lang="en-US" dirty="0" err="1"/>
              <a:t>Но</a:t>
            </a:r>
            <a:r>
              <a:rPr lang="en-US" dirty="0"/>
              <a:t> </a:t>
            </a:r>
            <a:r>
              <a:rPr lang="en-US" dirty="0" err="1"/>
              <a:t>символ</a:t>
            </a:r>
            <a:r>
              <a:rPr lang="en-US" dirty="0"/>
              <a:t> </a:t>
            </a:r>
            <a:r>
              <a:rPr lang="en-US" sz="1200" kern="1200" dirty="0">
                <a:solidFill>
                  <a:schemeClr val="tx1"/>
                </a:solidFill>
                <a:latin typeface="+mn-lt"/>
                <a:ea typeface="+mn-ea"/>
                <a:cs typeface="+mn-cs"/>
              </a:rPr>
              <a:t>|</a:t>
            </a:r>
            <a:r>
              <a:rPr lang="en-US" dirty="0"/>
              <a:t> </a:t>
            </a:r>
            <a:r>
              <a:rPr lang="en-US" dirty="0" err="1"/>
              <a:t>говорит</a:t>
            </a:r>
            <a:r>
              <a:rPr lang="en-US" dirty="0"/>
              <a:t> shell </a:t>
            </a:r>
            <a:r>
              <a:rPr lang="en-US" dirty="0" err="1"/>
              <a:t>не</a:t>
            </a:r>
            <a:r>
              <a:rPr lang="en-US" dirty="0"/>
              <a:t> </a:t>
            </a:r>
            <a:r>
              <a:rPr lang="en-US" dirty="0" err="1"/>
              <a:t>отправлять</a:t>
            </a:r>
            <a:r>
              <a:rPr lang="en-US" dirty="0"/>
              <a:t> </a:t>
            </a:r>
            <a:r>
              <a:rPr lang="en-US" dirty="0" err="1"/>
              <a:t>этот</a:t>
            </a:r>
            <a:r>
              <a:rPr lang="en-US" dirty="0"/>
              <a:t> </a:t>
            </a:r>
            <a:r>
              <a:rPr lang="en-US" dirty="0" err="1"/>
              <a:t>вывод</a:t>
            </a:r>
            <a:r>
              <a:rPr lang="en-US" dirty="0"/>
              <a:t> </a:t>
            </a:r>
            <a:r>
              <a:rPr lang="en-US" dirty="0" err="1"/>
              <a:t>на</a:t>
            </a:r>
            <a:r>
              <a:rPr lang="en-US" dirty="0"/>
              <a:t> </a:t>
            </a:r>
            <a:r>
              <a:rPr lang="en-US" dirty="0" err="1"/>
              <a:t>экран</a:t>
            </a:r>
            <a:r>
              <a:rPr lang="en-US" dirty="0"/>
              <a:t>, а </a:t>
            </a:r>
            <a:r>
              <a:rPr lang="en-US" dirty="0" err="1"/>
              <a:t>соединить</a:t>
            </a:r>
            <a:r>
              <a:rPr lang="en-US" dirty="0"/>
              <a:t> </a:t>
            </a:r>
            <a:r>
              <a:rPr lang="en-US" dirty="0" err="1"/>
              <a:t>его</a:t>
            </a:r>
            <a:r>
              <a:rPr lang="en-US" dirty="0"/>
              <a:t> </a:t>
            </a:r>
            <a:r>
              <a:rPr lang="en-US" dirty="0" err="1"/>
              <a:t>со</a:t>
            </a:r>
            <a:r>
              <a:rPr lang="en-US" dirty="0"/>
              <a:t> </a:t>
            </a:r>
            <a:r>
              <a:rPr lang="en-US" dirty="0" err="1"/>
              <a:t>стандартным</a:t>
            </a:r>
            <a:r>
              <a:rPr lang="en-US" dirty="0"/>
              <a:t> </a:t>
            </a:r>
            <a:r>
              <a:rPr lang="en-US" dirty="0" err="1"/>
              <a:t>вводом</a:t>
            </a:r>
            <a:r>
              <a:rPr lang="en-US" dirty="0"/>
              <a:t> </a:t>
            </a:r>
            <a:r>
              <a:rPr lang="en-US" dirty="0" err="1"/>
              <a:t>программы</a:t>
            </a:r>
            <a:r>
              <a:rPr lang="en-US" dirty="0"/>
              <a:t> </a:t>
            </a:r>
            <a:r>
              <a:rPr lang="en-US" sz="1200" kern="1200" dirty="0">
                <a:solidFill>
                  <a:schemeClr val="tx1"/>
                </a:solidFill>
                <a:latin typeface="+mn-lt"/>
                <a:ea typeface="+mn-ea"/>
                <a:cs typeface="+mn-cs"/>
              </a:rPr>
              <a:t>grep</a:t>
            </a:r>
            <a:r>
              <a:rPr lang="en-US" dirty="0"/>
              <a:t>.</a:t>
            </a:r>
          </a:p>
          <a:p>
            <a:endParaRPr lang="en-US" dirty="0"/>
          </a:p>
          <a:p>
            <a:r>
              <a:rPr lang="en-US" dirty="0"/>
              <a:t>В </a:t>
            </a:r>
            <a:r>
              <a:rPr lang="en-US" dirty="0" err="1"/>
              <a:t>результате</a:t>
            </a:r>
            <a:r>
              <a:rPr lang="en-US" dirty="0"/>
              <a:t> </a:t>
            </a:r>
            <a:r>
              <a:rPr lang="en-US" dirty="0" err="1"/>
              <a:t>данные</a:t>
            </a:r>
            <a:r>
              <a:rPr lang="en-US" dirty="0"/>
              <a:t> </a:t>
            </a:r>
            <a:r>
              <a:rPr lang="en-US" dirty="0" err="1"/>
              <a:t>напрямую</a:t>
            </a:r>
            <a:r>
              <a:rPr lang="en-US" dirty="0"/>
              <a:t> </a:t>
            </a:r>
            <a:r>
              <a:rPr lang="en-US" dirty="0" err="1"/>
              <a:t>передаются</a:t>
            </a:r>
            <a:r>
              <a:rPr lang="en-US" dirty="0"/>
              <a:t> </a:t>
            </a:r>
            <a:r>
              <a:rPr lang="en-US" dirty="0" err="1"/>
              <a:t>от</a:t>
            </a:r>
            <a:r>
              <a:rPr lang="en-US" dirty="0"/>
              <a:t> </a:t>
            </a:r>
            <a:r>
              <a:rPr lang="en-US" dirty="0" err="1"/>
              <a:t>одного</a:t>
            </a:r>
            <a:r>
              <a:rPr lang="en-US" dirty="0"/>
              <a:t> </a:t>
            </a:r>
            <a:r>
              <a:rPr lang="en-US" dirty="0" err="1"/>
              <a:t>процесса</a:t>
            </a:r>
            <a:r>
              <a:rPr lang="en-US" dirty="0"/>
              <a:t> </a:t>
            </a:r>
            <a:r>
              <a:rPr lang="en-US" dirty="0" err="1"/>
              <a:t>другому</a:t>
            </a:r>
            <a:r>
              <a:rPr lang="en-US" dirty="0"/>
              <a:t>.</a:t>
            </a:r>
          </a:p>
          <a:p>
            <a:r>
              <a:rPr lang="en-US" dirty="0" err="1"/>
              <a:t>Важно</a:t>
            </a:r>
            <a:r>
              <a:rPr lang="en-US" dirty="0"/>
              <a:t>, </a:t>
            </a:r>
            <a:r>
              <a:rPr lang="en-US" dirty="0" err="1"/>
              <a:t>что</a:t>
            </a:r>
            <a:r>
              <a:rPr lang="en-US" dirty="0"/>
              <a:t> </a:t>
            </a:r>
            <a:r>
              <a:rPr lang="en-US" dirty="0" err="1"/>
              <a:t>обычный</a:t>
            </a:r>
            <a:r>
              <a:rPr lang="en-US" dirty="0"/>
              <a:t> pipe </a:t>
            </a:r>
            <a:r>
              <a:rPr lang="en-US" dirty="0" err="1"/>
              <a:t>не</a:t>
            </a:r>
            <a:r>
              <a:rPr lang="en-US" dirty="0"/>
              <a:t> </a:t>
            </a:r>
            <a:r>
              <a:rPr lang="en-US" dirty="0" err="1"/>
              <a:t>является</a:t>
            </a:r>
            <a:r>
              <a:rPr lang="en-US" dirty="0"/>
              <a:t> </a:t>
            </a:r>
            <a:r>
              <a:rPr lang="en-US" dirty="0" err="1"/>
              <a:t>файлом</a:t>
            </a:r>
            <a:r>
              <a:rPr lang="en-US" dirty="0"/>
              <a:t> </a:t>
            </a:r>
            <a:r>
              <a:rPr lang="en-US" dirty="0" err="1"/>
              <a:t>на</a:t>
            </a:r>
            <a:r>
              <a:rPr lang="en-US" dirty="0"/>
              <a:t> </a:t>
            </a:r>
            <a:r>
              <a:rPr lang="en-US" dirty="0" err="1"/>
              <a:t>диске</a:t>
            </a:r>
            <a:r>
              <a:rPr lang="en-US" dirty="0"/>
              <a:t>. </a:t>
            </a:r>
            <a:r>
              <a:rPr lang="en-US" dirty="0" err="1"/>
              <a:t>Но</a:t>
            </a:r>
            <a:r>
              <a:rPr lang="en-US" dirty="0"/>
              <a:t> </a:t>
            </a:r>
            <a:r>
              <a:rPr lang="en-US" dirty="0" err="1"/>
              <a:t>процессы</a:t>
            </a:r>
            <a:r>
              <a:rPr lang="en-US" dirty="0"/>
              <a:t> </a:t>
            </a:r>
            <a:r>
              <a:rPr lang="en-US" dirty="0" err="1"/>
              <a:t>работают</a:t>
            </a:r>
            <a:r>
              <a:rPr lang="en-US" dirty="0"/>
              <a:t> с </a:t>
            </a:r>
            <a:r>
              <a:rPr lang="en-US" dirty="0" err="1"/>
              <a:t>ним</a:t>
            </a:r>
            <a:r>
              <a:rPr lang="en-US" dirty="0"/>
              <a:t> </a:t>
            </a:r>
            <a:r>
              <a:rPr lang="en-US" dirty="0" err="1"/>
              <a:t>через</a:t>
            </a:r>
            <a:r>
              <a:rPr lang="en-US" dirty="0"/>
              <a:t> </a:t>
            </a:r>
            <a:r>
              <a:rPr lang="en-US" dirty="0" err="1"/>
              <a:t>файловые</a:t>
            </a:r>
            <a:r>
              <a:rPr lang="en-US" dirty="0"/>
              <a:t> </a:t>
            </a:r>
            <a:r>
              <a:rPr lang="en-US" dirty="0" err="1"/>
              <a:t>дескрипторы</a:t>
            </a:r>
            <a:r>
              <a:rPr lang="en-US" dirty="0"/>
              <a:t> и </a:t>
            </a:r>
            <a:r>
              <a:rPr lang="en-US" dirty="0" err="1"/>
              <a:t>операции</a:t>
            </a:r>
            <a:r>
              <a:rPr lang="en-US" dirty="0"/>
              <a:t> </a:t>
            </a:r>
            <a:r>
              <a:rPr lang="en-US" dirty="0" err="1"/>
              <a:t>чтения</a:t>
            </a:r>
            <a:r>
              <a:rPr lang="en-US" dirty="0"/>
              <a:t> и </a:t>
            </a:r>
            <a:r>
              <a:rPr lang="en-US" dirty="0" err="1"/>
              <a:t>записи</a:t>
            </a:r>
            <a:r>
              <a:rPr lang="en-US" dirty="0"/>
              <a:t>, </a:t>
            </a:r>
            <a:r>
              <a:rPr lang="en-US" dirty="0" err="1"/>
              <a:t>поэтому</a:t>
            </a:r>
            <a:r>
              <a:rPr lang="en-US" dirty="0"/>
              <a:t> </a:t>
            </a:r>
            <a:r>
              <a:rPr lang="en-US" dirty="0" err="1"/>
              <a:t>интерфейс</a:t>
            </a:r>
            <a:r>
              <a:rPr lang="en-US" dirty="0"/>
              <a:t> </a:t>
            </a:r>
            <a:r>
              <a:rPr lang="en-US" dirty="0" err="1"/>
              <a:t>снова</a:t>
            </a:r>
            <a:r>
              <a:rPr lang="en-US" dirty="0"/>
              <a:t> </a:t>
            </a:r>
            <a:r>
              <a:rPr lang="en-US" dirty="0" err="1"/>
              <a:t>оказывается</a:t>
            </a:r>
            <a:r>
              <a:rPr lang="en-US" dirty="0"/>
              <a:t> </a:t>
            </a:r>
            <a:r>
              <a:rPr lang="en-US" dirty="0" err="1"/>
              <a:t>очень</a:t>
            </a:r>
            <a:r>
              <a:rPr lang="en-US" dirty="0"/>
              <a:t> </a:t>
            </a:r>
            <a:r>
              <a:rPr lang="en-US" dirty="0" err="1"/>
              <a:t>похожим</a:t>
            </a:r>
            <a:r>
              <a:rPr lang="en-US" dirty="0"/>
              <a:t>.</a:t>
            </a:r>
          </a:p>
          <a:p>
            <a:endParaRPr lang="en-US" dirty="0"/>
          </a:p>
          <a:p>
            <a:r>
              <a:rPr lang="en-US" dirty="0" err="1"/>
              <a:t>Главная</a:t>
            </a:r>
            <a:r>
              <a:rPr lang="en-US" dirty="0"/>
              <a:t> </a:t>
            </a:r>
            <a:r>
              <a:rPr lang="en-US" dirty="0" err="1"/>
              <a:t>мысль</a:t>
            </a:r>
            <a:r>
              <a:rPr lang="en-US" dirty="0"/>
              <a:t> </a:t>
            </a:r>
            <a:r>
              <a:rPr lang="en-US" dirty="0" err="1"/>
              <a:t>всех</a:t>
            </a:r>
            <a:r>
              <a:rPr lang="en-US" dirty="0"/>
              <a:t> </a:t>
            </a:r>
            <a:r>
              <a:rPr lang="en-US" dirty="0" err="1"/>
              <a:t>этих</a:t>
            </a:r>
            <a:r>
              <a:rPr lang="en-US" dirty="0"/>
              <a:t> </a:t>
            </a:r>
            <a:r>
              <a:rPr lang="en-US" dirty="0" err="1"/>
              <a:t>примеров</a:t>
            </a:r>
            <a:r>
              <a:rPr lang="en-US" dirty="0"/>
              <a:t> </a:t>
            </a:r>
            <a:r>
              <a:rPr lang="en-US" dirty="0" err="1"/>
              <a:t>одна</a:t>
            </a:r>
            <a:r>
              <a:rPr lang="en-US" dirty="0"/>
              <a:t>: </a:t>
            </a:r>
            <a:r>
              <a:rPr lang="en-US" b="1" dirty="0"/>
              <a:t>в UNIX </a:t>
            </a:r>
            <a:r>
              <a:rPr lang="en-US" b="1" dirty="0" err="1"/>
              <a:t>файлы</a:t>
            </a:r>
            <a:r>
              <a:rPr lang="en-US" b="1" dirty="0"/>
              <a:t>, </a:t>
            </a:r>
            <a:r>
              <a:rPr lang="en-US" b="1" dirty="0" err="1"/>
              <a:t>устройства</a:t>
            </a:r>
            <a:r>
              <a:rPr lang="en-US" b="1" dirty="0"/>
              <a:t> и </a:t>
            </a:r>
            <a:r>
              <a:rPr lang="en-US" b="1" dirty="0" err="1"/>
              <a:t>потоки</a:t>
            </a:r>
            <a:r>
              <a:rPr lang="en-US" b="1" dirty="0"/>
              <a:t> </a:t>
            </a:r>
            <a:r>
              <a:rPr lang="en-US" b="1" dirty="0" err="1"/>
              <a:t>данных</a:t>
            </a:r>
            <a:r>
              <a:rPr lang="en-US" b="1" dirty="0"/>
              <a:t> </a:t>
            </a:r>
            <a:r>
              <a:rPr lang="en-US" b="1" dirty="0" err="1"/>
              <a:t>можно</a:t>
            </a:r>
            <a:r>
              <a:rPr lang="en-US" b="1" dirty="0"/>
              <a:t> </a:t>
            </a:r>
            <a:r>
              <a:rPr lang="en-US" b="1" dirty="0" err="1"/>
              <a:t>комбинировать</a:t>
            </a:r>
            <a:r>
              <a:rPr lang="en-US" b="1" dirty="0"/>
              <a:t> </a:t>
            </a:r>
            <a:r>
              <a:rPr lang="en-US" b="1" dirty="0" err="1"/>
              <a:t>благодаря</a:t>
            </a:r>
            <a:r>
              <a:rPr lang="en-US" b="1" dirty="0"/>
              <a:t> </a:t>
            </a:r>
            <a:r>
              <a:rPr lang="en-US" b="1" dirty="0" err="1"/>
              <a:t>общему</a:t>
            </a:r>
            <a:r>
              <a:rPr lang="en-US" b="1" dirty="0"/>
              <a:t> </a:t>
            </a:r>
            <a:r>
              <a:rPr lang="en-US" b="1" dirty="0" err="1"/>
              <a:t>интерфейсу</a:t>
            </a:r>
            <a:r>
              <a:rPr lang="en-US" b="1" dirty="0"/>
              <a:t> </a:t>
            </a:r>
            <a:r>
              <a:rPr lang="en-US" b="1" dirty="0" err="1"/>
              <a:t>чтения</a:t>
            </a:r>
            <a:r>
              <a:rPr lang="en-US" b="1" dirty="0"/>
              <a:t> и </a:t>
            </a:r>
            <a:r>
              <a:rPr lang="en-US" b="1" dirty="0" err="1"/>
              <a:t>записи</a:t>
            </a:r>
            <a:r>
              <a:rPr lang="en-US" dirty="0"/>
              <a:t>. </a:t>
            </a:r>
            <a:r>
              <a:rPr lang="en-US" dirty="0" err="1"/>
              <a:t>Именно</a:t>
            </a:r>
            <a:r>
              <a:rPr lang="en-US" dirty="0"/>
              <a:t> </a:t>
            </a:r>
            <a:r>
              <a:rPr lang="en-US" dirty="0" err="1"/>
              <a:t>поэтому</a:t>
            </a:r>
            <a:r>
              <a:rPr lang="en-US" dirty="0"/>
              <a:t> </a:t>
            </a:r>
            <a:r>
              <a:rPr lang="en-US" dirty="0" err="1"/>
              <a:t>простые</a:t>
            </a:r>
            <a:r>
              <a:rPr lang="en-US" dirty="0"/>
              <a:t> </a:t>
            </a:r>
            <a:r>
              <a:rPr lang="en-US" dirty="0" err="1"/>
              <a:t>программы</a:t>
            </a:r>
            <a:r>
              <a:rPr lang="en-US" dirty="0"/>
              <a:t> </a:t>
            </a:r>
            <a:r>
              <a:rPr lang="en-US" dirty="0" err="1"/>
              <a:t>легко</a:t>
            </a:r>
            <a:r>
              <a:rPr lang="en-US" dirty="0"/>
              <a:t> </a:t>
            </a:r>
            <a:r>
              <a:rPr lang="en-US" dirty="0" err="1"/>
              <a:t>соединяются</a:t>
            </a:r>
            <a:r>
              <a:rPr lang="en-US" dirty="0"/>
              <a:t> </a:t>
            </a:r>
            <a:r>
              <a:rPr lang="en-US" dirty="0" err="1"/>
              <a:t>между</a:t>
            </a:r>
            <a:r>
              <a:rPr lang="en-US" dirty="0"/>
              <a:t> </a:t>
            </a:r>
            <a:r>
              <a:rPr lang="en-US" dirty="0" err="1"/>
              <a:t>собой</a:t>
            </a:r>
            <a:r>
              <a:rPr lang="en-US" dirty="0"/>
              <a:t> в </a:t>
            </a:r>
            <a:r>
              <a:rPr lang="en-US" dirty="0" err="1"/>
              <a:t>более</a:t>
            </a:r>
            <a:r>
              <a:rPr lang="en-US" dirty="0"/>
              <a:t> </a:t>
            </a:r>
            <a:r>
              <a:rPr lang="en-US" dirty="0" err="1"/>
              <a:t>сложные</a:t>
            </a:r>
            <a:r>
              <a:rPr lang="en-US" dirty="0"/>
              <a:t> </a:t>
            </a:r>
            <a:r>
              <a:rPr lang="en-US" dirty="0" err="1"/>
              <a:t>цепочки</a:t>
            </a:r>
            <a:r>
              <a:rPr lang="en-US" dirty="0"/>
              <a:t>.</a:t>
            </a:r>
          </a:p>
        </p:txBody>
      </p:sp>
      <p:sp>
        <p:nvSpPr>
          <p:cNvPr id="4" name="Slide Number Placeholder 3"/>
          <p:cNvSpPr>
            <a:spLocks noGrp="1"/>
          </p:cNvSpPr>
          <p:nvPr>
            <p:ph type="sldNum" sz="quarter" idx="5"/>
          </p:nvPr>
        </p:nvSpPr>
        <p:spPr/>
        <p:txBody>
          <a:bodyPr/>
          <a:lstStyle/>
          <a:p>
            <a:fld id="{A3EE74EF-BE85-44F3-968F-E74DD74A629E}" type="slidenum">
              <a:rPr lang="en-US" smtClean="0"/>
              <a:t>23</a:t>
            </a:fld>
            <a:endParaRPr lang="en-US"/>
          </a:p>
        </p:txBody>
      </p:sp>
    </p:spTree>
    <p:extLst>
      <p:ext uri="{BB962C8B-B14F-4D97-AF65-F5344CB8AC3E}">
        <p14:creationId xmlns:p14="http://schemas.microsoft.com/office/powerpoint/2010/main" val="31428994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Теперь</a:t>
            </a:r>
            <a:r>
              <a:rPr lang="en-US" dirty="0"/>
              <a:t> </a:t>
            </a:r>
            <a:r>
              <a:rPr lang="en-US" dirty="0" err="1"/>
              <a:t>перейдём</a:t>
            </a:r>
            <a:r>
              <a:rPr lang="en-US" dirty="0"/>
              <a:t> к </a:t>
            </a:r>
            <a:r>
              <a:rPr lang="en-US" dirty="0" err="1"/>
              <a:t>программе</a:t>
            </a:r>
            <a:r>
              <a:rPr lang="en-US" dirty="0"/>
              <a:t>, </a:t>
            </a:r>
            <a:r>
              <a:rPr lang="en-US" dirty="0" err="1"/>
              <a:t>через</a:t>
            </a:r>
            <a:r>
              <a:rPr lang="en-US" dirty="0"/>
              <a:t> </a:t>
            </a:r>
            <a:r>
              <a:rPr lang="en-US" dirty="0" err="1"/>
              <a:t>которую</a:t>
            </a:r>
            <a:r>
              <a:rPr lang="en-US" dirty="0"/>
              <a:t> </a:t>
            </a:r>
            <a:r>
              <a:rPr lang="en-US" dirty="0" err="1"/>
              <a:t>мы</a:t>
            </a:r>
            <a:r>
              <a:rPr lang="en-US" dirty="0"/>
              <a:t> </a:t>
            </a:r>
            <a:r>
              <a:rPr lang="en-US" dirty="0" err="1"/>
              <a:t>уже</a:t>
            </a:r>
            <a:r>
              <a:rPr lang="en-US" dirty="0"/>
              <a:t> </a:t>
            </a:r>
            <a:r>
              <a:rPr lang="en-US" dirty="0" err="1"/>
              <a:t>выполнили</a:t>
            </a:r>
            <a:r>
              <a:rPr lang="en-US" dirty="0"/>
              <a:t> </a:t>
            </a:r>
            <a:r>
              <a:rPr lang="en-US" dirty="0" err="1"/>
              <a:t>почти</a:t>
            </a:r>
            <a:r>
              <a:rPr lang="en-US" dirty="0"/>
              <a:t> </a:t>
            </a:r>
            <a:r>
              <a:rPr lang="en-US" dirty="0" err="1"/>
              <a:t>все</a:t>
            </a:r>
            <a:r>
              <a:rPr lang="en-US" dirty="0"/>
              <a:t> </a:t>
            </a:r>
            <a:r>
              <a:rPr lang="en-US" dirty="0" err="1"/>
              <a:t>предыдущие</a:t>
            </a:r>
            <a:r>
              <a:rPr lang="en-US" dirty="0"/>
              <a:t> </a:t>
            </a:r>
            <a:r>
              <a:rPr lang="en-US" dirty="0" err="1"/>
              <a:t>команды</a:t>
            </a:r>
            <a:r>
              <a:rPr lang="en-US" dirty="0"/>
              <a:t>, — к </a:t>
            </a:r>
            <a:r>
              <a:rPr lang="en-US" b="1" dirty="0"/>
              <a:t>shell</a:t>
            </a:r>
            <a:r>
              <a:rPr lang="en-US" dirty="0"/>
              <a:t>, </a:t>
            </a:r>
            <a:r>
              <a:rPr lang="en-US" dirty="0" err="1"/>
              <a:t>или</a:t>
            </a:r>
            <a:r>
              <a:rPr lang="en-US" dirty="0"/>
              <a:t> </a:t>
            </a:r>
            <a:r>
              <a:rPr lang="en-US" dirty="0" err="1"/>
              <a:t>командной</a:t>
            </a:r>
            <a:r>
              <a:rPr lang="en-US" dirty="0"/>
              <a:t> </a:t>
            </a:r>
            <a:r>
              <a:rPr lang="en-US" dirty="0" err="1"/>
              <a:t>оболочке</a:t>
            </a:r>
            <a:r>
              <a:rPr lang="en-US" dirty="0"/>
              <a:t>.</a:t>
            </a:r>
            <a:endParaRPr lang="ru-RU" dirty="0"/>
          </a:p>
          <a:p>
            <a:endParaRPr lang="en-US" dirty="0"/>
          </a:p>
          <a:p>
            <a:r>
              <a:rPr lang="en-US" dirty="0"/>
              <a:t>Shell — </a:t>
            </a:r>
            <a:r>
              <a:rPr lang="en-US" dirty="0" err="1"/>
              <a:t>это</a:t>
            </a:r>
            <a:r>
              <a:rPr lang="en-US" dirty="0"/>
              <a:t> </a:t>
            </a:r>
            <a:r>
              <a:rPr lang="en-US" dirty="0" err="1"/>
              <a:t>обычная</a:t>
            </a:r>
            <a:r>
              <a:rPr lang="en-US" dirty="0"/>
              <a:t> </a:t>
            </a:r>
            <a:r>
              <a:rPr lang="en-US" dirty="0" err="1"/>
              <a:t>пользовательская</a:t>
            </a:r>
            <a:r>
              <a:rPr lang="en-US" dirty="0"/>
              <a:t> </a:t>
            </a:r>
            <a:r>
              <a:rPr lang="en-US" dirty="0" err="1"/>
              <a:t>программа</a:t>
            </a:r>
            <a:r>
              <a:rPr lang="en-US" dirty="0"/>
              <a:t>, </a:t>
            </a:r>
            <a:r>
              <a:rPr lang="en-US" dirty="0" err="1"/>
              <a:t>которая</a:t>
            </a:r>
            <a:r>
              <a:rPr lang="en-US" dirty="0"/>
              <a:t> </a:t>
            </a:r>
            <a:r>
              <a:rPr lang="en-US" dirty="0" err="1"/>
              <a:t>принимает</a:t>
            </a:r>
            <a:r>
              <a:rPr lang="en-US" dirty="0"/>
              <a:t> </a:t>
            </a:r>
            <a:r>
              <a:rPr lang="en-US" dirty="0" err="1"/>
              <a:t>введённые</a:t>
            </a:r>
            <a:r>
              <a:rPr lang="en-US" dirty="0"/>
              <a:t> </a:t>
            </a:r>
            <a:r>
              <a:rPr lang="en-US" dirty="0" err="1"/>
              <a:t>нами</a:t>
            </a:r>
            <a:r>
              <a:rPr lang="en-US" dirty="0"/>
              <a:t> </a:t>
            </a:r>
            <a:r>
              <a:rPr lang="en-US" dirty="0" err="1"/>
              <a:t>команды</a:t>
            </a:r>
            <a:r>
              <a:rPr lang="en-US" dirty="0"/>
              <a:t>, </a:t>
            </a:r>
            <a:r>
              <a:rPr lang="en-US" dirty="0" err="1"/>
              <a:t>разбирает</a:t>
            </a:r>
            <a:r>
              <a:rPr lang="en-US" dirty="0"/>
              <a:t> </a:t>
            </a:r>
            <a:r>
              <a:rPr lang="en-US" dirty="0" err="1"/>
              <a:t>их</a:t>
            </a:r>
            <a:r>
              <a:rPr lang="en-US" dirty="0"/>
              <a:t> и </a:t>
            </a:r>
            <a:r>
              <a:rPr lang="en-US" dirty="0" err="1"/>
              <a:t>организует</a:t>
            </a:r>
            <a:r>
              <a:rPr lang="en-US" dirty="0"/>
              <a:t> </a:t>
            </a:r>
            <a:r>
              <a:rPr lang="en-US" dirty="0" err="1"/>
              <a:t>выполнение</a:t>
            </a:r>
            <a:r>
              <a:rPr lang="en-US" dirty="0"/>
              <a:t>.</a:t>
            </a:r>
            <a:endParaRPr lang="ru-RU" dirty="0"/>
          </a:p>
          <a:p>
            <a:endParaRPr lang="en-US" dirty="0"/>
          </a:p>
          <a:p>
            <a:r>
              <a:rPr lang="en-US" dirty="0" err="1"/>
              <a:t>Важно</a:t>
            </a:r>
            <a:r>
              <a:rPr lang="en-US" dirty="0"/>
              <a:t> </a:t>
            </a:r>
            <a:r>
              <a:rPr lang="en-US" dirty="0" err="1"/>
              <a:t>понимать</a:t>
            </a:r>
            <a:r>
              <a:rPr lang="en-US" dirty="0"/>
              <a:t>, </a:t>
            </a:r>
            <a:r>
              <a:rPr lang="en-US" dirty="0" err="1"/>
              <a:t>что</a:t>
            </a:r>
            <a:r>
              <a:rPr lang="en-US" dirty="0"/>
              <a:t> shell </a:t>
            </a:r>
            <a:r>
              <a:rPr lang="en-US" b="1" dirty="0" err="1"/>
              <a:t>не</a:t>
            </a:r>
            <a:r>
              <a:rPr lang="en-US" b="1" dirty="0"/>
              <a:t> </a:t>
            </a:r>
            <a:r>
              <a:rPr lang="en-US" b="1" dirty="0" err="1"/>
              <a:t>является</a:t>
            </a:r>
            <a:r>
              <a:rPr lang="en-US" b="1" dirty="0"/>
              <a:t> </a:t>
            </a:r>
            <a:r>
              <a:rPr lang="en-US" b="1" dirty="0" err="1"/>
              <a:t>частью</a:t>
            </a:r>
            <a:r>
              <a:rPr lang="en-US" b="1" dirty="0"/>
              <a:t> </a:t>
            </a:r>
            <a:r>
              <a:rPr lang="en-US" b="1" dirty="0" err="1"/>
              <a:t>ядра</a:t>
            </a:r>
            <a:r>
              <a:rPr lang="en-US" b="1" dirty="0"/>
              <a:t> </a:t>
            </a:r>
            <a:r>
              <a:rPr lang="en-US" b="1" dirty="0" err="1"/>
              <a:t>операционной</a:t>
            </a:r>
            <a:r>
              <a:rPr lang="en-US" b="1" dirty="0"/>
              <a:t> </a:t>
            </a:r>
            <a:r>
              <a:rPr lang="en-US" b="1" dirty="0" err="1"/>
              <a:t>системы</a:t>
            </a:r>
            <a:r>
              <a:rPr lang="en-US" dirty="0"/>
              <a:t>. </a:t>
            </a:r>
            <a:r>
              <a:rPr lang="en-US" dirty="0" err="1"/>
              <a:t>Например</a:t>
            </a:r>
            <a:r>
              <a:rPr lang="en-US" dirty="0"/>
              <a:t>, </a:t>
            </a:r>
            <a:r>
              <a:rPr lang="en-US" sz="1200" kern="1200" dirty="0">
                <a:solidFill>
                  <a:schemeClr val="tx1"/>
                </a:solidFill>
                <a:latin typeface="+mn-lt"/>
                <a:ea typeface="+mn-ea"/>
                <a:cs typeface="+mn-cs"/>
              </a:rPr>
              <a:t>bash</a:t>
            </a:r>
            <a:r>
              <a:rPr lang="en-US" dirty="0"/>
              <a:t> — </a:t>
            </a:r>
            <a:r>
              <a:rPr lang="en-US" dirty="0" err="1"/>
              <a:t>такой</a:t>
            </a:r>
            <a:r>
              <a:rPr lang="en-US" dirty="0"/>
              <a:t> </a:t>
            </a:r>
            <a:r>
              <a:rPr lang="en-US" dirty="0" err="1"/>
              <a:t>же</a:t>
            </a:r>
            <a:r>
              <a:rPr lang="en-US" dirty="0"/>
              <a:t> </a:t>
            </a:r>
            <a:r>
              <a:rPr lang="en-US" dirty="0" err="1"/>
              <a:t>процесс</a:t>
            </a:r>
            <a:r>
              <a:rPr lang="en-US" dirty="0"/>
              <a:t>, </a:t>
            </a:r>
            <a:r>
              <a:rPr lang="en-US" dirty="0" err="1"/>
              <a:t>как</a:t>
            </a:r>
            <a:r>
              <a:rPr lang="en-US" dirty="0"/>
              <a:t> </a:t>
            </a:r>
            <a:r>
              <a:rPr lang="en-US" dirty="0" err="1"/>
              <a:t>многие</a:t>
            </a:r>
            <a:r>
              <a:rPr lang="en-US" dirty="0"/>
              <a:t> </a:t>
            </a:r>
            <a:r>
              <a:rPr lang="en-US" dirty="0" err="1"/>
              <a:t>другие</a:t>
            </a:r>
            <a:r>
              <a:rPr lang="en-US" dirty="0"/>
              <a:t> </a:t>
            </a:r>
            <a:r>
              <a:rPr lang="en-US" dirty="0" err="1"/>
              <a:t>программы</a:t>
            </a:r>
            <a:r>
              <a:rPr lang="en-US" dirty="0"/>
              <a:t>, </a:t>
            </a:r>
            <a:r>
              <a:rPr lang="en-US" dirty="0" err="1"/>
              <a:t>которые</a:t>
            </a:r>
            <a:r>
              <a:rPr lang="en-US" dirty="0"/>
              <a:t> </a:t>
            </a:r>
            <a:r>
              <a:rPr lang="en-US" dirty="0" err="1"/>
              <a:t>мы</a:t>
            </a:r>
            <a:r>
              <a:rPr lang="en-US" dirty="0"/>
              <a:t> </a:t>
            </a:r>
            <a:r>
              <a:rPr lang="en-US" dirty="0" err="1"/>
              <a:t>видели</a:t>
            </a:r>
            <a:r>
              <a:rPr lang="en-US" dirty="0"/>
              <a:t> в </a:t>
            </a:r>
            <a:r>
              <a:rPr lang="en-US" dirty="0" err="1"/>
              <a:t>выводе</a:t>
            </a:r>
            <a:r>
              <a:rPr lang="en-US" dirty="0"/>
              <a:t> </a:t>
            </a:r>
            <a:r>
              <a:rPr lang="en-US" sz="1200" kern="1200" dirty="0">
                <a:solidFill>
                  <a:schemeClr val="tx1"/>
                </a:solidFill>
                <a:latin typeface="+mn-lt"/>
                <a:ea typeface="+mn-ea"/>
                <a:cs typeface="+mn-cs"/>
              </a:rPr>
              <a:t>ps</a:t>
            </a:r>
            <a:r>
              <a:rPr lang="en-US" dirty="0"/>
              <a:t>.</a:t>
            </a:r>
            <a:endParaRPr lang="ru-RU" dirty="0"/>
          </a:p>
          <a:p>
            <a:endParaRPr lang="en-US" dirty="0"/>
          </a:p>
          <a:p>
            <a:r>
              <a:rPr lang="en-US" dirty="0" err="1"/>
              <a:t>Когда</a:t>
            </a:r>
            <a:r>
              <a:rPr lang="en-US" dirty="0"/>
              <a:t> </a:t>
            </a:r>
            <a:r>
              <a:rPr lang="en-US" dirty="0" err="1"/>
              <a:t>мы</a:t>
            </a:r>
            <a:r>
              <a:rPr lang="en-US" dirty="0"/>
              <a:t> </a:t>
            </a:r>
            <a:r>
              <a:rPr lang="en-US" dirty="0" err="1"/>
              <a:t>вводим</a:t>
            </a:r>
            <a:r>
              <a:rPr lang="en-US" dirty="0"/>
              <a:t>:</a:t>
            </a:r>
          </a:p>
          <a:p>
            <a:r>
              <a:rPr lang="en-US" sz="1200" kern="1200" dirty="0">
                <a:solidFill>
                  <a:schemeClr val="tx1"/>
                </a:solidFill>
                <a:latin typeface="+mn-lt"/>
                <a:ea typeface="+mn-ea"/>
                <a:cs typeface="+mn-cs"/>
              </a:rPr>
              <a:t>ls -l</a:t>
            </a:r>
            <a:endParaRPr lang="en-US" dirty="0"/>
          </a:p>
          <a:p>
            <a:r>
              <a:rPr lang="en-US" dirty="0"/>
              <a:t>shell </a:t>
            </a:r>
            <a:r>
              <a:rPr lang="en-US" dirty="0" err="1"/>
              <a:t>сначала</a:t>
            </a:r>
            <a:r>
              <a:rPr lang="en-US" dirty="0"/>
              <a:t> </a:t>
            </a:r>
            <a:r>
              <a:rPr lang="en-US" dirty="0" err="1"/>
              <a:t>разбирает</a:t>
            </a:r>
            <a:r>
              <a:rPr lang="en-US" dirty="0"/>
              <a:t> </a:t>
            </a:r>
            <a:r>
              <a:rPr lang="en-US" dirty="0" err="1"/>
              <a:t>эту</a:t>
            </a:r>
            <a:r>
              <a:rPr lang="en-US" dirty="0"/>
              <a:t> </a:t>
            </a:r>
            <a:r>
              <a:rPr lang="en-US" dirty="0" err="1"/>
              <a:t>строку</a:t>
            </a:r>
            <a:r>
              <a:rPr lang="en-US" dirty="0"/>
              <a:t>, </a:t>
            </a:r>
            <a:r>
              <a:rPr lang="en-US" dirty="0" err="1"/>
              <a:t>определяет</a:t>
            </a:r>
            <a:r>
              <a:rPr lang="en-US" dirty="0"/>
              <a:t>, </a:t>
            </a:r>
            <a:r>
              <a:rPr lang="en-US" dirty="0" err="1"/>
              <a:t>какую</a:t>
            </a:r>
            <a:r>
              <a:rPr lang="en-US" dirty="0"/>
              <a:t> </a:t>
            </a:r>
            <a:r>
              <a:rPr lang="en-US" dirty="0" err="1"/>
              <a:t>программу</a:t>
            </a:r>
            <a:r>
              <a:rPr lang="en-US" dirty="0"/>
              <a:t> </a:t>
            </a:r>
            <a:r>
              <a:rPr lang="en-US" dirty="0" err="1"/>
              <a:t>нужно</a:t>
            </a:r>
            <a:r>
              <a:rPr lang="en-US" dirty="0"/>
              <a:t> </a:t>
            </a:r>
            <a:r>
              <a:rPr lang="en-US" dirty="0" err="1"/>
              <a:t>запустить</a:t>
            </a:r>
            <a:r>
              <a:rPr lang="en-US" dirty="0"/>
              <a:t> и </a:t>
            </a:r>
            <a:r>
              <a:rPr lang="en-US" dirty="0" err="1"/>
              <a:t>какие</a:t>
            </a:r>
            <a:r>
              <a:rPr lang="en-US" dirty="0"/>
              <a:t> </a:t>
            </a:r>
            <a:r>
              <a:rPr lang="en-US" dirty="0" err="1"/>
              <a:t>аргументы</a:t>
            </a:r>
            <a:r>
              <a:rPr lang="en-US" dirty="0"/>
              <a:t> </a:t>
            </a:r>
            <a:r>
              <a:rPr lang="en-US" dirty="0" err="1"/>
              <a:t>ей</a:t>
            </a:r>
            <a:r>
              <a:rPr lang="en-US" dirty="0"/>
              <a:t> </a:t>
            </a:r>
            <a:r>
              <a:rPr lang="en-US" dirty="0" err="1"/>
              <a:t>передать</a:t>
            </a:r>
            <a:r>
              <a:rPr lang="en-US" dirty="0"/>
              <a:t>, а </a:t>
            </a:r>
            <a:r>
              <a:rPr lang="en-US" dirty="0" err="1"/>
              <a:t>затем</a:t>
            </a:r>
            <a:r>
              <a:rPr lang="en-US" dirty="0"/>
              <a:t> </a:t>
            </a:r>
            <a:r>
              <a:rPr lang="en-US" dirty="0" err="1"/>
              <a:t>создаёт</a:t>
            </a:r>
            <a:r>
              <a:rPr lang="en-US" dirty="0"/>
              <a:t> </a:t>
            </a:r>
            <a:r>
              <a:rPr lang="en-US" dirty="0" err="1"/>
              <a:t>процесс</a:t>
            </a:r>
            <a:r>
              <a:rPr lang="en-US" dirty="0"/>
              <a:t> </a:t>
            </a:r>
            <a:r>
              <a:rPr lang="en-US" dirty="0" err="1"/>
              <a:t>для</a:t>
            </a:r>
            <a:r>
              <a:rPr lang="en-US" dirty="0"/>
              <a:t> </a:t>
            </a:r>
            <a:r>
              <a:rPr lang="en-US" dirty="0" err="1"/>
              <a:t>выполнения</a:t>
            </a:r>
            <a:r>
              <a:rPr lang="en-US" dirty="0"/>
              <a:t> </a:t>
            </a:r>
            <a:r>
              <a:rPr lang="en-US" sz="1200" kern="1200" dirty="0">
                <a:solidFill>
                  <a:schemeClr val="tx1"/>
                </a:solidFill>
                <a:latin typeface="+mn-lt"/>
                <a:ea typeface="+mn-ea"/>
                <a:cs typeface="+mn-cs"/>
              </a:rPr>
              <a:t>ls</a:t>
            </a:r>
            <a:r>
              <a:rPr lang="en-US" dirty="0"/>
              <a:t>.</a:t>
            </a:r>
            <a:endParaRPr lang="ru-RU" dirty="0"/>
          </a:p>
          <a:p>
            <a:endParaRPr lang="en-US" dirty="0"/>
          </a:p>
          <a:p>
            <a:r>
              <a:rPr lang="en-US" dirty="0" err="1"/>
              <a:t>Но</a:t>
            </a:r>
            <a:r>
              <a:rPr lang="en-US" dirty="0"/>
              <a:t> </a:t>
            </a:r>
            <a:r>
              <a:rPr lang="en-US" dirty="0" err="1"/>
              <a:t>возможности</a:t>
            </a:r>
            <a:r>
              <a:rPr lang="en-US" dirty="0"/>
              <a:t> shell </a:t>
            </a:r>
            <a:r>
              <a:rPr lang="en-US" dirty="0" err="1"/>
              <a:t>не</a:t>
            </a:r>
            <a:r>
              <a:rPr lang="en-US" dirty="0"/>
              <a:t> </a:t>
            </a:r>
            <a:r>
              <a:rPr lang="en-US" dirty="0" err="1"/>
              <a:t>ограничиваются</a:t>
            </a:r>
            <a:r>
              <a:rPr lang="en-US" dirty="0"/>
              <a:t> </a:t>
            </a:r>
            <a:r>
              <a:rPr lang="en-US" dirty="0" err="1"/>
              <a:t>простым</a:t>
            </a:r>
            <a:r>
              <a:rPr lang="en-US" dirty="0"/>
              <a:t> </a:t>
            </a:r>
            <a:r>
              <a:rPr lang="en-US" dirty="0" err="1"/>
              <a:t>запуском</a:t>
            </a:r>
            <a:r>
              <a:rPr lang="en-US" dirty="0"/>
              <a:t> </a:t>
            </a:r>
            <a:r>
              <a:rPr lang="en-US" dirty="0" err="1"/>
              <a:t>программ</a:t>
            </a:r>
            <a:r>
              <a:rPr lang="en-US" dirty="0"/>
              <a:t>.</a:t>
            </a:r>
          </a:p>
          <a:p>
            <a:r>
              <a:rPr lang="en-US" dirty="0" err="1"/>
              <a:t>Именно</a:t>
            </a:r>
            <a:r>
              <a:rPr lang="en-US" dirty="0"/>
              <a:t> shell </a:t>
            </a:r>
            <a:r>
              <a:rPr lang="en-US" dirty="0" err="1"/>
              <a:t>интерпретирует</a:t>
            </a:r>
            <a:r>
              <a:rPr lang="en-US" dirty="0"/>
              <a:t> </a:t>
            </a:r>
            <a:r>
              <a:rPr lang="en-US" dirty="0" err="1"/>
              <a:t>специальные</a:t>
            </a:r>
            <a:r>
              <a:rPr lang="en-US" dirty="0"/>
              <a:t> </a:t>
            </a:r>
            <a:r>
              <a:rPr lang="en-US" dirty="0" err="1"/>
              <a:t>конструкции</a:t>
            </a:r>
            <a:r>
              <a:rPr lang="en-US" dirty="0"/>
              <a:t> </a:t>
            </a:r>
            <a:r>
              <a:rPr lang="en-US" dirty="0" err="1"/>
              <a:t>командной</a:t>
            </a:r>
            <a:r>
              <a:rPr lang="en-US" dirty="0"/>
              <a:t> </a:t>
            </a:r>
            <a:r>
              <a:rPr lang="en-US" dirty="0" err="1"/>
              <a:t>строки</a:t>
            </a:r>
            <a:r>
              <a:rPr lang="en-US" dirty="0"/>
              <a:t>. </a:t>
            </a:r>
            <a:r>
              <a:rPr lang="en-US" dirty="0" err="1"/>
              <a:t>Например</a:t>
            </a:r>
            <a:r>
              <a:rPr lang="en-US" dirty="0"/>
              <a:t>, </a:t>
            </a:r>
            <a:r>
              <a:rPr lang="en-US" dirty="0" err="1"/>
              <a:t>если</a:t>
            </a:r>
            <a:r>
              <a:rPr lang="en-US" dirty="0"/>
              <a:t> </a:t>
            </a:r>
            <a:r>
              <a:rPr lang="en-US" dirty="0" err="1"/>
              <a:t>мы</a:t>
            </a:r>
            <a:r>
              <a:rPr lang="en-US" dirty="0"/>
              <a:t> </a:t>
            </a:r>
            <a:r>
              <a:rPr lang="en-US" dirty="0" err="1"/>
              <a:t>пишем</a:t>
            </a:r>
            <a:r>
              <a:rPr lang="en-US" dirty="0"/>
              <a:t>:</a:t>
            </a:r>
          </a:p>
          <a:p>
            <a:r>
              <a:rPr lang="en-US" sz="1200" kern="1200" dirty="0">
                <a:solidFill>
                  <a:schemeClr val="tx1"/>
                </a:solidFill>
                <a:latin typeface="+mn-lt"/>
                <a:ea typeface="+mn-ea"/>
                <a:cs typeface="+mn-cs"/>
              </a:rPr>
              <a:t>program &gt; file.txt</a:t>
            </a:r>
            <a:endParaRPr lang="en-US" dirty="0"/>
          </a:p>
          <a:p>
            <a:r>
              <a:rPr lang="en-US" dirty="0" err="1"/>
              <a:t>то</a:t>
            </a:r>
            <a:r>
              <a:rPr lang="en-US" dirty="0"/>
              <a:t> shell </a:t>
            </a:r>
            <a:r>
              <a:rPr lang="en-US" dirty="0" err="1"/>
              <a:t>организует</a:t>
            </a:r>
            <a:r>
              <a:rPr lang="en-US" dirty="0"/>
              <a:t> </a:t>
            </a:r>
            <a:r>
              <a:rPr lang="en-US" dirty="0" err="1"/>
              <a:t>перенаправление</a:t>
            </a:r>
            <a:r>
              <a:rPr lang="en-US" dirty="0"/>
              <a:t> </a:t>
            </a:r>
            <a:r>
              <a:rPr lang="en-US" dirty="0" err="1"/>
              <a:t>стандартного</a:t>
            </a:r>
            <a:r>
              <a:rPr lang="en-US" dirty="0"/>
              <a:t> </a:t>
            </a:r>
            <a:r>
              <a:rPr lang="en-US" dirty="0" err="1"/>
              <a:t>вывода</a:t>
            </a:r>
            <a:r>
              <a:rPr lang="en-US" dirty="0"/>
              <a:t> </a:t>
            </a:r>
            <a:r>
              <a:rPr lang="en-US" dirty="0" err="1"/>
              <a:t>программы</a:t>
            </a:r>
            <a:r>
              <a:rPr lang="en-US" dirty="0"/>
              <a:t> в </a:t>
            </a:r>
            <a:r>
              <a:rPr lang="en-US" dirty="0" err="1"/>
              <a:t>файл</a:t>
            </a:r>
            <a:r>
              <a:rPr lang="en-US" dirty="0"/>
              <a:t>.</a:t>
            </a:r>
            <a:endParaRPr lang="ru-RU" dirty="0"/>
          </a:p>
          <a:p>
            <a:endParaRPr lang="en-US" dirty="0"/>
          </a:p>
          <a:p>
            <a:r>
              <a:rPr lang="en-US" dirty="0" err="1"/>
              <a:t>Если</a:t>
            </a:r>
            <a:r>
              <a:rPr lang="en-US" dirty="0"/>
              <a:t> </a:t>
            </a:r>
            <a:r>
              <a:rPr lang="en-US" dirty="0" err="1"/>
              <a:t>используем</a:t>
            </a:r>
            <a:r>
              <a:rPr lang="en-US" dirty="0"/>
              <a:t>:</a:t>
            </a:r>
          </a:p>
          <a:p>
            <a:r>
              <a:rPr lang="en-US" sz="1200" kern="1200" dirty="0">
                <a:solidFill>
                  <a:schemeClr val="tx1"/>
                </a:solidFill>
                <a:latin typeface="+mn-lt"/>
                <a:ea typeface="+mn-ea"/>
                <a:cs typeface="+mn-cs"/>
              </a:rPr>
              <a:t>program1 | program2</a:t>
            </a:r>
            <a:endParaRPr lang="en-US" dirty="0"/>
          </a:p>
          <a:p>
            <a:r>
              <a:rPr lang="en-US" dirty="0"/>
              <a:t>shell </a:t>
            </a:r>
            <a:r>
              <a:rPr lang="en-US" dirty="0" err="1"/>
              <a:t>создаёт</a:t>
            </a:r>
            <a:r>
              <a:rPr lang="en-US" dirty="0"/>
              <a:t> </a:t>
            </a:r>
            <a:r>
              <a:rPr lang="en-US" dirty="0" err="1"/>
              <a:t>канал</a:t>
            </a:r>
            <a:r>
              <a:rPr lang="en-US" dirty="0"/>
              <a:t> и </a:t>
            </a:r>
            <a:r>
              <a:rPr lang="en-US" dirty="0" err="1"/>
              <a:t>соединяет</a:t>
            </a:r>
            <a:r>
              <a:rPr lang="en-US" dirty="0"/>
              <a:t> </a:t>
            </a:r>
            <a:r>
              <a:rPr lang="en-US" dirty="0" err="1"/>
              <a:t>стандартный</a:t>
            </a:r>
            <a:r>
              <a:rPr lang="en-US" dirty="0"/>
              <a:t> </a:t>
            </a:r>
            <a:r>
              <a:rPr lang="en-US" dirty="0" err="1"/>
              <a:t>вывод</a:t>
            </a:r>
            <a:r>
              <a:rPr lang="en-US" dirty="0"/>
              <a:t> </a:t>
            </a:r>
            <a:r>
              <a:rPr lang="en-US" dirty="0" err="1"/>
              <a:t>первого</a:t>
            </a:r>
            <a:r>
              <a:rPr lang="en-US" dirty="0"/>
              <a:t> </a:t>
            </a:r>
            <a:r>
              <a:rPr lang="en-US" dirty="0" err="1"/>
              <a:t>процесса</a:t>
            </a:r>
            <a:r>
              <a:rPr lang="en-US" dirty="0"/>
              <a:t> </a:t>
            </a:r>
            <a:r>
              <a:rPr lang="en-US" dirty="0" err="1"/>
              <a:t>со</a:t>
            </a:r>
            <a:r>
              <a:rPr lang="en-US" dirty="0"/>
              <a:t> </a:t>
            </a:r>
            <a:r>
              <a:rPr lang="en-US" dirty="0" err="1"/>
              <a:t>стандартным</a:t>
            </a:r>
            <a:r>
              <a:rPr lang="en-US" dirty="0"/>
              <a:t> </a:t>
            </a:r>
            <a:r>
              <a:rPr lang="en-US" dirty="0" err="1"/>
              <a:t>вводом</a:t>
            </a:r>
            <a:r>
              <a:rPr lang="en-US" dirty="0"/>
              <a:t> </a:t>
            </a:r>
            <a:r>
              <a:rPr lang="en-US" dirty="0" err="1"/>
              <a:t>второго</a:t>
            </a:r>
            <a:r>
              <a:rPr lang="en-US" dirty="0"/>
              <a:t>.</a:t>
            </a:r>
          </a:p>
          <a:p>
            <a:r>
              <a:rPr lang="en-US" dirty="0"/>
              <a:t>Shell </a:t>
            </a:r>
            <a:r>
              <a:rPr lang="en-US" dirty="0" err="1"/>
              <a:t>также</a:t>
            </a:r>
            <a:r>
              <a:rPr lang="en-US" dirty="0"/>
              <a:t> </a:t>
            </a:r>
            <a:r>
              <a:rPr lang="en-US" dirty="0" err="1"/>
              <a:t>работает</a:t>
            </a:r>
            <a:r>
              <a:rPr lang="en-US" dirty="0"/>
              <a:t> с </a:t>
            </a:r>
            <a:r>
              <a:rPr lang="en-US" dirty="0" err="1"/>
              <a:t>переменными</a:t>
            </a:r>
            <a:r>
              <a:rPr lang="en-US" dirty="0"/>
              <a:t> </a:t>
            </a:r>
            <a:r>
              <a:rPr lang="en-US" dirty="0" err="1"/>
              <a:t>окружения</a:t>
            </a:r>
            <a:r>
              <a:rPr lang="en-US" dirty="0"/>
              <a:t>, </a:t>
            </a:r>
            <a:r>
              <a:rPr lang="en-US" dirty="0" err="1"/>
              <a:t>подстановками</a:t>
            </a:r>
            <a:r>
              <a:rPr lang="en-US" dirty="0"/>
              <a:t>, </a:t>
            </a:r>
            <a:r>
              <a:rPr lang="en-US" dirty="0" err="1"/>
              <a:t>запуском</a:t>
            </a:r>
            <a:r>
              <a:rPr lang="en-US" dirty="0"/>
              <a:t> </a:t>
            </a:r>
            <a:r>
              <a:rPr lang="en-US" dirty="0" err="1"/>
              <a:t>программ</a:t>
            </a:r>
            <a:r>
              <a:rPr lang="en-US" dirty="0"/>
              <a:t> в </a:t>
            </a:r>
            <a:r>
              <a:rPr lang="en-US" dirty="0" err="1"/>
              <a:t>фоне</a:t>
            </a:r>
            <a:r>
              <a:rPr lang="en-US" dirty="0"/>
              <a:t> и </a:t>
            </a:r>
            <a:r>
              <a:rPr lang="en-US" dirty="0" err="1"/>
              <a:t>другими</a:t>
            </a:r>
            <a:r>
              <a:rPr lang="en-US" dirty="0"/>
              <a:t> </a:t>
            </a:r>
            <a:r>
              <a:rPr lang="en-US" dirty="0" err="1"/>
              <a:t>механизмами</a:t>
            </a:r>
            <a:r>
              <a:rPr lang="en-US" dirty="0"/>
              <a:t>, </a:t>
            </a:r>
            <a:r>
              <a:rPr lang="en-US" dirty="0" err="1"/>
              <a:t>которые</a:t>
            </a:r>
            <a:r>
              <a:rPr lang="en-US" dirty="0"/>
              <a:t> </a:t>
            </a:r>
            <a:r>
              <a:rPr lang="en-US" dirty="0" err="1"/>
              <a:t>позволяют</a:t>
            </a:r>
            <a:r>
              <a:rPr lang="en-US" dirty="0"/>
              <a:t> </a:t>
            </a:r>
            <a:r>
              <a:rPr lang="en-US" dirty="0" err="1"/>
              <a:t>комбинировать</a:t>
            </a:r>
            <a:r>
              <a:rPr lang="en-US" dirty="0"/>
              <a:t> </a:t>
            </a:r>
            <a:r>
              <a:rPr lang="en-US" dirty="0" err="1"/>
              <a:t>простые</a:t>
            </a:r>
            <a:r>
              <a:rPr lang="en-US" dirty="0"/>
              <a:t> </a:t>
            </a:r>
            <a:r>
              <a:rPr lang="en-US" dirty="0" err="1"/>
              <a:t>команды</a:t>
            </a:r>
            <a:r>
              <a:rPr lang="en-US" dirty="0"/>
              <a:t>.</a:t>
            </a:r>
            <a:endParaRPr lang="ru-RU" dirty="0"/>
          </a:p>
          <a:p>
            <a:endParaRPr lang="en-US" dirty="0"/>
          </a:p>
          <a:p>
            <a:r>
              <a:rPr lang="en-US" dirty="0" err="1"/>
              <a:t>Для</a:t>
            </a:r>
            <a:r>
              <a:rPr lang="en-US" dirty="0"/>
              <a:t> </a:t>
            </a:r>
            <a:r>
              <a:rPr lang="en-US" dirty="0" err="1"/>
              <a:t>выполнения</a:t>
            </a:r>
            <a:r>
              <a:rPr lang="en-US" dirty="0"/>
              <a:t> </a:t>
            </a:r>
            <a:r>
              <a:rPr lang="en-US" dirty="0" err="1"/>
              <a:t>всей</a:t>
            </a:r>
            <a:r>
              <a:rPr lang="en-US" dirty="0"/>
              <a:t> </a:t>
            </a:r>
            <a:r>
              <a:rPr lang="en-US" dirty="0" err="1"/>
              <a:t>этой</a:t>
            </a:r>
            <a:r>
              <a:rPr lang="en-US" dirty="0"/>
              <a:t> </a:t>
            </a:r>
            <a:r>
              <a:rPr lang="en-US" dirty="0" err="1"/>
              <a:t>работы</a:t>
            </a:r>
            <a:r>
              <a:rPr lang="en-US" dirty="0"/>
              <a:t> shell </a:t>
            </a:r>
            <a:r>
              <a:rPr lang="en-US" dirty="0" err="1"/>
              <a:t>обращается</a:t>
            </a:r>
            <a:r>
              <a:rPr lang="en-US" dirty="0"/>
              <a:t> к </a:t>
            </a:r>
            <a:r>
              <a:rPr lang="en-US" dirty="0" err="1"/>
              <a:t>операционной</a:t>
            </a:r>
            <a:r>
              <a:rPr lang="en-US" dirty="0"/>
              <a:t> </a:t>
            </a:r>
            <a:r>
              <a:rPr lang="en-US" dirty="0" err="1"/>
              <a:t>системе</a:t>
            </a:r>
            <a:r>
              <a:rPr lang="en-US" dirty="0"/>
              <a:t> </a:t>
            </a:r>
            <a:r>
              <a:rPr lang="en-US" dirty="0" err="1"/>
              <a:t>через</a:t>
            </a:r>
            <a:r>
              <a:rPr lang="en-US" dirty="0"/>
              <a:t> </a:t>
            </a:r>
            <a:r>
              <a:rPr lang="en-US" dirty="0" err="1"/>
              <a:t>системные</a:t>
            </a:r>
            <a:r>
              <a:rPr lang="en-US" dirty="0"/>
              <a:t> </a:t>
            </a:r>
            <a:r>
              <a:rPr lang="en-US" dirty="0" err="1"/>
              <a:t>вызовы</a:t>
            </a:r>
            <a:r>
              <a:rPr lang="en-US" dirty="0"/>
              <a:t>: </a:t>
            </a:r>
            <a:r>
              <a:rPr lang="en-US" dirty="0" err="1"/>
              <a:t>создаёт</a:t>
            </a:r>
            <a:r>
              <a:rPr lang="en-US" dirty="0"/>
              <a:t> </a:t>
            </a:r>
            <a:r>
              <a:rPr lang="en-US" dirty="0" err="1"/>
              <a:t>процессы</a:t>
            </a:r>
            <a:r>
              <a:rPr lang="en-US" dirty="0"/>
              <a:t>, </a:t>
            </a:r>
            <a:r>
              <a:rPr lang="en-US" dirty="0" err="1"/>
              <a:t>открывает</a:t>
            </a:r>
            <a:r>
              <a:rPr lang="en-US" dirty="0"/>
              <a:t> </a:t>
            </a:r>
            <a:r>
              <a:rPr lang="en-US" dirty="0" err="1"/>
              <a:t>файлы</a:t>
            </a:r>
            <a:r>
              <a:rPr lang="en-US" dirty="0"/>
              <a:t>, </a:t>
            </a:r>
            <a:r>
              <a:rPr lang="en-US" dirty="0" err="1"/>
              <a:t>создаёт</a:t>
            </a:r>
            <a:r>
              <a:rPr lang="en-US" dirty="0"/>
              <a:t> </a:t>
            </a:r>
            <a:r>
              <a:rPr lang="en-US" dirty="0" err="1"/>
              <a:t>каналы</a:t>
            </a:r>
            <a:r>
              <a:rPr lang="en-US" dirty="0"/>
              <a:t> и </a:t>
            </a:r>
            <a:r>
              <a:rPr lang="en-US" dirty="0" err="1"/>
              <a:t>ожидает</a:t>
            </a:r>
            <a:r>
              <a:rPr lang="en-US" dirty="0"/>
              <a:t> </a:t>
            </a:r>
            <a:r>
              <a:rPr lang="en-US" dirty="0" err="1"/>
              <a:t>завершения</a:t>
            </a:r>
            <a:r>
              <a:rPr lang="en-US" dirty="0"/>
              <a:t> </a:t>
            </a:r>
            <a:r>
              <a:rPr lang="en-US" dirty="0" err="1"/>
              <a:t>программ</a:t>
            </a:r>
            <a:r>
              <a:rPr lang="en-US" dirty="0"/>
              <a:t>.</a:t>
            </a:r>
            <a:endParaRPr lang="ru-RU" dirty="0"/>
          </a:p>
          <a:p>
            <a:endParaRPr lang="en-US" dirty="0"/>
          </a:p>
          <a:p>
            <a:r>
              <a:rPr lang="en-US" dirty="0" err="1"/>
              <a:t>Существует</a:t>
            </a:r>
            <a:r>
              <a:rPr lang="en-US" dirty="0"/>
              <a:t> </a:t>
            </a:r>
            <a:r>
              <a:rPr lang="en-US" dirty="0" err="1"/>
              <a:t>много</a:t>
            </a:r>
            <a:r>
              <a:rPr lang="en-US" dirty="0"/>
              <a:t> </a:t>
            </a:r>
            <a:r>
              <a:rPr lang="en-US" dirty="0" err="1"/>
              <a:t>разных</a:t>
            </a:r>
            <a:r>
              <a:rPr lang="en-US" dirty="0"/>
              <a:t> </a:t>
            </a:r>
            <a:r>
              <a:rPr lang="en-US" dirty="0" err="1"/>
              <a:t>реализаций</a:t>
            </a:r>
            <a:r>
              <a:rPr lang="en-US" dirty="0"/>
              <a:t> shell: </a:t>
            </a:r>
            <a:r>
              <a:rPr lang="en-US" dirty="0" err="1"/>
              <a:t>классический</a:t>
            </a:r>
            <a:r>
              <a:rPr lang="en-US" dirty="0"/>
              <a:t> </a:t>
            </a:r>
            <a:r>
              <a:rPr lang="en-US" sz="1200" kern="1200" dirty="0" err="1">
                <a:solidFill>
                  <a:schemeClr val="tx1"/>
                </a:solidFill>
                <a:latin typeface="+mn-lt"/>
                <a:ea typeface="+mn-ea"/>
                <a:cs typeface="+mn-cs"/>
              </a:rPr>
              <a:t>sh</a:t>
            </a:r>
            <a:r>
              <a:rPr lang="en-US" dirty="0"/>
              <a:t>, </a:t>
            </a:r>
            <a:r>
              <a:rPr lang="en-US" dirty="0" err="1"/>
              <a:t>популярный</a:t>
            </a:r>
            <a:r>
              <a:rPr lang="en-US" dirty="0"/>
              <a:t> </a:t>
            </a:r>
            <a:r>
              <a:rPr lang="en-US" sz="1200" kern="1200" dirty="0">
                <a:solidFill>
                  <a:schemeClr val="tx1"/>
                </a:solidFill>
                <a:latin typeface="+mn-lt"/>
                <a:ea typeface="+mn-ea"/>
                <a:cs typeface="+mn-cs"/>
              </a:rPr>
              <a:t>bash</a:t>
            </a:r>
            <a:r>
              <a:rPr lang="en-US" dirty="0"/>
              <a:t>, </a:t>
            </a:r>
            <a:r>
              <a:rPr lang="en-US" sz="1200" kern="1200" dirty="0" err="1">
                <a:solidFill>
                  <a:schemeClr val="tx1"/>
                </a:solidFill>
                <a:latin typeface="+mn-lt"/>
                <a:ea typeface="+mn-ea"/>
                <a:cs typeface="+mn-cs"/>
              </a:rPr>
              <a:t>zsh</a:t>
            </a:r>
            <a:r>
              <a:rPr lang="en-US" dirty="0"/>
              <a:t>, </a:t>
            </a:r>
            <a:r>
              <a:rPr lang="en-US" sz="1200" kern="1200" dirty="0" err="1">
                <a:solidFill>
                  <a:schemeClr val="tx1"/>
                </a:solidFill>
                <a:latin typeface="+mn-lt"/>
                <a:ea typeface="+mn-ea"/>
                <a:cs typeface="+mn-cs"/>
              </a:rPr>
              <a:t>ksh</a:t>
            </a:r>
            <a:r>
              <a:rPr lang="en-US" dirty="0"/>
              <a:t> и </a:t>
            </a:r>
            <a:r>
              <a:rPr lang="en-US" dirty="0" err="1"/>
              <a:t>другие</a:t>
            </a:r>
            <a:r>
              <a:rPr lang="en-US" dirty="0"/>
              <a:t>. </a:t>
            </a:r>
            <a:r>
              <a:rPr lang="en-US" dirty="0" err="1"/>
              <a:t>Они</a:t>
            </a:r>
            <a:r>
              <a:rPr lang="en-US" dirty="0"/>
              <a:t> </a:t>
            </a:r>
            <a:r>
              <a:rPr lang="en-US" dirty="0" err="1"/>
              <a:t>отличаются</a:t>
            </a:r>
            <a:r>
              <a:rPr lang="en-US" dirty="0"/>
              <a:t> </a:t>
            </a:r>
            <a:r>
              <a:rPr lang="en-US" dirty="0" err="1"/>
              <a:t>дополнительными</a:t>
            </a:r>
            <a:r>
              <a:rPr lang="en-US" dirty="0"/>
              <a:t> </a:t>
            </a:r>
            <a:r>
              <a:rPr lang="en-US" dirty="0" err="1"/>
              <a:t>возможностями</a:t>
            </a:r>
            <a:r>
              <a:rPr lang="en-US" dirty="0"/>
              <a:t> и </a:t>
            </a:r>
            <a:r>
              <a:rPr lang="en-US" dirty="0" err="1"/>
              <a:t>синтаксисом</a:t>
            </a:r>
            <a:r>
              <a:rPr lang="en-US" dirty="0"/>
              <a:t>, </a:t>
            </a:r>
            <a:r>
              <a:rPr lang="en-US" dirty="0" err="1"/>
              <a:t>но</a:t>
            </a:r>
            <a:r>
              <a:rPr lang="en-US" dirty="0"/>
              <a:t> </a:t>
            </a:r>
            <a:r>
              <a:rPr lang="en-US" dirty="0" err="1"/>
              <a:t>базовый</a:t>
            </a:r>
            <a:r>
              <a:rPr lang="en-US" dirty="0"/>
              <a:t> </a:t>
            </a:r>
            <a:r>
              <a:rPr lang="en-US" dirty="0" err="1"/>
              <a:t>принцип</a:t>
            </a:r>
            <a:r>
              <a:rPr lang="en-US" dirty="0"/>
              <a:t> </a:t>
            </a:r>
            <a:r>
              <a:rPr lang="en-US" dirty="0" err="1"/>
              <a:t>работы</a:t>
            </a:r>
            <a:r>
              <a:rPr lang="en-US" dirty="0"/>
              <a:t> у </a:t>
            </a:r>
            <a:r>
              <a:rPr lang="en-US" dirty="0" err="1"/>
              <a:t>них</a:t>
            </a:r>
            <a:r>
              <a:rPr lang="en-US" dirty="0"/>
              <a:t> </a:t>
            </a:r>
            <a:r>
              <a:rPr lang="en-US" dirty="0" err="1"/>
              <a:t>одинаков</a:t>
            </a:r>
            <a:r>
              <a:rPr lang="en-US" dirty="0"/>
              <a:t>.</a:t>
            </a:r>
          </a:p>
          <a:p>
            <a:endParaRPr lang="ru-RU" dirty="0"/>
          </a:p>
          <a:p>
            <a:r>
              <a:rPr lang="en-US" dirty="0" err="1"/>
              <a:t>Поэтому</a:t>
            </a:r>
            <a:r>
              <a:rPr lang="en-US" dirty="0"/>
              <a:t> shell </a:t>
            </a:r>
            <a:r>
              <a:rPr lang="en-US" dirty="0" err="1"/>
              <a:t>удобно</a:t>
            </a:r>
            <a:r>
              <a:rPr lang="en-US" dirty="0"/>
              <a:t> </a:t>
            </a:r>
            <a:r>
              <a:rPr lang="en-US" dirty="0" err="1"/>
              <a:t>рассматривать</a:t>
            </a:r>
            <a:r>
              <a:rPr lang="en-US" dirty="0"/>
              <a:t> </a:t>
            </a:r>
            <a:r>
              <a:rPr lang="en-US" dirty="0" err="1"/>
              <a:t>как</a:t>
            </a:r>
            <a:r>
              <a:rPr lang="en-US" dirty="0"/>
              <a:t> </a:t>
            </a:r>
            <a:r>
              <a:rPr lang="en-US" b="1" dirty="0" err="1"/>
              <a:t>посредника</a:t>
            </a:r>
            <a:r>
              <a:rPr lang="en-US" b="1" dirty="0"/>
              <a:t> </a:t>
            </a:r>
            <a:r>
              <a:rPr lang="en-US" b="1" dirty="0" err="1"/>
              <a:t>между</a:t>
            </a:r>
            <a:r>
              <a:rPr lang="en-US" b="1" dirty="0"/>
              <a:t> </a:t>
            </a:r>
            <a:r>
              <a:rPr lang="en-US" b="1" dirty="0" err="1"/>
              <a:t>пользователем</a:t>
            </a:r>
            <a:r>
              <a:rPr lang="en-US" b="1" dirty="0"/>
              <a:t> и </a:t>
            </a:r>
            <a:r>
              <a:rPr lang="en-US" b="1" dirty="0" err="1"/>
              <a:t>механизмами</a:t>
            </a:r>
            <a:r>
              <a:rPr lang="en-US" b="1" dirty="0"/>
              <a:t> </a:t>
            </a:r>
            <a:r>
              <a:rPr lang="en-US" b="1" dirty="0" err="1"/>
              <a:t>операционной</a:t>
            </a:r>
            <a:r>
              <a:rPr lang="en-US" b="1" dirty="0"/>
              <a:t> </a:t>
            </a:r>
            <a:r>
              <a:rPr lang="en-US" b="1" dirty="0" err="1"/>
              <a:t>системы</a:t>
            </a:r>
            <a:r>
              <a:rPr lang="en-US" dirty="0"/>
              <a:t>. </a:t>
            </a:r>
            <a:r>
              <a:rPr lang="en-US" dirty="0" err="1"/>
              <a:t>Пользователь</a:t>
            </a:r>
            <a:r>
              <a:rPr lang="en-US" dirty="0"/>
              <a:t> </a:t>
            </a:r>
            <a:r>
              <a:rPr lang="en-US" dirty="0" err="1"/>
              <a:t>вводит</a:t>
            </a:r>
            <a:r>
              <a:rPr lang="en-US" dirty="0"/>
              <a:t> </a:t>
            </a:r>
            <a:r>
              <a:rPr lang="en-US" dirty="0" err="1"/>
              <a:t>команду</a:t>
            </a:r>
            <a:r>
              <a:rPr lang="en-US" dirty="0"/>
              <a:t> </a:t>
            </a:r>
            <a:r>
              <a:rPr lang="en-US" dirty="0" err="1"/>
              <a:t>высокого</a:t>
            </a:r>
            <a:r>
              <a:rPr lang="en-US" dirty="0"/>
              <a:t> </a:t>
            </a:r>
            <a:r>
              <a:rPr lang="en-US" dirty="0" err="1"/>
              <a:t>уровня</a:t>
            </a:r>
            <a:r>
              <a:rPr lang="en-US" dirty="0"/>
              <a:t>, а shell </a:t>
            </a:r>
            <a:r>
              <a:rPr lang="en-US" dirty="0" err="1"/>
              <a:t>превращает</a:t>
            </a:r>
            <a:r>
              <a:rPr lang="en-US" dirty="0"/>
              <a:t> </a:t>
            </a:r>
            <a:r>
              <a:rPr lang="en-US" dirty="0" err="1"/>
              <a:t>её</a:t>
            </a:r>
            <a:r>
              <a:rPr lang="en-US" dirty="0"/>
              <a:t> в </a:t>
            </a:r>
            <a:r>
              <a:rPr lang="en-US" dirty="0" err="1"/>
              <a:t>последовательность</a:t>
            </a:r>
            <a:r>
              <a:rPr lang="en-US" dirty="0"/>
              <a:t> </a:t>
            </a:r>
            <a:r>
              <a:rPr lang="en-US" dirty="0" err="1"/>
              <a:t>операций</a:t>
            </a:r>
            <a:r>
              <a:rPr lang="en-US" dirty="0"/>
              <a:t> с </a:t>
            </a:r>
            <a:r>
              <a:rPr lang="en-US" dirty="0" err="1"/>
              <a:t>процессами</a:t>
            </a:r>
            <a:r>
              <a:rPr lang="en-US" dirty="0"/>
              <a:t>, </a:t>
            </a:r>
            <a:r>
              <a:rPr lang="en-US" dirty="0" err="1"/>
              <a:t>файлами</a:t>
            </a:r>
            <a:r>
              <a:rPr lang="en-US" dirty="0"/>
              <a:t> и </a:t>
            </a:r>
            <a:r>
              <a:rPr lang="en-US" dirty="0" err="1"/>
              <a:t>каналами</a:t>
            </a:r>
            <a:r>
              <a:rPr lang="en-US" dirty="0"/>
              <a:t>.</a:t>
            </a:r>
          </a:p>
        </p:txBody>
      </p:sp>
      <p:sp>
        <p:nvSpPr>
          <p:cNvPr id="4" name="Slide Number Placeholder 3"/>
          <p:cNvSpPr>
            <a:spLocks noGrp="1"/>
          </p:cNvSpPr>
          <p:nvPr>
            <p:ph type="sldNum" sz="quarter" idx="5"/>
          </p:nvPr>
        </p:nvSpPr>
        <p:spPr/>
        <p:txBody>
          <a:bodyPr/>
          <a:lstStyle/>
          <a:p>
            <a:fld id="{A3EE74EF-BE85-44F3-968F-E74DD74A629E}" type="slidenum">
              <a:rPr lang="en-US" smtClean="0"/>
              <a:t>24</a:t>
            </a:fld>
            <a:endParaRPr lang="en-US"/>
          </a:p>
        </p:txBody>
      </p:sp>
    </p:spTree>
    <p:extLst>
      <p:ext uri="{BB962C8B-B14F-4D97-AF65-F5344CB8AC3E}">
        <p14:creationId xmlns:p14="http://schemas.microsoft.com/office/powerpoint/2010/main" val="24482737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Shell </a:t>
            </a:r>
            <a:r>
              <a:rPr lang="en-US" dirty="0" err="1"/>
              <a:t>ценен</a:t>
            </a:r>
            <a:r>
              <a:rPr lang="en-US" dirty="0"/>
              <a:t> </a:t>
            </a:r>
            <a:r>
              <a:rPr lang="en-US" dirty="0" err="1"/>
              <a:t>не</a:t>
            </a:r>
            <a:r>
              <a:rPr lang="en-US" dirty="0"/>
              <a:t> </a:t>
            </a:r>
            <a:r>
              <a:rPr lang="en-US" dirty="0" err="1"/>
              <a:t>только</a:t>
            </a:r>
            <a:r>
              <a:rPr lang="en-US" dirty="0"/>
              <a:t> </a:t>
            </a:r>
            <a:r>
              <a:rPr lang="en-US" dirty="0" err="1"/>
              <a:t>тем</a:t>
            </a:r>
            <a:r>
              <a:rPr lang="en-US" dirty="0"/>
              <a:t>, </a:t>
            </a:r>
            <a:r>
              <a:rPr lang="en-US" dirty="0" err="1"/>
              <a:t>что</a:t>
            </a:r>
            <a:r>
              <a:rPr lang="en-US" dirty="0"/>
              <a:t> </a:t>
            </a:r>
            <a:r>
              <a:rPr lang="en-US" dirty="0" err="1"/>
              <a:t>умеет</a:t>
            </a:r>
            <a:r>
              <a:rPr lang="en-US" dirty="0"/>
              <a:t> </a:t>
            </a:r>
            <a:r>
              <a:rPr lang="en-US" dirty="0" err="1"/>
              <a:t>запускать</a:t>
            </a:r>
            <a:r>
              <a:rPr lang="en-US" dirty="0"/>
              <a:t> </a:t>
            </a:r>
            <a:r>
              <a:rPr lang="en-US" dirty="0" err="1"/>
              <a:t>программы</a:t>
            </a:r>
            <a:r>
              <a:rPr lang="en-US" dirty="0"/>
              <a:t>, </a:t>
            </a:r>
            <a:r>
              <a:rPr lang="en-US" dirty="0" err="1"/>
              <a:t>но</a:t>
            </a:r>
            <a:r>
              <a:rPr lang="en-US" dirty="0"/>
              <a:t> и </a:t>
            </a:r>
            <a:r>
              <a:rPr lang="en-US" dirty="0" err="1"/>
              <a:t>тем</a:t>
            </a:r>
            <a:r>
              <a:rPr lang="en-US" dirty="0"/>
              <a:t>, </a:t>
            </a:r>
            <a:r>
              <a:rPr lang="en-US" dirty="0" err="1"/>
              <a:t>что</a:t>
            </a:r>
            <a:r>
              <a:rPr lang="en-US" dirty="0"/>
              <a:t> </a:t>
            </a:r>
            <a:r>
              <a:rPr lang="en-US" dirty="0" err="1"/>
              <a:t>позволяет</a:t>
            </a:r>
            <a:r>
              <a:rPr lang="en-US" dirty="0"/>
              <a:t> </a:t>
            </a:r>
            <a:r>
              <a:rPr lang="en-US" dirty="0" err="1"/>
              <a:t>удобно</a:t>
            </a:r>
            <a:r>
              <a:rPr lang="en-US" dirty="0"/>
              <a:t> </a:t>
            </a:r>
            <a:r>
              <a:rPr lang="en-US" dirty="0" err="1"/>
              <a:t>их</a:t>
            </a:r>
            <a:r>
              <a:rPr lang="en-US" dirty="0"/>
              <a:t> </a:t>
            </a:r>
            <a:r>
              <a:rPr lang="en-US" dirty="0" err="1"/>
              <a:t>комбинировать</a:t>
            </a:r>
            <a:r>
              <a:rPr lang="en-US" dirty="0"/>
              <a:t>.</a:t>
            </a:r>
            <a:endParaRPr lang="ru-RU" dirty="0"/>
          </a:p>
          <a:p>
            <a:endParaRPr lang="en-US" dirty="0"/>
          </a:p>
          <a:p>
            <a:r>
              <a:rPr lang="en-US" dirty="0" err="1"/>
              <a:t>Во-первых</a:t>
            </a:r>
            <a:r>
              <a:rPr lang="en-US" dirty="0"/>
              <a:t>, shell </a:t>
            </a:r>
            <a:r>
              <a:rPr lang="en-US" dirty="0" err="1"/>
              <a:t>поддерживает</a:t>
            </a:r>
            <a:r>
              <a:rPr lang="en-US" dirty="0"/>
              <a:t> </a:t>
            </a:r>
            <a:r>
              <a:rPr lang="en-US" b="1" dirty="0" err="1"/>
              <a:t>перенаправление</a:t>
            </a:r>
            <a:r>
              <a:rPr lang="en-US" b="1" dirty="0"/>
              <a:t> </a:t>
            </a:r>
            <a:r>
              <a:rPr lang="en-US" b="1" dirty="0" err="1"/>
              <a:t>ввода</a:t>
            </a:r>
            <a:r>
              <a:rPr lang="en-US" b="1" dirty="0"/>
              <a:t> и </a:t>
            </a:r>
            <a:r>
              <a:rPr lang="en-US" b="1" dirty="0" err="1"/>
              <a:t>вывода</a:t>
            </a:r>
            <a:r>
              <a:rPr lang="en-US" dirty="0"/>
              <a:t>.</a:t>
            </a:r>
            <a:br>
              <a:rPr lang="en-US" dirty="0"/>
            </a:br>
            <a:r>
              <a:rPr lang="en-US" dirty="0" err="1"/>
              <a:t>Например</a:t>
            </a:r>
            <a:r>
              <a:rPr lang="en-US" dirty="0"/>
              <a:t>, </a:t>
            </a:r>
            <a:r>
              <a:rPr lang="en-US" dirty="0" err="1"/>
              <a:t>команда</a:t>
            </a:r>
            <a:r>
              <a:rPr lang="en-US" dirty="0"/>
              <a:t> </a:t>
            </a:r>
            <a:r>
              <a:rPr lang="en-US" sz="1200" kern="1200" dirty="0">
                <a:solidFill>
                  <a:schemeClr val="tx1"/>
                </a:solidFill>
                <a:latin typeface="+mn-lt"/>
                <a:ea typeface="+mn-ea"/>
                <a:cs typeface="+mn-cs"/>
              </a:rPr>
              <a:t>date &gt; file</a:t>
            </a:r>
            <a:r>
              <a:rPr lang="en-US" dirty="0"/>
              <a:t> </a:t>
            </a:r>
            <a:r>
              <a:rPr lang="en-US" dirty="0" err="1"/>
              <a:t>записывает</a:t>
            </a:r>
            <a:r>
              <a:rPr lang="en-US" dirty="0"/>
              <a:t> </a:t>
            </a:r>
            <a:r>
              <a:rPr lang="en-US" dirty="0" err="1"/>
              <a:t>результат</a:t>
            </a:r>
            <a:r>
              <a:rPr lang="en-US" dirty="0"/>
              <a:t> </a:t>
            </a:r>
            <a:r>
              <a:rPr lang="en-US" dirty="0" err="1"/>
              <a:t>не</a:t>
            </a:r>
            <a:r>
              <a:rPr lang="en-US" dirty="0"/>
              <a:t> </a:t>
            </a:r>
            <a:r>
              <a:rPr lang="en-US" dirty="0" err="1"/>
              <a:t>на</a:t>
            </a:r>
            <a:r>
              <a:rPr lang="en-US" dirty="0"/>
              <a:t> </a:t>
            </a:r>
            <a:r>
              <a:rPr lang="en-US" dirty="0" err="1"/>
              <a:t>экран</a:t>
            </a:r>
            <a:r>
              <a:rPr lang="en-US" dirty="0"/>
              <a:t>, а в </a:t>
            </a:r>
            <a:r>
              <a:rPr lang="en-US" dirty="0" err="1"/>
              <a:t>файл</a:t>
            </a:r>
            <a:r>
              <a:rPr lang="en-US" dirty="0"/>
              <a:t>.</a:t>
            </a:r>
            <a:endParaRPr lang="ru-RU" dirty="0"/>
          </a:p>
          <a:p>
            <a:br>
              <a:rPr lang="en-US" dirty="0"/>
            </a:br>
            <a:r>
              <a:rPr lang="en-US" dirty="0"/>
              <a:t>А </a:t>
            </a:r>
            <a:r>
              <a:rPr lang="en-US" dirty="0" err="1"/>
              <a:t>запись</a:t>
            </a:r>
            <a:r>
              <a:rPr lang="en-US" dirty="0"/>
              <a:t> </a:t>
            </a:r>
            <a:r>
              <a:rPr lang="en-US" sz="1200" kern="1200" dirty="0">
                <a:solidFill>
                  <a:schemeClr val="tx1"/>
                </a:solidFill>
                <a:latin typeface="+mn-lt"/>
                <a:ea typeface="+mn-ea"/>
                <a:cs typeface="+mn-cs"/>
              </a:rPr>
              <a:t>sort &lt; file1 &gt; file2</a:t>
            </a:r>
            <a:r>
              <a:rPr lang="en-US" dirty="0"/>
              <a:t> </a:t>
            </a:r>
            <a:r>
              <a:rPr lang="en-US" dirty="0" err="1"/>
              <a:t>означает</a:t>
            </a:r>
            <a:r>
              <a:rPr lang="en-US" dirty="0"/>
              <a:t>: </a:t>
            </a:r>
            <a:r>
              <a:rPr lang="en-US" dirty="0" err="1"/>
              <a:t>взять</a:t>
            </a:r>
            <a:r>
              <a:rPr lang="en-US" dirty="0"/>
              <a:t> </a:t>
            </a:r>
            <a:r>
              <a:rPr lang="en-US" dirty="0" err="1"/>
              <a:t>входные</a:t>
            </a:r>
            <a:r>
              <a:rPr lang="en-US" dirty="0"/>
              <a:t> </a:t>
            </a:r>
            <a:r>
              <a:rPr lang="en-US" dirty="0" err="1"/>
              <a:t>данные</a:t>
            </a:r>
            <a:r>
              <a:rPr lang="en-US" dirty="0"/>
              <a:t> </a:t>
            </a:r>
            <a:r>
              <a:rPr lang="en-US" dirty="0" err="1"/>
              <a:t>из</a:t>
            </a:r>
            <a:r>
              <a:rPr lang="en-US" dirty="0"/>
              <a:t> </a:t>
            </a:r>
            <a:r>
              <a:rPr lang="en-US" dirty="0" err="1"/>
              <a:t>одного</a:t>
            </a:r>
            <a:r>
              <a:rPr lang="en-US" dirty="0"/>
              <a:t> </a:t>
            </a:r>
            <a:r>
              <a:rPr lang="en-US" dirty="0" err="1"/>
              <a:t>файла</a:t>
            </a:r>
            <a:r>
              <a:rPr lang="en-US" dirty="0"/>
              <a:t> и </a:t>
            </a:r>
            <a:r>
              <a:rPr lang="en-US" dirty="0" err="1"/>
              <a:t>отправить</a:t>
            </a:r>
            <a:r>
              <a:rPr lang="en-US" dirty="0"/>
              <a:t> </a:t>
            </a:r>
            <a:r>
              <a:rPr lang="en-US" dirty="0" err="1"/>
              <a:t>результат</a:t>
            </a:r>
            <a:r>
              <a:rPr lang="en-US" dirty="0"/>
              <a:t> в </a:t>
            </a:r>
            <a:r>
              <a:rPr lang="en-US" dirty="0" err="1"/>
              <a:t>другой</a:t>
            </a:r>
            <a:r>
              <a:rPr lang="en-US" dirty="0"/>
              <a:t>.</a:t>
            </a:r>
          </a:p>
          <a:p>
            <a:endParaRPr lang="ru-RU" dirty="0"/>
          </a:p>
          <a:p>
            <a:r>
              <a:rPr lang="en-US" dirty="0" err="1"/>
              <a:t>Во-вторых</a:t>
            </a:r>
            <a:r>
              <a:rPr lang="en-US" dirty="0"/>
              <a:t>, shell </a:t>
            </a:r>
            <a:r>
              <a:rPr lang="en-US" dirty="0" err="1"/>
              <a:t>поддерживает</a:t>
            </a:r>
            <a:r>
              <a:rPr lang="en-US" dirty="0"/>
              <a:t> </a:t>
            </a:r>
            <a:r>
              <a:rPr lang="en-US" b="1" dirty="0" err="1"/>
              <a:t>каналы</a:t>
            </a:r>
            <a:r>
              <a:rPr lang="en-US" dirty="0"/>
              <a:t>, </a:t>
            </a:r>
            <a:r>
              <a:rPr lang="en-US" dirty="0" err="1"/>
              <a:t>или</a:t>
            </a:r>
            <a:r>
              <a:rPr lang="en-US" dirty="0"/>
              <a:t> pipes.</a:t>
            </a:r>
            <a:br>
              <a:rPr lang="en-US" dirty="0"/>
            </a:br>
            <a:endParaRPr lang="ru-RU" dirty="0"/>
          </a:p>
          <a:p>
            <a:r>
              <a:rPr lang="en-US" dirty="0"/>
              <a:t>В </a:t>
            </a:r>
            <a:r>
              <a:rPr lang="en-US" dirty="0" err="1"/>
              <a:t>команде</a:t>
            </a:r>
            <a:r>
              <a:rPr lang="en-US" dirty="0"/>
              <a:t> </a:t>
            </a:r>
            <a:r>
              <a:rPr lang="en-US" sz="1200" kern="1200" dirty="0">
                <a:solidFill>
                  <a:schemeClr val="tx1"/>
                </a:solidFill>
                <a:latin typeface="+mn-lt"/>
                <a:ea typeface="+mn-ea"/>
                <a:cs typeface="+mn-cs"/>
              </a:rPr>
              <a:t>cat file1 file2 | sort</a:t>
            </a:r>
            <a:r>
              <a:rPr lang="en-US" dirty="0"/>
              <a:t> </a:t>
            </a:r>
            <a:r>
              <a:rPr lang="en-US" dirty="0" err="1"/>
              <a:t>результат</a:t>
            </a:r>
            <a:r>
              <a:rPr lang="en-US" dirty="0"/>
              <a:t> </a:t>
            </a:r>
            <a:r>
              <a:rPr lang="en-US" dirty="0" err="1"/>
              <a:t>работы</a:t>
            </a:r>
            <a:r>
              <a:rPr lang="en-US" dirty="0"/>
              <a:t> </a:t>
            </a:r>
            <a:r>
              <a:rPr lang="en-US" sz="1200" kern="1200" dirty="0">
                <a:solidFill>
                  <a:schemeClr val="tx1"/>
                </a:solidFill>
                <a:latin typeface="+mn-lt"/>
                <a:ea typeface="+mn-ea"/>
                <a:cs typeface="+mn-cs"/>
              </a:rPr>
              <a:t>cat</a:t>
            </a:r>
            <a:r>
              <a:rPr lang="en-US" dirty="0"/>
              <a:t> </a:t>
            </a:r>
            <a:r>
              <a:rPr lang="en-US" dirty="0" err="1"/>
              <a:t>передаётся</a:t>
            </a:r>
            <a:r>
              <a:rPr lang="en-US" dirty="0"/>
              <a:t> </a:t>
            </a:r>
            <a:r>
              <a:rPr lang="en-US" dirty="0" err="1"/>
              <a:t>напрямую</a:t>
            </a:r>
            <a:r>
              <a:rPr lang="en-US" dirty="0"/>
              <a:t> </a:t>
            </a:r>
            <a:r>
              <a:rPr lang="en-US" dirty="0" err="1"/>
              <a:t>на</a:t>
            </a:r>
            <a:r>
              <a:rPr lang="en-US" dirty="0"/>
              <a:t> </a:t>
            </a:r>
            <a:r>
              <a:rPr lang="en-US" dirty="0" err="1"/>
              <a:t>вход</a:t>
            </a:r>
            <a:r>
              <a:rPr lang="en-US" dirty="0"/>
              <a:t> </a:t>
            </a:r>
            <a:r>
              <a:rPr lang="en-US" dirty="0" err="1"/>
              <a:t>программе</a:t>
            </a:r>
            <a:r>
              <a:rPr lang="en-US" dirty="0"/>
              <a:t> </a:t>
            </a:r>
            <a:r>
              <a:rPr lang="en-US" sz="1200" kern="1200" dirty="0">
                <a:solidFill>
                  <a:schemeClr val="tx1"/>
                </a:solidFill>
                <a:latin typeface="+mn-lt"/>
                <a:ea typeface="+mn-ea"/>
                <a:cs typeface="+mn-cs"/>
              </a:rPr>
              <a:t>sort</a:t>
            </a:r>
            <a:r>
              <a:rPr lang="en-US" dirty="0"/>
              <a:t>. Это </a:t>
            </a:r>
            <a:r>
              <a:rPr lang="en-US" dirty="0" err="1"/>
              <a:t>очень</a:t>
            </a:r>
            <a:r>
              <a:rPr lang="en-US" dirty="0"/>
              <a:t> </a:t>
            </a:r>
            <a:r>
              <a:rPr lang="en-US" dirty="0" err="1"/>
              <a:t>важная</a:t>
            </a:r>
            <a:r>
              <a:rPr lang="en-US" dirty="0"/>
              <a:t> </a:t>
            </a:r>
            <a:r>
              <a:rPr lang="en-US" dirty="0" err="1"/>
              <a:t>идея</a:t>
            </a:r>
            <a:r>
              <a:rPr lang="en-US" dirty="0"/>
              <a:t> UNIX: </a:t>
            </a:r>
            <a:r>
              <a:rPr lang="en-US" dirty="0" err="1"/>
              <a:t>небольшие</a:t>
            </a:r>
            <a:r>
              <a:rPr lang="en-US" dirty="0"/>
              <a:t> </a:t>
            </a:r>
            <a:r>
              <a:rPr lang="en-US" dirty="0" err="1"/>
              <a:t>программы</a:t>
            </a:r>
            <a:r>
              <a:rPr lang="en-US" dirty="0"/>
              <a:t> </a:t>
            </a:r>
            <a:r>
              <a:rPr lang="en-US" dirty="0" err="1"/>
              <a:t>можно</a:t>
            </a:r>
            <a:r>
              <a:rPr lang="en-US" dirty="0"/>
              <a:t> </a:t>
            </a:r>
            <a:r>
              <a:rPr lang="en-US" dirty="0" err="1"/>
              <a:t>соединять</a:t>
            </a:r>
            <a:r>
              <a:rPr lang="en-US" dirty="0"/>
              <a:t> в </a:t>
            </a:r>
            <a:r>
              <a:rPr lang="en-US" dirty="0" err="1"/>
              <a:t>цепочки</a:t>
            </a:r>
            <a:r>
              <a:rPr lang="en-US" dirty="0"/>
              <a:t>, </a:t>
            </a:r>
            <a:r>
              <a:rPr lang="en-US" dirty="0" err="1"/>
              <a:t>где</a:t>
            </a:r>
            <a:r>
              <a:rPr lang="en-US" dirty="0"/>
              <a:t> </a:t>
            </a:r>
            <a:r>
              <a:rPr lang="en-US" dirty="0" err="1"/>
              <a:t>каждая</a:t>
            </a:r>
            <a:r>
              <a:rPr lang="en-US" dirty="0"/>
              <a:t> </a:t>
            </a:r>
            <a:r>
              <a:rPr lang="en-US" dirty="0" err="1"/>
              <a:t>делает</a:t>
            </a:r>
            <a:r>
              <a:rPr lang="en-US" dirty="0"/>
              <a:t> </a:t>
            </a:r>
            <a:r>
              <a:rPr lang="en-US" dirty="0" err="1"/>
              <a:t>свою</a:t>
            </a:r>
            <a:r>
              <a:rPr lang="en-US" dirty="0"/>
              <a:t> </a:t>
            </a:r>
            <a:r>
              <a:rPr lang="en-US" dirty="0" err="1"/>
              <a:t>простую</a:t>
            </a:r>
            <a:r>
              <a:rPr lang="en-US" dirty="0"/>
              <a:t> </a:t>
            </a:r>
            <a:r>
              <a:rPr lang="en-US" dirty="0" err="1"/>
              <a:t>часть</a:t>
            </a:r>
            <a:r>
              <a:rPr lang="en-US" dirty="0"/>
              <a:t> </a:t>
            </a:r>
            <a:r>
              <a:rPr lang="en-US" dirty="0" err="1"/>
              <a:t>работы</a:t>
            </a:r>
            <a:r>
              <a:rPr lang="en-US" dirty="0"/>
              <a:t>.</a:t>
            </a:r>
            <a:endParaRPr lang="ru-RU" dirty="0"/>
          </a:p>
          <a:p>
            <a:endParaRPr lang="en-US" dirty="0"/>
          </a:p>
          <a:p>
            <a:r>
              <a:rPr lang="en-US" dirty="0"/>
              <a:t>В-</a:t>
            </a:r>
            <a:r>
              <a:rPr lang="en-US" dirty="0" err="1"/>
              <a:t>третьих</a:t>
            </a:r>
            <a:r>
              <a:rPr lang="en-US" dirty="0"/>
              <a:t>, shell </a:t>
            </a:r>
            <a:r>
              <a:rPr lang="en-US" dirty="0" err="1"/>
              <a:t>умеет</a:t>
            </a:r>
            <a:r>
              <a:rPr lang="en-US" dirty="0"/>
              <a:t> </a:t>
            </a:r>
            <a:r>
              <a:rPr lang="en-US" dirty="0" err="1"/>
              <a:t>запускать</a:t>
            </a:r>
            <a:r>
              <a:rPr lang="en-US" dirty="0"/>
              <a:t> </a:t>
            </a:r>
            <a:r>
              <a:rPr lang="en-US" dirty="0" err="1"/>
              <a:t>команды</a:t>
            </a:r>
            <a:r>
              <a:rPr lang="en-US" dirty="0"/>
              <a:t> </a:t>
            </a:r>
            <a:r>
              <a:rPr lang="en-US" b="1" dirty="0"/>
              <a:t>в </a:t>
            </a:r>
            <a:r>
              <a:rPr lang="en-US" b="1" dirty="0" err="1"/>
              <a:t>фоне</a:t>
            </a:r>
            <a:r>
              <a:rPr lang="en-US" dirty="0"/>
              <a:t>.</a:t>
            </a:r>
            <a:br>
              <a:rPr lang="en-US" dirty="0"/>
            </a:br>
            <a:r>
              <a:rPr lang="en-US" dirty="0" err="1"/>
              <a:t>Если</a:t>
            </a:r>
            <a:r>
              <a:rPr lang="en-US" dirty="0"/>
              <a:t> </a:t>
            </a:r>
            <a:r>
              <a:rPr lang="en-US" dirty="0" err="1"/>
              <a:t>добавить</a:t>
            </a:r>
            <a:r>
              <a:rPr lang="en-US" dirty="0"/>
              <a:t> </a:t>
            </a:r>
            <a:r>
              <a:rPr lang="en-US" dirty="0" err="1"/>
              <a:t>символ</a:t>
            </a:r>
            <a:r>
              <a:rPr lang="en-US" dirty="0"/>
              <a:t> </a:t>
            </a:r>
            <a:r>
              <a:rPr lang="en-US" sz="1200" kern="1200" dirty="0">
                <a:solidFill>
                  <a:schemeClr val="tx1"/>
                </a:solidFill>
                <a:latin typeface="+mn-lt"/>
                <a:ea typeface="+mn-ea"/>
                <a:cs typeface="+mn-cs"/>
              </a:rPr>
              <a:t>&amp;</a:t>
            </a:r>
            <a:r>
              <a:rPr lang="en-US" dirty="0"/>
              <a:t>, shell </a:t>
            </a:r>
            <a:r>
              <a:rPr lang="en-US" dirty="0" err="1"/>
              <a:t>не</a:t>
            </a:r>
            <a:r>
              <a:rPr lang="en-US" dirty="0"/>
              <a:t> </a:t>
            </a:r>
            <a:r>
              <a:rPr lang="en-US" dirty="0" err="1"/>
              <a:t>будет</a:t>
            </a:r>
            <a:r>
              <a:rPr lang="en-US" dirty="0"/>
              <a:t> </a:t>
            </a:r>
            <a:r>
              <a:rPr lang="en-US" dirty="0" err="1"/>
              <a:t>ждать</a:t>
            </a:r>
            <a:r>
              <a:rPr lang="en-US" dirty="0"/>
              <a:t> </a:t>
            </a:r>
            <a:r>
              <a:rPr lang="en-US" dirty="0" err="1"/>
              <a:t>завершения</a:t>
            </a:r>
            <a:r>
              <a:rPr lang="en-US" dirty="0"/>
              <a:t> </a:t>
            </a:r>
            <a:r>
              <a:rPr lang="en-US" dirty="0" err="1"/>
              <a:t>процесса</a:t>
            </a:r>
            <a:r>
              <a:rPr lang="en-US" dirty="0"/>
              <a:t> и </a:t>
            </a:r>
            <a:r>
              <a:rPr lang="en-US" dirty="0" err="1"/>
              <a:t>сразу</a:t>
            </a:r>
            <a:r>
              <a:rPr lang="en-US" dirty="0"/>
              <a:t> </a:t>
            </a:r>
            <a:r>
              <a:rPr lang="en-US" dirty="0" err="1"/>
              <a:t>вернёт</a:t>
            </a:r>
            <a:r>
              <a:rPr lang="en-US" dirty="0"/>
              <a:t> </a:t>
            </a:r>
            <a:r>
              <a:rPr lang="en-US" dirty="0" err="1"/>
              <a:t>приглашение</a:t>
            </a:r>
            <a:r>
              <a:rPr lang="en-US" dirty="0"/>
              <a:t>. Это </a:t>
            </a:r>
            <a:r>
              <a:rPr lang="en-US" dirty="0" err="1"/>
              <a:t>позволяет</a:t>
            </a:r>
            <a:r>
              <a:rPr lang="en-US" dirty="0"/>
              <a:t> </a:t>
            </a:r>
            <a:r>
              <a:rPr lang="en-US" dirty="0" err="1"/>
              <a:t>продолжать</a:t>
            </a:r>
            <a:r>
              <a:rPr lang="en-US" dirty="0"/>
              <a:t> </a:t>
            </a:r>
            <a:r>
              <a:rPr lang="en-US" dirty="0" err="1"/>
              <a:t>работу</a:t>
            </a:r>
            <a:r>
              <a:rPr lang="en-US" dirty="0"/>
              <a:t>, </a:t>
            </a:r>
            <a:r>
              <a:rPr lang="en-US" dirty="0" err="1"/>
              <a:t>пока</a:t>
            </a:r>
            <a:r>
              <a:rPr lang="en-US" dirty="0"/>
              <a:t> </a:t>
            </a:r>
            <a:r>
              <a:rPr lang="en-US" dirty="0" err="1"/>
              <a:t>программа</a:t>
            </a:r>
            <a:r>
              <a:rPr lang="en-US" dirty="0"/>
              <a:t> </a:t>
            </a:r>
            <a:r>
              <a:rPr lang="en-US" dirty="0" err="1"/>
              <a:t>выполняется</a:t>
            </a:r>
            <a:r>
              <a:rPr lang="en-US" dirty="0"/>
              <a:t> </a:t>
            </a:r>
            <a:r>
              <a:rPr lang="en-US" dirty="0" err="1"/>
              <a:t>параллельно</a:t>
            </a:r>
            <a:r>
              <a:rPr lang="en-US" dirty="0"/>
              <a:t>.</a:t>
            </a:r>
          </a:p>
          <a:p>
            <a:endParaRPr lang="ru-RU" dirty="0"/>
          </a:p>
          <a:p>
            <a:r>
              <a:rPr lang="en-US" dirty="0" err="1"/>
              <a:t>Теперь</a:t>
            </a:r>
            <a:r>
              <a:rPr lang="en-US" dirty="0"/>
              <a:t> </a:t>
            </a:r>
            <a:r>
              <a:rPr lang="en-US" dirty="0" err="1"/>
              <a:t>важно</a:t>
            </a:r>
            <a:r>
              <a:rPr lang="en-US" dirty="0"/>
              <a:t> </a:t>
            </a:r>
            <a:r>
              <a:rPr lang="en-US" dirty="0" err="1"/>
              <a:t>понять</a:t>
            </a:r>
            <a:r>
              <a:rPr lang="en-US" dirty="0"/>
              <a:t> </a:t>
            </a:r>
            <a:r>
              <a:rPr lang="en-US" dirty="0" err="1"/>
              <a:t>место</a:t>
            </a:r>
            <a:r>
              <a:rPr lang="en-US" dirty="0"/>
              <a:t> shell </a:t>
            </a:r>
            <a:r>
              <a:rPr lang="en-US" dirty="0" err="1"/>
              <a:t>среди</a:t>
            </a:r>
            <a:r>
              <a:rPr lang="en-US" dirty="0"/>
              <a:t> </a:t>
            </a:r>
            <a:r>
              <a:rPr lang="en-US" dirty="0" err="1"/>
              <a:t>других</a:t>
            </a:r>
            <a:r>
              <a:rPr lang="en-US" dirty="0"/>
              <a:t> </a:t>
            </a:r>
            <a:r>
              <a:rPr lang="en-US" dirty="0" err="1"/>
              <a:t>интерфейсов</a:t>
            </a:r>
            <a:r>
              <a:rPr lang="en-US" dirty="0"/>
              <a:t> ОС.</a:t>
            </a:r>
            <a:br>
              <a:rPr lang="en-US" dirty="0"/>
            </a:br>
            <a:r>
              <a:rPr lang="en-US" dirty="0"/>
              <a:t>Shell — </a:t>
            </a:r>
            <a:r>
              <a:rPr lang="en-US" dirty="0" err="1"/>
              <a:t>это</a:t>
            </a:r>
            <a:r>
              <a:rPr lang="en-US" dirty="0"/>
              <a:t> </a:t>
            </a:r>
            <a:r>
              <a:rPr lang="en-US" dirty="0" err="1"/>
              <a:t>текстовый</a:t>
            </a:r>
            <a:r>
              <a:rPr lang="en-US" dirty="0"/>
              <a:t> </a:t>
            </a:r>
            <a:r>
              <a:rPr lang="en-US" dirty="0" err="1"/>
              <a:t>интерфейс</a:t>
            </a:r>
            <a:r>
              <a:rPr lang="en-US" dirty="0"/>
              <a:t> </a:t>
            </a:r>
            <a:r>
              <a:rPr lang="en-US" dirty="0" err="1"/>
              <a:t>пользователя</a:t>
            </a:r>
            <a:r>
              <a:rPr lang="en-US" dirty="0"/>
              <a:t> к </a:t>
            </a:r>
            <a:r>
              <a:rPr lang="en-US" dirty="0" err="1"/>
              <a:t>операционной</a:t>
            </a:r>
            <a:r>
              <a:rPr lang="en-US" dirty="0"/>
              <a:t> </a:t>
            </a:r>
            <a:r>
              <a:rPr lang="en-US" dirty="0" err="1"/>
              <a:t>системе</a:t>
            </a:r>
            <a:r>
              <a:rPr lang="en-US" dirty="0"/>
              <a:t>. </a:t>
            </a:r>
            <a:r>
              <a:rPr lang="en-US" dirty="0" err="1"/>
              <a:t>Но</a:t>
            </a:r>
            <a:r>
              <a:rPr lang="en-US" dirty="0"/>
              <a:t> </a:t>
            </a:r>
            <a:r>
              <a:rPr lang="en-US" dirty="0" err="1"/>
              <a:t>графический</a:t>
            </a:r>
            <a:r>
              <a:rPr lang="en-US" dirty="0"/>
              <a:t> </a:t>
            </a:r>
            <a:r>
              <a:rPr lang="en-US" dirty="0" err="1"/>
              <a:t>интерфейс</a:t>
            </a:r>
            <a:r>
              <a:rPr lang="en-US" dirty="0"/>
              <a:t>, </a:t>
            </a:r>
            <a:r>
              <a:rPr lang="en-US" dirty="0" err="1"/>
              <a:t>или</a:t>
            </a:r>
            <a:r>
              <a:rPr lang="en-US" dirty="0"/>
              <a:t> GUI, </a:t>
            </a:r>
            <a:r>
              <a:rPr lang="en-US" dirty="0" err="1"/>
              <a:t>по</a:t>
            </a:r>
            <a:r>
              <a:rPr lang="en-US" dirty="0"/>
              <a:t> </a:t>
            </a:r>
            <a:r>
              <a:rPr lang="en-US" dirty="0" err="1"/>
              <a:t>сути</a:t>
            </a:r>
            <a:r>
              <a:rPr lang="en-US" dirty="0"/>
              <a:t> </a:t>
            </a:r>
            <a:r>
              <a:rPr lang="en-US" dirty="0" err="1"/>
              <a:t>тоже</a:t>
            </a:r>
            <a:r>
              <a:rPr lang="en-US" dirty="0"/>
              <a:t> </a:t>
            </a:r>
            <a:r>
              <a:rPr lang="en-US" dirty="0" err="1"/>
              <a:t>является</a:t>
            </a:r>
            <a:r>
              <a:rPr lang="en-US" dirty="0"/>
              <a:t> </a:t>
            </a:r>
            <a:r>
              <a:rPr lang="en-US" dirty="0" err="1"/>
              <a:t>программой</a:t>
            </a:r>
            <a:r>
              <a:rPr lang="en-US" dirty="0"/>
              <a:t> </a:t>
            </a:r>
            <a:r>
              <a:rPr lang="en-US" dirty="0" err="1"/>
              <a:t>поверх</a:t>
            </a:r>
            <a:r>
              <a:rPr lang="en-US" dirty="0"/>
              <a:t> ОС.</a:t>
            </a:r>
          </a:p>
          <a:p>
            <a:r>
              <a:rPr lang="en-US" dirty="0"/>
              <a:t>В Linux </a:t>
            </a:r>
            <a:r>
              <a:rPr lang="en-US" dirty="0" err="1"/>
              <a:t>пользователь</a:t>
            </a:r>
            <a:r>
              <a:rPr lang="en-US" dirty="0"/>
              <a:t> </a:t>
            </a:r>
            <a:r>
              <a:rPr lang="en-US" dirty="0" err="1"/>
              <a:t>может</a:t>
            </a:r>
            <a:r>
              <a:rPr lang="en-US" dirty="0"/>
              <a:t> </a:t>
            </a:r>
            <a:r>
              <a:rPr lang="en-US" dirty="0" err="1"/>
              <a:t>работать</a:t>
            </a:r>
            <a:r>
              <a:rPr lang="en-US" dirty="0"/>
              <a:t> </a:t>
            </a:r>
            <a:r>
              <a:rPr lang="en-US" dirty="0" err="1"/>
              <a:t>через</a:t>
            </a:r>
            <a:r>
              <a:rPr lang="en-US" dirty="0"/>
              <a:t> </a:t>
            </a:r>
            <a:r>
              <a:rPr lang="en-US" dirty="0" err="1"/>
              <a:t>терминал</a:t>
            </a:r>
            <a:r>
              <a:rPr lang="en-US" dirty="0"/>
              <a:t>, </a:t>
            </a:r>
            <a:r>
              <a:rPr lang="en-US" dirty="0" err="1"/>
              <a:t>через</a:t>
            </a:r>
            <a:r>
              <a:rPr lang="en-US" dirty="0"/>
              <a:t> </a:t>
            </a:r>
            <a:r>
              <a:rPr lang="en-US" dirty="0" err="1"/>
              <a:t>графическую</a:t>
            </a:r>
            <a:r>
              <a:rPr lang="en-US" dirty="0"/>
              <a:t> </a:t>
            </a:r>
            <a:r>
              <a:rPr lang="en-US" dirty="0" err="1"/>
              <a:t>среду</a:t>
            </a:r>
            <a:r>
              <a:rPr lang="en-US" dirty="0"/>
              <a:t> — </a:t>
            </a:r>
            <a:r>
              <a:rPr lang="en-US" dirty="0" err="1"/>
              <a:t>например</a:t>
            </a:r>
            <a:r>
              <a:rPr lang="en-US" dirty="0"/>
              <a:t>, GNOME </a:t>
            </a:r>
            <a:r>
              <a:rPr lang="en-US" dirty="0" err="1"/>
              <a:t>или</a:t>
            </a:r>
            <a:r>
              <a:rPr lang="en-US" dirty="0"/>
              <a:t> KDE, — </a:t>
            </a:r>
            <a:r>
              <a:rPr lang="en-US" dirty="0" err="1"/>
              <a:t>или</a:t>
            </a:r>
            <a:r>
              <a:rPr lang="en-US" dirty="0"/>
              <a:t> </a:t>
            </a:r>
            <a:r>
              <a:rPr lang="en-US" dirty="0" err="1"/>
              <a:t>сочетать</a:t>
            </a:r>
            <a:r>
              <a:rPr lang="en-US" dirty="0"/>
              <a:t> </a:t>
            </a:r>
            <a:r>
              <a:rPr lang="en-US" dirty="0" err="1"/>
              <a:t>оба</a:t>
            </a:r>
            <a:r>
              <a:rPr lang="en-US" dirty="0"/>
              <a:t> </a:t>
            </a:r>
            <a:r>
              <a:rPr lang="en-US" dirty="0" err="1"/>
              <a:t>варианта</a:t>
            </a:r>
            <a:r>
              <a:rPr lang="en-US" dirty="0"/>
              <a:t>.</a:t>
            </a:r>
            <a:br>
              <a:rPr lang="en-US" dirty="0"/>
            </a:br>
            <a:endParaRPr lang="ru-RU" dirty="0"/>
          </a:p>
          <a:p>
            <a:r>
              <a:rPr lang="en-US" dirty="0" err="1"/>
              <a:t>То</a:t>
            </a:r>
            <a:r>
              <a:rPr lang="en-US" dirty="0"/>
              <a:t> </a:t>
            </a:r>
            <a:r>
              <a:rPr lang="en-US" dirty="0" err="1"/>
              <a:t>есть</a:t>
            </a:r>
            <a:r>
              <a:rPr lang="en-US" dirty="0"/>
              <a:t> и shell, и GUI — </a:t>
            </a:r>
            <a:r>
              <a:rPr lang="en-US" dirty="0" err="1"/>
              <a:t>это</a:t>
            </a:r>
            <a:r>
              <a:rPr lang="en-US" dirty="0"/>
              <a:t> </a:t>
            </a:r>
            <a:r>
              <a:rPr lang="en-US" dirty="0" err="1"/>
              <a:t>разные</a:t>
            </a:r>
            <a:r>
              <a:rPr lang="en-US" dirty="0"/>
              <a:t> </a:t>
            </a:r>
            <a:r>
              <a:rPr lang="en-US" dirty="0" err="1"/>
              <a:t>способы</a:t>
            </a:r>
            <a:r>
              <a:rPr lang="en-US" dirty="0"/>
              <a:t> </a:t>
            </a:r>
            <a:r>
              <a:rPr lang="en-US" dirty="0" err="1"/>
              <a:t>взаимодействия</a:t>
            </a:r>
            <a:r>
              <a:rPr lang="en-US" dirty="0"/>
              <a:t> с </a:t>
            </a:r>
            <a:r>
              <a:rPr lang="en-US" dirty="0" err="1"/>
              <a:t>одной</a:t>
            </a:r>
            <a:r>
              <a:rPr lang="en-US" dirty="0"/>
              <a:t> и </a:t>
            </a:r>
            <a:r>
              <a:rPr lang="en-US" dirty="0" err="1"/>
              <a:t>той</a:t>
            </a:r>
            <a:r>
              <a:rPr lang="en-US" dirty="0"/>
              <a:t> </a:t>
            </a:r>
            <a:r>
              <a:rPr lang="en-US" dirty="0" err="1"/>
              <a:t>же</a:t>
            </a:r>
            <a:r>
              <a:rPr lang="en-US" dirty="0"/>
              <a:t> </a:t>
            </a:r>
            <a:r>
              <a:rPr lang="en-US" dirty="0" err="1"/>
              <a:t>операционной</a:t>
            </a:r>
            <a:r>
              <a:rPr lang="en-US" dirty="0"/>
              <a:t> </a:t>
            </a:r>
            <a:r>
              <a:rPr lang="en-US" dirty="0" err="1"/>
              <a:t>системой</a:t>
            </a:r>
            <a:r>
              <a:rPr lang="en-US" dirty="0"/>
              <a:t>.</a:t>
            </a:r>
          </a:p>
          <a:p>
            <a:r>
              <a:rPr lang="en-US" dirty="0" err="1"/>
              <a:t>Поэтому</a:t>
            </a:r>
            <a:r>
              <a:rPr lang="en-US" dirty="0"/>
              <a:t> shell </a:t>
            </a:r>
            <a:r>
              <a:rPr lang="en-US" dirty="0" err="1"/>
              <a:t>особенно</a:t>
            </a:r>
            <a:r>
              <a:rPr lang="en-US" dirty="0"/>
              <a:t> </a:t>
            </a:r>
            <a:r>
              <a:rPr lang="en-US" dirty="0" err="1"/>
              <a:t>важен</a:t>
            </a:r>
            <a:r>
              <a:rPr lang="en-US" dirty="0"/>
              <a:t> </a:t>
            </a:r>
            <a:r>
              <a:rPr lang="en-US" dirty="0" err="1"/>
              <a:t>для</a:t>
            </a:r>
            <a:r>
              <a:rPr lang="en-US" dirty="0"/>
              <a:t> </a:t>
            </a:r>
            <a:r>
              <a:rPr lang="en-US" dirty="0" err="1"/>
              <a:t>администраторов</a:t>
            </a:r>
            <a:r>
              <a:rPr lang="en-US" dirty="0"/>
              <a:t> и </a:t>
            </a:r>
            <a:r>
              <a:rPr lang="en-US" dirty="0" err="1"/>
              <a:t>разработчиков</a:t>
            </a:r>
            <a:r>
              <a:rPr lang="en-US" dirty="0"/>
              <a:t>: </a:t>
            </a:r>
            <a:r>
              <a:rPr lang="en-US" dirty="0" err="1"/>
              <a:t>он</a:t>
            </a:r>
            <a:r>
              <a:rPr lang="en-US" dirty="0"/>
              <a:t> </a:t>
            </a:r>
            <a:r>
              <a:rPr lang="en-US" dirty="0" err="1"/>
              <a:t>показывает</a:t>
            </a:r>
            <a:r>
              <a:rPr lang="en-US" dirty="0"/>
              <a:t> </a:t>
            </a:r>
            <a:r>
              <a:rPr lang="en-US" dirty="0" err="1"/>
              <a:t>работу</a:t>
            </a:r>
            <a:r>
              <a:rPr lang="en-US" dirty="0"/>
              <a:t> ОС в </a:t>
            </a:r>
            <a:r>
              <a:rPr lang="en-US" dirty="0" err="1"/>
              <a:t>более</a:t>
            </a:r>
            <a:r>
              <a:rPr lang="en-US" dirty="0"/>
              <a:t> </a:t>
            </a:r>
            <a:r>
              <a:rPr lang="en-US" dirty="0" err="1"/>
              <a:t>прямом</a:t>
            </a:r>
            <a:r>
              <a:rPr lang="en-US" dirty="0"/>
              <a:t> и </a:t>
            </a:r>
            <a:r>
              <a:rPr lang="en-US" dirty="0" err="1"/>
              <a:t>управляемом</a:t>
            </a:r>
            <a:r>
              <a:rPr lang="en-US" dirty="0"/>
              <a:t> </a:t>
            </a:r>
            <a:r>
              <a:rPr lang="en-US" dirty="0" err="1"/>
              <a:t>виде</a:t>
            </a:r>
            <a:r>
              <a:rPr lang="en-US" dirty="0"/>
              <a:t>.</a:t>
            </a:r>
          </a:p>
        </p:txBody>
      </p:sp>
      <p:sp>
        <p:nvSpPr>
          <p:cNvPr id="4" name="Slide Number Placeholder 3"/>
          <p:cNvSpPr>
            <a:spLocks noGrp="1"/>
          </p:cNvSpPr>
          <p:nvPr>
            <p:ph type="sldNum" sz="quarter" idx="5"/>
          </p:nvPr>
        </p:nvSpPr>
        <p:spPr/>
        <p:txBody>
          <a:bodyPr/>
          <a:lstStyle/>
          <a:p>
            <a:fld id="{A3EE74EF-BE85-44F3-968F-E74DD74A629E}" type="slidenum">
              <a:rPr lang="en-US" smtClean="0"/>
              <a:t>25</a:t>
            </a:fld>
            <a:endParaRPr lang="en-US"/>
          </a:p>
        </p:txBody>
      </p:sp>
    </p:spTree>
    <p:extLst>
      <p:ext uri="{BB962C8B-B14F-4D97-AF65-F5344CB8AC3E}">
        <p14:creationId xmlns:p14="http://schemas.microsoft.com/office/powerpoint/2010/main" val="10526167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3EE74EF-BE85-44F3-968F-E74DD74A629E}" type="slidenum">
              <a:rPr lang="en-US" smtClean="0"/>
              <a:t>26</a:t>
            </a:fld>
            <a:endParaRPr lang="en-US"/>
          </a:p>
        </p:txBody>
      </p:sp>
    </p:spTree>
    <p:extLst>
      <p:ext uri="{BB962C8B-B14F-4D97-AF65-F5344CB8AC3E}">
        <p14:creationId xmlns:p14="http://schemas.microsoft.com/office/powerpoint/2010/main" val="8151184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a:t>
            </a:r>
            <a:r>
              <a:rPr lang="en-US" dirty="0" err="1"/>
              <a:t>истории</a:t>
            </a:r>
            <a:r>
              <a:rPr lang="en-US" dirty="0"/>
              <a:t> </a:t>
            </a:r>
            <a:r>
              <a:rPr lang="en-US" dirty="0" err="1"/>
              <a:t>операционных</a:t>
            </a:r>
            <a:r>
              <a:rPr lang="en-US" dirty="0"/>
              <a:t> </a:t>
            </a:r>
            <a:r>
              <a:rPr lang="en-US" dirty="0" err="1"/>
              <a:t>систем</a:t>
            </a:r>
            <a:r>
              <a:rPr lang="en-US" dirty="0"/>
              <a:t> </a:t>
            </a:r>
            <a:r>
              <a:rPr lang="en-US" dirty="0" err="1"/>
              <a:t>есть</a:t>
            </a:r>
            <a:r>
              <a:rPr lang="en-US" dirty="0"/>
              <a:t> </a:t>
            </a:r>
            <a:r>
              <a:rPr lang="en-US" dirty="0" err="1"/>
              <a:t>интересная</a:t>
            </a:r>
            <a:r>
              <a:rPr lang="en-US" dirty="0"/>
              <a:t> </a:t>
            </a:r>
            <a:r>
              <a:rPr lang="en-US" dirty="0" err="1"/>
              <a:t>закономерность</a:t>
            </a:r>
            <a:r>
              <a:rPr lang="en-US" dirty="0"/>
              <a:t>: </a:t>
            </a:r>
            <a:r>
              <a:rPr lang="en-US" dirty="0" err="1"/>
              <a:t>многие</a:t>
            </a:r>
            <a:r>
              <a:rPr lang="en-US" dirty="0"/>
              <a:t> </a:t>
            </a:r>
            <a:r>
              <a:rPr lang="en-US" dirty="0" err="1"/>
              <a:t>идеи</a:t>
            </a:r>
            <a:r>
              <a:rPr lang="en-US" dirty="0"/>
              <a:t> </a:t>
            </a:r>
            <a:r>
              <a:rPr lang="en-US" dirty="0" err="1"/>
              <a:t>не</a:t>
            </a:r>
            <a:r>
              <a:rPr lang="en-US" dirty="0"/>
              <a:t> </a:t>
            </a:r>
            <a:r>
              <a:rPr lang="en-US" dirty="0" err="1"/>
              <a:t>исчезают</a:t>
            </a:r>
            <a:r>
              <a:rPr lang="en-US" dirty="0"/>
              <a:t> </a:t>
            </a:r>
            <a:r>
              <a:rPr lang="en-US" dirty="0" err="1"/>
              <a:t>окончательно</a:t>
            </a:r>
            <a:r>
              <a:rPr lang="en-US" dirty="0"/>
              <a:t>, а </a:t>
            </a:r>
            <a:r>
              <a:rPr lang="en-US" dirty="0" err="1"/>
              <a:t>возвращаются</a:t>
            </a:r>
            <a:r>
              <a:rPr lang="en-US" dirty="0"/>
              <a:t> в </a:t>
            </a:r>
            <a:r>
              <a:rPr lang="en-US" dirty="0" err="1"/>
              <a:t>новых</a:t>
            </a:r>
            <a:r>
              <a:rPr lang="en-US" dirty="0"/>
              <a:t> </a:t>
            </a:r>
            <a:r>
              <a:rPr lang="en-US" dirty="0" err="1"/>
              <a:t>условиях</a:t>
            </a:r>
            <a:r>
              <a:rPr lang="en-US" dirty="0"/>
              <a:t>.</a:t>
            </a:r>
            <a:endParaRPr lang="ru-RU" dirty="0"/>
          </a:p>
          <a:p>
            <a:endParaRPr lang="en-US" dirty="0"/>
          </a:p>
          <a:p>
            <a:r>
              <a:rPr lang="en-US" dirty="0" err="1"/>
              <a:t>Причина</a:t>
            </a:r>
            <a:r>
              <a:rPr lang="en-US" dirty="0"/>
              <a:t> </a:t>
            </a:r>
            <a:r>
              <a:rPr lang="en-US" dirty="0" err="1"/>
              <a:t>обычно</a:t>
            </a:r>
            <a:r>
              <a:rPr lang="en-US" dirty="0"/>
              <a:t> </a:t>
            </a:r>
            <a:r>
              <a:rPr lang="en-US" dirty="0" err="1"/>
              <a:t>не</a:t>
            </a:r>
            <a:r>
              <a:rPr lang="en-US" dirty="0"/>
              <a:t> в </a:t>
            </a:r>
            <a:r>
              <a:rPr lang="en-US" dirty="0" err="1"/>
              <a:t>том</a:t>
            </a:r>
            <a:r>
              <a:rPr lang="en-US" dirty="0"/>
              <a:t>, </a:t>
            </a:r>
            <a:r>
              <a:rPr lang="en-US" dirty="0" err="1"/>
              <a:t>что</a:t>
            </a:r>
            <a:r>
              <a:rPr lang="en-US" dirty="0"/>
              <a:t> </a:t>
            </a:r>
            <a:r>
              <a:rPr lang="en-US" dirty="0" err="1"/>
              <a:t>разработчики</a:t>
            </a:r>
            <a:r>
              <a:rPr lang="en-US" dirty="0"/>
              <a:t> </a:t>
            </a:r>
            <a:r>
              <a:rPr lang="en-US" dirty="0" err="1"/>
              <a:t>забывают</a:t>
            </a:r>
            <a:r>
              <a:rPr lang="en-US" dirty="0"/>
              <a:t> </a:t>
            </a:r>
            <a:r>
              <a:rPr lang="en-US" dirty="0" err="1"/>
              <a:t>предыдущий</a:t>
            </a:r>
            <a:r>
              <a:rPr lang="en-US" dirty="0"/>
              <a:t> </a:t>
            </a:r>
            <a:r>
              <a:rPr lang="en-US" dirty="0" err="1"/>
              <a:t>опыт</a:t>
            </a:r>
            <a:r>
              <a:rPr lang="en-US" dirty="0"/>
              <a:t>, а в </a:t>
            </a:r>
            <a:r>
              <a:rPr lang="en-US" dirty="0" err="1"/>
              <a:t>ограничениях</a:t>
            </a:r>
            <a:r>
              <a:rPr lang="en-US" dirty="0"/>
              <a:t> </a:t>
            </a:r>
            <a:r>
              <a:rPr lang="en-US" dirty="0" err="1"/>
              <a:t>аппаратуры</a:t>
            </a:r>
            <a:r>
              <a:rPr lang="en-US" dirty="0"/>
              <a:t>.</a:t>
            </a:r>
          </a:p>
          <a:p>
            <a:r>
              <a:rPr lang="en-US" dirty="0" err="1"/>
              <a:t>Если</a:t>
            </a:r>
            <a:r>
              <a:rPr lang="en-US" dirty="0"/>
              <a:t> </a:t>
            </a:r>
            <a:r>
              <a:rPr lang="en-US" dirty="0" err="1"/>
              <a:t>компьютер</a:t>
            </a:r>
            <a:r>
              <a:rPr lang="en-US" dirty="0"/>
              <a:t> </a:t>
            </a:r>
            <a:r>
              <a:rPr lang="en-US" dirty="0" err="1"/>
              <a:t>имеет</a:t>
            </a:r>
            <a:r>
              <a:rPr lang="en-US" dirty="0"/>
              <a:t> </a:t>
            </a:r>
            <a:r>
              <a:rPr lang="en-US" dirty="0" err="1"/>
              <a:t>очень</a:t>
            </a:r>
            <a:r>
              <a:rPr lang="en-US" dirty="0"/>
              <a:t> </a:t>
            </a:r>
            <a:r>
              <a:rPr lang="en-US" dirty="0" err="1"/>
              <a:t>мало</a:t>
            </a:r>
            <a:r>
              <a:rPr lang="en-US" dirty="0"/>
              <a:t> </a:t>
            </a:r>
            <a:r>
              <a:rPr lang="en-US" dirty="0" err="1"/>
              <a:t>памяти</a:t>
            </a:r>
            <a:r>
              <a:rPr lang="en-US" dirty="0"/>
              <a:t> и </a:t>
            </a:r>
            <a:r>
              <a:rPr lang="en-US" dirty="0" err="1"/>
              <a:t>мощности</a:t>
            </a:r>
            <a:r>
              <a:rPr lang="en-US" dirty="0"/>
              <a:t>, </a:t>
            </a:r>
            <a:r>
              <a:rPr lang="en-US" dirty="0" err="1"/>
              <a:t>операционная</a:t>
            </a:r>
            <a:r>
              <a:rPr lang="en-US" dirty="0"/>
              <a:t> </a:t>
            </a:r>
            <a:r>
              <a:rPr lang="en-US" dirty="0" err="1"/>
              <a:t>система</a:t>
            </a:r>
            <a:r>
              <a:rPr lang="en-US" dirty="0"/>
              <a:t> </a:t>
            </a:r>
            <a:r>
              <a:rPr lang="en-US" dirty="0" err="1"/>
              <a:t>вынуждена</a:t>
            </a:r>
            <a:r>
              <a:rPr lang="en-US" dirty="0"/>
              <a:t> </a:t>
            </a:r>
            <a:r>
              <a:rPr lang="en-US" dirty="0" err="1"/>
              <a:t>быть</a:t>
            </a:r>
            <a:r>
              <a:rPr lang="en-US" dirty="0"/>
              <a:t> </a:t>
            </a:r>
            <a:r>
              <a:rPr lang="en-US" dirty="0" err="1"/>
              <a:t>простой</a:t>
            </a:r>
            <a:r>
              <a:rPr lang="en-US" dirty="0"/>
              <a:t>.</a:t>
            </a:r>
            <a:endParaRPr lang="ru-RU" dirty="0"/>
          </a:p>
          <a:p>
            <a:endParaRPr lang="ru-RU" dirty="0"/>
          </a:p>
          <a:p>
            <a:r>
              <a:rPr lang="en-US" dirty="0" err="1"/>
              <a:t>Некоторые</a:t>
            </a:r>
            <a:r>
              <a:rPr lang="en-US" dirty="0"/>
              <a:t> </a:t>
            </a:r>
            <a:r>
              <a:rPr lang="en-US" dirty="0" err="1"/>
              <a:t>механизмы</a:t>
            </a:r>
            <a:r>
              <a:rPr lang="en-US" dirty="0"/>
              <a:t> </a:t>
            </a:r>
            <a:r>
              <a:rPr lang="en-US" dirty="0" err="1"/>
              <a:t>защиты</a:t>
            </a:r>
            <a:r>
              <a:rPr lang="en-US" dirty="0"/>
              <a:t>, </a:t>
            </a:r>
            <a:r>
              <a:rPr lang="en-US" dirty="0" err="1"/>
              <a:t>виртуальной</a:t>
            </a:r>
            <a:r>
              <a:rPr lang="en-US" dirty="0"/>
              <a:t> </a:t>
            </a:r>
            <a:r>
              <a:rPr lang="en-US" dirty="0" err="1"/>
              <a:t>памяти</a:t>
            </a:r>
            <a:r>
              <a:rPr lang="en-US" dirty="0"/>
              <a:t> </a:t>
            </a:r>
            <a:r>
              <a:rPr lang="en-US" dirty="0" err="1"/>
              <a:t>или</a:t>
            </a:r>
            <a:r>
              <a:rPr lang="en-US" dirty="0"/>
              <a:t> </a:t>
            </a:r>
            <a:r>
              <a:rPr lang="en-US" dirty="0" err="1"/>
              <a:t>сложные</a:t>
            </a:r>
            <a:r>
              <a:rPr lang="en-US" dirty="0"/>
              <a:t> </a:t>
            </a:r>
            <a:r>
              <a:rPr lang="en-US" dirty="0" err="1"/>
              <a:t>программные</a:t>
            </a:r>
            <a:r>
              <a:rPr lang="en-US" dirty="0"/>
              <a:t> </a:t>
            </a:r>
            <a:r>
              <a:rPr lang="en-US" dirty="0" err="1"/>
              <a:t>среды</a:t>
            </a:r>
            <a:r>
              <a:rPr lang="en-US" dirty="0"/>
              <a:t> </a:t>
            </a:r>
            <a:r>
              <a:rPr lang="en-US" dirty="0" err="1"/>
              <a:t>могут</a:t>
            </a:r>
            <a:r>
              <a:rPr lang="en-US" dirty="0"/>
              <a:t> </a:t>
            </a:r>
            <a:r>
              <a:rPr lang="en-US" dirty="0" err="1"/>
              <a:t>оказаться</a:t>
            </a:r>
            <a:r>
              <a:rPr lang="en-US" dirty="0"/>
              <a:t> </a:t>
            </a:r>
            <a:r>
              <a:rPr lang="en-US" dirty="0" err="1"/>
              <a:t>слишком</a:t>
            </a:r>
            <a:r>
              <a:rPr lang="en-US" dirty="0"/>
              <a:t> </a:t>
            </a:r>
            <a:r>
              <a:rPr lang="en-US" dirty="0" err="1"/>
              <a:t>дорогими</a:t>
            </a:r>
            <a:r>
              <a:rPr lang="en-US" dirty="0"/>
              <a:t>.</a:t>
            </a:r>
            <a:endParaRPr lang="ru-RU" dirty="0"/>
          </a:p>
          <a:p>
            <a:endParaRPr lang="en-US" dirty="0"/>
          </a:p>
          <a:p>
            <a:r>
              <a:rPr lang="en-US" dirty="0" err="1"/>
              <a:t>По</a:t>
            </a:r>
            <a:r>
              <a:rPr lang="en-US" dirty="0"/>
              <a:t> </a:t>
            </a:r>
            <a:r>
              <a:rPr lang="en-US" dirty="0" err="1"/>
              <a:t>мере</a:t>
            </a:r>
            <a:r>
              <a:rPr lang="en-US" dirty="0"/>
              <a:t> </a:t>
            </a:r>
            <a:r>
              <a:rPr lang="en-US" dirty="0" err="1"/>
              <a:t>развития</a:t>
            </a:r>
            <a:r>
              <a:rPr lang="en-US" dirty="0"/>
              <a:t> </a:t>
            </a:r>
            <a:r>
              <a:rPr lang="en-US" dirty="0" err="1"/>
              <a:t>аппаратуры</a:t>
            </a:r>
            <a:r>
              <a:rPr lang="en-US" dirty="0"/>
              <a:t> </a:t>
            </a:r>
            <a:r>
              <a:rPr lang="en-US" dirty="0" err="1"/>
              <a:t>ресурсов</a:t>
            </a:r>
            <a:r>
              <a:rPr lang="en-US" dirty="0"/>
              <a:t> </a:t>
            </a:r>
            <a:r>
              <a:rPr lang="en-US" dirty="0" err="1"/>
              <a:t>становится</a:t>
            </a:r>
            <a:r>
              <a:rPr lang="en-US" dirty="0"/>
              <a:t> </a:t>
            </a:r>
            <a:r>
              <a:rPr lang="en-US" dirty="0" err="1"/>
              <a:t>больше</a:t>
            </a:r>
            <a:r>
              <a:rPr lang="en-US" dirty="0"/>
              <a:t>. </a:t>
            </a:r>
            <a:r>
              <a:rPr lang="en-US" dirty="0" err="1"/>
              <a:t>Тогда</a:t>
            </a:r>
            <a:r>
              <a:rPr lang="en-US" dirty="0"/>
              <a:t> </a:t>
            </a:r>
            <a:r>
              <a:rPr lang="en-US" dirty="0" err="1"/>
              <a:t>появляются</a:t>
            </a:r>
            <a:r>
              <a:rPr lang="en-US" dirty="0"/>
              <a:t> </a:t>
            </a:r>
            <a:r>
              <a:rPr lang="en-US" dirty="0" err="1"/>
              <a:t>более</a:t>
            </a:r>
            <a:r>
              <a:rPr lang="en-US" dirty="0"/>
              <a:t> </a:t>
            </a:r>
            <a:r>
              <a:rPr lang="en-US" dirty="0" err="1"/>
              <a:t>высокоуровневые</a:t>
            </a:r>
            <a:r>
              <a:rPr lang="en-US" dirty="0"/>
              <a:t> </a:t>
            </a:r>
            <a:r>
              <a:rPr lang="en-US" dirty="0" err="1"/>
              <a:t>языки</a:t>
            </a:r>
            <a:r>
              <a:rPr lang="en-US" dirty="0"/>
              <a:t>, </a:t>
            </a:r>
            <a:r>
              <a:rPr lang="en-US" dirty="0" err="1"/>
              <a:t>защита</a:t>
            </a:r>
            <a:r>
              <a:rPr lang="en-US" dirty="0"/>
              <a:t> </a:t>
            </a:r>
            <a:r>
              <a:rPr lang="en-US" dirty="0" err="1"/>
              <a:t>памяти</a:t>
            </a:r>
            <a:r>
              <a:rPr lang="en-US" dirty="0"/>
              <a:t>, </a:t>
            </a:r>
            <a:r>
              <a:rPr lang="en-US" dirty="0" err="1"/>
              <a:t>многозадачность</a:t>
            </a:r>
            <a:r>
              <a:rPr lang="en-US" dirty="0"/>
              <a:t>, </a:t>
            </a:r>
            <a:r>
              <a:rPr lang="en-US" dirty="0" err="1"/>
              <a:t>развитые</a:t>
            </a:r>
            <a:r>
              <a:rPr lang="en-US" dirty="0"/>
              <a:t> </a:t>
            </a:r>
            <a:r>
              <a:rPr lang="en-US" dirty="0" err="1"/>
              <a:t>файловые</a:t>
            </a:r>
            <a:r>
              <a:rPr lang="en-US" dirty="0"/>
              <a:t> </a:t>
            </a:r>
            <a:r>
              <a:rPr lang="en-US" dirty="0" err="1"/>
              <a:t>системы</a:t>
            </a:r>
            <a:r>
              <a:rPr lang="en-US" dirty="0"/>
              <a:t> и </a:t>
            </a:r>
            <a:r>
              <a:rPr lang="en-US" dirty="0" err="1"/>
              <a:t>другие</a:t>
            </a:r>
            <a:r>
              <a:rPr lang="en-US" dirty="0"/>
              <a:t> </a:t>
            </a:r>
            <a:r>
              <a:rPr lang="en-US" dirty="0" err="1"/>
              <a:t>возможности</a:t>
            </a:r>
            <a:r>
              <a:rPr lang="en-US" dirty="0"/>
              <a:t>.</a:t>
            </a:r>
            <a:endParaRPr lang="ru-RU" dirty="0"/>
          </a:p>
          <a:p>
            <a:endParaRPr lang="en-US" dirty="0"/>
          </a:p>
          <a:p>
            <a:r>
              <a:rPr lang="en-US" dirty="0" err="1"/>
              <a:t>Но</a:t>
            </a:r>
            <a:r>
              <a:rPr lang="en-US" dirty="0"/>
              <a:t> </a:t>
            </a:r>
            <a:r>
              <a:rPr lang="en-US" dirty="0" err="1"/>
              <a:t>затем</a:t>
            </a:r>
            <a:r>
              <a:rPr lang="en-US" dirty="0"/>
              <a:t> </a:t>
            </a:r>
            <a:r>
              <a:rPr lang="en-US" dirty="0" err="1"/>
              <a:t>появляется</a:t>
            </a:r>
            <a:r>
              <a:rPr lang="en-US" dirty="0"/>
              <a:t> </a:t>
            </a:r>
            <a:r>
              <a:rPr lang="en-US" dirty="0" err="1"/>
              <a:t>новый</a:t>
            </a:r>
            <a:r>
              <a:rPr lang="en-US" dirty="0"/>
              <a:t> </a:t>
            </a:r>
            <a:r>
              <a:rPr lang="en-US" dirty="0" err="1"/>
              <a:t>класс</a:t>
            </a:r>
            <a:r>
              <a:rPr lang="en-US" dirty="0"/>
              <a:t> </a:t>
            </a:r>
            <a:r>
              <a:rPr lang="en-US" dirty="0" err="1"/>
              <a:t>устройств</a:t>
            </a:r>
            <a:r>
              <a:rPr lang="en-US" dirty="0"/>
              <a:t> — </a:t>
            </a:r>
            <a:r>
              <a:rPr lang="en-US" dirty="0" err="1"/>
              <a:t>например</a:t>
            </a:r>
            <a:r>
              <a:rPr lang="en-US" dirty="0"/>
              <a:t>, </a:t>
            </a:r>
            <a:r>
              <a:rPr lang="en-US" dirty="0" err="1"/>
              <a:t>ранние</a:t>
            </a:r>
            <a:r>
              <a:rPr lang="en-US" dirty="0"/>
              <a:t> </a:t>
            </a:r>
            <a:r>
              <a:rPr lang="en-US" dirty="0" err="1"/>
              <a:t>миникомпьютеры</a:t>
            </a:r>
            <a:r>
              <a:rPr lang="en-US" dirty="0"/>
              <a:t>, </a:t>
            </a:r>
            <a:r>
              <a:rPr lang="en-US" dirty="0" err="1"/>
              <a:t>микрокомпьютеры</a:t>
            </a:r>
            <a:r>
              <a:rPr lang="en-US" dirty="0"/>
              <a:t> </a:t>
            </a:r>
            <a:r>
              <a:rPr lang="en-US" dirty="0" err="1"/>
              <a:t>или</a:t>
            </a:r>
            <a:r>
              <a:rPr lang="en-US" dirty="0"/>
              <a:t> </a:t>
            </a:r>
            <a:r>
              <a:rPr lang="en-US" dirty="0" err="1"/>
              <a:t>встроенные</a:t>
            </a:r>
            <a:r>
              <a:rPr lang="en-US" dirty="0"/>
              <a:t> </a:t>
            </a:r>
            <a:r>
              <a:rPr lang="en-US" dirty="0" err="1"/>
              <a:t>системы</a:t>
            </a:r>
            <a:r>
              <a:rPr lang="en-US" dirty="0"/>
              <a:t>. У </a:t>
            </a:r>
            <a:r>
              <a:rPr lang="en-US" dirty="0" err="1"/>
              <a:t>них</a:t>
            </a:r>
            <a:r>
              <a:rPr lang="en-US" dirty="0"/>
              <a:t> </a:t>
            </a:r>
            <a:r>
              <a:rPr lang="en-US" dirty="0" err="1"/>
              <a:t>снова</a:t>
            </a:r>
            <a:r>
              <a:rPr lang="en-US" dirty="0"/>
              <a:t> </a:t>
            </a:r>
            <a:r>
              <a:rPr lang="en-US" dirty="0" err="1"/>
              <a:t>мало</a:t>
            </a:r>
            <a:r>
              <a:rPr lang="en-US" dirty="0"/>
              <a:t> </a:t>
            </a:r>
            <a:r>
              <a:rPr lang="en-US" dirty="0" err="1"/>
              <a:t>ресурсов</a:t>
            </a:r>
            <a:r>
              <a:rPr lang="en-US" dirty="0"/>
              <a:t>, </a:t>
            </a:r>
            <a:r>
              <a:rPr lang="en-US" dirty="0" err="1"/>
              <a:t>поэтому</a:t>
            </a:r>
            <a:r>
              <a:rPr lang="en-US" dirty="0"/>
              <a:t> </a:t>
            </a:r>
            <a:r>
              <a:rPr lang="en-US" dirty="0" err="1"/>
              <a:t>развитие</a:t>
            </a:r>
            <a:r>
              <a:rPr lang="en-US" dirty="0"/>
              <a:t> </a:t>
            </a:r>
            <a:r>
              <a:rPr lang="en-US" dirty="0" err="1"/>
              <a:t>как</a:t>
            </a:r>
            <a:r>
              <a:rPr lang="en-US" dirty="0"/>
              <a:t> </a:t>
            </a:r>
            <a:r>
              <a:rPr lang="en-US" dirty="0" err="1"/>
              <a:t>будто</a:t>
            </a:r>
            <a:r>
              <a:rPr lang="en-US" dirty="0"/>
              <a:t> </a:t>
            </a:r>
            <a:r>
              <a:rPr lang="en-US" dirty="0" err="1"/>
              <a:t>начинается</a:t>
            </a:r>
            <a:r>
              <a:rPr lang="en-US" dirty="0"/>
              <a:t> </a:t>
            </a:r>
            <a:r>
              <a:rPr lang="en-US" dirty="0" err="1"/>
              <a:t>сначала</a:t>
            </a:r>
            <a:r>
              <a:rPr lang="en-US" dirty="0"/>
              <a:t>.</a:t>
            </a:r>
            <a:endParaRPr lang="ru-RU" dirty="0"/>
          </a:p>
          <a:p>
            <a:endParaRPr lang="en-US" dirty="0"/>
          </a:p>
          <a:p>
            <a:r>
              <a:rPr lang="en-US" dirty="0" err="1"/>
              <a:t>Позже</a:t>
            </a:r>
            <a:r>
              <a:rPr lang="en-US" dirty="0"/>
              <a:t> </a:t>
            </a:r>
            <a:r>
              <a:rPr lang="en-US" dirty="0" err="1"/>
              <a:t>эти</a:t>
            </a:r>
            <a:r>
              <a:rPr lang="en-US" dirty="0"/>
              <a:t> </a:t>
            </a:r>
            <a:r>
              <a:rPr lang="en-US" dirty="0" err="1"/>
              <a:t>устройства</a:t>
            </a:r>
            <a:r>
              <a:rPr lang="en-US" dirty="0"/>
              <a:t> </a:t>
            </a:r>
            <a:r>
              <a:rPr lang="en-US" dirty="0" err="1"/>
              <a:t>становятся</a:t>
            </a:r>
            <a:r>
              <a:rPr lang="en-US" dirty="0"/>
              <a:t> </a:t>
            </a:r>
            <a:r>
              <a:rPr lang="en-US" dirty="0" err="1"/>
              <a:t>мощнее</a:t>
            </a:r>
            <a:r>
              <a:rPr lang="en-US" dirty="0"/>
              <a:t> — и </a:t>
            </a:r>
            <a:r>
              <a:rPr lang="en-US" dirty="0" err="1"/>
              <a:t>многие</a:t>
            </a:r>
            <a:r>
              <a:rPr lang="en-US" dirty="0"/>
              <a:t> </a:t>
            </a:r>
            <a:r>
              <a:rPr lang="en-US" dirty="0" err="1"/>
              <a:t>уже</a:t>
            </a:r>
            <a:r>
              <a:rPr lang="en-US" dirty="0"/>
              <a:t> </a:t>
            </a:r>
            <a:r>
              <a:rPr lang="en-US" dirty="0" err="1"/>
              <a:t>известные</a:t>
            </a:r>
            <a:r>
              <a:rPr lang="en-US" dirty="0"/>
              <a:t> </a:t>
            </a:r>
            <a:r>
              <a:rPr lang="en-US" dirty="0" err="1"/>
              <a:t>механизмы</a:t>
            </a:r>
            <a:r>
              <a:rPr lang="en-US" dirty="0"/>
              <a:t> </a:t>
            </a:r>
            <a:r>
              <a:rPr lang="en-US" dirty="0" err="1"/>
              <a:t>возвращаются</a:t>
            </a:r>
            <a:r>
              <a:rPr lang="en-US" dirty="0"/>
              <a:t>.</a:t>
            </a:r>
          </a:p>
          <a:p>
            <a:r>
              <a:rPr lang="en-US" dirty="0" err="1"/>
              <a:t>Поэтому</a:t>
            </a:r>
            <a:r>
              <a:rPr lang="en-US" dirty="0"/>
              <a:t> </a:t>
            </a:r>
            <a:r>
              <a:rPr lang="en-US" dirty="0" err="1"/>
              <a:t>полезно</a:t>
            </a:r>
            <a:r>
              <a:rPr lang="en-US" dirty="0"/>
              <a:t> </a:t>
            </a:r>
            <a:r>
              <a:rPr lang="en-US" dirty="0" err="1"/>
              <a:t>оценивать</a:t>
            </a:r>
            <a:r>
              <a:rPr lang="en-US" dirty="0"/>
              <a:t> </a:t>
            </a:r>
            <a:r>
              <a:rPr lang="en-US" dirty="0" err="1"/>
              <a:t>архитектурные</a:t>
            </a:r>
            <a:r>
              <a:rPr lang="en-US" dirty="0"/>
              <a:t> </a:t>
            </a:r>
            <a:r>
              <a:rPr lang="en-US" dirty="0" err="1"/>
              <a:t>решения</a:t>
            </a:r>
            <a:r>
              <a:rPr lang="en-US" dirty="0"/>
              <a:t> </a:t>
            </a:r>
            <a:r>
              <a:rPr lang="en-US" dirty="0" err="1"/>
              <a:t>не</a:t>
            </a:r>
            <a:r>
              <a:rPr lang="en-US" dirty="0"/>
              <a:t> в </a:t>
            </a:r>
            <a:r>
              <a:rPr lang="en-US" dirty="0" err="1"/>
              <a:t>категориях</a:t>
            </a:r>
            <a:r>
              <a:rPr lang="en-US" dirty="0"/>
              <a:t> «</a:t>
            </a:r>
            <a:r>
              <a:rPr lang="en-US" dirty="0" err="1"/>
              <a:t>устаревшее</a:t>
            </a:r>
            <a:r>
              <a:rPr lang="en-US" dirty="0"/>
              <a:t>» и «</a:t>
            </a:r>
            <a:r>
              <a:rPr lang="en-US" dirty="0" err="1"/>
              <a:t>современное</a:t>
            </a:r>
            <a:r>
              <a:rPr lang="en-US" dirty="0"/>
              <a:t>», а </a:t>
            </a:r>
            <a:r>
              <a:rPr lang="en-US" dirty="0" err="1"/>
              <a:t>спрашивать</a:t>
            </a:r>
            <a:r>
              <a:rPr lang="en-US" dirty="0"/>
              <a:t>: </a:t>
            </a:r>
            <a:r>
              <a:rPr lang="en-US" b="1" dirty="0" err="1"/>
              <a:t>для</a:t>
            </a:r>
            <a:r>
              <a:rPr lang="en-US" b="1" dirty="0"/>
              <a:t> </a:t>
            </a:r>
            <a:r>
              <a:rPr lang="en-US" b="1" dirty="0" err="1"/>
              <a:t>каких</a:t>
            </a:r>
            <a:r>
              <a:rPr lang="en-US" b="1" dirty="0"/>
              <a:t> </a:t>
            </a:r>
            <a:r>
              <a:rPr lang="en-US" b="1" dirty="0" err="1"/>
              <a:t>аппаратных</a:t>
            </a:r>
            <a:r>
              <a:rPr lang="en-US" b="1" dirty="0"/>
              <a:t> </a:t>
            </a:r>
            <a:r>
              <a:rPr lang="en-US" b="1" dirty="0" err="1"/>
              <a:t>ограничений</a:t>
            </a:r>
            <a:r>
              <a:rPr lang="en-US" b="1" dirty="0"/>
              <a:t> </a:t>
            </a:r>
            <a:r>
              <a:rPr lang="en-US" b="1" dirty="0" err="1"/>
              <a:t>это</a:t>
            </a:r>
            <a:r>
              <a:rPr lang="en-US" b="1" dirty="0"/>
              <a:t> </a:t>
            </a:r>
            <a:r>
              <a:rPr lang="en-US" b="1" dirty="0" err="1"/>
              <a:t>решение</a:t>
            </a:r>
            <a:r>
              <a:rPr lang="en-US" b="1" dirty="0"/>
              <a:t> </a:t>
            </a:r>
            <a:r>
              <a:rPr lang="en-US" b="1" dirty="0" err="1"/>
              <a:t>было</a:t>
            </a:r>
            <a:r>
              <a:rPr lang="en-US" b="1" dirty="0"/>
              <a:t> </a:t>
            </a:r>
            <a:r>
              <a:rPr lang="en-US" b="1" dirty="0" err="1"/>
              <a:t>разумным</a:t>
            </a:r>
            <a:r>
              <a:rPr lang="en-US" b="1" dirty="0"/>
              <a:t>?</a:t>
            </a:r>
            <a:endParaRPr lang="en-US" dirty="0"/>
          </a:p>
          <a:p>
            <a:endParaRPr lang="en-US" dirty="0"/>
          </a:p>
        </p:txBody>
      </p:sp>
      <p:sp>
        <p:nvSpPr>
          <p:cNvPr id="4" name="Slide Number Placeholder 3"/>
          <p:cNvSpPr>
            <a:spLocks noGrp="1"/>
          </p:cNvSpPr>
          <p:nvPr>
            <p:ph type="sldNum" sz="quarter" idx="5"/>
          </p:nvPr>
        </p:nvSpPr>
        <p:spPr/>
        <p:txBody>
          <a:bodyPr/>
          <a:lstStyle/>
          <a:p>
            <a:fld id="{A3EE74EF-BE85-44F3-968F-E74DD74A629E}" type="slidenum">
              <a:rPr lang="en-US" smtClean="0"/>
              <a:t>27</a:t>
            </a:fld>
            <a:endParaRPr lang="en-US"/>
          </a:p>
        </p:txBody>
      </p:sp>
    </p:spTree>
    <p:extLst>
      <p:ext uri="{BB962C8B-B14F-4D97-AF65-F5344CB8AC3E}">
        <p14:creationId xmlns:p14="http://schemas.microsoft.com/office/powerpoint/2010/main" val="22987132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Посмотрим</a:t>
            </a:r>
            <a:r>
              <a:rPr lang="en-US" dirty="0"/>
              <a:t> </a:t>
            </a:r>
            <a:r>
              <a:rPr lang="en-US" dirty="0" err="1"/>
              <a:t>на</a:t>
            </a:r>
            <a:r>
              <a:rPr lang="en-US" dirty="0"/>
              <a:t> </a:t>
            </a:r>
            <a:r>
              <a:rPr lang="en-US" dirty="0" err="1"/>
              <a:t>несколько</a:t>
            </a:r>
            <a:r>
              <a:rPr lang="en-US" dirty="0"/>
              <a:t> </a:t>
            </a:r>
            <a:r>
              <a:rPr lang="en-US" dirty="0" err="1"/>
              <a:t>примеров</a:t>
            </a:r>
            <a:r>
              <a:rPr lang="en-US" dirty="0"/>
              <a:t> </a:t>
            </a:r>
            <a:r>
              <a:rPr lang="en-US" dirty="0" err="1"/>
              <a:t>этой</a:t>
            </a:r>
            <a:r>
              <a:rPr lang="en-US" dirty="0"/>
              <a:t> </a:t>
            </a:r>
            <a:r>
              <a:rPr lang="en-US" dirty="0" err="1"/>
              <a:t>закономерности</a:t>
            </a:r>
            <a:r>
              <a:rPr lang="en-US" dirty="0"/>
              <a:t>.</a:t>
            </a:r>
            <a:endParaRPr lang="ru-RU" dirty="0"/>
          </a:p>
          <a:p>
            <a:endParaRPr lang="en-US" dirty="0"/>
          </a:p>
          <a:p>
            <a:r>
              <a:rPr lang="en-US" dirty="0" err="1"/>
              <a:t>Первый</a:t>
            </a:r>
            <a:r>
              <a:rPr lang="en-US" dirty="0"/>
              <a:t> </a:t>
            </a:r>
            <a:r>
              <a:rPr lang="en-US" dirty="0" err="1"/>
              <a:t>пример</a:t>
            </a:r>
            <a:r>
              <a:rPr lang="en-US" dirty="0"/>
              <a:t> — </a:t>
            </a:r>
            <a:r>
              <a:rPr lang="en-US" dirty="0" err="1"/>
              <a:t>память</a:t>
            </a:r>
            <a:r>
              <a:rPr lang="en-US" dirty="0"/>
              <a:t> и </a:t>
            </a:r>
            <a:r>
              <a:rPr lang="en-US" dirty="0" err="1"/>
              <a:t>программное</a:t>
            </a:r>
            <a:r>
              <a:rPr lang="en-US" dirty="0"/>
              <a:t> </a:t>
            </a:r>
            <a:r>
              <a:rPr lang="en-US" dirty="0" err="1"/>
              <a:t>обеспечение</a:t>
            </a:r>
            <a:r>
              <a:rPr lang="en-US" dirty="0"/>
              <a:t>.</a:t>
            </a:r>
          </a:p>
          <a:p>
            <a:r>
              <a:rPr lang="en-US" dirty="0" err="1"/>
              <a:t>На</a:t>
            </a:r>
            <a:r>
              <a:rPr lang="en-US" dirty="0"/>
              <a:t> </a:t>
            </a:r>
            <a:r>
              <a:rPr lang="en-US" dirty="0" err="1"/>
              <a:t>ранних</a:t>
            </a:r>
            <a:r>
              <a:rPr lang="en-US" dirty="0"/>
              <a:t> </a:t>
            </a:r>
            <a:r>
              <a:rPr lang="en-US" dirty="0" err="1"/>
              <a:t>машинах</a:t>
            </a:r>
            <a:r>
              <a:rPr lang="en-US" dirty="0"/>
              <a:t> </a:t>
            </a:r>
            <a:r>
              <a:rPr lang="en-US" dirty="0" err="1"/>
              <a:t>памяти</a:t>
            </a:r>
            <a:r>
              <a:rPr lang="en-US" dirty="0"/>
              <a:t> </a:t>
            </a:r>
            <a:r>
              <a:rPr lang="en-US" dirty="0" err="1"/>
              <a:t>было</a:t>
            </a:r>
            <a:r>
              <a:rPr lang="en-US" dirty="0"/>
              <a:t> </a:t>
            </a:r>
            <a:r>
              <a:rPr lang="en-US" dirty="0" err="1"/>
              <a:t>очень</a:t>
            </a:r>
            <a:r>
              <a:rPr lang="en-US" dirty="0"/>
              <a:t> </a:t>
            </a:r>
            <a:r>
              <a:rPr lang="en-US" dirty="0" err="1"/>
              <a:t>мало</a:t>
            </a:r>
            <a:r>
              <a:rPr lang="en-US" dirty="0"/>
              <a:t>, </a:t>
            </a:r>
            <a:r>
              <a:rPr lang="en-US" dirty="0" err="1"/>
              <a:t>поэтому</a:t>
            </a:r>
            <a:r>
              <a:rPr lang="en-US" dirty="0"/>
              <a:t> </a:t>
            </a:r>
            <a:r>
              <a:rPr lang="en-US" dirty="0" err="1"/>
              <a:t>программы</a:t>
            </a:r>
            <a:r>
              <a:rPr lang="en-US" dirty="0"/>
              <a:t>, </a:t>
            </a:r>
            <a:r>
              <a:rPr lang="en-US" dirty="0" err="1"/>
              <a:t>включая</a:t>
            </a:r>
            <a:r>
              <a:rPr lang="en-US" dirty="0"/>
              <a:t> </a:t>
            </a:r>
            <a:r>
              <a:rPr lang="en-US" dirty="0" err="1"/>
              <a:t>системное</a:t>
            </a:r>
            <a:r>
              <a:rPr lang="en-US" dirty="0"/>
              <a:t> ПО, </a:t>
            </a:r>
            <a:r>
              <a:rPr lang="en-US" dirty="0" err="1"/>
              <a:t>часто</a:t>
            </a:r>
            <a:r>
              <a:rPr lang="en-US" dirty="0"/>
              <a:t> </a:t>
            </a:r>
            <a:r>
              <a:rPr lang="en-US" dirty="0" err="1"/>
              <a:t>писали</a:t>
            </a:r>
            <a:r>
              <a:rPr lang="en-US" dirty="0"/>
              <a:t> </a:t>
            </a:r>
            <a:r>
              <a:rPr lang="en-US" dirty="0" err="1"/>
              <a:t>на</a:t>
            </a:r>
            <a:r>
              <a:rPr lang="en-US" dirty="0"/>
              <a:t> </a:t>
            </a:r>
            <a:r>
              <a:rPr lang="en-US" dirty="0" err="1"/>
              <a:t>ассемблере</a:t>
            </a:r>
            <a:r>
              <a:rPr lang="en-US" dirty="0"/>
              <a:t>. </a:t>
            </a:r>
            <a:r>
              <a:rPr lang="en-US" dirty="0" err="1"/>
              <a:t>Когда</a:t>
            </a:r>
            <a:r>
              <a:rPr lang="en-US" dirty="0"/>
              <a:t> </a:t>
            </a:r>
            <a:r>
              <a:rPr lang="en-US" dirty="0" err="1"/>
              <a:t>объём</a:t>
            </a:r>
            <a:r>
              <a:rPr lang="en-US" dirty="0"/>
              <a:t> </a:t>
            </a:r>
            <a:r>
              <a:rPr lang="en-US" dirty="0" err="1"/>
              <a:t>памяти</a:t>
            </a:r>
            <a:r>
              <a:rPr lang="en-US" dirty="0"/>
              <a:t> </a:t>
            </a:r>
            <a:r>
              <a:rPr lang="en-US" dirty="0" err="1"/>
              <a:t>вырос</a:t>
            </a:r>
            <a:r>
              <a:rPr lang="en-US" dirty="0"/>
              <a:t>, </a:t>
            </a:r>
            <a:r>
              <a:rPr lang="en-US" dirty="0" err="1"/>
              <a:t>стало</a:t>
            </a:r>
            <a:r>
              <a:rPr lang="en-US" dirty="0"/>
              <a:t> </a:t>
            </a:r>
            <a:r>
              <a:rPr lang="en-US" dirty="0" err="1"/>
              <a:t>возможно</a:t>
            </a:r>
            <a:r>
              <a:rPr lang="en-US" dirty="0"/>
              <a:t> </a:t>
            </a:r>
            <a:r>
              <a:rPr lang="en-US" dirty="0" err="1"/>
              <a:t>широко</a:t>
            </a:r>
            <a:r>
              <a:rPr lang="en-US" dirty="0"/>
              <a:t> </a:t>
            </a:r>
            <a:r>
              <a:rPr lang="en-US" dirty="0" err="1"/>
              <a:t>использовать</a:t>
            </a:r>
            <a:r>
              <a:rPr lang="en-US" dirty="0"/>
              <a:t> </a:t>
            </a:r>
            <a:r>
              <a:rPr lang="en-US" dirty="0" err="1"/>
              <a:t>компиляторы</a:t>
            </a:r>
            <a:r>
              <a:rPr lang="en-US" dirty="0"/>
              <a:t> и </a:t>
            </a:r>
            <a:r>
              <a:rPr lang="en-US" dirty="0" err="1"/>
              <a:t>языки</a:t>
            </a:r>
            <a:r>
              <a:rPr lang="en-US" dirty="0"/>
              <a:t> </a:t>
            </a:r>
            <a:r>
              <a:rPr lang="en-US" dirty="0" err="1"/>
              <a:t>более</a:t>
            </a:r>
            <a:r>
              <a:rPr lang="en-US" dirty="0"/>
              <a:t> </a:t>
            </a:r>
            <a:r>
              <a:rPr lang="en-US" dirty="0" err="1"/>
              <a:t>высокого</a:t>
            </a:r>
            <a:r>
              <a:rPr lang="en-US" dirty="0"/>
              <a:t> </a:t>
            </a:r>
            <a:r>
              <a:rPr lang="en-US" dirty="0" err="1"/>
              <a:t>уровня</a:t>
            </a:r>
            <a:r>
              <a:rPr lang="en-US" dirty="0"/>
              <a:t>.</a:t>
            </a:r>
          </a:p>
          <a:p>
            <a:r>
              <a:rPr lang="en-US" dirty="0" err="1"/>
              <a:t>Но</a:t>
            </a:r>
            <a:r>
              <a:rPr lang="en-US" dirty="0"/>
              <a:t> </a:t>
            </a:r>
            <a:r>
              <a:rPr lang="en-US" dirty="0" err="1"/>
              <a:t>затем</a:t>
            </a:r>
            <a:r>
              <a:rPr lang="en-US" dirty="0"/>
              <a:t> </a:t>
            </a:r>
            <a:r>
              <a:rPr lang="en-US" dirty="0" err="1"/>
              <a:t>появились</a:t>
            </a:r>
            <a:r>
              <a:rPr lang="en-US" dirty="0"/>
              <a:t> </a:t>
            </a:r>
            <a:r>
              <a:rPr lang="en-US" dirty="0" err="1"/>
              <a:t>гораздо</a:t>
            </a:r>
            <a:r>
              <a:rPr lang="en-US" dirty="0"/>
              <a:t> </a:t>
            </a:r>
            <a:r>
              <a:rPr lang="en-US" dirty="0" err="1"/>
              <a:t>меньшие</a:t>
            </a:r>
            <a:r>
              <a:rPr lang="en-US" dirty="0"/>
              <a:t> и </a:t>
            </a:r>
            <a:r>
              <a:rPr lang="en-US" dirty="0" err="1"/>
              <a:t>более</a:t>
            </a:r>
            <a:r>
              <a:rPr lang="en-US" dirty="0"/>
              <a:t> </a:t>
            </a:r>
            <a:r>
              <a:rPr lang="en-US" dirty="0" err="1"/>
              <a:t>дешёвые</a:t>
            </a:r>
            <a:r>
              <a:rPr lang="en-US" dirty="0"/>
              <a:t> </a:t>
            </a:r>
            <a:r>
              <a:rPr lang="en-US" dirty="0" err="1"/>
              <a:t>компьютеры</a:t>
            </a:r>
            <a:r>
              <a:rPr lang="en-US" dirty="0"/>
              <a:t> с </a:t>
            </a:r>
            <a:r>
              <a:rPr lang="en-US" dirty="0" err="1"/>
              <a:t>очень</a:t>
            </a:r>
            <a:r>
              <a:rPr lang="en-US" dirty="0"/>
              <a:t> </a:t>
            </a:r>
            <a:r>
              <a:rPr lang="en-US" dirty="0" err="1"/>
              <a:t>ограниченной</a:t>
            </a:r>
            <a:r>
              <a:rPr lang="en-US" dirty="0"/>
              <a:t> </a:t>
            </a:r>
            <a:r>
              <a:rPr lang="en-US" dirty="0" err="1"/>
              <a:t>памятью</a:t>
            </a:r>
            <a:r>
              <a:rPr lang="en-US" dirty="0"/>
              <a:t> — и </a:t>
            </a:r>
            <a:r>
              <a:rPr lang="en-US" dirty="0" err="1"/>
              <a:t>там</a:t>
            </a:r>
            <a:r>
              <a:rPr lang="en-US" dirty="0"/>
              <a:t> </a:t>
            </a:r>
            <a:r>
              <a:rPr lang="en-US" dirty="0" err="1"/>
              <a:t>разработчикам</a:t>
            </a:r>
            <a:r>
              <a:rPr lang="en-US" dirty="0"/>
              <a:t> </a:t>
            </a:r>
            <a:r>
              <a:rPr lang="en-US" dirty="0" err="1"/>
              <a:t>снова</a:t>
            </a:r>
            <a:r>
              <a:rPr lang="en-US" dirty="0"/>
              <a:t> </a:t>
            </a:r>
            <a:r>
              <a:rPr lang="en-US" dirty="0" err="1"/>
              <a:t>пришлось</a:t>
            </a:r>
            <a:r>
              <a:rPr lang="en-US" dirty="0"/>
              <a:t> </a:t>
            </a:r>
            <a:r>
              <a:rPr lang="en-US" dirty="0" err="1"/>
              <a:t>использовать</a:t>
            </a:r>
            <a:r>
              <a:rPr lang="en-US" dirty="0"/>
              <a:t> </a:t>
            </a:r>
            <a:r>
              <a:rPr lang="en-US" dirty="0" err="1"/>
              <a:t>более</a:t>
            </a:r>
            <a:r>
              <a:rPr lang="en-US" dirty="0"/>
              <a:t> </a:t>
            </a:r>
            <a:r>
              <a:rPr lang="en-US" dirty="0" err="1"/>
              <a:t>низкоуровневые</a:t>
            </a:r>
            <a:r>
              <a:rPr lang="en-US" dirty="0"/>
              <a:t> </a:t>
            </a:r>
            <a:r>
              <a:rPr lang="en-US" dirty="0" err="1"/>
              <a:t>решения</a:t>
            </a:r>
            <a:r>
              <a:rPr lang="en-US" dirty="0"/>
              <a:t>. </a:t>
            </a:r>
            <a:r>
              <a:rPr lang="en-US" dirty="0" err="1"/>
              <a:t>Позднее</a:t>
            </a:r>
            <a:r>
              <a:rPr lang="en-US" dirty="0"/>
              <a:t>, </a:t>
            </a:r>
            <a:r>
              <a:rPr lang="en-US" dirty="0" err="1"/>
              <a:t>когда</a:t>
            </a:r>
            <a:r>
              <a:rPr lang="en-US" dirty="0"/>
              <a:t> </a:t>
            </a:r>
            <a:r>
              <a:rPr lang="en-US" dirty="0" err="1"/>
              <a:t>эти</a:t>
            </a:r>
            <a:r>
              <a:rPr lang="en-US" dirty="0"/>
              <a:t> </a:t>
            </a:r>
            <a:r>
              <a:rPr lang="en-US" dirty="0" err="1"/>
              <a:t>системы</a:t>
            </a:r>
            <a:r>
              <a:rPr lang="en-US" dirty="0"/>
              <a:t> </a:t>
            </a:r>
            <a:r>
              <a:rPr lang="en-US" dirty="0" err="1"/>
              <a:t>стали</a:t>
            </a:r>
            <a:r>
              <a:rPr lang="en-US" dirty="0"/>
              <a:t> </a:t>
            </a:r>
            <a:r>
              <a:rPr lang="en-US" dirty="0" err="1"/>
              <a:t>мощнее</a:t>
            </a:r>
            <a:r>
              <a:rPr lang="en-US" dirty="0"/>
              <a:t>, </a:t>
            </a:r>
            <a:r>
              <a:rPr lang="en-US" dirty="0" err="1"/>
              <a:t>высокоуровневое</a:t>
            </a:r>
            <a:r>
              <a:rPr lang="en-US" dirty="0"/>
              <a:t> </a:t>
            </a:r>
            <a:r>
              <a:rPr lang="en-US" dirty="0" err="1"/>
              <a:t>программирование</a:t>
            </a:r>
            <a:r>
              <a:rPr lang="en-US" dirty="0"/>
              <a:t> </a:t>
            </a:r>
            <a:r>
              <a:rPr lang="en-US" dirty="0" err="1"/>
              <a:t>вернулось</a:t>
            </a:r>
            <a:r>
              <a:rPr lang="en-US" dirty="0"/>
              <a:t>.</a:t>
            </a:r>
          </a:p>
          <a:p>
            <a:endParaRPr lang="ru-RU" dirty="0"/>
          </a:p>
          <a:p>
            <a:r>
              <a:rPr lang="en-US" dirty="0" err="1"/>
              <a:t>Второй</a:t>
            </a:r>
            <a:r>
              <a:rPr lang="en-US" dirty="0"/>
              <a:t> </a:t>
            </a:r>
            <a:r>
              <a:rPr lang="en-US" dirty="0" err="1"/>
              <a:t>пример</a:t>
            </a:r>
            <a:r>
              <a:rPr lang="en-US" dirty="0"/>
              <a:t> — </a:t>
            </a:r>
            <a:r>
              <a:rPr lang="en-US" dirty="0" err="1"/>
              <a:t>защита</a:t>
            </a:r>
            <a:r>
              <a:rPr lang="en-US" dirty="0"/>
              <a:t> </a:t>
            </a:r>
            <a:r>
              <a:rPr lang="en-US" dirty="0" err="1"/>
              <a:t>процессов</a:t>
            </a:r>
            <a:r>
              <a:rPr lang="en-US" dirty="0"/>
              <a:t>.</a:t>
            </a:r>
          </a:p>
          <a:p>
            <a:r>
              <a:rPr lang="en-US" dirty="0" err="1"/>
              <a:t>Если</a:t>
            </a:r>
            <a:r>
              <a:rPr lang="en-US" dirty="0"/>
              <a:t> </a:t>
            </a:r>
            <a:r>
              <a:rPr lang="en-US" dirty="0" err="1"/>
              <a:t>компьютер</a:t>
            </a:r>
            <a:r>
              <a:rPr lang="en-US" dirty="0"/>
              <a:t> </a:t>
            </a:r>
            <a:r>
              <a:rPr lang="en-US" dirty="0" err="1"/>
              <a:t>выполняет</a:t>
            </a:r>
            <a:r>
              <a:rPr lang="en-US" dirty="0"/>
              <a:t> </a:t>
            </a:r>
            <a:r>
              <a:rPr lang="en-US" dirty="0" err="1"/>
              <a:t>одну</a:t>
            </a:r>
            <a:r>
              <a:rPr lang="en-US" dirty="0"/>
              <a:t> </a:t>
            </a:r>
            <a:r>
              <a:rPr lang="en-US" dirty="0" err="1"/>
              <a:t>программу</a:t>
            </a:r>
            <a:r>
              <a:rPr lang="en-US" dirty="0"/>
              <a:t>, </a:t>
            </a:r>
            <a:r>
              <a:rPr lang="en-US" dirty="0" err="1"/>
              <a:t>сложная</a:t>
            </a:r>
            <a:r>
              <a:rPr lang="en-US" dirty="0"/>
              <a:t> </a:t>
            </a:r>
            <a:r>
              <a:rPr lang="en-US" dirty="0" err="1"/>
              <a:t>аппаратная</a:t>
            </a:r>
            <a:r>
              <a:rPr lang="en-US" dirty="0"/>
              <a:t> </a:t>
            </a:r>
            <a:r>
              <a:rPr lang="en-US" dirty="0" err="1"/>
              <a:t>изоляция</a:t>
            </a:r>
            <a:r>
              <a:rPr lang="en-US" dirty="0"/>
              <a:t> </a:t>
            </a:r>
            <a:r>
              <a:rPr lang="en-US" dirty="0" err="1"/>
              <a:t>памяти</a:t>
            </a:r>
            <a:r>
              <a:rPr lang="en-US" dirty="0"/>
              <a:t> </a:t>
            </a:r>
            <a:r>
              <a:rPr lang="en-US" dirty="0" err="1"/>
              <a:t>ему</a:t>
            </a:r>
            <a:r>
              <a:rPr lang="en-US" dirty="0"/>
              <a:t> </a:t>
            </a:r>
            <a:r>
              <a:rPr lang="en-US" dirty="0" err="1"/>
              <a:t>не</a:t>
            </a:r>
            <a:r>
              <a:rPr lang="en-US" dirty="0"/>
              <a:t> </a:t>
            </a:r>
            <a:r>
              <a:rPr lang="en-US" dirty="0" err="1"/>
              <a:t>особенно</a:t>
            </a:r>
            <a:r>
              <a:rPr lang="en-US" dirty="0"/>
              <a:t> </a:t>
            </a:r>
            <a:r>
              <a:rPr lang="en-US" dirty="0" err="1"/>
              <a:t>нужна</a:t>
            </a:r>
            <a:r>
              <a:rPr lang="en-US" dirty="0"/>
              <a:t>. </a:t>
            </a:r>
            <a:r>
              <a:rPr lang="en-US" dirty="0" err="1"/>
              <a:t>Но</a:t>
            </a:r>
            <a:r>
              <a:rPr lang="en-US" dirty="0"/>
              <a:t> </a:t>
            </a:r>
            <a:r>
              <a:rPr lang="en-US" dirty="0" err="1"/>
              <a:t>когда</a:t>
            </a:r>
            <a:r>
              <a:rPr lang="en-US" dirty="0"/>
              <a:t> </a:t>
            </a:r>
            <a:r>
              <a:rPr lang="en-US" dirty="0" err="1"/>
              <a:t>мы</a:t>
            </a:r>
            <a:r>
              <a:rPr lang="en-US" dirty="0"/>
              <a:t> </a:t>
            </a:r>
            <a:r>
              <a:rPr lang="en-US" dirty="0" err="1"/>
              <a:t>хотим</a:t>
            </a:r>
            <a:r>
              <a:rPr lang="en-US" dirty="0"/>
              <a:t> </a:t>
            </a:r>
            <a:r>
              <a:rPr lang="en-US" dirty="0" err="1"/>
              <a:t>одновременно</a:t>
            </a:r>
            <a:r>
              <a:rPr lang="en-US" dirty="0"/>
              <a:t> </a:t>
            </a:r>
            <a:r>
              <a:rPr lang="en-US" dirty="0" err="1"/>
              <a:t>запускать</a:t>
            </a:r>
            <a:r>
              <a:rPr lang="en-US" dirty="0"/>
              <a:t> </a:t>
            </a:r>
            <a:r>
              <a:rPr lang="en-US" dirty="0" err="1"/>
              <a:t>программы</a:t>
            </a:r>
            <a:r>
              <a:rPr lang="en-US" dirty="0"/>
              <a:t> </a:t>
            </a:r>
            <a:r>
              <a:rPr lang="en-US" dirty="0" err="1"/>
              <a:t>разных</a:t>
            </a:r>
            <a:r>
              <a:rPr lang="en-US" dirty="0"/>
              <a:t> </a:t>
            </a:r>
            <a:r>
              <a:rPr lang="en-US" dirty="0" err="1"/>
              <a:t>пользователей</a:t>
            </a:r>
            <a:r>
              <a:rPr lang="en-US" dirty="0"/>
              <a:t>, </a:t>
            </a:r>
            <a:r>
              <a:rPr lang="en-US" dirty="0" err="1"/>
              <a:t>защита</a:t>
            </a:r>
            <a:r>
              <a:rPr lang="en-US" dirty="0"/>
              <a:t> </a:t>
            </a:r>
            <a:r>
              <a:rPr lang="en-US" dirty="0" err="1"/>
              <a:t>становится</a:t>
            </a:r>
            <a:r>
              <a:rPr lang="en-US" dirty="0"/>
              <a:t> </a:t>
            </a:r>
            <a:r>
              <a:rPr lang="en-US" dirty="0" err="1"/>
              <a:t>необходимой</a:t>
            </a:r>
            <a:r>
              <a:rPr lang="en-US" dirty="0"/>
              <a:t>: </a:t>
            </a:r>
            <a:r>
              <a:rPr lang="en-US" dirty="0" err="1"/>
              <a:t>один</a:t>
            </a:r>
            <a:r>
              <a:rPr lang="en-US" dirty="0"/>
              <a:t> </a:t>
            </a:r>
            <a:r>
              <a:rPr lang="en-US" dirty="0" err="1"/>
              <a:t>процесс</a:t>
            </a:r>
            <a:r>
              <a:rPr lang="en-US" dirty="0"/>
              <a:t> </a:t>
            </a:r>
            <a:r>
              <a:rPr lang="en-US" dirty="0" err="1"/>
              <a:t>не</a:t>
            </a:r>
            <a:r>
              <a:rPr lang="en-US" dirty="0"/>
              <a:t> </a:t>
            </a:r>
            <a:r>
              <a:rPr lang="en-US" dirty="0" err="1"/>
              <a:t>должен</a:t>
            </a:r>
            <a:r>
              <a:rPr lang="en-US" dirty="0"/>
              <a:t> </a:t>
            </a:r>
            <a:r>
              <a:rPr lang="en-US" dirty="0" err="1"/>
              <a:t>иметь</a:t>
            </a:r>
            <a:r>
              <a:rPr lang="en-US" dirty="0"/>
              <a:t> </a:t>
            </a:r>
            <a:r>
              <a:rPr lang="en-US" dirty="0" err="1"/>
              <a:t>возможность</a:t>
            </a:r>
            <a:r>
              <a:rPr lang="en-US" dirty="0"/>
              <a:t> </a:t>
            </a:r>
            <a:r>
              <a:rPr lang="en-US" dirty="0" err="1"/>
              <a:t>испортить</a:t>
            </a:r>
            <a:r>
              <a:rPr lang="en-US" dirty="0"/>
              <a:t> </a:t>
            </a:r>
            <a:r>
              <a:rPr lang="en-US" dirty="0" err="1"/>
              <a:t>память</a:t>
            </a:r>
            <a:r>
              <a:rPr lang="en-US" dirty="0"/>
              <a:t> </a:t>
            </a:r>
            <a:r>
              <a:rPr lang="en-US" dirty="0" err="1"/>
              <a:t>другого</a:t>
            </a:r>
            <a:r>
              <a:rPr lang="en-US" dirty="0"/>
              <a:t> </a:t>
            </a:r>
            <a:r>
              <a:rPr lang="en-US" dirty="0" err="1"/>
              <a:t>или</a:t>
            </a:r>
            <a:r>
              <a:rPr lang="en-US" dirty="0"/>
              <a:t> </a:t>
            </a:r>
            <a:r>
              <a:rPr lang="en-US" dirty="0" err="1"/>
              <a:t>ядра</a:t>
            </a:r>
            <a:r>
              <a:rPr lang="en-US" dirty="0"/>
              <a:t>.</a:t>
            </a:r>
          </a:p>
          <a:p>
            <a:r>
              <a:rPr lang="en-US" dirty="0" err="1"/>
              <a:t>Поэтому</a:t>
            </a:r>
            <a:r>
              <a:rPr lang="en-US" dirty="0"/>
              <a:t> </a:t>
            </a:r>
            <a:r>
              <a:rPr lang="en-US" dirty="0" err="1"/>
              <a:t>развитие</a:t>
            </a:r>
            <a:r>
              <a:rPr lang="en-US" dirty="0"/>
              <a:t> </a:t>
            </a:r>
            <a:r>
              <a:rPr lang="en-US" dirty="0" err="1"/>
              <a:t>аппаратной</a:t>
            </a:r>
            <a:r>
              <a:rPr lang="en-US" dirty="0"/>
              <a:t> </a:t>
            </a:r>
            <a:r>
              <a:rPr lang="en-US" dirty="0" err="1"/>
              <a:t>защиты</a:t>
            </a:r>
            <a:r>
              <a:rPr lang="en-US" dirty="0"/>
              <a:t> </a:t>
            </a:r>
            <a:r>
              <a:rPr lang="en-US" dirty="0" err="1"/>
              <a:t>тесно</a:t>
            </a:r>
            <a:r>
              <a:rPr lang="en-US" dirty="0"/>
              <a:t> </a:t>
            </a:r>
            <a:r>
              <a:rPr lang="en-US" dirty="0" err="1"/>
              <a:t>связано</a:t>
            </a:r>
            <a:r>
              <a:rPr lang="en-US" dirty="0"/>
              <a:t> с </a:t>
            </a:r>
            <a:r>
              <a:rPr lang="en-US" dirty="0" err="1"/>
              <a:t>развитием</a:t>
            </a:r>
            <a:r>
              <a:rPr lang="en-US" dirty="0"/>
              <a:t> </a:t>
            </a:r>
            <a:r>
              <a:rPr lang="en-US" dirty="0" err="1"/>
              <a:t>многозадачных</a:t>
            </a:r>
            <a:r>
              <a:rPr lang="en-US" dirty="0"/>
              <a:t> </a:t>
            </a:r>
            <a:r>
              <a:rPr lang="en-US" dirty="0" err="1"/>
              <a:t>операционных</a:t>
            </a:r>
            <a:r>
              <a:rPr lang="en-US" dirty="0"/>
              <a:t> </a:t>
            </a:r>
            <a:r>
              <a:rPr lang="en-US" dirty="0" err="1"/>
              <a:t>систем</a:t>
            </a:r>
            <a:r>
              <a:rPr lang="en-US" dirty="0"/>
              <a:t>.</a:t>
            </a:r>
          </a:p>
          <a:p>
            <a:endParaRPr lang="ru-RU" dirty="0"/>
          </a:p>
          <a:p>
            <a:r>
              <a:rPr lang="en-US" dirty="0" err="1"/>
              <a:t>Третий</a:t>
            </a:r>
            <a:r>
              <a:rPr lang="en-US" dirty="0"/>
              <a:t> </a:t>
            </a:r>
            <a:r>
              <a:rPr lang="en-US" dirty="0" err="1"/>
              <a:t>пример</a:t>
            </a:r>
            <a:r>
              <a:rPr lang="en-US" dirty="0"/>
              <a:t> — </a:t>
            </a:r>
            <a:r>
              <a:rPr lang="en-US" dirty="0" err="1"/>
              <a:t>хранение</a:t>
            </a:r>
            <a:r>
              <a:rPr lang="en-US" dirty="0"/>
              <a:t> </a:t>
            </a:r>
            <a:r>
              <a:rPr lang="en-US" dirty="0" err="1"/>
              <a:t>данных</a:t>
            </a:r>
            <a:r>
              <a:rPr lang="en-US" dirty="0"/>
              <a:t>.</a:t>
            </a:r>
          </a:p>
          <a:p>
            <a:r>
              <a:rPr lang="en-US" dirty="0" err="1"/>
              <a:t>Простейшим</a:t>
            </a:r>
            <a:r>
              <a:rPr lang="en-US" dirty="0"/>
              <a:t> </a:t>
            </a:r>
            <a:r>
              <a:rPr lang="en-US" dirty="0" err="1"/>
              <a:t>системам</a:t>
            </a:r>
            <a:r>
              <a:rPr lang="en-US" dirty="0"/>
              <a:t> </a:t>
            </a:r>
            <a:r>
              <a:rPr lang="en-US" dirty="0" err="1"/>
              <a:t>достаточно</a:t>
            </a:r>
            <a:r>
              <a:rPr lang="en-US" dirty="0"/>
              <a:t> </a:t>
            </a:r>
            <a:r>
              <a:rPr lang="en-US" dirty="0" err="1"/>
              <a:t>очень</a:t>
            </a:r>
            <a:r>
              <a:rPr lang="en-US" dirty="0"/>
              <a:t> </a:t>
            </a:r>
            <a:r>
              <a:rPr lang="en-US" dirty="0" err="1"/>
              <a:t>простой</a:t>
            </a:r>
            <a:r>
              <a:rPr lang="en-US" dirty="0"/>
              <a:t> </a:t>
            </a:r>
            <a:r>
              <a:rPr lang="en-US" dirty="0" err="1"/>
              <a:t>организации</a:t>
            </a:r>
            <a:r>
              <a:rPr lang="en-US" dirty="0"/>
              <a:t> </a:t>
            </a:r>
            <a:r>
              <a:rPr lang="en-US" dirty="0" err="1"/>
              <a:t>файлов</a:t>
            </a:r>
            <a:r>
              <a:rPr lang="en-US" dirty="0"/>
              <a:t>. </a:t>
            </a:r>
            <a:r>
              <a:rPr lang="en-US" dirty="0" err="1"/>
              <a:t>По</a:t>
            </a:r>
            <a:r>
              <a:rPr lang="en-US" dirty="0"/>
              <a:t> </a:t>
            </a:r>
            <a:r>
              <a:rPr lang="en-US" dirty="0" err="1"/>
              <a:t>мере</a:t>
            </a:r>
            <a:r>
              <a:rPr lang="en-US" dirty="0"/>
              <a:t> </a:t>
            </a:r>
            <a:r>
              <a:rPr lang="en-US" dirty="0" err="1"/>
              <a:t>роста</a:t>
            </a:r>
            <a:r>
              <a:rPr lang="en-US" dirty="0"/>
              <a:t> </a:t>
            </a:r>
            <a:r>
              <a:rPr lang="en-US" dirty="0" err="1"/>
              <a:t>количества</a:t>
            </a:r>
            <a:r>
              <a:rPr lang="en-US" dirty="0"/>
              <a:t> </a:t>
            </a:r>
            <a:r>
              <a:rPr lang="en-US" dirty="0" err="1"/>
              <a:t>программ</a:t>
            </a:r>
            <a:r>
              <a:rPr lang="en-US" dirty="0"/>
              <a:t> и </a:t>
            </a:r>
            <a:r>
              <a:rPr lang="en-US" dirty="0" err="1"/>
              <a:t>данных</a:t>
            </a:r>
            <a:r>
              <a:rPr lang="en-US" dirty="0"/>
              <a:t> </a:t>
            </a:r>
            <a:r>
              <a:rPr lang="en-US" dirty="0" err="1"/>
              <a:t>возникает</a:t>
            </a:r>
            <a:r>
              <a:rPr lang="en-US" dirty="0"/>
              <a:t> </a:t>
            </a:r>
            <a:r>
              <a:rPr lang="en-US" dirty="0" err="1"/>
              <a:t>необходимость</a:t>
            </a:r>
            <a:r>
              <a:rPr lang="en-US" dirty="0"/>
              <a:t> в </a:t>
            </a:r>
            <a:r>
              <a:rPr lang="en-US" dirty="0" err="1"/>
              <a:t>каталогах</a:t>
            </a:r>
            <a:r>
              <a:rPr lang="en-US" dirty="0"/>
              <a:t>, </a:t>
            </a:r>
            <a:r>
              <a:rPr lang="en-US" dirty="0" err="1"/>
              <a:t>иерархии</a:t>
            </a:r>
            <a:r>
              <a:rPr lang="en-US" dirty="0"/>
              <a:t> и </a:t>
            </a:r>
            <a:r>
              <a:rPr lang="en-US" dirty="0" err="1"/>
              <a:t>более</a:t>
            </a:r>
            <a:r>
              <a:rPr lang="en-US" dirty="0"/>
              <a:t> </a:t>
            </a:r>
            <a:r>
              <a:rPr lang="en-US" dirty="0" err="1"/>
              <a:t>развитой</a:t>
            </a:r>
            <a:r>
              <a:rPr lang="en-US" dirty="0"/>
              <a:t> </a:t>
            </a:r>
            <a:r>
              <a:rPr lang="en-US" dirty="0" err="1"/>
              <a:t>файловой</a:t>
            </a:r>
            <a:r>
              <a:rPr lang="en-US" dirty="0"/>
              <a:t> </a:t>
            </a:r>
            <a:r>
              <a:rPr lang="en-US" dirty="0" err="1"/>
              <a:t>системе</a:t>
            </a:r>
            <a:r>
              <a:rPr lang="en-US" dirty="0"/>
              <a:t>.</a:t>
            </a:r>
          </a:p>
          <a:p>
            <a:endParaRPr lang="ru-RU" dirty="0"/>
          </a:p>
          <a:p>
            <a:r>
              <a:rPr lang="en-US" dirty="0" err="1"/>
              <a:t>То</a:t>
            </a:r>
            <a:r>
              <a:rPr lang="en-US" dirty="0"/>
              <a:t> </a:t>
            </a:r>
            <a:r>
              <a:rPr lang="en-US" dirty="0" err="1"/>
              <a:t>есть</a:t>
            </a:r>
            <a:r>
              <a:rPr lang="en-US" dirty="0"/>
              <a:t> </a:t>
            </a:r>
            <a:r>
              <a:rPr lang="en-US" dirty="0" err="1"/>
              <a:t>разные</a:t>
            </a:r>
            <a:r>
              <a:rPr lang="en-US" dirty="0"/>
              <a:t> </a:t>
            </a:r>
            <a:r>
              <a:rPr lang="en-US" dirty="0" err="1"/>
              <a:t>части</a:t>
            </a:r>
            <a:r>
              <a:rPr lang="en-US" dirty="0"/>
              <a:t> </a:t>
            </a:r>
            <a:r>
              <a:rPr lang="en-US" dirty="0" err="1"/>
              <a:t>операционной</a:t>
            </a:r>
            <a:r>
              <a:rPr lang="en-US" dirty="0"/>
              <a:t> </a:t>
            </a:r>
            <a:r>
              <a:rPr lang="en-US" dirty="0" err="1"/>
              <a:t>системы</a:t>
            </a:r>
            <a:r>
              <a:rPr lang="en-US" dirty="0"/>
              <a:t> </a:t>
            </a:r>
            <a:r>
              <a:rPr lang="en-US" dirty="0" err="1"/>
              <a:t>усложняются</a:t>
            </a:r>
            <a:r>
              <a:rPr lang="en-US" dirty="0"/>
              <a:t> </a:t>
            </a:r>
            <a:r>
              <a:rPr lang="en-US" dirty="0" err="1"/>
              <a:t>не</a:t>
            </a:r>
            <a:r>
              <a:rPr lang="en-US" dirty="0"/>
              <a:t> </a:t>
            </a:r>
            <a:r>
              <a:rPr lang="en-US" dirty="0" err="1"/>
              <a:t>сами</a:t>
            </a:r>
            <a:r>
              <a:rPr lang="en-US" dirty="0"/>
              <a:t> </a:t>
            </a:r>
            <a:r>
              <a:rPr lang="en-US" dirty="0" err="1"/>
              <a:t>по</a:t>
            </a:r>
            <a:r>
              <a:rPr lang="en-US" dirty="0"/>
              <a:t> </a:t>
            </a:r>
            <a:r>
              <a:rPr lang="en-US" dirty="0" err="1"/>
              <a:t>себе</a:t>
            </a:r>
            <a:r>
              <a:rPr lang="en-US" dirty="0"/>
              <a:t>. </a:t>
            </a:r>
            <a:r>
              <a:rPr lang="en-US" dirty="0" err="1"/>
              <a:t>Они</a:t>
            </a:r>
            <a:r>
              <a:rPr lang="en-US" dirty="0"/>
              <a:t> </a:t>
            </a:r>
            <a:r>
              <a:rPr lang="en-US" dirty="0" err="1"/>
              <a:t>появляются</a:t>
            </a:r>
            <a:r>
              <a:rPr lang="en-US" dirty="0"/>
              <a:t> </a:t>
            </a:r>
            <a:r>
              <a:rPr lang="en-US" dirty="0" err="1"/>
              <a:t>тогда</a:t>
            </a:r>
            <a:r>
              <a:rPr lang="en-US" dirty="0"/>
              <a:t>, </a:t>
            </a:r>
            <a:r>
              <a:rPr lang="en-US" dirty="0" err="1"/>
              <a:t>когда</a:t>
            </a:r>
            <a:r>
              <a:rPr lang="en-US" dirty="0"/>
              <a:t> </a:t>
            </a:r>
            <a:r>
              <a:rPr lang="en-US" dirty="0" err="1"/>
              <a:t>возможности</a:t>
            </a:r>
            <a:r>
              <a:rPr lang="en-US" dirty="0"/>
              <a:t> </a:t>
            </a:r>
            <a:r>
              <a:rPr lang="en-US" dirty="0" err="1"/>
              <a:t>аппаратуры</a:t>
            </a:r>
            <a:r>
              <a:rPr lang="en-US" dirty="0"/>
              <a:t> и </a:t>
            </a:r>
            <a:r>
              <a:rPr lang="en-US" dirty="0" err="1"/>
              <a:t>задачи</a:t>
            </a:r>
            <a:r>
              <a:rPr lang="en-US" dirty="0"/>
              <a:t> </a:t>
            </a:r>
            <a:r>
              <a:rPr lang="en-US" dirty="0" err="1"/>
              <a:t>пользователей</a:t>
            </a:r>
            <a:r>
              <a:rPr lang="en-US" dirty="0"/>
              <a:t> </a:t>
            </a:r>
            <a:r>
              <a:rPr lang="en-US" dirty="0" err="1"/>
              <a:t>делают</a:t>
            </a:r>
            <a:r>
              <a:rPr lang="en-US" dirty="0"/>
              <a:t> </a:t>
            </a:r>
            <a:r>
              <a:rPr lang="en-US" dirty="0" err="1"/>
              <a:t>эту</a:t>
            </a:r>
            <a:r>
              <a:rPr lang="en-US" dirty="0"/>
              <a:t> </a:t>
            </a:r>
            <a:r>
              <a:rPr lang="en-US" dirty="0" err="1"/>
              <a:t>сложность</a:t>
            </a:r>
            <a:r>
              <a:rPr lang="en-US" dirty="0"/>
              <a:t> </a:t>
            </a:r>
            <a:r>
              <a:rPr lang="en-US" dirty="0" err="1"/>
              <a:t>оправданной</a:t>
            </a:r>
            <a:r>
              <a:rPr lang="en-US" dirty="0"/>
              <a:t>.</a:t>
            </a:r>
          </a:p>
          <a:p>
            <a:endParaRPr lang="en-US" dirty="0"/>
          </a:p>
        </p:txBody>
      </p:sp>
      <p:sp>
        <p:nvSpPr>
          <p:cNvPr id="4" name="Slide Number Placeholder 3"/>
          <p:cNvSpPr>
            <a:spLocks noGrp="1"/>
          </p:cNvSpPr>
          <p:nvPr>
            <p:ph type="sldNum" sz="quarter" idx="5"/>
          </p:nvPr>
        </p:nvSpPr>
        <p:spPr/>
        <p:txBody>
          <a:bodyPr/>
          <a:lstStyle/>
          <a:p>
            <a:fld id="{A3EE74EF-BE85-44F3-968F-E74DD74A629E}" type="slidenum">
              <a:rPr lang="en-US" smtClean="0"/>
              <a:t>28</a:t>
            </a:fld>
            <a:endParaRPr lang="en-US"/>
          </a:p>
        </p:txBody>
      </p:sp>
    </p:spTree>
    <p:extLst>
      <p:ext uri="{BB962C8B-B14F-4D97-AF65-F5344CB8AC3E}">
        <p14:creationId xmlns:p14="http://schemas.microsoft.com/office/powerpoint/2010/main" val="39046891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Есть</a:t>
            </a:r>
            <a:r>
              <a:rPr lang="en-US" dirty="0"/>
              <a:t> и </a:t>
            </a:r>
            <a:r>
              <a:rPr lang="en-US" dirty="0" err="1"/>
              <a:t>второй</a:t>
            </a:r>
            <a:r>
              <a:rPr lang="en-US" dirty="0"/>
              <a:t> </a:t>
            </a:r>
            <a:r>
              <a:rPr lang="en-US" dirty="0" err="1"/>
              <a:t>способ</a:t>
            </a:r>
            <a:r>
              <a:rPr lang="en-US" dirty="0"/>
              <a:t> </a:t>
            </a:r>
            <a:r>
              <a:rPr lang="en-US" dirty="0" err="1"/>
              <a:t>посмотреть</a:t>
            </a:r>
            <a:r>
              <a:rPr lang="en-US" dirty="0"/>
              <a:t> </a:t>
            </a:r>
            <a:r>
              <a:rPr lang="en-US" dirty="0" err="1"/>
              <a:t>на</a:t>
            </a:r>
            <a:r>
              <a:rPr lang="en-US" dirty="0"/>
              <a:t> </a:t>
            </a:r>
            <a:r>
              <a:rPr lang="en-US" dirty="0" err="1"/>
              <a:t>историю</a:t>
            </a:r>
            <a:r>
              <a:rPr lang="en-US" dirty="0"/>
              <a:t> </a:t>
            </a:r>
            <a:r>
              <a:rPr lang="en-US" dirty="0" err="1"/>
              <a:t>операционных</a:t>
            </a:r>
            <a:r>
              <a:rPr lang="en-US" dirty="0"/>
              <a:t> </a:t>
            </a:r>
            <a:r>
              <a:rPr lang="en-US" dirty="0" err="1"/>
              <a:t>систем</a:t>
            </a:r>
            <a:r>
              <a:rPr lang="en-US" dirty="0"/>
              <a:t>.</a:t>
            </a:r>
            <a:endParaRPr lang="ru-RU" dirty="0"/>
          </a:p>
          <a:p>
            <a:endParaRPr lang="en-US" dirty="0"/>
          </a:p>
          <a:p>
            <a:r>
              <a:rPr lang="en-US" dirty="0" err="1"/>
              <a:t>Многие</a:t>
            </a:r>
            <a:r>
              <a:rPr lang="en-US" dirty="0"/>
              <a:t> </a:t>
            </a:r>
            <a:r>
              <a:rPr lang="en-US" dirty="0" err="1"/>
              <a:t>сложные</a:t>
            </a:r>
            <a:r>
              <a:rPr lang="en-US" dirty="0"/>
              <a:t> </a:t>
            </a:r>
            <a:r>
              <a:rPr lang="en-US" dirty="0" err="1"/>
              <a:t>механизмы</a:t>
            </a:r>
            <a:r>
              <a:rPr lang="en-US" dirty="0"/>
              <a:t> </a:t>
            </a:r>
            <a:r>
              <a:rPr lang="en-US" dirty="0" err="1"/>
              <a:t>сначала</a:t>
            </a:r>
            <a:r>
              <a:rPr lang="en-US" dirty="0"/>
              <a:t> </a:t>
            </a:r>
            <a:r>
              <a:rPr lang="en-US" dirty="0" err="1"/>
              <a:t>появляются</a:t>
            </a:r>
            <a:r>
              <a:rPr lang="en-US" dirty="0"/>
              <a:t> </a:t>
            </a:r>
            <a:r>
              <a:rPr lang="en-US" dirty="0" err="1"/>
              <a:t>на</a:t>
            </a:r>
            <a:r>
              <a:rPr lang="en-US" dirty="0"/>
              <a:t> </a:t>
            </a:r>
            <a:r>
              <a:rPr lang="en-US" dirty="0" err="1"/>
              <a:t>больших</a:t>
            </a:r>
            <a:r>
              <a:rPr lang="en-US" dirty="0"/>
              <a:t> и </a:t>
            </a:r>
            <a:r>
              <a:rPr lang="en-US" dirty="0" err="1"/>
              <a:t>дорогих</a:t>
            </a:r>
            <a:r>
              <a:rPr lang="en-US" dirty="0"/>
              <a:t> </a:t>
            </a:r>
            <a:r>
              <a:rPr lang="en-US" dirty="0" err="1"/>
              <a:t>компьютерах</a:t>
            </a:r>
            <a:r>
              <a:rPr lang="en-US" dirty="0"/>
              <a:t>, </a:t>
            </a:r>
            <a:r>
              <a:rPr lang="en-US" dirty="0" err="1"/>
              <a:t>где</a:t>
            </a:r>
            <a:r>
              <a:rPr lang="en-US" dirty="0"/>
              <a:t> </a:t>
            </a:r>
            <a:r>
              <a:rPr lang="en-US" dirty="0" err="1"/>
              <a:t>достаточно</a:t>
            </a:r>
            <a:r>
              <a:rPr lang="en-US" dirty="0"/>
              <a:t> </a:t>
            </a:r>
            <a:r>
              <a:rPr lang="en-US" dirty="0" err="1"/>
              <a:t>ресурсов</a:t>
            </a:r>
            <a:r>
              <a:rPr lang="en-US" dirty="0"/>
              <a:t> </a:t>
            </a:r>
            <a:r>
              <a:rPr lang="en-US" dirty="0" err="1"/>
              <a:t>для</a:t>
            </a:r>
            <a:r>
              <a:rPr lang="en-US" dirty="0"/>
              <a:t> </a:t>
            </a:r>
            <a:r>
              <a:rPr lang="en-US" dirty="0" err="1"/>
              <a:t>их</a:t>
            </a:r>
            <a:r>
              <a:rPr lang="en-US" dirty="0"/>
              <a:t> </a:t>
            </a:r>
            <a:r>
              <a:rPr lang="en-US" dirty="0" err="1"/>
              <a:t>реализации</a:t>
            </a:r>
            <a:r>
              <a:rPr lang="en-US" dirty="0"/>
              <a:t>.</a:t>
            </a:r>
            <a:endParaRPr lang="ru-RU" dirty="0"/>
          </a:p>
          <a:p>
            <a:endParaRPr lang="en-US" dirty="0"/>
          </a:p>
          <a:p>
            <a:r>
              <a:rPr lang="en-US" dirty="0" err="1"/>
              <a:t>Например</a:t>
            </a:r>
            <a:r>
              <a:rPr lang="en-US" dirty="0"/>
              <a:t>, </a:t>
            </a:r>
            <a:r>
              <a:rPr lang="en-US" dirty="0" err="1"/>
              <a:t>виртуальная</a:t>
            </a:r>
            <a:r>
              <a:rPr lang="en-US" dirty="0"/>
              <a:t> </a:t>
            </a:r>
            <a:r>
              <a:rPr lang="en-US" dirty="0" err="1"/>
              <a:t>память</a:t>
            </a:r>
            <a:r>
              <a:rPr lang="en-US" dirty="0"/>
              <a:t> </a:t>
            </a:r>
            <a:r>
              <a:rPr lang="en-US" dirty="0" err="1"/>
              <a:t>позволяет</a:t>
            </a:r>
            <a:r>
              <a:rPr lang="en-US" dirty="0"/>
              <a:t> </a:t>
            </a:r>
            <a:r>
              <a:rPr lang="en-US" dirty="0" err="1"/>
              <a:t>отделить</a:t>
            </a:r>
            <a:r>
              <a:rPr lang="en-US" dirty="0"/>
              <a:t> </a:t>
            </a:r>
            <a:r>
              <a:rPr lang="en-US" dirty="0" err="1"/>
              <a:t>адресное</a:t>
            </a:r>
            <a:r>
              <a:rPr lang="en-US" dirty="0"/>
              <a:t> </a:t>
            </a:r>
            <a:r>
              <a:rPr lang="en-US" dirty="0" err="1"/>
              <a:t>пространство</a:t>
            </a:r>
            <a:r>
              <a:rPr lang="en-US" dirty="0"/>
              <a:t> </a:t>
            </a:r>
            <a:r>
              <a:rPr lang="en-US" dirty="0" err="1"/>
              <a:t>программы</a:t>
            </a:r>
            <a:r>
              <a:rPr lang="en-US" dirty="0"/>
              <a:t> </a:t>
            </a:r>
            <a:r>
              <a:rPr lang="en-US" dirty="0" err="1"/>
              <a:t>от</a:t>
            </a:r>
            <a:r>
              <a:rPr lang="en-US" dirty="0"/>
              <a:t> </a:t>
            </a:r>
            <a:r>
              <a:rPr lang="en-US" dirty="0" err="1"/>
              <a:t>непосредственно</a:t>
            </a:r>
            <a:r>
              <a:rPr lang="en-US" dirty="0"/>
              <a:t> </a:t>
            </a:r>
            <a:r>
              <a:rPr lang="en-US" dirty="0" err="1"/>
              <a:t>установленной</a:t>
            </a:r>
            <a:r>
              <a:rPr lang="en-US" dirty="0"/>
              <a:t> </a:t>
            </a:r>
            <a:r>
              <a:rPr lang="en-US" dirty="0" err="1"/>
              <a:t>физической</a:t>
            </a:r>
            <a:r>
              <a:rPr lang="en-US" dirty="0"/>
              <a:t> </a:t>
            </a:r>
            <a:r>
              <a:rPr lang="en-US" dirty="0" err="1"/>
              <a:t>памяти</a:t>
            </a:r>
            <a:r>
              <a:rPr lang="en-US" dirty="0"/>
              <a:t>. </a:t>
            </a:r>
            <a:r>
              <a:rPr lang="en-US" dirty="0" err="1"/>
              <a:t>Защита</a:t>
            </a:r>
            <a:r>
              <a:rPr lang="en-US" dirty="0"/>
              <a:t> </a:t>
            </a:r>
            <a:r>
              <a:rPr lang="en-US" dirty="0" err="1"/>
              <a:t>памяти</a:t>
            </a:r>
            <a:r>
              <a:rPr lang="en-US" dirty="0"/>
              <a:t> </a:t>
            </a:r>
            <a:r>
              <a:rPr lang="en-US" dirty="0" err="1"/>
              <a:t>позволяет</a:t>
            </a:r>
            <a:r>
              <a:rPr lang="en-US" dirty="0"/>
              <a:t> </a:t>
            </a:r>
            <a:r>
              <a:rPr lang="en-US" dirty="0" err="1"/>
              <a:t>безопасно</a:t>
            </a:r>
            <a:r>
              <a:rPr lang="en-US" dirty="0"/>
              <a:t> </a:t>
            </a:r>
            <a:r>
              <a:rPr lang="en-US" dirty="0" err="1"/>
              <a:t>держать</a:t>
            </a:r>
            <a:r>
              <a:rPr lang="en-US" dirty="0"/>
              <a:t> в </a:t>
            </a:r>
            <a:r>
              <a:rPr lang="en-US" dirty="0" err="1"/>
              <a:t>системе</a:t>
            </a:r>
            <a:r>
              <a:rPr lang="en-US" dirty="0"/>
              <a:t> </a:t>
            </a:r>
            <a:r>
              <a:rPr lang="en-US" dirty="0" err="1"/>
              <a:t>сразу</a:t>
            </a:r>
            <a:r>
              <a:rPr lang="en-US" dirty="0"/>
              <a:t> </a:t>
            </a:r>
            <a:r>
              <a:rPr lang="en-US" dirty="0" err="1"/>
              <a:t>несколько</a:t>
            </a:r>
            <a:r>
              <a:rPr lang="en-US" dirty="0"/>
              <a:t> </a:t>
            </a:r>
            <a:r>
              <a:rPr lang="en-US" dirty="0" err="1"/>
              <a:t>процессов</a:t>
            </a:r>
            <a:r>
              <a:rPr lang="en-US" dirty="0"/>
              <a:t>. </a:t>
            </a:r>
            <a:r>
              <a:rPr lang="en-US" dirty="0" err="1"/>
              <a:t>Развитые</a:t>
            </a:r>
            <a:r>
              <a:rPr lang="en-US" dirty="0"/>
              <a:t> </a:t>
            </a:r>
            <a:r>
              <a:rPr lang="en-US" dirty="0" err="1"/>
              <a:t>файловые</a:t>
            </a:r>
            <a:r>
              <a:rPr lang="en-US" dirty="0"/>
              <a:t> </a:t>
            </a:r>
            <a:r>
              <a:rPr lang="en-US" dirty="0" err="1"/>
              <a:t>системы</a:t>
            </a:r>
            <a:r>
              <a:rPr lang="en-US" dirty="0"/>
              <a:t> </a:t>
            </a:r>
            <a:r>
              <a:rPr lang="en-US" dirty="0" err="1"/>
              <a:t>дают</a:t>
            </a:r>
            <a:r>
              <a:rPr lang="en-US" dirty="0"/>
              <a:t> </a:t>
            </a:r>
            <a:r>
              <a:rPr lang="en-US" dirty="0" err="1"/>
              <a:t>удобную</a:t>
            </a:r>
            <a:r>
              <a:rPr lang="en-US" dirty="0"/>
              <a:t> </a:t>
            </a:r>
            <a:r>
              <a:rPr lang="en-US" dirty="0" err="1"/>
              <a:t>организацию</a:t>
            </a:r>
            <a:r>
              <a:rPr lang="en-US" dirty="0"/>
              <a:t> </a:t>
            </a:r>
            <a:r>
              <a:rPr lang="en-US" dirty="0" err="1"/>
              <a:t>большого</a:t>
            </a:r>
            <a:r>
              <a:rPr lang="en-US" dirty="0"/>
              <a:t> </a:t>
            </a:r>
            <a:r>
              <a:rPr lang="en-US" dirty="0" err="1"/>
              <a:t>количества</a:t>
            </a:r>
            <a:r>
              <a:rPr lang="en-US" dirty="0"/>
              <a:t> </a:t>
            </a:r>
            <a:r>
              <a:rPr lang="en-US" dirty="0" err="1"/>
              <a:t>данных</a:t>
            </a:r>
            <a:r>
              <a:rPr lang="en-US" dirty="0"/>
              <a:t>.</a:t>
            </a:r>
            <a:endParaRPr lang="ru-RU" dirty="0"/>
          </a:p>
          <a:p>
            <a:endParaRPr lang="en-US" dirty="0"/>
          </a:p>
          <a:p>
            <a:r>
              <a:rPr lang="en-US" dirty="0" err="1"/>
              <a:t>Когда</a:t>
            </a:r>
            <a:r>
              <a:rPr lang="en-US" dirty="0"/>
              <a:t> </a:t>
            </a:r>
            <a:r>
              <a:rPr lang="en-US" dirty="0" err="1"/>
              <a:t>аппаратная</a:t>
            </a:r>
            <a:r>
              <a:rPr lang="en-US" dirty="0"/>
              <a:t> </a:t>
            </a:r>
            <a:r>
              <a:rPr lang="en-US" dirty="0" err="1"/>
              <a:t>технология</a:t>
            </a:r>
            <a:r>
              <a:rPr lang="en-US" dirty="0"/>
              <a:t> </a:t>
            </a:r>
            <a:r>
              <a:rPr lang="en-US" dirty="0" err="1"/>
              <a:t>дешевеет</a:t>
            </a:r>
            <a:r>
              <a:rPr lang="en-US" dirty="0"/>
              <a:t>, </a:t>
            </a:r>
            <a:r>
              <a:rPr lang="en-US" dirty="0" err="1"/>
              <a:t>эти</a:t>
            </a:r>
            <a:r>
              <a:rPr lang="en-US" dirty="0"/>
              <a:t> </a:t>
            </a:r>
            <a:r>
              <a:rPr lang="en-US" dirty="0" err="1"/>
              <a:t>возможности</a:t>
            </a:r>
            <a:r>
              <a:rPr lang="en-US" dirty="0"/>
              <a:t> </a:t>
            </a:r>
            <a:r>
              <a:rPr lang="en-US" dirty="0" err="1"/>
              <a:t>постепенно</a:t>
            </a:r>
            <a:r>
              <a:rPr lang="en-US" dirty="0"/>
              <a:t> </a:t>
            </a:r>
            <a:r>
              <a:rPr lang="en-US" dirty="0" err="1"/>
              <a:t>становятся</a:t>
            </a:r>
            <a:r>
              <a:rPr lang="en-US" dirty="0"/>
              <a:t> </a:t>
            </a:r>
            <a:r>
              <a:rPr lang="en-US" dirty="0" err="1"/>
              <a:t>доступными</a:t>
            </a:r>
            <a:r>
              <a:rPr lang="en-US" dirty="0"/>
              <a:t> и </a:t>
            </a:r>
            <a:r>
              <a:rPr lang="en-US" dirty="0" err="1"/>
              <a:t>более</a:t>
            </a:r>
            <a:r>
              <a:rPr lang="en-US" dirty="0"/>
              <a:t> </a:t>
            </a:r>
            <a:r>
              <a:rPr lang="en-US" dirty="0" err="1"/>
              <a:t>компактным</a:t>
            </a:r>
            <a:r>
              <a:rPr lang="en-US" dirty="0"/>
              <a:t> </a:t>
            </a:r>
            <a:r>
              <a:rPr lang="en-US" dirty="0" err="1"/>
              <a:t>системам</a:t>
            </a:r>
            <a:r>
              <a:rPr lang="en-US" dirty="0"/>
              <a:t>.</a:t>
            </a:r>
            <a:endParaRPr lang="ru-RU" dirty="0"/>
          </a:p>
          <a:p>
            <a:endParaRPr lang="en-US" dirty="0"/>
          </a:p>
          <a:p>
            <a:r>
              <a:rPr lang="en-US" dirty="0" err="1"/>
              <a:t>Но</a:t>
            </a:r>
            <a:r>
              <a:rPr lang="en-US" dirty="0"/>
              <a:t> </a:t>
            </a:r>
            <a:r>
              <a:rPr lang="en-US" dirty="0" err="1"/>
              <a:t>это</a:t>
            </a:r>
            <a:r>
              <a:rPr lang="en-US" dirty="0"/>
              <a:t> </a:t>
            </a:r>
            <a:r>
              <a:rPr lang="en-US" dirty="0" err="1"/>
              <a:t>не</a:t>
            </a:r>
            <a:r>
              <a:rPr lang="en-US" dirty="0"/>
              <a:t> </a:t>
            </a:r>
            <a:r>
              <a:rPr lang="en-US" dirty="0" err="1"/>
              <a:t>означает</a:t>
            </a:r>
            <a:r>
              <a:rPr lang="en-US" dirty="0"/>
              <a:t>, </a:t>
            </a:r>
            <a:r>
              <a:rPr lang="en-US" dirty="0" err="1"/>
              <a:t>что</a:t>
            </a:r>
            <a:r>
              <a:rPr lang="en-US" dirty="0"/>
              <a:t> </a:t>
            </a:r>
            <a:r>
              <a:rPr lang="en-US" dirty="0" err="1"/>
              <a:t>каждая</a:t>
            </a:r>
            <a:r>
              <a:rPr lang="en-US" dirty="0"/>
              <a:t> </a:t>
            </a:r>
            <a:r>
              <a:rPr lang="en-US" dirty="0" err="1"/>
              <a:t>современная</a:t>
            </a:r>
            <a:r>
              <a:rPr lang="en-US" dirty="0"/>
              <a:t> </a:t>
            </a:r>
            <a:r>
              <a:rPr lang="en-US" dirty="0" err="1"/>
              <a:t>система</a:t>
            </a:r>
            <a:r>
              <a:rPr lang="en-US" dirty="0"/>
              <a:t> </a:t>
            </a:r>
            <a:r>
              <a:rPr lang="en-US" dirty="0" err="1"/>
              <a:t>обязательно</a:t>
            </a:r>
            <a:r>
              <a:rPr lang="en-US" dirty="0"/>
              <a:t> </a:t>
            </a:r>
            <a:r>
              <a:rPr lang="en-US" dirty="0" err="1"/>
              <a:t>содержит</a:t>
            </a:r>
            <a:r>
              <a:rPr lang="en-US" dirty="0"/>
              <a:t> </a:t>
            </a:r>
            <a:r>
              <a:rPr lang="en-US" dirty="0" err="1"/>
              <a:t>все</a:t>
            </a:r>
            <a:r>
              <a:rPr lang="en-US" dirty="0"/>
              <a:t> </a:t>
            </a:r>
            <a:r>
              <a:rPr lang="en-US" dirty="0" err="1"/>
              <a:t>эти</a:t>
            </a:r>
            <a:r>
              <a:rPr lang="en-US" dirty="0"/>
              <a:t> </a:t>
            </a:r>
            <a:r>
              <a:rPr lang="en-US" dirty="0" err="1"/>
              <a:t>механизмы</a:t>
            </a:r>
            <a:r>
              <a:rPr lang="en-US" dirty="0"/>
              <a:t>.</a:t>
            </a:r>
          </a:p>
          <a:p>
            <a:r>
              <a:rPr lang="en-US" dirty="0" err="1"/>
              <a:t>Возьмём</a:t>
            </a:r>
            <a:r>
              <a:rPr lang="en-US" dirty="0"/>
              <a:t> </a:t>
            </a:r>
            <a:r>
              <a:rPr lang="en-US" dirty="0" err="1"/>
              <a:t>простое</a:t>
            </a:r>
            <a:r>
              <a:rPr lang="en-US" dirty="0"/>
              <a:t> </a:t>
            </a:r>
            <a:r>
              <a:rPr lang="en-US" dirty="0" err="1"/>
              <a:t>встроенное</a:t>
            </a:r>
            <a:r>
              <a:rPr lang="en-US" dirty="0"/>
              <a:t> </a:t>
            </a:r>
            <a:r>
              <a:rPr lang="en-US" dirty="0" err="1"/>
              <a:t>устройство</a:t>
            </a:r>
            <a:r>
              <a:rPr lang="en-US" dirty="0"/>
              <a:t>, </a:t>
            </a:r>
            <a:r>
              <a:rPr lang="en-US" dirty="0" err="1"/>
              <a:t>которое</a:t>
            </a:r>
            <a:r>
              <a:rPr lang="en-US" dirty="0"/>
              <a:t> </a:t>
            </a:r>
            <a:r>
              <a:rPr lang="en-US" dirty="0" err="1"/>
              <a:t>выполняет</a:t>
            </a:r>
            <a:r>
              <a:rPr lang="en-US" dirty="0"/>
              <a:t> </a:t>
            </a:r>
            <a:r>
              <a:rPr lang="en-US" dirty="0" err="1"/>
              <a:t>одну</a:t>
            </a:r>
            <a:r>
              <a:rPr lang="en-US" dirty="0"/>
              <a:t> </a:t>
            </a:r>
            <a:r>
              <a:rPr lang="en-US" dirty="0" err="1"/>
              <a:t>заранее</a:t>
            </a:r>
            <a:r>
              <a:rPr lang="en-US" dirty="0"/>
              <a:t> </a:t>
            </a:r>
            <a:r>
              <a:rPr lang="en-US" dirty="0" err="1"/>
              <a:t>известную</a:t>
            </a:r>
            <a:r>
              <a:rPr lang="en-US" dirty="0"/>
              <a:t> </a:t>
            </a:r>
            <a:r>
              <a:rPr lang="en-US" dirty="0" err="1"/>
              <a:t>программу</a:t>
            </a:r>
            <a:r>
              <a:rPr lang="en-US" dirty="0"/>
              <a:t>. </a:t>
            </a:r>
            <a:r>
              <a:rPr lang="en-US" dirty="0" err="1"/>
              <a:t>Полноценная</a:t>
            </a:r>
            <a:r>
              <a:rPr lang="en-US" dirty="0"/>
              <a:t> </a:t>
            </a:r>
            <a:r>
              <a:rPr lang="en-US" dirty="0" err="1"/>
              <a:t>виртуальная</a:t>
            </a:r>
            <a:r>
              <a:rPr lang="en-US" dirty="0"/>
              <a:t> </a:t>
            </a:r>
            <a:r>
              <a:rPr lang="en-US" dirty="0" err="1"/>
              <a:t>память</a:t>
            </a:r>
            <a:r>
              <a:rPr lang="en-US" dirty="0"/>
              <a:t> </a:t>
            </a:r>
            <a:r>
              <a:rPr lang="en-US" dirty="0" err="1"/>
              <a:t>или</a:t>
            </a:r>
            <a:r>
              <a:rPr lang="en-US" dirty="0"/>
              <a:t> </a:t>
            </a:r>
            <a:r>
              <a:rPr lang="en-US" dirty="0" err="1"/>
              <a:t>сложная</a:t>
            </a:r>
            <a:r>
              <a:rPr lang="en-US" dirty="0"/>
              <a:t> </a:t>
            </a:r>
            <a:r>
              <a:rPr lang="en-US" dirty="0" err="1"/>
              <a:t>защита</a:t>
            </a:r>
            <a:r>
              <a:rPr lang="en-US" dirty="0"/>
              <a:t> </a:t>
            </a:r>
            <a:r>
              <a:rPr lang="en-US" dirty="0" err="1"/>
              <a:t>процессов</a:t>
            </a:r>
            <a:r>
              <a:rPr lang="en-US" dirty="0"/>
              <a:t> </a:t>
            </a:r>
            <a:r>
              <a:rPr lang="en-US" dirty="0" err="1"/>
              <a:t>могут</a:t>
            </a:r>
            <a:r>
              <a:rPr lang="en-US" dirty="0"/>
              <a:t> </a:t>
            </a:r>
            <a:r>
              <a:rPr lang="en-US" dirty="0" err="1"/>
              <a:t>ему</a:t>
            </a:r>
            <a:r>
              <a:rPr lang="en-US" dirty="0"/>
              <a:t> </a:t>
            </a:r>
            <a:r>
              <a:rPr lang="en-US" dirty="0" err="1"/>
              <a:t>вообще</a:t>
            </a:r>
            <a:r>
              <a:rPr lang="en-US" dirty="0"/>
              <a:t> </a:t>
            </a:r>
            <a:r>
              <a:rPr lang="en-US" dirty="0" err="1"/>
              <a:t>не</a:t>
            </a:r>
            <a:r>
              <a:rPr lang="en-US" dirty="0"/>
              <a:t> </a:t>
            </a:r>
            <a:r>
              <a:rPr lang="en-US" dirty="0" err="1"/>
              <a:t>понадобиться</a:t>
            </a:r>
            <a:r>
              <a:rPr lang="en-US" dirty="0"/>
              <a:t>.</a:t>
            </a:r>
            <a:endParaRPr lang="ru-RU" dirty="0"/>
          </a:p>
          <a:p>
            <a:endParaRPr lang="en-US" dirty="0"/>
          </a:p>
          <a:p>
            <a:r>
              <a:rPr lang="en-US" dirty="0" err="1"/>
              <a:t>Получается</a:t>
            </a:r>
            <a:r>
              <a:rPr lang="en-US" dirty="0"/>
              <a:t>, </a:t>
            </a:r>
            <a:r>
              <a:rPr lang="en-US" dirty="0" err="1"/>
              <a:t>что</a:t>
            </a:r>
            <a:r>
              <a:rPr lang="en-US" dirty="0"/>
              <a:t> </a:t>
            </a:r>
            <a:r>
              <a:rPr lang="en-US" dirty="0" err="1"/>
              <a:t>развитие</a:t>
            </a:r>
            <a:r>
              <a:rPr lang="en-US" dirty="0"/>
              <a:t> ОС </a:t>
            </a:r>
            <a:r>
              <a:rPr lang="en-US" dirty="0" err="1"/>
              <a:t>нельзя</a:t>
            </a:r>
            <a:r>
              <a:rPr lang="en-US" dirty="0"/>
              <a:t> </a:t>
            </a:r>
            <a:r>
              <a:rPr lang="en-US" dirty="0" err="1"/>
              <a:t>воспринимать</a:t>
            </a:r>
            <a:r>
              <a:rPr lang="en-US" dirty="0"/>
              <a:t> </a:t>
            </a:r>
            <a:r>
              <a:rPr lang="en-US" dirty="0" err="1"/>
              <a:t>как</a:t>
            </a:r>
            <a:r>
              <a:rPr lang="en-US" dirty="0"/>
              <a:t> </a:t>
            </a:r>
            <a:r>
              <a:rPr lang="en-US" dirty="0" err="1"/>
              <a:t>линейный</a:t>
            </a:r>
            <a:r>
              <a:rPr lang="en-US" dirty="0"/>
              <a:t> </a:t>
            </a:r>
            <a:r>
              <a:rPr lang="en-US" dirty="0" err="1"/>
              <a:t>путь</a:t>
            </a:r>
            <a:r>
              <a:rPr lang="en-US" dirty="0"/>
              <a:t> </a:t>
            </a:r>
            <a:r>
              <a:rPr lang="en-US" dirty="0" err="1"/>
              <a:t>от</a:t>
            </a:r>
            <a:r>
              <a:rPr lang="en-US" dirty="0"/>
              <a:t> «</a:t>
            </a:r>
            <a:r>
              <a:rPr lang="en-US" dirty="0" err="1"/>
              <a:t>примитивного</a:t>
            </a:r>
            <a:r>
              <a:rPr lang="en-US" dirty="0"/>
              <a:t>» к «</a:t>
            </a:r>
            <a:r>
              <a:rPr lang="en-US" dirty="0" err="1"/>
              <a:t>современному</a:t>
            </a:r>
            <a:r>
              <a:rPr lang="en-US" dirty="0"/>
              <a:t>». </a:t>
            </a:r>
            <a:r>
              <a:rPr lang="en-US" dirty="0" err="1"/>
              <a:t>Разные</a:t>
            </a:r>
            <a:r>
              <a:rPr lang="en-US" dirty="0"/>
              <a:t> </a:t>
            </a:r>
            <a:r>
              <a:rPr lang="en-US" dirty="0" err="1"/>
              <a:t>устройства</a:t>
            </a:r>
            <a:r>
              <a:rPr lang="en-US" dirty="0"/>
              <a:t> </a:t>
            </a:r>
            <a:r>
              <a:rPr lang="en-US" dirty="0" err="1"/>
              <a:t>находятся</a:t>
            </a:r>
            <a:r>
              <a:rPr lang="en-US" dirty="0"/>
              <a:t> в </a:t>
            </a:r>
            <a:r>
              <a:rPr lang="en-US" dirty="0" err="1"/>
              <a:t>разных</a:t>
            </a:r>
            <a:r>
              <a:rPr lang="en-US" dirty="0"/>
              <a:t> </a:t>
            </a:r>
            <a:r>
              <a:rPr lang="en-US" dirty="0" err="1"/>
              <a:t>условиях</a:t>
            </a:r>
            <a:r>
              <a:rPr lang="en-US" dirty="0"/>
              <a:t> и </a:t>
            </a:r>
            <a:r>
              <a:rPr lang="en-US" dirty="0" err="1"/>
              <a:t>поэтому</a:t>
            </a:r>
            <a:r>
              <a:rPr lang="en-US" dirty="0"/>
              <a:t> </a:t>
            </a:r>
            <a:r>
              <a:rPr lang="en-US" dirty="0" err="1"/>
              <a:t>используют</a:t>
            </a:r>
            <a:r>
              <a:rPr lang="en-US" dirty="0"/>
              <a:t> </a:t>
            </a:r>
            <a:r>
              <a:rPr lang="en-US" dirty="0" err="1"/>
              <a:t>разные</a:t>
            </a:r>
            <a:r>
              <a:rPr lang="en-US" dirty="0"/>
              <a:t> </a:t>
            </a:r>
            <a:r>
              <a:rPr lang="en-US" dirty="0" err="1"/>
              <a:t>наборы</a:t>
            </a:r>
            <a:r>
              <a:rPr lang="en-US" dirty="0"/>
              <a:t> </a:t>
            </a:r>
            <a:r>
              <a:rPr lang="en-US" dirty="0" err="1"/>
              <a:t>механизмов</a:t>
            </a:r>
            <a:r>
              <a:rPr lang="en-US" dirty="0"/>
              <a:t>.</a:t>
            </a:r>
            <a:endParaRPr lang="ru-RU" dirty="0"/>
          </a:p>
          <a:p>
            <a:endParaRPr lang="en-US" dirty="0"/>
          </a:p>
          <a:p>
            <a:r>
              <a:rPr lang="en-US" dirty="0"/>
              <a:t>И </a:t>
            </a:r>
            <a:r>
              <a:rPr lang="en-US" dirty="0" err="1"/>
              <a:t>это</a:t>
            </a:r>
            <a:r>
              <a:rPr lang="en-US" dirty="0"/>
              <a:t> </a:t>
            </a:r>
            <a:r>
              <a:rPr lang="en-US" dirty="0" err="1"/>
              <a:t>главный</a:t>
            </a:r>
            <a:r>
              <a:rPr lang="en-US" dirty="0"/>
              <a:t> </a:t>
            </a:r>
            <a:r>
              <a:rPr lang="en-US" dirty="0" err="1"/>
              <a:t>вывод</a:t>
            </a:r>
            <a:r>
              <a:rPr lang="en-US" dirty="0"/>
              <a:t> </a:t>
            </a:r>
            <a:r>
              <a:rPr lang="en-US" dirty="0" err="1"/>
              <a:t>этого</a:t>
            </a:r>
            <a:r>
              <a:rPr lang="en-US" dirty="0"/>
              <a:t> </a:t>
            </a:r>
            <a:r>
              <a:rPr lang="en-US" dirty="0" err="1"/>
              <a:t>исторического</a:t>
            </a:r>
            <a:r>
              <a:rPr lang="en-US" dirty="0"/>
              <a:t> </a:t>
            </a:r>
            <a:r>
              <a:rPr lang="en-US" dirty="0" err="1"/>
              <a:t>раздела</a:t>
            </a:r>
            <a:r>
              <a:rPr lang="en-US" dirty="0"/>
              <a:t>: </a:t>
            </a:r>
            <a:r>
              <a:rPr lang="en-US" b="1" dirty="0" err="1"/>
              <a:t>операционная</a:t>
            </a:r>
            <a:r>
              <a:rPr lang="en-US" b="1" dirty="0"/>
              <a:t> </a:t>
            </a:r>
            <a:r>
              <a:rPr lang="en-US" b="1" dirty="0" err="1"/>
              <a:t>система</a:t>
            </a:r>
            <a:r>
              <a:rPr lang="en-US" b="1" dirty="0"/>
              <a:t> </a:t>
            </a:r>
            <a:r>
              <a:rPr lang="en-US" b="1" dirty="0" err="1"/>
              <a:t>всегда</a:t>
            </a:r>
            <a:r>
              <a:rPr lang="en-US" b="1" dirty="0"/>
              <a:t> </a:t>
            </a:r>
            <a:r>
              <a:rPr lang="en-US" b="1" dirty="0" err="1"/>
              <a:t>является</a:t>
            </a:r>
            <a:r>
              <a:rPr lang="en-US" b="1" dirty="0"/>
              <a:t> </a:t>
            </a:r>
            <a:r>
              <a:rPr lang="en-US" b="1" dirty="0" err="1"/>
              <a:t>компромиссом</a:t>
            </a:r>
            <a:r>
              <a:rPr lang="en-US" b="1" dirty="0"/>
              <a:t> </a:t>
            </a:r>
            <a:r>
              <a:rPr lang="en-US" b="1" dirty="0" err="1"/>
              <a:t>между</a:t>
            </a:r>
            <a:r>
              <a:rPr lang="en-US" b="1" dirty="0"/>
              <a:t> </a:t>
            </a:r>
            <a:r>
              <a:rPr lang="en-US" b="1" dirty="0" err="1"/>
              <a:t>возможностями</a:t>
            </a:r>
            <a:r>
              <a:rPr lang="en-US" b="1" dirty="0"/>
              <a:t> </a:t>
            </a:r>
            <a:r>
              <a:rPr lang="en-US" b="1" dirty="0" err="1"/>
              <a:t>аппаратуры</a:t>
            </a:r>
            <a:r>
              <a:rPr lang="en-US" b="1" dirty="0"/>
              <a:t>, </a:t>
            </a:r>
            <a:r>
              <a:rPr lang="en-US" b="1" dirty="0" err="1"/>
              <a:t>стоимостью</a:t>
            </a:r>
            <a:r>
              <a:rPr lang="en-US" b="1" dirty="0"/>
              <a:t> </a:t>
            </a:r>
            <a:r>
              <a:rPr lang="en-US" b="1" dirty="0" err="1"/>
              <a:t>реализации</a:t>
            </a:r>
            <a:r>
              <a:rPr lang="en-US" b="1" dirty="0"/>
              <a:t> </a:t>
            </a:r>
            <a:r>
              <a:rPr lang="en-US" b="1" dirty="0" err="1"/>
              <a:t>механизмов</a:t>
            </a:r>
            <a:r>
              <a:rPr lang="en-US" b="1" dirty="0"/>
              <a:t> и </a:t>
            </a:r>
            <a:r>
              <a:rPr lang="en-US" b="1" dirty="0" err="1"/>
              <a:t>теми</a:t>
            </a:r>
            <a:r>
              <a:rPr lang="en-US" b="1" dirty="0"/>
              <a:t> </a:t>
            </a:r>
            <a:r>
              <a:rPr lang="en-US" b="1" dirty="0" err="1"/>
              <a:t>задачами</a:t>
            </a:r>
            <a:r>
              <a:rPr lang="en-US" b="1" dirty="0"/>
              <a:t>, </a:t>
            </a:r>
            <a:r>
              <a:rPr lang="en-US" b="1" dirty="0" err="1"/>
              <a:t>которые</a:t>
            </a:r>
            <a:r>
              <a:rPr lang="en-US" b="1" dirty="0"/>
              <a:t> </a:t>
            </a:r>
            <a:r>
              <a:rPr lang="en-US" b="1" dirty="0" err="1"/>
              <a:t>должна</a:t>
            </a:r>
            <a:r>
              <a:rPr lang="en-US" b="1" dirty="0"/>
              <a:t> </a:t>
            </a:r>
            <a:r>
              <a:rPr lang="en-US" b="1" dirty="0" err="1"/>
              <a:t>решать</a:t>
            </a:r>
            <a:r>
              <a:rPr lang="en-US" b="1" dirty="0"/>
              <a:t> </a:t>
            </a:r>
            <a:r>
              <a:rPr lang="en-US" b="1" dirty="0" err="1"/>
              <a:t>система</a:t>
            </a:r>
            <a:r>
              <a:rPr lang="en-US" b="1" dirty="0"/>
              <a:t>.</a:t>
            </a:r>
            <a:endParaRPr lang="en-US" dirty="0"/>
          </a:p>
          <a:p>
            <a:endParaRPr lang="en-US" dirty="0"/>
          </a:p>
        </p:txBody>
      </p:sp>
      <p:sp>
        <p:nvSpPr>
          <p:cNvPr id="4" name="Slide Number Placeholder 3"/>
          <p:cNvSpPr>
            <a:spLocks noGrp="1"/>
          </p:cNvSpPr>
          <p:nvPr>
            <p:ph type="sldNum" sz="quarter" idx="5"/>
          </p:nvPr>
        </p:nvSpPr>
        <p:spPr/>
        <p:txBody>
          <a:bodyPr/>
          <a:lstStyle/>
          <a:p>
            <a:fld id="{A3EE74EF-BE85-44F3-968F-E74DD74A629E}" type="slidenum">
              <a:rPr lang="en-US" smtClean="0"/>
              <a:t>29</a:t>
            </a:fld>
            <a:endParaRPr lang="en-US"/>
          </a:p>
        </p:txBody>
      </p:sp>
    </p:spTree>
    <p:extLst>
      <p:ext uri="{BB962C8B-B14F-4D97-AF65-F5344CB8AC3E}">
        <p14:creationId xmlns:p14="http://schemas.microsoft.com/office/powerpoint/2010/main" val="22873657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Системные вызовы — это основной способ взаимодействия программ с операционной системой. Они позволяют создавать процессы, читать и записывать файлы, работать с каталогами и выполнять ввод-вывод.</a:t>
            </a:r>
            <a:endParaRPr lang="en-US" dirty="0"/>
          </a:p>
        </p:txBody>
      </p:sp>
      <p:sp>
        <p:nvSpPr>
          <p:cNvPr id="4" name="Slide Number Placeholder 3"/>
          <p:cNvSpPr>
            <a:spLocks noGrp="1"/>
          </p:cNvSpPr>
          <p:nvPr>
            <p:ph type="sldNum" sz="quarter" idx="5"/>
          </p:nvPr>
        </p:nvSpPr>
        <p:spPr/>
        <p:txBody>
          <a:bodyPr/>
          <a:lstStyle/>
          <a:p>
            <a:fld id="{A3EE74EF-BE85-44F3-968F-E74DD74A629E}" type="slidenum">
              <a:rPr lang="en-US" smtClean="0"/>
              <a:t>30</a:t>
            </a:fld>
            <a:endParaRPr lang="en-US"/>
          </a:p>
        </p:txBody>
      </p:sp>
    </p:spTree>
    <p:extLst>
      <p:ext uri="{BB962C8B-B14F-4D97-AF65-F5344CB8AC3E}">
        <p14:creationId xmlns:p14="http://schemas.microsoft.com/office/powerpoint/2010/main" val="34498975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Мы</a:t>
            </a:r>
            <a:r>
              <a:rPr lang="en-US" dirty="0"/>
              <a:t> </a:t>
            </a:r>
            <a:r>
              <a:rPr lang="en-US" dirty="0" err="1"/>
              <a:t>уже</a:t>
            </a:r>
            <a:r>
              <a:rPr lang="en-US" dirty="0"/>
              <a:t> </a:t>
            </a:r>
            <a:r>
              <a:rPr lang="en-US" dirty="0" err="1"/>
              <a:t>увидели</a:t>
            </a:r>
            <a:r>
              <a:rPr lang="en-US" dirty="0"/>
              <a:t>, </a:t>
            </a:r>
            <a:r>
              <a:rPr lang="en-US" dirty="0" err="1"/>
              <a:t>что</a:t>
            </a:r>
            <a:r>
              <a:rPr lang="en-US" dirty="0"/>
              <a:t> </a:t>
            </a:r>
            <a:r>
              <a:rPr lang="en-US" dirty="0" err="1"/>
              <a:t>операционная</a:t>
            </a:r>
            <a:r>
              <a:rPr lang="en-US" dirty="0"/>
              <a:t> </a:t>
            </a:r>
            <a:r>
              <a:rPr lang="en-US" dirty="0" err="1"/>
              <a:t>система</a:t>
            </a:r>
            <a:r>
              <a:rPr lang="en-US" dirty="0"/>
              <a:t> </a:t>
            </a:r>
            <a:r>
              <a:rPr lang="en-US" dirty="0" err="1"/>
              <a:t>управляет</a:t>
            </a:r>
            <a:r>
              <a:rPr lang="en-US" dirty="0"/>
              <a:t> </a:t>
            </a:r>
            <a:r>
              <a:rPr lang="en-US" dirty="0" err="1"/>
              <a:t>процессами</a:t>
            </a:r>
            <a:r>
              <a:rPr lang="en-US" dirty="0"/>
              <a:t>, </a:t>
            </a:r>
            <a:r>
              <a:rPr lang="en-US" dirty="0" err="1"/>
              <a:t>памятью</a:t>
            </a:r>
            <a:r>
              <a:rPr lang="en-US" dirty="0"/>
              <a:t>, </a:t>
            </a:r>
            <a:r>
              <a:rPr lang="en-US" dirty="0" err="1"/>
              <a:t>файлами</a:t>
            </a:r>
            <a:r>
              <a:rPr lang="en-US" dirty="0"/>
              <a:t> и </a:t>
            </a:r>
            <a:r>
              <a:rPr lang="en-US" dirty="0" err="1"/>
              <a:t>устройствами</a:t>
            </a:r>
            <a:r>
              <a:rPr lang="en-US" dirty="0"/>
              <a:t>. </a:t>
            </a:r>
            <a:r>
              <a:rPr lang="en-US" dirty="0" err="1"/>
              <a:t>Возникает</a:t>
            </a:r>
            <a:r>
              <a:rPr lang="en-US" dirty="0"/>
              <a:t> </a:t>
            </a:r>
            <a:r>
              <a:rPr lang="en-US" dirty="0" err="1"/>
              <a:t>естественный</a:t>
            </a:r>
            <a:r>
              <a:rPr lang="en-US" dirty="0"/>
              <a:t> </a:t>
            </a:r>
            <a:r>
              <a:rPr lang="en-US" dirty="0" err="1"/>
              <a:t>вопрос</a:t>
            </a:r>
            <a:r>
              <a:rPr lang="en-US" dirty="0"/>
              <a:t>: а </a:t>
            </a:r>
            <a:r>
              <a:rPr lang="en-US" dirty="0" err="1"/>
              <a:t>как</a:t>
            </a:r>
            <a:r>
              <a:rPr lang="en-US" dirty="0"/>
              <a:t> </a:t>
            </a:r>
            <a:r>
              <a:rPr lang="en-US" dirty="0" err="1"/>
              <a:t>обычная</a:t>
            </a:r>
            <a:r>
              <a:rPr lang="en-US" dirty="0"/>
              <a:t> </a:t>
            </a:r>
            <a:r>
              <a:rPr lang="en-US" dirty="0" err="1"/>
              <a:t>программа</a:t>
            </a:r>
            <a:r>
              <a:rPr lang="en-US" dirty="0"/>
              <a:t> </a:t>
            </a:r>
            <a:r>
              <a:rPr lang="en-US" dirty="0" err="1"/>
              <a:t>просит</a:t>
            </a:r>
            <a:r>
              <a:rPr lang="en-US" dirty="0"/>
              <a:t> </a:t>
            </a:r>
            <a:r>
              <a:rPr lang="en-US" dirty="0" err="1"/>
              <a:t>операционную</a:t>
            </a:r>
            <a:r>
              <a:rPr lang="en-US" dirty="0"/>
              <a:t> </a:t>
            </a:r>
            <a:r>
              <a:rPr lang="en-US" dirty="0" err="1"/>
              <a:t>систему</a:t>
            </a:r>
            <a:r>
              <a:rPr lang="en-US" dirty="0"/>
              <a:t> </a:t>
            </a:r>
            <a:r>
              <a:rPr lang="en-US" dirty="0" err="1"/>
              <a:t>выполнить</a:t>
            </a:r>
            <a:r>
              <a:rPr lang="en-US" dirty="0"/>
              <a:t> </a:t>
            </a:r>
            <a:r>
              <a:rPr lang="en-US" dirty="0" err="1"/>
              <a:t>такую</a:t>
            </a:r>
            <a:r>
              <a:rPr lang="en-US" dirty="0"/>
              <a:t> </a:t>
            </a:r>
            <a:r>
              <a:rPr lang="en-US" dirty="0" err="1"/>
              <a:t>операцию</a:t>
            </a:r>
            <a:r>
              <a:rPr lang="en-US" dirty="0"/>
              <a:t>?</a:t>
            </a:r>
            <a:endParaRPr lang="ru-RU" dirty="0"/>
          </a:p>
          <a:p>
            <a:endParaRPr lang="en-US" dirty="0"/>
          </a:p>
          <a:p>
            <a:r>
              <a:rPr lang="en-US" dirty="0" err="1"/>
              <a:t>Прикладная</a:t>
            </a:r>
            <a:r>
              <a:rPr lang="en-US" dirty="0"/>
              <a:t> </a:t>
            </a:r>
            <a:r>
              <a:rPr lang="en-US" dirty="0" err="1"/>
              <a:t>программа</a:t>
            </a:r>
            <a:r>
              <a:rPr lang="en-US" dirty="0"/>
              <a:t> </a:t>
            </a:r>
            <a:r>
              <a:rPr lang="en-US" dirty="0" err="1"/>
              <a:t>работает</a:t>
            </a:r>
            <a:r>
              <a:rPr lang="en-US" dirty="0"/>
              <a:t> в </a:t>
            </a:r>
            <a:r>
              <a:rPr lang="en-US" dirty="0" err="1"/>
              <a:t>пользовательском</a:t>
            </a:r>
            <a:r>
              <a:rPr lang="en-US" dirty="0"/>
              <a:t> </a:t>
            </a:r>
            <a:r>
              <a:rPr lang="en-US" dirty="0" err="1"/>
              <a:t>режиме</a:t>
            </a:r>
            <a:r>
              <a:rPr lang="en-US" dirty="0"/>
              <a:t> и </a:t>
            </a:r>
            <a:r>
              <a:rPr lang="en-US" dirty="0" err="1"/>
              <a:t>не</a:t>
            </a:r>
            <a:r>
              <a:rPr lang="en-US" dirty="0"/>
              <a:t> </a:t>
            </a:r>
            <a:r>
              <a:rPr lang="en-US" dirty="0" err="1"/>
              <a:t>может</a:t>
            </a:r>
            <a:r>
              <a:rPr lang="en-US" dirty="0"/>
              <a:t>, </a:t>
            </a:r>
            <a:r>
              <a:rPr lang="en-US" dirty="0" err="1"/>
              <a:t>например</a:t>
            </a:r>
            <a:r>
              <a:rPr lang="en-US" dirty="0"/>
              <a:t>, </a:t>
            </a:r>
            <a:r>
              <a:rPr lang="en-US" dirty="0" err="1"/>
              <a:t>сама</a:t>
            </a:r>
            <a:r>
              <a:rPr lang="en-US" dirty="0"/>
              <a:t> </a:t>
            </a:r>
            <a:r>
              <a:rPr lang="en-US" dirty="0" err="1"/>
              <a:t>обратиться</a:t>
            </a:r>
            <a:r>
              <a:rPr lang="en-US" dirty="0"/>
              <a:t> </a:t>
            </a:r>
            <a:r>
              <a:rPr lang="en-US" dirty="0" err="1"/>
              <a:t>напрямую</a:t>
            </a:r>
            <a:r>
              <a:rPr lang="en-US" dirty="0"/>
              <a:t> к </a:t>
            </a:r>
            <a:r>
              <a:rPr lang="en-US" dirty="0" err="1"/>
              <a:t>диску</a:t>
            </a:r>
            <a:r>
              <a:rPr lang="en-US" dirty="0"/>
              <a:t>, </a:t>
            </a:r>
            <a:r>
              <a:rPr lang="en-US" dirty="0" err="1"/>
              <a:t>изменить</a:t>
            </a:r>
            <a:r>
              <a:rPr lang="en-US" dirty="0"/>
              <a:t> </a:t>
            </a:r>
            <a:r>
              <a:rPr lang="en-US" dirty="0" err="1"/>
              <a:t>таблицы</a:t>
            </a:r>
            <a:r>
              <a:rPr lang="en-US" dirty="0"/>
              <a:t> </a:t>
            </a:r>
            <a:r>
              <a:rPr lang="en-US" dirty="0" err="1"/>
              <a:t>памяти</a:t>
            </a:r>
            <a:r>
              <a:rPr lang="en-US" dirty="0"/>
              <a:t> </a:t>
            </a:r>
            <a:r>
              <a:rPr lang="en-US" dirty="0" err="1"/>
              <a:t>или</a:t>
            </a:r>
            <a:r>
              <a:rPr lang="en-US" dirty="0"/>
              <a:t> </a:t>
            </a:r>
            <a:r>
              <a:rPr lang="en-US" dirty="0" err="1"/>
              <a:t>создать</a:t>
            </a:r>
            <a:r>
              <a:rPr lang="en-US" dirty="0"/>
              <a:t> </a:t>
            </a:r>
            <a:r>
              <a:rPr lang="en-US" dirty="0" err="1"/>
              <a:t>новый</a:t>
            </a:r>
            <a:r>
              <a:rPr lang="en-US" dirty="0"/>
              <a:t> </a:t>
            </a:r>
            <a:r>
              <a:rPr lang="en-US" dirty="0" err="1"/>
              <a:t>процесс</a:t>
            </a:r>
            <a:r>
              <a:rPr lang="en-US" dirty="0"/>
              <a:t> </a:t>
            </a:r>
            <a:r>
              <a:rPr lang="en-US" dirty="0" err="1"/>
              <a:t>произвольным</a:t>
            </a:r>
            <a:r>
              <a:rPr lang="en-US" dirty="0"/>
              <a:t> </a:t>
            </a:r>
            <a:r>
              <a:rPr lang="en-US" dirty="0" err="1"/>
              <a:t>способом</a:t>
            </a:r>
            <a:r>
              <a:rPr lang="en-US" dirty="0"/>
              <a:t>.</a:t>
            </a:r>
            <a:endParaRPr lang="ru-RU" dirty="0"/>
          </a:p>
          <a:p>
            <a:endParaRPr lang="en-US" dirty="0"/>
          </a:p>
          <a:p>
            <a:r>
              <a:rPr lang="en-US" dirty="0" err="1"/>
              <a:t>Поэтому</a:t>
            </a:r>
            <a:r>
              <a:rPr lang="en-US" dirty="0"/>
              <a:t> </a:t>
            </a:r>
            <a:r>
              <a:rPr lang="en-US" dirty="0" err="1"/>
              <a:t>ядро</a:t>
            </a:r>
            <a:r>
              <a:rPr lang="en-US" dirty="0"/>
              <a:t> </a:t>
            </a:r>
            <a:r>
              <a:rPr lang="en-US" dirty="0" err="1"/>
              <a:t>предоставляет</a:t>
            </a:r>
            <a:r>
              <a:rPr lang="en-US" dirty="0"/>
              <a:t> </a:t>
            </a:r>
            <a:r>
              <a:rPr lang="en-US" dirty="0" err="1"/>
              <a:t>контролируемую</a:t>
            </a:r>
            <a:r>
              <a:rPr lang="en-US" dirty="0"/>
              <a:t> </a:t>
            </a:r>
            <a:r>
              <a:rPr lang="en-US" dirty="0" err="1"/>
              <a:t>точку</a:t>
            </a:r>
            <a:r>
              <a:rPr lang="en-US" dirty="0"/>
              <a:t> </a:t>
            </a:r>
            <a:r>
              <a:rPr lang="en-US" dirty="0" err="1"/>
              <a:t>входа</a:t>
            </a:r>
            <a:r>
              <a:rPr lang="en-US" dirty="0"/>
              <a:t> — </a:t>
            </a:r>
            <a:r>
              <a:rPr lang="en-US" dirty="0" err="1"/>
              <a:t>механизм</a:t>
            </a:r>
            <a:r>
              <a:rPr lang="en-US" dirty="0"/>
              <a:t> </a:t>
            </a:r>
            <a:r>
              <a:rPr lang="en-US" dirty="0" err="1"/>
              <a:t>системных</a:t>
            </a:r>
            <a:r>
              <a:rPr lang="en-US" dirty="0"/>
              <a:t> </a:t>
            </a:r>
            <a:r>
              <a:rPr lang="en-US" dirty="0" err="1"/>
              <a:t>вызовов</a:t>
            </a:r>
            <a:r>
              <a:rPr lang="en-US" dirty="0"/>
              <a:t>.</a:t>
            </a:r>
          </a:p>
          <a:p>
            <a:r>
              <a:rPr lang="en-US" dirty="0"/>
              <a:t>В UNIX-</a:t>
            </a:r>
            <a:r>
              <a:rPr lang="en-US" dirty="0" err="1"/>
              <a:t>подобных</a:t>
            </a:r>
            <a:r>
              <a:rPr lang="en-US" dirty="0"/>
              <a:t> </a:t>
            </a:r>
            <a:r>
              <a:rPr lang="en-US" dirty="0" err="1"/>
              <a:t>системах</a:t>
            </a:r>
            <a:r>
              <a:rPr lang="en-US" dirty="0"/>
              <a:t> </a:t>
            </a:r>
            <a:r>
              <a:rPr lang="en-US" dirty="0" err="1"/>
              <a:t>программист</a:t>
            </a:r>
            <a:r>
              <a:rPr lang="en-US" dirty="0"/>
              <a:t> </a:t>
            </a:r>
            <a:r>
              <a:rPr lang="en-US" dirty="0" err="1"/>
              <a:t>обычно</a:t>
            </a:r>
            <a:r>
              <a:rPr lang="en-US" dirty="0"/>
              <a:t> </a:t>
            </a:r>
            <a:r>
              <a:rPr lang="en-US" dirty="0" err="1"/>
              <a:t>работает</a:t>
            </a:r>
            <a:r>
              <a:rPr lang="en-US" dirty="0"/>
              <a:t> </a:t>
            </a:r>
            <a:r>
              <a:rPr lang="en-US" dirty="0" err="1"/>
              <a:t>не</a:t>
            </a:r>
            <a:r>
              <a:rPr lang="en-US" dirty="0"/>
              <a:t> </a:t>
            </a:r>
            <a:r>
              <a:rPr lang="en-US" dirty="0" err="1"/>
              <a:t>непосредственно</a:t>
            </a:r>
            <a:r>
              <a:rPr lang="en-US" dirty="0"/>
              <a:t> с </a:t>
            </a:r>
            <a:r>
              <a:rPr lang="en-US" dirty="0" err="1"/>
              <a:t>машинной</a:t>
            </a:r>
            <a:r>
              <a:rPr lang="en-US" dirty="0"/>
              <a:t> </a:t>
            </a:r>
            <a:r>
              <a:rPr lang="en-US" dirty="0" err="1"/>
              <a:t>инструкцией</a:t>
            </a:r>
            <a:r>
              <a:rPr lang="en-US" dirty="0"/>
              <a:t> </a:t>
            </a:r>
            <a:r>
              <a:rPr lang="en-US" dirty="0" err="1"/>
              <a:t>системного</a:t>
            </a:r>
            <a:r>
              <a:rPr lang="en-US" dirty="0"/>
              <a:t> </a:t>
            </a:r>
            <a:r>
              <a:rPr lang="en-US" dirty="0" err="1"/>
              <a:t>вызова</a:t>
            </a:r>
            <a:r>
              <a:rPr lang="en-US" dirty="0"/>
              <a:t>, а с </a:t>
            </a:r>
            <a:r>
              <a:rPr lang="en-US" dirty="0" err="1"/>
              <a:t>функциями</a:t>
            </a:r>
            <a:r>
              <a:rPr lang="en-US" dirty="0"/>
              <a:t> </a:t>
            </a:r>
            <a:r>
              <a:rPr lang="en-US" dirty="0" err="1"/>
              <a:t>стандартного</a:t>
            </a:r>
            <a:r>
              <a:rPr lang="en-US" dirty="0"/>
              <a:t> </a:t>
            </a:r>
            <a:r>
              <a:rPr lang="en-US" dirty="0" err="1"/>
              <a:t>программного</a:t>
            </a:r>
            <a:r>
              <a:rPr lang="en-US" dirty="0"/>
              <a:t> </a:t>
            </a:r>
            <a:r>
              <a:rPr lang="en-US" dirty="0" err="1"/>
              <a:t>интерфейса</a:t>
            </a:r>
            <a:r>
              <a:rPr lang="en-US" dirty="0"/>
              <a:t> POSIX.</a:t>
            </a:r>
            <a:endParaRPr lang="ru-RU" dirty="0"/>
          </a:p>
          <a:p>
            <a:endParaRPr lang="en-US" dirty="0"/>
          </a:p>
          <a:p>
            <a:r>
              <a:rPr lang="en-US" dirty="0" err="1"/>
              <a:t>Для</a:t>
            </a:r>
            <a:r>
              <a:rPr lang="en-US" dirty="0"/>
              <a:t> C </a:t>
            </a:r>
            <a:r>
              <a:rPr lang="en-US" dirty="0" err="1"/>
              <a:t>это</a:t>
            </a:r>
            <a:r>
              <a:rPr lang="en-US" dirty="0"/>
              <a:t> </a:t>
            </a:r>
            <a:r>
              <a:rPr lang="en-US" dirty="0" err="1"/>
              <a:t>выглядит</a:t>
            </a:r>
            <a:r>
              <a:rPr lang="en-US" dirty="0"/>
              <a:t> </a:t>
            </a:r>
            <a:r>
              <a:rPr lang="en-US" dirty="0" err="1"/>
              <a:t>как</a:t>
            </a:r>
            <a:r>
              <a:rPr lang="en-US" dirty="0"/>
              <a:t> </a:t>
            </a:r>
            <a:r>
              <a:rPr lang="en-US" dirty="0" err="1"/>
              <a:t>вызов</a:t>
            </a:r>
            <a:r>
              <a:rPr lang="en-US" dirty="0"/>
              <a:t> </a:t>
            </a:r>
            <a:r>
              <a:rPr lang="en-US" dirty="0" err="1"/>
              <a:t>обычной</a:t>
            </a:r>
            <a:r>
              <a:rPr lang="en-US" dirty="0"/>
              <a:t> </a:t>
            </a:r>
            <a:r>
              <a:rPr lang="en-US" dirty="0" err="1"/>
              <a:t>функции</a:t>
            </a:r>
            <a:r>
              <a:rPr lang="en-US" dirty="0"/>
              <a:t>. В C++ </a:t>
            </a:r>
            <a:r>
              <a:rPr lang="en-US" dirty="0" err="1"/>
              <a:t>можно</a:t>
            </a:r>
            <a:r>
              <a:rPr lang="en-US" dirty="0"/>
              <a:t> </a:t>
            </a:r>
            <a:r>
              <a:rPr lang="en-US" dirty="0" err="1"/>
              <a:t>использовать</a:t>
            </a:r>
            <a:r>
              <a:rPr lang="en-US" dirty="0"/>
              <a:t> </a:t>
            </a:r>
            <a:r>
              <a:rPr lang="en-US" dirty="0" err="1"/>
              <a:t>тот</a:t>
            </a:r>
            <a:r>
              <a:rPr lang="en-US" dirty="0"/>
              <a:t> </a:t>
            </a:r>
            <a:r>
              <a:rPr lang="en-US" dirty="0" err="1"/>
              <a:t>же</a:t>
            </a:r>
            <a:r>
              <a:rPr lang="en-US" dirty="0"/>
              <a:t> C-</a:t>
            </a:r>
            <a:r>
              <a:rPr lang="en-US" dirty="0" err="1"/>
              <a:t>интерфейс</a:t>
            </a:r>
            <a:r>
              <a:rPr lang="en-US" dirty="0"/>
              <a:t> </a:t>
            </a:r>
            <a:r>
              <a:rPr lang="en-US" dirty="0" err="1"/>
              <a:t>напрямую</a:t>
            </a:r>
            <a:r>
              <a:rPr lang="en-US" dirty="0"/>
              <a:t> </a:t>
            </a:r>
            <a:r>
              <a:rPr lang="en-US" dirty="0" err="1"/>
              <a:t>или</a:t>
            </a:r>
            <a:r>
              <a:rPr lang="en-US" dirty="0"/>
              <a:t> </a:t>
            </a:r>
            <a:r>
              <a:rPr lang="en-US" dirty="0" err="1"/>
              <a:t>более</a:t>
            </a:r>
            <a:r>
              <a:rPr lang="en-US" dirty="0"/>
              <a:t> </a:t>
            </a:r>
            <a:r>
              <a:rPr lang="en-US" dirty="0" err="1"/>
              <a:t>высокоуровневые</a:t>
            </a:r>
            <a:r>
              <a:rPr lang="en-US" dirty="0"/>
              <a:t> </a:t>
            </a:r>
            <a:r>
              <a:rPr lang="en-US" dirty="0" err="1"/>
              <a:t>обёртки</a:t>
            </a:r>
            <a:r>
              <a:rPr lang="en-US" dirty="0"/>
              <a:t>.</a:t>
            </a:r>
            <a:endParaRPr lang="ru-RU" dirty="0"/>
          </a:p>
          <a:p>
            <a:endParaRPr lang="en-US" dirty="0"/>
          </a:p>
          <a:p>
            <a:r>
              <a:rPr lang="en-US" dirty="0" err="1"/>
              <a:t>То</a:t>
            </a:r>
            <a:r>
              <a:rPr lang="en-US" dirty="0"/>
              <a:t> </a:t>
            </a:r>
            <a:r>
              <a:rPr lang="en-US" dirty="0" err="1"/>
              <a:t>есть</a:t>
            </a:r>
            <a:r>
              <a:rPr lang="en-US" dirty="0"/>
              <a:t> </a:t>
            </a:r>
            <a:r>
              <a:rPr lang="en-US" dirty="0" err="1"/>
              <a:t>программист</a:t>
            </a:r>
            <a:r>
              <a:rPr lang="en-US" dirty="0"/>
              <a:t> </a:t>
            </a:r>
            <a:r>
              <a:rPr lang="en-US" dirty="0" err="1"/>
              <a:t>формулирует</a:t>
            </a:r>
            <a:r>
              <a:rPr lang="en-US" dirty="0"/>
              <a:t> </a:t>
            </a:r>
            <a:r>
              <a:rPr lang="en-US" dirty="0" err="1"/>
              <a:t>запрос</a:t>
            </a:r>
            <a:r>
              <a:rPr lang="en-US" dirty="0"/>
              <a:t> </a:t>
            </a:r>
            <a:r>
              <a:rPr lang="en-US" dirty="0" err="1"/>
              <a:t>на</a:t>
            </a:r>
            <a:r>
              <a:rPr lang="en-US" dirty="0"/>
              <a:t> </a:t>
            </a:r>
            <a:r>
              <a:rPr lang="en-US" dirty="0" err="1"/>
              <a:t>привычном</a:t>
            </a:r>
            <a:r>
              <a:rPr lang="en-US" dirty="0"/>
              <a:t> </a:t>
            </a:r>
            <a:r>
              <a:rPr lang="en-US" dirty="0" err="1"/>
              <a:t>уровне</a:t>
            </a:r>
            <a:r>
              <a:rPr lang="en-US" dirty="0"/>
              <a:t> </a:t>
            </a:r>
            <a:r>
              <a:rPr lang="en-US" dirty="0" err="1"/>
              <a:t>языка</a:t>
            </a:r>
            <a:r>
              <a:rPr lang="en-US" dirty="0"/>
              <a:t>, а </a:t>
            </a:r>
            <a:r>
              <a:rPr lang="en-US" dirty="0" err="1"/>
              <a:t>дальше</a:t>
            </a:r>
            <a:r>
              <a:rPr lang="en-US" dirty="0"/>
              <a:t> </a:t>
            </a:r>
            <a:r>
              <a:rPr lang="en-US" dirty="0" err="1"/>
              <a:t>библиотека</a:t>
            </a:r>
            <a:r>
              <a:rPr lang="en-US" dirty="0"/>
              <a:t> и </a:t>
            </a:r>
            <a:r>
              <a:rPr lang="en-US" dirty="0" err="1"/>
              <a:t>операционная</a:t>
            </a:r>
            <a:r>
              <a:rPr lang="en-US" dirty="0"/>
              <a:t> </a:t>
            </a:r>
            <a:r>
              <a:rPr lang="en-US" dirty="0" err="1"/>
              <a:t>система</a:t>
            </a:r>
            <a:r>
              <a:rPr lang="en-US" dirty="0"/>
              <a:t> </a:t>
            </a:r>
            <a:r>
              <a:rPr lang="en-US" dirty="0" err="1"/>
              <a:t>организуют</a:t>
            </a:r>
            <a:r>
              <a:rPr lang="en-US" dirty="0"/>
              <a:t> </a:t>
            </a:r>
            <a:r>
              <a:rPr lang="en-US" dirty="0" err="1"/>
              <a:t>безопасный</a:t>
            </a:r>
            <a:r>
              <a:rPr lang="en-US" dirty="0"/>
              <a:t> </a:t>
            </a:r>
            <a:r>
              <a:rPr lang="en-US" dirty="0" err="1"/>
              <a:t>переход</a:t>
            </a:r>
            <a:r>
              <a:rPr lang="en-US" dirty="0"/>
              <a:t> в </a:t>
            </a:r>
            <a:r>
              <a:rPr lang="en-US" dirty="0" err="1"/>
              <a:t>ядро</a:t>
            </a:r>
            <a:r>
              <a:rPr lang="en-US" dirty="0"/>
              <a:t>.</a:t>
            </a:r>
          </a:p>
          <a:p>
            <a:endParaRPr lang="en-US" dirty="0"/>
          </a:p>
        </p:txBody>
      </p:sp>
      <p:sp>
        <p:nvSpPr>
          <p:cNvPr id="4" name="Slide Number Placeholder 3"/>
          <p:cNvSpPr>
            <a:spLocks noGrp="1"/>
          </p:cNvSpPr>
          <p:nvPr>
            <p:ph type="sldNum" sz="quarter" idx="5"/>
          </p:nvPr>
        </p:nvSpPr>
        <p:spPr/>
        <p:txBody>
          <a:bodyPr/>
          <a:lstStyle/>
          <a:p>
            <a:fld id="{A3EE74EF-BE85-44F3-968F-E74DD74A629E}" type="slidenum">
              <a:rPr lang="en-US" smtClean="0"/>
              <a:t>31</a:t>
            </a:fld>
            <a:endParaRPr lang="en-US"/>
          </a:p>
        </p:txBody>
      </p:sp>
    </p:spTree>
    <p:extLst>
      <p:ext uri="{BB962C8B-B14F-4D97-AF65-F5344CB8AC3E}">
        <p14:creationId xmlns:p14="http://schemas.microsoft.com/office/powerpoint/2010/main" val="41579487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Посмотрим</a:t>
            </a:r>
            <a:r>
              <a:rPr lang="en-US" dirty="0"/>
              <a:t>, </a:t>
            </a:r>
            <a:r>
              <a:rPr lang="en-US" dirty="0" err="1"/>
              <a:t>что</a:t>
            </a:r>
            <a:r>
              <a:rPr lang="en-US" dirty="0"/>
              <a:t> </a:t>
            </a:r>
            <a:r>
              <a:rPr lang="en-US" dirty="0" err="1"/>
              <a:t>происходит</a:t>
            </a:r>
            <a:r>
              <a:rPr lang="en-US" dirty="0"/>
              <a:t> </a:t>
            </a:r>
            <a:r>
              <a:rPr lang="en-US" dirty="0" err="1"/>
              <a:t>внутри</a:t>
            </a:r>
            <a:r>
              <a:rPr lang="en-US" dirty="0"/>
              <a:t> </a:t>
            </a:r>
            <a:r>
              <a:rPr lang="en-US" dirty="0" err="1"/>
              <a:t>на</a:t>
            </a:r>
            <a:r>
              <a:rPr lang="en-US" dirty="0"/>
              <a:t> </a:t>
            </a:r>
            <a:r>
              <a:rPr lang="en-US" dirty="0" err="1"/>
              <a:t>примере</a:t>
            </a:r>
            <a:r>
              <a:rPr lang="en-US" dirty="0"/>
              <a:t> </a:t>
            </a:r>
            <a:r>
              <a:rPr lang="en-US" dirty="0" err="1"/>
              <a:t>функции</a:t>
            </a:r>
            <a:r>
              <a:rPr lang="en-US" dirty="0"/>
              <a:t> </a:t>
            </a:r>
            <a:r>
              <a:rPr lang="en-US" sz="1200" kern="1200" dirty="0">
                <a:solidFill>
                  <a:schemeClr val="tx1"/>
                </a:solidFill>
                <a:latin typeface="+mn-lt"/>
                <a:ea typeface="+mn-ea"/>
                <a:cs typeface="+mn-cs"/>
              </a:rPr>
              <a:t>read</a:t>
            </a:r>
            <a:r>
              <a:rPr lang="en-US" dirty="0"/>
              <a:t>.</a:t>
            </a:r>
            <a:endParaRPr lang="ru-RU" dirty="0"/>
          </a:p>
          <a:p>
            <a:endParaRPr lang="en-US" dirty="0"/>
          </a:p>
          <a:p>
            <a:r>
              <a:rPr lang="en-US" dirty="0"/>
              <a:t>В </a:t>
            </a:r>
            <a:r>
              <a:rPr lang="en-US" dirty="0" err="1"/>
              <a:t>программе</a:t>
            </a:r>
            <a:r>
              <a:rPr lang="en-US" dirty="0"/>
              <a:t> </a:t>
            </a:r>
            <a:r>
              <a:rPr lang="en-US" dirty="0" err="1"/>
              <a:t>мы</a:t>
            </a:r>
            <a:r>
              <a:rPr lang="en-US" dirty="0"/>
              <a:t> </a:t>
            </a:r>
            <a:r>
              <a:rPr lang="en-US" dirty="0" err="1"/>
              <a:t>пишем</a:t>
            </a:r>
            <a:r>
              <a:rPr lang="en-US" dirty="0"/>
              <a:t> </a:t>
            </a:r>
            <a:r>
              <a:rPr lang="en-US" dirty="0" err="1"/>
              <a:t>обычный</a:t>
            </a:r>
            <a:r>
              <a:rPr lang="en-US" dirty="0"/>
              <a:t> </a:t>
            </a:r>
            <a:r>
              <a:rPr lang="en-US" dirty="0" err="1"/>
              <a:t>вызов</a:t>
            </a:r>
            <a:r>
              <a:rPr lang="en-US" dirty="0"/>
              <a:t> </a:t>
            </a:r>
            <a:r>
              <a:rPr lang="en-US" dirty="0" err="1"/>
              <a:t>функции</a:t>
            </a:r>
            <a:r>
              <a:rPr lang="en-US" dirty="0"/>
              <a:t>: </a:t>
            </a:r>
            <a:r>
              <a:rPr lang="en-US" dirty="0" err="1"/>
              <a:t>передаём</a:t>
            </a:r>
            <a:r>
              <a:rPr lang="en-US" dirty="0"/>
              <a:t> </a:t>
            </a:r>
            <a:r>
              <a:rPr lang="en-US" dirty="0" err="1"/>
              <a:t>файловый</a:t>
            </a:r>
            <a:r>
              <a:rPr lang="en-US" dirty="0"/>
              <a:t> </a:t>
            </a:r>
            <a:r>
              <a:rPr lang="en-US" dirty="0" err="1"/>
              <a:t>дескриптор</a:t>
            </a:r>
            <a:r>
              <a:rPr lang="en-US" dirty="0"/>
              <a:t>, </a:t>
            </a:r>
            <a:r>
              <a:rPr lang="en-US" dirty="0" err="1"/>
              <a:t>адрес</a:t>
            </a:r>
            <a:r>
              <a:rPr lang="en-US" dirty="0"/>
              <a:t> </a:t>
            </a:r>
            <a:r>
              <a:rPr lang="en-US" dirty="0" err="1"/>
              <a:t>буфера</a:t>
            </a:r>
            <a:r>
              <a:rPr lang="en-US" dirty="0"/>
              <a:t> и </a:t>
            </a:r>
            <a:r>
              <a:rPr lang="en-US" dirty="0" err="1"/>
              <a:t>количество</a:t>
            </a:r>
            <a:r>
              <a:rPr lang="en-US" dirty="0"/>
              <a:t> </a:t>
            </a:r>
            <a:r>
              <a:rPr lang="en-US" dirty="0" err="1"/>
              <a:t>байтов</a:t>
            </a:r>
            <a:r>
              <a:rPr lang="en-US" dirty="0"/>
              <a:t>, </a:t>
            </a:r>
            <a:r>
              <a:rPr lang="en-US" dirty="0" err="1"/>
              <a:t>которое</a:t>
            </a:r>
            <a:r>
              <a:rPr lang="en-US" dirty="0"/>
              <a:t> </a:t>
            </a:r>
            <a:r>
              <a:rPr lang="en-US" dirty="0" err="1"/>
              <a:t>хотим</a:t>
            </a:r>
            <a:r>
              <a:rPr lang="en-US" dirty="0"/>
              <a:t> </a:t>
            </a:r>
            <a:r>
              <a:rPr lang="en-US" dirty="0" err="1"/>
              <a:t>прочитать</a:t>
            </a:r>
            <a:r>
              <a:rPr lang="en-US" dirty="0"/>
              <a:t>.</a:t>
            </a:r>
          </a:p>
          <a:p>
            <a:r>
              <a:rPr lang="en-US" dirty="0" err="1"/>
              <a:t>Для</a:t>
            </a:r>
            <a:r>
              <a:rPr lang="en-US" dirty="0"/>
              <a:t> </a:t>
            </a:r>
            <a:r>
              <a:rPr lang="en-US" dirty="0" err="1"/>
              <a:t>программы</a:t>
            </a:r>
            <a:r>
              <a:rPr lang="en-US" dirty="0"/>
              <a:t> </a:t>
            </a:r>
            <a:r>
              <a:rPr lang="en-US" dirty="0" err="1"/>
              <a:t>это</a:t>
            </a:r>
            <a:r>
              <a:rPr lang="en-US" dirty="0"/>
              <a:t> </a:t>
            </a:r>
            <a:r>
              <a:rPr lang="en-US" dirty="0" err="1"/>
              <a:t>выглядит</a:t>
            </a:r>
            <a:r>
              <a:rPr lang="en-US" dirty="0"/>
              <a:t> </a:t>
            </a:r>
            <a:r>
              <a:rPr lang="en-US" dirty="0" err="1"/>
              <a:t>почти</a:t>
            </a:r>
            <a:r>
              <a:rPr lang="en-US" dirty="0"/>
              <a:t> </a:t>
            </a:r>
            <a:r>
              <a:rPr lang="en-US" dirty="0" err="1"/>
              <a:t>так</a:t>
            </a:r>
            <a:r>
              <a:rPr lang="en-US" dirty="0"/>
              <a:t> </a:t>
            </a:r>
            <a:r>
              <a:rPr lang="en-US" dirty="0" err="1"/>
              <a:t>же</a:t>
            </a:r>
            <a:r>
              <a:rPr lang="en-US" dirty="0"/>
              <a:t>, </a:t>
            </a:r>
            <a:r>
              <a:rPr lang="en-US" dirty="0" err="1"/>
              <a:t>как</a:t>
            </a:r>
            <a:r>
              <a:rPr lang="en-US" dirty="0"/>
              <a:t> </a:t>
            </a:r>
            <a:r>
              <a:rPr lang="en-US" dirty="0" err="1"/>
              <a:t>вызов</a:t>
            </a:r>
            <a:r>
              <a:rPr lang="en-US" dirty="0"/>
              <a:t> </a:t>
            </a:r>
            <a:r>
              <a:rPr lang="en-US" dirty="0" err="1"/>
              <a:t>любой</a:t>
            </a:r>
            <a:r>
              <a:rPr lang="en-US" dirty="0"/>
              <a:t> </a:t>
            </a:r>
            <a:r>
              <a:rPr lang="en-US" dirty="0" err="1"/>
              <a:t>другой</a:t>
            </a:r>
            <a:r>
              <a:rPr lang="en-US" dirty="0"/>
              <a:t> </a:t>
            </a:r>
            <a:r>
              <a:rPr lang="en-US" dirty="0" err="1"/>
              <a:t>функции</a:t>
            </a:r>
            <a:r>
              <a:rPr lang="en-US" dirty="0"/>
              <a:t>.</a:t>
            </a:r>
            <a:endParaRPr lang="ru-RU" dirty="0"/>
          </a:p>
          <a:p>
            <a:endParaRPr lang="en-US" dirty="0"/>
          </a:p>
          <a:p>
            <a:r>
              <a:rPr lang="en-US" dirty="0" err="1"/>
              <a:t>Но</a:t>
            </a:r>
            <a:r>
              <a:rPr lang="en-US" dirty="0"/>
              <a:t> </a:t>
            </a:r>
            <a:r>
              <a:rPr lang="en-US" dirty="0" err="1"/>
              <a:t>операция</a:t>
            </a:r>
            <a:r>
              <a:rPr lang="en-US" dirty="0"/>
              <a:t> </a:t>
            </a:r>
            <a:r>
              <a:rPr lang="en-US" dirty="0" err="1"/>
              <a:t>чтения</a:t>
            </a:r>
            <a:r>
              <a:rPr lang="en-US" dirty="0"/>
              <a:t> </a:t>
            </a:r>
            <a:r>
              <a:rPr lang="en-US" dirty="0" err="1"/>
              <a:t>требует</a:t>
            </a:r>
            <a:r>
              <a:rPr lang="en-US" dirty="0"/>
              <a:t> </a:t>
            </a:r>
            <a:r>
              <a:rPr lang="en-US" dirty="0" err="1"/>
              <a:t>доступа</a:t>
            </a:r>
            <a:r>
              <a:rPr lang="en-US" dirty="0"/>
              <a:t> к </a:t>
            </a:r>
            <a:r>
              <a:rPr lang="en-US" dirty="0" err="1"/>
              <a:t>ресурсам</a:t>
            </a:r>
            <a:r>
              <a:rPr lang="en-US" dirty="0"/>
              <a:t>, </a:t>
            </a:r>
            <a:r>
              <a:rPr lang="en-US" dirty="0" err="1"/>
              <a:t>которыми</a:t>
            </a:r>
            <a:r>
              <a:rPr lang="en-US" dirty="0"/>
              <a:t> </a:t>
            </a:r>
            <a:r>
              <a:rPr lang="en-US" dirty="0" err="1"/>
              <a:t>управляет</a:t>
            </a:r>
            <a:r>
              <a:rPr lang="en-US" dirty="0"/>
              <a:t> </a:t>
            </a:r>
            <a:r>
              <a:rPr lang="en-US" dirty="0" err="1"/>
              <a:t>ядро</a:t>
            </a:r>
            <a:r>
              <a:rPr lang="en-US" dirty="0"/>
              <a:t>. </a:t>
            </a:r>
            <a:r>
              <a:rPr lang="en-US" dirty="0" err="1"/>
              <a:t>Поэтому</a:t>
            </a:r>
            <a:r>
              <a:rPr lang="en-US" dirty="0"/>
              <a:t> </a:t>
            </a:r>
            <a:r>
              <a:rPr lang="en-US" dirty="0" err="1"/>
              <a:t>библиотечная</a:t>
            </a:r>
            <a:r>
              <a:rPr lang="en-US" dirty="0"/>
              <a:t> </a:t>
            </a:r>
            <a:r>
              <a:rPr lang="en-US" dirty="0" err="1"/>
              <a:t>реализация</a:t>
            </a:r>
            <a:r>
              <a:rPr lang="en-US" dirty="0"/>
              <a:t> </a:t>
            </a:r>
            <a:r>
              <a:rPr lang="en-US" dirty="0" err="1"/>
              <a:t>подготавливает</a:t>
            </a:r>
            <a:r>
              <a:rPr lang="en-US" dirty="0"/>
              <a:t> </a:t>
            </a:r>
            <a:r>
              <a:rPr lang="en-US" dirty="0" err="1"/>
              <a:t>параметры</a:t>
            </a:r>
            <a:r>
              <a:rPr lang="en-US" dirty="0"/>
              <a:t> в </a:t>
            </a:r>
            <a:r>
              <a:rPr lang="en-US" dirty="0" err="1"/>
              <a:t>соответствии</a:t>
            </a:r>
            <a:r>
              <a:rPr lang="en-US" dirty="0"/>
              <a:t> с </a:t>
            </a:r>
            <a:r>
              <a:rPr lang="en-US" dirty="0" err="1"/>
              <a:t>соглашениями</a:t>
            </a:r>
            <a:r>
              <a:rPr lang="en-US" dirty="0"/>
              <a:t> </a:t>
            </a:r>
            <a:r>
              <a:rPr lang="en-US" dirty="0" err="1"/>
              <a:t>конкретной</a:t>
            </a:r>
            <a:r>
              <a:rPr lang="en-US" dirty="0"/>
              <a:t> </a:t>
            </a:r>
            <a:r>
              <a:rPr lang="en-US" dirty="0" err="1"/>
              <a:t>платформы</a:t>
            </a:r>
            <a:r>
              <a:rPr lang="en-US" dirty="0"/>
              <a:t>, </a:t>
            </a:r>
            <a:r>
              <a:rPr lang="en-US" dirty="0" err="1"/>
              <a:t>указывает</a:t>
            </a:r>
            <a:r>
              <a:rPr lang="en-US" dirty="0"/>
              <a:t> </a:t>
            </a:r>
            <a:r>
              <a:rPr lang="en-US" dirty="0" err="1"/>
              <a:t>номер</a:t>
            </a:r>
            <a:r>
              <a:rPr lang="en-US" dirty="0"/>
              <a:t> </a:t>
            </a:r>
            <a:r>
              <a:rPr lang="en-US" dirty="0" err="1"/>
              <a:t>нужного</a:t>
            </a:r>
            <a:r>
              <a:rPr lang="en-US" dirty="0"/>
              <a:t> </a:t>
            </a:r>
            <a:r>
              <a:rPr lang="en-US" dirty="0" err="1"/>
              <a:t>системного</a:t>
            </a:r>
            <a:r>
              <a:rPr lang="en-US" dirty="0"/>
              <a:t> </a:t>
            </a:r>
            <a:r>
              <a:rPr lang="en-US" dirty="0" err="1"/>
              <a:t>вызова</a:t>
            </a:r>
            <a:r>
              <a:rPr lang="en-US" dirty="0"/>
              <a:t> и </a:t>
            </a:r>
            <a:r>
              <a:rPr lang="en-US" dirty="0" err="1"/>
              <a:t>выполняет</a:t>
            </a:r>
            <a:r>
              <a:rPr lang="en-US" dirty="0"/>
              <a:t> </a:t>
            </a:r>
            <a:r>
              <a:rPr lang="en-US" dirty="0" err="1"/>
              <a:t>специальную</a:t>
            </a:r>
            <a:r>
              <a:rPr lang="en-US" dirty="0"/>
              <a:t> </a:t>
            </a:r>
            <a:r>
              <a:rPr lang="en-US" dirty="0" err="1"/>
              <a:t>инструкцию</a:t>
            </a:r>
            <a:r>
              <a:rPr lang="en-US" dirty="0"/>
              <a:t> </a:t>
            </a:r>
            <a:r>
              <a:rPr lang="en-US" dirty="0" err="1"/>
              <a:t>процессора</a:t>
            </a:r>
            <a:r>
              <a:rPr lang="en-US" dirty="0"/>
              <a:t>.</a:t>
            </a:r>
            <a:endParaRPr lang="ru-RU" dirty="0"/>
          </a:p>
          <a:p>
            <a:endParaRPr lang="en-US" dirty="0"/>
          </a:p>
          <a:p>
            <a:r>
              <a:rPr lang="en-US" dirty="0" err="1"/>
              <a:t>Например</a:t>
            </a:r>
            <a:r>
              <a:rPr lang="en-US" dirty="0"/>
              <a:t>, </a:t>
            </a:r>
            <a:r>
              <a:rPr lang="en-US" dirty="0" err="1"/>
              <a:t>на</a:t>
            </a:r>
            <a:r>
              <a:rPr lang="en-US" dirty="0"/>
              <a:t> </a:t>
            </a:r>
            <a:r>
              <a:rPr lang="en-US" dirty="0" err="1"/>
              <a:t>современных</a:t>
            </a:r>
            <a:r>
              <a:rPr lang="en-US" dirty="0"/>
              <a:t> x86-64 </a:t>
            </a:r>
            <a:r>
              <a:rPr lang="en-US" dirty="0" err="1"/>
              <a:t>для</a:t>
            </a:r>
            <a:r>
              <a:rPr lang="en-US" dirty="0"/>
              <a:t> </a:t>
            </a:r>
            <a:r>
              <a:rPr lang="en-US" dirty="0" err="1"/>
              <a:t>этого</a:t>
            </a:r>
            <a:r>
              <a:rPr lang="en-US" dirty="0"/>
              <a:t> </a:t>
            </a:r>
            <a:r>
              <a:rPr lang="en-US" dirty="0" err="1"/>
              <a:t>используется</a:t>
            </a:r>
            <a:r>
              <a:rPr lang="en-US" dirty="0"/>
              <a:t> </a:t>
            </a:r>
            <a:r>
              <a:rPr lang="en-US" dirty="0" err="1"/>
              <a:t>инструкция</a:t>
            </a:r>
            <a:r>
              <a:rPr lang="en-US" dirty="0"/>
              <a:t> </a:t>
            </a:r>
            <a:r>
              <a:rPr lang="en-US" sz="1200" kern="1200" dirty="0" err="1">
                <a:solidFill>
                  <a:schemeClr val="tx1"/>
                </a:solidFill>
                <a:latin typeface="+mn-lt"/>
                <a:ea typeface="+mn-ea"/>
                <a:cs typeface="+mn-cs"/>
              </a:rPr>
              <a:t>syscall</a:t>
            </a:r>
            <a:r>
              <a:rPr lang="en-US" dirty="0"/>
              <a:t>.</a:t>
            </a:r>
            <a:endParaRPr lang="ru-RU" dirty="0"/>
          </a:p>
          <a:p>
            <a:endParaRPr lang="en-US" dirty="0"/>
          </a:p>
          <a:p>
            <a:r>
              <a:rPr lang="en-US" dirty="0" err="1"/>
              <a:t>Эта</a:t>
            </a:r>
            <a:r>
              <a:rPr lang="en-US" dirty="0"/>
              <a:t> </a:t>
            </a:r>
            <a:r>
              <a:rPr lang="en-US" dirty="0" err="1"/>
              <a:t>инструкция</a:t>
            </a:r>
            <a:r>
              <a:rPr lang="en-US" dirty="0"/>
              <a:t> </a:t>
            </a:r>
            <a:r>
              <a:rPr lang="en-US" dirty="0" err="1"/>
              <a:t>принципиально</a:t>
            </a:r>
            <a:r>
              <a:rPr lang="en-US" dirty="0"/>
              <a:t> </a:t>
            </a:r>
            <a:r>
              <a:rPr lang="en-US" dirty="0" err="1"/>
              <a:t>отличается</a:t>
            </a:r>
            <a:r>
              <a:rPr lang="en-US" dirty="0"/>
              <a:t> </a:t>
            </a:r>
            <a:r>
              <a:rPr lang="en-US" dirty="0" err="1"/>
              <a:t>от</a:t>
            </a:r>
            <a:r>
              <a:rPr lang="en-US" dirty="0"/>
              <a:t> </a:t>
            </a:r>
            <a:r>
              <a:rPr lang="en-US" dirty="0" err="1"/>
              <a:t>обычного</a:t>
            </a:r>
            <a:r>
              <a:rPr lang="en-US" dirty="0"/>
              <a:t> </a:t>
            </a:r>
            <a:r>
              <a:rPr lang="en-US" dirty="0" err="1"/>
              <a:t>вызова</a:t>
            </a:r>
            <a:r>
              <a:rPr lang="en-US" dirty="0"/>
              <a:t> </a:t>
            </a:r>
            <a:r>
              <a:rPr lang="en-US" dirty="0" err="1"/>
              <a:t>функции</a:t>
            </a:r>
            <a:r>
              <a:rPr lang="en-US" dirty="0"/>
              <a:t>: </a:t>
            </a:r>
            <a:r>
              <a:rPr lang="en-US" dirty="0" err="1"/>
              <a:t>процессор</a:t>
            </a:r>
            <a:r>
              <a:rPr lang="en-US" dirty="0"/>
              <a:t> </a:t>
            </a:r>
            <a:r>
              <a:rPr lang="en-US" dirty="0" err="1"/>
              <a:t>переключается</a:t>
            </a:r>
            <a:r>
              <a:rPr lang="en-US" dirty="0"/>
              <a:t> </a:t>
            </a:r>
            <a:r>
              <a:rPr lang="en-US" dirty="0" err="1"/>
              <a:t>из</a:t>
            </a:r>
            <a:r>
              <a:rPr lang="en-US" dirty="0"/>
              <a:t> </a:t>
            </a:r>
            <a:r>
              <a:rPr lang="en-US" dirty="0" err="1"/>
              <a:t>пользовательского</a:t>
            </a:r>
            <a:r>
              <a:rPr lang="en-US" dirty="0"/>
              <a:t> </a:t>
            </a:r>
            <a:r>
              <a:rPr lang="en-US" dirty="0" err="1"/>
              <a:t>режима</a:t>
            </a:r>
            <a:r>
              <a:rPr lang="en-US" dirty="0"/>
              <a:t> в </a:t>
            </a:r>
            <a:r>
              <a:rPr lang="en-US" dirty="0" err="1"/>
              <a:t>режим</a:t>
            </a:r>
            <a:r>
              <a:rPr lang="en-US" dirty="0"/>
              <a:t> </a:t>
            </a:r>
            <a:r>
              <a:rPr lang="en-US" dirty="0" err="1"/>
              <a:t>ядра</a:t>
            </a:r>
            <a:r>
              <a:rPr lang="en-US" dirty="0"/>
              <a:t> и </a:t>
            </a:r>
            <a:r>
              <a:rPr lang="en-US" dirty="0" err="1"/>
              <a:t>передаёт</a:t>
            </a:r>
            <a:r>
              <a:rPr lang="en-US" dirty="0"/>
              <a:t> </a:t>
            </a:r>
            <a:r>
              <a:rPr lang="en-US" dirty="0" err="1"/>
              <a:t>управление</a:t>
            </a:r>
            <a:r>
              <a:rPr lang="en-US" dirty="0"/>
              <a:t> в </a:t>
            </a:r>
            <a:r>
              <a:rPr lang="en-US" dirty="0" err="1"/>
              <a:t>заранее</a:t>
            </a:r>
            <a:r>
              <a:rPr lang="en-US" dirty="0"/>
              <a:t> </a:t>
            </a:r>
            <a:r>
              <a:rPr lang="en-US" dirty="0" err="1"/>
              <a:t>определённую</a:t>
            </a:r>
            <a:r>
              <a:rPr lang="en-US" dirty="0"/>
              <a:t> </a:t>
            </a:r>
            <a:r>
              <a:rPr lang="en-US" dirty="0" err="1"/>
              <a:t>точку</a:t>
            </a:r>
            <a:r>
              <a:rPr lang="en-US" dirty="0"/>
              <a:t> </a:t>
            </a:r>
            <a:r>
              <a:rPr lang="en-US" dirty="0" err="1"/>
              <a:t>ядра</a:t>
            </a:r>
            <a:r>
              <a:rPr lang="en-US" dirty="0"/>
              <a:t>.</a:t>
            </a:r>
            <a:endParaRPr lang="ru-RU" dirty="0"/>
          </a:p>
          <a:p>
            <a:endParaRPr lang="en-US" dirty="0"/>
          </a:p>
          <a:p>
            <a:r>
              <a:rPr lang="en-US" dirty="0" err="1"/>
              <a:t>Ядро</a:t>
            </a:r>
            <a:r>
              <a:rPr lang="en-US" dirty="0"/>
              <a:t> </a:t>
            </a:r>
            <a:r>
              <a:rPr lang="en-US" dirty="0" err="1"/>
              <a:t>определяет</a:t>
            </a:r>
            <a:r>
              <a:rPr lang="en-US" dirty="0"/>
              <a:t>, </a:t>
            </a:r>
            <a:r>
              <a:rPr lang="en-US" dirty="0" err="1"/>
              <a:t>какую</a:t>
            </a:r>
            <a:r>
              <a:rPr lang="en-US" dirty="0"/>
              <a:t> </a:t>
            </a:r>
            <a:r>
              <a:rPr lang="en-US" dirty="0" err="1"/>
              <a:t>операцию</a:t>
            </a:r>
            <a:r>
              <a:rPr lang="en-US" dirty="0"/>
              <a:t> </a:t>
            </a:r>
            <a:r>
              <a:rPr lang="en-US" dirty="0" err="1"/>
              <a:t>запросила</a:t>
            </a:r>
            <a:r>
              <a:rPr lang="en-US" dirty="0"/>
              <a:t> </a:t>
            </a:r>
            <a:r>
              <a:rPr lang="en-US" dirty="0" err="1"/>
              <a:t>программа</a:t>
            </a:r>
            <a:r>
              <a:rPr lang="en-US" dirty="0"/>
              <a:t>, </a:t>
            </a:r>
            <a:r>
              <a:rPr lang="en-US" dirty="0" err="1"/>
              <a:t>проверяет</a:t>
            </a:r>
            <a:r>
              <a:rPr lang="en-US" dirty="0"/>
              <a:t> </a:t>
            </a:r>
            <a:r>
              <a:rPr lang="en-US" dirty="0" err="1"/>
              <a:t>параметры</a:t>
            </a:r>
            <a:r>
              <a:rPr lang="en-US" dirty="0"/>
              <a:t> и </a:t>
            </a:r>
            <a:r>
              <a:rPr lang="en-US" dirty="0" err="1"/>
              <a:t>права</a:t>
            </a:r>
            <a:r>
              <a:rPr lang="en-US" dirty="0"/>
              <a:t> </a:t>
            </a:r>
            <a:r>
              <a:rPr lang="en-US" dirty="0" err="1"/>
              <a:t>доступа</a:t>
            </a:r>
            <a:r>
              <a:rPr lang="en-US" dirty="0"/>
              <a:t>, </a:t>
            </a:r>
            <a:r>
              <a:rPr lang="en-US" dirty="0" err="1"/>
              <a:t>выполняет</a:t>
            </a:r>
            <a:r>
              <a:rPr lang="en-US" dirty="0"/>
              <a:t> </a:t>
            </a:r>
            <a:r>
              <a:rPr lang="en-US" dirty="0" err="1"/>
              <a:t>операцию</a:t>
            </a:r>
            <a:r>
              <a:rPr lang="en-US" dirty="0"/>
              <a:t>, а </a:t>
            </a:r>
            <a:r>
              <a:rPr lang="en-US" dirty="0" err="1"/>
              <a:t>затем</a:t>
            </a:r>
            <a:r>
              <a:rPr lang="en-US" dirty="0"/>
              <a:t> </a:t>
            </a:r>
            <a:r>
              <a:rPr lang="en-US" dirty="0" err="1"/>
              <a:t>возвращает</a:t>
            </a:r>
            <a:r>
              <a:rPr lang="en-US" dirty="0"/>
              <a:t> </a:t>
            </a:r>
            <a:r>
              <a:rPr lang="en-US" dirty="0" err="1"/>
              <a:t>результат</a:t>
            </a:r>
            <a:r>
              <a:rPr lang="en-US" dirty="0"/>
              <a:t> </a:t>
            </a:r>
            <a:r>
              <a:rPr lang="en-US" dirty="0" err="1"/>
              <a:t>обратно</a:t>
            </a:r>
            <a:r>
              <a:rPr lang="en-US" dirty="0"/>
              <a:t>.</a:t>
            </a:r>
            <a:endParaRPr lang="ru-RU" dirty="0"/>
          </a:p>
          <a:p>
            <a:endParaRPr lang="en-US" dirty="0"/>
          </a:p>
          <a:p>
            <a:r>
              <a:rPr lang="en-US" dirty="0" err="1"/>
              <a:t>Процессор</a:t>
            </a:r>
            <a:r>
              <a:rPr lang="en-US" dirty="0"/>
              <a:t> </a:t>
            </a:r>
            <a:r>
              <a:rPr lang="en-US" dirty="0" err="1"/>
              <a:t>снова</a:t>
            </a:r>
            <a:r>
              <a:rPr lang="en-US" dirty="0"/>
              <a:t> </a:t>
            </a:r>
            <a:r>
              <a:rPr lang="en-US" dirty="0" err="1"/>
              <a:t>переходит</a:t>
            </a:r>
            <a:r>
              <a:rPr lang="en-US" dirty="0"/>
              <a:t> в </a:t>
            </a:r>
            <a:r>
              <a:rPr lang="en-US" dirty="0" err="1"/>
              <a:t>пользовательский</a:t>
            </a:r>
            <a:r>
              <a:rPr lang="en-US" dirty="0"/>
              <a:t> </a:t>
            </a:r>
            <a:r>
              <a:rPr lang="en-US" dirty="0" err="1"/>
              <a:t>режим</a:t>
            </a:r>
            <a:r>
              <a:rPr lang="en-US" dirty="0"/>
              <a:t>, </a:t>
            </a:r>
            <a:r>
              <a:rPr lang="en-US" dirty="0" err="1"/>
              <a:t>библиотечная</a:t>
            </a:r>
            <a:r>
              <a:rPr lang="en-US" dirty="0"/>
              <a:t> </a:t>
            </a:r>
            <a:r>
              <a:rPr lang="en-US" dirty="0" err="1"/>
              <a:t>функция</a:t>
            </a:r>
            <a:r>
              <a:rPr lang="en-US" dirty="0"/>
              <a:t> </a:t>
            </a:r>
            <a:r>
              <a:rPr lang="en-US" dirty="0" err="1"/>
              <a:t>завершается</a:t>
            </a:r>
            <a:r>
              <a:rPr lang="en-US" dirty="0"/>
              <a:t>, и </a:t>
            </a:r>
            <a:r>
              <a:rPr lang="en-US" dirty="0" err="1"/>
              <a:t>наша</a:t>
            </a:r>
            <a:r>
              <a:rPr lang="en-US" dirty="0"/>
              <a:t> </a:t>
            </a:r>
            <a:r>
              <a:rPr lang="en-US" dirty="0" err="1"/>
              <a:t>программа</a:t>
            </a:r>
            <a:r>
              <a:rPr lang="en-US" dirty="0"/>
              <a:t> </a:t>
            </a:r>
            <a:r>
              <a:rPr lang="en-US" dirty="0" err="1"/>
              <a:t>получает</a:t>
            </a:r>
            <a:r>
              <a:rPr lang="en-US" dirty="0"/>
              <a:t> </a:t>
            </a:r>
            <a:r>
              <a:rPr lang="en-US" dirty="0" err="1"/>
              <a:t>результат</a:t>
            </a:r>
            <a:r>
              <a:rPr lang="en-US" dirty="0"/>
              <a:t>.</a:t>
            </a:r>
            <a:endParaRPr lang="ru-RU" dirty="0"/>
          </a:p>
          <a:p>
            <a:endParaRPr lang="en-US" dirty="0"/>
          </a:p>
          <a:p>
            <a:r>
              <a:rPr lang="en-US" dirty="0" err="1"/>
              <a:t>То</a:t>
            </a:r>
            <a:r>
              <a:rPr lang="en-US" dirty="0"/>
              <a:t> </a:t>
            </a:r>
            <a:r>
              <a:rPr lang="en-US" dirty="0" err="1"/>
              <a:t>есть</a:t>
            </a:r>
            <a:r>
              <a:rPr lang="en-US" dirty="0"/>
              <a:t> </a:t>
            </a:r>
            <a:r>
              <a:rPr lang="en-US" dirty="0" err="1"/>
              <a:t>программист</a:t>
            </a:r>
            <a:r>
              <a:rPr lang="en-US" dirty="0"/>
              <a:t> </a:t>
            </a:r>
            <a:r>
              <a:rPr lang="en-US" dirty="0" err="1"/>
              <a:t>видит</a:t>
            </a:r>
            <a:r>
              <a:rPr lang="en-US" dirty="0"/>
              <a:t> </a:t>
            </a:r>
            <a:r>
              <a:rPr lang="en-US" dirty="0" err="1"/>
              <a:t>простой</a:t>
            </a:r>
            <a:r>
              <a:rPr lang="en-US" dirty="0"/>
              <a:t> </a:t>
            </a:r>
            <a:r>
              <a:rPr lang="en-US" dirty="0" err="1"/>
              <a:t>вызов</a:t>
            </a:r>
            <a:r>
              <a:rPr lang="en-US" dirty="0"/>
              <a:t> C-</a:t>
            </a:r>
            <a:r>
              <a:rPr lang="en-US" dirty="0" err="1"/>
              <a:t>функции</a:t>
            </a:r>
            <a:r>
              <a:rPr lang="en-US" dirty="0"/>
              <a:t>, </a:t>
            </a:r>
            <a:r>
              <a:rPr lang="en-US" dirty="0" err="1"/>
              <a:t>но</a:t>
            </a:r>
            <a:r>
              <a:rPr lang="en-US" dirty="0"/>
              <a:t> </a:t>
            </a:r>
            <a:r>
              <a:rPr lang="en-US" dirty="0" err="1"/>
              <a:t>внутри</a:t>
            </a:r>
            <a:r>
              <a:rPr lang="en-US" dirty="0"/>
              <a:t> </a:t>
            </a:r>
            <a:r>
              <a:rPr lang="en-US" dirty="0" err="1"/>
              <a:t>происходит</a:t>
            </a:r>
            <a:r>
              <a:rPr lang="en-US" dirty="0"/>
              <a:t> </a:t>
            </a:r>
            <a:r>
              <a:rPr lang="en-US" b="1" dirty="0" err="1"/>
              <a:t>контролируемый</a:t>
            </a:r>
            <a:r>
              <a:rPr lang="en-US" b="1" dirty="0"/>
              <a:t> </a:t>
            </a:r>
            <a:r>
              <a:rPr lang="en-US" b="1" dirty="0" err="1"/>
              <a:t>переход</a:t>
            </a:r>
            <a:r>
              <a:rPr lang="en-US" b="1" dirty="0"/>
              <a:t> </a:t>
            </a:r>
            <a:r>
              <a:rPr lang="en-US" b="1" dirty="0" err="1"/>
              <a:t>через</a:t>
            </a:r>
            <a:r>
              <a:rPr lang="en-US" b="1" dirty="0"/>
              <a:t> </a:t>
            </a:r>
            <a:r>
              <a:rPr lang="en-US" b="1" dirty="0" err="1"/>
              <a:t>аппаратную</a:t>
            </a:r>
            <a:r>
              <a:rPr lang="en-US" b="1" dirty="0"/>
              <a:t> </a:t>
            </a:r>
            <a:r>
              <a:rPr lang="en-US" b="1" dirty="0" err="1"/>
              <a:t>границу</a:t>
            </a:r>
            <a:r>
              <a:rPr lang="en-US" b="1" dirty="0"/>
              <a:t> </a:t>
            </a:r>
            <a:r>
              <a:rPr lang="en-US" b="1" dirty="0" err="1"/>
              <a:t>между</a:t>
            </a:r>
            <a:r>
              <a:rPr lang="en-US" b="1" dirty="0"/>
              <a:t> </a:t>
            </a:r>
            <a:r>
              <a:rPr lang="en-US" b="1" dirty="0" err="1"/>
              <a:t>приложением</a:t>
            </a:r>
            <a:r>
              <a:rPr lang="en-US" b="1" dirty="0"/>
              <a:t> и </a:t>
            </a:r>
            <a:r>
              <a:rPr lang="en-US" b="1" dirty="0" err="1"/>
              <a:t>ядром</a:t>
            </a:r>
            <a:r>
              <a:rPr lang="en-US" dirty="0"/>
              <a:t>.</a:t>
            </a:r>
          </a:p>
          <a:p>
            <a:endParaRPr lang="en-US" dirty="0"/>
          </a:p>
        </p:txBody>
      </p:sp>
      <p:sp>
        <p:nvSpPr>
          <p:cNvPr id="4" name="Slide Number Placeholder 3"/>
          <p:cNvSpPr>
            <a:spLocks noGrp="1"/>
          </p:cNvSpPr>
          <p:nvPr>
            <p:ph type="sldNum" sz="quarter" idx="5"/>
          </p:nvPr>
        </p:nvSpPr>
        <p:spPr/>
        <p:txBody>
          <a:bodyPr/>
          <a:lstStyle/>
          <a:p>
            <a:fld id="{A3EE74EF-BE85-44F3-968F-E74DD74A629E}" type="slidenum">
              <a:rPr lang="en-US" smtClean="0"/>
              <a:t>32</a:t>
            </a:fld>
            <a:endParaRPr lang="en-US"/>
          </a:p>
        </p:txBody>
      </p:sp>
    </p:spTree>
    <p:extLst>
      <p:ext uri="{BB962C8B-B14F-4D97-AF65-F5344CB8AC3E}">
        <p14:creationId xmlns:p14="http://schemas.microsoft.com/office/powerpoint/2010/main" val="15659768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POSIX </a:t>
            </a:r>
            <a:r>
              <a:rPr lang="en-US" dirty="0" err="1"/>
              <a:t>определяет</a:t>
            </a:r>
            <a:r>
              <a:rPr lang="en-US" dirty="0"/>
              <a:t> </a:t>
            </a:r>
            <a:r>
              <a:rPr lang="en-US" dirty="0" err="1"/>
              <a:t>множество</a:t>
            </a:r>
            <a:r>
              <a:rPr lang="en-US" dirty="0"/>
              <a:t> </a:t>
            </a:r>
            <a:r>
              <a:rPr lang="en-US" dirty="0" err="1"/>
              <a:t>интерфейсов</a:t>
            </a:r>
            <a:r>
              <a:rPr lang="en-US" dirty="0"/>
              <a:t> </a:t>
            </a:r>
            <a:r>
              <a:rPr lang="en-US" dirty="0" err="1"/>
              <a:t>для</a:t>
            </a:r>
            <a:r>
              <a:rPr lang="en-US" dirty="0"/>
              <a:t> </a:t>
            </a:r>
            <a:r>
              <a:rPr lang="en-US" dirty="0" err="1"/>
              <a:t>разных</a:t>
            </a:r>
            <a:r>
              <a:rPr lang="en-US" dirty="0"/>
              <a:t> </a:t>
            </a:r>
            <a:r>
              <a:rPr lang="en-US" dirty="0" err="1"/>
              <a:t>задач</a:t>
            </a:r>
            <a:r>
              <a:rPr lang="en-US" dirty="0"/>
              <a:t> </a:t>
            </a:r>
            <a:r>
              <a:rPr lang="en-US" dirty="0" err="1"/>
              <a:t>операционной</a:t>
            </a:r>
            <a:r>
              <a:rPr lang="en-US" dirty="0"/>
              <a:t> </a:t>
            </a:r>
            <a:r>
              <a:rPr lang="en-US" dirty="0" err="1"/>
              <a:t>системы</a:t>
            </a:r>
            <a:r>
              <a:rPr lang="en-US" dirty="0"/>
              <a:t>.</a:t>
            </a:r>
          </a:p>
          <a:p>
            <a:endParaRPr lang="en-US" dirty="0"/>
          </a:p>
          <a:p>
            <a:r>
              <a:rPr lang="en-US" dirty="0" err="1"/>
              <a:t>Например</a:t>
            </a:r>
            <a:r>
              <a:rPr lang="en-US" dirty="0"/>
              <a:t>, </a:t>
            </a:r>
            <a:r>
              <a:rPr lang="en-US" dirty="0" err="1"/>
              <a:t>для</a:t>
            </a:r>
            <a:r>
              <a:rPr lang="en-US" dirty="0"/>
              <a:t> </a:t>
            </a:r>
            <a:r>
              <a:rPr lang="en-US" dirty="0" err="1"/>
              <a:t>работы</a:t>
            </a:r>
            <a:r>
              <a:rPr lang="en-US" dirty="0"/>
              <a:t> с </a:t>
            </a:r>
            <a:r>
              <a:rPr lang="en-US" dirty="0" err="1"/>
              <a:t>процессами</a:t>
            </a:r>
            <a:r>
              <a:rPr lang="en-US" dirty="0"/>
              <a:t> </a:t>
            </a:r>
            <a:r>
              <a:rPr lang="en-US" dirty="0" err="1"/>
              <a:t>существуют</a:t>
            </a:r>
            <a:r>
              <a:rPr lang="en-US" dirty="0"/>
              <a:t> </a:t>
            </a:r>
            <a:r>
              <a:rPr lang="en-US" dirty="0" err="1"/>
              <a:t>функции</a:t>
            </a:r>
            <a:r>
              <a:rPr lang="en-US" dirty="0"/>
              <a:t> </a:t>
            </a:r>
            <a:r>
              <a:rPr lang="en-US" dirty="0" err="1"/>
              <a:t>семейства</a:t>
            </a:r>
            <a:r>
              <a:rPr lang="en-US" dirty="0"/>
              <a:t> </a:t>
            </a:r>
            <a:r>
              <a:rPr lang="en-US" sz="1200" kern="1200" dirty="0">
                <a:solidFill>
                  <a:schemeClr val="tx1"/>
                </a:solidFill>
                <a:latin typeface="+mn-lt"/>
                <a:ea typeface="+mn-ea"/>
                <a:cs typeface="+mn-cs"/>
              </a:rPr>
              <a:t>fork</a:t>
            </a:r>
            <a:r>
              <a:rPr lang="en-US" dirty="0"/>
              <a:t>, </a:t>
            </a:r>
            <a:r>
              <a:rPr lang="en-US" sz="1200" kern="1200" dirty="0">
                <a:solidFill>
                  <a:schemeClr val="tx1"/>
                </a:solidFill>
                <a:latin typeface="+mn-lt"/>
                <a:ea typeface="+mn-ea"/>
                <a:cs typeface="+mn-cs"/>
              </a:rPr>
              <a:t>exec</a:t>
            </a:r>
            <a:r>
              <a:rPr lang="en-US" dirty="0"/>
              <a:t>, </a:t>
            </a:r>
            <a:r>
              <a:rPr lang="en-US" sz="1200" kern="1200" dirty="0">
                <a:solidFill>
                  <a:schemeClr val="tx1"/>
                </a:solidFill>
                <a:latin typeface="+mn-lt"/>
                <a:ea typeface="+mn-ea"/>
                <a:cs typeface="+mn-cs"/>
              </a:rPr>
              <a:t>wait</a:t>
            </a:r>
            <a:r>
              <a:rPr lang="en-US" dirty="0"/>
              <a:t> и </a:t>
            </a:r>
            <a:r>
              <a:rPr lang="en-US" dirty="0" err="1"/>
              <a:t>другие</a:t>
            </a:r>
            <a:r>
              <a:rPr lang="en-US" dirty="0"/>
              <a:t>. </a:t>
            </a:r>
            <a:r>
              <a:rPr lang="en-US" dirty="0" err="1"/>
              <a:t>Для</a:t>
            </a:r>
            <a:r>
              <a:rPr lang="en-US" dirty="0"/>
              <a:t> </a:t>
            </a:r>
            <a:r>
              <a:rPr lang="en-US" dirty="0" err="1"/>
              <a:t>файлов</a:t>
            </a:r>
            <a:r>
              <a:rPr lang="en-US" dirty="0"/>
              <a:t> — </a:t>
            </a:r>
            <a:r>
              <a:rPr lang="en-US" sz="1200" kern="1200" dirty="0">
                <a:solidFill>
                  <a:schemeClr val="tx1"/>
                </a:solidFill>
                <a:latin typeface="+mn-lt"/>
                <a:ea typeface="+mn-ea"/>
                <a:cs typeface="+mn-cs"/>
              </a:rPr>
              <a:t>open</a:t>
            </a:r>
            <a:r>
              <a:rPr lang="en-US" dirty="0"/>
              <a:t>, </a:t>
            </a:r>
            <a:r>
              <a:rPr lang="en-US" sz="1200" kern="1200" dirty="0">
                <a:solidFill>
                  <a:schemeClr val="tx1"/>
                </a:solidFill>
                <a:latin typeface="+mn-lt"/>
                <a:ea typeface="+mn-ea"/>
                <a:cs typeface="+mn-cs"/>
              </a:rPr>
              <a:t>read</a:t>
            </a:r>
            <a:r>
              <a:rPr lang="en-US" dirty="0"/>
              <a:t>, </a:t>
            </a:r>
            <a:r>
              <a:rPr lang="en-US" sz="1200" kern="1200" dirty="0">
                <a:solidFill>
                  <a:schemeClr val="tx1"/>
                </a:solidFill>
                <a:latin typeface="+mn-lt"/>
                <a:ea typeface="+mn-ea"/>
                <a:cs typeface="+mn-cs"/>
              </a:rPr>
              <a:t>write</a:t>
            </a:r>
            <a:r>
              <a:rPr lang="en-US" dirty="0"/>
              <a:t>, </a:t>
            </a:r>
            <a:r>
              <a:rPr lang="en-US" sz="1200" kern="1200" dirty="0">
                <a:solidFill>
                  <a:schemeClr val="tx1"/>
                </a:solidFill>
                <a:latin typeface="+mn-lt"/>
                <a:ea typeface="+mn-ea"/>
                <a:cs typeface="+mn-cs"/>
              </a:rPr>
              <a:t>close</a:t>
            </a:r>
            <a:r>
              <a:rPr lang="en-US" dirty="0"/>
              <a:t>. </a:t>
            </a:r>
            <a:r>
              <a:rPr lang="en-US" dirty="0" err="1"/>
              <a:t>Есть</a:t>
            </a:r>
            <a:r>
              <a:rPr lang="en-US" dirty="0"/>
              <a:t> </a:t>
            </a:r>
            <a:r>
              <a:rPr lang="en-US" dirty="0" err="1"/>
              <a:t>функции</a:t>
            </a:r>
            <a:r>
              <a:rPr lang="en-US" dirty="0"/>
              <a:t> </a:t>
            </a:r>
            <a:r>
              <a:rPr lang="en-US" dirty="0" err="1"/>
              <a:t>для</a:t>
            </a:r>
            <a:r>
              <a:rPr lang="en-US" dirty="0"/>
              <a:t> </a:t>
            </a:r>
            <a:r>
              <a:rPr lang="en-US" dirty="0" err="1"/>
              <a:t>каталогов</a:t>
            </a:r>
            <a:r>
              <a:rPr lang="en-US" dirty="0"/>
              <a:t>, </a:t>
            </a:r>
            <a:r>
              <a:rPr lang="en-US" dirty="0" err="1"/>
              <a:t>памяти</a:t>
            </a:r>
            <a:r>
              <a:rPr lang="en-US" dirty="0"/>
              <a:t>, </a:t>
            </a:r>
            <a:r>
              <a:rPr lang="en-US" dirty="0" err="1"/>
              <a:t>сигналов</a:t>
            </a:r>
            <a:r>
              <a:rPr lang="en-US" dirty="0"/>
              <a:t> и </a:t>
            </a:r>
            <a:r>
              <a:rPr lang="en-US" dirty="0" err="1"/>
              <a:t>межпроцессного</a:t>
            </a:r>
            <a:r>
              <a:rPr lang="en-US" dirty="0"/>
              <a:t> </a:t>
            </a:r>
            <a:r>
              <a:rPr lang="en-US" dirty="0" err="1"/>
              <a:t>взаимодействия</a:t>
            </a:r>
            <a:r>
              <a:rPr lang="en-US" dirty="0"/>
              <a:t>.</a:t>
            </a:r>
          </a:p>
          <a:p>
            <a:endParaRPr lang="en-US" dirty="0"/>
          </a:p>
          <a:p>
            <a:r>
              <a:rPr lang="en-US" dirty="0" err="1"/>
              <a:t>Сейчас</a:t>
            </a:r>
            <a:r>
              <a:rPr lang="en-US" dirty="0"/>
              <a:t> </a:t>
            </a:r>
            <a:r>
              <a:rPr lang="en-US" dirty="0" err="1"/>
              <a:t>не</a:t>
            </a:r>
            <a:r>
              <a:rPr lang="en-US" dirty="0"/>
              <a:t> </a:t>
            </a:r>
            <a:r>
              <a:rPr lang="en-US" dirty="0" err="1"/>
              <a:t>нужно</a:t>
            </a:r>
            <a:r>
              <a:rPr lang="en-US" dirty="0"/>
              <a:t> </a:t>
            </a:r>
            <a:r>
              <a:rPr lang="en-US" dirty="0" err="1"/>
              <a:t>запоминать</a:t>
            </a:r>
            <a:r>
              <a:rPr lang="en-US" dirty="0"/>
              <a:t> </a:t>
            </a:r>
            <a:r>
              <a:rPr lang="en-US" dirty="0" err="1"/>
              <a:t>этот</a:t>
            </a:r>
            <a:r>
              <a:rPr lang="en-US" dirty="0"/>
              <a:t> </a:t>
            </a:r>
            <a:r>
              <a:rPr lang="en-US" dirty="0" err="1"/>
              <a:t>список</a:t>
            </a:r>
            <a:r>
              <a:rPr lang="en-US" dirty="0"/>
              <a:t>.</a:t>
            </a:r>
          </a:p>
          <a:p>
            <a:r>
              <a:rPr lang="en-US" dirty="0" err="1"/>
              <a:t>Важно</a:t>
            </a:r>
            <a:r>
              <a:rPr lang="en-US" dirty="0"/>
              <a:t> </a:t>
            </a:r>
            <a:r>
              <a:rPr lang="en-US" dirty="0" err="1"/>
              <a:t>увидеть</a:t>
            </a:r>
            <a:r>
              <a:rPr lang="en-US" dirty="0"/>
              <a:t>, </a:t>
            </a:r>
            <a:r>
              <a:rPr lang="en-US" dirty="0" err="1"/>
              <a:t>что</a:t>
            </a:r>
            <a:r>
              <a:rPr lang="en-US" dirty="0"/>
              <a:t> </a:t>
            </a:r>
            <a:r>
              <a:rPr lang="en-US" dirty="0" err="1"/>
              <a:t>совершенно</a:t>
            </a:r>
            <a:r>
              <a:rPr lang="en-US" dirty="0"/>
              <a:t> </a:t>
            </a:r>
            <a:r>
              <a:rPr lang="en-US" dirty="0" err="1"/>
              <a:t>разные</a:t>
            </a:r>
            <a:r>
              <a:rPr lang="en-US" dirty="0"/>
              <a:t> </a:t>
            </a:r>
            <a:r>
              <a:rPr lang="en-US" dirty="0" err="1"/>
              <a:t>на</a:t>
            </a:r>
            <a:r>
              <a:rPr lang="en-US" dirty="0"/>
              <a:t> </a:t>
            </a:r>
            <a:r>
              <a:rPr lang="en-US" dirty="0" err="1"/>
              <a:t>первый</a:t>
            </a:r>
            <a:r>
              <a:rPr lang="en-US" dirty="0"/>
              <a:t> </a:t>
            </a:r>
            <a:r>
              <a:rPr lang="en-US" dirty="0" err="1"/>
              <a:t>взгляд</a:t>
            </a:r>
            <a:r>
              <a:rPr lang="en-US" dirty="0"/>
              <a:t> </a:t>
            </a:r>
            <a:r>
              <a:rPr lang="en-US" dirty="0" err="1"/>
              <a:t>задачи</a:t>
            </a:r>
            <a:r>
              <a:rPr lang="en-US" dirty="0"/>
              <a:t> </a:t>
            </a:r>
            <a:r>
              <a:rPr lang="en-US" dirty="0" err="1"/>
              <a:t>доступны</a:t>
            </a:r>
            <a:r>
              <a:rPr lang="en-US" dirty="0"/>
              <a:t> </a:t>
            </a:r>
            <a:r>
              <a:rPr lang="en-US" dirty="0" err="1"/>
              <a:t>программе</a:t>
            </a:r>
            <a:r>
              <a:rPr lang="en-US" dirty="0"/>
              <a:t> </a:t>
            </a:r>
            <a:r>
              <a:rPr lang="en-US" dirty="0" err="1"/>
              <a:t>через</a:t>
            </a:r>
            <a:r>
              <a:rPr lang="en-US" dirty="0"/>
              <a:t> </a:t>
            </a:r>
            <a:r>
              <a:rPr lang="en-US" dirty="0" err="1"/>
              <a:t>похожий</a:t>
            </a:r>
            <a:r>
              <a:rPr lang="en-US" dirty="0"/>
              <a:t> </a:t>
            </a:r>
            <a:r>
              <a:rPr lang="en-US" dirty="0" err="1"/>
              <a:t>интерфейс</a:t>
            </a:r>
            <a:r>
              <a:rPr lang="en-US" dirty="0"/>
              <a:t>.</a:t>
            </a:r>
          </a:p>
          <a:p>
            <a:endParaRPr lang="en-US" dirty="0"/>
          </a:p>
          <a:p>
            <a:r>
              <a:rPr lang="en-US" dirty="0" err="1"/>
              <a:t>Из</a:t>
            </a:r>
            <a:r>
              <a:rPr lang="en-US" dirty="0"/>
              <a:t> </a:t>
            </a:r>
            <a:r>
              <a:rPr lang="en-US" dirty="0" err="1"/>
              <a:t>программы</a:t>
            </a:r>
            <a:r>
              <a:rPr lang="en-US" dirty="0"/>
              <a:t> </a:t>
            </a:r>
            <a:r>
              <a:rPr lang="en-US" dirty="0" err="1"/>
              <a:t>на</a:t>
            </a:r>
            <a:r>
              <a:rPr lang="en-US" dirty="0"/>
              <a:t> C </a:t>
            </a:r>
            <a:r>
              <a:rPr lang="en-US" dirty="0" err="1"/>
              <a:t>или</a:t>
            </a:r>
            <a:r>
              <a:rPr lang="en-US" dirty="0"/>
              <a:t> C++ </a:t>
            </a:r>
            <a:r>
              <a:rPr lang="en-US" dirty="0" err="1"/>
              <a:t>мы</a:t>
            </a:r>
            <a:r>
              <a:rPr lang="en-US" dirty="0"/>
              <a:t> </a:t>
            </a:r>
            <a:r>
              <a:rPr lang="en-US" dirty="0" err="1"/>
              <a:t>вызываем</a:t>
            </a:r>
            <a:r>
              <a:rPr lang="en-US" dirty="0"/>
              <a:t> </a:t>
            </a:r>
            <a:r>
              <a:rPr lang="en-US" dirty="0" err="1"/>
              <a:t>функцию</a:t>
            </a:r>
            <a:r>
              <a:rPr lang="en-US" dirty="0"/>
              <a:t>. </a:t>
            </a:r>
            <a:r>
              <a:rPr lang="en-US" dirty="0" err="1"/>
              <a:t>Если</a:t>
            </a:r>
            <a:r>
              <a:rPr lang="en-US" dirty="0"/>
              <a:t> </a:t>
            </a:r>
            <a:r>
              <a:rPr lang="en-US" dirty="0" err="1"/>
              <a:t>для</a:t>
            </a:r>
            <a:r>
              <a:rPr lang="en-US" dirty="0"/>
              <a:t> </a:t>
            </a:r>
            <a:r>
              <a:rPr lang="en-US" dirty="0" err="1"/>
              <a:t>выполнения</a:t>
            </a:r>
            <a:r>
              <a:rPr lang="en-US" dirty="0"/>
              <a:t> </a:t>
            </a:r>
            <a:r>
              <a:rPr lang="en-US" dirty="0" err="1"/>
              <a:t>операции</a:t>
            </a:r>
            <a:r>
              <a:rPr lang="en-US" dirty="0"/>
              <a:t> </a:t>
            </a:r>
            <a:r>
              <a:rPr lang="en-US" dirty="0" err="1"/>
              <a:t>необходимо</a:t>
            </a:r>
            <a:r>
              <a:rPr lang="en-US" dirty="0"/>
              <a:t> </a:t>
            </a:r>
            <a:r>
              <a:rPr lang="en-US" dirty="0" err="1"/>
              <a:t>ядро</a:t>
            </a:r>
            <a:r>
              <a:rPr lang="en-US" dirty="0"/>
              <a:t>, </a:t>
            </a:r>
            <a:r>
              <a:rPr lang="en-US" dirty="0" err="1"/>
              <a:t>реализация</a:t>
            </a:r>
            <a:r>
              <a:rPr lang="en-US" dirty="0"/>
              <a:t> </a:t>
            </a:r>
            <a:r>
              <a:rPr lang="en-US" dirty="0" err="1"/>
              <a:t>доходит</a:t>
            </a:r>
            <a:r>
              <a:rPr lang="en-US" dirty="0"/>
              <a:t> </a:t>
            </a:r>
            <a:r>
              <a:rPr lang="en-US" dirty="0" err="1"/>
              <a:t>до</a:t>
            </a:r>
            <a:r>
              <a:rPr lang="en-US" dirty="0"/>
              <a:t> </a:t>
            </a:r>
            <a:r>
              <a:rPr lang="en-US" dirty="0" err="1"/>
              <a:t>соответствующего</a:t>
            </a:r>
            <a:r>
              <a:rPr lang="en-US" dirty="0"/>
              <a:t> </a:t>
            </a:r>
            <a:r>
              <a:rPr lang="en-US" dirty="0" err="1"/>
              <a:t>системного</a:t>
            </a:r>
            <a:r>
              <a:rPr lang="en-US" dirty="0"/>
              <a:t> </a:t>
            </a:r>
            <a:r>
              <a:rPr lang="en-US" dirty="0" err="1"/>
              <a:t>вызова</a:t>
            </a:r>
            <a:r>
              <a:rPr lang="en-US" dirty="0"/>
              <a:t>. </a:t>
            </a:r>
            <a:r>
              <a:rPr lang="en-US" dirty="0" err="1"/>
              <a:t>Ядро</a:t>
            </a:r>
            <a:r>
              <a:rPr lang="en-US" dirty="0"/>
              <a:t> </a:t>
            </a:r>
            <a:r>
              <a:rPr lang="en-US" dirty="0" err="1"/>
              <a:t>выполняет</a:t>
            </a:r>
            <a:r>
              <a:rPr lang="en-US" dirty="0"/>
              <a:t> </a:t>
            </a:r>
            <a:r>
              <a:rPr lang="en-US" dirty="0" err="1"/>
              <a:t>привилегированную</a:t>
            </a:r>
            <a:r>
              <a:rPr lang="en-US" dirty="0"/>
              <a:t> </a:t>
            </a:r>
            <a:r>
              <a:rPr lang="en-US" dirty="0" err="1"/>
              <a:t>часть</a:t>
            </a:r>
            <a:r>
              <a:rPr lang="en-US" dirty="0"/>
              <a:t> </a:t>
            </a:r>
            <a:r>
              <a:rPr lang="en-US" dirty="0" err="1"/>
              <a:t>работы</a:t>
            </a:r>
            <a:r>
              <a:rPr lang="en-US" dirty="0"/>
              <a:t> и </a:t>
            </a:r>
            <a:r>
              <a:rPr lang="en-US" dirty="0" err="1"/>
              <a:t>возвращает</a:t>
            </a:r>
            <a:r>
              <a:rPr lang="en-US" dirty="0"/>
              <a:t> </a:t>
            </a:r>
            <a:r>
              <a:rPr lang="en-US" dirty="0" err="1"/>
              <a:t>результат</a:t>
            </a:r>
            <a:r>
              <a:rPr lang="en-US" dirty="0"/>
              <a:t>.</a:t>
            </a:r>
          </a:p>
          <a:p>
            <a:r>
              <a:rPr lang="en-US" dirty="0" err="1"/>
              <a:t>На</a:t>
            </a:r>
            <a:r>
              <a:rPr lang="en-US" dirty="0"/>
              <a:t> </a:t>
            </a:r>
            <a:r>
              <a:rPr lang="en-US" dirty="0" err="1"/>
              <a:t>следующих</a:t>
            </a:r>
            <a:r>
              <a:rPr lang="en-US" dirty="0"/>
              <a:t> </a:t>
            </a:r>
            <a:r>
              <a:rPr lang="en-US" dirty="0" err="1"/>
              <a:t>лекциях</a:t>
            </a:r>
            <a:r>
              <a:rPr lang="en-US" dirty="0"/>
              <a:t> </a:t>
            </a:r>
            <a:r>
              <a:rPr lang="en-US" dirty="0" err="1"/>
              <a:t>мы</a:t>
            </a:r>
            <a:r>
              <a:rPr lang="en-US" dirty="0"/>
              <a:t> </a:t>
            </a:r>
            <a:r>
              <a:rPr lang="en-US" dirty="0" err="1"/>
              <a:t>уже</a:t>
            </a:r>
            <a:r>
              <a:rPr lang="en-US" dirty="0"/>
              <a:t> </a:t>
            </a:r>
            <a:r>
              <a:rPr lang="en-US" dirty="0" err="1"/>
              <a:t>будем</a:t>
            </a:r>
            <a:r>
              <a:rPr lang="en-US" dirty="0"/>
              <a:t> </a:t>
            </a:r>
            <a:r>
              <a:rPr lang="en-US" dirty="0" err="1"/>
              <a:t>отдельно</a:t>
            </a:r>
            <a:r>
              <a:rPr lang="en-US" dirty="0"/>
              <a:t> </a:t>
            </a:r>
            <a:r>
              <a:rPr lang="en-US" dirty="0" err="1"/>
              <a:t>разбирать</a:t>
            </a:r>
            <a:r>
              <a:rPr lang="en-US" dirty="0"/>
              <a:t> </a:t>
            </a:r>
            <a:r>
              <a:rPr lang="en-US" dirty="0" err="1"/>
              <a:t>процессы</a:t>
            </a:r>
            <a:r>
              <a:rPr lang="en-US" dirty="0"/>
              <a:t>, </a:t>
            </a:r>
            <a:r>
              <a:rPr lang="en-US" dirty="0" err="1"/>
              <a:t>память</a:t>
            </a:r>
            <a:r>
              <a:rPr lang="en-US" dirty="0"/>
              <a:t> и </a:t>
            </a:r>
            <a:r>
              <a:rPr lang="en-US" dirty="0" err="1"/>
              <a:t>файловые</a:t>
            </a:r>
            <a:r>
              <a:rPr lang="en-US" dirty="0"/>
              <a:t> </a:t>
            </a:r>
            <a:r>
              <a:rPr lang="en-US" dirty="0" err="1"/>
              <a:t>системы</a:t>
            </a:r>
            <a:r>
              <a:rPr lang="en-US" dirty="0"/>
              <a:t> и </a:t>
            </a:r>
            <a:r>
              <a:rPr lang="en-US" dirty="0" err="1"/>
              <a:t>увидим</a:t>
            </a:r>
            <a:r>
              <a:rPr lang="en-US" dirty="0"/>
              <a:t> </a:t>
            </a:r>
            <a:r>
              <a:rPr lang="en-US" dirty="0" err="1"/>
              <a:t>эти</a:t>
            </a:r>
            <a:r>
              <a:rPr lang="en-US" dirty="0"/>
              <a:t> </a:t>
            </a:r>
            <a:r>
              <a:rPr lang="en-US" dirty="0" err="1"/>
              <a:t>функции</a:t>
            </a:r>
            <a:r>
              <a:rPr lang="en-US" dirty="0"/>
              <a:t> </a:t>
            </a:r>
            <a:r>
              <a:rPr lang="en-US" dirty="0" err="1"/>
              <a:t>гораздо</a:t>
            </a:r>
            <a:r>
              <a:rPr lang="en-US" dirty="0"/>
              <a:t> </a:t>
            </a:r>
            <a:r>
              <a:rPr lang="en-US" dirty="0" err="1"/>
              <a:t>подробнее</a:t>
            </a:r>
            <a:r>
              <a:rPr lang="en-US" dirty="0"/>
              <a:t>.</a:t>
            </a:r>
          </a:p>
          <a:p>
            <a:endParaRPr lang="en-US" dirty="0"/>
          </a:p>
          <a:p>
            <a:r>
              <a:rPr lang="en-US" dirty="0" err="1"/>
              <a:t>Для</a:t>
            </a:r>
            <a:r>
              <a:rPr lang="en-US" dirty="0"/>
              <a:t> </a:t>
            </a:r>
            <a:r>
              <a:rPr lang="en-US" dirty="0" err="1"/>
              <a:t>сегодняшней</a:t>
            </a:r>
            <a:r>
              <a:rPr lang="en-US" dirty="0"/>
              <a:t> </a:t>
            </a:r>
            <a:r>
              <a:rPr lang="en-US" dirty="0" err="1"/>
              <a:t>обзорной</a:t>
            </a:r>
            <a:r>
              <a:rPr lang="en-US" dirty="0"/>
              <a:t> </a:t>
            </a:r>
            <a:r>
              <a:rPr lang="en-US" dirty="0" err="1"/>
              <a:t>лекции</a:t>
            </a:r>
            <a:r>
              <a:rPr lang="en-US" dirty="0"/>
              <a:t> </a:t>
            </a:r>
            <a:r>
              <a:rPr lang="en-US" dirty="0" err="1"/>
              <a:t>достаточно</a:t>
            </a:r>
            <a:r>
              <a:rPr lang="en-US" dirty="0"/>
              <a:t> </a:t>
            </a:r>
            <a:r>
              <a:rPr lang="en-US" dirty="0" err="1"/>
              <a:t>понимать</a:t>
            </a:r>
            <a:r>
              <a:rPr lang="en-US" dirty="0"/>
              <a:t>, </a:t>
            </a:r>
            <a:r>
              <a:rPr lang="en-US" b="1" dirty="0" err="1"/>
              <a:t>зачем</a:t>
            </a:r>
            <a:r>
              <a:rPr lang="en-US" b="1" dirty="0"/>
              <a:t> </a:t>
            </a:r>
            <a:r>
              <a:rPr lang="en-US" b="1" dirty="0" err="1"/>
              <a:t>вообще</a:t>
            </a:r>
            <a:r>
              <a:rPr lang="en-US" b="1" dirty="0"/>
              <a:t> </a:t>
            </a:r>
            <a:r>
              <a:rPr lang="en-US" b="1" dirty="0" err="1"/>
              <a:t>существует</a:t>
            </a:r>
            <a:r>
              <a:rPr lang="en-US" b="1" dirty="0"/>
              <a:t> </a:t>
            </a:r>
            <a:r>
              <a:rPr lang="en-US" b="1" dirty="0" err="1"/>
              <a:t>этот</a:t>
            </a:r>
            <a:r>
              <a:rPr lang="en-US" b="1" dirty="0"/>
              <a:t> </a:t>
            </a:r>
            <a:r>
              <a:rPr lang="en-US" b="1" dirty="0" err="1"/>
              <a:t>интерфейс</a:t>
            </a:r>
            <a:r>
              <a:rPr lang="en-US" b="1" dirty="0"/>
              <a:t> и </a:t>
            </a:r>
            <a:r>
              <a:rPr lang="en-US" b="1" dirty="0" err="1"/>
              <a:t>где</a:t>
            </a:r>
            <a:r>
              <a:rPr lang="en-US" b="1" dirty="0"/>
              <a:t> </a:t>
            </a:r>
            <a:r>
              <a:rPr lang="en-US" b="1" dirty="0" err="1"/>
              <a:t>проходит</a:t>
            </a:r>
            <a:r>
              <a:rPr lang="en-US" b="1" dirty="0"/>
              <a:t> </a:t>
            </a:r>
            <a:r>
              <a:rPr lang="en-US" b="1" dirty="0" err="1"/>
              <a:t>граница</a:t>
            </a:r>
            <a:r>
              <a:rPr lang="en-US" b="1" dirty="0"/>
              <a:t> </a:t>
            </a:r>
            <a:r>
              <a:rPr lang="en-US" b="1" dirty="0" err="1"/>
              <a:t>между</a:t>
            </a:r>
            <a:r>
              <a:rPr lang="en-US" b="1" dirty="0"/>
              <a:t> </a:t>
            </a:r>
            <a:r>
              <a:rPr lang="en-US" b="1" dirty="0" err="1"/>
              <a:t>прикладной</a:t>
            </a:r>
            <a:r>
              <a:rPr lang="en-US" b="1" dirty="0"/>
              <a:t> </a:t>
            </a:r>
            <a:r>
              <a:rPr lang="en-US" b="1" dirty="0" err="1"/>
              <a:t>программой</a:t>
            </a:r>
            <a:r>
              <a:rPr lang="en-US" b="1" dirty="0"/>
              <a:t> и </a:t>
            </a:r>
            <a:r>
              <a:rPr lang="en-US" b="1" dirty="0" err="1"/>
              <a:t>ядром</a:t>
            </a:r>
            <a:r>
              <a:rPr lang="en-US" b="1" dirty="0"/>
              <a:t> ОС</a:t>
            </a:r>
            <a:r>
              <a:rPr lang="en-US" dirty="0"/>
              <a:t>.</a:t>
            </a:r>
          </a:p>
          <a:p>
            <a:endParaRPr lang="en-US" dirty="0"/>
          </a:p>
        </p:txBody>
      </p:sp>
      <p:sp>
        <p:nvSpPr>
          <p:cNvPr id="4" name="Slide Number Placeholder 3"/>
          <p:cNvSpPr>
            <a:spLocks noGrp="1"/>
          </p:cNvSpPr>
          <p:nvPr>
            <p:ph type="sldNum" sz="quarter" idx="5"/>
          </p:nvPr>
        </p:nvSpPr>
        <p:spPr/>
        <p:txBody>
          <a:bodyPr/>
          <a:lstStyle/>
          <a:p>
            <a:fld id="{A3EE74EF-BE85-44F3-968F-E74DD74A629E}" type="slidenum">
              <a:rPr lang="en-US" smtClean="0"/>
              <a:t>33</a:t>
            </a:fld>
            <a:endParaRPr lang="en-US"/>
          </a:p>
        </p:txBody>
      </p:sp>
    </p:spTree>
    <p:extLst>
      <p:ext uri="{BB962C8B-B14F-4D97-AF65-F5344CB8AC3E}">
        <p14:creationId xmlns:p14="http://schemas.microsoft.com/office/powerpoint/2010/main" val="212855977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Посмотрите</a:t>
            </a:r>
            <a:r>
              <a:rPr lang="en-US" dirty="0"/>
              <a:t> </a:t>
            </a:r>
            <a:r>
              <a:rPr lang="en-US" dirty="0" err="1"/>
              <a:t>это</a:t>
            </a:r>
            <a:r>
              <a:rPr lang="en-US" dirty="0"/>
              <a:t> </a:t>
            </a:r>
            <a:r>
              <a:rPr lang="en-US" dirty="0" err="1"/>
              <a:t>видео</a:t>
            </a:r>
            <a:r>
              <a:rPr lang="en-US" dirty="0"/>
              <a:t>, </a:t>
            </a:r>
            <a:r>
              <a:rPr lang="en-US" dirty="0" err="1"/>
              <a:t>если</a:t>
            </a:r>
            <a:r>
              <a:rPr lang="en-US" dirty="0"/>
              <a:t> </a:t>
            </a:r>
            <a:r>
              <a:rPr lang="en-US" dirty="0" err="1"/>
              <a:t>хотите</a:t>
            </a:r>
            <a:r>
              <a:rPr lang="en-US" dirty="0"/>
              <a:t> </a:t>
            </a:r>
            <a:r>
              <a:rPr lang="en-US" dirty="0" err="1"/>
              <a:t>надёжно</a:t>
            </a:r>
            <a:r>
              <a:rPr lang="en-US" dirty="0"/>
              <a:t> </a:t>
            </a:r>
            <a:r>
              <a:rPr lang="en-US" dirty="0" err="1"/>
              <a:t>использовать</a:t>
            </a:r>
            <a:r>
              <a:rPr lang="en-US" dirty="0"/>
              <a:t> </a:t>
            </a:r>
            <a:r>
              <a:rPr lang="en-US" dirty="0" err="1"/>
              <a:t>интерфейс</a:t>
            </a:r>
            <a:r>
              <a:rPr lang="en-US" dirty="0"/>
              <a:t> ОС </a:t>
            </a:r>
            <a:r>
              <a:rPr lang="en-US" dirty="0" err="1"/>
              <a:t>из</a:t>
            </a:r>
            <a:r>
              <a:rPr lang="en-US" dirty="0"/>
              <a:t> </a:t>
            </a:r>
            <a:r>
              <a:rPr lang="en-US" dirty="0" err="1"/>
              <a:t>программ</a:t>
            </a:r>
            <a:r>
              <a:rPr lang="en-US" dirty="0"/>
              <a:t> </a:t>
            </a:r>
            <a:r>
              <a:rPr lang="en-US" dirty="0" err="1"/>
              <a:t>на</a:t>
            </a:r>
            <a:r>
              <a:rPr lang="en-US" dirty="0"/>
              <a:t> C++.</a:t>
            </a:r>
          </a:p>
          <a:p>
            <a:r>
              <a:rPr lang="en-US" dirty="0"/>
              <a:t>POSIX </a:t>
            </a:r>
            <a:r>
              <a:rPr lang="en-US" dirty="0" err="1"/>
              <a:t>предоставляет</a:t>
            </a:r>
            <a:r>
              <a:rPr lang="en-US" dirty="0"/>
              <a:t> </a:t>
            </a:r>
            <a:r>
              <a:rPr lang="en-US" dirty="0" err="1"/>
              <a:t>низкоуровневый</a:t>
            </a:r>
            <a:r>
              <a:rPr lang="en-US" dirty="0"/>
              <a:t> C-</a:t>
            </a:r>
            <a:r>
              <a:rPr lang="en-US" dirty="0" err="1"/>
              <a:t>интерфейс</a:t>
            </a:r>
            <a:r>
              <a:rPr lang="en-US" dirty="0"/>
              <a:t>: </a:t>
            </a:r>
            <a:r>
              <a:rPr lang="en-US" dirty="0" err="1"/>
              <a:t>ресурсы</a:t>
            </a:r>
            <a:r>
              <a:rPr lang="en-US" dirty="0"/>
              <a:t> </a:t>
            </a:r>
            <a:r>
              <a:rPr lang="en-US" dirty="0" err="1"/>
              <a:t>представлены</a:t>
            </a:r>
            <a:r>
              <a:rPr lang="en-US" dirty="0"/>
              <a:t> </a:t>
            </a:r>
            <a:r>
              <a:rPr lang="en-US" dirty="0" err="1"/>
              <a:t>простыми</a:t>
            </a:r>
            <a:r>
              <a:rPr lang="en-US" dirty="0"/>
              <a:t> </a:t>
            </a:r>
            <a:r>
              <a:rPr lang="en-US" dirty="0" err="1"/>
              <a:t>значениями</a:t>
            </a:r>
            <a:r>
              <a:rPr lang="en-US" dirty="0"/>
              <a:t> и </a:t>
            </a:r>
            <a:r>
              <a:rPr lang="en-US" dirty="0" err="1"/>
              <a:t>освобождаются</a:t>
            </a:r>
            <a:r>
              <a:rPr lang="en-US" dirty="0"/>
              <a:t> </a:t>
            </a:r>
            <a:r>
              <a:rPr lang="en-US" dirty="0" err="1"/>
              <a:t>вручную</a:t>
            </a:r>
            <a:r>
              <a:rPr lang="en-US" dirty="0"/>
              <a:t>. Это </a:t>
            </a:r>
            <a:r>
              <a:rPr lang="en-US" dirty="0" err="1"/>
              <a:t>может</a:t>
            </a:r>
            <a:r>
              <a:rPr lang="en-US" dirty="0"/>
              <a:t> </a:t>
            </a:r>
            <a:r>
              <a:rPr lang="en-US" dirty="0" err="1"/>
              <a:t>привести</a:t>
            </a:r>
            <a:r>
              <a:rPr lang="en-US" dirty="0"/>
              <a:t> к </a:t>
            </a:r>
            <a:r>
              <a:rPr lang="en-US" dirty="0" err="1"/>
              <a:t>утечкам</a:t>
            </a:r>
            <a:r>
              <a:rPr lang="en-US" dirty="0"/>
              <a:t>, </a:t>
            </a:r>
            <a:r>
              <a:rPr lang="en-US" dirty="0" err="1"/>
              <a:t>двойному</a:t>
            </a:r>
            <a:r>
              <a:rPr lang="en-US" dirty="0"/>
              <a:t> </a:t>
            </a:r>
            <a:r>
              <a:rPr lang="en-US" dirty="0" err="1"/>
              <a:t>освобождению</a:t>
            </a:r>
            <a:r>
              <a:rPr lang="en-US" dirty="0"/>
              <a:t> и </a:t>
            </a:r>
            <a:r>
              <a:rPr lang="en-US" dirty="0" err="1"/>
              <a:t>ошибкам</a:t>
            </a:r>
            <a:r>
              <a:rPr lang="en-US" dirty="0"/>
              <a:t> </a:t>
            </a:r>
            <a:r>
              <a:rPr lang="en-US" dirty="0" err="1"/>
              <a:t>при</a:t>
            </a:r>
            <a:r>
              <a:rPr lang="en-US" dirty="0"/>
              <a:t> </a:t>
            </a:r>
            <a:r>
              <a:rPr lang="en-US" dirty="0" err="1"/>
              <a:t>исключениях</a:t>
            </a:r>
            <a:r>
              <a:rPr lang="en-US" dirty="0"/>
              <a:t> </a:t>
            </a:r>
            <a:r>
              <a:rPr lang="en-US" dirty="0" err="1"/>
              <a:t>или</a:t>
            </a:r>
            <a:r>
              <a:rPr lang="en-US" dirty="0"/>
              <a:t> </a:t>
            </a:r>
            <a:r>
              <a:rPr lang="en-US" dirty="0" err="1"/>
              <a:t>досрочном</a:t>
            </a:r>
            <a:r>
              <a:rPr lang="en-US" dirty="0"/>
              <a:t> </a:t>
            </a:r>
            <a:r>
              <a:rPr lang="en-US" dirty="0" err="1"/>
              <a:t>выходе</a:t>
            </a:r>
            <a:r>
              <a:rPr lang="en-US" dirty="0"/>
              <a:t>.</a:t>
            </a:r>
          </a:p>
          <a:p>
            <a:r>
              <a:rPr lang="en-US" dirty="0"/>
              <a:t>В C++ </a:t>
            </a:r>
            <a:r>
              <a:rPr lang="en-US" dirty="0" err="1"/>
              <a:t>такие</a:t>
            </a:r>
            <a:r>
              <a:rPr lang="en-US" dirty="0"/>
              <a:t> </a:t>
            </a:r>
            <a:r>
              <a:rPr lang="en-US" dirty="0" err="1"/>
              <a:t>риски</a:t>
            </a:r>
            <a:r>
              <a:rPr lang="en-US" dirty="0"/>
              <a:t> </a:t>
            </a:r>
            <a:r>
              <a:rPr lang="en-US" dirty="0" err="1"/>
              <a:t>уменьшаются</a:t>
            </a:r>
            <a:r>
              <a:rPr lang="en-US" dirty="0"/>
              <a:t> </a:t>
            </a:r>
            <a:r>
              <a:rPr lang="en-US" dirty="0" err="1"/>
              <a:t>благодаря</a:t>
            </a:r>
            <a:r>
              <a:rPr lang="en-US" dirty="0"/>
              <a:t> RAII: </a:t>
            </a:r>
            <a:r>
              <a:rPr lang="en-US" dirty="0" err="1"/>
              <a:t>объект</a:t>
            </a:r>
            <a:r>
              <a:rPr lang="en-US" dirty="0"/>
              <a:t> </a:t>
            </a:r>
            <a:r>
              <a:rPr lang="en-US" dirty="0" err="1"/>
              <a:t>владеет</a:t>
            </a:r>
            <a:r>
              <a:rPr lang="en-US" dirty="0"/>
              <a:t> </a:t>
            </a:r>
            <a:r>
              <a:rPr lang="en-US" dirty="0" err="1"/>
              <a:t>ресурсом</a:t>
            </a:r>
            <a:r>
              <a:rPr lang="en-US" dirty="0"/>
              <a:t> и </a:t>
            </a:r>
            <a:r>
              <a:rPr lang="en-US" dirty="0" err="1"/>
              <a:t>автоматически</a:t>
            </a:r>
            <a:r>
              <a:rPr lang="en-US" dirty="0"/>
              <a:t> </a:t>
            </a:r>
            <a:r>
              <a:rPr lang="en-US" dirty="0" err="1"/>
              <a:t>освобождает</a:t>
            </a:r>
            <a:r>
              <a:rPr lang="en-US" dirty="0"/>
              <a:t> </a:t>
            </a:r>
            <a:r>
              <a:rPr lang="en-US" dirty="0" err="1"/>
              <a:t>его</a:t>
            </a:r>
            <a:r>
              <a:rPr lang="en-US" dirty="0"/>
              <a:t> </a:t>
            </a:r>
            <a:r>
              <a:rPr lang="en-US" dirty="0" err="1"/>
              <a:t>при</a:t>
            </a:r>
            <a:r>
              <a:rPr lang="en-US" dirty="0"/>
              <a:t> </a:t>
            </a:r>
            <a:r>
              <a:rPr lang="en-US" dirty="0" err="1"/>
              <a:t>завершении</a:t>
            </a:r>
            <a:r>
              <a:rPr lang="en-US" dirty="0"/>
              <a:t> </a:t>
            </a:r>
            <a:r>
              <a:rPr lang="en-US" dirty="0" err="1"/>
              <a:t>времени</a:t>
            </a:r>
            <a:r>
              <a:rPr lang="en-US" dirty="0"/>
              <a:t> </a:t>
            </a:r>
            <a:r>
              <a:rPr lang="en-US" dirty="0" err="1"/>
              <a:t>жизни</a:t>
            </a:r>
            <a:r>
              <a:rPr lang="en-US" dirty="0"/>
              <a:t>.</a:t>
            </a:r>
          </a:p>
          <a:p>
            <a:r>
              <a:rPr lang="en-US" dirty="0" err="1"/>
              <a:t>Видео</a:t>
            </a:r>
            <a:r>
              <a:rPr lang="en-US" dirty="0"/>
              <a:t> </a:t>
            </a:r>
            <a:r>
              <a:rPr lang="en-US" dirty="0" err="1"/>
              <a:t>показывает</a:t>
            </a:r>
            <a:r>
              <a:rPr lang="en-US" dirty="0"/>
              <a:t>, </a:t>
            </a:r>
            <a:r>
              <a:rPr lang="en-US" dirty="0" err="1"/>
              <a:t>как</a:t>
            </a:r>
            <a:r>
              <a:rPr lang="en-US" dirty="0"/>
              <a:t> </a:t>
            </a:r>
            <a:r>
              <a:rPr lang="en-US" dirty="0" err="1"/>
              <a:t>адаптировать</a:t>
            </a:r>
            <a:r>
              <a:rPr lang="en-US" dirty="0"/>
              <a:t> </a:t>
            </a:r>
            <a:r>
              <a:rPr lang="en-US" dirty="0" err="1"/>
              <a:t>системный</a:t>
            </a:r>
            <a:r>
              <a:rPr lang="en-US" dirty="0"/>
              <a:t> API к </a:t>
            </a:r>
            <a:r>
              <a:rPr lang="en-US" dirty="0" err="1"/>
              <a:t>идиомам</a:t>
            </a:r>
            <a:r>
              <a:rPr lang="en-US" dirty="0"/>
              <a:t> C++, </a:t>
            </a:r>
            <a:r>
              <a:rPr lang="en-US" dirty="0" err="1"/>
              <a:t>сохранив</a:t>
            </a:r>
            <a:r>
              <a:rPr lang="en-US" dirty="0"/>
              <a:t> </a:t>
            </a:r>
            <a:r>
              <a:rPr lang="en-US" dirty="0" err="1"/>
              <a:t>доступ</a:t>
            </a:r>
            <a:r>
              <a:rPr lang="en-US" dirty="0"/>
              <a:t> к </a:t>
            </a:r>
            <a:r>
              <a:rPr lang="en-US" dirty="0" err="1"/>
              <a:t>возможностям</a:t>
            </a:r>
            <a:r>
              <a:rPr lang="en-US" dirty="0"/>
              <a:t> ОС и </a:t>
            </a:r>
            <a:r>
              <a:rPr lang="en-US" dirty="0" err="1"/>
              <a:t>получив</a:t>
            </a:r>
            <a:r>
              <a:rPr lang="en-US" dirty="0"/>
              <a:t> </a:t>
            </a:r>
            <a:r>
              <a:rPr lang="en-US" dirty="0" err="1"/>
              <a:t>безопасное</a:t>
            </a:r>
            <a:r>
              <a:rPr lang="en-US" dirty="0"/>
              <a:t> </a:t>
            </a:r>
            <a:r>
              <a:rPr lang="en-US" dirty="0" err="1"/>
              <a:t>управление</a:t>
            </a:r>
            <a:r>
              <a:rPr lang="en-US" dirty="0"/>
              <a:t> </a:t>
            </a:r>
            <a:r>
              <a:rPr lang="en-US" dirty="0" err="1"/>
              <a:t>ресурсами</a:t>
            </a:r>
            <a:r>
              <a:rPr lang="en-US" dirty="0"/>
              <a:t>. </a:t>
            </a:r>
            <a:r>
              <a:rPr lang="en-US" dirty="0" err="1"/>
              <a:t>Этот</a:t>
            </a:r>
            <a:r>
              <a:rPr lang="en-US" dirty="0"/>
              <a:t> </a:t>
            </a:r>
            <a:r>
              <a:rPr lang="en-US" dirty="0" err="1"/>
              <a:t>подход</a:t>
            </a:r>
            <a:r>
              <a:rPr lang="en-US" dirty="0"/>
              <a:t> </a:t>
            </a:r>
            <a:r>
              <a:rPr lang="en-US" dirty="0" err="1"/>
              <a:t>применим</a:t>
            </a:r>
            <a:r>
              <a:rPr lang="en-US" dirty="0"/>
              <a:t> к </a:t>
            </a:r>
            <a:r>
              <a:rPr lang="en-US" dirty="0" err="1"/>
              <a:t>файловым</a:t>
            </a:r>
            <a:r>
              <a:rPr lang="en-US" dirty="0"/>
              <a:t> </a:t>
            </a:r>
            <a:r>
              <a:rPr lang="en-US" dirty="0" err="1"/>
              <a:t>дескрипторам</a:t>
            </a:r>
            <a:r>
              <a:rPr lang="en-US" dirty="0"/>
              <a:t>, </a:t>
            </a:r>
            <a:r>
              <a:rPr lang="en-US" dirty="0" err="1"/>
              <a:t>каналам</a:t>
            </a:r>
            <a:r>
              <a:rPr lang="en-US" dirty="0"/>
              <a:t>, </a:t>
            </a:r>
            <a:r>
              <a:rPr lang="en-US" dirty="0" err="1"/>
              <a:t>сокетам</a:t>
            </a:r>
            <a:r>
              <a:rPr lang="en-US" dirty="0"/>
              <a:t>, </a:t>
            </a:r>
            <a:r>
              <a:rPr lang="en-US" dirty="0" err="1"/>
              <a:t>отображениям</a:t>
            </a:r>
            <a:r>
              <a:rPr lang="en-US" dirty="0"/>
              <a:t> </a:t>
            </a:r>
            <a:r>
              <a:rPr lang="en-US" dirty="0" err="1"/>
              <a:t>памяти</a:t>
            </a:r>
            <a:r>
              <a:rPr lang="en-US" dirty="0"/>
              <a:t> и </a:t>
            </a:r>
            <a:r>
              <a:rPr lang="en-US" dirty="0" err="1"/>
              <a:t>другим</a:t>
            </a:r>
            <a:r>
              <a:rPr lang="en-US" dirty="0"/>
              <a:t> </a:t>
            </a:r>
            <a:r>
              <a:rPr lang="en-US" dirty="0" err="1"/>
              <a:t>ресурсам</a:t>
            </a:r>
            <a:r>
              <a:rPr lang="en-US" dirty="0"/>
              <a:t>.</a:t>
            </a:r>
          </a:p>
          <a:p>
            <a:endParaRPr lang="en-US" dirty="0"/>
          </a:p>
        </p:txBody>
      </p:sp>
      <p:sp>
        <p:nvSpPr>
          <p:cNvPr id="4" name="Slide Number Placeholder 3"/>
          <p:cNvSpPr>
            <a:spLocks noGrp="1"/>
          </p:cNvSpPr>
          <p:nvPr>
            <p:ph type="sldNum" sz="quarter" idx="5"/>
          </p:nvPr>
        </p:nvSpPr>
        <p:spPr/>
        <p:txBody>
          <a:bodyPr/>
          <a:lstStyle/>
          <a:p>
            <a:fld id="{A3EE74EF-BE85-44F3-968F-E74DD74A629E}" type="slidenum">
              <a:rPr lang="en-US" smtClean="0"/>
              <a:t>34</a:t>
            </a:fld>
            <a:endParaRPr lang="en-US"/>
          </a:p>
        </p:txBody>
      </p:sp>
    </p:spTree>
    <p:extLst>
      <p:ext uri="{BB962C8B-B14F-4D97-AF65-F5344CB8AC3E}">
        <p14:creationId xmlns:p14="http://schemas.microsoft.com/office/powerpoint/2010/main" val="361836465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3EE74EF-BE85-44F3-968F-E74DD74A629E}" type="slidenum">
              <a:rPr lang="en-US" smtClean="0"/>
              <a:t>35</a:t>
            </a:fld>
            <a:endParaRPr lang="en-US"/>
          </a:p>
        </p:txBody>
      </p:sp>
    </p:spTree>
    <p:extLst>
      <p:ext uri="{BB962C8B-B14F-4D97-AF65-F5344CB8AC3E}">
        <p14:creationId xmlns:p14="http://schemas.microsoft.com/office/powerpoint/2010/main" val="9726629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Теперь</a:t>
            </a:r>
            <a:r>
              <a:rPr lang="en-US" dirty="0"/>
              <a:t> </a:t>
            </a:r>
            <a:r>
              <a:rPr lang="en-US" dirty="0" err="1"/>
              <a:t>сравним</a:t>
            </a:r>
            <a:r>
              <a:rPr lang="en-US" dirty="0"/>
              <a:t> </a:t>
            </a:r>
            <a:r>
              <a:rPr lang="en-US" dirty="0" err="1"/>
              <a:t>этот</a:t>
            </a:r>
            <a:r>
              <a:rPr lang="en-US" dirty="0"/>
              <a:t> </a:t>
            </a:r>
            <a:r>
              <a:rPr lang="en-US" dirty="0" err="1"/>
              <a:t>подход</a:t>
            </a:r>
            <a:r>
              <a:rPr lang="en-US" dirty="0"/>
              <a:t> с Windows.</a:t>
            </a:r>
          </a:p>
          <a:p>
            <a:r>
              <a:rPr lang="en-US" dirty="0"/>
              <a:t>И в POSIX-</a:t>
            </a:r>
            <a:r>
              <a:rPr lang="en-US" dirty="0" err="1"/>
              <a:t>системах</a:t>
            </a:r>
            <a:r>
              <a:rPr lang="en-US" dirty="0"/>
              <a:t>, и в Windows </a:t>
            </a:r>
            <a:r>
              <a:rPr lang="en-US" dirty="0" err="1"/>
              <a:t>прикладная</a:t>
            </a:r>
            <a:r>
              <a:rPr lang="en-US" dirty="0"/>
              <a:t> </a:t>
            </a:r>
            <a:r>
              <a:rPr lang="en-US" dirty="0" err="1"/>
              <a:t>программа</a:t>
            </a:r>
            <a:r>
              <a:rPr lang="en-US" dirty="0"/>
              <a:t> </a:t>
            </a:r>
            <a:r>
              <a:rPr lang="en-US" dirty="0" err="1"/>
              <a:t>обычно</a:t>
            </a:r>
            <a:r>
              <a:rPr lang="en-US" dirty="0"/>
              <a:t> </a:t>
            </a:r>
            <a:r>
              <a:rPr lang="en-US" dirty="0" err="1"/>
              <a:t>не</a:t>
            </a:r>
            <a:r>
              <a:rPr lang="en-US" dirty="0"/>
              <a:t> </a:t>
            </a:r>
            <a:r>
              <a:rPr lang="en-US" dirty="0" err="1"/>
              <a:t>обращается</a:t>
            </a:r>
            <a:r>
              <a:rPr lang="en-US" dirty="0"/>
              <a:t> </a:t>
            </a:r>
            <a:r>
              <a:rPr lang="en-US" dirty="0" err="1"/>
              <a:t>напрямую</a:t>
            </a:r>
            <a:r>
              <a:rPr lang="en-US" dirty="0"/>
              <a:t> к </a:t>
            </a:r>
            <a:r>
              <a:rPr lang="en-US" dirty="0" err="1"/>
              <a:t>ядру</a:t>
            </a:r>
            <a:r>
              <a:rPr lang="en-US" dirty="0"/>
              <a:t>. </a:t>
            </a:r>
            <a:r>
              <a:rPr lang="en-US" dirty="0" err="1"/>
              <a:t>Она</a:t>
            </a:r>
            <a:r>
              <a:rPr lang="en-US" dirty="0"/>
              <a:t> </a:t>
            </a:r>
            <a:r>
              <a:rPr lang="en-US" dirty="0" err="1"/>
              <a:t>использует</a:t>
            </a:r>
            <a:r>
              <a:rPr lang="en-US" dirty="0"/>
              <a:t> </a:t>
            </a:r>
            <a:r>
              <a:rPr lang="en-US" dirty="0" err="1"/>
              <a:t>программный</a:t>
            </a:r>
            <a:r>
              <a:rPr lang="en-US" dirty="0"/>
              <a:t> </a:t>
            </a:r>
            <a:r>
              <a:rPr lang="en-US" dirty="0" err="1"/>
              <a:t>интерфейс</a:t>
            </a:r>
            <a:r>
              <a:rPr lang="en-US" dirty="0"/>
              <a:t>, </a:t>
            </a:r>
            <a:r>
              <a:rPr lang="en-US" dirty="0" err="1"/>
              <a:t>предоставляемый</a:t>
            </a:r>
            <a:r>
              <a:rPr lang="en-US" dirty="0"/>
              <a:t> </a:t>
            </a:r>
            <a:r>
              <a:rPr lang="en-US" dirty="0" err="1"/>
              <a:t>платформой</a:t>
            </a:r>
            <a:r>
              <a:rPr lang="en-US" dirty="0"/>
              <a:t>.</a:t>
            </a:r>
          </a:p>
          <a:p>
            <a:endParaRPr lang="en-US" dirty="0"/>
          </a:p>
          <a:p>
            <a:r>
              <a:rPr lang="en-US" dirty="0"/>
              <a:t>В UNIX-</a:t>
            </a:r>
            <a:r>
              <a:rPr lang="en-US" dirty="0" err="1"/>
              <a:t>подобных</a:t>
            </a:r>
            <a:r>
              <a:rPr lang="en-US" dirty="0"/>
              <a:t> </a:t>
            </a:r>
            <a:r>
              <a:rPr lang="en-US" dirty="0" err="1"/>
              <a:t>системах</a:t>
            </a:r>
            <a:r>
              <a:rPr lang="en-US" dirty="0"/>
              <a:t> </a:t>
            </a:r>
            <a:r>
              <a:rPr lang="en-US" dirty="0" err="1"/>
              <a:t>мы</a:t>
            </a:r>
            <a:r>
              <a:rPr lang="en-US" dirty="0"/>
              <a:t> </a:t>
            </a:r>
            <a:r>
              <a:rPr lang="en-US" dirty="0" err="1"/>
              <a:t>чаще</a:t>
            </a:r>
            <a:r>
              <a:rPr lang="en-US" dirty="0"/>
              <a:t> </a:t>
            </a:r>
            <a:r>
              <a:rPr lang="en-US" dirty="0" err="1"/>
              <a:t>всего</a:t>
            </a:r>
            <a:r>
              <a:rPr lang="en-US" dirty="0"/>
              <a:t> </a:t>
            </a:r>
            <a:r>
              <a:rPr lang="en-US" dirty="0" err="1"/>
              <a:t>говорим</a:t>
            </a:r>
            <a:r>
              <a:rPr lang="en-US" dirty="0"/>
              <a:t> о POSIX API. </a:t>
            </a:r>
            <a:r>
              <a:rPr lang="en-US" dirty="0" err="1"/>
              <a:t>Например</a:t>
            </a:r>
            <a:r>
              <a:rPr lang="en-US" dirty="0"/>
              <a:t>, </a:t>
            </a:r>
            <a:r>
              <a:rPr lang="en-US" dirty="0" err="1"/>
              <a:t>программа</a:t>
            </a:r>
            <a:r>
              <a:rPr lang="en-US" dirty="0"/>
              <a:t> </a:t>
            </a:r>
            <a:r>
              <a:rPr lang="en-US" dirty="0" err="1"/>
              <a:t>вызывает</a:t>
            </a:r>
            <a:r>
              <a:rPr lang="en-US" dirty="0"/>
              <a:t> </a:t>
            </a:r>
            <a:r>
              <a:rPr lang="en-US" sz="1200" kern="1200" dirty="0">
                <a:solidFill>
                  <a:schemeClr val="tx1"/>
                </a:solidFill>
                <a:latin typeface="+mn-lt"/>
                <a:ea typeface="+mn-ea"/>
                <a:cs typeface="+mn-cs"/>
              </a:rPr>
              <a:t>read</a:t>
            </a:r>
            <a:r>
              <a:rPr lang="en-US" dirty="0"/>
              <a:t>, </a:t>
            </a:r>
            <a:r>
              <a:rPr lang="en-US" sz="1200" kern="1200" dirty="0">
                <a:solidFill>
                  <a:schemeClr val="tx1"/>
                </a:solidFill>
                <a:latin typeface="+mn-lt"/>
                <a:ea typeface="+mn-ea"/>
                <a:cs typeface="+mn-cs"/>
              </a:rPr>
              <a:t>open</a:t>
            </a:r>
            <a:r>
              <a:rPr lang="en-US" dirty="0"/>
              <a:t>, </a:t>
            </a:r>
            <a:r>
              <a:rPr lang="en-US" sz="1200" kern="1200" dirty="0">
                <a:solidFill>
                  <a:schemeClr val="tx1"/>
                </a:solidFill>
                <a:latin typeface="+mn-lt"/>
                <a:ea typeface="+mn-ea"/>
                <a:cs typeface="+mn-cs"/>
              </a:rPr>
              <a:t>fork</a:t>
            </a:r>
            <a:r>
              <a:rPr lang="en-US" dirty="0"/>
              <a:t> и </a:t>
            </a:r>
            <a:r>
              <a:rPr lang="en-US" dirty="0" err="1"/>
              <a:t>другие</a:t>
            </a:r>
            <a:r>
              <a:rPr lang="en-US" dirty="0"/>
              <a:t> </a:t>
            </a:r>
            <a:r>
              <a:rPr lang="en-US" dirty="0" err="1"/>
              <a:t>функции</a:t>
            </a:r>
            <a:r>
              <a:rPr lang="en-US" dirty="0"/>
              <a:t>.</a:t>
            </a:r>
          </a:p>
          <a:p>
            <a:r>
              <a:rPr lang="en-US" dirty="0"/>
              <a:t>В Windows </a:t>
            </a:r>
            <a:r>
              <a:rPr lang="en-US" dirty="0" err="1"/>
              <a:t>аналогичную</a:t>
            </a:r>
            <a:r>
              <a:rPr lang="en-US" dirty="0"/>
              <a:t> </a:t>
            </a:r>
            <a:r>
              <a:rPr lang="en-US" dirty="0" err="1"/>
              <a:t>роль</a:t>
            </a:r>
            <a:r>
              <a:rPr lang="en-US" dirty="0"/>
              <a:t> </a:t>
            </a:r>
            <a:r>
              <a:rPr lang="en-US" dirty="0" err="1"/>
              <a:t>играет</a:t>
            </a:r>
            <a:r>
              <a:rPr lang="en-US" dirty="0"/>
              <a:t> Windows API, </a:t>
            </a:r>
            <a:r>
              <a:rPr lang="en-US" dirty="0" err="1"/>
              <a:t>традиционно</a:t>
            </a:r>
            <a:r>
              <a:rPr lang="en-US" dirty="0"/>
              <a:t> </a:t>
            </a:r>
            <a:r>
              <a:rPr lang="en-US" dirty="0" err="1"/>
              <a:t>называемый</a:t>
            </a:r>
            <a:r>
              <a:rPr lang="en-US" dirty="0"/>
              <a:t> Win32 API. </a:t>
            </a:r>
            <a:r>
              <a:rPr lang="en-US" dirty="0" err="1"/>
              <a:t>Несмотря</a:t>
            </a:r>
            <a:r>
              <a:rPr lang="en-US" dirty="0"/>
              <a:t> </a:t>
            </a:r>
            <a:r>
              <a:rPr lang="en-US" dirty="0" err="1"/>
              <a:t>на</a:t>
            </a:r>
            <a:r>
              <a:rPr lang="en-US" dirty="0"/>
              <a:t> </a:t>
            </a:r>
            <a:r>
              <a:rPr lang="en-US" dirty="0" err="1"/>
              <a:t>название</a:t>
            </a:r>
            <a:r>
              <a:rPr lang="en-US" dirty="0"/>
              <a:t>, </a:t>
            </a:r>
            <a:r>
              <a:rPr lang="en-US" dirty="0" err="1"/>
              <a:t>этот</a:t>
            </a:r>
            <a:r>
              <a:rPr lang="en-US" dirty="0"/>
              <a:t> API </a:t>
            </a:r>
            <a:r>
              <a:rPr lang="en-US" dirty="0" err="1"/>
              <a:t>используется</a:t>
            </a:r>
            <a:r>
              <a:rPr lang="en-US" dirty="0"/>
              <a:t> и в </a:t>
            </a:r>
            <a:r>
              <a:rPr lang="en-US" dirty="0" err="1"/>
              <a:t>современных</a:t>
            </a:r>
            <a:r>
              <a:rPr lang="en-US" dirty="0"/>
              <a:t> 64-битных </a:t>
            </a:r>
            <a:r>
              <a:rPr lang="en-US" dirty="0" err="1"/>
              <a:t>версиях</a:t>
            </a:r>
            <a:r>
              <a:rPr lang="en-US" dirty="0"/>
              <a:t> Windows.</a:t>
            </a:r>
          </a:p>
          <a:p>
            <a:endParaRPr lang="en-US" dirty="0"/>
          </a:p>
          <a:p>
            <a:r>
              <a:rPr lang="en-US" dirty="0" err="1"/>
              <a:t>Главное</a:t>
            </a:r>
            <a:r>
              <a:rPr lang="en-US" dirty="0"/>
              <a:t> </a:t>
            </a:r>
            <a:r>
              <a:rPr lang="en-US" dirty="0" err="1"/>
              <a:t>различие</a:t>
            </a:r>
            <a:r>
              <a:rPr lang="en-US" dirty="0"/>
              <a:t> </a:t>
            </a:r>
            <a:r>
              <a:rPr lang="en-US" dirty="0" err="1"/>
              <a:t>для</a:t>
            </a:r>
            <a:r>
              <a:rPr lang="en-US" dirty="0"/>
              <a:t> </a:t>
            </a:r>
            <a:r>
              <a:rPr lang="en-US" dirty="0" err="1"/>
              <a:t>нас</a:t>
            </a:r>
            <a:r>
              <a:rPr lang="en-US" dirty="0"/>
              <a:t> </a:t>
            </a:r>
            <a:r>
              <a:rPr lang="en-US" dirty="0" err="1"/>
              <a:t>состоит</a:t>
            </a:r>
            <a:r>
              <a:rPr lang="en-US" dirty="0"/>
              <a:t> в </a:t>
            </a:r>
            <a:r>
              <a:rPr lang="en-US" dirty="0" err="1"/>
              <a:t>степени</a:t>
            </a:r>
            <a:r>
              <a:rPr lang="en-US" dirty="0"/>
              <a:t> </a:t>
            </a:r>
            <a:r>
              <a:rPr lang="en-US" dirty="0" err="1"/>
              <a:t>отделения</a:t>
            </a:r>
            <a:r>
              <a:rPr lang="en-US" dirty="0"/>
              <a:t> </a:t>
            </a:r>
            <a:r>
              <a:rPr lang="en-US" dirty="0" err="1"/>
              <a:t>публичного</a:t>
            </a:r>
            <a:r>
              <a:rPr lang="en-US" dirty="0"/>
              <a:t> API </a:t>
            </a:r>
            <a:r>
              <a:rPr lang="en-US" dirty="0" err="1"/>
              <a:t>от</a:t>
            </a:r>
            <a:r>
              <a:rPr lang="en-US" dirty="0"/>
              <a:t> </a:t>
            </a:r>
            <a:r>
              <a:rPr lang="en-US" dirty="0" err="1"/>
              <a:t>внутреннего</a:t>
            </a:r>
            <a:r>
              <a:rPr lang="en-US" dirty="0"/>
              <a:t> </a:t>
            </a:r>
            <a:r>
              <a:rPr lang="en-US" dirty="0" err="1"/>
              <a:t>интерфейса</a:t>
            </a:r>
            <a:r>
              <a:rPr lang="en-US" dirty="0"/>
              <a:t> </a:t>
            </a:r>
            <a:r>
              <a:rPr lang="en-US" dirty="0" err="1"/>
              <a:t>ядра</a:t>
            </a:r>
            <a:r>
              <a:rPr lang="en-US" dirty="0"/>
              <a:t>.</a:t>
            </a:r>
          </a:p>
          <a:p>
            <a:endParaRPr lang="en-US" dirty="0"/>
          </a:p>
          <a:p>
            <a:r>
              <a:rPr lang="en-US" dirty="0"/>
              <a:t>В UNIX </a:t>
            </a:r>
            <a:r>
              <a:rPr lang="en-US" dirty="0" err="1"/>
              <a:t>зачастую</a:t>
            </a:r>
            <a:r>
              <a:rPr lang="en-US" dirty="0"/>
              <a:t> </a:t>
            </a:r>
            <a:r>
              <a:rPr lang="en-US" dirty="0" err="1"/>
              <a:t>достаточно</a:t>
            </a:r>
            <a:r>
              <a:rPr lang="en-US" dirty="0"/>
              <a:t> </a:t>
            </a:r>
            <a:r>
              <a:rPr lang="en-US" dirty="0" err="1"/>
              <a:t>легко</a:t>
            </a:r>
            <a:r>
              <a:rPr lang="en-US" dirty="0"/>
              <a:t> </a:t>
            </a:r>
            <a:r>
              <a:rPr lang="en-US" dirty="0" err="1"/>
              <a:t>проследить</a:t>
            </a:r>
            <a:r>
              <a:rPr lang="en-US" dirty="0"/>
              <a:t> </a:t>
            </a:r>
            <a:r>
              <a:rPr lang="en-US" dirty="0" err="1"/>
              <a:t>цепочку</a:t>
            </a:r>
            <a:r>
              <a:rPr lang="en-US" dirty="0"/>
              <a:t> </a:t>
            </a:r>
            <a:r>
              <a:rPr lang="en-US" dirty="0" err="1"/>
              <a:t>от</a:t>
            </a:r>
            <a:r>
              <a:rPr lang="en-US" dirty="0"/>
              <a:t> </a:t>
            </a:r>
            <a:r>
              <a:rPr lang="en-US" dirty="0" err="1"/>
              <a:t>функции</a:t>
            </a:r>
            <a:r>
              <a:rPr lang="en-US" dirty="0"/>
              <a:t> </a:t>
            </a:r>
            <a:r>
              <a:rPr lang="en-US" dirty="0" err="1"/>
              <a:t>вроде</a:t>
            </a:r>
            <a:r>
              <a:rPr lang="en-US" dirty="0"/>
              <a:t> </a:t>
            </a:r>
            <a:r>
              <a:rPr lang="en-US" sz="1200" kern="1200" dirty="0">
                <a:solidFill>
                  <a:schemeClr val="tx1"/>
                </a:solidFill>
                <a:latin typeface="+mn-lt"/>
                <a:ea typeface="+mn-ea"/>
                <a:cs typeface="+mn-cs"/>
              </a:rPr>
              <a:t>read</a:t>
            </a:r>
            <a:r>
              <a:rPr lang="en-US" dirty="0"/>
              <a:t> </a:t>
            </a:r>
            <a:r>
              <a:rPr lang="en-US" dirty="0" err="1"/>
              <a:t>до</a:t>
            </a:r>
            <a:r>
              <a:rPr lang="en-US" dirty="0"/>
              <a:t> </a:t>
            </a:r>
            <a:r>
              <a:rPr lang="en-US" dirty="0" err="1"/>
              <a:t>соответствующего</a:t>
            </a:r>
            <a:r>
              <a:rPr lang="en-US" dirty="0"/>
              <a:t> </a:t>
            </a:r>
            <a:r>
              <a:rPr lang="en-US" dirty="0" err="1"/>
              <a:t>системного</a:t>
            </a:r>
            <a:r>
              <a:rPr lang="en-US" dirty="0"/>
              <a:t> </a:t>
            </a:r>
            <a:r>
              <a:rPr lang="en-US" dirty="0" err="1"/>
              <a:t>вызова</a:t>
            </a:r>
            <a:r>
              <a:rPr lang="en-US" dirty="0"/>
              <a:t> </a:t>
            </a:r>
            <a:r>
              <a:rPr lang="en-US" dirty="0" err="1"/>
              <a:t>ядра</a:t>
            </a:r>
            <a:r>
              <a:rPr lang="en-US" dirty="0"/>
              <a:t>. </a:t>
            </a:r>
            <a:r>
              <a:rPr lang="en-US" dirty="0" err="1"/>
              <a:t>Но</a:t>
            </a:r>
            <a:r>
              <a:rPr lang="en-US" dirty="0"/>
              <a:t> </a:t>
            </a:r>
            <a:r>
              <a:rPr lang="en-US" dirty="0" err="1"/>
              <a:t>даже</a:t>
            </a:r>
            <a:r>
              <a:rPr lang="en-US" dirty="0"/>
              <a:t> </a:t>
            </a:r>
            <a:r>
              <a:rPr lang="en-US" dirty="0" err="1"/>
              <a:t>здесь</a:t>
            </a:r>
            <a:r>
              <a:rPr lang="en-US" dirty="0"/>
              <a:t> </a:t>
            </a:r>
            <a:r>
              <a:rPr lang="en-US" dirty="0" err="1"/>
              <a:t>не</a:t>
            </a:r>
            <a:r>
              <a:rPr lang="en-US" dirty="0"/>
              <a:t> </a:t>
            </a:r>
            <a:r>
              <a:rPr lang="en-US" dirty="0" err="1"/>
              <a:t>нужно</a:t>
            </a:r>
            <a:r>
              <a:rPr lang="en-US" dirty="0"/>
              <a:t> </a:t>
            </a:r>
            <a:r>
              <a:rPr lang="en-US" dirty="0" err="1"/>
              <a:t>считать</a:t>
            </a:r>
            <a:r>
              <a:rPr lang="en-US" dirty="0"/>
              <a:t> POSIX API и </a:t>
            </a:r>
            <a:r>
              <a:rPr lang="en-US" dirty="0" err="1"/>
              <a:t>набор</a:t>
            </a:r>
            <a:r>
              <a:rPr lang="en-US" dirty="0"/>
              <a:t> </a:t>
            </a:r>
            <a:r>
              <a:rPr lang="en-US" dirty="0" err="1"/>
              <a:t>системных</a:t>
            </a:r>
            <a:r>
              <a:rPr lang="en-US" dirty="0"/>
              <a:t> </a:t>
            </a:r>
            <a:r>
              <a:rPr lang="en-US" dirty="0" err="1"/>
              <a:t>вызовов</a:t>
            </a:r>
            <a:r>
              <a:rPr lang="en-US" dirty="0"/>
              <a:t> </a:t>
            </a:r>
            <a:r>
              <a:rPr lang="en-US" dirty="0" err="1"/>
              <a:t>одним</a:t>
            </a:r>
            <a:r>
              <a:rPr lang="en-US" dirty="0"/>
              <a:t> и </a:t>
            </a:r>
            <a:r>
              <a:rPr lang="en-US" dirty="0" err="1"/>
              <a:t>тем</a:t>
            </a:r>
            <a:r>
              <a:rPr lang="en-US" dirty="0"/>
              <a:t> </a:t>
            </a:r>
            <a:r>
              <a:rPr lang="en-US" dirty="0" err="1"/>
              <a:t>же</a:t>
            </a:r>
            <a:r>
              <a:rPr lang="en-US" dirty="0"/>
              <a:t> — POSIX </a:t>
            </a:r>
            <a:r>
              <a:rPr lang="en-US" dirty="0" err="1"/>
              <a:t>описывает</a:t>
            </a:r>
            <a:r>
              <a:rPr lang="en-US" dirty="0"/>
              <a:t> </a:t>
            </a:r>
            <a:r>
              <a:rPr lang="en-US" dirty="0" err="1"/>
              <a:t>интерфейс</a:t>
            </a:r>
            <a:r>
              <a:rPr lang="en-US" dirty="0"/>
              <a:t> </a:t>
            </a:r>
            <a:r>
              <a:rPr lang="en-US" dirty="0" err="1"/>
              <a:t>программы</a:t>
            </a:r>
            <a:r>
              <a:rPr lang="en-US" dirty="0"/>
              <a:t>, а </a:t>
            </a:r>
            <a:r>
              <a:rPr lang="en-US" dirty="0" err="1"/>
              <a:t>конкретное</a:t>
            </a:r>
            <a:r>
              <a:rPr lang="en-US" dirty="0"/>
              <a:t> </a:t>
            </a:r>
            <a:r>
              <a:rPr lang="en-US" dirty="0" err="1"/>
              <a:t>ядро</a:t>
            </a:r>
            <a:r>
              <a:rPr lang="en-US" dirty="0"/>
              <a:t> </a:t>
            </a:r>
            <a:r>
              <a:rPr lang="en-US" dirty="0" err="1"/>
              <a:t>реализует</a:t>
            </a:r>
            <a:r>
              <a:rPr lang="en-US" dirty="0"/>
              <a:t> </a:t>
            </a:r>
            <a:r>
              <a:rPr lang="en-US" dirty="0" err="1"/>
              <a:t>его</a:t>
            </a:r>
            <a:r>
              <a:rPr lang="en-US" dirty="0"/>
              <a:t> </a:t>
            </a:r>
            <a:r>
              <a:rPr lang="en-US" dirty="0" err="1"/>
              <a:t>своим</a:t>
            </a:r>
            <a:r>
              <a:rPr lang="en-US" dirty="0"/>
              <a:t> </a:t>
            </a:r>
            <a:r>
              <a:rPr lang="en-US" dirty="0" err="1"/>
              <a:t>способом</a:t>
            </a:r>
            <a:r>
              <a:rPr lang="en-US" dirty="0"/>
              <a:t>.</a:t>
            </a:r>
          </a:p>
          <a:p>
            <a:endParaRPr lang="en-US" dirty="0"/>
          </a:p>
          <a:p>
            <a:r>
              <a:rPr lang="en-US" dirty="0"/>
              <a:t>В Windows </a:t>
            </a:r>
            <a:r>
              <a:rPr lang="en-US" dirty="0" err="1"/>
              <a:t>эта</a:t>
            </a:r>
            <a:r>
              <a:rPr lang="en-US" dirty="0"/>
              <a:t> </a:t>
            </a:r>
            <a:r>
              <a:rPr lang="en-US" dirty="0" err="1"/>
              <a:t>граница</a:t>
            </a:r>
            <a:r>
              <a:rPr lang="en-US" dirty="0"/>
              <a:t> </a:t>
            </a:r>
            <a:r>
              <a:rPr lang="en-US" dirty="0" err="1"/>
              <a:t>выражена</a:t>
            </a:r>
            <a:r>
              <a:rPr lang="en-US" dirty="0"/>
              <a:t> </a:t>
            </a:r>
            <a:r>
              <a:rPr lang="en-US" dirty="0" err="1"/>
              <a:t>ещё</a:t>
            </a:r>
            <a:r>
              <a:rPr lang="en-US" dirty="0"/>
              <a:t> </a:t>
            </a:r>
            <a:r>
              <a:rPr lang="en-US" dirty="0" err="1"/>
              <a:t>сильнее</a:t>
            </a:r>
            <a:r>
              <a:rPr lang="en-US" dirty="0"/>
              <a:t>. </a:t>
            </a:r>
            <a:r>
              <a:rPr lang="en-US" dirty="0" err="1"/>
              <a:t>Приложение</a:t>
            </a:r>
            <a:r>
              <a:rPr lang="en-US" dirty="0"/>
              <a:t> </a:t>
            </a:r>
            <a:r>
              <a:rPr lang="en-US" dirty="0" err="1"/>
              <a:t>работает</a:t>
            </a:r>
            <a:r>
              <a:rPr lang="en-US" dirty="0"/>
              <a:t> </a:t>
            </a:r>
            <a:r>
              <a:rPr lang="en-US" dirty="0" err="1"/>
              <a:t>со</a:t>
            </a:r>
            <a:r>
              <a:rPr lang="en-US" dirty="0"/>
              <a:t> </a:t>
            </a:r>
            <a:r>
              <a:rPr lang="en-US" dirty="0" err="1"/>
              <a:t>стабильным</a:t>
            </a:r>
            <a:r>
              <a:rPr lang="en-US" dirty="0"/>
              <a:t> Win32 API, а </a:t>
            </a:r>
            <a:r>
              <a:rPr lang="en-US" dirty="0" err="1"/>
              <a:t>то</a:t>
            </a:r>
            <a:r>
              <a:rPr lang="en-US" dirty="0"/>
              <a:t>, </a:t>
            </a:r>
            <a:r>
              <a:rPr lang="en-US" dirty="0" err="1"/>
              <a:t>какие</a:t>
            </a:r>
            <a:r>
              <a:rPr lang="en-US" dirty="0"/>
              <a:t> </a:t>
            </a:r>
            <a:r>
              <a:rPr lang="en-US" dirty="0" err="1"/>
              <a:t>внутренние</a:t>
            </a:r>
            <a:r>
              <a:rPr lang="en-US" dirty="0"/>
              <a:t> </a:t>
            </a:r>
            <a:r>
              <a:rPr lang="en-US" dirty="0" err="1"/>
              <a:t>системные</a:t>
            </a:r>
            <a:r>
              <a:rPr lang="en-US" dirty="0"/>
              <a:t> </a:t>
            </a:r>
            <a:r>
              <a:rPr lang="en-US" dirty="0" err="1"/>
              <a:t>сервисы</a:t>
            </a:r>
            <a:r>
              <a:rPr lang="en-US" dirty="0"/>
              <a:t> и </a:t>
            </a:r>
            <a:r>
              <a:rPr lang="en-US" dirty="0" err="1"/>
              <a:t>вызовы</a:t>
            </a:r>
            <a:r>
              <a:rPr lang="en-US" dirty="0"/>
              <a:t> </a:t>
            </a:r>
            <a:r>
              <a:rPr lang="en-US" dirty="0" err="1"/>
              <a:t>использует</a:t>
            </a:r>
            <a:r>
              <a:rPr lang="en-US" dirty="0"/>
              <a:t> Windows </a:t>
            </a:r>
            <a:r>
              <a:rPr lang="en-US" dirty="0" err="1"/>
              <a:t>для</a:t>
            </a:r>
            <a:r>
              <a:rPr lang="en-US" dirty="0"/>
              <a:t> </a:t>
            </a:r>
            <a:r>
              <a:rPr lang="en-US" dirty="0" err="1"/>
              <a:t>реализации</a:t>
            </a:r>
            <a:r>
              <a:rPr lang="en-US" dirty="0"/>
              <a:t> </a:t>
            </a:r>
            <a:r>
              <a:rPr lang="en-US" dirty="0" err="1"/>
              <a:t>этой</a:t>
            </a:r>
            <a:r>
              <a:rPr lang="en-US" dirty="0"/>
              <a:t> </a:t>
            </a:r>
            <a:r>
              <a:rPr lang="en-US" dirty="0" err="1"/>
              <a:t>функции</a:t>
            </a:r>
            <a:r>
              <a:rPr lang="en-US" dirty="0"/>
              <a:t>, </a:t>
            </a:r>
            <a:r>
              <a:rPr lang="en-US" dirty="0" err="1"/>
              <a:t>является</a:t>
            </a:r>
            <a:r>
              <a:rPr lang="en-US" dirty="0"/>
              <a:t> </a:t>
            </a:r>
            <a:r>
              <a:rPr lang="en-US" dirty="0" err="1"/>
              <a:t>деталью</a:t>
            </a:r>
            <a:r>
              <a:rPr lang="en-US" dirty="0"/>
              <a:t> </a:t>
            </a:r>
            <a:r>
              <a:rPr lang="en-US" dirty="0" err="1"/>
              <a:t>самой</a:t>
            </a:r>
            <a:r>
              <a:rPr lang="en-US" dirty="0"/>
              <a:t> ОС и </a:t>
            </a:r>
            <a:r>
              <a:rPr lang="en-US" dirty="0" err="1"/>
              <a:t>может</a:t>
            </a:r>
            <a:r>
              <a:rPr lang="en-US" dirty="0"/>
              <a:t> </a:t>
            </a:r>
            <a:r>
              <a:rPr lang="en-US" dirty="0" err="1"/>
              <a:t>меняться</a:t>
            </a:r>
            <a:r>
              <a:rPr lang="en-US" dirty="0"/>
              <a:t>.</a:t>
            </a:r>
          </a:p>
          <a:p>
            <a:endParaRPr lang="en-US" dirty="0"/>
          </a:p>
          <a:p>
            <a:r>
              <a:rPr lang="en-US" dirty="0" err="1"/>
              <a:t>Поэтому</a:t>
            </a:r>
            <a:r>
              <a:rPr lang="en-US" dirty="0"/>
              <a:t> </a:t>
            </a:r>
            <a:r>
              <a:rPr lang="en-US" dirty="0" err="1"/>
              <a:t>программист</a:t>
            </a:r>
            <a:r>
              <a:rPr lang="en-US" dirty="0"/>
              <a:t> </a:t>
            </a:r>
            <a:r>
              <a:rPr lang="en-US" dirty="0" err="1"/>
              <a:t>ориентируется</a:t>
            </a:r>
            <a:r>
              <a:rPr lang="en-US" dirty="0"/>
              <a:t> </a:t>
            </a:r>
            <a:r>
              <a:rPr lang="en-US" dirty="0" err="1"/>
              <a:t>прежде</a:t>
            </a:r>
            <a:r>
              <a:rPr lang="en-US" dirty="0"/>
              <a:t> </a:t>
            </a:r>
            <a:r>
              <a:rPr lang="en-US" dirty="0" err="1"/>
              <a:t>всего</a:t>
            </a:r>
            <a:r>
              <a:rPr lang="en-US" dirty="0"/>
              <a:t> </a:t>
            </a:r>
            <a:r>
              <a:rPr lang="en-US" dirty="0" err="1"/>
              <a:t>на</a:t>
            </a:r>
            <a:r>
              <a:rPr lang="en-US" dirty="0"/>
              <a:t> </a:t>
            </a:r>
            <a:r>
              <a:rPr lang="en-US" b="1" dirty="0" err="1"/>
              <a:t>публичный</a:t>
            </a:r>
            <a:r>
              <a:rPr lang="en-US" b="1" dirty="0"/>
              <a:t> API</a:t>
            </a:r>
            <a:r>
              <a:rPr lang="en-US" dirty="0"/>
              <a:t>, а </a:t>
            </a:r>
            <a:r>
              <a:rPr lang="en-US" dirty="0" err="1"/>
              <a:t>не</a:t>
            </a:r>
            <a:r>
              <a:rPr lang="en-US" dirty="0"/>
              <a:t> </a:t>
            </a:r>
            <a:r>
              <a:rPr lang="en-US" dirty="0" err="1"/>
              <a:t>на</a:t>
            </a:r>
            <a:r>
              <a:rPr lang="en-US" dirty="0"/>
              <a:t> </a:t>
            </a:r>
            <a:r>
              <a:rPr lang="en-US" dirty="0" err="1"/>
              <a:t>внутренний</a:t>
            </a:r>
            <a:r>
              <a:rPr lang="en-US" dirty="0"/>
              <a:t> </a:t>
            </a:r>
            <a:r>
              <a:rPr lang="en-US" dirty="0" err="1"/>
              <a:t>набор</a:t>
            </a:r>
            <a:r>
              <a:rPr lang="en-US" dirty="0"/>
              <a:t> </a:t>
            </a:r>
            <a:r>
              <a:rPr lang="en-US" dirty="0" err="1"/>
              <a:t>системных</a:t>
            </a:r>
            <a:r>
              <a:rPr lang="en-US" dirty="0"/>
              <a:t> </a:t>
            </a:r>
            <a:r>
              <a:rPr lang="en-US" dirty="0" err="1"/>
              <a:t>вызовов</a:t>
            </a:r>
            <a:r>
              <a:rPr lang="en-US" dirty="0"/>
              <a:t> </a:t>
            </a:r>
            <a:r>
              <a:rPr lang="en-US" dirty="0" err="1"/>
              <a:t>ядра</a:t>
            </a:r>
            <a:r>
              <a:rPr lang="en-US" dirty="0"/>
              <a:t>.</a:t>
            </a:r>
          </a:p>
          <a:p>
            <a:endParaRPr lang="en-US" dirty="0"/>
          </a:p>
        </p:txBody>
      </p:sp>
      <p:sp>
        <p:nvSpPr>
          <p:cNvPr id="4" name="Slide Number Placeholder 3"/>
          <p:cNvSpPr>
            <a:spLocks noGrp="1"/>
          </p:cNvSpPr>
          <p:nvPr>
            <p:ph type="sldNum" sz="quarter" idx="5"/>
          </p:nvPr>
        </p:nvSpPr>
        <p:spPr/>
        <p:txBody>
          <a:bodyPr/>
          <a:lstStyle/>
          <a:p>
            <a:fld id="{A3EE74EF-BE85-44F3-968F-E74DD74A629E}" type="slidenum">
              <a:rPr lang="en-US" smtClean="0"/>
              <a:t>36</a:t>
            </a:fld>
            <a:endParaRPr lang="en-US"/>
          </a:p>
        </p:txBody>
      </p:sp>
    </p:spTree>
    <p:extLst>
      <p:ext uri="{BB962C8B-B14F-4D97-AF65-F5344CB8AC3E}">
        <p14:creationId xmlns:p14="http://schemas.microsoft.com/office/powerpoint/2010/main" val="6118356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Если</a:t>
            </a:r>
            <a:r>
              <a:rPr lang="en-US" dirty="0"/>
              <a:t> </a:t>
            </a:r>
            <a:r>
              <a:rPr lang="en-US" dirty="0" err="1"/>
              <a:t>посмотреть</a:t>
            </a:r>
            <a:r>
              <a:rPr lang="en-US" dirty="0"/>
              <a:t> </a:t>
            </a:r>
            <a:r>
              <a:rPr lang="en-US" dirty="0" err="1"/>
              <a:t>на</a:t>
            </a:r>
            <a:r>
              <a:rPr lang="en-US" dirty="0"/>
              <a:t> </a:t>
            </a:r>
            <a:r>
              <a:rPr lang="en-US" dirty="0" err="1"/>
              <a:t>задачи</a:t>
            </a:r>
            <a:r>
              <a:rPr lang="en-US" dirty="0"/>
              <a:t>, </a:t>
            </a:r>
            <a:r>
              <a:rPr lang="en-US" dirty="0" err="1"/>
              <a:t>которые</a:t>
            </a:r>
            <a:r>
              <a:rPr lang="en-US" dirty="0"/>
              <a:t> </a:t>
            </a:r>
            <a:r>
              <a:rPr lang="en-US" dirty="0" err="1"/>
              <a:t>решает</a:t>
            </a:r>
            <a:r>
              <a:rPr lang="en-US" dirty="0"/>
              <a:t> </a:t>
            </a:r>
            <a:r>
              <a:rPr lang="en-US" dirty="0" err="1"/>
              <a:t>приложение</a:t>
            </a:r>
            <a:r>
              <a:rPr lang="en-US" dirty="0"/>
              <a:t>, </a:t>
            </a:r>
            <a:r>
              <a:rPr lang="en-US" dirty="0" err="1"/>
              <a:t>сходство</a:t>
            </a:r>
            <a:r>
              <a:rPr lang="en-US" dirty="0"/>
              <a:t> </a:t>
            </a:r>
            <a:r>
              <a:rPr lang="en-US" dirty="0" err="1"/>
              <a:t>между</a:t>
            </a:r>
            <a:r>
              <a:rPr lang="en-US" dirty="0"/>
              <a:t> </a:t>
            </a:r>
            <a:r>
              <a:rPr lang="en-US" dirty="0" err="1"/>
              <a:t>системами</a:t>
            </a:r>
            <a:r>
              <a:rPr lang="en-US" dirty="0"/>
              <a:t> </a:t>
            </a:r>
            <a:r>
              <a:rPr lang="en-US" dirty="0" err="1"/>
              <a:t>хорошо</a:t>
            </a:r>
            <a:r>
              <a:rPr lang="en-US" dirty="0"/>
              <a:t> </a:t>
            </a:r>
            <a:r>
              <a:rPr lang="en-US" dirty="0" err="1"/>
              <a:t>заметно</a:t>
            </a:r>
            <a:r>
              <a:rPr lang="en-US" dirty="0"/>
              <a:t>.</a:t>
            </a:r>
            <a:endParaRPr lang="ru-RU" dirty="0"/>
          </a:p>
          <a:p>
            <a:endParaRPr lang="en-US" dirty="0"/>
          </a:p>
          <a:p>
            <a:r>
              <a:rPr lang="en-US" dirty="0"/>
              <a:t>В </a:t>
            </a:r>
            <a:r>
              <a:rPr lang="en-US" dirty="0" err="1"/>
              <a:t>обеих</a:t>
            </a:r>
            <a:r>
              <a:rPr lang="en-US" dirty="0"/>
              <a:t> </a:t>
            </a:r>
            <a:r>
              <a:rPr lang="en-US" dirty="0" err="1"/>
              <a:t>системах</a:t>
            </a:r>
            <a:r>
              <a:rPr lang="en-US" dirty="0"/>
              <a:t> </a:t>
            </a:r>
            <a:r>
              <a:rPr lang="en-US" dirty="0" err="1"/>
              <a:t>программе</a:t>
            </a:r>
            <a:r>
              <a:rPr lang="en-US" dirty="0"/>
              <a:t> </a:t>
            </a:r>
            <a:r>
              <a:rPr lang="en-US" dirty="0" err="1"/>
              <a:t>нужно</a:t>
            </a:r>
            <a:r>
              <a:rPr lang="en-US" dirty="0"/>
              <a:t> </a:t>
            </a:r>
            <a:r>
              <a:rPr lang="en-US" dirty="0" err="1"/>
              <a:t>создавать</a:t>
            </a:r>
            <a:r>
              <a:rPr lang="en-US" dirty="0"/>
              <a:t> </a:t>
            </a:r>
            <a:r>
              <a:rPr lang="en-US" dirty="0" err="1"/>
              <a:t>процессы</a:t>
            </a:r>
            <a:r>
              <a:rPr lang="en-US" dirty="0"/>
              <a:t>, </a:t>
            </a:r>
            <a:r>
              <a:rPr lang="en-US" dirty="0" err="1"/>
              <a:t>ждать</a:t>
            </a:r>
            <a:r>
              <a:rPr lang="en-US" dirty="0"/>
              <a:t> </a:t>
            </a:r>
            <a:r>
              <a:rPr lang="en-US" dirty="0" err="1"/>
              <a:t>их</a:t>
            </a:r>
            <a:r>
              <a:rPr lang="en-US" dirty="0"/>
              <a:t> </a:t>
            </a:r>
            <a:r>
              <a:rPr lang="en-US" dirty="0" err="1"/>
              <a:t>завершения</a:t>
            </a:r>
            <a:r>
              <a:rPr lang="en-US" dirty="0"/>
              <a:t>, </a:t>
            </a:r>
            <a:r>
              <a:rPr lang="en-US" dirty="0" err="1"/>
              <a:t>открывать</a:t>
            </a:r>
            <a:r>
              <a:rPr lang="en-US" dirty="0"/>
              <a:t> </a:t>
            </a:r>
            <a:r>
              <a:rPr lang="en-US" dirty="0" err="1"/>
              <a:t>файлы</a:t>
            </a:r>
            <a:r>
              <a:rPr lang="en-US" dirty="0"/>
              <a:t>, </a:t>
            </a:r>
            <a:r>
              <a:rPr lang="en-US" dirty="0" err="1"/>
              <a:t>читать</a:t>
            </a:r>
            <a:r>
              <a:rPr lang="en-US" dirty="0"/>
              <a:t> и </a:t>
            </a:r>
            <a:r>
              <a:rPr lang="en-US" dirty="0" err="1"/>
              <a:t>записывать</a:t>
            </a:r>
            <a:r>
              <a:rPr lang="en-US" dirty="0"/>
              <a:t> </a:t>
            </a:r>
            <a:r>
              <a:rPr lang="en-US" dirty="0" err="1"/>
              <a:t>данные</a:t>
            </a:r>
            <a:r>
              <a:rPr lang="en-US" dirty="0"/>
              <a:t> и </a:t>
            </a:r>
            <a:r>
              <a:rPr lang="en-US" dirty="0" err="1"/>
              <a:t>освобождать</a:t>
            </a:r>
            <a:r>
              <a:rPr lang="en-US" dirty="0"/>
              <a:t> </a:t>
            </a:r>
            <a:r>
              <a:rPr lang="en-US" dirty="0" err="1"/>
              <a:t>ресурсы</a:t>
            </a:r>
            <a:r>
              <a:rPr lang="en-US" dirty="0"/>
              <a:t>.</a:t>
            </a:r>
            <a:endParaRPr lang="ru-RU" dirty="0"/>
          </a:p>
          <a:p>
            <a:endParaRPr lang="en-US" dirty="0"/>
          </a:p>
          <a:p>
            <a:r>
              <a:rPr lang="en-US" dirty="0" err="1"/>
              <a:t>Но</a:t>
            </a:r>
            <a:r>
              <a:rPr lang="en-US" dirty="0"/>
              <a:t> </a:t>
            </a:r>
            <a:r>
              <a:rPr lang="en-US" dirty="0" err="1"/>
              <a:t>конкретные</a:t>
            </a:r>
            <a:r>
              <a:rPr lang="en-US" dirty="0"/>
              <a:t> </a:t>
            </a:r>
            <a:r>
              <a:rPr lang="en-US" dirty="0" err="1"/>
              <a:t>модели</a:t>
            </a:r>
            <a:r>
              <a:rPr lang="en-US" dirty="0"/>
              <a:t> </a:t>
            </a:r>
            <a:r>
              <a:rPr lang="en-US" dirty="0" err="1"/>
              <a:t>отличаются</a:t>
            </a:r>
            <a:r>
              <a:rPr lang="en-US" dirty="0"/>
              <a:t>.</a:t>
            </a:r>
          </a:p>
          <a:p>
            <a:r>
              <a:rPr lang="en-US" dirty="0" err="1"/>
              <a:t>Например</a:t>
            </a:r>
            <a:r>
              <a:rPr lang="en-US" dirty="0"/>
              <a:t>, в </a:t>
            </a:r>
            <a:r>
              <a:rPr lang="en-US" dirty="0" err="1"/>
              <a:t>классическом</a:t>
            </a:r>
            <a:r>
              <a:rPr lang="en-US" dirty="0"/>
              <a:t> UNIX </a:t>
            </a:r>
            <a:r>
              <a:rPr lang="en-US" dirty="0" err="1"/>
              <a:t>запуск</a:t>
            </a:r>
            <a:r>
              <a:rPr lang="en-US" dirty="0"/>
              <a:t> </a:t>
            </a:r>
            <a:r>
              <a:rPr lang="en-US" dirty="0" err="1"/>
              <a:t>новой</a:t>
            </a:r>
            <a:r>
              <a:rPr lang="en-US" dirty="0"/>
              <a:t> </a:t>
            </a:r>
            <a:r>
              <a:rPr lang="en-US" dirty="0" err="1"/>
              <a:t>программы</a:t>
            </a:r>
            <a:r>
              <a:rPr lang="en-US" dirty="0"/>
              <a:t> </a:t>
            </a:r>
            <a:r>
              <a:rPr lang="en-US" dirty="0" err="1"/>
              <a:t>обычно</a:t>
            </a:r>
            <a:r>
              <a:rPr lang="en-US" dirty="0"/>
              <a:t> </a:t>
            </a:r>
            <a:r>
              <a:rPr lang="en-US" dirty="0" err="1"/>
              <a:t>рассматривается</a:t>
            </a:r>
            <a:r>
              <a:rPr lang="en-US" dirty="0"/>
              <a:t> </a:t>
            </a:r>
            <a:r>
              <a:rPr lang="en-US" dirty="0" err="1"/>
              <a:t>как</a:t>
            </a:r>
            <a:r>
              <a:rPr lang="en-US" dirty="0"/>
              <a:t> </a:t>
            </a:r>
            <a:r>
              <a:rPr lang="en-US" dirty="0" err="1"/>
              <a:t>сочетание</a:t>
            </a:r>
            <a:r>
              <a:rPr lang="en-US" dirty="0"/>
              <a:t> </a:t>
            </a:r>
            <a:r>
              <a:rPr lang="en-US" dirty="0" err="1"/>
              <a:t>двух</a:t>
            </a:r>
            <a:r>
              <a:rPr lang="en-US" dirty="0"/>
              <a:t> </a:t>
            </a:r>
            <a:r>
              <a:rPr lang="en-US" dirty="0" err="1"/>
              <a:t>операций</a:t>
            </a:r>
            <a:r>
              <a:rPr lang="en-US" dirty="0"/>
              <a:t>: </a:t>
            </a:r>
            <a:r>
              <a:rPr lang="en-US" dirty="0" err="1"/>
              <a:t>сначала</a:t>
            </a:r>
            <a:r>
              <a:rPr lang="en-US" dirty="0"/>
              <a:t> </a:t>
            </a:r>
            <a:r>
              <a:rPr lang="en-US" sz="1200" kern="1200" dirty="0">
                <a:solidFill>
                  <a:schemeClr val="tx1"/>
                </a:solidFill>
                <a:latin typeface="+mn-lt"/>
                <a:ea typeface="+mn-ea"/>
                <a:cs typeface="+mn-cs"/>
              </a:rPr>
              <a:t>fork</a:t>
            </a:r>
            <a:r>
              <a:rPr lang="en-US" dirty="0"/>
              <a:t> </a:t>
            </a:r>
            <a:r>
              <a:rPr lang="en-US" dirty="0" err="1"/>
              <a:t>создаёт</a:t>
            </a:r>
            <a:r>
              <a:rPr lang="en-US" dirty="0"/>
              <a:t> </a:t>
            </a:r>
            <a:r>
              <a:rPr lang="en-US" dirty="0" err="1"/>
              <a:t>новый</a:t>
            </a:r>
            <a:r>
              <a:rPr lang="en-US" dirty="0"/>
              <a:t> </a:t>
            </a:r>
            <a:r>
              <a:rPr lang="en-US" dirty="0" err="1"/>
              <a:t>процесс</a:t>
            </a:r>
            <a:r>
              <a:rPr lang="en-US" dirty="0"/>
              <a:t>, а </a:t>
            </a:r>
            <a:r>
              <a:rPr lang="en-US" dirty="0" err="1"/>
              <a:t>затем</a:t>
            </a:r>
            <a:r>
              <a:rPr lang="en-US" dirty="0"/>
              <a:t> </a:t>
            </a:r>
            <a:r>
              <a:rPr lang="en-US" dirty="0" err="1"/>
              <a:t>одна</a:t>
            </a:r>
            <a:r>
              <a:rPr lang="en-US" dirty="0"/>
              <a:t> </a:t>
            </a:r>
            <a:r>
              <a:rPr lang="en-US" dirty="0" err="1"/>
              <a:t>из</a:t>
            </a:r>
            <a:r>
              <a:rPr lang="en-US" dirty="0"/>
              <a:t> </a:t>
            </a:r>
            <a:r>
              <a:rPr lang="en-US" dirty="0" err="1"/>
              <a:t>функций</a:t>
            </a:r>
            <a:r>
              <a:rPr lang="en-US" dirty="0"/>
              <a:t> </a:t>
            </a:r>
            <a:r>
              <a:rPr lang="en-US" dirty="0" err="1"/>
              <a:t>семейства</a:t>
            </a:r>
            <a:r>
              <a:rPr lang="en-US" dirty="0"/>
              <a:t> </a:t>
            </a:r>
            <a:r>
              <a:rPr lang="en-US" sz="1200" kern="1200" dirty="0">
                <a:solidFill>
                  <a:schemeClr val="tx1"/>
                </a:solidFill>
                <a:latin typeface="+mn-lt"/>
                <a:ea typeface="+mn-ea"/>
                <a:cs typeface="+mn-cs"/>
              </a:rPr>
              <a:t>exec</a:t>
            </a:r>
            <a:r>
              <a:rPr lang="en-US" dirty="0"/>
              <a:t> </a:t>
            </a:r>
            <a:r>
              <a:rPr lang="en-US" dirty="0" err="1"/>
              <a:t>загружает</a:t>
            </a:r>
            <a:r>
              <a:rPr lang="en-US" dirty="0"/>
              <a:t> в </a:t>
            </a:r>
            <a:r>
              <a:rPr lang="en-US" dirty="0" err="1"/>
              <a:t>него</a:t>
            </a:r>
            <a:r>
              <a:rPr lang="en-US" dirty="0"/>
              <a:t> </a:t>
            </a:r>
            <a:r>
              <a:rPr lang="en-US" dirty="0" err="1"/>
              <a:t>другую</a:t>
            </a:r>
            <a:r>
              <a:rPr lang="en-US" dirty="0"/>
              <a:t> </a:t>
            </a:r>
            <a:r>
              <a:rPr lang="en-US" dirty="0" err="1"/>
              <a:t>программу</a:t>
            </a:r>
            <a:r>
              <a:rPr lang="en-US" dirty="0"/>
              <a:t>.</a:t>
            </a:r>
          </a:p>
          <a:p>
            <a:endParaRPr lang="ru-RU" dirty="0"/>
          </a:p>
          <a:p>
            <a:r>
              <a:rPr lang="en-US" dirty="0"/>
              <a:t>В Windows </a:t>
            </a:r>
            <a:r>
              <a:rPr lang="en-US" dirty="0" err="1"/>
              <a:t>для</a:t>
            </a:r>
            <a:r>
              <a:rPr lang="en-US" dirty="0"/>
              <a:t> </a:t>
            </a:r>
            <a:r>
              <a:rPr lang="en-US" dirty="0" err="1"/>
              <a:t>типичного</a:t>
            </a:r>
            <a:r>
              <a:rPr lang="en-US" dirty="0"/>
              <a:t> </a:t>
            </a:r>
            <a:r>
              <a:rPr lang="en-US" dirty="0" err="1"/>
              <a:t>запуска</a:t>
            </a:r>
            <a:r>
              <a:rPr lang="en-US" dirty="0"/>
              <a:t> </a:t>
            </a:r>
            <a:r>
              <a:rPr lang="en-US" dirty="0" err="1"/>
              <a:t>нового</a:t>
            </a:r>
            <a:r>
              <a:rPr lang="en-US" dirty="0"/>
              <a:t> </a:t>
            </a:r>
            <a:r>
              <a:rPr lang="en-US" dirty="0" err="1"/>
              <a:t>процесса</a:t>
            </a:r>
            <a:r>
              <a:rPr lang="en-US" dirty="0"/>
              <a:t> </a:t>
            </a:r>
            <a:r>
              <a:rPr lang="en-US" dirty="0" err="1"/>
              <a:t>используется</a:t>
            </a:r>
            <a:r>
              <a:rPr lang="en-US" dirty="0"/>
              <a:t> </a:t>
            </a:r>
            <a:r>
              <a:rPr lang="en-US" sz="1200" kern="1200" dirty="0" err="1">
                <a:solidFill>
                  <a:schemeClr val="tx1"/>
                </a:solidFill>
                <a:latin typeface="+mn-lt"/>
                <a:ea typeface="+mn-ea"/>
                <a:cs typeface="+mn-cs"/>
              </a:rPr>
              <a:t>CreateProcess</a:t>
            </a:r>
            <a:r>
              <a:rPr lang="en-US" dirty="0"/>
              <a:t>, </a:t>
            </a:r>
            <a:r>
              <a:rPr lang="en-US" dirty="0" err="1"/>
              <a:t>который</a:t>
            </a:r>
            <a:r>
              <a:rPr lang="en-US" dirty="0"/>
              <a:t> </a:t>
            </a:r>
            <a:r>
              <a:rPr lang="en-US" dirty="0" err="1"/>
              <a:t>сразу</a:t>
            </a:r>
            <a:r>
              <a:rPr lang="en-US" dirty="0"/>
              <a:t> </a:t>
            </a:r>
            <a:r>
              <a:rPr lang="en-US" dirty="0" err="1"/>
              <a:t>создаёт</a:t>
            </a:r>
            <a:r>
              <a:rPr lang="en-US" dirty="0"/>
              <a:t> </a:t>
            </a:r>
            <a:r>
              <a:rPr lang="en-US" dirty="0" err="1"/>
              <a:t>процесс</a:t>
            </a:r>
            <a:r>
              <a:rPr lang="en-US" dirty="0"/>
              <a:t> и </a:t>
            </a:r>
            <a:r>
              <a:rPr lang="en-US" dirty="0" err="1"/>
              <a:t>загружает</a:t>
            </a:r>
            <a:r>
              <a:rPr lang="en-US" dirty="0"/>
              <a:t> </a:t>
            </a:r>
            <a:r>
              <a:rPr lang="en-US" dirty="0" err="1"/>
              <a:t>нужную</a:t>
            </a:r>
            <a:r>
              <a:rPr lang="en-US" dirty="0"/>
              <a:t> </a:t>
            </a:r>
            <a:r>
              <a:rPr lang="en-US" dirty="0" err="1"/>
              <a:t>программу</a:t>
            </a:r>
            <a:r>
              <a:rPr lang="en-US" dirty="0"/>
              <a:t>. </a:t>
            </a:r>
            <a:r>
              <a:rPr lang="en-US" dirty="0" err="1"/>
              <a:t>Поэтому</a:t>
            </a:r>
            <a:r>
              <a:rPr lang="en-US" dirty="0"/>
              <a:t> </a:t>
            </a:r>
            <a:r>
              <a:rPr lang="en-US" dirty="0" err="1"/>
              <a:t>это</a:t>
            </a:r>
            <a:r>
              <a:rPr lang="en-US" dirty="0"/>
              <a:t> </a:t>
            </a:r>
            <a:r>
              <a:rPr lang="en-US" dirty="0" err="1"/>
              <a:t>не</a:t>
            </a:r>
            <a:r>
              <a:rPr lang="en-US" dirty="0"/>
              <a:t> </a:t>
            </a:r>
            <a:r>
              <a:rPr lang="en-US" dirty="0" err="1"/>
              <a:t>точный</a:t>
            </a:r>
            <a:r>
              <a:rPr lang="en-US" dirty="0"/>
              <a:t> </a:t>
            </a:r>
            <a:r>
              <a:rPr lang="en-US" dirty="0" err="1"/>
              <a:t>аналог</a:t>
            </a:r>
            <a:r>
              <a:rPr lang="en-US" dirty="0"/>
              <a:t> </a:t>
            </a:r>
            <a:r>
              <a:rPr lang="en-US" dirty="0" err="1"/>
              <a:t>одной</a:t>
            </a:r>
            <a:r>
              <a:rPr lang="en-US" dirty="0"/>
              <a:t> POSIX-</a:t>
            </a:r>
            <a:r>
              <a:rPr lang="en-US" dirty="0" err="1"/>
              <a:t>функции</a:t>
            </a:r>
            <a:r>
              <a:rPr lang="en-US" dirty="0"/>
              <a:t> — </a:t>
            </a:r>
            <a:r>
              <a:rPr lang="en-US" dirty="0" err="1"/>
              <a:t>скорее</a:t>
            </a:r>
            <a:r>
              <a:rPr lang="en-US" dirty="0"/>
              <a:t> </a:t>
            </a:r>
            <a:r>
              <a:rPr lang="en-US" dirty="0" err="1"/>
              <a:t>он</a:t>
            </a:r>
            <a:r>
              <a:rPr lang="en-US" dirty="0"/>
              <a:t> </a:t>
            </a:r>
            <a:r>
              <a:rPr lang="en-US" dirty="0" err="1"/>
              <a:t>решает</a:t>
            </a:r>
            <a:r>
              <a:rPr lang="en-US" dirty="0"/>
              <a:t> </a:t>
            </a:r>
            <a:r>
              <a:rPr lang="en-US" dirty="0" err="1"/>
              <a:t>задачу</a:t>
            </a:r>
            <a:r>
              <a:rPr lang="en-US" dirty="0"/>
              <a:t>, </a:t>
            </a:r>
            <a:r>
              <a:rPr lang="en-US" dirty="0" err="1"/>
              <a:t>для</a:t>
            </a:r>
            <a:r>
              <a:rPr lang="en-US" dirty="0"/>
              <a:t> </a:t>
            </a:r>
            <a:r>
              <a:rPr lang="en-US" dirty="0" err="1"/>
              <a:t>которой</a:t>
            </a:r>
            <a:r>
              <a:rPr lang="en-US" dirty="0"/>
              <a:t> в UNIX </a:t>
            </a:r>
            <a:r>
              <a:rPr lang="en-US" dirty="0" err="1"/>
              <a:t>часто</a:t>
            </a:r>
            <a:r>
              <a:rPr lang="en-US" dirty="0"/>
              <a:t> </a:t>
            </a:r>
            <a:r>
              <a:rPr lang="en-US" dirty="0" err="1"/>
              <a:t>используется</a:t>
            </a:r>
            <a:r>
              <a:rPr lang="en-US" dirty="0"/>
              <a:t> </a:t>
            </a:r>
            <a:r>
              <a:rPr lang="en-US" dirty="0" err="1"/>
              <a:t>сочетание</a:t>
            </a:r>
            <a:r>
              <a:rPr lang="en-US" dirty="0"/>
              <a:t> </a:t>
            </a:r>
            <a:r>
              <a:rPr lang="en-US" sz="1200" kern="1200" dirty="0">
                <a:solidFill>
                  <a:schemeClr val="tx1"/>
                </a:solidFill>
                <a:latin typeface="+mn-lt"/>
                <a:ea typeface="+mn-ea"/>
                <a:cs typeface="+mn-cs"/>
              </a:rPr>
              <a:t>fork</a:t>
            </a:r>
            <a:r>
              <a:rPr lang="en-US" dirty="0"/>
              <a:t> и </a:t>
            </a:r>
            <a:r>
              <a:rPr lang="en-US" sz="1200" kern="1200" dirty="0">
                <a:solidFill>
                  <a:schemeClr val="tx1"/>
                </a:solidFill>
                <a:latin typeface="+mn-lt"/>
                <a:ea typeface="+mn-ea"/>
                <a:cs typeface="+mn-cs"/>
              </a:rPr>
              <a:t>exec</a:t>
            </a:r>
            <a:r>
              <a:rPr lang="en-US" dirty="0"/>
              <a:t>.</a:t>
            </a:r>
          </a:p>
          <a:p>
            <a:endParaRPr lang="ru-RU" dirty="0"/>
          </a:p>
          <a:p>
            <a:r>
              <a:rPr lang="en-US" dirty="0" err="1"/>
              <a:t>То</a:t>
            </a:r>
            <a:r>
              <a:rPr lang="en-US" dirty="0"/>
              <a:t> </a:t>
            </a:r>
            <a:r>
              <a:rPr lang="en-US" dirty="0" err="1"/>
              <a:t>же</a:t>
            </a:r>
            <a:r>
              <a:rPr lang="en-US" dirty="0"/>
              <a:t> </a:t>
            </a:r>
            <a:r>
              <a:rPr lang="en-US" dirty="0" err="1"/>
              <a:t>самое</a:t>
            </a:r>
            <a:r>
              <a:rPr lang="en-US" dirty="0"/>
              <a:t> </a:t>
            </a:r>
            <a:r>
              <a:rPr lang="en-US" dirty="0" err="1"/>
              <a:t>видно</a:t>
            </a:r>
            <a:r>
              <a:rPr lang="en-US" dirty="0"/>
              <a:t> </a:t>
            </a:r>
            <a:r>
              <a:rPr lang="en-US" dirty="0" err="1"/>
              <a:t>при</a:t>
            </a:r>
            <a:r>
              <a:rPr lang="en-US" dirty="0"/>
              <a:t> </a:t>
            </a:r>
            <a:r>
              <a:rPr lang="en-US" dirty="0" err="1"/>
              <a:t>работе</a:t>
            </a:r>
            <a:r>
              <a:rPr lang="en-US" dirty="0"/>
              <a:t> с </a:t>
            </a:r>
            <a:r>
              <a:rPr lang="en-US" dirty="0" err="1"/>
              <a:t>файлами</a:t>
            </a:r>
            <a:r>
              <a:rPr lang="en-US" dirty="0"/>
              <a:t>. POSIX </a:t>
            </a:r>
            <a:r>
              <a:rPr lang="en-US" dirty="0" err="1"/>
              <a:t>использует</a:t>
            </a:r>
            <a:r>
              <a:rPr lang="en-US" dirty="0"/>
              <a:t> </a:t>
            </a:r>
            <a:r>
              <a:rPr lang="en-US" dirty="0" err="1"/>
              <a:t>файловые</a:t>
            </a:r>
            <a:r>
              <a:rPr lang="en-US" dirty="0"/>
              <a:t> </a:t>
            </a:r>
            <a:r>
              <a:rPr lang="en-US" dirty="0" err="1"/>
              <a:t>дескрипторы</a:t>
            </a:r>
            <a:r>
              <a:rPr lang="en-US" dirty="0"/>
              <a:t> — </a:t>
            </a:r>
            <a:r>
              <a:rPr lang="en-US" dirty="0" err="1"/>
              <a:t>небольшие</a:t>
            </a:r>
            <a:r>
              <a:rPr lang="en-US" dirty="0"/>
              <a:t> </a:t>
            </a:r>
            <a:r>
              <a:rPr lang="en-US" dirty="0" err="1"/>
              <a:t>целые</a:t>
            </a:r>
            <a:r>
              <a:rPr lang="en-US" dirty="0"/>
              <a:t> </a:t>
            </a:r>
            <a:r>
              <a:rPr lang="en-US" dirty="0" err="1"/>
              <a:t>числа</a:t>
            </a:r>
            <a:r>
              <a:rPr lang="en-US" dirty="0"/>
              <a:t>. В Windows </a:t>
            </a:r>
            <a:r>
              <a:rPr lang="en-US" dirty="0" err="1"/>
              <a:t>многие</a:t>
            </a:r>
            <a:r>
              <a:rPr lang="en-US" dirty="0"/>
              <a:t> </a:t>
            </a:r>
            <a:r>
              <a:rPr lang="en-US" dirty="0" err="1"/>
              <a:t>ресурсы</a:t>
            </a:r>
            <a:r>
              <a:rPr lang="en-US" dirty="0"/>
              <a:t> </a:t>
            </a:r>
            <a:r>
              <a:rPr lang="en-US" dirty="0" err="1"/>
              <a:t>представлены</a:t>
            </a:r>
            <a:r>
              <a:rPr lang="en-US" dirty="0"/>
              <a:t> </a:t>
            </a:r>
            <a:r>
              <a:rPr lang="en-US" dirty="0" err="1"/>
              <a:t>объектами</a:t>
            </a:r>
            <a:r>
              <a:rPr lang="en-US" dirty="0"/>
              <a:t>, </a:t>
            </a:r>
            <a:r>
              <a:rPr lang="en-US" dirty="0" err="1"/>
              <a:t>на</a:t>
            </a:r>
            <a:r>
              <a:rPr lang="en-US" dirty="0"/>
              <a:t> </a:t>
            </a:r>
            <a:r>
              <a:rPr lang="en-US" dirty="0" err="1"/>
              <a:t>которые</a:t>
            </a:r>
            <a:r>
              <a:rPr lang="en-US" dirty="0"/>
              <a:t> </a:t>
            </a:r>
            <a:r>
              <a:rPr lang="en-US" dirty="0" err="1"/>
              <a:t>программа</a:t>
            </a:r>
            <a:r>
              <a:rPr lang="en-US" dirty="0"/>
              <a:t> </a:t>
            </a:r>
            <a:r>
              <a:rPr lang="en-US" dirty="0" err="1"/>
              <a:t>получает</a:t>
            </a:r>
            <a:r>
              <a:rPr lang="en-US" dirty="0"/>
              <a:t> </a:t>
            </a:r>
            <a:r>
              <a:rPr lang="en-US" b="1" dirty="0"/>
              <a:t>handle</a:t>
            </a:r>
            <a:r>
              <a:rPr lang="en-US" dirty="0"/>
              <a:t>, </a:t>
            </a:r>
            <a:r>
              <a:rPr lang="en-US" dirty="0" err="1"/>
              <a:t>то</a:t>
            </a:r>
            <a:r>
              <a:rPr lang="en-US" dirty="0"/>
              <a:t> </a:t>
            </a:r>
            <a:r>
              <a:rPr lang="en-US" dirty="0" err="1"/>
              <a:t>есть</a:t>
            </a:r>
            <a:r>
              <a:rPr lang="en-US" dirty="0"/>
              <a:t> </a:t>
            </a:r>
            <a:r>
              <a:rPr lang="en-US" dirty="0" err="1"/>
              <a:t>дескриптор</a:t>
            </a:r>
            <a:r>
              <a:rPr lang="en-US" dirty="0"/>
              <a:t> </a:t>
            </a:r>
            <a:r>
              <a:rPr lang="en-US" dirty="0" err="1"/>
              <a:t>объекта</a:t>
            </a:r>
            <a:r>
              <a:rPr lang="en-US" dirty="0"/>
              <a:t> Windows.</a:t>
            </a:r>
          </a:p>
          <a:p>
            <a:endParaRPr lang="ru-RU" dirty="0"/>
          </a:p>
          <a:p>
            <a:r>
              <a:rPr lang="en-US" dirty="0" err="1"/>
              <a:t>Поэтому</a:t>
            </a:r>
            <a:r>
              <a:rPr lang="en-US" dirty="0"/>
              <a:t> </a:t>
            </a:r>
            <a:r>
              <a:rPr lang="en-US" dirty="0" err="1"/>
              <a:t>таблицу</a:t>
            </a:r>
            <a:r>
              <a:rPr lang="en-US" dirty="0"/>
              <a:t> </a:t>
            </a:r>
            <a:r>
              <a:rPr lang="en-US" dirty="0" err="1"/>
              <a:t>на</a:t>
            </a:r>
            <a:r>
              <a:rPr lang="en-US" dirty="0"/>
              <a:t> </a:t>
            </a:r>
            <a:r>
              <a:rPr lang="en-US" dirty="0" err="1"/>
              <a:t>слайде</a:t>
            </a:r>
            <a:r>
              <a:rPr lang="en-US" dirty="0"/>
              <a:t> </a:t>
            </a:r>
            <a:r>
              <a:rPr lang="en-US" dirty="0" err="1"/>
              <a:t>не</a:t>
            </a:r>
            <a:r>
              <a:rPr lang="en-US" dirty="0"/>
              <a:t> </a:t>
            </a:r>
            <a:r>
              <a:rPr lang="en-US" dirty="0" err="1"/>
              <a:t>следует</a:t>
            </a:r>
            <a:r>
              <a:rPr lang="en-US" dirty="0"/>
              <a:t> </a:t>
            </a:r>
            <a:r>
              <a:rPr lang="en-US" dirty="0" err="1"/>
              <a:t>читать</a:t>
            </a:r>
            <a:r>
              <a:rPr lang="en-US" dirty="0"/>
              <a:t> </a:t>
            </a:r>
            <a:r>
              <a:rPr lang="en-US" dirty="0" err="1"/>
              <a:t>как</a:t>
            </a:r>
            <a:r>
              <a:rPr lang="en-US" dirty="0"/>
              <a:t> </a:t>
            </a:r>
            <a:r>
              <a:rPr lang="en-US" dirty="0" err="1"/>
              <a:t>точное</a:t>
            </a:r>
            <a:r>
              <a:rPr lang="en-US" dirty="0"/>
              <a:t> </a:t>
            </a:r>
            <a:r>
              <a:rPr lang="en-US" dirty="0" err="1"/>
              <a:t>соответствие</a:t>
            </a:r>
            <a:r>
              <a:rPr lang="en-US" dirty="0"/>
              <a:t> «</a:t>
            </a:r>
            <a:r>
              <a:rPr lang="en-US" dirty="0" err="1"/>
              <a:t>одна</a:t>
            </a:r>
            <a:r>
              <a:rPr lang="en-US" dirty="0"/>
              <a:t> </a:t>
            </a:r>
            <a:r>
              <a:rPr lang="en-US" dirty="0" err="1"/>
              <a:t>функция</a:t>
            </a:r>
            <a:r>
              <a:rPr lang="en-US" dirty="0"/>
              <a:t> </a:t>
            </a:r>
            <a:r>
              <a:rPr lang="en-US" dirty="0" err="1"/>
              <a:t>равна</a:t>
            </a:r>
            <a:r>
              <a:rPr lang="en-US" dirty="0"/>
              <a:t> </a:t>
            </a:r>
            <a:r>
              <a:rPr lang="en-US" dirty="0" err="1"/>
              <a:t>другой</a:t>
            </a:r>
            <a:r>
              <a:rPr lang="en-US" dirty="0"/>
              <a:t>». </a:t>
            </a:r>
            <a:endParaRPr lang="ru-RU" dirty="0"/>
          </a:p>
          <a:p>
            <a:r>
              <a:rPr lang="en-US" dirty="0"/>
              <a:t>Это </a:t>
            </a:r>
            <a:r>
              <a:rPr lang="en-US" dirty="0" err="1"/>
              <a:t>скорее</a:t>
            </a:r>
            <a:r>
              <a:rPr lang="en-US" dirty="0"/>
              <a:t> </a:t>
            </a:r>
            <a:r>
              <a:rPr lang="en-US" dirty="0" err="1"/>
              <a:t>примеры</a:t>
            </a:r>
            <a:r>
              <a:rPr lang="en-US" dirty="0"/>
              <a:t> </a:t>
            </a:r>
            <a:r>
              <a:rPr lang="en-US" dirty="0" err="1"/>
              <a:t>того</a:t>
            </a:r>
            <a:r>
              <a:rPr lang="en-US" dirty="0"/>
              <a:t>, </a:t>
            </a:r>
            <a:r>
              <a:rPr lang="en-US" dirty="0" err="1"/>
              <a:t>как</a:t>
            </a:r>
            <a:r>
              <a:rPr lang="en-US" dirty="0"/>
              <a:t> </a:t>
            </a:r>
            <a:r>
              <a:rPr lang="en-US" b="1" dirty="0" err="1"/>
              <a:t>одинаковые</a:t>
            </a:r>
            <a:r>
              <a:rPr lang="en-US" b="1" dirty="0"/>
              <a:t> </a:t>
            </a:r>
            <a:r>
              <a:rPr lang="en-US" b="1" dirty="0" err="1"/>
              <a:t>задачи</a:t>
            </a:r>
            <a:r>
              <a:rPr lang="en-US" b="1" dirty="0"/>
              <a:t> </a:t>
            </a:r>
            <a:r>
              <a:rPr lang="en-US" b="1" dirty="0" err="1"/>
              <a:t>операционной</a:t>
            </a:r>
            <a:r>
              <a:rPr lang="en-US" b="1" dirty="0"/>
              <a:t> </a:t>
            </a:r>
            <a:r>
              <a:rPr lang="en-US" b="1" dirty="0" err="1"/>
              <a:t>системы</a:t>
            </a:r>
            <a:r>
              <a:rPr lang="en-US" b="1" dirty="0"/>
              <a:t> </a:t>
            </a:r>
            <a:r>
              <a:rPr lang="en-US" b="1" dirty="0" err="1"/>
              <a:t>выражаются</a:t>
            </a:r>
            <a:r>
              <a:rPr lang="en-US" b="1" dirty="0"/>
              <a:t> </a:t>
            </a:r>
            <a:r>
              <a:rPr lang="en-US" b="1" dirty="0" err="1"/>
              <a:t>через</a:t>
            </a:r>
            <a:r>
              <a:rPr lang="en-US" b="1" dirty="0"/>
              <a:t> </a:t>
            </a:r>
            <a:r>
              <a:rPr lang="en-US" b="1" dirty="0" err="1"/>
              <a:t>разные</a:t>
            </a:r>
            <a:r>
              <a:rPr lang="en-US" b="1" dirty="0"/>
              <a:t> </a:t>
            </a:r>
            <a:r>
              <a:rPr lang="en-US" b="1" dirty="0" err="1"/>
              <a:t>программные</a:t>
            </a:r>
            <a:r>
              <a:rPr lang="en-US" b="1" dirty="0"/>
              <a:t> </a:t>
            </a:r>
            <a:r>
              <a:rPr lang="en-US" b="1" dirty="0" err="1"/>
              <a:t>модели</a:t>
            </a:r>
            <a:r>
              <a:rPr lang="en-US" dirty="0"/>
              <a:t>.</a:t>
            </a:r>
          </a:p>
          <a:p>
            <a:endParaRPr lang="en-US" dirty="0"/>
          </a:p>
        </p:txBody>
      </p:sp>
      <p:sp>
        <p:nvSpPr>
          <p:cNvPr id="4" name="Slide Number Placeholder 3"/>
          <p:cNvSpPr>
            <a:spLocks noGrp="1"/>
          </p:cNvSpPr>
          <p:nvPr>
            <p:ph type="sldNum" sz="quarter" idx="5"/>
          </p:nvPr>
        </p:nvSpPr>
        <p:spPr/>
        <p:txBody>
          <a:bodyPr/>
          <a:lstStyle/>
          <a:p>
            <a:fld id="{A3EE74EF-BE85-44F3-968F-E74DD74A629E}" type="slidenum">
              <a:rPr lang="en-US" smtClean="0"/>
              <a:t>37</a:t>
            </a:fld>
            <a:endParaRPr lang="en-US"/>
          </a:p>
        </p:txBody>
      </p:sp>
    </p:spTree>
    <p:extLst>
      <p:ext uri="{BB962C8B-B14F-4D97-AF65-F5344CB8AC3E}">
        <p14:creationId xmlns:p14="http://schemas.microsoft.com/office/powerpoint/2010/main" val="353474682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Win32 API </a:t>
            </a:r>
            <a:r>
              <a:rPr lang="en-US" dirty="0" err="1"/>
              <a:t>задуман</a:t>
            </a:r>
            <a:r>
              <a:rPr lang="en-US" dirty="0"/>
              <a:t> </a:t>
            </a:r>
            <a:r>
              <a:rPr lang="en-US" dirty="0" err="1"/>
              <a:t>как</a:t>
            </a:r>
            <a:r>
              <a:rPr lang="en-US" dirty="0"/>
              <a:t> </a:t>
            </a:r>
            <a:r>
              <a:rPr lang="en-US" dirty="0" err="1"/>
              <a:t>стабильная</a:t>
            </a:r>
            <a:r>
              <a:rPr lang="en-US" dirty="0"/>
              <a:t> </a:t>
            </a:r>
            <a:r>
              <a:rPr lang="en-US" dirty="0" err="1"/>
              <a:t>граница</a:t>
            </a:r>
            <a:r>
              <a:rPr lang="en-US" dirty="0"/>
              <a:t> </a:t>
            </a:r>
            <a:r>
              <a:rPr lang="en-US" dirty="0" err="1"/>
              <a:t>между</a:t>
            </a:r>
            <a:r>
              <a:rPr lang="en-US" dirty="0"/>
              <a:t> </a:t>
            </a:r>
            <a:r>
              <a:rPr lang="en-US" dirty="0" err="1"/>
              <a:t>прикладной</a:t>
            </a:r>
            <a:r>
              <a:rPr lang="en-US" dirty="0"/>
              <a:t> </a:t>
            </a:r>
            <a:r>
              <a:rPr lang="en-US" dirty="0" err="1"/>
              <a:t>программой</a:t>
            </a:r>
            <a:r>
              <a:rPr lang="en-US" dirty="0"/>
              <a:t> и </a:t>
            </a:r>
            <a:r>
              <a:rPr lang="en-US" dirty="0" err="1"/>
              <a:t>операционной</a:t>
            </a:r>
            <a:r>
              <a:rPr lang="en-US" dirty="0"/>
              <a:t> </a:t>
            </a:r>
            <a:r>
              <a:rPr lang="en-US" dirty="0" err="1"/>
              <a:t>системой</a:t>
            </a:r>
            <a:r>
              <a:rPr lang="en-US" dirty="0"/>
              <a:t>.</a:t>
            </a:r>
            <a:endParaRPr lang="ru-RU" dirty="0"/>
          </a:p>
          <a:p>
            <a:endParaRPr lang="en-US" dirty="0"/>
          </a:p>
          <a:p>
            <a:r>
              <a:rPr lang="en-US" dirty="0" err="1"/>
              <a:t>Программист</a:t>
            </a:r>
            <a:r>
              <a:rPr lang="en-US" dirty="0"/>
              <a:t> </a:t>
            </a:r>
            <a:r>
              <a:rPr lang="en-US" dirty="0" err="1"/>
              <a:t>вызывает</a:t>
            </a:r>
            <a:r>
              <a:rPr lang="en-US" dirty="0"/>
              <a:t> </a:t>
            </a:r>
            <a:r>
              <a:rPr lang="en-US" sz="1200" kern="1200" dirty="0" err="1">
                <a:solidFill>
                  <a:schemeClr val="tx1"/>
                </a:solidFill>
                <a:latin typeface="+mn-lt"/>
                <a:ea typeface="+mn-ea"/>
                <a:cs typeface="+mn-cs"/>
              </a:rPr>
              <a:t>CreateFile</a:t>
            </a:r>
            <a:r>
              <a:rPr lang="en-US" dirty="0"/>
              <a:t>, </a:t>
            </a:r>
            <a:r>
              <a:rPr lang="en-US" sz="1200" kern="1200" dirty="0" err="1">
                <a:solidFill>
                  <a:schemeClr val="tx1"/>
                </a:solidFill>
                <a:latin typeface="+mn-lt"/>
                <a:ea typeface="+mn-ea"/>
                <a:cs typeface="+mn-cs"/>
              </a:rPr>
              <a:t>CreateProcess</a:t>
            </a:r>
            <a:r>
              <a:rPr lang="en-US" dirty="0"/>
              <a:t>, </a:t>
            </a:r>
            <a:r>
              <a:rPr lang="en-US" sz="1200" kern="1200" dirty="0" err="1">
                <a:solidFill>
                  <a:schemeClr val="tx1"/>
                </a:solidFill>
                <a:latin typeface="+mn-lt"/>
                <a:ea typeface="+mn-ea"/>
                <a:cs typeface="+mn-cs"/>
              </a:rPr>
              <a:t>ReadFile</a:t>
            </a:r>
            <a:r>
              <a:rPr lang="en-US" dirty="0"/>
              <a:t> и </a:t>
            </a:r>
            <a:r>
              <a:rPr lang="en-US" dirty="0" err="1"/>
              <a:t>другие</a:t>
            </a:r>
            <a:r>
              <a:rPr lang="en-US" dirty="0"/>
              <a:t> </a:t>
            </a:r>
            <a:r>
              <a:rPr lang="en-US" dirty="0" err="1"/>
              <a:t>публичные</a:t>
            </a:r>
            <a:r>
              <a:rPr lang="en-US" dirty="0"/>
              <a:t> </a:t>
            </a:r>
            <a:r>
              <a:rPr lang="en-US" dirty="0" err="1"/>
              <a:t>функции</a:t>
            </a:r>
            <a:r>
              <a:rPr lang="en-US" dirty="0"/>
              <a:t>. </a:t>
            </a:r>
            <a:r>
              <a:rPr lang="en-US" dirty="0" err="1"/>
              <a:t>Но</a:t>
            </a:r>
            <a:r>
              <a:rPr lang="en-US" dirty="0"/>
              <a:t> </a:t>
            </a:r>
            <a:r>
              <a:rPr lang="en-US" dirty="0" err="1"/>
              <a:t>внутри</a:t>
            </a:r>
            <a:r>
              <a:rPr lang="en-US" dirty="0"/>
              <a:t> </a:t>
            </a:r>
            <a:r>
              <a:rPr lang="en-US" dirty="0" err="1"/>
              <a:t>между</a:t>
            </a:r>
            <a:r>
              <a:rPr lang="en-US" dirty="0"/>
              <a:t> </a:t>
            </a:r>
            <a:r>
              <a:rPr lang="en-US" dirty="0" err="1"/>
              <a:t>этой</a:t>
            </a:r>
            <a:r>
              <a:rPr lang="en-US" dirty="0"/>
              <a:t> </a:t>
            </a:r>
            <a:r>
              <a:rPr lang="en-US" dirty="0" err="1"/>
              <a:t>функцией</a:t>
            </a:r>
            <a:r>
              <a:rPr lang="en-US" dirty="0"/>
              <a:t> и </a:t>
            </a:r>
            <a:r>
              <a:rPr lang="en-US" dirty="0" err="1"/>
              <a:t>ядром</a:t>
            </a:r>
            <a:r>
              <a:rPr lang="en-US" dirty="0"/>
              <a:t> </a:t>
            </a:r>
            <a:r>
              <a:rPr lang="en-US" dirty="0" err="1"/>
              <a:t>могут</a:t>
            </a:r>
            <a:r>
              <a:rPr lang="en-US" dirty="0"/>
              <a:t> </a:t>
            </a:r>
            <a:r>
              <a:rPr lang="en-US" dirty="0" err="1"/>
              <a:t>существовать</a:t>
            </a:r>
            <a:r>
              <a:rPr lang="en-US" dirty="0"/>
              <a:t> </a:t>
            </a:r>
            <a:r>
              <a:rPr lang="en-US" dirty="0" err="1"/>
              <a:t>дополнительные</a:t>
            </a:r>
            <a:r>
              <a:rPr lang="en-US" dirty="0"/>
              <a:t> </a:t>
            </a:r>
            <a:r>
              <a:rPr lang="en-US" dirty="0" err="1"/>
              <a:t>библиотечные</a:t>
            </a:r>
            <a:r>
              <a:rPr lang="en-US" dirty="0"/>
              <a:t> </a:t>
            </a:r>
            <a:r>
              <a:rPr lang="en-US" dirty="0" err="1"/>
              <a:t>уровни</a:t>
            </a:r>
            <a:r>
              <a:rPr lang="en-US" dirty="0"/>
              <a:t>.</a:t>
            </a:r>
            <a:endParaRPr lang="ru-RU" dirty="0"/>
          </a:p>
          <a:p>
            <a:endParaRPr lang="en-US" dirty="0"/>
          </a:p>
          <a:p>
            <a:r>
              <a:rPr lang="en-US" dirty="0"/>
              <a:t>В </a:t>
            </a:r>
            <a:r>
              <a:rPr lang="en-US" dirty="0" err="1"/>
              <a:t>конечном</a:t>
            </a:r>
            <a:r>
              <a:rPr lang="en-US" dirty="0"/>
              <a:t> </a:t>
            </a:r>
            <a:r>
              <a:rPr lang="en-US" dirty="0" err="1"/>
              <a:t>итоге</a:t>
            </a:r>
            <a:r>
              <a:rPr lang="en-US" dirty="0"/>
              <a:t> </a:t>
            </a:r>
            <a:r>
              <a:rPr lang="en-US" dirty="0" err="1"/>
              <a:t>операция</a:t>
            </a:r>
            <a:r>
              <a:rPr lang="en-US" dirty="0"/>
              <a:t>, </a:t>
            </a:r>
            <a:r>
              <a:rPr lang="en-US" dirty="0" err="1"/>
              <a:t>которая</a:t>
            </a:r>
            <a:r>
              <a:rPr lang="en-US" dirty="0"/>
              <a:t> </a:t>
            </a:r>
            <a:r>
              <a:rPr lang="en-US" dirty="0" err="1"/>
              <a:t>требует</a:t>
            </a:r>
            <a:r>
              <a:rPr lang="en-US" dirty="0"/>
              <a:t> </a:t>
            </a:r>
            <a:r>
              <a:rPr lang="en-US" dirty="0" err="1"/>
              <a:t>ядра</a:t>
            </a:r>
            <a:r>
              <a:rPr lang="en-US" dirty="0"/>
              <a:t>, </a:t>
            </a:r>
            <a:r>
              <a:rPr lang="en-US" dirty="0" err="1"/>
              <a:t>конечно</a:t>
            </a:r>
            <a:r>
              <a:rPr lang="en-US" dirty="0"/>
              <a:t>, </a:t>
            </a:r>
            <a:r>
              <a:rPr lang="en-US" dirty="0" err="1"/>
              <a:t>должна</a:t>
            </a:r>
            <a:r>
              <a:rPr lang="en-US" dirty="0"/>
              <a:t> </a:t>
            </a:r>
            <a:r>
              <a:rPr lang="en-US" dirty="0" err="1"/>
              <a:t>перейти</a:t>
            </a:r>
            <a:r>
              <a:rPr lang="en-US" dirty="0"/>
              <a:t> в </a:t>
            </a:r>
            <a:r>
              <a:rPr lang="en-US" dirty="0" err="1"/>
              <a:t>режим</a:t>
            </a:r>
            <a:r>
              <a:rPr lang="en-US" dirty="0"/>
              <a:t> </a:t>
            </a:r>
            <a:r>
              <a:rPr lang="en-US" dirty="0" err="1"/>
              <a:t>ядра</a:t>
            </a:r>
            <a:r>
              <a:rPr lang="en-US" dirty="0"/>
              <a:t>. </a:t>
            </a:r>
            <a:r>
              <a:rPr lang="en-US" dirty="0" err="1"/>
              <a:t>Но</a:t>
            </a:r>
            <a:r>
              <a:rPr lang="en-US" dirty="0"/>
              <a:t> </a:t>
            </a:r>
            <a:r>
              <a:rPr lang="en-US" dirty="0" err="1"/>
              <a:t>конкретные</a:t>
            </a:r>
            <a:r>
              <a:rPr lang="en-US" dirty="0"/>
              <a:t> </a:t>
            </a:r>
            <a:r>
              <a:rPr lang="en-US" dirty="0" err="1"/>
              <a:t>внутренние</a:t>
            </a:r>
            <a:r>
              <a:rPr lang="en-US" dirty="0"/>
              <a:t> </a:t>
            </a:r>
            <a:r>
              <a:rPr lang="en-US" dirty="0" err="1"/>
              <a:t>системные</a:t>
            </a:r>
            <a:r>
              <a:rPr lang="en-US" dirty="0"/>
              <a:t> </a:t>
            </a:r>
            <a:r>
              <a:rPr lang="en-US" dirty="0" err="1"/>
              <a:t>вызовы</a:t>
            </a:r>
            <a:r>
              <a:rPr lang="en-US" dirty="0"/>
              <a:t> Windows — </a:t>
            </a:r>
            <a:r>
              <a:rPr lang="en-US" dirty="0" err="1"/>
              <a:t>это</a:t>
            </a:r>
            <a:r>
              <a:rPr lang="en-US" dirty="0"/>
              <a:t> </a:t>
            </a:r>
            <a:r>
              <a:rPr lang="en-US" dirty="0" err="1"/>
              <a:t>уже</a:t>
            </a:r>
            <a:r>
              <a:rPr lang="en-US" dirty="0"/>
              <a:t> </a:t>
            </a:r>
            <a:r>
              <a:rPr lang="en-US" dirty="0" err="1"/>
              <a:t>не</a:t>
            </a:r>
            <a:r>
              <a:rPr lang="en-US" dirty="0"/>
              <a:t> </a:t>
            </a:r>
            <a:r>
              <a:rPr lang="en-US" dirty="0" err="1"/>
              <a:t>тот</a:t>
            </a:r>
            <a:r>
              <a:rPr lang="en-US" dirty="0"/>
              <a:t> </a:t>
            </a:r>
            <a:r>
              <a:rPr lang="en-US" dirty="0" err="1"/>
              <a:t>интерфейс</a:t>
            </a:r>
            <a:r>
              <a:rPr lang="en-US" dirty="0"/>
              <a:t>, </a:t>
            </a:r>
            <a:r>
              <a:rPr lang="en-US" dirty="0" err="1"/>
              <a:t>на</a:t>
            </a:r>
            <a:r>
              <a:rPr lang="en-US" dirty="0"/>
              <a:t> </a:t>
            </a:r>
            <a:r>
              <a:rPr lang="en-US" dirty="0" err="1"/>
              <a:t>который</a:t>
            </a:r>
            <a:r>
              <a:rPr lang="en-US" dirty="0"/>
              <a:t> </a:t>
            </a:r>
            <a:r>
              <a:rPr lang="en-US" dirty="0" err="1"/>
              <a:t>обычно</a:t>
            </a:r>
            <a:r>
              <a:rPr lang="en-US" dirty="0"/>
              <a:t> </a:t>
            </a:r>
            <a:r>
              <a:rPr lang="en-US" dirty="0" err="1"/>
              <a:t>должна</a:t>
            </a:r>
            <a:r>
              <a:rPr lang="en-US" dirty="0"/>
              <a:t> </a:t>
            </a:r>
            <a:r>
              <a:rPr lang="en-US" dirty="0" err="1"/>
              <a:t>ориентироваться</a:t>
            </a:r>
            <a:r>
              <a:rPr lang="en-US" dirty="0"/>
              <a:t> </a:t>
            </a:r>
            <a:r>
              <a:rPr lang="en-US" dirty="0" err="1"/>
              <a:t>прикладная</a:t>
            </a:r>
            <a:r>
              <a:rPr lang="en-US" dirty="0"/>
              <a:t> </a:t>
            </a:r>
            <a:r>
              <a:rPr lang="en-US" dirty="0" err="1"/>
              <a:t>программа</a:t>
            </a:r>
            <a:r>
              <a:rPr lang="en-US" dirty="0"/>
              <a:t>.</a:t>
            </a:r>
            <a:endParaRPr lang="ru-RU" dirty="0"/>
          </a:p>
          <a:p>
            <a:endParaRPr lang="en-US" dirty="0"/>
          </a:p>
          <a:p>
            <a:r>
              <a:rPr lang="en-US" dirty="0" err="1"/>
              <a:t>Такое</a:t>
            </a:r>
            <a:r>
              <a:rPr lang="en-US" dirty="0"/>
              <a:t> </a:t>
            </a:r>
            <a:r>
              <a:rPr lang="en-US" dirty="0" err="1"/>
              <a:t>разделение</a:t>
            </a:r>
            <a:r>
              <a:rPr lang="en-US" dirty="0"/>
              <a:t> </a:t>
            </a:r>
            <a:r>
              <a:rPr lang="en-US" dirty="0" err="1"/>
              <a:t>помогает</a:t>
            </a:r>
            <a:r>
              <a:rPr lang="en-US" dirty="0"/>
              <a:t> Microsoft </a:t>
            </a:r>
            <a:r>
              <a:rPr lang="en-US" dirty="0" err="1"/>
              <a:t>менять</a:t>
            </a:r>
            <a:r>
              <a:rPr lang="en-US" dirty="0"/>
              <a:t> </a:t>
            </a:r>
            <a:r>
              <a:rPr lang="en-US" dirty="0" err="1"/>
              <a:t>внутреннее</a:t>
            </a:r>
            <a:r>
              <a:rPr lang="en-US" dirty="0"/>
              <a:t> </a:t>
            </a:r>
            <a:r>
              <a:rPr lang="en-US" dirty="0" err="1"/>
              <a:t>устройство</a:t>
            </a:r>
            <a:r>
              <a:rPr lang="en-US" dirty="0"/>
              <a:t> Windows, </a:t>
            </a:r>
            <a:r>
              <a:rPr lang="en-US" dirty="0" err="1"/>
              <a:t>сохраняя</a:t>
            </a:r>
            <a:r>
              <a:rPr lang="en-US" dirty="0"/>
              <a:t> </a:t>
            </a:r>
            <a:r>
              <a:rPr lang="en-US" dirty="0" err="1"/>
              <a:t>совместимость</a:t>
            </a:r>
            <a:r>
              <a:rPr lang="en-US" dirty="0"/>
              <a:t> </a:t>
            </a:r>
            <a:r>
              <a:rPr lang="en-US" dirty="0" err="1"/>
              <a:t>со</a:t>
            </a:r>
            <a:r>
              <a:rPr lang="en-US" dirty="0"/>
              <a:t> </a:t>
            </a:r>
            <a:r>
              <a:rPr lang="en-US" dirty="0" err="1"/>
              <a:t>старыми</a:t>
            </a:r>
            <a:r>
              <a:rPr lang="en-US" dirty="0"/>
              <a:t> </a:t>
            </a:r>
            <a:r>
              <a:rPr lang="en-US" dirty="0" err="1"/>
              <a:t>приложениями</a:t>
            </a:r>
            <a:r>
              <a:rPr lang="en-US" dirty="0"/>
              <a:t>.</a:t>
            </a:r>
            <a:endParaRPr lang="ru-RU" dirty="0"/>
          </a:p>
          <a:p>
            <a:endParaRPr lang="en-US" dirty="0"/>
          </a:p>
          <a:p>
            <a:r>
              <a:rPr lang="en-US" dirty="0" err="1"/>
              <a:t>Кроме</a:t>
            </a:r>
            <a:r>
              <a:rPr lang="en-US" dirty="0"/>
              <a:t> </a:t>
            </a:r>
            <a:r>
              <a:rPr lang="en-US" dirty="0" err="1"/>
              <a:t>того</a:t>
            </a:r>
            <a:r>
              <a:rPr lang="en-US" dirty="0"/>
              <a:t>, </a:t>
            </a:r>
            <a:r>
              <a:rPr lang="en-US" dirty="0" err="1"/>
              <a:t>не</a:t>
            </a:r>
            <a:r>
              <a:rPr lang="en-US" dirty="0"/>
              <a:t> </a:t>
            </a:r>
            <a:r>
              <a:rPr lang="en-US" dirty="0" err="1"/>
              <a:t>следует</a:t>
            </a:r>
            <a:r>
              <a:rPr lang="en-US" dirty="0"/>
              <a:t> </a:t>
            </a:r>
            <a:r>
              <a:rPr lang="en-US" dirty="0" err="1"/>
              <a:t>пытаться</a:t>
            </a:r>
            <a:r>
              <a:rPr lang="en-US" dirty="0"/>
              <a:t> </a:t>
            </a:r>
            <a:r>
              <a:rPr lang="en-US" dirty="0" err="1"/>
              <a:t>описывать</a:t>
            </a:r>
            <a:r>
              <a:rPr lang="en-US" dirty="0"/>
              <a:t> Windows </a:t>
            </a:r>
            <a:r>
              <a:rPr lang="en-US" dirty="0" err="1"/>
              <a:t>исключительно</a:t>
            </a:r>
            <a:r>
              <a:rPr lang="en-US" dirty="0"/>
              <a:t> </a:t>
            </a:r>
            <a:r>
              <a:rPr lang="en-US" dirty="0" err="1"/>
              <a:t>через</a:t>
            </a:r>
            <a:r>
              <a:rPr lang="en-US" dirty="0"/>
              <a:t> </a:t>
            </a:r>
            <a:r>
              <a:rPr lang="en-US" dirty="0" err="1"/>
              <a:t>термины</a:t>
            </a:r>
            <a:r>
              <a:rPr lang="en-US" dirty="0"/>
              <a:t> UNIX.</a:t>
            </a:r>
            <a:endParaRPr lang="ru-RU" dirty="0"/>
          </a:p>
          <a:p>
            <a:endParaRPr lang="en-US" dirty="0"/>
          </a:p>
          <a:p>
            <a:r>
              <a:rPr lang="en-US" dirty="0" err="1"/>
              <a:t>Например</a:t>
            </a:r>
            <a:r>
              <a:rPr lang="en-US" dirty="0"/>
              <a:t>, в Windows </a:t>
            </a:r>
            <a:r>
              <a:rPr lang="en-US" dirty="0" err="1"/>
              <a:t>нет</a:t>
            </a:r>
            <a:r>
              <a:rPr lang="en-US" dirty="0"/>
              <a:t> </a:t>
            </a:r>
            <a:r>
              <a:rPr lang="en-US" dirty="0" err="1"/>
              <a:t>общей</a:t>
            </a:r>
            <a:r>
              <a:rPr lang="en-US" dirty="0"/>
              <a:t> POSIX-</a:t>
            </a:r>
            <a:r>
              <a:rPr lang="en-US" dirty="0" err="1"/>
              <a:t>модели</a:t>
            </a:r>
            <a:r>
              <a:rPr lang="en-US" dirty="0"/>
              <a:t> </a:t>
            </a:r>
            <a:r>
              <a:rPr lang="en-US" dirty="0" err="1"/>
              <a:t>сигналов</a:t>
            </a:r>
            <a:r>
              <a:rPr lang="en-US" dirty="0"/>
              <a:t>, </a:t>
            </a:r>
            <a:r>
              <a:rPr lang="en-US" dirty="0" err="1"/>
              <a:t>но</a:t>
            </a:r>
            <a:r>
              <a:rPr lang="en-US" dirty="0"/>
              <a:t> </a:t>
            </a:r>
            <a:r>
              <a:rPr lang="en-US" dirty="0" err="1"/>
              <a:t>есть</a:t>
            </a:r>
            <a:r>
              <a:rPr lang="en-US" dirty="0"/>
              <a:t> </a:t>
            </a:r>
            <a:r>
              <a:rPr lang="en-US" dirty="0" err="1"/>
              <a:t>собственные</a:t>
            </a:r>
            <a:r>
              <a:rPr lang="en-US" dirty="0"/>
              <a:t> </a:t>
            </a:r>
            <a:r>
              <a:rPr lang="en-US" dirty="0" err="1"/>
              <a:t>механизмы</a:t>
            </a:r>
            <a:r>
              <a:rPr lang="en-US" dirty="0"/>
              <a:t> </a:t>
            </a:r>
            <a:r>
              <a:rPr lang="en-US" dirty="0" err="1"/>
              <a:t>событий</a:t>
            </a:r>
            <a:r>
              <a:rPr lang="en-US" dirty="0"/>
              <a:t>, </a:t>
            </a:r>
            <a:r>
              <a:rPr lang="en-US" dirty="0" err="1"/>
              <a:t>ожидания</a:t>
            </a:r>
            <a:r>
              <a:rPr lang="en-US" dirty="0"/>
              <a:t> и </a:t>
            </a:r>
            <a:r>
              <a:rPr lang="en-US" dirty="0" err="1"/>
              <a:t>межпроцессного</a:t>
            </a:r>
            <a:r>
              <a:rPr lang="en-US" dirty="0"/>
              <a:t> </a:t>
            </a:r>
            <a:r>
              <a:rPr lang="en-US" dirty="0" err="1"/>
              <a:t>взаимодействия</a:t>
            </a:r>
            <a:r>
              <a:rPr lang="en-US" dirty="0"/>
              <a:t>. </a:t>
            </a:r>
            <a:r>
              <a:rPr lang="en-US" dirty="0" err="1"/>
              <a:t>Модель</a:t>
            </a:r>
            <a:r>
              <a:rPr lang="en-US" dirty="0"/>
              <a:t> </a:t>
            </a:r>
            <a:r>
              <a:rPr lang="en-US" dirty="0" err="1"/>
              <a:t>безопасности</a:t>
            </a:r>
            <a:r>
              <a:rPr lang="en-US" dirty="0"/>
              <a:t> </a:t>
            </a:r>
            <a:r>
              <a:rPr lang="en-US" dirty="0" err="1"/>
              <a:t>основана</a:t>
            </a:r>
            <a:r>
              <a:rPr lang="en-US" dirty="0"/>
              <a:t> </a:t>
            </a:r>
            <a:r>
              <a:rPr lang="en-US" dirty="0" err="1"/>
              <a:t>на</a:t>
            </a:r>
            <a:r>
              <a:rPr lang="en-US" dirty="0"/>
              <a:t> </a:t>
            </a:r>
            <a:r>
              <a:rPr lang="en-US" dirty="0" err="1"/>
              <a:t>токенах</a:t>
            </a:r>
            <a:r>
              <a:rPr lang="en-US" dirty="0"/>
              <a:t> </a:t>
            </a:r>
            <a:r>
              <a:rPr lang="en-US" dirty="0" err="1"/>
              <a:t>доступа</a:t>
            </a:r>
            <a:r>
              <a:rPr lang="en-US" dirty="0"/>
              <a:t>, SID и ACL. </a:t>
            </a:r>
            <a:r>
              <a:rPr lang="en-US" dirty="0" err="1"/>
              <a:t>Для</a:t>
            </a:r>
            <a:r>
              <a:rPr lang="en-US" dirty="0"/>
              <a:t> </a:t>
            </a:r>
            <a:r>
              <a:rPr lang="en-US" dirty="0" err="1"/>
              <a:t>многих</a:t>
            </a:r>
            <a:r>
              <a:rPr lang="en-US" dirty="0"/>
              <a:t> </a:t>
            </a:r>
            <a:r>
              <a:rPr lang="en-US" dirty="0" err="1"/>
              <a:t>объектов</a:t>
            </a:r>
            <a:r>
              <a:rPr lang="en-US" dirty="0"/>
              <a:t> </a:t>
            </a:r>
            <a:r>
              <a:rPr lang="en-US" dirty="0" err="1"/>
              <a:t>используются</a:t>
            </a:r>
            <a:r>
              <a:rPr lang="en-US" dirty="0"/>
              <a:t> handles.</a:t>
            </a:r>
            <a:endParaRPr lang="ru-RU" dirty="0"/>
          </a:p>
          <a:p>
            <a:endParaRPr lang="en-US" dirty="0"/>
          </a:p>
          <a:p>
            <a:r>
              <a:rPr lang="en-US" dirty="0" err="1"/>
              <a:t>При</a:t>
            </a:r>
            <a:r>
              <a:rPr lang="en-US" dirty="0"/>
              <a:t> </a:t>
            </a:r>
            <a:r>
              <a:rPr lang="en-US" dirty="0" err="1"/>
              <a:t>этом</a:t>
            </a:r>
            <a:r>
              <a:rPr lang="en-US" dirty="0"/>
              <a:t> Windows </a:t>
            </a:r>
            <a:r>
              <a:rPr lang="en-US" dirty="0" err="1"/>
              <a:t>умеет</a:t>
            </a:r>
            <a:r>
              <a:rPr lang="en-US" dirty="0"/>
              <a:t> и </a:t>
            </a:r>
            <a:r>
              <a:rPr lang="en-US" dirty="0" err="1"/>
              <a:t>создавать</a:t>
            </a:r>
            <a:r>
              <a:rPr lang="en-US" dirty="0"/>
              <a:t> </a:t>
            </a:r>
            <a:r>
              <a:rPr lang="en-US" dirty="0" err="1"/>
              <a:t>жёсткие</a:t>
            </a:r>
            <a:r>
              <a:rPr lang="en-US" dirty="0"/>
              <a:t> </a:t>
            </a:r>
            <a:r>
              <a:rPr lang="en-US" dirty="0" err="1"/>
              <a:t>ссылки</a:t>
            </a:r>
            <a:r>
              <a:rPr lang="en-US" dirty="0"/>
              <a:t>, и </a:t>
            </a:r>
            <a:r>
              <a:rPr lang="en-US" dirty="0" err="1"/>
              <a:t>подключать</a:t>
            </a:r>
            <a:r>
              <a:rPr lang="en-US" dirty="0"/>
              <a:t> </a:t>
            </a:r>
            <a:r>
              <a:rPr lang="en-US" dirty="0" err="1"/>
              <a:t>тома</a:t>
            </a:r>
            <a:r>
              <a:rPr lang="en-US" dirty="0"/>
              <a:t> к </a:t>
            </a:r>
            <a:r>
              <a:rPr lang="en-US" dirty="0" err="1"/>
              <a:t>каталогам</a:t>
            </a:r>
            <a:r>
              <a:rPr lang="en-US" dirty="0"/>
              <a:t>. </a:t>
            </a:r>
            <a:r>
              <a:rPr lang="en-US" dirty="0" err="1"/>
              <a:t>Поэтому</a:t>
            </a:r>
            <a:r>
              <a:rPr lang="en-US" dirty="0"/>
              <a:t> </a:t>
            </a:r>
            <a:r>
              <a:rPr lang="en-US" dirty="0" err="1"/>
              <a:t>говорить</a:t>
            </a:r>
            <a:r>
              <a:rPr lang="en-US" dirty="0"/>
              <a:t>, </a:t>
            </a:r>
            <a:r>
              <a:rPr lang="en-US" dirty="0" err="1"/>
              <a:t>что</a:t>
            </a:r>
            <a:r>
              <a:rPr lang="en-US" dirty="0"/>
              <a:t> </a:t>
            </a:r>
            <a:r>
              <a:rPr lang="en-US" dirty="0" err="1"/>
              <a:t>таких</a:t>
            </a:r>
            <a:r>
              <a:rPr lang="en-US" dirty="0"/>
              <a:t> </a:t>
            </a:r>
            <a:r>
              <a:rPr lang="en-US" dirty="0" err="1"/>
              <a:t>возможностей</a:t>
            </a:r>
            <a:r>
              <a:rPr lang="en-US" dirty="0"/>
              <a:t> в Windows «</a:t>
            </a:r>
            <a:r>
              <a:rPr lang="en-US" dirty="0" err="1"/>
              <a:t>нет</a:t>
            </a:r>
            <a:r>
              <a:rPr lang="en-US" dirty="0"/>
              <a:t>», </a:t>
            </a:r>
            <a:r>
              <a:rPr lang="en-US" dirty="0" err="1"/>
              <a:t>было</a:t>
            </a:r>
            <a:r>
              <a:rPr lang="en-US" dirty="0"/>
              <a:t> </a:t>
            </a:r>
            <a:r>
              <a:rPr lang="en-US" dirty="0" err="1"/>
              <a:t>бы</a:t>
            </a:r>
            <a:r>
              <a:rPr lang="en-US" dirty="0"/>
              <a:t> </a:t>
            </a:r>
            <a:r>
              <a:rPr lang="en-US" dirty="0" err="1"/>
              <a:t>неправильно</a:t>
            </a:r>
            <a:r>
              <a:rPr lang="en-US" dirty="0"/>
              <a:t>. </a:t>
            </a:r>
            <a:r>
              <a:rPr lang="en-US" dirty="0" err="1"/>
              <a:t>Правильнее</a:t>
            </a:r>
            <a:r>
              <a:rPr lang="en-US" dirty="0"/>
              <a:t> </a:t>
            </a:r>
            <a:r>
              <a:rPr lang="en-US" dirty="0" err="1"/>
              <a:t>сказать</a:t>
            </a:r>
            <a:r>
              <a:rPr lang="en-US" dirty="0"/>
              <a:t>, </a:t>
            </a:r>
            <a:r>
              <a:rPr lang="en-US" dirty="0" err="1"/>
              <a:t>что</a:t>
            </a:r>
            <a:r>
              <a:rPr lang="en-US" dirty="0"/>
              <a:t> </a:t>
            </a:r>
            <a:r>
              <a:rPr lang="en-US" b="1" dirty="0" err="1"/>
              <a:t>интерфейс</a:t>
            </a:r>
            <a:r>
              <a:rPr lang="en-US" b="1" dirty="0"/>
              <a:t> и </a:t>
            </a:r>
            <a:r>
              <a:rPr lang="en-US" b="1" dirty="0" err="1"/>
              <a:t>модель</a:t>
            </a:r>
            <a:r>
              <a:rPr lang="en-US" b="1" dirty="0"/>
              <a:t> </a:t>
            </a:r>
            <a:r>
              <a:rPr lang="en-US" b="1" dirty="0" err="1"/>
              <a:t>этих</a:t>
            </a:r>
            <a:r>
              <a:rPr lang="en-US" b="1" dirty="0"/>
              <a:t> </a:t>
            </a:r>
            <a:r>
              <a:rPr lang="en-US" b="1" dirty="0" err="1"/>
              <a:t>механизмов</a:t>
            </a:r>
            <a:r>
              <a:rPr lang="en-US" b="1" dirty="0"/>
              <a:t> </a:t>
            </a:r>
            <a:r>
              <a:rPr lang="en-US" b="1" dirty="0" err="1"/>
              <a:t>отличаются</a:t>
            </a:r>
            <a:r>
              <a:rPr lang="en-US" b="1" dirty="0"/>
              <a:t> </a:t>
            </a:r>
            <a:r>
              <a:rPr lang="en-US" b="1" dirty="0" err="1"/>
              <a:t>от</a:t>
            </a:r>
            <a:r>
              <a:rPr lang="en-US" b="1" dirty="0"/>
              <a:t> POSIX</a:t>
            </a:r>
            <a:r>
              <a:rPr lang="en-US" dirty="0"/>
              <a:t>.</a:t>
            </a:r>
            <a:endParaRPr lang="ru-RU" dirty="0"/>
          </a:p>
          <a:p>
            <a:endParaRPr lang="en-US" dirty="0"/>
          </a:p>
          <a:p>
            <a:r>
              <a:rPr lang="en-US" dirty="0" err="1"/>
              <a:t>Главная</a:t>
            </a:r>
            <a:r>
              <a:rPr lang="en-US" dirty="0"/>
              <a:t> </a:t>
            </a:r>
            <a:r>
              <a:rPr lang="en-US" dirty="0" err="1"/>
              <a:t>мысль</a:t>
            </a:r>
            <a:r>
              <a:rPr lang="en-US" dirty="0"/>
              <a:t>: и UNIX, и Windows </a:t>
            </a:r>
            <a:r>
              <a:rPr lang="en-US" dirty="0" err="1"/>
              <a:t>решают</a:t>
            </a:r>
            <a:r>
              <a:rPr lang="en-US" dirty="0"/>
              <a:t> </a:t>
            </a:r>
            <a:r>
              <a:rPr lang="en-US" dirty="0" err="1"/>
              <a:t>примерно</a:t>
            </a:r>
            <a:r>
              <a:rPr lang="en-US" dirty="0"/>
              <a:t> </a:t>
            </a:r>
            <a:r>
              <a:rPr lang="en-US" dirty="0" err="1"/>
              <a:t>один</a:t>
            </a:r>
            <a:r>
              <a:rPr lang="en-US" dirty="0"/>
              <a:t> </a:t>
            </a:r>
            <a:r>
              <a:rPr lang="en-US" dirty="0" err="1"/>
              <a:t>набор</a:t>
            </a:r>
            <a:r>
              <a:rPr lang="en-US" dirty="0"/>
              <a:t> </a:t>
            </a:r>
            <a:r>
              <a:rPr lang="en-US" dirty="0" err="1"/>
              <a:t>фундаментальных</a:t>
            </a:r>
            <a:r>
              <a:rPr lang="en-US" dirty="0"/>
              <a:t> </a:t>
            </a:r>
            <a:r>
              <a:rPr lang="en-US" dirty="0" err="1"/>
              <a:t>задач</a:t>
            </a:r>
            <a:r>
              <a:rPr lang="en-US" dirty="0"/>
              <a:t> </a:t>
            </a:r>
            <a:r>
              <a:rPr lang="en-US" dirty="0" err="1"/>
              <a:t>операционной</a:t>
            </a:r>
            <a:r>
              <a:rPr lang="en-US" dirty="0"/>
              <a:t> </a:t>
            </a:r>
            <a:r>
              <a:rPr lang="en-US" dirty="0" err="1"/>
              <a:t>системы</a:t>
            </a:r>
            <a:r>
              <a:rPr lang="en-US" dirty="0"/>
              <a:t>, </a:t>
            </a:r>
            <a:r>
              <a:rPr lang="en-US" dirty="0" err="1"/>
              <a:t>но</a:t>
            </a:r>
            <a:r>
              <a:rPr lang="en-US" dirty="0"/>
              <a:t> </a:t>
            </a:r>
            <a:r>
              <a:rPr lang="en-US" dirty="0" err="1"/>
              <a:t>предоставляют</a:t>
            </a:r>
            <a:r>
              <a:rPr lang="en-US" dirty="0"/>
              <a:t> </a:t>
            </a:r>
            <a:r>
              <a:rPr lang="en-US" dirty="0" err="1"/>
              <a:t>программисту</a:t>
            </a:r>
            <a:r>
              <a:rPr lang="en-US" dirty="0"/>
              <a:t> </a:t>
            </a:r>
            <a:r>
              <a:rPr lang="en-US" dirty="0" err="1"/>
              <a:t>разные</a:t>
            </a:r>
            <a:r>
              <a:rPr lang="en-US" dirty="0"/>
              <a:t> </a:t>
            </a:r>
            <a:r>
              <a:rPr lang="en-US" dirty="0" err="1"/>
              <a:t>абстракции</a:t>
            </a:r>
            <a:r>
              <a:rPr lang="en-US" dirty="0"/>
              <a:t> и </a:t>
            </a:r>
            <a:r>
              <a:rPr lang="en-US" dirty="0" err="1"/>
              <a:t>разные</a:t>
            </a:r>
            <a:r>
              <a:rPr lang="en-US" dirty="0"/>
              <a:t> API.</a:t>
            </a:r>
          </a:p>
          <a:p>
            <a:endParaRPr lang="en-US" dirty="0"/>
          </a:p>
        </p:txBody>
      </p:sp>
      <p:sp>
        <p:nvSpPr>
          <p:cNvPr id="4" name="Slide Number Placeholder 3"/>
          <p:cNvSpPr>
            <a:spLocks noGrp="1"/>
          </p:cNvSpPr>
          <p:nvPr>
            <p:ph type="sldNum" sz="quarter" idx="5"/>
          </p:nvPr>
        </p:nvSpPr>
        <p:spPr/>
        <p:txBody>
          <a:bodyPr/>
          <a:lstStyle/>
          <a:p>
            <a:fld id="{A3EE74EF-BE85-44F3-968F-E74DD74A629E}" type="slidenum">
              <a:rPr lang="en-US" smtClean="0"/>
              <a:t>38</a:t>
            </a:fld>
            <a:endParaRPr lang="en-US"/>
          </a:p>
        </p:txBody>
      </p:sp>
    </p:spTree>
    <p:extLst>
      <p:ext uri="{BB962C8B-B14F-4D97-AF65-F5344CB8AC3E}">
        <p14:creationId xmlns:p14="http://schemas.microsoft.com/office/powerpoint/2010/main" val="155195273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a:t>
            </a:r>
            <a:r>
              <a:rPr lang="en-US" dirty="0" err="1"/>
              <a:t>завершение</a:t>
            </a:r>
            <a:r>
              <a:rPr lang="en-US" dirty="0"/>
              <a:t> я </a:t>
            </a:r>
            <a:r>
              <a:rPr lang="en-US" dirty="0" err="1"/>
              <a:t>хочу</a:t>
            </a:r>
            <a:r>
              <a:rPr lang="en-US" dirty="0"/>
              <a:t>, </a:t>
            </a:r>
            <a:r>
              <a:rPr lang="en-US" dirty="0" err="1"/>
              <a:t>чтобы</a:t>
            </a:r>
            <a:r>
              <a:rPr lang="en-US" dirty="0"/>
              <a:t> </a:t>
            </a:r>
            <a:r>
              <a:rPr lang="en-US" dirty="0" err="1"/>
              <a:t>после</a:t>
            </a:r>
            <a:r>
              <a:rPr lang="en-US" dirty="0"/>
              <a:t> </a:t>
            </a:r>
            <a:r>
              <a:rPr lang="en-US" dirty="0" err="1"/>
              <a:t>этой</a:t>
            </a:r>
            <a:r>
              <a:rPr lang="en-US" dirty="0"/>
              <a:t> </a:t>
            </a:r>
            <a:r>
              <a:rPr lang="en-US" dirty="0" err="1"/>
              <a:t>лекции</a:t>
            </a:r>
            <a:r>
              <a:rPr lang="en-US" dirty="0"/>
              <a:t> у </a:t>
            </a:r>
            <a:r>
              <a:rPr lang="en-US" dirty="0" err="1"/>
              <a:t>вас</a:t>
            </a:r>
            <a:r>
              <a:rPr lang="en-US" dirty="0"/>
              <a:t> </a:t>
            </a:r>
            <a:r>
              <a:rPr lang="en-US" dirty="0" err="1"/>
              <a:t>осталась</a:t>
            </a:r>
            <a:r>
              <a:rPr lang="en-US" dirty="0"/>
              <a:t> </a:t>
            </a:r>
            <a:r>
              <a:rPr lang="en-US" dirty="0" err="1"/>
              <a:t>не</a:t>
            </a:r>
            <a:r>
              <a:rPr lang="en-US" dirty="0"/>
              <a:t> </a:t>
            </a:r>
            <a:r>
              <a:rPr lang="en-US" dirty="0" err="1"/>
              <a:t>коллекция</a:t>
            </a:r>
            <a:r>
              <a:rPr lang="en-US" dirty="0"/>
              <a:t> </a:t>
            </a:r>
            <a:r>
              <a:rPr lang="en-US" dirty="0" err="1"/>
              <a:t>отдельных</a:t>
            </a:r>
            <a:r>
              <a:rPr lang="en-US" dirty="0"/>
              <a:t> </a:t>
            </a:r>
            <a:r>
              <a:rPr lang="en-US" dirty="0" err="1"/>
              <a:t>команд</a:t>
            </a:r>
            <a:r>
              <a:rPr lang="en-US" dirty="0"/>
              <a:t> и </a:t>
            </a:r>
            <a:r>
              <a:rPr lang="en-US" dirty="0" err="1"/>
              <a:t>терминов</a:t>
            </a:r>
            <a:r>
              <a:rPr lang="en-US" dirty="0"/>
              <a:t>, а </a:t>
            </a:r>
            <a:r>
              <a:rPr lang="en-US" dirty="0" err="1"/>
              <a:t>одна</a:t>
            </a:r>
            <a:r>
              <a:rPr lang="en-US" dirty="0"/>
              <a:t> </a:t>
            </a:r>
            <a:r>
              <a:rPr lang="en-US" dirty="0" err="1"/>
              <a:t>общая</a:t>
            </a:r>
            <a:r>
              <a:rPr lang="en-US" dirty="0"/>
              <a:t> </a:t>
            </a:r>
            <a:r>
              <a:rPr lang="en-US" dirty="0" err="1"/>
              <a:t>картина</a:t>
            </a:r>
            <a:r>
              <a:rPr lang="en-US" dirty="0"/>
              <a:t>.</a:t>
            </a:r>
            <a:endParaRPr lang="ru-RU" dirty="0"/>
          </a:p>
          <a:p>
            <a:endParaRPr lang="en-US" dirty="0"/>
          </a:p>
          <a:p>
            <a:r>
              <a:rPr lang="en-US" dirty="0" err="1"/>
              <a:t>Прикладная</a:t>
            </a:r>
            <a:r>
              <a:rPr lang="en-US" dirty="0"/>
              <a:t> </a:t>
            </a:r>
            <a:r>
              <a:rPr lang="en-US" dirty="0" err="1"/>
              <a:t>программа</a:t>
            </a:r>
            <a:r>
              <a:rPr lang="en-US" dirty="0"/>
              <a:t> </a:t>
            </a:r>
            <a:r>
              <a:rPr lang="en-US" dirty="0" err="1"/>
              <a:t>обычно</a:t>
            </a:r>
            <a:r>
              <a:rPr lang="en-US" dirty="0"/>
              <a:t> </a:t>
            </a:r>
            <a:r>
              <a:rPr lang="en-US" dirty="0" err="1"/>
              <a:t>не</a:t>
            </a:r>
            <a:r>
              <a:rPr lang="en-US" dirty="0"/>
              <a:t> </a:t>
            </a:r>
            <a:r>
              <a:rPr lang="en-US" dirty="0" err="1"/>
              <a:t>управляет</a:t>
            </a:r>
            <a:r>
              <a:rPr lang="en-US" dirty="0"/>
              <a:t> </a:t>
            </a:r>
            <a:r>
              <a:rPr lang="en-US" dirty="0" err="1"/>
              <a:t>процессором</a:t>
            </a:r>
            <a:r>
              <a:rPr lang="en-US" dirty="0"/>
              <a:t>, </a:t>
            </a:r>
            <a:r>
              <a:rPr lang="en-US" dirty="0" err="1"/>
              <a:t>памятью</a:t>
            </a:r>
            <a:r>
              <a:rPr lang="en-US" dirty="0"/>
              <a:t> </a:t>
            </a:r>
            <a:r>
              <a:rPr lang="en-US" dirty="0" err="1"/>
              <a:t>или</a:t>
            </a:r>
            <a:r>
              <a:rPr lang="en-US" dirty="0"/>
              <a:t> </a:t>
            </a:r>
            <a:r>
              <a:rPr lang="en-US" dirty="0" err="1"/>
              <a:t>устройствами</a:t>
            </a:r>
            <a:r>
              <a:rPr lang="en-US" dirty="0"/>
              <a:t> </a:t>
            </a:r>
            <a:r>
              <a:rPr lang="en-US" dirty="0" err="1"/>
              <a:t>напрямую</a:t>
            </a:r>
            <a:r>
              <a:rPr lang="en-US" dirty="0"/>
              <a:t>. </a:t>
            </a:r>
            <a:r>
              <a:rPr lang="en-US" dirty="0" err="1"/>
              <a:t>Вместо</a:t>
            </a:r>
            <a:r>
              <a:rPr lang="en-US" dirty="0"/>
              <a:t> </a:t>
            </a:r>
            <a:r>
              <a:rPr lang="en-US" dirty="0" err="1"/>
              <a:t>этого</a:t>
            </a:r>
            <a:r>
              <a:rPr lang="en-US" dirty="0"/>
              <a:t> </a:t>
            </a:r>
            <a:r>
              <a:rPr lang="en-US" dirty="0" err="1"/>
              <a:t>операционная</a:t>
            </a:r>
            <a:r>
              <a:rPr lang="en-US" dirty="0"/>
              <a:t> </a:t>
            </a:r>
            <a:r>
              <a:rPr lang="en-US" dirty="0" err="1"/>
              <a:t>система</a:t>
            </a:r>
            <a:r>
              <a:rPr lang="en-US" dirty="0"/>
              <a:t> </a:t>
            </a:r>
            <a:r>
              <a:rPr lang="en-US" dirty="0" err="1"/>
              <a:t>предоставляет</a:t>
            </a:r>
            <a:r>
              <a:rPr lang="en-US" dirty="0"/>
              <a:t> </a:t>
            </a:r>
            <a:r>
              <a:rPr lang="en-US" dirty="0" err="1"/>
              <a:t>ей</a:t>
            </a:r>
            <a:r>
              <a:rPr lang="en-US" dirty="0"/>
              <a:t> </a:t>
            </a:r>
            <a:r>
              <a:rPr lang="en-US" dirty="0" err="1"/>
              <a:t>более</a:t>
            </a:r>
            <a:r>
              <a:rPr lang="en-US" dirty="0"/>
              <a:t> </a:t>
            </a:r>
            <a:r>
              <a:rPr lang="en-US" dirty="0" err="1"/>
              <a:t>удобные</a:t>
            </a:r>
            <a:r>
              <a:rPr lang="en-US" dirty="0"/>
              <a:t> </a:t>
            </a:r>
            <a:r>
              <a:rPr lang="en-US" dirty="0" err="1"/>
              <a:t>абстракции</a:t>
            </a:r>
            <a:r>
              <a:rPr lang="en-US" dirty="0"/>
              <a:t> и </a:t>
            </a:r>
            <a:r>
              <a:rPr lang="en-US" dirty="0" err="1"/>
              <a:t>контролирует</a:t>
            </a:r>
            <a:r>
              <a:rPr lang="en-US" dirty="0"/>
              <a:t> </a:t>
            </a:r>
            <a:r>
              <a:rPr lang="en-US" dirty="0" err="1"/>
              <a:t>доступ</a:t>
            </a:r>
            <a:r>
              <a:rPr lang="en-US" dirty="0"/>
              <a:t> к </a:t>
            </a:r>
            <a:r>
              <a:rPr lang="en-US" dirty="0" err="1"/>
              <a:t>реальным</a:t>
            </a:r>
            <a:r>
              <a:rPr lang="en-US" dirty="0"/>
              <a:t> </a:t>
            </a:r>
            <a:r>
              <a:rPr lang="en-US" dirty="0" err="1"/>
              <a:t>ресурсам</a:t>
            </a:r>
            <a:r>
              <a:rPr lang="en-US" dirty="0"/>
              <a:t> </a:t>
            </a:r>
            <a:r>
              <a:rPr lang="en-US" dirty="0" err="1"/>
              <a:t>компьютера</a:t>
            </a:r>
            <a:r>
              <a:rPr lang="en-US" dirty="0"/>
              <a:t>.</a:t>
            </a:r>
          </a:p>
          <a:p>
            <a:endParaRPr lang="ru-RU" dirty="0"/>
          </a:p>
          <a:p>
            <a:r>
              <a:rPr lang="en-US" dirty="0" err="1"/>
              <a:t>Для</a:t>
            </a:r>
            <a:r>
              <a:rPr lang="en-US" dirty="0"/>
              <a:t> </a:t>
            </a:r>
            <a:r>
              <a:rPr lang="en-US" dirty="0" err="1"/>
              <a:t>программы</a:t>
            </a:r>
            <a:r>
              <a:rPr lang="en-US" dirty="0"/>
              <a:t> </a:t>
            </a:r>
            <a:r>
              <a:rPr lang="en-US" dirty="0" err="1"/>
              <a:t>это</a:t>
            </a:r>
            <a:r>
              <a:rPr lang="en-US" dirty="0"/>
              <a:t> </a:t>
            </a:r>
            <a:r>
              <a:rPr lang="en-US" dirty="0" err="1"/>
              <a:t>означает</a:t>
            </a:r>
            <a:r>
              <a:rPr lang="en-US" dirty="0"/>
              <a:t>, </a:t>
            </a:r>
            <a:r>
              <a:rPr lang="en-US" dirty="0" err="1"/>
              <a:t>что</a:t>
            </a:r>
            <a:r>
              <a:rPr lang="en-US" dirty="0"/>
              <a:t> </a:t>
            </a:r>
            <a:r>
              <a:rPr lang="en-US" dirty="0" err="1"/>
              <a:t>она</a:t>
            </a:r>
            <a:r>
              <a:rPr lang="en-US" dirty="0"/>
              <a:t> </a:t>
            </a:r>
            <a:r>
              <a:rPr lang="en-US" dirty="0" err="1"/>
              <a:t>работает</a:t>
            </a:r>
            <a:r>
              <a:rPr lang="en-US" dirty="0"/>
              <a:t> с </a:t>
            </a:r>
            <a:r>
              <a:rPr lang="en-US" dirty="0" err="1"/>
              <a:t>такими</a:t>
            </a:r>
            <a:r>
              <a:rPr lang="en-US" dirty="0"/>
              <a:t> </a:t>
            </a:r>
            <a:r>
              <a:rPr lang="en-US" dirty="0" err="1"/>
              <a:t>объектами</a:t>
            </a:r>
            <a:r>
              <a:rPr lang="en-US" dirty="0"/>
              <a:t>, </a:t>
            </a:r>
            <a:r>
              <a:rPr lang="en-US" dirty="0" err="1"/>
              <a:t>как</a:t>
            </a:r>
            <a:r>
              <a:rPr lang="en-US" dirty="0"/>
              <a:t> </a:t>
            </a:r>
            <a:r>
              <a:rPr lang="en-US" dirty="0" err="1"/>
              <a:t>процессы</a:t>
            </a:r>
            <a:r>
              <a:rPr lang="en-US" dirty="0"/>
              <a:t>, </a:t>
            </a:r>
            <a:r>
              <a:rPr lang="en-US" dirty="0" err="1"/>
              <a:t>адресные</a:t>
            </a:r>
            <a:r>
              <a:rPr lang="en-US" dirty="0"/>
              <a:t> </a:t>
            </a:r>
            <a:r>
              <a:rPr lang="en-US" dirty="0" err="1"/>
              <a:t>пространства</a:t>
            </a:r>
            <a:r>
              <a:rPr lang="en-US" dirty="0"/>
              <a:t>, </a:t>
            </a:r>
            <a:r>
              <a:rPr lang="en-US" dirty="0" err="1"/>
              <a:t>файлы</a:t>
            </a:r>
            <a:r>
              <a:rPr lang="en-US" dirty="0"/>
              <a:t> и </a:t>
            </a:r>
            <a:r>
              <a:rPr lang="en-US" dirty="0" err="1"/>
              <a:t>потоки</a:t>
            </a:r>
            <a:r>
              <a:rPr lang="en-US" dirty="0"/>
              <a:t> </a:t>
            </a:r>
            <a:r>
              <a:rPr lang="en-US" dirty="0" err="1"/>
              <a:t>данных</a:t>
            </a:r>
            <a:r>
              <a:rPr lang="en-US" dirty="0"/>
              <a:t>. А </a:t>
            </a:r>
            <a:r>
              <a:rPr lang="en-US" dirty="0" err="1"/>
              <a:t>когда</a:t>
            </a:r>
            <a:r>
              <a:rPr lang="en-US" dirty="0"/>
              <a:t> </a:t>
            </a:r>
            <a:r>
              <a:rPr lang="en-US" dirty="0" err="1"/>
              <a:t>требуется</a:t>
            </a:r>
            <a:r>
              <a:rPr lang="en-US" dirty="0"/>
              <a:t> </a:t>
            </a:r>
            <a:r>
              <a:rPr lang="en-US" dirty="0" err="1"/>
              <a:t>операция</a:t>
            </a:r>
            <a:r>
              <a:rPr lang="en-US" dirty="0"/>
              <a:t>, </a:t>
            </a:r>
            <a:r>
              <a:rPr lang="en-US" dirty="0" err="1"/>
              <a:t>которую</a:t>
            </a:r>
            <a:r>
              <a:rPr lang="en-US" dirty="0"/>
              <a:t> </a:t>
            </a:r>
            <a:r>
              <a:rPr lang="en-US" dirty="0" err="1"/>
              <a:t>может</a:t>
            </a:r>
            <a:r>
              <a:rPr lang="en-US" dirty="0"/>
              <a:t> </a:t>
            </a:r>
            <a:r>
              <a:rPr lang="en-US" dirty="0" err="1"/>
              <a:t>выполнить</a:t>
            </a:r>
            <a:r>
              <a:rPr lang="en-US" dirty="0"/>
              <a:t> </a:t>
            </a:r>
            <a:r>
              <a:rPr lang="en-US" dirty="0" err="1"/>
              <a:t>только</a:t>
            </a:r>
            <a:r>
              <a:rPr lang="en-US" dirty="0"/>
              <a:t> </a:t>
            </a:r>
            <a:r>
              <a:rPr lang="en-US" dirty="0" err="1"/>
              <a:t>ядро</a:t>
            </a:r>
            <a:r>
              <a:rPr lang="en-US" dirty="0"/>
              <a:t>, </a:t>
            </a:r>
            <a:r>
              <a:rPr lang="en-US" dirty="0" err="1"/>
              <a:t>программа</a:t>
            </a:r>
            <a:r>
              <a:rPr lang="en-US" dirty="0"/>
              <a:t> </a:t>
            </a:r>
            <a:r>
              <a:rPr lang="en-US" dirty="0" err="1"/>
              <a:t>обращается</a:t>
            </a:r>
            <a:r>
              <a:rPr lang="en-US" dirty="0"/>
              <a:t> к </a:t>
            </a:r>
            <a:r>
              <a:rPr lang="en-US" dirty="0" err="1"/>
              <a:t>операционной</a:t>
            </a:r>
            <a:r>
              <a:rPr lang="en-US" dirty="0"/>
              <a:t> </a:t>
            </a:r>
            <a:r>
              <a:rPr lang="en-US" dirty="0" err="1"/>
              <a:t>системе</a:t>
            </a:r>
            <a:r>
              <a:rPr lang="en-US" dirty="0"/>
              <a:t> </a:t>
            </a:r>
            <a:r>
              <a:rPr lang="en-US" dirty="0" err="1"/>
              <a:t>через</a:t>
            </a:r>
            <a:r>
              <a:rPr lang="en-US" dirty="0"/>
              <a:t> </a:t>
            </a:r>
            <a:r>
              <a:rPr lang="en-US" dirty="0" err="1"/>
              <a:t>предоставленный</a:t>
            </a:r>
            <a:r>
              <a:rPr lang="en-US" dirty="0"/>
              <a:t> </a:t>
            </a:r>
            <a:r>
              <a:rPr lang="en-US" dirty="0" err="1"/>
              <a:t>ею</a:t>
            </a:r>
            <a:r>
              <a:rPr lang="en-US" dirty="0"/>
              <a:t> </a:t>
            </a:r>
            <a:r>
              <a:rPr lang="en-US" dirty="0" err="1"/>
              <a:t>интерфейс</a:t>
            </a:r>
            <a:r>
              <a:rPr lang="en-US" dirty="0"/>
              <a:t>.</a:t>
            </a:r>
          </a:p>
          <a:p>
            <a:endParaRPr lang="ru-RU" dirty="0"/>
          </a:p>
          <a:p>
            <a:r>
              <a:rPr lang="en-US" dirty="0" err="1"/>
              <a:t>Таким</a:t>
            </a:r>
            <a:r>
              <a:rPr lang="en-US" dirty="0"/>
              <a:t> </a:t>
            </a:r>
            <a:r>
              <a:rPr lang="en-US" dirty="0" err="1"/>
              <a:t>образом</a:t>
            </a:r>
            <a:r>
              <a:rPr lang="en-US" dirty="0"/>
              <a:t>, ОС </a:t>
            </a:r>
            <a:r>
              <a:rPr lang="en-US" dirty="0" err="1"/>
              <a:t>одновременно</a:t>
            </a:r>
            <a:r>
              <a:rPr lang="en-US" dirty="0"/>
              <a:t> </a:t>
            </a:r>
            <a:r>
              <a:rPr lang="en-US" dirty="0" err="1"/>
              <a:t>решает</a:t>
            </a:r>
            <a:r>
              <a:rPr lang="en-US" dirty="0"/>
              <a:t> </a:t>
            </a:r>
            <a:r>
              <a:rPr lang="en-US" dirty="0" err="1"/>
              <a:t>две</a:t>
            </a:r>
            <a:r>
              <a:rPr lang="en-US" dirty="0"/>
              <a:t> </a:t>
            </a:r>
            <a:r>
              <a:rPr lang="en-US" dirty="0" err="1"/>
              <a:t>задачи</a:t>
            </a:r>
            <a:r>
              <a:rPr lang="en-US" dirty="0"/>
              <a:t>. С </a:t>
            </a:r>
            <a:r>
              <a:rPr lang="en-US" dirty="0" err="1"/>
              <a:t>одной</a:t>
            </a:r>
            <a:r>
              <a:rPr lang="en-US" dirty="0"/>
              <a:t> </a:t>
            </a:r>
            <a:r>
              <a:rPr lang="en-US" dirty="0" err="1"/>
              <a:t>стороны</a:t>
            </a:r>
            <a:r>
              <a:rPr lang="en-US" dirty="0"/>
              <a:t>, </a:t>
            </a:r>
            <a:r>
              <a:rPr lang="en-US" dirty="0" err="1"/>
              <a:t>она</a:t>
            </a:r>
            <a:r>
              <a:rPr lang="en-US" dirty="0"/>
              <a:t> </a:t>
            </a:r>
            <a:r>
              <a:rPr lang="en-US" b="1" dirty="0" err="1"/>
              <a:t>упрощает</a:t>
            </a:r>
            <a:r>
              <a:rPr lang="en-US" b="1" dirty="0"/>
              <a:t> </a:t>
            </a:r>
            <a:r>
              <a:rPr lang="en-US" b="1" dirty="0" err="1"/>
              <a:t>работу</a:t>
            </a:r>
            <a:r>
              <a:rPr lang="en-US" b="1" dirty="0"/>
              <a:t> </a:t>
            </a:r>
            <a:r>
              <a:rPr lang="en-US" b="1" dirty="0" err="1"/>
              <a:t>программ</a:t>
            </a:r>
            <a:r>
              <a:rPr lang="en-US" b="1" dirty="0"/>
              <a:t> с </a:t>
            </a:r>
            <a:r>
              <a:rPr lang="en-US" b="1" dirty="0" err="1"/>
              <a:t>аппаратурой</a:t>
            </a:r>
            <a:r>
              <a:rPr lang="en-US" dirty="0"/>
              <a:t>, </a:t>
            </a:r>
            <a:r>
              <a:rPr lang="en-US" dirty="0" err="1"/>
              <a:t>скрывая</a:t>
            </a:r>
            <a:r>
              <a:rPr lang="en-US" dirty="0"/>
              <a:t> </a:t>
            </a:r>
            <a:r>
              <a:rPr lang="en-US" dirty="0" err="1"/>
              <a:t>множество</a:t>
            </a:r>
            <a:r>
              <a:rPr lang="en-US" dirty="0"/>
              <a:t> </a:t>
            </a:r>
            <a:r>
              <a:rPr lang="en-US" dirty="0" err="1"/>
              <a:t>низкоуровневых</a:t>
            </a:r>
            <a:r>
              <a:rPr lang="en-US" dirty="0"/>
              <a:t> </a:t>
            </a:r>
            <a:r>
              <a:rPr lang="en-US" dirty="0" err="1"/>
              <a:t>деталей</a:t>
            </a:r>
            <a:r>
              <a:rPr lang="en-US" dirty="0"/>
              <a:t>. С </a:t>
            </a:r>
            <a:r>
              <a:rPr lang="en-US" dirty="0" err="1"/>
              <a:t>другой</a:t>
            </a:r>
            <a:r>
              <a:rPr lang="en-US" dirty="0"/>
              <a:t> — </a:t>
            </a:r>
            <a:r>
              <a:rPr lang="en-US" b="1" dirty="0" err="1"/>
              <a:t>контролирует</a:t>
            </a:r>
            <a:r>
              <a:rPr lang="en-US" b="1" dirty="0"/>
              <a:t> </a:t>
            </a:r>
            <a:r>
              <a:rPr lang="en-US" b="1" dirty="0" err="1"/>
              <a:t>совместное</a:t>
            </a:r>
            <a:r>
              <a:rPr lang="en-US" b="1" dirty="0"/>
              <a:t> </a:t>
            </a:r>
            <a:r>
              <a:rPr lang="en-US" b="1" dirty="0" err="1"/>
              <a:t>использование</a:t>
            </a:r>
            <a:r>
              <a:rPr lang="en-US" b="1" dirty="0"/>
              <a:t> </a:t>
            </a:r>
            <a:r>
              <a:rPr lang="en-US" b="1" dirty="0" err="1"/>
              <a:t>ресурсов</a:t>
            </a:r>
            <a:r>
              <a:rPr lang="en-US" dirty="0"/>
              <a:t>, </a:t>
            </a:r>
            <a:r>
              <a:rPr lang="en-US" dirty="0" err="1"/>
              <a:t>чтобы</a:t>
            </a:r>
            <a:r>
              <a:rPr lang="en-US" dirty="0"/>
              <a:t> </a:t>
            </a:r>
            <a:r>
              <a:rPr lang="en-US" dirty="0" err="1"/>
              <a:t>разные</a:t>
            </a:r>
            <a:r>
              <a:rPr lang="en-US" dirty="0"/>
              <a:t> </a:t>
            </a:r>
            <a:r>
              <a:rPr lang="en-US" dirty="0" err="1"/>
              <a:t>программы</a:t>
            </a:r>
            <a:r>
              <a:rPr lang="en-US" dirty="0"/>
              <a:t> </a:t>
            </a:r>
            <a:r>
              <a:rPr lang="en-US" dirty="0" err="1"/>
              <a:t>могли</a:t>
            </a:r>
            <a:r>
              <a:rPr lang="en-US" dirty="0"/>
              <a:t> </a:t>
            </a:r>
            <a:r>
              <a:rPr lang="en-US" dirty="0" err="1"/>
              <a:t>работать</a:t>
            </a:r>
            <a:r>
              <a:rPr lang="en-US" dirty="0"/>
              <a:t> </a:t>
            </a:r>
            <a:r>
              <a:rPr lang="en-US" dirty="0" err="1"/>
              <a:t>одновременно</a:t>
            </a:r>
            <a:r>
              <a:rPr lang="en-US" dirty="0"/>
              <a:t> и </a:t>
            </a:r>
            <a:r>
              <a:rPr lang="en-US" dirty="0" err="1"/>
              <a:t>не</a:t>
            </a:r>
            <a:r>
              <a:rPr lang="en-US" dirty="0"/>
              <a:t> </a:t>
            </a:r>
            <a:r>
              <a:rPr lang="en-US" dirty="0" err="1"/>
              <a:t>мешать</a:t>
            </a:r>
            <a:r>
              <a:rPr lang="en-US" dirty="0"/>
              <a:t> </a:t>
            </a:r>
            <a:r>
              <a:rPr lang="en-US" dirty="0" err="1"/>
              <a:t>друг</a:t>
            </a:r>
            <a:r>
              <a:rPr lang="en-US" dirty="0"/>
              <a:t> </a:t>
            </a:r>
            <a:r>
              <a:rPr lang="en-US" dirty="0" err="1"/>
              <a:t>другу</a:t>
            </a:r>
            <a:r>
              <a:rPr lang="en-US" dirty="0"/>
              <a:t>.</a:t>
            </a:r>
          </a:p>
          <a:p>
            <a:endParaRPr lang="ru-RU" dirty="0"/>
          </a:p>
          <a:p>
            <a:r>
              <a:rPr lang="en-US" dirty="0"/>
              <a:t>В </a:t>
            </a:r>
            <a:r>
              <a:rPr lang="en-US" dirty="0" err="1"/>
              <a:t>разных</a:t>
            </a:r>
            <a:r>
              <a:rPr lang="en-US" dirty="0"/>
              <a:t> </a:t>
            </a:r>
            <a:r>
              <a:rPr lang="en-US" dirty="0" err="1"/>
              <a:t>системах</a:t>
            </a:r>
            <a:r>
              <a:rPr lang="en-US" dirty="0"/>
              <a:t> </a:t>
            </a:r>
            <a:r>
              <a:rPr lang="en-US" dirty="0" err="1"/>
              <a:t>интерфейсы</a:t>
            </a:r>
            <a:r>
              <a:rPr lang="en-US" dirty="0"/>
              <a:t> </a:t>
            </a:r>
            <a:r>
              <a:rPr lang="en-US" dirty="0" err="1"/>
              <a:t>могут</a:t>
            </a:r>
            <a:r>
              <a:rPr lang="en-US" dirty="0"/>
              <a:t> </a:t>
            </a:r>
            <a:r>
              <a:rPr lang="en-US" dirty="0" err="1"/>
              <a:t>выглядеть</a:t>
            </a:r>
            <a:r>
              <a:rPr lang="en-US" dirty="0"/>
              <a:t> </a:t>
            </a:r>
            <a:r>
              <a:rPr lang="en-US" dirty="0" err="1"/>
              <a:t>по-разному</a:t>
            </a:r>
            <a:r>
              <a:rPr lang="en-US" dirty="0"/>
              <a:t>: POSIX и Windows API </a:t>
            </a:r>
            <a:r>
              <a:rPr lang="en-US" dirty="0" err="1"/>
              <a:t>устроены</a:t>
            </a:r>
            <a:r>
              <a:rPr lang="en-US" dirty="0"/>
              <a:t> </a:t>
            </a:r>
            <a:r>
              <a:rPr lang="en-US" dirty="0" err="1"/>
              <a:t>не</a:t>
            </a:r>
            <a:r>
              <a:rPr lang="en-US" dirty="0"/>
              <a:t> </a:t>
            </a:r>
            <a:r>
              <a:rPr lang="en-US" dirty="0" err="1"/>
              <a:t>одинаково</a:t>
            </a:r>
            <a:r>
              <a:rPr lang="en-US" dirty="0"/>
              <a:t>. </a:t>
            </a:r>
            <a:r>
              <a:rPr lang="en-US" dirty="0" err="1"/>
              <a:t>Но</a:t>
            </a:r>
            <a:r>
              <a:rPr lang="en-US" dirty="0"/>
              <a:t> </a:t>
            </a:r>
            <a:r>
              <a:rPr lang="en-US" dirty="0" err="1"/>
              <a:t>фундаментальный</a:t>
            </a:r>
            <a:r>
              <a:rPr lang="en-US" dirty="0"/>
              <a:t> </a:t>
            </a:r>
            <a:r>
              <a:rPr lang="en-US" dirty="0" err="1"/>
              <a:t>принцип</a:t>
            </a:r>
            <a:r>
              <a:rPr lang="en-US" dirty="0"/>
              <a:t> </a:t>
            </a:r>
            <a:r>
              <a:rPr lang="en-US" dirty="0" err="1"/>
              <a:t>остаётся</a:t>
            </a:r>
            <a:r>
              <a:rPr lang="en-US" dirty="0"/>
              <a:t> </a:t>
            </a:r>
            <a:r>
              <a:rPr lang="en-US" dirty="0" err="1"/>
              <a:t>тем</a:t>
            </a:r>
            <a:r>
              <a:rPr lang="en-US" dirty="0"/>
              <a:t> </a:t>
            </a:r>
            <a:r>
              <a:rPr lang="en-US" dirty="0" err="1"/>
              <a:t>же</a:t>
            </a:r>
            <a:r>
              <a:rPr lang="en-US" dirty="0"/>
              <a:t>: </a:t>
            </a:r>
            <a:r>
              <a:rPr lang="en-US" dirty="0" err="1"/>
              <a:t>приложение</a:t>
            </a:r>
            <a:r>
              <a:rPr lang="en-US" dirty="0"/>
              <a:t> </a:t>
            </a:r>
            <a:r>
              <a:rPr lang="en-US" dirty="0" err="1"/>
              <a:t>формулирует</a:t>
            </a:r>
            <a:r>
              <a:rPr lang="en-US" dirty="0"/>
              <a:t> </a:t>
            </a:r>
            <a:r>
              <a:rPr lang="en-US" dirty="0" err="1"/>
              <a:t>запрос</a:t>
            </a:r>
            <a:r>
              <a:rPr lang="en-US" dirty="0"/>
              <a:t>, </a:t>
            </a:r>
            <a:r>
              <a:rPr lang="en-US" dirty="0" err="1"/>
              <a:t>операционная</a:t>
            </a:r>
            <a:r>
              <a:rPr lang="en-US" dirty="0"/>
              <a:t> </a:t>
            </a:r>
            <a:r>
              <a:rPr lang="en-US" dirty="0" err="1"/>
              <a:t>система</a:t>
            </a:r>
            <a:r>
              <a:rPr lang="en-US" dirty="0"/>
              <a:t> </a:t>
            </a:r>
            <a:r>
              <a:rPr lang="en-US" dirty="0" err="1"/>
              <a:t>проверяет</a:t>
            </a:r>
            <a:r>
              <a:rPr lang="en-US" dirty="0"/>
              <a:t> </a:t>
            </a:r>
            <a:r>
              <a:rPr lang="en-US" dirty="0" err="1"/>
              <a:t>его</a:t>
            </a:r>
            <a:r>
              <a:rPr lang="en-US" dirty="0"/>
              <a:t> и </a:t>
            </a:r>
            <a:r>
              <a:rPr lang="en-US" dirty="0" err="1"/>
              <a:t>выполняет</a:t>
            </a:r>
            <a:r>
              <a:rPr lang="en-US" dirty="0"/>
              <a:t> </a:t>
            </a:r>
            <a:r>
              <a:rPr lang="en-US" dirty="0" err="1"/>
              <a:t>необходимую</a:t>
            </a:r>
            <a:r>
              <a:rPr lang="en-US" dirty="0"/>
              <a:t> </a:t>
            </a:r>
            <a:r>
              <a:rPr lang="en-US" dirty="0" err="1"/>
              <a:t>привилегированную</a:t>
            </a:r>
            <a:r>
              <a:rPr lang="en-US" dirty="0"/>
              <a:t> </a:t>
            </a:r>
            <a:r>
              <a:rPr lang="en-US" dirty="0" err="1"/>
              <a:t>работу</a:t>
            </a:r>
            <a:r>
              <a:rPr lang="en-US" dirty="0"/>
              <a:t>.</a:t>
            </a:r>
          </a:p>
          <a:p>
            <a:endParaRPr lang="ru-RU" dirty="0"/>
          </a:p>
          <a:p>
            <a:r>
              <a:rPr lang="en-US" dirty="0" err="1"/>
              <a:t>На</a:t>
            </a:r>
            <a:r>
              <a:rPr lang="en-US" dirty="0"/>
              <a:t> </a:t>
            </a:r>
            <a:r>
              <a:rPr lang="en-US" dirty="0" err="1"/>
              <a:t>следующих</a:t>
            </a:r>
            <a:r>
              <a:rPr lang="en-US" dirty="0"/>
              <a:t> </a:t>
            </a:r>
            <a:r>
              <a:rPr lang="en-US" dirty="0" err="1"/>
              <a:t>лекциях</a:t>
            </a:r>
            <a:r>
              <a:rPr lang="en-US" dirty="0"/>
              <a:t> </a:t>
            </a:r>
            <a:r>
              <a:rPr lang="en-US" dirty="0" err="1"/>
              <a:t>мы</a:t>
            </a:r>
            <a:r>
              <a:rPr lang="en-US" dirty="0"/>
              <a:t> </a:t>
            </a:r>
            <a:r>
              <a:rPr lang="en-US" dirty="0" err="1"/>
              <a:t>будем</a:t>
            </a:r>
            <a:r>
              <a:rPr lang="en-US" dirty="0"/>
              <a:t> </a:t>
            </a:r>
            <a:r>
              <a:rPr lang="en-US" dirty="0" err="1"/>
              <a:t>постепенно</a:t>
            </a:r>
            <a:r>
              <a:rPr lang="en-US" dirty="0"/>
              <a:t> </a:t>
            </a:r>
            <a:r>
              <a:rPr lang="en-US" dirty="0" err="1"/>
              <a:t>раскрывать</a:t>
            </a:r>
            <a:r>
              <a:rPr lang="en-US" dirty="0"/>
              <a:t> </a:t>
            </a:r>
            <a:r>
              <a:rPr lang="en-US" dirty="0" err="1"/>
              <a:t>эту</a:t>
            </a:r>
            <a:r>
              <a:rPr lang="en-US" dirty="0"/>
              <a:t> </a:t>
            </a:r>
            <a:r>
              <a:rPr lang="en-US" dirty="0" err="1"/>
              <a:t>схему</a:t>
            </a:r>
            <a:r>
              <a:rPr lang="en-US" dirty="0"/>
              <a:t> </a:t>
            </a:r>
            <a:r>
              <a:rPr lang="en-US" dirty="0" err="1"/>
              <a:t>изнутри</a:t>
            </a:r>
            <a:r>
              <a:rPr lang="en-US" dirty="0"/>
              <a:t> и </a:t>
            </a:r>
            <a:r>
              <a:rPr lang="en-US" dirty="0" err="1"/>
              <a:t>разбираться</a:t>
            </a:r>
            <a:r>
              <a:rPr lang="en-US" dirty="0"/>
              <a:t>, </a:t>
            </a:r>
            <a:r>
              <a:rPr lang="en-US" b="1" dirty="0" err="1"/>
              <a:t>как</a:t>
            </a:r>
            <a:r>
              <a:rPr lang="en-US" b="1" dirty="0"/>
              <a:t> </a:t>
            </a:r>
            <a:r>
              <a:rPr lang="en-US" b="1" dirty="0" err="1"/>
              <a:t>именно</a:t>
            </a:r>
            <a:r>
              <a:rPr lang="en-US" b="1" dirty="0"/>
              <a:t> ОС </a:t>
            </a:r>
            <a:r>
              <a:rPr lang="en-US" b="1" dirty="0" err="1"/>
              <a:t>управляет</a:t>
            </a:r>
            <a:r>
              <a:rPr lang="en-US" b="1" dirty="0"/>
              <a:t> </a:t>
            </a:r>
            <a:r>
              <a:rPr lang="en-US" b="1" dirty="0" err="1"/>
              <a:t>процессами</a:t>
            </a:r>
            <a:r>
              <a:rPr lang="en-US" b="1" dirty="0"/>
              <a:t>, </a:t>
            </a:r>
            <a:r>
              <a:rPr lang="en-US" b="1" dirty="0" err="1"/>
              <a:t>памятью</a:t>
            </a:r>
            <a:r>
              <a:rPr lang="en-US" b="1" dirty="0"/>
              <a:t> и </a:t>
            </a:r>
            <a:r>
              <a:rPr lang="en-US" b="1" dirty="0" err="1"/>
              <a:t>хранением</a:t>
            </a:r>
            <a:r>
              <a:rPr lang="en-US" b="1" dirty="0"/>
              <a:t> </a:t>
            </a:r>
            <a:r>
              <a:rPr lang="en-US" b="1" dirty="0" err="1"/>
              <a:t>данных</a:t>
            </a:r>
            <a:r>
              <a:rPr lang="en-US" dirty="0"/>
              <a:t>.</a:t>
            </a:r>
          </a:p>
        </p:txBody>
      </p:sp>
      <p:sp>
        <p:nvSpPr>
          <p:cNvPr id="4" name="Slide Number Placeholder 3"/>
          <p:cNvSpPr>
            <a:spLocks noGrp="1"/>
          </p:cNvSpPr>
          <p:nvPr>
            <p:ph type="sldNum" sz="quarter" idx="5"/>
          </p:nvPr>
        </p:nvSpPr>
        <p:spPr/>
        <p:txBody>
          <a:bodyPr/>
          <a:lstStyle/>
          <a:p>
            <a:fld id="{A3EE74EF-BE85-44F3-968F-E74DD74A629E}" type="slidenum">
              <a:rPr lang="en-US" smtClean="0"/>
              <a:t>39</a:t>
            </a:fld>
            <a:endParaRPr lang="en-US"/>
          </a:p>
        </p:txBody>
      </p:sp>
    </p:spTree>
    <p:extLst>
      <p:ext uri="{BB962C8B-B14F-4D97-AF65-F5344CB8AC3E}">
        <p14:creationId xmlns:p14="http://schemas.microsoft.com/office/powerpoint/2010/main" val="107591071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3EE74EF-BE85-44F3-968F-E74DD74A629E}" type="slidenum">
              <a:rPr lang="en-US" smtClean="0"/>
              <a:t>40</a:t>
            </a:fld>
            <a:endParaRPr lang="en-US"/>
          </a:p>
        </p:txBody>
      </p:sp>
    </p:spTree>
    <p:extLst>
      <p:ext uri="{BB962C8B-B14F-4D97-AF65-F5344CB8AC3E}">
        <p14:creationId xmlns:p14="http://schemas.microsoft.com/office/powerpoint/2010/main" val="5148003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2A6E4-7CBA-4A6B-458C-A7ADBEEE3B0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2A5F5AF-84F9-0858-A977-FDBB868D42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CFCE4C1-8ED6-B009-7113-92CAFF94E897}"/>
              </a:ext>
            </a:extLst>
          </p:cNvPr>
          <p:cNvSpPr>
            <a:spLocks noGrp="1"/>
          </p:cNvSpPr>
          <p:nvPr>
            <p:ph type="dt" sz="half" idx="10"/>
          </p:nvPr>
        </p:nvSpPr>
        <p:spPr/>
        <p:txBody>
          <a:bodyPr/>
          <a:lstStyle/>
          <a:p>
            <a:fld id="{DE68179E-50FE-444A-967F-2B8940576D0F}" type="datetime1">
              <a:rPr lang="en-US" smtClean="0"/>
              <a:t>9/11/2026</a:t>
            </a:fld>
            <a:endParaRPr lang="en-US"/>
          </a:p>
        </p:txBody>
      </p:sp>
      <p:sp>
        <p:nvSpPr>
          <p:cNvPr id="5" name="Footer Placeholder 4">
            <a:extLst>
              <a:ext uri="{FF2B5EF4-FFF2-40B4-BE49-F238E27FC236}">
                <a16:creationId xmlns:a16="http://schemas.microsoft.com/office/drawing/2014/main" id="{33C265A1-EDF7-F362-D119-16BFE5B971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891C22-8E86-B4F7-0D23-21555531595E}"/>
              </a:ext>
            </a:extLst>
          </p:cNvPr>
          <p:cNvSpPr>
            <a:spLocks noGrp="1"/>
          </p:cNvSpPr>
          <p:nvPr>
            <p:ph type="sldNum" sz="quarter" idx="12"/>
          </p:nvPr>
        </p:nvSpPr>
        <p:spPr/>
        <p:txBody>
          <a:bodyPr/>
          <a:lstStyle/>
          <a:p>
            <a:fld id="{EDCC16D8-4CDA-43DA-B801-57449FB8CE28}" type="slidenum">
              <a:rPr lang="en-US" smtClean="0"/>
              <a:t>‹#›</a:t>
            </a:fld>
            <a:endParaRPr lang="en-US"/>
          </a:p>
        </p:txBody>
      </p:sp>
    </p:spTree>
    <p:extLst>
      <p:ext uri="{BB962C8B-B14F-4D97-AF65-F5344CB8AC3E}">
        <p14:creationId xmlns:p14="http://schemas.microsoft.com/office/powerpoint/2010/main" val="3119780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3F567-B278-5453-517B-93FACFAF17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1CE042-C0D4-871C-E212-2A22994AB9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218AF6-AB7E-7CE7-CC04-9B8714C0C7BA}"/>
              </a:ext>
            </a:extLst>
          </p:cNvPr>
          <p:cNvSpPr>
            <a:spLocks noGrp="1"/>
          </p:cNvSpPr>
          <p:nvPr>
            <p:ph type="dt" sz="half" idx="10"/>
          </p:nvPr>
        </p:nvSpPr>
        <p:spPr/>
        <p:txBody>
          <a:bodyPr/>
          <a:lstStyle/>
          <a:p>
            <a:fld id="{26EDC3CC-3D76-4EC8-AA50-D3A98DFD1B7E}" type="datetime1">
              <a:rPr lang="en-US" smtClean="0"/>
              <a:t>9/11/2026</a:t>
            </a:fld>
            <a:endParaRPr lang="en-US"/>
          </a:p>
        </p:txBody>
      </p:sp>
      <p:sp>
        <p:nvSpPr>
          <p:cNvPr id="5" name="Footer Placeholder 4">
            <a:extLst>
              <a:ext uri="{FF2B5EF4-FFF2-40B4-BE49-F238E27FC236}">
                <a16:creationId xmlns:a16="http://schemas.microsoft.com/office/drawing/2014/main" id="{7B1005CA-5C84-B603-8CAC-EF4F38C48E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469D29-60B1-358C-0C01-F54831AA1BCC}"/>
              </a:ext>
            </a:extLst>
          </p:cNvPr>
          <p:cNvSpPr>
            <a:spLocks noGrp="1"/>
          </p:cNvSpPr>
          <p:nvPr>
            <p:ph type="sldNum" sz="quarter" idx="12"/>
          </p:nvPr>
        </p:nvSpPr>
        <p:spPr/>
        <p:txBody>
          <a:bodyPr/>
          <a:lstStyle/>
          <a:p>
            <a:fld id="{EDCC16D8-4CDA-43DA-B801-57449FB8CE28}" type="slidenum">
              <a:rPr lang="en-US" smtClean="0"/>
              <a:t>‹#›</a:t>
            </a:fld>
            <a:endParaRPr lang="en-US"/>
          </a:p>
        </p:txBody>
      </p:sp>
    </p:spTree>
    <p:extLst>
      <p:ext uri="{BB962C8B-B14F-4D97-AF65-F5344CB8AC3E}">
        <p14:creationId xmlns:p14="http://schemas.microsoft.com/office/powerpoint/2010/main" val="40276565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5EB97-FCDF-6673-F5A9-3BAE5188AA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AF7E065-1FE7-7759-EF20-78D1340E74D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9C1312-A92C-A0C3-A7FC-4D2D9B8AE322}"/>
              </a:ext>
            </a:extLst>
          </p:cNvPr>
          <p:cNvSpPr>
            <a:spLocks noGrp="1"/>
          </p:cNvSpPr>
          <p:nvPr>
            <p:ph type="dt" sz="half" idx="10"/>
          </p:nvPr>
        </p:nvSpPr>
        <p:spPr/>
        <p:txBody>
          <a:bodyPr/>
          <a:lstStyle/>
          <a:p>
            <a:fld id="{354F6737-021D-42E5-86B2-56F0D0CAECC3}" type="datetime1">
              <a:rPr lang="en-US" smtClean="0"/>
              <a:t>9/11/2026</a:t>
            </a:fld>
            <a:endParaRPr lang="en-US"/>
          </a:p>
        </p:txBody>
      </p:sp>
      <p:sp>
        <p:nvSpPr>
          <p:cNvPr id="5" name="Footer Placeholder 4">
            <a:extLst>
              <a:ext uri="{FF2B5EF4-FFF2-40B4-BE49-F238E27FC236}">
                <a16:creationId xmlns:a16="http://schemas.microsoft.com/office/drawing/2014/main" id="{AD327754-2480-1536-B8C7-2B9A04AFF6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08CBC0-D5EA-EF12-8962-E28E2E2D0D12}"/>
              </a:ext>
            </a:extLst>
          </p:cNvPr>
          <p:cNvSpPr>
            <a:spLocks noGrp="1"/>
          </p:cNvSpPr>
          <p:nvPr>
            <p:ph type="sldNum" sz="quarter" idx="12"/>
          </p:nvPr>
        </p:nvSpPr>
        <p:spPr/>
        <p:txBody>
          <a:bodyPr/>
          <a:lstStyle/>
          <a:p>
            <a:fld id="{EDCC16D8-4CDA-43DA-B801-57449FB8CE28}" type="slidenum">
              <a:rPr lang="en-US" smtClean="0"/>
              <a:t>‹#›</a:t>
            </a:fld>
            <a:endParaRPr lang="en-US"/>
          </a:p>
        </p:txBody>
      </p:sp>
    </p:spTree>
    <p:extLst>
      <p:ext uri="{BB962C8B-B14F-4D97-AF65-F5344CB8AC3E}">
        <p14:creationId xmlns:p14="http://schemas.microsoft.com/office/powerpoint/2010/main" val="35570650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3D5AC-5B94-2855-1BBB-D493BDD323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1B32BD6-1BD8-9B86-FE4B-CEBA89E03C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8D2CAB-15FC-B915-ADB4-7A73B58F947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C79A4E8-BD0B-7BE8-4BF6-1E9D754C28F5}"/>
              </a:ext>
            </a:extLst>
          </p:cNvPr>
          <p:cNvSpPr>
            <a:spLocks noGrp="1"/>
          </p:cNvSpPr>
          <p:nvPr>
            <p:ph type="dt" sz="half" idx="10"/>
          </p:nvPr>
        </p:nvSpPr>
        <p:spPr/>
        <p:txBody>
          <a:bodyPr/>
          <a:lstStyle/>
          <a:p>
            <a:fld id="{A3423ABF-40E2-4EED-BD93-E0E1E2D44B38}" type="datetime1">
              <a:rPr lang="en-US" smtClean="0"/>
              <a:t>9/11/2026</a:t>
            </a:fld>
            <a:endParaRPr lang="en-US"/>
          </a:p>
        </p:txBody>
      </p:sp>
      <p:sp>
        <p:nvSpPr>
          <p:cNvPr id="6" name="Footer Placeholder 5">
            <a:extLst>
              <a:ext uri="{FF2B5EF4-FFF2-40B4-BE49-F238E27FC236}">
                <a16:creationId xmlns:a16="http://schemas.microsoft.com/office/drawing/2014/main" id="{867D407F-E581-706C-60B3-8851F2F147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AE267C-BCBD-6099-AD83-6B9C42A6D606}"/>
              </a:ext>
            </a:extLst>
          </p:cNvPr>
          <p:cNvSpPr>
            <a:spLocks noGrp="1"/>
          </p:cNvSpPr>
          <p:nvPr>
            <p:ph type="sldNum" sz="quarter" idx="12"/>
          </p:nvPr>
        </p:nvSpPr>
        <p:spPr/>
        <p:txBody>
          <a:bodyPr/>
          <a:lstStyle/>
          <a:p>
            <a:fld id="{EDCC16D8-4CDA-43DA-B801-57449FB8CE28}" type="slidenum">
              <a:rPr lang="en-US" smtClean="0"/>
              <a:t>‹#›</a:t>
            </a:fld>
            <a:endParaRPr lang="en-US"/>
          </a:p>
        </p:txBody>
      </p:sp>
    </p:spTree>
    <p:extLst>
      <p:ext uri="{BB962C8B-B14F-4D97-AF65-F5344CB8AC3E}">
        <p14:creationId xmlns:p14="http://schemas.microsoft.com/office/powerpoint/2010/main" val="169526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8B25C-6531-6AE9-6A06-A2C04A81CD9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5E3AD49-CB2F-FAE4-447D-7329D55FF7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2BF68FC-2560-FBD6-885A-04AFBE33C1E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B5D9054-3038-64A0-7010-999285584B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D28445-2A6E-C91E-F3CA-AB59D3A1A5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601FA76-2FFC-E67A-02B7-69898107D1DC}"/>
              </a:ext>
            </a:extLst>
          </p:cNvPr>
          <p:cNvSpPr>
            <a:spLocks noGrp="1"/>
          </p:cNvSpPr>
          <p:nvPr>
            <p:ph type="dt" sz="half" idx="10"/>
          </p:nvPr>
        </p:nvSpPr>
        <p:spPr/>
        <p:txBody>
          <a:bodyPr/>
          <a:lstStyle/>
          <a:p>
            <a:fld id="{5623AB89-5B3E-412B-A93E-18EBE11E539C}" type="datetime1">
              <a:rPr lang="en-US" smtClean="0"/>
              <a:t>9/11/2026</a:t>
            </a:fld>
            <a:endParaRPr lang="en-US"/>
          </a:p>
        </p:txBody>
      </p:sp>
      <p:sp>
        <p:nvSpPr>
          <p:cNvPr id="8" name="Footer Placeholder 7">
            <a:extLst>
              <a:ext uri="{FF2B5EF4-FFF2-40B4-BE49-F238E27FC236}">
                <a16:creationId xmlns:a16="http://schemas.microsoft.com/office/drawing/2014/main" id="{5BFDC2AA-5B46-4EFF-8B08-9774DE4ECCD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90A107D-9D9E-ECDC-06BD-4DD4A40406F9}"/>
              </a:ext>
            </a:extLst>
          </p:cNvPr>
          <p:cNvSpPr>
            <a:spLocks noGrp="1"/>
          </p:cNvSpPr>
          <p:nvPr>
            <p:ph type="sldNum" sz="quarter" idx="12"/>
          </p:nvPr>
        </p:nvSpPr>
        <p:spPr/>
        <p:txBody>
          <a:bodyPr/>
          <a:lstStyle/>
          <a:p>
            <a:fld id="{EDCC16D8-4CDA-43DA-B801-57449FB8CE28}" type="slidenum">
              <a:rPr lang="en-US" smtClean="0"/>
              <a:t>‹#›</a:t>
            </a:fld>
            <a:endParaRPr lang="en-US"/>
          </a:p>
        </p:txBody>
      </p:sp>
    </p:spTree>
    <p:extLst>
      <p:ext uri="{BB962C8B-B14F-4D97-AF65-F5344CB8AC3E}">
        <p14:creationId xmlns:p14="http://schemas.microsoft.com/office/powerpoint/2010/main" val="2462718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24FB7-2428-E227-80D1-6F6058D115E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E577011-55F5-A298-7226-C92ECED5A05D}"/>
              </a:ext>
            </a:extLst>
          </p:cNvPr>
          <p:cNvSpPr>
            <a:spLocks noGrp="1"/>
          </p:cNvSpPr>
          <p:nvPr>
            <p:ph type="dt" sz="half" idx="10"/>
          </p:nvPr>
        </p:nvSpPr>
        <p:spPr/>
        <p:txBody>
          <a:bodyPr/>
          <a:lstStyle/>
          <a:p>
            <a:fld id="{3696559A-5E65-4238-BF2A-03B073CF46EB}" type="datetime1">
              <a:rPr lang="en-US" smtClean="0"/>
              <a:t>9/11/2026</a:t>
            </a:fld>
            <a:endParaRPr lang="en-US"/>
          </a:p>
        </p:txBody>
      </p:sp>
      <p:sp>
        <p:nvSpPr>
          <p:cNvPr id="4" name="Footer Placeholder 3">
            <a:extLst>
              <a:ext uri="{FF2B5EF4-FFF2-40B4-BE49-F238E27FC236}">
                <a16:creationId xmlns:a16="http://schemas.microsoft.com/office/drawing/2014/main" id="{02591F6C-8DD3-D57A-6728-65E57E60584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DF21C0D-BE39-7A3B-A6ED-4BA218530DF7}"/>
              </a:ext>
            </a:extLst>
          </p:cNvPr>
          <p:cNvSpPr>
            <a:spLocks noGrp="1"/>
          </p:cNvSpPr>
          <p:nvPr>
            <p:ph type="sldNum" sz="quarter" idx="12"/>
          </p:nvPr>
        </p:nvSpPr>
        <p:spPr/>
        <p:txBody>
          <a:bodyPr/>
          <a:lstStyle/>
          <a:p>
            <a:fld id="{EDCC16D8-4CDA-43DA-B801-57449FB8CE28}" type="slidenum">
              <a:rPr lang="en-US" smtClean="0"/>
              <a:t>‹#›</a:t>
            </a:fld>
            <a:endParaRPr lang="en-US"/>
          </a:p>
        </p:txBody>
      </p:sp>
    </p:spTree>
    <p:extLst>
      <p:ext uri="{BB962C8B-B14F-4D97-AF65-F5344CB8AC3E}">
        <p14:creationId xmlns:p14="http://schemas.microsoft.com/office/powerpoint/2010/main" val="18733854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9FE42F-0134-68D3-1E99-56836C0E31C8}"/>
              </a:ext>
            </a:extLst>
          </p:cNvPr>
          <p:cNvSpPr>
            <a:spLocks noGrp="1"/>
          </p:cNvSpPr>
          <p:nvPr>
            <p:ph type="dt" sz="half" idx="10"/>
          </p:nvPr>
        </p:nvSpPr>
        <p:spPr/>
        <p:txBody>
          <a:bodyPr/>
          <a:lstStyle/>
          <a:p>
            <a:fld id="{58B65018-CD57-4C89-BE4F-84BEFD895B34}" type="datetime1">
              <a:rPr lang="en-US" smtClean="0"/>
              <a:t>9/11/2026</a:t>
            </a:fld>
            <a:endParaRPr lang="en-US"/>
          </a:p>
        </p:txBody>
      </p:sp>
      <p:sp>
        <p:nvSpPr>
          <p:cNvPr id="3" name="Footer Placeholder 2">
            <a:extLst>
              <a:ext uri="{FF2B5EF4-FFF2-40B4-BE49-F238E27FC236}">
                <a16:creationId xmlns:a16="http://schemas.microsoft.com/office/drawing/2014/main" id="{982A0A33-0AE4-9C31-B9CB-3104678F179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CC63C2D-0898-0E8F-E276-086BD64DBEB3}"/>
              </a:ext>
            </a:extLst>
          </p:cNvPr>
          <p:cNvSpPr>
            <a:spLocks noGrp="1"/>
          </p:cNvSpPr>
          <p:nvPr>
            <p:ph type="sldNum" sz="quarter" idx="12"/>
          </p:nvPr>
        </p:nvSpPr>
        <p:spPr/>
        <p:txBody>
          <a:bodyPr/>
          <a:lstStyle/>
          <a:p>
            <a:fld id="{EDCC16D8-4CDA-43DA-B801-57449FB8CE28}" type="slidenum">
              <a:rPr lang="en-US" smtClean="0"/>
              <a:t>‹#›</a:t>
            </a:fld>
            <a:endParaRPr lang="en-US"/>
          </a:p>
        </p:txBody>
      </p:sp>
    </p:spTree>
    <p:extLst>
      <p:ext uri="{BB962C8B-B14F-4D97-AF65-F5344CB8AC3E}">
        <p14:creationId xmlns:p14="http://schemas.microsoft.com/office/powerpoint/2010/main" val="3903962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C6CB3-62B0-5B5A-AD89-26A891226B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AB8E621-4134-127D-5858-9497E48E3E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9DA218-2E5A-7151-EBC2-5784E4D60B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4E22CE-7DBB-0CC0-0252-CC84C53E0D3A}"/>
              </a:ext>
            </a:extLst>
          </p:cNvPr>
          <p:cNvSpPr>
            <a:spLocks noGrp="1"/>
          </p:cNvSpPr>
          <p:nvPr>
            <p:ph type="dt" sz="half" idx="10"/>
          </p:nvPr>
        </p:nvSpPr>
        <p:spPr/>
        <p:txBody>
          <a:bodyPr/>
          <a:lstStyle/>
          <a:p>
            <a:fld id="{B3721BA9-6337-48EC-9A53-862983C0A8D0}" type="datetime1">
              <a:rPr lang="en-US" smtClean="0"/>
              <a:t>9/11/2026</a:t>
            </a:fld>
            <a:endParaRPr lang="en-US"/>
          </a:p>
        </p:txBody>
      </p:sp>
      <p:sp>
        <p:nvSpPr>
          <p:cNvPr id="6" name="Footer Placeholder 5">
            <a:extLst>
              <a:ext uri="{FF2B5EF4-FFF2-40B4-BE49-F238E27FC236}">
                <a16:creationId xmlns:a16="http://schemas.microsoft.com/office/drawing/2014/main" id="{26A0076B-C7F0-F37C-D252-FE64E3528A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1CB547-FA33-06DD-62EF-09186BE279D1}"/>
              </a:ext>
            </a:extLst>
          </p:cNvPr>
          <p:cNvSpPr>
            <a:spLocks noGrp="1"/>
          </p:cNvSpPr>
          <p:nvPr>
            <p:ph type="sldNum" sz="quarter" idx="12"/>
          </p:nvPr>
        </p:nvSpPr>
        <p:spPr/>
        <p:txBody>
          <a:bodyPr/>
          <a:lstStyle/>
          <a:p>
            <a:fld id="{EDCC16D8-4CDA-43DA-B801-57449FB8CE28}" type="slidenum">
              <a:rPr lang="en-US" smtClean="0"/>
              <a:t>‹#›</a:t>
            </a:fld>
            <a:endParaRPr lang="en-US"/>
          </a:p>
        </p:txBody>
      </p:sp>
    </p:spTree>
    <p:extLst>
      <p:ext uri="{BB962C8B-B14F-4D97-AF65-F5344CB8AC3E}">
        <p14:creationId xmlns:p14="http://schemas.microsoft.com/office/powerpoint/2010/main" val="2283565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42B80-FF4D-21EF-3659-358A916E01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10D5E68-7859-EC49-11EF-DAA5551C38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3317832-2581-93AF-7450-3717BEDA33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8C4CC5-DFAB-3E27-83B7-54C80B1F5764}"/>
              </a:ext>
            </a:extLst>
          </p:cNvPr>
          <p:cNvSpPr>
            <a:spLocks noGrp="1"/>
          </p:cNvSpPr>
          <p:nvPr>
            <p:ph type="dt" sz="half" idx="10"/>
          </p:nvPr>
        </p:nvSpPr>
        <p:spPr/>
        <p:txBody>
          <a:bodyPr/>
          <a:lstStyle/>
          <a:p>
            <a:fld id="{2F3202FC-4D82-418F-A986-C3FF84BB1507}" type="datetime1">
              <a:rPr lang="en-US" smtClean="0"/>
              <a:t>9/11/2026</a:t>
            </a:fld>
            <a:endParaRPr lang="en-US"/>
          </a:p>
        </p:txBody>
      </p:sp>
      <p:sp>
        <p:nvSpPr>
          <p:cNvPr id="6" name="Footer Placeholder 5">
            <a:extLst>
              <a:ext uri="{FF2B5EF4-FFF2-40B4-BE49-F238E27FC236}">
                <a16:creationId xmlns:a16="http://schemas.microsoft.com/office/drawing/2014/main" id="{9E4B9111-5AA6-1014-FFAB-E9BCAA5A1B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0D6D5F-EEB0-F37E-9F6E-03F4CDE90619}"/>
              </a:ext>
            </a:extLst>
          </p:cNvPr>
          <p:cNvSpPr>
            <a:spLocks noGrp="1"/>
          </p:cNvSpPr>
          <p:nvPr>
            <p:ph type="sldNum" sz="quarter" idx="12"/>
          </p:nvPr>
        </p:nvSpPr>
        <p:spPr/>
        <p:txBody>
          <a:bodyPr/>
          <a:lstStyle/>
          <a:p>
            <a:fld id="{EDCC16D8-4CDA-43DA-B801-57449FB8CE28}" type="slidenum">
              <a:rPr lang="en-US" smtClean="0"/>
              <a:t>‹#›</a:t>
            </a:fld>
            <a:endParaRPr lang="en-US"/>
          </a:p>
        </p:txBody>
      </p:sp>
    </p:spTree>
    <p:extLst>
      <p:ext uri="{BB962C8B-B14F-4D97-AF65-F5344CB8AC3E}">
        <p14:creationId xmlns:p14="http://schemas.microsoft.com/office/powerpoint/2010/main" val="15497501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B40AA-C427-2CF1-3401-D635BD1D62A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E2FDD5F-920C-B903-89CF-225287CF58D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85B507-EFF0-A14A-D1DE-68F79AFC036E}"/>
              </a:ext>
            </a:extLst>
          </p:cNvPr>
          <p:cNvSpPr>
            <a:spLocks noGrp="1"/>
          </p:cNvSpPr>
          <p:nvPr>
            <p:ph type="dt" sz="half" idx="10"/>
          </p:nvPr>
        </p:nvSpPr>
        <p:spPr/>
        <p:txBody>
          <a:bodyPr/>
          <a:lstStyle/>
          <a:p>
            <a:fld id="{B595D556-A2FA-461C-9153-EB572DC27A9D}" type="datetime1">
              <a:rPr lang="en-US" smtClean="0"/>
              <a:t>9/11/2026</a:t>
            </a:fld>
            <a:endParaRPr lang="en-US"/>
          </a:p>
        </p:txBody>
      </p:sp>
      <p:sp>
        <p:nvSpPr>
          <p:cNvPr id="5" name="Footer Placeholder 4">
            <a:extLst>
              <a:ext uri="{FF2B5EF4-FFF2-40B4-BE49-F238E27FC236}">
                <a16:creationId xmlns:a16="http://schemas.microsoft.com/office/drawing/2014/main" id="{CF0D50CD-1E4D-8A37-003D-D8A610A570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C67AA4-72A4-3EC3-B489-8240B7C503D9}"/>
              </a:ext>
            </a:extLst>
          </p:cNvPr>
          <p:cNvSpPr>
            <a:spLocks noGrp="1"/>
          </p:cNvSpPr>
          <p:nvPr>
            <p:ph type="sldNum" sz="quarter" idx="12"/>
          </p:nvPr>
        </p:nvSpPr>
        <p:spPr/>
        <p:txBody>
          <a:bodyPr/>
          <a:lstStyle/>
          <a:p>
            <a:fld id="{EDCC16D8-4CDA-43DA-B801-57449FB8CE28}" type="slidenum">
              <a:rPr lang="en-US" smtClean="0"/>
              <a:t>‹#›</a:t>
            </a:fld>
            <a:endParaRPr lang="en-US"/>
          </a:p>
        </p:txBody>
      </p:sp>
    </p:spTree>
    <p:extLst>
      <p:ext uri="{BB962C8B-B14F-4D97-AF65-F5344CB8AC3E}">
        <p14:creationId xmlns:p14="http://schemas.microsoft.com/office/powerpoint/2010/main" val="2216095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C02C49-7AC9-361E-8819-E4BB8B9A3CD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1DD3360-C266-49E4-A0A6-5A9B38BE307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92B89C-146A-925C-2E58-A4A855C10A7F}"/>
              </a:ext>
            </a:extLst>
          </p:cNvPr>
          <p:cNvSpPr>
            <a:spLocks noGrp="1"/>
          </p:cNvSpPr>
          <p:nvPr>
            <p:ph type="dt" sz="half" idx="10"/>
          </p:nvPr>
        </p:nvSpPr>
        <p:spPr/>
        <p:txBody>
          <a:bodyPr/>
          <a:lstStyle/>
          <a:p>
            <a:fld id="{6540C739-C5FB-46AD-A7DB-D00CE90A73F2}" type="datetime1">
              <a:rPr lang="en-US" smtClean="0"/>
              <a:t>9/11/2026</a:t>
            </a:fld>
            <a:endParaRPr lang="en-US"/>
          </a:p>
        </p:txBody>
      </p:sp>
      <p:sp>
        <p:nvSpPr>
          <p:cNvPr id="5" name="Footer Placeholder 4">
            <a:extLst>
              <a:ext uri="{FF2B5EF4-FFF2-40B4-BE49-F238E27FC236}">
                <a16:creationId xmlns:a16="http://schemas.microsoft.com/office/drawing/2014/main" id="{4126FDC5-3E1F-DDF4-86DE-573595AE1F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6E5833-E490-9B4E-F287-D5AA36F22EEF}"/>
              </a:ext>
            </a:extLst>
          </p:cNvPr>
          <p:cNvSpPr>
            <a:spLocks noGrp="1"/>
          </p:cNvSpPr>
          <p:nvPr>
            <p:ph type="sldNum" sz="quarter" idx="12"/>
          </p:nvPr>
        </p:nvSpPr>
        <p:spPr/>
        <p:txBody>
          <a:bodyPr/>
          <a:lstStyle/>
          <a:p>
            <a:fld id="{EDCC16D8-4CDA-43DA-B801-57449FB8CE28}" type="slidenum">
              <a:rPr lang="en-US" smtClean="0"/>
              <a:t>‹#›</a:t>
            </a:fld>
            <a:endParaRPr lang="en-US"/>
          </a:p>
        </p:txBody>
      </p:sp>
    </p:spTree>
    <p:extLst>
      <p:ext uri="{BB962C8B-B14F-4D97-AF65-F5344CB8AC3E}">
        <p14:creationId xmlns:p14="http://schemas.microsoft.com/office/powerpoint/2010/main" val="19863836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D824C9-99B7-747A-DA2B-C3476D7F45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5AC6280-2CBC-B5C3-8359-85D8CDAE4E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65B276-266B-BD92-37E7-99A0474C63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97918CC-DA5A-459E-B7CE-1C379B4A15BB}" type="datetime1">
              <a:rPr lang="en-US" smtClean="0"/>
              <a:t>9/11/2026</a:t>
            </a:fld>
            <a:endParaRPr lang="en-US"/>
          </a:p>
        </p:txBody>
      </p:sp>
      <p:sp>
        <p:nvSpPr>
          <p:cNvPr id="5" name="Footer Placeholder 4">
            <a:extLst>
              <a:ext uri="{FF2B5EF4-FFF2-40B4-BE49-F238E27FC236}">
                <a16:creationId xmlns:a16="http://schemas.microsoft.com/office/drawing/2014/main" id="{D22A3146-0C4B-081B-3A7B-AEF9EA9E6E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867D75E-67D8-CE0C-2763-9E3CD0939E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DCC16D8-4CDA-43DA-B801-57449FB8CE28}" type="slidenum">
              <a:rPr lang="en-US" smtClean="0"/>
              <a:t>‹#›</a:t>
            </a:fld>
            <a:endParaRPr lang="en-US"/>
          </a:p>
        </p:txBody>
      </p:sp>
    </p:spTree>
    <p:extLst>
      <p:ext uri="{BB962C8B-B14F-4D97-AF65-F5344CB8AC3E}">
        <p14:creationId xmlns:p14="http://schemas.microsoft.com/office/powerpoint/2010/main" val="13864908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hyperlink" Target="https://youtu.be/fK4zN2r3me4" TargetMode="Externa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10FDD-5CFF-3657-7A21-314105B1529B}"/>
              </a:ext>
            </a:extLst>
          </p:cNvPr>
          <p:cNvSpPr>
            <a:spLocks noGrp="1"/>
          </p:cNvSpPr>
          <p:nvPr>
            <p:ph type="ctrTitle"/>
          </p:nvPr>
        </p:nvSpPr>
        <p:spPr>
          <a:xfrm>
            <a:off x="1524000" y="1122362"/>
            <a:ext cx="9144000" cy="3192463"/>
          </a:xfrm>
        </p:spPr>
        <p:txBody>
          <a:bodyPr/>
          <a:lstStyle/>
          <a:p>
            <a:r>
              <a:rPr lang="ru-RU" dirty="0"/>
              <a:t>Основные концепции операционных систем</a:t>
            </a:r>
            <a:endParaRPr lang="en-US" dirty="0"/>
          </a:p>
        </p:txBody>
      </p:sp>
    </p:spTree>
    <p:extLst>
      <p:ext uri="{BB962C8B-B14F-4D97-AF65-F5344CB8AC3E}">
        <p14:creationId xmlns:p14="http://schemas.microsoft.com/office/powerpoint/2010/main" val="14038311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41079-EBD0-009E-C8E4-CAA95C71FE6E}"/>
              </a:ext>
            </a:extLst>
          </p:cNvPr>
          <p:cNvSpPr>
            <a:spLocks noGrp="1"/>
          </p:cNvSpPr>
          <p:nvPr>
            <p:ph type="title"/>
          </p:nvPr>
        </p:nvSpPr>
        <p:spPr/>
        <p:txBody>
          <a:bodyPr/>
          <a:lstStyle/>
          <a:p>
            <a:r>
              <a:rPr lang="ru-RU" dirty="0"/>
              <a:t>Основные концепции ОС</a:t>
            </a:r>
            <a:endParaRPr lang="en-US" dirty="0"/>
          </a:p>
        </p:txBody>
      </p:sp>
      <p:sp>
        <p:nvSpPr>
          <p:cNvPr id="3" name="Content Placeholder 2">
            <a:extLst>
              <a:ext uri="{FF2B5EF4-FFF2-40B4-BE49-F238E27FC236}">
                <a16:creationId xmlns:a16="http://schemas.microsoft.com/office/drawing/2014/main" id="{6379EAC8-B5B8-546A-E92B-CE29460B887E}"/>
              </a:ext>
            </a:extLst>
          </p:cNvPr>
          <p:cNvSpPr>
            <a:spLocks noGrp="1"/>
          </p:cNvSpPr>
          <p:nvPr>
            <p:ph idx="1"/>
          </p:nvPr>
        </p:nvSpPr>
        <p:spPr/>
        <p:txBody>
          <a:bodyPr/>
          <a:lstStyle/>
          <a:p>
            <a:r>
              <a:rPr lang="ru-RU" dirty="0"/>
              <a:t>ОС предоставляет программисту концепции:</a:t>
            </a:r>
          </a:p>
          <a:p>
            <a:pPr lvl="1"/>
            <a:r>
              <a:rPr lang="ru-RU" dirty="0"/>
              <a:t>процессы</a:t>
            </a:r>
          </a:p>
          <a:p>
            <a:pPr lvl="1"/>
            <a:r>
              <a:rPr lang="ru-RU" dirty="0"/>
              <a:t>адресные пространства</a:t>
            </a:r>
          </a:p>
          <a:p>
            <a:pPr lvl="1"/>
            <a:r>
              <a:rPr lang="ru-RU" dirty="0"/>
              <a:t>файлы</a:t>
            </a:r>
          </a:p>
          <a:p>
            <a:r>
              <a:rPr lang="ru-RU" dirty="0"/>
              <a:t>Эти элементы являются основой для работы системы и приложений</a:t>
            </a:r>
            <a:endParaRPr lang="en-US" dirty="0"/>
          </a:p>
          <a:p>
            <a:r>
              <a:rPr lang="ru-RU" dirty="0"/>
              <a:t>Рассмотрим на примере </a:t>
            </a:r>
            <a:r>
              <a:rPr lang="en-US" dirty="0"/>
              <a:t>UNIX</a:t>
            </a:r>
            <a:r>
              <a:rPr lang="ru-RU" dirty="0"/>
              <a:t>, но другие ОС устроены сходным образом</a:t>
            </a:r>
          </a:p>
        </p:txBody>
      </p:sp>
      <p:sp>
        <p:nvSpPr>
          <p:cNvPr id="4" name="Slide Number Placeholder 3">
            <a:extLst>
              <a:ext uri="{FF2B5EF4-FFF2-40B4-BE49-F238E27FC236}">
                <a16:creationId xmlns:a16="http://schemas.microsoft.com/office/drawing/2014/main" id="{66985A0F-B10F-31BB-0C32-F86B0CBC70D6}"/>
              </a:ext>
            </a:extLst>
          </p:cNvPr>
          <p:cNvSpPr>
            <a:spLocks noGrp="1"/>
          </p:cNvSpPr>
          <p:nvPr>
            <p:ph type="sldNum" sz="quarter" idx="12"/>
          </p:nvPr>
        </p:nvSpPr>
        <p:spPr/>
        <p:txBody>
          <a:bodyPr/>
          <a:lstStyle/>
          <a:p>
            <a:fld id="{EDCC16D8-4CDA-43DA-B801-57449FB8CE28}" type="slidenum">
              <a:rPr lang="en-US" smtClean="0"/>
              <a:t>2</a:t>
            </a:fld>
            <a:endParaRPr lang="en-US"/>
          </a:p>
        </p:txBody>
      </p:sp>
    </p:spTree>
    <p:extLst>
      <p:ext uri="{BB962C8B-B14F-4D97-AF65-F5344CB8AC3E}">
        <p14:creationId xmlns:p14="http://schemas.microsoft.com/office/powerpoint/2010/main" val="1480757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8A844-9A26-1198-6391-5F0E5BA57045}"/>
              </a:ext>
            </a:extLst>
          </p:cNvPr>
          <p:cNvSpPr>
            <a:spLocks noGrp="1"/>
          </p:cNvSpPr>
          <p:nvPr>
            <p:ph type="title"/>
          </p:nvPr>
        </p:nvSpPr>
        <p:spPr/>
        <p:txBody>
          <a:bodyPr/>
          <a:lstStyle/>
          <a:p>
            <a:r>
              <a:rPr lang="ru-RU" dirty="0"/>
              <a:t>Процессы</a:t>
            </a:r>
            <a:endParaRPr lang="en-US" dirty="0"/>
          </a:p>
        </p:txBody>
      </p:sp>
      <p:sp>
        <p:nvSpPr>
          <p:cNvPr id="3" name="Content Placeholder 2">
            <a:extLst>
              <a:ext uri="{FF2B5EF4-FFF2-40B4-BE49-F238E27FC236}">
                <a16:creationId xmlns:a16="http://schemas.microsoft.com/office/drawing/2014/main" id="{517EB2D6-EF14-1073-E45F-F76E4563F478}"/>
              </a:ext>
            </a:extLst>
          </p:cNvPr>
          <p:cNvSpPr>
            <a:spLocks noGrp="1"/>
          </p:cNvSpPr>
          <p:nvPr>
            <p:ph sz="half" idx="1"/>
          </p:nvPr>
        </p:nvSpPr>
        <p:spPr>
          <a:xfrm>
            <a:off x="838200" y="1825625"/>
            <a:ext cx="6207542" cy="4351338"/>
          </a:xfrm>
        </p:spPr>
        <p:txBody>
          <a:bodyPr>
            <a:normAutofit fontScale="77500" lnSpcReduction="20000"/>
          </a:bodyPr>
          <a:lstStyle/>
          <a:p>
            <a:r>
              <a:rPr lang="ru-RU" dirty="0"/>
              <a:t>Процесс — это программа в состоянии выполнения</a:t>
            </a:r>
          </a:p>
          <a:p>
            <a:r>
              <a:rPr lang="ru-RU" dirty="0"/>
              <a:t>Адресное пространство включает код, данные и стек.</a:t>
            </a:r>
          </a:p>
          <a:p>
            <a:r>
              <a:rPr lang="ru-RU" dirty="0"/>
              <a:t>С процессом связаны его ресурсы:</a:t>
            </a:r>
          </a:p>
          <a:p>
            <a:pPr lvl="1"/>
            <a:r>
              <a:rPr lang="ru-RU" dirty="0"/>
              <a:t>регистры, открытые файлы, таймеры и связанные процессы</a:t>
            </a:r>
          </a:p>
          <a:p>
            <a:r>
              <a:rPr lang="ru-RU" dirty="0"/>
              <a:t>ОС управляет жизненным циклом процесса</a:t>
            </a:r>
          </a:p>
          <a:p>
            <a:pPr lvl="1"/>
            <a:r>
              <a:rPr lang="ru-RU" dirty="0"/>
              <a:t>Создаёт и завершает, приостанавливает и возобновляет</a:t>
            </a:r>
          </a:p>
          <a:p>
            <a:pPr lvl="1"/>
            <a:r>
              <a:rPr lang="ru-RU" dirty="0"/>
              <a:t>Таблица процессов хранит информацию о процессе</a:t>
            </a:r>
          </a:p>
          <a:p>
            <a:pPr lvl="2"/>
            <a:r>
              <a:rPr lang="ru-RU" dirty="0"/>
              <a:t>Значения регистров, позиции в открытых файлах, ссылки на ресурсы</a:t>
            </a:r>
          </a:p>
          <a:p>
            <a:r>
              <a:rPr lang="ru-RU" dirty="0"/>
              <a:t>Процесс – контейнер, в котором находится всё необходимое для выполнения программы</a:t>
            </a:r>
          </a:p>
        </p:txBody>
      </p:sp>
      <p:pic>
        <p:nvPicPr>
          <p:cNvPr id="6" name="Content Placeholder 5">
            <a:extLst>
              <a:ext uri="{FF2B5EF4-FFF2-40B4-BE49-F238E27FC236}">
                <a16:creationId xmlns:a16="http://schemas.microsoft.com/office/drawing/2014/main" id="{9D7BA588-0366-8AD5-185B-F65C98E9B7C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045742" y="1825625"/>
            <a:ext cx="4053239" cy="3775075"/>
          </a:xfrm>
          <a:prstGeom prst="rect">
            <a:avLst/>
          </a:prstGeom>
        </p:spPr>
      </p:pic>
      <p:sp>
        <p:nvSpPr>
          <p:cNvPr id="7" name="Slide Number Placeholder 6">
            <a:extLst>
              <a:ext uri="{FF2B5EF4-FFF2-40B4-BE49-F238E27FC236}">
                <a16:creationId xmlns:a16="http://schemas.microsoft.com/office/drawing/2014/main" id="{4184C672-33D6-DC67-9E17-FEDC9DBFBF35}"/>
              </a:ext>
            </a:extLst>
          </p:cNvPr>
          <p:cNvSpPr>
            <a:spLocks noGrp="1"/>
          </p:cNvSpPr>
          <p:nvPr>
            <p:ph type="sldNum" sz="quarter" idx="12"/>
          </p:nvPr>
        </p:nvSpPr>
        <p:spPr/>
        <p:txBody>
          <a:bodyPr/>
          <a:lstStyle/>
          <a:p>
            <a:fld id="{EDCC16D8-4CDA-43DA-B801-57449FB8CE28}" type="slidenum">
              <a:rPr lang="en-US" smtClean="0"/>
              <a:t>3</a:t>
            </a:fld>
            <a:endParaRPr lang="en-US"/>
          </a:p>
        </p:txBody>
      </p:sp>
    </p:spTree>
    <p:extLst>
      <p:ext uri="{BB962C8B-B14F-4D97-AF65-F5344CB8AC3E}">
        <p14:creationId xmlns:p14="http://schemas.microsoft.com/office/powerpoint/2010/main" val="4068040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62683-93C2-CD70-58E9-D800C6FCEDAC}"/>
              </a:ext>
            </a:extLst>
          </p:cNvPr>
          <p:cNvSpPr>
            <a:spLocks noGrp="1"/>
          </p:cNvSpPr>
          <p:nvPr>
            <p:ph type="title"/>
          </p:nvPr>
        </p:nvSpPr>
        <p:spPr/>
        <p:txBody>
          <a:bodyPr/>
          <a:lstStyle/>
          <a:p>
            <a:r>
              <a:rPr lang="ru-RU" dirty="0"/>
              <a:t>Просмотр списка процессов в </a:t>
            </a:r>
            <a:r>
              <a:rPr lang="en-US" dirty="0"/>
              <a:t>Linux</a:t>
            </a:r>
          </a:p>
        </p:txBody>
      </p:sp>
      <p:sp>
        <p:nvSpPr>
          <p:cNvPr id="3" name="Content Placeholder 2">
            <a:extLst>
              <a:ext uri="{FF2B5EF4-FFF2-40B4-BE49-F238E27FC236}">
                <a16:creationId xmlns:a16="http://schemas.microsoft.com/office/drawing/2014/main" id="{1782EC9E-5148-B620-2205-F7E081721A3D}"/>
              </a:ext>
            </a:extLst>
          </p:cNvPr>
          <p:cNvSpPr>
            <a:spLocks noGrp="1"/>
          </p:cNvSpPr>
          <p:nvPr>
            <p:ph idx="1"/>
          </p:nvPr>
        </p:nvSpPr>
        <p:spPr>
          <a:xfrm>
            <a:off x="838200" y="1825625"/>
            <a:ext cx="10515600" cy="3678158"/>
          </a:xfrm>
        </p:spPr>
        <p:txBody>
          <a:bodyPr>
            <a:normAutofit fontScale="92500" lnSpcReduction="10000"/>
          </a:bodyPr>
          <a:lstStyle/>
          <a:p>
            <a:r>
              <a:rPr lang="ru-RU" dirty="0"/>
              <a:t>Просмотр списка процессов</a:t>
            </a:r>
          </a:p>
          <a:p>
            <a:pPr lvl="1"/>
            <a:r>
              <a:rPr lang="en-US" dirty="0"/>
              <a:t>$ </a:t>
            </a:r>
            <a:r>
              <a:rPr lang="en-US" dirty="0" err="1"/>
              <a:t>ps</a:t>
            </a:r>
            <a:r>
              <a:rPr lang="en-US" dirty="0"/>
              <a:t> aux | head -5</a:t>
            </a:r>
          </a:p>
          <a:p>
            <a:r>
              <a:rPr lang="ru-RU" dirty="0"/>
              <a:t>Столбцы</a:t>
            </a:r>
          </a:p>
          <a:p>
            <a:pPr lvl="1"/>
            <a:r>
              <a:rPr lang="en-US" dirty="0"/>
              <a:t>USER </a:t>
            </a:r>
            <a:r>
              <a:rPr lang="ru-RU" dirty="0"/>
              <a:t>– от какого пользователя запущен процесс</a:t>
            </a:r>
          </a:p>
          <a:p>
            <a:pPr lvl="1"/>
            <a:r>
              <a:rPr lang="en-US" dirty="0"/>
              <a:t>PID – </a:t>
            </a:r>
            <a:r>
              <a:rPr lang="ru-RU" dirty="0"/>
              <a:t>уникальный </a:t>
            </a:r>
            <a:r>
              <a:rPr lang="en-US" dirty="0"/>
              <a:t>ID </a:t>
            </a:r>
            <a:r>
              <a:rPr lang="ru-RU" dirty="0"/>
              <a:t>процесса</a:t>
            </a:r>
          </a:p>
          <a:p>
            <a:pPr lvl="1"/>
            <a:r>
              <a:rPr lang="en-US" dirty="0"/>
              <a:t>%CPU %MEM – </a:t>
            </a:r>
            <a:r>
              <a:rPr lang="ru-RU" dirty="0"/>
              <a:t>использование процессора и памяти</a:t>
            </a:r>
          </a:p>
          <a:p>
            <a:pPr lvl="1"/>
            <a:r>
              <a:rPr lang="en-US" dirty="0"/>
              <a:t>VSZ </a:t>
            </a:r>
            <a:r>
              <a:rPr lang="ru-RU" dirty="0"/>
              <a:t>и </a:t>
            </a:r>
            <a:r>
              <a:rPr lang="en-US" dirty="0"/>
              <a:t>RSS – </a:t>
            </a:r>
            <a:r>
              <a:rPr lang="ru-RU" dirty="0"/>
              <a:t>объем используемой памяти (виртуальной и реальной)</a:t>
            </a:r>
          </a:p>
          <a:p>
            <a:pPr lvl="1"/>
            <a:r>
              <a:rPr lang="en-US" dirty="0"/>
              <a:t>STAT – </a:t>
            </a:r>
            <a:r>
              <a:rPr lang="ru-RU" dirty="0"/>
              <a:t>состояние процесса</a:t>
            </a:r>
          </a:p>
          <a:p>
            <a:pPr lvl="1"/>
            <a:r>
              <a:rPr lang="en-US" dirty="0"/>
              <a:t>START </a:t>
            </a:r>
            <a:r>
              <a:rPr lang="ru-RU" dirty="0"/>
              <a:t>и </a:t>
            </a:r>
            <a:r>
              <a:rPr lang="en-US" dirty="0"/>
              <a:t>TIME</a:t>
            </a:r>
            <a:r>
              <a:rPr lang="ru-RU" dirty="0"/>
              <a:t> – когда запущен и сколько времени занял процесс</a:t>
            </a:r>
          </a:p>
          <a:p>
            <a:pPr lvl="1"/>
            <a:r>
              <a:rPr lang="en-US" dirty="0"/>
              <a:t>COMMAND – </a:t>
            </a:r>
            <a:r>
              <a:rPr lang="ru-RU" dirty="0"/>
              <a:t>строка запуска процесса</a:t>
            </a:r>
            <a:endParaRPr lang="en-US" dirty="0"/>
          </a:p>
        </p:txBody>
      </p:sp>
      <p:sp>
        <p:nvSpPr>
          <p:cNvPr id="5" name="TextBox 4">
            <a:extLst>
              <a:ext uri="{FF2B5EF4-FFF2-40B4-BE49-F238E27FC236}">
                <a16:creationId xmlns:a16="http://schemas.microsoft.com/office/drawing/2014/main" id="{61F572DD-028C-3D1D-A7F5-AA32B225552A}"/>
              </a:ext>
            </a:extLst>
          </p:cNvPr>
          <p:cNvSpPr txBox="1"/>
          <p:nvPr/>
        </p:nvSpPr>
        <p:spPr>
          <a:xfrm>
            <a:off x="0" y="5503783"/>
            <a:ext cx="19231429" cy="1354217"/>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US" sz="1600" dirty="0">
                <a:latin typeface="Consolas" panose="020B0609020204030204" pitchFamily="49" charset="0"/>
              </a:rPr>
              <a:t>USER         PID %CPU %MEM    VSZ   RSS TTY      STAT START   TIME COMMAND</a:t>
            </a:r>
          </a:p>
          <a:p>
            <a:r>
              <a:rPr lang="en-US" sz="1600" dirty="0">
                <a:latin typeface="Consolas" panose="020B0609020204030204" pitchFamily="49" charset="0"/>
              </a:rPr>
              <a:t>root           1  0.5  0.1 165952 11276 ?        Ss   00:32   0:01 /</a:t>
            </a:r>
            <a:r>
              <a:rPr lang="en-US" sz="1600" dirty="0" err="1">
                <a:latin typeface="Consolas" panose="020B0609020204030204" pitchFamily="49" charset="0"/>
              </a:rPr>
              <a:t>sbin</a:t>
            </a:r>
            <a:r>
              <a:rPr lang="en-US" sz="1600" dirty="0">
                <a:latin typeface="Consolas" panose="020B0609020204030204" pitchFamily="49" charset="0"/>
              </a:rPr>
              <a:t>/</a:t>
            </a:r>
            <a:r>
              <a:rPr lang="en-US" sz="1600" dirty="0" err="1">
                <a:latin typeface="Consolas" panose="020B0609020204030204" pitchFamily="49" charset="0"/>
              </a:rPr>
              <a:t>init</a:t>
            </a:r>
            <a:endParaRPr lang="en-US" sz="1600" dirty="0">
              <a:latin typeface="Consolas" panose="020B0609020204030204" pitchFamily="49" charset="0"/>
            </a:endParaRPr>
          </a:p>
          <a:p>
            <a:r>
              <a:rPr lang="en-US" sz="1600" dirty="0">
                <a:latin typeface="Consolas" panose="020B0609020204030204" pitchFamily="49" charset="0"/>
              </a:rPr>
              <a:t>root           2  0.0  0.0   2616  1440 ?        </a:t>
            </a:r>
            <a:r>
              <a:rPr lang="en-US" sz="1600" dirty="0" err="1">
                <a:latin typeface="Consolas" panose="020B0609020204030204" pitchFamily="49" charset="0"/>
              </a:rPr>
              <a:t>Sl</a:t>
            </a:r>
            <a:r>
              <a:rPr lang="en-US" sz="1600" dirty="0">
                <a:latin typeface="Consolas" panose="020B0609020204030204" pitchFamily="49" charset="0"/>
              </a:rPr>
              <a:t>   00:32   0:00 /</a:t>
            </a:r>
            <a:r>
              <a:rPr lang="en-US" sz="1600" dirty="0" err="1">
                <a:latin typeface="Consolas" panose="020B0609020204030204" pitchFamily="49" charset="0"/>
              </a:rPr>
              <a:t>init</a:t>
            </a:r>
            <a:endParaRPr lang="en-US" sz="1600" dirty="0">
              <a:latin typeface="Consolas" panose="020B0609020204030204" pitchFamily="49" charset="0"/>
            </a:endParaRPr>
          </a:p>
          <a:p>
            <a:r>
              <a:rPr lang="en-US" sz="1600" dirty="0">
                <a:latin typeface="Consolas" panose="020B0609020204030204" pitchFamily="49" charset="0"/>
              </a:rPr>
              <a:t>root           7  0.0  0.0   2616     4 ?        </a:t>
            </a:r>
            <a:r>
              <a:rPr lang="en-US" sz="1600" dirty="0" err="1">
                <a:latin typeface="Consolas" panose="020B0609020204030204" pitchFamily="49" charset="0"/>
              </a:rPr>
              <a:t>Sl</a:t>
            </a:r>
            <a:r>
              <a:rPr lang="en-US" sz="1600" dirty="0">
                <a:latin typeface="Consolas" panose="020B0609020204030204" pitchFamily="49" charset="0"/>
              </a:rPr>
              <a:t>   00:32   0:00 plan9 --control-socket 6 --log-level 4 --server-</a:t>
            </a:r>
            <a:r>
              <a:rPr lang="en-US" sz="1600" dirty="0" err="1">
                <a:latin typeface="Consolas" panose="020B0609020204030204" pitchFamily="49" charset="0"/>
              </a:rPr>
              <a:t>fd</a:t>
            </a:r>
            <a:r>
              <a:rPr lang="en-US" sz="1600" dirty="0">
                <a:latin typeface="Consolas" panose="020B0609020204030204" pitchFamily="49" charset="0"/>
              </a:rPr>
              <a:t> 7 --pipe-</a:t>
            </a:r>
            <a:r>
              <a:rPr lang="en-US" sz="1600" dirty="0" err="1">
                <a:latin typeface="Consolas" panose="020B0609020204030204" pitchFamily="49" charset="0"/>
              </a:rPr>
              <a:t>fd</a:t>
            </a:r>
            <a:r>
              <a:rPr lang="en-US" sz="1600" dirty="0">
                <a:latin typeface="Consolas" panose="020B0609020204030204" pitchFamily="49" charset="0"/>
              </a:rPr>
              <a:t> 9 --log-truncate</a:t>
            </a:r>
          </a:p>
          <a:p>
            <a:r>
              <a:rPr lang="en-US" sz="1600" dirty="0">
                <a:latin typeface="Consolas" panose="020B0609020204030204" pitchFamily="49" charset="0"/>
              </a:rPr>
              <a:t>root          36  0.0  0.1  55936 14688 ?        S&lt;s  00:32   0:00 /lib/</a:t>
            </a:r>
            <a:r>
              <a:rPr lang="en-US" sz="1600" dirty="0" err="1">
                <a:latin typeface="Consolas" panose="020B0609020204030204" pitchFamily="49" charset="0"/>
              </a:rPr>
              <a:t>systemd</a:t>
            </a:r>
            <a:r>
              <a:rPr lang="en-US" sz="1600" dirty="0">
                <a:latin typeface="Consolas" panose="020B0609020204030204" pitchFamily="49" charset="0"/>
              </a:rPr>
              <a:t>/</a:t>
            </a:r>
            <a:r>
              <a:rPr lang="en-US" sz="1600" dirty="0" err="1">
                <a:latin typeface="Consolas" panose="020B0609020204030204" pitchFamily="49" charset="0"/>
              </a:rPr>
              <a:t>systemd-journald</a:t>
            </a:r>
            <a:endParaRPr lang="en-US" sz="1600" dirty="0">
              <a:latin typeface="Consolas" panose="020B0609020204030204" pitchFamily="49" charset="0"/>
            </a:endParaRPr>
          </a:p>
        </p:txBody>
      </p:sp>
      <p:sp>
        <p:nvSpPr>
          <p:cNvPr id="4" name="Slide Number Placeholder 3">
            <a:extLst>
              <a:ext uri="{FF2B5EF4-FFF2-40B4-BE49-F238E27FC236}">
                <a16:creationId xmlns:a16="http://schemas.microsoft.com/office/drawing/2014/main" id="{AA8D0D21-00F8-BEC6-647A-9CDD38AE147C}"/>
              </a:ext>
            </a:extLst>
          </p:cNvPr>
          <p:cNvSpPr>
            <a:spLocks noGrp="1"/>
          </p:cNvSpPr>
          <p:nvPr>
            <p:ph type="sldNum" sz="quarter" idx="12"/>
          </p:nvPr>
        </p:nvSpPr>
        <p:spPr/>
        <p:txBody>
          <a:bodyPr/>
          <a:lstStyle/>
          <a:p>
            <a:fld id="{EDCC16D8-4CDA-43DA-B801-57449FB8CE28}" type="slidenum">
              <a:rPr lang="en-US" smtClean="0"/>
              <a:t>4</a:t>
            </a:fld>
            <a:endParaRPr lang="en-US"/>
          </a:p>
        </p:txBody>
      </p:sp>
    </p:spTree>
    <p:extLst>
      <p:ext uri="{BB962C8B-B14F-4D97-AF65-F5344CB8AC3E}">
        <p14:creationId xmlns:p14="http://schemas.microsoft.com/office/powerpoint/2010/main" val="1099170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A14B0-8DFA-9862-09B1-426E32703872}"/>
              </a:ext>
            </a:extLst>
          </p:cNvPr>
          <p:cNvSpPr>
            <a:spLocks noGrp="1"/>
          </p:cNvSpPr>
          <p:nvPr>
            <p:ph type="title"/>
          </p:nvPr>
        </p:nvSpPr>
        <p:spPr/>
        <p:txBody>
          <a:bodyPr/>
          <a:lstStyle/>
          <a:p>
            <a:r>
              <a:rPr lang="ru-RU" dirty="0" err="1"/>
              <a:t>Межпроцессное</a:t>
            </a:r>
            <a:r>
              <a:rPr lang="ru-RU" dirty="0"/>
              <a:t> взаимодействие</a:t>
            </a:r>
            <a:endParaRPr lang="en-US" dirty="0"/>
          </a:p>
        </p:txBody>
      </p:sp>
      <p:sp>
        <p:nvSpPr>
          <p:cNvPr id="3" name="Content Placeholder 2">
            <a:extLst>
              <a:ext uri="{FF2B5EF4-FFF2-40B4-BE49-F238E27FC236}">
                <a16:creationId xmlns:a16="http://schemas.microsoft.com/office/drawing/2014/main" id="{912B6567-E7FD-8C7A-581F-4485129B3420}"/>
              </a:ext>
            </a:extLst>
          </p:cNvPr>
          <p:cNvSpPr>
            <a:spLocks noGrp="1"/>
          </p:cNvSpPr>
          <p:nvPr>
            <p:ph sz="half" idx="1"/>
          </p:nvPr>
        </p:nvSpPr>
        <p:spPr/>
        <p:txBody>
          <a:bodyPr>
            <a:normAutofit fontScale="92500"/>
          </a:bodyPr>
          <a:lstStyle/>
          <a:p>
            <a:r>
              <a:rPr lang="ru-RU" dirty="0"/>
              <a:t>Процессы образуют иерархию: родительские и дочерние процессы</a:t>
            </a:r>
          </a:p>
          <a:p>
            <a:r>
              <a:rPr lang="ru-RU" dirty="0"/>
              <a:t>Для совместной работы используется </a:t>
            </a:r>
            <a:r>
              <a:rPr lang="ru-RU" dirty="0" err="1"/>
              <a:t>межпроцессное</a:t>
            </a:r>
            <a:r>
              <a:rPr lang="ru-RU" dirty="0"/>
              <a:t> взаимодействие (IPC)</a:t>
            </a:r>
          </a:p>
          <a:p>
            <a:pPr marL="457200" lvl="1" indent="0">
              <a:buNone/>
            </a:pPr>
            <a:r>
              <a:rPr lang="ru-RU" dirty="0"/>
              <a:t>Обмен данными и синхронизацию действий процессов</a:t>
            </a:r>
          </a:p>
          <a:p>
            <a:r>
              <a:rPr lang="ru-RU" b="1" dirty="0"/>
              <a:t>Сигналы</a:t>
            </a:r>
            <a:r>
              <a:rPr lang="ru-RU" dirty="0"/>
              <a:t> позволяют ОС уведомлять процесс о событиях или ошибках</a:t>
            </a:r>
            <a:endParaRPr lang="en-US" dirty="0"/>
          </a:p>
        </p:txBody>
      </p:sp>
      <p:pic>
        <p:nvPicPr>
          <p:cNvPr id="8" name="Content Placeholder 7">
            <a:extLst>
              <a:ext uri="{FF2B5EF4-FFF2-40B4-BE49-F238E27FC236}">
                <a16:creationId xmlns:a16="http://schemas.microsoft.com/office/drawing/2014/main" id="{071FB452-A80F-41A9-A384-6F1482887133}"/>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742221" y="1825625"/>
            <a:ext cx="4041557" cy="4351338"/>
          </a:xfrm>
          <a:prstGeom prst="rect">
            <a:avLst/>
          </a:prstGeom>
        </p:spPr>
      </p:pic>
      <p:sp>
        <p:nvSpPr>
          <p:cNvPr id="9" name="Slide Number Placeholder 8">
            <a:extLst>
              <a:ext uri="{FF2B5EF4-FFF2-40B4-BE49-F238E27FC236}">
                <a16:creationId xmlns:a16="http://schemas.microsoft.com/office/drawing/2014/main" id="{0D0A20AE-E187-D0B2-C7D3-D7CD8AE43CF9}"/>
              </a:ext>
            </a:extLst>
          </p:cNvPr>
          <p:cNvSpPr>
            <a:spLocks noGrp="1"/>
          </p:cNvSpPr>
          <p:nvPr>
            <p:ph type="sldNum" sz="quarter" idx="12"/>
          </p:nvPr>
        </p:nvSpPr>
        <p:spPr/>
        <p:txBody>
          <a:bodyPr/>
          <a:lstStyle/>
          <a:p>
            <a:fld id="{EDCC16D8-4CDA-43DA-B801-57449FB8CE28}" type="slidenum">
              <a:rPr lang="en-US" smtClean="0"/>
              <a:t>5</a:t>
            </a:fld>
            <a:endParaRPr lang="en-US"/>
          </a:p>
        </p:txBody>
      </p:sp>
    </p:spTree>
    <p:extLst>
      <p:ext uri="{BB962C8B-B14F-4D97-AF65-F5344CB8AC3E}">
        <p14:creationId xmlns:p14="http://schemas.microsoft.com/office/powerpoint/2010/main" val="3449134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B960A93-4280-DB8E-7307-9D268A64E209}"/>
              </a:ext>
            </a:extLst>
          </p:cNvPr>
          <p:cNvSpPr>
            <a:spLocks noGrp="1"/>
          </p:cNvSpPr>
          <p:nvPr>
            <p:ph type="title"/>
          </p:nvPr>
        </p:nvSpPr>
        <p:spPr/>
        <p:txBody>
          <a:bodyPr/>
          <a:lstStyle/>
          <a:p>
            <a:r>
              <a:rPr lang="ru-RU" dirty="0"/>
              <a:t>Просмотр дерева процессов в </a:t>
            </a:r>
            <a:r>
              <a:rPr lang="en-US" dirty="0"/>
              <a:t>Linux</a:t>
            </a:r>
          </a:p>
        </p:txBody>
      </p:sp>
      <p:sp>
        <p:nvSpPr>
          <p:cNvPr id="6" name="Content Placeholder 5">
            <a:extLst>
              <a:ext uri="{FF2B5EF4-FFF2-40B4-BE49-F238E27FC236}">
                <a16:creationId xmlns:a16="http://schemas.microsoft.com/office/drawing/2014/main" id="{8D2167B8-CE1E-A4C7-CB8F-97423C713570}"/>
              </a:ext>
            </a:extLst>
          </p:cNvPr>
          <p:cNvSpPr>
            <a:spLocks noGrp="1"/>
          </p:cNvSpPr>
          <p:nvPr>
            <p:ph idx="1"/>
          </p:nvPr>
        </p:nvSpPr>
        <p:spPr>
          <a:xfrm>
            <a:off x="838200" y="1825625"/>
            <a:ext cx="10515600" cy="859518"/>
          </a:xfrm>
        </p:spPr>
        <p:txBody>
          <a:bodyPr/>
          <a:lstStyle/>
          <a:p>
            <a:r>
              <a:rPr lang="en-US" dirty="0"/>
              <a:t>$ </a:t>
            </a:r>
            <a:r>
              <a:rPr lang="en-US" dirty="0" err="1"/>
              <a:t>ps</a:t>
            </a:r>
            <a:r>
              <a:rPr lang="en-US" dirty="0"/>
              <a:t> aux --forest</a:t>
            </a:r>
          </a:p>
        </p:txBody>
      </p:sp>
      <p:sp>
        <p:nvSpPr>
          <p:cNvPr id="8" name="TextBox 7">
            <a:extLst>
              <a:ext uri="{FF2B5EF4-FFF2-40B4-BE49-F238E27FC236}">
                <a16:creationId xmlns:a16="http://schemas.microsoft.com/office/drawing/2014/main" id="{2F6FAA9E-708B-7913-0FDE-52EA21906C14}"/>
              </a:ext>
            </a:extLst>
          </p:cNvPr>
          <p:cNvSpPr txBox="1"/>
          <p:nvPr/>
        </p:nvSpPr>
        <p:spPr>
          <a:xfrm>
            <a:off x="0" y="2950709"/>
            <a:ext cx="19274971" cy="3108543"/>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US" sz="1600" dirty="0">
                <a:latin typeface="Consolas" panose="020B0609020204030204" pitchFamily="49" charset="0"/>
              </a:rPr>
              <a:t>USER         PID %CPU %MEM    VSZ   RSS TTY      STAT START   TIME COMMAND</a:t>
            </a:r>
          </a:p>
          <a:p>
            <a:r>
              <a:rPr lang="en-US" sz="1600" dirty="0">
                <a:latin typeface="Consolas" panose="020B0609020204030204" pitchFamily="49" charset="0"/>
              </a:rPr>
              <a:t>root           1  0.5  0.1 167176 12680 ?        Ss   00:32   0:05 /</a:t>
            </a:r>
            <a:r>
              <a:rPr lang="en-US" sz="1600" dirty="0" err="1">
                <a:latin typeface="Consolas" panose="020B0609020204030204" pitchFamily="49" charset="0"/>
              </a:rPr>
              <a:t>sbin</a:t>
            </a:r>
            <a:r>
              <a:rPr lang="en-US" sz="1600" dirty="0">
                <a:latin typeface="Consolas" panose="020B0609020204030204" pitchFamily="49" charset="0"/>
              </a:rPr>
              <a:t>/</a:t>
            </a:r>
            <a:r>
              <a:rPr lang="en-US" sz="1600" dirty="0" err="1">
                <a:latin typeface="Consolas" panose="020B0609020204030204" pitchFamily="49" charset="0"/>
              </a:rPr>
              <a:t>init</a:t>
            </a:r>
            <a:endParaRPr lang="en-US" sz="1600" dirty="0">
              <a:latin typeface="Consolas" panose="020B0609020204030204" pitchFamily="49" charset="0"/>
            </a:endParaRPr>
          </a:p>
          <a:p>
            <a:r>
              <a:rPr lang="en-US" sz="1600" dirty="0">
                <a:latin typeface="Consolas" panose="020B0609020204030204" pitchFamily="49" charset="0"/>
              </a:rPr>
              <a:t>root           2  0.0  0.0   2616  1440 ?        </a:t>
            </a:r>
            <a:r>
              <a:rPr lang="en-US" sz="1600" dirty="0" err="1">
                <a:latin typeface="Consolas" panose="020B0609020204030204" pitchFamily="49" charset="0"/>
              </a:rPr>
              <a:t>Sl</a:t>
            </a:r>
            <a:r>
              <a:rPr lang="en-US" sz="1600" dirty="0">
                <a:latin typeface="Consolas" panose="020B0609020204030204" pitchFamily="49" charset="0"/>
              </a:rPr>
              <a:t>   00:32   0:00 /</a:t>
            </a:r>
            <a:r>
              <a:rPr lang="en-US" sz="1600" dirty="0" err="1">
                <a:latin typeface="Consolas" panose="020B0609020204030204" pitchFamily="49" charset="0"/>
              </a:rPr>
              <a:t>init</a:t>
            </a:r>
            <a:endParaRPr lang="en-US" sz="1600" dirty="0">
              <a:latin typeface="Consolas" panose="020B0609020204030204" pitchFamily="49" charset="0"/>
            </a:endParaRPr>
          </a:p>
          <a:p>
            <a:r>
              <a:rPr lang="en-US" sz="1600" dirty="0">
                <a:latin typeface="Consolas" panose="020B0609020204030204" pitchFamily="49" charset="0"/>
              </a:rPr>
              <a:t>root           7  0.0  0.0   2616     4 ?        </a:t>
            </a:r>
            <a:r>
              <a:rPr lang="en-US" sz="1600" dirty="0" err="1">
                <a:latin typeface="Consolas" panose="020B0609020204030204" pitchFamily="49" charset="0"/>
              </a:rPr>
              <a:t>Sl</a:t>
            </a:r>
            <a:r>
              <a:rPr lang="en-US" sz="1600" dirty="0">
                <a:latin typeface="Consolas" panose="020B0609020204030204" pitchFamily="49" charset="0"/>
              </a:rPr>
              <a:t>   00:32   0:00  \_ plan9 --control-socket 6 --log-level 4 --server-</a:t>
            </a:r>
            <a:r>
              <a:rPr lang="en-US" sz="1600" dirty="0" err="1">
                <a:latin typeface="Consolas" panose="020B0609020204030204" pitchFamily="49" charset="0"/>
              </a:rPr>
              <a:t>fd</a:t>
            </a:r>
            <a:r>
              <a:rPr lang="en-US" sz="1600" dirty="0">
                <a:latin typeface="Consolas" panose="020B0609020204030204" pitchFamily="49" charset="0"/>
              </a:rPr>
              <a:t> 7 --pipe-</a:t>
            </a:r>
            <a:r>
              <a:rPr lang="en-US" sz="1600" dirty="0" err="1">
                <a:latin typeface="Consolas" panose="020B0609020204030204" pitchFamily="49" charset="0"/>
              </a:rPr>
              <a:t>fd</a:t>
            </a:r>
            <a:r>
              <a:rPr lang="en-US" sz="1600" dirty="0">
                <a:latin typeface="Consolas" panose="020B0609020204030204" pitchFamily="49" charset="0"/>
              </a:rPr>
              <a:t> 9 --log-truncate</a:t>
            </a:r>
          </a:p>
          <a:p>
            <a:r>
              <a:rPr lang="en-US" sz="1600" dirty="0">
                <a:latin typeface="Consolas" panose="020B0609020204030204" pitchFamily="49" charset="0"/>
              </a:rPr>
              <a:t>root         428  0.0  0.0   2620   120 ?        Ss   00:32   0:00  \_ /</a:t>
            </a:r>
            <a:r>
              <a:rPr lang="en-US" sz="1600" dirty="0" err="1">
                <a:latin typeface="Consolas" panose="020B0609020204030204" pitchFamily="49" charset="0"/>
              </a:rPr>
              <a:t>init</a:t>
            </a:r>
            <a:endParaRPr lang="en-US" sz="1600" dirty="0">
              <a:latin typeface="Consolas" panose="020B0609020204030204" pitchFamily="49" charset="0"/>
            </a:endParaRPr>
          </a:p>
          <a:p>
            <a:r>
              <a:rPr lang="en-US" sz="1600" dirty="0">
                <a:latin typeface="Consolas" panose="020B0609020204030204" pitchFamily="49" charset="0"/>
              </a:rPr>
              <a:t>root         429  0.0  0.0   2620   124 ?        S    00:32   0:00  |   \_ /</a:t>
            </a:r>
            <a:r>
              <a:rPr lang="en-US" sz="1600" dirty="0" err="1">
                <a:latin typeface="Consolas" panose="020B0609020204030204" pitchFamily="49" charset="0"/>
              </a:rPr>
              <a:t>init</a:t>
            </a:r>
            <a:endParaRPr lang="en-US" sz="1600" dirty="0">
              <a:latin typeface="Consolas" panose="020B0609020204030204" pitchFamily="49" charset="0"/>
            </a:endParaRPr>
          </a:p>
          <a:p>
            <a:r>
              <a:rPr lang="en-US" sz="1600" dirty="0">
                <a:latin typeface="Consolas" panose="020B0609020204030204" pitchFamily="49" charset="0"/>
              </a:rPr>
              <a:t>vivid        430  0.0  0.0   6212  5128 pts/0    Ss   00:32   0:00  |       \_ -bash</a:t>
            </a:r>
          </a:p>
          <a:p>
            <a:r>
              <a:rPr lang="en-US" sz="1600" dirty="0">
                <a:highlight>
                  <a:srgbClr val="008000"/>
                </a:highlight>
                <a:latin typeface="Consolas" panose="020B0609020204030204" pitchFamily="49" charset="0"/>
              </a:rPr>
              <a:t>vivid       5125  0.0  0.0   7644  3160 pts/0    R+   00:48   0:00  |           \_ </a:t>
            </a:r>
            <a:r>
              <a:rPr lang="en-US" sz="1600" b="1" dirty="0" err="1">
                <a:solidFill>
                  <a:srgbClr val="FFFF00"/>
                </a:solidFill>
                <a:highlight>
                  <a:srgbClr val="008000"/>
                </a:highlight>
                <a:latin typeface="Consolas" panose="020B0609020204030204" pitchFamily="49" charset="0"/>
              </a:rPr>
              <a:t>ps</a:t>
            </a:r>
            <a:r>
              <a:rPr lang="en-US" sz="1600" b="1" dirty="0">
                <a:solidFill>
                  <a:srgbClr val="FFFF00"/>
                </a:solidFill>
                <a:highlight>
                  <a:srgbClr val="008000"/>
                </a:highlight>
                <a:latin typeface="Consolas" panose="020B0609020204030204" pitchFamily="49" charset="0"/>
              </a:rPr>
              <a:t> aux --forest</a:t>
            </a:r>
          </a:p>
          <a:p>
            <a:r>
              <a:rPr lang="en-US" sz="1600" dirty="0">
                <a:latin typeface="Consolas" panose="020B0609020204030204" pitchFamily="49" charset="0"/>
              </a:rPr>
              <a:t>root         431  0.0  0.0   7528  4992 pts/1    Ss   00:32   0:00  \_ /bin/login -f</a:t>
            </a:r>
          </a:p>
          <a:p>
            <a:r>
              <a:rPr lang="en-US" sz="1600" dirty="0">
                <a:latin typeface="Consolas" panose="020B0609020204030204" pitchFamily="49" charset="0"/>
              </a:rPr>
              <a:t>vivid        498  0.0  0.0   6124  4800 pts/1    S+   00:32   0:00      \_ -bash</a:t>
            </a:r>
          </a:p>
          <a:p>
            <a:r>
              <a:rPr lang="en-US" sz="1600" dirty="0">
                <a:latin typeface="Consolas" panose="020B0609020204030204" pitchFamily="49" charset="0"/>
              </a:rPr>
              <a:t>root          36  0.0  0.1  64132 14760 ?        S&lt;s  00:32   0:00 /lib/</a:t>
            </a:r>
            <a:r>
              <a:rPr lang="en-US" sz="1600" dirty="0" err="1">
                <a:latin typeface="Consolas" panose="020B0609020204030204" pitchFamily="49" charset="0"/>
              </a:rPr>
              <a:t>systemd</a:t>
            </a:r>
            <a:r>
              <a:rPr lang="en-US" sz="1600" dirty="0">
                <a:latin typeface="Consolas" panose="020B0609020204030204" pitchFamily="49" charset="0"/>
              </a:rPr>
              <a:t>/</a:t>
            </a:r>
            <a:r>
              <a:rPr lang="en-US" sz="1600" dirty="0" err="1">
                <a:latin typeface="Consolas" panose="020B0609020204030204" pitchFamily="49" charset="0"/>
              </a:rPr>
              <a:t>systemd-journald</a:t>
            </a:r>
            <a:endParaRPr lang="en-US" sz="1600" dirty="0">
              <a:latin typeface="Consolas" panose="020B0609020204030204" pitchFamily="49" charset="0"/>
            </a:endParaRPr>
          </a:p>
          <a:p>
            <a:r>
              <a:rPr lang="en-US" sz="1600" dirty="0">
                <a:latin typeface="Consolas" panose="020B0609020204030204" pitchFamily="49" charset="0"/>
              </a:rPr>
              <a:t>root          56  0.0  0.0  22224  5980 ?        Ss   00:32   0:00 /lib/</a:t>
            </a:r>
            <a:r>
              <a:rPr lang="en-US" sz="1600" dirty="0" err="1">
                <a:latin typeface="Consolas" panose="020B0609020204030204" pitchFamily="49" charset="0"/>
              </a:rPr>
              <a:t>systemd</a:t>
            </a:r>
            <a:r>
              <a:rPr lang="en-US" sz="1600" dirty="0">
                <a:latin typeface="Consolas" panose="020B0609020204030204" pitchFamily="49" charset="0"/>
              </a:rPr>
              <a:t>/</a:t>
            </a:r>
            <a:r>
              <a:rPr lang="en-US" sz="1600" dirty="0" err="1">
                <a:latin typeface="Consolas" panose="020B0609020204030204" pitchFamily="49" charset="0"/>
              </a:rPr>
              <a:t>systemd-udevd</a:t>
            </a:r>
            <a:endParaRPr lang="en-US" sz="1600" dirty="0">
              <a:latin typeface="Consolas" panose="020B0609020204030204" pitchFamily="49" charset="0"/>
            </a:endParaRPr>
          </a:p>
        </p:txBody>
      </p:sp>
      <p:sp>
        <p:nvSpPr>
          <p:cNvPr id="2" name="Slide Number Placeholder 1">
            <a:extLst>
              <a:ext uri="{FF2B5EF4-FFF2-40B4-BE49-F238E27FC236}">
                <a16:creationId xmlns:a16="http://schemas.microsoft.com/office/drawing/2014/main" id="{2CD4D93F-BA10-7F70-5000-774E564639D2}"/>
              </a:ext>
            </a:extLst>
          </p:cNvPr>
          <p:cNvSpPr>
            <a:spLocks noGrp="1"/>
          </p:cNvSpPr>
          <p:nvPr>
            <p:ph type="sldNum" sz="quarter" idx="12"/>
          </p:nvPr>
        </p:nvSpPr>
        <p:spPr/>
        <p:txBody>
          <a:bodyPr/>
          <a:lstStyle/>
          <a:p>
            <a:fld id="{EDCC16D8-4CDA-43DA-B801-57449FB8CE28}" type="slidenum">
              <a:rPr lang="en-US" smtClean="0"/>
              <a:t>6</a:t>
            </a:fld>
            <a:endParaRPr lang="en-US"/>
          </a:p>
        </p:txBody>
      </p:sp>
    </p:spTree>
    <p:extLst>
      <p:ext uri="{BB962C8B-B14F-4D97-AF65-F5344CB8AC3E}">
        <p14:creationId xmlns:p14="http://schemas.microsoft.com/office/powerpoint/2010/main" val="9824233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7C329-FA07-E407-8E17-0B8E8B670606}"/>
              </a:ext>
            </a:extLst>
          </p:cNvPr>
          <p:cNvSpPr>
            <a:spLocks noGrp="1"/>
          </p:cNvSpPr>
          <p:nvPr>
            <p:ph type="title"/>
          </p:nvPr>
        </p:nvSpPr>
        <p:spPr/>
        <p:txBody>
          <a:bodyPr/>
          <a:lstStyle/>
          <a:p>
            <a:r>
              <a:rPr lang="ru-RU" dirty="0"/>
              <a:t>Пользователи и права</a:t>
            </a:r>
            <a:endParaRPr lang="en-US" dirty="0"/>
          </a:p>
        </p:txBody>
      </p:sp>
      <p:sp>
        <p:nvSpPr>
          <p:cNvPr id="3" name="Content Placeholder 2">
            <a:extLst>
              <a:ext uri="{FF2B5EF4-FFF2-40B4-BE49-F238E27FC236}">
                <a16:creationId xmlns:a16="http://schemas.microsoft.com/office/drawing/2014/main" id="{973CC233-AAC7-3F51-ED81-1E22825BAE36}"/>
              </a:ext>
            </a:extLst>
          </p:cNvPr>
          <p:cNvSpPr>
            <a:spLocks noGrp="1"/>
          </p:cNvSpPr>
          <p:nvPr>
            <p:ph sz="half" idx="1"/>
          </p:nvPr>
        </p:nvSpPr>
        <p:spPr>
          <a:xfrm>
            <a:off x="838200" y="1825625"/>
            <a:ext cx="5866536" cy="4351338"/>
          </a:xfrm>
        </p:spPr>
        <p:txBody>
          <a:bodyPr>
            <a:normAutofit fontScale="92500"/>
          </a:bodyPr>
          <a:lstStyle/>
          <a:p>
            <a:r>
              <a:rPr lang="en-US" dirty="0" err="1"/>
              <a:t>Учётная</a:t>
            </a:r>
            <a:r>
              <a:rPr lang="en-US" dirty="0"/>
              <a:t> </a:t>
            </a:r>
            <a:r>
              <a:rPr lang="en-US" dirty="0" err="1"/>
              <a:t>запись</a:t>
            </a:r>
            <a:r>
              <a:rPr lang="en-US" dirty="0"/>
              <a:t> </a:t>
            </a:r>
            <a:r>
              <a:rPr lang="en-US" dirty="0" err="1"/>
              <a:t>пользователя</a:t>
            </a:r>
            <a:r>
              <a:rPr lang="en-US" dirty="0"/>
              <a:t> </a:t>
            </a:r>
            <a:r>
              <a:rPr lang="en-US" dirty="0" err="1"/>
              <a:t>имеет</a:t>
            </a:r>
            <a:r>
              <a:rPr lang="en-US" dirty="0"/>
              <a:t> </a:t>
            </a:r>
            <a:r>
              <a:rPr lang="en-US" dirty="0" err="1"/>
              <a:t>идентификатор</a:t>
            </a:r>
            <a:r>
              <a:rPr lang="en-US" dirty="0"/>
              <a:t> </a:t>
            </a:r>
            <a:r>
              <a:rPr lang="en-US" b="1" dirty="0"/>
              <a:t>UID</a:t>
            </a:r>
          </a:p>
          <a:p>
            <a:pPr lvl="1"/>
            <a:r>
              <a:rPr lang="en-US" dirty="0" err="1"/>
              <a:t>Процессы</a:t>
            </a:r>
            <a:r>
              <a:rPr lang="en-US" dirty="0"/>
              <a:t> </a:t>
            </a:r>
            <a:r>
              <a:rPr lang="en-US" dirty="0" err="1"/>
              <a:t>выполняются</a:t>
            </a:r>
            <a:r>
              <a:rPr lang="en-US" dirty="0"/>
              <a:t> </a:t>
            </a:r>
            <a:r>
              <a:rPr lang="en-US" dirty="0" err="1"/>
              <a:t>от</a:t>
            </a:r>
            <a:r>
              <a:rPr lang="en-US" dirty="0"/>
              <a:t> </a:t>
            </a:r>
            <a:r>
              <a:rPr lang="en-US" dirty="0" err="1"/>
              <a:t>имени</a:t>
            </a:r>
            <a:r>
              <a:rPr lang="en-US" dirty="0"/>
              <a:t> </a:t>
            </a:r>
            <a:r>
              <a:rPr lang="en-US" dirty="0" err="1"/>
              <a:t>определённого</a:t>
            </a:r>
            <a:r>
              <a:rPr lang="en-US" dirty="0"/>
              <a:t> </a:t>
            </a:r>
            <a:r>
              <a:rPr lang="en-US" dirty="0" err="1"/>
              <a:t>пользователя</a:t>
            </a:r>
            <a:r>
              <a:rPr lang="en-US" dirty="0"/>
              <a:t> </a:t>
            </a:r>
          </a:p>
          <a:p>
            <a:pPr lvl="1"/>
            <a:r>
              <a:rPr lang="en-US" dirty="0"/>
              <a:t>UID </a:t>
            </a:r>
            <a:r>
              <a:rPr lang="en-US" dirty="0" err="1"/>
              <a:t>процесса</a:t>
            </a:r>
            <a:r>
              <a:rPr lang="en-US" dirty="0"/>
              <a:t> </a:t>
            </a:r>
            <a:r>
              <a:rPr lang="en-US" dirty="0" err="1"/>
              <a:t>участвует</a:t>
            </a:r>
            <a:r>
              <a:rPr lang="en-US" dirty="0"/>
              <a:t> в </a:t>
            </a:r>
            <a:r>
              <a:rPr lang="en-US" dirty="0" err="1"/>
              <a:t>проверке</a:t>
            </a:r>
            <a:r>
              <a:rPr lang="en-US" dirty="0"/>
              <a:t> </a:t>
            </a:r>
            <a:r>
              <a:rPr lang="en-US" dirty="0" err="1"/>
              <a:t>доступа</a:t>
            </a:r>
            <a:r>
              <a:rPr lang="en-US" dirty="0"/>
              <a:t> к </a:t>
            </a:r>
            <a:r>
              <a:rPr lang="en-US" dirty="0" err="1"/>
              <a:t>файлам</a:t>
            </a:r>
            <a:r>
              <a:rPr lang="en-US" dirty="0"/>
              <a:t> и </a:t>
            </a:r>
            <a:r>
              <a:rPr lang="en-US" dirty="0" err="1"/>
              <a:t>другим</a:t>
            </a:r>
            <a:r>
              <a:rPr lang="en-US" dirty="0"/>
              <a:t> </a:t>
            </a:r>
            <a:r>
              <a:rPr lang="en-US" dirty="0" err="1"/>
              <a:t>ресурсам</a:t>
            </a:r>
            <a:r>
              <a:rPr lang="en-US" dirty="0"/>
              <a:t> </a:t>
            </a:r>
          </a:p>
          <a:p>
            <a:pPr lvl="1"/>
            <a:r>
              <a:rPr lang="en-US" dirty="0" err="1"/>
              <a:t>Пользователи</a:t>
            </a:r>
            <a:r>
              <a:rPr lang="en-US" dirty="0"/>
              <a:t> </a:t>
            </a:r>
            <a:r>
              <a:rPr lang="en-US" dirty="0" err="1"/>
              <a:t>могут</a:t>
            </a:r>
            <a:r>
              <a:rPr lang="en-US" dirty="0"/>
              <a:t> </a:t>
            </a:r>
            <a:r>
              <a:rPr lang="en-US" dirty="0" err="1"/>
              <a:t>входить</a:t>
            </a:r>
            <a:r>
              <a:rPr lang="en-US" dirty="0"/>
              <a:t> в </a:t>
            </a:r>
            <a:r>
              <a:rPr lang="en-US" dirty="0" err="1"/>
              <a:t>группы</a:t>
            </a:r>
            <a:r>
              <a:rPr lang="en-US" dirty="0"/>
              <a:t> с </a:t>
            </a:r>
            <a:r>
              <a:rPr lang="en-US" dirty="0" err="1"/>
              <a:t>идентификаторами</a:t>
            </a:r>
            <a:r>
              <a:rPr lang="en-US" dirty="0"/>
              <a:t> </a:t>
            </a:r>
            <a:r>
              <a:rPr lang="en-US" b="1" dirty="0"/>
              <a:t>GID</a:t>
            </a:r>
            <a:r>
              <a:rPr lang="en-US" dirty="0"/>
              <a:t> </a:t>
            </a:r>
          </a:p>
          <a:p>
            <a:pPr lvl="1"/>
            <a:r>
              <a:rPr lang="en-US" dirty="0" err="1"/>
              <a:t>Права</a:t>
            </a:r>
            <a:r>
              <a:rPr lang="en-US" dirty="0"/>
              <a:t> </a:t>
            </a:r>
            <a:r>
              <a:rPr lang="en-US" dirty="0" err="1"/>
              <a:t>можно</a:t>
            </a:r>
            <a:r>
              <a:rPr lang="en-US" dirty="0"/>
              <a:t> </a:t>
            </a:r>
            <a:r>
              <a:rPr lang="en-US" dirty="0" err="1"/>
              <a:t>задавать</a:t>
            </a:r>
            <a:r>
              <a:rPr lang="en-US" dirty="0"/>
              <a:t> </a:t>
            </a:r>
            <a:r>
              <a:rPr lang="en-US" dirty="0" err="1"/>
              <a:t>отдельно</a:t>
            </a:r>
            <a:r>
              <a:rPr lang="en-US" dirty="0"/>
              <a:t> </a:t>
            </a:r>
            <a:r>
              <a:rPr lang="en-US" dirty="0" err="1"/>
              <a:t>для</a:t>
            </a:r>
            <a:r>
              <a:rPr lang="en-US" dirty="0"/>
              <a:t> </a:t>
            </a:r>
            <a:r>
              <a:rPr lang="en-US" dirty="0" err="1"/>
              <a:t>владельца</a:t>
            </a:r>
            <a:r>
              <a:rPr lang="en-US" dirty="0"/>
              <a:t>, </a:t>
            </a:r>
            <a:r>
              <a:rPr lang="en-US" dirty="0" err="1"/>
              <a:t>группы</a:t>
            </a:r>
            <a:r>
              <a:rPr lang="en-US" dirty="0"/>
              <a:t> и </a:t>
            </a:r>
            <a:r>
              <a:rPr lang="en-US" dirty="0" err="1"/>
              <a:t>остальных</a:t>
            </a:r>
            <a:r>
              <a:rPr lang="en-US" dirty="0"/>
              <a:t> </a:t>
            </a:r>
          </a:p>
          <a:p>
            <a:pPr lvl="1"/>
            <a:r>
              <a:rPr lang="en-US" dirty="0"/>
              <a:t>В UNIX root (UID = 0) </a:t>
            </a:r>
            <a:r>
              <a:rPr lang="en-US" dirty="0" err="1"/>
              <a:t>обладает</a:t>
            </a:r>
            <a:r>
              <a:rPr lang="en-US" dirty="0"/>
              <a:t> </a:t>
            </a:r>
            <a:r>
              <a:rPr lang="en-US" dirty="0" err="1"/>
              <a:t>особыми</a:t>
            </a:r>
            <a:r>
              <a:rPr lang="en-US" dirty="0"/>
              <a:t> </a:t>
            </a:r>
            <a:r>
              <a:rPr lang="en-US" dirty="0" err="1"/>
              <a:t>системными</a:t>
            </a:r>
            <a:r>
              <a:rPr lang="en-US" dirty="0"/>
              <a:t> </a:t>
            </a:r>
            <a:r>
              <a:rPr lang="en-US" dirty="0" err="1"/>
              <a:t>привилегиями</a:t>
            </a:r>
            <a:r>
              <a:rPr lang="en-US" dirty="0"/>
              <a:t> </a:t>
            </a:r>
          </a:p>
        </p:txBody>
      </p:sp>
      <p:pic>
        <p:nvPicPr>
          <p:cNvPr id="6" name="Content Placeholder 5">
            <a:extLst>
              <a:ext uri="{FF2B5EF4-FFF2-40B4-BE49-F238E27FC236}">
                <a16:creationId xmlns:a16="http://schemas.microsoft.com/office/drawing/2014/main" id="{27CA4E1C-660D-55DA-681F-56285568AA57}"/>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704736" y="1825625"/>
            <a:ext cx="4116527" cy="4351338"/>
          </a:xfrm>
          <a:prstGeom prst="rect">
            <a:avLst/>
          </a:prstGeom>
        </p:spPr>
      </p:pic>
      <p:sp>
        <p:nvSpPr>
          <p:cNvPr id="7" name="Slide Number Placeholder 6">
            <a:extLst>
              <a:ext uri="{FF2B5EF4-FFF2-40B4-BE49-F238E27FC236}">
                <a16:creationId xmlns:a16="http://schemas.microsoft.com/office/drawing/2014/main" id="{685AC00D-F663-59A6-AA05-A0D58FB102E0}"/>
              </a:ext>
            </a:extLst>
          </p:cNvPr>
          <p:cNvSpPr>
            <a:spLocks noGrp="1"/>
          </p:cNvSpPr>
          <p:nvPr>
            <p:ph type="sldNum" sz="quarter" idx="12"/>
          </p:nvPr>
        </p:nvSpPr>
        <p:spPr/>
        <p:txBody>
          <a:bodyPr/>
          <a:lstStyle/>
          <a:p>
            <a:fld id="{EDCC16D8-4CDA-43DA-B801-57449FB8CE28}" type="slidenum">
              <a:rPr lang="en-US" smtClean="0"/>
              <a:t>7</a:t>
            </a:fld>
            <a:endParaRPr lang="en-US"/>
          </a:p>
        </p:txBody>
      </p:sp>
    </p:spTree>
    <p:extLst>
      <p:ext uri="{BB962C8B-B14F-4D97-AF65-F5344CB8AC3E}">
        <p14:creationId xmlns:p14="http://schemas.microsoft.com/office/powerpoint/2010/main" val="1284649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F3A0E-5178-F12A-F2BC-3307F650BF68}"/>
              </a:ext>
            </a:extLst>
          </p:cNvPr>
          <p:cNvSpPr>
            <a:spLocks noGrp="1"/>
          </p:cNvSpPr>
          <p:nvPr>
            <p:ph type="title"/>
          </p:nvPr>
        </p:nvSpPr>
        <p:spPr/>
        <p:txBody>
          <a:bodyPr/>
          <a:lstStyle/>
          <a:p>
            <a:r>
              <a:rPr lang="ru-RU" dirty="0"/>
              <a:t>Команды </a:t>
            </a:r>
            <a:r>
              <a:rPr lang="en-US" dirty="0" err="1"/>
              <a:t>su</a:t>
            </a:r>
            <a:r>
              <a:rPr lang="en-US" dirty="0"/>
              <a:t> </a:t>
            </a:r>
            <a:r>
              <a:rPr lang="ru-RU" dirty="0"/>
              <a:t>и </a:t>
            </a:r>
            <a:r>
              <a:rPr lang="en-US" dirty="0" err="1"/>
              <a:t>sudo</a:t>
            </a:r>
            <a:endParaRPr lang="en-US" dirty="0"/>
          </a:p>
        </p:txBody>
      </p:sp>
      <p:sp>
        <p:nvSpPr>
          <p:cNvPr id="3" name="Content Placeholder 2">
            <a:extLst>
              <a:ext uri="{FF2B5EF4-FFF2-40B4-BE49-F238E27FC236}">
                <a16:creationId xmlns:a16="http://schemas.microsoft.com/office/drawing/2014/main" id="{10BFF31C-A41E-EE5F-B34B-F0091F0F475F}"/>
              </a:ext>
            </a:extLst>
          </p:cNvPr>
          <p:cNvSpPr>
            <a:spLocks noGrp="1"/>
          </p:cNvSpPr>
          <p:nvPr>
            <p:ph idx="1"/>
          </p:nvPr>
        </p:nvSpPr>
        <p:spPr/>
        <p:txBody>
          <a:bodyPr>
            <a:normAutofit fontScale="92500" lnSpcReduction="10000"/>
          </a:bodyPr>
          <a:lstStyle/>
          <a:p>
            <a:r>
              <a:rPr lang="ru-RU" dirty="0" err="1"/>
              <a:t>su</a:t>
            </a:r>
            <a:r>
              <a:rPr lang="ru-RU" dirty="0"/>
              <a:t> (</a:t>
            </a:r>
            <a:r>
              <a:rPr lang="ru-RU" dirty="0" err="1"/>
              <a:t>substitute</a:t>
            </a:r>
            <a:r>
              <a:rPr lang="ru-RU" dirty="0"/>
              <a:t> </a:t>
            </a:r>
            <a:r>
              <a:rPr lang="ru-RU" dirty="0" err="1"/>
              <a:t>user</a:t>
            </a:r>
            <a:r>
              <a:rPr lang="ru-RU" dirty="0"/>
              <a:t>)</a:t>
            </a:r>
            <a:endParaRPr lang="en-US" dirty="0"/>
          </a:p>
          <a:p>
            <a:pPr lvl="1"/>
            <a:r>
              <a:rPr lang="ru-RU" dirty="0"/>
              <a:t>Позволяет переключиться на другого пользователя</a:t>
            </a:r>
            <a:r>
              <a:rPr lang="en-US" dirty="0"/>
              <a:t>:</a:t>
            </a:r>
            <a:br>
              <a:rPr lang="en-US" dirty="0"/>
            </a:br>
            <a:r>
              <a:rPr lang="en-US" b="1" dirty="0">
                <a:latin typeface="Consolas" panose="020B0609020204030204" pitchFamily="49" charset="0"/>
              </a:rPr>
              <a:t>$ </a:t>
            </a:r>
            <a:r>
              <a:rPr lang="en-US" b="1" dirty="0" err="1">
                <a:latin typeface="Consolas" panose="020B0609020204030204" pitchFamily="49" charset="0"/>
              </a:rPr>
              <a:t>su</a:t>
            </a:r>
            <a:r>
              <a:rPr lang="en-US" b="1" dirty="0">
                <a:latin typeface="Consolas" panose="020B0609020204030204" pitchFamily="49" charset="0"/>
              </a:rPr>
              <a:t> student</a:t>
            </a:r>
          </a:p>
          <a:p>
            <a:pPr lvl="2"/>
            <a:r>
              <a:rPr lang="ru-RU" dirty="0"/>
              <a:t>Без аргументов — вход под </a:t>
            </a:r>
            <a:r>
              <a:rPr lang="ru-RU" dirty="0" err="1"/>
              <a:t>root</a:t>
            </a:r>
            <a:endParaRPr lang="en-US" dirty="0"/>
          </a:p>
          <a:p>
            <a:pPr lvl="1"/>
            <a:r>
              <a:rPr lang="ru-RU" dirty="0"/>
              <a:t>Требует пароль целевого пользователя</a:t>
            </a:r>
            <a:endParaRPr lang="en-US" dirty="0"/>
          </a:p>
          <a:p>
            <a:pPr lvl="1"/>
            <a:r>
              <a:rPr lang="ru-RU" dirty="0" err="1"/>
              <a:t>su</a:t>
            </a:r>
            <a:r>
              <a:rPr lang="ru-RU" dirty="0"/>
              <a:t> меняет пользователя полностью (новая сессия)</a:t>
            </a:r>
            <a:endParaRPr lang="en-US" dirty="0"/>
          </a:p>
          <a:p>
            <a:r>
              <a:rPr lang="ru-RU" dirty="0" err="1"/>
              <a:t>sudo</a:t>
            </a:r>
            <a:r>
              <a:rPr lang="ru-RU" dirty="0"/>
              <a:t> (</a:t>
            </a:r>
            <a:r>
              <a:rPr lang="ru-RU" dirty="0" err="1"/>
              <a:t>superuser</a:t>
            </a:r>
            <a:r>
              <a:rPr lang="ru-RU" dirty="0"/>
              <a:t> </a:t>
            </a:r>
            <a:r>
              <a:rPr lang="ru-RU" dirty="0" err="1"/>
              <a:t>do</a:t>
            </a:r>
            <a:r>
              <a:rPr lang="ru-RU" dirty="0"/>
              <a:t>)</a:t>
            </a:r>
            <a:endParaRPr lang="en-US" dirty="0"/>
          </a:p>
          <a:p>
            <a:pPr lvl="1"/>
            <a:r>
              <a:rPr lang="ru-RU" dirty="0"/>
              <a:t>Выполняет команду от имени </a:t>
            </a:r>
            <a:r>
              <a:rPr lang="ru-RU" dirty="0" err="1"/>
              <a:t>root</a:t>
            </a:r>
            <a:r>
              <a:rPr lang="ru-RU" dirty="0"/>
              <a:t> (или другого пользователя)</a:t>
            </a:r>
            <a:r>
              <a:rPr lang="en-US" dirty="0"/>
              <a:t>:</a:t>
            </a:r>
            <a:br>
              <a:rPr lang="en-US" dirty="0"/>
            </a:br>
            <a:r>
              <a:rPr lang="en-US" b="1" dirty="0">
                <a:latin typeface="Consolas" panose="020B0609020204030204" pitchFamily="49" charset="0"/>
              </a:rPr>
              <a:t>$ </a:t>
            </a:r>
            <a:r>
              <a:rPr lang="en-US" b="1" dirty="0" err="1">
                <a:latin typeface="Consolas" panose="020B0609020204030204" pitchFamily="49" charset="0"/>
              </a:rPr>
              <a:t>sudo</a:t>
            </a:r>
            <a:r>
              <a:rPr lang="en-US" b="1" dirty="0">
                <a:latin typeface="Consolas" panose="020B0609020204030204" pitchFamily="49" charset="0"/>
              </a:rPr>
              <a:t> apt update</a:t>
            </a:r>
          </a:p>
          <a:p>
            <a:pPr lvl="1"/>
            <a:r>
              <a:rPr lang="ru-RU" dirty="0"/>
              <a:t>Требует пароль текущего пользователя (если он в группе </a:t>
            </a:r>
            <a:r>
              <a:rPr lang="ru-RU" dirty="0" err="1"/>
              <a:t>sudo</a:t>
            </a:r>
            <a:r>
              <a:rPr lang="ru-RU" dirty="0"/>
              <a:t>)</a:t>
            </a:r>
            <a:endParaRPr lang="en-US" dirty="0"/>
          </a:p>
          <a:p>
            <a:pPr lvl="1"/>
            <a:r>
              <a:rPr lang="ru-RU" dirty="0"/>
              <a:t>Используется для временного повышения прав</a:t>
            </a:r>
            <a:endParaRPr lang="en-US" dirty="0"/>
          </a:p>
          <a:p>
            <a:pPr lvl="1"/>
            <a:r>
              <a:rPr lang="ru-RU" dirty="0" err="1"/>
              <a:t>sudo</a:t>
            </a:r>
            <a:r>
              <a:rPr lang="ru-RU" dirty="0"/>
              <a:t> повышает права только для одной команды</a:t>
            </a:r>
            <a:endParaRPr lang="en-US" dirty="0"/>
          </a:p>
        </p:txBody>
      </p:sp>
      <p:sp>
        <p:nvSpPr>
          <p:cNvPr id="4" name="Slide Number Placeholder 3">
            <a:extLst>
              <a:ext uri="{FF2B5EF4-FFF2-40B4-BE49-F238E27FC236}">
                <a16:creationId xmlns:a16="http://schemas.microsoft.com/office/drawing/2014/main" id="{B9C20789-DAE9-18D9-65C0-425B5F135A93}"/>
              </a:ext>
            </a:extLst>
          </p:cNvPr>
          <p:cNvSpPr>
            <a:spLocks noGrp="1"/>
          </p:cNvSpPr>
          <p:nvPr>
            <p:ph type="sldNum" sz="quarter" idx="12"/>
          </p:nvPr>
        </p:nvSpPr>
        <p:spPr/>
        <p:txBody>
          <a:bodyPr/>
          <a:lstStyle/>
          <a:p>
            <a:fld id="{EDCC16D8-4CDA-43DA-B801-57449FB8CE28}" type="slidenum">
              <a:rPr lang="en-US" smtClean="0"/>
              <a:t>8</a:t>
            </a:fld>
            <a:endParaRPr lang="en-US"/>
          </a:p>
        </p:txBody>
      </p:sp>
    </p:spTree>
    <p:extLst>
      <p:ext uri="{BB962C8B-B14F-4D97-AF65-F5344CB8AC3E}">
        <p14:creationId xmlns:p14="http://schemas.microsoft.com/office/powerpoint/2010/main" val="3072230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78BF778-E9EF-D781-E8DF-A7DA8B77C91A}"/>
              </a:ext>
            </a:extLst>
          </p:cNvPr>
          <p:cNvSpPr>
            <a:spLocks noGrp="1"/>
          </p:cNvSpPr>
          <p:nvPr>
            <p:ph type="title"/>
          </p:nvPr>
        </p:nvSpPr>
        <p:spPr/>
        <p:txBody>
          <a:bodyPr/>
          <a:lstStyle/>
          <a:p>
            <a:r>
              <a:rPr lang="ru-RU" dirty="0"/>
              <a:t>Узнаём кто мы</a:t>
            </a:r>
            <a:endParaRPr lang="en-US" dirty="0"/>
          </a:p>
        </p:txBody>
      </p:sp>
      <p:sp>
        <p:nvSpPr>
          <p:cNvPr id="6" name="TextBox 5">
            <a:extLst>
              <a:ext uri="{FF2B5EF4-FFF2-40B4-BE49-F238E27FC236}">
                <a16:creationId xmlns:a16="http://schemas.microsoft.com/office/drawing/2014/main" id="{A23F7B99-E70E-680B-FC14-C440571DF7D7}"/>
              </a:ext>
            </a:extLst>
          </p:cNvPr>
          <p:cNvSpPr txBox="1"/>
          <p:nvPr/>
        </p:nvSpPr>
        <p:spPr>
          <a:xfrm>
            <a:off x="0" y="2496457"/>
            <a:ext cx="19318515" cy="3416320"/>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US" dirty="0" err="1">
                <a:solidFill>
                  <a:schemeClr val="accent3">
                    <a:lumMod val="40000"/>
                    <a:lumOff val="60000"/>
                  </a:schemeClr>
                </a:solidFill>
                <a:latin typeface="Consolas" panose="020B0609020204030204" pitchFamily="49" charset="0"/>
              </a:rPr>
              <a:t>vivid@MSI</a:t>
            </a:r>
            <a:r>
              <a:rPr lang="en-US" dirty="0">
                <a:solidFill>
                  <a:schemeClr val="accent3">
                    <a:lumMod val="40000"/>
                    <a:lumOff val="60000"/>
                  </a:schemeClr>
                </a:solidFill>
                <a:latin typeface="Consolas" panose="020B0609020204030204" pitchFamily="49" charset="0"/>
              </a:rPr>
              <a:t>:~</a:t>
            </a:r>
            <a:r>
              <a:rPr lang="en-US" dirty="0">
                <a:latin typeface="Consolas" panose="020B0609020204030204" pitchFamily="49" charset="0"/>
              </a:rPr>
              <a:t>$ </a:t>
            </a:r>
            <a:r>
              <a:rPr lang="en-US" dirty="0" err="1">
                <a:latin typeface="Consolas" panose="020B0609020204030204" pitchFamily="49" charset="0"/>
              </a:rPr>
              <a:t>whoami</a:t>
            </a:r>
            <a:endParaRPr lang="en-US" dirty="0">
              <a:latin typeface="Consolas" panose="020B0609020204030204" pitchFamily="49" charset="0"/>
            </a:endParaRPr>
          </a:p>
          <a:p>
            <a:r>
              <a:rPr lang="en-US" dirty="0">
                <a:latin typeface="Consolas" panose="020B0609020204030204" pitchFamily="49" charset="0"/>
              </a:rPr>
              <a:t>vivid</a:t>
            </a:r>
          </a:p>
          <a:p>
            <a:r>
              <a:rPr lang="en-US" dirty="0" err="1">
                <a:solidFill>
                  <a:schemeClr val="accent3">
                    <a:lumMod val="40000"/>
                    <a:lumOff val="60000"/>
                  </a:schemeClr>
                </a:solidFill>
                <a:latin typeface="Consolas" panose="020B0609020204030204" pitchFamily="49" charset="0"/>
              </a:rPr>
              <a:t>vivid@MSI</a:t>
            </a:r>
            <a:r>
              <a:rPr lang="en-US" dirty="0">
                <a:solidFill>
                  <a:schemeClr val="accent3">
                    <a:lumMod val="40000"/>
                    <a:lumOff val="60000"/>
                  </a:schemeClr>
                </a:solidFill>
                <a:latin typeface="Consolas" panose="020B0609020204030204" pitchFamily="49" charset="0"/>
              </a:rPr>
              <a:t>:~</a:t>
            </a:r>
            <a:r>
              <a:rPr lang="en-US" dirty="0">
                <a:latin typeface="Consolas" panose="020B0609020204030204" pitchFamily="49" charset="0"/>
              </a:rPr>
              <a:t>$ id</a:t>
            </a:r>
          </a:p>
          <a:p>
            <a:r>
              <a:rPr lang="en-US" dirty="0" err="1">
                <a:latin typeface="Consolas" panose="020B0609020204030204" pitchFamily="49" charset="0"/>
              </a:rPr>
              <a:t>uid</a:t>
            </a:r>
            <a:r>
              <a:rPr lang="en-US" dirty="0">
                <a:latin typeface="Consolas" panose="020B0609020204030204" pitchFamily="49" charset="0"/>
              </a:rPr>
              <a:t>=1000(vivid) gid=1000(vivid) groups=1000(vivid),4(</a:t>
            </a:r>
            <a:r>
              <a:rPr lang="en-US" dirty="0" err="1">
                <a:latin typeface="Consolas" panose="020B0609020204030204" pitchFamily="49" charset="0"/>
              </a:rPr>
              <a:t>adm</a:t>
            </a:r>
            <a:r>
              <a:rPr lang="en-US" dirty="0">
                <a:latin typeface="Consolas" panose="020B0609020204030204" pitchFamily="49" charset="0"/>
              </a:rPr>
              <a:t>),20(</a:t>
            </a:r>
            <a:r>
              <a:rPr lang="en-US" dirty="0" err="1">
                <a:latin typeface="Consolas" panose="020B0609020204030204" pitchFamily="49" charset="0"/>
              </a:rPr>
              <a:t>dialout</a:t>
            </a:r>
            <a:r>
              <a:rPr lang="en-US" dirty="0">
                <a:latin typeface="Consolas" panose="020B0609020204030204" pitchFamily="49" charset="0"/>
              </a:rPr>
              <a:t>),24(</a:t>
            </a:r>
            <a:r>
              <a:rPr lang="en-US" dirty="0" err="1">
                <a:latin typeface="Consolas" panose="020B0609020204030204" pitchFamily="49" charset="0"/>
              </a:rPr>
              <a:t>cdrom</a:t>
            </a:r>
            <a:r>
              <a:rPr lang="en-US" dirty="0">
                <a:latin typeface="Consolas" panose="020B0609020204030204" pitchFamily="49" charset="0"/>
              </a:rPr>
              <a:t>),25(floppy),27(</a:t>
            </a:r>
            <a:r>
              <a:rPr lang="en-US" dirty="0" err="1">
                <a:latin typeface="Consolas" panose="020B0609020204030204" pitchFamily="49" charset="0"/>
              </a:rPr>
              <a:t>sudo</a:t>
            </a:r>
            <a:r>
              <a:rPr lang="en-US" dirty="0">
                <a:latin typeface="Consolas" panose="020B0609020204030204" pitchFamily="49" charset="0"/>
              </a:rPr>
              <a:t>),29(audio),30(dip),44(video),46(</a:t>
            </a:r>
            <a:r>
              <a:rPr lang="en-US" dirty="0" err="1">
                <a:latin typeface="Consolas" panose="020B0609020204030204" pitchFamily="49" charset="0"/>
              </a:rPr>
              <a:t>plugdev</a:t>
            </a:r>
            <a:r>
              <a:rPr lang="en-US" dirty="0">
                <a:latin typeface="Consolas" panose="020B0609020204030204" pitchFamily="49" charset="0"/>
              </a:rPr>
              <a:t>),116(</a:t>
            </a:r>
            <a:r>
              <a:rPr lang="en-US" dirty="0" err="1">
                <a:latin typeface="Consolas" panose="020B0609020204030204" pitchFamily="49" charset="0"/>
              </a:rPr>
              <a:t>netdev</a:t>
            </a:r>
            <a:r>
              <a:rPr lang="en-US" dirty="0">
                <a:latin typeface="Consolas" panose="020B0609020204030204" pitchFamily="49" charset="0"/>
              </a:rPr>
              <a:t>)</a:t>
            </a:r>
          </a:p>
          <a:p>
            <a:r>
              <a:rPr lang="en-US" dirty="0" err="1">
                <a:solidFill>
                  <a:schemeClr val="accent3">
                    <a:lumMod val="40000"/>
                    <a:lumOff val="60000"/>
                  </a:schemeClr>
                </a:solidFill>
                <a:latin typeface="Consolas" panose="020B0609020204030204" pitchFamily="49" charset="0"/>
              </a:rPr>
              <a:t>vivid@MSI</a:t>
            </a:r>
            <a:r>
              <a:rPr lang="en-US" dirty="0">
                <a:solidFill>
                  <a:schemeClr val="accent3">
                    <a:lumMod val="40000"/>
                    <a:lumOff val="60000"/>
                  </a:schemeClr>
                </a:solidFill>
                <a:latin typeface="Consolas" panose="020B0609020204030204" pitchFamily="49" charset="0"/>
              </a:rPr>
              <a:t>:~</a:t>
            </a:r>
            <a:r>
              <a:rPr lang="en-US" dirty="0">
                <a:latin typeface="Consolas" panose="020B0609020204030204" pitchFamily="49" charset="0"/>
              </a:rPr>
              <a:t>$ id -u</a:t>
            </a:r>
          </a:p>
          <a:p>
            <a:r>
              <a:rPr lang="en-US" dirty="0">
                <a:latin typeface="Consolas" panose="020B0609020204030204" pitchFamily="49" charset="0"/>
              </a:rPr>
              <a:t>1000</a:t>
            </a:r>
          </a:p>
          <a:p>
            <a:r>
              <a:rPr lang="en-US" dirty="0" err="1">
                <a:solidFill>
                  <a:schemeClr val="accent3">
                    <a:lumMod val="40000"/>
                    <a:lumOff val="60000"/>
                  </a:schemeClr>
                </a:solidFill>
                <a:latin typeface="Consolas" panose="020B0609020204030204" pitchFamily="49" charset="0"/>
              </a:rPr>
              <a:t>vivid@MSI</a:t>
            </a:r>
            <a:r>
              <a:rPr lang="en-US" dirty="0">
                <a:solidFill>
                  <a:schemeClr val="accent3">
                    <a:lumMod val="40000"/>
                    <a:lumOff val="60000"/>
                  </a:schemeClr>
                </a:solidFill>
                <a:latin typeface="Consolas" panose="020B0609020204030204" pitchFamily="49" charset="0"/>
              </a:rPr>
              <a:t>:~</a:t>
            </a:r>
            <a:r>
              <a:rPr lang="en-US" dirty="0">
                <a:latin typeface="Consolas" panose="020B0609020204030204" pitchFamily="49" charset="0"/>
              </a:rPr>
              <a:t>$ </a:t>
            </a:r>
            <a:r>
              <a:rPr lang="en-US" dirty="0" err="1">
                <a:latin typeface="Consolas" panose="020B0609020204030204" pitchFamily="49" charset="0"/>
              </a:rPr>
              <a:t>sudo</a:t>
            </a:r>
            <a:r>
              <a:rPr lang="en-US" dirty="0">
                <a:latin typeface="Consolas" panose="020B0609020204030204" pitchFamily="49" charset="0"/>
              </a:rPr>
              <a:t> </a:t>
            </a:r>
            <a:r>
              <a:rPr lang="en-US" dirty="0" err="1">
                <a:latin typeface="Consolas" panose="020B0609020204030204" pitchFamily="49" charset="0"/>
              </a:rPr>
              <a:t>whoami</a:t>
            </a:r>
            <a:endParaRPr lang="en-US" dirty="0">
              <a:latin typeface="Consolas" panose="020B0609020204030204" pitchFamily="49" charset="0"/>
            </a:endParaRPr>
          </a:p>
          <a:p>
            <a:r>
              <a:rPr lang="en-US" dirty="0">
                <a:latin typeface="Consolas" panose="020B0609020204030204" pitchFamily="49" charset="0"/>
              </a:rPr>
              <a:t>root</a:t>
            </a:r>
          </a:p>
          <a:p>
            <a:r>
              <a:rPr lang="en-US" dirty="0" err="1">
                <a:solidFill>
                  <a:schemeClr val="accent3">
                    <a:lumMod val="40000"/>
                    <a:lumOff val="60000"/>
                  </a:schemeClr>
                </a:solidFill>
                <a:latin typeface="Consolas" panose="020B0609020204030204" pitchFamily="49" charset="0"/>
              </a:rPr>
              <a:t>vivid@MSI</a:t>
            </a:r>
            <a:r>
              <a:rPr lang="en-US" dirty="0">
                <a:solidFill>
                  <a:schemeClr val="accent3">
                    <a:lumMod val="40000"/>
                    <a:lumOff val="60000"/>
                  </a:schemeClr>
                </a:solidFill>
                <a:latin typeface="Consolas" panose="020B0609020204030204" pitchFamily="49" charset="0"/>
              </a:rPr>
              <a:t>:~</a:t>
            </a:r>
            <a:r>
              <a:rPr lang="en-US" dirty="0">
                <a:latin typeface="Consolas" panose="020B0609020204030204" pitchFamily="49" charset="0"/>
              </a:rPr>
              <a:t>$ </a:t>
            </a:r>
            <a:r>
              <a:rPr lang="en-US" dirty="0" err="1">
                <a:latin typeface="Consolas" panose="020B0609020204030204" pitchFamily="49" charset="0"/>
              </a:rPr>
              <a:t>sudo</a:t>
            </a:r>
            <a:r>
              <a:rPr lang="en-US" dirty="0">
                <a:latin typeface="Consolas" panose="020B0609020204030204" pitchFamily="49" charset="0"/>
              </a:rPr>
              <a:t> id</a:t>
            </a:r>
          </a:p>
          <a:p>
            <a:r>
              <a:rPr lang="en-US" dirty="0" err="1">
                <a:latin typeface="Consolas" panose="020B0609020204030204" pitchFamily="49" charset="0"/>
              </a:rPr>
              <a:t>uid</a:t>
            </a:r>
            <a:r>
              <a:rPr lang="en-US" dirty="0">
                <a:latin typeface="Consolas" panose="020B0609020204030204" pitchFamily="49" charset="0"/>
              </a:rPr>
              <a:t>=0(root) gid=0(root) groups=0(root)</a:t>
            </a:r>
          </a:p>
          <a:p>
            <a:r>
              <a:rPr lang="en-US" dirty="0" err="1">
                <a:solidFill>
                  <a:schemeClr val="accent3">
                    <a:lumMod val="40000"/>
                    <a:lumOff val="60000"/>
                  </a:schemeClr>
                </a:solidFill>
                <a:latin typeface="Consolas" panose="020B0609020204030204" pitchFamily="49" charset="0"/>
              </a:rPr>
              <a:t>vivid@MSI</a:t>
            </a:r>
            <a:r>
              <a:rPr lang="en-US" dirty="0">
                <a:solidFill>
                  <a:schemeClr val="accent3">
                    <a:lumMod val="40000"/>
                    <a:lumOff val="60000"/>
                  </a:schemeClr>
                </a:solidFill>
                <a:latin typeface="Consolas" panose="020B0609020204030204" pitchFamily="49" charset="0"/>
              </a:rPr>
              <a:t>:~</a:t>
            </a:r>
            <a:r>
              <a:rPr lang="en-US" dirty="0">
                <a:latin typeface="Consolas" panose="020B0609020204030204" pitchFamily="49" charset="0"/>
              </a:rPr>
              <a:t>$ </a:t>
            </a:r>
            <a:r>
              <a:rPr lang="en-US" dirty="0" err="1">
                <a:latin typeface="Consolas" panose="020B0609020204030204" pitchFamily="49" charset="0"/>
              </a:rPr>
              <a:t>sudo</a:t>
            </a:r>
            <a:r>
              <a:rPr lang="en-US" dirty="0">
                <a:latin typeface="Consolas" panose="020B0609020204030204" pitchFamily="49" charset="0"/>
              </a:rPr>
              <a:t> id -u</a:t>
            </a:r>
          </a:p>
          <a:p>
            <a:r>
              <a:rPr lang="en-US" dirty="0">
                <a:latin typeface="Consolas" panose="020B0609020204030204" pitchFamily="49" charset="0"/>
              </a:rPr>
              <a:t>0</a:t>
            </a:r>
          </a:p>
        </p:txBody>
      </p:sp>
      <p:sp>
        <p:nvSpPr>
          <p:cNvPr id="2" name="Slide Number Placeholder 1">
            <a:extLst>
              <a:ext uri="{FF2B5EF4-FFF2-40B4-BE49-F238E27FC236}">
                <a16:creationId xmlns:a16="http://schemas.microsoft.com/office/drawing/2014/main" id="{E7DFB5BE-8BD2-DFA2-8277-9350D474536C}"/>
              </a:ext>
            </a:extLst>
          </p:cNvPr>
          <p:cNvSpPr>
            <a:spLocks noGrp="1"/>
          </p:cNvSpPr>
          <p:nvPr>
            <p:ph type="sldNum" sz="quarter" idx="12"/>
          </p:nvPr>
        </p:nvSpPr>
        <p:spPr/>
        <p:txBody>
          <a:bodyPr/>
          <a:lstStyle/>
          <a:p>
            <a:fld id="{EDCC16D8-4CDA-43DA-B801-57449FB8CE28}" type="slidenum">
              <a:rPr lang="en-US" smtClean="0"/>
              <a:t>9</a:t>
            </a:fld>
            <a:endParaRPr lang="en-US"/>
          </a:p>
        </p:txBody>
      </p:sp>
    </p:spTree>
    <p:extLst>
      <p:ext uri="{BB962C8B-B14F-4D97-AF65-F5344CB8AC3E}">
        <p14:creationId xmlns:p14="http://schemas.microsoft.com/office/powerpoint/2010/main" val="17289048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18BE4-4783-9B04-5FCE-5FA4E02EE651}"/>
              </a:ext>
            </a:extLst>
          </p:cNvPr>
          <p:cNvSpPr>
            <a:spLocks noGrp="1"/>
          </p:cNvSpPr>
          <p:nvPr>
            <p:ph type="title"/>
          </p:nvPr>
        </p:nvSpPr>
        <p:spPr/>
        <p:txBody>
          <a:bodyPr/>
          <a:lstStyle/>
          <a:p>
            <a:r>
              <a:rPr lang="en-US" dirty="0" err="1"/>
              <a:t>sudo</a:t>
            </a:r>
            <a:r>
              <a:rPr lang="ru-RU" dirty="0"/>
              <a:t> + </a:t>
            </a:r>
            <a:r>
              <a:rPr lang="en-US" dirty="0" err="1"/>
              <a:t>ps</a:t>
            </a:r>
            <a:endParaRPr lang="en-US" dirty="0"/>
          </a:p>
        </p:txBody>
      </p:sp>
      <p:sp>
        <p:nvSpPr>
          <p:cNvPr id="4" name="TextBox 3">
            <a:extLst>
              <a:ext uri="{FF2B5EF4-FFF2-40B4-BE49-F238E27FC236}">
                <a16:creationId xmlns:a16="http://schemas.microsoft.com/office/drawing/2014/main" id="{BA41CFB3-D651-C866-1C50-400679F0C09A}"/>
              </a:ext>
            </a:extLst>
          </p:cNvPr>
          <p:cNvSpPr txBox="1"/>
          <p:nvPr/>
        </p:nvSpPr>
        <p:spPr>
          <a:xfrm>
            <a:off x="0" y="2172607"/>
            <a:ext cx="19678651" cy="4154984"/>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US" sz="1600" dirty="0" err="1">
                <a:solidFill>
                  <a:schemeClr val="accent3">
                    <a:lumMod val="40000"/>
                    <a:lumOff val="60000"/>
                  </a:schemeClr>
                </a:solidFill>
                <a:latin typeface="Consolas" panose="020B0609020204030204" pitchFamily="49" charset="0"/>
              </a:rPr>
              <a:t>vivid@MSI</a:t>
            </a:r>
            <a:r>
              <a:rPr lang="en-US" sz="1600" dirty="0">
                <a:solidFill>
                  <a:schemeClr val="accent3">
                    <a:lumMod val="40000"/>
                    <a:lumOff val="60000"/>
                  </a:schemeClr>
                </a:solidFill>
                <a:latin typeface="Consolas" panose="020B0609020204030204" pitchFamily="49" charset="0"/>
              </a:rPr>
              <a:t>:~</a:t>
            </a:r>
            <a:r>
              <a:rPr lang="en-US" sz="1600" dirty="0">
                <a:latin typeface="Consolas" panose="020B0609020204030204" pitchFamily="49" charset="0"/>
              </a:rPr>
              <a:t>$ </a:t>
            </a:r>
            <a:r>
              <a:rPr lang="en-US" sz="1600" dirty="0" err="1">
                <a:latin typeface="Consolas" panose="020B0609020204030204" pitchFamily="49" charset="0"/>
              </a:rPr>
              <a:t>sudo</a:t>
            </a:r>
            <a:r>
              <a:rPr lang="en-US" sz="1600" dirty="0">
                <a:latin typeface="Consolas" panose="020B0609020204030204" pitchFamily="49" charset="0"/>
              </a:rPr>
              <a:t> </a:t>
            </a:r>
            <a:r>
              <a:rPr lang="en-US" sz="1600" dirty="0" err="1">
                <a:latin typeface="Consolas" panose="020B0609020204030204" pitchFamily="49" charset="0"/>
              </a:rPr>
              <a:t>ps</a:t>
            </a:r>
            <a:r>
              <a:rPr lang="en-US" sz="1600" dirty="0">
                <a:latin typeface="Consolas" panose="020B0609020204030204" pitchFamily="49" charset="0"/>
              </a:rPr>
              <a:t> aux --forest</a:t>
            </a:r>
          </a:p>
          <a:p>
            <a:r>
              <a:rPr lang="en-US" sz="1600" dirty="0">
                <a:latin typeface="Consolas" panose="020B0609020204030204" pitchFamily="49" charset="0"/>
              </a:rPr>
              <a:t>[</a:t>
            </a:r>
            <a:r>
              <a:rPr lang="en-US" sz="1600" dirty="0" err="1">
                <a:latin typeface="Consolas" panose="020B0609020204030204" pitchFamily="49" charset="0"/>
              </a:rPr>
              <a:t>sudo</a:t>
            </a:r>
            <a:r>
              <a:rPr lang="en-US" sz="1600" dirty="0">
                <a:latin typeface="Consolas" panose="020B0609020204030204" pitchFamily="49" charset="0"/>
              </a:rPr>
              <a:t>] password for vivid:</a:t>
            </a:r>
          </a:p>
          <a:p>
            <a:r>
              <a:rPr lang="en-US" sz="1600" dirty="0">
                <a:latin typeface="Consolas" panose="020B0609020204030204" pitchFamily="49" charset="0"/>
              </a:rPr>
              <a:t>USER         PID %CPU %MEM    VSZ   RSS TTY      STAT START   TIME COMMAND</a:t>
            </a:r>
          </a:p>
          <a:p>
            <a:r>
              <a:rPr lang="en-US" sz="1600" dirty="0">
                <a:latin typeface="Consolas" panose="020B0609020204030204" pitchFamily="49" charset="0"/>
              </a:rPr>
              <a:t>root           1  0.4  0.1 167176 12680 ?        Ss   00:32   0:13 /</a:t>
            </a:r>
            <a:r>
              <a:rPr lang="en-US" sz="1600" dirty="0" err="1">
                <a:latin typeface="Consolas" panose="020B0609020204030204" pitchFamily="49" charset="0"/>
              </a:rPr>
              <a:t>sbin</a:t>
            </a:r>
            <a:r>
              <a:rPr lang="en-US" sz="1600" dirty="0">
                <a:latin typeface="Consolas" panose="020B0609020204030204" pitchFamily="49" charset="0"/>
              </a:rPr>
              <a:t>/</a:t>
            </a:r>
            <a:r>
              <a:rPr lang="en-US" sz="1600" dirty="0" err="1">
                <a:latin typeface="Consolas" panose="020B0609020204030204" pitchFamily="49" charset="0"/>
              </a:rPr>
              <a:t>init</a:t>
            </a:r>
            <a:endParaRPr lang="en-US" sz="1600" dirty="0">
              <a:latin typeface="Consolas" panose="020B0609020204030204" pitchFamily="49" charset="0"/>
            </a:endParaRPr>
          </a:p>
          <a:p>
            <a:r>
              <a:rPr lang="en-US" sz="1600" dirty="0">
                <a:latin typeface="Consolas" panose="020B0609020204030204" pitchFamily="49" charset="0"/>
              </a:rPr>
              <a:t>root           2  0.0  0.0   2616  1440 ?        </a:t>
            </a:r>
            <a:r>
              <a:rPr lang="en-US" sz="1600" dirty="0" err="1">
                <a:latin typeface="Consolas" panose="020B0609020204030204" pitchFamily="49" charset="0"/>
              </a:rPr>
              <a:t>Sl</a:t>
            </a:r>
            <a:r>
              <a:rPr lang="en-US" sz="1600" dirty="0">
                <a:latin typeface="Consolas" panose="020B0609020204030204" pitchFamily="49" charset="0"/>
              </a:rPr>
              <a:t>   00:32   0:00 /</a:t>
            </a:r>
            <a:r>
              <a:rPr lang="en-US" sz="1600" dirty="0" err="1">
                <a:latin typeface="Consolas" panose="020B0609020204030204" pitchFamily="49" charset="0"/>
              </a:rPr>
              <a:t>init</a:t>
            </a:r>
            <a:endParaRPr lang="en-US" sz="1600" dirty="0">
              <a:latin typeface="Consolas" panose="020B0609020204030204" pitchFamily="49" charset="0"/>
            </a:endParaRPr>
          </a:p>
          <a:p>
            <a:r>
              <a:rPr lang="en-US" sz="1600" dirty="0">
                <a:latin typeface="Consolas" panose="020B0609020204030204" pitchFamily="49" charset="0"/>
              </a:rPr>
              <a:t>root           7  0.0  0.0   2616     4 ?        </a:t>
            </a:r>
            <a:r>
              <a:rPr lang="en-US" sz="1600" dirty="0" err="1">
                <a:latin typeface="Consolas" panose="020B0609020204030204" pitchFamily="49" charset="0"/>
              </a:rPr>
              <a:t>Sl</a:t>
            </a:r>
            <a:r>
              <a:rPr lang="en-US" sz="1600" dirty="0">
                <a:latin typeface="Consolas" panose="020B0609020204030204" pitchFamily="49" charset="0"/>
              </a:rPr>
              <a:t>   00:32   0:00  \_ plan9 --control-socket 6 --log-level 4 --server-</a:t>
            </a:r>
            <a:r>
              <a:rPr lang="en-US" sz="1600" dirty="0" err="1">
                <a:latin typeface="Consolas" panose="020B0609020204030204" pitchFamily="49" charset="0"/>
              </a:rPr>
              <a:t>fd</a:t>
            </a:r>
            <a:r>
              <a:rPr lang="en-US" sz="1600" dirty="0">
                <a:latin typeface="Consolas" panose="020B0609020204030204" pitchFamily="49" charset="0"/>
              </a:rPr>
              <a:t> 7 --pipe-</a:t>
            </a:r>
            <a:r>
              <a:rPr lang="en-US" sz="1600" dirty="0" err="1">
                <a:latin typeface="Consolas" panose="020B0609020204030204" pitchFamily="49" charset="0"/>
              </a:rPr>
              <a:t>fd</a:t>
            </a:r>
            <a:r>
              <a:rPr lang="en-US" sz="1600" dirty="0">
                <a:latin typeface="Consolas" panose="020B0609020204030204" pitchFamily="49" charset="0"/>
              </a:rPr>
              <a:t> 9 --log-truncate</a:t>
            </a:r>
          </a:p>
          <a:p>
            <a:r>
              <a:rPr lang="en-US" sz="1600" dirty="0">
                <a:latin typeface="Consolas" panose="020B0609020204030204" pitchFamily="49" charset="0"/>
              </a:rPr>
              <a:t>root         428  0.0  0.0   2620   120 ?        Ss   00:32   0:00  \_ /</a:t>
            </a:r>
            <a:r>
              <a:rPr lang="en-US" sz="1600" dirty="0" err="1">
                <a:latin typeface="Consolas" panose="020B0609020204030204" pitchFamily="49" charset="0"/>
              </a:rPr>
              <a:t>init</a:t>
            </a:r>
            <a:endParaRPr lang="en-US" sz="1600" dirty="0">
              <a:latin typeface="Consolas" panose="020B0609020204030204" pitchFamily="49" charset="0"/>
            </a:endParaRPr>
          </a:p>
          <a:p>
            <a:r>
              <a:rPr lang="en-US" sz="1600" dirty="0">
                <a:latin typeface="Consolas" panose="020B0609020204030204" pitchFamily="49" charset="0"/>
              </a:rPr>
              <a:t>root         429  0.0  0.0   2620   124 ?        S    00:32   0:00  |   \_ /</a:t>
            </a:r>
            <a:r>
              <a:rPr lang="en-US" sz="1600" dirty="0" err="1">
                <a:latin typeface="Consolas" panose="020B0609020204030204" pitchFamily="49" charset="0"/>
              </a:rPr>
              <a:t>init</a:t>
            </a:r>
            <a:endParaRPr lang="en-US" sz="1600" dirty="0">
              <a:latin typeface="Consolas" panose="020B0609020204030204" pitchFamily="49" charset="0"/>
            </a:endParaRPr>
          </a:p>
          <a:p>
            <a:r>
              <a:rPr lang="en-US" sz="1600" dirty="0">
                <a:solidFill>
                  <a:srgbClr val="FFFF00"/>
                </a:solidFill>
                <a:latin typeface="Consolas" panose="020B0609020204030204" pitchFamily="49" charset="0"/>
              </a:rPr>
              <a:t>vivid        430  0.0  0.0   6212  5132 pts/0    Ss   00:32   0:00  |       \_ -bash</a:t>
            </a:r>
          </a:p>
          <a:p>
            <a:r>
              <a:rPr lang="en-US" sz="1600" dirty="0">
                <a:highlight>
                  <a:srgbClr val="008000"/>
                </a:highlight>
                <a:latin typeface="Consolas" panose="020B0609020204030204" pitchFamily="49" charset="0"/>
              </a:rPr>
              <a:t>root       12739  0.6  0.0   9092  5572 pts/0    S+   01:19   0:00  |           \_ </a:t>
            </a:r>
            <a:r>
              <a:rPr lang="en-US" sz="1600" dirty="0" err="1">
                <a:highlight>
                  <a:srgbClr val="008000"/>
                </a:highlight>
                <a:latin typeface="Consolas" panose="020B0609020204030204" pitchFamily="49" charset="0"/>
              </a:rPr>
              <a:t>sudo</a:t>
            </a:r>
            <a:r>
              <a:rPr lang="en-US" sz="1600" dirty="0">
                <a:highlight>
                  <a:srgbClr val="008000"/>
                </a:highlight>
                <a:latin typeface="Consolas" panose="020B0609020204030204" pitchFamily="49" charset="0"/>
              </a:rPr>
              <a:t> </a:t>
            </a:r>
            <a:r>
              <a:rPr lang="en-US" sz="1600" dirty="0" err="1">
                <a:highlight>
                  <a:srgbClr val="008000"/>
                </a:highlight>
                <a:latin typeface="Consolas" panose="020B0609020204030204" pitchFamily="49" charset="0"/>
              </a:rPr>
              <a:t>ps</a:t>
            </a:r>
            <a:r>
              <a:rPr lang="en-US" sz="1600" dirty="0">
                <a:highlight>
                  <a:srgbClr val="008000"/>
                </a:highlight>
                <a:latin typeface="Consolas" panose="020B0609020204030204" pitchFamily="49" charset="0"/>
              </a:rPr>
              <a:t> aux --forest</a:t>
            </a:r>
          </a:p>
          <a:p>
            <a:r>
              <a:rPr lang="en-US" sz="1600" dirty="0">
                <a:highlight>
                  <a:srgbClr val="008000"/>
                </a:highlight>
                <a:latin typeface="Consolas" panose="020B0609020204030204" pitchFamily="49" charset="0"/>
              </a:rPr>
              <a:t>root       12751  0.0  0.0   9092   944 pts/2    Ss   01:19   0:00  |               \_ </a:t>
            </a:r>
            <a:r>
              <a:rPr lang="en-US" sz="1600" dirty="0" err="1">
                <a:highlight>
                  <a:srgbClr val="008000"/>
                </a:highlight>
                <a:latin typeface="Consolas" panose="020B0609020204030204" pitchFamily="49" charset="0"/>
              </a:rPr>
              <a:t>sudo</a:t>
            </a:r>
            <a:r>
              <a:rPr lang="en-US" sz="1600" dirty="0">
                <a:highlight>
                  <a:srgbClr val="008000"/>
                </a:highlight>
                <a:latin typeface="Consolas" panose="020B0609020204030204" pitchFamily="49" charset="0"/>
              </a:rPr>
              <a:t> </a:t>
            </a:r>
            <a:r>
              <a:rPr lang="en-US" sz="1600" dirty="0" err="1">
                <a:highlight>
                  <a:srgbClr val="008000"/>
                </a:highlight>
                <a:latin typeface="Consolas" panose="020B0609020204030204" pitchFamily="49" charset="0"/>
              </a:rPr>
              <a:t>ps</a:t>
            </a:r>
            <a:r>
              <a:rPr lang="en-US" sz="1600" dirty="0">
                <a:highlight>
                  <a:srgbClr val="008000"/>
                </a:highlight>
                <a:latin typeface="Consolas" panose="020B0609020204030204" pitchFamily="49" charset="0"/>
              </a:rPr>
              <a:t> aux --forest</a:t>
            </a:r>
          </a:p>
          <a:p>
            <a:r>
              <a:rPr lang="en-US" sz="1600" dirty="0">
                <a:highlight>
                  <a:srgbClr val="008000"/>
                </a:highlight>
                <a:latin typeface="Consolas" panose="020B0609020204030204" pitchFamily="49" charset="0"/>
              </a:rPr>
              <a:t>root       12752  0.0  0.0   7644  3028 pts/2    R+   01:19   0:00  |                   \_ </a:t>
            </a:r>
            <a:r>
              <a:rPr lang="en-US" sz="1600" dirty="0" err="1">
                <a:highlight>
                  <a:srgbClr val="008000"/>
                </a:highlight>
                <a:latin typeface="Consolas" panose="020B0609020204030204" pitchFamily="49" charset="0"/>
              </a:rPr>
              <a:t>ps</a:t>
            </a:r>
            <a:r>
              <a:rPr lang="en-US" sz="1600" dirty="0">
                <a:highlight>
                  <a:srgbClr val="008000"/>
                </a:highlight>
                <a:latin typeface="Consolas" panose="020B0609020204030204" pitchFamily="49" charset="0"/>
              </a:rPr>
              <a:t> aux --forest</a:t>
            </a:r>
          </a:p>
          <a:p>
            <a:r>
              <a:rPr lang="en-US" sz="1600" dirty="0">
                <a:latin typeface="Consolas" panose="020B0609020204030204" pitchFamily="49" charset="0"/>
              </a:rPr>
              <a:t>root         431  0.0  0.0   7528  4992 pts/1    Ss   00:32   0:00  \_ /bin/login -f</a:t>
            </a:r>
          </a:p>
          <a:p>
            <a:r>
              <a:rPr lang="en-US" sz="1600" dirty="0">
                <a:latin typeface="Consolas" panose="020B0609020204030204" pitchFamily="49" charset="0"/>
              </a:rPr>
              <a:t>vivid        498  0.0  0.0   6124  4800 pts/1    S+   00:32   0:00      \_ -bash</a:t>
            </a:r>
          </a:p>
          <a:p>
            <a:r>
              <a:rPr lang="en-US" sz="1600" dirty="0">
                <a:latin typeface="Consolas" panose="020B0609020204030204" pitchFamily="49" charset="0"/>
              </a:rPr>
              <a:t>root          36  0.0  0.1  64132 14784 ?        D&lt;s  00:32   0:00 /lib/</a:t>
            </a:r>
            <a:r>
              <a:rPr lang="en-US" sz="1600" dirty="0" err="1">
                <a:latin typeface="Consolas" panose="020B0609020204030204" pitchFamily="49" charset="0"/>
              </a:rPr>
              <a:t>systemd</a:t>
            </a:r>
            <a:r>
              <a:rPr lang="en-US" sz="1600" dirty="0">
                <a:latin typeface="Consolas" panose="020B0609020204030204" pitchFamily="49" charset="0"/>
              </a:rPr>
              <a:t>/</a:t>
            </a:r>
            <a:r>
              <a:rPr lang="en-US" sz="1600" dirty="0" err="1">
                <a:latin typeface="Consolas" panose="020B0609020204030204" pitchFamily="49" charset="0"/>
              </a:rPr>
              <a:t>systemd-journald</a:t>
            </a:r>
            <a:endParaRPr lang="en-US" sz="1600" dirty="0">
              <a:latin typeface="Consolas" panose="020B0609020204030204" pitchFamily="49" charset="0"/>
            </a:endParaRPr>
          </a:p>
          <a:p>
            <a:r>
              <a:rPr lang="en-US" sz="1600" dirty="0">
                <a:latin typeface="Consolas" panose="020B0609020204030204" pitchFamily="49" charset="0"/>
              </a:rPr>
              <a:t>root          56  0.0  0.0  22224  5980 ?        Ss   00:32   0:00 /lib/</a:t>
            </a:r>
            <a:r>
              <a:rPr lang="en-US" sz="1600" dirty="0" err="1">
                <a:latin typeface="Consolas" panose="020B0609020204030204" pitchFamily="49" charset="0"/>
              </a:rPr>
              <a:t>systemd</a:t>
            </a:r>
            <a:r>
              <a:rPr lang="en-US" sz="1600" dirty="0">
                <a:latin typeface="Consolas" panose="020B0609020204030204" pitchFamily="49" charset="0"/>
              </a:rPr>
              <a:t>/</a:t>
            </a:r>
            <a:r>
              <a:rPr lang="en-US" sz="1600" dirty="0" err="1">
                <a:latin typeface="Consolas" panose="020B0609020204030204" pitchFamily="49" charset="0"/>
              </a:rPr>
              <a:t>systemd-udevd</a:t>
            </a:r>
            <a:endParaRPr lang="en-US" sz="1600" dirty="0">
              <a:latin typeface="Consolas" panose="020B0609020204030204" pitchFamily="49" charset="0"/>
            </a:endParaRPr>
          </a:p>
        </p:txBody>
      </p:sp>
      <p:sp>
        <p:nvSpPr>
          <p:cNvPr id="3" name="Slide Number Placeholder 2">
            <a:extLst>
              <a:ext uri="{FF2B5EF4-FFF2-40B4-BE49-F238E27FC236}">
                <a16:creationId xmlns:a16="http://schemas.microsoft.com/office/drawing/2014/main" id="{CB791C5B-BC59-BA3A-38CF-AF48840BEA79}"/>
              </a:ext>
            </a:extLst>
          </p:cNvPr>
          <p:cNvSpPr>
            <a:spLocks noGrp="1"/>
          </p:cNvSpPr>
          <p:nvPr>
            <p:ph type="sldNum" sz="quarter" idx="12"/>
          </p:nvPr>
        </p:nvSpPr>
        <p:spPr/>
        <p:txBody>
          <a:bodyPr/>
          <a:lstStyle/>
          <a:p>
            <a:fld id="{EDCC16D8-4CDA-43DA-B801-57449FB8CE28}" type="slidenum">
              <a:rPr lang="en-US" smtClean="0"/>
              <a:t>10</a:t>
            </a:fld>
            <a:endParaRPr lang="en-US"/>
          </a:p>
        </p:txBody>
      </p:sp>
    </p:spTree>
    <p:extLst>
      <p:ext uri="{BB962C8B-B14F-4D97-AF65-F5344CB8AC3E}">
        <p14:creationId xmlns:p14="http://schemas.microsoft.com/office/powerpoint/2010/main" val="30224094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FCFBC-040D-7C38-0CCC-5A9B5790C66C}"/>
              </a:ext>
            </a:extLst>
          </p:cNvPr>
          <p:cNvSpPr>
            <a:spLocks noGrp="1"/>
          </p:cNvSpPr>
          <p:nvPr>
            <p:ph type="title"/>
          </p:nvPr>
        </p:nvSpPr>
        <p:spPr/>
        <p:txBody>
          <a:bodyPr/>
          <a:lstStyle/>
          <a:p>
            <a:r>
              <a:rPr lang="ru-RU" dirty="0"/>
              <a:t>Вывести список всех пользователей системы</a:t>
            </a:r>
            <a:endParaRPr lang="en-US" dirty="0"/>
          </a:p>
        </p:txBody>
      </p:sp>
      <p:sp>
        <p:nvSpPr>
          <p:cNvPr id="3" name="Content Placeholder 2">
            <a:extLst>
              <a:ext uri="{FF2B5EF4-FFF2-40B4-BE49-F238E27FC236}">
                <a16:creationId xmlns:a16="http://schemas.microsoft.com/office/drawing/2014/main" id="{79F096A1-010B-1494-F42C-9BA56947467C}"/>
              </a:ext>
            </a:extLst>
          </p:cNvPr>
          <p:cNvSpPr>
            <a:spLocks noGrp="1"/>
          </p:cNvSpPr>
          <p:nvPr>
            <p:ph idx="1"/>
          </p:nvPr>
        </p:nvSpPr>
        <p:spPr/>
        <p:txBody>
          <a:bodyPr>
            <a:normAutofit lnSpcReduction="10000"/>
          </a:bodyPr>
          <a:lstStyle/>
          <a:p>
            <a:r>
              <a:rPr lang="en-US" dirty="0"/>
              <a:t>$ cat /</a:t>
            </a:r>
            <a:r>
              <a:rPr lang="en-US" dirty="0" err="1"/>
              <a:t>etc</a:t>
            </a:r>
            <a:r>
              <a:rPr lang="en-US" dirty="0"/>
              <a:t>/passwd</a:t>
            </a:r>
          </a:p>
          <a:p>
            <a:pPr lvl="1"/>
            <a:r>
              <a:rPr lang="ru-RU" dirty="0"/>
              <a:t>Выводит список учеток с их </a:t>
            </a:r>
            <a:r>
              <a:rPr lang="en-US" dirty="0"/>
              <a:t>UID/GID</a:t>
            </a:r>
            <a:r>
              <a:rPr lang="ru-RU" dirty="0"/>
              <a:t> домашними каталогами в формате:</a:t>
            </a:r>
          </a:p>
          <a:p>
            <a:pPr lvl="2"/>
            <a:r>
              <a:rPr lang="ru-RU" dirty="0" err="1">
                <a:highlight>
                  <a:srgbClr val="FFFF00"/>
                </a:highlight>
              </a:rPr>
              <a:t>имя</a:t>
            </a:r>
            <a:r>
              <a:rPr lang="ru-RU" dirty="0" err="1"/>
              <a:t>:х:</a:t>
            </a:r>
            <a:r>
              <a:rPr lang="ru-RU" dirty="0" err="1">
                <a:highlight>
                  <a:srgbClr val="00FF00"/>
                </a:highlight>
              </a:rPr>
              <a:t>UID</a:t>
            </a:r>
            <a:r>
              <a:rPr lang="ru-RU" dirty="0" err="1"/>
              <a:t>:</a:t>
            </a:r>
            <a:r>
              <a:rPr lang="ru-RU" dirty="0" err="1">
                <a:highlight>
                  <a:srgbClr val="00FFFF"/>
                </a:highlight>
              </a:rPr>
              <a:t>GID</a:t>
            </a:r>
            <a:r>
              <a:rPr lang="ru-RU" dirty="0" err="1"/>
              <a:t>:</a:t>
            </a:r>
            <a:r>
              <a:rPr lang="ru-RU" dirty="0" err="1">
                <a:highlight>
                  <a:srgbClr val="FF00FF"/>
                </a:highlight>
              </a:rPr>
              <a:t>комментарий</a:t>
            </a:r>
            <a:r>
              <a:rPr lang="ru-RU" dirty="0" err="1"/>
              <a:t>:</a:t>
            </a:r>
            <a:r>
              <a:rPr lang="ru-RU" dirty="0" err="1">
                <a:highlight>
                  <a:srgbClr val="C0C0C0"/>
                </a:highlight>
              </a:rPr>
              <a:t>домашний_каталог</a:t>
            </a:r>
            <a:r>
              <a:rPr lang="ru-RU" dirty="0" err="1"/>
              <a:t>:</a:t>
            </a:r>
            <a:r>
              <a:rPr lang="ru-RU" dirty="0" err="1">
                <a:highlight>
                  <a:srgbClr val="FF0000"/>
                </a:highlight>
              </a:rPr>
              <a:t>оболочка</a:t>
            </a:r>
            <a:endParaRPr lang="ru-RU" dirty="0">
              <a:highlight>
                <a:srgbClr val="FF0000"/>
              </a:highlight>
            </a:endParaRPr>
          </a:p>
          <a:p>
            <a:pPr lvl="1"/>
            <a:r>
              <a:rPr lang="ru-RU" dirty="0"/>
              <a:t>Пример вывода:</a:t>
            </a:r>
          </a:p>
          <a:p>
            <a:pPr lvl="2"/>
            <a:r>
              <a:rPr lang="en-US" dirty="0">
                <a:highlight>
                  <a:srgbClr val="FFFF00"/>
                </a:highlight>
                <a:latin typeface="Consolas" panose="020B0609020204030204" pitchFamily="49" charset="0"/>
              </a:rPr>
              <a:t>root</a:t>
            </a:r>
            <a:r>
              <a:rPr lang="en-US" dirty="0">
                <a:latin typeface="Consolas" panose="020B0609020204030204" pitchFamily="49" charset="0"/>
              </a:rPr>
              <a:t>:x:</a:t>
            </a:r>
            <a:r>
              <a:rPr lang="en-US" dirty="0">
                <a:highlight>
                  <a:srgbClr val="00FF00"/>
                </a:highlight>
                <a:latin typeface="Consolas" panose="020B0609020204030204" pitchFamily="49" charset="0"/>
              </a:rPr>
              <a:t>0</a:t>
            </a:r>
            <a:r>
              <a:rPr lang="en-US" dirty="0">
                <a:latin typeface="Consolas" panose="020B0609020204030204" pitchFamily="49" charset="0"/>
              </a:rPr>
              <a:t>:</a:t>
            </a:r>
            <a:r>
              <a:rPr lang="en-US" dirty="0">
                <a:highlight>
                  <a:srgbClr val="00FFFF"/>
                </a:highlight>
                <a:latin typeface="Consolas" panose="020B0609020204030204" pitchFamily="49" charset="0"/>
              </a:rPr>
              <a:t>0</a:t>
            </a:r>
            <a:r>
              <a:rPr lang="en-US" dirty="0">
                <a:latin typeface="Consolas" panose="020B0609020204030204" pitchFamily="49" charset="0"/>
              </a:rPr>
              <a:t>:</a:t>
            </a:r>
            <a:r>
              <a:rPr lang="en-US" dirty="0">
                <a:highlight>
                  <a:srgbClr val="FF00FF"/>
                </a:highlight>
                <a:latin typeface="Consolas" panose="020B0609020204030204" pitchFamily="49" charset="0"/>
              </a:rPr>
              <a:t>root</a:t>
            </a:r>
            <a:r>
              <a:rPr lang="en-US" dirty="0">
                <a:latin typeface="Consolas" panose="020B0609020204030204" pitchFamily="49" charset="0"/>
              </a:rPr>
              <a:t>:</a:t>
            </a:r>
            <a:r>
              <a:rPr lang="en-US" dirty="0">
                <a:highlight>
                  <a:srgbClr val="C0C0C0"/>
                </a:highlight>
                <a:latin typeface="Consolas" panose="020B0609020204030204" pitchFamily="49" charset="0"/>
              </a:rPr>
              <a:t>/root</a:t>
            </a:r>
            <a:r>
              <a:rPr lang="en-US" dirty="0">
                <a:latin typeface="Consolas" panose="020B0609020204030204" pitchFamily="49" charset="0"/>
              </a:rPr>
              <a:t>:</a:t>
            </a:r>
            <a:r>
              <a:rPr lang="en-US" dirty="0">
                <a:highlight>
                  <a:srgbClr val="FF0000"/>
                </a:highlight>
                <a:latin typeface="Consolas" panose="020B0609020204030204" pitchFamily="49" charset="0"/>
              </a:rPr>
              <a:t>/bin/bash</a:t>
            </a:r>
          </a:p>
          <a:p>
            <a:pPr lvl="2"/>
            <a:r>
              <a:rPr lang="en-US" dirty="0">
                <a:highlight>
                  <a:srgbClr val="FFFF00"/>
                </a:highlight>
                <a:latin typeface="Consolas" panose="020B0609020204030204" pitchFamily="49" charset="0"/>
              </a:rPr>
              <a:t>daemon</a:t>
            </a:r>
            <a:r>
              <a:rPr lang="en-US" dirty="0">
                <a:latin typeface="Consolas" panose="020B0609020204030204" pitchFamily="49" charset="0"/>
              </a:rPr>
              <a:t>:x:</a:t>
            </a:r>
            <a:r>
              <a:rPr lang="en-US" dirty="0">
                <a:highlight>
                  <a:srgbClr val="00FF00"/>
                </a:highlight>
                <a:latin typeface="Consolas" panose="020B0609020204030204" pitchFamily="49" charset="0"/>
              </a:rPr>
              <a:t>1</a:t>
            </a:r>
            <a:r>
              <a:rPr lang="en-US" dirty="0">
                <a:latin typeface="Consolas" panose="020B0609020204030204" pitchFamily="49" charset="0"/>
              </a:rPr>
              <a:t>:</a:t>
            </a:r>
            <a:r>
              <a:rPr lang="en-US" dirty="0">
                <a:highlight>
                  <a:srgbClr val="00FFFF"/>
                </a:highlight>
                <a:latin typeface="Consolas" panose="020B0609020204030204" pitchFamily="49" charset="0"/>
              </a:rPr>
              <a:t>1</a:t>
            </a:r>
            <a:r>
              <a:rPr lang="en-US" dirty="0">
                <a:latin typeface="Consolas" panose="020B0609020204030204" pitchFamily="49" charset="0"/>
              </a:rPr>
              <a:t>:</a:t>
            </a:r>
            <a:r>
              <a:rPr lang="en-US" dirty="0">
                <a:highlight>
                  <a:srgbClr val="FF00FF"/>
                </a:highlight>
                <a:latin typeface="Consolas" panose="020B0609020204030204" pitchFamily="49" charset="0"/>
              </a:rPr>
              <a:t>daemon</a:t>
            </a:r>
            <a:r>
              <a:rPr lang="en-US" dirty="0">
                <a:latin typeface="Consolas" panose="020B0609020204030204" pitchFamily="49" charset="0"/>
              </a:rPr>
              <a:t>:</a:t>
            </a:r>
            <a:r>
              <a:rPr lang="en-US" dirty="0">
                <a:highlight>
                  <a:srgbClr val="C0C0C0"/>
                </a:highlight>
                <a:latin typeface="Consolas" panose="020B0609020204030204" pitchFamily="49" charset="0"/>
              </a:rPr>
              <a:t>/</a:t>
            </a:r>
            <a:r>
              <a:rPr lang="en-US" dirty="0" err="1">
                <a:highlight>
                  <a:srgbClr val="C0C0C0"/>
                </a:highlight>
                <a:latin typeface="Consolas" panose="020B0609020204030204" pitchFamily="49" charset="0"/>
              </a:rPr>
              <a:t>usr</a:t>
            </a:r>
            <a:r>
              <a:rPr lang="en-US" dirty="0">
                <a:highlight>
                  <a:srgbClr val="C0C0C0"/>
                </a:highlight>
                <a:latin typeface="Consolas" panose="020B0609020204030204" pitchFamily="49" charset="0"/>
              </a:rPr>
              <a:t>/</a:t>
            </a:r>
            <a:r>
              <a:rPr lang="en-US" dirty="0" err="1">
                <a:highlight>
                  <a:srgbClr val="C0C0C0"/>
                </a:highlight>
                <a:latin typeface="Consolas" panose="020B0609020204030204" pitchFamily="49" charset="0"/>
              </a:rPr>
              <a:t>sbin</a:t>
            </a:r>
            <a:r>
              <a:rPr lang="en-US" dirty="0">
                <a:latin typeface="Consolas" panose="020B0609020204030204" pitchFamily="49" charset="0"/>
              </a:rPr>
              <a:t>:</a:t>
            </a:r>
            <a:r>
              <a:rPr lang="en-US" dirty="0">
                <a:highlight>
                  <a:srgbClr val="FF0000"/>
                </a:highlight>
                <a:latin typeface="Consolas" panose="020B0609020204030204" pitchFamily="49" charset="0"/>
              </a:rPr>
              <a:t>/</a:t>
            </a:r>
            <a:r>
              <a:rPr lang="en-US" dirty="0" err="1">
                <a:highlight>
                  <a:srgbClr val="FF0000"/>
                </a:highlight>
                <a:latin typeface="Consolas" panose="020B0609020204030204" pitchFamily="49" charset="0"/>
              </a:rPr>
              <a:t>usr</a:t>
            </a:r>
            <a:r>
              <a:rPr lang="en-US" dirty="0">
                <a:highlight>
                  <a:srgbClr val="FF0000"/>
                </a:highlight>
                <a:latin typeface="Consolas" panose="020B0609020204030204" pitchFamily="49" charset="0"/>
              </a:rPr>
              <a:t>/</a:t>
            </a:r>
            <a:r>
              <a:rPr lang="en-US" dirty="0" err="1">
                <a:highlight>
                  <a:srgbClr val="FF0000"/>
                </a:highlight>
                <a:latin typeface="Consolas" panose="020B0609020204030204" pitchFamily="49" charset="0"/>
              </a:rPr>
              <a:t>sbin</a:t>
            </a:r>
            <a:r>
              <a:rPr lang="en-US" dirty="0">
                <a:highlight>
                  <a:srgbClr val="FF0000"/>
                </a:highlight>
                <a:latin typeface="Consolas" panose="020B0609020204030204" pitchFamily="49" charset="0"/>
              </a:rPr>
              <a:t>/</a:t>
            </a:r>
            <a:r>
              <a:rPr lang="en-US" dirty="0" err="1">
                <a:highlight>
                  <a:srgbClr val="FF0000"/>
                </a:highlight>
                <a:latin typeface="Consolas" panose="020B0609020204030204" pitchFamily="49" charset="0"/>
              </a:rPr>
              <a:t>nologin</a:t>
            </a:r>
            <a:endParaRPr lang="en-US" dirty="0">
              <a:highlight>
                <a:srgbClr val="FF0000"/>
              </a:highlight>
              <a:latin typeface="Consolas" panose="020B0609020204030204" pitchFamily="49" charset="0"/>
            </a:endParaRPr>
          </a:p>
          <a:p>
            <a:pPr lvl="2"/>
            <a:r>
              <a:rPr lang="en-US" dirty="0">
                <a:highlight>
                  <a:srgbClr val="FFFF00"/>
                </a:highlight>
                <a:latin typeface="Consolas" panose="020B0609020204030204" pitchFamily="49" charset="0"/>
              </a:rPr>
              <a:t>bin</a:t>
            </a:r>
            <a:r>
              <a:rPr lang="en-US" dirty="0">
                <a:latin typeface="Consolas" panose="020B0609020204030204" pitchFamily="49" charset="0"/>
              </a:rPr>
              <a:t>:x:</a:t>
            </a:r>
            <a:r>
              <a:rPr lang="en-US" dirty="0">
                <a:highlight>
                  <a:srgbClr val="00FF00"/>
                </a:highlight>
                <a:latin typeface="Consolas" panose="020B0609020204030204" pitchFamily="49" charset="0"/>
              </a:rPr>
              <a:t>2</a:t>
            </a:r>
            <a:r>
              <a:rPr lang="en-US" dirty="0">
                <a:latin typeface="Consolas" panose="020B0609020204030204" pitchFamily="49" charset="0"/>
              </a:rPr>
              <a:t>:</a:t>
            </a:r>
            <a:r>
              <a:rPr lang="en-US" dirty="0">
                <a:highlight>
                  <a:srgbClr val="00FFFF"/>
                </a:highlight>
                <a:latin typeface="Consolas" panose="020B0609020204030204" pitchFamily="49" charset="0"/>
              </a:rPr>
              <a:t>2</a:t>
            </a:r>
            <a:r>
              <a:rPr lang="en-US" dirty="0">
                <a:latin typeface="Consolas" panose="020B0609020204030204" pitchFamily="49" charset="0"/>
              </a:rPr>
              <a:t>:</a:t>
            </a:r>
            <a:r>
              <a:rPr lang="en-US" dirty="0">
                <a:highlight>
                  <a:srgbClr val="FF00FF"/>
                </a:highlight>
                <a:latin typeface="Consolas" panose="020B0609020204030204" pitchFamily="49" charset="0"/>
              </a:rPr>
              <a:t>bin</a:t>
            </a:r>
            <a:r>
              <a:rPr lang="en-US" dirty="0">
                <a:latin typeface="Consolas" panose="020B0609020204030204" pitchFamily="49" charset="0"/>
              </a:rPr>
              <a:t>:</a:t>
            </a:r>
            <a:r>
              <a:rPr lang="en-US" dirty="0">
                <a:highlight>
                  <a:srgbClr val="C0C0C0"/>
                </a:highlight>
                <a:latin typeface="Consolas" panose="020B0609020204030204" pitchFamily="49" charset="0"/>
              </a:rPr>
              <a:t>/bin</a:t>
            </a:r>
            <a:r>
              <a:rPr lang="en-US" dirty="0">
                <a:latin typeface="Consolas" panose="020B0609020204030204" pitchFamily="49" charset="0"/>
              </a:rPr>
              <a:t>:</a:t>
            </a:r>
            <a:r>
              <a:rPr lang="en-US" dirty="0">
                <a:highlight>
                  <a:srgbClr val="FF0000"/>
                </a:highlight>
                <a:latin typeface="Consolas" panose="020B0609020204030204" pitchFamily="49" charset="0"/>
              </a:rPr>
              <a:t>/</a:t>
            </a:r>
            <a:r>
              <a:rPr lang="en-US" dirty="0" err="1">
                <a:highlight>
                  <a:srgbClr val="FF0000"/>
                </a:highlight>
                <a:latin typeface="Consolas" panose="020B0609020204030204" pitchFamily="49" charset="0"/>
              </a:rPr>
              <a:t>usr</a:t>
            </a:r>
            <a:r>
              <a:rPr lang="en-US" dirty="0">
                <a:highlight>
                  <a:srgbClr val="FF0000"/>
                </a:highlight>
                <a:latin typeface="Consolas" panose="020B0609020204030204" pitchFamily="49" charset="0"/>
              </a:rPr>
              <a:t>/</a:t>
            </a:r>
            <a:r>
              <a:rPr lang="en-US" dirty="0" err="1">
                <a:highlight>
                  <a:srgbClr val="FF0000"/>
                </a:highlight>
                <a:latin typeface="Consolas" panose="020B0609020204030204" pitchFamily="49" charset="0"/>
              </a:rPr>
              <a:t>sbin</a:t>
            </a:r>
            <a:r>
              <a:rPr lang="en-US" dirty="0">
                <a:highlight>
                  <a:srgbClr val="FF0000"/>
                </a:highlight>
                <a:latin typeface="Consolas" panose="020B0609020204030204" pitchFamily="49" charset="0"/>
              </a:rPr>
              <a:t>/</a:t>
            </a:r>
            <a:r>
              <a:rPr lang="en-US" dirty="0" err="1">
                <a:highlight>
                  <a:srgbClr val="FF0000"/>
                </a:highlight>
                <a:latin typeface="Consolas" panose="020B0609020204030204" pitchFamily="49" charset="0"/>
              </a:rPr>
              <a:t>nologin</a:t>
            </a:r>
            <a:endParaRPr lang="en-US" dirty="0">
              <a:highlight>
                <a:srgbClr val="FF0000"/>
              </a:highlight>
              <a:latin typeface="Consolas" panose="020B0609020204030204" pitchFamily="49" charset="0"/>
            </a:endParaRPr>
          </a:p>
          <a:p>
            <a:pPr lvl="2"/>
            <a:r>
              <a:rPr lang="en-US" dirty="0">
                <a:highlight>
                  <a:srgbClr val="FFFF00"/>
                </a:highlight>
                <a:latin typeface="Consolas" panose="020B0609020204030204" pitchFamily="49" charset="0"/>
              </a:rPr>
              <a:t>sys</a:t>
            </a:r>
            <a:r>
              <a:rPr lang="en-US" dirty="0">
                <a:latin typeface="Consolas" panose="020B0609020204030204" pitchFamily="49" charset="0"/>
              </a:rPr>
              <a:t>:x:</a:t>
            </a:r>
            <a:r>
              <a:rPr lang="en-US" dirty="0">
                <a:highlight>
                  <a:srgbClr val="00FF00"/>
                </a:highlight>
                <a:latin typeface="Consolas" panose="020B0609020204030204" pitchFamily="49" charset="0"/>
              </a:rPr>
              <a:t>3</a:t>
            </a:r>
            <a:r>
              <a:rPr lang="en-US" dirty="0">
                <a:latin typeface="Consolas" panose="020B0609020204030204" pitchFamily="49" charset="0"/>
              </a:rPr>
              <a:t>:</a:t>
            </a:r>
            <a:r>
              <a:rPr lang="en-US" dirty="0">
                <a:highlight>
                  <a:srgbClr val="00FFFF"/>
                </a:highlight>
                <a:latin typeface="Consolas" panose="020B0609020204030204" pitchFamily="49" charset="0"/>
              </a:rPr>
              <a:t>3</a:t>
            </a:r>
            <a:r>
              <a:rPr lang="en-US" dirty="0">
                <a:latin typeface="Consolas" panose="020B0609020204030204" pitchFamily="49" charset="0"/>
              </a:rPr>
              <a:t>:</a:t>
            </a:r>
            <a:r>
              <a:rPr lang="en-US" dirty="0">
                <a:highlight>
                  <a:srgbClr val="FF00FF"/>
                </a:highlight>
                <a:latin typeface="Consolas" panose="020B0609020204030204" pitchFamily="49" charset="0"/>
              </a:rPr>
              <a:t>sys</a:t>
            </a:r>
            <a:r>
              <a:rPr lang="en-US" dirty="0">
                <a:latin typeface="Consolas" panose="020B0609020204030204" pitchFamily="49" charset="0"/>
              </a:rPr>
              <a:t>:</a:t>
            </a:r>
            <a:r>
              <a:rPr lang="en-US" dirty="0">
                <a:highlight>
                  <a:srgbClr val="C0C0C0"/>
                </a:highlight>
                <a:latin typeface="Consolas" panose="020B0609020204030204" pitchFamily="49" charset="0"/>
              </a:rPr>
              <a:t>/dev</a:t>
            </a:r>
            <a:r>
              <a:rPr lang="en-US" dirty="0">
                <a:latin typeface="Consolas" panose="020B0609020204030204" pitchFamily="49" charset="0"/>
              </a:rPr>
              <a:t>:</a:t>
            </a:r>
            <a:r>
              <a:rPr lang="en-US" dirty="0">
                <a:highlight>
                  <a:srgbClr val="FF0000"/>
                </a:highlight>
                <a:latin typeface="Consolas" panose="020B0609020204030204" pitchFamily="49" charset="0"/>
              </a:rPr>
              <a:t>/</a:t>
            </a:r>
            <a:r>
              <a:rPr lang="en-US" dirty="0" err="1">
                <a:highlight>
                  <a:srgbClr val="FF0000"/>
                </a:highlight>
                <a:latin typeface="Consolas" panose="020B0609020204030204" pitchFamily="49" charset="0"/>
              </a:rPr>
              <a:t>usr</a:t>
            </a:r>
            <a:r>
              <a:rPr lang="en-US" dirty="0">
                <a:highlight>
                  <a:srgbClr val="FF0000"/>
                </a:highlight>
                <a:latin typeface="Consolas" panose="020B0609020204030204" pitchFamily="49" charset="0"/>
              </a:rPr>
              <a:t>/</a:t>
            </a:r>
            <a:r>
              <a:rPr lang="en-US" dirty="0" err="1">
                <a:highlight>
                  <a:srgbClr val="FF0000"/>
                </a:highlight>
                <a:latin typeface="Consolas" panose="020B0609020204030204" pitchFamily="49" charset="0"/>
              </a:rPr>
              <a:t>sbin</a:t>
            </a:r>
            <a:r>
              <a:rPr lang="en-US" dirty="0">
                <a:highlight>
                  <a:srgbClr val="FF0000"/>
                </a:highlight>
                <a:latin typeface="Consolas" panose="020B0609020204030204" pitchFamily="49" charset="0"/>
              </a:rPr>
              <a:t>/</a:t>
            </a:r>
            <a:r>
              <a:rPr lang="en-US" dirty="0" err="1">
                <a:highlight>
                  <a:srgbClr val="FF0000"/>
                </a:highlight>
                <a:latin typeface="Consolas" panose="020B0609020204030204" pitchFamily="49" charset="0"/>
              </a:rPr>
              <a:t>nologin</a:t>
            </a:r>
            <a:endParaRPr lang="ru-RU" dirty="0">
              <a:highlight>
                <a:srgbClr val="FF0000"/>
              </a:highlight>
              <a:latin typeface="Consolas" panose="020B0609020204030204" pitchFamily="49" charset="0"/>
            </a:endParaRPr>
          </a:p>
          <a:p>
            <a:pPr lvl="2"/>
            <a:r>
              <a:rPr lang="en-US" dirty="0">
                <a:highlight>
                  <a:srgbClr val="FFFF00"/>
                </a:highlight>
                <a:latin typeface="Consolas" panose="020B0609020204030204" pitchFamily="49" charset="0"/>
              </a:rPr>
              <a:t>vivid</a:t>
            </a:r>
            <a:r>
              <a:rPr lang="en-US" dirty="0">
                <a:latin typeface="Consolas" panose="020B0609020204030204" pitchFamily="49" charset="0"/>
              </a:rPr>
              <a:t>:x:</a:t>
            </a:r>
            <a:r>
              <a:rPr lang="en-US" dirty="0">
                <a:highlight>
                  <a:srgbClr val="00FF00"/>
                </a:highlight>
                <a:latin typeface="Consolas" panose="020B0609020204030204" pitchFamily="49" charset="0"/>
              </a:rPr>
              <a:t>1000</a:t>
            </a:r>
            <a:r>
              <a:rPr lang="en-US" dirty="0">
                <a:latin typeface="Consolas" panose="020B0609020204030204" pitchFamily="49" charset="0"/>
              </a:rPr>
              <a:t>:</a:t>
            </a:r>
            <a:r>
              <a:rPr lang="en-US" dirty="0">
                <a:highlight>
                  <a:srgbClr val="00FFFF"/>
                </a:highlight>
                <a:latin typeface="Consolas" panose="020B0609020204030204" pitchFamily="49" charset="0"/>
              </a:rPr>
              <a:t>1000</a:t>
            </a:r>
            <a:r>
              <a:rPr lang="en-US" dirty="0">
                <a:latin typeface="Consolas" panose="020B0609020204030204" pitchFamily="49" charset="0"/>
              </a:rPr>
              <a:t>:</a:t>
            </a:r>
            <a:r>
              <a:rPr lang="en-US" dirty="0">
                <a:highlight>
                  <a:srgbClr val="FF00FF"/>
                </a:highlight>
                <a:latin typeface="Consolas" panose="020B0609020204030204" pitchFamily="49" charset="0"/>
              </a:rPr>
              <a:t>,,,</a:t>
            </a:r>
            <a:r>
              <a:rPr lang="en-US" dirty="0">
                <a:latin typeface="Consolas" panose="020B0609020204030204" pitchFamily="49" charset="0"/>
              </a:rPr>
              <a:t>:</a:t>
            </a:r>
            <a:r>
              <a:rPr lang="en-US" dirty="0">
                <a:highlight>
                  <a:srgbClr val="C0C0C0"/>
                </a:highlight>
                <a:latin typeface="Consolas" panose="020B0609020204030204" pitchFamily="49" charset="0"/>
              </a:rPr>
              <a:t>/home/vivid</a:t>
            </a:r>
            <a:r>
              <a:rPr lang="en-US" dirty="0">
                <a:latin typeface="Consolas" panose="020B0609020204030204" pitchFamily="49" charset="0"/>
              </a:rPr>
              <a:t>:</a:t>
            </a:r>
            <a:r>
              <a:rPr lang="en-US" dirty="0">
                <a:highlight>
                  <a:srgbClr val="FF0000"/>
                </a:highlight>
                <a:latin typeface="Consolas" panose="020B0609020204030204" pitchFamily="49" charset="0"/>
              </a:rPr>
              <a:t>/bin/bash</a:t>
            </a:r>
            <a:endParaRPr lang="ru-RU" dirty="0">
              <a:highlight>
                <a:srgbClr val="FF0000"/>
              </a:highlight>
              <a:latin typeface="Consolas" panose="020B0609020204030204" pitchFamily="49" charset="0"/>
            </a:endParaRPr>
          </a:p>
          <a:p>
            <a:r>
              <a:rPr lang="ru-RU" dirty="0"/>
              <a:t>Для ОС пользователь – не просто имя, с ним связаны </a:t>
            </a:r>
            <a:r>
              <a:rPr lang="en-US" dirty="0"/>
              <a:t>UID, GID, </a:t>
            </a:r>
            <a:r>
              <a:rPr lang="ru-RU" dirty="0"/>
              <a:t>оболочка, домашний каталог и другие параметры</a:t>
            </a:r>
            <a:endParaRPr lang="en-US" dirty="0"/>
          </a:p>
        </p:txBody>
      </p:sp>
      <p:sp>
        <p:nvSpPr>
          <p:cNvPr id="4" name="Slide Number Placeholder 3">
            <a:extLst>
              <a:ext uri="{FF2B5EF4-FFF2-40B4-BE49-F238E27FC236}">
                <a16:creationId xmlns:a16="http://schemas.microsoft.com/office/drawing/2014/main" id="{F1FDCBFA-9BAC-E442-313F-B0A6E7A5CEEF}"/>
              </a:ext>
            </a:extLst>
          </p:cNvPr>
          <p:cNvSpPr>
            <a:spLocks noGrp="1"/>
          </p:cNvSpPr>
          <p:nvPr>
            <p:ph type="sldNum" sz="quarter" idx="12"/>
          </p:nvPr>
        </p:nvSpPr>
        <p:spPr/>
        <p:txBody>
          <a:bodyPr/>
          <a:lstStyle/>
          <a:p>
            <a:fld id="{EDCC16D8-4CDA-43DA-B801-57449FB8CE28}" type="slidenum">
              <a:rPr lang="en-US" smtClean="0"/>
              <a:t>11</a:t>
            </a:fld>
            <a:endParaRPr lang="en-US"/>
          </a:p>
        </p:txBody>
      </p:sp>
    </p:spTree>
    <p:extLst>
      <p:ext uri="{BB962C8B-B14F-4D97-AF65-F5344CB8AC3E}">
        <p14:creationId xmlns:p14="http://schemas.microsoft.com/office/powerpoint/2010/main" val="25997431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F6DA8-B43D-742A-FB8A-B448F1DAAE2D}"/>
              </a:ext>
            </a:extLst>
          </p:cNvPr>
          <p:cNvSpPr>
            <a:spLocks noGrp="1"/>
          </p:cNvSpPr>
          <p:nvPr>
            <p:ph type="title"/>
          </p:nvPr>
        </p:nvSpPr>
        <p:spPr/>
        <p:txBody>
          <a:bodyPr/>
          <a:lstStyle/>
          <a:p>
            <a:r>
              <a:rPr lang="ru-RU" dirty="0"/>
              <a:t>Адресное пространство процесса</a:t>
            </a:r>
            <a:endParaRPr lang="en-US" dirty="0"/>
          </a:p>
        </p:txBody>
      </p:sp>
      <p:sp>
        <p:nvSpPr>
          <p:cNvPr id="3" name="Content Placeholder 2">
            <a:extLst>
              <a:ext uri="{FF2B5EF4-FFF2-40B4-BE49-F238E27FC236}">
                <a16:creationId xmlns:a16="http://schemas.microsoft.com/office/drawing/2014/main" id="{101373C3-F0E8-FB52-B604-72B522A881D6}"/>
              </a:ext>
            </a:extLst>
          </p:cNvPr>
          <p:cNvSpPr>
            <a:spLocks noGrp="1"/>
          </p:cNvSpPr>
          <p:nvPr>
            <p:ph idx="1"/>
          </p:nvPr>
        </p:nvSpPr>
        <p:spPr/>
        <p:txBody>
          <a:bodyPr/>
          <a:lstStyle/>
          <a:p>
            <a:r>
              <a:rPr lang="ru-RU" dirty="0"/>
              <a:t>Это диапазон адресов, используемый процессом для хранения кода, данных и стека</a:t>
            </a:r>
          </a:p>
          <a:p>
            <a:r>
              <a:rPr lang="ru-RU" dirty="0"/>
              <a:t>В простых ОС в памяти мог находиться только один процесс</a:t>
            </a:r>
          </a:p>
          <a:p>
            <a:r>
              <a:rPr lang="ru-RU" dirty="0"/>
              <a:t>Современные ОС могут содержать несколько процессов в памяти</a:t>
            </a:r>
          </a:p>
          <a:p>
            <a:pPr lvl="1"/>
            <a:r>
              <a:rPr lang="ru-RU" dirty="0"/>
              <a:t>ОС управляет защитой процессов друг от друга</a:t>
            </a:r>
          </a:p>
          <a:p>
            <a:pPr lvl="1"/>
            <a:r>
              <a:rPr lang="ru-RU" dirty="0"/>
              <a:t>Защита реализуется аппаратными средствами процессора</a:t>
            </a:r>
            <a:endParaRPr lang="en-US" dirty="0"/>
          </a:p>
        </p:txBody>
      </p:sp>
      <p:sp>
        <p:nvSpPr>
          <p:cNvPr id="4" name="Slide Number Placeholder 3">
            <a:extLst>
              <a:ext uri="{FF2B5EF4-FFF2-40B4-BE49-F238E27FC236}">
                <a16:creationId xmlns:a16="http://schemas.microsoft.com/office/drawing/2014/main" id="{AD52514E-7C92-7070-264E-1BB5BD73CC33}"/>
              </a:ext>
            </a:extLst>
          </p:cNvPr>
          <p:cNvSpPr>
            <a:spLocks noGrp="1"/>
          </p:cNvSpPr>
          <p:nvPr>
            <p:ph type="sldNum" sz="quarter" idx="12"/>
          </p:nvPr>
        </p:nvSpPr>
        <p:spPr/>
        <p:txBody>
          <a:bodyPr/>
          <a:lstStyle/>
          <a:p>
            <a:fld id="{EDCC16D8-4CDA-43DA-B801-57449FB8CE28}" type="slidenum">
              <a:rPr lang="en-US" smtClean="0"/>
              <a:t>12</a:t>
            </a:fld>
            <a:endParaRPr lang="en-US"/>
          </a:p>
        </p:txBody>
      </p:sp>
    </p:spTree>
    <p:extLst>
      <p:ext uri="{BB962C8B-B14F-4D97-AF65-F5344CB8AC3E}">
        <p14:creationId xmlns:p14="http://schemas.microsoft.com/office/powerpoint/2010/main" val="25231110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3760B-DA65-165B-6C30-A07E51E7EFE5}"/>
              </a:ext>
            </a:extLst>
          </p:cNvPr>
          <p:cNvSpPr>
            <a:spLocks noGrp="1"/>
          </p:cNvSpPr>
          <p:nvPr>
            <p:ph type="title"/>
          </p:nvPr>
        </p:nvSpPr>
        <p:spPr/>
        <p:txBody>
          <a:bodyPr/>
          <a:lstStyle/>
          <a:p>
            <a:r>
              <a:rPr lang="ru-RU" dirty="0"/>
              <a:t>Виртуальная память</a:t>
            </a:r>
            <a:endParaRPr lang="en-US" dirty="0"/>
          </a:p>
        </p:txBody>
      </p:sp>
      <p:sp>
        <p:nvSpPr>
          <p:cNvPr id="3" name="Content Placeholder 2">
            <a:extLst>
              <a:ext uri="{FF2B5EF4-FFF2-40B4-BE49-F238E27FC236}">
                <a16:creationId xmlns:a16="http://schemas.microsoft.com/office/drawing/2014/main" id="{085987F6-1F91-0C77-77FB-F8B1722ED168}"/>
              </a:ext>
            </a:extLst>
          </p:cNvPr>
          <p:cNvSpPr>
            <a:spLocks noGrp="1"/>
          </p:cNvSpPr>
          <p:nvPr>
            <p:ph idx="1"/>
          </p:nvPr>
        </p:nvSpPr>
        <p:spPr/>
        <p:txBody>
          <a:bodyPr>
            <a:normAutofit/>
          </a:bodyPr>
          <a:lstStyle/>
          <a:p>
            <a:r>
              <a:rPr lang="ru-RU" dirty="0"/>
              <a:t>У современных процессоров размер адресного пространства может превышать объем физической памяти</a:t>
            </a:r>
          </a:p>
          <a:p>
            <a:pPr lvl="1"/>
            <a:r>
              <a:rPr lang="ru-RU" dirty="0"/>
              <a:t>Как дать программе больше памяти, чем имеется</a:t>
            </a:r>
            <a:r>
              <a:rPr lang="en-US" dirty="0"/>
              <a:t>?</a:t>
            </a:r>
          </a:p>
          <a:p>
            <a:r>
              <a:rPr lang="ru-RU" dirty="0"/>
              <a:t>Решение – виртуальная память</a:t>
            </a:r>
          </a:p>
          <a:p>
            <a:pPr lvl="1"/>
            <a:r>
              <a:rPr lang="ru-RU" dirty="0"/>
              <a:t>Часть в ОЗУ, часть на</a:t>
            </a:r>
            <a:r>
              <a:rPr lang="en-US" dirty="0"/>
              <a:t> HDD/SSD</a:t>
            </a:r>
          </a:p>
          <a:p>
            <a:pPr lvl="1"/>
            <a:r>
              <a:rPr lang="ru-RU" dirty="0"/>
              <a:t>ОС динамически подгружает нужные фрагменты в ОЗУ и выгружает ненужные</a:t>
            </a:r>
          </a:p>
          <a:p>
            <a:r>
              <a:rPr lang="ru-RU" dirty="0"/>
              <a:t>Достоинства виртуальной памяти</a:t>
            </a:r>
          </a:p>
          <a:p>
            <a:pPr lvl="1"/>
            <a:r>
              <a:rPr lang="ru-RU" dirty="0"/>
              <a:t>Можно запускать много программ</a:t>
            </a:r>
          </a:p>
          <a:p>
            <a:pPr lvl="1"/>
            <a:r>
              <a:rPr lang="ru-RU" dirty="0"/>
              <a:t>Упрощается код прикладных программ</a:t>
            </a:r>
          </a:p>
        </p:txBody>
      </p:sp>
      <p:sp>
        <p:nvSpPr>
          <p:cNvPr id="4" name="Slide Number Placeholder 3">
            <a:extLst>
              <a:ext uri="{FF2B5EF4-FFF2-40B4-BE49-F238E27FC236}">
                <a16:creationId xmlns:a16="http://schemas.microsoft.com/office/drawing/2014/main" id="{7F651023-39EC-D571-3226-9DA67E683E05}"/>
              </a:ext>
            </a:extLst>
          </p:cNvPr>
          <p:cNvSpPr>
            <a:spLocks noGrp="1"/>
          </p:cNvSpPr>
          <p:nvPr>
            <p:ph type="sldNum" sz="quarter" idx="12"/>
          </p:nvPr>
        </p:nvSpPr>
        <p:spPr/>
        <p:txBody>
          <a:bodyPr/>
          <a:lstStyle/>
          <a:p>
            <a:fld id="{EDCC16D8-4CDA-43DA-B801-57449FB8CE28}" type="slidenum">
              <a:rPr lang="en-US" smtClean="0"/>
              <a:t>13</a:t>
            </a:fld>
            <a:endParaRPr lang="en-US"/>
          </a:p>
        </p:txBody>
      </p:sp>
    </p:spTree>
    <p:extLst>
      <p:ext uri="{BB962C8B-B14F-4D97-AF65-F5344CB8AC3E}">
        <p14:creationId xmlns:p14="http://schemas.microsoft.com/office/powerpoint/2010/main" val="22871224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70B8A-F774-EABC-6C2C-51E6FEC6CD25}"/>
              </a:ext>
            </a:extLst>
          </p:cNvPr>
          <p:cNvSpPr>
            <a:spLocks noGrp="1"/>
          </p:cNvSpPr>
          <p:nvPr>
            <p:ph type="title"/>
          </p:nvPr>
        </p:nvSpPr>
        <p:spPr/>
        <p:txBody>
          <a:bodyPr/>
          <a:lstStyle/>
          <a:p>
            <a:r>
              <a:rPr lang="ru-RU" dirty="0"/>
              <a:t>Просмотр памяти в </a:t>
            </a:r>
            <a:r>
              <a:rPr lang="en-US" dirty="0"/>
              <a:t>Linux</a:t>
            </a:r>
          </a:p>
        </p:txBody>
      </p:sp>
      <p:sp>
        <p:nvSpPr>
          <p:cNvPr id="3" name="Content Placeholder 2">
            <a:extLst>
              <a:ext uri="{FF2B5EF4-FFF2-40B4-BE49-F238E27FC236}">
                <a16:creationId xmlns:a16="http://schemas.microsoft.com/office/drawing/2014/main" id="{C6B94A5C-80B3-0056-C4A9-92B84D741681}"/>
              </a:ext>
            </a:extLst>
          </p:cNvPr>
          <p:cNvSpPr>
            <a:spLocks noGrp="1"/>
          </p:cNvSpPr>
          <p:nvPr>
            <p:ph idx="1"/>
          </p:nvPr>
        </p:nvSpPr>
        <p:spPr/>
        <p:txBody>
          <a:bodyPr/>
          <a:lstStyle/>
          <a:p>
            <a:r>
              <a:rPr lang="ru-RU" dirty="0" err="1"/>
              <a:t>free</a:t>
            </a:r>
            <a:r>
              <a:rPr lang="ru-RU" dirty="0"/>
              <a:t> -h — объём RAM и </a:t>
            </a:r>
            <a:r>
              <a:rPr lang="ru-RU" dirty="0" err="1"/>
              <a:t>swap</a:t>
            </a:r>
            <a:endParaRPr lang="en-US" dirty="0"/>
          </a:p>
          <a:p>
            <a:r>
              <a:rPr lang="ru-RU" dirty="0" err="1"/>
              <a:t>vmstat</a:t>
            </a:r>
            <a:r>
              <a:rPr lang="ru-RU" dirty="0"/>
              <a:t> — статистика работы виртуальной памяти</a:t>
            </a:r>
            <a:endParaRPr lang="en-US" dirty="0"/>
          </a:p>
          <a:p>
            <a:r>
              <a:rPr lang="ru-RU" dirty="0" err="1"/>
              <a:t>top</a:t>
            </a:r>
            <a:r>
              <a:rPr lang="ru-RU" dirty="0"/>
              <a:t> / </a:t>
            </a:r>
            <a:r>
              <a:rPr lang="ru-RU" dirty="0" err="1"/>
              <a:t>htop</a:t>
            </a:r>
            <a:r>
              <a:rPr lang="ru-RU" dirty="0"/>
              <a:t> — использование памяти процессами в реальном времен</a:t>
            </a:r>
            <a:endParaRPr lang="en-US" dirty="0"/>
          </a:p>
        </p:txBody>
      </p:sp>
      <p:sp>
        <p:nvSpPr>
          <p:cNvPr id="5" name="TextBox 4">
            <a:extLst>
              <a:ext uri="{FF2B5EF4-FFF2-40B4-BE49-F238E27FC236}">
                <a16:creationId xmlns:a16="http://schemas.microsoft.com/office/drawing/2014/main" id="{7E74112E-7618-4DAA-5665-7E35A51C5C36}"/>
              </a:ext>
            </a:extLst>
          </p:cNvPr>
          <p:cNvSpPr txBox="1"/>
          <p:nvPr/>
        </p:nvSpPr>
        <p:spPr>
          <a:xfrm>
            <a:off x="476250" y="4248150"/>
            <a:ext cx="11372850" cy="2308324"/>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US" dirty="0" err="1">
                <a:solidFill>
                  <a:schemeClr val="accent3">
                    <a:lumMod val="40000"/>
                    <a:lumOff val="60000"/>
                  </a:schemeClr>
                </a:solidFill>
                <a:latin typeface="Consolas" panose="020B0609020204030204" pitchFamily="49" charset="0"/>
              </a:rPr>
              <a:t>vivid@MSI</a:t>
            </a:r>
            <a:r>
              <a:rPr lang="en-US" dirty="0">
                <a:solidFill>
                  <a:schemeClr val="accent3">
                    <a:lumMod val="40000"/>
                    <a:lumOff val="60000"/>
                  </a:schemeClr>
                </a:solidFill>
                <a:latin typeface="Consolas" panose="020B0609020204030204" pitchFamily="49" charset="0"/>
              </a:rPr>
              <a:t>:~</a:t>
            </a:r>
            <a:r>
              <a:rPr lang="en-US" dirty="0">
                <a:latin typeface="Consolas" panose="020B0609020204030204" pitchFamily="49" charset="0"/>
              </a:rPr>
              <a:t>$ free -h</a:t>
            </a:r>
          </a:p>
          <a:p>
            <a:r>
              <a:rPr lang="en-US" dirty="0">
                <a:latin typeface="Consolas" panose="020B0609020204030204" pitchFamily="49" charset="0"/>
              </a:rPr>
              <a:t>               total        used        free      shared  buff/cache   available</a:t>
            </a:r>
          </a:p>
          <a:p>
            <a:r>
              <a:rPr lang="en-US" dirty="0">
                <a:latin typeface="Consolas" panose="020B0609020204030204" pitchFamily="49" charset="0"/>
              </a:rPr>
              <a:t>Mem:           7.6Gi       601Mi       6.8Gi       3.0Mi       209Mi       6.8Gi</a:t>
            </a:r>
          </a:p>
          <a:p>
            <a:r>
              <a:rPr lang="en-US" dirty="0">
                <a:latin typeface="Consolas" panose="020B0609020204030204" pitchFamily="49" charset="0"/>
              </a:rPr>
              <a:t>Swap:          2.0Gi          0B       2.0Gi</a:t>
            </a:r>
          </a:p>
          <a:p>
            <a:r>
              <a:rPr lang="en-US" dirty="0" err="1">
                <a:solidFill>
                  <a:schemeClr val="accent3">
                    <a:lumMod val="40000"/>
                    <a:lumOff val="60000"/>
                  </a:schemeClr>
                </a:solidFill>
                <a:latin typeface="Consolas" panose="020B0609020204030204" pitchFamily="49" charset="0"/>
              </a:rPr>
              <a:t>vivid@MSI</a:t>
            </a:r>
            <a:r>
              <a:rPr lang="en-US" dirty="0">
                <a:solidFill>
                  <a:schemeClr val="accent3">
                    <a:lumMod val="40000"/>
                    <a:lumOff val="60000"/>
                  </a:schemeClr>
                </a:solidFill>
                <a:latin typeface="Consolas" panose="020B0609020204030204" pitchFamily="49" charset="0"/>
              </a:rPr>
              <a:t>:~</a:t>
            </a:r>
            <a:r>
              <a:rPr lang="en-US" dirty="0">
                <a:latin typeface="Consolas" panose="020B0609020204030204" pitchFamily="49" charset="0"/>
              </a:rPr>
              <a:t>$ </a:t>
            </a:r>
            <a:r>
              <a:rPr lang="en-US" dirty="0" err="1">
                <a:latin typeface="Consolas" panose="020B0609020204030204" pitchFamily="49" charset="0"/>
              </a:rPr>
              <a:t>vmstat</a:t>
            </a:r>
            <a:endParaRPr lang="en-US" dirty="0">
              <a:latin typeface="Consolas" panose="020B0609020204030204" pitchFamily="49" charset="0"/>
            </a:endParaRPr>
          </a:p>
          <a:p>
            <a:r>
              <a:rPr lang="en-US" dirty="0">
                <a:latin typeface="Consolas" panose="020B0609020204030204" pitchFamily="49" charset="0"/>
              </a:rPr>
              <a:t>procs -----------memory---------- ---swap-- -----io---- -system-- ------</a:t>
            </a:r>
            <a:r>
              <a:rPr lang="en-US" dirty="0" err="1">
                <a:latin typeface="Consolas" panose="020B0609020204030204" pitchFamily="49" charset="0"/>
              </a:rPr>
              <a:t>cpu</a:t>
            </a:r>
            <a:r>
              <a:rPr lang="en-US" dirty="0">
                <a:latin typeface="Consolas" panose="020B0609020204030204" pitchFamily="49" charset="0"/>
              </a:rPr>
              <a:t>-----</a:t>
            </a:r>
          </a:p>
          <a:p>
            <a:r>
              <a:rPr lang="en-US" dirty="0">
                <a:latin typeface="Consolas" panose="020B0609020204030204" pitchFamily="49" charset="0"/>
              </a:rPr>
              <a:t> r  b   </a:t>
            </a:r>
            <a:r>
              <a:rPr lang="en-US" dirty="0" err="1">
                <a:latin typeface="Consolas" panose="020B0609020204030204" pitchFamily="49" charset="0"/>
              </a:rPr>
              <a:t>swpd</a:t>
            </a:r>
            <a:r>
              <a:rPr lang="en-US" dirty="0">
                <a:latin typeface="Consolas" panose="020B0609020204030204" pitchFamily="49" charset="0"/>
              </a:rPr>
              <a:t>   free   buff  cache   </a:t>
            </a:r>
            <a:r>
              <a:rPr lang="en-US" dirty="0" err="1">
                <a:latin typeface="Consolas" panose="020B0609020204030204" pitchFamily="49" charset="0"/>
              </a:rPr>
              <a:t>si</a:t>
            </a:r>
            <a:r>
              <a:rPr lang="en-US" dirty="0">
                <a:latin typeface="Consolas" panose="020B0609020204030204" pitchFamily="49" charset="0"/>
              </a:rPr>
              <a:t>   so    bi    </a:t>
            </a:r>
            <a:r>
              <a:rPr lang="en-US" dirty="0" err="1">
                <a:latin typeface="Consolas" panose="020B0609020204030204" pitchFamily="49" charset="0"/>
              </a:rPr>
              <a:t>bo</a:t>
            </a:r>
            <a:r>
              <a:rPr lang="en-US" dirty="0">
                <a:latin typeface="Consolas" panose="020B0609020204030204" pitchFamily="49" charset="0"/>
              </a:rPr>
              <a:t>   in   cs us </a:t>
            </a:r>
            <a:r>
              <a:rPr lang="en-US" dirty="0" err="1">
                <a:latin typeface="Consolas" panose="020B0609020204030204" pitchFamily="49" charset="0"/>
              </a:rPr>
              <a:t>sy</a:t>
            </a:r>
            <a:r>
              <a:rPr lang="en-US" dirty="0">
                <a:latin typeface="Consolas" panose="020B0609020204030204" pitchFamily="49" charset="0"/>
              </a:rPr>
              <a:t> id </a:t>
            </a:r>
            <a:r>
              <a:rPr lang="en-US" dirty="0" err="1">
                <a:latin typeface="Consolas" panose="020B0609020204030204" pitchFamily="49" charset="0"/>
              </a:rPr>
              <a:t>wa</a:t>
            </a:r>
            <a:r>
              <a:rPr lang="en-US" dirty="0">
                <a:latin typeface="Consolas" panose="020B0609020204030204" pitchFamily="49" charset="0"/>
              </a:rPr>
              <a:t> </a:t>
            </a:r>
            <a:r>
              <a:rPr lang="en-US" dirty="0" err="1">
                <a:latin typeface="Consolas" panose="020B0609020204030204" pitchFamily="49" charset="0"/>
              </a:rPr>
              <a:t>st</a:t>
            </a:r>
            <a:endParaRPr lang="en-US" dirty="0">
              <a:latin typeface="Consolas" panose="020B0609020204030204" pitchFamily="49" charset="0"/>
            </a:endParaRPr>
          </a:p>
          <a:p>
            <a:r>
              <a:rPr lang="en-US" dirty="0">
                <a:latin typeface="Consolas" panose="020B0609020204030204" pitchFamily="49" charset="0"/>
              </a:rPr>
              <a:t> 1  0      0 7152368   4156 210564    0    0    14     8    7   19  0  0 100  0  0</a:t>
            </a:r>
          </a:p>
        </p:txBody>
      </p:sp>
      <p:sp>
        <p:nvSpPr>
          <p:cNvPr id="4" name="Slide Number Placeholder 3">
            <a:extLst>
              <a:ext uri="{FF2B5EF4-FFF2-40B4-BE49-F238E27FC236}">
                <a16:creationId xmlns:a16="http://schemas.microsoft.com/office/drawing/2014/main" id="{AA66A5FB-953C-57E0-8059-484A954AE202}"/>
              </a:ext>
            </a:extLst>
          </p:cNvPr>
          <p:cNvSpPr>
            <a:spLocks noGrp="1"/>
          </p:cNvSpPr>
          <p:nvPr>
            <p:ph type="sldNum" sz="quarter" idx="12"/>
          </p:nvPr>
        </p:nvSpPr>
        <p:spPr/>
        <p:txBody>
          <a:bodyPr/>
          <a:lstStyle/>
          <a:p>
            <a:fld id="{EDCC16D8-4CDA-43DA-B801-57449FB8CE28}" type="slidenum">
              <a:rPr lang="en-US" smtClean="0"/>
              <a:t>14</a:t>
            </a:fld>
            <a:endParaRPr lang="en-US"/>
          </a:p>
        </p:txBody>
      </p:sp>
    </p:spTree>
    <p:extLst>
      <p:ext uri="{BB962C8B-B14F-4D97-AF65-F5344CB8AC3E}">
        <p14:creationId xmlns:p14="http://schemas.microsoft.com/office/powerpoint/2010/main" val="14744235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18818E7-68F0-85E9-82E1-850C50647234}"/>
              </a:ext>
            </a:extLst>
          </p:cNvPr>
          <p:cNvSpPr>
            <a:spLocks noGrp="1"/>
          </p:cNvSpPr>
          <p:nvPr>
            <p:ph type="title"/>
          </p:nvPr>
        </p:nvSpPr>
        <p:spPr/>
        <p:txBody>
          <a:bodyPr/>
          <a:lstStyle/>
          <a:p>
            <a:r>
              <a:rPr lang="ru-RU" dirty="0"/>
              <a:t>Вывод команды </a:t>
            </a:r>
            <a:r>
              <a:rPr lang="en-US" dirty="0"/>
              <a:t>top</a:t>
            </a:r>
          </a:p>
        </p:txBody>
      </p:sp>
      <p:sp>
        <p:nvSpPr>
          <p:cNvPr id="6" name="TextBox 5">
            <a:extLst>
              <a:ext uri="{FF2B5EF4-FFF2-40B4-BE49-F238E27FC236}">
                <a16:creationId xmlns:a16="http://schemas.microsoft.com/office/drawing/2014/main" id="{93BC8C33-8F72-4859-D971-29317CB2381F}"/>
              </a:ext>
            </a:extLst>
          </p:cNvPr>
          <p:cNvSpPr txBox="1"/>
          <p:nvPr/>
        </p:nvSpPr>
        <p:spPr>
          <a:xfrm>
            <a:off x="838200" y="1854557"/>
            <a:ext cx="11353800" cy="4770537"/>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US" sz="1600" dirty="0">
                <a:latin typeface="Consolas" panose="020B0609020204030204" pitchFamily="49" charset="0"/>
              </a:rPr>
              <a:t>top - 01:33:03 up  1:00,  1 user,  load average: 0.06, 0.01, 0.00</a:t>
            </a:r>
          </a:p>
          <a:p>
            <a:r>
              <a:rPr lang="en-US" sz="1600" dirty="0">
                <a:latin typeface="Consolas" panose="020B0609020204030204" pitchFamily="49" charset="0"/>
              </a:rPr>
              <a:t>Tasks:  44 total,   1 running,  43 sleeping,   0 stopped,   0 zombie</a:t>
            </a:r>
          </a:p>
          <a:p>
            <a:r>
              <a:rPr lang="en-US" sz="1600" dirty="0">
                <a:latin typeface="Consolas" panose="020B0609020204030204" pitchFamily="49" charset="0"/>
              </a:rPr>
              <a:t>%</a:t>
            </a:r>
            <a:r>
              <a:rPr lang="en-US" sz="1600" dirty="0" err="1">
                <a:latin typeface="Consolas" panose="020B0609020204030204" pitchFamily="49" charset="0"/>
              </a:rPr>
              <a:t>Cpu</a:t>
            </a:r>
            <a:r>
              <a:rPr lang="en-US" sz="1600" dirty="0">
                <a:latin typeface="Consolas" panose="020B0609020204030204" pitchFamily="49" charset="0"/>
              </a:rPr>
              <a:t>(s):  0.0 us,  0.0 </a:t>
            </a:r>
            <a:r>
              <a:rPr lang="en-US" sz="1600" dirty="0" err="1">
                <a:latin typeface="Consolas" panose="020B0609020204030204" pitchFamily="49" charset="0"/>
              </a:rPr>
              <a:t>sy</a:t>
            </a:r>
            <a:r>
              <a:rPr lang="en-US" sz="1600" dirty="0">
                <a:latin typeface="Consolas" panose="020B0609020204030204" pitchFamily="49" charset="0"/>
              </a:rPr>
              <a:t>,  0.0 </a:t>
            </a:r>
            <a:r>
              <a:rPr lang="en-US" sz="1600" dirty="0" err="1">
                <a:latin typeface="Consolas" panose="020B0609020204030204" pitchFamily="49" charset="0"/>
              </a:rPr>
              <a:t>ni</a:t>
            </a:r>
            <a:r>
              <a:rPr lang="en-US" sz="1600" dirty="0">
                <a:latin typeface="Consolas" panose="020B0609020204030204" pitchFamily="49" charset="0"/>
              </a:rPr>
              <a:t>, 99.9 id,  0.0 </a:t>
            </a:r>
            <a:r>
              <a:rPr lang="en-US" sz="1600" dirty="0" err="1">
                <a:latin typeface="Consolas" panose="020B0609020204030204" pitchFamily="49" charset="0"/>
              </a:rPr>
              <a:t>wa</a:t>
            </a:r>
            <a:r>
              <a:rPr lang="en-US" sz="1600" dirty="0">
                <a:latin typeface="Consolas" panose="020B0609020204030204" pitchFamily="49" charset="0"/>
              </a:rPr>
              <a:t>,  0.0 hi,  0.0 </a:t>
            </a:r>
            <a:r>
              <a:rPr lang="en-US" sz="1600" dirty="0" err="1">
                <a:latin typeface="Consolas" panose="020B0609020204030204" pitchFamily="49" charset="0"/>
              </a:rPr>
              <a:t>si</a:t>
            </a:r>
            <a:r>
              <a:rPr lang="en-US" sz="1600" dirty="0">
                <a:latin typeface="Consolas" panose="020B0609020204030204" pitchFamily="49" charset="0"/>
              </a:rPr>
              <a:t>,  0.0 </a:t>
            </a:r>
            <a:r>
              <a:rPr lang="en-US" sz="1600" dirty="0" err="1">
                <a:latin typeface="Consolas" panose="020B0609020204030204" pitchFamily="49" charset="0"/>
              </a:rPr>
              <a:t>st</a:t>
            </a:r>
            <a:endParaRPr lang="en-US" sz="1600" dirty="0">
              <a:latin typeface="Consolas" panose="020B0609020204030204" pitchFamily="49" charset="0"/>
            </a:endParaRPr>
          </a:p>
          <a:p>
            <a:r>
              <a:rPr lang="en-US" sz="1600" dirty="0">
                <a:latin typeface="Consolas" panose="020B0609020204030204" pitchFamily="49" charset="0"/>
              </a:rPr>
              <a:t>MiB Mem :   7796.3 total,   6984.1 free,    602.3 used,    209.9 buff/cache</a:t>
            </a:r>
          </a:p>
          <a:p>
            <a:r>
              <a:rPr lang="en-US" sz="1600" dirty="0">
                <a:latin typeface="Consolas" panose="020B0609020204030204" pitchFamily="49" charset="0"/>
              </a:rPr>
              <a:t>MiB Swap:   2048.0 total,   2048.0 free,      0.0 used.   6959.2 avail Mem</a:t>
            </a:r>
          </a:p>
          <a:p>
            <a:endParaRPr lang="en-US" sz="1600" dirty="0">
              <a:latin typeface="Consolas" panose="020B0609020204030204" pitchFamily="49" charset="0"/>
            </a:endParaRPr>
          </a:p>
          <a:p>
            <a:r>
              <a:rPr lang="en-US" sz="1600" dirty="0">
                <a:highlight>
                  <a:srgbClr val="008000"/>
                </a:highlight>
                <a:latin typeface="Consolas" panose="020B0609020204030204" pitchFamily="49" charset="0"/>
              </a:rPr>
              <a:t>    PID USER      PR  NI    VIRT    RES    SHR S  %CPU  %MEM     TIME+ COMMAND</a:t>
            </a:r>
          </a:p>
          <a:p>
            <a:r>
              <a:rPr lang="en-US" sz="1600" dirty="0">
                <a:latin typeface="Consolas" panose="020B0609020204030204" pitchFamily="49" charset="0"/>
              </a:rPr>
              <a:t>      1 root      20   0  167176  12680   8300 S   0.7   0.2   0:17.65 </a:t>
            </a:r>
            <a:r>
              <a:rPr lang="en-US" sz="1600" dirty="0" err="1">
                <a:latin typeface="Consolas" panose="020B0609020204030204" pitchFamily="49" charset="0"/>
              </a:rPr>
              <a:t>systemd</a:t>
            </a:r>
            <a:endParaRPr lang="en-US" sz="1600" dirty="0">
              <a:latin typeface="Consolas" panose="020B0609020204030204" pitchFamily="49" charset="0"/>
            </a:endParaRPr>
          </a:p>
          <a:p>
            <a:r>
              <a:rPr lang="en-US" sz="1600" dirty="0">
                <a:latin typeface="Consolas" panose="020B0609020204030204" pitchFamily="49" charset="0"/>
              </a:rPr>
              <a:t>  15832 vivid     20   0    7796   3740   3140 R   0.3   0.0   0:00.10 top</a:t>
            </a:r>
          </a:p>
          <a:p>
            <a:r>
              <a:rPr lang="en-US" sz="1600" dirty="0">
                <a:latin typeface="Consolas" panose="020B0609020204030204" pitchFamily="49" charset="0"/>
              </a:rPr>
              <a:t>      2 root      20   0    2616   1440   1320 S   0.0   0.0   0:00.00 </a:t>
            </a:r>
            <a:r>
              <a:rPr lang="en-US" sz="1600" dirty="0" err="1">
                <a:latin typeface="Consolas" panose="020B0609020204030204" pitchFamily="49" charset="0"/>
              </a:rPr>
              <a:t>init-systemd</a:t>
            </a:r>
            <a:r>
              <a:rPr lang="en-US" sz="1600" dirty="0">
                <a:latin typeface="Consolas" panose="020B0609020204030204" pitchFamily="49" charset="0"/>
              </a:rPr>
              <a:t>(Ub</a:t>
            </a:r>
          </a:p>
          <a:p>
            <a:r>
              <a:rPr lang="en-US" sz="1600" dirty="0">
                <a:latin typeface="Consolas" panose="020B0609020204030204" pitchFamily="49" charset="0"/>
              </a:rPr>
              <a:t>      7 root      20   0    2616      4      0 S   0.0   0.0   0:00.00 </a:t>
            </a:r>
            <a:r>
              <a:rPr lang="en-US" sz="1600" dirty="0" err="1">
                <a:latin typeface="Consolas" panose="020B0609020204030204" pitchFamily="49" charset="0"/>
              </a:rPr>
              <a:t>init</a:t>
            </a:r>
            <a:endParaRPr lang="en-US" sz="1600" dirty="0">
              <a:latin typeface="Consolas" panose="020B0609020204030204" pitchFamily="49" charset="0"/>
            </a:endParaRPr>
          </a:p>
          <a:p>
            <a:r>
              <a:rPr lang="en-US" sz="1600" dirty="0">
                <a:latin typeface="Consolas" panose="020B0609020204030204" pitchFamily="49" charset="0"/>
              </a:rPr>
              <a:t>     36 root      19  -1   64132  14784  13744 S   0.0   0.2   0:00.13 </a:t>
            </a:r>
            <a:r>
              <a:rPr lang="en-US" sz="1600" dirty="0" err="1">
                <a:latin typeface="Consolas" panose="020B0609020204030204" pitchFamily="49" charset="0"/>
              </a:rPr>
              <a:t>systemd</a:t>
            </a:r>
            <a:r>
              <a:rPr lang="en-US" sz="1600" dirty="0">
                <a:latin typeface="Consolas" panose="020B0609020204030204" pitchFamily="49" charset="0"/>
              </a:rPr>
              <a:t>-journal</a:t>
            </a:r>
          </a:p>
          <a:p>
            <a:r>
              <a:rPr lang="en-US" sz="1600" dirty="0">
                <a:latin typeface="Consolas" panose="020B0609020204030204" pitchFamily="49" charset="0"/>
              </a:rPr>
              <a:t>     56 root      20   0   22224   5980   4436 S   0.0   0.1   0:00.10 </a:t>
            </a:r>
            <a:r>
              <a:rPr lang="en-US" sz="1600" dirty="0" err="1">
                <a:latin typeface="Consolas" panose="020B0609020204030204" pitchFamily="49" charset="0"/>
              </a:rPr>
              <a:t>systemd-udevd</a:t>
            </a:r>
            <a:endParaRPr lang="en-US" sz="1600" dirty="0">
              <a:latin typeface="Consolas" panose="020B0609020204030204" pitchFamily="49" charset="0"/>
            </a:endParaRPr>
          </a:p>
          <a:p>
            <a:r>
              <a:rPr lang="en-US" sz="1600" dirty="0">
                <a:latin typeface="Consolas" panose="020B0609020204030204" pitchFamily="49" charset="0"/>
              </a:rPr>
              <a:t>     67 root      20   0  152992   2252     56 S   0.0   0.0   0:00.00 </a:t>
            </a:r>
            <a:r>
              <a:rPr lang="en-US" sz="1600" dirty="0" err="1">
                <a:latin typeface="Consolas" panose="020B0609020204030204" pitchFamily="49" charset="0"/>
              </a:rPr>
              <a:t>snapfuse</a:t>
            </a:r>
            <a:endParaRPr lang="en-US" sz="1600" dirty="0">
              <a:latin typeface="Consolas" panose="020B0609020204030204" pitchFamily="49" charset="0"/>
            </a:endParaRPr>
          </a:p>
          <a:p>
            <a:r>
              <a:rPr lang="en-US" sz="1600" dirty="0">
                <a:latin typeface="Consolas" panose="020B0609020204030204" pitchFamily="49" charset="0"/>
              </a:rPr>
              <a:t>     69 root      20   0  153124   2568    272 S   0.0   0.0   0:00.00 </a:t>
            </a:r>
            <a:r>
              <a:rPr lang="en-US" sz="1600" dirty="0" err="1">
                <a:latin typeface="Consolas" panose="020B0609020204030204" pitchFamily="49" charset="0"/>
              </a:rPr>
              <a:t>snapfuse</a:t>
            </a:r>
            <a:endParaRPr lang="en-US" sz="1600" dirty="0">
              <a:latin typeface="Consolas" panose="020B0609020204030204" pitchFamily="49" charset="0"/>
            </a:endParaRPr>
          </a:p>
          <a:p>
            <a:r>
              <a:rPr lang="en-US" sz="1600" dirty="0">
                <a:latin typeface="Consolas" panose="020B0609020204030204" pitchFamily="49" charset="0"/>
              </a:rPr>
              <a:t>     81 root      20   0  152992   2232     32 S   0.0   0.0   0:00.00 </a:t>
            </a:r>
            <a:r>
              <a:rPr lang="en-US" sz="1600" dirty="0" err="1">
                <a:latin typeface="Consolas" panose="020B0609020204030204" pitchFamily="49" charset="0"/>
              </a:rPr>
              <a:t>snapfuse</a:t>
            </a:r>
            <a:endParaRPr lang="en-US" sz="1600" dirty="0">
              <a:latin typeface="Consolas" panose="020B0609020204030204" pitchFamily="49" charset="0"/>
            </a:endParaRPr>
          </a:p>
          <a:p>
            <a:r>
              <a:rPr lang="en-US" sz="1600" dirty="0">
                <a:latin typeface="Consolas" panose="020B0609020204030204" pitchFamily="49" charset="0"/>
              </a:rPr>
              <a:t>     88 root      20   0  152992    168      8 S   0.0   0.0   0:00.00 </a:t>
            </a:r>
            <a:r>
              <a:rPr lang="en-US" sz="1600" dirty="0" err="1">
                <a:latin typeface="Consolas" panose="020B0609020204030204" pitchFamily="49" charset="0"/>
              </a:rPr>
              <a:t>snapfuse</a:t>
            </a:r>
            <a:endParaRPr lang="en-US" sz="1600" dirty="0">
              <a:latin typeface="Consolas" panose="020B0609020204030204" pitchFamily="49" charset="0"/>
            </a:endParaRPr>
          </a:p>
          <a:p>
            <a:r>
              <a:rPr lang="en-US" sz="1600" dirty="0">
                <a:latin typeface="Consolas" panose="020B0609020204030204" pitchFamily="49" charset="0"/>
              </a:rPr>
              <a:t>    103 root      20   0  153124    204     40 S   0.0   0.0   0:00.00 </a:t>
            </a:r>
            <a:r>
              <a:rPr lang="en-US" sz="1600" dirty="0" err="1">
                <a:latin typeface="Consolas" panose="020B0609020204030204" pitchFamily="49" charset="0"/>
              </a:rPr>
              <a:t>snapfuse</a:t>
            </a:r>
            <a:endParaRPr lang="en-US" sz="1600" dirty="0">
              <a:latin typeface="Consolas" panose="020B0609020204030204" pitchFamily="49" charset="0"/>
            </a:endParaRPr>
          </a:p>
          <a:p>
            <a:r>
              <a:rPr lang="en-US" sz="1600" dirty="0">
                <a:latin typeface="Consolas" panose="020B0609020204030204" pitchFamily="49" charset="0"/>
              </a:rPr>
              <a:t>    104 root      20   0  377284  13600    312 S   0.0   0.2   0:00.52 </a:t>
            </a:r>
            <a:r>
              <a:rPr lang="en-US" sz="1600" dirty="0" err="1">
                <a:latin typeface="Consolas" panose="020B0609020204030204" pitchFamily="49" charset="0"/>
              </a:rPr>
              <a:t>snapfuse</a:t>
            </a:r>
            <a:endParaRPr lang="en-US" sz="1600" dirty="0">
              <a:latin typeface="Consolas" panose="020B0609020204030204" pitchFamily="49" charset="0"/>
            </a:endParaRPr>
          </a:p>
        </p:txBody>
      </p:sp>
      <p:sp>
        <p:nvSpPr>
          <p:cNvPr id="2" name="Slide Number Placeholder 1">
            <a:extLst>
              <a:ext uri="{FF2B5EF4-FFF2-40B4-BE49-F238E27FC236}">
                <a16:creationId xmlns:a16="http://schemas.microsoft.com/office/drawing/2014/main" id="{3753EA6B-F672-19AE-0DE1-ED0798576819}"/>
              </a:ext>
            </a:extLst>
          </p:cNvPr>
          <p:cNvSpPr>
            <a:spLocks noGrp="1"/>
          </p:cNvSpPr>
          <p:nvPr>
            <p:ph type="sldNum" sz="quarter" idx="12"/>
          </p:nvPr>
        </p:nvSpPr>
        <p:spPr/>
        <p:txBody>
          <a:bodyPr/>
          <a:lstStyle/>
          <a:p>
            <a:fld id="{EDCC16D8-4CDA-43DA-B801-57449FB8CE28}" type="slidenum">
              <a:rPr lang="en-US" smtClean="0"/>
              <a:t>15</a:t>
            </a:fld>
            <a:endParaRPr lang="en-US"/>
          </a:p>
        </p:txBody>
      </p:sp>
    </p:spTree>
    <p:extLst>
      <p:ext uri="{BB962C8B-B14F-4D97-AF65-F5344CB8AC3E}">
        <p14:creationId xmlns:p14="http://schemas.microsoft.com/office/powerpoint/2010/main" val="878897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D6FBF-5B0D-51D3-7BA7-C5317AE6B6D8}"/>
              </a:ext>
            </a:extLst>
          </p:cNvPr>
          <p:cNvSpPr>
            <a:spLocks noGrp="1"/>
          </p:cNvSpPr>
          <p:nvPr>
            <p:ph type="title"/>
          </p:nvPr>
        </p:nvSpPr>
        <p:spPr/>
        <p:txBody>
          <a:bodyPr/>
          <a:lstStyle/>
          <a:p>
            <a:r>
              <a:rPr lang="ru-RU" dirty="0"/>
              <a:t>Вывод команды </a:t>
            </a:r>
            <a:r>
              <a:rPr lang="en-US" dirty="0" err="1"/>
              <a:t>htop</a:t>
            </a:r>
            <a:endParaRPr lang="en-US" dirty="0"/>
          </a:p>
        </p:txBody>
      </p:sp>
      <p:pic>
        <p:nvPicPr>
          <p:cNvPr id="4" name="Picture 3">
            <a:extLst>
              <a:ext uri="{FF2B5EF4-FFF2-40B4-BE49-F238E27FC236}">
                <a16:creationId xmlns:a16="http://schemas.microsoft.com/office/drawing/2014/main" id="{B84FA980-BCAC-A733-7C78-B3BF19AA33C4}"/>
              </a:ext>
            </a:extLst>
          </p:cNvPr>
          <p:cNvPicPr>
            <a:picLocks noChangeAspect="1"/>
          </p:cNvPicPr>
          <p:nvPr/>
        </p:nvPicPr>
        <p:blipFill>
          <a:blip r:embed="rId3"/>
          <a:stretch>
            <a:fillRect/>
          </a:stretch>
        </p:blipFill>
        <p:spPr>
          <a:xfrm>
            <a:off x="838199" y="1587656"/>
            <a:ext cx="8936865" cy="5037273"/>
          </a:xfrm>
          <a:prstGeom prst="rect">
            <a:avLst/>
          </a:prstGeom>
        </p:spPr>
      </p:pic>
      <p:sp>
        <p:nvSpPr>
          <p:cNvPr id="3" name="Slide Number Placeholder 2">
            <a:extLst>
              <a:ext uri="{FF2B5EF4-FFF2-40B4-BE49-F238E27FC236}">
                <a16:creationId xmlns:a16="http://schemas.microsoft.com/office/drawing/2014/main" id="{E18E635A-CBAD-48C1-0487-824B8A2D3779}"/>
              </a:ext>
            </a:extLst>
          </p:cNvPr>
          <p:cNvSpPr>
            <a:spLocks noGrp="1"/>
          </p:cNvSpPr>
          <p:nvPr>
            <p:ph type="sldNum" sz="quarter" idx="12"/>
          </p:nvPr>
        </p:nvSpPr>
        <p:spPr/>
        <p:txBody>
          <a:bodyPr/>
          <a:lstStyle/>
          <a:p>
            <a:fld id="{EDCC16D8-4CDA-43DA-B801-57449FB8CE28}" type="slidenum">
              <a:rPr lang="en-US" smtClean="0"/>
              <a:t>16</a:t>
            </a:fld>
            <a:endParaRPr lang="en-US"/>
          </a:p>
        </p:txBody>
      </p:sp>
    </p:spTree>
    <p:extLst>
      <p:ext uri="{BB962C8B-B14F-4D97-AF65-F5344CB8AC3E}">
        <p14:creationId xmlns:p14="http://schemas.microsoft.com/office/powerpoint/2010/main" val="19034718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3EDD8-3176-AEF7-1423-92A1C6428ADC}"/>
              </a:ext>
            </a:extLst>
          </p:cNvPr>
          <p:cNvSpPr>
            <a:spLocks noGrp="1"/>
          </p:cNvSpPr>
          <p:nvPr>
            <p:ph type="title"/>
          </p:nvPr>
        </p:nvSpPr>
        <p:spPr/>
        <p:txBody>
          <a:bodyPr/>
          <a:lstStyle/>
          <a:p>
            <a:r>
              <a:rPr lang="ru-RU" dirty="0"/>
              <a:t>Файловая система</a:t>
            </a:r>
            <a:endParaRPr lang="en-US" dirty="0"/>
          </a:p>
        </p:txBody>
      </p:sp>
      <p:sp>
        <p:nvSpPr>
          <p:cNvPr id="3" name="Content Placeholder 2">
            <a:extLst>
              <a:ext uri="{FF2B5EF4-FFF2-40B4-BE49-F238E27FC236}">
                <a16:creationId xmlns:a16="http://schemas.microsoft.com/office/drawing/2014/main" id="{BE696F98-0564-2A5F-C917-DC5EFB6A530E}"/>
              </a:ext>
            </a:extLst>
          </p:cNvPr>
          <p:cNvSpPr>
            <a:spLocks noGrp="1"/>
          </p:cNvSpPr>
          <p:nvPr>
            <p:ph sz="half" idx="1"/>
          </p:nvPr>
        </p:nvSpPr>
        <p:spPr>
          <a:xfrm>
            <a:off x="838199" y="1825625"/>
            <a:ext cx="7033289" cy="4351338"/>
          </a:xfrm>
        </p:spPr>
        <p:txBody>
          <a:bodyPr>
            <a:normAutofit fontScale="85000" lnSpcReduction="10000"/>
          </a:bodyPr>
          <a:lstStyle/>
          <a:p>
            <a:r>
              <a:rPr lang="ru-RU" dirty="0"/>
              <a:t>Это способ, которым ОС организует хранение и доступ к данным</a:t>
            </a:r>
          </a:p>
          <a:p>
            <a:pPr lvl="1"/>
            <a:r>
              <a:rPr lang="ru-RU" dirty="0"/>
              <a:t>ОС скрывает детали работы с физическими устройствами и предоставляет программисту удобный и универсальный интерфейс</a:t>
            </a:r>
          </a:p>
          <a:p>
            <a:r>
              <a:rPr lang="ru-RU" dirty="0"/>
              <a:t>Операции над файлами:</a:t>
            </a:r>
          </a:p>
          <a:p>
            <a:pPr lvl="1"/>
            <a:r>
              <a:rPr lang="ru-RU" dirty="0"/>
              <a:t>создание, удаление, чтение, запись, открытие и закрытие</a:t>
            </a:r>
          </a:p>
          <a:p>
            <a:r>
              <a:rPr lang="ru-RU" dirty="0"/>
              <a:t>Каталоги (директории) группируют файлы и могут содержать другие каталоги</a:t>
            </a:r>
          </a:p>
          <a:p>
            <a:r>
              <a:rPr lang="ru-RU" dirty="0"/>
              <a:t>С файлами и директориями ассоциирован путь</a:t>
            </a:r>
          </a:p>
          <a:p>
            <a:pPr lvl="1"/>
            <a:r>
              <a:rPr lang="ru-RU" dirty="0"/>
              <a:t>Абсолютные пути задаются от корня, а относительные – от </a:t>
            </a:r>
            <a:r>
              <a:rPr lang="ru-RU" i="1" dirty="0"/>
              <a:t>текущего каталога процесса</a:t>
            </a:r>
            <a:endParaRPr lang="en-US" i="1" dirty="0"/>
          </a:p>
        </p:txBody>
      </p:sp>
      <p:pic>
        <p:nvPicPr>
          <p:cNvPr id="6" name="Content Placeholder 5">
            <a:extLst>
              <a:ext uri="{FF2B5EF4-FFF2-40B4-BE49-F238E27FC236}">
                <a16:creationId xmlns:a16="http://schemas.microsoft.com/office/drawing/2014/main" id="{D1F68167-4106-09E7-098E-8E64D350E351}"/>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871489" y="1825625"/>
            <a:ext cx="3482311" cy="4351338"/>
          </a:xfrm>
          <a:prstGeom prst="rect">
            <a:avLst/>
          </a:prstGeom>
        </p:spPr>
      </p:pic>
      <p:sp>
        <p:nvSpPr>
          <p:cNvPr id="7" name="Slide Number Placeholder 6">
            <a:extLst>
              <a:ext uri="{FF2B5EF4-FFF2-40B4-BE49-F238E27FC236}">
                <a16:creationId xmlns:a16="http://schemas.microsoft.com/office/drawing/2014/main" id="{D2EF4BAF-5500-7288-790B-BD68F346E0D6}"/>
              </a:ext>
            </a:extLst>
          </p:cNvPr>
          <p:cNvSpPr>
            <a:spLocks noGrp="1"/>
          </p:cNvSpPr>
          <p:nvPr>
            <p:ph type="sldNum" sz="quarter" idx="12"/>
          </p:nvPr>
        </p:nvSpPr>
        <p:spPr/>
        <p:txBody>
          <a:bodyPr/>
          <a:lstStyle/>
          <a:p>
            <a:fld id="{EDCC16D8-4CDA-43DA-B801-57449FB8CE28}" type="slidenum">
              <a:rPr lang="en-US" smtClean="0"/>
              <a:t>17</a:t>
            </a:fld>
            <a:endParaRPr lang="en-US"/>
          </a:p>
        </p:txBody>
      </p:sp>
    </p:spTree>
    <p:extLst>
      <p:ext uri="{BB962C8B-B14F-4D97-AF65-F5344CB8AC3E}">
        <p14:creationId xmlns:p14="http://schemas.microsoft.com/office/powerpoint/2010/main" val="26938042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DED2C-F0BC-E6CC-79E2-3D7B93458F1A}"/>
              </a:ext>
            </a:extLst>
          </p:cNvPr>
          <p:cNvSpPr>
            <a:spLocks noGrp="1"/>
          </p:cNvSpPr>
          <p:nvPr>
            <p:ph type="title"/>
          </p:nvPr>
        </p:nvSpPr>
        <p:spPr/>
        <p:txBody>
          <a:bodyPr/>
          <a:lstStyle/>
          <a:p>
            <a:r>
              <a:rPr lang="ru-RU" dirty="0"/>
              <a:t>Навигация по файловой системе</a:t>
            </a:r>
            <a:endParaRPr lang="en-US" dirty="0"/>
          </a:p>
        </p:txBody>
      </p:sp>
      <p:sp>
        <p:nvSpPr>
          <p:cNvPr id="3" name="Content Placeholder 2">
            <a:extLst>
              <a:ext uri="{FF2B5EF4-FFF2-40B4-BE49-F238E27FC236}">
                <a16:creationId xmlns:a16="http://schemas.microsoft.com/office/drawing/2014/main" id="{54473627-581E-ABCB-5DCE-B5088394B980}"/>
              </a:ext>
            </a:extLst>
          </p:cNvPr>
          <p:cNvSpPr>
            <a:spLocks noGrp="1"/>
          </p:cNvSpPr>
          <p:nvPr>
            <p:ph idx="1"/>
          </p:nvPr>
        </p:nvSpPr>
        <p:spPr/>
        <p:txBody>
          <a:bodyPr/>
          <a:lstStyle/>
          <a:p>
            <a:r>
              <a:rPr lang="ru-RU" b="1" dirty="0" err="1"/>
              <a:t>pwd</a:t>
            </a:r>
            <a:r>
              <a:rPr lang="ru-RU" dirty="0"/>
              <a:t> (</a:t>
            </a:r>
            <a:r>
              <a:rPr lang="en-US" dirty="0"/>
              <a:t>print work directory</a:t>
            </a:r>
            <a:r>
              <a:rPr lang="ru-RU" dirty="0"/>
              <a:t>) — показать текущий каталог</a:t>
            </a:r>
          </a:p>
          <a:p>
            <a:r>
              <a:rPr lang="ru-RU" b="1" dirty="0" err="1"/>
              <a:t>ls</a:t>
            </a:r>
            <a:r>
              <a:rPr lang="ru-RU" dirty="0"/>
              <a:t> — вывести список файлов и каталогов</a:t>
            </a:r>
          </a:p>
          <a:p>
            <a:pPr lvl="1"/>
            <a:r>
              <a:rPr lang="ru-RU" dirty="0" err="1"/>
              <a:t>ls</a:t>
            </a:r>
            <a:r>
              <a:rPr lang="ru-RU" dirty="0"/>
              <a:t> -l — подробный список с правами и владельцами</a:t>
            </a:r>
          </a:p>
          <a:p>
            <a:pPr lvl="1"/>
            <a:r>
              <a:rPr lang="ru-RU" dirty="0" err="1"/>
              <a:t>ls</a:t>
            </a:r>
            <a:r>
              <a:rPr lang="ru-RU" dirty="0"/>
              <a:t> -a — показать скрытые файлы</a:t>
            </a:r>
          </a:p>
          <a:p>
            <a:r>
              <a:rPr lang="ru-RU" b="1" dirty="0" err="1"/>
              <a:t>cd</a:t>
            </a:r>
            <a:r>
              <a:rPr lang="ru-RU" dirty="0"/>
              <a:t> &lt;каталог&gt; — перейти в указанный каталог</a:t>
            </a:r>
          </a:p>
          <a:p>
            <a:pPr lvl="1"/>
            <a:r>
              <a:rPr lang="ru-RU" dirty="0" err="1"/>
              <a:t>cd</a:t>
            </a:r>
            <a:r>
              <a:rPr lang="ru-RU" dirty="0"/>
              <a:t> .. — перейти на уровень выше</a:t>
            </a:r>
            <a:endParaRPr lang="en-US" dirty="0"/>
          </a:p>
        </p:txBody>
      </p:sp>
      <p:sp>
        <p:nvSpPr>
          <p:cNvPr id="4" name="Slide Number Placeholder 3">
            <a:extLst>
              <a:ext uri="{FF2B5EF4-FFF2-40B4-BE49-F238E27FC236}">
                <a16:creationId xmlns:a16="http://schemas.microsoft.com/office/drawing/2014/main" id="{F2D8E420-6406-0DED-449F-E02723F6F7F5}"/>
              </a:ext>
            </a:extLst>
          </p:cNvPr>
          <p:cNvSpPr>
            <a:spLocks noGrp="1"/>
          </p:cNvSpPr>
          <p:nvPr>
            <p:ph type="sldNum" sz="quarter" idx="12"/>
          </p:nvPr>
        </p:nvSpPr>
        <p:spPr/>
        <p:txBody>
          <a:bodyPr/>
          <a:lstStyle/>
          <a:p>
            <a:fld id="{EDCC16D8-4CDA-43DA-B801-57449FB8CE28}" type="slidenum">
              <a:rPr lang="en-US" smtClean="0"/>
              <a:t>18</a:t>
            </a:fld>
            <a:endParaRPr lang="en-US"/>
          </a:p>
        </p:txBody>
      </p:sp>
    </p:spTree>
    <p:extLst>
      <p:ext uri="{BB962C8B-B14F-4D97-AF65-F5344CB8AC3E}">
        <p14:creationId xmlns:p14="http://schemas.microsoft.com/office/powerpoint/2010/main" val="23413916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00D698-B4B0-1F2B-A855-26389C1853ED}"/>
              </a:ext>
            </a:extLst>
          </p:cNvPr>
          <p:cNvSpPr>
            <a:spLocks noGrp="1"/>
          </p:cNvSpPr>
          <p:nvPr>
            <p:ph type="title"/>
          </p:nvPr>
        </p:nvSpPr>
        <p:spPr/>
        <p:txBody>
          <a:bodyPr/>
          <a:lstStyle/>
          <a:p>
            <a:r>
              <a:rPr lang="ru-RU" dirty="0"/>
              <a:t>Команды </a:t>
            </a:r>
            <a:r>
              <a:rPr lang="en-US" dirty="0" err="1"/>
              <a:t>pwd</a:t>
            </a:r>
            <a:r>
              <a:rPr lang="en-US" dirty="0"/>
              <a:t>, ls, cd</a:t>
            </a:r>
          </a:p>
        </p:txBody>
      </p:sp>
      <p:sp>
        <p:nvSpPr>
          <p:cNvPr id="5" name="TextBox 4">
            <a:extLst>
              <a:ext uri="{FF2B5EF4-FFF2-40B4-BE49-F238E27FC236}">
                <a16:creationId xmlns:a16="http://schemas.microsoft.com/office/drawing/2014/main" id="{801180E9-B48F-A2C6-9A2B-FC962B9CE93E}"/>
              </a:ext>
            </a:extLst>
          </p:cNvPr>
          <p:cNvSpPr txBox="1"/>
          <p:nvPr/>
        </p:nvSpPr>
        <p:spPr>
          <a:xfrm>
            <a:off x="171450" y="1687354"/>
            <a:ext cx="11791950" cy="5170646"/>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US" sz="1500" dirty="0" err="1">
                <a:solidFill>
                  <a:srgbClr val="00FF00"/>
                </a:solidFill>
                <a:latin typeface="Consolas" panose="020B0609020204030204" pitchFamily="49" charset="0"/>
              </a:rPr>
              <a:t>vivid@MSI</a:t>
            </a:r>
            <a:r>
              <a:rPr lang="en-US" sz="1500" dirty="0">
                <a:solidFill>
                  <a:srgbClr val="00FF00"/>
                </a:solidFill>
                <a:latin typeface="Consolas" panose="020B0609020204030204" pitchFamily="49" charset="0"/>
              </a:rPr>
              <a:t>:~</a:t>
            </a:r>
            <a:r>
              <a:rPr lang="en-US" sz="1500" dirty="0">
                <a:latin typeface="Consolas" panose="020B0609020204030204" pitchFamily="49" charset="0"/>
              </a:rPr>
              <a:t>$ </a:t>
            </a:r>
            <a:r>
              <a:rPr lang="en-US" sz="1500" dirty="0" err="1">
                <a:latin typeface="Consolas" panose="020B0609020204030204" pitchFamily="49" charset="0"/>
              </a:rPr>
              <a:t>pwd</a:t>
            </a:r>
            <a:endParaRPr lang="en-US" sz="1500" dirty="0">
              <a:latin typeface="Consolas" panose="020B0609020204030204" pitchFamily="49" charset="0"/>
            </a:endParaRPr>
          </a:p>
          <a:p>
            <a:r>
              <a:rPr lang="en-US" sz="1500" dirty="0">
                <a:latin typeface="Consolas" panose="020B0609020204030204" pitchFamily="49" charset="0"/>
              </a:rPr>
              <a:t>/home/vivid</a:t>
            </a:r>
          </a:p>
          <a:p>
            <a:r>
              <a:rPr lang="en-US" sz="1500" dirty="0" err="1">
                <a:solidFill>
                  <a:srgbClr val="00FF00"/>
                </a:solidFill>
                <a:latin typeface="Consolas" panose="020B0609020204030204" pitchFamily="49" charset="0"/>
              </a:rPr>
              <a:t>vivid@MSI</a:t>
            </a:r>
            <a:r>
              <a:rPr lang="en-US" sz="1500" dirty="0">
                <a:solidFill>
                  <a:srgbClr val="00FF00"/>
                </a:solidFill>
                <a:latin typeface="Consolas" panose="020B0609020204030204" pitchFamily="49" charset="0"/>
              </a:rPr>
              <a:t>:~</a:t>
            </a:r>
            <a:r>
              <a:rPr lang="en-US" sz="1500" dirty="0">
                <a:latin typeface="Consolas" panose="020B0609020204030204" pitchFamily="49" charset="0"/>
              </a:rPr>
              <a:t>$ ls</a:t>
            </a:r>
          </a:p>
          <a:p>
            <a:r>
              <a:rPr lang="en-US" sz="1500" dirty="0">
                <a:latin typeface="Consolas" panose="020B0609020204030204" pitchFamily="49" charset="0"/>
              </a:rPr>
              <a:t>code  gcc-14.1.0  gcc-14.1.0.tar.gz  mount.sh  snap  source  </a:t>
            </a:r>
            <a:r>
              <a:rPr lang="en-US" sz="1500" dirty="0" err="1">
                <a:latin typeface="Consolas" panose="020B0609020204030204" pitchFamily="49" charset="0"/>
              </a:rPr>
              <a:t>tmp</a:t>
            </a:r>
            <a:endParaRPr lang="en-US" sz="1500" dirty="0">
              <a:latin typeface="Consolas" panose="020B0609020204030204" pitchFamily="49" charset="0"/>
            </a:endParaRPr>
          </a:p>
          <a:p>
            <a:r>
              <a:rPr lang="en-US" sz="1500" dirty="0" err="1">
                <a:solidFill>
                  <a:srgbClr val="00FF00"/>
                </a:solidFill>
                <a:latin typeface="Consolas" panose="020B0609020204030204" pitchFamily="49" charset="0"/>
              </a:rPr>
              <a:t>vivid@MSI</a:t>
            </a:r>
            <a:r>
              <a:rPr lang="en-US" sz="1500" dirty="0">
                <a:solidFill>
                  <a:srgbClr val="00FF00"/>
                </a:solidFill>
                <a:latin typeface="Consolas" panose="020B0609020204030204" pitchFamily="49" charset="0"/>
              </a:rPr>
              <a:t>:~</a:t>
            </a:r>
            <a:r>
              <a:rPr lang="en-US" sz="1500" dirty="0">
                <a:latin typeface="Consolas" panose="020B0609020204030204" pitchFamily="49" charset="0"/>
              </a:rPr>
              <a:t>$ ls -l</a:t>
            </a:r>
          </a:p>
          <a:p>
            <a:r>
              <a:rPr lang="en-US" sz="1500" dirty="0">
                <a:latin typeface="Consolas" panose="020B0609020204030204" pitchFamily="49" charset="0"/>
              </a:rPr>
              <a:t>total 156900</a:t>
            </a:r>
          </a:p>
          <a:p>
            <a:r>
              <a:rPr lang="en-US" sz="1500" dirty="0" err="1">
                <a:latin typeface="Consolas" panose="020B0609020204030204" pitchFamily="49" charset="0"/>
              </a:rPr>
              <a:t>drwxr</a:t>
            </a:r>
            <a:r>
              <a:rPr lang="en-US" sz="1500" dirty="0">
                <a:latin typeface="Consolas" panose="020B0609020204030204" pitchFamily="49" charset="0"/>
              </a:rPr>
              <a:t>-</a:t>
            </a:r>
            <a:r>
              <a:rPr lang="en-US" sz="1500" dirty="0" err="1">
                <a:latin typeface="Consolas" panose="020B0609020204030204" pitchFamily="49" charset="0"/>
              </a:rPr>
              <a:t>xr</a:t>
            </a:r>
            <a:r>
              <a:rPr lang="en-US" sz="1500" dirty="0">
                <a:latin typeface="Consolas" panose="020B0609020204030204" pitchFamily="49" charset="0"/>
              </a:rPr>
              <a:t>-x  2 vivid </a:t>
            </a:r>
            <a:r>
              <a:rPr lang="en-US" sz="1500" dirty="0" err="1">
                <a:latin typeface="Consolas" panose="020B0609020204030204" pitchFamily="49" charset="0"/>
              </a:rPr>
              <a:t>vivid</a:t>
            </a:r>
            <a:r>
              <a:rPr lang="en-US" sz="1500" dirty="0">
                <a:latin typeface="Consolas" panose="020B0609020204030204" pitchFamily="49" charset="0"/>
              </a:rPr>
              <a:t>      4096 Dec 26  2024 code</a:t>
            </a:r>
          </a:p>
          <a:p>
            <a:r>
              <a:rPr lang="en-US" sz="1500" dirty="0" err="1">
                <a:latin typeface="Consolas" panose="020B0609020204030204" pitchFamily="49" charset="0"/>
              </a:rPr>
              <a:t>drwxr</a:t>
            </a:r>
            <a:r>
              <a:rPr lang="en-US" sz="1500" dirty="0">
                <a:latin typeface="Consolas" panose="020B0609020204030204" pitchFamily="49" charset="0"/>
              </a:rPr>
              <a:t>-</a:t>
            </a:r>
            <a:r>
              <a:rPr lang="en-US" sz="1500" dirty="0" err="1">
                <a:latin typeface="Consolas" panose="020B0609020204030204" pitchFamily="49" charset="0"/>
              </a:rPr>
              <a:t>xr</a:t>
            </a:r>
            <a:r>
              <a:rPr lang="en-US" sz="1500" dirty="0">
                <a:latin typeface="Consolas" panose="020B0609020204030204" pitchFamily="49" charset="0"/>
              </a:rPr>
              <a:t>-x 43 vivid </a:t>
            </a:r>
            <a:r>
              <a:rPr lang="en-US" sz="1500" dirty="0" err="1">
                <a:latin typeface="Consolas" panose="020B0609020204030204" pitchFamily="49" charset="0"/>
              </a:rPr>
              <a:t>vivid</a:t>
            </a:r>
            <a:r>
              <a:rPr lang="en-US" sz="1500" dirty="0">
                <a:latin typeface="Consolas" panose="020B0609020204030204" pitchFamily="49" charset="0"/>
              </a:rPr>
              <a:t>      4096 Feb  9  2025 gcc-14.1.0</a:t>
            </a:r>
          </a:p>
          <a:p>
            <a:r>
              <a:rPr lang="en-US" sz="1500" dirty="0">
                <a:latin typeface="Consolas" panose="020B0609020204030204" pitchFamily="49" charset="0"/>
              </a:rPr>
              <a:t>-</a:t>
            </a:r>
            <a:r>
              <a:rPr lang="en-US" sz="1500" dirty="0" err="1">
                <a:latin typeface="Consolas" panose="020B0609020204030204" pitchFamily="49" charset="0"/>
              </a:rPr>
              <a:t>rw</a:t>
            </a:r>
            <a:r>
              <a:rPr lang="en-US" sz="1500" dirty="0">
                <a:latin typeface="Consolas" panose="020B0609020204030204" pitchFamily="49" charset="0"/>
              </a:rPr>
              <a:t>-r--r--  1 vivid </a:t>
            </a:r>
            <a:r>
              <a:rPr lang="en-US" sz="1500" dirty="0" err="1">
                <a:latin typeface="Consolas" panose="020B0609020204030204" pitchFamily="49" charset="0"/>
              </a:rPr>
              <a:t>vivid</a:t>
            </a:r>
            <a:r>
              <a:rPr lang="en-US" sz="1500" dirty="0">
                <a:latin typeface="Consolas" panose="020B0609020204030204" pitchFamily="49" charset="0"/>
              </a:rPr>
              <a:t> 160641299 May  7  2024 gcc-14.1.0.tar.gz</a:t>
            </a:r>
          </a:p>
          <a:p>
            <a:r>
              <a:rPr lang="en-US" sz="1500" dirty="0">
                <a:latin typeface="Consolas" panose="020B0609020204030204" pitchFamily="49" charset="0"/>
              </a:rPr>
              <a:t>-</a:t>
            </a:r>
            <a:r>
              <a:rPr lang="en-US" sz="1500" dirty="0" err="1">
                <a:latin typeface="Consolas" panose="020B0609020204030204" pitchFamily="49" charset="0"/>
              </a:rPr>
              <a:t>rwxr</a:t>
            </a:r>
            <a:r>
              <a:rPr lang="en-US" sz="1500" dirty="0">
                <a:latin typeface="Consolas" panose="020B0609020204030204" pitchFamily="49" charset="0"/>
              </a:rPr>
              <a:t>-</a:t>
            </a:r>
            <a:r>
              <a:rPr lang="en-US" sz="1500" dirty="0" err="1">
                <a:latin typeface="Consolas" panose="020B0609020204030204" pitchFamily="49" charset="0"/>
              </a:rPr>
              <a:t>xr</a:t>
            </a:r>
            <a:r>
              <a:rPr lang="en-US" sz="1500" dirty="0">
                <a:latin typeface="Consolas" panose="020B0609020204030204" pitchFamily="49" charset="0"/>
              </a:rPr>
              <a:t>-x  1 vivid </a:t>
            </a:r>
            <a:r>
              <a:rPr lang="en-US" sz="1500" dirty="0" err="1">
                <a:latin typeface="Consolas" panose="020B0609020204030204" pitchFamily="49" charset="0"/>
              </a:rPr>
              <a:t>vivid</a:t>
            </a:r>
            <a:r>
              <a:rPr lang="en-US" sz="1500" dirty="0">
                <a:latin typeface="Consolas" panose="020B0609020204030204" pitchFamily="49" charset="0"/>
              </a:rPr>
              <a:t>        55 Sep  3  2024 mount.sh</a:t>
            </a:r>
          </a:p>
          <a:p>
            <a:r>
              <a:rPr lang="en-US" sz="1500" dirty="0" err="1">
                <a:latin typeface="Consolas" panose="020B0609020204030204" pitchFamily="49" charset="0"/>
              </a:rPr>
              <a:t>drwx</a:t>
            </a:r>
            <a:r>
              <a:rPr lang="en-US" sz="1500" dirty="0">
                <a:latin typeface="Consolas" panose="020B0609020204030204" pitchFamily="49" charset="0"/>
              </a:rPr>
              <a:t>------  3 vivid </a:t>
            </a:r>
            <a:r>
              <a:rPr lang="en-US" sz="1500" dirty="0" err="1">
                <a:latin typeface="Consolas" panose="020B0609020204030204" pitchFamily="49" charset="0"/>
              </a:rPr>
              <a:t>vivid</a:t>
            </a:r>
            <a:r>
              <a:rPr lang="en-US" sz="1500" dirty="0">
                <a:latin typeface="Consolas" panose="020B0609020204030204" pitchFamily="49" charset="0"/>
              </a:rPr>
              <a:t>      4096 Sep  3  2024 snap</a:t>
            </a:r>
          </a:p>
          <a:p>
            <a:r>
              <a:rPr lang="en-US" sz="1500" dirty="0" err="1">
                <a:highlight>
                  <a:srgbClr val="0000FF"/>
                </a:highlight>
                <a:latin typeface="Consolas" panose="020B0609020204030204" pitchFamily="49" charset="0"/>
              </a:rPr>
              <a:t>l</a:t>
            </a:r>
            <a:r>
              <a:rPr lang="en-US" sz="1500" dirty="0" err="1">
                <a:latin typeface="Consolas" panose="020B0609020204030204" pitchFamily="49" charset="0"/>
              </a:rPr>
              <a:t>rwxrwxrwx</a:t>
            </a:r>
            <a:r>
              <a:rPr lang="en-US" sz="1500" dirty="0">
                <a:latin typeface="Consolas" panose="020B0609020204030204" pitchFamily="49" charset="0"/>
              </a:rPr>
              <a:t>  1 vivid </a:t>
            </a:r>
            <a:r>
              <a:rPr lang="en-US" sz="1500" dirty="0" err="1">
                <a:latin typeface="Consolas" panose="020B0609020204030204" pitchFamily="49" charset="0"/>
              </a:rPr>
              <a:t>vivid</a:t>
            </a:r>
            <a:r>
              <a:rPr lang="en-US" sz="1500" dirty="0">
                <a:latin typeface="Consolas" panose="020B0609020204030204" pitchFamily="49" charset="0"/>
              </a:rPr>
              <a:t>        12 Sep  3  2024 </a:t>
            </a:r>
            <a:r>
              <a:rPr lang="en-US" sz="1500" dirty="0">
                <a:highlight>
                  <a:srgbClr val="0000FF"/>
                </a:highlight>
                <a:latin typeface="Consolas" panose="020B0609020204030204" pitchFamily="49" charset="0"/>
              </a:rPr>
              <a:t>source</a:t>
            </a:r>
            <a:r>
              <a:rPr lang="en-US" sz="1500" dirty="0">
                <a:latin typeface="Consolas" panose="020B0609020204030204" pitchFamily="49" charset="0"/>
              </a:rPr>
              <a:t> -&gt; /</a:t>
            </a:r>
            <a:r>
              <a:rPr lang="en-US" sz="1500" dirty="0" err="1">
                <a:latin typeface="Consolas" panose="020B0609020204030204" pitchFamily="49" charset="0"/>
              </a:rPr>
              <a:t>mnt</a:t>
            </a:r>
            <a:r>
              <a:rPr lang="en-US" sz="1500" dirty="0">
                <a:latin typeface="Consolas" panose="020B0609020204030204" pitchFamily="49" charset="0"/>
              </a:rPr>
              <a:t>/source/</a:t>
            </a:r>
          </a:p>
          <a:p>
            <a:r>
              <a:rPr lang="en-US" sz="1500" dirty="0" err="1">
                <a:latin typeface="Consolas" panose="020B0609020204030204" pitchFamily="49" charset="0"/>
              </a:rPr>
              <a:t>drwxr</a:t>
            </a:r>
            <a:r>
              <a:rPr lang="en-US" sz="1500" dirty="0">
                <a:latin typeface="Consolas" panose="020B0609020204030204" pitchFamily="49" charset="0"/>
              </a:rPr>
              <a:t>-</a:t>
            </a:r>
            <a:r>
              <a:rPr lang="en-US" sz="1500" dirty="0" err="1">
                <a:latin typeface="Consolas" panose="020B0609020204030204" pitchFamily="49" charset="0"/>
              </a:rPr>
              <a:t>xr</a:t>
            </a:r>
            <a:r>
              <a:rPr lang="en-US" sz="1500" dirty="0">
                <a:latin typeface="Consolas" panose="020B0609020204030204" pitchFamily="49" charset="0"/>
              </a:rPr>
              <a:t>-x  2 vivid </a:t>
            </a:r>
            <a:r>
              <a:rPr lang="en-US" sz="1500" dirty="0" err="1">
                <a:latin typeface="Consolas" panose="020B0609020204030204" pitchFamily="49" charset="0"/>
              </a:rPr>
              <a:t>vivid</a:t>
            </a:r>
            <a:r>
              <a:rPr lang="en-US" sz="1500" dirty="0">
                <a:latin typeface="Consolas" panose="020B0609020204030204" pitchFamily="49" charset="0"/>
              </a:rPr>
              <a:t>      4096 Jan 25  2025 </a:t>
            </a:r>
            <a:r>
              <a:rPr lang="en-US" sz="1500" dirty="0" err="1">
                <a:latin typeface="Consolas" panose="020B0609020204030204" pitchFamily="49" charset="0"/>
              </a:rPr>
              <a:t>tmp</a:t>
            </a:r>
            <a:endParaRPr lang="en-US" sz="1500" dirty="0">
              <a:latin typeface="Consolas" panose="020B0609020204030204" pitchFamily="49" charset="0"/>
            </a:endParaRPr>
          </a:p>
          <a:p>
            <a:r>
              <a:rPr lang="en-US" sz="1500" dirty="0" err="1">
                <a:solidFill>
                  <a:srgbClr val="00FF00"/>
                </a:solidFill>
                <a:latin typeface="Consolas" panose="020B0609020204030204" pitchFamily="49" charset="0"/>
              </a:rPr>
              <a:t>vivid@MSI</a:t>
            </a:r>
            <a:r>
              <a:rPr lang="en-US" sz="1500" dirty="0">
                <a:solidFill>
                  <a:srgbClr val="00FF00"/>
                </a:solidFill>
                <a:latin typeface="Consolas" panose="020B0609020204030204" pitchFamily="49" charset="0"/>
              </a:rPr>
              <a:t>:~</a:t>
            </a:r>
            <a:r>
              <a:rPr lang="en-US" sz="1500" dirty="0">
                <a:latin typeface="Consolas" panose="020B0609020204030204" pitchFamily="49" charset="0"/>
              </a:rPr>
              <a:t>$ ls -a</a:t>
            </a:r>
          </a:p>
          <a:p>
            <a:r>
              <a:rPr lang="en-US" sz="1500" dirty="0">
                <a:highlight>
                  <a:srgbClr val="0000FF"/>
                </a:highlight>
                <a:latin typeface="Consolas" panose="020B0609020204030204" pitchFamily="49" charset="0"/>
              </a:rPr>
              <a:t>.</a:t>
            </a:r>
            <a:r>
              <a:rPr lang="en-US" sz="1500" dirty="0">
                <a:latin typeface="Consolas" panose="020B0609020204030204" pitchFamily="49" charset="0"/>
              </a:rPr>
              <a:t>              .</a:t>
            </a:r>
            <a:r>
              <a:rPr lang="en-US" sz="1500" dirty="0" err="1">
                <a:latin typeface="Consolas" panose="020B0609020204030204" pitchFamily="49" charset="0"/>
              </a:rPr>
              <a:t>bashrc</a:t>
            </a:r>
            <a:r>
              <a:rPr lang="en-US" sz="1500" dirty="0">
                <a:latin typeface="Consolas" panose="020B0609020204030204" pitchFamily="49" charset="0"/>
              </a:rPr>
              <a:t>  .dotnet     .</a:t>
            </a:r>
            <a:r>
              <a:rPr lang="en-US" sz="1500" dirty="0" err="1">
                <a:latin typeface="Consolas" panose="020B0609020204030204" pitchFamily="49" charset="0"/>
              </a:rPr>
              <a:t>motd_shown</a:t>
            </a:r>
            <a:r>
              <a:rPr lang="en-US" sz="1500" dirty="0">
                <a:latin typeface="Consolas" panose="020B0609020204030204" pitchFamily="49" charset="0"/>
              </a:rPr>
              <a:t>       .</a:t>
            </a:r>
            <a:r>
              <a:rPr lang="en-US" sz="1500" dirty="0" err="1">
                <a:latin typeface="Consolas" panose="020B0609020204030204" pitchFamily="49" charset="0"/>
              </a:rPr>
              <a:t>sudo_as_admin_successful</a:t>
            </a:r>
            <a:r>
              <a:rPr lang="en-US" sz="1500" dirty="0">
                <a:latin typeface="Consolas" panose="020B0609020204030204" pitchFamily="49" charset="0"/>
              </a:rPr>
              <a:t>  .</a:t>
            </a:r>
            <a:r>
              <a:rPr lang="en-US" sz="1500" dirty="0" err="1">
                <a:latin typeface="Consolas" panose="020B0609020204030204" pitchFamily="49" charset="0"/>
              </a:rPr>
              <a:t>wget-hsts</a:t>
            </a:r>
            <a:r>
              <a:rPr lang="en-US" sz="1500" dirty="0">
                <a:latin typeface="Consolas" panose="020B0609020204030204" pitchFamily="49" charset="0"/>
              </a:rPr>
              <a:t>         mount.sh</a:t>
            </a:r>
          </a:p>
          <a:p>
            <a:r>
              <a:rPr lang="en-US" sz="1500" dirty="0">
                <a:highlight>
                  <a:srgbClr val="0000FF"/>
                </a:highlight>
                <a:latin typeface="Consolas" panose="020B0609020204030204" pitchFamily="49" charset="0"/>
              </a:rPr>
              <a:t>..</a:t>
            </a:r>
            <a:r>
              <a:rPr lang="en-US" sz="1500" dirty="0">
                <a:latin typeface="Consolas" panose="020B0609020204030204" pitchFamily="49" charset="0"/>
              </a:rPr>
              <a:t>             .cache   .</a:t>
            </a:r>
            <a:r>
              <a:rPr lang="en-US" sz="1500" dirty="0" err="1">
                <a:latin typeface="Consolas" panose="020B0609020204030204" pitchFamily="49" charset="0"/>
              </a:rPr>
              <a:t>gitconfig</a:t>
            </a:r>
            <a:r>
              <a:rPr lang="en-US" sz="1500" dirty="0">
                <a:latin typeface="Consolas" panose="020B0609020204030204" pitchFamily="49" charset="0"/>
              </a:rPr>
              <a:t>  .profile          .</a:t>
            </a:r>
            <a:r>
              <a:rPr lang="en-US" sz="1500" dirty="0" err="1">
                <a:latin typeface="Consolas" panose="020B0609020204030204" pitchFamily="49" charset="0"/>
              </a:rPr>
              <a:t>viminfo</a:t>
            </a:r>
            <a:r>
              <a:rPr lang="en-US" sz="1500" dirty="0">
                <a:latin typeface="Consolas" panose="020B0609020204030204" pitchFamily="49" charset="0"/>
              </a:rPr>
              <a:t>                   code               snap</a:t>
            </a:r>
          </a:p>
          <a:p>
            <a:r>
              <a:rPr lang="en-US" sz="1500" dirty="0">
                <a:latin typeface="Consolas" panose="020B0609020204030204" pitchFamily="49" charset="0"/>
              </a:rPr>
              <a:t>.</a:t>
            </a:r>
            <a:r>
              <a:rPr lang="en-US" sz="1500" dirty="0" err="1">
                <a:latin typeface="Consolas" panose="020B0609020204030204" pitchFamily="49" charset="0"/>
              </a:rPr>
              <a:t>bash_history</a:t>
            </a:r>
            <a:r>
              <a:rPr lang="en-US" sz="1500" dirty="0">
                <a:latin typeface="Consolas" panose="020B0609020204030204" pitchFamily="49" charset="0"/>
              </a:rPr>
              <a:t>  .conan2  .</a:t>
            </a:r>
            <a:r>
              <a:rPr lang="en-US" sz="1500" dirty="0" err="1">
                <a:latin typeface="Consolas" panose="020B0609020204030204" pitchFamily="49" charset="0"/>
              </a:rPr>
              <a:t>lesshst</a:t>
            </a:r>
            <a:r>
              <a:rPr lang="en-US" sz="1500" dirty="0">
                <a:latin typeface="Consolas" panose="020B0609020204030204" pitchFamily="49" charset="0"/>
              </a:rPr>
              <a:t>    .</a:t>
            </a:r>
            <a:r>
              <a:rPr lang="en-US" sz="1500" dirty="0" err="1">
                <a:latin typeface="Consolas" panose="020B0609020204030204" pitchFamily="49" charset="0"/>
              </a:rPr>
              <a:t>selected_editor</a:t>
            </a:r>
            <a:r>
              <a:rPr lang="en-US" sz="1500" dirty="0">
                <a:latin typeface="Consolas" panose="020B0609020204030204" pitchFamily="49" charset="0"/>
              </a:rPr>
              <a:t>  .vs                        gcc-14.1.0         source</a:t>
            </a:r>
          </a:p>
          <a:p>
            <a:r>
              <a:rPr lang="en-US" sz="1500" dirty="0">
                <a:latin typeface="Consolas" panose="020B0609020204030204" pitchFamily="49" charset="0"/>
              </a:rPr>
              <a:t>.</a:t>
            </a:r>
            <a:r>
              <a:rPr lang="en-US" sz="1500" dirty="0" err="1">
                <a:latin typeface="Consolas" panose="020B0609020204030204" pitchFamily="49" charset="0"/>
              </a:rPr>
              <a:t>bash_logout</a:t>
            </a:r>
            <a:r>
              <a:rPr lang="en-US" sz="1500" dirty="0">
                <a:latin typeface="Consolas" panose="020B0609020204030204" pitchFamily="49" charset="0"/>
              </a:rPr>
              <a:t>   .config  .local      .ssh              .</a:t>
            </a:r>
            <a:r>
              <a:rPr lang="en-US" sz="1500" dirty="0" err="1">
                <a:latin typeface="Consolas" panose="020B0609020204030204" pitchFamily="49" charset="0"/>
              </a:rPr>
              <a:t>vscode</a:t>
            </a:r>
            <a:r>
              <a:rPr lang="en-US" sz="1500" dirty="0">
                <a:latin typeface="Consolas" panose="020B0609020204030204" pitchFamily="49" charset="0"/>
              </a:rPr>
              <a:t>-server             gcc-14.1.0.tar.gz  </a:t>
            </a:r>
            <a:r>
              <a:rPr lang="en-US" sz="1500" dirty="0" err="1">
                <a:latin typeface="Consolas" panose="020B0609020204030204" pitchFamily="49" charset="0"/>
              </a:rPr>
              <a:t>tmp</a:t>
            </a:r>
            <a:endParaRPr lang="en-US" sz="1500" dirty="0">
              <a:latin typeface="Consolas" panose="020B0609020204030204" pitchFamily="49" charset="0"/>
            </a:endParaRPr>
          </a:p>
          <a:p>
            <a:r>
              <a:rPr lang="en-US" sz="1500" dirty="0" err="1">
                <a:solidFill>
                  <a:srgbClr val="00FF00"/>
                </a:solidFill>
                <a:latin typeface="Consolas" panose="020B0609020204030204" pitchFamily="49" charset="0"/>
              </a:rPr>
              <a:t>vivid@MSI</a:t>
            </a:r>
            <a:r>
              <a:rPr lang="en-US" sz="1500" dirty="0">
                <a:solidFill>
                  <a:srgbClr val="00FF00"/>
                </a:solidFill>
                <a:latin typeface="Consolas" panose="020B0609020204030204" pitchFamily="49" charset="0"/>
              </a:rPr>
              <a:t>:~</a:t>
            </a:r>
            <a:r>
              <a:rPr lang="en-US" sz="1500" dirty="0">
                <a:latin typeface="Consolas" panose="020B0609020204030204" pitchFamily="49" charset="0"/>
              </a:rPr>
              <a:t>$ cd ..</a:t>
            </a:r>
          </a:p>
          <a:p>
            <a:r>
              <a:rPr lang="en-US" sz="1500" dirty="0" err="1">
                <a:solidFill>
                  <a:srgbClr val="00FF00"/>
                </a:solidFill>
                <a:latin typeface="Consolas" panose="020B0609020204030204" pitchFamily="49" charset="0"/>
              </a:rPr>
              <a:t>vivid@MSI</a:t>
            </a:r>
            <a:r>
              <a:rPr lang="en-US" sz="1500" dirty="0">
                <a:solidFill>
                  <a:srgbClr val="00FF00"/>
                </a:solidFill>
                <a:latin typeface="Consolas" panose="020B0609020204030204" pitchFamily="49" charset="0"/>
              </a:rPr>
              <a:t>:/home</a:t>
            </a:r>
            <a:r>
              <a:rPr lang="en-US" sz="1500" dirty="0">
                <a:latin typeface="Consolas" panose="020B0609020204030204" pitchFamily="49" charset="0"/>
              </a:rPr>
              <a:t>$ ls</a:t>
            </a:r>
          </a:p>
          <a:p>
            <a:r>
              <a:rPr lang="en-US" sz="1500" dirty="0">
                <a:latin typeface="Consolas" panose="020B0609020204030204" pitchFamily="49" charset="0"/>
              </a:rPr>
              <a:t>vivid</a:t>
            </a:r>
          </a:p>
          <a:p>
            <a:r>
              <a:rPr lang="en-US" sz="1500" dirty="0" err="1">
                <a:solidFill>
                  <a:srgbClr val="00FF00"/>
                </a:solidFill>
                <a:latin typeface="Consolas" panose="020B0609020204030204" pitchFamily="49" charset="0"/>
              </a:rPr>
              <a:t>vivid@MSI</a:t>
            </a:r>
            <a:r>
              <a:rPr lang="en-US" sz="1500" dirty="0">
                <a:solidFill>
                  <a:srgbClr val="00FF00"/>
                </a:solidFill>
                <a:latin typeface="Consolas" panose="020B0609020204030204" pitchFamily="49" charset="0"/>
              </a:rPr>
              <a:t>:/home</a:t>
            </a:r>
            <a:r>
              <a:rPr lang="en-US" sz="1500" dirty="0">
                <a:latin typeface="Consolas" panose="020B0609020204030204" pitchFamily="49" charset="0"/>
              </a:rPr>
              <a:t>$</a:t>
            </a:r>
          </a:p>
        </p:txBody>
      </p:sp>
      <p:sp>
        <p:nvSpPr>
          <p:cNvPr id="2" name="Slide Number Placeholder 1">
            <a:extLst>
              <a:ext uri="{FF2B5EF4-FFF2-40B4-BE49-F238E27FC236}">
                <a16:creationId xmlns:a16="http://schemas.microsoft.com/office/drawing/2014/main" id="{A9B22A9A-62C9-AED0-15AF-67EC027BFCEC}"/>
              </a:ext>
            </a:extLst>
          </p:cNvPr>
          <p:cNvSpPr>
            <a:spLocks noGrp="1"/>
          </p:cNvSpPr>
          <p:nvPr>
            <p:ph type="sldNum" sz="quarter" idx="12"/>
          </p:nvPr>
        </p:nvSpPr>
        <p:spPr/>
        <p:txBody>
          <a:bodyPr/>
          <a:lstStyle/>
          <a:p>
            <a:fld id="{EDCC16D8-4CDA-43DA-B801-57449FB8CE28}" type="slidenum">
              <a:rPr lang="en-US" smtClean="0"/>
              <a:t>19</a:t>
            </a:fld>
            <a:endParaRPr lang="en-US"/>
          </a:p>
        </p:txBody>
      </p:sp>
    </p:spTree>
    <p:extLst>
      <p:ext uri="{BB962C8B-B14F-4D97-AF65-F5344CB8AC3E}">
        <p14:creationId xmlns:p14="http://schemas.microsoft.com/office/powerpoint/2010/main" val="30309410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7F523-08F9-6D44-9851-664EB174CB28}"/>
              </a:ext>
            </a:extLst>
          </p:cNvPr>
          <p:cNvSpPr>
            <a:spLocks noGrp="1"/>
          </p:cNvSpPr>
          <p:nvPr>
            <p:ph type="title"/>
          </p:nvPr>
        </p:nvSpPr>
        <p:spPr/>
        <p:txBody>
          <a:bodyPr/>
          <a:lstStyle/>
          <a:p>
            <a:r>
              <a:rPr lang="ru-RU" dirty="0"/>
              <a:t>Работа с файлами и директориями</a:t>
            </a:r>
            <a:endParaRPr lang="en-US" dirty="0"/>
          </a:p>
        </p:txBody>
      </p:sp>
      <p:sp>
        <p:nvSpPr>
          <p:cNvPr id="3" name="Content Placeholder 2">
            <a:extLst>
              <a:ext uri="{FF2B5EF4-FFF2-40B4-BE49-F238E27FC236}">
                <a16:creationId xmlns:a16="http://schemas.microsoft.com/office/drawing/2014/main" id="{BD1B4BB5-E3D5-589E-3C58-8703E4A2DE91}"/>
              </a:ext>
            </a:extLst>
          </p:cNvPr>
          <p:cNvSpPr>
            <a:spLocks noGrp="1"/>
          </p:cNvSpPr>
          <p:nvPr>
            <p:ph idx="1"/>
          </p:nvPr>
        </p:nvSpPr>
        <p:spPr/>
        <p:txBody>
          <a:bodyPr/>
          <a:lstStyle/>
          <a:p>
            <a:r>
              <a:rPr lang="en-US" dirty="0"/>
              <a:t>$ touch file.txt — </a:t>
            </a:r>
            <a:r>
              <a:rPr lang="ru-RU" dirty="0"/>
              <a:t>создать пустой файл</a:t>
            </a:r>
          </a:p>
          <a:p>
            <a:r>
              <a:rPr lang="en-US" dirty="0"/>
              <a:t>$ cat file.txt — </a:t>
            </a:r>
            <a:r>
              <a:rPr lang="ru-RU" dirty="0"/>
              <a:t>вывести содержимое файла(</a:t>
            </a:r>
            <a:r>
              <a:rPr lang="ru-RU" dirty="0" err="1"/>
              <a:t>ов</a:t>
            </a:r>
            <a:r>
              <a:rPr lang="ru-RU" dirty="0"/>
              <a:t>) в </a:t>
            </a:r>
            <a:r>
              <a:rPr lang="en-US" dirty="0" err="1"/>
              <a:t>stdout</a:t>
            </a:r>
            <a:endParaRPr lang="en-US" dirty="0"/>
          </a:p>
          <a:p>
            <a:r>
              <a:rPr lang="en-US" dirty="0"/>
              <a:t>$ </a:t>
            </a:r>
            <a:r>
              <a:rPr lang="en-US" dirty="0" err="1"/>
              <a:t>mkdir</a:t>
            </a:r>
            <a:r>
              <a:rPr lang="en-US" dirty="0"/>
              <a:t> docs — </a:t>
            </a:r>
            <a:r>
              <a:rPr lang="ru-RU" dirty="0"/>
              <a:t>создать новый каталог</a:t>
            </a:r>
            <a:endParaRPr lang="en-US" dirty="0"/>
          </a:p>
          <a:p>
            <a:r>
              <a:rPr lang="en-US" dirty="0"/>
              <a:t>$ cp file1.txt file2.txt — </a:t>
            </a:r>
            <a:r>
              <a:rPr lang="ru-RU" dirty="0"/>
              <a:t>скопировать файл</a:t>
            </a:r>
            <a:endParaRPr lang="en-US" dirty="0"/>
          </a:p>
          <a:p>
            <a:r>
              <a:rPr lang="en-US" dirty="0"/>
              <a:t>$ mv file.txt docs/ — </a:t>
            </a:r>
            <a:r>
              <a:rPr lang="ru-RU" dirty="0"/>
              <a:t>переместить файл</a:t>
            </a:r>
            <a:endParaRPr lang="en-US" dirty="0"/>
          </a:p>
          <a:p>
            <a:r>
              <a:rPr lang="en-US" dirty="0"/>
              <a:t>$ rm file.txt — </a:t>
            </a:r>
            <a:r>
              <a:rPr lang="ru-RU" dirty="0"/>
              <a:t>удалить файл</a:t>
            </a:r>
            <a:endParaRPr lang="en-US" dirty="0"/>
          </a:p>
          <a:p>
            <a:r>
              <a:rPr lang="en-US" dirty="0"/>
              <a:t>$ rm -r </a:t>
            </a:r>
            <a:r>
              <a:rPr lang="en-US" dirty="0" err="1"/>
              <a:t>dir</a:t>
            </a:r>
            <a:r>
              <a:rPr lang="en-US" dirty="0"/>
              <a:t>/ — </a:t>
            </a:r>
            <a:r>
              <a:rPr lang="ru-RU" dirty="0"/>
              <a:t>удалить каталог с содержимым</a:t>
            </a:r>
            <a:endParaRPr lang="en-US" dirty="0"/>
          </a:p>
        </p:txBody>
      </p:sp>
      <p:sp>
        <p:nvSpPr>
          <p:cNvPr id="4" name="Slide Number Placeholder 3">
            <a:extLst>
              <a:ext uri="{FF2B5EF4-FFF2-40B4-BE49-F238E27FC236}">
                <a16:creationId xmlns:a16="http://schemas.microsoft.com/office/drawing/2014/main" id="{E30F44AC-AE8C-3CF7-CF5F-E644097172BA}"/>
              </a:ext>
            </a:extLst>
          </p:cNvPr>
          <p:cNvSpPr>
            <a:spLocks noGrp="1"/>
          </p:cNvSpPr>
          <p:nvPr>
            <p:ph type="sldNum" sz="quarter" idx="12"/>
          </p:nvPr>
        </p:nvSpPr>
        <p:spPr/>
        <p:txBody>
          <a:bodyPr/>
          <a:lstStyle/>
          <a:p>
            <a:fld id="{EDCC16D8-4CDA-43DA-B801-57449FB8CE28}" type="slidenum">
              <a:rPr lang="en-US" smtClean="0"/>
              <a:t>20</a:t>
            </a:fld>
            <a:endParaRPr lang="en-US"/>
          </a:p>
        </p:txBody>
      </p:sp>
    </p:spTree>
    <p:extLst>
      <p:ext uri="{BB962C8B-B14F-4D97-AF65-F5344CB8AC3E}">
        <p14:creationId xmlns:p14="http://schemas.microsoft.com/office/powerpoint/2010/main" val="36947432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AF825DF-F7F0-0E6A-4674-03DD76BB0937}"/>
              </a:ext>
            </a:extLst>
          </p:cNvPr>
          <p:cNvSpPr>
            <a:spLocks noGrp="1"/>
          </p:cNvSpPr>
          <p:nvPr>
            <p:ph type="title"/>
          </p:nvPr>
        </p:nvSpPr>
        <p:spPr/>
        <p:txBody>
          <a:bodyPr/>
          <a:lstStyle/>
          <a:p>
            <a:r>
              <a:rPr lang="ru-RU" dirty="0"/>
              <a:t>Работа с файлами</a:t>
            </a:r>
            <a:endParaRPr lang="en-US" dirty="0"/>
          </a:p>
        </p:txBody>
      </p:sp>
      <p:sp>
        <p:nvSpPr>
          <p:cNvPr id="6" name="TextBox 5">
            <a:extLst>
              <a:ext uri="{FF2B5EF4-FFF2-40B4-BE49-F238E27FC236}">
                <a16:creationId xmlns:a16="http://schemas.microsoft.com/office/drawing/2014/main" id="{B870D7B4-C0FE-AD88-D966-FBE821060F97}"/>
              </a:ext>
            </a:extLst>
          </p:cNvPr>
          <p:cNvSpPr txBox="1"/>
          <p:nvPr/>
        </p:nvSpPr>
        <p:spPr>
          <a:xfrm>
            <a:off x="838200" y="1803041"/>
            <a:ext cx="10515600" cy="4924425"/>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US" sz="1600" dirty="0" err="1">
                <a:solidFill>
                  <a:srgbClr val="00FF00"/>
                </a:solidFill>
                <a:latin typeface="Consolas" panose="020B0609020204030204" pitchFamily="49" charset="0"/>
              </a:rPr>
              <a:t>vivid@MSI</a:t>
            </a:r>
            <a:r>
              <a:rPr lang="en-US" sz="1600" dirty="0">
                <a:solidFill>
                  <a:srgbClr val="00FF00"/>
                </a:solidFill>
                <a:latin typeface="Consolas" panose="020B0609020204030204" pitchFamily="49" charset="0"/>
              </a:rPr>
              <a:t>:~/</a:t>
            </a:r>
            <a:r>
              <a:rPr lang="en-US" sz="1600" dirty="0" err="1">
                <a:solidFill>
                  <a:srgbClr val="00FF00"/>
                </a:solidFill>
                <a:latin typeface="Consolas" panose="020B0609020204030204" pitchFamily="49" charset="0"/>
              </a:rPr>
              <a:t>tmp</a:t>
            </a:r>
            <a:r>
              <a:rPr lang="en-US" sz="1600" dirty="0">
                <a:latin typeface="Consolas" panose="020B0609020204030204" pitchFamily="49" charset="0"/>
              </a:rPr>
              <a:t>$ touch file.txt</a:t>
            </a:r>
          </a:p>
          <a:p>
            <a:r>
              <a:rPr lang="en-US" sz="1600" dirty="0" err="1">
                <a:solidFill>
                  <a:srgbClr val="00FF00"/>
                </a:solidFill>
                <a:latin typeface="Consolas" panose="020B0609020204030204" pitchFamily="49" charset="0"/>
              </a:rPr>
              <a:t>vivid@MSI</a:t>
            </a:r>
            <a:r>
              <a:rPr lang="en-US" sz="1600" dirty="0">
                <a:solidFill>
                  <a:srgbClr val="00FF00"/>
                </a:solidFill>
                <a:latin typeface="Consolas" panose="020B0609020204030204" pitchFamily="49" charset="0"/>
              </a:rPr>
              <a:t>:~/</a:t>
            </a:r>
            <a:r>
              <a:rPr lang="en-US" sz="1600" dirty="0" err="1">
                <a:solidFill>
                  <a:srgbClr val="00FF00"/>
                </a:solidFill>
                <a:latin typeface="Consolas" panose="020B0609020204030204" pitchFamily="49" charset="0"/>
              </a:rPr>
              <a:t>tmp</a:t>
            </a:r>
            <a:r>
              <a:rPr lang="en-US" sz="1600" dirty="0">
                <a:latin typeface="Consolas" panose="020B0609020204030204" pitchFamily="49" charset="0"/>
              </a:rPr>
              <a:t>$ ls</a:t>
            </a:r>
          </a:p>
          <a:p>
            <a:r>
              <a:rPr lang="en-US" sz="1600" dirty="0">
                <a:latin typeface="Consolas" panose="020B0609020204030204" pitchFamily="49" charset="0"/>
              </a:rPr>
              <a:t>file.txt</a:t>
            </a:r>
          </a:p>
          <a:p>
            <a:r>
              <a:rPr lang="en-US" sz="1600" dirty="0" err="1">
                <a:solidFill>
                  <a:srgbClr val="00FF00"/>
                </a:solidFill>
                <a:latin typeface="Consolas" panose="020B0609020204030204" pitchFamily="49" charset="0"/>
              </a:rPr>
              <a:t>vivid@MSI</a:t>
            </a:r>
            <a:r>
              <a:rPr lang="en-US" sz="1600" dirty="0">
                <a:solidFill>
                  <a:srgbClr val="00FF00"/>
                </a:solidFill>
                <a:latin typeface="Consolas" panose="020B0609020204030204" pitchFamily="49" charset="0"/>
              </a:rPr>
              <a:t>:~/</a:t>
            </a:r>
            <a:r>
              <a:rPr lang="en-US" sz="1600" dirty="0" err="1">
                <a:solidFill>
                  <a:srgbClr val="00FF00"/>
                </a:solidFill>
                <a:latin typeface="Consolas" panose="020B0609020204030204" pitchFamily="49" charset="0"/>
              </a:rPr>
              <a:t>tmp</a:t>
            </a:r>
            <a:r>
              <a:rPr lang="en-US" sz="1600" dirty="0">
                <a:latin typeface="Consolas" panose="020B0609020204030204" pitchFamily="49" charset="0"/>
              </a:rPr>
              <a:t>$ </a:t>
            </a:r>
            <a:r>
              <a:rPr lang="en-US" sz="1600" dirty="0" err="1">
                <a:latin typeface="Consolas" panose="020B0609020204030204" pitchFamily="49" charset="0"/>
              </a:rPr>
              <a:t>mkdir</a:t>
            </a:r>
            <a:r>
              <a:rPr lang="en-US" sz="1600" dirty="0">
                <a:latin typeface="Consolas" panose="020B0609020204030204" pitchFamily="49" charset="0"/>
              </a:rPr>
              <a:t> docs</a:t>
            </a:r>
          </a:p>
          <a:p>
            <a:r>
              <a:rPr lang="en-US" sz="1600" dirty="0" err="1">
                <a:solidFill>
                  <a:srgbClr val="00FF00"/>
                </a:solidFill>
                <a:latin typeface="Consolas" panose="020B0609020204030204" pitchFamily="49" charset="0"/>
              </a:rPr>
              <a:t>vivid@MSI</a:t>
            </a:r>
            <a:r>
              <a:rPr lang="en-US" sz="1600" dirty="0">
                <a:solidFill>
                  <a:srgbClr val="00FF00"/>
                </a:solidFill>
                <a:latin typeface="Consolas" panose="020B0609020204030204" pitchFamily="49" charset="0"/>
              </a:rPr>
              <a:t>:~/</a:t>
            </a:r>
            <a:r>
              <a:rPr lang="en-US" sz="1600" dirty="0" err="1">
                <a:solidFill>
                  <a:srgbClr val="00FF00"/>
                </a:solidFill>
                <a:latin typeface="Consolas" panose="020B0609020204030204" pitchFamily="49" charset="0"/>
              </a:rPr>
              <a:t>tmp</a:t>
            </a:r>
            <a:r>
              <a:rPr lang="en-US" sz="1600" dirty="0">
                <a:latin typeface="Consolas" panose="020B0609020204030204" pitchFamily="49" charset="0"/>
              </a:rPr>
              <a:t>$ cp file.txt file2.txt</a:t>
            </a:r>
          </a:p>
          <a:p>
            <a:r>
              <a:rPr lang="en-US" sz="1600" dirty="0" err="1">
                <a:solidFill>
                  <a:srgbClr val="00FF00"/>
                </a:solidFill>
                <a:latin typeface="Consolas" panose="020B0609020204030204" pitchFamily="49" charset="0"/>
              </a:rPr>
              <a:t>vivid@MSI</a:t>
            </a:r>
            <a:r>
              <a:rPr lang="en-US" sz="1600" dirty="0">
                <a:solidFill>
                  <a:srgbClr val="00FF00"/>
                </a:solidFill>
                <a:latin typeface="Consolas" panose="020B0609020204030204" pitchFamily="49" charset="0"/>
              </a:rPr>
              <a:t>:~/</a:t>
            </a:r>
            <a:r>
              <a:rPr lang="en-US" sz="1600" dirty="0" err="1">
                <a:solidFill>
                  <a:srgbClr val="00FF00"/>
                </a:solidFill>
                <a:latin typeface="Consolas" panose="020B0609020204030204" pitchFamily="49" charset="0"/>
              </a:rPr>
              <a:t>tmp</a:t>
            </a:r>
            <a:r>
              <a:rPr lang="en-US" sz="1600" dirty="0">
                <a:latin typeface="Consolas" panose="020B0609020204030204" pitchFamily="49" charset="0"/>
              </a:rPr>
              <a:t>$ ls</a:t>
            </a:r>
          </a:p>
          <a:p>
            <a:r>
              <a:rPr lang="en-US" sz="1600" dirty="0">
                <a:latin typeface="Consolas" panose="020B0609020204030204" pitchFamily="49" charset="0"/>
              </a:rPr>
              <a:t>docs  file.txt  file2.txt</a:t>
            </a:r>
          </a:p>
          <a:p>
            <a:r>
              <a:rPr lang="en-US" sz="1600" dirty="0" err="1">
                <a:solidFill>
                  <a:srgbClr val="00FF00"/>
                </a:solidFill>
                <a:latin typeface="Consolas" panose="020B0609020204030204" pitchFamily="49" charset="0"/>
              </a:rPr>
              <a:t>vivid@MSI</a:t>
            </a:r>
            <a:r>
              <a:rPr lang="en-US" sz="1600" dirty="0">
                <a:solidFill>
                  <a:srgbClr val="00FF00"/>
                </a:solidFill>
                <a:latin typeface="Consolas" panose="020B0609020204030204" pitchFamily="49" charset="0"/>
              </a:rPr>
              <a:t>:~/</a:t>
            </a:r>
            <a:r>
              <a:rPr lang="en-US" sz="1600" dirty="0" err="1">
                <a:solidFill>
                  <a:srgbClr val="00FF00"/>
                </a:solidFill>
                <a:latin typeface="Consolas" panose="020B0609020204030204" pitchFamily="49" charset="0"/>
              </a:rPr>
              <a:t>tmp</a:t>
            </a:r>
            <a:r>
              <a:rPr lang="en-US" sz="1600" dirty="0">
                <a:latin typeface="Consolas" panose="020B0609020204030204" pitchFamily="49" charset="0"/>
              </a:rPr>
              <a:t>$ mv file.txt docs/</a:t>
            </a:r>
          </a:p>
          <a:p>
            <a:r>
              <a:rPr lang="en-US" sz="1600" dirty="0" err="1">
                <a:solidFill>
                  <a:srgbClr val="00FF00"/>
                </a:solidFill>
                <a:latin typeface="Consolas" panose="020B0609020204030204" pitchFamily="49" charset="0"/>
              </a:rPr>
              <a:t>vivid@MSI</a:t>
            </a:r>
            <a:r>
              <a:rPr lang="en-US" sz="1600" dirty="0">
                <a:solidFill>
                  <a:srgbClr val="00FF00"/>
                </a:solidFill>
                <a:latin typeface="Consolas" panose="020B0609020204030204" pitchFamily="49" charset="0"/>
              </a:rPr>
              <a:t>:~/</a:t>
            </a:r>
            <a:r>
              <a:rPr lang="en-US" sz="1600" dirty="0" err="1">
                <a:solidFill>
                  <a:srgbClr val="00FF00"/>
                </a:solidFill>
                <a:latin typeface="Consolas" panose="020B0609020204030204" pitchFamily="49" charset="0"/>
              </a:rPr>
              <a:t>tmp</a:t>
            </a:r>
            <a:r>
              <a:rPr lang="en-US" sz="1600" dirty="0">
                <a:latin typeface="Consolas" panose="020B0609020204030204" pitchFamily="49" charset="0"/>
              </a:rPr>
              <a:t>$ ls</a:t>
            </a:r>
          </a:p>
          <a:p>
            <a:r>
              <a:rPr lang="en-US" sz="1600" dirty="0">
                <a:latin typeface="Consolas" panose="020B0609020204030204" pitchFamily="49" charset="0"/>
              </a:rPr>
              <a:t>docs  file2.txt</a:t>
            </a:r>
          </a:p>
          <a:p>
            <a:r>
              <a:rPr lang="en-US" sz="1600" dirty="0" err="1">
                <a:solidFill>
                  <a:srgbClr val="00FF00"/>
                </a:solidFill>
                <a:latin typeface="Consolas" panose="020B0609020204030204" pitchFamily="49" charset="0"/>
              </a:rPr>
              <a:t>vivid@MSI</a:t>
            </a:r>
            <a:r>
              <a:rPr lang="en-US" sz="1600" dirty="0">
                <a:solidFill>
                  <a:srgbClr val="00FF00"/>
                </a:solidFill>
                <a:latin typeface="Consolas" panose="020B0609020204030204" pitchFamily="49" charset="0"/>
              </a:rPr>
              <a:t>:~/</a:t>
            </a:r>
            <a:r>
              <a:rPr lang="en-US" sz="1600" dirty="0" err="1">
                <a:solidFill>
                  <a:srgbClr val="00FF00"/>
                </a:solidFill>
                <a:latin typeface="Consolas" panose="020B0609020204030204" pitchFamily="49" charset="0"/>
              </a:rPr>
              <a:t>tmp</a:t>
            </a:r>
            <a:r>
              <a:rPr lang="en-US" sz="1600" dirty="0">
                <a:latin typeface="Consolas" panose="020B0609020204030204" pitchFamily="49" charset="0"/>
              </a:rPr>
              <a:t>$ ls docs</a:t>
            </a:r>
          </a:p>
          <a:p>
            <a:r>
              <a:rPr lang="en-US" sz="1600" dirty="0">
                <a:latin typeface="Consolas" panose="020B0609020204030204" pitchFamily="49" charset="0"/>
              </a:rPr>
              <a:t>file.txt</a:t>
            </a:r>
          </a:p>
          <a:p>
            <a:r>
              <a:rPr lang="en-US" sz="1600" dirty="0" err="1">
                <a:solidFill>
                  <a:srgbClr val="00FF00"/>
                </a:solidFill>
                <a:latin typeface="Consolas" panose="020B0609020204030204" pitchFamily="49" charset="0"/>
              </a:rPr>
              <a:t>vivid@MSI</a:t>
            </a:r>
            <a:r>
              <a:rPr lang="en-US" sz="1600" dirty="0">
                <a:solidFill>
                  <a:srgbClr val="00FF00"/>
                </a:solidFill>
                <a:latin typeface="Consolas" panose="020B0609020204030204" pitchFamily="49" charset="0"/>
              </a:rPr>
              <a:t>:~/</a:t>
            </a:r>
            <a:r>
              <a:rPr lang="en-US" sz="1600" dirty="0" err="1">
                <a:solidFill>
                  <a:srgbClr val="00FF00"/>
                </a:solidFill>
                <a:latin typeface="Consolas" panose="020B0609020204030204" pitchFamily="49" charset="0"/>
              </a:rPr>
              <a:t>tmp</a:t>
            </a:r>
            <a:r>
              <a:rPr lang="en-US" sz="1600" dirty="0">
                <a:latin typeface="Consolas" panose="020B0609020204030204" pitchFamily="49" charset="0"/>
              </a:rPr>
              <a:t>$ rm docs/file.txt</a:t>
            </a:r>
          </a:p>
          <a:p>
            <a:r>
              <a:rPr lang="en-US" sz="1600" dirty="0" err="1">
                <a:solidFill>
                  <a:srgbClr val="00FF00"/>
                </a:solidFill>
                <a:latin typeface="Consolas" panose="020B0609020204030204" pitchFamily="49" charset="0"/>
              </a:rPr>
              <a:t>vivid@MSI</a:t>
            </a:r>
            <a:r>
              <a:rPr lang="en-US" sz="1600" dirty="0">
                <a:solidFill>
                  <a:srgbClr val="00FF00"/>
                </a:solidFill>
                <a:latin typeface="Consolas" panose="020B0609020204030204" pitchFamily="49" charset="0"/>
              </a:rPr>
              <a:t>:~/</a:t>
            </a:r>
            <a:r>
              <a:rPr lang="en-US" sz="1600" dirty="0" err="1">
                <a:solidFill>
                  <a:srgbClr val="00FF00"/>
                </a:solidFill>
                <a:latin typeface="Consolas" panose="020B0609020204030204" pitchFamily="49" charset="0"/>
              </a:rPr>
              <a:t>tmp</a:t>
            </a:r>
            <a:r>
              <a:rPr lang="en-US" sz="1600" dirty="0">
                <a:latin typeface="Consolas" panose="020B0609020204030204" pitchFamily="49" charset="0"/>
              </a:rPr>
              <a:t>$ ls docs</a:t>
            </a:r>
          </a:p>
          <a:p>
            <a:r>
              <a:rPr lang="en-US" sz="1600" dirty="0" err="1">
                <a:solidFill>
                  <a:srgbClr val="00FF00"/>
                </a:solidFill>
                <a:latin typeface="Consolas" panose="020B0609020204030204" pitchFamily="49" charset="0"/>
              </a:rPr>
              <a:t>vivid@MSI</a:t>
            </a:r>
            <a:r>
              <a:rPr lang="en-US" sz="1600" dirty="0">
                <a:solidFill>
                  <a:srgbClr val="00FF00"/>
                </a:solidFill>
                <a:latin typeface="Consolas" panose="020B0609020204030204" pitchFamily="49" charset="0"/>
              </a:rPr>
              <a:t>:~/</a:t>
            </a:r>
            <a:r>
              <a:rPr lang="en-US" sz="1600" dirty="0" err="1">
                <a:solidFill>
                  <a:srgbClr val="00FF00"/>
                </a:solidFill>
                <a:latin typeface="Consolas" panose="020B0609020204030204" pitchFamily="49" charset="0"/>
              </a:rPr>
              <a:t>tmp</a:t>
            </a:r>
            <a:r>
              <a:rPr lang="en-US" sz="1600" dirty="0">
                <a:latin typeface="Consolas" panose="020B0609020204030204" pitchFamily="49" charset="0"/>
              </a:rPr>
              <a:t>$ rm docs</a:t>
            </a:r>
          </a:p>
          <a:p>
            <a:r>
              <a:rPr lang="en-US" sz="1600" dirty="0">
                <a:latin typeface="Consolas" panose="020B0609020204030204" pitchFamily="49" charset="0"/>
              </a:rPr>
              <a:t>rm: cannot remove 'docs': Is a directory</a:t>
            </a:r>
          </a:p>
          <a:p>
            <a:r>
              <a:rPr lang="en-US" sz="1600" dirty="0" err="1">
                <a:solidFill>
                  <a:srgbClr val="00FF00"/>
                </a:solidFill>
                <a:latin typeface="Consolas" panose="020B0609020204030204" pitchFamily="49" charset="0"/>
              </a:rPr>
              <a:t>vivid@MSI</a:t>
            </a:r>
            <a:r>
              <a:rPr lang="en-US" sz="1600" dirty="0">
                <a:solidFill>
                  <a:srgbClr val="00FF00"/>
                </a:solidFill>
                <a:latin typeface="Consolas" panose="020B0609020204030204" pitchFamily="49" charset="0"/>
              </a:rPr>
              <a:t>:~/</a:t>
            </a:r>
            <a:r>
              <a:rPr lang="en-US" sz="1600" dirty="0" err="1">
                <a:solidFill>
                  <a:srgbClr val="00FF00"/>
                </a:solidFill>
                <a:latin typeface="Consolas" panose="020B0609020204030204" pitchFamily="49" charset="0"/>
              </a:rPr>
              <a:t>tmp</a:t>
            </a:r>
            <a:r>
              <a:rPr lang="en-US" sz="1600" dirty="0">
                <a:latin typeface="Consolas" panose="020B0609020204030204" pitchFamily="49" charset="0"/>
              </a:rPr>
              <a:t>$ </a:t>
            </a:r>
            <a:r>
              <a:rPr lang="en-US" sz="1600" dirty="0" err="1">
                <a:latin typeface="Consolas" panose="020B0609020204030204" pitchFamily="49" charset="0"/>
              </a:rPr>
              <a:t>rmdir</a:t>
            </a:r>
            <a:r>
              <a:rPr lang="en-US" sz="1600" dirty="0">
                <a:latin typeface="Consolas" panose="020B0609020204030204" pitchFamily="49" charset="0"/>
              </a:rPr>
              <a:t> docs</a:t>
            </a:r>
          </a:p>
          <a:p>
            <a:r>
              <a:rPr lang="en-US" sz="1600" dirty="0" err="1">
                <a:solidFill>
                  <a:srgbClr val="00FF00"/>
                </a:solidFill>
                <a:latin typeface="Consolas" panose="020B0609020204030204" pitchFamily="49" charset="0"/>
              </a:rPr>
              <a:t>vivid@MSI</a:t>
            </a:r>
            <a:r>
              <a:rPr lang="en-US" sz="1600" dirty="0">
                <a:solidFill>
                  <a:srgbClr val="00FF00"/>
                </a:solidFill>
                <a:latin typeface="Consolas" panose="020B0609020204030204" pitchFamily="49" charset="0"/>
              </a:rPr>
              <a:t>:~/</a:t>
            </a:r>
            <a:r>
              <a:rPr lang="en-US" sz="1600" dirty="0" err="1">
                <a:solidFill>
                  <a:srgbClr val="00FF00"/>
                </a:solidFill>
                <a:latin typeface="Consolas" panose="020B0609020204030204" pitchFamily="49" charset="0"/>
              </a:rPr>
              <a:t>tmp</a:t>
            </a:r>
            <a:r>
              <a:rPr lang="en-US" sz="1600" dirty="0">
                <a:latin typeface="Consolas" panose="020B0609020204030204" pitchFamily="49" charset="0"/>
              </a:rPr>
              <a:t>$ ls</a:t>
            </a:r>
          </a:p>
          <a:p>
            <a:r>
              <a:rPr lang="en-US" sz="1600" dirty="0">
                <a:latin typeface="Consolas" panose="020B0609020204030204" pitchFamily="49" charset="0"/>
              </a:rPr>
              <a:t>file2.txt</a:t>
            </a:r>
          </a:p>
        </p:txBody>
      </p:sp>
      <p:sp>
        <p:nvSpPr>
          <p:cNvPr id="2" name="Slide Number Placeholder 1">
            <a:extLst>
              <a:ext uri="{FF2B5EF4-FFF2-40B4-BE49-F238E27FC236}">
                <a16:creationId xmlns:a16="http://schemas.microsoft.com/office/drawing/2014/main" id="{BAB6AEBF-FC92-8B67-321F-8618BF48D78C}"/>
              </a:ext>
            </a:extLst>
          </p:cNvPr>
          <p:cNvSpPr>
            <a:spLocks noGrp="1"/>
          </p:cNvSpPr>
          <p:nvPr>
            <p:ph type="sldNum" sz="quarter" idx="12"/>
          </p:nvPr>
        </p:nvSpPr>
        <p:spPr/>
        <p:txBody>
          <a:bodyPr/>
          <a:lstStyle/>
          <a:p>
            <a:fld id="{EDCC16D8-4CDA-43DA-B801-57449FB8CE28}" type="slidenum">
              <a:rPr lang="en-US" smtClean="0"/>
              <a:t>21</a:t>
            </a:fld>
            <a:endParaRPr lang="en-US"/>
          </a:p>
        </p:txBody>
      </p:sp>
    </p:spTree>
    <p:extLst>
      <p:ext uri="{BB962C8B-B14F-4D97-AF65-F5344CB8AC3E}">
        <p14:creationId xmlns:p14="http://schemas.microsoft.com/office/powerpoint/2010/main" val="2755635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500"/>
                                        <p:tgtEl>
                                          <p:spTgt spid="6">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fade">
                                      <p:cBhvr>
                                        <p:cTn id="13" dur="500"/>
                                        <p:tgtEl>
                                          <p:spTgt spid="6">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xEl>
                                              <p:pRg st="3" end="3"/>
                                            </p:txEl>
                                          </p:spTgt>
                                        </p:tgtEl>
                                        <p:attrNameLst>
                                          <p:attrName>style.visibility</p:attrName>
                                        </p:attrNameLst>
                                      </p:cBhvr>
                                      <p:to>
                                        <p:strVal val="visible"/>
                                      </p:to>
                                    </p:set>
                                    <p:animEffect transition="in" filter="fade">
                                      <p:cBhvr>
                                        <p:cTn id="18" dur="500"/>
                                        <p:tgtEl>
                                          <p:spTgt spid="6">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animEffect transition="in" filter="fade">
                                      <p:cBhvr>
                                        <p:cTn id="21" dur="500"/>
                                        <p:tgtEl>
                                          <p:spTgt spid="6">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6">
                                            <p:txEl>
                                              <p:pRg st="5" end="5"/>
                                            </p:txEl>
                                          </p:spTgt>
                                        </p:tgtEl>
                                        <p:attrNameLst>
                                          <p:attrName>style.visibility</p:attrName>
                                        </p:attrNameLst>
                                      </p:cBhvr>
                                      <p:to>
                                        <p:strVal val="visible"/>
                                      </p:to>
                                    </p:set>
                                    <p:animEffect transition="in" filter="fade">
                                      <p:cBhvr>
                                        <p:cTn id="24" dur="500"/>
                                        <p:tgtEl>
                                          <p:spTgt spid="6">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animEffect transition="in" filter="fade">
                                      <p:cBhvr>
                                        <p:cTn id="27" dur="500"/>
                                        <p:tgtEl>
                                          <p:spTgt spid="6">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xEl>
                                              <p:pRg st="7" end="7"/>
                                            </p:txEl>
                                          </p:spTgt>
                                        </p:tgtEl>
                                        <p:attrNameLst>
                                          <p:attrName>style.visibility</p:attrName>
                                        </p:attrNameLst>
                                      </p:cBhvr>
                                      <p:to>
                                        <p:strVal val="visible"/>
                                      </p:to>
                                    </p:set>
                                    <p:animEffect transition="in" filter="fade">
                                      <p:cBhvr>
                                        <p:cTn id="32" dur="500"/>
                                        <p:tgtEl>
                                          <p:spTgt spid="6">
                                            <p:txEl>
                                              <p:pRg st="7" end="7"/>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6">
                                            <p:txEl>
                                              <p:pRg st="8" end="8"/>
                                            </p:txEl>
                                          </p:spTgt>
                                        </p:tgtEl>
                                        <p:attrNameLst>
                                          <p:attrName>style.visibility</p:attrName>
                                        </p:attrNameLst>
                                      </p:cBhvr>
                                      <p:to>
                                        <p:strVal val="visible"/>
                                      </p:to>
                                    </p:set>
                                    <p:animEffect transition="in" filter="fade">
                                      <p:cBhvr>
                                        <p:cTn id="35" dur="500"/>
                                        <p:tgtEl>
                                          <p:spTgt spid="6">
                                            <p:txEl>
                                              <p:pRg st="8" end="8"/>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6">
                                            <p:txEl>
                                              <p:pRg st="9" end="9"/>
                                            </p:txEl>
                                          </p:spTgt>
                                        </p:tgtEl>
                                        <p:attrNameLst>
                                          <p:attrName>style.visibility</p:attrName>
                                        </p:attrNameLst>
                                      </p:cBhvr>
                                      <p:to>
                                        <p:strVal val="visible"/>
                                      </p:to>
                                    </p:set>
                                    <p:animEffect transition="in" filter="fade">
                                      <p:cBhvr>
                                        <p:cTn id="38" dur="500"/>
                                        <p:tgtEl>
                                          <p:spTgt spid="6">
                                            <p:txEl>
                                              <p:pRg st="9" end="9"/>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6">
                                            <p:txEl>
                                              <p:pRg st="10" end="10"/>
                                            </p:txEl>
                                          </p:spTgt>
                                        </p:tgtEl>
                                        <p:attrNameLst>
                                          <p:attrName>style.visibility</p:attrName>
                                        </p:attrNameLst>
                                      </p:cBhvr>
                                      <p:to>
                                        <p:strVal val="visible"/>
                                      </p:to>
                                    </p:set>
                                    <p:animEffect transition="in" filter="fade">
                                      <p:cBhvr>
                                        <p:cTn id="41" dur="500"/>
                                        <p:tgtEl>
                                          <p:spTgt spid="6">
                                            <p:txEl>
                                              <p:pRg st="10" end="10"/>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6">
                                            <p:txEl>
                                              <p:pRg st="11" end="11"/>
                                            </p:txEl>
                                          </p:spTgt>
                                        </p:tgtEl>
                                        <p:attrNameLst>
                                          <p:attrName>style.visibility</p:attrName>
                                        </p:attrNameLst>
                                      </p:cBhvr>
                                      <p:to>
                                        <p:strVal val="visible"/>
                                      </p:to>
                                    </p:set>
                                    <p:animEffect transition="in" filter="fade">
                                      <p:cBhvr>
                                        <p:cTn id="44" dur="500"/>
                                        <p:tgtEl>
                                          <p:spTgt spid="6">
                                            <p:txEl>
                                              <p:pRg st="11" end="11"/>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6">
                                            <p:txEl>
                                              <p:pRg st="12" end="12"/>
                                            </p:txEl>
                                          </p:spTgt>
                                        </p:tgtEl>
                                        <p:attrNameLst>
                                          <p:attrName>style.visibility</p:attrName>
                                        </p:attrNameLst>
                                      </p:cBhvr>
                                      <p:to>
                                        <p:strVal val="visible"/>
                                      </p:to>
                                    </p:set>
                                    <p:animEffect transition="in" filter="fade">
                                      <p:cBhvr>
                                        <p:cTn id="49" dur="500"/>
                                        <p:tgtEl>
                                          <p:spTgt spid="6">
                                            <p:txEl>
                                              <p:pRg st="12" end="12"/>
                                            </p:txEl>
                                          </p:spTgt>
                                        </p:tgtEl>
                                      </p:cBhvr>
                                    </p:animEffect>
                                  </p:childTnLst>
                                </p:cTn>
                              </p:par>
                              <p:par>
                                <p:cTn id="50" presetID="10" presetClass="entr" presetSubtype="0" fill="hold" nodeType="withEffect">
                                  <p:stCondLst>
                                    <p:cond delay="0"/>
                                  </p:stCondLst>
                                  <p:childTnLst>
                                    <p:set>
                                      <p:cBhvr>
                                        <p:cTn id="51" dur="1" fill="hold">
                                          <p:stCondLst>
                                            <p:cond delay="0"/>
                                          </p:stCondLst>
                                        </p:cTn>
                                        <p:tgtEl>
                                          <p:spTgt spid="6">
                                            <p:txEl>
                                              <p:pRg st="13" end="13"/>
                                            </p:txEl>
                                          </p:spTgt>
                                        </p:tgtEl>
                                        <p:attrNameLst>
                                          <p:attrName>style.visibility</p:attrName>
                                        </p:attrNameLst>
                                      </p:cBhvr>
                                      <p:to>
                                        <p:strVal val="visible"/>
                                      </p:to>
                                    </p:set>
                                    <p:animEffect transition="in" filter="fade">
                                      <p:cBhvr>
                                        <p:cTn id="52" dur="500"/>
                                        <p:tgtEl>
                                          <p:spTgt spid="6">
                                            <p:txEl>
                                              <p:pRg st="13" end="1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6">
                                            <p:txEl>
                                              <p:pRg st="14" end="14"/>
                                            </p:txEl>
                                          </p:spTgt>
                                        </p:tgtEl>
                                        <p:attrNameLst>
                                          <p:attrName>style.visibility</p:attrName>
                                        </p:attrNameLst>
                                      </p:cBhvr>
                                      <p:to>
                                        <p:strVal val="visible"/>
                                      </p:to>
                                    </p:set>
                                    <p:animEffect transition="in" filter="fade">
                                      <p:cBhvr>
                                        <p:cTn id="57" dur="500"/>
                                        <p:tgtEl>
                                          <p:spTgt spid="6">
                                            <p:txEl>
                                              <p:pRg st="14" end="14"/>
                                            </p:txEl>
                                          </p:spTgt>
                                        </p:tgtEl>
                                      </p:cBhvr>
                                    </p:animEffect>
                                  </p:childTnLst>
                                </p:cTn>
                              </p:par>
                              <p:par>
                                <p:cTn id="58" presetID="10" presetClass="entr" presetSubtype="0" fill="hold" nodeType="withEffect">
                                  <p:stCondLst>
                                    <p:cond delay="0"/>
                                  </p:stCondLst>
                                  <p:childTnLst>
                                    <p:set>
                                      <p:cBhvr>
                                        <p:cTn id="59" dur="1" fill="hold">
                                          <p:stCondLst>
                                            <p:cond delay="0"/>
                                          </p:stCondLst>
                                        </p:cTn>
                                        <p:tgtEl>
                                          <p:spTgt spid="6">
                                            <p:txEl>
                                              <p:pRg st="15" end="15"/>
                                            </p:txEl>
                                          </p:spTgt>
                                        </p:tgtEl>
                                        <p:attrNameLst>
                                          <p:attrName>style.visibility</p:attrName>
                                        </p:attrNameLst>
                                      </p:cBhvr>
                                      <p:to>
                                        <p:strVal val="visible"/>
                                      </p:to>
                                    </p:set>
                                    <p:animEffect transition="in" filter="fade">
                                      <p:cBhvr>
                                        <p:cTn id="60" dur="500"/>
                                        <p:tgtEl>
                                          <p:spTgt spid="6">
                                            <p:txEl>
                                              <p:pRg st="15" end="15"/>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6">
                                            <p:txEl>
                                              <p:pRg st="16" end="16"/>
                                            </p:txEl>
                                          </p:spTgt>
                                        </p:tgtEl>
                                        <p:attrNameLst>
                                          <p:attrName>style.visibility</p:attrName>
                                        </p:attrNameLst>
                                      </p:cBhvr>
                                      <p:to>
                                        <p:strVal val="visible"/>
                                      </p:to>
                                    </p:set>
                                    <p:animEffect transition="in" filter="fade">
                                      <p:cBhvr>
                                        <p:cTn id="65" dur="500"/>
                                        <p:tgtEl>
                                          <p:spTgt spid="6">
                                            <p:txEl>
                                              <p:pRg st="16" end="16"/>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6">
                                            <p:txEl>
                                              <p:pRg st="17" end="17"/>
                                            </p:txEl>
                                          </p:spTgt>
                                        </p:tgtEl>
                                        <p:attrNameLst>
                                          <p:attrName>style.visibility</p:attrName>
                                        </p:attrNameLst>
                                      </p:cBhvr>
                                      <p:to>
                                        <p:strVal val="visible"/>
                                      </p:to>
                                    </p:set>
                                    <p:animEffect transition="in" filter="fade">
                                      <p:cBhvr>
                                        <p:cTn id="70" dur="500"/>
                                        <p:tgtEl>
                                          <p:spTgt spid="6">
                                            <p:txEl>
                                              <p:pRg st="17" end="17"/>
                                            </p:txEl>
                                          </p:spTgt>
                                        </p:tgtEl>
                                      </p:cBhvr>
                                    </p:animEffect>
                                  </p:childTnLst>
                                </p:cTn>
                              </p:par>
                              <p:par>
                                <p:cTn id="71" presetID="10" presetClass="entr" presetSubtype="0" fill="hold" nodeType="withEffect">
                                  <p:stCondLst>
                                    <p:cond delay="0"/>
                                  </p:stCondLst>
                                  <p:childTnLst>
                                    <p:set>
                                      <p:cBhvr>
                                        <p:cTn id="72" dur="1" fill="hold">
                                          <p:stCondLst>
                                            <p:cond delay="0"/>
                                          </p:stCondLst>
                                        </p:cTn>
                                        <p:tgtEl>
                                          <p:spTgt spid="6">
                                            <p:txEl>
                                              <p:pRg st="18" end="18"/>
                                            </p:txEl>
                                          </p:spTgt>
                                        </p:tgtEl>
                                        <p:attrNameLst>
                                          <p:attrName>style.visibility</p:attrName>
                                        </p:attrNameLst>
                                      </p:cBhvr>
                                      <p:to>
                                        <p:strVal val="visible"/>
                                      </p:to>
                                    </p:set>
                                    <p:animEffect transition="in" filter="fade">
                                      <p:cBhvr>
                                        <p:cTn id="73" dur="500"/>
                                        <p:tgtEl>
                                          <p:spTgt spid="6">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4E428-EE32-160E-1D39-EC8A8768CA5A}"/>
              </a:ext>
            </a:extLst>
          </p:cNvPr>
          <p:cNvSpPr>
            <a:spLocks noGrp="1"/>
          </p:cNvSpPr>
          <p:nvPr>
            <p:ph type="title"/>
          </p:nvPr>
        </p:nvSpPr>
        <p:spPr/>
        <p:txBody>
          <a:bodyPr/>
          <a:lstStyle/>
          <a:p>
            <a:r>
              <a:rPr lang="ru-RU" dirty="0"/>
              <a:t>Расширенные возможности файловых систем</a:t>
            </a:r>
            <a:endParaRPr lang="en-US" dirty="0"/>
          </a:p>
        </p:txBody>
      </p:sp>
      <p:sp>
        <p:nvSpPr>
          <p:cNvPr id="3" name="Content Placeholder 2">
            <a:extLst>
              <a:ext uri="{FF2B5EF4-FFF2-40B4-BE49-F238E27FC236}">
                <a16:creationId xmlns:a16="http://schemas.microsoft.com/office/drawing/2014/main" id="{81307A73-F67A-22EC-4DD4-A70DBA2166A8}"/>
              </a:ext>
            </a:extLst>
          </p:cNvPr>
          <p:cNvSpPr>
            <a:spLocks noGrp="1"/>
          </p:cNvSpPr>
          <p:nvPr>
            <p:ph sz="half" idx="1"/>
          </p:nvPr>
        </p:nvSpPr>
        <p:spPr/>
        <p:txBody>
          <a:bodyPr>
            <a:normAutofit fontScale="77500" lnSpcReduction="20000"/>
          </a:bodyPr>
          <a:lstStyle/>
          <a:p>
            <a:r>
              <a:rPr lang="ru-RU" b="1" dirty="0"/>
              <a:t>Монтирование</a:t>
            </a:r>
            <a:r>
              <a:rPr lang="ru-RU" dirty="0"/>
              <a:t>: подключение внешних накопителей в дерево каталогов</a:t>
            </a:r>
          </a:p>
          <a:p>
            <a:r>
              <a:rPr lang="ru-RU" b="1" dirty="0"/>
              <a:t>Специальные файлы</a:t>
            </a:r>
            <a:r>
              <a:rPr lang="ru-RU" dirty="0"/>
              <a:t>: интерфейс для устройств (/</a:t>
            </a:r>
            <a:r>
              <a:rPr lang="ru-RU" dirty="0" err="1"/>
              <a:t>dev</a:t>
            </a:r>
            <a:r>
              <a:rPr lang="ru-RU" dirty="0"/>
              <a:t>)</a:t>
            </a:r>
          </a:p>
          <a:p>
            <a:pPr lvl="1"/>
            <a:r>
              <a:rPr lang="ru-RU" dirty="0"/>
              <a:t>Бывают блочные (например, </a:t>
            </a:r>
            <a:r>
              <a:rPr lang="en-US" dirty="0"/>
              <a:t>HDD)</a:t>
            </a:r>
            <a:r>
              <a:rPr lang="ru-RU" dirty="0"/>
              <a:t> и символьные</a:t>
            </a:r>
            <a:r>
              <a:rPr lang="en-US" dirty="0"/>
              <a:t> (</a:t>
            </a:r>
            <a:r>
              <a:rPr lang="ru-RU" dirty="0"/>
              <a:t>например, клавиатура)</a:t>
            </a:r>
          </a:p>
          <a:p>
            <a:r>
              <a:rPr lang="ru-RU" b="1" dirty="0"/>
              <a:t>Каналы</a:t>
            </a:r>
            <a:r>
              <a:rPr lang="ru-RU" dirty="0"/>
              <a:t> (</a:t>
            </a:r>
            <a:r>
              <a:rPr lang="ru-RU" dirty="0" err="1"/>
              <a:t>pipes</a:t>
            </a:r>
            <a:r>
              <a:rPr lang="ru-RU" dirty="0"/>
              <a:t>): </a:t>
            </a:r>
            <a:r>
              <a:rPr lang="ru-RU" dirty="0" err="1"/>
              <a:t>псевдофайлы</a:t>
            </a:r>
            <a:r>
              <a:rPr lang="ru-RU" dirty="0"/>
              <a:t> для обмена данными между процессами</a:t>
            </a:r>
          </a:p>
          <a:p>
            <a:pPr lvl="1"/>
            <a:r>
              <a:rPr lang="en-US" dirty="0"/>
              <a:t>Pipe – </a:t>
            </a:r>
            <a:r>
              <a:rPr lang="ru-RU" dirty="0"/>
              <a:t>неименованный канал связи</a:t>
            </a:r>
          </a:p>
          <a:p>
            <a:pPr lvl="1"/>
            <a:r>
              <a:rPr lang="en-US" dirty="0"/>
              <a:t>FIFO – </a:t>
            </a:r>
            <a:r>
              <a:rPr lang="ru-RU" dirty="0"/>
              <a:t>именованный канал</a:t>
            </a:r>
          </a:p>
          <a:p>
            <a:r>
              <a:rPr lang="ru-RU" dirty="0"/>
              <a:t>Файлы в </a:t>
            </a:r>
            <a:r>
              <a:rPr lang="en-US" dirty="0"/>
              <a:t>UNIX </a:t>
            </a:r>
            <a:r>
              <a:rPr lang="ru-RU" dirty="0"/>
              <a:t>объединяют работу с файлами, устройствами и </a:t>
            </a:r>
            <a:r>
              <a:rPr lang="en-US" dirty="0"/>
              <a:t>IPC</a:t>
            </a:r>
            <a:r>
              <a:rPr lang="ru-RU" dirty="0"/>
              <a:t> под единым интерфейсом</a:t>
            </a:r>
          </a:p>
        </p:txBody>
      </p:sp>
      <p:pic>
        <p:nvPicPr>
          <p:cNvPr id="6" name="Content Placeholder 5">
            <a:extLst>
              <a:ext uri="{FF2B5EF4-FFF2-40B4-BE49-F238E27FC236}">
                <a16:creationId xmlns:a16="http://schemas.microsoft.com/office/drawing/2014/main" id="{728BA087-A2A7-DBD3-25C3-6824B5A09B73}"/>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302181" y="1825625"/>
            <a:ext cx="4921637" cy="4351338"/>
          </a:xfrm>
          <a:prstGeom prst="rect">
            <a:avLst/>
          </a:prstGeom>
        </p:spPr>
      </p:pic>
      <p:sp>
        <p:nvSpPr>
          <p:cNvPr id="7" name="Slide Number Placeholder 6">
            <a:extLst>
              <a:ext uri="{FF2B5EF4-FFF2-40B4-BE49-F238E27FC236}">
                <a16:creationId xmlns:a16="http://schemas.microsoft.com/office/drawing/2014/main" id="{59DAFF05-AE4C-C9F3-C169-87D3DB042B5A}"/>
              </a:ext>
            </a:extLst>
          </p:cNvPr>
          <p:cNvSpPr>
            <a:spLocks noGrp="1"/>
          </p:cNvSpPr>
          <p:nvPr>
            <p:ph type="sldNum" sz="quarter" idx="12"/>
          </p:nvPr>
        </p:nvSpPr>
        <p:spPr/>
        <p:txBody>
          <a:bodyPr/>
          <a:lstStyle/>
          <a:p>
            <a:fld id="{EDCC16D8-4CDA-43DA-B801-57449FB8CE28}" type="slidenum">
              <a:rPr lang="en-US" smtClean="0"/>
              <a:t>22</a:t>
            </a:fld>
            <a:endParaRPr lang="en-US"/>
          </a:p>
        </p:txBody>
      </p:sp>
    </p:spTree>
    <p:extLst>
      <p:ext uri="{BB962C8B-B14F-4D97-AF65-F5344CB8AC3E}">
        <p14:creationId xmlns:p14="http://schemas.microsoft.com/office/powerpoint/2010/main" val="373021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3C341-7018-94F2-3652-D8D357CFEF74}"/>
              </a:ext>
            </a:extLst>
          </p:cNvPr>
          <p:cNvSpPr>
            <a:spLocks noGrp="1"/>
          </p:cNvSpPr>
          <p:nvPr>
            <p:ph type="title"/>
          </p:nvPr>
        </p:nvSpPr>
        <p:spPr/>
        <p:txBody>
          <a:bodyPr/>
          <a:lstStyle/>
          <a:p>
            <a:r>
              <a:rPr lang="ru-RU" dirty="0"/>
              <a:t>Монтирование, специальные файлы и каналы</a:t>
            </a:r>
            <a:endParaRPr lang="en-US" dirty="0"/>
          </a:p>
        </p:txBody>
      </p:sp>
      <p:sp>
        <p:nvSpPr>
          <p:cNvPr id="3" name="Content Placeholder 2">
            <a:extLst>
              <a:ext uri="{FF2B5EF4-FFF2-40B4-BE49-F238E27FC236}">
                <a16:creationId xmlns:a16="http://schemas.microsoft.com/office/drawing/2014/main" id="{072038E6-F3E8-0EE7-E02B-A1941A5F048D}"/>
              </a:ext>
            </a:extLst>
          </p:cNvPr>
          <p:cNvSpPr>
            <a:spLocks noGrp="1"/>
          </p:cNvSpPr>
          <p:nvPr>
            <p:ph sz="half" idx="1"/>
          </p:nvPr>
        </p:nvSpPr>
        <p:spPr/>
        <p:txBody>
          <a:bodyPr>
            <a:normAutofit fontScale="92500" lnSpcReduction="20000"/>
          </a:bodyPr>
          <a:lstStyle/>
          <a:p>
            <a:r>
              <a:rPr lang="ru-RU" dirty="0"/>
              <a:t>Монтируем внешний диск из </a:t>
            </a:r>
            <a:r>
              <a:rPr lang="en-US" dirty="0"/>
              <a:t>Windows </a:t>
            </a:r>
            <a:r>
              <a:rPr lang="ru-RU" dirty="0"/>
              <a:t>в </a:t>
            </a:r>
            <a:r>
              <a:rPr lang="en-US" dirty="0"/>
              <a:t>WSL</a:t>
            </a:r>
          </a:p>
          <a:p>
            <a:pPr lvl="1"/>
            <a:r>
              <a:rPr lang="en-US" dirty="0"/>
              <a:t>$ </a:t>
            </a:r>
            <a:r>
              <a:rPr lang="en-US" dirty="0" err="1"/>
              <a:t>sudo</a:t>
            </a:r>
            <a:r>
              <a:rPr lang="en-US" dirty="0"/>
              <a:t> </a:t>
            </a:r>
            <a:r>
              <a:rPr lang="en-US" dirty="0" err="1"/>
              <a:t>mkdir</a:t>
            </a:r>
            <a:r>
              <a:rPr lang="en-US" dirty="0"/>
              <a:t> /</a:t>
            </a:r>
            <a:r>
              <a:rPr lang="en-US" dirty="0" err="1"/>
              <a:t>mnt</a:t>
            </a:r>
            <a:r>
              <a:rPr lang="en-US" dirty="0"/>
              <a:t>/disk-d</a:t>
            </a:r>
          </a:p>
          <a:p>
            <a:pPr lvl="1"/>
            <a:r>
              <a:rPr lang="en-US" dirty="0"/>
              <a:t>$ </a:t>
            </a:r>
            <a:r>
              <a:rPr lang="en-US" dirty="0" err="1"/>
              <a:t>sudo</a:t>
            </a:r>
            <a:r>
              <a:rPr lang="en-US" dirty="0"/>
              <a:t> mount -t </a:t>
            </a:r>
            <a:r>
              <a:rPr lang="en-US" dirty="0" err="1"/>
              <a:t>drvfs</a:t>
            </a:r>
            <a:r>
              <a:rPr lang="en-US" dirty="0"/>
              <a:t> D: /</a:t>
            </a:r>
            <a:r>
              <a:rPr lang="en-US" dirty="0" err="1"/>
              <a:t>mnt</a:t>
            </a:r>
            <a:r>
              <a:rPr lang="en-US" dirty="0"/>
              <a:t>/disk-d</a:t>
            </a:r>
          </a:p>
          <a:p>
            <a:pPr marL="457200" lvl="1" indent="0">
              <a:buNone/>
            </a:pPr>
            <a:endParaRPr lang="en-US" dirty="0"/>
          </a:p>
          <a:p>
            <a:pPr lvl="1"/>
            <a:r>
              <a:rPr lang="en-US" dirty="0"/>
              <a:t>$ </a:t>
            </a:r>
            <a:r>
              <a:rPr lang="en-US" dirty="0" err="1"/>
              <a:t>sudo</a:t>
            </a:r>
            <a:r>
              <a:rPr lang="en-US" dirty="0"/>
              <a:t> </a:t>
            </a:r>
            <a:r>
              <a:rPr lang="en-US" dirty="0" err="1"/>
              <a:t>umount</a:t>
            </a:r>
            <a:r>
              <a:rPr lang="en-US" dirty="0"/>
              <a:t> /</a:t>
            </a:r>
            <a:r>
              <a:rPr lang="en-US" dirty="0" err="1"/>
              <a:t>mnt</a:t>
            </a:r>
            <a:r>
              <a:rPr lang="en-US" dirty="0"/>
              <a:t>/disk-d</a:t>
            </a:r>
          </a:p>
          <a:p>
            <a:pPr lvl="1"/>
            <a:r>
              <a:rPr lang="en-US" dirty="0"/>
              <a:t>$ </a:t>
            </a:r>
            <a:r>
              <a:rPr lang="en-US" dirty="0" err="1"/>
              <a:t>sudo</a:t>
            </a:r>
            <a:r>
              <a:rPr lang="en-US" dirty="0"/>
              <a:t> </a:t>
            </a:r>
            <a:r>
              <a:rPr lang="en-US" dirty="0" err="1"/>
              <a:t>rmdir</a:t>
            </a:r>
            <a:r>
              <a:rPr lang="en-US" dirty="0"/>
              <a:t> /</a:t>
            </a:r>
            <a:r>
              <a:rPr lang="en-US" dirty="0" err="1"/>
              <a:t>mnt</a:t>
            </a:r>
            <a:r>
              <a:rPr lang="en-US" dirty="0"/>
              <a:t>/disk-d</a:t>
            </a:r>
          </a:p>
          <a:p>
            <a:r>
              <a:rPr lang="ru-RU" dirty="0"/>
              <a:t>Со стандартным потоком вывода связан файл </a:t>
            </a:r>
            <a:r>
              <a:rPr lang="en-US" dirty="0"/>
              <a:t>/dev/</a:t>
            </a:r>
            <a:r>
              <a:rPr lang="en-US" dirty="0" err="1"/>
              <a:t>stdout</a:t>
            </a:r>
            <a:endParaRPr lang="ru-RU" dirty="0"/>
          </a:p>
          <a:p>
            <a:pPr lvl="1"/>
            <a:r>
              <a:rPr lang="en-US" dirty="0"/>
              <a:t>$ echo hello &gt; file.txt</a:t>
            </a:r>
          </a:p>
          <a:p>
            <a:pPr lvl="1"/>
            <a:r>
              <a:rPr lang="en-US" dirty="0"/>
              <a:t>$ cp file.txt /dev/</a:t>
            </a:r>
            <a:r>
              <a:rPr lang="en-US" dirty="0" err="1"/>
              <a:t>stdout</a:t>
            </a:r>
            <a:endParaRPr lang="en-US" dirty="0"/>
          </a:p>
          <a:p>
            <a:pPr lvl="1"/>
            <a:r>
              <a:rPr lang="en-US" dirty="0"/>
              <a:t>hello</a:t>
            </a:r>
          </a:p>
          <a:p>
            <a:pPr lvl="1"/>
            <a:endParaRPr lang="en-US" dirty="0"/>
          </a:p>
        </p:txBody>
      </p:sp>
      <p:sp>
        <p:nvSpPr>
          <p:cNvPr id="4" name="Content Placeholder 3">
            <a:extLst>
              <a:ext uri="{FF2B5EF4-FFF2-40B4-BE49-F238E27FC236}">
                <a16:creationId xmlns:a16="http://schemas.microsoft.com/office/drawing/2014/main" id="{FECD916D-F6BD-08B7-521E-6621E24150FB}"/>
              </a:ext>
            </a:extLst>
          </p:cNvPr>
          <p:cNvSpPr>
            <a:spLocks noGrp="1"/>
          </p:cNvSpPr>
          <p:nvPr>
            <p:ph sz="half" idx="2"/>
          </p:nvPr>
        </p:nvSpPr>
        <p:spPr/>
        <p:txBody>
          <a:bodyPr>
            <a:normAutofit fontScale="92500" lnSpcReduction="20000"/>
          </a:bodyPr>
          <a:lstStyle/>
          <a:p>
            <a:r>
              <a:rPr lang="ru-RU" dirty="0"/>
              <a:t>Данные, выводимые в </a:t>
            </a:r>
            <a:r>
              <a:rPr lang="en-US" dirty="0"/>
              <a:t>/dev/null</a:t>
            </a:r>
            <a:r>
              <a:rPr lang="ru-RU" dirty="0"/>
              <a:t> нигде не сохраняются</a:t>
            </a:r>
          </a:p>
          <a:p>
            <a:pPr lvl="1"/>
            <a:r>
              <a:rPr lang="ru-RU" dirty="0"/>
              <a:t>Можно отбрасывать вывод программ</a:t>
            </a:r>
          </a:p>
          <a:p>
            <a:pPr lvl="2"/>
            <a:r>
              <a:rPr lang="en-US" dirty="0">
                <a:latin typeface="Consolas" panose="020B0609020204030204" pitchFamily="49" charset="0"/>
              </a:rPr>
              <a:t>$ </a:t>
            </a:r>
            <a:r>
              <a:rPr lang="en-US" dirty="0" err="1">
                <a:latin typeface="Consolas" panose="020B0609020204030204" pitchFamily="49" charset="0"/>
              </a:rPr>
              <a:t>myprog</a:t>
            </a:r>
            <a:r>
              <a:rPr lang="en-US" dirty="0">
                <a:latin typeface="Consolas" panose="020B0609020204030204" pitchFamily="49" charset="0"/>
              </a:rPr>
              <a:t> 2&gt; /dev/null</a:t>
            </a:r>
          </a:p>
          <a:p>
            <a:r>
              <a:rPr lang="ru-RU" dirty="0"/>
              <a:t>Одна программа может читать вывод другой через канал</a:t>
            </a:r>
          </a:p>
          <a:p>
            <a:pPr lvl="1"/>
            <a:r>
              <a:rPr lang="en-US" dirty="0"/>
              <a:t>cat file.txt | grep "error“</a:t>
            </a:r>
          </a:p>
        </p:txBody>
      </p:sp>
      <p:sp>
        <p:nvSpPr>
          <p:cNvPr id="5" name="Slide Number Placeholder 4">
            <a:extLst>
              <a:ext uri="{FF2B5EF4-FFF2-40B4-BE49-F238E27FC236}">
                <a16:creationId xmlns:a16="http://schemas.microsoft.com/office/drawing/2014/main" id="{E8607269-66CB-AC55-90DE-B56E53F19717}"/>
              </a:ext>
            </a:extLst>
          </p:cNvPr>
          <p:cNvSpPr>
            <a:spLocks noGrp="1"/>
          </p:cNvSpPr>
          <p:nvPr>
            <p:ph type="sldNum" sz="quarter" idx="12"/>
          </p:nvPr>
        </p:nvSpPr>
        <p:spPr/>
        <p:txBody>
          <a:bodyPr/>
          <a:lstStyle/>
          <a:p>
            <a:fld id="{EDCC16D8-4CDA-43DA-B801-57449FB8CE28}" type="slidenum">
              <a:rPr lang="en-US" smtClean="0"/>
              <a:t>23</a:t>
            </a:fld>
            <a:endParaRPr lang="en-US"/>
          </a:p>
        </p:txBody>
      </p:sp>
    </p:spTree>
    <p:extLst>
      <p:ext uri="{BB962C8B-B14F-4D97-AF65-F5344CB8AC3E}">
        <p14:creationId xmlns:p14="http://schemas.microsoft.com/office/powerpoint/2010/main" val="11065567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5AF2F-A65F-3219-CD86-346DEF1EBD00}"/>
              </a:ext>
            </a:extLst>
          </p:cNvPr>
          <p:cNvSpPr>
            <a:spLocks noGrp="1"/>
          </p:cNvSpPr>
          <p:nvPr>
            <p:ph type="title"/>
          </p:nvPr>
        </p:nvSpPr>
        <p:spPr/>
        <p:txBody>
          <a:bodyPr/>
          <a:lstStyle/>
          <a:p>
            <a:r>
              <a:rPr lang="en-US" dirty="0"/>
              <a:t>Shell</a:t>
            </a:r>
            <a:r>
              <a:rPr lang="ru-RU" dirty="0"/>
              <a:t> – командный интерпретатор</a:t>
            </a:r>
            <a:endParaRPr lang="en-US" dirty="0"/>
          </a:p>
        </p:txBody>
      </p:sp>
      <p:sp>
        <p:nvSpPr>
          <p:cNvPr id="3" name="Content Placeholder 2">
            <a:extLst>
              <a:ext uri="{FF2B5EF4-FFF2-40B4-BE49-F238E27FC236}">
                <a16:creationId xmlns:a16="http://schemas.microsoft.com/office/drawing/2014/main" id="{A4E97B5B-F712-E816-F3C0-64D41D1B6581}"/>
              </a:ext>
            </a:extLst>
          </p:cNvPr>
          <p:cNvSpPr>
            <a:spLocks noGrp="1"/>
          </p:cNvSpPr>
          <p:nvPr>
            <p:ph sz="half" idx="1"/>
          </p:nvPr>
        </p:nvSpPr>
        <p:spPr>
          <a:xfrm>
            <a:off x="838200" y="1825625"/>
            <a:ext cx="6151692" cy="4351338"/>
          </a:xfrm>
        </p:spPr>
        <p:txBody>
          <a:bodyPr>
            <a:normAutofit fontScale="92500" lnSpcReduction="10000"/>
          </a:bodyPr>
          <a:lstStyle/>
          <a:p>
            <a:r>
              <a:rPr lang="en-US" dirty="0"/>
              <a:t>Shell — </a:t>
            </a:r>
            <a:r>
              <a:rPr lang="en-US" dirty="0" err="1"/>
              <a:t>программа</a:t>
            </a:r>
            <a:r>
              <a:rPr lang="en-US" dirty="0"/>
              <a:t>, </a:t>
            </a:r>
            <a:r>
              <a:rPr lang="en-US" dirty="0" err="1"/>
              <a:t>которая</a:t>
            </a:r>
            <a:r>
              <a:rPr lang="en-US" dirty="0"/>
              <a:t> </a:t>
            </a:r>
            <a:r>
              <a:rPr lang="en-US" dirty="0" err="1"/>
              <a:t>принимает</a:t>
            </a:r>
            <a:r>
              <a:rPr lang="en-US" dirty="0"/>
              <a:t> и </a:t>
            </a:r>
            <a:r>
              <a:rPr lang="en-US" dirty="0" err="1"/>
              <a:t>выполняет</a:t>
            </a:r>
            <a:r>
              <a:rPr lang="en-US" dirty="0"/>
              <a:t> </a:t>
            </a:r>
            <a:r>
              <a:rPr lang="en-US" dirty="0" err="1"/>
              <a:t>команды</a:t>
            </a:r>
            <a:r>
              <a:rPr lang="en-US" dirty="0"/>
              <a:t> </a:t>
            </a:r>
            <a:r>
              <a:rPr lang="en-US" dirty="0" err="1"/>
              <a:t>пользователя</a:t>
            </a:r>
            <a:endParaRPr lang="en-US" dirty="0"/>
          </a:p>
          <a:p>
            <a:pPr lvl="1"/>
            <a:r>
              <a:rPr lang="en-US" dirty="0" err="1"/>
              <a:t>Работает</a:t>
            </a:r>
            <a:r>
              <a:rPr lang="en-US" dirty="0"/>
              <a:t> в </a:t>
            </a:r>
            <a:r>
              <a:rPr lang="en-US" dirty="0" err="1"/>
              <a:t>пользовательском</a:t>
            </a:r>
            <a:r>
              <a:rPr lang="en-US" dirty="0"/>
              <a:t> </a:t>
            </a:r>
            <a:r>
              <a:rPr lang="en-US" dirty="0" err="1"/>
              <a:t>режиме</a:t>
            </a:r>
            <a:endParaRPr lang="ru-RU" dirty="0"/>
          </a:p>
          <a:p>
            <a:pPr lvl="1"/>
            <a:r>
              <a:rPr lang="en-US" dirty="0" err="1"/>
              <a:t>Разбирает</a:t>
            </a:r>
            <a:r>
              <a:rPr lang="en-US" dirty="0"/>
              <a:t> </a:t>
            </a:r>
            <a:r>
              <a:rPr lang="en-US" dirty="0" err="1"/>
              <a:t>командную</a:t>
            </a:r>
            <a:r>
              <a:rPr lang="en-US" dirty="0"/>
              <a:t> </a:t>
            </a:r>
            <a:r>
              <a:rPr lang="en-US" dirty="0" err="1"/>
              <a:t>строку</a:t>
            </a:r>
            <a:r>
              <a:rPr lang="en-US" dirty="0"/>
              <a:t> и </a:t>
            </a:r>
            <a:r>
              <a:rPr lang="en-US" dirty="0" err="1"/>
              <a:t>запускает</a:t>
            </a:r>
            <a:r>
              <a:rPr lang="en-US" dirty="0"/>
              <a:t> </a:t>
            </a:r>
            <a:r>
              <a:rPr lang="en-US" dirty="0" err="1"/>
              <a:t>программы</a:t>
            </a:r>
            <a:r>
              <a:rPr lang="en-US" dirty="0"/>
              <a:t> </a:t>
            </a:r>
          </a:p>
          <a:p>
            <a:pPr lvl="1"/>
            <a:r>
              <a:rPr lang="en-US" dirty="0" err="1"/>
              <a:t>Управляет</a:t>
            </a:r>
            <a:r>
              <a:rPr lang="en-US" dirty="0"/>
              <a:t> </a:t>
            </a:r>
            <a:r>
              <a:rPr lang="en-US" dirty="0" err="1"/>
              <a:t>перенаправлениями</a:t>
            </a:r>
            <a:r>
              <a:rPr lang="en-US" dirty="0"/>
              <a:t>, </a:t>
            </a:r>
            <a:r>
              <a:rPr lang="en-US" dirty="0" err="1"/>
              <a:t>каналами</a:t>
            </a:r>
            <a:r>
              <a:rPr lang="en-US" dirty="0"/>
              <a:t> и </a:t>
            </a:r>
            <a:r>
              <a:rPr lang="en-US" dirty="0" err="1"/>
              <a:t>переменными</a:t>
            </a:r>
            <a:r>
              <a:rPr lang="en-US" dirty="0"/>
              <a:t> </a:t>
            </a:r>
            <a:r>
              <a:rPr lang="en-US" dirty="0" err="1"/>
              <a:t>окружения</a:t>
            </a:r>
            <a:endParaRPr lang="ru-RU" dirty="0"/>
          </a:p>
          <a:p>
            <a:pPr lvl="2"/>
            <a:r>
              <a:rPr lang="en-US" dirty="0"/>
              <a:t>program &gt; file.txt</a:t>
            </a:r>
          </a:p>
          <a:p>
            <a:pPr lvl="2"/>
            <a:r>
              <a:rPr lang="en-US" dirty="0"/>
              <a:t> program1 | program2</a:t>
            </a:r>
          </a:p>
          <a:p>
            <a:pPr lvl="1"/>
            <a:r>
              <a:rPr lang="en-US" dirty="0" err="1"/>
              <a:t>Использует</a:t>
            </a:r>
            <a:r>
              <a:rPr lang="en-US" dirty="0"/>
              <a:t> </a:t>
            </a:r>
            <a:r>
              <a:rPr lang="en-US" dirty="0" err="1"/>
              <a:t>системные</a:t>
            </a:r>
            <a:r>
              <a:rPr lang="en-US" dirty="0"/>
              <a:t> </a:t>
            </a:r>
            <a:r>
              <a:rPr lang="en-US" dirty="0" err="1"/>
              <a:t>вызовы</a:t>
            </a:r>
            <a:r>
              <a:rPr lang="en-US" dirty="0"/>
              <a:t> </a:t>
            </a:r>
            <a:r>
              <a:rPr lang="en-US" dirty="0" err="1"/>
              <a:t>для</a:t>
            </a:r>
            <a:r>
              <a:rPr lang="en-US" dirty="0"/>
              <a:t> </a:t>
            </a:r>
            <a:r>
              <a:rPr lang="en-US" dirty="0" err="1"/>
              <a:t>создания</a:t>
            </a:r>
            <a:r>
              <a:rPr lang="en-US" dirty="0"/>
              <a:t> </a:t>
            </a:r>
            <a:r>
              <a:rPr lang="en-US" dirty="0" err="1"/>
              <a:t>процессов</a:t>
            </a:r>
            <a:r>
              <a:rPr lang="en-US" dirty="0"/>
              <a:t> и </a:t>
            </a:r>
            <a:r>
              <a:rPr lang="en-US" dirty="0" err="1"/>
              <a:t>работы</a:t>
            </a:r>
            <a:r>
              <a:rPr lang="en-US" dirty="0"/>
              <a:t> с </a:t>
            </a:r>
            <a:r>
              <a:rPr lang="en-US" dirty="0" err="1"/>
              <a:t>файлами</a:t>
            </a:r>
            <a:r>
              <a:rPr lang="en-US" dirty="0"/>
              <a:t> </a:t>
            </a:r>
          </a:p>
          <a:p>
            <a:r>
              <a:rPr lang="en-US" dirty="0" err="1"/>
              <a:t>Примеры</a:t>
            </a:r>
            <a:r>
              <a:rPr lang="en-US" dirty="0"/>
              <a:t>: </a:t>
            </a:r>
            <a:r>
              <a:rPr lang="en-US" dirty="0" err="1"/>
              <a:t>sh</a:t>
            </a:r>
            <a:r>
              <a:rPr lang="en-US" dirty="0"/>
              <a:t>, bash, </a:t>
            </a:r>
            <a:r>
              <a:rPr lang="en-US" dirty="0" err="1"/>
              <a:t>zsh</a:t>
            </a:r>
            <a:r>
              <a:rPr lang="en-US" dirty="0"/>
              <a:t>, </a:t>
            </a:r>
            <a:r>
              <a:rPr lang="en-US" dirty="0" err="1"/>
              <a:t>ksh</a:t>
            </a:r>
            <a:r>
              <a:rPr lang="en-US" dirty="0"/>
              <a:t> </a:t>
            </a:r>
          </a:p>
        </p:txBody>
      </p:sp>
      <p:pic>
        <p:nvPicPr>
          <p:cNvPr id="6" name="Content Placeholder 5">
            <a:extLst>
              <a:ext uri="{FF2B5EF4-FFF2-40B4-BE49-F238E27FC236}">
                <a16:creationId xmlns:a16="http://schemas.microsoft.com/office/drawing/2014/main" id="{96914755-D4B5-AED4-58D6-38B898712254}"/>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989892" y="2058194"/>
            <a:ext cx="4363908" cy="3272931"/>
          </a:xfrm>
          <a:prstGeom prst="rect">
            <a:avLst/>
          </a:prstGeom>
        </p:spPr>
      </p:pic>
      <p:sp>
        <p:nvSpPr>
          <p:cNvPr id="7" name="Slide Number Placeholder 6">
            <a:extLst>
              <a:ext uri="{FF2B5EF4-FFF2-40B4-BE49-F238E27FC236}">
                <a16:creationId xmlns:a16="http://schemas.microsoft.com/office/drawing/2014/main" id="{DE44CA5A-3DDC-E6D3-468E-86F415CE4677}"/>
              </a:ext>
            </a:extLst>
          </p:cNvPr>
          <p:cNvSpPr>
            <a:spLocks noGrp="1"/>
          </p:cNvSpPr>
          <p:nvPr>
            <p:ph type="sldNum" sz="quarter" idx="12"/>
          </p:nvPr>
        </p:nvSpPr>
        <p:spPr/>
        <p:txBody>
          <a:bodyPr/>
          <a:lstStyle/>
          <a:p>
            <a:fld id="{EDCC16D8-4CDA-43DA-B801-57449FB8CE28}" type="slidenum">
              <a:rPr lang="en-US" smtClean="0"/>
              <a:t>24</a:t>
            </a:fld>
            <a:endParaRPr lang="en-US"/>
          </a:p>
        </p:txBody>
      </p:sp>
    </p:spTree>
    <p:extLst>
      <p:ext uri="{BB962C8B-B14F-4D97-AF65-F5344CB8AC3E}">
        <p14:creationId xmlns:p14="http://schemas.microsoft.com/office/powerpoint/2010/main" val="17405743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F789D-057A-2217-521B-1D5CA206E0F8}"/>
              </a:ext>
            </a:extLst>
          </p:cNvPr>
          <p:cNvSpPr>
            <a:spLocks noGrp="1"/>
          </p:cNvSpPr>
          <p:nvPr>
            <p:ph type="title"/>
          </p:nvPr>
        </p:nvSpPr>
        <p:spPr/>
        <p:txBody>
          <a:bodyPr/>
          <a:lstStyle/>
          <a:p>
            <a:r>
              <a:rPr lang="en-US" dirty="0" err="1"/>
              <a:t>Возможности</a:t>
            </a:r>
            <a:r>
              <a:rPr lang="en-US" dirty="0"/>
              <a:t> shell и </a:t>
            </a:r>
            <a:r>
              <a:rPr lang="en-US" dirty="0" err="1"/>
              <a:t>его</a:t>
            </a:r>
            <a:r>
              <a:rPr lang="en-US" dirty="0"/>
              <a:t> </a:t>
            </a:r>
            <a:r>
              <a:rPr lang="en-US" dirty="0" err="1"/>
              <a:t>место</a:t>
            </a:r>
            <a:r>
              <a:rPr lang="en-US" dirty="0"/>
              <a:t> </a:t>
            </a:r>
            <a:r>
              <a:rPr lang="en-US" dirty="0" err="1"/>
              <a:t>среди</a:t>
            </a:r>
            <a:r>
              <a:rPr lang="en-US" dirty="0"/>
              <a:t> </a:t>
            </a:r>
            <a:r>
              <a:rPr lang="en-US" dirty="0" err="1"/>
              <a:t>интерфейсов</a:t>
            </a:r>
            <a:r>
              <a:rPr lang="en-US" dirty="0"/>
              <a:t> ОС</a:t>
            </a:r>
          </a:p>
        </p:txBody>
      </p:sp>
      <p:sp>
        <p:nvSpPr>
          <p:cNvPr id="3" name="Content Placeholder 2">
            <a:extLst>
              <a:ext uri="{FF2B5EF4-FFF2-40B4-BE49-F238E27FC236}">
                <a16:creationId xmlns:a16="http://schemas.microsoft.com/office/drawing/2014/main" id="{BF635282-7A4B-BA5E-9135-F8EA419F5E0B}"/>
              </a:ext>
            </a:extLst>
          </p:cNvPr>
          <p:cNvSpPr>
            <a:spLocks noGrp="1"/>
          </p:cNvSpPr>
          <p:nvPr>
            <p:ph idx="1"/>
          </p:nvPr>
        </p:nvSpPr>
        <p:spPr/>
        <p:txBody>
          <a:bodyPr>
            <a:normAutofit lnSpcReduction="10000"/>
          </a:bodyPr>
          <a:lstStyle/>
          <a:p>
            <a:pPr lvl="0"/>
            <a:r>
              <a:rPr lang="en-US" dirty="0" err="1"/>
              <a:t>Перенаправление</a:t>
            </a:r>
            <a:r>
              <a:rPr lang="en-US" dirty="0"/>
              <a:t> </a:t>
            </a:r>
            <a:r>
              <a:rPr lang="en-US" dirty="0" err="1"/>
              <a:t>вывода</a:t>
            </a:r>
            <a:r>
              <a:rPr lang="en-US" dirty="0"/>
              <a:t>:</a:t>
            </a:r>
            <a:endParaRPr lang="ru-RU" dirty="0"/>
          </a:p>
          <a:p>
            <a:pPr lvl="1"/>
            <a:r>
              <a:rPr lang="en-US" dirty="0"/>
              <a:t>$ date &gt; file </a:t>
            </a:r>
          </a:p>
          <a:p>
            <a:pPr lvl="0"/>
            <a:r>
              <a:rPr lang="en-US" dirty="0" err="1"/>
              <a:t>Перенаправление</a:t>
            </a:r>
            <a:r>
              <a:rPr lang="en-US" dirty="0"/>
              <a:t> </a:t>
            </a:r>
            <a:r>
              <a:rPr lang="en-US" dirty="0" err="1"/>
              <a:t>ввода</a:t>
            </a:r>
            <a:r>
              <a:rPr lang="en-US" dirty="0"/>
              <a:t> и </a:t>
            </a:r>
            <a:r>
              <a:rPr lang="en-US" dirty="0" err="1"/>
              <a:t>вывода</a:t>
            </a:r>
            <a:r>
              <a:rPr lang="en-US" dirty="0"/>
              <a:t>:</a:t>
            </a:r>
            <a:endParaRPr lang="ru-RU" dirty="0"/>
          </a:p>
          <a:p>
            <a:pPr lvl="1"/>
            <a:r>
              <a:rPr lang="en-US" dirty="0"/>
              <a:t>$ sort &lt; file1 &gt; file2 </a:t>
            </a:r>
          </a:p>
          <a:p>
            <a:pPr lvl="0"/>
            <a:r>
              <a:rPr lang="en-US" dirty="0" err="1"/>
              <a:t>Каналы</a:t>
            </a:r>
            <a:r>
              <a:rPr lang="en-US" dirty="0"/>
              <a:t> </a:t>
            </a:r>
            <a:r>
              <a:rPr lang="en-US" dirty="0" err="1"/>
              <a:t>для</a:t>
            </a:r>
            <a:r>
              <a:rPr lang="en-US" dirty="0"/>
              <a:t> </a:t>
            </a:r>
            <a:r>
              <a:rPr lang="en-US" dirty="0" err="1"/>
              <a:t>соединения</a:t>
            </a:r>
            <a:r>
              <a:rPr lang="en-US" dirty="0"/>
              <a:t> </a:t>
            </a:r>
            <a:r>
              <a:rPr lang="en-US" dirty="0" err="1"/>
              <a:t>программ</a:t>
            </a:r>
            <a:r>
              <a:rPr lang="en-US" dirty="0"/>
              <a:t>:</a:t>
            </a:r>
            <a:endParaRPr lang="ru-RU" dirty="0"/>
          </a:p>
          <a:p>
            <a:pPr lvl="1"/>
            <a:r>
              <a:rPr lang="en-US" dirty="0"/>
              <a:t>$ cat file1 file2 | sort </a:t>
            </a:r>
          </a:p>
          <a:p>
            <a:pPr lvl="0"/>
            <a:r>
              <a:rPr lang="en-US" dirty="0" err="1"/>
              <a:t>Фоновый</a:t>
            </a:r>
            <a:r>
              <a:rPr lang="en-US" dirty="0"/>
              <a:t> </a:t>
            </a:r>
            <a:r>
              <a:rPr lang="en-US" dirty="0" err="1"/>
              <a:t>запуск</a:t>
            </a:r>
            <a:r>
              <a:rPr lang="en-US" dirty="0"/>
              <a:t>:</a:t>
            </a:r>
            <a:endParaRPr lang="ru-RU" dirty="0"/>
          </a:p>
          <a:p>
            <a:pPr lvl="1"/>
            <a:r>
              <a:rPr lang="en-US" dirty="0"/>
              <a:t>$ </a:t>
            </a:r>
            <a:r>
              <a:rPr lang="en-US" dirty="0" err="1"/>
              <a:t>long_task</a:t>
            </a:r>
            <a:r>
              <a:rPr lang="en-US" dirty="0"/>
              <a:t> &amp; </a:t>
            </a:r>
          </a:p>
          <a:p>
            <a:pPr lvl="0"/>
            <a:r>
              <a:rPr lang="en-US" dirty="0"/>
              <a:t>Shell — </a:t>
            </a:r>
            <a:r>
              <a:rPr lang="en-US" dirty="0" err="1"/>
              <a:t>текстовый</a:t>
            </a:r>
            <a:r>
              <a:rPr lang="en-US" dirty="0"/>
              <a:t> </a:t>
            </a:r>
            <a:r>
              <a:rPr lang="en-US" dirty="0" err="1"/>
              <a:t>интерфейс</a:t>
            </a:r>
            <a:r>
              <a:rPr lang="en-US" dirty="0"/>
              <a:t> к ОС;</a:t>
            </a:r>
            <a:endParaRPr lang="ru-RU" dirty="0"/>
          </a:p>
          <a:p>
            <a:pPr lvl="0"/>
            <a:r>
              <a:rPr lang="en-US" dirty="0"/>
              <a:t>GUI — </a:t>
            </a:r>
            <a:r>
              <a:rPr lang="en-US" dirty="0" err="1"/>
              <a:t>тоже</a:t>
            </a:r>
            <a:r>
              <a:rPr lang="en-US" dirty="0"/>
              <a:t> </a:t>
            </a:r>
            <a:r>
              <a:rPr lang="en-US" dirty="0" err="1"/>
              <a:t>программа</a:t>
            </a:r>
            <a:r>
              <a:rPr lang="en-US" dirty="0"/>
              <a:t> </a:t>
            </a:r>
            <a:r>
              <a:rPr lang="en-US" dirty="0" err="1"/>
              <a:t>поверх</a:t>
            </a:r>
            <a:r>
              <a:rPr lang="en-US" dirty="0"/>
              <a:t> ОС</a:t>
            </a:r>
          </a:p>
        </p:txBody>
      </p:sp>
      <p:sp>
        <p:nvSpPr>
          <p:cNvPr id="4" name="Slide Number Placeholder 3">
            <a:extLst>
              <a:ext uri="{FF2B5EF4-FFF2-40B4-BE49-F238E27FC236}">
                <a16:creationId xmlns:a16="http://schemas.microsoft.com/office/drawing/2014/main" id="{367F50D6-C32B-3B2F-79AF-2A0CD2F40AEE}"/>
              </a:ext>
            </a:extLst>
          </p:cNvPr>
          <p:cNvSpPr>
            <a:spLocks noGrp="1"/>
          </p:cNvSpPr>
          <p:nvPr>
            <p:ph type="sldNum" sz="quarter" idx="12"/>
          </p:nvPr>
        </p:nvSpPr>
        <p:spPr/>
        <p:txBody>
          <a:bodyPr/>
          <a:lstStyle/>
          <a:p>
            <a:fld id="{EDCC16D8-4CDA-43DA-B801-57449FB8CE28}" type="slidenum">
              <a:rPr lang="en-US" smtClean="0"/>
              <a:t>25</a:t>
            </a:fld>
            <a:endParaRPr lang="en-US"/>
          </a:p>
        </p:txBody>
      </p:sp>
    </p:spTree>
    <p:extLst>
      <p:ext uri="{BB962C8B-B14F-4D97-AF65-F5344CB8AC3E}">
        <p14:creationId xmlns:p14="http://schemas.microsoft.com/office/powerpoint/2010/main" val="23033434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7134FA1-FA1E-BF82-C461-60CB62F94F2D}"/>
              </a:ext>
            </a:extLst>
          </p:cNvPr>
          <p:cNvSpPr>
            <a:spLocks noGrp="1"/>
          </p:cNvSpPr>
          <p:nvPr>
            <p:ph type="title"/>
          </p:nvPr>
        </p:nvSpPr>
        <p:spPr/>
        <p:txBody>
          <a:bodyPr/>
          <a:lstStyle/>
          <a:p>
            <a:r>
              <a:rPr lang="ru-RU" dirty="0"/>
              <a:t>Развитие железа и ОС</a:t>
            </a:r>
            <a:endParaRPr lang="en-US" dirty="0"/>
          </a:p>
        </p:txBody>
      </p:sp>
      <p:sp>
        <p:nvSpPr>
          <p:cNvPr id="5" name="Text Placeholder 4">
            <a:extLst>
              <a:ext uri="{FF2B5EF4-FFF2-40B4-BE49-F238E27FC236}">
                <a16:creationId xmlns:a16="http://schemas.microsoft.com/office/drawing/2014/main" id="{EB7CB049-02FB-EE82-07DB-03F48FE9588C}"/>
              </a:ext>
            </a:extLst>
          </p:cNvPr>
          <p:cNvSpPr>
            <a:spLocks noGrp="1"/>
          </p:cNvSpPr>
          <p:nvPr>
            <p:ph type="body" idx="1"/>
          </p:nvPr>
        </p:nvSpPr>
        <p:spPr/>
        <p:txBody>
          <a:bodyPr/>
          <a:lstStyle/>
          <a:p>
            <a:endParaRPr lang="en-US"/>
          </a:p>
        </p:txBody>
      </p:sp>
      <p:sp>
        <p:nvSpPr>
          <p:cNvPr id="2" name="Slide Number Placeholder 1">
            <a:extLst>
              <a:ext uri="{FF2B5EF4-FFF2-40B4-BE49-F238E27FC236}">
                <a16:creationId xmlns:a16="http://schemas.microsoft.com/office/drawing/2014/main" id="{36A1E85A-B515-2CD8-36CA-0B8E8FE3BA70}"/>
              </a:ext>
            </a:extLst>
          </p:cNvPr>
          <p:cNvSpPr>
            <a:spLocks noGrp="1"/>
          </p:cNvSpPr>
          <p:nvPr>
            <p:ph type="sldNum" sz="quarter" idx="12"/>
          </p:nvPr>
        </p:nvSpPr>
        <p:spPr/>
        <p:txBody>
          <a:bodyPr/>
          <a:lstStyle/>
          <a:p>
            <a:fld id="{EDCC16D8-4CDA-43DA-B801-57449FB8CE28}" type="slidenum">
              <a:rPr lang="en-US" smtClean="0"/>
              <a:t>26</a:t>
            </a:fld>
            <a:endParaRPr lang="en-US"/>
          </a:p>
        </p:txBody>
      </p:sp>
    </p:spTree>
    <p:extLst>
      <p:ext uri="{BB962C8B-B14F-4D97-AF65-F5344CB8AC3E}">
        <p14:creationId xmlns:p14="http://schemas.microsoft.com/office/powerpoint/2010/main" val="7573675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2B0D87C-D131-8631-FF39-C0E23CC205F0}"/>
              </a:ext>
            </a:extLst>
          </p:cNvPr>
          <p:cNvSpPr>
            <a:spLocks noGrp="1"/>
          </p:cNvSpPr>
          <p:nvPr>
            <p:ph type="title"/>
          </p:nvPr>
        </p:nvSpPr>
        <p:spPr/>
        <p:txBody>
          <a:bodyPr/>
          <a:lstStyle/>
          <a:p>
            <a:r>
              <a:rPr lang="en-US" dirty="0" err="1"/>
              <a:t>Почему</a:t>
            </a:r>
            <a:r>
              <a:rPr lang="en-US" dirty="0"/>
              <a:t> </a:t>
            </a:r>
            <a:r>
              <a:rPr lang="en-US" dirty="0" err="1"/>
              <a:t>старые</a:t>
            </a:r>
            <a:r>
              <a:rPr lang="en-US" dirty="0"/>
              <a:t> </a:t>
            </a:r>
            <a:r>
              <a:rPr lang="en-US" dirty="0" err="1"/>
              <a:t>идеи</a:t>
            </a:r>
            <a:r>
              <a:rPr lang="en-US" dirty="0"/>
              <a:t> </a:t>
            </a:r>
            <a:r>
              <a:rPr lang="en-US" dirty="0" err="1"/>
              <a:t>возвращаются</a:t>
            </a:r>
            <a:endParaRPr lang="en-US" dirty="0"/>
          </a:p>
        </p:txBody>
      </p:sp>
      <p:sp>
        <p:nvSpPr>
          <p:cNvPr id="5" name="Content Placeholder 4">
            <a:extLst>
              <a:ext uri="{FF2B5EF4-FFF2-40B4-BE49-F238E27FC236}">
                <a16:creationId xmlns:a16="http://schemas.microsoft.com/office/drawing/2014/main" id="{3A007797-289B-47CD-71C1-CF313860B68C}"/>
              </a:ext>
            </a:extLst>
          </p:cNvPr>
          <p:cNvSpPr>
            <a:spLocks noGrp="1"/>
          </p:cNvSpPr>
          <p:nvPr>
            <p:ph idx="1"/>
          </p:nvPr>
        </p:nvSpPr>
        <p:spPr/>
        <p:txBody>
          <a:bodyPr/>
          <a:lstStyle/>
          <a:p>
            <a:r>
              <a:rPr lang="en-US" dirty="0" err="1"/>
              <a:t>Архитектура</a:t>
            </a:r>
            <a:r>
              <a:rPr lang="en-US" dirty="0"/>
              <a:t> ОС </a:t>
            </a:r>
            <a:r>
              <a:rPr lang="en-US" dirty="0" err="1"/>
              <a:t>зависит</a:t>
            </a:r>
            <a:r>
              <a:rPr lang="en-US" dirty="0"/>
              <a:t> </a:t>
            </a:r>
            <a:r>
              <a:rPr lang="en-US" dirty="0" err="1"/>
              <a:t>от</a:t>
            </a:r>
            <a:r>
              <a:rPr lang="en-US" dirty="0"/>
              <a:t> </a:t>
            </a:r>
            <a:r>
              <a:rPr lang="en-US" dirty="0" err="1"/>
              <a:t>возможностей</a:t>
            </a:r>
            <a:r>
              <a:rPr lang="en-US" dirty="0"/>
              <a:t> </a:t>
            </a:r>
            <a:r>
              <a:rPr lang="en-US" dirty="0" err="1"/>
              <a:t>аппаратуры</a:t>
            </a:r>
            <a:endParaRPr lang="en-US" dirty="0"/>
          </a:p>
          <a:p>
            <a:pPr lvl="1"/>
            <a:r>
              <a:rPr lang="en-US" dirty="0" err="1"/>
              <a:t>При</a:t>
            </a:r>
            <a:r>
              <a:rPr lang="en-US" dirty="0"/>
              <a:t> </a:t>
            </a:r>
            <a:r>
              <a:rPr lang="en-US" dirty="0" err="1"/>
              <a:t>ограниченных</a:t>
            </a:r>
            <a:r>
              <a:rPr lang="en-US" dirty="0"/>
              <a:t> </a:t>
            </a:r>
            <a:r>
              <a:rPr lang="en-US" dirty="0" err="1"/>
              <a:t>ресурсах</a:t>
            </a:r>
            <a:r>
              <a:rPr lang="en-US" dirty="0"/>
              <a:t> </a:t>
            </a:r>
            <a:r>
              <a:rPr lang="en-US" dirty="0" err="1"/>
              <a:t>системы</a:t>
            </a:r>
            <a:r>
              <a:rPr lang="en-US" dirty="0"/>
              <a:t> </a:t>
            </a:r>
            <a:r>
              <a:rPr lang="en-US" dirty="0" err="1"/>
              <a:t>делают</a:t>
            </a:r>
            <a:r>
              <a:rPr lang="en-US" dirty="0"/>
              <a:t> </a:t>
            </a:r>
            <a:r>
              <a:rPr lang="en-US" dirty="0" err="1"/>
              <a:t>проще</a:t>
            </a:r>
            <a:r>
              <a:rPr lang="en-US" dirty="0"/>
              <a:t> </a:t>
            </a:r>
          </a:p>
          <a:p>
            <a:pPr lvl="1"/>
            <a:r>
              <a:rPr lang="en-US" dirty="0"/>
              <a:t>С </a:t>
            </a:r>
            <a:r>
              <a:rPr lang="en-US" dirty="0" err="1"/>
              <a:t>ростом</a:t>
            </a:r>
            <a:r>
              <a:rPr lang="en-US" dirty="0"/>
              <a:t> </a:t>
            </a:r>
            <a:r>
              <a:rPr lang="en-US" dirty="0" err="1"/>
              <a:t>ресурсов</a:t>
            </a:r>
            <a:r>
              <a:rPr lang="en-US" dirty="0"/>
              <a:t> </a:t>
            </a:r>
            <a:r>
              <a:rPr lang="en-US" dirty="0" err="1"/>
              <a:t>появляются</a:t>
            </a:r>
            <a:r>
              <a:rPr lang="en-US" dirty="0"/>
              <a:t> </a:t>
            </a:r>
            <a:r>
              <a:rPr lang="en-US" dirty="0" err="1"/>
              <a:t>новые</a:t>
            </a:r>
            <a:r>
              <a:rPr lang="en-US" dirty="0"/>
              <a:t> </a:t>
            </a:r>
            <a:r>
              <a:rPr lang="en-US" dirty="0" err="1"/>
              <a:t>абстракции</a:t>
            </a:r>
            <a:r>
              <a:rPr lang="en-US" dirty="0"/>
              <a:t> и </a:t>
            </a:r>
            <a:r>
              <a:rPr lang="en-US" dirty="0" err="1"/>
              <a:t>механизмы</a:t>
            </a:r>
            <a:r>
              <a:rPr lang="en-US" dirty="0"/>
              <a:t> </a:t>
            </a:r>
            <a:r>
              <a:rPr lang="en-US" dirty="0" err="1"/>
              <a:t>защиты</a:t>
            </a:r>
            <a:r>
              <a:rPr lang="en-US" dirty="0"/>
              <a:t> </a:t>
            </a:r>
          </a:p>
          <a:p>
            <a:pPr lvl="1"/>
            <a:r>
              <a:rPr lang="en-US" dirty="0" err="1"/>
              <a:t>Новые</a:t>
            </a:r>
            <a:r>
              <a:rPr lang="en-US" dirty="0"/>
              <a:t> </a:t>
            </a:r>
            <a:r>
              <a:rPr lang="en-US" dirty="0" err="1"/>
              <a:t>классы</a:t>
            </a:r>
            <a:r>
              <a:rPr lang="en-US" dirty="0"/>
              <a:t> </a:t>
            </a:r>
            <a:r>
              <a:rPr lang="en-US" dirty="0" err="1"/>
              <a:t>устройств</a:t>
            </a:r>
            <a:r>
              <a:rPr lang="en-US" dirty="0"/>
              <a:t> </a:t>
            </a:r>
            <a:r>
              <a:rPr lang="en-US" dirty="0" err="1"/>
              <a:t>часто</a:t>
            </a:r>
            <a:r>
              <a:rPr lang="en-US" dirty="0"/>
              <a:t> </a:t>
            </a:r>
            <a:r>
              <a:rPr lang="en-US" dirty="0" err="1"/>
              <a:t>начинают</a:t>
            </a:r>
            <a:r>
              <a:rPr lang="en-US" dirty="0"/>
              <a:t> с </a:t>
            </a:r>
            <a:r>
              <a:rPr lang="en-US" dirty="0" err="1"/>
              <a:t>простых</a:t>
            </a:r>
            <a:r>
              <a:rPr lang="en-US" dirty="0"/>
              <a:t> </a:t>
            </a:r>
            <a:r>
              <a:rPr lang="en-US" dirty="0" err="1"/>
              <a:t>решений</a:t>
            </a:r>
            <a:r>
              <a:rPr lang="en-US" dirty="0"/>
              <a:t> </a:t>
            </a:r>
          </a:p>
          <a:p>
            <a:pPr lvl="1"/>
            <a:r>
              <a:rPr lang="en-US" dirty="0" err="1"/>
              <a:t>По</a:t>
            </a:r>
            <a:r>
              <a:rPr lang="en-US" dirty="0"/>
              <a:t> </a:t>
            </a:r>
            <a:r>
              <a:rPr lang="en-US" dirty="0" err="1"/>
              <a:t>мере</a:t>
            </a:r>
            <a:r>
              <a:rPr lang="en-US" dirty="0"/>
              <a:t> </a:t>
            </a:r>
            <a:r>
              <a:rPr lang="en-US" dirty="0" err="1"/>
              <a:t>развития</a:t>
            </a:r>
            <a:r>
              <a:rPr lang="en-US" dirty="0"/>
              <a:t> </a:t>
            </a:r>
            <a:r>
              <a:rPr lang="en-US" dirty="0" err="1"/>
              <a:t>они</a:t>
            </a:r>
            <a:r>
              <a:rPr lang="en-US" dirty="0"/>
              <a:t> </a:t>
            </a:r>
            <a:r>
              <a:rPr lang="en-US" dirty="0" err="1"/>
              <a:t>повторно</a:t>
            </a:r>
            <a:r>
              <a:rPr lang="en-US" dirty="0"/>
              <a:t> </a:t>
            </a:r>
            <a:r>
              <a:rPr lang="en-US" dirty="0" err="1"/>
              <a:t>получают</a:t>
            </a:r>
            <a:r>
              <a:rPr lang="en-US" dirty="0"/>
              <a:t> </a:t>
            </a:r>
            <a:r>
              <a:rPr lang="en-US" dirty="0" err="1"/>
              <a:t>возможности</a:t>
            </a:r>
            <a:r>
              <a:rPr lang="en-US" dirty="0"/>
              <a:t> </a:t>
            </a:r>
            <a:r>
              <a:rPr lang="en-US" dirty="0" err="1"/>
              <a:t>больших</a:t>
            </a:r>
            <a:r>
              <a:rPr lang="en-US" dirty="0"/>
              <a:t> </a:t>
            </a:r>
            <a:r>
              <a:rPr lang="en-US" dirty="0" err="1"/>
              <a:t>систем</a:t>
            </a:r>
            <a:r>
              <a:rPr lang="en-US" dirty="0"/>
              <a:t> </a:t>
            </a:r>
          </a:p>
          <a:p>
            <a:r>
              <a:rPr lang="en-US" dirty="0" err="1"/>
              <a:t>Не</a:t>
            </a:r>
            <a:r>
              <a:rPr lang="en-US" dirty="0"/>
              <a:t> </a:t>
            </a:r>
            <a:r>
              <a:rPr lang="en-US" dirty="0" err="1"/>
              <a:t>существует</a:t>
            </a:r>
            <a:r>
              <a:rPr lang="en-US" dirty="0"/>
              <a:t> </a:t>
            </a:r>
            <a:r>
              <a:rPr lang="en-US" dirty="0" err="1"/>
              <a:t>решений</a:t>
            </a:r>
            <a:r>
              <a:rPr lang="en-US" dirty="0"/>
              <a:t> «</a:t>
            </a:r>
            <a:r>
              <a:rPr lang="en-US" dirty="0" err="1"/>
              <a:t>старых</a:t>
            </a:r>
            <a:r>
              <a:rPr lang="en-US" dirty="0"/>
              <a:t>» и «</a:t>
            </a:r>
            <a:r>
              <a:rPr lang="en-US" dirty="0" err="1"/>
              <a:t>новых</a:t>
            </a:r>
            <a:r>
              <a:rPr lang="en-US" dirty="0"/>
              <a:t>» — </a:t>
            </a:r>
            <a:r>
              <a:rPr lang="en-US" dirty="0" err="1"/>
              <a:t>есть</a:t>
            </a:r>
            <a:r>
              <a:rPr lang="en-US" dirty="0"/>
              <a:t> </a:t>
            </a:r>
            <a:r>
              <a:rPr lang="en-US" dirty="0" err="1"/>
              <a:t>решения</a:t>
            </a:r>
            <a:r>
              <a:rPr lang="en-US" dirty="0"/>
              <a:t>, </a:t>
            </a:r>
            <a:r>
              <a:rPr lang="en-US" dirty="0" err="1"/>
              <a:t>подходящие</a:t>
            </a:r>
            <a:r>
              <a:rPr lang="en-US" dirty="0"/>
              <a:t> </a:t>
            </a:r>
            <a:r>
              <a:rPr lang="en-US" dirty="0" err="1"/>
              <a:t>текущим</a:t>
            </a:r>
            <a:r>
              <a:rPr lang="en-US" dirty="0"/>
              <a:t> </a:t>
            </a:r>
            <a:r>
              <a:rPr lang="en-US" dirty="0" err="1"/>
              <a:t>ограничениям</a:t>
            </a:r>
            <a:endParaRPr lang="en-US" dirty="0"/>
          </a:p>
        </p:txBody>
      </p:sp>
      <p:sp>
        <p:nvSpPr>
          <p:cNvPr id="6" name="Slide Number Placeholder 5">
            <a:extLst>
              <a:ext uri="{FF2B5EF4-FFF2-40B4-BE49-F238E27FC236}">
                <a16:creationId xmlns:a16="http://schemas.microsoft.com/office/drawing/2014/main" id="{16FEB68B-DB90-EE87-816B-FEB718E1A644}"/>
              </a:ext>
            </a:extLst>
          </p:cNvPr>
          <p:cNvSpPr>
            <a:spLocks noGrp="1"/>
          </p:cNvSpPr>
          <p:nvPr>
            <p:ph type="sldNum" sz="quarter" idx="12"/>
          </p:nvPr>
        </p:nvSpPr>
        <p:spPr/>
        <p:txBody>
          <a:bodyPr/>
          <a:lstStyle/>
          <a:p>
            <a:fld id="{EDCC16D8-4CDA-43DA-B801-57449FB8CE28}" type="slidenum">
              <a:rPr lang="en-US" smtClean="0"/>
              <a:t>27</a:t>
            </a:fld>
            <a:endParaRPr lang="en-US"/>
          </a:p>
        </p:txBody>
      </p:sp>
    </p:spTree>
    <p:extLst>
      <p:ext uri="{BB962C8B-B14F-4D97-AF65-F5344CB8AC3E}">
        <p14:creationId xmlns:p14="http://schemas.microsoft.com/office/powerpoint/2010/main" val="11954196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2A41E-FA2E-2972-A6BF-A6258800DD9F}"/>
              </a:ext>
            </a:extLst>
          </p:cNvPr>
          <p:cNvSpPr>
            <a:spLocks noGrp="1"/>
          </p:cNvSpPr>
          <p:nvPr>
            <p:ph type="title"/>
          </p:nvPr>
        </p:nvSpPr>
        <p:spPr/>
        <p:txBody>
          <a:bodyPr/>
          <a:lstStyle/>
          <a:p>
            <a:r>
              <a:rPr lang="en-US" dirty="0" err="1"/>
              <a:t>Как</a:t>
            </a:r>
            <a:r>
              <a:rPr lang="en-US" dirty="0"/>
              <a:t> </a:t>
            </a:r>
            <a:r>
              <a:rPr lang="en-US" dirty="0" err="1"/>
              <a:t>аппаратные</a:t>
            </a:r>
            <a:r>
              <a:rPr lang="en-US" dirty="0"/>
              <a:t> </a:t>
            </a:r>
            <a:r>
              <a:rPr lang="en-US" dirty="0" err="1"/>
              <a:t>ограничения</a:t>
            </a:r>
            <a:r>
              <a:rPr lang="en-US" dirty="0"/>
              <a:t> </a:t>
            </a:r>
            <a:r>
              <a:rPr lang="en-US" dirty="0" err="1"/>
              <a:t>меняют</a:t>
            </a:r>
            <a:r>
              <a:rPr lang="en-US" dirty="0"/>
              <a:t> ОС</a:t>
            </a:r>
          </a:p>
        </p:txBody>
      </p:sp>
      <p:graphicFrame>
        <p:nvGraphicFramePr>
          <p:cNvPr id="4" name="Content Placeholder 3">
            <a:extLst>
              <a:ext uri="{FF2B5EF4-FFF2-40B4-BE49-F238E27FC236}">
                <a16:creationId xmlns:a16="http://schemas.microsoft.com/office/drawing/2014/main" id="{72B8C58B-9B4C-67E3-0663-78F6384E1ED1}"/>
              </a:ext>
            </a:extLst>
          </p:cNvPr>
          <p:cNvGraphicFramePr>
            <a:graphicFrameLocks noGrp="1"/>
          </p:cNvGraphicFramePr>
          <p:nvPr>
            <p:ph idx="1"/>
            <p:extLst>
              <p:ext uri="{D42A27DB-BD31-4B8C-83A1-F6EECF244321}">
                <p14:modId xmlns:p14="http://schemas.microsoft.com/office/powerpoint/2010/main" val="163300901"/>
              </p:ext>
            </p:extLst>
          </p:nvPr>
        </p:nvGraphicFramePr>
        <p:xfrm>
          <a:off x="838200" y="1825625"/>
          <a:ext cx="10515597" cy="2839720"/>
        </p:xfrm>
        <a:graphic>
          <a:graphicData uri="http://schemas.openxmlformats.org/drawingml/2006/table">
            <a:tbl>
              <a:tblPr firstRow="1" bandRow="1">
                <a:tableStyleId>{5C22544A-7EE6-4342-B048-85BDC9FD1C3A}</a:tableStyleId>
              </a:tblPr>
              <a:tblGrid>
                <a:gridCol w="2802147">
                  <a:extLst>
                    <a:ext uri="{9D8B030D-6E8A-4147-A177-3AD203B41FA5}">
                      <a16:colId xmlns:a16="http://schemas.microsoft.com/office/drawing/2014/main" val="4183722466"/>
                    </a:ext>
                  </a:extLst>
                </a:gridCol>
                <a:gridCol w="3640347">
                  <a:extLst>
                    <a:ext uri="{9D8B030D-6E8A-4147-A177-3AD203B41FA5}">
                      <a16:colId xmlns:a16="http://schemas.microsoft.com/office/drawing/2014/main" val="2554811068"/>
                    </a:ext>
                  </a:extLst>
                </a:gridCol>
                <a:gridCol w="4073103">
                  <a:extLst>
                    <a:ext uri="{9D8B030D-6E8A-4147-A177-3AD203B41FA5}">
                      <a16:colId xmlns:a16="http://schemas.microsoft.com/office/drawing/2014/main" val="3840478662"/>
                    </a:ext>
                  </a:extLst>
                </a:gridCol>
              </a:tblGrid>
              <a:tr h="370840">
                <a:tc>
                  <a:txBody>
                    <a:bodyPr/>
                    <a:lstStyle/>
                    <a:p>
                      <a:r>
                        <a:rPr lang="ru-RU" dirty="0"/>
                        <a:t>Ограничение</a:t>
                      </a:r>
                      <a:endParaRPr lang="en-US" dirty="0"/>
                    </a:p>
                  </a:txBody>
                  <a:tcPr/>
                </a:tc>
                <a:tc>
                  <a:txBody>
                    <a:bodyPr/>
                    <a:lstStyle/>
                    <a:p>
                      <a:r>
                        <a:rPr lang="ru-RU" dirty="0"/>
                        <a:t>Простые системы</a:t>
                      </a:r>
                      <a:endParaRPr lang="en-US" dirty="0"/>
                    </a:p>
                  </a:txBody>
                  <a:tcPr/>
                </a:tc>
                <a:tc>
                  <a:txBody>
                    <a:bodyPr/>
                    <a:lstStyle/>
                    <a:p>
                      <a:r>
                        <a:rPr lang="ru-RU" dirty="0"/>
                        <a:t>При росте возможностей</a:t>
                      </a:r>
                      <a:endParaRPr lang="en-US" dirty="0"/>
                    </a:p>
                  </a:txBody>
                  <a:tcPr/>
                </a:tc>
                <a:extLst>
                  <a:ext uri="{0D108BD9-81ED-4DB2-BD59-A6C34878D82A}">
                    <a16:rowId xmlns:a16="http://schemas.microsoft.com/office/drawing/2014/main" val="1056199557"/>
                  </a:ext>
                </a:extLst>
              </a:tr>
              <a:tr h="370840">
                <a:tc>
                  <a:txBody>
                    <a:bodyPr/>
                    <a:lstStyle/>
                    <a:p>
                      <a:r>
                        <a:rPr lang="en-US" sz="2400" dirty="0" err="1"/>
                        <a:t>Мало</a:t>
                      </a:r>
                      <a:r>
                        <a:rPr lang="en-US" sz="2400" dirty="0"/>
                        <a:t> </a:t>
                      </a:r>
                      <a:r>
                        <a:rPr lang="en-US" sz="2400" dirty="0" err="1"/>
                        <a:t>памяти</a:t>
                      </a:r>
                      <a:endParaRPr lang="en-US" sz="2400" dirty="0"/>
                    </a:p>
                  </a:txBody>
                  <a:tcPr/>
                </a:tc>
                <a:tc>
                  <a:txBody>
                    <a:bodyPr/>
                    <a:lstStyle/>
                    <a:p>
                      <a:r>
                        <a:rPr lang="en-US" sz="2400" dirty="0" err="1"/>
                        <a:t>ассемблер</a:t>
                      </a:r>
                      <a:r>
                        <a:rPr lang="en-US" sz="2400" dirty="0"/>
                        <a:t>, </a:t>
                      </a:r>
                      <a:r>
                        <a:rPr lang="en-US" sz="2400" dirty="0" err="1"/>
                        <a:t>минимум</a:t>
                      </a:r>
                      <a:r>
                        <a:rPr lang="en-US" sz="2400" dirty="0"/>
                        <a:t> </a:t>
                      </a:r>
                      <a:r>
                        <a:rPr lang="en-US" sz="2400" dirty="0" err="1"/>
                        <a:t>программных</a:t>
                      </a:r>
                      <a:r>
                        <a:rPr lang="en-US" sz="2400" dirty="0"/>
                        <a:t> </a:t>
                      </a:r>
                      <a:r>
                        <a:rPr lang="en-US" sz="2400" dirty="0" err="1"/>
                        <a:t>слоёв</a:t>
                      </a:r>
                      <a:endParaRPr lang="en-US" sz="2400" dirty="0"/>
                    </a:p>
                  </a:txBody>
                  <a:tcPr/>
                </a:tc>
                <a:tc>
                  <a:txBody>
                    <a:bodyPr/>
                    <a:lstStyle/>
                    <a:p>
                      <a:r>
                        <a:rPr lang="en-US" sz="2400" dirty="0" err="1"/>
                        <a:t>языки</a:t>
                      </a:r>
                      <a:r>
                        <a:rPr lang="en-US" sz="2400" dirty="0"/>
                        <a:t> </a:t>
                      </a:r>
                      <a:r>
                        <a:rPr lang="en-US" sz="2400" dirty="0" err="1"/>
                        <a:t>высокого</a:t>
                      </a:r>
                      <a:r>
                        <a:rPr lang="en-US" sz="2400" dirty="0"/>
                        <a:t> </a:t>
                      </a:r>
                      <a:r>
                        <a:rPr lang="en-US" sz="2400" dirty="0" err="1"/>
                        <a:t>уровня</a:t>
                      </a:r>
                      <a:r>
                        <a:rPr lang="en-US" sz="2400" dirty="0"/>
                        <a:t>, </a:t>
                      </a:r>
                      <a:r>
                        <a:rPr lang="en-US" sz="2400" dirty="0" err="1"/>
                        <a:t>более</a:t>
                      </a:r>
                      <a:r>
                        <a:rPr lang="en-US" sz="2400" dirty="0"/>
                        <a:t> </a:t>
                      </a:r>
                      <a:r>
                        <a:rPr lang="en-US" sz="2400" dirty="0" err="1"/>
                        <a:t>сложные</a:t>
                      </a:r>
                      <a:r>
                        <a:rPr lang="en-US" sz="2400" dirty="0"/>
                        <a:t> ОС</a:t>
                      </a:r>
                    </a:p>
                  </a:txBody>
                  <a:tcPr/>
                </a:tc>
                <a:extLst>
                  <a:ext uri="{0D108BD9-81ED-4DB2-BD59-A6C34878D82A}">
                    <a16:rowId xmlns:a16="http://schemas.microsoft.com/office/drawing/2014/main" val="749326443"/>
                  </a:ext>
                </a:extLst>
              </a:tr>
              <a:tr h="370840">
                <a:tc>
                  <a:txBody>
                    <a:bodyPr/>
                    <a:lstStyle/>
                    <a:p>
                      <a:r>
                        <a:rPr lang="en-US" sz="2400" dirty="0" err="1"/>
                        <a:t>Нет</a:t>
                      </a:r>
                      <a:r>
                        <a:rPr lang="en-US" sz="2400" dirty="0"/>
                        <a:t> </a:t>
                      </a:r>
                      <a:r>
                        <a:rPr lang="en-US" sz="2400" dirty="0" err="1"/>
                        <a:t>аппаратной</a:t>
                      </a:r>
                      <a:r>
                        <a:rPr lang="en-US" sz="2400" dirty="0"/>
                        <a:t> </a:t>
                      </a:r>
                      <a:r>
                        <a:rPr lang="en-US" sz="2400" dirty="0" err="1"/>
                        <a:t>защиты</a:t>
                      </a:r>
                      <a:endParaRPr lang="en-US" sz="2400" dirty="0"/>
                    </a:p>
                  </a:txBody>
                  <a:tcPr/>
                </a:tc>
                <a:tc>
                  <a:txBody>
                    <a:bodyPr/>
                    <a:lstStyle/>
                    <a:p>
                      <a:r>
                        <a:rPr lang="en-US" sz="2400" dirty="0" err="1"/>
                        <a:t>одна</a:t>
                      </a:r>
                      <a:r>
                        <a:rPr lang="en-US" sz="2400" dirty="0"/>
                        <a:t> </a:t>
                      </a:r>
                      <a:r>
                        <a:rPr lang="en-US" sz="2400" dirty="0" err="1"/>
                        <a:t>программа</a:t>
                      </a:r>
                      <a:r>
                        <a:rPr lang="en-US" sz="2400" dirty="0"/>
                        <a:t>, </a:t>
                      </a:r>
                      <a:r>
                        <a:rPr lang="en-US" sz="2400" dirty="0" err="1"/>
                        <a:t>слабая</a:t>
                      </a:r>
                      <a:r>
                        <a:rPr lang="en-US" sz="2400" dirty="0"/>
                        <a:t> </a:t>
                      </a:r>
                      <a:r>
                        <a:rPr lang="en-US" sz="2400" dirty="0" err="1"/>
                        <a:t>изоляция</a:t>
                      </a:r>
                      <a:endParaRPr lang="en-US" sz="2400" dirty="0"/>
                    </a:p>
                  </a:txBody>
                  <a:tcPr/>
                </a:tc>
                <a:tc>
                  <a:txBody>
                    <a:bodyPr/>
                    <a:lstStyle/>
                    <a:p>
                      <a:r>
                        <a:rPr lang="en-US" sz="2400" dirty="0" err="1"/>
                        <a:t>защита</a:t>
                      </a:r>
                      <a:r>
                        <a:rPr lang="en-US" sz="2400" dirty="0"/>
                        <a:t> </a:t>
                      </a:r>
                      <a:r>
                        <a:rPr lang="en-US" sz="2400" dirty="0" err="1"/>
                        <a:t>памяти</a:t>
                      </a:r>
                      <a:r>
                        <a:rPr lang="en-US" sz="2400" dirty="0"/>
                        <a:t>, </a:t>
                      </a:r>
                      <a:r>
                        <a:rPr lang="en-US" sz="2400" dirty="0" err="1"/>
                        <a:t>многозадачность</a:t>
                      </a:r>
                      <a:endParaRPr lang="en-US" sz="2400" dirty="0"/>
                    </a:p>
                  </a:txBody>
                  <a:tcPr/>
                </a:tc>
                <a:extLst>
                  <a:ext uri="{0D108BD9-81ED-4DB2-BD59-A6C34878D82A}">
                    <a16:rowId xmlns:a16="http://schemas.microsoft.com/office/drawing/2014/main" val="4247769132"/>
                  </a:ext>
                </a:extLst>
              </a:tr>
              <a:tr h="370840">
                <a:tc>
                  <a:txBody>
                    <a:bodyPr/>
                    <a:lstStyle/>
                    <a:p>
                      <a:r>
                        <a:rPr lang="en-US" sz="2400" dirty="0" err="1"/>
                        <a:t>Простое</a:t>
                      </a:r>
                      <a:r>
                        <a:rPr lang="en-US" sz="2400" dirty="0"/>
                        <a:t> </a:t>
                      </a:r>
                      <a:r>
                        <a:rPr lang="en-US" sz="2400" dirty="0" err="1"/>
                        <a:t>хранение</a:t>
                      </a:r>
                      <a:endParaRPr lang="en-US" sz="2400" dirty="0"/>
                    </a:p>
                  </a:txBody>
                  <a:tcPr/>
                </a:tc>
                <a:tc>
                  <a:txBody>
                    <a:bodyPr/>
                    <a:lstStyle/>
                    <a:p>
                      <a:r>
                        <a:rPr lang="en-US" sz="2400" dirty="0" err="1"/>
                        <a:t>простая</a:t>
                      </a:r>
                      <a:r>
                        <a:rPr lang="en-US" sz="2400" dirty="0"/>
                        <a:t> </a:t>
                      </a:r>
                      <a:r>
                        <a:rPr lang="en-US" sz="2400" dirty="0" err="1"/>
                        <a:t>организация</a:t>
                      </a:r>
                      <a:r>
                        <a:rPr lang="en-US" sz="2400" dirty="0"/>
                        <a:t> </a:t>
                      </a:r>
                      <a:r>
                        <a:rPr lang="en-US" sz="2400" dirty="0" err="1"/>
                        <a:t>данных</a:t>
                      </a:r>
                      <a:endParaRPr lang="en-US" sz="2400" dirty="0"/>
                    </a:p>
                  </a:txBody>
                  <a:tcPr/>
                </a:tc>
                <a:tc>
                  <a:txBody>
                    <a:bodyPr/>
                    <a:lstStyle/>
                    <a:p>
                      <a:r>
                        <a:rPr lang="en-US" sz="2400" dirty="0" err="1"/>
                        <a:t>каталоги</a:t>
                      </a:r>
                      <a:r>
                        <a:rPr lang="en-US" sz="2400" dirty="0"/>
                        <a:t>, </a:t>
                      </a:r>
                      <a:r>
                        <a:rPr lang="en-US" sz="2400" dirty="0" err="1"/>
                        <a:t>иерархические</a:t>
                      </a:r>
                      <a:r>
                        <a:rPr lang="en-US" sz="2400" dirty="0"/>
                        <a:t> </a:t>
                      </a:r>
                      <a:r>
                        <a:rPr lang="en-US" sz="2400" dirty="0" err="1"/>
                        <a:t>файловые</a:t>
                      </a:r>
                      <a:r>
                        <a:rPr lang="en-US" sz="2400" dirty="0"/>
                        <a:t> </a:t>
                      </a:r>
                      <a:r>
                        <a:rPr lang="en-US" sz="2400" dirty="0" err="1"/>
                        <a:t>системы</a:t>
                      </a:r>
                      <a:endParaRPr lang="en-US" sz="2400" dirty="0"/>
                    </a:p>
                  </a:txBody>
                  <a:tcPr/>
                </a:tc>
                <a:extLst>
                  <a:ext uri="{0D108BD9-81ED-4DB2-BD59-A6C34878D82A}">
                    <a16:rowId xmlns:a16="http://schemas.microsoft.com/office/drawing/2014/main" val="3922669445"/>
                  </a:ext>
                </a:extLst>
              </a:tr>
            </a:tbl>
          </a:graphicData>
        </a:graphic>
      </p:graphicFrame>
      <p:sp>
        <p:nvSpPr>
          <p:cNvPr id="5" name="Slide Number Placeholder 4">
            <a:extLst>
              <a:ext uri="{FF2B5EF4-FFF2-40B4-BE49-F238E27FC236}">
                <a16:creationId xmlns:a16="http://schemas.microsoft.com/office/drawing/2014/main" id="{2DDD3F5A-A6F0-AA9F-9324-CC40993DAD78}"/>
              </a:ext>
            </a:extLst>
          </p:cNvPr>
          <p:cNvSpPr>
            <a:spLocks noGrp="1"/>
          </p:cNvSpPr>
          <p:nvPr>
            <p:ph type="sldNum" sz="quarter" idx="12"/>
          </p:nvPr>
        </p:nvSpPr>
        <p:spPr/>
        <p:txBody>
          <a:bodyPr/>
          <a:lstStyle/>
          <a:p>
            <a:fld id="{EDCC16D8-4CDA-43DA-B801-57449FB8CE28}" type="slidenum">
              <a:rPr lang="en-US" smtClean="0"/>
              <a:t>28</a:t>
            </a:fld>
            <a:endParaRPr lang="en-US"/>
          </a:p>
        </p:txBody>
      </p:sp>
    </p:spTree>
    <p:extLst>
      <p:ext uri="{BB962C8B-B14F-4D97-AF65-F5344CB8AC3E}">
        <p14:creationId xmlns:p14="http://schemas.microsoft.com/office/powerpoint/2010/main" val="21689150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ABFCE-60E7-AC36-2C91-280D5D8E293D}"/>
              </a:ext>
            </a:extLst>
          </p:cNvPr>
          <p:cNvSpPr>
            <a:spLocks noGrp="1"/>
          </p:cNvSpPr>
          <p:nvPr>
            <p:ph type="title"/>
          </p:nvPr>
        </p:nvSpPr>
        <p:spPr/>
        <p:txBody>
          <a:bodyPr/>
          <a:lstStyle/>
          <a:p>
            <a:r>
              <a:rPr lang="en-US" dirty="0" err="1"/>
              <a:t>От</a:t>
            </a:r>
            <a:r>
              <a:rPr lang="en-US" dirty="0"/>
              <a:t> </a:t>
            </a:r>
            <a:r>
              <a:rPr lang="en-US" dirty="0" err="1"/>
              <a:t>мэйнфрейм</a:t>
            </a:r>
            <a:r>
              <a:rPr lang="ru-RU" dirty="0" err="1"/>
              <a:t>ов</a:t>
            </a:r>
            <a:r>
              <a:rPr lang="en-US" dirty="0"/>
              <a:t> </a:t>
            </a:r>
            <a:r>
              <a:rPr lang="en-US" dirty="0" err="1"/>
              <a:t>до</a:t>
            </a:r>
            <a:r>
              <a:rPr lang="en-US" dirty="0"/>
              <a:t> </a:t>
            </a:r>
            <a:r>
              <a:rPr lang="en-US" dirty="0" err="1"/>
              <a:t>встр</a:t>
            </a:r>
            <a:r>
              <a:rPr lang="ru-RU" dirty="0" err="1"/>
              <a:t>аиваемых</a:t>
            </a:r>
            <a:r>
              <a:rPr lang="en-US" dirty="0"/>
              <a:t> </a:t>
            </a:r>
            <a:r>
              <a:rPr lang="en-US" dirty="0" err="1"/>
              <a:t>систем</a:t>
            </a:r>
            <a:endParaRPr lang="en-US" dirty="0"/>
          </a:p>
        </p:txBody>
      </p:sp>
      <p:sp>
        <p:nvSpPr>
          <p:cNvPr id="3" name="Content Placeholder 2">
            <a:extLst>
              <a:ext uri="{FF2B5EF4-FFF2-40B4-BE49-F238E27FC236}">
                <a16:creationId xmlns:a16="http://schemas.microsoft.com/office/drawing/2014/main" id="{B67E1900-8E59-9700-7C6B-EB58626E269B}"/>
              </a:ext>
            </a:extLst>
          </p:cNvPr>
          <p:cNvSpPr>
            <a:spLocks noGrp="1"/>
          </p:cNvSpPr>
          <p:nvPr>
            <p:ph idx="1"/>
          </p:nvPr>
        </p:nvSpPr>
        <p:spPr/>
        <p:txBody>
          <a:bodyPr>
            <a:normAutofit lnSpcReduction="10000"/>
          </a:bodyPr>
          <a:lstStyle/>
          <a:p>
            <a:r>
              <a:rPr lang="en-US" dirty="0" err="1"/>
              <a:t>Механизмы</a:t>
            </a:r>
            <a:r>
              <a:rPr lang="en-US" dirty="0"/>
              <a:t> </a:t>
            </a:r>
            <a:r>
              <a:rPr lang="en-US" dirty="0" err="1"/>
              <a:t>сначала</a:t>
            </a:r>
            <a:r>
              <a:rPr lang="en-US" dirty="0"/>
              <a:t> </a:t>
            </a:r>
            <a:r>
              <a:rPr lang="en-US" dirty="0" err="1"/>
              <a:t>появляются</a:t>
            </a:r>
            <a:r>
              <a:rPr lang="en-US" dirty="0"/>
              <a:t> </a:t>
            </a:r>
            <a:r>
              <a:rPr lang="en-US" dirty="0" err="1"/>
              <a:t>там</a:t>
            </a:r>
            <a:r>
              <a:rPr lang="en-US" dirty="0"/>
              <a:t>, </a:t>
            </a:r>
            <a:r>
              <a:rPr lang="en-US" dirty="0" err="1"/>
              <a:t>где</a:t>
            </a:r>
            <a:r>
              <a:rPr lang="en-US" dirty="0"/>
              <a:t> </a:t>
            </a:r>
            <a:r>
              <a:rPr lang="en-US" dirty="0" err="1"/>
              <a:t>хватает</a:t>
            </a:r>
            <a:r>
              <a:rPr lang="en-US" dirty="0"/>
              <a:t> </a:t>
            </a:r>
            <a:r>
              <a:rPr lang="en-US" dirty="0" err="1"/>
              <a:t>ресурсов</a:t>
            </a:r>
            <a:endParaRPr lang="en-US" dirty="0"/>
          </a:p>
          <a:p>
            <a:pPr lvl="1"/>
            <a:r>
              <a:rPr lang="en-US" dirty="0" err="1"/>
              <a:t>Многозадачность</a:t>
            </a:r>
            <a:r>
              <a:rPr lang="en-US" dirty="0"/>
              <a:t> и </a:t>
            </a:r>
            <a:r>
              <a:rPr lang="en-US" dirty="0" err="1"/>
              <a:t>защита</a:t>
            </a:r>
            <a:r>
              <a:rPr lang="en-US" dirty="0"/>
              <a:t> </a:t>
            </a:r>
            <a:r>
              <a:rPr lang="en-US" dirty="0" err="1"/>
              <a:t>памяти</a:t>
            </a:r>
            <a:r>
              <a:rPr lang="en-US" dirty="0"/>
              <a:t> </a:t>
            </a:r>
          </a:p>
          <a:p>
            <a:pPr lvl="1"/>
            <a:r>
              <a:rPr lang="en-US" dirty="0" err="1"/>
              <a:t>Виртуальная</a:t>
            </a:r>
            <a:r>
              <a:rPr lang="en-US" dirty="0"/>
              <a:t> </a:t>
            </a:r>
            <a:r>
              <a:rPr lang="en-US" dirty="0" err="1"/>
              <a:t>память</a:t>
            </a:r>
            <a:r>
              <a:rPr lang="en-US" dirty="0"/>
              <a:t> </a:t>
            </a:r>
          </a:p>
          <a:p>
            <a:pPr lvl="1"/>
            <a:r>
              <a:rPr lang="en-US" dirty="0" err="1"/>
              <a:t>Иерархические</a:t>
            </a:r>
            <a:r>
              <a:rPr lang="en-US" dirty="0"/>
              <a:t> </a:t>
            </a:r>
            <a:r>
              <a:rPr lang="en-US" dirty="0" err="1"/>
              <a:t>файловые</a:t>
            </a:r>
            <a:r>
              <a:rPr lang="en-US" dirty="0"/>
              <a:t> </a:t>
            </a:r>
            <a:r>
              <a:rPr lang="en-US" dirty="0" err="1"/>
              <a:t>системы</a:t>
            </a:r>
            <a:r>
              <a:rPr lang="en-US" dirty="0"/>
              <a:t> </a:t>
            </a:r>
          </a:p>
          <a:p>
            <a:pPr lvl="1"/>
            <a:r>
              <a:rPr lang="en-US" dirty="0" err="1"/>
              <a:t>Языки</a:t>
            </a:r>
            <a:r>
              <a:rPr lang="en-US" dirty="0"/>
              <a:t> и </a:t>
            </a:r>
            <a:r>
              <a:rPr lang="en-US" dirty="0" err="1"/>
              <a:t>программные</a:t>
            </a:r>
            <a:r>
              <a:rPr lang="en-US" dirty="0"/>
              <a:t> </a:t>
            </a:r>
            <a:r>
              <a:rPr lang="en-US" dirty="0" err="1"/>
              <a:t>среды</a:t>
            </a:r>
            <a:r>
              <a:rPr lang="en-US" dirty="0"/>
              <a:t> </a:t>
            </a:r>
            <a:r>
              <a:rPr lang="en-US" dirty="0" err="1"/>
              <a:t>высокого</a:t>
            </a:r>
            <a:r>
              <a:rPr lang="en-US" dirty="0"/>
              <a:t> </a:t>
            </a:r>
            <a:r>
              <a:rPr lang="en-US" dirty="0" err="1"/>
              <a:t>уровня</a:t>
            </a:r>
            <a:r>
              <a:rPr lang="en-US" dirty="0"/>
              <a:t> </a:t>
            </a:r>
          </a:p>
          <a:p>
            <a:r>
              <a:rPr lang="en-US" dirty="0" err="1"/>
              <a:t>Затем</a:t>
            </a:r>
            <a:r>
              <a:rPr lang="en-US" dirty="0"/>
              <a:t> </a:t>
            </a:r>
            <a:r>
              <a:rPr lang="en-US" dirty="0" err="1"/>
              <a:t>они</a:t>
            </a:r>
            <a:r>
              <a:rPr lang="en-US" dirty="0"/>
              <a:t> </a:t>
            </a:r>
            <a:r>
              <a:rPr lang="en-US" dirty="0" err="1"/>
              <a:t>переходят</a:t>
            </a:r>
            <a:r>
              <a:rPr lang="en-US" dirty="0"/>
              <a:t> </a:t>
            </a:r>
            <a:r>
              <a:rPr lang="en-US" dirty="0" err="1"/>
              <a:t>на</a:t>
            </a:r>
            <a:r>
              <a:rPr lang="en-US" dirty="0"/>
              <a:t> </a:t>
            </a:r>
            <a:r>
              <a:rPr lang="en-US" dirty="0" err="1"/>
              <a:t>более</a:t>
            </a:r>
            <a:r>
              <a:rPr lang="en-US" dirty="0"/>
              <a:t> </a:t>
            </a:r>
            <a:r>
              <a:rPr lang="en-US" dirty="0" err="1"/>
              <a:t>дешёвые</a:t>
            </a:r>
            <a:r>
              <a:rPr lang="en-US" dirty="0"/>
              <a:t> и </a:t>
            </a:r>
            <a:r>
              <a:rPr lang="en-US" dirty="0" err="1"/>
              <a:t>компактные</a:t>
            </a:r>
            <a:r>
              <a:rPr lang="en-US" dirty="0"/>
              <a:t> </a:t>
            </a:r>
            <a:r>
              <a:rPr lang="en-US" dirty="0" err="1"/>
              <a:t>системы</a:t>
            </a:r>
            <a:endParaRPr lang="en-US" dirty="0"/>
          </a:p>
          <a:p>
            <a:pPr lvl="1"/>
            <a:r>
              <a:rPr lang="en-US" dirty="0" err="1"/>
              <a:t>Но</a:t>
            </a:r>
            <a:r>
              <a:rPr lang="en-US" dirty="0"/>
              <a:t> в </a:t>
            </a:r>
            <a:r>
              <a:rPr lang="en-US" dirty="0" err="1"/>
              <a:t>сильно</a:t>
            </a:r>
            <a:r>
              <a:rPr lang="en-US" dirty="0"/>
              <a:t> </a:t>
            </a:r>
            <a:r>
              <a:rPr lang="en-US" dirty="0" err="1"/>
              <a:t>ограниченных</a:t>
            </a:r>
            <a:r>
              <a:rPr lang="en-US" dirty="0"/>
              <a:t> </a:t>
            </a:r>
            <a:r>
              <a:rPr lang="en-US" dirty="0" err="1"/>
              <a:t>устройствах</a:t>
            </a:r>
            <a:r>
              <a:rPr lang="en-US" dirty="0"/>
              <a:t> </a:t>
            </a:r>
            <a:r>
              <a:rPr lang="en-US" dirty="0" err="1"/>
              <a:t>некоторые</a:t>
            </a:r>
            <a:r>
              <a:rPr lang="en-US" dirty="0"/>
              <a:t> </a:t>
            </a:r>
            <a:r>
              <a:rPr lang="en-US" dirty="0" err="1"/>
              <a:t>механизмы</a:t>
            </a:r>
            <a:r>
              <a:rPr lang="en-US" dirty="0"/>
              <a:t> </a:t>
            </a:r>
            <a:r>
              <a:rPr lang="en-US" dirty="0" err="1"/>
              <a:t>снова</a:t>
            </a:r>
            <a:r>
              <a:rPr lang="en-US" dirty="0"/>
              <a:t> </a:t>
            </a:r>
            <a:r>
              <a:rPr lang="en-US" dirty="0" err="1"/>
              <a:t>могут</a:t>
            </a:r>
            <a:r>
              <a:rPr lang="en-US" dirty="0"/>
              <a:t> </a:t>
            </a:r>
            <a:r>
              <a:rPr lang="en-US" dirty="0" err="1"/>
              <a:t>быть</a:t>
            </a:r>
            <a:r>
              <a:rPr lang="en-US" dirty="0"/>
              <a:t> </a:t>
            </a:r>
            <a:r>
              <a:rPr lang="en-US" dirty="0" err="1"/>
              <a:t>упрощены</a:t>
            </a:r>
            <a:r>
              <a:rPr lang="en-US" dirty="0"/>
              <a:t> </a:t>
            </a:r>
            <a:r>
              <a:rPr lang="en-US" dirty="0" err="1"/>
              <a:t>или</a:t>
            </a:r>
            <a:r>
              <a:rPr lang="en-US" dirty="0"/>
              <a:t> </a:t>
            </a:r>
            <a:r>
              <a:rPr lang="en-US" dirty="0" err="1"/>
              <a:t>отсутствовать</a:t>
            </a:r>
            <a:r>
              <a:rPr lang="en-US" dirty="0"/>
              <a:t>.</a:t>
            </a:r>
          </a:p>
          <a:p>
            <a:r>
              <a:rPr lang="ru-RU" dirty="0"/>
              <a:t>А</a:t>
            </a:r>
            <a:r>
              <a:rPr lang="en-US" dirty="0" err="1"/>
              <a:t>рхитектура</a:t>
            </a:r>
            <a:r>
              <a:rPr lang="en-US" dirty="0"/>
              <a:t> ОС — </a:t>
            </a:r>
            <a:r>
              <a:rPr lang="en-US" dirty="0" err="1"/>
              <a:t>компромисс</a:t>
            </a:r>
            <a:r>
              <a:rPr lang="en-US" dirty="0"/>
              <a:t> </a:t>
            </a:r>
            <a:r>
              <a:rPr lang="en-US" dirty="0" err="1"/>
              <a:t>между</a:t>
            </a:r>
            <a:r>
              <a:rPr lang="en-US" dirty="0"/>
              <a:t> </a:t>
            </a:r>
            <a:r>
              <a:rPr lang="en-US" dirty="0" err="1"/>
              <a:t>возможностями</a:t>
            </a:r>
            <a:r>
              <a:rPr lang="en-US" dirty="0"/>
              <a:t> </a:t>
            </a:r>
            <a:r>
              <a:rPr lang="en-US" dirty="0" err="1"/>
              <a:t>железа</a:t>
            </a:r>
            <a:r>
              <a:rPr lang="en-US" dirty="0"/>
              <a:t>, </a:t>
            </a:r>
            <a:r>
              <a:rPr lang="en-US" dirty="0" err="1"/>
              <a:t>стоимостью</a:t>
            </a:r>
            <a:r>
              <a:rPr lang="en-US" dirty="0"/>
              <a:t> </a:t>
            </a:r>
            <a:r>
              <a:rPr lang="en-US" dirty="0" err="1"/>
              <a:t>механизмов</a:t>
            </a:r>
            <a:r>
              <a:rPr lang="en-US" dirty="0"/>
              <a:t> и </a:t>
            </a:r>
            <a:r>
              <a:rPr lang="en-US" dirty="0" err="1"/>
              <a:t>требованиями</a:t>
            </a:r>
            <a:r>
              <a:rPr lang="en-US" dirty="0"/>
              <a:t> </a:t>
            </a:r>
            <a:r>
              <a:rPr lang="en-US" dirty="0" err="1"/>
              <a:t>программ</a:t>
            </a:r>
            <a:r>
              <a:rPr lang="en-US" dirty="0"/>
              <a:t>.</a:t>
            </a:r>
          </a:p>
          <a:p>
            <a:endParaRPr lang="en-US" dirty="0"/>
          </a:p>
        </p:txBody>
      </p:sp>
      <p:sp>
        <p:nvSpPr>
          <p:cNvPr id="4" name="Slide Number Placeholder 3">
            <a:extLst>
              <a:ext uri="{FF2B5EF4-FFF2-40B4-BE49-F238E27FC236}">
                <a16:creationId xmlns:a16="http://schemas.microsoft.com/office/drawing/2014/main" id="{27CF9C68-7CDC-804F-5CF3-8E561F568CF3}"/>
              </a:ext>
            </a:extLst>
          </p:cNvPr>
          <p:cNvSpPr>
            <a:spLocks noGrp="1"/>
          </p:cNvSpPr>
          <p:nvPr>
            <p:ph type="sldNum" sz="quarter" idx="12"/>
          </p:nvPr>
        </p:nvSpPr>
        <p:spPr/>
        <p:txBody>
          <a:bodyPr/>
          <a:lstStyle/>
          <a:p>
            <a:fld id="{EDCC16D8-4CDA-43DA-B801-57449FB8CE28}" type="slidenum">
              <a:rPr lang="en-US" smtClean="0"/>
              <a:t>29</a:t>
            </a:fld>
            <a:endParaRPr lang="en-US"/>
          </a:p>
        </p:txBody>
      </p:sp>
    </p:spTree>
    <p:extLst>
      <p:ext uri="{BB962C8B-B14F-4D97-AF65-F5344CB8AC3E}">
        <p14:creationId xmlns:p14="http://schemas.microsoft.com/office/powerpoint/2010/main" val="10260809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C3380-64CE-3E22-B147-F91FFDD76A00}"/>
              </a:ext>
            </a:extLst>
          </p:cNvPr>
          <p:cNvSpPr>
            <a:spLocks noGrp="1"/>
          </p:cNvSpPr>
          <p:nvPr>
            <p:ph type="title"/>
          </p:nvPr>
        </p:nvSpPr>
        <p:spPr/>
        <p:txBody>
          <a:bodyPr/>
          <a:lstStyle/>
          <a:p>
            <a:r>
              <a:rPr lang="ru-RU" dirty="0"/>
              <a:t>Системные вызовы</a:t>
            </a:r>
            <a:endParaRPr lang="en-US" dirty="0"/>
          </a:p>
        </p:txBody>
      </p:sp>
      <p:sp>
        <p:nvSpPr>
          <p:cNvPr id="4" name="Text Placeholder 3">
            <a:extLst>
              <a:ext uri="{FF2B5EF4-FFF2-40B4-BE49-F238E27FC236}">
                <a16:creationId xmlns:a16="http://schemas.microsoft.com/office/drawing/2014/main" id="{959B3097-0159-6151-0EFE-FC4AEF52E95B}"/>
              </a:ext>
            </a:extLst>
          </p:cNvPr>
          <p:cNvSpPr>
            <a:spLocks noGrp="1"/>
          </p:cNvSpPr>
          <p:nvPr>
            <p:ph type="body" idx="1"/>
          </p:nvPr>
        </p:nvSpPr>
        <p:spPr/>
        <p:txBody>
          <a:bodyPr/>
          <a:lstStyle/>
          <a:p>
            <a:endParaRPr lang="en-US"/>
          </a:p>
        </p:txBody>
      </p:sp>
      <p:sp>
        <p:nvSpPr>
          <p:cNvPr id="3" name="Slide Number Placeholder 2">
            <a:extLst>
              <a:ext uri="{FF2B5EF4-FFF2-40B4-BE49-F238E27FC236}">
                <a16:creationId xmlns:a16="http://schemas.microsoft.com/office/drawing/2014/main" id="{B26ECC98-23D5-7EF3-96AB-3B8A0BB439D5}"/>
              </a:ext>
            </a:extLst>
          </p:cNvPr>
          <p:cNvSpPr>
            <a:spLocks noGrp="1"/>
          </p:cNvSpPr>
          <p:nvPr>
            <p:ph type="sldNum" sz="quarter" idx="12"/>
          </p:nvPr>
        </p:nvSpPr>
        <p:spPr/>
        <p:txBody>
          <a:bodyPr/>
          <a:lstStyle/>
          <a:p>
            <a:fld id="{EDCC16D8-4CDA-43DA-B801-57449FB8CE28}" type="slidenum">
              <a:rPr lang="en-US" smtClean="0"/>
              <a:t>30</a:t>
            </a:fld>
            <a:endParaRPr lang="en-US"/>
          </a:p>
        </p:txBody>
      </p:sp>
    </p:spTree>
    <p:extLst>
      <p:ext uri="{BB962C8B-B14F-4D97-AF65-F5344CB8AC3E}">
        <p14:creationId xmlns:p14="http://schemas.microsoft.com/office/powerpoint/2010/main" val="27762410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7E7E001-D727-6CE1-1529-E1A74F99859D}"/>
              </a:ext>
            </a:extLst>
          </p:cNvPr>
          <p:cNvSpPr>
            <a:spLocks noGrp="1"/>
          </p:cNvSpPr>
          <p:nvPr>
            <p:ph type="title"/>
          </p:nvPr>
        </p:nvSpPr>
        <p:spPr/>
        <p:txBody>
          <a:bodyPr/>
          <a:lstStyle/>
          <a:p>
            <a:r>
              <a:rPr lang="en-US" dirty="0" err="1"/>
              <a:t>Системные</a:t>
            </a:r>
            <a:r>
              <a:rPr lang="en-US" dirty="0"/>
              <a:t> </a:t>
            </a:r>
            <a:r>
              <a:rPr lang="en-US" dirty="0" err="1"/>
              <a:t>вызовы</a:t>
            </a:r>
            <a:r>
              <a:rPr lang="en-US" dirty="0"/>
              <a:t> — </a:t>
            </a:r>
            <a:r>
              <a:rPr lang="en-US" dirty="0" err="1"/>
              <a:t>интерфейс</a:t>
            </a:r>
            <a:r>
              <a:rPr lang="en-US" dirty="0"/>
              <a:t> к </a:t>
            </a:r>
            <a:r>
              <a:rPr lang="en-US" dirty="0" err="1"/>
              <a:t>ядру</a:t>
            </a:r>
            <a:endParaRPr lang="en-US" dirty="0"/>
          </a:p>
        </p:txBody>
      </p:sp>
      <p:sp>
        <p:nvSpPr>
          <p:cNvPr id="5" name="Content Placeholder 4">
            <a:extLst>
              <a:ext uri="{FF2B5EF4-FFF2-40B4-BE49-F238E27FC236}">
                <a16:creationId xmlns:a16="http://schemas.microsoft.com/office/drawing/2014/main" id="{DBBBE94C-1F1A-A7C8-FC42-8A4346E97C77}"/>
              </a:ext>
            </a:extLst>
          </p:cNvPr>
          <p:cNvSpPr>
            <a:spLocks noGrp="1"/>
          </p:cNvSpPr>
          <p:nvPr>
            <p:ph idx="1"/>
          </p:nvPr>
        </p:nvSpPr>
        <p:spPr/>
        <p:txBody>
          <a:bodyPr>
            <a:normAutofit fontScale="92500" lnSpcReduction="10000"/>
          </a:bodyPr>
          <a:lstStyle/>
          <a:p>
            <a:r>
              <a:rPr lang="en-US" dirty="0" err="1"/>
              <a:t>Прикладная</a:t>
            </a:r>
            <a:r>
              <a:rPr lang="en-US" dirty="0"/>
              <a:t> </a:t>
            </a:r>
            <a:r>
              <a:rPr lang="en-US" dirty="0" err="1"/>
              <a:t>программа</a:t>
            </a:r>
            <a:r>
              <a:rPr lang="en-US" dirty="0"/>
              <a:t> </a:t>
            </a:r>
            <a:r>
              <a:rPr lang="en-US" dirty="0" err="1"/>
              <a:t>работает</a:t>
            </a:r>
            <a:r>
              <a:rPr lang="en-US" dirty="0"/>
              <a:t> в User Mode и </a:t>
            </a:r>
            <a:r>
              <a:rPr lang="en-US" dirty="0" err="1"/>
              <a:t>не</a:t>
            </a:r>
            <a:r>
              <a:rPr lang="en-US" dirty="0"/>
              <a:t> </a:t>
            </a:r>
            <a:r>
              <a:rPr lang="en-US" dirty="0" err="1"/>
              <a:t>может</a:t>
            </a:r>
            <a:r>
              <a:rPr lang="en-US" dirty="0"/>
              <a:t> </a:t>
            </a:r>
            <a:r>
              <a:rPr lang="en-US" dirty="0" err="1"/>
              <a:t>напрямую</a:t>
            </a:r>
            <a:r>
              <a:rPr lang="en-US" dirty="0"/>
              <a:t> </a:t>
            </a:r>
            <a:r>
              <a:rPr lang="en-US" dirty="0" err="1"/>
              <a:t>выполнять</a:t>
            </a:r>
            <a:r>
              <a:rPr lang="en-US" dirty="0"/>
              <a:t> </a:t>
            </a:r>
            <a:r>
              <a:rPr lang="en-US" dirty="0" err="1"/>
              <a:t>привилегированные</a:t>
            </a:r>
            <a:r>
              <a:rPr lang="en-US" dirty="0"/>
              <a:t> </a:t>
            </a:r>
            <a:r>
              <a:rPr lang="en-US" dirty="0" err="1"/>
              <a:t>операции</a:t>
            </a:r>
            <a:endParaRPr lang="en-US" dirty="0"/>
          </a:p>
          <a:p>
            <a:r>
              <a:rPr lang="en-US" dirty="0" err="1"/>
              <a:t>Для</a:t>
            </a:r>
            <a:r>
              <a:rPr lang="en-US" dirty="0"/>
              <a:t> </a:t>
            </a:r>
            <a:r>
              <a:rPr lang="en-US" dirty="0" err="1"/>
              <a:t>обращения</a:t>
            </a:r>
            <a:r>
              <a:rPr lang="en-US" dirty="0"/>
              <a:t> к ОС </a:t>
            </a:r>
            <a:r>
              <a:rPr lang="en-US" dirty="0" err="1"/>
              <a:t>используется</a:t>
            </a:r>
            <a:r>
              <a:rPr lang="en-US" dirty="0"/>
              <a:t> </a:t>
            </a:r>
            <a:r>
              <a:rPr lang="en-US" dirty="0" err="1"/>
              <a:t>программный</a:t>
            </a:r>
            <a:r>
              <a:rPr lang="en-US" dirty="0"/>
              <a:t> </a:t>
            </a:r>
            <a:r>
              <a:rPr lang="en-US" dirty="0" err="1"/>
              <a:t>интерфейс</a:t>
            </a:r>
            <a:r>
              <a:rPr lang="en-US" dirty="0"/>
              <a:t>:</a:t>
            </a:r>
          </a:p>
          <a:p>
            <a:pPr lvl="1"/>
            <a:r>
              <a:rPr lang="en-US" dirty="0"/>
              <a:t>C/C++ </a:t>
            </a:r>
            <a:r>
              <a:rPr lang="en-US" dirty="0" err="1"/>
              <a:t>программа</a:t>
            </a:r>
            <a:r>
              <a:rPr lang="en-US" dirty="0"/>
              <a:t> → POSIX API → </a:t>
            </a:r>
            <a:r>
              <a:rPr lang="en-US" dirty="0" err="1"/>
              <a:t>ядро</a:t>
            </a:r>
            <a:r>
              <a:rPr lang="en-US" dirty="0"/>
              <a:t> ОС</a:t>
            </a:r>
          </a:p>
          <a:p>
            <a:r>
              <a:rPr lang="en-US" dirty="0" err="1"/>
              <a:t>Примеры</a:t>
            </a:r>
            <a:r>
              <a:rPr lang="en-US" dirty="0"/>
              <a:t> </a:t>
            </a:r>
            <a:r>
              <a:rPr lang="en-US" dirty="0" err="1"/>
              <a:t>возможностей</a:t>
            </a:r>
            <a:r>
              <a:rPr lang="en-US" dirty="0"/>
              <a:t>:</a:t>
            </a:r>
          </a:p>
          <a:p>
            <a:pPr lvl="1"/>
            <a:r>
              <a:rPr lang="en-US" dirty="0" err="1"/>
              <a:t>создание</a:t>
            </a:r>
            <a:r>
              <a:rPr lang="en-US" dirty="0"/>
              <a:t> и </a:t>
            </a:r>
            <a:r>
              <a:rPr lang="en-US" dirty="0" err="1"/>
              <a:t>управление</a:t>
            </a:r>
            <a:r>
              <a:rPr lang="en-US" dirty="0"/>
              <a:t> </a:t>
            </a:r>
            <a:r>
              <a:rPr lang="en-US" dirty="0" err="1"/>
              <a:t>процессами</a:t>
            </a:r>
            <a:r>
              <a:rPr lang="en-US" dirty="0"/>
              <a:t>; </a:t>
            </a:r>
          </a:p>
          <a:p>
            <a:pPr lvl="1"/>
            <a:r>
              <a:rPr lang="en-US" dirty="0" err="1"/>
              <a:t>работа</a:t>
            </a:r>
            <a:r>
              <a:rPr lang="en-US" dirty="0"/>
              <a:t> с </a:t>
            </a:r>
            <a:r>
              <a:rPr lang="en-US" dirty="0" err="1"/>
              <a:t>файлами</a:t>
            </a:r>
            <a:r>
              <a:rPr lang="en-US" dirty="0"/>
              <a:t> и </a:t>
            </a:r>
            <a:r>
              <a:rPr lang="en-US" dirty="0" err="1"/>
              <a:t>каталогами</a:t>
            </a:r>
            <a:r>
              <a:rPr lang="en-US" dirty="0"/>
              <a:t>; </a:t>
            </a:r>
          </a:p>
          <a:p>
            <a:pPr lvl="1"/>
            <a:r>
              <a:rPr lang="en-US" dirty="0" err="1"/>
              <a:t>ввод-вывод</a:t>
            </a:r>
            <a:r>
              <a:rPr lang="en-US" dirty="0"/>
              <a:t>; </a:t>
            </a:r>
          </a:p>
          <a:p>
            <a:pPr lvl="1"/>
            <a:r>
              <a:rPr lang="en-US" dirty="0" err="1"/>
              <a:t>память</a:t>
            </a:r>
            <a:r>
              <a:rPr lang="en-US" dirty="0"/>
              <a:t> и </a:t>
            </a:r>
            <a:r>
              <a:rPr lang="en-US" dirty="0" err="1"/>
              <a:t>межпроцессное</a:t>
            </a:r>
            <a:r>
              <a:rPr lang="en-US" dirty="0"/>
              <a:t> </a:t>
            </a:r>
            <a:r>
              <a:rPr lang="en-US" dirty="0" err="1"/>
              <a:t>взаимодействие</a:t>
            </a:r>
            <a:r>
              <a:rPr lang="en-US" dirty="0"/>
              <a:t>. </a:t>
            </a:r>
          </a:p>
          <a:p>
            <a:r>
              <a:rPr lang="en-US" dirty="0" err="1"/>
              <a:t>Системный</a:t>
            </a:r>
            <a:r>
              <a:rPr lang="en-US" dirty="0"/>
              <a:t> </a:t>
            </a:r>
            <a:r>
              <a:rPr lang="en-US" dirty="0" err="1"/>
              <a:t>вызов</a:t>
            </a:r>
            <a:r>
              <a:rPr lang="en-US" dirty="0"/>
              <a:t> — </a:t>
            </a:r>
            <a:r>
              <a:rPr lang="en-US" dirty="0" err="1"/>
              <a:t>контролируемый</a:t>
            </a:r>
            <a:r>
              <a:rPr lang="en-US" dirty="0"/>
              <a:t> </a:t>
            </a:r>
            <a:r>
              <a:rPr lang="en-US" dirty="0" err="1"/>
              <a:t>переход</a:t>
            </a:r>
            <a:r>
              <a:rPr lang="en-US" dirty="0"/>
              <a:t> </a:t>
            </a:r>
            <a:r>
              <a:rPr lang="en-US" dirty="0" err="1"/>
              <a:t>из</a:t>
            </a:r>
            <a:r>
              <a:rPr lang="en-US" dirty="0"/>
              <a:t> User Mode в Kernel Mode</a:t>
            </a:r>
          </a:p>
          <a:p>
            <a:endParaRPr lang="en-US" dirty="0"/>
          </a:p>
        </p:txBody>
      </p:sp>
      <p:sp>
        <p:nvSpPr>
          <p:cNvPr id="6" name="Slide Number Placeholder 5">
            <a:extLst>
              <a:ext uri="{FF2B5EF4-FFF2-40B4-BE49-F238E27FC236}">
                <a16:creationId xmlns:a16="http://schemas.microsoft.com/office/drawing/2014/main" id="{C39DCAC9-9CE4-09C7-D094-FD4B0B0BAA97}"/>
              </a:ext>
            </a:extLst>
          </p:cNvPr>
          <p:cNvSpPr>
            <a:spLocks noGrp="1"/>
          </p:cNvSpPr>
          <p:nvPr>
            <p:ph type="sldNum" sz="quarter" idx="12"/>
          </p:nvPr>
        </p:nvSpPr>
        <p:spPr/>
        <p:txBody>
          <a:bodyPr/>
          <a:lstStyle/>
          <a:p>
            <a:fld id="{EDCC16D8-4CDA-43DA-B801-57449FB8CE28}" type="slidenum">
              <a:rPr lang="en-US" smtClean="0"/>
              <a:t>31</a:t>
            </a:fld>
            <a:endParaRPr lang="en-US"/>
          </a:p>
        </p:txBody>
      </p:sp>
    </p:spTree>
    <p:extLst>
      <p:ext uri="{BB962C8B-B14F-4D97-AF65-F5344CB8AC3E}">
        <p14:creationId xmlns:p14="http://schemas.microsoft.com/office/powerpoint/2010/main" val="42907459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D5973-A121-4470-09CF-A227732C91E9}"/>
              </a:ext>
            </a:extLst>
          </p:cNvPr>
          <p:cNvSpPr>
            <a:spLocks noGrp="1"/>
          </p:cNvSpPr>
          <p:nvPr>
            <p:ph type="title"/>
          </p:nvPr>
        </p:nvSpPr>
        <p:spPr/>
        <p:txBody>
          <a:bodyPr/>
          <a:lstStyle/>
          <a:p>
            <a:r>
              <a:rPr lang="en-US" dirty="0" err="1"/>
              <a:t>Как</a:t>
            </a:r>
            <a:r>
              <a:rPr lang="en-US" dirty="0"/>
              <a:t> </a:t>
            </a:r>
            <a:r>
              <a:rPr lang="en-US" dirty="0" err="1"/>
              <a:t>выполняется</a:t>
            </a:r>
            <a:r>
              <a:rPr lang="en-US" dirty="0"/>
              <a:t> </a:t>
            </a:r>
            <a:r>
              <a:rPr lang="en-US" dirty="0" err="1"/>
              <a:t>системный</a:t>
            </a:r>
            <a:r>
              <a:rPr lang="en-US" dirty="0"/>
              <a:t> </a:t>
            </a:r>
            <a:r>
              <a:rPr lang="en-US" dirty="0" err="1"/>
              <a:t>вызов</a:t>
            </a:r>
            <a:endParaRPr lang="en-US" dirty="0"/>
          </a:p>
        </p:txBody>
      </p:sp>
      <p:pic>
        <p:nvPicPr>
          <p:cNvPr id="5" name="Content Placeholder 4">
            <a:extLst>
              <a:ext uri="{FF2B5EF4-FFF2-40B4-BE49-F238E27FC236}">
                <a16:creationId xmlns:a16="http://schemas.microsoft.com/office/drawing/2014/main" id="{37D1F2EF-7EFA-233B-A352-2ACFD6F0C08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773892" y="1690688"/>
            <a:ext cx="6644216" cy="4983162"/>
          </a:xfrm>
          <a:prstGeom prst="rect">
            <a:avLst/>
          </a:prstGeom>
        </p:spPr>
      </p:pic>
      <p:sp>
        <p:nvSpPr>
          <p:cNvPr id="6" name="Slide Number Placeholder 5">
            <a:extLst>
              <a:ext uri="{FF2B5EF4-FFF2-40B4-BE49-F238E27FC236}">
                <a16:creationId xmlns:a16="http://schemas.microsoft.com/office/drawing/2014/main" id="{CA8453B7-73FA-87EA-6859-A801952B16F4}"/>
              </a:ext>
            </a:extLst>
          </p:cNvPr>
          <p:cNvSpPr>
            <a:spLocks noGrp="1"/>
          </p:cNvSpPr>
          <p:nvPr>
            <p:ph type="sldNum" sz="quarter" idx="12"/>
          </p:nvPr>
        </p:nvSpPr>
        <p:spPr/>
        <p:txBody>
          <a:bodyPr/>
          <a:lstStyle/>
          <a:p>
            <a:fld id="{EDCC16D8-4CDA-43DA-B801-57449FB8CE28}" type="slidenum">
              <a:rPr lang="en-US" smtClean="0"/>
              <a:t>32</a:t>
            </a:fld>
            <a:endParaRPr lang="en-US"/>
          </a:p>
        </p:txBody>
      </p:sp>
    </p:spTree>
    <p:extLst>
      <p:ext uri="{BB962C8B-B14F-4D97-AF65-F5344CB8AC3E}">
        <p14:creationId xmlns:p14="http://schemas.microsoft.com/office/powerpoint/2010/main" val="1560705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3ED02-CE08-38C2-A510-9A1C15C62B6D}"/>
              </a:ext>
            </a:extLst>
          </p:cNvPr>
          <p:cNvSpPr>
            <a:spLocks noGrp="1"/>
          </p:cNvSpPr>
          <p:nvPr>
            <p:ph type="title"/>
          </p:nvPr>
        </p:nvSpPr>
        <p:spPr/>
        <p:txBody>
          <a:bodyPr/>
          <a:lstStyle/>
          <a:p>
            <a:r>
              <a:rPr lang="en-US" dirty="0"/>
              <a:t>POSIX API: </a:t>
            </a:r>
            <a:r>
              <a:rPr lang="en-US" dirty="0" err="1"/>
              <a:t>разные</a:t>
            </a:r>
            <a:r>
              <a:rPr lang="en-US" dirty="0"/>
              <a:t> </a:t>
            </a:r>
            <a:r>
              <a:rPr lang="en-US" dirty="0" err="1"/>
              <a:t>задачи</a:t>
            </a:r>
            <a:r>
              <a:rPr lang="en-US" dirty="0"/>
              <a:t> — </a:t>
            </a:r>
            <a:r>
              <a:rPr lang="en-US" dirty="0" err="1"/>
              <a:t>один</a:t>
            </a:r>
            <a:r>
              <a:rPr lang="en-US" dirty="0"/>
              <a:t> </a:t>
            </a:r>
            <a:r>
              <a:rPr lang="en-US" dirty="0" err="1"/>
              <a:t>принцип</a:t>
            </a:r>
            <a:endParaRPr lang="en-US" dirty="0"/>
          </a:p>
        </p:txBody>
      </p:sp>
      <p:graphicFrame>
        <p:nvGraphicFramePr>
          <p:cNvPr id="5" name="Content Placeholder 4">
            <a:extLst>
              <a:ext uri="{FF2B5EF4-FFF2-40B4-BE49-F238E27FC236}">
                <a16:creationId xmlns:a16="http://schemas.microsoft.com/office/drawing/2014/main" id="{6934159E-6528-DE33-99F0-90EBDEC3466D}"/>
              </a:ext>
            </a:extLst>
          </p:cNvPr>
          <p:cNvGraphicFramePr>
            <a:graphicFrameLocks noGrp="1"/>
          </p:cNvGraphicFramePr>
          <p:nvPr>
            <p:ph idx="1"/>
            <p:extLst>
              <p:ext uri="{D42A27DB-BD31-4B8C-83A1-F6EECF244321}">
                <p14:modId xmlns:p14="http://schemas.microsoft.com/office/powerpoint/2010/main" val="3462053470"/>
              </p:ext>
            </p:extLst>
          </p:nvPr>
        </p:nvGraphicFramePr>
        <p:xfrm>
          <a:off x="838200" y="1825625"/>
          <a:ext cx="10515600" cy="228600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4093407864"/>
                    </a:ext>
                  </a:extLst>
                </a:gridCol>
                <a:gridCol w="1990271">
                  <a:extLst>
                    <a:ext uri="{9D8B030D-6E8A-4147-A177-3AD203B41FA5}">
                      <a16:colId xmlns:a16="http://schemas.microsoft.com/office/drawing/2014/main" val="2754495704"/>
                    </a:ext>
                  </a:extLst>
                </a:gridCol>
                <a:gridCol w="3267529">
                  <a:extLst>
                    <a:ext uri="{9D8B030D-6E8A-4147-A177-3AD203B41FA5}">
                      <a16:colId xmlns:a16="http://schemas.microsoft.com/office/drawing/2014/main" val="1980487263"/>
                    </a:ext>
                  </a:extLst>
                </a:gridCol>
                <a:gridCol w="2628900">
                  <a:extLst>
                    <a:ext uri="{9D8B030D-6E8A-4147-A177-3AD203B41FA5}">
                      <a16:colId xmlns:a16="http://schemas.microsoft.com/office/drawing/2014/main" val="3599381442"/>
                    </a:ext>
                  </a:extLst>
                </a:gridCol>
              </a:tblGrid>
              <a:tr h="370840">
                <a:tc>
                  <a:txBody>
                    <a:bodyPr/>
                    <a:lstStyle/>
                    <a:p>
                      <a:r>
                        <a:rPr lang="ru-RU" sz="2400" dirty="0"/>
                        <a:t>Процессы</a:t>
                      </a:r>
                      <a:endParaRPr lang="en-US" sz="2400" dirty="0"/>
                    </a:p>
                  </a:txBody>
                  <a:tcPr/>
                </a:tc>
                <a:tc>
                  <a:txBody>
                    <a:bodyPr/>
                    <a:lstStyle/>
                    <a:p>
                      <a:r>
                        <a:rPr lang="ru-RU" sz="2400" dirty="0"/>
                        <a:t>Файлы</a:t>
                      </a:r>
                      <a:endParaRPr lang="en-US" sz="2400" dirty="0"/>
                    </a:p>
                  </a:txBody>
                  <a:tcPr/>
                </a:tc>
                <a:tc>
                  <a:txBody>
                    <a:bodyPr/>
                    <a:lstStyle/>
                    <a:p>
                      <a:r>
                        <a:rPr lang="ru-RU" sz="2400" dirty="0"/>
                        <a:t>Файловая система</a:t>
                      </a:r>
                      <a:endParaRPr lang="en-US" sz="2400" dirty="0"/>
                    </a:p>
                  </a:txBody>
                  <a:tcPr/>
                </a:tc>
                <a:tc>
                  <a:txBody>
                    <a:bodyPr/>
                    <a:lstStyle/>
                    <a:p>
                      <a:r>
                        <a:rPr lang="ru-RU" sz="2400" dirty="0"/>
                        <a:t>Прочее</a:t>
                      </a:r>
                      <a:endParaRPr lang="en-US" sz="2400" dirty="0"/>
                    </a:p>
                  </a:txBody>
                  <a:tcPr/>
                </a:tc>
                <a:extLst>
                  <a:ext uri="{0D108BD9-81ED-4DB2-BD59-A6C34878D82A}">
                    <a16:rowId xmlns:a16="http://schemas.microsoft.com/office/drawing/2014/main" val="4147331251"/>
                  </a:ext>
                </a:extLst>
              </a:tr>
              <a:tr h="370840">
                <a:tc>
                  <a:txBody>
                    <a:bodyPr/>
                    <a:lstStyle/>
                    <a:p>
                      <a:r>
                        <a:rPr lang="en-US" sz="2400" dirty="0"/>
                        <a:t>fork</a:t>
                      </a:r>
                    </a:p>
                  </a:txBody>
                  <a:tcPr/>
                </a:tc>
                <a:tc>
                  <a:txBody>
                    <a:bodyPr/>
                    <a:lstStyle/>
                    <a:p>
                      <a:r>
                        <a:rPr lang="en-US" sz="2400" dirty="0"/>
                        <a:t>open</a:t>
                      </a:r>
                    </a:p>
                  </a:txBody>
                  <a:tcPr/>
                </a:tc>
                <a:tc>
                  <a:txBody>
                    <a:bodyPr/>
                    <a:lstStyle/>
                    <a:p>
                      <a:r>
                        <a:rPr lang="en-US" sz="2400" dirty="0" err="1"/>
                        <a:t>mkdir</a:t>
                      </a:r>
                      <a:endParaRPr lang="en-US" sz="2400" dirty="0"/>
                    </a:p>
                  </a:txBody>
                  <a:tcPr/>
                </a:tc>
                <a:tc>
                  <a:txBody>
                    <a:bodyPr/>
                    <a:lstStyle/>
                    <a:p>
                      <a:r>
                        <a:rPr lang="en-US" sz="2400" dirty="0" err="1"/>
                        <a:t>mmap</a:t>
                      </a:r>
                      <a:endParaRPr lang="en-US" sz="2400" dirty="0"/>
                    </a:p>
                  </a:txBody>
                  <a:tcPr/>
                </a:tc>
                <a:extLst>
                  <a:ext uri="{0D108BD9-81ED-4DB2-BD59-A6C34878D82A}">
                    <a16:rowId xmlns:a16="http://schemas.microsoft.com/office/drawing/2014/main" val="2479823516"/>
                  </a:ext>
                </a:extLst>
              </a:tr>
              <a:tr h="370840">
                <a:tc>
                  <a:txBody>
                    <a:bodyPr/>
                    <a:lstStyle/>
                    <a:p>
                      <a:r>
                        <a:rPr lang="en-US" sz="2400" dirty="0"/>
                        <a:t>exec</a:t>
                      </a:r>
                    </a:p>
                  </a:txBody>
                  <a:tcPr/>
                </a:tc>
                <a:tc>
                  <a:txBody>
                    <a:bodyPr/>
                    <a:lstStyle/>
                    <a:p>
                      <a:r>
                        <a:rPr lang="en-US" sz="2400" dirty="0"/>
                        <a:t>read</a:t>
                      </a:r>
                    </a:p>
                  </a:txBody>
                  <a:tcPr/>
                </a:tc>
                <a:tc>
                  <a:txBody>
                    <a:bodyPr/>
                    <a:lstStyle/>
                    <a:p>
                      <a:r>
                        <a:rPr lang="en-US" sz="2400" dirty="0"/>
                        <a:t>unlink</a:t>
                      </a:r>
                    </a:p>
                  </a:txBody>
                  <a:tcPr/>
                </a:tc>
                <a:tc>
                  <a:txBody>
                    <a:bodyPr/>
                    <a:lstStyle/>
                    <a:p>
                      <a:r>
                        <a:rPr lang="en-US" sz="2400" dirty="0"/>
                        <a:t>kill</a:t>
                      </a:r>
                    </a:p>
                  </a:txBody>
                  <a:tcPr/>
                </a:tc>
                <a:extLst>
                  <a:ext uri="{0D108BD9-81ED-4DB2-BD59-A6C34878D82A}">
                    <a16:rowId xmlns:a16="http://schemas.microsoft.com/office/drawing/2014/main" val="2172525707"/>
                  </a:ext>
                </a:extLst>
              </a:tr>
              <a:tr h="370840">
                <a:tc>
                  <a:txBody>
                    <a:bodyPr/>
                    <a:lstStyle/>
                    <a:p>
                      <a:r>
                        <a:rPr lang="en-US" sz="2400" dirty="0" err="1"/>
                        <a:t>waitpid</a:t>
                      </a:r>
                      <a:endParaRPr lang="en-US" sz="2400" dirty="0"/>
                    </a:p>
                  </a:txBody>
                  <a:tcPr/>
                </a:tc>
                <a:tc>
                  <a:txBody>
                    <a:bodyPr/>
                    <a:lstStyle/>
                    <a:p>
                      <a:r>
                        <a:rPr lang="en-US" sz="2400" dirty="0"/>
                        <a:t>write</a:t>
                      </a:r>
                    </a:p>
                  </a:txBody>
                  <a:tcPr/>
                </a:tc>
                <a:tc>
                  <a:txBody>
                    <a:bodyPr/>
                    <a:lstStyle/>
                    <a:p>
                      <a:r>
                        <a:rPr lang="en-US" sz="2400" dirty="0" err="1"/>
                        <a:t>chdir</a:t>
                      </a:r>
                      <a:endParaRPr lang="en-US" sz="2400" dirty="0"/>
                    </a:p>
                  </a:txBody>
                  <a:tcPr/>
                </a:tc>
                <a:tc>
                  <a:txBody>
                    <a:bodyPr/>
                    <a:lstStyle/>
                    <a:p>
                      <a:r>
                        <a:rPr lang="en-US" sz="2400" dirty="0"/>
                        <a:t>pipe</a:t>
                      </a:r>
                    </a:p>
                  </a:txBody>
                  <a:tcPr/>
                </a:tc>
                <a:extLst>
                  <a:ext uri="{0D108BD9-81ED-4DB2-BD59-A6C34878D82A}">
                    <a16:rowId xmlns:a16="http://schemas.microsoft.com/office/drawing/2014/main" val="934903082"/>
                  </a:ext>
                </a:extLst>
              </a:tr>
              <a:tr h="370840">
                <a:tc>
                  <a:txBody>
                    <a:bodyPr/>
                    <a:lstStyle/>
                    <a:p>
                      <a:r>
                        <a:rPr lang="en-US" sz="2400" dirty="0"/>
                        <a:t>exit</a:t>
                      </a:r>
                    </a:p>
                  </a:txBody>
                  <a:tcPr/>
                </a:tc>
                <a:tc>
                  <a:txBody>
                    <a:bodyPr/>
                    <a:lstStyle/>
                    <a:p>
                      <a:r>
                        <a:rPr lang="en-US" sz="2400" dirty="0"/>
                        <a:t>close</a:t>
                      </a:r>
                    </a:p>
                  </a:txBody>
                  <a:tcPr/>
                </a:tc>
                <a:tc>
                  <a:txBody>
                    <a:bodyPr/>
                    <a:lstStyle/>
                    <a:p>
                      <a:r>
                        <a:rPr lang="en-US" sz="2400" dirty="0"/>
                        <a:t>stat</a:t>
                      </a:r>
                    </a:p>
                  </a:txBody>
                  <a:tcPr/>
                </a:tc>
                <a:tc>
                  <a:txBody>
                    <a:bodyPr/>
                    <a:lstStyle/>
                    <a:p>
                      <a:r>
                        <a:rPr lang="en-US" sz="2400" dirty="0"/>
                        <a:t>…</a:t>
                      </a:r>
                    </a:p>
                  </a:txBody>
                  <a:tcPr/>
                </a:tc>
                <a:extLst>
                  <a:ext uri="{0D108BD9-81ED-4DB2-BD59-A6C34878D82A}">
                    <a16:rowId xmlns:a16="http://schemas.microsoft.com/office/drawing/2014/main" val="2272820035"/>
                  </a:ext>
                </a:extLst>
              </a:tr>
            </a:tbl>
          </a:graphicData>
        </a:graphic>
      </p:graphicFrame>
      <p:sp>
        <p:nvSpPr>
          <p:cNvPr id="4" name="Slide Number Placeholder 3">
            <a:extLst>
              <a:ext uri="{FF2B5EF4-FFF2-40B4-BE49-F238E27FC236}">
                <a16:creationId xmlns:a16="http://schemas.microsoft.com/office/drawing/2014/main" id="{88C7B21C-C41B-2BF3-D2D5-FA34EAB04244}"/>
              </a:ext>
            </a:extLst>
          </p:cNvPr>
          <p:cNvSpPr>
            <a:spLocks noGrp="1"/>
          </p:cNvSpPr>
          <p:nvPr>
            <p:ph type="sldNum" sz="quarter" idx="12"/>
          </p:nvPr>
        </p:nvSpPr>
        <p:spPr/>
        <p:txBody>
          <a:bodyPr/>
          <a:lstStyle/>
          <a:p>
            <a:fld id="{EDCC16D8-4CDA-43DA-B801-57449FB8CE28}" type="slidenum">
              <a:rPr lang="en-US" smtClean="0"/>
              <a:t>33</a:t>
            </a:fld>
            <a:endParaRPr lang="en-US"/>
          </a:p>
        </p:txBody>
      </p:sp>
    </p:spTree>
    <p:extLst>
      <p:ext uri="{BB962C8B-B14F-4D97-AF65-F5344CB8AC3E}">
        <p14:creationId xmlns:p14="http://schemas.microsoft.com/office/powerpoint/2010/main" val="15929681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058BA-2A63-02C0-F5FE-8E96694E421A}"/>
              </a:ext>
            </a:extLst>
          </p:cNvPr>
          <p:cNvSpPr>
            <a:spLocks noGrp="1"/>
          </p:cNvSpPr>
          <p:nvPr>
            <p:ph type="title"/>
          </p:nvPr>
        </p:nvSpPr>
        <p:spPr/>
        <p:txBody>
          <a:bodyPr/>
          <a:lstStyle/>
          <a:p>
            <a:r>
              <a:rPr lang="ru-RU" dirty="0"/>
              <a:t>Как создать </a:t>
            </a:r>
            <a:r>
              <a:rPr lang="en-US" dirty="0"/>
              <a:t>RAII</a:t>
            </a:r>
            <a:r>
              <a:rPr lang="ru-RU" dirty="0"/>
              <a:t> обертку над файловым дескриптором</a:t>
            </a:r>
            <a:endParaRPr lang="en-US" dirty="0"/>
          </a:p>
        </p:txBody>
      </p:sp>
      <p:pic>
        <p:nvPicPr>
          <p:cNvPr id="5" name="Content Placeholder 4">
            <a:extLst>
              <a:ext uri="{FF2B5EF4-FFF2-40B4-BE49-F238E27FC236}">
                <a16:creationId xmlns:a16="http://schemas.microsoft.com/office/drawing/2014/main" id="{1D8D32DE-EB7B-CE11-6473-03DF3EF6A71C}"/>
              </a:ext>
            </a:extLst>
          </p:cNvPr>
          <p:cNvPicPr>
            <a:picLocks noGrp="1" noChangeAspect="1"/>
          </p:cNvPicPr>
          <p:nvPr>
            <p:ph idx="1"/>
          </p:nvPr>
        </p:nvPicPr>
        <p:blipFill>
          <a:blip r:embed="rId3"/>
          <a:stretch>
            <a:fillRect/>
          </a:stretch>
        </p:blipFill>
        <p:spPr>
          <a:xfrm>
            <a:off x="6383546" y="1690688"/>
            <a:ext cx="5483867" cy="3080099"/>
          </a:xfrm>
          <a:prstGeom prst="rect">
            <a:avLst/>
          </a:prstGeom>
        </p:spPr>
      </p:pic>
      <p:sp>
        <p:nvSpPr>
          <p:cNvPr id="3" name="Slide Number Placeholder 2">
            <a:extLst>
              <a:ext uri="{FF2B5EF4-FFF2-40B4-BE49-F238E27FC236}">
                <a16:creationId xmlns:a16="http://schemas.microsoft.com/office/drawing/2014/main" id="{DAF643EB-4DA9-AD62-954D-61012ED95EFF}"/>
              </a:ext>
            </a:extLst>
          </p:cNvPr>
          <p:cNvSpPr>
            <a:spLocks noGrp="1"/>
          </p:cNvSpPr>
          <p:nvPr>
            <p:ph type="sldNum" sz="quarter" idx="12"/>
          </p:nvPr>
        </p:nvSpPr>
        <p:spPr/>
        <p:txBody>
          <a:bodyPr/>
          <a:lstStyle/>
          <a:p>
            <a:fld id="{EDCC16D8-4CDA-43DA-B801-57449FB8CE28}" type="slidenum">
              <a:rPr lang="en-US" smtClean="0"/>
              <a:t>34</a:t>
            </a:fld>
            <a:endParaRPr lang="en-US"/>
          </a:p>
        </p:txBody>
      </p:sp>
      <p:sp>
        <p:nvSpPr>
          <p:cNvPr id="6" name="TextBox 5">
            <a:extLst>
              <a:ext uri="{FF2B5EF4-FFF2-40B4-BE49-F238E27FC236}">
                <a16:creationId xmlns:a16="http://schemas.microsoft.com/office/drawing/2014/main" id="{F38F694F-E06A-166C-2B5F-F9344753600C}"/>
              </a:ext>
            </a:extLst>
          </p:cNvPr>
          <p:cNvSpPr txBox="1"/>
          <p:nvPr/>
        </p:nvSpPr>
        <p:spPr>
          <a:xfrm>
            <a:off x="6548887" y="5167312"/>
            <a:ext cx="5318526" cy="461665"/>
          </a:xfrm>
          <a:prstGeom prst="rect">
            <a:avLst/>
          </a:prstGeom>
          <a:noFill/>
        </p:spPr>
        <p:txBody>
          <a:bodyPr wrap="square">
            <a:spAutoFit/>
          </a:bodyPr>
          <a:lstStyle/>
          <a:p>
            <a:r>
              <a:rPr lang="en-US" sz="2400" dirty="0">
                <a:hlinkClick r:id="rId4"/>
              </a:rPr>
              <a:t>https://youtu.be/fK4zN2r3me4</a:t>
            </a:r>
            <a:r>
              <a:rPr lang="ru-RU" sz="2400" dirty="0"/>
              <a:t> </a:t>
            </a:r>
            <a:endParaRPr lang="en-US" sz="2400" dirty="0"/>
          </a:p>
        </p:txBody>
      </p:sp>
      <p:pic>
        <p:nvPicPr>
          <p:cNvPr id="8" name="Picture 7">
            <a:extLst>
              <a:ext uri="{FF2B5EF4-FFF2-40B4-BE49-F238E27FC236}">
                <a16:creationId xmlns:a16="http://schemas.microsoft.com/office/drawing/2014/main" id="{E16A1796-8811-97DE-D727-C654F61D14F4}"/>
              </a:ext>
            </a:extLst>
          </p:cNvPr>
          <p:cNvPicPr>
            <a:picLocks noChangeAspect="1"/>
          </p:cNvPicPr>
          <p:nvPr/>
        </p:nvPicPr>
        <p:blipFill>
          <a:blip r:embed="rId5"/>
          <a:stretch>
            <a:fillRect/>
          </a:stretch>
        </p:blipFill>
        <p:spPr>
          <a:xfrm>
            <a:off x="905395" y="1868472"/>
            <a:ext cx="2705478" cy="2724530"/>
          </a:xfrm>
          <a:prstGeom prst="rect">
            <a:avLst/>
          </a:prstGeom>
        </p:spPr>
      </p:pic>
    </p:spTree>
    <p:extLst>
      <p:ext uri="{BB962C8B-B14F-4D97-AF65-F5344CB8AC3E}">
        <p14:creationId xmlns:p14="http://schemas.microsoft.com/office/powerpoint/2010/main" val="9169518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49C266-BB00-483A-08A2-D3F2E3BF95C0}"/>
              </a:ext>
            </a:extLst>
          </p:cNvPr>
          <p:cNvSpPr>
            <a:spLocks noGrp="1"/>
          </p:cNvSpPr>
          <p:nvPr>
            <p:ph type="title"/>
          </p:nvPr>
        </p:nvSpPr>
        <p:spPr/>
        <p:txBody>
          <a:bodyPr/>
          <a:lstStyle/>
          <a:p>
            <a:r>
              <a:rPr lang="en-US" dirty="0"/>
              <a:t>API Windows</a:t>
            </a:r>
          </a:p>
        </p:txBody>
      </p:sp>
      <p:sp>
        <p:nvSpPr>
          <p:cNvPr id="5" name="Text Placeholder 4">
            <a:extLst>
              <a:ext uri="{FF2B5EF4-FFF2-40B4-BE49-F238E27FC236}">
                <a16:creationId xmlns:a16="http://schemas.microsoft.com/office/drawing/2014/main" id="{9AA41C37-ACB2-69FC-91E0-F274C631601F}"/>
              </a:ext>
            </a:extLst>
          </p:cNvPr>
          <p:cNvSpPr>
            <a:spLocks noGrp="1"/>
          </p:cNvSpPr>
          <p:nvPr>
            <p:ph type="body" idx="1"/>
          </p:nvPr>
        </p:nvSpPr>
        <p:spPr/>
        <p:txBody>
          <a:bodyPr/>
          <a:lstStyle/>
          <a:p>
            <a:endParaRPr lang="en-US"/>
          </a:p>
        </p:txBody>
      </p:sp>
      <p:sp>
        <p:nvSpPr>
          <p:cNvPr id="2" name="Slide Number Placeholder 1">
            <a:extLst>
              <a:ext uri="{FF2B5EF4-FFF2-40B4-BE49-F238E27FC236}">
                <a16:creationId xmlns:a16="http://schemas.microsoft.com/office/drawing/2014/main" id="{FF0B3880-B9DB-5835-4519-206AA726F548}"/>
              </a:ext>
            </a:extLst>
          </p:cNvPr>
          <p:cNvSpPr>
            <a:spLocks noGrp="1"/>
          </p:cNvSpPr>
          <p:nvPr>
            <p:ph type="sldNum" sz="quarter" idx="12"/>
          </p:nvPr>
        </p:nvSpPr>
        <p:spPr/>
        <p:txBody>
          <a:bodyPr/>
          <a:lstStyle/>
          <a:p>
            <a:fld id="{EDCC16D8-4CDA-43DA-B801-57449FB8CE28}" type="slidenum">
              <a:rPr lang="en-US" smtClean="0"/>
              <a:t>35</a:t>
            </a:fld>
            <a:endParaRPr lang="en-US"/>
          </a:p>
        </p:txBody>
      </p:sp>
    </p:spTree>
    <p:extLst>
      <p:ext uri="{BB962C8B-B14F-4D97-AF65-F5344CB8AC3E}">
        <p14:creationId xmlns:p14="http://schemas.microsoft.com/office/powerpoint/2010/main" val="19818487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C438A11-145F-5BE4-1FBD-3A1F3740CD18}"/>
              </a:ext>
            </a:extLst>
          </p:cNvPr>
          <p:cNvSpPr>
            <a:spLocks noGrp="1"/>
          </p:cNvSpPr>
          <p:nvPr>
            <p:ph type="title"/>
          </p:nvPr>
        </p:nvSpPr>
        <p:spPr/>
        <p:txBody>
          <a:bodyPr/>
          <a:lstStyle/>
          <a:p>
            <a:r>
              <a:rPr lang="en-US" dirty="0"/>
              <a:t>POSIX и Windows AP</a:t>
            </a:r>
          </a:p>
        </p:txBody>
      </p:sp>
      <p:sp>
        <p:nvSpPr>
          <p:cNvPr id="9" name="Text Placeholder 8">
            <a:extLst>
              <a:ext uri="{FF2B5EF4-FFF2-40B4-BE49-F238E27FC236}">
                <a16:creationId xmlns:a16="http://schemas.microsoft.com/office/drawing/2014/main" id="{07D00DE1-C1F4-DCA2-1713-84CEB6A1D690}"/>
              </a:ext>
            </a:extLst>
          </p:cNvPr>
          <p:cNvSpPr>
            <a:spLocks noGrp="1"/>
          </p:cNvSpPr>
          <p:nvPr>
            <p:ph type="body" idx="1"/>
          </p:nvPr>
        </p:nvSpPr>
        <p:spPr/>
        <p:txBody>
          <a:bodyPr/>
          <a:lstStyle/>
          <a:p>
            <a:r>
              <a:rPr lang="en-US" dirty="0"/>
              <a:t>POSIX / UNIX</a:t>
            </a:r>
          </a:p>
        </p:txBody>
      </p:sp>
      <p:sp>
        <p:nvSpPr>
          <p:cNvPr id="10" name="Content Placeholder 9">
            <a:extLst>
              <a:ext uri="{FF2B5EF4-FFF2-40B4-BE49-F238E27FC236}">
                <a16:creationId xmlns:a16="http://schemas.microsoft.com/office/drawing/2014/main" id="{0E1CAD8C-29C2-0CD7-C22B-320C43C648C6}"/>
              </a:ext>
            </a:extLst>
          </p:cNvPr>
          <p:cNvSpPr>
            <a:spLocks noGrp="1"/>
          </p:cNvSpPr>
          <p:nvPr>
            <p:ph sz="half" idx="2"/>
          </p:nvPr>
        </p:nvSpPr>
        <p:spPr/>
        <p:txBody>
          <a:bodyPr/>
          <a:lstStyle/>
          <a:p>
            <a:r>
              <a:rPr lang="en-US" dirty="0" err="1"/>
              <a:t>Стандартизованный</a:t>
            </a:r>
            <a:r>
              <a:rPr lang="en-US" dirty="0"/>
              <a:t> C API</a:t>
            </a:r>
          </a:p>
          <a:p>
            <a:r>
              <a:rPr lang="en-US" dirty="0"/>
              <a:t>open, read, fork, exec…</a:t>
            </a:r>
          </a:p>
          <a:p>
            <a:r>
              <a:rPr lang="en-US" dirty="0" err="1"/>
              <a:t>Часто</a:t>
            </a:r>
            <a:r>
              <a:rPr lang="en-US" dirty="0"/>
              <a:t> </a:t>
            </a:r>
            <a:r>
              <a:rPr lang="en-US" dirty="0" err="1"/>
              <a:t>видна</a:t>
            </a:r>
            <a:r>
              <a:rPr lang="en-US" dirty="0"/>
              <a:t> </a:t>
            </a:r>
            <a:r>
              <a:rPr lang="en-US" dirty="0" err="1"/>
              <a:t>связь</a:t>
            </a:r>
            <a:r>
              <a:rPr lang="en-US" dirty="0"/>
              <a:t> API с </a:t>
            </a:r>
            <a:r>
              <a:rPr lang="en-US" dirty="0" err="1"/>
              <a:t>системными</a:t>
            </a:r>
            <a:r>
              <a:rPr lang="en-US" dirty="0"/>
              <a:t> </a:t>
            </a:r>
            <a:r>
              <a:rPr lang="en-US" dirty="0" err="1"/>
              <a:t>вызовами</a:t>
            </a:r>
            <a:endParaRPr lang="en-US" dirty="0"/>
          </a:p>
          <a:p>
            <a:r>
              <a:rPr lang="en-US" dirty="0" err="1"/>
              <a:t>Один</a:t>
            </a:r>
            <a:r>
              <a:rPr lang="en-US" dirty="0"/>
              <a:t> API </a:t>
            </a:r>
            <a:r>
              <a:rPr lang="en-US" dirty="0" err="1"/>
              <a:t>для</a:t>
            </a:r>
            <a:r>
              <a:rPr lang="en-US" dirty="0"/>
              <a:t> </a:t>
            </a:r>
            <a:r>
              <a:rPr lang="en-US" dirty="0" err="1"/>
              <a:t>разных</a:t>
            </a:r>
            <a:r>
              <a:rPr lang="en-US" dirty="0"/>
              <a:t> UNIX-</a:t>
            </a:r>
            <a:r>
              <a:rPr lang="en-US" dirty="0" err="1"/>
              <a:t>подобных</a:t>
            </a:r>
            <a:r>
              <a:rPr lang="en-US" dirty="0"/>
              <a:t> ОС</a:t>
            </a:r>
          </a:p>
        </p:txBody>
      </p:sp>
      <p:sp>
        <p:nvSpPr>
          <p:cNvPr id="11" name="Text Placeholder 10">
            <a:extLst>
              <a:ext uri="{FF2B5EF4-FFF2-40B4-BE49-F238E27FC236}">
                <a16:creationId xmlns:a16="http://schemas.microsoft.com/office/drawing/2014/main" id="{5CD59A77-546B-72BB-5E41-03BDE4DADBAC}"/>
              </a:ext>
            </a:extLst>
          </p:cNvPr>
          <p:cNvSpPr>
            <a:spLocks noGrp="1"/>
          </p:cNvSpPr>
          <p:nvPr>
            <p:ph type="body" sz="quarter" idx="3"/>
          </p:nvPr>
        </p:nvSpPr>
        <p:spPr/>
        <p:txBody>
          <a:bodyPr/>
          <a:lstStyle/>
          <a:p>
            <a:r>
              <a:rPr lang="en-US" dirty="0"/>
              <a:t>Windows</a:t>
            </a:r>
          </a:p>
        </p:txBody>
      </p:sp>
      <p:sp>
        <p:nvSpPr>
          <p:cNvPr id="12" name="Content Placeholder 11">
            <a:extLst>
              <a:ext uri="{FF2B5EF4-FFF2-40B4-BE49-F238E27FC236}">
                <a16:creationId xmlns:a16="http://schemas.microsoft.com/office/drawing/2014/main" id="{BF3EB382-44B1-76D8-6DAD-DEE03899AEE8}"/>
              </a:ext>
            </a:extLst>
          </p:cNvPr>
          <p:cNvSpPr>
            <a:spLocks noGrp="1"/>
          </p:cNvSpPr>
          <p:nvPr>
            <p:ph sz="quarter" idx="4"/>
          </p:nvPr>
        </p:nvSpPr>
        <p:spPr/>
        <p:txBody>
          <a:bodyPr/>
          <a:lstStyle/>
          <a:p>
            <a:r>
              <a:rPr lang="en-US" dirty="0"/>
              <a:t>Windows API (Win32)</a:t>
            </a:r>
          </a:p>
          <a:p>
            <a:r>
              <a:rPr lang="en-US" dirty="0" err="1"/>
              <a:t>CreateFile</a:t>
            </a:r>
            <a:r>
              <a:rPr lang="en-US" dirty="0"/>
              <a:t>, </a:t>
            </a:r>
            <a:r>
              <a:rPr lang="en-US" dirty="0" err="1"/>
              <a:t>ReadFile</a:t>
            </a:r>
            <a:r>
              <a:rPr lang="en-US" dirty="0"/>
              <a:t>, </a:t>
            </a:r>
            <a:r>
              <a:rPr lang="en-US" dirty="0" err="1"/>
              <a:t>CreateProcess</a:t>
            </a:r>
            <a:r>
              <a:rPr lang="en-US" dirty="0"/>
              <a:t>…</a:t>
            </a:r>
          </a:p>
          <a:p>
            <a:r>
              <a:rPr lang="en-US" dirty="0" err="1"/>
              <a:t>Публичный</a:t>
            </a:r>
            <a:r>
              <a:rPr lang="en-US" dirty="0"/>
              <a:t> API </a:t>
            </a:r>
            <a:r>
              <a:rPr lang="en-US" dirty="0" err="1"/>
              <a:t>отделён</a:t>
            </a:r>
            <a:r>
              <a:rPr lang="en-US" dirty="0"/>
              <a:t> </a:t>
            </a:r>
            <a:r>
              <a:rPr lang="en-US" dirty="0" err="1"/>
              <a:t>от</a:t>
            </a:r>
            <a:r>
              <a:rPr lang="en-US" dirty="0"/>
              <a:t> </a:t>
            </a:r>
            <a:r>
              <a:rPr lang="en-US" dirty="0" err="1"/>
              <a:t>внутренних</a:t>
            </a:r>
            <a:r>
              <a:rPr lang="en-US" dirty="0"/>
              <a:t> </a:t>
            </a:r>
            <a:r>
              <a:rPr lang="en-US" dirty="0" err="1"/>
              <a:t>системных</a:t>
            </a:r>
            <a:r>
              <a:rPr lang="en-US" dirty="0"/>
              <a:t> </a:t>
            </a:r>
            <a:r>
              <a:rPr lang="en-US" dirty="0" err="1"/>
              <a:t>вызовов</a:t>
            </a:r>
            <a:endParaRPr lang="en-US" dirty="0"/>
          </a:p>
          <a:p>
            <a:r>
              <a:rPr lang="en-US" dirty="0" err="1"/>
              <a:t>Совместимость</a:t>
            </a:r>
            <a:r>
              <a:rPr lang="en-US" dirty="0"/>
              <a:t> </a:t>
            </a:r>
            <a:r>
              <a:rPr lang="en-US" dirty="0" err="1"/>
              <a:t>приложений</a:t>
            </a:r>
            <a:r>
              <a:rPr lang="en-US" dirty="0"/>
              <a:t> </a:t>
            </a:r>
            <a:r>
              <a:rPr lang="en-US" dirty="0" err="1"/>
              <a:t>между</a:t>
            </a:r>
            <a:r>
              <a:rPr lang="en-US" dirty="0"/>
              <a:t> </a:t>
            </a:r>
            <a:r>
              <a:rPr lang="en-US" dirty="0" err="1"/>
              <a:t>версиями</a:t>
            </a:r>
            <a:r>
              <a:rPr lang="en-US" dirty="0"/>
              <a:t> Windows</a:t>
            </a:r>
          </a:p>
        </p:txBody>
      </p:sp>
      <p:sp>
        <p:nvSpPr>
          <p:cNvPr id="4" name="Slide Number Placeholder 3">
            <a:extLst>
              <a:ext uri="{FF2B5EF4-FFF2-40B4-BE49-F238E27FC236}">
                <a16:creationId xmlns:a16="http://schemas.microsoft.com/office/drawing/2014/main" id="{11B96370-878A-C3CC-AF11-C2ACA5C38D62}"/>
              </a:ext>
            </a:extLst>
          </p:cNvPr>
          <p:cNvSpPr>
            <a:spLocks noGrp="1"/>
          </p:cNvSpPr>
          <p:nvPr>
            <p:ph type="sldNum" sz="quarter" idx="12"/>
          </p:nvPr>
        </p:nvSpPr>
        <p:spPr/>
        <p:txBody>
          <a:bodyPr/>
          <a:lstStyle/>
          <a:p>
            <a:fld id="{EDCC16D8-4CDA-43DA-B801-57449FB8CE28}" type="slidenum">
              <a:rPr lang="en-US" smtClean="0"/>
              <a:t>36</a:t>
            </a:fld>
            <a:endParaRPr lang="en-US"/>
          </a:p>
        </p:txBody>
      </p:sp>
    </p:spTree>
    <p:extLst>
      <p:ext uri="{BB962C8B-B14F-4D97-AF65-F5344CB8AC3E}">
        <p14:creationId xmlns:p14="http://schemas.microsoft.com/office/powerpoint/2010/main" val="39309221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F4CFC-870D-D8DE-00F0-42142A5F3D54}"/>
              </a:ext>
            </a:extLst>
          </p:cNvPr>
          <p:cNvSpPr>
            <a:spLocks noGrp="1"/>
          </p:cNvSpPr>
          <p:nvPr>
            <p:ph type="title"/>
          </p:nvPr>
        </p:nvSpPr>
        <p:spPr/>
        <p:txBody>
          <a:bodyPr/>
          <a:lstStyle/>
          <a:p>
            <a:r>
              <a:rPr lang="en-US" dirty="0" err="1"/>
              <a:t>Одни</a:t>
            </a:r>
            <a:r>
              <a:rPr lang="en-US" dirty="0"/>
              <a:t> </a:t>
            </a:r>
            <a:r>
              <a:rPr lang="en-US" dirty="0" err="1"/>
              <a:t>задачи</a:t>
            </a:r>
            <a:r>
              <a:rPr lang="en-US" dirty="0"/>
              <a:t> — </a:t>
            </a:r>
            <a:r>
              <a:rPr lang="en-US" dirty="0" err="1"/>
              <a:t>разные</a:t>
            </a:r>
            <a:r>
              <a:rPr lang="en-US" dirty="0"/>
              <a:t> </a:t>
            </a:r>
            <a:r>
              <a:rPr lang="en-US" dirty="0" err="1"/>
              <a:t>интерфейсы</a:t>
            </a:r>
            <a:endParaRPr lang="en-US" dirty="0"/>
          </a:p>
        </p:txBody>
      </p:sp>
      <p:graphicFrame>
        <p:nvGraphicFramePr>
          <p:cNvPr id="9" name="Content Placeholder 8">
            <a:extLst>
              <a:ext uri="{FF2B5EF4-FFF2-40B4-BE49-F238E27FC236}">
                <a16:creationId xmlns:a16="http://schemas.microsoft.com/office/drawing/2014/main" id="{14E48047-AACF-22C6-E591-23844018BB47}"/>
              </a:ext>
            </a:extLst>
          </p:cNvPr>
          <p:cNvGraphicFramePr>
            <a:graphicFrameLocks noGrp="1"/>
          </p:cNvGraphicFramePr>
          <p:nvPr>
            <p:ph sz="half" idx="1"/>
            <p:extLst>
              <p:ext uri="{D42A27DB-BD31-4B8C-83A1-F6EECF244321}">
                <p14:modId xmlns:p14="http://schemas.microsoft.com/office/powerpoint/2010/main" val="326989019"/>
              </p:ext>
            </p:extLst>
          </p:nvPr>
        </p:nvGraphicFramePr>
        <p:xfrm>
          <a:off x="838200" y="1825625"/>
          <a:ext cx="10515600" cy="3200400"/>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4104023371"/>
                    </a:ext>
                  </a:extLst>
                </a:gridCol>
                <a:gridCol w="3505200">
                  <a:extLst>
                    <a:ext uri="{9D8B030D-6E8A-4147-A177-3AD203B41FA5}">
                      <a16:colId xmlns:a16="http://schemas.microsoft.com/office/drawing/2014/main" val="2092312615"/>
                    </a:ext>
                  </a:extLst>
                </a:gridCol>
                <a:gridCol w="3505200">
                  <a:extLst>
                    <a:ext uri="{9D8B030D-6E8A-4147-A177-3AD203B41FA5}">
                      <a16:colId xmlns:a16="http://schemas.microsoft.com/office/drawing/2014/main" val="1086749463"/>
                    </a:ext>
                  </a:extLst>
                </a:gridCol>
              </a:tblGrid>
              <a:tr h="219736">
                <a:tc>
                  <a:txBody>
                    <a:bodyPr/>
                    <a:lstStyle/>
                    <a:p>
                      <a:r>
                        <a:rPr lang="en-US" sz="2400" dirty="0" err="1"/>
                        <a:t>Задача</a:t>
                      </a:r>
                      <a:endParaRPr lang="en-US" sz="2400" dirty="0"/>
                    </a:p>
                  </a:txBody>
                  <a:tcPr/>
                </a:tc>
                <a:tc>
                  <a:txBody>
                    <a:bodyPr/>
                    <a:lstStyle/>
                    <a:p>
                      <a:r>
                        <a:rPr lang="en-US" sz="2400" dirty="0"/>
                        <a:t>POSIX</a:t>
                      </a:r>
                    </a:p>
                  </a:txBody>
                  <a:tcPr/>
                </a:tc>
                <a:tc>
                  <a:txBody>
                    <a:bodyPr/>
                    <a:lstStyle/>
                    <a:p>
                      <a:r>
                        <a:rPr lang="en-US" sz="2400" dirty="0"/>
                        <a:t>Windows API</a:t>
                      </a:r>
                    </a:p>
                  </a:txBody>
                  <a:tcPr/>
                </a:tc>
                <a:extLst>
                  <a:ext uri="{0D108BD9-81ED-4DB2-BD59-A6C34878D82A}">
                    <a16:rowId xmlns:a16="http://schemas.microsoft.com/office/drawing/2014/main" val="3063369415"/>
                  </a:ext>
                </a:extLst>
              </a:tr>
              <a:tr h="379271">
                <a:tc>
                  <a:txBody>
                    <a:bodyPr/>
                    <a:lstStyle/>
                    <a:p>
                      <a:r>
                        <a:rPr lang="en-US" sz="2400" dirty="0" err="1"/>
                        <a:t>Запустить</a:t>
                      </a:r>
                      <a:r>
                        <a:rPr lang="en-US" sz="2400" dirty="0"/>
                        <a:t> </a:t>
                      </a:r>
                      <a:r>
                        <a:rPr lang="en-US" sz="2400" dirty="0" err="1"/>
                        <a:t>программу</a:t>
                      </a:r>
                      <a:endParaRPr lang="en-US" sz="2400" dirty="0"/>
                    </a:p>
                  </a:txBody>
                  <a:tcPr/>
                </a:tc>
                <a:tc>
                  <a:txBody>
                    <a:bodyPr/>
                    <a:lstStyle/>
                    <a:p>
                      <a:r>
                        <a:rPr lang="en-US" sz="2400" kern="1200" dirty="0">
                          <a:solidFill>
                            <a:schemeClr val="dk1"/>
                          </a:solidFill>
                          <a:latin typeface="+mn-lt"/>
                          <a:ea typeface="+mn-ea"/>
                          <a:cs typeface="+mn-cs"/>
                        </a:rPr>
                        <a:t>fork</a:t>
                      </a:r>
                      <a:r>
                        <a:rPr lang="en-US" sz="2400" dirty="0"/>
                        <a:t> + </a:t>
                      </a:r>
                      <a:r>
                        <a:rPr lang="en-US" sz="2400" kern="1200" dirty="0">
                          <a:solidFill>
                            <a:schemeClr val="dk1"/>
                          </a:solidFill>
                          <a:latin typeface="+mn-lt"/>
                          <a:ea typeface="+mn-ea"/>
                          <a:cs typeface="+mn-cs"/>
                        </a:rPr>
                        <a:t>exec</a:t>
                      </a:r>
                      <a:endParaRPr lang="en-US" sz="2400" dirty="0"/>
                    </a:p>
                  </a:txBody>
                  <a:tcPr/>
                </a:tc>
                <a:tc>
                  <a:txBody>
                    <a:bodyPr/>
                    <a:lstStyle/>
                    <a:p>
                      <a:r>
                        <a:rPr lang="en-US" sz="2400" dirty="0" err="1"/>
                        <a:t>CreateProcess</a:t>
                      </a:r>
                      <a:endParaRPr lang="en-US" sz="2400" dirty="0"/>
                    </a:p>
                  </a:txBody>
                  <a:tcPr/>
                </a:tc>
                <a:extLst>
                  <a:ext uri="{0D108BD9-81ED-4DB2-BD59-A6C34878D82A}">
                    <a16:rowId xmlns:a16="http://schemas.microsoft.com/office/drawing/2014/main" val="1873033471"/>
                  </a:ext>
                </a:extLst>
              </a:tr>
              <a:tr h="379271">
                <a:tc>
                  <a:txBody>
                    <a:bodyPr/>
                    <a:lstStyle/>
                    <a:p>
                      <a:r>
                        <a:rPr lang="en-US" sz="2400" dirty="0" err="1"/>
                        <a:t>Завершить</a:t>
                      </a:r>
                      <a:r>
                        <a:rPr lang="en-US" sz="2400" dirty="0"/>
                        <a:t> </a:t>
                      </a:r>
                      <a:r>
                        <a:rPr lang="en-US" sz="2400" dirty="0" err="1"/>
                        <a:t>процесс</a:t>
                      </a:r>
                      <a:endParaRPr lang="en-US" sz="2400" dirty="0"/>
                    </a:p>
                  </a:txBody>
                  <a:tcPr/>
                </a:tc>
                <a:tc>
                  <a:txBody>
                    <a:bodyPr/>
                    <a:lstStyle/>
                    <a:p>
                      <a:r>
                        <a:rPr lang="en-US" sz="2400" dirty="0"/>
                        <a:t>exit</a:t>
                      </a:r>
                    </a:p>
                  </a:txBody>
                  <a:tcPr/>
                </a:tc>
                <a:tc>
                  <a:txBody>
                    <a:bodyPr/>
                    <a:lstStyle/>
                    <a:p>
                      <a:r>
                        <a:rPr lang="en-US" sz="2400" dirty="0" err="1"/>
                        <a:t>ExitProcess</a:t>
                      </a:r>
                      <a:endParaRPr lang="en-US" sz="2400" dirty="0"/>
                    </a:p>
                  </a:txBody>
                  <a:tcPr/>
                </a:tc>
                <a:extLst>
                  <a:ext uri="{0D108BD9-81ED-4DB2-BD59-A6C34878D82A}">
                    <a16:rowId xmlns:a16="http://schemas.microsoft.com/office/drawing/2014/main" val="2548784591"/>
                  </a:ext>
                </a:extLst>
              </a:tr>
              <a:tr h="379271">
                <a:tc>
                  <a:txBody>
                    <a:bodyPr/>
                    <a:lstStyle/>
                    <a:p>
                      <a:r>
                        <a:rPr lang="en-US" sz="2400" dirty="0" err="1"/>
                        <a:t>Дождаться</a:t>
                      </a:r>
                      <a:r>
                        <a:rPr lang="en-US" sz="2400" dirty="0"/>
                        <a:t> </a:t>
                      </a:r>
                      <a:r>
                        <a:rPr lang="en-US" sz="2400" dirty="0" err="1"/>
                        <a:t>процесса</a:t>
                      </a:r>
                      <a:endParaRPr lang="en-US" sz="2400" dirty="0"/>
                    </a:p>
                  </a:txBody>
                  <a:tcPr/>
                </a:tc>
                <a:tc>
                  <a:txBody>
                    <a:bodyPr/>
                    <a:lstStyle/>
                    <a:p>
                      <a:r>
                        <a:rPr lang="en-US" sz="2400" dirty="0" err="1"/>
                        <a:t>waitpid</a:t>
                      </a:r>
                      <a:endParaRPr lang="en-US" sz="2400" dirty="0"/>
                    </a:p>
                  </a:txBody>
                  <a:tcPr/>
                </a:tc>
                <a:tc>
                  <a:txBody>
                    <a:bodyPr/>
                    <a:lstStyle/>
                    <a:p>
                      <a:r>
                        <a:rPr lang="en-US" sz="2400" dirty="0" err="1"/>
                        <a:t>WaitForSingleObject</a:t>
                      </a:r>
                      <a:endParaRPr lang="en-US" sz="2400" dirty="0"/>
                    </a:p>
                  </a:txBody>
                  <a:tcPr/>
                </a:tc>
                <a:extLst>
                  <a:ext uri="{0D108BD9-81ED-4DB2-BD59-A6C34878D82A}">
                    <a16:rowId xmlns:a16="http://schemas.microsoft.com/office/drawing/2014/main" val="4168067330"/>
                  </a:ext>
                </a:extLst>
              </a:tr>
              <a:tr h="219736">
                <a:tc>
                  <a:txBody>
                    <a:bodyPr/>
                    <a:lstStyle/>
                    <a:p>
                      <a:r>
                        <a:rPr lang="en-US" sz="2400" dirty="0" err="1"/>
                        <a:t>Открыть</a:t>
                      </a:r>
                      <a:r>
                        <a:rPr lang="en-US" sz="2400" dirty="0"/>
                        <a:t> </a:t>
                      </a:r>
                      <a:r>
                        <a:rPr lang="en-US" sz="2400" dirty="0" err="1"/>
                        <a:t>файл</a:t>
                      </a:r>
                      <a:endParaRPr lang="en-US" sz="2400" dirty="0"/>
                    </a:p>
                  </a:txBody>
                  <a:tcPr/>
                </a:tc>
                <a:tc>
                  <a:txBody>
                    <a:bodyPr/>
                    <a:lstStyle/>
                    <a:p>
                      <a:r>
                        <a:rPr lang="en-US" sz="2400" dirty="0"/>
                        <a:t>open</a:t>
                      </a:r>
                    </a:p>
                  </a:txBody>
                  <a:tcPr/>
                </a:tc>
                <a:tc>
                  <a:txBody>
                    <a:bodyPr/>
                    <a:lstStyle/>
                    <a:p>
                      <a:r>
                        <a:rPr lang="en-US" sz="2400" dirty="0" err="1"/>
                        <a:t>CreateFile</a:t>
                      </a:r>
                      <a:endParaRPr lang="en-US" sz="2400" dirty="0"/>
                    </a:p>
                  </a:txBody>
                  <a:tcPr/>
                </a:tc>
                <a:extLst>
                  <a:ext uri="{0D108BD9-81ED-4DB2-BD59-A6C34878D82A}">
                    <a16:rowId xmlns:a16="http://schemas.microsoft.com/office/drawing/2014/main" val="4150105969"/>
                  </a:ext>
                </a:extLst>
              </a:tr>
              <a:tr h="379271">
                <a:tc>
                  <a:txBody>
                    <a:bodyPr/>
                    <a:lstStyle/>
                    <a:p>
                      <a:r>
                        <a:rPr lang="en-US" sz="2400" dirty="0" err="1"/>
                        <a:t>Читать</a:t>
                      </a:r>
                      <a:r>
                        <a:rPr lang="en-US" sz="2400" dirty="0"/>
                        <a:t> / </a:t>
                      </a:r>
                      <a:r>
                        <a:rPr lang="en-US" sz="2400" dirty="0" err="1"/>
                        <a:t>писать</a:t>
                      </a:r>
                      <a:endParaRPr lang="en-US" sz="2400" dirty="0"/>
                    </a:p>
                  </a:txBody>
                  <a:tcPr/>
                </a:tc>
                <a:tc>
                  <a:txBody>
                    <a:bodyPr/>
                    <a:lstStyle/>
                    <a:p>
                      <a:r>
                        <a:rPr lang="en-US" sz="2400" dirty="0"/>
                        <a:t>read / write</a:t>
                      </a:r>
                    </a:p>
                  </a:txBody>
                  <a:tcPr/>
                </a:tc>
                <a:tc>
                  <a:txBody>
                    <a:bodyPr/>
                    <a:lstStyle/>
                    <a:p>
                      <a:r>
                        <a:rPr lang="en-US" sz="2400" kern="1200" dirty="0" err="1">
                          <a:solidFill>
                            <a:schemeClr val="dk1"/>
                          </a:solidFill>
                          <a:latin typeface="+mn-lt"/>
                          <a:ea typeface="+mn-ea"/>
                          <a:cs typeface="+mn-cs"/>
                        </a:rPr>
                        <a:t>ReadFile</a:t>
                      </a:r>
                      <a:r>
                        <a:rPr lang="en-US" sz="2400" dirty="0"/>
                        <a:t> / </a:t>
                      </a:r>
                      <a:r>
                        <a:rPr lang="en-US" sz="2400" kern="1200" dirty="0" err="1">
                          <a:solidFill>
                            <a:schemeClr val="dk1"/>
                          </a:solidFill>
                          <a:latin typeface="+mn-lt"/>
                          <a:ea typeface="+mn-ea"/>
                          <a:cs typeface="+mn-cs"/>
                        </a:rPr>
                        <a:t>WriteFile</a:t>
                      </a:r>
                      <a:endParaRPr lang="en-US" sz="2400" dirty="0"/>
                    </a:p>
                  </a:txBody>
                  <a:tcPr/>
                </a:tc>
                <a:extLst>
                  <a:ext uri="{0D108BD9-81ED-4DB2-BD59-A6C34878D82A}">
                    <a16:rowId xmlns:a16="http://schemas.microsoft.com/office/drawing/2014/main" val="3747085968"/>
                  </a:ext>
                </a:extLst>
              </a:tr>
              <a:tr h="379271">
                <a:tc>
                  <a:txBody>
                    <a:bodyPr/>
                    <a:lstStyle/>
                    <a:p>
                      <a:r>
                        <a:rPr lang="en-US" sz="2400" dirty="0" err="1"/>
                        <a:t>Закрыть</a:t>
                      </a:r>
                      <a:r>
                        <a:rPr lang="en-US" sz="2400" dirty="0"/>
                        <a:t> </a:t>
                      </a:r>
                      <a:r>
                        <a:rPr lang="en-US" sz="2400" dirty="0" err="1"/>
                        <a:t>ресурс</a:t>
                      </a:r>
                      <a:endParaRPr lang="en-US" sz="2400" dirty="0"/>
                    </a:p>
                  </a:txBody>
                  <a:tcPr/>
                </a:tc>
                <a:tc>
                  <a:txBody>
                    <a:bodyPr/>
                    <a:lstStyle/>
                    <a:p>
                      <a:r>
                        <a:rPr lang="en-US" sz="2400" dirty="0"/>
                        <a:t>close</a:t>
                      </a:r>
                    </a:p>
                  </a:txBody>
                  <a:tcPr/>
                </a:tc>
                <a:tc>
                  <a:txBody>
                    <a:bodyPr/>
                    <a:lstStyle/>
                    <a:p>
                      <a:r>
                        <a:rPr lang="en-US" sz="2400" dirty="0" err="1"/>
                        <a:t>CloseHandle</a:t>
                      </a:r>
                      <a:endParaRPr lang="en-US" sz="2400" dirty="0"/>
                    </a:p>
                  </a:txBody>
                  <a:tcPr/>
                </a:tc>
                <a:extLst>
                  <a:ext uri="{0D108BD9-81ED-4DB2-BD59-A6C34878D82A}">
                    <a16:rowId xmlns:a16="http://schemas.microsoft.com/office/drawing/2014/main" val="634133241"/>
                  </a:ext>
                </a:extLst>
              </a:tr>
            </a:tbl>
          </a:graphicData>
        </a:graphic>
      </p:graphicFrame>
      <p:sp>
        <p:nvSpPr>
          <p:cNvPr id="10" name="Content Placeholder 9">
            <a:extLst>
              <a:ext uri="{FF2B5EF4-FFF2-40B4-BE49-F238E27FC236}">
                <a16:creationId xmlns:a16="http://schemas.microsoft.com/office/drawing/2014/main" id="{76754FD1-EAAF-6802-492B-533444302CCF}"/>
              </a:ext>
            </a:extLst>
          </p:cNvPr>
          <p:cNvSpPr>
            <a:spLocks noGrp="1"/>
          </p:cNvSpPr>
          <p:nvPr>
            <p:ph sz="half" idx="2"/>
          </p:nvPr>
        </p:nvSpPr>
        <p:spPr>
          <a:xfrm>
            <a:off x="838200" y="5430416"/>
            <a:ext cx="10515600" cy="746546"/>
          </a:xfrm>
        </p:spPr>
        <p:txBody>
          <a:bodyPr/>
          <a:lstStyle/>
          <a:p>
            <a:pPr marL="0" indent="0">
              <a:buNone/>
            </a:pPr>
            <a:r>
              <a:rPr lang="en-US" dirty="0" err="1"/>
              <a:t>Функции</a:t>
            </a:r>
            <a:r>
              <a:rPr lang="en-US" dirty="0"/>
              <a:t> </a:t>
            </a:r>
            <a:r>
              <a:rPr lang="en-US" dirty="0" err="1"/>
              <a:t>похожи</a:t>
            </a:r>
            <a:r>
              <a:rPr lang="en-US" dirty="0"/>
              <a:t> </a:t>
            </a:r>
            <a:r>
              <a:rPr lang="en-US" dirty="0" err="1"/>
              <a:t>по</a:t>
            </a:r>
            <a:r>
              <a:rPr lang="en-US" dirty="0"/>
              <a:t> </a:t>
            </a:r>
            <a:r>
              <a:rPr lang="en-US" dirty="0" err="1"/>
              <a:t>назначению</a:t>
            </a:r>
            <a:r>
              <a:rPr lang="en-US" dirty="0"/>
              <a:t>, </a:t>
            </a:r>
            <a:r>
              <a:rPr lang="en-US" dirty="0" err="1"/>
              <a:t>но</a:t>
            </a:r>
            <a:r>
              <a:rPr lang="en-US" dirty="0"/>
              <a:t> </a:t>
            </a:r>
            <a:r>
              <a:rPr lang="en-US" dirty="0" err="1"/>
              <a:t>модели</a:t>
            </a:r>
            <a:r>
              <a:rPr lang="en-US" dirty="0"/>
              <a:t> ОС </a:t>
            </a:r>
            <a:r>
              <a:rPr lang="en-US" dirty="0" err="1"/>
              <a:t>различаютс</a:t>
            </a:r>
            <a:r>
              <a:rPr lang="ru-RU" dirty="0"/>
              <a:t>я</a:t>
            </a:r>
            <a:endParaRPr lang="en-US" dirty="0"/>
          </a:p>
        </p:txBody>
      </p:sp>
      <p:sp>
        <p:nvSpPr>
          <p:cNvPr id="7" name="Slide Number Placeholder 6">
            <a:extLst>
              <a:ext uri="{FF2B5EF4-FFF2-40B4-BE49-F238E27FC236}">
                <a16:creationId xmlns:a16="http://schemas.microsoft.com/office/drawing/2014/main" id="{CDD20553-758E-9600-2F9A-36110B839AF8}"/>
              </a:ext>
            </a:extLst>
          </p:cNvPr>
          <p:cNvSpPr>
            <a:spLocks noGrp="1"/>
          </p:cNvSpPr>
          <p:nvPr>
            <p:ph type="sldNum" sz="quarter" idx="12"/>
          </p:nvPr>
        </p:nvSpPr>
        <p:spPr/>
        <p:txBody>
          <a:bodyPr/>
          <a:lstStyle/>
          <a:p>
            <a:fld id="{EDCC16D8-4CDA-43DA-B801-57449FB8CE28}" type="slidenum">
              <a:rPr lang="en-US" smtClean="0"/>
              <a:t>37</a:t>
            </a:fld>
            <a:endParaRPr lang="en-US"/>
          </a:p>
        </p:txBody>
      </p:sp>
    </p:spTree>
    <p:extLst>
      <p:ext uri="{BB962C8B-B14F-4D97-AF65-F5344CB8AC3E}">
        <p14:creationId xmlns:p14="http://schemas.microsoft.com/office/powerpoint/2010/main" val="35690271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7A5E7-6C35-7F88-6B10-1503C9C49F77}"/>
              </a:ext>
            </a:extLst>
          </p:cNvPr>
          <p:cNvSpPr>
            <a:spLocks noGrp="1"/>
          </p:cNvSpPr>
          <p:nvPr>
            <p:ph type="title"/>
          </p:nvPr>
        </p:nvSpPr>
        <p:spPr/>
        <p:txBody>
          <a:bodyPr/>
          <a:lstStyle/>
          <a:p>
            <a:r>
              <a:rPr lang="en-US" dirty="0" err="1"/>
              <a:t>Главное</a:t>
            </a:r>
            <a:r>
              <a:rPr lang="en-US" dirty="0"/>
              <a:t> </a:t>
            </a:r>
            <a:r>
              <a:rPr lang="en-US" dirty="0" err="1"/>
              <a:t>отличие</a:t>
            </a:r>
            <a:r>
              <a:rPr lang="en-US" dirty="0"/>
              <a:t> Windows API</a:t>
            </a:r>
          </a:p>
        </p:txBody>
      </p:sp>
      <p:pic>
        <p:nvPicPr>
          <p:cNvPr id="8" name="Content Placeholder 7">
            <a:extLst>
              <a:ext uri="{FF2B5EF4-FFF2-40B4-BE49-F238E27FC236}">
                <a16:creationId xmlns:a16="http://schemas.microsoft.com/office/drawing/2014/main" id="{45CEA471-502E-B334-00FB-1AD9A2DE6EF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53241" y="1509713"/>
            <a:ext cx="7085518" cy="4983162"/>
          </a:xfrm>
          <a:prstGeom prst="rect">
            <a:avLst/>
          </a:prstGeom>
        </p:spPr>
      </p:pic>
      <p:sp>
        <p:nvSpPr>
          <p:cNvPr id="5" name="Slide Number Placeholder 4">
            <a:extLst>
              <a:ext uri="{FF2B5EF4-FFF2-40B4-BE49-F238E27FC236}">
                <a16:creationId xmlns:a16="http://schemas.microsoft.com/office/drawing/2014/main" id="{9C96FE64-CC3E-59D0-68AB-5A0E62E26AA5}"/>
              </a:ext>
            </a:extLst>
          </p:cNvPr>
          <p:cNvSpPr>
            <a:spLocks noGrp="1"/>
          </p:cNvSpPr>
          <p:nvPr>
            <p:ph type="sldNum" sz="quarter" idx="12"/>
          </p:nvPr>
        </p:nvSpPr>
        <p:spPr/>
        <p:txBody>
          <a:bodyPr/>
          <a:lstStyle/>
          <a:p>
            <a:fld id="{EDCC16D8-4CDA-43DA-B801-57449FB8CE28}" type="slidenum">
              <a:rPr lang="en-US" smtClean="0"/>
              <a:t>38</a:t>
            </a:fld>
            <a:endParaRPr lang="en-US"/>
          </a:p>
        </p:txBody>
      </p:sp>
    </p:spTree>
    <p:extLst>
      <p:ext uri="{BB962C8B-B14F-4D97-AF65-F5344CB8AC3E}">
        <p14:creationId xmlns:p14="http://schemas.microsoft.com/office/powerpoint/2010/main" val="28042656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0451E-CE98-C1C9-0563-5563B57EAF23}"/>
              </a:ext>
            </a:extLst>
          </p:cNvPr>
          <p:cNvSpPr>
            <a:spLocks noGrp="1"/>
          </p:cNvSpPr>
          <p:nvPr>
            <p:ph type="title"/>
          </p:nvPr>
        </p:nvSpPr>
        <p:spPr/>
        <p:txBody>
          <a:bodyPr/>
          <a:lstStyle/>
          <a:p>
            <a:r>
              <a:rPr lang="ru-RU" dirty="0"/>
              <a:t>Заключение</a:t>
            </a:r>
            <a:endParaRPr lang="en-US" dirty="0"/>
          </a:p>
        </p:txBody>
      </p:sp>
      <p:sp>
        <p:nvSpPr>
          <p:cNvPr id="3" name="Content Placeholder 2">
            <a:extLst>
              <a:ext uri="{FF2B5EF4-FFF2-40B4-BE49-F238E27FC236}">
                <a16:creationId xmlns:a16="http://schemas.microsoft.com/office/drawing/2014/main" id="{DDA50FB8-3EDB-BEE0-14FE-0661AFAC1560}"/>
              </a:ext>
            </a:extLst>
          </p:cNvPr>
          <p:cNvSpPr>
            <a:spLocks noGrp="1"/>
          </p:cNvSpPr>
          <p:nvPr>
            <p:ph idx="1"/>
          </p:nvPr>
        </p:nvSpPr>
        <p:spPr/>
        <p:txBody>
          <a:bodyPr>
            <a:normAutofit lnSpcReduction="10000"/>
          </a:bodyPr>
          <a:lstStyle/>
          <a:p>
            <a:r>
              <a:rPr lang="en-US" dirty="0" err="1"/>
              <a:t>Операционная</a:t>
            </a:r>
            <a:r>
              <a:rPr lang="en-US" dirty="0"/>
              <a:t> </a:t>
            </a:r>
            <a:r>
              <a:rPr lang="en-US" dirty="0" err="1"/>
              <a:t>система</a:t>
            </a:r>
            <a:r>
              <a:rPr lang="en-US" dirty="0"/>
              <a:t> </a:t>
            </a:r>
            <a:r>
              <a:rPr lang="en-US" dirty="0" err="1"/>
              <a:t>превращает</a:t>
            </a:r>
            <a:r>
              <a:rPr lang="en-US" dirty="0"/>
              <a:t> </a:t>
            </a:r>
            <a:r>
              <a:rPr lang="en-US" dirty="0" err="1"/>
              <a:t>возможности</a:t>
            </a:r>
            <a:r>
              <a:rPr lang="en-US" dirty="0"/>
              <a:t> </a:t>
            </a:r>
            <a:r>
              <a:rPr lang="en-US" dirty="0" err="1"/>
              <a:t>железа</a:t>
            </a:r>
            <a:br>
              <a:rPr lang="en-US" dirty="0"/>
            </a:br>
            <a:r>
              <a:rPr lang="en-US" dirty="0"/>
              <a:t>в </a:t>
            </a:r>
            <a:r>
              <a:rPr lang="en-US" dirty="0" err="1"/>
              <a:t>безопасные</a:t>
            </a:r>
            <a:r>
              <a:rPr lang="en-US" dirty="0"/>
              <a:t> и </a:t>
            </a:r>
            <a:r>
              <a:rPr lang="en-US" dirty="0" err="1"/>
              <a:t>удобные</a:t>
            </a:r>
            <a:r>
              <a:rPr lang="en-US" dirty="0"/>
              <a:t> </a:t>
            </a:r>
            <a:r>
              <a:rPr lang="en-US" dirty="0" err="1"/>
              <a:t>абстракции</a:t>
            </a:r>
            <a:r>
              <a:rPr lang="en-US" dirty="0"/>
              <a:t> </a:t>
            </a:r>
            <a:r>
              <a:rPr lang="en-US" dirty="0" err="1"/>
              <a:t>для</a:t>
            </a:r>
            <a:r>
              <a:rPr lang="en-US" dirty="0"/>
              <a:t> </a:t>
            </a:r>
            <a:r>
              <a:rPr lang="en-US" dirty="0" err="1"/>
              <a:t>программ</a:t>
            </a:r>
            <a:endParaRPr lang="ru-RU" dirty="0"/>
          </a:p>
          <a:p>
            <a:pPr lvl="1"/>
            <a:r>
              <a:rPr lang="en-US" dirty="0" err="1"/>
              <a:t>Приложения</a:t>
            </a:r>
            <a:r>
              <a:rPr lang="ru-RU" dirty="0"/>
              <a:t> </a:t>
            </a:r>
            <a:r>
              <a:rPr lang="en-US" dirty="0" err="1"/>
              <a:t>работают</a:t>
            </a:r>
            <a:r>
              <a:rPr lang="en-US" dirty="0"/>
              <a:t> с </a:t>
            </a:r>
            <a:r>
              <a:rPr lang="en-US" dirty="0" err="1"/>
              <a:t>процессами</a:t>
            </a:r>
            <a:r>
              <a:rPr lang="en-US" dirty="0"/>
              <a:t>, </a:t>
            </a:r>
            <a:r>
              <a:rPr lang="en-US" dirty="0" err="1"/>
              <a:t>памятью</a:t>
            </a:r>
            <a:r>
              <a:rPr lang="en-US" dirty="0"/>
              <a:t>, </a:t>
            </a:r>
            <a:r>
              <a:rPr lang="en-US" dirty="0" err="1"/>
              <a:t>файлами</a:t>
            </a:r>
            <a:r>
              <a:rPr lang="en-US" dirty="0"/>
              <a:t> и </a:t>
            </a:r>
            <a:r>
              <a:rPr lang="en-US" dirty="0" err="1"/>
              <a:t>другими</a:t>
            </a:r>
            <a:r>
              <a:rPr lang="en-US" dirty="0"/>
              <a:t> </a:t>
            </a:r>
            <a:r>
              <a:rPr lang="en-US" dirty="0" err="1"/>
              <a:t>абстракциями</a:t>
            </a:r>
            <a:endParaRPr lang="ru-RU" dirty="0"/>
          </a:p>
          <a:p>
            <a:pPr lvl="1"/>
            <a:r>
              <a:rPr lang="ru-RU" dirty="0"/>
              <a:t>И</a:t>
            </a:r>
            <a:r>
              <a:rPr lang="en-US" dirty="0" err="1"/>
              <a:t>нтерфейс</a:t>
            </a:r>
            <a:r>
              <a:rPr lang="en-US" dirty="0"/>
              <a:t> ОС</a:t>
            </a:r>
            <a:r>
              <a:rPr lang="ru-RU" dirty="0"/>
              <a:t> </a:t>
            </a:r>
            <a:r>
              <a:rPr lang="en-US" dirty="0" err="1"/>
              <a:t>контролируемый</a:t>
            </a:r>
            <a:r>
              <a:rPr lang="en-US" dirty="0"/>
              <a:t> </a:t>
            </a:r>
            <a:r>
              <a:rPr lang="en-US" dirty="0" err="1"/>
              <a:t>переход</a:t>
            </a:r>
            <a:r>
              <a:rPr lang="en-US" dirty="0"/>
              <a:t> к </a:t>
            </a:r>
            <a:r>
              <a:rPr lang="en-US" dirty="0" err="1"/>
              <a:t>привилегированным</a:t>
            </a:r>
            <a:r>
              <a:rPr lang="en-US" dirty="0"/>
              <a:t> </a:t>
            </a:r>
            <a:r>
              <a:rPr lang="en-US" dirty="0" err="1"/>
              <a:t>операциям</a:t>
            </a:r>
            <a:endParaRPr lang="ru-RU" dirty="0"/>
          </a:p>
          <a:p>
            <a:pPr lvl="1"/>
            <a:r>
              <a:rPr lang="ru-RU" dirty="0"/>
              <a:t>Я</a:t>
            </a:r>
            <a:r>
              <a:rPr lang="en-US" dirty="0" err="1"/>
              <a:t>дро</a:t>
            </a:r>
            <a:r>
              <a:rPr lang="ru-RU" dirty="0"/>
              <a:t> </a:t>
            </a:r>
            <a:r>
              <a:rPr lang="en-US" dirty="0" err="1"/>
              <a:t>управляет</a:t>
            </a:r>
            <a:r>
              <a:rPr lang="en-US" dirty="0"/>
              <a:t> </a:t>
            </a:r>
            <a:r>
              <a:rPr lang="en-US" dirty="0" err="1"/>
              <a:t>процессором</a:t>
            </a:r>
            <a:r>
              <a:rPr lang="en-US" dirty="0"/>
              <a:t>, </a:t>
            </a:r>
            <a:r>
              <a:rPr lang="en-US" dirty="0" err="1"/>
              <a:t>памятью</a:t>
            </a:r>
            <a:r>
              <a:rPr lang="en-US" dirty="0"/>
              <a:t> и </a:t>
            </a:r>
            <a:r>
              <a:rPr lang="en-US" dirty="0" err="1"/>
              <a:t>устройствами</a:t>
            </a:r>
            <a:endParaRPr lang="en-US" dirty="0"/>
          </a:p>
          <a:p>
            <a:r>
              <a:rPr lang="en-US" dirty="0" err="1"/>
              <a:t>Программы</a:t>
            </a:r>
            <a:r>
              <a:rPr lang="en-US" dirty="0"/>
              <a:t> </a:t>
            </a:r>
            <a:r>
              <a:rPr lang="en-US" dirty="0" err="1"/>
              <a:t>не</a:t>
            </a:r>
            <a:r>
              <a:rPr lang="en-US" dirty="0"/>
              <a:t> </a:t>
            </a:r>
            <a:r>
              <a:rPr lang="en-US" dirty="0" err="1"/>
              <a:t>управляют</a:t>
            </a:r>
            <a:r>
              <a:rPr lang="en-US" dirty="0"/>
              <a:t> </a:t>
            </a:r>
            <a:r>
              <a:rPr lang="en-US" dirty="0" err="1"/>
              <a:t>железом</a:t>
            </a:r>
            <a:r>
              <a:rPr lang="en-US" dirty="0"/>
              <a:t> </a:t>
            </a:r>
            <a:r>
              <a:rPr lang="en-US" dirty="0" err="1"/>
              <a:t>напрямую</a:t>
            </a:r>
            <a:r>
              <a:rPr lang="en-US" dirty="0"/>
              <a:t> — </a:t>
            </a:r>
            <a:r>
              <a:rPr lang="en-US" dirty="0" err="1"/>
              <a:t>они</a:t>
            </a:r>
            <a:r>
              <a:rPr lang="en-US" dirty="0"/>
              <a:t> </a:t>
            </a:r>
            <a:r>
              <a:rPr lang="en-US" dirty="0" err="1"/>
              <a:t>просят</a:t>
            </a:r>
            <a:r>
              <a:rPr lang="en-US" dirty="0"/>
              <a:t> ОС </a:t>
            </a:r>
            <a:r>
              <a:rPr lang="en-US" dirty="0" err="1"/>
              <a:t>сделать</a:t>
            </a:r>
            <a:r>
              <a:rPr lang="en-US" dirty="0"/>
              <a:t> </a:t>
            </a:r>
            <a:r>
              <a:rPr lang="en-US" dirty="0" err="1"/>
              <a:t>это</a:t>
            </a:r>
            <a:r>
              <a:rPr lang="en-US" dirty="0"/>
              <a:t> </a:t>
            </a:r>
            <a:r>
              <a:rPr lang="en-US" dirty="0" err="1"/>
              <a:t>от</a:t>
            </a:r>
            <a:r>
              <a:rPr lang="en-US" dirty="0"/>
              <a:t> </a:t>
            </a:r>
            <a:r>
              <a:rPr lang="en-US" dirty="0" err="1"/>
              <a:t>их</a:t>
            </a:r>
            <a:r>
              <a:rPr lang="en-US" dirty="0"/>
              <a:t> </a:t>
            </a:r>
            <a:r>
              <a:rPr lang="en-US" dirty="0" err="1"/>
              <a:t>имени</a:t>
            </a:r>
            <a:r>
              <a:rPr lang="en-US" dirty="0"/>
              <a:t>.</a:t>
            </a:r>
          </a:p>
          <a:p>
            <a:r>
              <a:rPr lang="en-US" dirty="0" err="1"/>
              <a:t>Конкретные</a:t>
            </a:r>
            <a:r>
              <a:rPr lang="en-US" dirty="0"/>
              <a:t> API </a:t>
            </a:r>
            <a:r>
              <a:rPr lang="en-US" dirty="0" err="1"/>
              <a:t>различаются</a:t>
            </a:r>
            <a:r>
              <a:rPr lang="en-US" dirty="0"/>
              <a:t>, </a:t>
            </a:r>
            <a:r>
              <a:rPr lang="en-US" dirty="0" err="1"/>
              <a:t>но</a:t>
            </a:r>
            <a:r>
              <a:rPr lang="en-US" dirty="0"/>
              <a:t> </a:t>
            </a:r>
            <a:r>
              <a:rPr lang="en-US" dirty="0" err="1"/>
              <a:t>этот</a:t>
            </a:r>
            <a:r>
              <a:rPr lang="en-US" dirty="0"/>
              <a:t> </a:t>
            </a:r>
            <a:r>
              <a:rPr lang="en-US" dirty="0" err="1"/>
              <a:t>принцип</a:t>
            </a:r>
            <a:r>
              <a:rPr lang="en-US" dirty="0"/>
              <a:t> </a:t>
            </a:r>
            <a:r>
              <a:rPr lang="en-US" dirty="0" err="1"/>
              <a:t>сохраняется</a:t>
            </a:r>
            <a:r>
              <a:rPr lang="en-US" dirty="0"/>
              <a:t> в </a:t>
            </a:r>
            <a:r>
              <a:rPr lang="en-US" dirty="0" err="1"/>
              <a:t>разных</a:t>
            </a:r>
            <a:r>
              <a:rPr lang="en-US" dirty="0"/>
              <a:t> </a:t>
            </a:r>
            <a:r>
              <a:rPr lang="en-US" dirty="0" err="1"/>
              <a:t>операционных</a:t>
            </a:r>
            <a:r>
              <a:rPr lang="en-US" dirty="0"/>
              <a:t> </a:t>
            </a:r>
            <a:r>
              <a:rPr lang="en-US" dirty="0" err="1"/>
              <a:t>система</a:t>
            </a:r>
            <a:endParaRPr lang="en-US" dirty="0"/>
          </a:p>
        </p:txBody>
      </p:sp>
      <p:sp>
        <p:nvSpPr>
          <p:cNvPr id="4" name="Slide Number Placeholder 3">
            <a:extLst>
              <a:ext uri="{FF2B5EF4-FFF2-40B4-BE49-F238E27FC236}">
                <a16:creationId xmlns:a16="http://schemas.microsoft.com/office/drawing/2014/main" id="{42DA7D7B-5B88-BF09-5D52-6E4111892A44}"/>
              </a:ext>
            </a:extLst>
          </p:cNvPr>
          <p:cNvSpPr>
            <a:spLocks noGrp="1"/>
          </p:cNvSpPr>
          <p:nvPr>
            <p:ph type="sldNum" sz="quarter" idx="12"/>
          </p:nvPr>
        </p:nvSpPr>
        <p:spPr/>
        <p:txBody>
          <a:bodyPr/>
          <a:lstStyle/>
          <a:p>
            <a:fld id="{EDCC16D8-4CDA-43DA-B801-57449FB8CE28}" type="slidenum">
              <a:rPr lang="en-US" smtClean="0"/>
              <a:t>39</a:t>
            </a:fld>
            <a:endParaRPr lang="en-US"/>
          </a:p>
        </p:txBody>
      </p:sp>
    </p:spTree>
    <p:extLst>
      <p:ext uri="{BB962C8B-B14F-4D97-AF65-F5344CB8AC3E}">
        <p14:creationId xmlns:p14="http://schemas.microsoft.com/office/powerpoint/2010/main" val="21420612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13AD0-20B3-9CCD-EFC2-CCAD8EA58569}"/>
              </a:ext>
            </a:extLst>
          </p:cNvPr>
          <p:cNvSpPr>
            <a:spLocks noGrp="1"/>
          </p:cNvSpPr>
          <p:nvPr>
            <p:ph type="title"/>
          </p:nvPr>
        </p:nvSpPr>
        <p:spPr/>
        <p:txBody>
          <a:bodyPr/>
          <a:lstStyle/>
          <a:p>
            <a:r>
              <a:rPr lang="ru-RU" dirty="0"/>
              <a:t>Спасибо за внимание</a:t>
            </a:r>
            <a:endParaRPr lang="en-US" dirty="0"/>
          </a:p>
        </p:txBody>
      </p:sp>
      <p:sp>
        <p:nvSpPr>
          <p:cNvPr id="4" name="Text Placeholder 3">
            <a:extLst>
              <a:ext uri="{FF2B5EF4-FFF2-40B4-BE49-F238E27FC236}">
                <a16:creationId xmlns:a16="http://schemas.microsoft.com/office/drawing/2014/main" id="{66375F66-933C-E76C-D6DE-FA56636997A6}"/>
              </a:ext>
            </a:extLst>
          </p:cNvPr>
          <p:cNvSpPr>
            <a:spLocks noGrp="1"/>
          </p:cNvSpPr>
          <p:nvPr>
            <p:ph type="body" idx="1"/>
          </p:nvPr>
        </p:nvSpPr>
        <p:spPr/>
        <p:txBody>
          <a:bodyPr/>
          <a:lstStyle/>
          <a:p>
            <a:endParaRPr lang="en-US"/>
          </a:p>
        </p:txBody>
      </p:sp>
      <p:sp>
        <p:nvSpPr>
          <p:cNvPr id="3" name="Slide Number Placeholder 2">
            <a:extLst>
              <a:ext uri="{FF2B5EF4-FFF2-40B4-BE49-F238E27FC236}">
                <a16:creationId xmlns:a16="http://schemas.microsoft.com/office/drawing/2014/main" id="{2B3D617F-5FEA-7BA7-982E-A3718B19736F}"/>
              </a:ext>
            </a:extLst>
          </p:cNvPr>
          <p:cNvSpPr>
            <a:spLocks noGrp="1"/>
          </p:cNvSpPr>
          <p:nvPr>
            <p:ph type="sldNum" sz="quarter" idx="12"/>
          </p:nvPr>
        </p:nvSpPr>
        <p:spPr/>
        <p:txBody>
          <a:bodyPr/>
          <a:lstStyle/>
          <a:p>
            <a:fld id="{EDCC16D8-4CDA-43DA-B801-57449FB8CE28}" type="slidenum">
              <a:rPr lang="en-US" smtClean="0"/>
              <a:t>40</a:t>
            </a:fld>
            <a:endParaRPr lang="en-US"/>
          </a:p>
        </p:txBody>
      </p:sp>
    </p:spTree>
    <p:extLst>
      <p:ext uri="{BB962C8B-B14F-4D97-AF65-F5344CB8AC3E}">
        <p14:creationId xmlns:p14="http://schemas.microsoft.com/office/powerpoint/2010/main" val="30626568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1159</TotalTime>
  <Words>11322</Words>
  <Application>Microsoft Office PowerPoint</Application>
  <PresentationFormat>Widescreen</PresentationFormat>
  <Paragraphs>990</Paragraphs>
  <Slides>40</Slides>
  <Notes>40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Aptos</vt:lpstr>
      <vt:lpstr>Aptos Display</vt:lpstr>
      <vt:lpstr>Arial</vt:lpstr>
      <vt:lpstr>Consolas</vt:lpstr>
      <vt:lpstr>Office Theme</vt:lpstr>
      <vt:lpstr>Основные концепции операционных систем</vt:lpstr>
      <vt:lpstr>Основные концепции ОС</vt:lpstr>
      <vt:lpstr>Процессы</vt:lpstr>
      <vt:lpstr>Просмотр списка процессов в Linux</vt:lpstr>
      <vt:lpstr>Межпроцессное взаимодействие</vt:lpstr>
      <vt:lpstr>Просмотр дерева процессов в Linux</vt:lpstr>
      <vt:lpstr>Пользователи и права</vt:lpstr>
      <vt:lpstr>Команды su и sudo</vt:lpstr>
      <vt:lpstr>Узнаём кто мы</vt:lpstr>
      <vt:lpstr>sudo + ps</vt:lpstr>
      <vt:lpstr>Вывести список всех пользователей системы</vt:lpstr>
      <vt:lpstr>Адресное пространство процесса</vt:lpstr>
      <vt:lpstr>Виртуальная память</vt:lpstr>
      <vt:lpstr>Просмотр памяти в Linux</vt:lpstr>
      <vt:lpstr>Вывод команды top</vt:lpstr>
      <vt:lpstr>Вывод команды htop</vt:lpstr>
      <vt:lpstr>Файловая система</vt:lpstr>
      <vt:lpstr>Навигация по файловой системе</vt:lpstr>
      <vt:lpstr>Команды pwd, ls, cd</vt:lpstr>
      <vt:lpstr>Работа с файлами и директориями</vt:lpstr>
      <vt:lpstr>Работа с файлами</vt:lpstr>
      <vt:lpstr>Расширенные возможности файловых систем</vt:lpstr>
      <vt:lpstr>Монтирование, специальные файлы и каналы</vt:lpstr>
      <vt:lpstr>Shell – командный интерпретатор</vt:lpstr>
      <vt:lpstr>Возможности shell и его место среди интерфейсов ОС</vt:lpstr>
      <vt:lpstr>Развитие железа и ОС</vt:lpstr>
      <vt:lpstr>Почему старые идеи возвращаются</vt:lpstr>
      <vt:lpstr>Как аппаратные ограничения меняют ОС</vt:lpstr>
      <vt:lpstr>От мэйнфреймов до встраиваемых систем</vt:lpstr>
      <vt:lpstr>Системные вызовы</vt:lpstr>
      <vt:lpstr>Системные вызовы — интерфейс к ядру</vt:lpstr>
      <vt:lpstr>Как выполняется системный вызов</vt:lpstr>
      <vt:lpstr>POSIX API: разные задачи — один принцип</vt:lpstr>
      <vt:lpstr>Как создать RAII обертку над файловым дескриптором</vt:lpstr>
      <vt:lpstr>API Windows</vt:lpstr>
      <vt:lpstr>POSIX и Windows AP</vt:lpstr>
      <vt:lpstr>Одни задачи — разные интерфейсы</vt:lpstr>
      <vt:lpstr>Главное отличие Windows API</vt:lpstr>
      <vt:lpstr>Заключение</vt:lpstr>
      <vt:lpstr>Спасибо за внимание</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Алексей Малов</dc:creator>
  <cp:lastModifiedBy>Алексей Малов</cp:lastModifiedBy>
  <cp:revision>86</cp:revision>
  <dcterms:created xsi:type="dcterms:W3CDTF">2025-09-09T19:39:59Z</dcterms:created>
  <dcterms:modified xsi:type="dcterms:W3CDTF">2026-09-11T17:56:07Z</dcterms:modified>
</cp:coreProperties>
</file>