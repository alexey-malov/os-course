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89" r:id="rId3"/>
    <p:sldId id="288" r:id="rId4"/>
    <p:sldId id="257" r:id="rId5"/>
    <p:sldId id="326" r:id="rId6"/>
    <p:sldId id="261" r:id="rId7"/>
    <p:sldId id="327" r:id="rId8"/>
    <p:sldId id="328" r:id="rId9"/>
    <p:sldId id="267" r:id="rId10"/>
    <p:sldId id="268" r:id="rId11"/>
    <p:sldId id="269" r:id="rId12"/>
    <p:sldId id="270" r:id="rId13"/>
    <p:sldId id="271" r:id="rId14"/>
    <p:sldId id="329" r:id="rId15"/>
    <p:sldId id="330" r:id="rId16"/>
    <p:sldId id="331" r:id="rId17"/>
    <p:sldId id="276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16" r:id="rId39"/>
    <p:sldId id="344" r:id="rId40"/>
    <p:sldId id="345" r:id="rId41"/>
    <p:sldId id="346" r:id="rId42"/>
    <p:sldId id="322" r:id="rId43"/>
    <p:sldId id="325" r:id="rId44"/>
    <p:sldId id="32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2D086C-95E1-41FB-9C20-4F6008A0E895}">
          <p14:sldIdLst>
            <p14:sldId id="256"/>
            <p14:sldId id="289"/>
            <p14:sldId id="288"/>
            <p14:sldId id="257"/>
            <p14:sldId id="326"/>
            <p14:sldId id="261"/>
            <p14:sldId id="327"/>
            <p14:sldId id="328"/>
          </p14:sldIdLst>
        </p14:section>
        <p14:section name="История операционных систем" id="{ED308550-7CFC-4781-A923-A947B5E70D2D}">
          <p14:sldIdLst>
            <p14:sldId id="267"/>
            <p14:sldId id="268"/>
            <p14:sldId id="269"/>
            <p14:sldId id="270"/>
            <p14:sldId id="271"/>
            <p14:sldId id="329"/>
            <p14:sldId id="330"/>
            <p14:sldId id="331"/>
            <p14:sldId id="276"/>
            <p14:sldId id="278"/>
            <p14:sldId id="279"/>
            <p14:sldId id="280"/>
            <p14:sldId id="281"/>
            <p14:sldId id="283"/>
            <p14:sldId id="284"/>
            <p14:sldId id="285"/>
          </p14:sldIdLst>
        </p14:section>
        <p14:section name="Обзор аппаратуры компьютера" id="{FFE767BE-5CAD-4C06-9E2D-FFDCE851D080}">
          <p14:sldIdLst>
            <p14:sldId id="286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Процесс загрузки компьютера" id="{3AD4FED8-D535-42DC-8D71-9699DFE0534B}">
          <p14:sldIdLst>
            <p14:sldId id="316"/>
            <p14:sldId id="344"/>
            <p14:sldId id="345"/>
            <p14:sldId id="346"/>
            <p14:sldId id="322"/>
            <p14:sldId id="325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1" autoAdjust="0"/>
    <p:restoredTop sz="62954" autoAdjust="0"/>
  </p:normalViewPr>
  <p:slideViewPr>
    <p:cSldViewPr snapToGrid="0" showGuides="1">
      <p:cViewPr varScale="1">
        <p:scale>
          <a:sx n="66" d="100"/>
          <a:sy n="66" d="100"/>
        </p:scale>
        <p:origin x="221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405FD-1719-4A7C-8220-910DC615F49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E116-ED10-4BC0-824A-03E33701B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6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вводная лекция по предмету «Операционные системы и сети». </a:t>
            </a:r>
          </a:p>
          <a:p>
            <a:endParaRPr lang="ru-RU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программный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приложениями</a:t>
            </a:r>
            <a:r>
              <a:rPr lang="en-US" dirty="0"/>
              <a:t> и </a:t>
            </a:r>
            <a:r>
              <a:rPr lang="en-US" dirty="0" err="1"/>
              <a:t>аппаратным</a:t>
            </a:r>
            <a:r>
              <a:rPr lang="en-US" dirty="0"/>
              <a:t> </a:t>
            </a:r>
            <a:r>
              <a:rPr lang="en-US" dirty="0" err="1"/>
              <a:t>обеспечением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,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файлами</a:t>
            </a:r>
            <a:r>
              <a:rPr lang="en-US" dirty="0"/>
              <a:t> и </a:t>
            </a:r>
            <a:r>
              <a:rPr lang="en-US" dirty="0" err="1"/>
              <a:t>устройствами</a:t>
            </a:r>
            <a:r>
              <a:rPr lang="en-US" dirty="0"/>
              <a:t> и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в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глазами</a:t>
            </a:r>
            <a:r>
              <a:rPr lang="en-US" dirty="0"/>
              <a:t> </a:t>
            </a:r>
            <a:r>
              <a:rPr lang="en-US" dirty="0" err="1"/>
              <a:t>разработчика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базовые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ОС: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, </a:t>
            </a:r>
            <a:r>
              <a:rPr lang="en-US" dirty="0" err="1"/>
              <a:t>синхронизацию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ввод-вывод</a:t>
            </a:r>
            <a:r>
              <a:rPr lang="en-US" dirty="0"/>
              <a:t> и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попробуете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в </a:t>
            </a:r>
            <a:r>
              <a:rPr lang="en-US" dirty="0" err="1"/>
              <a:t>лабораторных</a:t>
            </a:r>
            <a:r>
              <a:rPr lang="en-US" dirty="0"/>
              <a:t> </a:t>
            </a:r>
            <a:r>
              <a:rPr lang="en-US" dirty="0" err="1"/>
              <a:t>работах</a:t>
            </a:r>
            <a:r>
              <a:rPr lang="en-US" dirty="0"/>
              <a:t>. </a:t>
            </a:r>
            <a:r>
              <a:rPr lang="en-US" dirty="0" err="1"/>
              <a:t>Будете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API Linux и Windows,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, </a:t>
            </a:r>
            <a:r>
              <a:rPr lang="en-US" dirty="0" err="1"/>
              <a:t>экспериментировать</a:t>
            </a:r>
            <a:r>
              <a:rPr lang="en-US" dirty="0"/>
              <a:t> с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отображением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образами</a:t>
            </a:r>
            <a:r>
              <a:rPr lang="en-US" dirty="0"/>
              <a:t> </a:t>
            </a:r>
            <a:r>
              <a:rPr lang="en-US" dirty="0" err="1"/>
              <a:t>дисков</a:t>
            </a:r>
            <a:r>
              <a:rPr lang="en-US" dirty="0"/>
              <a:t> и </a:t>
            </a:r>
            <a:r>
              <a:rPr lang="en-US" dirty="0" err="1"/>
              <a:t>устройством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ОС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, а </a:t>
            </a:r>
            <a:r>
              <a:rPr lang="en-US" dirty="0" err="1"/>
              <a:t>научиться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 и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посвящена</a:t>
            </a:r>
            <a:r>
              <a:rPr lang="en-US" dirty="0"/>
              <a:t> </a:t>
            </a:r>
            <a:r>
              <a:rPr lang="en-US" dirty="0" err="1"/>
              <a:t>компьютерным</a:t>
            </a:r>
            <a:r>
              <a:rPr lang="en-US" dirty="0"/>
              <a:t> </a:t>
            </a:r>
            <a:r>
              <a:rPr lang="en-US" dirty="0" err="1"/>
              <a:t>сетям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обмениваются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уровнях</a:t>
            </a:r>
            <a:r>
              <a:rPr lang="en-US" dirty="0"/>
              <a:t> </a:t>
            </a:r>
            <a:r>
              <a:rPr lang="en-US" dirty="0" err="1"/>
              <a:t>сетевого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устроены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протоколы</a:t>
            </a:r>
            <a:r>
              <a:rPr lang="en-US" dirty="0"/>
              <a:t>.</a:t>
            </a:r>
          </a:p>
          <a:p>
            <a:r>
              <a:rPr lang="ru-RU" dirty="0"/>
              <a:t>Вы </a:t>
            </a:r>
            <a:r>
              <a:rPr lang="en-US" dirty="0" err="1"/>
              <a:t>будете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клиент-серверные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работать</a:t>
            </a:r>
            <a:r>
              <a:rPr lang="en-US" dirty="0"/>
              <a:t> с TCP-</a:t>
            </a:r>
            <a:r>
              <a:rPr lang="en-US" dirty="0" err="1"/>
              <a:t>соединениями</a:t>
            </a:r>
            <a:r>
              <a:rPr lang="en-US" dirty="0"/>
              <a:t> и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обслуживающие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 пройдете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взаимодействующих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работающих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и </a:t>
            </a:r>
            <a:r>
              <a:rPr lang="en-US" dirty="0" err="1"/>
              <a:t>обменивающихся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захочется</a:t>
            </a:r>
            <a:r>
              <a:rPr lang="en-US" dirty="0"/>
              <a:t> </a:t>
            </a:r>
            <a:r>
              <a:rPr lang="en-US" dirty="0" err="1"/>
              <a:t>спуститься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силы</a:t>
            </a:r>
            <a:r>
              <a:rPr lang="en-US" dirty="0"/>
              <a:t> в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собственной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70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любого</a:t>
            </a:r>
            <a:r>
              <a:rPr lang="en-US" dirty="0"/>
              <a:t> </a:t>
            </a:r>
            <a:r>
              <a:rPr lang="en-US" dirty="0" err="1"/>
              <a:t>вычислительного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стиральной</a:t>
            </a:r>
            <a:r>
              <a:rPr lang="en-US" dirty="0"/>
              <a:t> </a:t>
            </a:r>
            <a:r>
              <a:rPr lang="en-US" dirty="0" err="1"/>
              <a:t>машины</a:t>
            </a:r>
            <a:r>
              <a:rPr lang="en-US" dirty="0"/>
              <a:t>, </a:t>
            </a:r>
            <a:r>
              <a:rPr lang="en-US" dirty="0" err="1"/>
              <a:t>датчика</a:t>
            </a:r>
            <a:r>
              <a:rPr lang="en-US" dirty="0"/>
              <a:t> </a:t>
            </a:r>
            <a:r>
              <a:rPr lang="en-US" dirty="0" err="1"/>
              <a:t>температуры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промышленного</a:t>
            </a:r>
            <a:r>
              <a:rPr lang="en-US" dirty="0"/>
              <a:t> </a:t>
            </a:r>
            <a:r>
              <a:rPr lang="en-US" dirty="0" err="1"/>
              <a:t>контроллера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специализированная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ru-RU" dirty="0"/>
              <a:t>напрямую</a:t>
            </a:r>
            <a:r>
              <a:rPr lang="en-US" dirty="0"/>
              <a:t> </a:t>
            </a:r>
            <a:r>
              <a:rPr lang="ru-RU" dirty="0"/>
              <a:t>внешними </a:t>
            </a:r>
            <a:r>
              <a:rPr lang="en-US" dirty="0" err="1"/>
              <a:t>устройств</a:t>
            </a:r>
            <a:r>
              <a:rPr lang="ru-RU" dirty="0" err="1"/>
              <a:t>ами</a:t>
            </a:r>
            <a:r>
              <a:rPr lang="en-US" dirty="0"/>
              <a:t> — </a:t>
            </a:r>
            <a:r>
              <a:rPr lang="en-US" dirty="0" err="1"/>
              <a:t>таймерами</a:t>
            </a:r>
            <a:r>
              <a:rPr lang="en-US" dirty="0"/>
              <a:t>, </a:t>
            </a:r>
            <a:r>
              <a:rPr lang="en-US" dirty="0" err="1"/>
              <a:t>портами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контроллерами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.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bare metal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«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голом</a:t>
            </a:r>
            <a:r>
              <a:rPr lang="en-US" dirty="0"/>
              <a:t> </a:t>
            </a:r>
            <a:r>
              <a:rPr lang="en-US" dirty="0" err="1"/>
              <a:t>железе</a:t>
            </a:r>
            <a:r>
              <a:rPr lang="en-US" dirty="0"/>
              <a:t>».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полноценной</a:t>
            </a:r>
            <a:r>
              <a:rPr lang="en-US" dirty="0"/>
              <a:t> ОС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bare-metal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организует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— RTOS, Real-Time Operating System,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маленькая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быстрая</a:t>
            </a:r>
            <a:r>
              <a:rPr lang="en-US" dirty="0"/>
              <a:t>, а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предсказуемо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dirty="0" err="1"/>
              <a:t>заданные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 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в </a:t>
            </a:r>
            <a:r>
              <a:rPr lang="en-US" dirty="0" err="1"/>
              <a:t>робототехнике</a:t>
            </a:r>
            <a:r>
              <a:rPr lang="en-US" dirty="0"/>
              <a:t>, </a:t>
            </a:r>
            <a:r>
              <a:rPr lang="en-US" dirty="0" err="1"/>
              <a:t>промышленной</a:t>
            </a:r>
            <a:r>
              <a:rPr lang="en-US" dirty="0"/>
              <a:t> </a:t>
            </a:r>
            <a:r>
              <a:rPr lang="en-US" dirty="0" err="1"/>
              <a:t>автоматике</a:t>
            </a:r>
            <a:r>
              <a:rPr lang="en-US" dirty="0"/>
              <a:t>, </a:t>
            </a:r>
            <a:r>
              <a:rPr lang="en-US" dirty="0" err="1"/>
              <a:t>автомобильных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, </a:t>
            </a:r>
            <a:r>
              <a:rPr lang="en-US" dirty="0" err="1"/>
              <a:t>авиации</a:t>
            </a:r>
            <a:r>
              <a:rPr lang="en-US" dirty="0"/>
              <a:t> и </a:t>
            </a:r>
            <a:r>
              <a:rPr lang="en-US" dirty="0" err="1"/>
              <a:t>медицинской</a:t>
            </a:r>
            <a:r>
              <a:rPr lang="en-US" dirty="0"/>
              <a:t> </a:t>
            </a:r>
            <a:r>
              <a:rPr lang="en-US" dirty="0" err="1"/>
              <a:t>технике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усложнения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самостоятельное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труднее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тысячи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и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позволять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повреждать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, </a:t>
            </a:r>
            <a:r>
              <a:rPr lang="en-US" dirty="0" err="1"/>
              <a:t>файлами</a:t>
            </a:r>
            <a:r>
              <a:rPr lang="en-US" dirty="0"/>
              <a:t>, </a:t>
            </a:r>
            <a:r>
              <a:rPr lang="en-US" dirty="0" err="1"/>
              <a:t>пользователями</a:t>
            </a:r>
            <a:r>
              <a:rPr lang="en-US" dirty="0"/>
              <a:t> и </a:t>
            </a:r>
            <a:r>
              <a:rPr lang="en-US" dirty="0" err="1"/>
              <a:t>сетевыми</a:t>
            </a:r>
            <a:r>
              <a:rPr lang="en-US" dirty="0"/>
              <a:t> </a:t>
            </a:r>
            <a:r>
              <a:rPr lang="en-US" dirty="0" err="1"/>
              <a:t>соединениями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полезной</a:t>
            </a:r>
            <a:r>
              <a:rPr lang="en-US" dirty="0"/>
              <a:t>: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сложностью</a:t>
            </a:r>
            <a:r>
              <a:rPr lang="en-US" dirty="0"/>
              <a:t> и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единые</a:t>
            </a:r>
            <a:r>
              <a:rPr lang="en-US" dirty="0"/>
              <a:t> и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компьютером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заметной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08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Внутри современного компьютера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накопители</a:t>
            </a:r>
            <a:r>
              <a:rPr lang="en-US" dirty="0"/>
              <a:t>,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и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устроено</a:t>
            </a:r>
            <a:r>
              <a:rPr lang="en-US" dirty="0"/>
              <a:t> </a:t>
            </a:r>
            <a:r>
              <a:rPr lang="en-US" dirty="0" err="1"/>
              <a:t>по-своему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. SSD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клавиатура</a:t>
            </a:r>
            <a:r>
              <a:rPr lang="en-US" dirty="0"/>
              <a:t>, </a:t>
            </a:r>
            <a:r>
              <a:rPr lang="en-US" dirty="0" err="1"/>
              <a:t>видеокарта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прикладной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, </a:t>
            </a:r>
            <a:r>
              <a:rPr lang="en-US" dirty="0" err="1"/>
              <a:t>клавиатуры</a:t>
            </a:r>
            <a:r>
              <a:rPr lang="en-US" dirty="0"/>
              <a:t>,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карты</a:t>
            </a:r>
            <a:r>
              <a:rPr lang="en-US" dirty="0"/>
              <a:t> и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договариваться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устройству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чрезвычайно</a:t>
            </a:r>
            <a:r>
              <a:rPr lang="en-US" dirty="0"/>
              <a:t> </a:t>
            </a:r>
            <a:r>
              <a:rPr lang="en-US" dirty="0" err="1"/>
              <a:t>сложно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прикладными</a:t>
            </a:r>
            <a:r>
              <a:rPr lang="en-US" dirty="0"/>
              <a:t> </a:t>
            </a:r>
            <a:r>
              <a:rPr lang="en-US" dirty="0" err="1"/>
              <a:t>программами</a:t>
            </a:r>
            <a:r>
              <a:rPr lang="en-US" dirty="0"/>
              <a:t> и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проходить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курс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b="1" dirty="0" err="1"/>
              <a:t>скрывать</a:t>
            </a:r>
            <a:r>
              <a:rPr lang="en-US" b="1" dirty="0"/>
              <a:t> </a:t>
            </a:r>
            <a:r>
              <a:rPr lang="en-US" b="1" dirty="0" err="1"/>
              <a:t>сложность</a:t>
            </a:r>
            <a:r>
              <a:rPr lang="en-US" b="1" dirty="0"/>
              <a:t> </a:t>
            </a:r>
            <a:r>
              <a:rPr lang="en-US" b="1" dirty="0" err="1"/>
              <a:t>аппаратуры</a:t>
            </a:r>
            <a:r>
              <a:rPr lang="en-US" b="1" dirty="0"/>
              <a:t> и </a:t>
            </a:r>
            <a:r>
              <a:rPr lang="en-US" b="1" dirty="0" err="1"/>
              <a:t>предоставлять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удобные</a:t>
            </a:r>
            <a:r>
              <a:rPr lang="en-US" b="1" dirty="0"/>
              <a:t> </a:t>
            </a:r>
            <a:r>
              <a:rPr lang="en-US" b="1" dirty="0" err="1"/>
              <a:t>абстракции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блоками</a:t>
            </a:r>
            <a:r>
              <a:rPr lang="en-US" dirty="0"/>
              <a:t> SSD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файлами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b="1" dirty="0" err="1"/>
              <a:t>управлять</a:t>
            </a:r>
            <a:r>
              <a:rPr lang="en-US" b="1" dirty="0"/>
              <a:t> </a:t>
            </a:r>
            <a:r>
              <a:rPr lang="en-US" b="1" dirty="0" err="1"/>
              <a:t>ресурсами</a:t>
            </a:r>
            <a:r>
              <a:rPr lang="en-US" b="1" dirty="0"/>
              <a:t> </a:t>
            </a:r>
            <a:r>
              <a:rPr lang="en-US" b="1" dirty="0" err="1"/>
              <a:t>компьютера</a:t>
            </a:r>
            <a:r>
              <a:rPr lang="en-US" dirty="0"/>
              <a:t>. ОС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программами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бесконтрольно</a:t>
            </a:r>
            <a:r>
              <a:rPr lang="en-US" dirty="0"/>
              <a:t> </a:t>
            </a:r>
            <a:r>
              <a:rPr lang="en-US" dirty="0" err="1"/>
              <a:t>вмешиваться</a:t>
            </a:r>
            <a:r>
              <a:rPr lang="en-US" dirty="0"/>
              <a:t> в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10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компьютером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любая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в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повредить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неправильно</a:t>
            </a:r>
            <a:r>
              <a:rPr lang="en-US" dirty="0"/>
              <a:t>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вывести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строя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привилегий</a:t>
            </a:r>
            <a:r>
              <a:rPr lang="en-US" dirty="0"/>
              <a:t>. В </a:t>
            </a:r>
            <a:r>
              <a:rPr lang="en-US" dirty="0" err="1"/>
              <a:t>упрощённой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: </a:t>
            </a:r>
            <a:r>
              <a:rPr lang="en-US" b="1" dirty="0" err="1"/>
              <a:t>режим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dirty="0"/>
              <a:t> и </a:t>
            </a:r>
            <a:r>
              <a:rPr lang="en-US" b="1" dirty="0" err="1"/>
              <a:t>режим</a:t>
            </a:r>
            <a:r>
              <a:rPr lang="en-US" b="1" dirty="0"/>
              <a:t> </a:t>
            </a:r>
            <a:r>
              <a:rPr lang="en-US" b="1" dirty="0" err="1"/>
              <a:t>ядра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: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, </a:t>
            </a:r>
            <a:r>
              <a:rPr lang="en-US" dirty="0" err="1"/>
              <a:t>произвольно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привилегированные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ограничение</a:t>
            </a:r>
            <a:r>
              <a:rPr lang="en-US" dirty="0"/>
              <a:t> </a:t>
            </a:r>
            <a:r>
              <a:rPr lang="en-US" dirty="0" err="1"/>
              <a:t>сделано</a:t>
            </a:r>
            <a:r>
              <a:rPr lang="en-US" dirty="0"/>
              <a:t> </a:t>
            </a:r>
            <a:r>
              <a:rPr lang="en-US" dirty="0" err="1"/>
              <a:t>намеренно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ошибётся</a:t>
            </a:r>
            <a:r>
              <a:rPr lang="en-US" dirty="0"/>
              <a:t>, в </a:t>
            </a:r>
            <a:r>
              <a:rPr lang="en-US" dirty="0" err="1"/>
              <a:t>большинстве</a:t>
            </a:r>
            <a:r>
              <a:rPr lang="en-US" dirty="0"/>
              <a:t> </a:t>
            </a:r>
            <a:r>
              <a:rPr lang="en-US" dirty="0" err="1"/>
              <a:t>случаев</a:t>
            </a:r>
            <a:r>
              <a:rPr lang="en-US" dirty="0"/>
              <a:t> </a:t>
            </a:r>
            <a:r>
              <a:rPr lang="en-US" dirty="0" err="1"/>
              <a:t>пострадает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доверяет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настраивать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,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привилегированные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пользоваться</a:t>
            </a:r>
            <a:r>
              <a:rPr lang="en-US" dirty="0"/>
              <a:t> </a:t>
            </a:r>
            <a:r>
              <a:rPr lang="en-US" dirty="0" err="1"/>
              <a:t>файлами</a:t>
            </a:r>
            <a:r>
              <a:rPr lang="en-US" dirty="0"/>
              <a:t>, </a:t>
            </a:r>
            <a:r>
              <a:rPr lang="en-US" dirty="0" err="1"/>
              <a:t>сетью</a:t>
            </a:r>
            <a:r>
              <a:rPr lang="en-US" dirty="0"/>
              <a:t>,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устройствами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контролируемый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в </a:t>
            </a:r>
            <a:r>
              <a:rPr lang="en-US" dirty="0" err="1"/>
              <a:t>ядро</a:t>
            </a:r>
            <a:r>
              <a:rPr lang="en-US" dirty="0"/>
              <a:t> — </a:t>
            </a:r>
            <a:r>
              <a:rPr lang="en-US" b="1" dirty="0" err="1"/>
              <a:t>системный</a:t>
            </a:r>
            <a:r>
              <a:rPr lang="en-US" b="1" dirty="0"/>
              <a:t> </a:t>
            </a:r>
            <a:r>
              <a:rPr lang="en-US" b="1" dirty="0" err="1"/>
              <a:t>вызов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syscall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к SSD.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и </a:t>
            </a:r>
            <a:r>
              <a:rPr lang="en-US" dirty="0" err="1"/>
              <a:t>права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нужную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user mode и kernel mode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в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b="1" dirty="0" err="1"/>
              <a:t>приложение</a:t>
            </a:r>
            <a:r>
              <a:rPr lang="en-US" b="1" dirty="0"/>
              <a:t> </a:t>
            </a:r>
            <a:r>
              <a:rPr lang="en-US" b="1" dirty="0" err="1"/>
              <a:t>просит</a:t>
            </a:r>
            <a:r>
              <a:rPr lang="en-US" b="1" dirty="0"/>
              <a:t> — </a:t>
            </a:r>
            <a:r>
              <a:rPr lang="en-US" b="1" dirty="0" err="1"/>
              <a:t>ядро</a:t>
            </a:r>
            <a:r>
              <a:rPr lang="en-US" b="1" dirty="0"/>
              <a:t> </a:t>
            </a:r>
            <a:r>
              <a:rPr lang="en-US" b="1" dirty="0" err="1"/>
              <a:t>проверяет</a:t>
            </a:r>
            <a:r>
              <a:rPr lang="en-US" b="1" dirty="0"/>
              <a:t> и </a:t>
            </a:r>
            <a:r>
              <a:rPr lang="en-US" b="1" dirty="0" err="1"/>
              <a:t>выполняет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упрощённая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.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привилегий</a:t>
            </a:r>
            <a:r>
              <a:rPr lang="en-US" dirty="0"/>
              <a:t> и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ОС </a:t>
            </a:r>
            <a:r>
              <a:rPr lang="en-US" dirty="0" err="1"/>
              <a:t>модели</a:t>
            </a:r>
            <a:r>
              <a:rPr lang="en-US" dirty="0"/>
              <a:t> user mode и kernel mode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5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Итак, </a:t>
            </a:r>
            <a:r>
              <a:rPr lang="en-US" dirty="0" err="1"/>
              <a:t>прикладная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устройству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 </a:t>
            </a:r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фотографию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b="1" dirty="0" err="1"/>
              <a:t>файл</a:t>
            </a:r>
            <a:r>
              <a:rPr lang="en-US" dirty="0"/>
              <a:t>, и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SSD?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жёстком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? </a:t>
            </a:r>
            <a:r>
              <a:rPr lang="en-US" dirty="0" err="1"/>
              <a:t>На</a:t>
            </a:r>
            <a:r>
              <a:rPr lang="en-US" dirty="0"/>
              <a:t> USB-</a:t>
            </a:r>
            <a:r>
              <a:rPr lang="en-US" dirty="0" err="1"/>
              <a:t>накопителе</a:t>
            </a:r>
            <a:r>
              <a:rPr lang="en-US" dirty="0"/>
              <a:t>?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сетевом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абстракцией</a:t>
            </a:r>
            <a:r>
              <a:rPr lang="en-US" dirty="0"/>
              <a:t> </a:t>
            </a:r>
            <a:r>
              <a:rPr lang="en-US" b="1" dirty="0" err="1"/>
              <a:t>файла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драйвер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 и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с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контроллером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накопителя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физическую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, а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цепочке</a:t>
            </a:r>
            <a:r>
              <a:rPr lang="en-US" dirty="0"/>
              <a:t> и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dirty="0" err="1"/>
              <a:t>программу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идей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b="1" dirty="0" err="1"/>
              <a:t>абстракцию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ОС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и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и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простые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накопителя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—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—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,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сокет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разработчику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SSD, </a:t>
            </a:r>
            <a:r>
              <a:rPr lang="en-US" dirty="0" err="1"/>
              <a:t>клавиатуры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карты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полезный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SSD </a:t>
            </a:r>
            <a:r>
              <a:rPr lang="en-US" dirty="0" err="1"/>
              <a:t>другим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заметит</a:t>
            </a:r>
            <a:r>
              <a:rPr lang="en-US" dirty="0"/>
              <a:t>.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нижние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, а </a:t>
            </a:r>
            <a:r>
              <a:rPr lang="en-US" dirty="0" err="1"/>
              <a:t>абстракция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,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прежней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М</a:t>
            </a:r>
            <a:r>
              <a:rPr lang="en-US" dirty="0" err="1"/>
              <a:t>ожно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/>
              <a:t>ОС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просто</a:t>
            </a:r>
            <a:r>
              <a:rPr lang="en-US" b="1" dirty="0"/>
              <a:t> </a:t>
            </a:r>
            <a:r>
              <a:rPr lang="en-US" b="1" dirty="0" err="1"/>
              <a:t>управляет</a:t>
            </a:r>
            <a:r>
              <a:rPr lang="en-US" b="1" dirty="0"/>
              <a:t> </a:t>
            </a:r>
            <a:r>
              <a:rPr lang="en-US" b="1" dirty="0" err="1"/>
              <a:t>железом</a:t>
            </a:r>
            <a:r>
              <a:rPr lang="en-US" b="1" dirty="0"/>
              <a:t> —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создаёт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программ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удобную</a:t>
            </a:r>
            <a:r>
              <a:rPr lang="en-US" b="1" dirty="0"/>
              <a:t> </a:t>
            </a:r>
            <a:r>
              <a:rPr lang="en-US" b="1" dirty="0" err="1"/>
              <a:t>виртуальную</a:t>
            </a:r>
            <a:r>
              <a:rPr lang="en-US" b="1" dirty="0"/>
              <a:t> </a:t>
            </a:r>
            <a:r>
              <a:rPr lang="en-US" b="1" dirty="0" err="1"/>
              <a:t>машину</a:t>
            </a:r>
            <a:r>
              <a:rPr lang="en-US" b="1" dirty="0"/>
              <a:t> </a:t>
            </a:r>
            <a:r>
              <a:rPr lang="en-US" b="1" dirty="0" err="1"/>
              <a:t>поверх</a:t>
            </a:r>
            <a:r>
              <a:rPr lang="en-US" b="1" dirty="0"/>
              <a:t> </a:t>
            </a:r>
            <a:r>
              <a:rPr lang="en-US" b="1" dirty="0" err="1"/>
              <a:t>реального</a:t>
            </a:r>
            <a:r>
              <a:rPr lang="en-US" b="1" dirty="0"/>
              <a:t> </a:t>
            </a:r>
            <a:r>
              <a:rPr lang="en-US" b="1" dirty="0" err="1"/>
              <a:t>компьютера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56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 и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ОС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фундаментальная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b="1" dirty="0" err="1"/>
              <a:t>управлять</a:t>
            </a:r>
            <a:r>
              <a:rPr lang="en-US" b="1" dirty="0"/>
              <a:t> </a:t>
            </a:r>
            <a:r>
              <a:rPr lang="en-US" b="1" dirty="0" err="1"/>
              <a:t>ресурсами</a:t>
            </a:r>
            <a:r>
              <a:rPr lang="en-US" b="1" dirty="0"/>
              <a:t> </a:t>
            </a:r>
            <a:r>
              <a:rPr lang="en-US" b="1" dirty="0" err="1"/>
              <a:t>компьютера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запущены</a:t>
            </a:r>
            <a:r>
              <a:rPr lang="en-US" dirty="0"/>
              <a:t> </a:t>
            </a:r>
            <a:r>
              <a:rPr lang="en-US" dirty="0" err="1"/>
              <a:t>браузер</a:t>
            </a:r>
            <a:r>
              <a:rPr lang="en-US" dirty="0"/>
              <a:t>, </a:t>
            </a:r>
            <a:r>
              <a:rPr lang="en-US" dirty="0" err="1"/>
              <a:t>музыкальный</a:t>
            </a:r>
            <a:r>
              <a:rPr lang="en-US" dirty="0"/>
              <a:t> </a:t>
            </a:r>
            <a:r>
              <a:rPr lang="en-US" dirty="0" err="1"/>
              <a:t>проигрыватель</a:t>
            </a:r>
            <a:r>
              <a:rPr lang="en-US" dirty="0"/>
              <a:t>, </a:t>
            </a: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хотят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захотеть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</a:t>
            </a:r>
            <a:r>
              <a:rPr lang="en-US" dirty="0" err="1"/>
              <a:t>ограничены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: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,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к </a:t>
            </a:r>
            <a:r>
              <a:rPr lang="en-US" dirty="0" err="1"/>
              <a:t>устройствам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претендуют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приёмов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b="1" dirty="0" err="1"/>
              <a:t>мультиплексированием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разделением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потребителями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b="1" dirty="0" err="1"/>
              <a:t>во</a:t>
            </a:r>
            <a:r>
              <a:rPr lang="en-US" b="1" dirty="0"/>
              <a:t> </a:t>
            </a:r>
            <a:r>
              <a:rPr lang="en-US" b="1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промежуток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третья</a:t>
            </a:r>
            <a:r>
              <a:rPr lang="en-US" dirty="0"/>
              <a:t>.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с </a:t>
            </a:r>
            <a:r>
              <a:rPr lang="en-US" dirty="0" err="1"/>
              <a:t>принтером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отправили</a:t>
            </a:r>
            <a:r>
              <a:rPr lang="en-US" dirty="0"/>
              <a:t> </a:t>
            </a:r>
            <a:r>
              <a:rPr lang="en-US" dirty="0" err="1"/>
              <a:t>документы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печать</a:t>
            </a:r>
            <a:r>
              <a:rPr lang="en-US" dirty="0"/>
              <a:t>, ОС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вперемешку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устройству</a:t>
            </a:r>
            <a:r>
              <a:rPr lang="en-US" dirty="0"/>
              <a:t>. </a:t>
            </a:r>
            <a:r>
              <a:rPr lang="en-US" dirty="0" err="1"/>
              <a:t>Задания</a:t>
            </a:r>
            <a:r>
              <a:rPr lang="en-US" dirty="0"/>
              <a:t> </a:t>
            </a:r>
            <a:r>
              <a:rPr lang="en-US" dirty="0" err="1"/>
              <a:t>помещаются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и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— </a:t>
            </a:r>
            <a:r>
              <a:rPr lang="en-US" b="1" dirty="0" err="1"/>
              <a:t>разделение</a:t>
            </a:r>
            <a:r>
              <a:rPr lang="en-US" b="1" dirty="0"/>
              <a:t> в </a:t>
            </a:r>
            <a:r>
              <a:rPr lang="en-US" b="1" dirty="0" err="1"/>
              <a:t>пространстве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другие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</a:t>
            </a:r>
            <a:r>
              <a:rPr lang="en-US" dirty="0" err="1"/>
              <a:t>дисковым</a:t>
            </a:r>
            <a:r>
              <a:rPr lang="en-US" dirty="0"/>
              <a:t> </a:t>
            </a:r>
            <a:r>
              <a:rPr lang="en-US" dirty="0" err="1"/>
              <a:t>пространством</a:t>
            </a:r>
            <a:r>
              <a:rPr lang="en-US" dirty="0"/>
              <a:t>: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 и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физический</a:t>
            </a:r>
            <a:r>
              <a:rPr lang="en-US" dirty="0"/>
              <a:t> </a:t>
            </a:r>
            <a:r>
              <a:rPr lang="en-US" dirty="0" err="1"/>
              <a:t>накопитель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ОС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«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что-нибудь</a:t>
            </a:r>
            <a:r>
              <a:rPr lang="en-US" dirty="0"/>
              <a:t> </a:t>
            </a:r>
            <a:r>
              <a:rPr lang="en-US" dirty="0" err="1"/>
              <a:t>выдать</a:t>
            </a:r>
            <a:r>
              <a:rPr lang="en-US" dirty="0"/>
              <a:t>».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следить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мешали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случайно</a:t>
            </a:r>
            <a:r>
              <a:rPr lang="en-US" dirty="0"/>
              <a:t> </a:t>
            </a:r>
            <a:r>
              <a:rPr lang="en-US" dirty="0" err="1"/>
              <a:t>перезаписать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чужим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прав</a:t>
            </a:r>
            <a:r>
              <a:rPr lang="en-US" dirty="0"/>
              <a:t>. </a:t>
            </a:r>
            <a:r>
              <a:rPr lang="en-US" dirty="0" err="1"/>
              <a:t>Освободившиеся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возвращаться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и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: </a:t>
            </a:r>
            <a:r>
              <a:rPr lang="en-US" b="1" dirty="0" err="1"/>
              <a:t>распределением</a:t>
            </a:r>
            <a:r>
              <a:rPr lang="en-US" b="1" dirty="0"/>
              <a:t>, </a:t>
            </a:r>
            <a:r>
              <a:rPr lang="en-US" b="1" dirty="0" err="1"/>
              <a:t>учётом</a:t>
            </a:r>
            <a:r>
              <a:rPr lang="en-US" b="1" dirty="0"/>
              <a:t>, </a:t>
            </a:r>
            <a:r>
              <a:rPr lang="en-US" b="1" dirty="0" err="1"/>
              <a:t>защитой</a:t>
            </a:r>
            <a:r>
              <a:rPr lang="en-US" b="1" dirty="0"/>
              <a:t> и </a:t>
            </a:r>
            <a:r>
              <a:rPr lang="en-US" b="1" dirty="0" err="1"/>
              <a:t>разрешением</a:t>
            </a:r>
            <a:r>
              <a:rPr lang="en-US" b="1" dirty="0"/>
              <a:t> </a:t>
            </a:r>
            <a:r>
              <a:rPr lang="en-US" b="1" dirty="0" err="1"/>
              <a:t>конфликтов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в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отдельности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ОС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и </a:t>
            </a:r>
            <a:r>
              <a:rPr lang="en-US" dirty="0" err="1"/>
              <a:t>потоками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файлами</a:t>
            </a:r>
            <a:r>
              <a:rPr lang="en-US" dirty="0"/>
              <a:t> и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2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распределить</a:t>
            </a:r>
            <a:r>
              <a:rPr lang="en-US" dirty="0"/>
              <a:t> RAM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мешали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с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адресами</a:t>
            </a:r>
            <a:r>
              <a:rPr lang="en-US" dirty="0"/>
              <a:t>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b="1" dirty="0" err="1"/>
              <a:t>виртуальное</a:t>
            </a:r>
            <a:r>
              <a:rPr lang="en-US" b="1" dirty="0"/>
              <a:t> </a:t>
            </a:r>
            <a:r>
              <a:rPr lang="en-US" b="1" dirty="0" err="1"/>
              <a:t>адресное</a:t>
            </a:r>
            <a:r>
              <a:rPr lang="en-US" b="1" dirty="0"/>
              <a:t> </a:t>
            </a:r>
            <a:r>
              <a:rPr lang="en-US" b="1" dirty="0" err="1"/>
              <a:t>пространство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непрерывная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участках</a:t>
            </a:r>
            <a:r>
              <a:rPr lang="en-US" dirty="0"/>
              <a:t> RAM.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— </a:t>
            </a:r>
            <a:r>
              <a:rPr lang="en-US" b="1" dirty="0" err="1"/>
              <a:t>изоляцию</a:t>
            </a:r>
            <a:r>
              <a:rPr lang="en-US" b="1" dirty="0"/>
              <a:t> </a:t>
            </a:r>
            <a:r>
              <a:rPr lang="en-US" b="1" dirty="0" err="1"/>
              <a:t>процессов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ОС </a:t>
            </a:r>
            <a:r>
              <a:rPr lang="en-US" dirty="0" err="1"/>
              <a:t>гибко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ru-RU" dirty="0"/>
              <a:t>ОЗУ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хватает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выгружена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— в page file в Windows </a:t>
            </a:r>
            <a:r>
              <a:rPr lang="en-US" dirty="0" err="1"/>
              <a:t>или</a:t>
            </a:r>
            <a:r>
              <a:rPr lang="en-US" dirty="0"/>
              <a:t> swap в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 </a:t>
            </a:r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ru-RU" dirty="0"/>
              <a:t>ОЗУ</a:t>
            </a:r>
            <a:r>
              <a:rPr lang="en-US" dirty="0"/>
              <a:t>».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шире</a:t>
            </a:r>
            <a:r>
              <a:rPr lang="en-US" dirty="0"/>
              <a:t> —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удобное</a:t>
            </a:r>
            <a:r>
              <a:rPr lang="en-US" dirty="0"/>
              <a:t> и </a:t>
            </a:r>
            <a:r>
              <a:rPr lang="en-US" dirty="0" err="1"/>
              <a:t>изолированное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,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— </a:t>
            </a:r>
            <a:r>
              <a:rPr lang="en-US" dirty="0" err="1"/>
              <a:t>перенос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ru-RU" dirty="0"/>
              <a:t>ОЗУ</a:t>
            </a:r>
            <a:r>
              <a:rPr lang="en-US" dirty="0"/>
              <a:t> и </a:t>
            </a:r>
            <a:r>
              <a:rPr lang="en-US" dirty="0" err="1"/>
              <a:t>накопителем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</a:t>
            </a:r>
            <a:r>
              <a:rPr lang="en-US" dirty="0" err="1"/>
              <a:t>оказано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виртуальную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а ОС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RAM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, а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размещены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доступную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управлении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ОС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 </a:t>
            </a:r>
            <a:r>
              <a:rPr lang="en-US" b="1" dirty="0" err="1"/>
              <a:t>эффективность</a:t>
            </a:r>
            <a:r>
              <a:rPr lang="en-US" b="1" dirty="0"/>
              <a:t>, </a:t>
            </a:r>
            <a:r>
              <a:rPr lang="en-US" b="1" dirty="0" err="1"/>
              <a:t>изоляция</a:t>
            </a:r>
            <a:r>
              <a:rPr lang="en-US" b="1" dirty="0"/>
              <a:t>, </a:t>
            </a:r>
            <a:r>
              <a:rPr lang="en-US" b="1" dirty="0" err="1"/>
              <a:t>защита</a:t>
            </a:r>
            <a:r>
              <a:rPr lang="en-US" b="1" dirty="0"/>
              <a:t> и </a:t>
            </a:r>
            <a:r>
              <a:rPr lang="en-US" b="1" dirty="0" err="1"/>
              <a:t>удобство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программ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46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электронных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r>
              <a:rPr lang="en-US" dirty="0"/>
              <a:t>.</a:t>
            </a:r>
          </a:p>
          <a:p>
            <a:r>
              <a:rPr lang="en-US" dirty="0"/>
              <a:t>В XIX </a:t>
            </a:r>
            <a:r>
              <a:rPr lang="en-US" dirty="0" err="1"/>
              <a:t>веке</a:t>
            </a:r>
            <a:r>
              <a:rPr lang="en-US" dirty="0"/>
              <a:t> </a:t>
            </a:r>
            <a:r>
              <a:rPr lang="en-US" dirty="0" err="1"/>
              <a:t>Чарльз</a:t>
            </a:r>
            <a:r>
              <a:rPr lang="en-US" dirty="0"/>
              <a:t> </a:t>
            </a:r>
            <a:r>
              <a:rPr lang="en-US" dirty="0" err="1"/>
              <a:t>Бэббидж</a:t>
            </a:r>
            <a:r>
              <a:rPr lang="en-US" dirty="0"/>
              <a:t> </a:t>
            </a:r>
            <a:r>
              <a:rPr lang="en-US" dirty="0" err="1"/>
              <a:t>спроектировал</a:t>
            </a:r>
            <a:r>
              <a:rPr lang="en-US" dirty="0"/>
              <a:t> </a:t>
            </a:r>
            <a:r>
              <a:rPr lang="en-US" dirty="0" err="1"/>
              <a:t>Аналитическую</a:t>
            </a:r>
            <a:r>
              <a:rPr lang="en-US" dirty="0"/>
              <a:t> </a:t>
            </a:r>
            <a:r>
              <a:rPr lang="en-US" dirty="0" err="1"/>
              <a:t>машину</a:t>
            </a:r>
            <a:r>
              <a:rPr lang="en-US" dirty="0"/>
              <a:t>. Это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механический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удалось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удивительно</a:t>
            </a:r>
            <a:r>
              <a:rPr lang="en-US" dirty="0"/>
              <a:t> </a:t>
            </a:r>
            <a:r>
              <a:rPr lang="en-US" dirty="0" err="1"/>
              <a:t>современной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предполагались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программирование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перфокарт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циклы</a:t>
            </a:r>
            <a:r>
              <a:rPr lang="en-US" dirty="0"/>
              <a:t> и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.</a:t>
            </a:r>
          </a:p>
          <a:p>
            <a:r>
              <a:rPr lang="en-US" dirty="0" err="1"/>
              <a:t>Ада</a:t>
            </a:r>
            <a:r>
              <a:rPr lang="en-US" dirty="0"/>
              <a:t> </a:t>
            </a:r>
            <a:r>
              <a:rPr lang="en-US" dirty="0" err="1"/>
              <a:t>Лавлейс</a:t>
            </a:r>
            <a:r>
              <a:rPr lang="en-US" dirty="0"/>
              <a:t> </a:t>
            </a:r>
            <a:r>
              <a:rPr lang="en-US" dirty="0" err="1"/>
              <a:t>описала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машины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программистом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существовало</a:t>
            </a:r>
            <a:r>
              <a:rPr lang="en-US" dirty="0"/>
              <a:t> —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b="1" dirty="0" err="1"/>
              <a:t>универсальной</a:t>
            </a:r>
            <a:r>
              <a:rPr lang="en-US" b="1" dirty="0"/>
              <a:t> </a:t>
            </a:r>
            <a:r>
              <a:rPr lang="en-US" b="1" dirty="0" err="1"/>
              <a:t>программируемой</a:t>
            </a:r>
            <a:r>
              <a:rPr lang="en-US" b="1" dirty="0"/>
              <a:t> </a:t>
            </a:r>
            <a:r>
              <a:rPr lang="en-US" b="1" dirty="0" err="1"/>
              <a:t>вычислительной</a:t>
            </a:r>
            <a:r>
              <a:rPr lang="en-US" b="1" dirty="0"/>
              <a:t> </a:t>
            </a:r>
            <a:r>
              <a:rPr lang="en-US" b="1" dirty="0" err="1"/>
              <a:t>машины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54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1940-х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реально</a:t>
            </a:r>
            <a:r>
              <a:rPr lang="en-US" dirty="0"/>
              <a:t> </a:t>
            </a:r>
            <a:r>
              <a:rPr lang="en-US" dirty="0" err="1"/>
              <a:t>работающие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машины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огромными</a:t>
            </a:r>
            <a:r>
              <a:rPr lang="en-US" dirty="0"/>
              <a:t>, </a:t>
            </a:r>
            <a:r>
              <a:rPr lang="en-US" dirty="0" err="1"/>
              <a:t>дорогими</a:t>
            </a:r>
            <a:r>
              <a:rPr lang="en-US" dirty="0"/>
              <a:t> и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сложными</a:t>
            </a:r>
            <a:r>
              <a:rPr lang="en-US" dirty="0"/>
              <a:t> в </a:t>
            </a:r>
            <a:r>
              <a:rPr lang="en-US" dirty="0" err="1"/>
              <a:t>эксплуатации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программирование</a:t>
            </a:r>
            <a:r>
              <a:rPr lang="en-US" dirty="0"/>
              <a:t> </a:t>
            </a:r>
            <a:r>
              <a:rPr lang="en-US" dirty="0" err="1"/>
              <a:t>выглядело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. В </a:t>
            </a:r>
            <a:r>
              <a:rPr lang="en-US" dirty="0" err="1"/>
              <a:t>одних</a:t>
            </a:r>
            <a:r>
              <a:rPr lang="en-US" dirty="0"/>
              <a:t> </a:t>
            </a:r>
            <a:r>
              <a:rPr lang="en-US" dirty="0" err="1"/>
              <a:t>машинах</a:t>
            </a:r>
            <a:r>
              <a:rPr lang="en-US" dirty="0"/>
              <a:t> </a:t>
            </a:r>
            <a:r>
              <a:rPr lang="en-US" dirty="0" err="1"/>
              <a:t>использовались</a:t>
            </a:r>
            <a:r>
              <a:rPr lang="en-US" dirty="0"/>
              <a:t>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коды</a:t>
            </a:r>
            <a:r>
              <a:rPr lang="en-US" dirty="0"/>
              <a:t>, в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задавали</a:t>
            </a:r>
            <a:r>
              <a:rPr lang="en-US" dirty="0"/>
              <a:t> </a:t>
            </a:r>
            <a:r>
              <a:rPr lang="en-US" dirty="0" err="1"/>
              <a:t>переключателями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физическим</a:t>
            </a:r>
            <a:r>
              <a:rPr lang="en-US" dirty="0"/>
              <a:t> </a:t>
            </a:r>
            <a:r>
              <a:rPr lang="en-US" dirty="0" err="1"/>
              <a:t>соединением</a:t>
            </a:r>
            <a:r>
              <a:rPr lang="en-US" dirty="0"/>
              <a:t> </a:t>
            </a:r>
            <a:r>
              <a:rPr lang="en-US" dirty="0" err="1"/>
              <a:t>кабелей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Разделения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программистом</a:t>
            </a:r>
            <a:r>
              <a:rPr lang="en-US" dirty="0"/>
              <a:t>, </a:t>
            </a:r>
            <a:r>
              <a:rPr lang="en-US" dirty="0" err="1"/>
              <a:t>оператором</a:t>
            </a:r>
            <a:r>
              <a:rPr lang="en-US" dirty="0"/>
              <a:t> и </a:t>
            </a:r>
            <a:r>
              <a:rPr lang="en-US" dirty="0" err="1"/>
              <a:t>системным</a:t>
            </a:r>
            <a:r>
              <a:rPr lang="en-US" dirty="0"/>
              <a:t> </a:t>
            </a:r>
            <a:r>
              <a:rPr lang="en-US" dirty="0" err="1"/>
              <a:t>администратором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: </a:t>
            </a:r>
            <a:r>
              <a:rPr lang="en-US" dirty="0" err="1"/>
              <a:t>специалисты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готовили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</a:t>
            </a:r>
            <a:r>
              <a:rPr lang="en-US" dirty="0" err="1"/>
              <a:t>запускали</a:t>
            </a:r>
            <a:r>
              <a:rPr lang="en-US" dirty="0"/>
              <a:t> </a:t>
            </a:r>
            <a:r>
              <a:rPr lang="en-US" dirty="0" err="1"/>
              <a:t>машину</a:t>
            </a:r>
            <a:r>
              <a:rPr lang="en-US" dirty="0"/>
              <a:t> и </a:t>
            </a:r>
            <a:r>
              <a:rPr lang="en-US" dirty="0" err="1"/>
              <a:t>контролировали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— </a:t>
            </a:r>
            <a:r>
              <a:rPr lang="en-US" b="1" dirty="0" err="1"/>
              <a:t>никакой</a:t>
            </a:r>
            <a:r>
              <a:rPr lang="en-US" b="1" dirty="0"/>
              <a:t> </a:t>
            </a:r>
            <a:r>
              <a:rPr lang="en-US" b="1" dirty="0" err="1"/>
              <a:t>операционной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программой</a:t>
            </a:r>
            <a:r>
              <a:rPr lang="en-US" b="1" dirty="0"/>
              <a:t> и </a:t>
            </a:r>
            <a:r>
              <a:rPr lang="en-US" b="1" dirty="0" err="1"/>
              <a:t>аппаратурой</a:t>
            </a:r>
            <a:r>
              <a:rPr lang="en-US" b="1" dirty="0"/>
              <a:t> </a:t>
            </a:r>
            <a:r>
              <a:rPr lang="en-US" b="1" dirty="0" err="1"/>
              <a:t>ещё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было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работала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с </a:t>
            </a:r>
            <a:r>
              <a:rPr lang="en-US" dirty="0" err="1"/>
              <a:t>машиной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и </a:t>
            </a:r>
            <a:r>
              <a:rPr lang="en-US" dirty="0" err="1"/>
              <a:t>привели</a:t>
            </a:r>
            <a:r>
              <a:rPr lang="en-US" dirty="0"/>
              <a:t> к </a:t>
            </a:r>
            <a:r>
              <a:rPr lang="en-US" dirty="0" err="1"/>
              <a:t>появлению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,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выросли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72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поколении</a:t>
            </a:r>
            <a:r>
              <a:rPr lang="en-US" dirty="0"/>
              <a:t> </a:t>
            </a:r>
            <a:r>
              <a:rPr lang="en-US" dirty="0" err="1"/>
              <a:t>вакуумные</a:t>
            </a:r>
            <a:r>
              <a:rPr lang="en-US" dirty="0"/>
              <a:t> </a:t>
            </a:r>
            <a:r>
              <a:rPr lang="en-US" dirty="0" err="1"/>
              <a:t>лампы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заменять</a:t>
            </a:r>
            <a:r>
              <a:rPr lang="en-US" dirty="0"/>
              <a:t> </a:t>
            </a:r>
            <a:r>
              <a:rPr lang="en-US" dirty="0" err="1"/>
              <a:t>транзисторами</a:t>
            </a:r>
            <a:r>
              <a:rPr lang="en-US" dirty="0"/>
              <a:t>.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надёжнее</a:t>
            </a:r>
            <a:r>
              <a:rPr lang="en-US" dirty="0"/>
              <a:t>,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потребляют</a:t>
            </a:r>
            <a:r>
              <a:rPr lang="en-US" dirty="0"/>
              <a:t> </a:t>
            </a:r>
            <a:r>
              <a:rPr lang="en-US" dirty="0" err="1"/>
              <a:t>энергии</a:t>
            </a:r>
            <a:r>
              <a:rPr lang="en-US" dirty="0"/>
              <a:t> и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организациями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в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 </a:t>
            </a:r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сидит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машиной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пишет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</a:t>
            </a:r>
            <a:r>
              <a:rPr lang="en-US" dirty="0" err="1"/>
              <a:t>пробивает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перфокартах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оператору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Оператор</a:t>
            </a:r>
            <a:r>
              <a:rPr lang="en-US" dirty="0"/>
              <a:t> </a:t>
            </a:r>
            <a:r>
              <a:rPr lang="en-US" dirty="0" err="1"/>
              <a:t>ставит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,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программистам</a:t>
            </a:r>
            <a:r>
              <a:rPr lang="en-US" dirty="0"/>
              <a:t>.</a:t>
            </a:r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труда</a:t>
            </a:r>
            <a:r>
              <a:rPr lang="en-US" dirty="0"/>
              <a:t> </a:t>
            </a:r>
            <a:r>
              <a:rPr lang="en-US" dirty="0" err="1"/>
              <a:t>повысило</a:t>
            </a:r>
            <a:r>
              <a:rPr lang="en-US" dirty="0"/>
              <a:t> </a:t>
            </a:r>
            <a:r>
              <a:rPr lang="en-US" dirty="0" err="1"/>
              <a:t>удобство</a:t>
            </a:r>
            <a:r>
              <a:rPr lang="en-US" dirty="0"/>
              <a:t> </a:t>
            </a:r>
            <a:r>
              <a:rPr lang="en-US" dirty="0" err="1"/>
              <a:t>эксплуатации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обнаружило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: </a:t>
            </a:r>
            <a:r>
              <a:rPr lang="en-US" b="1" dirty="0" err="1"/>
              <a:t>очень</a:t>
            </a:r>
            <a:r>
              <a:rPr lang="en-US" b="1" dirty="0"/>
              <a:t> </a:t>
            </a:r>
            <a:r>
              <a:rPr lang="en-US" b="1" dirty="0" err="1"/>
              <a:t>дорогой</a:t>
            </a:r>
            <a:r>
              <a:rPr lang="en-US" b="1" dirty="0"/>
              <a:t> </a:t>
            </a:r>
            <a:r>
              <a:rPr lang="en-US" b="1" dirty="0" err="1"/>
              <a:t>процессор</a:t>
            </a:r>
            <a:r>
              <a:rPr lang="en-US" b="1" dirty="0"/>
              <a:t> </a:t>
            </a:r>
            <a:r>
              <a:rPr lang="en-US" b="1" dirty="0" err="1"/>
              <a:t>часто</a:t>
            </a:r>
            <a:r>
              <a:rPr lang="en-US" b="1" dirty="0"/>
              <a:t> </a:t>
            </a:r>
            <a:r>
              <a:rPr lang="en-US" b="1" dirty="0" err="1"/>
              <a:t>простаивал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операторы</a:t>
            </a:r>
            <a:r>
              <a:rPr lang="en-US" dirty="0"/>
              <a:t> </a:t>
            </a:r>
            <a:r>
              <a:rPr lang="en-US" dirty="0" err="1"/>
              <a:t>меняли</a:t>
            </a:r>
            <a:r>
              <a:rPr lang="en-US" dirty="0"/>
              <a:t> </a:t>
            </a:r>
            <a:r>
              <a:rPr lang="en-US" dirty="0" err="1"/>
              <a:t>колоды</a:t>
            </a:r>
            <a:r>
              <a:rPr lang="en-US" dirty="0"/>
              <a:t> </a:t>
            </a:r>
            <a:r>
              <a:rPr lang="en-US" dirty="0" err="1"/>
              <a:t>карт</a:t>
            </a:r>
            <a:r>
              <a:rPr lang="en-US" dirty="0"/>
              <a:t>, </a:t>
            </a:r>
            <a:r>
              <a:rPr lang="en-US" dirty="0" err="1"/>
              <a:t>загружали</a:t>
            </a:r>
            <a:r>
              <a:rPr lang="en-US" dirty="0"/>
              <a:t> </a:t>
            </a:r>
            <a:r>
              <a:rPr lang="en-US" dirty="0" err="1"/>
              <a:t>компиляторы</a:t>
            </a:r>
            <a:r>
              <a:rPr lang="en-US" dirty="0"/>
              <a:t> и </a:t>
            </a:r>
            <a:r>
              <a:rPr lang="en-US" dirty="0" err="1"/>
              <a:t>готовили</a:t>
            </a:r>
            <a:r>
              <a:rPr lang="en-US" dirty="0"/>
              <a:t> </a:t>
            </a:r>
            <a:r>
              <a:rPr lang="en-US" dirty="0" err="1"/>
              <a:t>следующее</a:t>
            </a:r>
            <a:r>
              <a:rPr lang="en-US" dirty="0"/>
              <a:t> </a:t>
            </a:r>
            <a:r>
              <a:rPr lang="en-US" dirty="0" err="1"/>
              <a:t>задание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этапу</a:t>
            </a:r>
            <a:r>
              <a:rPr lang="en-US" dirty="0"/>
              <a:t> — </a:t>
            </a:r>
            <a:r>
              <a:rPr lang="en-US" b="1" dirty="0" err="1"/>
              <a:t>пакетной</a:t>
            </a:r>
            <a:r>
              <a:rPr lang="en-US" b="1" dirty="0"/>
              <a:t> </a:t>
            </a:r>
            <a:r>
              <a:rPr lang="en-US" b="1" dirty="0" err="1"/>
              <a:t>обработке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86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В </a:t>
            </a:r>
            <a:r>
              <a:rPr lang="en-US" b="0" dirty="0" err="1"/>
              <a:t>предыдущей</a:t>
            </a:r>
            <a:r>
              <a:rPr lang="en-US" b="0" dirty="0"/>
              <a:t> </a:t>
            </a:r>
            <a:r>
              <a:rPr lang="en-US" b="0" dirty="0" err="1"/>
              <a:t>схеме</a:t>
            </a:r>
            <a:r>
              <a:rPr lang="en-US" b="0" dirty="0"/>
              <a:t> </a:t>
            </a:r>
            <a:r>
              <a:rPr lang="en-US" b="0" dirty="0" err="1"/>
              <a:t>главной</a:t>
            </a:r>
            <a:r>
              <a:rPr lang="en-US" b="0" dirty="0"/>
              <a:t> </a:t>
            </a:r>
            <a:r>
              <a:rPr lang="en-US" b="0" dirty="0" err="1"/>
              <a:t>проблемой</a:t>
            </a:r>
            <a:r>
              <a:rPr lang="en-US" b="0" dirty="0"/>
              <a:t> </a:t>
            </a:r>
            <a:r>
              <a:rPr lang="en-US" b="0" dirty="0" err="1"/>
              <a:t>был</a:t>
            </a:r>
            <a:r>
              <a:rPr lang="en-US" b="0" dirty="0"/>
              <a:t> </a:t>
            </a:r>
            <a:r>
              <a:rPr lang="en-US" b="0" dirty="0" err="1"/>
              <a:t>простой</a:t>
            </a:r>
            <a:r>
              <a:rPr lang="en-US" b="0" dirty="0"/>
              <a:t> </a:t>
            </a:r>
            <a:r>
              <a:rPr lang="en-US" b="0" dirty="0" err="1"/>
              <a:t>дорогого</a:t>
            </a:r>
            <a:r>
              <a:rPr lang="en-US" b="0" dirty="0"/>
              <a:t> </a:t>
            </a:r>
            <a:r>
              <a:rPr lang="en-US" b="0" dirty="0" err="1"/>
              <a:t>процессора</a:t>
            </a:r>
            <a:r>
              <a:rPr lang="en-US" b="0" dirty="0"/>
              <a:t>: </a:t>
            </a:r>
            <a:r>
              <a:rPr lang="en-US" b="0" dirty="0" err="1"/>
              <a:t>оператор</a:t>
            </a:r>
            <a:r>
              <a:rPr lang="en-US" b="0" dirty="0"/>
              <a:t> </a:t>
            </a:r>
            <a:r>
              <a:rPr lang="en-US" b="0" dirty="0" err="1"/>
              <a:t>приносит</a:t>
            </a:r>
            <a:r>
              <a:rPr lang="en-US" b="0" dirty="0"/>
              <a:t> </a:t>
            </a:r>
            <a:r>
              <a:rPr lang="en-US" b="0" dirty="0" err="1"/>
              <a:t>перфокарты</a:t>
            </a:r>
            <a:r>
              <a:rPr lang="en-US" b="0" dirty="0"/>
              <a:t>, </a:t>
            </a:r>
            <a:r>
              <a:rPr lang="en-US" b="0" dirty="0" err="1"/>
              <a:t>загружает</a:t>
            </a:r>
            <a:r>
              <a:rPr lang="en-US" b="0" dirty="0"/>
              <a:t> </a:t>
            </a:r>
            <a:r>
              <a:rPr lang="en-US" b="0" dirty="0" err="1"/>
              <a:t>компилятор</a:t>
            </a:r>
            <a:r>
              <a:rPr lang="en-US" b="0" dirty="0"/>
              <a:t>, </a:t>
            </a:r>
            <a:r>
              <a:rPr lang="en-US" b="0" dirty="0" err="1"/>
              <a:t>забирает</a:t>
            </a:r>
            <a:r>
              <a:rPr lang="en-US" b="0" dirty="0"/>
              <a:t> </a:t>
            </a:r>
            <a:r>
              <a:rPr lang="en-US" b="0" dirty="0" err="1"/>
              <a:t>результаты</a:t>
            </a:r>
            <a:r>
              <a:rPr lang="en-US" b="0" dirty="0"/>
              <a:t> — и </a:t>
            </a:r>
            <a:r>
              <a:rPr lang="en-US" b="0" dirty="0" err="1"/>
              <a:t>всё</a:t>
            </a:r>
            <a:r>
              <a:rPr lang="en-US" b="0" dirty="0"/>
              <a:t> </a:t>
            </a:r>
            <a:r>
              <a:rPr lang="en-US" b="0" dirty="0" err="1"/>
              <a:t>это</a:t>
            </a:r>
            <a:r>
              <a:rPr lang="en-US" b="0" dirty="0"/>
              <a:t> </a:t>
            </a:r>
            <a:r>
              <a:rPr lang="en-US" b="0" dirty="0" err="1"/>
              <a:t>время</a:t>
            </a:r>
            <a:r>
              <a:rPr lang="en-US" b="0" dirty="0"/>
              <a:t> </a:t>
            </a:r>
            <a:r>
              <a:rPr lang="en-US" b="0" dirty="0" err="1"/>
              <a:t>вычислительная</a:t>
            </a:r>
            <a:r>
              <a:rPr lang="en-US" b="0" dirty="0"/>
              <a:t> </a:t>
            </a:r>
            <a:r>
              <a:rPr lang="en-US" b="0" dirty="0" err="1"/>
              <a:t>машина</a:t>
            </a:r>
            <a:r>
              <a:rPr lang="en-US" b="0" dirty="0"/>
              <a:t> </a:t>
            </a:r>
            <a:r>
              <a:rPr lang="en-US" b="0" dirty="0" err="1"/>
              <a:t>может</a:t>
            </a:r>
            <a:r>
              <a:rPr lang="en-US" b="0" dirty="0"/>
              <a:t> </a:t>
            </a:r>
            <a:r>
              <a:rPr lang="en-US" b="0" dirty="0" err="1"/>
              <a:t>ничего</a:t>
            </a:r>
            <a:r>
              <a:rPr lang="en-US" b="0" dirty="0"/>
              <a:t> </a:t>
            </a:r>
            <a:r>
              <a:rPr lang="en-US" b="0" dirty="0" err="1"/>
              <a:t>не</a:t>
            </a:r>
            <a:r>
              <a:rPr lang="en-US" b="0" dirty="0"/>
              <a:t> </a:t>
            </a:r>
            <a:r>
              <a:rPr lang="en-US" b="0" dirty="0" err="1"/>
              <a:t>делать</a:t>
            </a:r>
            <a:r>
              <a:rPr lang="en-US" b="0" dirty="0"/>
              <a:t>.</a:t>
            </a:r>
            <a:endParaRPr lang="ru-RU" b="0" dirty="0"/>
          </a:p>
          <a:p>
            <a:endParaRPr lang="en-US" b="0" dirty="0"/>
          </a:p>
          <a:p>
            <a:r>
              <a:rPr lang="en-US" b="0" dirty="0" err="1"/>
              <a:t>Идея</a:t>
            </a:r>
            <a:r>
              <a:rPr lang="en-US" b="0" dirty="0"/>
              <a:t> </a:t>
            </a:r>
            <a:r>
              <a:rPr lang="en-US" b="0" dirty="0" err="1"/>
              <a:t>пакетной</a:t>
            </a:r>
            <a:r>
              <a:rPr lang="en-US" b="0" dirty="0"/>
              <a:t> </a:t>
            </a:r>
            <a:r>
              <a:rPr lang="en-US" b="0" dirty="0" err="1"/>
              <a:t>обработки</a:t>
            </a:r>
            <a:r>
              <a:rPr lang="en-US" b="0" dirty="0"/>
              <a:t> </a:t>
            </a:r>
            <a:r>
              <a:rPr lang="en-US" b="0" dirty="0" err="1"/>
              <a:t>была</a:t>
            </a:r>
            <a:r>
              <a:rPr lang="en-US" b="0" dirty="0"/>
              <a:t> в </a:t>
            </a:r>
            <a:r>
              <a:rPr lang="en-US" b="0" dirty="0" err="1"/>
              <a:t>том</a:t>
            </a:r>
            <a:r>
              <a:rPr lang="en-US" b="0" dirty="0"/>
              <a:t>, </a:t>
            </a:r>
            <a:r>
              <a:rPr lang="en-US" b="0" dirty="0" err="1"/>
              <a:t>чтобы</a:t>
            </a:r>
            <a:r>
              <a:rPr lang="en-US" b="0" dirty="0"/>
              <a:t> </a:t>
            </a:r>
            <a:r>
              <a:rPr lang="en-US" b="0" dirty="0" err="1"/>
              <a:t>отделить</a:t>
            </a:r>
            <a:r>
              <a:rPr lang="en-US" b="0" dirty="0"/>
              <a:t> </a:t>
            </a:r>
            <a:r>
              <a:rPr lang="en-US" b="0" dirty="0" err="1"/>
              <a:t>медленный</a:t>
            </a:r>
            <a:r>
              <a:rPr lang="en-US" b="0" dirty="0"/>
              <a:t> </a:t>
            </a:r>
            <a:r>
              <a:rPr lang="en-US" b="0" dirty="0" err="1"/>
              <a:t>ввод-вывод</a:t>
            </a:r>
            <a:r>
              <a:rPr lang="en-US" b="0" dirty="0"/>
              <a:t> </a:t>
            </a:r>
            <a:r>
              <a:rPr lang="en-US" b="0" dirty="0" err="1"/>
              <a:t>от</a:t>
            </a:r>
            <a:r>
              <a:rPr lang="en-US" b="0" dirty="0"/>
              <a:t> </a:t>
            </a:r>
            <a:r>
              <a:rPr lang="en-US" b="0" dirty="0" err="1"/>
              <a:t>вычислений</a:t>
            </a:r>
            <a:r>
              <a:rPr lang="en-US" b="0" dirty="0"/>
              <a:t>.</a:t>
            </a:r>
            <a:endParaRPr lang="ru-RU" b="0" dirty="0"/>
          </a:p>
          <a:p>
            <a:endParaRPr lang="en-US" b="0" dirty="0"/>
          </a:p>
          <a:p>
            <a:r>
              <a:rPr lang="en-US" b="0" dirty="0" err="1"/>
              <a:t>Более</a:t>
            </a:r>
            <a:r>
              <a:rPr lang="en-US" b="0" dirty="0"/>
              <a:t> </a:t>
            </a:r>
            <a:r>
              <a:rPr lang="en-US" b="0" dirty="0" err="1"/>
              <a:t>дешёвая</a:t>
            </a:r>
            <a:r>
              <a:rPr lang="en-US" b="0" dirty="0"/>
              <a:t> </a:t>
            </a:r>
            <a:r>
              <a:rPr lang="en-US" b="0" dirty="0" err="1"/>
              <a:t>машина</a:t>
            </a:r>
            <a:r>
              <a:rPr lang="en-US" b="0" dirty="0"/>
              <a:t> </a:t>
            </a:r>
            <a:r>
              <a:rPr lang="en-US" b="0" dirty="0" err="1"/>
              <a:t>считывала</a:t>
            </a:r>
            <a:r>
              <a:rPr lang="en-US" b="0" dirty="0"/>
              <a:t> </a:t>
            </a:r>
            <a:r>
              <a:rPr lang="en-US" b="0" dirty="0" err="1"/>
              <a:t>много</a:t>
            </a:r>
            <a:r>
              <a:rPr lang="en-US" b="0" dirty="0"/>
              <a:t> </a:t>
            </a:r>
            <a:r>
              <a:rPr lang="en-US" b="0" dirty="0" err="1"/>
              <a:t>заданий</a:t>
            </a:r>
            <a:r>
              <a:rPr lang="en-US" b="0" dirty="0"/>
              <a:t> с </a:t>
            </a:r>
            <a:r>
              <a:rPr lang="en-US" b="0" dirty="0" err="1"/>
              <a:t>перфокарт</a:t>
            </a:r>
            <a:r>
              <a:rPr lang="en-US" b="0" dirty="0"/>
              <a:t> и </a:t>
            </a:r>
            <a:r>
              <a:rPr lang="en-US" b="0" dirty="0" err="1"/>
              <a:t>записывала</a:t>
            </a:r>
            <a:r>
              <a:rPr lang="en-US" b="0" dirty="0"/>
              <a:t> </a:t>
            </a:r>
            <a:r>
              <a:rPr lang="en-US" b="0" dirty="0" err="1"/>
              <a:t>их</a:t>
            </a:r>
            <a:r>
              <a:rPr lang="en-US" b="0" dirty="0"/>
              <a:t> </a:t>
            </a:r>
            <a:r>
              <a:rPr lang="en-US" b="0" dirty="0" err="1"/>
              <a:t>на</a:t>
            </a:r>
            <a:r>
              <a:rPr lang="en-US" b="0" dirty="0"/>
              <a:t> </a:t>
            </a:r>
            <a:r>
              <a:rPr lang="en-US" b="0" dirty="0" err="1"/>
              <a:t>магнитную</a:t>
            </a:r>
            <a:r>
              <a:rPr lang="en-US" b="0" dirty="0"/>
              <a:t> </a:t>
            </a:r>
            <a:r>
              <a:rPr lang="en-US" b="0" dirty="0" err="1"/>
              <a:t>ленту</a:t>
            </a:r>
            <a:r>
              <a:rPr lang="en-US" b="0" dirty="0"/>
              <a:t>. </a:t>
            </a:r>
            <a:r>
              <a:rPr lang="en-US" b="0" dirty="0" err="1"/>
              <a:t>Затем</a:t>
            </a:r>
            <a:r>
              <a:rPr lang="en-US" b="0" dirty="0"/>
              <a:t> </a:t>
            </a:r>
            <a:r>
              <a:rPr lang="en-US" b="0" dirty="0" err="1"/>
              <a:t>вычислительный</a:t>
            </a:r>
            <a:r>
              <a:rPr lang="en-US" b="0" dirty="0"/>
              <a:t> </a:t>
            </a:r>
            <a:r>
              <a:rPr lang="en-US" b="0" dirty="0" err="1"/>
              <a:t>мейнфрейм</a:t>
            </a:r>
            <a:r>
              <a:rPr lang="en-US" b="0" dirty="0"/>
              <a:t> </a:t>
            </a:r>
            <a:r>
              <a:rPr lang="en-US" b="0" dirty="0" err="1"/>
              <a:t>получал</a:t>
            </a:r>
            <a:r>
              <a:rPr lang="en-US" b="0" dirty="0"/>
              <a:t> </a:t>
            </a:r>
            <a:r>
              <a:rPr lang="en-US" b="0" dirty="0" err="1"/>
              <a:t>сразу</a:t>
            </a:r>
            <a:r>
              <a:rPr lang="en-US" b="0" dirty="0"/>
              <a:t> </a:t>
            </a:r>
            <a:r>
              <a:rPr lang="en-US" b="0" dirty="0" err="1"/>
              <a:t>целый</a:t>
            </a:r>
            <a:r>
              <a:rPr lang="en-US" b="0" dirty="0"/>
              <a:t> </a:t>
            </a:r>
            <a:r>
              <a:rPr lang="en-US" b="0" dirty="0" err="1"/>
              <a:t>пакет</a:t>
            </a:r>
            <a:r>
              <a:rPr lang="en-US" b="0" dirty="0"/>
              <a:t> и </a:t>
            </a:r>
            <a:r>
              <a:rPr lang="en-US" b="0" dirty="0" err="1"/>
              <a:t>автоматически</a:t>
            </a:r>
            <a:r>
              <a:rPr lang="en-US" b="0" dirty="0"/>
              <a:t> </a:t>
            </a:r>
            <a:r>
              <a:rPr lang="en-US" b="0" dirty="0" err="1"/>
              <a:t>выполнял</a:t>
            </a:r>
            <a:r>
              <a:rPr lang="en-US" b="0" dirty="0"/>
              <a:t> </a:t>
            </a:r>
            <a:r>
              <a:rPr lang="en-US" b="0" dirty="0" err="1"/>
              <a:t>задания</a:t>
            </a:r>
            <a:r>
              <a:rPr lang="en-US" b="0" dirty="0"/>
              <a:t> </a:t>
            </a:r>
            <a:r>
              <a:rPr lang="en-US" b="0" dirty="0" err="1"/>
              <a:t>одно</a:t>
            </a:r>
            <a:r>
              <a:rPr lang="en-US" b="0" dirty="0"/>
              <a:t> </a:t>
            </a:r>
            <a:r>
              <a:rPr lang="en-US" b="0" dirty="0" err="1"/>
              <a:t>за</a:t>
            </a:r>
            <a:r>
              <a:rPr lang="en-US" b="0" dirty="0"/>
              <a:t> </a:t>
            </a:r>
            <a:r>
              <a:rPr lang="en-US" b="0" dirty="0" err="1"/>
              <a:t>другим</a:t>
            </a:r>
            <a:r>
              <a:rPr lang="en-US" b="0" dirty="0"/>
              <a:t>, </a:t>
            </a:r>
            <a:r>
              <a:rPr lang="en-US" b="0" dirty="0" err="1"/>
              <a:t>записывая</a:t>
            </a:r>
            <a:r>
              <a:rPr lang="en-US" b="0" dirty="0"/>
              <a:t> </a:t>
            </a:r>
            <a:r>
              <a:rPr lang="en-US" b="0" dirty="0" err="1"/>
              <a:t>результаты</a:t>
            </a:r>
            <a:r>
              <a:rPr lang="en-US" b="0" dirty="0"/>
              <a:t> </a:t>
            </a:r>
            <a:r>
              <a:rPr lang="en-US" b="0" dirty="0" err="1"/>
              <a:t>на</a:t>
            </a:r>
            <a:r>
              <a:rPr lang="en-US" b="0" dirty="0"/>
              <a:t> </a:t>
            </a:r>
            <a:r>
              <a:rPr lang="en-US" b="0" dirty="0" err="1"/>
              <a:t>другую</a:t>
            </a:r>
            <a:r>
              <a:rPr lang="en-US" b="0" dirty="0"/>
              <a:t> </a:t>
            </a:r>
            <a:r>
              <a:rPr lang="en-US" b="0" dirty="0" err="1"/>
              <a:t>ленту</a:t>
            </a:r>
            <a:r>
              <a:rPr lang="en-US" b="0" dirty="0"/>
              <a:t>.</a:t>
            </a:r>
          </a:p>
          <a:p>
            <a:endParaRPr lang="ru-RU" b="0" dirty="0"/>
          </a:p>
          <a:p>
            <a:r>
              <a:rPr lang="en-US" b="0" dirty="0" err="1"/>
              <a:t>После</a:t>
            </a:r>
            <a:r>
              <a:rPr lang="en-US" b="0" dirty="0"/>
              <a:t> </a:t>
            </a:r>
            <a:r>
              <a:rPr lang="en-US" b="0" dirty="0" err="1"/>
              <a:t>этого</a:t>
            </a:r>
            <a:r>
              <a:rPr lang="en-US" b="0" dirty="0"/>
              <a:t> </a:t>
            </a:r>
            <a:r>
              <a:rPr lang="en-US" b="0" dirty="0" err="1"/>
              <a:t>отдельная</a:t>
            </a:r>
            <a:r>
              <a:rPr lang="en-US" b="0" dirty="0"/>
              <a:t> </a:t>
            </a:r>
            <a:r>
              <a:rPr lang="en-US" b="0" dirty="0" err="1"/>
              <a:t>машина</a:t>
            </a:r>
            <a:r>
              <a:rPr lang="en-US" b="0" dirty="0"/>
              <a:t> </a:t>
            </a:r>
            <a:r>
              <a:rPr lang="en-US" b="0" dirty="0" err="1"/>
              <a:t>уже</a:t>
            </a:r>
            <a:r>
              <a:rPr lang="en-US" b="0" dirty="0"/>
              <a:t> </a:t>
            </a:r>
            <a:r>
              <a:rPr lang="en-US" b="0" dirty="0" err="1"/>
              <a:t>занималась</a:t>
            </a:r>
            <a:r>
              <a:rPr lang="en-US" b="0" dirty="0"/>
              <a:t> </a:t>
            </a:r>
            <a:r>
              <a:rPr lang="en-US" b="0" dirty="0" err="1"/>
              <a:t>печатью</a:t>
            </a:r>
            <a:r>
              <a:rPr lang="en-US" b="0" dirty="0"/>
              <a:t> </a:t>
            </a:r>
            <a:r>
              <a:rPr lang="en-US" b="0" dirty="0" err="1"/>
              <a:t>результатов</a:t>
            </a:r>
            <a:r>
              <a:rPr lang="en-US" b="0" dirty="0"/>
              <a:t>.</a:t>
            </a:r>
          </a:p>
          <a:p>
            <a:r>
              <a:rPr lang="en-US" b="0" dirty="0" err="1"/>
              <a:t>Главный</a:t>
            </a:r>
            <a:r>
              <a:rPr lang="en-US" b="0" dirty="0"/>
              <a:t> </a:t>
            </a:r>
            <a:r>
              <a:rPr lang="en-US" b="0" dirty="0" err="1"/>
              <a:t>эффект</a:t>
            </a:r>
            <a:r>
              <a:rPr lang="en-US" b="0" dirty="0"/>
              <a:t> — </a:t>
            </a:r>
            <a:r>
              <a:rPr lang="en-US" b="0" dirty="0" err="1"/>
              <a:t>процессор</a:t>
            </a:r>
            <a:r>
              <a:rPr lang="en-US" b="0" dirty="0"/>
              <a:t> </a:t>
            </a:r>
            <a:r>
              <a:rPr lang="en-US" b="0" dirty="0" err="1"/>
              <a:t>меньше</a:t>
            </a:r>
            <a:r>
              <a:rPr lang="en-US" b="0" dirty="0"/>
              <a:t> </a:t>
            </a:r>
            <a:r>
              <a:rPr lang="en-US" b="0" dirty="0" err="1"/>
              <a:t>простаивает</a:t>
            </a:r>
            <a:r>
              <a:rPr lang="en-US" b="0" dirty="0"/>
              <a:t>, а </a:t>
            </a:r>
            <a:r>
              <a:rPr lang="en-US" b="0" dirty="0" err="1"/>
              <a:t>система</a:t>
            </a:r>
            <a:r>
              <a:rPr lang="en-US" b="0" dirty="0"/>
              <a:t> </a:t>
            </a:r>
            <a:r>
              <a:rPr lang="en-US" b="0" dirty="0" err="1"/>
              <a:t>выполняет</a:t>
            </a:r>
            <a:r>
              <a:rPr lang="en-US" b="0" dirty="0"/>
              <a:t> </a:t>
            </a:r>
            <a:r>
              <a:rPr lang="en-US" b="0" dirty="0" err="1"/>
              <a:t>больше</a:t>
            </a:r>
            <a:r>
              <a:rPr lang="en-US" b="0" dirty="0"/>
              <a:t> </a:t>
            </a:r>
            <a:r>
              <a:rPr lang="en-US" b="0" dirty="0" err="1"/>
              <a:t>заданий</a:t>
            </a:r>
            <a:r>
              <a:rPr lang="en-US" b="0" dirty="0"/>
              <a:t> </a:t>
            </a:r>
            <a:r>
              <a:rPr lang="en-US" b="0" dirty="0" err="1"/>
              <a:t>за</a:t>
            </a:r>
            <a:r>
              <a:rPr lang="en-US" b="0" dirty="0"/>
              <a:t> </a:t>
            </a:r>
            <a:r>
              <a:rPr lang="en-US" b="0" dirty="0" err="1"/>
              <a:t>единицу</a:t>
            </a:r>
            <a:r>
              <a:rPr lang="en-US" b="0" dirty="0"/>
              <a:t> </a:t>
            </a:r>
            <a:r>
              <a:rPr lang="en-US" b="0" dirty="0" err="1"/>
              <a:t>времени</a:t>
            </a:r>
            <a:r>
              <a:rPr lang="en-US" b="0" dirty="0"/>
              <a:t>.</a:t>
            </a:r>
          </a:p>
          <a:p>
            <a:endParaRPr lang="ru-RU" b="0" dirty="0"/>
          </a:p>
          <a:p>
            <a:r>
              <a:rPr lang="en-US" b="0" dirty="0" err="1"/>
              <a:t>Но</a:t>
            </a:r>
            <a:r>
              <a:rPr lang="en-US" b="0" dirty="0"/>
              <a:t> </a:t>
            </a:r>
            <a:r>
              <a:rPr lang="en-US" b="0" dirty="0" err="1"/>
              <a:t>для</a:t>
            </a:r>
            <a:r>
              <a:rPr lang="en-US" b="0" dirty="0"/>
              <a:t> </a:t>
            </a:r>
            <a:r>
              <a:rPr lang="en-US" b="0" dirty="0" err="1"/>
              <a:t>программиста</a:t>
            </a:r>
            <a:r>
              <a:rPr lang="en-US" b="0" dirty="0"/>
              <a:t> </a:t>
            </a:r>
            <a:r>
              <a:rPr lang="en-US" b="0" dirty="0" err="1"/>
              <a:t>это</a:t>
            </a:r>
            <a:r>
              <a:rPr lang="en-US" b="0" dirty="0"/>
              <a:t> </a:t>
            </a:r>
            <a:r>
              <a:rPr lang="en-US" b="0" dirty="0" err="1"/>
              <a:t>не</a:t>
            </a:r>
            <a:r>
              <a:rPr lang="en-US" b="0" dirty="0"/>
              <a:t> </a:t>
            </a:r>
            <a:r>
              <a:rPr lang="en-US" b="0" dirty="0" err="1"/>
              <a:t>всегда</a:t>
            </a:r>
            <a:r>
              <a:rPr lang="en-US" b="0" dirty="0"/>
              <a:t> </a:t>
            </a:r>
            <a:r>
              <a:rPr lang="en-US" b="0" dirty="0" err="1"/>
              <a:t>было</a:t>
            </a:r>
            <a:r>
              <a:rPr lang="en-US" b="0" dirty="0"/>
              <a:t> </a:t>
            </a:r>
            <a:r>
              <a:rPr lang="en-US" b="0" dirty="0" err="1"/>
              <a:t>удобнее</a:t>
            </a:r>
            <a:r>
              <a:rPr lang="en-US" b="0" dirty="0"/>
              <a:t>: </a:t>
            </a:r>
            <a:r>
              <a:rPr lang="en-US" b="0" dirty="0" err="1"/>
              <a:t>конкретный</a:t>
            </a:r>
            <a:r>
              <a:rPr lang="en-US" b="0" dirty="0"/>
              <a:t> </a:t>
            </a:r>
            <a:r>
              <a:rPr lang="en-US" b="0" dirty="0" err="1"/>
              <a:t>результат</a:t>
            </a:r>
            <a:r>
              <a:rPr lang="en-US" b="0" dirty="0"/>
              <a:t> </a:t>
            </a:r>
            <a:r>
              <a:rPr lang="en-US" b="0" dirty="0" err="1"/>
              <a:t>можно</a:t>
            </a:r>
            <a:r>
              <a:rPr lang="en-US" b="0" dirty="0"/>
              <a:t> </a:t>
            </a:r>
            <a:r>
              <a:rPr lang="en-US" b="0" dirty="0" err="1"/>
              <a:t>было</a:t>
            </a:r>
            <a:r>
              <a:rPr lang="en-US" b="0" dirty="0"/>
              <a:t> </a:t>
            </a:r>
            <a:r>
              <a:rPr lang="en-US" b="0" dirty="0" err="1"/>
              <a:t>ждать</a:t>
            </a:r>
            <a:r>
              <a:rPr lang="en-US" b="0" dirty="0"/>
              <a:t> </a:t>
            </a:r>
            <a:r>
              <a:rPr lang="en-US" b="0" dirty="0" err="1"/>
              <a:t>дольше</a:t>
            </a:r>
            <a:r>
              <a:rPr lang="en-US" b="0" dirty="0"/>
              <a:t>.</a:t>
            </a:r>
          </a:p>
          <a:p>
            <a:endParaRPr lang="ru-RU" b="0" dirty="0"/>
          </a:p>
          <a:p>
            <a:r>
              <a:rPr lang="ru-RU" b="0" dirty="0"/>
              <a:t>Идея: с</a:t>
            </a:r>
            <a:r>
              <a:rPr lang="en-US" b="0" dirty="0" err="1"/>
              <a:t>пециальная</a:t>
            </a:r>
            <a:r>
              <a:rPr lang="en-US" b="0" dirty="0"/>
              <a:t> </a:t>
            </a:r>
            <a:r>
              <a:rPr lang="en-US" b="0" dirty="0" err="1"/>
              <a:t>управляющая</a:t>
            </a:r>
            <a:r>
              <a:rPr lang="en-US" b="0" dirty="0"/>
              <a:t> </a:t>
            </a:r>
            <a:r>
              <a:rPr lang="en-US" b="0" dirty="0" err="1"/>
              <a:t>программа</a:t>
            </a:r>
            <a:r>
              <a:rPr lang="en-US" b="0" dirty="0"/>
              <a:t> </a:t>
            </a:r>
            <a:r>
              <a:rPr lang="en-US" b="0" dirty="0" err="1"/>
              <a:t>начинает</a:t>
            </a:r>
            <a:r>
              <a:rPr lang="en-US" b="0" dirty="0"/>
              <a:t> </a:t>
            </a:r>
            <a:r>
              <a:rPr lang="en-US" b="0" dirty="0" err="1"/>
              <a:t>автоматически</a:t>
            </a:r>
            <a:r>
              <a:rPr lang="en-US" b="0" dirty="0"/>
              <a:t> </a:t>
            </a:r>
            <a:r>
              <a:rPr lang="en-US" b="0" dirty="0" err="1"/>
              <a:t>запускать</a:t>
            </a:r>
            <a:r>
              <a:rPr lang="en-US" b="0" dirty="0"/>
              <a:t> </a:t>
            </a:r>
            <a:r>
              <a:rPr lang="en-US" b="0" dirty="0" err="1"/>
              <a:t>задания</a:t>
            </a:r>
            <a:r>
              <a:rPr lang="en-US" b="0" dirty="0"/>
              <a:t> и </a:t>
            </a:r>
            <a:r>
              <a:rPr lang="en-US" b="0" dirty="0" err="1"/>
              <a:t>управлять</a:t>
            </a:r>
            <a:r>
              <a:rPr lang="en-US" b="0" dirty="0"/>
              <a:t> </a:t>
            </a:r>
            <a:r>
              <a:rPr lang="en-US" b="0" dirty="0" err="1"/>
              <a:t>порядком</a:t>
            </a:r>
            <a:r>
              <a:rPr lang="en-US" b="0" dirty="0"/>
              <a:t> </a:t>
            </a:r>
            <a:r>
              <a:rPr lang="en-US" b="0" dirty="0" err="1"/>
              <a:t>их</a:t>
            </a:r>
            <a:r>
              <a:rPr lang="en-US" b="0" dirty="0"/>
              <a:t> </a:t>
            </a:r>
            <a:r>
              <a:rPr lang="en-US" b="0" dirty="0" err="1"/>
              <a:t>выполнения</a:t>
            </a:r>
            <a:r>
              <a:rPr lang="en-US" b="0" dirty="0"/>
              <a:t>. Это </a:t>
            </a:r>
            <a:r>
              <a:rPr lang="en-US" b="0" dirty="0" err="1"/>
              <a:t>уже</a:t>
            </a:r>
            <a:r>
              <a:rPr lang="en-US" b="0" dirty="0"/>
              <a:t> </a:t>
            </a:r>
            <a:r>
              <a:rPr lang="en-US" b="0" dirty="0" err="1"/>
              <a:t>один</a:t>
            </a:r>
            <a:r>
              <a:rPr lang="en-US" b="0" dirty="0"/>
              <a:t> </a:t>
            </a:r>
            <a:r>
              <a:rPr lang="en-US" b="0" dirty="0" err="1"/>
              <a:t>из</a:t>
            </a:r>
            <a:r>
              <a:rPr lang="en-US" b="0" dirty="0"/>
              <a:t> </a:t>
            </a:r>
            <a:r>
              <a:rPr lang="en-US" b="0" dirty="0" err="1"/>
              <a:t>шагов</a:t>
            </a:r>
            <a:r>
              <a:rPr lang="en-US" b="0" dirty="0"/>
              <a:t> к </a:t>
            </a:r>
            <a:r>
              <a:rPr lang="en-US" b="0" dirty="0" err="1"/>
              <a:t>появлению</a:t>
            </a:r>
            <a:r>
              <a:rPr lang="en-US" b="0" dirty="0"/>
              <a:t> </a:t>
            </a:r>
            <a:r>
              <a:rPr lang="en-US" b="0" dirty="0" err="1"/>
              <a:t>операционных</a:t>
            </a:r>
            <a:r>
              <a:rPr lang="en-US" b="0" dirty="0"/>
              <a:t> </a:t>
            </a:r>
            <a:r>
              <a:rPr lang="en-US" b="0" dirty="0" err="1"/>
              <a:t>систем</a:t>
            </a:r>
            <a:r>
              <a:rPr lang="en-US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10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</a:t>
            </a:r>
            <a:r>
              <a:rPr lang="en-US" dirty="0" err="1"/>
              <a:t>середине</a:t>
            </a:r>
            <a:r>
              <a:rPr lang="en-US" dirty="0"/>
              <a:t> 1960-х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мощнее</a:t>
            </a:r>
            <a:r>
              <a:rPr lang="en-US" dirty="0"/>
              <a:t>, и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пакетных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IBM </a:t>
            </a:r>
            <a:r>
              <a:rPr lang="en-US" dirty="0" err="1"/>
              <a:t>выпускает</a:t>
            </a:r>
            <a:r>
              <a:rPr lang="en-US" dirty="0"/>
              <a:t> System/360 — </a:t>
            </a:r>
            <a:r>
              <a:rPr lang="en-US" dirty="0" err="1"/>
              <a:t>семейство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r>
              <a:rPr lang="en-US" dirty="0"/>
              <a:t> </a:t>
            </a:r>
            <a:r>
              <a:rPr lang="en-US" dirty="0" err="1"/>
              <a:t>разной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, </a:t>
            </a:r>
            <a:r>
              <a:rPr lang="en-US" dirty="0" err="1"/>
              <a:t>совместимых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OS/360, и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и </a:t>
            </a:r>
            <a:r>
              <a:rPr lang="en-US" dirty="0" err="1"/>
              <a:t>сложным</a:t>
            </a:r>
            <a:r>
              <a:rPr lang="en-US" dirty="0"/>
              <a:t> </a:t>
            </a:r>
            <a:r>
              <a:rPr lang="en-US" dirty="0" err="1"/>
              <a:t>программным</a:t>
            </a:r>
            <a:r>
              <a:rPr lang="en-US" dirty="0"/>
              <a:t> </a:t>
            </a:r>
            <a:r>
              <a:rPr lang="en-US" dirty="0" err="1"/>
              <a:t>продуктом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нововведений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мультипрограммирование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простаивает</a:t>
            </a:r>
            <a:r>
              <a:rPr lang="en-US" dirty="0"/>
              <a:t>, а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Появляется</a:t>
            </a:r>
            <a:r>
              <a:rPr lang="en-US" dirty="0"/>
              <a:t> и spooling: </a:t>
            </a:r>
            <a:r>
              <a:rPr lang="en-US" dirty="0" err="1"/>
              <a:t>задания</a:t>
            </a:r>
            <a:r>
              <a:rPr lang="en-US" dirty="0"/>
              <a:t> и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 и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ставить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ОС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 в </a:t>
            </a:r>
            <a:r>
              <a:rPr lang="en-US" dirty="0" err="1"/>
              <a:t>полноценного</a:t>
            </a:r>
            <a:r>
              <a:rPr lang="en-US" dirty="0"/>
              <a:t> </a:t>
            </a:r>
            <a:r>
              <a:rPr lang="en-US" b="1" dirty="0" err="1"/>
              <a:t>менеджера</a:t>
            </a:r>
            <a:r>
              <a:rPr lang="en-US" b="1" dirty="0"/>
              <a:t> </a:t>
            </a:r>
            <a:r>
              <a:rPr lang="en-US" b="1" dirty="0" err="1"/>
              <a:t>ресурсов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32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Мультипрограммирование улучшило использование процессора, но не решило другую проблему пакетных систем — очень медленную обратную связь.</a:t>
            </a:r>
          </a:p>
          <a:p>
            <a:endParaRPr lang="ru-RU" noProof="0" dirty="0"/>
          </a:p>
          <a:p>
            <a:r>
              <a:rPr lang="ru-RU" noProof="0" dirty="0"/>
              <a:t>Если программист сделал небольшую ошибку, он мог узнать о ней только через несколько часов.</a:t>
            </a:r>
          </a:p>
          <a:p>
            <a:r>
              <a:rPr lang="ru-RU" noProof="0" dirty="0"/>
              <a:t>Ответом стал </a:t>
            </a:r>
            <a:r>
              <a:rPr lang="ru-RU" b="1" noProof="0" dirty="0" err="1"/>
              <a:t>таймшеринг</a:t>
            </a:r>
            <a:r>
              <a:rPr lang="ru-RU" noProof="0" dirty="0"/>
              <a:t>. Пользователи подключались к одному большому компьютеру через терминалы, а ОС быстро переключала процессор между ними. Возникало ощущение персональной работы с компьютером.</a:t>
            </a:r>
          </a:p>
          <a:p>
            <a:endParaRPr lang="ru-RU" noProof="0" dirty="0"/>
          </a:p>
          <a:p>
            <a:r>
              <a:rPr lang="ru-RU" noProof="0" dirty="0"/>
              <a:t>Одним из самых амбициозных проектов был MULTICS. В нём появились развитые механизмы защиты, виртуальной памяти и многопользовательской работы.</a:t>
            </a:r>
          </a:p>
          <a:p>
            <a:endParaRPr lang="ru-RU" noProof="0" dirty="0"/>
          </a:p>
          <a:p>
            <a:r>
              <a:rPr lang="ru-RU" noProof="0" dirty="0"/>
              <a:t>Сам MULTICS не стал массовой системой, но многие его идеи оказали огромное влияние на последующие ОС — прежде всего на UNIX.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47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В конце 1960-х в Bell Labs возникает UNIX. В некотором смысле это была реакция на сложность MULTICS: разработчики хотели получить значительно более компактную систему, сохранив полезные идеи.</a:t>
            </a:r>
          </a:p>
          <a:p>
            <a:endParaRPr lang="ru-RU" noProof="0" dirty="0"/>
          </a:p>
          <a:p>
            <a:r>
              <a:rPr lang="ru-RU" noProof="0" dirty="0"/>
              <a:t>UNIX оказал большое влияние, в том числе за счёт того, что значительная его часть была написана на языке C, поэтому систему стало проще переносить на разные компьютеры.</a:t>
            </a:r>
          </a:p>
          <a:p>
            <a:endParaRPr lang="ru-RU" noProof="0" dirty="0"/>
          </a:p>
          <a:p>
            <a:r>
              <a:rPr lang="ru-RU" noProof="0" dirty="0"/>
              <a:t>Со временем возникло много UNIX-систем, и между ними начали появляться различия. Для решения этой проблемы появился стандарт POSIX. Он определяет общий программный интерфейс, на который может рассчитывать разработчик.</a:t>
            </a:r>
          </a:p>
          <a:p>
            <a:endParaRPr lang="ru-RU" noProof="0" dirty="0"/>
          </a:p>
          <a:p>
            <a:r>
              <a:rPr lang="ru-RU" noProof="0" dirty="0"/>
              <a:t>Позже появляется учебная система MINIX, а в 1991 году Линус Торвальдс начинает разработку Linux.</a:t>
            </a:r>
          </a:p>
          <a:p>
            <a:endParaRPr lang="ru-RU" noProof="0" dirty="0"/>
          </a:p>
          <a:p>
            <a:r>
              <a:rPr lang="ru-RU" noProof="0" dirty="0"/>
              <a:t>Сегодня именно UNIX-подобный подход мы видим в Linux, BSD и </a:t>
            </a:r>
            <a:r>
              <a:rPr lang="ru-RU" noProof="0" dirty="0" err="1"/>
              <a:t>macOS</a:t>
            </a:r>
            <a:r>
              <a:rPr lang="ru-RU" noProof="0" dirty="0"/>
              <a:t>, а Linux стал фундаментом серверной и облачной инфраструктуры и используется в </a:t>
            </a:r>
            <a:r>
              <a:rPr lang="ru-RU" noProof="0" dirty="0" err="1"/>
              <a:t>Android</a:t>
            </a:r>
            <a:r>
              <a:rPr lang="ru-RU" noProof="0" dirty="0"/>
              <a:t> и встраиваемых устройствах.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77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1970-х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принципиальный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интегральным</a:t>
            </a:r>
            <a:r>
              <a:rPr lang="en-US" dirty="0"/>
              <a:t> </a:t>
            </a:r>
            <a:r>
              <a:rPr lang="en-US" dirty="0" err="1"/>
              <a:t>схемам</a:t>
            </a:r>
            <a:r>
              <a:rPr lang="en-US" dirty="0"/>
              <a:t> </a:t>
            </a:r>
            <a:r>
              <a:rPr lang="en-US" dirty="0" err="1"/>
              <a:t>целый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 </a:t>
            </a:r>
            <a:r>
              <a:rPr lang="en-US" dirty="0" err="1"/>
              <a:t>разместить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кристалле</a:t>
            </a:r>
            <a:r>
              <a:rPr lang="en-US" dirty="0"/>
              <a:t>, и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резко</a:t>
            </a:r>
            <a:r>
              <a:rPr lang="en-US" dirty="0"/>
              <a:t> </a:t>
            </a:r>
            <a:r>
              <a:rPr lang="en-US" dirty="0" err="1"/>
              <a:t>уменьшились</a:t>
            </a:r>
            <a:r>
              <a:rPr lang="en-US" dirty="0"/>
              <a:t> в </a:t>
            </a:r>
            <a:r>
              <a:rPr lang="en-US" dirty="0" err="1"/>
              <a:t>цене</a:t>
            </a:r>
            <a:r>
              <a:rPr lang="en-US" dirty="0"/>
              <a:t> и </a:t>
            </a:r>
            <a:r>
              <a:rPr lang="en-US" dirty="0" err="1"/>
              <a:t>размерах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микрокомпьютеры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ранних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 — Altair 8800.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машин</a:t>
            </a:r>
            <a:r>
              <a:rPr lang="en-US" dirty="0"/>
              <a:t> </a:t>
            </a:r>
            <a:r>
              <a:rPr lang="en-US" dirty="0" err="1"/>
              <a:t>понадобились</a:t>
            </a:r>
            <a:r>
              <a:rPr lang="en-US" dirty="0"/>
              <a:t> и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влиятельных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CP/M </a:t>
            </a:r>
            <a:r>
              <a:rPr lang="en-US" dirty="0" err="1"/>
              <a:t>Гэри</a:t>
            </a:r>
            <a:r>
              <a:rPr lang="en-US" dirty="0"/>
              <a:t> </a:t>
            </a:r>
            <a:r>
              <a:rPr lang="en-US" dirty="0" err="1"/>
              <a:t>Килдалла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использовалась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множестве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r>
              <a:rPr lang="en-US" dirty="0"/>
              <a:t> с </a:t>
            </a:r>
            <a:r>
              <a:rPr lang="en-US" dirty="0" err="1"/>
              <a:t>процессорами</a:t>
            </a:r>
            <a:r>
              <a:rPr lang="en-US" dirty="0"/>
              <a:t> Intel 8080 и Z80 и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платформой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конца</a:t>
            </a:r>
            <a:r>
              <a:rPr lang="en-US" dirty="0"/>
              <a:t> 1970-х.</a:t>
            </a:r>
          </a:p>
          <a:p>
            <a:endParaRPr lang="ru-RU" dirty="0"/>
          </a:p>
          <a:p>
            <a:r>
              <a:rPr lang="en-US" dirty="0"/>
              <a:t>А в 1981 </a:t>
            </a:r>
            <a:r>
              <a:rPr lang="en-US" dirty="0" err="1"/>
              <a:t>году</a:t>
            </a:r>
            <a:r>
              <a:rPr lang="en-US" dirty="0"/>
              <a:t> IBM </a:t>
            </a:r>
            <a:r>
              <a:rPr lang="en-US" dirty="0" err="1"/>
              <a:t>выпускает</a:t>
            </a:r>
            <a:r>
              <a:rPr lang="en-US" dirty="0"/>
              <a:t> IBM PC.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широкое</a:t>
            </a:r>
            <a:r>
              <a:rPr lang="en-US" dirty="0"/>
              <a:t> </a:t>
            </a:r>
            <a:r>
              <a:rPr lang="en-US" dirty="0" err="1"/>
              <a:t>распространение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PC DOS, </a:t>
            </a:r>
            <a:r>
              <a:rPr lang="en-US" dirty="0" err="1"/>
              <a:t>созданная</a:t>
            </a:r>
            <a:r>
              <a:rPr lang="en-US" dirty="0"/>
              <a:t> Microsoft и </a:t>
            </a:r>
            <a:r>
              <a:rPr lang="en-US" dirty="0" err="1"/>
              <a:t>известная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компьютерах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MS-DOS.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эпохи</a:t>
            </a:r>
            <a:r>
              <a:rPr lang="en-US" dirty="0"/>
              <a:t> — </a:t>
            </a:r>
            <a:r>
              <a:rPr lang="en-US" b="1" dirty="0" err="1"/>
              <a:t>компьютером</a:t>
            </a:r>
            <a:r>
              <a:rPr lang="en-US" b="1" dirty="0"/>
              <a:t> </a:t>
            </a:r>
            <a:r>
              <a:rPr lang="en-US" b="1" dirty="0" err="1"/>
              <a:t>теперь</a:t>
            </a:r>
            <a:r>
              <a:rPr lang="en-US" b="1" dirty="0"/>
              <a:t> </a:t>
            </a:r>
            <a:r>
              <a:rPr lang="en-US" b="1" dirty="0" err="1"/>
              <a:t>пользуется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организация</a:t>
            </a:r>
            <a:r>
              <a:rPr lang="en-US" b="1" dirty="0"/>
              <a:t> </a:t>
            </a:r>
            <a:r>
              <a:rPr lang="en-US" b="1" dirty="0" err="1"/>
              <a:t>через</a:t>
            </a:r>
            <a:r>
              <a:rPr lang="en-US" b="1" dirty="0"/>
              <a:t> </a:t>
            </a:r>
            <a:r>
              <a:rPr lang="en-US" b="1" dirty="0" err="1"/>
              <a:t>операторов</a:t>
            </a:r>
            <a:r>
              <a:rPr lang="en-US" b="1" dirty="0"/>
              <a:t> и </a:t>
            </a:r>
            <a:r>
              <a:rPr lang="en-US" b="1" dirty="0" err="1"/>
              <a:t>терминалы</a:t>
            </a:r>
            <a:r>
              <a:rPr lang="en-US" b="1" dirty="0"/>
              <a:t>, а </a:t>
            </a:r>
            <a:r>
              <a:rPr lang="en-US" b="1" dirty="0" err="1"/>
              <a:t>непосредственно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человек</a:t>
            </a:r>
            <a:r>
              <a:rPr lang="en-US" dirty="0"/>
              <a:t>. Это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и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операционным</a:t>
            </a:r>
            <a:r>
              <a:rPr lang="en-US" dirty="0"/>
              <a:t> </a:t>
            </a:r>
            <a:r>
              <a:rPr lang="en-US" dirty="0" err="1"/>
              <a:t>системам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21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массовые</a:t>
            </a:r>
            <a:r>
              <a:rPr lang="en-US" dirty="0"/>
              <a:t> </a:t>
            </a:r>
            <a:r>
              <a:rPr lang="en-US" dirty="0" err="1"/>
              <a:t>персональные</a:t>
            </a:r>
            <a:r>
              <a:rPr lang="en-US" dirty="0"/>
              <a:t> </a:t>
            </a:r>
            <a:r>
              <a:rPr lang="en-US" dirty="0" err="1"/>
              <a:t>компьютеры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текстовый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и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с </a:t>
            </a:r>
            <a:r>
              <a:rPr lang="en-US" dirty="0" err="1"/>
              <a:t>клавиатуры</a:t>
            </a:r>
            <a:r>
              <a:rPr lang="en-US" dirty="0"/>
              <a:t>.</a:t>
            </a:r>
          </a:p>
          <a:p>
            <a:r>
              <a:rPr lang="en-US" dirty="0"/>
              <a:t>В 1960-х </a:t>
            </a:r>
            <a:r>
              <a:rPr lang="en-US" dirty="0" err="1"/>
              <a:t>Дуг</a:t>
            </a:r>
            <a:r>
              <a:rPr lang="ru-RU" dirty="0"/>
              <a:t>лас</a:t>
            </a:r>
            <a:r>
              <a:rPr lang="en-US" dirty="0"/>
              <a:t> </a:t>
            </a:r>
            <a:r>
              <a:rPr lang="en-US" dirty="0" err="1"/>
              <a:t>Энгельбарт</a:t>
            </a:r>
            <a:r>
              <a:rPr lang="en-US" dirty="0"/>
              <a:t> </a:t>
            </a:r>
            <a:r>
              <a:rPr lang="en-US" dirty="0" err="1"/>
              <a:t>показал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современного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— </a:t>
            </a:r>
            <a:r>
              <a:rPr lang="en-US" dirty="0" err="1"/>
              <a:t>мышь</a:t>
            </a:r>
            <a:r>
              <a:rPr lang="en-US" dirty="0"/>
              <a:t>,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гипертекст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развили</a:t>
            </a:r>
            <a:r>
              <a:rPr lang="en-US" dirty="0"/>
              <a:t> в Xerox PARC.</a:t>
            </a:r>
            <a:endParaRPr lang="ru-RU" dirty="0"/>
          </a:p>
          <a:p>
            <a:endParaRPr lang="en-US" dirty="0"/>
          </a:p>
          <a:p>
            <a:r>
              <a:rPr lang="en-US" dirty="0"/>
              <a:t>Apple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попыталась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персональным</a:t>
            </a:r>
            <a:r>
              <a:rPr lang="en-US" dirty="0"/>
              <a:t> </a:t>
            </a:r>
            <a:r>
              <a:rPr lang="en-US" dirty="0" err="1"/>
              <a:t>компьютером</a:t>
            </a:r>
            <a:r>
              <a:rPr lang="en-US" dirty="0"/>
              <a:t>. Lisa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дорогой</a:t>
            </a:r>
            <a:r>
              <a:rPr lang="en-US" dirty="0"/>
              <a:t>, а Macintosh 1984 </a:t>
            </a:r>
            <a:r>
              <a:rPr lang="en-US" dirty="0" err="1"/>
              <a:t>года</a:t>
            </a:r>
            <a:r>
              <a:rPr lang="en-US" dirty="0"/>
              <a:t> </a:t>
            </a:r>
            <a:r>
              <a:rPr lang="en-US" dirty="0" err="1"/>
              <a:t>помог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GUI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массовым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изменило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файлами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интерактивной</a:t>
            </a:r>
            <a:r>
              <a:rPr lang="en-US" dirty="0"/>
              <a:t> </a:t>
            </a:r>
            <a:r>
              <a:rPr lang="en-US" dirty="0" err="1"/>
              <a:t>пользовательской</a:t>
            </a:r>
            <a:r>
              <a:rPr lang="en-US" dirty="0"/>
              <a:t> </a:t>
            </a:r>
            <a:r>
              <a:rPr lang="en-US" dirty="0" err="1"/>
              <a:t>средой</a:t>
            </a:r>
            <a:r>
              <a:rPr lang="en-US" dirty="0"/>
              <a:t>.</a:t>
            </a:r>
          </a:p>
          <a:p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Apple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: в 2001 </a:t>
            </a:r>
            <a:r>
              <a:rPr lang="en-US" dirty="0" err="1"/>
              <a:t>году</a:t>
            </a:r>
            <a:r>
              <a:rPr lang="en-US" dirty="0"/>
              <a:t> </a:t>
            </a:r>
            <a:r>
              <a:rPr lang="en-US" dirty="0" err="1"/>
              <a:t>вышла</a:t>
            </a:r>
            <a:r>
              <a:rPr lang="en-US" dirty="0"/>
              <a:t> Mac OS X с UNIX-</a:t>
            </a:r>
            <a:r>
              <a:rPr lang="en-US" dirty="0" err="1"/>
              <a:t>основой</a:t>
            </a:r>
            <a:r>
              <a:rPr lang="en-US" dirty="0"/>
              <a:t> Darwin и </a:t>
            </a:r>
            <a:r>
              <a:rPr lang="en-US" dirty="0" err="1"/>
              <a:t>ядром</a:t>
            </a:r>
            <a:r>
              <a:rPr lang="en-US" dirty="0"/>
              <a:t> XNU, </a:t>
            </a:r>
            <a:r>
              <a:rPr lang="en-US" dirty="0" err="1"/>
              <a:t>сочетающим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Mach и BSD.</a:t>
            </a:r>
          </a:p>
          <a:p>
            <a:endParaRPr lang="ru-RU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современная</a:t>
            </a:r>
            <a:r>
              <a:rPr lang="en-US" dirty="0"/>
              <a:t> macOS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: </a:t>
            </a:r>
            <a:r>
              <a:rPr lang="en-US" b="1" dirty="0"/>
              <a:t>UNIX-</a:t>
            </a:r>
            <a:r>
              <a:rPr lang="en-US" b="1" dirty="0" err="1"/>
              <a:t>системы</a:t>
            </a:r>
            <a:r>
              <a:rPr lang="en-US" b="1" dirty="0"/>
              <a:t> и </a:t>
            </a:r>
            <a:r>
              <a:rPr lang="en-US" b="1" dirty="0" err="1"/>
              <a:t>графический</a:t>
            </a:r>
            <a:r>
              <a:rPr lang="en-US" b="1" dirty="0"/>
              <a:t> </a:t>
            </a:r>
            <a:r>
              <a:rPr lang="en-US" b="1" dirty="0" err="1"/>
              <a:t>персональный</a:t>
            </a:r>
            <a:r>
              <a:rPr lang="en-US" b="1" dirty="0"/>
              <a:t> </a:t>
            </a:r>
            <a:r>
              <a:rPr lang="en-US" b="1" dirty="0" err="1"/>
              <a:t>компьютер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10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История</a:t>
            </a:r>
            <a:r>
              <a:rPr lang="en-US" dirty="0"/>
              <a:t> Windows </a:t>
            </a:r>
            <a:r>
              <a:rPr lang="en-US" dirty="0" err="1"/>
              <a:t>интересна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долгое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у Microsoft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существовали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выросла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MS-DOS. </a:t>
            </a:r>
            <a:r>
              <a:rPr lang="en-US" dirty="0" err="1"/>
              <a:t>Ранние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Windows </a:t>
            </a:r>
            <a:r>
              <a:rPr lang="en-US" dirty="0" err="1"/>
              <a:t>добавляли</a:t>
            </a:r>
            <a:r>
              <a:rPr lang="en-US" dirty="0"/>
              <a:t> к DOS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а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Windows 95, 98 и Me.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становились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сохраняли</a:t>
            </a:r>
            <a:r>
              <a:rPr lang="en-US" dirty="0"/>
              <a:t> </a:t>
            </a:r>
            <a:r>
              <a:rPr lang="en-US" dirty="0" err="1"/>
              <a:t>сильную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с DOS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совместимости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старым</a:t>
            </a:r>
            <a:r>
              <a:rPr lang="en-US" dirty="0"/>
              <a:t> </a:t>
            </a:r>
            <a:r>
              <a:rPr lang="en-US" dirty="0" err="1"/>
              <a:t>программным</a:t>
            </a:r>
            <a:r>
              <a:rPr lang="en-US" dirty="0"/>
              <a:t> </a:t>
            </a:r>
            <a:r>
              <a:rPr lang="en-US" dirty="0" err="1"/>
              <a:t>обеспечением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Параллельно</a:t>
            </a:r>
            <a:r>
              <a:rPr lang="en-US" dirty="0"/>
              <a:t> Microsoft </a:t>
            </a:r>
            <a:r>
              <a:rPr lang="en-US" dirty="0" err="1"/>
              <a:t>разрабатывала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— </a:t>
            </a:r>
            <a:r>
              <a:rPr lang="en-US" b="1" dirty="0"/>
              <a:t>Windows NT</a:t>
            </a:r>
            <a:r>
              <a:rPr lang="en-US" dirty="0"/>
              <a:t>.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создавали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полноценную</a:t>
            </a:r>
            <a:r>
              <a:rPr lang="en-US" dirty="0"/>
              <a:t> </a:t>
            </a:r>
            <a:r>
              <a:rPr lang="en-US" dirty="0" err="1"/>
              <a:t>современную</a:t>
            </a:r>
            <a:r>
              <a:rPr lang="en-US" dirty="0"/>
              <a:t> ОС с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вытесняющей</a:t>
            </a:r>
            <a:r>
              <a:rPr lang="en-US" dirty="0"/>
              <a:t> </a:t>
            </a:r>
            <a:r>
              <a:rPr lang="en-US" dirty="0" err="1"/>
              <a:t>многозадачностью</a:t>
            </a:r>
            <a:r>
              <a:rPr lang="en-US" dirty="0"/>
              <a:t> и </a:t>
            </a:r>
            <a:r>
              <a:rPr lang="en-US" dirty="0" err="1"/>
              <a:t>поддержкой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.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архитекторов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Дэвид</a:t>
            </a:r>
            <a:r>
              <a:rPr lang="en-US" dirty="0"/>
              <a:t> </a:t>
            </a:r>
            <a:r>
              <a:rPr lang="en-US" dirty="0" err="1"/>
              <a:t>Катлер</a:t>
            </a:r>
            <a:r>
              <a:rPr lang="en-US" dirty="0"/>
              <a:t>,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работавший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VMS.</a:t>
            </a:r>
          </a:p>
          <a:p>
            <a:endParaRPr lang="ru-RU" dirty="0"/>
          </a:p>
          <a:p>
            <a:r>
              <a:rPr lang="en-US" dirty="0" err="1"/>
              <a:t>Перелом</a:t>
            </a:r>
            <a:r>
              <a:rPr lang="en-US" dirty="0"/>
              <a:t> </a:t>
            </a:r>
            <a:r>
              <a:rPr lang="en-US" dirty="0" err="1"/>
              <a:t>произошёл</a:t>
            </a:r>
            <a:r>
              <a:rPr lang="en-US" dirty="0"/>
              <a:t> с Windows XP в 2001 </a:t>
            </a:r>
            <a:r>
              <a:rPr lang="en-US" dirty="0" err="1"/>
              <a:t>году</a:t>
            </a:r>
            <a:r>
              <a:rPr lang="en-US" dirty="0"/>
              <a:t>: </a:t>
            </a:r>
            <a:r>
              <a:rPr lang="en-US" dirty="0" err="1"/>
              <a:t>домашняя</a:t>
            </a:r>
            <a:r>
              <a:rPr lang="en-US" dirty="0"/>
              <a:t> </a:t>
            </a:r>
            <a:r>
              <a:rPr lang="en-US" dirty="0" err="1"/>
              <a:t>линейка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перешла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NT.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Windows 10 и 11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en-US" dirty="0"/>
              <a:t> MS-DOS. В </a:t>
            </a:r>
            <a:r>
              <a:rPr lang="en-US" dirty="0" err="1"/>
              <a:t>архитектурном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потомками</a:t>
            </a:r>
            <a:r>
              <a:rPr lang="en-US" dirty="0"/>
              <a:t> </a:t>
            </a:r>
            <a:r>
              <a:rPr lang="en-US" b="1" dirty="0"/>
              <a:t>Windows 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955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полувека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влияние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целое</a:t>
            </a:r>
            <a:r>
              <a:rPr lang="en-US" dirty="0"/>
              <a:t> </a:t>
            </a:r>
            <a:r>
              <a:rPr lang="en-US" dirty="0" err="1"/>
              <a:t>семейство</a:t>
            </a:r>
            <a:r>
              <a:rPr lang="en-US" dirty="0"/>
              <a:t> UNIX и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.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BSD-</a:t>
            </a:r>
            <a:r>
              <a:rPr lang="en-US" dirty="0" err="1"/>
              <a:t>системы</a:t>
            </a:r>
            <a:r>
              <a:rPr lang="en-US" dirty="0"/>
              <a:t> и macOS, а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огромную</a:t>
            </a:r>
            <a:r>
              <a:rPr lang="en-US" dirty="0"/>
              <a:t> </a:t>
            </a:r>
            <a:r>
              <a:rPr lang="en-US" dirty="0" err="1"/>
              <a:t>ветвь</a:t>
            </a:r>
            <a:r>
              <a:rPr lang="en-US" dirty="0"/>
              <a:t> </a:t>
            </a:r>
            <a:r>
              <a:rPr lang="en-US" dirty="0" err="1"/>
              <a:t>образовали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с </a:t>
            </a:r>
            <a:r>
              <a:rPr lang="en-US" dirty="0" err="1"/>
              <a:t>ядром</a:t>
            </a:r>
            <a:r>
              <a:rPr lang="en-US" dirty="0"/>
              <a:t> Linux.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: </a:t>
            </a:r>
            <a:r>
              <a:rPr lang="en-US" b="1" dirty="0"/>
              <a:t>Linux —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прежде</a:t>
            </a:r>
            <a:r>
              <a:rPr lang="en-US" b="1" dirty="0"/>
              <a:t> </a:t>
            </a:r>
            <a:r>
              <a:rPr lang="en-US" b="1" dirty="0" err="1"/>
              <a:t>всего</a:t>
            </a:r>
            <a:r>
              <a:rPr lang="en-US" b="1" dirty="0"/>
              <a:t> </a:t>
            </a:r>
            <a:r>
              <a:rPr lang="en-US" b="1" dirty="0" err="1"/>
              <a:t>ядро</a:t>
            </a:r>
            <a:r>
              <a:rPr lang="en-US" dirty="0"/>
              <a:t>,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строятся</a:t>
            </a:r>
            <a:r>
              <a:rPr lang="en-US" dirty="0"/>
              <a:t>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Это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Android.</a:t>
            </a:r>
          </a:p>
          <a:p>
            <a:endParaRPr lang="ru-RU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сильны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Linux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серверах</a:t>
            </a:r>
            <a:r>
              <a:rPr lang="en-US" dirty="0"/>
              <a:t>, в </a:t>
            </a:r>
            <a:r>
              <a:rPr lang="en-US" dirty="0" err="1"/>
              <a:t>облаках</a:t>
            </a:r>
            <a:r>
              <a:rPr lang="en-US" dirty="0"/>
              <a:t>, </a:t>
            </a:r>
            <a:r>
              <a:rPr lang="en-US" dirty="0" err="1"/>
              <a:t>суперкомпьютерах</a:t>
            </a:r>
            <a:r>
              <a:rPr lang="en-US" dirty="0"/>
              <a:t> и </a:t>
            </a:r>
            <a:r>
              <a:rPr lang="en-US" dirty="0" err="1"/>
              <a:t>встраиваемых</a:t>
            </a:r>
            <a:r>
              <a:rPr lang="en-US" dirty="0"/>
              <a:t> </a:t>
            </a:r>
            <a:r>
              <a:rPr lang="en-US" dirty="0" err="1"/>
              <a:t>устройствах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с Linux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системными</a:t>
            </a:r>
            <a:r>
              <a:rPr lang="en-US" dirty="0"/>
              <a:t> </a:t>
            </a:r>
            <a:r>
              <a:rPr lang="en-US" dirty="0" err="1"/>
              <a:t>интерфейсами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UNIX-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командная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Linux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полноценные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среды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GNOME и KDE Plasma.</a:t>
            </a:r>
          </a:p>
          <a:p>
            <a:endParaRPr lang="ru-RU" dirty="0"/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итог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исторической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: </a:t>
            </a:r>
            <a:r>
              <a:rPr lang="en-US" b="1" dirty="0" err="1"/>
              <a:t>идеи</a:t>
            </a:r>
            <a:r>
              <a:rPr lang="en-US" b="1" dirty="0"/>
              <a:t> UNIX </a:t>
            </a:r>
            <a:r>
              <a:rPr lang="en-US" b="1" dirty="0" err="1"/>
              <a:t>оказались</a:t>
            </a:r>
            <a:r>
              <a:rPr lang="en-US" b="1" dirty="0"/>
              <a:t> </a:t>
            </a:r>
            <a:r>
              <a:rPr lang="en-US" b="1" dirty="0" err="1"/>
              <a:t>настолько</a:t>
            </a:r>
            <a:r>
              <a:rPr lang="en-US" b="1" dirty="0"/>
              <a:t> </a:t>
            </a:r>
            <a:r>
              <a:rPr lang="en-US" b="1" dirty="0" err="1"/>
              <a:t>удачными</a:t>
            </a:r>
            <a:r>
              <a:rPr lang="en-US" b="1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продолжают</a:t>
            </a:r>
            <a:r>
              <a:rPr lang="en-US" b="1" dirty="0"/>
              <a:t> </a:t>
            </a:r>
            <a:r>
              <a:rPr lang="en-US" b="1" dirty="0" err="1"/>
              <a:t>определять</a:t>
            </a:r>
            <a:r>
              <a:rPr lang="en-US" b="1" dirty="0"/>
              <a:t> </a:t>
            </a:r>
            <a:r>
              <a:rPr lang="en-US" b="1" dirty="0" err="1"/>
              <a:t>устройство</a:t>
            </a:r>
            <a:r>
              <a:rPr lang="en-US" b="1" dirty="0"/>
              <a:t> </a:t>
            </a:r>
            <a:r>
              <a:rPr lang="en-US" b="1" dirty="0" err="1"/>
              <a:t>значительной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современных</a:t>
            </a:r>
            <a:r>
              <a:rPr lang="en-US" b="1" dirty="0"/>
              <a:t> </a:t>
            </a:r>
            <a:r>
              <a:rPr lang="en-US" b="1" dirty="0" err="1"/>
              <a:t>вычислительных</a:t>
            </a:r>
            <a:r>
              <a:rPr lang="en-US" b="1" dirty="0"/>
              <a:t> </a:t>
            </a:r>
            <a:r>
              <a:rPr lang="en-US" b="1" dirty="0" err="1"/>
              <a:t>систем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4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—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изолированно</a:t>
            </a:r>
            <a:r>
              <a:rPr lang="en-US" dirty="0"/>
              <a:t>, а </a:t>
            </a:r>
            <a:r>
              <a:rPr lang="en-US" dirty="0" err="1"/>
              <a:t>объединяются</a:t>
            </a:r>
            <a:r>
              <a:rPr lang="en-US" dirty="0"/>
              <a:t> в </a:t>
            </a:r>
            <a:r>
              <a:rPr lang="en-US" dirty="0" err="1"/>
              <a:t>сети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позволяла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машины</a:t>
            </a:r>
            <a:r>
              <a:rPr lang="en-US" dirty="0"/>
              <a:t>: </a:t>
            </a:r>
            <a:r>
              <a:rPr lang="en-US" dirty="0" err="1"/>
              <a:t>удалённо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систему</a:t>
            </a:r>
            <a:r>
              <a:rPr lang="en-US" dirty="0"/>
              <a:t>, </a:t>
            </a:r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каталог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серверу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понимал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компьютером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— </a:t>
            </a:r>
            <a:r>
              <a:rPr lang="en-US" dirty="0" err="1"/>
              <a:t>распределённые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а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стараются</a:t>
            </a:r>
            <a:r>
              <a:rPr lang="en-US" dirty="0"/>
              <a:t> </a:t>
            </a:r>
            <a:r>
              <a:rPr lang="en-US" dirty="0" err="1"/>
              <a:t>скрыть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: </a:t>
            </a:r>
            <a:r>
              <a:rPr lang="en-US" dirty="0" err="1"/>
              <a:t>сеть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медленной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ненадёжной</a:t>
            </a:r>
            <a:r>
              <a:rPr lang="en-US" dirty="0"/>
              <a:t>, </a:t>
            </a:r>
            <a:r>
              <a:rPr lang="en-US" dirty="0" err="1"/>
              <a:t>машины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выходить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строя</a:t>
            </a:r>
            <a:r>
              <a:rPr lang="en-US" dirty="0"/>
              <a:t>,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узлами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Полностью</a:t>
            </a:r>
            <a:r>
              <a:rPr lang="en-US" dirty="0"/>
              <a:t> «</a:t>
            </a:r>
            <a:r>
              <a:rPr lang="en-US" dirty="0" err="1"/>
              <a:t>прозрачные</a:t>
            </a:r>
            <a:r>
              <a:rPr lang="en-US" dirty="0"/>
              <a:t>» </a:t>
            </a:r>
            <a:r>
              <a:rPr lang="en-US" dirty="0" err="1"/>
              <a:t>распределённые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массовыми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повсеместно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в </a:t>
            </a:r>
            <a:r>
              <a:rPr lang="en-US" b="1" dirty="0" err="1"/>
              <a:t>облаках</a:t>
            </a:r>
            <a:r>
              <a:rPr lang="en-US" b="1" dirty="0"/>
              <a:t>, </a:t>
            </a:r>
            <a:r>
              <a:rPr lang="en-US" b="1" dirty="0" err="1"/>
              <a:t>дата-центрах</a:t>
            </a:r>
            <a:r>
              <a:rPr lang="en-US" b="1" dirty="0"/>
              <a:t> и </a:t>
            </a:r>
            <a:r>
              <a:rPr lang="en-US" b="1" dirty="0" err="1"/>
              <a:t>крупных</a:t>
            </a:r>
            <a:r>
              <a:rPr lang="en-US" b="1" dirty="0"/>
              <a:t> </a:t>
            </a:r>
            <a:r>
              <a:rPr lang="en-US" b="1" dirty="0" err="1"/>
              <a:t>интернет-сервисах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24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техники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мобильным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мобильной</a:t>
            </a:r>
            <a:r>
              <a:rPr lang="en-US" dirty="0"/>
              <a:t> </a:t>
            </a:r>
            <a:r>
              <a:rPr lang="en-US" dirty="0" err="1"/>
              <a:t>телефонной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в 1940-х </a:t>
            </a:r>
            <a:r>
              <a:rPr lang="en-US" dirty="0" err="1"/>
              <a:t>годах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тяжёлые</a:t>
            </a:r>
            <a:r>
              <a:rPr lang="en-US" dirty="0"/>
              <a:t> </a:t>
            </a:r>
            <a:r>
              <a:rPr lang="en-US" dirty="0" err="1"/>
              <a:t>автомобильные</a:t>
            </a:r>
            <a:r>
              <a:rPr lang="en-US" dirty="0"/>
              <a:t> </a:t>
            </a:r>
            <a:r>
              <a:rPr lang="en-US" dirty="0" err="1"/>
              <a:t>установки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сути</a:t>
            </a:r>
            <a:r>
              <a:rPr lang="en-US" dirty="0"/>
              <a:t>,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шла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о </a:t>
            </a:r>
            <a:r>
              <a:rPr lang="en-US" dirty="0" err="1"/>
              <a:t>телефонной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о </a:t>
            </a:r>
            <a:r>
              <a:rPr lang="en-US" dirty="0" err="1"/>
              <a:t>мобильном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.</a:t>
            </a:r>
          </a:p>
          <a:p>
            <a:r>
              <a:rPr lang="en-US" dirty="0"/>
              <a:t>В 1970-х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прототипы</a:t>
            </a:r>
            <a:r>
              <a:rPr lang="en-US" dirty="0"/>
              <a:t> </a:t>
            </a:r>
            <a:r>
              <a:rPr lang="en-US" dirty="0" err="1"/>
              <a:t>ручных</a:t>
            </a:r>
            <a:r>
              <a:rPr lang="en-US" dirty="0"/>
              <a:t> </a:t>
            </a:r>
            <a:r>
              <a:rPr lang="en-US" dirty="0" err="1"/>
              <a:t>сотовых</a:t>
            </a:r>
            <a:r>
              <a:rPr lang="en-US" dirty="0"/>
              <a:t> </a:t>
            </a:r>
            <a:r>
              <a:rPr lang="en-US" dirty="0" err="1"/>
              <a:t>телефонов</a:t>
            </a:r>
            <a:r>
              <a:rPr lang="en-US" dirty="0"/>
              <a:t>, а в 1980-х — </a:t>
            </a:r>
            <a:r>
              <a:rPr lang="en-US" dirty="0" err="1"/>
              <a:t>коммерческие</a:t>
            </a:r>
            <a:r>
              <a:rPr lang="en-US" dirty="0"/>
              <a:t> </a:t>
            </a:r>
            <a:r>
              <a:rPr lang="en-US" dirty="0" err="1"/>
              <a:t>переносные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интересен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, </a:t>
            </a:r>
            <a:r>
              <a:rPr lang="en-US" dirty="0" err="1"/>
              <a:t>произошедший</a:t>
            </a:r>
            <a:r>
              <a:rPr lang="en-US" dirty="0"/>
              <a:t> в 1990-х. </a:t>
            </a:r>
            <a:r>
              <a:rPr lang="en-US" dirty="0" err="1"/>
              <a:t>Телефон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объединяться</a:t>
            </a:r>
            <a:r>
              <a:rPr lang="en-US" dirty="0"/>
              <a:t> с </a:t>
            </a:r>
            <a:r>
              <a:rPr lang="en-US" dirty="0" err="1"/>
              <a:t>возможностями</a:t>
            </a:r>
            <a:r>
              <a:rPr lang="en-US" dirty="0"/>
              <a:t> </a:t>
            </a:r>
            <a:r>
              <a:rPr lang="en-US" dirty="0" err="1"/>
              <a:t>карманного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— PDA.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календарь</a:t>
            </a:r>
            <a:r>
              <a:rPr lang="en-US" dirty="0"/>
              <a:t>, </a:t>
            </a:r>
            <a:r>
              <a:rPr lang="en-US" dirty="0" err="1"/>
              <a:t>адресную</a:t>
            </a:r>
            <a:r>
              <a:rPr lang="en-US" dirty="0"/>
              <a:t> </a:t>
            </a:r>
            <a:r>
              <a:rPr lang="en-US" dirty="0" err="1"/>
              <a:t>книгу</a:t>
            </a:r>
            <a:r>
              <a:rPr lang="en-US" dirty="0"/>
              <a:t>, </a:t>
            </a:r>
            <a:r>
              <a:rPr lang="en-US" dirty="0" err="1"/>
              <a:t>электронную</a:t>
            </a:r>
            <a:r>
              <a:rPr lang="en-US" dirty="0"/>
              <a:t> </a:t>
            </a:r>
            <a:r>
              <a:rPr lang="en-US" dirty="0" err="1"/>
              <a:t>почту</a:t>
            </a:r>
            <a:r>
              <a:rPr lang="en-US" dirty="0"/>
              <a:t>,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ранние</a:t>
            </a:r>
            <a:r>
              <a:rPr lang="en-US" dirty="0"/>
              <a:t> </a:t>
            </a:r>
            <a:r>
              <a:rPr lang="en-US" dirty="0" err="1"/>
              <a:t>смартфоны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IBM Simon и Nokia 9000 Communicator.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.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ограниченном</a:t>
            </a:r>
            <a:r>
              <a:rPr lang="en-US" dirty="0"/>
              <a:t> </a:t>
            </a:r>
            <a:r>
              <a:rPr lang="en-US" dirty="0" err="1"/>
              <a:t>объёме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мощности</a:t>
            </a:r>
            <a:r>
              <a:rPr lang="en-US" dirty="0"/>
              <a:t>, </a:t>
            </a:r>
            <a:r>
              <a:rPr lang="en-US" dirty="0" err="1"/>
              <a:t>экономно</a:t>
            </a:r>
            <a:r>
              <a:rPr lang="en-US" dirty="0"/>
              <a:t> </a:t>
            </a:r>
            <a:r>
              <a:rPr lang="en-US" dirty="0" err="1"/>
              <a:t>расходовать</a:t>
            </a:r>
            <a:r>
              <a:rPr lang="en-US" dirty="0"/>
              <a:t> </a:t>
            </a:r>
            <a:r>
              <a:rPr lang="en-US" dirty="0" err="1"/>
              <a:t>заряд</a:t>
            </a:r>
            <a:r>
              <a:rPr lang="en-US" dirty="0"/>
              <a:t> </a:t>
            </a:r>
            <a:r>
              <a:rPr lang="en-US" dirty="0" err="1"/>
              <a:t>батареи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беспроводной</a:t>
            </a:r>
            <a:r>
              <a:rPr lang="en-US" dirty="0"/>
              <a:t> </a:t>
            </a:r>
            <a:r>
              <a:rPr lang="en-US" dirty="0" err="1"/>
              <a:t>связью</a:t>
            </a:r>
            <a:r>
              <a:rPr lang="en-US" dirty="0"/>
              <a:t>, </a:t>
            </a:r>
            <a:r>
              <a:rPr lang="en-US" dirty="0" err="1"/>
              <a:t>дисплеем</a:t>
            </a:r>
            <a:r>
              <a:rPr lang="en-US" dirty="0"/>
              <a:t> и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встроенных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привели</a:t>
            </a:r>
            <a:r>
              <a:rPr lang="en-US" dirty="0"/>
              <a:t> к </a:t>
            </a:r>
            <a:r>
              <a:rPr lang="en-US" dirty="0" err="1"/>
              <a:t>появлению</a:t>
            </a:r>
            <a:r>
              <a:rPr lang="en-US" dirty="0"/>
              <a:t>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мобильных</a:t>
            </a:r>
            <a:r>
              <a:rPr lang="en-US" dirty="0"/>
              <a:t> ОС, к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79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</a:t>
            </a:r>
            <a:r>
              <a:rPr lang="en-US" dirty="0" err="1"/>
              <a:t>началу</a:t>
            </a:r>
            <a:r>
              <a:rPr lang="en-US" dirty="0"/>
              <a:t> 2000-х </a:t>
            </a:r>
            <a:r>
              <a:rPr lang="en-US" dirty="0" err="1"/>
              <a:t>мобильный</a:t>
            </a:r>
            <a:r>
              <a:rPr lang="en-US" dirty="0"/>
              <a:t> </a:t>
            </a:r>
            <a:r>
              <a:rPr lang="en-US" dirty="0" err="1"/>
              <a:t>телефон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средством</a:t>
            </a:r>
            <a:r>
              <a:rPr lang="en-US" dirty="0"/>
              <a:t> </a:t>
            </a:r>
            <a:r>
              <a:rPr lang="en-US" dirty="0" err="1"/>
              <a:t>голосовой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устройстве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электронная</a:t>
            </a:r>
            <a:r>
              <a:rPr lang="en-US" dirty="0"/>
              <a:t> </a:t>
            </a:r>
            <a:r>
              <a:rPr lang="en-US" dirty="0" err="1"/>
              <a:t>почта</a:t>
            </a:r>
            <a:r>
              <a:rPr lang="en-US" dirty="0"/>
              <a:t>, </a:t>
            </a:r>
            <a:r>
              <a:rPr lang="en-US" dirty="0" err="1"/>
              <a:t>браузер</a:t>
            </a:r>
            <a:r>
              <a:rPr lang="en-US" dirty="0"/>
              <a:t>, </a:t>
            </a:r>
            <a:r>
              <a:rPr lang="en-US" dirty="0" err="1"/>
              <a:t>мультимедиа</a:t>
            </a:r>
            <a:r>
              <a:rPr lang="en-US" dirty="0"/>
              <a:t> и </a:t>
            </a:r>
            <a:r>
              <a:rPr lang="en-US" dirty="0" err="1"/>
              <a:t>постоянное</a:t>
            </a:r>
            <a:r>
              <a:rPr lang="en-US" dirty="0"/>
              <a:t> </a:t>
            </a:r>
            <a:r>
              <a:rPr lang="en-US" dirty="0" err="1"/>
              <a:t>подключение</a:t>
            </a:r>
            <a:r>
              <a:rPr lang="en-US" dirty="0"/>
              <a:t> к </a:t>
            </a:r>
            <a:r>
              <a:rPr lang="en-US" dirty="0" err="1"/>
              <a:t>сети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заметных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периода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Symbian.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использовалась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Nokia, и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предоставляла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полноценной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dirty="0" err="1"/>
              <a:t>многозадачность</a:t>
            </a:r>
            <a:r>
              <a:rPr lang="en-US" dirty="0"/>
              <a:t>, </a:t>
            </a:r>
            <a:r>
              <a:rPr lang="en-US" dirty="0" err="1"/>
              <a:t>файловую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и API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сторонних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BlackBerry </a:t>
            </a:r>
            <a:r>
              <a:rPr lang="en-US" dirty="0" err="1"/>
              <a:t>развивалась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акцент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сделан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корпоративный</a:t>
            </a:r>
            <a:r>
              <a:rPr lang="en-US" dirty="0"/>
              <a:t> </a:t>
            </a:r>
            <a:r>
              <a:rPr lang="en-US" dirty="0" err="1"/>
              <a:t>рынок</a:t>
            </a:r>
            <a:r>
              <a:rPr lang="en-US" dirty="0"/>
              <a:t>: </a:t>
            </a:r>
            <a:r>
              <a:rPr lang="en-US" dirty="0" err="1"/>
              <a:t>мобильную</a:t>
            </a:r>
            <a:r>
              <a:rPr lang="en-US" dirty="0"/>
              <a:t> </a:t>
            </a:r>
            <a:r>
              <a:rPr lang="en-US" dirty="0" err="1"/>
              <a:t>электронную</a:t>
            </a:r>
            <a:r>
              <a:rPr lang="en-US" dirty="0"/>
              <a:t> </a:t>
            </a:r>
            <a:r>
              <a:rPr lang="en-US" dirty="0" err="1"/>
              <a:t>почту</a:t>
            </a:r>
            <a:r>
              <a:rPr lang="en-US" dirty="0"/>
              <a:t>, </a:t>
            </a:r>
            <a:r>
              <a:rPr lang="en-US" dirty="0" err="1"/>
              <a:t>безопасность</a:t>
            </a:r>
            <a:r>
              <a:rPr lang="en-US" dirty="0"/>
              <a:t> и </a:t>
            </a:r>
            <a:r>
              <a:rPr lang="en-US" dirty="0" err="1"/>
              <a:t>централизованное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</a:p>
          <a:p>
            <a:r>
              <a:rPr lang="en-US" dirty="0" err="1"/>
              <a:t>Серьёзный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произошёл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iPhone в 2007 </a:t>
            </a:r>
            <a:r>
              <a:rPr lang="en-US" dirty="0" err="1"/>
              <a:t>году</a:t>
            </a:r>
            <a:r>
              <a:rPr lang="en-US" dirty="0"/>
              <a:t>. Apple </a:t>
            </a:r>
            <a:r>
              <a:rPr lang="en-US" dirty="0" err="1"/>
              <a:t>построила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сенсорного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 и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пальцами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изменило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о </a:t>
            </a:r>
            <a:r>
              <a:rPr lang="en-US" dirty="0" err="1"/>
              <a:t>взаимодействии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смартфоном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важным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появление</a:t>
            </a:r>
            <a:r>
              <a:rPr lang="en-US" dirty="0"/>
              <a:t> App Store в 2008 </a:t>
            </a:r>
            <a:r>
              <a:rPr lang="en-US" dirty="0" err="1"/>
              <a:t>году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смартфон</a:t>
            </a:r>
            <a:r>
              <a:rPr lang="en-US" dirty="0"/>
              <a:t>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 с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установленных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, а </a:t>
            </a:r>
            <a:r>
              <a:rPr lang="en-US" dirty="0" err="1"/>
              <a:t>платформой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сторонних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поставило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мобильной</a:t>
            </a:r>
            <a:r>
              <a:rPr lang="en-US" dirty="0"/>
              <a:t> ОС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,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 и </a:t>
            </a:r>
            <a:r>
              <a:rPr lang="en-US" dirty="0" err="1"/>
              <a:t>устройствам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разрешениями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экономно</a:t>
            </a:r>
            <a:r>
              <a:rPr lang="en-US" dirty="0"/>
              <a:t> </a:t>
            </a:r>
            <a:r>
              <a:rPr lang="en-US" dirty="0" err="1"/>
              <a:t>расходовать</a:t>
            </a:r>
            <a:r>
              <a:rPr lang="en-US" dirty="0"/>
              <a:t> </a:t>
            </a:r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—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и </a:t>
            </a:r>
            <a:r>
              <a:rPr lang="en-US" dirty="0" err="1"/>
              <a:t>заряд</a:t>
            </a:r>
            <a:r>
              <a:rPr lang="en-US" dirty="0"/>
              <a:t> </a:t>
            </a:r>
            <a:r>
              <a:rPr lang="en-US" dirty="0" err="1"/>
              <a:t>батареи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57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определила</a:t>
            </a:r>
            <a:r>
              <a:rPr lang="en-US" dirty="0"/>
              <a:t>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рынок</a:t>
            </a:r>
            <a:r>
              <a:rPr lang="en-US" dirty="0"/>
              <a:t> </a:t>
            </a:r>
            <a:r>
              <a:rPr lang="en-US" dirty="0" err="1"/>
              <a:t>смартфонов</a:t>
            </a:r>
            <a:r>
              <a:rPr lang="en-US" dirty="0"/>
              <a:t>, </a:t>
            </a:r>
            <a:r>
              <a:rPr lang="en-US" dirty="0" err="1"/>
              <a:t>стал</a:t>
            </a:r>
            <a:r>
              <a:rPr lang="en-US" dirty="0"/>
              <a:t> Android. </a:t>
            </a:r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коммерческое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с Android </a:t>
            </a:r>
            <a:r>
              <a:rPr lang="en-US" dirty="0" err="1"/>
              <a:t>появилось</a:t>
            </a:r>
            <a:r>
              <a:rPr lang="en-US" dirty="0"/>
              <a:t> в 2008 </a:t>
            </a:r>
            <a:r>
              <a:rPr lang="en-US" dirty="0" err="1"/>
              <a:t>году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основе</a:t>
            </a:r>
            <a:r>
              <a:rPr lang="en-US" dirty="0"/>
              <a:t> Android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Linux.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фундаментальные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виртуальную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драйверы</a:t>
            </a:r>
            <a:r>
              <a:rPr lang="en-US" dirty="0"/>
              <a:t>,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и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Android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Linux-</a:t>
            </a:r>
            <a:r>
              <a:rPr lang="en-US" dirty="0" err="1"/>
              <a:t>дистрибутив</a:t>
            </a:r>
            <a:r>
              <a:rPr lang="en-US" dirty="0"/>
              <a:t>: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построена</a:t>
            </a:r>
            <a:r>
              <a:rPr lang="en-US" dirty="0"/>
              <a:t> </a:t>
            </a:r>
            <a:r>
              <a:rPr lang="en-US" dirty="0" err="1"/>
              <a:t>собственная</a:t>
            </a:r>
            <a:r>
              <a:rPr lang="en-US" dirty="0"/>
              <a:t> </a:t>
            </a:r>
            <a:r>
              <a:rPr lang="en-US" dirty="0" err="1"/>
              <a:t>программная</a:t>
            </a:r>
            <a:r>
              <a:rPr lang="en-US" dirty="0"/>
              <a:t> </a:t>
            </a:r>
            <a:r>
              <a:rPr lang="en-US" dirty="0" err="1"/>
              <a:t>платформа</a:t>
            </a:r>
            <a:r>
              <a:rPr lang="en-US" dirty="0"/>
              <a:t> с </a:t>
            </a:r>
            <a:r>
              <a:rPr lang="en-US" dirty="0" err="1"/>
              <a:t>системными</a:t>
            </a:r>
            <a:r>
              <a:rPr lang="en-US" dirty="0"/>
              <a:t> </a:t>
            </a:r>
            <a:r>
              <a:rPr lang="en-US" dirty="0" err="1"/>
              <a:t>службами</a:t>
            </a:r>
            <a:r>
              <a:rPr lang="en-US" dirty="0"/>
              <a:t>, </a:t>
            </a:r>
            <a:r>
              <a:rPr lang="en-US" dirty="0" err="1"/>
              <a:t>библиотеками</a:t>
            </a:r>
            <a:r>
              <a:rPr lang="en-US" dirty="0"/>
              <a:t>,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подсистемой</a:t>
            </a:r>
            <a:r>
              <a:rPr lang="en-US" dirty="0"/>
              <a:t> и </a:t>
            </a:r>
            <a:r>
              <a:rPr lang="en-US" dirty="0" err="1"/>
              <a:t>средой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Android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открытый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 AOSP. Это </a:t>
            </a:r>
            <a:r>
              <a:rPr lang="en-US" dirty="0" err="1"/>
              <a:t>позволило</a:t>
            </a:r>
            <a:r>
              <a:rPr lang="en-US" dirty="0"/>
              <a:t> </a:t>
            </a:r>
            <a:r>
              <a:rPr lang="en-US" dirty="0" err="1"/>
              <a:t>множеству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платформу</a:t>
            </a:r>
            <a:r>
              <a:rPr lang="en-US" dirty="0"/>
              <a:t> в </a:t>
            </a:r>
            <a:r>
              <a:rPr lang="en-US" dirty="0" err="1"/>
              <a:t>устройствах</a:t>
            </a:r>
            <a:r>
              <a:rPr lang="en-US" dirty="0"/>
              <a:t> с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различающимся</a:t>
            </a:r>
            <a:r>
              <a:rPr lang="en-US" dirty="0"/>
              <a:t> </a:t>
            </a:r>
            <a:r>
              <a:rPr lang="en-US" dirty="0" err="1"/>
              <a:t>аппаратным</a:t>
            </a:r>
            <a:r>
              <a:rPr lang="en-US" dirty="0"/>
              <a:t> </a:t>
            </a:r>
            <a:r>
              <a:rPr lang="en-US" dirty="0" err="1"/>
              <a:t>обеспечением</a:t>
            </a:r>
            <a:r>
              <a:rPr lang="en-US" dirty="0"/>
              <a:t>.</a:t>
            </a:r>
          </a:p>
          <a:p>
            <a:r>
              <a:rPr lang="en-US" dirty="0" err="1"/>
              <a:t>Исторически</a:t>
            </a:r>
            <a:r>
              <a:rPr lang="en-US" dirty="0"/>
              <a:t> Java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играла</a:t>
            </a:r>
            <a:r>
              <a:rPr lang="en-US" dirty="0"/>
              <a:t> </a:t>
            </a:r>
            <a:r>
              <a:rPr lang="en-US" dirty="0" err="1"/>
              <a:t>центральную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корректнее</a:t>
            </a:r>
            <a:r>
              <a:rPr lang="en-US" dirty="0"/>
              <a:t> </a:t>
            </a:r>
            <a:r>
              <a:rPr lang="en-US" dirty="0" err="1"/>
              <a:t>говорить</a:t>
            </a:r>
            <a:r>
              <a:rPr lang="en-US" dirty="0"/>
              <a:t> о Kotlin и Java, </a:t>
            </a:r>
            <a:r>
              <a:rPr lang="en-US" dirty="0" err="1"/>
              <a:t>причём</a:t>
            </a:r>
            <a:r>
              <a:rPr lang="en-US" dirty="0"/>
              <a:t> Google </a:t>
            </a:r>
            <a:r>
              <a:rPr lang="en-US" dirty="0" err="1"/>
              <a:t>рекомендует</a:t>
            </a:r>
            <a:r>
              <a:rPr lang="en-US" dirty="0"/>
              <a:t> </a:t>
            </a:r>
            <a:r>
              <a:rPr lang="en-US" dirty="0" err="1"/>
              <a:t>начинать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разработку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с Kotlin.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Смартфон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аккумулятора</a:t>
            </a:r>
            <a:r>
              <a:rPr lang="en-US" dirty="0"/>
              <a:t>,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подключён</a:t>
            </a:r>
            <a:r>
              <a:rPr lang="en-US" dirty="0"/>
              <a:t> к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сетям</a:t>
            </a:r>
            <a:r>
              <a:rPr lang="en-US" dirty="0"/>
              <a:t> и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: </a:t>
            </a:r>
            <a:r>
              <a:rPr lang="en-US" dirty="0" err="1"/>
              <a:t>камеру</a:t>
            </a:r>
            <a:r>
              <a:rPr lang="en-US" dirty="0"/>
              <a:t>, GPS, </a:t>
            </a:r>
            <a:r>
              <a:rPr lang="en-US" dirty="0" err="1"/>
              <a:t>микрофон</a:t>
            </a:r>
            <a:r>
              <a:rPr lang="en-US" dirty="0"/>
              <a:t>, Bluetooth, Wi-Fi, </a:t>
            </a:r>
            <a:r>
              <a:rPr lang="en-US" dirty="0" err="1"/>
              <a:t>мобильный</a:t>
            </a:r>
            <a:r>
              <a:rPr lang="en-US" dirty="0"/>
              <a:t> </a:t>
            </a:r>
            <a:r>
              <a:rPr lang="en-US" dirty="0" err="1"/>
              <a:t>модем</a:t>
            </a:r>
            <a:r>
              <a:rPr lang="en-US" dirty="0"/>
              <a:t> и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сенсоры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устанавливаются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мобильная</a:t>
            </a:r>
            <a:r>
              <a:rPr lang="en-US" dirty="0"/>
              <a:t>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персональным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 и </a:t>
            </a:r>
            <a:r>
              <a:rPr lang="en-US" dirty="0" err="1"/>
              <a:t>аппаратуре</a:t>
            </a:r>
            <a:r>
              <a:rPr lang="en-US" dirty="0"/>
              <a:t> и </a:t>
            </a:r>
            <a:r>
              <a:rPr lang="en-US" dirty="0" err="1"/>
              <a:t>ограничивать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активность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смартфон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эволюционировали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b="1" dirty="0"/>
              <a:t>в </a:t>
            </a:r>
            <a:r>
              <a:rPr lang="en-US" b="1" dirty="0" err="1"/>
              <a:t>кармане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</a:t>
            </a:r>
            <a:r>
              <a:rPr lang="en-US" b="1" dirty="0" err="1"/>
              <a:t>находится</a:t>
            </a:r>
            <a:r>
              <a:rPr lang="en-US" b="1" dirty="0"/>
              <a:t> </a:t>
            </a:r>
            <a:r>
              <a:rPr lang="en-US" b="1" dirty="0" err="1"/>
              <a:t>полноценный</a:t>
            </a:r>
            <a:r>
              <a:rPr lang="en-US" b="1" dirty="0"/>
              <a:t> </a:t>
            </a:r>
            <a:r>
              <a:rPr lang="en-US" b="1" dirty="0" err="1"/>
              <a:t>многозадачный</a:t>
            </a:r>
            <a:r>
              <a:rPr lang="en-US" b="1" dirty="0"/>
              <a:t> </a:t>
            </a:r>
            <a:r>
              <a:rPr lang="en-US" b="1" dirty="0" err="1"/>
              <a:t>компьютер</a:t>
            </a:r>
            <a:r>
              <a:rPr lang="en-US" b="1" dirty="0"/>
              <a:t>, </a:t>
            </a:r>
            <a:r>
              <a:rPr lang="en-US" b="1" dirty="0" err="1"/>
              <a:t>который</a:t>
            </a:r>
            <a:r>
              <a:rPr lang="en-US" b="1" dirty="0"/>
              <a:t> </a:t>
            </a:r>
            <a:r>
              <a:rPr lang="en-US" b="1" dirty="0" err="1"/>
              <a:t>одновременно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b="1" dirty="0"/>
              <a:t> </a:t>
            </a:r>
            <a:r>
              <a:rPr lang="en-US" b="1" dirty="0" err="1"/>
              <a:t>производительным</a:t>
            </a:r>
            <a:r>
              <a:rPr lang="en-US" b="1" dirty="0"/>
              <a:t>, </a:t>
            </a:r>
            <a:r>
              <a:rPr lang="en-US" b="1" dirty="0" err="1"/>
              <a:t>безопасным</a:t>
            </a:r>
            <a:r>
              <a:rPr lang="en-US" b="1" dirty="0"/>
              <a:t>, </a:t>
            </a:r>
            <a:r>
              <a:rPr lang="en-US" b="1" dirty="0" err="1"/>
              <a:t>постоянно</a:t>
            </a:r>
            <a:r>
              <a:rPr lang="en-US" b="1" dirty="0"/>
              <a:t> </a:t>
            </a:r>
            <a:r>
              <a:rPr lang="en-US" b="1" dirty="0" err="1"/>
              <a:t>подключённым</a:t>
            </a:r>
            <a:r>
              <a:rPr lang="en-US" b="1" dirty="0"/>
              <a:t> к </a:t>
            </a:r>
            <a:r>
              <a:rPr lang="en-US" b="1" dirty="0" err="1"/>
              <a:t>сети</a:t>
            </a:r>
            <a:r>
              <a:rPr lang="en-US" b="1" dirty="0"/>
              <a:t> и </a:t>
            </a:r>
            <a:r>
              <a:rPr lang="en-US" b="1" dirty="0" err="1"/>
              <a:t>экономно</a:t>
            </a:r>
            <a:r>
              <a:rPr lang="en-US" b="1" dirty="0"/>
              <a:t> </a:t>
            </a:r>
            <a:r>
              <a:rPr lang="en-US" b="1" dirty="0" err="1"/>
              <a:t>расходовать</a:t>
            </a:r>
            <a:r>
              <a:rPr lang="en-US" b="1" dirty="0"/>
              <a:t> </a:t>
            </a:r>
            <a:r>
              <a:rPr lang="en-US" b="1" dirty="0" err="1"/>
              <a:t>энергию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32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84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платформы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ОС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оборудование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упрощённом</a:t>
            </a:r>
            <a:r>
              <a:rPr lang="en-US" dirty="0"/>
              <a:t>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: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и </a:t>
            </a:r>
            <a:r>
              <a:rPr lang="en-US" dirty="0" err="1"/>
              <a:t>данные</a:t>
            </a:r>
            <a:r>
              <a:rPr lang="en-US" dirty="0"/>
              <a:t>, а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 — </a:t>
            </a:r>
            <a:r>
              <a:rPr lang="en-US" dirty="0" err="1"/>
              <a:t>накопителями</a:t>
            </a:r>
            <a:r>
              <a:rPr lang="en-US" dirty="0"/>
              <a:t>, </a:t>
            </a:r>
            <a:r>
              <a:rPr lang="en-US" dirty="0" err="1"/>
              <a:t>сетью</a:t>
            </a:r>
            <a:r>
              <a:rPr lang="en-US" dirty="0"/>
              <a:t>, </a:t>
            </a:r>
            <a:r>
              <a:rPr lang="en-US" dirty="0" err="1"/>
              <a:t>клавиатурой</a:t>
            </a:r>
            <a:r>
              <a:rPr lang="en-US" dirty="0"/>
              <a:t>, </a:t>
            </a:r>
            <a:r>
              <a:rPr lang="en-US" dirty="0" err="1"/>
              <a:t>дисплеем</a:t>
            </a:r>
            <a:r>
              <a:rPr lang="en-US" dirty="0"/>
              <a:t> и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адресация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устройствам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оборудование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процессору</a:t>
            </a:r>
            <a:r>
              <a:rPr lang="en-US" dirty="0"/>
              <a:t> о </a:t>
            </a:r>
            <a:r>
              <a:rPr lang="en-US" dirty="0" err="1"/>
              <a:t>произошедших</a:t>
            </a:r>
            <a:r>
              <a:rPr lang="en-US" dirty="0"/>
              <a:t> </a:t>
            </a:r>
            <a:r>
              <a:rPr lang="en-US" dirty="0" err="1"/>
              <a:t>событиях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, </a:t>
            </a:r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 </a:t>
            </a:r>
            <a:r>
              <a:rPr lang="ru-RU" dirty="0"/>
              <a:t>Д</a:t>
            </a:r>
            <a:r>
              <a:rPr lang="en-US" dirty="0" err="1"/>
              <a:t>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, а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,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пользуется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На их операционная система</a:t>
            </a:r>
            <a:r>
              <a:rPr lang="en-US" dirty="0"/>
              <a:t> </a:t>
            </a:r>
            <a:r>
              <a:rPr lang="en-US" dirty="0" err="1"/>
              <a:t>строит</a:t>
            </a:r>
            <a:r>
              <a:rPr lang="en-US" dirty="0"/>
              <a:t> </a:t>
            </a:r>
            <a:r>
              <a:rPr lang="en-US" dirty="0" err="1"/>
              <a:t>удобную</a:t>
            </a:r>
            <a:r>
              <a:rPr lang="en-US" dirty="0"/>
              <a:t> и </a:t>
            </a:r>
            <a:r>
              <a:rPr lang="en-US" dirty="0" err="1"/>
              <a:t>безопасную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31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Центральный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 В </a:t>
            </a:r>
            <a:r>
              <a:rPr lang="en-US" dirty="0" err="1"/>
              <a:t>упрощённом</a:t>
            </a:r>
            <a:r>
              <a:rPr lang="en-US" dirty="0"/>
              <a:t>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повторяющийся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: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очередную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декодирует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b="1" dirty="0" err="1"/>
              <a:t>архитектуры</a:t>
            </a:r>
            <a:r>
              <a:rPr lang="en-US" b="1" dirty="0"/>
              <a:t> </a:t>
            </a:r>
            <a:r>
              <a:rPr lang="en-US" b="1" dirty="0" err="1"/>
              <a:t>процессора</a:t>
            </a:r>
            <a:r>
              <a:rPr lang="en-US" dirty="0"/>
              <a:t>.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программному</a:t>
            </a:r>
            <a:r>
              <a:rPr lang="en-US" dirty="0"/>
              <a:t> </a:t>
            </a:r>
            <a:r>
              <a:rPr lang="en-US" dirty="0" err="1"/>
              <a:t>обеспечению</a:t>
            </a:r>
            <a:r>
              <a:rPr lang="en-US" dirty="0"/>
              <a:t>: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,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архитектуры</a:t>
            </a:r>
            <a:r>
              <a:rPr lang="en-US" dirty="0"/>
              <a:t> x86-64, ARM и RISC-V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наборы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и </a:t>
            </a:r>
            <a:r>
              <a:rPr lang="en-US" dirty="0" err="1"/>
              <a:t>по-разному</a:t>
            </a:r>
            <a:r>
              <a:rPr lang="en-US" dirty="0"/>
              <a:t> </a:t>
            </a:r>
            <a:r>
              <a:rPr lang="en-US" dirty="0" err="1"/>
              <a:t>организованы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аппаратном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ОС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адаптировано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Особое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В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выполняющейся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: </a:t>
            </a:r>
            <a:r>
              <a:rPr lang="en-US" dirty="0" err="1"/>
              <a:t>промежуточные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вершины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и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переключает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с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остановлена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изучении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63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смешивают</a:t>
            </a:r>
            <a:r>
              <a:rPr lang="en-US" dirty="0"/>
              <a:t>: </a:t>
            </a:r>
            <a:r>
              <a:rPr lang="en-US" dirty="0" err="1"/>
              <a:t>архитектуру</a:t>
            </a:r>
            <a:r>
              <a:rPr lang="en-US" dirty="0"/>
              <a:t> и </a:t>
            </a:r>
            <a:r>
              <a:rPr lang="en-US" dirty="0" err="1"/>
              <a:t>микроархитектуру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Архитектура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ISA — Instruction Set Architecture,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программное</a:t>
            </a:r>
            <a:r>
              <a:rPr lang="en-US" dirty="0"/>
              <a:t> </a:t>
            </a:r>
            <a:r>
              <a:rPr lang="en-US" dirty="0" err="1"/>
              <a:t>обеспечение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режимы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и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Микроархитектура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внутренняя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данной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конвейеры</a:t>
            </a:r>
            <a:r>
              <a:rPr lang="en-US" dirty="0"/>
              <a:t>, </a:t>
            </a:r>
            <a:r>
              <a:rPr lang="en-US" dirty="0" err="1"/>
              <a:t>кэши</a:t>
            </a:r>
            <a:r>
              <a:rPr lang="en-US" dirty="0"/>
              <a:t>, </a:t>
            </a:r>
            <a:r>
              <a:rPr lang="en-US" dirty="0" err="1"/>
              <a:t>предсказание</a:t>
            </a:r>
            <a:r>
              <a:rPr lang="en-US" dirty="0"/>
              <a:t> </a:t>
            </a:r>
            <a:r>
              <a:rPr lang="en-US" dirty="0" err="1"/>
              <a:t>переходов</a:t>
            </a:r>
            <a:r>
              <a:rPr lang="en-US" dirty="0"/>
              <a:t>, </a:t>
            </a:r>
            <a:r>
              <a:rPr lang="en-US" dirty="0" err="1"/>
              <a:t>внеочередное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и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исполнительные</a:t>
            </a:r>
            <a:r>
              <a:rPr lang="en-US" dirty="0"/>
              <a:t> </a:t>
            </a:r>
            <a:r>
              <a:rPr lang="en-US" dirty="0" err="1"/>
              <a:t>блоки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поколений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x86-64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разную</a:t>
            </a:r>
            <a:r>
              <a:rPr lang="en-US" dirty="0"/>
              <a:t> </a:t>
            </a:r>
            <a:r>
              <a:rPr lang="en-US" dirty="0" err="1"/>
              <a:t>внутреннюю</a:t>
            </a:r>
            <a:r>
              <a:rPr lang="en-US" dirty="0"/>
              <a:t> </a:t>
            </a:r>
            <a:r>
              <a:rPr lang="en-US" dirty="0" err="1"/>
              <a:t>организацию</a:t>
            </a:r>
            <a:r>
              <a:rPr lang="en-US" dirty="0"/>
              <a:t> и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главным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ОС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процессором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микроархитектуры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,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кэшами</a:t>
            </a:r>
            <a:r>
              <a:rPr lang="en-US" dirty="0"/>
              <a:t> и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многопоточных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рамках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влияют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9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фундаментальных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,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 </a:t>
            </a:r>
            <a:r>
              <a:rPr lang="en-US" dirty="0" err="1"/>
              <a:t>привилегий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в </a:t>
            </a:r>
            <a:r>
              <a:rPr lang="en-US" b="1" dirty="0" err="1"/>
              <a:t>режиме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ограничивает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критические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большинством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привилегированные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ограничение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важным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любая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имела</a:t>
            </a:r>
            <a:r>
              <a:rPr lang="en-US" dirty="0"/>
              <a:t>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аппаратуре</a:t>
            </a:r>
            <a:r>
              <a:rPr lang="en-US" dirty="0"/>
              <a:t>,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повредить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нарушить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b="1" dirty="0" err="1"/>
              <a:t>режиме</a:t>
            </a:r>
            <a:r>
              <a:rPr lang="en-US" b="1" dirty="0"/>
              <a:t> </a:t>
            </a:r>
            <a:r>
              <a:rPr lang="en-US" b="1" dirty="0" err="1"/>
              <a:t>ядра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широкие</a:t>
            </a:r>
            <a:r>
              <a:rPr lang="en-US" dirty="0"/>
              <a:t> </a:t>
            </a:r>
            <a:r>
              <a:rPr lang="en-US" dirty="0" err="1"/>
              <a:t>полномочия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устройствами</a:t>
            </a:r>
            <a:r>
              <a:rPr lang="en-US" dirty="0"/>
              <a:t>, </a:t>
            </a:r>
            <a:r>
              <a:rPr lang="en-US" dirty="0" err="1"/>
              <a:t>прерываниями</a:t>
            </a:r>
            <a:r>
              <a:rPr lang="en-US" dirty="0"/>
              <a:t> и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системными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пользовательской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услуга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b="1" dirty="0" err="1"/>
              <a:t>системный</a:t>
            </a:r>
            <a:r>
              <a:rPr lang="en-US" b="1" dirty="0"/>
              <a:t> </a:t>
            </a:r>
            <a:r>
              <a:rPr lang="en-US" b="1" dirty="0" err="1"/>
              <a:t>вызов</a:t>
            </a:r>
            <a:r>
              <a:rPr lang="en-US" dirty="0"/>
              <a:t>. Это </a:t>
            </a:r>
            <a:r>
              <a:rPr lang="en-US" dirty="0" err="1"/>
              <a:t>контролируемый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ru-RU" dirty="0"/>
              <a:t> на </a:t>
            </a:r>
            <a:r>
              <a:rPr lang="en-US" dirty="0"/>
              <a:t>user mode и kernel mode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аппаратную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обычными</a:t>
            </a:r>
            <a:r>
              <a:rPr lang="en-US" dirty="0"/>
              <a:t> </a:t>
            </a:r>
            <a:r>
              <a:rPr lang="en-US" dirty="0" err="1"/>
              <a:t>приложениями</a:t>
            </a:r>
            <a:r>
              <a:rPr lang="en-US" dirty="0"/>
              <a:t> и </a:t>
            </a:r>
            <a:r>
              <a:rPr lang="en-US" dirty="0" err="1"/>
              <a:t>критически</a:t>
            </a:r>
            <a:r>
              <a:rPr lang="en-US" dirty="0"/>
              <a:t> </a:t>
            </a:r>
            <a:r>
              <a:rPr lang="en-US" dirty="0" err="1"/>
              <a:t>важными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55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Долгое время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 </a:t>
            </a:r>
            <a:r>
              <a:rPr lang="en-US" dirty="0" err="1"/>
              <a:t>увеличивалась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роста</a:t>
            </a:r>
            <a:r>
              <a:rPr lang="en-US" dirty="0"/>
              <a:t> </a:t>
            </a:r>
            <a:r>
              <a:rPr lang="en-US" dirty="0" err="1"/>
              <a:t>тактовой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и </a:t>
            </a:r>
            <a:r>
              <a:rPr lang="en-US" dirty="0" err="1"/>
              <a:t>усложнения</a:t>
            </a:r>
            <a:r>
              <a:rPr lang="en-US" dirty="0"/>
              <a:t> </a:t>
            </a:r>
            <a:r>
              <a:rPr lang="en-US" dirty="0" err="1"/>
              <a:t>внутренней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у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 </a:t>
            </a:r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росту</a:t>
            </a:r>
            <a:r>
              <a:rPr lang="en-US" dirty="0"/>
              <a:t> </a:t>
            </a:r>
            <a:r>
              <a:rPr lang="en-US" dirty="0" err="1"/>
              <a:t>энергопотребления</a:t>
            </a:r>
            <a:r>
              <a:rPr lang="en-US" dirty="0"/>
              <a:t> и </a:t>
            </a:r>
            <a:r>
              <a:rPr lang="en-US" dirty="0" err="1"/>
              <a:t>тепловыделения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дальнейшее</a:t>
            </a:r>
            <a:r>
              <a:rPr lang="en-US" dirty="0"/>
              <a:t> </a:t>
            </a:r>
            <a:r>
              <a:rPr lang="en-US" dirty="0" err="1"/>
              <a:t>увеличение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достигается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параллелизма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 — </a:t>
            </a:r>
            <a:r>
              <a:rPr lang="en-US" b="1" dirty="0" err="1"/>
              <a:t>многоядерность</a:t>
            </a:r>
            <a:r>
              <a:rPr lang="en-US" dirty="0"/>
              <a:t>.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способно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технология</a:t>
            </a:r>
            <a:r>
              <a:rPr lang="en-US" dirty="0"/>
              <a:t> </a:t>
            </a:r>
            <a:r>
              <a:rPr lang="en-US" b="1" dirty="0"/>
              <a:t>SMT — Simultaneous Multithreading</a:t>
            </a:r>
            <a:r>
              <a:rPr lang="en-US" dirty="0"/>
              <a:t>. В </a:t>
            </a:r>
            <a:r>
              <a:rPr lang="en-US" dirty="0" err="1"/>
              <a:t>процессорах</a:t>
            </a:r>
            <a:r>
              <a:rPr lang="en-US" dirty="0"/>
              <a:t> Intel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коммерческое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— Hyper-Threading.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физическое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исполнительные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а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,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GPU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выраженную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  <a:r>
              <a:rPr lang="en-US" dirty="0" err="1"/>
              <a:t>параллелизма</a:t>
            </a:r>
            <a:r>
              <a:rPr lang="en-US" dirty="0"/>
              <a:t>: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 </a:t>
            </a:r>
            <a:r>
              <a:rPr lang="en-US" dirty="0" err="1"/>
              <a:t>предназначено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схожих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большими</a:t>
            </a:r>
            <a:r>
              <a:rPr lang="en-US" dirty="0"/>
              <a:t> </a:t>
            </a:r>
            <a:r>
              <a:rPr lang="en-US" dirty="0" err="1"/>
              <a:t>массивами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современная</a:t>
            </a:r>
            <a:r>
              <a:rPr lang="en-US" dirty="0"/>
              <a:t>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015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существенным</a:t>
            </a:r>
            <a:r>
              <a:rPr lang="en-US" dirty="0"/>
              <a:t> </a:t>
            </a:r>
            <a:r>
              <a:rPr lang="en-US" dirty="0" err="1"/>
              <a:t>ограничением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быстрой</a:t>
            </a:r>
            <a:r>
              <a:rPr lang="en-US" dirty="0"/>
              <a:t>,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и </a:t>
            </a:r>
            <a:r>
              <a:rPr lang="en-US" dirty="0" err="1"/>
              <a:t>дешёвой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компьютерах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b="1" dirty="0" err="1"/>
              <a:t>иерархия</a:t>
            </a:r>
            <a:r>
              <a:rPr lang="en-US" b="1" dirty="0"/>
              <a:t> </a:t>
            </a:r>
            <a:r>
              <a:rPr lang="en-US" b="1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верхнем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минимальными</a:t>
            </a:r>
            <a:r>
              <a:rPr lang="en-US" dirty="0"/>
              <a:t> </a:t>
            </a:r>
            <a:r>
              <a:rPr lang="en-US" dirty="0" err="1"/>
              <a:t>задержками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— </a:t>
            </a:r>
            <a:r>
              <a:rPr lang="en-US" dirty="0" err="1"/>
              <a:t>кэши</a:t>
            </a:r>
            <a:r>
              <a:rPr lang="en-US" dirty="0"/>
              <a:t> L1, L2 и L3.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скоростью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меньший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RAM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. </a:t>
            </a:r>
            <a:r>
              <a:rPr lang="en-US" dirty="0" err="1"/>
              <a:t>Наконец</a:t>
            </a:r>
            <a:r>
              <a:rPr lang="en-US" dirty="0"/>
              <a:t>, SSD и HDD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 и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долговременного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к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ближе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к </a:t>
            </a:r>
            <a:r>
              <a:rPr lang="en-US" dirty="0" err="1"/>
              <a:t>процессору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,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объёму</a:t>
            </a:r>
            <a:r>
              <a:rPr lang="en-US" dirty="0"/>
              <a:t> и </a:t>
            </a:r>
            <a:r>
              <a:rPr lang="en-US" dirty="0" err="1"/>
              <a:t>дороже</a:t>
            </a:r>
            <a:r>
              <a:rPr lang="en-US" dirty="0"/>
              <a:t> в </a:t>
            </a:r>
            <a:r>
              <a:rPr lang="en-US" dirty="0" err="1"/>
              <a:t>пересчёте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байт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.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управлении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файлами</a:t>
            </a:r>
            <a:r>
              <a:rPr lang="en-US" dirty="0"/>
              <a:t> и </a:t>
            </a:r>
            <a:r>
              <a:rPr lang="en-US" dirty="0" err="1"/>
              <a:t>вводом-выводом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178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Кэширование</a:t>
            </a:r>
            <a:r>
              <a:rPr lang="en-US" dirty="0"/>
              <a:t> </a:t>
            </a:r>
            <a:r>
              <a:rPr lang="en-US" dirty="0" err="1"/>
              <a:t>основано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недавно</a:t>
            </a:r>
            <a:r>
              <a:rPr lang="en-US" dirty="0"/>
              <a:t> </a:t>
            </a:r>
            <a:r>
              <a:rPr lang="en-US" dirty="0" err="1"/>
              <a:t>использовала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участок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высока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расположенные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свойствах</a:t>
            </a:r>
            <a:r>
              <a:rPr lang="en-US" dirty="0"/>
              <a:t> </a:t>
            </a:r>
            <a:r>
              <a:rPr lang="en-US" dirty="0" err="1"/>
              <a:t>основана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кэшей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кэше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b="1" dirty="0"/>
              <a:t>cache hit</a:t>
            </a:r>
            <a:r>
              <a:rPr lang="en-US" dirty="0"/>
              <a:t>, и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b="1" dirty="0"/>
              <a:t>cache miss</a:t>
            </a:r>
            <a:r>
              <a:rPr lang="en-US" dirty="0"/>
              <a:t>, и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медленному</a:t>
            </a:r>
            <a:r>
              <a:rPr lang="en-US" dirty="0"/>
              <a:t> </a:t>
            </a:r>
            <a:r>
              <a:rPr lang="en-US" dirty="0" err="1"/>
              <a:t>уровню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 </a:t>
            </a:r>
            <a:r>
              <a:rPr lang="en-US" dirty="0" err="1"/>
              <a:t>кэша</a:t>
            </a:r>
            <a:r>
              <a:rPr lang="en-US" dirty="0"/>
              <a:t>. L1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 и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. L2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. L3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и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кэширования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Операционные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применяют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программном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недавно</a:t>
            </a:r>
            <a:r>
              <a:rPr lang="en-US" dirty="0"/>
              <a:t> </a:t>
            </a:r>
            <a:r>
              <a:rPr lang="en-US" dirty="0" err="1"/>
              <a:t>прочитанного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в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запросит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ОС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обращаясь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к SSD </a:t>
            </a:r>
            <a:r>
              <a:rPr lang="en-US" dirty="0" err="1"/>
              <a:t>или</a:t>
            </a:r>
            <a:r>
              <a:rPr lang="en-US" dirty="0"/>
              <a:t> HDD.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кэширование</a:t>
            </a:r>
            <a:r>
              <a:rPr lang="en-US" dirty="0"/>
              <a:t> —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универсальных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повышения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,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2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с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адресами</a:t>
            </a:r>
            <a:r>
              <a:rPr lang="en-US" dirty="0"/>
              <a:t>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b="1" dirty="0" err="1"/>
              <a:t>виртуальное</a:t>
            </a:r>
            <a:r>
              <a:rPr lang="en-US" b="1" dirty="0"/>
              <a:t> </a:t>
            </a:r>
            <a:r>
              <a:rPr lang="en-US" b="1" dirty="0" err="1"/>
              <a:t>адресное</a:t>
            </a:r>
            <a:r>
              <a:rPr lang="en-US" b="1" dirty="0"/>
              <a:t> </a:t>
            </a:r>
            <a:r>
              <a:rPr lang="en-US" b="1" dirty="0" err="1"/>
              <a:t>пространство</a:t>
            </a:r>
            <a:r>
              <a:rPr lang="en-US" dirty="0"/>
              <a:t>.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принадлежащая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виртуальных</a:t>
            </a:r>
            <a:r>
              <a:rPr lang="en-US" dirty="0"/>
              <a:t> </a:t>
            </a:r>
            <a:r>
              <a:rPr lang="en-US" dirty="0" err="1"/>
              <a:t>адресов</a:t>
            </a:r>
            <a:r>
              <a:rPr lang="en-US" dirty="0"/>
              <a:t> в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блок</a:t>
            </a:r>
            <a:r>
              <a:rPr lang="en-US" dirty="0"/>
              <a:t> — </a:t>
            </a:r>
            <a:r>
              <a:rPr lang="en-US" b="1" dirty="0"/>
              <a:t>MMU, Memory Management Unit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и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 В </a:t>
            </a:r>
            <a:r>
              <a:rPr lang="en-US" dirty="0" err="1"/>
              <a:t>таблицах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страницами</a:t>
            </a:r>
            <a:r>
              <a:rPr lang="en-US" dirty="0"/>
              <a:t> RAM,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разрешены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произвольному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разрешила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странице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недоступна</a:t>
            </a:r>
            <a:r>
              <a:rPr lang="en-US" dirty="0"/>
              <a:t> в </a:t>
            </a:r>
            <a:r>
              <a:rPr lang="en-US" dirty="0" err="1"/>
              <a:t>физической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b="1" dirty="0"/>
              <a:t>page fault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ОС </a:t>
            </a:r>
            <a:r>
              <a:rPr lang="en-US" dirty="0" err="1"/>
              <a:t>анализирует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страницу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а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обращение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ошибочным</a:t>
            </a:r>
            <a:r>
              <a:rPr lang="en-US" dirty="0"/>
              <a:t> и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завершён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адресации</a:t>
            </a:r>
            <a:r>
              <a:rPr lang="en-US" dirty="0"/>
              <a:t>, </a:t>
            </a:r>
            <a:r>
              <a:rPr lang="en-US" dirty="0" err="1"/>
              <a:t>защиты</a:t>
            </a:r>
            <a:r>
              <a:rPr lang="en-US" dirty="0"/>
              <a:t> и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 </a:t>
            </a:r>
            <a:r>
              <a:rPr lang="en-US" dirty="0" err="1"/>
              <a:t>Использование</a:t>
            </a:r>
            <a:r>
              <a:rPr lang="en-US" dirty="0"/>
              <a:t> swap </a:t>
            </a:r>
            <a:r>
              <a:rPr lang="en-US" dirty="0" err="1"/>
              <a:t>или</a:t>
            </a:r>
            <a:r>
              <a:rPr lang="en-US" dirty="0"/>
              <a:t> page file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сценариев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194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долговременного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распространены</a:t>
            </a:r>
            <a:r>
              <a:rPr lang="en-US" dirty="0"/>
              <a:t> HDD и SSD</a:t>
            </a:r>
            <a:endParaRPr lang="ru-RU" dirty="0"/>
          </a:p>
          <a:p>
            <a:r>
              <a:rPr lang="en-US" dirty="0"/>
              <a:t>.</a:t>
            </a:r>
          </a:p>
          <a:p>
            <a:r>
              <a:rPr lang="en-US" dirty="0" err="1"/>
              <a:t>Жёсткий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— HDD —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вращающиеся</a:t>
            </a:r>
            <a:r>
              <a:rPr lang="en-US" dirty="0"/>
              <a:t> </a:t>
            </a:r>
            <a:r>
              <a:rPr lang="en-US" dirty="0" err="1"/>
              <a:t>магнитные</a:t>
            </a:r>
            <a:r>
              <a:rPr lang="en-US" dirty="0"/>
              <a:t> </a:t>
            </a:r>
            <a:r>
              <a:rPr lang="en-US" dirty="0" err="1"/>
              <a:t>пластины</a:t>
            </a:r>
            <a:r>
              <a:rPr lang="en-US" dirty="0"/>
              <a:t> и </a:t>
            </a:r>
            <a:r>
              <a:rPr lang="en-US" dirty="0" err="1"/>
              <a:t>механические</a:t>
            </a:r>
            <a:r>
              <a:rPr lang="en-US" dirty="0"/>
              <a:t> </a:t>
            </a:r>
            <a:r>
              <a:rPr lang="en-US" dirty="0" err="1"/>
              <a:t>головки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, </a:t>
            </a:r>
            <a:r>
              <a:rPr lang="en-US" dirty="0" err="1"/>
              <a:t>головка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переместиться</a:t>
            </a:r>
            <a:r>
              <a:rPr lang="en-US" dirty="0"/>
              <a:t> в </a:t>
            </a:r>
            <a:r>
              <a:rPr lang="en-US" dirty="0" err="1"/>
              <a:t>нужную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, а </a:t>
            </a:r>
            <a:r>
              <a:rPr lang="en-US" dirty="0" err="1"/>
              <a:t>диск</a:t>
            </a:r>
            <a:r>
              <a:rPr lang="en-US" dirty="0"/>
              <a:t> — </a:t>
            </a:r>
            <a:r>
              <a:rPr lang="en-US" dirty="0" err="1"/>
              <a:t>повернуться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нужного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дорогими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случайные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участкам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SSD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flash-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движущихся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случайного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накопителей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—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адресуемых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различаются</a:t>
            </a:r>
            <a:r>
              <a:rPr lang="en-US" dirty="0"/>
              <a:t>, 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и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ОС </a:t>
            </a:r>
            <a:r>
              <a:rPr lang="en-US" dirty="0" err="1"/>
              <a:t>старается</a:t>
            </a:r>
            <a:r>
              <a:rPr lang="en-US" dirty="0"/>
              <a:t> </a:t>
            </a:r>
            <a:r>
              <a:rPr lang="en-US" dirty="0" err="1"/>
              <a:t>скрыть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886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значительную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низкоуровневой</a:t>
            </a:r>
            <a:r>
              <a:rPr lang="en-US" dirty="0"/>
              <a:t> </a:t>
            </a:r>
            <a:r>
              <a:rPr lang="en-US" dirty="0" err="1"/>
              <a:t>логики</a:t>
            </a:r>
            <a:r>
              <a:rPr lang="en-US" dirty="0"/>
              <a:t>.</a:t>
            </a:r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SSD,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карты</a:t>
            </a:r>
            <a:r>
              <a:rPr lang="en-US" dirty="0"/>
              <a:t>, </a:t>
            </a:r>
            <a:r>
              <a:rPr lang="en-US" dirty="0" err="1"/>
              <a:t>видеокарты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USB-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b="1" dirty="0" err="1"/>
              <a:t>драйвер</a:t>
            </a:r>
            <a:r>
              <a:rPr lang="en-US" b="1" dirty="0"/>
              <a:t> </a:t>
            </a:r>
            <a:r>
              <a:rPr lang="en-US" b="1" dirty="0" err="1"/>
              <a:t>устройства</a:t>
            </a:r>
            <a:r>
              <a:rPr lang="en-US" dirty="0"/>
              <a:t>.</a:t>
            </a:r>
          </a:p>
          <a:p>
            <a:r>
              <a:rPr lang="en-US" dirty="0" err="1"/>
              <a:t>Драйвер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контроллера</a:t>
            </a:r>
            <a:r>
              <a:rPr lang="en-US" dirty="0"/>
              <a:t> и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преобразовывать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в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данному</a:t>
            </a:r>
            <a:r>
              <a:rPr lang="en-US" dirty="0"/>
              <a:t> </a:t>
            </a:r>
            <a:r>
              <a:rPr lang="en-US" dirty="0" err="1"/>
              <a:t>устройству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запросить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блока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драйвер</a:t>
            </a:r>
            <a:r>
              <a:rPr lang="en-US" dirty="0"/>
              <a:t> </a:t>
            </a:r>
            <a:r>
              <a:rPr lang="en-US" dirty="0" err="1"/>
              <a:t>накопителя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в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контроллеру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драйверов</a:t>
            </a:r>
            <a:r>
              <a:rPr lang="en-US" dirty="0"/>
              <a:t> </a:t>
            </a:r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 </a:t>
            </a:r>
            <a:r>
              <a:rPr lang="en-US" dirty="0" err="1"/>
              <a:t>прямой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аппаратным</a:t>
            </a:r>
            <a:r>
              <a:rPr lang="en-US" dirty="0"/>
              <a:t> </a:t>
            </a:r>
            <a:r>
              <a:rPr lang="en-US" dirty="0" err="1"/>
              <a:t>ресурсам</a:t>
            </a:r>
            <a:r>
              <a:rPr lang="en-US" dirty="0"/>
              <a:t> и </a:t>
            </a:r>
            <a:r>
              <a:rPr lang="en-US" dirty="0" err="1"/>
              <a:t>привилегированным</a:t>
            </a:r>
            <a:r>
              <a:rPr lang="en-US" dirty="0"/>
              <a:t> </a:t>
            </a:r>
            <a:r>
              <a:rPr lang="en-US" dirty="0" err="1"/>
              <a:t>операциям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удобно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надёжности</a:t>
            </a:r>
            <a:r>
              <a:rPr lang="en-US" dirty="0"/>
              <a:t> </a:t>
            </a:r>
            <a:r>
              <a:rPr lang="en-US" dirty="0" err="1"/>
              <a:t>драйвера</a:t>
            </a:r>
            <a:r>
              <a:rPr lang="en-US" dirty="0"/>
              <a:t>: </a:t>
            </a:r>
            <a:r>
              <a:rPr lang="en-US" dirty="0" err="1"/>
              <a:t>ошибка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, </a:t>
            </a:r>
            <a:r>
              <a:rPr lang="en-US" dirty="0" err="1"/>
              <a:t>работающем</a:t>
            </a:r>
            <a:r>
              <a:rPr lang="en-US" dirty="0"/>
              <a:t> в kernel mode, </a:t>
            </a:r>
            <a:r>
              <a:rPr lang="en-US" dirty="0" err="1"/>
              <a:t>способна</a:t>
            </a:r>
            <a:r>
              <a:rPr lang="en-US" dirty="0"/>
              <a:t> </a:t>
            </a:r>
            <a:r>
              <a:rPr lang="en-US" dirty="0" err="1"/>
              <a:t>нарушить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драйвер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связующим</a:t>
            </a:r>
            <a:r>
              <a:rPr lang="en-US" dirty="0"/>
              <a:t> </a:t>
            </a:r>
            <a:r>
              <a:rPr lang="en-US" dirty="0" err="1"/>
              <a:t>звеном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 ОС и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оборудованием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07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и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координируют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b="1" dirty="0"/>
              <a:t>polling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опрос</a:t>
            </a:r>
            <a:r>
              <a:rPr lang="en-US" dirty="0"/>
              <a:t>.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периодически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выясняет</a:t>
            </a:r>
            <a:r>
              <a:rPr lang="en-US" dirty="0"/>
              <a:t>, </a:t>
            </a:r>
            <a:r>
              <a:rPr lang="en-US" dirty="0" err="1"/>
              <a:t>завершилась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прост</a:t>
            </a:r>
            <a:r>
              <a:rPr lang="en-US" dirty="0"/>
              <a:t> в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неэффективным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тратит</a:t>
            </a:r>
            <a:r>
              <a:rPr lang="en-US" dirty="0"/>
              <a:t> </a:t>
            </a:r>
            <a:r>
              <a:rPr lang="en-US" dirty="0" err="1"/>
              <a:t>вычислительное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— </a:t>
            </a:r>
            <a:r>
              <a:rPr lang="en-US" b="1" dirty="0" err="1"/>
              <a:t>прерывания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,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приостанавливает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обработчику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в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объёмов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b="1" dirty="0"/>
              <a:t>DMA — Direct Memory Access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контроллером</a:t>
            </a:r>
            <a:r>
              <a:rPr lang="en-US" dirty="0"/>
              <a:t> </a:t>
            </a:r>
            <a:r>
              <a:rPr lang="en-US" dirty="0" err="1"/>
              <a:t>накопителя</a:t>
            </a:r>
            <a:r>
              <a:rPr lang="en-US" dirty="0"/>
              <a:t> и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копирует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байт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уведомляет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ru-RU" dirty="0"/>
              <a:t> прерывания</a:t>
            </a:r>
            <a:r>
              <a:rPr lang="en-US" dirty="0"/>
              <a:t> и DMA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участие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в </a:t>
            </a:r>
            <a:r>
              <a:rPr lang="en-US" dirty="0" err="1"/>
              <a:t>обслуживании</a:t>
            </a:r>
            <a:r>
              <a:rPr lang="en-US" dirty="0"/>
              <a:t> </a:t>
            </a:r>
            <a:r>
              <a:rPr lang="en-US" dirty="0" err="1"/>
              <a:t>медленных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97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учебных</a:t>
            </a:r>
            <a:r>
              <a:rPr lang="en-US" dirty="0"/>
              <a:t> </a:t>
            </a:r>
            <a:r>
              <a:rPr lang="en-US" dirty="0" err="1"/>
              <a:t>схемах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изображают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системную</a:t>
            </a:r>
            <a:r>
              <a:rPr lang="en-US" dirty="0"/>
              <a:t> </a:t>
            </a:r>
            <a:r>
              <a:rPr lang="en-US" dirty="0" err="1"/>
              <a:t>шину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соединяет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близка</a:t>
            </a:r>
            <a:r>
              <a:rPr lang="en-US" dirty="0"/>
              <a:t> к </a:t>
            </a:r>
            <a:r>
              <a:rPr lang="en-US" dirty="0" err="1"/>
              <a:t>реальности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устроены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подключается</a:t>
            </a:r>
            <a:r>
              <a:rPr lang="en-US" dirty="0"/>
              <a:t> к </a:t>
            </a:r>
            <a:r>
              <a:rPr lang="en-US" dirty="0" err="1"/>
              <a:t>процессору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специализированный</a:t>
            </a:r>
            <a:r>
              <a:rPr lang="en-US" dirty="0"/>
              <a:t> </a:t>
            </a:r>
            <a:r>
              <a:rPr lang="en-US" dirty="0" err="1"/>
              <a:t>высокоскоростной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DDR4 </a:t>
            </a:r>
            <a:r>
              <a:rPr lang="en-US" dirty="0" err="1"/>
              <a:t>или</a:t>
            </a:r>
            <a:r>
              <a:rPr lang="en-US" dirty="0"/>
              <a:t> DDR5.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Высокопроизводительные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— </a:t>
            </a:r>
            <a:r>
              <a:rPr lang="en-US" dirty="0" err="1"/>
              <a:t>видеокарты</a:t>
            </a:r>
            <a:r>
              <a:rPr lang="en-US" dirty="0"/>
              <a:t>, </a:t>
            </a:r>
            <a:r>
              <a:rPr lang="en-US" dirty="0" err="1"/>
              <a:t>NVMe-накопители</a:t>
            </a:r>
            <a:r>
              <a:rPr lang="en-US" dirty="0"/>
              <a:t>,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адаптеры</a:t>
            </a:r>
            <a:r>
              <a:rPr lang="en-US" dirty="0"/>
              <a:t> —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PCI Express.</a:t>
            </a:r>
            <a:endParaRPr lang="ru-RU" dirty="0"/>
          </a:p>
          <a:p>
            <a:endParaRPr lang="en-US" dirty="0"/>
          </a:p>
          <a:p>
            <a:r>
              <a:rPr lang="en-US" dirty="0"/>
              <a:t>PCIe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старых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шин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b="1" dirty="0"/>
              <a:t>point-to-point</a:t>
            </a:r>
            <a:r>
              <a:rPr lang="en-US" dirty="0"/>
              <a:t>.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, </a:t>
            </a:r>
            <a:r>
              <a:rPr lang="en-US" dirty="0" err="1"/>
              <a:t>состоящий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линий</a:t>
            </a:r>
            <a:r>
              <a:rPr lang="en-US" dirty="0"/>
              <a:t> — x1, x4, x8 </a:t>
            </a:r>
            <a:r>
              <a:rPr lang="en-US" dirty="0" err="1"/>
              <a:t>или</a:t>
            </a:r>
            <a:r>
              <a:rPr lang="en-US" dirty="0"/>
              <a:t> x16.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накопителей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SATA,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периферийных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— USB.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шину</a:t>
            </a:r>
            <a:r>
              <a:rPr lang="en-US" dirty="0"/>
              <a:t>, а </a:t>
            </a:r>
            <a:r>
              <a:rPr lang="en-US" dirty="0" err="1"/>
              <a:t>иерархию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обнаруживать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интерфейсах</a:t>
            </a:r>
            <a:r>
              <a:rPr lang="en-US" dirty="0"/>
              <a:t>,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,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драйверы</a:t>
            </a:r>
            <a:r>
              <a:rPr lang="en-US" dirty="0"/>
              <a:t> и </a:t>
            </a:r>
            <a:r>
              <a:rPr lang="en-US" dirty="0" err="1"/>
              <a:t>организовывать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запоминать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поколения</a:t>
            </a:r>
            <a:r>
              <a:rPr lang="en-US" dirty="0"/>
              <a:t> и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ОС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: </a:t>
            </a:r>
            <a:r>
              <a:rPr lang="en-US" b="1" dirty="0" err="1"/>
              <a:t>аппаратные</a:t>
            </a:r>
            <a:r>
              <a:rPr lang="en-US" b="1" dirty="0"/>
              <a:t> </a:t>
            </a:r>
            <a:r>
              <a:rPr lang="en-US" b="1" dirty="0" err="1"/>
              <a:t>компоненты</a:t>
            </a:r>
            <a:r>
              <a:rPr lang="en-US" b="1" dirty="0"/>
              <a:t> </a:t>
            </a:r>
            <a:r>
              <a:rPr lang="en-US" b="1" dirty="0" err="1"/>
              <a:t>связаны</a:t>
            </a:r>
            <a:r>
              <a:rPr lang="en-US" b="1" dirty="0"/>
              <a:t> </a:t>
            </a:r>
            <a:r>
              <a:rPr lang="en-US" b="1" dirty="0" err="1"/>
              <a:t>через</a:t>
            </a:r>
            <a:r>
              <a:rPr lang="en-US" b="1" dirty="0"/>
              <a:t> </a:t>
            </a:r>
            <a:r>
              <a:rPr lang="en-US" b="1" dirty="0" err="1"/>
              <a:t>стандартизованные</a:t>
            </a:r>
            <a:r>
              <a:rPr lang="en-US" b="1" dirty="0"/>
              <a:t> </a:t>
            </a:r>
            <a:r>
              <a:rPr lang="en-US" b="1" dirty="0" err="1"/>
              <a:t>интерфейсы</a:t>
            </a:r>
            <a:r>
              <a:rPr lang="en-US" b="1" dirty="0"/>
              <a:t>, а </a:t>
            </a:r>
            <a:r>
              <a:rPr lang="en-US" b="1" dirty="0" err="1"/>
              <a:t>операционная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управлять</a:t>
            </a:r>
            <a:r>
              <a:rPr lang="en-US" b="1" dirty="0"/>
              <a:t> </a:t>
            </a:r>
            <a:r>
              <a:rPr lang="en-US" b="1" dirty="0" err="1"/>
              <a:t>всей</a:t>
            </a:r>
            <a:r>
              <a:rPr lang="en-US" b="1" dirty="0"/>
              <a:t>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инфраструктурой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единой</a:t>
            </a:r>
            <a:r>
              <a:rPr lang="en-US" b="1" dirty="0"/>
              <a:t> </a:t>
            </a:r>
            <a:r>
              <a:rPr lang="en-US" b="1" dirty="0" err="1"/>
              <a:t>системой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80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983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включения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в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в </a:t>
            </a:r>
            <a:r>
              <a:rPr lang="en-US" dirty="0" err="1"/>
              <a:t>исполняемом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: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накопителе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аппаратном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устанавливается</a:t>
            </a:r>
            <a:r>
              <a:rPr lang="en-US" dirty="0"/>
              <a:t> в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определённое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с </a:t>
            </a:r>
            <a:r>
              <a:rPr lang="en-US" dirty="0" err="1"/>
              <a:t>архитектурно</a:t>
            </a:r>
            <a:r>
              <a:rPr lang="en-US" dirty="0"/>
              <a:t> </a:t>
            </a:r>
            <a:r>
              <a:rPr lang="en-US" dirty="0" err="1"/>
              <a:t>заданной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reset vector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системной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r>
              <a:rPr lang="en-US" dirty="0"/>
              <a:t> — BIOS в </a:t>
            </a:r>
            <a:r>
              <a:rPr lang="en-US" dirty="0" err="1"/>
              <a:t>старых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UEFI в </a:t>
            </a:r>
            <a:r>
              <a:rPr lang="en-US" dirty="0" err="1"/>
              <a:t>современных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минимально</a:t>
            </a:r>
            <a:r>
              <a:rPr lang="en-US" dirty="0"/>
              <a:t>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подготовку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к </a:t>
            </a:r>
            <a:r>
              <a:rPr lang="en-US" dirty="0" err="1"/>
              <a:t>дальнейшей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инициализирует</a:t>
            </a:r>
            <a:r>
              <a:rPr lang="en-US" dirty="0"/>
              <a:t>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обнаруживает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контроллеры</a:t>
            </a:r>
            <a:r>
              <a:rPr lang="en-US" dirty="0"/>
              <a:t>,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загрузочные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 err="1"/>
              <a:t>загрузчиком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bootloader.</a:t>
            </a:r>
          </a:p>
          <a:p>
            <a:endParaRPr lang="ru-RU" dirty="0"/>
          </a:p>
          <a:p>
            <a:r>
              <a:rPr lang="en-US" dirty="0" err="1"/>
              <a:t>Загрузчик</a:t>
            </a:r>
            <a:r>
              <a:rPr lang="en-US" dirty="0"/>
              <a:t> </a:t>
            </a:r>
            <a:r>
              <a:rPr lang="en-US" dirty="0" err="1"/>
              <a:t>находит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помещает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системе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собственно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ОС.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драйверы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подсистемы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 и </a:t>
            </a:r>
            <a:r>
              <a:rPr lang="en-US" dirty="0" err="1"/>
              <a:t>пользовательское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 err="1"/>
              <a:t>окружение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загрузка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последовательная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аппаратура</a:t>
            </a:r>
            <a:r>
              <a:rPr lang="en-US" b="1" dirty="0"/>
              <a:t> → </a:t>
            </a:r>
            <a:r>
              <a:rPr lang="en-US" b="1" dirty="0" err="1"/>
              <a:t>прошивка</a:t>
            </a:r>
            <a:r>
              <a:rPr lang="en-US" b="1" dirty="0"/>
              <a:t> → </a:t>
            </a:r>
            <a:r>
              <a:rPr lang="en-US" b="1" dirty="0" err="1"/>
              <a:t>загрузчик</a:t>
            </a:r>
            <a:r>
              <a:rPr lang="en-US" b="1" dirty="0"/>
              <a:t> → </a:t>
            </a:r>
            <a:r>
              <a:rPr lang="en-US" b="1" dirty="0" err="1"/>
              <a:t>ядро</a:t>
            </a:r>
            <a:r>
              <a:rPr lang="en-US" b="1" dirty="0"/>
              <a:t> → </a:t>
            </a:r>
            <a:r>
              <a:rPr lang="en-US" b="1" dirty="0" err="1"/>
              <a:t>пользовательские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682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исторических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к </a:t>
            </a:r>
            <a:r>
              <a:rPr lang="en-US" dirty="0" err="1"/>
              <a:t>начальной</a:t>
            </a:r>
            <a:r>
              <a:rPr lang="en-US" dirty="0"/>
              <a:t> </a:t>
            </a:r>
            <a:r>
              <a:rPr lang="en-US" dirty="0" err="1"/>
              <a:t>загрузке</a:t>
            </a:r>
            <a:r>
              <a:rPr lang="en-US" dirty="0"/>
              <a:t> </a:t>
            </a:r>
            <a:r>
              <a:rPr lang="en-US" dirty="0" err="1"/>
              <a:t>персонального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: </a:t>
            </a:r>
            <a:r>
              <a:rPr lang="en-US" dirty="0" err="1"/>
              <a:t>классический</a:t>
            </a:r>
            <a:r>
              <a:rPr lang="en-US" dirty="0"/>
              <a:t> BIOS и </a:t>
            </a:r>
            <a:r>
              <a:rPr lang="en-US" dirty="0" err="1"/>
              <a:t>современный</a:t>
            </a:r>
            <a:r>
              <a:rPr lang="en-US" dirty="0"/>
              <a:t> UEFI.</a:t>
            </a:r>
          </a:p>
          <a:p>
            <a:endParaRPr lang="en-US" dirty="0"/>
          </a:p>
          <a:p>
            <a:r>
              <a:rPr lang="en-US" dirty="0"/>
              <a:t>BIOS </a:t>
            </a:r>
            <a:r>
              <a:rPr lang="en-US" dirty="0" err="1"/>
              <a:t>восходит</a:t>
            </a:r>
            <a:r>
              <a:rPr lang="en-US" dirty="0"/>
              <a:t> к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IBM PC. В </a:t>
            </a:r>
            <a:r>
              <a:rPr lang="en-US" dirty="0" err="1"/>
              <a:t>традиционной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BIOS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загрузочный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и </a:t>
            </a:r>
            <a:r>
              <a:rPr lang="en-US" dirty="0" err="1"/>
              <a:t>считывает</a:t>
            </a:r>
            <a:r>
              <a:rPr lang="en-US" dirty="0"/>
              <a:t> с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сектор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MBR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сектор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512 </a:t>
            </a:r>
            <a:r>
              <a:rPr lang="en-US" dirty="0" err="1"/>
              <a:t>байт</a:t>
            </a:r>
            <a:r>
              <a:rPr lang="en-US" dirty="0"/>
              <a:t> и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загрузочного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Очевидно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загрузчик</a:t>
            </a:r>
            <a:r>
              <a:rPr lang="en-US" dirty="0"/>
              <a:t> 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помещается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файловую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и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отделять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говорят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«BIOS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диски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терабайт</a:t>
            </a:r>
            <a:r>
              <a:rPr lang="en-US" dirty="0"/>
              <a:t>».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 </a:t>
            </a:r>
            <a:r>
              <a:rPr lang="en-US" dirty="0" err="1"/>
              <a:t>характерно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традиционной</a:t>
            </a:r>
            <a:r>
              <a:rPr lang="en-US" dirty="0"/>
              <a:t> </a:t>
            </a:r>
            <a:r>
              <a:rPr lang="en-US" dirty="0" err="1"/>
              <a:t>схемы</a:t>
            </a:r>
            <a:r>
              <a:rPr lang="en-US" dirty="0"/>
              <a:t> </a:t>
            </a:r>
            <a:r>
              <a:rPr lang="en-US" dirty="0" err="1"/>
              <a:t>разбиения</a:t>
            </a:r>
            <a:r>
              <a:rPr lang="en-US" dirty="0"/>
              <a:t> </a:t>
            </a:r>
            <a:r>
              <a:rPr lang="en-US" b="1" dirty="0"/>
              <a:t>MBR</a:t>
            </a:r>
            <a:r>
              <a:rPr lang="en-US" dirty="0"/>
              <a:t>, </a:t>
            </a:r>
            <a:r>
              <a:rPr lang="en-US" dirty="0" err="1"/>
              <a:t>использующей</a:t>
            </a:r>
            <a:r>
              <a:rPr lang="en-US" dirty="0"/>
              <a:t> 32-битные </a:t>
            </a:r>
            <a:r>
              <a:rPr lang="en-US" dirty="0" err="1"/>
              <a:t>номера</a:t>
            </a:r>
            <a:r>
              <a:rPr lang="en-US" dirty="0"/>
              <a:t> </a:t>
            </a:r>
            <a:r>
              <a:rPr lang="en-US" dirty="0" err="1"/>
              <a:t>секторов</a:t>
            </a:r>
            <a:r>
              <a:rPr lang="en-US" dirty="0"/>
              <a:t>. </a:t>
            </a:r>
            <a:r>
              <a:rPr lang="en-US" dirty="0" err="1"/>
              <a:t>Сам</a:t>
            </a:r>
            <a:r>
              <a:rPr lang="en-US" dirty="0"/>
              <a:t> BIOS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непосредственной</a:t>
            </a:r>
            <a:r>
              <a:rPr lang="en-US" dirty="0"/>
              <a:t> </a:t>
            </a:r>
            <a:r>
              <a:rPr lang="en-US" dirty="0" err="1"/>
              <a:t>причиной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UEFI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. Это </a:t>
            </a:r>
            <a:r>
              <a:rPr lang="en-US" dirty="0" err="1"/>
              <a:t>стандартизованная</a:t>
            </a:r>
            <a:r>
              <a:rPr lang="en-US" dirty="0"/>
              <a:t> </a:t>
            </a:r>
            <a:r>
              <a:rPr lang="en-US" dirty="0" err="1"/>
              <a:t>программная</a:t>
            </a:r>
            <a:r>
              <a:rPr lang="en-US" dirty="0"/>
              <a:t> </a:t>
            </a:r>
            <a:r>
              <a:rPr lang="en-US" dirty="0" err="1"/>
              <a:t>среда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разделами</a:t>
            </a:r>
            <a:r>
              <a:rPr lang="en-US" dirty="0"/>
              <a:t> и </a:t>
            </a:r>
            <a:r>
              <a:rPr lang="en-US" dirty="0" err="1"/>
              <a:t>файловыми</a:t>
            </a:r>
            <a:r>
              <a:rPr lang="en-US" dirty="0"/>
              <a:t> </a:t>
            </a:r>
            <a:r>
              <a:rPr lang="en-US" dirty="0" err="1"/>
              <a:t>системами</a:t>
            </a:r>
            <a:r>
              <a:rPr lang="en-US" dirty="0"/>
              <a:t> и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специального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b="1" dirty="0"/>
              <a:t>EFI System Partition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ESP.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efi</a:t>
            </a:r>
            <a:r>
              <a:rPr lang="en-US" dirty="0" err="1"/>
              <a:t>-файлы</a:t>
            </a:r>
            <a:r>
              <a:rPr lang="en-US" dirty="0"/>
              <a:t> </a:t>
            </a:r>
            <a:r>
              <a:rPr lang="en-US" dirty="0" err="1"/>
              <a:t>загрузчиков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Windows Boot Manager </a:t>
            </a:r>
            <a:r>
              <a:rPr lang="en-US" dirty="0" err="1"/>
              <a:t>или</a:t>
            </a:r>
            <a:r>
              <a:rPr lang="en-US" dirty="0"/>
              <a:t> GRUB.</a:t>
            </a:r>
          </a:p>
          <a:p>
            <a:endParaRPr lang="en-US" dirty="0"/>
          </a:p>
          <a:p>
            <a:r>
              <a:rPr lang="en-US" dirty="0"/>
              <a:t>UEFI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загрузочные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в </a:t>
            </a:r>
            <a:r>
              <a:rPr lang="en-US" dirty="0" err="1"/>
              <a:t>энергонезависимой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— NVRAM.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загрузчик</a:t>
            </a:r>
            <a:r>
              <a:rPr lang="en-US" dirty="0"/>
              <a:t> и с </a:t>
            </a:r>
            <a:r>
              <a:rPr lang="en-US" dirty="0" err="1"/>
              <a:t>какого</a:t>
            </a:r>
            <a:r>
              <a:rPr lang="en-US" dirty="0"/>
              <a:t> </a:t>
            </a:r>
            <a:r>
              <a:rPr lang="en-US" dirty="0" err="1"/>
              <a:t>раздела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Современные</a:t>
            </a:r>
            <a:r>
              <a:rPr lang="en-US" dirty="0"/>
              <a:t> UEFI-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b="1" dirty="0"/>
              <a:t>GPT — GUID Partition Table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MBR, GPT </a:t>
            </a:r>
            <a:r>
              <a:rPr lang="en-US" dirty="0" err="1"/>
              <a:t>рассчитана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большие</a:t>
            </a:r>
            <a:r>
              <a:rPr lang="en-US" dirty="0"/>
              <a:t> </a:t>
            </a:r>
            <a:r>
              <a:rPr lang="en-US" dirty="0" err="1"/>
              <a:t>накопители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гибкую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метаданных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UEFI «</a:t>
            </a:r>
            <a:r>
              <a:rPr lang="en-US" dirty="0" err="1"/>
              <a:t>новее</a:t>
            </a:r>
            <a:r>
              <a:rPr lang="en-US" dirty="0"/>
              <a:t> BIOS», а в </a:t>
            </a:r>
            <a:r>
              <a:rPr lang="en-US" dirty="0" err="1"/>
              <a:t>принципе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: BIOS </a:t>
            </a:r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с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в </a:t>
            </a:r>
            <a:r>
              <a:rPr lang="en-US" dirty="0" err="1"/>
              <a:t>секторе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,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UEFI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загрузочные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115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выполнила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к </a:t>
            </a:r>
            <a:r>
              <a:rPr lang="en-US" dirty="0" err="1"/>
              <a:t>загрузчику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Загрузчик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нужное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, </a:t>
            </a:r>
            <a:r>
              <a:rPr lang="en-US" dirty="0" err="1"/>
              <a:t>разместить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минимальные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З</a:t>
            </a:r>
            <a:r>
              <a:rPr lang="en-US" dirty="0" err="1"/>
              <a:t>агрузчик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ru-RU" dirty="0"/>
              <a:t> загружаемой ОС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GRUB. В Windows </a:t>
            </a:r>
            <a:r>
              <a:rPr lang="en-US" dirty="0" err="1"/>
              <a:t>аналогичную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в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Windows Boot Manager.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загружается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окружение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Linux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b="1" dirty="0" err="1"/>
              <a:t>initramfs</a:t>
            </a:r>
            <a:r>
              <a:rPr lang="en-US" dirty="0"/>
              <a:t> —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файловую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содержащую</a:t>
            </a:r>
            <a:r>
              <a:rPr lang="en-US" dirty="0"/>
              <a:t> </a:t>
            </a:r>
            <a:r>
              <a:rPr lang="en-US" dirty="0" err="1"/>
              <a:t>драйверы</a:t>
            </a:r>
            <a:r>
              <a:rPr lang="en-US" dirty="0"/>
              <a:t> и </a:t>
            </a:r>
            <a:r>
              <a:rPr lang="en-US" dirty="0" err="1"/>
              <a:t>инструменты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необходимы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, </a:t>
            </a:r>
            <a:r>
              <a:rPr lang="en-US" dirty="0" err="1"/>
              <a:t>таймеры</a:t>
            </a:r>
            <a:r>
              <a:rPr lang="en-US" dirty="0"/>
              <a:t> и </a:t>
            </a:r>
            <a:r>
              <a:rPr lang="en-US" dirty="0" err="1"/>
              <a:t>планировщик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обнаруживает</a:t>
            </a:r>
            <a:r>
              <a:rPr lang="en-US" dirty="0"/>
              <a:t>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подключает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драйверы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dirty="0" err="1"/>
              <a:t>постоянным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смонтировать</a:t>
            </a:r>
            <a:r>
              <a:rPr lang="en-US" dirty="0"/>
              <a:t> </a:t>
            </a:r>
            <a:r>
              <a:rPr lang="en-US" dirty="0" err="1"/>
              <a:t>корневую</a:t>
            </a:r>
            <a:r>
              <a:rPr lang="en-US" dirty="0"/>
              <a:t> </a:t>
            </a:r>
            <a:r>
              <a:rPr lang="en-US" dirty="0" err="1"/>
              <a:t>файловую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загрузилась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,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systemd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init-система</a:t>
            </a:r>
            <a:r>
              <a:rPr lang="en-US" dirty="0"/>
              <a:t>. В Windows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служб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концов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приглашение</a:t>
            </a:r>
            <a:r>
              <a:rPr lang="en-US" dirty="0"/>
              <a:t> </a:t>
            </a:r>
            <a:r>
              <a:rPr lang="en-US" dirty="0" err="1"/>
              <a:t>командной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, </a:t>
            </a:r>
            <a:r>
              <a:rPr lang="en-US" dirty="0" err="1"/>
              <a:t>экран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оболочка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этапа</a:t>
            </a:r>
            <a:r>
              <a:rPr lang="en-US" dirty="0"/>
              <a:t>:</a:t>
            </a:r>
          </a:p>
          <a:p>
            <a:r>
              <a:rPr lang="en-US" b="1" dirty="0"/>
              <a:t>boot</a:t>
            </a:r>
            <a:r>
              <a:rPr lang="en-US" dirty="0"/>
              <a:t> — </a:t>
            </a:r>
            <a:r>
              <a:rPr lang="en-US" dirty="0" err="1"/>
              <a:t>запуск</a:t>
            </a:r>
            <a:r>
              <a:rPr lang="en-US" dirty="0"/>
              <a:t> и </a:t>
            </a:r>
            <a:r>
              <a:rPr lang="en-US" dirty="0" err="1"/>
              <a:t>инициализация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;</a:t>
            </a:r>
          </a:p>
          <a:p>
            <a:r>
              <a:rPr lang="ru-RU" b="1" dirty="0"/>
              <a:t>инициализация</a:t>
            </a:r>
            <a:r>
              <a:rPr lang="en-US" b="1" dirty="0"/>
              <a:t> </a:t>
            </a:r>
            <a:r>
              <a:rPr lang="en-US" b="1" dirty="0" err="1"/>
              <a:t>пользовательского</a:t>
            </a:r>
            <a:r>
              <a:rPr lang="en-US" b="1" dirty="0"/>
              <a:t> </a:t>
            </a:r>
            <a:r>
              <a:rPr lang="en-US" b="1" dirty="0" err="1"/>
              <a:t>пространства</a:t>
            </a:r>
            <a:r>
              <a:rPr lang="en-US" dirty="0"/>
              <a:t> — </a:t>
            </a: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служб</a:t>
            </a:r>
            <a:r>
              <a:rPr lang="en-US" dirty="0"/>
              <a:t> и </a:t>
            </a:r>
            <a:r>
              <a:rPr lang="en-US" dirty="0" err="1"/>
              <a:t>среды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423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детально</a:t>
            </a:r>
            <a:r>
              <a:rPr lang="en-US" dirty="0"/>
              <a:t> </a:t>
            </a:r>
            <a:r>
              <a:rPr lang="en-US" dirty="0" err="1"/>
              <a:t>разобрать</a:t>
            </a:r>
            <a:r>
              <a:rPr lang="en-US" dirty="0"/>
              <a:t> </a:t>
            </a:r>
            <a:r>
              <a:rPr lang="en-US" dirty="0" err="1"/>
              <a:t>какой-либо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а </a:t>
            </a:r>
            <a:r>
              <a:rPr lang="en-US" dirty="0" err="1"/>
              <a:t>сформировать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картину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фундаментальные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.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ОС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 и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множеством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работающих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невозможны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поддержки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.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режимы</a:t>
            </a:r>
            <a:r>
              <a:rPr lang="en-US" dirty="0"/>
              <a:t> </a:t>
            </a:r>
            <a:r>
              <a:rPr lang="en-US" dirty="0" err="1"/>
              <a:t>привилегий</a:t>
            </a:r>
            <a:r>
              <a:rPr lang="en-US" dirty="0"/>
              <a:t>,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а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с ОС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контроллеры</a:t>
            </a:r>
            <a:r>
              <a:rPr lang="en-US" dirty="0"/>
              <a:t> и </a:t>
            </a:r>
            <a:r>
              <a:rPr lang="en-US" dirty="0" err="1"/>
              <a:t>драйверы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показала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возникало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интерактивную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, </a:t>
            </a:r>
            <a:r>
              <a:rPr lang="en-US" dirty="0" err="1"/>
              <a:t>защиту</a:t>
            </a:r>
            <a:r>
              <a:rPr lang="en-US" dirty="0"/>
              <a:t> и </a:t>
            </a:r>
            <a:r>
              <a:rPr lang="en-US" dirty="0" err="1"/>
              <a:t>работу</a:t>
            </a:r>
            <a:r>
              <a:rPr lang="en-US" dirty="0"/>
              <a:t> в </a:t>
            </a:r>
            <a:r>
              <a:rPr lang="en-US" dirty="0" err="1"/>
              <a:t>сети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проследили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включения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прошивка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загрузчик</a:t>
            </a:r>
            <a:r>
              <a:rPr lang="en-US" dirty="0"/>
              <a:t>,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следующих</a:t>
            </a:r>
            <a:r>
              <a:rPr lang="en-US" dirty="0"/>
              <a:t> </a:t>
            </a:r>
            <a:r>
              <a:rPr lang="en-US" dirty="0" err="1"/>
              <a:t>занятиях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картину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частям</a:t>
            </a:r>
            <a:r>
              <a:rPr lang="en-US" dirty="0"/>
              <a:t>.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темой</a:t>
            </a:r>
            <a:r>
              <a:rPr lang="en-US" dirty="0"/>
              <a:t> </a:t>
            </a:r>
            <a:r>
              <a:rPr lang="en-US" dirty="0" err="1"/>
              <a:t>станут</a:t>
            </a:r>
            <a:r>
              <a:rPr lang="en-US" dirty="0"/>
              <a:t> </a:t>
            </a:r>
            <a:r>
              <a:rPr lang="en-US" b="1" dirty="0" err="1"/>
              <a:t>процессы</a:t>
            </a:r>
            <a:r>
              <a:rPr lang="en-US" b="1" dirty="0"/>
              <a:t>, </a:t>
            </a:r>
            <a:r>
              <a:rPr lang="en-US" b="1" dirty="0" err="1"/>
              <a:t>потоки</a:t>
            </a:r>
            <a:r>
              <a:rPr lang="en-US" b="1" dirty="0"/>
              <a:t> и </a:t>
            </a:r>
            <a:r>
              <a:rPr lang="en-US" b="1" dirty="0" err="1"/>
              <a:t>управление</a:t>
            </a:r>
            <a:r>
              <a:rPr lang="en-US" b="1" dirty="0"/>
              <a:t> </a:t>
            </a:r>
            <a:r>
              <a:rPr lang="en-US" b="1" dirty="0" err="1"/>
              <a:t>процессорным</a:t>
            </a:r>
            <a:r>
              <a:rPr lang="en-US" b="1" dirty="0"/>
              <a:t> </a:t>
            </a:r>
            <a:r>
              <a:rPr lang="en-US" b="1" dirty="0" err="1"/>
              <a:t>временем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E116-ED10-4BC0-824A-03E33701B51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2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9842-45D5-2AA1-EAF9-12E257C4A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C6594-6FC8-D8E2-2C9F-381ADB756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408B7-51CE-7AD0-8F7C-9621D614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02D03-620B-6B71-A07B-2260A930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D264B-6B66-6129-1B36-D5A682C7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2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7F1B-CA82-F79B-A5F4-A23F3B98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F92AC-6A28-6A78-27C0-3BF12F7B6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72DAF-CA77-BD96-6292-CF066FDC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39F6-E002-7236-3BA5-C848CA40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92353-24CC-ED16-CB82-49822CAE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2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8696-0C6E-E48F-1653-AD2BCE25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8FCDC-7E3A-0754-119B-8BCC4798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84999-4B00-C390-FB64-CCF34AE5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21513-0A5C-5719-CB44-A2FF50F3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EEA55-C9EE-3E2E-6962-65F238AF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2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1D7E-93DC-963E-E30D-24A63A97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B516-D8AD-2F7A-FB7C-B9F87AE16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31352-61F9-1CD3-5DC6-638679B8A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3CD3E-77B1-FAEA-80B0-3AA2FF17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5EC55-1656-5982-136F-71F243AF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83B9D-EC2E-DDAC-05DA-DC4321BA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8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8628-5971-0408-358D-286F71018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A2CCB-FA4C-CCB3-057E-CF33F4DB7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9D74B-CAD2-B206-8E54-08DCF7EE9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96C91-8B4B-02B3-1554-C4E5C4186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E5AD1-404F-941A-5C0A-DF4A61C3E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55C46-6F7E-3AD7-B35D-130CB85A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135E7-FA1A-A615-242E-46A43CE3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3EB95-D1E3-05D6-09B2-34E7B7B7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5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9FA9-4BD1-81F4-22D9-51D22653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2CABE-B958-FC0B-1C84-371EBA43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0EC75-AA3D-0529-5825-A0959456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F67C9-3C0B-41D9-8569-26DDD1C0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2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1275-B0EF-4B23-EB36-00529E2B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7CAC6-AD54-7B9F-6B94-1BEA93F1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67F63-908A-2B08-01AB-68A89324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2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ACF9A-F0C4-9C2E-4A0F-80BD9A28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EF386-FFB8-6FD9-B300-6AA480093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FDAF1-7935-1F3D-1319-DA7862346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F4AE7-16D7-1CE1-67FD-37D1B1DF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6A5C7-EC25-1CA1-5F89-7F087A1E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2B508-5C06-1FA3-9DAB-1DACA213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9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6C94-6F70-B6C9-FA91-269EA2B02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26B10-B01E-E77C-7D1E-9E78AA27B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A90B4-3B6C-8958-C49B-F00B0C9C0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8730B-361C-BBC1-27D2-71663ED7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4AE51-931F-3FE4-59E8-45EAB8A3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0AAE-CAC5-0712-9AFB-5BEF15AF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5C62-48F7-A275-28E3-3F281C61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18545-2DAC-8FA2-699C-DAB1CB770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0EED8-3C57-462D-1190-727A86A1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D9C96-DEF9-3F5C-9594-63D82E5F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93BD-BEBF-51FA-ECF8-180ADC84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E719B-477E-8D0E-3163-979BEEBD7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CDA4B-1152-558D-3AF6-85DB7341B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AD950-C671-54F0-3017-C90F7A39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2CD43-D857-B4A0-A94D-C53E3E14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5BB7-039C-227E-FA89-D1322C20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6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9D841-4140-2203-8DC3-87E50517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4C8FB-3074-F49E-32A3-311894A8E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FB5AB-BBE8-09FA-500A-7224AB4DA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1D6D5-74DC-44BC-AC30-72F8FE164E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29D81-0EAB-6440-1BEA-4ACEAEE21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36176-3C95-FD55-9193-47264CF6E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B2257-723C-4D81-A609-F82297A2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8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hyperlink" Target="https://galanix.com/articles/analiticheskaya-mashina-bebbidzha-proobraz-kompyuter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.android.com/?hl=ru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0535-2D4A-A4B8-E316-A392B490A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3125787"/>
          </a:xfrm>
        </p:spPr>
        <p:txBody>
          <a:bodyPr/>
          <a:lstStyle/>
          <a:p>
            <a:r>
              <a:rPr lang="ru-RU" dirty="0"/>
              <a:t>Операционные системы и сети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D9B8A-B627-90F9-E4AC-67B048663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/>
          <a:lstStyle/>
          <a:p>
            <a:r>
              <a:rPr lang="ru-RU" sz="3600" dirty="0"/>
              <a:t>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37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6F42-780B-D13F-B51C-4A830015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чём курс «Операционные системы и сети»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583D-C8A2-E75F-B22E-C9ADF0F0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Операционная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  <a:endParaRPr lang="ru-RU" dirty="0"/>
          </a:p>
          <a:p>
            <a:r>
              <a:rPr lang="en-US" b="1" dirty="0" err="1"/>
              <a:t>Компьютерные</a:t>
            </a:r>
            <a:r>
              <a:rPr lang="en-US" b="1" dirty="0"/>
              <a:t> </a:t>
            </a:r>
            <a:r>
              <a:rPr lang="en-US" b="1" dirty="0" err="1"/>
              <a:t>сети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и </a:t>
            </a:r>
            <a:r>
              <a:rPr lang="en-US" dirty="0" err="1"/>
              <a:t>устройствам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Поймёте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ввод-вывод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Научитесь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Linux и Windows в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поработаете</a:t>
            </a:r>
            <a:r>
              <a:rPr lang="en-US" dirty="0"/>
              <a:t> с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многопоточностью</a:t>
            </a:r>
            <a:r>
              <a:rPr lang="en-US" dirty="0"/>
              <a:t>, </a:t>
            </a:r>
            <a:r>
              <a:rPr lang="en-US" dirty="0" err="1"/>
              <a:t>синхронизацией</a:t>
            </a:r>
            <a:r>
              <a:rPr lang="en-US" dirty="0"/>
              <a:t> и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Разберётесь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устроены</a:t>
            </a:r>
            <a:r>
              <a:rPr lang="en-US" dirty="0"/>
              <a:t> </a:t>
            </a:r>
            <a:r>
              <a:rPr lang="en-US" dirty="0" err="1"/>
              <a:t>хранение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Научитесь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клиент-серверные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сетевыми</a:t>
            </a:r>
            <a:r>
              <a:rPr lang="en-US" dirty="0"/>
              <a:t> </a:t>
            </a:r>
            <a:r>
              <a:rPr lang="en-US" dirty="0" err="1"/>
              <a:t>протоколами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желании</a:t>
            </a:r>
            <a:r>
              <a:rPr lang="en-US" dirty="0"/>
              <a:t> </a:t>
            </a:r>
            <a:r>
              <a:rPr lang="en-US" dirty="0" err="1"/>
              <a:t>сможете</a:t>
            </a:r>
            <a:r>
              <a:rPr lang="en-US" dirty="0"/>
              <a:t> </a:t>
            </a:r>
            <a:r>
              <a:rPr lang="en-US" dirty="0" err="1"/>
              <a:t>заглянуть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глубже</a:t>
            </a:r>
            <a:r>
              <a:rPr lang="en-US" dirty="0"/>
              <a:t> и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ОС.</a:t>
            </a:r>
          </a:p>
        </p:txBody>
      </p:sp>
    </p:spTree>
    <p:extLst>
      <p:ext uri="{BB962C8B-B14F-4D97-AF65-F5344CB8AC3E}">
        <p14:creationId xmlns:p14="http://schemas.microsoft.com/office/powerpoint/2010/main" val="35255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1CC6-5CC4-B4EC-AD8A-D69F74EC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 нужна не каждому компьютеру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BC12-8E18-6F79-5764-8DF0049A4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4431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b="1" dirty="0" err="1"/>
              <a:t>встраиваемых</a:t>
            </a:r>
            <a:r>
              <a:rPr lang="en-US" b="1" dirty="0"/>
              <a:t> </a:t>
            </a:r>
            <a:r>
              <a:rPr lang="en-US" b="1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микроконтроллеры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простые</a:t>
            </a:r>
            <a:r>
              <a:rPr lang="en-US" dirty="0"/>
              <a:t> </a:t>
            </a:r>
            <a:r>
              <a:rPr lang="en-US" dirty="0" err="1"/>
              <a:t>датчики</a:t>
            </a:r>
            <a:r>
              <a:rPr lang="en-US" dirty="0"/>
              <a:t> и </a:t>
            </a:r>
            <a:r>
              <a:rPr lang="en-US" dirty="0" err="1"/>
              <a:t>контроллеры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устройства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известными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bare metal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и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гарантированные</a:t>
            </a:r>
            <a:r>
              <a:rPr lang="en-US" dirty="0"/>
              <a:t> </a:t>
            </a:r>
            <a:r>
              <a:rPr lang="en-US" dirty="0" err="1"/>
              <a:t>времена</a:t>
            </a:r>
            <a:r>
              <a:rPr lang="en-US" dirty="0"/>
              <a:t> </a:t>
            </a:r>
            <a:r>
              <a:rPr lang="en-US" dirty="0" err="1"/>
              <a:t>реакции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RTOS —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Полноценная</a:t>
            </a:r>
            <a:r>
              <a:rPr lang="en-US" dirty="0"/>
              <a:t> ОС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многозадачность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изоляция</a:t>
            </a:r>
            <a:r>
              <a:rPr lang="en-US" dirty="0"/>
              <a:t> и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устройствами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сложное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 и </a:t>
            </a:r>
            <a:r>
              <a:rPr lang="en-US" dirty="0" err="1"/>
              <a:t>сетью</a:t>
            </a:r>
            <a:r>
              <a:rPr lang="en-US" dirty="0"/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77EFBD-77BD-8C01-ED9F-5160989EF6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5715" y="4235904"/>
            <a:ext cx="3385456" cy="2256971"/>
          </a:xfrm>
        </p:spPr>
      </p:pic>
    </p:spTree>
    <p:extLst>
      <p:ext uri="{BB962C8B-B14F-4D97-AF65-F5344CB8AC3E}">
        <p14:creationId xmlns:p14="http://schemas.microsoft.com/office/powerpoint/2010/main" val="416908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453-1F1B-3AA2-7F14-44951BCB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4024073-0E0A-2552-323C-65C522B26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057" y="1494972"/>
            <a:ext cx="7895886" cy="536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6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0E5A-8E15-B66E-4B74-8759189D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ядра и режим пользователя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DBB1852-CC0E-4D68-B599-2380BF44E8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7306820"/>
              </p:ext>
            </p:extLst>
          </p:nvPr>
        </p:nvGraphicFramePr>
        <p:xfrm>
          <a:off x="838200" y="1825625"/>
          <a:ext cx="5181599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599">
                  <a:extLst>
                    <a:ext uri="{9D8B030D-6E8A-4147-A177-3AD203B41FA5}">
                      <a16:colId xmlns:a16="http://schemas.microsoft.com/office/drawing/2014/main" val="2193047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Режим ядра </a:t>
                      </a:r>
                      <a:r>
                        <a:rPr lang="en-US" dirty="0"/>
                        <a:t>(Kernel Mode)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42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Полный доступ к памяти и устройствам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6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Выполнение привилегированных инструкций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10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Здесь работает ядро, драйверы, обработчики системных вызовов и прерываний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9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Ошибка может нарушить работу всей системы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859697"/>
                  </a:ext>
                </a:extLst>
              </a:tr>
            </a:tbl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DFB340B-79BE-31A5-5211-46E22FD7DA6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5136980"/>
              </p:ext>
            </p:extLst>
          </p:nvPr>
        </p:nvGraphicFramePr>
        <p:xfrm>
          <a:off x="6172199" y="1825625"/>
          <a:ext cx="5181599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599">
                  <a:extLst>
                    <a:ext uri="{9D8B030D-6E8A-4147-A177-3AD203B41FA5}">
                      <a16:colId xmlns:a16="http://schemas.microsoft.com/office/drawing/2014/main" val="1246777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Режим пользователя (</a:t>
                      </a:r>
                      <a:r>
                        <a:rPr lang="en-US" dirty="0"/>
                        <a:t>User Mode)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22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Ограниченный доступ к ресурсам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1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Нет прямого доступа к устройствам и критичным областям памяти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Здесь работают прикладные программы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7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Ошибка обычно затрагивает только конкретный процесс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1745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29F6E54-97D3-83CD-7FC9-EAFA2D6B1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50" y="5249962"/>
            <a:ext cx="10202699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C71D-266C-35F3-0F27-6DC0CD7D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ОС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1D369A-CE23-DADB-A3DF-CE80BF8E7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7300" y="1690688"/>
            <a:ext cx="827740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1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97CD-8793-D64D-2002-D62E1A17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 как менеджер ресурсов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937866-562E-B7A8-210D-840F871DC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5010" y="1402283"/>
            <a:ext cx="8421980" cy="53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3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9B30-5789-A917-66A1-E5EBD753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A9882D5-445E-6465-4292-0D9D785FD6F4}"/>
              </a:ext>
            </a:extLst>
          </p:cNvPr>
          <p:cNvSpPr/>
          <p:nvPr/>
        </p:nvSpPr>
        <p:spPr>
          <a:xfrm>
            <a:off x="286789" y="1695308"/>
            <a:ext cx="3657600" cy="387494"/>
          </a:xfrm>
          <a:prstGeom prst="round2SameRect">
            <a:avLst>
              <a:gd name="adj1" fmla="val 36332"/>
              <a:gd name="adj2" fmla="val 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Приложение 1</a:t>
            </a:r>
            <a:endParaRPr lang="en-US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D399558-9CA5-1C12-8370-657A269ED5A1}"/>
              </a:ext>
            </a:extLst>
          </p:cNvPr>
          <p:cNvSpPr/>
          <p:nvPr/>
        </p:nvSpPr>
        <p:spPr>
          <a:xfrm>
            <a:off x="286789" y="2082801"/>
            <a:ext cx="3657600" cy="1998519"/>
          </a:xfrm>
          <a:prstGeom prst="round2SameRect">
            <a:avLst>
              <a:gd name="adj1" fmla="val 0"/>
              <a:gd name="adj2" fmla="val 41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46977-8655-8834-EB5E-9DAB77552804}"/>
              </a:ext>
            </a:extLst>
          </p:cNvPr>
          <p:cNvSpPr/>
          <p:nvPr/>
        </p:nvSpPr>
        <p:spPr>
          <a:xfrm>
            <a:off x="472440" y="2265946"/>
            <a:ext cx="3229610" cy="2757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79E726-12B8-7C4A-8A0F-24E49636B700}"/>
              </a:ext>
            </a:extLst>
          </p:cNvPr>
          <p:cNvSpPr/>
          <p:nvPr/>
        </p:nvSpPr>
        <p:spPr>
          <a:xfrm>
            <a:off x="472440" y="2541717"/>
            <a:ext cx="3229610" cy="2757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50DB0-5007-A496-10DE-4DBD2340AB5A}"/>
              </a:ext>
            </a:extLst>
          </p:cNvPr>
          <p:cNvSpPr/>
          <p:nvPr/>
        </p:nvSpPr>
        <p:spPr>
          <a:xfrm>
            <a:off x="472440" y="2817488"/>
            <a:ext cx="3229610" cy="2757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CC078-2F62-0AEC-FC50-6C2E268FA48E}"/>
              </a:ext>
            </a:extLst>
          </p:cNvPr>
          <p:cNvSpPr/>
          <p:nvPr/>
        </p:nvSpPr>
        <p:spPr>
          <a:xfrm>
            <a:off x="472440" y="3093259"/>
            <a:ext cx="3229610" cy="2757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5B995-F61A-FAFA-B12D-91F60D6CE5BE}"/>
              </a:ext>
            </a:extLst>
          </p:cNvPr>
          <p:cNvSpPr/>
          <p:nvPr/>
        </p:nvSpPr>
        <p:spPr>
          <a:xfrm>
            <a:off x="472440" y="3369030"/>
            <a:ext cx="3229610" cy="2757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00DA1-CB87-D3F7-7FDE-6D305257A736}"/>
              </a:ext>
            </a:extLst>
          </p:cNvPr>
          <p:cNvSpPr/>
          <p:nvPr/>
        </p:nvSpPr>
        <p:spPr>
          <a:xfrm>
            <a:off x="472440" y="3644801"/>
            <a:ext cx="3229610" cy="2757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83EB34D-43F5-8F01-CD6F-93C0F3361686}"/>
              </a:ext>
            </a:extLst>
          </p:cNvPr>
          <p:cNvSpPr/>
          <p:nvPr/>
        </p:nvSpPr>
        <p:spPr>
          <a:xfrm>
            <a:off x="4267200" y="1690689"/>
            <a:ext cx="3657600" cy="387494"/>
          </a:xfrm>
          <a:prstGeom prst="round2SameRect">
            <a:avLst>
              <a:gd name="adj1" fmla="val 36332"/>
              <a:gd name="adj2" fmla="val 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Приложение 2</a:t>
            </a:r>
            <a:endParaRPr lang="en-US" dirty="0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B01795B7-5DAE-B809-7639-F30B5EE07FAD}"/>
              </a:ext>
            </a:extLst>
          </p:cNvPr>
          <p:cNvSpPr/>
          <p:nvPr/>
        </p:nvSpPr>
        <p:spPr>
          <a:xfrm>
            <a:off x="4267200" y="2078182"/>
            <a:ext cx="3657600" cy="1998519"/>
          </a:xfrm>
          <a:prstGeom prst="round2SameRect">
            <a:avLst>
              <a:gd name="adj1" fmla="val 0"/>
              <a:gd name="adj2" fmla="val 41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604727-4034-D02C-CC2C-EC3FD3AD0DEB}"/>
              </a:ext>
            </a:extLst>
          </p:cNvPr>
          <p:cNvSpPr/>
          <p:nvPr/>
        </p:nvSpPr>
        <p:spPr>
          <a:xfrm>
            <a:off x="4452851" y="2261327"/>
            <a:ext cx="3229610" cy="275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989A-3FDD-D84F-5065-1874C3931CAC}"/>
              </a:ext>
            </a:extLst>
          </p:cNvPr>
          <p:cNvSpPr/>
          <p:nvPr/>
        </p:nvSpPr>
        <p:spPr>
          <a:xfrm>
            <a:off x="4452851" y="2537098"/>
            <a:ext cx="3229610" cy="275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8AEE3D-6706-5EA0-8185-20E291B78EDD}"/>
              </a:ext>
            </a:extLst>
          </p:cNvPr>
          <p:cNvSpPr/>
          <p:nvPr/>
        </p:nvSpPr>
        <p:spPr>
          <a:xfrm>
            <a:off x="4452851" y="2812869"/>
            <a:ext cx="3229610" cy="275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8A0DA3-AEE5-2B7B-8C2D-D936BF73EEE5}"/>
              </a:ext>
            </a:extLst>
          </p:cNvPr>
          <p:cNvSpPr/>
          <p:nvPr/>
        </p:nvSpPr>
        <p:spPr>
          <a:xfrm>
            <a:off x="4452851" y="3088640"/>
            <a:ext cx="3229610" cy="275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504F4-D3EF-DBDA-4235-BA29DDAEA220}"/>
              </a:ext>
            </a:extLst>
          </p:cNvPr>
          <p:cNvSpPr/>
          <p:nvPr/>
        </p:nvSpPr>
        <p:spPr>
          <a:xfrm>
            <a:off x="4452851" y="3364411"/>
            <a:ext cx="3229610" cy="275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B6ECB1-7DE9-21E9-EEEB-5859CBE1D41C}"/>
              </a:ext>
            </a:extLst>
          </p:cNvPr>
          <p:cNvSpPr/>
          <p:nvPr/>
        </p:nvSpPr>
        <p:spPr>
          <a:xfrm>
            <a:off x="4452851" y="3640182"/>
            <a:ext cx="3229610" cy="275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C63864C0-0DEE-78FC-7A33-C2F5EF54A0C9}"/>
              </a:ext>
            </a:extLst>
          </p:cNvPr>
          <p:cNvSpPr/>
          <p:nvPr/>
        </p:nvSpPr>
        <p:spPr>
          <a:xfrm>
            <a:off x="8247611" y="1690688"/>
            <a:ext cx="3657600" cy="387494"/>
          </a:xfrm>
          <a:prstGeom prst="round2SameRect">
            <a:avLst>
              <a:gd name="adj1" fmla="val 36332"/>
              <a:gd name="adj2" fmla="val 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Приложение 3</a:t>
            </a:r>
            <a:endParaRPr lang="en-US" dirty="0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ECF0B9F-35C2-F083-815F-06B4F4756242}"/>
              </a:ext>
            </a:extLst>
          </p:cNvPr>
          <p:cNvSpPr/>
          <p:nvPr/>
        </p:nvSpPr>
        <p:spPr>
          <a:xfrm>
            <a:off x="8247611" y="2078181"/>
            <a:ext cx="3657600" cy="1998519"/>
          </a:xfrm>
          <a:prstGeom prst="round2SameRect">
            <a:avLst>
              <a:gd name="adj1" fmla="val 0"/>
              <a:gd name="adj2" fmla="val 41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EBD6F-00A2-A408-55FE-F731EB294E3E}"/>
              </a:ext>
            </a:extLst>
          </p:cNvPr>
          <p:cNvSpPr/>
          <p:nvPr/>
        </p:nvSpPr>
        <p:spPr>
          <a:xfrm>
            <a:off x="8433262" y="2261326"/>
            <a:ext cx="3229610" cy="275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0478D-D58A-7CE9-D35A-3892E568308A}"/>
              </a:ext>
            </a:extLst>
          </p:cNvPr>
          <p:cNvSpPr/>
          <p:nvPr/>
        </p:nvSpPr>
        <p:spPr>
          <a:xfrm>
            <a:off x="8433262" y="2537097"/>
            <a:ext cx="3229610" cy="2757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EB5949-6D15-4839-A8EB-5348B683AF9E}"/>
              </a:ext>
            </a:extLst>
          </p:cNvPr>
          <p:cNvSpPr/>
          <p:nvPr/>
        </p:nvSpPr>
        <p:spPr>
          <a:xfrm>
            <a:off x="8433262" y="2812868"/>
            <a:ext cx="3229610" cy="2757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B7505E-4468-95ED-4D2C-5A0F1B1F8809}"/>
              </a:ext>
            </a:extLst>
          </p:cNvPr>
          <p:cNvSpPr/>
          <p:nvPr/>
        </p:nvSpPr>
        <p:spPr>
          <a:xfrm>
            <a:off x="8433262" y="3088639"/>
            <a:ext cx="3229610" cy="275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24CBEB-7F2E-4319-382B-D7A45620D409}"/>
              </a:ext>
            </a:extLst>
          </p:cNvPr>
          <p:cNvSpPr/>
          <p:nvPr/>
        </p:nvSpPr>
        <p:spPr>
          <a:xfrm>
            <a:off x="8433262" y="3364410"/>
            <a:ext cx="3229610" cy="275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EB6087-5ABE-348D-DD38-58BDC60868BF}"/>
              </a:ext>
            </a:extLst>
          </p:cNvPr>
          <p:cNvSpPr/>
          <p:nvPr/>
        </p:nvSpPr>
        <p:spPr>
          <a:xfrm>
            <a:off x="8433262" y="3640181"/>
            <a:ext cx="3229610" cy="275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FB495D0-EB38-7DFB-B992-5A9633ED2051}"/>
              </a:ext>
            </a:extLst>
          </p:cNvPr>
          <p:cNvSpPr/>
          <p:nvPr/>
        </p:nvSpPr>
        <p:spPr>
          <a:xfrm>
            <a:off x="286789" y="5162692"/>
            <a:ext cx="3657600" cy="1447800"/>
          </a:xfrm>
          <a:prstGeom prst="roundRect">
            <a:avLst>
              <a:gd name="adj" fmla="val 8429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Физическая память </a:t>
            </a:r>
            <a:r>
              <a:rPr lang="en-US" dirty="0">
                <a:solidFill>
                  <a:schemeClr val="tx1"/>
                </a:solidFill>
              </a:rPr>
              <a:t>(RAM)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C35ECA-4BF1-2B5D-5C77-046BD6D0E8DC}"/>
              </a:ext>
            </a:extLst>
          </p:cNvPr>
          <p:cNvSpPr/>
          <p:nvPr/>
        </p:nvSpPr>
        <p:spPr>
          <a:xfrm>
            <a:off x="420370" y="5836345"/>
            <a:ext cx="236220" cy="2915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38B58C-6573-AFDE-C153-4F07A4658C80}"/>
              </a:ext>
            </a:extLst>
          </p:cNvPr>
          <p:cNvSpPr/>
          <p:nvPr/>
        </p:nvSpPr>
        <p:spPr>
          <a:xfrm>
            <a:off x="656590" y="5836345"/>
            <a:ext cx="236220" cy="291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B8564D-186D-5564-65DC-239A4A74E1C7}"/>
              </a:ext>
            </a:extLst>
          </p:cNvPr>
          <p:cNvSpPr/>
          <p:nvPr/>
        </p:nvSpPr>
        <p:spPr>
          <a:xfrm>
            <a:off x="892810" y="5836345"/>
            <a:ext cx="236220" cy="291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4ED52D-7541-3946-ABE3-9EA3D56ED022}"/>
              </a:ext>
            </a:extLst>
          </p:cNvPr>
          <p:cNvSpPr/>
          <p:nvPr/>
        </p:nvSpPr>
        <p:spPr>
          <a:xfrm>
            <a:off x="1129030" y="5836345"/>
            <a:ext cx="236220" cy="291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086ECF-15CB-B871-234F-8B26D5FC67FF}"/>
              </a:ext>
            </a:extLst>
          </p:cNvPr>
          <p:cNvSpPr/>
          <p:nvPr/>
        </p:nvSpPr>
        <p:spPr>
          <a:xfrm>
            <a:off x="136525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9D1812-BEDF-B459-FB97-5E34E059F0A1}"/>
              </a:ext>
            </a:extLst>
          </p:cNvPr>
          <p:cNvSpPr/>
          <p:nvPr/>
        </p:nvSpPr>
        <p:spPr>
          <a:xfrm>
            <a:off x="1601470" y="5836345"/>
            <a:ext cx="236220" cy="2915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ED98E7-AB10-3C89-FFF2-B86D9FC94059}"/>
              </a:ext>
            </a:extLst>
          </p:cNvPr>
          <p:cNvSpPr/>
          <p:nvPr/>
        </p:nvSpPr>
        <p:spPr>
          <a:xfrm>
            <a:off x="183769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39F706-B86A-F8F6-C99B-A64EBA89D27A}"/>
              </a:ext>
            </a:extLst>
          </p:cNvPr>
          <p:cNvSpPr/>
          <p:nvPr/>
        </p:nvSpPr>
        <p:spPr>
          <a:xfrm>
            <a:off x="207391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A4455D-5733-4585-179D-57D17A809CB5}"/>
              </a:ext>
            </a:extLst>
          </p:cNvPr>
          <p:cNvSpPr/>
          <p:nvPr/>
        </p:nvSpPr>
        <p:spPr>
          <a:xfrm>
            <a:off x="2310130" y="5836345"/>
            <a:ext cx="236220" cy="29154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F96FBC-BABF-E9F4-3418-5FF361D16670}"/>
              </a:ext>
            </a:extLst>
          </p:cNvPr>
          <p:cNvSpPr/>
          <p:nvPr/>
        </p:nvSpPr>
        <p:spPr>
          <a:xfrm>
            <a:off x="254635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76281A6-4F1A-0B25-6B81-FBA509B75FBB}"/>
              </a:ext>
            </a:extLst>
          </p:cNvPr>
          <p:cNvSpPr/>
          <p:nvPr/>
        </p:nvSpPr>
        <p:spPr>
          <a:xfrm>
            <a:off x="278257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A783C7-322D-DC1C-845F-2F7795414485}"/>
              </a:ext>
            </a:extLst>
          </p:cNvPr>
          <p:cNvSpPr/>
          <p:nvPr/>
        </p:nvSpPr>
        <p:spPr>
          <a:xfrm>
            <a:off x="301879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71A16B-6048-9BA1-0A22-92E3629F1279}"/>
              </a:ext>
            </a:extLst>
          </p:cNvPr>
          <p:cNvSpPr/>
          <p:nvPr/>
        </p:nvSpPr>
        <p:spPr>
          <a:xfrm>
            <a:off x="3255010" y="5836345"/>
            <a:ext cx="236220" cy="29154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3608121-7A59-A7D0-E729-491154510E1D}"/>
              </a:ext>
            </a:extLst>
          </p:cNvPr>
          <p:cNvSpPr/>
          <p:nvPr/>
        </p:nvSpPr>
        <p:spPr>
          <a:xfrm>
            <a:off x="3491230" y="5836345"/>
            <a:ext cx="236220" cy="291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9125ED-831E-8AF8-21C0-77DC59A7940B}"/>
              </a:ext>
            </a:extLst>
          </p:cNvPr>
          <p:cNvSpPr txBox="1"/>
          <p:nvPr/>
        </p:nvSpPr>
        <p:spPr>
          <a:xfrm>
            <a:off x="42037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92C490-7FFA-98F3-5611-7A896B7CCE5B}"/>
              </a:ext>
            </a:extLst>
          </p:cNvPr>
          <p:cNvSpPr txBox="1"/>
          <p:nvPr/>
        </p:nvSpPr>
        <p:spPr>
          <a:xfrm>
            <a:off x="65659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617511-B540-D987-90F7-DB80D38C6E85}"/>
              </a:ext>
            </a:extLst>
          </p:cNvPr>
          <p:cNvSpPr txBox="1"/>
          <p:nvPr/>
        </p:nvSpPr>
        <p:spPr>
          <a:xfrm>
            <a:off x="89281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C3CDA0-586C-0E4D-9ADB-214237AF606E}"/>
              </a:ext>
            </a:extLst>
          </p:cNvPr>
          <p:cNvSpPr txBox="1"/>
          <p:nvPr/>
        </p:nvSpPr>
        <p:spPr>
          <a:xfrm>
            <a:off x="112903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D843E9-7676-0E7F-BF10-AB8707DDF7B9}"/>
              </a:ext>
            </a:extLst>
          </p:cNvPr>
          <p:cNvSpPr txBox="1"/>
          <p:nvPr/>
        </p:nvSpPr>
        <p:spPr>
          <a:xfrm>
            <a:off x="136525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573BC9-6B91-8BFD-2846-451D3BFB4566}"/>
              </a:ext>
            </a:extLst>
          </p:cNvPr>
          <p:cNvSpPr txBox="1"/>
          <p:nvPr/>
        </p:nvSpPr>
        <p:spPr>
          <a:xfrm>
            <a:off x="160147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3E364E-78EE-B9F8-23AA-9A1CF3DACB45}"/>
              </a:ext>
            </a:extLst>
          </p:cNvPr>
          <p:cNvSpPr txBox="1"/>
          <p:nvPr/>
        </p:nvSpPr>
        <p:spPr>
          <a:xfrm>
            <a:off x="183769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F5DBA7-FB71-8BAD-1788-2B05275844C9}"/>
              </a:ext>
            </a:extLst>
          </p:cNvPr>
          <p:cNvSpPr txBox="1"/>
          <p:nvPr/>
        </p:nvSpPr>
        <p:spPr>
          <a:xfrm>
            <a:off x="207391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6EF93B-E5AD-98B3-D3CA-08F25D5DB738}"/>
              </a:ext>
            </a:extLst>
          </p:cNvPr>
          <p:cNvSpPr txBox="1"/>
          <p:nvPr/>
        </p:nvSpPr>
        <p:spPr>
          <a:xfrm>
            <a:off x="231013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B84636-241E-D9C9-0B06-7C52AA935F83}"/>
              </a:ext>
            </a:extLst>
          </p:cNvPr>
          <p:cNvSpPr txBox="1"/>
          <p:nvPr/>
        </p:nvSpPr>
        <p:spPr>
          <a:xfrm>
            <a:off x="254635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A5DFCA-FA1A-05F3-6C78-D3B554745267}"/>
              </a:ext>
            </a:extLst>
          </p:cNvPr>
          <p:cNvSpPr txBox="1"/>
          <p:nvPr/>
        </p:nvSpPr>
        <p:spPr>
          <a:xfrm>
            <a:off x="278257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B0BF73-8542-3253-DF1F-65EC40AD7A02}"/>
              </a:ext>
            </a:extLst>
          </p:cNvPr>
          <p:cNvSpPr txBox="1"/>
          <p:nvPr/>
        </p:nvSpPr>
        <p:spPr>
          <a:xfrm>
            <a:off x="301879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E0D74A-89BF-22D8-8EB3-818190B37242}"/>
              </a:ext>
            </a:extLst>
          </p:cNvPr>
          <p:cNvSpPr txBox="1"/>
          <p:nvPr/>
        </p:nvSpPr>
        <p:spPr>
          <a:xfrm>
            <a:off x="325501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CC6292-2FFE-9B2A-07A6-7F895BE007D8}"/>
              </a:ext>
            </a:extLst>
          </p:cNvPr>
          <p:cNvSpPr txBox="1"/>
          <p:nvPr/>
        </p:nvSpPr>
        <p:spPr>
          <a:xfrm>
            <a:off x="3491230" y="5575300"/>
            <a:ext cx="23622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/>
              <a:t>…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114EB97-726A-94C2-43FA-885F8E60A946}"/>
              </a:ext>
            </a:extLst>
          </p:cNvPr>
          <p:cNvSpPr/>
          <p:nvPr/>
        </p:nvSpPr>
        <p:spPr>
          <a:xfrm>
            <a:off x="8247611" y="5097621"/>
            <a:ext cx="3657600" cy="1447800"/>
          </a:xfrm>
          <a:prstGeom prst="roundRect">
            <a:avLst>
              <a:gd name="adj" fmla="val 8429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Диск</a:t>
            </a:r>
            <a:r>
              <a:rPr lang="en-US" dirty="0">
                <a:solidFill>
                  <a:schemeClr val="tx1"/>
                </a:solidFill>
              </a:rPr>
              <a:t>: swap / </a:t>
            </a:r>
            <a:r>
              <a:rPr lang="en-US" dirty="0" err="1">
                <a:solidFill>
                  <a:schemeClr val="tx1"/>
                </a:solidFill>
              </a:rPr>
              <a:t>pagefile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1C68D40-8221-DBE9-964B-164B8A10176A}"/>
              </a:ext>
            </a:extLst>
          </p:cNvPr>
          <p:cNvSpPr/>
          <p:nvPr/>
        </p:nvSpPr>
        <p:spPr>
          <a:xfrm>
            <a:off x="4267200" y="4352472"/>
            <a:ext cx="3657600" cy="2372178"/>
          </a:xfrm>
          <a:prstGeom prst="roundRect">
            <a:avLst>
              <a:gd name="adj" fmla="val 8429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MMU </a:t>
            </a:r>
            <a:r>
              <a:rPr lang="ru-RU" dirty="0">
                <a:solidFill>
                  <a:schemeClr val="tx1"/>
                </a:solidFill>
              </a:rPr>
              <a:t>и Операционная система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2838EFA-BDC3-5526-91EB-F11143D5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042330"/>
              </p:ext>
            </p:extLst>
          </p:nvPr>
        </p:nvGraphicFramePr>
        <p:xfrm>
          <a:off x="4452851" y="4921945"/>
          <a:ext cx="31141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088">
                  <a:extLst>
                    <a:ext uri="{9D8B030D-6E8A-4147-A177-3AD203B41FA5}">
                      <a16:colId xmlns:a16="http://schemas.microsoft.com/office/drawing/2014/main" val="1713955329"/>
                    </a:ext>
                  </a:extLst>
                </a:gridCol>
                <a:gridCol w="1842052">
                  <a:extLst>
                    <a:ext uri="{9D8B030D-6E8A-4147-A177-3AD203B41FA5}">
                      <a16:colId xmlns:a16="http://schemas.microsoft.com/office/drawing/2014/main" val="3086279315"/>
                    </a:ext>
                  </a:extLst>
                </a:gridCol>
              </a:tblGrid>
              <a:tr h="241189">
                <a:tc>
                  <a:txBody>
                    <a:bodyPr/>
                    <a:lstStyle/>
                    <a:p>
                      <a:r>
                        <a:rPr lang="ru-RU" sz="1200" dirty="0"/>
                        <a:t>Вирт страница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Расположение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93049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0 (</a:t>
                      </a:r>
                      <a:r>
                        <a:rPr lang="en-US" sz="1200" dirty="0"/>
                        <a:t>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264296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 (</a:t>
                      </a:r>
                      <a:r>
                        <a:rPr lang="ru-RU" sz="1200" dirty="0"/>
                        <a:t>на диске)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1177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 (</a:t>
                      </a:r>
                      <a:r>
                        <a:rPr lang="en-US" sz="1200" dirty="0"/>
                        <a:t>RAM)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7242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 (на диске)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80680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r>
                        <a:rPr lang="ru-RU" sz="1200" dirty="0"/>
                        <a:t>…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849758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10521836-233B-01B1-CE8F-775936B2FA86}"/>
              </a:ext>
            </a:extLst>
          </p:cNvPr>
          <p:cNvSpPr/>
          <p:nvPr/>
        </p:nvSpPr>
        <p:spPr>
          <a:xfrm>
            <a:off x="4535676" y="5238750"/>
            <a:ext cx="207773" cy="2095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93F952C-860B-B253-3AAA-24B4C265D103}"/>
              </a:ext>
            </a:extLst>
          </p:cNvPr>
          <p:cNvSpPr/>
          <p:nvPr/>
        </p:nvSpPr>
        <p:spPr>
          <a:xfrm>
            <a:off x="4535675" y="5514521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992EDF3-8C94-BA65-987A-C073F67A3446}"/>
              </a:ext>
            </a:extLst>
          </p:cNvPr>
          <p:cNvSpPr/>
          <p:nvPr/>
        </p:nvSpPr>
        <p:spPr>
          <a:xfrm>
            <a:off x="8433262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56A3E70-540B-2BA3-53F2-E0339D0825E2}"/>
              </a:ext>
            </a:extLst>
          </p:cNvPr>
          <p:cNvSpPr/>
          <p:nvPr/>
        </p:nvSpPr>
        <p:spPr>
          <a:xfrm>
            <a:off x="8640388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D34CB3-9907-F2AE-CA4F-7C175241A72B}"/>
              </a:ext>
            </a:extLst>
          </p:cNvPr>
          <p:cNvSpPr/>
          <p:nvPr/>
        </p:nvSpPr>
        <p:spPr>
          <a:xfrm>
            <a:off x="8847514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27A33A-CB45-8579-F49B-FD9621DEFD87}"/>
              </a:ext>
            </a:extLst>
          </p:cNvPr>
          <p:cNvSpPr/>
          <p:nvPr/>
        </p:nvSpPr>
        <p:spPr>
          <a:xfrm>
            <a:off x="9054640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EC16951-6430-0B24-BE62-0818AFA208CE}"/>
              </a:ext>
            </a:extLst>
          </p:cNvPr>
          <p:cNvSpPr/>
          <p:nvPr/>
        </p:nvSpPr>
        <p:spPr>
          <a:xfrm>
            <a:off x="9261766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F217C1-2BC9-E28C-2941-DC7F13C8693E}"/>
              </a:ext>
            </a:extLst>
          </p:cNvPr>
          <p:cNvSpPr/>
          <p:nvPr/>
        </p:nvSpPr>
        <p:spPr>
          <a:xfrm>
            <a:off x="9468892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EA68138-B471-1059-BE31-D6BEE14E8E6A}"/>
              </a:ext>
            </a:extLst>
          </p:cNvPr>
          <p:cNvSpPr/>
          <p:nvPr/>
        </p:nvSpPr>
        <p:spPr>
          <a:xfrm>
            <a:off x="9676018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13C057-D9A1-BE8B-B1F9-20E1EED12646}"/>
              </a:ext>
            </a:extLst>
          </p:cNvPr>
          <p:cNvSpPr/>
          <p:nvPr/>
        </p:nvSpPr>
        <p:spPr>
          <a:xfrm>
            <a:off x="9883144" y="5553770"/>
            <a:ext cx="207773" cy="2095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73B2761-5D68-3425-9377-41BF55FEEA14}"/>
              </a:ext>
            </a:extLst>
          </p:cNvPr>
          <p:cNvSpPr/>
          <p:nvPr/>
        </p:nvSpPr>
        <p:spPr>
          <a:xfrm>
            <a:off x="10090270" y="555377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DDE3EC-2702-AC9A-E2EC-38A8A1CD5405}"/>
              </a:ext>
            </a:extLst>
          </p:cNvPr>
          <p:cNvSpPr/>
          <p:nvPr/>
        </p:nvSpPr>
        <p:spPr>
          <a:xfrm>
            <a:off x="10297396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929E2D-FA89-4D88-0B0A-882972AD3F79}"/>
              </a:ext>
            </a:extLst>
          </p:cNvPr>
          <p:cNvSpPr/>
          <p:nvPr/>
        </p:nvSpPr>
        <p:spPr>
          <a:xfrm>
            <a:off x="10504522" y="555377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C88F889-27AC-FF77-26E8-57107D3221FF}"/>
              </a:ext>
            </a:extLst>
          </p:cNvPr>
          <p:cNvSpPr/>
          <p:nvPr/>
        </p:nvSpPr>
        <p:spPr>
          <a:xfrm>
            <a:off x="10711648" y="555377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0927507-1AAF-06EB-2F3A-102949DB9D25}"/>
              </a:ext>
            </a:extLst>
          </p:cNvPr>
          <p:cNvSpPr/>
          <p:nvPr/>
        </p:nvSpPr>
        <p:spPr>
          <a:xfrm>
            <a:off x="10918774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2C52CEC-8CFE-DC95-BCAB-6B65F73D4933}"/>
              </a:ext>
            </a:extLst>
          </p:cNvPr>
          <p:cNvSpPr/>
          <p:nvPr/>
        </p:nvSpPr>
        <p:spPr>
          <a:xfrm>
            <a:off x="11125900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B39D347-E08F-FA5A-0AA4-618A873BFE15}"/>
              </a:ext>
            </a:extLst>
          </p:cNvPr>
          <p:cNvSpPr/>
          <p:nvPr/>
        </p:nvSpPr>
        <p:spPr>
          <a:xfrm>
            <a:off x="11333026" y="555377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D54C20-67E4-A920-71A0-B20598E2247C}"/>
              </a:ext>
            </a:extLst>
          </p:cNvPr>
          <p:cNvSpPr/>
          <p:nvPr/>
        </p:nvSpPr>
        <p:spPr>
          <a:xfrm>
            <a:off x="11540152" y="5553770"/>
            <a:ext cx="207773" cy="209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262EF30-D543-EF3E-8A6E-A9E1388F7C03}"/>
              </a:ext>
            </a:extLst>
          </p:cNvPr>
          <p:cNvSpPr/>
          <p:nvPr/>
        </p:nvSpPr>
        <p:spPr>
          <a:xfrm>
            <a:off x="8433262" y="576332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4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D1DB6FA-C338-0958-A5EE-BCF85C794444}"/>
              </a:ext>
            </a:extLst>
          </p:cNvPr>
          <p:cNvSpPr/>
          <p:nvPr/>
        </p:nvSpPr>
        <p:spPr>
          <a:xfrm>
            <a:off x="8640388" y="5763320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5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92F6B49-1692-C9C7-6984-4ECBA7FA5910}"/>
              </a:ext>
            </a:extLst>
          </p:cNvPr>
          <p:cNvSpPr/>
          <p:nvPr/>
        </p:nvSpPr>
        <p:spPr>
          <a:xfrm>
            <a:off x="8847514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3EA30E1-628E-BD69-9D2A-378B228CA9CB}"/>
              </a:ext>
            </a:extLst>
          </p:cNvPr>
          <p:cNvSpPr/>
          <p:nvPr/>
        </p:nvSpPr>
        <p:spPr>
          <a:xfrm>
            <a:off x="9054640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8353D14-2E54-BA1D-1CD4-AB730CF60E91}"/>
              </a:ext>
            </a:extLst>
          </p:cNvPr>
          <p:cNvSpPr/>
          <p:nvPr/>
        </p:nvSpPr>
        <p:spPr>
          <a:xfrm>
            <a:off x="9261766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75C043-761D-4DD1-821D-A9A62D45EEBC}"/>
              </a:ext>
            </a:extLst>
          </p:cNvPr>
          <p:cNvSpPr/>
          <p:nvPr/>
        </p:nvSpPr>
        <p:spPr>
          <a:xfrm>
            <a:off x="9468892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9FCE96A-597A-2FCF-1964-56AEF228A862}"/>
              </a:ext>
            </a:extLst>
          </p:cNvPr>
          <p:cNvSpPr/>
          <p:nvPr/>
        </p:nvSpPr>
        <p:spPr>
          <a:xfrm>
            <a:off x="9676018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B9802FC-BC25-E735-909C-C41B22C88126}"/>
              </a:ext>
            </a:extLst>
          </p:cNvPr>
          <p:cNvSpPr/>
          <p:nvPr/>
        </p:nvSpPr>
        <p:spPr>
          <a:xfrm>
            <a:off x="9883144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D0E8C0B-90AB-F757-D359-7F0170DF6C81}"/>
              </a:ext>
            </a:extLst>
          </p:cNvPr>
          <p:cNvSpPr/>
          <p:nvPr/>
        </p:nvSpPr>
        <p:spPr>
          <a:xfrm>
            <a:off x="10090270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7CB4B61-52F2-0788-7ECC-AA739F9ABCEC}"/>
              </a:ext>
            </a:extLst>
          </p:cNvPr>
          <p:cNvSpPr/>
          <p:nvPr/>
        </p:nvSpPr>
        <p:spPr>
          <a:xfrm>
            <a:off x="10297396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103B8E-6991-F9B2-D397-B59DFEA0E0BC}"/>
              </a:ext>
            </a:extLst>
          </p:cNvPr>
          <p:cNvSpPr/>
          <p:nvPr/>
        </p:nvSpPr>
        <p:spPr>
          <a:xfrm>
            <a:off x="10504522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E0000-49D0-B8AA-F8B2-19567508CC96}"/>
              </a:ext>
            </a:extLst>
          </p:cNvPr>
          <p:cNvSpPr/>
          <p:nvPr/>
        </p:nvSpPr>
        <p:spPr>
          <a:xfrm>
            <a:off x="10711648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B3FEE53-590A-99A8-6C98-89E0B4FD5539}"/>
              </a:ext>
            </a:extLst>
          </p:cNvPr>
          <p:cNvSpPr/>
          <p:nvPr/>
        </p:nvSpPr>
        <p:spPr>
          <a:xfrm>
            <a:off x="10918774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87DF8BE-B81F-B662-8A5E-D2251AB786E0}"/>
              </a:ext>
            </a:extLst>
          </p:cNvPr>
          <p:cNvSpPr/>
          <p:nvPr/>
        </p:nvSpPr>
        <p:spPr>
          <a:xfrm>
            <a:off x="11125900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0625865-9F8F-E3E8-8D52-81295DD0C742}"/>
              </a:ext>
            </a:extLst>
          </p:cNvPr>
          <p:cNvSpPr/>
          <p:nvPr/>
        </p:nvSpPr>
        <p:spPr>
          <a:xfrm>
            <a:off x="11333026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D9B975-8716-66C1-EB7C-E5FBDE79B742}"/>
              </a:ext>
            </a:extLst>
          </p:cNvPr>
          <p:cNvSpPr/>
          <p:nvPr/>
        </p:nvSpPr>
        <p:spPr>
          <a:xfrm>
            <a:off x="11540152" y="57633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DA51CAE-7320-F987-D2E0-995CEADF50C3}"/>
              </a:ext>
            </a:extLst>
          </p:cNvPr>
          <p:cNvSpPr/>
          <p:nvPr/>
        </p:nvSpPr>
        <p:spPr>
          <a:xfrm>
            <a:off x="8433262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1B4F622-A67F-4932-1243-93C866486265}"/>
              </a:ext>
            </a:extLst>
          </p:cNvPr>
          <p:cNvSpPr/>
          <p:nvPr/>
        </p:nvSpPr>
        <p:spPr>
          <a:xfrm>
            <a:off x="8640388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8E63D9F-32AF-3070-FA7B-05471C9C34C9}"/>
              </a:ext>
            </a:extLst>
          </p:cNvPr>
          <p:cNvSpPr/>
          <p:nvPr/>
        </p:nvSpPr>
        <p:spPr>
          <a:xfrm>
            <a:off x="8847514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F59EBA9-6402-0EDE-062B-717DA52954D8}"/>
              </a:ext>
            </a:extLst>
          </p:cNvPr>
          <p:cNvSpPr/>
          <p:nvPr/>
        </p:nvSpPr>
        <p:spPr>
          <a:xfrm>
            <a:off x="9054640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366ECB-13E2-D08D-1229-390EE4A55473}"/>
              </a:ext>
            </a:extLst>
          </p:cNvPr>
          <p:cNvSpPr/>
          <p:nvPr/>
        </p:nvSpPr>
        <p:spPr>
          <a:xfrm>
            <a:off x="9261766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B278EFA-4EB6-F4FA-4965-195213962959}"/>
              </a:ext>
            </a:extLst>
          </p:cNvPr>
          <p:cNvSpPr/>
          <p:nvPr/>
        </p:nvSpPr>
        <p:spPr>
          <a:xfrm>
            <a:off x="9468892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A4819F-C66B-AB67-465A-8FF6C0D69D97}"/>
              </a:ext>
            </a:extLst>
          </p:cNvPr>
          <p:cNvSpPr/>
          <p:nvPr/>
        </p:nvSpPr>
        <p:spPr>
          <a:xfrm>
            <a:off x="9676018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E4C426A-0E7F-D44A-A4E8-8387E819F98A}"/>
              </a:ext>
            </a:extLst>
          </p:cNvPr>
          <p:cNvSpPr/>
          <p:nvPr/>
        </p:nvSpPr>
        <p:spPr>
          <a:xfrm>
            <a:off x="9883144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6888799-34E7-A10B-96E1-3EA2E478BF00}"/>
              </a:ext>
            </a:extLst>
          </p:cNvPr>
          <p:cNvSpPr/>
          <p:nvPr/>
        </p:nvSpPr>
        <p:spPr>
          <a:xfrm>
            <a:off x="10090270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3EB55D0-4603-8039-FF9B-1DA9FBF72A2F}"/>
              </a:ext>
            </a:extLst>
          </p:cNvPr>
          <p:cNvSpPr/>
          <p:nvPr/>
        </p:nvSpPr>
        <p:spPr>
          <a:xfrm>
            <a:off x="10297396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764EBB-5773-B229-2648-A6988BA201F9}"/>
              </a:ext>
            </a:extLst>
          </p:cNvPr>
          <p:cNvSpPr/>
          <p:nvPr/>
        </p:nvSpPr>
        <p:spPr>
          <a:xfrm>
            <a:off x="10504522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BCEE9D-9AB6-4E19-0363-2F4AEA75BF35}"/>
              </a:ext>
            </a:extLst>
          </p:cNvPr>
          <p:cNvSpPr/>
          <p:nvPr/>
        </p:nvSpPr>
        <p:spPr>
          <a:xfrm>
            <a:off x="10711648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9CDC44F-E211-3A10-458D-EE89A9A28267}"/>
              </a:ext>
            </a:extLst>
          </p:cNvPr>
          <p:cNvSpPr/>
          <p:nvPr/>
        </p:nvSpPr>
        <p:spPr>
          <a:xfrm>
            <a:off x="10918774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2875C4C-C21B-2563-A301-8B10FEA11026}"/>
              </a:ext>
            </a:extLst>
          </p:cNvPr>
          <p:cNvSpPr/>
          <p:nvPr/>
        </p:nvSpPr>
        <p:spPr>
          <a:xfrm>
            <a:off x="11125900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1117CC6-82AE-D964-5ED6-1FD161C97310}"/>
              </a:ext>
            </a:extLst>
          </p:cNvPr>
          <p:cNvSpPr/>
          <p:nvPr/>
        </p:nvSpPr>
        <p:spPr>
          <a:xfrm>
            <a:off x="11333026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12BEFCC-5724-5F14-DB51-53C244CEB13D}"/>
              </a:ext>
            </a:extLst>
          </p:cNvPr>
          <p:cNvSpPr/>
          <p:nvPr/>
        </p:nvSpPr>
        <p:spPr>
          <a:xfrm>
            <a:off x="11540152" y="597287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59D24BD-3B22-7E40-C231-EDFB8420BA3E}"/>
              </a:ext>
            </a:extLst>
          </p:cNvPr>
          <p:cNvSpPr/>
          <p:nvPr/>
        </p:nvSpPr>
        <p:spPr>
          <a:xfrm>
            <a:off x="8433262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8E879E1-CBD0-FFBB-92D6-65E7D532971E}"/>
              </a:ext>
            </a:extLst>
          </p:cNvPr>
          <p:cNvSpPr/>
          <p:nvPr/>
        </p:nvSpPr>
        <p:spPr>
          <a:xfrm>
            <a:off x="8640388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28A94C2-CCAB-FCB2-A4F0-F0F8B50920E9}"/>
              </a:ext>
            </a:extLst>
          </p:cNvPr>
          <p:cNvSpPr/>
          <p:nvPr/>
        </p:nvSpPr>
        <p:spPr>
          <a:xfrm>
            <a:off x="8847514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6F522E2-A052-C40B-4768-6F4DD2D8A4C6}"/>
              </a:ext>
            </a:extLst>
          </p:cNvPr>
          <p:cNvSpPr/>
          <p:nvPr/>
        </p:nvSpPr>
        <p:spPr>
          <a:xfrm>
            <a:off x="9054640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180428E-86B3-7F2E-695E-462A0E8DF22A}"/>
              </a:ext>
            </a:extLst>
          </p:cNvPr>
          <p:cNvSpPr/>
          <p:nvPr/>
        </p:nvSpPr>
        <p:spPr>
          <a:xfrm>
            <a:off x="9261766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A8CE4EE-586C-6C99-797D-6BB897189646}"/>
              </a:ext>
            </a:extLst>
          </p:cNvPr>
          <p:cNvSpPr/>
          <p:nvPr/>
        </p:nvSpPr>
        <p:spPr>
          <a:xfrm>
            <a:off x="9468892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BB97189-AFCE-8978-28C1-117444C87586}"/>
              </a:ext>
            </a:extLst>
          </p:cNvPr>
          <p:cNvSpPr/>
          <p:nvPr/>
        </p:nvSpPr>
        <p:spPr>
          <a:xfrm>
            <a:off x="9676018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89DC986-5188-2418-C31B-DABDEB24807B}"/>
              </a:ext>
            </a:extLst>
          </p:cNvPr>
          <p:cNvSpPr/>
          <p:nvPr/>
        </p:nvSpPr>
        <p:spPr>
          <a:xfrm>
            <a:off x="9883144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528A647-CB4C-6513-4D94-2A50CB26E504}"/>
              </a:ext>
            </a:extLst>
          </p:cNvPr>
          <p:cNvSpPr/>
          <p:nvPr/>
        </p:nvSpPr>
        <p:spPr>
          <a:xfrm>
            <a:off x="10090270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9580001-5875-6134-006F-A215CE216013}"/>
              </a:ext>
            </a:extLst>
          </p:cNvPr>
          <p:cNvSpPr/>
          <p:nvPr/>
        </p:nvSpPr>
        <p:spPr>
          <a:xfrm>
            <a:off x="10297396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C872EB4-8B5E-33E7-BB5B-4AB5D29D07A4}"/>
              </a:ext>
            </a:extLst>
          </p:cNvPr>
          <p:cNvSpPr/>
          <p:nvPr/>
        </p:nvSpPr>
        <p:spPr>
          <a:xfrm>
            <a:off x="10504522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241B985-D7E4-ED73-76A1-45D09295634C}"/>
              </a:ext>
            </a:extLst>
          </p:cNvPr>
          <p:cNvSpPr/>
          <p:nvPr/>
        </p:nvSpPr>
        <p:spPr>
          <a:xfrm>
            <a:off x="10711648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41D8BEE-1F03-3B3D-17D2-7AA970F06503}"/>
              </a:ext>
            </a:extLst>
          </p:cNvPr>
          <p:cNvSpPr/>
          <p:nvPr/>
        </p:nvSpPr>
        <p:spPr>
          <a:xfrm>
            <a:off x="10918774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3B382F-316E-B521-AF4C-2CA3B282EAF1}"/>
              </a:ext>
            </a:extLst>
          </p:cNvPr>
          <p:cNvSpPr/>
          <p:nvPr/>
        </p:nvSpPr>
        <p:spPr>
          <a:xfrm>
            <a:off x="11125900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F76F48B-1679-96BC-65CD-89A9E82C5A82}"/>
              </a:ext>
            </a:extLst>
          </p:cNvPr>
          <p:cNvSpPr/>
          <p:nvPr/>
        </p:nvSpPr>
        <p:spPr>
          <a:xfrm>
            <a:off x="11333026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E10C2A9-FEB0-49F8-2E9B-30DCD4C48F47}"/>
              </a:ext>
            </a:extLst>
          </p:cNvPr>
          <p:cNvSpPr/>
          <p:nvPr/>
        </p:nvSpPr>
        <p:spPr>
          <a:xfrm>
            <a:off x="11540152" y="6182420"/>
            <a:ext cx="207773" cy="209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A93B951-48D5-703B-2975-7CC0EDC5FA05}"/>
              </a:ext>
            </a:extLst>
          </p:cNvPr>
          <p:cNvSpPr/>
          <p:nvPr/>
        </p:nvSpPr>
        <p:spPr>
          <a:xfrm>
            <a:off x="4535674" y="5781817"/>
            <a:ext cx="207773" cy="2095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205601A-D20E-A81F-42A4-FB6B9B59DB6C}"/>
              </a:ext>
            </a:extLst>
          </p:cNvPr>
          <p:cNvSpPr/>
          <p:nvPr/>
        </p:nvSpPr>
        <p:spPr>
          <a:xfrm>
            <a:off x="4535674" y="6043158"/>
            <a:ext cx="207773" cy="209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0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38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D8D037-BC58-2B42-2D7D-CBEF6A22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операционных систем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B5599-1CF4-61B5-D02C-243697946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44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1A3581-D8B8-2617-B49F-1E15345E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Аналитическая машина Бэббиджа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F90294-99A0-421F-0C5B-7310C9E8B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9600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noProof="0" dirty="0"/>
              <a:t>1830-е годы — проект универсальной вычислительной машины Чарльза Беббиджа</a:t>
            </a:r>
          </a:p>
          <a:p>
            <a:pPr lvl="1"/>
            <a:r>
              <a:rPr lang="ru-RU" noProof="0" dirty="0"/>
              <a:t>механический прообраз программируемого компьютера.</a:t>
            </a:r>
          </a:p>
          <a:p>
            <a:r>
              <a:rPr lang="ru-RU" noProof="0" dirty="0"/>
              <a:t>В проекте уже были:</a:t>
            </a:r>
          </a:p>
          <a:p>
            <a:pPr lvl="1"/>
            <a:r>
              <a:rPr lang="ru-RU" noProof="0" dirty="0"/>
              <a:t>устройство вычислений — аналог процессора; </a:t>
            </a:r>
          </a:p>
          <a:p>
            <a:pPr lvl="1"/>
            <a:r>
              <a:rPr lang="ru-RU" noProof="0" dirty="0"/>
              <a:t>память для хранения данных; </a:t>
            </a:r>
          </a:p>
          <a:p>
            <a:pPr lvl="1"/>
            <a:r>
              <a:rPr lang="ru-RU" noProof="0" dirty="0"/>
              <a:t>программа и данные на перфокартах; </a:t>
            </a:r>
          </a:p>
          <a:p>
            <a:pPr lvl="1"/>
            <a:r>
              <a:rPr lang="ru-RU" noProof="0" dirty="0"/>
              <a:t>условные переходы и циклы. </a:t>
            </a:r>
          </a:p>
          <a:p>
            <a:r>
              <a:rPr lang="ru-RU" noProof="0" dirty="0"/>
              <a:t>Машина не была полностью построена при жизни Бэббиджа.</a:t>
            </a:r>
          </a:p>
          <a:p>
            <a:r>
              <a:rPr lang="ru-RU" noProof="0" dirty="0"/>
              <a:t>Ада Лавлейс описала алгоритмы для этой машины и часто считается первым программистом в истории.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BC792B6-FF89-0EAD-9A26-332E0CC2D3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4200" y="1737834"/>
            <a:ext cx="3746500" cy="2931261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C2ACBF-BEBE-5C20-5B87-8352F1A0D20D}"/>
              </a:ext>
            </a:extLst>
          </p:cNvPr>
          <p:cNvSpPr txBox="1"/>
          <p:nvPr/>
        </p:nvSpPr>
        <p:spPr>
          <a:xfrm>
            <a:off x="838200" y="6311900"/>
            <a:ext cx="9547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https://galanix.com/articles/analiticheskaya-mashina-bebbidzha-proobraz-kompyutera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BC2D8-41E7-1138-0B0B-755AB616F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425" y="4081758"/>
            <a:ext cx="1557171" cy="24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2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F5D5-20C0-4383-AAB9-35FAF933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Первое поколение компьютеров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5E652-0055-026B-46DF-E0939C5A5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10363" cy="4351338"/>
          </a:xfrm>
        </p:spPr>
        <p:txBody>
          <a:bodyPr>
            <a:normAutofit fontScale="77500" lnSpcReduction="20000"/>
          </a:bodyPr>
          <a:lstStyle/>
          <a:p>
            <a:r>
              <a:rPr lang="ru-RU" noProof="0" dirty="0"/>
              <a:t>1940-е — начало 1950-х: первые электронные цифровые компьютеры</a:t>
            </a:r>
          </a:p>
          <a:p>
            <a:pPr lvl="1"/>
            <a:r>
              <a:rPr lang="ru-RU" b="1" noProof="0" dirty="0"/>
              <a:t>Z3</a:t>
            </a:r>
            <a:r>
              <a:rPr lang="ru-RU" noProof="0" dirty="0"/>
              <a:t> — релейная вычислительная машина; </a:t>
            </a:r>
          </a:p>
          <a:p>
            <a:pPr lvl="1"/>
            <a:r>
              <a:rPr lang="ru-RU" b="1" noProof="0" dirty="0" err="1"/>
              <a:t>Colossus</a:t>
            </a:r>
            <a:r>
              <a:rPr lang="ru-RU" noProof="0" dirty="0"/>
              <a:t> — электронная машина для криптоанализа; </a:t>
            </a:r>
          </a:p>
          <a:p>
            <a:pPr lvl="1"/>
            <a:r>
              <a:rPr lang="ru-RU" b="1" noProof="0" dirty="0"/>
              <a:t>Harvard Mark I</a:t>
            </a:r>
            <a:r>
              <a:rPr lang="ru-RU" noProof="0" dirty="0"/>
              <a:t> — электромеханический компьютер; </a:t>
            </a:r>
          </a:p>
          <a:p>
            <a:pPr lvl="1"/>
            <a:r>
              <a:rPr lang="ru-RU" b="1" noProof="0" dirty="0"/>
              <a:t>ENIAC</a:t>
            </a:r>
            <a:r>
              <a:rPr lang="ru-RU" noProof="0" dirty="0"/>
              <a:t> — около 18 000 вакуумных ламп. </a:t>
            </a:r>
          </a:p>
          <a:p>
            <a:r>
              <a:rPr lang="ru-RU" noProof="0" dirty="0"/>
              <a:t>Особенности</a:t>
            </a:r>
          </a:p>
          <a:p>
            <a:pPr lvl="1"/>
            <a:r>
              <a:rPr lang="ru-RU" noProof="0" dirty="0"/>
              <a:t>огромные размеры и высокая стоимость; </a:t>
            </a:r>
          </a:p>
          <a:p>
            <a:pPr lvl="1"/>
            <a:r>
              <a:rPr lang="ru-RU" noProof="0" dirty="0"/>
              <a:t>низкая по современным меркам производительность; </a:t>
            </a:r>
          </a:p>
          <a:p>
            <a:pPr lvl="1"/>
            <a:r>
              <a:rPr lang="ru-RU" noProof="0" dirty="0"/>
              <a:t>программирование машинными кодами, переключателями и соединением кабелей; </a:t>
            </a:r>
          </a:p>
          <a:p>
            <a:pPr lvl="1"/>
            <a:r>
              <a:rPr lang="ru-RU" noProof="0" dirty="0"/>
              <a:t>программист часто одновременно был и оператором машины. </a:t>
            </a:r>
          </a:p>
          <a:p>
            <a:r>
              <a:rPr lang="ru-RU" noProof="0" dirty="0"/>
              <a:t>Операционных систем ещё не существовало.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9D41C5-C4A2-E6D2-6985-79B2C5E1FA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0997" y="1689754"/>
            <a:ext cx="4303503" cy="328864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2816F5-F7C3-CF67-E029-1B8724927A61}"/>
              </a:ext>
            </a:extLst>
          </p:cNvPr>
          <p:cNvSpPr txBox="1"/>
          <p:nvPr/>
        </p:nvSpPr>
        <p:spPr>
          <a:xfrm>
            <a:off x="7988300" y="4983580"/>
            <a:ext cx="365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Компьютер </a:t>
            </a:r>
            <a:r>
              <a:rPr lang="en-US" dirty="0"/>
              <a:t>ENIAC</a:t>
            </a:r>
          </a:p>
        </p:txBody>
      </p:sp>
    </p:spTree>
    <p:extLst>
      <p:ext uri="{BB962C8B-B14F-4D97-AF65-F5344CB8AC3E}">
        <p14:creationId xmlns:p14="http://schemas.microsoft.com/office/powerpoint/2010/main" val="164951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74E3C2-99F5-94EA-C536-5DBB1F0E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поколение</a:t>
            </a:r>
            <a:r>
              <a:rPr lang="en-US" dirty="0"/>
              <a:t>: </a:t>
            </a:r>
            <a:r>
              <a:rPr lang="en-US" dirty="0" err="1"/>
              <a:t>транзисторы</a:t>
            </a:r>
            <a:r>
              <a:rPr lang="en-US" dirty="0"/>
              <a:t> и </a:t>
            </a:r>
            <a:r>
              <a:rPr lang="en-US" dirty="0" err="1"/>
              <a:t>мейнфреймы</a:t>
            </a:r>
            <a:r>
              <a:rPr lang="ru-RU" dirty="0"/>
              <a:t> (1955-1965)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1FA2A-B8AC-ADEC-45C7-F7FEEF057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1955–1965: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надёжнее</a:t>
            </a:r>
            <a:r>
              <a:rPr lang="en-US" dirty="0"/>
              <a:t> и </a:t>
            </a:r>
            <a:r>
              <a:rPr lang="en-US" dirty="0" err="1"/>
              <a:t>доступнее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регулярной</a:t>
            </a:r>
            <a:r>
              <a:rPr lang="en-US" dirty="0"/>
              <a:t> </a:t>
            </a:r>
            <a:r>
              <a:rPr lang="en-US" dirty="0" err="1"/>
              <a:t>эксплуатации</a:t>
            </a:r>
            <a:endParaRPr lang="en-US" dirty="0"/>
          </a:p>
          <a:p>
            <a:pPr lvl="1"/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вакуумных</a:t>
            </a:r>
            <a:r>
              <a:rPr lang="en-US" dirty="0"/>
              <a:t> </a:t>
            </a:r>
            <a:r>
              <a:rPr lang="en-US" dirty="0" err="1"/>
              <a:t>ламп</a:t>
            </a:r>
            <a:r>
              <a:rPr lang="en-US" dirty="0"/>
              <a:t> к </a:t>
            </a:r>
            <a:r>
              <a:rPr lang="en-US" dirty="0" err="1"/>
              <a:t>транзисторам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коммерческие</a:t>
            </a:r>
            <a:r>
              <a:rPr lang="en-US" dirty="0"/>
              <a:t> </a:t>
            </a:r>
            <a:r>
              <a:rPr lang="en-US" dirty="0" err="1"/>
              <a:t>мейнфреймы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Разделяются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: </a:t>
            </a:r>
            <a:r>
              <a:rPr lang="en-US" dirty="0" err="1"/>
              <a:t>программисты</a:t>
            </a:r>
            <a:r>
              <a:rPr lang="en-US" dirty="0"/>
              <a:t>, </a:t>
            </a:r>
            <a:r>
              <a:rPr lang="en-US" dirty="0" err="1"/>
              <a:t>операторы</a:t>
            </a:r>
            <a:r>
              <a:rPr lang="en-US" dirty="0"/>
              <a:t>, </a:t>
            </a:r>
            <a:r>
              <a:rPr lang="en-US" dirty="0" err="1"/>
              <a:t>инженеры</a:t>
            </a:r>
            <a:r>
              <a:rPr lang="en-US" dirty="0"/>
              <a:t> и </a:t>
            </a:r>
            <a:r>
              <a:rPr lang="en-US" dirty="0" err="1"/>
              <a:t>обслуживающий</a:t>
            </a:r>
            <a:r>
              <a:rPr lang="en-US" dirty="0"/>
              <a:t> </a:t>
            </a:r>
            <a:r>
              <a:rPr lang="en-US" dirty="0" err="1"/>
              <a:t>персонал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машиной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 </a:t>
            </a:r>
          </a:p>
          <a:p>
            <a:r>
              <a:rPr lang="en-US" dirty="0" err="1"/>
              <a:t>Типичный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Программист пишет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FORTRAN / Assembler</a:t>
            </a:r>
            <a:endParaRPr lang="ru-RU" dirty="0"/>
          </a:p>
          <a:p>
            <a:pPr lvl="1"/>
            <a:r>
              <a:rPr lang="ru-RU" dirty="0"/>
              <a:t>Код пробивается на п</a:t>
            </a:r>
            <a:r>
              <a:rPr lang="en-US" dirty="0" err="1"/>
              <a:t>ерфокарт</a:t>
            </a:r>
            <a:r>
              <a:rPr lang="ru-RU" dirty="0"/>
              <a:t>ах и передаётся оператору</a:t>
            </a:r>
          </a:p>
          <a:p>
            <a:pPr lvl="1"/>
            <a:r>
              <a:rPr lang="ru-RU" dirty="0"/>
              <a:t>О</a:t>
            </a:r>
            <a:r>
              <a:rPr lang="en-US" dirty="0" err="1"/>
              <a:t>ператор</a:t>
            </a:r>
            <a:r>
              <a:rPr lang="ru-RU" dirty="0"/>
              <a:t> ставит задания в очередь и запускает их</a:t>
            </a:r>
          </a:p>
          <a:p>
            <a:pPr lvl="1"/>
            <a:r>
              <a:rPr lang="ru-RU" dirty="0"/>
              <a:t>Результаты работы распечатываются и передаются программисту</a:t>
            </a:r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дорогой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простаивает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заданиями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43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BBD8-31E6-64EF-E0E2-C8F83220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Пакетная обработка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66B6D-3573-8A5E-F5AD-5D7B8CD4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574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Проблема: дорогой мейнфрейм простаивает во время ввода-вывода и подготовки следующего задания</a:t>
            </a:r>
          </a:p>
          <a:p>
            <a:r>
              <a:rPr lang="ru-RU" dirty="0"/>
              <a:t>Решение – пакетная обработка:</a:t>
            </a:r>
          </a:p>
          <a:p>
            <a:pPr lvl="1"/>
            <a:r>
              <a:rPr lang="en-US" dirty="0"/>
              <a:t>I/O</a:t>
            </a:r>
            <a:r>
              <a:rPr lang="ru-RU" dirty="0"/>
              <a:t> компьютер читает перфокарты и записывает входные данные на магнитную ленту</a:t>
            </a:r>
          </a:p>
          <a:p>
            <a:pPr lvl="1"/>
            <a:r>
              <a:rPr lang="ru-RU" dirty="0"/>
              <a:t>Мейнфрейм автоматически выполняет задания и записывает на выходную ленту</a:t>
            </a:r>
          </a:p>
          <a:p>
            <a:pPr lvl="1"/>
            <a:r>
              <a:rPr lang="en-US" dirty="0"/>
              <a:t>I/O</a:t>
            </a:r>
            <a:r>
              <a:rPr lang="ru-RU" dirty="0"/>
              <a:t> компьютер печатает результаты</a:t>
            </a:r>
          </a:p>
          <a:p>
            <a:r>
              <a:rPr lang="en-US" dirty="0" err="1"/>
              <a:t>Результат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простоев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пропускная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ручной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оператора</a:t>
            </a:r>
            <a:r>
              <a:rPr lang="en-US" dirty="0"/>
              <a:t>. </a:t>
            </a:r>
          </a:p>
          <a:p>
            <a:r>
              <a:rPr lang="en-US" dirty="0" err="1"/>
              <a:t>Цена</a:t>
            </a:r>
            <a:r>
              <a:rPr lang="en-US" dirty="0"/>
              <a:t>: </a:t>
            </a:r>
            <a:r>
              <a:rPr lang="en-US" dirty="0" err="1"/>
              <a:t>отдельное</a:t>
            </a:r>
            <a:r>
              <a:rPr lang="en-US" dirty="0"/>
              <a:t> </a:t>
            </a:r>
            <a:r>
              <a:rPr lang="en-US" dirty="0" err="1"/>
              <a:t>задание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дольше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</a:p>
          <a:p>
            <a:r>
              <a:rPr lang="en-US" dirty="0"/>
              <a:t>IBM 1401 — </a:t>
            </a:r>
            <a:r>
              <a:rPr lang="en-US" dirty="0" err="1"/>
              <a:t>ввод</a:t>
            </a:r>
            <a:r>
              <a:rPr lang="en-US" dirty="0"/>
              <a:t>/</a:t>
            </a:r>
            <a:r>
              <a:rPr lang="en-US" dirty="0" err="1"/>
              <a:t>вывод</a:t>
            </a:r>
            <a:r>
              <a:rPr lang="en-US" dirty="0"/>
              <a:t>, IBM 7090/7094 — </a:t>
            </a:r>
            <a:r>
              <a:rPr lang="en-US" dirty="0" err="1"/>
              <a:t>вычисления</a:t>
            </a:r>
            <a:endParaRPr lang="en-US" dirty="0"/>
          </a:p>
        </p:txBody>
      </p:sp>
      <p:pic>
        <p:nvPicPr>
          <p:cNvPr id="5" name="Picture 4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176E8424-DC2A-0725-27AF-128A93D28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960" y="4029701"/>
            <a:ext cx="2979860" cy="2330251"/>
          </a:xfrm>
          <a:prstGeom prst="rect">
            <a:avLst/>
          </a:prstGeom>
        </p:spPr>
      </p:pic>
      <p:pic>
        <p:nvPicPr>
          <p:cNvPr id="7" name="Picture 6" descr="A room with several blue and white machines&#10;&#10;AI-generated content may be incorrect.">
            <a:extLst>
              <a:ext uri="{FF2B5EF4-FFF2-40B4-BE49-F238E27FC236}">
                <a16:creationId xmlns:a16="http://schemas.microsoft.com/office/drawing/2014/main" id="{CD18D8F4-1A12-239A-25A8-62A10498F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940" y="1499187"/>
            <a:ext cx="2979860" cy="2062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BB9B45-1840-2CE9-1F51-E5390350E376}"/>
              </a:ext>
            </a:extLst>
          </p:cNvPr>
          <p:cNvSpPr txBox="1"/>
          <p:nvPr/>
        </p:nvSpPr>
        <p:spPr>
          <a:xfrm>
            <a:off x="7459541" y="3561250"/>
            <a:ext cx="297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dirty="0"/>
              <a:t>IBM 1401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F5409-606E-20F7-7B0D-DC4FFEEE1308}"/>
              </a:ext>
            </a:extLst>
          </p:cNvPr>
          <p:cNvSpPr txBox="1"/>
          <p:nvPr/>
        </p:nvSpPr>
        <p:spPr>
          <a:xfrm>
            <a:off x="8388960" y="6308209"/>
            <a:ext cx="297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dirty="0"/>
              <a:t>IBM </a:t>
            </a:r>
            <a:r>
              <a:rPr lang="en-US" b="0" dirty="0"/>
              <a:t>7090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36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E3E9FD-A938-E8BE-42FB-A596F59F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Третье</a:t>
            </a:r>
            <a:r>
              <a:rPr lang="en-US" dirty="0"/>
              <a:t> </a:t>
            </a:r>
            <a:r>
              <a:rPr lang="en-US" dirty="0" err="1"/>
              <a:t>поколение</a:t>
            </a:r>
            <a:r>
              <a:rPr lang="en-US" dirty="0"/>
              <a:t>: ОС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C213B8-680A-2303-3A49-7540D25FD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noProof="0" dirty="0"/>
              <a:t>1965–1980: компьютеры становятся мощнее, а ОС — сложнее</a:t>
            </a:r>
          </a:p>
          <a:p>
            <a:r>
              <a:rPr lang="ru-RU" noProof="0" dirty="0"/>
              <a:t>IBM System/360</a:t>
            </a:r>
          </a:p>
          <a:p>
            <a:pPr lvl="1"/>
            <a:r>
              <a:rPr lang="ru-RU" noProof="0" dirty="0"/>
              <a:t>семейство совместимых компьютеров разной мощности; </a:t>
            </a:r>
          </a:p>
          <a:p>
            <a:pPr lvl="1"/>
            <a:r>
              <a:rPr lang="ru-RU" noProof="0" dirty="0"/>
              <a:t>одна программная платформа для разных моделей; </a:t>
            </a:r>
          </a:p>
          <a:p>
            <a:pPr lvl="1"/>
            <a:r>
              <a:rPr lang="ru-RU" noProof="0" dirty="0"/>
              <a:t>OS/360 — одна из первых крупных универсальных ОС. </a:t>
            </a:r>
          </a:p>
          <a:p>
            <a:r>
              <a:rPr lang="ru-RU" noProof="0" dirty="0"/>
              <a:t>Новые возможности ОС:</a:t>
            </a:r>
          </a:p>
          <a:p>
            <a:pPr lvl="1"/>
            <a:r>
              <a:rPr lang="ru-RU" b="1" noProof="0" dirty="0"/>
              <a:t>мультипрограммирование</a:t>
            </a:r>
            <a:r>
              <a:rPr lang="ru-RU" noProof="0" dirty="0"/>
              <a:t> — пока одна программа ждёт I/O, CPU выполняет другую; </a:t>
            </a:r>
          </a:p>
          <a:p>
            <a:pPr lvl="1"/>
            <a:r>
              <a:rPr lang="ru-RU" b="1" noProof="0" dirty="0" err="1"/>
              <a:t>spooling</a:t>
            </a:r>
            <a:r>
              <a:rPr lang="ru-RU" noProof="0" dirty="0"/>
              <a:t> — задания и результаты хранятся на диске в очередях; </a:t>
            </a:r>
          </a:p>
          <a:p>
            <a:pPr lvl="1"/>
            <a:r>
              <a:rPr lang="ru-RU" noProof="0" dirty="0"/>
              <a:t>несколько программ одновременно находятся в памяти. </a:t>
            </a:r>
          </a:p>
          <a:p>
            <a:r>
              <a:rPr lang="ru-RU" noProof="0" dirty="0"/>
              <a:t>ОС должна не просто запускать программы, а эффективно управлять ресурсами компьютера.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62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E894-B711-5DFA-9DB5-ABD74CF1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пакетной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к </a:t>
            </a:r>
            <a:r>
              <a:rPr lang="en-US" dirty="0" err="1"/>
              <a:t>интерактивной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360D-C206-2520-293A-B2B51DCA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пакетных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запуском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и </a:t>
            </a:r>
            <a:r>
              <a:rPr lang="en-US" dirty="0" err="1"/>
              <a:t>получением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часы</a:t>
            </a:r>
            <a:r>
              <a:rPr lang="en-US" dirty="0"/>
              <a:t>.</a:t>
            </a:r>
          </a:p>
          <a:p>
            <a:r>
              <a:rPr lang="en-US" dirty="0" err="1"/>
              <a:t>Таймшеринг</a:t>
            </a:r>
            <a:endParaRPr lang="en-US" dirty="0"/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компьютером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терминалы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ОС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переключает</a:t>
            </a:r>
            <a:r>
              <a:rPr lang="en-US" dirty="0"/>
              <a:t> CPU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endParaRPr lang="en-US" dirty="0"/>
          </a:p>
          <a:p>
            <a:pPr lvl="1"/>
            <a:r>
              <a:rPr lang="en-US" dirty="0"/>
              <a:t>CTSS</a:t>
            </a:r>
            <a:r>
              <a:rPr lang="ru-RU" dirty="0"/>
              <a:t> (</a:t>
            </a:r>
            <a:r>
              <a:rPr lang="en-US" dirty="0"/>
              <a:t>Compatible Time-Sharing System) —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успешных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таймшеринга</a:t>
            </a:r>
            <a:r>
              <a:rPr lang="en-US" dirty="0"/>
              <a:t>.</a:t>
            </a:r>
          </a:p>
          <a:p>
            <a:r>
              <a:rPr lang="en-US" dirty="0"/>
              <a:t>MULTICS – </a:t>
            </a:r>
            <a:r>
              <a:rPr lang="ru-RU" dirty="0"/>
              <a:t>а</a:t>
            </a:r>
            <a:r>
              <a:rPr lang="en-US" dirty="0" err="1"/>
              <a:t>мбициозная</a:t>
            </a:r>
            <a:r>
              <a:rPr lang="en-US" dirty="0"/>
              <a:t> </a:t>
            </a:r>
            <a:r>
              <a:rPr lang="en-US" dirty="0" err="1"/>
              <a:t>многопользовательская</a:t>
            </a:r>
            <a:r>
              <a:rPr lang="en-US" dirty="0"/>
              <a:t> ОС:</a:t>
            </a:r>
          </a:p>
          <a:p>
            <a:pPr lvl="1"/>
            <a:r>
              <a:rPr lang="en-US" dirty="0" err="1"/>
              <a:t>защита</a:t>
            </a:r>
            <a:r>
              <a:rPr lang="en-US" dirty="0"/>
              <a:t> и </a:t>
            </a:r>
            <a:r>
              <a:rPr lang="en-US" dirty="0" err="1"/>
              <a:t>разграничение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развитая</a:t>
            </a:r>
            <a:r>
              <a:rPr lang="en-US" dirty="0"/>
              <a:t> </a:t>
            </a:r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услуги</a:t>
            </a:r>
            <a:r>
              <a:rPr lang="en-US" dirty="0"/>
              <a:t>. </a:t>
            </a:r>
          </a:p>
          <a:p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MULTICS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повлияли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UNIX.</a:t>
            </a:r>
          </a:p>
        </p:txBody>
      </p:sp>
    </p:spTree>
    <p:extLst>
      <p:ext uri="{BB962C8B-B14F-4D97-AF65-F5344CB8AC3E}">
        <p14:creationId xmlns:p14="http://schemas.microsoft.com/office/powerpoint/2010/main" val="2649705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6FF9-433F-340B-16BF-B42E9422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</a:t>
            </a:r>
            <a:r>
              <a:rPr lang="ru-RU" dirty="0"/>
              <a:t>,</a:t>
            </a:r>
            <a:r>
              <a:rPr lang="en-US" dirty="0"/>
              <a:t> POSIX</a:t>
            </a:r>
            <a:r>
              <a:rPr lang="ru-RU" dirty="0"/>
              <a:t>,</a:t>
            </a:r>
            <a:r>
              <a:rPr lang="en-US" dirty="0"/>
              <a:t>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62A8-DC3E-8003-935C-39B8B43C3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noProof="0" dirty="0"/>
              <a:t>UNIX (1969, Bell Labs)</a:t>
            </a:r>
          </a:p>
          <a:p>
            <a:pPr lvl="1"/>
            <a:r>
              <a:rPr lang="ru-RU" noProof="0" dirty="0"/>
              <a:t>компактная и относительно простая система; </a:t>
            </a:r>
          </a:p>
          <a:p>
            <a:pPr lvl="1"/>
            <a:r>
              <a:rPr lang="ru-RU" noProof="0" dirty="0"/>
              <a:t>процессы, файлы, каналы и командная оболочка; </a:t>
            </a:r>
          </a:p>
          <a:p>
            <a:pPr lvl="1"/>
            <a:r>
              <a:rPr lang="ru-RU" noProof="0" dirty="0"/>
              <a:t>переносимость благодаря переписыванию большей части системы на C. </a:t>
            </a:r>
          </a:p>
          <a:p>
            <a:pPr marL="457200" lvl="1" indent="0">
              <a:buNone/>
            </a:pPr>
            <a:r>
              <a:rPr lang="ru-RU" noProof="0" dirty="0"/>
              <a:t>Со временем появились разные ветви UNIX: BSD, System V и другие.</a:t>
            </a:r>
          </a:p>
          <a:p>
            <a:r>
              <a:rPr lang="ru-RU" noProof="0" dirty="0"/>
              <a:t>POSIX </a:t>
            </a:r>
            <a:r>
              <a:rPr lang="en-US" noProof="0" dirty="0"/>
              <a:t>(Portable Operating System Interface) – </a:t>
            </a:r>
            <a:r>
              <a:rPr lang="ru-RU" noProof="0" dirty="0"/>
              <a:t>интерфейс</a:t>
            </a:r>
            <a:r>
              <a:rPr lang="en-US" noProof="0" dirty="0"/>
              <a:t> </a:t>
            </a:r>
            <a:r>
              <a:rPr lang="ru-RU" noProof="0" dirty="0"/>
              <a:t>UNIX-подобных систем:</a:t>
            </a:r>
          </a:p>
          <a:p>
            <a:pPr lvl="1"/>
            <a:r>
              <a:rPr lang="ru-RU" noProof="0" dirty="0"/>
              <a:t>API и библиотечные функции; </a:t>
            </a:r>
          </a:p>
          <a:p>
            <a:pPr lvl="1"/>
            <a:r>
              <a:rPr lang="ru-RU" noProof="0" dirty="0"/>
              <a:t>команды и утилиты; </a:t>
            </a:r>
          </a:p>
          <a:p>
            <a:pPr lvl="1"/>
            <a:r>
              <a:rPr lang="ru-RU" noProof="0" dirty="0"/>
              <a:t>поведение системных интерфейсов. </a:t>
            </a:r>
          </a:p>
          <a:p>
            <a:pPr marL="457200" lvl="1" indent="0">
              <a:buNone/>
            </a:pPr>
            <a:r>
              <a:rPr lang="ru-RU" noProof="0" dirty="0"/>
              <a:t>Программы легче переносить между системами.</a:t>
            </a:r>
          </a:p>
          <a:p>
            <a:r>
              <a:rPr lang="ru-RU" noProof="0" dirty="0"/>
              <a:t>MINIX и Linux</a:t>
            </a:r>
          </a:p>
          <a:p>
            <a:pPr lvl="1"/>
            <a:r>
              <a:rPr lang="ru-RU" noProof="0" dirty="0"/>
              <a:t>MINIX (1987) </a:t>
            </a:r>
            <a:r>
              <a:rPr lang="en-US" dirty="0"/>
              <a:t>–</a:t>
            </a:r>
            <a:r>
              <a:rPr lang="ru-RU" noProof="0" dirty="0"/>
              <a:t> учебная UNIX-подобная ОС.</a:t>
            </a:r>
          </a:p>
          <a:p>
            <a:pPr lvl="1"/>
            <a:r>
              <a:rPr lang="ru-RU" noProof="0" dirty="0"/>
              <a:t>Linux (1991) </a:t>
            </a:r>
            <a:r>
              <a:rPr lang="en-US" dirty="0"/>
              <a:t>–</a:t>
            </a:r>
            <a:r>
              <a:rPr lang="ru-RU" noProof="0" dirty="0"/>
              <a:t> свободное UNIX-подобное ядро.</a:t>
            </a:r>
          </a:p>
          <a:p>
            <a:r>
              <a:rPr lang="ru-RU" noProof="0" dirty="0"/>
              <a:t>Сегодня Linux лежит в основе серверов, облаков, </a:t>
            </a:r>
            <a:r>
              <a:rPr lang="ru-RU" noProof="0" dirty="0" err="1"/>
              <a:t>Android</a:t>
            </a:r>
            <a:r>
              <a:rPr lang="ru-RU" noProof="0" dirty="0"/>
              <a:t> и встраиваемых систем.</a:t>
            </a:r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9272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F74B-0386-D95D-9C55-63204A42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ru-RU" dirty="0"/>
              <a:t>поколение. Рождение персональных компьютеров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60B6B-41D0-E91E-3E6A-B72459AC7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48750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1970-е: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доступен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человеку</a:t>
            </a:r>
            <a:endParaRPr lang="en-US" dirty="0"/>
          </a:p>
          <a:p>
            <a:pPr lvl="1"/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интегральных</a:t>
            </a:r>
            <a:r>
              <a:rPr lang="en-US" dirty="0"/>
              <a:t> </a:t>
            </a:r>
            <a:r>
              <a:rPr lang="en-US" dirty="0" err="1"/>
              <a:t>схем</a:t>
            </a:r>
            <a:r>
              <a:rPr lang="en-US" dirty="0"/>
              <a:t> </a:t>
            </a:r>
            <a:r>
              <a:rPr lang="en-US" dirty="0" err="1"/>
              <a:t>привело</a:t>
            </a:r>
            <a:r>
              <a:rPr lang="en-US" dirty="0"/>
              <a:t> к </a:t>
            </a:r>
            <a:r>
              <a:rPr lang="en-US" dirty="0" err="1"/>
              <a:t>появлению</a:t>
            </a:r>
            <a:r>
              <a:rPr lang="en-US" dirty="0"/>
              <a:t> </a:t>
            </a:r>
            <a:r>
              <a:rPr lang="en-US" dirty="0" err="1"/>
              <a:t>микропроцессоров</a:t>
            </a:r>
            <a:r>
              <a:rPr lang="en-US" dirty="0"/>
              <a:t> и </a:t>
            </a:r>
            <a:r>
              <a:rPr lang="en-US" dirty="0" err="1"/>
              <a:t>недорогих</a:t>
            </a:r>
            <a:r>
              <a:rPr lang="en-US" dirty="0"/>
              <a:t> </a:t>
            </a:r>
            <a:r>
              <a:rPr lang="en-US" dirty="0" err="1"/>
              <a:t>микрокомпьютеров</a:t>
            </a:r>
            <a:r>
              <a:rPr lang="en-US" dirty="0"/>
              <a:t>.</a:t>
            </a:r>
          </a:p>
          <a:p>
            <a:r>
              <a:rPr lang="en-US" dirty="0"/>
              <a:t>1975 — Altair 8800</a:t>
            </a:r>
            <a:r>
              <a:rPr lang="ru-RU" dirty="0"/>
              <a:t> – о</a:t>
            </a:r>
            <a:r>
              <a:rPr lang="en-US" dirty="0" err="1"/>
              <a:t>дин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массовых</a:t>
            </a:r>
            <a:r>
              <a:rPr lang="en-US" dirty="0"/>
              <a:t> </a:t>
            </a:r>
            <a:r>
              <a:rPr lang="en-US" dirty="0" err="1"/>
              <a:t>микрокомпьютеров</a:t>
            </a:r>
            <a:r>
              <a:rPr lang="en-US" dirty="0"/>
              <a:t>.</a:t>
            </a:r>
          </a:p>
          <a:p>
            <a:r>
              <a:rPr lang="en-US" dirty="0"/>
              <a:t>CP/M (1974–1970-е)</a:t>
            </a:r>
            <a:r>
              <a:rPr lang="ru-RU" dirty="0"/>
              <a:t> – </a:t>
            </a:r>
            <a:r>
              <a:rPr lang="en-US" dirty="0" err="1"/>
              <a:t>Гэри</a:t>
            </a:r>
            <a:r>
              <a:rPr lang="ru-RU" dirty="0"/>
              <a:t> </a:t>
            </a:r>
            <a:r>
              <a:rPr lang="en-US" dirty="0" err="1"/>
              <a:t>Килдалл</a:t>
            </a:r>
            <a:r>
              <a:rPr lang="en-US" dirty="0"/>
              <a:t>, Digital Research</a:t>
            </a:r>
          </a:p>
          <a:p>
            <a:pPr lvl="1"/>
            <a:r>
              <a:rPr lang="en-US" dirty="0" err="1"/>
              <a:t>популярная</a:t>
            </a:r>
            <a:r>
              <a:rPr lang="en-US" dirty="0"/>
              <a:t> ОС </a:t>
            </a:r>
            <a:r>
              <a:rPr lang="en-US" dirty="0" err="1"/>
              <a:t>для</a:t>
            </a:r>
            <a:r>
              <a:rPr lang="en-US" dirty="0"/>
              <a:t> Intel 8080 и Z80; </a:t>
            </a:r>
          </a:p>
          <a:p>
            <a:pPr lvl="1"/>
            <a:r>
              <a:rPr lang="en-US" dirty="0" err="1"/>
              <a:t>единый</a:t>
            </a:r>
            <a:r>
              <a:rPr lang="en-US" dirty="0"/>
              <a:t> </a:t>
            </a:r>
            <a:r>
              <a:rPr lang="en-US" dirty="0" err="1"/>
              <a:t>программный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микрокомпьютеров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фактическим</a:t>
            </a:r>
            <a:r>
              <a:rPr lang="en-US" dirty="0"/>
              <a:t> </a:t>
            </a:r>
            <a:r>
              <a:rPr lang="en-US" dirty="0" err="1"/>
              <a:t>стандартом</a:t>
            </a:r>
            <a:r>
              <a:rPr lang="en-US" dirty="0"/>
              <a:t> </a:t>
            </a:r>
            <a:r>
              <a:rPr lang="en-US" dirty="0" err="1"/>
              <a:t>конца</a:t>
            </a:r>
            <a:r>
              <a:rPr lang="en-US" dirty="0"/>
              <a:t> 1970-х. </a:t>
            </a:r>
          </a:p>
          <a:p>
            <a:r>
              <a:rPr lang="en-US" dirty="0"/>
              <a:t>1981 — IBM PC</a:t>
            </a:r>
          </a:p>
          <a:p>
            <a:pPr lvl="1"/>
            <a:r>
              <a:rPr lang="en-US" dirty="0" err="1"/>
              <a:t>процессор</a:t>
            </a:r>
            <a:r>
              <a:rPr lang="en-US" dirty="0"/>
              <a:t> Intel 8088; </a:t>
            </a:r>
          </a:p>
          <a:p>
            <a:pPr lvl="1"/>
            <a:r>
              <a:rPr lang="en-US" dirty="0"/>
              <a:t>PC DOS / MS-DOS; </a:t>
            </a:r>
          </a:p>
          <a:p>
            <a:pPr lvl="1"/>
            <a:r>
              <a:rPr lang="en-US" dirty="0" err="1"/>
              <a:t>начало</a:t>
            </a:r>
            <a:r>
              <a:rPr lang="en-US" dirty="0"/>
              <a:t> </a:t>
            </a:r>
            <a:r>
              <a:rPr lang="en-US" dirty="0" err="1"/>
              <a:t>массового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IBM PC. </a:t>
            </a:r>
          </a:p>
          <a:p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в </a:t>
            </a:r>
            <a:r>
              <a:rPr lang="en-US" dirty="0" err="1"/>
              <a:t>персональный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DB678-3935-A80A-C744-788C149D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702" y="1690689"/>
            <a:ext cx="3580547" cy="3229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964D00-796A-CFF1-1D0E-E556CF5FFD4C}"/>
              </a:ext>
            </a:extLst>
          </p:cNvPr>
          <p:cNvSpPr txBox="1"/>
          <p:nvPr/>
        </p:nvSpPr>
        <p:spPr>
          <a:xfrm>
            <a:off x="8325702" y="4982645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Altair 8800</a:t>
            </a:r>
          </a:p>
        </p:txBody>
      </p:sp>
    </p:spTree>
    <p:extLst>
      <p:ext uri="{BB962C8B-B14F-4D97-AF65-F5344CB8AC3E}">
        <p14:creationId xmlns:p14="http://schemas.microsoft.com/office/powerpoint/2010/main" val="82408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E04F-493E-3C48-EE57-8D1AB26B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интерфейс и </a:t>
            </a:r>
            <a:r>
              <a:rPr lang="en-US" dirty="0"/>
              <a:t>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C32C-D223-9CF7-EA08-92C42D48C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682231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командной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— к </a:t>
            </a:r>
            <a:r>
              <a:rPr lang="en-US" dirty="0" err="1"/>
              <a:t>компьютеру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массового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endParaRPr lang="en-US" dirty="0"/>
          </a:p>
          <a:p>
            <a:r>
              <a:rPr lang="en-US" dirty="0"/>
              <a:t>1960–1970-е</a:t>
            </a:r>
          </a:p>
          <a:p>
            <a:pPr lvl="1"/>
            <a:r>
              <a:rPr lang="en-US" dirty="0" err="1"/>
              <a:t>Дуг</a:t>
            </a:r>
            <a:r>
              <a:rPr lang="ru-RU" dirty="0"/>
              <a:t>лас</a:t>
            </a:r>
            <a:r>
              <a:rPr lang="en-US" dirty="0"/>
              <a:t> </a:t>
            </a:r>
            <a:r>
              <a:rPr lang="en-US" dirty="0" err="1"/>
              <a:t>Энгельбарт</a:t>
            </a:r>
            <a:r>
              <a:rPr lang="en-US" dirty="0"/>
              <a:t> </a:t>
            </a:r>
            <a:r>
              <a:rPr lang="ru-RU" dirty="0"/>
              <a:t>(Университет Беркли*) – м</a:t>
            </a:r>
            <a:r>
              <a:rPr lang="en-US" dirty="0" err="1"/>
              <a:t>ышь</a:t>
            </a:r>
            <a:r>
              <a:rPr lang="en-US" dirty="0"/>
              <a:t>,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гипертекст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Xerox PARC </a:t>
            </a:r>
            <a:r>
              <a:rPr lang="en-US" dirty="0" err="1"/>
              <a:t>развивает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: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иконки</a:t>
            </a:r>
            <a:r>
              <a:rPr lang="en-US" dirty="0"/>
              <a:t>, </a:t>
            </a:r>
            <a:r>
              <a:rPr lang="en-US" dirty="0" err="1"/>
              <a:t>меню</a:t>
            </a:r>
            <a:r>
              <a:rPr lang="en-US" dirty="0"/>
              <a:t>, </a:t>
            </a:r>
            <a:r>
              <a:rPr lang="en-US" dirty="0" err="1"/>
              <a:t>мышь</a:t>
            </a:r>
            <a:r>
              <a:rPr lang="en-US" dirty="0"/>
              <a:t>. </a:t>
            </a:r>
          </a:p>
          <a:p>
            <a:r>
              <a:rPr lang="en-US" dirty="0"/>
              <a:t>Apple</a:t>
            </a:r>
          </a:p>
          <a:p>
            <a:pPr lvl="1"/>
            <a:r>
              <a:rPr lang="en-US" dirty="0"/>
              <a:t>Lisa (1983) —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коммерческих</a:t>
            </a:r>
            <a:r>
              <a:rPr lang="en-US" dirty="0"/>
              <a:t> ПК с </a:t>
            </a:r>
            <a:r>
              <a:rPr lang="en-US" dirty="0" err="1"/>
              <a:t>развитым</a:t>
            </a:r>
            <a:r>
              <a:rPr lang="en-US" dirty="0"/>
              <a:t> GUI</a:t>
            </a:r>
          </a:p>
          <a:p>
            <a:pPr lvl="1"/>
            <a:r>
              <a:rPr lang="en-US" dirty="0"/>
              <a:t>Macintosh (1984) — </a:t>
            </a:r>
            <a:r>
              <a:rPr lang="ru-RU" dirty="0"/>
              <a:t>массовый компьютер с </a:t>
            </a:r>
            <a:r>
              <a:rPr lang="en-US" dirty="0" err="1"/>
              <a:t>графически</a:t>
            </a:r>
            <a:r>
              <a:rPr lang="ru-RU" dirty="0"/>
              <a:t>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ru-RU" dirty="0"/>
              <a:t>ом</a:t>
            </a:r>
            <a:endParaRPr lang="en-US" dirty="0"/>
          </a:p>
          <a:p>
            <a:r>
              <a:rPr lang="en-US" dirty="0"/>
              <a:t>2001 — Mac OS X</a:t>
            </a:r>
          </a:p>
          <a:p>
            <a:pPr lvl="1"/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Apple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Darwin; </a:t>
            </a:r>
          </a:p>
          <a:p>
            <a:pPr lvl="1"/>
            <a:r>
              <a:rPr lang="en-US" dirty="0" err="1"/>
              <a:t>ядро</a:t>
            </a:r>
            <a:r>
              <a:rPr lang="en-US" dirty="0"/>
              <a:t> XNU </a:t>
            </a:r>
            <a:r>
              <a:rPr lang="en-US" dirty="0" err="1"/>
              <a:t>сочетает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Mach и BSD; </a:t>
            </a:r>
          </a:p>
          <a:p>
            <a:pPr lvl="1"/>
            <a:r>
              <a:rPr lang="en-US" dirty="0"/>
              <a:t>UNIX-</a:t>
            </a:r>
            <a:r>
              <a:rPr lang="en-US" dirty="0" err="1"/>
              <a:t>основа</a:t>
            </a:r>
            <a:r>
              <a:rPr lang="en-US" dirty="0"/>
              <a:t> +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пользовательская</a:t>
            </a:r>
            <a:r>
              <a:rPr lang="en-US" dirty="0"/>
              <a:t> </a:t>
            </a:r>
            <a:r>
              <a:rPr lang="en-US" dirty="0" err="1"/>
              <a:t>среда</a:t>
            </a:r>
            <a:r>
              <a:rPr lang="en-US" dirty="0"/>
              <a:t>. </a:t>
            </a:r>
          </a:p>
          <a:p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 </a:t>
            </a:r>
            <a:r>
              <a:rPr lang="en-US" dirty="0" err="1"/>
              <a:t>инструментом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специалистов</a:t>
            </a:r>
            <a:r>
              <a:rPr lang="en-US" dirty="0"/>
              <a:t>.</a:t>
            </a:r>
          </a:p>
        </p:txBody>
      </p:sp>
      <p:pic>
        <p:nvPicPr>
          <p:cNvPr id="5" name="Picture 4" descr="A collage of different computers&#10;&#10;AI-generated content may be incorrect.">
            <a:extLst>
              <a:ext uri="{FF2B5EF4-FFF2-40B4-BE49-F238E27FC236}">
                <a16:creationId xmlns:a16="http://schemas.microsoft.com/office/drawing/2014/main" id="{671C60FB-6C6D-CCE2-A4DD-6F7E3B946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430" y="1825626"/>
            <a:ext cx="3481070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E86E4C-EA4B-4351-D36B-A631F36F30ED}"/>
              </a:ext>
            </a:extLst>
          </p:cNvPr>
          <p:cNvSpPr txBox="1"/>
          <p:nvPr/>
        </p:nvSpPr>
        <p:spPr>
          <a:xfrm>
            <a:off x="957942" y="6400800"/>
            <a:ext cx="1069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 Калифорнийский Университет Беркли в 2026 году признан в России нежелательной организацией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75D2-803F-F857-B8DE-BB7B836B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3A32-A0F9-BC93-B18E-F5200A412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34809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Графическая ОС д</a:t>
            </a:r>
            <a:r>
              <a:rPr lang="en-US" dirty="0" err="1"/>
              <a:t>ля</a:t>
            </a:r>
            <a:r>
              <a:rPr lang="en-US" dirty="0"/>
              <a:t> </a:t>
            </a:r>
            <a:r>
              <a:rPr lang="en-US" dirty="0" err="1"/>
              <a:t>персональных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endParaRPr lang="en-US" dirty="0"/>
          </a:p>
          <a:p>
            <a:pPr lvl="1"/>
            <a:r>
              <a:rPr lang="en-US" dirty="0"/>
              <a:t>Windows 1.0 (1985) —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MS-DOS </a:t>
            </a:r>
          </a:p>
          <a:p>
            <a:pPr lvl="1"/>
            <a:r>
              <a:rPr lang="en-US" dirty="0"/>
              <a:t>Windows 3.x </a:t>
            </a:r>
          </a:p>
          <a:p>
            <a:pPr lvl="1"/>
            <a:r>
              <a:rPr lang="en-US" dirty="0"/>
              <a:t>Windows 95 / 98 / Me — </a:t>
            </a:r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потребительской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, </a:t>
            </a:r>
            <a:r>
              <a:rPr lang="en-US" dirty="0" err="1"/>
              <a:t>сохраняющей</a:t>
            </a:r>
            <a:r>
              <a:rPr lang="en-US" dirty="0"/>
              <a:t> </a:t>
            </a:r>
            <a:r>
              <a:rPr lang="en-US" dirty="0" err="1"/>
              <a:t>совместимость</a:t>
            </a:r>
            <a:r>
              <a:rPr lang="en-US" dirty="0"/>
              <a:t> с DOS </a:t>
            </a:r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endParaRPr lang="en-US" dirty="0"/>
          </a:p>
          <a:p>
            <a:pPr lvl="1"/>
            <a:r>
              <a:rPr lang="en-US" dirty="0"/>
              <a:t>Windows NT (1993) — </a:t>
            </a:r>
            <a:r>
              <a:rPr lang="en-US" dirty="0" err="1"/>
              <a:t>самостоятельная</a:t>
            </a:r>
            <a:r>
              <a:rPr lang="en-US" dirty="0"/>
              <a:t> 32-битная ОС </a:t>
            </a:r>
          </a:p>
          <a:p>
            <a:pPr lvl="1"/>
            <a:r>
              <a:rPr lang="en-US" dirty="0" err="1"/>
              <a:t>многозадачность</a:t>
            </a:r>
            <a:r>
              <a:rPr lang="en-US" dirty="0"/>
              <a:t>,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многопользовательская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архитектор</a:t>
            </a:r>
            <a:r>
              <a:rPr lang="en-US" dirty="0"/>
              <a:t> — </a:t>
            </a:r>
            <a:r>
              <a:rPr lang="en-US" dirty="0" err="1"/>
              <a:t>Дэвид</a:t>
            </a:r>
            <a:r>
              <a:rPr lang="en-US" dirty="0"/>
              <a:t> </a:t>
            </a:r>
            <a:r>
              <a:rPr lang="en-US" dirty="0" err="1"/>
              <a:t>Катлер</a:t>
            </a:r>
            <a:r>
              <a:rPr lang="en-US" dirty="0"/>
              <a:t>,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работавший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VMS </a:t>
            </a:r>
          </a:p>
          <a:p>
            <a:r>
              <a:rPr lang="en-US" dirty="0"/>
              <a:t>2001 — Windows XP</a:t>
            </a:r>
            <a:r>
              <a:rPr lang="ru-RU" dirty="0"/>
              <a:t>: п</a:t>
            </a:r>
            <a:r>
              <a:rPr lang="en-US" dirty="0" err="1"/>
              <a:t>отребительская</a:t>
            </a:r>
            <a:r>
              <a:rPr lang="ru-RU" dirty="0"/>
              <a:t> </a:t>
            </a:r>
            <a:r>
              <a:rPr lang="en-US" dirty="0"/>
              <a:t>Windows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Windows NT</a:t>
            </a:r>
          </a:p>
          <a:p>
            <a:r>
              <a:rPr lang="en-US" dirty="0"/>
              <a:t>→ Windows 7 → Windows 10 → Windows 11</a:t>
            </a:r>
          </a:p>
          <a:p>
            <a:r>
              <a:rPr lang="en-US" dirty="0" err="1"/>
              <a:t>Современная</a:t>
            </a:r>
            <a:r>
              <a:rPr lang="en-US" dirty="0"/>
              <a:t> Windows — </a:t>
            </a:r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семейства</a:t>
            </a:r>
            <a:r>
              <a:rPr lang="en-US" dirty="0"/>
              <a:t> Windows NT.</a:t>
            </a:r>
          </a:p>
        </p:txBody>
      </p:sp>
      <p:pic>
        <p:nvPicPr>
          <p:cNvPr id="8" name="Picture 7" descr="A computer screen with a green arrow pointing to a computer monitor&#10;&#10;AI-generated content may be incorrect.">
            <a:extLst>
              <a:ext uri="{FF2B5EF4-FFF2-40B4-BE49-F238E27FC236}">
                <a16:creationId xmlns:a16="http://schemas.microsoft.com/office/drawing/2014/main" id="{54DD69FD-3726-EC99-99F5-97672D502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774" y="1825625"/>
            <a:ext cx="4068234" cy="305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24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A103-AB6F-9A42-D74D-FD3F96FD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Unix-</a:t>
            </a:r>
            <a:r>
              <a:rPr lang="ru-RU" dirty="0"/>
              <a:t>подобные системы сегодня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E3A7-EEE6-9C2B-89B4-FB2F7808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7172177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И</a:t>
            </a:r>
            <a:r>
              <a:rPr lang="en-US" dirty="0" err="1"/>
              <a:t>деи</a:t>
            </a:r>
            <a:r>
              <a:rPr lang="en-US" dirty="0"/>
              <a:t> UNIX </a:t>
            </a:r>
            <a:r>
              <a:rPr lang="en-US" dirty="0" err="1"/>
              <a:t>пережили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ru-RU" dirty="0"/>
              <a:t>у</a:t>
            </a:r>
            <a:r>
              <a:rPr lang="en-US" dirty="0"/>
              <a:t> </a:t>
            </a:r>
            <a:r>
              <a:rPr lang="ru-RU" dirty="0"/>
              <a:t>ОС</a:t>
            </a:r>
            <a:r>
              <a:rPr lang="en-US" dirty="0"/>
              <a:t> и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повсюду</a:t>
            </a:r>
            <a:endParaRPr lang="en-US" dirty="0"/>
          </a:p>
          <a:p>
            <a:r>
              <a:rPr lang="en-US" dirty="0"/>
              <a:t>UNIX и UNIX-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endParaRPr lang="en-US" dirty="0"/>
          </a:p>
          <a:p>
            <a:pPr lvl="1"/>
            <a:r>
              <a:rPr lang="en-US" dirty="0"/>
              <a:t>Linux —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свободных</a:t>
            </a:r>
            <a:r>
              <a:rPr lang="en-US" dirty="0"/>
              <a:t> ОС </a:t>
            </a:r>
          </a:p>
          <a:p>
            <a:pPr lvl="1"/>
            <a:r>
              <a:rPr lang="en-US" dirty="0"/>
              <a:t>BSD — </a:t>
            </a:r>
            <a:r>
              <a:rPr lang="en-US" dirty="0" err="1"/>
              <a:t>семейство</a:t>
            </a:r>
            <a:r>
              <a:rPr lang="en-US" dirty="0"/>
              <a:t>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macOS — UNIX-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Darwin </a:t>
            </a:r>
          </a:p>
          <a:p>
            <a:pPr lvl="1"/>
            <a:r>
              <a:rPr lang="en-US" dirty="0"/>
              <a:t>Android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Linux 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Linux:</a:t>
            </a:r>
          </a:p>
          <a:p>
            <a:pPr lvl="1"/>
            <a:r>
              <a:rPr lang="en-US" dirty="0" err="1"/>
              <a:t>серверы</a:t>
            </a:r>
            <a:r>
              <a:rPr lang="en-US" dirty="0"/>
              <a:t> и </a:t>
            </a:r>
            <a:r>
              <a:rPr lang="en-US" dirty="0" err="1"/>
              <a:t>облачная</a:t>
            </a:r>
            <a:r>
              <a:rPr lang="en-US" dirty="0"/>
              <a:t> </a:t>
            </a:r>
            <a:r>
              <a:rPr lang="en-US" dirty="0" err="1"/>
              <a:t>инфраструктура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суперкомпьютеры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смартфоны</a:t>
            </a:r>
            <a:r>
              <a:rPr lang="en-US" dirty="0"/>
              <a:t> и </a:t>
            </a:r>
            <a:r>
              <a:rPr lang="en-US" dirty="0" err="1"/>
              <a:t>встраиваемые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станции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. </a:t>
            </a:r>
          </a:p>
          <a:p>
            <a:r>
              <a:rPr lang="en-US" dirty="0"/>
              <a:t>Linux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полноценные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среды</a:t>
            </a:r>
            <a:r>
              <a:rPr lang="en-US" dirty="0"/>
              <a:t> — GNOME, KDE Plasma и </a:t>
            </a:r>
            <a:r>
              <a:rPr lang="en-US" dirty="0" err="1"/>
              <a:t>другие</a:t>
            </a:r>
            <a:r>
              <a:rPr lang="en-US" dirty="0"/>
              <a:t>.</a:t>
            </a:r>
          </a:p>
          <a:p>
            <a:r>
              <a:rPr lang="en-US" dirty="0"/>
              <a:t>UNIX-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основ</a:t>
            </a:r>
            <a:r>
              <a:rPr lang="en-US" dirty="0"/>
              <a:t> </a:t>
            </a:r>
            <a:r>
              <a:rPr lang="en-US" dirty="0" err="1"/>
              <a:t>современной</a:t>
            </a:r>
            <a:r>
              <a:rPr lang="en-US" dirty="0"/>
              <a:t>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инфраструктуры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3D702-79AE-214A-04DD-3601A9D0E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376" y="1825626"/>
            <a:ext cx="3850318" cy="21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4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FA37-04CE-4297-65E0-C1AB3EF0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Сети и распределённые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1BBE-A867-8AC5-E287-7D1D29C9B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перестают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изолированно</a:t>
            </a:r>
            <a:endParaRPr lang="en-US" dirty="0"/>
          </a:p>
          <a:p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ru-RU" dirty="0"/>
              <a:t> (</a:t>
            </a:r>
            <a:r>
              <a:rPr lang="en-US" dirty="0"/>
              <a:t>UNIX + SSH/NFS, Windows Server, Novell NetWare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 err="1"/>
              <a:t>удалённый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дискам</a:t>
            </a:r>
            <a:r>
              <a:rPr lang="en-US" dirty="0"/>
              <a:t>, </a:t>
            </a:r>
            <a:r>
              <a:rPr lang="en-US" dirty="0" err="1"/>
              <a:t>принтерам</a:t>
            </a:r>
            <a:r>
              <a:rPr lang="en-US" dirty="0"/>
              <a:t> и </a:t>
            </a:r>
            <a:r>
              <a:rPr lang="en-US" dirty="0" err="1"/>
              <a:t>сервисам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понимает</a:t>
            </a:r>
            <a:r>
              <a:rPr lang="en-US" dirty="0"/>
              <a:t>, с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машиной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 </a:t>
            </a:r>
          </a:p>
          <a:p>
            <a:r>
              <a:rPr lang="en-US" dirty="0" err="1"/>
              <a:t>Распределённые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ru-RU" dirty="0"/>
              <a:t>: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компьютеров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и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единая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и </a:t>
            </a:r>
            <a:r>
              <a:rPr lang="en-US" dirty="0" err="1"/>
              <a:t>сбои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синхронизация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согласованность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. </a:t>
            </a:r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лежат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дата-центров</a:t>
            </a:r>
            <a:r>
              <a:rPr lang="en-US" dirty="0"/>
              <a:t> и </a:t>
            </a:r>
            <a:r>
              <a:rPr lang="en-US" dirty="0" err="1"/>
              <a:t>облачных</a:t>
            </a:r>
            <a:r>
              <a:rPr lang="en-US" dirty="0"/>
              <a:t> </a:t>
            </a:r>
            <a:r>
              <a:rPr lang="en-US" dirty="0" err="1"/>
              <a:t>сервисов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04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1991A5-CF2D-F051-66F7-EB83FA8C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Эра</a:t>
            </a:r>
            <a:r>
              <a:rPr lang="en-US" dirty="0"/>
              <a:t> </a:t>
            </a:r>
            <a:r>
              <a:rPr lang="en-US" dirty="0" err="1"/>
              <a:t>мобильны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ru-RU" dirty="0"/>
              <a:t>ОС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153BC0-0BC5-AEC4-7362-D48349D1A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1946 — </a:t>
            </a:r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коммерческие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мобильной</a:t>
            </a:r>
            <a:r>
              <a:rPr lang="en-US" dirty="0"/>
              <a:t> </a:t>
            </a:r>
            <a:r>
              <a:rPr lang="en-US" dirty="0" err="1"/>
              <a:t>телефонной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, </a:t>
            </a:r>
            <a:r>
              <a:rPr lang="en-US" dirty="0" err="1"/>
              <a:t>устанавливаемые</a:t>
            </a:r>
            <a:r>
              <a:rPr lang="en-US" dirty="0"/>
              <a:t> в </a:t>
            </a:r>
            <a:r>
              <a:rPr lang="en-US" dirty="0" err="1"/>
              <a:t>автомобилях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1973 —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прототип</a:t>
            </a:r>
            <a:r>
              <a:rPr lang="en-US" dirty="0"/>
              <a:t> </a:t>
            </a:r>
            <a:r>
              <a:rPr lang="en-US" dirty="0" err="1"/>
              <a:t>ручного</a:t>
            </a:r>
            <a:r>
              <a:rPr lang="en-US" dirty="0"/>
              <a:t> </a:t>
            </a:r>
            <a:r>
              <a:rPr lang="en-US" dirty="0" err="1"/>
              <a:t>сотового</a:t>
            </a:r>
            <a:r>
              <a:rPr lang="en-US" dirty="0"/>
              <a:t> </a:t>
            </a:r>
            <a:r>
              <a:rPr lang="en-US" dirty="0" err="1"/>
              <a:t>телефона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1980-е —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коммерческие</a:t>
            </a:r>
            <a:r>
              <a:rPr lang="en-US" dirty="0"/>
              <a:t> </a:t>
            </a:r>
            <a:r>
              <a:rPr lang="en-US" dirty="0" err="1"/>
              <a:t>переносные</a:t>
            </a:r>
            <a:r>
              <a:rPr lang="en-US" dirty="0"/>
              <a:t> </a:t>
            </a:r>
            <a:r>
              <a:rPr lang="en-US" dirty="0" err="1"/>
              <a:t>мобильные</a:t>
            </a:r>
            <a:r>
              <a:rPr lang="en-US" dirty="0"/>
              <a:t> </a:t>
            </a:r>
            <a:r>
              <a:rPr lang="en-US" dirty="0" err="1"/>
              <a:t>телефоны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1990-е — </a:t>
            </a:r>
            <a:r>
              <a:rPr lang="en-US" dirty="0" err="1"/>
              <a:t>телефон</a:t>
            </a:r>
            <a:r>
              <a:rPr lang="en-US" dirty="0"/>
              <a:t> </a:t>
            </a:r>
            <a:r>
              <a:rPr lang="en-US" dirty="0" err="1"/>
              <a:t>объединяется</a:t>
            </a:r>
            <a:r>
              <a:rPr lang="en-US" dirty="0"/>
              <a:t> с </a:t>
            </a:r>
            <a:r>
              <a:rPr lang="en-US" dirty="0" err="1"/>
              <a:t>функциями</a:t>
            </a:r>
            <a:r>
              <a:rPr lang="en-US" dirty="0"/>
              <a:t> PDA</a:t>
            </a:r>
            <a:r>
              <a:rPr lang="ru-RU" dirty="0"/>
              <a:t> (</a:t>
            </a:r>
            <a:r>
              <a:rPr lang="en-US" dirty="0"/>
              <a:t>Personal Digital Assistant): </a:t>
            </a:r>
          </a:p>
          <a:p>
            <a:pPr lvl="1"/>
            <a:r>
              <a:rPr lang="en-US" dirty="0" err="1"/>
              <a:t>календарь</a:t>
            </a:r>
            <a:r>
              <a:rPr lang="en-US" dirty="0"/>
              <a:t> и </a:t>
            </a:r>
            <a:r>
              <a:rPr lang="en-US" dirty="0" err="1"/>
              <a:t>контакты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электронная</a:t>
            </a:r>
            <a:r>
              <a:rPr lang="en-US" dirty="0"/>
              <a:t> </a:t>
            </a:r>
            <a:r>
              <a:rPr lang="en-US" dirty="0" err="1"/>
              <a:t>почта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приложения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доступ</a:t>
            </a:r>
            <a:r>
              <a:rPr lang="en-US" dirty="0"/>
              <a:t> в </a:t>
            </a:r>
            <a:r>
              <a:rPr lang="en-US" dirty="0" err="1"/>
              <a:t>сеть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IBM Simon (1994), Nokia 9000 Communicator (1996) — </a:t>
            </a:r>
            <a:r>
              <a:rPr lang="en-US" dirty="0" err="1"/>
              <a:t>ранние</a:t>
            </a:r>
            <a:r>
              <a:rPr lang="en-US" dirty="0"/>
              <a:t> </a:t>
            </a:r>
            <a:r>
              <a:rPr lang="en-US" dirty="0" err="1"/>
              <a:t>примеры</a:t>
            </a:r>
            <a:r>
              <a:rPr lang="en-US" dirty="0"/>
              <a:t> </a:t>
            </a:r>
            <a:r>
              <a:rPr lang="en-US" dirty="0" err="1"/>
              <a:t>смартфонов</a:t>
            </a:r>
            <a:r>
              <a:rPr lang="en-US" dirty="0"/>
              <a:t>. </a:t>
            </a:r>
          </a:p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к ОС:</a:t>
            </a:r>
            <a:r>
              <a:rPr lang="ru-RU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вычислениями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батареей</a:t>
            </a:r>
            <a:r>
              <a:rPr lang="en-US" dirty="0"/>
              <a:t>, </a:t>
            </a:r>
            <a:r>
              <a:rPr lang="en-US" dirty="0" err="1"/>
              <a:t>радиосвязью</a:t>
            </a:r>
            <a:r>
              <a:rPr lang="en-US" dirty="0"/>
              <a:t>, </a:t>
            </a:r>
            <a:r>
              <a:rPr lang="en-US" dirty="0" err="1"/>
              <a:t>сенсорами</a:t>
            </a:r>
            <a:r>
              <a:rPr lang="en-US" dirty="0"/>
              <a:t> и </a:t>
            </a:r>
            <a:r>
              <a:rPr lang="en-US" dirty="0" err="1"/>
              <a:t>мобильными</a:t>
            </a:r>
            <a:r>
              <a:rPr lang="en-US" dirty="0"/>
              <a:t> </a:t>
            </a:r>
            <a:r>
              <a:rPr lang="en-US" dirty="0" err="1"/>
              <a:t>приложениями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3695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174B-E149-D13D-DA14-A6B34DCB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мобильных ОС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4419A-43B4-88DC-161D-BD0BEF80B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7805419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Symbian</a:t>
            </a:r>
          </a:p>
          <a:p>
            <a:pPr lvl="1"/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ведущих</a:t>
            </a:r>
            <a:r>
              <a:rPr lang="en-US" dirty="0"/>
              <a:t> </a:t>
            </a:r>
            <a:r>
              <a:rPr lang="en-US" dirty="0" err="1"/>
              <a:t>мобильных</a:t>
            </a:r>
            <a:r>
              <a:rPr lang="en-US" dirty="0"/>
              <a:t> ОС </a:t>
            </a:r>
            <a:r>
              <a:rPr lang="en-US" dirty="0" err="1"/>
              <a:t>начала</a:t>
            </a:r>
            <a:r>
              <a:rPr lang="en-US" dirty="0"/>
              <a:t> 2000-х; </a:t>
            </a:r>
          </a:p>
          <a:p>
            <a:pPr lvl="1"/>
            <a:r>
              <a:rPr lang="en-US" dirty="0"/>
              <a:t>Nokia, Sony Ericsson, Samsung и </a:t>
            </a:r>
            <a:r>
              <a:rPr lang="en-US" dirty="0" err="1"/>
              <a:t>другие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многозадачность</a:t>
            </a:r>
            <a:r>
              <a:rPr lang="en-US" dirty="0"/>
              <a:t>,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сетью</a:t>
            </a:r>
            <a:r>
              <a:rPr lang="en-US" dirty="0"/>
              <a:t>. </a:t>
            </a:r>
          </a:p>
          <a:p>
            <a:r>
              <a:rPr lang="en-US" dirty="0"/>
              <a:t>BlackBerry OS</a:t>
            </a:r>
          </a:p>
          <a:p>
            <a:pPr lvl="1"/>
            <a:r>
              <a:rPr lang="en-US" dirty="0" err="1"/>
              <a:t>ориентация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корпоративных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мобильная</a:t>
            </a:r>
            <a:r>
              <a:rPr lang="en-US" dirty="0"/>
              <a:t> </a:t>
            </a:r>
            <a:r>
              <a:rPr lang="en-US" dirty="0" err="1"/>
              <a:t>почта</a:t>
            </a:r>
            <a:r>
              <a:rPr lang="en-US" dirty="0"/>
              <a:t>, </a:t>
            </a:r>
            <a:r>
              <a:rPr lang="en-US" dirty="0" err="1"/>
              <a:t>безопасность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 </a:t>
            </a:r>
          </a:p>
          <a:p>
            <a:r>
              <a:rPr lang="en-US" dirty="0"/>
              <a:t>2007 — iPhone</a:t>
            </a:r>
          </a:p>
          <a:p>
            <a:pPr lvl="1"/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рассчитанный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сенсорный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веб</a:t>
            </a:r>
            <a:r>
              <a:rPr lang="en-US" dirty="0"/>
              <a:t> и </a:t>
            </a:r>
            <a:r>
              <a:rPr lang="en-US" dirty="0" err="1"/>
              <a:t>мультимедиа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единая</a:t>
            </a:r>
            <a:r>
              <a:rPr lang="en-US" dirty="0"/>
              <a:t> </a:t>
            </a:r>
            <a:r>
              <a:rPr lang="en-US" dirty="0" err="1"/>
              <a:t>интеграция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 и ОС. </a:t>
            </a:r>
          </a:p>
          <a:p>
            <a:r>
              <a:rPr lang="en-US" dirty="0"/>
              <a:t>2008 — App Store</a:t>
            </a:r>
            <a:endParaRPr lang="ru-RU" dirty="0"/>
          </a:p>
          <a:p>
            <a:pPr lvl="1"/>
            <a:r>
              <a:rPr lang="ru-RU" dirty="0"/>
              <a:t>Теперь смартфон – </a:t>
            </a:r>
            <a:r>
              <a:rPr lang="en-US" dirty="0" err="1"/>
              <a:t>платформ</a:t>
            </a:r>
            <a:r>
              <a:rPr lang="ru-RU" dirty="0"/>
              <a:t>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сторонних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ОС:</a:t>
            </a:r>
            <a:r>
              <a:rPr lang="ru-RU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подключённом</a:t>
            </a:r>
            <a:r>
              <a:rPr lang="en-US" dirty="0"/>
              <a:t> </a:t>
            </a:r>
            <a:r>
              <a:rPr lang="en-US" dirty="0" err="1"/>
              <a:t>мобильном</a:t>
            </a:r>
            <a:r>
              <a:rPr lang="en-US" dirty="0"/>
              <a:t> </a:t>
            </a:r>
            <a:r>
              <a:rPr lang="en-US" dirty="0" err="1"/>
              <a:t>устройстве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BAC4E-FC38-1D59-CE53-43AE7E57A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618" y="1690688"/>
            <a:ext cx="291732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1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2083-7D4F-8928-F51E-3D7C461B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</a:t>
            </a:r>
            <a:r>
              <a:rPr lang="ru-RU" dirty="0"/>
              <a:t>и настоящее время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AF200-0201-49F7-F994-1AFC09AF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Android</a:t>
            </a:r>
          </a:p>
          <a:p>
            <a:pPr lvl="1"/>
            <a:r>
              <a:rPr lang="en-US" dirty="0" err="1"/>
              <a:t>платформа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Linux; </a:t>
            </a:r>
          </a:p>
          <a:p>
            <a:pPr lvl="1"/>
            <a:r>
              <a:rPr lang="en-US" dirty="0" err="1"/>
              <a:t>открытая</a:t>
            </a:r>
            <a:r>
              <a:rPr lang="en-US" dirty="0"/>
              <a:t> </a:t>
            </a:r>
            <a:r>
              <a:rPr lang="en-US" dirty="0" err="1"/>
              <a:t>базовая</a:t>
            </a:r>
            <a:r>
              <a:rPr lang="en-US" dirty="0"/>
              <a:t> </a:t>
            </a:r>
            <a:r>
              <a:rPr lang="en-US" dirty="0" err="1"/>
              <a:t>платформа</a:t>
            </a:r>
            <a:r>
              <a:rPr lang="en-US" dirty="0"/>
              <a:t> — AOSP</a:t>
            </a:r>
            <a:r>
              <a:rPr lang="ru-RU" dirty="0"/>
              <a:t> (</a:t>
            </a:r>
            <a:r>
              <a:rPr lang="en-US" dirty="0">
                <a:hlinkClick r:id="rId3"/>
              </a:rPr>
              <a:t>Android Open Source Project</a:t>
            </a:r>
            <a:r>
              <a:rPr lang="en-US" dirty="0"/>
              <a:t>); </a:t>
            </a:r>
          </a:p>
          <a:p>
            <a:pPr lvl="1"/>
            <a:r>
              <a:rPr lang="en-US" dirty="0" err="1"/>
              <a:t>адаптируется</a:t>
            </a:r>
            <a:r>
              <a:rPr lang="en-US" dirty="0"/>
              <a:t> </a:t>
            </a:r>
            <a:r>
              <a:rPr lang="en-US" dirty="0" err="1"/>
              <a:t>производителями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в </a:t>
            </a:r>
            <a:r>
              <a:rPr lang="en-US" dirty="0" err="1"/>
              <a:t>изолированной</a:t>
            </a:r>
            <a:r>
              <a:rPr lang="en-US" dirty="0"/>
              <a:t> </a:t>
            </a:r>
            <a:r>
              <a:rPr lang="en-US" dirty="0" err="1"/>
              <a:t>среде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языки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— Kotlin и Java. </a:t>
            </a:r>
          </a:p>
          <a:p>
            <a:r>
              <a:rPr lang="en-US" dirty="0"/>
              <a:t>iOS и Android </a:t>
            </a:r>
            <a:r>
              <a:rPr lang="en-US" dirty="0" err="1"/>
              <a:t>сформировали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крупные</a:t>
            </a:r>
            <a:r>
              <a:rPr lang="en-US" dirty="0"/>
              <a:t> </a:t>
            </a:r>
            <a:r>
              <a:rPr lang="en-US" dirty="0" err="1"/>
              <a:t>мобильные</a:t>
            </a:r>
            <a:r>
              <a:rPr lang="en-US" dirty="0"/>
              <a:t> </a:t>
            </a:r>
            <a:r>
              <a:rPr lang="en-US" dirty="0" err="1"/>
              <a:t>экосистемы</a:t>
            </a:r>
            <a:endParaRPr lang="en-US" dirty="0"/>
          </a:p>
          <a:p>
            <a:r>
              <a:rPr lang="en-US" dirty="0" err="1"/>
              <a:t>Современная</a:t>
            </a:r>
            <a:r>
              <a:rPr lang="en-US" dirty="0"/>
              <a:t> </a:t>
            </a:r>
            <a:r>
              <a:rPr lang="en-US" dirty="0" err="1"/>
              <a:t>мобильная</a:t>
            </a:r>
            <a:r>
              <a:rPr lang="en-US" dirty="0"/>
              <a:t>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приложениями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разрешениями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энергопотреблением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мобильной</a:t>
            </a:r>
            <a:r>
              <a:rPr lang="en-US" dirty="0"/>
              <a:t> и </a:t>
            </a:r>
            <a:r>
              <a:rPr lang="en-US" dirty="0" err="1"/>
              <a:t>беспроводной</a:t>
            </a:r>
            <a:r>
              <a:rPr lang="en-US" dirty="0"/>
              <a:t> </a:t>
            </a:r>
            <a:r>
              <a:rPr lang="en-US" dirty="0" err="1"/>
              <a:t>связью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камерой</a:t>
            </a:r>
            <a:r>
              <a:rPr lang="en-US" dirty="0"/>
              <a:t>, GPS и </a:t>
            </a:r>
            <a:r>
              <a:rPr lang="en-US" dirty="0" err="1"/>
              <a:t>множеством</a:t>
            </a:r>
            <a:r>
              <a:rPr lang="en-US" dirty="0"/>
              <a:t> </a:t>
            </a:r>
            <a:r>
              <a:rPr lang="en-US" dirty="0" err="1"/>
              <a:t>сенсоров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обновлениями</a:t>
            </a:r>
            <a:r>
              <a:rPr lang="en-US" dirty="0"/>
              <a:t> и </a:t>
            </a:r>
            <a:r>
              <a:rPr lang="en-US" dirty="0" err="1"/>
              <a:t>безопасностью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 </a:t>
            </a:r>
          </a:p>
          <a:p>
            <a:r>
              <a:rPr lang="en-US" dirty="0" err="1"/>
              <a:t>Смартфон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многозадачный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с </a:t>
            </a:r>
            <a:r>
              <a:rPr lang="en-US" dirty="0" err="1"/>
              <a:t>жёсткими</a:t>
            </a:r>
            <a:r>
              <a:rPr lang="en-US" dirty="0"/>
              <a:t> </a:t>
            </a:r>
            <a:r>
              <a:rPr lang="en-US" dirty="0" err="1"/>
              <a:t>ограничениями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энергии</a:t>
            </a:r>
            <a:r>
              <a:rPr lang="en-US" dirty="0"/>
              <a:t> и </a:t>
            </a:r>
            <a:r>
              <a:rPr lang="en-US" dirty="0" err="1"/>
              <a:t>ресурсам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5733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1DEF9B-A752-7808-B8C4-5ED10A28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аппаратуры компьютера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029DD-66C7-E7DC-8DF4-1777067B5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8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C0DFE-45B9-70F9-6A2F-3F26849F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Аппаратура</a:t>
            </a:r>
            <a:r>
              <a:rPr lang="en-US" dirty="0"/>
              <a:t> </a:t>
            </a:r>
            <a:r>
              <a:rPr lang="en-US" dirty="0" err="1"/>
              <a:t>глазами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7F060-9FAA-69F1-0314-C42BF02C6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ОС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ОС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базовой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CPU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endParaRPr lang="en-US" dirty="0"/>
          </a:p>
          <a:p>
            <a:r>
              <a:rPr lang="en-US" dirty="0"/>
              <a:t>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организована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устройствам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. </a:t>
            </a:r>
          </a:p>
          <a:p>
            <a:r>
              <a:rPr lang="en-US" dirty="0" err="1"/>
              <a:t>Задача</a:t>
            </a:r>
            <a:r>
              <a:rPr lang="en-US" dirty="0"/>
              <a:t> ОС — </a:t>
            </a:r>
            <a:r>
              <a:rPr lang="en-US" dirty="0" err="1"/>
              <a:t>превратить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железа</a:t>
            </a:r>
            <a:r>
              <a:rPr lang="en-US" dirty="0"/>
              <a:t> в </a:t>
            </a:r>
            <a:r>
              <a:rPr lang="en-US" dirty="0" err="1"/>
              <a:t>удобные</a:t>
            </a:r>
            <a:r>
              <a:rPr lang="en-US" dirty="0"/>
              <a:t> и </a:t>
            </a:r>
            <a:r>
              <a:rPr lang="en-US" dirty="0" err="1"/>
              <a:t>безопасные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770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A3D8-CFA7-20D0-E787-9FD436C2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Процессор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25C0-BE34-219E-0ED2-02CB3A0AD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CPU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  <a:p>
            <a:r>
              <a:rPr lang="en-US" dirty="0" err="1"/>
              <a:t>Цикл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выборка</a:t>
            </a:r>
            <a:r>
              <a:rPr lang="en-US" dirty="0"/>
              <a:t> → </a:t>
            </a:r>
            <a:r>
              <a:rPr lang="en-US" dirty="0" err="1"/>
              <a:t>декодирование</a:t>
            </a:r>
            <a:r>
              <a:rPr lang="en-US" dirty="0"/>
              <a:t> → </a:t>
            </a:r>
            <a:r>
              <a:rPr lang="en-US" dirty="0" err="1"/>
              <a:t>выполнение</a:t>
            </a:r>
            <a:endParaRPr lang="en-US" dirty="0"/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: x86-64, ARM, RISC-V; </a:t>
            </a:r>
          </a:p>
          <a:p>
            <a:pPr lvl="1"/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защиты</a:t>
            </a:r>
            <a:r>
              <a:rPr lang="en-US" dirty="0"/>
              <a:t>. 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PC / IP —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SP — </a:t>
            </a:r>
            <a:r>
              <a:rPr lang="en-US" dirty="0" err="1"/>
              <a:t>вершина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переключении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ОС </a:t>
            </a:r>
            <a:r>
              <a:rPr lang="en-US" dirty="0" err="1"/>
              <a:t>сохраняет</a:t>
            </a:r>
            <a:r>
              <a:rPr lang="en-US" dirty="0"/>
              <a:t> и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</p:txBody>
      </p:sp>
      <p:pic>
        <p:nvPicPr>
          <p:cNvPr id="5" name="Picture 4" descr="A close-up of a cpu&#10;&#10;AI-generated content may be incorrect.">
            <a:extLst>
              <a:ext uri="{FF2B5EF4-FFF2-40B4-BE49-F238E27FC236}">
                <a16:creationId xmlns:a16="http://schemas.microsoft.com/office/drawing/2014/main" id="{0CA27CD6-B9C9-D391-D602-4717EC2E2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974" y="1825625"/>
            <a:ext cx="3714750" cy="206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31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917D-702B-44D6-BE09-E8E49D74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и </a:t>
            </a:r>
            <a:r>
              <a:rPr lang="en-US" dirty="0" err="1"/>
              <a:t>микроархитектура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F95B-7227-5A0D-4D1D-3F7721F6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Архитектура</a:t>
            </a:r>
            <a:r>
              <a:rPr lang="en-US" dirty="0"/>
              <a:t> (ISA) —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программное</a:t>
            </a:r>
            <a:r>
              <a:rPr lang="en-US" dirty="0"/>
              <a:t> </a:t>
            </a:r>
            <a:r>
              <a:rPr lang="en-US" dirty="0" err="1"/>
              <a:t>обеспечение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инструкции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регистры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режимы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</a:p>
          <a:p>
            <a:r>
              <a:rPr lang="en-US" dirty="0" err="1"/>
              <a:t>Микроархитектура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реализован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конвейер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кэши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предсказание</a:t>
            </a:r>
            <a:r>
              <a:rPr lang="en-US" dirty="0"/>
              <a:t> </a:t>
            </a:r>
            <a:r>
              <a:rPr lang="en-US" dirty="0" err="1"/>
              <a:t>переходов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внеочередное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исполнительные</a:t>
            </a:r>
            <a:r>
              <a:rPr lang="en-US" dirty="0"/>
              <a:t> </a:t>
            </a:r>
            <a:r>
              <a:rPr lang="en-US" dirty="0" err="1"/>
              <a:t>блоки</a:t>
            </a:r>
            <a:r>
              <a:rPr lang="en-US" dirty="0"/>
              <a:t>. </a:t>
            </a:r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микроархитектур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0994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514B-65D7-0689-6EEE-C6AB9235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ядра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3282D-CE5D-6B8C-BD85-29EDAF32B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9658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аппаратно</a:t>
            </a:r>
            <a:r>
              <a:rPr lang="en-US" dirty="0"/>
              <a:t> </a:t>
            </a:r>
            <a:r>
              <a:rPr lang="en-US" dirty="0" err="1"/>
              <a:t>разделяет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привилегий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User Mode </a:t>
            </a:r>
            <a:r>
              <a:rPr lang="ru-RU" dirty="0"/>
              <a:t>работают о</a:t>
            </a:r>
            <a:r>
              <a:rPr lang="en-US" dirty="0" err="1"/>
              <a:t>бычные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ограниченный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большинством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привилегированные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 </a:t>
            </a:r>
          </a:p>
          <a:p>
            <a:r>
              <a:rPr lang="ru-RU" dirty="0"/>
              <a:t>В </a:t>
            </a:r>
            <a:r>
              <a:rPr lang="en-US" dirty="0"/>
              <a:t>Kernel Mode</a:t>
            </a:r>
            <a:r>
              <a:rPr lang="ru-RU" dirty="0"/>
              <a:t> работает ядро ОС</a:t>
            </a:r>
            <a:endParaRPr lang="en-US" dirty="0"/>
          </a:p>
          <a:p>
            <a:pPr lvl="1"/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устройствами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и </a:t>
            </a:r>
            <a:r>
              <a:rPr lang="en-US" dirty="0" err="1"/>
              <a:t>исключения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привилегированные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</a:p>
          <a:p>
            <a:r>
              <a:rPr lang="en-US" dirty="0"/>
              <a:t>System call: </a:t>
            </a:r>
            <a:r>
              <a:rPr lang="en-US" dirty="0" err="1"/>
              <a:t>контролируемый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endParaRPr lang="ru-RU" dirty="0"/>
          </a:p>
          <a:p>
            <a:pPr lvl="1"/>
            <a:r>
              <a:rPr lang="en-US" dirty="0"/>
              <a:t>User mode → Kernel mode → User mode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C124B-9497-3736-4A71-5ADEC8EDB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784" y="1825625"/>
            <a:ext cx="24476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37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29BC-F008-2A47-7577-F3193368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быстрого</a:t>
            </a:r>
            <a:r>
              <a:rPr lang="en-US" dirty="0"/>
              <a:t> CPU к </a:t>
            </a:r>
            <a:r>
              <a:rPr lang="en-US" dirty="0" err="1"/>
              <a:t>параллельным</a:t>
            </a:r>
            <a:r>
              <a:rPr lang="en-US" dirty="0"/>
              <a:t>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4A03-AB71-228C-D97C-80203D8D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Рост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обеспечивать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увеличением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.</a:t>
            </a:r>
          </a:p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:</a:t>
            </a:r>
          </a:p>
          <a:p>
            <a:r>
              <a:rPr lang="en-US" dirty="0" err="1"/>
              <a:t>Многоядерность</a:t>
            </a:r>
            <a:endParaRPr lang="en-US" dirty="0"/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настоящее</a:t>
            </a:r>
            <a:r>
              <a:rPr lang="en-US" dirty="0"/>
              <a:t> </a:t>
            </a:r>
            <a:r>
              <a:rPr lang="en-US" dirty="0" err="1"/>
              <a:t>параллельное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 </a:t>
            </a:r>
          </a:p>
          <a:p>
            <a:r>
              <a:rPr lang="en-US" dirty="0"/>
              <a:t>SMT / Hyper-Threading</a:t>
            </a:r>
          </a:p>
          <a:p>
            <a:pPr lvl="1"/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исполнительные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 </a:t>
            </a:r>
          </a:p>
          <a:p>
            <a:r>
              <a:rPr lang="en-US" dirty="0"/>
              <a:t>GPU</a:t>
            </a:r>
          </a:p>
          <a:p>
            <a:pPr lvl="1"/>
            <a:r>
              <a:rPr lang="en-US" dirty="0" err="1"/>
              <a:t>огромное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массовый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r>
              <a:rPr lang="en-US" dirty="0"/>
              <a:t>. </a:t>
            </a:r>
          </a:p>
          <a:p>
            <a:r>
              <a:rPr lang="en-US" dirty="0" err="1"/>
              <a:t>Для</a:t>
            </a:r>
            <a:r>
              <a:rPr lang="en-US" dirty="0"/>
              <a:t> ОС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: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25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BF0C-0BAE-8D8F-BC67-F0837648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3D2C5-02ED-7E28-C6EB-8EE6DDD58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3918" y="1825625"/>
            <a:ext cx="87241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88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E1DD-EA5A-4420-6CE2-90BB27EE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Кэширование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70A7-1885-43BA-D58D-171A857F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Кэш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недавно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используемых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endParaRPr lang="en-US" dirty="0"/>
          </a:p>
          <a:p>
            <a:pPr lvl="1"/>
            <a:r>
              <a:rPr lang="en-US" b="1" dirty="0"/>
              <a:t>Cache hit</a:t>
            </a:r>
            <a:r>
              <a:rPr lang="en-US" dirty="0"/>
              <a:t> —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в </a:t>
            </a:r>
            <a:r>
              <a:rPr lang="en-US" dirty="0" err="1"/>
              <a:t>кэше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Cache miss</a:t>
            </a:r>
            <a:r>
              <a:rPr lang="en-US" dirty="0"/>
              <a:t> —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медленному</a:t>
            </a:r>
            <a:r>
              <a:rPr lang="en-US" dirty="0"/>
              <a:t> </a:t>
            </a:r>
            <a:r>
              <a:rPr lang="en-US" dirty="0" err="1"/>
              <a:t>уровню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</a:p>
          <a:p>
            <a:r>
              <a:rPr lang="en-US" dirty="0" err="1"/>
              <a:t>Обычно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L1 — </a:t>
            </a:r>
            <a:r>
              <a:rPr lang="en-US" dirty="0" err="1"/>
              <a:t>маленький</a:t>
            </a:r>
            <a:r>
              <a:rPr lang="en-US" dirty="0"/>
              <a:t> и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L2 — </a:t>
            </a:r>
            <a:r>
              <a:rPr lang="en-US" dirty="0" err="1"/>
              <a:t>больше</a:t>
            </a:r>
            <a:r>
              <a:rPr lang="en-US" dirty="0"/>
              <a:t> и </a:t>
            </a:r>
            <a:r>
              <a:rPr lang="en-US" dirty="0" err="1"/>
              <a:t>медленнее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L3 —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 </a:t>
            </a:r>
          </a:p>
          <a:p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и ОС: </a:t>
            </a:r>
            <a:r>
              <a:rPr lang="en-US" dirty="0" err="1"/>
              <a:t>кэш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, </a:t>
            </a:r>
            <a:r>
              <a:rPr lang="en-US" dirty="0" err="1"/>
              <a:t>дисковых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, </a:t>
            </a:r>
            <a:r>
              <a:rPr lang="en-US" dirty="0" err="1"/>
              <a:t>сетевых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т. д.</a:t>
            </a:r>
          </a:p>
        </p:txBody>
      </p:sp>
    </p:spTree>
    <p:extLst>
      <p:ext uri="{BB962C8B-B14F-4D97-AF65-F5344CB8AC3E}">
        <p14:creationId xmlns:p14="http://schemas.microsoft.com/office/powerpoint/2010/main" val="69419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A567-EB1A-49E3-89E9-304FA9E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MMU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C106-270E-F55E-2A0E-C3827C872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dirty="0" err="1"/>
              <a:t>виртуальным</a:t>
            </a:r>
            <a:r>
              <a:rPr lang="en-US" dirty="0"/>
              <a:t> </a:t>
            </a:r>
            <a:r>
              <a:rPr lang="en-US" dirty="0" err="1"/>
              <a:t>адресным</a:t>
            </a:r>
            <a:r>
              <a:rPr lang="en-US" dirty="0"/>
              <a:t> </a:t>
            </a:r>
            <a:r>
              <a:rPr lang="en-US" dirty="0" err="1"/>
              <a:t>пространством</a:t>
            </a:r>
            <a:endParaRPr lang="en-US" dirty="0"/>
          </a:p>
          <a:p>
            <a:r>
              <a:rPr lang="en-US" dirty="0"/>
              <a:t>ОС:</a:t>
            </a:r>
          </a:p>
          <a:p>
            <a:pPr lvl="1"/>
            <a:r>
              <a:rPr lang="en-US" dirty="0" err="1"/>
              <a:t>создаёт</a:t>
            </a:r>
            <a:r>
              <a:rPr lang="en-US" dirty="0"/>
              <a:t> и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RAM. </a:t>
            </a:r>
          </a:p>
          <a:p>
            <a:r>
              <a:rPr lang="en-US" dirty="0"/>
              <a:t>MMU:</a:t>
            </a:r>
          </a:p>
          <a:p>
            <a:pPr lvl="1"/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в </a:t>
            </a:r>
            <a:r>
              <a:rPr lang="en-US" dirty="0" err="1"/>
              <a:t>физические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. 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в </a:t>
            </a:r>
            <a:r>
              <a:rPr lang="ru-RU" dirty="0"/>
              <a:t>ОЗУ, происходит</a:t>
            </a:r>
            <a:r>
              <a:rPr lang="en-US" dirty="0"/>
              <a:t> page fault </a:t>
            </a:r>
            <a:r>
              <a:rPr lang="ru-RU" dirty="0"/>
              <a:t>и </a:t>
            </a:r>
            <a:r>
              <a:rPr lang="en-US" dirty="0"/>
              <a:t>ОС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404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59B3-EE09-1387-F5BD-D4317A41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Постоянное</a:t>
            </a:r>
            <a:r>
              <a:rPr lang="en-US" dirty="0"/>
              <a:t> </a:t>
            </a:r>
            <a:r>
              <a:rPr lang="en-US" dirty="0" err="1"/>
              <a:t>хранение</a:t>
            </a:r>
            <a:r>
              <a:rPr lang="en-US" dirty="0"/>
              <a:t>: HDD и SSD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42C5DC-E82D-96A0-A287-843C4CEB0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534847"/>
              </p:ext>
            </p:extLst>
          </p:nvPr>
        </p:nvGraphicFramePr>
        <p:xfrm>
          <a:off x="838199" y="1825625"/>
          <a:ext cx="6094615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405">
                  <a:extLst>
                    <a:ext uri="{9D8B030D-6E8A-4147-A177-3AD203B41FA5}">
                      <a16:colId xmlns:a16="http://schemas.microsoft.com/office/drawing/2014/main" val="2233171112"/>
                    </a:ext>
                  </a:extLst>
                </a:gridCol>
                <a:gridCol w="3142210">
                  <a:extLst>
                    <a:ext uri="{9D8B030D-6E8A-4147-A177-3AD203B41FA5}">
                      <a16:colId xmlns:a16="http://schemas.microsoft.com/office/drawing/2014/main" val="1232260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35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Магнитные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вращающиеся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пластины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Flash-</a:t>
                      </a:r>
                      <a:r>
                        <a:rPr lang="en-US" dirty="0" err="1"/>
                        <a:t>память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301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Механическое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перемещение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головки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движущихся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частей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20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Высокая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задержка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случайного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доступа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Низкая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задержка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12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Дёшево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большой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объём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Дороже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байт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3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Хорош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больших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объёмов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Хорош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частых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случайных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обращений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776383"/>
                  </a:ext>
                </a:extLst>
              </a:tr>
            </a:tbl>
          </a:graphicData>
        </a:graphic>
      </p:graphicFrame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72A3C5B1-F29D-A143-9AE1-4F50BBA31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25625"/>
            <a:ext cx="4221480" cy="2724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D0B36-370C-4120-7203-46A0E0814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320" y="4684679"/>
            <a:ext cx="2881294" cy="191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49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E5BC-1224-A8A5-8624-5B733755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драйверов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005D-2976-27A8-B811-FB615779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ОС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endParaRPr lang="en-US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ru-RU" dirty="0"/>
              <a:t> взаимодействует с контроллером устройства через драйвер</a:t>
            </a:r>
          </a:p>
          <a:p>
            <a:r>
              <a:rPr lang="en-US" dirty="0" err="1"/>
              <a:t>Драйвер</a:t>
            </a:r>
            <a:endParaRPr lang="en-US" dirty="0"/>
          </a:p>
          <a:p>
            <a:pPr lvl="1"/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контроллера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ОС в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 </a:t>
            </a:r>
          </a:p>
          <a:p>
            <a:r>
              <a:rPr lang="en-US" dirty="0" err="1"/>
              <a:t>Примеры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: SSD,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, USB-клавиатура, GPU</a:t>
            </a:r>
          </a:p>
        </p:txBody>
      </p:sp>
    </p:spTree>
    <p:extLst>
      <p:ext uri="{BB962C8B-B14F-4D97-AF65-F5344CB8AC3E}">
        <p14:creationId xmlns:p14="http://schemas.microsoft.com/office/powerpoint/2010/main" val="404208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D9D1-F4D2-4CA1-FA12-A121B2C7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CPU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устройствами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C0FF8-ECBD-4BE1-5781-3E8329BA6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Опрос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polling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CPU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закончило</a:t>
            </a:r>
            <a:r>
              <a:rPr lang="en-US" dirty="0"/>
              <a:t>?»</a:t>
            </a:r>
          </a:p>
          <a:p>
            <a:pPr lvl="1"/>
            <a:r>
              <a:rPr lang="en-US" dirty="0" err="1"/>
              <a:t>Просто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тратит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interrupts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CPU: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завершена</a:t>
            </a:r>
            <a:r>
              <a:rPr lang="en-US" dirty="0"/>
              <a:t>»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/>
              <a:t>DMA </a:t>
            </a:r>
            <a:r>
              <a:rPr lang="ru-RU" dirty="0"/>
              <a:t>(</a:t>
            </a:r>
            <a:r>
              <a:rPr lang="en-US" dirty="0"/>
              <a:t>Direct Memory Access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блок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контроллером</a:t>
            </a:r>
            <a:r>
              <a:rPr lang="en-US" dirty="0"/>
              <a:t> и RAM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ru-RU" dirty="0"/>
              <a:t>происходит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736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587D-0297-0F2D-79E2-3ED3DD70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B2CA-6020-1276-9C0D-9B26B5706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endParaRPr lang="en-US" dirty="0"/>
          </a:p>
          <a:p>
            <a:pPr lvl="1"/>
            <a:r>
              <a:rPr lang="en-US" dirty="0"/>
              <a:t>DDR4 / DDR5 — CPU ↔ RAM </a:t>
            </a:r>
          </a:p>
          <a:p>
            <a:pPr lvl="1"/>
            <a:r>
              <a:rPr lang="en-US" dirty="0"/>
              <a:t>PCI Express — GPU, </a:t>
            </a:r>
            <a:r>
              <a:rPr lang="en-US" dirty="0" err="1"/>
              <a:t>NVMe</a:t>
            </a:r>
            <a:r>
              <a:rPr lang="en-US" dirty="0"/>
              <a:t> SSD,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адаптеры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SATA — </a:t>
            </a:r>
            <a:r>
              <a:rPr lang="en-US" dirty="0" err="1"/>
              <a:t>накопители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USB —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</a:p>
          <a:p>
            <a:r>
              <a:rPr lang="en-US" dirty="0"/>
              <a:t>PCIe:</a:t>
            </a:r>
            <a:r>
              <a:rPr lang="ru-RU" dirty="0"/>
              <a:t> </a:t>
            </a:r>
            <a:r>
              <a:rPr lang="en-US" dirty="0" err="1"/>
              <a:t>последовательные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point-to-point</a:t>
            </a:r>
            <a:endParaRPr lang="ru-RU" dirty="0"/>
          </a:p>
          <a:p>
            <a:pPr lvl="1"/>
            <a:r>
              <a:rPr lang="en-US" dirty="0"/>
              <a:t>x1 · x4 · x8 · x16</a:t>
            </a:r>
          </a:p>
          <a:p>
            <a:r>
              <a:rPr lang="en-US" dirty="0"/>
              <a:t>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ru-RU" dirty="0"/>
              <a:t>вместо </a:t>
            </a:r>
            <a:r>
              <a:rPr lang="en-US" dirty="0" err="1"/>
              <a:t>общей</a:t>
            </a:r>
            <a:r>
              <a:rPr lang="en-US" dirty="0"/>
              <a:t> «</a:t>
            </a:r>
            <a:r>
              <a:rPr lang="en-US" dirty="0" err="1"/>
              <a:t>шины</a:t>
            </a:r>
            <a:r>
              <a:rPr lang="en-US" dirty="0"/>
              <a:t>»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309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E0AD9D-9D77-0AFB-A982-E53CB09C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компьютера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ABD4E-2336-90AE-96BA-C9562FE95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56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6A79DC-E845-54EB-B4FF-A651F3BC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F0A8BD-6ACF-D2AF-C370-F715B970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включения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ОС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endParaRPr lang="en-US" dirty="0"/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этапы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Старт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: CPU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определённой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— </a:t>
            </a:r>
            <a:r>
              <a:rPr lang="en-US" i="1" dirty="0"/>
              <a:t>reset vector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r>
              <a:rPr lang="en-US" dirty="0"/>
              <a:t>: BIOS </a:t>
            </a:r>
            <a:r>
              <a:rPr lang="en-US" dirty="0" err="1"/>
              <a:t>или</a:t>
            </a:r>
            <a:r>
              <a:rPr lang="en-US" dirty="0"/>
              <a:t> UEFI </a:t>
            </a:r>
            <a:r>
              <a:rPr lang="en-US" dirty="0" err="1"/>
              <a:t>инициализирует</a:t>
            </a:r>
            <a:r>
              <a:rPr lang="en-US" dirty="0"/>
              <a:t> </a:t>
            </a:r>
            <a:r>
              <a:rPr lang="en-US" dirty="0" err="1"/>
              <a:t>базовое</a:t>
            </a:r>
            <a:r>
              <a:rPr lang="en-US" dirty="0"/>
              <a:t> </a:t>
            </a:r>
            <a:r>
              <a:rPr lang="en-US" dirty="0" err="1"/>
              <a:t>оборудование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загрузочного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: SSD/HDD, USB, </a:t>
            </a:r>
            <a:r>
              <a:rPr lang="en-US" dirty="0" err="1"/>
              <a:t>сеть</a:t>
            </a:r>
            <a:r>
              <a:rPr lang="en-US" dirty="0"/>
              <a:t> и </a:t>
            </a:r>
            <a:r>
              <a:rPr lang="en-US" dirty="0" err="1"/>
              <a:t>др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загрузчика</a:t>
            </a:r>
            <a:r>
              <a:rPr lang="en-US" dirty="0"/>
              <a:t> ОС: </a:t>
            </a:r>
            <a:r>
              <a:rPr lang="ru-RU" dirty="0"/>
              <a:t>з</a:t>
            </a:r>
            <a:r>
              <a:rPr lang="en-US" dirty="0" err="1"/>
              <a:t>агрузчик</a:t>
            </a:r>
            <a:r>
              <a:rPr lang="en-US" dirty="0"/>
              <a:t> </a:t>
            </a:r>
            <a:r>
              <a:rPr lang="en-US" dirty="0" err="1"/>
              <a:t>находит</a:t>
            </a:r>
            <a:r>
              <a:rPr lang="en-US" dirty="0"/>
              <a:t> и </a:t>
            </a:r>
            <a:r>
              <a:rPr lang="en-US" dirty="0" err="1"/>
              <a:t>помещает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: ОС </a:t>
            </a:r>
            <a:r>
              <a:rPr lang="en-US" dirty="0" err="1"/>
              <a:t>инициализирует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подсистемы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ru-RU" dirty="0"/>
              <a:t>ОС</a:t>
            </a:r>
            <a:endParaRPr lang="en-US" dirty="0"/>
          </a:p>
          <a:p>
            <a:pPr lvl="2"/>
            <a:r>
              <a:rPr lang="en-US" dirty="0" err="1"/>
              <a:t>Cистемные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 → </a:t>
            </a:r>
            <a:r>
              <a:rPr lang="en-US" dirty="0" err="1"/>
              <a:t>вход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→ CLI </a:t>
            </a:r>
            <a:r>
              <a:rPr lang="en-US" dirty="0" err="1"/>
              <a:t>или</a:t>
            </a:r>
            <a:r>
              <a:rPr lang="en-US" dirty="0"/>
              <a:t> GUI. </a:t>
            </a:r>
          </a:p>
          <a:p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: CPU → Firmware → Bootloader → Kernel → User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3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28C2-D884-FBAB-1B17-619FD780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 и UEFI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BEB830-D081-29DA-2E85-9C9E61A92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059141"/>
              </p:ext>
            </p:extLst>
          </p:nvPr>
        </p:nvGraphicFramePr>
        <p:xfrm>
          <a:off x="838200" y="1825625"/>
          <a:ext cx="762415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078">
                  <a:extLst>
                    <a:ext uri="{9D8B030D-6E8A-4147-A177-3AD203B41FA5}">
                      <a16:colId xmlns:a16="http://schemas.microsoft.com/office/drawing/2014/main" val="3512454651"/>
                    </a:ext>
                  </a:extLst>
                </a:gridCol>
                <a:gridCol w="3812078">
                  <a:extLst>
                    <a:ext uri="{9D8B030D-6E8A-4147-A177-3AD203B41FA5}">
                      <a16:colId xmlns:a16="http://schemas.microsoft.com/office/drawing/2014/main" val="4082737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BIOS (Basic Input/Output 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UEFI (Unified Extensible Firmware Interface)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4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Исторический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интерфейс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прошивки</a:t>
                      </a:r>
                      <a:r>
                        <a:rPr lang="en-US" sz="2000" dirty="0"/>
                        <a:t> ПК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Современный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стандарт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прошивки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Обычно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используется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совместно</a:t>
                      </a:r>
                      <a:r>
                        <a:rPr lang="en-US" sz="2000" dirty="0"/>
                        <a:t> с </a:t>
                      </a:r>
                      <a:r>
                        <a:rPr lang="en-US" sz="2000" b="0" dirty="0"/>
                        <a:t>MBR (Master Boot Record)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Обычно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используется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совместно</a:t>
                      </a:r>
                      <a:r>
                        <a:rPr lang="en-US" sz="2000" dirty="0"/>
                        <a:t> с </a:t>
                      </a:r>
                      <a:r>
                        <a:rPr lang="en-US" sz="2000" b="0" dirty="0"/>
                        <a:t>GPT (GUID Partition Table)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38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Загружает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код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из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загрузочного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сектора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Запускает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загрузчик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как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файл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23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Минимальные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возможности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загрузочной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среды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Файловые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системы</a:t>
                      </a:r>
                      <a:r>
                        <a:rPr lang="en-US" sz="2000" dirty="0"/>
                        <a:t>, Boot Manager, NVRAM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592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Наследие</a:t>
                      </a:r>
                      <a:r>
                        <a:rPr lang="en-US" sz="2000" dirty="0"/>
                        <a:t> IBM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Современные</a:t>
                      </a:r>
                      <a:r>
                        <a:rPr lang="en-US" sz="2000" dirty="0"/>
                        <a:t> ПК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115136"/>
                  </a:ext>
                </a:extLst>
              </a:tr>
            </a:tbl>
          </a:graphicData>
        </a:graphic>
      </p:graphicFrame>
      <p:pic>
        <p:nvPicPr>
          <p:cNvPr id="10" name="Picture 9" descr="A computer screen shot of a password&#10;&#10;AI-generated content may be incorrect.">
            <a:extLst>
              <a:ext uri="{FF2B5EF4-FFF2-40B4-BE49-F238E27FC236}">
                <a16:creationId xmlns:a16="http://schemas.microsoft.com/office/drawing/2014/main" id="{1EDD1AD6-6652-254E-A4FD-F469DD729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789" y="1825625"/>
            <a:ext cx="3373659" cy="25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508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147E-3F69-D3C9-2C3A-AEE8600E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загрузчика</a:t>
            </a:r>
            <a:r>
              <a:rPr lang="en-US" dirty="0"/>
              <a:t> к </a:t>
            </a:r>
            <a:r>
              <a:rPr lang="en-US" dirty="0" err="1"/>
              <a:t>работающей</a:t>
            </a:r>
            <a:r>
              <a:rPr lang="en-US" dirty="0"/>
              <a:t> 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9531-8F6E-0208-0211-6C559922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Загрузчик</a:t>
            </a:r>
            <a:endParaRPr lang="en-US" dirty="0"/>
          </a:p>
          <a:p>
            <a:pPr lvl="1"/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в RAM; 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</a:t>
            </a:r>
          </a:p>
          <a:p>
            <a:pPr marL="457200" lvl="1" indent="0">
              <a:buNone/>
            </a:pPr>
            <a:r>
              <a:rPr lang="en-US" dirty="0" err="1"/>
              <a:t>Примеры</a:t>
            </a:r>
            <a:r>
              <a:rPr lang="en-US" dirty="0"/>
              <a:t>: GRUB</a:t>
            </a:r>
            <a:r>
              <a:rPr lang="ru-RU" dirty="0"/>
              <a:t> (</a:t>
            </a:r>
            <a:r>
              <a:rPr lang="en-US" dirty="0"/>
              <a:t>Grand Unified Boot Loader), Windows Boot Manager</a:t>
            </a:r>
          </a:p>
          <a:p>
            <a:r>
              <a:rPr lang="en-US" dirty="0" err="1"/>
              <a:t>Ядро</a:t>
            </a:r>
            <a:r>
              <a:rPr lang="en-US" dirty="0"/>
              <a:t> ОС</a:t>
            </a:r>
          </a:p>
          <a:p>
            <a:pPr lvl="1"/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инициализирует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и </a:t>
            </a:r>
            <a:r>
              <a:rPr lang="en-US" dirty="0" err="1"/>
              <a:t>таймеры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обнаруживает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драйверы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подключает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</a:p>
          <a:p>
            <a:r>
              <a:rPr lang="en-US" dirty="0" err="1"/>
              <a:t>Пользовательское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endParaRPr lang="en-US" dirty="0"/>
          </a:p>
          <a:p>
            <a:pPr lvl="1"/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 → </a:t>
            </a:r>
            <a:r>
              <a:rPr lang="en-US" dirty="0" err="1"/>
              <a:t>вход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→ </a:t>
            </a:r>
            <a:r>
              <a:rPr lang="en-US" dirty="0" err="1"/>
              <a:t>оболочка</a:t>
            </a:r>
            <a:r>
              <a:rPr lang="en-US" dirty="0"/>
              <a:t> / GUI</a:t>
            </a:r>
          </a:p>
          <a:p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завершена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готова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933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31A8EE-C2C9-B3F0-5C7B-F917FE68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00FBA3-D6DA-159B-C3A7-7A1D86E6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ОС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виртуальную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файлы</a:t>
            </a:r>
            <a:r>
              <a:rPr lang="en-US" dirty="0"/>
              <a:t>, </a:t>
            </a:r>
            <a:r>
              <a:rPr lang="en-US" dirty="0" err="1"/>
              <a:t>устройства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ОС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процессорн</a:t>
            </a:r>
            <a:r>
              <a:rPr lang="ru-RU" dirty="0" err="1"/>
              <a:t>ое</a:t>
            </a:r>
            <a:r>
              <a:rPr lang="en-US" dirty="0"/>
              <a:t> </a:t>
            </a:r>
            <a:r>
              <a:rPr lang="en-US" dirty="0" err="1"/>
              <a:t>врем</a:t>
            </a:r>
            <a:r>
              <a:rPr lang="ru-RU" dirty="0"/>
              <a:t>я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накопител</a:t>
            </a:r>
            <a:r>
              <a:rPr lang="ru-RU" dirty="0"/>
              <a:t>и, </a:t>
            </a:r>
            <a:r>
              <a:rPr lang="en-US" dirty="0" err="1"/>
              <a:t>ввод-вывод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обеспечивается</a:t>
            </a:r>
            <a:r>
              <a:rPr lang="en-US" dirty="0"/>
              <a:t> </a:t>
            </a:r>
            <a:r>
              <a:rPr lang="en-US" dirty="0" err="1"/>
              <a:t>разделением</a:t>
            </a:r>
            <a:r>
              <a:rPr lang="en-US" dirty="0"/>
              <a:t> </a:t>
            </a:r>
            <a:r>
              <a:rPr lang="en-US" dirty="0" err="1"/>
              <a:t>режимов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ядра</a:t>
            </a:r>
            <a:r>
              <a:rPr lang="en-US" dirty="0"/>
              <a:t> и </a:t>
            </a:r>
            <a:r>
              <a:rPr lang="en-US" dirty="0" err="1"/>
              <a:t>контролируемым</a:t>
            </a:r>
            <a:r>
              <a:rPr lang="en-US" dirty="0"/>
              <a:t> </a:t>
            </a:r>
            <a:r>
              <a:rPr lang="en-US" dirty="0" err="1"/>
              <a:t>доступом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Устройство</a:t>
            </a:r>
            <a:r>
              <a:rPr lang="en-US" dirty="0"/>
              <a:t> ОС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архитектурой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CPU,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контроллер</a:t>
            </a:r>
            <a:r>
              <a:rPr lang="ru-RU" dirty="0"/>
              <a:t>ы</a:t>
            </a:r>
            <a:r>
              <a:rPr lang="en-US" dirty="0"/>
              <a:t>, </a:t>
            </a:r>
            <a:r>
              <a:rPr lang="en-US" dirty="0" err="1"/>
              <a:t>прерывания</a:t>
            </a:r>
            <a:r>
              <a:rPr lang="en-US" dirty="0"/>
              <a:t> и DMA. </a:t>
            </a:r>
          </a:p>
          <a:p>
            <a:pPr lvl="0"/>
            <a:r>
              <a:rPr lang="en-US" dirty="0" err="1"/>
              <a:t>Современные</a:t>
            </a:r>
            <a:r>
              <a:rPr lang="en-US" dirty="0"/>
              <a:t> ОС </a:t>
            </a:r>
            <a:r>
              <a:rPr lang="en-US" dirty="0" err="1"/>
              <a:t>появились</a:t>
            </a:r>
            <a:r>
              <a:rPr lang="en-US" dirty="0"/>
              <a:t> 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эволюции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</a:t>
            </a:r>
            <a:r>
              <a:rPr lang="en-US" dirty="0" err="1"/>
              <a:t>акетная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→ </a:t>
            </a:r>
            <a:r>
              <a:rPr lang="en-US" dirty="0" err="1"/>
              <a:t>мультипрограммирование</a:t>
            </a:r>
            <a:r>
              <a:rPr lang="en-US" dirty="0"/>
              <a:t> → </a:t>
            </a:r>
            <a:r>
              <a:rPr lang="en-US" dirty="0" err="1"/>
              <a:t>таймшеринг</a:t>
            </a:r>
            <a:r>
              <a:rPr lang="en-US" dirty="0"/>
              <a:t> → </a:t>
            </a:r>
            <a:r>
              <a:rPr lang="en-US" dirty="0" err="1"/>
              <a:t>персональные</a:t>
            </a:r>
            <a:r>
              <a:rPr lang="en-US" dirty="0"/>
              <a:t> и </a:t>
            </a:r>
            <a:r>
              <a:rPr lang="en-US" dirty="0" err="1"/>
              <a:t>сетевые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</a:p>
          <a:p>
            <a:pPr lvl="0"/>
            <a:r>
              <a:rPr lang="ru-RU" dirty="0"/>
              <a:t>Этапы загрузки компьютера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pPr lvl="1"/>
            <a:r>
              <a:rPr lang="en-US" dirty="0"/>
              <a:t>Firmware → Bootloader → Kernel →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 →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превращает</a:t>
            </a:r>
            <a:r>
              <a:rPr lang="en-US" dirty="0"/>
              <a:t> </a:t>
            </a:r>
            <a:r>
              <a:rPr lang="en-US" dirty="0" err="1"/>
              <a:t>сложное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обеспечение</a:t>
            </a:r>
            <a:r>
              <a:rPr lang="en-US" dirty="0"/>
              <a:t> в </a:t>
            </a:r>
            <a:r>
              <a:rPr lang="en-US" dirty="0" err="1"/>
              <a:t>безопасную</a:t>
            </a:r>
            <a:r>
              <a:rPr lang="en-US" dirty="0"/>
              <a:t> и </a:t>
            </a:r>
            <a:r>
              <a:rPr lang="en-US" dirty="0" err="1"/>
              <a:t>удобную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5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7CB7-77DD-F1E8-ACDF-46C46E36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8191-10EF-1B55-681E-ABEFC1ED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Tanenbaum, H. Bos “Modern Operating Systems 5</a:t>
            </a:r>
            <a:r>
              <a:rPr lang="en-US" baseline="30000" dirty="0"/>
              <a:t>th</a:t>
            </a:r>
            <a:r>
              <a:rPr lang="en-US" dirty="0"/>
              <a:t> edition”, 2023</a:t>
            </a:r>
          </a:p>
        </p:txBody>
      </p:sp>
    </p:spTree>
    <p:extLst>
      <p:ext uri="{BB962C8B-B14F-4D97-AF65-F5344CB8AC3E}">
        <p14:creationId xmlns:p14="http://schemas.microsoft.com/office/powerpoint/2010/main" val="33565519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46CC5-1289-744F-F37B-740A9E37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40EBC-BFF4-FEEA-825B-3B27BCC3C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6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2350</TotalTime>
  <Words>9987</Words>
  <Application>Microsoft Office PowerPoint</Application>
  <PresentationFormat>Widescreen</PresentationFormat>
  <Paragraphs>1012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Aptos Display</vt:lpstr>
      <vt:lpstr>Arial</vt:lpstr>
      <vt:lpstr>Office Theme</vt:lpstr>
      <vt:lpstr>Операционные системы и сети</vt:lpstr>
      <vt:lpstr>О чём курс «Операционные системы и сети»</vt:lpstr>
      <vt:lpstr>ОС нужна не каждому компьютеру</vt:lpstr>
      <vt:lpstr>Зачем нужна операционная система</vt:lpstr>
      <vt:lpstr>Режим ядра и режим пользователя</vt:lpstr>
      <vt:lpstr>Как ОС скрывает сложность аппаратуры?</vt:lpstr>
      <vt:lpstr>ОС как менеджер ресурсов</vt:lpstr>
      <vt:lpstr>Управление памятью</vt:lpstr>
      <vt:lpstr>История операционных систем</vt:lpstr>
      <vt:lpstr>Аналитическая машина Бэббиджа</vt:lpstr>
      <vt:lpstr>Первое поколение компьютеров</vt:lpstr>
      <vt:lpstr>Второе поколение: транзисторы и мейнфреймы (1955-1965)</vt:lpstr>
      <vt:lpstr>Пакетная обработка</vt:lpstr>
      <vt:lpstr>Третье поколение: ОС берёт управление на себя</vt:lpstr>
      <vt:lpstr>От пакетной обработки к интерактивной работе</vt:lpstr>
      <vt:lpstr>UNIX, POSIX, Linux</vt:lpstr>
      <vt:lpstr>4 поколение. Рождение персональных компьютеров</vt:lpstr>
      <vt:lpstr>Графический интерфейс и Apple</vt:lpstr>
      <vt:lpstr>Microsoft Windows</vt:lpstr>
      <vt:lpstr>Unix-подобные системы сегодня</vt:lpstr>
      <vt:lpstr>Сети и распределённые системы</vt:lpstr>
      <vt:lpstr>Эра мобильных ОС</vt:lpstr>
      <vt:lpstr>Эволюция мобильных ОС</vt:lpstr>
      <vt:lpstr>Android и настоящее время</vt:lpstr>
      <vt:lpstr>Обзор аппаратуры компьютера</vt:lpstr>
      <vt:lpstr>Аппаратура глазами операционной системы</vt:lpstr>
      <vt:lpstr>Процессор: что важно операционной системе</vt:lpstr>
      <vt:lpstr>Архитектура и микроархитектура</vt:lpstr>
      <vt:lpstr>Режим пользователя и режим ядра</vt:lpstr>
      <vt:lpstr>От быстрого CPU к параллельным CPU</vt:lpstr>
      <vt:lpstr>Иерархия памяти</vt:lpstr>
      <vt:lpstr>Кэширование</vt:lpstr>
      <vt:lpstr>Виртуальная память и MMU</vt:lpstr>
      <vt:lpstr>Постоянное хранение: HDD и SSD</vt:lpstr>
      <vt:lpstr>Роль драйверов</vt:lpstr>
      <vt:lpstr>Как CPU взаимодействует с устройствами</vt:lpstr>
      <vt:lpstr>Как компоненты компьютера связаны между собой</vt:lpstr>
      <vt:lpstr>Загрузка компьютера</vt:lpstr>
      <vt:lpstr>Как запускается компьютер</vt:lpstr>
      <vt:lpstr>BIOS и UEFI</vt:lpstr>
      <vt:lpstr>От загрузчика к работающей ОС</vt:lpstr>
      <vt:lpstr>Итоги</vt:lpstr>
      <vt:lpstr>Список литературы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179</cp:revision>
  <dcterms:created xsi:type="dcterms:W3CDTF">2025-09-01T19:26:08Z</dcterms:created>
  <dcterms:modified xsi:type="dcterms:W3CDTF">2026-09-04T18:36:42Z</dcterms:modified>
</cp:coreProperties>
</file>