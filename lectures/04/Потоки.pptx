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95" r:id="rId2"/>
    <p:sldId id="296" r:id="rId3"/>
    <p:sldId id="383" r:id="rId4"/>
    <p:sldId id="384" r:id="rId5"/>
    <p:sldId id="301" r:id="rId6"/>
    <p:sldId id="385" r:id="rId7"/>
    <p:sldId id="386" r:id="rId8"/>
    <p:sldId id="387" r:id="rId9"/>
    <p:sldId id="388" r:id="rId10"/>
    <p:sldId id="378" r:id="rId11"/>
    <p:sldId id="379" r:id="rId12"/>
    <p:sldId id="380" r:id="rId13"/>
    <p:sldId id="381" r:id="rId14"/>
    <p:sldId id="382" r:id="rId15"/>
    <p:sldId id="322" r:id="rId16"/>
    <p:sldId id="389" r:id="rId17"/>
    <p:sldId id="390" r:id="rId18"/>
    <p:sldId id="391" r:id="rId19"/>
    <p:sldId id="392" r:id="rId20"/>
    <p:sldId id="329" r:id="rId21"/>
    <p:sldId id="330" r:id="rId22"/>
    <p:sldId id="394" r:id="rId23"/>
    <p:sldId id="395" r:id="rId24"/>
    <p:sldId id="396" r:id="rId25"/>
    <p:sldId id="334" r:id="rId26"/>
    <p:sldId id="335" r:id="rId27"/>
    <p:sldId id="397" r:id="rId28"/>
    <p:sldId id="398" r:id="rId29"/>
    <p:sldId id="399" r:id="rId30"/>
    <p:sldId id="339" r:id="rId31"/>
    <p:sldId id="400" r:id="rId32"/>
    <p:sldId id="401" r:id="rId33"/>
    <p:sldId id="402" r:id="rId34"/>
    <p:sldId id="403" r:id="rId35"/>
    <p:sldId id="369" r:id="rId36"/>
    <p:sldId id="404" r:id="rId37"/>
    <p:sldId id="405" r:id="rId38"/>
    <p:sldId id="406" r:id="rId39"/>
    <p:sldId id="407" r:id="rId40"/>
    <p:sldId id="376" r:id="rId41"/>
    <p:sldId id="377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02" autoAdjust="0"/>
    <p:restoredTop sz="71550" autoAdjust="0"/>
  </p:normalViewPr>
  <p:slideViewPr>
    <p:cSldViewPr snapToGrid="0" showGuides="1">
      <p:cViewPr varScale="1">
        <p:scale>
          <a:sx n="75" d="100"/>
          <a:sy n="75" d="100"/>
        </p:scale>
        <p:origin x="17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D8CABC-4D06-4A5B-9773-EE99B82DA016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A1CFC0-EF44-4B8C-92CE-F1AB7C6750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610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16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Начнём</a:t>
            </a:r>
            <a:r>
              <a:rPr lang="en-US" dirty="0"/>
              <a:t> с </a:t>
            </a:r>
            <a:r>
              <a:rPr lang="en-US" dirty="0" err="1"/>
              <a:t>определения</a:t>
            </a:r>
            <a:r>
              <a:rPr lang="en-US" dirty="0"/>
              <a:t>. </a:t>
            </a:r>
            <a:r>
              <a:rPr lang="en-US" b="1" dirty="0" err="1"/>
              <a:t>Поток</a:t>
            </a:r>
            <a:r>
              <a:rPr lang="en-US" b="1" dirty="0"/>
              <a:t>, </a:t>
            </a:r>
            <a:r>
              <a:rPr lang="en-US" b="1" dirty="0" err="1"/>
              <a:t>или</a:t>
            </a:r>
            <a:r>
              <a:rPr lang="en-US" b="1" dirty="0"/>
              <a:t> thread, —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последовательность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b="1" dirty="0"/>
              <a:t> </a:t>
            </a:r>
            <a:r>
              <a:rPr lang="en-US" b="1" dirty="0" err="1"/>
              <a:t>команд</a:t>
            </a:r>
            <a:r>
              <a:rPr lang="en-US" b="1" dirty="0"/>
              <a:t> </a:t>
            </a:r>
            <a:r>
              <a:rPr lang="en-US" b="1" dirty="0" err="1"/>
              <a:t>внутри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b="1" dirty="0"/>
              <a:t>.</a:t>
            </a:r>
            <a:endParaRPr lang="ru-RU" b="1" dirty="0"/>
          </a:p>
          <a:p>
            <a:endParaRPr lang="en-US" dirty="0"/>
          </a:p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, </a:t>
            </a:r>
            <a:r>
              <a:rPr lang="en-US" dirty="0" err="1"/>
              <a:t>говоря</a:t>
            </a:r>
            <a:r>
              <a:rPr lang="en-US" dirty="0"/>
              <a:t> о </a:t>
            </a:r>
            <a:r>
              <a:rPr lang="en-US" dirty="0" err="1"/>
              <a:t>процессе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предполагали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следующую</a:t>
            </a:r>
            <a:r>
              <a:rPr lang="en-US" dirty="0"/>
              <a:t> и </a:t>
            </a:r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далее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последовательностей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. </a:t>
            </a:r>
            <a:r>
              <a:rPr lang="en-US" dirty="0" err="1"/>
              <a:t>Каждая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называется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обрабатывать</a:t>
            </a:r>
            <a:r>
              <a:rPr lang="en-US" dirty="0"/>
              <a:t> </a:t>
            </a:r>
            <a:r>
              <a:rPr lang="en-US" dirty="0" err="1"/>
              <a:t>действия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, а </a:t>
            </a:r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b="1" dirty="0" err="1"/>
              <a:t>одному</a:t>
            </a:r>
            <a:r>
              <a:rPr lang="en-US" b="1" dirty="0"/>
              <a:t> </a:t>
            </a:r>
            <a:r>
              <a:rPr lang="en-US" b="1" dirty="0" err="1"/>
              <a:t>процессу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,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у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, а </a:t>
            </a:r>
            <a:r>
              <a:rPr lang="en-US" dirty="0" err="1"/>
              <a:t>что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собственным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Зачем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?</a:t>
            </a:r>
          </a:p>
          <a:p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b="1" dirty="0" err="1"/>
              <a:t>конкурентности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с </a:t>
            </a:r>
            <a:r>
              <a:rPr lang="en-US" dirty="0" err="1"/>
              <a:t>диска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полезную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обязана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</a:t>
            </a:r>
            <a:r>
              <a:rPr lang="en-US" dirty="0" err="1"/>
              <a:t>останавливаться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активности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пользователя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в </a:t>
            </a:r>
            <a:r>
              <a:rPr lang="en-US" dirty="0" err="1"/>
              <a:t>фоне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 </a:t>
            </a:r>
            <a:r>
              <a:rPr lang="en-US" dirty="0" err="1"/>
              <a:t>длительная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многоядерном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b="1" dirty="0" err="1"/>
              <a:t>параллельно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разных</a:t>
            </a:r>
            <a:r>
              <a:rPr lang="en-US" b="1" dirty="0"/>
              <a:t> </a:t>
            </a:r>
            <a:r>
              <a:rPr lang="en-US" b="1" dirty="0" err="1"/>
              <a:t>ядрах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 </a:t>
            </a:r>
            <a:r>
              <a:rPr lang="en-US" b="1" dirty="0" err="1"/>
              <a:t>Процесс</a:t>
            </a:r>
            <a:r>
              <a:rPr lang="en-US" b="1" dirty="0"/>
              <a:t> </a:t>
            </a:r>
            <a:r>
              <a:rPr lang="en-US" b="1" dirty="0" err="1"/>
              <a:t>предоставляет</a:t>
            </a:r>
            <a:r>
              <a:rPr lang="en-US" b="1" dirty="0"/>
              <a:t> </a:t>
            </a:r>
            <a:r>
              <a:rPr lang="en-US" b="1" dirty="0" err="1"/>
              <a:t>ресурсы</a:t>
            </a:r>
            <a:r>
              <a:rPr lang="en-US" b="1" dirty="0"/>
              <a:t> и </a:t>
            </a:r>
            <a:r>
              <a:rPr lang="en-US" b="1" dirty="0" err="1"/>
              <a:t>среду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b="1" dirty="0"/>
              <a:t>, а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конкретную</a:t>
            </a:r>
            <a:r>
              <a:rPr lang="en-US" b="1" dirty="0"/>
              <a:t> </a:t>
            </a:r>
            <a:r>
              <a:rPr lang="en-US" b="1" dirty="0" err="1"/>
              <a:t>последовательность</a:t>
            </a:r>
            <a:r>
              <a:rPr lang="en-US" b="1" dirty="0"/>
              <a:t> </a:t>
            </a:r>
            <a:r>
              <a:rPr lang="en-US" b="1" dirty="0" err="1"/>
              <a:t>выполнения</a:t>
            </a:r>
            <a:r>
              <a:rPr lang="en-US" b="1" dirty="0"/>
              <a:t> </a:t>
            </a:r>
            <a:r>
              <a:rPr lang="en-US" b="1" dirty="0" err="1"/>
              <a:t>внутри</a:t>
            </a:r>
            <a:r>
              <a:rPr lang="en-US" b="1" dirty="0"/>
              <a:t> </a:t>
            </a:r>
            <a:r>
              <a:rPr lang="en-US" b="1" dirty="0" err="1"/>
              <a:t>этой</a:t>
            </a:r>
            <a:r>
              <a:rPr lang="en-US" b="1" dirty="0"/>
              <a:t> </a:t>
            </a:r>
            <a:r>
              <a:rPr lang="en-US" b="1" dirty="0" err="1"/>
              <a:t>среды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подробнее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15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предыдущем</a:t>
            </a:r>
            <a:r>
              <a:rPr lang="en-US" dirty="0"/>
              <a:t> </a:t>
            </a:r>
            <a:r>
              <a:rPr lang="en-US" dirty="0" err="1"/>
              <a:t>слайде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определили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устройства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являются</a:t>
            </a:r>
            <a:r>
              <a:rPr lang="en-US" dirty="0"/>
              <a:t> </a:t>
            </a:r>
            <a:r>
              <a:rPr lang="en-US" dirty="0" err="1"/>
              <a:t>полностью</a:t>
            </a:r>
            <a:r>
              <a:rPr lang="en-US" dirty="0"/>
              <a:t> </a:t>
            </a:r>
            <a:r>
              <a:rPr lang="en-US" dirty="0" err="1"/>
              <a:t>независимыми</a:t>
            </a:r>
            <a:r>
              <a:rPr lang="en-US" dirty="0"/>
              <a:t> </a:t>
            </a:r>
            <a:r>
              <a:rPr lang="en-US" dirty="0" err="1"/>
              <a:t>сущностями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 и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b="1" dirty="0" err="1"/>
              <a:t>разделяют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ресурсы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Прежде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,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виртуальное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. Это </a:t>
            </a:r>
            <a:r>
              <a:rPr lang="en-US" dirty="0" err="1"/>
              <a:t>значит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видят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и </a:t>
            </a:r>
            <a:r>
              <a:rPr lang="en-US" dirty="0" err="1"/>
              <a:t>объекты</a:t>
            </a:r>
            <a:r>
              <a:rPr lang="en-US" dirty="0"/>
              <a:t> в </a:t>
            </a:r>
            <a:r>
              <a:rPr lang="en-US" dirty="0" err="1"/>
              <a:t>куче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изменил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общей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обратиться</a:t>
            </a:r>
            <a:r>
              <a:rPr lang="en-US" dirty="0"/>
              <a:t> к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объекту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общие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собственная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—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, —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регистров</a:t>
            </a:r>
            <a:r>
              <a:rPr lang="en-US" dirty="0"/>
              <a:t> и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находиться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, а </a:t>
            </a:r>
            <a:r>
              <a:rPr lang="en-US" dirty="0" err="1"/>
              <a:t>другой</a:t>
            </a:r>
            <a:r>
              <a:rPr lang="en-US" dirty="0"/>
              <a:t> в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разное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готов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,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 в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удобное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</a:t>
            </a:r>
            <a:r>
              <a:rPr lang="en-US" dirty="0" err="1"/>
              <a:t>ролей</a:t>
            </a:r>
            <a:r>
              <a:rPr lang="en-US" dirty="0"/>
              <a:t>: </a:t>
            </a:r>
            <a:r>
              <a:rPr lang="en-US" b="1" dirty="0" err="1"/>
              <a:t>процесс</a:t>
            </a:r>
            <a:r>
              <a:rPr lang="en-US" b="1" dirty="0"/>
              <a:t> </a:t>
            </a:r>
            <a:r>
              <a:rPr lang="en-US" b="1" dirty="0" err="1"/>
              <a:t>объединяет</a:t>
            </a:r>
            <a:r>
              <a:rPr lang="en-US" b="1" dirty="0"/>
              <a:t> </a:t>
            </a:r>
            <a:r>
              <a:rPr lang="en-US" b="1" dirty="0" err="1"/>
              <a:t>ресурсы</a:t>
            </a:r>
            <a:r>
              <a:rPr lang="en-US" b="1" dirty="0"/>
              <a:t> </a:t>
            </a:r>
            <a:r>
              <a:rPr lang="en-US" b="1" dirty="0" err="1"/>
              <a:t>программы</a:t>
            </a:r>
            <a:r>
              <a:rPr lang="en-US" b="1" dirty="0"/>
              <a:t>, а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представляет</a:t>
            </a:r>
            <a:r>
              <a:rPr lang="en-US" b="1" dirty="0"/>
              <a:t> </a:t>
            </a:r>
            <a:r>
              <a:rPr lang="en-US" b="1" dirty="0" err="1"/>
              <a:t>конкретное</a:t>
            </a:r>
            <a:r>
              <a:rPr lang="en-US" b="1" dirty="0"/>
              <a:t> </a:t>
            </a:r>
            <a:r>
              <a:rPr lang="en-US" b="1" dirty="0" err="1"/>
              <a:t>выполнение</a:t>
            </a:r>
            <a:r>
              <a:rPr lang="en-US" b="1" dirty="0"/>
              <a:t> </a:t>
            </a:r>
            <a:r>
              <a:rPr lang="en-US" b="1" dirty="0" err="1"/>
              <a:t>внутри</a:t>
            </a:r>
            <a:r>
              <a:rPr lang="en-US" b="1" dirty="0"/>
              <a:t> </a:t>
            </a:r>
            <a:r>
              <a:rPr lang="en-US" b="1" dirty="0" err="1"/>
              <a:t>этого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тесно</a:t>
            </a:r>
            <a:r>
              <a:rPr lang="en-US" dirty="0"/>
              <a:t> </a:t>
            </a:r>
            <a:r>
              <a:rPr lang="en-US" dirty="0" err="1"/>
              <a:t>связанных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: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легко</a:t>
            </a:r>
            <a:r>
              <a:rPr lang="en-US" dirty="0"/>
              <a:t> </a:t>
            </a:r>
            <a:r>
              <a:rPr lang="en-US" dirty="0" err="1"/>
              <a:t>обмениваться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создаст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новую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— </a:t>
            </a:r>
            <a:r>
              <a:rPr lang="en-US" dirty="0" err="1"/>
              <a:t>необходимость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доступа</a:t>
            </a:r>
            <a:r>
              <a:rPr lang="en-US" dirty="0"/>
              <a:t> к </a:t>
            </a:r>
            <a:r>
              <a:rPr lang="en-US" dirty="0" err="1"/>
              <a:t>данным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2142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типичных</a:t>
            </a:r>
            <a:r>
              <a:rPr lang="en-US" dirty="0"/>
              <a:t> </a:t>
            </a:r>
            <a:r>
              <a:rPr lang="en-US" dirty="0" err="1"/>
              <a:t>сценария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подробного</a:t>
            </a:r>
            <a:r>
              <a:rPr lang="en-US" dirty="0"/>
              <a:t> </a:t>
            </a:r>
            <a:r>
              <a:rPr lang="en-US" dirty="0" err="1"/>
              <a:t>разбора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интерактивные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текстовый</a:t>
            </a:r>
            <a:r>
              <a:rPr lang="en-US" dirty="0"/>
              <a:t> </a:t>
            </a:r>
            <a:r>
              <a:rPr lang="en-US" dirty="0" err="1"/>
              <a:t>редактор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постоянно</a:t>
            </a:r>
            <a:r>
              <a:rPr lang="en-US" dirty="0"/>
              <a:t> </a:t>
            </a:r>
            <a:r>
              <a:rPr lang="en-US" dirty="0" err="1"/>
              <a:t>реагировать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клавиатуру</a:t>
            </a:r>
            <a:r>
              <a:rPr lang="en-US" dirty="0"/>
              <a:t> и </a:t>
            </a:r>
            <a:r>
              <a:rPr lang="en-US" dirty="0" err="1"/>
              <a:t>мышь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автосохранение</a:t>
            </a:r>
            <a:r>
              <a:rPr lang="en-US" dirty="0"/>
              <a:t>, </a:t>
            </a:r>
            <a:r>
              <a:rPr lang="en-US" dirty="0" err="1"/>
              <a:t>проверку</a:t>
            </a:r>
            <a:r>
              <a:rPr lang="en-US" dirty="0"/>
              <a:t> </a:t>
            </a:r>
            <a:r>
              <a:rPr lang="en-US" dirty="0" err="1"/>
              <a:t>орфографии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фоновую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, </a:t>
            </a:r>
            <a:r>
              <a:rPr lang="en-US" dirty="0" err="1"/>
              <a:t>длительная</a:t>
            </a:r>
            <a:r>
              <a:rPr lang="en-US" dirty="0"/>
              <a:t> </a:t>
            </a:r>
            <a:r>
              <a:rPr lang="en-US" dirty="0" err="1"/>
              <a:t>операция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интерфейс</a:t>
            </a:r>
            <a:r>
              <a:rPr lang="en-US" dirty="0"/>
              <a:t> </a:t>
            </a:r>
            <a:r>
              <a:rPr lang="en-US" dirty="0" err="1"/>
              <a:t>неотзывчивым</a:t>
            </a:r>
            <a:r>
              <a:rPr lang="en-US" dirty="0"/>
              <a:t>.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активности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сервер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принимать</a:t>
            </a:r>
            <a:r>
              <a:rPr lang="en-US" dirty="0"/>
              <a:t> </a:t>
            </a:r>
            <a:r>
              <a:rPr lang="en-US" dirty="0" err="1"/>
              <a:t>новые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, а </a:t>
            </a:r>
            <a:r>
              <a:rPr lang="en-US" dirty="0" err="1"/>
              <a:t>рабочие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—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принятые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заблокировался</a:t>
            </a:r>
            <a:r>
              <a:rPr lang="en-US" dirty="0"/>
              <a:t> в </a:t>
            </a:r>
            <a:r>
              <a:rPr lang="en-US" dirty="0" err="1"/>
              <a:t>ожидании</a:t>
            </a:r>
            <a:r>
              <a:rPr lang="en-US" dirty="0"/>
              <a:t> </a:t>
            </a:r>
            <a:r>
              <a:rPr lang="en-US" dirty="0" err="1"/>
              <a:t>диска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увидим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всегда</a:t>
            </a:r>
            <a:r>
              <a:rPr lang="en-US" dirty="0"/>
              <a:t> </a:t>
            </a:r>
            <a:r>
              <a:rPr lang="en-US" dirty="0" err="1"/>
              <a:t>лучший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и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событийные</a:t>
            </a:r>
            <a:r>
              <a:rPr lang="en-US" dirty="0"/>
              <a:t> </a:t>
            </a:r>
            <a:r>
              <a:rPr lang="en-US" dirty="0" err="1"/>
              <a:t>серверы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пользу</a:t>
            </a:r>
            <a:r>
              <a:rPr lang="en-US" dirty="0"/>
              <a:t> </a:t>
            </a:r>
            <a:r>
              <a:rPr lang="en-US" dirty="0" err="1"/>
              <a:t>конкурентного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обработку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конвейер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читает</a:t>
            </a:r>
            <a:r>
              <a:rPr lang="en-US" dirty="0"/>
              <a:t> </a:t>
            </a:r>
            <a:r>
              <a:rPr lang="en-US" dirty="0" err="1"/>
              <a:t>очередную</a:t>
            </a:r>
            <a:r>
              <a:rPr lang="en-US" dirty="0"/>
              <a:t> </a:t>
            </a:r>
            <a:r>
              <a:rPr lang="en-US" dirty="0" err="1"/>
              <a:t>порцию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в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предыдущую</a:t>
            </a:r>
            <a:r>
              <a:rPr lang="en-US" dirty="0"/>
              <a:t>,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записывает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ранний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.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перекрываются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 и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случаях</a:t>
            </a:r>
            <a:r>
              <a:rPr lang="en-US" dirty="0"/>
              <a:t> </a:t>
            </a:r>
            <a:r>
              <a:rPr lang="en-US" dirty="0" err="1"/>
              <a:t>причина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немного</a:t>
            </a:r>
            <a:r>
              <a:rPr lang="en-US" dirty="0"/>
              <a:t> </a:t>
            </a:r>
            <a:r>
              <a:rPr lang="en-US" dirty="0" err="1"/>
              <a:t>разная</a:t>
            </a:r>
            <a:r>
              <a:rPr lang="en-US" dirty="0"/>
              <a:t>: </a:t>
            </a:r>
            <a:r>
              <a:rPr lang="en-US" b="1" dirty="0" err="1"/>
              <a:t>отзывчивость</a:t>
            </a:r>
            <a:r>
              <a:rPr lang="en-US" b="1" dirty="0"/>
              <a:t>, </a:t>
            </a:r>
            <a:r>
              <a:rPr lang="en-US" b="1" dirty="0" err="1"/>
              <a:t>обслуживание</a:t>
            </a:r>
            <a:r>
              <a:rPr lang="en-US" b="1" dirty="0"/>
              <a:t> </a:t>
            </a:r>
            <a:r>
              <a:rPr lang="en-US" b="1" dirty="0" err="1"/>
              <a:t>нескольких</a:t>
            </a:r>
            <a:r>
              <a:rPr lang="en-US" b="1" dirty="0"/>
              <a:t> </a:t>
            </a:r>
            <a:r>
              <a:rPr lang="en-US" b="1" dirty="0" err="1"/>
              <a:t>независимых</a:t>
            </a:r>
            <a:r>
              <a:rPr lang="en-US" b="1" dirty="0"/>
              <a:t> </a:t>
            </a:r>
            <a:r>
              <a:rPr lang="en-US" b="1" dirty="0" err="1"/>
              <a:t>задач</a:t>
            </a:r>
            <a:r>
              <a:rPr lang="en-US" b="1" dirty="0"/>
              <a:t> и </a:t>
            </a:r>
            <a:r>
              <a:rPr lang="en-US" b="1" dirty="0" err="1"/>
              <a:t>перекрытие</a:t>
            </a:r>
            <a:r>
              <a:rPr lang="en-US" b="1" dirty="0"/>
              <a:t> </a:t>
            </a:r>
            <a:r>
              <a:rPr lang="en-US" b="1" dirty="0" err="1"/>
              <a:t>различных</a:t>
            </a:r>
            <a:r>
              <a:rPr lang="en-US" b="1" dirty="0"/>
              <a:t> </a:t>
            </a:r>
            <a:r>
              <a:rPr lang="en-US" b="1" dirty="0" err="1"/>
              <a:t>видов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—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74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971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</a:t>
            </a:r>
            <a:r>
              <a:rPr lang="en-US" dirty="0"/>
              <a:t>ы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разделяют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ресурсы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собственные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 и </a:t>
            </a:r>
            <a:r>
              <a:rPr lang="en-US" dirty="0" err="1"/>
              <a:t>стек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разделение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предлагает</a:t>
            </a:r>
            <a:r>
              <a:rPr lang="en-US" dirty="0"/>
              <a:t> </a:t>
            </a:r>
            <a:r>
              <a:rPr lang="en-US" dirty="0" err="1"/>
              <a:t>разделить</a:t>
            </a:r>
            <a:r>
              <a:rPr lang="en-US" dirty="0"/>
              <a:t> </a:t>
            </a:r>
            <a:r>
              <a:rPr lang="en-US" dirty="0" err="1"/>
              <a:t>понятие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составляющие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Первая</a:t>
            </a:r>
            <a:r>
              <a:rPr lang="en-US" dirty="0"/>
              <a:t> — </a:t>
            </a:r>
            <a:r>
              <a:rPr lang="en-US" b="1" dirty="0" err="1"/>
              <a:t>владение</a:t>
            </a:r>
            <a:r>
              <a:rPr lang="en-US" b="1" dirty="0"/>
              <a:t> </a:t>
            </a:r>
            <a:r>
              <a:rPr lang="en-US" b="1" dirty="0" err="1"/>
              <a:t>ресурсами</a:t>
            </a:r>
            <a:r>
              <a:rPr lang="en-US" dirty="0"/>
              <a:t>.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,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Вторая</a:t>
            </a:r>
            <a:r>
              <a:rPr lang="en-US" dirty="0"/>
              <a:t> — </a:t>
            </a:r>
            <a:r>
              <a:rPr lang="en-US" b="1" dirty="0" err="1"/>
              <a:t>исполнение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, </a:t>
            </a:r>
            <a:r>
              <a:rPr lang="en-US" dirty="0" err="1"/>
              <a:t>какую</a:t>
            </a:r>
            <a:r>
              <a:rPr lang="en-US" dirty="0"/>
              <a:t> </a:t>
            </a:r>
            <a:r>
              <a:rPr lang="en-US" dirty="0" err="1"/>
              <a:t>инструкцию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следующей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значения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находятся</a:t>
            </a:r>
            <a:r>
              <a:rPr lang="en-US" dirty="0"/>
              <a:t> в </a:t>
            </a:r>
            <a:r>
              <a:rPr lang="en-US" dirty="0" err="1"/>
              <a:t>регистрах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и 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вторую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выделяем</a:t>
            </a:r>
            <a:r>
              <a:rPr lang="en-US" dirty="0"/>
              <a:t> в </a:t>
            </a:r>
            <a:r>
              <a:rPr lang="en-US" dirty="0" err="1"/>
              <a:t>отдельную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 — </a:t>
            </a:r>
            <a:r>
              <a:rPr lang="en-US" dirty="0" err="1"/>
              <a:t>поток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короткую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b="1" dirty="0" err="1"/>
              <a:t>процесс</a:t>
            </a:r>
            <a:r>
              <a:rPr lang="en-US" b="1" dirty="0"/>
              <a:t> — </a:t>
            </a:r>
            <a:r>
              <a:rPr lang="en-US" b="1" dirty="0" err="1"/>
              <a:t>контейнер</a:t>
            </a:r>
            <a:r>
              <a:rPr lang="en-US" b="1" dirty="0"/>
              <a:t> </a:t>
            </a:r>
            <a:r>
              <a:rPr lang="en-US" b="1" dirty="0" err="1"/>
              <a:t>ресурсов</a:t>
            </a:r>
            <a:r>
              <a:rPr lang="en-US" b="1" dirty="0"/>
              <a:t>, </a:t>
            </a:r>
            <a:r>
              <a:rPr lang="en-US" b="1" dirty="0" err="1"/>
              <a:t>поток</a:t>
            </a:r>
            <a:r>
              <a:rPr lang="en-US" b="1" dirty="0"/>
              <a:t> — </a:t>
            </a:r>
            <a:r>
              <a:rPr lang="en-US" b="1" dirty="0" err="1"/>
              <a:t>единица</a:t>
            </a:r>
            <a:r>
              <a:rPr lang="en-US" b="1" dirty="0"/>
              <a:t> </a:t>
            </a:r>
            <a:r>
              <a:rPr lang="en-US" b="1" dirty="0" err="1"/>
              <a:t>исполнения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единиц</a:t>
            </a:r>
            <a:r>
              <a:rPr lang="en-US" dirty="0"/>
              <a:t> </a:t>
            </a:r>
            <a:r>
              <a:rPr lang="en-US" dirty="0" err="1"/>
              <a:t>исполнения</a:t>
            </a:r>
            <a:r>
              <a:rPr lang="en-US" dirty="0"/>
              <a:t>.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кому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,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абстрактный</a:t>
            </a:r>
            <a:r>
              <a:rPr lang="en-US" dirty="0"/>
              <a:t>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r>
              <a:rPr lang="en-US" dirty="0"/>
              <a:t>, а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изменение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упрощённой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пользовались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4647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переключить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 с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позднее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с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места</a:t>
            </a:r>
            <a:r>
              <a:rPr lang="en-US" dirty="0"/>
              <a:t>,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b="1" dirty="0" err="1"/>
              <a:t>контекст</a:t>
            </a:r>
            <a:r>
              <a:rPr lang="en-US" b="1" dirty="0"/>
              <a:t> </a:t>
            </a:r>
            <a:r>
              <a:rPr lang="en-US" b="1" dirty="0" err="1"/>
              <a:t>исполнения</a:t>
            </a:r>
            <a:r>
              <a:rPr lang="en-US" dirty="0"/>
              <a:t>. В </a:t>
            </a:r>
            <a:r>
              <a:rPr lang="en-US" dirty="0" err="1"/>
              <a:t>первую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и </a:t>
            </a:r>
            <a:r>
              <a:rPr lang="en-US" dirty="0" err="1"/>
              <a:t>регистры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 </a:t>
            </a:r>
            <a:r>
              <a:rPr lang="en-US" dirty="0" err="1"/>
              <a:t>Стек</a:t>
            </a:r>
            <a:r>
              <a:rPr lang="en-US" dirty="0"/>
              <a:t>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восстановления</a:t>
            </a:r>
            <a:r>
              <a:rPr lang="en-US" dirty="0"/>
              <a:t> </a:t>
            </a:r>
            <a:r>
              <a:rPr lang="en-US" dirty="0" err="1"/>
              <a:t>указателя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снова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свой</a:t>
            </a:r>
            <a:r>
              <a:rPr lang="en-US" dirty="0"/>
              <a:t> </a:t>
            </a:r>
            <a:r>
              <a:rPr lang="en-US" dirty="0" err="1"/>
              <a:t>набор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выполнялся</a:t>
            </a:r>
            <a:r>
              <a:rPr lang="en-US" dirty="0"/>
              <a:t> и </a:t>
            </a:r>
            <a:r>
              <a:rPr lang="en-US" dirty="0" err="1"/>
              <a:t>начал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переходит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.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готовый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B,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и </a:t>
            </a:r>
            <a:r>
              <a:rPr lang="en-US" dirty="0" err="1"/>
              <a:t>процессор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B.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знакомый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: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,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готовым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принципиальная</a:t>
            </a:r>
            <a:r>
              <a:rPr lang="en-US" dirty="0"/>
              <a:t> </a:t>
            </a:r>
            <a:r>
              <a:rPr lang="en-US" dirty="0" err="1"/>
              <a:t>разница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переключаемся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dirty="0"/>
              <a:t>,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.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видеть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термин</a:t>
            </a:r>
            <a:r>
              <a:rPr lang="en-US" dirty="0"/>
              <a:t> «</a:t>
            </a:r>
            <a:r>
              <a:rPr lang="en-US" dirty="0" err="1"/>
              <a:t>лёгкий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»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помогает</a:t>
            </a:r>
            <a:r>
              <a:rPr lang="en-US" dirty="0"/>
              <a:t> </a:t>
            </a:r>
            <a:r>
              <a:rPr lang="en-US" dirty="0" err="1"/>
              <a:t>интуитивно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: у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исполнения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дублировать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переключать</a:t>
            </a:r>
            <a:r>
              <a:rPr lang="en-US" dirty="0"/>
              <a:t> </a:t>
            </a:r>
            <a:r>
              <a:rPr lang="en-US" dirty="0" err="1"/>
              <a:t>вместе</a:t>
            </a:r>
            <a:r>
              <a:rPr lang="en-US" dirty="0"/>
              <a:t> с </a:t>
            </a:r>
            <a:r>
              <a:rPr lang="en-US" dirty="0" err="1"/>
              <a:t>ним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6732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—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причин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настолько</a:t>
            </a:r>
            <a:r>
              <a:rPr lang="en-US" dirty="0"/>
              <a:t> </a:t>
            </a:r>
            <a:r>
              <a:rPr lang="en-US" dirty="0" err="1"/>
              <a:t>удобны</a:t>
            </a:r>
            <a:r>
              <a:rPr lang="en-US" dirty="0"/>
              <a:t>.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другому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,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межпроцессного</a:t>
            </a:r>
            <a:r>
              <a:rPr lang="en-US" dirty="0"/>
              <a:t> </a:t>
            </a:r>
            <a:r>
              <a:rPr lang="en-US" dirty="0" err="1"/>
              <a:t>взаимодействия</a:t>
            </a:r>
            <a:r>
              <a:rPr lang="en-US" dirty="0"/>
              <a:t>.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поместить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в </a:t>
            </a:r>
            <a:r>
              <a:rPr lang="en-US" dirty="0" err="1"/>
              <a:t>память</a:t>
            </a:r>
            <a:r>
              <a:rPr lang="en-US" dirty="0"/>
              <a:t>, </a:t>
            </a:r>
            <a:r>
              <a:rPr lang="en-US" dirty="0" err="1"/>
              <a:t>доступную</a:t>
            </a:r>
            <a:r>
              <a:rPr lang="en-US" dirty="0"/>
              <a:t> </a:t>
            </a:r>
            <a:r>
              <a:rPr lang="en-US" dirty="0" err="1"/>
              <a:t>обоим</a:t>
            </a:r>
            <a:r>
              <a:rPr lang="en-US" dirty="0"/>
              <a:t> </a:t>
            </a:r>
            <a:r>
              <a:rPr lang="en-US" dirty="0" err="1"/>
              <a:t>потокам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удобство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 </a:t>
            </a:r>
            <a:r>
              <a:rPr lang="en-US" dirty="0" err="1"/>
              <a:t>отсутствием</a:t>
            </a:r>
            <a:r>
              <a:rPr lang="en-US" dirty="0"/>
              <a:t> </a:t>
            </a:r>
            <a:r>
              <a:rPr lang="en-US" dirty="0" err="1"/>
              <a:t>изоляции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изолирует</a:t>
            </a:r>
            <a:r>
              <a:rPr lang="en-US" dirty="0"/>
              <a:t> </a:t>
            </a:r>
            <a:r>
              <a:rPr lang="en-US" dirty="0" err="1"/>
              <a:t>адресные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ошибочно</a:t>
            </a:r>
            <a:r>
              <a:rPr lang="en-US" dirty="0"/>
              <a:t> </a:t>
            </a:r>
            <a:r>
              <a:rPr lang="en-US" dirty="0" err="1"/>
              <a:t>записал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некоторому</a:t>
            </a:r>
            <a:r>
              <a:rPr lang="en-US" dirty="0"/>
              <a:t> </a:t>
            </a:r>
            <a:r>
              <a:rPr lang="en-US" dirty="0" err="1"/>
              <a:t>адресу</a:t>
            </a:r>
            <a:r>
              <a:rPr lang="en-US" dirty="0"/>
              <a:t> </a:t>
            </a:r>
            <a:r>
              <a:rPr lang="en-US" dirty="0" err="1"/>
              <a:t>своей</a:t>
            </a:r>
            <a:r>
              <a:rPr lang="en-US" dirty="0"/>
              <a:t> </a:t>
            </a:r>
            <a:r>
              <a:rPr lang="en-US" dirty="0" err="1"/>
              <a:t>памяти</a:t>
            </a:r>
            <a:r>
              <a:rPr lang="en-US" dirty="0"/>
              <a:t>,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пострадает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границы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работают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адресном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.</a:t>
            </a:r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изменять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отдельности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корректные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неожиданное</a:t>
            </a:r>
            <a:r>
              <a:rPr lang="en-US" dirty="0"/>
              <a:t> </a:t>
            </a:r>
            <a:r>
              <a:rPr lang="en-US" dirty="0" err="1"/>
              <a:t>чередование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структуру</a:t>
            </a:r>
            <a:r>
              <a:rPr lang="en-US" dirty="0"/>
              <a:t> в </a:t>
            </a:r>
            <a:r>
              <a:rPr lang="en-US" dirty="0" err="1"/>
              <a:t>некорректном</a:t>
            </a:r>
            <a:r>
              <a:rPr lang="en-US" dirty="0"/>
              <a:t> </a:t>
            </a:r>
            <a:r>
              <a:rPr lang="en-US" dirty="0" err="1"/>
              <a:t>состоянии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и с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: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файл</a:t>
            </a:r>
            <a:r>
              <a:rPr lang="en-US" dirty="0"/>
              <a:t>, с </a:t>
            </a:r>
            <a:r>
              <a:rPr lang="en-US" dirty="0" err="1"/>
              <a:t>которым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r>
              <a:rPr lang="en-US" dirty="0"/>
              <a:t> </a:t>
            </a:r>
            <a:r>
              <a:rPr lang="en-US" dirty="0" err="1"/>
              <a:t>технически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b="1" dirty="0" err="1"/>
              <a:t>координации</a:t>
            </a:r>
            <a:r>
              <a:rPr lang="en-US" b="1" dirty="0"/>
              <a:t> </a:t>
            </a:r>
            <a:r>
              <a:rPr lang="en-US" b="1" dirty="0" err="1"/>
              <a:t>доступа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мьютексы</a:t>
            </a:r>
            <a:r>
              <a:rPr lang="en-US" dirty="0"/>
              <a:t>, </a:t>
            </a:r>
            <a:r>
              <a:rPr lang="en-US" dirty="0" err="1"/>
              <a:t>условные</a:t>
            </a:r>
            <a:r>
              <a:rPr lang="en-US" dirty="0"/>
              <a:t> </a:t>
            </a:r>
            <a:r>
              <a:rPr lang="en-US" dirty="0" err="1"/>
              <a:t>переменные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 </a:t>
            </a:r>
            <a:r>
              <a:rPr lang="en-US" dirty="0" err="1"/>
              <a:t>рассматривать</a:t>
            </a:r>
            <a:r>
              <a:rPr lang="en-US" dirty="0"/>
              <a:t> </a:t>
            </a:r>
            <a:r>
              <a:rPr lang="en-US" dirty="0" err="1"/>
              <a:t>отдельно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4966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, </a:t>
            </a:r>
            <a:r>
              <a:rPr lang="en-US" dirty="0" err="1"/>
              <a:t>связывающий</a:t>
            </a:r>
            <a:r>
              <a:rPr lang="en-US" dirty="0"/>
              <a:t> </a:t>
            </a:r>
            <a:r>
              <a:rPr lang="en-US" dirty="0" err="1"/>
              <a:t>нынешнюю</a:t>
            </a:r>
            <a:r>
              <a:rPr lang="en-US" dirty="0"/>
              <a:t> </a:t>
            </a:r>
            <a:r>
              <a:rPr lang="en-US" dirty="0" err="1"/>
              <a:t>лекцию</a:t>
            </a:r>
            <a:r>
              <a:rPr lang="en-US" dirty="0"/>
              <a:t> с </a:t>
            </a:r>
            <a:r>
              <a:rPr lang="en-US" dirty="0" err="1"/>
              <a:t>предыдущей</a:t>
            </a:r>
            <a:r>
              <a:rPr lang="en-US" dirty="0"/>
              <a:t> </a:t>
            </a:r>
            <a:r>
              <a:rPr lang="en-US" dirty="0" err="1"/>
              <a:t>темой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многопоточный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вызовет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с </a:t>
            </a:r>
            <a:r>
              <a:rPr lang="en-US" dirty="0" err="1"/>
              <a:t>тремя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dirty="0"/>
              <a:t>. </a:t>
            </a:r>
            <a:r>
              <a:rPr lang="en-US" dirty="0" err="1"/>
              <a:t>Родительский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 — </a:t>
            </a:r>
            <a:r>
              <a:rPr lang="en-US" dirty="0" err="1"/>
              <a:t>со</a:t>
            </a:r>
            <a:r>
              <a:rPr lang="en-US" dirty="0"/>
              <a:t> </a:t>
            </a:r>
            <a:r>
              <a:rPr lang="en-US" dirty="0" err="1"/>
              <a:t>всеми</a:t>
            </a:r>
            <a:r>
              <a:rPr lang="en-US" dirty="0"/>
              <a:t> </a:t>
            </a:r>
            <a:r>
              <a:rPr lang="en-US" dirty="0" err="1"/>
              <a:t>своими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А </a:t>
            </a:r>
            <a:r>
              <a:rPr lang="en-US" dirty="0" err="1"/>
              <a:t>вот</a:t>
            </a:r>
            <a:r>
              <a:rPr lang="en-US" dirty="0"/>
              <a:t> в </a:t>
            </a:r>
            <a:r>
              <a:rPr lang="en-US" dirty="0" err="1"/>
              <a:t>дочернем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ситуация</a:t>
            </a:r>
            <a:r>
              <a:rPr lang="en-US" dirty="0"/>
              <a:t> </a:t>
            </a:r>
            <a:r>
              <a:rPr lang="en-US" dirty="0" err="1"/>
              <a:t>другая</a:t>
            </a:r>
            <a:r>
              <a:rPr lang="en-US" dirty="0"/>
              <a:t>. В POSIX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</a:t>
            </a:r>
            <a:r>
              <a:rPr lang="en-US" dirty="0" err="1"/>
              <a:t>продолжает</a:t>
            </a:r>
            <a:r>
              <a:rPr lang="en-US" dirty="0"/>
              <a:t> </a:t>
            </a:r>
            <a:r>
              <a:rPr lang="en-US" dirty="0" err="1"/>
              <a:t>существовать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непосредственно</a:t>
            </a:r>
            <a:r>
              <a:rPr lang="en-US" dirty="0"/>
              <a:t> </a:t>
            </a:r>
            <a:r>
              <a:rPr lang="en-US" dirty="0" err="1"/>
              <a:t>вызвал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dirty="0"/>
              <a:t>.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в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переносятся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взгляд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вполне</a:t>
            </a:r>
            <a:r>
              <a:rPr lang="en-US" dirty="0"/>
              <a:t> </a:t>
            </a:r>
            <a:r>
              <a:rPr lang="en-US" dirty="0" err="1"/>
              <a:t>разумно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неприятная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помним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дочерний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с </a:t>
            </a:r>
            <a:r>
              <a:rPr lang="en-US" dirty="0" err="1"/>
              <a:t>копией</a:t>
            </a:r>
            <a:r>
              <a:rPr lang="en-US" dirty="0"/>
              <a:t> </a:t>
            </a:r>
            <a:r>
              <a:rPr lang="en-US" dirty="0" err="1"/>
              <a:t>адресного</a:t>
            </a:r>
            <a:r>
              <a:rPr lang="en-US" dirty="0"/>
              <a:t> </a:t>
            </a:r>
            <a:r>
              <a:rPr lang="en-US" dirty="0" err="1"/>
              <a:t>пространства</a:t>
            </a:r>
            <a:r>
              <a:rPr lang="en-US" dirty="0"/>
              <a:t> </a:t>
            </a:r>
            <a:r>
              <a:rPr lang="en-US" dirty="0" err="1"/>
              <a:t>родителя</a:t>
            </a:r>
            <a:r>
              <a:rPr lang="en-US" dirty="0"/>
              <a:t>. </a:t>
            </a:r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момент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T1 </a:t>
            </a:r>
            <a:r>
              <a:rPr lang="en-US" dirty="0" err="1"/>
              <a:t>удерживал</a:t>
            </a:r>
            <a:r>
              <a:rPr lang="en-US" dirty="0"/>
              <a:t> </a:t>
            </a:r>
            <a:r>
              <a:rPr lang="en-US" dirty="0" err="1"/>
              <a:t>некоторый</a:t>
            </a:r>
            <a:r>
              <a:rPr lang="en-US" dirty="0"/>
              <a:t> mutex.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mutex </a:t>
            </a:r>
            <a:r>
              <a:rPr lang="en-US" dirty="0" err="1"/>
              <a:t>оказывается</a:t>
            </a:r>
            <a:r>
              <a:rPr lang="en-US" dirty="0"/>
              <a:t> в </a:t>
            </a:r>
            <a:r>
              <a:rPr lang="en-US" dirty="0" err="1"/>
              <a:t>памяти</a:t>
            </a:r>
            <a:r>
              <a:rPr lang="en-US" dirty="0"/>
              <a:t> </a:t>
            </a:r>
            <a:r>
              <a:rPr lang="en-US" dirty="0" err="1"/>
              <a:t>дочернего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—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захваченным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T1 в </a:t>
            </a:r>
            <a:r>
              <a:rPr lang="en-US" dirty="0" err="1"/>
              <a:t>дочернем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заблокирован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в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процессе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никогда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освободить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сочетание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fork()</a:t>
            </a:r>
            <a:r>
              <a:rPr lang="en-US" dirty="0"/>
              <a:t> и </a:t>
            </a:r>
            <a:r>
              <a:rPr lang="en-US" dirty="0" err="1"/>
              <a:t>многопоточности</a:t>
            </a:r>
            <a:r>
              <a:rPr lang="en-US" dirty="0"/>
              <a:t>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особой</a:t>
            </a:r>
            <a:r>
              <a:rPr lang="en-US" dirty="0"/>
              <a:t> </a:t>
            </a:r>
            <a:r>
              <a:rPr lang="en-US" dirty="0" err="1"/>
              <a:t>осторожности</a:t>
            </a:r>
            <a:r>
              <a:rPr lang="en-US" dirty="0"/>
              <a:t>. Это </a:t>
            </a:r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добавление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семантику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знакомых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9235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8027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коротко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,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программиста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Практически</a:t>
            </a:r>
            <a:r>
              <a:rPr lang="en-US" dirty="0"/>
              <a:t> в </a:t>
            </a:r>
            <a:r>
              <a:rPr lang="en-US" dirty="0" err="1"/>
              <a:t>любом</a:t>
            </a:r>
            <a:r>
              <a:rPr lang="en-US" dirty="0"/>
              <a:t> API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одни</a:t>
            </a:r>
            <a:r>
              <a:rPr lang="en-US" dirty="0"/>
              <a:t> и </a:t>
            </a:r>
            <a:r>
              <a:rPr lang="en-US" dirty="0" err="1"/>
              <a:t>те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создаём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и </a:t>
            </a:r>
            <a:r>
              <a:rPr lang="en-US" dirty="0" err="1"/>
              <a:t>указываем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планируется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системой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заканчивается</a:t>
            </a:r>
            <a:r>
              <a:rPr lang="en-US" dirty="0"/>
              <a:t>, </a:t>
            </a:r>
            <a:r>
              <a:rPr lang="en-US" dirty="0" err="1"/>
              <a:t>заканчивается</a:t>
            </a:r>
            <a:r>
              <a:rPr lang="en-US" dirty="0"/>
              <a:t> и </a:t>
            </a:r>
            <a:r>
              <a:rPr lang="en-US" dirty="0" err="1"/>
              <a:t>сам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необходимости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 </a:t>
            </a:r>
            <a:r>
              <a:rPr lang="en-US" dirty="0" err="1"/>
              <a:t>отличаются</a:t>
            </a:r>
            <a:r>
              <a:rPr lang="en-US" dirty="0"/>
              <a:t>. В POSIX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n-US" dirty="0"/>
              <a:t>. В Windows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CreateThread</a:t>
            </a:r>
            <a:r>
              <a:rPr lang="en-US" dirty="0"/>
              <a:t> и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WaitForSingleObject</a:t>
            </a:r>
            <a:r>
              <a:rPr lang="en-US" dirty="0"/>
              <a:t>. В </a:t>
            </a:r>
            <a:r>
              <a:rPr lang="en-US" dirty="0" err="1"/>
              <a:t>стандартной</a:t>
            </a:r>
            <a:r>
              <a:rPr lang="en-US" dirty="0"/>
              <a:t> </a:t>
            </a:r>
            <a:r>
              <a:rPr lang="en-US" dirty="0" err="1"/>
              <a:t>библиотеке</a:t>
            </a:r>
            <a:r>
              <a:rPr lang="en-US" dirty="0"/>
              <a:t> C++ —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 и </a:t>
            </a:r>
            <a:r>
              <a:rPr lang="en-US" dirty="0" err="1"/>
              <a:t>метод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join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сигнатуры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и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.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увидеть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разными</a:t>
            </a:r>
            <a:r>
              <a:rPr lang="en-US" dirty="0"/>
              <a:t> API </a:t>
            </a:r>
            <a:r>
              <a:rPr lang="en-US" dirty="0" err="1"/>
              <a:t>одну</a:t>
            </a:r>
            <a:r>
              <a:rPr lang="en-US" dirty="0"/>
              <a:t> и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b="1" dirty="0" err="1"/>
              <a:t>создать</a:t>
            </a:r>
            <a:r>
              <a:rPr lang="en-US" b="1" dirty="0"/>
              <a:t> </a:t>
            </a:r>
            <a:r>
              <a:rPr lang="en-US" b="1" dirty="0" err="1"/>
              <a:t>независимый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исполнения</a:t>
            </a:r>
            <a:r>
              <a:rPr lang="en-US" b="1" dirty="0"/>
              <a:t>, а </a:t>
            </a:r>
            <a:r>
              <a:rPr lang="en-US" b="1" dirty="0" err="1"/>
              <a:t>затем</a:t>
            </a:r>
            <a:r>
              <a:rPr lang="en-US" b="1" dirty="0"/>
              <a:t> </a:t>
            </a:r>
            <a:r>
              <a:rPr lang="en-US" b="1" dirty="0" err="1"/>
              <a:t>при</a:t>
            </a:r>
            <a:r>
              <a:rPr lang="en-US" b="1" dirty="0"/>
              <a:t> </a:t>
            </a:r>
            <a:r>
              <a:rPr lang="en-US" b="1" dirty="0" err="1"/>
              <a:t>необходимости</a:t>
            </a:r>
            <a:r>
              <a:rPr lang="en-US" b="1" dirty="0"/>
              <a:t> </a:t>
            </a:r>
            <a:r>
              <a:rPr lang="en-US" b="1" dirty="0" err="1"/>
              <a:t>дождаться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завершения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841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POSIX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с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API </a:t>
            </a:r>
            <a:r>
              <a:rPr lang="en-US" dirty="0" err="1"/>
              <a:t>pthreads</a:t>
            </a:r>
            <a:r>
              <a:rPr lang="en-US" dirty="0"/>
              <a:t>.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передаём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, с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, и </a:t>
            </a:r>
            <a:r>
              <a:rPr lang="en-US" dirty="0" err="1"/>
              <a:t>необязательный</a:t>
            </a:r>
            <a:r>
              <a:rPr lang="en-US" dirty="0"/>
              <a:t> </a:t>
            </a:r>
            <a:r>
              <a:rPr lang="en-US" dirty="0" err="1"/>
              <a:t>аргумент</a:t>
            </a:r>
            <a:r>
              <a:rPr lang="en-US" dirty="0"/>
              <a:t>.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успешного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US" dirty="0"/>
              <a:t>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: </a:t>
            </a:r>
            <a:r>
              <a:rPr lang="en-US" dirty="0" err="1"/>
              <a:t>исходный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выполняющий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, и </a:t>
            </a:r>
            <a:r>
              <a:rPr lang="en-US" dirty="0" err="1"/>
              <a:t>новый</a:t>
            </a:r>
            <a:r>
              <a:rPr lang="en-US" dirty="0"/>
              <a:t>, </a:t>
            </a:r>
            <a:r>
              <a:rPr lang="en-US" dirty="0" err="1"/>
              <a:t>выполняющий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порядке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будут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,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worker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начать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немедленно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main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первым</a:t>
            </a:r>
            <a:r>
              <a:rPr lang="en-US" dirty="0"/>
              <a:t>, а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многоядерном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физически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pthread_join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: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указанного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Это в </a:t>
            </a:r>
            <a:r>
              <a:rPr lang="en-US" dirty="0" err="1"/>
              <a:t>некотором</a:t>
            </a:r>
            <a:r>
              <a:rPr lang="en-US" dirty="0"/>
              <a:t> </a:t>
            </a:r>
            <a:r>
              <a:rPr lang="en-US" dirty="0" err="1"/>
              <a:t>смысле</a:t>
            </a:r>
            <a:r>
              <a:rPr lang="en-US" dirty="0"/>
              <a:t> </a:t>
            </a:r>
            <a:r>
              <a:rPr lang="en-US" dirty="0" err="1"/>
              <a:t>аналог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знакомого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процессов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pthread_create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менее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современные</a:t>
            </a:r>
            <a:r>
              <a:rPr lang="en-US" dirty="0"/>
              <a:t> C++-</a:t>
            </a:r>
            <a:r>
              <a:rPr lang="en-US" dirty="0" err="1"/>
              <a:t>интерфейсы</a:t>
            </a:r>
            <a:r>
              <a:rPr lang="en-US" dirty="0"/>
              <a:t>.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принимает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void*</a:t>
            </a:r>
            <a:r>
              <a:rPr lang="en-US" dirty="0"/>
              <a:t>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void*</a:t>
            </a:r>
            <a:r>
              <a:rPr lang="en-US" dirty="0"/>
              <a:t>. Это </a:t>
            </a:r>
            <a:r>
              <a:rPr lang="en-US" dirty="0" err="1"/>
              <a:t>обычный</a:t>
            </a:r>
            <a:r>
              <a:rPr lang="en-US" dirty="0"/>
              <a:t> C API: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произвольные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pthread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возможности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pthread_attr_t</a:t>
            </a:r>
            <a:r>
              <a:rPr lang="en-US" dirty="0"/>
              <a:t>: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настраивать</a:t>
            </a:r>
            <a:r>
              <a:rPr lang="en-US" dirty="0"/>
              <a:t> </a:t>
            </a:r>
            <a:r>
              <a:rPr lang="en-US" dirty="0" err="1"/>
              <a:t>размер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, detached-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параметры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API.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понимания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 →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выполнение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→ join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важный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: </a:t>
            </a:r>
            <a:r>
              <a:rPr lang="en-US" b="1" dirty="0" err="1"/>
              <a:t>pthread</a:t>
            </a:r>
            <a:r>
              <a:rPr lang="en-US" b="1" dirty="0"/>
              <a:t> —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отдельный</a:t>
            </a:r>
            <a:r>
              <a:rPr lang="en-US" b="1" dirty="0"/>
              <a:t> </a:t>
            </a:r>
            <a:r>
              <a:rPr lang="en-US" b="1" dirty="0" err="1"/>
              <a:t>особый</a:t>
            </a:r>
            <a:r>
              <a:rPr lang="en-US" b="1" dirty="0"/>
              <a:t> </a:t>
            </a:r>
            <a:r>
              <a:rPr lang="en-US" b="1" dirty="0" err="1"/>
              <a:t>вид</a:t>
            </a:r>
            <a:r>
              <a:rPr lang="en-US" b="1" dirty="0"/>
              <a:t> </a:t>
            </a:r>
            <a:r>
              <a:rPr lang="en-US" b="1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современной</a:t>
            </a:r>
            <a:r>
              <a:rPr lang="en-US" dirty="0"/>
              <a:t> Linux-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создаваемые</a:t>
            </a:r>
            <a:r>
              <a:rPr lang="en-US" dirty="0"/>
              <a:t> </a:t>
            </a:r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в </a:t>
            </a:r>
            <a:r>
              <a:rPr lang="en-US" dirty="0" err="1"/>
              <a:t>итоге</a:t>
            </a:r>
            <a:r>
              <a:rPr lang="en-US" dirty="0"/>
              <a:t> </a:t>
            </a:r>
            <a:r>
              <a:rPr lang="en-US" dirty="0" err="1"/>
              <a:t>представлены</a:t>
            </a:r>
            <a:r>
              <a:rPr lang="en-US" dirty="0"/>
              <a:t> </a:t>
            </a:r>
            <a:r>
              <a:rPr lang="en-US" dirty="0" err="1"/>
              <a:t>сущностями</a:t>
            </a:r>
            <a:r>
              <a:rPr lang="en-US" dirty="0"/>
              <a:t>, </a:t>
            </a:r>
            <a:r>
              <a:rPr lang="en-US" dirty="0" err="1"/>
              <a:t>которыми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. </a:t>
            </a:r>
            <a:r>
              <a:rPr lang="en-US" dirty="0" err="1"/>
              <a:t>Позже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разберём</a:t>
            </a:r>
            <a:r>
              <a:rPr lang="en-US" dirty="0"/>
              <a:t> </a:t>
            </a:r>
            <a:r>
              <a:rPr lang="en-US" dirty="0" err="1"/>
              <a:t>разницу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user space и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9722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Windows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видим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самую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, </a:t>
            </a:r>
            <a:r>
              <a:rPr lang="en-US" dirty="0" err="1"/>
              <a:t>хотя</a:t>
            </a:r>
            <a:r>
              <a:rPr lang="en-US" dirty="0"/>
              <a:t> API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Низкоуровневый</a:t>
            </a:r>
            <a:r>
              <a:rPr lang="en-US" dirty="0"/>
              <a:t> </a:t>
            </a:r>
            <a:r>
              <a:rPr lang="en-US" dirty="0" err="1"/>
              <a:t>WinAPI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CreateThread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POSIX, Windows </a:t>
            </a:r>
            <a:r>
              <a:rPr lang="en-US" dirty="0" err="1"/>
              <a:t>активно</a:t>
            </a:r>
            <a:r>
              <a:rPr lang="en-US" dirty="0"/>
              <a:t> </a:t>
            </a:r>
            <a:r>
              <a:rPr lang="en-US" dirty="0" err="1"/>
              <a:t>использует</a:t>
            </a:r>
            <a:r>
              <a:rPr lang="en-US" dirty="0"/>
              <a:t> </a:t>
            </a:r>
            <a:r>
              <a:rPr lang="en-US" dirty="0" err="1"/>
              <a:t>объекты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и </a:t>
            </a:r>
            <a:r>
              <a:rPr lang="en-US" dirty="0" err="1"/>
              <a:t>дескрипторы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создании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Этот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дождаться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WaitForSingleObject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,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необходимо</a:t>
            </a:r>
            <a:r>
              <a:rPr lang="en-US" dirty="0"/>
              <a:t> </a:t>
            </a:r>
            <a:r>
              <a:rPr lang="en-US" dirty="0" err="1"/>
              <a:t>закрыть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CloseHandle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программах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C и C++ </a:t>
            </a:r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beginthreadex</a:t>
            </a:r>
            <a:r>
              <a:rPr lang="en-US" dirty="0"/>
              <a:t>, </a:t>
            </a:r>
            <a:r>
              <a:rPr lang="en-US" dirty="0" err="1"/>
              <a:t>предоставляемый</a:t>
            </a:r>
            <a:r>
              <a:rPr lang="en-US" dirty="0"/>
              <a:t> Microsoft C Runtime.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обеспечивает</a:t>
            </a:r>
            <a:r>
              <a:rPr lang="en-US" dirty="0"/>
              <a:t>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интеграцию</a:t>
            </a:r>
            <a:r>
              <a:rPr lang="en-US" dirty="0"/>
              <a:t> с runtime-</a:t>
            </a:r>
            <a:r>
              <a:rPr lang="en-US" dirty="0" err="1"/>
              <a:t>библиотекой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различия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CreateThread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beginthreadex</a:t>
            </a:r>
            <a:r>
              <a:rPr lang="en-US" dirty="0"/>
              <a:t> —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скорее</a:t>
            </a:r>
            <a:r>
              <a:rPr lang="en-US" dirty="0"/>
              <a:t> </a:t>
            </a:r>
            <a:r>
              <a:rPr lang="en-US" dirty="0" err="1"/>
              <a:t>тема</a:t>
            </a:r>
            <a:r>
              <a:rPr lang="en-US" dirty="0"/>
              <a:t> </a:t>
            </a:r>
            <a:r>
              <a:rPr lang="en-US" dirty="0" err="1"/>
              <a:t>программирования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Windows,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принципов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</a:t>
            </a:r>
            <a:r>
              <a:rPr lang="en-US" dirty="0"/>
              <a:t>,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останавливаться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будем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. </a:t>
            </a:r>
            <a:r>
              <a:rPr lang="en-US" dirty="0" err="1"/>
              <a:t>Сравните</a:t>
            </a:r>
            <a:r>
              <a:rPr lang="en-US" dirty="0"/>
              <a:t> Windows с POSIX. </a:t>
            </a:r>
            <a:r>
              <a:rPr lang="en-US" dirty="0" err="1"/>
              <a:t>Названия</a:t>
            </a:r>
            <a:r>
              <a:rPr lang="en-US" dirty="0"/>
              <a:t> </a:t>
            </a:r>
            <a:r>
              <a:rPr lang="en-US" dirty="0" err="1"/>
              <a:t>функций</a:t>
            </a:r>
            <a:r>
              <a:rPr lang="en-US" dirty="0"/>
              <a:t> и </a:t>
            </a:r>
            <a:r>
              <a:rPr lang="en-US" dirty="0" err="1"/>
              <a:t>представление</a:t>
            </a:r>
            <a:r>
              <a:rPr lang="en-US" dirty="0"/>
              <a:t> </a:t>
            </a:r>
            <a:r>
              <a:rPr lang="en-US" dirty="0" err="1"/>
              <a:t>идентификатора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концепция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изменилась</a:t>
            </a:r>
            <a:r>
              <a:rPr lang="en-US" dirty="0"/>
              <a:t>: </a:t>
            </a:r>
            <a:r>
              <a:rPr lang="en-US" b="1" dirty="0" err="1"/>
              <a:t>создали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— </a:t>
            </a:r>
            <a:r>
              <a:rPr lang="en-US" b="1" dirty="0" err="1"/>
              <a:t>он</a:t>
            </a:r>
            <a:r>
              <a:rPr lang="en-US" b="1" dirty="0"/>
              <a:t> </a:t>
            </a:r>
            <a:r>
              <a:rPr lang="en-US" b="1" dirty="0" err="1"/>
              <a:t>независимо</a:t>
            </a:r>
            <a:r>
              <a:rPr lang="en-US" b="1" dirty="0"/>
              <a:t> </a:t>
            </a:r>
            <a:r>
              <a:rPr lang="en-US" b="1" dirty="0" err="1"/>
              <a:t>выполняется</a:t>
            </a:r>
            <a:r>
              <a:rPr lang="en-US" b="1" dirty="0"/>
              <a:t> — </a:t>
            </a:r>
            <a:r>
              <a:rPr lang="en-US" b="1" dirty="0" err="1"/>
              <a:t>при</a:t>
            </a:r>
            <a:r>
              <a:rPr lang="en-US" b="1" dirty="0"/>
              <a:t> </a:t>
            </a:r>
            <a:r>
              <a:rPr lang="en-US" b="1" dirty="0" err="1"/>
              <a:t>необходимости</a:t>
            </a:r>
            <a:r>
              <a:rPr lang="en-US" b="1" dirty="0"/>
              <a:t> </a:t>
            </a:r>
            <a:r>
              <a:rPr lang="en-US" b="1" dirty="0" err="1"/>
              <a:t>дождались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завершения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идей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обсуждали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: API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и </a:t>
            </a:r>
            <a:r>
              <a:rPr lang="en-US" dirty="0" err="1"/>
              <a:t>сама</a:t>
            </a:r>
            <a:r>
              <a:rPr lang="en-US" dirty="0"/>
              <a:t> </a:t>
            </a:r>
            <a:r>
              <a:rPr lang="en-US" dirty="0" err="1"/>
              <a:t>концепция</a:t>
            </a:r>
            <a:r>
              <a:rPr lang="en-US" dirty="0"/>
              <a:t> ОС —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уровни</a:t>
            </a:r>
            <a:r>
              <a:rPr lang="en-US" dirty="0"/>
              <a:t>. Windows и POSIX </a:t>
            </a:r>
            <a:r>
              <a:rPr lang="en-US" dirty="0" err="1"/>
              <a:t>дают</a:t>
            </a:r>
            <a:r>
              <a:rPr lang="en-US" dirty="0"/>
              <a:t> </a:t>
            </a:r>
            <a:r>
              <a:rPr lang="en-US" dirty="0" err="1"/>
              <a:t>программисту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интерфейсы</a:t>
            </a:r>
            <a:r>
              <a:rPr lang="en-US" dirty="0"/>
              <a:t> к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похожей</a:t>
            </a:r>
            <a:r>
              <a:rPr lang="en-US" dirty="0"/>
              <a:t> </a:t>
            </a:r>
            <a:r>
              <a:rPr lang="en-US" dirty="0" err="1"/>
              <a:t>фундаментальной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408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пишем</a:t>
            </a:r>
            <a:r>
              <a:rPr lang="en-US" dirty="0"/>
              <a:t> </a:t>
            </a:r>
            <a:r>
              <a:rPr lang="en-US" dirty="0" err="1"/>
              <a:t>обычную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современном</a:t>
            </a:r>
            <a:r>
              <a:rPr lang="en-US" dirty="0"/>
              <a:t> C++, </a:t>
            </a:r>
            <a:r>
              <a:rPr lang="en-US" dirty="0" err="1"/>
              <a:t>напрямую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pthread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WinAPI</a:t>
            </a:r>
            <a:r>
              <a:rPr lang="en-US" dirty="0"/>
              <a:t> </a:t>
            </a:r>
            <a:r>
              <a:rPr lang="en-US" dirty="0" err="1"/>
              <a:t>чаще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 </a:t>
            </a:r>
            <a:r>
              <a:rPr lang="en-US" dirty="0" err="1"/>
              <a:t>Стандартная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переносимую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системными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Начиная</a:t>
            </a:r>
            <a:r>
              <a:rPr lang="en-US" dirty="0"/>
              <a:t> с C++11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. </a:t>
            </a:r>
            <a:r>
              <a:rPr lang="en-US" dirty="0" err="1"/>
              <a:t>На</a:t>
            </a:r>
            <a:r>
              <a:rPr lang="en-US" dirty="0"/>
              <a:t> Linux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в </a:t>
            </a:r>
            <a:r>
              <a:rPr lang="en-US" dirty="0" err="1"/>
              <a:t>конечном</a:t>
            </a:r>
            <a:r>
              <a:rPr lang="en-US" dirty="0"/>
              <a:t> </a:t>
            </a:r>
            <a:r>
              <a:rPr lang="en-US" dirty="0" err="1"/>
              <a:t>счёте</a:t>
            </a:r>
            <a:r>
              <a:rPr lang="en-US" dirty="0"/>
              <a:t> </a:t>
            </a:r>
            <a:r>
              <a:rPr lang="en-US" dirty="0" err="1"/>
              <a:t>опирается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Windows —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соответствующие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Windows.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и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исходный</a:t>
            </a:r>
            <a:r>
              <a:rPr lang="en-US" dirty="0"/>
              <a:t> C++-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операционных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C++20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нашего</a:t>
            </a:r>
            <a:r>
              <a:rPr lang="en-US" dirty="0"/>
              <a:t> </a:t>
            </a:r>
            <a:r>
              <a:rPr lang="en-US" dirty="0" err="1"/>
              <a:t>примера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интересно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временем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 </a:t>
            </a:r>
            <a:r>
              <a:rPr lang="en-US" dirty="0" err="1"/>
              <a:t>уничтожается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запрашивает</a:t>
            </a:r>
            <a:r>
              <a:rPr lang="en-US" dirty="0"/>
              <a:t> </a:t>
            </a:r>
            <a:r>
              <a:rPr lang="en-US" dirty="0" err="1"/>
              <a:t>остановку</a:t>
            </a:r>
            <a:r>
              <a:rPr lang="en-US" dirty="0"/>
              <a:t> и,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joinable, </a:t>
            </a:r>
            <a:r>
              <a:rPr lang="en-US" dirty="0" err="1"/>
              <a:t>ожидает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. Это </a:t>
            </a:r>
            <a:r>
              <a:rPr lang="en-US" dirty="0" err="1"/>
              <a:t>пример</a:t>
            </a:r>
            <a:r>
              <a:rPr lang="en-US" dirty="0"/>
              <a:t> RAII: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 C++-</a:t>
            </a:r>
            <a:r>
              <a:rPr lang="en-US" dirty="0" err="1"/>
              <a:t>объекта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</a:t>
            </a:r>
            <a:r>
              <a:rPr lang="en-US" dirty="0" err="1"/>
              <a:t>системным</a:t>
            </a:r>
            <a:r>
              <a:rPr lang="en-US" dirty="0"/>
              <a:t> </a:t>
            </a:r>
            <a:r>
              <a:rPr lang="en-US" dirty="0" err="1"/>
              <a:t>ресурсом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, </a:t>
            </a:r>
            <a:r>
              <a:rPr lang="en-US" dirty="0" err="1"/>
              <a:t>насколько</a:t>
            </a:r>
            <a:r>
              <a:rPr lang="en-US" dirty="0"/>
              <a:t> </a:t>
            </a:r>
            <a:r>
              <a:rPr lang="en-US" dirty="0" err="1"/>
              <a:t>меньше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технического</a:t>
            </a:r>
            <a:r>
              <a:rPr lang="en-US" dirty="0"/>
              <a:t> </a:t>
            </a:r>
            <a:r>
              <a:rPr lang="en-US" dirty="0" err="1"/>
              <a:t>шума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сравнению</a:t>
            </a:r>
            <a:r>
              <a:rPr lang="en-US" dirty="0"/>
              <a:t> с </a:t>
            </a:r>
            <a:r>
              <a:rPr lang="en-US" dirty="0" err="1"/>
              <a:t>pthread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WinAPI</a:t>
            </a:r>
            <a:r>
              <a:rPr lang="en-US" dirty="0"/>
              <a:t>.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void*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</a:t>
            </a:r>
            <a:r>
              <a:rPr lang="en-US" dirty="0"/>
              <a:t> и </a:t>
            </a:r>
            <a:r>
              <a:rPr lang="en-US" dirty="0" err="1"/>
              <a:t>явный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CloseHandle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под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удобной</a:t>
            </a:r>
            <a:r>
              <a:rPr lang="en-US" dirty="0"/>
              <a:t> C++-</a:t>
            </a:r>
            <a:r>
              <a:rPr lang="en-US" dirty="0" err="1"/>
              <a:t>абстракцией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находится</a:t>
            </a:r>
            <a:r>
              <a:rPr lang="en-US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операционной</a:t>
            </a:r>
            <a:r>
              <a:rPr lang="en-US" b="1" dirty="0"/>
              <a:t> </a:t>
            </a:r>
            <a:r>
              <a:rPr lang="en-US" b="1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детали</a:t>
            </a:r>
            <a:r>
              <a:rPr lang="en-US" dirty="0"/>
              <a:t> C++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остановим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std::thread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std::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jthread</a:t>
            </a:r>
            <a:r>
              <a:rPr lang="en-US" dirty="0"/>
              <a:t>, </a:t>
            </a:r>
            <a:r>
              <a:rPr lang="en-US" dirty="0" err="1"/>
              <a:t>передача</a:t>
            </a:r>
            <a:r>
              <a:rPr lang="en-US" dirty="0"/>
              <a:t> </a:t>
            </a:r>
            <a:r>
              <a:rPr lang="en-US" dirty="0" err="1"/>
              <a:t>аргументов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stop_token</a:t>
            </a:r>
            <a:r>
              <a:rPr lang="en-US" dirty="0"/>
              <a:t>, </a:t>
            </a:r>
            <a:r>
              <a:rPr lang="en-US" dirty="0" err="1"/>
              <a:t>синхронизация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подробно</a:t>
            </a:r>
            <a:r>
              <a:rPr lang="en-US" dirty="0"/>
              <a:t> </a:t>
            </a:r>
            <a:r>
              <a:rPr lang="en-US" dirty="0" err="1"/>
              <a:t>рассматриваются</a:t>
            </a:r>
            <a:r>
              <a:rPr lang="en-US" dirty="0"/>
              <a:t> в </a:t>
            </a:r>
            <a:r>
              <a:rPr lang="en-US" dirty="0" err="1"/>
              <a:t>курсе</a:t>
            </a:r>
            <a:r>
              <a:rPr lang="en-US" dirty="0"/>
              <a:t> «</a:t>
            </a:r>
            <a:r>
              <a:rPr lang="en-US" dirty="0" err="1"/>
              <a:t>Параллельное</a:t>
            </a:r>
            <a:r>
              <a:rPr lang="en-US" dirty="0"/>
              <a:t> </a:t>
            </a:r>
            <a:r>
              <a:rPr lang="en-US" dirty="0" err="1"/>
              <a:t>программирование</a:t>
            </a:r>
            <a:r>
              <a:rPr lang="en-US" dirty="0"/>
              <a:t>»;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нам</a:t>
            </a:r>
            <a:r>
              <a:rPr lang="en-US" dirty="0"/>
              <a:t> </a:t>
            </a:r>
            <a:r>
              <a:rPr lang="en-US" dirty="0" err="1"/>
              <a:t>важен</a:t>
            </a:r>
            <a:r>
              <a:rPr lang="en-US" dirty="0"/>
              <a:t> </a:t>
            </a:r>
            <a:r>
              <a:rPr lang="en-US" dirty="0" err="1"/>
              <a:t>уровень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мысль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ru-RU" dirty="0"/>
              <a:t> </a:t>
            </a:r>
            <a:r>
              <a:rPr lang="en-US" dirty="0" err="1"/>
              <a:t>раздела</a:t>
            </a:r>
            <a:r>
              <a:rPr lang="en-US" dirty="0"/>
              <a:t>: </a:t>
            </a:r>
            <a:r>
              <a:rPr lang="en-US" b="1" dirty="0" err="1"/>
              <a:t>pthread</a:t>
            </a:r>
            <a:r>
              <a:rPr lang="en-US" b="1" dirty="0"/>
              <a:t>, </a:t>
            </a:r>
            <a:r>
              <a:rPr lang="en-US" b="1" dirty="0" err="1"/>
              <a:t>WinAPI</a:t>
            </a:r>
            <a:r>
              <a:rPr lang="en-US" b="1" dirty="0"/>
              <a:t> и </a:t>
            </a:r>
            <a:r>
              <a:rPr lang="en-US" b="1" dirty="0" err="1"/>
              <a:t>стандартная</a:t>
            </a:r>
            <a:r>
              <a:rPr lang="en-US" b="1" dirty="0"/>
              <a:t> </a:t>
            </a:r>
            <a:r>
              <a:rPr lang="en-US" b="1" dirty="0" err="1"/>
              <a:t>библиотека</a:t>
            </a:r>
            <a:r>
              <a:rPr lang="en-US" b="1" dirty="0"/>
              <a:t> C++ — </a:t>
            </a:r>
            <a:r>
              <a:rPr lang="en-US" b="1" dirty="0" err="1"/>
              <a:t>это</a:t>
            </a:r>
            <a:r>
              <a:rPr lang="en-US" b="1" dirty="0"/>
              <a:t> </a:t>
            </a:r>
            <a:r>
              <a:rPr lang="en-US" b="1" dirty="0" err="1"/>
              <a:t>разные</a:t>
            </a:r>
            <a:r>
              <a:rPr lang="en-US" b="1" dirty="0"/>
              <a:t> </a:t>
            </a:r>
            <a:r>
              <a:rPr lang="en-US" b="1" dirty="0" err="1"/>
              <a:t>уровни</a:t>
            </a:r>
            <a:r>
              <a:rPr lang="en-US" b="1" dirty="0"/>
              <a:t> </a:t>
            </a:r>
            <a:r>
              <a:rPr lang="en-US" b="1" dirty="0" err="1"/>
              <a:t>интерфейса</a:t>
            </a:r>
            <a:r>
              <a:rPr lang="en-US" b="1" dirty="0"/>
              <a:t> к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фундаментальной</a:t>
            </a:r>
            <a:r>
              <a:rPr lang="en-US" b="1" dirty="0"/>
              <a:t> </a:t>
            </a:r>
            <a:r>
              <a:rPr lang="en-US" b="1" dirty="0" err="1"/>
              <a:t>идее</a:t>
            </a:r>
            <a:r>
              <a:rPr lang="en-US" b="1" dirty="0"/>
              <a:t> </a:t>
            </a:r>
            <a:r>
              <a:rPr lang="en-US" b="1" dirty="0" err="1"/>
              <a:t>потока</a:t>
            </a:r>
            <a:r>
              <a:rPr lang="en-US" b="1" dirty="0"/>
              <a:t> </a:t>
            </a:r>
            <a:r>
              <a:rPr lang="en-US" b="1" dirty="0" err="1"/>
              <a:t>исполнения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640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6445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говорили</a:t>
            </a:r>
            <a:r>
              <a:rPr lang="en-US" dirty="0"/>
              <a:t> о </a:t>
            </a:r>
            <a:r>
              <a:rPr lang="en-US" dirty="0" err="1"/>
              <a:t>потоках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об</a:t>
            </a:r>
            <a:r>
              <a:rPr lang="en-US" dirty="0"/>
              <a:t> </a:t>
            </a:r>
            <a:r>
              <a:rPr lang="en-US" dirty="0" err="1"/>
              <a:t>абстракции</a:t>
            </a:r>
            <a:r>
              <a:rPr lang="en-US" dirty="0"/>
              <a:t>,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?</a:t>
            </a:r>
          </a:p>
          <a:p>
            <a:r>
              <a:rPr lang="en-US" dirty="0" err="1"/>
              <a:t>Оказывается</a:t>
            </a:r>
            <a:r>
              <a:rPr lang="en-US" dirty="0"/>
              <a:t>, </a:t>
            </a:r>
            <a:r>
              <a:rPr lang="en-US" dirty="0" err="1"/>
              <a:t>нет</a:t>
            </a:r>
            <a:r>
              <a:rPr lang="en-US" dirty="0"/>
              <a:t>.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реализовать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 в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обычный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подключена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runtime,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абстракцию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помнить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регистры</a:t>
            </a:r>
            <a:r>
              <a:rPr lang="en-US" dirty="0"/>
              <a:t>, </a:t>
            </a:r>
            <a:r>
              <a:rPr lang="en-US" dirty="0" err="1"/>
              <a:t>указатель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, </a:t>
            </a:r>
            <a:r>
              <a:rPr lang="en-US" dirty="0" err="1"/>
              <a:t>необходимую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продолжения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Кроме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user-level thread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следующим</a:t>
            </a:r>
            <a:r>
              <a:rPr lang="en-US" dirty="0"/>
              <a:t>.</a:t>
            </a:r>
          </a:p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переключиться</a:t>
            </a:r>
            <a:r>
              <a:rPr lang="en-US" dirty="0"/>
              <a:t> с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такого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,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первого</a:t>
            </a:r>
            <a:r>
              <a:rPr lang="en-US" dirty="0"/>
              <a:t> и </a:t>
            </a:r>
            <a:r>
              <a:rPr lang="en-US" dirty="0" err="1"/>
              <a:t>восстанавливает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 </a:t>
            </a:r>
            <a:r>
              <a:rPr lang="en-US" dirty="0" err="1"/>
              <a:t>второго</a:t>
            </a:r>
            <a:r>
              <a:rPr lang="en-US" dirty="0"/>
              <a:t>. </a:t>
            </a:r>
            <a:r>
              <a:rPr lang="en-US" dirty="0" err="1"/>
              <a:t>Обращаться</a:t>
            </a:r>
            <a:r>
              <a:rPr lang="en-US" dirty="0"/>
              <a:t> к </a:t>
            </a:r>
            <a:r>
              <a:rPr lang="en-US" dirty="0" err="1"/>
              <a:t>ядру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самого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особенного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происходит</a:t>
            </a:r>
            <a:r>
              <a:rPr lang="en-US" dirty="0"/>
              <a:t>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</a:t>
            </a:r>
            <a:r>
              <a:rPr lang="en-US" b="1" dirty="0" err="1"/>
              <a:t>процесс</a:t>
            </a:r>
            <a:r>
              <a:rPr lang="en-US" b="1" dirty="0"/>
              <a:t> с </a:t>
            </a:r>
            <a:r>
              <a:rPr lang="en-US" b="1" dirty="0" err="1"/>
              <a:t>одной</a:t>
            </a:r>
            <a:r>
              <a:rPr lang="en-US" b="1" dirty="0"/>
              <a:t> </a:t>
            </a:r>
            <a:r>
              <a:rPr lang="en-US" b="1" dirty="0" err="1"/>
              <a:t>планируемой</a:t>
            </a:r>
            <a:r>
              <a:rPr lang="en-US" b="1" dirty="0"/>
              <a:t> </a:t>
            </a:r>
            <a:r>
              <a:rPr lang="en-US" b="1" dirty="0" err="1"/>
              <a:t>сущностью</a:t>
            </a:r>
            <a:r>
              <a:rPr lang="en-US" dirty="0"/>
              <a:t>, а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неё</a:t>
            </a:r>
            <a:r>
              <a:rPr lang="en-US" dirty="0"/>
              <a:t> </a:t>
            </a:r>
            <a:r>
              <a:rPr lang="en-US" dirty="0" err="1"/>
              <a:t>библиотека</a:t>
            </a:r>
            <a:r>
              <a:rPr lang="en-US" dirty="0"/>
              <a:t> </a:t>
            </a:r>
            <a:r>
              <a:rPr lang="en-US" dirty="0" err="1"/>
              <a:t>переключает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ядру</a:t>
            </a:r>
            <a:r>
              <a:rPr lang="en-US" dirty="0"/>
              <a:t> </a:t>
            </a:r>
            <a:r>
              <a:rPr lang="en-US" dirty="0" err="1"/>
              <a:t>неизвестно</a:t>
            </a:r>
            <a:r>
              <a:rPr lang="en-US" dirty="0"/>
              <a:t>.</a:t>
            </a:r>
          </a:p>
          <a:p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классическую</a:t>
            </a:r>
            <a:r>
              <a:rPr lang="en-US" dirty="0"/>
              <a:t> </a:t>
            </a:r>
            <a:r>
              <a:rPr lang="en-US" dirty="0" err="1"/>
              <a:t>схему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обозначают</a:t>
            </a:r>
            <a:r>
              <a:rPr lang="en-US" dirty="0"/>
              <a:t> </a:t>
            </a:r>
            <a:r>
              <a:rPr lang="en-US" b="1" dirty="0"/>
              <a:t>N:1</a:t>
            </a:r>
            <a:r>
              <a:rPr lang="en-US" dirty="0"/>
              <a:t>: N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,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7956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привлекательное</a:t>
            </a:r>
            <a:r>
              <a:rPr lang="en-US" dirty="0"/>
              <a:t> </a:t>
            </a:r>
            <a:r>
              <a:rPr lang="en-US" dirty="0" err="1"/>
              <a:t>свойство</a:t>
            </a:r>
            <a:r>
              <a:rPr lang="en-US" dirty="0"/>
              <a:t>: </a:t>
            </a:r>
            <a:r>
              <a:rPr lang="en-US" dirty="0" err="1"/>
              <a:t>многие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с </a:t>
            </a:r>
            <a:r>
              <a:rPr lang="en-US" dirty="0" err="1"/>
              <a:t>потоками</a:t>
            </a:r>
            <a:r>
              <a:rPr lang="en-US" dirty="0"/>
              <a:t> </a:t>
            </a:r>
            <a:r>
              <a:rPr lang="en-US" dirty="0" err="1"/>
              <a:t>становятся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ему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 и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таблицу</a:t>
            </a:r>
            <a:r>
              <a:rPr lang="en-US" dirty="0"/>
              <a:t>.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</a:t>
            </a:r>
            <a:r>
              <a:rPr lang="en-US" dirty="0" err="1"/>
              <a:t>планируемой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требуется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к </a:t>
            </a:r>
            <a:r>
              <a:rPr lang="en-US" dirty="0" err="1"/>
              <a:t>переключению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остаёмся</a:t>
            </a:r>
            <a:r>
              <a:rPr lang="en-US" dirty="0"/>
              <a:t> в </a:t>
            </a:r>
            <a:r>
              <a:rPr lang="en-US" dirty="0" err="1"/>
              <a:t>пользовательском</a:t>
            </a:r>
            <a:r>
              <a:rPr lang="en-US" dirty="0"/>
              <a:t> </a:t>
            </a:r>
            <a:r>
              <a:rPr lang="en-US" dirty="0" err="1"/>
              <a:t>пространстве</a:t>
            </a:r>
            <a:r>
              <a:rPr lang="en-US" dirty="0"/>
              <a:t>: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</a:t>
            </a:r>
            <a:r>
              <a:rPr lang="en-US" dirty="0" err="1"/>
              <a:t>восстанавливаем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и </a:t>
            </a:r>
            <a:r>
              <a:rPr lang="en-US" dirty="0" err="1"/>
              <a:t>продолжаем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конкретная</a:t>
            </a:r>
            <a:r>
              <a:rPr lang="en-US" dirty="0"/>
              <a:t> </a:t>
            </a:r>
            <a:r>
              <a:rPr lang="en-US" dirty="0" err="1"/>
              <a:t>цифра</a:t>
            </a:r>
            <a:r>
              <a:rPr lang="en-US" dirty="0"/>
              <a:t> </a:t>
            </a:r>
            <a:r>
              <a:rPr lang="en-US" dirty="0" err="1"/>
              <a:t>вроде</a:t>
            </a:r>
            <a:r>
              <a:rPr lang="en-US" dirty="0"/>
              <a:t> «в 10 </a:t>
            </a:r>
            <a:r>
              <a:rPr lang="en-US" dirty="0" err="1"/>
              <a:t>или</a:t>
            </a:r>
            <a:r>
              <a:rPr lang="en-US" dirty="0"/>
              <a:t> 100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быстрее</a:t>
            </a:r>
            <a:r>
              <a:rPr lang="en-US" dirty="0"/>
              <a:t>»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сильно</a:t>
            </a:r>
            <a:r>
              <a:rPr lang="en-US" dirty="0"/>
              <a:t>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реализации</a:t>
            </a:r>
            <a:r>
              <a:rPr lang="en-US" dirty="0"/>
              <a:t> и </a:t>
            </a:r>
            <a:r>
              <a:rPr lang="en-US" dirty="0" err="1"/>
              <a:t>оборудования</a:t>
            </a:r>
            <a:r>
              <a:rPr lang="en-US" dirty="0"/>
              <a:t>. </a:t>
            </a:r>
            <a:r>
              <a:rPr lang="en-US" dirty="0" err="1"/>
              <a:t>Важна</a:t>
            </a:r>
            <a:r>
              <a:rPr lang="en-US" dirty="0"/>
              <a:t> </a:t>
            </a:r>
            <a:r>
              <a:rPr lang="en-US" b="1" dirty="0" err="1"/>
              <a:t>причина</a:t>
            </a:r>
            <a:r>
              <a:rPr lang="en-US" b="1" dirty="0"/>
              <a:t> </a:t>
            </a:r>
            <a:r>
              <a:rPr lang="en-US" b="1" dirty="0" err="1"/>
              <a:t>потенциального</a:t>
            </a:r>
            <a:r>
              <a:rPr lang="en-US" b="1" dirty="0"/>
              <a:t> </a:t>
            </a:r>
            <a:r>
              <a:rPr lang="en-US" b="1" dirty="0" err="1"/>
              <a:t>выигрыша</a:t>
            </a:r>
            <a:r>
              <a:rPr lang="en-US" dirty="0"/>
              <a:t>: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управления</a:t>
            </a:r>
            <a:r>
              <a:rPr lang="en-US" dirty="0"/>
              <a:t> user-level threads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раз</a:t>
            </a:r>
            <a:r>
              <a:rPr lang="en-US" dirty="0"/>
              <a:t> </a:t>
            </a:r>
            <a:r>
              <a:rPr lang="en-US" dirty="0" err="1"/>
              <a:t>привлекать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. 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собственную</a:t>
            </a:r>
            <a:r>
              <a:rPr lang="en-US" dirty="0"/>
              <a:t> </a:t>
            </a:r>
            <a:r>
              <a:rPr lang="en-US" dirty="0" err="1"/>
              <a:t>политику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, </a:t>
            </a:r>
            <a:r>
              <a:rPr lang="en-US" dirty="0" err="1"/>
              <a:t>подходящую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приложению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знать</a:t>
            </a:r>
            <a:r>
              <a:rPr lang="en-US" dirty="0"/>
              <a:t> о </a:t>
            </a:r>
            <a:r>
              <a:rPr lang="en-US" dirty="0" err="1"/>
              <a:t>задачах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универсальный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ОС.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схема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показывает</a:t>
            </a:r>
            <a:r>
              <a:rPr lang="en-US" dirty="0"/>
              <a:t> </a:t>
            </a:r>
            <a:r>
              <a:rPr lang="en-US" dirty="0" err="1"/>
              <a:t>фундаментальное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наши</a:t>
            </a:r>
            <a:r>
              <a:rPr lang="en-US" dirty="0"/>
              <a:t> N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b="1" dirty="0" err="1"/>
              <a:t>одну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основные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N:1.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050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А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посмотрим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недостаток</a:t>
            </a:r>
            <a:r>
              <a:rPr lang="en-US" dirty="0"/>
              <a:t> </a:t>
            </a:r>
            <a:r>
              <a:rPr lang="en-US" dirty="0" err="1"/>
              <a:t>этой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.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выполняется</a:t>
            </a:r>
            <a:r>
              <a:rPr lang="en-US" dirty="0"/>
              <a:t>, а </a:t>
            </a:r>
            <a:r>
              <a:rPr lang="en-US" dirty="0" err="1"/>
              <a:t>второй</a:t>
            </a:r>
            <a:r>
              <a:rPr lang="en-US" dirty="0"/>
              <a:t> и </a:t>
            </a:r>
            <a:r>
              <a:rPr lang="en-US" dirty="0" err="1"/>
              <a:t>третий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 к </a:t>
            </a:r>
            <a:r>
              <a:rPr lang="en-US" dirty="0" err="1"/>
              <a:t>выполнению</a:t>
            </a:r>
            <a:r>
              <a:rPr lang="en-US" dirty="0"/>
              <a:t>.</a:t>
            </a:r>
          </a:p>
          <a:p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блокирующую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.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?</a:t>
            </a:r>
          </a:p>
          <a:p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T1, T2 и T3.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, </a:t>
            </a:r>
            <a:r>
              <a:rPr lang="en-US" dirty="0" err="1"/>
              <a:t>представляющую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 </a:t>
            </a:r>
            <a:r>
              <a:rPr lang="en-US" dirty="0" err="1"/>
              <a:t>блокируется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сказать</a:t>
            </a:r>
            <a:r>
              <a:rPr lang="en-US" dirty="0"/>
              <a:t>: «</a:t>
            </a:r>
            <a:r>
              <a:rPr lang="en-US" dirty="0" err="1"/>
              <a:t>Хорошо</a:t>
            </a:r>
            <a:r>
              <a:rPr lang="en-US" dirty="0"/>
              <a:t>, </a:t>
            </a:r>
            <a:r>
              <a:rPr lang="en-US" dirty="0" err="1"/>
              <a:t>тогда</a:t>
            </a:r>
            <a:r>
              <a:rPr lang="en-US" dirty="0"/>
              <a:t> я </a:t>
            </a:r>
            <a:r>
              <a:rPr lang="en-US" dirty="0" err="1"/>
              <a:t>запущу</a:t>
            </a:r>
            <a:r>
              <a:rPr lang="en-US" dirty="0"/>
              <a:t> T2».</a:t>
            </a:r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T2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.</a:t>
            </a:r>
          </a:p>
          <a:p>
            <a:r>
              <a:rPr lang="en-US" dirty="0"/>
              <a:t>В </a:t>
            </a:r>
            <a:r>
              <a:rPr lang="en-US" dirty="0" err="1"/>
              <a:t>результате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блокирующий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остановить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b="1" dirty="0" err="1"/>
              <a:t>всех</a:t>
            </a:r>
            <a:r>
              <a:rPr lang="en-US" dirty="0"/>
              <a:t> user-level threads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и </a:t>
            </a:r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фундаментальная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. </a:t>
            </a:r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компьютер</a:t>
            </a:r>
            <a:r>
              <a:rPr lang="en-US" dirty="0"/>
              <a:t> с </a:t>
            </a:r>
            <a:r>
              <a:rPr lang="en-US" dirty="0" err="1"/>
              <a:t>четырьмя</a:t>
            </a:r>
            <a:r>
              <a:rPr lang="en-US" dirty="0"/>
              <a:t> </a:t>
            </a:r>
            <a:r>
              <a:rPr lang="en-US" dirty="0" err="1"/>
              <a:t>процессорными</a:t>
            </a:r>
            <a:r>
              <a:rPr lang="en-US" dirty="0"/>
              <a:t> </a:t>
            </a:r>
            <a:r>
              <a:rPr lang="en-US" dirty="0" err="1"/>
              <a:t>ядрами</a:t>
            </a:r>
            <a:r>
              <a:rPr lang="en-US" dirty="0"/>
              <a:t>. </a:t>
            </a:r>
            <a:r>
              <a:rPr lang="en-US" dirty="0" err="1"/>
              <a:t>Наш</a:t>
            </a:r>
            <a:r>
              <a:rPr lang="en-US" dirty="0"/>
              <a:t> runtime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сотне</a:t>
            </a:r>
            <a:r>
              <a:rPr lang="en-US" dirty="0"/>
              <a:t> </a:t>
            </a:r>
            <a:r>
              <a:rPr lang="en-US" dirty="0" err="1"/>
              <a:t>готовых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по-прежнему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Следовательно</a:t>
            </a:r>
            <a:r>
              <a:rPr lang="en-US" dirty="0"/>
              <a:t>,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предоставить</a:t>
            </a:r>
            <a:r>
              <a:rPr lang="en-US" dirty="0"/>
              <a:t> </a:t>
            </a:r>
            <a:r>
              <a:rPr lang="en-US" dirty="0" err="1"/>
              <a:t>ей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процессор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T1, T2 и T3,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получаем</a:t>
            </a:r>
            <a:r>
              <a:rPr lang="en-US" dirty="0"/>
              <a:t> </a:t>
            </a:r>
            <a:r>
              <a:rPr lang="en-US" dirty="0" err="1"/>
              <a:t>конкурентность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можем</a:t>
            </a:r>
            <a:r>
              <a:rPr lang="en-US" b="1" dirty="0"/>
              <a:t> </a:t>
            </a:r>
            <a:r>
              <a:rPr lang="en-US" b="1" dirty="0" err="1"/>
              <a:t>выполнять</a:t>
            </a:r>
            <a:r>
              <a:rPr lang="en-US" b="1" dirty="0"/>
              <a:t> </a:t>
            </a:r>
            <a:r>
              <a:rPr lang="en-US" b="1" dirty="0" err="1"/>
              <a:t>их</a:t>
            </a:r>
            <a:r>
              <a:rPr lang="en-US" b="1" dirty="0"/>
              <a:t> </a:t>
            </a:r>
            <a:r>
              <a:rPr lang="en-US" b="1" dirty="0" err="1"/>
              <a:t>параллельно</a:t>
            </a:r>
            <a:r>
              <a:rPr lang="en-US" b="1" dirty="0"/>
              <a:t> </a:t>
            </a:r>
            <a:r>
              <a:rPr lang="en-US" b="1" dirty="0" err="1"/>
              <a:t>на</a:t>
            </a:r>
            <a:r>
              <a:rPr lang="en-US" b="1" dirty="0"/>
              <a:t> </a:t>
            </a:r>
            <a:r>
              <a:rPr lang="en-US" b="1" dirty="0" err="1"/>
              <a:t>разных</a:t>
            </a:r>
            <a:r>
              <a:rPr lang="en-US" b="1" dirty="0"/>
              <a:t> </a:t>
            </a:r>
            <a:r>
              <a:rPr lang="en-US" b="1" dirty="0" err="1"/>
              <a:t>ядрах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 — </a:t>
            </a:r>
            <a:r>
              <a:rPr lang="en-US" b="1" dirty="0" err="1"/>
              <a:t>планировщик</a:t>
            </a:r>
            <a:r>
              <a:rPr lang="en-US" b="1" dirty="0"/>
              <a:t> </a:t>
            </a:r>
            <a:r>
              <a:rPr lang="en-US" b="1" dirty="0" err="1"/>
              <a:t>ядра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знает</a:t>
            </a:r>
            <a:r>
              <a:rPr lang="en-US" b="1" dirty="0"/>
              <a:t> о </a:t>
            </a:r>
            <a:r>
              <a:rPr lang="en-US" b="1" dirty="0" err="1"/>
              <a:t>пользовательских</a:t>
            </a:r>
            <a:r>
              <a:rPr lang="en-US" b="1" dirty="0"/>
              <a:t> </a:t>
            </a:r>
            <a:r>
              <a:rPr lang="en-US" b="1" dirty="0" err="1"/>
              <a:t>потоках</a:t>
            </a:r>
            <a:r>
              <a:rPr lang="en-US" dirty="0"/>
              <a:t>.</a:t>
            </a:r>
          </a:p>
          <a:p>
            <a:r>
              <a:rPr lang="en-US" dirty="0"/>
              <a:t>И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гораздо</a:t>
            </a:r>
            <a:r>
              <a:rPr lang="en-US" dirty="0"/>
              <a:t> </a:t>
            </a:r>
            <a:r>
              <a:rPr lang="en-US" dirty="0" err="1"/>
              <a:t>важнее</a:t>
            </a:r>
            <a:r>
              <a:rPr lang="en-US" dirty="0"/>
              <a:t> </a:t>
            </a:r>
            <a:r>
              <a:rPr lang="en-US" dirty="0" err="1"/>
              <a:t>запомнить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список</a:t>
            </a:r>
            <a:r>
              <a:rPr lang="en-US" dirty="0"/>
              <a:t> </a:t>
            </a:r>
            <a:r>
              <a:rPr lang="en-US" dirty="0" err="1"/>
              <a:t>недостатков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9834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блокирующих</a:t>
            </a:r>
            <a:r>
              <a:rPr lang="en-US" dirty="0"/>
              <a:t> </a:t>
            </a:r>
            <a:r>
              <a:rPr lang="en-US" dirty="0" err="1"/>
              <a:t>операций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отказываясь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user-level threads?</a:t>
            </a:r>
          </a:p>
          <a:p>
            <a:r>
              <a:rPr lang="en-US" dirty="0" err="1"/>
              <a:t>Частично</a:t>
            </a:r>
            <a:r>
              <a:rPr lang="en-US" dirty="0"/>
              <a:t> — </a:t>
            </a:r>
            <a:r>
              <a:rPr lang="en-US" dirty="0" err="1"/>
              <a:t>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стараться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надолго</a:t>
            </a:r>
            <a:r>
              <a:rPr lang="en-US" dirty="0"/>
              <a:t> </a:t>
            </a:r>
            <a:r>
              <a:rPr lang="en-US" dirty="0" err="1"/>
              <a:t>заблокируют</a:t>
            </a:r>
            <a:r>
              <a:rPr lang="en-US" dirty="0"/>
              <a:t> </a:t>
            </a:r>
            <a:r>
              <a:rPr lang="en-US" dirty="0" err="1"/>
              <a:t>единственную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блокирующего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неблокирующий</a:t>
            </a:r>
            <a:r>
              <a:rPr lang="en-US" dirty="0"/>
              <a:t> </a:t>
            </a:r>
            <a:r>
              <a:rPr lang="en-US" dirty="0" err="1"/>
              <a:t>ввод-вывод</a:t>
            </a:r>
            <a:r>
              <a:rPr lang="en-US" dirty="0"/>
              <a:t> и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ожидания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Тогда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готовы</a:t>
            </a:r>
            <a:r>
              <a:rPr lang="en-US" dirty="0"/>
              <a:t>, runtime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откладывает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и </a:t>
            </a:r>
            <a:r>
              <a:rPr lang="en-US" dirty="0" err="1"/>
              <a:t>запускает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.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связь</a:t>
            </a:r>
            <a:r>
              <a:rPr lang="en-US" dirty="0"/>
              <a:t> с </a:t>
            </a:r>
            <a:r>
              <a:rPr lang="en-US" dirty="0" err="1"/>
              <a:t>событийным</a:t>
            </a:r>
            <a:r>
              <a:rPr lang="en-US" dirty="0"/>
              <a:t> </a:t>
            </a:r>
            <a:r>
              <a:rPr lang="en-US" dirty="0" err="1"/>
              <a:t>вводом-выводом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я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смешивал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: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epoll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kqueue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event loop </a:t>
            </a:r>
            <a:r>
              <a:rPr lang="en-US" b="1" dirty="0" err="1"/>
              <a:t>сами</a:t>
            </a:r>
            <a:r>
              <a:rPr lang="en-US" b="1" dirty="0"/>
              <a:t> </a:t>
            </a:r>
            <a:r>
              <a:rPr lang="en-US" b="1" dirty="0" err="1"/>
              <a:t>по</a:t>
            </a:r>
            <a:r>
              <a:rPr lang="en-US" b="1" dirty="0"/>
              <a:t> </a:t>
            </a:r>
            <a:r>
              <a:rPr lang="en-US" b="1" dirty="0" err="1"/>
              <a:t>себе</a:t>
            </a:r>
            <a:r>
              <a:rPr lang="en-US" b="1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являются</a:t>
            </a:r>
            <a:r>
              <a:rPr lang="en-US" b="1" dirty="0"/>
              <a:t> user-level threads</a:t>
            </a:r>
            <a:r>
              <a:rPr lang="en-US" dirty="0"/>
              <a:t>. Это </a:t>
            </a:r>
            <a:r>
              <a:rPr lang="en-US" dirty="0" err="1"/>
              <a:t>механизмы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конкурентного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способом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уменьшить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блокировок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проблему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 </a:t>
            </a:r>
            <a:r>
              <a:rPr lang="en-US" dirty="0" err="1"/>
              <a:t>невозможно</a:t>
            </a:r>
            <a:r>
              <a:rPr lang="en-US" dirty="0"/>
              <a:t>: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все</a:t>
            </a:r>
            <a:r>
              <a:rPr lang="en-US" dirty="0"/>
              <a:t> N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отображаются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равно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интересный</a:t>
            </a:r>
            <a:r>
              <a:rPr lang="en-US" dirty="0"/>
              <a:t> </a:t>
            </a:r>
            <a:r>
              <a:rPr lang="en-US" dirty="0" err="1"/>
              <a:t>конфликт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и </a:t>
            </a:r>
            <a:r>
              <a:rPr lang="en-US" dirty="0" err="1"/>
              <a:t>дешёвых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хотим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процессоров</a:t>
            </a:r>
            <a:r>
              <a:rPr lang="en-US" dirty="0"/>
              <a:t> и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системного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останавливала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остальных</a:t>
            </a:r>
            <a:r>
              <a:rPr lang="en-US" dirty="0"/>
              <a:t>.</a:t>
            </a:r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естественных</a:t>
            </a:r>
            <a:r>
              <a:rPr lang="en-US" dirty="0"/>
              <a:t> </a:t>
            </a:r>
            <a:r>
              <a:rPr lang="en-US" dirty="0" err="1"/>
              <a:t>пути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Первый</a:t>
            </a:r>
            <a:r>
              <a:rPr lang="en-US" dirty="0"/>
              <a:t> — </a:t>
            </a:r>
            <a:r>
              <a:rPr lang="en-US" dirty="0" err="1"/>
              <a:t>сделать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видимым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Это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b="1" dirty="0"/>
              <a:t>1:1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.</a:t>
            </a:r>
          </a:p>
          <a:p>
            <a:r>
              <a:rPr lang="en-US" dirty="0" err="1"/>
              <a:t>Второй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и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Это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b="1" dirty="0"/>
              <a:t>M:N</a:t>
            </a:r>
            <a:r>
              <a:rPr lang="en-US" dirty="0"/>
              <a:t>, </a:t>
            </a:r>
            <a:r>
              <a:rPr lang="en-US" dirty="0" err="1"/>
              <a:t>которую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чуть</a:t>
            </a:r>
            <a:r>
              <a:rPr lang="en-US" dirty="0"/>
              <a:t> </a:t>
            </a:r>
            <a:r>
              <a:rPr lang="en-US" dirty="0" err="1"/>
              <a:t>позже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17826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67100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</a:t>
            </a:r>
            <a:r>
              <a:rPr lang="en-US" dirty="0" err="1"/>
              <a:t>модели</a:t>
            </a:r>
            <a:r>
              <a:rPr lang="en-US" dirty="0"/>
              <a:t> N:1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видело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планируемую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 и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знало</a:t>
            </a:r>
            <a:r>
              <a:rPr lang="en-US" dirty="0"/>
              <a:t> о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потоках</a:t>
            </a:r>
            <a:r>
              <a:rPr lang="en-US" dirty="0"/>
              <a:t>.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рассмотрим</a:t>
            </a:r>
            <a:r>
              <a:rPr lang="en-US" dirty="0"/>
              <a:t> </a:t>
            </a:r>
            <a:r>
              <a:rPr lang="en-US" dirty="0" err="1"/>
              <a:t>противоположный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известен</a:t>
            </a:r>
            <a:r>
              <a:rPr lang="en-US" b="1" dirty="0"/>
              <a:t> </a:t>
            </a:r>
            <a:r>
              <a:rPr lang="en-US" b="1" dirty="0" err="1"/>
              <a:t>операционной</a:t>
            </a:r>
            <a:r>
              <a:rPr lang="en-US" b="1" dirty="0"/>
              <a:t> </a:t>
            </a:r>
            <a:r>
              <a:rPr lang="en-US" b="1" dirty="0" err="1"/>
              <a:t>системе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содержит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о </a:t>
            </a:r>
            <a:r>
              <a:rPr lang="en-US" dirty="0" err="1"/>
              <a:t>трёх</a:t>
            </a:r>
            <a:r>
              <a:rPr lang="en-US" dirty="0"/>
              <a:t> </a:t>
            </a:r>
            <a:r>
              <a:rPr lang="en-US" dirty="0" err="1"/>
              <a:t>отдельных</a:t>
            </a:r>
            <a:r>
              <a:rPr lang="en-US" dirty="0"/>
              <a:t> </a:t>
            </a:r>
            <a:r>
              <a:rPr lang="en-US" dirty="0" err="1"/>
              <a:t>единицах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хранит</a:t>
            </a:r>
            <a:r>
              <a:rPr lang="en-US" dirty="0"/>
              <a:t> </a:t>
            </a:r>
            <a:r>
              <a:rPr lang="en-US" dirty="0" err="1"/>
              <a:t>контекст</a:t>
            </a:r>
            <a:r>
              <a:rPr lang="en-US" dirty="0"/>
              <a:t>, </a:t>
            </a:r>
            <a:r>
              <a:rPr lang="en-US" dirty="0" err="1"/>
              <a:t>состояние</a:t>
            </a:r>
            <a:r>
              <a:rPr lang="en-US" dirty="0"/>
              <a:t> — </a:t>
            </a:r>
            <a:r>
              <a:rPr lang="en-US" dirty="0" err="1"/>
              <a:t>например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running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 — и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необходимые</a:t>
            </a:r>
            <a:r>
              <a:rPr lang="en-US" dirty="0"/>
              <a:t> </a:t>
            </a:r>
            <a:r>
              <a:rPr lang="en-US" dirty="0" err="1"/>
              <a:t>планировщику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Такую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обозначают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b="1" dirty="0"/>
              <a:t>1:1</a:t>
            </a:r>
            <a:r>
              <a:rPr lang="en-US" dirty="0"/>
              <a:t>: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соответствует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, </a:t>
            </a:r>
            <a:r>
              <a:rPr lang="en-US" dirty="0" err="1"/>
              <a:t>планируемая</a:t>
            </a:r>
            <a:r>
              <a:rPr lang="en-US" dirty="0"/>
              <a:t> </a:t>
            </a:r>
            <a:r>
              <a:rPr lang="en-US" dirty="0" err="1"/>
              <a:t>ядром</a:t>
            </a:r>
            <a:r>
              <a:rPr lang="en-US" dirty="0"/>
              <a:t>.</a:t>
            </a:r>
          </a:p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процессоре</a:t>
            </a:r>
            <a:r>
              <a:rPr lang="en-US" dirty="0"/>
              <a:t> и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переключить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устраняет</a:t>
            </a:r>
            <a:r>
              <a:rPr lang="en-US" dirty="0"/>
              <a:t> </a:t>
            </a:r>
            <a:r>
              <a:rPr lang="en-US" dirty="0" err="1"/>
              <a:t>главное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 N:1: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целиком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отдельные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20684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понятно</a:t>
            </a:r>
            <a:r>
              <a:rPr lang="en-US" dirty="0"/>
              <a:t>, </a:t>
            </a:r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эта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N:1.</a:t>
            </a:r>
          </a:p>
          <a:p>
            <a:endParaRPr lang="en-US" dirty="0"/>
          </a:p>
          <a:p>
            <a:r>
              <a:rPr lang="en-US" dirty="0" err="1"/>
              <a:t>Предположим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T1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блокирующий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. </a:t>
            </a:r>
            <a:r>
              <a:rPr lang="en-US" dirty="0" err="1"/>
              <a:t>Поскольку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о T1,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перевести</a:t>
            </a:r>
            <a:r>
              <a:rPr lang="en-US" dirty="0"/>
              <a:t> </a:t>
            </a:r>
            <a:r>
              <a:rPr lang="en-US" b="1" dirty="0" err="1"/>
              <a:t>только</a:t>
            </a:r>
            <a:r>
              <a:rPr lang="en-US" b="1" dirty="0"/>
              <a:t> </a:t>
            </a:r>
            <a:r>
              <a:rPr lang="en-US" b="1" dirty="0" err="1"/>
              <a:t>этот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dirty="0"/>
              <a:t> в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blocked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T2 и T3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ready</a:t>
            </a:r>
            <a:r>
              <a:rPr lang="en-US" dirty="0"/>
              <a:t>, и </a:t>
            </a:r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относится</a:t>
            </a:r>
            <a:r>
              <a:rPr lang="en-US" dirty="0"/>
              <a:t> и к </a:t>
            </a:r>
            <a:r>
              <a:rPr lang="en-US" dirty="0" err="1"/>
              <a:t>ожиданию</a:t>
            </a:r>
            <a:r>
              <a:rPr lang="en-US" dirty="0"/>
              <a:t> </a:t>
            </a:r>
            <a:r>
              <a:rPr lang="en-US" dirty="0" err="1"/>
              <a:t>других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продолжать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из-за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остановку</a:t>
            </a:r>
            <a:r>
              <a:rPr lang="en-US" dirty="0"/>
              <a:t> </a:t>
            </a:r>
            <a:r>
              <a:rPr lang="en-US" dirty="0" err="1"/>
              <a:t>всего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r>
              <a:rPr lang="en-US" dirty="0" err="1"/>
              <a:t>Вторая</a:t>
            </a:r>
            <a:r>
              <a:rPr lang="en-US" dirty="0"/>
              <a:t> </a:t>
            </a:r>
            <a:r>
              <a:rPr lang="en-US" dirty="0" err="1"/>
              <a:t>важная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— </a:t>
            </a:r>
            <a:r>
              <a:rPr lang="en-US" dirty="0" err="1"/>
              <a:t>настоящий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r>
              <a:rPr lang="en-US" dirty="0"/>
              <a:t>.</a:t>
            </a:r>
          </a:p>
          <a:p>
            <a:r>
              <a:rPr lang="en-US" dirty="0" err="1"/>
              <a:t>Если</a:t>
            </a:r>
            <a:r>
              <a:rPr lang="en-US" dirty="0"/>
              <a:t> в </a:t>
            </a:r>
            <a:r>
              <a:rPr lang="en-US" dirty="0" err="1"/>
              <a:t>системе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назначить</a:t>
            </a:r>
            <a:r>
              <a:rPr lang="en-US" dirty="0"/>
              <a:t> T1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, T2 —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другое</a:t>
            </a:r>
            <a:r>
              <a:rPr lang="en-US" dirty="0"/>
              <a:t>, T3 —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третье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N:1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быстро</a:t>
            </a:r>
            <a:r>
              <a:rPr lang="en-US" dirty="0"/>
              <a:t> </a:t>
            </a:r>
            <a:r>
              <a:rPr lang="en-US" dirty="0" err="1"/>
              <a:t>переключаться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пользовательскими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выполнялся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них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,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главных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1:1 </a:t>
            </a:r>
            <a:r>
              <a:rPr lang="en-US" dirty="0" err="1"/>
              <a:t>имеют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причину</a:t>
            </a:r>
            <a:r>
              <a:rPr lang="en-US" dirty="0"/>
              <a:t>: </a:t>
            </a:r>
            <a:r>
              <a:rPr lang="en-US" b="1" dirty="0" err="1"/>
              <a:t>каждый</a:t>
            </a:r>
            <a:r>
              <a:rPr lang="en-US" b="1" dirty="0"/>
              <a:t>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стал</a:t>
            </a:r>
            <a:r>
              <a:rPr lang="en-US" b="1" dirty="0"/>
              <a:t> </a:t>
            </a:r>
            <a:r>
              <a:rPr lang="en-US" b="1" dirty="0" err="1"/>
              <a:t>самостоятельной</a:t>
            </a:r>
            <a:r>
              <a:rPr lang="en-US" b="1" dirty="0"/>
              <a:t> </a:t>
            </a:r>
            <a:r>
              <a:rPr lang="en-US" b="1" dirty="0" err="1"/>
              <a:t>сущностью</a:t>
            </a:r>
            <a:r>
              <a:rPr lang="en-US" b="1" dirty="0"/>
              <a:t> </a:t>
            </a:r>
            <a:r>
              <a:rPr lang="en-US" b="1" dirty="0" err="1"/>
              <a:t>для</a:t>
            </a:r>
            <a:r>
              <a:rPr lang="en-US" b="1" dirty="0"/>
              <a:t> </a:t>
            </a:r>
            <a:r>
              <a:rPr lang="en-US" b="1" dirty="0" err="1"/>
              <a:t>планировщика</a:t>
            </a:r>
            <a:r>
              <a:rPr lang="en-US" b="1" dirty="0"/>
              <a:t> ОС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0148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бесплатны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N:1 </a:t>
            </a:r>
            <a:r>
              <a:rPr lang="en-US" dirty="0" err="1"/>
              <a:t>создание</a:t>
            </a:r>
            <a:r>
              <a:rPr lang="en-US" dirty="0"/>
              <a:t> </a:t>
            </a:r>
            <a:r>
              <a:rPr lang="en-US" dirty="0" err="1"/>
              <a:t>пользовательского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могло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практически</a:t>
            </a:r>
            <a:r>
              <a:rPr lang="en-US" dirty="0"/>
              <a:t> </a:t>
            </a:r>
            <a:r>
              <a:rPr lang="en-US" dirty="0" err="1"/>
              <a:t>обычной</a:t>
            </a:r>
            <a:r>
              <a:rPr lang="en-US" dirty="0"/>
              <a:t> </a:t>
            </a:r>
            <a:r>
              <a:rPr lang="en-US" dirty="0" err="1"/>
              <a:t>библиотечной</a:t>
            </a:r>
            <a:r>
              <a:rPr lang="en-US" dirty="0"/>
              <a:t> </a:t>
            </a:r>
            <a:r>
              <a:rPr lang="en-US" dirty="0" err="1"/>
              <a:t>операцией</a:t>
            </a:r>
            <a:r>
              <a:rPr lang="en-US" dirty="0"/>
              <a:t>: </a:t>
            </a:r>
            <a:r>
              <a:rPr lang="en-US" dirty="0" err="1"/>
              <a:t>выделить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,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 в </a:t>
            </a:r>
            <a:r>
              <a:rPr lang="en-US" dirty="0" err="1"/>
              <a:t>таблице</a:t>
            </a:r>
            <a:r>
              <a:rPr lang="en-US" dirty="0"/>
              <a:t> и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runtime.</a:t>
            </a:r>
          </a:p>
          <a:p>
            <a:r>
              <a:rPr lang="en-US" dirty="0"/>
              <a:t>В </a:t>
            </a:r>
            <a:r>
              <a:rPr lang="en-US" dirty="0" err="1"/>
              <a:t>модели</a:t>
            </a:r>
            <a:r>
              <a:rPr lang="en-US" dirty="0"/>
              <a:t> 1:1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стать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, </a:t>
            </a:r>
            <a:r>
              <a:rPr lang="en-US" dirty="0" err="1"/>
              <a:t>добавить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в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планировщика</a:t>
            </a:r>
            <a:r>
              <a:rPr lang="en-US" dirty="0"/>
              <a:t> и в </a:t>
            </a:r>
            <a:r>
              <a:rPr lang="en-US" dirty="0" err="1"/>
              <a:t>дальнейшем</a:t>
            </a:r>
            <a:r>
              <a:rPr lang="en-US" dirty="0"/>
              <a:t> </a:t>
            </a:r>
            <a:r>
              <a:rPr lang="en-US" dirty="0" err="1"/>
              <a:t>учитывать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планировании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создание</a:t>
            </a:r>
            <a:r>
              <a:rPr lang="en-US" dirty="0"/>
              <a:t>, </a:t>
            </a:r>
            <a:r>
              <a:rPr lang="en-US" dirty="0" err="1"/>
              <a:t>уничтожение</a:t>
            </a:r>
            <a:r>
              <a:rPr lang="en-US" dirty="0"/>
              <a:t> и </a:t>
            </a:r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таких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дороже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чисто</a:t>
            </a:r>
            <a:r>
              <a:rPr lang="en-US" dirty="0"/>
              <a:t> </a:t>
            </a:r>
            <a:r>
              <a:rPr lang="en-US" dirty="0" err="1"/>
              <a:t>пользовательскими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заметно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хочет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десятки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сотни</a:t>
            </a:r>
            <a:r>
              <a:rPr lang="en-US" dirty="0"/>
              <a:t> </a:t>
            </a:r>
            <a:r>
              <a:rPr lang="en-US" dirty="0" err="1"/>
              <a:t>тысяч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маленьких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такое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kernel threads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оказаться</a:t>
            </a:r>
            <a:r>
              <a:rPr lang="en-US" dirty="0"/>
              <a:t> </a:t>
            </a:r>
            <a:r>
              <a:rPr lang="en-US" dirty="0" err="1"/>
              <a:t>невыгодно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запоминать</a:t>
            </a:r>
            <a:r>
              <a:rPr lang="en-US" dirty="0"/>
              <a:t> </a:t>
            </a:r>
            <a:r>
              <a:rPr lang="en-US" dirty="0" err="1"/>
              <a:t>конкретные</a:t>
            </a:r>
            <a:r>
              <a:rPr lang="en-US" dirty="0"/>
              <a:t> </a:t>
            </a:r>
            <a:r>
              <a:rPr lang="en-US" dirty="0" err="1"/>
              <a:t>коэффициенты</a:t>
            </a:r>
            <a:r>
              <a:rPr lang="en-US" dirty="0"/>
              <a:t> </a:t>
            </a:r>
            <a:r>
              <a:rPr lang="en-US" dirty="0" err="1"/>
              <a:t>производительности</a:t>
            </a:r>
            <a:r>
              <a:rPr lang="en-US" dirty="0"/>
              <a:t>.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зависят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</a:t>
            </a:r>
          </a:p>
          <a:p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 </a:t>
            </a:r>
            <a:r>
              <a:rPr lang="en-US" dirty="0" err="1"/>
              <a:t>принцип</a:t>
            </a:r>
            <a:r>
              <a:rPr lang="en-US" dirty="0"/>
              <a:t>: </a:t>
            </a:r>
            <a:r>
              <a:rPr lang="en-US" b="1" dirty="0" err="1"/>
              <a:t>чем</a:t>
            </a:r>
            <a:r>
              <a:rPr lang="en-US" b="1" dirty="0"/>
              <a:t> </a:t>
            </a:r>
            <a:r>
              <a:rPr lang="en-US" b="1" dirty="0" err="1"/>
              <a:t>больше</a:t>
            </a:r>
            <a:r>
              <a:rPr lang="en-US" b="1" dirty="0"/>
              <a:t> </a:t>
            </a:r>
            <a:r>
              <a:rPr lang="en-US" b="1" dirty="0" err="1"/>
              <a:t>работы</a:t>
            </a:r>
            <a:r>
              <a:rPr lang="en-US" b="1" dirty="0"/>
              <a:t> </a:t>
            </a:r>
            <a:r>
              <a:rPr lang="en-US" b="1" dirty="0" err="1"/>
              <a:t>мы</a:t>
            </a:r>
            <a:r>
              <a:rPr lang="en-US" b="1" dirty="0"/>
              <a:t> </a:t>
            </a:r>
            <a:r>
              <a:rPr lang="en-US" b="1" dirty="0" err="1"/>
              <a:t>передаём</a:t>
            </a:r>
            <a:r>
              <a:rPr lang="en-US" b="1" dirty="0"/>
              <a:t> </a:t>
            </a:r>
            <a:r>
              <a:rPr lang="en-US" b="1" dirty="0" err="1"/>
              <a:t>ядру</a:t>
            </a:r>
            <a:r>
              <a:rPr lang="en-US" b="1" dirty="0"/>
              <a:t>, </a:t>
            </a:r>
            <a:r>
              <a:rPr lang="en-US" b="1" dirty="0" err="1"/>
              <a:t>тем</a:t>
            </a:r>
            <a:r>
              <a:rPr lang="en-US" b="1" dirty="0"/>
              <a:t> </a:t>
            </a:r>
            <a:r>
              <a:rPr lang="en-US" b="1" dirty="0" err="1"/>
              <a:t>больше</a:t>
            </a:r>
            <a:r>
              <a:rPr lang="en-US" b="1" dirty="0"/>
              <a:t> </a:t>
            </a:r>
            <a:r>
              <a:rPr lang="en-US" b="1" dirty="0" err="1"/>
              <a:t>возможностей</a:t>
            </a:r>
            <a:r>
              <a:rPr lang="en-US" b="1" dirty="0"/>
              <a:t> </a:t>
            </a:r>
            <a:r>
              <a:rPr lang="en-US" b="1" dirty="0" err="1"/>
              <a:t>оно</a:t>
            </a:r>
            <a:r>
              <a:rPr lang="en-US" b="1" dirty="0"/>
              <a:t> </a:t>
            </a:r>
            <a:r>
              <a:rPr lang="en-US" b="1" dirty="0" err="1"/>
              <a:t>получает</a:t>
            </a:r>
            <a:r>
              <a:rPr lang="en-US" b="1" dirty="0"/>
              <a:t>, </a:t>
            </a:r>
            <a:r>
              <a:rPr lang="en-US" b="1" dirty="0" err="1"/>
              <a:t>но</a:t>
            </a:r>
            <a:r>
              <a:rPr lang="en-US" b="1" dirty="0"/>
              <a:t> </a:t>
            </a:r>
            <a:r>
              <a:rPr lang="en-US" b="1" dirty="0" err="1"/>
              <a:t>тем</a:t>
            </a:r>
            <a:r>
              <a:rPr lang="en-US" b="1" dirty="0"/>
              <a:t> </a:t>
            </a:r>
            <a:r>
              <a:rPr lang="en-US" b="1" dirty="0" err="1"/>
              <a:t>выше</a:t>
            </a:r>
            <a:r>
              <a:rPr lang="en-US" b="1" dirty="0"/>
              <a:t> </a:t>
            </a:r>
            <a:r>
              <a:rPr lang="en-US" b="1" dirty="0" err="1"/>
              <a:t>стоимость</a:t>
            </a:r>
            <a:r>
              <a:rPr lang="en-US" b="1" dirty="0"/>
              <a:t> </a:t>
            </a:r>
            <a:r>
              <a:rPr lang="en-US" b="1" dirty="0" err="1"/>
              <a:t>управления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противоположность</a:t>
            </a:r>
            <a:r>
              <a:rPr lang="en-US" dirty="0"/>
              <a:t> N:1. </a:t>
            </a:r>
            <a:r>
              <a:rPr lang="en-US" dirty="0" err="1"/>
              <a:t>Там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знало</a:t>
            </a:r>
            <a:r>
              <a:rPr lang="en-US" dirty="0"/>
              <a:t> о </a:t>
            </a:r>
            <a:r>
              <a:rPr lang="en-US" dirty="0" err="1"/>
              <a:t>внутренних</a:t>
            </a:r>
            <a:r>
              <a:rPr lang="en-US" dirty="0"/>
              <a:t> </a:t>
            </a:r>
            <a:r>
              <a:rPr lang="en-US" dirty="0" err="1"/>
              <a:t>потоках</a:t>
            </a:r>
            <a:r>
              <a:rPr lang="en-US" dirty="0"/>
              <a:t>.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него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объектом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8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</a:p>
          <a:p>
            <a:r>
              <a:rPr lang="en-US" dirty="0"/>
              <a:t>В N:1 </a:t>
            </a:r>
            <a:r>
              <a:rPr lang="en-US" dirty="0" err="1"/>
              <a:t>планированием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runtime. Это </a:t>
            </a:r>
            <a:r>
              <a:rPr lang="en-US" dirty="0" err="1"/>
              <a:t>позволяет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дёшево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и </a:t>
            </a:r>
            <a:r>
              <a:rPr lang="en-US" dirty="0" err="1"/>
              <a:t>переключать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сущность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блокирующих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 и </a:t>
            </a:r>
            <a:r>
              <a:rPr lang="en-US" dirty="0" err="1"/>
              <a:t>невозможно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1:1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</a:t>
            </a:r>
            <a:r>
              <a:rPr lang="en-US" dirty="0" err="1"/>
              <a:t>Благодаря</a:t>
            </a:r>
            <a:r>
              <a:rPr lang="en-US" dirty="0"/>
              <a:t> </a:t>
            </a:r>
            <a:r>
              <a:rPr lang="en-US" dirty="0" err="1"/>
              <a:t>этому</a:t>
            </a:r>
            <a:r>
              <a:rPr lang="en-US" dirty="0"/>
              <a:t>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останавливает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, а </a:t>
            </a:r>
            <a:r>
              <a:rPr lang="en-US" dirty="0" err="1"/>
              <a:t>разные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параллельно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платить</a:t>
            </a:r>
            <a:r>
              <a:rPr lang="en-US" dirty="0"/>
              <a:t>: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каждом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 и </a:t>
            </a:r>
            <a:r>
              <a:rPr lang="en-US" dirty="0" err="1"/>
              <a:t>участвовать</a:t>
            </a:r>
            <a:r>
              <a:rPr lang="en-US" dirty="0"/>
              <a:t> в </a:t>
            </a:r>
            <a:r>
              <a:rPr lang="en-US" dirty="0" err="1"/>
              <a:t>управлении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: </a:t>
            </a:r>
            <a:r>
              <a:rPr lang="en-US" dirty="0" err="1"/>
              <a:t>нельзя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дешёвых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b="1" dirty="0" err="1"/>
              <a:t>нескольких</a:t>
            </a:r>
            <a:r>
              <a:rPr lang="en-US" dirty="0"/>
              <a:t> kernel threads?</a:t>
            </a:r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реализует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b="1" dirty="0"/>
              <a:t>M:N</a:t>
            </a:r>
            <a:r>
              <a:rPr lang="en-US" dirty="0"/>
              <a:t>, к </a:t>
            </a:r>
            <a:r>
              <a:rPr lang="en-US" dirty="0" err="1"/>
              <a:t>которой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перейдём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28205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71485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85755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рассмотрели</a:t>
            </a:r>
            <a:r>
              <a:rPr lang="en-US" dirty="0"/>
              <a:t> </a:t>
            </a:r>
            <a:r>
              <a:rPr lang="en-US" dirty="0" err="1"/>
              <a:t>две</a:t>
            </a:r>
            <a:r>
              <a:rPr lang="en-US" dirty="0"/>
              <a:t> </a:t>
            </a:r>
            <a:r>
              <a:rPr lang="en-US" dirty="0" err="1"/>
              <a:t>крайние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N:1 </a:t>
            </a:r>
            <a:r>
              <a:rPr lang="en-US" dirty="0" err="1"/>
              <a:t>все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работали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одной</a:t>
            </a:r>
            <a:r>
              <a:rPr lang="en-US" dirty="0"/>
              <a:t>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.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дешёвым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могли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 и </a:t>
            </a:r>
            <a:r>
              <a:rPr lang="en-US" dirty="0" err="1"/>
              <a:t>страдали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блокирующих</a:t>
            </a:r>
            <a:r>
              <a:rPr lang="en-US" dirty="0"/>
              <a:t> </a:t>
            </a:r>
            <a:r>
              <a:rPr lang="en-US" dirty="0" err="1"/>
              <a:t>системных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.</a:t>
            </a:r>
          </a:p>
          <a:p>
            <a:r>
              <a:rPr lang="en-US" dirty="0"/>
              <a:t>В 1:1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приложения</a:t>
            </a:r>
            <a:r>
              <a:rPr lang="en-US" dirty="0"/>
              <a:t> </a:t>
            </a:r>
            <a:r>
              <a:rPr lang="en-US" dirty="0" err="1"/>
              <a:t>становился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kernel thread. Это </a:t>
            </a:r>
            <a:r>
              <a:rPr lang="en-US" dirty="0" err="1"/>
              <a:t>давало</a:t>
            </a:r>
            <a:r>
              <a:rPr lang="en-US" dirty="0"/>
              <a:t> </a:t>
            </a:r>
            <a:r>
              <a:rPr lang="en-US" dirty="0" err="1"/>
              <a:t>настоящий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 </a:t>
            </a:r>
            <a:r>
              <a:rPr lang="en-US" dirty="0" err="1"/>
              <a:t>приходилось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каждым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Отсюда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</a:t>
            </a:r>
            <a:r>
              <a:rPr lang="en-US" dirty="0" err="1"/>
              <a:t>естественная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b="1" dirty="0"/>
              <a:t>а 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если</a:t>
            </a:r>
            <a:r>
              <a:rPr lang="en-US" b="1" dirty="0"/>
              <a:t> </a:t>
            </a:r>
            <a:r>
              <a:rPr lang="en-US" b="1" dirty="0" err="1"/>
              <a:t>пользовательских</a:t>
            </a:r>
            <a:r>
              <a:rPr lang="en-US" b="1" dirty="0"/>
              <a:t> </a:t>
            </a:r>
            <a:r>
              <a:rPr lang="en-US" b="1" dirty="0" err="1"/>
              <a:t>потоков</a:t>
            </a:r>
            <a:r>
              <a:rPr lang="en-US" b="1" dirty="0"/>
              <a:t> </a:t>
            </a:r>
            <a:r>
              <a:rPr lang="en-US" b="1" dirty="0" err="1"/>
              <a:t>много</a:t>
            </a:r>
            <a:r>
              <a:rPr lang="en-US" b="1" dirty="0"/>
              <a:t>, а </a:t>
            </a:r>
            <a:r>
              <a:rPr lang="en-US" b="1" dirty="0" err="1"/>
              <a:t>потоков</a:t>
            </a:r>
            <a:r>
              <a:rPr lang="en-US" b="1" dirty="0"/>
              <a:t> </a:t>
            </a:r>
            <a:r>
              <a:rPr lang="en-US" b="1" dirty="0" err="1"/>
              <a:t>ядра</a:t>
            </a:r>
            <a:r>
              <a:rPr lang="en-US" b="1" dirty="0"/>
              <a:t> — </a:t>
            </a:r>
            <a:r>
              <a:rPr lang="en-US" b="1" dirty="0" err="1"/>
              <a:t>несколько</a:t>
            </a:r>
            <a:r>
              <a:rPr lang="en-US" b="1" dirty="0"/>
              <a:t>?</a:t>
            </a:r>
            <a:endParaRPr lang="en-US" dirty="0"/>
          </a:p>
          <a:p>
            <a:r>
              <a:rPr lang="en-US" dirty="0"/>
              <a:t>Это </a:t>
            </a:r>
            <a:r>
              <a:rPr lang="en-US" dirty="0" err="1"/>
              <a:t>модель</a:t>
            </a:r>
            <a:r>
              <a:rPr lang="en-US" dirty="0"/>
              <a:t> M:N.</a:t>
            </a:r>
          </a:p>
          <a:p>
            <a:r>
              <a:rPr lang="en-US" dirty="0"/>
              <a:t>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тысячу</a:t>
            </a:r>
            <a:r>
              <a:rPr lang="en-US" dirty="0"/>
              <a:t> </a:t>
            </a:r>
            <a:r>
              <a:rPr lang="en-US" dirty="0" err="1"/>
              <a:t>лёгких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восьми</a:t>
            </a:r>
            <a:r>
              <a:rPr lang="en-US" dirty="0"/>
              <a:t> kernel threads.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планирования</a:t>
            </a:r>
            <a:r>
              <a:rPr lang="en-US" dirty="0"/>
              <a:t>. Runtime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пользовательский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запустить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kernel thread. А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и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каком</a:t>
            </a:r>
            <a:r>
              <a:rPr lang="en-US" dirty="0"/>
              <a:t> </a:t>
            </a:r>
            <a:r>
              <a:rPr lang="en-US" dirty="0" err="1"/>
              <a:t>процессорном</a:t>
            </a:r>
            <a:r>
              <a:rPr lang="en-US" dirty="0"/>
              <a:t> </a:t>
            </a:r>
            <a:r>
              <a:rPr lang="en-US" dirty="0" err="1"/>
              <a:t>ядре</a:t>
            </a:r>
            <a:r>
              <a:rPr lang="en-US" dirty="0"/>
              <a:t> </a:t>
            </a:r>
            <a:r>
              <a:rPr lang="en-US" dirty="0" err="1"/>
              <a:t>будет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сам</a:t>
            </a:r>
            <a:r>
              <a:rPr lang="en-US" dirty="0"/>
              <a:t> kernel thread.</a:t>
            </a:r>
          </a:p>
          <a:p>
            <a:r>
              <a:rPr lang="en-US" dirty="0" err="1"/>
              <a:t>Таким</a:t>
            </a:r>
            <a:r>
              <a:rPr lang="en-US" dirty="0"/>
              <a:t> </a:t>
            </a:r>
            <a:r>
              <a:rPr lang="en-US" dirty="0" err="1"/>
              <a:t>образом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пытаемся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дешёвые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дать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12735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?</a:t>
            </a:r>
            <a:endParaRPr lang="ru-RU" dirty="0"/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Во-первых</a:t>
            </a:r>
            <a:r>
              <a:rPr lang="en-US" dirty="0"/>
              <a:t>,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значительно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kernel threads.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обязаны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маленькой</a:t>
            </a:r>
            <a:r>
              <a:rPr lang="en-US" dirty="0"/>
              <a:t> </a:t>
            </a:r>
            <a:r>
              <a:rPr lang="en-US" dirty="0" err="1"/>
              <a:t>конкурентной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Во-вторых</a:t>
            </a:r>
            <a:r>
              <a:rPr lang="en-US" dirty="0"/>
              <a:t>, </a:t>
            </a:r>
            <a:r>
              <a:rPr lang="en-US" dirty="0" err="1"/>
              <a:t>поскольку</a:t>
            </a:r>
            <a:r>
              <a:rPr lang="en-US" dirty="0"/>
              <a:t> kernel threads </a:t>
            </a:r>
            <a:r>
              <a:rPr lang="en-US" dirty="0" err="1"/>
              <a:t>несколько</a:t>
            </a:r>
            <a:r>
              <a:rPr lang="en-US" dirty="0"/>
              <a:t>, </a:t>
            </a:r>
            <a:r>
              <a:rPr lang="en-US" dirty="0" err="1"/>
              <a:t>они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разных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ядрах</a:t>
            </a:r>
            <a:r>
              <a:rPr lang="en-US" dirty="0"/>
              <a:t>. В </a:t>
            </a:r>
            <a:r>
              <a:rPr lang="en-US" dirty="0" err="1"/>
              <a:t>отличие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N:1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настоящий</a:t>
            </a:r>
            <a:r>
              <a:rPr lang="en-US" dirty="0"/>
              <a:t> </a:t>
            </a:r>
            <a:r>
              <a:rPr lang="en-US" dirty="0" err="1"/>
              <a:t>параллелизм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В-</a:t>
            </a:r>
            <a:r>
              <a:rPr lang="en-US" dirty="0" err="1"/>
              <a:t>третьих</a:t>
            </a:r>
            <a:r>
              <a:rPr lang="en-US" dirty="0"/>
              <a:t>, </a:t>
            </a:r>
            <a:r>
              <a:rPr lang="en-US" dirty="0" err="1"/>
              <a:t>блокировка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kernel thread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остановку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Остальные</a:t>
            </a:r>
            <a:r>
              <a:rPr lang="en-US" dirty="0"/>
              <a:t> kernel threads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, runtime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динамически</a:t>
            </a:r>
            <a:r>
              <a:rPr lang="en-US" dirty="0"/>
              <a:t> </a:t>
            </a:r>
            <a:r>
              <a:rPr lang="en-US" dirty="0" err="1"/>
              <a:t>распределять</a:t>
            </a:r>
            <a:r>
              <a:rPr lang="en-US" dirty="0"/>
              <a:t> </a:t>
            </a:r>
            <a:r>
              <a:rPr lang="en-US" dirty="0" err="1"/>
              <a:t>готовые</a:t>
            </a:r>
            <a:r>
              <a:rPr lang="en-US" dirty="0"/>
              <a:t> </a:t>
            </a:r>
            <a:r>
              <a:rPr lang="en-US" dirty="0" err="1"/>
              <a:t>пользовательские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доступными</a:t>
            </a:r>
            <a:r>
              <a:rPr lang="en-US" dirty="0"/>
              <a:t> worker threads.</a:t>
            </a:r>
            <a:endParaRPr lang="ru-RU" dirty="0"/>
          </a:p>
          <a:p>
            <a:endParaRPr lang="en-US" dirty="0"/>
          </a:p>
          <a:p>
            <a:r>
              <a:rPr lang="ru-RU" dirty="0"/>
              <a:t>З</a:t>
            </a:r>
            <a:r>
              <a:rPr lang="en-US" dirty="0" err="1"/>
              <a:t>десь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runtime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видно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знает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своих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и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балансировку</a:t>
            </a:r>
            <a:r>
              <a:rPr lang="en-US" dirty="0"/>
              <a:t> </a:t>
            </a:r>
            <a:r>
              <a:rPr lang="en-US" dirty="0" err="1"/>
              <a:t>нагрузки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высоком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ОС.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понимать</a:t>
            </a:r>
            <a:r>
              <a:rPr lang="en-US" dirty="0"/>
              <a:t>: M:N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бесплатное</a:t>
            </a:r>
            <a:r>
              <a:rPr lang="en-US" dirty="0"/>
              <a:t> </a:t>
            </a:r>
            <a:r>
              <a:rPr lang="en-US" dirty="0" err="1"/>
              <a:t>лучшее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миров</a:t>
            </a:r>
            <a:r>
              <a:rPr lang="en-US" dirty="0"/>
              <a:t>».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b="1" dirty="0" err="1"/>
              <a:t>два</a:t>
            </a:r>
            <a:r>
              <a:rPr lang="en-US" b="1" dirty="0"/>
              <a:t> </a:t>
            </a:r>
            <a:r>
              <a:rPr lang="en-US" b="1" dirty="0" err="1"/>
              <a:t>планировщика</a:t>
            </a:r>
            <a:r>
              <a:rPr lang="en-US" dirty="0"/>
              <a:t>, и runtime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координировать</a:t>
            </a:r>
            <a:r>
              <a:rPr lang="en-US" dirty="0"/>
              <a:t> </a:t>
            </a:r>
            <a:r>
              <a:rPr lang="en-US" dirty="0" err="1"/>
              <a:t>свою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с </a:t>
            </a:r>
            <a:r>
              <a:rPr lang="en-US" dirty="0" err="1"/>
              <a:t>ядром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существенно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N:1 </a:t>
            </a:r>
            <a:r>
              <a:rPr lang="en-US" dirty="0" err="1"/>
              <a:t>или</a:t>
            </a:r>
            <a:r>
              <a:rPr lang="en-US" dirty="0"/>
              <a:t> 1:1.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01936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Сегодня</a:t>
            </a:r>
            <a:r>
              <a:rPr lang="en-US" dirty="0"/>
              <a:t> </a:t>
            </a:r>
            <a:r>
              <a:rPr lang="en-US" dirty="0" err="1"/>
              <a:t>похожую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встретить</a:t>
            </a:r>
            <a:r>
              <a:rPr lang="en-US" dirty="0"/>
              <a:t> в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популярных</a:t>
            </a:r>
            <a:r>
              <a:rPr lang="en-US" dirty="0"/>
              <a:t> runtime.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Хороший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Go.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создавать</a:t>
            </a:r>
            <a:r>
              <a:rPr lang="en-US" dirty="0"/>
              <a:t> </a:t>
            </a:r>
            <a:r>
              <a:rPr lang="en-US" dirty="0" err="1"/>
              <a:t>огромное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goroutines, а runtime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некоторым</a:t>
            </a:r>
            <a:r>
              <a:rPr lang="en-US" dirty="0"/>
              <a:t> </a:t>
            </a:r>
            <a:r>
              <a:rPr lang="en-US" dirty="0" err="1"/>
              <a:t>числом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goroutine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«</a:t>
            </a:r>
            <a:r>
              <a:rPr lang="en-US" dirty="0" err="1"/>
              <a:t>одна</a:t>
            </a:r>
            <a:r>
              <a:rPr lang="en-US" dirty="0"/>
              <a:t> goroutine — </a:t>
            </a:r>
            <a:r>
              <a:rPr lang="en-US" dirty="0" err="1"/>
              <a:t>один</a:t>
            </a:r>
            <a:r>
              <a:rPr lang="en-US" dirty="0"/>
              <a:t> kernel thread».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в Java Virtual Threads: JVM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виртуальных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поверх</a:t>
            </a:r>
            <a:r>
              <a:rPr lang="en-US" dirty="0"/>
              <a:t> </a:t>
            </a:r>
            <a:r>
              <a:rPr lang="en-US" dirty="0" err="1"/>
              <a:t>меньшего</a:t>
            </a:r>
            <a:r>
              <a:rPr lang="en-US" dirty="0"/>
              <a:t> </a:t>
            </a:r>
            <a:r>
              <a:rPr lang="en-US" dirty="0" err="1"/>
              <a:t>числа</a:t>
            </a:r>
            <a:r>
              <a:rPr lang="en-US" dirty="0"/>
              <a:t> carrier threads.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Erlang и Elixir </a:t>
            </a:r>
            <a:r>
              <a:rPr lang="en-US" dirty="0" err="1"/>
              <a:t>сущности</a:t>
            </a:r>
            <a:r>
              <a:rPr lang="en-US" dirty="0"/>
              <a:t> </a:t>
            </a:r>
            <a:r>
              <a:rPr lang="en-US" dirty="0" err="1"/>
              <a:t>называются</a:t>
            </a:r>
            <a:r>
              <a:rPr lang="en-US" dirty="0"/>
              <a:t> </a:t>
            </a:r>
            <a:r>
              <a:rPr lang="en-US" dirty="0" err="1"/>
              <a:t>процессами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. Это </a:t>
            </a:r>
            <a:r>
              <a:rPr lang="en-US" dirty="0" err="1"/>
              <a:t>лёгкие</a:t>
            </a:r>
            <a:r>
              <a:rPr lang="en-US" dirty="0"/>
              <a:t> </a:t>
            </a:r>
            <a:r>
              <a:rPr lang="en-US" dirty="0" err="1"/>
              <a:t>изолированные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r>
              <a:rPr lang="en-US" dirty="0"/>
              <a:t> BEAM runtime,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распределяются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scheduler threads.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называть</a:t>
            </a:r>
            <a:r>
              <a:rPr lang="en-US" dirty="0"/>
              <a:t> Erlang process </a:t>
            </a:r>
            <a:r>
              <a:rPr lang="en-US" dirty="0" err="1"/>
              <a:t>просто</a:t>
            </a:r>
            <a:r>
              <a:rPr lang="en-US" dirty="0"/>
              <a:t> user-level thread </a:t>
            </a:r>
            <a:r>
              <a:rPr lang="en-US" dirty="0" err="1"/>
              <a:t>было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неточно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организации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видна</a:t>
            </a:r>
            <a:r>
              <a:rPr lang="en-US" dirty="0"/>
              <a:t> </a:t>
            </a:r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лёгких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мультиплексируется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ограниченное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ОС.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поэтому</a:t>
            </a:r>
            <a:r>
              <a:rPr lang="en-US" dirty="0"/>
              <a:t> я </a:t>
            </a:r>
            <a:r>
              <a:rPr lang="en-US" dirty="0" err="1"/>
              <a:t>бы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говорил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Go, Java и Erlang </a:t>
            </a:r>
            <a:r>
              <a:rPr lang="en-US" dirty="0" err="1"/>
              <a:t>реализуют</a:t>
            </a:r>
            <a:r>
              <a:rPr lang="en-US" dirty="0"/>
              <a:t> </a:t>
            </a:r>
            <a:r>
              <a:rPr lang="en-US" b="1" dirty="0" err="1"/>
              <a:t>один</a:t>
            </a:r>
            <a:r>
              <a:rPr lang="en-US" b="1" dirty="0"/>
              <a:t> и </a:t>
            </a:r>
            <a:r>
              <a:rPr lang="en-US" b="1" dirty="0" err="1"/>
              <a:t>тот</a:t>
            </a:r>
            <a:r>
              <a:rPr lang="en-US" b="1" dirty="0"/>
              <a:t> </a:t>
            </a:r>
            <a:r>
              <a:rPr lang="en-US" b="1" dirty="0" err="1"/>
              <a:t>же</a:t>
            </a:r>
            <a:r>
              <a:rPr lang="en-US" b="1" dirty="0"/>
              <a:t> M:N </a:t>
            </a:r>
            <a:r>
              <a:rPr lang="en-US" b="1" dirty="0" err="1"/>
              <a:t>механизм</a:t>
            </a:r>
            <a:r>
              <a:rPr lang="en-US" dirty="0"/>
              <a:t>. </a:t>
            </a:r>
            <a:r>
              <a:rPr lang="en-US" dirty="0" err="1"/>
              <a:t>Реализации</a:t>
            </a:r>
            <a:r>
              <a:rPr lang="en-US" dirty="0"/>
              <a:t> у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разные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архитектурная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связывать</a:t>
            </a:r>
            <a:r>
              <a:rPr lang="en-US" b="1" dirty="0"/>
              <a:t> </a:t>
            </a:r>
            <a:r>
              <a:rPr lang="en-US" b="1" dirty="0" err="1"/>
              <a:t>каждую</a:t>
            </a:r>
            <a:r>
              <a:rPr lang="en-US" b="1" dirty="0"/>
              <a:t> </a:t>
            </a:r>
            <a:r>
              <a:rPr lang="en-US" b="1" dirty="0" err="1"/>
              <a:t>конкурентную</a:t>
            </a:r>
            <a:r>
              <a:rPr lang="en-US" b="1" dirty="0"/>
              <a:t> </a:t>
            </a:r>
            <a:r>
              <a:rPr lang="en-US" b="1" dirty="0" err="1"/>
              <a:t>задачу</a:t>
            </a:r>
            <a:r>
              <a:rPr lang="en-US" b="1" dirty="0"/>
              <a:t> с </a:t>
            </a:r>
            <a:r>
              <a:rPr lang="en-US" b="1" dirty="0" err="1"/>
              <a:t>отдельным</a:t>
            </a:r>
            <a:r>
              <a:rPr lang="en-US" b="1" dirty="0"/>
              <a:t> kernel thread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57110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18552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изначально</a:t>
            </a:r>
            <a:r>
              <a:rPr lang="en-US" dirty="0"/>
              <a:t> </a:t>
            </a:r>
            <a:r>
              <a:rPr lang="en-US" dirty="0" err="1"/>
              <a:t>проектировалась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однопоточная</a:t>
            </a:r>
            <a:r>
              <a:rPr lang="en-US" dirty="0"/>
              <a:t>, в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присутствуют</a:t>
            </a:r>
            <a:r>
              <a:rPr lang="en-US" dirty="0"/>
              <a:t> </a:t>
            </a:r>
            <a:r>
              <a:rPr lang="en-US" dirty="0" err="1"/>
              <a:t>неявные</a:t>
            </a:r>
            <a:r>
              <a:rPr lang="en-US" dirty="0"/>
              <a:t> </a:t>
            </a:r>
            <a:r>
              <a:rPr lang="en-US" dirty="0" err="1"/>
              <a:t>предположения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глобальную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временное</a:t>
            </a:r>
            <a:r>
              <a:rPr lang="en-US" dirty="0"/>
              <a:t> </a:t>
            </a:r>
            <a:r>
              <a:rPr lang="en-US" dirty="0" err="1"/>
              <a:t>хранилище</a:t>
            </a:r>
            <a:r>
              <a:rPr lang="en-US" dirty="0"/>
              <a:t>.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существует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совершенно</a:t>
            </a:r>
            <a:r>
              <a:rPr lang="en-US" dirty="0"/>
              <a:t> </a:t>
            </a:r>
            <a:r>
              <a:rPr lang="en-US" dirty="0" err="1"/>
              <a:t>нормально</a:t>
            </a:r>
            <a:r>
              <a:rPr lang="en-US" dirty="0"/>
              <a:t>: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начнётся</a:t>
            </a:r>
            <a:r>
              <a:rPr lang="en-US" dirty="0"/>
              <a:t> </a:t>
            </a:r>
            <a:r>
              <a:rPr lang="en-US" dirty="0" err="1"/>
              <a:t>раньше</a:t>
            </a:r>
            <a:r>
              <a:rPr lang="en-US" dirty="0"/>
              <a:t>, </a:t>
            </a:r>
            <a:r>
              <a:rPr lang="en-US" dirty="0" err="1"/>
              <a:t>чем</a:t>
            </a:r>
            <a:r>
              <a:rPr lang="en-US" dirty="0"/>
              <a:t> </a:t>
            </a:r>
            <a:r>
              <a:rPr lang="en-US" dirty="0" err="1"/>
              <a:t>закончится</a:t>
            </a:r>
            <a:r>
              <a:rPr lang="en-US" dirty="0"/>
              <a:t> </a:t>
            </a:r>
            <a:r>
              <a:rPr lang="en-US" dirty="0" err="1"/>
              <a:t>первый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одна</a:t>
            </a:r>
            <a:r>
              <a:rPr lang="en-US" dirty="0"/>
              <a:t> и </a:t>
            </a:r>
            <a:r>
              <a:rPr lang="en-US" dirty="0" err="1"/>
              <a:t>та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выполняться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начинают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и </a:t>
            </a:r>
            <a:r>
              <a:rPr lang="en-US" dirty="0" err="1"/>
              <a:t>тем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.</a:t>
            </a:r>
          </a:p>
          <a:p>
            <a:r>
              <a:rPr lang="en-US" dirty="0" err="1"/>
              <a:t>Похожая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с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буферами</a:t>
            </a:r>
            <a:r>
              <a:rPr lang="en-US" dirty="0"/>
              <a:t>, </a:t>
            </a:r>
            <a:r>
              <a:rPr lang="en-US" dirty="0" err="1"/>
              <a:t>кэшами</a:t>
            </a:r>
            <a:r>
              <a:rPr lang="en-US" dirty="0"/>
              <a:t>, </a:t>
            </a:r>
            <a:r>
              <a:rPr lang="en-US" dirty="0" err="1"/>
              <a:t>файловыми</a:t>
            </a:r>
            <a:r>
              <a:rPr lang="en-US" dirty="0"/>
              <a:t> </a:t>
            </a:r>
            <a:r>
              <a:rPr lang="en-US" dirty="0" err="1"/>
              <a:t>дескрипторами</a:t>
            </a:r>
            <a:r>
              <a:rPr lang="en-US" dirty="0"/>
              <a:t> и </a:t>
            </a:r>
            <a:r>
              <a:rPr lang="en-US" dirty="0" err="1"/>
              <a:t>другими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преобразование</a:t>
            </a:r>
            <a:r>
              <a:rPr lang="en-US" dirty="0"/>
              <a:t> </a:t>
            </a:r>
            <a:r>
              <a:rPr lang="en-US" dirty="0" err="1"/>
              <a:t>однопоточной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в </a:t>
            </a:r>
            <a:r>
              <a:rPr lang="en-US" dirty="0" err="1"/>
              <a:t>многопоточную</a:t>
            </a:r>
            <a:r>
              <a:rPr lang="en-US" dirty="0"/>
              <a:t> — </a:t>
            </a:r>
            <a:r>
              <a:rPr lang="en-US" dirty="0" err="1"/>
              <a:t>это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замена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 </a:t>
            </a:r>
            <a:r>
              <a:rPr lang="en-US" dirty="0" err="1"/>
              <a:t>функции</a:t>
            </a:r>
            <a:r>
              <a:rPr lang="en-US" dirty="0"/>
              <a:t> </a:t>
            </a:r>
            <a:r>
              <a:rPr lang="en-US" dirty="0" err="1"/>
              <a:t>созданием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, </a:t>
            </a:r>
            <a:r>
              <a:rPr lang="en-US" b="1" dirty="0" err="1"/>
              <a:t>какое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является</a:t>
            </a:r>
            <a:r>
              <a:rPr lang="en-US" b="1" dirty="0"/>
              <a:t> </a:t>
            </a:r>
            <a:r>
              <a:rPr lang="en-US" b="1" dirty="0" err="1"/>
              <a:t>общим</a:t>
            </a:r>
            <a:r>
              <a:rPr lang="en-US" b="1" dirty="0"/>
              <a:t>, </a:t>
            </a:r>
            <a:r>
              <a:rPr lang="en-US" b="1" dirty="0" err="1"/>
              <a:t>кто</a:t>
            </a:r>
            <a:r>
              <a:rPr lang="en-US" b="1" dirty="0"/>
              <a:t> </a:t>
            </a:r>
            <a:r>
              <a:rPr lang="en-US" b="1" dirty="0" err="1"/>
              <a:t>им</a:t>
            </a:r>
            <a:r>
              <a:rPr lang="en-US" b="1" dirty="0"/>
              <a:t> </a:t>
            </a:r>
            <a:r>
              <a:rPr lang="en-US" b="1" dirty="0" err="1"/>
              <a:t>владеет</a:t>
            </a:r>
            <a:r>
              <a:rPr lang="en-US" b="1" dirty="0"/>
              <a:t> и </a:t>
            </a:r>
            <a:r>
              <a:rPr lang="en-US" b="1" dirty="0" err="1"/>
              <a:t>допускается</a:t>
            </a:r>
            <a:r>
              <a:rPr lang="en-US" b="1" dirty="0"/>
              <a:t> </a:t>
            </a:r>
            <a:r>
              <a:rPr lang="en-US" b="1" dirty="0" err="1"/>
              <a:t>ли</a:t>
            </a:r>
            <a:r>
              <a:rPr lang="en-US" b="1" dirty="0"/>
              <a:t> </a:t>
            </a:r>
            <a:r>
              <a:rPr lang="en-US" b="1" dirty="0" err="1"/>
              <a:t>одновременный</a:t>
            </a:r>
            <a:r>
              <a:rPr lang="en-US" b="1" dirty="0"/>
              <a:t> </a:t>
            </a:r>
            <a:r>
              <a:rPr lang="en-US" b="1" dirty="0" err="1"/>
              <a:t>доступ</a:t>
            </a:r>
            <a:r>
              <a:rPr lang="en-US" b="1" dirty="0"/>
              <a:t> к </a:t>
            </a:r>
            <a:r>
              <a:rPr lang="en-US" b="1" dirty="0" err="1"/>
              <a:t>нему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04847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вся</a:t>
            </a:r>
            <a:r>
              <a:rPr lang="en-US" dirty="0"/>
              <a:t> </a:t>
            </a:r>
            <a:r>
              <a:rPr lang="en-US" dirty="0" err="1"/>
              <a:t>глобальная</a:t>
            </a:r>
            <a:r>
              <a:rPr lang="en-US" dirty="0"/>
              <a:t> </a:t>
            </a:r>
            <a:r>
              <a:rPr lang="en-US" dirty="0" err="1"/>
              <a:t>информация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должна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глобальной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логически</a:t>
            </a:r>
            <a:r>
              <a:rPr lang="en-US" dirty="0"/>
              <a:t> </a:t>
            </a:r>
            <a:r>
              <a:rPr lang="en-US" dirty="0" err="1"/>
              <a:t>принадлежат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общий</a:t>
            </a:r>
            <a:r>
              <a:rPr lang="en-US" dirty="0"/>
              <a:t> </a:t>
            </a:r>
            <a:r>
              <a:rPr lang="en-US" dirty="0" err="1"/>
              <a:t>кэш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очередь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</a:p>
          <a:p>
            <a:r>
              <a:rPr lang="en-US" dirty="0"/>
              <a:t>А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которые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выглядеть</a:t>
            </a:r>
            <a:r>
              <a:rPr lang="en-US" dirty="0"/>
              <a:t> </a:t>
            </a:r>
            <a:r>
              <a:rPr lang="en-US" dirty="0" err="1"/>
              <a:t>глобальными</a:t>
            </a:r>
            <a:r>
              <a:rPr lang="en-US" dirty="0"/>
              <a:t> с </a:t>
            </a:r>
            <a:r>
              <a:rPr lang="en-US" dirty="0" err="1"/>
              <a:t>точки</a:t>
            </a:r>
            <a:r>
              <a:rPr lang="en-US" dirty="0"/>
              <a:t> </a:t>
            </a:r>
            <a:r>
              <a:rPr lang="en-US" dirty="0" err="1"/>
              <a:t>зрения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фактически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к </a:t>
            </a:r>
            <a:r>
              <a:rPr lang="en-US" b="1" dirty="0" err="1"/>
              <a:t>конкретному</a:t>
            </a:r>
            <a:r>
              <a:rPr lang="en-US" b="1" dirty="0"/>
              <a:t> </a:t>
            </a:r>
            <a:r>
              <a:rPr lang="en-US" b="1" dirty="0" err="1"/>
              <a:t>потоку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Классический</a:t>
            </a:r>
            <a:r>
              <a:rPr lang="en-US" dirty="0"/>
              <a:t> </a:t>
            </a:r>
            <a:r>
              <a:rPr lang="en-US" dirty="0" err="1"/>
              <a:t>пример</a:t>
            </a:r>
            <a:r>
              <a:rPr lang="en-US" dirty="0"/>
              <a:t> — </a:t>
            </a:r>
            <a:r>
              <a:rPr lang="en-US" dirty="0" err="1"/>
              <a:t>информация</a:t>
            </a:r>
            <a:r>
              <a:rPr lang="en-US" dirty="0"/>
              <a:t> о </a:t>
            </a:r>
            <a:r>
              <a:rPr lang="en-US" dirty="0" err="1"/>
              <a:t>последней</a:t>
            </a:r>
            <a:r>
              <a:rPr lang="en-US" dirty="0"/>
              <a:t> </a:t>
            </a:r>
            <a:r>
              <a:rPr lang="en-US" dirty="0" err="1"/>
              <a:t>ошибке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вытесняет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B,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и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ошибку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 </a:t>
            </a:r>
            <a:r>
              <a:rPr lang="en-US" dirty="0" err="1"/>
              <a:t>записывают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 в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глобальную</a:t>
            </a:r>
            <a:r>
              <a:rPr lang="en-US" dirty="0"/>
              <a:t> </a:t>
            </a:r>
            <a:r>
              <a:rPr lang="en-US" dirty="0" err="1"/>
              <a:t>переменную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A </a:t>
            </a:r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возвращения</a:t>
            </a:r>
            <a:r>
              <a:rPr lang="en-US" dirty="0"/>
              <a:t> </a:t>
            </a:r>
            <a:r>
              <a:rPr lang="en-US" dirty="0" err="1"/>
              <a:t>увидит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чужое</a:t>
            </a:r>
            <a:r>
              <a:rPr lang="en-US" dirty="0"/>
              <a:t> </a:t>
            </a:r>
            <a:r>
              <a:rPr lang="en-US" dirty="0" err="1"/>
              <a:t>значение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проблемы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b="1" dirty="0"/>
              <a:t>Thread-Local Storage</a:t>
            </a:r>
            <a:r>
              <a:rPr lang="en-US" dirty="0"/>
              <a:t>, </a:t>
            </a:r>
            <a:r>
              <a:rPr lang="en-US" dirty="0" err="1"/>
              <a:t>или</a:t>
            </a:r>
            <a:r>
              <a:rPr lang="en-US" dirty="0"/>
              <a:t> TLS. У </a:t>
            </a:r>
            <a:r>
              <a:rPr lang="en-US" dirty="0" err="1"/>
              <a:t>переменной</a:t>
            </a:r>
            <a:r>
              <a:rPr lang="en-US" dirty="0"/>
              <a:t> </a:t>
            </a:r>
            <a:r>
              <a:rPr lang="en-US" dirty="0" err="1"/>
              <a:t>остаётся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</a:t>
            </a:r>
            <a:r>
              <a:rPr lang="en-US" dirty="0" err="1"/>
              <a:t>имя</a:t>
            </a:r>
            <a:r>
              <a:rPr lang="en-US" dirty="0"/>
              <a:t> в </a:t>
            </a:r>
            <a:r>
              <a:rPr lang="en-US" dirty="0" err="1"/>
              <a:t>программе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получает</a:t>
            </a:r>
            <a:r>
              <a:rPr lang="en-US" dirty="0"/>
              <a:t> </a:t>
            </a:r>
            <a:r>
              <a:rPr lang="en-US" dirty="0" err="1"/>
              <a:t>собственный</a:t>
            </a:r>
            <a:r>
              <a:rPr lang="en-US" dirty="0"/>
              <a:t> </a:t>
            </a:r>
            <a:r>
              <a:rPr lang="en-US" dirty="0" err="1"/>
              <a:t>экземпляр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 </a:t>
            </a:r>
            <a:r>
              <a:rPr lang="en-US" dirty="0" err="1"/>
              <a:t>применяется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errno</a:t>
            </a:r>
            <a:r>
              <a:rPr lang="en-US" dirty="0"/>
              <a:t> 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многопоточных</a:t>
            </a:r>
            <a:r>
              <a:rPr lang="en-US" dirty="0"/>
              <a:t> </a:t>
            </a:r>
            <a:r>
              <a:rPr lang="en-US" dirty="0" err="1"/>
              <a:t>реализациях</a:t>
            </a:r>
            <a:r>
              <a:rPr lang="en-US" dirty="0"/>
              <a:t> POSIX.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Важно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TLS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является</a:t>
            </a:r>
            <a:r>
              <a:rPr lang="en-US" dirty="0"/>
              <a:t> </a:t>
            </a:r>
            <a:r>
              <a:rPr lang="en-US" dirty="0" err="1"/>
              <a:t>механизмом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другую</a:t>
            </a:r>
            <a:r>
              <a:rPr lang="en-US" dirty="0"/>
              <a:t> </a:t>
            </a:r>
            <a:r>
              <a:rPr lang="en-US" dirty="0" err="1"/>
              <a:t>задачу</a:t>
            </a:r>
            <a:r>
              <a:rPr lang="en-US" dirty="0"/>
              <a:t>: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совместного</a:t>
            </a:r>
            <a:r>
              <a:rPr lang="en-US" dirty="0"/>
              <a:t> </a:t>
            </a:r>
            <a:r>
              <a:rPr lang="en-US" dirty="0" err="1"/>
              <a:t>использования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вообще</a:t>
            </a:r>
            <a:r>
              <a:rPr lang="en-US" dirty="0"/>
              <a:t> </a:t>
            </a:r>
            <a:r>
              <a:rPr lang="en-US" dirty="0" err="1"/>
              <a:t>устраняем</a:t>
            </a:r>
            <a:r>
              <a:rPr lang="en-US" dirty="0"/>
              <a:t> </a:t>
            </a:r>
            <a:r>
              <a:rPr lang="en-US" dirty="0" err="1"/>
              <a:t>совместное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45952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Появление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заставило</a:t>
            </a:r>
            <a:r>
              <a:rPr lang="en-US" dirty="0"/>
              <a:t> </a:t>
            </a:r>
            <a:r>
              <a:rPr lang="en-US" dirty="0" err="1"/>
              <a:t>пересмотреть</a:t>
            </a:r>
            <a:r>
              <a:rPr lang="en-US" dirty="0"/>
              <a:t> и </a:t>
            </a:r>
            <a:r>
              <a:rPr lang="en-US" dirty="0" err="1"/>
              <a:t>устройство</a:t>
            </a:r>
            <a:r>
              <a:rPr lang="en-US" dirty="0"/>
              <a:t> </a:t>
            </a:r>
            <a:r>
              <a:rPr lang="en-US" dirty="0" err="1"/>
              <a:t>библиотек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полезно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близких</a:t>
            </a:r>
            <a:r>
              <a:rPr lang="en-US" dirty="0"/>
              <a:t> </a:t>
            </a:r>
            <a:r>
              <a:rPr lang="en-US" dirty="0" err="1"/>
              <a:t>понятия</a:t>
            </a:r>
            <a:r>
              <a:rPr lang="en-US" dirty="0"/>
              <a:t>.</a:t>
            </a:r>
          </a:p>
          <a:p>
            <a:r>
              <a:rPr lang="en-US" b="1" dirty="0"/>
              <a:t>Thread-safe </a:t>
            </a:r>
            <a:r>
              <a:rPr lang="en-US" b="1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допускает</a:t>
            </a:r>
            <a:r>
              <a:rPr lang="en-US" dirty="0"/>
              <a:t> </a:t>
            </a:r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и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</a:t>
            </a:r>
            <a:r>
              <a:rPr lang="en-US" dirty="0" err="1"/>
              <a:t>корректно</a:t>
            </a:r>
            <a:r>
              <a:rPr lang="en-US" dirty="0"/>
              <a:t>. Это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достигаться</a:t>
            </a:r>
            <a:r>
              <a:rPr lang="en-US" dirty="0"/>
              <a:t>,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счёт</a:t>
            </a:r>
            <a:r>
              <a:rPr lang="en-US" dirty="0"/>
              <a:t> </a:t>
            </a:r>
            <a:r>
              <a:rPr lang="en-US" dirty="0" err="1"/>
              <a:t>внутренней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r>
              <a:rPr lang="en-US" b="1" dirty="0"/>
              <a:t>Reentrant </a:t>
            </a:r>
            <a:r>
              <a:rPr lang="en-US" b="1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устроена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строже</a:t>
            </a:r>
            <a:r>
              <a:rPr lang="en-US" dirty="0"/>
              <a:t>: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безопасно</a:t>
            </a:r>
            <a:r>
              <a:rPr lang="en-US" dirty="0"/>
              <a:t> </a:t>
            </a:r>
            <a:r>
              <a:rPr lang="en-US" dirty="0" err="1"/>
              <a:t>вызвать</a:t>
            </a:r>
            <a:r>
              <a:rPr lang="en-US" dirty="0"/>
              <a:t> </a:t>
            </a:r>
            <a:r>
              <a:rPr lang="en-US" dirty="0" err="1"/>
              <a:t>повторно</a:t>
            </a:r>
            <a:r>
              <a:rPr lang="en-US" dirty="0"/>
              <a:t> </a:t>
            </a:r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завершения</a:t>
            </a:r>
            <a:r>
              <a:rPr lang="en-US" dirty="0"/>
              <a:t> </a:t>
            </a:r>
            <a:r>
              <a:rPr lang="en-US" dirty="0" err="1"/>
              <a:t>предыдущего</a:t>
            </a:r>
            <a:r>
              <a:rPr lang="en-US" dirty="0"/>
              <a:t> </a:t>
            </a:r>
            <a:r>
              <a:rPr lang="en-US" dirty="0" err="1"/>
              <a:t>вызова</a:t>
            </a:r>
            <a:r>
              <a:rPr lang="en-US" dirty="0"/>
              <a:t>, </a:t>
            </a:r>
            <a:r>
              <a:rPr lang="en-US" dirty="0" err="1"/>
              <a:t>потому</a:t>
            </a:r>
            <a:r>
              <a:rPr lang="en-US" dirty="0"/>
              <a:t>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полагается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изменяемое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, </a:t>
            </a:r>
            <a:r>
              <a:rPr lang="en-US" dirty="0" err="1"/>
              <a:t>возвращающую</a:t>
            </a:r>
            <a:r>
              <a:rPr lang="en-US" dirty="0"/>
              <a:t> </a:t>
            </a:r>
            <a:r>
              <a:rPr lang="en-US" dirty="0" err="1"/>
              <a:t>строку</a:t>
            </a:r>
            <a:r>
              <a:rPr lang="en-US" dirty="0"/>
              <a:t> </a:t>
            </a:r>
            <a:r>
              <a:rPr lang="en-US" dirty="0" err="1"/>
              <a:t>через</a:t>
            </a:r>
            <a:r>
              <a:rPr lang="en-US" dirty="0"/>
              <a:t> </a:t>
            </a:r>
            <a:r>
              <a:rPr lang="en-US" dirty="0" err="1"/>
              <a:t>внутренний</a:t>
            </a:r>
            <a:r>
              <a:rPr lang="en-US" dirty="0"/>
              <a:t> </a:t>
            </a:r>
            <a:r>
              <a:rPr lang="en-US" dirty="0" err="1"/>
              <a:t>статический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. </a:t>
            </a:r>
            <a:r>
              <a:rPr lang="en-US" dirty="0" err="1"/>
              <a:t>Первый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записал</a:t>
            </a:r>
            <a:r>
              <a:rPr lang="en-US" dirty="0"/>
              <a:t> </a:t>
            </a:r>
            <a:r>
              <a:rPr lang="en-US" dirty="0" err="1"/>
              <a:t>туда</a:t>
            </a:r>
            <a:r>
              <a:rPr lang="en-US" dirty="0"/>
              <a:t> </a:t>
            </a:r>
            <a:r>
              <a:rPr lang="en-US" dirty="0" err="1"/>
              <a:t>результат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успел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.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dirty="0" err="1"/>
              <a:t>второй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ту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и </a:t>
            </a:r>
            <a:r>
              <a:rPr lang="en-US" dirty="0" err="1"/>
              <a:t>перезаписывает</a:t>
            </a:r>
            <a:r>
              <a:rPr lang="en-US" dirty="0"/>
              <a:t>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/>
              <a:t>В </a:t>
            </a:r>
            <a:r>
              <a:rPr lang="en-US" dirty="0" err="1"/>
              <a:t>однопоточном</a:t>
            </a:r>
            <a:r>
              <a:rPr lang="en-US" dirty="0"/>
              <a:t> </a:t>
            </a:r>
            <a:r>
              <a:rPr lang="en-US" dirty="0" err="1"/>
              <a:t>коде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 </a:t>
            </a:r>
            <a:r>
              <a:rPr lang="en-US" dirty="0" err="1"/>
              <a:t>реализация</a:t>
            </a:r>
            <a:r>
              <a:rPr lang="en-US" dirty="0"/>
              <a:t> </a:t>
            </a:r>
            <a:r>
              <a:rPr lang="en-US" dirty="0" err="1"/>
              <a:t>могла</a:t>
            </a:r>
            <a:r>
              <a:rPr lang="en-US" dirty="0"/>
              <a:t> </a:t>
            </a:r>
            <a:r>
              <a:rPr lang="en-US" dirty="0" err="1"/>
              <a:t>годами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.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многопоточности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скрытое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видимым</a:t>
            </a:r>
            <a:r>
              <a:rPr lang="en-US" dirty="0"/>
              <a:t>.</a:t>
            </a:r>
          </a:p>
          <a:p>
            <a:endParaRPr lang="ru-RU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способов</a:t>
            </a:r>
            <a:r>
              <a:rPr lang="en-US" dirty="0"/>
              <a:t> </a:t>
            </a:r>
            <a:r>
              <a:rPr lang="en-US" dirty="0" err="1"/>
              <a:t>решения</a:t>
            </a:r>
            <a:r>
              <a:rPr lang="en-US" dirty="0"/>
              <a:t> — </a:t>
            </a:r>
            <a:r>
              <a:rPr lang="en-US" dirty="0" err="1"/>
              <a:t>передавать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вызывающим</a:t>
            </a:r>
            <a:r>
              <a:rPr lang="en-US" dirty="0"/>
              <a:t> </a:t>
            </a:r>
            <a:r>
              <a:rPr lang="en-US" dirty="0" err="1"/>
              <a:t>кодом</a:t>
            </a:r>
            <a:r>
              <a:rPr lang="en-US" dirty="0"/>
              <a:t>. </a:t>
            </a:r>
            <a:r>
              <a:rPr lang="en-US" dirty="0" err="1"/>
              <a:t>Другой</a:t>
            </a:r>
            <a:r>
              <a:rPr lang="en-US" dirty="0"/>
              <a:t> — </a:t>
            </a:r>
            <a:r>
              <a:rPr lang="en-US" dirty="0" err="1"/>
              <a:t>использовать</a:t>
            </a:r>
            <a:r>
              <a:rPr lang="en-US" dirty="0"/>
              <a:t> TLS. </a:t>
            </a:r>
            <a:r>
              <a:rPr lang="en-US" dirty="0" err="1"/>
              <a:t>Третий</a:t>
            </a:r>
            <a:r>
              <a:rPr lang="en-US" dirty="0"/>
              <a:t> — </a:t>
            </a:r>
            <a:r>
              <a:rPr lang="en-US" dirty="0" err="1"/>
              <a:t>защищать</a:t>
            </a:r>
            <a:r>
              <a:rPr lang="en-US" dirty="0"/>
              <a:t> </a:t>
            </a:r>
            <a:r>
              <a:rPr lang="en-US" dirty="0" err="1"/>
              <a:t>внутреннее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синхронизацией</a:t>
            </a:r>
            <a:r>
              <a:rPr lang="en-US" dirty="0"/>
              <a:t>.</a:t>
            </a:r>
          </a:p>
          <a:p>
            <a:r>
              <a:rPr lang="en-US" dirty="0" err="1"/>
              <a:t>Какой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, </a:t>
            </a:r>
            <a:r>
              <a:rPr lang="en-US" dirty="0" err="1"/>
              <a:t>зависит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смысла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87848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Итак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пересматривать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переходе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к </a:t>
            </a:r>
            <a:r>
              <a:rPr lang="en-US" dirty="0" err="1"/>
              <a:t>нескольким</a:t>
            </a:r>
            <a:r>
              <a:rPr lang="en-US" dirty="0"/>
              <a:t>?</a:t>
            </a:r>
          </a:p>
          <a:p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Первое</a:t>
            </a:r>
            <a:r>
              <a:rPr lang="en-US" dirty="0"/>
              <a:t> — </a:t>
            </a:r>
            <a:r>
              <a:rPr lang="en-US" dirty="0" err="1"/>
              <a:t>данные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решить</a:t>
            </a:r>
            <a:r>
              <a:rPr lang="en-US" dirty="0"/>
              <a:t>: </a:t>
            </a:r>
            <a:r>
              <a:rPr lang="en-US" dirty="0" err="1"/>
              <a:t>оно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принадлежать</a:t>
            </a:r>
            <a:r>
              <a:rPr lang="en-US" dirty="0"/>
              <a:t>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Второе</a:t>
            </a:r>
            <a:r>
              <a:rPr lang="en-US" dirty="0"/>
              <a:t> — </a:t>
            </a:r>
            <a:r>
              <a:rPr lang="en-US" dirty="0" err="1"/>
              <a:t>библиотеки</a:t>
            </a:r>
            <a:r>
              <a:rPr lang="en-US" dirty="0"/>
              <a:t>. </a:t>
            </a:r>
            <a:r>
              <a:rPr lang="en-US" dirty="0" err="1"/>
              <a:t>Функция</a:t>
            </a:r>
            <a:r>
              <a:rPr lang="en-US" dirty="0"/>
              <a:t>, </a:t>
            </a:r>
            <a:r>
              <a:rPr lang="en-US" dirty="0" err="1"/>
              <a:t>которая</a:t>
            </a:r>
            <a:r>
              <a:rPr lang="en-US" dirty="0"/>
              <a:t> </a:t>
            </a:r>
            <a:r>
              <a:rPr lang="en-US" dirty="0" err="1"/>
              <a:t>прекрасно</a:t>
            </a:r>
            <a:r>
              <a:rPr lang="en-US" dirty="0"/>
              <a:t> </a:t>
            </a:r>
            <a:r>
              <a:rPr lang="en-US" dirty="0" err="1"/>
              <a:t>работала</a:t>
            </a:r>
            <a:r>
              <a:rPr lang="en-US" dirty="0"/>
              <a:t> в </a:t>
            </a:r>
            <a:r>
              <a:rPr lang="en-US" dirty="0" err="1"/>
              <a:t>однопоточной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,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обязательно</a:t>
            </a:r>
            <a:r>
              <a:rPr lang="en-US" dirty="0"/>
              <a:t> </a:t>
            </a:r>
            <a:r>
              <a:rPr lang="en-US" dirty="0" err="1"/>
              <a:t>допускает</a:t>
            </a:r>
            <a:r>
              <a:rPr lang="en-US" dirty="0"/>
              <a:t> </a:t>
            </a:r>
            <a:r>
              <a:rPr lang="en-US" dirty="0" err="1"/>
              <a:t>одновременный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Третье</a:t>
            </a:r>
            <a:r>
              <a:rPr lang="en-US" dirty="0"/>
              <a:t> — </a:t>
            </a:r>
            <a:r>
              <a:rPr lang="en-US" dirty="0" err="1"/>
              <a:t>ресурсы</a:t>
            </a:r>
            <a:r>
              <a:rPr lang="en-US" dirty="0"/>
              <a:t> и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время</a:t>
            </a:r>
            <a:r>
              <a:rPr lang="en-US" dirty="0"/>
              <a:t> </a:t>
            </a:r>
            <a:r>
              <a:rPr lang="en-US" dirty="0" err="1"/>
              <a:t>жизни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закрывает</a:t>
            </a:r>
            <a:r>
              <a:rPr lang="en-US" dirty="0"/>
              <a:t> </a:t>
            </a:r>
            <a:r>
              <a:rPr lang="en-US" dirty="0" err="1"/>
              <a:t>файловый</a:t>
            </a:r>
            <a:r>
              <a:rPr lang="en-US" dirty="0"/>
              <a:t> </a:t>
            </a:r>
            <a:r>
              <a:rPr lang="en-US" dirty="0" err="1"/>
              <a:t>дескриптор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освобождает</a:t>
            </a:r>
            <a:r>
              <a:rPr lang="en-US" dirty="0"/>
              <a:t> </a:t>
            </a:r>
            <a:r>
              <a:rPr lang="en-US" dirty="0" err="1"/>
              <a:t>объект</a:t>
            </a:r>
            <a:r>
              <a:rPr lang="en-US" dirty="0"/>
              <a:t>,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уверенным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больше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пользуется</a:t>
            </a:r>
            <a:r>
              <a:rPr lang="en-US" dirty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многопоточность</a:t>
            </a:r>
            <a:r>
              <a:rPr lang="en-US" dirty="0"/>
              <a:t> </a:t>
            </a:r>
            <a:r>
              <a:rPr lang="en-US" dirty="0" err="1"/>
              <a:t>влияет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runtime и </a:t>
            </a:r>
            <a:r>
              <a:rPr lang="en-US" dirty="0" err="1"/>
              <a:t>операционную</a:t>
            </a:r>
            <a:r>
              <a:rPr lang="en-US" dirty="0"/>
              <a:t> </a:t>
            </a:r>
            <a:r>
              <a:rPr lang="en-US" dirty="0" err="1"/>
              <a:t>систему</a:t>
            </a:r>
            <a:r>
              <a:rPr lang="en-US" dirty="0"/>
              <a:t>. 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стек</a:t>
            </a:r>
            <a:r>
              <a:rPr lang="en-US" dirty="0"/>
              <a:t>.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thread-local storage. </a:t>
            </a:r>
            <a:r>
              <a:rPr lang="en-US" dirty="0" err="1"/>
              <a:t>Возникают</a:t>
            </a:r>
            <a:r>
              <a:rPr lang="en-US" dirty="0"/>
              <a:t> </a:t>
            </a:r>
            <a:r>
              <a:rPr lang="en-US" dirty="0" err="1"/>
              <a:t>вопросы</a:t>
            </a:r>
            <a:r>
              <a:rPr lang="en-US" dirty="0"/>
              <a:t> </a:t>
            </a:r>
            <a:r>
              <a:rPr lang="en-US" dirty="0" err="1"/>
              <a:t>доставки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r>
              <a:rPr lang="en-US" dirty="0"/>
              <a:t>: </a:t>
            </a:r>
            <a:r>
              <a:rPr lang="en-US" dirty="0" err="1"/>
              <a:t>некоторые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относятся</a:t>
            </a:r>
            <a:r>
              <a:rPr lang="en-US" dirty="0"/>
              <a:t> </a:t>
            </a:r>
            <a:r>
              <a:rPr lang="en-US" dirty="0" err="1"/>
              <a:t>ко</a:t>
            </a:r>
            <a:r>
              <a:rPr lang="en-US" dirty="0"/>
              <a:t> </a:t>
            </a:r>
            <a:r>
              <a:rPr lang="en-US" dirty="0" err="1"/>
              <a:t>всему</a:t>
            </a:r>
            <a:r>
              <a:rPr lang="en-US" dirty="0"/>
              <a:t> </a:t>
            </a:r>
            <a:r>
              <a:rPr lang="en-US" dirty="0" err="1"/>
              <a:t>процессу</a:t>
            </a:r>
            <a:r>
              <a:rPr lang="en-US" dirty="0"/>
              <a:t>, </a:t>
            </a:r>
            <a:r>
              <a:rPr lang="en-US" dirty="0" err="1"/>
              <a:t>другие</a:t>
            </a:r>
            <a:r>
              <a:rPr lang="en-US" dirty="0"/>
              <a:t> — к </a:t>
            </a:r>
            <a:r>
              <a:rPr lang="en-US" dirty="0" err="1"/>
              <a:t>конкретному</a:t>
            </a:r>
            <a:r>
              <a:rPr lang="en-US" dirty="0"/>
              <a:t> </a:t>
            </a:r>
            <a:r>
              <a:rPr lang="en-US" dirty="0" err="1"/>
              <a:t>потоку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поддержка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исторически</a:t>
            </a:r>
            <a:r>
              <a:rPr lang="en-US" dirty="0"/>
              <a:t> </a:t>
            </a:r>
            <a:r>
              <a:rPr lang="en-US" dirty="0" err="1"/>
              <a:t>потребовала</a:t>
            </a:r>
            <a:r>
              <a:rPr lang="en-US" dirty="0"/>
              <a:t> </a:t>
            </a:r>
            <a:r>
              <a:rPr lang="en-US" dirty="0" err="1"/>
              <a:t>изменений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в </a:t>
            </a:r>
            <a:r>
              <a:rPr lang="en-US" dirty="0" err="1"/>
              <a:t>прикладных</a:t>
            </a:r>
            <a:r>
              <a:rPr lang="en-US" dirty="0"/>
              <a:t> </a:t>
            </a:r>
            <a:r>
              <a:rPr lang="en-US" dirty="0" err="1"/>
              <a:t>программах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и в </a:t>
            </a:r>
            <a:r>
              <a:rPr lang="en-US" dirty="0" err="1"/>
              <a:t>библиотеках</a:t>
            </a:r>
            <a:r>
              <a:rPr lang="en-US" dirty="0"/>
              <a:t>, runtime и </a:t>
            </a:r>
            <a:r>
              <a:rPr lang="en-US" dirty="0" err="1"/>
              <a:t>самой</a:t>
            </a:r>
            <a:r>
              <a:rPr lang="en-US" dirty="0"/>
              <a:t> ОС.</a:t>
            </a:r>
          </a:p>
          <a:p>
            <a:endParaRPr lang="en-US" dirty="0"/>
          </a:p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следующем</a:t>
            </a:r>
            <a:r>
              <a:rPr lang="en-US" dirty="0"/>
              <a:t> </a:t>
            </a:r>
            <a:r>
              <a:rPr lang="en-US" dirty="0" err="1"/>
              <a:t>этапе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сложная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даже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b="1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общими</a:t>
            </a:r>
            <a:r>
              <a:rPr lang="en-US" dirty="0"/>
              <a:t>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попытаться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корректной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механизмы</a:t>
            </a:r>
            <a:r>
              <a:rPr lang="en-US" dirty="0"/>
              <a:t> </a:t>
            </a:r>
            <a:r>
              <a:rPr lang="en-US" dirty="0" err="1"/>
              <a:t>синхронизации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85980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414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До</a:t>
            </a:r>
            <a:r>
              <a:rPr lang="en-US" dirty="0"/>
              <a:t> </a:t>
            </a:r>
            <a:r>
              <a:rPr lang="en-US" dirty="0" err="1"/>
              <a:t>сих</a:t>
            </a:r>
            <a:r>
              <a:rPr lang="en-US" dirty="0"/>
              <a:t> </a:t>
            </a:r>
            <a:r>
              <a:rPr lang="en-US" dirty="0" err="1"/>
              <a:t>пор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в </a:t>
            </a:r>
            <a:r>
              <a:rPr lang="en-US" dirty="0" err="1"/>
              <a:t>основном</a:t>
            </a:r>
            <a:r>
              <a:rPr lang="en-US" dirty="0"/>
              <a:t> </a:t>
            </a:r>
            <a:r>
              <a:rPr lang="en-US" dirty="0" err="1"/>
              <a:t>связывали</a:t>
            </a:r>
            <a:r>
              <a:rPr lang="en-US" dirty="0"/>
              <a:t> </a:t>
            </a:r>
            <a:r>
              <a:rPr lang="en-US" dirty="0" err="1"/>
              <a:t>конкурентное</a:t>
            </a:r>
            <a:r>
              <a:rPr lang="en-US" dirty="0"/>
              <a:t> </a:t>
            </a:r>
            <a:r>
              <a:rPr lang="en-US" dirty="0" err="1"/>
              <a:t>обслуживание</a:t>
            </a:r>
            <a:r>
              <a:rPr lang="en-US" dirty="0"/>
              <a:t> </a:t>
            </a:r>
            <a:r>
              <a:rPr lang="en-US" dirty="0" err="1"/>
              <a:t>нескольких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с </a:t>
            </a:r>
            <a:r>
              <a:rPr lang="en-US" dirty="0" err="1"/>
              <a:t>потоками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Например</a:t>
            </a:r>
            <a:r>
              <a:rPr lang="en-US" dirty="0"/>
              <a:t>,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 </a:t>
            </a:r>
            <a:r>
              <a:rPr lang="en-US" dirty="0" err="1"/>
              <a:t>рабочий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пул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 </a:t>
            </a:r>
            <a:r>
              <a:rPr lang="en-US" dirty="0" err="1"/>
              <a:t>Тогда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достаточно</a:t>
            </a:r>
            <a:r>
              <a:rPr lang="en-US" dirty="0"/>
              <a:t> </a:t>
            </a:r>
            <a:r>
              <a:rPr lang="en-US" dirty="0" err="1"/>
              <a:t>естественным</a:t>
            </a:r>
            <a:r>
              <a:rPr lang="en-US" dirty="0"/>
              <a:t>: </a:t>
            </a:r>
            <a:r>
              <a:rPr lang="en-US" dirty="0" err="1"/>
              <a:t>прочитали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обработали</a:t>
            </a:r>
            <a:r>
              <a:rPr lang="en-US" dirty="0"/>
              <a:t>, </a:t>
            </a:r>
            <a:r>
              <a:rPr lang="en-US" dirty="0" err="1"/>
              <a:t>отправили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 </a:t>
            </a:r>
            <a:r>
              <a:rPr lang="en-US" dirty="0" err="1"/>
              <a:t>заблокировался</a:t>
            </a:r>
            <a:r>
              <a:rPr lang="en-US" dirty="0"/>
              <a:t>, </a:t>
            </a:r>
            <a:r>
              <a:rPr lang="en-US" dirty="0" err="1"/>
              <a:t>блокируется</a:t>
            </a:r>
            <a:r>
              <a:rPr lang="en-US" dirty="0"/>
              <a:t>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а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продолжают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подход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того</a:t>
            </a:r>
            <a:r>
              <a:rPr lang="en-US" dirty="0"/>
              <a:t>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представлять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 </a:t>
            </a:r>
            <a:r>
              <a:rPr lang="en-US" dirty="0" err="1"/>
              <a:t>соединение</a:t>
            </a:r>
            <a:r>
              <a:rPr lang="en-US" dirty="0"/>
              <a:t> </a:t>
            </a:r>
            <a:r>
              <a:rPr lang="en-US" dirty="0" err="1"/>
              <a:t>отдельным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,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следит</a:t>
            </a:r>
            <a:r>
              <a:rPr lang="en-US" dirty="0"/>
              <a:t> </a:t>
            </a:r>
            <a:r>
              <a:rPr lang="en-US" dirty="0" err="1"/>
              <a:t>сразу</a:t>
            </a:r>
            <a:r>
              <a:rPr lang="en-US" dirty="0"/>
              <a:t> </a:t>
            </a:r>
            <a:r>
              <a:rPr lang="en-US" dirty="0" err="1"/>
              <a:t>за</a:t>
            </a:r>
            <a:r>
              <a:rPr lang="en-US" dirty="0"/>
              <a:t> </a:t>
            </a:r>
            <a:r>
              <a:rPr lang="en-US" dirty="0" err="1"/>
              <a:t>большим</a:t>
            </a:r>
            <a:r>
              <a:rPr lang="en-US" dirty="0"/>
              <a:t> </a:t>
            </a:r>
            <a:r>
              <a:rPr lang="en-US" dirty="0" err="1"/>
              <a:t>количеством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простая</a:t>
            </a:r>
            <a:r>
              <a:rPr lang="en-US" dirty="0"/>
              <a:t>: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ждать</a:t>
            </a:r>
            <a:r>
              <a:rPr lang="en-US" b="1" dirty="0"/>
              <a:t> </a:t>
            </a:r>
            <a:r>
              <a:rPr lang="en-US" b="1" dirty="0" err="1"/>
              <a:t>конкретного</a:t>
            </a:r>
            <a:r>
              <a:rPr lang="en-US" b="1" dirty="0"/>
              <a:t> </a:t>
            </a:r>
            <a:r>
              <a:rPr lang="en-US" b="1" dirty="0" err="1"/>
              <a:t>клиента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прислал</a:t>
            </a:r>
            <a:r>
              <a:rPr lang="en-US" dirty="0"/>
              <a:t>,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должен</a:t>
            </a:r>
            <a:r>
              <a:rPr lang="en-US" dirty="0"/>
              <a:t> </a:t>
            </a:r>
            <a:r>
              <a:rPr lang="en-US" dirty="0" err="1"/>
              <a:t>стоять</a:t>
            </a:r>
            <a:r>
              <a:rPr lang="en-US" dirty="0"/>
              <a:t> и </a:t>
            </a:r>
            <a:r>
              <a:rPr lang="en-US" dirty="0" err="1"/>
              <a:t>ждать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обработать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, </a:t>
            </a:r>
            <a:r>
              <a:rPr lang="en-US" dirty="0" err="1"/>
              <a:t>принять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соединение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отправку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 </a:t>
            </a:r>
            <a:r>
              <a:rPr lang="en-US" dirty="0" err="1"/>
              <a:t>клиенту</a:t>
            </a:r>
            <a:r>
              <a:rPr lang="en-US" dirty="0"/>
              <a:t> </a:t>
            </a:r>
            <a:r>
              <a:rPr lang="en-US" dirty="0" err="1"/>
              <a:t>номер</a:t>
            </a:r>
            <a:r>
              <a:rPr lang="en-US" dirty="0"/>
              <a:t> </a:t>
            </a:r>
            <a:r>
              <a:rPr lang="en-US" dirty="0" err="1"/>
              <a:t>три</a:t>
            </a:r>
            <a:r>
              <a:rPr lang="en-US" dirty="0"/>
              <a:t>.</a:t>
            </a:r>
          </a:p>
          <a:p>
            <a:r>
              <a:rPr lang="en-US" dirty="0" err="1"/>
              <a:t>Так</a:t>
            </a:r>
            <a:r>
              <a:rPr lang="en-US" dirty="0"/>
              <a:t>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событийная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 </a:t>
            </a:r>
            <a:r>
              <a:rPr lang="en-US" dirty="0" err="1"/>
              <a:t>возникновения</a:t>
            </a:r>
            <a:r>
              <a:rPr lang="en-US" dirty="0"/>
              <a:t> </a:t>
            </a:r>
            <a:r>
              <a:rPr lang="en-US" dirty="0" err="1"/>
              <a:t>некоторого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и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важно</a:t>
            </a:r>
            <a:r>
              <a:rPr lang="en-US" dirty="0"/>
              <a:t> </a:t>
            </a:r>
            <a:r>
              <a:rPr lang="en-US" dirty="0" err="1"/>
              <a:t>различать</a:t>
            </a:r>
            <a:r>
              <a:rPr lang="en-US" dirty="0"/>
              <a:t> </a:t>
            </a:r>
            <a:r>
              <a:rPr lang="en-US" b="1" dirty="0" err="1"/>
              <a:t>конкурентность</a:t>
            </a:r>
            <a:r>
              <a:rPr lang="en-US" b="1" dirty="0"/>
              <a:t> и </a:t>
            </a:r>
            <a:r>
              <a:rPr lang="en-US" b="1" dirty="0" err="1"/>
              <a:t>параллелизм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event loop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конкурентно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тысячи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, в </a:t>
            </a:r>
            <a:r>
              <a:rPr lang="en-US" dirty="0" err="1"/>
              <a:t>конкретный</a:t>
            </a:r>
            <a:r>
              <a:rPr lang="en-US" dirty="0"/>
              <a:t> </a:t>
            </a:r>
            <a:r>
              <a:rPr lang="en-US" dirty="0" err="1"/>
              <a:t>момент</a:t>
            </a:r>
            <a:r>
              <a:rPr lang="en-US" dirty="0"/>
              <a:t> CPU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87365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Сердце</a:t>
            </a:r>
            <a:r>
              <a:rPr lang="en-US" dirty="0"/>
              <a:t> </a:t>
            </a:r>
            <a:r>
              <a:rPr lang="en-US" dirty="0" err="1"/>
              <a:t>такой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— </a:t>
            </a:r>
            <a:r>
              <a:rPr lang="en-US" b="1" dirty="0"/>
              <a:t>event loop</a:t>
            </a:r>
            <a:r>
              <a:rPr lang="en-US" dirty="0"/>
              <a:t>, </a:t>
            </a:r>
            <a:r>
              <a:rPr lang="en-US" dirty="0" err="1"/>
              <a:t>цикл</a:t>
            </a:r>
            <a:r>
              <a:rPr lang="en-US" dirty="0"/>
              <a:t> </a:t>
            </a:r>
            <a:r>
              <a:rPr lang="en-US" dirty="0" err="1"/>
              <a:t>обработки</a:t>
            </a:r>
            <a:r>
              <a:rPr lang="en-US" dirty="0"/>
              <a:t> </a:t>
            </a:r>
            <a:r>
              <a:rPr lang="en-US" dirty="0" err="1"/>
              <a:t>событий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Сначала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 </a:t>
            </a:r>
            <a:r>
              <a:rPr lang="en-US" dirty="0" err="1"/>
              <a:t>операционной</a:t>
            </a:r>
            <a:r>
              <a:rPr lang="en-US" dirty="0"/>
              <a:t> </a:t>
            </a:r>
            <a:r>
              <a:rPr lang="en-US" dirty="0" err="1"/>
              <a:t>системе</a:t>
            </a:r>
            <a:r>
              <a:rPr lang="en-US" dirty="0"/>
              <a:t>, </a:t>
            </a:r>
            <a:r>
              <a:rPr lang="en-US" dirty="0" err="1"/>
              <a:t>какие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его</a:t>
            </a:r>
            <a:r>
              <a:rPr lang="en-US" dirty="0"/>
              <a:t> </a:t>
            </a:r>
            <a:r>
              <a:rPr lang="en-US" dirty="0" err="1"/>
              <a:t>интересуют</a:t>
            </a:r>
            <a:r>
              <a:rPr lang="en-US" dirty="0"/>
              <a:t>. </a:t>
            </a:r>
            <a:r>
              <a:rPr lang="en-US" dirty="0" err="1"/>
              <a:t>Например</a:t>
            </a:r>
            <a:r>
              <a:rPr lang="en-US" dirty="0"/>
              <a:t>: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сокете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чтения</a:t>
            </a:r>
            <a:r>
              <a:rPr lang="en-US" dirty="0"/>
              <a:t>,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другом</a:t>
            </a:r>
            <a:r>
              <a:rPr lang="en-US" dirty="0"/>
              <a:t> </a:t>
            </a:r>
            <a:r>
              <a:rPr lang="en-US" dirty="0" err="1"/>
              <a:t>сокете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продолжить</a:t>
            </a:r>
            <a:r>
              <a:rPr lang="en-US" dirty="0"/>
              <a:t> </a:t>
            </a:r>
            <a:r>
              <a:rPr lang="en-US" dirty="0" err="1"/>
              <a:t>запись</a:t>
            </a:r>
            <a:r>
              <a:rPr lang="en-US" dirty="0"/>
              <a:t>, </a:t>
            </a:r>
            <a:r>
              <a:rPr lang="en-US" dirty="0" err="1"/>
              <a:t>появился</a:t>
            </a:r>
            <a:r>
              <a:rPr lang="en-US" dirty="0"/>
              <a:t> </a:t>
            </a:r>
            <a:r>
              <a:rPr lang="en-US" dirty="0" err="1"/>
              <a:t>новый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ждёт</a:t>
            </a:r>
            <a:r>
              <a:rPr lang="en-US" dirty="0"/>
              <a:t>.</a:t>
            </a:r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обратите</a:t>
            </a:r>
            <a:r>
              <a:rPr lang="en-US" dirty="0"/>
              <a:t> </a:t>
            </a:r>
            <a:r>
              <a:rPr lang="en-US" dirty="0" err="1"/>
              <a:t>внимание</a:t>
            </a:r>
            <a:r>
              <a:rPr lang="en-US" dirty="0"/>
              <a:t>: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означает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конкретного</a:t>
            </a:r>
            <a:r>
              <a:rPr lang="en-US" b="1" dirty="0"/>
              <a:t> </a:t>
            </a:r>
            <a:r>
              <a:rPr lang="en-US" b="1" dirty="0" err="1"/>
              <a:t>соединения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ждём</a:t>
            </a:r>
            <a:r>
              <a:rPr lang="en-US" dirty="0"/>
              <a:t>, </a:t>
            </a:r>
            <a:r>
              <a:rPr lang="en-US" dirty="0" err="1"/>
              <a:t>пока</a:t>
            </a:r>
            <a:r>
              <a:rPr lang="en-US" dirty="0"/>
              <a:t> </a:t>
            </a:r>
            <a:r>
              <a:rPr lang="en-US" dirty="0" err="1"/>
              <a:t>что-нибудь</a:t>
            </a:r>
            <a:r>
              <a:rPr lang="en-US" dirty="0"/>
              <a:t> </a:t>
            </a:r>
            <a:r>
              <a:rPr lang="en-US" dirty="0" err="1"/>
              <a:t>произойдёт</a:t>
            </a:r>
            <a:r>
              <a:rPr lang="en-US" dirty="0"/>
              <a:t> </a:t>
            </a:r>
            <a:r>
              <a:rPr lang="en-US" dirty="0" err="1"/>
              <a:t>хотя</a:t>
            </a:r>
            <a:r>
              <a:rPr lang="en-US" dirty="0"/>
              <a:t> </a:t>
            </a:r>
            <a:r>
              <a:rPr lang="en-US" dirty="0" err="1"/>
              <a:t>бы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большого</a:t>
            </a:r>
            <a:r>
              <a:rPr lang="en-US" dirty="0"/>
              <a:t> </a:t>
            </a:r>
            <a:r>
              <a:rPr lang="en-US" dirty="0" err="1"/>
              <a:t>набора</a:t>
            </a:r>
            <a:r>
              <a:rPr lang="en-US" dirty="0"/>
              <a:t> </a:t>
            </a:r>
            <a:r>
              <a:rPr lang="en-US" dirty="0" err="1"/>
              <a:t>файловых</a:t>
            </a:r>
            <a:r>
              <a:rPr lang="en-US" dirty="0"/>
              <a:t> </a:t>
            </a:r>
            <a:r>
              <a:rPr lang="en-US" dirty="0" err="1"/>
              <a:t>дескрипторов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ввода-вывода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В Linux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существуют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poll</a:t>
            </a:r>
            <a:r>
              <a:rPr lang="en-US" dirty="0"/>
              <a:t>,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epoll</a:t>
            </a:r>
            <a:r>
              <a:rPr lang="en-US" dirty="0"/>
              <a:t>; в BSD-</a:t>
            </a:r>
            <a:r>
              <a:rPr lang="en-US" dirty="0" err="1"/>
              <a:t>системах</a:t>
            </a:r>
            <a:r>
              <a:rPr lang="en-US" dirty="0"/>
              <a:t> —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kqueue</a:t>
            </a:r>
            <a:r>
              <a:rPr lang="en-US" dirty="0"/>
              <a:t>.</a:t>
            </a:r>
          </a:p>
          <a:p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формулировку</a:t>
            </a:r>
            <a:r>
              <a:rPr lang="en-US" dirty="0"/>
              <a:t> «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en-US" dirty="0"/>
              <a:t>,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select</a:t>
            </a:r>
            <a:r>
              <a:rPr lang="en-US" dirty="0"/>
              <a:t> — </a:t>
            </a:r>
            <a:r>
              <a:rPr lang="en-US" dirty="0" err="1"/>
              <a:t>неблокирующие</a:t>
            </a:r>
            <a:r>
              <a:rPr lang="en-US" dirty="0"/>
              <a:t> </a:t>
            </a:r>
            <a:r>
              <a:rPr lang="en-US" dirty="0" err="1"/>
              <a:t>системные</a:t>
            </a:r>
            <a:r>
              <a:rPr lang="en-US" dirty="0"/>
              <a:t> </a:t>
            </a:r>
            <a:r>
              <a:rPr lang="en-US" dirty="0" err="1"/>
              <a:t>вызовы</a:t>
            </a:r>
            <a:r>
              <a:rPr lang="en-US" dirty="0"/>
              <a:t>» </a:t>
            </a:r>
            <a:r>
              <a:rPr lang="en-US" dirty="0" err="1"/>
              <a:t>лучше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.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 и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</a:t>
            </a:r>
            <a:r>
              <a:rPr lang="en-US" dirty="0"/>
              <a:t> </a:t>
            </a:r>
            <a:r>
              <a:rPr lang="en-US" dirty="0" err="1"/>
              <a:t>сами</a:t>
            </a:r>
            <a:r>
              <a:rPr lang="en-US" dirty="0"/>
              <a:t> </a:t>
            </a:r>
            <a:r>
              <a:rPr lang="en-US" dirty="0" err="1"/>
              <a:t>по</a:t>
            </a:r>
            <a:r>
              <a:rPr lang="en-US" dirty="0"/>
              <a:t> </a:t>
            </a:r>
            <a:r>
              <a:rPr lang="en-US" dirty="0" err="1"/>
              <a:t>себе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быть</a:t>
            </a:r>
            <a:r>
              <a:rPr lang="en-US" dirty="0"/>
              <a:t> </a:t>
            </a:r>
            <a:r>
              <a:rPr lang="en-US" dirty="0" err="1"/>
              <a:t>блокирующими</a:t>
            </a:r>
            <a:r>
              <a:rPr lang="en-US" dirty="0"/>
              <a:t>.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сокеты</a:t>
            </a:r>
            <a:r>
              <a:rPr lang="en-US" dirty="0"/>
              <a:t> </a:t>
            </a:r>
            <a:r>
              <a:rPr lang="en-US" dirty="0" err="1"/>
              <a:t>переводят</a:t>
            </a:r>
            <a:r>
              <a:rPr lang="en-US" dirty="0"/>
              <a:t> в </a:t>
            </a:r>
            <a:r>
              <a:rPr lang="en-US" dirty="0" err="1"/>
              <a:t>неблокирующий</a:t>
            </a:r>
            <a:r>
              <a:rPr lang="en-US" dirty="0"/>
              <a:t> </a:t>
            </a:r>
            <a:r>
              <a:rPr lang="en-US" dirty="0" err="1"/>
              <a:t>режим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epoll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аналогичный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</a:t>
            </a:r>
            <a:r>
              <a:rPr lang="en-US" dirty="0" err="1"/>
              <a:t>сообщает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попробовать</a:t>
            </a:r>
            <a:r>
              <a:rPr lang="en-US" dirty="0"/>
              <a:t> </a:t>
            </a:r>
            <a:r>
              <a:rPr lang="en-US" dirty="0" err="1"/>
              <a:t>операцию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Windows IOCP</a:t>
            </a:r>
            <a:r>
              <a:rPr lang="ru-RU" dirty="0"/>
              <a:t> (</a:t>
            </a:r>
            <a:r>
              <a:rPr lang="en-US" dirty="0"/>
              <a:t>Input/Output Completion Port) </a:t>
            </a:r>
            <a:r>
              <a:rPr lang="en-US" dirty="0" err="1"/>
              <a:t>устроен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иначе</a:t>
            </a:r>
            <a:r>
              <a:rPr lang="en-US" dirty="0"/>
              <a:t>: </a:t>
            </a:r>
            <a:r>
              <a:rPr lang="en-US" dirty="0" err="1"/>
              <a:t>это</a:t>
            </a:r>
            <a:r>
              <a:rPr lang="en-US" dirty="0"/>
              <a:t> в </a:t>
            </a:r>
            <a:r>
              <a:rPr lang="en-US" dirty="0" err="1"/>
              <a:t>большей</a:t>
            </a:r>
            <a:r>
              <a:rPr lang="en-US" dirty="0"/>
              <a:t> </a:t>
            </a:r>
            <a:r>
              <a:rPr lang="en-US" dirty="0" err="1"/>
              <a:t>степени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b="1" dirty="0" err="1"/>
              <a:t>уведомления</a:t>
            </a:r>
            <a:r>
              <a:rPr lang="en-US" b="1" dirty="0"/>
              <a:t> о </a:t>
            </a:r>
            <a:r>
              <a:rPr lang="en-US" b="1" dirty="0" err="1"/>
              <a:t>завершении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, а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epoll</a:t>
            </a:r>
            <a:r>
              <a:rPr lang="en-US" dirty="0"/>
              <a:t> и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kqueue</a:t>
            </a:r>
            <a:r>
              <a:rPr lang="en-US" dirty="0"/>
              <a:t> </a:t>
            </a:r>
            <a:r>
              <a:rPr lang="en-US" dirty="0" err="1"/>
              <a:t>обычно</a:t>
            </a:r>
            <a:r>
              <a:rPr lang="en-US" dirty="0"/>
              <a:t> </a:t>
            </a:r>
            <a:r>
              <a:rPr lang="en-US" dirty="0" err="1"/>
              <a:t>обсуждают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готовности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уровне</a:t>
            </a:r>
            <a:r>
              <a:rPr lang="en-US" dirty="0"/>
              <a:t> </a:t>
            </a:r>
            <a:r>
              <a:rPr lang="en-US" dirty="0" err="1"/>
              <a:t>нашей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смысл</a:t>
            </a:r>
            <a:r>
              <a:rPr lang="en-US" dirty="0"/>
              <a:t> </a:t>
            </a:r>
            <a:r>
              <a:rPr lang="en-US" dirty="0" err="1"/>
              <a:t>похож</a:t>
            </a:r>
            <a:r>
              <a:rPr lang="en-US" dirty="0"/>
              <a:t>: </a:t>
            </a:r>
            <a:r>
              <a:rPr lang="en-US" dirty="0" err="1"/>
              <a:t>приложение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ожидающий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Получив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event loop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dirty="0" err="1"/>
              <a:t>соответствующий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, </a:t>
            </a:r>
            <a:r>
              <a:rPr lang="en-US" dirty="0" err="1"/>
              <a:t>тот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небольшой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</a:t>
            </a:r>
            <a:r>
              <a:rPr lang="en-US" dirty="0" err="1"/>
              <a:t>работы</a:t>
            </a:r>
            <a:r>
              <a:rPr lang="en-US" dirty="0"/>
              <a:t> и </a:t>
            </a:r>
            <a:r>
              <a:rPr lang="en-US" dirty="0" err="1"/>
              <a:t>возвращает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циклу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3502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</a:t>
            </a:r>
            <a:r>
              <a:rPr lang="en-US" dirty="0" err="1"/>
              <a:t>потоковой</a:t>
            </a:r>
            <a:r>
              <a:rPr lang="en-US" dirty="0"/>
              <a:t> и </a:t>
            </a:r>
            <a:r>
              <a:rPr lang="en-US" dirty="0" err="1"/>
              <a:t>событийной</a:t>
            </a:r>
            <a:r>
              <a:rPr lang="en-US" dirty="0"/>
              <a:t> </a:t>
            </a:r>
            <a:r>
              <a:rPr lang="en-US" dirty="0" err="1"/>
              <a:t>моделей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различие</a:t>
            </a:r>
            <a:r>
              <a:rPr lang="en-US" dirty="0"/>
              <a:t> в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b="1" dirty="0" err="1"/>
              <a:t>где</a:t>
            </a:r>
            <a:r>
              <a:rPr lang="en-US" b="1" dirty="0"/>
              <a:t> </a:t>
            </a:r>
            <a:r>
              <a:rPr lang="en-US" b="1" dirty="0" err="1"/>
              <a:t>находится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незавершённой</a:t>
            </a:r>
            <a:r>
              <a:rPr lang="en-US" b="1" dirty="0"/>
              <a:t> </a:t>
            </a:r>
            <a:r>
              <a:rPr lang="en-US" b="1" dirty="0" err="1"/>
              <a:t>операции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В </a:t>
            </a:r>
            <a:r>
              <a:rPr lang="en-US" dirty="0" err="1"/>
              <a:t>потоковой</a:t>
            </a:r>
            <a:r>
              <a:rPr lang="en-US" dirty="0"/>
              <a:t> </a:t>
            </a:r>
            <a:r>
              <a:rPr lang="en-US" dirty="0" err="1"/>
              <a:t>программе</a:t>
            </a:r>
            <a:r>
              <a:rPr lang="en-US" dirty="0"/>
              <a:t> </a:t>
            </a:r>
            <a:r>
              <a:rPr lang="en-US" dirty="0" err="1"/>
              <a:t>всё</a:t>
            </a:r>
            <a:r>
              <a:rPr lang="en-US" dirty="0"/>
              <a:t> </a:t>
            </a:r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почти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.</a:t>
            </a:r>
          </a:p>
          <a:p>
            <a:r>
              <a:rPr lang="en-US" dirty="0" err="1"/>
              <a:t>Представим</a:t>
            </a:r>
            <a:r>
              <a:rPr lang="en-US" dirty="0"/>
              <a:t> </a:t>
            </a:r>
            <a:r>
              <a:rPr lang="en-US" dirty="0" err="1"/>
              <a:t>функцию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handle_client</a:t>
            </a:r>
            <a:r>
              <a:rPr lang="en-US" dirty="0"/>
              <a:t>.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вызывает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read_request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process</a:t>
            </a:r>
            <a:r>
              <a:rPr lang="en-US" dirty="0"/>
              <a:t>, </a:t>
            </a:r>
            <a:r>
              <a:rPr lang="en-US" dirty="0" err="1"/>
              <a:t>затем</a:t>
            </a:r>
            <a:r>
              <a:rPr lang="en-US" dirty="0"/>
              <a:t> 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write_response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временно</a:t>
            </a:r>
            <a:r>
              <a:rPr lang="en-US" dirty="0"/>
              <a:t> </a:t>
            </a:r>
            <a:r>
              <a:rPr lang="en-US" dirty="0" err="1"/>
              <a:t>остановилось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read</a:t>
            </a:r>
            <a:r>
              <a:rPr lang="en-US" dirty="0"/>
              <a:t>, </a:t>
            </a:r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информацию</a:t>
            </a:r>
            <a:r>
              <a:rPr lang="en-US" dirty="0"/>
              <a:t> о </a:t>
            </a:r>
            <a:r>
              <a:rPr lang="en-US" dirty="0" err="1"/>
              <a:t>том</a:t>
            </a:r>
            <a:r>
              <a:rPr lang="en-US" dirty="0"/>
              <a:t>, </a:t>
            </a:r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находились</a:t>
            </a:r>
            <a:r>
              <a:rPr lang="en-US" dirty="0"/>
              <a:t> и </a:t>
            </a:r>
            <a:r>
              <a:rPr lang="en-US" dirty="0" err="1"/>
              <a:t>куда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вернуться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С </a:t>
            </a:r>
            <a:r>
              <a:rPr lang="en-US" dirty="0" err="1"/>
              <a:t>событийной</a:t>
            </a:r>
            <a:r>
              <a:rPr lang="en-US" dirty="0"/>
              <a:t> </a:t>
            </a:r>
            <a:r>
              <a:rPr lang="en-US" dirty="0" err="1"/>
              <a:t>моделью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</a:t>
            </a:r>
            <a:r>
              <a:rPr lang="en-US" dirty="0" err="1"/>
              <a:t>нет</a:t>
            </a:r>
            <a:r>
              <a:rPr lang="en-US" dirty="0"/>
              <a:t>.</a:t>
            </a:r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.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запоминает</a:t>
            </a:r>
            <a:r>
              <a:rPr lang="en-US" dirty="0"/>
              <a:t>: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сейчас</a:t>
            </a:r>
            <a:r>
              <a:rPr lang="en-US" dirty="0"/>
              <a:t> </a:t>
            </a:r>
            <a:r>
              <a:rPr lang="en-US" dirty="0" err="1"/>
              <a:t>ждём</a:t>
            </a:r>
            <a:r>
              <a:rPr lang="en-US" dirty="0"/>
              <a:t> </a:t>
            </a:r>
            <a:r>
              <a:rPr lang="en-US" dirty="0" err="1"/>
              <a:t>заголовок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? </a:t>
            </a:r>
            <a:r>
              <a:rPr lang="en-US" dirty="0" err="1"/>
              <a:t>уже</a:t>
            </a:r>
            <a:r>
              <a:rPr lang="en-US" dirty="0"/>
              <a:t> </a:t>
            </a:r>
            <a:r>
              <a:rPr lang="en-US" dirty="0" err="1"/>
              <a:t>получили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тела</a:t>
            </a:r>
            <a:r>
              <a:rPr lang="en-US" dirty="0"/>
              <a:t>? </a:t>
            </a:r>
            <a:r>
              <a:rPr lang="en-US" dirty="0" err="1"/>
              <a:t>формируем</a:t>
            </a:r>
            <a:r>
              <a:rPr lang="en-US" dirty="0"/>
              <a:t> </a:t>
            </a:r>
            <a:r>
              <a:rPr lang="en-US" dirty="0" err="1"/>
              <a:t>ответ</a:t>
            </a:r>
            <a:r>
              <a:rPr lang="en-US" dirty="0"/>
              <a:t>? </a:t>
            </a:r>
            <a:r>
              <a:rPr lang="en-US" dirty="0" err="1"/>
              <a:t>записали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половину</a:t>
            </a:r>
            <a:r>
              <a:rPr lang="en-US" dirty="0"/>
              <a:t> </a:t>
            </a:r>
            <a:r>
              <a:rPr lang="en-US" dirty="0" err="1"/>
              <a:t>ответа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 err="1"/>
              <a:t>Получается</a:t>
            </a:r>
            <a:r>
              <a:rPr lang="en-US" dirty="0"/>
              <a:t> </a:t>
            </a:r>
            <a:r>
              <a:rPr lang="en-US" dirty="0" err="1"/>
              <a:t>конечный</a:t>
            </a:r>
            <a:r>
              <a:rPr lang="en-US" dirty="0"/>
              <a:t> </a:t>
            </a:r>
            <a:r>
              <a:rPr lang="en-US" dirty="0" err="1"/>
              <a:t>автомат</a:t>
            </a:r>
            <a:r>
              <a:rPr lang="en-US" dirty="0"/>
              <a:t> — FSM.</a:t>
            </a:r>
          </a:p>
          <a:p>
            <a:r>
              <a:rPr lang="en-US" dirty="0" err="1"/>
              <a:t>Приходит</a:t>
            </a:r>
            <a:r>
              <a:rPr lang="en-US" dirty="0"/>
              <a:t> </a:t>
            </a:r>
            <a:r>
              <a:rPr lang="en-US" dirty="0" err="1"/>
              <a:t>событие</a:t>
            </a:r>
            <a:r>
              <a:rPr lang="en-US" dirty="0"/>
              <a:t>,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находим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соответствующего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, </a:t>
            </a:r>
            <a:r>
              <a:rPr lang="en-US" dirty="0" err="1"/>
              <a:t>выполняем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шаг</a:t>
            </a:r>
            <a:r>
              <a:rPr lang="en-US" dirty="0"/>
              <a:t> </a:t>
            </a:r>
            <a:r>
              <a:rPr lang="en-US" dirty="0" err="1"/>
              <a:t>автомата</a:t>
            </a:r>
            <a:r>
              <a:rPr lang="en-US" dirty="0"/>
              <a:t>, </a:t>
            </a:r>
            <a:r>
              <a:rPr lang="en-US" dirty="0" err="1"/>
              <a:t>сохраняем</a:t>
            </a:r>
            <a:r>
              <a:rPr lang="en-US" dirty="0"/>
              <a:t> </a:t>
            </a:r>
            <a:r>
              <a:rPr lang="en-US" dirty="0" err="1"/>
              <a:t>новое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возвращаемся</a:t>
            </a:r>
            <a:r>
              <a:rPr lang="en-US" dirty="0"/>
              <a:t> в event loop.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иногда</a:t>
            </a:r>
            <a:r>
              <a:rPr lang="en-US" dirty="0"/>
              <a:t> </a:t>
            </a:r>
            <a:r>
              <a:rPr lang="en-US" dirty="0" err="1"/>
              <a:t>говорят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 </a:t>
            </a:r>
            <a:r>
              <a:rPr lang="en-US" dirty="0" err="1"/>
              <a:t>вручную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то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в </a:t>
            </a:r>
            <a:r>
              <a:rPr lang="en-US" dirty="0" err="1"/>
              <a:t>потоковой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в </a:t>
            </a:r>
            <a:r>
              <a:rPr lang="en-US" dirty="0" err="1"/>
              <a:t>стеке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преимущество</a:t>
            </a:r>
            <a:r>
              <a:rPr lang="en-US" dirty="0"/>
              <a:t> и </a:t>
            </a:r>
            <a:r>
              <a:rPr lang="en-US" dirty="0" err="1"/>
              <a:t>недостаток</a:t>
            </a:r>
            <a:r>
              <a:rPr lang="en-US" dirty="0"/>
              <a:t>.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иметь</a:t>
            </a:r>
            <a:r>
              <a:rPr lang="en-US" dirty="0"/>
              <a:t> </a:t>
            </a:r>
            <a:r>
              <a:rPr lang="en-US" dirty="0" err="1"/>
              <a:t>огромное</a:t>
            </a:r>
            <a:r>
              <a:rPr lang="en-US" dirty="0"/>
              <a:t>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активных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каждое</a:t>
            </a:r>
            <a:r>
              <a:rPr lang="en-US" dirty="0"/>
              <a:t>.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сложнее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Современные</a:t>
            </a:r>
            <a:r>
              <a:rPr lang="en-US" dirty="0"/>
              <a:t>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async/await</a:t>
            </a:r>
            <a:r>
              <a:rPr lang="en-US" dirty="0"/>
              <a:t> и </a:t>
            </a:r>
            <a:r>
              <a:rPr lang="en-US" dirty="0" err="1"/>
              <a:t>корутины</a:t>
            </a:r>
            <a:r>
              <a:rPr lang="en-US" dirty="0"/>
              <a:t> </a:t>
            </a:r>
            <a:r>
              <a:rPr lang="en-US" dirty="0" err="1"/>
              <a:t>во</a:t>
            </a:r>
            <a:r>
              <a:rPr lang="en-US" dirty="0"/>
              <a:t> </a:t>
            </a:r>
            <a:r>
              <a:rPr lang="en-US" dirty="0" err="1"/>
              <a:t>многом</a:t>
            </a:r>
            <a:r>
              <a:rPr lang="en-US" dirty="0"/>
              <a:t> </a:t>
            </a:r>
            <a:r>
              <a:rPr lang="en-US" dirty="0" err="1"/>
              <a:t>появились</a:t>
            </a:r>
            <a:r>
              <a:rPr lang="en-US" dirty="0"/>
              <a:t> </a:t>
            </a:r>
            <a:r>
              <a:rPr lang="en-US" dirty="0" err="1"/>
              <a:t>именно</a:t>
            </a:r>
            <a:r>
              <a:rPr lang="en-US" dirty="0"/>
              <a:t> </a:t>
            </a:r>
            <a:r>
              <a:rPr lang="en-US" dirty="0" err="1"/>
              <a:t>затем</a:t>
            </a:r>
            <a:r>
              <a:rPr lang="en-US" dirty="0"/>
              <a:t>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сохранить</a:t>
            </a:r>
            <a:r>
              <a:rPr lang="en-US" dirty="0"/>
              <a:t> </a:t>
            </a:r>
            <a:r>
              <a:rPr lang="en-US" dirty="0" err="1"/>
              <a:t>эффективность</a:t>
            </a:r>
            <a:r>
              <a:rPr lang="en-US" dirty="0"/>
              <a:t> </a:t>
            </a:r>
            <a:r>
              <a:rPr lang="en-US" dirty="0" err="1"/>
              <a:t>событийной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писать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в </a:t>
            </a:r>
            <a:r>
              <a:rPr lang="en-US" dirty="0" err="1"/>
              <a:t>более</a:t>
            </a:r>
            <a:r>
              <a:rPr lang="en-US" dirty="0"/>
              <a:t> </a:t>
            </a:r>
            <a:r>
              <a:rPr lang="en-US" dirty="0" err="1"/>
              <a:t>линейном</a:t>
            </a:r>
            <a:r>
              <a:rPr lang="en-US" dirty="0"/>
              <a:t> </a:t>
            </a:r>
            <a:r>
              <a:rPr lang="en-US" dirty="0" err="1"/>
              <a:t>стиле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263292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Теперь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сравнить</a:t>
            </a:r>
            <a:r>
              <a:rPr lang="en-US" dirty="0"/>
              <a:t> </a:t>
            </a:r>
            <a:r>
              <a:rPr lang="en-US" dirty="0" err="1"/>
              <a:t>архитектуры</a:t>
            </a:r>
            <a:r>
              <a:rPr lang="en-US" dirty="0"/>
              <a:t> </a:t>
            </a:r>
            <a:r>
              <a:rPr lang="en-US" dirty="0" err="1"/>
              <a:t>без</a:t>
            </a:r>
            <a:r>
              <a:rPr lang="en-US" dirty="0"/>
              <a:t> </a:t>
            </a:r>
            <a:r>
              <a:rPr lang="en-US" dirty="0" err="1"/>
              <a:t>попытки</a:t>
            </a:r>
            <a:r>
              <a:rPr lang="en-US" dirty="0"/>
              <a:t> </a:t>
            </a:r>
            <a:r>
              <a:rPr lang="en-US" dirty="0" err="1"/>
              <a:t>выбрать</a:t>
            </a:r>
            <a:r>
              <a:rPr lang="en-US" dirty="0"/>
              <a:t> </a:t>
            </a:r>
            <a:r>
              <a:rPr lang="en-US" dirty="0" err="1"/>
              <a:t>универсального</a:t>
            </a:r>
            <a:r>
              <a:rPr lang="en-US" dirty="0"/>
              <a:t> </a:t>
            </a:r>
            <a:r>
              <a:rPr lang="en-US" dirty="0" err="1"/>
              <a:t>победителя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Самый</a:t>
            </a:r>
            <a:r>
              <a:rPr lang="en-US" dirty="0"/>
              <a:t> </a:t>
            </a:r>
            <a:r>
              <a:rPr lang="en-US" dirty="0" err="1"/>
              <a:t>простой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последовательно</a:t>
            </a:r>
            <a:r>
              <a:rPr lang="en-US" dirty="0"/>
              <a:t> </a:t>
            </a:r>
            <a:r>
              <a:rPr lang="en-US" dirty="0" err="1"/>
              <a:t>обрабатывает</a:t>
            </a:r>
            <a:r>
              <a:rPr lang="en-US" dirty="0"/>
              <a:t> </a:t>
            </a:r>
            <a:r>
              <a:rPr lang="en-US" dirty="0" err="1"/>
              <a:t>клиентов</a:t>
            </a:r>
            <a:r>
              <a:rPr lang="en-US" dirty="0"/>
              <a:t> в </a:t>
            </a:r>
            <a:r>
              <a:rPr lang="en-US" dirty="0" err="1"/>
              <a:t>одном</a:t>
            </a:r>
            <a:r>
              <a:rPr lang="en-US" dirty="0"/>
              <a:t> </a:t>
            </a:r>
            <a:r>
              <a:rPr lang="en-US" dirty="0" err="1"/>
              <a:t>потоке</a:t>
            </a:r>
            <a:r>
              <a:rPr lang="en-US" dirty="0"/>
              <a:t> с </a:t>
            </a:r>
            <a:r>
              <a:rPr lang="en-US" dirty="0" err="1"/>
              <a:t>блокирующим</a:t>
            </a:r>
            <a:r>
              <a:rPr lang="en-US" dirty="0"/>
              <a:t> </a:t>
            </a:r>
            <a:r>
              <a:rPr lang="en-US" dirty="0" err="1"/>
              <a:t>вводом-выводом</a:t>
            </a:r>
            <a:r>
              <a:rPr lang="en-US" dirty="0"/>
              <a:t>. </a:t>
            </a:r>
            <a:r>
              <a:rPr lang="en-US" dirty="0" err="1"/>
              <a:t>Он</a:t>
            </a:r>
            <a:r>
              <a:rPr lang="en-US" dirty="0"/>
              <a:t> </a:t>
            </a:r>
            <a:r>
              <a:rPr lang="en-US" dirty="0" err="1"/>
              <a:t>прост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клиент</a:t>
            </a:r>
            <a:r>
              <a:rPr lang="en-US" dirty="0"/>
              <a:t> </a:t>
            </a:r>
            <a:r>
              <a:rPr lang="en-US" dirty="0" err="1"/>
              <a:t>заставил</a:t>
            </a:r>
            <a:r>
              <a:rPr lang="en-US" dirty="0"/>
              <a:t> </a:t>
            </a:r>
            <a:r>
              <a:rPr lang="en-US" dirty="0" err="1"/>
              <a:t>сервер</a:t>
            </a:r>
            <a:r>
              <a:rPr lang="en-US" dirty="0"/>
              <a:t> </a:t>
            </a:r>
            <a:r>
              <a:rPr lang="en-US" dirty="0" err="1"/>
              <a:t>ждать</a:t>
            </a:r>
            <a:r>
              <a:rPr lang="en-US" dirty="0"/>
              <a:t>,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тоже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Многопоточная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сохраняет</a:t>
            </a:r>
            <a:r>
              <a:rPr lang="en-US" dirty="0"/>
              <a:t> </a:t>
            </a:r>
            <a:r>
              <a:rPr lang="en-US" dirty="0" err="1"/>
              <a:t>удобный</a:t>
            </a:r>
            <a:r>
              <a:rPr lang="en-US" dirty="0"/>
              <a:t> </a:t>
            </a:r>
            <a:r>
              <a:rPr lang="en-US" dirty="0" err="1"/>
              <a:t>линейный</a:t>
            </a:r>
            <a:r>
              <a:rPr lang="en-US" dirty="0"/>
              <a:t> </a:t>
            </a:r>
            <a:r>
              <a:rPr lang="en-US" dirty="0" err="1"/>
              <a:t>стиль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блокирующие</a:t>
            </a:r>
            <a:r>
              <a:rPr lang="en-US" dirty="0"/>
              <a:t> </a:t>
            </a:r>
            <a:r>
              <a:rPr lang="en-US" dirty="0" err="1"/>
              <a:t>операции</a:t>
            </a:r>
            <a:r>
              <a:rPr lang="en-US" dirty="0"/>
              <a:t>, а </a:t>
            </a:r>
            <a:r>
              <a:rPr lang="en-US" dirty="0" err="1"/>
              <a:t>операционная</a:t>
            </a:r>
            <a:r>
              <a:rPr lang="en-US" dirty="0"/>
              <a:t> </a:t>
            </a:r>
            <a:r>
              <a:rPr lang="en-US" dirty="0" err="1"/>
              <a:t>система</a:t>
            </a:r>
            <a:r>
              <a:rPr lang="en-US" dirty="0"/>
              <a:t> </a:t>
            </a:r>
            <a:r>
              <a:rPr lang="en-US" dirty="0" err="1"/>
              <a:t>переключится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когда</a:t>
            </a:r>
            <a:r>
              <a:rPr lang="en-US" dirty="0"/>
              <a:t> </a:t>
            </a:r>
            <a:r>
              <a:rPr lang="en-US" dirty="0" err="1"/>
              <a:t>потребуется</a:t>
            </a:r>
            <a:r>
              <a:rPr lang="en-US" dirty="0"/>
              <a:t>.</a:t>
            </a:r>
          </a:p>
          <a:p>
            <a:r>
              <a:rPr lang="en-US" dirty="0"/>
              <a:t>Это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запросы</a:t>
            </a:r>
            <a:r>
              <a:rPr lang="en-US" dirty="0"/>
              <a:t> </a:t>
            </a:r>
            <a:r>
              <a:rPr lang="en-US" dirty="0" err="1"/>
              <a:t>содержат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ожидание</a:t>
            </a:r>
            <a:r>
              <a:rPr lang="en-US" dirty="0"/>
              <a:t> I/O, </a:t>
            </a:r>
            <a:r>
              <a:rPr lang="en-US" dirty="0" err="1"/>
              <a:t>но</a:t>
            </a:r>
            <a:r>
              <a:rPr lang="en-US" dirty="0"/>
              <a:t> и </a:t>
            </a:r>
            <a:r>
              <a:rPr lang="en-US" dirty="0" err="1"/>
              <a:t>заметные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Событийная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особенно</a:t>
            </a:r>
            <a:r>
              <a:rPr lang="en-US" dirty="0"/>
              <a:t> </a:t>
            </a:r>
            <a:r>
              <a:rPr lang="en-US" dirty="0" err="1"/>
              <a:t>хорошо</a:t>
            </a:r>
            <a:r>
              <a:rPr lang="en-US" dirty="0"/>
              <a:t> </a:t>
            </a:r>
            <a:r>
              <a:rPr lang="en-US" dirty="0" err="1"/>
              <a:t>подходит</a:t>
            </a:r>
            <a:r>
              <a:rPr lang="en-US" dirty="0"/>
              <a:t> к </a:t>
            </a:r>
            <a:r>
              <a:rPr lang="en-US" dirty="0" err="1"/>
              <a:t>другой</a:t>
            </a:r>
            <a:r>
              <a:rPr lang="en-US" dirty="0"/>
              <a:t> </a:t>
            </a:r>
            <a:r>
              <a:rPr lang="en-US" dirty="0" err="1"/>
              <a:t>ситуации</a:t>
            </a:r>
            <a:r>
              <a:rPr lang="en-US" dirty="0"/>
              <a:t>: у </a:t>
            </a:r>
            <a:r>
              <a:rPr lang="en-US" dirty="0" err="1"/>
              <a:t>нас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соединений</a:t>
            </a:r>
            <a:r>
              <a:rPr lang="en-US" dirty="0"/>
              <a:t>, </a:t>
            </a:r>
            <a:r>
              <a:rPr lang="en-US" dirty="0" err="1"/>
              <a:t>большинство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которых</a:t>
            </a:r>
            <a:r>
              <a:rPr lang="en-US" dirty="0"/>
              <a:t> </a:t>
            </a:r>
            <a:r>
              <a:rPr lang="en-US" dirty="0" err="1"/>
              <a:t>значительную</a:t>
            </a:r>
            <a:r>
              <a:rPr lang="en-US" dirty="0"/>
              <a:t> </a:t>
            </a:r>
            <a:r>
              <a:rPr lang="en-US" dirty="0" err="1"/>
              <a:t>часть</a:t>
            </a:r>
            <a:r>
              <a:rPr lang="en-US" dirty="0"/>
              <a:t>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ничего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делают</a:t>
            </a:r>
            <a:r>
              <a:rPr lang="en-US" dirty="0"/>
              <a:t> и </a:t>
            </a:r>
            <a:r>
              <a:rPr lang="en-US" dirty="0" err="1"/>
              <a:t>просто</a:t>
            </a:r>
            <a:r>
              <a:rPr lang="en-US" dirty="0"/>
              <a:t> </a:t>
            </a:r>
            <a:r>
              <a:rPr lang="en-US" dirty="0" err="1"/>
              <a:t>ждут</a:t>
            </a:r>
            <a:r>
              <a:rPr lang="en-US" dirty="0"/>
              <a:t> </a:t>
            </a:r>
            <a:r>
              <a:rPr lang="en-US" dirty="0" err="1"/>
              <a:t>сети</a:t>
            </a:r>
            <a:r>
              <a:rPr lang="en-US" dirty="0"/>
              <a:t>.</a:t>
            </a:r>
          </a:p>
          <a:p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тысячи</a:t>
            </a:r>
            <a:r>
              <a:rPr lang="en-US" dirty="0"/>
              <a:t> </a:t>
            </a:r>
            <a:r>
              <a:rPr lang="en-US" dirty="0" err="1"/>
              <a:t>ожидающих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можем</a:t>
            </a:r>
            <a:r>
              <a:rPr lang="en-US" dirty="0"/>
              <a:t> </a:t>
            </a:r>
            <a:r>
              <a:rPr lang="en-US" dirty="0" err="1"/>
              <a:t>хранить</a:t>
            </a:r>
            <a:r>
              <a:rPr lang="en-US" dirty="0"/>
              <a:t> </a:t>
            </a:r>
            <a:r>
              <a:rPr lang="en-US" dirty="0" err="1"/>
              <a:t>тысячу</a:t>
            </a:r>
            <a:r>
              <a:rPr lang="en-US" dirty="0"/>
              <a:t> </a:t>
            </a:r>
            <a:r>
              <a:rPr lang="en-US" dirty="0" err="1"/>
              <a:t>компактных</a:t>
            </a:r>
            <a:r>
              <a:rPr lang="en-US" dirty="0"/>
              <a:t> </a:t>
            </a:r>
            <a:r>
              <a:rPr lang="en-US" dirty="0" err="1"/>
              <a:t>объектов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и </a:t>
            </a:r>
            <a:r>
              <a:rPr lang="en-US" dirty="0" err="1"/>
              <a:t>один</a:t>
            </a:r>
            <a:r>
              <a:rPr lang="en-US" dirty="0"/>
              <a:t> event loop.</a:t>
            </a:r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у </a:t>
            </a:r>
            <a:r>
              <a:rPr lang="en-US" dirty="0" err="1"/>
              <a:t>событийной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важное</a:t>
            </a:r>
            <a:r>
              <a:rPr lang="en-US" dirty="0"/>
              <a:t> </a:t>
            </a:r>
            <a:r>
              <a:rPr lang="en-US" dirty="0" err="1"/>
              <a:t>ограничение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обработчик</a:t>
            </a:r>
            <a:r>
              <a:rPr lang="en-US" dirty="0"/>
              <a:t> </a:t>
            </a:r>
            <a:r>
              <a:rPr lang="en-US" dirty="0" err="1"/>
              <a:t>вдруг</a:t>
            </a:r>
            <a:r>
              <a:rPr lang="en-US" dirty="0"/>
              <a:t> </a:t>
            </a:r>
            <a:r>
              <a:rPr lang="en-US" dirty="0" err="1"/>
              <a:t>начнёт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тяжёлые</a:t>
            </a:r>
            <a:r>
              <a:rPr lang="en-US" dirty="0"/>
              <a:t> </a:t>
            </a:r>
            <a:r>
              <a:rPr lang="en-US" dirty="0" err="1"/>
              <a:t>вычисления</a:t>
            </a:r>
            <a:r>
              <a:rPr lang="en-US" dirty="0"/>
              <a:t> в </a:t>
            </a:r>
            <a:r>
              <a:rPr lang="en-US" dirty="0" err="1"/>
              <a:t>течение</a:t>
            </a:r>
            <a:r>
              <a:rPr lang="en-US" dirty="0"/>
              <a:t> </a:t>
            </a:r>
            <a:r>
              <a:rPr lang="en-US" dirty="0" err="1"/>
              <a:t>секунды</a:t>
            </a:r>
            <a:r>
              <a:rPr lang="en-US" dirty="0"/>
              <a:t>, </a:t>
            </a:r>
            <a:r>
              <a:rPr lang="en-US" dirty="0" err="1"/>
              <a:t>весь</a:t>
            </a:r>
            <a:r>
              <a:rPr lang="en-US" dirty="0"/>
              <a:t> event loop </a:t>
            </a:r>
            <a:r>
              <a:rPr lang="en-US" dirty="0" err="1"/>
              <a:t>эту</a:t>
            </a:r>
            <a:r>
              <a:rPr lang="en-US" dirty="0"/>
              <a:t> </a:t>
            </a:r>
            <a:r>
              <a:rPr lang="en-US" dirty="0" err="1"/>
              <a:t>секунду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сможет</a:t>
            </a:r>
            <a:r>
              <a:rPr lang="en-US" dirty="0"/>
              <a:t> </a:t>
            </a:r>
            <a:r>
              <a:rPr lang="en-US" dirty="0" err="1"/>
              <a:t>обслуживать</a:t>
            </a:r>
            <a:r>
              <a:rPr lang="en-US" dirty="0"/>
              <a:t> </a:t>
            </a:r>
            <a:r>
              <a:rPr lang="en-US" dirty="0" err="1"/>
              <a:t>остальные</a:t>
            </a:r>
            <a:r>
              <a:rPr lang="en-US" dirty="0"/>
              <a:t> </a:t>
            </a:r>
            <a:r>
              <a:rPr lang="en-US" dirty="0" err="1"/>
              <a:t>соединения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реальные</a:t>
            </a:r>
            <a:r>
              <a:rPr lang="en-US" dirty="0"/>
              <a:t> </a:t>
            </a:r>
            <a:r>
              <a:rPr lang="en-US" dirty="0" err="1"/>
              <a:t>системы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b="1" dirty="0" err="1"/>
              <a:t>гибридную</a:t>
            </a:r>
            <a:r>
              <a:rPr lang="en-US" b="1" dirty="0"/>
              <a:t> </a:t>
            </a:r>
            <a:r>
              <a:rPr lang="en-US" b="1" dirty="0" err="1"/>
              <a:t>архитектуру</a:t>
            </a:r>
            <a:r>
              <a:rPr lang="en-US" dirty="0"/>
              <a:t>.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event loop </a:t>
            </a:r>
            <a:r>
              <a:rPr lang="en-US" dirty="0" err="1"/>
              <a:t>занимаются</a:t>
            </a:r>
            <a:r>
              <a:rPr lang="en-US" dirty="0"/>
              <a:t> </a:t>
            </a:r>
            <a:r>
              <a:rPr lang="en-US" dirty="0" err="1"/>
              <a:t>сетевым</a:t>
            </a:r>
            <a:r>
              <a:rPr lang="en-US" dirty="0"/>
              <a:t> I/O, а </a:t>
            </a:r>
            <a:r>
              <a:rPr lang="en-US" dirty="0" err="1"/>
              <a:t>тяжёлая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блокирующая</a:t>
            </a:r>
            <a:r>
              <a:rPr lang="en-US" dirty="0"/>
              <a:t> </a:t>
            </a:r>
            <a:r>
              <a:rPr lang="en-US" dirty="0" err="1"/>
              <a:t>работа</a:t>
            </a:r>
            <a:r>
              <a:rPr lang="en-US" dirty="0"/>
              <a:t> </a:t>
            </a:r>
            <a:r>
              <a:rPr lang="en-US" dirty="0" err="1"/>
              <a:t>передаётся</a:t>
            </a:r>
            <a:r>
              <a:rPr lang="en-US" dirty="0"/>
              <a:t> </a:t>
            </a:r>
            <a:r>
              <a:rPr lang="en-US" dirty="0" err="1"/>
              <a:t>пулу</a:t>
            </a:r>
            <a:r>
              <a:rPr lang="en-US" dirty="0"/>
              <a:t> worker threads.</a:t>
            </a:r>
          </a:p>
          <a:p>
            <a:endParaRPr lang="en-US" dirty="0"/>
          </a:p>
          <a:p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en-US" dirty="0" err="1"/>
              <a:t>современный</a:t>
            </a:r>
            <a:r>
              <a:rPr lang="en-US" dirty="0"/>
              <a:t> </a:t>
            </a:r>
            <a:r>
              <a:rPr lang="en-US" dirty="0" err="1"/>
              <a:t>выбор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выглядит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как</a:t>
            </a:r>
            <a:r>
              <a:rPr lang="en-US" dirty="0"/>
              <a:t> «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b="1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», а 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b="1" dirty="0"/>
              <a:t>«</a:t>
            </a:r>
            <a:r>
              <a:rPr lang="en-US" b="1" dirty="0" err="1"/>
              <a:t>что</a:t>
            </a:r>
            <a:r>
              <a:rPr lang="en-US" b="1" dirty="0"/>
              <a:t> </a:t>
            </a:r>
            <a:r>
              <a:rPr lang="en-US" b="1" dirty="0" err="1"/>
              <a:t>поручить</a:t>
            </a:r>
            <a:r>
              <a:rPr lang="en-US" b="1" dirty="0"/>
              <a:t> event loop, а </a:t>
            </a:r>
            <a:r>
              <a:rPr lang="en-US" b="1" dirty="0" err="1"/>
              <a:t>что</a:t>
            </a:r>
            <a:r>
              <a:rPr lang="en-US" b="1" dirty="0"/>
              <a:t> — </a:t>
            </a:r>
            <a:r>
              <a:rPr lang="en-US" b="1" dirty="0" err="1"/>
              <a:t>рабочим</a:t>
            </a:r>
            <a:r>
              <a:rPr lang="en-US" b="1" dirty="0"/>
              <a:t> </a:t>
            </a:r>
            <a:r>
              <a:rPr lang="en-US" b="1" dirty="0" err="1"/>
              <a:t>потокам</a:t>
            </a:r>
            <a:r>
              <a:rPr lang="en-US" b="1" dirty="0"/>
              <a:t>»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83292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оставить</a:t>
            </a:r>
            <a:r>
              <a:rPr lang="en-US" dirty="0"/>
              <a:t> </a:t>
            </a:r>
            <a:r>
              <a:rPr lang="en-US" dirty="0" err="1"/>
              <a:t>от</a:t>
            </a:r>
            <a:r>
              <a:rPr lang="en-US" dirty="0"/>
              <a:t> </a:t>
            </a:r>
            <a:r>
              <a:rPr lang="en-US" dirty="0" err="1"/>
              <a:t>всей</a:t>
            </a:r>
            <a:r>
              <a:rPr lang="en-US" dirty="0"/>
              <a:t> </a:t>
            </a:r>
            <a:r>
              <a:rPr lang="en-US" dirty="0" err="1"/>
              <a:t>лекции</a:t>
            </a:r>
            <a:r>
              <a:rPr lang="en-US" dirty="0"/>
              <a:t> </a:t>
            </a:r>
            <a:r>
              <a:rPr lang="en-US" dirty="0" err="1"/>
              <a:t>одну</a:t>
            </a:r>
            <a:r>
              <a:rPr lang="en-US" dirty="0"/>
              <a:t> </a:t>
            </a:r>
            <a:r>
              <a:rPr lang="en-US" dirty="0" err="1"/>
              <a:t>основную</a:t>
            </a:r>
            <a:r>
              <a:rPr lang="en-US" dirty="0"/>
              <a:t> </a:t>
            </a:r>
            <a:r>
              <a:rPr lang="en-US" dirty="0" err="1"/>
              <a:t>идею</a:t>
            </a:r>
            <a:r>
              <a:rPr lang="en-US" dirty="0"/>
              <a:t>,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такая</a:t>
            </a:r>
            <a:r>
              <a:rPr lang="en-US" dirty="0"/>
              <a:t>: </a:t>
            </a:r>
            <a:r>
              <a:rPr lang="en-US" b="1" dirty="0" err="1"/>
              <a:t>поток</a:t>
            </a:r>
            <a:r>
              <a:rPr lang="en-US" b="1" dirty="0"/>
              <a:t> </a:t>
            </a:r>
            <a:r>
              <a:rPr lang="en-US" b="1" dirty="0" err="1"/>
              <a:t>отделяет</a:t>
            </a:r>
            <a:r>
              <a:rPr lang="en-US" b="1" dirty="0"/>
              <a:t> </a:t>
            </a:r>
            <a:r>
              <a:rPr lang="en-US" b="1" dirty="0" err="1"/>
              <a:t>выполнение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ресурсов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r>
              <a:rPr lang="en-US" dirty="0"/>
              <a:t> </a:t>
            </a:r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этом</a:t>
            </a:r>
            <a:r>
              <a:rPr lang="en-US" dirty="0"/>
              <a:t> </a:t>
            </a:r>
            <a:r>
              <a:rPr lang="en-US" dirty="0" err="1"/>
              <a:t>остаются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и </a:t>
            </a:r>
            <a:r>
              <a:rPr lang="en-US" dirty="0" err="1"/>
              <a:t>используют</a:t>
            </a:r>
            <a:r>
              <a:rPr lang="en-US" dirty="0"/>
              <a:t> </a:t>
            </a:r>
            <a:r>
              <a:rPr lang="en-US" dirty="0" err="1"/>
              <a:t>общую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. Это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ними</a:t>
            </a:r>
            <a:r>
              <a:rPr lang="en-US" dirty="0"/>
              <a:t> </a:t>
            </a:r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удобным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нужен</a:t>
            </a:r>
            <a:r>
              <a:rPr lang="en-US" dirty="0"/>
              <a:t> </a:t>
            </a:r>
            <a:r>
              <a:rPr lang="en-US" dirty="0" err="1"/>
              <a:t>отдельный</a:t>
            </a:r>
            <a:r>
              <a:rPr lang="en-US" dirty="0"/>
              <a:t> </a:t>
            </a:r>
            <a:r>
              <a:rPr lang="en-US" dirty="0" err="1"/>
              <a:t>механизм</a:t>
            </a:r>
            <a:r>
              <a:rPr lang="en-US" dirty="0"/>
              <a:t> IPC, </a:t>
            </a:r>
            <a:r>
              <a:rPr lang="en-US" dirty="0" err="1"/>
              <a:t>чтобы</a:t>
            </a:r>
            <a:r>
              <a:rPr lang="en-US" dirty="0"/>
              <a:t> </a:t>
            </a:r>
            <a:r>
              <a:rPr lang="en-US" dirty="0" err="1"/>
              <a:t>передать</a:t>
            </a:r>
            <a:r>
              <a:rPr lang="en-US" dirty="0"/>
              <a:t> </a:t>
            </a:r>
            <a:r>
              <a:rPr lang="en-US" dirty="0" err="1"/>
              <a:t>обычные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ровно</a:t>
            </a:r>
            <a:r>
              <a:rPr lang="en-US" dirty="0"/>
              <a:t> </a:t>
            </a:r>
            <a:r>
              <a:rPr lang="en-US" dirty="0" err="1"/>
              <a:t>из</a:t>
            </a:r>
            <a:r>
              <a:rPr lang="en-US" dirty="0"/>
              <a:t> </a:t>
            </a:r>
            <a:r>
              <a:rPr lang="en-US" dirty="0" err="1"/>
              <a:t>этого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возникает</a:t>
            </a:r>
            <a:r>
              <a:rPr lang="en-US" dirty="0"/>
              <a:t> и </a:t>
            </a:r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сложность</a:t>
            </a:r>
            <a:r>
              <a:rPr lang="en-US" dirty="0"/>
              <a:t> </a:t>
            </a:r>
            <a:r>
              <a:rPr lang="en-US" dirty="0" err="1"/>
              <a:t>многопоточности</a:t>
            </a:r>
            <a:r>
              <a:rPr lang="en-US" dirty="0"/>
              <a:t>: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могут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одним</a:t>
            </a:r>
            <a:r>
              <a:rPr lang="en-US" dirty="0"/>
              <a:t> </a:t>
            </a:r>
            <a:r>
              <a:rPr lang="en-US" dirty="0" err="1"/>
              <a:t>состоянием</a:t>
            </a:r>
            <a:r>
              <a:rPr lang="en-US" dirty="0"/>
              <a:t>. </a:t>
            </a:r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— </a:t>
            </a:r>
            <a:r>
              <a:rPr lang="en-US" dirty="0" err="1"/>
              <a:t>одновременно</a:t>
            </a:r>
            <a:r>
              <a:rPr lang="en-US" dirty="0"/>
              <a:t> и </a:t>
            </a:r>
            <a:r>
              <a:rPr lang="en-US" dirty="0" err="1"/>
              <a:t>преимущество</a:t>
            </a:r>
            <a:r>
              <a:rPr lang="en-US" dirty="0"/>
              <a:t>, и </a:t>
            </a:r>
            <a:r>
              <a:rPr lang="en-US" dirty="0" err="1"/>
              <a:t>источник</a:t>
            </a:r>
            <a:r>
              <a:rPr lang="en-US" dirty="0"/>
              <a:t> </a:t>
            </a:r>
            <a:r>
              <a:rPr lang="en-US" dirty="0" err="1"/>
              <a:t>проблем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также</a:t>
            </a:r>
            <a:r>
              <a:rPr lang="en-US" dirty="0"/>
              <a:t> </a:t>
            </a:r>
            <a:r>
              <a:rPr lang="en-US" dirty="0" err="1"/>
              <a:t>увидели</a:t>
            </a:r>
            <a:r>
              <a:rPr lang="en-US" dirty="0"/>
              <a:t>, </a:t>
            </a:r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слово</a:t>
            </a:r>
            <a:r>
              <a:rPr lang="en-US" dirty="0"/>
              <a:t> «</a:t>
            </a:r>
            <a:r>
              <a:rPr lang="en-US" dirty="0" err="1"/>
              <a:t>поток</a:t>
            </a:r>
            <a:r>
              <a:rPr lang="en-US" dirty="0"/>
              <a:t>» </a:t>
            </a:r>
            <a:r>
              <a:rPr lang="en-US" dirty="0" err="1"/>
              <a:t>ещё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определяет</a:t>
            </a:r>
            <a:r>
              <a:rPr lang="en-US" dirty="0"/>
              <a:t>, </a:t>
            </a:r>
            <a:r>
              <a:rPr lang="en-US" dirty="0" err="1"/>
              <a:t>кто</a:t>
            </a:r>
            <a:r>
              <a:rPr lang="en-US" dirty="0"/>
              <a:t> </a:t>
            </a:r>
            <a:r>
              <a:rPr lang="en-US" dirty="0" err="1"/>
              <a:t>им</a:t>
            </a:r>
            <a:r>
              <a:rPr lang="en-US" dirty="0"/>
              <a:t> </a:t>
            </a:r>
            <a:r>
              <a:rPr lang="en-US" dirty="0" err="1"/>
              <a:t>управляет</a:t>
            </a:r>
            <a:r>
              <a:rPr lang="en-US" dirty="0"/>
              <a:t>. В </a:t>
            </a:r>
            <a:r>
              <a:rPr lang="en-US" dirty="0" err="1"/>
              <a:t>модели</a:t>
            </a:r>
            <a:r>
              <a:rPr lang="en-US" dirty="0"/>
              <a:t> N:1 </a:t>
            </a:r>
            <a:r>
              <a:rPr lang="en-US" dirty="0" err="1"/>
              <a:t>планированием</a:t>
            </a:r>
            <a:r>
              <a:rPr lang="en-US" dirty="0"/>
              <a:t> </a:t>
            </a:r>
            <a:r>
              <a:rPr lang="en-US" dirty="0" err="1"/>
              <a:t>занимается</a:t>
            </a:r>
            <a:r>
              <a:rPr lang="en-US" dirty="0"/>
              <a:t> runtime, и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пользовательских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. В </a:t>
            </a:r>
            <a:r>
              <a:rPr lang="en-US" dirty="0" err="1"/>
              <a:t>модели</a:t>
            </a:r>
            <a:r>
              <a:rPr lang="en-US" dirty="0"/>
              <a:t> 1:1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известен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. В M:N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два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</a:t>
            </a:r>
            <a:r>
              <a:rPr lang="en-US" dirty="0" err="1"/>
              <a:t>комбинируются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У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</a:t>
            </a:r>
            <a:r>
              <a:rPr lang="en-US" dirty="0" err="1"/>
              <a:t>свои</a:t>
            </a:r>
            <a:r>
              <a:rPr lang="en-US" dirty="0"/>
              <a:t> </a:t>
            </a:r>
            <a:r>
              <a:rPr lang="en-US" dirty="0" err="1"/>
              <a:t>компромиссы</a:t>
            </a:r>
            <a:r>
              <a:rPr lang="en-US" dirty="0"/>
              <a:t>: </a:t>
            </a:r>
            <a:r>
              <a:rPr lang="en-US" dirty="0" err="1"/>
              <a:t>стоимость</a:t>
            </a:r>
            <a:r>
              <a:rPr lang="en-US" dirty="0"/>
              <a:t> </a:t>
            </a:r>
            <a:r>
              <a:rPr lang="en-US" dirty="0" err="1"/>
              <a:t>создания</a:t>
            </a:r>
            <a:r>
              <a:rPr lang="en-US" dirty="0"/>
              <a:t> и </a:t>
            </a:r>
            <a:r>
              <a:rPr lang="en-US" dirty="0" err="1"/>
              <a:t>переключения</a:t>
            </a:r>
            <a:r>
              <a:rPr lang="en-US" dirty="0"/>
              <a:t>, </a:t>
            </a:r>
            <a:r>
              <a:rPr lang="en-US" dirty="0" err="1"/>
              <a:t>поведение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блокирующем</a:t>
            </a:r>
            <a:r>
              <a:rPr lang="en-US" dirty="0"/>
              <a:t> I/O, </a:t>
            </a:r>
            <a:r>
              <a:rPr lang="en-US" dirty="0" err="1"/>
              <a:t>возможность</a:t>
            </a:r>
            <a:r>
              <a:rPr lang="en-US" dirty="0"/>
              <a:t> </a:t>
            </a:r>
            <a:r>
              <a:rPr lang="en-US" dirty="0" err="1"/>
              <a:t>использовать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процессорных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, </a:t>
            </a:r>
            <a:r>
              <a:rPr lang="en-US" dirty="0" err="1"/>
              <a:t>количество</a:t>
            </a:r>
            <a:r>
              <a:rPr lang="en-US" dirty="0"/>
              <a:t> </a:t>
            </a:r>
            <a:r>
              <a:rPr lang="en-US" dirty="0" err="1"/>
              <a:t>поддерживаемых</a:t>
            </a:r>
            <a:r>
              <a:rPr lang="en-US" dirty="0"/>
              <a:t> </a:t>
            </a:r>
            <a:r>
              <a:rPr lang="en-US" dirty="0" err="1"/>
              <a:t>лёгких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наконец</a:t>
            </a:r>
            <a:r>
              <a:rPr lang="en-US" dirty="0"/>
              <a:t>, </a:t>
            </a:r>
            <a:r>
              <a:rPr lang="en-US" dirty="0" err="1"/>
              <a:t>потоки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единственный</a:t>
            </a:r>
            <a:r>
              <a:rPr lang="en-US" dirty="0"/>
              <a:t> </a:t>
            </a:r>
            <a:r>
              <a:rPr lang="en-US" dirty="0" err="1"/>
              <a:t>способ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конкурентность</a:t>
            </a:r>
            <a:r>
              <a:rPr lang="en-US" dirty="0"/>
              <a:t>. В </a:t>
            </a:r>
            <a:r>
              <a:rPr lang="en-US" dirty="0" err="1"/>
              <a:t>событийной</a:t>
            </a:r>
            <a:r>
              <a:rPr lang="en-US" dirty="0"/>
              <a:t> </a:t>
            </a:r>
            <a:r>
              <a:rPr lang="en-US" dirty="0" err="1"/>
              <a:t>архитектуре</a:t>
            </a:r>
            <a:r>
              <a:rPr lang="en-US" dirty="0"/>
              <a:t> </a:t>
            </a:r>
            <a:r>
              <a:rPr lang="en-US" dirty="0" err="1"/>
              <a:t>вместо</a:t>
            </a:r>
            <a:r>
              <a:rPr lang="en-US" dirty="0"/>
              <a:t> </a:t>
            </a:r>
            <a:r>
              <a:rPr lang="en-US" dirty="0" err="1"/>
              <a:t>отдельного</a:t>
            </a:r>
            <a:r>
              <a:rPr lang="en-US" dirty="0"/>
              <a:t> </a:t>
            </a:r>
            <a:r>
              <a:rPr lang="en-US" dirty="0" err="1"/>
              <a:t>стека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каждой</a:t>
            </a:r>
            <a:r>
              <a:rPr lang="en-US" dirty="0"/>
              <a:t> </a:t>
            </a:r>
            <a:r>
              <a:rPr lang="en-US" dirty="0" err="1"/>
              <a:t>активности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явно</a:t>
            </a:r>
            <a:r>
              <a:rPr lang="en-US" dirty="0"/>
              <a:t> </a:t>
            </a:r>
            <a:r>
              <a:rPr lang="en-US" dirty="0" err="1"/>
              <a:t>храним</a:t>
            </a:r>
            <a:r>
              <a:rPr lang="en-US" dirty="0"/>
              <a:t> </a:t>
            </a:r>
            <a:r>
              <a:rPr lang="en-US" dirty="0" err="1"/>
              <a:t>её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и </a:t>
            </a:r>
            <a:r>
              <a:rPr lang="en-US" dirty="0" err="1"/>
              <a:t>продолжаем</a:t>
            </a:r>
            <a:r>
              <a:rPr lang="en-US" dirty="0"/>
              <a:t> </a:t>
            </a:r>
            <a:r>
              <a:rPr lang="en-US" dirty="0" err="1"/>
              <a:t>работу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поступлении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.</a:t>
            </a:r>
            <a:endParaRPr lang="ru-RU" dirty="0"/>
          </a:p>
          <a:p>
            <a:endParaRPr lang="en-US" dirty="0"/>
          </a:p>
          <a:p>
            <a:r>
              <a:rPr lang="en-US" dirty="0" err="1"/>
              <a:t>Поэтому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проектировании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 </a:t>
            </a:r>
            <a:r>
              <a:rPr lang="en-US" dirty="0" err="1"/>
              <a:t>полезнее</a:t>
            </a:r>
            <a:r>
              <a:rPr lang="en-US" dirty="0"/>
              <a:t> </a:t>
            </a:r>
            <a:r>
              <a:rPr lang="en-US" dirty="0" err="1"/>
              <a:t>начинать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с </a:t>
            </a:r>
            <a:r>
              <a:rPr lang="en-US" dirty="0" err="1"/>
              <a:t>вопроса</a:t>
            </a:r>
            <a:r>
              <a:rPr lang="en-US" dirty="0"/>
              <a:t>: </a:t>
            </a:r>
            <a:r>
              <a:rPr lang="en-US" b="1" dirty="0"/>
              <a:t>«</a:t>
            </a:r>
            <a:r>
              <a:rPr lang="en-US" b="1" dirty="0" err="1"/>
              <a:t>Сколько</a:t>
            </a:r>
            <a:r>
              <a:rPr lang="en-US" b="1" dirty="0"/>
              <a:t> </a:t>
            </a:r>
            <a:r>
              <a:rPr lang="en-US" b="1" dirty="0" err="1"/>
              <a:t>потоков</a:t>
            </a:r>
            <a:r>
              <a:rPr lang="en-US" b="1" dirty="0"/>
              <a:t> </a:t>
            </a:r>
            <a:r>
              <a:rPr lang="en-US" b="1" dirty="0" err="1"/>
              <a:t>мне</a:t>
            </a:r>
            <a:r>
              <a:rPr lang="en-US" b="1" dirty="0"/>
              <a:t> </a:t>
            </a:r>
            <a:r>
              <a:rPr lang="en-US" b="1" dirty="0" err="1"/>
              <a:t>создать</a:t>
            </a:r>
            <a:r>
              <a:rPr lang="en-US" b="1" dirty="0"/>
              <a:t>?»</a:t>
            </a:r>
            <a:r>
              <a:rPr lang="en-US" dirty="0"/>
              <a:t> А с </a:t>
            </a:r>
            <a:r>
              <a:rPr lang="en-US" dirty="0" err="1"/>
              <a:t>другого</a:t>
            </a:r>
            <a:r>
              <a:rPr lang="en-US" dirty="0"/>
              <a:t>: </a:t>
            </a:r>
            <a:r>
              <a:rPr lang="en-US" b="1" dirty="0"/>
              <a:t>«</a:t>
            </a:r>
            <a:r>
              <a:rPr lang="en-US" b="1" dirty="0" err="1"/>
              <a:t>Какие</a:t>
            </a:r>
            <a:r>
              <a:rPr lang="en-US" b="1" dirty="0"/>
              <a:t> </a:t>
            </a:r>
            <a:r>
              <a:rPr lang="en-US" b="1" dirty="0" err="1"/>
              <a:t>независимые</a:t>
            </a:r>
            <a:r>
              <a:rPr lang="en-US" b="1" dirty="0"/>
              <a:t> </a:t>
            </a:r>
            <a:r>
              <a:rPr lang="en-US" b="1" dirty="0" err="1"/>
              <a:t>активности</a:t>
            </a:r>
            <a:r>
              <a:rPr lang="en-US" b="1" dirty="0"/>
              <a:t> </a:t>
            </a:r>
            <a:r>
              <a:rPr lang="en-US" b="1" dirty="0" err="1"/>
              <a:t>есть</a:t>
            </a:r>
            <a:r>
              <a:rPr lang="en-US" b="1" dirty="0"/>
              <a:t> в </a:t>
            </a:r>
            <a:r>
              <a:rPr lang="en-US" b="1" dirty="0" err="1"/>
              <a:t>моей</a:t>
            </a:r>
            <a:r>
              <a:rPr lang="en-US" b="1" dirty="0"/>
              <a:t> </a:t>
            </a:r>
            <a:r>
              <a:rPr lang="en-US" b="1" dirty="0" err="1"/>
              <a:t>программе</a:t>
            </a:r>
            <a:r>
              <a:rPr lang="en-US" b="1" dirty="0"/>
              <a:t>, </a:t>
            </a:r>
            <a:r>
              <a:rPr lang="en-US" b="1" dirty="0" err="1"/>
              <a:t>какое</a:t>
            </a:r>
            <a:r>
              <a:rPr lang="en-US" b="1" dirty="0"/>
              <a:t> </a:t>
            </a:r>
            <a:r>
              <a:rPr lang="en-US" b="1" dirty="0" err="1"/>
              <a:t>состояние</a:t>
            </a:r>
            <a:r>
              <a:rPr lang="en-US" b="1" dirty="0"/>
              <a:t> </a:t>
            </a:r>
            <a:r>
              <a:rPr lang="en-US" b="1" dirty="0" err="1"/>
              <a:t>они</a:t>
            </a:r>
            <a:r>
              <a:rPr lang="en-US" b="1" dirty="0"/>
              <a:t> </a:t>
            </a:r>
            <a:r>
              <a:rPr lang="en-US" b="1" dirty="0" err="1"/>
              <a:t>разделяют</a:t>
            </a:r>
            <a:r>
              <a:rPr lang="en-US" b="1" dirty="0"/>
              <a:t> и </a:t>
            </a:r>
            <a:r>
              <a:rPr lang="en-US" b="1" dirty="0" err="1"/>
              <a:t>кто</a:t>
            </a:r>
            <a:r>
              <a:rPr lang="en-US" b="1" dirty="0"/>
              <a:t> </a:t>
            </a:r>
            <a:r>
              <a:rPr lang="en-US" b="1" dirty="0" err="1"/>
              <a:t>должен</a:t>
            </a:r>
            <a:r>
              <a:rPr lang="en-US" b="1" dirty="0"/>
              <a:t> </a:t>
            </a:r>
            <a:r>
              <a:rPr lang="en-US" b="1" dirty="0" err="1"/>
              <a:t>ими</a:t>
            </a:r>
            <a:r>
              <a:rPr lang="en-US" b="1" dirty="0"/>
              <a:t> </a:t>
            </a:r>
            <a:r>
              <a:rPr lang="en-US" b="1" dirty="0" err="1"/>
              <a:t>управлять</a:t>
            </a:r>
            <a:r>
              <a:rPr lang="en-US" b="1" dirty="0"/>
              <a:t>?»</a:t>
            </a:r>
            <a:endParaRPr lang="ru-RU" b="1" dirty="0"/>
          </a:p>
          <a:p>
            <a:endParaRPr lang="en-US" dirty="0"/>
          </a:p>
          <a:p>
            <a:r>
              <a:rPr lang="en-US" dirty="0"/>
              <a:t>И </a:t>
            </a:r>
            <a:r>
              <a:rPr lang="en-US" dirty="0" err="1"/>
              <a:t>здесь</a:t>
            </a:r>
            <a:r>
              <a:rPr lang="en-US" dirty="0"/>
              <a:t> </a:t>
            </a:r>
            <a:r>
              <a:rPr lang="en-US" dirty="0" err="1"/>
              <a:t>мы</a:t>
            </a:r>
            <a:r>
              <a:rPr lang="en-US" dirty="0"/>
              <a:t> </a:t>
            </a:r>
            <a:r>
              <a:rPr lang="en-US" dirty="0" err="1"/>
              <a:t>приходим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проблеме</a:t>
            </a:r>
            <a:r>
              <a:rPr lang="en-US" dirty="0"/>
              <a:t>. </a:t>
            </a:r>
            <a:r>
              <a:rPr lang="en-US" dirty="0" err="1"/>
              <a:t>Если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действительно</a:t>
            </a:r>
            <a:r>
              <a:rPr lang="en-US" dirty="0"/>
              <a:t> </a:t>
            </a:r>
            <a:r>
              <a:rPr lang="en-US" dirty="0" err="1"/>
              <a:t>должны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 с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данными</a:t>
            </a:r>
            <a:r>
              <a:rPr lang="en-US" dirty="0"/>
              <a:t>,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факта</a:t>
            </a:r>
            <a:r>
              <a:rPr lang="en-US" dirty="0"/>
              <a:t> </a:t>
            </a:r>
            <a:r>
              <a:rPr lang="en-US" dirty="0" err="1"/>
              <a:t>существования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недостаточно</a:t>
            </a:r>
            <a:r>
              <a:rPr lang="en-US" dirty="0"/>
              <a:t>. </a:t>
            </a:r>
            <a:r>
              <a:rPr lang="en-US" dirty="0" err="1"/>
              <a:t>Нужно</a:t>
            </a:r>
            <a:r>
              <a:rPr lang="en-US" dirty="0"/>
              <a:t> </a:t>
            </a:r>
            <a:r>
              <a:rPr lang="en-US" dirty="0" err="1"/>
              <a:t>определить</a:t>
            </a:r>
            <a:r>
              <a:rPr lang="en-US" dirty="0"/>
              <a:t>, </a:t>
            </a:r>
            <a:r>
              <a:rPr lang="en-US" b="1" dirty="0" err="1"/>
              <a:t>кто</a:t>
            </a:r>
            <a:r>
              <a:rPr lang="en-US" b="1" dirty="0"/>
              <a:t> и </a:t>
            </a:r>
            <a:r>
              <a:rPr lang="en-US" b="1" dirty="0" err="1"/>
              <a:t>когда</a:t>
            </a:r>
            <a:r>
              <a:rPr lang="en-US" b="1" dirty="0"/>
              <a:t> </a:t>
            </a:r>
            <a:r>
              <a:rPr lang="en-US" b="1" dirty="0" err="1"/>
              <a:t>имеет</a:t>
            </a:r>
            <a:r>
              <a:rPr lang="en-US" b="1" dirty="0"/>
              <a:t> </a:t>
            </a:r>
            <a:r>
              <a:rPr lang="en-US" b="1" dirty="0" err="1"/>
              <a:t>право</a:t>
            </a:r>
            <a:r>
              <a:rPr lang="en-US" b="1" dirty="0"/>
              <a:t> </a:t>
            </a:r>
            <a:r>
              <a:rPr lang="en-US" b="1" dirty="0" err="1"/>
              <a:t>изменять</a:t>
            </a:r>
            <a:r>
              <a:rPr lang="en-US" b="1" dirty="0"/>
              <a:t> </a:t>
            </a:r>
            <a:r>
              <a:rPr lang="en-US" b="1" dirty="0" err="1"/>
              <a:t>эти</a:t>
            </a:r>
            <a:r>
              <a:rPr lang="en-US" b="1" dirty="0"/>
              <a:t> </a:t>
            </a:r>
            <a:r>
              <a:rPr lang="en-US" b="1" dirty="0" err="1"/>
              <a:t>данные</a:t>
            </a:r>
            <a:r>
              <a:rPr lang="en-US" dirty="0"/>
              <a:t>. Это </a:t>
            </a:r>
            <a:r>
              <a:rPr lang="en-US" dirty="0" err="1"/>
              <a:t>приводит</a:t>
            </a:r>
            <a:r>
              <a:rPr lang="en-US" dirty="0"/>
              <a:t> </a:t>
            </a:r>
            <a:r>
              <a:rPr lang="en-US" dirty="0" err="1"/>
              <a:t>нас</a:t>
            </a:r>
            <a:r>
              <a:rPr lang="en-US" dirty="0"/>
              <a:t> к </a:t>
            </a:r>
            <a:r>
              <a:rPr lang="en-US" dirty="0" err="1"/>
              <a:t>следующей</a:t>
            </a:r>
            <a:r>
              <a:rPr lang="en-US" dirty="0"/>
              <a:t> </a:t>
            </a:r>
            <a:r>
              <a:rPr lang="en-US" dirty="0" err="1"/>
              <a:t>теме</a:t>
            </a:r>
            <a:r>
              <a:rPr lang="en-US" dirty="0"/>
              <a:t> — </a:t>
            </a:r>
            <a:r>
              <a:rPr lang="en-US" dirty="0" err="1"/>
              <a:t>синхронизации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, </a:t>
            </a:r>
            <a:r>
              <a:rPr lang="en-US" dirty="0" err="1"/>
              <a:t>гонкам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, </a:t>
            </a:r>
            <a:r>
              <a:rPr lang="en-US" dirty="0" err="1"/>
              <a:t>мьютексам</a:t>
            </a:r>
            <a:r>
              <a:rPr lang="en-US" dirty="0"/>
              <a:t> и </a:t>
            </a:r>
            <a:r>
              <a:rPr lang="en-US" dirty="0" err="1"/>
              <a:t>другим</a:t>
            </a:r>
            <a:r>
              <a:rPr lang="en-US" dirty="0"/>
              <a:t> </a:t>
            </a:r>
            <a:r>
              <a:rPr lang="en-US" dirty="0" err="1"/>
              <a:t>механизмам</a:t>
            </a:r>
            <a:r>
              <a:rPr lang="en-US" dirty="0"/>
              <a:t> </a:t>
            </a:r>
            <a:r>
              <a:rPr lang="en-US" dirty="0" err="1"/>
              <a:t>координации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CA1CFC0-EF44-4B8C-92CE-F1AB7C6750B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15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2826B-BF1A-7008-4551-18C2B0D316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F9BC6F-3908-0FED-002A-FDCFEBAA33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827CB-18B8-759A-DF37-75BEA1179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C45AB-F163-390B-A478-FA07837A3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70949-24A9-F37A-2C74-DCD1319BA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900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3E89-3A32-E999-1071-22D51E9A8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F427B-5AAA-4369-6F16-7922754CC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9D458-A975-C3D7-334C-01BEFEAEE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C1807-184D-3633-A924-96654D64B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97435C-7078-E11B-A7D7-B8D5912CF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81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57AB5-84FD-B84C-11CE-F998224A2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4170-E34C-ACF6-164B-53366853C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DEF66D-6BB8-C802-BC8B-334821603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FE298-A23A-5F01-B921-172DE3AD0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BD1A1-B2EA-CF46-6D7A-4CB0EF37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55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BC0A2-1DFA-A944-04A7-FC1BE76B6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7D00C-7037-7E3E-41EE-FB9073BDE2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C1D700-EBF9-7ADE-087B-2BDC3829BA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EAEDF8-8B8C-CE7A-8666-59FEDF925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4EBFA-80C1-937C-4BAB-488AAA231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C4ED9-55D8-8218-6150-3EDF0C4DB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05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22285-105C-4C5C-025A-4ACBE039B8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7A08F-566F-887C-800C-58A6CE716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CA9A17-2CBE-34EC-4291-927F9C8B45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92392-0990-9266-1A62-3A80653E5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7DD3A8-0979-6DFC-91E6-AF4CF1148A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4F1ABA-7C27-04E7-959F-D756015D1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0F8868-19F1-5111-7BCB-8DACD2FD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CE05C5-1927-0979-0C5E-6E6859C74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1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BA3DB-6272-2C6B-A3FF-22FD33CB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34B07A-9892-F36B-D90A-395604ADE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507714-05BA-16FB-1898-9FB11A760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C477F5-65F8-B419-3FB4-925DB27FA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91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CBCB9-B550-28D2-4FE2-770C8E48C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E9D94A-04DF-4C0E-DA9C-82770BA8A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96EC9-D574-DD27-4CC1-DC8F19F25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14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650C4-7A33-711E-E6BF-17D7755979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69890-D923-4B14-87C9-A986DE2BA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DD40DF-1B14-38A2-F46E-69A50DEC4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FE13A-E505-4C46-42C9-88C837036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371C7-53FC-FBDF-D8B7-1E6A6944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69FB0-4345-D643-AB4A-4066FFE11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2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615D-FC92-F328-9E53-A25141501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F58452-F7A0-B1EF-C561-AC2D315756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03FD14-C067-5C95-939F-5DBD9F1BF0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3E6C81-7912-E9CB-401E-5D1172485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40ECB4-2E1D-0616-0103-D76A4D5B5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8BB17C-3CA0-D37D-1D19-83882F129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87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89B98-F9F4-76E8-5C8F-21F03711A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7650EA-DD08-B047-2D85-509B69990F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123320-3DB4-A264-DF96-DE699B32A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8DAB4D-6773-05E7-A310-9046F4DA0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DFCBE-320B-8C28-0015-8E7701A30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478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693F64-835F-18D5-94C8-40752724D8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5C7075-1629-90ED-334F-BF7F7C06C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A5BB9-094F-0101-E386-0525E0DA8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A3CF7E-C135-A41F-E4C4-0F1F30535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325AB-A6B8-BE29-957C-9B880FF6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894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6F90C5-5697-B4A5-5B42-F21B2792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4D5F13-4074-0E89-63E9-897E86F69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034210-2AE7-DD54-3103-6759F10F28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4C5D73-0869-4BC2-AC56-17788AF4573A}" type="datetimeFigureOut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A6CAB-4DEE-9674-F8FD-516E7350D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8BCFF-68D3-5230-D1F2-8701F017E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AC36C7-710D-47E6-BB4F-1DD32B34B5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946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youtu.be/7_lY5dG7wAc" TargetMode="Externa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B375FC5-BBC3-FEBF-6EAE-6E4BD7823E7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Потоки</a:t>
            </a:r>
            <a:endParaRPr 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ED8DAB5-24EF-A6B9-373D-5C5FAD892DF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34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3674E-C0A5-0EEC-A0A5-BAE537C11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поток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1A0197-7472-9C34-72D1-F3E5A1AE09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Поток</a:t>
            </a:r>
            <a:r>
              <a:rPr lang="en-US" b="1" dirty="0"/>
              <a:t> (thread)</a:t>
            </a:r>
            <a:r>
              <a:rPr lang="en-US" dirty="0"/>
              <a:t> — </a:t>
            </a:r>
            <a:r>
              <a:rPr lang="en-US" dirty="0" err="1"/>
              <a:t>последовательность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.</a:t>
            </a:r>
          </a:p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позволяют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выполнять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en-US" dirty="0"/>
              <a:t> </a:t>
            </a:r>
            <a:r>
              <a:rPr lang="en-US" dirty="0" err="1"/>
              <a:t>конкурентно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останавливать</a:t>
            </a:r>
            <a:r>
              <a:rPr lang="en-US" dirty="0"/>
              <a:t> </a:t>
            </a:r>
            <a:r>
              <a:rPr lang="en-US" dirty="0" err="1"/>
              <a:t>всю</a:t>
            </a:r>
            <a:r>
              <a:rPr lang="en-US" dirty="0"/>
              <a:t> </a:t>
            </a:r>
            <a:r>
              <a:rPr lang="en-US" dirty="0" err="1"/>
              <a:t>программу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ожидании</a:t>
            </a:r>
            <a:r>
              <a:rPr lang="en-US" dirty="0"/>
              <a:t> I/O;</a:t>
            </a:r>
          </a:p>
          <a:p>
            <a:pPr lvl="1"/>
            <a:r>
              <a:rPr lang="ru-RU" dirty="0"/>
              <a:t>и</a:t>
            </a:r>
            <a:r>
              <a:rPr lang="en-US" dirty="0" err="1"/>
              <a:t>спользовать</a:t>
            </a:r>
            <a:r>
              <a:rPr lang="ru-RU" dirty="0"/>
              <a:t> производительность</a:t>
            </a:r>
            <a:r>
              <a:rPr lang="en-US" dirty="0"/>
              <a:t> </a:t>
            </a:r>
            <a:r>
              <a:rPr lang="en-US" dirty="0" err="1"/>
              <a:t>нескольк</a:t>
            </a:r>
            <a:r>
              <a:rPr lang="ru-RU" dirty="0"/>
              <a:t>их</a:t>
            </a:r>
            <a:r>
              <a:rPr lang="en-US" dirty="0"/>
              <a:t> </a:t>
            </a:r>
            <a:r>
              <a:rPr lang="en-US" dirty="0" err="1"/>
              <a:t>ядер</a:t>
            </a:r>
            <a:r>
              <a:rPr lang="en-US" dirty="0"/>
              <a:t> </a:t>
            </a:r>
            <a:r>
              <a:rPr lang="en-US" dirty="0" err="1"/>
              <a:t>процессора</a:t>
            </a:r>
            <a:r>
              <a:rPr lang="en-US" dirty="0"/>
              <a:t>.</a:t>
            </a:r>
          </a:p>
          <a:p>
            <a:r>
              <a:rPr lang="en-US" b="1" dirty="0" err="1"/>
              <a:t>Потоки</a:t>
            </a:r>
            <a:r>
              <a:rPr lang="en-US" b="1" dirty="0"/>
              <a:t> </a:t>
            </a:r>
            <a:r>
              <a:rPr lang="en-US" b="1" dirty="0" err="1"/>
              <a:t>одного</a:t>
            </a:r>
            <a:r>
              <a:rPr lang="en-US" b="1" dirty="0"/>
              <a:t> </a:t>
            </a:r>
            <a:r>
              <a:rPr lang="en-US" b="1" dirty="0" err="1"/>
              <a:t>процесса</a:t>
            </a:r>
            <a:r>
              <a:rPr lang="en-US" b="1" dirty="0"/>
              <a:t> </a:t>
            </a:r>
            <a:r>
              <a:rPr lang="en-US" b="1" dirty="0" err="1"/>
              <a:t>разделяют</a:t>
            </a:r>
            <a:r>
              <a:rPr lang="en-US" b="1" dirty="0"/>
              <a:t> </a:t>
            </a:r>
            <a:r>
              <a:rPr lang="en-US" b="1" dirty="0" err="1"/>
              <a:t>его</a:t>
            </a:r>
            <a:r>
              <a:rPr lang="en-US" b="1" dirty="0"/>
              <a:t> </a:t>
            </a:r>
            <a:r>
              <a:rPr lang="en-US" b="1" dirty="0" err="1"/>
              <a:t>память</a:t>
            </a:r>
            <a:r>
              <a:rPr lang="en-US" b="1" dirty="0"/>
              <a:t> и </a:t>
            </a:r>
            <a:r>
              <a:rPr lang="en-US" b="1" dirty="0" err="1"/>
              <a:t>ресурсы</a:t>
            </a:r>
            <a:r>
              <a:rPr lang="en-US" b="1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446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6BDD-FC06-2D6E-DB7D-EC8EC261B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DDEAC-1E82-C0C4-767A-A802FCEF00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825625"/>
            <a:ext cx="5918201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содержать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endParaRPr lang="en-US" dirty="0"/>
          </a:p>
          <a:p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всех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глобальные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 и </a:t>
            </a:r>
            <a:r>
              <a:rPr lang="en-US" dirty="0" err="1"/>
              <a:t>куча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и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.</a:t>
            </a:r>
          </a:p>
          <a:p>
            <a:r>
              <a:rPr lang="en-US" dirty="0"/>
              <a:t>У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своё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счётчик</a:t>
            </a:r>
            <a:r>
              <a:rPr lang="en-US" dirty="0"/>
              <a:t> </a:t>
            </a:r>
            <a:r>
              <a:rPr lang="en-US" dirty="0" err="1"/>
              <a:t>команд</a:t>
            </a:r>
            <a:r>
              <a:rPr lang="en-US" dirty="0"/>
              <a:t> и </a:t>
            </a:r>
            <a:r>
              <a:rPr lang="en-US" dirty="0" err="1"/>
              <a:t>регистры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стек</a:t>
            </a:r>
            <a:r>
              <a:rPr lang="en-US" dirty="0"/>
              <a:t> </a:t>
            </a:r>
            <a:r>
              <a:rPr lang="en-US" dirty="0" err="1"/>
              <a:t>вызовов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выполнения</a:t>
            </a:r>
            <a:r>
              <a:rPr lang="en-US" dirty="0"/>
              <a:t>.</a:t>
            </a:r>
          </a:p>
          <a:p>
            <a:r>
              <a:rPr lang="en-US" dirty="0" err="1"/>
              <a:t>Процесс</a:t>
            </a:r>
            <a:r>
              <a:rPr lang="en-US" dirty="0"/>
              <a:t> </a:t>
            </a:r>
            <a:r>
              <a:rPr lang="en-US" dirty="0" err="1"/>
              <a:t>предоставляет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,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выполняет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FBDA8BF-1677-C930-44E6-57B788FF898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4362" y="1825625"/>
            <a:ext cx="43694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45472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B42F0-03F5-4AA3-CF69-9D540C403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используются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D613BB5-86DD-EB86-764D-7B704CC789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Интерактивные программы</a:t>
            </a:r>
          </a:p>
          <a:p>
            <a:pPr lvl="1"/>
            <a:r>
              <a:rPr lang="ru-RU" dirty="0"/>
              <a:t>Фоновая работа (автосохранение, проверка орфографии)</a:t>
            </a:r>
          </a:p>
          <a:p>
            <a:pPr lvl="1"/>
            <a:r>
              <a:rPr lang="ru-RU" dirty="0"/>
              <a:t>Сетевые запросы</a:t>
            </a:r>
          </a:p>
          <a:p>
            <a:r>
              <a:rPr lang="ru-RU" dirty="0"/>
              <a:t>Серверные приложения</a:t>
            </a:r>
          </a:p>
          <a:p>
            <a:pPr lvl="1"/>
            <a:r>
              <a:rPr lang="ru-RU" dirty="0"/>
              <a:t>Конкурентное обслуживание запросов</a:t>
            </a:r>
          </a:p>
          <a:p>
            <a:pPr lvl="1"/>
            <a:r>
              <a:rPr lang="ru-RU" dirty="0"/>
              <a:t>Сокращение простоев при ожидании </a:t>
            </a:r>
            <a:r>
              <a:rPr lang="en-US" dirty="0"/>
              <a:t>I/O</a:t>
            </a:r>
          </a:p>
          <a:p>
            <a:r>
              <a:rPr lang="ru-RU" dirty="0"/>
              <a:t>Конвейерная обработка данных</a:t>
            </a:r>
          </a:p>
          <a:p>
            <a:pPr lvl="1"/>
            <a:r>
              <a:rPr lang="ru-RU" dirty="0"/>
              <a:t>Перекрытие разных стадий работы конвейера</a:t>
            </a:r>
          </a:p>
          <a:p>
            <a:pPr lvl="1"/>
            <a:r>
              <a:rPr lang="ru-RU" dirty="0"/>
              <a:t>Пример: перекодирование видео</a:t>
            </a:r>
          </a:p>
          <a:p>
            <a:r>
              <a:rPr lang="ru-RU" dirty="0"/>
              <a:t>И</a:t>
            </a:r>
            <a:r>
              <a:rPr lang="en-US" dirty="0" err="1"/>
              <a:t>дея</a:t>
            </a:r>
            <a:r>
              <a:rPr lang="ru-RU" dirty="0"/>
              <a:t>: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независимых</a:t>
            </a:r>
            <a:r>
              <a:rPr lang="en-US" dirty="0"/>
              <a:t> </a:t>
            </a:r>
            <a:r>
              <a:rPr lang="en-US" dirty="0" err="1"/>
              <a:t>активностей</a:t>
            </a:r>
            <a:r>
              <a:rPr lang="en-US" dirty="0"/>
              <a:t> </a:t>
            </a:r>
            <a:r>
              <a:rPr lang="en-US" dirty="0" err="1"/>
              <a:t>внутри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6675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95FD926-01F2-0729-01ED-36C40D695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Классическая модель потоков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E877586-32D4-8372-D821-D06210D571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67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D9BAE6-1585-6330-8C40-9967039E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Классическая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: </a:t>
            </a:r>
            <a:r>
              <a:rPr lang="en-US" dirty="0" err="1"/>
              <a:t>процесс</a:t>
            </a:r>
            <a:r>
              <a:rPr lang="en-US" dirty="0"/>
              <a:t> и </a:t>
            </a:r>
            <a:r>
              <a:rPr lang="en-US" dirty="0" err="1"/>
              <a:t>потоки</a:t>
            </a:r>
            <a:r>
              <a:rPr lang="en-US" dirty="0"/>
              <a:t>»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C4900CF-21C9-A37E-6DBA-EEA7CA95BA0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Процесс</a:t>
            </a:r>
            <a:r>
              <a:rPr lang="en-US" dirty="0"/>
              <a:t> — </a:t>
            </a:r>
            <a:r>
              <a:rPr lang="en-US" dirty="0" err="1"/>
              <a:t>контейнер</a:t>
            </a:r>
            <a:r>
              <a:rPr lang="en-US" dirty="0"/>
              <a:t> </a:t>
            </a:r>
            <a:r>
              <a:rPr lang="en-US" dirty="0" err="1"/>
              <a:t>ресурсов</a:t>
            </a:r>
            <a:endParaRPr lang="en-US" dirty="0"/>
          </a:p>
          <a:p>
            <a:pPr lvl="1"/>
            <a:r>
              <a:rPr lang="en-US" dirty="0" err="1"/>
              <a:t>адресное</a:t>
            </a:r>
            <a:r>
              <a:rPr lang="en-US" dirty="0"/>
              <a:t> </a:t>
            </a:r>
            <a:r>
              <a:rPr lang="en-US" dirty="0" err="1"/>
              <a:t>пространство</a:t>
            </a:r>
            <a:r>
              <a:rPr lang="en-US" dirty="0"/>
              <a:t> • </a:t>
            </a:r>
            <a:r>
              <a:rPr lang="en-US" dirty="0" err="1"/>
              <a:t>открытые</a:t>
            </a:r>
            <a:r>
              <a:rPr lang="en-US" dirty="0"/>
              <a:t> </a:t>
            </a:r>
            <a:r>
              <a:rPr lang="en-US" dirty="0" err="1"/>
              <a:t>файлы</a:t>
            </a:r>
            <a:r>
              <a:rPr lang="en-US" dirty="0"/>
              <a:t> • </a:t>
            </a:r>
            <a:r>
              <a:rPr lang="en-US" dirty="0" err="1"/>
              <a:t>другие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endParaRPr lang="en-US" dirty="0"/>
          </a:p>
          <a:p>
            <a:r>
              <a:rPr lang="en-US" dirty="0" err="1"/>
              <a:t>Поток</a:t>
            </a:r>
            <a:r>
              <a:rPr lang="en-US" dirty="0"/>
              <a:t> — </a:t>
            </a:r>
            <a:r>
              <a:rPr lang="en-US" dirty="0" err="1"/>
              <a:t>единица</a:t>
            </a:r>
            <a:r>
              <a:rPr lang="en-US" dirty="0"/>
              <a:t> </a:t>
            </a:r>
            <a:r>
              <a:rPr lang="en-US" dirty="0" err="1"/>
              <a:t>исполнения</a:t>
            </a:r>
            <a:endParaRPr lang="en-US" dirty="0"/>
          </a:p>
          <a:p>
            <a:pPr lvl="1"/>
            <a:r>
              <a:rPr lang="en-US" dirty="0"/>
              <a:t>PC • </a:t>
            </a:r>
            <a:r>
              <a:rPr lang="en-US" dirty="0" err="1"/>
              <a:t>регистры</a:t>
            </a:r>
            <a:r>
              <a:rPr lang="en-US" dirty="0"/>
              <a:t> • </a:t>
            </a:r>
            <a:r>
              <a:rPr lang="en-US" dirty="0" err="1"/>
              <a:t>стек</a:t>
            </a:r>
            <a:r>
              <a:rPr lang="en-US" dirty="0"/>
              <a:t> • </a:t>
            </a:r>
            <a:r>
              <a:rPr lang="en-US" dirty="0" err="1"/>
              <a:t>состояние</a:t>
            </a:r>
            <a:endParaRPr lang="en-US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 →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endParaRPr lang="en-US" dirty="0"/>
          </a:p>
          <a:p>
            <a:r>
              <a:rPr lang="en-US" dirty="0" err="1"/>
              <a:t>Планировщик</a:t>
            </a:r>
            <a:r>
              <a:rPr lang="en-US" dirty="0"/>
              <a:t> </a:t>
            </a:r>
            <a:r>
              <a:rPr lang="en-US" dirty="0" err="1"/>
              <a:t>выбирает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, </a:t>
            </a:r>
            <a:r>
              <a:rPr lang="en-US" dirty="0" err="1"/>
              <a:t>который</a:t>
            </a:r>
            <a:r>
              <a:rPr lang="en-US" dirty="0"/>
              <a:t> </a:t>
            </a:r>
            <a:r>
              <a:rPr lang="en-US" dirty="0" err="1"/>
              <a:t>получит</a:t>
            </a:r>
            <a:r>
              <a:rPr lang="en-US" dirty="0"/>
              <a:t> CPU</a:t>
            </a:r>
          </a:p>
          <a:p>
            <a:endParaRPr lang="en-US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F1BE5F7F-2717-8A98-E799-C093889FC34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410" y="1825625"/>
            <a:ext cx="45131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51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2B25E-E7AF-9F97-E657-9325214F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Переключение между потоками внутри одного процесса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8B674F9-7330-AED6-DA27-3A3798A3E3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6574" y="1690688"/>
            <a:ext cx="8358852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640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6AEF5-FEA9-9186-2E88-BD36B20C4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: </a:t>
            </a:r>
            <a:r>
              <a:rPr lang="en-US" dirty="0" err="1"/>
              <a:t>удобно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опасно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059A0-7910-84A5-E7CA-AF94E8AE5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одного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r>
              <a:rPr lang="en-US" dirty="0"/>
              <a:t> </a:t>
            </a:r>
            <a:r>
              <a:rPr lang="en-US" b="1" dirty="0" err="1"/>
              <a:t>не</a:t>
            </a:r>
            <a:r>
              <a:rPr lang="en-US" b="1" dirty="0"/>
              <a:t> </a:t>
            </a:r>
            <a:r>
              <a:rPr lang="en-US" b="1" dirty="0" err="1"/>
              <a:t>изолированы</a:t>
            </a:r>
            <a:r>
              <a:rPr lang="en-US" b="1" dirty="0"/>
              <a:t> </a:t>
            </a:r>
            <a:r>
              <a:rPr lang="en-US" b="1" dirty="0" err="1"/>
              <a:t>друг</a:t>
            </a:r>
            <a:r>
              <a:rPr lang="en-US" b="1" dirty="0"/>
              <a:t> </a:t>
            </a:r>
            <a:r>
              <a:rPr lang="en-US" b="1" dirty="0" err="1"/>
              <a:t>от</a:t>
            </a:r>
            <a:r>
              <a:rPr lang="en-US" b="1" dirty="0"/>
              <a:t> </a:t>
            </a:r>
            <a:r>
              <a:rPr lang="en-US" b="1" dirty="0" err="1"/>
              <a:t>друга</a:t>
            </a:r>
            <a:endParaRPr lang="ru-RU" b="1" dirty="0"/>
          </a:p>
          <a:p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изменить</a:t>
            </a:r>
            <a:r>
              <a:rPr lang="en-US" dirty="0"/>
              <a:t> </a:t>
            </a:r>
            <a:r>
              <a:rPr lang="en-US" dirty="0" err="1"/>
              <a:t>данные</a:t>
            </a:r>
            <a:r>
              <a:rPr lang="en-US" dirty="0"/>
              <a:t>, </a:t>
            </a:r>
            <a:r>
              <a:rPr lang="en-US" dirty="0" err="1"/>
              <a:t>используемые</a:t>
            </a:r>
            <a:r>
              <a:rPr lang="en-US" dirty="0"/>
              <a:t> </a:t>
            </a:r>
            <a:r>
              <a:rPr lang="en-US" dirty="0" err="1"/>
              <a:t>другим</a:t>
            </a:r>
            <a:endParaRPr lang="en-US" dirty="0"/>
          </a:p>
          <a:p>
            <a:r>
              <a:rPr lang="en-US" dirty="0" err="1"/>
              <a:t>Возможны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гонки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;</a:t>
            </a:r>
            <a:endParaRPr lang="ru-RU" dirty="0"/>
          </a:p>
          <a:p>
            <a:pPr lvl="2"/>
            <a:r>
              <a:rPr lang="ru-RU" dirty="0"/>
              <a:t>2 потока работают с одной областью памяти, один из них - пишет</a:t>
            </a:r>
            <a:endParaRPr lang="en-US" dirty="0"/>
          </a:p>
          <a:p>
            <a:pPr lvl="1"/>
            <a:r>
              <a:rPr lang="en-US" dirty="0" err="1"/>
              <a:t>нарушение</a:t>
            </a:r>
            <a:r>
              <a:rPr lang="en-US" dirty="0"/>
              <a:t> </a:t>
            </a:r>
            <a:r>
              <a:rPr lang="en-US" dirty="0" err="1"/>
              <a:t>инвариантов</a:t>
            </a:r>
            <a:r>
              <a:rPr lang="en-US" dirty="0"/>
              <a:t> </a:t>
            </a:r>
            <a:r>
              <a:rPr lang="en-US" dirty="0" err="1"/>
              <a:t>структур</a:t>
            </a:r>
            <a:r>
              <a:rPr lang="en-US" dirty="0"/>
              <a:t> </a:t>
            </a:r>
            <a:r>
              <a:rPr lang="en-US" dirty="0" err="1"/>
              <a:t>данных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конфликты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работе</a:t>
            </a:r>
            <a:r>
              <a:rPr lang="en-US" dirty="0"/>
              <a:t> с </a:t>
            </a:r>
            <a:r>
              <a:rPr lang="en-US" dirty="0" err="1"/>
              <a:t>общими</a:t>
            </a:r>
            <a:r>
              <a:rPr lang="en-US" dirty="0"/>
              <a:t> </a:t>
            </a:r>
            <a:r>
              <a:rPr lang="en-US" dirty="0" err="1"/>
              <a:t>ресурсами</a:t>
            </a:r>
            <a:r>
              <a:rPr lang="en-US" dirty="0"/>
              <a:t>.</a:t>
            </a:r>
          </a:p>
          <a:p>
            <a:r>
              <a:rPr lang="ru-RU" dirty="0"/>
              <a:t>Общая память делает взаимодействие потоков простым, но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координации</a:t>
            </a:r>
            <a:r>
              <a:rPr lang="ru-RU" dirty="0"/>
              <a:t> доступа к общим данным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4064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C2839-EC67-A658-79DF-26AB2856E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fork() </a:t>
            </a:r>
            <a:r>
              <a:rPr lang="ru-RU" dirty="0"/>
              <a:t>в</a:t>
            </a:r>
            <a:r>
              <a:rPr lang="en-US" dirty="0"/>
              <a:t> </a:t>
            </a:r>
            <a:r>
              <a:rPr lang="en-US" dirty="0" err="1"/>
              <a:t>многопоточн</a:t>
            </a:r>
            <a:r>
              <a:rPr lang="ru-RU" dirty="0"/>
              <a:t>ом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ru-RU" dirty="0"/>
              <a:t>е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CD0C20-6457-AA19-AD0E-6DC24C8A43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203" y="1690688"/>
            <a:ext cx="870559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63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9FCB5-1121-87BF-44AB-234542D6B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Управление потоками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309142-7771-9C07-C7AA-7A1F7FA10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459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8FFBC1-BD9E-5C79-9ABF-C8299E4A1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Управление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: </a:t>
            </a:r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16F9EE2-0208-1B2E-7F27-8DA27253EB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6626" y="1565502"/>
            <a:ext cx="7938748" cy="5292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05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D5A3F-1A20-8ED4-33F9-FFE7E66BCC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POSIX Threads: </a:t>
            </a:r>
            <a:r>
              <a:rPr lang="en-US" dirty="0" err="1"/>
              <a:t>pthread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BB2C-E809-19DB-1E85-0C3A08D96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 err="1"/>
              <a:t>pthread_create</a:t>
            </a:r>
            <a:r>
              <a:rPr lang="en-US" dirty="0"/>
              <a:t>(): </a:t>
            </a:r>
            <a:r>
              <a:rPr lang="en-US" dirty="0" err="1"/>
              <a:t>создать</a:t>
            </a:r>
            <a:endParaRPr lang="en-US" dirty="0"/>
          </a:p>
          <a:p>
            <a:r>
              <a:rPr lang="en-US" dirty="0" err="1"/>
              <a:t>pthread_join</a:t>
            </a:r>
            <a:r>
              <a:rPr lang="en-US" dirty="0"/>
              <a:t>(): </a:t>
            </a:r>
            <a:r>
              <a:rPr lang="en-US" dirty="0" err="1"/>
              <a:t>дождаться</a:t>
            </a:r>
            <a:endParaRPr lang="en-US" dirty="0"/>
          </a:p>
          <a:p>
            <a:r>
              <a:rPr lang="en-US" dirty="0" err="1"/>
              <a:t>pthread_exit</a:t>
            </a:r>
            <a:r>
              <a:rPr lang="en-US" dirty="0"/>
              <a:t>(): </a:t>
            </a:r>
            <a:r>
              <a:rPr lang="en-US" dirty="0" err="1"/>
              <a:t>завершить</a:t>
            </a:r>
            <a:endParaRPr lang="en-US" dirty="0"/>
          </a:p>
          <a:p>
            <a:r>
              <a:rPr lang="en-US" dirty="0" err="1"/>
              <a:t>pthread_attr_t</a:t>
            </a:r>
            <a:endParaRPr lang="en-US" dirty="0"/>
          </a:p>
          <a:p>
            <a:pPr lvl="1"/>
            <a:r>
              <a:rPr lang="en-US" dirty="0" err="1"/>
              <a:t>дополнительные</a:t>
            </a:r>
            <a:r>
              <a:rPr lang="en-US" dirty="0"/>
              <a:t> </a:t>
            </a:r>
            <a:r>
              <a:rPr lang="en-US" dirty="0" err="1"/>
              <a:t>настройки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18D6B8-7376-9D23-A00E-719215DC76E1}"/>
              </a:ext>
            </a:extLst>
          </p:cNvPr>
          <p:cNvSpPr txBox="1"/>
          <p:nvPr/>
        </p:nvSpPr>
        <p:spPr>
          <a:xfrm>
            <a:off x="6383866" y="1738843"/>
            <a:ext cx="552026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lang="en-US" sz="1600" b="0" dirty="0" err="1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arg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pthread_t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pthread_create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(&amp;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       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  // main и worker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выполняются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конкурентно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 err="1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pthread_join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nullptr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8690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527D6-DF6C-EF95-6D5C-FCEB0F83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Потоки</a:t>
            </a:r>
            <a:r>
              <a:rPr lang="en-US" dirty="0"/>
              <a:t> в Windows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6DABB5-82C5-5617-4896-EFDEDE3A5F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541" y="1398589"/>
            <a:ext cx="7858918" cy="5239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4203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56A0-3DE4-D4AA-01A1-B005AD7C9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C++: </a:t>
            </a:r>
            <a:r>
              <a:rPr lang="en-US" dirty="0" err="1"/>
              <a:t>абстракция</a:t>
            </a:r>
            <a:r>
              <a:rPr lang="en-US" dirty="0"/>
              <a:t> </a:t>
            </a:r>
            <a:r>
              <a:rPr lang="en-US" dirty="0" err="1"/>
              <a:t>над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ОС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9DA4-F084-1E7B-D795-A9B64771F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std::thread – </a:t>
            </a:r>
            <a:r>
              <a:rPr lang="ru-RU" dirty="0"/>
              <a:t>абстракция над потоком ОС</a:t>
            </a:r>
          </a:p>
          <a:p>
            <a:r>
              <a:rPr lang="en-US" dirty="0"/>
              <a:t>std::</a:t>
            </a:r>
            <a:r>
              <a:rPr lang="en-US" dirty="0" err="1"/>
              <a:t>jthread</a:t>
            </a:r>
            <a:r>
              <a:rPr lang="en-US" dirty="0"/>
              <a:t> (C++ 20) – </a:t>
            </a:r>
            <a:r>
              <a:rPr lang="ru-RU" dirty="0"/>
              <a:t>предпочтительный вариант</a:t>
            </a:r>
          </a:p>
          <a:p>
            <a:r>
              <a:rPr lang="ru-RU" dirty="0" err="1"/>
              <a:t>pthread</a:t>
            </a:r>
            <a:r>
              <a:rPr lang="ru-RU" dirty="0"/>
              <a:t>, </a:t>
            </a:r>
            <a:r>
              <a:rPr lang="ru-RU" dirty="0" err="1"/>
              <a:t>WinAPI</a:t>
            </a:r>
            <a:r>
              <a:rPr lang="ru-RU" dirty="0"/>
              <a:t> и стандартная библиотека C++ — это разные уровни интерфейса к одной фундаментальной идее потока исполнения.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3A0CF6-D6D5-827E-D7F3-5A2EABD068EE}"/>
              </a:ext>
            </a:extLst>
          </p:cNvPr>
          <p:cNvSpPr txBox="1"/>
          <p:nvPr/>
        </p:nvSpPr>
        <p:spPr>
          <a:xfrm>
            <a:off x="6255656" y="1825625"/>
            <a:ext cx="50981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работа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потока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jthread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thread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worker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  // main и worker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выполняются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конкурентно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ожидание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завершения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1E219A-CE2F-9FAE-7913-13D11AF57E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255656" y="4380170"/>
            <a:ext cx="2447672" cy="17967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46BE2E-DE84-33E5-1325-0C0AA4B2E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81029" y="4462071"/>
            <a:ext cx="1672771" cy="171489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716897-43F4-6E2A-4E1F-B851840BEBF9}"/>
              </a:ext>
            </a:extLst>
          </p:cNvPr>
          <p:cNvSpPr txBox="1"/>
          <p:nvPr/>
        </p:nvSpPr>
        <p:spPr>
          <a:xfrm>
            <a:off x="6255656" y="6404524"/>
            <a:ext cx="40287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5"/>
              </a:rPr>
              <a:t>https://youtu.be/7_lY5dG7wAc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6296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487A211-39F4-753B-37DA-5CB1211A0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 </a:t>
            </a:r>
            <a:r>
              <a:rPr lang="en-US" dirty="0"/>
              <a:t>User Space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6970BE-BC5E-9E85-B47E-7D6284997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481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4DD687-7CCF-5D5F-ECC9-BC5245CE2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Потоки</a:t>
            </a:r>
            <a:r>
              <a:rPr lang="en-US" dirty="0"/>
              <a:t> в User Space: </a:t>
            </a:r>
            <a:r>
              <a:rPr lang="en-US" dirty="0" err="1"/>
              <a:t>ядро</a:t>
            </a:r>
            <a:r>
              <a:rPr lang="en-US" dirty="0"/>
              <a:t> о </a:t>
            </a:r>
            <a:r>
              <a:rPr lang="en-US" dirty="0" err="1"/>
              <a:t>них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знает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8BD50B4-DCCF-B43A-CE0A-FF9F23270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628" y="1690688"/>
            <a:ext cx="747474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0663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72125-B1AF-0C70-5A8E-CD08FB70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N:1 — </a:t>
            </a:r>
            <a:r>
              <a:rPr lang="en-US" dirty="0" err="1"/>
              <a:t>дешёвые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, </a:t>
            </a:r>
            <a:r>
              <a:rPr lang="en-US" dirty="0" err="1"/>
              <a:t>гибкое</a:t>
            </a:r>
            <a:r>
              <a:rPr lang="en-US" dirty="0"/>
              <a:t> </a:t>
            </a:r>
            <a:r>
              <a:rPr lang="en-US" dirty="0" err="1"/>
              <a:t>планирование</a:t>
            </a:r>
            <a:endParaRPr lang="en-US" dirty="0"/>
          </a:p>
        </p:txBody>
      </p:sp>
      <p:pic>
        <p:nvPicPr>
          <p:cNvPr id="11" name="Content Placeholder 6">
            <a:extLst>
              <a:ext uri="{FF2B5EF4-FFF2-40B4-BE49-F238E27FC236}">
                <a16:creationId xmlns:a16="http://schemas.microsoft.com/office/drawing/2014/main" id="{FA49A996-9483-1AB4-D22E-C823CF69EB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6899" y="1690688"/>
            <a:ext cx="8458202" cy="498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731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E0E7-3A0D-7B01-41CF-50238E792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 N:1: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7FCC019-B7A8-2039-50F4-CC7AD91311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453" y="1690688"/>
            <a:ext cx="8647094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178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E272-F3F8-6E5D-1CCA-AB2D01A80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обойти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N:1?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DAC8D4-F79D-FB91-2B10-30E58D09D98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877" y="1251647"/>
            <a:ext cx="9546246" cy="5468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0048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C2A659-720B-0992-5770-E00AEA899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 </a:t>
            </a:r>
            <a:r>
              <a:rPr lang="en-US" dirty="0"/>
              <a:t>Kernel Space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F30541-315F-9891-E1A6-E8525406D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80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61FFB29-E841-B39D-13C9-DC8C47F06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 ядре</a:t>
            </a:r>
            <a:endParaRPr lang="en-US" dirty="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23D937AB-EF4A-748E-90D1-9E319F3BA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4422" y="1514703"/>
            <a:ext cx="9303156" cy="523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4353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AD3E9-45C5-C8CB-0CC5-66F9DA3E5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</a:t>
            </a:r>
            <a:r>
              <a:rPr lang="en-US" dirty="0" err="1"/>
              <a:t>ядру</a:t>
            </a:r>
            <a:r>
              <a:rPr lang="en-US" dirty="0"/>
              <a:t> </a:t>
            </a:r>
            <a:r>
              <a:rPr lang="en-US" dirty="0" err="1"/>
              <a:t>знание</a:t>
            </a:r>
            <a:r>
              <a:rPr lang="en-US" dirty="0"/>
              <a:t> о </a:t>
            </a:r>
            <a:r>
              <a:rPr lang="en-US" dirty="0" err="1"/>
              <a:t>потоках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08015-14BE-9BA0-52E7-A3479B601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Блокирующий</a:t>
            </a:r>
            <a:r>
              <a:rPr lang="en-US" dirty="0"/>
              <a:t> </a:t>
            </a:r>
            <a:r>
              <a:rPr lang="en-US" dirty="0" err="1"/>
              <a:t>системный</a:t>
            </a:r>
            <a:r>
              <a:rPr lang="en-US" dirty="0"/>
              <a:t> </a:t>
            </a:r>
            <a:r>
              <a:rPr lang="en-US" dirty="0" err="1"/>
              <a:t>вызов</a:t>
            </a:r>
            <a:endParaRPr lang="ru-RU" dirty="0"/>
          </a:p>
          <a:p>
            <a:pPr lvl="1"/>
            <a:r>
              <a:rPr lang="en-US" dirty="0"/>
              <a:t>T1 → read() → BLOCKED</a:t>
            </a:r>
          </a:p>
          <a:p>
            <a:pPr lvl="1"/>
            <a:r>
              <a:rPr lang="en-US" dirty="0"/>
              <a:t>T2 → READY → CPU</a:t>
            </a:r>
          </a:p>
          <a:p>
            <a:pPr lvl="1"/>
            <a:r>
              <a:rPr lang="en-US" dirty="0"/>
              <a:t>T3 → READY → CPU</a:t>
            </a:r>
          </a:p>
          <a:p>
            <a:pPr lvl="1"/>
            <a:r>
              <a:rPr lang="en-US" dirty="0" err="1"/>
              <a:t>Блокируется</a:t>
            </a:r>
            <a:r>
              <a:rPr lang="en-US" dirty="0"/>
              <a:t> </a:t>
            </a:r>
            <a:r>
              <a:rPr lang="en-US" b="1" dirty="0"/>
              <a:t>T1</a:t>
            </a:r>
            <a:r>
              <a:rPr lang="en-US" dirty="0"/>
              <a:t>, а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весь</a:t>
            </a:r>
            <a:r>
              <a:rPr lang="en-US" dirty="0"/>
              <a:t> </a:t>
            </a:r>
            <a:r>
              <a:rPr lang="en-US" dirty="0" err="1"/>
              <a:t>процесс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Потоки одного процесса могут выполняться параллельно</a:t>
            </a:r>
          </a:p>
          <a:p>
            <a:pPr lvl="1"/>
            <a:r>
              <a:rPr lang="en-US" dirty="0"/>
              <a:t>CPU 0 ← T1</a:t>
            </a:r>
          </a:p>
          <a:p>
            <a:pPr lvl="1"/>
            <a:r>
              <a:rPr lang="en-US" dirty="0"/>
              <a:t>CPU 1 ← T2</a:t>
            </a:r>
          </a:p>
          <a:p>
            <a:pPr lvl="1"/>
            <a:r>
              <a:rPr lang="en-US" dirty="0"/>
              <a:t>CPU 2 ← T3</a:t>
            </a:r>
          </a:p>
          <a:p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видит</a:t>
            </a:r>
            <a:r>
              <a:rPr lang="en-US" dirty="0"/>
              <a:t> </a:t>
            </a:r>
            <a:r>
              <a:rPr lang="en-US" dirty="0" err="1"/>
              <a:t>каждый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ru-RU" dirty="0"/>
              <a:t>и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планировать</a:t>
            </a:r>
            <a:r>
              <a:rPr lang="en-US" dirty="0"/>
              <a:t> </a:t>
            </a:r>
            <a:r>
              <a:rPr lang="en-US" dirty="0" err="1"/>
              <a:t>их</a:t>
            </a:r>
            <a:r>
              <a:rPr lang="en-US" dirty="0"/>
              <a:t> </a:t>
            </a:r>
            <a:r>
              <a:rPr lang="en-US" dirty="0" err="1"/>
              <a:t>независимо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161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948A8-0BD2-367B-2F88-99D2FBA3B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Цена</a:t>
            </a:r>
            <a:r>
              <a:rPr lang="en-US" dirty="0"/>
              <a:t> </a:t>
            </a:r>
            <a:r>
              <a:rPr lang="en-US" dirty="0" err="1"/>
              <a:t>модели</a:t>
            </a:r>
            <a:r>
              <a:rPr lang="en-US" dirty="0"/>
              <a:t> 1:1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360B1-3435-05A6-0760-464BC1BCDD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должно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b="1" dirty="0" err="1"/>
              <a:t>каждым</a:t>
            </a:r>
            <a:r>
              <a:rPr lang="en-US" dirty="0"/>
              <a:t> </a:t>
            </a:r>
            <a:r>
              <a:rPr lang="en-US" dirty="0" err="1"/>
              <a:t>потоком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создание</a:t>
            </a:r>
            <a:r>
              <a:rPr lang="en-US" dirty="0"/>
              <a:t> и </a:t>
            </a:r>
            <a:r>
              <a:rPr lang="en-US" dirty="0" err="1"/>
              <a:t>завершение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участия</a:t>
            </a:r>
            <a:r>
              <a:rPr lang="en-US" dirty="0"/>
              <a:t> ОС;</a:t>
            </a:r>
          </a:p>
          <a:p>
            <a:pPr lvl="1"/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err="1"/>
              <a:t>каждого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 </a:t>
            </a:r>
            <a:r>
              <a:rPr lang="en-US" dirty="0" err="1"/>
              <a:t>нужны</a:t>
            </a:r>
            <a:r>
              <a:rPr lang="en-US" dirty="0"/>
              <a:t> </a:t>
            </a:r>
            <a:r>
              <a:rPr lang="en-US" dirty="0" err="1"/>
              <a:t>структуры</a:t>
            </a:r>
            <a:r>
              <a:rPr lang="en-US" dirty="0"/>
              <a:t> </a:t>
            </a:r>
            <a:r>
              <a:rPr lang="en-US" dirty="0" err="1"/>
              <a:t>ядра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переключение</a:t>
            </a:r>
            <a:r>
              <a:rPr lang="en-US" dirty="0"/>
              <a:t> </a:t>
            </a:r>
            <a:r>
              <a:rPr lang="en-US" dirty="0" err="1"/>
              <a:t>может</a:t>
            </a:r>
            <a:r>
              <a:rPr lang="en-US" dirty="0"/>
              <a:t> </a:t>
            </a:r>
            <a:r>
              <a:rPr lang="en-US" dirty="0" err="1"/>
              <a:t>требовать</a:t>
            </a:r>
            <a:r>
              <a:rPr lang="en-US" dirty="0"/>
              <a:t> </a:t>
            </a:r>
            <a:r>
              <a:rPr lang="en-US" dirty="0" err="1"/>
              <a:t>перехода</a:t>
            </a:r>
            <a:r>
              <a:rPr lang="en-US" dirty="0"/>
              <a:t> в </a:t>
            </a:r>
            <a:r>
              <a:rPr lang="en-US" dirty="0" err="1"/>
              <a:t>ядро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очень</a:t>
            </a:r>
            <a:r>
              <a:rPr lang="en-US" dirty="0"/>
              <a:t> </a:t>
            </a:r>
            <a:r>
              <a:rPr lang="en-US" dirty="0" err="1"/>
              <a:t>большое</a:t>
            </a:r>
            <a:r>
              <a:rPr lang="en-US" dirty="0"/>
              <a:t> </a:t>
            </a:r>
            <a:r>
              <a:rPr lang="en-US" dirty="0" err="1"/>
              <a:t>число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создаёт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планировщик</a:t>
            </a:r>
            <a:r>
              <a:rPr lang="en-US" dirty="0"/>
              <a:t> и </a:t>
            </a:r>
            <a:r>
              <a:rPr lang="en-US" dirty="0" err="1"/>
              <a:t>память</a:t>
            </a:r>
            <a:r>
              <a:rPr lang="en-US" dirty="0"/>
              <a:t>.</a:t>
            </a:r>
            <a:endParaRPr lang="ru-RU" dirty="0"/>
          </a:p>
          <a:p>
            <a:r>
              <a:rPr lang="en-US" dirty="0"/>
              <a:t>1:1 </a:t>
            </a:r>
            <a:r>
              <a:rPr lang="en-US" dirty="0" err="1"/>
              <a:t>решает</a:t>
            </a:r>
            <a:r>
              <a:rPr lang="en-US" dirty="0"/>
              <a:t> </a:t>
            </a:r>
            <a:r>
              <a:rPr lang="en-US" dirty="0" err="1"/>
              <a:t>ограничения</a:t>
            </a:r>
            <a:r>
              <a:rPr lang="en-US" dirty="0"/>
              <a:t> N:1,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потоки</a:t>
            </a:r>
            <a:r>
              <a:rPr lang="en-US" dirty="0"/>
              <a:t> «</a:t>
            </a:r>
            <a:r>
              <a:rPr lang="en-US" dirty="0" err="1"/>
              <a:t>тяжелее</a:t>
            </a:r>
            <a:r>
              <a:rPr lang="en-US" dirty="0"/>
              <a:t>».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76564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1AD7EA-E8CF-C087-EFC2-EE4BE9CF7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N:1 </a:t>
            </a:r>
            <a:r>
              <a:rPr lang="en-US" dirty="0" err="1"/>
              <a:t>или</a:t>
            </a:r>
            <a:r>
              <a:rPr lang="en-US" dirty="0"/>
              <a:t> 1:1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E8B3C8-AC30-8014-3EDA-574652D89F1B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713591189"/>
              </p:ext>
            </p:extLst>
          </p:nvPr>
        </p:nvGraphicFramePr>
        <p:xfrm>
          <a:off x="838199" y="1825625"/>
          <a:ext cx="10515600" cy="2768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172906017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3719727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25611586"/>
                    </a:ext>
                  </a:extLst>
                </a:gridCol>
              </a:tblGrid>
              <a:tr h="256444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N:1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1:1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4078029"/>
                  </a:ext>
                </a:extLst>
              </a:tr>
              <a:tr h="44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Кто планирует потоки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Runtime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Ядро ОС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5235566"/>
                  </a:ext>
                </a:extLst>
              </a:tr>
              <a:tr h="44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Переключение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User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 участием ОС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754363"/>
                  </a:ext>
                </a:extLst>
              </a:tr>
              <a:tr h="632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Блокирующий syscall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Может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остановить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всех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Блокирует один поток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254606"/>
                  </a:ext>
                </a:extLst>
              </a:tr>
              <a:tr h="44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Несколько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7317758"/>
                  </a:ext>
                </a:extLst>
              </a:tr>
              <a:tr h="4426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Очень много лёгких задач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Дороже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32838"/>
                  </a:ext>
                </a:extLst>
              </a:tr>
            </a:tbl>
          </a:graphicData>
        </a:graphic>
      </p:graphicFrame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1D875F2-0F89-D256-BCB2-DF5FA843C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094514"/>
            <a:ext cx="10515600" cy="1082448"/>
          </a:xfrm>
        </p:spPr>
        <p:txBody>
          <a:bodyPr/>
          <a:lstStyle/>
          <a:p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ли</a:t>
            </a:r>
            <a:r>
              <a:rPr lang="en-US" dirty="0"/>
              <a:t> </a:t>
            </a:r>
            <a:r>
              <a:rPr lang="en-US" dirty="0" err="1"/>
              <a:t>получить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</a:t>
            </a:r>
            <a:r>
              <a:rPr lang="en-US" dirty="0" err="1"/>
              <a:t>обоих</a:t>
            </a:r>
            <a:r>
              <a:rPr lang="en-US" dirty="0"/>
              <a:t> </a:t>
            </a:r>
            <a:r>
              <a:rPr lang="en-US" dirty="0" err="1"/>
              <a:t>подходов</a:t>
            </a:r>
            <a:r>
              <a:rPr lang="en-US" dirty="0"/>
              <a:t>?</a:t>
            </a:r>
          </a:p>
          <a:p>
            <a:pPr lvl="1"/>
            <a:r>
              <a:rPr lang="en-US" dirty="0"/>
              <a:t>M:N — </a:t>
            </a:r>
            <a:r>
              <a:rPr lang="en-US" dirty="0" err="1"/>
              <a:t>гибридная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30887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7A03B-FEAA-8F73-8678-C81FFAB5D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User-space vs Kernel-space threads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40C9A9-0791-A796-92E3-D0243061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013037" y="1690688"/>
            <a:ext cx="1016592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01964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B45DD-C7F3-FBB5-A637-CCF11B10C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Гибридная модель потоков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872047-0C58-5D35-E338-1592DAE73B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488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600DE9-0248-962A-7395-359C199B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M:N — </a:t>
            </a:r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двух</a:t>
            </a:r>
            <a:r>
              <a:rPr lang="en-US" dirty="0"/>
              <a:t> </a:t>
            </a:r>
            <a:r>
              <a:rPr lang="en-US" dirty="0" err="1"/>
              <a:t>уровней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83CC00-B63F-4A6A-FEAB-D45B5BFCE6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7542" y="1690688"/>
            <a:ext cx="9056916" cy="5097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824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C0216-3CB1-3250-D254-A7DD014E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даёт</a:t>
            </a:r>
            <a:r>
              <a:rPr lang="en-US" dirty="0"/>
              <a:t> M:N?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AF8DD0-8814-B113-10A3-7F264BA5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Лёгкие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endParaRPr lang="en-US" dirty="0"/>
          </a:p>
          <a:p>
            <a:pPr lvl="1"/>
            <a:r>
              <a:rPr lang="en-US" dirty="0" err="1"/>
              <a:t>Тысячи</a:t>
            </a:r>
            <a:r>
              <a:rPr lang="en-US" dirty="0"/>
              <a:t> user threads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требуют</a:t>
            </a:r>
            <a:r>
              <a:rPr lang="en-US" dirty="0"/>
              <a:t> </a:t>
            </a:r>
            <a:r>
              <a:rPr lang="en-US" dirty="0" err="1"/>
              <a:t>тысячи</a:t>
            </a:r>
            <a:r>
              <a:rPr lang="en-US" dirty="0"/>
              <a:t> kernel threads</a:t>
            </a:r>
          </a:p>
          <a:p>
            <a:r>
              <a:rPr lang="en-US" dirty="0" err="1"/>
              <a:t>Параллелизм</a:t>
            </a:r>
            <a:endParaRPr lang="en-US" dirty="0"/>
          </a:p>
          <a:p>
            <a:pPr lvl="1"/>
            <a:r>
              <a:rPr lang="en-US" dirty="0" err="1"/>
              <a:t>Несколько</a:t>
            </a:r>
            <a:r>
              <a:rPr lang="en-US" dirty="0"/>
              <a:t> kernel threads → </a:t>
            </a:r>
            <a:r>
              <a:rPr lang="en-US" dirty="0" err="1"/>
              <a:t>несколько</a:t>
            </a:r>
            <a:r>
              <a:rPr lang="en-US" dirty="0"/>
              <a:t> CPU </a:t>
            </a:r>
            <a:r>
              <a:rPr lang="en-US" dirty="0" err="1"/>
              <a:t>одновременно</a:t>
            </a:r>
            <a:endParaRPr lang="en-US" dirty="0"/>
          </a:p>
          <a:p>
            <a:r>
              <a:rPr lang="en-US" dirty="0" err="1"/>
              <a:t>Блокировки</a:t>
            </a:r>
            <a:endParaRPr lang="ru-RU" dirty="0"/>
          </a:p>
          <a:p>
            <a:pPr lvl="1"/>
            <a:r>
              <a:rPr lang="ru-RU" dirty="0"/>
              <a:t>Блокировка одного </a:t>
            </a:r>
            <a:r>
              <a:rPr lang="en-US" dirty="0"/>
              <a:t>Kernel thread</a:t>
            </a:r>
            <a:r>
              <a:rPr lang="ru-RU" dirty="0"/>
              <a:t> не означает остановку всей программы</a:t>
            </a:r>
            <a:endParaRPr lang="en-US" dirty="0"/>
          </a:p>
          <a:p>
            <a:r>
              <a:rPr lang="en-US" dirty="0"/>
              <a:t>Runtime </a:t>
            </a:r>
            <a:r>
              <a:rPr lang="en-US" dirty="0" err="1"/>
              <a:t>распределяет</a:t>
            </a:r>
            <a:r>
              <a:rPr lang="en-US" dirty="0"/>
              <a:t> </a:t>
            </a:r>
            <a:r>
              <a:rPr lang="en-US" dirty="0" err="1"/>
              <a:t>нагрузку</a:t>
            </a:r>
            <a:r>
              <a:rPr lang="en-US" dirty="0"/>
              <a:t> </a:t>
            </a:r>
            <a:r>
              <a:rPr lang="en-US" dirty="0" err="1"/>
              <a:t>между</a:t>
            </a:r>
            <a:r>
              <a:rPr lang="en-US" dirty="0"/>
              <a:t> kernel threads</a:t>
            </a:r>
            <a:endParaRPr lang="ru-RU" dirty="0"/>
          </a:p>
          <a:p>
            <a:r>
              <a:rPr lang="en-US" dirty="0"/>
              <a:t>M:N </a:t>
            </a:r>
            <a:r>
              <a:rPr lang="en-US" dirty="0" err="1"/>
              <a:t>пытается</a:t>
            </a:r>
            <a:r>
              <a:rPr lang="en-US" dirty="0"/>
              <a:t> </a:t>
            </a:r>
            <a:r>
              <a:rPr lang="en-US" dirty="0" err="1"/>
              <a:t>совместить</a:t>
            </a:r>
            <a:r>
              <a:rPr lang="en-US" dirty="0"/>
              <a:t> </a:t>
            </a:r>
            <a:r>
              <a:rPr lang="en-US" dirty="0" err="1"/>
              <a:t>преимущества</a:t>
            </a:r>
            <a:r>
              <a:rPr lang="en-US" dirty="0"/>
              <a:t> N:1 и 1:1</a:t>
            </a:r>
          </a:p>
        </p:txBody>
      </p:sp>
    </p:spTree>
    <p:extLst>
      <p:ext uri="{BB962C8B-B14F-4D97-AF65-F5344CB8AC3E}">
        <p14:creationId xmlns:p14="http://schemas.microsoft.com/office/powerpoint/2010/main" val="378933599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9C2E-819F-3EDF-9CD1-B7EC5D04C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M:N в </a:t>
            </a:r>
            <a:r>
              <a:rPr lang="en-US" dirty="0" err="1"/>
              <a:t>современных</a:t>
            </a:r>
            <a:r>
              <a:rPr lang="en-US" dirty="0"/>
              <a:t> runtime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75DA9C-1D8E-71A1-CA18-F4096E378F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Идея</a:t>
            </a:r>
            <a:r>
              <a:rPr lang="en-US" dirty="0"/>
              <a:t> M:N </a:t>
            </a:r>
            <a:r>
              <a:rPr lang="en-US" dirty="0" err="1"/>
              <a:t>встречается</a:t>
            </a:r>
            <a:r>
              <a:rPr lang="en-US" dirty="0"/>
              <a:t> в </a:t>
            </a:r>
            <a:r>
              <a:rPr lang="en-US" dirty="0" err="1"/>
              <a:t>современных</a:t>
            </a:r>
            <a:r>
              <a:rPr lang="en-US" dirty="0"/>
              <a:t> </a:t>
            </a:r>
            <a:r>
              <a:rPr lang="en-US" dirty="0" err="1"/>
              <a:t>системах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Go: goroutines → runtime → OS threads</a:t>
            </a:r>
          </a:p>
          <a:p>
            <a:pPr lvl="1"/>
            <a:r>
              <a:rPr lang="en-US" dirty="0"/>
              <a:t>Java Virtual Threads: virtual threads → JVM scheduler → carrier threads</a:t>
            </a:r>
          </a:p>
          <a:p>
            <a:pPr lvl="1"/>
            <a:r>
              <a:rPr lang="en-US" dirty="0"/>
              <a:t>Erlang / Elixir: lightweight processes → BEAM schedulers → OS threads</a:t>
            </a:r>
          </a:p>
          <a:p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идея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много</a:t>
            </a:r>
            <a:r>
              <a:rPr lang="en-US" dirty="0"/>
              <a:t> </a:t>
            </a:r>
            <a:r>
              <a:rPr lang="en-US" dirty="0" err="1"/>
              <a:t>лёгких</a:t>
            </a:r>
            <a:r>
              <a:rPr lang="en-US" dirty="0"/>
              <a:t> </a:t>
            </a:r>
            <a:r>
              <a:rPr lang="en-US" dirty="0" err="1"/>
              <a:t>конкурентных</a:t>
            </a:r>
            <a:r>
              <a:rPr lang="en-US" dirty="0"/>
              <a:t> </a:t>
            </a:r>
            <a:r>
              <a:rPr lang="en-US" dirty="0" err="1"/>
              <a:t>задач</a:t>
            </a:r>
            <a:r>
              <a:rPr lang="ru-RU" dirty="0"/>
              <a:t> мультиплексируется на ограниченное число потоков ОС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70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75BF8-D231-ABD8-1879-1F9B791EB5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Преобразование однопоточной программы в многопоточную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657979-0663-C5E3-C9F3-3EAF0D0173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408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2DCDF3-B95B-7301-9A14-529707DC4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Почему</a:t>
            </a:r>
            <a:r>
              <a:rPr lang="en-US" dirty="0"/>
              <a:t> </a:t>
            </a:r>
            <a:r>
              <a:rPr lang="en-US" dirty="0" err="1"/>
              <a:t>однопоточный</a:t>
            </a:r>
            <a:r>
              <a:rPr lang="en-US" dirty="0"/>
              <a:t> </a:t>
            </a:r>
            <a:r>
              <a:rPr lang="en-US" dirty="0" err="1"/>
              <a:t>код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становится</a:t>
            </a:r>
            <a:r>
              <a:rPr lang="en-US" dirty="0"/>
              <a:t> </a:t>
            </a:r>
            <a:r>
              <a:rPr lang="en-US" dirty="0" err="1"/>
              <a:t>многопоточным</a:t>
            </a:r>
            <a:r>
              <a:rPr lang="en-US" dirty="0"/>
              <a:t> </a:t>
            </a:r>
            <a:r>
              <a:rPr lang="en-US" dirty="0" err="1"/>
              <a:t>автоматически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3034C4-AA19-45E4-54B6-8EF968462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Однопоточная</a:t>
            </a:r>
            <a:r>
              <a:rPr lang="en-US" dirty="0"/>
              <a:t> </a:t>
            </a:r>
            <a:r>
              <a:rPr lang="en-US" dirty="0" err="1"/>
              <a:t>программа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предполагает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глобальное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изменяет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один</a:t>
            </a:r>
            <a:r>
              <a:rPr lang="en-US" dirty="0"/>
              <a:t> </a:t>
            </a:r>
            <a:r>
              <a:rPr lang="en-US" dirty="0" err="1"/>
              <a:t>поток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библиотечная</a:t>
            </a:r>
            <a:r>
              <a:rPr lang="en-US" dirty="0"/>
              <a:t> </a:t>
            </a:r>
            <a:r>
              <a:rPr lang="en-US" dirty="0" err="1"/>
              <a:t>функция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вызывается</a:t>
            </a:r>
            <a:r>
              <a:rPr lang="en-US" dirty="0"/>
              <a:t> </a:t>
            </a:r>
            <a:r>
              <a:rPr lang="en-US" dirty="0" err="1"/>
              <a:t>одновременно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временный</a:t>
            </a:r>
            <a:r>
              <a:rPr lang="en-US" dirty="0"/>
              <a:t> </a:t>
            </a:r>
            <a:r>
              <a:rPr lang="en-US" dirty="0" err="1"/>
              <a:t>буфер</a:t>
            </a:r>
            <a:r>
              <a:rPr lang="en-US" dirty="0"/>
              <a:t> </a:t>
            </a:r>
            <a:r>
              <a:rPr lang="en-US" dirty="0" err="1"/>
              <a:t>принадлежит</a:t>
            </a:r>
            <a:r>
              <a:rPr lang="en-US" dirty="0"/>
              <a:t> </a:t>
            </a:r>
            <a:r>
              <a:rPr lang="en-US" dirty="0" err="1"/>
              <a:t>одному</a:t>
            </a:r>
            <a:r>
              <a:rPr lang="en-US" dirty="0"/>
              <a:t> </a:t>
            </a:r>
            <a:r>
              <a:rPr lang="en-US" dirty="0" err="1"/>
              <a:t>вызову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ресурс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изменится</a:t>
            </a:r>
            <a:r>
              <a:rPr lang="en-US" dirty="0"/>
              <a:t> «</a:t>
            </a:r>
            <a:r>
              <a:rPr lang="en-US" dirty="0" err="1"/>
              <a:t>между</a:t>
            </a:r>
            <a:r>
              <a:rPr lang="en-US" dirty="0"/>
              <a:t> </a:t>
            </a:r>
            <a:r>
              <a:rPr lang="en-US" dirty="0" err="1"/>
              <a:t>двумя</a:t>
            </a:r>
            <a:r>
              <a:rPr lang="en-US" dirty="0"/>
              <a:t> </a:t>
            </a:r>
            <a:r>
              <a:rPr lang="en-US" dirty="0" err="1"/>
              <a:t>строками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».</a:t>
            </a:r>
          </a:p>
          <a:p>
            <a:r>
              <a:rPr lang="en-US" dirty="0" err="1"/>
              <a:t>После</a:t>
            </a:r>
            <a:r>
              <a:rPr lang="en-US" dirty="0"/>
              <a:t> </a:t>
            </a:r>
            <a:r>
              <a:rPr lang="en-US" dirty="0" err="1"/>
              <a:t>появления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эти</a:t>
            </a:r>
            <a:r>
              <a:rPr lang="en-US" dirty="0"/>
              <a:t> </a:t>
            </a:r>
            <a:r>
              <a:rPr lang="en-US" dirty="0" err="1"/>
              <a:t>предположения</a:t>
            </a:r>
            <a:r>
              <a:rPr lang="en-US" dirty="0"/>
              <a:t> </a:t>
            </a:r>
            <a:r>
              <a:rPr lang="en-US" dirty="0" err="1"/>
              <a:t>перестают</a:t>
            </a:r>
            <a:r>
              <a:rPr lang="en-US" dirty="0"/>
              <a:t> </a:t>
            </a:r>
            <a:r>
              <a:rPr lang="en-US" dirty="0" err="1"/>
              <a:t>работать</a:t>
            </a:r>
            <a:r>
              <a:rPr lang="en-US" dirty="0"/>
              <a:t>.</a:t>
            </a:r>
          </a:p>
          <a:p>
            <a:r>
              <a:rPr lang="en-US" dirty="0" err="1"/>
              <a:t>Главная</a:t>
            </a:r>
            <a:r>
              <a:rPr lang="en-US" dirty="0"/>
              <a:t> </a:t>
            </a:r>
            <a:r>
              <a:rPr lang="en-US" dirty="0" err="1"/>
              <a:t>проблема</a:t>
            </a:r>
            <a:r>
              <a:rPr lang="en-US" dirty="0"/>
              <a:t>: </a:t>
            </a:r>
            <a:r>
              <a:rPr lang="en-US" dirty="0" err="1"/>
              <a:t>появляется</a:t>
            </a:r>
            <a:r>
              <a:rPr lang="en-US" dirty="0"/>
              <a:t> </a:t>
            </a:r>
            <a:r>
              <a:rPr lang="en-US" dirty="0" err="1"/>
              <a:t>совместный</a:t>
            </a:r>
            <a:r>
              <a:rPr lang="en-US" dirty="0"/>
              <a:t> </a:t>
            </a:r>
            <a:r>
              <a:rPr lang="en-US" dirty="0" err="1"/>
              <a:t>доступ</a:t>
            </a:r>
            <a:r>
              <a:rPr lang="en-US" dirty="0"/>
              <a:t> к </a:t>
            </a:r>
            <a:r>
              <a:rPr lang="en-US" dirty="0" err="1"/>
              <a:t>состоянию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6665717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5161A-54BA-2984-CC19-88BA6170B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Общее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потока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9BAF49-9AC2-193C-37CD-3D372B5B3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406" y="1690688"/>
            <a:ext cx="956118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3314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8FFA-F8D2-122B-38E4-319849A20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Thread-safe и reentrant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одно</a:t>
            </a:r>
            <a:r>
              <a:rPr lang="en-US" dirty="0"/>
              <a:t> и </a:t>
            </a:r>
            <a:r>
              <a:rPr lang="en-US" dirty="0" err="1"/>
              <a:t>то</a:t>
            </a:r>
            <a:r>
              <a:rPr lang="en-US" dirty="0"/>
              <a:t> </a:t>
            </a:r>
            <a:r>
              <a:rPr lang="en-US" dirty="0" err="1"/>
              <a:t>же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4D1CCF-B062-B9AE-8FD8-E4D44CABDA2C}"/>
              </a:ext>
            </a:extLst>
          </p:cNvPr>
          <p:cNvSpPr txBox="1"/>
          <p:nvPr/>
        </p:nvSpPr>
        <p:spPr>
          <a:xfrm>
            <a:off x="838200" y="1690688"/>
            <a:ext cx="52578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EventBus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m_handlers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m_handlers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pPr>
              <a:buNone/>
            </a:pPr>
            <a:b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399AFB-CC64-457D-17CE-FBF7F37B8AE5}"/>
              </a:ext>
            </a:extLst>
          </p:cNvPr>
          <p:cNvSpPr txBox="1"/>
          <p:nvPr/>
        </p:nvSpPr>
        <p:spPr>
          <a:xfrm>
            <a:off x="6096000" y="1690688"/>
            <a:ext cx="52578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EventBus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m_handlers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public: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74531F"/>
                </a:solidFill>
                <a:effectLst/>
                <a:latin typeface="Consolas" panose="020B0609020204030204" pitchFamily="49" charset="0"/>
              </a:rPr>
              <a:t>Emit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std::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vector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600" b="0" dirty="0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std::</a:t>
            </a:r>
            <a:r>
              <a:rPr lang="en-US" sz="1600" b="0" dirty="0" err="1">
                <a:solidFill>
                  <a:srgbClr val="2B91AF"/>
                </a:solidFill>
                <a:effectLst/>
                <a:latin typeface="Consolas" panose="020B0609020204030204" pitchFamily="49" charset="0"/>
              </a:rPr>
              <a:t>lock_guard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lock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m_mutex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 err="1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m_handlers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  <a:r>
              <a:rPr lang="en-US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 mutex </a:t>
            </a:r>
            <a:r>
              <a:rPr lang="en-US" sz="16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освобождён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F08C4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auto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&amp;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sz="1600" b="0" dirty="0">
                <a:solidFill>
                  <a:srgbClr val="1F377F"/>
                </a:solidFill>
                <a:effectLst/>
                <a:latin typeface="Consolas" panose="020B0609020204030204" pitchFamily="49" charset="0"/>
              </a:rPr>
              <a:t>handler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808080"/>
                </a:solidFill>
                <a:effectLst/>
                <a:latin typeface="Consolas" panose="020B0609020204030204" pitchFamily="49" charset="0"/>
              </a:rPr>
              <a:t>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359856369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CA860-E8B0-63CA-AB9F-290675E2F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Что</a:t>
            </a:r>
            <a:r>
              <a:rPr lang="en-US" dirty="0"/>
              <a:t> </a:t>
            </a:r>
            <a:r>
              <a:rPr lang="en-US" dirty="0" err="1"/>
              <a:t>приходится</a:t>
            </a:r>
            <a:r>
              <a:rPr lang="en-US" dirty="0"/>
              <a:t> </a:t>
            </a:r>
            <a:r>
              <a:rPr lang="en-US" dirty="0" err="1"/>
              <a:t>менять</a:t>
            </a:r>
            <a:r>
              <a:rPr lang="en-US" dirty="0"/>
              <a:t> </a:t>
            </a:r>
            <a:r>
              <a:rPr lang="en-US" dirty="0" err="1"/>
              <a:t>при</a:t>
            </a:r>
            <a:r>
              <a:rPr lang="en-US" dirty="0"/>
              <a:t> </a:t>
            </a:r>
            <a:r>
              <a:rPr lang="en-US" dirty="0" err="1"/>
              <a:t>переходе</a:t>
            </a:r>
            <a:r>
              <a:rPr lang="en-US" dirty="0"/>
              <a:t> к </a:t>
            </a:r>
            <a:r>
              <a:rPr lang="en-US" dirty="0" err="1"/>
              <a:t>потокам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A227F-3DE5-9400-5632-DDDBD8D5EB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Данные</a:t>
            </a:r>
            <a:endParaRPr lang="en-US" dirty="0"/>
          </a:p>
          <a:p>
            <a:pPr lvl="1"/>
            <a:r>
              <a:rPr lang="en-US" dirty="0" err="1"/>
              <a:t>определить</a:t>
            </a:r>
            <a:r>
              <a:rPr lang="en-US" dirty="0"/>
              <a:t>: shared </a:t>
            </a:r>
            <a:r>
              <a:rPr lang="en-US" dirty="0" err="1"/>
              <a:t>или</a:t>
            </a:r>
            <a:r>
              <a:rPr lang="en-US" dirty="0"/>
              <a:t> per-thread</a:t>
            </a:r>
          </a:p>
          <a:p>
            <a:r>
              <a:rPr lang="en-US" dirty="0" err="1"/>
              <a:t>Библиотеки</a:t>
            </a:r>
            <a:endParaRPr lang="en-US" dirty="0"/>
          </a:p>
          <a:p>
            <a:pPr lvl="1"/>
            <a:r>
              <a:rPr lang="en-US" dirty="0" err="1"/>
              <a:t>проверить</a:t>
            </a:r>
            <a:r>
              <a:rPr lang="en-US" dirty="0"/>
              <a:t> thread-safety / reentrancy</a:t>
            </a:r>
          </a:p>
          <a:p>
            <a:r>
              <a:rPr lang="en-US" dirty="0" err="1"/>
              <a:t>Ресурсы</a:t>
            </a:r>
            <a:endParaRPr lang="en-US" dirty="0"/>
          </a:p>
          <a:p>
            <a:pPr lvl="1"/>
            <a:r>
              <a:rPr lang="en-US" dirty="0" err="1"/>
              <a:t>определить</a:t>
            </a:r>
            <a:r>
              <a:rPr lang="en-US" dirty="0"/>
              <a:t> </a:t>
            </a:r>
            <a:r>
              <a:rPr lang="en-US" dirty="0" err="1"/>
              <a:t>правила</a:t>
            </a:r>
            <a:r>
              <a:rPr lang="en-US" dirty="0"/>
              <a:t> </a:t>
            </a:r>
            <a:r>
              <a:rPr lang="en-US" dirty="0" err="1"/>
              <a:t>владения</a:t>
            </a:r>
            <a:r>
              <a:rPr lang="en-US" dirty="0"/>
              <a:t> и </a:t>
            </a:r>
            <a:r>
              <a:rPr lang="en-US" dirty="0" err="1"/>
              <a:t>времени</a:t>
            </a:r>
            <a:r>
              <a:rPr lang="en-US" dirty="0"/>
              <a:t> </a:t>
            </a:r>
            <a:r>
              <a:rPr lang="en-US" dirty="0" err="1"/>
              <a:t>жизни</a:t>
            </a:r>
            <a:endParaRPr lang="en-US" dirty="0"/>
          </a:p>
          <a:p>
            <a:r>
              <a:rPr lang="en-US" dirty="0"/>
              <a:t>ОС и runtime</a:t>
            </a:r>
          </a:p>
          <a:p>
            <a:pPr lvl="1"/>
            <a:r>
              <a:rPr lang="en-US" dirty="0"/>
              <a:t>TLS,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en-US" dirty="0" err="1"/>
              <a:t>стеков</a:t>
            </a:r>
            <a:r>
              <a:rPr lang="en-US" dirty="0"/>
              <a:t>, </a:t>
            </a:r>
            <a:r>
              <a:rPr lang="en-US" dirty="0" err="1"/>
              <a:t>доставка</a:t>
            </a:r>
            <a:r>
              <a:rPr lang="en-US" dirty="0"/>
              <a:t> </a:t>
            </a:r>
            <a:r>
              <a:rPr lang="en-US" dirty="0" err="1"/>
              <a:t>сигналов</a:t>
            </a:r>
            <a:endParaRPr lang="en-US" dirty="0"/>
          </a:p>
          <a:p>
            <a:r>
              <a:rPr lang="en-US" dirty="0" err="1"/>
              <a:t>Многопоточность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выполнение</a:t>
            </a:r>
            <a:r>
              <a:rPr lang="en-US" dirty="0"/>
              <a:t> </a:t>
            </a:r>
            <a:r>
              <a:rPr lang="en-US" dirty="0" err="1"/>
              <a:t>кода</a:t>
            </a:r>
            <a:r>
              <a:rPr lang="en-US" dirty="0"/>
              <a:t> — </a:t>
            </a:r>
            <a:r>
              <a:rPr lang="en-US" dirty="0" err="1"/>
              <a:t>она</a:t>
            </a:r>
            <a:r>
              <a:rPr lang="en-US" dirty="0"/>
              <a:t> </a:t>
            </a:r>
            <a:r>
              <a:rPr lang="en-US" dirty="0" err="1"/>
              <a:t>меняет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состояния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29481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9F1E7E-16C9-47E5-953B-DC9DA9D79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Серверы, основанные на событийной модели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990ECFA-7F6E-7406-029A-72B37D833C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5013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60D2CD-D363-9993-A6BD-2C0A46C2C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</a:t>
            </a:r>
            <a:r>
              <a:rPr lang="en-US" dirty="0"/>
              <a:t>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клиента</a:t>
            </a:r>
            <a:r>
              <a:rPr lang="en-US" dirty="0"/>
              <a:t> —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единственный</a:t>
            </a:r>
            <a:r>
              <a:rPr lang="en-US" dirty="0"/>
              <a:t> </a:t>
            </a:r>
            <a:r>
              <a:rPr lang="en-US" dirty="0" err="1"/>
              <a:t>вариант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F8DA861-6A07-35C0-5632-5E2E98D8AD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986" y="1690688"/>
            <a:ext cx="9146028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4075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DA2F0-F9F1-132B-01EE-68410230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работает</a:t>
            </a:r>
            <a:r>
              <a:rPr lang="en-US" dirty="0"/>
              <a:t> event loop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C3BBD8E-7C9F-682B-39BA-7EBA008C6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2197" y="1690688"/>
            <a:ext cx="9327606" cy="498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894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D3405-2B20-17D8-1020-970745E8F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хранится</a:t>
            </a:r>
            <a:r>
              <a:rPr lang="en-US" dirty="0"/>
              <a:t> </a:t>
            </a:r>
            <a:r>
              <a:rPr lang="en-US" dirty="0" err="1"/>
              <a:t>состояние</a:t>
            </a:r>
            <a:r>
              <a:rPr lang="en-US" dirty="0"/>
              <a:t> </a:t>
            </a:r>
            <a:r>
              <a:rPr lang="en-US" dirty="0" err="1"/>
              <a:t>запроса</a:t>
            </a:r>
            <a:r>
              <a:rPr lang="en-US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7AB0AF-4A9F-9583-56BF-E02B220D41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571" y="1690688"/>
            <a:ext cx="10014858" cy="5007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48700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138B5-28B4-074C-A88F-C2AF6576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события</a:t>
            </a:r>
            <a:r>
              <a:rPr lang="en-US" dirty="0"/>
              <a:t>?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8ED5A79-8330-B304-5C4C-E60114409520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073332941"/>
              </p:ext>
            </p:extLst>
          </p:nvPr>
        </p:nvGraphicFramePr>
        <p:xfrm>
          <a:off x="838200" y="1825625"/>
          <a:ext cx="10515600" cy="36050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3303155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864482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2296860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36815370"/>
                    </a:ext>
                  </a:extLst>
                </a:gridCol>
              </a:tblGrid>
              <a:tr h="61381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Один блокирующий поток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Отдельный поток на запрос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Событийно-ориентированный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876458"/>
                  </a:ext>
                </a:extLst>
              </a:tr>
              <a:tr h="472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ru-RU" dirty="0"/>
                        <a:t>Поддержка многих </a:t>
                      </a:r>
                      <a:r>
                        <a:rPr lang="en-US" dirty="0" err="1"/>
                        <a:t>клиентов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плохо масштабируется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да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да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360508"/>
                  </a:ext>
                </a:extLst>
              </a:tr>
              <a:tr h="330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Линейный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код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сложнее / async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7519928"/>
                  </a:ext>
                </a:extLst>
              </a:tr>
              <a:tr h="330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Блокирующий</a:t>
                      </a:r>
                      <a:r>
                        <a:rPr lang="en-US" dirty="0"/>
                        <a:t> I/O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нежелателен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0357513"/>
                  </a:ext>
                </a:extLst>
              </a:tr>
              <a:tr h="7554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Много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ожидающих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соединений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неэффективно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много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потоков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особенно удобно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1852428"/>
                  </a:ext>
                </a:extLst>
              </a:tr>
              <a:tr h="4721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Параллелизм</a:t>
                      </a:r>
                      <a:r>
                        <a:rPr lang="en-US" dirty="0"/>
                        <a:t> CPU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❌ в одном event loop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4890337"/>
                  </a:ext>
                </a:extLst>
              </a:tr>
              <a:tr h="3305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Состояние запроса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стек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стек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 err="1"/>
                        <a:t>хранится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явно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2735551"/>
                  </a:ext>
                </a:extLst>
              </a:tr>
            </a:tbl>
          </a:graphicData>
        </a:graphic>
      </p:graphicFrame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31E890C-8877-580A-BC18-38DDEB3B9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565639"/>
            <a:ext cx="10515600" cy="611324"/>
          </a:xfrm>
        </p:spPr>
        <p:txBody>
          <a:bodyPr>
            <a:normAutofit fontScale="77500" lnSpcReduction="20000"/>
          </a:bodyPr>
          <a:lstStyle/>
          <a:p>
            <a:r>
              <a:rPr lang="en-US" dirty="0" err="1"/>
              <a:t>На</a:t>
            </a:r>
            <a:r>
              <a:rPr lang="en-US" dirty="0"/>
              <a:t> </a:t>
            </a:r>
            <a:r>
              <a:rPr lang="en-US" dirty="0" err="1"/>
              <a:t>практике</a:t>
            </a:r>
            <a:r>
              <a:rPr lang="en-US" dirty="0"/>
              <a:t> </a:t>
            </a:r>
            <a:r>
              <a:rPr lang="en-US" dirty="0" err="1"/>
              <a:t>часто</a:t>
            </a:r>
            <a:r>
              <a:rPr lang="en-US" dirty="0"/>
              <a:t> </a:t>
            </a:r>
            <a:r>
              <a:rPr lang="en-US" dirty="0" err="1"/>
              <a:t>используется</a:t>
            </a:r>
            <a:r>
              <a:rPr lang="en-US" dirty="0"/>
              <a:t> </a:t>
            </a:r>
            <a:r>
              <a:rPr lang="en-US" dirty="0" err="1"/>
              <a:t>гибрид</a:t>
            </a:r>
            <a:r>
              <a:rPr lang="ru-RU" dirty="0" err="1"/>
              <a:t>ный</a:t>
            </a:r>
            <a:r>
              <a:rPr lang="ru-RU" dirty="0"/>
              <a:t> подход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n-US" dirty="0"/>
              <a:t>event loop + </a:t>
            </a:r>
            <a:r>
              <a:rPr lang="en-US" dirty="0" err="1"/>
              <a:t>несколько</a:t>
            </a:r>
            <a:r>
              <a:rPr lang="en-US" dirty="0"/>
              <a:t> </a:t>
            </a:r>
            <a:r>
              <a:rPr lang="ru-RU" dirty="0"/>
              <a:t>рабочих потоков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31740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0DFA2-8483-8510-AC9B-D7A8E37D7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35143-2BCE-0744-1170-29AE12CEA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Потоки</a:t>
            </a:r>
            <a:r>
              <a:rPr lang="en-US" dirty="0"/>
              <a:t> </a:t>
            </a:r>
            <a:r>
              <a:rPr lang="en-US" dirty="0" err="1"/>
              <a:t>разделяют</a:t>
            </a:r>
            <a:r>
              <a:rPr lang="en-US" dirty="0"/>
              <a:t> </a:t>
            </a:r>
            <a:r>
              <a:rPr lang="en-US" dirty="0" err="1"/>
              <a:t>исполнение</a:t>
            </a:r>
            <a:r>
              <a:rPr lang="en-US" dirty="0"/>
              <a:t>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ресурсы</a:t>
            </a:r>
            <a:r>
              <a:rPr lang="en-US" dirty="0"/>
              <a:t> </a:t>
            </a:r>
            <a:r>
              <a:rPr lang="en-US" dirty="0" err="1"/>
              <a:t>процесса</a:t>
            </a:r>
            <a:endParaRPr lang="en-US" dirty="0"/>
          </a:p>
          <a:p>
            <a:r>
              <a:rPr lang="en-US" dirty="0" err="1"/>
              <a:t>Общая</a:t>
            </a:r>
            <a:r>
              <a:rPr lang="en-US" dirty="0"/>
              <a:t> </a:t>
            </a:r>
            <a:r>
              <a:rPr lang="en-US" dirty="0" err="1"/>
              <a:t>память</a:t>
            </a:r>
            <a:r>
              <a:rPr lang="en-US" dirty="0"/>
              <a:t> </a:t>
            </a:r>
            <a:r>
              <a:rPr lang="en-US" dirty="0" err="1"/>
              <a:t>делает</a:t>
            </a:r>
            <a:r>
              <a:rPr lang="en-US" dirty="0"/>
              <a:t> </a:t>
            </a:r>
            <a:r>
              <a:rPr lang="en-US" dirty="0" err="1"/>
              <a:t>взаимодействие</a:t>
            </a:r>
            <a:r>
              <a:rPr lang="en-US" dirty="0"/>
              <a:t> </a:t>
            </a:r>
            <a:r>
              <a:rPr lang="en-US" dirty="0" err="1"/>
              <a:t>простым</a:t>
            </a:r>
            <a:endParaRPr lang="ru-RU" dirty="0"/>
          </a:p>
          <a:p>
            <a:pPr lvl="1"/>
            <a:r>
              <a:rPr lang="ru-RU" dirty="0"/>
              <a:t>Безопасная работа </a:t>
            </a:r>
            <a:r>
              <a:rPr lang="en-US" dirty="0" err="1"/>
              <a:t>требует</a:t>
            </a:r>
            <a:r>
              <a:rPr lang="en-US" dirty="0"/>
              <a:t> </a:t>
            </a:r>
            <a:r>
              <a:rPr lang="en-US" dirty="0" err="1"/>
              <a:t>координации</a:t>
            </a:r>
            <a:endParaRPr lang="en-US" dirty="0"/>
          </a:p>
          <a:p>
            <a:r>
              <a:rPr lang="en-US" dirty="0" err="1"/>
              <a:t>Где</a:t>
            </a:r>
            <a:r>
              <a:rPr lang="en-US" dirty="0"/>
              <a:t> </a:t>
            </a:r>
            <a:r>
              <a:rPr lang="en-US" dirty="0" err="1"/>
              <a:t>управлять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 — runtime, </a:t>
            </a:r>
            <a:r>
              <a:rPr lang="en-US" dirty="0" err="1"/>
              <a:t>ядро</a:t>
            </a:r>
            <a:r>
              <a:rPr lang="en-US" dirty="0"/>
              <a:t> </a:t>
            </a:r>
            <a:r>
              <a:rPr lang="en-US" dirty="0" err="1"/>
              <a:t>или</a:t>
            </a:r>
            <a:r>
              <a:rPr lang="en-US" dirty="0"/>
              <a:t> </a:t>
            </a:r>
            <a:r>
              <a:rPr lang="en-US" dirty="0" err="1"/>
              <a:t>оба</a:t>
            </a:r>
            <a:r>
              <a:rPr lang="en-US" dirty="0"/>
              <a:t> </a:t>
            </a:r>
            <a:r>
              <a:rPr lang="en-US" dirty="0" err="1"/>
              <a:t>уровня</a:t>
            </a:r>
            <a:r>
              <a:rPr lang="en-US" dirty="0"/>
              <a:t> —</a:t>
            </a:r>
            <a:br>
              <a:rPr lang="en-US" dirty="0"/>
            </a:br>
            <a:r>
              <a:rPr lang="en-US" dirty="0" err="1"/>
              <a:t>определяет</a:t>
            </a:r>
            <a:r>
              <a:rPr lang="en-US" dirty="0"/>
              <a:t> </a:t>
            </a:r>
            <a:r>
              <a:rPr lang="en-US" dirty="0" err="1"/>
              <a:t>цену</a:t>
            </a:r>
            <a:r>
              <a:rPr lang="en-US" dirty="0"/>
              <a:t> </a:t>
            </a:r>
            <a:r>
              <a:rPr lang="en-US" dirty="0" err="1"/>
              <a:t>переключения</a:t>
            </a:r>
            <a:r>
              <a:rPr lang="en-US" dirty="0"/>
              <a:t>, </a:t>
            </a:r>
            <a:r>
              <a:rPr lang="en-US" dirty="0" err="1"/>
              <a:t>блокировок</a:t>
            </a:r>
            <a:r>
              <a:rPr lang="en-US" dirty="0"/>
              <a:t> и </a:t>
            </a:r>
            <a:r>
              <a:rPr lang="en-US" dirty="0" err="1"/>
              <a:t>параллелизма</a:t>
            </a:r>
            <a:endParaRPr lang="en-US" dirty="0"/>
          </a:p>
          <a:p>
            <a:r>
              <a:rPr lang="en-US" dirty="0" err="1"/>
              <a:t>Конкурентность</a:t>
            </a:r>
            <a:r>
              <a:rPr lang="en-US" dirty="0"/>
              <a:t> </a:t>
            </a:r>
            <a:r>
              <a:rPr lang="en-US" dirty="0" err="1"/>
              <a:t>можно</a:t>
            </a:r>
            <a:r>
              <a:rPr lang="en-US" dirty="0"/>
              <a:t> </a:t>
            </a:r>
            <a:r>
              <a:rPr lang="en-US" dirty="0" err="1"/>
              <a:t>представить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</a:t>
            </a:r>
            <a:r>
              <a:rPr lang="en-US" dirty="0" err="1"/>
              <a:t>только</a:t>
            </a:r>
            <a:r>
              <a:rPr lang="en-US" dirty="0"/>
              <a:t> </a:t>
            </a:r>
            <a:r>
              <a:rPr lang="en-US" dirty="0" err="1"/>
              <a:t>потоками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 err="1"/>
              <a:t>события</a:t>
            </a:r>
            <a:r>
              <a:rPr lang="en-US" dirty="0"/>
              <a:t> + </a:t>
            </a:r>
            <a:r>
              <a:rPr lang="en-US" dirty="0" err="1"/>
              <a:t>состояние</a:t>
            </a:r>
            <a:r>
              <a:rPr lang="en-US" dirty="0"/>
              <a:t> — </a:t>
            </a:r>
            <a:r>
              <a:rPr lang="en-US" dirty="0" err="1"/>
              <a:t>другая</a:t>
            </a:r>
            <a:r>
              <a:rPr lang="en-US" dirty="0"/>
              <a:t> </a:t>
            </a:r>
            <a:r>
              <a:rPr lang="en-US" dirty="0" err="1"/>
              <a:t>модель</a:t>
            </a:r>
            <a:r>
              <a:rPr lang="en-US" dirty="0"/>
              <a:t> </a:t>
            </a:r>
            <a:r>
              <a:rPr lang="en-US" dirty="0" err="1"/>
              <a:t>той</a:t>
            </a:r>
            <a:r>
              <a:rPr lang="en-US" dirty="0"/>
              <a:t> </a:t>
            </a:r>
            <a:r>
              <a:rPr lang="en-US" dirty="0" err="1"/>
              <a:t>же</a:t>
            </a:r>
            <a:r>
              <a:rPr lang="en-US" dirty="0"/>
              <a:t> </a:t>
            </a:r>
            <a:r>
              <a:rPr lang="en-US" dirty="0" err="1"/>
              <a:t>задачи</a:t>
            </a:r>
            <a:endParaRPr lang="en-US" dirty="0"/>
          </a:p>
          <a:p>
            <a:r>
              <a:rPr lang="en-US" dirty="0" err="1"/>
              <a:t>Главный</a:t>
            </a:r>
            <a:r>
              <a:rPr lang="en-US" dirty="0"/>
              <a:t> </a:t>
            </a:r>
            <a:r>
              <a:rPr lang="en-US" dirty="0" err="1"/>
              <a:t>вопрос</a:t>
            </a:r>
            <a:r>
              <a:rPr lang="en-US" dirty="0"/>
              <a:t> </a:t>
            </a:r>
            <a:r>
              <a:rPr lang="en-US" dirty="0" err="1"/>
              <a:t>не</a:t>
            </a:r>
            <a:r>
              <a:rPr lang="en-US" dirty="0"/>
              <a:t> «</a:t>
            </a:r>
            <a:r>
              <a:rPr lang="en-US" dirty="0" err="1"/>
              <a:t>сколько</a:t>
            </a:r>
            <a:r>
              <a:rPr lang="en-US" dirty="0"/>
              <a:t> </a:t>
            </a:r>
            <a:r>
              <a:rPr lang="en-US" dirty="0" err="1"/>
              <a:t>потоков</a:t>
            </a:r>
            <a:r>
              <a:rPr lang="en-US" dirty="0"/>
              <a:t> </a:t>
            </a:r>
            <a:r>
              <a:rPr lang="en-US" dirty="0" err="1"/>
              <a:t>создать</a:t>
            </a:r>
            <a:r>
              <a:rPr lang="en-US" dirty="0"/>
              <a:t>?»,</a:t>
            </a:r>
            <a:r>
              <a:rPr lang="ru-RU" dirty="0"/>
              <a:t> </a:t>
            </a:r>
            <a:r>
              <a:rPr lang="en-US" dirty="0"/>
              <a:t>а</a:t>
            </a:r>
            <a:br>
              <a:rPr lang="ru-RU" dirty="0"/>
            </a:br>
            <a:r>
              <a:rPr lang="en-US" dirty="0"/>
              <a:t>«</a:t>
            </a:r>
            <a:r>
              <a:rPr lang="en-US" dirty="0" err="1"/>
              <a:t>как</a:t>
            </a:r>
            <a:r>
              <a:rPr lang="en-US" dirty="0"/>
              <a:t> </a:t>
            </a:r>
            <a:r>
              <a:rPr lang="en-US" dirty="0" err="1"/>
              <a:t>организовать</a:t>
            </a:r>
            <a:r>
              <a:rPr lang="en-US" dirty="0"/>
              <a:t> </a:t>
            </a:r>
            <a:r>
              <a:rPr lang="en-US" dirty="0" err="1"/>
              <a:t>независимые</a:t>
            </a:r>
            <a:r>
              <a:rPr lang="en-US" dirty="0"/>
              <a:t> </a:t>
            </a:r>
            <a:r>
              <a:rPr lang="en-US" dirty="0" err="1"/>
              <a:t>активности</a:t>
            </a:r>
            <a:r>
              <a:rPr lang="en-US" dirty="0"/>
              <a:t> </a:t>
            </a:r>
            <a:r>
              <a:rPr lang="en-US" dirty="0" err="1"/>
              <a:t>программы</a:t>
            </a:r>
            <a:r>
              <a:rPr lang="en-US" dirty="0"/>
              <a:t>?»</a:t>
            </a:r>
          </a:p>
        </p:txBody>
      </p:sp>
    </p:spTree>
    <p:extLst>
      <p:ext uri="{BB962C8B-B14F-4D97-AF65-F5344CB8AC3E}">
        <p14:creationId xmlns:p14="http://schemas.microsoft.com/office/powerpoint/2010/main" val="28477295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8006-80FE-A6E5-EA48-AFE486529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44075-7E61-D064-6E90-59FAD544A2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A. Tanenbaum, H. Bos “Modern Operating Systems 5</a:t>
            </a:r>
            <a:r>
              <a:rPr lang="en-US" baseline="30000" dirty="0"/>
              <a:t>th</a:t>
            </a:r>
            <a:r>
              <a:rPr lang="en-US" dirty="0"/>
              <a:t> edition</a:t>
            </a:r>
            <a:r>
              <a:rPr lang="en-US"/>
              <a:t>”, 2023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8852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4234</TotalTime>
  <Words>7166</Words>
  <Application>Microsoft Office PowerPoint</Application>
  <PresentationFormat>Widescreen</PresentationFormat>
  <Paragraphs>652</Paragraphs>
  <Slides>41</Slides>
  <Notes>40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6" baseType="lpstr">
      <vt:lpstr>Aptos</vt:lpstr>
      <vt:lpstr>Aptos Display</vt:lpstr>
      <vt:lpstr>Arial</vt:lpstr>
      <vt:lpstr>Consolas</vt:lpstr>
      <vt:lpstr>Office Theme</vt:lpstr>
      <vt:lpstr>Потоки</vt:lpstr>
      <vt:lpstr>Что такое поток</vt:lpstr>
      <vt:lpstr>Потоки внутри процесса</vt:lpstr>
      <vt:lpstr>Где используются потоки?</vt:lpstr>
      <vt:lpstr>Классическая модель потоков</vt:lpstr>
      <vt:lpstr>Классическая модель: процесс и потоки»</vt:lpstr>
      <vt:lpstr>Переключение между потоками внутри одного процесса</vt:lpstr>
      <vt:lpstr>Общая память: удобно, но опасно</vt:lpstr>
      <vt:lpstr>fork() в многопоточном процессе</vt:lpstr>
      <vt:lpstr>Управление потоками</vt:lpstr>
      <vt:lpstr>Управление потоками: общая модель</vt:lpstr>
      <vt:lpstr>POSIX Threads: pthread</vt:lpstr>
      <vt:lpstr>Потоки в Windows</vt:lpstr>
      <vt:lpstr>C++: абстракция над потоками ОС</vt:lpstr>
      <vt:lpstr>Потоки в User Space</vt:lpstr>
      <vt:lpstr>Потоки в User Space: ядро о них не знает</vt:lpstr>
      <vt:lpstr>N:1 — дешёвые потоки, гибкое планирование</vt:lpstr>
      <vt:lpstr>Главная проблема N:1: ядро видит только один поток</vt:lpstr>
      <vt:lpstr>Можно ли обойти ограничения N:1?</vt:lpstr>
      <vt:lpstr>Потоки в Kernel Space</vt:lpstr>
      <vt:lpstr>Потоки в ядре</vt:lpstr>
      <vt:lpstr>Что даёт ядру знание о потоках?</vt:lpstr>
      <vt:lpstr>Цена модели 1:1</vt:lpstr>
      <vt:lpstr>N:1 или 1:1</vt:lpstr>
      <vt:lpstr>User-space vs Kernel-space threads</vt:lpstr>
      <vt:lpstr>Гибридная модель потоков</vt:lpstr>
      <vt:lpstr>M:N — потоки двух уровней</vt:lpstr>
      <vt:lpstr>Что даёт M:N?</vt:lpstr>
      <vt:lpstr>M:N в современных runtime</vt:lpstr>
      <vt:lpstr>Преобразование однопоточной программы в многопоточную</vt:lpstr>
      <vt:lpstr>Почему однопоточный код не становится многопоточным автоматически</vt:lpstr>
      <vt:lpstr>Общее состояние или состояние потока?</vt:lpstr>
      <vt:lpstr>Thread-safe и reentrant — не одно и то же</vt:lpstr>
      <vt:lpstr>Что приходится менять при переходе к потокам</vt:lpstr>
      <vt:lpstr>Серверы, основанные на событийной модели</vt:lpstr>
      <vt:lpstr>Поток на клиента — не единственный вариант</vt:lpstr>
      <vt:lpstr>Как работает event loop</vt:lpstr>
      <vt:lpstr>Где хранится состояние запроса?</vt:lpstr>
      <vt:lpstr>Потоки или события?</vt:lpstr>
      <vt:lpstr>Итоги</vt:lpstr>
      <vt:lpstr>Список литературы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Алексей Малов</dc:creator>
  <cp:lastModifiedBy>Алексей Малов</cp:lastModifiedBy>
  <cp:revision>86</cp:revision>
  <dcterms:created xsi:type="dcterms:W3CDTF">2025-09-15T14:44:40Z</dcterms:created>
  <dcterms:modified xsi:type="dcterms:W3CDTF">2026-10-05T04:14:08Z</dcterms:modified>
</cp:coreProperties>
</file>