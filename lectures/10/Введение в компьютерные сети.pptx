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3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35" r:id="rId34"/>
    <p:sldId id="340" r:id="rId35"/>
    <p:sldId id="338" r:id="rId36"/>
    <p:sldId id="298" r:id="rId37"/>
    <p:sldId id="341" r:id="rId38"/>
    <p:sldId id="342" r:id="rId39"/>
    <p:sldId id="343" r:id="rId40"/>
    <p:sldId id="306" r:id="rId41"/>
    <p:sldId id="307" r:id="rId42"/>
    <p:sldId id="308" r:id="rId43"/>
    <p:sldId id="328" r:id="rId44"/>
    <p:sldId id="330" r:id="rId45"/>
    <p:sldId id="351" r:id="rId46"/>
    <p:sldId id="329" r:id="rId47"/>
    <p:sldId id="331" r:id="rId48"/>
    <p:sldId id="352" r:id="rId49"/>
    <p:sldId id="353" r:id="rId50"/>
    <p:sldId id="33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4" r:id="rId59"/>
    <p:sldId id="355" r:id="rId60"/>
    <p:sldId id="356" r:id="rId61"/>
    <p:sldId id="357" r:id="rId62"/>
    <p:sldId id="358" r:id="rId63"/>
    <p:sldId id="359" r:id="rId64"/>
    <p:sldId id="360" r:id="rId65"/>
    <p:sldId id="361" r:id="rId66"/>
    <p:sldId id="362" r:id="rId67"/>
    <p:sldId id="363" r:id="rId68"/>
    <p:sldId id="364" r:id="rId69"/>
    <p:sldId id="365" r:id="rId70"/>
    <p:sldId id="366" r:id="rId71"/>
    <p:sldId id="367" r:id="rId72"/>
    <p:sldId id="368" r:id="rId73"/>
    <p:sldId id="369" r:id="rId74"/>
    <p:sldId id="370" r:id="rId75"/>
    <p:sldId id="371" r:id="rId76"/>
    <p:sldId id="372" r:id="rId77"/>
    <p:sldId id="373" r:id="rId78"/>
    <p:sldId id="374" r:id="rId79"/>
    <p:sldId id="375" r:id="rId80"/>
    <p:sldId id="376" r:id="rId81"/>
    <p:sldId id="377" r:id="rId82"/>
    <p:sldId id="378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80" autoAdjust="0"/>
    <p:restoredTop sz="60801" autoAdjust="0"/>
  </p:normalViewPr>
  <p:slideViewPr>
    <p:cSldViewPr snapToGrid="0" showGuides="1">
      <p:cViewPr varScale="1">
        <p:scale>
          <a:sx n="55" d="100"/>
          <a:sy n="55" d="100"/>
        </p:scale>
        <p:origin x="2226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F4A14-A4C2-43BA-9114-30D1AD3B407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5FF5-003D-49C7-8AA8-32F0386C2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8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6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4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прослеживается, как за последние три столетия менялись ведущие технологии, определяющие развитие общества.</a:t>
            </a:r>
          </a:p>
          <a:p>
            <a:br>
              <a:rPr lang="ru-RU" dirty="0"/>
            </a:br>
            <a:r>
              <a:rPr lang="ru-RU" dirty="0"/>
              <a:t>В XVIII веке механизация производства и промышленная революция радикально изменили способы изготовления товаров.</a:t>
            </a:r>
          </a:p>
          <a:p>
            <a:endParaRPr lang="en-US" dirty="0"/>
          </a:p>
          <a:p>
            <a:r>
              <a:rPr lang="ru-RU" dirty="0"/>
              <a:t>XIX век стал периодом, когда паровые двигатели дали человечеству невиданный ранее уровень производительности и мобильности.</a:t>
            </a:r>
          </a:p>
          <a:p>
            <a:br>
              <a:rPr lang="ru-RU" dirty="0"/>
            </a:br>
            <a:r>
              <a:rPr lang="ru-RU" dirty="0"/>
              <a:t>В XX веке ключевым ресурсом стала информация — её сбор, обработка и передача. Именно в этот период были созданы телефонные сети, радио, телевидение, произошёл стремительный рост вычислительной техники и появление интернета.</a:t>
            </a:r>
          </a:p>
          <a:p>
            <a:br>
              <a:rPr lang="ru-RU" dirty="0"/>
            </a:br>
            <a:r>
              <a:rPr lang="ru-RU" dirty="0"/>
              <a:t>Сегодня же, в XXI веке, мы наблюдаем слияние всех этих технологий. Грань между вычислениями, коммуникациями и хранением данных стирается, и никто не может точно сказать, какие формы примут технологии ближайшего будущего.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0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Первоначально компьютеры были большими, дорогими и полностью централизованными. Обычно вся организация использовала один вычислительный центр, куда пользователи приносили задачи для обработки. Такая модель была оправдана тем, что компьютеры стоили дорого, а их мощность распределить между многими пользователями было сложно.</a:t>
            </a:r>
          </a:p>
          <a:p>
            <a:br>
              <a:rPr lang="ru-RU" dirty="0"/>
            </a:br>
            <a:r>
              <a:rPr lang="ru-RU" dirty="0"/>
              <a:t>Однако с развитием электроники стало возможным создавать небольшие, дешёвые устройства, и концепция централизованной обработки устарела.</a:t>
            </a:r>
            <a:br>
              <a:rPr lang="ru-RU" dirty="0"/>
            </a:br>
            <a:r>
              <a:rPr lang="ru-RU" dirty="0"/>
              <a:t>Организации начали использовать множество компьютеров, соединённых друг с другом для обмена данными. Это позволило распределять вычислительные задачи, хранить части данных на разных машинах и взаимодействовать в реальном времени. Так в практику вошёл термин «компьютерная сеть».</a:t>
            </a:r>
          </a:p>
          <a:p>
            <a:br>
              <a:rPr lang="ru-RU" dirty="0"/>
            </a:br>
            <a:r>
              <a:rPr lang="ru-RU" dirty="0"/>
              <a:t>Современные центры обработки данных — это уже не один огромный компьютер, а тысячи соединённых серверов, работающих совместно.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2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приведено базовое определение компьютерной сети — системы автономных устройств, способных обмениваться информацией. Это могут быть персональные компьютеры, серверы, датчики, смартфоны и многое другое.</a:t>
            </a:r>
          </a:p>
          <a:p>
            <a:br>
              <a:rPr lang="ru-RU" dirty="0"/>
            </a:br>
            <a:r>
              <a:rPr lang="ru-RU" dirty="0"/>
              <a:t>Связь между устройствами осуществляется по различным средам передачи: медным кабелям, оптоволокну или радиоволнам. Выбор среды определяется требуемой скоростью, дальностью, стоимостью и условиями.</a:t>
            </a:r>
            <a:br>
              <a:rPr lang="ru-RU" dirty="0"/>
            </a:br>
            <a:r>
              <a:rPr lang="ru-RU" dirty="0"/>
              <a:t>Сети могут быть как локальными, охватывающими одну комнату или дом, так и глобальными. Более того, сети объединяются в более крупные структуры — так построен интернет, который является по сути сетью сетей.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84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Большая часть современных информационных сервисов работает по модели «клиент-сервер». Клиент — это программа, которая инициирует запрос, например браузер. Сервер — это удалённая система, хранящая данные или выполняющая необходимые вычисления.</a:t>
            </a:r>
          </a:p>
          <a:p>
            <a:br>
              <a:rPr lang="ru-RU" dirty="0"/>
            </a:br>
            <a:r>
              <a:rPr lang="ru-RU" dirty="0"/>
              <a:t>Процесс работы прост: клиент формирует запрос, отправляет его серверу, затем получает и отображает ответ. Сервер может обслуживать значительное количество клиентов одновременно, что позволяет масштабировать сервис.</a:t>
            </a:r>
          </a:p>
          <a:p>
            <a:br>
              <a:rPr lang="ru-RU" dirty="0"/>
            </a:br>
            <a:r>
              <a:rPr lang="ru-RU" dirty="0"/>
              <a:t>Клиент-серверная модель лежит в основе веб-сайтов, интернет-магазинов, социальных сетей и даже отдельных мобильных приложений. Эта модель удобна тем, что клиент остаётся простым, а основная логика концентрируется на сервере.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63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Одноранговые сети работают по принципиально иной модели. Здесь нет разделения на «главный» сервер и клиентов. Каждый участник равноправен и может передавать файлы, информацию или ресурсы другим участникам.</a:t>
            </a:r>
          </a:p>
          <a:p>
            <a:br>
              <a:rPr lang="ru-RU" dirty="0"/>
            </a:br>
            <a:r>
              <a:rPr lang="ru-RU" dirty="0"/>
              <a:t>Классическим примером является протокол BitTorrent, где файл делится на множество частей, которые участники обменивают между собой. Это позволяет значительно ускорить загрузку и уменьшить нагрузку на центральный сервер или вовсе обойтись без него.</a:t>
            </a:r>
          </a:p>
          <a:p>
            <a:br>
              <a:rPr lang="ru-RU" dirty="0"/>
            </a:br>
            <a:r>
              <a:rPr lang="ru-RU" dirty="0"/>
              <a:t>P2P-подход особенно удобен, когда необходимо распределить нагрузку, обеспечить устойчивость к отказам или избежать узкого места в виде централизованного сервера. Хотя такие сети часто ассоциировались с проблемами авторских прав, они активно применяются и в легальных областях — от распространения дистрибутивов Linux до обмена личными фотографиями между пользователями.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04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Интернет радикально изменил способы общения. Электронная почта стала универсальным инструментом для деловых и личных коммуникаций, позволяя прикладывать документы, изображения, аудио и видео.</a:t>
            </a:r>
          </a:p>
          <a:p>
            <a:br>
              <a:rPr lang="ru-RU" dirty="0"/>
            </a:br>
            <a:r>
              <a:rPr lang="ru-RU" dirty="0"/>
              <a:t>Мгновенные сообщения — мессенджеры — предоставляют возможность общаться в реальном времени, независимо от расстояния между людьми. Социальные сети объединили в себе коммуникацию, публикацию контента и систему рекомендаций.</a:t>
            </a:r>
          </a:p>
          <a:p>
            <a:br>
              <a:rPr lang="ru-RU" dirty="0"/>
            </a:br>
            <a:r>
              <a:rPr lang="ru-RU" dirty="0"/>
              <a:t>Важной частью интернета стала передача мультимедийного контента: потоковое видео, онлайн-радио, стриминговые платформы. Это открыло путь дистанционному образованию, вебинарам, видеоконференциям.</a:t>
            </a:r>
          </a:p>
          <a:p>
            <a:br>
              <a:rPr lang="ru-RU" dirty="0"/>
            </a:br>
            <a:r>
              <a:rPr lang="ru-RU" dirty="0"/>
              <a:t>Такие средства связи не только упрощают повседневную жизнь, но и расширяют доступ жителей удалённых районов к образовательным и информационным ресурсам.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Электронная коммерция — это совокупность всех операций покупки, продажи и финансовых транзакций, выполняемых через интернет.</a:t>
            </a:r>
          </a:p>
          <a:p>
            <a:br>
              <a:rPr lang="ru-RU" dirty="0"/>
            </a:br>
            <a:r>
              <a:rPr lang="ru-RU" dirty="0"/>
              <a:t>Пользователи могут приобретать товары онлайн, получать консультации, а также пользоваться банковскими услугами, не посещая отделения. Появились финтех-сервисы, позволяющие мгновенно переводить средства, оплачивать счета и инвестировать.</a:t>
            </a:r>
          </a:p>
          <a:p>
            <a:br>
              <a:rPr lang="ru-RU" dirty="0"/>
            </a:br>
            <a:r>
              <a:rPr lang="ru-RU" dirty="0"/>
              <a:t>Онлайн-аукционы работают по модели, схожей с P2P: каждый участник может быть как продавцом, так и покупателем, а центральный сервер лишь ведёт базу данных товаров.</a:t>
            </a:r>
          </a:p>
          <a:p>
            <a:br>
              <a:rPr lang="ru-RU" dirty="0"/>
            </a:br>
            <a:r>
              <a:rPr lang="ru-RU" dirty="0"/>
              <a:t>Система аббревиатур (B2C, B2B, G2C, C2C, P2P) помогает классифицировать тип взаимодействия между сторонами. Эти модели важны для понимания структуры современных электронных сервисов и бизнес-процессов.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21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Интернет стал основным каналом доставки развлечений. Пользователи могут мгновенно находить и воспроизводить музыку, фильмы и сериалы, не покупая физические носители. IPTV и стриминговые сервисы вытесняют традиционное телевидение.</a:t>
            </a:r>
          </a:p>
          <a:p>
            <a:br>
              <a:rPr lang="ru-RU" dirty="0"/>
            </a:br>
            <a:r>
              <a:rPr lang="ru-RU" dirty="0"/>
              <a:t>Технологии позволяют синхронизировать контент между разными устройствами дома — телевизорами, смартфонами, игровыми приставками.</a:t>
            </a:r>
          </a:p>
          <a:p>
            <a:br>
              <a:rPr lang="ru-RU" dirty="0"/>
            </a:br>
            <a:r>
              <a:rPr lang="ru-RU" dirty="0"/>
              <a:t>Интерактивные форматы становятся все популярнее: зрители могут выбирать развитие сюжета или участвовать в трансляции в реальном времени.</a:t>
            </a:r>
          </a:p>
          <a:p>
            <a:br>
              <a:rPr lang="ru-RU" dirty="0"/>
            </a:br>
            <a:r>
              <a:rPr lang="ru-RU" dirty="0"/>
              <a:t>Отдельное направление — онлайн-игры. Современные виртуальные миры объединяют тысячи игроков в едином пространстве с общей логикой, экономикой и взаимодействиями, что делает игры полноценной социальной и экономической средой.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4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Интернет вещей — это идея подключения к сети самых различных физических объектов. В основе лежит концепция повсеместных вычислений, когда вычислительная функция встроена практически в любой предмет окружающего мира.</a:t>
            </a:r>
          </a:p>
          <a:p>
            <a:br>
              <a:rPr lang="ru-RU" dirty="0"/>
            </a:br>
            <a:r>
              <a:rPr lang="ru-RU" dirty="0"/>
              <a:t>Умные дома включают системы безопасности, датчики температуры, влажности, дыма. Интеллектуальные счётчики автоматически отправляют данные поставщикам услуг.</a:t>
            </a:r>
          </a:p>
          <a:p>
            <a:br>
              <a:rPr lang="ru-RU" dirty="0"/>
            </a:br>
            <a:r>
              <a:rPr lang="ru-RU" dirty="0"/>
              <a:t>Бытовая техника — холодильники, камеры, телевизоры — становится сетевой. Такие устройства могут обмениваться информацией между собой и с мобильными приложениями.</a:t>
            </a:r>
          </a:p>
          <a:p>
            <a:br>
              <a:rPr lang="ru-RU" dirty="0"/>
            </a:br>
            <a:r>
              <a:rPr lang="ru-RU" dirty="0" err="1"/>
              <a:t>IoT</a:t>
            </a:r>
            <a:r>
              <a:rPr lang="ru-RU" dirty="0"/>
              <a:t> позволяет автоматизировать рутинные процессы, оптимизировать расход ресурсов, обеспечивать мониторинг здоровья, жилья и инфраструктуры. По мере удешевления датчиков и связи </a:t>
            </a:r>
            <a:r>
              <a:rPr lang="ru-RU" dirty="0" err="1"/>
              <a:t>IoT</a:t>
            </a:r>
            <a:r>
              <a:rPr lang="ru-RU" dirty="0"/>
              <a:t> становится всё более распространённой технологией, формирующей основу будущей цифровой среды.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24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65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этом разделе мы рассмотрим не абстрактную «компьютерную сеть вообще», а несколько типичных классов сетей, которые вместе образуют современный интернет.</a:t>
            </a:r>
          </a:p>
          <a:p>
            <a:br>
              <a:rPr lang="ru-RU" b="0" dirty="0"/>
            </a:br>
            <a:r>
              <a:rPr lang="ru-RU" b="0" dirty="0"/>
              <a:t>Можно мысленно представить цепочку: пользователь подключается к сети через широкополосный доступ или мобильную сеть; трафик может проходить через транзитные магистральные сети; данные обрабатываются и хранятся в сетях дата-центров и доставляются с помощью сетей доставки контента.</a:t>
            </a:r>
          </a:p>
          <a:p>
            <a:br>
              <a:rPr lang="ru-RU" b="0" dirty="0"/>
            </a:br>
            <a:r>
              <a:rPr lang="ru-RU" b="0" dirty="0"/>
              <a:t>Параллельно с этим существуют корпоративные сети компаний и университетов, которые соединяют сотрудников и их ресурсы по всему миру. Дальше мы посмотрим, как каждая из этих частей устроена и какую задачу решает.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28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Широкополосные сети доступа — это те самые «последние метры» от провайдера до дома или офиса пользователя. Изначально люди покупали компьютеры чаще ради работы с документами и игр. Сейчас основная причина — возможность постоянно быть на связи с интернетом.</a:t>
            </a:r>
          </a:p>
          <a:p>
            <a:br>
              <a:rPr lang="ru-RU" dirty="0"/>
            </a:br>
            <a:r>
              <a:rPr lang="ru-RU" dirty="0"/>
              <a:t>К сети подключаются уже не только компьютеры: телевизоры, консоли, медиаплееры, умные замки и прочие устройства тоже хотят «в интернет». Через широкополосный доступ реализуются основные сценарии: просмотр сайтов, стриминг видео, игры, работа из дома, облачные сервисы.</a:t>
            </a:r>
          </a:p>
          <a:p>
            <a:br>
              <a:rPr lang="ru-RU" dirty="0"/>
            </a:br>
            <a:r>
              <a:rPr lang="ru-RU" dirty="0"/>
              <a:t>Важно упомянуть </a:t>
            </a:r>
            <a:r>
              <a:rPr lang="ru-RU" b="1" dirty="0"/>
              <a:t>Закон Меткалфа</a:t>
            </a:r>
            <a:r>
              <a:rPr lang="ru-RU" dirty="0"/>
              <a:t>: полезность сети, по гипотезе, растёт примерно как квадрат числа её участников, потому что количество возможных связей между пользователями быстро увеличивается. Именно огромный масштаб интернета и количество подключённых устройств делают его настолько ценным.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74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Широкополосный доступ не обязательно реализуется одной технологией. В разных странах и даже районах города используется разная физическая среда.</a:t>
            </a:r>
          </a:p>
          <a:p>
            <a:br>
              <a:rPr lang="ru-RU" dirty="0"/>
            </a:br>
            <a:r>
              <a:rPr lang="ru-RU" b="1" dirty="0"/>
              <a:t>Медные телефонные линии</a:t>
            </a:r>
            <a:r>
              <a:rPr lang="ru-RU" dirty="0"/>
              <a:t> долгое время были базой для xDSL-технологий, позволяющих передавать данные параллельно с телефонией.</a:t>
            </a:r>
          </a:p>
          <a:p>
            <a:endParaRPr lang="ru-RU" dirty="0"/>
          </a:p>
          <a:p>
            <a:r>
              <a:rPr lang="ru-RU" b="1" dirty="0"/>
              <a:t>Коаксиальные кабели</a:t>
            </a:r>
            <a:r>
              <a:rPr lang="ru-RU" dirty="0"/>
              <a:t>, использовавшиеся для кабельного телевидения, стали основой кабельного интернета.</a:t>
            </a:r>
            <a:br>
              <a:rPr lang="ru-RU" dirty="0"/>
            </a:br>
            <a:r>
              <a:rPr lang="ru-RU" dirty="0"/>
              <a:t>Современный тренд — </a:t>
            </a:r>
            <a:r>
              <a:rPr lang="ru-RU" b="1" dirty="0"/>
              <a:t>оптоволокно</a:t>
            </a:r>
            <a:r>
              <a:rPr lang="ru-RU" dirty="0"/>
              <a:t>, которое позволяет обеспечить очень высокие скорости и хорошо масштабируется.</a:t>
            </a:r>
          </a:p>
          <a:p>
            <a:endParaRPr lang="ru-RU" dirty="0"/>
          </a:p>
          <a:p>
            <a:r>
              <a:rPr lang="ru-RU" dirty="0"/>
              <a:t>В некоторых развивающихся регионах прокладка кабелей экономически сложна, поэтому роль фиксированного доступа частично берут на себя </a:t>
            </a:r>
            <a:r>
              <a:rPr lang="ru-RU" b="1" dirty="0"/>
              <a:t>мобильные сети</a:t>
            </a:r>
            <a:r>
              <a:rPr lang="ru-RU" dirty="0"/>
              <a:t>, когда пользователи выходят в интернет через сотовых операторов.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71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Мобильные и беспроводные сети появились как ответ на желание пользователей быть онлайн не только дома и в офисе, но и в дороге — в машине, поезде, самолёте, кафе или аэропорту.</a:t>
            </a:r>
          </a:p>
          <a:p>
            <a:br>
              <a:rPr lang="ru-RU" dirty="0"/>
            </a:br>
            <a:r>
              <a:rPr lang="ru-RU" b="1" dirty="0"/>
              <a:t>Сотовые сети</a:t>
            </a:r>
            <a:r>
              <a:rPr lang="ru-RU" dirty="0"/>
              <a:t> обеспечивают голосовую и пакетную передачу данных через операторов мобильной связи. </a:t>
            </a:r>
            <a:r>
              <a:rPr lang="ru-RU" b="1" dirty="0" err="1"/>
              <a:t>Wi</a:t>
            </a:r>
            <a:r>
              <a:rPr lang="ru-RU" b="1" dirty="0"/>
              <a:t>-Fi-сети</a:t>
            </a:r>
            <a:r>
              <a:rPr lang="ru-RU" dirty="0"/>
              <a:t>, построенные по стандарту 802.11, позволяют создать беспроводной «пузырь» покрытия в помещении, кафе, вузе, аэропорту и т. п.</a:t>
            </a:r>
          </a:p>
          <a:p>
            <a:br>
              <a:rPr lang="ru-RU" dirty="0"/>
            </a:br>
            <a:r>
              <a:rPr lang="ru-RU" dirty="0"/>
              <a:t>Из множества таких хот-спотов получается «лоскутное одеяло» покрытия: пользователь, двигаясь по городу, может подключаться к разным точкам доступа. В результате большинство привычных действий — чтение почты, просмотр видео, общение, навигация — теперь не привязаны к конкретному месту и кабелю.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73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различать два понятия: </a:t>
            </a:r>
            <a:r>
              <a:rPr lang="ru-RU" b="1" dirty="0"/>
              <a:t>мобильность</a:t>
            </a:r>
            <a:r>
              <a:rPr lang="ru-RU" dirty="0"/>
              <a:t> устройства и </a:t>
            </a:r>
            <a:r>
              <a:rPr lang="ru-RU" b="1" dirty="0"/>
              <a:t>беспроводной</a:t>
            </a:r>
            <a:r>
              <a:rPr lang="ru-RU" dirty="0"/>
              <a:t> способ подключения. Это не всегда одно и то же.</a:t>
            </a:r>
          </a:p>
          <a:p>
            <a:br>
              <a:rPr lang="ru-RU" dirty="0"/>
            </a:br>
            <a:r>
              <a:rPr lang="ru-RU" dirty="0"/>
              <a:t>Например, стационарный компьютер в офисе — ни мобильный, ни беспроводной. Ноутбук, подключённый в отеле по кабелю, — мобильное устройство, но соединение у него проводное. Напротив, домашний стационарный ПК, подключённый через </a:t>
            </a:r>
            <a:r>
              <a:rPr lang="ru-RU" dirty="0" err="1"/>
              <a:t>Wi</a:t>
            </a:r>
            <a:r>
              <a:rPr lang="ru-RU" dirty="0"/>
              <a:t>-Fi, не является мобильным, но использует беспроводную сеть.</a:t>
            </a:r>
          </a:p>
          <a:p>
            <a:br>
              <a:rPr lang="ru-RU" dirty="0"/>
            </a:br>
            <a:r>
              <a:rPr lang="ru-RU" dirty="0"/>
              <a:t>Полная комбинация — когда и устройство мобильное, и сеть беспроводная: например, складской терминал, с которым сотрудник ходит между стеллажами, или смартфон. Такое разделение помогает лучше понимать требования к сети: её покрытие, скорость, устойчивость к перемещениям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45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Мобильные беспроводные сети радикально изменили многие виды деятельности.</a:t>
            </a:r>
          </a:p>
          <a:p>
            <a:br>
              <a:rPr lang="ru-RU" dirty="0"/>
            </a:br>
            <a:r>
              <a:rPr lang="ru-RU" dirty="0"/>
              <a:t>Такси и службы доставки используют терминалы или смартфоны для получения заказов в реальном времени: диспетчер отправляет заказ, он появляется на дисплее водителя, и тот может принять его нажатием кнопки.</a:t>
            </a:r>
          </a:p>
          <a:p>
            <a:br>
              <a:rPr lang="ru-RU" dirty="0"/>
            </a:br>
            <a:r>
              <a:rPr lang="ru-RU" dirty="0"/>
              <a:t>На складах сотрудники ходят с карманными компьютерами или сканерами штрихкодов/RFID-меток, считывают информацию о товаре и сразу отправляют данные в центральную информационную систему.</a:t>
            </a:r>
          </a:p>
          <a:p>
            <a:br>
              <a:rPr lang="ru-RU" dirty="0"/>
            </a:br>
            <a:r>
              <a:rPr lang="ru-RU" dirty="0"/>
              <a:t>При возврате арендованных машин сотрудники могут работать прямо на парковке с мобильным устройством, которое запрашивает данные аренды и печатает счёт «на месте». Всё это стало возможно благодаря сочетанию мобильных устройств и беспроводной связи.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16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Смартфоны — это гибрид мобильного телефона и компьютера. Они могут автоматически выбирать сеть — сотовую или </a:t>
            </a:r>
            <a:r>
              <a:rPr lang="ru-RU" dirty="0" err="1"/>
              <a:t>Wi</a:t>
            </a:r>
            <a:r>
              <a:rPr lang="ru-RU" dirty="0"/>
              <a:t>-Fi — и поддерживают постоянное подключение к интернету.</a:t>
            </a:r>
          </a:p>
          <a:p>
            <a:br>
              <a:rPr lang="ru-RU" dirty="0"/>
            </a:br>
            <a:r>
              <a:rPr lang="ru-RU" dirty="0"/>
              <a:t>Исторически операторы зарабатывали огромные деньги на </a:t>
            </a:r>
            <a:r>
              <a:rPr lang="ru-RU" b="1" dirty="0"/>
              <a:t>SMS</a:t>
            </a:r>
            <a:r>
              <a:rPr lang="ru-RU" dirty="0"/>
              <a:t>, поскольку стоимость передачи одного текстового сообщения для них минимальна, а стоимость услуги для пользователя — значительно выше. Затем появились IP-мессенджеры, которые используют либо мобильный интернет, либо </a:t>
            </a:r>
            <a:r>
              <a:rPr lang="ru-RU" dirty="0" err="1"/>
              <a:t>Wi</a:t>
            </a:r>
            <a:r>
              <a:rPr lang="ru-RU" dirty="0"/>
              <a:t>-Fi и предлагают более гибкие и дешёвые коммуникации.</a:t>
            </a:r>
          </a:p>
          <a:p>
            <a:br>
              <a:rPr lang="ru-RU" dirty="0"/>
            </a:br>
            <a:r>
              <a:rPr lang="ru-RU" dirty="0"/>
              <a:t>Благодаря </a:t>
            </a:r>
            <a:r>
              <a:rPr lang="ru-RU" b="1" dirty="0"/>
              <a:t>GPS</a:t>
            </a:r>
            <a:r>
              <a:rPr lang="ru-RU" dirty="0"/>
              <a:t> и триангуляции по </a:t>
            </a:r>
            <a:r>
              <a:rPr lang="ru-RU" dirty="0" err="1"/>
              <a:t>Wi</a:t>
            </a:r>
            <a:r>
              <a:rPr lang="ru-RU" dirty="0"/>
              <a:t>-Fi смартфон «знает», где находится. Это позволяет реализовывать карты, навигацию, поиск ближайших объектов (кафе, магазинов), локальный прогноз погоды.</a:t>
            </a:r>
          </a:p>
          <a:p>
            <a:br>
              <a:rPr lang="ru-RU" dirty="0"/>
            </a:br>
            <a:r>
              <a:rPr lang="ru-RU" dirty="0"/>
              <a:t>Фотографии и видео часто автоматически снабжаются метками местоположения — это называется </a:t>
            </a:r>
            <a:r>
              <a:rPr lang="ru-RU" b="1" dirty="0" err="1"/>
              <a:t>геотегированием</a:t>
            </a:r>
            <a:r>
              <a:rPr lang="ru-RU" dirty="0"/>
              <a:t>, и потом их можно сортировать и искать по месту съёмки.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6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Мобильная коммерция расширяет классическую электронную коммерцию, перенося платежи прямо в мобильные устройства. Пользователь может оплатить билет, парковку или товар, отправив SMS или используя приложение. Сумма затем списывается со счёта мобильного оператора или банковского счёта.</a:t>
            </a:r>
          </a:p>
          <a:p>
            <a:br>
              <a:rPr lang="ru-RU" dirty="0"/>
            </a:br>
            <a:r>
              <a:rPr lang="ru-RU" dirty="0"/>
              <a:t>Технология </a:t>
            </a:r>
            <a:r>
              <a:rPr lang="ru-RU" b="1" dirty="0"/>
              <a:t>NFC</a:t>
            </a:r>
            <a:r>
              <a:rPr lang="ru-RU" dirty="0"/>
              <a:t> позволяет телефону работать как бесконтактная карта: для оплаты достаточно поднести устройство к считывателю. Это удобно пользователю и интересно магазинам, так как даёт возможность сократить банковские комиссии.</a:t>
            </a:r>
          </a:p>
          <a:p>
            <a:br>
              <a:rPr lang="ru-RU" dirty="0"/>
            </a:br>
            <a:r>
              <a:rPr lang="ru-RU" dirty="0"/>
              <a:t>Психологически важно, что пользователи смартфонов уже привыкли платить за мобильную связь и приложения. Поэтому модель «оплатить телефоном» воспринимается естественнее, чем платный доступ к какому-то веб-сайту. Это создаёт мощный стимул для развития мобильных платёжных сервисов.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746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Сенсорные сети — это шаг к тотальному измерению и мониторингу окружающего мира. Маленькие узлы умеют измерять параметры среды, а затем передавать данные по беспроводной связи.</a:t>
            </a:r>
          </a:p>
          <a:p>
            <a:br>
              <a:rPr lang="ru-RU" dirty="0"/>
            </a:br>
            <a:r>
              <a:rPr lang="ru-RU" dirty="0"/>
              <a:t>В автомобилях можно собирать информацию о состоянии дороги, расходе топлива, пробках и делиться ею с другими водителями. В научных исследованиях к животным прикрепляют маленькие датчики, чтобы отслеживать их миграцию. Миниатюризация позволяет следить даже за небольшими животными и насекомыми.</a:t>
            </a:r>
          </a:p>
          <a:p>
            <a:br>
              <a:rPr lang="ru-RU" dirty="0"/>
            </a:br>
            <a:r>
              <a:rPr lang="ru-RU" dirty="0"/>
              <a:t>Интересный пример — </a:t>
            </a:r>
            <a:r>
              <a:rPr lang="ru-RU" b="1" dirty="0"/>
              <a:t>беспроводные парковочные автоматы</a:t>
            </a:r>
            <a:r>
              <a:rPr lang="ru-RU" dirty="0"/>
              <a:t>: они принимают оплату по карте, сообщают о занятости места и могут автоматически уведомлять контролёра, если время истекло, а машина всё ещё стоит. Такие системы уже приносят городам существенные дополнительные доходы за счёт штрафов.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20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интернет-сервисы опираются на </a:t>
            </a:r>
            <a:r>
              <a:rPr lang="ru-RU" b="1" dirty="0"/>
              <a:t>дата-центры</a:t>
            </a:r>
            <a:r>
              <a:rPr lang="ru-RU" dirty="0"/>
              <a:t> — гигантские помещения с тысячами серверов. Там живут наши файлы, почта, соцсети, облачные документы, фотографии и многое другое.</a:t>
            </a:r>
          </a:p>
          <a:p>
            <a:br>
              <a:rPr lang="ru-RU" dirty="0"/>
            </a:br>
            <a:r>
              <a:rPr lang="ru-RU" dirty="0"/>
              <a:t>Внутри дата-центра требуется перемещать огромные объёмы данных между серверами: сервисы масштабируются, данные реплицируются и перераспределяются. </a:t>
            </a:r>
          </a:p>
          <a:p>
            <a:r>
              <a:rPr lang="ru-RU" dirty="0"/>
              <a:t>Это предъявляет очень жёсткие требования к пропускной способности и отказоустойчивости сетевой инфраструктуры.</a:t>
            </a:r>
          </a:p>
          <a:p>
            <a:br>
              <a:rPr lang="ru-RU" dirty="0"/>
            </a:br>
            <a:r>
              <a:rPr lang="ru-RU" dirty="0"/>
              <a:t>Ранние сети дата-центров часто строились по простой трёхуровневой схеме «доступ — агрегация — ядро», напоминающей дерево. Эта архитектура плохо масштабировалась и становилась узким местом по мере роста числа серверов и трафика, что стимулировало поиски новых топологий и решений.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059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Content Delivery Network (CDN) — это сеть серверов, расположенных в разных точках планеты и предназначенных для быстрой доставки контента пользователям.</a:t>
            </a:r>
          </a:p>
          <a:p>
            <a:br>
              <a:rPr lang="ru-RU" b="0" dirty="0"/>
            </a:br>
            <a:r>
              <a:rPr lang="ru-RU" b="0" dirty="0"/>
              <a:t>Популярные сервисы — видео-платформы, крупные сайты, стриминговые сервисы — хранят копии своих данных в разных узлах CDN. Когда пользователь запрашивает ресурс, система выбирает не «оригинальный» сервер, а ближайшую и наименее загруженную реплику.</a:t>
            </a:r>
          </a:p>
          <a:p>
            <a:br>
              <a:rPr lang="ru-RU" b="0" dirty="0"/>
            </a:br>
            <a:r>
              <a:rPr lang="ru-RU" b="0" dirty="0"/>
              <a:t>Такой подход уменьшает задержки, снижает нагрузку на магистральные сети и улучшает пользовательский опыт. У крупных компаний есть собственные CDN, а мелкие сервисы используют коммерческих провайдеров CDN.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50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Когда пользователь обращается к контенту, размещённому далеко, данные проходят через несколько независимых сетей. Домашний провайдер, сеть дата-центра и сети других операторов могут принадлежать разным организациям.</a:t>
            </a:r>
          </a:p>
          <a:p>
            <a:br>
              <a:rPr lang="ru-RU" b="0" dirty="0"/>
            </a:br>
            <a:r>
              <a:rPr lang="ru-RU" b="0" dirty="0"/>
              <a:t>Если между сетью доступа и сетью поставщика контента нет прямого соединения, трафик идёт через транзитную сеть. Такие сети обеспечивают так называемый «сквозной транзит», за который взимают плату с обеих сторон.</a:t>
            </a:r>
          </a:p>
          <a:p>
            <a:br>
              <a:rPr lang="ru-RU" b="0" dirty="0"/>
            </a:br>
            <a:r>
              <a:rPr lang="ru-RU" b="0" dirty="0"/>
              <a:t>Из-за своей центральной роли транзитные сети называют магистральными: именно через них исторически проходила большая часть глобального интернет-трафика.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39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Ппоследние</a:t>
            </a:r>
            <a:r>
              <a:rPr lang="ru-RU" dirty="0"/>
              <a:t> годы роль транзитных сетей постепенно меняется.</a:t>
            </a:r>
          </a:p>
          <a:p>
            <a:br>
              <a:rPr lang="ru-RU" dirty="0"/>
            </a:br>
            <a:r>
              <a:rPr lang="ru-RU" dirty="0"/>
              <a:t>С одной стороны, значительная часть контента концентрируется у нескольких гигантов — крупных облачных и контент-провайдеров. С другой стороны, сами провайдеры растут, становятся национальными или международными игроками и могут напрямую соединяться с крупными поставщиками контента.</a:t>
            </a:r>
          </a:p>
          <a:p>
            <a:br>
              <a:rPr lang="ru-RU" dirty="0"/>
            </a:br>
            <a:r>
              <a:rPr lang="ru-RU" dirty="0"/>
              <a:t>В результате всё чаще создаются </a:t>
            </a:r>
            <a:r>
              <a:rPr lang="ru-RU" b="0" dirty="0"/>
              <a:t>прямые соединения </a:t>
            </a:r>
            <a:r>
              <a:rPr lang="ru-RU" dirty="0"/>
              <a:t>между крупными сетями: так называемый </a:t>
            </a:r>
            <a:r>
              <a:rPr lang="ru-RU" dirty="0" err="1"/>
              <a:t>peering</a:t>
            </a:r>
            <a:r>
              <a:rPr lang="ru-RU" dirty="0"/>
              <a:t>. Это уменьшает расходы на транзит и повышает производительность. В таких схемах транзитные сети всё чаще используются как резерв или для маршрутизации менее критичного трафика.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032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Корпоративные сети соединяют компьютеры внутри компаний, университетов, госучреждений. Их ключевая цель — совместное использование ресурсов.</a:t>
            </a:r>
          </a:p>
          <a:p>
            <a:br>
              <a:rPr lang="ru-RU" b="0" dirty="0"/>
            </a:br>
            <a:r>
              <a:rPr lang="ru-RU" b="0" dirty="0"/>
              <a:t>Вместо множества отдельных принтеров выгоднее иметь один мощный сетевой принтер. Данные клиентов, складские остатки, финансовые отчёты хранятся в общих базах данных, к которым сотрудники могут обращаться с рабочих мест.</a:t>
            </a:r>
          </a:p>
          <a:p>
            <a:br>
              <a:rPr lang="ru-RU" b="0" dirty="0"/>
            </a:br>
            <a:r>
              <a:rPr lang="ru-RU" b="0" dirty="0"/>
              <a:t>Зависимость бизнеса от сетей чрезвычайно высока: банк не сможет работать без своих систем даже несколько минут. Производственная линия, управляемая компьютером, остановится за секунды. Даже маленькие компании нуждаются в сети для доступа к документам и информации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463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большой корпорации компьютеры и сотрудники физически разбросаны по миру. Тем не менее, сотруднику в одном городе может понадобиться доступ к базе данных, находящейся на другом континенте.</a:t>
            </a:r>
          </a:p>
          <a:p>
            <a:br>
              <a:rPr lang="ru-RU" dirty="0"/>
            </a:br>
            <a:r>
              <a:rPr lang="ru-RU" dirty="0"/>
              <a:t>Для объединения удалённых участков в единую логическую сеть используются </a:t>
            </a:r>
            <a:r>
              <a:rPr lang="ru-RU" b="1" dirty="0"/>
              <a:t>VPN</a:t>
            </a:r>
            <a:r>
              <a:rPr lang="ru-RU" dirty="0"/>
              <a:t> — виртуальные частные сети. Они позволяют сотруднику работать с ресурсами компании так, как если бы он находился в «родном» офисе.</a:t>
            </a:r>
          </a:p>
          <a:p>
            <a:br>
              <a:rPr lang="ru-RU" dirty="0"/>
            </a:br>
            <a:r>
              <a:rPr lang="ru-RU" dirty="0"/>
              <a:t>Внутри организации чаще всего используется модель </a:t>
            </a:r>
            <a:r>
              <a:rPr lang="ru-RU" b="1" dirty="0"/>
              <a:t>клиент–сервер</a:t>
            </a:r>
            <a:r>
              <a:rPr lang="ru-RU" dirty="0"/>
              <a:t>: данные хранятся на мощных серверах в серверных комнатах, а сотрудники работают с ними через более простые рабочие станции. Это упрощает администрирование, резервное копирование и безопасность.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815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Корпоративные сети важны не только как доступ к данным, но и как </a:t>
            </a:r>
            <a:r>
              <a:rPr lang="ru-RU" b="1" dirty="0"/>
              <a:t>среда общения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Электронная почта стала стандартом взаимодействия в компаниях, хотя многие жалуются на её объём. Всё чаще используется </a:t>
            </a:r>
            <a:r>
              <a:rPr lang="ru-RU" b="1" dirty="0"/>
              <a:t>VoIP</a:t>
            </a:r>
            <a:r>
              <a:rPr lang="ru-RU" dirty="0"/>
              <a:t>, когда голос передаётся через IP-сети, что позволяет экономить на телефонных расходах.</a:t>
            </a:r>
          </a:p>
          <a:p>
            <a:br>
              <a:rPr lang="ru-RU" dirty="0"/>
            </a:br>
            <a:r>
              <a:rPr lang="ru-RU" dirty="0"/>
              <a:t>Видеоконференции и инструменты совместной работы делают возможными встречи и проекты между офисами в разных странах. Демонстрация рабочего стола, совместное редактирование документов в реальном времени — всё это снижает необходимость командировок и ускоряет процессы согласования.</a:t>
            </a:r>
          </a:p>
          <a:p>
            <a:br>
              <a:rPr lang="ru-RU" dirty="0"/>
            </a:br>
            <a:r>
              <a:rPr lang="ru-RU" dirty="0"/>
              <a:t>Такие технологии уже выходят за рамки бизнеса — примером является телемедицина и другие формы удалённого взаимодействия.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320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Третье важное назначение корпоративных сетей — поддержка </a:t>
            </a:r>
            <a:r>
              <a:rPr lang="ru-RU" b="1" dirty="0"/>
              <a:t>электронного бизнеса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Компании предоставляют клиентам доступ к своим услугам через веб-сайты и приложения: покупка билетов, заказ книг, товаров, бронирование. Внутри цепочек поставок производители взаимодействуют с десятками поставщиков, посылая и получая </a:t>
            </a:r>
            <a:r>
              <a:rPr lang="ru-RU" b="1" dirty="0"/>
              <a:t>электронные заказы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позволяет уменьшить запасы на складах, ускорить производство, лучше планировать поставки и снижать издержки. Фактически сеть становится «кровеносной системой» бизнеса, по которой циркулирует информация и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793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52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Компьютерные сети очень различаются по размеру и назначению.</a:t>
            </a:r>
          </a:p>
          <a:p>
            <a:br>
              <a:rPr lang="ru-RU" dirty="0"/>
            </a:br>
            <a:r>
              <a:rPr lang="ru-RU" dirty="0"/>
              <a:t>С одного конца спектра — </a:t>
            </a:r>
            <a:r>
              <a:rPr lang="ru-RU" b="1" dirty="0"/>
              <a:t>персональные сети (PAN)</a:t>
            </a:r>
            <a:r>
              <a:rPr lang="ru-RU" dirty="0"/>
              <a:t>, которые соединяют устройства одного человека на расстоянии нескольких метров.</a:t>
            </a:r>
          </a:p>
          <a:p>
            <a:br>
              <a:rPr lang="ru-RU" dirty="0"/>
            </a:br>
            <a:r>
              <a:rPr lang="ru-RU" dirty="0"/>
              <a:t>Далее идут </a:t>
            </a:r>
            <a:r>
              <a:rPr lang="ru-RU" b="1" dirty="0"/>
              <a:t>локальные сети (LAN)</a:t>
            </a:r>
            <a:r>
              <a:rPr lang="ru-RU" dirty="0"/>
              <a:t>, охватывающие дом, офис или здание, и их частный случай — </a:t>
            </a:r>
            <a:r>
              <a:rPr lang="ru-RU" b="1" dirty="0"/>
              <a:t>домашние сети</a:t>
            </a:r>
            <a:r>
              <a:rPr lang="ru-RU" dirty="0"/>
              <a:t>, сейчас очень насыщенные устройствами </a:t>
            </a:r>
            <a:r>
              <a:rPr lang="ru-RU" dirty="0" err="1"/>
              <a:t>IoT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На уровень выше — </a:t>
            </a:r>
            <a:r>
              <a:rPr lang="ru-RU" b="1" dirty="0"/>
              <a:t>городские сети (MAN)</a:t>
            </a:r>
            <a:r>
              <a:rPr lang="ru-RU" dirty="0"/>
              <a:t>, которые охватывают целый город (например, сети кабельного телевидения с доступом в интернет).</a:t>
            </a:r>
            <a:br>
              <a:rPr lang="ru-RU" dirty="0"/>
            </a:br>
            <a:r>
              <a:rPr lang="ru-RU" dirty="0"/>
              <a:t>Ещё крупнее — </a:t>
            </a:r>
            <a:r>
              <a:rPr lang="ru-RU" b="1" dirty="0"/>
              <a:t>глобальные сети (WAN)</a:t>
            </a:r>
            <a:r>
              <a:rPr lang="ru-RU" dirty="0"/>
              <a:t>, соединяющие города, страны и континенты.</a:t>
            </a:r>
            <a:br>
              <a:rPr lang="ru-RU" dirty="0"/>
            </a:br>
            <a:r>
              <a:rPr lang="ru-RU" dirty="0"/>
              <a:t>И, наконец, несколько разных сетей могут объединяться в </a:t>
            </a:r>
            <a:r>
              <a:rPr lang="ru-RU" b="1" dirty="0"/>
              <a:t>интерсети</a:t>
            </a:r>
            <a:r>
              <a:rPr lang="ru-RU" dirty="0"/>
              <a:t>, где взаимодействуют совершенно разные технологии и операторы. Дальше мы пройдёмся по этим уровням от «маленького» к «глобальному».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084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Персональные сети — это самый малый тип сетей, предназначенный для связи нескольких устройств одного человека на небольшом расстоянии. В таких сетях чаще всего используется технология </a:t>
            </a:r>
            <a:r>
              <a:rPr lang="ru-RU" b="1" dirty="0"/>
              <a:t>Bluetooth</a:t>
            </a:r>
            <a:r>
              <a:rPr lang="ru-RU" dirty="0"/>
              <a:t>, позволяющая автоматически находить устройства и устанавливать соединение без проводов.</a:t>
            </a:r>
          </a:p>
          <a:p>
            <a:endParaRPr lang="ru-RU" dirty="0"/>
          </a:p>
          <a:p>
            <a:r>
              <a:rPr lang="ru-RU" dirty="0"/>
              <a:t>Bluetooth стал стандартом де-факто для подключения ежедневных аксессуаров — наушников, клавиатур, часов, фитнес-браслетов, автомобильных систем. Простота настройки и широкий набор поддерживаемых профилей сделали его основой современных 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41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Локальные сети — основной тип сетей, с которым пользователи сталкиваются каждый день. Они объединяют устройства в пределах ограниченной территории — дома, офиса или лаборатории. Благодаря малым расстояниям LAN обеспечивают высокие скорости передачи, низкие задержки и надёжный обмен данными. </a:t>
            </a:r>
          </a:p>
          <a:p>
            <a:endParaRPr lang="ru-RU" dirty="0"/>
          </a:p>
          <a:p>
            <a:r>
              <a:rPr lang="ru-RU" dirty="0"/>
              <a:t>Именно внутри LAN организуются совместная работа сотрудников, локальные сервисы и доступ к интернету через общий шлюз.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811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Беспроводные локальные сети — это самый удобный и распространённый сегодня способ подключения устройств в доме, офисе и общественных пространствах. </a:t>
            </a:r>
          </a:p>
          <a:p>
            <a:r>
              <a:rPr lang="ru-RU" dirty="0"/>
              <a:t>Основная технология здесь — </a:t>
            </a:r>
            <a:r>
              <a:rPr lang="ru-RU" b="1" dirty="0" err="1"/>
              <a:t>Wi</a:t>
            </a:r>
            <a:r>
              <a:rPr lang="ru-RU" b="1" dirty="0"/>
              <a:t>-Fi</a:t>
            </a:r>
            <a:r>
              <a:rPr lang="ru-RU" dirty="0"/>
              <a:t>, стандартизированная как IEEE 802.11. Для беспроводных LAN разработано множество вариаций стандарта: от ранних 802.11b с десятками мегабит в секунду до современных 802.11ac/</a:t>
            </a:r>
            <a:r>
              <a:rPr lang="ru-RU" dirty="0" err="1"/>
              <a:t>ax</a:t>
            </a:r>
            <a:r>
              <a:rPr lang="ru-RU" dirty="0"/>
              <a:t>, которые обеспечивают скорости в гигабитном диапазоне. Все они используют радиоволны, поэтому устройства могут подключаться без кабелей.</a:t>
            </a:r>
          </a:p>
          <a:p>
            <a:endParaRPr lang="ru-RU" dirty="0"/>
          </a:p>
          <a:p>
            <a:r>
              <a:rPr lang="ru-RU" dirty="0"/>
              <a:t>Обычно беспроводная LAN имеет центральный элемент — </a:t>
            </a:r>
            <a:r>
              <a:rPr lang="ru-RU" b="1" dirty="0"/>
              <a:t>точку доступа (Access Point)</a:t>
            </a:r>
            <a:r>
              <a:rPr lang="ru-RU" dirty="0"/>
              <a:t>. Устройства подключаются именно к ней и передают трафик через неё, в том числе в интернет или проводную часть сети. Это делает архитектуру простой и понятной: точка доступа выступает в роли «центрального узла», через который проходят все пакеты.</a:t>
            </a:r>
          </a:p>
          <a:p>
            <a:endParaRPr lang="ru-RU" dirty="0"/>
          </a:p>
          <a:p>
            <a:r>
              <a:rPr lang="ru-RU" dirty="0"/>
              <a:t>Однако в крупных помещениях или на больших территориях часто применяют </a:t>
            </a:r>
            <a:r>
              <a:rPr lang="ru-RU" b="1" dirty="0"/>
              <a:t>ячеистые, или </a:t>
            </a:r>
            <a:r>
              <a:rPr lang="ru-RU" b="1" dirty="0" err="1"/>
              <a:t>mesh</a:t>
            </a:r>
            <a:r>
              <a:rPr lang="ru-RU" b="1" dirty="0"/>
              <a:t>-сети</a:t>
            </a:r>
            <a:r>
              <a:rPr lang="ru-RU" dirty="0"/>
              <a:t>. В таких сетях множество узлов могут ретранслировать трафик друг другу, создавая гибкую многозвенную структуру. Это позволяет расширять покрытие без протяжки кабелей и обеспечивает более стабильное соединение в сложных условиях — например, в больших домах, на складах или в общественных пространствах.</a:t>
            </a:r>
          </a:p>
          <a:p>
            <a:endParaRPr lang="ru-RU" dirty="0"/>
          </a:p>
          <a:p>
            <a:r>
              <a:rPr lang="ru-RU" dirty="0"/>
              <a:t>Главные преимущества </a:t>
            </a:r>
            <a:r>
              <a:rPr lang="ru-RU" dirty="0" err="1"/>
              <a:t>Wi</a:t>
            </a:r>
            <a:r>
              <a:rPr lang="ru-RU" dirty="0"/>
              <a:t>-Fi — это </a:t>
            </a:r>
            <a:r>
              <a:rPr lang="ru-RU" b="1" dirty="0"/>
              <a:t>простота развёртывания и высокая мобильность устройств</a:t>
            </a:r>
            <a:r>
              <a:rPr lang="ru-RU" dirty="0"/>
              <a:t>. Пользователи могут перемещаться, оставаясь подключёнными, а организациям не нужно прокладывать кабели к каждому рабочему месту. При этом беспроводные LAN предъявляют более высокие требования к настройке безопасности и могут быть чувствительны к помехам, поэтому грамотная установка точек доступа и выбор частот — важная часть их эксплуатации.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55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Проводные локальные сети строятся преимущественно на основе стандарта </a:t>
            </a:r>
            <a:r>
              <a:rPr lang="ru-RU" b="1" dirty="0"/>
              <a:t>Ethernet (IEEE 802.3)</a:t>
            </a:r>
            <a:r>
              <a:rPr lang="ru-RU" dirty="0"/>
              <a:t>, который уже много лет остаётся основой корпоративной и домашней инфраструктуры. Ethernet использует простую модель </a:t>
            </a:r>
            <a:r>
              <a:rPr lang="ru-RU" b="1" dirty="0"/>
              <a:t>точка-точка</a:t>
            </a:r>
            <a:r>
              <a:rPr lang="ru-RU" dirty="0"/>
              <a:t>: каждое устройство подключается к коммутатору по отдельному кабелю. Такой подход обеспечивает высокую стабильность, изоляцию потока данных и возможность развивать сеть, увеличивая её скорости — сегодня это от сотен мегабит до десятков гигабит в секунду.</a:t>
            </a:r>
          </a:p>
          <a:p>
            <a:endParaRPr lang="ru-RU" dirty="0"/>
          </a:p>
          <a:p>
            <a:r>
              <a:rPr lang="ru-RU" dirty="0"/>
              <a:t>В центре проводной LAN всегда находится </a:t>
            </a:r>
            <a:r>
              <a:rPr lang="ru-RU" b="1" dirty="0"/>
              <a:t>коммутатор</a:t>
            </a:r>
            <a:r>
              <a:rPr lang="ru-RU" dirty="0"/>
              <a:t>. Он получает кадры и, анализируя MAC-адреса, определяет, на какой порт их переслать. Благодаря этому устройства не «мешают» друг другу, как раньше в общих кабельных средах. Коммутаторы можно объединять между собой, формируя иерархию, — это позволяет масштабировать сеть практически без ограничений.</a:t>
            </a:r>
          </a:p>
          <a:p>
            <a:endParaRPr lang="ru-RU" dirty="0"/>
          </a:p>
          <a:p>
            <a:r>
              <a:rPr lang="ru-RU" dirty="0"/>
              <a:t>Поскольку можно случайно создать замкнутый контур между коммутаторами, Ethernet использует специальные </a:t>
            </a:r>
            <a:r>
              <a:rPr lang="ru-RU" b="1" dirty="0"/>
              <a:t>алгоритмы против зацикливания</a:t>
            </a:r>
            <a:r>
              <a:rPr lang="ru-RU" dirty="0"/>
              <a:t>, например </a:t>
            </a:r>
            <a:r>
              <a:rPr lang="ru-RU" dirty="0" err="1"/>
              <a:t>Spanning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. Они гарантируют, что кадровый трафик не уйдёт в бесконечный цикл.</a:t>
            </a:r>
          </a:p>
          <a:p>
            <a:endParaRPr lang="ru-RU" dirty="0"/>
          </a:p>
          <a:p>
            <a:r>
              <a:rPr lang="ru-RU" dirty="0"/>
              <a:t>Наконец, важной возможностью Ethernet-коммутаторов является поддержка </a:t>
            </a:r>
            <a:r>
              <a:rPr lang="ru-RU" b="1" dirty="0"/>
              <a:t>VLAN</a:t>
            </a:r>
            <a:r>
              <a:rPr lang="ru-RU" dirty="0"/>
              <a:t> — виртуальных локальных сетей. VLAN позволяют логически разделить одну физическую сеть на несколько независимых сегментов. Это удобно, когда, например, устройства разных отделов — бухгалтерии и инженерного отдела — расположены физически в одном помещении, но должны работать в разных подсетях. VLAN облегчает администрирование, улучшает безопасность и позволяет управлять трафиком более гибко.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078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Городские сети, или MAN, занимают промежуточное положение между локальными и глобальными сетями. Изначально они формировались на базе кабельных ТВ-сетей, где централизованная головная станция принимала сигнал и распределяла его по району. С развитием интернета операторы адаптировали эту инфраструктуру под двухсторонний широкополосный доступ, используя технологии вроде HFC и позже — WiMAX и современные LTE/5G.</a:t>
            </a:r>
          </a:p>
          <a:p>
            <a:endParaRPr lang="ru-RU" dirty="0"/>
          </a:p>
          <a:p>
            <a:r>
              <a:rPr lang="ru-RU" dirty="0"/>
              <a:t>MAN обеспечивает подключение тысяч домохозяйств и компаний в рамках одного города и служит связующим звеном между локальными сетями пользователей и магистральными линиями глобальных операторов.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038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Глобальные сети, или WAN, — это фундамент инфраструктуры, которая связывает удалённые офисы компаний, города, страны и даже континенты. В отличие от LAN, где устройства расположены в пределах одного здания, WAN должна обеспечивать передачу данных на расстоянии тысяч километров.</a:t>
            </a:r>
          </a:p>
          <a:p>
            <a:endParaRPr lang="ru-RU" dirty="0"/>
          </a:p>
          <a:p>
            <a:r>
              <a:rPr lang="ru-RU" dirty="0"/>
              <a:t>Технически WAN состоит из двух ключевых компонентов: </a:t>
            </a:r>
            <a:r>
              <a:rPr lang="ru-RU" b="1" dirty="0"/>
              <a:t>линий передачи</a:t>
            </a:r>
            <a:r>
              <a:rPr lang="ru-RU" dirty="0"/>
              <a:t> и </a:t>
            </a:r>
            <a:r>
              <a:rPr lang="ru-RU" b="1" dirty="0"/>
              <a:t>маршрутизаторов</a:t>
            </a:r>
            <a:r>
              <a:rPr lang="ru-RU" dirty="0"/>
              <a:t>. Линии передачи — это физические каналы, по которым движутся биты: оптоволоконные кабели, коаксиал, радиорелейные системы или спутниковые каналы. Маршрутизаторы принимают пакеты, выбирают для них маршрут и перенаправляют дальше. Благодаря им сеть может находить оптимальный путь из одной точки мира в другую, а при сбоях автоматически подбирать альтернативные маршруты.</a:t>
            </a:r>
          </a:p>
          <a:p>
            <a:endParaRPr lang="ru-RU" dirty="0"/>
          </a:p>
          <a:p>
            <a:r>
              <a:rPr lang="ru-RU" dirty="0"/>
              <a:t>Важно, что WAN соединяет </a:t>
            </a:r>
            <a:r>
              <a:rPr lang="ru-RU" b="1" dirty="0"/>
              <a:t>не отдельные компьютеры, а целые локальные сети</a:t>
            </a:r>
            <a:r>
              <a:rPr lang="ru-RU" dirty="0"/>
              <a:t>. Для WAN не важно, какой именно внутренний протокол использует каждая LAN — Ethernet, </a:t>
            </a:r>
            <a:r>
              <a:rPr lang="ru-RU" dirty="0" err="1"/>
              <a:t>Wi</a:t>
            </a:r>
            <a:r>
              <a:rPr lang="ru-RU" dirty="0"/>
              <a:t>-Fi или что-то иное. Это делает WAN универсальным связующим слоем между разнородными технологиями. WAN можно рассматривать как «транспортный каркас», который формирует основу для корпоративных сетей, операторских магистралей и, в конечном итоге, глобального интернета.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970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VPN — это технология, которая позволяет использовать обычный интернет как канал связи между филиалами компании, но делать это безопасно. С помощью туннелирования и шифрования поверх публичной сети создаётся логически изолированная «виртуальная» приватная сеть. Это существенно дешевле, чем арендовать выделенные линии, однако качество соединения начинает зависеть от пропускной способности и задержек в интернете, которые пользователь не контролирует.</a:t>
            </a:r>
          </a:p>
          <a:p>
            <a:endParaRPr lang="ru-RU" dirty="0"/>
          </a:p>
          <a:p>
            <a:r>
              <a:rPr lang="ru-RU" dirty="0"/>
              <a:t>SD-WAN — эволюция подхода к построению WAN. Здесь сеть управляется централизованно через программный контроллер, который анализирует состояние каналов связи в реальном времени. SD-WAN может одновременно использовать несколько разных каналов — например, выделенную оптоволоконную линию, резервный интернет-канал и LTE/5G. Система сама выбирает оптимальный маршрут для каждого типа трафика: критически важные данные отправляет через стабильный канал, менее чувствительные — через более дешёвый.</a:t>
            </a:r>
          </a:p>
          <a:p>
            <a:endParaRPr lang="ru-RU" dirty="0"/>
          </a:p>
          <a:p>
            <a:r>
              <a:rPr lang="ru-RU" dirty="0"/>
              <a:t>Это позволяет организациям соблюдать SLA, гибко масштабировать сеть и существенно экономить средства. Фактически SD-WAN превращает географически распределённую сеть в управляемую «облачную» инфраструктуру, где маршрутизация и приоритизация трафика определяются программой, а не вручную настроенным оборудованием.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201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Объединённые сети — это способ связать вместе множество независимых сетей, которые могут различаться по архитектуре, протоколам и физическим технологиям. Интернет — лучший пример такого подхода: он объединяет домашние сети, корпоративные сети, сети мобильных операторов, дата-центры, кабельных провайдеров и многие другие.</a:t>
            </a:r>
          </a:p>
          <a:p>
            <a:endParaRPr lang="ru-RU" dirty="0"/>
          </a:p>
          <a:p>
            <a:r>
              <a:rPr lang="ru-RU" dirty="0"/>
              <a:t>Основная задача объединённой сети — обеспечить, чтобы пакет, отправленный из одной сети, мог добраться до другой, даже если эти сети построены совершенно по-разному. Для этого используется устройство, работающее на сетевом уровне, — </a:t>
            </a:r>
            <a:r>
              <a:rPr lang="ru-RU" b="1" dirty="0"/>
              <a:t>маршрутизатор</a:t>
            </a:r>
            <a:r>
              <a:rPr lang="ru-RU" dirty="0"/>
              <a:t>. Он не просто пересылает пакеты: он преобразует их между форматами разных технологий, выбирает маршруты в соответствии с протоколами маршрутизации, изолирует трафик разных сетей и обеспечивает надёжность.</a:t>
            </a:r>
          </a:p>
          <a:p>
            <a:endParaRPr lang="ru-RU" dirty="0"/>
          </a:p>
          <a:p>
            <a:r>
              <a:rPr lang="ru-RU" dirty="0"/>
              <a:t>Маршрутизаторы — ключевой элемент интерсети. Именно они позволяют LAN и WAN взаимодействовать, имитировать единую структуру связи и поддерживать бесшовную доставку данных. Благодаря им интернет стал возможен как глобальная система из тысяч автономных сетей, функционирующих вместе.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40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/>
              <a:t>В теории мы уже обсудили типы сетей и их масштабы, но чтобы картина стала живой, нужно посмотреть на реальные примеры.</a:t>
            </a:r>
            <a:br>
              <a:rPr lang="ru-RU" b="0" dirty="0"/>
            </a:br>
            <a:r>
              <a:rPr lang="ru-RU" b="0" dirty="0"/>
              <a:t>В этом разделе мы начнём с интернета — крупнейшей и самой известной интерсети, затем перейдём к мобильным сетям и </a:t>
            </a:r>
            <a:r>
              <a:rPr lang="ru-RU" b="0" dirty="0" err="1"/>
              <a:t>Wi</a:t>
            </a:r>
            <a:r>
              <a:rPr lang="ru-RU" b="0" dirty="0"/>
              <a:t>-Fi как к довольно отличающимся по устройству технологиям.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964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684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Важно сразу развеять популярный миф: интернет — это не «одна большая сеть» в смысле единой инфраструктуры, принадлежащей одной компании или государству.</a:t>
            </a:r>
          </a:p>
          <a:p>
            <a:br>
              <a:rPr lang="ru-RU" b="0" dirty="0"/>
            </a:br>
            <a:r>
              <a:rPr lang="ru-RU" b="0" dirty="0"/>
              <a:t>Интернет — это совокупность огромного числа сетей разных владельцев, которые договорились использовать общий набор протоколов и процедур взаимодействия.</a:t>
            </a:r>
            <a:br>
              <a:rPr lang="ru-RU" b="0" dirty="0"/>
            </a:br>
            <a:r>
              <a:rPr lang="ru-RU" b="0" dirty="0"/>
              <a:t>Главный из этих протоколов — TCP/IP, но поверх него реализованы и другие сервисы: Всемирная паутина, электронная почта, DNS, файлообмен и т. д.</a:t>
            </a:r>
          </a:p>
          <a:p>
            <a:br>
              <a:rPr lang="ru-RU" b="0" dirty="0"/>
            </a:br>
            <a:r>
              <a:rPr lang="ru-RU" b="0" dirty="0"/>
              <a:t>Ещё одна важная особенность: архитектура интернета не была заранее спроектирована как единый проект. Она складывалась постепенно: от военного эксперимента к научной сети и далее — к глобальной коммерческой системе.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689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Начало истории интернета связано не с удобством пользователей, а с задачами обороны. В 1950–1960-е годы США опасались, что ограниченное число ударов по крупным телефонным узлам разрушит систему связи, и военное командование потеряет возможность управлять войсками.</a:t>
            </a:r>
            <a:br>
              <a:rPr lang="ru-RU" dirty="0"/>
            </a:br>
            <a:r>
              <a:rPr lang="ru-RU" dirty="0"/>
              <a:t>Телефонная сеть была иерархической, с минимальным резервированием. Уничтожение нескольких центральных АТС превращало страну в набор изолированных «островков связи».</a:t>
            </a:r>
          </a:p>
          <a:p>
            <a:endParaRPr lang="ru-RU" dirty="0"/>
          </a:p>
          <a:p>
            <a:r>
              <a:rPr lang="ru-RU" dirty="0"/>
              <a:t>Чтобы решить эту проблему и в целом ускорить оборонные исследования, было создано агентство </a:t>
            </a:r>
            <a:r>
              <a:rPr lang="ru-RU" b="1" dirty="0"/>
              <a:t>ARPA</a:t>
            </a:r>
            <a:r>
              <a:rPr lang="ru-RU" dirty="0"/>
              <a:t>. Оно не строило лаборатории, а раздавало гранты университетам и компаниям, поддерживая самые перспективные идеи.</a:t>
            </a:r>
          </a:p>
          <a:p>
            <a:br>
              <a:rPr lang="ru-RU" dirty="0"/>
            </a:br>
            <a:r>
              <a:rPr lang="ru-RU" dirty="0"/>
              <a:t>Одна из них принадлежала </a:t>
            </a:r>
            <a:r>
              <a:rPr lang="ru-RU" b="1" dirty="0"/>
              <a:t>Полу </a:t>
            </a:r>
            <a:r>
              <a:rPr lang="ru-RU" b="1" dirty="0" err="1"/>
              <a:t>Бэрану</a:t>
            </a:r>
            <a:r>
              <a:rPr lang="ru-RU" dirty="0"/>
              <a:t>: он предложил </a:t>
            </a:r>
            <a:r>
              <a:rPr lang="ru-RU" b="1" dirty="0"/>
              <a:t>распределённую сеть</a:t>
            </a:r>
            <a:r>
              <a:rPr lang="ru-RU" dirty="0"/>
              <a:t>, в которой много альтернативных маршрутов, а данные передаются не непрерывным аналоговым сигналом, а </a:t>
            </a:r>
            <a:r>
              <a:rPr lang="ru-RU" b="1" dirty="0"/>
              <a:t>цифровыми пакетами</a:t>
            </a:r>
            <a:r>
              <a:rPr lang="ru-RU" dirty="0"/>
              <a:t>. Тогда идея не была реализована, но именно она стала концептуальной основой будущего ARPANET и интернета.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918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ARPA финансировала проект построения экспериментальной сети, который в итоге получил название </a:t>
            </a:r>
            <a:r>
              <a:rPr lang="ru-RU" b="1" dirty="0"/>
              <a:t>ARPANET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Ключевая архитектурная идея заключалась в разделении системы на:</a:t>
            </a:r>
          </a:p>
          <a:p>
            <a:r>
              <a:rPr lang="ru-RU" b="1" dirty="0"/>
              <a:t>хосты</a:t>
            </a:r>
            <a:r>
              <a:rPr lang="ru-RU" dirty="0"/>
              <a:t> — большие компьютеры университетов и лабораторий, где выполняются программы;</a:t>
            </a:r>
          </a:p>
          <a:p>
            <a:r>
              <a:rPr lang="ru-RU" b="1" dirty="0"/>
              <a:t>подсеть</a:t>
            </a:r>
            <a:r>
              <a:rPr lang="ru-RU" dirty="0"/>
              <a:t> — набор мини-компьютеров </a:t>
            </a:r>
            <a:r>
              <a:rPr lang="ru-RU" b="1" dirty="0"/>
              <a:t>IMP</a:t>
            </a:r>
            <a:r>
              <a:rPr lang="ru-RU" dirty="0"/>
              <a:t>, соединённых линиями связи и занимающихся только пересылкой сообщений.</a:t>
            </a:r>
          </a:p>
          <a:p>
            <a:endParaRPr lang="ru-RU" dirty="0"/>
          </a:p>
          <a:p>
            <a:r>
              <a:rPr lang="ru-RU" dirty="0"/>
              <a:t>Хост посылает сообщение своему IMP, тот </a:t>
            </a:r>
            <a:r>
              <a:rPr lang="ru-RU" b="1" dirty="0"/>
              <a:t>разбивает его на пакеты</a:t>
            </a:r>
            <a:r>
              <a:rPr lang="ru-RU" dirty="0"/>
              <a:t> и по одному отправляет по сети. На промежуточных IMP пакеты полностью принимаются и затем пересылаются дальше (</a:t>
            </a:r>
            <a:r>
              <a:rPr lang="ru-RU" dirty="0" err="1"/>
              <a:t>store-and-forward</a:t>
            </a:r>
            <a:r>
              <a:rPr lang="ru-RU" dirty="0"/>
              <a:t>).</a:t>
            </a:r>
          </a:p>
          <a:p>
            <a:br>
              <a:rPr lang="ru-RU" dirty="0"/>
            </a:br>
            <a:r>
              <a:rPr lang="ru-RU" dirty="0"/>
              <a:t>Связи между IMP делались </a:t>
            </a:r>
            <a:r>
              <a:rPr lang="ru-RU" b="1" dirty="0"/>
              <a:t>избыточными</a:t>
            </a:r>
            <a:r>
              <a:rPr lang="ru-RU" dirty="0"/>
              <a:t>: каждый узел имел несколько соседей, а пакет содержал полный адрес назначения. Это позволяло автоматически обходить повреждённые участки сети.</a:t>
            </a:r>
          </a:p>
          <a:p>
            <a:endParaRPr lang="ru-RU" dirty="0"/>
          </a:p>
          <a:p>
            <a:r>
              <a:rPr lang="ru-RU" dirty="0"/>
              <a:t>В 1969 году заработала первая сеть из четырёх узлов (UCLA, SRI, UCSB, </a:t>
            </a:r>
            <a:r>
              <a:rPr lang="ru-RU" dirty="0" err="1"/>
              <a:t>Utah</a:t>
            </a:r>
            <a:r>
              <a:rPr lang="ru-RU" dirty="0"/>
              <a:t>). Дальше ARPANET быстро рос, охватывая всё больше университетов и исследовательских центров и становясь основным инструментом удалённого доступа и обмена данными в научной среде.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019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672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ARPANET начали экспериментально соединять со спутниковыми и радиосетями, стало ясно, что её исходные протоколы не подходят для работы в </a:t>
            </a:r>
            <a:r>
              <a:rPr lang="ru-RU" b="1" dirty="0"/>
              <a:t>гетерогенной среде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Ответом стал стек </a:t>
            </a:r>
            <a:r>
              <a:rPr lang="ru-RU" b="1" dirty="0"/>
              <a:t>TCP/IP</a:t>
            </a:r>
            <a:r>
              <a:rPr lang="ru-RU" dirty="0"/>
              <a:t>, разработанный специально для </a:t>
            </a:r>
            <a:r>
              <a:rPr lang="ru-RU" b="1" dirty="0"/>
              <a:t>интерсетей</a:t>
            </a:r>
            <a:r>
              <a:rPr lang="ru-RU" dirty="0"/>
              <a:t> — объединений разных сетей. TCP/IP скрывал особенности конкретной среды передачи и давал приложениям единый способ работы с сетью.</a:t>
            </a:r>
          </a:p>
          <a:p>
            <a:endParaRPr lang="ru-RU" dirty="0"/>
          </a:p>
          <a:p>
            <a:r>
              <a:rPr lang="ru-RU" dirty="0"/>
              <a:t>ARPA профинансировала реализацию TCP/IP на разных системах, а команда в Беркли встроила его в </a:t>
            </a:r>
            <a:r>
              <a:rPr lang="ru-RU" b="1" dirty="0" err="1"/>
              <a:t>Berkeley</a:t>
            </a:r>
            <a:r>
              <a:rPr lang="ru-RU" b="1" dirty="0"/>
              <a:t> Unix (4.2BSD)</a:t>
            </a:r>
            <a:r>
              <a:rPr lang="ru-RU" dirty="0"/>
              <a:t> и предложила удобный API — </a:t>
            </a:r>
            <a:r>
              <a:rPr lang="ru-RU" b="1" dirty="0"/>
              <a:t>сокеты</a:t>
            </a:r>
            <a:r>
              <a:rPr lang="ru-RU" dirty="0"/>
              <a:t>. Это позволило университетам практически «из коробки» получать операционную систему с готовым интернет-стеком.</a:t>
            </a:r>
          </a:p>
          <a:p>
            <a:endParaRPr lang="ru-RU" dirty="0"/>
          </a:p>
          <a:p>
            <a:r>
              <a:rPr lang="ru-RU" dirty="0"/>
              <a:t>Параллельно </a:t>
            </a:r>
            <a:r>
              <a:rPr lang="ru-RU" b="1" dirty="0"/>
              <a:t>NSF</a:t>
            </a:r>
            <a:r>
              <a:rPr lang="ru-RU" dirty="0"/>
              <a:t> создала свою научную сеть </a:t>
            </a:r>
            <a:r>
              <a:rPr lang="ru-RU" b="1" dirty="0"/>
              <a:t>NSFNET</a:t>
            </a:r>
            <a:r>
              <a:rPr lang="ru-RU" dirty="0"/>
              <a:t> на основе TCP/IP: опорная сеть соединяла суперкомпьютерные центры, а региональные сети подключали к ним тысячи научных организаций.</a:t>
            </a:r>
          </a:p>
          <a:p>
            <a:br>
              <a:rPr lang="ru-RU" dirty="0"/>
            </a:br>
            <a:r>
              <a:rPr lang="ru-RU" dirty="0"/>
              <a:t>Позже появились </a:t>
            </a:r>
            <a:r>
              <a:rPr lang="ru-RU" b="1" dirty="0"/>
              <a:t>NAP (Network Access </a:t>
            </a:r>
            <a:r>
              <a:rPr lang="ru-RU" b="1" dirty="0" err="1"/>
              <a:t>Points</a:t>
            </a:r>
            <a:r>
              <a:rPr lang="ru-RU" b="1" dirty="0"/>
              <a:t>)</a:t>
            </a:r>
            <a:r>
              <a:rPr lang="ru-RU" dirty="0"/>
              <a:t> и коммерческие операторы, взявшие на себя роль опорной инфраструктуры. Государственные сети (ARPANET и NSFNET) постепенно ушли на второй план, а их архитектурные идеи и протоколы легли в основу </a:t>
            </a:r>
            <a:r>
              <a:rPr lang="ru-RU" b="1" dirty="0"/>
              <a:t>современного коммерческого интернета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1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ранних этапах интернет был фактически инструментом научного сообщества: электронная почта, </a:t>
            </a:r>
            <a:r>
              <a:rPr lang="ru-RU" dirty="0" err="1"/>
              <a:t>Usenet</a:t>
            </a:r>
            <a:r>
              <a:rPr lang="ru-RU" dirty="0"/>
              <a:t>, удалённый доступ и FTP составляли основную часть трафика.</a:t>
            </a:r>
          </a:p>
          <a:p>
            <a:br>
              <a:rPr lang="ru-RU" dirty="0"/>
            </a:br>
            <a:r>
              <a:rPr lang="ru-RU" dirty="0"/>
              <a:t>С появлением Всемирной паутины ситуация изменилась радикально — браузеры и веб-сервисы сделали интернет массовым.</a:t>
            </a:r>
          </a:p>
          <a:p>
            <a:br>
              <a:rPr lang="ru-RU" dirty="0"/>
            </a:br>
            <a:r>
              <a:rPr lang="ru-RU" dirty="0"/>
              <a:t>Сегодня же основной объём трафика формирует </a:t>
            </a:r>
            <a:r>
              <a:rPr lang="ru-RU" b="1" dirty="0"/>
              <a:t>видео</a:t>
            </a:r>
            <a:r>
              <a:rPr lang="ru-RU" dirty="0"/>
              <a:t>, а важнейшую роль играют социальные и облачные сервисы. То есть характер нагрузки изменился от небольших текстовых сообщений к тяжёлым мультимедийным потокам — и это повлияло на архитектуру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271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Современная интернет-экосистема состоит из множества независимых участников.</a:t>
            </a:r>
            <a:br>
              <a:rPr lang="ru-RU" dirty="0"/>
            </a:br>
            <a:r>
              <a:rPr lang="ru-RU" dirty="0"/>
              <a:t>Пользователь подключается через домашнюю или мобильную сеть, затем его трафик попадает в точку присутствия (POP) интернет-провайдера. Далее пакет может идти либо внутри сети провайдера, либо перенаправляться через IXP, либо — при отсутствии прямых соглашений — через транзитного оператора.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Контент чаще всего находится в крупных дата-центрах или на узлах CDN, которые специально расположены ближе к пользователям, чтобы уменьшить задержки и снизить нагрузку на магистральную инфраструктуру.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215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Если раньше интернет действительно напоминал иерархическую «пирамиду», то сегодня эта структура стала намного более «плоской».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u-RU" dirty="0"/>
            </a:br>
            <a:r>
              <a:rPr lang="ru-RU" dirty="0"/>
              <a:t>Крупные поставщики контента строят собственные глобальные сети и размещают свои серверы ближе к пользователям. ISP, в свою очередь, стремятся подключаться к этим сетям напрямую, минуя дорогостоящий транзит.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u-RU" dirty="0"/>
            </a:br>
            <a:r>
              <a:rPr lang="ru-RU" dirty="0"/>
              <a:t>Так формируется современная модель доставки трафика: </a:t>
            </a:r>
            <a:r>
              <a:rPr lang="ru-RU" b="1" dirty="0"/>
              <a:t>большая часть данных идёт короткими путями — от ближайших CDN-узлов или серверов, размещённых непосредственно у провайдера</a:t>
            </a:r>
            <a:r>
              <a:rPr lang="ru-RU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u-RU" dirty="0"/>
            </a:br>
            <a:r>
              <a:rPr lang="ru-RU" dirty="0"/>
              <a:t>Это ускоряет доступ, снижает стоимость и меняет распределение ролей между участниками рынка.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295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531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мобильные сети — крупнейшая коммуникационная платформа на планете: более пяти миллиардов пользователей выходят в интернет именно через мобильные устройства. Это означает, что мобильная архитектура стала критически важной частью глобальной сетевой инфраструктуры.</a:t>
            </a:r>
          </a:p>
          <a:p>
            <a:endParaRPr lang="ru-RU" dirty="0"/>
          </a:p>
          <a:p>
            <a:r>
              <a:rPr lang="ru-RU" dirty="0"/>
              <a:t>Мобильная сеть устроена иначе, чем интернет. Она делится на две большие зоны. Первая — </a:t>
            </a:r>
            <a:r>
              <a:rPr lang="ru-RU" b="1" dirty="0"/>
              <a:t>E-UTRAN</a:t>
            </a:r>
            <a:r>
              <a:rPr lang="ru-RU" dirty="0"/>
              <a:t>, радиодоступ: это связь между телефоном и базовой станцией </a:t>
            </a:r>
            <a:r>
              <a:rPr lang="ru-RU" dirty="0" err="1"/>
              <a:t>eNodeB</a:t>
            </a:r>
            <a:r>
              <a:rPr lang="ru-RU" dirty="0"/>
              <a:t>. В этой части происходят ключевые процессы — распределение частот, установление радиоканала, управление качеством сигнала. В основе — технологии семейства CDMA, обеспечивающие одновременную работу множества абонентов.</a:t>
            </a:r>
          </a:p>
          <a:p>
            <a:endParaRPr lang="ru-RU" dirty="0"/>
          </a:p>
          <a:p>
            <a:r>
              <a:rPr lang="ru-RU" dirty="0"/>
              <a:t>Вторая часть — </a:t>
            </a:r>
            <a:r>
              <a:rPr lang="ru-RU" b="1" dirty="0"/>
              <a:t>ядро EPC</a:t>
            </a:r>
            <a:r>
              <a:rPr lang="ru-RU" dirty="0"/>
              <a:t>, которое полностью перешло на пакетную передачу данных. Здесь пакеты распределяются, маршрутизируются и передаются во внешние сети — включая интернет. Принципиально важно, что современные мобильные сети используют IP-протокол на всех уровнях — от радиоканала до серверов. Это резкий отход от старых поколений сетей и основа для 4G и 5G.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663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отличие мобильных сетей — постоянное перемещение абонента. Когда пользователь выходит из зоны одной базовой станции и попадает в другую, сеть должна выполнить процедуру </a:t>
            </a:r>
            <a:r>
              <a:rPr lang="ru-RU" b="1" dirty="0" err="1"/>
              <a:t>handover</a:t>
            </a:r>
            <a:r>
              <a:rPr lang="ru-RU" dirty="0"/>
              <a:t>, передав текущее соединение между станциями. В старых системах это был разрыв связи и новое подключение (жёсткий </a:t>
            </a:r>
            <a:r>
              <a:rPr lang="ru-RU" dirty="0" err="1"/>
              <a:t>handover</a:t>
            </a:r>
            <a:r>
              <a:rPr lang="ru-RU" dirty="0"/>
              <a:t>), но современные технологии поддерживают плавный переход — мягкий </a:t>
            </a:r>
            <a:r>
              <a:rPr lang="ru-RU" dirty="0" err="1"/>
              <a:t>handover</a:t>
            </a:r>
            <a:r>
              <a:rPr lang="ru-RU" dirty="0"/>
              <a:t>, который сохраняет качество связи даже при движении на высокой скорости.</a:t>
            </a:r>
          </a:p>
          <a:p>
            <a:endParaRPr lang="ru-RU" dirty="0"/>
          </a:p>
          <a:p>
            <a:r>
              <a:rPr lang="ru-RU" dirty="0"/>
              <a:t>Чтобы доставлять вызовы и данные, сеть должна знать, где находится телефон. Эту задачу решает </a:t>
            </a:r>
            <a:r>
              <a:rPr lang="ru-RU" b="1" dirty="0"/>
              <a:t>HSS</a:t>
            </a:r>
            <a:r>
              <a:rPr lang="ru-RU" dirty="0"/>
              <a:t> — центральная база данных абонентов. В ней хранится информация о пользователе, его правах, тарифе, а также о том, какая базовая станция обслуживает его сейчас.</a:t>
            </a:r>
          </a:p>
          <a:p>
            <a:endParaRPr lang="ru-RU" dirty="0"/>
          </a:p>
          <a:p>
            <a:r>
              <a:rPr lang="ru-RU" dirty="0"/>
              <a:t>Безопасность также играет огромную роль. В мобильных сетях она обеспечивается с помощью </a:t>
            </a:r>
            <a:r>
              <a:rPr lang="ru-RU" b="1" dirty="0"/>
              <a:t>SIM-карты</a:t>
            </a:r>
            <a:r>
              <a:rPr lang="ru-RU" dirty="0"/>
              <a:t> — модуля, который хранит идентификатор абонента и криптографические ключи. Сигнал в эфире обязательно шифруется, чтобы предотвратить подслушивание, ведь радиоволны принимаются всеми устройствами вокруг. Эта архитектура возникла ещё в 2G и до сих пор развивается в LTE и 5G.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751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Мобильные сети прошли несколько поколений развития. </a:t>
            </a:r>
            <a:r>
              <a:rPr lang="ru-RU" b="1" dirty="0"/>
              <a:t>1G</a:t>
            </a:r>
            <a:r>
              <a:rPr lang="ru-RU" dirty="0"/>
              <a:t> представляла собой аналоговые системы, предназначенные исключительно для голосовой связи. </a:t>
            </a:r>
            <a:r>
              <a:rPr lang="ru-RU" b="1" dirty="0"/>
              <a:t>2G</a:t>
            </a:r>
            <a:r>
              <a:rPr lang="ru-RU" dirty="0"/>
              <a:t>, в частности GSM, принесла цифровую передачу голоса, SMS и впервые — механизм SIM-карт как основы идентификации и безопасности.</a:t>
            </a:r>
          </a:p>
          <a:p>
            <a:endParaRPr lang="ru-RU" dirty="0"/>
          </a:p>
          <a:p>
            <a:r>
              <a:rPr lang="ru-RU" b="1" dirty="0"/>
              <a:t>3G (UMTS)</a:t>
            </a:r>
            <a:r>
              <a:rPr lang="ru-RU" dirty="0"/>
              <a:t> стала революцией, впервые обеспечив широкополосный доступ в интернет. Скорости возросли в десятки раз, появились мультимедийные приложения. Но самое важное — 3G активно использовала сотовую архитектуру с повторным использованием частот, что позволило обслуживать всё больше пользователей в ограниченном спектре.</a:t>
            </a:r>
          </a:p>
          <a:p>
            <a:endParaRPr lang="ru-RU" dirty="0"/>
          </a:p>
          <a:p>
            <a:r>
              <a:rPr lang="ru-RU" b="1" dirty="0"/>
              <a:t>4G LTE</a:t>
            </a:r>
            <a:r>
              <a:rPr lang="ru-RU" dirty="0"/>
              <a:t> стала основной технологией мобильного интернета: полностью пакетная передача, высокая скорость, низкая задержка. Это сделало возможными потоковое видео, онлайн-игры, облачные сервисы.</a:t>
            </a:r>
          </a:p>
          <a:p>
            <a:endParaRPr lang="ru-RU" dirty="0"/>
          </a:p>
          <a:p>
            <a:r>
              <a:rPr lang="ru-RU" b="1" dirty="0"/>
              <a:t>5G</a:t>
            </a:r>
            <a:r>
              <a:rPr lang="ru-RU" dirty="0"/>
              <a:t> выводит мобильные сети на новый уровень: скорость до 10 Гбит/с, миллиметровые диапазоны, массивы антенн MIMO, новые алгоритмы снижения ошибок. Но работа на высоких частотах требует плотного размещения базовых станций и более сложных механизмов обработки сигнала — отсюда огромные инвестиции операторов.</a:t>
            </a:r>
            <a:endParaRPr lang="en-US" dirty="0"/>
          </a:p>
          <a:p>
            <a:endParaRPr lang="en-US" dirty="0"/>
          </a:p>
          <a:p>
            <a:r>
              <a:rPr lang="ru-RU" dirty="0"/>
              <a:t>MIMO — это технология беспроводной связи, использующая несколько антенн на передающей и принимающей стороне одновременно, чтобы увеличить скорость передачи данных и надёжность сигнала за счёт параллельной передачи нескольких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340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6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Развитие мобильных компьютеров вызвало очевидный запрос: пользователи хотели подключаться к сети в офисе или дома без кабелей. Компании начали выпускать собственные беспроводные решения, но у всех были разные, несовместимые стандарты — устройства одной фирмы не могли работать с точками доступа другой.</a:t>
            </a:r>
          </a:p>
          <a:p>
            <a:endParaRPr lang="ru-RU" dirty="0"/>
          </a:p>
          <a:p>
            <a:r>
              <a:rPr lang="ru-RU" dirty="0"/>
              <a:t>IEEE стандартизировал технологию, создав </a:t>
            </a:r>
            <a:r>
              <a:rPr lang="ru-RU" b="1" dirty="0"/>
              <a:t>802.11</a:t>
            </a:r>
            <a:r>
              <a:rPr lang="ru-RU" dirty="0"/>
              <a:t>, который мы знаем как </a:t>
            </a:r>
            <a:r>
              <a:rPr lang="ru-RU" dirty="0" err="1"/>
              <a:t>Wi</a:t>
            </a:r>
            <a:r>
              <a:rPr lang="ru-RU" dirty="0"/>
              <a:t>-Fi. Важно, что стандарт использует </a:t>
            </a:r>
            <a:r>
              <a:rPr lang="ru-RU" b="1" dirty="0"/>
              <a:t>нелицензируемые частоты</a:t>
            </a:r>
            <a:r>
              <a:rPr lang="ru-RU" dirty="0"/>
              <a:t> — это сильно удешевило оборудование, но привело к конкуренции с другими устройствами вроде Bluetooth-гаджетов, микроволновок или гаражных пультов. Первое поколение </a:t>
            </a:r>
            <a:r>
              <a:rPr lang="ru-RU" dirty="0" err="1"/>
              <a:t>Wi</a:t>
            </a:r>
            <a:r>
              <a:rPr lang="ru-RU" dirty="0"/>
              <a:t>-Fi работало на низких скоростях, но стандартизация обеспечила совместимость и дала старт бурному развитию беспроводных сетей.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625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Wi</a:t>
            </a:r>
            <a:r>
              <a:rPr lang="ru-RU" dirty="0"/>
              <a:t>-Fi-сеть обычно состоит из клиентов (ноутбуков, смартфонов) и точки доступа, которая соединена с проводной инфраструктурой. Большинство трафика проходит именно через точку доступа, хотя стандарт допускает и прямое взаимодействие устройств в режиме </a:t>
            </a:r>
            <a:r>
              <a:rPr lang="ru-RU" dirty="0" err="1"/>
              <a:t>ad</a:t>
            </a:r>
            <a:r>
              <a:rPr lang="ru-RU" dirty="0"/>
              <a:t> </a:t>
            </a:r>
            <a:r>
              <a:rPr lang="ru-RU" dirty="0" err="1"/>
              <a:t>hoc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Беспроводная среда создаёт сложности: сигнал отражается от стен и предметов, формируя несколько копий одного и того же пакета, которые могут усиливать или разрушать друг друга — это </a:t>
            </a:r>
            <a:r>
              <a:rPr lang="ru-RU" b="1" dirty="0" err="1"/>
              <a:t>multipath</a:t>
            </a:r>
            <a:r>
              <a:rPr lang="ru-RU" b="1" dirty="0"/>
              <a:t> </a:t>
            </a:r>
            <a:r>
              <a:rPr lang="ru-RU" b="1" dirty="0" err="1"/>
              <a:t>fading</a:t>
            </a:r>
            <a:r>
              <a:rPr lang="ru-RU" dirty="0"/>
              <a:t>. Чтобы компенсировать такие искажения, стандарты </a:t>
            </a:r>
            <a:r>
              <a:rPr lang="ru-RU" dirty="0" err="1"/>
              <a:t>Wi</a:t>
            </a:r>
            <a:r>
              <a:rPr lang="ru-RU" dirty="0"/>
              <a:t>-Fi используют </a:t>
            </a:r>
            <a:r>
              <a:rPr lang="ru-RU" b="1" dirty="0"/>
              <a:t>разнесение путей</a:t>
            </a:r>
            <a:r>
              <a:rPr lang="ru-RU" dirty="0"/>
              <a:t> — разные частоты, наборы антенн, временные смещения.</a:t>
            </a:r>
          </a:p>
          <a:p>
            <a:endParaRPr lang="ru-RU" dirty="0"/>
          </a:p>
          <a:p>
            <a:r>
              <a:rPr lang="ru-RU" dirty="0"/>
              <a:t>Развитие </a:t>
            </a:r>
            <a:r>
              <a:rPr lang="ru-RU" dirty="0" err="1"/>
              <a:t>Wi</a:t>
            </a:r>
            <a:r>
              <a:rPr lang="ru-RU" dirty="0"/>
              <a:t>-Fi характеризуется постоянным увеличением пропускной способности: от 2 Мбит/с в 802.11 до гигабитных скоростей в 802.11ac/</a:t>
            </a:r>
            <a:r>
              <a:rPr lang="ru-RU" dirty="0" err="1"/>
              <a:t>ad</a:t>
            </a:r>
            <a:r>
              <a:rPr lang="ru-RU" dirty="0"/>
              <a:t>, что позволило </a:t>
            </a:r>
            <a:r>
              <a:rPr lang="ru-RU" dirty="0" err="1"/>
              <a:t>Wi</a:t>
            </a:r>
            <a:r>
              <a:rPr lang="ru-RU" dirty="0"/>
              <a:t>-Fi стать ключевой технологией домашнего и корпоративного доступа.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745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Поскольку </a:t>
            </a:r>
            <a:r>
              <a:rPr lang="ru-RU" dirty="0" err="1"/>
              <a:t>Wi</a:t>
            </a:r>
            <a:r>
              <a:rPr lang="ru-RU" dirty="0"/>
              <a:t>-Fi является широковещательной средой, устройства могут мешать друг другу, передавая данные одновременно. Для управления доступом используется </a:t>
            </a:r>
            <a:r>
              <a:rPr lang="ru-RU" b="1" dirty="0"/>
              <a:t>CSMA/CA</a:t>
            </a:r>
            <a:r>
              <a:rPr lang="ru-RU" dirty="0"/>
              <a:t>, механизм, похожий на Ethernet, но усложнённый особенностями эфира — например, проблемой «скрытого узла», когда устройства не слышат друг друга, но мешают общей точке доступа.</a:t>
            </a:r>
          </a:p>
          <a:p>
            <a:endParaRPr lang="ru-RU" dirty="0"/>
          </a:p>
          <a:p>
            <a:r>
              <a:rPr lang="ru-RU" dirty="0"/>
              <a:t>Когда пользователь передвигается по зданию, его устройство выбирает более сильную точку доступа и может выполнить «переключение», но мобильность в </a:t>
            </a:r>
            <a:r>
              <a:rPr lang="ru-RU" dirty="0" err="1"/>
              <a:t>Wi</a:t>
            </a:r>
            <a:r>
              <a:rPr lang="ru-RU" dirty="0"/>
              <a:t>-Fi ограничена: стандарт рассчитан скорее на «кочевых» пользователей, чем на тех, кто перемещается на высокой скорости, как в сотовых сетях.</a:t>
            </a:r>
          </a:p>
          <a:p>
            <a:endParaRPr lang="ru-RU" dirty="0"/>
          </a:p>
          <a:p>
            <a:r>
              <a:rPr lang="ru-RU" dirty="0"/>
              <a:t>В области безопасности </a:t>
            </a:r>
            <a:r>
              <a:rPr lang="ru-RU" dirty="0" err="1"/>
              <a:t>Wi</a:t>
            </a:r>
            <a:r>
              <a:rPr lang="ru-RU" dirty="0"/>
              <a:t>-Fi прошёл большой путь. Первая схема шифрования </a:t>
            </a:r>
            <a:r>
              <a:rPr lang="ru-RU" b="1" dirty="0"/>
              <a:t>WEP</a:t>
            </a:r>
            <a:r>
              <a:rPr lang="ru-RU" dirty="0"/>
              <a:t> оказалась взломана, что привело к появлению </a:t>
            </a:r>
            <a:r>
              <a:rPr lang="ru-RU" b="1" dirty="0"/>
              <a:t>WPA/WPA2</a:t>
            </a:r>
            <a:r>
              <a:rPr lang="ru-RU" dirty="0"/>
              <a:t>, а затем — протоколов корпоративного уровня, таких как </a:t>
            </a:r>
            <a:r>
              <a:rPr lang="ru-RU" b="1" dirty="0"/>
              <a:t>802.1X</a:t>
            </a:r>
            <a:r>
              <a:rPr lang="ru-RU" dirty="0"/>
              <a:t>, обеспечивающих аутентификацию и защиту трафика. Сегодня безопасность рассматривается как критически важная часть </a:t>
            </a:r>
            <a:r>
              <a:rPr lang="ru-RU" dirty="0" err="1"/>
              <a:t>Wi</a:t>
            </a:r>
            <a:r>
              <a:rPr lang="ru-RU" dirty="0"/>
              <a:t>-Fi, особенно из-за его широковещательной природы.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065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679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Сетевые протоколы — это правила, обеспечивающие взаимодействие устройств в сети, и их проектирование преследует несколько ключевых целей. </a:t>
            </a:r>
          </a:p>
          <a:p>
            <a:endParaRPr lang="ru-RU" dirty="0"/>
          </a:p>
          <a:p>
            <a:r>
              <a:rPr lang="ru-RU" dirty="0"/>
              <a:t>Во-первых, </a:t>
            </a:r>
            <a:r>
              <a:rPr lang="ru-RU" b="1" dirty="0"/>
              <a:t>надёжность</a:t>
            </a:r>
            <a:r>
              <a:rPr lang="ru-RU" dirty="0"/>
              <a:t>: сеть должна работать даже при сбоях оборудования, потере пакетов или ошибках каналов. </a:t>
            </a:r>
          </a:p>
          <a:p>
            <a:endParaRPr lang="ru-RU" dirty="0"/>
          </a:p>
          <a:p>
            <a:r>
              <a:rPr lang="ru-RU" dirty="0"/>
              <a:t>Во-вторых, </a:t>
            </a:r>
            <a:r>
              <a:rPr lang="ru-RU" b="1" dirty="0"/>
              <a:t>распределение ресурсов</a:t>
            </a:r>
            <a:r>
              <a:rPr lang="ru-RU" dirty="0"/>
              <a:t>: пропускная способность и буферы ограничены, поэтому протоколы определяют, как делить их между пользователями и ограничивать скорость, чтобы избежать коллапса сети.</a:t>
            </a:r>
          </a:p>
          <a:p>
            <a:endParaRPr lang="ru-RU" dirty="0"/>
          </a:p>
          <a:p>
            <a:r>
              <a:rPr lang="ru-RU" dirty="0"/>
              <a:t>Третья цель — </a:t>
            </a:r>
            <a:r>
              <a:rPr lang="ru-RU" b="1" dirty="0"/>
              <a:t>масштабируемость и развитие</a:t>
            </a:r>
            <a:r>
              <a:rPr lang="ru-RU" dirty="0"/>
              <a:t>. По мере роста сети нужно добавлять новые устройства и технологии без полной перестройки существующей архитектуры, что достигается, например, разбиением протоколов на уровни.</a:t>
            </a:r>
          </a:p>
          <a:p>
            <a:r>
              <a:rPr lang="ru-RU" dirty="0"/>
              <a:t> И, наконец, сеть должна быть </a:t>
            </a:r>
            <a:r>
              <a:rPr lang="ru-RU" b="1" dirty="0"/>
              <a:t>безопасной</a:t>
            </a:r>
            <a:r>
              <a:rPr lang="ru-RU" dirty="0"/>
              <a:t>, защищая данные от подмены, подслушивания и несанкционированного доступа.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761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Надёжность — фундамент сетевого протокола. В любой сети часть переданных битов может искажаться: из-за шумов, аппаратных дефектов или беспроводных помех. Поэтому протоколы используют </a:t>
            </a:r>
            <a:r>
              <a:rPr lang="ru-RU" b="1" dirty="0"/>
              <a:t>коды обнаружения ошибок</a:t>
            </a:r>
            <a:r>
              <a:rPr lang="ru-RU" dirty="0"/>
              <a:t>: приёмник проверяет контрольную сумму и запрашивает повтор, если данные повреждены. В более продвинутых схемах применяются </a:t>
            </a:r>
            <a:r>
              <a:rPr lang="ru-RU" b="1" dirty="0"/>
              <a:t>коды исправления ошибок</a:t>
            </a:r>
            <a:r>
              <a:rPr lang="ru-RU" dirty="0"/>
              <a:t>, позволяющие восстановить сообщение даже при наличии битовых искажений без повторной передачи.</a:t>
            </a:r>
          </a:p>
          <a:p>
            <a:endParaRPr lang="ru-RU" dirty="0"/>
          </a:p>
          <a:p>
            <a:r>
              <a:rPr lang="ru-RU" dirty="0"/>
              <a:t>Помимо целостности данных важна надёжность маршрутов. В крупной сети всегда есть вероятность, что один путь недоступен — например, вышел из строя узел или канал. Протоколы </a:t>
            </a:r>
            <a:r>
              <a:rPr lang="ru-RU" b="1" dirty="0"/>
              <a:t>маршрутизации</a:t>
            </a:r>
            <a:r>
              <a:rPr lang="ru-RU" dirty="0"/>
              <a:t> автоматически ищут альтернативные маршруты, чтобы доставить пакеты, даже если часть сети не работает. Благодаря этому сеть остаётся функциональной несмотря на локальные сбои.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2105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Ресурсы сети — пропускная способность, буферы, вычислительная мощность — ограничены, и их нужно распределять между множеством пользователей. Вместо фиксированных квот применяется </a:t>
            </a:r>
            <a:r>
              <a:rPr lang="ru-RU" b="1" dirty="0"/>
              <a:t>статистическое мультиплексирование</a:t>
            </a:r>
            <a:r>
              <a:rPr lang="ru-RU" dirty="0"/>
              <a:t>: каждый получает ресурс по мере необходимости. Это эффективно, но требует контроля.</a:t>
            </a:r>
          </a:p>
          <a:p>
            <a:endParaRPr lang="ru-RU" dirty="0"/>
          </a:p>
          <a:p>
            <a:r>
              <a:rPr lang="ru-RU" dirty="0"/>
              <a:t>Во-первых, протокол должен защищать медленного получателя от переполнения буфера — это задача </a:t>
            </a:r>
            <a:r>
              <a:rPr lang="ru-RU" b="1" dirty="0"/>
              <a:t>управления потоком</a:t>
            </a:r>
            <a:r>
              <a:rPr lang="ru-RU" dirty="0"/>
              <a:t>: получатель сообщает отправителю, сколько данных способен принять.</a:t>
            </a:r>
          </a:p>
          <a:p>
            <a:endParaRPr lang="ru-RU" dirty="0"/>
          </a:p>
          <a:p>
            <a:r>
              <a:rPr lang="ru-RU" dirty="0"/>
              <a:t>Во-вторых, перегрузка может возникнуть на уровне всей сети, когда слишком много узлов отправляют данные одновременно. В этом случае нужны механизмы </a:t>
            </a:r>
            <a:r>
              <a:rPr lang="ru-RU" b="1" dirty="0"/>
              <a:t>управления перегрузкой</a:t>
            </a:r>
            <a:r>
              <a:rPr lang="ru-RU" dirty="0"/>
              <a:t>, которые регулируют скорость передачи, чтобы сеть не «захлебнулась».</a:t>
            </a:r>
          </a:p>
          <a:p>
            <a:endParaRPr lang="ru-RU" dirty="0"/>
          </a:p>
          <a:p>
            <a:r>
              <a:rPr lang="ru-RU" dirty="0"/>
              <a:t>При этом приложения имеют разные требования к </a:t>
            </a:r>
            <a:r>
              <a:rPr lang="ru-RU" b="1" dirty="0"/>
              <a:t>качеству обслуживания (</a:t>
            </a:r>
            <a:r>
              <a:rPr lang="ru-RU" b="1" dirty="0" err="1"/>
              <a:t>QoS</a:t>
            </a:r>
            <a:r>
              <a:rPr lang="ru-RU" b="1" dirty="0"/>
              <a:t>)</a:t>
            </a:r>
            <a:r>
              <a:rPr lang="ru-RU" dirty="0"/>
              <a:t>: видео важно получать вовремя, а передаче файлов важна пропускная способность. Протоколы пытаются согласовать эти противоречивые потребности.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825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сети могли развиваться постепенно, а новые технологии не ломали существующие, используется </a:t>
            </a:r>
            <a:r>
              <a:rPr lang="ru-RU" b="1" dirty="0"/>
              <a:t>иерархия уровней</a:t>
            </a:r>
            <a:r>
              <a:rPr lang="ru-RU" dirty="0"/>
              <a:t>. Каждый уровень решает свою задачу — от физической передачи данных до взаимодействия приложений — и скрывает детали реализации от остальных. Благодаря этому можно обновлять отдельные части сети, не переписывая всё целиком.</a:t>
            </a:r>
          </a:p>
          <a:p>
            <a:endParaRPr lang="ru-RU" dirty="0"/>
          </a:p>
          <a:p>
            <a:r>
              <a:rPr lang="ru-RU" dirty="0"/>
              <a:t>В сетях нужен механизм идентификации: </a:t>
            </a:r>
            <a:r>
              <a:rPr lang="ru-RU" b="1" dirty="0"/>
              <a:t>адресация</a:t>
            </a:r>
            <a:r>
              <a:rPr lang="ru-RU" dirty="0"/>
              <a:t> на низких уровнях и </a:t>
            </a:r>
            <a:r>
              <a:rPr lang="ru-RU" b="1" dirty="0"/>
              <a:t>именование</a:t>
            </a:r>
            <a:r>
              <a:rPr lang="ru-RU" dirty="0"/>
              <a:t> на высоких. При объединении разных сетевых технологий возникает задача совместимости: разные сети могут нарушать порядок доставки сообщений или иметь разные максимальные размеры пакетов. Поэтому протоколы обеспечивают </a:t>
            </a:r>
            <a:r>
              <a:rPr lang="ru-RU" b="1" dirty="0"/>
              <a:t>фрагментацию и сборку</a:t>
            </a:r>
            <a:r>
              <a:rPr lang="ru-RU" dirty="0"/>
              <a:t> сообщений, а также нумерацию пакетов.</a:t>
            </a:r>
          </a:p>
          <a:p>
            <a:endParaRPr lang="ru-RU" dirty="0"/>
          </a:p>
          <a:p>
            <a:r>
              <a:rPr lang="ru-RU" dirty="0"/>
              <a:t>Безопасность — ещё один ключевой аспект. Требуется защищать данные от подслушивания (</a:t>
            </a:r>
            <a:r>
              <a:rPr lang="ru-RU" b="1" dirty="0"/>
              <a:t>конфиденциальность</a:t>
            </a:r>
            <a:r>
              <a:rPr lang="ru-RU" dirty="0"/>
              <a:t>), проверять подлинность отправителя (</a:t>
            </a:r>
            <a:r>
              <a:rPr lang="ru-RU" b="1" dirty="0"/>
              <a:t>аутентификация</a:t>
            </a:r>
            <a:r>
              <a:rPr lang="ru-RU" dirty="0"/>
              <a:t>) и предотвращать подмену содержимого (</a:t>
            </a:r>
            <a:r>
              <a:rPr lang="ru-RU" b="1" dirty="0"/>
              <a:t>целостность</a:t>
            </a:r>
            <a:r>
              <a:rPr lang="ru-RU" dirty="0"/>
              <a:t>).</a:t>
            </a:r>
          </a:p>
          <a:p>
            <a:r>
              <a:rPr lang="ru-RU" dirty="0"/>
              <a:t> Все эти функции реализуются с помощью криптографических механизмов, составляющих основу современных защищённых протоколов.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143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36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упростить проектирование сложных сетей, их делят на уровни. Представим себе пирамиду: нижние уровни занимаются физической передачей битов, верхние — логикой приложений. Каждый уровень не обязан знать, </a:t>
            </a:r>
            <a:r>
              <a:rPr lang="ru-RU" i="1" dirty="0"/>
              <a:t>как именно</a:t>
            </a:r>
            <a:r>
              <a:rPr lang="ru-RU" dirty="0"/>
              <a:t> работает уровень ниже, он лишь пользуется набором предоставляемых ему служб.</a:t>
            </a:r>
          </a:p>
          <a:p>
            <a:endParaRPr lang="ru-RU" dirty="0"/>
          </a:p>
          <a:p>
            <a:r>
              <a:rPr lang="ru-RU" dirty="0"/>
              <a:t>Это сильно напоминает инкапсуляцию и объектно-ориентированное программирование: есть интерфейс и скрытая реализация.</a:t>
            </a:r>
          </a:p>
          <a:p>
            <a:endParaRPr lang="ru-RU" dirty="0"/>
          </a:p>
          <a:p>
            <a:r>
              <a:rPr lang="ru-RU" dirty="0"/>
              <a:t>Для разработчика верхнего уровня сеть выглядит как </a:t>
            </a:r>
            <a:r>
              <a:rPr lang="ru-RU" b="1" dirty="0"/>
              <a:t>виртуальная машина</a:t>
            </a:r>
            <a:r>
              <a:rPr lang="ru-RU" dirty="0"/>
              <a:t>, которая умеет, например, «передать сообщение на удалённый узел», даже если под этим скрыты десятки промежуточных шагов и преобразований.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5057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на двух компьютерах есть, скажем, транспортный уровень, то их сущности этого уровня называют </a:t>
            </a:r>
            <a:r>
              <a:rPr lang="ru-RU" b="1" dirty="0"/>
              <a:t>пирами</a:t>
            </a:r>
            <a:r>
              <a:rPr lang="ru-RU" dirty="0"/>
              <a:t>. Протокол уровня описывает, какие сообщения и в каком формате они друг другу посылают, какие реакции ожидаются, какие ошибки возможны.</a:t>
            </a:r>
          </a:p>
          <a:p>
            <a:endParaRPr lang="ru-RU" dirty="0"/>
          </a:p>
          <a:p>
            <a:r>
              <a:rPr lang="ru-RU" dirty="0"/>
              <a:t>Важно понимать, что это </a:t>
            </a:r>
            <a:r>
              <a:rPr lang="ru-RU" b="1" dirty="0"/>
              <a:t>логическая, виртуальная картина</a:t>
            </a:r>
            <a:r>
              <a:rPr lang="ru-RU" dirty="0"/>
              <a:t>. Физически данные не пересылаются напрямую от уровня n на одном хосте к уровню n на другом. На отправителе данные всегда идут </a:t>
            </a:r>
            <a:r>
              <a:rPr lang="ru-RU" b="1" dirty="0"/>
              <a:t>вниз по стеку</a:t>
            </a:r>
            <a:r>
              <a:rPr lang="ru-RU" dirty="0"/>
              <a:t> – с уровня на уровень, пока не окажутся в физической среде. На приёмнике — поднимаются вверх, очищаясь от служебной информации нижних уровней.</a:t>
            </a:r>
          </a:p>
          <a:p>
            <a:endParaRPr lang="ru-RU" dirty="0"/>
          </a:p>
          <a:p>
            <a:r>
              <a:rPr lang="ru-RU" b="1" dirty="0"/>
              <a:t>Интерфейс</a:t>
            </a:r>
            <a:r>
              <a:rPr lang="ru-RU" dirty="0"/>
              <a:t> между уровнями — это договорённость, какие функции и операции нижний уровень предоставляет верхнему: «передать пакет», «зарегистрировать соединение» и т. п. Протокол описывает общение </a:t>
            </a:r>
            <a:r>
              <a:rPr lang="ru-RU" i="1" dirty="0"/>
              <a:t>между узлами</a:t>
            </a:r>
            <a:r>
              <a:rPr lang="ru-RU" dirty="0"/>
              <a:t>, интерфейс — взаимодействие </a:t>
            </a:r>
            <a:r>
              <a:rPr lang="ru-RU" i="1" dirty="0"/>
              <a:t>внутри одного узла</a:t>
            </a:r>
            <a:r>
              <a:rPr lang="ru-RU" dirty="0"/>
              <a:t> между соседними уровнями.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4592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Полезно взглянуть на уровни через человеческую аналогию. Есть два философа, которые не знают общих языков. На их уровне (условно, уровень 3) цель — обменяться смыслом фразы «Мне нравятся кролики». Они спрашивают об этом </a:t>
            </a:r>
            <a:r>
              <a:rPr lang="ru-RU" b="1" dirty="0"/>
              <a:t>переводчиков</a:t>
            </a:r>
            <a:r>
              <a:rPr lang="ru-RU" dirty="0"/>
              <a:t> (уровень 2), которые договорились использовать нейтральный язык, например голландский. Какой именно язык они выбрали — это и есть </a:t>
            </a:r>
            <a:r>
              <a:rPr lang="ru-RU" b="1" dirty="0"/>
              <a:t>протокол уровня 2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Переводчики, в свою очередь, пользуются услугами </a:t>
            </a:r>
            <a:r>
              <a:rPr lang="ru-RU" b="1" dirty="0"/>
              <a:t>секретарей</a:t>
            </a:r>
            <a:r>
              <a:rPr lang="ru-RU" dirty="0"/>
              <a:t> (уровень 1), которые могут отправить текст по факсу, по почте или по телефону. Способ физической передачи — это протокол нижнего уровня.</a:t>
            </a:r>
          </a:p>
          <a:p>
            <a:endParaRPr lang="ru-RU" dirty="0"/>
          </a:p>
          <a:p>
            <a:r>
              <a:rPr lang="ru-RU" dirty="0"/>
              <a:t>Заметьте: переводчики могут заменить голландский на финский, если оба согласны и не меняют интерфейсы с философами и секретарями. Секретари могут перейти с факса на </a:t>
            </a:r>
            <a:r>
              <a:rPr lang="ru-RU" dirty="0" err="1"/>
              <a:t>e-mail</a:t>
            </a:r>
            <a:r>
              <a:rPr lang="ru-RU" dirty="0"/>
              <a:t> — и философы ничего об этом не узнают. Ровно так же уровни в сети могут эволюционировать независимо, если сохраняются интерфейсы и соблюдаются протоколы.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763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как сообщение проходит по стеку.</a:t>
            </a:r>
          </a:p>
          <a:p>
            <a:r>
              <a:rPr lang="ru-RU" dirty="0"/>
              <a:t> Приложение на уровне 5 формирует сообщение M и отдаёт его уровню 4. Транспортный уровень добавляет свой </a:t>
            </a:r>
            <a:r>
              <a:rPr lang="ru-RU" b="1" dirty="0"/>
              <a:t>заголовок</a:t>
            </a:r>
            <a:r>
              <a:rPr lang="ru-RU" dirty="0"/>
              <a:t>: там могут быть номера портов, информация для восстановления порядка, контрольные поля. Получившийся блок передаётся уровню 3.</a:t>
            </a:r>
          </a:p>
          <a:p>
            <a:r>
              <a:rPr lang="ru-RU" dirty="0"/>
              <a:t>Сетевой уровень может столкнуться с ограничением на максимальный размер пакета — и тогда выполняется </a:t>
            </a:r>
            <a:r>
              <a:rPr lang="ru-RU" b="1" dirty="0"/>
              <a:t>фрагментация</a:t>
            </a:r>
            <a:r>
              <a:rPr lang="ru-RU" dirty="0"/>
              <a:t>: сообщение делится на части M1, M2, каждая получает свой заголовок уровня 3 с адресами и номерами фрагментов. Затем кадры формируются на канальном уровне, где добавляются заголовки/концевики для передачи по конкретной среде.</a:t>
            </a:r>
          </a:p>
          <a:p>
            <a:r>
              <a:rPr lang="ru-RU" dirty="0"/>
              <a:t>На принимающей стороне всё происходит в обратном порядке: данные поднимаются снизу вверх, заголовки поочерёдно удаляются, а фрагменты собираются в исходное сообщение M. Важно, что каждый уровень «видит» только свой заголовок и полезную нагрузку, не вмешиваясь в детали реализации других уровней.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483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взять все уровни и закреплённые за ними протоколы, мы получим </a:t>
            </a:r>
            <a:r>
              <a:rPr lang="ru-RU" b="1" dirty="0"/>
              <a:t>архитектуру сети</a:t>
            </a:r>
            <a:r>
              <a:rPr lang="ru-RU" dirty="0"/>
              <a:t>. Например, в интернете это TCP/IP-стек: IP на сетевом уровне, TCP или UDP на транспортном и множество протоколов приложений сверху. Конкретный набор используемых протоколов на машине называется </a:t>
            </a:r>
            <a:r>
              <a:rPr lang="ru-RU" b="1" dirty="0"/>
              <a:t>стеком протоколов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Важно, что стандарт обычно описывает именно </a:t>
            </a:r>
            <a:r>
              <a:rPr lang="ru-RU" b="1" dirty="0"/>
              <a:t>протокол</a:t>
            </a:r>
            <a:r>
              <a:rPr lang="ru-RU" dirty="0"/>
              <a:t> и требования к интерфейсу. Но </a:t>
            </a:r>
            <a:r>
              <a:rPr lang="ru-RU" i="1" dirty="0"/>
              <a:t>как</a:t>
            </a:r>
            <a:r>
              <a:rPr lang="ru-RU" dirty="0"/>
              <a:t> это реализовано внутри конкретной ОС, драйвера или сетевой карты — остаётся на усмотрение разработчика. Поэтому одна и та же архитектура может быть реализована по-разному на серверах, маршрутизаторах, встраиваемых устройствах.</a:t>
            </a:r>
          </a:p>
          <a:p>
            <a:endParaRPr lang="ru-RU" dirty="0"/>
          </a:p>
          <a:p>
            <a:r>
              <a:rPr lang="ru-RU" dirty="0"/>
              <a:t>Часто низшие уровни (физический и канальный) частично или полностью вынесены в </a:t>
            </a:r>
            <a:r>
              <a:rPr lang="ru-RU" b="1" dirty="0"/>
              <a:t>аппаратное обеспечение</a:t>
            </a:r>
            <a:r>
              <a:rPr lang="ru-RU" dirty="0"/>
              <a:t> — сетевой адаптер, чип </a:t>
            </a:r>
            <a:r>
              <a:rPr lang="ru-RU" dirty="0" err="1"/>
              <a:t>Wi</a:t>
            </a:r>
            <a:r>
              <a:rPr lang="ru-RU" dirty="0"/>
              <a:t>-Fi и т.п., где работают уже «зашитые» алгоритмы. Верхние уровни чаще реализуются как программные модули. Такое разделение ускоряет работу и позволяет оптимизировать именно те части стека, которые критичны по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9190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858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сетях существуют два больших класса служб.</a:t>
            </a:r>
          </a:p>
          <a:p>
            <a:br>
              <a:rPr lang="ru-RU" dirty="0"/>
            </a:br>
            <a:r>
              <a:rPr lang="ru-RU" b="1" dirty="0"/>
              <a:t>Службы с установлением соединения</a:t>
            </a:r>
            <a:r>
              <a:rPr lang="ru-RU" dirty="0"/>
              <a:t> работают по принципу телефонного звонка: сначала стороны согласуют параметры, резервируют ресурсы, затем передают данные в строго определённом порядке и завершают соединение. Передаваемая информация идёт как бы по «трубе», и порядок доставки, как правило, гарантирован.</a:t>
            </a:r>
          </a:p>
          <a:p>
            <a:endParaRPr lang="ru-RU" dirty="0"/>
          </a:p>
          <a:p>
            <a:r>
              <a:rPr lang="ru-RU" b="1" dirty="0"/>
              <a:t>Службы без установления соединения</a:t>
            </a:r>
            <a:r>
              <a:rPr lang="ru-RU" dirty="0"/>
              <a:t> работают как обычная почта: каждое сообщение отправляется отдельно, содержит полный адрес, проходит через сеть независимо от других сообщений. Никаких предварительных согласований или резервирования ресурсов нет. Это удобно для рассылок, быстрых уведомлений, широковещательных сообщений.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2876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Надёжность — отдельная характеристика, не зависящая от наличия соединения.</a:t>
            </a:r>
          </a:p>
          <a:p>
            <a:br>
              <a:rPr lang="ru-RU" dirty="0"/>
            </a:br>
            <a:r>
              <a:rPr lang="ru-RU" b="1" dirty="0"/>
              <a:t>Надёжные службы</a:t>
            </a:r>
            <a:r>
              <a:rPr lang="ru-RU" dirty="0"/>
              <a:t> используют подтверждения получения, обеспечивают доставку данных без потери и перестановок. Такой подход нужен, например, при передаче файлов: потеря даже одного бита недопустима.</a:t>
            </a:r>
          </a:p>
          <a:p>
            <a:endParaRPr lang="ru-RU" dirty="0"/>
          </a:p>
          <a:p>
            <a:r>
              <a:rPr lang="ru-RU" dirty="0"/>
              <a:t>Существуют две разновидности надёжных служб: отправка </a:t>
            </a:r>
            <a:r>
              <a:rPr lang="ru-RU" b="1" dirty="0"/>
              <a:t>отдельных сообщений с сохранением границ</a:t>
            </a:r>
            <a:r>
              <a:rPr lang="ru-RU" dirty="0"/>
              <a:t>, или отправка как </a:t>
            </a:r>
            <a:r>
              <a:rPr lang="ru-RU" b="1" dirty="0"/>
              <a:t>непрерывного байтового потока</a:t>
            </a:r>
            <a:r>
              <a:rPr lang="ru-RU" dirty="0"/>
              <a:t>, когда приложению не важно, где были исходные границы сообщений.</a:t>
            </a:r>
          </a:p>
          <a:p>
            <a:endParaRPr lang="ru-RU" dirty="0"/>
          </a:p>
          <a:p>
            <a:r>
              <a:rPr lang="ru-RU" b="1" dirty="0"/>
              <a:t>Ненадёжные службы</a:t>
            </a:r>
            <a:r>
              <a:rPr lang="ru-RU" dirty="0"/>
              <a:t>, наоборот, не дают гарантий — и именно это делает их быстрыми. Они удобны в мультимедиа, VoIP или видеосвязи: пользователю гораздо важнее низкая задержка, чем идеальное отсутствие ошибок.</a:t>
            </a:r>
          </a:p>
          <a:p>
            <a:endParaRPr lang="ru-RU" dirty="0"/>
          </a:p>
          <a:p>
            <a:r>
              <a:rPr lang="ru-RU" dirty="0"/>
              <a:t>Есть и промежуточный тип — </a:t>
            </a:r>
            <a:r>
              <a:rPr lang="ru-RU" b="1" dirty="0"/>
              <a:t>дейтаграммы с подтверждением</a:t>
            </a:r>
            <a:r>
              <a:rPr lang="ru-RU" dirty="0"/>
              <a:t>, напоминающие заказное письмо: одно сообщение — одно подтверждение.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18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Ключевой момент: нет «универсально лучшего» типа службы.</a:t>
            </a:r>
            <a:br>
              <a:rPr lang="ru-RU" dirty="0"/>
            </a:br>
            <a:r>
              <a:rPr lang="ru-RU" dirty="0"/>
              <a:t>Например, файлы, банковские операции, документы требуют 100% точности — здесь важны соединение, порядок и подтверждения.</a:t>
            </a:r>
          </a:p>
          <a:p>
            <a:endParaRPr lang="ru-RU" dirty="0"/>
          </a:p>
          <a:p>
            <a:r>
              <a:rPr lang="ru-RU" dirty="0"/>
              <a:t>Но если мы говорим про </a:t>
            </a:r>
            <a:r>
              <a:rPr lang="ru-RU" b="1" dirty="0"/>
              <a:t>голосовую связь, видеопотоки, онлайн-игры</a:t>
            </a:r>
            <a:r>
              <a:rPr lang="ru-RU" dirty="0"/>
              <a:t>, то избыточная надёжность вредна. Задержки, вызванные повторными отправками, ухудшат пользовательский опыт гораздо сильнее, чем небольшие искажения. Именно поэтому ненадёжные протоколы существуют и активно применяются.</a:t>
            </a:r>
          </a:p>
          <a:p>
            <a:endParaRPr lang="ru-RU" dirty="0"/>
          </a:p>
          <a:p>
            <a:r>
              <a:rPr lang="ru-RU" dirty="0"/>
              <a:t>Кроме того, ненадёжная доставка может служить базой для надёжной — как это делает TCP поверх IP. А в простых сценариях клиент–серверного взаимодействия часто используется схема </a:t>
            </a:r>
            <a:r>
              <a:rPr lang="ru-RU" b="1" dirty="0" err="1"/>
              <a:t>request</a:t>
            </a:r>
            <a:r>
              <a:rPr lang="ru-RU" b="1" dirty="0"/>
              <a:t>–</a:t>
            </a:r>
            <a:r>
              <a:rPr lang="ru-RU" b="1" dirty="0" err="1"/>
              <a:t>reply</a:t>
            </a:r>
            <a:r>
              <a:rPr lang="ru-RU" dirty="0"/>
              <a:t>: одно сообщение — ответ, без установки длительного соединения.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094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7583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приложение могло пользоваться сетевыми возможностями, ему нужен формальный набор операций — </a:t>
            </a:r>
            <a:r>
              <a:rPr lang="ru-RU" b="1" dirty="0"/>
              <a:t>примитивов</a:t>
            </a:r>
            <a:r>
              <a:rPr lang="ru-RU" dirty="0"/>
              <a:t>. Это базовые вызовы, которые позволяют запросить у сети выполнение действий: установить соединение, отправить данные, принять данные или завершить работу.</a:t>
            </a:r>
          </a:p>
          <a:p>
            <a:endParaRPr lang="ru-RU" dirty="0"/>
          </a:p>
          <a:p>
            <a:r>
              <a:rPr lang="ru-RU" dirty="0"/>
              <a:t>В реальных ОС эти примитивы чаще всего реализованы как </a:t>
            </a:r>
            <a:r>
              <a:rPr lang="ru-RU" b="1" dirty="0"/>
              <a:t>системные вызовы</a:t>
            </a:r>
            <a:r>
              <a:rPr lang="ru-RU" dirty="0"/>
              <a:t> (например, </a:t>
            </a:r>
            <a:r>
              <a:rPr lang="ru-RU" dirty="0" err="1"/>
              <a:t>socket</a:t>
            </a:r>
            <a:r>
              <a:rPr lang="ru-RU" dirty="0"/>
              <a:t>, </a:t>
            </a:r>
            <a:r>
              <a:rPr lang="ru-RU" dirty="0" err="1"/>
              <a:t>connect</a:t>
            </a:r>
            <a:r>
              <a:rPr lang="ru-RU" dirty="0"/>
              <a:t>, </a:t>
            </a:r>
            <a:r>
              <a:rPr lang="ru-RU" dirty="0" err="1"/>
              <a:t>send</a:t>
            </a:r>
            <a:r>
              <a:rPr lang="ru-RU" dirty="0"/>
              <a:t>). Примитивы определяются типом службы: соединительной или без соединения.</a:t>
            </a:r>
          </a:p>
          <a:p>
            <a:endParaRPr lang="ru-RU" dirty="0"/>
          </a:p>
          <a:p>
            <a:r>
              <a:rPr lang="ru-RU" dirty="0"/>
              <a:t>Именно примитивы формируют «точку входа» приложения в стек протоколов, задавая, какие функции сеть предоставляет процессу.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479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Минимальный набор примитивов для построения надёжного байтового потока очень похож на классический интерфейс </a:t>
            </a:r>
            <a:r>
              <a:rPr lang="ru-RU" dirty="0" err="1"/>
              <a:t>Berkeley</a:t>
            </a:r>
            <a:r>
              <a:rPr lang="ru-RU" dirty="0"/>
              <a:t> </a:t>
            </a:r>
            <a:r>
              <a:rPr lang="ru-RU" dirty="0" err="1"/>
              <a:t>Sockets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Сервер начинает с </a:t>
            </a:r>
            <a:r>
              <a:rPr lang="ru-RU" b="1" dirty="0"/>
              <a:t>LISTEN</a:t>
            </a:r>
            <a:r>
              <a:rPr lang="ru-RU" dirty="0"/>
              <a:t>, блокируясь в ожидании клиента.</a:t>
            </a:r>
            <a:br>
              <a:rPr lang="ru-RU" dirty="0"/>
            </a:br>
            <a:r>
              <a:rPr lang="ru-RU" dirty="0"/>
              <a:t>Клиент вызывает </a:t>
            </a:r>
            <a:r>
              <a:rPr lang="ru-RU" b="1" dirty="0"/>
              <a:t>CONNECT</a:t>
            </a:r>
            <a:r>
              <a:rPr lang="ru-RU" dirty="0"/>
              <a:t>, при этом ОС формирует пакет-запрос.</a:t>
            </a:r>
            <a:br>
              <a:rPr lang="ru-RU" dirty="0"/>
            </a:br>
            <a:r>
              <a:rPr lang="ru-RU" dirty="0"/>
              <a:t>Сервер подтверждает соединение через </a:t>
            </a:r>
            <a:r>
              <a:rPr lang="ru-RU" b="1" dirty="0"/>
              <a:t>ACCEPT</a:t>
            </a:r>
            <a:r>
              <a:rPr lang="ru-RU" dirty="0"/>
              <a:t>, и с этого момента стороны могут обмениваться данными.</a:t>
            </a:r>
          </a:p>
          <a:p>
            <a:r>
              <a:rPr lang="ru-RU" dirty="0"/>
              <a:t>Основные операции после установления канала — </a:t>
            </a:r>
            <a:r>
              <a:rPr lang="ru-RU" b="1" dirty="0"/>
              <a:t>SEND</a:t>
            </a:r>
            <a:r>
              <a:rPr lang="ru-RU" dirty="0"/>
              <a:t> и </a:t>
            </a:r>
            <a:r>
              <a:rPr lang="ru-RU" b="1" dirty="0"/>
              <a:t>RECEIVE</a:t>
            </a:r>
            <a:r>
              <a:rPr lang="ru-RU" dirty="0"/>
              <a:t>. Они позволяют реализовать любую структуру диалога: запрос–ответ, поток данных, последовательность сообщений.</a:t>
            </a:r>
          </a:p>
          <a:p>
            <a:r>
              <a:rPr lang="ru-RU" dirty="0"/>
              <a:t>Завершение происходит через </a:t>
            </a:r>
            <a:r>
              <a:rPr lang="ru-RU" b="1" dirty="0"/>
              <a:t>DISCONNECT</a:t>
            </a:r>
            <a:r>
              <a:rPr lang="ru-RU" dirty="0"/>
              <a:t> — этот примитив корректно освобождает ресурсы и уведомляет вторую сторону.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0582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Взаимодействие клиента и сервера при использовании примитивов напоминает телефонный вызов.</a:t>
            </a:r>
          </a:p>
          <a:p>
            <a:r>
              <a:rPr lang="ru-RU" b="1" dirty="0"/>
              <a:t>LISTEN:</a:t>
            </a:r>
            <a:r>
              <a:rPr lang="ru-RU" dirty="0"/>
              <a:t> сервер “сидит на линии”, готовый принять соединение.</a:t>
            </a:r>
          </a:p>
          <a:p>
            <a:r>
              <a:rPr lang="ru-RU" b="1" dirty="0"/>
              <a:t>CONNECT:</a:t>
            </a:r>
            <a:r>
              <a:rPr lang="ru-RU" dirty="0"/>
              <a:t> клиент инициирует запрос.</a:t>
            </a:r>
          </a:p>
          <a:p>
            <a:r>
              <a:rPr lang="ru-RU" b="1" dirty="0"/>
              <a:t>ACCEPT:</a:t>
            </a:r>
            <a:r>
              <a:rPr lang="ru-RU" dirty="0"/>
              <a:t> сервер отвечает и соединение считается установленным.</a:t>
            </a:r>
          </a:p>
          <a:p>
            <a:r>
              <a:rPr lang="ru-RU" dirty="0"/>
              <a:t>Далее сервер и клиент могут многократно выполнять </a:t>
            </a:r>
            <a:r>
              <a:rPr lang="ru-RU" b="1" dirty="0"/>
              <a:t>SEND</a:t>
            </a:r>
            <a:r>
              <a:rPr lang="ru-RU" dirty="0"/>
              <a:t> и </a:t>
            </a:r>
            <a:r>
              <a:rPr lang="ru-RU" b="1" dirty="0"/>
              <a:t>RECEIVE</a:t>
            </a:r>
            <a:r>
              <a:rPr lang="ru-RU" dirty="0"/>
              <a:t>, передавая сообщения в обе стороны.</a:t>
            </a:r>
          </a:p>
          <a:p>
            <a:r>
              <a:rPr lang="ru-RU" dirty="0"/>
              <a:t>Заканчивается всё вызовом </a:t>
            </a:r>
            <a:r>
              <a:rPr lang="ru-RU" b="1" dirty="0"/>
              <a:t>DISCONNECT</a:t>
            </a:r>
            <a:r>
              <a:rPr lang="ru-RU" dirty="0"/>
              <a:t>: одна сторона закрывает соединение, вторая подтверждает.</a:t>
            </a:r>
          </a:p>
          <a:p>
            <a:r>
              <a:rPr lang="ru-RU" dirty="0"/>
              <a:t>Эта схема обеспечивает устойчивость, контроль порядка и надёжность доставки — то, что необходимо большинству прикладных протоколов.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02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первый взгляд кажется, что достаточно всего двух сообщений:</a:t>
            </a:r>
            <a:br>
              <a:rPr lang="ru-RU" dirty="0"/>
            </a:br>
            <a:r>
              <a:rPr lang="ru-RU" dirty="0"/>
              <a:t>— клиент отправляет запрос,</a:t>
            </a:r>
            <a:br>
              <a:rPr lang="ru-RU" dirty="0"/>
            </a:br>
            <a:r>
              <a:rPr lang="ru-RU" dirty="0"/>
              <a:t>— сервер отвечает результатом.</a:t>
            </a:r>
          </a:p>
          <a:p>
            <a:r>
              <a:rPr lang="ru-RU" dirty="0"/>
              <a:t>Однако в реальной сети пакеты могут задерживаться, теряться, приходить в неправильном порядке или повторяться.</a:t>
            </a:r>
          </a:p>
          <a:p>
            <a:endParaRPr lang="ru-RU" dirty="0"/>
          </a:p>
          <a:p>
            <a:r>
              <a:rPr lang="ru-RU" dirty="0"/>
              <a:t>Если ответ разбит на сотни пакетов, клиент должен уметь понять:</a:t>
            </a:r>
            <a:br>
              <a:rPr lang="ru-RU" dirty="0"/>
            </a:br>
            <a:r>
              <a:rPr lang="ru-RU" dirty="0"/>
              <a:t>— все ли пакеты он получил;</a:t>
            </a:r>
            <a:br>
              <a:rPr lang="ru-RU" dirty="0"/>
            </a:br>
            <a:r>
              <a:rPr lang="ru-RU" dirty="0"/>
              <a:t>— какой из них последний;</a:t>
            </a:r>
            <a:br>
              <a:rPr lang="ru-RU" dirty="0"/>
            </a:br>
            <a:r>
              <a:rPr lang="ru-RU" dirty="0"/>
              <a:t>— не перепутаны ли пакеты от разных запросов.</a:t>
            </a:r>
          </a:p>
          <a:p>
            <a:endParaRPr lang="ru-RU" dirty="0"/>
          </a:p>
          <a:p>
            <a:r>
              <a:rPr lang="ru-RU" dirty="0"/>
              <a:t>Поэтому простая схема «запрос–ответ» </a:t>
            </a:r>
            <a:r>
              <a:rPr lang="ru-RU" b="1" dirty="0"/>
              <a:t>не подходит</a:t>
            </a:r>
            <a:r>
              <a:rPr lang="ru-RU" dirty="0"/>
              <a:t> для ненадёжных сетей и больших сообщений.</a:t>
            </a:r>
          </a:p>
          <a:p>
            <a:r>
              <a:rPr lang="ru-RU" dirty="0"/>
              <a:t>Именно примитивы уровня соединения позволяют организовать стабильный упорядоченный канал и решают все эти вопросы автоматически.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5113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Примитивы — это фундаментальный «инструментарий», через который приложения взаимодействуют с сетевым стеком.</a:t>
            </a:r>
          </a:p>
          <a:p>
            <a:endParaRPr lang="ru-RU" dirty="0"/>
          </a:p>
          <a:p>
            <a:r>
              <a:rPr lang="ru-RU" dirty="0"/>
              <a:t>Благодаря им можно построить как простой обмен сообщениями, так и сложные протоколы с подтверждениями, повторными отправками, большим объёмом данных и строгим порядком доставки.</a:t>
            </a:r>
          </a:p>
          <a:p>
            <a:endParaRPr lang="ru-RU" dirty="0"/>
          </a:p>
          <a:p>
            <a:r>
              <a:rPr lang="ru-RU" dirty="0"/>
              <a:t>Они позволяют скрыть сложность сетевой инфраструктуры и предоставить программисту удобный, единообразный интерфейс взаимодействия с сетью — независимо от типа соединения или внутреннего устройства протоколов.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9260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9935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Служба определяет функциональность, которую один уровень предоставляет уровню выше. Это набор операций, таких как </a:t>
            </a:r>
            <a:r>
              <a:rPr lang="ru-RU" i="1" dirty="0"/>
              <a:t>отправить данные</a:t>
            </a:r>
            <a:r>
              <a:rPr lang="ru-RU" dirty="0"/>
              <a:t>, </a:t>
            </a:r>
            <a:r>
              <a:rPr lang="ru-RU" i="1" dirty="0"/>
              <a:t>установить соединение</a:t>
            </a:r>
            <a:r>
              <a:rPr lang="ru-RU" dirty="0"/>
              <a:t>, </a:t>
            </a:r>
            <a:r>
              <a:rPr lang="ru-RU" i="1" dirty="0"/>
              <a:t>получить сообщение</a:t>
            </a:r>
            <a:r>
              <a:rPr lang="ru-RU" dirty="0"/>
              <a:t> — то есть </a:t>
            </a:r>
            <a:r>
              <a:rPr lang="ru-RU" b="1" dirty="0"/>
              <a:t>интерфейс</a:t>
            </a:r>
            <a:r>
              <a:rPr lang="ru-RU" dirty="0"/>
              <a:t>, но не реализация.</a:t>
            </a:r>
          </a:p>
          <a:p>
            <a:endParaRPr lang="ru-RU" dirty="0"/>
          </a:p>
          <a:p>
            <a:r>
              <a:rPr lang="ru-RU" dirty="0"/>
              <a:t>Важно, что служба скрывает внутренние механизмы работы уровня: пользователю не нужно знать, каким образом обеспечивается надёжность, маршрутизация или фрагментация данных — он просто вызывает соответствующие операции.</a:t>
            </a:r>
          </a:p>
          <a:p>
            <a:endParaRPr lang="ru-RU" dirty="0"/>
          </a:p>
          <a:p>
            <a:r>
              <a:rPr lang="ru-RU" dirty="0"/>
              <a:t>Такое разделение делает архитектуру гибкой: уровни можно улучшать, изменять или заменять без влияния на вышележащие уровни, если интерфейс остаётся прежним.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5688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Протокол описывает, </a:t>
            </a:r>
            <a:r>
              <a:rPr lang="ru-RU" b="1" dirty="0"/>
              <a:t>как</a:t>
            </a:r>
            <a:r>
              <a:rPr lang="ru-RU" dirty="0"/>
              <a:t> взаимодействуют одноранговые процессы на разных устройствах: формат пакетов, порядок обмена, коды ошибок, поля заголовков и т. д.</a:t>
            </a:r>
          </a:p>
          <a:p>
            <a:endParaRPr lang="ru-RU" dirty="0"/>
          </a:p>
          <a:p>
            <a:r>
              <a:rPr lang="ru-RU" dirty="0"/>
              <a:t>Это внутренняя «кухня» уровня: протоколы могут быть сложными, меняться со временем и усложняться, но при этом </a:t>
            </a:r>
            <a:r>
              <a:rPr lang="ru-RU" b="1" dirty="0"/>
              <a:t>служба</a:t>
            </a:r>
            <a:r>
              <a:rPr lang="ru-RU" dirty="0"/>
              <a:t>, предоставляемая уровнем выше, остаётся прежней.</a:t>
            </a:r>
          </a:p>
          <a:p>
            <a:endParaRPr lang="ru-RU" dirty="0"/>
          </a:p>
          <a:p>
            <a:r>
              <a:rPr lang="ru-RU" dirty="0"/>
              <a:t>Таким образом, протокол реализует службу, но не определяет её интерфейс. Это ключевое разделение, позволяющее проектировать модульные и долговечные сетевые архитектуры.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4318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 не путать службы и протоколы — это разные сущности, хоть они и связаны.</a:t>
            </a:r>
          </a:p>
          <a:p>
            <a:br>
              <a:rPr lang="ru-RU" dirty="0"/>
            </a:br>
            <a:r>
              <a:rPr lang="ru-RU" b="1" dirty="0"/>
              <a:t>Служба</a:t>
            </a:r>
            <a:r>
              <a:rPr lang="ru-RU" dirty="0"/>
              <a:t> — это контракт, набор доступных операций, подобный абстрактному типу данных или интерфейсу класса в ООП.</a:t>
            </a:r>
          </a:p>
          <a:p>
            <a:endParaRPr lang="ru-RU" dirty="0"/>
          </a:p>
          <a:p>
            <a:r>
              <a:rPr lang="ru-RU" b="1" dirty="0"/>
              <a:t>Протокол</a:t>
            </a:r>
            <a:r>
              <a:rPr lang="ru-RU" dirty="0"/>
              <a:t> — это конкретная реализация: каким образом устройства формируют пакеты, как реагируют на ошибки, как интерпретируют заголовки.</a:t>
            </a:r>
          </a:p>
          <a:p>
            <a:endParaRPr lang="ru-RU" dirty="0"/>
          </a:p>
          <a:p>
            <a:r>
              <a:rPr lang="ru-RU" dirty="0"/>
              <a:t>В ранних сетевых архитектурах эти два понятия смешивали: приложение напрямую формировало пакеты протокола. Это приводило к тому, что любое изменение протокола ломало работу всех программ. Современные сети сознательно разделяют интерфейс (службу) и реализацию (протокол), делая систему гибкой и устойчивой к изменениям.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5FF5-003D-49C7-8AA8-32F0386C2E23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3E24-FBDA-2CA5-F1DF-FAC5A08EF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7DA48-97F5-FED5-DB95-FE942C264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7CD8-76F0-4F95-068A-E767BABBD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33FC9-9592-807B-109D-9D82499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D262F-2F38-2BD1-EBEA-81F9E7D2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2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3C95-D4EB-8EAA-77EA-1A0D18B7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CAE4-1688-0320-96BB-2424F056A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387C3-93F9-EB58-D9B8-65A1C6194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CAB2A-F5B5-EAE7-ABBA-3FF227FC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A83FB-8005-39D0-6EE0-4FD18098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1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D999-F790-50D0-086E-06CAD9C6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8499E-B1E0-C967-CD9F-4A23F4A9E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0DD7-75A5-BAE5-8845-650701ED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5AC90-FF99-8F83-F8BB-E2F48540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5BC8A-1F8B-9908-DFBB-7D84AF90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30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F9C0-CAEE-AED2-B220-7A8E0334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E31FA-BE7E-A139-F428-52FB69C1D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8F476-21D7-5A86-36AD-08B806121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47E05-7B98-AE33-EE3C-E6F8D7DF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A4492-A7BE-3854-D9D0-CCA9F1DA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7FBBA-3922-E180-BED2-EF7C35C8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1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F9C0-CAEE-AED2-B220-7A8E0334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E31FA-BE7E-A139-F428-52FB69C1D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0519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8F476-21D7-5A86-36AD-08B806121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4654" y="1825625"/>
            <a:ext cx="4449146" cy="20621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47E05-7B98-AE33-EE3C-E6F8D7DF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A4492-A7BE-3854-D9D0-CCA9F1DA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7FBBA-3922-E180-BED2-EF7C35C8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907100-AFA9-D574-4A76-C313081F0CB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904654" y="4067176"/>
            <a:ext cx="4449146" cy="2109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7963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7F08-02FA-6157-5E74-C01B420E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B6F61-7F08-61D1-7766-9D673C6B3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EF837-20C0-30DF-3D5A-618528974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9DDE8-6A4E-CA95-12D0-62173B87D8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B9411-2D83-1315-9CFF-88562A8FC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697C5-AEC8-91BA-6FBB-C6E4890B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3C0AC3-137F-153E-14C0-86661C60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6DF68-2C99-C928-B26B-0B4ACC3B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64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B831-7E1D-A1BC-AAA7-16CB434A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6FD79C-1ED6-67A4-F148-B86B2305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9798E-0F9D-C44A-5F50-780C3E57F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44F38-02EF-ED20-205C-79A2ED2F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48497-D572-17ED-D240-CDCDC0CD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E08E7-F4C7-85F6-BF1F-741DE27A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B28D0-9EF9-35CC-3AF6-988AFE8D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2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EA8A-AD00-7AF9-5553-7B673E0A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33B2C-0FB3-6DCB-3B9E-3581E423B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2B02D-D61B-8FD2-6D2F-F0BFA2A19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7A8A6-3CE7-6706-3B3C-9512A87B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A5CF1-9326-82FE-A472-2E691203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D0BAC-74E4-05CD-1B8B-1D7E2ED3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5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57F0-1D65-91E5-AB15-FF0440E5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FC011-A93F-134B-45F5-0904A5EFA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01065-E54B-005F-E8D5-7E8EC9D5C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0FE68-CFE6-AFC6-8205-D183960C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EA8DB-15F1-24AF-4920-EEF32236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74E2-1609-45AC-CE8B-CA177739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0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2508-6C51-F5E7-5606-BCDAB5F1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BE98F-39F4-73C7-A47B-72F069600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33733-E976-57D7-F0AD-12894653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B4868-1813-18C7-9B07-E5B25CF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E42DD-F99A-8EA8-30E0-70823EC4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46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1B985-9A09-B06A-5934-FCCC3B3A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954D3-35D7-4B8C-2225-5664AA7B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0111C-D4B3-913B-E063-A227BD0E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D3B4C-A349-E0F6-6A17-83BC9011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04E26-7640-2684-53B5-F40C1A51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71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C199B-9016-A8AB-312F-F40F51E6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6C4B4-5A01-EF34-CCC7-7206B8212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446A-7D9B-1F86-4C84-03491B8D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B7265-0534-4652-8BC7-F14F741BB29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B0DC3-971F-A346-7BD8-B8FE91649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6FB73-8115-51F8-4BAE-D7B5FCB21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22081-3201-4273-B244-324A7B2BE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2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FB4D-C0AD-46AB-C940-8EC2E1266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275466"/>
          </a:xfrm>
        </p:spPr>
        <p:txBody>
          <a:bodyPr/>
          <a:lstStyle/>
          <a:p>
            <a:r>
              <a:rPr lang="ru-RU" dirty="0"/>
              <a:t>Компьютерные сети</a:t>
            </a:r>
            <a:r>
              <a:rPr lang="en-US" dirty="0"/>
              <a:t>.</a:t>
            </a:r>
            <a:r>
              <a:rPr lang="ru-RU" dirty="0"/>
              <a:t> Введение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8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8F438-F439-408A-CF0A-2C4ACBAB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книги</a:t>
            </a:r>
            <a:endParaRPr lang="en-US" dirty="0"/>
          </a:p>
        </p:txBody>
      </p:sp>
      <p:pic>
        <p:nvPicPr>
          <p:cNvPr id="7" name="Content Placeholder 6" descr="A book cover with a black and white cover&#10;&#10;AI-generated content may be incorrect.">
            <a:extLst>
              <a:ext uri="{FF2B5EF4-FFF2-40B4-BE49-F238E27FC236}">
                <a16:creationId xmlns:a16="http://schemas.microsoft.com/office/drawing/2014/main" id="{840F8998-F6EC-CE06-F314-63DB175B0F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58" y="1825625"/>
            <a:ext cx="3148484" cy="435133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41E89D-49E4-95FD-B732-B9A6AAD6F0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192813" y="1825625"/>
            <a:ext cx="31403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9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6CB54-4A20-4338-8DE6-F78DA4A8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Эволюция ключевых технологий 18–21 вв.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77DC7-E742-E7F1-6DDF-1BF591BC2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XVIII век — промышленная революция, рост крупного машиностроения</a:t>
            </a:r>
          </a:p>
          <a:p>
            <a:r>
              <a:rPr lang="ru-RU" dirty="0"/>
              <a:t>XIX век — эпоха паровых двигателей</a:t>
            </a:r>
          </a:p>
          <a:p>
            <a:r>
              <a:rPr lang="ru-RU" dirty="0"/>
              <a:t>XX век — век информации:</a:t>
            </a:r>
          </a:p>
          <a:p>
            <a:pPr lvl="1"/>
            <a:r>
              <a:rPr lang="ru-RU" dirty="0"/>
              <a:t>телефония</a:t>
            </a:r>
          </a:p>
          <a:p>
            <a:pPr lvl="1"/>
            <a:r>
              <a:rPr lang="ru-RU" dirty="0"/>
              <a:t>радио и телевидение</a:t>
            </a:r>
          </a:p>
          <a:p>
            <a:pPr lvl="1"/>
            <a:r>
              <a:rPr lang="ru-RU" dirty="0"/>
              <a:t>компьютеры</a:t>
            </a:r>
          </a:p>
          <a:p>
            <a:pPr lvl="1"/>
            <a:r>
              <a:rPr lang="ru-RU" dirty="0"/>
              <a:t>спутниковая связь</a:t>
            </a:r>
          </a:p>
          <a:p>
            <a:pPr lvl="1"/>
            <a:r>
              <a:rPr lang="ru-RU" dirty="0"/>
              <a:t>интернет</a:t>
            </a:r>
          </a:p>
          <a:p>
            <a:r>
              <a:rPr lang="ru-RU" dirty="0"/>
              <a:t>XXI век — дальнейшая интеграция технологий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0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3EBC-15B6-1116-3E30-060CBAE8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Возникновение компьютерных сетей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B349B-6FD7-BFCC-28DC-821CD5A47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Ранние компьютеры были централизованными, занимали помещение</a:t>
            </a:r>
          </a:p>
          <a:p>
            <a:r>
              <a:rPr lang="ru-RU" dirty="0"/>
              <a:t>Одно предприятие имело лишь 1–2 компьютера</a:t>
            </a:r>
          </a:p>
          <a:p>
            <a:r>
              <a:rPr lang="ru-RU" dirty="0"/>
              <a:t>Появление малых и дешёвых устройств → отказ от модели «одного большого ЭВМ»</a:t>
            </a:r>
          </a:p>
          <a:p>
            <a:r>
              <a:rPr lang="ru-RU" dirty="0"/>
              <a:t>Сети — объединение множества автономных компьютеров</a:t>
            </a:r>
          </a:p>
          <a:p>
            <a:r>
              <a:rPr lang="ru-RU" dirty="0"/>
              <a:t>Современный эквивалент вычислительного центра — огромные дата-центры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8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ABEB-14BA-DF36-4730-D152380F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компьютерная сеть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4D39-96BD-16E3-8EC7-D36E4658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Компьютерная сеть — набор автономных устройств, способных обмениваться данными</a:t>
            </a:r>
          </a:p>
          <a:p>
            <a:r>
              <a:rPr lang="ru-RU" dirty="0"/>
              <a:t>Виды сред передачи:</a:t>
            </a:r>
          </a:p>
          <a:p>
            <a:pPr lvl="1"/>
            <a:r>
              <a:rPr lang="ru-RU" dirty="0"/>
              <a:t>медные кабели</a:t>
            </a:r>
          </a:p>
          <a:p>
            <a:pPr lvl="1"/>
            <a:r>
              <a:rPr lang="ru-RU" dirty="0"/>
              <a:t>оптоволокно</a:t>
            </a:r>
          </a:p>
          <a:p>
            <a:pPr lvl="1"/>
            <a:r>
              <a:rPr lang="ru-RU" dirty="0"/>
              <a:t>радиоволны (микро-, ИК-, спутниковые каналы)</a:t>
            </a:r>
          </a:p>
          <a:p>
            <a:r>
              <a:rPr lang="ru-RU" dirty="0"/>
              <a:t>Сети разных размеров и конфигураций объединяются в более крупные</a:t>
            </a:r>
          </a:p>
          <a:p>
            <a:pPr lvl="1"/>
            <a:r>
              <a:rPr lang="ru-RU" dirty="0"/>
              <a:t>Самый известный пример — интернет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65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396B-C87C-F79A-7E57-02437FCC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Клиент-серверная модель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84C2-D50B-3794-4EFF-81EF37ED2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36556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Основной способ доступа в интернет — браузер</a:t>
            </a:r>
          </a:p>
          <a:p>
            <a:r>
              <a:rPr lang="ru-RU" dirty="0"/>
              <a:t>Клиент запрашивает данные</a:t>
            </a:r>
            <a:r>
              <a:rPr lang="en-US" dirty="0"/>
              <a:t>,</a:t>
            </a:r>
            <a:r>
              <a:rPr lang="ru-RU" dirty="0"/>
              <a:t> сервер обрабатывает запрос и возвращает ответ</a:t>
            </a:r>
          </a:p>
          <a:p>
            <a:r>
              <a:rPr lang="ru-RU" dirty="0"/>
              <a:t>Технология применяется в большинстве сетевых приложений</a:t>
            </a:r>
          </a:p>
          <a:p>
            <a:r>
              <a:rPr lang="ru-RU" dirty="0"/>
              <a:t>Один сервер обслуживает сотни или тысячи клиентов</a:t>
            </a:r>
          </a:p>
          <a:p>
            <a:r>
              <a:rPr lang="ru-RU" dirty="0"/>
              <a:t>Используется в веб-сайтах, онлайн-библиотеках, интернет-СМИ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21698E-8F9E-F35D-F755-B0A5634241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745594" cy="2851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D220F3-3351-059E-A524-86B1BF0AA5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1"/>
          <a:stretch>
            <a:fillRect/>
          </a:stretch>
        </p:blipFill>
        <p:spPr>
          <a:xfrm>
            <a:off x="6274756" y="5010150"/>
            <a:ext cx="5643038" cy="148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54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A8A3-36F3-F2BF-D105-B55F53A6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Одноранговые </a:t>
            </a:r>
            <a:r>
              <a:rPr lang="en-US" dirty="0"/>
              <a:t>(Peer-to-peer)</a:t>
            </a:r>
            <a:r>
              <a:rPr lang="ru-RU" dirty="0"/>
              <a:t> сети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6C6C-4227-6E7F-70BB-36ACBEA86A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Нет чёткого разделения на клиент и сервер</a:t>
            </a:r>
          </a:p>
          <a:p>
            <a:r>
              <a:rPr lang="ru-RU" dirty="0"/>
              <a:t>Каждый участник может одновременно быть и потребителем, и поставщиком данных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BitTorrent</a:t>
            </a:r>
          </a:p>
          <a:p>
            <a:pPr lvl="1"/>
            <a:r>
              <a:rPr lang="ru-RU" dirty="0"/>
              <a:t>Napster (исторически важен)</a:t>
            </a:r>
          </a:p>
          <a:p>
            <a:pPr lvl="1"/>
            <a:r>
              <a:rPr lang="ru-RU" dirty="0"/>
              <a:t>обмен файлами, фото, видео</a:t>
            </a:r>
          </a:p>
          <a:p>
            <a:r>
              <a:rPr lang="ru-RU" dirty="0"/>
              <a:t>Применения:</a:t>
            </a:r>
          </a:p>
          <a:p>
            <a:pPr lvl="1"/>
            <a:r>
              <a:rPr lang="ru-RU" dirty="0"/>
              <a:t>распространение ПО</a:t>
            </a:r>
          </a:p>
          <a:p>
            <a:pPr lvl="1"/>
            <a:r>
              <a:rPr lang="ru-RU" dirty="0"/>
              <a:t>личные медиа</a:t>
            </a:r>
          </a:p>
          <a:p>
            <a:pPr lvl="1"/>
            <a:r>
              <a:rPr lang="ru-RU" dirty="0"/>
              <a:t>электронная почта (частично является P2P системой)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E64C0C-BCE4-0D00-F760-4F3DC265AD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97086"/>
            <a:ext cx="5181600" cy="240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1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8A1F-7079-B886-AF53-D35B1FA5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Онлайн-общение и мультимедиа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3D5F-29A3-1DFD-3E5D-A1ED949CB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Электронная почта — массовый и универсальный инструмент</a:t>
            </a:r>
          </a:p>
          <a:p>
            <a:r>
              <a:rPr lang="ru-RU" dirty="0"/>
              <a:t>Мгновенные сообщения (</a:t>
            </a:r>
            <a:r>
              <a:rPr lang="ru-RU" dirty="0" err="1"/>
              <a:t>messengers</a:t>
            </a:r>
            <a:r>
              <a:rPr lang="ru-RU" dirty="0"/>
              <a:t>)</a:t>
            </a:r>
          </a:p>
          <a:p>
            <a:r>
              <a:rPr lang="ru-RU" dirty="0"/>
              <a:t>Социальные сети: Twitter, </a:t>
            </a:r>
            <a:r>
              <a:rPr lang="ru-RU" dirty="0" err="1"/>
              <a:t>Вконтакте</a:t>
            </a:r>
            <a:r>
              <a:rPr lang="ru-RU" dirty="0"/>
              <a:t>, Facebook* и др.</a:t>
            </a:r>
          </a:p>
          <a:p>
            <a:r>
              <a:rPr lang="ru-RU" dirty="0"/>
              <a:t>Передача аудио и видео:</a:t>
            </a:r>
          </a:p>
          <a:p>
            <a:pPr lvl="1"/>
            <a:r>
              <a:rPr lang="ru-RU" dirty="0"/>
              <a:t>потоковые сервисы (YouTube, </a:t>
            </a:r>
            <a:r>
              <a:rPr lang="ru-RU" dirty="0" err="1"/>
              <a:t>Netflix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интернет-радио</a:t>
            </a:r>
          </a:p>
          <a:p>
            <a:pPr lvl="1"/>
            <a:r>
              <a:rPr lang="ru-RU" dirty="0"/>
              <a:t>видеоконференции</a:t>
            </a:r>
          </a:p>
          <a:p>
            <a:r>
              <a:rPr lang="ru-RU" dirty="0"/>
              <a:t>Онлайн-обучение и удалённая работа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* Компания </a:t>
            </a:r>
            <a:r>
              <a:rPr lang="en-US" dirty="0"/>
              <a:t>Meta </a:t>
            </a:r>
            <a:r>
              <a:rPr lang="ru-RU" dirty="0"/>
              <a:t>признана экстремистской и запрещена на территории РФ по решению Тверского суда г. Москвы</a:t>
            </a:r>
          </a:p>
        </p:txBody>
      </p:sp>
    </p:spTree>
    <p:extLst>
      <p:ext uri="{BB962C8B-B14F-4D97-AF65-F5344CB8AC3E}">
        <p14:creationId xmlns:p14="http://schemas.microsoft.com/office/powerpoint/2010/main" val="70869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DB28-7CC6-9F52-623F-10BFA19A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коммерция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10A7C-65EE-F774-BAA3-68F9F6406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Покупки через интернет</a:t>
            </a:r>
          </a:p>
          <a:p>
            <a:r>
              <a:rPr lang="ru-RU" dirty="0"/>
              <a:t>Онлайн-банкинг и финтех</a:t>
            </a:r>
          </a:p>
          <a:p>
            <a:r>
              <a:rPr lang="ru-RU" dirty="0"/>
              <a:t>Переводы между пользователями</a:t>
            </a:r>
          </a:p>
          <a:p>
            <a:r>
              <a:rPr lang="ru-RU" dirty="0"/>
              <a:t>Онлайн-аукционы (часто — P2P модель)</a:t>
            </a:r>
          </a:p>
          <a:p>
            <a:r>
              <a:rPr lang="ru-RU" dirty="0"/>
              <a:t>Основные аббревиатуры:</a:t>
            </a:r>
          </a:p>
          <a:p>
            <a:pPr lvl="1"/>
            <a:r>
              <a:rPr lang="ru-RU" dirty="0"/>
              <a:t>B2C — бизнес → потребителю</a:t>
            </a:r>
          </a:p>
          <a:p>
            <a:pPr lvl="1"/>
            <a:r>
              <a:rPr lang="ru-RU" dirty="0"/>
              <a:t>B2B — бизнес → бизнесу</a:t>
            </a:r>
          </a:p>
          <a:p>
            <a:pPr lvl="1"/>
            <a:r>
              <a:rPr lang="ru-RU" dirty="0"/>
              <a:t>C2C — потребитель → потребителю</a:t>
            </a:r>
          </a:p>
          <a:p>
            <a:pPr lvl="1"/>
            <a:r>
              <a:rPr lang="ru-RU" dirty="0"/>
              <a:t>G2C — государство → населению</a:t>
            </a:r>
          </a:p>
          <a:p>
            <a:pPr lvl="1"/>
            <a:r>
              <a:rPr lang="ru-RU" dirty="0"/>
              <a:t>P2P — обмен между пользователями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605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024D-D476-7013-28E4-2E34F578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Интернет-развлечения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09E8-4688-FEA0-DDEF-B8AD34FF0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Музыка и фильмы онлайн (MP3, стриминг, IPTV)</a:t>
            </a:r>
          </a:p>
          <a:p>
            <a:r>
              <a:rPr lang="ru-RU" dirty="0"/>
              <a:t>Перемещение контента между устройствами</a:t>
            </a:r>
          </a:p>
          <a:p>
            <a:r>
              <a:rPr lang="ru-RU" dirty="0"/>
              <a:t>Интерактивное ТВ и интерактивные фильмы</a:t>
            </a:r>
          </a:p>
          <a:p>
            <a:r>
              <a:rPr lang="ru-RU" dirty="0"/>
              <a:t>Онлайн-игры и виртуальные миры</a:t>
            </a:r>
          </a:p>
          <a:p>
            <a:pPr lvl="1"/>
            <a:r>
              <a:rPr lang="ru-RU" dirty="0"/>
              <a:t>многопользовательские симуляторы</a:t>
            </a:r>
          </a:p>
          <a:p>
            <a:pPr lvl="1"/>
            <a:r>
              <a:rPr lang="ru-RU" dirty="0"/>
              <a:t>трёхмерные вселенные</a:t>
            </a:r>
          </a:p>
        </p:txBody>
      </p:sp>
    </p:spTree>
    <p:extLst>
      <p:ext uri="{BB962C8B-B14F-4D97-AF65-F5344CB8AC3E}">
        <p14:creationId xmlns:p14="http://schemas.microsoft.com/office/powerpoint/2010/main" val="1745476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817D-D08F-0F9B-733A-30468441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Интернет вещей (</a:t>
            </a:r>
            <a:r>
              <a:rPr lang="en-US" dirty="0"/>
              <a:t>IoT)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7D16C-75BB-15E1-A85D-3F16B54B5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Встраивание вычислительных возможностей в повседневные объекты</a:t>
            </a:r>
          </a:p>
          <a:p>
            <a:r>
              <a:rPr lang="ru-RU" dirty="0"/>
              <a:t>Датчики и устройства умного дома</a:t>
            </a:r>
          </a:p>
          <a:p>
            <a:r>
              <a:rPr lang="ru-RU" dirty="0"/>
              <a:t>Умные счётчики воды, газа, электричества</a:t>
            </a:r>
          </a:p>
          <a:p>
            <a:r>
              <a:rPr lang="ru-RU" dirty="0"/>
              <a:t>Отправка данных напрямую в управляющие системы</a:t>
            </a:r>
          </a:p>
          <a:p>
            <a:r>
              <a:rPr lang="ru-RU" dirty="0"/>
              <a:t>Бытовая техника, подключённая к интернету</a:t>
            </a:r>
          </a:p>
          <a:p>
            <a:r>
              <a:rPr lang="ru-RU" dirty="0"/>
              <a:t>Применения: экономия ресурсов, мониторинг, автоматизация</a:t>
            </a:r>
          </a:p>
        </p:txBody>
      </p:sp>
    </p:spTree>
    <p:extLst>
      <p:ext uri="{BB962C8B-B14F-4D97-AF65-F5344CB8AC3E}">
        <p14:creationId xmlns:p14="http://schemas.microsoft.com/office/powerpoint/2010/main" val="242497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DF5C5E-4757-0166-7DE1-6CEA3DA4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компьютерных сетей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D984B3-4223-D8A7-E3C4-D73D2E5D6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4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2B69-086A-FEDE-80AC-82F3BD6C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компьютерных сетей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8FDA8-2488-4F98-35D4-95287C8A0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Сети широкополосного доступа</a:t>
            </a:r>
          </a:p>
          <a:p>
            <a:r>
              <a:rPr lang="ru-RU" dirty="0"/>
              <a:t>Мобильные и беспроводные сети</a:t>
            </a:r>
          </a:p>
          <a:p>
            <a:r>
              <a:rPr lang="ru-RU" dirty="0"/>
              <a:t>Сети дата-центров</a:t>
            </a:r>
          </a:p>
          <a:p>
            <a:r>
              <a:rPr lang="ru-RU" dirty="0"/>
              <a:t>Сети доставки контента (CDN)</a:t>
            </a:r>
          </a:p>
          <a:p>
            <a:r>
              <a:rPr lang="ru-RU" dirty="0"/>
              <a:t>Транзитные (магистральные) сети</a:t>
            </a:r>
          </a:p>
          <a:p>
            <a:r>
              <a:rPr lang="ru-RU" dirty="0"/>
              <a:t>Корпоративные сети организаций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279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0492-B866-AEDC-7B1D-07B02661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Сети широкополосного доступа: роль и значение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BABE-611E-6455-4589-17A38D4CA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Назначение:</a:t>
            </a:r>
          </a:p>
          <a:p>
            <a:pPr lvl="1"/>
            <a:r>
              <a:rPr lang="ru-RU" dirty="0"/>
              <a:t>Домашний и офисный выход в интернет</a:t>
            </a:r>
          </a:p>
          <a:p>
            <a:pPr lvl="1"/>
            <a:r>
              <a:rPr lang="ru-RU" dirty="0"/>
              <a:t>Подключение бытовой техники и </a:t>
            </a:r>
            <a:r>
              <a:rPr lang="ru-RU" dirty="0" err="1"/>
              <a:t>медиаприборов</a:t>
            </a:r>
            <a:endParaRPr lang="ru-RU" dirty="0"/>
          </a:p>
          <a:p>
            <a:pPr lvl="1"/>
            <a:r>
              <a:rPr lang="ru-RU" dirty="0"/>
              <a:t>Основной мотив покупки домашних ПК — интернет-доступ</a:t>
            </a:r>
          </a:p>
          <a:p>
            <a:r>
              <a:rPr lang="ru-RU" dirty="0"/>
              <a:t>Закон Меткалфа:</a:t>
            </a:r>
          </a:p>
          <a:p>
            <a:pPr lvl="1"/>
            <a:r>
              <a:rPr lang="ru-RU" dirty="0"/>
              <a:t>Полезность сети пропорциональна квадрату числа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2563162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D0C8-E745-15B9-B807-A3F15A20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 широкополосного доступа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A02C-8973-EF1F-98E2-5997563E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Основные среды доступа:</a:t>
            </a:r>
            <a:endParaRPr lang="ru-RU" dirty="0"/>
          </a:p>
          <a:p>
            <a:pPr lvl="1"/>
            <a:r>
              <a:rPr lang="ru-RU" dirty="0"/>
              <a:t>Медные пары (телефонные линии, xDSL)</a:t>
            </a:r>
          </a:p>
          <a:p>
            <a:pPr lvl="1"/>
            <a:r>
              <a:rPr lang="ru-RU" dirty="0"/>
              <a:t>Коаксиальные кабели (кабельное ТВ/интернет)</a:t>
            </a:r>
          </a:p>
          <a:p>
            <a:pPr lvl="1"/>
            <a:r>
              <a:rPr lang="ru-RU" dirty="0"/>
              <a:t>Оптоволоконные линии (</a:t>
            </a:r>
            <a:r>
              <a:rPr lang="ru-RU" dirty="0" err="1"/>
              <a:t>FTTx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 ряде регионов — мобильные сети как основной доступ</a:t>
            </a:r>
          </a:p>
          <a:p>
            <a:r>
              <a:rPr lang="ru-RU" b="1" dirty="0"/>
              <a:t>Скорости:</a:t>
            </a:r>
            <a:endParaRPr lang="ru-RU" dirty="0"/>
          </a:p>
          <a:p>
            <a:pPr lvl="1"/>
            <a:r>
              <a:rPr lang="ru-RU" dirty="0"/>
              <a:t>В развитых странах — до 1 Гбит/с и выше для домашних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101998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D435-B04D-93A6-8C14-C3235CBD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Мобильные и беспроводные сети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149B6-2F7E-00CE-B2CC-A8B80D7F6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Почему они так важны:</a:t>
            </a:r>
            <a:endParaRPr lang="ru-RU" dirty="0"/>
          </a:p>
          <a:p>
            <a:pPr lvl="1"/>
            <a:r>
              <a:rPr lang="ru-RU" dirty="0"/>
              <a:t>Рост ноутбуков, планшетов, смартфонов</a:t>
            </a:r>
          </a:p>
          <a:p>
            <a:pPr lvl="1"/>
            <a:r>
              <a:rPr lang="ru-RU" dirty="0"/>
              <a:t>Доступ к почте, соцсетям, видео, картам «везде и всегда»</a:t>
            </a:r>
          </a:p>
          <a:p>
            <a:pPr lvl="1"/>
            <a:r>
              <a:rPr lang="ru-RU" dirty="0"/>
              <a:t>Невозможность проводного подключения в транспорте и «в поле»</a:t>
            </a:r>
          </a:p>
          <a:p>
            <a:r>
              <a:rPr lang="ru-RU" b="1" dirty="0"/>
              <a:t>Примеры:</a:t>
            </a:r>
            <a:endParaRPr lang="ru-RU" dirty="0"/>
          </a:p>
          <a:p>
            <a:pPr lvl="1"/>
            <a:r>
              <a:rPr lang="ru-RU" dirty="0"/>
              <a:t>Сотовые сети (3G/4G/5G и т. д.)</a:t>
            </a:r>
          </a:p>
          <a:p>
            <a:pPr lvl="1"/>
            <a:r>
              <a:rPr lang="ru-RU" dirty="0"/>
              <a:t>Беспроводные точки доступа </a:t>
            </a:r>
            <a:r>
              <a:rPr lang="ru-RU" dirty="0" err="1"/>
              <a:t>Wi</a:t>
            </a:r>
            <a:r>
              <a:rPr lang="ru-RU" dirty="0"/>
              <a:t>-Fi (802.11, хот-споты)</a:t>
            </a:r>
          </a:p>
        </p:txBody>
      </p:sp>
    </p:spTree>
    <p:extLst>
      <p:ext uri="{BB962C8B-B14F-4D97-AF65-F5344CB8AC3E}">
        <p14:creationId xmlns:p14="http://schemas.microsoft.com/office/powerpoint/2010/main" val="2216992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E306-4125-27BA-6B39-B6F2383E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Комбинации мобильности и </a:t>
            </a:r>
            <a:r>
              <a:rPr lang="ru-RU" dirty="0" err="1"/>
              <a:t>беспроводности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36AD3A-90A8-E6FA-3C08-42DBE6670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52191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509">
                  <a:extLst>
                    <a:ext uri="{9D8B030D-6E8A-4147-A177-3AD203B41FA5}">
                      <a16:colId xmlns:a16="http://schemas.microsoft.com/office/drawing/2014/main" val="3745678759"/>
                    </a:ext>
                  </a:extLst>
                </a:gridCol>
                <a:gridCol w="3507971">
                  <a:extLst>
                    <a:ext uri="{9D8B030D-6E8A-4147-A177-3AD203B41FA5}">
                      <a16:colId xmlns:a16="http://schemas.microsoft.com/office/drawing/2014/main" val="422322213"/>
                    </a:ext>
                  </a:extLst>
                </a:gridCol>
                <a:gridCol w="4770117">
                  <a:extLst>
                    <a:ext uri="{9D8B030D-6E8A-4147-A177-3AD203B41FA5}">
                      <a16:colId xmlns:a16="http://schemas.microsoft.com/office/drawing/2014/main" val="2294136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Беспроводная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Мобильная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Типичные приложения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00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Стационарные ПК в офисе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1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Ноутбук, подключённый кабелем в отеле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114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Беспроводные сети в зданиях без проводки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Складской учёт с карманным компьютером или смартфоном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279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570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189B-738F-69D1-C1DD-A0E70FA6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мобильных беспроводных приложений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9BBD-8339-F289-A907-C8CC88AD7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Типичные сценарии:</a:t>
            </a:r>
            <a:endParaRPr lang="ru-RU" dirty="0"/>
          </a:p>
          <a:p>
            <a:pPr lvl="1"/>
            <a:r>
              <a:rPr lang="ru-RU" dirty="0"/>
              <a:t>Такси, доставка, сервисные службы</a:t>
            </a:r>
          </a:p>
          <a:p>
            <a:pPr lvl="1"/>
            <a:r>
              <a:rPr lang="ru-RU" dirty="0"/>
              <a:t>Складской учёт, обслуживание аренды авто</a:t>
            </a:r>
          </a:p>
          <a:p>
            <a:pPr lvl="1"/>
            <a:r>
              <a:rPr lang="ru-RU" dirty="0"/>
              <a:t>Смартфоны как «универсальный терминал»</a:t>
            </a:r>
          </a:p>
          <a:p>
            <a:r>
              <a:rPr lang="ru-RU" b="1" dirty="0"/>
              <a:t>Функции:</a:t>
            </a:r>
            <a:endParaRPr lang="ru-RU" dirty="0"/>
          </a:p>
          <a:p>
            <a:pPr lvl="1"/>
            <a:r>
              <a:rPr lang="ru-RU" dirty="0"/>
              <a:t>Приём и распределение заказов</a:t>
            </a:r>
          </a:p>
          <a:p>
            <a:pPr lvl="1"/>
            <a:r>
              <a:rPr lang="ru-RU" dirty="0"/>
              <a:t>Сканирование штрихкодов и RFID</a:t>
            </a:r>
          </a:p>
          <a:p>
            <a:pPr lvl="1"/>
            <a:r>
              <a:rPr lang="ru-RU" dirty="0"/>
              <a:t>Мгновенный обмен данными с центральной базой</a:t>
            </a:r>
          </a:p>
        </p:txBody>
      </p:sp>
    </p:spTree>
    <p:extLst>
      <p:ext uri="{BB962C8B-B14F-4D97-AF65-F5344CB8AC3E}">
        <p14:creationId xmlns:p14="http://schemas.microsoft.com/office/powerpoint/2010/main" val="3189174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37B9-B3D7-63A0-5FD3-94803BF0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Смартфонов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3196-F404-FFE0-78F9-20323536D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Подключение к сотовым сетям и </a:t>
            </a:r>
            <a:r>
              <a:rPr lang="en-US" dirty="0"/>
              <a:t>Wi-Fi</a:t>
            </a:r>
          </a:p>
          <a:p>
            <a:r>
              <a:rPr lang="ru-RU" dirty="0"/>
              <a:t>Обмен </a:t>
            </a:r>
            <a:r>
              <a:rPr lang="en-US" dirty="0"/>
              <a:t>SMS </a:t>
            </a:r>
            <a:r>
              <a:rPr lang="ru-RU" dirty="0"/>
              <a:t>и мессенджеры (</a:t>
            </a:r>
            <a:r>
              <a:rPr lang="en-US" dirty="0"/>
              <a:t>WhatsApp, Telegram, Signal)</a:t>
            </a:r>
          </a:p>
          <a:p>
            <a:r>
              <a:rPr lang="ru-RU" dirty="0"/>
              <a:t>Определение местоположения (</a:t>
            </a:r>
            <a:r>
              <a:rPr lang="en-US" dirty="0"/>
              <a:t>GPS, Wi-Fi-</a:t>
            </a:r>
            <a:r>
              <a:rPr lang="ru-RU" dirty="0"/>
              <a:t>триангуляция)</a:t>
            </a:r>
          </a:p>
          <a:p>
            <a:r>
              <a:rPr lang="ru-RU" dirty="0" err="1"/>
              <a:t>Геотегирование</a:t>
            </a:r>
            <a:r>
              <a:rPr lang="ru-RU" dirty="0"/>
              <a:t> фото и видео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939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B051-B03E-A41C-B7B8-EA14FB48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Мобильная коммерция и NFC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F46F7-2FB7-C6F4-3FF1-915052E37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Мобильная коммерция (m-</a:t>
            </a:r>
            <a:r>
              <a:rPr lang="ru-RU" dirty="0" err="1"/>
              <a:t>commerce</a:t>
            </a:r>
            <a:r>
              <a:rPr lang="ru-RU" dirty="0"/>
              <a:t>):</a:t>
            </a:r>
          </a:p>
          <a:p>
            <a:pPr lvl="1"/>
            <a:r>
              <a:rPr lang="ru-RU" dirty="0"/>
              <a:t>Оплата мелких покупок через телефон</a:t>
            </a:r>
          </a:p>
          <a:p>
            <a:pPr lvl="1"/>
            <a:r>
              <a:rPr lang="ru-RU" dirty="0"/>
              <a:t>Авторизация платежей по SMS или приложению</a:t>
            </a:r>
          </a:p>
          <a:p>
            <a:pPr lvl="1"/>
            <a:r>
              <a:rPr lang="ru-RU" dirty="0"/>
              <a:t>Использование NFC как бесконтактной карты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Телефон становится платёжным средством</a:t>
            </a:r>
          </a:p>
          <a:p>
            <a:pPr lvl="1"/>
            <a:r>
              <a:rPr lang="ru-RU" dirty="0"/>
              <a:t>Комиссии и интерес операторов и производителей</a:t>
            </a:r>
          </a:p>
          <a:p>
            <a:pPr lvl="1"/>
            <a:r>
              <a:rPr lang="ru-RU" dirty="0"/>
              <a:t>Покупатели привыкли платить через телефон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499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152E-1961-AE7B-89A3-75B751E7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Сенсорные сети и новые применения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7E15F-5029-9B79-7CF2-FEFAF622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Сенсорные сети:</a:t>
            </a:r>
          </a:p>
          <a:p>
            <a:pPr lvl="1"/>
            <a:r>
              <a:rPr lang="ru-RU" dirty="0"/>
              <a:t>Узлы собирают данные о состоянии среды</a:t>
            </a:r>
          </a:p>
          <a:p>
            <a:pPr lvl="1"/>
            <a:r>
              <a:rPr lang="ru-RU" dirty="0"/>
              <a:t>Могут встраиваться в машины, телефоны, объекты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Автомобиль: данные о скорости, вибрации, расходе топлива</a:t>
            </a:r>
          </a:p>
          <a:p>
            <a:pPr lvl="1"/>
            <a:r>
              <a:rPr lang="ru-RU" dirty="0"/>
              <a:t>Трекинг миграции животных (датчики на зебрах и др.)</a:t>
            </a:r>
          </a:p>
          <a:p>
            <a:pPr lvl="1"/>
            <a:r>
              <a:rPr lang="ru-RU" dirty="0"/>
              <a:t>Миниатюрные компьютеры размером с кубический миллиметр</a:t>
            </a:r>
          </a:p>
          <a:p>
            <a:pPr lvl="1"/>
            <a:r>
              <a:rPr lang="ru-RU" dirty="0"/>
              <a:t>«Умные» парковочные автоматы и мониторинг парковок</a:t>
            </a:r>
          </a:p>
        </p:txBody>
      </p:sp>
    </p:spTree>
    <p:extLst>
      <p:ext uri="{BB962C8B-B14F-4D97-AF65-F5344CB8AC3E}">
        <p14:creationId xmlns:p14="http://schemas.microsoft.com/office/powerpoint/2010/main" val="293748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3EDB-305A-0069-066A-9F0C39AE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Сети дата-центров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676B-33A5-5CB5-0C7A-9F3A15DCA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93873" cy="4351338"/>
          </a:xfrm>
        </p:spPr>
        <p:txBody>
          <a:bodyPr>
            <a:normAutofit fontScale="92500"/>
          </a:bodyPr>
          <a:lstStyle/>
          <a:p>
            <a:r>
              <a:rPr lang="ru-RU" dirty="0"/>
              <a:t>Сети дата-центров:</a:t>
            </a:r>
          </a:p>
          <a:p>
            <a:pPr lvl="1"/>
            <a:r>
              <a:rPr lang="ru-RU" dirty="0"/>
              <a:t>Сотни тысяч / миллионы серверов в одном месте</a:t>
            </a:r>
          </a:p>
          <a:p>
            <a:pPr lvl="1"/>
            <a:r>
              <a:rPr lang="ru-RU" dirty="0"/>
              <a:t>Тесные ряды стоек, огромные здания</a:t>
            </a:r>
          </a:p>
          <a:p>
            <a:pPr lvl="1"/>
            <a:r>
              <a:rPr lang="ru-RU" dirty="0"/>
              <a:t>Обслуживают облачные вычисления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Большие объёмы трафика между серверами</a:t>
            </a:r>
          </a:p>
          <a:p>
            <a:pPr lvl="1"/>
            <a:r>
              <a:rPr lang="ru-RU" dirty="0"/>
              <a:t>Большая нагрузка на сеть и энергопотребление</a:t>
            </a:r>
          </a:p>
          <a:p>
            <a:pPr lvl="1"/>
            <a:r>
              <a:rPr lang="ru-RU" dirty="0"/>
              <a:t>Первоначальная древовидная архитектура приводила к проблемам масштабирования</a:t>
            </a:r>
          </a:p>
        </p:txBody>
      </p:sp>
      <p:pic>
        <p:nvPicPr>
          <p:cNvPr id="6" name="Content Placeholder 5" descr="A room with black cabinets&#10;&#10;AI-generated content may be incorrect.">
            <a:extLst>
              <a:ext uri="{FF2B5EF4-FFF2-40B4-BE49-F238E27FC236}">
                <a16:creationId xmlns:a16="http://schemas.microsoft.com/office/drawing/2014/main" id="{A6C4F301-1E7F-1BFC-C352-DAA5B26087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73" y="1825625"/>
            <a:ext cx="3912176" cy="2613333"/>
          </a:xfrm>
        </p:spPr>
      </p:pic>
    </p:spTree>
    <p:extLst>
      <p:ext uri="{BB962C8B-B14F-4D97-AF65-F5344CB8AC3E}">
        <p14:creationId xmlns:p14="http://schemas.microsoft.com/office/powerpoint/2010/main" val="4003099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EBA91F-5C52-C6AE-B367-B53E7CBD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Сети доставки контента </a:t>
            </a:r>
            <a:r>
              <a:rPr lang="en-US" dirty="0"/>
              <a:t>(CDN)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4E021-FFAB-DD1B-4F4E-78969DF5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Назначение:</a:t>
            </a:r>
          </a:p>
          <a:p>
            <a:pPr lvl="1"/>
            <a:r>
              <a:rPr lang="ru-RU" dirty="0"/>
              <a:t>Доставлять контент пользователям по всему миру</a:t>
            </a:r>
          </a:p>
          <a:p>
            <a:pPr lvl="1"/>
            <a:r>
              <a:rPr lang="ru-RU" dirty="0"/>
              <a:t>Размещать данные «ближе к пользователю»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Сеть географически распределённых серверов</a:t>
            </a:r>
          </a:p>
          <a:p>
            <a:pPr lvl="1"/>
            <a:r>
              <a:rPr lang="ru-RU" dirty="0"/>
              <a:t>Репликация контента по множеству точек</a:t>
            </a:r>
          </a:p>
          <a:p>
            <a:pPr lvl="1"/>
            <a:r>
              <a:rPr lang="ru-RU" dirty="0"/>
              <a:t>Выбор оптимальной реплики с учётом:</a:t>
            </a:r>
          </a:p>
          <a:p>
            <a:pPr lvl="2"/>
            <a:r>
              <a:rPr lang="ru-RU" dirty="0"/>
              <a:t>расстояния и задержки</a:t>
            </a:r>
          </a:p>
          <a:p>
            <a:pPr lvl="2"/>
            <a:r>
              <a:rPr lang="ru-RU" dirty="0"/>
              <a:t>загрузки серверов</a:t>
            </a:r>
          </a:p>
          <a:p>
            <a:pPr lvl="2"/>
            <a:r>
              <a:rPr lang="ru-RU" dirty="0"/>
              <a:t>состояния сети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95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4CE4-2C80-9AEC-8FB0-F5ED13F4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Транзитные (магистральные) сети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3C2D8-050D-F8E1-72DC-4014CA099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Роль транзитных сетей:</a:t>
            </a:r>
          </a:p>
          <a:p>
            <a:pPr lvl="1"/>
            <a:r>
              <a:rPr lang="ru-RU" dirty="0"/>
              <a:t>Соединяют сети доступа и сети дата-центров</a:t>
            </a:r>
          </a:p>
          <a:p>
            <a:pPr lvl="1"/>
            <a:r>
              <a:rPr lang="ru-RU" dirty="0"/>
              <a:t>Перемещают трафик между независимыми сетями</a:t>
            </a:r>
          </a:p>
          <a:p>
            <a:pPr lvl="1"/>
            <a:r>
              <a:rPr lang="ru-RU" dirty="0"/>
              <a:t>Традиционное название — </a:t>
            </a:r>
            <a:r>
              <a:rPr lang="ru-RU" dirty="0" err="1"/>
              <a:t>backbone</a:t>
            </a:r>
            <a:r>
              <a:rPr lang="ru-RU" dirty="0"/>
              <a:t> (опорные сети)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За транзит трафика взимается плата</a:t>
            </a:r>
          </a:p>
          <a:p>
            <a:pPr lvl="1"/>
            <a:r>
              <a:rPr lang="ru-RU" dirty="0"/>
              <a:t>Используются, когда нет прямых соединений между сетями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395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B5C0-7931-6AAC-D011-A74677CE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роли транзитных сетей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2BF32-2C3C-D301-29EC-4D4E88C4E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Современные тенденции:</a:t>
            </a:r>
          </a:p>
          <a:p>
            <a:pPr lvl="1"/>
            <a:r>
              <a:rPr lang="ru-RU" dirty="0"/>
              <a:t>Консолидация контента у нескольких крупных провайдеров</a:t>
            </a:r>
          </a:p>
          <a:p>
            <a:pPr lvl="1"/>
            <a:r>
              <a:rPr lang="ru-RU" dirty="0"/>
              <a:t>Расширение зон обслуживания крупных ISP</a:t>
            </a:r>
          </a:p>
          <a:p>
            <a:pPr lvl="1"/>
            <a:r>
              <a:rPr lang="ru-RU" dirty="0"/>
              <a:t>Прямые </a:t>
            </a:r>
            <a:r>
              <a:rPr lang="ru-RU" dirty="0" err="1"/>
              <a:t>взаимоподключения</a:t>
            </a:r>
            <a:r>
              <a:rPr lang="ru-RU" dirty="0"/>
              <a:t> (</a:t>
            </a:r>
            <a:r>
              <a:rPr lang="ru-RU" dirty="0" err="1"/>
              <a:t>peering</a:t>
            </a:r>
            <a:r>
              <a:rPr lang="ru-RU" dirty="0"/>
              <a:t>) между:</a:t>
            </a:r>
          </a:p>
          <a:p>
            <a:pPr lvl="2"/>
            <a:r>
              <a:rPr lang="ru-RU" dirty="0"/>
              <a:t>крупными сетями доступа</a:t>
            </a:r>
          </a:p>
          <a:p>
            <a:pPr lvl="2"/>
            <a:r>
              <a:rPr lang="ru-RU" dirty="0"/>
              <a:t>крупными поставщиками контента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Меньшая зависимость от транзитных сетей</a:t>
            </a:r>
          </a:p>
          <a:p>
            <a:pPr lvl="1"/>
            <a:r>
              <a:rPr lang="ru-RU" dirty="0"/>
              <a:t>Транзит остаётся резервным вариантом</a:t>
            </a:r>
          </a:p>
        </p:txBody>
      </p:sp>
    </p:spTree>
    <p:extLst>
      <p:ext uri="{BB962C8B-B14F-4D97-AF65-F5344CB8AC3E}">
        <p14:creationId xmlns:p14="http://schemas.microsoft.com/office/powerpoint/2010/main" val="630064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68FA-8FDF-A8AB-F71B-773132CE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Корпоративные сети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94F5-5417-2877-EAF4-23BA494AE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Назначение:</a:t>
            </a:r>
            <a:endParaRPr lang="ru-RU" dirty="0"/>
          </a:p>
          <a:p>
            <a:pPr lvl="1"/>
            <a:r>
              <a:rPr lang="ru-RU" dirty="0"/>
              <a:t>Объединить компьютеры внутри организации</a:t>
            </a:r>
          </a:p>
          <a:p>
            <a:pPr lvl="1"/>
            <a:r>
              <a:rPr lang="ru-RU" dirty="0"/>
              <a:t>Делить ресурсы и данные между сотрудниками</a:t>
            </a:r>
          </a:p>
          <a:p>
            <a:r>
              <a:rPr lang="ru-RU" b="1" dirty="0"/>
              <a:t>Возможности:</a:t>
            </a:r>
            <a:endParaRPr lang="ru-RU" dirty="0"/>
          </a:p>
          <a:p>
            <a:pPr lvl="1"/>
            <a:r>
              <a:rPr lang="ru-RU" dirty="0"/>
              <a:t>Совместное использование:</a:t>
            </a:r>
          </a:p>
          <a:p>
            <a:pPr lvl="2"/>
            <a:r>
              <a:rPr lang="ru-RU" dirty="0"/>
              <a:t>принтеров и серверов</a:t>
            </a:r>
          </a:p>
          <a:p>
            <a:pPr lvl="2"/>
            <a:r>
              <a:rPr lang="ru-RU" dirty="0"/>
              <a:t>систем резервного копирования</a:t>
            </a:r>
          </a:p>
          <a:p>
            <a:pPr lvl="1"/>
            <a:r>
              <a:rPr lang="ru-RU" dirty="0"/>
              <a:t>Общий доступ к корпоративным базам данных</a:t>
            </a:r>
          </a:p>
          <a:p>
            <a:pPr lvl="1"/>
            <a:r>
              <a:rPr lang="ru-RU" dirty="0"/>
              <a:t>Критичность сетей для работы бизнеса</a:t>
            </a:r>
          </a:p>
        </p:txBody>
      </p:sp>
    </p:spTree>
    <p:extLst>
      <p:ext uri="{BB962C8B-B14F-4D97-AF65-F5344CB8AC3E}">
        <p14:creationId xmlns:p14="http://schemas.microsoft.com/office/powerpoint/2010/main" val="988323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46C9-4C56-198E-80A6-82BD6681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Корпоративные сети: VPN и клиент–серверная модель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75155-2990-11BE-D9D8-B87BBDBB3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Особенности крупных организаций:</a:t>
            </a:r>
          </a:p>
          <a:p>
            <a:pPr lvl="1"/>
            <a:r>
              <a:rPr lang="ru-RU" dirty="0"/>
              <a:t>Офисы и фабрики в разных городах и странах</a:t>
            </a:r>
          </a:p>
          <a:p>
            <a:pPr lvl="1"/>
            <a:r>
              <a:rPr lang="ru-RU" dirty="0"/>
              <a:t>Необходимость доступа к данным «как из одного офиса»</a:t>
            </a:r>
          </a:p>
          <a:p>
            <a:r>
              <a:rPr lang="ru-RU" dirty="0"/>
              <a:t>Решения:</a:t>
            </a:r>
          </a:p>
          <a:p>
            <a:pPr lvl="1"/>
            <a:r>
              <a:rPr lang="ru-RU" dirty="0"/>
              <a:t>Виртуальные частные сети (VPN)</a:t>
            </a:r>
          </a:p>
          <a:p>
            <a:pPr lvl="1"/>
            <a:r>
              <a:rPr lang="ru-RU" dirty="0"/>
              <a:t>Модель клиент–сервер:</a:t>
            </a:r>
          </a:p>
          <a:p>
            <a:pPr lvl="2"/>
            <a:r>
              <a:rPr lang="ru-RU" dirty="0"/>
              <a:t>серверы в дата-центрах или серверных</a:t>
            </a:r>
          </a:p>
          <a:p>
            <a:pPr lvl="2"/>
            <a:r>
              <a:rPr lang="ru-RU" dirty="0"/>
              <a:t>рабочие станции сотрудников как клиенты</a:t>
            </a:r>
          </a:p>
        </p:txBody>
      </p:sp>
    </p:spTree>
    <p:extLst>
      <p:ext uri="{BB962C8B-B14F-4D97-AF65-F5344CB8AC3E}">
        <p14:creationId xmlns:p14="http://schemas.microsoft.com/office/powerpoint/2010/main" val="3673253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FCB1-8335-83B4-5919-671DC64D4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корпоративной сети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E3975-E4E0-DFD8-9534-46C61320A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Электронная почта, рассылки</a:t>
            </a:r>
          </a:p>
          <a:p>
            <a:r>
              <a:rPr lang="ru-RU" dirty="0"/>
              <a:t>IP-телефония (VoIP)</a:t>
            </a:r>
          </a:p>
          <a:p>
            <a:r>
              <a:rPr lang="ru-RU" dirty="0"/>
              <a:t>Видеоконференции, совместная работа над документами</a:t>
            </a:r>
          </a:p>
          <a:p>
            <a:r>
              <a:rPr lang="ru-RU" dirty="0"/>
              <a:t>Демонстрация рабочего стола, общие «доски»</a:t>
            </a:r>
          </a:p>
        </p:txBody>
      </p:sp>
    </p:spTree>
    <p:extLst>
      <p:ext uri="{BB962C8B-B14F-4D97-AF65-F5344CB8AC3E}">
        <p14:creationId xmlns:p14="http://schemas.microsoft.com/office/powerpoint/2010/main" val="4016029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7595-2159-AB07-608C-FB0236AA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Корпоративные сети и электронный бизнес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A7E8-0E50-3690-7A7E-89D946FF0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цели:</a:t>
            </a:r>
          </a:p>
          <a:p>
            <a:pPr lvl="1"/>
            <a:r>
              <a:rPr lang="ru-RU" dirty="0"/>
              <a:t>Онлайн-взаимодействие с клиентами и поставщиками</a:t>
            </a:r>
          </a:p>
          <a:p>
            <a:pPr lvl="1"/>
            <a:r>
              <a:rPr lang="ru-RU" dirty="0"/>
              <a:t>Электронные каталоги, заказы, цепочки поставок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Авиакомпании, интернет-магазины</a:t>
            </a:r>
          </a:p>
          <a:p>
            <a:pPr lvl="1"/>
            <a:r>
              <a:rPr lang="ru-RU" dirty="0"/>
              <a:t>Производители с большим числом поставщиков</a:t>
            </a:r>
          </a:p>
          <a:p>
            <a:pPr lvl="1"/>
            <a:r>
              <a:rPr lang="ru-RU" dirty="0"/>
              <a:t>Электронные заказы, снижение складских запасов</a:t>
            </a:r>
          </a:p>
        </p:txBody>
      </p:sp>
    </p:spTree>
    <p:extLst>
      <p:ext uri="{BB962C8B-B14F-4D97-AF65-F5344CB8AC3E}">
        <p14:creationId xmlns:p14="http://schemas.microsoft.com/office/powerpoint/2010/main" val="3621405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7F9C1B-2532-8135-3479-AA99B72C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Сетевые технологии: от локальных до глобальных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E2EEF-A59E-2E3C-E5E4-7141483BD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3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1C06E-E958-8A80-FF05-5C72B4D1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персональных до глобальных сетей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894171-9E2A-5385-CA14-D3FC785E4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PAN (</a:t>
            </a:r>
            <a:r>
              <a:rPr lang="en-US" dirty="0"/>
              <a:t>Personal Area Network) </a:t>
            </a:r>
            <a:r>
              <a:rPr lang="ru-RU" dirty="0"/>
              <a:t>— персональные сети</a:t>
            </a:r>
          </a:p>
          <a:p>
            <a:r>
              <a:rPr lang="ru-RU" dirty="0"/>
              <a:t>LAN </a:t>
            </a:r>
            <a:r>
              <a:rPr lang="en-US" dirty="0"/>
              <a:t>(Local Area Network) </a:t>
            </a:r>
            <a:r>
              <a:rPr lang="ru-RU" dirty="0"/>
              <a:t>— локальные сети</a:t>
            </a:r>
          </a:p>
          <a:p>
            <a:pPr lvl="1"/>
            <a:r>
              <a:rPr lang="ru-RU" dirty="0"/>
              <a:t>Home </a:t>
            </a:r>
            <a:r>
              <a:rPr lang="ru-RU" dirty="0" err="1"/>
              <a:t>networks</a:t>
            </a:r>
            <a:r>
              <a:rPr lang="ru-RU" dirty="0"/>
              <a:t> — домашние сети</a:t>
            </a:r>
          </a:p>
          <a:p>
            <a:r>
              <a:rPr lang="ru-RU" dirty="0"/>
              <a:t>MAN </a:t>
            </a:r>
            <a:r>
              <a:rPr lang="en-US" dirty="0"/>
              <a:t>(Metropolitan Area Network) </a:t>
            </a:r>
            <a:r>
              <a:rPr lang="ru-RU" dirty="0"/>
              <a:t>— городские сети</a:t>
            </a:r>
          </a:p>
          <a:p>
            <a:r>
              <a:rPr lang="ru-RU" dirty="0"/>
              <a:t>WAN </a:t>
            </a:r>
            <a:r>
              <a:rPr lang="en-US" dirty="0"/>
              <a:t>(Wide Area Network) </a:t>
            </a:r>
            <a:r>
              <a:rPr lang="ru-RU" dirty="0"/>
              <a:t>— глобальные сети</a:t>
            </a:r>
          </a:p>
          <a:p>
            <a:r>
              <a:rPr lang="ru-RU" dirty="0" err="1"/>
              <a:t>Internetworks</a:t>
            </a:r>
            <a:r>
              <a:rPr lang="ru-RU" dirty="0"/>
              <a:t> — объединённые сети (интерсети)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891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5DC6-757D-F75B-0F46-7C818864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Персональные сети (PAN)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B006-319C-CEC9-C250-5501B5164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724632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PAN — персональные сети:</a:t>
            </a:r>
            <a:endParaRPr lang="ru-RU" dirty="0"/>
          </a:p>
          <a:p>
            <a:pPr lvl="1"/>
            <a:r>
              <a:rPr lang="ru-RU" dirty="0"/>
              <a:t>Очень малый радиус (1–10 м)</a:t>
            </a:r>
          </a:p>
          <a:p>
            <a:pPr lvl="1"/>
            <a:r>
              <a:rPr lang="ru-RU" dirty="0"/>
              <a:t>Объединяют устройства одного человека</a:t>
            </a:r>
          </a:p>
          <a:p>
            <a:pPr lvl="1"/>
            <a:r>
              <a:rPr lang="ru-RU" dirty="0"/>
              <a:t>Примеры: смартфон, наушники, часы, гарнитура, автомобильные системы</a:t>
            </a:r>
          </a:p>
          <a:p>
            <a:r>
              <a:rPr lang="ru-RU" b="1" dirty="0"/>
              <a:t>Bluetooth как основа PAN:</a:t>
            </a:r>
            <a:endParaRPr lang="ru-RU" dirty="0"/>
          </a:p>
          <a:p>
            <a:pPr lvl="1"/>
            <a:r>
              <a:rPr lang="ru-RU" dirty="0"/>
              <a:t>Беспроводная связь без кабелей</a:t>
            </a:r>
          </a:p>
          <a:p>
            <a:pPr lvl="1"/>
            <a:r>
              <a:rPr lang="ru-RU" dirty="0" err="1"/>
              <a:t>Автообнаружение</a:t>
            </a:r>
            <a:r>
              <a:rPr lang="ru-RU" dirty="0"/>
              <a:t> и простое сопряжение</a:t>
            </a:r>
          </a:p>
          <a:p>
            <a:pPr lvl="1"/>
            <a:r>
              <a:rPr lang="ru-RU" dirty="0"/>
              <a:t>Модель работы: «</a:t>
            </a:r>
            <a:r>
              <a:rPr lang="ru-RU" dirty="0" err="1"/>
              <a:t>master</a:t>
            </a:r>
            <a:r>
              <a:rPr lang="ru-RU" dirty="0"/>
              <a:t>–</a:t>
            </a:r>
            <a:r>
              <a:rPr lang="ru-RU" dirty="0" err="1"/>
              <a:t>slave</a:t>
            </a:r>
            <a:r>
              <a:rPr lang="ru-RU" dirty="0"/>
              <a:t>»</a:t>
            </a:r>
          </a:p>
          <a:p>
            <a:pPr lvl="1"/>
            <a:r>
              <a:rPr lang="ru-RU" dirty="0"/>
              <a:t>Поддержка множества профилей (аудио, управление, передача данных)</a:t>
            </a:r>
          </a:p>
          <a:p>
            <a:r>
              <a:rPr lang="ru-RU" b="1" dirty="0"/>
              <a:t>Применение:</a:t>
            </a:r>
            <a:endParaRPr lang="ru-RU" dirty="0"/>
          </a:p>
          <a:p>
            <a:pPr lvl="1"/>
            <a:r>
              <a:rPr lang="ru-RU" dirty="0"/>
              <a:t>Подключение периферии к ПК/смартфону</a:t>
            </a:r>
          </a:p>
          <a:p>
            <a:pPr lvl="1"/>
            <a:r>
              <a:rPr lang="ru-RU" dirty="0"/>
              <a:t>Умные часы и фитнес-трекеры</a:t>
            </a:r>
          </a:p>
          <a:p>
            <a:pPr lvl="1"/>
            <a:r>
              <a:rPr lang="ru-RU" dirty="0"/>
              <a:t>Связь телефона с автомобилем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3E47EB-A9E7-0089-27DE-DF0265A4F9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62832" y="1825626"/>
            <a:ext cx="3762797" cy="319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42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90BEE-080E-825D-237E-C22695CE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Локальные сети (LAN): назначение и основные свойства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7729-0BAD-24ED-4D8C-BE8F2A77B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22720" cy="4351338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LAN — это:</a:t>
            </a:r>
            <a:endParaRPr lang="ru-RU" dirty="0"/>
          </a:p>
          <a:p>
            <a:pPr lvl="1"/>
            <a:r>
              <a:rPr lang="ru-RU" dirty="0"/>
              <a:t>Частные сети внутри здания или кампуса</a:t>
            </a:r>
          </a:p>
          <a:p>
            <a:pPr lvl="1"/>
            <a:r>
              <a:rPr lang="ru-RU" dirty="0"/>
              <a:t>Соединяют компьютеры и устройства одной организации/дома</a:t>
            </a:r>
          </a:p>
          <a:p>
            <a:pPr lvl="1"/>
            <a:r>
              <a:rPr lang="ru-RU" dirty="0"/>
              <a:t>Позволяют совместно использовать ресурсы (принтеры, файлы, интернет)</a:t>
            </a:r>
          </a:p>
          <a:p>
            <a:r>
              <a:rPr lang="ru-RU" b="1" dirty="0"/>
              <a:t>Характеристики LAN:</a:t>
            </a:r>
            <a:endParaRPr lang="ru-RU" dirty="0"/>
          </a:p>
          <a:p>
            <a:pPr lvl="1"/>
            <a:r>
              <a:rPr lang="ru-RU" dirty="0"/>
              <a:t>Небольшая география → низкие задержки</a:t>
            </a:r>
          </a:p>
          <a:p>
            <a:pPr lvl="1"/>
            <a:r>
              <a:rPr lang="ru-RU" dirty="0"/>
              <a:t>Высокая пропускная способность</a:t>
            </a:r>
          </a:p>
          <a:p>
            <a:pPr lvl="1"/>
            <a:r>
              <a:rPr lang="ru-RU" dirty="0"/>
              <a:t>Высокая надёжность и низкий уровень ошибок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EDA9D5-113F-49DF-6C30-F460EFD93F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714224" y="1825625"/>
            <a:ext cx="3485371" cy="311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0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7ACEED-26C5-F503-06A9-9BB1D796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Беспроводные LAN (</a:t>
            </a:r>
            <a:r>
              <a:rPr lang="ru-RU" dirty="0" err="1"/>
              <a:t>Wi</a:t>
            </a:r>
            <a:r>
              <a:rPr lang="ru-RU" dirty="0"/>
              <a:t>-Fi) и ячеистые сети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78F70-EA95-5F66-F694-F2BD15B94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Wi</a:t>
            </a:r>
            <a:r>
              <a:rPr lang="ru-RU" b="1" dirty="0"/>
              <a:t>-Fi (IEEE 802.11):</a:t>
            </a:r>
            <a:endParaRPr lang="ru-RU" dirty="0"/>
          </a:p>
          <a:p>
            <a:pPr lvl="1"/>
            <a:r>
              <a:rPr lang="ru-RU" dirty="0"/>
              <a:t>Основная технология беспроводных LAN</a:t>
            </a:r>
          </a:p>
          <a:p>
            <a:pPr lvl="1"/>
            <a:r>
              <a:rPr lang="ru-RU" dirty="0"/>
              <a:t>Скорости: от 11 Мбит/с (802.11b) до нескольких Гбит/с (802.11ad/</a:t>
            </a:r>
            <a:r>
              <a:rPr lang="ru-RU" dirty="0" err="1"/>
              <a:t>ac</a:t>
            </a:r>
            <a:r>
              <a:rPr lang="ru-RU" dirty="0"/>
              <a:t>/</a:t>
            </a:r>
            <a:r>
              <a:rPr lang="ru-RU" dirty="0" err="1"/>
              <a:t>ax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Архитектура:</a:t>
            </a:r>
          </a:p>
          <a:p>
            <a:pPr lvl="2"/>
            <a:r>
              <a:rPr lang="ru-RU" dirty="0"/>
              <a:t>Клиенты ↔ точка доступа (AP)</a:t>
            </a:r>
          </a:p>
          <a:p>
            <a:pPr lvl="2"/>
            <a:r>
              <a:rPr lang="ru-RU" dirty="0"/>
              <a:t>Или </a:t>
            </a:r>
            <a:r>
              <a:rPr lang="ru-RU" dirty="0" err="1"/>
              <a:t>mesh</a:t>
            </a:r>
            <a:r>
              <a:rPr lang="ru-RU" dirty="0"/>
              <a:t>-конфигурация (узлы передают трафик друг другу)</a:t>
            </a:r>
          </a:p>
          <a:p>
            <a:r>
              <a:rPr lang="ru-RU" b="1" dirty="0"/>
              <a:t>Плюсы беспроводных LAN:</a:t>
            </a:r>
            <a:endParaRPr lang="ru-RU" dirty="0"/>
          </a:p>
          <a:p>
            <a:pPr lvl="1"/>
            <a:r>
              <a:rPr lang="ru-RU" dirty="0"/>
              <a:t>Простота установки, отсутствие кабелей</a:t>
            </a:r>
          </a:p>
          <a:p>
            <a:pPr lvl="1"/>
            <a:r>
              <a:rPr lang="ru-RU" dirty="0"/>
              <a:t>Удобство мобильности устройств</a:t>
            </a:r>
          </a:p>
          <a:p>
            <a:pPr lvl="1"/>
            <a:r>
              <a:rPr lang="ru-RU" dirty="0"/>
              <a:t>Применяются в домах, офисах, общественных местах</a:t>
            </a:r>
          </a:p>
        </p:txBody>
      </p:sp>
    </p:spTree>
    <p:extLst>
      <p:ext uri="{BB962C8B-B14F-4D97-AF65-F5344CB8AC3E}">
        <p14:creationId xmlns:p14="http://schemas.microsoft.com/office/powerpoint/2010/main" val="10929951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9B36F5-A159-8A79-9A8E-3FBFDE4B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Проводные LAN: Ethernet, коммутаторы и VLAN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A406D-3DFF-2613-3136-C6C526824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Ethernet (IEEE 802.3):</a:t>
            </a:r>
            <a:endParaRPr lang="ru-RU" dirty="0"/>
          </a:p>
          <a:p>
            <a:pPr lvl="1"/>
            <a:r>
              <a:rPr lang="ru-RU" dirty="0"/>
              <a:t>Основной стандарт проводных LAN</a:t>
            </a:r>
          </a:p>
          <a:p>
            <a:pPr lvl="1"/>
            <a:r>
              <a:rPr lang="ru-RU" dirty="0"/>
              <a:t>Точка-точка соединения через коммутатор</a:t>
            </a:r>
          </a:p>
          <a:p>
            <a:pPr lvl="1"/>
            <a:r>
              <a:rPr lang="ru-RU" dirty="0"/>
              <a:t>Скорости: 100 Мбит/с → 1/10/40 Гбит/с и выше</a:t>
            </a:r>
          </a:p>
          <a:p>
            <a:r>
              <a:rPr lang="ru-RU" b="1" dirty="0"/>
              <a:t>Коммутируемая сеть:</a:t>
            </a:r>
            <a:endParaRPr lang="ru-RU" dirty="0"/>
          </a:p>
          <a:p>
            <a:pPr lvl="1"/>
            <a:r>
              <a:rPr lang="ru-RU" dirty="0"/>
              <a:t>Коммутатор пересылает пакеты по MAC-адресам</a:t>
            </a:r>
          </a:p>
          <a:p>
            <a:pPr lvl="1"/>
            <a:r>
              <a:rPr lang="ru-RU" dirty="0"/>
              <a:t>Лёгкое масштабирование «звёздной» архитектуры</a:t>
            </a:r>
          </a:p>
          <a:p>
            <a:pPr lvl="1"/>
            <a:r>
              <a:rPr lang="ru-RU" dirty="0"/>
              <a:t>Алгоритмы против зацикливания (</a:t>
            </a:r>
            <a:r>
              <a:rPr lang="ru-RU" dirty="0" err="1"/>
              <a:t>Spanning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)</a:t>
            </a:r>
          </a:p>
          <a:p>
            <a:r>
              <a:rPr lang="ru-RU" b="1" dirty="0"/>
              <a:t>VLAN:</a:t>
            </a:r>
            <a:endParaRPr lang="ru-RU" dirty="0"/>
          </a:p>
          <a:p>
            <a:pPr lvl="1"/>
            <a:r>
              <a:rPr lang="ru-RU" dirty="0"/>
              <a:t>Деление физической LAN на логические подсети</a:t>
            </a:r>
          </a:p>
          <a:p>
            <a:pPr lvl="1"/>
            <a:r>
              <a:rPr lang="ru-RU" dirty="0"/>
              <a:t>Упрощение администрирования и повышение безопасности</a:t>
            </a:r>
          </a:p>
          <a:p>
            <a:pPr lvl="1"/>
            <a:r>
              <a:rPr lang="ru-RU" dirty="0"/>
              <a:t>Изоляция групп устройств (отделы, сервисы)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256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DAD90A-B7A5-D557-4C52-906E30EC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MAN (Metropolitan Area Network)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352E6-82EB-4C23-FC6D-FA1B8C6D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1985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MAN (Metropolitan Area Network):</a:t>
            </a:r>
            <a:endParaRPr lang="ru-RU" dirty="0"/>
          </a:p>
          <a:p>
            <a:pPr lvl="1"/>
            <a:r>
              <a:rPr lang="ru-RU" dirty="0"/>
              <a:t>Охватывают территорию города или крупного населённого пункта</a:t>
            </a:r>
          </a:p>
          <a:p>
            <a:pPr lvl="1"/>
            <a:r>
              <a:rPr lang="ru-RU" dirty="0"/>
              <a:t>Исторически выросли из сетей кабельного телевидения</a:t>
            </a:r>
          </a:p>
          <a:p>
            <a:pPr lvl="1"/>
            <a:r>
              <a:rPr lang="ru-RU" dirty="0"/>
              <a:t>Используют комбинированные технологии:</a:t>
            </a:r>
          </a:p>
          <a:p>
            <a:pPr lvl="2"/>
            <a:r>
              <a:rPr lang="ru-RU" dirty="0"/>
              <a:t>коаксиал + оптоволокно (HFC)</a:t>
            </a:r>
          </a:p>
          <a:p>
            <a:pPr lvl="1"/>
            <a:r>
              <a:rPr lang="ru-RU" dirty="0"/>
              <a:t>беспроводные стандарты (WiMAX, LTE/5G)</a:t>
            </a:r>
          </a:p>
          <a:p>
            <a:r>
              <a:rPr lang="ru-RU" b="1" dirty="0"/>
              <a:t>Особенности MAN:</a:t>
            </a:r>
            <a:endParaRPr lang="ru-RU" dirty="0"/>
          </a:p>
          <a:p>
            <a:pPr lvl="1"/>
            <a:r>
              <a:rPr lang="ru-RU" dirty="0"/>
              <a:t>Централизованная «головная станция» распределяет сигналы и интернет</a:t>
            </a:r>
          </a:p>
          <a:p>
            <a:pPr lvl="1"/>
            <a:r>
              <a:rPr lang="ru-RU" dirty="0"/>
              <a:t>Поддерживают массовый широкополосный доступ для жителей города</a:t>
            </a:r>
          </a:p>
          <a:p>
            <a:pPr lvl="1"/>
            <a:r>
              <a:rPr lang="ru-RU" dirty="0"/>
              <a:t>Промежуточное звено между домашними/корпоративными LAN и глобальными сетями (WAN)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F457319-206F-1168-EFB3-522507DC44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43800" y="1820651"/>
            <a:ext cx="4402885" cy="245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75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02DEBE-1CD6-A116-5A42-53E3E668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Глобальные сети </a:t>
            </a:r>
            <a:r>
              <a:rPr lang="en-US" dirty="0"/>
              <a:t>(WAN)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62949-307A-1F24-91B9-3309038CE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WAN (Wide Area Network):</a:t>
            </a:r>
          </a:p>
          <a:p>
            <a:pPr lvl="1"/>
            <a:r>
              <a:rPr lang="ru-RU" dirty="0"/>
              <a:t>Охватывают большие географические территории — регионы, страны, континенты</a:t>
            </a:r>
          </a:p>
          <a:p>
            <a:pPr lvl="1"/>
            <a:r>
              <a:rPr lang="ru-RU" dirty="0"/>
              <a:t>Используются для связи филиалов компаний или как инфраструктура операторов связи</a:t>
            </a:r>
          </a:p>
          <a:p>
            <a:pPr lvl="1"/>
            <a:r>
              <a:rPr lang="ru-RU" dirty="0"/>
              <a:t>Основные элементы:</a:t>
            </a:r>
          </a:p>
          <a:p>
            <a:pPr lvl="2"/>
            <a:r>
              <a:rPr lang="ru-RU" dirty="0"/>
              <a:t>линии передачи (оптоволокно, радиоканалы, спутники)</a:t>
            </a:r>
          </a:p>
          <a:p>
            <a:pPr lvl="2"/>
            <a:r>
              <a:rPr lang="ru-RU" dirty="0"/>
              <a:t>маршрутизаторы и коммутаторы</a:t>
            </a:r>
          </a:p>
          <a:p>
            <a:pPr lvl="1"/>
            <a:r>
              <a:rPr lang="ru-RU" dirty="0"/>
              <a:t>Маршруты выбираются по алгоритмам маршрутизации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WAN соединяют не отдельные компьютеры, а целые локальные сети</a:t>
            </a:r>
          </a:p>
          <a:p>
            <a:pPr lvl="1"/>
            <a:r>
              <a:rPr lang="ru-RU" dirty="0"/>
              <a:t>Часто объединяют разные технологии передачи (Ethernet, оптика, радиоканалы)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37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AC5B-04EC-E503-97CA-A81C741F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VPN и SD-WAN: виртуализация WAN-соединений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81495-B993-E044-46ED-D9E16416F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VPN (Virtual Private Network):</a:t>
            </a:r>
          </a:p>
          <a:p>
            <a:pPr lvl="1"/>
            <a:r>
              <a:rPr lang="ru-RU" dirty="0"/>
              <a:t>Соединяет удалённые офисы через интернет</a:t>
            </a:r>
          </a:p>
          <a:p>
            <a:pPr lvl="1"/>
            <a:r>
              <a:rPr lang="ru-RU" dirty="0"/>
              <a:t>Использует шифрование и туннелирование для создания «виртуальной» частной сети</a:t>
            </a:r>
          </a:p>
          <a:p>
            <a:pPr lvl="1"/>
            <a:r>
              <a:rPr lang="ru-RU" dirty="0"/>
              <a:t>Дешевле выделенных линий, но зависит от качества интернет-соединения</a:t>
            </a:r>
          </a:p>
          <a:p>
            <a:r>
              <a:rPr lang="ru-RU" dirty="0"/>
              <a:t>SD-WAN (Software-</a:t>
            </a:r>
            <a:r>
              <a:rPr lang="ru-RU" dirty="0" err="1"/>
              <a:t>Defined</a:t>
            </a:r>
            <a:r>
              <a:rPr lang="ru-RU" dirty="0"/>
              <a:t> WAN):</a:t>
            </a:r>
          </a:p>
          <a:p>
            <a:pPr lvl="1"/>
            <a:r>
              <a:rPr lang="ru-RU" dirty="0" err="1"/>
              <a:t>Программно</a:t>
            </a:r>
            <a:r>
              <a:rPr lang="ru-RU" dirty="0"/>
              <a:t> управляемая WAN</a:t>
            </a:r>
          </a:p>
          <a:p>
            <a:pPr lvl="1"/>
            <a:r>
              <a:rPr lang="ru-RU" dirty="0"/>
              <a:t>Комбинирует разные каналы (выделенные линии, интернет, LTE/5G)</a:t>
            </a:r>
          </a:p>
          <a:p>
            <a:pPr lvl="1"/>
            <a:r>
              <a:rPr lang="ru-RU" dirty="0"/>
              <a:t>Автоматически выбирает лучший маршрут по стоимости, задержке и нагрузке</a:t>
            </a:r>
          </a:p>
          <a:p>
            <a:pPr lvl="1"/>
            <a:r>
              <a:rPr lang="ru-RU" dirty="0"/>
              <a:t>Обеспечивает соблюдение SLA и гибкую конфигурацию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74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DC4C-D991-2578-60D8-6AB1F669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Объединённые сети (</a:t>
            </a:r>
            <a:r>
              <a:rPr lang="ru-RU" dirty="0" err="1"/>
              <a:t>Internetworks</a:t>
            </a:r>
            <a:r>
              <a:rPr lang="ru-RU" dirty="0"/>
              <a:t>) и роль маршрутизаторов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F2441-866C-4442-02A3-45C6BEC6F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Internetwork</a:t>
            </a:r>
            <a:r>
              <a:rPr lang="ru-RU" dirty="0"/>
              <a:t> (объединённая сеть):</a:t>
            </a:r>
          </a:p>
          <a:p>
            <a:pPr lvl="1"/>
            <a:r>
              <a:rPr lang="ru-RU" dirty="0"/>
              <a:t>Совокупность разнородных сетей, связанных друг с другом</a:t>
            </a:r>
          </a:p>
          <a:p>
            <a:pPr lvl="1"/>
            <a:r>
              <a:rPr lang="ru-RU" dirty="0"/>
              <a:t>Интернет — крупнейший пример интерсети</a:t>
            </a:r>
          </a:p>
          <a:p>
            <a:r>
              <a:rPr lang="ru-RU" dirty="0"/>
              <a:t>Задача объединённых сетей:</a:t>
            </a:r>
          </a:p>
          <a:p>
            <a:pPr lvl="1"/>
            <a:r>
              <a:rPr lang="ru-RU" dirty="0"/>
              <a:t>Соединить сети с различными технологиями, форматами кадров и средами передачи</a:t>
            </a:r>
          </a:p>
          <a:p>
            <a:pPr lvl="1"/>
            <a:r>
              <a:rPr lang="ru-RU" dirty="0"/>
              <a:t>Обеспечить единый механизм доставки пакетов</a:t>
            </a:r>
          </a:p>
          <a:p>
            <a:r>
              <a:rPr lang="ru-RU" dirty="0"/>
              <a:t>Ключевое устройство: маршрутизатор</a:t>
            </a:r>
          </a:p>
          <a:p>
            <a:pPr lvl="1"/>
            <a:r>
              <a:rPr lang="ru-RU" dirty="0"/>
              <a:t>Работает на сетевом уровне</a:t>
            </a:r>
          </a:p>
          <a:p>
            <a:pPr lvl="1"/>
            <a:r>
              <a:rPr lang="ru-RU" dirty="0"/>
              <a:t>Выполняет преобразование форматов, выбор маршрутов, пересылку пакетов</a:t>
            </a:r>
          </a:p>
          <a:p>
            <a:pPr lvl="1"/>
            <a:r>
              <a:rPr lang="ru-RU" dirty="0"/>
              <a:t>Обеспечивает взаимодействие между сетями разных типов (LAN ↔ WAN, проводные ↔ беспроводные)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687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A78459-3661-BF64-99E8-E44EB1D6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сетей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C0EFC-9321-B50F-5060-C61296E2C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80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D745-DB0A-854A-3C37-EBC9C65A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Интернет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54595-A501-1AD2-1034-A9E946A23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290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17334E-A06B-4A9C-1BDC-91D21FBC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Интернет как интерсеть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66BBB4-EBEA-304E-9A0F-478F111A6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Интернет — это:</a:t>
            </a:r>
          </a:p>
          <a:p>
            <a:pPr lvl="1"/>
            <a:r>
              <a:rPr lang="ru-RU" dirty="0"/>
              <a:t>Система взаимосвязанных сетей</a:t>
            </a:r>
          </a:p>
          <a:p>
            <a:pPr lvl="1"/>
            <a:r>
              <a:rPr lang="ru-RU" dirty="0"/>
              <a:t>Общие протоколы (TCP/IP)</a:t>
            </a:r>
          </a:p>
          <a:p>
            <a:pPr lvl="1"/>
            <a:r>
              <a:rPr lang="ru-RU" dirty="0"/>
              <a:t>Общие сервисы (Web, </a:t>
            </a:r>
            <a:r>
              <a:rPr lang="ru-RU" dirty="0" err="1"/>
              <a:t>email</a:t>
            </a:r>
            <a:r>
              <a:rPr lang="ru-RU" dirty="0"/>
              <a:t>, DNS и др.)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Не принадлежит одной организации</a:t>
            </a:r>
          </a:p>
          <a:p>
            <a:pPr lvl="1"/>
            <a:r>
              <a:rPr lang="ru-RU" dirty="0"/>
              <a:t>Развивался эволюционно, а не «по плану сверху»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99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94E7-6733-EF9F-384E-F68CD5AD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Холодная война, уязвимая телефония и появление ARPA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5AF93-D7A7-7E9F-EED6-9D75662C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Контекст 1950–1960-х:</a:t>
            </a:r>
            <a:endParaRPr lang="ru-RU" dirty="0"/>
          </a:p>
          <a:p>
            <a:pPr lvl="1"/>
            <a:r>
              <a:rPr lang="ru-RU" dirty="0"/>
              <a:t>Холодная война, риск ядерного удара</a:t>
            </a:r>
          </a:p>
          <a:p>
            <a:pPr lvl="1"/>
            <a:r>
              <a:rPr lang="ru-RU" dirty="0"/>
              <a:t>Военные связи завязаны на обычную телефонную сеть</a:t>
            </a:r>
          </a:p>
          <a:p>
            <a:pPr lvl="1"/>
            <a:r>
              <a:rPr lang="ru-RU" dirty="0"/>
              <a:t>Иерархия АТС с малой избыточностью → несколько ударов по узлам = сеть «рассыпается»</a:t>
            </a:r>
          </a:p>
          <a:p>
            <a:r>
              <a:rPr lang="ru-RU" b="1" dirty="0"/>
              <a:t>Ответ США:</a:t>
            </a:r>
            <a:endParaRPr lang="ru-RU" dirty="0"/>
          </a:p>
          <a:p>
            <a:pPr lvl="1"/>
            <a:r>
              <a:rPr lang="ru-RU" dirty="0"/>
              <a:t>Создание ARPA (Advanced Research </a:t>
            </a:r>
            <a:r>
              <a:rPr lang="ru-RU" dirty="0" err="1"/>
              <a:t>Projects</a:t>
            </a:r>
            <a:r>
              <a:rPr lang="ru-RU" dirty="0"/>
              <a:t> Agency)</a:t>
            </a:r>
          </a:p>
          <a:p>
            <a:pPr lvl="1"/>
            <a:r>
              <a:rPr lang="ru-RU" dirty="0"/>
              <a:t>Финансирование перспективных исследований, в том числе по сетям</a:t>
            </a:r>
          </a:p>
          <a:p>
            <a:pPr lvl="1"/>
            <a:r>
              <a:rPr lang="ru-RU" dirty="0"/>
              <a:t>Идеи Пола </a:t>
            </a:r>
            <a:r>
              <a:rPr lang="ru-RU" dirty="0" err="1"/>
              <a:t>Бэрана</a:t>
            </a:r>
            <a:r>
              <a:rPr lang="ru-RU" dirty="0"/>
              <a:t>:</a:t>
            </a:r>
          </a:p>
          <a:p>
            <a:pPr lvl="2"/>
            <a:r>
              <a:rPr lang="ru-RU" dirty="0"/>
              <a:t>распределённая сеть без «узких мест»</a:t>
            </a:r>
          </a:p>
          <a:p>
            <a:pPr lvl="2"/>
            <a:r>
              <a:rPr lang="ru-RU" dirty="0"/>
              <a:t>переход к цифровой пакетной передаче данных (коммутация пакетов)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8747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9C7C-29EE-4BE9-F201-113E67E3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ARPANET — первая сеть с коммутацией пакетов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F840D-E720-38FB-026D-469B15C3F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Ключевые решения ARPANET:</a:t>
            </a:r>
            <a:endParaRPr lang="ru-RU" dirty="0"/>
          </a:p>
          <a:p>
            <a:pPr lvl="1"/>
            <a:r>
              <a:rPr lang="ru-RU" dirty="0"/>
              <a:t>Отделение хостов от подсети передачи</a:t>
            </a:r>
          </a:p>
          <a:p>
            <a:pPr lvl="1"/>
            <a:r>
              <a:rPr lang="ru-RU" dirty="0"/>
              <a:t>Подсеть из мини-компьютеров </a:t>
            </a:r>
            <a:r>
              <a:rPr lang="ru-RU" b="1" dirty="0"/>
              <a:t>IMP</a:t>
            </a:r>
            <a:r>
              <a:rPr lang="ru-RU" dirty="0"/>
              <a:t> (Interface Message Processor)</a:t>
            </a:r>
          </a:p>
          <a:p>
            <a:pPr lvl="1"/>
            <a:r>
              <a:rPr lang="ru-RU" dirty="0"/>
              <a:t>Линии связи: 56 Кбит/с (на тот момент очень быстро)</a:t>
            </a:r>
          </a:p>
          <a:p>
            <a:pPr lvl="1"/>
            <a:r>
              <a:rPr lang="ru-RU" dirty="0"/>
              <a:t>Каждому хосту соответствует свой IMP</a:t>
            </a:r>
          </a:p>
          <a:p>
            <a:r>
              <a:rPr lang="ru-RU" b="1" dirty="0"/>
              <a:t>Как это работало:</a:t>
            </a:r>
            <a:endParaRPr lang="ru-RU" dirty="0"/>
          </a:p>
          <a:p>
            <a:pPr lvl="1"/>
            <a:r>
              <a:rPr lang="ru-RU" dirty="0"/>
              <a:t>Хост отправляет сообщение IMP → IMP делит его на пакеты</a:t>
            </a:r>
          </a:p>
          <a:p>
            <a:pPr lvl="1"/>
            <a:r>
              <a:rPr lang="ru-RU" dirty="0"/>
              <a:t>Пакеты идут по сети по принципу </a:t>
            </a:r>
            <a:r>
              <a:rPr lang="ru-RU" dirty="0" err="1"/>
              <a:t>store-and-forward</a:t>
            </a:r>
            <a:endParaRPr lang="ru-RU" dirty="0"/>
          </a:p>
          <a:p>
            <a:pPr lvl="1"/>
            <a:r>
              <a:rPr lang="ru-RU" dirty="0"/>
              <a:t>IMP связаны избыточно, есть несколько путей доставки</a:t>
            </a:r>
          </a:p>
          <a:p>
            <a:pPr lvl="1"/>
            <a:r>
              <a:rPr lang="ru-RU" dirty="0"/>
              <a:t>Первая сеть (1969): 4 узла (UCLA, SRI, UCSB, </a:t>
            </a:r>
            <a:r>
              <a:rPr lang="ru-RU" dirty="0" err="1"/>
              <a:t>Univ</a:t>
            </a:r>
            <a:r>
              <a:rPr lang="ru-RU" dirty="0"/>
              <a:t>.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Utah</a:t>
            </a:r>
            <a:r>
              <a:rPr lang="ru-RU" dirty="0"/>
              <a:t>) → быстрый рост по США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2592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DD274-E862-5D3D-BE3C-ACFBED642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83" y="56679"/>
            <a:ext cx="8297433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999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C11D-0B43-5327-4F89-3DE92C09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 ARPANET к TCP/IP и NSFNET: рождение интернета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1C9B-3670-5BE6-7A2D-00875B829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/>
              <a:t>Новые вызовы:</a:t>
            </a:r>
            <a:endParaRPr lang="ru-RU" dirty="0"/>
          </a:p>
          <a:p>
            <a:pPr lvl="1"/>
            <a:r>
              <a:rPr lang="ru-RU" dirty="0"/>
              <a:t>Появляются другие сети: спутниковые, радиосети пакетной связи</a:t>
            </a:r>
          </a:p>
          <a:p>
            <a:pPr lvl="1"/>
            <a:r>
              <a:rPr lang="ru-RU" dirty="0"/>
              <a:t>Нужно увязать </a:t>
            </a:r>
            <a:r>
              <a:rPr lang="ru-RU" b="1" dirty="0"/>
              <a:t>разные</a:t>
            </a:r>
            <a:r>
              <a:rPr lang="ru-RU" dirty="0"/>
              <a:t> сети, а не только ARPANET</a:t>
            </a:r>
          </a:p>
          <a:p>
            <a:r>
              <a:rPr lang="ru-RU" b="1" dirty="0"/>
              <a:t>TCP/IP:</a:t>
            </a:r>
            <a:endParaRPr lang="ru-RU" dirty="0"/>
          </a:p>
          <a:p>
            <a:pPr lvl="1"/>
            <a:r>
              <a:rPr lang="ru-RU" dirty="0"/>
              <a:t>Стек протоколов для </a:t>
            </a:r>
            <a:r>
              <a:rPr lang="ru-RU" b="1" dirty="0"/>
              <a:t>интерсетей</a:t>
            </a:r>
            <a:endParaRPr lang="ru-RU" dirty="0"/>
          </a:p>
          <a:p>
            <a:pPr lvl="1"/>
            <a:r>
              <a:rPr lang="ru-RU" dirty="0"/>
              <a:t>Не зависит от конкретной физической сети</a:t>
            </a:r>
          </a:p>
          <a:p>
            <a:pPr lvl="1"/>
            <a:r>
              <a:rPr lang="ru-RU" dirty="0"/>
              <a:t>Реализован на многих платформах, включён в </a:t>
            </a:r>
            <a:r>
              <a:rPr lang="ru-RU" dirty="0" err="1"/>
              <a:t>Berkeley</a:t>
            </a:r>
            <a:r>
              <a:rPr lang="ru-RU" dirty="0"/>
              <a:t> Unix (4.2BSD)</a:t>
            </a:r>
          </a:p>
          <a:p>
            <a:pPr lvl="1"/>
            <a:r>
              <a:rPr lang="ru-RU" dirty="0"/>
              <a:t>Интерфейс сокетов упростил разработку сетевых приложений</a:t>
            </a:r>
          </a:p>
          <a:p>
            <a:r>
              <a:rPr lang="ru-RU" b="1" dirty="0"/>
              <a:t>NSFNET:</a:t>
            </a:r>
            <a:endParaRPr lang="ru-RU" dirty="0"/>
          </a:p>
          <a:p>
            <a:pPr lvl="1"/>
            <a:r>
              <a:rPr lang="ru-RU" dirty="0"/>
              <a:t>Национальный научный фонд (NSF) строит </a:t>
            </a:r>
            <a:r>
              <a:rPr lang="ru-RU" b="1" dirty="0"/>
              <a:t>NSFNET</a:t>
            </a:r>
            <a:r>
              <a:rPr lang="ru-RU" dirty="0"/>
              <a:t> — научную сеть на базе TCP/IP</a:t>
            </a:r>
          </a:p>
          <a:p>
            <a:pPr lvl="1"/>
            <a:r>
              <a:rPr lang="ru-RU" dirty="0"/>
              <a:t>Опорная сеть + региональные сети → доступ тысяч университетов и лабораторий</a:t>
            </a:r>
          </a:p>
          <a:p>
            <a:pPr lvl="1"/>
            <a:r>
              <a:rPr lang="ru-RU" dirty="0"/>
              <a:t>Позже: NAP (Network Access </a:t>
            </a:r>
            <a:r>
              <a:rPr lang="ru-RU" dirty="0" err="1"/>
              <a:t>Points</a:t>
            </a:r>
            <a:r>
              <a:rPr lang="ru-RU" dirty="0"/>
              <a:t>), подключение коммерческих операторов, переход к рыночной инфраструктуре интернета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8999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E1F7-1F73-5EA6-D62D-9EDF637E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Эволюция интернета: от почты к мультимедиа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4430C-B9FB-2687-7EDC-77AEFDE79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Ранние годы (до 1990-х):</a:t>
            </a:r>
            <a:endParaRPr lang="ru-RU" dirty="0"/>
          </a:p>
          <a:p>
            <a:pPr lvl="1"/>
            <a:r>
              <a:rPr lang="ru-RU" dirty="0" err="1"/>
              <a:t>Email</a:t>
            </a:r>
            <a:r>
              <a:rPr lang="ru-RU" dirty="0"/>
              <a:t> для научных учреждений</a:t>
            </a:r>
          </a:p>
          <a:p>
            <a:pPr lvl="1"/>
            <a:r>
              <a:rPr lang="ru-RU" dirty="0"/>
              <a:t>Новостные группы (</a:t>
            </a:r>
            <a:r>
              <a:rPr lang="ru-RU" dirty="0" err="1"/>
              <a:t>Usenet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Удалённый доступ (</a:t>
            </a:r>
            <a:r>
              <a:rPr lang="ru-RU" dirty="0" err="1"/>
              <a:t>Telnet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Передача файлов (FTP)</a:t>
            </a:r>
          </a:p>
          <a:p>
            <a:r>
              <a:rPr lang="ru-RU" b="1" dirty="0"/>
              <a:t>Поворотный момент — WWW:</a:t>
            </a:r>
            <a:endParaRPr lang="ru-RU" dirty="0"/>
          </a:p>
          <a:p>
            <a:pPr lvl="1"/>
            <a:r>
              <a:rPr lang="ru-RU" dirty="0"/>
              <a:t>Начало 1990-х: веб-браузеры, гипертекст, массовое использование</a:t>
            </a:r>
          </a:p>
          <a:p>
            <a:pPr lvl="1"/>
            <a:r>
              <a:rPr lang="ru-RU" dirty="0"/>
              <a:t>Появление интернет-магазинов и динамических сайтов</a:t>
            </a:r>
          </a:p>
          <a:p>
            <a:r>
              <a:rPr lang="ru-RU" b="1" dirty="0"/>
              <a:t>Сегодня:</a:t>
            </a:r>
            <a:endParaRPr lang="ru-RU" dirty="0"/>
          </a:p>
          <a:p>
            <a:pPr lvl="1"/>
            <a:r>
              <a:rPr lang="ru-RU" dirty="0"/>
              <a:t>Потоковое видео (</a:t>
            </a:r>
            <a:r>
              <a:rPr lang="ru-RU" dirty="0" err="1"/>
              <a:t>Netflix</a:t>
            </a:r>
            <a:r>
              <a:rPr lang="ru-RU" dirty="0"/>
              <a:t>, YouTube) — доминирующий тип трафика</a:t>
            </a:r>
          </a:p>
          <a:p>
            <a:pPr lvl="1"/>
            <a:r>
              <a:rPr lang="ru-RU" dirty="0"/>
              <a:t>Социальные сети и мессенджеры</a:t>
            </a:r>
          </a:p>
          <a:p>
            <a:pPr lvl="1"/>
            <a:r>
              <a:rPr lang="ru-RU" dirty="0"/>
              <a:t>Мультимедиа в реальном времени (стримы, видеоконференции)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350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8C12D2-CC0D-7948-01CC-AB829BD4A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5" y="190048"/>
            <a:ext cx="11422069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02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6C520D-5341-AB63-D86D-09187D5C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архитектуры интернета: от строгой иерархии к «плоской» структуре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A6C7ECE-71AE-B97E-A5CF-FA6613E4DA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888864"/>
            <a:ext cx="5181600" cy="422485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6B15592-0350-FF6C-901B-0B0DC1B09A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110295"/>
            <a:ext cx="5181600" cy="378199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751C75A-0CAC-B265-1C2E-87E9A340BFBA}"/>
              </a:ext>
            </a:extLst>
          </p:cNvPr>
          <p:cNvSpPr/>
          <p:nvPr/>
        </p:nvSpPr>
        <p:spPr>
          <a:xfrm>
            <a:off x="5509260" y="3063240"/>
            <a:ext cx="1074420" cy="1097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74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38BDF-4AFF-C28E-2CBF-0C69C283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Мобильные сети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BBFA3-A4AB-9D17-E6AD-3D556B481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90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586C6A-E963-5C41-5140-AD49E5DD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мобильных сетей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69EBC4-5704-A29C-3C33-0D2D3E086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7543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5 млрд мобильных абонентов, половина мирового интернет-трафика — мобильный</a:t>
            </a:r>
          </a:p>
          <a:p>
            <a:r>
              <a:rPr lang="ru-RU" dirty="0"/>
              <a:t>Архитектура мобильной сети сильно отличается от интернета</a:t>
            </a:r>
          </a:p>
          <a:p>
            <a:r>
              <a:rPr lang="ru-RU" dirty="0"/>
              <a:t>Две ключевые части:</a:t>
            </a:r>
          </a:p>
          <a:p>
            <a:pPr lvl="1"/>
            <a:r>
              <a:rPr lang="ru-RU" b="1" dirty="0"/>
              <a:t>E-UTRAN</a:t>
            </a:r>
            <a:r>
              <a:rPr lang="ru-RU" dirty="0"/>
              <a:t> — радиодоступ (телефон ↔ базовая станция </a:t>
            </a:r>
            <a:r>
              <a:rPr lang="ru-RU" dirty="0" err="1"/>
              <a:t>eNodeB</a:t>
            </a:r>
            <a:r>
              <a:rPr lang="ru-RU" dirty="0"/>
              <a:t>)</a:t>
            </a:r>
          </a:p>
          <a:p>
            <a:pPr lvl="1"/>
            <a:r>
              <a:rPr lang="ru-RU" b="1" dirty="0"/>
              <a:t>EPC</a:t>
            </a:r>
            <a:r>
              <a:rPr lang="ru-RU" dirty="0"/>
              <a:t> — пакетное ядро (маршрутизация, подключение к интернету)</a:t>
            </a:r>
          </a:p>
          <a:p>
            <a:r>
              <a:rPr lang="ru-RU" dirty="0"/>
              <a:t>Радиоинтерфейс основан на CDMA; высокие скорости передачи</a:t>
            </a:r>
          </a:p>
          <a:p>
            <a:r>
              <a:rPr lang="ru-RU" dirty="0"/>
              <a:t>Переход к полностью пакетной передаче данных (IP везде)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D96B87-5708-0AF6-6AEF-A0F7E32488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13630" y="1825625"/>
            <a:ext cx="4918856" cy="268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22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13DB-D640-EBEA-C4F9-7B433D78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Мобильность, безопасность и управление абонентами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329EC-FDDB-840B-8839-4A2C49610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Мобильность требует механизма </a:t>
            </a:r>
            <a:r>
              <a:rPr lang="ru-RU" b="1" dirty="0" err="1"/>
              <a:t>handover</a:t>
            </a:r>
            <a:r>
              <a:rPr lang="ru-RU" dirty="0"/>
              <a:t> (передача обслуживания)</a:t>
            </a:r>
          </a:p>
          <a:p>
            <a:pPr lvl="1"/>
            <a:r>
              <a:rPr lang="ru-RU" dirty="0"/>
              <a:t>Жёсткая и мягкая передача</a:t>
            </a:r>
          </a:p>
          <a:p>
            <a:r>
              <a:rPr lang="ru-RU" dirty="0"/>
              <a:t>Необходимость отслеживания местоположения абонента</a:t>
            </a:r>
          </a:p>
          <a:p>
            <a:pPr lvl="1"/>
            <a:r>
              <a:rPr lang="ru-RU" dirty="0"/>
              <a:t>HSS хранит данные и текущее местоположение</a:t>
            </a:r>
          </a:p>
          <a:p>
            <a:r>
              <a:rPr lang="ru-RU" dirty="0"/>
              <a:t>Безопасность обеспечивается через SIM-карту и криптографию</a:t>
            </a:r>
          </a:p>
          <a:p>
            <a:pPr lvl="1"/>
            <a:r>
              <a:rPr lang="ru-RU" dirty="0"/>
              <a:t>Шифрование защищает радиоканал</a:t>
            </a:r>
          </a:p>
          <a:p>
            <a:pPr lvl="1"/>
            <a:r>
              <a:rPr lang="ru-RU" dirty="0"/>
              <a:t>Борьба с мошенничеством — важная часть архитектуры GSM/UMTS/LTE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350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41096-A3BD-7C65-2DF0-0BCB4BB4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мобильных сетей: от 1G до 5G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FE2B6-4263-ECD0-9E02-8CC2AF54D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78369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1G — аналоговые голосовые системы (AMPS)</a:t>
            </a:r>
          </a:p>
          <a:p>
            <a:r>
              <a:rPr lang="ru-RU" dirty="0"/>
              <a:t>2G (GSM) — цифровой голос, SMS, безопасность, SIM-карта</a:t>
            </a:r>
          </a:p>
          <a:p>
            <a:r>
              <a:rPr lang="ru-RU" dirty="0"/>
              <a:t>3G (UMTS) — широкополосная передача данных (до ~14 Мбит/с)</a:t>
            </a:r>
          </a:p>
          <a:p>
            <a:r>
              <a:rPr lang="ru-RU" dirty="0"/>
              <a:t>Ограничение спектра → сотовая архитектура, повторное использование частот</a:t>
            </a:r>
          </a:p>
          <a:p>
            <a:r>
              <a:rPr lang="ru-RU" dirty="0"/>
              <a:t>4G LTE — высокоскоростной мобильный интернет</a:t>
            </a:r>
          </a:p>
          <a:p>
            <a:r>
              <a:rPr lang="ru-RU" dirty="0"/>
              <a:t>5G — до 10 Гбит/с, высокие частоты, MIMO, рост требований к инфраструктуре</a:t>
            </a:r>
          </a:p>
          <a:p>
            <a:pPr lvl="1"/>
            <a:r>
              <a:rPr lang="en-US" dirty="0"/>
              <a:t>MIMO – </a:t>
            </a:r>
            <a:r>
              <a:rPr lang="ru-RU" dirty="0"/>
              <a:t>технология на основе нескольких антенн для приёма и передачи для увеличения скорости и надёжности сигнала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7D2641-BC78-BD4E-134F-6D3D851C58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21890" y="1690688"/>
            <a:ext cx="4280550" cy="289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14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97251E-1395-9B8B-D29F-10D636A6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Беспроводные сети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EF2FEC-0C2D-FE3C-2181-35C750842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262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AFD21E-ED2E-ED98-EC00-369A146C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Возникновение </a:t>
            </a:r>
            <a:r>
              <a:rPr lang="ru-RU" dirty="0" err="1"/>
              <a:t>Wi</a:t>
            </a:r>
            <a:r>
              <a:rPr lang="ru-RU" dirty="0"/>
              <a:t>-Fi и стандартизация 802.11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955C22-5133-F96B-A19C-EEB6BEC9E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Потребность: подключение ноутбуков к сети без проводов</a:t>
            </a:r>
          </a:p>
          <a:p>
            <a:r>
              <a:rPr lang="ru-RU" dirty="0"/>
              <a:t>Ранние беспроводные LAN были несовместимы друг с другом</a:t>
            </a:r>
          </a:p>
          <a:p>
            <a:r>
              <a:rPr lang="ru-RU" dirty="0"/>
              <a:t>IEEE создал единый стандарт </a:t>
            </a:r>
            <a:r>
              <a:rPr lang="ru-RU" b="1" dirty="0"/>
              <a:t>802.11</a:t>
            </a:r>
            <a:r>
              <a:rPr lang="ru-RU" dirty="0"/>
              <a:t> (</a:t>
            </a:r>
            <a:r>
              <a:rPr lang="ru-RU" dirty="0" err="1"/>
              <a:t>Wi</a:t>
            </a:r>
            <a:r>
              <a:rPr lang="ru-RU" dirty="0"/>
              <a:t>-Fi)</a:t>
            </a:r>
          </a:p>
          <a:p>
            <a:r>
              <a:rPr lang="ru-RU" dirty="0"/>
              <a:t>Работа в нелицензируемых диапазонах ISM: 2.4 ГГц, 5 ГГц</a:t>
            </a:r>
          </a:p>
          <a:p>
            <a:r>
              <a:rPr lang="ru-RU" dirty="0"/>
              <a:t>Использование маломощных передатчиков → конкуренция с бытовыми устройствами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165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90E8-83B9-AF53-6F54-A1A3C394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Wi</a:t>
            </a:r>
            <a:r>
              <a:rPr lang="ru-RU" dirty="0"/>
              <a:t>-</a:t>
            </a:r>
            <a:r>
              <a:rPr lang="en-US" dirty="0"/>
              <a:t>Fi</a:t>
            </a:r>
            <a:r>
              <a:rPr lang="ru-RU" dirty="0"/>
              <a:t>: проблемы и решения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5488-866A-FD5B-547E-5944359A3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Два режима работы:</a:t>
            </a:r>
          </a:p>
          <a:p>
            <a:pPr lvl="1"/>
            <a:r>
              <a:rPr lang="ru-RU" dirty="0"/>
              <a:t>через точку доступа (</a:t>
            </a:r>
            <a:r>
              <a:rPr lang="ru-RU" dirty="0" err="1"/>
              <a:t>infrastructure</a:t>
            </a:r>
            <a:r>
              <a:rPr lang="ru-RU" dirty="0"/>
              <a:t>)</a:t>
            </a:r>
          </a:p>
          <a:p>
            <a:pPr lvl="1"/>
            <a:r>
              <a:rPr lang="ru-RU" dirty="0" err="1"/>
              <a:t>ad</a:t>
            </a:r>
            <a:r>
              <a:rPr lang="ru-RU" dirty="0"/>
              <a:t> </a:t>
            </a:r>
            <a:r>
              <a:rPr lang="ru-RU" dirty="0" err="1"/>
              <a:t>hoc</a:t>
            </a:r>
            <a:r>
              <a:rPr lang="ru-RU" dirty="0"/>
              <a:t> (прямое взаимодействие клиентов)</a:t>
            </a:r>
          </a:p>
          <a:p>
            <a:r>
              <a:rPr lang="ru-RU" dirty="0"/>
              <a:t>Основная проблема: многолучевое замирание (</a:t>
            </a:r>
            <a:r>
              <a:rPr lang="ru-RU" dirty="0" err="1"/>
              <a:t>multipath</a:t>
            </a:r>
            <a:r>
              <a:rPr lang="ru-RU" dirty="0"/>
              <a:t> </a:t>
            </a:r>
            <a:r>
              <a:rPr lang="ru-RU" dirty="0" err="1"/>
              <a:t>fading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Решение — разнесение путей (</a:t>
            </a:r>
            <a:r>
              <a:rPr lang="ru-RU" dirty="0" err="1"/>
              <a:t>path</a:t>
            </a:r>
            <a:r>
              <a:rPr lang="ru-RU" dirty="0"/>
              <a:t> </a:t>
            </a:r>
            <a:r>
              <a:rPr lang="ru-RU" dirty="0" err="1"/>
              <a:t>diversity</a:t>
            </a:r>
            <a:r>
              <a:rPr lang="ru-RU" dirty="0"/>
              <a:t>): разные частоты, несколько антенн, повтор передачи</a:t>
            </a:r>
          </a:p>
          <a:p>
            <a:r>
              <a:rPr lang="ru-RU" dirty="0"/>
              <a:t>Усиление стандартов:</a:t>
            </a:r>
          </a:p>
          <a:p>
            <a:pPr lvl="1"/>
            <a:r>
              <a:rPr lang="ru-RU" dirty="0"/>
              <a:t>802.11 → 2 Мбит/с</a:t>
            </a:r>
          </a:p>
          <a:p>
            <a:pPr lvl="1"/>
            <a:r>
              <a:rPr lang="ru-RU" dirty="0"/>
              <a:t>802.11b → 11 Мбит/с</a:t>
            </a:r>
          </a:p>
          <a:p>
            <a:pPr lvl="1"/>
            <a:r>
              <a:rPr lang="ru-RU" dirty="0"/>
              <a:t>802.11a/g (OFDM) → 54 Мбит/с</a:t>
            </a:r>
          </a:p>
          <a:p>
            <a:pPr lvl="1"/>
            <a:r>
              <a:rPr lang="ru-RU" dirty="0"/>
              <a:t>802.11ac → до 3.5 Гбит/с</a:t>
            </a:r>
          </a:p>
          <a:p>
            <a:pPr lvl="1"/>
            <a:r>
              <a:rPr lang="ru-RU" dirty="0"/>
              <a:t>802.11ad → до 7 Гбит/с (в пределах комнаты)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6B3E09-3943-45C0-1E2B-3C64542492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15200" y="1872123"/>
            <a:ext cx="4556760" cy="2419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AA25D5-156A-F303-B7FC-4173A2027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694573"/>
            <a:ext cx="4556760" cy="199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215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3FB7-989A-A540-1BC1-859D73F2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Доступ к среде, мобильность и безопасность </a:t>
            </a:r>
            <a:r>
              <a:rPr lang="ru-RU" dirty="0" err="1"/>
              <a:t>Wi</a:t>
            </a:r>
            <a:r>
              <a:rPr lang="ru-RU" dirty="0"/>
              <a:t>-Fi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13F75-2FB4-48CE-4C90-EEEED979A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Проблема широковещательной среды → конфликты передач</a:t>
            </a:r>
          </a:p>
          <a:p>
            <a:pPr lvl="1"/>
            <a:r>
              <a:rPr lang="ru-RU" dirty="0"/>
              <a:t>Метод доступа: CSMA/CA (аналог Ethernet, но с особенностями беспроводной среды)</a:t>
            </a:r>
          </a:p>
          <a:p>
            <a:pPr lvl="1"/>
            <a:r>
              <a:rPr lang="ru-RU" dirty="0"/>
              <a:t>Проблемы скрытых узлов (</a:t>
            </a:r>
            <a:r>
              <a:rPr lang="ru-RU" dirty="0" err="1"/>
              <a:t>hidden</a:t>
            </a:r>
            <a:r>
              <a:rPr lang="ru-RU" dirty="0"/>
              <a:t> </a:t>
            </a:r>
            <a:r>
              <a:rPr lang="ru-RU" dirty="0" err="1"/>
              <a:t>node</a:t>
            </a:r>
            <a:r>
              <a:rPr lang="ru-RU" dirty="0"/>
              <a:t>)</a:t>
            </a:r>
          </a:p>
          <a:p>
            <a:r>
              <a:rPr lang="ru-RU" dirty="0"/>
              <a:t>Переключение между точками доступа при перемещении клиента</a:t>
            </a:r>
          </a:p>
          <a:p>
            <a:r>
              <a:rPr lang="ru-RU" dirty="0"/>
              <a:t>Уязвимости WEP → современные стандарты безопасности: WPA2, 802.11i, 802.1X</a:t>
            </a:r>
          </a:p>
        </p:txBody>
      </p:sp>
    </p:spTree>
    <p:extLst>
      <p:ext uri="{BB962C8B-B14F-4D97-AF65-F5344CB8AC3E}">
        <p14:creationId xmlns:p14="http://schemas.microsoft.com/office/powerpoint/2010/main" val="18905551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069FCA-9B7A-E1C9-B009-930221BF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Сетевые протоколы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EAE6A-2FA2-425C-E1BD-A9515BDEE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68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E89F07-2C03-F92C-8AAF-A330E534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сетевые протоколы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F5DE1F-218C-B9CC-E45D-63814507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Обеспечение надёжной работы сети в условиях ошибок и сбоев</a:t>
            </a:r>
          </a:p>
          <a:p>
            <a:r>
              <a:rPr lang="ru-RU" dirty="0"/>
              <a:t>Эффективное распределение ограниченных ресурсов</a:t>
            </a:r>
          </a:p>
          <a:p>
            <a:r>
              <a:rPr lang="ru-RU" dirty="0"/>
              <a:t>Масштабируемость и способность сети эволюционировать</a:t>
            </a:r>
          </a:p>
          <a:p>
            <a:r>
              <a:rPr lang="ru-RU" dirty="0"/>
              <a:t>Гарантия безопасности: защита данных и аутентификация участников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67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D74B-3CCE-ED60-0FBC-B00296A6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Надёжность: поиск ошибок, восстановление и маршрутизация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C2470-D728-A859-3C18-C182DCCE5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Ошибки неизбежны → нужны механизмы их обнаружения и исправления</a:t>
            </a:r>
          </a:p>
          <a:p>
            <a:r>
              <a:rPr lang="ru-RU" dirty="0"/>
              <a:t>Коды обнаружения ошибок (CRC), механизмы перезапроса данных</a:t>
            </a:r>
          </a:p>
          <a:p>
            <a:r>
              <a:rPr lang="ru-RU" dirty="0"/>
              <a:t>Коды исправления ошибок позволяют восстановить сообщение без повторной передачи</a:t>
            </a:r>
          </a:p>
          <a:p>
            <a:r>
              <a:rPr lang="ru-RU" dirty="0"/>
              <a:t>Маршрутизация ищет рабочий путь, даже если часть сети вышла из строя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633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B502-F76A-3E26-366A-7421EBF9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Распределение ресурсов, управление потоком и борьба с перегрузкой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F3D87-FCC3-2060-24FF-C13AE0627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Сети используют статистическое мультиплексирование — динамическое распределение полосы</a:t>
            </a:r>
          </a:p>
          <a:p>
            <a:r>
              <a:rPr lang="ru-RU" dirty="0"/>
              <a:t>Необходимо предотвращать перегрузку медленных узлов: управление потоком</a:t>
            </a:r>
          </a:p>
          <a:p>
            <a:r>
              <a:rPr lang="ru-RU" dirty="0"/>
              <a:t>Перегрузка сети требует глобального снижения скорости отправки пакетов (</a:t>
            </a:r>
            <a:r>
              <a:rPr lang="ru-RU" dirty="0" err="1"/>
              <a:t>congestion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)</a:t>
            </a:r>
          </a:p>
          <a:p>
            <a:r>
              <a:rPr lang="ru-RU" dirty="0"/>
              <a:t>Разные приложения требуют разных </a:t>
            </a:r>
            <a:r>
              <a:rPr lang="ru-RU" dirty="0" err="1"/>
              <a:t>QoS</a:t>
            </a:r>
            <a:r>
              <a:rPr lang="ru-RU" dirty="0"/>
              <a:t>: задержки, пропускной способности, своевременности</a:t>
            </a:r>
          </a:p>
        </p:txBody>
      </p:sp>
    </p:spTree>
    <p:extLst>
      <p:ext uri="{BB962C8B-B14F-4D97-AF65-F5344CB8AC3E}">
        <p14:creationId xmlns:p14="http://schemas.microsoft.com/office/powerpoint/2010/main" val="13825756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816E-CF78-25DC-EDAE-BEB06F7D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протоколов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45C1-F0A7-BB68-1DF9-A749E7759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Разделение протоколов на уровни облегчает развитие и внедрение новых технологий</a:t>
            </a:r>
          </a:p>
          <a:p>
            <a:r>
              <a:rPr lang="ru-RU" dirty="0"/>
              <a:t>Адресация и именование необходимы на каждом уровне</a:t>
            </a:r>
          </a:p>
          <a:p>
            <a:r>
              <a:rPr lang="ru-RU" dirty="0"/>
              <a:t>Интерсетевое взаимодействие требует:</a:t>
            </a:r>
          </a:p>
          <a:p>
            <a:pPr lvl="1"/>
            <a:r>
              <a:rPr lang="ru-RU" dirty="0"/>
              <a:t>сохранения порядка сообщений</a:t>
            </a:r>
          </a:p>
          <a:p>
            <a:pPr lvl="1"/>
            <a:r>
              <a:rPr lang="ru-RU" dirty="0"/>
              <a:t>разбиения и сборки больших сообщений</a:t>
            </a:r>
          </a:p>
          <a:p>
            <a:r>
              <a:rPr lang="ru-RU" dirty="0"/>
              <a:t>Безопасность: секретность, аутентификация, целостность</a:t>
            </a:r>
          </a:p>
          <a:p>
            <a:pPr lvl="1"/>
            <a:r>
              <a:rPr lang="ru-RU" dirty="0"/>
              <a:t>Реализуются на основе криптографии</a:t>
            </a:r>
          </a:p>
        </p:txBody>
      </p:sp>
    </p:spTree>
    <p:extLst>
      <p:ext uri="{BB962C8B-B14F-4D97-AF65-F5344CB8AC3E}">
        <p14:creationId xmlns:p14="http://schemas.microsoft.com/office/powerpoint/2010/main" val="28242791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5A3D3D-55B1-38D5-3A2D-E6CDF230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Разделение протокола на уровни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17502-A673-68CA-AB09-CCBB75EE4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320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718948-6FA4-7346-03D6-B88E177B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делить протокол на уровни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6044D1-7C18-C560-4343-AD5E1B266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Сеть строится как пирамида уровней (</a:t>
            </a:r>
            <a:r>
              <a:rPr lang="ru-RU" dirty="0" err="1"/>
              <a:t>layers</a:t>
            </a:r>
            <a:r>
              <a:rPr lang="ru-RU" dirty="0"/>
              <a:t>)</a:t>
            </a:r>
          </a:p>
          <a:p>
            <a:r>
              <a:rPr lang="ru-RU" dirty="0"/>
              <a:t>Каждый уровень опирается на нижележащий</a:t>
            </a:r>
          </a:p>
          <a:p>
            <a:r>
              <a:rPr lang="ru-RU" dirty="0"/>
              <a:t>Каждый уровень предоставляет службы верхнему и скрывает детали реализации</a:t>
            </a:r>
          </a:p>
          <a:p>
            <a:r>
              <a:rPr lang="ru-RU" dirty="0"/>
              <a:t>Уровень можно воспринимать как виртуальную машину для вышележащего уровня</a:t>
            </a:r>
          </a:p>
          <a:p>
            <a:r>
              <a:rPr lang="ru-RU" dirty="0"/>
              <a:t>Подход близок к инкапсуляции, ООП, сокрытию информации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2277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8BAAF1-1D63-01F3-6EDD-71B8BB61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Пиры, протоколы и интерфейсы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FA5484-A931-9054-740E-DFB03BB404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Сущности одного уровня на разных узлах — пиры (</a:t>
            </a:r>
            <a:r>
              <a:rPr lang="ru-RU" dirty="0" err="1"/>
              <a:t>peers</a:t>
            </a:r>
            <a:r>
              <a:rPr lang="ru-RU" dirty="0"/>
              <a:t>)</a:t>
            </a:r>
          </a:p>
          <a:p>
            <a:r>
              <a:rPr lang="ru-RU" dirty="0"/>
              <a:t>Протокол уровня n — правила взаимодействия между пирами уровня n</a:t>
            </a:r>
          </a:p>
          <a:p>
            <a:r>
              <a:rPr lang="ru-RU" dirty="0"/>
              <a:t>На практике данные не ходят «горизонтально», а спускаются и поднимаются по уровням</a:t>
            </a:r>
          </a:p>
          <a:p>
            <a:r>
              <a:rPr lang="ru-RU" dirty="0"/>
              <a:t>Между соседними уровнями есть интерфейс: какие операции нижний предоставляет верхнему</a:t>
            </a:r>
          </a:p>
          <a:p>
            <a:r>
              <a:rPr lang="ru-RU" dirty="0"/>
              <a:t>Протокол ≠ интерфейс:</a:t>
            </a:r>
          </a:p>
          <a:p>
            <a:pPr lvl="1"/>
            <a:r>
              <a:rPr lang="ru-RU" dirty="0"/>
              <a:t>протокол — «как общаются пиры»</a:t>
            </a:r>
          </a:p>
          <a:p>
            <a:pPr lvl="1"/>
            <a:r>
              <a:rPr lang="ru-RU" dirty="0"/>
              <a:t>интерфейс — «как уровень n+1 обращается к уровню n»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8227F8-95BA-C621-307F-D3DFD77990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24489" y="1825625"/>
            <a:ext cx="46770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615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EC8F-B4BB-8E6C-1A6A-42A54CBB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Аналогия: философы, переводчики и секретари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DFE05-A937-5797-877E-DE52E49D06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Уровень 3: «философы» — хотят обменяться смыслом</a:t>
            </a:r>
          </a:p>
          <a:p>
            <a:r>
              <a:rPr lang="ru-RU" dirty="0"/>
              <a:t>Уровень 2: «переводчики» — согласуют общий язык (протокол уровня 2)</a:t>
            </a:r>
          </a:p>
          <a:p>
            <a:r>
              <a:rPr lang="ru-RU" dirty="0"/>
              <a:t>Уровень 1: «секретари» — выбирают способ физической передачи (факс, телефон)</a:t>
            </a:r>
          </a:p>
          <a:p>
            <a:r>
              <a:rPr lang="ru-RU" dirty="0"/>
              <a:t>Важно: каждый уровень может </a:t>
            </a:r>
            <a:r>
              <a:rPr lang="ru-RU" b="1" dirty="0"/>
              <a:t>менять внутреннюю реализацию</a:t>
            </a:r>
            <a:r>
              <a:rPr lang="ru-RU" dirty="0"/>
              <a:t>, не меняя интерфейсов</a:t>
            </a:r>
          </a:p>
          <a:p>
            <a:r>
              <a:rPr lang="ru-RU" dirty="0"/>
              <a:t>Протоколы уровней независимы, если интерфейсы сохранены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3D167C-EC1B-9DAB-4C6E-4F53F2F9A4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5706" y="1825625"/>
            <a:ext cx="46945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093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B6C5-7277-E77D-8AEB-8217CBB7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Инкапсуляция: заголовки, фрагментация и движение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351D8-F3D2-F39B-91EA-F8EA26F7B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72262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Верхний уровень генерирует </a:t>
            </a:r>
            <a:r>
              <a:rPr lang="ru-RU" b="1" dirty="0"/>
              <a:t>сообщение</a:t>
            </a:r>
            <a:r>
              <a:rPr lang="ru-RU" dirty="0"/>
              <a:t> M и передаёт его вниз</a:t>
            </a:r>
          </a:p>
          <a:p>
            <a:r>
              <a:rPr lang="ru-RU" dirty="0"/>
              <a:t>Каждый уровень добавляет свой </a:t>
            </a:r>
            <a:r>
              <a:rPr lang="ru-RU" b="1" dirty="0"/>
              <a:t>заголово</a:t>
            </a:r>
            <a:r>
              <a:rPr lang="ru-RU" dirty="0"/>
              <a:t>к (</a:t>
            </a:r>
            <a:r>
              <a:rPr lang="ru-RU" dirty="0" err="1"/>
              <a:t>header</a:t>
            </a:r>
            <a:r>
              <a:rPr lang="ru-RU" dirty="0"/>
              <a:t>) (иногда и «хвост»)</a:t>
            </a:r>
          </a:p>
          <a:p>
            <a:r>
              <a:rPr lang="ru-RU" dirty="0"/>
              <a:t>Заголовок содержит: адреса, номера последовательности, длины, метки времени и др.</a:t>
            </a:r>
          </a:p>
          <a:p>
            <a:r>
              <a:rPr lang="ru-RU" dirty="0"/>
              <a:t>Ограничения нижних уровней → </a:t>
            </a:r>
            <a:r>
              <a:rPr lang="ru-RU" b="1" dirty="0"/>
              <a:t>разбиение сообщения на пакеты</a:t>
            </a:r>
            <a:r>
              <a:rPr lang="ru-RU" dirty="0"/>
              <a:t> (фрагментация)</a:t>
            </a:r>
          </a:p>
          <a:p>
            <a:r>
              <a:rPr lang="ru-RU" dirty="0"/>
              <a:t>На принимающей стороне заголовки снимаются по мере движения вверх, пакеты собираются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BF31D1-6C01-5CCC-C927-81767C2DC3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60820" y="1690688"/>
            <a:ext cx="5181600" cy="368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634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2FD625-2E48-E0E5-73E6-CE3D09BA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Архитектура сети, стек протоколов и реализация уровней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C0B022-B3C8-71B4-6E0F-B3F9906FB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Набор уровней и протоколов = </a:t>
            </a:r>
            <a:r>
              <a:rPr lang="ru-RU" b="1" dirty="0"/>
              <a:t>архитектура сети</a:t>
            </a:r>
            <a:endParaRPr lang="ru-RU" dirty="0"/>
          </a:p>
          <a:p>
            <a:r>
              <a:rPr lang="ru-RU" dirty="0"/>
              <a:t>Конкретный набор протоколов по уровням = </a:t>
            </a:r>
            <a:r>
              <a:rPr lang="ru-RU" b="1" dirty="0"/>
              <a:t>стек протоколов</a:t>
            </a:r>
            <a:endParaRPr lang="ru-RU" dirty="0"/>
          </a:p>
          <a:p>
            <a:r>
              <a:rPr lang="ru-RU" dirty="0"/>
              <a:t>Реализация отдельных уровней может отличаться на разных хостах</a:t>
            </a:r>
          </a:p>
          <a:p>
            <a:r>
              <a:rPr lang="ru-RU" dirty="0"/>
              <a:t>Интерфейсы и протоколы — стандартизируются; реализация — нет</a:t>
            </a:r>
          </a:p>
          <a:p>
            <a:r>
              <a:rPr lang="ru-RU" dirty="0"/>
              <a:t>Низшие уровни часто реализованы в </a:t>
            </a:r>
            <a:r>
              <a:rPr lang="ru-RU" b="1" dirty="0"/>
              <a:t>аппаратуре или прошивке</a:t>
            </a:r>
            <a:r>
              <a:rPr lang="ru-RU" dirty="0"/>
              <a:t>, верхние — в ПО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601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C7A8F7-642C-D0A3-ADA8-30516E33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Соединения и надёжность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1906B-ADE6-B5C5-FC88-122F2B955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701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3DF7E4-3AA9-5BB7-8D70-9FB669CE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Службы с соединением и без него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3F4BBA-A451-CD1F-437C-C64EFDFCD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Два основных типа служб: </a:t>
            </a:r>
            <a:r>
              <a:rPr lang="ru-RU" b="1" dirty="0" err="1"/>
              <a:t>connection-oriented</a:t>
            </a:r>
            <a:r>
              <a:rPr lang="ru-RU" dirty="0"/>
              <a:t> и </a:t>
            </a:r>
            <a:r>
              <a:rPr lang="ru-RU" b="1" dirty="0" err="1"/>
              <a:t>connectionless</a:t>
            </a:r>
            <a:endParaRPr lang="ru-RU" dirty="0"/>
          </a:p>
          <a:p>
            <a:r>
              <a:rPr lang="ru-RU" dirty="0"/>
              <a:t>С установлением соединения: аналог телефонного звонка</a:t>
            </a:r>
          </a:p>
          <a:p>
            <a:r>
              <a:rPr lang="ru-RU" dirty="0"/>
              <a:t>Без установления соединения: аналог обычной почты</a:t>
            </a:r>
          </a:p>
          <a:p>
            <a:r>
              <a:rPr lang="ru-RU" dirty="0"/>
              <a:t>Важные свойства: порядок доставки, необходимость согласования параметров, ресурсы соединения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3053097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8310-23AE-CE26-3012-CDC5E54C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Надёжные и ненадёжные службы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D21C1-7ECC-E60F-BCB1-D15BD86D9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Надёжные службы: подтверждение получения, отсутствие потерь</a:t>
            </a:r>
          </a:p>
          <a:p>
            <a:r>
              <a:rPr lang="ru-RU" dirty="0"/>
              <a:t>Ненадёжные службы: без гарантий доставки, но быстрее</a:t>
            </a:r>
          </a:p>
          <a:p>
            <a:r>
              <a:rPr lang="ru-RU" dirty="0"/>
              <a:t>Формы надёжных служб:</a:t>
            </a:r>
          </a:p>
          <a:p>
            <a:pPr lvl="1"/>
            <a:r>
              <a:rPr lang="ru-RU" b="1" dirty="0"/>
              <a:t>Последовательности сообщений (</a:t>
            </a:r>
            <a:r>
              <a:rPr lang="ru-RU" b="1" dirty="0" err="1"/>
              <a:t>message</a:t>
            </a:r>
            <a:r>
              <a:rPr lang="ru-RU" b="1" dirty="0"/>
              <a:t> </a:t>
            </a:r>
            <a:r>
              <a:rPr lang="ru-RU" b="1" dirty="0" err="1"/>
              <a:t>sequences</a:t>
            </a:r>
            <a:r>
              <a:rPr lang="ru-RU" b="1" dirty="0"/>
              <a:t>)</a:t>
            </a:r>
            <a:endParaRPr lang="ru-RU" dirty="0"/>
          </a:p>
          <a:p>
            <a:pPr lvl="1"/>
            <a:r>
              <a:rPr lang="ru-RU" b="1" dirty="0"/>
              <a:t>Байтовые потоки (</a:t>
            </a:r>
            <a:r>
              <a:rPr lang="ru-RU" b="1" dirty="0" err="1"/>
              <a:t>byte</a:t>
            </a:r>
            <a:r>
              <a:rPr lang="ru-RU" b="1" dirty="0"/>
              <a:t> </a:t>
            </a:r>
            <a:r>
              <a:rPr lang="ru-RU" b="1" dirty="0" err="1"/>
              <a:t>streams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Дейтаграммы с подтверждением — промежуточный вариант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684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E86B-BF90-2CA6-DC0A-9E52F14A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нужны разные типы служб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B2D8-6EE1-C937-D54F-132699F26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Разные приложения требуют разных свойств: скорость, надёжность, порядок</a:t>
            </a:r>
          </a:p>
          <a:p>
            <a:r>
              <a:rPr lang="ru-RU" dirty="0"/>
              <a:t>Надёжность ≠ всегда лучше (пример: VoIP, видеозвонки)</a:t>
            </a:r>
          </a:p>
          <a:p>
            <a:r>
              <a:rPr lang="ru-RU" dirty="0"/>
              <a:t>Ненадёжные службы часто лежат в основе надёжных — надстройка на верхних уровнях</a:t>
            </a:r>
          </a:p>
          <a:p>
            <a:r>
              <a:rPr lang="ru-RU" dirty="0"/>
              <a:t>Схема «запрос–ответ» — базовый шаблон, особенно для клиент–серверных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164100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DF9950-753D-87AD-5683-AEDAC504E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Примитивы сетевых служб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E7AC7-260C-4652-0DC6-33146003E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859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2B95A8-FF4A-8BD6-AF45-F42F7A8E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Примитивы служб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2563BF-D032-A246-A0EE-9C0E5AD72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Примитивы — операции, которыми приложение вызывает сетевую службу</a:t>
            </a:r>
          </a:p>
          <a:p>
            <a:r>
              <a:rPr lang="ru-RU" dirty="0"/>
              <a:t>Представляют собой системные вызовы ОС</a:t>
            </a:r>
          </a:p>
          <a:p>
            <a:r>
              <a:rPr lang="ru-RU" dirty="0"/>
              <a:t>Определяют поведение служб: с соединением и без него</a:t>
            </a:r>
          </a:p>
          <a:p>
            <a:r>
              <a:rPr lang="ru-RU" dirty="0"/>
              <a:t>Формируют интерфейс между приложением и протоколом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5214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2B5C-0B20-3AD3-84FD-37FD7A881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Базовый набор примитивов для служб с соединением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68D79-642A-5BF5-AAC5-6D43A5F2C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LISTEN — ожидание входящего соединения</a:t>
            </a:r>
          </a:p>
          <a:p>
            <a:r>
              <a:rPr lang="ru-RU" dirty="0"/>
              <a:t>CONNECT — попытка установить соединение</a:t>
            </a:r>
          </a:p>
          <a:p>
            <a:r>
              <a:rPr lang="ru-RU" dirty="0"/>
              <a:t>ACCEPT — подтверждение соединения на стороне сервера</a:t>
            </a:r>
          </a:p>
          <a:p>
            <a:r>
              <a:rPr lang="ru-RU" dirty="0"/>
              <a:t>SEND / RECEIVE — передача и приём данных</a:t>
            </a:r>
          </a:p>
          <a:p>
            <a:r>
              <a:rPr lang="ru-RU" dirty="0"/>
              <a:t>DISCONNECT — завершение соединения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7522838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5D06-16E7-0BFC-FA7F-76E80877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Логика работы: пример клиент–сервер (общая схема)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53E2C-B8F8-0EBB-20B8-2309C69F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LISTEN → CONNECT → ACCEPT — фаза установления</a:t>
            </a:r>
          </a:p>
          <a:p>
            <a:r>
              <a:rPr lang="ru-RU" dirty="0"/>
              <a:t>SEND ↔ RECEIVE — двусторонний обмен</a:t>
            </a:r>
          </a:p>
          <a:p>
            <a:r>
              <a:rPr lang="ru-RU" dirty="0"/>
              <a:t>DISCONNECT — завершение сеанса</a:t>
            </a:r>
          </a:p>
          <a:p>
            <a:r>
              <a:rPr lang="ru-RU" dirty="0"/>
              <a:t>Поведение похоже на «телефонный звонок»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66EA49-8DC7-7B4B-0D19-08F63C090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3870293"/>
            <a:ext cx="8812530" cy="298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879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939B-BF62-6D8E-BFEC-872414D1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одного запроса–ответа недостаточно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7B88-8150-BFA2-44D0-0276CA69D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Потери пакетов делают простой диалог ненадёжным</a:t>
            </a:r>
          </a:p>
          <a:p>
            <a:r>
              <a:rPr lang="ru-RU" dirty="0"/>
              <a:t>Нужны механизмы подтверждений и повторной передачи</a:t>
            </a:r>
          </a:p>
          <a:p>
            <a:r>
              <a:rPr lang="ru-RU" dirty="0"/>
              <a:t>Важны номера сообщений, чтобы отличать старые данные</a:t>
            </a:r>
          </a:p>
          <a:p>
            <a:r>
              <a:rPr lang="ru-RU" dirty="0"/>
              <a:t>Для больших файлов требуется потоковая передача</a:t>
            </a:r>
          </a:p>
        </p:txBody>
      </p:sp>
    </p:spTree>
    <p:extLst>
      <p:ext uri="{BB962C8B-B14F-4D97-AF65-F5344CB8AC3E}">
        <p14:creationId xmlns:p14="http://schemas.microsoft.com/office/powerpoint/2010/main" val="34876127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57CB1-42EB-3912-D480-2E224C36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роль примитивов в протоколах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8C59-0447-D192-9016-AB837158E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Примитивы определяют интерфейс между приложением и сетью</a:t>
            </a:r>
          </a:p>
          <a:p>
            <a:r>
              <a:rPr lang="ru-RU" dirty="0"/>
              <a:t>Делают возможным надёжный диалог процессов</a:t>
            </a:r>
          </a:p>
          <a:p>
            <a:r>
              <a:rPr lang="ru-RU" dirty="0"/>
              <a:t>Поддерживают разные модели работы: поток, сообщения, запрос–ответ</a:t>
            </a:r>
          </a:p>
          <a:p>
            <a:r>
              <a:rPr lang="ru-RU" dirty="0"/>
              <a:t>Требуются для реализации устойчивых клиент–серверных систем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8427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D492-2D0E-7712-0E7E-2F6F9301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Службы и протоколы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34E7D-723F-6EFD-AE82-3757AE337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22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E00843-FCC5-29D3-9C7A-37C4B9EB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Службы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BBEDF8-78DE-ED6F-9123-39FE70F7F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Служба = набор операций (примитивов), доступных вышележащему уровню</a:t>
            </a:r>
          </a:p>
          <a:p>
            <a:r>
              <a:rPr lang="ru-RU" dirty="0"/>
              <a:t>Описывает </a:t>
            </a:r>
            <a:r>
              <a:rPr lang="ru-RU" i="1" dirty="0"/>
              <a:t>что</a:t>
            </a:r>
            <a:r>
              <a:rPr lang="ru-RU" dirty="0"/>
              <a:t> делает уровень, но не </a:t>
            </a:r>
            <a:r>
              <a:rPr lang="ru-RU" i="1" dirty="0"/>
              <a:t>как</a:t>
            </a:r>
            <a:endParaRPr lang="ru-RU" dirty="0"/>
          </a:p>
          <a:p>
            <a:r>
              <a:rPr lang="ru-RU" dirty="0"/>
              <a:t>Формирует интерфейс между уровнями</a:t>
            </a:r>
          </a:p>
          <a:p>
            <a:r>
              <a:rPr lang="ru-RU" dirty="0"/>
              <a:t>Поставщик службы — нижний уровень, потребитель — верхний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865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857A-4D36-382F-6021-66345E1C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FB1B-45E9-1B84-1EED-7B7DDF83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Протокол = правила формирования и обработки пакетов</a:t>
            </a:r>
          </a:p>
          <a:p>
            <a:r>
              <a:rPr lang="ru-RU" dirty="0"/>
              <a:t>Определяет формат, структуру и смысл сообщений</a:t>
            </a:r>
          </a:p>
          <a:p>
            <a:r>
              <a:rPr lang="ru-RU" dirty="0"/>
              <a:t>Используется одноранговыми сущностями внутри одного уровня</a:t>
            </a:r>
          </a:p>
          <a:p>
            <a:r>
              <a:rPr lang="ru-RU" dirty="0"/>
              <a:t>Реализует работу службы, но не влияет на её внешний вид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905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3F1E-63D4-FA2B-21AB-4DACD279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Различия между службами и протоколами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FE9DD-78D9-F0D1-D7F3-0FDDCD090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653315" cy="4351338"/>
          </a:xfrm>
        </p:spPr>
        <p:txBody>
          <a:bodyPr/>
          <a:lstStyle/>
          <a:p>
            <a:r>
              <a:rPr lang="ru-RU" dirty="0"/>
              <a:t>Служба — </a:t>
            </a:r>
            <a:r>
              <a:rPr lang="ru-RU" i="1" dirty="0"/>
              <a:t>что доступно пользователю уровня</a:t>
            </a:r>
            <a:endParaRPr lang="ru-RU" dirty="0"/>
          </a:p>
          <a:p>
            <a:r>
              <a:rPr lang="ru-RU" dirty="0"/>
              <a:t>Протокол — </a:t>
            </a:r>
            <a:r>
              <a:rPr lang="ru-RU" i="1" dirty="0"/>
              <a:t>как это реализовано внутри уровня</a:t>
            </a:r>
            <a:endParaRPr lang="ru-RU" dirty="0"/>
          </a:p>
          <a:p>
            <a:r>
              <a:rPr lang="ru-RU" dirty="0"/>
              <a:t>Аналогия: служба = интерфейс класса, протокол = его внутренний код</a:t>
            </a:r>
          </a:p>
          <a:p>
            <a:r>
              <a:rPr lang="ru-RU" dirty="0"/>
              <a:t>Ошибка старых архитектур: смешение службы и протокола</a:t>
            </a:r>
          </a:p>
        </p:txBody>
      </p:sp>
      <p:pic>
        <p:nvPicPr>
          <p:cNvPr id="6" name="Content Placeholder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FDB9FD3-49ED-2F19-592F-50F8759B5B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91515" y="1690688"/>
            <a:ext cx="5181600" cy="258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11906</Words>
  <Application>Microsoft Office PowerPoint</Application>
  <PresentationFormat>Widescreen</PresentationFormat>
  <Paragraphs>944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Aptos</vt:lpstr>
      <vt:lpstr>Aptos Display</vt:lpstr>
      <vt:lpstr>Arial</vt:lpstr>
      <vt:lpstr>Office Theme</vt:lpstr>
      <vt:lpstr>Компьютерные сети. Введение</vt:lpstr>
      <vt:lpstr>Рекомендуемые книги</vt:lpstr>
      <vt:lpstr>Эволюция ключевых технологий 18–21 вв.</vt:lpstr>
      <vt:lpstr>Возникновение компьютерных сетей</vt:lpstr>
      <vt:lpstr>Что такое компьютерная сеть</vt:lpstr>
      <vt:lpstr>Клиент-серверная модель</vt:lpstr>
      <vt:lpstr>Одноранговые (Peer-to-peer) сети</vt:lpstr>
      <vt:lpstr>Онлайн-общение и мультимедиа</vt:lpstr>
      <vt:lpstr>Электронная коммерция</vt:lpstr>
      <vt:lpstr>Интернет-развлечения</vt:lpstr>
      <vt:lpstr>Интернет вещей (IoT)</vt:lpstr>
      <vt:lpstr>Типы компьютерных сетей</vt:lpstr>
      <vt:lpstr>Типы компьютерных сетей</vt:lpstr>
      <vt:lpstr>Сети широкополосного доступа: роль и значение</vt:lpstr>
      <vt:lpstr>Технологии широкополосного доступа</vt:lpstr>
      <vt:lpstr>Мобильные и беспроводные сети</vt:lpstr>
      <vt:lpstr>Комбинации мобильности и беспроводности</vt:lpstr>
      <vt:lpstr>Примеры мобильных беспроводных приложений</vt:lpstr>
      <vt:lpstr>Функции Смартфонов</vt:lpstr>
      <vt:lpstr>Мобильная коммерция и NFC</vt:lpstr>
      <vt:lpstr>Сенсорные сети и новые применения</vt:lpstr>
      <vt:lpstr>Сети дата-центров</vt:lpstr>
      <vt:lpstr>Сети доставки контента (CDN)</vt:lpstr>
      <vt:lpstr>Транзитные (магистральные) сети</vt:lpstr>
      <vt:lpstr>Изменение роли транзитных сетей</vt:lpstr>
      <vt:lpstr>Корпоративные сети</vt:lpstr>
      <vt:lpstr>Корпоративные сети: VPN и клиент–серверная модель</vt:lpstr>
      <vt:lpstr>Функции корпоративной сети</vt:lpstr>
      <vt:lpstr>Корпоративные сети и электронный бизнес</vt:lpstr>
      <vt:lpstr>Сетевые технологии: от локальных до глобальных</vt:lpstr>
      <vt:lpstr>От персональных до глобальных сетей</vt:lpstr>
      <vt:lpstr>Персональные сети (PAN)</vt:lpstr>
      <vt:lpstr>Локальные сети (LAN): назначение и основные свойства</vt:lpstr>
      <vt:lpstr>Беспроводные LAN (Wi-Fi) и ячеистые сети</vt:lpstr>
      <vt:lpstr>Проводные LAN: Ethernet, коммутаторы и VLAN</vt:lpstr>
      <vt:lpstr>MAN (Metropolitan Area Network)</vt:lpstr>
      <vt:lpstr>Глобальные сети (WAN)</vt:lpstr>
      <vt:lpstr>VPN и SD-WAN: виртуализация WAN-соединений </vt:lpstr>
      <vt:lpstr>Объединённые сети (Internetworks) и роль маршрутизаторов</vt:lpstr>
      <vt:lpstr>Примеры сетей</vt:lpstr>
      <vt:lpstr>Интернет</vt:lpstr>
      <vt:lpstr>Интернет как интерсеть</vt:lpstr>
      <vt:lpstr>Холодная война, уязвимая телефония и появление ARPA</vt:lpstr>
      <vt:lpstr>ARPANET — первая сеть с коммутацией пакетов</vt:lpstr>
      <vt:lpstr>PowerPoint Presentation</vt:lpstr>
      <vt:lpstr>От ARPANET к TCP/IP и NSFNET: рождение интернета</vt:lpstr>
      <vt:lpstr>Эволюция интернета: от почты к мультимедиа</vt:lpstr>
      <vt:lpstr>PowerPoint Presentation</vt:lpstr>
      <vt:lpstr>Эволюция архитектуры интернета: от строгой иерархии к «плоской» структуре</vt:lpstr>
      <vt:lpstr>Мобильные сети</vt:lpstr>
      <vt:lpstr>Архитектура мобильных сетей</vt:lpstr>
      <vt:lpstr>Мобильность, безопасность и управление абонентами</vt:lpstr>
      <vt:lpstr>Эволюция мобильных сетей: от 1G до 5G</vt:lpstr>
      <vt:lpstr>Беспроводные сети</vt:lpstr>
      <vt:lpstr>Возникновение Wi-Fi и стандартизация 802.11</vt:lpstr>
      <vt:lpstr>Архитектура Wi-Fi: проблемы и решения</vt:lpstr>
      <vt:lpstr>Доступ к среде, мобильность и безопасность Wi-Fi</vt:lpstr>
      <vt:lpstr>Сетевые протоколы</vt:lpstr>
      <vt:lpstr>Зачем нужны сетевые протоколы</vt:lpstr>
      <vt:lpstr>Надёжность: поиск ошибок, восстановление и маршрутизация</vt:lpstr>
      <vt:lpstr>Распределение ресурсов, управление потоком и борьба с перегрузкой</vt:lpstr>
      <vt:lpstr>Архитектура протоколов</vt:lpstr>
      <vt:lpstr>Разделение протокола на уровни</vt:lpstr>
      <vt:lpstr>Зачем делить протокол на уровни</vt:lpstr>
      <vt:lpstr>Пиры, протоколы и интерфейсы</vt:lpstr>
      <vt:lpstr>Аналогия: философы, переводчики и секретари</vt:lpstr>
      <vt:lpstr>Инкапсуляция: заголовки, фрагментация и движение данных</vt:lpstr>
      <vt:lpstr>Архитектура сети, стек протоколов и реализация уровней</vt:lpstr>
      <vt:lpstr>Соединения и надёжность</vt:lpstr>
      <vt:lpstr>Службы с соединением и без него</vt:lpstr>
      <vt:lpstr>Надёжные и ненадёжные службы</vt:lpstr>
      <vt:lpstr>Почему нужны разные типы служб</vt:lpstr>
      <vt:lpstr>Примитивы сетевых служб</vt:lpstr>
      <vt:lpstr>Примитивы служб</vt:lpstr>
      <vt:lpstr>Базовый набор примитивов для служб с соединением</vt:lpstr>
      <vt:lpstr>Логика работы: пример клиент–сервер (общая схема)</vt:lpstr>
      <vt:lpstr>Почему одного запроса–ответа недостаточно</vt:lpstr>
      <vt:lpstr>Итоги: роль примитивов в протоколах</vt:lpstr>
      <vt:lpstr>Службы и протоколы</vt:lpstr>
      <vt:lpstr>Службы</vt:lpstr>
      <vt:lpstr>Протоколы</vt:lpstr>
      <vt:lpstr>Различия между службами и протоколами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82</cp:revision>
  <dcterms:created xsi:type="dcterms:W3CDTF">2025-12-02T21:23:11Z</dcterms:created>
  <dcterms:modified xsi:type="dcterms:W3CDTF">2026-01-31T17:28:23Z</dcterms:modified>
</cp:coreProperties>
</file>