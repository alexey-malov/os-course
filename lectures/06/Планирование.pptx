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6" r:id="rId2"/>
    <p:sldId id="321" r:id="rId3"/>
    <p:sldId id="322" r:id="rId4"/>
    <p:sldId id="323" r:id="rId5"/>
    <p:sldId id="324" r:id="rId6"/>
    <p:sldId id="325" r:id="rId7"/>
    <p:sldId id="326" r:id="rId8"/>
    <p:sldId id="327" r:id="rId9"/>
    <p:sldId id="328" r:id="rId10"/>
    <p:sldId id="329" r:id="rId11"/>
    <p:sldId id="330" r:id="rId12"/>
    <p:sldId id="331" r:id="rId13"/>
    <p:sldId id="332" r:id="rId14"/>
    <p:sldId id="333" r:id="rId15"/>
    <p:sldId id="334" r:id="rId16"/>
    <p:sldId id="335" r:id="rId17"/>
    <p:sldId id="336" r:id="rId18"/>
    <p:sldId id="337" r:id="rId19"/>
    <p:sldId id="338" r:id="rId20"/>
    <p:sldId id="339" r:id="rId21"/>
    <p:sldId id="341" r:id="rId22"/>
    <p:sldId id="340" r:id="rId23"/>
    <p:sldId id="342" r:id="rId24"/>
    <p:sldId id="343" r:id="rId25"/>
    <p:sldId id="344" r:id="rId26"/>
    <p:sldId id="345" r:id="rId27"/>
    <p:sldId id="346" r:id="rId28"/>
    <p:sldId id="347" r:id="rId29"/>
    <p:sldId id="348" r:id="rId30"/>
    <p:sldId id="349" r:id="rId31"/>
    <p:sldId id="350" r:id="rId32"/>
    <p:sldId id="351" r:id="rId33"/>
    <p:sldId id="352" r:id="rId34"/>
    <p:sldId id="353" r:id="rId35"/>
    <p:sldId id="354" r:id="rId36"/>
    <p:sldId id="355" r:id="rId37"/>
    <p:sldId id="356" r:id="rId38"/>
    <p:sldId id="357" r:id="rId39"/>
    <p:sldId id="358" r:id="rId40"/>
    <p:sldId id="361" r:id="rId41"/>
    <p:sldId id="364" r:id="rId42"/>
    <p:sldId id="363" r:id="rId43"/>
    <p:sldId id="359" r:id="rId44"/>
    <p:sldId id="365" r:id="rId45"/>
    <p:sldId id="366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58232" autoAdjust="0"/>
  </p:normalViewPr>
  <p:slideViewPr>
    <p:cSldViewPr snapToGrid="0" showGuides="1">
      <p:cViewPr varScale="1">
        <p:scale>
          <a:sx n="53" d="100"/>
          <a:sy n="53" d="100"/>
        </p:scale>
        <p:origin x="1824" y="66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A98E7A-66E0-4F3A-B0C1-AE49947FB3F9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3005B4-F216-4788-933A-81F72935B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258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68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Представьте</a:t>
            </a:r>
            <a:r>
              <a:rPr lang="en-US" dirty="0"/>
              <a:t> </a:t>
            </a:r>
            <a:r>
              <a:rPr lang="en-US" dirty="0" err="1"/>
              <a:t>обычную</a:t>
            </a:r>
            <a:r>
              <a:rPr lang="en-US" dirty="0"/>
              <a:t> </a:t>
            </a:r>
            <a:r>
              <a:rPr lang="en-US" dirty="0" err="1"/>
              <a:t>ситуацию</a:t>
            </a:r>
            <a:r>
              <a:rPr lang="en-US" dirty="0"/>
              <a:t>: </a:t>
            </a:r>
            <a:r>
              <a:rPr lang="en-US" dirty="0" err="1"/>
              <a:t>вы</a:t>
            </a:r>
            <a:r>
              <a:rPr lang="en-US" dirty="0"/>
              <a:t> </a:t>
            </a:r>
            <a:r>
              <a:rPr lang="en-US" dirty="0" err="1"/>
              <a:t>запустили</a:t>
            </a:r>
            <a:r>
              <a:rPr lang="en-US" dirty="0"/>
              <a:t> </a:t>
            </a:r>
            <a:r>
              <a:rPr lang="en-US" dirty="0" err="1"/>
              <a:t>компиляцию</a:t>
            </a:r>
            <a:r>
              <a:rPr lang="en-US" dirty="0"/>
              <a:t> </a:t>
            </a:r>
            <a:r>
              <a:rPr lang="en-US" dirty="0" err="1"/>
              <a:t>большого</a:t>
            </a:r>
            <a:r>
              <a:rPr lang="en-US" dirty="0"/>
              <a:t> </a:t>
            </a:r>
            <a:r>
              <a:rPr lang="en-US" dirty="0" err="1"/>
              <a:t>проекта</a:t>
            </a:r>
            <a:r>
              <a:rPr lang="en-US" dirty="0"/>
              <a:t>. </a:t>
            </a:r>
            <a:r>
              <a:rPr lang="en-US" dirty="0" err="1"/>
              <a:t>Компилятор</a:t>
            </a:r>
            <a:r>
              <a:rPr lang="en-US" dirty="0"/>
              <a:t> </a:t>
            </a:r>
            <a:r>
              <a:rPr lang="en-US" dirty="0" err="1"/>
              <a:t>активно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, </a:t>
            </a:r>
            <a:r>
              <a:rPr lang="en-US" dirty="0" err="1"/>
              <a:t>возможно</a:t>
            </a:r>
            <a:r>
              <a:rPr lang="en-US" dirty="0"/>
              <a:t>, </a:t>
            </a:r>
            <a:r>
              <a:rPr lang="en-US" dirty="0" err="1"/>
              <a:t>загружая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 </a:t>
            </a:r>
            <a:r>
              <a:rPr lang="en-US" dirty="0" err="1"/>
              <a:t>почти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100%.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вы</a:t>
            </a:r>
            <a:r>
              <a:rPr lang="en-US" dirty="0"/>
              <a:t> </a:t>
            </a:r>
            <a:r>
              <a:rPr lang="en-US" dirty="0" err="1"/>
              <a:t>продолжаете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в </a:t>
            </a:r>
            <a:r>
              <a:rPr lang="en-US" dirty="0" err="1"/>
              <a:t>браузере</a:t>
            </a:r>
            <a:r>
              <a:rPr lang="en-US" dirty="0"/>
              <a:t>, </a:t>
            </a:r>
            <a:r>
              <a:rPr lang="en-US" dirty="0" err="1"/>
              <a:t>переключаться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окнами</a:t>
            </a:r>
            <a:r>
              <a:rPr lang="en-US" dirty="0"/>
              <a:t> и </a:t>
            </a:r>
            <a:r>
              <a:rPr lang="en-US" dirty="0" err="1"/>
              <a:t>слушать</a:t>
            </a:r>
            <a:r>
              <a:rPr lang="en-US" dirty="0"/>
              <a:t> </a:t>
            </a:r>
            <a:r>
              <a:rPr lang="en-US" dirty="0" err="1"/>
              <a:t>музыку</a:t>
            </a:r>
            <a:r>
              <a:rPr lang="en-US" dirty="0"/>
              <a:t>.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компиляция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минут</a:t>
            </a:r>
            <a:r>
              <a:rPr lang="en-US" dirty="0"/>
              <a:t>, </a:t>
            </a:r>
            <a:r>
              <a:rPr lang="en-US" dirty="0" err="1"/>
              <a:t>вы</a:t>
            </a:r>
            <a:r>
              <a:rPr lang="en-US" dirty="0"/>
              <a:t> </a:t>
            </a:r>
            <a:r>
              <a:rPr lang="en-US" dirty="0" err="1"/>
              <a:t>ожидаете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реагировать</a:t>
            </a:r>
            <a:r>
              <a:rPr lang="en-US" dirty="0"/>
              <a:t> </a:t>
            </a:r>
            <a:r>
              <a:rPr lang="en-US" dirty="0" err="1"/>
              <a:t>быстро</a:t>
            </a:r>
            <a:r>
              <a:rPr lang="en-US" dirty="0"/>
              <a:t>, а </a:t>
            </a:r>
            <a:r>
              <a:rPr lang="en-US" dirty="0" err="1"/>
              <a:t>воспроизведение</a:t>
            </a:r>
            <a:r>
              <a:rPr lang="en-US" dirty="0"/>
              <a:t> </a:t>
            </a:r>
            <a:r>
              <a:rPr lang="en-US" dirty="0" err="1"/>
              <a:t>звука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прерываться</a:t>
            </a:r>
            <a:r>
              <a:rPr lang="en-US" dirty="0"/>
              <a:t>.</a:t>
            </a:r>
          </a:p>
          <a:p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возможно</a:t>
            </a:r>
            <a:r>
              <a:rPr lang="en-US" dirty="0"/>
              <a:t>?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знаем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множество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 и </a:t>
            </a:r>
            <a:r>
              <a:rPr lang="en-US" dirty="0" err="1"/>
              <a:t>потоков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физические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 </a:t>
            </a:r>
            <a:r>
              <a:rPr lang="en-US" dirty="0" err="1"/>
              <a:t>ограничены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десятки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хотят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,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, </a:t>
            </a:r>
            <a:r>
              <a:rPr lang="en-US" dirty="0" err="1"/>
              <a:t>кому</a:t>
            </a:r>
            <a:r>
              <a:rPr lang="en-US" dirty="0"/>
              <a:t> </a:t>
            </a:r>
            <a:r>
              <a:rPr lang="en-US" dirty="0" err="1"/>
              <a:t>предоставить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, а </a:t>
            </a:r>
            <a:r>
              <a:rPr lang="en-US" dirty="0" err="1"/>
              <a:t>кому</a:t>
            </a:r>
            <a:r>
              <a:rPr lang="en-US" dirty="0"/>
              <a:t> </a:t>
            </a:r>
            <a:r>
              <a:rPr lang="en-US" dirty="0" err="1"/>
              <a:t>придётся</a:t>
            </a:r>
            <a:r>
              <a:rPr lang="en-US" dirty="0"/>
              <a:t> </a:t>
            </a:r>
            <a:r>
              <a:rPr lang="en-US" dirty="0" err="1"/>
              <a:t>подождать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И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влияет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скорость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отдельных</a:t>
            </a:r>
            <a:r>
              <a:rPr lang="en-US" dirty="0"/>
              <a:t> </a:t>
            </a:r>
            <a:r>
              <a:rPr lang="en-US" dirty="0" err="1"/>
              <a:t>программ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отзывчивость</a:t>
            </a:r>
            <a:r>
              <a:rPr lang="en-US" dirty="0"/>
              <a:t> </a:t>
            </a:r>
            <a:r>
              <a:rPr lang="en-US" dirty="0" err="1"/>
              <a:t>всей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r>
              <a:rPr lang="en-US" dirty="0" err="1"/>
              <a:t>Сегодня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разберём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распределяет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возникают</a:t>
            </a:r>
            <a:r>
              <a:rPr lang="en-US" dirty="0"/>
              <a:t> и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подходы</a:t>
            </a:r>
            <a:r>
              <a:rPr lang="en-US" dirty="0"/>
              <a:t> </a:t>
            </a:r>
            <a:r>
              <a:rPr lang="en-US" dirty="0" err="1"/>
              <a:t>используются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1431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предыдущих</a:t>
            </a:r>
            <a:r>
              <a:rPr lang="en-US" dirty="0"/>
              <a:t> </a:t>
            </a:r>
            <a:r>
              <a:rPr lang="en-US" dirty="0" err="1"/>
              <a:t>лекциях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разобрали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создаются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 и </a:t>
            </a:r>
            <a:r>
              <a:rPr lang="en-US" dirty="0" err="1"/>
              <a:t>потоки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взаимодействуют</a:t>
            </a:r>
            <a:r>
              <a:rPr lang="en-US" dirty="0"/>
              <a:t> и </a:t>
            </a:r>
            <a:r>
              <a:rPr lang="en-US" dirty="0" err="1"/>
              <a:t>синхронизируют</a:t>
            </a:r>
            <a:r>
              <a:rPr lang="en-US" dirty="0"/>
              <a:t> </a:t>
            </a:r>
            <a:r>
              <a:rPr lang="en-US" dirty="0" err="1"/>
              <a:t>свою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.</a:t>
            </a:r>
          </a:p>
          <a:p>
            <a:r>
              <a:rPr lang="ru-RU" dirty="0"/>
              <a:t>Но ч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произойдёт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создадим</a:t>
            </a:r>
            <a:r>
              <a:rPr lang="en-US" dirty="0"/>
              <a:t> </a:t>
            </a:r>
            <a:r>
              <a:rPr lang="en-US" dirty="0" err="1"/>
              <a:t>сто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компьютере</a:t>
            </a:r>
            <a:r>
              <a:rPr lang="en-US" dirty="0"/>
              <a:t>, у </a:t>
            </a:r>
            <a:r>
              <a:rPr lang="en-US" dirty="0" err="1"/>
              <a:t>которого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восемь</a:t>
            </a:r>
            <a:r>
              <a:rPr lang="en-US" dirty="0"/>
              <a:t> </a:t>
            </a:r>
            <a:r>
              <a:rPr lang="en-US" dirty="0" err="1"/>
              <a:t>логических</a:t>
            </a:r>
            <a:r>
              <a:rPr lang="en-US" dirty="0"/>
              <a:t> </a:t>
            </a:r>
            <a:r>
              <a:rPr lang="en-US" dirty="0" err="1"/>
              <a:t>процессоров</a:t>
            </a:r>
            <a:r>
              <a:rPr lang="en-US" dirty="0"/>
              <a:t>?</a:t>
            </a:r>
          </a:p>
          <a:p>
            <a:endParaRPr lang="ru-RU" dirty="0"/>
          </a:p>
          <a:p>
            <a:r>
              <a:rPr lang="en-US" dirty="0" err="1"/>
              <a:t>Очевидно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сто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смогут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. В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логический</a:t>
            </a:r>
            <a:r>
              <a:rPr lang="en-US" dirty="0"/>
              <a:t> CPU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программный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.</a:t>
            </a:r>
          </a:p>
          <a:p>
            <a:r>
              <a:rPr lang="en-US" dirty="0" err="1"/>
              <a:t>Остальным</a:t>
            </a:r>
            <a:r>
              <a:rPr lang="en-US" dirty="0"/>
              <a:t> </a:t>
            </a:r>
            <a:r>
              <a:rPr lang="en-US" dirty="0" err="1"/>
              <a:t>потокам</a:t>
            </a:r>
            <a:r>
              <a:rPr lang="en-US" dirty="0"/>
              <a:t> </a:t>
            </a:r>
            <a:r>
              <a:rPr lang="en-US" dirty="0" err="1"/>
              <a:t>придётся</a:t>
            </a:r>
            <a:r>
              <a:rPr lang="en-US" dirty="0"/>
              <a:t> </a:t>
            </a:r>
            <a:r>
              <a:rPr lang="en-US" dirty="0" err="1"/>
              <a:t>ждать</a:t>
            </a:r>
            <a:r>
              <a:rPr lang="en-US" dirty="0"/>
              <a:t> </a:t>
            </a:r>
            <a:r>
              <a:rPr lang="en-US" dirty="0" err="1"/>
              <a:t>своей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сильно</a:t>
            </a:r>
            <a:r>
              <a:rPr lang="en-US" dirty="0"/>
              <a:t> </a:t>
            </a:r>
            <a:r>
              <a:rPr lang="en-US" dirty="0" err="1"/>
              <a:t>отличаться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характеру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.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длительные</a:t>
            </a:r>
            <a:r>
              <a:rPr lang="en-US" dirty="0"/>
              <a:t> </a:t>
            </a:r>
            <a:r>
              <a:rPr lang="en-US" dirty="0" err="1"/>
              <a:t>математические</a:t>
            </a:r>
            <a:r>
              <a:rPr lang="en-US" dirty="0"/>
              <a:t> </a:t>
            </a:r>
            <a:r>
              <a:rPr lang="en-US" dirty="0" err="1"/>
              <a:t>вычисления</a:t>
            </a:r>
            <a:r>
              <a:rPr lang="en-US" dirty="0"/>
              <a:t>,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обрабатывает</a:t>
            </a:r>
            <a:r>
              <a:rPr lang="en-US" dirty="0"/>
              <a:t> </a:t>
            </a:r>
            <a:r>
              <a:rPr lang="en-US" dirty="0" err="1"/>
              <a:t>нажатие</a:t>
            </a:r>
            <a:r>
              <a:rPr lang="en-US" dirty="0"/>
              <a:t> </a:t>
            </a:r>
            <a:r>
              <a:rPr lang="en-US" dirty="0" err="1"/>
              <a:t>клавиши</a:t>
            </a:r>
            <a:r>
              <a:rPr lang="en-US" dirty="0"/>
              <a:t>, а </a:t>
            </a:r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периодически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сети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отдать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первому</a:t>
            </a:r>
            <a:r>
              <a:rPr lang="en-US" dirty="0"/>
              <a:t> </a:t>
            </a:r>
            <a:r>
              <a:rPr lang="en-US" dirty="0" err="1"/>
              <a:t>потоку</a:t>
            </a:r>
            <a:r>
              <a:rPr lang="en-US" dirty="0"/>
              <a:t> и </a:t>
            </a:r>
            <a:r>
              <a:rPr lang="en-US" dirty="0" err="1"/>
              <a:t>позволить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</a:t>
            </a:r>
            <a:r>
              <a:rPr lang="en-US" dirty="0" err="1"/>
              <a:t>сколько</a:t>
            </a:r>
            <a:r>
              <a:rPr lang="en-US" dirty="0"/>
              <a:t> </a:t>
            </a:r>
            <a:r>
              <a:rPr lang="en-US" dirty="0" err="1"/>
              <a:t>угодно</a:t>
            </a:r>
            <a:r>
              <a:rPr lang="en-US" dirty="0"/>
              <a:t>, </a:t>
            </a:r>
            <a:r>
              <a:rPr lang="en-US" dirty="0" err="1"/>
              <a:t>остальные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долго</a:t>
            </a:r>
            <a:r>
              <a:rPr lang="en-US" dirty="0"/>
              <a:t> </a:t>
            </a:r>
            <a:r>
              <a:rPr lang="en-US" dirty="0" err="1"/>
              <a:t>ждать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распределять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готовыми</a:t>
            </a:r>
            <a:r>
              <a:rPr lang="en-US" dirty="0"/>
              <a:t> к </a:t>
            </a:r>
            <a:r>
              <a:rPr lang="en-US" dirty="0" err="1"/>
              <a:t>выполнению</a:t>
            </a:r>
            <a:r>
              <a:rPr lang="en-US" dirty="0"/>
              <a:t> </a:t>
            </a:r>
            <a:r>
              <a:rPr lang="en-US" dirty="0" err="1"/>
              <a:t>задачами</a:t>
            </a:r>
            <a:r>
              <a:rPr lang="en-US" dirty="0"/>
              <a:t>.</a:t>
            </a:r>
          </a:p>
          <a:p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называется</a:t>
            </a:r>
            <a:r>
              <a:rPr lang="en-US" dirty="0"/>
              <a:t> </a:t>
            </a:r>
            <a:r>
              <a:rPr lang="en-US" dirty="0" err="1"/>
              <a:t>планированием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, </a:t>
            </a:r>
            <a:r>
              <a:rPr lang="en-US" dirty="0" err="1"/>
              <a:t>или</a:t>
            </a:r>
            <a:r>
              <a:rPr lang="en-US" dirty="0"/>
              <a:t> CPU Scheduling.</a:t>
            </a:r>
          </a:p>
          <a:p>
            <a:endParaRPr lang="ru-RU" dirty="0"/>
          </a:p>
          <a:p>
            <a:r>
              <a:rPr lang="ru-RU" dirty="0"/>
              <a:t>Н</a:t>
            </a:r>
            <a:r>
              <a:rPr lang="en-US" dirty="0" err="1"/>
              <a:t>аличие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ядер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устраняет</a:t>
            </a:r>
            <a:r>
              <a:rPr lang="en-US" dirty="0"/>
              <a:t> </a:t>
            </a:r>
            <a:r>
              <a:rPr lang="en-US" dirty="0" err="1"/>
              <a:t>необходимость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.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лишь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параллельно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готовых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доступных</a:t>
            </a:r>
            <a:r>
              <a:rPr lang="en-US" dirty="0"/>
              <a:t> CPU, </a:t>
            </a:r>
            <a:r>
              <a:rPr lang="en-US" dirty="0" err="1"/>
              <a:t>конкуренция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сохраняется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885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</a:t>
            </a:r>
            <a:r>
              <a:rPr lang="en-US" dirty="0" err="1"/>
              <a:t>ам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определяет</a:t>
            </a:r>
            <a:r>
              <a:rPr lang="en-US" dirty="0"/>
              <a:t>, </a:t>
            </a:r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принятие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, </a:t>
            </a:r>
            <a:r>
              <a:rPr lang="en-US" dirty="0" err="1"/>
              <a:t>или</a:t>
            </a:r>
            <a:r>
              <a:rPr lang="en-US" dirty="0"/>
              <a:t> Scheduler.</a:t>
            </a:r>
          </a:p>
          <a:p>
            <a:endParaRPr lang="ru-RU" dirty="0"/>
          </a:p>
          <a:p>
            <a:r>
              <a:rPr lang="en-US" dirty="0" err="1"/>
              <a:t>Предположим</a:t>
            </a:r>
            <a:r>
              <a:rPr lang="en-US" dirty="0"/>
              <a:t>,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четыре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: A, B, C и D.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готовы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свободен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.</a:t>
            </a:r>
          </a:p>
          <a:p>
            <a:r>
              <a:rPr lang="en-US" dirty="0" err="1"/>
              <a:t>Такие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находятся</a:t>
            </a:r>
            <a:r>
              <a:rPr lang="en-US" dirty="0"/>
              <a:t> в </a:t>
            </a:r>
            <a:r>
              <a:rPr lang="en-US" dirty="0" err="1"/>
              <a:t>состоянии</a:t>
            </a:r>
            <a:r>
              <a:rPr lang="en-US" dirty="0"/>
              <a:t> </a:t>
            </a:r>
            <a:r>
              <a:rPr lang="en-US" dirty="0" err="1"/>
              <a:t>готовности</a:t>
            </a:r>
            <a:r>
              <a:rPr lang="en-US" dirty="0"/>
              <a:t> — Ready. </a:t>
            </a:r>
            <a:r>
              <a:rPr lang="en-US" dirty="0" err="1"/>
              <a:t>Концептуально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представить</a:t>
            </a:r>
            <a:r>
              <a:rPr lang="en-US" dirty="0"/>
              <a:t> в </a:t>
            </a:r>
            <a:r>
              <a:rPr lang="en-US" dirty="0" err="1"/>
              <a:t>виде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 </a:t>
            </a:r>
            <a:r>
              <a:rPr lang="en-US" dirty="0" err="1"/>
              <a:t>готовых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анализирует</a:t>
            </a:r>
            <a:r>
              <a:rPr lang="en-US" dirty="0"/>
              <a:t> </a:t>
            </a:r>
            <a:r>
              <a:rPr lang="en-US" dirty="0" err="1"/>
              <a:t>доступные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и </a:t>
            </a:r>
            <a:r>
              <a:rPr lang="en-US" dirty="0" err="1"/>
              <a:t>решает</a:t>
            </a:r>
            <a:r>
              <a:rPr lang="en-US" dirty="0"/>
              <a:t>, </a:t>
            </a:r>
            <a:r>
              <a:rPr lang="en-US" dirty="0" err="1"/>
              <a:t>какую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следующей</a:t>
            </a:r>
            <a:r>
              <a:rPr lang="en-US" dirty="0"/>
              <a:t>. </a:t>
            </a:r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определяется</a:t>
            </a:r>
            <a:r>
              <a:rPr lang="en-US" dirty="0"/>
              <a:t> </a:t>
            </a:r>
            <a:r>
              <a:rPr lang="en-US" dirty="0" err="1"/>
              <a:t>алгоритмом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учитывать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,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использованное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продолжительность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выбора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передать</a:t>
            </a:r>
            <a:r>
              <a:rPr lang="en-US" dirty="0"/>
              <a:t> </a:t>
            </a:r>
            <a:r>
              <a:rPr lang="en-US" dirty="0" err="1"/>
              <a:t>ей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.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диспетчер</a:t>
            </a:r>
            <a:r>
              <a:rPr lang="en-US" dirty="0"/>
              <a:t> — </a:t>
            </a:r>
            <a:r>
              <a:rPr lang="en-US" b="1" dirty="0"/>
              <a:t>Dispatcher</a:t>
            </a:r>
            <a:r>
              <a:rPr lang="en-US" dirty="0"/>
              <a:t>.</a:t>
            </a:r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различать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понятия</a:t>
            </a:r>
            <a:r>
              <a:rPr lang="en-US" dirty="0"/>
              <a:t>.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, а </a:t>
            </a:r>
            <a:r>
              <a:rPr lang="en-US" dirty="0" err="1"/>
              <a:t>диспетчер</a:t>
            </a:r>
            <a:r>
              <a:rPr lang="en-US" dirty="0"/>
              <a:t> —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ru-RU" dirty="0"/>
              <a:t>При этом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самостоятельной</a:t>
            </a:r>
            <a:r>
              <a:rPr lang="en-US" dirty="0"/>
              <a:t> </a:t>
            </a:r>
            <a:r>
              <a:rPr lang="en-US" dirty="0" err="1"/>
              <a:t>программой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непрерывно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отдельном</a:t>
            </a:r>
            <a:r>
              <a:rPr lang="en-US" dirty="0"/>
              <a:t> </a:t>
            </a:r>
            <a:r>
              <a:rPr lang="en-US" dirty="0" err="1"/>
              <a:t>процессоре</a:t>
            </a:r>
            <a:r>
              <a:rPr lang="en-US" dirty="0"/>
              <a:t>. Это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 ОС,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необходимость</a:t>
            </a:r>
            <a:r>
              <a:rPr lang="en-US" dirty="0"/>
              <a:t> </a:t>
            </a:r>
            <a:r>
              <a:rPr lang="en-US" dirty="0" err="1"/>
              <a:t>принять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о </a:t>
            </a:r>
            <a:r>
              <a:rPr lang="en-US" dirty="0" err="1"/>
              <a:t>планировании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современных</a:t>
            </a:r>
            <a:r>
              <a:rPr lang="en-US" dirty="0"/>
              <a:t> Linux и Windows </a:t>
            </a:r>
            <a:r>
              <a:rPr lang="en-US" dirty="0" err="1"/>
              <a:t>планирование</a:t>
            </a:r>
            <a:r>
              <a:rPr lang="en-US" dirty="0"/>
              <a:t> </a:t>
            </a:r>
            <a:r>
              <a:rPr lang="en-US" dirty="0" err="1"/>
              <a:t>обычных</a:t>
            </a:r>
            <a:r>
              <a:rPr lang="en-US" dirty="0"/>
              <a:t> </a:t>
            </a:r>
            <a:r>
              <a:rPr lang="en-US" dirty="0" err="1"/>
              <a:t>приложений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преимущественно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говорим</a:t>
            </a:r>
            <a:r>
              <a:rPr lang="en-US" dirty="0"/>
              <a:t> о </a:t>
            </a:r>
            <a:r>
              <a:rPr lang="en-US" dirty="0" err="1"/>
              <a:t>планировании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, </a:t>
            </a:r>
            <a:r>
              <a:rPr lang="en-US" dirty="0" err="1"/>
              <a:t>фактически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выделяется</a:t>
            </a:r>
            <a:r>
              <a:rPr lang="en-US" dirty="0"/>
              <a:t> </a:t>
            </a:r>
            <a:r>
              <a:rPr lang="en-US" dirty="0" err="1"/>
              <a:t>отдельным</a:t>
            </a:r>
            <a:r>
              <a:rPr lang="en-US" dirty="0"/>
              <a:t> </a:t>
            </a:r>
            <a:r>
              <a:rPr lang="en-US" dirty="0" err="1"/>
              <a:t>потокам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используем</a:t>
            </a:r>
            <a:r>
              <a:rPr lang="en-US" dirty="0"/>
              <a:t> </a:t>
            </a:r>
            <a:r>
              <a:rPr lang="en-US" dirty="0" err="1"/>
              <a:t>упрощённую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с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очередью</a:t>
            </a:r>
            <a:r>
              <a:rPr lang="en-US" dirty="0"/>
              <a:t>. </a:t>
            </a:r>
            <a:r>
              <a:rPr lang="ru-RU" dirty="0"/>
              <a:t>Но в </a:t>
            </a:r>
            <a:r>
              <a:rPr lang="en-US" dirty="0" err="1"/>
              <a:t>реальных</a:t>
            </a:r>
            <a:r>
              <a:rPr lang="en-US" dirty="0"/>
              <a:t> </a:t>
            </a:r>
            <a:r>
              <a:rPr lang="en-US" dirty="0" err="1"/>
              <a:t>многоядерных</a:t>
            </a:r>
            <a:r>
              <a:rPr lang="en-US" dirty="0"/>
              <a:t> </a:t>
            </a:r>
            <a:r>
              <a:rPr lang="en-US" dirty="0" err="1"/>
              <a:t>системах</a:t>
            </a:r>
            <a:r>
              <a:rPr lang="en-US" dirty="0"/>
              <a:t> </a:t>
            </a:r>
            <a:r>
              <a:rPr lang="en-US" dirty="0" err="1"/>
              <a:t>организация</a:t>
            </a:r>
            <a:r>
              <a:rPr lang="en-US" dirty="0"/>
              <a:t> </a:t>
            </a:r>
            <a:r>
              <a:rPr lang="en-US" dirty="0" err="1"/>
              <a:t>очередей</a:t>
            </a:r>
            <a:r>
              <a:rPr lang="en-US" dirty="0"/>
              <a:t> </a:t>
            </a:r>
            <a:r>
              <a:rPr lang="en-US" dirty="0" err="1"/>
              <a:t>готовности</a:t>
            </a:r>
            <a:r>
              <a:rPr lang="en-US" dirty="0"/>
              <a:t> </a:t>
            </a:r>
            <a:r>
              <a:rPr lang="en-US" dirty="0" err="1"/>
              <a:t>сложнее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4486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знакомились</a:t>
            </a:r>
            <a:r>
              <a:rPr lang="en-US" dirty="0"/>
              <a:t> с </a:t>
            </a:r>
            <a:r>
              <a:rPr lang="en-US" dirty="0" err="1"/>
              <a:t>состояниями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 и </a:t>
            </a:r>
            <a:r>
              <a:rPr lang="en-US" dirty="0" err="1"/>
              <a:t>потоков</a:t>
            </a:r>
            <a:r>
              <a:rPr lang="en-US" dirty="0"/>
              <a:t>.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планировщика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понимания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выделить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основных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Первое</a:t>
            </a:r>
            <a:r>
              <a:rPr lang="en-US" dirty="0"/>
              <a:t> — Ready, </a:t>
            </a:r>
            <a:r>
              <a:rPr lang="en-US" dirty="0" err="1"/>
              <a:t>или</a:t>
            </a:r>
            <a:r>
              <a:rPr lang="en-US" dirty="0"/>
              <a:t> «</a:t>
            </a:r>
            <a:r>
              <a:rPr lang="en-US" dirty="0" err="1"/>
              <a:t>Готов</a:t>
            </a:r>
            <a:r>
              <a:rPr lang="en-US" dirty="0"/>
              <a:t>».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необходимое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в </a:t>
            </a:r>
            <a:r>
              <a:rPr lang="en-US" dirty="0" err="1"/>
              <a:t>настоящий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получил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.</a:t>
            </a:r>
          </a:p>
          <a:p>
            <a:r>
              <a:rPr lang="en-US" dirty="0" err="1"/>
              <a:t>Второе</a:t>
            </a:r>
            <a:r>
              <a:rPr lang="en-US" dirty="0"/>
              <a:t> — Running, </a:t>
            </a:r>
            <a:r>
              <a:rPr lang="en-US" dirty="0" err="1"/>
              <a:t>или</a:t>
            </a:r>
            <a:r>
              <a:rPr lang="en-US" dirty="0"/>
              <a:t> «</a:t>
            </a:r>
            <a:r>
              <a:rPr lang="en-US" dirty="0" err="1"/>
              <a:t>Выполняется</a:t>
            </a:r>
            <a:r>
              <a:rPr lang="en-US" dirty="0"/>
              <a:t>».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получил</a:t>
            </a:r>
            <a:r>
              <a:rPr lang="en-US" dirty="0"/>
              <a:t> CPU и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.</a:t>
            </a:r>
          </a:p>
          <a:p>
            <a:r>
              <a:rPr lang="en-US" dirty="0" err="1"/>
              <a:t>Третье</a:t>
            </a:r>
            <a:r>
              <a:rPr lang="en-US" dirty="0"/>
              <a:t> — Blocked, </a:t>
            </a:r>
            <a:r>
              <a:rPr lang="en-US" dirty="0" err="1"/>
              <a:t>или</a:t>
            </a:r>
            <a:r>
              <a:rPr lang="en-US" dirty="0"/>
              <a:t> «</a:t>
            </a:r>
            <a:r>
              <a:rPr lang="en-US" dirty="0" err="1"/>
              <a:t>Ожидает</a:t>
            </a:r>
            <a:r>
              <a:rPr lang="en-US" dirty="0"/>
              <a:t>».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наступления</a:t>
            </a:r>
            <a:r>
              <a:rPr lang="en-US" dirty="0"/>
              <a:t> </a:t>
            </a:r>
            <a:r>
              <a:rPr lang="en-US" dirty="0" err="1"/>
              <a:t>некоторого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сети</a:t>
            </a:r>
            <a:r>
              <a:rPr lang="en-US" dirty="0"/>
              <a:t>, </a:t>
            </a:r>
            <a:r>
              <a:rPr lang="en-US" dirty="0" err="1"/>
              <a:t>освобождение</a:t>
            </a:r>
            <a:r>
              <a:rPr lang="en-US" dirty="0"/>
              <a:t> </a:t>
            </a:r>
            <a:r>
              <a:rPr lang="en-US" dirty="0" err="1"/>
              <a:t>мьютекса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завершение</a:t>
            </a:r>
            <a:r>
              <a:rPr lang="en-US" dirty="0"/>
              <a:t> </a:t>
            </a:r>
            <a:r>
              <a:rPr lang="en-US" dirty="0" err="1"/>
              <a:t>таймера</a:t>
            </a:r>
            <a:r>
              <a:rPr lang="en-US" dirty="0"/>
              <a:t> </a:t>
            </a:r>
            <a:r>
              <a:rPr lang="en-US" dirty="0" err="1"/>
              <a:t>сна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происходят</a:t>
            </a:r>
            <a:r>
              <a:rPr lang="en-US" dirty="0"/>
              <a:t> </a:t>
            </a:r>
            <a:r>
              <a:rPr lang="en-US" dirty="0" err="1"/>
              <a:t>переходы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выбирает</a:t>
            </a:r>
            <a:r>
              <a:rPr lang="en-US" dirty="0"/>
              <a:t> </a:t>
            </a:r>
            <a:r>
              <a:rPr lang="en-US" dirty="0" err="1"/>
              <a:t>готовый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и </a:t>
            </a:r>
            <a:r>
              <a:rPr lang="en-US" dirty="0" err="1"/>
              <a:t>диспетчер</a:t>
            </a:r>
            <a:r>
              <a:rPr lang="en-US" dirty="0"/>
              <a:t> </a:t>
            </a:r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,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переходит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Ready в Running.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ожидать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переходит</a:t>
            </a:r>
            <a:r>
              <a:rPr lang="en-US" dirty="0"/>
              <a:t> в Blocked.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CPU </a:t>
            </a:r>
            <a:r>
              <a:rPr lang="en-US" dirty="0" err="1"/>
              <a:t>освобождается</a:t>
            </a:r>
            <a:r>
              <a:rPr lang="en-US" dirty="0"/>
              <a:t> и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предоставлен</a:t>
            </a:r>
            <a:r>
              <a:rPr lang="en-US" dirty="0"/>
              <a:t> </a:t>
            </a:r>
            <a:r>
              <a:rPr lang="en-US" dirty="0" err="1"/>
              <a:t>другому</a:t>
            </a:r>
            <a:r>
              <a:rPr lang="en-US" dirty="0"/>
              <a:t> </a:t>
            </a:r>
            <a:r>
              <a:rPr lang="en-US" dirty="0" err="1"/>
              <a:t>потоку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ожидаемое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, </a:t>
            </a:r>
            <a:r>
              <a:rPr lang="en-US" dirty="0" err="1"/>
              <a:t>заблокированный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готовым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получит</a:t>
            </a:r>
            <a:r>
              <a:rPr lang="en-US" dirty="0"/>
              <a:t> CPU </a:t>
            </a:r>
            <a:r>
              <a:rPr lang="en-US" dirty="0" err="1"/>
              <a:t>немедленно</a:t>
            </a:r>
            <a:r>
              <a:rPr lang="en-US" dirty="0"/>
              <a:t>: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, </a:t>
            </a:r>
            <a:r>
              <a:rPr lang="en-US" dirty="0" err="1"/>
              <a:t>следует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запускать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прямо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.</a:t>
            </a:r>
          </a:p>
          <a:p>
            <a:r>
              <a:rPr lang="en-US" dirty="0" err="1"/>
              <a:t>Наконец</a:t>
            </a:r>
            <a:r>
              <a:rPr lang="en-US" dirty="0"/>
              <a:t>, </a:t>
            </a:r>
            <a:r>
              <a:rPr lang="en-US" dirty="0" err="1"/>
              <a:t>выполняющийся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вытеснен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системой</a:t>
            </a:r>
            <a:r>
              <a:rPr lang="en-US" dirty="0"/>
              <a:t>.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возвращается</a:t>
            </a:r>
            <a:r>
              <a:rPr lang="en-US" dirty="0"/>
              <a:t> в Ready.</a:t>
            </a:r>
          </a:p>
          <a:p>
            <a:endParaRPr lang="ru-RU" dirty="0"/>
          </a:p>
          <a:p>
            <a:r>
              <a:rPr lang="en-US" dirty="0" err="1"/>
              <a:t>Ключевое</a:t>
            </a:r>
            <a:r>
              <a:rPr lang="en-US" dirty="0"/>
              <a:t> </a:t>
            </a:r>
            <a:r>
              <a:rPr lang="en-US" dirty="0" err="1"/>
              <a:t>различие</a:t>
            </a:r>
            <a:r>
              <a:rPr lang="en-US" dirty="0"/>
              <a:t> — </a:t>
            </a:r>
            <a:r>
              <a:rPr lang="en-US" dirty="0" err="1"/>
              <a:t>между</a:t>
            </a:r>
            <a:r>
              <a:rPr lang="en-US" dirty="0"/>
              <a:t> Ready и Blocked. </a:t>
            </a:r>
            <a:r>
              <a:rPr lang="en-US" dirty="0" err="1"/>
              <a:t>Готовый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 </a:t>
            </a:r>
            <a:r>
              <a:rPr lang="en-US" dirty="0" err="1"/>
              <a:t>прямо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предоставить</a:t>
            </a:r>
            <a:r>
              <a:rPr lang="en-US" dirty="0"/>
              <a:t> CPU. </a:t>
            </a:r>
            <a:r>
              <a:rPr lang="en-US" dirty="0" err="1"/>
              <a:t>Заблокированный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,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свободен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071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многих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характерно</a:t>
            </a:r>
            <a:r>
              <a:rPr lang="en-US" dirty="0"/>
              <a:t> </a:t>
            </a:r>
            <a:r>
              <a:rPr lang="en-US" dirty="0" err="1"/>
              <a:t>чередование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 и </a:t>
            </a:r>
            <a:r>
              <a:rPr lang="en-US" dirty="0" err="1"/>
              <a:t>ожидания</a:t>
            </a:r>
            <a:r>
              <a:rPr lang="en-US" dirty="0"/>
              <a:t> </a:t>
            </a:r>
            <a:r>
              <a:rPr lang="en-US" dirty="0" err="1"/>
              <a:t>внешних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читает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файла</a:t>
            </a:r>
            <a:r>
              <a:rPr lang="en-US" dirty="0"/>
              <a:t>, </a:t>
            </a:r>
            <a:r>
              <a:rPr lang="en-US" dirty="0" err="1"/>
              <a:t>обрабатывает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,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читает</a:t>
            </a:r>
            <a:r>
              <a:rPr lang="en-US" dirty="0"/>
              <a:t> </a:t>
            </a:r>
            <a:r>
              <a:rPr lang="en-US" dirty="0" err="1"/>
              <a:t>следующую</a:t>
            </a:r>
            <a:r>
              <a:rPr lang="en-US" dirty="0"/>
              <a:t> </a:t>
            </a:r>
            <a:r>
              <a:rPr lang="en-US" dirty="0" err="1"/>
              <a:t>порцию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</a:p>
          <a:p>
            <a:r>
              <a:rPr lang="en-US" dirty="0" err="1"/>
              <a:t>Периоды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процессоре</a:t>
            </a:r>
            <a:r>
              <a:rPr lang="en-US" dirty="0"/>
              <a:t>, </a:t>
            </a:r>
            <a:r>
              <a:rPr lang="en-US" dirty="0" err="1"/>
              <a:t>называются</a:t>
            </a:r>
            <a:r>
              <a:rPr lang="en-US" dirty="0"/>
              <a:t> CPU Bursts — </a:t>
            </a:r>
            <a:r>
              <a:rPr lang="en-US" dirty="0" err="1"/>
              <a:t>вычислительными</a:t>
            </a:r>
            <a:r>
              <a:rPr lang="en-US" dirty="0"/>
              <a:t> </a:t>
            </a:r>
            <a:r>
              <a:rPr lang="en-US" dirty="0" err="1"/>
              <a:t>участками</a:t>
            </a:r>
            <a:r>
              <a:rPr lang="en-US" dirty="0"/>
              <a:t>.</a:t>
            </a:r>
          </a:p>
          <a:p>
            <a:r>
              <a:rPr lang="en-US" dirty="0" err="1"/>
              <a:t>Периоды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ввода-вывода</a:t>
            </a:r>
            <a:r>
              <a:rPr lang="en-US" dirty="0"/>
              <a:t> </a:t>
            </a:r>
            <a:r>
              <a:rPr lang="en-US" dirty="0" err="1"/>
              <a:t>называются</a:t>
            </a:r>
            <a:r>
              <a:rPr lang="en-US" dirty="0"/>
              <a:t> I/O Bursts.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зависимости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соотношения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периодов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условно</a:t>
            </a:r>
            <a:r>
              <a:rPr lang="en-US" dirty="0"/>
              <a:t> </a:t>
            </a:r>
            <a:r>
              <a:rPr lang="en-US" dirty="0" err="1"/>
              <a:t>делят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CPU-bound и I/O-bound.</a:t>
            </a:r>
          </a:p>
          <a:p>
            <a:r>
              <a:rPr lang="en-US" dirty="0"/>
              <a:t>CPU-bound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большую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своего</a:t>
            </a:r>
            <a:r>
              <a:rPr lang="en-US" dirty="0"/>
              <a:t> </a:t>
            </a:r>
            <a:r>
              <a:rPr lang="en-US" dirty="0" err="1"/>
              <a:t>активного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выполняют</a:t>
            </a:r>
            <a:r>
              <a:rPr lang="en-US" dirty="0"/>
              <a:t> </a:t>
            </a:r>
            <a:r>
              <a:rPr lang="en-US" dirty="0" err="1"/>
              <a:t>вычисления</a:t>
            </a:r>
            <a:r>
              <a:rPr lang="en-US" dirty="0"/>
              <a:t>. </a:t>
            </a:r>
            <a:r>
              <a:rPr lang="en-US" dirty="0" err="1"/>
              <a:t>Примером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служить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кодирует</a:t>
            </a:r>
            <a:r>
              <a:rPr lang="en-US" dirty="0"/>
              <a:t> </a:t>
            </a:r>
            <a:r>
              <a:rPr lang="en-US" dirty="0" err="1"/>
              <a:t>видео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рассчитывает</a:t>
            </a:r>
            <a:r>
              <a:rPr lang="en-US" dirty="0"/>
              <a:t> </a:t>
            </a:r>
            <a:r>
              <a:rPr lang="en-US" dirty="0" err="1"/>
              <a:t>сложную</a:t>
            </a:r>
            <a:r>
              <a:rPr lang="en-US" dirty="0"/>
              <a:t> </a:t>
            </a:r>
            <a:r>
              <a:rPr lang="en-US" dirty="0" err="1"/>
              <a:t>математическую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.</a:t>
            </a:r>
          </a:p>
          <a:p>
            <a:r>
              <a:rPr lang="en-US" dirty="0"/>
              <a:t>I/O-bound </a:t>
            </a:r>
            <a:r>
              <a:rPr lang="en-US" dirty="0" err="1"/>
              <a:t>задачи</a:t>
            </a:r>
            <a:r>
              <a:rPr lang="en-US" dirty="0"/>
              <a:t>, </a:t>
            </a:r>
            <a:r>
              <a:rPr lang="en-US" dirty="0" err="1"/>
              <a:t>напротив</a:t>
            </a:r>
            <a:r>
              <a:rPr lang="en-US" dirty="0"/>
              <a:t>,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обращаются</a:t>
            </a:r>
            <a:r>
              <a:rPr lang="en-US" dirty="0"/>
              <a:t> к </a:t>
            </a:r>
            <a:r>
              <a:rPr lang="en-US" dirty="0" err="1"/>
              <a:t>внешним</a:t>
            </a:r>
            <a:r>
              <a:rPr lang="en-US" dirty="0"/>
              <a:t> </a:t>
            </a:r>
            <a:r>
              <a:rPr lang="en-US" dirty="0" err="1"/>
              <a:t>устройствам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ждут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сервер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сетевой</a:t>
            </a:r>
            <a:r>
              <a:rPr lang="en-US" dirty="0"/>
              <a:t> </a:t>
            </a:r>
            <a:r>
              <a:rPr lang="en-US" dirty="0" err="1"/>
              <a:t>запрос</a:t>
            </a:r>
            <a:r>
              <a:rPr lang="en-US" dirty="0"/>
              <a:t>, </a:t>
            </a:r>
            <a:r>
              <a:rPr lang="en-US" dirty="0" err="1"/>
              <a:t>немного</a:t>
            </a:r>
            <a:r>
              <a:rPr lang="en-US" dirty="0"/>
              <a:t> </a:t>
            </a:r>
            <a:r>
              <a:rPr lang="en-US" dirty="0" err="1"/>
              <a:t>обрабатывает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и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ответа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базы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?</a:t>
            </a:r>
          </a:p>
          <a:p>
            <a:r>
              <a:rPr lang="en-US" dirty="0" err="1"/>
              <a:t>Представьте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I/O-bound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получил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сети</a:t>
            </a:r>
            <a:r>
              <a:rPr lang="en-US" dirty="0"/>
              <a:t>.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миллисекунда</a:t>
            </a:r>
            <a:r>
              <a:rPr lang="en-US" dirty="0"/>
              <a:t> </a:t>
            </a:r>
            <a:r>
              <a:rPr lang="en-US" dirty="0" err="1"/>
              <a:t>процессорного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обработать</a:t>
            </a:r>
            <a:r>
              <a:rPr lang="en-US" dirty="0"/>
              <a:t> </a:t>
            </a:r>
            <a:r>
              <a:rPr lang="en-US" dirty="0" err="1"/>
              <a:t>запрос</a:t>
            </a:r>
            <a:r>
              <a:rPr lang="en-US" dirty="0"/>
              <a:t> и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начать</a:t>
            </a:r>
            <a:r>
              <a:rPr lang="en-US" dirty="0"/>
              <a:t> </a:t>
            </a:r>
            <a:r>
              <a:rPr lang="en-US" dirty="0" err="1"/>
              <a:t>ожидать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вынужден</a:t>
            </a:r>
            <a:r>
              <a:rPr lang="en-US" dirty="0"/>
              <a:t> </a:t>
            </a:r>
            <a:r>
              <a:rPr lang="en-US" dirty="0" err="1"/>
              <a:t>ждать</a:t>
            </a:r>
            <a:r>
              <a:rPr lang="en-US" dirty="0"/>
              <a:t>,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длительные</a:t>
            </a:r>
            <a:r>
              <a:rPr lang="en-US" dirty="0"/>
              <a:t> </a:t>
            </a:r>
            <a:r>
              <a:rPr lang="en-US" dirty="0" err="1"/>
              <a:t>вычисления</a:t>
            </a:r>
            <a:r>
              <a:rPr lang="en-US" dirty="0"/>
              <a:t>, </a:t>
            </a:r>
            <a:r>
              <a:rPr lang="en-US" dirty="0" err="1"/>
              <a:t>обработка</a:t>
            </a:r>
            <a:r>
              <a:rPr lang="en-US" dirty="0"/>
              <a:t> </a:t>
            </a:r>
            <a:r>
              <a:rPr lang="en-US" dirty="0" err="1"/>
              <a:t>запроса</a:t>
            </a:r>
            <a:r>
              <a:rPr lang="en-US" dirty="0"/>
              <a:t> </a:t>
            </a:r>
            <a:r>
              <a:rPr lang="en-US" dirty="0" err="1"/>
              <a:t>задерживается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быстро</a:t>
            </a:r>
            <a:r>
              <a:rPr lang="en-US" dirty="0"/>
              <a:t>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CPU,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небольшую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и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блокируется</a:t>
            </a:r>
            <a:r>
              <a:rPr lang="en-US" dirty="0"/>
              <a:t>. В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вернуться</a:t>
            </a:r>
            <a:r>
              <a:rPr lang="en-US" dirty="0"/>
              <a:t> к </a:t>
            </a:r>
            <a:r>
              <a:rPr lang="en-US" dirty="0" err="1"/>
              <a:t>вычислительной</a:t>
            </a:r>
            <a:r>
              <a:rPr lang="en-US" dirty="0"/>
              <a:t> </a:t>
            </a:r>
            <a:r>
              <a:rPr lang="en-US" dirty="0" err="1"/>
              <a:t>задаче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хороший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учитывать</a:t>
            </a:r>
            <a:r>
              <a:rPr lang="en-US" dirty="0"/>
              <a:t> </a:t>
            </a:r>
            <a:r>
              <a:rPr lang="en-US" dirty="0" err="1"/>
              <a:t>различия</a:t>
            </a:r>
            <a:r>
              <a:rPr lang="en-US" dirty="0"/>
              <a:t> в </a:t>
            </a:r>
            <a:r>
              <a:rPr lang="en-US" dirty="0" err="1"/>
              <a:t>поведении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.</a:t>
            </a:r>
          </a:p>
          <a:p>
            <a:r>
              <a:rPr lang="en-US" dirty="0" err="1"/>
              <a:t>Замечу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CPU-bound и I/O-bound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постоянные</a:t>
            </a:r>
            <a:r>
              <a:rPr lang="en-US" dirty="0"/>
              <a:t> </a:t>
            </a:r>
            <a:r>
              <a:rPr lang="en-US" dirty="0" err="1"/>
              <a:t>свойства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 В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моменты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dirty="0" err="1"/>
              <a:t>характер</a:t>
            </a:r>
            <a:r>
              <a:rPr lang="en-US" dirty="0"/>
              <a:t> </a:t>
            </a:r>
            <a:r>
              <a:rPr lang="en-US" dirty="0" err="1"/>
              <a:t>нагрузки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меняться</a:t>
            </a:r>
            <a:r>
              <a:rPr lang="en-US" dirty="0"/>
              <a:t>. </a:t>
            </a:r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современные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асинхронный</a:t>
            </a:r>
            <a:r>
              <a:rPr lang="en-US" dirty="0"/>
              <a:t> </a:t>
            </a:r>
            <a:r>
              <a:rPr lang="en-US" dirty="0" err="1"/>
              <a:t>ввод-вывод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блокировать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каждой</a:t>
            </a:r>
            <a:r>
              <a:rPr lang="en-US" dirty="0"/>
              <a:t> I/O-</a:t>
            </a:r>
            <a:r>
              <a:rPr lang="en-US" dirty="0" err="1"/>
              <a:t>операции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2902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именно п</a:t>
            </a:r>
            <a:r>
              <a:rPr lang="en-US" dirty="0" err="1"/>
              <a:t>ланировщик</a:t>
            </a:r>
            <a:r>
              <a:rPr lang="en-US" dirty="0"/>
              <a:t> </a:t>
            </a:r>
            <a:r>
              <a:rPr lang="en-US" dirty="0" err="1"/>
              <a:t>выбирает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?</a:t>
            </a:r>
          </a:p>
          <a:p>
            <a:endParaRPr lang="ru-RU" dirty="0"/>
          </a:p>
          <a:p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занимается</a:t>
            </a:r>
            <a:r>
              <a:rPr lang="en-US" dirty="0"/>
              <a:t> </a:t>
            </a:r>
            <a:r>
              <a:rPr lang="en-US" dirty="0" err="1"/>
              <a:t>непрерывным</a:t>
            </a:r>
            <a:r>
              <a:rPr lang="en-US" dirty="0"/>
              <a:t> </a:t>
            </a:r>
            <a:r>
              <a:rPr lang="en-US" dirty="0" err="1"/>
              <a:t>перебором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.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необходимость</a:t>
            </a:r>
            <a:r>
              <a:rPr lang="en-US" dirty="0"/>
              <a:t> </a:t>
            </a:r>
            <a:r>
              <a:rPr lang="en-US" dirty="0" err="1"/>
              <a:t>пересмотреть</a:t>
            </a:r>
            <a:r>
              <a:rPr lang="en-US" dirty="0"/>
              <a:t> </a:t>
            </a:r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в </a:t>
            </a:r>
            <a:r>
              <a:rPr lang="en-US" dirty="0" err="1"/>
              <a:t>ответ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определённые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.</a:t>
            </a:r>
          </a:p>
          <a:p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примеров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Предположим</a:t>
            </a:r>
            <a:r>
              <a:rPr lang="en-US" dirty="0"/>
              <a:t>,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процессоре</a:t>
            </a:r>
            <a:r>
              <a:rPr lang="en-US" dirty="0"/>
              <a:t> и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dirty="0" err="1"/>
              <a:t>блокирующую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 </a:t>
            </a:r>
            <a:r>
              <a:rPr lang="en-US" dirty="0" err="1"/>
              <a:t>чтения</a:t>
            </a:r>
            <a:r>
              <a:rPr lang="en-US" dirty="0"/>
              <a:t>.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поступили</a:t>
            </a:r>
            <a:r>
              <a:rPr lang="en-US" dirty="0"/>
              <a:t>,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невозможно</a:t>
            </a:r>
            <a:r>
              <a:rPr lang="en-US" dirty="0"/>
              <a:t>.</a:t>
            </a:r>
          </a:p>
          <a:p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переходит</a:t>
            </a:r>
            <a:r>
              <a:rPr lang="en-US" dirty="0"/>
              <a:t> в </a:t>
            </a:r>
            <a:r>
              <a:rPr lang="en-US" dirty="0" err="1"/>
              <a:t>состояние</a:t>
            </a:r>
            <a:r>
              <a:rPr lang="en-US" dirty="0"/>
              <a:t> Blocked, и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выбрать</a:t>
            </a:r>
            <a:r>
              <a:rPr lang="en-US" dirty="0"/>
              <a:t> </a:t>
            </a:r>
            <a:r>
              <a:rPr lang="en-US" dirty="0" err="1"/>
              <a:t>другую</a:t>
            </a:r>
            <a:r>
              <a:rPr lang="en-US" dirty="0"/>
              <a:t> </a:t>
            </a:r>
            <a:r>
              <a:rPr lang="en-US" dirty="0" err="1"/>
              <a:t>готовую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.</a:t>
            </a:r>
          </a:p>
          <a:p>
            <a:r>
              <a:rPr lang="en-US" dirty="0" err="1"/>
              <a:t>Аналогичная</a:t>
            </a:r>
            <a:r>
              <a:rPr lang="en-US" dirty="0"/>
              <a:t> </a:t>
            </a:r>
            <a:r>
              <a:rPr lang="en-US" dirty="0" err="1"/>
              <a:t>ситуация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завершает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добровольно</a:t>
            </a:r>
            <a:r>
              <a:rPr lang="en-US" dirty="0"/>
              <a:t> </a:t>
            </a:r>
            <a:r>
              <a:rPr lang="en-US" dirty="0" err="1"/>
              <a:t>уступает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противоположный</a:t>
            </a:r>
            <a:r>
              <a:rPr lang="en-US" dirty="0"/>
              <a:t> </a:t>
            </a:r>
            <a:r>
              <a:rPr lang="en-US" dirty="0" err="1"/>
              <a:t>случай</a:t>
            </a:r>
            <a:r>
              <a:rPr lang="en-US" dirty="0"/>
              <a:t>: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ожидал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сети</a:t>
            </a:r>
            <a:r>
              <a:rPr lang="en-US" dirty="0"/>
              <a:t>, и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ввода-вывода</a:t>
            </a:r>
            <a:r>
              <a:rPr lang="en-US" dirty="0"/>
              <a:t> </a:t>
            </a:r>
            <a:r>
              <a:rPr lang="en-US" dirty="0" err="1"/>
              <a:t>завершилась</a:t>
            </a:r>
            <a:r>
              <a:rPr lang="en-US" dirty="0"/>
              <a:t>. ОС </a:t>
            </a:r>
            <a:r>
              <a:rPr lang="en-US" dirty="0" err="1"/>
              <a:t>переводит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в </a:t>
            </a:r>
            <a:r>
              <a:rPr lang="en-US" dirty="0" err="1"/>
              <a:t>состояние</a:t>
            </a:r>
            <a:r>
              <a:rPr lang="en-US" dirty="0"/>
              <a:t> Ready.</a:t>
            </a:r>
          </a:p>
          <a:p>
            <a:r>
              <a:rPr lang="en-US" dirty="0" err="1"/>
              <a:t>Появился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кандидат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. </a:t>
            </a:r>
            <a:r>
              <a:rPr lang="en-US" dirty="0" err="1"/>
              <a:t>Возможно</a:t>
            </a:r>
            <a:r>
              <a:rPr lang="en-US" dirty="0"/>
              <a:t>,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решит</a:t>
            </a:r>
            <a:r>
              <a:rPr lang="en-US" dirty="0"/>
              <a:t> </a:t>
            </a:r>
            <a:r>
              <a:rPr lang="en-US" dirty="0" err="1"/>
              <a:t>предоставить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немедленно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пробудившийся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высокий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важный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связан</a:t>
            </a:r>
            <a:r>
              <a:rPr lang="en-US" dirty="0"/>
              <a:t> с </a:t>
            </a:r>
            <a:r>
              <a:rPr lang="en-US" dirty="0" err="1"/>
              <a:t>аппаратными</a:t>
            </a:r>
            <a:r>
              <a:rPr lang="en-US" dirty="0"/>
              <a:t> </a:t>
            </a:r>
            <a:r>
              <a:rPr lang="en-US" dirty="0" err="1"/>
              <a:t>таймерами</a:t>
            </a:r>
            <a:r>
              <a:rPr lang="en-US" dirty="0"/>
              <a:t>.</a:t>
            </a:r>
          </a:p>
          <a:p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таймер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ограничения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непрерывного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.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истечения</a:t>
            </a:r>
            <a:r>
              <a:rPr lang="en-US" dirty="0"/>
              <a:t> </a:t>
            </a:r>
            <a:r>
              <a:rPr lang="en-US" dirty="0" err="1"/>
              <a:t>кванта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пересмотреть</a:t>
            </a:r>
            <a:r>
              <a:rPr lang="en-US" dirty="0"/>
              <a:t> </a:t>
            </a:r>
            <a:r>
              <a:rPr lang="en-US" dirty="0" err="1"/>
              <a:t>своё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ru-RU" dirty="0"/>
              <a:t>Но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каждое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dirty="0" err="1"/>
              <a:t>переключение</a:t>
            </a:r>
            <a:r>
              <a:rPr lang="en-US" dirty="0"/>
              <a:t> </a:t>
            </a:r>
            <a:r>
              <a:rPr lang="en-US" dirty="0" err="1"/>
              <a:t>контекста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проснулся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с </a:t>
            </a:r>
            <a:r>
              <a:rPr lang="en-US" dirty="0" err="1"/>
              <a:t>низким</a:t>
            </a:r>
            <a:r>
              <a:rPr lang="en-US" dirty="0"/>
              <a:t> </a:t>
            </a:r>
            <a:r>
              <a:rPr lang="en-US" dirty="0" err="1"/>
              <a:t>приоритетом</a:t>
            </a:r>
            <a:r>
              <a:rPr lang="en-US" dirty="0"/>
              <a:t>, а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занят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приоритетной</a:t>
            </a:r>
            <a:r>
              <a:rPr lang="en-US" dirty="0"/>
              <a:t> </a:t>
            </a:r>
            <a:r>
              <a:rPr lang="en-US" dirty="0" err="1"/>
              <a:t>задачей</a:t>
            </a:r>
            <a:r>
              <a:rPr lang="en-US" dirty="0"/>
              <a:t>.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оставить</a:t>
            </a:r>
            <a:r>
              <a:rPr lang="en-US" dirty="0"/>
              <a:t> </a:t>
            </a:r>
            <a:r>
              <a:rPr lang="en-US" dirty="0" err="1"/>
              <a:t>текущий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CPU.</a:t>
            </a:r>
          </a:p>
          <a:p>
            <a:endParaRPr lang="ru-RU" dirty="0"/>
          </a:p>
          <a:p>
            <a:r>
              <a:rPr lang="en-US" dirty="0" err="1"/>
              <a:t>Точно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прерывание</a:t>
            </a:r>
            <a:r>
              <a:rPr lang="en-US" dirty="0"/>
              <a:t> </a:t>
            </a:r>
            <a:r>
              <a:rPr lang="en-US" dirty="0" err="1"/>
              <a:t>таймера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 </a:t>
            </a:r>
            <a:r>
              <a:rPr lang="en-US" dirty="0" err="1"/>
              <a:t>немедленное</a:t>
            </a:r>
            <a:r>
              <a:rPr lang="en-US" dirty="0"/>
              <a:t> </a:t>
            </a:r>
            <a:r>
              <a:rPr lang="en-US" dirty="0" err="1"/>
              <a:t>переключение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следует</a:t>
            </a:r>
            <a:r>
              <a:rPr lang="en-US" dirty="0"/>
              <a:t> </a:t>
            </a:r>
            <a:r>
              <a:rPr lang="en-US" dirty="0" err="1"/>
              <a:t>различать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: </a:t>
            </a:r>
            <a:r>
              <a:rPr lang="en-US" dirty="0" err="1"/>
              <a:t>принятие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о </a:t>
            </a:r>
            <a:r>
              <a:rPr lang="en-US" dirty="0" err="1"/>
              <a:t>планировании</a:t>
            </a:r>
            <a:r>
              <a:rPr lang="en-US" dirty="0"/>
              <a:t> и </a:t>
            </a:r>
            <a:r>
              <a:rPr lang="en-US" dirty="0" err="1"/>
              <a:t>фактическое</a:t>
            </a:r>
            <a:r>
              <a:rPr lang="en-US" dirty="0"/>
              <a:t> </a:t>
            </a:r>
            <a:r>
              <a:rPr lang="en-US" dirty="0" err="1"/>
              <a:t>переключение</a:t>
            </a:r>
            <a:r>
              <a:rPr lang="en-US" dirty="0"/>
              <a:t> </a:t>
            </a:r>
            <a:r>
              <a:rPr lang="en-US" dirty="0" err="1"/>
              <a:t>выполняемого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8233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важнейших</a:t>
            </a:r>
            <a:r>
              <a:rPr lang="en-US" dirty="0"/>
              <a:t> </a:t>
            </a:r>
            <a:r>
              <a:rPr lang="en-US" dirty="0" err="1"/>
              <a:t>вопросов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проектировании</a:t>
            </a:r>
            <a:r>
              <a:rPr lang="en-US" dirty="0"/>
              <a:t> </a:t>
            </a:r>
            <a:r>
              <a:rPr lang="en-US" dirty="0" err="1"/>
              <a:t>планировщика</a:t>
            </a:r>
            <a:r>
              <a:rPr lang="en-US" dirty="0"/>
              <a:t> —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принудительно</a:t>
            </a:r>
            <a:r>
              <a:rPr lang="en-US" dirty="0"/>
              <a:t> </a:t>
            </a:r>
            <a:r>
              <a:rPr lang="en-US" dirty="0" err="1"/>
              <a:t>забрать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у </a:t>
            </a:r>
            <a:r>
              <a:rPr lang="en-US" dirty="0" err="1"/>
              <a:t>выполняющегося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?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зависимости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ответа</a:t>
            </a:r>
            <a:r>
              <a:rPr lang="en-US" dirty="0"/>
              <a:t> </a:t>
            </a:r>
            <a:r>
              <a:rPr lang="en-US" dirty="0" err="1"/>
              <a:t>различают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основных</a:t>
            </a:r>
            <a:r>
              <a:rPr lang="en-US" dirty="0"/>
              <a:t> </a:t>
            </a:r>
            <a:r>
              <a:rPr lang="en-US" dirty="0" err="1"/>
              <a:t>подхода</a:t>
            </a:r>
            <a:r>
              <a:rPr lang="en-US" dirty="0"/>
              <a:t>.</a:t>
            </a:r>
          </a:p>
          <a:p>
            <a:r>
              <a:rPr lang="en-US" dirty="0" err="1"/>
              <a:t>Первый</a:t>
            </a:r>
            <a:r>
              <a:rPr lang="en-US" dirty="0"/>
              <a:t> — </a:t>
            </a:r>
            <a:r>
              <a:rPr lang="en-US" dirty="0" err="1"/>
              <a:t>невытесняющее</a:t>
            </a:r>
            <a:r>
              <a:rPr lang="en-US" dirty="0"/>
              <a:t> </a:t>
            </a:r>
            <a:r>
              <a:rPr lang="en-US" dirty="0" err="1"/>
              <a:t>планирование</a:t>
            </a:r>
            <a:r>
              <a:rPr lang="en-US" dirty="0"/>
              <a:t>,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Nonpreemptive</a:t>
            </a:r>
            <a:r>
              <a:rPr lang="en-US" dirty="0"/>
              <a:t> Scheduling.</a:t>
            </a:r>
          </a:p>
          <a:p>
            <a:r>
              <a:rPr lang="en-US" dirty="0"/>
              <a:t>В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, </a:t>
            </a:r>
            <a:r>
              <a:rPr lang="en-US" dirty="0" err="1"/>
              <a:t>получивший</a:t>
            </a:r>
            <a:r>
              <a:rPr lang="en-US" dirty="0"/>
              <a:t> CPU,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,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освободит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завершится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начнёт</a:t>
            </a:r>
            <a:r>
              <a:rPr lang="en-US" dirty="0"/>
              <a:t> </a:t>
            </a:r>
            <a:r>
              <a:rPr lang="en-US" dirty="0" err="1"/>
              <a:t>ожидать</a:t>
            </a:r>
            <a:r>
              <a:rPr lang="en-US" dirty="0"/>
              <a:t> </a:t>
            </a:r>
            <a:r>
              <a:rPr lang="en-US" dirty="0" err="1"/>
              <a:t>ввод-вывод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добровольно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передаст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вытесняющее</a:t>
            </a:r>
            <a:r>
              <a:rPr lang="en-US" dirty="0"/>
              <a:t> </a:t>
            </a:r>
            <a:r>
              <a:rPr lang="en-US" dirty="0" err="1"/>
              <a:t>планирование</a:t>
            </a:r>
            <a:r>
              <a:rPr lang="en-US" dirty="0"/>
              <a:t>, </a:t>
            </a:r>
            <a:r>
              <a:rPr lang="en-US" dirty="0" err="1"/>
              <a:t>или</a:t>
            </a:r>
            <a:r>
              <a:rPr lang="en-US" dirty="0"/>
              <a:t> Preemptive Scheduling.</a:t>
            </a:r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принудительно</a:t>
            </a:r>
            <a:r>
              <a:rPr lang="en-US" dirty="0"/>
              <a:t> </a:t>
            </a:r>
            <a:r>
              <a:rPr lang="en-US" dirty="0" err="1"/>
              <a:t>приостановить</a:t>
            </a:r>
            <a:r>
              <a:rPr lang="en-US" dirty="0"/>
              <a:t> </a:t>
            </a:r>
            <a:r>
              <a:rPr lang="ru-RU" dirty="0"/>
              <a:t>поток</a:t>
            </a:r>
            <a:r>
              <a:rPr lang="en-US" dirty="0"/>
              <a:t> и </a:t>
            </a:r>
            <a:r>
              <a:rPr lang="en-US" dirty="0" err="1"/>
              <a:t>передать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ru-RU" dirty="0"/>
              <a:t>другому </a:t>
            </a:r>
            <a:r>
              <a:rPr lang="en-US" dirty="0" err="1"/>
              <a:t>потоку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ru-RU" dirty="0"/>
              <a:t>этого</a:t>
            </a:r>
            <a:r>
              <a:rPr lang="en-US" dirty="0"/>
              <a:t>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политика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Вытесняющее</a:t>
            </a:r>
            <a:r>
              <a:rPr lang="en-US" dirty="0"/>
              <a:t> </a:t>
            </a:r>
            <a:r>
              <a:rPr lang="en-US" dirty="0" err="1"/>
              <a:t>планирование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повысить</a:t>
            </a:r>
            <a:r>
              <a:rPr lang="en-US" dirty="0"/>
              <a:t> </a:t>
            </a:r>
            <a:r>
              <a:rPr lang="en-US" dirty="0" err="1"/>
              <a:t>отзывчивость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широко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современными</a:t>
            </a:r>
            <a:r>
              <a:rPr lang="en-US" dirty="0"/>
              <a:t> </a:t>
            </a:r>
            <a:r>
              <a:rPr lang="en-US" dirty="0" err="1"/>
              <a:t>операционными</a:t>
            </a:r>
            <a:r>
              <a:rPr lang="en-US" dirty="0"/>
              <a:t> </a:t>
            </a:r>
            <a:r>
              <a:rPr lang="en-US" dirty="0" err="1"/>
              <a:t>системами</a:t>
            </a:r>
            <a:r>
              <a:rPr lang="en-US" dirty="0"/>
              <a:t> </a:t>
            </a:r>
            <a:r>
              <a:rPr lang="en-US" dirty="0" err="1"/>
              <a:t>общего</a:t>
            </a:r>
            <a:r>
              <a:rPr lang="en-US" dirty="0"/>
              <a:t> </a:t>
            </a:r>
            <a:r>
              <a:rPr lang="en-US" dirty="0" err="1"/>
              <a:t>назначения</a:t>
            </a:r>
            <a:r>
              <a:rPr lang="en-US" dirty="0"/>
              <a:t>.</a:t>
            </a:r>
          </a:p>
          <a:p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приходится</a:t>
            </a:r>
            <a:r>
              <a:rPr lang="en-US" dirty="0"/>
              <a:t> </a:t>
            </a:r>
            <a:r>
              <a:rPr lang="en-US" dirty="0" err="1"/>
              <a:t>платить</a:t>
            </a:r>
            <a:r>
              <a:rPr lang="en-US" dirty="0"/>
              <a:t>: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переключении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потоками</a:t>
            </a:r>
            <a:r>
              <a:rPr lang="en-US" dirty="0"/>
              <a:t>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дополнительную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вытеснение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происходить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появлении</a:t>
            </a:r>
            <a:r>
              <a:rPr lang="en-US" dirty="0"/>
              <a:t> </a:t>
            </a:r>
            <a:r>
              <a:rPr lang="en-US" dirty="0" err="1"/>
              <a:t>любого</a:t>
            </a:r>
            <a:r>
              <a:rPr lang="en-US" dirty="0"/>
              <a:t> </a:t>
            </a:r>
            <a:r>
              <a:rPr lang="en-US" dirty="0" err="1"/>
              <a:t>нового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.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алгоритма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 и </a:t>
            </a:r>
            <a:r>
              <a:rPr lang="en-US" dirty="0" err="1"/>
              <a:t>приоритетов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Позднее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Round Robin — </a:t>
            </a:r>
            <a:r>
              <a:rPr lang="en-US" dirty="0" err="1"/>
              <a:t>алгоритм</a:t>
            </a:r>
            <a:r>
              <a:rPr lang="en-US" dirty="0"/>
              <a:t>, в </a:t>
            </a:r>
            <a:r>
              <a:rPr lang="en-US" dirty="0" err="1"/>
              <a:t>котором</a:t>
            </a:r>
            <a:r>
              <a:rPr lang="en-US" dirty="0"/>
              <a:t> </a:t>
            </a:r>
            <a:r>
              <a:rPr lang="en-US" dirty="0" err="1"/>
              <a:t>вытеснение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последовательного</a:t>
            </a:r>
            <a:r>
              <a:rPr lang="en-US" dirty="0"/>
              <a:t> </a:t>
            </a:r>
            <a:r>
              <a:rPr lang="en-US" dirty="0" err="1"/>
              <a:t>распределения</a:t>
            </a:r>
            <a:r>
              <a:rPr lang="en-US" dirty="0"/>
              <a:t> </a:t>
            </a:r>
            <a:r>
              <a:rPr lang="en-US" dirty="0" err="1"/>
              <a:t>процессорного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готовыми</a:t>
            </a:r>
            <a:r>
              <a:rPr lang="en-US" dirty="0"/>
              <a:t> </a:t>
            </a:r>
            <a:r>
              <a:rPr lang="en-US" dirty="0" err="1"/>
              <a:t>задачами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7085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на диаграмме.</a:t>
            </a:r>
          </a:p>
          <a:p>
            <a:endParaRPr lang="en-US" dirty="0"/>
          </a:p>
          <a:p>
            <a:r>
              <a:rPr lang="en-US" dirty="0" err="1"/>
              <a:t>Поток</a:t>
            </a:r>
            <a:r>
              <a:rPr lang="en-US" dirty="0"/>
              <a:t> A </a:t>
            </a:r>
            <a:r>
              <a:rPr lang="en-US" dirty="0" err="1"/>
              <a:t>начал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и </a:t>
            </a:r>
            <a:r>
              <a:rPr lang="en-US" dirty="0" err="1"/>
              <a:t>собирается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вычисления</a:t>
            </a:r>
            <a:r>
              <a:rPr lang="en-US" dirty="0"/>
              <a:t> в </a:t>
            </a:r>
            <a:r>
              <a:rPr lang="en-US" dirty="0" err="1"/>
              <a:t>течение</a:t>
            </a:r>
            <a:r>
              <a:rPr lang="en-US" dirty="0"/>
              <a:t> 12 </a:t>
            </a:r>
            <a:r>
              <a:rPr lang="en-US" dirty="0" err="1"/>
              <a:t>миллисекунд</a:t>
            </a:r>
            <a:r>
              <a:rPr lang="en-US" dirty="0"/>
              <a:t>.</a:t>
            </a:r>
          </a:p>
          <a:p>
            <a:r>
              <a:rPr lang="en-US" dirty="0" err="1"/>
              <a:t>Через</a:t>
            </a:r>
            <a:r>
              <a:rPr lang="en-US" dirty="0"/>
              <a:t> 3 </a:t>
            </a:r>
            <a:r>
              <a:rPr lang="en-US" dirty="0" err="1"/>
              <a:t>миллисекунды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B.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2 </a:t>
            </a:r>
            <a:r>
              <a:rPr lang="en-US" dirty="0" err="1"/>
              <a:t>миллисекунды</a:t>
            </a:r>
            <a:r>
              <a:rPr lang="en-US" dirty="0"/>
              <a:t> </a:t>
            </a:r>
            <a:r>
              <a:rPr lang="en-US" dirty="0" err="1"/>
              <a:t>процессорного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A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невытесняющей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 B </a:t>
            </a:r>
            <a:r>
              <a:rPr lang="en-US" dirty="0" err="1"/>
              <a:t>придётся</a:t>
            </a:r>
            <a:r>
              <a:rPr lang="en-US" dirty="0"/>
              <a:t> </a:t>
            </a:r>
            <a:r>
              <a:rPr lang="en-US" dirty="0" err="1"/>
              <a:t>ждать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9 </a:t>
            </a:r>
            <a:r>
              <a:rPr lang="en-US" dirty="0" err="1"/>
              <a:t>миллисекунд</a:t>
            </a:r>
            <a:r>
              <a:rPr lang="en-US" dirty="0"/>
              <a:t>, </a:t>
            </a:r>
            <a:r>
              <a:rPr lang="en-US" dirty="0" err="1"/>
              <a:t>прежде</a:t>
            </a:r>
            <a:r>
              <a:rPr lang="en-US" dirty="0"/>
              <a:t>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сможет</a:t>
            </a:r>
            <a:r>
              <a:rPr lang="en-US" dirty="0"/>
              <a:t> </a:t>
            </a:r>
            <a:r>
              <a:rPr lang="en-US" dirty="0" err="1"/>
              <a:t>начать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ru-RU" dirty="0"/>
              <a:t>Вытесняющая система работает иначе</a:t>
            </a:r>
          </a:p>
          <a:p>
            <a:r>
              <a:rPr lang="en-US" dirty="0"/>
              <a:t>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примере</a:t>
            </a:r>
            <a:r>
              <a:rPr lang="en-US" dirty="0"/>
              <a:t> B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высокий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в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появления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вытесняет</a:t>
            </a:r>
            <a:r>
              <a:rPr lang="en-US" dirty="0"/>
              <a:t> A и </a:t>
            </a:r>
            <a:r>
              <a:rPr lang="en-US" dirty="0" err="1"/>
              <a:t>запускает</a:t>
            </a:r>
            <a:r>
              <a:rPr lang="en-US" dirty="0"/>
              <a:t> B.</a:t>
            </a:r>
          </a:p>
          <a:p>
            <a:r>
              <a:rPr lang="en-US" dirty="0" err="1"/>
              <a:t>Через</a:t>
            </a:r>
            <a:r>
              <a:rPr lang="en-US" dirty="0"/>
              <a:t> 2 </a:t>
            </a:r>
            <a:r>
              <a:rPr lang="en-US" dirty="0" err="1"/>
              <a:t>миллисекунды</a:t>
            </a:r>
            <a:r>
              <a:rPr lang="en-US" dirty="0"/>
              <a:t> B </a:t>
            </a:r>
            <a:r>
              <a:rPr lang="en-US" dirty="0" err="1"/>
              <a:t>завершает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, и A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вычисления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ru-RU" dirty="0"/>
              <a:t>В</a:t>
            </a:r>
            <a:r>
              <a:rPr lang="en-US" dirty="0"/>
              <a:t>о </a:t>
            </a:r>
            <a:r>
              <a:rPr lang="en-US" dirty="0" err="1"/>
              <a:t>втором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B </a:t>
            </a:r>
            <a:r>
              <a:rPr lang="en-US" dirty="0" err="1"/>
              <a:t>начал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 </a:t>
            </a:r>
            <a:r>
              <a:rPr lang="en-US" dirty="0" err="1"/>
              <a:t>значительно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, </a:t>
            </a:r>
            <a:r>
              <a:rPr lang="en-US" dirty="0" err="1"/>
              <a:t>хотя</a:t>
            </a:r>
            <a:r>
              <a:rPr lang="en-US" dirty="0"/>
              <a:t> </a:t>
            </a:r>
            <a:r>
              <a:rPr lang="en-US" dirty="0" err="1"/>
              <a:t>объём</a:t>
            </a:r>
            <a:r>
              <a:rPr lang="en-US" dirty="0"/>
              <a:t> </a:t>
            </a:r>
            <a:r>
              <a:rPr lang="en-US" dirty="0" err="1"/>
              <a:t>выполняемых</a:t>
            </a:r>
            <a:r>
              <a:rPr lang="en-US" dirty="0"/>
              <a:t> </a:t>
            </a:r>
            <a:r>
              <a:rPr lang="en-US" dirty="0" err="1"/>
              <a:t>инструкций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изменился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084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</a:t>
            </a:r>
            <a:r>
              <a:rPr lang="en-US" dirty="0" err="1"/>
              <a:t>ытесняющее</a:t>
            </a:r>
            <a:r>
              <a:rPr lang="en-US" dirty="0"/>
              <a:t> </a:t>
            </a:r>
            <a:r>
              <a:rPr lang="en-US" dirty="0" err="1"/>
              <a:t>планирование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переключаться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потоками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дожидаясь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добровольного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переключение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dirty="0" err="1"/>
              <a:t>мгновенно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остановить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и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другого</a:t>
            </a:r>
            <a:r>
              <a:rPr lang="en-US" dirty="0"/>
              <a:t>.</a:t>
            </a:r>
          </a:p>
          <a:p>
            <a:r>
              <a:rPr lang="en-US" dirty="0" err="1"/>
              <a:t>Предположим</a:t>
            </a:r>
            <a:r>
              <a:rPr lang="en-US" dirty="0"/>
              <a:t>,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процессоре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A. В </a:t>
            </a:r>
            <a:r>
              <a:rPr lang="en-US" dirty="0" err="1"/>
              <a:t>регистрах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 </a:t>
            </a:r>
            <a:r>
              <a:rPr lang="en-US" dirty="0" err="1"/>
              <a:t>находятся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, </a:t>
            </a:r>
            <a:r>
              <a:rPr lang="en-US" dirty="0" err="1"/>
              <a:t>необходимые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: </a:t>
            </a:r>
            <a:r>
              <a:rPr lang="en-US" dirty="0" err="1"/>
              <a:t>значения</a:t>
            </a:r>
            <a:r>
              <a:rPr lang="en-US" dirty="0"/>
              <a:t> </a:t>
            </a:r>
            <a:r>
              <a:rPr lang="en-US" dirty="0" err="1"/>
              <a:t>регистров</a:t>
            </a:r>
            <a:r>
              <a:rPr lang="en-US" dirty="0"/>
              <a:t> </a:t>
            </a:r>
            <a:r>
              <a:rPr lang="en-US" dirty="0" err="1"/>
              <a:t>общего</a:t>
            </a:r>
            <a:r>
              <a:rPr lang="en-US" dirty="0"/>
              <a:t> </a:t>
            </a:r>
            <a:r>
              <a:rPr lang="en-US" dirty="0" err="1"/>
              <a:t>назначения</a:t>
            </a:r>
            <a:r>
              <a:rPr lang="en-US" dirty="0"/>
              <a:t>, </a:t>
            </a:r>
            <a:r>
              <a:rPr lang="en-US" dirty="0" err="1"/>
              <a:t>указатель</a:t>
            </a:r>
            <a:r>
              <a:rPr lang="en-US" dirty="0"/>
              <a:t> </a:t>
            </a:r>
            <a:r>
              <a:rPr lang="en-US" dirty="0" err="1"/>
              <a:t>стека</a:t>
            </a:r>
            <a:r>
              <a:rPr lang="en-US" dirty="0"/>
              <a:t>, </a:t>
            </a:r>
            <a:r>
              <a:rPr lang="en-US" dirty="0" err="1"/>
              <a:t>адрес</a:t>
            </a:r>
            <a:r>
              <a:rPr lang="en-US" dirty="0"/>
              <a:t> </a:t>
            </a:r>
            <a:r>
              <a:rPr lang="en-US" dirty="0" err="1"/>
              <a:t>следующей</a:t>
            </a:r>
            <a:r>
              <a:rPr lang="en-US" dirty="0"/>
              <a:t> </a:t>
            </a:r>
            <a:r>
              <a:rPr lang="en-US" dirty="0" err="1"/>
              <a:t>инструкции</a:t>
            </a:r>
            <a:r>
              <a:rPr lang="en-US" dirty="0"/>
              <a:t> и </a:t>
            </a:r>
            <a:r>
              <a:rPr lang="en-US" dirty="0" err="1"/>
              <a:t>другое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временно</a:t>
            </a:r>
            <a:r>
              <a:rPr lang="en-US" dirty="0"/>
              <a:t> </a:t>
            </a:r>
            <a:r>
              <a:rPr lang="en-US" dirty="0" err="1"/>
              <a:t>остановить</a:t>
            </a:r>
            <a:r>
              <a:rPr lang="en-US" dirty="0"/>
              <a:t> A,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сохранить</a:t>
            </a:r>
            <a:r>
              <a:rPr lang="en-US" dirty="0"/>
              <a:t> </a:t>
            </a:r>
            <a:r>
              <a:rPr lang="en-US" dirty="0" err="1"/>
              <a:t>нужную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позднее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мог</a:t>
            </a:r>
            <a:r>
              <a:rPr lang="en-US" dirty="0"/>
              <a:t>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с </a:t>
            </a:r>
            <a:r>
              <a:rPr lang="en-US" dirty="0" err="1"/>
              <a:t>того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места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выбирает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— B.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восстановить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ранее</a:t>
            </a:r>
            <a:r>
              <a:rPr lang="en-US" dirty="0"/>
              <a:t> </a:t>
            </a:r>
            <a:r>
              <a:rPr lang="en-US" dirty="0" err="1"/>
              <a:t>сохранённый</a:t>
            </a:r>
            <a:r>
              <a:rPr lang="en-US" dirty="0"/>
              <a:t> </a:t>
            </a:r>
            <a:r>
              <a:rPr lang="en-US" dirty="0" err="1"/>
              <a:t>контекст</a:t>
            </a:r>
            <a:r>
              <a:rPr lang="en-US" dirty="0"/>
              <a:t>: </a:t>
            </a:r>
            <a:r>
              <a:rPr lang="en-US" dirty="0" err="1"/>
              <a:t>значения</a:t>
            </a:r>
            <a:r>
              <a:rPr lang="en-US" dirty="0"/>
              <a:t> </a:t>
            </a:r>
            <a:r>
              <a:rPr lang="en-US" dirty="0" err="1"/>
              <a:t>регистров</a:t>
            </a:r>
            <a:r>
              <a:rPr lang="en-US" dirty="0"/>
              <a:t>, </a:t>
            </a:r>
            <a:r>
              <a:rPr lang="en-US" dirty="0" err="1"/>
              <a:t>указатель</a:t>
            </a:r>
            <a:r>
              <a:rPr lang="en-US" dirty="0"/>
              <a:t> </a:t>
            </a:r>
            <a:r>
              <a:rPr lang="en-US" dirty="0" err="1"/>
              <a:t>стека</a:t>
            </a:r>
            <a:r>
              <a:rPr lang="en-US" dirty="0"/>
              <a:t> и </a:t>
            </a:r>
            <a:r>
              <a:rPr lang="en-US" dirty="0" err="1"/>
              <a:t>другое</a:t>
            </a:r>
            <a:r>
              <a:rPr lang="en-US" dirty="0"/>
              <a:t> </a:t>
            </a:r>
            <a:r>
              <a:rPr lang="en-US" dirty="0" err="1"/>
              <a:t>необходимое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инструкций</a:t>
            </a:r>
            <a:r>
              <a:rPr lang="en-US" dirty="0"/>
              <a:t> B.</a:t>
            </a:r>
          </a:p>
          <a:p>
            <a:endParaRPr lang="ru-RU" dirty="0"/>
          </a:p>
          <a:p>
            <a:r>
              <a:rPr lang="en-US" dirty="0" err="1"/>
              <a:t>Вся</a:t>
            </a:r>
            <a:r>
              <a:rPr lang="en-US" dirty="0"/>
              <a:t>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процедура</a:t>
            </a:r>
            <a:r>
              <a:rPr lang="en-US" dirty="0"/>
              <a:t> </a:t>
            </a:r>
            <a:r>
              <a:rPr lang="en-US" dirty="0" err="1"/>
              <a:t>называется</a:t>
            </a:r>
            <a:r>
              <a:rPr lang="en-US" dirty="0"/>
              <a:t> </a:t>
            </a:r>
            <a:r>
              <a:rPr lang="en-US" dirty="0" err="1"/>
              <a:t>переключением</a:t>
            </a:r>
            <a:r>
              <a:rPr lang="en-US" dirty="0"/>
              <a:t> </a:t>
            </a:r>
            <a:r>
              <a:rPr lang="en-US" dirty="0" err="1"/>
              <a:t>контекста</a:t>
            </a:r>
            <a:r>
              <a:rPr lang="en-US" dirty="0"/>
              <a:t>, </a:t>
            </a:r>
            <a:r>
              <a:rPr lang="en-US" dirty="0" err="1"/>
              <a:t>или</a:t>
            </a:r>
            <a:r>
              <a:rPr lang="en-US" dirty="0"/>
              <a:t> Context Switch.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расходы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переключение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ограничиваются</a:t>
            </a:r>
            <a:r>
              <a:rPr lang="en-US" dirty="0"/>
              <a:t> </a:t>
            </a:r>
            <a:r>
              <a:rPr lang="en-US" dirty="0" err="1"/>
              <a:t>сохранением</a:t>
            </a:r>
            <a:r>
              <a:rPr lang="en-US" dirty="0"/>
              <a:t> и </a:t>
            </a:r>
            <a:r>
              <a:rPr lang="en-US" dirty="0" err="1"/>
              <a:t>восстановлением</a:t>
            </a:r>
            <a:r>
              <a:rPr lang="en-US" dirty="0"/>
              <a:t> </a:t>
            </a:r>
            <a:r>
              <a:rPr lang="en-US" dirty="0" err="1"/>
              <a:t>регистров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переключении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потоками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потребоваться</a:t>
            </a:r>
            <a:r>
              <a:rPr lang="en-US" dirty="0"/>
              <a:t> </a:t>
            </a:r>
            <a:r>
              <a:rPr lang="en-US" dirty="0" err="1"/>
              <a:t>смена</a:t>
            </a:r>
            <a:r>
              <a:rPr lang="en-US" dirty="0"/>
              <a:t> </a:t>
            </a:r>
            <a:r>
              <a:rPr lang="en-US" dirty="0" err="1"/>
              <a:t>адресного</a:t>
            </a:r>
            <a:r>
              <a:rPr lang="en-US" dirty="0"/>
              <a:t> </a:t>
            </a:r>
            <a:r>
              <a:rPr lang="en-US" dirty="0" err="1"/>
              <a:t>пространства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начать</a:t>
            </a:r>
            <a:r>
              <a:rPr lang="en-US" dirty="0"/>
              <a:t> </a:t>
            </a:r>
            <a:r>
              <a:rPr lang="en-US" dirty="0" err="1"/>
              <a:t>активно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и </a:t>
            </a:r>
            <a:r>
              <a:rPr lang="en-US" dirty="0" err="1"/>
              <a:t>инструкции</a:t>
            </a:r>
            <a:r>
              <a:rPr lang="en-US" dirty="0"/>
              <a:t>. Это </a:t>
            </a:r>
            <a:r>
              <a:rPr lang="en-US" dirty="0" err="1"/>
              <a:t>влияет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содержимое</a:t>
            </a:r>
            <a:r>
              <a:rPr lang="en-US" dirty="0"/>
              <a:t> </a:t>
            </a:r>
            <a:r>
              <a:rPr lang="en-US" dirty="0" err="1"/>
              <a:t>процессорных</a:t>
            </a:r>
            <a:r>
              <a:rPr lang="en-US" dirty="0"/>
              <a:t> </a:t>
            </a:r>
            <a:r>
              <a:rPr lang="en-US" dirty="0" err="1"/>
              <a:t>кэшей</a:t>
            </a:r>
            <a:r>
              <a:rPr lang="en-US" dirty="0"/>
              <a:t> и </a:t>
            </a:r>
            <a:r>
              <a:rPr lang="en-US" dirty="0" err="1"/>
              <a:t>эффективность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с </a:t>
            </a:r>
            <a:r>
              <a:rPr lang="en-US" dirty="0" err="1"/>
              <a:t>памятью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ru-RU" dirty="0"/>
              <a:t>П</a:t>
            </a:r>
            <a:r>
              <a:rPr lang="en-US" dirty="0" err="1"/>
              <a:t>ереключение</a:t>
            </a:r>
            <a:r>
              <a:rPr lang="en-US" dirty="0"/>
              <a:t> </a:t>
            </a:r>
            <a:r>
              <a:rPr lang="en-US" dirty="0" err="1"/>
              <a:t>контекста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кэши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очищаются</a:t>
            </a:r>
            <a:r>
              <a:rPr lang="en-US" dirty="0"/>
              <a:t>. </a:t>
            </a:r>
            <a:r>
              <a:rPr lang="en-US" dirty="0" err="1"/>
              <a:t>Речь</a:t>
            </a:r>
            <a:r>
              <a:rPr lang="en-US" dirty="0"/>
              <a:t> </a:t>
            </a:r>
            <a:r>
              <a:rPr lang="en-US" dirty="0" err="1"/>
              <a:t>идёт</a:t>
            </a:r>
            <a:r>
              <a:rPr lang="en-US" dirty="0"/>
              <a:t> </a:t>
            </a:r>
            <a:r>
              <a:rPr lang="en-US" dirty="0" err="1"/>
              <a:t>прежде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о </a:t>
            </a:r>
            <a:r>
              <a:rPr lang="en-US" dirty="0" err="1"/>
              <a:t>дополнительных</a:t>
            </a:r>
            <a:r>
              <a:rPr lang="en-US" dirty="0"/>
              <a:t> </a:t>
            </a:r>
            <a:r>
              <a:rPr lang="en-US" dirty="0" err="1"/>
              <a:t>расходах</a:t>
            </a:r>
            <a:r>
              <a:rPr lang="en-US" dirty="0"/>
              <a:t> и </a:t>
            </a:r>
            <a:r>
              <a:rPr lang="en-US" dirty="0" err="1"/>
              <a:t>возможной</a:t>
            </a:r>
            <a:r>
              <a:rPr lang="en-US" dirty="0"/>
              <a:t> </a:t>
            </a:r>
            <a:r>
              <a:rPr lang="en-US" dirty="0" err="1"/>
              <a:t>потере</a:t>
            </a:r>
            <a:r>
              <a:rPr lang="en-US" dirty="0"/>
              <a:t> </a:t>
            </a:r>
            <a:r>
              <a:rPr lang="en-US" dirty="0" err="1"/>
              <a:t>локальности</a:t>
            </a:r>
            <a:r>
              <a:rPr lang="en-US" dirty="0"/>
              <a:t>.</a:t>
            </a:r>
          </a:p>
          <a:p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следует</a:t>
            </a:r>
            <a:r>
              <a:rPr lang="en-US" dirty="0"/>
              <a:t> </a:t>
            </a:r>
            <a:r>
              <a:rPr lang="en-US" dirty="0" err="1"/>
              <a:t>путать</a:t>
            </a:r>
            <a:r>
              <a:rPr lang="en-US" dirty="0"/>
              <a:t> </a:t>
            </a:r>
            <a:r>
              <a:rPr lang="en-US" dirty="0" err="1"/>
              <a:t>переключение</a:t>
            </a:r>
            <a:r>
              <a:rPr lang="en-US" dirty="0"/>
              <a:t> </a:t>
            </a:r>
            <a:r>
              <a:rPr lang="en-US" dirty="0" err="1"/>
              <a:t>контекста</a:t>
            </a:r>
            <a:r>
              <a:rPr lang="en-US" dirty="0"/>
              <a:t> с </a:t>
            </a:r>
            <a:r>
              <a:rPr lang="en-US" dirty="0" err="1"/>
              <a:t>переходом</a:t>
            </a:r>
            <a:r>
              <a:rPr lang="en-US" dirty="0"/>
              <a:t> в </a:t>
            </a:r>
            <a:r>
              <a:rPr lang="en-US" dirty="0" err="1"/>
              <a:t>режим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.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системный</a:t>
            </a:r>
            <a:r>
              <a:rPr lang="en-US" dirty="0"/>
              <a:t> </a:t>
            </a:r>
            <a:r>
              <a:rPr lang="en-US" dirty="0" err="1"/>
              <a:t>вызов</a:t>
            </a:r>
            <a:r>
              <a:rPr lang="en-US" dirty="0"/>
              <a:t>, </a:t>
            </a:r>
            <a:r>
              <a:rPr lang="en-US" dirty="0" err="1"/>
              <a:t>перейти</a:t>
            </a:r>
            <a:r>
              <a:rPr lang="en-US" dirty="0"/>
              <a:t> в </a:t>
            </a:r>
            <a:r>
              <a:rPr lang="en-US" dirty="0" err="1"/>
              <a:t>ядро</a:t>
            </a:r>
            <a:r>
              <a:rPr lang="en-US" dirty="0"/>
              <a:t>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вернуться</a:t>
            </a:r>
            <a:r>
              <a:rPr lang="en-US" dirty="0"/>
              <a:t> к </a:t>
            </a:r>
            <a:r>
              <a:rPr lang="en-US" dirty="0" err="1"/>
              <a:t>своей</a:t>
            </a:r>
            <a:r>
              <a:rPr lang="en-US" dirty="0"/>
              <a:t> </a:t>
            </a:r>
            <a:r>
              <a:rPr lang="en-US" dirty="0" err="1"/>
              <a:t>работе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переключения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Итак</a:t>
            </a:r>
            <a:r>
              <a:rPr lang="en-US" dirty="0"/>
              <a:t>, </a:t>
            </a:r>
            <a:r>
              <a:rPr lang="en-US" dirty="0" err="1"/>
              <a:t>частые</a:t>
            </a:r>
            <a:r>
              <a:rPr lang="en-US" dirty="0"/>
              <a:t> </a:t>
            </a:r>
            <a:r>
              <a:rPr lang="en-US" dirty="0" err="1"/>
              <a:t>переключения</a:t>
            </a:r>
            <a:r>
              <a:rPr lang="en-US" dirty="0"/>
              <a:t> </a:t>
            </a:r>
            <a:r>
              <a:rPr lang="en-US" dirty="0" err="1"/>
              <a:t>помогают</a:t>
            </a:r>
            <a:r>
              <a:rPr lang="en-US" dirty="0"/>
              <a:t> </a:t>
            </a:r>
            <a:r>
              <a:rPr lang="en-US" dirty="0" err="1"/>
              <a:t>быстрее</a:t>
            </a:r>
            <a:r>
              <a:rPr lang="en-US" dirty="0"/>
              <a:t> </a:t>
            </a:r>
            <a:r>
              <a:rPr lang="en-US" dirty="0" err="1"/>
              <a:t>реагировать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появление</a:t>
            </a:r>
            <a:r>
              <a:rPr lang="en-US" dirty="0"/>
              <a:t> </a:t>
            </a:r>
            <a:r>
              <a:rPr lang="en-US" dirty="0" err="1"/>
              <a:t>новых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требуют</a:t>
            </a:r>
            <a:r>
              <a:rPr lang="en-US" dirty="0"/>
              <a:t> </a:t>
            </a:r>
            <a:r>
              <a:rPr lang="en-US" dirty="0" err="1"/>
              <a:t>процессорного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редкие</a:t>
            </a:r>
            <a:r>
              <a:rPr lang="en-US" dirty="0"/>
              <a:t> </a:t>
            </a:r>
            <a:r>
              <a:rPr lang="en-US" dirty="0" err="1"/>
              <a:t>переключения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приводить</a:t>
            </a:r>
            <a:r>
              <a:rPr lang="en-US" dirty="0"/>
              <a:t> к </a:t>
            </a:r>
            <a:r>
              <a:rPr lang="en-US" dirty="0" err="1"/>
              <a:t>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одни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надолго</a:t>
            </a:r>
            <a:r>
              <a:rPr lang="en-US" dirty="0"/>
              <a:t> </a:t>
            </a:r>
            <a:r>
              <a:rPr lang="en-US" dirty="0" err="1"/>
              <a:t>задерживают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других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Получается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вынужден</a:t>
            </a:r>
            <a:r>
              <a:rPr lang="en-US" dirty="0"/>
              <a:t> </a:t>
            </a:r>
            <a:r>
              <a:rPr lang="en-US" dirty="0" err="1"/>
              <a:t>искать</a:t>
            </a:r>
            <a:r>
              <a:rPr lang="en-US" dirty="0"/>
              <a:t> </a:t>
            </a:r>
            <a:r>
              <a:rPr lang="en-US" dirty="0" err="1"/>
              <a:t>компромисс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отзывчивостью</a:t>
            </a:r>
            <a:r>
              <a:rPr lang="en-US" dirty="0"/>
              <a:t> и </a:t>
            </a:r>
            <a:r>
              <a:rPr lang="en-US" dirty="0" err="1"/>
              <a:t>эффективностью</a:t>
            </a:r>
            <a:r>
              <a:rPr lang="en-US" dirty="0"/>
              <a:t>.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принимает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,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</a:t>
            </a:r>
            <a:r>
              <a:rPr lang="en-US" dirty="0" err="1"/>
              <a:t>всей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следующем</a:t>
            </a:r>
            <a:r>
              <a:rPr lang="en-US" dirty="0"/>
              <a:t> </a:t>
            </a:r>
            <a:r>
              <a:rPr lang="en-US" dirty="0" err="1"/>
              <a:t>разделе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разберём</a:t>
            </a:r>
            <a:r>
              <a:rPr lang="en-US" dirty="0"/>
              <a:t> </a:t>
            </a:r>
            <a:r>
              <a:rPr lang="en-US" dirty="0" err="1"/>
              <a:t>конкретные</a:t>
            </a:r>
            <a:r>
              <a:rPr lang="en-US" dirty="0"/>
              <a:t> </a:t>
            </a:r>
            <a:r>
              <a:rPr lang="en-US" dirty="0" err="1"/>
              <a:t>алгоритмы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 и </a:t>
            </a:r>
            <a:r>
              <a:rPr lang="en-US" dirty="0" err="1"/>
              <a:t>научимся</a:t>
            </a:r>
            <a:r>
              <a:rPr lang="en-US" dirty="0"/>
              <a:t> </a:t>
            </a:r>
            <a:r>
              <a:rPr lang="en-US" dirty="0" err="1"/>
              <a:t>сравнивать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, </a:t>
            </a:r>
            <a:r>
              <a:rPr lang="en-US" dirty="0" err="1"/>
              <a:t>скорости</a:t>
            </a:r>
            <a:r>
              <a:rPr lang="en-US" dirty="0"/>
              <a:t> </a:t>
            </a:r>
            <a:r>
              <a:rPr lang="en-US" dirty="0" err="1"/>
              <a:t>отклика</a:t>
            </a:r>
            <a:r>
              <a:rPr lang="en-US" dirty="0"/>
              <a:t> и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518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err="1"/>
                  <a:t>Мы</a:t>
                </a:r>
                <a:r>
                  <a:rPr lang="en-US" dirty="0"/>
                  <a:t> </a:t>
                </a:r>
                <a:r>
                  <a:rPr lang="en-US" dirty="0" err="1"/>
                  <a:t>разобрались</a:t>
                </a:r>
                <a:r>
                  <a:rPr lang="en-US" dirty="0"/>
                  <a:t>, </a:t>
                </a:r>
                <a:r>
                  <a:rPr lang="en-US" dirty="0" err="1"/>
                  <a:t>зачем</a:t>
                </a:r>
                <a:r>
                  <a:rPr lang="en-US" dirty="0"/>
                  <a:t> </a:t>
                </a:r>
                <a:r>
                  <a:rPr lang="en-US" dirty="0" err="1"/>
                  <a:t>операционной</a:t>
                </a:r>
                <a:r>
                  <a:rPr lang="en-US" dirty="0"/>
                  <a:t> </a:t>
                </a:r>
                <a:r>
                  <a:rPr lang="en-US" dirty="0" err="1"/>
                  <a:t>системе</a:t>
                </a:r>
                <a:r>
                  <a:rPr lang="en-US" dirty="0"/>
                  <a:t> </a:t>
                </a:r>
                <a:r>
                  <a:rPr lang="en-US" dirty="0" err="1"/>
                  <a:t>нужен</a:t>
                </a:r>
                <a:r>
                  <a:rPr lang="en-US" dirty="0"/>
                  <a:t> </a:t>
                </a:r>
                <a:r>
                  <a:rPr lang="en-US" dirty="0" err="1"/>
                  <a:t>планировщик</a:t>
                </a:r>
                <a:r>
                  <a:rPr lang="en-US" dirty="0"/>
                  <a:t>, </a:t>
                </a:r>
                <a:r>
                  <a:rPr lang="en-US" dirty="0" err="1"/>
                  <a:t>когда</a:t>
                </a:r>
                <a:r>
                  <a:rPr lang="en-US" dirty="0"/>
                  <a:t> </a:t>
                </a:r>
                <a:r>
                  <a:rPr lang="en-US" dirty="0" err="1"/>
                  <a:t>он</a:t>
                </a:r>
                <a:r>
                  <a:rPr lang="en-US" dirty="0"/>
                  <a:t> </a:t>
                </a:r>
                <a:r>
                  <a:rPr lang="en-US" dirty="0" err="1"/>
                  <a:t>принимает</a:t>
                </a:r>
                <a:r>
                  <a:rPr lang="en-US" dirty="0"/>
                  <a:t> </a:t>
                </a:r>
                <a:r>
                  <a:rPr lang="en-US" dirty="0" err="1"/>
                  <a:t>решения</a:t>
                </a:r>
                <a:r>
                  <a:rPr lang="en-US" dirty="0"/>
                  <a:t> и </a:t>
                </a:r>
                <a:r>
                  <a:rPr lang="en-US" dirty="0" err="1"/>
                  <a:t>почему</a:t>
                </a:r>
                <a:r>
                  <a:rPr lang="en-US" dirty="0"/>
                  <a:t> </a:t>
                </a:r>
                <a:r>
                  <a:rPr lang="en-US" dirty="0" err="1"/>
                  <a:t>переключение</a:t>
                </a:r>
                <a:r>
                  <a:rPr lang="en-US" dirty="0"/>
                  <a:t> </a:t>
                </a:r>
                <a:r>
                  <a:rPr lang="en-US" dirty="0" err="1"/>
                  <a:t>между</a:t>
                </a:r>
                <a:r>
                  <a:rPr lang="en-US" dirty="0"/>
                  <a:t> </a:t>
                </a:r>
                <a:r>
                  <a:rPr lang="en-US" dirty="0" err="1"/>
                  <a:t>потоками</a:t>
                </a:r>
                <a:r>
                  <a:rPr lang="en-US" dirty="0"/>
                  <a:t> </a:t>
                </a:r>
                <a:r>
                  <a:rPr lang="en-US" dirty="0" err="1"/>
                  <a:t>требует</a:t>
                </a:r>
                <a:r>
                  <a:rPr lang="en-US" dirty="0"/>
                  <a:t> </a:t>
                </a:r>
                <a:r>
                  <a:rPr lang="en-US" dirty="0" err="1"/>
                  <a:t>дополнительных</a:t>
                </a:r>
                <a:r>
                  <a:rPr lang="en-US" dirty="0"/>
                  <a:t> </a:t>
                </a:r>
                <a:r>
                  <a:rPr lang="en-US" dirty="0" err="1"/>
                  <a:t>ресурсов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 err="1"/>
                  <a:t>Теперь</a:t>
                </a:r>
                <a:r>
                  <a:rPr lang="en-US" dirty="0"/>
                  <a:t> </a:t>
                </a:r>
                <a:r>
                  <a:rPr lang="en-US" dirty="0" err="1"/>
                  <a:t>перейдём</a:t>
                </a:r>
                <a:r>
                  <a:rPr lang="en-US" dirty="0"/>
                  <a:t> к </a:t>
                </a:r>
                <a:r>
                  <a:rPr lang="en-US" dirty="0" err="1"/>
                  <a:t>самим</a:t>
                </a:r>
                <a:r>
                  <a:rPr lang="en-US" dirty="0"/>
                  <a:t> </a:t>
                </a:r>
                <a:r>
                  <a:rPr lang="en-US" dirty="0" err="1"/>
                  <a:t>алгоритмам</a:t>
                </a:r>
                <a:r>
                  <a:rPr lang="en-US" dirty="0"/>
                  <a:t> </a:t>
                </a:r>
                <a:r>
                  <a:rPr lang="en-US" dirty="0" err="1"/>
                  <a:t>планирования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 err="1"/>
                  <a:t>Но</a:t>
                </a:r>
                <a:r>
                  <a:rPr lang="en-US" dirty="0"/>
                  <a:t> </a:t>
                </a:r>
                <a:r>
                  <a:rPr lang="en-US" dirty="0" err="1"/>
                  <a:t>прежде</a:t>
                </a:r>
                <a:r>
                  <a:rPr lang="en-US" dirty="0"/>
                  <a:t> </a:t>
                </a:r>
                <a:r>
                  <a:rPr lang="en-US" dirty="0" err="1"/>
                  <a:t>чем</a:t>
                </a:r>
                <a:r>
                  <a:rPr lang="en-US" dirty="0"/>
                  <a:t> </a:t>
                </a:r>
                <a:r>
                  <a:rPr lang="en-US" dirty="0" err="1"/>
                  <a:t>сравнивать</a:t>
                </a:r>
                <a:r>
                  <a:rPr lang="en-US" dirty="0"/>
                  <a:t> </a:t>
                </a:r>
                <a:r>
                  <a:rPr lang="en-US" dirty="0" err="1"/>
                  <a:t>алгоритмы</a:t>
                </a:r>
                <a:r>
                  <a:rPr lang="en-US" dirty="0"/>
                  <a:t>, </a:t>
                </a:r>
                <a:r>
                  <a:rPr lang="en-US" dirty="0" err="1"/>
                  <a:t>нужно</a:t>
                </a:r>
                <a:r>
                  <a:rPr lang="en-US" dirty="0"/>
                  <a:t> </a:t>
                </a:r>
                <a:r>
                  <a:rPr lang="en-US" dirty="0" err="1"/>
                  <a:t>определить</a:t>
                </a:r>
                <a:r>
                  <a:rPr lang="en-US" dirty="0"/>
                  <a:t>,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мы</a:t>
                </a:r>
                <a:r>
                  <a:rPr lang="en-US" dirty="0"/>
                  <a:t> </a:t>
                </a:r>
                <a:r>
                  <a:rPr lang="en-US" dirty="0" err="1"/>
                  <a:t>вообще</a:t>
                </a:r>
                <a:r>
                  <a:rPr lang="en-US" dirty="0"/>
                  <a:t> </a:t>
                </a:r>
                <a:r>
                  <a:rPr lang="en-US" dirty="0" err="1"/>
                  <a:t>считаем</a:t>
                </a:r>
                <a:r>
                  <a:rPr lang="en-US" dirty="0"/>
                  <a:t> </a:t>
                </a:r>
                <a:r>
                  <a:rPr lang="en-US" dirty="0" err="1"/>
                  <a:t>хорошим</a:t>
                </a:r>
                <a:r>
                  <a:rPr lang="en-US" dirty="0"/>
                  <a:t> </a:t>
                </a:r>
                <a:r>
                  <a:rPr lang="en-US" dirty="0" err="1"/>
                  <a:t>результатом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Первая</a:t>
                </a:r>
                <a:r>
                  <a:rPr lang="en-US" dirty="0"/>
                  <a:t> </a:t>
                </a:r>
                <a:r>
                  <a:rPr lang="en-US" dirty="0" err="1"/>
                  <a:t>важная</a:t>
                </a:r>
                <a:r>
                  <a:rPr lang="en-US" dirty="0"/>
                  <a:t> </a:t>
                </a:r>
                <a:r>
                  <a:rPr lang="en-US" dirty="0" err="1"/>
                  <a:t>метрика</a:t>
                </a:r>
                <a:r>
                  <a:rPr lang="en-US" dirty="0"/>
                  <a:t> — </a:t>
                </a:r>
                <a:r>
                  <a:rPr lang="en-US" b="1" dirty="0"/>
                  <a:t>Waiting Time</a:t>
                </a:r>
                <a:r>
                  <a:rPr lang="en-US" dirty="0"/>
                  <a:t>, </a:t>
                </a:r>
                <a:r>
                  <a:rPr lang="en-US" dirty="0" err="1"/>
                  <a:t>или</a:t>
                </a:r>
                <a:r>
                  <a:rPr lang="en-US" dirty="0"/>
                  <a:t>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ожидания</a:t>
                </a:r>
                <a:r>
                  <a:rPr lang="en-US" dirty="0"/>
                  <a:t>. </a:t>
                </a:r>
                <a:r>
                  <a:rPr lang="en-US" dirty="0" err="1"/>
                  <a:t>Она</a:t>
                </a:r>
                <a:r>
                  <a:rPr lang="en-US" dirty="0"/>
                  <a:t> </a:t>
                </a:r>
                <a:r>
                  <a:rPr lang="en-US" dirty="0" err="1"/>
                  <a:t>показывает</a:t>
                </a:r>
                <a:r>
                  <a:rPr lang="en-US" dirty="0"/>
                  <a:t>, </a:t>
                </a:r>
                <a:r>
                  <a:rPr lang="en-US" dirty="0" err="1"/>
                  <a:t>сколько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 </a:t>
                </a:r>
                <a:r>
                  <a:rPr lang="en-US" dirty="0" err="1"/>
                  <a:t>задача</a:t>
                </a:r>
                <a:r>
                  <a:rPr lang="en-US" dirty="0"/>
                  <a:t> </a:t>
                </a:r>
                <a:r>
                  <a:rPr lang="en-US" dirty="0" err="1"/>
                  <a:t>провела</a:t>
                </a:r>
                <a:r>
                  <a:rPr lang="en-US" dirty="0"/>
                  <a:t> в </a:t>
                </a:r>
                <a:r>
                  <a:rPr lang="en-US" dirty="0" err="1"/>
                  <a:t>состоянии</a:t>
                </a:r>
                <a:r>
                  <a:rPr lang="en-US" dirty="0"/>
                  <a:t> Ready, </a:t>
                </a:r>
                <a:r>
                  <a:rPr lang="en-US" dirty="0" err="1"/>
                  <a:t>ожидая</a:t>
                </a:r>
                <a:r>
                  <a:rPr lang="en-US" dirty="0"/>
                  <a:t> </a:t>
                </a:r>
                <a:r>
                  <a:rPr lang="en-US" dirty="0" err="1"/>
                  <a:t>получения</a:t>
                </a:r>
                <a:r>
                  <a:rPr lang="en-US" dirty="0"/>
                  <a:t> CPU.</a:t>
                </a:r>
              </a:p>
              <a:p>
                <a:r>
                  <a:rPr lang="en-US" dirty="0" err="1"/>
                  <a:t>Обратите</a:t>
                </a:r>
                <a:r>
                  <a:rPr lang="en-US" dirty="0"/>
                  <a:t> </a:t>
                </a:r>
                <a:r>
                  <a:rPr lang="en-US" dirty="0" err="1"/>
                  <a:t>внимание</a:t>
                </a:r>
                <a:r>
                  <a:rPr lang="en-US" dirty="0"/>
                  <a:t>: </a:t>
                </a:r>
                <a:r>
                  <a:rPr lang="en-US" dirty="0" err="1"/>
                  <a:t>если</a:t>
                </a:r>
                <a:r>
                  <a:rPr lang="en-US" dirty="0"/>
                  <a:t> </a:t>
                </a:r>
                <a:r>
                  <a:rPr lang="en-US" dirty="0" err="1"/>
                  <a:t>задача</a:t>
                </a:r>
                <a:r>
                  <a:rPr lang="en-US" dirty="0"/>
                  <a:t> </a:t>
                </a:r>
                <a:r>
                  <a:rPr lang="en-US" dirty="0" err="1"/>
                  <a:t>несколько</a:t>
                </a:r>
                <a:r>
                  <a:rPr lang="en-US" dirty="0"/>
                  <a:t> </a:t>
                </a:r>
                <a:r>
                  <a:rPr lang="en-US" dirty="0" err="1"/>
                  <a:t>раз</a:t>
                </a:r>
                <a:r>
                  <a:rPr lang="en-US" dirty="0"/>
                  <a:t> </a:t>
                </a:r>
                <a:r>
                  <a:rPr lang="en-US" dirty="0" err="1"/>
                  <a:t>вытеснялась</a:t>
                </a:r>
                <a:r>
                  <a:rPr lang="en-US" dirty="0"/>
                  <a:t>, </a:t>
                </a:r>
                <a:r>
                  <a:rPr lang="en-US" dirty="0" err="1"/>
                  <a:t>мы</a:t>
                </a:r>
                <a:r>
                  <a:rPr lang="en-US" dirty="0"/>
                  <a:t> </a:t>
                </a:r>
                <a:r>
                  <a:rPr lang="en-US" dirty="0" err="1"/>
                  <a:t>должны</a:t>
                </a:r>
                <a:r>
                  <a:rPr lang="en-US" dirty="0"/>
                  <a:t> </a:t>
                </a:r>
                <a:r>
                  <a:rPr lang="en-US" dirty="0" err="1"/>
                  <a:t>сложить</a:t>
                </a:r>
                <a:r>
                  <a:rPr lang="en-US" dirty="0"/>
                  <a:t> </a:t>
                </a:r>
                <a:r>
                  <a:rPr lang="en-US" dirty="0" err="1"/>
                  <a:t>все</a:t>
                </a:r>
                <a:r>
                  <a:rPr lang="en-US" dirty="0"/>
                  <a:t> </a:t>
                </a:r>
                <a:r>
                  <a:rPr lang="en-US" dirty="0" err="1"/>
                  <a:t>интервалы</a:t>
                </a:r>
                <a:r>
                  <a:rPr lang="en-US" dirty="0"/>
                  <a:t> </a:t>
                </a:r>
                <a:r>
                  <a:rPr lang="en-US" dirty="0" err="1"/>
                  <a:t>ожидания</a:t>
                </a:r>
                <a:r>
                  <a:rPr lang="en-US" dirty="0"/>
                  <a:t>. </a:t>
                </a:r>
                <a:r>
                  <a:rPr lang="en-US" dirty="0" err="1"/>
                  <a:t>При</a:t>
                </a:r>
                <a:r>
                  <a:rPr lang="en-US" dirty="0"/>
                  <a:t> </a:t>
                </a:r>
                <a:r>
                  <a:rPr lang="en-US" dirty="0" err="1"/>
                  <a:t>этом</a:t>
                </a:r>
                <a:r>
                  <a:rPr lang="en-US" dirty="0"/>
                  <a:t>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блокировки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операциях</a:t>
                </a:r>
                <a:r>
                  <a:rPr lang="en-US" dirty="0"/>
                  <a:t> </a:t>
                </a:r>
                <a:r>
                  <a:rPr lang="en-US" dirty="0" err="1"/>
                  <a:t>ввода-вывода</a:t>
                </a:r>
                <a:r>
                  <a:rPr lang="en-US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включается</a:t>
                </a:r>
                <a:r>
                  <a:rPr lang="en-US" dirty="0"/>
                  <a:t> в Waiting Time.</a:t>
                </a:r>
              </a:p>
              <a:p>
                <a:endParaRPr lang="ru-RU" dirty="0"/>
              </a:p>
              <a:p>
                <a:r>
                  <a:rPr lang="en-US" dirty="0" err="1"/>
                  <a:t>Вторая</a:t>
                </a:r>
                <a:r>
                  <a:rPr lang="en-US" dirty="0"/>
                  <a:t> </a:t>
                </a:r>
                <a:r>
                  <a:rPr lang="en-US" dirty="0" err="1"/>
                  <a:t>метрика</a:t>
                </a:r>
                <a:r>
                  <a:rPr lang="en-US" dirty="0"/>
                  <a:t> — </a:t>
                </a:r>
                <a:r>
                  <a:rPr lang="en-US" b="1" dirty="0"/>
                  <a:t>Turnaround Time</a:t>
                </a:r>
                <a:r>
                  <a:rPr lang="en-US" dirty="0"/>
                  <a:t>. Это </a:t>
                </a:r>
                <a:r>
                  <a:rPr lang="en-US" dirty="0" err="1"/>
                  <a:t>полное</a:t>
                </a:r>
                <a:r>
                  <a:rPr lang="en-US" dirty="0"/>
                  <a:t>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от</a:t>
                </a:r>
                <a:r>
                  <a:rPr lang="en-US" dirty="0"/>
                  <a:t> </a:t>
                </a:r>
                <a:r>
                  <a:rPr lang="en-US" dirty="0" err="1"/>
                  <a:t>поступления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 в </a:t>
                </a:r>
                <a:r>
                  <a:rPr lang="en-US" dirty="0" err="1"/>
                  <a:t>систему</a:t>
                </a:r>
                <a:r>
                  <a:rPr lang="en-US" dirty="0"/>
                  <a:t> </a:t>
                </a:r>
                <a:r>
                  <a:rPr lang="en-US" dirty="0" err="1"/>
                  <a:t>до</a:t>
                </a:r>
                <a:r>
                  <a:rPr lang="en-US" dirty="0"/>
                  <a:t> </a:t>
                </a:r>
                <a:r>
                  <a:rPr lang="en-US" dirty="0" err="1"/>
                  <a:t>её</a:t>
                </a:r>
                <a:r>
                  <a:rPr lang="en-US" dirty="0"/>
                  <a:t> </a:t>
                </a:r>
                <a:r>
                  <a:rPr lang="en-US" dirty="0" err="1"/>
                  <a:t>завершения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Например</a:t>
                </a:r>
                <a:r>
                  <a:rPr lang="en-US" dirty="0"/>
                  <a:t>, </a:t>
                </a:r>
                <a:r>
                  <a:rPr lang="en-US" dirty="0" err="1"/>
                  <a:t>если</a:t>
                </a:r>
                <a:r>
                  <a:rPr lang="en-US" dirty="0"/>
                  <a:t> </a:t>
                </a:r>
                <a:r>
                  <a:rPr lang="en-US" dirty="0" err="1"/>
                  <a:t>задача</a:t>
                </a:r>
                <a:r>
                  <a:rPr lang="en-US" dirty="0"/>
                  <a:t> </a:t>
                </a:r>
                <a:r>
                  <a:rPr lang="en-US" dirty="0" err="1"/>
                  <a:t>поступила</a:t>
                </a:r>
                <a:r>
                  <a:rPr lang="en-US" dirty="0"/>
                  <a:t> в </a:t>
                </a:r>
                <a:r>
                  <a:rPr lang="en-US" dirty="0" err="1"/>
                  <a:t>момент</a:t>
                </a:r>
                <a:r>
                  <a:rPr lang="en-US" dirty="0"/>
                  <a:t> 0, а </a:t>
                </a:r>
                <a:r>
                  <a:rPr lang="en-US" dirty="0" err="1"/>
                  <a:t>завершилась</a:t>
                </a:r>
                <a:r>
                  <a:rPr lang="en-US" dirty="0"/>
                  <a:t> в </a:t>
                </a:r>
                <a:r>
                  <a:rPr lang="en-US" dirty="0" err="1"/>
                  <a:t>момент</a:t>
                </a:r>
                <a:r>
                  <a:rPr lang="en-US" dirty="0"/>
                  <a:t> 12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, </a:t>
                </a:r>
                <a:r>
                  <a:rPr lang="en-US" dirty="0" err="1"/>
                  <a:t>то</a:t>
                </a:r>
                <a:r>
                  <a:rPr lang="en-US" dirty="0"/>
                  <a:t> </a:t>
                </a:r>
                <a:r>
                  <a:rPr lang="en-US" dirty="0" err="1"/>
                  <a:t>её</a:t>
                </a:r>
                <a:r>
                  <a:rPr lang="en-US" dirty="0"/>
                  <a:t> Turnaround Time </a:t>
                </a:r>
                <a:r>
                  <a:rPr lang="en-US" dirty="0" err="1"/>
                  <a:t>составляет</a:t>
                </a:r>
                <a:r>
                  <a:rPr lang="en-US" dirty="0"/>
                  <a:t> 12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 err="1"/>
                  <a:t>Третья</a:t>
                </a:r>
                <a:r>
                  <a:rPr lang="en-US" dirty="0"/>
                  <a:t> </a:t>
                </a:r>
                <a:r>
                  <a:rPr lang="en-US" dirty="0" err="1"/>
                  <a:t>метрика</a:t>
                </a:r>
                <a:r>
                  <a:rPr lang="en-US" dirty="0"/>
                  <a:t> — </a:t>
                </a:r>
                <a:r>
                  <a:rPr lang="en-US" b="1" dirty="0"/>
                  <a:t>Response Time</a:t>
                </a:r>
                <a:r>
                  <a:rPr lang="en-US" dirty="0"/>
                  <a:t>, </a:t>
                </a:r>
                <a:r>
                  <a:rPr lang="en-US" dirty="0" err="1"/>
                  <a:t>или</a:t>
                </a:r>
                <a:r>
                  <a:rPr lang="en-US" dirty="0"/>
                  <a:t>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отклика</a:t>
                </a:r>
                <a:r>
                  <a:rPr lang="en-US" dirty="0"/>
                  <a:t>. Это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между</a:t>
                </a:r>
                <a:r>
                  <a:rPr lang="en-US" dirty="0"/>
                  <a:t> </a:t>
                </a:r>
                <a:r>
                  <a:rPr lang="en-US" dirty="0" err="1"/>
                  <a:t>поступлением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 и </a:t>
                </a:r>
                <a:r>
                  <a:rPr lang="en-US" dirty="0" err="1"/>
                  <a:t>моментом</a:t>
                </a:r>
                <a:r>
                  <a:rPr lang="en-US" dirty="0"/>
                  <a:t>, </a:t>
                </a:r>
                <a:r>
                  <a:rPr lang="en-US" dirty="0" err="1"/>
                  <a:t>когда</a:t>
                </a:r>
                <a:r>
                  <a:rPr lang="en-US" dirty="0"/>
                  <a:t> </a:t>
                </a:r>
                <a:r>
                  <a:rPr lang="en-US" dirty="0" err="1"/>
                  <a:t>она</a:t>
                </a:r>
                <a:r>
                  <a:rPr lang="en-US" dirty="0"/>
                  <a:t> </a:t>
                </a:r>
                <a:r>
                  <a:rPr lang="en-US" dirty="0" err="1"/>
                  <a:t>впервые</a:t>
                </a:r>
                <a:r>
                  <a:rPr lang="en-US" dirty="0"/>
                  <a:t> </a:t>
                </a:r>
                <a:r>
                  <a:rPr lang="en-US" dirty="0" err="1"/>
                  <a:t>получила</a:t>
                </a:r>
                <a:r>
                  <a:rPr lang="en-US" dirty="0"/>
                  <a:t> </a:t>
                </a:r>
                <a:r>
                  <a:rPr lang="en-US" dirty="0" err="1"/>
                  <a:t>процессор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И </a:t>
                </a:r>
                <a:r>
                  <a:rPr lang="en-US" dirty="0" err="1"/>
                  <a:t>здесь</a:t>
                </a:r>
                <a:r>
                  <a:rPr lang="en-US" dirty="0"/>
                  <a:t> </a:t>
                </a:r>
                <a:r>
                  <a:rPr lang="en-US" dirty="0" err="1"/>
                  <a:t>важно</a:t>
                </a:r>
                <a:r>
                  <a:rPr lang="en-US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путать</a:t>
                </a:r>
                <a:r>
                  <a:rPr lang="en-US" dirty="0"/>
                  <a:t> Response Time с Turnaround Time. </a:t>
                </a:r>
                <a:r>
                  <a:rPr lang="en-US" dirty="0" err="1"/>
                  <a:t>Задача</a:t>
                </a:r>
                <a:r>
                  <a:rPr lang="en-US" dirty="0"/>
                  <a:t> </a:t>
                </a:r>
                <a:r>
                  <a:rPr lang="en-US" dirty="0" err="1"/>
                  <a:t>может</a:t>
                </a:r>
                <a:r>
                  <a:rPr lang="en-US" dirty="0"/>
                  <a:t> </a:t>
                </a:r>
                <a:r>
                  <a:rPr lang="en-US" dirty="0" err="1"/>
                  <a:t>быстро</a:t>
                </a:r>
                <a:r>
                  <a:rPr lang="en-US" dirty="0"/>
                  <a:t> </a:t>
                </a:r>
                <a:r>
                  <a:rPr lang="en-US" dirty="0" err="1"/>
                  <a:t>получить</a:t>
                </a:r>
                <a:r>
                  <a:rPr lang="en-US" dirty="0"/>
                  <a:t> CPU, </a:t>
                </a:r>
                <a:r>
                  <a:rPr lang="en-US" dirty="0" err="1"/>
                  <a:t>выполнить</a:t>
                </a:r>
                <a:r>
                  <a:rPr lang="en-US" dirty="0"/>
                  <a:t> </a:t>
                </a:r>
                <a:r>
                  <a:rPr lang="en-US" dirty="0" err="1"/>
                  <a:t>несколько</a:t>
                </a:r>
                <a:r>
                  <a:rPr lang="en-US" dirty="0"/>
                  <a:t> </a:t>
                </a:r>
                <a:r>
                  <a:rPr lang="en-US" dirty="0" err="1"/>
                  <a:t>инструкций</a:t>
                </a:r>
                <a:r>
                  <a:rPr lang="en-US" dirty="0"/>
                  <a:t>, </a:t>
                </a:r>
                <a:r>
                  <a:rPr lang="en-US" dirty="0" err="1"/>
                  <a:t>затем</a:t>
                </a:r>
                <a:r>
                  <a:rPr lang="en-US" dirty="0"/>
                  <a:t> </a:t>
                </a:r>
                <a:r>
                  <a:rPr lang="en-US" dirty="0" err="1"/>
                  <a:t>быть</a:t>
                </a:r>
                <a:r>
                  <a:rPr lang="en-US" dirty="0"/>
                  <a:t> </a:t>
                </a:r>
                <a:r>
                  <a:rPr lang="en-US" dirty="0" err="1"/>
                  <a:t>вытесненной</a:t>
                </a:r>
                <a:r>
                  <a:rPr lang="en-US" dirty="0"/>
                  <a:t> и </a:t>
                </a:r>
                <a:r>
                  <a:rPr lang="en-US" dirty="0" err="1"/>
                  <a:t>завершиться</a:t>
                </a:r>
                <a:r>
                  <a:rPr lang="en-US" dirty="0"/>
                  <a:t> </a:t>
                </a:r>
                <a:r>
                  <a:rPr lang="en-US" dirty="0" err="1"/>
                  <a:t>значительно</a:t>
                </a:r>
                <a:r>
                  <a:rPr lang="en-US" dirty="0"/>
                  <a:t> </a:t>
                </a:r>
                <a:r>
                  <a:rPr lang="en-US" dirty="0" err="1"/>
                  <a:t>позже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Посмотрим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диаграмму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Наша</a:t>
                </a:r>
                <a:r>
                  <a:rPr lang="en-US" dirty="0"/>
                  <a:t> </a:t>
                </a:r>
                <a:r>
                  <a:rPr lang="en-US" dirty="0" err="1"/>
                  <a:t>задача</a:t>
                </a:r>
                <a:r>
                  <a:rPr lang="en-US" dirty="0"/>
                  <a:t> </a:t>
                </a:r>
                <a:r>
                  <a:rPr lang="en-US" dirty="0" err="1"/>
                  <a:t>поступает</a:t>
                </a:r>
                <a:r>
                  <a:rPr lang="en-US" dirty="0"/>
                  <a:t> в </a:t>
                </a:r>
                <a:r>
                  <a:rPr lang="en-US" dirty="0" err="1"/>
                  <a:t>момент</a:t>
                </a:r>
                <a:r>
                  <a:rPr lang="en-US" dirty="0"/>
                  <a:t> 0, </a:t>
                </a:r>
                <a:r>
                  <a:rPr lang="en-US" dirty="0" err="1"/>
                  <a:t>впервые</a:t>
                </a:r>
                <a:r>
                  <a:rPr lang="en-US" dirty="0"/>
                  <a:t> </a:t>
                </a:r>
                <a:r>
                  <a:rPr lang="en-US" dirty="0" err="1"/>
                  <a:t>запускается</a:t>
                </a:r>
                <a:r>
                  <a:rPr lang="en-US" dirty="0"/>
                  <a:t> </a:t>
                </a:r>
                <a:r>
                  <a:rPr lang="en-US" dirty="0" err="1"/>
                  <a:t>через</a:t>
                </a:r>
                <a:r>
                  <a:rPr lang="en-US" dirty="0"/>
                  <a:t> 2 </a:t>
                </a:r>
                <a:r>
                  <a:rPr lang="en-US" dirty="0" err="1"/>
                  <a:t>миллисекунды</a:t>
                </a:r>
                <a:r>
                  <a:rPr lang="en-US" dirty="0"/>
                  <a:t>, </a:t>
                </a:r>
                <a:r>
                  <a:rPr lang="en-US" dirty="0" err="1"/>
                  <a:t>затем</a:t>
                </a:r>
                <a:r>
                  <a:rPr lang="en-US" dirty="0"/>
                  <a:t> </a:t>
                </a:r>
                <a:r>
                  <a:rPr lang="en-US" dirty="0" err="1"/>
                  <a:t>вытесняется</a:t>
                </a:r>
                <a:r>
                  <a:rPr lang="en-US" dirty="0"/>
                  <a:t> и </a:t>
                </a:r>
                <a:r>
                  <a:rPr lang="en-US" dirty="0" err="1"/>
                  <a:t>ещё</a:t>
                </a:r>
                <a:r>
                  <a:rPr lang="en-US" dirty="0"/>
                  <a:t> 3 </a:t>
                </a:r>
                <a:r>
                  <a:rPr lang="en-US" dirty="0" err="1"/>
                  <a:t>миллисекунды</a:t>
                </a:r>
                <a:r>
                  <a:rPr lang="en-US" dirty="0"/>
                  <a:t> </a:t>
                </a:r>
                <a:r>
                  <a:rPr lang="en-US" dirty="0" err="1"/>
                  <a:t>ожидает</a:t>
                </a:r>
                <a:r>
                  <a:rPr lang="en-US" dirty="0"/>
                  <a:t> CPU. </a:t>
                </a:r>
                <a:r>
                  <a:rPr lang="en-US" dirty="0" err="1"/>
                  <a:t>Полностью</a:t>
                </a:r>
                <a:r>
                  <a:rPr lang="en-US" dirty="0"/>
                  <a:t> </a:t>
                </a:r>
                <a:r>
                  <a:rPr lang="en-US" dirty="0" err="1"/>
                  <a:t>завершается</a:t>
                </a:r>
                <a:r>
                  <a:rPr lang="en-US" dirty="0"/>
                  <a:t> </a:t>
                </a:r>
                <a:r>
                  <a:rPr lang="en-US" dirty="0" err="1"/>
                  <a:t>она</a:t>
                </a:r>
                <a:r>
                  <a:rPr lang="en-US" dirty="0"/>
                  <a:t> </a:t>
                </a:r>
                <a:r>
                  <a:rPr lang="en-US" dirty="0" err="1"/>
                  <a:t>через</a:t>
                </a:r>
                <a:r>
                  <a:rPr lang="en-US" dirty="0"/>
                  <a:t> 12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Получаем</a:t>
                </a:r>
                <a:r>
                  <a:rPr lang="en-US" dirty="0"/>
                  <a:t>: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nor/>
                          </m:rPr>
                          <a:rPr lang="ru-RU" i="0" smtClean="0">
                            <a:latin typeface="Cambria Math" panose="02040503050406030204" pitchFamily="18" charset="0"/>
                          </a:rPr>
                          <m:t>response</m:t>
                        </m:r>
                      </m:sub>
                    </m:sSub>
                    <m:r>
                      <a:rPr lang="ru-RU" i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m:rPr>
                        <m:nor/>
                      </m:rPr>
                      <a:rPr lang="ru-RU" i="0" smtClean="0">
                        <a:latin typeface="Cambria Math" panose="02040503050406030204" pitchFamily="18" charset="0"/>
                      </a:rPr>
                      <m:t> мс</m:t>
                    </m:r>
                  </m:oMath>
                </a14:m>
                <a:endParaRPr lang="ru-RU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nor/>
                          </m:rPr>
                          <a:rPr lang="ru-RU" i="0" dirty="0" smtClean="0">
                            <a:latin typeface="Cambria Math" panose="02040503050406030204" pitchFamily="18" charset="0"/>
                          </a:rPr>
                          <m:t>waiting</m:t>
                        </m:r>
                      </m:sub>
                    </m:sSub>
                    <m:r>
                      <a:rPr lang="ru-RU" i="0" dirty="0" smtClean="0">
                        <a:latin typeface="Cambria Math" panose="02040503050406030204" pitchFamily="18" charset="0"/>
                      </a:rPr>
                      <m:t>=2+3=5</m:t>
                    </m:r>
                    <m:r>
                      <m:rPr>
                        <m:nor/>
                      </m:rPr>
                      <a:rPr lang="ru-RU" i="0" dirty="0" smtClean="0">
                        <a:latin typeface="Cambria Math" panose="02040503050406030204" pitchFamily="18" charset="0"/>
                      </a:rPr>
                      <m:t> мс</m:t>
                    </m:r>
                  </m:oMath>
                </a14:m>
                <a:endParaRPr lang="ru-RU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nor/>
                          </m:rPr>
                          <a:rPr lang="ru-RU" i="0" dirty="0" smtClean="0">
                            <a:latin typeface="Cambria Math" panose="02040503050406030204" pitchFamily="18" charset="0"/>
                          </a:rPr>
                          <m:t>turnaround</m:t>
                        </m:r>
                      </m:sub>
                    </m:sSub>
                    <m:r>
                      <a:rPr lang="ru-RU" i="0" dirty="0" smtClean="0">
                        <a:latin typeface="Cambria Math" panose="02040503050406030204" pitchFamily="18" charset="0"/>
                      </a:rPr>
                      <m:t>=12</m:t>
                    </m:r>
                    <m:r>
                      <m:rPr>
                        <m:nor/>
                      </m:rPr>
                      <a:rPr lang="ru-RU" i="0" dirty="0" smtClean="0">
                        <a:latin typeface="Cambria Math" panose="02040503050406030204" pitchFamily="18" charset="0"/>
                      </a:rPr>
                      <m:t> мс</m:t>
                    </m:r>
                  </m:oMath>
                </a14:m>
                <a:endParaRPr lang="ru-RU" dirty="0"/>
              </a:p>
              <a:p>
                <a:r>
                  <a:rPr lang="en-US" dirty="0" err="1"/>
                  <a:t>Кроме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 </a:t>
                </a:r>
                <a:r>
                  <a:rPr lang="en-US" dirty="0" err="1"/>
                  <a:t>выполнения</a:t>
                </a:r>
                <a:r>
                  <a:rPr lang="en-US" dirty="0"/>
                  <a:t> </a:t>
                </a:r>
                <a:r>
                  <a:rPr lang="en-US" dirty="0" err="1"/>
                  <a:t>отдельных</a:t>
                </a:r>
                <a:r>
                  <a:rPr lang="en-US" dirty="0"/>
                  <a:t> </a:t>
                </a:r>
                <a:r>
                  <a:rPr lang="en-US" dirty="0" err="1"/>
                  <a:t>задач</a:t>
                </a:r>
                <a:r>
                  <a:rPr lang="en-US" dirty="0"/>
                  <a:t>, </a:t>
                </a:r>
                <a:r>
                  <a:rPr lang="en-US" dirty="0" err="1"/>
                  <a:t>нас</a:t>
                </a:r>
                <a:r>
                  <a:rPr lang="en-US" dirty="0"/>
                  <a:t> </a:t>
                </a:r>
                <a:r>
                  <a:rPr lang="en-US" dirty="0" err="1"/>
                  <a:t>интересует</a:t>
                </a:r>
                <a:r>
                  <a:rPr lang="en-US" dirty="0"/>
                  <a:t> </a:t>
                </a:r>
                <a:r>
                  <a:rPr lang="en-US" dirty="0" err="1"/>
                  <a:t>производительность</a:t>
                </a:r>
                <a:r>
                  <a:rPr lang="en-US" dirty="0"/>
                  <a:t> </a:t>
                </a:r>
                <a:r>
                  <a:rPr lang="en-US" dirty="0" err="1"/>
                  <a:t>всей</a:t>
                </a:r>
                <a:r>
                  <a:rPr lang="en-US" dirty="0"/>
                  <a:t> </a:t>
                </a:r>
                <a:r>
                  <a:rPr lang="en-US" dirty="0" err="1"/>
                  <a:t>системы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/>
                  <a:t>Throughput </a:t>
                </a:r>
                <a:r>
                  <a:rPr lang="en-US" dirty="0" err="1"/>
                  <a:t>показывает</a:t>
                </a:r>
                <a:r>
                  <a:rPr lang="en-US" dirty="0"/>
                  <a:t>, </a:t>
                </a:r>
                <a:r>
                  <a:rPr lang="en-US" dirty="0" err="1"/>
                  <a:t>сколько</a:t>
                </a:r>
                <a:r>
                  <a:rPr lang="en-US" dirty="0"/>
                  <a:t> </a:t>
                </a:r>
                <a:r>
                  <a:rPr lang="en-US" dirty="0" err="1"/>
                  <a:t>задач</a:t>
                </a:r>
                <a:r>
                  <a:rPr lang="en-US" dirty="0"/>
                  <a:t> </a:t>
                </a:r>
                <a:r>
                  <a:rPr lang="en-US" dirty="0" err="1"/>
                  <a:t>завершается</a:t>
                </a:r>
                <a:r>
                  <a:rPr lang="en-US" dirty="0"/>
                  <a:t> </a:t>
                </a:r>
                <a:r>
                  <a:rPr lang="en-US" dirty="0" err="1"/>
                  <a:t>за</a:t>
                </a:r>
                <a:r>
                  <a:rPr lang="en-US" dirty="0"/>
                  <a:t> </a:t>
                </a:r>
                <a:r>
                  <a:rPr lang="en-US" dirty="0" err="1"/>
                  <a:t>единицу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. </a:t>
                </a:r>
                <a:r>
                  <a:rPr lang="en-US" dirty="0" err="1"/>
                  <a:t>Например</a:t>
                </a:r>
                <a:r>
                  <a:rPr lang="en-US" dirty="0"/>
                  <a:t>, </a:t>
                </a:r>
                <a:r>
                  <a:rPr lang="en-US" dirty="0" err="1"/>
                  <a:t>сколько</a:t>
                </a:r>
                <a:r>
                  <a:rPr lang="en-US" dirty="0"/>
                  <a:t> </a:t>
                </a:r>
                <a:r>
                  <a:rPr lang="en-US" dirty="0" err="1"/>
                  <a:t>запросов</a:t>
                </a:r>
                <a:r>
                  <a:rPr lang="en-US" dirty="0"/>
                  <a:t> </a:t>
                </a:r>
                <a:r>
                  <a:rPr lang="en-US" dirty="0" err="1"/>
                  <a:t>сервер</a:t>
                </a:r>
                <a:r>
                  <a:rPr lang="en-US" dirty="0"/>
                  <a:t> </a:t>
                </a:r>
                <a:r>
                  <a:rPr lang="en-US" dirty="0" err="1"/>
                  <a:t>успевает</a:t>
                </a:r>
                <a:r>
                  <a:rPr lang="en-US" dirty="0"/>
                  <a:t> </a:t>
                </a:r>
                <a:r>
                  <a:rPr lang="en-US" dirty="0" err="1"/>
                  <a:t>обработать</a:t>
                </a:r>
                <a:r>
                  <a:rPr lang="en-US" dirty="0"/>
                  <a:t> </a:t>
                </a:r>
                <a:r>
                  <a:rPr lang="en-US" dirty="0" err="1"/>
                  <a:t>за</a:t>
                </a:r>
                <a:r>
                  <a:rPr lang="en-US" dirty="0"/>
                  <a:t> </a:t>
                </a:r>
                <a:r>
                  <a:rPr lang="en-US" dirty="0" err="1"/>
                  <a:t>секунду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CPU Utilization </a:t>
                </a:r>
                <a:r>
                  <a:rPr lang="en-US" dirty="0" err="1"/>
                  <a:t>показывает</a:t>
                </a:r>
                <a:r>
                  <a:rPr lang="en-US" dirty="0"/>
                  <a:t>, </a:t>
                </a:r>
                <a:r>
                  <a:rPr lang="en-US" dirty="0" err="1"/>
                  <a:t>как</a:t>
                </a:r>
                <a:r>
                  <a:rPr lang="ru-RU" dirty="0"/>
                  <a:t>ую</a:t>
                </a:r>
                <a:r>
                  <a:rPr lang="en-US" dirty="0"/>
                  <a:t> </a:t>
                </a:r>
                <a:r>
                  <a:rPr lang="en-US" dirty="0" err="1"/>
                  <a:t>доля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 </a:t>
                </a:r>
                <a:r>
                  <a:rPr lang="en-US" dirty="0" err="1"/>
                  <a:t>процессор</a:t>
                </a:r>
                <a:r>
                  <a:rPr lang="en-US" dirty="0"/>
                  <a:t> </a:t>
                </a:r>
                <a:r>
                  <a:rPr lang="en-US" dirty="0" err="1"/>
                  <a:t>занят</a:t>
                </a:r>
                <a:r>
                  <a:rPr lang="en-US" dirty="0"/>
                  <a:t> </a:t>
                </a:r>
                <a:r>
                  <a:rPr lang="en-US" dirty="0" err="1"/>
                  <a:t>полезной</a:t>
                </a:r>
                <a:r>
                  <a:rPr lang="en-US" dirty="0"/>
                  <a:t> </a:t>
                </a:r>
                <a:r>
                  <a:rPr lang="en-US" dirty="0" err="1"/>
                  <a:t>работой</a:t>
                </a:r>
                <a:r>
                  <a:rPr lang="en-US" dirty="0"/>
                  <a:t>, а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простаивает</a:t>
                </a:r>
                <a:r>
                  <a:rPr lang="en-US" dirty="0"/>
                  <a:t> </a:t>
                </a:r>
                <a:r>
                  <a:rPr lang="en-US" dirty="0" err="1"/>
                  <a:t>или</a:t>
                </a:r>
                <a:r>
                  <a:rPr lang="en-US" dirty="0"/>
                  <a:t> </a:t>
                </a:r>
                <a:r>
                  <a:rPr lang="en-US" dirty="0" err="1"/>
                  <a:t>выполняет</a:t>
                </a:r>
                <a:r>
                  <a:rPr lang="en-US" dirty="0"/>
                  <a:t> </a:t>
                </a:r>
                <a:r>
                  <a:rPr lang="en-US" dirty="0" err="1"/>
                  <a:t>накладную</a:t>
                </a:r>
                <a:r>
                  <a:rPr lang="en-US" dirty="0"/>
                  <a:t> </a:t>
                </a:r>
                <a:r>
                  <a:rPr lang="en-US" dirty="0" err="1"/>
                  <a:t>работу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Важный</a:t>
                </a:r>
                <a:r>
                  <a:rPr lang="en-US" dirty="0"/>
                  <a:t> </a:t>
                </a:r>
                <a:r>
                  <a:rPr lang="en-US" dirty="0" err="1"/>
                  <a:t>момент</a:t>
                </a:r>
                <a:r>
                  <a:rPr lang="en-US" dirty="0"/>
                  <a:t>: </a:t>
                </a:r>
                <a:r>
                  <a:rPr lang="en-US" dirty="0" err="1"/>
                  <a:t>эти</a:t>
                </a:r>
                <a:r>
                  <a:rPr lang="en-US" dirty="0"/>
                  <a:t> </a:t>
                </a:r>
                <a:r>
                  <a:rPr lang="en-US" dirty="0" err="1"/>
                  <a:t>показатели</a:t>
                </a:r>
                <a:r>
                  <a:rPr lang="en-US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всегда</a:t>
                </a:r>
                <a:r>
                  <a:rPr lang="en-US" dirty="0"/>
                  <a:t> </a:t>
                </a:r>
                <a:r>
                  <a:rPr lang="en-US" dirty="0" err="1"/>
                  <a:t>улучшаются</a:t>
                </a:r>
                <a:r>
                  <a:rPr lang="en-US" dirty="0"/>
                  <a:t> </a:t>
                </a:r>
                <a:r>
                  <a:rPr lang="en-US" dirty="0" err="1"/>
                  <a:t>одновременно</a:t>
                </a:r>
                <a:r>
                  <a:rPr lang="en-US" dirty="0"/>
                  <a:t>. </a:t>
                </a:r>
                <a:r>
                  <a:rPr lang="en-US" dirty="0" err="1"/>
                  <a:t>Алгоритм</a:t>
                </a:r>
                <a:r>
                  <a:rPr lang="en-US" dirty="0"/>
                  <a:t> </a:t>
                </a:r>
                <a:r>
                  <a:rPr lang="en-US" dirty="0" err="1"/>
                  <a:t>может</a:t>
                </a:r>
                <a:r>
                  <a:rPr lang="en-US" dirty="0"/>
                  <a:t> </a:t>
                </a:r>
                <a:r>
                  <a:rPr lang="en-US" dirty="0" err="1"/>
                  <a:t>обеспечивать</a:t>
                </a:r>
                <a:r>
                  <a:rPr lang="en-US" dirty="0"/>
                  <a:t> </a:t>
                </a:r>
                <a:r>
                  <a:rPr lang="en-US" dirty="0" err="1"/>
                  <a:t>быстрый</a:t>
                </a:r>
                <a:r>
                  <a:rPr lang="en-US" dirty="0"/>
                  <a:t> </a:t>
                </a:r>
                <a:r>
                  <a:rPr lang="en-US" dirty="0" err="1"/>
                  <a:t>отклик</a:t>
                </a:r>
                <a:r>
                  <a:rPr lang="en-US" dirty="0"/>
                  <a:t>, </a:t>
                </a:r>
                <a:r>
                  <a:rPr lang="en-US" dirty="0" err="1"/>
                  <a:t>но</a:t>
                </a:r>
                <a:r>
                  <a:rPr lang="en-US" dirty="0"/>
                  <a:t> </a:t>
                </a:r>
                <a:r>
                  <a:rPr lang="en-US" dirty="0" err="1"/>
                  <a:t>при</a:t>
                </a:r>
                <a:r>
                  <a:rPr lang="en-US" dirty="0"/>
                  <a:t> </a:t>
                </a:r>
                <a:r>
                  <a:rPr lang="en-US" dirty="0" err="1"/>
                  <a:t>этом</a:t>
                </a:r>
                <a:r>
                  <a:rPr lang="en-US" dirty="0"/>
                  <a:t> </a:t>
                </a:r>
                <a:r>
                  <a:rPr lang="en-US" dirty="0" err="1"/>
                  <a:t>увеличивать</a:t>
                </a:r>
                <a:r>
                  <a:rPr lang="en-US" dirty="0"/>
                  <a:t> </a:t>
                </a:r>
                <a:r>
                  <a:rPr lang="en-US" dirty="0" err="1"/>
                  <a:t>среднее</a:t>
                </a:r>
                <a:r>
                  <a:rPr lang="en-US" dirty="0"/>
                  <a:t>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завершения</a:t>
                </a:r>
                <a:r>
                  <a:rPr lang="en-US" dirty="0"/>
                  <a:t> </a:t>
                </a:r>
                <a:r>
                  <a:rPr lang="en-US" dirty="0" err="1"/>
                  <a:t>задач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Поэтому</a:t>
                </a:r>
                <a:r>
                  <a:rPr lang="en-US" dirty="0"/>
                  <a:t> </a:t>
                </a:r>
                <a:r>
                  <a:rPr lang="en-US" dirty="0" err="1"/>
                  <a:t>нам</a:t>
                </a:r>
                <a:r>
                  <a:rPr lang="en-US" dirty="0"/>
                  <a:t> </a:t>
                </a:r>
                <a:r>
                  <a:rPr lang="en-US" dirty="0" err="1"/>
                  <a:t>необходимо</a:t>
                </a:r>
                <a:r>
                  <a:rPr lang="en-US" dirty="0"/>
                  <a:t> </a:t>
                </a:r>
                <a:r>
                  <a:rPr lang="en-US" dirty="0" err="1"/>
                  <a:t>понимать</a:t>
                </a:r>
                <a:r>
                  <a:rPr lang="en-US" dirty="0"/>
                  <a:t>, </a:t>
                </a:r>
                <a:r>
                  <a:rPr lang="en-US" dirty="0" err="1"/>
                  <a:t>какая</a:t>
                </a:r>
                <a:r>
                  <a:rPr lang="en-US" dirty="0"/>
                  <a:t> </a:t>
                </a:r>
                <a:r>
                  <a:rPr lang="en-US" dirty="0" err="1"/>
                  <a:t>характеристика</a:t>
                </a:r>
                <a:r>
                  <a:rPr lang="en-US" dirty="0"/>
                  <a:t> </a:t>
                </a:r>
                <a:r>
                  <a:rPr lang="en-US" dirty="0" err="1"/>
                  <a:t>наиболее</a:t>
                </a:r>
                <a:r>
                  <a:rPr lang="en-US" dirty="0"/>
                  <a:t> </a:t>
                </a:r>
                <a:r>
                  <a:rPr lang="en-US" dirty="0" err="1"/>
                  <a:t>важна</a:t>
                </a:r>
                <a:r>
                  <a:rPr lang="en-US" dirty="0"/>
                  <a:t> в </a:t>
                </a:r>
                <a:r>
                  <a:rPr lang="en-US" dirty="0" err="1"/>
                  <a:t>конкретной</a:t>
                </a:r>
                <a:r>
                  <a:rPr lang="en-US" dirty="0"/>
                  <a:t> </a:t>
                </a:r>
                <a:r>
                  <a:rPr lang="en-US" dirty="0" err="1"/>
                  <a:t>системе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err="1"/>
                  <a:t>Мы</a:t>
                </a:r>
                <a:r>
                  <a:rPr lang="en-US" dirty="0"/>
                  <a:t> </a:t>
                </a:r>
                <a:r>
                  <a:rPr lang="en-US" dirty="0" err="1"/>
                  <a:t>разобрались</a:t>
                </a:r>
                <a:r>
                  <a:rPr lang="en-US" dirty="0"/>
                  <a:t>, </a:t>
                </a:r>
                <a:r>
                  <a:rPr lang="en-US" dirty="0" err="1"/>
                  <a:t>зачем</a:t>
                </a:r>
                <a:r>
                  <a:rPr lang="en-US" dirty="0"/>
                  <a:t> </a:t>
                </a:r>
                <a:r>
                  <a:rPr lang="en-US" dirty="0" err="1"/>
                  <a:t>операционной</a:t>
                </a:r>
                <a:r>
                  <a:rPr lang="en-US" dirty="0"/>
                  <a:t> </a:t>
                </a:r>
                <a:r>
                  <a:rPr lang="en-US" dirty="0" err="1"/>
                  <a:t>системе</a:t>
                </a:r>
                <a:r>
                  <a:rPr lang="en-US" dirty="0"/>
                  <a:t> </a:t>
                </a:r>
                <a:r>
                  <a:rPr lang="en-US" dirty="0" err="1"/>
                  <a:t>нужен</a:t>
                </a:r>
                <a:r>
                  <a:rPr lang="en-US" dirty="0"/>
                  <a:t> </a:t>
                </a:r>
                <a:r>
                  <a:rPr lang="en-US" dirty="0" err="1"/>
                  <a:t>планировщик</a:t>
                </a:r>
                <a:r>
                  <a:rPr lang="en-US" dirty="0"/>
                  <a:t>, </a:t>
                </a:r>
                <a:r>
                  <a:rPr lang="en-US" dirty="0" err="1"/>
                  <a:t>когда</a:t>
                </a:r>
                <a:r>
                  <a:rPr lang="en-US" dirty="0"/>
                  <a:t> </a:t>
                </a:r>
                <a:r>
                  <a:rPr lang="en-US" dirty="0" err="1"/>
                  <a:t>он</a:t>
                </a:r>
                <a:r>
                  <a:rPr lang="en-US" dirty="0"/>
                  <a:t> </a:t>
                </a:r>
                <a:r>
                  <a:rPr lang="en-US" dirty="0" err="1"/>
                  <a:t>принимает</a:t>
                </a:r>
                <a:r>
                  <a:rPr lang="en-US" dirty="0"/>
                  <a:t> </a:t>
                </a:r>
                <a:r>
                  <a:rPr lang="en-US" dirty="0" err="1"/>
                  <a:t>решения</a:t>
                </a:r>
                <a:r>
                  <a:rPr lang="en-US" dirty="0"/>
                  <a:t> и </a:t>
                </a:r>
                <a:r>
                  <a:rPr lang="en-US" dirty="0" err="1"/>
                  <a:t>почему</a:t>
                </a:r>
                <a:r>
                  <a:rPr lang="en-US" dirty="0"/>
                  <a:t> </a:t>
                </a:r>
                <a:r>
                  <a:rPr lang="en-US" dirty="0" err="1"/>
                  <a:t>переключение</a:t>
                </a:r>
                <a:r>
                  <a:rPr lang="en-US" dirty="0"/>
                  <a:t> </a:t>
                </a:r>
                <a:r>
                  <a:rPr lang="en-US" dirty="0" err="1"/>
                  <a:t>между</a:t>
                </a:r>
                <a:r>
                  <a:rPr lang="en-US" dirty="0"/>
                  <a:t> </a:t>
                </a:r>
                <a:r>
                  <a:rPr lang="en-US" dirty="0" err="1"/>
                  <a:t>потоками</a:t>
                </a:r>
                <a:r>
                  <a:rPr lang="en-US" dirty="0"/>
                  <a:t> </a:t>
                </a:r>
                <a:r>
                  <a:rPr lang="en-US" dirty="0" err="1"/>
                  <a:t>требует</a:t>
                </a:r>
                <a:r>
                  <a:rPr lang="en-US" dirty="0"/>
                  <a:t> </a:t>
                </a:r>
                <a:r>
                  <a:rPr lang="en-US" dirty="0" err="1"/>
                  <a:t>дополнительных</a:t>
                </a:r>
                <a:r>
                  <a:rPr lang="en-US" dirty="0"/>
                  <a:t> </a:t>
                </a:r>
                <a:r>
                  <a:rPr lang="en-US" dirty="0" err="1"/>
                  <a:t>ресурсов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 err="1"/>
                  <a:t>Теперь</a:t>
                </a:r>
                <a:r>
                  <a:rPr lang="en-US" dirty="0"/>
                  <a:t> </a:t>
                </a:r>
                <a:r>
                  <a:rPr lang="en-US" dirty="0" err="1"/>
                  <a:t>перейдём</a:t>
                </a:r>
                <a:r>
                  <a:rPr lang="en-US" dirty="0"/>
                  <a:t> к </a:t>
                </a:r>
                <a:r>
                  <a:rPr lang="en-US" dirty="0" err="1"/>
                  <a:t>самим</a:t>
                </a:r>
                <a:r>
                  <a:rPr lang="en-US" dirty="0"/>
                  <a:t> </a:t>
                </a:r>
                <a:r>
                  <a:rPr lang="en-US" dirty="0" err="1"/>
                  <a:t>алгоритмам</a:t>
                </a:r>
                <a:r>
                  <a:rPr lang="en-US" dirty="0"/>
                  <a:t> </a:t>
                </a:r>
                <a:r>
                  <a:rPr lang="en-US" dirty="0" err="1"/>
                  <a:t>планирования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 err="1"/>
                  <a:t>Но</a:t>
                </a:r>
                <a:r>
                  <a:rPr lang="en-US" dirty="0"/>
                  <a:t> </a:t>
                </a:r>
                <a:r>
                  <a:rPr lang="en-US" dirty="0" err="1"/>
                  <a:t>прежде</a:t>
                </a:r>
                <a:r>
                  <a:rPr lang="en-US" dirty="0"/>
                  <a:t> </a:t>
                </a:r>
                <a:r>
                  <a:rPr lang="en-US" dirty="0" err="1"/>
                  <a:t>чем</a:t>
                </a:r>
                <a:r>
                  <a:rPr lang="en-US" dirty="0"/>
                  <a:t> </a:t>
                </a:r>
                <a:r>
                  <a:rPr lang="en-US" dirty="0" err="1"/>
                  <a:t>сравнивать</a:t>
                </a:r>
                <a:r>
                  <a:rPr lang="en-US" dirty="0"/>
                  <a:t> </a:t>
                </a:r>
                <a:r>
                  <a:rPr lang="en-US" dirty="0" err="1"/>
                  <a:t>алгоритмы</a:t>
                </a:r>
                <a:r>
                  <a:rPr lang="en-US" dirty="0"/>
                  <a:t>, </a:t>
                </a:r>
                <a:r>
                  <a:rPr lang="en-US" dirty="0" err="1"/>
                  <a:t>нужно</a:t>
                </a:r>
                <a:r>
                  <a:rPr lang="en-US" dirty="0"/>
                  <a:t> </a:t>
                </a:r>
                <a:r>
                  <a:rPr lang="en-US" dirty="0" err="1"/>
                  <a:t>определить</a:t>
                </a:r>
                <a:r>
                  <a:rPr lang="en-US" dirty="0"/>
                  <a:t>,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мы</a:t>
                </a:r>
                <a:r>
                  <a:rPr lang="en-US" dirty="0"/>
                  <a:t> </a:t>
                </a:r>
                <a:r>
                  <a:rPr lang="en-US" dirty="0" err="1"/>
                  <a:t>вообще</a:t>
                </a:r>
                <a:r>
                  <a:rPr lang="en-US" dirty="0"/>
                  <a:t> </a:t>
                </a:r>
                <a:r>
                  <a:rPr lang="en-US" dirty="0" err="1"/>
                  <a:t>считаем</a:t>
                </a:r>
                <a:r>
                  <a:rPr lang="en-US" dirty="0"/>
                  <a:t> </a:t>
                </a:r>
                <a:r>
                  <a:rPr lang="en-US" dirty="0" err="1"/>
                  <a:t>хорошим</a:t>
                </a:r>
                <a:r>
                  <a:rPr lang="en-US" dirty="0"/>
                  <a:t> </a:t>
                </a:r>
                <a:r>
                  <a:rPr lang="en-US" dirty="0" err="1"/>
                  <a:t>результатом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Первая</a:t>
                </a:r>
                <a:r>
                  <a:rPr lang="en-US" dirty="0"/>
                  <a:t> </a:t>
                </a:r>
                <a:r>
                  <a:rPr lang="en-US" dirty="0" err="1"/>
                  <a:t>важная</a:t>
                </a:r>
                <a:r>
                  <a:rPr lang="en-US" dirty="0"/>
                  <a:t> </a:t>
                </a:r>
                <a:r>
                  <a:rPr lang="en-US" dirty="0" err="1"/>
                  <a:t>метрика</a:t>
                </a:r>
                <a:r>
                  <a:rPr lang="en-US" dirty="0"/>
                  <a:t> — </a:t>
                </a:r>
                <a:r>
                  <a:rPr lang="en-US" b="1" dirty="0"/>
                  <a:t>Waiting Time</a:t>
                </a:r>
                <a:r>
                  <a:rPr lang="en-US" dirty="0"/>
                  <a:t>, </a:t>
                </a:r>
                <a:r>
                  <a:rPr lang="en-US" dirty="0" err="1"/>
                  <a:t>или</a:t>
                </a:r>
                <a:r>
                  <a:rPr lang="en-US" dirty="0"/>
                  <a:t>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ожидания</a:t>
                </a:r>
                <a:r>
                  <a:rPr lang="en-US" dirty="0"/>
                  <a:t>. </a:t>
                </a:r>
                <a:r>
                  <a:rPr lang="en-US" dirty="0" err="1"/>
                  <a:t>Она</a:t>
                </a:r>
                <a:r>
                  <a:rPr lang="en-US" dirty="0"/>
                  <a:t> </a:t>
                </a:r>
                <a:r>
                  <a:rPr lang="en-US" dirty="0" err="1"/>
                  <a:t>показывает</a:t>
                </a:r>
                <a:r>
                  <a:rPr lang="en-US" dirty="0"/>
                  <a:t>, </a:t>
                </a:r>
                <a:r>
                  <a:rPr lang="en-US" dirty="0" err="1"/>
                  <a:t>сколько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 </a:t>
                </a:r>
                <a:r>
                  <a:rPr lang="en-US" dirty="0" err="1"/>
                  <a:t>задача</a:t>
                </a:r>
                <a:r>
                  <a:rPr lang="en-US" dirty="0"/>
                  <a:t> </a:t>
                </a:r>
                <a:r>
                  <a:rPr lang="en-US" dirty="0" err="1"/>
                  <a:t>провела</a:t>
                </a:r>
                <a:r>
                  <a:rPr lang="en-US" dirty="0"/>
                  <a:t> в </a:t>
                </a:r>
                <a:r>
                  <a:rPr lang="en-US" dirty="0" err="1"/>
                  <a:t>состоянии</a:t>
                </a:r>
                <a:r>
                  <a:rPr lang="en-US" dirty="0"/>
                  <a:t> Ready, </a:t>
                </a:r>
                <a:r>
                  <a:rPr lang="en-US" dirty="0" err="1"/>
                  <a:t>ожидая</a:t>
                </a:r>
                <a:r>
                  <a:rPr lang="en-US" dirty="0"/>
                  <a:t> </a:t>
                </a:r>
                <a:r>
                  <a:rPr lang="en-US" dirty="0" err="1"/>
                  <a:t>получения</a:t>
                </a:r>
                <a:r>
                  <a:rPr lang="en-US" dirty="0"/>
                  <a:t> CPU.</a:t>
                </a:r>
              </a:p>
              <a:p>
                <a:r>
                  <a:rPr lang="en-US" dirty="0" err="1"/>
                  <a:t>Обратите</a:t>
                </a:r>
                <a:r>
                  <a:rPr lang="en-US" dirty="0"/>
                  <a:t> </a:t>
                </a:r>
                <a:r>
                  <a:rPr lang="en-US" dirty="0" err="1"/>
                  <a:t>внимание</a:t>
                </a:r>
                <a:r>
                  <a:rPr lang="en-US" dirty="0"/>
                  <a:t>: </a:t>
                </a:r>
                <a:r>
                  <a:rPr lang="en-US" dirty="0" err="1"/>
                  <a:t>если</a:t>
                </a:r>
                <a:r>
                  <a:rPr lang="en-US" dirty="0"/>
                  <a:t> </a:t>
                </a:r>
                <a:r>
                  <a:rPr lang="en-US" dirty="0" err="1"/>
                  <a:t>задача</a:t>
                </a:r>
                <a:r>
                  <a:rPr lang="en-US" dirty="0"/>
                  <a:t> </a:t>
                </a:r>
                <a:r>
                  <a:rPr lang="en-US" dirty="0" err="1"/>
                  <a:t>несколько</a:t>
                </a:r>
                <a:r>
                  <a:rPr lang="en-US" dirty="0"/>
                  <a:t> </a:t>
                </a:r>
                <a:r>
                  <a:rPr lang="en-US" dirty="0" err="1"/>
                  <a:t>раз</a:t>
                </a:r>
                <a:r>
                  <a:rPr lang="en-US" dirty="0"/>
                  <a:t> </a:t>
                </a:r>
                <a:r>
                  <a:rPr lang="en-US" dirty="0" err="1"/>
                  <a:t>вытеснялась</a:t>
                </a:r>
                <a:r>
                  <a:rPr lang="en-US" dirty="0"/>
                  <a:t>, </a:t>
                </a:r>
                <a:r>
                  <a:rPr lang="en-US" dirty="0" err="1"/>
                  <a:t>мы</a:t>
                </a:r>
                <a:r>
                  <a:rPr lang="en-US" dirty="0"/>
                  <a:t> </a:t>
                </a:r>
                <a:r>
                  <a:rPr lang="en-US" dirty="0" err="1"/>
                  <a:t>должны</a:t>
                </a:r>
                <a:r>
                  <a:rPr lang="en-US" dirty="0"/>
                  <a:t> </a:t>
                </a:r>
                <a:r>
                  <a:rPr lang="en-US" dirty="0" err="1"/>
                  <a:t>сложить</a:t>
                </a:r>
                <a:r>
                  <a:rPr lang="en-US" dirty="0"/>
                  <a:t> </a:t>
                </a:r>
                <a:r>
                  <a:rPr lang="en-US" dirty="0" err="1"/>
                  <a:t>все</a:t>
                </a:r>
                <a:r>
                  <a:rPr lang="en-US" dirty="0"/>
                  <a:t> </a:t>
                </a:r>
                <a:r>
                  <a:rPr lang="en-US" dirty="0" err="1"/>
                  <a:t>интервалы</a:t>
                </a:r>
                <a:r>
                  <a:rPr lang="en-US" dirty="0"/>
                  <a:t> </a:t>
                </a:r>
                <a:r>
                  <a:rPr lang="en-US" dirty="0" err="1"/>
                  <a:t>ожидания</a:t>
                </a:r>
                <a:r>
                  <a:rPr lang="en-US" dirty="0"/>
                  <a:t>. </a:t>
                </a:r>
                <a:r>
                  <a:rPr lang="en-US" dirty="0" err="1"/>
                  <a:t>При</a:t>
                </a:r>
                <a:r>
                  <a:rPr lang="en-US" dirty="0"/>
                  <a:t> </a:t>
                </a:r>
                <a:r>
                  <a:rPr lang="en-US" dirty="0" err="1"/>
                  <a:t>этом</a:t>
                </a:r>
                <a:r>
                  <a:rPr lang="en-US" dirty="0"/>
                  <a:t>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блокировки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операциях</a:t>
                </a:r>
                <a:r>
                  <a:rPr lang="en-US" dirty="0"/>
                  <a:t> </a:t>
                </a:r>
                <a:r>
                  <a:rPr lang="en-US" dirty="0" err="1"/>
                  <a:t>ввода-вывода</a:t>
                </a:r>
                <a:r>
                  <a:rPr lang="en-US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включается</a:t>
                </a:r>
                <a:r>
                  <a:rPr lang="en-US" dirty="0"/>
                  <a:t> в Waiting Time.</a:t>
                </a:r>
              </a:p>
              <a:p>
                <a:endParaRPr lang="ru-RU" dirty="0"/>
              </a:p>
              <a:p>
                <a:r>
                  <a:rPr lang="en-US" dirty="0" err="1"/>
                  <a:t>Вторая</a:t>
                </a:r>
                <a:r>
                  <a:rPr lang="en-US" dirty="0"/>
                  <a:t> </a:t>
                </a:r>
                <a:r>
                  <a:rPr lang="en-US" dirty="0" err="1"/>
                  <a:t>метрика</a:t>
                </a:r>
                <a:r>
                  <a:rPr lang="en-US" dirty="0"/>
                  <a:t> — </a:t>
                </a:r>
                <a:r>
                  <a:rPr lang="en-US" b="1" dirty="0"/>
                  <a:t>Turnaround Time</a:t>
                </a:r>
                <a:r>
                  <a:rPr lang="en-US" dirty="0"/>
                  <a:t>. Это </a:t>
                </a:r>
                <a:r>
                  <a:rPr lang="en-US" dirty="0" err="1"/>
                  <a:t>полное</a:t>
                </a:r>
                <a:r>
                  <a:rPr lang="en-US" dirty="0"/>
                  <a:t>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от</a:t>
                </a:r>
                <a:r>
                  <a:rPr lang="en-US" dirty="0"/>
                  <a:t> </a:t>
                </a:r>
                <a:r>
                  <a:rPr lang="en-US" dirty="0" err="1"/>
                  <a:t>поступления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 в </a:t>
                </a:r>
                <a:r>
                  <a:rPr lang="en-US" dirty="0" err="1"/>
                  <a:t>систему</a:t>
                </a:r>
                <a:r>
                  <a:rPr lang="en-US" dirty="0"/>
                  <a:t> </a:t>
                </a:r>
                <a:r>
                  <a:rPr lang="en-US" dirty="0" err="1"/>
                  <a:t>до</a:t>
                </a:r>
                <a:r>
                  <a:rPr lang="en-US" dirty="0"/>
                  <a:t> </a:t>
                </a:r>
                <a:r>
                  <a:rPr lang="en-US" dirty="0" err="1"/>
                  <a:t>её</a:t>
                </a:r>
                <a:r>
                  <a:rPr lang="en-US" dirty="0"/>
                  <a:t> </a:t>
                </a:r>
                <a:r>
                  <a:rPr lang="en-US" dirty="0" err="1"/>
                  <a:t>завершения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Например</a:t>
                </a:r>
                <a:r>
                  <a:rPr lang="en-US" dirty="0"/>
                  <a:t>, </a:t>
                </a:r>
                <a:r>
                  <a:rPr lang="en-US" dirty="0" err="1"/>
                  <a:t>если</a:t>
                </a:r>
                <a:r>
                  <a:rPr lang="en-US" dirty="0"/>
                  <a:t> </a:t>
                </a:r>
                <a:r>
                  <a:rPr lang="en-US" dirty="0" err="1"/>
                  <a:t>задача</a:t>
                </a:r>
                <a:r>
                  <a:rPr lang="en-US" dirty="0"/>
                  <a:t> </a:t>
                </a:r>
                <a:r>
                  <a:rPr lang="en-US" dirty="0" err="1"/>
                  <a:t>поступила</a:t>
                </a:r>
                <a:r>
                  <a:rPr lang="en-US" dirty="0"/>
                  <a:t> в </a:t>
                </a:r>
                <a:r>
                  <a:rPr lang="en-US" dirty="0" err="1"/>
                  <a:t>момент</a:t>
                </a:r>
                <a:r>
                  <a:rPr lang="en-US" dirty="0"/>
                  <a:t> 0, а </a:t>
                </a:r>
                <a:r>
                  <a:rPr lang="en-US" dirty="0" err="1"/>
                  <a:t>завершилась</a:t>
                </a:r>
                <a:r>
                  <a:rPr lang="en-US" dirty="0"/>
                  <a:t> в </a:t>
                </a:r>
                <a:r>
                  <a:rPr lang="en-US" dirty="0" err="1"/>
                  <a:t>момент</a:t>
                </a:r>
                <a:r>
                  <a:rPr lang="en-US" dirty="0"/>
                  <a:t> 12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, </a:t>
                </a:r>
                <a:r>
                  <a:rPr lang="en-US" dirty="0" err="1"/>
                  <a:t>то</a:t>
                </a:r>
                <a:r>
                  <a:rPr lang="en-US" dirty="0"/>
                  <a:t> </a:t>
                </a:r>
                <a:r>
                  <a:rPr lang="en-US" dirty="0" err="1"/>
                  <a:t>её</a:t>
                </a:r>
                <a:r>
                  <a:rPr lang="en-US" dirty="0"/>
                  <a:t> Turnaround Time </a:t>
                </a:r>
                <a:r>
                  <a:rPr lang="en-US" dirty="0" err="1"/>
                  <a:t>составляет</a:t>
                </a:r>
                <a:r>
                  <a:rPr lang="en-US" dirty="0"/>
                  <a:t> 12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 err="1"/>
                  <a:t>Третья</a:t>
                </a:r>
                <a:r>
                  <a:rPr lang="en-US" dirty="0"/>
                  <a:t> </a:t>
                </a:r>
                <a:r>
                  <a:rPr lang="en-US" dirty="0" err="1"/>
                  <a:t>метрика</a:t>
                </a:r>
                <a:r>
                  <a:rPr lang="en-US" dirty="0"/>
                  <a:t> — </a:t>
                </a:r>
                <a:r>
                  <a:rPr lang="en-US" b="1" dirty="0"/>
                  <a:t>Response Time</a:t>
                </a:r>
                <a:r>
                  <a:rPr lang="en-US" dirty="0"/>
                  <a:t>, </a:t>
                </a:r>
                <a:r>
                  <a:rPr lang="en-US" dirty="0" err="1"/>
                  <a:t>или</a:t>
                </a:r>
                <a:r>
                  <a:rPr lang="en-US" dirty="0"/>
                  <a:t>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отклика</a:t>
                </a:r>
                <a:r>
                  <a:rPr lang="en-US" dirty="0"/>
                  <a:t>. Это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между</a:t>
                </a:r>
                <a:r>
                  <a:rPr lang="en-US" dirty="0"/>
                  <a:t> </a:t>
                </a:r>
                <a:r>
                  <a:rPr lang="en-US" dirty="0" err="1"/>
                  <a:t>поступлением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 и </a:t>
                </a:r>
                <a:r>
                  <a:rPr lang="en-US" dirty="0" err="1"/>
                  <a:t>моментом</a:t>
                </a:r>
                <a:r>
                  <a:rPr lang="en-US" dirty="0"/>
                  <a:t>, </a:t>
                </a:r>
                <a:r>
                  <a:rPr lang="en-US" dirty="0" err="1"/>
                  <a:t>когда</a:t>
                </a:r>
                <a:r>
                  <a:rPr lang="en-US" dirty="0"/>
                  <a:t> </a:t>
                </a:r>
                <a:r>
                  <a:rPr lang="en-US" dirty="0" err="1"/>
                  <a:t>она</a:t>
                </a:r>
                <a:r>
                  <a:rPr lang="en-US" dirty="0"/>
                  <a:t> </a:t>
                </a:r>
                <a:r>
                  <a:rPr lang="en-US" dirty="0" err="1"/>
                  <a:t>впервые</a:t>
                </a:r>
                <a:r>
                  <a:rPr lang="en-US" dirty="0"/>
                  <a:t> </a:t>
                </a:r>
                <a:r>
                  <a:rPr lang="en-US" dirty="0" err="1"/>
                  <a:t>получила</a:t>
                </a:r>
                <a:r>
                  <a:rPr lang="en-US" dirty="0"/>
                  <a:t> </a:t>
                </a:r>
                <a:r>
                  <a:rPr lang="en-US" dirty="0" err="1"/>
                  <a:t>процессор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И </a:t>
                </a:r>
                <a:r>
                  <a:rPr lang="en-US" dirty="0" err="1"/>
                  <a:t>здесь</a:t>
                </a:r>
                <a:r>
                  <a:rPr lang="en-US" dirty="0"/>
                  <a:t> </a:t>
                </a:r>
                <a:r>
                  <a:rPr lang="en-US" dirty="0" err="1"/>
                  <a:t>важно</a:t>
                </a:r>
                <a:r>
                  <a:rPr lang="en-US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путать</a:t>
                </a:r>
                <a:r>
                  <a:rPr lang="en-US" dirty="0"/>
                  <a:t> Response Time с Turnaround Time. </a:t>
                </a:r>
                <a:r>
                  <a:rPr lang="en-US" dirty="0" err="1"/>
                  <a:t>Задача</a:t>
                </a:r>
                <a:r>
                  <a:rPr lang="en-US" dirty="0"/>
                  <a:t> </a:t>
                </a:r>
                <a:r>
                  <a:rPr lang="en-US" dirty="0" err="1"/>
                  <a:t>может</a:t>
                </a:r>
                <a:r>
                  <a:rPr lang="en-US" dirty="0"/>
                  <a:t> </a:t>
                </a:r>
                <a:r>
                  <a:rPr lang="en-US" dirty="0" err="1"/>
                  <a:t>быстро</a:t>
                </a:r>
                <a:r>
                  <a:rPr lang="en-US" dirty="0"/>
                  <a:t> </a:t>
                </a:r>
                <a:r>
                  <a:rPr lang="en-US" dirty="0" err="1"/>
                  <a:t>получить</a:t>
                </a:r>
                <a:r>
                  <a:rPr lang="en-US" dirty="0"/>
                  <a:t> CPU, </a:t>
                </a:r>
                <a:r>
                  <a:rPr lang="en-US" dirty="0" err="1"/>
                  <a:t>выполнить</a:t>
                </a:r>
                <a:r>
                  <a:rPr lang="en-US" dirty="0"/>
                  <a:t> </a:t>
                </a:r>
                <a:r>
                  <a:rPr lang="en-US" dirty="0" err="1"/>
                  <a:t>несколько</a:t>
                </a:r>
                <a:r>
                  <a:rPr lang="en-US" dirty="0"/>
                  <a:t> </a:t>
                </a:r>
                <a:r>
                  <a:rPr lang="en-US" dirty="0" err="1"/>
                  <a:t>инструкций</a:t>
                </a:r>
                <a:r>
                  <a:rPr lang="en-US" dirty="0"/>
                  <a:t>, </a:t>
                </a:r>
                <a:r>
                  <a:rPr lang="en-US" dirty="0" err="1"/>
                  <a:t>затем</a:t>
                </a:r>
                <a:r>
                  <a:rPr lang="en-US" dirty="0"/>
                  <a:t> </a:t>
                </a:r>
                <a:r>
                  <a:rPr lang="en-US" dirty="0" err="1"/>
                  <a:t>быть</a:t>
                </a:r>
                <a:r>
                  <a:rPr lang="en-US" dirty="0"/>
                  <a:t> </a:t>
                </a:r>
                <a:r>
                  <a:rPr lang="en-US" dirty="0" err="1"/>
                  <a:t>вытесненной</a:t>
                </a:r>
                <a:r>
                  <a:rPr lang="en-US" dirty="0"/>
                  <a:t> и </a:t>
                </a:r>
                <a:r>
                  <a:rPr lang="en-US" dirty="0" err="1"/>
                  <a:t>завершиться</a:t>
                </a:r>
                <a:r>
                  <a:rPr lang="en-US" dirty="0"/>
                  <a:t> </a:t>
                </a:r>
                <a:r>
                  <a:rPr lang="en-US" dirty="0" err="1"/>
                  <a:t>значительно</a:t>
                </a:r>
                <a:r>
                  <a:rPr lang="en-US" dirty="0"/>
                  <a:t> </a:t>
                </a:r>
                <a:r>
                  <a:rPr lang="en-US" dirty="0" err="1"/>
                  <a:t>позже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Посмотрим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диаграмму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Наша</a:t>
                </a:r>
                <a:r>
                  <a:rPr lang="en-US" dirty="0"/>
                  <a:t> </a:t>
                </a:r>
                <a:r>
                  <a:rPr lang="en-US" dirty="0" err="1"/>
                  <a:t>задача</a:t>
                </a:r>
                <a:r>
                  <a:rPr lang="en-US" dirty="0"/>
                  <a:t> </a:t>
                </a:r>
                <a:r>
                  <a:rPr lang="en-US" dirty="0" err="1"/>
                  <a:t>поступает</a:t>
                </a:r>
                <a:r>
                  <a:rPr lang="en-US" dirty="0"/>
                  <a:t> в </a:t>
                </a:r>
                <a:r>
                  <a:rPr lang="en-US" dirty="0" err="1"/>
                  <a:t>момент</a:t>
                </a:r>
                <a:r>
                  <a:rPr lang="en-US" dirty="0"/>
                  <a:t> 0, </a:t>
                </a:r>
                <a:r>
                  <a:rPr lang="en-US" dirty="0" err="1"/>
                  <a:t>впервые</a:t>
                </a:r>
                <a:r>
                  <a:rPr lang="en-US" dirty="0"/>
                  <a:t> </a:t>
                </a:r>
                <a:r>
                  <a:rPr lang="en-US" dirty="0" err="1"/>
                  <a:t>запускается</a:t>
                </a:r>
                <a:r>
                  <a:rPr lang="en-US" dirty="0"/>
                  <a:t> </a:t>
                </a:r>
                <a:r>
                  <a:rPr lang="en-US" dirty="0" err="1"/>
                  <a:t>через</a:t>
                </a:r>
                <a:r>
                  <a:rPr lang="en-US" dirty="0"/>
                  <a:t> 2 </a:t>
                </a:r>
                <a:r>
                  <a:rPr lang="en-US" dirty="0" err="1"/>
                  <a:t>миллисекунды</a:t>
                </a:r>
                <a:r>
                  <a:rPr lang="en-US" dirty="0"/>
                  <a:t>, </a:t>
                </a:r>
                <a:r>
                  <a:rPr lang="en-US" dirty="0" err="1"/>
                  <a:t>затем</a:t>
                </a:r>
                <a:r>
                  <a:rPr lang="en-US" dirty="0"/>
                  <a:t> </a:t>
                </a:r>
                <a:r>
                  <a:rPr lang="en-US" dirty="0" err="1"/>
                  <a:t>вытесняется</a:t>
                </a:r>
                <a:r>
                  <a:rPr lang="en-US" dirty="0"/>
                  <a:t> и </a:t>
                </a:r>
                <a:r>
                  <a:rPr lang="en-US" dirty="0" err="1"/>
                  <a:t>ещё</a:t>
                </a:r>
                <a:r>
                  <a:rPr lang="en-US" dirty="0"/>
                  <a:t> 3 </a:t>
                </a:r>
                <a:r>
                  <a:rPr lang="en-US" dirty="0" err="1"/>
                  <a:t>миллисекунды</a:t>
                </a:r>
                <a:r>
                  <a:rPr lang="en-US" dirty="0"/>
                  <a:t> </a:t>
                </a:r>
                <a:r>
                  <a:rPr lang="en-US" dirty="0" err="1"/>
                  <a:t>ожидает</a:t>
                </a:r>
                <a:r>
                  <a:rPr lang="en-US" dirty="0"/>
                  <a:t> CPU. </a:t>
                </a:r>
                <a:r>
                  <a:rPr lang="en-US" dirty="0" err="1"/>
                  <a:t>Полностью</a:t>
                </a:r>
                <a:r>
                  <a:rPr lang="en-US" dirty="0"/>
                  <a:t> </a:t>
                </a:r>
                <a:r>
                  <a:rPr lang="en-US" dirty="0" err="1"/>
                  <a:t>завершается</a:t>
                </a:r>
                <a:r>
                  <a:rPr lang="en-US" dirty="0"/>
                  <a:t> </a:t>
                </a:r>
                <a:r>
                  <a:rPr lang="en-US" dirty="0" err="1"/>
                  <a:t>она</a:t>
                </a:r>
                <a:r>
                  <a:rPr lang="en-US" dirty="0"/>
                  <a:t> </a:t>
                </a:r>
                <a:r>
                  <a:rPr lang="en-US" dirty="0" err="1"/>
                  <a:t>через</a:t>
                </a:r>
                <a:r>
                  <a:rPr lang="en-US" dirty="0"/>
                  <a:t> 12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Получаем</a:t>
                </a:r>
                <a:r>
                  <a:rPr lang="en-US" dirty="0"/>
                  <a:t>: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ru-RU" i="0">
                    <a:latin typeface="Cambria Math" panose="02040503050406030204" pitchFamily="18" charset="0"/>
                  </a:rPr>
                  <a:t>𝑇_"response" =2" мс</a:t>
                </a:r>
                <a:r>
                  <a:rPr lang="en-US" i="0">
                    <a:latin typeface="Cambria Math" panose="02040503050406030204" pitchFamily="18" charset="0"/>
                  </a:rPr>
                  <a:t>"</a:t>
                </a:r>
                <a:endParaRPr lang="ru-RU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ru-RU" i="0" dirty="0">
                    <a:latin typeface="Cambria Math" panose="02040503050406030204" pitchFamily="18" charset="0"/>
                  </a:rPr>
                  <a:t>𝑇_"waiting" =2+3=5" мс</a:t>
                </a:r>
                <a:r>
                  <a:rPr lang="en-US" i="0" dirty="0">
                    <a:latin typeface="Cambria Math" panose="02040503050406030204" pitchFamily="18" charset="0"/>
                  </a:rPr>
                  <a:t>"</a:t>
                </a:r>
                <a:endParaRPr lang="ru-RU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ru-RU" i="0" dirty="0">
                    <a:latin typeface="Cambria Math" panose="02040503050406030204" pitchFamily="18" charset="0"/>
                  </a:rPr>
                  <a:t>𝑇_"turnaround" =12" мс</a:t>
                </a:r>
                <a:r>
                  <a:rPr lang="en-US" i="0" dirty="0">
                    <a:latin typeface="Cambria Math" panose="02040503050406030204" pitchFamily="18" charset="0"/>
                  </a:rPr>
                  <a:t>"</a:t>
                </a:r>
                <a:endParaRPr lang="ru-RU" dirty="0"/>
              </a:p>
              <a:p>
                <a:r>
                  <a:rPr lang="en-US" dirty="0" err="1"/>
                  <a:t>Кроме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 </a:t>
                </a:r>
                <a:r>
                  <a:rPr lang="en-US" dirty="0" err="1"/>
                  <a:t>выполнения</a:t>
                </a:r>
                <a:r>
                  <a:rPr lang="en-US" dirty="0"/>
                  <a:t> </a:t>
                </a:r>
                <a:r>
                  <a:rPr lang="en-US" dirty="0" err="1"/>
                  <a:t>отдельных</a:t>
                </a:r>
                <a:r>
                  <a:rPr lang="en-US" dirty="0"/>
                  <a:t> </a:t>
                </a:r>
                <a:r>
                  <a:rPr lang="en-US" dirty="0" err="1"/>
                  <a:t>задач</a:t>
                </a:r>
                <a:r>
                  <a:rPr lang="en-US" dirty="0"/>
                  <a:t>, </a:t>
                </a:r>
                <a:r>
                  <a:rPr lang="en-US" dirty="0" err="1"/>
                  <a:t>нас</a:t>
                </a:r>
                <a:r>
                  <a:rPr lang="en-US" dirty="0"/>
                  <a:t> </a:t>
                </a:r>
                <a:r>
                  <a:rPr lang="en-US" dirty="0" err="1"/>
                  <a:t>интересует</a:t>
                </a:r>
                <a:r>
                  <a:rPr lang="en-US" dirty="0"/>
                  <a:t> </a:t>
                </a:r>
                <a:r>
                  <a:rPr lang="en-US" dirty="0" err="1"/>
                  <a:t>производительность</a:t>
                </a:r>
                <a:r>
                  <a:rPr lang="en-US" dirty="0"/>
                  <a:t> </a:t>
                </a:r>
                <a:r>
                  <a:rPr lang="en-US" dirty="0" err="1"/>
                  <a:t>всей</a:t>
                </a:r>
                <a:r>
                  <a:rPr lang="en-US" dirty="0"/>
                  <a:t> </a:t>
                </a:r>
                <a:r>
                  <a:rPr lang="en-US" dirty="0" err="1"/>
                  <a:t>системы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/>
                  <a:t>Throughput </a:t>
                </a:r>
                <a:r>
                  <a:rPr lang="en-US" dirty="0" err="1"/>
                  <a:t>показывает</a:t>
                </a:r>
                <a:r>
                  <a:rPr lang="en-US" dirty="0"/>
                  <a:t>, </a:t>
                </a:r>
                <a:r>
                  <a:rPr lang="en-US" dirty="0" err="1"/>
                  <a:t>сколько</a:t>
                </a:r>
                <a:r>
                  <a:rPr lang="en-US" dirty="0"/>
                  <a:t> </a:t>
                </a:r>
                <a:r>
                  <a:rPr lang="en-US" dirty="0" err="1"/>
                  <a:t>задач</a:t>
                </a:r>
                <a:r>
                  <a:rPr lang="en-US" dirty="0"/>
                  <a:t> </a:t>
                </a:r>
                <a:r>
                  <a:rPr lang="en-US" dirty="0" err="1"/>
                  <a:t>завершается</a:t>
                </a:r>
                <a:r>
                  <a:rPr lang="en-US" dirty="0"/>
                  <a:t> </a:t>
                </a:r>
                <a:r>
                  <a:rPr lang="en-US" dirty="0" err="1"/>
                  <a:t>за</a:t>
                </a:r>
                <a:r>
                  <a:rPr lang="en-US" dirty="0"/>
                  <a:t> </a:t>
                </a:r>
                <a:r>
                  <a:rPr lang="en-US" dirty="0" err="1"/>
                  <a:t>единицу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. </a:t>
                </a:r>
                <a:r>
                  <a:rPr lang="en-US" dirty="0" err="1"/>
                  <a:t>Например</a:t>
                </a:r>
                <a:r>
                  <a:rPr lang="en-US" dirty="0"/>
                  <a:t>, </a:t>
                </a:r>
                <a:r>
                  <a:rPr lang="en-US" dirty="0" err="1"/>
                  <a:t>сколько</a:t>
                </a:r>
                <a:r>
                  <a:rPr lang="en-US" dirty="0"/>
                  <a:t> </a:t>
                </a:r>
                <a:r>
                  <a:rPr lang="en-US" dirty="0" err="1"/>
                  <a:t>запросов</a:t>
                </a:r>
                <a:r>
                  <a:rPr lang="en-US" dirty="0"/>
                  <a:t> </a:t>
                </a:r>
                <a:r>
                  <a:rPr lang="en-US" dirty="0" err="1"/>
                  <a:t>сервер</a:t>
                </a:r>
                <a:r>
                  <a:rPr lang="en-US" dirty="0"/>
                  <a:t> </a:t>
                </a:r>
                <a:r>
                  <a:rPr lang="en-US" dirty="0" err="1"/>
                  <a:t>успевает</a:t>
                </a:r>
                <a:r>
                  <a:rPr lang="en-US" dirty="0"/>
                  <a:t> </a:t>
                </a:r>
                <a:r>
                  <a:rPr lang="en-US" dirty="0" err="1"/>
                  <a:t>обработать</a:t>
                </a:r>
                <a:r>
                  <a:rPr lang="en-US" dirty="0"/>
                  <a:t> </a:t>
                </a:r>
                <a:r>
                  <a:rPr lang="en-US" dirty="0" err="1"/>
                  <a:t>за</a:t>
                </a:r>
                <a:r>
                  <a:rPr lang="en-US" dirty="0"/>
                  <a:t> </a:t>
                </a:r>
                <a:r>
                  <a:rPr lang="en-US" dirty="0" err="1"/>
                  <a:t>секунду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CPU Utilization </a:t>
                </a:r>
                <a:r>
                  <a:rPr lang="en-US" dirty="0" err="1"/>
                  <a:t>показывает</a:t>
                </a:r>
                <a:r>
                  <a:rPr lang="en-US" dirty="0"/>
                  <a:t>, </a:t>
                </a:r>
                <a:r>
                  <a:rPr lang="en-US" dirty="0" err="1"/>
                  <a:t>как</a:t>
                </a:r>
                <a:r>
                  <a:rPr lang="ru-RU" dirty="0"/>
                  <a:t>ую</a:t>
                </a:r>
                <a:r>
                  <a:rPr lang="en-US" dirty="0"/>
                  <a:t> </a:t>
                </a:r>
                <a:r>
                  <a:rPr lang="en-US" dirty="0" err="1"/>
                  <a:t>доля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 </a:t>
                </a:r>
                <a:r>
                  <a:rPr lang="en-US" dirty="0" err="1"/>
                  <a:t>процессор</a:t>
                </a:r>
                <a:r>
                  <a:rPr lang="en-US" dirty="0"/>
                  <a:t> </a:t>
                </a:r>
                <a:r>
                  <a:rPr lang="en-US" dirty="0" err="1"/>
                  <a:t>занят</a:t>
                </a:r>
                <a:r>
                  <a:rPr lang="en-US" dirty="0"/>
                  <a:t> </a:t>
                </a:r>
                <a:r>
                  <a:rPr lang="en-US" dirty="0" err="1"/>
                  <a:t>полезной</a:t>
                </a:r>
                <a:r>
                  <a:rPr lang="en-US" dirty="0"/>
                  <a:t> </a:t>
                </a:r>
                <a:r>
                  <a:rPr lang="en-US" dirty="0" err="1"/>
                  <a:t>работой</a:t>
                </a:r>
                <a:r>
                  <a:rPr lang="en-US" dirty="0"/>
                  <a:t>, а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простаивает</a:t>
                </a:r>
                <a:r>
                  <a:rPr lang="en-US" dirty="0"/>
                  <a:t> </a:t>
                </a:r>
                <a:r>
                  <a:rPr lang="en-US" dirty="0" err="1"/>
                  <a:t>или</a:t>
                </a:r>
                <a:r>
                  <a:rPr lang="en-US" dirty="0"/>
                  <a:t> </a:t>
                </a:r>
                <a:r>
                  <a:rPr lang="en-US" dirty="0" err="1"/>
                  <a:t>выполняет</a:t>
                </a:r>
                <a:r>
                  <a:rPr lang="en-US" dirty="0"/>
                  <a:t> </a:t>
                </a:r>
                <a:r>
                  <a:rPr lang="en-US" dirty="0" err="1"/>
                  <a:t>накладную</a:t>
                </a:r>
                <a:r>
                  <a:rPr lang="en-US" dirty="0"/>
                  <a:t> </a:t>
                </a:r>
                <a:r>
                  <a:rPr lang="en-US" dirty="0" err="1"/>
                  <a:t>работу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Важный</a:t>
                </a:r>
                <a:r>
                  <a:rPr lang="en-US" dirty="0"/>
                  <a:t> </a:t>
                </a:r>
                <a:r>
                  <a:rPr lang="en-US" dirty="0" err="1"/>
                  <a:t>момент</a:t>
                </a:r>
                <a:r>
                  <a:rPr lang="en-US" dirty="0"/>
                  <a:t>: </a:t>
                </a:r>
                <a:r>
                  <a:rPr lang="en-US" dirty="0" err="1"/>
                  <a:t>эти</a:t>
                </a:r>
                <a:r>
                  <a:rPr lang="en-US" dirty="0"/>
                  <a:t> </a:t>
                </a:r>
                <a:r>
                  <a:rPr lang="en-US" dirty="0" err="1"/>
                  <a:t>показатели</a:t>
                </a:r>
                <a:r>
                  <a:rPr lang="en-US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всегда</a:t>
                </a:r>
                <a:r>
                  <a:rPr lang="en-US" dirty="0"/>
                  <a:t> </a:t>
                </a:r>
                <a:r>
                  <a:rPr lang="en-US" dirty="0" err="1"/>
                  <a:t>улучшаются</a:t>
                </a:r>
                <a:r>
                  <a:rPr lang="en-US" dirty="0"/>
                  <a:t> </a:t>
                </a:r>
                <a:r>
                  <a:rPr lang="en-US" dirty="0" err="1"/>
                  <a:t>одновременно</a:t>
                </a:r>
                <a:r>
                  <a:rPr lang="en-US" dirty="0"/>
                  <a:t>. </a:t>
                </a:r>
                <a:r>
                  <a:rPr lang="en-US" dirty="0" err="1"/>
                  <a:t>Алгоритм</a:t>
                </a:r>
                <a:r>
                  <a:rPr lang="en-US" dirty="0"/>
                  <a:t> </a:t>
                </a:r>
                <a:r>
                  <a:rPr lang="en-US" dirty="0" err="1"/>
                  <a:t>может</a:t>
                </a:r>
                <a:r>
                  <a:rPr lang="en-US" dirty="0"/>
                  <a:t> </a:t>
                </a:r>
                <a:r>
                  <a:rPr lang="en-US" dirty="0" err="1"/>
                  <a:t>обеспечивать</a:t>
                </a:r>
                <a:r>
                  <a:rPr lang="en-US" dirty="0"/>
                  <a:t> </a:t>
                </a:r>
                <a:r>
                  <a:rPr lang="en-US" dirty="0" err="1"/>
                  <a:t>быстрый</a:t>
                </a:r>
                <a:r>
                  <a:rPr lang="en-US" dirty="0"/>
                  <a:t> </a:t>
                </a:r>
                <a:r>
                  <a:rPr lang="en-US" dirty="0" err="1"/>
                  <a:t>отклик</a:t>
                </a:r>
                <a:r>
                  <a:rPr lang="en-US" dirty="0"/>
                  <a:t>, </a:t>
                </a:r>
                <a:r>
                  <a:rPr lang="en-US" dirty="0" err="1"/>
                  <a:t>но</a:t>
                </a:r>
                <a:r>
                  <a:rPr lang="en-US" dirty="0"/>
                  <a:t> </a:t>
                </a:r>
                <a:r>
                  <a:rPr lang="en-US" dirty="0" err="1"/>
                  <a:t>при</a:t>
                </a:r>
                <a:r>
                  <a:rPr lang="en-US" dirty="0"/>
                  <a:t> </a:t>
                </a:r>
                <a:r>
                  <a:rPr lang="en-US" dirty="0" err="1"/>
                  <a:t>этом</a:t>
                </a:r>
                <a:r>
                  <a:rPr lang="en-US" dirty="0"/>
                  <a:t> </a:t>
                </a:r>
                <a:r>
                  <a:rPr lang="en-US" dirty="0" err="1"/>
                  <a:t>увеличивать</a:t>
                </a:r>
                <a:r>
                  <a:rPr lang="en-US" dirty="0"/>
                  <a:t> </a:t>
                </a:r>
                <a:r>
                  <a:rPr lang="en-US" dirty="0" err="1"/>
                  <a:t>среднее</a:t>
                </a:r>
                <a:r>
                  <a:rPr lang="en-US" dirty="0"/>
                  <a:t>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завершения</a:t>
                </a:r>
                <a:r>
                  <a:rPr lang="en-US" dirty="0"/>
                  <a:t> </a:t>
                </a:r>
                <a:r>
                  <a:rPr lang="en-US" dirty="0" err="1"/>
                  <a:t>задач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Поэтому</a:t>
                </a:r>
                <a:r>
                  <a:rPr lang="en-US" dirty="0"/>
                  <a:t> </a:t>
                </a:r>
                <a:r>
                  <a:rPr lang="en-US" dirty="0" err="1"/>
                  <a:t>нам</a:t>
                </a:r>
                <a:r>
                  <a:rPr lang="en-US" dirty="0"/>
                  <a:t> </a:t>
                </a:r>
                <a:r>
                  <a:rPr lang="en-US" dirty="0" err="1"/>
                  <a:t>необходимо</a:t>
                </a:r>
                <a:r>
                  <a:rPr lang="en-US" dirty="0"/>
                  <a:t> </a:t>
                </a:r>
                <a:r>
                  <a:rPr lang="en-US" dirty="0" err="1"/>
                  <a:t>понимать</a:t>
                </a:r>
                <a:r>
                  <a:rPr lang="en-US" dirty="0"/>
                  <a:t>, </a:t>
                </a:r>
                <a:r>
                  <a:rPr lang="en-US" dirty="0" err="1"/>
                  <a:t>какая</a:t>
                </a:r>
                <a:r>
                  <a:rPr lang="en-US" dirty="0"/>
                  <a:t> </a:t>
                </a:r>
                <a:r>
                  <a:rPr lang="en-US" dirty="0" err="1"/>
                  <a:t>характеристика</a:t>
                </a:r>
                <a:r>
                  <a:rPr lang="en-US" dirty="0"/>
                  <a:t> </a:t>
                </a:r>
                <a:r>
                  <a:rPr lang="en-US" dirty="0" err="1"/>
                  <a:t>наиболее</a:t>
                </a:r>
                <a:r>
                  <a:rPr lang="en-US" dirty="0"/>
                  <a:t> </a:t>
                </a:r>
                <a:r>
                  <a:rPr lang="en-US" dirty="0" err="1"/>
                  <a:t>важна</a:t>
                </a:r>
                <a:r>
                  <a:rPr lang="en-US" dirty="0"/>
                  <a:t> в </a:t>
                </a:r>
                <a:r>
                  <a:rPr lang="en-US" dirty="0" err="1"/>
                  <a:t>конкретной</a:t>
                </a:r>
                <a:r>
                  <a:rPr lang="en-US" dirty="0"/>
                  <a:t> </a:t>
                </a:r>
                <a:r>
                  <a:rPr lang="en-US" dirty="0" err="1"/>
                  <a:t>системе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8080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Представим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сценария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Первый</a:t>
            </a:r>
            <a:r>
              <a:rPr lang="en-US" dirty="0"/>
              <a:t> —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пакетной</a:t>
            </a:r>
            <a:r>
              <a:rPr lang="en-US" dirty="0"/>
              <a:t> </a:t>
            </a:r>
            <a:r>
              <a:rPr lang="en-US" dirty="0" err="1"/>
              <a:t>обработки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обработать</a:t>
            </a:r>
            <a:r>
              <a:rPr lang="en-US" dirty="0"/>
              <a:t> </a:t>
            </a:r>
            <a:r>
              <a:rPr lang="en-US" dirty="0" err="1"/>
              <a:t>тысячу</a:t>
            </a:r>
            <a:r>
              <a:rPr lang="en-US" dirty="0"/>
              <a:t> </a:t>
            </a:r>
            <a:r>
              <a:rPr lang="en-US" dirty="0" err="1"/>
              <a:t>файлов</a:t>
            </a:r>
            <a:r>
              <a:rPr lang="en-US" dirty="0"/>
              <a:t>,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большое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сформировать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отчётов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таких</a:t>
            </a:r>
            <a:r>
              <a:rPr lang="en-US" dirty="0"/>
              <a:t> </a:t>
            </a:r>
            <a:r>
              <a:rPr lang="en-US" dirty="0" err="1"/>
              <a:t>системах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немедленной</a:t>
            </a:r>
            <a:r>
              <a:rPr lang="en-US" dirty="0"/>
              <a:t> </a:t>
            </a:r>
            <a:r>
              <a:rPr lang="en-US" dirty="0" err="1"/>
              <a:t>реакции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каждое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прежде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интересует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быстро</a:t>
            </a:r>
            <a:r>
              <a:rPr lang="en-US" dirty="0"/>
              <a:t> </a:t>
            </a:r>
            <a:r>
              <a:rPr lang="en-US" dirty="0" err="1"/>
              <a:t>будут</a:t>
            </a:r>
            <a:r>
              <a:rPr lang="en-US" dirty="0"/>
              <a:t> </a:t>
            </a:r>
            <a:r>
              <a:rPr lang="en-US" dirty="0" err="1"/>
              <a:t>завершаться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и </a:t>
            </a:r>
            <a:r>
              <a:rPr lang="en-US" dirty="0" err="1"/>
              <a:t>сколько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сможет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определённое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интерактивную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 —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персональный</a:t>
            </a:r>
            <a:r>
              <a:rPr lang="en-US" dirty="0"/>
              <a:t> </a:t>
            </a:r>
            <a:r>
              <a:rPr lang="en-US" dirty="0" err="1"/>
              <a:t>компьютер</a:t>
            </a:r>
            <a:r>
              <a:rPr lang="en-US" dirty="0"/>
              <a:t>,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котором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редактирует</a:t>
            </a:r>
            <a:r>
              <a:rPr lang="en-US" dirty="0"/>
              <a:t> </a:t>
            </a:r>
            <a:r>
              <a:rPr lang="en-US" dirty="0" err="1"/>
              <a:t>текст</a:t>
            </a:r>
            <a:r>
              <a:rPr lang="en-US" dirty="0"/>
              <a:t>, </a:t>
            </a:r>
            <a:r>
              <a:rPr lang="en-US" dirty="0" err="1"/>
              <a:t>работает</a:t>
            </a:r>
            <a:r>
              <a:rPr lang="en-US" dirty="0"/>
              <a:t> с </a:t>
            </a:r>
            <a:r>
              <a:rPr lang="en-US" dirty="0" err="1"/>
              <a:t>браузером</a:t>
            </a:r>
            <a:r>
              <a:rPr lang="en-US" dirty="0"/>
              <a:t> и </a:t>
            </a:r>
            <a:r>
              <a:rPr lang="en-US" dirty="0" err="1"/>
              <a:t>слушает</a:t>
            </a:r>
            <a:r>
              <a:rPr lang="en-US" dirty="0"/>
              <a:t> </a:t>
            </a:r>
            <a:r>
              <a:rPr lang="en-US" dirty="0" err="1"/>
              <a:t>музыку</a:t>
            </a:r>
            <a:r>
              <a:rPr lang="en-US" dirty="0"/>
              <a:t>.</a:t>
            </a:r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</a:t>
            </a:r>
            <a:r>
              <a:rPr lang="en-US" dirty="0" err="1"/>
              <a:t>другие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ожидает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нажатия</a:t>
            </a:r>
            <a:r>
              <a:rPr lang="en-US" dirty="0"/>
              <a:t> </a:t>
            </a:r>
            <a:r>
              <a:rPr lang="en-US" dirty="0" err="1"/>
              <a:t>клавиши</a:t>
            </a:r>
            <a:r>
              <a:rPr lang="en-US" dirty="0"/>
              <a:t> </a:t>
            </a:r>
            <a:r>
              <a:rPr lang="en-US" dirty="0" err="1"/>
              <a:t>символ</a:t>
            </a:r>
            <a:r>
              <a:rPr lang="en-US" dirty="0"/>
              <a:t> </a:t>
            </a:r>
            <a:r>
              <a:rPr lang="en-US" dirty="0" err="1"/>
              <a:t>быстро</a:t>
            </a:r>
            <a:r>
              <a:rPr lang="en-US" dirty="0"/>
              <a:t> </a:t>
            </a:r>
            <a:r>
              <a:rPr lang="en-US" dirty="0" err="1"/>
              <a:t>появится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экране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перестанет</a:t>
            </a:r>
            <a:r>
              <a:rPr lang="en-US" dirty="0"/>
              <a:t> </a:t>
            </a:r>
            <a:r>
              <a:rPr lang="en-US" dirty="0" err="1"/>
              <a:t>реагировать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секунд</a:t>
            </a:r>
            <a:r>
              <a:rPr lang="en-US" dirty="0"/>
              <a:t>,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восприниматься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зависание</a:t>
            </a:r>
            <a:r>
              <a:rPr lang="en-US" dirty="0"/>
              <a:t>,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занят</a:t>
            </a:r>
            <a:r>
              <a:rPr lang="en-US" dirty="0"/>
              <a:t> </a:t>
            </a:r>
            <a:r>
              <a:rPr lang="en-US" dirty="0" err="1"/>
              <a:t>полезными</a:t>
            </a:r>
            <a:r>
              <a:rPr lang="en-US" dirty="0"/>
              <a:t> </a:t>
            </a:r>
            <a:r>
              <a:rPr lang="en-US" dirty="0" err="1"/>
              <a:t>вычислениями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интерактивных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отклика</a:t>
            </a:r>
            <a:r>
              <a:rPr lang="en-US" dirty="0"/>
              <a:t>.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справедливо</a:t>
            </a:r>
            <a:r>
              <a:rPr lang="en-US" dirty="0"/>
              <a:t> </a:t>
            </a:r>
            <a:r>
              <a:rPr lang="en-US" dirty="0" err="1"/>
              <a:t>распределять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мешала</a:t>
            </a:r>
            <a:r>
              <a:rPr lang="en-US" dirty="0"/>
              <a:t> </a:t>
            </a:r>
            <a:r>
              <a:rPr lang="en-US" dirty="0" err="1"/>
              <a:t>работе</a:t>
            </a:r>
            <a:r>
              <a:rPr lang="en-US" dirty="0"/>
              <a:t> </a:t>
            </a:r>
            <a:r>
              <a:rPr lang="en-US" dirty="0" err="1"/>
              <a:t>остальных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Наконец</a:t>
            </a:r>
            <a:r>
              <a:rPr lang="en-US" dirty="0"/>
              <a:t>, </a:t>
            </a:r>
            <a:r>
              <a:rPr lang="en-US" dirty="0" err="1"/>
              <a:t>существуют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реального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, </a:t>
            </a:r>
            <a:r>
              <a:rPr lang="en-US" dirty="0" err="1"/>
              <a:t>или</a:t>
            </a:r>
            <a:r>
              <a:rPr lang="en-US" dirty="0"/>
              <a:t> Real-Time Systems.</a:t>
            </a:r>
          </a:p>
          <a:p>
            <a:r>
              <a:rPr lang="en-US" dirty="0" err="1"/>
              <a:t>Представьте</a:t>
            </a:r>
            <a:r>
              <a:rPr lang="en-US" dirty="0"/>
              <a:t> </a:t>
            </a:r>
            <a:r>
              <a:rPr lang="en-US" dirty="0" err="1"/>
              <a:t>контроллер</a:t>
            </a:r>
            <a:r>
              <a:rPr lang="en-US" dirty="0"/>
              <a:t> </a:t>
            </a:r>
            <a:r>
              <a:rPr lang="en-US" dirty="0" err="1"/>
              <a:t>промышленного</a:t>
            </a:r>
            <a:r>
              <a:rPr lang="en-US" dirty="0"/>
              <a:t> </a:t>
            </a:r>
            <a:r>
              <a:rPr lang="en-US" dirty="0" err="1"/>
              <a:t>оборудования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обрабатывать</a:t>
            </a:r>
            <a:r>
              <a:rPr lang="en-US" dirty="0"/>
              <a:t> </a:t>
            </a:r>
            <a:r>
              <a:rPr lang="en-US" dirty="0" err="1"/>
              <a:t>сигнал</a:t>
            </a:r>
            <a:r>
              <a:rPr lang="en-US" dirty="0"/>
              <a:t> </a:t>
            </a:r>
            <a:r>
              <a:rPr lang="en-US" dirty="0" err="1"/>
              <a:t>датчика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определённые</a:t>
            </a:r>
            <a:r>
              <a:rPr lang="en-US" dirty="0"/>
              <a:t> </a:t>
            </a:r>
            <a:r>
              <a:rPr lang="en-US" dirty="0" err="1"/>
              <a:t>интервалы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вычисление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заданного</a:t>
            </a:r>
            <a:r>
              <a:rPr lang="en-US" dirty="0"/>
              <a:t> </a:t>
            </a:r>
            <a:r>
              <a:rPr lang="en-US" dirty="0" err="1"/>
              <a:t>срока</a:t>
            </a:r>
            <a:r>
              <a:rPr lang="en-US" dirty="0"/>
              <a:t> — Deadline.</a:t>
            </a:r>
          </a:p>
          <a:p>
            <a:r>
              <a:rPr lang="en-US" dirty="0" err="1"/>
              <a:t>Результат</a:t>
            </a:r>
            <a:r>
              <a:rPr lang="en-US" dirty="0"/>
              <a:t>, </a:t>
            </a:r>
            <a:r>
              <a:rPr lang="en-US" dirty="0" err="1"/>
              <a:t>полученный</a:t>
            </a:r>
            <a:r>
              <a:rPr lang="en-US" dirty="0"/>
              <a:t>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поздно</a:t>
            </a:r>
            <a:r>
              <a:rPr lang="en-US" dirty="0"/>
              <a:t>,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оказаться</a:t>
            </a:r>
            <a:r>
              <a:rPr lang="en-US" dirty="0"/>
              <a:t> </a:t>
            </a:r>
            <a:r>
              <a:rPr lang="en-US" dirty="0" err="1"/>
              <a:t>бесполезным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предъявляют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к </a:t>
            </a:r>
            <a:r>
              <a:rPr lang="en-US" dirty="0" err="1"/>
              <a:t>планировщику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Дальше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познакомимся</a:t>
            </a:r>
            <a:r>
              <a:rPr lang="en-US" dirty="0"/>
              <a:t> с </a:t>
            </a:r>
            <a:r>
              <a:rPr lang="en-US" dirty="0" err="1"/>
              <a:t>несколькими</a:t>
            </a:r>
            <a:r>
              <a:rPr lang="en-US" dirty="0"/>
              <a:t> </a:t>
            </a:r>
            <a:r>
              <a:rPr lang="en-US" dirty="0" err="1"/>
              <a:t>классическими</a:t>
            </a:r>
            <a:r>
              <a:rPr lang="en-US" dirty="0"/>
              <a:t> </a:t>
            </a:r>
            <a:r>
              <a:rPr lang="en-US" dirty="0" err="1"/>
              <a:t>алгоритмами</a:t>
            </a:r>
            <a:r>
              <a:rPr lang="en-US" dirty="0"/>
              <a:t> и </a:t>
            </a:r>
            <a:r>
              <a:rPr lang="en-US" dirty="0" err="1"/>
              <a:t>увидим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решают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Алгоритмы</a:t>
            </a:r>
            <a:r>
              <a:rPr lang="en-US" dirty="0"/>
              <a:t> </a:t>
            </a:r>
            <a:r>
              <a:rPr lang="en-US" dirty="0" err="1"/>
              <a:t>реального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подробно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в </a:t>
            </a:r>
            <a:r>
              <a:rPr lang="en-US" dirty="0" err="1"/>
              <a:t>отдельном</a:t>
            </a:r>
            <a:r>
              <a:rPr lang="en-US" dirty="0"/>
              <a:t> </a:t>
            </a:r>
            <a:r>
              <a:rPr lang="en-US" dirty="0" err="1"/>
              <a:t>разделе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8438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сравнивать</a:t>
            </a:r>
            <a:r>
              <a:rPr lang="en-US" dirty="0"/>
              <a:t> </a:t>
            </a:r>
            <a:r>
              <a:rPr lang="en-US" dirty="0" err="1"/>
              <a:t>алгоритмы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,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понадобится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Представим</a:t>
            </a:r>
            <a:r>
              <a:rPr lang="en-US" dirty="0"/>
              <a:t> </a:t>
            </a:r>
            <a:r>
              <a:rPr lang="en-US" dirty="0" err="1"/>
              <a:t>четыре</a:t>
            </a:r>
            <a:r>
              <a:rPr lang="en-US" dirty="0"/>
              <a:t> </a:t>
            </a:r>
            <a:r>
              <a:rPr lang="en-US" dirty="0" err="1"/>
              <a:t>независимые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: A, B, C и D.</a:t>
            </a:r>
          </a:p>
          <a:p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поступают</a:t>
            </a:r>
            <a:r>
              <a:rPr lang="en-US" dirty="0"/>
              <a:t> в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dirty="0" err="1"/>
              <a:t>готовых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и </a:t>
            </a:r>
            <a:r>
              <a:rPr lang="en-US" dirty="0" err="1"/>
              <a:t>хотят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.</a:t>
            </a:r>
          </a:p>
          <a:p>
            <a:r>
              <a:rPr lang="en-US" dirty="0" err="1"/>
              <a:t>Задача</a:t>
            </a:r>
            <a:r>
              <a:rPr lang="en-US" dirty="0"/>
              <a:t> A </a:t>
            </a:r>
            <a:r>
              <a:rPr lang="en-US" dirty="0" err="1"/>
              <a:t>требует</a:t>
            </a:r>
            <a:r>
              <a:rPr lang="en-US" dirty="0"/>
              <a:t> 8 </a:t>
            </a:r>
            <a:r>
              <a:rPr lang="en-US" dirty="0" err="1"/>
              <a:t>миллисекунд</a:t>
            </a:r>
            <a:r>
              <a:rPr lang="en-US" dirty="0"/>
              <a:t> </a:t>
            </a:r>
            <a:r>
              <a:rPr lang="en-US" dirty="0" err="1"/>
              <a:t>процессорного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 </a:t>
            </a:r>
            <a:r>
              <a:rPr lang="en-US" dirty="0" err="1"/>
              <a:t>Остальные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— B, C и D — </a:t>
            </a:r>
            <a:r>
              <a:rPr lang="en-US" dirty="0" err="1"/>
              <a:t>требуют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4 </a:t>
            </a:r>
            <a:r>
              <a:rPr lang="en-US" dirty="0" err="1"/>
              <a:t>миллисекунды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простоты</a:t>
            </a:r>
            <a:r>
              <a:rPr lang="en-US" dirty="0"/>
              <a:t> </a:t>
            </a:r>
            <a:r>
              <a:rPr lang="en-US" dirty="0" err="1"/>
              <a:t>считаем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CPU.</a:t>
            </a:r>
          </a:p>
          <a:p>
            <a:endParaRPr lang="ru-RU" dirty="0"/>
          </a:p>
          <a:p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обращаются</a:t>
            </a:r>
            <a:r>
              <a:rPr lang="en-US" dirty="0"/>
              <a:t> к </a:t>
            </a:r>
            <a:r>
              <a:rPr lang="en-US" dirty="0" err="1"/>
              <a:t>устройствам</a:t>
            </a:r>
            <a:r>
              <a:rPr lang="en-US" dirty="0"/>
              <a:t> </a:t>
            </a:r>
            <a:r>
              <a:rPr lang="en-US" dirty="0" err="1"/>
              <a:t>ввода-вывода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блокируются</a:t>
            </a:r>
            <a:r>
              <a:rPr lang="en-US" dirty="0"/>
              <a:t>.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.</a:t>
            </a:r>
          </a:p>
          <a:p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временно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учитывать</a:t>
            </a:r>
            <a:r>
              <a:rPr lang="en-US" dirty="0"/>
              <a:t> </a:t>
            </a:r>
            <a:r>
              <a:rPr lang="en-US" dirty="0" err="1"/>
              <a:t>затраты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переключение</a:t>
            </a:r>
            <a:r>
              <a:rPr lang="en-US" dirty="0"/>
              <a:t> </a:t>
            </a:r>
            <a:r>
              <a:rPr lang="en-US" dirty="0" err="1"/>
              <a:t>контекста</a:t>
            </a:r>
            <a:r>
              <a:rPr lang="en-US" dirty="0"/>
              <a:t>. </a:t>
            </a:r>
            <a:r>
              <a:rPr lang="en-US" dirty="0" err="1"/>
              <a:t>Вернёмся</a:t>
            </a:r>
            <a:r>
              <a:rPr lang="en-US" dirty="0"/>
              <a:t> к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проблеме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обсуждать</a:t>
            </a:r>
            <a:r>
              <a:rPr lang="en-US" dirty="0"/>
              <a:t> Round Robin.</a:t>
            </a:r>
          </a:p>
          <a:p>
            <a:endParaRPr lang="ru-RU" dirty="0"/>
          </a:p>
          <a:p>
            <a:r>
              <a:rPr lang="en-US" dirty="0" err="1"/>
              <a:t>Предположим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находятся</a:t>
            </a:r>
            <a:r>
              <a:rPr lang="en-US" dirty="0"/>
              <a:t> в </a:t>
            </a:r>
            <a:r>
              <a:rPr lang="en-US" dirty="0" err="1"/>
              <a:t>очереди</a:t>
            </a:r>
            <a:r>
              <a:rPr lang="en-US" dirty="0"/>
              <a:t> в </a:t>
            </a:r>
            <a:r>
              <a:rPr lang="en-US" dirty="0" err="1"/>
              <a:t>порядке</a:t>
            </a:r>
            <a:r>
              <a:rPr lang="en-US" dirty="0"/>
              <a:t> A, B, C, D.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алгоритму</a:t>
            </a:r>
            <a:r>
              <a:rPr lang="en-US" dirty="0"/>
              <a:t> </a:t>
            </a:r>
            <a:r>
              <a:rPr lang="en-US" dirty="0" err="1"/>
              <a:t>безразличен</a:t>
            </a:r>
            <a:r>
              <a:rPr lang="en-US" dirty="0"/>
              <a:t> </a:t>
            </a:r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задачами</a:t>
            </a:r>
            <a:r>
              <a:rPr lang="en-US" dirty="0"/>
              <a:t> </a:t>
            </a:r>
            <a:r>
              <a:rPr lang="en-US" dirty="0" err="1"/>
              <a:t>одинаковой</a:t>
            </a:r>
            <a:r>
              <a:rPr lang="en-US" dirty="0"/>
              <a:t> </a:t>
            </a:r>
            <a:r>
              <a:rPr lang="en-US" dirty="0" err="1"/>
              <a:t>длительности</a:t>
            </a:r>
            <a:r>
              <a:rPr lang="en-US" dirty="0"/>
              <a:t>,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сохранять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исходный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: </a:t>
            </a:r>
            <a:r>
              <a:rPr lang="en-US" dirty="0" err="1"/>
              <a:t>общая</a:t>
            </a:r>
            <a:r>
              <a:rPr lang="en-US" dirty="0"/>
              <a:t> </a:t>
            </a:r>
            <a:r>
              <a:rPr lang="en-US" dirty="0" err="1"/>
              <a:t>продолжительность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 </a:t>
            </a:r>
            <a:r>
              <a:rPr lang="en-US" dirty="0" err="1"/>
              <a:t>составляет</a:t>
            </a:r>
            <a:r>
              <a:rPr lang="en-US" dirty="0"/>
              <a:t> 20 </a:t>
            </a:r>
            <a:r>
              <a:rPr lang="en-US" dirty="0" err="1"/>
              <a:t>миллисекунд</a:t>
            </a:r>
            <a:r>
              <a:rPr lang="en-US" dirty="0"/>
              <a:t>.</a:t>
            </a:r>
          </a:p>
          <a:p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выбрали</a:t>
            </a:r>
            <a:r>
              <a:rPr lang="en-US" dirty="0"/>
              <a:t>, </a:t>
            </a:r>
            <a:r>
              <a:rPr lang="en-US" dirty="0" err="1"/>
              <a:t>процессору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равно</a:t>
            </a:r>
            <a:r>
              <a:rPr lang="en-US" dirty="0"/>
              <a:t> </a:t>
            </a:r>
            <a:r>
              <a:rPr lang="en-US" dirty="0" err="1"/>
              <a:t>придётся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20 </a:t>
            </a:r>
            <a:r>
              <a:rPr lang="en-US" dirty="0" err="1"/>
              <a:t>миллисекунд</a:t>
            </a:r>
            <a:r>
              <a:rPr lang="en-US" dirty="0"/>
              <a:t> </a:t>
            </a:r>
            <a:r>
              <a:rPr lang="en-US" dirty="0" err="1"/>
              <a:t>полезной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существенно</a:t>
            </a:r>
            <a:r>
              <a:rPr lang="en-US" dirty="0"/>
              <a:t> </a:t>
            </a:r>
            <a:r>
              <a:rPr lang="en-US" dirty="0" err="1"/>
              <a:t>повлиять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</a:t>
            </a:r>
            <a:r>
              <a:rPr lang="en-US" dirty="0" err="1"/>
              <a:t>отдельных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,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первого</a:t>
            </a:r>
            <a:r>
              <a:rPr lang="en-US" dirty="0"/>
              <a:t> </a:t>
            </a:r>
            <a:r>
              <a:rPr lang="en-US" dirty="0" err="1"/>
              <a:t>запуска</a:t>
            </a:r>
            <a:r>
              <a:rPr lang="en-US" dirty="0"/>
              <a:t> и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Итак</a:t>
            </a:r>
            <a:r>
              <a:rPr lang="en-US" dirty="0"/>
              <a:t>,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нами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с </a:t>
            </a:r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следует</a:t>
            </a:r>
            <a:r>
              <a:rPr lang="en-US" dirty="0"/>
              <a:t> </a:t>
            </a:r>
            <a:r>
              <a:rPr lang="en-US" dirty="0" err="1"/>
              <a:t>начать</a:t>
            </a:r>
            <a:r>
              <a:rPr lang="en-US" dirty="0"/>
              <a:t>?</a:t>
            </a:r>
          </a:p>
          <a:p>
            <a:r>
              <a:rPr lang="en-US" dirty="0"/>
              <a:t>С </a:t>
            </a:r>
            <a:r>
              <a:rPr lang="en-US" dirty="0" err="1"/>
              <a:t>самой</a:t>
            </a:r>
            <a:r>
              <a:rPr lang="en-US" dirty="0"/>
              <a:t> </a:t>
            </a:r>
            <a:r>
              <a:rPr lang="en-US" dirty="0" err="1"/>
              <a:t>длинной</a:t>
            </a:r>
            <a:r>
              <a:rPr lang="en-US" dirty="0"/>
              <a:t>? С </a:t>
            </a:r>
            <a:r>
              <a:rPr lang="en-US" dirty="0" err="1"/>
              <a:t>самой</a:t>
            </a:r>
            <a:r>
              <a:rPr lang="en-US" dirty="0"/>
              <a:t> </a:t>
            </a:r>
            <a:r>
              <a:rPr lang="en-US" dirty="0" err="1"/>
              <a:t>короткой</a:t>
            </a:r>
            <a:r>
              <a:rPr lang="en-US" dirty="0"/>
              <a:t>?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регулярно</a:t>
            </a:r>
            <a:r>
              <a:rPr lang="en-US" dirty="0"/>
              <a:t> </a:t>
            </a:r>
            <a:r>
              <a:rPr lang="en-US" dirty="0" err="1"/>
              <a:t>переключаться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ними</a:t>
            </a:r>
            <a:r>
              <a:rPr lang="en-US" dirty="0"/>
              <a:t>?</a:t>
            </a:r>
          </a:p>
          <a:p>
            <a:endParaRPr lang="ru-RU" dirty="0"/>
          </a:p>
          <a:p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возможных</a:t>
            </a:r>
            <a:r>
              <a:rPr lang="en-US" dirty="0"/>
              <a:t> </a:t>
            </a:r>
            <a:r>
              <a:rPr lang="en-US" dirty="0" err="1"/>
              <a:t>стратегий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7889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err="1"/>
                  <a:t>Начнём</a:t>
                </a:r>
                <a:r>
                  <a:rPr lang="en-US" dirty="0"/>
                  <a:t> с </a:t>
                </a:r>
                <a:r>
                  <a:rPr lang="en-US" dirty="0" err="1"/>
                  <a:t>самого</a:t>
                </a:r>
                <a:r>
                  <a:rPr lang="en-US" dirty="0"/>
                  <a:t> </a:t>
                </a:r>
                <a:r>
                  <a:rPr lang="en-US" dirty="0" err="1"/>
                  <a:t>простого</a:t>
                </a:r>
                <a:r>
                  <a:rPr lang="en-US" dirty="0"/>
                  <a:t> </a:t>
                </a:r>
                <a:r>
                  <a:rPr lang="en-US" dirty="0" err="1"/>
                  <a:t>алгоритма</a:t>
                </a:r>
                <a:r>
                  <a:rPr lang="en-US" dirty="0"/>
                  <a:t> — First Come, First Served, </a:t>
                </a:r>
                <a:r>
                  <a:rPr lang="en-US" dirty="0" err="1"/>
                  <a:t>или</a:t>
                </a:r>
                <a:r>
                  <a:rPr lang="en-US" dirty="0"/>
                  <a:t> FCFS.</a:t>
                </a:r>
              </a:p>
              <a:p>
                <a:r>
                  <a:rPr lang="en-US" dirty="0" err="1"/>
                  <a:t>Его</a:t>
                </a:r>
                <a:r>
                  <a:rPr lang="en-US" dirty="0"/>
                  <a:t> </a:t>
                </a:r>
                <a:r>
                  <a:rPr lang="en-US" dirty="0" err="1"/>
                  <a:t>название</a:t>
                </a:r>
                <a:r>
                  <a:rPr lang="en-US" dirty="0"/>
                  <a:t> </a:t>
                </a:r>
                <a:r>
                  <a:rPr lang="en-US" dirty="0" err="1"/>
                  <a:t>переводится</a:t>
                </a:r>
                <a:r>
                  <a:rPr lang="en-US" dirty="0"/>
                  <a:t> </a:t>
                </a:r>
                <a:r>
                  <a:rPr lang="en-US" dirty="0" err="1"/>
                  <a:t>как</a:t>
                </a:r>
                <a:r>
                  <a:rPr lang="en-US" dirty="0"/>
                  <a:t> «</a:t>
                </a:r>
                <a:r>
                  <a:rPr lang="en-US" dirty="0" err="1"/>
                  <a:t>первым</a:t>
                </a:r>
                <a:r>
                  <a:rPr lang="en-US" dirty="0"/>
                  <a:t> </a:t>
                </a:r>
                <a:r>
                  <a:rPr lang="en-US" dirty="0" err="1"/>
                  <a:t>пришёл</a:t>
                </a:r>
                <a:r>
                  <a:rPr lang="en-US" dirty="0"/>
                  <a:t> — </a:t>
                </a:r>
                <a:r>
                  <a:rPr lang="en-US" dirty="0" err="1"/>
                  <a:t>первым</a:t>
                </a:r>
                <a:r>
                  <a:rPr lang="en-US" dirty="0"/>
                  <a:t> </a:t>
                </a:r>
                <a:r>
                  <a:rPr lang="en-US" dirty="0" err="1"/>
                  <a:t>обслужен</a:t>
                </a:r>
                <a:r>
                  <a:rPr lang="en-US" dirty="0"/>
                  <a:t>».</a:t>
                </a:r>
              </a:p>
              <a:p>
                <a:endParaRPr lang="en-US" dirty="0"/>
              </a:p>
              <a:p>
                <a:r>
                  <a:rPr lang="en-US" dirty="0" err="1"/>
                  <a:t>Идея</a:t>
                </a:r>
                <a:r>
                  <a:rPr lang="en-US" dirty="0"/>
                  <a:t> </a:t>
                </a:r>
                <a:r>
                  <a:rPr lang="en-US" dirty="0" err="1"/>
                  <a:t>очень</a:t>
                </a:r>
                <a:r>
                  <a:rPr lang="en-US" dirty="0"/>
                  <a:t> </a:t>
                </a:r>
                <a:r>
                  <a:rPr lang="en-US" dirty="0" err="1"/>
                  <a:t>проста</a:t>
                </a:r>
                <a:r>
                  <a:rPr lang="en-US" dirty="0"/>
                  <a:t>. </a:t>
                </a:r>
                <a:r>
                  <a:rPr lang="en-US" dirty="0" err="1"/>
                  <a:t>Когда</a:t>
                </a:r>
                <a:r>
                  <a:rPr lang="en-US" dirty="0"/>
                  <a:t> </a:t>
                </a:r>
                <a:r>
                  <a:rPr lang="en-US" dirty="0" err="1"/>
                  <a:t>задача</a:t>
                </a:r>
                <a:r>
                  <a:rPr lang="en-US" dirty="0"/>
                  <a:t> </a:t>
                </a:r>
                <a:r>
                  <a:rPr lang="en-US" dirty="0" err="1"/>
                  <a:t>становится</a:t>
                </a:r>
                <a:r>
                  <a:rPr lang="en-US" dirty="0"/>
                  <a:t> </a:t>
                </a:r>
                <a:r>
                  <a:rPr lang="en-US" dirty="0" err="1"/>
                  <a:t>готовой</a:t>
                </a:r>
                <a:r>
                  <a:rPr lang="en-US" dirty="0"/>
                  <a:t> к </a:t>
                </a:r>
                <a:r>
                  <a:rPr lang="en-US" dirty="0" err="1"/>
                  <a:t>выполнению</a:t>
                </a:r>
                <a:r>
                  <a:rPr lang="en-US" dirty="0"/>
                  <a:t>, </a:t>
                </a:r>
                <a:r>
                  <a:rPr lang="en-US" dirty="0" err="1"/>
                  <a:t>она</a:t>
                </a:r>
                <a:r>
                  <a:rPr lang="en-US" dirty="0"/>
                  <a:t> </a:t>
                </a:r>
                <a:r>
                  <a:rPr lang="en-US" dirty="0" err="1"/>
                  <a:t>добавляется</a:t>
                </a:r>
                <a:r>
                  <a:rPr lang="en-US" dirty="0"/>
                  <a:t> в </a:t>
                </a:r>
                <a:r>
                  <a:rPr lang="en-US" dirty="0" err="1"/>
                  <a:t>конец</a:t>
                </a:r>
                <a:r>
                  <a:rPr lang="en-US" dirty="0"/>
                  <a:t> </a:t>
                </a:r>
                <a:r>
                  <a:rPr lang="en-US" dirty="0" err="1"/>
                  <a:t>очереди</a:t>
                </a:r>
                <a:r>
                  <a:rPr lang="en-US" dirty="0"/>
                  <a:t>. </a:t>
                </a:r>
                <a:r>
                  <a:rPr lang="en-US" dirty="0" err="1"/>
                  <a:t>Планировщик</a:t>
                </a:r>
                <a:r>
                  <a:rPr lang="en-US" dirty="0"/>
                  <a:t> </a:t>
                </a:r>
                <a:r>
                  <a:rPr lang="en-US" dirty="0" err="1"/>
                  <a:t>выбирает</a:t>
                </a:r>
                <a:r>
                  <a:rPr lang="en-US" dirty="0"/>
                  <a:t> </a:t>
                </a:r>
                <a:r>
                  <a:rPr lang="en-US" dirty="0" err="1"/>
                  <a:t>задачу</a:t>
                </a:r>
                <a:r>
                  <a:rPr lang="en-US" dirty="0"/>
                  <a:t> </a:t>
                </a:r>
                <a:r>
                  <a:rPr lang="en-US" dirty="0" err="1"/>
                  <a:t>из</a:t>
                </a:r>
                <a:r>
                  <a:rPr lang="en-US" dirty="0"/>
                  <a:t> </a:t>
                </a:r>
                <a:r>
                  <a:rPr lang="en-US" dirty="0" err="1"/>
                  <a:t>начала</a:t>
                </a:r>
                <a:r>
                  <a:rPr lang="en-US" dirty="0"/>
                  <a:t> </a:t>
                </a:r>
                <a:r>
                  <a:rPr lang="en-US" dirty="0" err="1"/>
                  <a:t>очереди</a:t>
                </a:r>
                <a:r>
                  <a:rPr lang="en-US" dirty="0"/>
                  <a:t> и </a:t>
                </a:r>
                <a:r>
                  <a:rPr lang="en-US" dirty="0" err="1"/>
                  <a:t>предоставляет</a:t>
                </a:r>
                <a:r>
                  <a:rPr lang="en-US" dirty="0"/>
                  <a:t> </a:t>
                </a:r>
                <a:r>
                  <a:rPr lang="en-US" dirty="0" err="1"/>
                  <a:t>ей</a:t>
                </a:r>
                <a:r>
                  <a:rPr lang="en-US" dirty="0"/>
                  <a:t> CPU.</a:t>
                </a:r>
              </a:p>
              <a:p>
                <a:r>
                  <a:rPr lang="en-US" dirty="0"/>
                  <a:t>FCFS </a:t>
                </a:r>
                <a:r>
                  <a:rPr lang="en-US" dirty="0" err="1"/>
                  <a:t>относится</a:t>
                </a:r>
                <a:r>
                  <a:rPr lang="en-US" dirty="0"/>
                  <a:t> к </a:t>
                </a:r>
                <a:r>
                  <a:rPr lang="en-US" dirty="0" err="1"/>
                  <a:t>невытесняющим</a:t>
                </a:r>
                <a:r>
                  <a:rPr lang="en-US" dirty="0"/>
                  <a:t> </a:t>
                </a:r>
                <a:r>
                  <a:rPr lang="en-US" dirty="0" err="1"/>
                  <a:t>алгоритмам</a:t>
                </a:r>
                <a:r>
                  <a:rPr lang="en-US" dirty="0"/>
                  <a:t>. </a:t>
                </a:r>
                <a:r>
                  <a:rPr lang="en-US" dirty="0" err="1"/>
                  <a:t>Если</a:t>
                </a:r>
                <a:r>
                  <a:rPr lang="en-US" dirty="0"/>
                  <a:t> </a:t>
                </a:r>
                <a:r>
                  <a:rPr lang="en-US" dirty="0" err="1"/>
                  <a:t>задача</a:t>
                </a:r>
                <a:r>
                  <a:rPr lang="en-US" dirty="0"/>
                  <a:t> </a:t>
                </a:r>
                <a:r>
                  <a:rPr lang="en-US" dirty="0" err="1"/>
                  <a:t>уже</a:t>
                </a:r>
                <a:r>
                  <a:rPr lang="en-US" dirty="0"/>
                  <a:t> </a:t>
                </a:r>
                <a:r>
                  <a:rPr lang="en-US" dirty="0" err="1"/>
                  <a:t>получила</a:t>
                </a:r>
                <a:r>
                  <a:rPr lang="en-US" dirty="0"/>
                  <a:t> </a:t>
                </a:r>
                <a:r>
                  <a:rPr lang="en-US" dirty="0" err="1"/>
                  <a:t>процессор</a:t>
                </a:r>
                <a:r>
                  <a:rPr lang="en-US" dirty="0"/>
                  <a:t>, </a:t>
                </a:r>
                <a:r>
                  <a:rPr lang="en-US" dirty="0" err="1"/>
                  <a:t>она</a:t>
                </a:r>
                <a:r>
                  <a:rPr lang="en-US" dirty="0"/>
                  <a:t> </a:t>
                </a:r>
                <a:r>
                  <a:rPr lang="en-US" dirty="0" err="1"/>
                  <a:t>продолжает</a:t>
                </a:r>
                <a:r>
                  <a:rPr lang="en-US" dirty="0"/>
                  <a:t> </a:t>
                </a:r>
                <a:r>
                  <a:rPr lang="en-US" dirty="0" err="1"/>
                  <a:t>выполнять</a:t>
                </a:r>
                <a:r>
                  <a:rPr lang="en-US" dirty="0"/>
                  <a:t> </a:t>
                </a:r>
                <a:r>
                  <a:rPr lang="en-US" dirty="0" err="1"/>
                  <a:t>инструкции</a:t>
                </a:r>
                <a:r>
                  <a:rPr lang="en-US" dirty="0"/>
                  <a:t> </a:t>
                </a:r>
                <a:r>
                  <a:rPr lang="en-US" dirty="0" err="1"/>
                  <a:t>до</a:t>
                </a:r>
                <a:r>
                  <a:rPr lang="en-US" dirty="0"/>
                  <a:t> </a:t>
                </a:r>
                <a:r>
                  <a:rPr lang="en-US" dirty="0" err="1"/>
                  <a:t>завершения</a:t>
                </a:r>
                <a:r>
                  <a:rPr lang="en-US" dirty="0"/>
                  <a:t> </a:t>
                </a:r>
                <a:r>
                  <a:rPr lang="en-US" dirty="0" err="1"/>
                  <a:t>либо</a:t>
                </a:r>
                <a:r>
                  <a:rPr lang="en-US" dirty="0"/>
                  <a:t> </a:t>
                </a:r>
                <a:r>
                  <a:rPr lang="en-US" dirty="0" err="1"/>
                  <a:t>блокировки</a:t>
                </a:r>
                <a:r>
                  <a:rPr lang="en-US" dirty="0"/>
                  <a:t>. </a:t>
                </a:r>
                <a:r>
                  <a:rPr lang="en-US" dirty="0" err="1"/>
                  <a:t>Появление</a:t>
                </a:r>
                <a:r>
                  <a:rPr lang="en-US" dirty="0"/>
                  <a:t> </a:t>
                </a:r>
                <a:r>
                  <a:rPr lang="en-US" dirty="0" err="1"/>
                  <a:t>других</a:t>
                </a:r>
                <a:r>
                  <a:rPr lang="en-US" dirty="0"/>
                  <a:t> </a:t>
                </a:r>
                <a:r>
                  <a:rPr lang="en-US" dirty="0" err="1"/>
                  <a:t>готовых</a:t>
                </a:r>
                <a:r>
                  <a:rPr lang="en-US" dirty="0"/>
                  <a:t> </a:t>
                </a:r>
                <a:r>
                  <a:rPr lang="en-US" dirty="0" err="1"/>
                  <a:t>задач</a:t>
                </a:r>
                <a:r>
                  <a:rPr lang="en-US" dirty="0"/>
                  <a:t> </a:t>
                </a:r>
                <a:r>
                  <a:rPr lang="en-US" dirty="0" err="1"/>
                  <a:t>само</a:t>
                </a:r>
                <a:r>
                  <a:rPr lang="en-US" dirty="0"/>
                  <a:t> </a:t>
                </a:r>
                <a:r>
                  <a:rPr lang="en-US" dirty="0" err="1"/>
                  <a:t>по</a:t>
                </a:r>
                <a:r>
                  <a:rPr lang="en-US" dirty="0"/>
                  <a:t> </a:t>
                </a:r>
                <a:r>
                  <a:rPr lang="en-US" dirty="0" err="1"/>
                  <a:t>себе</a:t>
                </a:r>
                <a:r>
                  <a:rPr lang="en-US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приводит</a:t>
                </a:r>
                <a:r>
                  <a:rPr lang="en-US" dirty="0"/>
                  <a:t> к </a:t>
                </a:r>
                <a:r>
                  <a:rPr lang="en-US" dirty="0" err="1"/>
                  <a:t>её</a:t>
                </a:r>
                <a:r>
                  <a:rPr lang="en-US" dirty="0"/>
                  <a:t> </a:t>
                </a:r>
                <a:r>
                  <a:rPr lang="en-US" dirty="0" err="1"/>
                  <a:t>вытеснению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 err="1"/>
                  <a:t>Посмотрим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наш</a:t>
                </a:r>
                <a:r>
                  <a:rPr lang="en-US" dirty="0"/>
                  <a:t> </a:t>
                </a:r>
                <a:r>
                  <a:rPr lang="en-US" dirty="0" err="1"/>
                  <a:t>пример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В </a:t>
                </a:r>
                <a:r>
                  <a:rPr lang="en-US" dirty="0" err="1"/>
                  <a:t>очереди</a:t>
                </a:r>
                <a:r>
                  <a:rPr lang="en-US" dirty="0"/>
                  <a:t> </a:t>
                </a:r>
                <a:r>
                  <a:rPr lang="en-US" dirty="0" err="1"/>
                  <a:t>находятся</a:t>
                </a:r>
                <a:r>
                  <a:rPr lang="en-US" dirty="0"/>
                  <a:t> </a:t>
                </a:r>
                <a:r>
                  <a:rPr lang="en-US" dirty="0" err="1"/>
                  <a:t>четыре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: A, B, C и D.</a:t>
                </a:r>
              </a:p>
              <a:p>
                <a:r>
                  <a:rPr lang="en-US" dirty="0" err="1"/>
                  <a:t>Первой</a:t>
                </a:r>
                <a:r>
                  <a:rPr lang="en-US" dirty="0"/>
                  <a:t> </a:t>
                </a:r>
                <a:r>
                  <a:rPr lang="en-US" dirty="0" err="1"/>
                  <a:t>выполняется</a:t>
                </a:r>
                <a:r>
                  <a:rPr lang="en-US" dirty="0"/>
                  <a:t> A. </a:t>
                </a:r>
                <a:r>
                  <a:rPr lang="en-US" dirty="0" err="1"/>
                  <a:t>Она</a:t>
                </a:r>
                <a:r>
                  <a:rPr lang="en-US" dirty="0"/>
                  <a:t> </a:t>
                </a:r>
                <a:r>
                  <a:rPr lang="en-US" dirty="0" err="1"/>
                  <a:t>занимает</a:t>
                </a:r>
                <a:r>
                  <a:rPr lang="en-US" dirty="0"/>
                  <a:t> </a:t>
                </a:r>
                <a:r>
                  <a:rPr lang="en-US" dirty="0" err="1"/>
                  <a:t>процессор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8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. </a:t>
                </a:r>
                <a:r>
                  <a:rPr lang="en-US" dirty="0" err="1"/>
                  <a:t>Всё</a:t>
                </a:r>
                <a:r>
                  <a:rPr lang="en-US" dirty="0"/>
                  <a:t> </a:t>
                </a:r>
                <a:r>
                  <a:rPr lang="en-US" dirty="0" err="1"/>
                  <a:t>это</a:t>
                </a:r>
                <a:r>
                  <a:rPr lang="en-US" dirty="0"/>
                  <a:t>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остальные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 </a:t>
                </a:r>
                <a:r>
                  <a:rPr lang="en-US" dirty="0" err="1"/>
                  <a:t>ожидают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Затем</a:t>
                </a:r>
                <a:r>
                  <a:rPr lang="en-US" dirty="0"/>
                  <a:t> </a:t>
                </a:r>
                <a:r>
                  <a:rPr lang="en-US" dirty="0" err="1"/>
                  <a:t>выполняется</a:t>
                </a:r>
                <a:r>
                  <a:rPr lang="en-US" dirty="0"/>
                  <a:t> B с 8-й </a:t>
                </a:r>
                <a:r>
                  <a:rPr lang="en-US" dirty="0" err="1"/>
                  <a:t>по</a:t>
                </a:r>
                <a:r>
                  <a:rPr lang="en-US" dirty="0"/>
                  <a:t> 12-ю </a:t>
                </a:r>
                <a:r>
                  <a:rPr lang="en-US" dirty="0" err="1"/>
                  <a:t>миллисекунду</a:t>
                </a:r>
                <a:r>
                  <a:rPr lang="en-US" dirty="0"/>
                  <a:t>, C — с 12-й </a:t>
                </a:r>
                <a:r>
                  <a:rPr lang="en-US" dirty="0" err="1"/>
                  <a:t>по</a:t>
                </a:r>
                <a:r>
                  <a:rPr lang="en-US" dirty="0"/>
                  <a:t> 16-ю, и </a:t>
                </a:r>
                <a:r>
                  <a:rPr lang="en-US" dirty="0" err="1"/>
                  <a:t>наконец</a:t>
                </a:r>
                <a:r>
                  <a:rPr lang="en-US" dirty="0"/>
                  <a:t> D — с 16-й </a:t>
                </a:r>
                <a:r>
                  <a:rPr lang="en-US" dirty="0" err="1"/>
                  <a:t>по</a:t>
                </a:r>
                <a:r>
                  <a:rPr lang="en-US" dirty="0"/>
                  <a:t> 20-ю.</a:t>
                </a:r>
              </a:p>
              <a:p>
                <a:endParaRPr lang="en-US" dirty="0"/>
              </a:p>
              <a:p>
                <a:r>
                  <a:rPr lang="en-US" dirty="0" err="1"/>
                  <a:t>Посчитаем</a:t>
                </a:r>
                <a:r>
                  <a:rPr lang="en-US" dirty="0"/>
                  <a:t>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ожидания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A </a:t>
                </a:r>
                <a:r>
                  <a:rPr lang="en-US" dirty="0" err="1"/>
                  <a:t>начинает</a:t>
                </a:r>
                <a:r>
                  <a:rPr lang="en-US" dirty="0"/>
                  <a:t> </a:t>
                </a:r>
                <a:r>
                  <a:rPr lang="en-US" dirty="0" err="1"/>
                  <a:t>работу</a:t>
                </a:r>
                <a:r>
                  <a:rPr lang="en-US" dirty="0"/>
                  <a:t> </a:t>
                </a:r>
                <a:r>
                  <a:rPr lang="en-US" dirty="0" err="1"/>
                  <a:t>немедленно</a:t>
                </a:r>
                <a:r>
                  <a:rPr lang="en-US" dirty="0"/>
                  <a:t>, </a:t>
                </a:r>
                <a:r>
                  <a:rPr lang="en-US" dirty="0" err="1"/>
                  <a:t>поэтому</a:t>
                </a:r>
                <a:r>
                  <a:rPr lang="en-US" dirty="0"/>
                  <a:t> </a:t>
                </a:r>
                <a:r>
                  <a:rPr lang="en-US" dirty="0" err="1"/>
                  <a:t>её</a:t>
                </a:r>
                <a:r>
                  <a:rPr lang="en-US" dirty="0"/>
                  <a:t> Waiting Time </a:t>
                </a:r>
                <a:r>
                  <a:rPr lang="en-US" dirty="0" err="1"/>
                  <a:t>равен</a:t>
                </a:r>
                <a:r>
                  <a:rPr lang="en-US" dirty="0"/>
                  <a:t> </a:t>
                </a:r>
                <a:r>
                  <a:rPr lang="en-US" dirty="0" err="1"/>
                  <a:t>нулю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B </a:t>
                </a:r>
                <a:r>
                  <a:rPr lang="en-US" dirty="0" err="1"/>
                  <a:t>ждёт</a:t>
                </a:r>
                <a:r>
                  <a:rPr lang="en-US" dirty="0"/>
                  <a:t> 8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, C — 12, D — 16.</a:t>
                </a:r>
              </a:p>
              <a:p>
                <a:r>
                  <a:rPr lang="en-US" dirty="0" err="1"/>
                  <a:t>Среднее</a:t>
                </a:r>
                <a:r>
                  <a:rPr lang="en-US" dirty="0"/>
                  <a:t>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ожидания</a:t>
                </a:r>
                <a:r>
                  <a:rPr lang="en-US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0" smtClean="0">
                              <a:latin typeface="Cambria Math" panose="02040503050406030204" pitchFamily="18" charset="0"/>
                            </a:rPr>
                            <m:t>+8+12+16</m:t>
                          </m:r>
                        </m:num>
                        <m:den>
                          <m:r>
                            <a:rPr lang="en-US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i="0" smtClean="0">
                          <a:latin typeface="Cambria Math" panose="02040503050406030204" pitchFamily="18" charset="0"/>
                        </a:rPr>
                        <m:t>=9</m:t>
                      </m:r>
                      <m:r>
                        <m:rPr>
                          <m:nor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 мс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 </a:t>
                </a:r>
              </a:p>
              <a:p>
                <a:r>
                  <a:rPr lang="en-US" dirty="0" err="1"/>
                  <a:t>Теперь</a:t>
                </a:r>
                <a:r>
                  <a:rPr lang="en-US" dirty="0"/>
                  <a:t> </a:t>
                </a:r>
                <a:r>
                  <a:rPr lang="en-US" dirty="0" err="1"/>
                  <a:t>посмотрим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Turnaround Time.</a:t>
                </a:r>
              </a:p>
              <a:p>
                <a:r>
                  <a:rPr lang="en-US" dirty="0" err="1"/>
                  <a:t>Поскольку</a:t>
                </a:r>
                <a:r>
                  <a:rPr lang="en-US" dirty="0"/>
                  <a:t> </a:t>
                </a:r>
                <a:r>
                  <a:rPr lang="en-US" dirty="0" err="1"/>
                  <a:t>все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 </a:t>
                </a:r>
                <a:r>
                  <a:rPr lang="en-US" dirty="0" err="1"/>
                  <a:t>поступили</a:t>
                </a:r>
                <a:r>
                  <a:rPr lang="en-US" dirty="0"/>
                  <a:t> </a:t>
                </a:r>
                <a:r>
                  <a:rPr lang="en-US" dirty="0" err="1"/>
                  <a:t>одновременно</a:t>
                </a:r>
                <a:r>
                  <a:rPr lang="en-US" dirty="0"/>
                  <a:t> в </a:t>
                </a:r>
                <a:r>
                  <a:rPr lang="en-US" dirty="0" err="1"/>
                  <a:t>момент</a:t>
                </a:r>
                <a:r>
                  <a:rPr lang="en-US" dirty="0"/>
                  <a:t> 0,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от</a:t>
                </a:r>
                <a:r>
                  <a:rPr lang="en-US" dirty="0"/>
                  <a:t> </a:t>
                </a:r>
                <a:r>
                  <a:rPr lang="en-US" dirty="0" err="1"/>
                  <a:t>поступления</a:t>
                </a:r>
                <a:r>
                  <a:rPr lang="en-US" dirty="0"/>
                  <a:t> </a:t>
                </a:r>
                <a:r>
                  <a:rPr lang="en-US" dirty="0" err="1"/>
                  <a:t>до</a:t>
                </a:r>
                <a:r>
                  <a:rPr lang="en-US" dirty="0"/>
                  <a:t> </a:t>
                </a:r>
                <a:r>
                  <a:rPr lang="en-US" dirty="0" err="1"/>
                  <a:t>завершения</a:t>
                </a:r>
                <a:r>
                  <a:rPr lang="en-US" dirty="0"/>
                  <a:t> </a:t>
                </a:r>
                <a:r>
                  <a:rPr lang="en-US" dirty="0" err="1"/>
                  <a:t>совпадает</a:t>
                </a:r>
                <a:r>
                  <a:rPr lang="en-US" dirty="0"/>
                  <a:t> с </a:t>
                </a:r>
                <a:r>
                  <a:rPr lang="en-US" dirty="0" err="1"/>
                  <a:t>моментом</a:t>
                </a:r>
                <a:r>
                  <a:rPr lang="en-US" dirty="0"/>
                  <a:t> </a:t>
                </a:r>
                <a:r>
                  <a:rPr lang="en-US" dirty="0" err="1"/>
                  <a:t>завершения</a:t>
                </a:r>
                <a:r>
                  <a:rPr lang="en-US" dirty="0"/>
                  <a:t> </a:t>
                </a:r>
                <a:r>
                  <a:rPr lang="en-US" dirty="0" err="1"/>
                  <a:t>каждой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Получаем</a:t>
                </a:r>
                <a:r>
                  <a:rPr lang="en-US" dirty="0"/>
                  <a:t> 8, 12, 16 и 20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Среднее</a:t>
                </a:r>
                <a:r>
                  <a:rPr lang="en-US" dirty="0"/>
                  <a:t>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завершения</a:t>
                </a:r>
                <a:r>
                  <a:rPr lang="en-US" dirty="0"/>
                  <a:t>: 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i="0" dirty="0" smtClean="0">
                              <a:latin typeface="Cambria Math" panose="02040503050406030204" pitchFamily="18" charset="0"/>
                            </a:rPr>
                            <m:t>+12+16+20</m:t>
                          </m:r>
                        </m:num>
                        <m:den>
                          <m:r>
                            <a:rPr lang="en-US" i="0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=14</m:t>
                      </m:r>
                      <m:r>
                        <m:rPr>
                          <m:nor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 мс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мы</a:t>
                </a:r>
                <a:r>
                  <a:rPr lang="en-US" dirty="0"/>
                  <a:t> </a:t>
                </a:r>
                <a:r>
                  <a:rPr lang="en-US" dirty="0" err="1"/>
                  <a:t>замечаем</a:t>
                </a:r>
                <a:r>
                  <a:rPr lang="en-US" dirty="0"/>
                  <a:t>?</a:t>
                </a:r>
              </a:p>
              <a:p>
                <a:r>
                  <a:rPr lang="en-US" dirty="0" err="1"/>
                  <a:t>Три</a:t>
                </a:r>
                <a:r>
                  <a:rPr lang="en-US" dirty="0"/>
                  <a:t> </a:t>
                </a:r>
                <a:r>
                  <a:rPr lang="en-US" dirty="0" err="1"/>
                  <a:t>короткие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 </a:t>
                </a:r>
                <a:r>
                  <a:rPr lang="en-US" dirty="0" err="1"/>
                  <a:t>вынуждены</a:t>
                </a:r>
                <a:r>
                  <a:rPr lang="en-US" dirty="0"/>
                  <a:t> </a:t>
                </a:r>
                <a:r>
                  <a:rPr lang="en-US" dirty="0" err="1"/>
                  <a:t>ждать</a:t>
                </a:r>
                <a:r>
                  <a:rPr lang="en-US" dirty="0"/>
                  <a:t> </a:t>
                </a:r>
                <a:r>
                  <a:rPr lang="en-US" dirty="0" err="1"/>
                  <a:t>выполнения</a:t>
                </a:r>
                <a:r>
                  <a:rPr lang="en-US" dirty="0"/>
                  <a:t> </a:t>
                </a:r>
                <a:r>
                  <a:rPr lang="en-US" dirty="0" err="1"/>
                  <a:t>одной</a:t>
                </a:r>
                <a:r>
                  <a:rPr lang="en-US" dirty="0"/>
                  <a:t> </a:t>
                </a:r>
                <a:r>
                  <a:rPr lang="en-US" dirty="0" err="1"/>
                  <a:t>длинной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Это </a:t>
                </a:r>
                <a:r>
                  <a:rPr lang="en-US" dirty="0" err="1"/>
                  <a:t>проявление</a:t>
                </a:r>
                <a:r>
                  <a:rPr lang="en-US" dirty="0"/>
                  <a:t> </a:t>
                </a:r>
                <a:r>
                  <a:rPr lang="en-US" dirty="0" err="1"/>
                  <a:t>эффекта</a:t>
                </a:r>
                <a:r>
                  <a:rPr lang="en-US" dirty="0"/>
                  <a:t> </a:t>
                </a:r>
                <a:r>
                  <a:rPr lang="en-US" dirty="0" err="1"/>
                  <a:t>конвоя</a:t>
                </a:r>
                <a:r>
                  <a:rPr lang="en-US" dirty="0"/>
                  <a:t> — Convoy Effect.</a:t>
                </a:r>
              </a:p>
              <a:p>
                <a:r>
                  <a:rPr lang="en-US" dirty="0" err="1"/>
                  <a:t>Представьте</a:t>
                </a:r>
                <a:r>
                  <a:rPr lang="en-US" dirty="0"/>
                  <a:t>,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длинная</a:t>
                </a:r>
                <a:r>
                  <a:rPr lang="en-US" dirty="0"/>
                  <a:t> CPU-bound </a:t>
                </a:r>
                <a:r>
                  <a:rPr lang="en-US" dirty="0" err="1"/>
                  <a:t>задача</a:t>
                </a:r>
                <a:r>
                  <a:rPr lang="en-US" dirty="0"/>
                  <a:t> </a:t>
                </a:r>
                <a:r>
                  <a:rPr lang="en-US" dirty="0" err="1"/>
                  <a:t>занимает</a:t>
                </a:r>
                <a:r>
                  <a:rPr lang="en-US" dirty="0"/>
                  <a:t> </a:t>
                </a:r>
                <a:r>
                  <a:rPr lang="en-US" dirty="0" err="1"/>
                  <a:t>процессор</a:t>
                </a:r>
                <a:r>
                  <a:rPr lang="en-US" dirty="0"/>
                  <a:t>, а </a:t>
                </a:r>
                <a:r>
                  <a:rPr lang="en-US" dirty="0" err="1"/>
                  <a:t>за</a:t>
                </a:r>
                <a:r>
                  <a:rPr lang="en-US" dirty="0"/>
                  <a:t> </a:t>
                </a:r>
                <a:r>
                  <a:rPr lang="en-US" dirty="0" err="1"/>
                  <a:t>ней</a:t>
                </a:r>
                <a:r>
                  <a:rPr lang="en-US" dirty="0"/>
                  <a:t> </a:t>
                </a:r>
                <a:r>
                  <a:rPr lang="en-US" dirty="0" err="1"/>
                  <a:t>ожидают</a:t>
                </a:r>
                <a:r>
                  <a:rPr lang="en-US" dirty="0"/>
                  <a:t> </a:t>
                </a:r>
                <a:r>
                  <a:rPr lang="en-US" dirty="0" err="1"/>
                  <a:t>потоки</a:t>
                </a:r>
                <a:r>
                  <a:rPr lang="en-US" dirty="0"/>
                  <a:t>, </a:t>
                </a:r>
                <a:r>
                  <a:rPr lang="en-US" dirty="0" err="1"/>
                  <a:t>которым</a:t>
                </a:r>
                <a:r>
                  <a:rPr lang="en-US" dirty="0"/>
                  <a:t> </a:t>
                </a:r>
                <a:r>
                  <a:rPr lang="en-US" dirty="0" err="1"/>
                  <a:t>нужно</a:t>
                </a:r>
                <a:r>
                  <a:rPr lang="en-US" dirty="0"/>
                  <a:t> </a:t>
                </a:r>
                <a:r>
                  <a:rPr lang="en-US" dirty="0" err="1"/>
                  <a:t>совсем</a:t>
                </a:r>
                <a:r>
                  <a:rPr lang="en-US" dirty="0"/>
                  <a:t> </a:t>
                </a:r>
                <a:r>
                  <a:rPr lang="en-US" dirty="0" err="1"/>
                  <a:t>немного</a:t>
                </a:r>
                <a:r>
                  <a:rPr lang="en-US" dirty="0"/>
                  <a:t> CPU </a:t>
                </a:r>
                <a:r>
                  <a:rPr lang="en-US" dirty="0" err="1"/>
                  <a:t>для</a:t>
                </a:r>
                <a:r>
                  <a:rPr lang="en-US" dirty="0"/>
                  <a:t> </a:t>
                </a:r>
                <a:r>
                  <a:rPr lang="en-US" dirty="0" err="1"/>
                  <a:t>обработки</a:t>
                </a:r>
                <a:r>
                  <a:rPr lang="en-US" dirty="0"/>
                  <a:t> </a:t>
                </a:r>
                <a:r>
                  <a:rPr lang="en-US" dirty="0" err="1"/>
                  <a:t>ввода-вывода</a:t>
                </a:r>
                <a:r>
                  <a:rPr lang="en-US" dirty="0"/>
                  <a:t>. </a:t>
                </a:r>
                <a:r>
                  <a:rPr lang="en-US" dirty="0" err="1"/>
                  <a:t>Из-за</a:t>
                </a:r>
                <a:r>
                  <a:rPr lang="en-US" dirty="0"/>
                  <a:t> </a:t>
                </a:r>
                <a:r>
                  <a:rPr lang="en-US" dirty="0" err="1"/>
                  <a:t>длительного</a:t>
                </a:r>
                <a:r>
                  <a:rPr lang="en-US" dirty="0"/>
                  <a:t> </a:t>
                </a:r>
                <a:r>
                  <a:rPr lang="en-US" dirty="0" err="1"/>
                  <a:t>ожидания</a:t>
                </a:r>
                <a:r>
                  <a:rPr lang="en-US" dirty="0"/>
                  <a:t> </a:t>
                </a:r>
                <a:r>
                  <a:rPr lang="en-US" dirty="0" err="1"/>
                  <a:t>могут</a:t>
                </a:r>
                <a:r>
                  <a:rPr lang="en-US" dirty="0"/>
                  <a:t> </a:t>
                </a:r>
                <a:r>
                  <a:rPr lang="en-US" dirty="0" err="1"/>
                  <a:t>задерживаться</a:t>
                </a:r>
                <a:r>
                  <a:rPr lang="en-US" dirty="0"/>
                  <a:t> и </a:t>
                </a:r>
                <a:r>
                  <a:rPr lang="en-US" dirty="0" err="1"/>
                  <a:t>другие</a:t>
                </a:r>
                <a:r>
                  <a:rPr lang="en-US" dirty="0"/>
                  <a:t> </a:t>
                </a:r>
                <a:r>
                  <a:rPr lang="en-US" dirty="0" err="1"/>
                  <a:t>компоненты</a:t>
                </a:r>
                <a:r>
                  <a:rPr lang="en-US" dirty="0"/>
                  <a:t> </a:t>
                </a:r>
                <a:r>
                  <a:rPr lang="en-US" dirty="0" err="1"/>
                  <a:t>системы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 err="1"/>
                  <a:t>Получается</a:t>
                </a:r>
                <a:r>
                  <a:rPr lang="en-US" dirty="0"/>
                  <a:t>,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простота</a:t>
                </a:r>
                <a:r>
                  <a:rPr lang="en-US" dirty="0"/>
                  <a:t> FCFS </a:t>
                </a:r>
                <a:r>
                  <a:rPr lang="en-US" dirty="0" err="1"/>
                  <a:t>имеет</a:t>
                </a:r>
                <a:r>
                  <a:rPr lang="en-US" dirty="0"/>
                  <a:t> </a:t>
                </a:r>
                <a:r>
                  <a:rPr lang="en-US" dirty="0" err="1"/>
                  <a:t>свою</a:t>
                </a:r>
                <a:r>
                  <a:rPr lang="en-US" dirty="0"/>
                  <a:t> </a:t>
                </a:r>
                <a:r>
                  <a:rPr lang="en-US" dirty="0" err="1"/>
                  <a:t>цену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А </a:t>
                </a:r>
                <a:r>
                  <a:rPr lang="en-US" dirty="0" err="1"/>
                  <a:t>что</a:t>
                </a:r>
                <a:r>
                  <a:rPr lang="en-US" dirty="0"/>
                  <a:t>, </a:t>
                </a:r>
                <a:r>
                  <a:rPr lang="en-US" dirty="0" err="1"/>
                  <a:t>если</a:t>
                </a:r>
                <a:r>
                  <a:rPr lang="en-US" dirty="0"/>
                  <a:t> </a:t>
                </a:r>
                <a:r>
                  <a:rPr lang="en-US" dirty="0" err="1"/>
                  <a:t>мы</a:t>
                </a:r>
                <a:r>
                  <a:rPr lang="en-US" dirty="0"/>
                  <a:t> </a:t>
                </a:r>
                <a:r>
                  <a:rPr lang="en-US" dirty="0" err="1"/>
                  <a:t>изменим</a:t>
                </a:r>
                <a:r>
                  <a:rPr lang="en-US" dirty="0"/>
                  <a:t> </a:t>
                </a:r>
                <a:r>
                  <a:rPr lang="en-US" dirty="0" err="1"/>
                  <a:t>порядок</a:t>
                </a:r>
                <a:r>
                  <a:rPr lang="en-US" dirty="0"/>
                  <a:t> </a:t>
                </a:r>
                <a:r>
                  <a:rPr lang="en-US" dirty="0" err="1"/>
                  <a:t>выполнения</a:t>
                </a:r>
                <a:r>
                  <a:rPr lang="en-US" dirty="0"/>
                  <a:t> </a:t>
                </a:r>
                <a:r>
                  <a:rPr lang="en-US" dirty="0" err="1"/>
                  <a:t>задач</a:t>
                </a:r>
                <a:r>
                  <a:rPr lang="en-US" dirty="0"/>
                  <a:t> и </a:t>
                </a:r>
                <a:r>
                  <a:rPr lang="en-US" dirty="0" err="1"/>
                  <a:t>сначала</a:t>
                </a:r>
                <a:r>
                  <a:rPr lang="en-US" dirty="0"/>
                  <a:t> </a:t>
                </a:r>
                <a:r>
                  <a:rPr lang="en-US" dirty="0" err="1"/>
                  <a:t>запустим</a:t>
                </a:r>
                <a:r>
                  <a:rPr lang="en-US" dirty="0"/>
                  <a:t> </a:t>
                </a:r>
                <a:r>
                  <a:rPr lang="en-US" dirty="0" err="1"/>
                  <a:t>короткие</a:t>
                </a:r>
                <a:r>
                  <a:rPr lang="en-US" dirty="0"/>
                  <a:t>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err="1"/>
                  <a:t>Начнём</a:t>
                </a:r>
                <a:r>
                  <a:rPr lang="en-US" dirty="0"/>
                  <a:t> с </a:t>
                </a:r>
                <a:r>
                  <a:rPr lang="en-US" dirty="0" err="1"/>
                  <a:t>самого</a:t>
                </a:r>
                <a:r>
                  <a:rPr lang="en-US" dirty="0"/>
                  <a:t> </a:t>
                </a:r>
                <a:r>
                  <a:rPr lang="en-US" dirty="0" err="1"/>
                  <a:t>простого</a:t>
                </a:r>
                <a:r>
                  <a:rPr lang="en-US" dirty="0"/>
                  <a:t> </a:t>
                </a:r>
                <a:r>
                  <a:rPr lang="en-US" dirty="0" err="1"/>
                  <a:t>алгоритма</a:t>
                </a:r>
                <a:r>
                  <a:rPr lang="en-US" dirty="0"/>
                  <a:t> — First Come, First Served, </a:t>
                </a:r>
                <a:r>
                  <a:rPr lang="en-US" dirty="0" err="1"/>
                  <a:t>или</a:t>
                </a:r>
                <a:r>
                  <a:rPr lang="en-US" dirty="0"/>
                  <a:t> FCFS.</a:t>
                </a:r>
              </a:p>
              <a:p>
                <a:r>
                  <a:rPr lang="en-US" dirty="0" err="1"/>
                  <a:t>Его</a:t>
                </a:r>
                <a:r>
                  <a:rPr lang="en-US" dirty="0"/>
                  <a:t> </a:t>
                </a:r>
                <a:r>
                  <a:rPr lang="en-US" dirty="0" err="1"/>
                  <a:t>название</a:t>
                </a:r>
                <a:r>
                  <a:rPr lang="en-US" dirty="0"/>
                  <a:t> </a:t>
                </a:r>
                <a:r>
                  <a:rPr lang="en-US" dirty="0" err="1"/>
                  <a:t>переводится</a:t>
                </a:r>
                <a:r>
                  <a:rPr lang="en-US" dirty="0"/>
                  <a:t> </a:t>
                </a:r>
                <a:r>
                  <a:rPr lang="en-US" dirty="0" err="1"/>
                  <a:t>как</a:t>
                </a:r>
                <a:r>
                  <a:rPr lang="en-US" dirty="0"/>
                  <a:t> «</a:t>
                </a:r>
                <a:r>
                  <a:rPr lang="en-US" dirty="0" err="1"/>
                  <a:t>первым</a:t>
                </a:r>
                <a:r>
                  <a:rPr lang="en-US" dirty="0"/>
                  <a:t> </a:t>
                </a:r>
                <a:r>
                  <a:rPr lang="en-US" dirty="0" err="1"/>
                  <a:t>пришёл</a:t>
                </a:r>
                <a:r>
                  <a:rPr lang="en-US" dirty="0"/>
                  <a:t> — </a:t>
                </a:r>
                <a:r>
                  <a:rPr lang="en-US" dirty="0" err="1"/>
                  <a:t>первым</a:t>
                </a:r>
                <a:r>
                  <a:rPr lang="en-US" dirty="0"/>
                  <a:t> </a:t>
                </a:r>
                <a:r>
                  <a:rPr lang="en-US" dirty="0" err="1"/>
                  <a:t>обслужен</a:t>
                </a:r>
                <a:r>
                  <a:rPr lang="en-US" dirty="0"/>
                  <a:t>».</a:t>
                </a:r>
              </a:p>
              <a:p>
                <a:endParaRPr lang="en-US" dirty="0"/>
              </a:p>
              <a:p>
                <a:r>
                  <a:rPr lang="en-US" dirty="0" err="1"/>
                  <a:t>Идея</a:t>
                </a:r>
                <a:r>
                  <a:rPr lang="en-US" dirty="0"/>
                  <a:t> </a:t>
                </a:r>
                <a:r>
                  <a:rPr lang="en-US" dirty="0" err="1"/>
                  <a:t>очень</a:t>
                </a:r>
                <a:r>
                  <a:rPr lang="en-US" dirty="0"/>
                  <a:t> </a:t>
                </a:r>
                <a:r>
                  <a:rPr lang="en-US" dirty="0" err="1"/>
                  <a:t>проста</a:t>
                </a:r>
                <a:r>
                  <a:rPr lang="en-US" dirty="0"/>
                  <a:t>. </a:t>
                </a:r>
                <a:r>
                  <a:rPr lang="en-US" dirty="0" err="1"/>
                  <a:t>Когда</a:t>
                </a:r>
                <a:r>
                  <a:rPr lang="en-US" dirty="0"/>
                  <a:t> </a:t>
                </a:r>
                <a:r>
                  <a:rPr lang="en-US" dirty="0" err="1"/>
                  <a:t>задача</a:t>
                </a:r>
                <a:r>
                  <a:rPr lang="en-US" dirty="0"/>
                  <a:t> </a:t>
                </a:r>
                <a:r>
                  <a:rPr lang="en-US" dirty="0" err="1"/>
                  <a:t>становится</a:t>
                </a:r>
                <a:r>
                  <a:rPr lang="en-US" dirty="0"/>
                  <a:t> </a:t>
                </a:r>
                <a:r>
                  <a:rPr lang="en-US" dirty="0" err="1"/>
                  <a:t>готовой</a:t>
                </a:r>
                <a:r>
                  <a:rPr lang="en-US" dirty="0"/>
                  <a:t> к </a:t>
                </a:r>
                <a:r>
                  <a:rPr lang="en-US" dirty="0" err="1"/>
                  <a:t>выполнению</a:t>
                </a:r>
                <a:r>
                  <a:rPr lang="en-US" dirty="0"/>
                  <a:t>, </a:t>
                </a:r>
                <a:r>
                  <a:rPr lang="en-US" dirty="0" err="1"/>
                  <a:t>она</a:t>
                </a:r>
                <a:r>
                  <a:rPr lang="en-US" dirty="0"/>
                  <a:t> </a:t>
                </a:r>
                <a:r>
                  <a:rPr lang="en-US" dirty="0" err="1"/>
                  <a:t>добавляется</a:t>
                </a:r>
                <a:r>
                  <a:rPr lang="en-US" dirty="0"/>
                  <a:t> в </a:t>
                </a:r>
                <a:r>
                  <a:rPr lang="en-US" dirty="0" err="1"/>
                  <a:t>конец</a:t>
                </a:r>
                <a:r>
                  <a:rPr lang="en-US" dirty="0"/>
                  <a:t> </a:t>
                </a:r>
                <a:r>
                  <a:rPr lang="en-US" dirty="0" err="1"/>
                  <a:t>очереди</a:t>
                </a:r>
                <a:r>
                  <a:rPr lang="en-US" dirty="0"/>
                  <a:t>. </a:t>
                </a:r>
                <a:r>
                  <a:rPr lang="en-US" dirty="0" err="1"/>
                  <a:t>Планировщик</a:t>
                </a:r>
                <a:r>
                  <a:rPr lang="en-US" dirty="0"/>
                  <a:t> </a:t>
                </a:r>
                <a:r>
                  <a:rPr lang="en-US" dirty="0" err="1"/>
                  <a:t>выбирает</a:t>
                </a:r>
                <a:r>
                  <a:rPr lang="en-US" dirty="0"/>
                  <a:t> </a:t>
                </a:r>
                <a:r>
                  <a:rPr lang="en-US" dirty="0" err="1"/>
                  <a:t>задачу</a:t>
                </a:r>
                <a:r>
                  <a:rPr lang="en-US" dirty="0"/>
                  <a:t> </a:t>
                </a:r>
                <a:r>
                  <a:rPr lang="en-US" dirty="0" err="1"/>
                  <a:t>из</a:t>
                </a:r>
                <a:r>
                  <a:rPr lang="en-US" dirty="0"/>
                  <a:t> </a:t>
                </a:r>
                <a:r>
                  <a:rPr lang="en-US" dirty="0" err="1"/>
                  <a:t>начала</a:t>
                </a:r>
                <a:r>
                  <a:rPr lang="en-US" dirty="0"/>
                  <a:t> </a:t>
                </a:r>
                <a:r>
                  <a:rPr lang="en-US" dirty="0" err="1"/>
                  <a:t>очереди</a:t>
                </a:r>
                <a:r>
                  <a:rPr lang="en-US" dirty="0"/>
                  <a:t> и </a:t>
                </a:r>
                <a:r>
                  <a:rPr lang="en-US" dirty="0" err="1"/>
                  <a:t>предоставляет</a:t>
                </a:r>
                <a:r>
                  <a:rPr lang="en-US" dirty="0"/>
                  <a:t> </a:t>
                </a:r>
                <a:r>
                  <a:rPr lang="en-US" dirty="0" err="1"/>
                  <a:t>ей</a:t>
                </a:r>
                <a:r>
                  <a:rPr lang="en-US" dirty="0"/>
                  <a:t> CPU.</a:t>
                </a:r>
              </a:p>
              <a:p>
                <a:r>
                  <a:rPr lang="en-US" dirty="0"/>
                  <a:t>FCFS </a:t>
                </a:r>
                <a:r>
                  <a:rPr lang="en-US" dirty="0" err="1"/>
                  <a:t>относится</a:t>
                </a:r>
                <a:r>
                  <a:rPr lang="en-US" dirty="0"/>
                  <a:t> к </a:t>
                </a:r>
                <a:r>
                  <a:rPr lang="en-US" dirty="0" err="1"/>
                  <a:t>невытесняющим</a:t>
                </a:r>
                <a:r>
                  <a:rPr lang="en-US" dirty="0"/>
                  <a:t> </a:t>
                </a:r>
                <a:r>
                  <a:rPr lang="en-US" dirty="0" err="1"/>
                  <a:t>алгоритмам</a:t>
                </a:r>
                <a:r>
                  <a:rPr lang="en-US" dirty="0"/>
                  <a:t>. </a:t>
                </a:r>
                <a:r>
                  <a:rPr lang="en-US" dirty="0" err="1"/>
                  <a:t>Если</a:t>
                </a:r>
                <a:r>
                  <a:rPr lang="en-US" dirty="0"/>
                  <a:t> </a:t>
                </a:r>
                <a:r>
                  <a:rPr lang="en-US" dirty="0" err="1"/>
                  <a:t>задача</a:t>
                </a:r>
                <a:r>
                  <a:rPr lang="en-US" dirty="0"/>
                  <a:t> </a:t>
                </a:r>
                <a:r>
                  <a:rPr lang="en-US" dirty="0" err="1"/>
                  <a:t>уже</a:t>
                </a:r>
                <a:r>
                  <a:rPr lang="en-US" dirty="0"/>
                  <a:t> </a:t>
                </a:r>
                <a:r>
                  <a:rPr lang="en-US" dirty="0" err="1"/>
                  <a:t>получила</a:t>
                </a:r>
                <a:r>
                  <a:rPr lang="en-US" dirty="0"/>
                  <a:t> </a:t>
                </a:r>
                <a:r>
                  <a:rPr lang="en-US" dirty="0" err="1"/>
                  <a:t>процессор</a:t>
                </a:r>
                <a:r>
                  <a:rPr lang="en-US" dirty="0"/>
                  <a:t>, </a:t>
                </a:r>
                <a:r>
                  <a:rPr lang="en-US" dirty="0" err="1"/>
                  <a:t>она</a:t>
                </a:r>
                <a:r>
                  <a:rPr lang="en-US" dirty="0"/>
                  <a:t> </a:t>
                </a:r>
                <a:r>
                  <a:rPr lang="en-US" dirty="0" err="1"/>
                  <a:t>продолжает</a:t>
                </a:r>
                <a:r>
                  <a:rPr lang="en-US" dirty="0"/>
                  <a:t> </a:t>
                </a:r>
                <a:r>
                  <a:rPr lang="en-US" dirty="0" err="1"/>
                  <a:t>выполнять</a:t>
                </a:r>
                <a:r>
                  <a:rPr lang="en-US" dirty="0"/>
                  <a:t> </a:t>
                </a:r>
                <a:r>
                  <a:rPr lang="en-US" dirty="0" err="1"/>
                  <a:t>инструкции</a:t>
                </a:r>
                <a:r>
                  <a:rPr lang="en-US" dirty="0"/>
                  <a:t> </a:t>
                </a:r>
                <a:r>
                  <a:rPr lang="en-US" dirty="0" err="1"/>
                  <a:t>до</a:t>
                </a:r>
                <a:r>
                  <a:rPr lang="en-US" dirty="0"/>
                  <a:t> </a:t>
                </a:r>
                <a:r>
                  <a:rPr lang="en-US" dirty="0" err="1"/>
                  <a:t>завершения</a:t>
                </a:r>
                <a:r>
                  <a:rPr lang="en-US" dirty="0"/>
                  <a:t> </a:t>
                </a:r>
                <a:r>
                  <a:rPr lang="en-US" dirty="0" err="1"/>
                  <a:t>либо</a:t>
                </a:r>
                <a:r>
                  <a:rPr lang="en-US" dirty="0"/>
                  <a:t> </a:t>
                </a:r>
                <a:r>
                  <a:rPr lang="en-US" dirty="0" err="1"/>
                  <a:t>блокировки</a:t>
                </a:r>
                <a:r>
                  <a:rPr lang="en-US" dirty="0"/>
                  <a:t>. </a:t>
                </a:r>
                <a:r>
                  <a:rPr lang="en-US" dirty="0" err="1"/>
                  <a:t>Появление</a:t>
                </a:r>
                <a:r>
                  <a:rPr lang="en-US" dirty="0"/>
                  <a:t> </a:t>
                </a:r>
                <a:r>
                  <a:rPr lang="en-US" dirty="0" err="1"/>
                  <a:t>других</a:t>
                </a:r>
                <a:r>
                  <a:rPr lang="en-US" dirty="0"/>
                  <a:t> </a:t>
                </a:r>
                <a:r>
                  <a:rPr lang="en-US" dirty="0" err="1"/>
                  <a:t>готовых</a:t>
                </a:r>
                <a:r>
                  <a:rPr lang="en-US" dirty="0"/>
                  <a:t> </a:t>
                </a:r>
                <a:r>
                  <a:rPr lang="en-US" dirty="0" err="1"/>
                  <a:t>задач</a:t>
                </a:r>
                <a:r>
                  <a:rPr lang="en-US" dirty="0"/>
                  <a:t> </a:t>
                </a:r>
                <a:r>
                  <a:rPr lang="en-US" dirty="0" err="1"/>
                  <a:t>само</a:t>
                </a:r>
                <a:r>
                  <a:rPr lang="en-US" dirty="0"/>
                  <a:t> </a:t>
                </a:r>
                <a:r>
                  <a:rPr lang="en-US" dirty="0" err="1"/>
                  <a:t>по</a:t>
                </a:r>
                <a:r>
                  <a:rPr lang="en-US" dirty="0"/>
                  <a:t> </a:t>
                </a:r>
                <a:r>
                  <a:rPr lang="en-US" dirty="0" err="1"/>
                  <a:t>себе</a:t>
                </a:r>
                <a:r>
                  <a:rPr lang="en-US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приводит</a:t>
                </a:r>
                <a:r>
                  <a:rPr lang="en-US" dirty="0"/>
                  <a:t> к </a:t>
                </a:r>
                <a:r>
                  <a:rPr lang="en-US" dirty="0" err="1"/>
                  <a:t>её</a:t>
                </a:r>
                <a:r>
                  <a:rPr lang="en-US" dirty="0"/>
                  <a:t> </a:t>
                </a:r>
                <a:r>
                  <a:rPr lang="en-US" dirty="0" err="1"/>
                  <a:t>вытеснению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 err="1"/>
                  <a:t>Посмотрим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наш</a:t>
                </a:r>
                <a:r>
                  <a:rPr lang="en-US" dirty="0"/>
                  <a:t> </a:t>
                </a:r>
                <a:r>
                  <a:rPr lang="en-US" dirty="0" err="1"/>
                  <a:t>пример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В </a:t>
                </a:r>
                <a:r>
                  <a:rPr lang="en-US" dirty="0" err="1"/>
                  <a:t>очереди</a:t>
                </a:r>
                <a:r>
                  <a:rPr lang="en-US" dirty="0"/>
                  <a:t> </a:t>
                </a:r>
                <a:r>
                  <a:rPr lang="en-US" dirty="0" err="1"/>
                  <a:t>находятся</a:t>
                </a:r>
                <a:r>
                  <a:rPr lang="en-US" dirty="0"/>
                  <a:t> </a:t>
                </a:r>
                <a:r>
                  <a:rPr lang="en-US" dirty="0" err="1"/>
                  <a:t>четыре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: A, B, C и D.</a:t>
                </a:r>
              </a:p>
              <a:p>
                <a:r>
                  <a:rPr lang="en-US" dirty="0" err="1"/>
                  <a:t>Первой</a:t>
                </a:r>
                <a:r>
                  <a:rPr lang="en-US" dirty="0"/>
                  <a:t> </a:t>
                </a:r>
                <a:r>
                  <a:rPr lang="en-US" dirty="0" err="1"/>
                  <a:t>выполняется</a:t>
                </a:r>
                <a:r>
                  <a:rPr lang="en-US" dirty="0"/>
                  <a:t> A. </a:t>
                </a:r>
                <a:r>
                  <a:rPr lang="en-US" dirty="0" err="1"/>
                  <a:t>Она</a:t>
                </a:r>
                <a:r>
                  <a:rPr lang="en-US" dirty="0"/>
                  <a:t> </a:t>
                </a:r>
                <a:r>
                  <a:rPr lang="en-US" dirty="0" err="1"/>
                  <a:t>занимает</a:t>
                </a:r>
                <a:r>
                  <a:rPr lang="en-US" dirty="0"/>
                  <a:t> </a:t>
                </a:r>
                <a:r>
                  <a:rPr lang="en-US" dirty="0" err="1"/>
                  <a:t>процессор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8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. </a:t>
                </a:r>
                <a:r>
                  <a:rPr lang="en-US" dirty="0" err="1"/>
                  <a:t>Всё</a:t>
                </a:r>
                <a:r>
                  <a:rPr lang="en-US" dirty="0"/>
                  <a:t> </a:t>
                </a:r>
                <a:r>
                  <a:rPr lang="en-US" dirty="0" err="1"/>
                  <a:t>это</a:t>
                </a:r>
                <a:r>
                  <a:rPr lang="en-US" dirty="0"/>
                  <a:t>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остальные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 </a:t>
                </a:r>
                <a:r>
                  <a:rPr lang="en-US" dirty="0" err="1"/>
                  <a:t>ожидают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Затем</a:t>
                </a:r>
                <a:r>
                  <a:rPr lang="en-US" dirty="0"/>
                  <a:t> </a:t>
                </a:r>
                <a:r>
                  <a:rPr lang="en-US" dirty="0" err="1"/>
                  <a:t>выполняется</a:t>
                </a:r>
                <a:r>
                  <a:rPr lang="en-US" dirty="0"/>
                  <a:t> B с 8-й </a:t>
                </a:r>
                <a:r>
                  <a:rPr lang="en-US" dirty="0" err="1"/>
                  <a:t>по</a:t>
                </a:r>
                <a:r>
                  <a:rPr lang="en-US" dirty="0"/>
                  <a:t> 12-ю </a:t>
                </a:r>
                <a:r>
                  <a:rPr lang="en-US" dirty="0" err="1"/>
                  <a:t>миллисекунду</a:t>
                </a:r>
                <a:r>
                  <a:rPr lang="en-US" dirty="0"/>
                  <a:t>, C — с 12-й </a:t>
                </a:r>
                <a:r>
                  <a:rPr lang="en-US" dirty="0" err="1"/>
                  <a:t>по</a:t>
                </a:r>
                <a:r>
                  <a:rPr lang="en-US" dirty="0"/>
                  <a:t> 16-ю, и </a:t>
                </a:r>
                <a:r>
                  <a:rPr lang="en-US" dirty="0" err="1"/>
                  <a:t>наконец</a:t>
                </a:r>
                <a:r>
                  <a:rPr lang="en-US" dirty="0"/>
                  <a:t> D — с 16-й </a:t>
                </a:r>
                <a:r>
                  <a:rPr lang="en-US" dirty="0" err="1"/>
                  <a:t>по</a:t>
                </a:r>
                <a:r>
                  <a:rPr lang="en-US" dirty="0"/>
                  <a:t> 20-ю.</a:t>
                </a:r>
              </a:p>
              <a:p>
                <a:endParaRPr lang="en-US" dirty="0"/>
              </a:p>
              <a:p>
                <a:r>
                  <a:rPr lang="en-US" dirty="0" err="1"/>
                  <a:t>Посчитаем</a:t>
                </a:r>
                <a:r>
                  <a:rPr lang="en-US" dirty="0"/>
                  <a:t>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ожидания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A </a:t>
                </a:r>
                <a:r>
                  <a:rPr lang="en-US" dirty="0" err="1"/>
                  <a:t>начинает</a:t>
                </a:r>
                <a:r>
                  <a:rPr lang="en-US" dirty="0"/>
                  <a:t> </a:t>
                </a:r>
                <a:r>
                  <a:rPr lang="en-US" dirty="0" err="1"/>
                  <a:t>работу</a:t>
                </a:r>
                <a:r>
                  <a:rPr lang="en-US" dirty="0"/>
                  <a:t> </a:t>
                </a:r>
                <a:r>
                  <a:rPr lang="en-US" dirty="0" err="1"/>
                  <a:t>немедленно</a:t>
                </a:r>
                <a:r>
                  <a:rPr lang="en-US" dirty="0"/>
                  <a:t>, </a:t>
                </a:r>
                <a:r>
                  <a:rPr lang="en-US" dirty="0" err="1"/>
                  <a:t>поэтому</a:t>
                </a:r>
                <a:r>
                  <a:rPr lang="en-US" dirty="0"/>
                  <a:t> </a:t>
                </a:r>
                <a:r>
                  <a:rPr lang="en-US" dirty="0" err="1"/>
                  <a:t>её</a:t>
                </a:r>
                <a:r>
                  <a:rPr lang="en-US" dirty="0"/>
                  <a:t> Waiting Time </a:t>
                </a:r>
                <a:r>
                  <a:rPr lang="en-US" dirty="0" err="1"/>
                  <a:t>равен</a:t>
                </a:r>
                <a:r>
                  <a:rPr lang="en-US" dirty="0"/>
                  <a:t> </a:t>
                </a:r>
                <a:r>
                  <a:rPr lang="en-US" dirty="0" err="1"/>
                  <a:t>нулю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B </a:t>
                </a:r>
                <a:r>
                  <a:rPr lang="en-US" dirty="0" err="1"/>
                  <a:t>ждёт</a:t>
                </a:r>
                <a:r>
                  <a:rPr lang="en-US" dirty="0"/>
                  <a:t> 8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, C — 12, D — 16.</a:t>
                </a:r>
              </a:p>
              <a:p>
                <a:r>
                  <a:rPr lang="en-US" dirty="0" err="1"/>
                  <a:t>Среднее</a:t>
                </a:r>
                <a:r>
                  <a:rPr lang="en-US" dirty="0"/>
                  <a:t>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ожидания</a:t>
                </a:r>
                <a:r>
                  <a:rPr lang="en-US" dirty="0"/>
                  <a:t>:</a:t>
                </a:r>
              </a:p>
              <a:p>
                <a:r>
                  <a:rPr lang="en-US" i="0">
                    <a:latin typeface="Cambria Math" panose="02040503050406030204" pitchFamily="18" charset="0"/>
                  </a:rPr>
                  <a:t>(0+8+12+16)/4=9" мс"</a:t>
                </a:r>
                <a:endParaRPr lang="en-US" dirty="0"/>
              </a:p>
              <a:p>
                <a:r>
                  <a:rPr lang="en-US" dirty="0"/>
                  <a:t> </a:t>
                </a:r>
              </a:p>
              <a:p>
                <a:r>
                  <a:rPr lang="en-US" dirty="0" err="1"/>
                  <a:t>Теперь</a:t>
                </a:r>
                <a:r>
                  <a:rPr lang="en-US" dirty="0"/>
                  <a:t> </a:t>
                </a:r>
                <a:r>
                  <a:rPr lang="en-US" dirty="0" err="1"/>
                  <a:t>посмотрим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Turnaround Time.</a:t>
                </a:r>
              </a:p>
              <a:p>
                <a:r>
                  <a:rPr lang="en-US" dirty="0" err="1"/>
                  <a:t>Поскольку</a:t>
                </a:r>
                <a:r>
                  <a:rPr lang="en-US" dirty="0"/>
                  <a:t> </a:t>
                </a:r>
                <a:r>
                  <a:rPr lang="en-US" dirty="0" err="1"/>
                  <a:t>все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 </a:t>
                </a:r>
                <a:r>
                  <a:rPr lang="en-US" dirty="0" err="1"/>
                  <a:t>поступили</a:t>
                </a:r>
                <a:r>
                  <a:rPr lang="en-US" dirty="0"/>
                  <a:t> </a:t>
                </a:r>
                <a:r>
                  <a:rPr lang="en-US" dirty="0" err="1"/>
                  <a:t>одновременно</a:t>
                </a:r>
                <a:r>
                  <a:rPr lang="en-US" dirty="0"/>
                  <a:t> в </a:t>
                </a:r>
                <a:r>
                  <a:rPr lang="en-US" dirty="0" err="1"/>
                  <a:t>момент</a:t>
                </a:r>
                <a:r>
                  <a:rPr lang="en-US" dirty="0"/>
                  <a:t> 0,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от</a:t>
                </a:r>
                <a:r>
                  <a:rPr lang="en-US" dirty="0"/>
                  <a:t> </a:t>
                </a:r>
                <a:r>
                  <a:rPr lang="en-US" dirty="0" err="1"/>
                  <a:t>поступления</a:t>
                </a:r>
                <a:r>
                  <a:rPr lang="en-US" dirty="0"/>
                  <a:t> </a:t>
                </a:r>
                <a:r>
                  <a:rPr lang="en-US" dirty="0" err="1"/>
                  <a:t>до</a:t>
                </a:r>
                <a:r>
                  <a:rPr lang="en-US" dirty="0"/>
                  <a:t> </a:t>
                </a:r>
                <a:r>
                  <a:rPr lang="en-US" dirty="0" err="1"/>
                  <a:t>завершения</a:t>
                </a:r>
                <a:r>
                  <a:rPr lang="en-US" dirty="0"/>
                  <a:t> </a:t>
                </a:r>
                <a:r>
                  <a:rPr lang="en-US" dirty="0" err="1"/>
                  <a:t>совпадает</a:t>
                </a:r>
                <a:r>
                  <a:rPr lang="en-US" dirty="0"/>
                  <a:t> с </a:t>
                </a:r>
                <a:r>
                  <a:rPr lang="en-US" dirty="0" err="1"/>
                  <a:t>моментом</a:t>
                </a:r>
                <a:r>
                  <a:rPr lang="en-US" dirty="0"/>
                  <a:t> </a:t>
                </a:r>
                <a:r>
                  <a:rPr lang="en-US" dirty="0" err="1"/>
                  <a:t>завершения</a:t>
                </a:r>
                <a:r>
                  <a:rPr lang="en-US" dirty="0"/>
                  <a:t> </a:t>
                </a:r>
                <a:r>
                  <a:rPr lang="en-US" dirty="0" err="1"/>
                  <a:t>каждой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Получаем</a:t>
                </a:r>
                <a:r>
                  <a:rPr lang="en-US" dirty="0"/>
                  <a:t> 8, 12, 16 и 20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Среднее</a:t>
                </a:r>
                <a:r>
                  <a:rPr lang="en-US" dirty="0"/>
                  <a:t>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завершения</a:t>
                </a:r>
                <a:r>
                  <a:rPr lang="en-US" dirty="0"/>
                  <a:t>: 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:r>
                  <a:rPr lang="en-US" i="0" dirty="0">
                    <a:latin typeface="Cambria Math" panose="02040503050406030204" pitchFamily="18" charset="0"/>
                  </a:rPr>
                  <a:t>(8+12+16+20)/4=14" мс"</a:t>
                </a:r>
                <a:endParaRPr lang="en-US" dirty="0"/>
              </a:p>
              <a:p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мы</a:t>
                </a:r>
                <a:r>
                  <a:rPr lang="en-US" dirty="0"/>
                  <a:t> </a:t>
                </a:r>
                <a:r>
                  <a:rPr lang="en-US" dirty="0" err="1"/>
                  <a:t>замечаем</a:t>
                </a:r>
                <a:r>
                  <a:rPr lang="en-US" dirty="0"/>
                  <a:t>?</a:t>
                </a:r>
              </a:p>
              <a:p>
                <a:r>
                  <a:rPr lang="en-US" dirty="0" err="1"/>
                  <a:t>Три</a:t>
                </a:r>
                <a:r>
                  <a:rPr lang="en-US" dirty="0"/>
                  <a:t> </a:t>
                </a:r>
                <a:r>
                  <a:rPr lang="en-US" dirty="0" err="1"/>
                  <a:t>короткие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 </a:t>
                </a:r>
                <a:r>
                  <a:rPr lang="en-US" dirty="0" err="1"/>
                  <a:t>вынуждены</a:t>
                </a:r>
                <a:r>
                  <a:rPr lang="en-US" dirty="0"/>
                  <a:t> </a:t>
                </a:r>
                <a:r>
                  <a:rPr lang="en-US" dirty="0" err="1"/>
                  <a:t>ждать</a:t>
                </a:r>
                <a:r>
                  <a:rPr lang="en-US" dirty="0"/>
                  <a:t> </a:t>
                </a:r>
                <a:r>
                  <a:rPr lang="en-US" dirty="0" err="1"/>
                  <a:t>выполнения</a:t>
                </a:r>
                <a:r>
                  <a:rPr lang="en-US" dirty="0"/>
                  <a:t> </a:t>
                </a:r>
                <a:r>
                  <a:rPr lang="en-US" dirty="0" err="1"/>
                  <a:t>одной</a:t>
                </a:r>
                <a:r>
                  <a:rPr lang="en-US" dirty="0"/>
                  <a:t> </a:t>
                </a:r>
                <a:r>
                  <a:rPr lang="en-US" dirty="0" err="1"/>
                  <a:t>длинной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Это </a:t>
                </a:r>
                <a:r>
                  <a:rPr lang="en-US" dirty="0" err="1"/>
                  <a:t>проявление</a:t>
                </a:r>
                <a:r>
                  <a:rPr lang="en-US" dirty="0"/>
                  <a:t> </a:t>
                </a:r>
                <a:r>
                  <a:rPr lang="en-US" dirty="0" err="1"/>
                  <a:t>эффекта</a:t>
                </a:r>
                <a:r>
                  <a:rPr lang="en-US" dirty="0"/>
                  <a:t> </a:t>
                </a:r>
                <a:r>
                  <a:rPr lang="en-US" dirty="0" err="1"/>
                  <a:t>конвоя</a:t>
                </a:r>
                <a:r>
                  <a:rPr lang="en-US" dirty="0"/>
                  <a:t> — Convoy Effect.</a:t>
                </a:r>
              </a:p>
              <a:p>
                <a:r>
                  <a:rPr lang="en-US" dirty="0" err="1"/>
                  <a:t>Представьте</a:t>
                </a:r>
                <a:r>
                  <a:rPr lang="en-US" dirty="0"/>
                  <a:t>,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длинная</a:t>
                </a:r>
                <a:r>
                  <a:rPr lang="en-US" dirty="0"/>
                  <a:t> CPU-bound </a:t>
                </a:r>
                <a:r>
                  <a:rPr lang="en-US" dirty="0" err="1"/>
                  <a:t>задача</a:t>
                </a:r>
                <a:r>
                  <a:rPr lang="en-US" dirty="0"/>
                  <a:t> </a:t>
                </a:r>
                <a:r>
                  <a:rPr lang="en-US" dirty="0" err="1"/>
                  <a:t>занимает</a:t>
                </a:r>
                <a:r>
                  <a:rPr lang="en-US" dirty="0"/>
                  <a:t> </a:t>
                </a:r>
                <a:r>
                  <a:rPr lang="en-US" dirty="0" err="1"/>
                  <a:t>процессор</a:t>
                </a:r>
                <a:r>
                  <a:rPr lang="en-US" dirty="0"/>
                  <a:t>, а </a:t>
                </a:r>
                <a:r>
                  <a:rPr lang="en-US" dirty="0" err="1"/>
                  <a:t>за</a:t>
                </a:r>
                <a:r>
                  <a:rPr lang="en-US" dirty="0"/>
                  <a:t> </a:t>
                </a:r>
                <a:r>
                  <a:rPr lang="en-US" dirty="0" err="1"/>
                  <a:t>ней</a:t>
                </a:r>
                <a:r>
                  <a:rPr lang="en-US" dirty="0"/>
                  <a:t> </a:t>
                </a:r>
                <a:r>
                  <a:rPr lang="en-US" dirty="0" err="1"/>
                  <a:t>ожидают</a:t>
                </a:r>
                <a:r>
                  <a:rPr lang="en-US" dirty="0"/>
                  <a:t> </a:t>
                </a:r>
                <a:r>
                  <a:rPr lang="en-US" dirty="0" err="1"/>
                  <a:t>потоки</a:t>
                </a:r>
                <a:r>
                  <a:rPr lang="en-US" dirty="0"/>
                  <a:t>, </a:t>
                </a:r>
                <a:r>
                  <a:rPr lang="en-US" dirty="0" err="1"/>
                  <a:t>которым</a:t>
                </a:r>
                <a:r>
                  <a:rPr lang="en-US" dirty="0"/>
                  <a:t> </a:t>
                </a:r>
                <a:r>
                  <a:rPr lang="en-US" dirty="0" err="1"/>
                  <a:t>нужно</a:t>
                </a:r>
                <a:r>
                  <a:rPr lang="en-US" dirty="0"/>
                  <a:t> </a:t>
                </a:r>
                <a:r>
                  <a:rPr lang="en-US" dirty="0" err="1"/>
                  <a:t>совсем</a:t>
                </a:r>
                <a:r>
                  <a:rPr lang="en-US" dirty="0"/>
                  <a:t> </a:t>
                </a:r>
                <a:r>
                  <a:rPr lang="en-US" dirty="0" err="1"/>
                  <a:t>немного</a:t>
                </a:r>
                <a:r>
                  <a:rPr lang="en-US" dirty="0"/>
                  <a:t> CPU </a:t>
                </a:r>
                <a:r>
                  <a:rPr lang="en-US" dirty="0" err="1"/>
                  <a:t>для</a:t>
                </a:r>
                <a:r>
                  <a:rPr lang="en-US" dirty="0"/>
                  <a:t> </a:t>
                </a:r>
                <a:r>
                  <a:rPr lang="en-US" dirty="0" err="1"/>
                  <a:t>обработки</a:t>
                </a:r>
                <a:r>
                  <a:rPr lang="en-US" dirty="0"/>
                  <a:t> </a:t>
                </a:r>
                <a:r>
                  <a:rPr lang="en-US" dirty="0" err="1"/>
                  <a:t>ввода-вывода</a:t>
                </a:r>
                <a:r>
                  <a:rPr lang="en-US" dirty="0"/>
                  <a:t>. </a:t>
                </a:r>
                <a:r>
                  <a:rPr lang="en-US" dirty="0" err="1"/>
                  <a:t>Из-за</a:t>
                </a:r>
                <a:r>
                  <a:rPr lang="en-US" dirty="0"/>
                  <a:t> </a:t>
                </a:r>
                <a:r>
                  <a:rPr lang="en-US" dirty="0" err="1"/>
                  <a:t>длительного</a:t>
                </a:r>
                <a:r>
                  <a:rPr lang="en-US" dirty="0"/>
                  <a:t> </a:t>
                </a:r>
                <a:r>
                  <a:rPr lang="en-US" dirty="0" err="1"/>
                  <a:t>ожидания</a:t>
                </a:r>
                <a:r>
                  <a:rPr lang="en-US" dirty="0"/>
                  <a:t> </a:t>
                </a:r>
                <a:r>
                  <a:rPr lang="en-US" dirty="0" err="1"/>
                  <a:t>могут</a:t>
                </a:r>
                <a:r>
                  <a:rPr lang="en-US" dirty="0"/>
                  <a:t> </a:t>
                </a:r>
                <a:r>
                  <a:rPr lang="en-US" dirty="0" err="1"/>
                  <a:t>задерживаться</a:t>
                </a:r>
                <a:r>
                  <a:rPr lang="en-US" dirty="0"/>
                  <a:t> и </a:t>
                </a:r>
                <a:r>
                  <a:rPr lang="en-US" dirty="0" err="1"/>
                  <a:t>другие</a:t>
                </a:r>
                <a:r>
                  <a:rPr lang="en-US" dirty="0"/>
                  <a:t> </a:t>
                </a:r>
                <a:r>
                  <a:rPr lang="en-US" dirty="0" err="1"/>
                  <a:t>компоненты</a:t>
                </a:r>
                <a:r>
                  <a:rPr lang="en-US" dirty="0"/>
                  <a:t> </a:t>
                </a:r>
                <a:r>
                  <a:rPr lang="en-US" dirty="0" err="1"/>
                  <a:t>системы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 err="1"/>
                  <a:t>Получается</a:t>
                </a:r>
                <a:r>
                  <a:rPr lang="en-US" dirty="0"/>
                  <a:t>,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простота</a:t>
                </a:r>
                <a:r>
                  <a:rPr lang="en-US" dirty="0"/>
                  <a:t> FCFS </a:t>
                </a:r>
                <a:r>
                  <a:rPr lang="en-US" dirty="0" err="1"/>
                  <a:t>имеет</a:t>
                </a:r>
                <a:r>
                  <a:rPr lang="en-US" dirty="0"/>
                  <a:t> </a:t>
                </a:r>
                <a:r>
                  <a:rPr lang="en-US" dirty="0" err="1"/>
                  <a:t>свою</a:t>
                </a:r>
                <a:r>
                  <a:rPr lang="en-US" dirty="0"/>
                  <a:t> </a:t>
                </a:r>
                <a:r>
                  <a:rPr lang="en-US" dirty="0" err="1"/>
                  <a:t>цену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А </a:t>
                </a:r>
                <a:r>
                  <a:rPr lang="en-US" dirty="0" err="1"/>
                  <a:t>что</a:t>
                </a:r>
                <a:r>
                  <a:rPr lang="en-US" dirty="0"/>
                  <a:t>, </a:t>
                </a:r>
                <a:r>
                  <a:rPr lang="en-US" dirty="0" err="1"/>
                  <a:t>если</a:t>
                </a:r>
                <a:r>
                  <a:rPr lang="en-US" dirty="0"/>
                  <a:t> </a:t>
                </a:r>
                <a:r>
                  <a:rPr lang="en-US" dirty="0" err="1"/>
                  <a:t>мы</a:t>
                </a:r>
                <a:r>
                  <a:rPr lang="en-US" dirty="0"/>
                  <a:t> </a:t>
                </a:r>
                <a:r>
                  <a:rPr lang="en-US" dirty="0" err="1"/>
                  <a:t>изменим</a:t>
                </a:r>
                <a:r>
                  <a:rPr lang="en-US" dirty="0"/>
                  <a:t> </a:t>
                </a:r>
                <a:r>
                  <a:rPr lang="en-US" dirty="0" err="1"/>
                  <a:t>порядок</a:t>
                </a:r>
                <a:r>
                  <a:rPr lang="en-US" dirty="0"/>
                  <a:t> </a:t>
                </a:r>
                <a:r>
                  <a:rPr lang="en-US" dirty="0" err="1"/>
                  <a:t>выполнения</a:t>
                </a:r>
                <a:r>
                  <a:rPr lang="en-US" dirty="0"/>
                  <a:t> </a:t>
                </a:r>
                <a:r>
                  <a:rPr lang="en-US" dirty="0" err="1"/>
                  <a:t>задач</a:t>
                </a:r>
                <a:r>
                  <a:rPr lang="en-US" dirty="0"/>
                  <a:t> и </a:t>
                </a:r>
                <a:r>
                  <a:rPr lang="en-US" dirty="0" err="1"/>
                  <a:t>сначала</a:t>
                </a:r>
                <a:r>
                  <a:rPr lang="en-US" dirty="0"/>
                  <a:t> </a:t>
                </a:r>
                <a:r>
                  <a:rPr lang="en-US" dirty="0" err="1"/>
                  <a:t>запустим</a:t>
                </a:r>
                <a:r>
                  <a:rPr lang="en-US" dirty="0"/>
                  <a:t> </a:t>
                </a:r>
                <a:r>
                  <a:rPr lang="en-US" dirty="0" err="1"/>
                  <a:t>короткие</a:t>
                </a:r>
                <a:r>
                  <a:rPr lang="en-US" dirty="0"/>
                  <a:t>?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7027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err="1"/>
                  <a:t>Давайте</a:t>
                </a:r>
                <a:r>
                  <a:rPr lang="en-US" dirty="0"/>
                  <a:t> </a:t>
                </a:r>
                <a:r>
                  <a:rPr lang="en-US" dirty="0" err="1"/>
                  <a:t>попробуем</a:t>
                </a:r>
                <a:r>
                  <a:rPr lang="en-US" dirty="0"/>
                  <a:t> </a:t>
                </a:r>
                <a:r>
                  <a:rPr lang="en-US" dirty="0" err="1"/>
                  <a:t>улучшить</a:t>
                </a:r>
                <a:r>
                  <a:rPr lang="en-US" dirty="0"/>
                  <a:t> </a:t>
                </a:r>
                <a:r>
                  <a:rPr lang="en-US" dirty="0" err="1"/>
                  <a:t>предыдущий</a:t>
                </a:r>
                <a:r>
                  <a:rPr lang="en-US" dirty="0"/>
                  <a:t> </a:t>
                </a:r>
                <a:r>
                  <a:rPr lang="en-US" dirty="0" err="1"/>
                  <a:t>алгоритм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 err="1"/>
                  <a:t>Мы</a:t>
                </a:r>
                <a:r>
                  <a:rPr lang="en-US" dirty="0"/>
                  <a:t> </a:t>
                </a:r>
                <a:r>
                  <a:rPr lang="en-US" dirty="0" err="1"/>
                  <a:t>заметили</a:t>
                </a:r>
                <a:r>
                  <a:rPr lang="en-US" dirty="0"/>
                  <a:t>,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длинная</a:t>
                </a:r>
                <a:r>
                  <a:rPr lang="en-US" dirty="0"/>
                  <a:t> </a:t>
                </a:r>
                <a:r>
                  <a:rPr lang="en-US" dirty="0" err="1"/>
                  <a:t>задача</a:t>
                </a:r>
                <a:r>
                  <a:rPr lang="en-US" dirty="0"/>
                  <a:t> A </a:t>
                </a:r>
                <a:r>
                  <a:rPr lang="en-US" dirty="0" err="1"/>
                  <a:t>задерживает</a:t>
                </a:r>
                <a:r>
                  <a:rPr lang="en-US" dirty="0"/>
                  <a:t> </a:t>
                </a:r>
                <a:r>
                  <a:rPr lang="en-US" dirty="0" err="1"/>
                  <a:t>выполнение</a:t>
                </a:r>
                <a:r>
                  <a:rPr lang="en-US" dirty="0"/>
                  <a:t> </a:t>
                </a:r>
                <a:r>
                  <a:rPr lang="en-US" dirty="0" err="1"/>
                  <a:t>трёх</a:t>
                </a:r>
                <a:r>
                  <a:rPr lang="en-US" dirty="0"/>
                  <a:t> </a:t>
                </a:r>
                <a:r>
                  <a:rPr lang="en-US" dirty="0" err="1"/>
                  <a:t>коротких</a:t>
                </a:r>
                <a:r>
                  <a:rPr lang="en-US" dirty="0"/>
                  <a:t> </a:t>
                </a:r>
                <a:r>
                  <a:rPr lang="en-US" dirty="0" err="1"/>
                  <a:t>задач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Возникает</a:t>
                </a:r>
                <a:r>
                  <a:rPr lang="en-US" dirty="0"/>
                  <a:t> </a:t>
                </a:r>
                <a:r>
                  <a:rPr lang="en-US" dirty="0" err="1"/>
                  <a:t>идея</a:t>
                </a:r>
                <a:r>
                  <a:rPr lang="en-US" dirty="0"/>
                  <a:t>: </a:t>
                </a:r>
                <a:r>
                  <a:rPr lang="en-US" dirty="0" err="1"/>
                  <a:t>почему</a:t>
                </a:r>
                <a:r>
                  <a:rPr lang="en-US" dirty="0"/>
                  <a:t> </a:t>
                </a:r>
                <a:r>
                  <a:rPr lang="en-US" dirty="0" err="1"/>
                  <a:t>бы</a:t>
                </a:r>
                <a:r>
                  <a:rPr lang="en-US" dirty="0"/>
                  <a:t> </a:t>
                </a:r>
                <a:r>
                  <a:rPr lang="en-US" dirty="0" err="1"/>
                  <a:t>сначала</a:t>
                </a:r>
                <a:r>
                  <a:rPr lang="en-US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выполнять</a:t>
                </a:r>
                <a:r>
                  <a:rPr lang="en-US" dirty="0"/>
                  <a:t> </a:t>
                </a:r>
                <a:r>
                  <a:rPr lang="en-US" dirty="0" err="1"/>
                  <a:t>короткие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, а </a:t>
                </a:r>
                <a:r>
                  <a:rPr lang="en-US" dirty="0" err="1"/>
                  <a:t>уже</a:t>
                </a:r>
                <a:r>
                  <a:rPr lang="en-US" dirty="0"/>
                  <a:t> </a:t>
                </a:r>
                <a:r>
                  <a:rPr lang="en-US" dirty="0" err="1"/>
                  <a:t>потом</a:t>
                </a:r>
                <a:r>
                  <a:rPr lang="en-US" dirty="0"/>
                  <a:t> </a:t>
                </a:r>
                <a:r>
                  <a:rPr lang="en-US" dirty="0" err="1"/>
                  <a:t>длинные</a:t>
                </a:r>
                <a:r>
                  <a:rPr lang="en-US" dirty="0"/>
                  <a:t>?</a:t>
                </a:r>
              </a:p>
              <a:p>
                <a:endParaRPr lang="en-US" dirty="0"/>
              </a:p>
              <a:p>
                <a:r>
                  <a:rPr lang="en-US" dirty="0" err="1"/>
                  <a:t>Именно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этом</a:t>
                </a:r>
                <a:r>
                  <a:rPr lang="en-US" dirty="0"/>
                  <a:t> </a:t>
                </a:r>
                <a:r>
                  <a:rPr lang="en-US" dirty="0" err="1"/>
                  <a:t>принципе</a:t>
                </a:r>
                <a:r>
                  <a:rPr lang="en-US" dirty="0"/>
                  <a:t> </a:t>
                </a:r>
                <a:r>
                  <a:rPr lang="en-US" dirty="0" err="1"/>
                  <a:t>основан</a:t>
                </a:r>
                <a:r>
                  <a:rPr lang="en-US" dirty="0"/>
                  <a:t> Shortest Job First, </a:t>
                </a:r>
                <a:r>
                  <a:rPr lang="en-US" dirty="0" err="1"/>
                  <a:t>или</a:t>
                </a:r>
                <a:r>
                  <a:rPr lang="en-US" dirty="0"/>
                  <a:t> SJF.</a:t>
                </a:r>
              </a:p>
              <a:p>
                <a:r>
                  <a:rPr lang="en-US" dirty="0" err="1"/>
                  <a:t>Планировщик</a:t>
                </a:r>
                <a:r>
                  <a:rPr lang="en-US" dirty="0"/>
                  <a:t> </a:t>
                </a:r>
                <a:r>
                  <a:rPr lang="en-US" dirty="0" err="1"/>
                  <a:t>выбирает</a:t>
                </a:r>
                <a:r>
                  <a:rPr lang="en-US" dirty="0"/>
                  <a:t> </a:t>
                </a:r>
                <a:r>
                  <a:rPr lang="en-US" dirty="0" err="1"/>
                  <a:t>из</a:t>
                </a:r>
                <a:r>
                  <a:rPr lang="en-US" dirty="0"/>
                  <a:t> </a:t>
                </a:r>
                <a:r>
                  <a:rPr lang="en-US" dirty="0" err="1"/>
                  <a:t>очереди</a:t>
                </a:r>
                <a:r>
                  <a:rPr lang="en-US" dirty="0"/>
                  <a:t> </a:t>
                </a:r>
                <a:r>
                  <a:rPr lang="en-US" dirty="0" err="1"/>
                  <a:t>готовых</a:t>
                </a:r>
                <a:r>
                  <a:rPr lang="en-US" dirty="0"/>
                  <a:t> </a:t>
                </a:r>
                <a:r>
                  <a:rPr lang="en-US" dirty="0" err="1"/>
                  <a:t>задач</a:t>
                </a:r>
                <a:r>
                  <a:rPr lang="en-US" dirty="0"/>
                  <a:t> </a:t>
                </a:r>
                <a:r>
                  <a:rPr lang="en-US" dirty="0" err="1"/>
                  <a:t>ту</a:t>
                </a:r>
                <a:r>
                  <a:rPr lang="en-US" dirty="0"/>
                  <a:t>, у </a:t>
                </a:r>
                <a:r>
                  <a:rPr lang="en-US" dirty="0" err="1"/>
                  <a:t>которой</a:t>
                </a:r>
                <a:r>
                  <a:rPr lang="en-US" dirty="0"/>
                  <a:t> </a:t>
                </a:r>
                <a:r>
                  <a:rPr lang="en-US" dirty="0" err="1"/>
                  <a:t>ожидаемая</a:t>
                </a:r>
                <a:r>
                  <a:rPr lang="en-US" dirty="0"/>
                  <a:t> </a:t>
                </a:r>
                <a:r>
                  <a:rPr lang="en-US" dirty="0" err="1"/>
                  <a:t>продолжительность</a:t>
                </a:r>
                <a:r>
                  <a:rPr lang="en-US" dirty="0"/>
                  <a:t> </a:t>
                </a:r>
                <a:r>
                  <a:rPr lang="en-US" dirty="0" err="1"/>
                  <a:t>следующего</a:t>
                </a:r>
                <a:r>
                  <a:rPr lang="en-US" dirty="0"/>
                  <a:t> CPU Burst </a:t>
                </a:r>
                <a:r>
                  <a:rPr lang="en-US" dirty="0" err="1"/>
                  <a:t>минимальна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Как</a:t>
                </a:r>
                <a:r>
                  <a:rPr lang="en-US" dirty="0"/>
                  <a:t> и FCFS, </a:t>
                </a:r>
                <a:r>
                  <a:rPr lang="en-US" dirty="0" err="1"/>
                  <a:t>классический</a:t>
                </a:r>
                <a:r>
                  <a:rPr lang="en-US" dirty="0"/>
                  <a:t> SJF </a:t>
                </a:r>
                <a:r>
                  <a:rPr lang="en-US" dirty="0" err="1"/>
                  <a:t>является</a:t>
                </a:r>
                <a:r>
                  <a:rPr lang="en-US" dirty="0"/>
                  <a:t> </a:t>
                </a:r>
                <a:r>
                  <a:rPr lang="en-US" dirty="0" err="1"/>
                  <a:t>невытесняющим</a:t>
                </a:r>
                <a:r>
                  <a:rPr lang="en-US" dirty="0"/>
                  <a:t> </a:t>
                </a:r>
                <a:r>
                  <a:rPr lang="en-US" dirty="0" err="1"/>
                  <a:t>алгоритмом</a:t>
                </a:r>
                <a:r>
                  <a:rPr lang="en-US" dirty="0"/>
                  <a:t>. </a:t>
                </a:r>
                <a:r>
                  <a:rPr lang="en-US" dirty="0" err="1"/>
                  <a:t>После</a:t>
                </a:r>
                <a:r>
                  <a:rPr lang="en-US" dirty="0"/>
                  <a:t> </a:t>
                </a:r>
                <a:r>
                  <a:rPr lang="en-US" dirty="0" err="1"/>
                  <a:t>выбора</a:t>
                </a:r>
                <a:r>
                  <a:rPr lang="en-US" dirty="0"/>
                  <a:t> </a:t>
                </a:r>
                <a:r>
                  <a:rPr lang="en-US" dirty="0" err="1"/>
                  <a:t>задача</a:t>
                </a:r>
                <a:r>
                  <a:rPr lang="en-US" dirty="0"/>
                  <a:t> </a:t>
                </a:r>
                <a:r>
                  <a:rPr lang="en-US" dirty="0" err="1"/>
                  <a:t>выполняется</a:t>
                </a:r>
                <a:r>
                  <a:rPr lang="en-US" dirty="0"/>
                  <a:t> </a:t>
                </a:r>
                <a:r>
                  <a:rPr lang="en-US" dirty="0" err="1"/>
                  <a:t>до</a:t>
                </a:r>
                <a:r>
                  <a:rPr lang="en-US" dirty="0"/>
                  <a:t> </a:t>
                </a:r>
                <a:r>
                  <a:rPr lang="en-US" dirty="0" err="1"/>
                  <a:t>завершения</a:t>
                </a:r>
                <a:r>
                  <a:rPr lang="en-US" dirty="0"/>
                  <a:t> </a:t>
                </a:r>
                <a:r>
                  <a:rPr lang="en-US" dirty="0" err="1"/>
                  <a:t>своего</a:t>
                </a:r>
                <a:r>
                  <a:rPr lang="en-US" dirty="0"/>
                  <a:t> </a:t>
                </a:r>
                <a:r>
                  <a:rPr lang="en-US" dirty="0" err="1"/>
                  <a:t>вычислительного</a:t>
                </a:r>
                <a:r>
                  <a:rPr lang="en-US" dirty="0"/>
                  <a:t> </a:t>
                </a:r>
                <a:r>
                  <a:rPr lang="en-US" dirty="0" err="1"/>
                  <a:t>участка</a:t>
                </a:r>
                <a:r>
                  <a:rPr lang="en-US" dirty="0"/>
                  <a:t> </a:t>
                </a:r>
                <a:r>
                  <a:rPr lang="en-US" dirty="0" err="1"/>
                  <a:t>или</a:t>
                </a:r>
                <a:r>
                  <a:rPr lang="en-US" dirty="0"/>
                  <a:t> </a:t>
                </a:r>
                <a:r>
                  <a:rPr lang="en-US" dirty="0" err="1"/>
                  <a:t>блокировки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 err="1"/>
                  <a:t>Посмотрим</a:t>
                </a:r>
                <a:r>
                  <a:rPr lang="en-US" dirty="0"/>
                  <a:t>,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получится</a:t>
                </a:r>
                <a:r>
                  <a:rPr lang="en-US" dirty="0"/>
                  <a:t> в </a:t>
                </a:r>
                <a:r>
                  <a:rPr lang="en-US" dirty="0" err="1"/>
                  <a:t>нашем</a:t>
                </a:r>
                <a:r>
                  <a:rPr lang="en-US" dirty="0"/>
                  <a:t> </a:t>
                </a:r>
                <a:r>
                  <a:rPr lang="en-US" dirty="0" err="1"/>
                  <a:t>примере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Самые</a:t>
                </a:r>
                <a:r>
                  <a:rPr lang="en-US" dirty="0"/>
                  <a:t> </a:t>
                </a:r>
                <a:r>
                  <a:rPr lang="en-US" dirty="0" err="1"/>
                  <a:t>короткие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 — B, C и D. </a:t>
                </a:r>
                <a:r>
                  <a:rPr lang="en-US" dirty="0" err="1"/>
                  <a:t>Каждой</a:t>
                </a:r>
                <a:r>
                  <a:rPr lang="en-US" dirty="0"/>
                  <a:t> </a:t>
                </a:r>
                <a:r>
                  <a:rPr lang="en-US" dirty="0" err="1"/>
                  <a:t>требуется</a:t>
                </a:r>
                <a:r>
                  <a:rPr lang="en-US" dirty="0"/>
                  <a:t> </a:t>
                </a:r>
                <a:r>
                  <a:rPr lang="en-US" dirty="0" err="1"/>
                  <a:t>по</a:t>
                </a:r>
                <a:r>
                  <a:rPr lang="en-US" dirty="0"/>
                  <a:t> 4 </a:t>
                </a:r>
                <a:r>
                  <a:rPr lang="en-US" dirty="0" err="1"/>
                  <a:t>миллисекунды</a:t>
                </a:r>
                <a:r>
                  <a:rPr lang="en-US" dirty="0"/>
                  <a:t> CPU.</a:t>
                </a:r>
              </a:p>
              <a:p>
                <a:endParaRPr lang="en-US" dirty="0"/>
              </a:p>
              <a:p>
                <a:r>
                  <a:rPr lang="en-US" dirty="0" err="1"/>
                  <a:t>Поэтому</a:t>
                </a:r>
                <a:r>
                  <a:rPr lang="en-US" dirty="0"/>
                  <a:t> </a:t>
                </a:r>
                <a:r>
                  <a:rPr lang="en-US" dirty="0" err="1"/>
                  <a:t>сначала</a:t>
                </a:r>
                <a:r>
                  <a:rPr lang="en-US" dirty="0"/>
                  <a:t> </a:t>
                </a:r>
                <a:r>
                  <a:rPr lang="en-US" dirty="0" err="1"/>
                  <a:t>выполняются</a:t>
                </a:r>
                <a:r>
                  <a:rPr lang="en-US" dirty="0"/>
                  <a:t> </a:t>
                </a:r>
                <a:r>
                  <a:rPr lang="en-US" dirty="0" err="1"/>
                  <a:t>они</a:t>
                </a:r>
                <a:r>
                  <a:rPr lang="en-US" dirty="0"/>
                  <a:t>, а </a:t>
                </a:r>
                <a:r>
                  <a:rPr lang="en-US" dirty="0" err="1"/>
                  <a:t>задача</a:t>
                </a:r>
                <a:r>
                  <a:rPr lang="en-US" dirty="0"/>
                  <a:t> A, </a:t>
                </a:r>
                <a:r>
                  <a:rPr lang="en-US" dirty="0" err="1"/>
                  <a:t>которой</a:t>
                </a:r>
                <a:r>
                  <a:rPr lang="en-US" dirty="0"/>
                  <a:t> </a:t>
                </a:r>
                <a:r>
                  <a:rPr lang="en-US" dirty="0" err="1"/>
                  <a:t>требуется</a:t>
                </a:r>
                <a:r>
                  <a:rPr lang="en-US" dirty="0"/>
                  <a:t> 8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, </a:t>
                </a:r>
                <a:r>
                  <a:rPr lang="en-US" dirty="0" err="1"/>
                  <a:t>запускается</a:t>
                </a:r>
                <a:r>
                  <a:rPr lang="en-US" dirty="0"/>
                  <a:t> </a:t>
                </a:r>
                <a:r>
                  <a:rPr lang="en-US" dirty="0" err="1"/>
                  <a:t>последней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Получаем</a:t>
                </a:r>
                <a:r>
                  <a:rPr lang="en-US" dirty="0"/>
                  <a:t> </a:t>
                </a:r>
                <a:r>
                  <a:rPr lang="en-US" dirty="0" err="1"/>
                  <a:t>следующий</a:t>
                </a:r>
                <a:r>
                  <a:rPr lang="en-US" dirty="0"/>
                  <a:t> </a:t>
                </a:r>
                <a:r>
                  <a:rPr lang="en-US" dirty="0" err="1"/>
                  <a:t>порядок</a:t>
                </a:r>
                <a:r>
                  <a:rPr lang="en-US" dirty="0"/>
                  <a:t>: B, C, D, A.</a:t>
                </a:r>
              </a:p>
              <a:p>
                <a:endParaRPr lang="en-US" dirty="0"/>
              </a:p>
              <a:p>
                <a:r>
                  <a:rPr lang="en-US" dirty="0" err="1"/>
                  <a:t>Посчитаем</a:t>
                </a:r>
                <a:r>
                  <a:rPr lang="en-US" dirty="0"/>
                  <a:t>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ожидания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B </a:t>
                </a:r>
                <a:r>
                  <a:rPr lang="en-US" dirty="0" err="1"/>
                  <a:t>запускается</a:t>
                </a:r>
                <a:r>
                  <a:rPr lang="en-US" dirty="0"/>
                  <a:t> </a:t>
                </a:r>
                <a:r>
                  <a:rPr lang="en-US" dirty="0" err="1"/>
                  <a:t>немедленно</a:t>
                </a:r>
                <a:r>
                  <a:rPr lang="en-US" dirty="0"/>
                  <a:t> и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ждёт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C </a:t>
                </a:r>
                <a:r>
                  <a:rPr lang="en-US" dirty="0" err="1"/>
                  <a:t>ожидает</a:t>
                </a:r>
                <a:r>
                  <a:rPr lang="en-US" dirty="0"/>
                  <a:t> 4 </a:t>
                </a:r>
                <a:r>
                  <a:rPr lang="en-US" dirty="0" err="1"/>
                  <a:t>миллисекунды</a:t>
                </a:r>
                <a:r>
                  <a:rPr lang="en-US" dirty="0"/>
                  <a:t>, D — 8, A — 12.</a:t>
                </a:r>
              </a:p>
              <a:p>
                <a:r>
                  <a:rPr lang="en-US" dirty="0" err="1"/>
                  <a:t>Среднее</a:t>
                </a:r>
                <a:r>
                  <a:rPr lang="en-US" dirty="0"/>
                  <a:t>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ожидания</a:t>
                </a:r>
                <a:r>
                  <a:rPr lang="en-US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0" smtClean="0">
                              <a:latin typeface="Cambria Math" panose="02040503050406030204" pitchFamily="18" charset="0"/>
                            </a:rPr>
                            <m:t>+4+8+12</m:t>
                          </m:r>
                        </m:num>
                        <m:den>
                          <m:r>
                            <a:rPr lang="en-US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i="0" smtClean="0">
                          <a:latin typeface="Cambria Math" panose="02040503050406030204" pitchFamily="18" charset="0"/>
                        </a:rPr>
                        <m:t>=6</m:t>
                      </m:r>
                      <m:r>
                        <m:rPr>
                          <m:nor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 мс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 err="1"/>
                  <a:t>Напомню</a:t>
                </a:r>
                <a:r>
                  <a:rPr lang="en-US" dirty="0"/>
                  <a:t>,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для</a:t>
                </a:r>
                <a:r>
                  <a:rPr lang="en-US" dirty="0"/>
                  <a:t> FCFS </a:t>
                </a:r>
                <a:r>
                  <a:rPr lang="en-US" dirty="0" err="1"/>
                  <a:t>мы</a:t>
                </a:r>
                <a:r>
                  <a:rPr lang="en-US" dirty="0"/>
                  <a:t> </a:t>
                </a:r>
                <a:r>
                  <a:rPr lang="en-US" dirty="0" err="1"/>
                  <a:t>получили</a:t>
                </a:r>
                <a:r>
                  <a:rPr lang="en-US" dirty="0"/>
                  <a:t> 9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Теперь</a:t>
                </a:r>
                <a:r>
                  <a:rPr lang="en-US" dirty="0"/>
                  <a:t> </a:t>
                </a:r>
                <a:r>
                  <a:rPr lang="en-US" dirty="0" err="1"/>
                  <a:t>вычислим</a:t>
                </a:r>
                <a:r>
                  <a:rPr lang="en-US" dirty="0"/>
                  <a:t> </a:t>
                </a:r>
                <a:r>
                  <a:rPr lang="en-US" dirty="0" err="1"/>
                  <a:t>среднее</a:t>
                </a:r>
                <a:r>
                  <a:rPr lang="en-US" dirty="0"/>
                  <a:t> Turnaround Time.</a:t>
                </a:r>
              </a:p>
              <a:p>
                <a:r>
                  <a:rPr lang="en-US" dirty="0" err="1"/>
                  <a:t>Задачи</a:t>
                </a:r>
                <a:r>
                  <a:rPr lang="en-US" dirty="0"/>
                  <a:t> </a:t>
                </a:r>
                <a:r>
                  <a:rPr lang="en-US" dirty="0" err="1"/>
                  <a:t>завершаются</a:t>
                </a:r>
                <a:r>
                  <a:rPr lang="en-US" dirty="0"/>
                  <a:t> в </a:t>
                </a:r>
                <a:r>
                  <a:rPr lang="en-US" dirty="0" err="1"/>
                  <a:t>моменты</a:t>
                </a:r>
                <a:r>
                  <a:rPr lang="en-US" dirty="0"/>
                  <a:t> 4, 8, 12 и 20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i="0" smtClean="0">
                              <a:latin typeface="Cambria Math" panose="02040503050406030204" pitchFamily="18" charset="0"/>
                            </a:rPr>
                            <m:t>+8+12+20</m:t>
                          </m:r>
                        </m:num>
                        <m:den>
                          <m:r>
                            <a:rPr lang="en-US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i="0" smtClean="0">
                          <a:latin typeface="Cambria Math" panose="02040503050406030204" pitchFamily="18" charset="0"/>
                        </a:rPr>
                        <m:t>=11</m:t>
                      </m:r>
                      <m:r>
                        <m:rPr>
                          <m:nor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 мс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 err="1"/>
                  <a:t>Получается</a:t>
                </a:r>
                <a:r>
                  <a:rPr lang="en-US" dirty="0"/>
                  <a:t> </a:t>
                </a:r>
                <a:r>
                  <a:rPr lang="en-US" dirty="0" err="1"/>
                  <a:t>интересный</a:t>
                </a:r>
                <a:r>
                  <a:rPr lang="en-US" dirty="0"/>
                  <a:t> </a:t>
                </a:r>
                <a:r>
                  <a:rPr lang="en-US" dirty="0" err="1"/>
                  <a:t>результат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 err="1"/>
                  <a:t>Мы</a:t>
                </a:r>
                <a:r>
                  <a:rPr lang="en-US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ускоряли</a:t>
                </a:r>
                <a:r>
                  <a:rPr lang="en-US" dirty="0"/>
                  <a:t> </a:t>
                </a:r>
                <a:r>
                  <a:rPr lang="en-US" dirty="0" err="1"/>
                  <a:t>процессор</a:t>
                </a:r>
                <a:r>
                  <a:rPr lang="en-US" dirty="0"/>
                  <a:t>,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уменьшали</a:t>
                </a:r>
                <a:r>
                  <a:rPr lang="en-US" dirty="0"/>
                  <a:t> </a:t>
                </a:r>
                <a:r>
                  <a:rPr lang="en-US" dirty="0" err="1"/>
                  <a:t>объём</a:t>
                </a:r>
                <a:r>
                  <a:rPr lang="en-US" dirty="0"/>
                  <a:t> </a:t>
                </a:r>
                <a:r>
                  <a:rPr lang="en-US" dirty="0" err="1"/>
                  <a:t>вычислений</a:t>
                </a:r>
                <a:r>
                  <a:rPr lang="en-US" dirty="0"/>
                  <a:t> и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добавляли</a:t>
                </a:r>
                <a:r>
                  <a:rPr lang="en-US" dirty="0"/>
                  <a:t> </a:t>
                </a:r>
                <a:r>
                  <a:rPr lang="en-US" dirty="0" err="1"/>
                  <a:t>дополнительные</a:t>
                </a:r>
                <a:r>
                  <a:rPr lang="en-US" dirty="0"/>
                  <a:t> </a:t>
                </a:r>
                <a:r>
                  <a:rPr lang="en-US" dirty="0" err="1"/>
                  <a:t>ядра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 err="1"/>
                  <a:t>Мы</a:t>
                </a:r>
                <a:r>
                  <a:rPr lang="en-US" dirty="0"/>
                  <a:t> </a:t>
                </a:r>
                <a:r>
                  <a:rPr lang="en-US" dirty="0" err="1"/>
                  <a:t>просто</a:t>
                </a:r>
                <a:r>
                  <a:rPr lang="en-US" dirty="0"/>
                  <a:t> </a:t>
                </a:r>
                <a:r>
                  <a:rPr lang="en-US" dirty="0" err="1"/>
                  <a:t>поменяли</a:t>
                </a:r>
                <a:r>
                  <a:rPr lang="en-US" dirty="0"/>
                  <a:t> </a:t>
                </a:r>
                <a:r>
                  <a:rPr lang="en-US" dirty="0" err="1"/>
                  <a:t>порядок</a:t>
                </a:r>
                <a:r>
                  <a:rPr lang="en-US" dirty="0"/>
                  <a:t> </a:t>
                </a:r>
                <a:r>
                  <a:rPr lang="en-US" dirty="0" err="1"/>
                  <a:t>выполнения</a:t>
                </a:r>
                <a:r>
                  <a:rPr lang="en-US" dirty="0"/>
                  <a:t> </a:t>
                </a:r>
                <a:r>
                  <a:rPr lang="en-US" dirty="0" err="1"/>
                  <a:t>задач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При</a:t>
                </a:r>
                <a:r>
                  <a:rPr lang="en-US" dirty="0"/>
                  <a:t> </a:t>
                </a:r>
                <a:r>
                  <a:rPr lang="en-US" dirty="0" err="1"/>
                  <a:t>этом</a:t>
                </a:r>
                <a:r>
                  <a:rPr lang="en-US" dirty="0"/>
                  <a:t> </a:t>
                </a:r>
                <a:r>
                  <a:rPr lang="en-US" dirty="0" err="1"/>
                  <a:t>среднее</a:t>
                </a:r>
                <a:r>
                  <a:rPr lang="en-US" dirty="0"/>
                  <a:t>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ожидания</a:t>
                </a:r>
                <a:r>
                  <a:rPr lang="en-US" dirty="0"/>
                  <a:t> </a:t>
                </a:r>
                <a:r>
                  <a:rPr lang="en-US" dirty="0" err="1"/>
                  <a:t>уменьшилось</a:t>
                </a:r>
                <a:r>
                  <a:rPr lang="en-US" dirty="0"/>
                  <a:t> с 9 </a:t>
                </a:r>
                <a:r>
                  <a:rPr lang="en-US" dirty="0" err="1"/>
                  <a:t>до</a:t>
                </a:r>
                <a:r>
                  <a:rPr lang="en-US" dirty="0"/>
                  <a:t> 6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, а </a:t>
                </a:r>
                <a:r>
                  <a:rPr lang="en-US" dirty="0" err="1"/>
                  <a:t>среднее</a:t>
                </a:r>
                <a:r>
                  <a:rPr lang="en-US" dirty="0"/>
                  <a:t>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завершения</a:t>
                </a:r>
                <a:r>
                  <a:rPr lang="en-US" dirty="0"/>
                  <a:t> — с 14 </a:t>
                </a:r>
                <a:r>
                  <a:rPr lang="en-US" dirty="0" err="1"/>
                  <a:t>до</a:t>
                </a:r>
                <a:r>
                  <a:rPr lang="en-US" dirty="0"/>
                  <a:t> 11.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Для</a:t>
                </a:r>
                <a:r>
                  <a:rPr lang="en-US" dirty="0"/>
                  <a:t> </a:t>
                </a:r>
                <a:r>
                  <a:rPr lang="en-US" dirty="0" err="1"/>
                  <a:t>набора</a:t>
                </a:r>
                <a:r>
                  <a:rPr lang="en-US" dirty="0"/>
                  <a:t> </a:t>
                </a:r>
                <a:r>
                  <a:rPr lang="en-US" dirty="0" err="1"/>
                  <a:t>одновременно</a:t>
                </a:r>
                <a:r>
                  <a:rPr lang="en-US" dirty="0"/>
                  <a:t> </a:t>
                </a:r>
                <a:r>
                  <a:rPr lang="en-US" dirty="0" err="1"/>
                  <a:t>поступивших</a:t>
                </a:r>
                <a:r>
                  <a:rPr lang="en-US" dirty="0"/>
                  <a:t> </a:t>
                </a:r>
                <a:r>
                  <a:rPr lang="en-US" dirty="0" err="1"/>
                  <a:t>независимых</a:t>
                </a:r>
                <a:r>
                  <a:rPr lang="en-US" dirty="0"/>
                  <a:t> </a:t>
                </a:r>
                <a:r>
                  <a:rPr lang="en-US" dirty="0" err="1"/>
                  <a:t>задач</a:t>
                </a:r>
                <a:r>
                  <a:rPr lang="en-US" dirty="0"/>
                  <a:t> с </a:t>
                </a:r>
                <a:r>
                  <a:rPr lang="en-US" dirty="0" err="1"/>
                  <a:t>известными</a:t>
                </a:r>
                <a:r>
                  <a:rPr lang="en-US" dirty="0"/>
                  <a:t> </a:t>
                </a:r>
                <a:r>
                  <a:rPr lang="en-US" dirty="0" err="1"/>
                  <a:t>длительностями</a:t>
                </a:r>
                <a:r>
                  <a:rPr lang="en-US" dirty="0"/>
                  <a:t> SJF </a:t>
                </a:r>
                <a:r>
                  <a:rPr lang="en-US" dirty="0" err="1"/>
                  <a:t>действительно</a:t>
                </a:r>
                <a:r>
                  <a:rPr lang="en-US" dirty="0"/>
                  <a:t> </a:t>
                </a:r>
                <a:r>
                  <a:rPr lang="en-US" dirty="0" err="1"/>
                  <a:t>минимизирует</a:t>
                </a:r>
                <a:r>
                  <a:rPr lang="en-US" dirty="0"/>
                  <a:t> </a:t>
                </a:r>
                <a:r>
                  <a:rPr lang="en-US" dirty="0" err="1"/>
                  <a:t>среднее</a:t>
                </a:r>
                <a:r>
                  <a:rPr lang="en-US" dirty="0"/>
                  <a:t>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ожидания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Интуитивно</a:t>
                </a:r>
                <a:r>
                  <a:rPr lang="en-US" dirty="0"/>
                  <a:t> </a:t>
                </a:r>
                <a:r>
                  <a:rPr lang="en-US" dirty="0" err="1"/>
                  <a:t>это</a:t>
                </a:r>
                <a:r>
                  <a:rPr lang="en-US" dirty="0"/>
                  <a:t> </a:t>
                </a:r>
                <a:r>
                  <a:rPr lang="en-US" dirty="0" err="1"/>
                  <a:t>можно</a:t>
                </a:r>
                <a:r>
                  <a:rPr lang="en-US" dirty="0"/>
                  <a:t> </a:t>
                </a:r>
                <a:r>
                  <a:rPr lang="en-US" dirty="0" err="1"/>
                  <a:t>объяснить</a:t>
                </a:r>
                <a:r>
                  <a:rPr lang="en-US" dirty="0"/>
                  <a:t> </a:t>
                </a:r>
                <a:r>
                  <a:rPr lang="en-US" dirty="0" err="1"/>
                  <a:t>так</a:t>
                </a:r>
                <a:r>
                  <a:rPr lang="en-US" dirty="0"/>
                  <a:t>: </a:t>
                </a:r>
                <a:r>
                  <a:rPr lang="en-US" dirty="0" err="1"/>
                  <a:t>если</a:t>
                </a:r>
                <a:r>
                  <a:rPr lang="en-US" dirty="0"/>
                  <a:t> </a:t>
                </a:r>
                <a:r>
                  <a:rPr lang="en-US" dirty="0" err="1"/>
                  <a:t>сначала</a:t>
                </a:r>
                <a:r>
                  <a:rPr lang="en-US" dirty="0"/>
                  <a:t> </a:t>
                </a:r>
                <a:r>
                  <a:rPr lang="en-US" dirty="0" err="1"/>
                  <a:t>выполнить</a:t>
                </a:r>
                <a:r>
                  <a:rPr lang="en-US" dirty="0"/>
                  <a:t> </a:t>
                </a:r>
                <a:r>
                  <a:rPr lang="en-US" dirty="0" err="1"/>
                  <a:t>длинную</a:t>
                </a:r>
                <a:r>
                  <a:rPr lang="en-US" dirty="0"/>
                  <a:t> </a:t>
                </a:r>
                <a:r>
                  <a:rPr lang="en-US" dirty="0" err="1"/>
                  <a:t>задачу</a:t>
                </a:r>
                <a:r>
                  <a:rPr lang="en-US" dirty="0"/>
                  <a:t>, </a:t>
                </a:r>
                <a:r>
                  <a:rPr lang="en-US" dirty="0" err="1"/>
                  <a:t>все</a:t>
                </a:r>
                <a:r>
                  <a:rPr lang="en-US" dirty="0"/>
                  <a:t> </a:t>
                </a:r>
                <a:r>
                  <a:rPr lang="en-US" dirty="0" err="1"/>
                  <a:t>стоящие</a:t>
                </a:r>
                <a:r>
                  <a:rPr lang="en-US" dirty="0"/>
                  <a:t> </a:t>
                </a:r>
                <a:r>
                  <a:rPr lang="en-US" dirty="0" err="1"/>
                  <a:t>за</a:t>
                </a:r>
                <a:r>
                  <a:rPr lang="en-US" dirty="0"/>
                  <a:t> </a:t>
                </a:r>
                <a:r>
                  <a:rPr lang="en-US" dirty="0" err="1"/>
                  <a:t>ней</a:t>
                </a:r>
                <a:r>
                  <a:rPr lang="en-US" dirty="0"/>
                  <a:t> </a:t>
                </a:r>
                <a:r>
                  <a:rPr lang="en-US" dirty="0" err="1"/>
                  <a:t>короткие</a:t>
                </a:r>
                <a:r>
                  <a:rPr lang="en-US" dirty="0"/>
                  <a:t> </a:t>
                </a:r>
                <a:r>
                  <a:rPr lang="en-US" dirty="0" err="1"/>
                  <a:t>будут</a:t>
                </a:r>
                <a:r>
                  <a:rPr lang="en-US" dirty="0"/>
                  <a:t> </a:t>
                </a:r>
                <a:r>
                  <a:rPr lang="en-US" dirty="0" err="1"/>
                  <a:t>ждать</a:t>
                </a:r>
                <a:r>
                  <a:rPr lang="en-US" dirty="0"/>
                  <a:t> </a:t>
                </a:r>
                <a:r>
                  <a:rPr lang="en-US" dirty="0" err="1"/>
                  <a:t>дольше</a:t>
                </a:r>
                <a:r>
                  <a:rPr lang="en-US" dirty="0"/>
                  <a:t>. </a:t>
                </a:r>
                <a:r>
                  <a:rPr lang="en-US" dirty="0" err="1"/>
                  <a:t>Если</a:t>
                </a:r>
                <a:r>
                  <a:rPr lang="en-US" dirty="0"/>
                  <a:t> </a:t>
                </a:r>
                <a:r>
                  <a:rPr lang="en-US" dirty="0" err="1"/>
                  <a:t>поменять</a:t>
                </a:r>
                <a:r>
                  <a:rPr lang="en-US" dirty="0"/>
                  <a:t> </a:t>
                </a:r>
                <a:r>
                  <a:rPr lang="en-US" dirty="0" err="1"/>
                  <a:t>длинную</a:t>
                </a:r>
                <a:r>
                  <a:rPr lang="en-US" dirty="0"/>
                  <a:t> и </a:t>
                </a:r>
                <a:r>
                  <a:rPr lang="en-US" dirty="0" err="1"/>
                  <a:t>короткую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 </a:t>
                </a:r>
                <a:r>
                  <a:rPr lang="en-US" dirty="0" err="1"/>
                  <a:t>местами</a:t>
                </a:r>
                <a:r>
                  <a:rPr lang="en-US" dirty="0"/>
                  <a:t>, </a:t>
                </a:r>
                <a:r>
                  <a:rPr lang="en-US" dirty="0" err="1"/>
                  <a:t>длинная</a:t>
                </a:r>
                <a:r>
                  <a:rPr lang="en-US" dirty="0"/>
                  <a:t> </a:t>
                </a:r>
                <a:r>
                  <a:rPr lang="en-US" dirty="0" err="1"/>
                  <a:t>подождёт</a:t>
                </a:r>
                <a:r>
                  <a:rPr lang="en-US" dirty="0"/>
                  <a:t> </a:t>
                </a:r>
                <a:r>
                  <a:rPr lang="en-US" dirty="0" err="1"/>
                  <a:t>немного</a:t>
                </a:r>
                <a:r>
                  <a:rPr lang="en-US" dirty="0"/>
                  <a:t> </a:t>
                </a:r>
                <a:r>
                  <a:rPr lang="en-US" dirty="0" err="1"/>
                  <a:t>больше</a:t>
                </a:r>
                <a:r>
                  <a:rPr lang="en-US" dirty="0"/>
                  <a:t>, </a:t>
                </a:r>
                <a:r>
                  <a:rPr lang="en-US" dirty="0" err="1"/>
                  <a:t>зато</a:t>
                </a:r>
                <a:r>
                  <a:rPr lang="en-US" dirty="0"/>
                  <a:t> </a:t>
                </a:r>
                <a:r>
                  <a:rPr lang="en-US" dirty="0" err="1"/>
                  <a:t>короткая</a:t>
                </a:r>
                <a:r>
                  <a:rPr lang="en-US" dirty="0"/>
                  <a:t> </a:t>
                </a:r>
                <a:r>
                  <a:rPr lang="en-US" dirty="0" err="1"/>
                  <a:t>завершится</a:t>
                </a:r>
                <a:r>
                  <a:rPr lang="en-US" dirty="0"/>
                  <a:t> </a:t>
                </a:r>
                <a:r>
                  <a:rPr lang="en-US" dirty="0" err="1"/>
                  <a:t>значительно</a:t>
                </a:r>
                <a:r>
                  <a:rPr lang="en-US" dirty="0"/>
                  <a:t> </a:t>
                </a:r>
                <a:r>
                  <a:rPr lang="en-US" dirty="0" err="1"/>
                  <a:t>раньше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 err="1"/>
                  <a:t>Но</a:t>
                </a:r>
                <a:r>
                  <a:rPr lang="en-US" dirty="0"/>
                  <a:t> у SJF </a:t>
                </a:r>
                <a:r>
                  <a:rPr lang="en-US" dirty="0" err="1"/>
                  <a:t>есть</a:t>
                </a:r>
                <a:r>
                  <a:rPr lang="en-US" dirty="0"/>
                  <a:t> </a:t>
                </a:r>
                <a:r>
                  <a:rPr lang="en-US" dirty="0" err="1"/>
                  <a:t>существенная</a:t>
                </a:r>
                <a:r>
                  <a:rPr lang="en-US" dirty="0"/>
                  <a:t> </a:t>
                </a:r>
                <a:r>
                  <a:rPr lang="en-US" dirty="0" err="1"/>
                  <a:t>проблема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Откуда</a:t>
                </a:r>
                <a:r>
                  <a:rPr lang="en-US" dirty="0"/>
                  <a:t> </a:t>
                </a:r>
                <a:r>
                  <a:rPr lang="en-US" dirty="0" err="1"/>
                  <a:t>планировщику</a:t>
                </a:r>
                <a:r>
                  <a:rPr lang="en-US" dirty="0"/>
                  <a:t> </a:t>
                </a:r>
                <a:r>
                  <a:rPr lang="en-US" dirty="0" err="1"/>
                  <a:t>знать</a:t>
                </a:r>
                <a:r>
                  <a:rPr lang="en-US" dirty="0"/>
                  <a:t>, </a:t>
                </a:r>
                <a:r>
                  <a:rPr lang="en-US" dirty="0" err="1"/>
                  <a:t>сколько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 </a:t>
                </a:r>
                <a:r>
                  <a:rPr lang="en-US" dirty="0" err="1"/>
                  <a:t>задача</a:t>
                </a:r>
                <a:r>
                  <a:rPr lang="en-US" dirty="0"/>
                  <a:t> </a:t>
                </a:r>
                <a:r>
                  <a:rPr lang="en-US" dirty="0" err="1"/>
                  <a:t>будет</a:t>
                </a:r>
                <a:r>
                  <a:rPr lang="en-US" dirty="0"/>
                  <a:t> </a:t>
                </a:r>
                <a:r>
                  <a:rPr lang="en-US" dirty="0" err="1"/>
                  <a:t>выполняться</a:t>
                </a:r>
                <a:r>
                  <a:rPr lang="en-US" dirty="0"/>
                  <a:t>?</a:t>
                </a:r>
              </a:p>
              <a:p>
                <a:endParaRPr lang="en-US" dirty="0"/>
              </a:p>
              <a:p>
                <a:r>
                  <a:rPr lang="en-US" dirty="0" err="1"/>
                  <a:t>Для</a:t>
                </a:r>
                <a:r>
                  <a:rPr lang="en-US" dirty="0"/>
                  <a:t> </a:t>
                </a:r>
                <a:r>
                  <a:rPr lang="en-US" dirty="0" err="1"/>
                  <a:t>произвольной</a:t>
                </a:r>
                <a:r>
                  <a:rPr lang="en-US" dirty="0"/>
                  <a:t> </a:t>
                </a:r>
                <a:r>
                  <a:rPr lang="en-US" dirty="0" err="1"/>
                  <a:t>программы</a:t>
                </a:r>
                <a:r>
                  <a:rPr lang="en-US" dirty="0"/>
                  <a:t> </a:t>
                </a:r>
                <a:r>
                  <a:rPr lang="en-US" dirty="0" err="1"/>
                  <a:t>заранее</a:t>
                </a:r>
                <a:r>
                  <a:rPr lang="en-US" dirty="0"/>
                  <a:t> </a:t>
                </a:r>
                <a:r>
                  <a:rPr lang="en-US" dirty="0" err="1"/>
                  <a:t>определить</a:t>
                </a:r>
                <a:r>
                  <a:rPr lang="en-US" dirty="0"/>
                  <a:t> </a:t>
                </a:r>
                <a:r>
                  <a:rPr lang="en-US" dirty="0" err="1"/>
                  <a:t>продолжительность</a:t>
                </a:r>
                <a:r>
                  <a:rPr lang="en-US" dirty="0"/>
                  <a:t> </a:t>
                </a:r>
                <a:r>
                  <a:rPr lang="en-US" dirty="0" err="1"/>
                  <a:t>следующего</a:t>
                </a:r>
                <a:r>
                  <a:rPr lang="en-US" dirty="0"/>
                  <a:t> CPU Burst </a:t>
                </a:r>
                <a:r>
                  <a:rPr lang="en-US" dirty="0" err="1"/>
                  <a:t>обычно</a:t>
                </a:r>
                <a:r>
                  <a:rPr lang="en-US" dirty="0"/>
                  <a:t> </a:t>
                </a:r>
                <a:r>
                  <a:rPr lang="en-US" dirty="0" err="1"/>
                  <a:t>невозможно</a:t>
                </a:r>
                <a:r>
                  <a:rPr lang="en-US" dirty="0"/>
                  <a:t>. </a:t>
                </a:r>
                <a:r>
                  <a:rPr lang="en-US" dirty="0" err="1"/>
                  <a:t>Можно</a:t>
                </a:r>
                <a:r>
                  <a:rPr lang="en-US" dirty="0"/>
                  <a:t> </a:t>
                </a:r>
                <a:r>
                  <a:rPr lang="en-US" dirty="0" err="1"/>
                  <a:t>лишь</a:t>
                </a:r>
                <a:r>
                  <a:rPr lang="en-US" dirty="0"/>
                  <a:t> </a:t>
                </a:r>
                <a:r>
                  <a:rPr lang="en-US" dirty="0" err="1"/>
                  <a:t>пытаться</a:t>
                </a:r>
                <a:r>
                  <a:rPr lang="en-US" dirty="0"/>
                  <a:t> </a:t>
                </a:r>
                <a:r>
                  <a:rPr lang="en-US" dirty="0" err="1"/>
                  <a:t>прогнозировать</a:t>
                </a:r>
                <a:r>
                  <a:rPr lang="en-US" dirty="0"/>
                  <a:t> </a:t>
                </a:r>
                <a:r>
                  <a:rPr lang="en-US" dirty="0" err="1"/>
                  <a:t>её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основе</a:t>
                </a:r>
                <a:r>
                  <a:rPr lang="en-US" dirty="0"/>
                  <a:t> </a:t>
                </a:r>
                <a:r>
                  <a:rPr lang="en-US" dirty="0" err="1"/>
                  <a:t>предыдущего</a:t>
                </a:r>
                <a:r>
                  <a:rPr lang="en-US" dirty="0"/>
                  <a:t> </a:t>
                </a:r>
                <a:r>
                  <a:rPr lang="en-US" dirty="0" err="1"/>
                  <a:t>поведения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 err="1"/>
                  <a:t>Кроме</a:t>
                </a:r>
                <a:r>
                  <a:rPr lang="en-US" dirty="0"/>
                  <a:t> </a:t>
                </a:r>
                <a:r>
                  <a:rPr lang="en-US" dirty="0" err="1"/>
                  <a:t>того</a:t>
                </a:r>
                <a:r>
                  <a:rPr lang="en-US" dirty="0"/>
                  <a:t>, </a:t>
                </a:r>
                <a:r>
                  <a:rPr lang="en-US" dirty="0" err="1"/>
                  <a:t>длинная</a:t>
                </a:r>
                <a:r>
                  <a:rPr lang="en-US" dirty="0"/>
                  <a:t> </a:t>
                </a:r>
                <a:r>
                  <a:rPr lang="en-US" dirty="0" err="1"/>
                  <a:t>задача</a:t>
                </a:r>
                <a:r>
                  <a:rPr lang="en-US" dirty="0"/>
                  <a:t> </a:t>
                </a:r>
                <a:r>
                  <a:rPr lang="en-US" dirty="0" err="1"/>
                  <a:t>рискует</a:t>
                </a:r>
                <a:r>
                  <a:rPr lang="en-US" dirty="0"/>
                  <a:t> </a:t>
                </a:r>
                <a:r>
                  <a:rPr lang="en-US" dirty="0" err="1"/>
                  <a:t>долго</a:t>
                </a:r>
                <a:r>
                  <a:rPr lang="en-US" dirty="0"/>
                  <a:t> </a:t>
                </a:r>
                <a:r>
                  <a:rPr lang="en-US" dirty="0" err="1"/>
                  <a:t>ждать</a:t>
                </a:r>
                <a:r>
                  <a:rPr lang="en-US" dirty="0"/>
                  <a:t>, </a:t>
                </a:r>
                <a:r>
                  <a:rPr lang="en-US" dirty="0" err="1"/>
                  <a:t>если</a:t>
                </a:r>
                <a:r>
                  <a:rPr lang="en-US" dirty="0"/>
                  <a:t> в </a:t>
                </a:r>
                <a:r>
                  <a:rPr lang="en-US" dirty="0" err="1"/>
                  <a:t>систему</a:t>
                </a:r>
                <a:r>
                  <a:rPr lang="en-US" dirty="0"/>
                  <a:t> </a:t>
                </a:r>
                <a:r>
                  <a:rPr lang="en-US" dirty="0" err="1"/>
                  <a:t>постоянно</a:t>
                </a:r>
                <a:r>
                  <a:rPr lang="en-US" dirty="0"/>
                  <a:t> </a:t>
                </a:r>
                <a:r>
                  <a:rPr lang="en-US" dirty="0" err="1"/>
                  <a:t>поступают</a:t>
                </a:r>
                <a:r>
                  <a:rPr lang="en-US" dirty="0"/>
                  <a:t> </a:t>
                </a:r>
                <a:r>
                  <a:rPr lang="en-US" dirty="0" err="1"/>
                  <a:t>короткие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И </a:t>
                </a:r>
                <a:r>
                  <a:rPr lang="en-US" dirty="0" err="1"/>
                  <a:t>ещё</a:t>
                </a:r>
                <a:r>
                  <a:rPr lang="en-US" dirty="0"/>
                  <a:t> </a:t>
                </a:r>
                <a:r>
                  <a:rPr lang="en-US" dirty="0" err="1"/>
                  <a:t>один</a:t>
                </a:r>
                <a:r>
                  <a:rPr lang="en-US" dirty="0"/>
                  <a:t> </a:t>
                </a:r>
                <a:r>
                  <a:rPr lang="en-US" dirty="0" err="1"/>
                  <a:t>вопрос</a:t>
                </a:r>
                <a:r>
                  <a:rPr lang="en-US" dirty="0"/>
                  <a:t>: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произойдёт</a:t>
                </a:r>
                <a:r>
                  <a:rPr lang="en-US" dirty="0"/>
                  <a:t>, </a:t>
                </a:r>
                <a:r>
                  <a:rPr lang="en-US" dirty="0" err="1"/>
                  <a:t>если</a:t>
                </a:r>
                <a:r>
                  <a:rPr lang="en-US" dirty="0"/>
                  <a:t> </a:t>
                </a:r>
                <a:r>
                  <a:rPr lang="en-US" dirty="0" err="1"/>
                  <a:t>длинная</a:t>
                </a:r>
                <a:r>
                  <a:rPr lang="en-US" dirty="0"/>
                  <a:t> </a:t>
                </a:r>
                <a:r>
                  <a:rPr lang="en-US" dirty="0" err="1"/>
                  <a:t>задача</a:t>
                </a:r>
                <a:r>
                  <a:rPr lang="en-US" dirty="0"/>
                  <a:t> </a:t>
                </a:r>
                <a:r>
                  <a:rPr lang="en-US" dirty="0" err="1"/>
                  <a:t>уже</a:t>
                </a:r>
                <a:r>
                  <a:rPr lang="en-US" dirty="0"/>
                  <a:t> </a:t>
                </a:r>
                <a:r>
                  <a:rPr lang="en-US" dirty="0" err="1"/>
                  <a:t>выполняется</a:t>
                </a:r>
                <a:r>
                  <a:rPr lang="en-US" dirty="0"/>
                  <a:t>, а </a:t>
                </a:r>
                <a:r>
                  <a:rPr lang="en-US" dirty="0" err="1"/>
                  <a:t>новая</a:t>
                </a:r>
                <a:r>
                  <a:rPr lang="en-US" dirty="0"/>
                  <a:t> </a:t>
                </a:r>
                <a:r>
                  <a:rPr lang="en-US" dirty="0" err="1"/>
                  <a:t>короткая</a:t>
                </a:r>
                <a:r>
                  <a:rPr lang="en-US" dirty="0"/>
                  <a:t> </a:t>
                </a:r>
                <a:r>
                  <a:rPr lang="en-US" dirty="0" err="1"/>
                  <a:t>задача</a:t>
                </a:r>
                <a:r>
                  <a:rPr lang="en-US" dirty="0"/>
                  <a:t> </a:t>
                </a:r>
                <a:r>
                  <a:rPr lang="en-US" dirty="0" err="1"/>
                  <a:t>только</a:t>
                </a:r>
                <a:r>
                  <a:rPr lang="en-US" dirty="0"/>
                  <a:t>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появилась</a:t>
                </a:r>
                <a:r>
                  <a:rPr lang="en-US" dirty="0"/>
                  <a:t>?</a:t>
                </a:r>
              </a:p>
              <a:p>
                <a:endParaRPr lang="en-US" dirty="0"/>
              </a:p>
              <a:p>
                <a:r>
                  <a:rPr lang="en-US" dirty="0" err="1"/>
                  <a:t>Обычный</a:t>
                </a:r>
                <a:r>
                  <a:rPr lang="en-US" dirty="0"/>
                  <a:t> SJF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станет</a:t>
                </a:r>
                <a:r>
                  <a:rPr lang="en-US" dirty="0"/>
                  <a:t> </a:t>
                </a:r>
                <a:r>
                  <a:rPr lang="en-US" dirty="0" err="1"/>
                  <a:t>прерывать</a:t>
                </a:r>
                <a:r>
                  <a:rPr lang="en-US" dirty="0"/>
                  <a:t> </a:t>
                </a:r>
                <a:r>
                  <a:rPr lang="en-US" dirty="0" err="1"/>
                  <a:t>выполнение</a:t>
                </a:r>
                <a:r>
                  <a:rPr lang="en-US" dirty="0"/>
                  <a:t>. </a:t>
                </a:r>
                <a:r>
                  <a:rPr lang="en-US" dirty="0" err="1"/>
                  <a:t>Но</a:t>
                </a:r>
                <a:r>
                  <a:rPr lang="en-US" dirty="0"/>
                  <a:t> </a:t>
                </a:r>
                <a:r>
                  <a:rPr lang="en-US" dirty="0" err="1"/>
                  <a:t>существует</a:t>
                </a:r>
                <a:r>
                  <a:rPr lang="en-US" dirty="0"/>
                  <a:t> </a:t>
                </a:r>
                <a:r>
                  <a:rPr lang="en-US" dirty="0" err="1"/>
                  <a:t>его</a:t>
                </a:r>
                <a:r>
                  <a:rPr lang="en-US" dirty="0"/>
                  <a:t> </a:t>
                </a:r>
                <a:r>
                  <a:rPr lang="en-US" dirty="0" err="1"/>
                  <a:t>вытесняющий</a:t>
                </a:r>
                <a:r>
                  <a:rPr lang="en-US" dirty="0"/>
                  <a:t> </a:t>
                </a:r>
                <a:r>
                  <a:rPr lang="en-US" dirty="0" err="1"/>
                  <a:t>вариант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err="1"/>
                  <a:t>Давайте</a:t>
                </a:r>
                <a:r>
                  <a:rPr lang="en-US" dirty="0"/>
                  <a:t> </a:t>
                </a:r>
                <a:r>
                  <a:rPr lang="en-US" dirty="0" err="1"/>
                  <a:t>попробуем</a:t>
                </a:r>
                <a:r>
                  <a:rPr lang="en-US" dirty="0"/>
                  <a:t> </a:t>
                </a:r>
                <a:r>
                  <a:rPr lang="en-US" dirty="0" err="1"/>
                  <a:t>улучшить</a:t>
                </a:r>
                <a:r>
                  <a:rPr lang="en-US" dirty="0"/>
                  <a:t> </a:t>
                </a:r>
                <a:r>
                  <a:rPr lang="en-US" dirty="0" err="1"/>
                  <a:t>предыдущий</a:t>
                </a:r>
                <a:r>
                  <a:rPr lang="en-US" dirty="0"/>
                  <a:t> </a:t>
                </a:r>
                <a:r>
                  <a:rPr lang="en-US" dirty="0" err="1"/>
                  <a:t>алгоритм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 err="1"/>
                  <a:t>Мы</a:t>
                </a:r>
                <a:r>
                  <a:rPr lang="en-US" dirty="0"/>
                  <a:t> </a:t>
                </a:r>
                <a:r>
                  <a:rPr lang="en-US" dirty="0" err="1"/>
                  <a:t>заметили</a:t>
                </a:r>
                <a:r>
                  <a:rPr lang="en-US" dirty="0"/>
                  <a:t>,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длинная</a:t>
                </a:r>
                <a:r>
                  <a:rPr lang="en-US" dirty="0"/>
                  <a:t> </a:t>
                </a:r>
                <a:r>
                  <a:rPr lang="en-US" dirty="0" err="1"/>
                  <a:t>задача</a:t>
                </a:r>
                <a:r>
                  <a:rPr lang="en-US" dirty="0"/>
                  <a:t> A </a:t>
                </a:r>
                <a:r>
                  <a:rPr lang="en-US" dirty="0" err="1"/>
                  <a:t>задерживает</a:t>
                </a:r>
                <a:r>
                  <a:rPr lang="en-US" dirty="0"/>
                  <a:t> </a:t>
                </a:r>
                <a:r>
                  <a:rPr lang="en-US" dirty="0" err="1"/>
                  <a:t>выполнение</a:t>
                </a:r>
                <a:r>
                  <a:rPr lang="en-US" dirty="0"/>
                  <a:t> </a:t>
                </a:r>
                <a:r>
                  <a:rPr lang="en-US" dirty="0" err="1"/>
                  <a:t>трёх</a:t>
                </a:r>
                <a:r>
                  <a:rPr lang="en-US" dirty="0"/>
                  <a:t> </a:t>
                </a:r>
                <a:r>
                  <a:rPr lang="en-US" dirty="0" err="1"/>
                  <a:t>коротких</a:t>
                </a:r>
                <a:r>
                  <a:rPr lang="en-US" dirty="0"/>
                  <a:t> </a:t>
                </a:r>
                <a:r>
                  <a:rPr lang="en-US" dirty="0" err="1"/>
                  <a:t>задач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Возникает</a:t>
                </a:r>
                <a:r>
                  <a:rPr lang="en-US" dirty="0"/>
                  <a:t> </a:t>
                </a:r>
                <a:r>
                  <a:rPr lang="en-US" dirty="0" err="1"/>
                  <a:t>идея</a:t>
                </a:r>
                <a:r>
                  <a:rPr lang="en-US" dirty="0"/>
                  <a:t>: </a:t>
                </a:r>
                <a:r>
                  <a:rPr lang="en-US" dirty="0" err="1"/>
                  <a:t>почему</a:t>
                </a:r>
                <a:r>
                  <a:rPr lang="en-US" dirty="0"/>
                  <a:t> </a:t>
                </a:r>
                <a:r>
                  <a:rPr lang="en-US" dirty="0" err="1"/>
                  <a:t>бы</a:t>
                </a:r>
                <a:r>
                  <a:rPr lang="en-US" dirty="0"/>
                  <a:t> </a:t>
                </a:r>
                <a:r>
                  <a:rPr lang="en-US" dirty="0" err="1"/>
                  <a:t>сначала</a:t>
                </a:r>
                <a:r>
                  <a:rPr lang="en-US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выполнять</a:t>
                </a:r>
                <a:r>
                  <a:rPr lang="en-US" dirty="0"/>
                  <a:t> </a:t>
                </a:r>
                <a:r>
                  <a:rPr lang="en-US" dirty="0" err="1"/>
                  <a:t>короткие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, а </a:t>
                </a:r>
                <a:r>
                  <a:rPr lang="en-US" dirty="0" err="1"/>
                  <a:t>уже</a:t>
                </a:r>
                <a:r>
                  <a:rPr lang="en-US" dirty="0"/>
                  <a:t> </a:t>
                </a:r>
                <a:r>
                  <a:rPr lang="en-US" dirty="0" err="1"/>
                  <a:t>потом</a:t>
                </a:r>
                <a:r>
                  <a:rPr lang="en-US" dirty="0"/>
                  <a:t> </a:t>
                </a:r>
                <a:r>
                  <a:rPr lang="en-US" dirty="0" err="1"/>
                  <a:t>длинные</a:t>
                </a:r>
                <a:r>
                  <a:rPr lang="en-US" dirty="0"/>
                  <a:t>?</a:t>
                </a:r>
              </a:p>
              <a:p>
                <a:endParaRPr lang="en-US" dirty="0"/>
              </a:p>
              <a:p>
                <a:r>
                  <a:rPr lang="en-US" dirty="0" err="1"/>
                  <a:t>Именно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этом</a:t>
                </a:r>
                <a:r>
                  <a:rPr lang="en-US" dirty="0"/>
                  <a:t> </a:t>
                </a:r>
                <a:r>
                  <a:rPr lang="en-US" dirty="0" err="1"/>
                  <a:t>принципе</a:t>
                </a:r>
                <a:r>
                  <a:rPr lang="en-US" dirty="0"/>
                  <a:t> </a:t>
                </a:r>
                <a:r>
                  <a:rPr lang="en-US" dirty="0" err="1"/>
                  <a:t>основан</a:t>
                </a:r>
                <a:r>
                  <a:rPr lang="en-US" dirty="0"/>
                  <a:t> Shortest Job First, </a:t>
                </a:r>
                <a:r>
                  <a:rPr lang="en-US" dirty="0" err="1"/>
                  <a:t>или</a:t>
                </a:r>
                <a:r>
                  <a:rPr lang="en-US" dirty="0"/>
                  <a:t> SJF.</a:t>
                </a:r>
              </a:p>
              <a:p>
                <a:r>
                  <a:rPr lang="en-US" dirty="0" err="1"/>
                  <a:t>Планировщик</a:t>
                </a:r>
                <a:r>
                  <a:rPr lang="en-US" dirty="0"/>
                  <a:t> </a:t>
                </a:r>
                <a:r>
                  <a:rPr lang="en-US" dirty="0" err="1"/>
                  <a:t>выбирает</a:t>
                </a:r>
                <a:r>
                  <a:rPr lang="en-US" dirty="0"/>
                  <a:t> </a:t>
                </a:r>
                <a:r>
                  <a:rPr lang="en-US" dirty="0" err="1"/>
                  <a:t>из</a:t>
                </a:r>
                <a:r>
                  <a:rPr lang="en-US" dirty="0"/>
                  <a:t> </a:t>
                </a:r>
                <a:r>
                  <a:rPr lang="en-US" dirty="0" err="1"/>
                  <a:t>очереди</a:t>
                </a:r>
                <a:r>
                  <a:rPr lang="en-US" dirty="0"/>
                  <a:t> </a:t>
                </a:r>
                <a:r>
                  <a:rPr lang="en-US" dirty="0" err="1"/>
                  <a:t>готовых</a:t>
                </a:r>
                <a:r>
                  <a:rPr lang="en-US" dirty="0"/>
                  <a:t> </a:t>
                </a:r>
                <a:r>
                  <a:rPr lang="en-US" dirty="0" err="1"/>
                  <a:t>задач</a:t>
                </a:r>
                <a:r>
                  <a:rPr lang="en-US" dirty="0"/>
                  <a:t> </a:t>
                </a:r>
                <a:r>
                  <a:rPr lang="en-US" dirty="0" err="1"/>
                  <a:t>ту</a:t>
                </a:r>
                <a:r>
                  <a:rPr lang="en-US" dirty="0"/>
                  <a:t>, у </a:t>
                </a:r>
                <a:r>
                  <a:rPr lang="en-US" dirty="0" err="1"/>
                  <a:t>которой</a:t>
                </a:r>
                <a:r>
                  <a:rPr lang="en-US" dirty="0"/>
                  <a:t> </a:t>
                </a:r>
                <a:r>
                  <a:rPr lang="en-US" dirty="0" err="1"/>
                  <a:t>ожидаемая</a:t>
                </a:r>
                <a:r>
                  <a:rPr lang="en-US" dirty="0"/>
                  <a:t> </a:t>
                </a:r>
                <a:r>
                  <a:rPr lang="en-US" dirty="0" err="1"/>
                  <a:t>продолжительность</a:t>
                </a:r>
                <a:r>
                  <a:rPr lang="en-US" dirty="0"/>
                  <a:t> </a:t>
                </a:r>
                <a:r>
                  <a:rPr lang="en-US" dirty="0" err="1"/>
                  <a:t>следующего</a:t>
                </a:r>
                <a:r>
                  <a:rPr lang="en-US" dirty="0"/>
                  <a:t> CPU Burst </a:t>
                </a:r>
                <a:r>
                  <a:rPr lang="en-US" dirty="0" err="1"/>
                  <a:t>минимальна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Как</a:t>
                </a:r>
                <a:r>
                  <a:rPr lang="en-US" dirty="0"/>
                  <a:t> и FCFS, </a:t>
                </a:r>
                <a:r>
                  <a:rPr lang="en-US" dirty="0" err="1"/>
                  <a:t>классический</a:t>
                </a:r>
                <a:r>
                  <a:rPr lang="en-US" dirty="0"/>
                  <a:t> SJF </a:t>
                </a:r>
                <a:r>
                  <a:rPr lang="en-US" dirty="0" err="1"/>
                  <a:t>является</a:t>
                </a:r>
                <a:r>
                  <a:rPr lang="en-US" dirty="0"/>
                  <a:t> </a:t>
                </a:r>
                <a:r>
                  <a:rPr lang="en-US" dirty="0" err="1"/>
                  <a:t>невытесняющим</a:t>
                </a:r>
                <a:r>
                  <a:rPr lang="en-US" dirty="0"/>
                  <a:t> </a:t>
                </a:r>
                <a:r>
                  <a:rPr lang="en-US" dirty="0" err="1"/>
                  <a:t>алгоритмом</a:t>
                </a:r>
                <a:r>
                  <a:rPr lang="en-US" dirty="0"/>
                  <a:t>. </a:t>
                </a:r>
                <a:r>
                  <a:rPr lang="en-US" dirty="0" err="1"/>
                  <a:t>После</a:t>
                </a:r>
                <a:r>
                  <a:rPr lang="en-US" dirty="0"/>
                  <a:t> </a:t>
                </a:r>
                <a:r>
                  <a:rPr lang="en-US" dirty="0" err="1"/>
                  <a:t>выбора</a:t>
                </a:r>
                <a:r>
                  <a:rPr lang="en-US" dirty="0"/>
                  <a:t> </a:t>
                </a:r>
                <a:r>
                  <a:rPr lang="en-US" dirty="0" err="1"/>
                  <a:t>задача</a:t>
                </a:r>
                <a:r>
                  <a:rPr lang="en-US" dirty="0"/>
                  <a:t> </a:t>
                </a:r>
                <a:r>
                  <a:rPr lang="en-US" dirty="0" err="1"/>
                  <a:t>выполняется</a:t>
                </a:r>
                <a:r>
                  <a:rPr lang="en-US" dirty="0"/>
                  <a:t> </a:t>
                </a:r>
                <a:r>
                  <a:rPr lang="en-US" dirty="0" err="1"/>
                  <a:t>до</a:t>
                </a:r>
                <a:r>
                  <a:rPr lang="en-US" dirty="0"/>
                  <a:t> </a:t>
                </a:r>
                <a:r>
                  <a:rPr lang="en-US" dirty="0" err="1"/>
                  <a:t>завершения</a:t>
                </a:r>
                <a:r>
                  <a:rPr lang="en-US" dirty="0"/>
                  <a:t> </a:t>
                </a:r>
                <a:r>
                  <a:rPr lang="en-US" dirty="0" err="1"/>
                  <a:t>своего</a:t>
                </a:r>
                <a:r>
                  <a:rPr lang="en-US" dirty="0"/>
                  <a:t> </a:t>
                </a:r>
                <a:r>
                  <a:rPr lang="en-US" dirty="0" err="1"/>
                  <a:t>вычислительного</a:t>
                </a:r>
                <a:r>
                  <a:rPr lang="en-US" dirty="0"/>
                  <a:t> </a:t>
                </a:r>
                <a:r>
                  <a:rPr lang="en-US" dirty="0" err="1"/>
                  <a:t>участка</a:t>
                </a:r>
                <a:r>
                  <a:rPr lang="en-US" dirty="0"/>
                  <a:t> </a:t>
                </a:r>
                <a:r>
                  <a:rPr lang="en-US" dirty="0" err="1"/>
                  <a:t>или</a:t>
                </a:r>
                <a:r>
                  <a:rPr lang="en-US" dirty="0"/>
                  <a:t> </a:t>
                </a:r>
                <a:r>
                  <a:rPr lang="en-US" dirty="0" err="1"/>
                  <a:t>блокировки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 err="1"/>
                  <a:t>Посмотрим</a:t>
                </a:r>
                <a:r>
                  <a:rPr lang="en-US" dirty="0"/>
                  <a:t>,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получится</a:t>
                </a:r>
                <a:r>
                  <a:rPr lang="en-US" dirty="0"/>
                  <a:t> в </a:t>
                </a:r>
                <a:r>
                  <a:rPr lang="en-US" dirty="0" err="1"/>
                  <a:t>нашем</a:t>
                </a:r>
                <a:r>
                  <a:rPr lang="en-US" dirty="0"/>
                  <a:t> </a:t>
                </a:r>
                <a:r>
                  <a:rPr lang="en-US" dirty="0" err="1"/>
                  <a:t>примере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Самые</a:t>
                </a:r>
                <a:r>
                  <a:rPr lang="en-US" dirty="0"/>
                  <a:t> </a:t>
                </a:r>
                <a:r>
                  <a:rPr lang="en-US" dirty="0" err="1"/>
                  <a:t>короткие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 — B, C и D. </a:t>
                </a:r>
                <a:r>
                  <a:rPr lang="en-US" dirty="0" err="1"/>
                  <a:t>Каждой</a:t>
                </a:r>
                <a:r>
                  <a:rPr lang="en-US" dirty="0"/>
                  <a:t> </a:t>
                </a:r>
                <a:r>
                  <a:rPr lang="en-US" dirty="0" err="1"/>
                  <a:t>требуется</a:t>
                </a:r>
                <a:r>
                  <a:rPr lang="en-US" dirty="0"/>
                  <a:t> </a:t>
                </a:r>
                <a:r>
                  <a:rPr lang="en-US" dirty="0" err="1"/>
                  <a:t>по</a:t>
                </a:r>
                <a:r>
                  <a:rPr lang="en-US" dirty="0"/>
                  <a:t> 4 </a:t>
                </a:r>
                <a:r>
                  <a:rPr lang="en-US" dirty="0" err="1"/>
                  <a:t>миллисекунды</a:t>
                </a:r>
                <a:r>
                  <a:rPr lang="en-US" dirty="0"/>
                  <a:t> CPU.</a:t>
                </a:r>
              </a:p>
              <a:p>
                <a:endParaRPr lang="en-US" dirty="0"/>
              </a:p>
              <a:p>
                <a:r>
                  <a:rPr lang="en-US" dirty="0" err="1"/>
                  <a:t>Поэтому</a:t>
                </a:r>
                <a:r>
                  <a:rPr lang="en-US" dirty="0"/>
                  <a:t> </a:t>
                </a:r>
                <a:r>
                  <a:rPr lang="en-US" dirty="0" err="1"/>
                  <a:t>сначала</a:t>
                </a:r>
                <a:r>
                  <a:rPr lang="en-US" dirty="0"/>
                  <a:t> </a:t>
                </a:r>
                <a:r>
                  <a:rPr lang="en-US" dirty="0" err="1"/>
                  <a:t>выполняются</a:t>
                </a:r>
                <a:r>
                  <a:rPr lang="en-US" dirty="0"/>
                  <a:t> </a:t>
                </a:r>
                <a:r>
                  <a:rPr lang="en-US" dirty="0" err="1"/>
                  <a:t>они</a:t>
                </a:r>
                <a:r>
                  <a:rPr lang="en-US" dirty="0"/>
                  <a:t>, а </a:t>
                </a:r>
                <a:r>
                  <a:rPr lang="en-US" dirty="0" err="1"/>
                  <a:t>задача</a:t>
                </a:r>
                <a:r>
                  <a:rPr lang="en-US" dirty="0"/>
                  <a:t> A, </a:t>
                </a:r>
                <a:r>
                  <a:rPr lang="en-US" dirty="0" err="1"/>
                  <a:t>которой</a:t>
                </a:r>
                <a:r>
                  <a:rPr lang="en-US" dirty="0"/>
                  <a:t> </a:t>
                </a:r>
                <a:r>
                  <a:rPr lang="en-US" dirty="0" err="1"/>
                  <a:t>требуется</a:t>
                </a:r>
                <a:r>
                  <a:rPr lang="en-US" dirty="0"/>
                  <a:t> 8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, </a:t>
                </a:r>
                <a:r>
                  <a:rPr lang="en-US" dirty="0" err="1"/>
                  <a:t>запускается</a:t>
                </a:r>
                <a:r>
                  <a:rPr lang="en-US" dirty="0"/>
                  <a:t> </a:t>
                </a:r>
                <a:r>
                  <a:rPr lang="en-US" dirty="0" err="1"/>
                  <a:t>последней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Получаем</a:t>
                </a:r>
                <a:r>
                  <a:rPr lang="en-US" dirty="0"/>
                  <a:t> </a:t>
                </a:r>
                <a:r>
                  <a:rPr lang="en-US" dirty="0" err="1"/>
                  <a:t>следующий</a:t>
                </a:r>
                <a:r>
                  <a:rPr lang="en-US" dirty="0"/>
                  <a:t> </a:t>
                </a:r>
                <a:r>
                  <a:rPr lang="en-US" dirty="0" err="1"/>
                  <a:t>порядок</a:t>
                </a:r>
                <a:r>
                  <a:rPr lang="en-US" dirty="0"/>
                  <a:t>: B, C, D, A.</a:t>
                </a:r>
              </a:p>
              <a:p>
                <a:endParaRPr lang="en-US" dirty="0"/>
              </a:p>
              <a:p>
                <a:r>
                  <a:rPr lang="en-US" dirty="0" err="1"/>
                  <a:t>Посчитаем</a:t>
                </a:r>
                <a:r>
                  <a:rPr lang="en-US" dirty="0"/>
                  <a:t>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ожидания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B </a:t>
                </a:r>
                <a:r>
                  <a:rPr lang="en-US" dirty="0" err="1"/>
                  <a:t>запускается</a:t>
                </a:r>
                <a:r>
                  <a:rPr lang="en-US" dirty="0"/>
                  <a:t> </a:t>
                </a:r>
                <a:r>
                  <a:rPr lang="en-US" dirty="0" err="1"/>
                  <a:t>немедленно</a:t>
                </a:r>
                <a:r>
                  <a:rPr lang="en-US" dirty="0"/>
                  <a:t> и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ждёт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C </a:t>
                </a:r>
                <a:r>
                  <a:rPr lang="en-US" dirty="0" err="1"/>
                  <a:t>ожидает</a:t>
                </a:r>
                <a:r>
                  <a:rPr lang="en-US" dirty="0"/>
                  <a:t> 4 </a:t>
                </a:r>
                <a:r>
                  <a:rPr lang="en-US" dirty="0" err="1"/>
                  <a:t>миллисекунды</a:t>
                </a:r>
                <a:r>
                  <a:rPr lang="en-US" dirty="0"/>
                  <a:t>, D — 8, A — 12.</a:t>
                </a:r>
              </a:p>
              <a:p>
                <a:r>
                  <a:rPr lang="en-US" dirty="0" err="1"/>
                  <a:t>Среднее</a:t>
                </a:r>
                <a:r>
                  <a:rPr lang="en-US" dirty="0"/>
                  <a:t>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ожидания</a:t>
                </a:r>
                <a:r>
                  <a:rPr lang="en-US" dirty="0"/>
                  <a:t>:</a:t>
                </a:r>
              </a:p>
              <a:p>
                <a:pPr/>
                <a:r>
                  <a:rPr lang="en-US" i="0">
                    <a:latin typeface="Cambria Math" panose="02040503050406030204" pitchFamily="18" charset="0"/>
                  </a:rPr>
                  <a:t>(0+4+8+12)/4=6" мс"</a:t>
                </a:r>
                <a:endParaRPr lang="en-US" dirty="0"/>
              </a:p>
              <a:p>
                <a:r>
                  <a:rPr lang="en-US" dirty="0" err="1"/>
                  <a:t>Напомню</a:t>
                </a:r>
                <a:r>
                  <a:rPr lang="en-US" dirty="0"/>
                  <a:t>,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для</a:t>
                </a:r>
                <a:r>
                  <a:rPr lang="en-US" dirty="0"/>
                  <a:t> FCFS </a:t>
                </a:r>
                <a:r>
                  <a:rPr lang="en-US" dirty="0" err="1"/>
                  <a:t>мы</a:t>
                </a:r>
                <a:r>
                  <a:rPr lang="en-US" dirty="0"/>
                  <a:t> </a:t>
                </a:r>
                <a:r>
                  <a:rPr lang="en-US" dirty="0" err="1"/>
                  <a:t>получили</a:t>
                </a:r>
                <a:r>
                  <a:rPr lang="en-US" dirty="0"/>
                  <a:t> 9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Теперь</a:t>
                </a:r>
                <a:r>
                  <a:rPr lang="en-US" dirty="0"/>
                  <a:t> </a:t>
                </a:r>
                <a:r>
                  <a:rPr lang="en-US" dirty="0" err="1"/>
                  <a:t>вычислим</a:t>
                </a:r>
                <a:r>
                  <a:rPr lang="en-US" dirty="0"/>
                  <a:t> </a:t>
                </a:r>
                <a:r>
                  <a:rPr lang="en-US" dirty="0" err="1"/>
                  <a:t>среднее</a:t>
                </a:r>
                <a:r>
                  <a:rPr lang="en-US" dirty="0"/>
                  <a:t> Turnaround Time.</a:t>
                </a:r>
              </a:p>
              <a:p>
                <a:r>
                  <a:rPr lang="en-US" dirty="0" err="1"/>
                  <a:t>Задачи</a:t>
                </a:r>
                <a:r>
                  <a:rPr lang="en-US" dirty="0"/>
                  <a:t> </a:t>
                </a:r>
                <a:r>
                  <a:rPr lang="en-US" dirty="0" err="1"/>
                  <a:t>завершаются</a:t>
                </a:r>
                <a:r>
                  <a:rPr lang="en-US" dirty="0"/>
                  <a:t> в </a:t>
                </a:r>
                <a:r>
                  <a:rPr lang="en-US" dirty="0" err="1"/>
                  <a:t>моменты</a:t>
                </a:r>
                <a:r>
                  <a:rPr lang="en-US" dirty="0"/>
                  <a:t> 4, 8, 12 и 20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.</a:t>
                </a:r>
              </a:p>
              <a:p>
                <a:pPr/>
                <a:r>
                  <a:rPr lang="en-US" i="0">
                    <a:latin typeface="Cambria Math" panose="02040503050406030204" pitchFamily="18" charset="0"/>
                  </a:rPr>
                  <a:t>(4+8+12+20)/4=11" мс"</a:t>
                </a:r>
                <a:endParaRPr lang="en-US" dirty="0"/>
              </a:p>
              <a:p>
                <a:r>
                  <a:rPr lang="en-US" dirty="0" err="1"/>
                  <a:t>Получается</a:t>
                </a:r>
                <a:r>
                  <a:rPr lang="en-US" dirty="0"/>
                  <a:t> </a:t>
                </a:r>
                <a:r>
                  <a:rPr lang="en-US" dirty="0" err="1"/>
                  <a:t>интересный</a:t>
                </a:r>
                <a:r>
                  <a:rPr lang="en-US" dirty="0"/>
                  <a:t> </a:t>
                </a:r>
                <a:r>
                  <a:rPr lang="en-US" dirty="0" err="1"/>
                  <a:t>результат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 err="1"/>
                  <a:t>Мы</a:t>
                </a:r>
                <a:r>
                  <a:rPr lang="en-US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ускоряли</a:t>
                </a:r>
                <a:r>
                  <a:rPr lang="en-US" dirty="0"/>
                  <a:t> </a:t>
                </a:r>
                <a:r>
                  <a:rPr lang="en-US" dirty="0" err="1"/>
                  <a:t>процессор</a:t>
                </a:r>
                <a:r>
                  <a:rPr lang="en-US" dirty="0"/>
                  <a:t>,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уменьшали</a:t>
                </a:r>
                <a:r>
                  <a:rPr lang="en-US" dirty="0"/>
                  <a:t> </a:t>
                </a:r>
                <a:r>
                  <a:rPr lang="en-US" dirty="0" err="1"/>
                  <a:t>объём</a:t>
                </a:r>
                <a:r>
                  <a:rPr lang="en-US" dirty="0"/>
                  <a:t> </a:t>
                </a:r>
                <a:r>
                  <a:rPr lang="en-US" dirty="0" err="1"/>
                  <a:t>вычислений</a:t>
                </a:r>
                <a:r>
                  <a:rPr lang="en-US" dirty="0"/>
                  <a:t> и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добавляли</a:t>
                </a:r>
                <a:r>
                  <a:rPr lang="en-US" dirty="0"/>
                  <a:t> </a:t>
                </a:r>
                <a:r>
                  <a:rPr lang="en-US" dirty="0" err="1"/>
                  <a:t>дополнительные</a:t>
                </a:r>
                <a:r>
                  <a:rPr lang="en-US" dirty="0"/>
                  <a:t> </a:t>
                </a:r>
                <a:r>
                  <a:rPr lang="en-US" dirty="0" err="1"/>
                  <a:t>ядра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 err="1"/>
                  <a:t>Мы</a:t>
                </a:r>
                <a:r>
                  <a:rPr lang="en-US" dirty="0"/>
                  <a:t> </a:t>
                </a:r>
                <a:r>
                  <a:rPr lang="en-US" dirty="0" err="1"/>
                  <a:t>просто</a:t>
                </a:r>
                <a:r>
                  <a:rPr lang="en-US" dirty="0"/>
                  <a:t> </a:t>
                </a:r>
                <a:r>
                  <a:rPr lang="en-US" dirty="0" err="1"/>
                  <a:t>поменяли</a:t>
                </a:r>
                <a:r>
                  <a:rPr lang="en-US" dirty="0"/>
                  <a:t> </a:t>
                </a:r>
                <a:r>
                  <a:rPr lang="en-US" dirty="0" err="1"/>
                  <a:t>порядок</a:t>
                </a:r>
                <a:r>
                  <a:rPr lang="en-US" dirty="0"/>
                  <a:t> </a:t>
                </a:r>
                <a:r>
                  <a:rPr lang="en-US" dirty="0" err="1"/>
                  <a:t>выполнения</a:t>
                </a:r>
                <a:r>
                  <a:rPr lang="en-US" dirty="0"/>
                  <a:t> </a:t>
                </a:r>
                <a:r>
                  <a:rPr lang="en-US" dirty="0" err="1"/>
                  <a:t>задач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При</a:t>
                </a:r>
                <a:r>
                  <a:rPr lang="en-US" dirty="0"/>
                  <a:t> </a:t>
                </a:r>
                <a:r>
                  <a:rPr lang="en-US" dirty="0" err="1"/>
                  <a:t>этом</a:t>
                </a:r>
                <a:r>
                  <a:rPr lang="en-US" dirty="0"/>
                  <a:t> </a:t>
                </a:r>
                <a:r>
                  <a:rPr lang="en-US" dirty="0" err="1"/>
                  <a:t>среднее</a:t>
                </a:r>
                <a:r>
                  <a:rPr lang="en-US" dirty="0"/>
                  <a:t>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ожидания</a:t>
                </a:r>
                <a:r>
                  <a:rPr lang="en-US" dirty="0"/>
                  <a:t> </a:t>
                </a:r>
                <a:r>
                  <a:rPr lang="en-US" dirty="0" err="1"/>
                  <a:t>уменьшилось</a:t>
                </a:r>
                <a:r>
                  <a:rPr lang="en-US" dirty="0"/>
                  <a:t> с 9 </a:t>
                </a:r>
                <a:r>
                  <a:rPr lang="en-US" dirty="0" err="1"/>
                  <a:t>до</a:t>
                </a:r>
                <a:r>
                  <a:rPr lang="en-US" dirty="0"/>
                  <a:t> 6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, а </a:t>
                </a:r>
                <a:r>
                  <a:rPr lang="en-US" dirty="0" err="1"/>
                  <a:t>среднее</a:t>
                </a:r>
                <a:r>
                  <a:rPr lang="en-US" dirty="0"/>
                  <a:t>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завершения</a:t>
                </a:r>
                <a:r>
                  <a:rPr lang="en-US" dirty="0"/>
                  <a:t> — с 14 </a:t>
                </a:r>
                <a:r>
                  <a:rPr lang="en-US" dirty="0" err="1"/>
                  <a:t>до</a:t>
                </a:r>
                <a:r>
                  <a:rPr lang="en-US" dirty="0"/>
                  <a:t> 11.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Для</a:t>
                </a:r>
                <a:r>
                  <a:rPr lang="en-US" dirty="0"/>
                  <a:t> </a:t>
                </a:r>
                <a:r>
                  <a:rPr lang="en-US" dirty="0" err="1"/>
                  <a:t>набора</a:t>
                </a:r>
                <a:r>
                  <a:rPr lang="en-US" dirty="0"/>
                  <a:t> </a:t>
                </a:r>
                <a:r>
                  <a:rPr lang="en-US" dirty="0" err="1"/>
                  <a:t>одновременно</a:t>
                </a:r>
                <a:r>
                  <a:rPr lang="en-US" dirty="0"/>
                  <a:t> </a:t>
                </a:r>
                <a:r>
                  <a:rPr lang="en-US" dirty="0" err="1"/>
                  <a:t>поступивших</a:t>
                </a:r>
                <a:r>
                  <a:rPr lang="en-US" dirty="0"/>
                  <a:t> </a:t>
                </a:r>
                <a:r>
                  <a:rPr lang="en-US" dirty="0" err="1"/>
                  <a:t>независимых</a:t>
                </a:r>
                <a:r>
                  <a:rPr lang="en-US" dirty="0"/>
                  <a:t> </a:t>
                </a:r>
                <a:r>
                  <a:rPr lang="en-US" dirty="0" err="1"/>
                  <a:t>задач</a:t>
                </a:r>
                <a:r>
                  <a:rPr lang="en-US" dirty="0"/>
                  <a:t> с </a:t>
                </a:r>
                <a:r>
                  <a:rPr lang="en-US" dirty="0" err="1"/>
                  <a:t>известными</a:t>
                </a:r>
                <a:r>
                  <a:rPr lang="en-US" dirty="0"/>
                  <a:t> </a:t>
                </a:r>
                <a:r>
                  <a:rPr lang="en-US" dirty="0" err="1"/>
                  <a:t>длительностями</a:t>
                </a:r>
                <a:r>
                  <a:rPr lang="en-US" dirty="0"/>
                  <a:t> SJF </a:t>
                </a:r>
                <a:r>
                  <a:rPr lang="en-US" dirty="0" err="1"/>
                  <a:t>действительно</a:t>
                </a:r>
                <a:r>
                  <a:rPr lang="en-US" dirty="0"/>
                  <a:t> </a:t>
                </a:r>
                <a:r>
                  <a:rPr lang="en-US" dirty="0" err="1"/>
                  <a:t>минимизирует</a:t>
                </a:r>
                <a:r>
                  <a:rPr lang="en-US" dirty="0"/>
                  <a:t> </a:t>
                </a:r>
                <a:r>
                  <a:rPr lang="en-US" dirty="0" err="1"/>
                  <a:t>среднее</a:t>
                </a:r>
                <a:r>
                  <a:rPr lang="en-US" dirty="0"/>
                  <a:t>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ожидания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Интуитивно</a:t>
                </a:r>
                <a:r>
                  <a:rPr lang="en-US" dirty="0"/>
                  <a:t> </a:t>
                </a:r>
                <a:r>
                  <a:rPr lang="en-US" dirty="0" err="1"/>
                  <a:t>это</a:t>
                </a:r>
                <a:r>
                  <a:rPr lang="en-US" dirty="0"/>
                  <a:t> </a:t>
                </a:r>
                <a:r>
                  <a:rPr lang="en-US" dirty="0" err="1"/>
                  <a:t>можно</a:t>
                </a:r>
                <a:r>
                  <a:rPr lang="en-US" dirty="0"/>
                  <a:t> </a:t>
                </a:r>
                <a:r>
                  <a:rPr lang="en-US" dirty="0" err="1"/>
                  <a:t>объяснить</a:t>
                </a:r>
                <a:r>
                  <a:rPr lang="en-US" dirty="0"/>
                  <a:t> </a:t>
                </a:r>
                <a:r>
                  <a:rPr lang="en-US" dirty="0" err="1"/>
                  <a:t>так</a:t>
                </a:r>
                <a:r>
                  <a:rPr lang="en-US" dirty="0"/>
                  <a:t>: </a:t>
                </a:r>
                <a:r>
                  <a:rPr lang="en-US" dirty="0" err="1"/>
                  <a:t>если</a:t>
                </a:r>
                <a:r>
                  <a:rPr lang="en-US" dirty="0"/>
                  <a:t> </a:t>
                </a:r>
                <a:r>
                  <a:rPr lang="en-US" dirty="0" err="1"/>
                  <a:t>сначала</a:t>
                </a:r>
                <a:r>
                  <a:rPr lang="en-US" dirty="0"/>
                  <a:t> </a:t>
                </a:r>
                <a:r>
                  <a:rPr lang="en-US" dirty="0" err="1"/>
                  <a:t>выполнить</a:t>
                </a:r>
                <a:r>
                  <a:rPr lang="en-US" dirty="0"/>
                  <a:t> </a:t>
                </a:r>
                <a:r>
                  <a:rPr lang="en-US" dirty="0" err="1"/>
                  <a:t>длинную</a:t>
                </a:r>
                <a:r>
                  <a:rPr lang="en-US" dirty="0"/>
                  <a:t> </a:t>
                </a:r>
                <a:r>
                  <a:rPr lang="en-US" dirty="0" err="1"/>
                  <a:t>задачу</a:t>
                </a:r>
                <a:r>
                  <a:rPr lang="en-US" dirty="0"/>
                  <a:t>, </a:t>
                </a:r>
                <a:r>
                  <a:rPr lang="en-US" dirty="0" err="1"/>
                  <a:t>все</a:t>
                </a:r>
                <a:r>
                  <a:rPr lang="en-US" dirty="0"/>
                  <a:t> </a:t>
                </a:r>
                <a:r>
                  <a:rPr lang="en-US" dirty="0" err="1"/>
                  <a:t>стоящие</a:t>
                </a:r>
                <a:r>
                  <a:rPr lang="en-US" dirty="0"/>
                  <a:t> </a:t>
                </a:r>
                <a:r>
                  <a:rPr lang="en-US" dirty="0" err="1"/>
                  <a:t>за</a:t>
                </a:r>
                <a:r>
                  <a:rPr lang="en-US" dirty="0"/>
                  <a:t> </a:t>
                </a:r>
                <a:r>
                  <a:rPr lang="en-US" dirty="0" err="1"/>
                  <a:t>ней</a:t>
                </a:r>
                <a:r>
                  <a:rPr lang="en-US" dirty="0"/>
                  <a:t> </a:t>
                </a:r>
                <a:r>
                  <a:rPr lang="en-US" dirty="0" err="1"/>
                  <a:t>короткие</a:t>
                </a:r>
                <a:r>
                  <a:rPr lang="en-US" dirty="0"/>
                  <a:t> </a:t>
                </a:r>
                <a:r>
                  <a:rPr lang="en-US" dirty="0" err="1"/>
                  <a:t>будут</a:t>
                </a:r>
                <a:r>
                  <a:rPr lang="en-US" dirty="0"/>
                  <a:t> </a:t>
                </a:r>
                <a:r>
                  <a:rPr lang="en-US" dirty="0" err="1"/>
                  <a:t>ждать</a:t>
                </a:r>
                <a:r>
                  <a:rPr lang="en-US" dirty="0"/>
                  <a:t> </a:t>
                </a:r>
                <a:r>
                  <a:rPr lang="en-US" dirty="0" err="1"/>
                  <a:t>дольше</a:t>
                </a:r>
                <a:r>
                  <a:rPr lang="en-US" dirty="0"/>
                  <a:t>. </a:t>
                </a:r>
                <a:r>
                  <a:rPr lang="en-US" dirty="0" err="1"/>
                  <a:t>Если</a:t>
                </a:r>
                <a:r>
                  <a:rPr lang="en-US" dirty="0"/>
                  <a:t> </a:t>
                </a:r>
                <a:r>
                  <a:rPr lang="en-US" dirty="0" err="1"/>
                  <a:t>поменять</a:t>
                </a:r>
                <a:r>
                  <a:rPr lang="en-US" dirty="0"/>
                  <a:t> </a:t>
                </a:r>
                <a:r>
                  <a:rPr lang="en-US" dirty="0" err="1"/>
                  <a:t>длинную</a:t>
                </a:r>
                <a:r>
                  <a:rPr lang="en-US" dirty="0"/>
                  <a:t> и </a:t>
                </a:r>
                <a:r>
                  <a:rPr lang="en-US" dirty="0" err="1"/>
                  <a:t>короткую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 </a:t>
                </a:r>
                <a:r>
                  <a:rPr lang="en-US" dirty="0" err="1"/>
                  <a:t>местами</a:t>
                </a:r>
                <a:r>
                  <a:rPr lang="en-US" dirty="0"/>
                  <a:t>, </a:t>
                </a:r>
                <a:r>
                  <a:rPr lang="en-US" dirty="0" err="1"/>
                  <a:t>длинная</a:t>
                </a:r>
                <a:r>
                  <a:rPr lang="en-US" dirty="0"/>
                  <a:t> </a:t>
                </a:r>
                <a:r>
                  <a:rPr lang="en-US" dirty="0" err="1"/>
                  <a:t>подождёт</a:t>
                </a:r>
                <a:r>
                  <a:rPr lang="en-US" dirty="0"/>
                  <a:t> </a:t>
                </a:r>
                <a:r>
                  <a:rPr lang="en-US" dirty="0" err="1"/>
                  <a:t>немного</a:t>
                </a:r>
                <a:r>
                  <a:rPr lang="en-US" dirty="0"/>
                  <a:t> </a:t>
                </a:r>
                <a:r>
                  <a:rPr lang="en-US" dirty="0" err="1"/>
                  <a:t>больше</a:t>
                </a:r>
                <a:r>
                  <a:rPr lang="en-US" dirty="0"/>
                  <a:t>, </a:t>
                </a:r>
                <a:r>
                  <a:rPr lang="en-US" dirty="0" err="1"/>
                  <a:t>зато</a:t>
                </a:r>
                <a:r>
                  <a:rPr lang="en-US" dirty="0"/>
                  <a:t> </a:t>
                </a:r>
                <a:r>
                  <a:rPr lang="en-US" dirty="0" err="1"/>
                  <a:t>короткая</a:t>
                </a:r>
                <a:r>
                  <a:rPr lang="en-US" dirty="0"/>
                  <a:t> </a:t>
                </a:r>
                <a:r>
                  <a:rPr lang="en-US" dirty="0" err="1"/>
                  <a:t>завершится</a:t>
                </a:r>
                <a:r>
                  <a:rPr lang="en-US" dirty="0"/>
                  <a:t> </a:t>
                </a:r>
                <a:r>
                  <a:rPr lang="en-US" dirty="0" err="1"/>
                  <a:t>значительно</a:t>
                </a:r>
                <a:r>
                  <a:rPr lang="en-US" dirty="0"/>
                  <a:t> </a:t>
                </a:r>
                <a:r>
                  <a:rPr lang="en-US" dirty="0" err="1"/>
                  <a:t>раньше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 err="1"/>
                  <a:t>Но</a:t>
                </a:r>
                <a:r>
                  <a:rPr lang="en-US" dirty="0"/>
                  <a:t> у SJF </a:t>
                </a:r>
                <a:r>
                  <a:rPr lang="en-US" dirty="0" err="1"/>
                  <a:t>есть</a:t>
                </a:r>
                <a:r>
                  <a:rPr lang="en-US" dirty="0"/>
                  <a:t> </a:t>
                </a:r>
                <a:r>
                  <a:rPr lang="en-US" dirty="0" err="1"/>
                  <a:t>существенная</a:t>
                </a:r>
                <a:r>
                  <a:rPr lang="en-US" dirty="0"/>
                  <a:t> </a:t>
                </a:r>
                <a:r>
                  <a:rPr lang="en-US" dirty="0" err="1"/>
                  <a:t>проблема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Откуда</a:t>
                </a:r>
                <a:r>
                  <a:rPr lang="en-US" dirty="0"/>
                  <a:t> </a:t>
                </a:r>
                <a:r>
                  <a:rPr lang="en-US" dirty="0" err="1"/>
                  <a:t>планировщику</a:t>
                </a:r>
                <a:r>
                  <a:rPr lang="en-US" dirty="0"/>
                  <a:t> </a:t>
                </a:r>
                <a:r>
                  <a:rPr lang="en-US" dirty="0" err="1"/>
                  <a:t>знать</a:t>
                </a:r>
                <a:r>
                  <a:rPr lang="en-US" dirty="0"/>
                  <a:t>, </a:t>
                </a:r>
                <a:r>
                  <a:rPr lang="en-US" dirty="0" err="1"/>
                  <a:t>сколько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 </a:t>
                </a:r>
                <a:r>
                  <a:rPr lang="en-US" dirty="0" err="1"/>
                  <a:t>задача</a:t>
                </a:r>
                <a:r>
                  <a:rPr lang="en-US" dirty="0"/>
                  <a:t> </a:t>
                </a:r>
                <a:r>
                  <a:rPr lang="en-US" dirty="0" err="1"/>
                  <a:t>будет</a:t>
                </a:r>
                <a:r>
                  <a:rPr lang="en-US" dirty="0"/>
                  <a:t> </a:t>
                </a:r>
                <a:r>
                  <a:rPr lang="en-US" dirty="0" err="1"/>
                  <a:t>выполняться</a:t>
                </a:r>
                <a:r>
                  <a:rPr lang="en-US" dirty="0"/>
                  <a:t>?</a:t>
                </a:r>
              </a:p>
              <a:p>
                <a:endParaRPr lang="en-US" dirty="0"/>
              </a:p>
              <a:p>
                <a:r>
                  <a:rPr lang="en-US" dirty="0" err="1"/>
                  <a:t>Для</a:t>
                </a:r>
                <a:r>
                  <a:rPr lang="en-US" dirty="0"/>
                  <a:t> </a:t>
                </a:r>
                <a:r>
                  <a:rPr lang="en-US" dirty="0" err="1"/>
                  <a:t>произвольной</a:t>
                </a:r>
                <a:r>
                  <a:rPr lang="en-US" dirty="0"/>
                  <a:t> </a:t>
                </a:r>
                <a:r>
                  <a:rPr lang="en-US" dirty="0" err="1"/>
                  <a:t>программы</a:t>
                </a:r>
                <a:r>
                  <a:rPr lang="en-US" dirty="0"/>
                  <a:t> </a:t>
                </a:r>
                <a:r>
                  <a:rPr lang="en-US" dirty="0" err="1"/>
                  <a:t>заранее</a:t>
                </a:r>
                <a:r>
                  <a:rPr lang="en-US" dirty="0"/>
                  <a:t> </a:t>
                </a:r>
                <a:r>
                  <a:rPr lang="en-US" dirty="0" err="1"/>
                  <a:t>определить</a:t>
                </a:r>
                <a:r>
                  <a:rPr lang="en-US" dirty="0"/>
                  <a:t> </a:t>
                </a:r>
                <a:r>
                  <a:rPr lang="en-US" dirty="0" err="1"/>
                  <a:t>продолжительность</a:t>
                </a:r>
                <a:r>
                  <a:rPr lang="en-US" dirty="0"/>
                  <a:t> </a:t>
                </a:r>
                <a:r>
                  <a:rPr lang="en-US" dirty="0" err="1"/>
                  <a:t>следующего</a:t>
                </a:r>
                <a:r>
                  <a:rPr lang="en-US" dirty="0"/>
                  <a:t> CPU Burst </a:t>
                </a:r>
                <a:r>
                  <a:rPr lang="en-US" dirty="0" err="1"/>
                  <a:t>обычно</a:t>
                </a:r>
                <a:r>
                  <a:rPr lang="en-US" dirty="0"/>
                  <a:t> </a:t>
                </a:r>
                <a:r>
                  <a:rPr lang="en-US" dirty="0" err="1"/>
                  <a:t>невозможно</a:t>
                </a:r>
                <a:r>
                  <a:rPr lang="en-US" dirty="0"/>
                  <a:t>. </a:t>
                </a:r>
                <a:r>
                  <a:rPr lang="en-US" dirty="0" err="1"/>
                  <a:t>Можно</a:t>
                </a:r>
                <a:r>
                  <a:rPr lang="en-US" dirty="0"/>
                  <a:t> </a:t>
                </a:r>
                <a:r>
                  <a:rPr lang="en-US" dirty="0" err="1"/>
                  <a:t>лишь</a:t>
                </a:r>
                <a:r>
                  <a:rPr lang="en-US" dirty="0"/>
                  <a:t> </a:t>
                </a:r>
                <a:r>
                  <a:rPr lang="en-US" dirty="0" err="1"/>
                  <a:t>пытаться</a:t>
                </a:r>
                <a:r>
                  <a:rPr lang="en-US" dirty="0"/>
                  <a:t> </a:t>
                </a:r>
                <a:r>
                  <a:rPr lang="en-US" dirty="0" err="1"/>
                  <a:t>прогнозировать</a:t>
                </a:r>
                <a:r>
                  <a:rPr lang="en-US" dirty="0"/>
                  <a:t> </a:t>
                </a:r>
                <a:r>
                  <a:rPr lang="en-US" dirty="0" err="1"/>
                  <a:t>её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основе</a:t>
                </a:r>
                <a:r>
                  <a:rPr lang="en-US" dirty="0"/>
                  <a:t> </a:t>
                </a:r>
                <a:r>
                  <a:rPr lang="en-US" dirty="0" err="1"/>
                  <a:t>предыдущего</a:t>
                </a:r>
                <a:r>
                  <a:rPr lang="en-US" dirty="0"/>
                  <a:t> </a:t>
                </a:r>
                <a:r>
                  <a:rPr lang="en-US" dirty="0" err="1"/>
                  <a:t>поведения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 err="1"/>
                  <a:t>Кроме</a:t>
                </a:r>
                <a:r>
                  <a:rPr lang="en-US" dirty="0"/>
                  <a:t> </a:t>
                </a:r>
                <a:r>
                  <a:rPr lang="en-US" dirty="0" err="1"/>
                  <a:t>того</a:t>
                </a:r>
                <a:r>
                  <a:rPr lang="en-US" dirty="0"/>
                  <a:t>, </a:t>
                </a:r>
                <a:r>
                  <a:rPr lang="en-US" dirty="0" err="1"/>
                  <a:t>длинная</a:t>
                </a:r>
                <a:r>
                  <a:rPr lang="en-US" dirty="0"/>
                  <a:t> </a:t>
                </a:r>
                <a:r>
                  <a:rPr lang="en-US" dirty="0" err="1"/>
                  <a:t>задача</a:t>
                </a:r>
                <a:r>
                  <a:rPr lang="en-US" dirty="0"/>
                  <a:t> </a:t>
                </a:r>
                <a:r>
                  <a:rPr lang="en-US" dirty="0" err="1"/>
                  <a:t>рискует</a:t>
                </a:r>
                <a:r>
                  <a:rPr lang="en-US" dirty="0"/>
                  <a:t> </a:t>
                </a:r>
                <a:r>
                  <a:rPr lang="en-US" dirty="0" err="1"/>
                  <a:t>долго</a:t>
                </a:r>
                <a:r>
                  <a:rPr lang="en-US" dirty="0"/>
                  <a:t> </a:t>
                </a:r>
                <a:r>
                  <a:rPr lang="en-US" dirty="0" err="1"/>
                  <a:t>ждать</a:t>
                </a:r>
                <a:r>
                  <a:rPr lang="en-US" dirty="0"/>
                  <a:t>, </a:t>
                </a:r>
                <a:r>
                  <a:rPr lang="en-US" dirty="0" err="1"/>
                  <a:t>если</a:t>
                </a:r>
                <a:r>
                  <a:rPr lang="en-US" dirty="0"/>
                  <a:t> в </a:t>
                </a:r>
                <a:r>
                  <a:rPr lang="en-US" dirty="0" err="1"/>
                  <a:t>систему</a:t>
                </a:r>
                <a:r>
                  <a:rPr lang="en-US" dirty="0"/>
                  <a:t> </a:t>
                </a:r>
                <a:r>
                  <a:rPr lang="en-US" dirty="0" err="1"/>
                  <a:t>постоянно</a:t>
                </a:r>
                <a:r>
                  <a:rPr lang="en-US" dirty="0"/>
                  <a:t> </a:t>
                </a:r>
                <a:r>
                  <a:rPr lang="en-US" dirty="0" err="1"/>
                  <a:t>поступают</a:t>
                </a:r>
                <a:r>
                  <a:rPr lang="en-US" dirty="0"/>
                  <a:t> </a:t>
                </a:r>
                <a:r>
                  <a:rPr lang="en-US" dirty="0" err="1"/>
                  <a:t>короткие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И </a:t>
                </a:r>
                <a:r>
                  <a:rPr lang="en-US" dirty="0" err="1"/>
                  <a:t>ещё</a:t>
                </a:r>
                <a:r>
                  <a:rPr lang="en-US" dirty="0"/>
                  <a:t> </a:t>
                </a:r>
                <a:r>
                  <a:rPr lang="en-US" dirty="0" err="1"/>
                  <a:t>один</a:t>
                </a:r>
                <a:r>
                  <a:rPr lang="en-US" dirty="0"/>
                  <a:t> </a:t>
                </a:r>
                <a:r>
                  <a:rPr lang="en-US" dirty="0" err="1"/>
                  <a:t>вопрос</a:t>
                </a:r>
                <a:r>
                  <a:rPr lang="en-US" dirty="0"/>
                  <a:t>: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произойдёт</a:t>
                </a:r>
                <a:r>
                  <a:rPr lang="en-US" dirty="0"/>
                  <a:t>, </a:t>
                </a:r>
                <a:r>
                  <a:rPr lang="en-US" dirty="0" err="1"/>
                  <a:t>если</a:t>
                </a:r>
                <a:r>
                  <a:rPr lang="en-US" dirty="0"/>
                  <a:t> </a:t>
                </a:r>
                <a:r>
                  <a:rPr lang="en-US" dirty="0" err="1"/>
                  <a:t>длинная</a:t>
                </a:r>
                <a:r>
                  <a:rPr lang="en-US" dirty="0"/>
                  <a:t> </a:t>
                </a:r>
                <a:r>
                  <a:rPr lang="en-US" dirty="0" err="1"/>
                  <a:t>задача</a:t>
                </a:r>
                <a:r>
                  <a:rPr lang="en-US" dirty="0"/>
                  <a:t> </a:t>
                </a:r>
                <a:r>
                  <a:rPr lang="en-US" dirty="0" err="1"/>
                  <a:t>уже</a:t>
                </a:r>
                <a:r>
                  <a:rPr lang="en-US" dirty="0"/>
                  <a:t> </a:t>
                </a:r>
                <a:r>
                  <a:rPr lang="en-US" dirty="0" err="1"/>
                  <a:t>выполняется</a:t>
                </a:r>
                <a:r>
                  <a:rPr lang="en-US" dirty="0"/>
                  <a:t>, а </a:t>
                </a:r>
                <a:r>
                  <a:rPr lang="en-US" dirty="0" err="1"/>
                  <a:t>новая</a:t>
                </a:r>
                <a:r>
                  <a:rPr lang="en-US" dirty="0"/>
                  <a:t> </a:t>
                </a:r>
                <a:r>
                  <a:rPr lang="en-US" dirty="0" err="1"/>
                  <a:t>короткая</a:t>
                </a:r>
                <a:r>
                  <a:rPr lang="en-US" dirty="0"/>
                  <a:t> </a:t>
                </a:r>
                <a:r>
                  <a:rPr lang="en-US" dirty="0" err="1"/>
                  <a:t>задача</a:t>
                </a:r>
                <a:r>
                  <a:rPr lang="en-US" dirty="0"/>
                  <a:t> </a:t>
                </a:r>
                <a:r>
                  <a:rPr lang="en-US" dirty="0" err="1"/>
                  <a:t>только</a:t>
                </a:r>
                <a:r>
                  <a:rPr lang="en-US" dirty="0"/>
                  <a:t>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появилась</a:t>
                </a:r>
                <a:r>
                  <a:rPr lang="en-US" dirty="0"/>
                  <a:t>?</a:t>
                </a:r>
              </a:p>
              <a:p>
                <a:endParaRPr lang="en-US" dirty="0"/>
              </a:p>
              <a:p>
                <a:r>
                  <a:rPr lang="en-US" dirty="0" err="1"/>
                  <a:t>Обычный</a:t>
                </a:r>
                <a:r>
                  <a:rPr lang="en-US" dirty="0"/>
                  <a:t> SJF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станет</a:t>
                </a:r>
                <a:r>
                  <a:rPr lang="en-US" dirty="0"/>
                  <a:t> </a:t>
                </a:r>
                <a:r>
                  <a:rPr lang="en-US" dirty="0" err="1"/>
                  <a:t>прерывать</a:t>
                </a:r>
                <a:r>
                  <a:rPr lang="en-US" dirty="0"/>
                  <a:t> </a:t>
                </a:r>
                <a:r>
                  <a:rPr lang="en-US" dirty="0" err="1"/>
                  <a:t>выполнение</a:t>
                </a:r>
                <a:r>
                  <a:rPr lang="en-US" dirty="0"/>
                  <a:t>. </a:t>
                </a:r>
                <a:r>
                  <a:rPr lang="en-US" dirty="0" err="1"/>
                  <a:t>Но</a:t>
                </a:r>
                <a:r>
                  <a:rPr lang="en-US" dirty="0"/>
                  <a:t> </a:t>
                </a:r>
                <a:r>
                  <a:rPr lang="en-US" dirty="0" err="1"/>
                  <a:t>существует</a:t>
                </a:r>
                <a:r>
                  <a:rPr lang="en-US" dirty="0"/>
                  <a:t> </a:t>
                </a:r>
                <a:r>
                  <a:rPr lang="en-US" dirty="0" err="1"/>
                  <a:t>его</a:t>
                </a:r>
                <a:r>
                  <a:rPr lang="en-US" dirty="0"/>
                  <a:t> </a:t>
                </a:r>
                <a:r>
                  <a:rPr lang="en-US" dirty="0" err="1"/>
                  <a:t>вытесняющий</a:t>
                </a:r>
                <a:r>
                  <a:rPr lang="en-US" dirty="0"/>
                  <a:t> </a:t>
                </a:r>
                <a:r>
                  <a:rPr lang="en-US" dirty="0" err="1"/>
                  <a:t>вариант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7055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выяснили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SJF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сократить</a:t>
            </a:r>
            <a:r>
              <a:rPr lang="en-US" dirty="0"/>
              <a:t> </a:t>
            </a:r>
            <a:r>
              <a:rPr lang="en-US" dirty="0" err="1"/>
              <a:t>среднее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короткие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первыми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у </a:t>
            </a:r>
            <a:r>
              <a:rPr lang="en-US" dirty="0" err="1"/>
              <a:t>невытесняющего</a:t>
            </a:r>
            <a:r>
              <a:rPr lang="en-US" dirty="0"/>
              <a:t> SJF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ограничение</a:t>
            </a:r>
            <a:r>
              <a:rPr lang="en-US" dirty="0"/>
              <a:t>: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запуска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забрать</a:t>
            </a:r>
            <a:r>
              <a:rPr lang="en-US" dirty="0"/>
              <a:t> у </a:t>
            </a:r>
            <a:r>
              <a:rPr lang="en-US" dirty="0" err="1"/>
              <a:t>неё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появилась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короткая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ситуацию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момент</a:t>
            </a:r>
            <a:r>
              <a:rPr lang="en-US" dirty="0"/>
              <a:t> 0 </a:t>
            </a:r>
            <a:r>
              <a:rPr lang="en-US" dirty="0" err="1"/>
              <a:t>поступает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A,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 8 </a:t>
            </a:r>
            <a:r>
              <a:rPr lang="en-US" dirty="0" err="1"/>
              <a:t>миллисекунд</a:t>
            </a:r>
            <a:r>
              <a:rPr lang="en-US" dirty="0"/>
              <a:t> </a:t>
            </a:r>
            <a:r>
              <a:rPr lang="en-US" dirty="0" err="1"/>
              <a:t>процессорного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  <a:p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запускает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.</a:t>
            </a:r>
          </a:p>
          <a:p>
            <a:r>
              <a:rPr lang="en-US" dirty="0" err="1"/>
              <a:t>Через</a:t>
            </a:r>
            <a:r>
              <a:rPr lang="en-US" dirty="0"/>
              <a:t> 2 </a:t>
            </a:r>
            <a:r>
              <a:rPr lang="en-US" dirty="0" err="1"/>
              <a:t>миллисекунды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B.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2 </a:t>
            </a:r>
            <a:r>
              <a:rPr lang="en-US" dirty="0" err="1"/>
              <a:t>миллисекунды</a:t>
            </a:r>
            <a:r>
              <a:rPr lang="en-US" dirty="0"/>
              <a:t> CPU.</a:t>
            </a:r>
          </a:p>
          <a:p>
            <a:endParaRPr lang="en-US" dirty="0"/>
          </a:p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произойдёт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обычном</a:t>
            </a:r>
            <a:r>
              <a:rPr lang="en-US" dirty="0"/>
              <a:t> SJF?</a:t>
            </a:r>
          </a:p>
          <a:p>
            <a:r>
              <a:rPr lang="en-US" dirty="0" err="1"/>
              <a:t>Поскольку</a:t>
            </a:r>
            <a:r>
              <a:rPr lang="en-US" dirty="0"/>
              <a:t> A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,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продолжит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момента</a:t>
            </a:r>
            <a:r>
              <a:rPr lang="en-US" dirty="0"/>
              <a:t> 8.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запустится</a:t>
            </a:r>
            <a:r>
              <a:rPr lang="en-US" dirty="0"/>
              <a:t> B,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завершится</a:t>
            </a:r>
            <a:r>
              <a:rPr lang="en-US" dirty="0"/>
              <a:t> в </a:t>
            </a:r>
            <a:r>
              <a:rPr lang="en-US" dirty="0" err="1"/>
              <a:t>момент</a:t>
            </a:r>
            <a:r>
              <a:rPr lang="en-US" dirty="0"/>
              <a:t> 10.</a:t>
            </a:r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короткой</a:t>
            </a:r>
            <a:r>
              <a:rPr lang="en-US" dirty="0"/>
              <a:t> </a:t>
            </a:r>
            <a:r>
              <a:rPr lang="en-US" dirty="0" err="1"/>
              <a:t>задаче</a:t>
            </a:r>
            <a:r>
              <a:rPr lang="en-US" dirty="0"/>
              <a:t> B </a:t>
            </a:r>
            <a:r>
              <a:rPr lang="en-US" dirty="0" err="1"/>
              <a:t>придётся</a:t>
            </a:r>
            <a:r>
              <a:rPr lang="en-US" dirty="0"/>
              <a:t> </a:t>
            </a:r>
            <a:r>
              <a:rPr lang="en-US" dirty="0" err="1"/>
              <a:t>ждать</a:t>
            </a:r>
            <a:r>
              <a:rPr lang="en-US" dirty="0"/>
              <a:t> </a:t>
            </a:r>
            <a:r>
              <a:rPr lang="en-US" dirty="0" err="1"/>
              <a:t>целых</a:t>
            </a:r>
            <a:r>
              <a:rPr lang="en-US" dirty="0"/>
              <a:t> 6 </a:t>
            </a:r>
            <a:r>
              <a:rPr lang="en-US" dirty="0" err="1"/>
              <a:t>миллисекунд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поступить</a:t>
            </a:r>
            <a:r>
              <a:rPr lang="en-US" dirty="0"/>
              <a:t> </a:t>
            </a:r>
            <a:r>
              <a:rPr lang="en-US" dirty="0" err="1"/>
              <a:t>лучше</a:t>
            </a:r>
            <a:r>
              <a:rPr lang="en-US" dirty="0"/>
              <a:t>?</a:t>
            </a:r>
          </a:p>
          <a:p>
            <a:r>
              <a:rPr lang="en-US" dirty="0" err="1"/>
              <a:t>Да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разрешить</a:t>
            </a:r>
            <a:r>
              <a:rPr lang="en-US" dirty="0"/>
              <a:t> </a:t>
            </a:r>
            <a:r>
              <a:rPr lang="en-US" dirty="0" err="1"/>
              <a:t>вытеснение</a:t>
            </a:r>
            <a:r>
              <a:rPr lang="en-US" dirty="0"/>
              <a:t>.</a:t>
            </a:r>
          </a:p>
          <a:p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Shortest Remaining Time First, </a:t>
            </a:r>
            <a:r>
              <a:rPr lang="en-US" dirty="0" err="1"/>
              <a:t>или</a:t>
            </a:r>
            <a:r>
              <a:rPr lang="en-US" dirty="0"/>
              <a:t> SRTF. В </a:t>
            </a:r>
            <a:r>
              <a:rPr lang="en-US" dirty="0" err="1"/>
              <a:t>некоторых</a:t>
            </a:r>
            <a:r>
              <a:rPr lang="en-US" dirty="0"/>
              <a:t> </a:t>
            </a:r>
            <a:r>
              <a:rPr lang="en-US" dirty="0" err="1"/>
              <a:t>источниках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называется</a:t>
            </a:r>
            <a:r>
              <a:rPr lang="en-US" dirty="0"/>
              <a:t> Shortest Remaining Time Next — SRTN.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похож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SJF,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выборе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учитывает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полную</a:t>
            </a:r>
            <a:r>
              <a:rPr lang="en-US" dirty="0"/>
              <a:t> </a:t>
            </a:r>
            <a:r>
              <a:rPr lang="en-US" dirty="0" err="1"/>
              <a:t>первоначальную</a:t>
            </a:r>
            <a:r>
              <a:rPr lang="en-US" dirty="0"/>
              <a:t> </a:t>
            </a:r>
            <a:r>
              <a:rPr lang="en-US" dirty="0" err="1"/>
              <a:t>длительность</a:t>
            </a:r>
            <a:r>
              <a:rPr lang="en-US" dirty="0"/>
              <a:t>, а </a:t>
            </a:r>
            <a:r>
              <a:rPr lang="en-US" dirty="0" err="1"/>
              <a:t>оставшееся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Вернёмся</a:t>
            </a:r>
            <a:r>
              <a:rPr lang="en-US" dirty="0"/>
              <a:t> к </a:t>
            </a:r>
            <a:r>
              <a:rPr lang="en-US" dirty="0" err="1"/>
              <a:t>нашему</a:t>
            </a:r>
            <a:r>
              <a:rPr lang="en-US" dirty="0"/>
              <a:t> </a:t>
            </a:r>
            <a:r>
              <a:rPr lang="en-US" dirty="0" err="1"/>
              <a:t>примеру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момент</a:t>
            </a:r>
            <a:r>
              <a:rPr lang="en-US" dirty="0"/>
              <a:t> 2 </a:t>
            </a:r>
            <a:r>
              <a:rPr lang="en-US" dirty="0" err="1"/>
              <a:t>задача</a:t>
            </a:r>
            <a:r>
              <a:rPr lang="en-US" dirty="0"/>
              <a:t> A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выполнила</a:t>
            </a:r>
            <a:r>
              <a:rPr lang="en-US" dirty="0"/>
              <a:t> 2 </a:t>
            </a:r>
            <a:r>
              <a:rPr lang="en-US" dirty="0" err="1"/>
              <a:t>миллисекунды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. </a:t>
            </a:r>
            <a:r>
              <a:rPr lang="en-US" dirty="0" err="1"/>
              <a:t>Значит</a:t>
            </a:r>
            <a:r>
              <a:rPr lang="en-US" dirty="0"/>
              <a:t>, </a:t>
            </a:r>
            <a:r>
              <a:rPr lang="en-US" dirty="0" err="1"/>
              <a:t>ей</a:t>
            </a:r>
            <a:r>
              <a:rPr lang="en-US" dirty="0"/>
              <a:t> </a:t>
            </a:r>
            <a:r>
              <a:rPr lang="en-US" dirty="0" err="1"/>
              <a:t>осталось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6 </a:t>
            </a:r>
            <a:r>
              <a:rPr lang="en-US" dirty="0" err="1"/>
              <a:t>миллисекунд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поступившей</a:t>
            </a:r>
            <a:r>
              <a:rPr lang="en-US" dirty="0"/>
              <a:t> </a:t>
            </a:r>
            <a:r>
              <a:rPr lang="en-US" dirty="0" err="1"/>
              <a:t>задаче</a:t>
            </a:r>
            <a:r>
              <a:rPr lang="en-US" dirty="0"/>
              <a:t> B </a:t>
            </a:r>
            <a:r>
              <a:rPr lang="en-US" dirty="0" err="1"/>
              <a:t>требуется</a:t>
            </a:r>
            <a:r>
              <a:rPr lang="en-US" dirty="0"/>
              <a:t> 2 </a:t>
            </a:r>
            <a:r>
              <a:rPr lang="en-US" dirty="0" err="1"/>
              <a:t>миллисекунды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сравнивает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величины</a:t>
            </a:r>
            <a:r>
              <a:rPr lang="en-US" dirty="0"/>
              <a:t> и </a:t>
            </a:r>
            <a:r>
              <a:rPr lang="en-US" dirty="0" err="1"/>
              <a:t>решает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выгоднее</a:t>
            </a:r>
            <a:r>
              <a:rPr lang="en-US" dirty="0"/>
              <a:t>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B.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вытесняет</a:t>
            </a:r>
            <a:r>
              <a:rPr lang="en-US" dirty="0"/>
              <a:t> A и </a:t>
            </a:r>
            <a:r>
              <a:rPr lang="en-US" dirty="0" err="1"/>
              <a:t>запускает</a:t>
            </a:r>
            <a:r>
              <a:rPr lang="en-US" dirty="0"/>
              <a:t> B.</a:t>
            </a:r>
          </a:p>
          <a:p>
            <a:r>
              <a:rPr lang="en-US" dirty="0"/>
              <a:t>В </a:t>
            </a:r>
            <a:r>
              <a:rPr lang="en-US" dirty="0" err="1"/>
              <a:t>момент</a:t>
            </a:r>
            <a:r>
              <a:rPr lang="en-US" dirty="0"/>
              <a:t> 4 </a:t>
            </a:r>
            <a:r>
              <a:rPr lang="en-US" dirty="0" err="1"/>
              <a:t>задача</a:t>
            </a:r>
            <a:r>
              <a:rPr lang="en-US" dirty="0"/>
              <a:t> B </a:t>
            </a:r>
            <a:r>
              <a:rPr lang="en-US" dirty="0" err="1"/>
              <a:t>завершается</a:t>
            </a:r>
            <a:r>
              <a:rPr lang="en-US" dirty="0"/>
              <a:t>,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чего</a:t>
            </a:r>
            <a:r>
              <a:rPr lang="en-US" dirty="0"/>
              <a:t> A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и </a:t>
            </a:r>
            <a:r>
              <a:rPr lang="en-US" dirty="0" err="1"/>
              <a:t>заканчивает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в </a:t>
            </a:r>
            <a:r>
              <a:rPr lang="en-US" dirty="0" err="1"/>
              <a:t>момент</a:t>
            </a:r>
            <a:r>
              <a:rPr lang="en-US" dirty="0"/>
              <a:t> 10.</a:t>
            </a:r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получили</a:t>
            </a:r>
            <a:r>
              <a:rPr lang="en-US" dirty="0"/>
              <a:t> </a:t>
            </a:r>
            <a:r>
              <a:rPr lang="en-US" dirty="0" err="1"/>
              <a:t>важный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: </a:t>
            </a:r>
            <a:r>
              <a:rPr lang="en-US" dirty="0" err="1"/>
              <a:t>короткая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B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ожидала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.</a:t>
            </a:r>
          </a:p>
          <a:p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среднее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</a:t>
            </a:r>
            <a:r>
              <a:rPr lang="en-US" dirty="0" err="1"/>
              <a:t>уменьшилось</a:t>
            </a:r>
            <a:r>
              <a:rPr lang="en-US" dirty="0"/>
              <a:t> с 3 </a:t>
            </a:r>
            <a:r>
              <a:rPr lang="en-US" dirty="0" err="1"/>
              <a:t>до</a:t>
            </a:r>
            <a:r>
              <a:rPr lang="en-US" dirty="0"/>
              <a:t> 1 </a:t>
            </a:r>
            <a:r>
              <a:rPr lang="en-US" dirty="0" err="1"/>
              <a:t>миллисекунды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улучшение</a:t>
            </a:r>
            <a:r>
              <a:rPr lang="en-US" dirty="0"/>
              <a:t> </a:t>
            </a:r>
            <a:r>
              <a:rPr lang="en-US" dirty="0" err="1"/>
              <a:t>приходится</a:t>
            </a:r>
            <a:r>
              <a:rPr lang="en-US" dirty="0"/>
              <a:t> </a:t>
            </a:r>
            <a:r>
              <a:rPr lang="en-US" dirty="0" err="1"/>
              <a:t>платить</a:t>
            </a:r>
            <a:r>
              <a:rPr lang="en-US" dirty="0"/>
              <a:t>.</a:t>
            </a:r>
          </a:p>
          <a:p>
            <a:r>
              <a:rPr lang="en-US" dirty="0" err="1"/>
              <a:t>Во-первых</a:t>
            </a:r>
            <a:r>
              <a:rPr lang="en-US" dirty="0"/>
              <a:t>, </a:t>
            </a:r>
            <a:r>
              <a:rPr lang="en-US" dirty="0" err="1"/>
              <a:t>алгоритму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оценивать</a:t>
            </a:r>
            <a:r>
              <a:rPr lang="en-US" dirty="0"/>
              <a:t> </a:t>
            </a:r>
            <a:r>
              <a:rPr lang="en-US" dirty="0" err="1"/>
              <a:t>оставшееся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Во-вторых</a:t>
            </a:r>
            <a:r>
              <a:rPr lang="en-US" dirty="0"/>
              <a:t>, </a:t>
            </a:r>
            <a:r>
              <a:rPr lang="en-US" dirty="0" err="1"/>
              <a:t>появление</a:t>
            </a:r>
            <a:r>
              <a:rPr lang="en-US" dirty="0"/>
              <a:t> </a:t>
            </a:r>
            <a:r>
              <a:rPr lang="en-US" dirty="0" err="1"/>
              <a:t>коротких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приводить</a:t>
            </a:r>
            <a:r>
              <a:rPr lang="en-US" dirty="0"/>
              <a:t> к </a:t>
            </a:r>
            <a:r>
              <a:rPr lang="en-US" dirty="0" err="1"/>
              <a:t>дополнительным</a:t>
            </a:r>
            <a:r>
              <a:rPr lang="en-US" dirty="0"/>
              <a:t> </a:t>
            </a:r>
            <a:r>
              <a:rPr lang="en-US" dirty="0" err="1"/>
              <a:t>переключениям</a:t>
            </a:r>
            <a:r>
              <a:rPr lang="en-US" dirty="0"/>
              <a:t> </a:t>
            </a:r>
            <a:r>
              <a:rPr lang="en-US" dirty="0" err="1"/>
              <a:t>контекста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В-</a:t>
            </a:r>
            <a:r>
              <a:rPr lang="en-US" dirty="0" err="1"/>
              <a:t>третьих</a:t>
            </a:r>
            <a:r>
              <a:rPr lang="en-US" dirty="0"/>
              <a:t>, </a:t>
            </a:r>
            <a:r>
              <a:rPr lang="en-US" dirty="0" err="1"/>
              <a:t>длинные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испытывать</a:t>
            </a:r>
            <a:r>
              <a:rPr lang="en-US" dirty="0"/>
              <a:t> </a:t>
            </a:r>
            <a:r>
              <a:rPr lang="en-US" dirty="0" err="1"/>
              <a:t>голодание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короткие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поступают</a:t>
            </a:r>
            <a:r>
              <a:rPr lang="en-US" dirty="0"/>
              <a:t> в </a:t>
            </a:r>
            <a:r>
              <a:rPr lang="en-US" dirty="0" err="1"/>
              <a:t>систему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ru-RU" dirty="0"/>
              <a:t>Е</a:t>
            </a:r>
            <a:r>
              <a:rPr lang="en-US" dirty="0" err="1"/>
              <a:t>сли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поступили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первом</a:t>
            </a:r>
            <a:r>
              <a:rPr lang="en-US" dirty="0"/>
              <a:t> </a:t>
            </a:r>
            <a:r>
              <a:rPr lang="en-US" dirty="0" err="1"/>
              <a:t>примере</a:t>
            </a:r>
            <a:r>
              <a:rPr lang="en-US" dirty="0"/>
              <a:t>, SRTF </a:t>
            </a:r>
            <a:r>
              <a:rPr lang="en-US" dirty="0" err="1"/>
              <a:t>работал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SJF.</a:t>
            </a:r>
          </a:p>
          <a:p>
            <a:endParaRPr lang="ru-RU" dirty="0"/>
          </a:p>
          <a:p>
            <a:r>
              <a:rPr lang="en-US" dirty="0" err="1"/>
              <a:t>Различие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ними</a:t>
            </a:r>
            <a:r>
              <a:rPr lang="en-US" dirty="0"/>
              <a:t> </a:t>
            </a:r>
            <a:r>
              <a:rPr lang="en-US" dirty="0" err="1"/>
              <a:t>проявляется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появляются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4047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err="1"/>
                  <a:t>До</a:t>
                </a:r>
                <a:r>
                  <a:rPr lang="en-US" dirty="0"/>
                  <a:t> </a:t>
                </a:r>
                <a:r>
                  <a:rPr lang="en-US" dirty="0" err="1"/>
                  <a:t>сих</a:t>
                </a:r>
                <a:r>
                  <a:rPr lang="en-US" dirty="0"/>
                  <a:t> </a:t>
                </a:r>
                <a:r>
                  <a:rPr lang="en-US" dirty="0" err="1"/>
                  <a:t>пор</a:t>
                </a:r>
                <a:r>
                  <a:rPr lang="en-US" dirty="0"/>
                  <a:t> </a:t>
                </a:r>
                <a:r>
                  <a:rPr lang="en-US" dirty="0" err="1"/>
                  <a:t>мы</a:t>
                </a:r>
                <a:r>
                  <a:rPr lang="en-US" dirty="0"/>
                  <a:t> </a:t>
                </a:r>
                <a:r>
                  <a:rPr lang="en-US" dirty="0" err="1"/>
                  <a:t>рассматривали</a:t>
                </a:r>
                <a:r>
                  <a:rPr lang="en-US" dirty="0"/>
                  <a:t> </a:t>
                </a:r>
                <a:r>
                  <a:rPr lang="en-US" dirty="0" err="1"/>
                  <a:t>алгоритмы</a:t>
                </a:r>
                <a:r>
                  <a:rPr lang="en-US" dirty="0"/>
                  <a:t>, </a:t>
                </a:r>
                <a:r>
                  <a:rPr lang="en-US" dirty="0" err="1"/>
                  <a:t>которые</a:t>
                </a:r>
                <a:r>
                  <a:rPr lang="en-US" dirty="0"/>
                  <a:t> </a:t>
                </a:r>
                <a:r>
                  <a:rPr lang="en-US" dirty="0" err="1"/>
                  <a:t>выбирают</a:t>
                </a:r>
                <a:r>
                  <a:rPr lang="en-US" dirty="0"/>
                  <a:t> </a:t>
                </a:r>
                <a:r>
                  <a:rPr lang="en-US" dirty="0" err="1"/>
                  <a:t>задачу</a:t>
                </a:r>
                <a:r>
                  <a:rPr lang="en-US" dirty="0"/>
                  <a:t> </a:t>
                </a:r>
                <a:r>
                  <a:rPr lang="en-US" dirty="0" err="1"/>
                  <a:t>по</a:t>
                </a:r>
                <a:r>
                  <a:rPr lang="en-US" dirty="0"/>
                  <a:t> </a:t>
                </a:r>
                <a:r>
                  <a:rPr lang="en-US" dirty="0" err="1"/>
                  <a:t>порядку</a:t>
                </a:r>
                <a:r>
                  <a:rPr lang="en-US" dirty="0"/>
                  <a:t> </a:t>
                </a:r>
                <a:r>
                  <a:rPr lang="en-US" dirty="0" err="1"/>
                  <a:t>поступления</a:t>
                </a:r>
                <a:r>
                  <a:rPr lang="en-US" dirty="0"/>
                  <a:t> </a:t>
                </a:r>
                <a:r>
                  <a:rPr lang="en-US" dirty="0" err="1"/>
                  <a:t>или</a:t>
                </a:r>
                <a:r>
                  <a:rPr lang="en-US" dirty="0"/>
                  <a:t> </a:t>
                </a:r>
                <a:r>
                  <a:rPr lang="en-US" dirty="0" err="1"/>
                  <a:t>по</a:t>
                </a:r>
                <a:r>
                  <a:rPr lang="en-US" dirty="0"/>
                  <a:t> </a:t>
                </a:r>
                <a:r>
                  <a:rPr lang="en-US" dirty="0" err="1"/>
                  <a:t>продолжительности</a:t>
                </a:r>
                <a:r>
                  <a:rPr lang="en-US" dirty="0"/>
                  <a:t> </a:t>
                </a:r>
                <a:r>
                  <a:rPr lang="en-US" dirty="0" err="1"/>
                  <a:t>вычислений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Но</a:t>
                </a:r>
                <a:r>
                  <a:rPr lang="en-US" dirty="0"/>
                  <a:t> </a:t>
                </a:r>
                <a:r>
                  <a:rPr lang="en-US" dirty="0" err="1"/>
                  <a:t>есть</a:t>
                </a:r>
                <a:r>
                  <a:rPr lang="en-US" dirty="0"/>
                  <a:t> </a:t>
                </a:r>
                <a:r>
                  <a:rPr lang="en-US" dirty="0" err="1"/>
                  <a:t>ещё</a:t>
                </a:r>
                <a:r>
                  <a:rPr lang="en-US" dirty="0"/>
                  <a:t> </a:t>
                </a:r>
                <a:r>
                  <a:rPr lang="en-US" dirty="0" err="1"/>
                  <a:t>один</a:t>
                </a:r>
                <a:r>
                  <a:rPr lang="en-US" dirty="0"/>
                  <a:t> </a:t>
                </a:r>
                <a:r>
                  <a:rPr lang="en-US" dirty="0" err="1"/>
                  <a:t>подход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 err="1"/>
                  <a:t>Вместо</a:t>
                </a:r>
                <a:r>
                  <a:rPr lang="en-US" dirty="0"/>
                  <a:t> </a:t>
                </a:r>
                <a:r>
                  <a:rPr lang="en-US" dirty="0" err="1"/>
                  <a:t>того</a:t>
                </a:r>
                <a:r>
                  <a:rPr lang="en-US" dirty="0"/>
                  <a:t> </a:t>
                </a:r>
                <a:r>
                  <a:rPr lang="en-US" dirty="0" err="1"/>
                  <a:t>чтобы</a:t>
                </a:r>
                <a:r>
                  <a:rPr lang="en-US" dirty="0"/>
                  <a:t> </a:t>
                </a:r>
                <a:r>
                  <a:rPr lang="en-US" dirty="0" err="1"/>
                  <a:t>позволять</a:t>
                </a:r>
                <a:r>
                  <a:rPr lang="en-US" dirty="0"/>
                  <a:t> </a:t>
                </a:r>
                <a:r>
                  <a:rPr lang="en-US" dirty="0" err="1"/>
                  <a:t>одной</a:t>
                </a:r>
                <a:r>
                  <a:rPr lang="en-US" dirty="0"/>
                  <a:t> </a:t>
                </a:r>
                <a:r>
                  <a:rPr lang="en-US" dirty="0" err="1"/>
                  <a:t>задаче</a:t>
                </a:r>
                <a:r>
                  <a:rPr lang="en-US" dirty="0"/>
                  <a:t> </a:t>
                </a:r>
                <a:r>
                  <a:rPr lang="en-US" dirty="0" err="1"/>
                  <a:t>занимать</a:t>
                </a:r>
                <a:r>
                  <a:rPr lang="en-US" dirty="0"/>
                  <a:t> </a:t>
                </a:r>
                <a:r>
                  <a:rPr lang="en-US" dirty="0" err="1"/>
                  <a:t>процессор</a:t>
                </a:r>
                <a:r>
                  <a:rPr lang="en-US" dirty="0"/>
                  <a:t> </a:t>
                </a:r>
                <a:r>
                  <a:rPr lang="en-US" dirty="0" err="1"/>
                  <a:t>до</a:t>
                </a:r>
                <a:r>
                  <a:rPr lang="en-US" dirty="0"/>
                  <a:t> </a:t>
                </a:r>
                <a:r>
                  <a:rPr lang="en-US" dirty="0" err="1"/>
                  <a:t>завершения</a:t>
                </a:r>
                <a:r>
                  <a:rPr lang="en-US" dirty="0"/>
                  <a:t>, </a:t>
                </a:r>
                <a:r>
                  <a:rPr lang="en-US" dirty="0" err="1"/>
                  <a:t>можно</a:t>
                </a:r>
                <a:r>
                  <a:rPr lang="en-US" dirty="0"/>
                  <a:t> </a:t>
                </a:r>
                <a:r>
                  <a:rPr lang="en-US" dirty="0" err="1"/>
                  <a:t>выделять</a:t>
                </a:r>
                <a:r>
                  <a:rPr lang="en-US" dirty="0"/>
                  <a:t> </a:t>
                </a:r>
                <a:r>
                  <a:rPr lang="en-US" dirty="0" err="1"/>
                  <a:t>каждой</a:t>
                </a:r>
                <a:r>
                  <a:rPr lang="en-US" dirty="0"/>
                  <a:t> </a:t>
                </a:r>
                <a:r>
                  <a:rPr lang="en-US" dirty="0" err="1"/>
                  <a:t>задаче</a:t>
                </a:r>
                <a:r>
                  <a:rPr lang="en-US" dirty="0"/>
                  <a:t> </a:t>
                </a:r>
                <a:r>
                  <a:rPr lang="en-US" dirty="0" err="1"/>
                  <a:t>небольшой</a:t>
                </a:r>
                <a:r>
                  <a:rPr lang="en-US" dirty="0"/>
                  <a:t> </a:t>
                </a:r>
                <a:r>
                  <a:rPr lang="en-US" dirty="0" err="1"/>
                  <a:t>интервал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, </a:t>
                </a:r>
                <a:r>
                  <a:rPr lang="en-US" dirty="0" err="1"/>
                  <a:t>после</a:t>
                </a:r>
                <a:r>
                  <a:rPr lang="en-US" dirty="0"/>
                  <a:t> </a:t>
                </a:r>
                <a:r>
                  <a:rPr lang="en-US" dirty="0" err="1"/>
                  <a:t>которого</a:t>
                </a:r>
                <a:r>
                  <a:rPr lang="en-US" dirty="0"/>
                  <a:t> </a:t>
                </a:r>
                <a:r>
                  <a:rPr lang="en-US" dirty="0" err="1"/>
                  <a:t>процессор</a:t>
                </a:r>
                <a:r>
                  <a:rPr lang="en-US" dirty="0"/>
                  <a:t> </a:t>
                </a:r>
                <a:r>
                  <a:rPr lang="en-US" dirty="0" err="1"/>
                  <a:t>передаётся</a:t>
                </a:r>
                <a:r>
                  <a:rPr lang="en-US" dirty="0"/>
                  <a:t> </a:t>
                </a:r>
                <a:r>
                  <a:rPr lang="en-US" dirty="0" err="1"/>
                  <a:t>следующей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этом</a:t>
                </a:r>
                <a:r>
                  <a:rPr lang="en-US" dirty="0"/>
                  <a:t> </a:t>
                </a:r>
                <a:r>
                  <a:rPr lang="en-US" dirty="0" err="1"/>
                  <a:t>принципе</a:t>
                </a:r>
                <a:r>
                  <a:rPr lang="en-US" dirty="0"/>
                  <a:t> </a:t>
                </a:r>
                <a:r>
                  <a:rPr lang="en-US" dirty="0" err="1"/>
                  <a:t>основан</a:t>
                </a:r>
                <a:r>
                  <a:rPr lang="en-US" dirty="0"/>
                  <a:t> </a:t>
                </a:r>
                <a:r>
                  <a:rPr lang="en-US" dirty="0" err="1"/>
                  <a:t>алгоритм</a:t>
                </a:r>
                <a:r>
                  <a:rPr lang="en-US" dirty="0"/>
                  <a:t> Round Robin — </a:t>
                </a:r>
                <a:r>
                  <a:rPr lang="en-US" dirty="0" err="1"/>
                  <a:t>циклическое</a:t>
                </a:r>
                <a:r>
                  <a:rPr lang="en-US" dirty="0"/>
                  <a:t> </a:t>
                </a:r>
                <a:r>
                  <a:rPr lang="en-US" dirty="0" err="1"/>
                  <a:t>планирование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 err="1"/>
                  <a:t>Представим</a:t>
                </a:r>
                <a:r>
                  <a:rPr lang="en-US" dirty="0"/>
                  <a:t> </a:t>
                </a:r>
                <a:r>
                  <a:rPr lang="en-US" dirty="0" err="1"/>
                  <a:t>очередь</a:t>
                </a:r>
                <a:r>
                  <a:rPr lang="en-US" dirty="0"/>
                  <a:t> </a:t>
                </a:r>
                <a:r>
                  <a:rPr lang="en-US" dirty="0" err="1"/>
                  <a:t>готовых</a:t>
                </a:r>
                <a:r>
                  <a:rPr lang="en-US" dirty="0"/>
                  <a:t> </a:t>
                </a:r>
                <a:r>
                  <a:rPr lang="en-US" dirty="0" err="1"/>
                  <a:t>задач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Планировщик</a:t>
                </a:r>
                <a:r>
                  <a:rPr lang="en-US" dirty="0"/>
                  <a:t> </a:t>
                </a:r>
                <a:r>
                  <a:rPr lang="en-US" dirty="0" err="1"/>
                  <a:t>выбирает</a:t>
                </a:r>
                <a:r>
                  <a:rPr lang="en-US" dirty="0"/>
                  <a:t> </a:t>
                </a:r>
                <a:r>
                  <a:rPr lang="en-US" dirty="0" err="1"/>
                  <a:t>первую</a:t>
                </a:r>
                <a:r>
                  <a:rPr lang="en-US" dirty="0"/>
                  <a:t> </a:t>
                </a:r>
                <a:r>
                  <a:rPr lang="en-US" dirty="0" err="1"/>
                  <a:t>задачу</a:t>
                </a:r>
                <a:r>
                  <a:rPr lang="en-US" dirty="0"/>
                  <a:t> и </a:t>
                </a:r>
                <a:r>
                  <a:rPr lang="en-US" dirty="0" err="1"/>
                  <a:t>предоставляет</a:t>
                </a:r>
                <a:r>
                  <a:rPr lang="en-US" dirty="0"/>
                  <a:t> </a:t>
                </a:r>
                <a:r>
                  <a:rPr lang="en-US" dirty="0" err="1"/>
                  <a:t>ей</a:t>
                </a:r>
                <a:r>
                  <a:rPr lang="en-US" dirty="0"/>
                  <a:t> </a:t>
                </a:r>
                <a:r>
                  <a:rPr lang="en-US" dirty="0" err="1"/>
                  <a:t>процессор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ограниченное</a:t>
                </a:r>
                <a:r>
                  <a:rPr lang="en-US" dirty="0"/>
                  <a:t> </a:t>
                </a:r>
                <a:r>
                  <a:rPr lang="en-US" dirty="0" err="1"/>
                  <a:t>время</a:t>
                </a:r>
                <a:r>
                  <a:rPr lang="en-US" dirty="0"/>
                  <a:t>, </a:t>
                </a:r>
                <a:r>
                  <a:rPr lang="en-US" dirty="0" err="1"/>
                  <a:t>называемое</a:t>
                </a:r>
                <a:r>
                  <a:rPr lang="en-US" dirty="0"/>
                  <a:t> </a:t>
                </a:r>
                <a:r>
                  <a:rPr lang="en-US" dirty="0" err="1"/>
                  <a:t>квантом</a:t>
                </a:r>
                <a:r>
                  <a:rPr lang="en-US" dirty="0"/>
                  <a:t>, </a:t>
                </a:r>
                <a:r>
                  <a:rPr lang="en-US" dirty="0" err="1"/>
                  <a:t>или</a:t>
                </a:r>
                <a:r>
                  <a:rPr lang="en-US" dirty="0"/>
                  <a:t> Time Quantum.</a:t>
                </a:r>
              </a:p>
              <a:p>
                <a:r>
                  <a:rPr lang="en-US" dirty="0" err="1"/>
                  <a:t>Если</a:t>
                </a:r>
                <a:r>
                  <a:rPr lang="en-US" dirty="0"/>
                  <a:t> </a:t>
                </a:r>
                <a:r>
                  <a:rPr lang="en-US" dirty="0" err="1"/>
                  <a:t>задача</a:t>
                </a:r>
                <a:r>
                  <a:rPr lang="en-US" dirty="0"/>
                  <a:t> </a:t>
                </a:r>
                <a:r>
                  <a:rPr lang="en-US" dirty="0" err="1"/>
                  <a:t>успела</a:t>
                </a:r>
                <a:r>
                  <a:rPr lang="en-US" dirty="0"/>
                  <a:t> </a:t>
                </a:r>
                <a:r>
                  <a:rPr lang="en-US" dirty="0" err="1"/>
                  <a:t>завершиться</a:t>
                </a:r>
                <a:r>
                  <a:rPr lang="en-US" dirty="0"/>
                  <a:t> </a:t>
                </a:r>
                <a:r>
                  <a:rPr lang="en-US" dirty="0" err="1"/>
                  <a:t>за</a:t>
                </a:r>
                <a:r>
                  <a:rPr lang="en-US" dirty="0"/>
                  <a:t> </a:t>
                </a:r>
                <a:r>
                  <a:rPr lang="en-US" dirty="0" err="1"/>
                  <a:t>это</a:t>
                </a:r>
                <a:r>
                  <a:rPr lang="en-US" dirty="0"/>
                  <a:t> </a:t>
                </a:r>
                <a:r>
                  <a:rPr lang="en-US" dirty="0" err="1"/>
                  <a:t>время</a:t>
                </a:r>
                <a:r>
                  <a:rPr lang="en-US" dirty="0"/>
                  <a:t>, </a:t>
                </a:r>
                <a:r>
                  <a:rPr lang="en-US" dirty="0" err="1"/>
                  <a:t>она</a:t>
                </a:r>
                <a:r>
                  <a:rPr lang="en-US" dirty="0"/>
                  <a:t> </a:t>
                </a:r>
                <a:r>
                  <a:rPr lang="en-US" dirty="0" err="1"/>
                  <a:t>покидает</a:t>
                </a:r>
                <a:r>
                  <a:rPr lang="en-US" dirty="0"/>
                  <a:t> </a:t>
                </a:r>
                <a:r>
                  <a:rPr lang="en-US" dirty="0" err="1"/>
                  <a:t>очередь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Если</a:t>
                </a:r>
                <a:r>
                  <a:rPr lang="en-US" dirty="0"/>
                  <a:t> </a:t>
                </a:r>
                <a:r>
                  <a:rPr lang="en-US" dirty="0" err="1"/>
                  <a:t>задача</a:t>
                </a:r>
                <a:r>
                  <a:rPr lang="en-US" dirty="0"/>
                  <a:t> </a:t>
                </a:r>
                <a:r>
                  <a:rPr lang="en-US" dirty="0" err="1"/>
                  <a:t>заблокировалась</a:t>
                </a:r>
                <a:r>
                  <a:rPr lang="en-US" dirty="0"/>
                  <a:t>, </a:t>
                </a:r>
                <a:r>
                  <a:rPr lang="en-US" dirty="0" err="1"/>
                  <a:t>она</a:t>
                </a:r>
                <a:r>
                  <a:rPr lang="en-US" dirty="0"/>
                  <a:t> </a:t>
                </a:r>
                <a:r>
                  <a:rPr lang="en-US" dirty="0" err="1"/>
                  <a:t>также</a:t>
                </a:r>
                <a:r>
                  <a:rPr lang="en-US" dirty="0"/>
                  <a:t> </a:t>
                </a:r>
                <a:r>
                  <a:rPr lang="en-US" dirty="0" err="1"/>
                  <a:t>перестаёт</a:t>
                </a:r>
                <a:r>
                  <a:rPr lang="en-US" dirty="0"/>
                  <a:t> </a:t>
                </a:r>
                <a:r>
                  <a:rPr lang="en-US" dirty="0" err="1"/>
                  <a:t>конкурировать</a:t>
                </a:r>
                <a:r>
                  <a:rPr lang="en-US" dirty="0"/>
                  <a:t> </a:t>
                </a:r>
                <a:r>
                  <a:rPr lang="en-US" dirty="0" err="1"/>
                  <a:t>за</a:t>
                </a:r>
                <a:r>
                  <a:rPr lang="en-US" dirty="0"/>
                  <a:t> CPU </a:t>
                </a:r>
                <a:r>
                  <a:rPr lang="en-US" dirty="0" err="1"/>
                  <a:t>до</a:t>
                </a:r>
                <a:r>
                  <a:rPr lang="en-US" dirty="0"/>
                  <a:t> </a:t>
                </a:r>
                <a:r>
                  <a:rPr lang="en-US" dirty="0" err="1"/>
                  <a:t>пробуждения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А </a:t>
                </a:r>
                <a:r>
                  <a:rPr lang="en-US" dirty="0" err="1"/>
                  <a:t>если</a:t>
                </a:r>
                <a:r>
                  <a:rPr lang="en-US" dirty="0"/>
                  <a:t> </a:t>
                </a:r>
                <a:r>
                  <a:rPr lang="en-US" dirty="0" err="1"/>
                  <a:t>квант</a:t>
                </a:r>
                <a:r>
                  <a:rPr lang="en-US" dirty="0"/>
                  <a:t> </a:t>
                </a:r>
                <a:r>
                  <a:rPr lang="en-US" dirty="0" err="1"/>
                  <a:t>истёк</a:t>
                </a:r>
                <a:r>
                  <a:rPr lang="en-US" dirty="0"/>
                  <a:t> и </a:t>
                </a:r>
                <a:r>
                  <a:rPr lang="en-US" dirty="0" err="1"/>
                  <a:t>задача</a:t>
                </a:r>
                <a:r>
                  <a:rPr lang="en-US" dirty="0"/>
                  <a:t> </a:t>
                </a:r>
                <a:r>
                  <a:rPr lang="en-US" dirty="0" err="1"/>
                  <a:t>всё</a:t>
                </a:r>
                <a:r>
                  <a:rPr lang="en-US" dirty="0"/>
                  <a:t> </a:t>
                </a:r>
                <a:r>
                  <a:rPr lang="en-US" dirty="0" err="1"/>
                  <a:t>ещё</a:t>
                </a:r>
                <a:r>
                  <a:rPr lang="en-US" dirty="0"/>
                  <a:t> </a:t>
                </a:r>
                <a:r>
                  <a:rPr lang="en-US" dirty="0" err="1"/>
                  <a:t>готова</a:t>
                </a:r>
                <a:r>
                  <a:rPr lang="en-US" dirty="0"/>
                  <a:t> </a:t>
                </a:r>
                <a:r>
                  <a:rPr lang="en-US" dirty="0" err="1"/>
                  <a:t>продолжать</a:t>
                </a:r>
                <a:r>
                  <a:rPr lang="en-US" dirty="0"/>
                  <a:t> </a:t>
                </a:r>
                <a:r>
                  <a:rPr lang="en-US" dirty="0" err="1"/>
                  <a:t>выполнение</a:t>
                </a:r>
                <a:r>
                  <a:rPr lang="en-US" dirty="0"/>
                  <a:t>, </a:t>
                </a:r>
                <a:r>
                  <a:rPr lang="en-US" dirty="0" err="1"/>
                  <a:t>она</a:t>
                </a:r>
                <a:r>
                  <a:rPr lang="en-US" dirty="0"/>
                  <a:t> </a:t>
                </a:r>
                <a:r>
                  <a:rPr lang="en-US" dirty="0" err="1"/>
                  <a:t>перемещается</a:t>
                </a:r>
                <a:r>
                  <a:rPr lang="en-US" dirty="0"/>
                  <a:t> в </a:t>
                </a:r>
                <a:r>
                  <a:rPr lang="en-US" dirty="0" err="1"/>
                  <a:t>конец</a:t>
                </a:r>
                <a:r>
                  <a:rPr lang="en-US" dirty="0"/>
                  <a:t> </a:t>
                </a:r>
                <a:r>
                  <a:rPr lang="en-US" dirty="0" err="1"/>
                  <a:t>очереди</a:t>
                </a:r>
                <a:r>
                  <a:rPr lang="en-US" dirty="0"/>
                  <a:t>. CPU </a:t>
                </a:r>
                <a:r>
                  <a:rPr lang="en-US" dirty="0" err="1"/>
                  <a:t>получает</a:t>
                </a:r>
                <a:r>
                  <a:rPr lang="en-US" dirty="0"/>
                  <a:t> </a:t>
                </a:r>
                <a:r>
                  <a:rPr lang="en-US" dirty="0" err="1"/>
                  <a:t>следующая</a:t>
                </a:r>
                <a:r>
                  <a:rPr lang="en-US" dirty="0"/>
                  <a:t> </a:t>
                </a:r>
                <a:r>
                  <a:rPr lang="en-US" dirty="0" err="1"/>
                  <a:t>задача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 err="1"/>
                  <a:t>Давайте</a:t>
                </a:r>
                <a:r>
                  <a:rPr lang="en-US" dirty="0"/>
                  <a:t> </a:t>
                </a:r>
                <a:r>
                  <a:rPr lang="en-US" dirty="0" err="1"/>
                  <a:t>посмотрим</a:t>
                </a:r>
                <a:r>
                  <a:rPr lang="en-US" dirty="0"/>
                  <a:t>, </a:t>
                </a:r>
                <a:r>
                  <a:rPr lang="en-US" dirty="0" err="1"/>
                  <a:t>как</a:t>
                </a:r>
                <a:r>
                  <a:rPr lang="en-US" dirty="0"/>
                  <a:t> </a:t>
                </a:r>
                <a:r>
                  <a:rPr lang="en-US" dirty="0" err="1"/>
                  <a:t>это</a:t>
                </a:r>
                <a:r>
                  <a:rPr lang="en-US" dirty="0"/>
                  <a:t> </a:t>
                </a:r>
                <a:r>
                  <a:rPr lang="en-US" dirty="0" err="1"/>
                  <a:t>работает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нашем</a:t>
                </a:r>
                <a:r>
                  <a:rPr lang="en-US" dirty="0"/>
                  <a:t> </a:t>
                </a:r>
                <a:r>
                  <a:rPr lang="en-US" dirty="0" err="1"/>
                  <a:t>примере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У </a:t>
                </a:r>
                <a:r>
                  <a:rPr lang="en-US" dirty="0" err="1"/>
                  <a:t>нас</a:t>
                </a:r>
                <a:r>
                  <a:rPr lang="en-US" dirty="0"/>
                  <a:t> </a:t>
                </a:r>
                <a:r>
                  <a:rPr lang="en-US" dirty="0" err="1"/>
                  <a:t>четыре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 с </a:t>
                </a:r>
                <a:r>
                  <a:rPr lang="en-US" dirty="0" err="1"/>
                  <a:t>длительностями</a:t>
                </a:r>
                <a:r>
                  <a:rPr lang="en-US" dirty="0"/>
                  <a:t> 8, 4, 4 и 4 </a:t>
                </a:r>
                <a:r>
                  <a:rPr lang="en-US" dirty="0" err="1"/>
                  <a:t>миллисекунды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 err="1"/>
                  <a:t>Выберем</a:t>
                </a:r>
                <a:r>
                  <a:rPr lang="en-US" dirty="0"/>
                  <a:t> </a:t>
                </a:r>
                <a:r>
                  <a:rPr lang="en-US" dirty="0" err="1"/>
                  <a:t>квант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 2 </a:t>
                </a:r>
                <a:r>
                  <a:rPr lang="en-US" dirty="0" err="1"/>
                  <a:t>миллисекунды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Сначала</a:t>
                </a:r>
                <a:r>
                  <a:rPr lang="en-US" dirty="0"/>
                  <a:t> A </a:t>
                </a:r>
                <a:r>
                  <a:rPr lang="en-US" dirty="0" err="1"/>
                  <a:t>работает</a:t>
                </a:r>
                <a:r>
                  <a:rPr lang="en-US" dirty="0"/>
                  <a:t> с 0 </a:t>
                </a:r>
                <a:r>
                  <a:rPr lang="en-US" dirty="0" err="1"/>
                  <a:t>до</a:t>
                </a:r>
                <a:r>
                  <a:rPr lang="en-US" dirty="0"/>
                  <a:t> 2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. </a:t>
                </a:r>
                <a:r>
                  <a:rPr lang="en-US" dirty="0" err="1"/>
                  <a:t>Она</a:t>
                </a:r>
                <a:r>
                  <a:rPr lang="en-US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успевает</a:t>
                </a:r>
                <a:r>
                  <a:rPr lang="en-US" dirty="0"/>
                  <a:t> </a:t>
                </a:r>
                <a:r>
                  <a:rPr lang="en-US" dirty="0" err="1"/>
                  <a:t>завершиться</a:t>
                </a:r>
                <a:r>
                  <a:rPr lang="en-US" dirty="0"/>
                  <a:t>, </a:t>
                </a:r>
                <a:r>
                  <a:rPr lang="en-US" dirty="0" err="1"/>
                  <a:t>поэтому</a:t>
                </a:r>
                <a:r>
                  <a:rPr lang="en-US" dirty="0"/>
                  <a:t> </a:t>
                </a:r>
                <a:r>
                  <a:rPr lang="en-US" dirty="0" err="1"/>
                  <a:t>возвращается</a:t>
                </a:r>
                <a:r>
                  <a:rPr lang="en-US" dirty="0"/>
                  <a:t> в </a:t>
                </a:r>
                <a:r>
                  <a:rPr lang="en-US" dirty="0" err="1"/>
                  <a:t>конец</a:t>
                </a:r>
                <a:r>
                  <a:rPr lang="en-US" dirty="0"/>
                  <a:t> </a:t>
                </a:r>
                <a:r>
                  <a:rPr lang="en-US" dirty="0" err="1"/>
                  <a:t>очереди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Затем</a:t>
                </a:r>
                <a:r>
                  <a:rPr lang="en-US" dirty="0"/>
                  <a:t> B </a:t>
                </a:r>
                <a:r>
                  <a:rPr lang="en-US" dirty="0" err="1"/>
                  <a:t>выполняется</a:t>
                </a:r>
                <a:r>
                  <a:rPr lang="en-US" dirty="0"/>
                  <a:t> с 2 </a:t>
                </a:r>
                <a:r>
                  <a:rPr lang="en-US" dirty="0" err="1"/>
                  <a:t>до</a:t>
                </a:r>
                <a:r>
                  <a:rPr lang="en-US" dirty="0"/>
                  <a:t> 4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, C — с 4 </a:t>
                </a:r>
                <a:r>
                  <a:rPr lang="en-US" dirty="0" err="1"/>
                  <a:t>до</a:t>
                </a:r>
                <a:r>
                  <a:rPr lang="en-US" dirty="0"/>
                  <a:t> 6, D — с 6 </a:t>
                </a:r>
                <a:r>
                  <a:rPr lang="en-US" dirty="0" err="1"/>
                  <a:t>до</a:t>
                </a:r>
                <a:r>
                  <a:rPr lang="en-US" dirty="0"/>
                  <a:t> 8.</a:t>
                </a:r>
              </a:p>
              <a:p>
                <a:r>
                  <a:rPr lang="en-US" dirty="0" err="1"/>
                  <a:t>После</a:t>
                </a:r>
                <a:r>
                  <a:rPr lang="en-US" dirty="0"/>
                  <a:t> </a:t>
                </a:r>
                <a:r>
                  <a:rPr lang="en-US" dirty="0" err="1"/>
                  <a:t>этого</a:t>
                </a:r>
                <a:r>
                  <a:rPr lang="en-US" dirty="0"/>
                  <a:t> </a:t>
                </a:r>
                <a:r>
                  <a:rPr lang="en-US" dirty="0" err="1"/>
                  <a:t>планировщик</a:t>
                </a:r>
                <a:r>
                  <a:rPr lang="en-US" dirty="0"/>
                  <a:t> </a:t>
                </a:r>
                <a:r>
                  <a:rPr lang="en-US" dirty="0" err="1"/>
                  <a:t>снова</a:t>
                </a:r>
                <a:r>
                  <a:rPr lang="en-US" dirty="0"/>
                  <a:t> </a:t>
                </a:r>
                <a:r>
                  <a:rPr lang="en-US" dirty="0" err="1"/>
                  <a:t>выбирает</a:t>
                </a:r>
                <a:r>
                  <a:rPr lang="en-US" dirty="0"/>
                  <a:t> A.</a:t>
                </a:r>
                <a:endParaRPr lang="ru-RU" dirty="0"/>
              </a:p>
              <a:p>
                <a:r>
                  <a:rPr lang="en-US" dirty="0"/>
                  <a:t>И </a:t>
                </a:r>
                <a:r>
                  <a:rPr lang="en-US" dirty="0" err="1"/>
                  <a:t>так</a:t>
                </a:r>
                <a:r>
                  <a:rPr lang="en-US" dirty="0"/>
                  <a:t> </a:t>
                </a:r>
                <a:r>
                  <a:rPr lang="en-US" dirty="0" err="1"/>
                  <a:t>далее</a:t>
                </a:r>
                <a:r>
                  <a:rPr lang="en-US" dirty="0"/>
                  <a:t>, </a:t>
                </a:r>
                <a:r>
                  <a:rPr lang="en-US" dirty="0" err="1"/>
                  <a:t>пока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завершатся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Обратите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важную</a:t>
                </a:r>
                <a:r>
                  <a:rPr lang="en-US" dirty="0"/>
                  <a:t> </a:t>
                </a:r>
                <a:r>
                  <a:rPr lang="en-US" dirty="0" err="1"/>
                  <a:t>особенность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При</a:t>
                </a:r>
                <a:r>
                  <a:rPr lang="en-US" dirty="0"/>
                  <a:t> FCFS </a:t>
                </a:r>
                <a:r>
                  <a:rPr lang="en-US" dirty="0" err="1"/>
                  <a:t>задача</a:t>
                </a:r>
                <a:r>
                  <a:rPr lang="en-US" dirty="0"/>
                  <a:t> D </a:t>
                </a:r>
                <a:r>
                  <a:rPr lang="en-US" dirty="0" err="1"/>
                  <a:t>впервые</a:t>
                </a:r>
                <a:r>
                  <a:rPr lang="en-US" dirty="0"/>
                  <a:t> </a:t>
                </a:r>
                <a:r>
                  <a:rPr lang="en-US" dirty="0" err="1"/>
                  <a:t>получала</a:t>
                </a:r>
                <a:r>
                  <a:rPr lang="en-US" dirty="0"/>
                  <a:t> CPU </a:t>
                </a:r>
                <a:r>
                  <a:rPr lang="en-US" dirty="0" err="1"/>
                  <a:t>только</a:t>
                </a:r>
                <a:r>
                  <a:rPr lang="en-US" dirty="0"/>
                  <a:t> </a:t>
                </a:r>
                <a:r>
                  <a:rPr lang="en-US" dirty="0" err="1"/>
                  <a:t>через</a:t>
                </a:r>
                <a:r>
                  <a:rPr lang="en-US" dirty="0"/>
                  <a:t> 16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При</a:t>
                </a:r>
                <a:r>
                  <a:rPr lang="en-US" dirty="0"/>
                  <a:t> Round Robin </a:t>
                </a:r>
                <a:r>
                  <a:rPr lang="en-US" dirty="0" err="1"/>
                  <a:t>она</a:t>
                </a:r>
                <a:r>
                  <a:rPr lang="en-US" dirty="0"/>
                  <a:t> </a:t>
                </a:r>
                <a:r>
                  <a:rPr lang="en-US" dirty="0" err="1"/>
                  <a:t>начинает</a:t>
                </a:r>
                <a:r>
                  <a:rPr lang="en-US" dirty="0"/>
                  <a:t> </a:t>
                </a:r>
                <a:r>
                  <a:rPr lang="en-US" dirty="0" err="1"/>
                  <a:t>выполняться</a:t>
                </a:r>
                <a:r>
                  <a:rPr lang="en-US" dirty="0"/>
                  <a:t> </a:t>
                </a:r>
                <a:r>
                  <a:rPr lang="en-US" dirty="0" err="1"/>
                  <a:t>уже</a:t>
                </a:r>
                <a:r>
                  <a:rPr lang="en-US" dirty="0"/>
                  <a:t> </a:t>
                </a:r>
                <a:r>
                  <a:rPr lang="en-US" dirty="0" err="1"/>
                  <a:t>через</a:t>
                </a:r>
                <a:r>
                  <a:rPr lang="en-US" dirty="0"/>
                  <a:t> 6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А </a:t>
                </a:r>
                <a:r>
                  <a:rPr lang="en-US" dirty="0" err="1"/>
                  <a:t>задача</a:t>
                </a:r>
                <a:r>
                  <a:rPr lang="en-US" dirty="0"/>
                  <a:t> B </a:t>
                </a:r>
                <a:r>
                  <a:rPr lang="en-US" dirty="0" err="1"/>
                  <a:t>впервые</a:t>
                </a:r>
                <a:r>
                  <a:rPr lang="en-US" dirty="0"/>
                  <a:t> </a:t>
                </a:r>
                <a:r>
                  <a:rPr lang="en-US" dirty="0" err="1"/>
                  <a:t>получает</a:t>
                </a:r>
                <a:r>
                  <a:rPr lang="en-US" dirty="0"/>
                  <a:t> </a:t>
                </a:r>
                <a:r>
                  <a:rPr lang="en-US" dirty="0" err="1"/>
                  <a:t>процессор</a:t>
                </a:r>
                <a:r>
                  <a:rPr lang="en-US" dirty="0"/>
                  <a:t> </a:t>
                </a:r>
                <a:r>
                  <a:rPr lang="en-US" dirty="0" err="1"/>
                  <a:t>через</a:t>
                </a:r>
                <a:r>
                  <a:rPr lang="en-US" dirty="0"/>
                  <a:t> 2 </a:t>
                </a:r>
                <a:r>
                  <a:rPr lang="en-US" dirty="0" err="1"/>
                  <a:t>миллисекунды</a:t>
                </a:r>
                <a:r>
                  <a:rPr lang="en-US" dirty="0"/>
                  <a:t> </a:t>
                </a:r>
                <a:r>
                  <a:rPr lang="en-US" dirty="0" err="1"/>
                  <a:t>вместо</a:t>
                </a:r>
                <a:r>
                  <a:rPr lang="en-US" dirty="0"/>
                  <a:t> 8.</a:t>
                </a:r>
              </a:p>
              <a:p>
                <a:endParaRPr lang="ru-RU" dirty="0"/>
              </a:p>
              <a:p>
                <a:r>
                  <a:rPr lang="en-US" dirty="0" err="1"/>
                  <a:t>Получается</a:t>
                </a:r>
                <a:r>
                  <a:rPr lang="en-US" dirty="0"/>
                  <a:t>, </a:t>
                </a:r>
                <a:r>
                  <a:rPr lang="en-US" dirty="0" err="1"/>
                  <a:t>что</a:t>
                </a:r>
                <a:r>
                  <a:rPr lang="en-US" dirty="0"/>
                  <a:t> Round Robin </a:t>
                </a:r>
                <a:r>
                  <a:rPr lang="en-US" dirty="0" err="1"/>
                  <a:t>позволяет</a:t>
                </a:r>
                <a:r>
                  <a:rPr lang="en-US" dirty="0"/>
                  <a:t> </a:t>
                </a:r>
                <a:r>
                  <a:rPr lang="en-US" dirty="0" err="1"/>
                  <a:t>значительно</a:t>
                </a:r>
                <a:r>
                  <a:rPr lang="en-US" dirty="0"/>
                  <a:t> </a:t>
                </a:r>
                <a:r>
                  <a:rPr lang="en-US" dirty="0" err="1"/>
                  <a:t>уменьшить</a:t>
                </a:r>
                <a:r>
                  <a:rPr lang="en-US" dirty="0"/>
                  <a:t>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первого</a:t>
                </a:r>
                <a:r>
                  <a:rPr lang="en-US" dirty="0"/>
                  <a:t> </a:t>
                </a:r>
                <a:r>
                  <a:rPr lang="en-US" dirty="0" err="1"/>
                  <a:t>отклика</a:t>
                </a:r>
                <a:r>
                  <a:rPr lang="en-US" dirty="0"/>
                  <a:t> </a:t>
                </a:r>
                <a:r>
                  <a:rPr lang="en-US" dirty="0" err="1"/>
                  <a:t>задач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Посчитаем</a:t>
                </a:r>
                <a:r>
                  <a:rPr lang="en-US" dirty="0"/>
                  <a:t> </a:t>
                </a:r>
                <a:r>
                  <a:rPr lang="en-US" dirty="0" err="1"/>
                  <a:t>среднее</a:t>
                </a:r>
                <a:r>
                  <a:rPr lang="en-US" dirty="0"/>
                  <a:t> Response Time:</a:t>
                </a:r>
              </a:p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0" smtClean="0">
                              <a:latin typeface="Cambria Math" panose="02040503050406030204" pitchFamily="18" charset="0"/>
                            </a:rPr>
                            <m:t>+2+4+6</m:t>
                          </m:r>
                        </m:num>
                        <m:den>
                          <m:r>
                            <a:rPr lang="en-US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i="0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m:rPr>
                          <m:nor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 мс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 err="1"/>
                  <a:t>Для</a:t>
                </a:r>
                <a:r>
                  <a:rPr lang="en-US" dirty="0"/>
                  <a:t> FCFS </a:t>
                </a:r>
                <a:r>
                  <a:rPr lang="en-US" dirty="0" err="1"/>
                  <a:t>этот</a:t>
                </a:r>
                <a:r>
                  <a:rPr lang="en-US" dirty="0"/>
                  <a:t> </a:t>
                </a:r>
                <a:r>
                  <a:rPr lang="en-US" dirty="0" err="1"/>
                  <a:t>показатель</a:t>
                </a:r>
                <a:r>
                  <a:rPr lang="en-US" dirty="0"/>
                  <a:t> </a:t>
                </a:r>
                <a:r>
                  <a:rPr lang="en-US" dirty="0" err="1"/>
                  <a:t>составлял</a:t>
                </a:r>
                <a:r>
                  <a:rPr lang="en-US" dirty="0"/>
                  <a:t> 9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Но</a:t>
                </a:r>
                <a:r>
                  <a:rPr lang="en-US" dirty="0"/>
                  <a:t> </a:t>
                </a:r>
                <a:r>
                  <a:rPr lang="en-US" dirty="0" err="1"/>
                  <a:t>посмотрите</a:t>
                </a:r>
                <a:r>
                  <a:rPr lang="en-US" dirty="0"/>
                  <a:t>, </a:t>
                </a:r>
                <a:r>
                  <a:rPr lang="en-US" dirty="0" err="1"/>
                  <a:t>когда</a:t>
                </a:r>
                <a:r>
                  <a:rPr lang="en-US" dirty="0"/>
                  <a:t> </a:t>
                </a:r>
                <a:r>
                  <a:rPr lang="en-US" dirty="0" err="1"/>
                  <a:t>завершаются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B </a:t>
                </a:r>
                <a:r>
                  <a:rPr lang="en-US" dirty="0" err="1"/>
                  <a:t>завершается</a:t>
                </a:r>
                <a:r>
                  <a:rPr lang="en-US" dirty="0"/>
                  <a:t> в </a:t>
                </a:r>
                <a:r>
                  <a:rPr lang="en-US" dirty="0" err="1"/>
                  <a:t>момент</a:t>
                </a:r>
                <a:r>
                  <a:rPr lang="en-US" dirty="0"/>
                  <a:t> 12, C — в </a:t>
                </a:r>
                <a:r>
                  <a:rPr lang="en-US" dirty="0" err="1"/>
                  <a:t>момент</a:t>
                </a:r>
                <a:r>
                  <a:rPr lang="en-US" dirty="0"/>
                  <a:t> 14, D — в </a:t>
                </a:r>
                <a:r>
                  <a:rPr lang="en-US" dirty="0" err="1"/>
                  <a:t>момент</a:t>
                </a:r>
                <a:r>
                  <a:rPr lang="en-US" dirty="0"/>
                  <a:t> 16, а A — </a:t>
                </a:r>
                <a:r>
                  <a:rPr lang="en-US" dirty="0" err="1"/>
                  <a:t>только</a:t>
                </a:r>
                <a:r>
                  <a:rPr lang="en-US" dirty="0"/>
                  <a:t> в </a:t>
                </a:r>
                <a:r>
                  <a:rPr lang="en-US" dirty="0" err="1"/>
                  <a:t>момент</a:t>
                </a:r>
                <a:r>
                  <a:rPr lang="en-US" dirty="0"/>
                  <a:t> 20.</a:t>
                </a:r>
              </a:p>
              <a:p>
                <a:r>
                  <a:rPr lang="en-US" dirty="0" err="1"/>
                  <a:t>Среднее</a:t>
                </a:r>
                <a:r>
                  <a:rPr lang="en-US" dirty="0"/>
                  <a:t> Turnaround Time </a:t>
                </a:r>
                <a:r>
                  <a:rPr lang="en-US" dirty="0" err="1"/>
                  <a:t>составляет</a:t>
                </a:r>
                <a:r>
                  <a:rPr lang="en-US" dirty="0"/>
                  <a:t> 15,5 </a:t>
                </a:r>
                <a:r>
                  <a:rPr lang="en-US" dirty="0" err="1"/>
                  <a:t>миллисекунды</a:t>
                </a:r>
                <a:r>
                  <a:rPr lang="en-US" dirty="0"/>
                  <a:t>. Это </a:t>
                </a:r>
                <a:r>
                  <a:rPr lang="en-US" dirty="0" err="1"/>
                  <a:t>больше</a:t>
                </a:r>
                <a:r>
                  <a:rPr lang="en-US" dirty="0"/>
                  <a:t>, </a:t>
                </a:r>
                <a:r>
                  <a:rPr lang="en-US" dirty="0" err="1"/>
                  <a:t>чем</a:t>
                </a:r>
                <a:r>
                  <a:rPr lang="en-US" dirty="0"/>
                  <a:t> у FCFS и SJF в </a:t>
                </a:r>
                <a:r>
                  <a:rPr lang="en-US" dirty="0" err="1"/>
                  <a:t>нашем</a:t>
                </a:r>
                <a:r>
                  <a:rPr lang="en-US" dirty="0"/>
                  <a:t> </a:t>
                </a:r>
                <a:r>
                  <a:rPr lang="en-US" dirty="0" err="1"/>
                  <a:t>примере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 err="1"/>
                  <a:t>Таким</a:t>
                </a:r>
                <a:r>
                  <a:rPr lang="en-US" dirty="0"/>
                  <a:t> </a:t>
                </a:r>
                <a:r>
                  <a:rPr lang="en-US" dirty="0" err="1"/>
                  <a:t>образом</a:t>
                </a:r>
                <a:r>
                  <a:rPr lang="en-US" dirty="0"/>
                  <a:t>, Round Robin </a:t>
                </a:r>
                <a:r>
                  <a:rPr lang="en-US" dirty="0" err="1"/>
                  <a:t>улучшил</a:t>
                </a:r>
                <a:r>
                  <a:rPr lang="en-US" dirty="0"/>
                  <a:t> </a:t>
                </a:r>
                <a:r>
                  <a:rPr lang="en-US" dirty="0" err="1"/>
                  <a:t>отзывчивость</a:t>
                </a:r>
                <a:r>
                  <a:rPr lang="en-US" dirty="0"/>
                  <a:t>, </a:t>
                </a:r>
                <a:r>
                  <a:rPr lang="en-US" dirty="0" err="1"/>
                  <a:t>но</a:t>
                </a:r>
                <a:r>
                  <a:rPr lang="en-US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среднее</a:t>
                </a:r>
                <a:r>
                  <a:rPr lang="en-US" dirty="0"/>
                  <a:t>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завершения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И </a:t>
                </a:r>
                <a:r>
                  <a:rPr lang="en-US" dirty="0" err="1"/>
                  <a:t>теперь</a:t>
                </a:r>
                <a:r>
                  <a:rPr lang="en-US" dirty="0"/>
                  <a:t> </a:t>
                </a:r>
                <a:r>
                  <a:rPr lang="en-US" dirty="0" err="1"/>
                  <a:t>возникает</a:t>
                </a:r>
                <a:r>
                  <a:rPr lang="en-US" dirty="0"/>
                  <a:t> </a:t>
                </a:r>
                <a:r>
                  <a:rPr lang="en-US" dirty="0" err="1"/>
                  <a:t>следующий</a:t>
                </a:r>
                <a:r>
                  <a:rPr lang="en-US" dirty="0"/>
                  <a:t> </a:t>
                </a:r>
                <a:r>
                  <a:rPr lang="en-US" dirty="0" err="1"/>
                  <a:t>вопрос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 err="1"/>
                  <a:t>Мы</a:t>
                </a:r>
                <a:r>
                  <a:rPr lang="en-US" dirty="0"/>
                  <a:t> </a:t>
                </a:r>
                <a:r>
                  <a:rPr lang="en-US" dirty="0" err="1"/>
                  <a:t>выбрали</a:t>
                </a:r>
                <a:r>
                  <a:rPr lang="en-US" dirty="0"/>
                  <a:t> </a:t>
                </a:r>
                <a:r>
                  <a:rPr lang="en-US" dirty="0" err="1"/>
                  <a:t>квант</a:t>
                </a:r>
                <a:r>
                  <a:rPr lang="en-US" dirty="0"/>
                  <a:t> 2 </a:t>
                </a:r>
                <a:r>
                  <a:rPr lang="en-US" dirty="0" err="1"/>
                  <a:t>миллисекунды</a:t>
                </a:r>
                <a:r>
                  <a:rPr lang="en-US" dirty="0"/>
                  <a:t>. А </a:t>
                </a:r>
                <a:r>
                  <a:rPr lang="en-US" dirty="0" err="1"/>
                  <a:t>почему</a:t>
                </a:r>
                <a:r>
                  <a:rPr lang="en-US" dirty="0"/>
                  <a:t> </a:t>
                </a:r>
                <a:r>
                  <a:rPr lang="en-US" dirty="0" err="1"/>
                  <a:t>именно</a:t>
                </a:r>
                <a:r>
                  <a:rPr lang="en-US" dirty="0"/>
                  <a:t> 2?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изменится</a:t>
                </a:r>
                <a:r>
                  <a:rPr lang="en-US" dirty="0"/>
                  <a:t>, </a:t>
                </a:r>
                <a:r>
                  <a:rPr lang="en-US" dirty="0" err="1"/>
                  <a:t>если</a:t>
                </a:r>
                <a:r>
                  <a:rPr lang="en-US" dirty="0"/>
                  <a:t> </a:t>
                </a:r>
                <a:r>
                  <a:rPr lang="en-US" dirty="0" err="1"/>
                  <a:t>квант</a:t>
                </a:r>
                <a:r>
                  <a:rPr lang="en-US" dirty="0"/>
                  <a:t> </a:t>
                </a:r>
                <a:r>
                  <a:rPr lang="en-US" dirty="0" err="1"/>
                  <a:t>сделать</a:t>
                </a:r>
                <a:r>
                  <a:rPr lang="en-US" dirty="0"/>
                  <a:t> </a:t>
                </a:r>
                <a:r>
                  <a:rPr lang="en-US" dirty="0" err="1"/>
                  <a:t>гораздо</a:t>
                </a:r>
                <a:r>
                  <a:rPr lang="en-US" dirty="0"/>
                  <a:t> </a:t>
                </a:r>
                <a:r>
                  <a:rPr lang="en-US" dirty="0" err="1"/>
                  <a:t>меньше</a:t>
                </a:r>
                <a:r>
                  <a:rPr lang="en-US" dirty="0"/>
                  <a:t> </a:t>
                </a:r>
                <a:r>
                  <a:rPr lang="en-US" dirty="0" err="1"/>
                  <a:t>или</a:t>
                </a:r>
                <a:r>
                  <a:rPr lang="en-US" dirty="0"/>
                  <a:t> </a:t>
                </a:r>
                <a:r>
                  <a:rPr lang="en-US" dirty="0" err="1"/>
                  <a:t>больше</a:t>
                </a:r>
                <a:r>
                  <a:rPr lang="en-US" dirty="0"/>
                  <a:t>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err="1"/>
                  <a:t>До</a:t>
                </a:r>
                <a:r>
                  <a:rPr lang="en-US" dirty="0"/>
                  <a:t> </a:t>
                </a:r>
                <a:r>
                  <a:rPr lang="en-US" dirty="0" err="1"/>
                  <a:t>сих</a:t>
                </a:r>
                <a:r>
                  <a:rPr lang="en-US" dirty="0"/>
                  <a:t> </a:t>
                </a:r>
                <a:r>
                  <a:rPr lang="en-US" dirty="0" err="1"/>
                  <a:t>пор</a:t>
                </a:r>
                <a:r>
                  <a:rPr lang="en-US" dirty="0"/>
                  <a:t> </a:t>
                </a:r>
                <a:r>
                  <a:rPr lang="en-US" dirty="0" err="1"/>
                  <a:t>мы</a:t>
                </a:r>
                <a:r>
                  <a:rPr lang="en-US" dirty="0"/>
                  <a:t> </a:t>
                </a:r>
                <a:r>
                  <a:rPr lang="en-US" dirty="0" err="1"/>
                  <a:t>рассматривали</a:t>
                </a:r>
                <a:r>
                  <a:rPr lang="en-US" dirty="0"/>
                  <a:t> </a:t>
                </a:r>
                <a:r>
                  <a:rPr lang="en-US" dirty="0" err="1"/>
                  <a:t>алгоритмы</a:t>
                </a:r>
                <a:r>
                  <a:rPr lang="en-US" dirty="0"/>
                  <a:t>, </a:t>
                </a:r>
                <a:r>
                  <a:rPr lang="en-US" dirty="0" err="1"/>
                  <a:t>которые</a:t>
                </a:r>
                <a:r>
                  <a:rPr lang="en-US" dirty="0"/>
                  <a:t> </a:t>
                </a:r>
                <a:r>
                  <a:rPr lang="en-US" dirty="0" err="1"/>
                  <a:t>выбирают</a:t>
                </a:r>
                <a:r>
                  <a:rPr lang="en-US" dirty="0"/>
                  <a:t> </a:t>
                </a:r>
                <a:r>
                  <a:rPr lang="en-US" dirty="0" err="1"/>
                  <a:t>задачу</a:t>
                </a:r>
                <a:r>
                  <a:rPr lang="en-US" dirty="0"/>
                  <a:t> </a:t>
                </a:r>
                <a:r>
                  <a:rPr lang="en-US" dirty="0" err="1"/>
                  <a:t>по</a:t>
                </a:r>
                <a:r>
                  <a:rPr lang="en-US" dirty="0"/>
                  <a:t> </a:t>
                </a:r>
                <a:r>
                  <a:rPr lang="en-US" dirty="0" err="1"/>
                  <a:t>порядку</a:t>
                </a:r>
                <a:r>
                  <a:rPr lang="en-US" dirty="0"/>
                  <a:t> </a:t>
                </a:r>
                <a:r>
                  <a:rPr lang="en-US" dirty="0" err="1"/>
                  <a:t>поступления</a:t>
                </a:r>
                <a:r>
                  <a:rPr lang="en-US" dirty="0"/>
                  <a:t> </a:t>
                </a:r>
                <a:r>
                  <a:rPr lang="en-US" dirty="0" err="1"/>
                  <a:t>или</a:t>
                </a:r>
                <a:r>
                  <a:rPr lang="en-US" dirty="0"/>
                  <a:t> </a:t>
                </a:r>
                <a:r>
                  <a:rPr lang="en-US" dirty="0" err="1"/>
                  <a:t>по</a:t>
                </a:r>
                <a:r>
                  <a:rPr lang="en-US" dirty="0"/>
                  <a:t> </a:t>
                </a:r>
                <a:r>
                  <a:rPr lang="en-US" dirty="0" err="1"/>
                  <a:t>продолжительности</a:t>
                </a:r>
                <a:r>
                  <a:rPr lang="en-US" dirty="0"/>
                  <a:t> </a:t>
                </a:r>
                <a:r>
                  <a:rPr lang="en-US" dirty="0" err="1"/>
                  <a:t>вычислений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Но</a:t>
                </a:r>
                <a:r>
                  <a:rPr lang="en-US" dirty="0"/>
                  <a:t> </a:t>
                </a:r>
                <a:r>
                  <a:rPr lang="en-US" dirty="0" err="1"/>
                  <a:t>есть</a:t>
                </a:r>
                <a:r>
                  <a:rPr lang="en-US" dirty="0"/>
                  <a:t> </a:t>
                </a:r>
                <a:r>
                  <a:rPr lang="en-US" dirty="0" err="1"/>
                  <a:t>ещё</a:t>
                </a:r>
                <a:r>
                  <a:rPr lang="en-US" dirty="0"/>
                  <a:t> </a:t>
                </a:r>
                <a:r>
                  <a:rPr lang="en-US" dirty="0" err="1"/>
                  <a:t>один</a:t>
                </a:r>
                <a:r>
                  <a:rPr lang="en-US" dirty="0"/>
                  <a:t> </a:t>
                </a:r>
                <a:r>
                  <a:rPr lang="en-US" dirty="0" err="1"/>
                  <a:t>подход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 err="1"/>
                  <a:t>Вместо</a:t>
                </a:r>
                <a:r>
                  <a:rPr lang="en-US" dirty="0"/>
                  <a:t> </a:t>
                </a:r>
                <a:r>
                  <a:rPr lang="en-US" dirty="0" err="1"/>
                  <a:t>того</a:t>
                </a:r>
                <a:r>
                  <a:rPr lang="en-US" dirty="0"/>
                  <a:t> </a:t>
                </a:r>
                <a:r>
                  <a:rPr lang="en-US" dirty="0" err="1"/>
                  <a:t>чтобы</a:t>
                </a:r>
                <a:r>
                  <a:rPr lang="en-US" dirty="0"/>
                  <a:t> </a:t>
                </a:r>
                <a:r>
                  <a:rPr lang="en-US" dirty="0" err="1"/>
                  <a:t>позволять</a:t>
                </a:r>
                <a:r>
                  <a:rPr lang="en-US" dirty="0"/>
                  <a:t> </a:t>
                </a:r>
                <a:r>
                  <a:rPr lang="en-US" dirty="0" err="1"/>
                  <a:t>одной</a:t>
                </a:r>
                <a:r>
                  <a:rPr lang="en-US" dirty="0"/>
                  <a:t> </a:t>
                </a:r>
                <a:r>
                  <a:rPr lang="en-US" dirty="0" err="1"/>
                  <a:t>задаче</a:t>
                </a:r>
                <a:r>
                  <a:rPr lang="en-US" dirty="0"/>
                  <a:t> </a:t>
                </a:r>
                <a:r>
                  <a:rPr lang="en-US" dirty="0" err="1"/>
                  <a:t>занимать</a:t>
                </a:r>
                <a:r>
                  <a:rPr lang="en-US" dirty="0"/>
                  <a:t> </a:t>
                </a:r>
                <a:r>
                  <a:rPr lang="en-US" dirty="0" err="1"/>
                  <a:t>процессор</a:t>
                </a:r>
                <a:r>
                  <a:rPr lang="en-US" dirty="0"/>
                  <a:t> </a:t>
                </a:r>
                <a:r>
                  <a:rPr lang="en-US" dirty="0" err="1"/>
                  <a:t>до</a:t>
                </a:r>
                <a:r>
                  <a:rPr lang="en-US" dirty="0"/>
                  <a:t> </a:t>
                </a:r>
                <a:r>
                  <a:rPr lang="en-US" dirty="0" err="1"/>
                  <a:t>завершения</a:t>
                </a:r>
                <a:r>
                  <a:rPr lang="en-US" dirty="0"/>
                  <a:t>, </a:t>
                </a:r>
                <a:r>
                  <a:rPr lang="en-US" dirty="0" err="1"/>
                  <a:t>можно</a:t>
                </a:r>
                <a:r>
                  <a:rPr lang="en-US" dirty="0"/>
                  <a:t> </a:t>
                </a:r>
                <a:r>
                  <a:rPr lang="en-US" dirty="0" err="1"/>
                  <a:t>выделять</a:t>
                </a:r>
                <a:r>
                  <a:rPr lang="en-US" dirty="0"/>
                  <a:t> </a:t>
                </a:r>
                <a:r>
                  <a:rPr lang="en-US" dirty="0" err="1"/>
                  <a:t>каждой</a:t>
                </a:r>
                <a:r>
                  <a:rPr lang="en-US" dirty="0"/>
                  <a:t> </a:t>
                </a:r>
                <a:r>
                  <a:rPr lang="en-US" dirty="0" err="1"/>
                  <a:t>задаче</a:t>
                </a:r>
                <a:r>
                  <a:rPr lang="en-US" dirty="0"/>
                  <a:t> </a:t>
                </a:r>
                <a:r>
                  <a:rPr lang="en-US" dirty="0" err="1"/>
                  <a:t>небольшой</a:t>
                </a:r>
                <a:r>
                  <a:rPr lang="en-US" dirty="0"/>
                  <a:t> </a:t>
                </a:r>
                <a:r>
                  <a:rPr lang="en-US" dirty="0" err="1"/>
                  <a:t>интервал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, </a:t>
                </a:r>
                <a:r>
                  <a:rPr lang="en-US" dirty="0" err="1"/>
                  <a:t>после</a:t>
                </a:r>
                <a:r>
                  <a:rPr lang="en-US" dirty="0"/>
                  <a:t> </a:t>
                </a:r>
                <a:r>
                  <a:rPr lang="en-US" dirty="0" err="1"/>
                  <a:t>которого</a:t>
                </a:r>
                <a:r>
                  <a:rPr lang="en-US" dirty="0"/>
                  <a:t> </a:t>
                </a:r>
                <a:r>
                  <a:rPr lang="en-US" dirty="0" err="1"/>
                  <a:t>процессор</a:t>
                </a:r>
                <a:r>
                  <a:rPr lang="en-US" dirty="0"/>
                  <a:t> </a:t>
                </a:r>
                <a:r>
                  <a:rPr lang="en-US" dirty="0" err="1"/>
                  <a:t>передаётся</a:t>
                </a:r>
                <a:r>
                  <a:rPr lang="en-US" dirty="0"/>
                  <a:t> </a:t>
                </a:r>
                <a:r>
                  <a:rPr lang="en-US" dirty="0" err="1"/>
                  <a:t>следующей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этом</a:t>
                </a:r>
                <a:r>
                  <a:rPr lang="en-US" dirty="0"/>
                  <a:t> </a:t>
                </a:r>
                <a:r>
                  <a:rPr lang="en-US" dirty="0" err="1"/>
                  <a:t>принципе</a:t>
                </a:r>
                <a:r>
                  <a:rPr lang="en-US" dirty="0"/>
                  <a:t> </a:t>
                </a:r>
                <a:r>
                  <a:rPr lang="en-US" dirty="0" err="1"/>
                  <a:t>основан</a:t>
                </a:r>
                <a:r>
                  <a:rPr lang="en-US" dirty="0"/>
                  <a:t> </a:t>
                </a:r>
                <a:r>
                  <a:rPr lang="en-US" dirty="0" err="1"/>
                  <a:t>алгоритм</a:t>
                </a:r>
                <a:r>
                  <a:rPr lang="en-US" dirty="0"/>
                  <a:t> Round Robin — </a:t>
                </a:r>
                <a:r>
                  <a:rPr lang="en-US" dirty="0" err="1"/>
                  <a:t>циклическое</a:t>
                </a:r>
                <a:r>
                  <a:rPr lang="en-US" dirty="0"/>
                  <a:t> </a:t>
                </a:r>
                <a:r>
                  <a:rPr lang="en-US" dirty="0" err="1"/>
                  <a:t>планирование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 err="1"/>
                  <a:t>Представим</a:t>
                </a:r>
                <a:r>
                  <a:rPr lang="en-US" dirty="0"/>
                  <a:t> </a:t>
                </a:r>
                <a:r>
                  <a:rPr lang="en-US" dirty="0" err="1"/>
                  <a:t>очередь</a:t>
                </a:r>
                <a:r>
                  <a:rPr lang="en-US" dirty="0"/>
                  <a:t> </a:t>
                </a:r>
                <a:r>
                  <a:rPr lang="en-US" dirty="0" err="1"/>
                  <a:t>готовых</a:t>
                </a:r>
                <a:r>
                  <a:rPr lang="en-US" dirty="0"/>
                  <a:t> </a:t>
                </a:r>
                <a:r>
                  <a:rPr lang="en-US" dirty="0" err="1"/>
                  <a:t>задач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Планировщик</a:t>
                </a:r>
                <a:r>
                  <a:rPr lang="en-US" dirty="0"/>
                  <a:t> </a:t>
                </a:r>
                <a:r>
                  <a:rPr lang="en-US" dirty="0" err="1"/>
                  <a:t>выбирает</a:t>
                </a:r>
                <a:r>
                  <a:rPr lang="en-US" dirty="0"/>
                  <a:t> </a:t>
                </a:r>
                <a:r>
                  <a:rPr lang="en-US" dirty="0" err="1"/>
                  <a:t>первую</a:t>
                </a:r>
                <a:r>
                  <a:rPr lang="en-US" dirty="0"/>
                  <a:t> </a:t>
                </a:r>
                <a:r>
                  <a:rPr lang="en-US" dirty="0" err="1"/>
                  <a:t>задачу</a:t>
                </a:r>
                <a:r>
                  <a:rPr lang="en-US" dirty="0"/>
                  <a:t> и </a:t>
                </a:r>
                <a:r>
                  <a:rPr lang="en-US" dirty="0" err="1"/>
                  <a:t>предоставляет</a:t>
                </a:r>
                <a:r>
                  <a:rPr lang="en-US" dirty="0"/>
                  <a:t> </a:t>
                </a:r>
                <a:r>
                  <a:rPr lang="en-US" dirty="0" err="1"/>
                  <a:t>ей</a:t>
                </a:r>
                <a:r>
                  <a:rPr lang="en-US" dirty="0"/>
                  <a:t> </a:t>
                </a:r>
                <a:r>
                  <a:rPr lang="en-US" dirty="0" err="1"/>
                  <a:t>процессор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ограниченное</a:t>
                </a:r>
                <a:r>
                  <a:rPr lang="en-US" dirty="0"/>
                  <a:t> </a:t>
                </a:r>
                <a:r>
                  <a:rPr lang="en-US" dirty="0" err="1"/>
                  <a:t>время</a:t>
                </a:r>
                <a:r>
                  <a:rPr lang="en-US" dirty="0"/>
                  <a:t>, </a:t>
                </a:r>
                <a:r>
                  <a:rPr lang="en-US" dirty="0" err="1"/>
                  <a:t>называемое</a:t>
                </a:r>
                <a:r>
                  <a:rPr lang="en-US" dirty="0"/>
                  <a:t> </a:t>
                </a:r>
                <a:r>
                  <a:rPr lang="en-US" dirty="0" err="1"/>
                  <a:t>квантом</a:t>
                </a:r>
                <a:r>
                  <a:rPr lang="en-US" dirty="0"/>
                  <a:t>, </a:t>
                </a:r>
                <a:r>
                  <a:rPr lang="en-US" dirty="0" err="1"/>
                  <a:t>или</a:t>
                </a:r>
                <a:r>
                  <a:rPr lang="en-US" dirty="0"/>
                  <a:t> Time Quantum.</a:t>
                </a:r>
              </a:p>
              <a:p>
                <a:r>
                  <a:rPr lang="en-US" dirty="0" err="1"/>
                  <a:t>Если</a:t>
                </a:r>
                <a:r>
                  <a:rPr lang="en-US" dirty="0"/>
                  <a:t> </a:t>
                </a:r>
                <a:r>
                  <a:rPr lang="en-US" dirty="0" err="1"/>
                  <a:t>задача</a:t>
                </a:r>
                <a:r>
                  <a:rPr lang="en-US" dirty="0"/>
                  <a:t> </a:t>
                </a:r>
                <a:r>
                  <a:rPr lang="en-US" dirty="0" err="1"/>
                  <a:t>успела</a:t>
                </a:r>
                <a:r>
                  <a:rPr lang="en-US" dirty="0"/>
                  <a:t> </a:t>
                </a:r>
                <a:r>
                  <a:rPr lang="en-US" dirty="0" err="1"/>
                  <a:t>завершиться</a:t>
                </a:r>
                <a:r>
                  <a:rPr lang="en-US" dirty="0"/>
                  <a:t> </a:t>
                </a:r>
                <a:r>
                  <a:rPr lang="en-US" dirty="0" err="1"/>
                  <a:t>за</a:t>
                </a:r>
                <a:r>
                  <a:rPr lang="en-US" dirty="0"/>
                  <a:t> </a:t>
                </a:r>
                <a:r>
                  <a:rPr lang="en-US" dirty="0" err="1"/>
                  <a:t>это</a:t>
                </a:r>
                <a:r>
                  <a:rPr lang="en-US" dirty="0"/>
                  <a:t> </a:t>
                </a:r>
                <a:r>
                  <a:rPr lang="en-US" dirty="0" err="1"/>
                  <a:t>время</a:t>
                </a:r>
                <a:r>
                  <a:rPr lang="en-US" dirty="0"/>
                  <a:t>, </a:t>
                </a:r>
                <a:r>
                  <a:rPr lang="en-US" dirty="0" err="1"/>
                  <a:t>она</a:t>
                </a:r>
                <a:r>
                  <a:rPr lang="en-US" dirty="0"/>
                  <a:t> </a:t>
                </a:r>
                <a:r>
                  <a:rPr lang="en-US" dirty="0" err="1"/>
                  <a:t>покидает</a:t>
                </a:r>
                <a:r>
                  <a:rPr lang="en-US" dirty="0"/>
                  <a:t> </a:t>
                </a:r>
                <a:r>
                  <a:rPr lang="en-US" dirty="0" err="1"/>
                  <a:t>очередь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Если</a:t>
                </a:r>
                <a:r>
                  <a:rPr lang="en-US" dirty="0"/>
                  <a:t> </a:t>
                </a:r>
                <a:r>
                  <a:rPr lang="en-US" dirty="0" err="1"/>
                  <a:t>задача</a:t>
                </a:r>
                <a:r>
                  <a:rPr lang="en-US" dirty="0"/>
                  <a:t> </a:t>
                </a:r>
                <a:r>
                  <a:rPr lang="en-US" dirty="0" err="1"/>
                  <a:t>заблокировалась</a:t>
                </a:r>
                <a:r>
                  <a:rPr lang="en-US" dirty="0"/>
                  <a:t>, </a:t>
                </a:r>
                <a:r>
                  <a:rPr lang="en-US" dirty="0" err="1"/>
                  <a:t>она</a:t>
                </a:r>
                <a:r>
                  <a:rPr lang="en-US" dirty="0"/>
                  <a:t> </a:t>
                </a:r>
                <a:r>
                  <a:rPr lang="en-US" dirty="0" err="1"/>
                  <a:t>также</a:t>
                </a:r>
                <a:r>
                  <a:rPr lang="en-US" dirty="0"/>
                  <a:t> </a:t>
                </a:r>
                <a:r>
                  <a:rPr lang="en-US" dirty="0" err="1"/>
                  <a:t>перестаёт</a:t>
                </a:r>
                <a:r>
                  <a:rPr lang="en-US" dirty="0"/>
                  <a:t> </a:t>
                </a:r>
                <a:r>
                  <a:rPr lang="en-US" dirty="0" err="1"/>
                  <a:t>конкурировать</a:t>
                </a:r>
                <a:r>
                  <a:rPr lang="en-US" dirty="0"/>
                  <a:t> </a:t>
                </a:r>
                <a:r>
                  <a:rPr lang="en-US" dirty="0" err="1"/>
                  <a:t>за</a:t>
                </a:r>
                <a:r>
                  <a:rPr lang="en-US" dirty="0"/>
                  <a:t> CPU </a:t>
                </a:r>
                <a:r>
                  <a:rPr lang="en-US" dirty="0" err="1"/>
                  <a:t>до</a:t>
                </a:r>
                <a:r>
                  <a:rPr lang="en-US" dirty="0"/>
                  <a:t> </a:t>
                </a:r>
                <a:r>
                  <a:rPr lang="en-US" dirty="0" err="1"/>
                  <a:t>пробуждения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А </a:t>
                </a:r>
                <a:r>
                  <a:rPr lang="en-US" dirty="0" err="1"/>
                  <a:t>если</a:t>
                </a:r>
                <a:r>
                  <a:rPr lang="en-US" dirty="0"/>
                  <a:t> </a:t>
                </a:r>
                <a:r>
                  <a:rPr lang="en-US" dirty="0" err="1"/>
                  <a:t>квант</a:t>
                </a:r>
                <a:r>
                  <a:rPr lang="en-US" dirty="0"/>
                  <a:t> </a:t>
                </a:r>
                <a:r>
                  <a:rPr lang="en-US" dirty="0" err="1"/>
                  <a:t>истёк</a:t>
                </a:r>
                <a:r>
                  <a:rPr lang="en-US" dirty="0"/>
                  <a:t> и </a:t>
                </a:r>
                <a:r>
                  <a:rPr lang="en-US" dirty="0" err="1"/>
                  <a:t>задача</a:t>
                </a:r>
                <a:r>
                  <a:rPr lang="en-US" dirty="0"/>
                  <a:t> </a:t>
                </a:r>
                <a:r>
                  <a:rPr lang="en-US" dirty="0" err="1"/>
                  <a:t>всё</a:t>
                </a:r>
                <a:r>
                  <a:rPr lang="en-US" dirty="0"/>
                  <a:t> </a:t>
                </a:r>
                <a:r>
                  <a:rPr lang="en-US" dirty="0" err="1"/>
                  <a:t>ещё</a:t>
                </a:r>
                <a:r>
                  <a:rPr lang="en-US" dirty="0"/>
                  <a:t> </a:t>
                </a:r>
                <a:r>
                  <a:rPr lang="en-US" dirty="0" err="1"/>
                  <a:t>готова</a:t>
                </a:r>
                <a:r>
                  <a:rPr lang="en-US" dirty="0"/>
                  <a:t> </a:t>
                </a:r>
                <a:r>
                  <a:rPr lang="en-US" dirty="0" err="1"/>
                  <a:t>продолжать</a:t>
                </a:r>
                <a:r>
                  <a:rPr lang="en-US" dirty="0"/>
                  <a:t> </a:t>
                </a:r>
                <a:r>
                  <a:rPr lang="en-US" dirty="0" err="1"/>
                  <a:t>выполнение</a:t>
                </a:r>
                <a:r>
                  <a:rPr lang="en-US" dirty="0"/>
                  <a:t>, </a:t>
                </a:r>
                <a:r>
                  <a:rPr lang="en-US" dirty="0" err="1"/>
                  <a:t>она</a:t>
                </a:r>
                <a:r>
                  <a:rPr lang="en-US" dirty="0"/>
                  <a:t> </a:t>
                </a:r>
                <a:r>
                  <a:rPr lang="en-US" dirty="0" err="1"/>
                  <a:t>перемещается</a:t>
                </a:r>
                <a:r>
                  <a:rPr lang="en-US" dirty="0"/>
                  <a:t> в </a:t>
                </a:r>
                <a:r>
                  <a:rPr lang="en-US" dirty="0" err="1"/>
                  <a:t>конец</a:t>
                </a:r>
                <a:r>
                  <a:rPr lang="en-US" dirty="0"/>
                  <a:t> </a:t>
                </a:r>
                <a:r>
                  <a:rPr lang="en-US" dirty="0" err="1"/>
                  <a:t>очереди</a:t>
                </a:r>
                <a:r>
                  <a:rPr lang="en-US" dirty="0"/>
                  <a:t>. CPU </a:t>
                </a:r>
                <a:r>
                  <a:rPr lang="en-US" dirty="0" err="1"/>
                  <a:t>получает</a:t>
                </a:r>
                <a:r>
                  <a:rPr lang="en-US" dirty="0"/>
                  <a:t> </a:t>
                </a:r>
                <a:r>
                  <a:rPr lang="en-US" dirty="0" err="1"/>
                  <a:t>следующая</a:t>
                </a:r>
                <a:r>
                  <a:rPr lang="en-US" dirty="0"/>
                  <a:t> </a:t>
                </a:r>
                <a:r>
                  <a:rPr lang="en-US" dirty="0" err="1"/>
                  <a:t>задача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 err="1"/>
                  <a:t>Давайте</a:t>
                </a:r>
                <a:r>
                  <a:rPr lang="en-US" dirty="0"/>
                  <a:t> </a:t>
                </a:r>
                <a:r>
                  <a:rPr lang="en-US" dirty="0" err="1"/>
                  <a:t>посмотрим</a:t>
                </a:r>
                <a:r>
                  <a:rPr lang="en-US" dirty="0"/>
                  <a:t>, </a:t>
                </a:r>
                <a:r>
                  <a:rPr lang="en-US" dirty="0" err="1"/>
                  <a:t>как</a:t>
                </a:r>
                <a:r>
                  <a:rPr lang="en-US" dirty="0"/>
                  <a:t> </a:t>
                </a:r>
                <a:r>
                  <a:rPr lang="en-US" dirty="0" err="1"/>
                  <a:t>это</a:t>
                </a:r>
                <a:r>
                  <a:rPr lang="en-US" dirty="0"/>
                  <a:t> </a:t>
                </a:r>
                <a:r>
                  <a:rPr lang="en-US" dirty="0" err="1"/>
                  <a:t>работает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нашем</a:t>
                </a:r>
                <a:r>
                  <a:rPr lang="en-US" dirty="0"/>
                  <a:t> </a:t>
                </a:r>
                <a:r>
                  <a:rPr lang="en-US" dirty="0" err="1"/>
                  <a:t>примере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У </a:t>
                </a:r>
                <a:r>
                  <a:rPr lang="en-US" dirty="0" err="1"/>
                  <a:t>нас</a:t>
                </a:r>
                <a:r>
                  <a:rPr lang="en-US" dirty="0"/>
                  <a:t> </a:t>
                </a:r>
                <a:r>
                  <a:rPr lang="en-US" dirty="0" err="1"/>
                  <a:t>четыре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 с </a:t>
                </a:r>
                <a:r>
                  <a:rPr lang="en-US" dirty="0" err="1"/>
                  <a:t>длительностями</a:t>
                </a:r>
                <a:r>
                  <a:rPr lang="en-US" dirty="0"/>
                  <a:t> 8, 4, 4 и 4 </a:t>
                </a:r>
                <a:r>
                  <a:rPr lang="en-US" dirty="0" err="1"/>
                  <a:t>миллисекунды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 err="1"/>
                  <a:t>Выберем</a:t>
                </a:r>
                <a:r>
                  <a:rPr lang="en-US" dirty="0"/>
                  <a:t> </a:t>
                </a:r>
                <a:r>
                  <a:rPr lang="en-US" dirty="0" err="1"/>
                  <a:t>квант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 2 </a:t>
                </a:r>
                <a:r>
                  <a:rPr lang="en-US" dirty="0" err="1"/>
                  <a:t>миллисекунды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Сначала</a:t>
                </a:r>
                <a:r>
                  <a:rPr lang="en-US" dirty="0"/>
                  <a:t> A </a:t>
                </a:r>
                <a:r>
                  <a:rPr lang="en-US" dirty="0" err="1"/>
                  <a:t>работает</a:t>
                </a:r>
                <a:r>
                  <a:rPr lang="en-US" dirty="0"/>
                  <a:t> с 0 </a:t>
                </a:r>
                <a:r>
                  <a:rPr lang="en-US" dirty="0" err="1"/>
                  <a:t>до</a:t>
                </a:r>
                <a:r>
                  <a:rPr lang="en-US" dirty="0"/>
                  <a:t> 2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. </a:t>
                </a:r>
                <a:r>
                  <a:rPr lang="en-US" dirty="0" err="1"/>
                  <a:t>Она</a:t>
                </a:r>
                <a:r>
                  <a:rPr lang="en-US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успевает</a:t>
                </a:r>
                <a:r>
                  <a:rPr lang="en-US" dirty="0"/>
                  <a:t> </a:t>
                </a:r>
                <a:r>
                  <a:rPr lang="en-US" dirty="0" err="1"/>
                  <a:t>завершиться</a:t>
                </a:r>
                <a:r>
                  <a:rPr lang="en-US" dirty="0"/>
                  <a:t>, </a:t>
                </a:r>
                <a:r>
                  <a:rPr lang="en-US" dirty="0" err="1"/>
                  <a:t>поэтому</a:t>
                </a:r>
                <a:r>
                  <a:rPr lang="en-US" dirty="0"/>
                  <a:t> </a:t>
                </a:r>
                <a:r>
                  <a:rPr lang="en-US" dirty="0" err="1"/>
                  <a:t>возвращается</a:t>
                </a:r>
                <a:r>
                  <a:rPr lang="en-US" dirty="0"/>
                  <a:t> в </a:t>
                </a:r>
                <a:r>
                  <a:rPr lang="en-US" dirty="0" err="1"/>
                  <a:t>конец</a:t>
                </a:r>
                <a:r>
                  <a:rPr lang="en-US" dirty="0"/>
                  <a:t> </a:t>
                </a:r>
                <a:r>
                  <a:rPr lang="en-US" dirty="0" err="1"/>
                  <a:t>очереди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Затем</a:t>
                </a:r>
                <a:r>
                  <a:rPr lang="en-US" dirty="0"/>
                  <a:t> B </a:t>
                </a:r>
                <a:r>
                  <a:rPr lang="en-US" dirty="0" err="1"/>
                  <a:t>выполняется</a:t>
                </a:r>
                <a:r>
                  <a:rPr lang="en-US" dirty="0"/>
                  <a:t> с 2 </a:t>
                </a:r>
                <a:r>
                  <a:rPr lang="en-US" dirty="0" err="1"/>
                  <a:t>до</a:t>
                </a:r>
                <a:r>
                  <a:rPr lang="en-US" dirty="0"/>
                  <a:t> 4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, C — с 4 </a:t>
                </a:r>
                <a:r>
                  <a:rPr lang="en-US" dirty="0" err="1"/>
                  <a:t>до</a:t>
                </a:r>
                <a:r>
                  <a:rPr lang="en-US" dirty="0"/>
                  <a:t> 6, D — с 6 </a:t>
                </a:r>
                <a:r>
                  <a:rPr lang="en-US" dirty="0" err="1"/>
                  <a:t>до</a:t>
                </a:r>
                <a:r>
                  <a:rPr lang="en-US" dirty="0"/>
                  <a:t> 8.</a:t>
                </a:r>
              </a:p>
              <a:p>
                <a:r>
                  <a:rPr lang="en-US" dirty="0" err="1"/>
                  <a:t>После</a:t>
                </a:r>
                <a:r>
                  <a:rPr lang="en-US" dirty="0"/>
                  <a:t> </a:t>
                </a:r>
                <a:r>
                  <a:rPr lang="en-US" dirty="0" err="1"/>
                  <a:t>этого</a:t>
                </a:r>
                <a:r>
                  <a:rPr lang="en-US" dirty="0"/>
                  <a:t> </a:t>
                </a:r>
                <a:r>
                  <a:rPr lang="en-US" dirty="0" err="1"/>
                  <a:t>планировщик</a:t>
                </a:r>
                <a:r>
                  <a:rPr lang="en-US" dirty="0"/>
                  <a:t> </a:t>
                </a:r>
                <a:r>
                  <a:rPr lang="en-US" dirty="0" err="1"/>
                  <a:t>снова</a:t>
                </a:r>
                <a:r>
                  <a:rPr lang="en-US" dirty="0"/>
                  <a:t> </a:t>
                </a:r>
                <a:r>
                  <a:rPr lang="en-US" dirty="0" err="1"/>
                  <a:t>выбирает</a:t>
                </a:r>
                <a:r>
                  <a:rPr lang="en-US" dirty="0"/>
                  <a:t> A.</a:t>
                </a:r>
                <a:endParaRPr lang="ru-RU" dirty="0"/>
              </a:p>
              <a:p>
                <a:r>
                  <a:rPr lang="en-US" dirty="0"/>
                  <a:t>И </a:t>
                </a:r>
                <a:r>
                  <a:rPr lang="en-US" dirty="0" err="1"/>
                  <a:t>так</a:t>
                </a:r>
                <a:r>
                  <a:rPr lang="en-US" dirty="0"/>
                  <a:t> </a:t>
                </a:r>
                <a:r>
                  <a:rPr lang="en-US" dirty="0" err="1"/>
                  <a:t>далее</a:t>
                </a:r>
                <a:r>
                  <a:rPr lang="en-US" dirty="0"/>
                  <a:t>, </a:t>
                </a:r>
                <a:r>
                  <a:rPr lang="en-US" dirty="0" err="1"/>
                  <a:t>пока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завершатся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Обратите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важную</a:t>
                </a:r>
                <a:r>
                  <a:rPr lang="en-US" dirty="0"/>
                  <a:t> </a:t>
                </a:r>
                <a:r>
                  <a:rPr lang="en-US" dirty="0" err="1"/>
                  <a:t>особенность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При</a:t>
                </a:r>
                <a:r>
                  <a:rPr lang="en-US" dirty="0"/>
                  <a:t> FCFS </a:t>
                </a:r>
                <a:r>
                  <a:rPr lang="en-US" dirty="0" err="1"/>
                  <a:t>задача</a:t>
                </a:r>
                <a:r>
                  <a:rPr lang="en-US" dirty="0"/>
                  <a:t> D </a:t>
                </a:r>
                <a:r>
                  <a:rPr lang="en-US" dirty="0" err="1"/>
                  <a:t>впервые</a:t>
                </a:r>
                <a:r>
                  <a:rPr lang="en-US" dirty="0"/>
                  <a:t> </a:t>
                </a:r>
                <a:r>
                  <a:rPr lang="en-US" dirty="0" err="1"/>
                  <a:t>получала</a:t>
                </a:r>
                <a:r>
                  <a:rPr lang="en-US" dirty="0"/>
                  <a:t> CPU </a:t>
                </a:r>
                <a:r>
                  <a:rPr lang="en-US" dirty="0" err="1"/>
                  <a:t>только</a:t>
                </a:r>
                <a:r>
                  <a:rPr lang="en-US" dirty="0"/>
                  <a:t> </a:t>
                </a:r>
                <a:r>
                  <a:rPr lang="en-US" dirty="0" err="1"/>
                  <a:t>через</a:t>
                </a:r>
                <a:r>
                  <a:rPr lang="en-US" dirty="0"/>
                  <a:t> 16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При</a:t>
                </a:r>
                <a:r>
                  <a:rPr lang="en-US" dirty="0"/>
                  <a:t> Round Robin </a:t>
                </a:r>
                <a:r>
                  <a:rPr lang="en-US" dirty="0" err="1"/>
                  <a:t>она</a:t>
                </a:r>
                <a:r>
                  <a:rPr lang="en-US" dirty="0"/>
                  <a:t> </a:t>
                </a:r>
                <a:r>
                  <a:rPr lang="en-US" dirty="0" err="1"/>
                  <a:t>начинает</a:t>
                </a:r>
                <a:r>
                  <a:rPr lang="en-US" dirty="0"/>
                  <a:t> </a:t>
                </a:r>
                <a:r>
                  <a:rPr lang="en-US" dirty="0" err="1"/>
                  <a:t>выполняться</a:t>
                </a:r>
                <a:r>
                  <a:rPr lang="en-US" dirty="0"/>
                  <a:t> </a:t>
                </a:r>
                <a:r>
                  <a:rPr lang="en-US" dirty="0" err="1"/>
                  <a:t>уже</a:t>
                </a:r>
                <a:r>
                  <a:rPr lang="en-US" dirty="0"/>
                  <a:t> </a:t>
                </a:r>
                <a:r>
                  <a:rPr lang="en-US" dirty="0" err="1"/>
                  <a:t>через</a:t>
                </a:r>
                <a:r>
                  <a:rPr lang="en-US" dirty="0"/>
                  <a:t> 6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А </a:t>
                </a:r>
                <a:r>
                  <a:rPr lang="en-US" dirty="0" err="1"/>
                  <a:t>задача</a:t>
                </a:r>
                <a:r>
                  <a:rPr lang="en-US" dirty="0"/>
                  <a:t> B </a:t>
                </a:r>
                <a:r>
                  <a:rPr lang="en-US" dirty="0" err="1"/>
                  <a:t>впервые</a:t>
                </a:r>
                <a:r>
                  <a:rPr lang="en-US" dirty="0"/>
                  <a:t> </a:t>
                </a:r>
                <a:r>
                  <a:rPr lang="en-US" dirty="0" err="1"/>
                  <a:t>получает</a:t>
                </a:r>
                <a:r>
                  <a:rPr lang="en-US" dirty="0"/>
                  <a:t> </a:t>
                </a:r>
                <a:r>
                  <a:rPr lang="en-US" dirty="0" err="1"/>
                  <a:t>процессор</a:t>
                </a:r>
                <a:r>
                  <a:rPr lang="en-US" dirty="0"/>
                  <a:t> </a:t>
                </a:r>
                <a:r>
                  <a:rPr lang="en-US" dirty="0" err="1"/>
                  <a:t>через</a:t>
                </a:r>
                <a:r>
                  <a:rPr lang="en-US" dirty="0"/>
                  <a:t> 2 </a:t>
                </a:r>
                <a:r>
                  <a:rPr lang="en-US" dirty="0" err="1"/>
                  <a:t>миллисекунды</a:t>
                </a:r>
                <a:r>
                  <a:rPr lang="en-US" dirty="0"/>
                  <a:t> </a:t>
                </a:r>
                <a:r>
                  <a:rPr lang="en-US" dirty="0" err="1"/>
                  <a:t>вместо</a:t>
                </a:r>
                <a:r>
                  <a:rPr lang="en-US" dirty="0"/>
                  <a:t> 8.</a:t>
                </a:r>
              </a:p>
              <a:p>
                <a:endParaRPr lang="ru-RU" dirty="0"/>
              </a:p>
              <a:p>
                <a:r>
                  <a:rPr lang="en-US" dirty="0" err="1"/>
                  <a:t>Получается</a:t>
                </a:r>
                <a:r>
                  <a:rPr lang="en-US" dirty="0"/>
                  <a:t>, </a:t>
                </a:r>
                <a:r>
                  <a:rPr lang="en-US" dirty="0" err="1"/>
                  <a:t>что</a:t>
                </a:r>
                <a:r>
                  <a:rPr lang="en-US" dirty="0"/>
                  <a:t> Round Robin </a:t>
                </a:r>
                <a:r>
                  <a:rPr lang="en-US" dirty="0" err="1"/>
                  <a:t>позволяет</a:t>
                </a:r>
                <a:r>
                  <a:rPr lang="en-US" dirty="0"/>
                  <a:t> </a:t>
                </a:r>
                <a:r>
                  <a:rPr lang="en-US" dirty="0" err="1"/>
                  <a:t>значительно</a:t>
                </a:r>
                <a:r>
                  <a:rPr lang="en-US" dirty="0"/>
                  <a:t> </a:t>
                </a:r>
                <a:r>
                  <a:rPr lang="en-US" dirty="0" err="1"/>
                  <a:t>уменьшить</a:t>
                </a:r>
                <a:r>
                  <a:rPr lang="en-US" dirty="0"/>
                  <a:t>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первого</a:t>
                </a:r>
                <a:r>
                  <a:rPr lang="en-US" dirty="0"/>
                  <a:t> </a:t>
                </a:r>
                <a:r>
                  <a:rPr lang="en-US" dirty="0" err="1"/>
                  <a:t>отклика</a:t>
                </a:r>
                <a:r>
                  <a:rPr lang="en-US" dirty="0"/>
                  <a:t> </a:t>
                </a:r>
                <a:r>
                  <a:rPr lang="en-US" dirty="0" err="1"/>
                  <a:t>задач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Посчитаем</a:t>
                </a:r>
                <a:r>
                  <a:rPr lang="en-US" dirty="0"/>
                  <a:t> </a:t>
                </a:r>
                <a:r>
                  <a:rPr lang="en-US" dirty="0" err="1"/>
                  <a:t>среднее</a:t>
                </a:r>
                <a:r>
                  <a:rPr lang="en-US" dirty="0"/>
                  <a:t> Response Time:</a:t>
                </a:r>
              </a:p>
              <a:p>
                <a:r>
                  <a:rPr lang="en-US" i="0">
                    <a:latin typeface="Cambria Math" panose="02040503050406030204" pitchFamily="18" charset="0"/>
                  </a:rPr>
                  <a:t>(0+2+4+6)/4=3" мс"</a:t>
                </a:r>
                <a:endParaRPr lang="en-US" dirty="0"/>
              </a:p>
              <a:p>
                <a:r>
                  <a:rPr lang="en-US" dirty="0" err="1"/>
                  <a:t>Для</a:t>
                </a:r>
                <a:r>
                  <a:rPr lang="en-US" dirty="0"/>
                  <a:t> FCFS </a:t>
                </a:r>
                <a:r>
                  <a:rPr lang="en-US" dirty="0" err="1"/>
                  <a:t>этот</a:t>
                </a:r>
                <a:r>
                  <a:rPr lang="en-US" dirty="0"/>
                  <a:t> </a:t>
                </a:r>
                <a:r>
                  <a:rPr lang="en-US" dirty="0" err="1"/>
                  <a:t>показатель</a:t>
                </a:r>
                <a:r>
                  <a:rPr lang="en-US" dirty="0"/>
                  <a:t> </a:t>
                </a:r>
                <a:r>
                  <a:rPr lang="en-US" dirty="0" err="1"/>
                  <a:t>составлял</a:t>
                </a:r>
                <a:r>
                  <a:rPr lang="en-US" dirty="0"/>
                  <a:t> 9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Но</a:t>
                </a:r>
                <a:r>
                  <a:rPr lang="en-US" dirty="0"/>
                  <a:t> </a:t>
                </a:r>
                <a:r>
                  <a:rPr lang="en-US" dirty="0" err="1"/>
                  <a:t>посмотрите</a:t>
                </a:r>
                <a:r>
                  <a:rPr lang="en-US" dirty="0"/>
                  <a:t>, </a:t>
                </a:r>
                <a:r>
                  <a:rPr lang="en-US" dirty="0" err="1"/>
                  <a:t>когда</a:t>
                </a:r>
                <a:r>
                  <a:rPr lang="en-US" dirty="0"/>
                  <a:t> </a:t>
                </a:r>
                <a:r>
                  <a:rPr lang="en-US" dirty="0" err="1"/>
                  <a:t>завершаются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B </a:t>
                </a:r>
                <a:r>
                  <a:rPr lang="en-US" dirty="0" err="1"/>
                  <a:t>завершается</a:t>
                </a:r>
                <a:r>
                  <a:rPr lang="en-US" dirty="0"/>
                  <a:t> в </a:t>
                </a:r>
                <a:r>
                  <a:rPr lang="en-US" dirty="0" err="1"/>
                  <a:t>момент</a:t>
                </a:r>
                <a:r>
                  <a:rPr lang="en-US" dirty="0"/>
                  <a:t> 12, C — в </a:t>
                </a:r>
                <a:r>
                  <a:rPr lang="en-US" dirty="0" err="1"/>
                  <a:t>момент</a:t>
                </a:r>
                <a:r>
                  <a:rPr lang="en-US" dirty="0"/>
                  <a:t> 14, D — в </a:t>
                </a:r>
                <a:r>
                  <a:rPr lang="en-US" dirty="0" err="1"/>
                  <a:t>момент</a:t>
                </a:r>
                <a:r>
                  <a:rPr lang="en-US" dirty="0"/>
                  <a:t> 16, а A — </a:t>
                </a:r>
                <a:r>
                  <a:rPr lang="en-US" dirty="0" err="1"/>
                  <a:t>только</a:t>
                </a:r>
                <a:r>
                  <a:rPr lang="en-US" dirty="0"/>
                  <a:t> в </a:t>
                </a:r>
                <a:r>
                  <a:rPr lang="en-US" dirty="0" err="1"/>
                  <a:t>момент</a:t>
                </a:r>
                <a:r>
                  <a:rPr lang="en-US" dirty="0"/>
                  <a:t> 20.</a:t>
                </a:r>
              </a:p>
              <a:p>
                <a:r>
                  <a:rPr lang="en-US" dirty="0" err="1"/>
                  <a:t>Среднее</a:t>
                </a:r>
                <a:r>
                  <a:rPr lang="en-US" dirty="0"/>
                  <a:t> Turnaround Time </a:t>
                </a:r>
                <a:r>
                  <a:rPr lang="en-US" dirty="0" err="1"/>
                  <a:t>составляет</a:t>
                </a:r>
                <a:r>
                  <a:rPr lang="en-US" dirty="0"/>
                  <a:t> 15,5 </a:t>
                </a:r>
                <a:r>
                  <a:rPr lang="en-US" dirty="0" err="1"/>
                  <a:t>миллисекунды</a:t>
                </a:r>
                <a:r>
                  <a:rPr lang="en-US" dirty="0"/>
                  <a:t>. Это </a:t>
                </a:r>
                <a:r>
                  <a:rPr lang="en-US" dirty="0" err="1"/>
                  <a:t>больше</a:t>
                </a:r>
                <a:r>
                  <a:rPr lang="en-US" dirty="0"/>
                  <a:t>, </a:t>
                </a:r>
                <a:r>
                  <a:rPr lang="en-US" dirty="0" err="1"/>
                  <a:t>чем</a:t>
                </a:r>
                <a:r>
                  <a:rPr lang="en-US" dirty="0"/>
                  <a:t> у FCFS и SJF в </a:t>
                </a:r>
                <a:r>
                  <a:rPr lang="en-US" dirty="0" err="1"/>
                  <a:t>нашем</a:t>
                </a:r>
                <a:r>
                  <a:rPr lang="en-US" dirty="0"/>
                  <a:t> </a:t>
                </a:r>
                <a:r>
                  <a:rPr lang="en-US" dirty="0" err="1"/>
                  <a:t>примере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 err="1"/>
                  <a:t>Таким</a:t>
                </a:r>
                <a:r>
                  <a:rPr lang="en-US" dirty="0"/>
                  <a:t> </a:t>
                </a:r>
                <a:r>
                  <a:rPr lang="en-US" dirty="0" err="1"/>
                  <a:t>образом</a:t>
                </a:r>
                <a:r>
                  <a:rPr lang="en-US" dirty="0"/>
                  <a:t>, Round Robin </a:t>
                </a:r>
                <a:r>
                  <a:rPr lang="en-US" dirty="0" err="1"/>
                  <a:t>улучшил</a:t>
                </a:r>
                <a:r>
                  <a:rPr lang="en-US" dirty="0"/>
                  <a:t> </a:t>
                </a:r>
                <a:r>
                  <a:rPr lang="en-US" dirty="0" err="1"/>
                  <a:t>отзывчивость</a:t>
                </a:r>
                <a:r>
                  <a:rPr lang="en-US" dirty="0"/>
                  <a:t>, </a:t>
                </a:r>
                <a:r>
                  <a:rPr lang="en-US" dirty="0" err="1"/>
                  <a:t>но</a:t>
                </a:r>
                <a:r>
                  <a:rPr lang="en-US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среднее</a:t>
                </a:r>
                <a:r>
                  <a:rPr lang="en-US" dirty="0"/>
                  <a:t>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завершения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И </a:t>
                </a:r>
                <a:r>
                  <a:rPr lang="en-US" dirty="0" err="1"/>
                  <a:t>теперь</a:t>
                </a:r>
                <a:r>
                  <a:rPr lang="en-US" dirty="0"/>
                  <a:t> </a:t>
                </a:r>
                <a:r>
                  <a:rPr lang="en-US" dirty="0" err="1"/>
                  <a:t>возникает</a:t>
                </a:r>
                <a:r>
                  <a:rPr lang="en-US" dirty="0"/>
                  <a:t> </a:t>
                </a:r>
                <a:r>
                  <a:rPr lang="en-US" dirty="0" err="1"/>
                  <a:t>следующий</a:t>
                </a:r>
                <a:r>
                  <a:rPr lang="en-US" dirty="0"/>
                  <a:t> </a:t>
                </a:r>
                <a:r>
                  <a:rPr lang="en-US" dirty="0" err="1"/>
                  <a:t>вопрос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 err="1"/>
                  <a:t>Мы</a:t>
                </a:r>
                <a:r>
                  <a:rPr lang="en-US" dirty="0"/>
                  <a:t> </a:t>
                </a:r>
                <a:r>
                  <a:rPr lang="en-US" dirty="0" err="1"/>
                  <a:t>выбрали</a:t>
                </a:r>
                <a:r>
                  <a:rPr lang="en-US" dirty="0"/>
                  <a:t> </a:t>
                </a:r>
                <a:r>
                  <a:rPr lang="en-US" dirty="0" err="1"/>
                  <a:t>квант</a:t>
                </a:r>
                <a:r>
                  <a:rPr lang="en-US" dirty="0"/>
                  <a:t> 2 </a:t>
                </a:r>
                <a:r>
                  <a:rPr lang="en-US" dirty="0" err="1"/>
                  <a:t>миллисекунды</a:t>
                </a:r>
                <a:r>
                  <a:rPr lang="en-US" dirty="0"/>
                  <a:t>. А </a:t>
                </a:r>
                <a:r>
                  <a:rPr lang="en-US" dirty="0" err="1"/>
                  <a:t>почему</a:t>
                </a:r>
                <a:r>
                  <a:rPr lang="en-US" dirty="0"/>
                  <a:t> </a:t>
                </a:r>
                <a:r>
                  <a:rPr lang="en-US" dirty="0" err="1"/>
                  <a:t>именно</a:t>
                </a:r>
                <a:r>
                  <a:rPr lang="en-US" dirty="0"/>
                  <a:t> 2?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изменится</a:t>
                </a:r>
                <a:r>
                  <a:rPr lang="en-US" dirty="0"/>
                  <a:t>, </a:t>
                </a:r>
                <a:r>
                  <a:rPr lang="en-US" dirty="0" err="1"/>
                  <a:t>если</a:t>
                </a:r>
                <a:r>
                  <a:rPr lang="en-US" dirty="0"/>
                  <a:t> </a:t>
                </a:r>
                <a:r>
                  <a:rPr lang="en-US" dirty="0" err="1"/>
                  <a:t>квант</a:t>
                </a:r>
                <a:r>
                  <a:rPr lang="en-US" dirty="0"/>
                  <a:t> </a:t>
                </a:r>
                <a:r>
                  <a:rPr lang="en-US" dirty="0" err="1"/>
                  <a:t>сделать</a:t>
                </a:r>
                <a:r>
                  <a:rPr lang="en-US" dirty="0"/>
                  <a:t> </a:t>
                </a:r>
                <a:r>
                  <a:rPr lang="en-US" dirty="0" err="1"/>
                  <a:t>гораздо</a:t>
                </a:r>
                <a:r>
                  <a:rPr lang="en-US" dirty="0"/>
                  <a:t> </a:t>
                </a:r>
                <a:r>
                  <a:rPr lang="en-US" dirty="0" err="1"/>
                  <a:t>меньше</a:t>
                </a:r>
                <a:r>
                  <a:rPr lang="en-US" dirty="0"/>
                  <a:t> </a:t>
                </a:r>
                <a:r>
                  <a:rPr lang="en-US" dirty="0" err="1"/>
                  <a:t>или</a:t>
                </a:r>
                <a:r>
                  <a:rPr lang="en-US" dirty="0"/>
                  <a:t> </a:t>
                </a:r>
                <a:r>
                  <a:rPr lang="en-US" dirty="0" err="1"/>
                  <a:t>больше</a:t>
                </a:r>
                <a:r>
                  <a:rPr lang="en-US" dirty="0"/>
                  <a:t>?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9894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размер</a:t>
            </a:r>
            <a:r>
              <a:rPr lang="en-US" dirty="0"/>
              <a:t> </a:t>
            </a:r>
            <a:r>
              <a:rPr lang="en-US" dirty="0" err="1"/>
              <a:t>кванта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играет</a:t>
            </a:r>
            <a:r>
              <a:rPr lang="en-US" dirty="0"/>
              <a:t> </a:t>
            </a:r>
            <a:r>
              <a:rPr lang="en-US" dirty="0" err="1"/>
              <a:t>такую</a:t>
            </a:r>
            <a:r>
              <a:rPr lang="en-US" dirty="0"/>
              <a:t> </a:t>
            </a:r>
            <a:r>
              <a:rPr lang="en-US" dirty="0" err="1"/>
              <a:t>важную</a:t>
            </a:r>
            <a:r>
              <a:rPr lang="en-US" dirty="0"/>
              <a:t> </a:t>
            </a:r>
            <a:r>
              <a:rPr lang="en-US" dirty="0" err="1"/>
              <a:t>роль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выбрали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маленький</a:t>
            </a:r>
            <a:r>
              <a:rPr lang="en-US" dirty="0"/>
              <a:t> </a:t>
            </a:r>
            <a:r>
              <a:rPr lang="en-US" dirty="0" err="1"/>
              <a:t>квант</a:t>
            </a:r>
            <a:r>
              <a:rPr lang="en-US" dirty="0"/>
              <a:t> —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миллисекунду</a:t>
            </a:r>
            <a:r>
              <a:rPr lang="en-US" dirty="0"/>
              <a:t>.</a:t>
            </a:r>
          </a:p>
          <a:p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запускает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 A,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миллисекунду</a:t>
            </a:r>
            <a:r>
              <a:rPr lang="en-US" dirty="0"/>
              <a:t> </a:t>
            </a:r>
            <a:r>
              <a:rPr lang="en-US" dirty="0" err="1"/>
              <a:t>переключается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B,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C,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D, </a:t>
            </a:r>
            <a:r>
              <a:rPr lang="en-US" dirty="0" err="1"/>
              <a:t>потом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A.</a:t>
            </a:r>
          </a:p>
          <a:p>
            <a:r>
              <a:rPr lang="en-US" dirty="0" err="1"/>
              <a:t>Такие</a:t>
            </a:r>
            <a:r>
              <a:rPr lang="en-US" dirty="0"/>
              <a:t> </a:t>
            </a:r>
            <a:r>
              <a:rPr lang="en-US" dirty="0" err="1"/>
              <a:t>короткие</a:t>
            </a:r>
            <a:r>
              <a:rPr lang="en-US" dirty="0"/>
              <a:t> </a:t>
            </a:r>
            <a:r>
              <a:rPr lang="en-US" dirty="0" err="1"/>
              <a:t>интервалы</a:t>
            </a:r>
            <a:r>
              <a:rPr lang="en-US" dirty="0"/>
              <a:t> </a:t>
            </a:r>
            <a:r>
              <a:rPr lang="en-US" dirty="0" err="1"/>
              <a:t>позволяют</a:t>
            </a:r>
            <a:r>
              <a:rPr lang="en-US" dirty="0"/>
              <a:t> </a:t>
            </a:r>
            <a:r>
              <a:rPr lang="en-US" dirty="0" err="1"/>
              <a:t>всем</a:t>
            </a:r>
            <a:r>
              <a:rPr lang="en-US" dirty="0"/>
              <a:t> </a:t>
            </a:r>
            <a:r>
              <a:rPr lang="en-US" dirty="0" err="1"/>
              <a:t>готовым</a:t>
            </a:r>
            <a:r>
              <a:rPr lang="en-US" dirty="0"/>
              <a:t> </a:t>
            </a:r>
            <a:r>
              <a:rPr lang="en-US" dirty="0" err="1"/>
              <a:t>задачам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быстро</a:t>
            </a:r>
            <a:r>
              <a:rPr lang="en-US" dirty="0"/>
              <a:t> </a:t>
            </a:r>
            <a:r>
              <a:rPr lang="en-US" dirty="0" err="1"/>
              <a:t>получать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примере</a:t>
            </a:r>
            <a:r>
              <a:rPr lang="en-US" dirty="0"/>
              <a:t> </a:t>
            </a:r>
            <a:r>
              <a:rPr lang="en-US" dirty="0" err="1"/>
              <a:t>среднее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первого</a:t>
            </a:r>
            <a:r>
              <a:rPr lang="en-US" dirty="0"/>
              <a:t> </a:t>
            </a:r>
            <a:r>
              <a:rPr lang="en-US" dirty="0" err="1"/>
              <a:t>отклика</a:t>
            </a:r>
            <a:r>
              <a:rPr lang="en-US" dirty="0"/>
              <a:t> </a:t>
            </a:r>
            <a:r>
              <a:rPr lang="en-US" dirty="0" err="1"/>
              <a:t>составит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1,5 </a:t>
            </a:r>
            <a:r>
              <a:rPr lang="en-US" dirty="0" err="1"/>
              <a:t>миллисекунды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сколько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придётся</a:t>
            </a:r>
            <a:r>
              <a:rPr lang="en-US" dirty="0"/>
              <a:t> </a:t>
            </a:r>
            <a:r>
              <a:rPr lang="en-US" dirty="0" err="1"/>
              <a:t>переключаться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потоками</a:t>
            </a:r>
            <a:r>
              <a:rPr lang="en-US" dirty="0"/>
              <a:t>?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кванте</a:t>
            </a:r>
            <a:r>
              <a:rPr lang="en-US" dirty="0"/>
              <a:t> 1 </a:t>
            </a:r>
            <a:r>
              <a:rPr lang="en-US" dirty="0" err="1"/>
              <a:t>миллисекунда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получим</a:t>
            </a:r>
            <a:r>
              <a:rPr lang="en-US" dirty="0"/>
              <a:t> 16 </a:t>
            </a:r>
            <a:r>
              <a:rPr lang="en-US" dirty="0" err="1"/>
              <a:t>переключений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считаем</a:t>
            </a:r>
            <a:r>
              <a:rPr lang="en-US" dirty="0"/>
              <a:t> </a:t>
            </a:r>
            <a:r>
              <a:rPr lang="en-US" dirty="0" err="1"/>
              <a:t>начальный</a:t>
            </a:r>
            <a:r>
              <a:rPr lang="en-US" dirty="0"/>
              <a:t> </a:t>
            </a:r>
            <a:r>
              <a:rPr lang="en-US" dirty="0" err="1"/>
              <a:t>запуск</a:t>
            </a:r>
            <a:r>
              <a:rPr lang="en-US" dirty="0"/>
              <a:t> </a:t>
            </a:r>
            <a:r>
              <a:rPr lang="en-US" dirty="0" err="1"/>
              <a:t>первого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считаем</a:t>
            </a:r>
            <a:r>
              <a:rPr lang="en-US" dirty="0"/>
              <a:t> </a:t>
            </a:r>
            <a:r>
              <a:rPr lang="en-US" dirty="0" err="1"/>
              <a:t>повторное</a:t>
            </a:r>
            <a:r>
              <a:rPr lang="en-US" dirty="0"/>
              <a:t> </a:t>
            </a:r>
            <a:r>
              <a:rPr lang="en-US" dirty="0" err="1"/>
              <a:t>выделение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 </a:t>
            </a:r>
            <a:r>
              <a:rPr lang="en-US" dirty="0" err="1"/>
              <a:t>тому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самому</a:t>
            </a:r>
            <a:r>
              <a:rPr lang="en-US" dirty="0"/>
              <a:t> </a:t>
            </a:r>
            <a:r>
              <a:rPr lang="en-US" dirty="0" err="1"/>
              <a:t>потоку</a:t>
            </a:r>
            <a:r>
              <a:rPr lang="en-US" dirty="0"/>
              <a:t> </a:t>
            </a:r>
            <a:r>
              <a:rPr lang="en-US" dirty="0" err="1"/>
              <a:t>полноценным</a:t>
            </a:r>
            <a:r>
              <a:rPr lang="en-US" dirty="0"/>
              <a:t> </a:t>
            </a:r>
            <a:r>
              <a:rPr lang="en-US" dirty="0" err="1"/>
              <a:t>переключением</a:t>
            </a:r>
            <a:r>
              <a:rPr lang="en-US" dirty="0"/>
              <a:t> </a:t>
            </a:r>
            <a:r>
              <a:rPr lang="en-US" dirty="0" err="1"/>
              <a:t>контекста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Переключение</a:t>
            </a:r>
            <a:r>
              <a:rPr lang="en-US" dirty="0"/>
              <a:t> </a:t>
            </a:r>
            <a:r>
              <a:rPr lang="en-US" dirty="0" err="1"/>
              <a:t>контекста</a:t>
            </a:r>
            <a:r>
              <a:rPr lang="en-US" dirty="0"/>
              <a:t>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: </a:t>
            </a:r>
            <a:r>
              <a:rPr lang="en-US" dirty="0" err="1"/>
              <a:t>сохранения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текущего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, </a:t>
            </a:r>
            <a:r>
              <a:rPr lang="en-US" dirty="0" err="1"/>
              <a:t>выбора</a:t>
            </a:r>
            <a:r>
              <a:rPr lang="en-US" dirty="0"/>
              <a:t> </a:t>
            </a:r>
            <a:r>
              <a:rPr lang="en-US" dirty="0" err="1"/>
              <a:t>следующего</a:t>
            </a:r>
            <a:r>
              <a:rPr lang="en-US" dirty="0"/>
              <a:t> и </a:t>
            </a:r>
            <a:r>
              <a:rPr lang="en-US" dirty="0" err="1"/>
              <a:t>восстановления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контекста</a:t>
            </a:r>
            <a:r>
              <a:rPr lang="en-US" dirty="0"/>
              <a:t>.</a:t>
            </a:r>
          </a:p>
          <a:p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частые</a:t>
            </a:r>
            <a:r>
              <a:rPr lang="en-US" dirty="0"/>
              <a:t> </a:t>
            </a:r>
            <a:r>
              <a:rPr lang="en-US" dirty="0" err="1"/>
              <a:t>переключения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ухудшать</a:t>
            </a:r>
            <a:r>
              <a:rPr lang="en-US" dirty="0"/>
              <a:t> </a:t>
            </a:r>
            <a:r>
              <a:rPr lang="en-US" dirty="0" err="1"/>
              <a:t>локальность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в </a:t>
            </a:r>
            <a:r>
              <a:rPr lang="en-US" dirty="0" err="1"/>
              <a:t>процессорных</a:t>
            </a:r>
            <a:r>
              <a:rPr lang="en-US" dirty="0"/>
              <a:t> </a:t>
            </a:r>
            <a:r>
              <a:rPr lang="en-US" dirty="0" err="1"/>
              <a:t>кэшах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квант</a:t>
            </a:r>
            <a:r>
              <a:rPr lang="en-US" dirty="0"/>
              <a:t>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мал</a:t>
            </a:r>
            <a:r>
              <a:rPr lang="en-US" dirty="0"/>
              <a:t>, </a:t>
            </a:r>
            <a:r>
              <a:rPr lang="en-US" dirty="0" err="1"/>
              <a:t>значительная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вычислительных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тратиться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служебную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увеличим</a:t>
            </a:r>
            <a:r>
              <a:rPr lang="en-US" dirty="0"/>
              <a:t> </a:t>
            </a:r>
            <a:r>
              <a:rPr lang="en-US" dirty="0" err="1"/>
              <a:t>квант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2 </a:t>
            </a:r>
            <a:r>
              <a:rPr lang="en-US" dirty="0" err="1"/>
              <a:t>миллисекунд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примере</a:t>
            </a:r>
            <a:r>
              <a:rPr lang="en-US" dirty="0"/>
              <a:t> </a:t>
            </a:r>
            <a:r>
              <a:rPr lang="en-US" dirty="0" err="1"/>
              <a:t>число</a:t>
            </a:r>
            <a:r>
              <a:rPr lang="en-US" dirty="0"/>
              <a:t> </a:t>
            </a:r>
            <a:r>
              <a:rPr lang="en-US" dirty="0" err="1"/>
              <a:t>переключений</a:t>
            </a:r>
            <a:r>
              <a:rPr lang="en-US" dirty="0"/>
              <a:t> </a:t>
            </a:r>
            <a:r>
              <a:rPr lang="en-US" dirty="0" err="1"/>
              <a:t>уменьшится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восьми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среднее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первого</a:t>
            </a:r>
            <a:r>
              <a:rPr lang="en-US" dirty="0"/>
              <a:t> </a:t>
            </a:r>
            <a:r>
              <a:rPr lang="en-US" dirty="0" err="1"/>
              <a:t>отклика</a:t>
            </a:r>
            <a:r>
              <a:rPr lang="en-US" dirty="0"/>
              <a:t> </a:t>
            </a:r>
            <a:r>
              <a:rPr lang="en-US" dirty="0" err="1"/>
              <a:t>увеличится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3 </a:t>
            </a:r>
            <a:r>
              <a:rPr lang="en-US" dirty="0" err="1"/>
              <a:t>миллисекунд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А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произойдёт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выберем</a:t>
            </a:r>
            <a:r>
              <a:rPr lang="en-US" dirty="0"/>
              <a:t> </a:t>
            </a:r>
            <a:r>
              <a:rPr lang="en-US" dirty="0" err="1"/>
              <a:t>квант</a:t>
            </a:r>
            <a:r>
              <a:rPr lang="en-US" dirty="0"/>
              <a:t> 8 </a:t>
            </a:r>
            <a:r>
              <a:rPr lang="en-US" dirty="0" err="1"/>
              <a:t>миллисекунд</a:t>
            </a:r>
            <a:r>
              <a:rPr lang="en-US" dirty="0"/>
              <a:t>?</a:t>
            </a:r>
          </a:p>
          <a:p>
            <a:r>
              <a:rPr lang="en-US" dirty="0" err="1"/>
              <a:t>Задача</a:t>
            </a:r>
            <a:r>
              <a:rPr lang="en-US" dirty="0"/>
              <a:t> A </a:t>
            </a:r>
            <a:r>
              <a:rPr lang="en-US" dirty="0" err="1"/>
              <a:t>сможет</a:t>
            </a:r>
            <a:r>
              <a:rPr lang="en-US" dirty="0"/>
              <a:t> </a:t>
            </a:r>
            <a:r>
              <a:rPr lang="en-US" dirty="0" err="1"/>
              <a:t>полностью</a:t>
            </a:r>
            <a:r>
              <a:rPr lang="en-US" dirty="0"/>
              <a:t> </a:t>
            </a:r>
            <a:r>
              <a:rPr lang="en-US" dirty="0" err="1"/>
              <a:t>завершиться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квант</a:t>
            </a:r>
            <a:r>
              <a:rPr lang="en-US" dirty="0"/>
              <a:t>.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неё</a:t>
            </a:r>
            <a:r>
              <a:rPr lang="en-US" dirty="0"/>
              <a:t> B, C и D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завершатся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исчерпав</a:t>
            </a:r>
            <a:r>
              <a:rPr lang="en-US" dirty="0"/>
              <a:t> </a:t>
            </a:r>
            <a:r>
              <a:rPr lang="en-US" dirty="0" err="1"/>
              <a:t>свои</a:t>
            </a:r>
            <a:r>
              <a:rPr lang="en-US" dirty="0"/>
              <a:t> </a:t>
            </a:r>
            <a:r>
              <a:rPr lang="en-US" dirty="0" err="1"/>
              <a:t>кванты</a:t>
            </a:r>
            <a:r>
              <a:rPr lang="en-US" dirty="0"/>
              <a:t>.</a:t>
            </a:r>
          </a:p>
          <a:p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последовательность</a:t>
            </a:r>
            <a:r>
              <a:rPr lang="en-US" dirty="0"/>
              <a:t> A, B, C, D — </a:t>
            </a:r>
            <a:r>
              <a:rPr lang="en-US" dirty="0" err="1"/>
              <a:t>точно</a:t>
            </a:r>
            <a:r>
              <a:rPr lang="en-US" dirty="0"/>
              <a:t> </a:t>
            </a:r>
            <a:r>
              <a:rPr lang="en-US" dirty="0" err="1"/>
              <a:t>такая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FCFS.</a:t>
            </a:r>
          </a:p>
          <a:p>
            <a:r>
              <a:rPr lang="en-US" dirty="0"/>
              <a:t>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потребуется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переключения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задачами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среднее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отклика</a:t>
            </a:r>
            <a:r>
              <a:rPr lang="en-US" dirty="0"/>
              <a:t> </a:t>
            </a:r>
            <a:r>
              <a:rPr lang="en-US" dirty="0" err="1"/>
              <a:t>увеличится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9 </a:t>
            </a:r>
            <a:r>
              <a:rPr lang="en-US" dirty="0" err="1"/>
              <a:t>миллисекунд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видим</a:t>
            </a:r>
            <a:r>
              <a:rPr lang="en-US" dirty="0"/>
              <a:t> </a:t>
            </a:r>
            <a:r>
              <a:rPr lang="en-US" dirty="0" err="1"/>
              <a:t>компромисс</a:t>
            </a:r>
            <a:r>
              <a:rPr lang="en-US" dirty="0"/>
              <a:t>.</a:t>
            </a:r>
          </a:p>
          <a:p>
            <a:r>
              <a:rPr lang="en-US" dirty="0" err="1"/>
              <a:t>Маленький</a:t>
            </a:r>
            <a:r>
              <a:rPr lang="en-US" dirty="0"/>
              <a:t> </a:t>
            </a:r>
            <a:r>
              <a:rPr lang="en-US" dirty="0" err="1"/>
              <a:t>квант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отзывчивой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увеличивает</a:t>
            </a:r>
            <a:r>
              <a:rPr lang="en-US" dirty="0"/>
              <a:t> </a:t>
            </a:r>
            <a:r>
              <a:rPr lang="en-US" dirty="0" err="1"/>
              <a:t>накладные</a:t>
            </a:r>
            <a:r>
              <a:rPr lang="en-US" dirty="0"/>
              <a:t> </a:t>
            </a:r>
            <a:r>
              <a:rPr lang="en-US" dirty="0" err="1"/>
              <a:t>расходы</a:t>
            </a:r>
            <a:r>
              <a:rPr lang="en-US" dirty="0"/>
              <a:t>.</a:t>
            </a:r>
          </a:p>
          <a:p>
            <a:r>
              <a:rPr lang="en-US" dirty="0" err="1"/>
              <a:t>Большой</a:t>
            </a:r>
            <a:r>
              <a:rPr lang="en-US" dirty="0"/>
              <a:t> </a:t>
            </a:r>
            <a:r>
              <a:rPr lang="en-US" dirty="0" err="1"/>
              <a:t>квант</a:t>
            </a:r>
            <a:r>
              <a:rPr lang="en-US" dirty="0"/>
              <a:t> </a:t>
            </a:r>
            <a:r>
              <a:rPr lang="en-US" dirty="0" err="1"/>
              <a:t>уменьшает</a:t>
            </a:r>
            <a:r>
              <a:rPr lang="en-US" dirty="0"/>
              <a:t> </a:t>
            </a:r>
            <a:r>
              <a:rPr lang="en-US" dirty="0" err="1"/>
              <a:t>число</a:t>
            </a:r>
            <a:r>
              <a:rPr lang="en-US" dirty="0"/>
              <a:t> </a:t>
            </a:r>
            <a:r>
              <a:rPr lang="en-US" dirty="0" err="1"/>
              <a:t>переключений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задаче</a:t>
            </a:r>
            <a:r>
              <a:rPr lang="en-US" dirty="0"/>
              <a:t> </a:t>
            </a:r>
            <a:r>
              <a:rPr lang="en-US" dirty="0" err="1"/>
              <a:t>надолго</a:t>
            </a:r>
            <a:r>
              <a:rPr lang="en-US" dirty="0"/>
              <a:t> </a:t>
            </a:r>
            <a:r>
              <a:rPr lang="en-US" dirty="0" err="1"/>
              <a:t>задерживать</a:t>
            </a:r>
            <a:r>
              <a:rPr lang="en-US" dirty="0"/>
              <a:t> </a:t>
            </a:r>
            <a:r>
              <a:rPr lang="en-US" dirty="0" err="1"/>
              <a:t>остальные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учебном</a:t>
            </a:r>
            <a:r>
              <a:rPr lang="en-US" dirty="0"/>
              <a:t> </a:t>
            </a:r>
            <a:r>
              <a:rPr lang="en-US" dirty="0" err="1"/>
              <a:t>примере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учитывали</a:t>
            </a:r>
            <a:r>
              <a:rPr lang="en-US" dirty="0"/>
              <a:t> </a:t>
            </a:r>
            <a:r>
              <a:rPr lang="en-US" dirty="0" err="1"/>
              <a:t>стоимость</a:t>
            </a:r>
            <a:r>
              <a:rPr lang="en-US" dirty="0"/>
              <a:t> </a:t>
            </a:r>
            <a:r>
              <a:rPr lang="en-US" dirty="0" err="1"/>
              <a:t>переключения</a:t>
            </a:r>
            <a:r>
              <a:rPr lang="en-US" dirty="0"/>
              <a:t> </a:t>
            </a:r>
            <a:r>
              <a:rPr lang="en-US" dirty="0" err="1"/>
              <a:t>контекста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варианта</a:t>
            </a:r>
            <a:r>
              <a:rPr lang="en-US" dirty="0"/>
              <a:t> </a:t>
            </a:r>
            <a:r>
              <a:rPr lang="en-US" dirty="0" err="1"/>
              <a:t>выполняют</a:t>
            </a:r>
            <a:r>
              <a:rPr lang="en-US" dirty="0"/>
              <a:t> </a:t>
            </a:r>
            <a:r>
              <a:rPr lang="en-US" dirty="0" err="1"/>
              <a:t>полезную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одинаковые</a:t>
            </a:r>
            <a:r>
              <a:rPr lang="en-US" dirty="0"/>
              <a:t> 20 </a:t>
            </a:r>
            <a:r>
              <a:rPr lang="en-US" dirty="0" err="1"/>
              <a:t>миллисекунд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реальной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частые</a:t>
            </a:r>
            <a:r>
              <a:rPr lang="en-US" dirty="0"/>
              <a:t> </a:t>
            </a:r>
            <a:r>
              <a:rPr lang="en-US" dirty="0" err="1"/>
              <a:t>переключения</a:t>
            </a:r>
            <a:r>
              <a:rPr lang="en-US" dirty="0"/>
              <a:t> </a:t>
            </a:r>
            <a:r>
              <a:rPr lang="en-US" dirty="0" err="1"/>
              <a:t>добавят</a:t>
            </a:r>
            <a:r>
              <a:rPr lang="en-US" dirty="0"/>
              <a:t> </a:t>
            </a:r>
            <a:r>
              <a:rPr lang="en-US" dirty="0" err="1"/>
              <a:t>накладные</a:t>
            </a:r>
            <a:r>
              <a:rPr lang="en-US" dirty="0"/>
              <a:t> </a:t>
            </a:r>
            <a:r>
              <a:rPr lang="en-US" dirty="0" err="1"/>
              <a:t>расходы</a:t>
            </a:r>
            <a:r>
              <a:rPr lang="en-US" dirty="0"/>
              <a:t>, и </a:t>
            </a:r>
            <a:r>
              <a:rPr lang="en-US" dirty="0" err="1"/>
              <a:t>фактическое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увеличиться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сказать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квант</a:t>
            </a:r>
            <a:r>
              <a:rPr lang="en-US" dirty="0"/>
              <a:t> 1, 2, 10 </a:t>
            </a:r>
            <a:r>
              <a:rPr lang="en-US" dirty="0" err="1"/>
              <a:t>или</a:t>
            </a:r>
            <a:r>
              <a:rPr lang="en-US" dirty="0"/>
              <a:t> 50 </a:t>
            </a:r>
            <a:r>
              <a:rPr lang="en-US" dirty="0" err="1"/>
              <a:t>миллисекунд</a:t>
            </a:r>
            <a:r>
              <a:rPr lang="en-US" dirty="0"/>
              <a:t>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оптимальным</a:t>
            </a:r>
            <a:r>
              <a:rPr lang="en-US" dirty="0"/>
              <a:t>.</a:t>
            </a:r>
          </a:p>
          <a:p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характеристик</a:t>
            </a:r>
            <a:r>
              <a:rPr lang="en-US" dirty="0"/>
              <a:t> </a:t>
            </a:r>
            <a:r>
              <a:rPr lang="en-US" dirty="0" err="1"/>
              <a:t>нагрузки</a:t>
            </a:r>
            <a:r>
              <a:rPr lang="en-US" dirty="0"/>
              <a:t>, </a:t>
            </a:r>
            <a:r>
              <a:rPr lang="en-US" dirty="0" err="1"/>
              <a:t>требований</a:t>
            </a:r>
            <a:r>
              <a:rPr lang="en-US" dirty="0"/>
              <a:t> к </a:t>
            </a:r>
            <a:r>
              <a:rPr lang="en-US" dirty="0" err="1"/>
              <a:t>отзывчивости</a:t>
            </a:r>
            <a:r>
              <a:rPr lang="en-US" dirty="0"/>
              <a:t> и </a:t>
            </a:r>
            <a:r>
              <a:rPr lang="en-US" dirty="0" err="1"/>
              <a:t>особенностей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8447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подведём</a:t>
            </a:r>
            <a:r>
              <a:rPr lang="en-US" dirty="0"/>
              <a:t> </a:t>
            </a:r>
            <a:r>
              <a:rPr lang="en-US" dirty="0" err="1"/>
              <a:t>итоги</a:t>
            </a:r>
            <a:r>
              <a:rPr lang="en-US" dirty="0"/>
              <a:t> и </a:t>
            </a:r>
            <a:r>
              <a:rPr lang="en-US" dirty="0" err="1"/>
              <a:t>сравним</a:t>
            </a:r>
            <a:r>
              <a:rPr lang="en-US" dirty="0"/>
              <a:t> </a:t>
            </a:r>
            <a:r>
              <a:rPr lang="en-US" dirty="0" err="1"/>
              <a:t>четыре</a:t>
            </a:r>
            <a:r>
              <a:rPr lang="en-US" dirty="0"/>
              <a:t> </a:t>
            </a:r>
            <a:r>
              <a:rPr lang="en-US" dirty="0" err="1"/>
              <a:t>алгоритма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рассмотрели</a:t>
            </a:r>
            <a:r>
              <a:rPr lang="en-US" dirty="0"/>
              <a:t>.</a:t>
            </a:r>
          </a:p>
          <a:p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результаты</a:t>
            </a:r>
            <a:r>
              <a:rPr lang="en-US" dirty="0"/>
              <a:t> в </a:t>
            </a:r>
            <a:r>
              <a:rPr lang="en-US" dirty="0" err="1"/>
              <a:t>таблице</a:t>
            </a:r>
            <a:r>
              <a:rPr lang="en-US" dirty="0"/>
              <a:t> </a:t>
            </a:r>
            <a:r>
              <a:rPr lang="en-US" dirty="0" err="1"/>
              <a:t>получены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набора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: A, B, C и D.</a:t>
            </a:r>
          </a:p>
          <a:p>
            <a:r>
              <a:rPr lang="en-US" dirty="0" err="1"/>
              <a:t>Напомню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поступили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, а </a:t>
            </a:r>
            <a:r>
              <a:rPr lang="en-US" dirty="0" err="1"/>
              <a:t>время</a:t>
            </a:r>
            <a:r>
              <a:rPr lang="en-US" dirty="0"/>
              <a:t>, </a:t>
            </a:r>
            <a:r>
              <a:rPr lang="en-US" dirty="0" err="1"/>
              <a:t>необходимое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, </a:t>
            </a:r>
            <a:r>
              <a:rPr lang="en-US" dirty="0" err="1"/>
              <a:t>составило</a:t>
            </a:r>
            <a:r>
              <a:rPr lang="en-US" dirty="0"/>
              <a:t> 8, 4, 4 и 4 </a:t>
            </a:r>
            <a:r>
              <a:rPr lang="en-US" dirty="0" err="1"/>
              <a:t>миллисекунды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Начнём</a:t>
            </a:r>
            <a:r>
              <a:rPr lang="en-US" dirty="0"/>
              <a:t> с FCFS.</a:t>
            </a:r>
          </a:p>
          <a:p>
            <a:r>
              <a:rPr lang="en-US" dirty="0"/>
              <a:t>Это </a:t>
            </a:r>
            <a:r>
              <a:rPr lang="en-US" dirty="0" err="1"/>
              <a:t>самый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</a:t>
            </a:r>
            <a:r>
              <a:rPr lang="en-US" dirty="0" err="1"/>
              <a:t>алгоритм</a:t>
            </a:r>
            <a:r>
              <a:rPr lang="en-US" dirty="0"/>
              <a:t>.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выполняются</a:t>
            </a:r>
            <a:r>
              <a:rPr lang="en-US" dirty="0"/>
              <a:t> в </a:t>
            </a:r>
            <a:r>
              <a:rPr lang="en-US" dirty="0" err="1"/>
              <a:t>порядке</a:t>
            </a:r>
            <a:r>
              <a:rPr lang="en-US" dirty="0"/>
              <a:t> </a:t>
            </a:r>
            <a:r>
              <a:rPr lang="en-US" dirty="0" err="1"/>
              <a:t>поступления</a:t>
            </a:r>
            <a:r>
              <a:rPr lang="en-US" dirty="0"/>
              <a:t>, и </a:t>
            </a:r>
            <a:r>
              <a:rPr lang="en-US" dirty="0" err="1"/>
              <a:t>планировщику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длительность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столкнулись</a:t>
            </a:r>
            <a:r>
              <a:rPr lang="en-US" dirty="0"/>
              <a:t> с </a:t>
            </a:r>
            <a:r>
              <a:rPr lang="en-US" dirty="0" err="1"/>
              <a:t>эффектом</a:t>
            </a:r>
            <a:r>
              <a:rPr lang="en-US" dirty="0"/>
              <a:t> </a:t>
            </a:r>
            <a:r>
              <a:rPr lang="en-US" dirty="0" err="1"/>
              <a:t>конвоя</a:t>
            </a:r>
            <a:r>
              <a:rPr lang="en-US" dirty="0"/>
              <a:t>. </a:t>
            </a:r>
            <a:r>
              <a:rPr lang="en-US" dirty="0" err="1"/>
              <a:t>Длинная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A </a:t>
            </a:r>
            <a:r>
              <a:rPr lang="en-US" dirty="0" err="1"/>
              <a:t>задерживает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трёх</a:t>
            </a:r>
            <a:r>
              <a:rPr lang="en-US" dirty="0"/>
              <a:t> </a:t>
            </a:r>
            <a:r>
              <a:rPr lang="en-US" dirty="0" err="1"/>
              <a:t>коротких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.</a:t>
            </a:r>
          </a:p>
          <a:p>
            <a:r>
              <a:rPr lang="en-US" dirty="0" err="1"/>
              <a:t>Среднее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</a:t>
            </a:r>
            <a:r>
              <a:rPr lang="en-US" dirty="0" err="1"/>
              <a:t>получилось</a:t>
            </a:r>
            <a:r>
              <a:rPr lang="en-US" dirty="0"/>
              <a:t> 9 </a:t>
            </a:r>
            <a:r>
              <a:rPr lang="en-US" dirty="0" err="1"/>
              <a:t>миллисекунд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SJF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: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выполняются</a:t>
            </a:r>
            <a:r>
              <a:rPr lang="en-US" dirty="0"/>
              <a:t> </a:t>
            </a:r>
            <a:r>
              <a:rPr lang="en-US" dirty="0" err="1"/>
              <a:t>самые</a:t>
            </a:r>
            <a:r>
              <a:rPr lang="en-US" dirty="0"/>
              <a:t> </a:t>
            </a:r>
            <a:r>
              <a:rPr lang="en-US" dirty="0" err="1"/>
              <a:t>короткие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примере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позволило</a:t>
            </a:r>
            <a:r>
              <a:rPr lang="en-US" dirty="0"/>
              <a:t> </a:t>
            </a:r>
            <a:r>
              <a:rPr lang="en-US" dirty="0" err="1"/>
              <a:t>уменьшить</a:t>
            </a:r>
            <a:r>
              <a:rPr lang="en-US" dirty="0"/>
              <a:t> </a:t>
            </a:r>
            <a:r>
              <a:rPr lang="en-US" dirty="0" err="1"/>
              <a:t>среднее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6 </a:t>
            </a:r>
            <a:r>
              <a:rPr lang="en-US" dirty="0" err="1"/>
              <a:t>миллисекунд</a:t>
            </a:r>
            <a:r>
              <a:rPr lang="en-US" dirty="0"/>
              <a:t>, а </a:t>
            </a:r>
            <a:r>
              <a:rPr lang="en-US" dirty="0" err="1"/>
              <a:t>среднее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— </a:t>
            </a:r>
            <a:r>
              <a:rPr lang="en-US" dirty="0" err="1"/>
              <a:t>до</a:t>
            </a:r>
            <a:r>
              <a:rPr lang="en-US" dirty="0"/>
              <a:t> 11.</a:t>
            </a:r>
          </a:p>
          <a:p>
            <a:endParaRPr lang="en-US" dirty="0"/>
          </a:p>
          <a:p>
            <a:r>
              <a:rPr lang="en-US" dirty="0"/>
              <a:t>SRTF </a:t>
            </a:r>
            <a:r>
              <a:rPr lang="en-US" dirty="0" err="1"/>
              <a:t>представляет</a:t>
            </a:r>
            <a:r>
              <a:rPr lang="en-US" dirty="0"/>
              <a:t> </a:t>
            </a:r>
            <a:r>
              <a:rPr lang="en-US" dirty="0" err="1"/>
              <a:t>собой</a:t>
            </a:r>
            <a:r>
              <a:rPr lang="en-US" dirty="0"/>
              <a:t> </a:t>
            </a:r>
            <a:r>
              <a:rPr lang="en-US" dirty="0" err="1"/>
              <a:t>вытесняющий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r>
              <a:rPr lang="en-US" dirty="0"/>
              <a:t> SJF.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таблице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точно</a:t>
            </a:r>
            <a:r>
              <a:rPr lang="en-US" dirty="0"/>
              <a:t> </a:t>
            </a:r>
            <a:r>
              <a:rPr lang="en-US" dirty="0" err="1"/>
              <a:t>такие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результаты</a:t>
            </a:r>
            <a:r>
              <a:rPr lang="en-US" dirty="0"/>
              <a:t>, </a:t>
            </a:r>
            <a:r>
              <a:rPr lang="en-US" dirty="0" err="1"/>
              <a:t>поскольку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четыре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поступили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и </a:t>
            </a:r>
            <a:r>
              <a:rPr lang="en-US" dirty="0" err="1"/>
              <a:t>новых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появлялось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видели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короткая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поступает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длинной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SRTF </a:t>
            </a:r>
            <a:r>
              <a:rPr lang="en-US" dirty="0" err="1"/>
              <a:t>способен</a:t>
            </a:r>
            <a:r>
              <a:rPr lang="en-US" dirty="0"/>
              <a:t> </a:t>
            </a:r>
            <a:r>
              <a:rPr lang="en-US" dirty="0" err="1"/>
              <a:t>вытеснить</a:t>
            </a:r>
            <a:r>
              <a:rPr lang="en-US" dirty="0"/>
              <a:t> </a:t>
            </a:r>
            <a:r>
              <a:rPr lang="en-US" dirty="0" err="1"/>
              <a:t>длинную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 и </a:t>
            </a:r>
            <a:r>
              <a:rPr lang="en-US" dirty="0" err="1"/>
              <a:t>значительно</a:t>
            </a:r>
            <a:r>
              <a:rPr lang="en-US" dirty="0"/>
              <a:t> </a:t>
            </a:r>
            <a:r>
              <a:rPr lang="en-US" dirty="0" err="1"/>
              <a:t>уменьшить</a:t>
            </a:r>
            <a:r>
              <a:rPr lang="en-US" dirty="0"/>
              <a:t> </a:t>
            </a:r>
            <a:r>
              <a:rPr lang="en-US" dirty="0" err="1"/>
              <a:t>ожидание</a:t>
            </a:r>
            <a:r>
              <a:rPr lang="en-US" dirty="0"/>
              <a:t> </a:t>
            </a:r>
            <a:r>
              <a:rPr lang="en-US" dirty="0" err="1"/>
              <a:t>короткой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наконец</a:t>
            </a:r>
            <a:r>
              <a:rPr lang="en-US" dirty="0"/>
              <a:t>, Round Robin.</a:t>
            </a:r>
          </a:p>
          <a:p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последовательно</a:t>
            </a:r>
            <a:r>
              <a:rPr lang="en-US" dirty="0"/>
              <a:t> </a:t>
            </a:r>
            <a:r>
              <a:rPr lang="en-US" dirty="0" err="1"/>
              <a:t>предоставляет</a:t>
            </a:r>
            <a:r>
              <a:rPr lang="en-US" dirty="0"/>
              <a:t> CPU </a:t>
            </a:r>
            <a:r>
              <a:rPr lang="en-US" dirty="0" err="1"/>
              <a:t>всем</a:t>
            </a:r>
            <a:r>
              <a:rPr lang="en-US" dirty="0"/>
              <a:t> </a:t>
            </a:r>
            <a:r>
              <a:rPr lang="en-US" dirty="0" err="1"/>
              <a:t>готовым</a:t>
            </a:r>
            <a:r>
              <a:rPr lang="en-US" dirty="0"/>
              <a:t> </a:t>
            </a:r>
            <a:r>
              <a:rPr lang="en-US" dirty="0" err="1"/>
              <a:t>задачам</a:t>
            </a:r>
            <a:r>
              <a:rPr lang="en-US" dirty="0"/>
              <a:t>, </a:t>
            </a:r>
            <a:r>
              <a:rPr lang="en-US" dirty="0" err="1"/>
              <a:t>ограничивая</a:t>
            </a:r>
            <a:r>
              <a:rPr lang="en-US" dirty="0"/>
              <a:t> </a:t>
            </a:r>
            <a:r>
              <a:rPr lang="en-US" dirty="0" err="1"/>
              <a:t>продолжительность</a:t>
            </a:r>
            <a:r>
              <a:rPr lang="en-US" dirty="0"/>
              <a:t> </a:t>
            </a:r>
            <a:r>
              <a:rPr lang="en-US" dirty="0" err="1"/>
              <a:t>непрерывного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примере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обеспечил</a:t>
            </a:r>
            <a:r>
              <a:rPr lang="en-US" dirty="0"/>
              <a:t> </a:t>
            </a:r>
            <a:r>
              <a:rPr lang="en-US" dirty="0" err="1"/>
              <a:t>самое</a:t>
            </a:r>
            <a:r>
              <a:rPr lang="en-US" dirty="0"/>
              <a:t> </a:t>
            </a:r>
            <a:r>
              <a:rPr lang="en-US" dirty="0" err="1"/>
              <a:t>маленькое</a:t>
            </a:r>
            <a:r>
              <a:rPr lang="en-US" dirty="0"/>
              <a:t> </a:t>
            </a:r>
            <a:r>
              <a:rPr lang="en-US" dirty="0" err="1"/>
              <a:t>среднее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первого</a:t>
            </a:r>
            <a:r>
              <a:rPr lang="en-US" dirty="0"/>
              <a:t> </a:t>
            </a:r>
            <a:r>
              <a:rPr lang="en-US" dirty="0" err="1"/>
              <a:t>отклика</a:t>
            </a:r>
            <a:r>
              <a:rPr lang="en-US" dirty="0"/>
              <a:t> — 3 </a:t>
            </a:r>
            <a:r>
              <a:rPr lang="en-US" dirty="0" err="1"/>
              <a:t>миллисекунды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кванте</a:t>
            </a:r>
            <a:r>
              <a:rPr lang="en-US" dirty="0"/>
              <a:t> 2 </a:t>
            </a:r>
            <a:r>
              <a:rPr lang="en-US" dirty="0" err="1"/>
              <a:t>миллисекунды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среднее</a:t>
            </a:r>
            <a:r>
              <a:rPr lang="en-US" dirty="0"/>
              <a:t> Turnaround Time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оказалось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у </a:t>
            </a:r>
            <a:r>
              <a:rPr lang="en-US" dirty="0" err="1"/>
              <a:t>остальных</a:t>
            </a:r>
            <a:r>
              <a:rPr lang="en-US" dirty="0"/>
              <a:t> </a:t>
            </a:r>
            <a:r>
              <a:rPr lang="en-US" dirty="0" err="1"/>
              <a:t>алгоритмов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Почему</a:t>
            </a:r>
            <a:r>
              <a:rPr lang="en-US" dirty="0"/>
              <a:t>?</a:t>
            </a:r>
            <a:r>
              <a:rPr lang="ru-RU" dirty="0"/>
              <a:t> </a:t>
            </a:r>
            <a:r>
              <a:rPr lang="en-US" dirty="0" err="1"/>
              <a:t>Потому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Round Robin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стремится</a:t>
            </a:r>
            <a:r>
              <a:rPr lang="en-US" dirty="0"/>
              <a:t> </a:t>
            </a:r>
            <a:r>
              <a:rPr lang="en-US" dirty="0" err="1"/>
              <a:t>завершать</a:t>
            </a:r>
            <a:r>
              <a:rPr lang="en-US" dirty="0"/>
              <a:t> </a:t>
            </a:r>
            <a:r>
              <a:rPr lang="en-US" dirty="0" err="1"/>
              <a:t>короткие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.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принцип</a:t>
            </a:r>
            <a:r>
              <a:rPr lang="en-US" dirty="0"/>
              <a:t> — </a:t>
            </a:r>
            <a:r>
              <a:rPr lang="en-US" dirty="0" err="1"/>
              <a:t>регулярно</a:t>
            </a:r>
            <a:r>
              <a:rPr lang="en-US" dirty="0"/>
              <a:t> </a:t>
            </a:r>
            <a:r>
              <a:rPr lang="en-US" dirty="0" err="1"/>
              <a:t>предоставлять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готовой</a:t>
            </a:r>
            <a:r>
              <a:rPr lang="en-US" dirty="0"/>
              <a:t> </a:t>
            </a:r>
            <a:r>
              <a:rPr lang="en-US" dirty="0" err="1"/>
              <a:t>задаче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наших</a:t>
            </a:r>
            <a:r>
              <a:rPr lang="en-US" dirty="0"/>
              <a:t> </a:t>
            </a:r>
            <a:r>
              <a:rPr lang="en-US" dirty="0" err="1"/>
              <a:t>примерах</a:t>
            </a:r>
            <a:r>
              <a:rPr lang="en-US" dirty="0"/>
              <a:t> </a:t>
            </a:r>
            <a:r>
              <a:rPr lang="en-US" dirty="0" err="1"/>
              <a:t>суммарное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полезных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 </a:t>
            </a:r>
            <a:r>
              <a:rPr lang="en-US" dirty="0" err="1"/>
              <a:t>одинаковое</a:t>
            </a:r>
            <a:r>
              <a:rPr lang="en-US" dirty="0"/>
              <a:t> — 20 </a:t>
            </a:r>
            <a:r>
              <a:rPr lang="en-US" dirty="0" err="1"/>
              <a:t>миллисекунд</a:t>
            </a:r>
            <a:r>
              <a:rPr lang="en-US" dirty="0"/>
              <a:t>.</a:t>
            </a:r>
          </a:p>
          <a:p>
            <a:r>
              <a:rPr lang="en-US" dirty="0" err="1"/>
              <a:t>Поскольку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учитывали</a:t>
            </a:r>
            <a:r>
              <a:rPr lang="en-US" dirty="0"/>
              <a:t> </a:t>
            </a:r>
            <a:r>
              <a:rPr lang="en-US" dirty="0" err="1"/>
              <a:t>накладные</a:t>
            </a:r>
            <a:r>
              <a:rPr lang="en-US" dirty="0"/>
              <a:t> </a:t>
            </a:r>
            <a:r>
              <a:rPr lang="en-US" dirty="0" err="1"/>
              <a:t>расходы</a:t>
            </a:r>
            <a:r>
              <a:rPr lang="en-US" dirty="0"/>
              <a:t>,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dirty="0" err="1"/>
              <a:t>полностью</a:t>
            </a:r>
            <a:r>
              <a:rPr lang="en-US" dirty="0"/>
              <a:t> </a:t>
            </a:r>
            <a:r>
              <a:rPr lang="en-US" dirty="0" err="1"/>
              <a:t>занят</a:t>
            </a:r>
            <a:r>
              <a:rPr lang="en-US" dirty="0"/>
              <a:t> </a:t>
            </a:r>
            <a:r>
              <a:rPr lang="en-US" dirty="0" err="1"/>
              <a:t>полезной</a:t>
            </a:r>
            <a:r>
              <a:rPr lang="en-US" dirty="0"/>
              <a:t> </a:t>
            </a:r>
            <a:r>
              <a:rPr lang="en-US" dirty="0" err="1"/>
              <a:t>работой</a:t>
            </a:r>
            <a:r>
              <a:rPr lang="en-US" dirty="0"/>
              <a:t> в </a:t>
            </a:r>
            <a:r>
              <a:rPr lang="en-US" dirty="0" err="1"/>
              <a:t>течение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20 </a:t>
            </a:r>
            <a:r>
              <a:rPr lang="en-US" dirty="0" err="1"/>
              <a:t>миллисекунд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Следовательно</a:t>
            </a:r>
            <a:r>
              <a:rPr lang="en-US" dirty="0"/>
              <a:t>, </a:t>
            </a:r>
            <a:r>
              <a:rPr lang="ru-RU" dirty="0"/>
              <a:t>утилизация процессора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алгоритмов</a:t>
            </a:r>
            <a:r>
              <a:rPr lang="en-US" dirty="0"/>
              <a:t> в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упрощённой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одинаков</a:t>
            </a:r>
            <a:r>
              <a:rPr lang="en-US" dirty="0"/>
              <a:t> — 100%, а </a:t>
            </a:r>
            <a:r>
              <a:rPr lang="en-US" dirty="0" err="1"/>
              <a:t>итоговая</a:t>
            </a:r>
            <a:r>
              <a:rPr lang="en-US" dirty="0"/>
              <a:t> </a:t>
            </a:r>
            <a:r>
              <a:rPr lang="en-US" dirty="0" err="1"/>
              <a:t>пропускная</a:t>
            </a:r>
            <a:r>
              <a:rPr lang="en-US" dirty="0"/>
              <a:t> </a:t>
            </a:r>
            <a:r>
              <a:rPr lang="en-US" dirty="0" err="1"/>
              <a:t>способность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рассматриваемый</a:t>
            </a:r>
            <a:r>
              <a:rPr lang="en-US" dirty="0"/>
              <a:t> </a:t>
            </a:r>
            <a:r>
              <a:rPr lang="en-US" dirty="0" err="1"/>
              <a:t>интервал</a:t>
            </a:r>
            <a:r>
              <a:rPr lang="en-US" dirty="0"/>
              <a:t> </a:t>
            </a:r>
            <a:r>
              <a:rPr lang="en-US" dirty="0" err="1"/>
              <a:t>составляет</a:t>
            </a:r>
            <a:r>
              <a:rPr lang="en-US" dirty="0"/>
              <a:t> </a:t>
            </a:r>
            <a:r>
              <a:rPr lang="en-US" dirty="0" err="1"/>
              <a:t>четыре</a:t>
            </a:r>
            <a:r>
              <a:rPr lang="en-US" dirty="0"/>
              <a:t> </a:t>
            </a:r>
            <a:r>
              <a:rPr lang="en-US" dirty="0" err="1"/>
              <a:t>завершённые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20 </a:t>
            </a:r>
            <a:r>
              <a:rPr lang="en-US" dirty="0" err="1"/>
              <a:t>миллисекунд</a:t>
            </a:r>
            <a:r>
              <a:rPr lang="en-US" dirty="0"/>
              <a:t>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одинаковая</a:t>
            </a:r>
            <a:r>
              <a:rPr lang="en-US" dirty="0"/>
              <a:t> </a:t>
            </a:r>
            <a:r>
              <a:rPr lang="en-US" dirty="0" err="1"/>
              <a:t>загрузка</a:t>
            </a:r>
            <a:r>
              <a:rPr lang="en-US" dirty="0"/>
              <a:t> CPU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алгоритмы</a:t>
            </a:r>
            <a:r>
              <a:rPr lang="en-US" dirty="0"/>
              <a:t> </a:t>
            </a:r>
            <a:r>
              <a:rPr lang="en-US" dirty="0" err="1"/>
              <a:t>обеспечивают</a:t>
            </a:r>
            <a:r>
              <a:rPr lang="en-US" dirty="0"/>
              <a:t> </a:t>
            </a:r>
            <a:r>
              <a:rPr lang="en-US" dirty="0" err="1"/>
              <a:t>одинаковое</a:t>
            </a:r>
            <a:r>
              <a:rPr lang="en-US" dirty="0"/>
              <a:t> </a:t>
            </a:r>
            <a:r>
              <a:rPr lang="en-US" dirty="0" err="1"/>
              <a:t>качество</a:t>
            </a:r>
            <a:r>
              <a:rPr lang="en-US" dirty="0"/>
              <a:t> </a:t>
            </a:r>
            <a:r>
              <a:rPr lang="en-US" dirty="0" err="1"/>
              <a:t>обслуживания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реальной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различия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существеннее</a:t>
            </a:r>
            <a:r>
              <a:rPr lang="en-US" dirty="0"/>
              <a:t> </a:t>
            </a:r>
            <a:r>
              <a:rPr lang="en-US" dirty="0" err="1"/>
              <a:t>из-за</a:t>
            </a:r>
            <a:r>
              <a:rPr lang="en-US" dirty="0"/>
              <a:t> </a:t>
            </a:r>
            <a:r>
              <a:rPr lang="en-US" dirty="0" err="1"/>
              <a:t>переключений</a:t>
            </a:r>
            <a:r>
              <a:rPr lang="en-US" dirty="0"/>
              <a:t> </a:t>
            </a:r>
            <a:r>
              <a:rPr lang="en-US" dirty="0" err="1"/>
              <a:t>контекста</a:t>
            </a:r>
            <a:r>
              <a:rPr lang="en-US" dirty="0"/>
              <a:t>, </a:t>
            </a:r>
            <a:r>
              <a:rPr lang="en-US" dirty="0" err="1"/>
              <a:t>блокировок</a:t>
            </a:r>
            <a:r>
              <a:rPr lang="en-US" dirty="0"/>
              <a:t>, </a:t>
            </a:r>
            <a:r>
              <a:rPr lang="en-US" dirty="0" err="1"/>
              <a:t>непредсказуемых</a:t>
            </a:r>
            <a:r>
              <a:rPr lang="en-US" dirty="0"/>
              <a:t> </a:t>
            </a:r>
            <a:r>
              <a:rPr lang="en-US" dirty="0" err="1"/>
              <a:t>длительностей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 и </a:t>
            </a:r>
            <a:r>
              <a:rPr lang="en-US" dirty="0" err="1"/>
              <a:t>других</a:t>
            </a:r>
            <a:r>
              <a:rPr lang="en-US" dirty="0"/>
              <a:t> </a:t>
            </a:r>
            <a:r>
              <a:rPr lang="en-US" dirty="0" err="1"/>
              <a:t>факторов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вернёмся</a:t>
            </a:r>
            <a:r>
              <a:rPr lang="en-US" dirty="0"/>
              <a:t> к </a:t>
            </a:r>
            <a:r>
              <a:rPr lang="en-US" dirty="0" err="1"/>
              <a:t>вопросу</a:t>
            </a:r>
            <a:r>
              <a:rPr lang="en-US" dirty="0"/>
              <a:t>, с </a:t>
            </a:r>
            <a:r>
              <a:rPr lang="en-US" dirty="0" err="1"/>
              <a:t>которого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начали</a:t>
            </a:r>
            <a:r>
              <a:rPr lang="en-US" dirty="0"/>
              <a:t> </a:t>
            </a:r>
            <a:r>
              <a:rPr lang="en-US" dirty="0" err="1"/>
              <a:t>изучение</a:t>
            </a:r>
            <a:r>
              <a:rPr lang="en-US" dirty="0"/>
              <a:t> </a:t>
            </a:r>
            <a:r>
              <a:rPr lang="en-US" dirty="0" err="1"/>
              <a:t>алгоритмов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.</a:t>
            </a:r>
          </a:p>
          <a:p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лучший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 err="1"/>
              <a:t>Ответ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минимизировать</a:t>
            </a:r>
            <a:r>
              <a:rPr lang="en-US" dirty="0"/>
              <a:t> </a:t>
            </a:r>
            <a:r>
              <a:rPr lang="en-US" dirty="0" err="1"/>
              <a:t>среднее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известных</a:t>
            </a:r>
            <a:r>
              <a:rPr lang="en-US" dirty="0"/>
              <a:t> </a:t>
            </a:r>
            <a:r>
              <a:rPr lang="en-US" dirty="0" err="1"/>
              <a:t>пакетных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, </a:t>
            </a:r>
            <a:r>
              <a:rPr lang="en-US" dirty="0" err="1"/>
              <a:t>полезны</a:t>
            </a:r>
            <a:r>
              <a:rPr lang="en-US" dirty="0"/>
              <a:t> </a:t>
            </a:r>
            <a:r>
              <a:rPr lang="en-US" dirty="0" err="1"/>
              <a:t>идеи</a:t>
            </a:r>
            <a:r>
              <a:rPr lang="en-US" dirty="0"/>
              <a:t> SJF.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важна</a:t>
            </a:r>
            <a:r>
              <a:rPr lang="en-US" dirty="0"/>
              <a:t> </a:t>
            </a:r>
            <a:r>
              <a:rPr lang="en-US" dirty="0" err="1"/>
              <a:t>отзывчивость</a:t>
            </a:r>
            <a:r>
              <a:rPr lang="en-US" dirty="0"/>
              <a:t> </a:t>
            </a:r>
            <a:r>
              <a:rPr lang="en-US" dirty="0" err="1"/>
              <a:t>интерактивной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, </a:t>
            </a:r>
            <a:r>
              <a:rPr lang="en-US" dirty="0" err="1"/>
              <a:t>стоит</a:t>
            </a:r>
            <a:r>
              <a:rPr lang="en-US" dirty="0"/>
              <a:t> </a:t>
            </a:r>
            <a:r>
              <a:rPr lang="en-US" dirty="0" err="1"/>
              <a:t>рассмотреть</a:t>
            </a:r>
            <a:r>
              <a:rPr lang="en-US" dirty="0"/>
              <a:t> </a:t>
            </a:r>
            <a:r>
              <a:rPr lang="en-US" dirty="0" err="1"/>
              <a:t>вытесняющие</a:t>
            </a:r>
            <a:r>
              <a:rPr lang="en-US" dirty="0"/>
              <a:t> </a:t>
            </a:r>
            <a:r>
              <a:rPr lang="en-US" dirty="0" err="1"/>
              <a:t>алгоритмы</a:t>
            </a:r>
            <a:r>
              <a:rPr lang="en-US" dirty="0"/>
              <a:t>, </a:t>
            </a:r>
            <a:r>
              <a:rPr lang="en-US" dirty="0" err="1"/>
              <a:t>такие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Round Robin.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.</a:t>
            </a:r>
          </a:p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сих</a:t>
            </a:r>
            <a:r>
              <a:rPr lang="en-US" dirty="0"/>
              <a:t> </a:t>
            </a:r>
            <a:r>
              <a:rPr lang="en-US" dirty="0" err="1"/>
              <a:t>пор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предполагали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примерно</a:t>
            </a:r>
            <a:r>
              <a:rPr lang="en-US" dirty="0"/>
              <a:t> </a:t>
            </a:r>
            <a:r>
              <a:rPr lang="en-US" dirty="0" err="1"/>
              <a:t>одинаково</a:t>
            </a:r>
            <a:r>
              <a:rPr lang="en-US" dirty="0"/>
              <a:t> </a:t>
            </a:r>
            <a:r>
              <a:rPr lang="en-US" dirty="0" err="1"/>
              <a:t>важны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что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одному</a:t>
            </a:r>
            <a:r>
              <a:rPr lang="en-US" dirty="0"/>
              <a:t> </a:t>
            </a:r>
            <a:r>
              <a:rPr lang="en-US" dirty="0" err="1"/>
              <a:t>потоку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немедленно</a:t>
            </a:r>
            <a:r>
              <a:rPr lang="en-US" dirty="0"/>
              <a:t> </a:t>
            </a:r>
            <a:r>
              <a:rPr lang="en-US" dirty="0" err="1"/>
              <a:t>обработать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, а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фоновую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подождать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предоставлять</a:t>
            </a:r>
            <a:r>
              <a:rPr lang="en-US" dirty="0"/>
              <a:t> </a:t>
            </a:r>
            <a:r>
              <a:rPr lang="en-US" dirty="0" err="1"/>
              <a:t>им</a:t>
            </a:r>
            <a:r>
              <a:rPr lang="en-US" dirty="0"/>
              <a:t> </a:t>
            </a:r>
            <a:r>
              <a:rPr lang="en-US" dirty="0" err="1"/>
              <a:t>одинаковое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CPU?</a:t>
            </a:r>
            <a:endParaRPr lang="ru-RU" dirty="0"/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 </a:t>
            </a:r>
            <a:r>
              <a:rPr lang="en-US" dirty="0" err="1"/>
              <a:t>справедливое</a:t>
            </a:r>
            <a:r>
              <a:rPr lang="en-US" dirty="0"/>
              <a:t> </a:t>
            </a:r>
            <a:r>
              <a:rPr lang="en-US" dirty="0" err="1"/>
              <a:t>распределение</a:t>
            </a:r>
            <a:r>
              <a:rPr lang="en-US" dirty="0"/>
              <a:t> </a:t>
            </a:r>
            <a:r>
              <a:rPr lang="en-US" dirty="0" err="1"/>
              <a:t>процессорного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?</a:t>
            </a:r>
          </a:p>
          <a:p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вопросы</a:t>
            </a:r>
            <a:r>
              <a:rPr lang="en-US" dirty="0"/>
              <a:t> </a:t>
            </a:r>
            <a:r>
              <a:rPr lang="en-US" dirty="0" err="1"/>
              <a:t>приводят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к </a:t>
            </a:r>
            <a:r>
              <a:rPr lang="en-US" dirty="0" err="1"/>
              <a:t>следующей</a:t>
            </a:r>
            <a:r>
              <a:rPr lang="en-US" dirty="0"/>
              <a:t> </a:t>
            </a:r>
            <a:r>
              <a:rPr lang="en-US" dirty="0" err="1"/>
              <a:t>теме</a:t>
            </a:r>
            <a:r>
              <a:rPr lang="en-US" dirty="0"/>
              <a:t> — </a:t>
            </a:r>
            <a:r>
              <a:rPr lang="en-US" dirty="0" err="1"/>
              <a:t>приоритетам</a:t>
            </a:r>
            <a:r>
              <a:rPr lang="en-US" dirty="0"/>
              <a:t> и </a:t>
            </a:r>
            <a:r>
              <a:rPr lang="en-US" dirty="0" err="1"/>
              <a:t>справедливому</a:t>
            </a:r>
            <a:r>
              <a:rPr lang="en-US" dirty="0"/>
              <a:t> </a:t>
            </a:r>
            <a:r>
              <a:rPr lang="en-US" dirty="0" err="1"/>
              <a:t>планированию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203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разделе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переходим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классических</a:t>
            </a:r>
            <a:r>
              <a:rPr lang="en-US" dirty="0"/>
              <a:t> к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сложным</a:t>
            </a:r>
            <a:r>
              <a:rPr lang="en-US" dirty="0"/>
              <a:t> </a:t>
            </a:r>
            <a:r>
              <a:rPr lang="en-US" dirty="0" err="1"/>
              <a:t>подходам</a:t>
            </a:r>
            <a:r>
              <a:rPr lang="en-US" dirty="0"/>
              <a:t>, </a:t>
            </a:r>
            <a:r>
              <a:rPr lang="en-US" dirty="0" err="1"/>
              <a:t>позволяющим</a:t>
            </a:r>
            <a:r>
              <a:rPr lang="en-US" dirty="0"/>
              <a:t> </a:t>
            </a:r>
            <a:r>
              <a:rPr lang="en-US" dirty="0" err="1"/>
              <a:t>учитывать</a:t>
            </a:r>
            <a:r>
              <a:rPr lang="en-US" dirty="0"/>
              <a:t> </a:t>
            </a:r>
            <a:r>
              <a:rPr lang="en-US" dirty="0" err="1"/>
              <a:t>важность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, </a:t>
            </a:r>
            <a:r>
              <a:rPr lang="en-US" dirty="0" err="1"/>
              <a:t>характер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и </a:t>
            </a:r>
            <a:r>
              <a:rPr lang="en-US" dirty="0" err="1"/>
              <a:t>справедливость</a:t>
            </a:r>
            <a:r>
              <a:rPr lang="en-US" dirty="0"/>
              <a:t> </a:t>
            </a:r>
            <a:r>
              <a:rPr lang="en-US" dirty="0" err="1"/>
              <a:t>распределения</a:t>
            </a:r>
            <a:r>
              <a:rPr lang="en-US" dirty="0"/>
              <a:t> </a:t>
            </a:r>
            <a:r>
              <a:rPr lang="en-US" dirty="0" err="1"/>
              <a:t>процессорного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Основной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 </a:t>
            </a:r>
            <a:r>
              <a:rPr lang="en-US" dirty="0" err="1"/>
              <a:t>раздела</a:t>
            </a:r>
            <a:r>
              <a:rPr lang="en-US" dirty="0"/>
              <a:t>: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обеспечить</a:t>
            </a:r>
            <a:r>
              <a:rPr lang="en-US" dirty="0"/>
              <a:t> </a:t>
            </a:r>
            <a:r>
              <a:rPr lang="en-US" dirty="0" err="1"/>
              <a:t>быстрый</a:t>
            </a:r>
            <a:r>
              <a:rPr lang="en-US" dirty="0"/>
              <a:t> </a:t>
            </a:r>
            <a:r>
              <a:rPr lang="en-US" dirty="0" err="1"/>
              <a:t>отклик</a:t>
            </a:r>
            <a:r>
              <a:rPr lang="en-US" dirty="0"/>
              <a:t> </a:t>
            </a:r>
            <a:r>
              <a:rPr lang="en-US" dirty="0" err="1"/>
              <a:t>важным</a:t>
            </a:r>
            <a:r>
              <a:rPr lang="en-US" dirty="0"/>
              <a:t> </a:t>
            </a:r>
            <a:r>
              <a:rPr lang="en-US" dirty="0" err="1"/>
              <a:t>задачам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лишая</a:t>
            </a:r>
            <a:r>
              <a:rPr lang="en-US" dirty="0"/>
              <a:t> </a:t>
            </a:r>
            <a:r>
              <a:rPr lang="en-US" dirty="0" err="1"/>
              <a:t>остальные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9382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</a:t>
            </a:r>
            <a:r>
              <a:rPr lang="en-US" dirty="0" err="1"/>
              <a:t>познакомились</a:t>
            </a:r>
            <a:r>
              <a:rPr lang="en-US" dirty="0"/>
              <a:t> с </a:t>
            </a:r>
            <a:r>
              <a:rPr lang="en-US" dirty="0" err="1"/>
              <a:t>несколькими</a:t>
            </a:r>
            <a:r>
              <a:rPr lang="en-US" dirty="0"/>
              <a:t> </a:t>
            </a:r>
            <a:r>
              <a:rPr lang="en-US" dirty="0" err="1"/>
              <a:t>классическими</a:t>
            </a:r>
            <a:r>
              <a:rPr lang="en-US" dirty="0"/>
              <a:t> </a:t>
            </a:r>
            <a:r>
              <a:rPr lang="en-US" dirty="0" err="1"/>
              <a:t>алгоритмами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.</a:t>
            </a:r>
          </a:p>
          <a:p>
            <a:r>
              <a:rPr lang="en-US" dirty="0"/>
              <a:t>FCFS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в </a:t>
            </a:r>
            <a:r>
              <a:rPr lang="en-US" dirty="0" err="1"/>
              <a:t>порядке</a:t>
            </a:r>
            <a:r>
              <a:rPr lang="en-US" dirty="0"/>
              <a:t> </a:t>
            </a:r>
            <a:r>
              <a:rPr lang="en-US" dirty="0" err="1"/>
              <a:t>поступления</a:t>
            </a:r>
            <a:r>
              <a:rPr lang="en-US" dirty="0"/>
              <a:t>. SJF </a:t>
            </a:r>
            <a:r>
              <a:rPr lang="en-US" dirty="0" err="1"/>
              <a:t>отдаёт</a:t>
            </a:r>
            <a:r>
              <a:rPr lang="en-US" dirty="0"/>
              <a:t> </a:t>
            </a:r>
            <a:r>
              <a:rPr lang="en-US" dirty="0" err="1"/>
              <a:t>предпочтение</a:t>
            </a:r>
            <a:r>
              <a:rPr lang="en-US" dirty="0"/>
              <a:t> </a:t>
            </a:r>
            <a:r>
              <a:rPr lang="en-US" dirty="0" err="1"/>
              <a:t>коротким</a:t>
            </a:r>
            <a:r>
              <a:rPr lang="en-US" dirty="0"/>
              <a:t> </a:t>
            </a:r>
            <a:r>
              <a:rPr lang="en-US" dirty="0" err="1"/>
              <a:t>задачам</a:t>
            </a:r>
            <a:r>
              <a:rPr lang="en-US" dirty="0"/>
              <a:t>. Round Robin </a:t>
            </a:r>
            <a:r>
              <a:rPr lang="en-US" dirty="0" err="1"/>
              <a:t>последовательно</a:t>
            </a:r>
            <a:r>
              <a:rPr lang="en-US" dirty="0"/>
              <a:t> </a:t>
            </a:r>
            <a:r>
              <a:rPr lang="en-US" dirty="0" err="1"/>
              <a:t>выделяет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всем</a:t>
            </a:r>
            <a:r>
              <a:rPr lang="en-US" dirty="0"/>
              <a:t> </a:t>
            </a:r>
            <a:r>
              <a:rPr lang="en-US" dirty="0" err="1"/>
              <a:t>готовым</a:t>
            </a:r>
            <a:r>
              <a:rPr lang="en-US" dirty="0"/>
              <a:t> </a:t>
            </a:r>
            <a:r>
              <a:rPr lang="en-US" dirty="0" err="1"/>
              <a:t>задачам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представим</a:t>
            </a:r>
            <a:r>
              <a:rPr lang="en-US" dirty="0"/>
              <a:t> </a:t>
            </a:r>
            <a:r>
              <a:rPr lang="en-US" dirty="0" err="1"/>
              <a:t>ситуацию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отличаются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продолжительностью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важностью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компьютере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выполняются</a:t>
            </a:r>
            <a:r>
              <a:rPr lang="en-US" dirty="0"/>
              <a:t> </a:t>
            </a:r>
            <a:r>
              <a:rPr lang="en-US" dirty="0" err="1"/>
              <a:t>компиляция</a:t>
            </a:r>
            <a:r>
              <a:rPr lang="en-US" dirty="0"/>
              <a:t> </a:t>
            </a:r>
            <a:r>
              <a:rPr lang="en-US" dirty="0" err="1"/>
              <a:t>большого</a:t>
            </a:r>
            <a:r>
              <a:rPr lang="en-US" dirty="0"/>
              <a:t> </a:t>
            </a:r>
            <a:r>
              <a:rPr lang="en-US" dirty="0" err="1"/>
              <a:t>проекта</a:t>
            </a:r>
            <a:r>
              <a:rPr lang="en-US" dirty="0"/>
              <a:t> и </a:t>
            </a:r>
            <a:r>
              <a:rPr lang="en-US" dirty="0" err="1"/>
              <a:t>обработка</a:t>
            </a:r>
            <a:r>
              <a:rPr lang="en-US" dirty="0"/>
              <a:t> </a:t>
            </a:r>
            <a:r>
              <a:rPr lang="en-US" dirty="0" err="1"/>
              <a:t>пользовательского</a:t>
            </a:r>
            <a:r>
              <a:rPr lang="en-US" dirty="0"/>
              <a:t> </a:t>
            </a:r>
            <a:r>
              <a:rPr lang="en-US" dirty="0" err="1"/>
              <a:t>ввода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Компиляция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занимать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минут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завершится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миллисекунд</a:t>
            </a:r>
            <a:r>
              <a:rPr lang="en-US" dirty="0"/>
              <a:t> </a:t>
            </a:r>
            <a:r>
              <a:rPr lang="en-US" dirty="0" err="1"/>
              <a:t>позже</a:t>
            </a:r>
            <a:r>
              <a:rPr lang="en-US" dirty="0"/>
              <a:t>, </a:t>
            </a:r>
            <a:r>
              <a:rPr lang="en-US" dirty="0" err="1"/>
              <a:t>пользователь</a:t>
            </a:r>
            <a:r>
              <a:rPr lang="en-US" dirty="0"/>
              <a:t>, </a:t>
            </a:r>
            <a:r>
              <a:rPr lang="en-US" dirty="0" err="1"/>
              <a:t>скорее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,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заметит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вот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долго</a:t>
            </a:r>
            <a:r>
              <a:rPr lang="en-US" dirty="0"/>
              <a:t> </a:t>
            </a:r>
            <a:r>
              <a:rPr lang="en-US" dirty="0" err="1"/>
              <a:t>реагировать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нажатие</a:t>
            </a:r>
            <a:r>
              <a:rPr lang="en-US" dirty="0"/>
              <a:t> </a:t>
            </a:r>
            <a:r>
              <a:rPr lang="en-US" dirty="0" err="1"/>
              <a:t>клавиши</a:t>
            </a:r>
            <a:r>
              <a:rPr lang="en-US" dirty="0"/>
              <a:t>,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почувствует</a:t>
            </a:r>
            <a:r>
              <a:rPr lang="en-US" dirty="0"/>
              <a:t> </a:t>
            </a:r>
            <a:r>
              <a:rPr lang="en-US" dirty="0" err="1"/>
              <a:t>задержку</a:t>
            </a:r>
            <a:r>
              <a:rPr lang="en-US" dirty="0"/>
              <a:t>.</a:t>
            </a:r>
          </a:p>
          <a:p>
            <a:r>
              <a:rPr lang="en-US" dirty="0" err="1"/>
              <a:t>Получается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предъявляют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к </a:t>
            </a:r>
            <a:r>
              <a:rPr lang="en-US" dirty="0" err="1"/>
              <a:t>планировщику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способов</a:t>
            </a:r>
            <a:r>
              <a:rPr lang="en-US" dirty="0"/>
              <a:t> </a:t>
            </a:r>
            <a:r>
              <a:rPr lang="en-US" dirty="0" err="1"/>
              <a:t>учитывать</a:t>
            </a:r>
            <a:r>
              <a:rPr lang="en-US" dirty="0"/>
              <a:t> </a:t>
            </a:r>
            <a:r>
              <a:rPr lang="en-US" dirty="0" err="1"/>
              <a:t>такие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— </a:t>
            </a:r>
            <a:r>
              <a:rPr lang="en-US" dirty="0" err="1"/>
              <a:t>назначить</a:t>
            </a:r>
            <a:r>
              <a:rPr lang="en-US" dirty="0"/>
              <a:t> </a:t>
            </a:r>
            <a:r>
              <a:rPr lang="en-US" dirty="0" err="1"/>
              <a:t>задачам</a:t>
            </a:r>
            <a:r>
              <a:rPr lang="en-US" dirty="0"/>
              <a:t> </a:t>
            </a:r>
            <a:r>
              <a:rPr lang="en-US" dirty="0" err="1"/>
              <a:t>приоритеты</a:t>
            </a:r>
            <a:r>
              <a:rPr lang="en-US" dirty="0"/>
              <a:t>.</a:t>
            </a:r>
          </a:p>
          <a:p>
            <a:r>
              <a:rPr lang="en-US" dirty="0" err="1"/>
              <a:t>Приоритетное</a:t>
            </a:r>
            <a:r>
              <a:rPr lang="en-US" dirty="0"/>
              <a:t> </a:t>
            </a:r>
            <a:r>
              <a:rPr lang="en-US" dirty="0" err="1"/>
              <a:t>планирование</a:t>
            </a:r>
            <a:r>
              <a:rPr lang="en-US" dirty="0"/>
              <a:t>, </a:t>
            </a:r>
            <a:r>
              <a:rPr lang="en-US" dirty="0" err="1"/>
              <a:t>или</a:t>
            </a:r>
            <a:r>
              <a:rPr lang="en-US" dirty="0"/>
              <a:t> Priority Scheduling, </a:t>
            </a:r>
            <a:r>
              <a:rPr lang="en-US" dirty="0" err="1"/>
              <a:t>предполагает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отдаёт</a:t>
            </a:r>
            <a:r>
              <a:rPr lang="en-US" dirty="0"/>
              <a:t> </a:t>
            </a:r>
            <a:r>
              <a:rPr lang="en-US" dirty="0" err="1"/>
              <a:t>предпочтение</a:t>
            </a:r>
            <a:r>
              <a:rPr lang="en-US" dirty="0"/>
              <a:t> </a:t>
            </a:r>
            <a:r>
              <a:rPr lang="en-US" dirty="0" err="1"/>
              <a:t>готовым</a:t>
            </a:r>
            <a:r>
              <a:rPr lang="en-US" dirty="0"/>
              <a:t> </a:t>
            </a:r>
            <a:r>
              <a:rPr lang="en-US" dirty="0" err="1"/>
              <a:t>задачам</a:t>
            </a:r>
            <a:r>
              <a:rPr lang="en-US" dirty="0"/>
              <a:t> с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высоким</a:t>
            </a:r>
            <a:r>
              <a:rPr lang="en-US" dirty="0"/>
              <a:t> </a:t>
            </a:r>
            <a:r>
              <a:rPr lang="en-US" dirty="0" err="1"/>
              <a:t>приоритетом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диаграмму</a:t>
            </a:r>
            <a:r>
              <a:rPr lang="en-US" dirty="0"/>
              <a:t>.</a:t>
            </a:r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A,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фоновую</a:t>
            </a:r>
            <a:r>
              <a:rPr lang="en-US" dirty="0"/>
              <a:t> </a:t>
            </a:r>
            <a:r>
              <a:rPr lang="en-US" dirty="0" err="1"/>
              <a:t>компиляцию</a:t>
            </a:r>
            <a:r>
              <a:rPr lang="en-US" dirty="0"/>
              <a:t>.</a:t>
            </a:r>
          </a:p>
          <a:p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миллисекунды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высокоприоритетный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B, </a:t>
            </a:r>
            <a:r>
              <a:rPr lang="en-US" dirty="0" err="1"/>
              <a:t>отвечающий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обработку</a:t>
            </a:r>
            <a:r>
              <a:rPr lang="en-US" dirty="0"/>
              <a:t> </a:t>
            </a:r>
            <a:r>
              <a:rPr lang="en-US" dirty="0" err="1"/>
              <a:t>пользовательского</a:t>
            </a:r>
            <a:r>
              <a:rPr lang="en-US" dirty="0"/>
              <a:t> </a:t>
            </a:r>
            <a:r>
              <a:rPr lang="en-US" dirty="0" err="1"/>
              <a:t>ввода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вытесняющей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приостановить</a:t>
            </a:r>
            <a:r>
              <a:rPr lang="en-US" dirty="0"/>
              <a:t> A и </a:t>
            </a:r>
            <a:r>
              <a:rPr lang="en-US" dirty="0" err="1"/>
              <a:t>немедленно</a:t>
            </a:r>
            <a:r>
              <a:rPr lang="en-US" dirty="0"/>
              <a:t> </a:t>
            </a:r>
            <a:r>
              <a:rPr lang="en-US" dirty="0" err="1"/>
              <a:t>передать</a:t>
            </a:r>
            <a:r>
              <a:rPr lang="en-US" dirty="0"/>
              <a:t> CPU </a:t>
            </a:r>
            <a:r>
              <a:rPr lang="en-US" dirty="0" err="1"/>
              <a:t>потоку</a:t>
            </a:r>
            <a:r>
              <a:rPr lang="en-US" dirty="0"/>
              <a:t> B.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B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выбирает</a:t>
            </a:r>
            <a:r>
              <a:rPr lang="en-US" dirty="0"/>
              <a:t> </a:t>
            </a:r>
            <a:r>
              <a:rPr lang="en-US" dirty="0" err="1"/>
              <a:t>следующую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 с </a:t>
            </a:r>
            <a:r>
              <a:rPr lang="en-US" dirty="0" err="1"/>
              <a:t>наибольшим</a:t>
            </a:r>
            <a:r>
              <a:rPr lang="en-US" dirty="0"/>
              <a:t> </a:t>
            </a:r>
            <a:r>
              <a:rPr lang="en-US" dirty="0" err="1"/>
              <a:t>приоритетом</a:t>
            </a:r>
            <a:r>
              <a:rPr lang="en-US" dirty="0"/>
              <a:t> — 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примере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C.</a:t>
            </a:r>
          </a:p>
          <a:p>
            <a:r>
              <a:rPr lang="en-US" dirty="0"/>
              <a:t>И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фоновая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A.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приоритеты</a:t>
            </a:r>
            <a:r>
              <a:rPr lang="en-US" dirty="0"/>
              <a:t> </a:t>
            </a:r>
            <a:r>
              <a:rPr lang="en-US" dirty="0" err="1"/>
              <a:t>позволяют</a:t>
            </a:r>
            <a:r>
              <a:rPr lang="en-US" dirty="0"/>
              <a:t> </a:t>
            </a:r>
            <a:r>
              <a:rPr lang="en-US" dirty="0" err="1"/>
              <a:t>ускорять</a:t>
            </a:r>
            <a:r>
              <a:rPr lang="en-US" dirty="0"/>
              <a:t> </a:t>
            </a:r>
            <a:r>
              <a:rPr lang="en-US" dirty="0" err="1"/>
              <a:t>обслуживание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,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которых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отклика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Приоритеты</a:t>
            </a:r>
            <a:r>
              <a:rPr lang="en-US" dirty="0"/>
              <a:t> </a:t>
            </a:r>
            <a:r>
              <a:rPr lang="en-US" dirty="0" err="1"/>
              <a:t>бывают</a:t>
            </a:r>
            <a:r>
              <a:rPr lang="en-US" dirty="0"/>
              <a:t> </a:t>
            </a:r>
            <a:r>
              <a:rPr lang="en-US" dirty="0" err="1"/>
              <a:t>статическими</a:t>
            </a:r>
            <a:r>
              <a:rPr lang="en-US" dirty="0"/>
              <a:t> и </a:t>
            </a:r>
            <a:r>
              <a:rPr lang="en-US" dirty="0" err="1"/>
              <a:t>динамическими</a:t>
            </a:r>
            <a:r>
              <a:rPr lang="en-US" dirty="0"/>
              <a:t>.</a:t>
            </a:r>
          </a:p>
          <a:p>
            <a:r>
              <a:rPr lang="en-US" dirty="0" err="1"/>
              <a:t>Статический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 </a:t>
            </a:r>
            <a:r>
              <a:rPr lang="en-US" dirty="0" err="1"/>
              <a:t>задаётся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r>
              <a:rPr lang="en-US" dirty="0"/>
              <a:t> в </a:t>
            </a:r>
            <a:r>
              <a:rPr lang="en-US" dirty="0" err="1"/>
              <a:t>зависимости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поведения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</a:t>
            </a:r>
          </a:p>
          <a:p>
            <a:r>
              <a:rPr lang="en-US" dirty="0" err="1"/>
              <a:t>Динамический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изменяться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— </a:t>
            </a:r>
            <a:r>
              <a:rPr lang="en-US" dirty="0" err="1"/>
              <a:t>например</a:t>
            </a:r>
            <a:r>
              <a:rPr lang="en-US" dirty="0"/>
              <a:t>, с </a:t>
            </a:r>
            <a:r>
              <a:rPr lang="en-US" dirty="0" err="1"/>
              <a:t>учётом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характера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одинаковый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,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группы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Round Robin.</a:t>
            </a:r>
          </a:p>
          <a:p>
            <a:endParaRPr lang="ru-RU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: </a:t>
            </a:r>
            <a:r>
              <a:rPr lang="en-US" dirty="0" err="1"/>
              <a:t>приоритет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 </a:t>
            </a:r>
            <a:r>
              <a:rPr lang="en-US" dirty="0" err="1"/>
              <a:t>определённый</a:t>
            </a:r>
            <a:r>
              <a:rPr lang="en-US" dirty="0"/>
              <a:t> </a:t>
            </a:r>
            <a:r>
              <a:rPr lang="en-US" dirty="0" err="1"/>
              <a:t>процент</a:t>
            </a:r>
            <a:r>
              <a:rPr lang="en-US" dirty="0"/>
              <a:t> </a:t>
            </a:r>
            <a:r>
              <a:rPr lang="en-US" dirty="0" err="1"/>
              <a:t>процессорного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 В </a:t>
            </a:r>
            <a:r>
              <a:rPr lang="en-US" dirty="0" err="1"/>
              <a:t>простом</a:t>
            </a:r>
            <a:r>
              <a:rPr lang="en-US" dirty="0"/>
              <a:t> </a:t>
            </a:r>
            <a:r>
              <a:rPr lang="en-US" dirty="0" err="1"/>
              <a:t>строгом</a:t>
            </a:r>
            <a:r>
              <a:rPr lang="en-US" dirty="0"/>
              <a:t> </a:t>
            </a:r>
            <a:r>
              <a:rPr lang="en-US" dirty="0" err="1"/>
              <a:t>приоритетном</a:t>
            </a:r>
            <a:r>
              <a:rPr lang="en-US" dirty="0"/>
              <a:t> </a:t>
            </a:r>
            <a:r>
              <a:rPr lang="en-US" dirty="0" err="1"/>
              <a:t>планировании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приоритетная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оставлять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менее</a:t>
            </a:r>
            <a:r>
              <a:rPr lang="en-US" dirty="0"/>
              <a:t> </a:t>
            </a:r>
            <a:r>
              <a:rPr lang="en-US" dirty="0" err="1"/>
              <a:t>приоритетной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сталкиваемся</a:t>
            </a:r>
            <a:r>
              <a:rPr lang="en-US" dirty="0"/>
              <a:t> с </a:t>
            </a:r>
            <a:r>
              <a:rPr lang="en-US" dirty="0" err="1"/>
              <a:t>серьёзной</a:t>
            </a:r>
            <a:r>
              <a:rPr lang="en-US" dirty="0"/>
              <a:t> </a:t>
            </a:r>
            <a:r>
              <a:rPr lang="en-US" dirty="0" err="1"/>
              <a:t>проблемой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произойдёт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высокоприоритетные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будут</a:t>
            </a:r>
            <a:r>
              <a:rPr lang="en-US" dirty="0"/>
              <a:t> </a:t>
            </a:r>
            <a:r>
              <a:rPr lang="en-US" dirty="0" err="1"/>
              <a:t>поступать</a:t>
            </a:r>
            <a:r>
              <a:rPr lang="en-US" dirty="0"/>
              <a:t> </a:t>
            </a:r>
            <a:r>
              <a:rPr lang="en-US" dirty="0" err="1"/>
              <a:t>постоянно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1841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Приоритетное</a:t>
            </a:r>
            <a:r>
              <a:rPr lang="en-US" dirty="0"/>
              <a:t> </a:t>
            </a:r>
            <a:r>
              <a:rPr lang="en-US" dirty="0" err="1"/>
              <a:t>планирование</a:t>
            </a:r>
            <a:r>
              <a:rPr lang="en-US" dirty="0"/>
              <a:t> </a:t>
            </a:r>
            <a:r>
              <a:rPr lang="en-US" dirty="0" err="1"/>
              <a:t>помогает</a:t>
            </a:r>
            <a:r>
              <a:rPr lang="en-US" dirty="0"/>
              <a:t> </a:t>
            </a:r>
            <a:r>
              <a:rPr lang="en-US" dirty="0" err="1"/>
              <a:t>быстро</a:t>
            </a:r>
            <a:r>
              <a:rPr lang="en-US" dirty="0"/>
              <a:t> </a:t>
            </a:r>
            <a:r>
              <a:rPr lang="en-US" dirty="0" err="1"/>
              <a:t>обслуживать</a:t>
            </a:r>
            <a:r>
              <a:rPr lang="en-US" dirty="0"/>
              <a:t> </a:t>
            </a:r>
            <a:r>
              <a:rPr lang="en-US" dirty="0" err="1"/>
              <a:t>важные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произойдёт</a:t>
            </a:r>
            <a:r>
              <a:rPr lang="en-US" dirty="0"/>
              <a:t> с </a:t>
            </a:r>
            <a:r>
              <a:rPr lang="en-US" dirty="0" err="1"/>
              <a:t>задачами</a:t>
            </a:r>
            <a:r>
              <a:rPr lang="en-US" dirty="0"/>
              <a:t>, </a:t>
            </a:r>
            <a:r>
              <a:rPr lang="en-US" dirty="0" err="1"/>
              <a:t>имеющими</a:t>
            </a:r>
            <a:r>
              <a:rPr lang="en-US" dirty="0"/>
              <a:t> </a:t>
            </a:r>
            <a:r>
              <a:rPr lang="en-US" dirty="0" err="1"/>
              <a:t>низкий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A,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фоновую</a:t>
            </a:r>
            <a:r>
              <a:rPr lang="en-US" dirty="0"/>
              <a:t> </a:t>
            </a:r>
            <a:r>
              <a:rPr lang="en-US" dirty="0" err="1"/>
              <a:t>обработку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готов</a:t>
            </a:r>
            <a:r>
              <a:rPr lang="en-US" dirty="0"/>
              <a:t> к </a:t>
            </a:r>
            <a:r>
              <a:rPr lang="en-US" dirty="0" err="1"/>
              <a:t>выполнению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низкий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приоритетный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B₁.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выбирает</a:t>
            </a:r>
            <a:r>
              <a:rPr lang="en-US" dirty="0"/>
              <a:t> B₁, а A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ждать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B₁ </a:t>
            </a:r>
            <a:r>
              <a:rPr lang="en-US" dirty="0" err="1"/>
              <a:t>завершается</a:t>
            </a:r>
            <a:r>
              <a:rPr lang="en-US" dirty="0"/>
              <a:t>, </a:t>
            </a:r>
            <a:r>
              <a:rPr lang="en-US" dirty="0" err="1"/>
              <a:t>появляется</a:t>
            </a:r>
            <a:r>
              <a:rPr lang="en-US" dirty="0"/>
              <a:t> B₂,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имеющий</a:t>
            </a:r>
            <a:r>
              <a:rPr lang="en-US" dirty="0"/>
              <a:t> </a:t>
            </a:r>
            <a:r>
              <a:rPr lang="en-US" dirty="0" err="1"/>
              <a:t>высокий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предпочитает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.</a:t>
            </a:r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B₃, </a:t>
            </a:r>
            <a:r>
              <a:rPr lang="en-US" dirty="0" err="1"/>
              <a:t>потом</a:t>
            </a:r>
            <a:r>
              <a:rPr lang="en-US" dirty="0"/>
              <a:t> B₄ и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далее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результате</a:t>
            </a:r>
            <a:r>
              <a:rPr lang="en-US" dirty="0"/>
              <a:t> A </a:t>
            </a:r>
            <a:r>
              <a:rPr lang="en-US" dirty="0" err="1"/>
              <a:t>остаётся</a:t>
            </a:r>
            <a:r>
              <a:rPr lang="en-US" dirty="0"/>
              <a:t> в </a:t>
            </a:r>
            <a:r>
              <a:rPr lang="en-US" dirty="0" err="1"/>
              <a:t>очереди</a:t>
            </a:r>
            <a:r>
              <a:rPr lang="en-US" dirty="0"/>
              <a:t> </a:t>
            </a:r>
            <a:r>
              <a:rPr lang="en-US" dirty="0" err="1"/>
              <a:t>готовых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, </a:t>
            </a:r>
            <a:r>
              <a:rPr lang="en-US" dirty="0" err="1"/>
              <a:t>хотя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непрерывно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такая</a:t>
            </a:r>
            <a:r>
              <a:rPr lang="en-US" dirty="0"/>
              <a:t> </a:t>
            </a:r>
            <a:r>
              <a:rPr lang="en-US" dirty="0" err="1"/>
              <a:t>последовательность</a:t>
            </a:r>
            <a:r>
              <a:rPr lang="en-US" dirty="0"/>
              <a:t> </a:t>
            </a:r>
            <a:r>
              <a:rPr lang="en-US" dirty="0" err="1"/>
              <a:t>продолжается</a:t>
            </a:r>
            <a:r>
              <a:rPr lang="en-US" dirty="0"/>
              <a:t> </a:t>
            </a:r>
            <a:r>
              <a:rPr lang="en-US" dirty="0" err="1"/>
              <a:t>бесконечно</a:t>
            </a:r>
            <a:r>
              <a:rPr lang="en-US" dirty="0"/>
              <a:t>, A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никогда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CPU.</a:t>
            </a:r>
          </a:p>
          <a:p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называется</a:t>
            </a:r>
            <a:r>
              <a:rPr lang="en-US" dirty="0"/>
              <a:t> Starvation — </a:t>
            </a:r>
            <a:r>
              <a:rPr lang="en-US" dirty="0" err="1"/>
              <a:t>голодание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: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заблокирована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сети</a:t>
            </a:r>
            <a:r>
              <a:rPr lang="en-US" dirty="0"/>
              <a:t>.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полностью</a:t>
            </a:r>
            <a:r>
              <a:rPr lang="en-US" dirty="0"/>
              <a:t> </a:t>
            </a:r>
            <a:r>
              <a:rPr lang="en-US" dirty="0" err="1"/>
              <a:t>готова</a:t>
            </a:r>
            <a:r>
              <a:rPr lang="en-US" dirty="0"/>
              <a:t> к </a:t>
            </a:r>
            <a:r>
              <a:rPr lang="en-US" dirty="0" err="1"/>
              <a:t>выполнению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политика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отдаёт</a:t>
            </a:r>
            <a:r>
              <a:rPr lang="en-US" dirty="0"/>
              <a:t> </a:t>
            </a:r>
            <a:r>
              <a:rPr lang="en-US" dirty="0" err="1"/>
              <a:t>предпочтение</a:t>
            </a:r>
            <a:r>
              <a:rPr lang="en-US" dirty="0"/>
              <a:t> </a:t>
            </a:r>
            <a:r>
              <a:rPr lang="en-US" dirty="0" err="1"/>
              <a:t>другим</a:t>
            </a:r>
            <a:r>
              <a:rPr lang="en-US" dirty="0"/>
              <a:t> </a:t>
            </a:r>
            <a:r>
              <a:rPr lang="en-US" dirty="0" err="1"/>
              <a:t>задачам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?</a:t>
            </a:r>
          </a:p>
          <a:p>
            <a:endParaRPr lang="ru-RU" dirty="0"/>
          </a:p>
          <a:p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классических</a:t>
            </a:r>
            <a:r>
              <a:rPr lang="en-US" dirty="0"/>
              <a:t> </a:t>
            </a:r>
            <a:r>
              <a:rPr lang="en-US" dirty="0" err="1"/>
              <a:t>подходов</a:t>
            </a:r>
            <a:r>
              <a:rPr lang="en-US" dirty="0"/>
              <a:t> </a:t>
            </a:r>
            <a:r>
              <a:rPr lang="en-US" dirty="0" err="1"/>
              <a:t>называется</a:t>
            </a:r>
            <a:r>
              <a:rPr lang="en-US" dirty="0"/>
              <a:t> Aging — </a:t>
            </a:r>
            <a:r>
              <a:rPr lang="en-US" dirty="0" err="1"/>
              <a:t>старение</a:t>
            </a:r>
            <a:r>
              <a:rPr lang="en-US" dirty="0"/>
              <a:t> </a:t>
            </a:r>
            <a:r>
              <a:rPr lang="en-US" dirty="0" err="1"/>
              <a:t>приоритетов</a:t>
            </a:r>
            <a:r>
              <a:rPr lang="en-US" dirty="0"/>
              <a:t>.</a:t>
            </a:r>
          </a:p>
          <a:p>
            <a:r>
              <a:rPr lang="en-US" dirty="0" err="1"/>
              <a:t>Идея</a:t>
            </a:r>
            <a:r>
              <a:rPr lang="en-US" dirty="0"/>
              <a:t> </a:t>
            </a:r>
            <a:r>
              <a:rPr lang="en-US" dirty="0" err="1"/>
              <a:t>заключается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дольше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,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выше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Предположим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A </a:t>
            </a:r>
            <a:r>
              <a:rPr lang="en-US" dirty="0" err="1"/>
              <a:t>первоначально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низкий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.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в </a:t>
            </a:r>
            <a:r>
              <a:rPr lang="en-US" dirty="0" err="1"/>
              <a:t>очереди</a:t>
            </a:r>
            <a:r>
              <a:rPr lang="en-US" dirty="0"/>
              <a:t> Ready,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постепенно</a:t>
            </a:r>
            <a:r>
              <a:rPr lang="en-US" dirty="0"/>
              <a:t> </a:t>
            </a:r>
            <a:r>
              <a:rPr lang="en-US" dirty="0" err="1"/>
              <a:t>повышает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.</a:t>
            </a:r>
          </a:p>
          <a:p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некоторое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высоким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A </a:t>
            </a:r>
            <a:r>
              <a:rPr lang="en-US" dirty="0" err="1"/>
              <a:t>получила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.</a:t>
            </a:r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сохранить</a:t>
            </a:r>
            <a:r>
              <a:rPr lang="en-US" dirty="0"/>
              <a:t> </a:t>
            </a:r>
            <a:r>
              <a:rPr lang="en-US" dirty="0" err="1"/>
              <a:t>преимущество</a:t>
            </a:r>
            <a:r>
              <a:rPr lang="en-US" dirty="0"/>
              <a:t> </a:t>
            </a:r>
            <a:r>
              <a:rPr lang="en-US" dirty="0" err="1"/>
              <a:t>важных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уменьшить</a:t>
            </a:r>
            <a:r>
              <a:rPr lang="en-US" dirty="0"/>
              <a:t> </a:t>
            </a:r>
            <a:r>
              <a:rPr lang="en-US" dirty="0" err="1"/>
              <a:t>риск</a:t>
            </a:r>
            <a:r>
              <a:rPr lang="en-US" dirty="0"/>
              <a:t> </a:t>
            </a:r>
            <a:r>
              <a:rPr lang="en-US" dirty="0" err="1"/>
              <a:t>неограниченного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</a:t>
            </a:r>
            <a:r>
              <a:rPr lang="en-US" dirty="0" err="1"/>
              <a:t>остальных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Конкретные</a:t>
            </a:r>
            <a:r>
              <a:rPr lang="en-US" dirty="0"/>
              <a:t> </a:t>
            </a:r>
            <a:r>
              <a:rPr lang="en-US" dirty="0" err="1"/>
              <a:t>правила</a:t>
            </a:r>
            <a:r>
              <a:rPr lang="en-US" dirty="0"/>
              <a:t> Aging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различаться</a:t>
            </a:r>
            <a:r>
              <a:rPr lang="en-US" dirty="0"/>
              <a:t>: </a:t>
            </a:r>
            <a:r>
              <a:rPr lang="en-US" dirty="0" err="1"/>
              <a:t>насколько</a:t>
            </a:r>
            <a:r>
              <a:rPr lang="en-US" dirty="0"/>
              <a:t> </a:t>
            </a:r>
            <a:r>
              <a:rPr lang="en-US" dirty="0" err="1"/>
              <a:t>быстро</a:t>
            </a:r>
            <a:r>
              <a:rPr lang="en-US" dirty="0"/>
              <a:t> </a:t>
            </a:r>
            <a:r>
              <a:rPr lang="en-US" dirty="0" err="1"/>
              <a:t>увеличивается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, </a:t>
            </a:r>
            <a:r>
              <a:rPr lang="en-US" dirty="0" err="1"/>
              <a:t>какое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максимальным</a:t>
            </a:r>
            <a:r>
              <a:rPr lang="en-US" dirty="0"/>
              <a:t> и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с </a:t>
            </a:r>
            <a:r>
              <a:rPr lang="en-US" dirty="0" err="1"/>
              <a:t>приоритетом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простое</a:t>
            </a:r>
            <a:r>
              <a:rPr lang="en-US" dirty="0"/>
              <a:t> </a:t>
            </a:r>
            <a:r>
              <a:rPr lang="en-US" dirty="0" err="1"/>
              <a:t>существование</a:t>
            </a:r>
            <a:r>
              <a:rPr lang="en-US" dirty="0"/>
              <a:t> </a:t>
            </a:r>
            <a:r>
              <a:rPr lang="en-US" dirty="0" err="1"/>
              <a:t>механизма</a:t>
            </a:r>
            <a:r>
              <a:rPr lang="en-US" dirty="0"/>
              <a:t> Aging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гарантирует</a:t>
            </a:r>
            <a:r>
              <a:rPr lang="en-US" dirty="0"/>
              <a:t> </a:t>
            </a:r>
            <a:r>
              <a:rPr lang="en-US" dirty="0" err="1"/>
              <a:t>отсутствие</a:t>
            </a:r>
            <a:r>
              <a:rPr lang="en-US" dirty="0"/>
              <a:t> </a:t>
            </a:r>
            <a:r>
              <a:rPr lang="en-US" dirty="0" err="1"/>
              <a:t>голодания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любой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настройке</a:t>
            </a:r>
            <a:r>
              <a:rPr lang="en-US" dirty="0"/>
              <a:t>. </a:t>
            </a:r>
            <a:r>
              <a:rPr lang="en-US" dirty="0" err="1"/>
              <a:t>Правила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обеспечивать</a:t>
            </a:r>
            <a:r>
              <a:rPr lang="en-US" dirty="0"/>
              <a:t> </a:t>
            </a:r>
            <a:r>
              <a:rPr lang="en-US" dirty="0" err="1"/>
              <a:t>продвижение</a:t>
            </a:r>
            <a:r>
              <a:rPr lang="en-US" dirty="0"/>
              <a:t> </a:t>
            </a:r>
            <a:r>
              <a:rPr lang="en-US" dirty="0" err="1"/>
              <a:t>длительно</a:t>
            </a:r>
            <a:r>
              <a:rPr lang="en-US" dirty="0"/>
              <a:t> </a:t>
            </a:r>
            <a:r>
              <a:rPr lang="en-US" dirty="0" err="1"/>
              <a:t>ожидающих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Кстати</a:t>
            </a:r>
            <a:r>
              <a:rPr lang="en-US" dirty="0"/>
              <a:t>, Starvation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следует</a:t>
            </a:r>
            <a:r>
              <a:rPr lang="en-US" dirty="0"/>
              <a:t> </a:t>
            </a:r>
            <a:r>
              <a:rPr lang="en-US" dirty="0" err="1"/>
              <a:t>путать</a:t>
            </a:r>
            <a:r>
              <a:rPr lang="en-US" dirty="0"/>
              <a:t> с </a:t>
            </a:r>
            <a:r>
              <a:rPr lang="en-US" dirty="0" err="1"/>
              <a:t>инверсией</a:t>
            </a:r>
            <a:r>
              <a:rPr lang="en-US" dirty="0"/>
              <a:t> </a:t>
            </a:r>
            <a:r>
              <a:rPr lang="en-US" dirty="0" err="1"/>
              <a:t>приоритетов</a:t>
            </a:r>
            <a:r>
              <a:rPr lang="en-US" dirty="0"/>
              <a:t>, </a:t>
            </a:r>
            <a:r>
              <a:rPr lang="en-US" dirty="0" err="1"/>
              <a:t>которую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рассматривали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изучении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инверсии</a:t>
            </a:r>
            <a:r>
              <a:rPr lang="en-US" dirty="0"/>
              <a:t> </a:t>
            </a:r>
            <a:r>
              <a:rPr lang="en-US" dirty="0" err="1"/>
              <a:t>высокоприоритетная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задерживается</a:t>
            </a:r>
            <a:r>
              <a:rPr lang="en-US" dirty="0"/>
              <a:t> </a:t>
            </a:r>
            <a:r>
              <a:rPr lang="en-US" dirty="0" err="1"/>
              <a:t>из-за</a:t>
            </a:r>
            <a:r>
              <a:rPr lang="en-US" dirty="0"/>
              <a:t> </a:t>
            </a:r>
            <a:r>
              <a:rPr lang="en-US" dirty="0" err="1"/>
              <a:t>зависимости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низкоприоритетной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удерживаемый</a:t>
            </a:r>
            <a:r>
              <a:rPr lang="en-US" dirty="0"/>
              <a:t> </a:t>
            </a:r>
            <a:r>
              <a:rPr lang="en-US" dirty="0" err="1"/>
              <a:t>ею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А </a:t>
            </a:r>
            <a:r>
              <a:rPr lang="en-US" dirty="0" err="1"/>
              <a:t>при</a:t>
            </a:r>
            <a:r>
              <a:rPr lang="en-US" dirty="0"/>
              <a:t> Starvation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полностью</a:t>
            </a:r>
            <a:r>
              <a:rPr lang="en-US" dirty="0"/>
              <a:t> </a:t>
            </a:r>
            <a:r>
              <a:rPr lang="en-US" dirty="0" err="1"/>
              <a:t>готова</a:t>
            </a:r>
            <a:r>
              <a:rPr lang="en-US" dirty="0"/>
              <a:t> к </a:t>
            </a:r>
            <a:r>
              <a:rPr lang="en-US" dirty="0" err="1"/>
              <a:t>выполнению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проигрывает</a:t>
            </a:r>
            <a:r>
              <a:rPr lang="en-US" dirty="0"/>
              <a:t> </a:t>
            </a:r>
            <a:r>
              <a:rPr lang="en-US" dirty="0" err="1"/>
              <a:t>другим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выборе</a:t>
            </a:r>
            <a:r>
              <a:rPr lang="en-US" dirty="0"/>
              <a:t> CPU.</a:t>
            </a:r>
          </a:p>
          <a:p>
            <a:endParaRPr lang="ru-RU" dirty="0"/>
          </a:p>
          <a:p>
            <a:r>
              <a:rPr lang="en-US" dirty="0" err="1"/>
              <a:t>Итак</a:t>
            </a:r>
            <a:r>
              <a:rPr lang="en-US" dirty="0"/>
              <a:t>, </a:t>
            </a:r>
            <a:r>
              <a:rPr lang="en-US" dirty="0" err="1"/>
              <a:t>приоритеты</a:t>
            </a:r>
            <a:r>
              <a:rPr lang="en-US" dirty="0"/>
              <a:t> </a:t>
            </a:r>
            <a:r>
              <a:rPr lang="en-US" dirty="0" err="1"/>
              <a:t>полезны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дополнять</a:t>
            </a:r>
            <a:r>
              <a:rPr lang="en-US" dirty="0"/>
              <a:t> </a:t>
            </a:r>
            <a:r>
              <a:rPr lang="en-US" dirty="0" err="1"/>
              <a:t>механизмами</a:t>
            </a:r>
            <a:r>
              <a:rPr lang="en-US" dirty="0"/>
              <a:t>, </a:t>
            </a:r>
            <a:r>
              <a:rPr lang="en-US" dirty="0" err="1"/>
              <a:t>обеспечивающими</a:t>
            </a:r>
            <a:r>
              <a:rPr lang="en-US" dirty="0"/>
              <a:t> </a:t>
            </a:r>
            <a:r>
              <a:rPr lang="en-US" dirty="0" err="1"/>
              <a:t>прогресс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.</a:t>
            </a:r>
          </a:p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сих</a:t>
            </a:r>
            <a:r>
              <a:rPr lang="en-US" dirty="0"/>
              <a:t> </a:t>
            </a:r>
            <a:r>
              <a:rPr lang="en-US" dirty="0" err="1"/>
              <a:t>пор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предполагали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приоритеты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</a:t>
            </a:r>
            <a:r>
              <a:rPr lang="en-US" dirty="0" err="1"/>
              <a:t>задаются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самостоятельно</a:t>
            </a:r>
            <a:r>
              <a:rPr lang="en-US" dirty="0"/>
              <a:t> </a:t>
            </a:r>
            <a:r>
              <a:rPr lang="en-US" dirty="0" err="1"/>
              <a:t>определять</a:t>
            </a:r>
            <a:r>
              <a:rPr lang="en-US" dirty="0"/>
              <a:t>, </a:t>
            </a:r>
            <a:r>
              <a:rPr lang="en-US" dirty="0" err="1"/>
              <a:t>каким</a:t>
            </a:r>
            <a:r>
              <a:rPr lang="en-US" dirty="0"/>
              <a:t> </a:t>
            </a:r>
            <a:r>
              <a:rPr lang="en-US" dirty="0" err="1"/>
              <a:t>задачам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быстрый</a:t>
            </a:r>
            <a:r>
              <a:rPr lang="en-US" dirty="0"/>
              <a:t> </a:t>
            </a:r>
            <a:r>
              <a:rPr lang="en-US" dirty="0" err="1"/>
              <a:t>отклик</a:t>
            </a:r>
            <a:r>
              <a:rPr lang="en-US" dirty="0"/>
              <a:t>, а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способны</a:t>
            </a:r>
            <a:r>
              <a:rPr lang="en-US" dirty="0"/>
              <a:t> </a:t>
            </a:r>
            <a:r>
              <a:rPr lang="en-US" dirty="0" err="1"/>
              <a:t>подождать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9729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рассмотрели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важных</a:t>
            </a:r>
            <a:r>
              <a:rPr lang="en-US" dirty="0"/>
              <a:t> </a:t>
            </a:r>
            <a:r>
              <a:rPr lang="en-US" dirty="0" err="1"/>
              <a:t>механизма</a:t>
            </a:r>
            <a:r>
              <a:rPr lang="en-US" dirty="0"/>
              <a:t>: </a:t>
            </a:r>
            <a:r>
              <a:rPr lang="en-US" dirty="0" err="1"/>
              <a:t>приоритетное</a:t>
            </a:r>
            <a:r>
              <a:rPr lang="en-US" dirty="0"/>
              <a:t> </a:t>
            </a:r>
            <a:r>
              <a:rPr lang="en-US" dirty="0" err="1"/>
              <a:t>планирование</a:t>
            </a:r>
            <a:r>
              <a:rPr lang="en-US" dirty="0"/>
              <a:t> и Round Robin.</a:t>
            </a:r>
            <a:endParaRPr lang="ru-RU" dirty="0"/>
          </a:p>
          <a:p>
            <a:r>
              <a:rPr lang="en-US" dirty="0"/>
              <a:t>А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попробуем</a:t>
            </a:r>
            <a:r>
              <a:rPr lang="en-US" dirty="0"/>
              <a:t> </a:t>
            </a:r>
            <a:r>
              <a:rPr lang="en-US" dirty="0" err="1"/>
              <a:t>объединить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в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очередей</a:t>
            </a:r>
            <a:r>
              <a:rPr lang="en-US" dirty="0"/>
              <a:t> </a:t>
            </a:r>
            <a:r>
              <a:rPr lang="en-US" dirty="0" err="1"/>
              <a:t>готовых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.</a:t>
            </a:r>
          </a:p>
          <a:p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dirty="0" err="1"/>
              <a:t>соответствует</a:t>
            </a:r>
            <a:r>
              <a:rPr lang="en-US" dirty="0"/>
              <a:t> </a:t>
            </a:r>
            <a:r>
              <a:rPr lang="en-US" dirty="0" err="1"/>
              <a:t>определённому</a:t>
            </a:r>
            <a:r>
              <a:rPr lang="en-US" dirty="0"/>
              <a:t> </a:t>
            </a:r>
            <a:r>
              <a:rPr lang="en-US" dirty="0" err="1"/>
              <a:t>уровню</a:t>
            </a:r>
            <a:r>
              <a:rPr lang="en-US" dirty="0"/>
              <a:t> </a:t>
            </a:r>
            <a:r>
              <a:rPr lang="en-US" dirty="0" err="1"/>
              <a:t>приоритета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: Q0 с </a:t>
            </a:r>
            <a:r>
              <a:rPr lang="en-US" dirty="0" err="1"/>
              <a:t>высоким</a:t>
            </a:r>
            <a:r>
              <a:rPr lang="en-US" dirty="0"/>
              <a:t> </a:t>
            </a:r>
            <a:r>
              <a:rPr lang="en-US" dirty="0" err="1"/>
              <a:t>приоритетом</a:t>
            </a:r>
            <a:r>
              <a:rPr lang="en-US" dirty="0"/>
              <a:t>, Q1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средним</a:t>
            </a:r>
            <a:r>
              <a:rPr lang="en-US" dirty="0"/>
              <a:t> и Q2 с </a:t>
            </a:r>
            <a:r>
              <a:rPr lang="en-US" dirty="0" err="1"/>
              <a:t>низким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выбирает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самой</a:t>
            </a:r>
            <a:r>
              <a:rPr lang="en-US" dirty="0"/>
              <a:t> </a:t>
            </a:r>
            <a:r>
              <a:rPr lang="en-US" dirty="0" err="1"/>
              <a:t>высокоприоритетной</a:t>
            </a:r>
            <a:r>
              <a:rPr lang="en-US" dirty="0"/>
              <a:t> </a:t>
            </a:r>
            <a:r>
              <a:rPr lang="en-US" dirty="0" err="1"/>
              <a:t>непустой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в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,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обслуживаться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Round Robin.</a:t>
            </a:r>
          </a:p>
          <a:p>
            <a:endParaRPr lang="ru-RU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добавим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идею</a:t>
            </a:r>
            <a:r>
              <a:rPr lang="en-US" dirty="0"/>
              <a:t>: </a:t>
            </a:r>
            <a:r>
              <a:rPr lang="en-US" dirty="0" err="1"/>
              <a:t>приоритет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изменяться</a:t>
            </a:r>
            <a:r>
              <a:rPr lang="en-US" dirty="0"/>
              <a:t> в </a:t>
            </a:r>
            <a:r>
              <a:rPr lang="en-US" dirty="0" err="1"/>
              <a:t>зависимости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поведения</a:t>
            </a:r>
            <a:r>
              <a:rPr lang="en-US" dirty="0"/>
              <a:t>.</a:t>
            </a:r>
          </a:p>
          <a:p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</a:t>
            </a:r>
            <a:r>
              <a:rPr lang="en-US" dirty="0" err="1"/>
              <a:t>называется</a:t>
            </a:r>
            <a:r>
              <a:rPr lang="en-US" dirty="0"/>
              <a:t> Multilevel Feedback Queue, </a:t>
            </a:r>
            <a:r>
              <a:rPr lang="en-US" dirty="0" err="1"/>
              <a:t>или</a:t>
            </a:r>
            <a:r>
              <a:rPr lang="en-US" dirty="0"/>
              <a:t> MLFQ.</a:t>
            </a:r>
          </a:p>
          <a:p>
            <a:endParaRPr lang="ru-RU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в </a:t>
            </a:r>
            <a:r>
              <a:rPr lang="en-US" dirty="0" err="1"/>
              <a:t>системе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помещаем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в </a:t>
            </a:r>
            <a:r>
              <a:rPr lang="en-US" dirty="0" err="1"/>
              <a:t>очередь</a:t>
            </a:r>
            <a:r>
              <a:rPr lang="en-US" dirty="0"/>
              <a:t> Q0 с </a:t>
            </a:r>
            <a:r>
              <a:rPr lang="en-US" dirty="0" err="1"/>
              <a:t>самым</a:t>
            </a:r>
            <a:r>
              <a:rPr lang="en-US" dirty="0"/>
              <a:t> </a:t>
            </a:r>
            <a:r>
              <a:rPr lang="en-US" dirty="0" err="1"/>
              <a:t>высоким</a:t>
            </a:r>
            <a:r>
              <a:rPr lang="en-US" dirty="0"/>
              <a:t> </a:t>
            </a:r>
            <a:r>
              <a:rPr lang="en-US" dirty="0" err="1"/>
              <a:t>приоритетом</a:t>
            </a:r>
            <a:r>
              <a:rPr lang="en-US" dirty="0"/>
              <a:t>.</a:t>
            </a:r>
          </a:p>
          <a:p>
            <a:r>
              <a:rPr lang="en-US" dirty="0" err="1"/>
              <a:t>Предположим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CPU-bound </a:t>
            </a:r>
            <a:r>
              <a:rPr lang="en-US" dirty="0" err="1"/>
              <a:t>задача</a:t>
            </a:r>
            <a:r>
              <a:rPr lang="en-US" dirty="0"/>
              <a:t>, </a:t>
            </a:r>
            <a:r>
              <a:rPr lang="en-US" dirty="0" err="1"/>
              <a:t>выполняющая</a:t>
            </a:r>
            <a:r>
              <a:rPr lang="en-US" dirty="0"/>
              <a:t> </a:t>
            </a:r>
            <a:r>
              <a:rPr lang="en-US" dirty="0" err="1"/>
              <a:t>длительные</a:t>
            </a:r>
            <a:r>
              <a:rPr lang="en-US" dirty="0"/>
              <a:t> </a:t>
            </a:r>
            <a:r>
              <a:rPr lang="en-US" dirty="0" err="1"/>
              <a:t>вычисления</a:t>
            </a:r>
            <a:r>
              <a:rPr lang="en-US" dirty="0"/>
              <a:t>.</a:t>
            </a:r>
          </a:p>
          <a:p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квант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, </a:t>
            </a:r>
            <a:r>
              <a:rPr lang="en-US" dirty="0" err="1"/>
              <a:t>полностью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и </a:t>
            </a:r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dirty="0" err="1"/>
              <a:t>готовой</a:t>
            </a:r>
            <a:r>
              <a:rPr lang="en-US" dirty="0"/>
              <a:t> к </a:t>
            </a:r>
            <a:r>
              <a:rPr lang="en-US" dirty="0" err="1"/>
              <a:t>дальнейшей</a:t>
            </a:r>
            <a:r>
              <a:rPr lang="en-US" dirty="0"/>
              <a:t> </a:t>
            </a:r>
            <a:r>
              <a:rPr lang="en-US" dirty="0" err="1"/>
              <a:t>работе</a:t>
            </a:r>
            <a:r>
              <a:rPr lang="en-US" dirty="0"/>
              <a:t>.</a:t>
            </a:r>
          </a:p>
          <a:p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нуждается</a:t>
            </a:r>
            <a:r>
              <a:rPr lang="en-US" dirty="0"/>
              <a:t> в </a:t>
            </a:r>
            <a:r>
              <a:rPr lang="en-US" dirty="0" err="1"/>
              <a:t>частом</a:t>
            </a:r>
            <a:r>
              <a:rPr lang="en-US" dirty="0"/>
              <a:t> </a:t>
            </a:r>
            <a:r>
              <a:rPr lang="en-US" dirty="0" err="1"/>
              <a:t>коротком</a:t>
            </a:r>
            <a:r>
              <a:rPr lang="en-US" dirty="0"/>
              <a:t> </a:t>
            </a:r>
            <a:r>
              <a:rPr lang="en-US" dirty="0" err="1"/>
              <a:t>обслуживании</a:t>
            </a:r>
            <a:r>
              <a:rPr lang="en-US" dirty="0"/>
              <a:t>, и </a:t>
            </a:r>
            <a:r>
              <a:rPr lang="en-US" dirty="0" err="1"/>
              <a:t>понижает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, </a:t>
            </a:r>
            <a:r>
              <a:rPr lang="en-US" dirty="0" err="1"/>
              <a:t>перемещая</a:t>
            </a:r>
            <a:r>
              <a:rPr lang="en-US" dirty="0"/>
              <a:t> в Q1.</a:t>
            </a:r>
          </a:p>
          <a:p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интенсивно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CPU,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временем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переместиться</a:t>
            </a:r>
            <a:r>
              <a:rPr lang="en-US" dirty="0"/>
              <a:t> в Q2.</a:t>
            </a:r>
          </a:p>
          <a:p>
            <a:endParaRPr lang="ru-RU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другую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ввод-вывод</a:t>
            </a:r>
            <a:r>
              <a:rPr lang="en-US" dirty="0"/>
              <a:t>.</a:t>
            </a:r>
          </a:p>
          <a:p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CPU,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небольшой</a:t>
            </a:r>
            <a:r>
              <a:rPr lang="en-US" dirty="0"/>
              <a:t> </a:t>
            </a:r>
            <a:r>
              <a:rPr lang="en-US" dirty="0" err="1"/>
              <a:t>объём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 и </a:t>
            </a:r>
            <a:r>
              <a:rPr lang="en-US" dirty="0" err="1"/>
              <a:t>блокируется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использовав</a:t>
            </a:r>
            <a:r>
              <a:rPr lang="en-US" dirty="0"/>
              <a:t> </a:t>
            </a:r>
            <a:r>
              <a:rPr lang="en-US" dirty="0" err="1"/>
              <a:t>весь</a:t>
            </a:r>
            <a:r>
              <a:rPr lang="en-US" dirty="0"/>
              <a:t> </a:t>
            </a:r>
            <a:r>
              <a:rPr lang="en-US" dirty="0" err="1"/>
              <a:t>доступный</a:t>
            </a:r>
            <a:r>
              <a:rPr lang="en-US" dirty="0"/>
              <a:t> </a:t>
            </a:r>
            <a:r>
              <a:rPr lang="en-US" dirty="0" err="1"/>
              <a:t>процессорный</a:t>
            </a:r>
            <a:r>
              <a:rPr lang="en-US" dirty="0"/>
              <a:t> </a:t>
            </a:r>
            <a:r>
              <a:rPr lang="en-US" dirty="0" err="1"/>
              <a:t>бюджет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пробуждения</a:t>
            </a:r>
            <a:r>
              <a:rPr lang="en-US" dirty="0"/>
              <a:t> </a:t>
            </a:r>
            <a:r>
              <a:rPr lang="en-US" dirty="0" err="1"/>
              <a:t>такая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обслуживаться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высоком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 </a:t>
            </a:r>
            <a:r>
              <a:rPr lang="en-US" dirty="0" err="1"/>
              <a:t>приоритета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Получается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короткие</a:t>
            </a:r>
            <a:r>
              <a:rPr lang="en-US" dirty="0"/>
              <a:t> </a:t>
            </a:r>
            <a:r>
              <a:rPr lang="en-US" dirty="0" err="1"/>
              <a:t>вычислительные</a:t>
            </a:r>
            <a:r>
              <a:rPr lang="en-US" dirty="0"/>
              <a:t> </a:t>
            </a:r>
            <a:r>
              <a:rPr lang="en-US" dirty="0" err="1"/>
              <a:t>участки</a:t>
            </a:r>
            <a:r>
              <a:rPr lang="en-US" dirty="0"/>
              <a:t> </a:t>
            </a:r>
            <a:r>
              <a:rPr lang="en-US" dirty="0" err="1"/>
              <a:t>обслуживаются</a:t>
            </a:r>
            <a:r>
              <a:rPr lang="en-US" dirty="0"/>
              <a:t> </a:t>
            </a:r>
            <a:r>
              <a:rPr lang="en-US" dirty="0" err="1"/>
              <a:t>быстрее</a:t>
            </a:r>
            <a:r>
              <a:rPr lang="en-US" dirty="0"/>
              <a:t>, а </a:t>
            </a:r>
            <a:r>
              <a:rPr lang="en-US" dirty="0" err="1"/>
              <a:t>длительные</a:t>
            </a:r>
            <a:r>
              <a:rPr lang="en-US" dirty="0"/>
              <a:t> </a:t>
            </a:r>
            <a:r>
              <a:rPr lang="en-US" dirty="0" err="1"/>
              <a:t>вычисления</a:t>
            </a:r>
            <a:r>
              <a:rPr lang="en-US" dirty="0"/>
              <a:t> </a:t>
            </a:r>
            <a:r>
              <a:rPr lang="en-US" dirty="0" err="1"/>
              <a:t>постепенно</a:t>
            </a:r>
            <a:r>
              <a:rPr lang="en-US" dirty="0"/>
              <a:t> </a:t>
            </a:r>
            <a:r>
              <a:rPr lang="en-US" dirty="0" err="1"/>
              <a:t>переходят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менее</a:t>
            </a:r>
            <a:r>
              <a:rPr lang="en-US" dirty="0"/>
              <a:t> </a:t>
            </a:r>
            <a:r>
              <a:rPr lang="en-US" dirty="0" err="1"/>
              <a:t>приоритетные</a:t>
            </a:r>
            <a:r>
              <a:rPr lang="en-US" dirty="0"/>
              <a:t> </a:t>
            </a:r>
            <a:r>
              <a:rPr lang="en-US" dirty="0" err="1"/>
              <a:t>уровни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самое</a:t>
            </a:r>
            <a:r>
              <a:rPr lang="en-US" dirty="0"/>
              <a:t> </a:t>
            </a:r>
            <a:r>
              <a:rPr lang="en-US" dirty="0" err="1"/>
              <a:t>интересное</a:t>
            </a:r>
            <a:r>
              <a:rPr lang="en-US" dirty="0"/>
              <a:t> —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потребовалось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 </a:t>
            </a:r>
            <a:r>
              <a:rPr lang="en-US" dirty="0" err="1"/>
              <a:t>длительность</a:t>
            </a:r>
            <a:r>
              <a:rPr lang="en-US" dirty="0"/>
              <a:t> CPU Burst.</a:t>
            </a:r>
          </a:p>
          <a:p>
            <a:endParaRPr lang="ru-RU" dirty="0"/>
          </a:p>
          <a:p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выводы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основе</a:t>
            </a:r>
            <a:r>
              <a:rPr lang="en-US" dirty="0"/>
              <a:t> </a:t>
            </a:r>
            <a:r>
              <a:rPr lang="en-US" dirty="0" err="1"/>
              <a:t>наблюдаемого</a:t>
            </a:r>
            <a:r>
              <a:rPr lang="en-US" dirty="0"/>
              <a:t> </a:t>
            </a:r>
            <a:r>
              <a:rPr lang="en-US" dirty="0" err="1"/>
              <a:t>поведения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тонкостей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Во-первых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в </a:t>
            </a:r>
            <a:r>
              <a:rPr lang="en-US" dirty="0" err="1"/>
              <a:t>верхних</a:t>
            </a:r>
            <a:r>
              <a:rPr lang="en-US" dirty="0"/>
              <a:t> </a:t>
            </a:r>
            <a:r>
              <a:rPr lang="en-US" dirty="0" err="1"/>
              <a:t>очередях</a:t>
            </a:r>
            <a:r>
              <a:rPr lang="en-US" dirty="0"/>
              <a:t>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присутствуют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, </a:t>
            </a:r>
            <a:r>
              <a:rPr lang="en-US" dirty="0" err="1"/>
              <a:t>нижние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испытывать</a:t>
            </a:r>
            <a:r>
              <a:rPr lang="en-US" dirty="0"/>
              <a:t> </a:t>
            </a:r>
            <a:r>
              <a:rPr lang="en-US" dirty="0" err="1"/>
              <a:t>голодание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многих</a:t>
            </a:r>
            <a:r>
              <a:rPr lang="en-US" dirty="0"/>
              <a:t> </a:t>
            </a:r>
            <a:r>
              <a:rPr lang="en-US" dirty="0" err="1"/>
              <a:t>учебных</a:t>
            </a:r>
            <a:r>
              <a:rPr lang="en-US" dirty="0"/>
              <a:t> </a:t>
            </a:r>
            <a:r>
              <a:rPr lang="en-US" dirty="0" err="1"/>
              <a:t>моделях</a:t>
            </a:r>
            <a:r>
              <a:rPr lang="en-US" dirty="0"/>
              <a:t> MLFQ </a:t>
            </a:r>
            <a:r>
              <a:rPr lang="en-US" dirty="0" err="1"/>
              <a:t>используется</a:t>
            </a:r>
            <a:r>
              <a:rPr lang="en-US" dirty="0"/>
              <a:t> Priority Boost — </a:t>
            </a:r>
            <a:r>
              <a:rPr lang="en-US" dirty="0" err="1"/>
              <a:t>периодическое</a:t>
            </a:r>
            <a:r>
              <a:rPr lang="en-US" dirty="0"/>
              <a:t> </a:t>
            </a:r>
            <a:r>
              <a:rPr lang="en-US" dirty="0" err="1"/>
              <a:t>повышение</a:t>
            </a:r>
            <a:r>
              <a:rPr lang="en-US" dirty="0"/>
              <a:t> </a:t>
            </a:r>
            <a:r>
              <a:rPr lang="en-US" dirty="0" err="1"/>
              <a:t>приоритетов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Во-вторых</a:t>
            </a:r>
            <a:r>
              <a:rPr lang="en-US" dirty="0"/>
              <a:t>,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правильно</a:t>
            </a:r>
            <a:r>
              <a:rPr lang="en-US" dirty="0"/>
              <a:t> </a:t>
            </a:r>
            <a:r>
              <a:rPr lang="en-US" dirty="0" err="1"/>
              <a:t>учитывать</a:t>
            </a:r>
            <a:r>
              <a:rPr lang="en-US" dirty="0"/>
              <a:t> </a:t>
            </a:r>
            <a:r>
              <a:rPr lang="en-US" dirty="0" err="1"/>
              <a:t>израсходованное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.</a:t>
            </a:r>
          </a:p>
          <a:p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почти</a:t>
            </a:r>
            <a:r>
              <a:rPr lang="en-US" dirty="0"/>
              <a:t> </a:t>
            </a:r>
            <a:r>
              <a:rPr lang="en-US" dirty="0" err="1"/>
              <a:t>весь</a:t>
            </a:r>
            <a:r>
              <a:rPr lang="en-US" dirty="0"/>
              <a:t> </a:t>
            </a:r>
            <a:r>
              <a:rPr lang="en-US" dirty="0" err="1"/>
              <a:t>квант</a:t>
            </a:r>
            <a:r>
              <a:rPr lang="en-US" dirty="0"/>
              <a:t>, а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окончанием</a:t>
            </a:r>
            <a:r>
              <a:rPr lang="en-US" dirty="0"/>
              <a:t> </a:t>
            </a:r>
            <a:r>
              <a:rPr lang="en-US" dirty="0" err="1"/>
              <a:t>добровольно</a:t>
            </a:r>
            <a:r>
              <a:rPr lang="en-US" dirty="0"/>
              <a:t> </a:t>
            </a:r>
            <a:r>
              <a:rPr lang="en-US" dirty="0" err="1"/>
              <a:t>уступает</a:t>
            </a:r>
            <a:r>
              <a:rPr lang="en-US" dirty="0"/>
              <a:t> CPU.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каждом</a:t>
            </a:r>
            <a:r>
              <a:rPr lang="en-US" dirty="0"/>
              <a:t> </a:t>
            </a:r>
            <a:r>
              <a:rPr lang="en-US" dirty="0" err="1"/>
              <a:t>таком</a:t>
            </a:r>
            <a:r>
              <a:rPr lang="en-US" dirty="0"/>
              <a:t> </a:t>
            </a:r>
            <a:r>
              <a:rPr lang="en-US" dirty="0" err="1"/>
              <a:t>действии</a:t>
            </a:r>
            <a:r>
              <a:rPr lang="en-US" dirty="0"/>
              <a:t> </a:t>
            </a:r>
            <a:r>
              <a:rPr lang="en-US" dirty="0" err="1"/>
              <a:t>счётчик</a:t>
            </a:r>
            <a:r>
              <a:rPr lang="en-US" dirty="0"/>
              <a:t> </a:t>
            </a:r>
            <a:r>
              <a:rPr lang="en-US" dirty="0" err="1"/>
              <a:t>обнуляется</a:t>
            </a:r>
            <a:r>
              <a:rPr lang="en-US" dirty="0"/>
              <a:t>,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сможет</a:t>
            </a:r>
            <a:r>
              <a:rPr lang="en-US" dirty="0"/>
              <a:t> </a:t>
            </a:r>
            <a:r>
              <a:rPr lang="en-US" dirty="0" err="1"/>
              <a:t>бесконечно</a:t>
            </a:r>
            <a:r>
              <a:rPr lang="en-US" dirty="0"/>
              <a:t> </a:t>
            </a:r>
            <a:r>
              <a:rPr lang="en-US" dirty="0" err="1"/>
              <a:t>сохранять</a:t>
            </a:r>
            <a:r>
              <a:rPr lang="en-US" dirty="0"/>
              <a:t> </a:t>
            </a:r>
            <a:r>
              <a:rPr lang="en-US" dirty="0" err="1"/>
              <a:t>высокий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в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продуманной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 </a:t>
            </a:r>
            <a:r>
              <a:rPr lang="en-US" dirty="0" err="1"/>
              <a:t>учитывается</a:t>
            </a:r>
            <a:r>
              <a:rPr lang="en-US" dirty="0"/>
              <a:t> </a:t>
            </a:r>
            <a:r>
              <a:rPr lang="en-US" dirty="0" err="1"/>
              <a:t>суммарное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использования</a:t>
            </a:r>
            <a:r>
              <a:rPr lang="en-US" dirty="0"/>
              <a:t> CPU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данном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,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добровольно</a:t>
            </a:r>
            <a:r>
              <a:rPr lang="en-US" dirty="0"/>
              <a:t> </a:t>
            </a:r>
            <a:r>
              <a:rPr lang="en-US" dirty="0" err="1"/>
              <a:t>уступала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исчерпания</a:t>
            </a:r>
            <a:r>
              <a:rPr lang="en-US" dirty="0"/>
              <a:t> </a:t>
            </a:r>
            <a:r>
              <a:rPr lang="en-US" dirty="0" err="1"/>
              <a:t>выделенного</a:t>
            </a:r>
            <a:r>
              <a:rPr lang="en-US" dirty="0"/>
              <a:t> </a:t>
            </a:r>
            <a:r>
              <a:rPr lang="en-US" dirty="0" err="1"/>
              <a:t>бюджета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 </a:t>
            </a:r>
            <a:r>
              <a:rPr lang="en-US" dirty="0" err="1"/>
              <a:t>понижается</a:t>
            </a:r>
            <a:r>
              <a:rPr lang="en-US" dirty="0"/>
              <a:t>.</a:t>
            </a:r>
          </a:p>
          <a:p>
            <a:r>
              <a:rPr lang="en-US" dirty="0" err="1"/>
              <a:t>Такие</a:t>
            </a:r>
            <a:r>
              <a:rPr lang="en-US" dirty="0"/>
              <a:t> </a:t>
            </a:r>
            <a:r>
              <a:rPr lang="en-US" dirty="0" err="1"/>
              <a:t>правила</a:t>
            </a:r>
            <a:r>
              <a:rPr lang="en-US" dirty="0"/>
              <a:t> </a:t>
            </a:r>
            <a:r>
              <a:rPr lang="en-US" dirty="0" err="1"/>
              <a:t>позволяют</a:t>
            </a:r>
            <a:r>
              <a:rPr lang="en-US" dirty="0"/>
              <a:t> </a:t>
            </a:r>
            <a:r>
              <a:rPr lang="en-US" dirty="0" err="1"/>
              <a:t>снизить</a:t>
            </a:r>
            <a:r>
              <a:rPr lang="en-US" dirty="0"/>
              <a:t> </a:t>
            </a:r>
            <a:r>
              <a:rPr lang="en-US" dirty="0" err="1"/>
              <a:t>риск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искусственно</a:t>
            </a:r>
            <a:r>
              <a:rPr lang="en-US" dirty="0"/>
              <a:t> </a:t>
            </a:r>
            <a:r>
              <a:rPr lang="en-US" dirty="0" err="1"/>
              <a:t>манипулировать</a:t>
            </a:r>
            <a:r>
              <a:rPr lang="en-US" dirty="0"/>
              <a:t> </a:t>
            </a:r>
            <a:r>
              <a:rPr lang="en-US" dirty="0" err="1"/>
              <a:t>поведением</a:t>
            </a:r>
            <a:r>
              <a:rPr lang="en-US" dirty="0"/>
              <a:t> </a:t>
            </a:r>
            <a:r>
              <a:rPr lang="en-US" dirty="0" err="1"/>
              <a:t>планировщика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 err="1"/>
              <a:t>Главное</a:t>
            </a:r>
            <a:r>
              <a:rPr lang="en-US" dirty="0"/>
              <a:t> </a:t>
            </a:r>
            <a:r>
              <a:rPr lang="en-US" dirty="0" err="1"/>
              <a:t>достоинство</a:t>
            </a:r>
            <a:r>
              <a:rPr lang="en-US" dirty="0"/>
              <a:t> MLFQ — </a:t>
            </a:r>
            <a:r>
              <a:rPr lang="en-US" dirty="0" err="1"/>
              <a:t>адаптивность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точного</a:t>
            </a:r>
            <a:r>
              <a:rPr lang="en-US" dirty="0"/>
              <a:t> </a:t>
            </a:r>
            <a:r>
              <a:rPr lang="en-US" dirty="0" err="1"/>
              <a:t>прогноза</a:t>
            </a:r>
            <a:r>
              <a:rPr lang="en-US" dirty="0"/>
              <a:t> </a:t>
            </a:r>
            <a:r>
              <a:rPr lang="en-US" dirty="0" err="1"/>
              <a:t>длительности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, а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историю</a:t>
            </a:r>
            <a:r>
              <a:rPr lang="en-US" dirty="0"/>
              <a:t> </a:t>
            </a:r>
            <a:r>
              <a:rPr lang="en-US" dirty="0" err="1"/>
              <a:t>поведения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ответили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важный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.</a:t>
            </a:r>
          </a:p>
          <a:p>
            <a:r>
              <a:rPr lang="en-US" dirty="0" err="1"/>
              <a:t>Предположим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вычислительных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готовы</a:t>
            </a:r>
            <a:r>
              <a:rPr lang="en-US" dirty="0"/>
              <a:t> к </a:t>
            </a:r>
            <a:r>
              <a:rPr lang="en-US" dirty="0" err="1"/>
              <a:t>выполнению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определить</a:t>
            </a:r>
            <a:r>
              <a:rPr lang="en-US" dirty="0"/>
              <a:t>, </a:t>
            </a:r>
            <a:r>
              <a:rPr lang="en-US" dirty="0" err="1"/>
              <a:t>какую</a:t>
            </a:r>
            <a:r>
              <a:rPr lang="en-US" dirty="0"/>
              <a:t> </a:t>
            </a:r>
            <a:r>
              <a:rPr lang="en-US" dirty="0" err="1"/>
              <a:t>долю</a:t>
            </a:r>
            <a:r>
              <a:rPr lang="en-US" dirty="0"/>
              <a:t> </a:t>
            </a:r>
            <a:r>
              <a:rPr lang="en-US" dirty="0" err="1"/>
              <a:t>процессорного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?</a:t>
            </a:r>
            <a:endParaRPr lang="ru-RU" dirty="0"/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столько</a:t>
            </a:r>
            <a:r>
              <a:rPr lang="en-US" dirty="0"/>
              <a:t> </a:t>
            </a:r>
            <a:r>
              <a:rPr lang="en-US" dirty="0" err="1"/>
              <a:t>приоритетов</a:t>
            </a:r>
            <a:r>
              <a:rPr lang="en-US" dirty="0"/>
              <a:t>, </a:t>
            </a:r>
            <a:r>
              <a:rPr lang="en-US" dirty="0" err="1"/>
              <a:t>сколько</a:t>
            </a:r>
            <a:r>
              <a:rPr lang="en-US" dirty="0"/>
              <a:t> </a:t>
            </a:r>
            <a:r>
              <a:rPr lang="en-US" dirty="0" err="1"/>
              <a:t>справедливости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1131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сих</a:t>
            </a:r>
            <a:r>
              <a:rPr lang="en-US" dirty="0"/>
              <a:t> </a:t>
            </a:r>
            <a:r>
              <a:rPr lang="en-US" dirty="0" err="1"/>
              <a:t>пор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обсуждали</a:t>
            </a:r>
            <a:r>
              <a:rPr lang="en-US" dirty="0"/>
              <a:t>, </a:t>
            </a:r>
            <a:r>
              <a:rPr lang="en-US" dirty="0" err="1"/>
              <a:t>какую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следующей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Приоритетное</a:t>
            </a:r>
            <a:r>
              <a:rPr lang="en-US" dirty="0"/>
              <a:t> </a:t>
            </a:r>
            <a:r>
              <a:rPr lang="en-US" dirty="0" err="1"/>
              <a:t>планирование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 </a:t>
            </a:r>
            <a:r>
              <a:rPr lang="en-US" dirty="0" err="1"/>
              <a:t>довольно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: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готовая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с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высоким</a:t>
            </a:r>
            <a:r>
              <a:rPr lang="en-US" dirty="0"/>
              <a:t> </a:t>
            </a:r>
            <a:r>
              <a:rPr lang="en-US" dirty="0" err="1"/>
              <a:t>приоритетом</a:t>
            </a:r>
            <a:r>
              <a:rPr lang="en-US" dirty="0"/>
              <a:t>, </a:t>
            </a:r>
            <a:r>
              <a:rPr lang="en-US" dirty="0" err="1"/>
              <a:t>следует</a:t>
            </a:r>
            <a:r>
              <a:rPr lang="en-US" dirty="0"/>
              <a:t> </a:t>
            </a:r>
            <a:r>
              <a:rPr lang="en-US" dirty="0" err="1"/>
              <a:t>отдать</a:t>
            </a:r>
            <a:r>
              <a:rPr lang="en-US" dirty="0"/>
              <a:t> </a:t>
            </a:r>
            <a:r>
              <a:rPr lang="en-US" dirty="0" err="1"/>
              <a:t>предпочтение</a:t>
            </a:r>
            <a:r>
              <a:rPr lang="en-US" dirty="0"/>
              <a:t> </a:t>
            </a:r>
            <a:r>
              <a:rPr lang="en-US" dirty="0" err="1"/>
              <a:t>ей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приводить</a:t>
            </a:r>
            <a:r>
              <a:rPr lang="en-US" dirty="0"/>
              <a:t> к </a:t>
            </a:r>
            <a:r>
              <a:rPr lang="en-US" dirty="0" err="1"/>
              <a:t>голоданию</a:t>
            </a:r>
            <a:r>
              <a:rPr lang="en-US" dirty="0"/>
              <a:t> </a:t>
            </a:r>
            <a:r>
              <a:rPr lang="en-US" dirty="0" err="1"/>
              <a:t>низкоприоритетных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А </a:t>
            </a:r>
            <a:r>
              <a:rPr lang="en-US" dirty="0" err="1"/>
              <a:t>что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планирование</a:t>
            </a:r>
            <a:r>
              <a:rPr lang="en-US" dirty="0"/>
              <a:t> </a:t>
            </a:r>
            <a:r>
              <a:rPr lang="en-US" dirty="0" err="1"/>
              <a:t>немного</a:t>
            </a:r>
            <a:r>
              <a:rPr lang="en-US" dirty="0"/>
              <a:t> </a:t>
            </a:r>
            <a:r>
              <a:rPr lang="en-US" dirty="0" err="1"/>
              <a:t>иначе</a:t>
            </a:r>
            <a:r>
              <a:rPr lang="en-US" dirty="0"/>
              <a:t>?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вопроса</a:t>
            </a:r>
            <a:r>
              <a:rPr lang="en-US" dirty="0"/>
              <a:t> «</a:t>
            </a:r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 </a:t>
            </a:r>
            <a:r>
              <a:rPr lang="en-US" dirty="0" err="1"/>
              <a:t>следующим</a:t>
            </a:r>
            <a:r>
              <a:rPr lang="en-US" dirty="0"/>
              <a:t>?» </a:t>
            </a:r>
            <a:r>
              <a:rPr lang="en-US" dirty="0" err="1"/>
              <a:t>поставим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: «</a:t>
            </a:r>
            <a:r>
              <a:rPr lang="en-US" dirty="0" err="1"/>
              <a:t>Какую</a:t>
            </a:r>
            <a:r>
              <a:rPr lang="en-US" dirty="0"/>
              <a:t> </a:t>
            </a:r>
            <a:r>
              <a:rPr lang="en-US" dirty="0" err="1"/>
              <a:t>долю</a:t>
            </a:r>
            <a:r>
              <a:rPr lang="en-US" dirty="0"/>
              <a:t> </a:t>
            </a:r>
            <a:r>
              <a:rPr lang="en-US" dirty="0" err="1"/>
              <a:t>процессорного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получать</a:t>
            </a:r>
            <a:r>
              <a:rPr lang="en-US" dirty="0"/>
              <a:t> </a:t>
            </a:r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?»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приходим</a:t>
            </a:r>
            <a:r>
              <a:rPr lang="en-US" dirty="0"/>
              <a:t> к </a:t>
            </a:r>
            <a:r>
              <a:rPr lang="en-US" dirty="0" err="1"/>
              <a:t>понятию</a:t>
            </a:r>
            <a:r>
              <a:rPr lang="en-US" dirty="0"/>
              <a:t> </a:t>
            </a:r>
            <a:r>
              <a:rPr lang="en-US" dirty="0" err="1"/>
              <a:t>справедливого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 — Fair Scheduling.</a:t>
            </a:r>
          </a:p>
          <a:p>
            <a:endParaRPr lang="ru-RU" dirty="0"/>
          </a:p>
          <a:p>
            <a:r>
              <a:rPr lang="en-US" dirty="0" err="1"/>
              <a:t>Предположим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CPU и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вычислительные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, A и B.</a:t>
            </a:r>
          </a:p>
          <a:p>
            <a:r>
              <a:rPr lang="en-US" dirty="0" err="1"/>
              <a:t>Обе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готовы</a:t>
            </a:r>
            <a:r>
              <a:rPr lang="en-US" dirty="0"/>
              <a:t> к </a:t>
            </a:r>
            <a:r>
              <a:rPr lang="en-US" dirty="0" err="1"/>
              <a:t>выполнению</a:t>
            </a:r>
            <a:r>
              <a:rPr lang="en-US" dirty="0"/>
              <a:t>.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блокируются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ожидают</a:t>
            </a:r>
            <a:r>
              <a:rPr lang="en-US" dirty="0"/>
              <a:t> </a:t>
            </a:r>
            <a:r>
              <a:rPr lang="en-US" dirty="0" err="1"/>
              <a:t>ввод-вывод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обе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равноправны</a:t>
            </a:r>
            <a:r>
              <a:rPr lang="en-US" dirty="0"/>
              <a:t>, </a:t>
            </a:r>
            <a:r>
              <a:rPr lang="en-US" dirty="0" err="1"/>
              <a:t>разумно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предоставить</a:t>
            </a:r>
            <a:r>
              <a:rPr lang="en-US" dirty="0"/>
              <a:t>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примерно</a:t>
            </a:r>
            <a:r>
              <a:rPr lang="en-US" dirty="0"/>
              <a:t> </a:t>
            </a:r>
            <a:r>
              <a:rPr lang="en-US" dirty="0" err="1"/>
              <a:t>половину</a:t>
            </a:r>
            <a:r>
              <a:rPr lang="en-US" dirty="0"/>
              <a:t> </a:t>
            </a:r>
            <a:r>
              <a:rPr lang="en-US" dirty="0" err="1"/>
              <a:t>процессорного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за</a:t>
            </a:r>
            <a:r>
              <a:rPr lang="en-US" dirty="0"/>
              <a:t> 100 </a:t>
            </a:r>
            <a:r>
              <a:rPr lang="en-US" dirty="0" err="1"/>
              <a:t>миллисекунд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получит</a:t>
            </a:r>
            <a:r>
              <a:rPr lang="en-US" dirty="0"/>
              <a:t> </a:t>
            </a:r>
            <a:r>
              <a:rPr lang="en-US" dirty="0" err="1"/>
              <a:t>около</a:t>
            </a:r>
            <a:r>
              <a:rPr lang="en-US" dirty="0"/>
              <a:t> 50 </a:t>
            </a:r>
            <a:r>
              <a:rPr lang="en-US" dirty="0" err="1"/>
              <a:t>миллисекунд</a:t>
            </a:r>
            <a:r>
              <a:rPr lang="en-US" dirty="0"/>
              <a:t> CPU, а </a:t>
            </a:r>
            <a:r>
              <a:rPr lang="en-US" dirty="0" err="1"/>
              <a:t>вторая</a:t>
            </a:r>
            <a:r>
              <a:rPr lang="en-US" dirty="0"/>
              <a:t> — </a:t>
            </a:r>
            <a:r>
              <a:rPr lang="en-US" dirty="0" err="1"/>
              <a:t>оставшиеся</a:t>
            </a:r>
            <a:r>
              <a:rPr lang="en-US" dirty="0"/>
              <a:t> 50.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 «</a:t>
            </a:r>
            <a:r>
              <a:rPr lang="en-US" dirty="0" err="1"/>
              <a:t>равноправны</a:t>
            </a:r>
            <a:r>
              <a:rPr lang="en-US" dirty="0"/>
              <a:t>»?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простейшем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считать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одинаковый</a:t>
            </a:r>
            <a:r>
              <a:rPr lang="en-US" dirty="0"/>
              <a:t> </a:t>
            </a:r>
            <a:r>
              <a:rPr lang="en-US" dirty="0" err="1"/>
              <a:t>вес</a:t>
            </a:r>
            <a:r>
              <a:rPr lang="en-US" dirty="0"/>
              <a:t>.</a:t>
            </a:r>
          </a:p>
          <a:p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предоставить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задаче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задача</a:t>
            </a:r>
            <a:r>
              <a:rPr lang="en-US" dirty="0"/>
              <a:t> A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важную</a:t>
            </a:r>
            <a:r>
              <a:rPr lang="en-US" dirty="0"/>
              <a:t> </a:t>
            </a:r>
            <a:r>
              <a:rPr lang="en-US" dirty="0" err="1"/>
              <a:t>обработку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, а B — </a:t>
            </a:r>
            <a:r>
              <a:rPr lang="en-US" dirty="0" err="1"/>
              <a:t>фоновую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назначить</a:t>
            </a:r>
            <a:r>
              <a:rPr lang="en-US" dirty="0"/>
              <a:t> A </a:t>
            </a:r>
            <a:r>
              <a:rPr lang="en-US" dirty="0" err="1"/>
              <a:t>вес</a:t>
            </a:r>
            <a:r>
              <a:rPr lang="en-US" dirty="0"/>
              <a:t> 2, а B </a:t>
            </a:r>
            <a:r>
              <a:rPr lang="en-US" dirty="0" err="1"/>
              <a:t>вес</a:t>
            </a:r>
            <a:r>
              <a:rPr lang="en-US" dirty="0"/>
              <a:t> 1.</a:t>
            </a:r>
          </a:p>
          <a:p>
            <a:endParaRPr lang="ru-RU" dirty="0"/>
          </a:p>
          <a:p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постоянной</a:t>
            </a:r>
            <a:r>
              <a:rPr lang="en-US" dirty="0"/>
              <a:t> </a:t>
            </a:r>
            <a:r>
              <a:rPr lang="en-US" dirty="0" err="1"/>
              <a:t>конкуренции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целевые</a:t>
            </a:r>
            <a:r>
              <a:rPr lang="en-US" dirty="0"/>
              <a:t> </a:t>
            </a:r>
            <a:r>
              <a:rPr lang="en-US" dirty="0" err="1"/>
              <a:t>доли</a:t>
            </a:r>
            <a:r>
              <a:rPr lang="en-US" dirty="0"/>
              <a:t> CPU </a:t>
            </a:r>
            <a:r>
              <a:rPr lang="en-US" dirty="0" err="1"/>
              <a:t>будут</a:t>
            </a:r>
            <a:r>
              <a:rPr lang="en-US" dirty="0"/>
              <a:t> </a:t>
            </a:r>
            <a:r>
              <a:rPr lang="en-US" dirty="0" err="1"/>
              <a:t>пропорциональны</a:t>
            </a:r>
            <a:r>
              <a:rPr lang="en-US" dirty="0"/>
              <a:t> </a:t>
            </a:r>
            <a:r>
              <a:rPr lang="en-US" dirty="0" err="1"/>
              <a:t>весам</a:t>
            </a:r>
            <a:r>
              <a:rPr lang="en-US" dirty="0"/>
              <a:t>.</a:t>
            </a:r>
          </a:p>
          <a:p>
            <a:r>
              <a:rPr lang="en-US" dirty="0"/>
              <a:t>A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получать</a:t>
            </a:r>
            <a:r>
              <a:rPr lang="en-US" dirty="0"/>
              <a:t> </a:t>
            </a:r>
            <a:r>
              <a:rPr lang="en-US" dirty="0" err="1"/>
              <a:t>примерно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трети</a:t>
            </a:r>
            <a:r>
              <a:rPr lang="en-US" dirty="0"/>
              <a:t> </a:t>
            </a:r>
            <a:r>
              <a:rPr lang="en-US" dirty="0" err="1"/>
              <a:t>процессорного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, B —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треть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принципиальное</a:t>
            </a:r>
            <a:r>
              <a:rPr lang="en-US" dirty="0"/>
              <a:t> </a:t>
            </a:r>
            <a:r>
              <a:rPr lang="en-US" dirty="0" err="1"/>
              <a:t>отличие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строгого</a:t>
            </a:r>
            <a:r>
              <a:rPr lang="en-US" dirty="0"/>
              <a:t> </a:t>
            </a:r>
            <a:r>
              <a:rPr lang="en-US" dirty="0" err="1"/>
              <a:t>приоритетного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A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высокий</a:t>
            </a:r>
            <a:r>
              <a:rPr lang="en-US" dirty="0"/>
              <a:t> </a:t>
            </a:r>
            <a:r>
              <a:rPr lang="en-US" dirty="0" err="1"/>
              <a:t>строгий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B, и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готова</a:t>
            </a:r>
            <a:r>
              <a:rPr lang="en-US" dirty="0"/>
              <a:t> к </a:t>
            </a:r>
            <a:r>
              <a:rPr lang="en-US" dirty="0" err="1"/>
              <a:t>выполнению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B в </a:t>
            </a:r>
            <a:r>
              <a:rPr lang="en-US" dirty="0" err="1"/>
              <a:t>худшем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получит</a:t>
            </a:r>
            <a:r>
              <a:rPr lang="en-US" dirty="0"/>
              <a:t> CPU.</a:t>
            </a:r>
            <a:endParaRPr lang="ru-RU" dirty="0"/>
          </a:p>
          <a:p>
            <a:endParaRPr lang="en-US" dirty="0"/>
          </a:p>
          <a:p>
            <a:r>
              <a:rPr lang="en-US" dirty="0"/>
              <a:t>А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распределяем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пропорционально</a:t>
            </a:r>
            <a:r>
              <a:rPr lang="en-US" dirty="0"/>
              <a:t> </a:t>
            </a:r>
            <a:r>
              <a:rPr lang="en-US" dirty="0" err="1"/>
              <a:t>весам</a:t>
            </a:r>
            <a:r>
              <a:rPr lang="en-US" dirty="0"/>
              <a:t>, </a:t>
            </a:r>
            <a:r>
              <a:rPr lang="en-US" dirty="0" err="1"/>
              <a:t>обе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получать</a:t>
            </a:r>
            <a:r>
              <a:rPr lang="en-US" dirty="0"/>
              <a:t> </a:t>
            </a:r>
            <a:r>
              <a:rPr lang="en-US" dirty="0" err="1"/>
              <a:t>свою</a:t>
            </a:r>
            <a:r>
              <a:rPr lang="en-US" dirty="0"/>
              <a:t> </a:t>
            </a:r>
            <a:r>
              <a:rPr lang="en-US" dirty="0" err="1"/>
              <a:t>долю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Конечно</a:t>
            </a:r>
            <a:r>
              <a:rPr lang="en-US" dirty="0"/>
              <a:t>, в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CPU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справедливость</a:t>
            </a:r>
            <a:r>
              <a:rPr lang="en-US" dirty="0"/>
              <a:t> </a:t>
            </a:r>
            <a:r>
              <a:rPr lang="en-US" dirty="0" err="1"/>
              <a:t>оценивается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некотором</a:t>
            </a:r>
            <a:r>
              <a:rPr lang="en-US" dirty="0"/>
              <a:t> </a:t>
            </a:r>
            <a:r>
              <a:rPr lang="en-US" dirty="0" err="1"/>
              <a:t>интервале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коротких</a:t>
            </a:r>
            <a:r>
              <a:rPr lang="en-US" dirty="0"/>
              <a:t> </a:t>
            </a:r>
            <a:r>
              <a:rPr lang="en-US" dirty="0" err="1"/>
              <a:t>интервалах</a:t>
            </a:r>
            <a:r>
              <a:rPr lang="en-US" dirty="0"/>
              <a:t> </a:t>
            </a:r>
            <a:r>
              <a:rPr lang="en-US" dirty="0" err="1"/>
              <a:t>доли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заметно</a:t>
            </a:r>
            <a:r>
              <a:rPr lang="en-US" dirty="0"/>
              <a:t> </a:t>
            </a:r>
            <a:r>
              <a:rPr lang="en-US" dirty="0" err="1"/>
              <a:t>отличаться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заданных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заблокировалась</a:t>
            </a:r>
            <a:r>
              <a:rPr lang="en-US" dirty="0"/>
              <a:t> и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нуждается</a:t>
            </a:r>
            <a:r>
              <a:rPr lang="en-US" dirty="0"/>
              <a:t> в CPU,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смысла</a:t>
            </a:r>
            <a:r>
              <a:rPr lang="en-US" dirty="0"/>
              <a:t> </a:t>
            </a:r>
            <a:r>
              <a:rPr lang="en-US" dirty="0" err="1"/>
              <a:t>оставлять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долю</a:t>
            </a:r>
            <a:r>
              <a:rPr lang="en-US" dirty="0"/>
              <a:t> </a:t>
            </a:r>
            <a:r>
              <a:rPr lang="en-US" dirty="0" err="1"/>
              <a:t>неиспользованной</a:t>
            </a:r>
            <a:r>
              <a:rPr lang="en-US" dirty="0"/>
              <a:t>.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занять</a:t>
            </a:r>
            <a:r>
              <a:rPr lang="en-US" dirty="0"/>
              <a:t> </a:t>
            </a:r>
            <a:r>
              <a:rPr lang="en-US" dirty="0" err="1"/>
              <a:t>освободившийся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справедливое</a:t>
            </a:r>
            <a:r>
              <a:rPr lang="en-US" dirty="0"/>
              <a:t> </a:t>
            </a:r>
            <a:r>
              <a:rPr lang="en-US" dirty="0" err="1"/>
              <a:t>планирование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распределять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r>
              <a:rPr lang="en-US" dirty="0"/>
              <a:t> в </a:t>
            </a:r>
            <a:r>
              <a:rPr lang="en-US" dirty="0" err="1"/>
              <a:t>соответствии</a:t>
            </a:r>
            <a:r>
              <a:rPr lang="en-US" dirty="0"/>
              <a:t> с </a:t>
            </a:r>
            <a:r>
              <a:rPr lang="en-US" dirty="0" err="1"/>
              <a:t>заданными</a:t>
            </a:r>
            <a:r>
              <a:rPr lang="en-US" dirty="0"/>
              <a:t> </a:t>
            </a:r>
            <a:r>
              <a:rPr lang="en-US" dirty="0" err="1"/>
              <a:t>весами</a:t>
            </a:r>
            <a:r>
              <a:rPr lang="en-US" dirty="0"/>
              <a:t>, </a:t>
            </a:r>
            <a:r>
              <a:rPr lang="en-US" dirty="0" err="1"/>
              <a:t>сохраняя</a:t>
            </a:r>
            <a:r>
              <a:rPr lang="en-US" dirty="0"/>
              <a:t> </a:t>
            </a:r>
            <a:r>
              <a:rPr lang="en-US" dirty="0" err="1"/>
              <a:t>высокую</a:t>
            </a:r>
            <a:r>
              <a:rPr lang="en-US" dirty="0"/>
              <a:t> </a:t>
            </a:r>
            <a:r>
              <a:rPr lang="en-US" dirty="0" err="1"/>
              <a:t>загрузку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интересная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говорили</a:t>
            </a:r>
            <a:r>
              <a:rPr lang="en-US" dirty="0"/>
              <a:t> о </a:t>
            </a:r>
            <a:r>
              <a:rPr lang="en-US" dirty="0" err="1"/>
              <a:t>справедливости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отдельными</a:t>
            </a:r>
            <a:r>
              <a:rPr lang="en-US" dirty="0"/>
              <a:t> </a:t>
            </a:r>
            <a:r>
              <a:rPr lang="en-US" dirty="0" err="1"/>
              <a:t>задачами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задачами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делить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3227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Представим</a:t>
            </a:r>
            <a:r>
              <a:rPr lang="en-US" dirty="0"/>
              <a:t> </a:t>
            </a:r>
            <a:r>
              <a:rPr lang="en-US" dirty="0" err="1"/>
              <a:t>многопользовательский</a:t>
            </a:r>
            <a:r>
              <a:rPr lang="en-US" dirty="0"/>
              <a:t> </a:t>
            </a:r>
            <a:r>
              <a:rPr lang="en-US" dirty="0" err="1"/>
              <a:t>сервер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сервере</a:t>
            </a:r>
            <a:r>
              <a:rPr lang="en-US" dirty="0"/>
              <a:t> </a:t>
            </a:r>
            <a:r>
              <a:rPr lang="en-US" dirty="0" err="1"/>
              <a:t>работают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 — A и B.</a:t>
            </a:r>
          </a:p>
          <a:p>
            <a:r>
              <a:rPr lang="en-US" dirty="0" err="1"/>
              <a:t>Пользователь</a:t>
            </a:r>
            <a:r>
              <a:rPr lang="en-US" dirty="0"/>
              <a:t> A </a:t>
            </a:r>
            <a:r>
              <a:rPr lang="en-US" dirty="0" err="1"/>
              <a:t>запустил</a:t>
            </a:r>
            <a:r>
              <a:rPr lang="en-US" dirty="0"/>
              <a:t> </a:t>
            </a:r>
            <a:r>
              <a:rPr lang="en-US" dirty="0" err="1"/>
              <a:t>четыре</a:t>
            </a:r>
            <a:r>
              <a:rPr lang="en-US" dirty="0"/>
              <a:t> </a:t>
            </a:r>
            <a:r>
              <a:rPr lang="en-US" dirty="0" err="1"/>
              <a:t>вычислительные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</a:p>
          <a:p>
            <a:r>
              <a:rPr lang="en-US" dirty="0" err="1"/>
              <a:t>Пользователь</a:t>
            </a:r>
            <a:r>
              <a:rPr lang="en-US" dirty="0"/>
              <a:t> B </a:t>
            </a:r>
            <a:r>
              <a:rPr lang="en-US" dirty="0" err="1"/>
              <a:t>запустил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.</a:t>
            </a:r>
          </a:p>
          <a:p>
            <a:r>
              <a:rPr lang="en-US" dirty="0" err="1"/>
              <a:t>Предположим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пять</a:t>
            </a:r>
            <a:r>
              <a:rPr lang="en-US" dirty="0"/>
              <a:t> </a:t>
            </a:r>
            <a:r>
              <a:rPr lang="en-US" dirty="0" err="1"/>
              <a:t>программ</a:t>
            </a:r>
            <a:r>
              <a:rPr lang="en-US" dirty="0"/>
              <a:t>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готовы</a:t>
            </a:r>
            <a:r>
              <a:rPr lang="en-US" dirty="0"/>
              <a:t> к </a:t>
            </a:r>
            <a:r>
              <a:rPr lang="en-US" dirty="0" err="1"/>
              <a:t>выполнению</a:t>
            </a:r>
            <a:r>
              <a:rPr lang="en-US" dirty="0"/>
              <a:t> и </a:t>
            </a:r>
            <a:r>
              <a:rPr lang="en-US" dirty="0" err="1"/>
              <a:t>активно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применим</a:t>
            </a:r>
            <a:r>
              <a:rPr lang="en-US" dirty="0"/>
              <a:t> </a:t>
            </a:r>
            <a:r>
              <a:rPr lang="en-US" dirty="0" err="1"/>
              <a:t>простое</a:t>
            </a:r>
            <a:r>
              <a:rPr lang="en-US" dirty="0"/>
              <a:t> </a:t>
            </a:r>
            <a:r>
              <a:rPr lang="en-US" dirty="0" err="1"/>
              <a:t>справедливое</a:t>
            </a:r>
            <a:r>
              <a:rPr lang="en-US" dirty="0"/>
              <a:t> </a:t>
            </a:r>
            <a:r>
              <a:rPr lang="en-US" dirty="0" err="1"/>
              <a:t>планирование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 </a:t>
            </a:r>
            <a:r>
              <a:rPr lang="en-US" dirty="0" err="1"/>
              <a:t>отдельных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и </a:t>
            </a:r>
            <a:r>
              <a:rPr lang="en-US" dirty="0" err="1"/>
              <a:t>дадим</a:t>
            </a:r>
            <a:r>
              <a:rPr lang="en-US" dirty="0"/>
              <a:t>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равный</a:t>
            </a:r>
            <a:r>
              <a:rPr lang="en-US" dirty="0"/>
              <a:t> </a:t>
            </a:r>
            <a:r>
              <a:rPr lang="en-US" dirty="0" err="1"/>
              <a:t>вес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получит</a:t>
            </a:r>
            <a:r>
              <a:rPr lang="en-US" dirty="0"/>
              <a:t> </a:t>
            </a:r>
            <a:r>
              <a:rPr lang="en-US" dirty="0" err="1"/>
              <a:t>приблизительно</a:t>
            </a:r>
            <a:r>
              <a:rPr lang="en-US" dirty="0"/>
              <a:t> 20% </a:t>
            </a:r>
            <a:r>
              <a:rPr lang="en-US" dirty="0" err="1"/>
              <a:t>процессорного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получится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 </a:t>
            </a:r>
            <a:r>
              <a:rPr lang="en-US" dirty="0" err="1"/>
              <a:t>пользователей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пользователя</a:t>
            </a:r>
            <a:r>
              <a:rPr lang="en-US" dirty="0"/>
              <a:t> A </a:t>
            </a:r>
            <a:r>
              <a:rPr lang="en-US" dirty="0" err="1"/>
              <a:t>четыре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 </a:t>
            </a:r>
            <a:r>
              <a:rPr lang="en-US" dirty="0" err="1"/>
              <a:t>Значит</a:t>
            </a:r>
            <a:r>
              <a:rPr lang="en-US" dirty="0"/>
              <a:t>, </a:t>
            </a:r>
            <a:r>
              <a:rPr lang="en-US" dirty="0" err="1"/>
              <a:t>суммарно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получит</a:t>
            </a:r>
            <a:r>
              <a:rPr lang="en-US" dirty="0"/>
              <a:t> 80% CPU.</a:t>
            </a:r>
          </a:p>
          <a:p>
            <a:r>
              <a:rPr lang="en-US" dirty="0"/>
              <a:t>А </a:t>
            </a:r>
            <a:r>
              <a:rPr lang="en-US" dirty="0" err="1"/>
              <a:t>пользователь</a:t>
            </a:r>
            <a:r>
              <a:rPr lang="en-US" dirty="0"/>
              <a:t> B </a:t>
            </a:r>
            <a:r>
              <a:rPr lang="en-US" dirty="0" err="1"/>
              <a:t>получит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20%.</a:t>
            </a:r>
          </a:p>
          <a:p>
            <a:endParaRPr lang="ru-RU" dirty="0"/>
          </a:p>
          <a:p>
            <a:r>
              <a:rPr lang="en-US" dirty="0" err="1"/>
              <a:t>Справедливо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?</a:t>
            </a:r>
            <a:endParaRPr lang="ru-RU" dirty="0"/>
          </a:p>
          <a:p>
            <a:endParaRPr lang="en-US" dirty="0"/>
          </a:p>
          <a:p>
            <a:r>
              <a:rPr lang="en-US" dirty="0"/>
              <a:t>С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стороны</a:t>
            </a:r>
            <a:r>
              <a:rPr lang="en-US" dirty="0"/>
              <a:t>, </a:t>
            </a:r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одинаковую</a:t>
            </a:r>
            <a:r>
              <a:rPr lang="en-US" dirty="0"/>
              <a:t> </a:t>
            </a:r>
            <a:r>
              <a:rPr lang="en-US" dirty="0" err="1"/>
              <a:t>долю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с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стороны</a:t>
            </a:r>
            <a:r>
              <a:rPr lang="en-US" dirty="0"/>
              <a:t>, </a:t>
            </a:r>
            <a:r>
              <a:rPr lang="en-US" dirty="0" err="1"/>
              <a:t>пользователь</a:t>
            </a:r>
            <a:r>
              <a:rPr lang="en-US" dirty="0"/>
              <a:t> A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увеличить</a:t>
            </a:r>
            <a:r>
              <a:rPr lang="en-US" dirty="0"/>
              <a:t> </a:t>
            </a:r>
            <a:r>
              <a:rPr lang="en-US" dirty="0" err="1"/>
              <a:t>свою</a:t>
            </a:r>
            <a:r>
              <a:rPr lang="en-US" dirty="0"/>
              <a:t> </a:t>
            </a:r>
            <a:r>
              <a:rPr lang="en-US" dirty="0" err="1"/>
              <a:t>суммарную</a:t>
            </a:r>
            <a:r>
              <a:rPr lang="en-US" dirty="0"/>
              <a:t> </a:t>
            </a:r>
            <a:r>
              <a:rPr lang="en-US" dirty="0" err="1"/>
              <a:t>долю</a:t>
            </a:r>
            <a:r>
              <a:rPr lang="en-US" dirty="0"/>
              <a:t> CPU,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запустив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политика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предполагает</a:t>
            </a:r>
            <a:r>
              <a:rPr lang="en-US" dirty="0"/>
              <a:t> </a:t>
            </a:r>
            <a:r>
              <a:rPr lang="en-US" dirty="0" err="1"/>
              <a:t>равноправие</a:t>
            </a:r>
            <a:r>
              <a:rPr lang="en-US" dirty="0"/>
              <a:t> </a:t>
            </a:r>
            <a:r>
              <a:rPr lang="en-US" dirty="0" err="1"/>
              <a:t>пользователей</a:t>
            </a:r>
            <a:r>
              <a:rPr lang="en-US" dirty="0"/>
              <a:t>,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оказаться</a:t>
            </a:r>
            <a:r>
              <a:rPr lang="en-US" dirty="0"/>
              <a:t> </a:t>
            </a:r>
            <a:r>
              <a:rPr lang="en-US" dirty="0" err="1"/>
              <a:t>нежелательным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— Fair-Share Scheduling.</a:t>
            </a:r>
          </a:p>
          <a:p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основная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 </a:t>
            </a:r>
            <a:r>
              <a:rPr lang="en-US" dirty="0" err="1"/>
              <a:t>заключается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распределять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группами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примере</a:t>
            </a:r>
            <a:r>
              <a:rPr lang="en-US" dirty="0"/>
              <a:t> </a:t>
            </a:r>
            <a:r>
              <a:rPr lang="en-US" dirty="0" err="1"/>
              <a:t>группами</a:t>
            </a:r>
            <a:r>
              <a:rPr lang="en-US" dirty="0"/>
              <a:t> </a:t>
            </a:r>
            <a:r>
              <a:rPr lang="en-US" dirty="0" err="1"/>
              <a:t>будут</a:t>
            </a:r>
            <a:r>
              <a:rPr lang="en-US" dirty="0"/>
              <a:t> </a:t>
            </a:r>
            <a:r>
              <a:rPr lang="en-US" dirty="0" err="1"/>
              <a:t>пользователи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выделяем</a:t>
            </a:r>
            <a:r>
              <a:rPr lang="en-US" dirty="0"/>
              <a:t> </a:t>
            </a:r>
            <a:r>
              <a:rPr lang="en-US" dirty="0" err="1"/>
              <a:t>каждому</a:t>
            </a:r>
            <a:r>
              <a:rPr lang="en-US" dirty="0"/>
              <a:t> </a:t>
            </a:r>
            <a:r>
              <a:rPr lang="en-US" dirty="0" err="1"/>
              <a:t>пользователю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50% </a:t>
            </a:r>
            <a:r>
              <a:rPr lang="en-US" dirty="0" err="1"/>
              <a:t>процессорного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распределяет</a:t>
            </a:r>
            <a:r>
              <a:rPr lang="en-US" dirty="0"/>
              <a:t> </a:t>
            </a:r>
            <a:r>
              <a:rPr lang="en-US" dirty="0" err="1"/>
              <a:t>свою</a:t>
            </a:r>
            <a:r>
              <a:rPr lang="en-US" dirty="0"/>
              <a:t> </a:t>
            </a:r>
            <a:r>
              <a:rPr lang="en-US" dirty="0" err="1"/>
              <a:t>долю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принадлежащими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задачами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пользователя</a:t>
            </a:r>
            <a:r>
              <a:rPr lang="en-US" dirty="0"/>
              <a:t> A </a:t>
            </a:r>
            <a:r>
              <a:rPr lang="en-US" dirty="0" err="1"/>
              <a:t>четыре</a:t>
            </a:r>
            <a:r>
              <a:rPr lang="en-US" dirty="0"/>
              <a:t> </a:t>
            </a:r>
            <a:r>
              <a:rPr lang="en-US" dirty="0" err="1"/>
              <a:t>равноправные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получит</a:t>
            </a:r>
            <a:r>
              <a:rPr lang="en-US" dirty="0"/>
              <a:t> </a:t>
            </a:r>
            <a:r>
              <a:rPr lang="en-US" dirty="0" err="1"/>
              <a:t>примерно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12,5% CPU.</a:t>
            </a:r>
          </a:p>
          <a:p>
            <a:r>
              <a:rPr lang="en-US" dirty="0"/>
              <a:t>У </a:t>
            </a:r>
            <a:r>
              <a:rPr lang="en-US" dirty="0" err="1"/>
              <a:t>пользователя</a:t>
            </a:r>
            <a:r>
              <a:rPr lang="en-US" dirty="0"/>
              <a:t> B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.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получит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50%, </a:t>
            </a:r>
            <a:r>
              <a:rPr lang="en-US" dirty="0" err="1"/>
              <a:t>выделенные</a:t>
            </a:r>
            <a:r>
              <a:rPr lang="en-US" dirty="0"/>
              <a:t> </a:t>
            </a:r>
            <a:r>
              <a:rPr lang="en-US" dirty="0" err="1"/>
              <a:t>этому</a:t>
            </a:r>
            <a:r>
              <a:rPr lang="en-US" dirty="0"/>
              <a:t> </a:t>
            </a:r>
            <a:r>
              <a:rPr lang="en-US" dirty="0" err="1"/>
              <a:t>пользователю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определяет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общую</a:t>
            </a:r>
            <a:r>
              <a:rPr lang="en-US" dirty="0"/>
              <a:t> </a:t>
            </a:r>
            <a:r>
              <a:rPr lang="en-US" dirty="0" err="1"/>
              <a:t>долю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группы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соответствовать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пользователям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выделять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приложениями</a:t>
            </a:r>
            <a:r>
              <a:rPr lang="en-US" dirty="0"/>
              <a:t>, </a:t>
            </a:r>
            <a:r>
              <a:rPr lang="en-US" dirty="0" err="1"/>
              <a:t>службами</a:t>
            </a:r>
            <a:r>
              <a:rPr lang="en-US" dirty="0"/>
              <a:t>, </a:t>
            </a:r>
            <a:r>
              <a:rPr lang="en-US" dirty="0" err="1"/>
              <a:t>контейнерами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виртуальными</a:t>
            </a:r>
            <a:r>
              <a:rPr lang="en-US" dirty="0"/>
              <a:t> </a:t>
            </a:r>
            <a:r>
              <a:rPr lang="en-US" dirty="0" err="1"/>
              <a:t>машинами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В Linux </a:t>
            </a:r>
            <a:r>
              <a:rPr lang="en-US" dirty="0" err="1"/>
              <a:t>похожие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Control Groups — </a:t>
            </a:r>
            <a:r>
              <a:rPr lang="en-US" dirty="0" err="1"/>
              <a:t>cgroups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частности</a:t>
            </a:r>
            <a:r>
              <a:rPr lang="en-US" dirty="0"/>
              <a:t>, в </a:t>
            </a:r>
            <a:r>
              <a:rPr lang="en-US" dirty="0" err="1"/>
              <a:t>cgroup</a:t>
            </a:r>
            <a:r>
              <a:rPr lang="en-US" dirty="0"/>
              <a:t> v2 </a:t>
            </a:r>
            <a:r>
              <a:rPr lang="en-US" dirty="0" err="1"/>
              <a:t>параметр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cpu.weight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назначать</a:t>
            </a:r>
            <a:r>
              <a:rPr lang="en-US" dirty="0"/>
              <a:t> </a:t>
            </a:r>
            <a:r>
              <a:rPr lang="en-US" dirty="0" err="1"/>
              <a:t>группам</a:t>
            </a:r>
            <a:r>
              <a:rPr lang="en-US" dirty="0"/>
              <a:t> </a:t>
            </a:r>
            <a:r>
              <a:rPr lang="en-US" dirty="0" err="1"/>
              <a:t>относительные</a:t>
            </a:r>
            <a:r>
              <a:rPr lang="en-US" dirty="0"/>
              <a:t> </a:t>
            </a:r>
            <a:r>
              <a:rPr lang="en-US" dirty="0" err="1"/>
              <a:t>веса</a:t>
            </a:r>
            <a:r>
              <a:rPr lang="en-US" dirty="0"/>
              <a:t>,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основе</a:t>
            </a:r>
            <a:r>
              <a:rPr lang="en-US" dirty="0"/>
              <a:t> </a:t>
            </a:r>
            <a:r>
              <a:rPr lang="en-US" dirty="0" err="1"/>
              <a:t>которых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распределяется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конкурирующими</a:t>
            </a:r>
            <a:r>
              <a:rPr lang="en-US" dirty="0"/>
              <a:t> </a:t>
            </a:r>
            <a:r>
              <a:rPr lang="en-US" dirty="0" err="1"/>
              <a:t>активными</a:t>
            </a:r>
            <a:r>
              <a:rPr lang="en-US" dirty="0"/>
              <a:t> </a:t>
            </a:r>
            <a:r>
              <a:rPr lang="en-US" dirty="0" err="1"/>
              <a:t>группами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 err="1"/>
              <a:t>Однако</a:t>
            </a:r>
            <a:r>
              <a:rPr lang="en-US" dirty="0"/>
              <a:t> Linux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выделяет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равные</a:t>
            </a:r>
            <a:r>
              <a:rPr lang="en-US" dirty="0"/>
              <a:t> </a:t>
            </a:r>
            <a:r>
              <a:rPr lang="en-US" dirty="0" err="1"/>
              <a:t>доли</a:t>
            </a:r>
            <a:r>
              <a:rPr lang="en-US" dirty="0"/>
              <a:t> </a:t>
            </a:r>
            <a:r>
              <a:rPr lang="en-US" dirty="0" err="1"/>
              <a:t>каждому</a:t>
            </a:r>
            <a:r>
              <a:rPr lang="en-US" dirty="0"/>
              <a:t> </a:t>
            </a:r>
            <a:r>
              <a:rPr lang="en-US" dirty="0" err="1"/>
              <a:t>пользователю</a:t>
            </a:r>
            <a:r>
              <a:rPr lang="en-US" dirty="0"/>
              <a:t>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администратор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соответствующим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</a:t>
            </a:r>
            <a:r>
              <a:rPr lang="en-US" dirty="0" err="1"/>
              <a:t>организовать</a:t>
            </a:r>
            <a:r>
              <a:rPr lang="en-US" dirty="0"/>
              <a:t> </a:t>
            </a:r>
            <a:r>
              <a:rPr lang="en-US" dirty="0" err="1"/>
              <a:t>группы</a:t>
            </a:r>
            <a:r>
              <a:rPr lang="en-US" dirty="0"/>
              <a:t> и </a:t>
            </a:r>
            <a:r>
              <a:rPr lang="en-US" dirty="0" err="1"/>
              <a:t>настроить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веса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группа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свою</a:t>
            </a:r>
            <a:r>
              <a:rPr lang="en-US" dirty="0"/>
              <a:t> </a:t>
            </a:r>
            <a:r>
              <a:rPr lang="en-US" dirty="0" err="1"/>
              <a:t>долю</a:t>
            </a:r>
            <a:r>
              <a:rPr lang="en-US" dirty="0"/>
              <a:t> CPU,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освободившиеся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r>
              <a:rPr lang="en-US" dirty="0"/>
              <a:t>.</a:t>
            </a:r>
          </a:p>
          <a:p>
            <a:r>
              <a:rPr lang="en-US" dirty="0" err="1"/>
              <a:t>Получается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научились</a:t>
            </a:r>
            <a:r>
              <a:rPr lang="en-US" dirty="0"/>
              <a:t> </a:t>
            </a:r>
            <a:r>
              <a:rPr lang="en-US" dirty="0" err="1"/>
              <a:t>формулировать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к </a:t>
            </a:r>
            <a:r>
              <a:rPr lang="en-US" dirty="0" err="1"/>
              <a:t>справедливости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реализовать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настоящего</a:t>
            </a:r>
            <a:r>
              <a:rPr lang="en-US" dirty="0"/>
              <a:t> </a:t>
            </a:r>
            <a:r>
              <a:rPr lang="en-US" dirty="0" err="1"/>
              <a:t>планировщика</a:t>
            </a:r>
            <a:r>
              <a:rPr lang="en-US" dirty="0"/>
              <a:t>?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Ведь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по-прежнему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в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, </a:t>
            </a:r>
            <a:r>
              <a:rPr lang="en-US" dirty="0" err="1"/>
              <a:t>позволяющий</a:t>
            </a:r>
            <a:r>
              <a:rPr lang="en-US" dirty="0"/>
              <a:t> </a:t>
            </a:r>
            <a:r>
              <a:rPr lang="en-US" dirty="0" err="1"/>
              <a:t>отслеживать</a:t>
            </a:r>
            <a:r>
              <a:rPr lang="en-US" dirty="0"/>
              <a:t>, </a:t>
            </a:r>
            <a:r>
              <a:rPr lang="en-US" dirty="0" err="1"/>
              <a:t>сколько</a:t>
            </a:r>
            <a:r>
              <a:rPr lang="en-US" dirty="0"/>
              <a:t> CPU </a:t>
            </a:r>
            <a:r>
              <a:rPr lang="en-US" dirty="0" err="1"/>
              <a:t>получила</a:t>
            </a:r>
            <a:r>
              <a:rPr lang="en-US" dirty="0"/>
              <a:t> </a:t>
            </a:r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относительно</a:t>
            </a:r>
            <a:r>
              <a:rPr lang="en-US" dirty="0"/>
              <a:t> </a:t>
            </a:r>
            <a:r>
              <a:rPr lang="en-US" dirty="0" err="1"/>
              <a:t>положенной</a:t>
            </a:r>
            <a:r>
              <a:rPr lang="en-US" dirty="0"/>
              <a:t> </a:t>
            </a:r>
            <a:r>
              <a:rPr lang="en-US" dirty="0" err="1"/>
              <a:t>ей</a:t>
            </a:r>
            <a:r>
              <a:rPr lang="en-US" dirty="0"/>
              <a:t> </a:t>
            </a:r>
            <a:r>
              <a:rPr lang="en-US" dirty="0" err="1"/>
              <a:t>доли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идее</a:t>
            </a:r>
            <a:r>
              <a:rPr lang="en-US" dirty="0"/>
              <a:t> </a:t>
            </a:r>
            <a:r>
              <a:rPr lang="en-US" dirty="0" err="1"/>
              <a:t>основан</a:t>
            </a:r>
            <a:r>
              <a:rPr lang="en-US" dirty="0"/>
              <a:t> </a:t>
            </a:r>
            <a:r>
              <a:rPr lang="en-US" dirty="0" err="1"/>
              <a:t>алгоритм</a:t>
            </a:r>
            <a:r>
              <a:rPr lang="en-US" dirty="0"/>
              <a:t>, </a:t>
            </a:r>
            <a:r>
              <a:rPr lang="en-US" dirty="0" err="1"/>
              <a:t>долгое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использовавшийся</a:t>
            </a:r>
            <a:r>
              <a:rPr lang="en-US" dirty="0"/>
              <a:t> в Linux, — Completely Fair Scheduler.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3252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идеи</a:t>
            </a:r>
            <a:r>
              <a:rPr lang="en-US" dirty="0"/>
              <a:t> </a:t>
            </a:r>
            <a:r>
              <a:rPr lang="en-US" dirty="0" err="1"/>
              <a:t>справедливого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 </a:t>
            </a:r>
            <a:r>
              <a:rPr lang="en-US" dirty="0" err="1"/>
              <a:t>были</a:t>
            </a:r>
            <a:r>
              <a:rPr lang="en-US" dirty="0"/>
              <a:t> </a:t>
            </a:r>
            <a:r>
              <a:rPr lang="en-US" dirty="0" err="1"/>
              <a:t>реализованы</a:t>
            </a:r>
            <a:r>
              <a:rPr lang="en-US" dirty="0"/>
              <a:t> в Linux.</a:t>
            </a:r>
          </a:p>
          <a:p>
            <a:r>
              <a:rPr lang="en-US" dirty="0"/>
              <a:t>В </a:t>
            </a:r>
            <a:r>
              <a:rPr lang="en-US" dirty="0" err="1"/>
              <a:t>течение</a:t>
            </a:r>
            <a:r>
              <a:rPr lang="en-US" dirty="0"/>
              <a:t> </a:t>
            </a:r>
            <a:r>
              <a:rPr lang="en-US" dirty="0" err="1"/>
              <a:t>многих</a:t>
            </a:r>
            <a:r>
              <a:rPr lang="en-US" dirty="0"/>
              <a:t> </a:t>
            </a:r>
            <a:r>
              <a:rPr lang="en-US" dirty="0" err="1"/>
              <a:t>лет</a:t>
            </a:r>
            <a:r>
              <a:rPr lang="en-US" dirty="0"/>
              <a:t> </a:t>
            </a:r>
            <a:r>
              <a:rPr lang="en-US" dirty="0" err="1"/>
              <a:t>одним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основных</a:t>
            </a:r>
            <a:r>
              <a:rPr lang="en-US" dirty="0"/>
              <a:t> </a:t>
            </a:r>
            <a:r>
              <a:rPr lang="en-US" dirty="0" err="1"/>
              <a:t>механизмов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 </a:t>
            </a:r>
            <a:r>
              <a:rPr lang="en-US" dirty="0" err="1"/>
              <a:t>обычных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в Linux </a:t>
            </a:r>
            <a:r>
              <a:rPr lang="en-US" dirty="0" err="1"/>
              <a:t>был</a:t>
            </a:r>
            <a:r>
              <a:rPr lang="en-US" dirty="0"/>
              <a:t> Completely Fair Scheduler, </a:t>
            </a:r>
            <a:r>
              <a:rPr lang="en-US" dirty="0" err="1"/>
              <a:t>или</a:t>
            </a:r>
            <a:r>
              <a:rPr lang="en-US" dirty="0"/>
              <a:t> CFS.</a:t>
            </a:r>
          </a:p>
          <a:p>
            <a:endParaRPr lang="ru-RU" dirty="0"/>
          </a:p>
          <a:p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главная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 </a:t>
            </a:r>
            <a:r>
              <a:rPr lang="en-US" dirty="0" err="1"/>
              <a:t>довольно</a:t>
            </a:r>
            <a:r>
              <a:rPr lang="en-US" dirty="0"/>
              <a:t> </a:t>
            </a:r>
            <a:r>
              <a:rPr lang="en-US" dirty="0" err="1"/>
              <a:t>необычна</a:t>
            </a:r>
            <a:r>
              <a:rPr lang="en-US" dirty="0"/>
              <a:t>.</a:t>
            </a:r>
          </a:p>
          <a:p>
            <a:r>
              <a:rPr lang="en-US" dirty="0" err="1"/>
              <a:t>Представим</a:t>
            </a:r>
            <a:r>
              <a:rPr lang="en-US" dirty="0"/>
              <a:t> </a:t>
            </a:r>
            <a:r>
              <a:rPr lang="en-US" dirty="0" err="1"/>
              <a:t>идеальный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способен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готовые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, </a:t>
            </a:r>
            <a:r>
              <a:rPr lang="en-US" dirty="0" err="1"/>
              <a:t>непрерывно</a:t>
            </a:r>
            <a:r>
              <a:rPr lang="en-US" dirty="0"/>
              <a:t> </a:t>
            </a:r>
            <a:r>
              <a:rPr lang="en-US" dirty="0" err="1"/>
              <a:t>распределяя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ними</a:t>
            </a:r>
            <a:r>
              <a:rPr lang="en-US" dirty="0"/>
              <a:t> </a:t>
            </a:r>
            <a:r>
              <a:rPr lang="en-US" dirty="0" err="1"/>
              <a:t>свою</a:t>
            </a:r>
            <a:r>
              <a:rPr lang="en-US" dirty="0"/>
              <a:t> </a:t>
            </a:r>
            <a:r>
              <a:rPr lang="en-US" dirty="0" err="1"/>
              <a:t>вычислительную</a:t>
            </a:r>
            <a:r>
              <a:rPr lang="en-US" dirty="0"/>
              <a:t> </a:t>
            </a:r>
            <a:r>
              <a:rPr lang="en-US" dirty="0" err="1"/>
              <a:t>мощность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Предположим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одинакового</a:t>
            </a:r>
            <a:r>
              <a:rPr lang="en-US" dirty="0"/>
              <a:t> </a:t>
            </a:r>
            <a:r>
              <a:rPr lang="en-US" dirty="0" err="1"/>
              <a:t>веса</a:t>
            </a:r>
            <a:r>
              <a:rPr lang="en-US" dirty="0"/>
              <a:t>.</a:t>
            </a:r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таком</a:t>
            </a:r>
            <a:r>
              <a:rPr lang="en-US" dirty="0"/>
              <a:t> </a:t>
            </a:r>
            <a:r>
              <a:rPr lang="en-US" dirty="0" err="1"/>
              <a:t>воображаемом</a:t>
            </a:r>
            <a:r>
              <a:rPr lang="en-US" dirty="0"/>
              <a:t> </a:t>
            </a:r>
            <a:r>
              <a:rPr lang="en-US" dirty="0" err="1"/>
              <a:t>процессоре</a:t>
            </a:r>
            <a:r>
              <a:rPr lang="en-US" dirty="0"/>
              <a:t> </a:t>
            </a:r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выполнялась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с </a:t>
            </a:r>
            <a:r>
              <a:rPr lang="en-US" dirty="0" err="1"/>
              <a:t>остальными</a:t>
            </a:r>
            <a:r>
              <a:rPr lang="en-US" dirty="0"/>
              <a:t>, </a:t>
            </a:r>
            <a:r>
              <a:rPr lang="en-US" dirty="0" err="1"/>
              <a:t>используя</a:t>
            </a:r>
            <a:r>
              <a:rPr lang="en-US" dirty="0"/>
              <a:t> </a:t>
            </a:r>
            <a:r>
              <a:rPr lang="en-US" dirty="0" err="1"/>
              <a:t>примерно</a:t>
            </a:r>
            <a:r>
              <a:rPr lang="en-US" dirty="0"/>
              <a:t> </a:t>
            </a:r>
            <a:r>
              <a:rPr lang="en-US" dirty="0" err="1"/>
              <a:t>треть</a:t>
            </a:r>
            <a:r>
              <a:rPr lang="en-US" dirty="0"/>
              <a:t> </a:t>
            </a:r>
            <a:r>
              <a:rPr lang="en-US" dirty="0" err="1"/>
              <a:t>вычислительной</a:t>
            </a:r>
            <a:r>
              <a:rPr lang="en-US" dirty="0"/>
              <a:t> </a:t>
            </a:r>
            <a:r>
              <a:rPr lang="en-US" dirty="0" err="1"/>
              <a:t>мощности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в </a:t>
            </a:r>
            <a:r>
              <a:rPr lang="en-US" dirty="0" err="1"/>
              <a:t>реальности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логический</a:t>
            </a:r>
            <a:r>
              <a:rPr lang="en-US" dirty="0"/>
              <a:t> CPU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независимых</a:t>
            </a:r>
            <a:r>
              <a:rPr lang="en-US" dirty="0"/>
              <a:t> </a:t>
            </a:r>
            <a:r>
              <a:rPr lang="en-US" dirty="0" err="1"/>
              <a:t>программных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вынужден</a:t>
            </a:r>
            <a:r>
              <a:rPr lang="en-US" dirty="0"/>
              <a:t> </a:t>
            </a:r>
            <a:r>
              <a:rPr lang="en-US" dirty="0" err="1"/>
              <a:t>переключаться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ними</a:t>
            </a:r>
            <a:r>
              <a:rPr lang="en-US" dirty="0"/>
              <a:t>.</a:t>
            </a:r>
          </a:p>
          <a:p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планировщика</a:t>
            </a:r>
            <a:r>
              <a:rPr lang="en-US" dirty="0"/>
              <a:t> — </a:t>
            </a:r>
            <a:r>
              <a:rPr lang="en-US" dirty="0" err="1"/>
              <a:t>приблизить</a:t>
            </a:r>
            <a:r>
              <a:rPr lang="en-US" dirty="0"/>
              <a:t> </a:t>
            </a:r>
            <a:r>
              <a:rPr lang="en-US" dirty="0" err="1"/>
              <a:t>реальное</a:t>
            </a:r>
            <a:r>
              <a:rPr lang="en-US" dirty="0"/>
              <a:t> </a:t>
            </a:r>
            <a:r>
              <a:rPr lang="en-US" dirty="0" err="1"/>
              <a:t>распределение</a:t>
            </a:r>
            <a:r>
              <a:rPr lang="en-US" dirty="0"/>
              <a:t> </a:t>
            </a:r>
            <a:r>
              <a:rPr lang="en-US" dirty="0" err="1"/>
              <a:t>процессорного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к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идеальной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.</a:t>
            </a:r>
          </a:p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?</a:t>
            </a:r>
          </a:p>
          <a:p>
            <a:endParaRPr lang="ru-RU" dirty="0"/>
          </a:p>
          <a:p>
            <a:r>
              <a:rPr lang="en-US" dirty="0"/>
              <a:t>CFS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понятие</a:t>
            </a:r>
            <a:r>
              <a:rPr lang="en-US" dirty="0"/>
              <a:t> Virtual Runtime — </a:t>
            </a:r>
            <a:r>
              <a:rPr lang="en-US" dirty="0" err="1"/>
              <a:t>виртуальное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отслеживает</a:t>
            </a:r>
            <a:r>
              <a:rPr lang="en-US" dirty="0"/>
              <a:t>, </a:t>
            </a:r>
            <a:r>
              <a:rPr lang="en-US" dirty="0" err="1"/>
              <a:t>сколько</a:t>
            </a:r>
            <a:r>
              <a:rPr lang="en-US" dirty="0"/>
              <a:t> </a:t>
            </a:r>
            <a:r>
              <a:rPr lang="en-US" dirty="0" err="1"/>
              <a:t>процессорного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получила</a:t>
            </a:r>
            <a:r>
              <a:rPr lang="en-US" dirty="0"/>
              <a:t>, </a:t>
            </a:r>
            <a:r>
              <a:rPr lang="en-US" dirty="0" err="1"/>
              <a:t>учитывая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вес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vruntime</a:t>
            </a:r>
            <a:r>
              <a:rPr lang="en-US" dirty="0"/>
              <a:t>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реальных</a:t>
            </a:r>
            <a:r>
              <a:rPr lang="en-US" dirty="0"/>
              <a:t> </a:t>
            </a:r>
            <a:r>
              <a:rPr lang="en-US" dirty="0" err="1"/>
              <a:t>миллисекунд</a:t>
            </a:r>
            <a:r>
              <a:rPr lang="en-US" dirty="0"/>
              <a:t>, </a:t>
            </a:r>
            <a:r>
              <a:rPr lang="en-US" dirty="0" err="1"/>
              <a:t>проведённых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CPU.</a:t>
            </a:r>
          </a:p>
          <a:p>
            <a:r>
              <a:rPr lang="en-US" dirty="0" err="1"/>
              <a:t>Скорость</a:t>
            </a:r>
            <a:r>
              <a:rPr lang="en-US" dirty="0"/>
              <a:t> </a:t>
            </a:r>
            <a:r>
              <a:rPr lang="en-US" dirty="0" err="1"/>
              <a:t>увеличения</a:t>
            </a:r>
            <a:r>
              <a:rPr lang="en-US" dirty="0"/>
              <a:t> </a:t>
            </a:r>
            <a:r>
              <a:rPr lang="en-US" dirty="0" err="1"/>
              <a:t>виртуального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веса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одинаковый</a:t>
            </a:r>
            <a:r>
              <a:rPr lang="en-US" dirty="0"/>
              <a:t> </a:t>
            </a:r>
            <a:r>
              <a:rPr lang="en-US" dirty="0" err="1"/>
              <a:t>вес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одинаковые</a:t>
            </a:r>
            <a:r>
              <a:rPr lang="en-US" dirty="0"/>
              <a:t> </a:t>
            </a:r>
            <a:r>
              <a:rPr lang="en-US" dirty="0" err="1"/>
              <a:t>интервалы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vruntime</a:t>
            </a:r>
            <a:r>
              <a:rPr lang="en-US" dirty="0"/>
              <a:t> </a:t>
            </a:r>
            <a:r>
              <a:rPr lang="en-US" dirty="0" err="1"/>
              <a:t>увеличивается</a:t>
            </a:r>
            <a:r>
              <a:rPr lang="en-US" dirty="0"/>
              <a:t> </a:t>
            </a:r>
            <a:r>
              <a:rPr lang="en-US" dirty="0" err="1"/>
              <a:t>примерно</a:t>
            </a:r>
            <a:r>
              <a:rPr lang="en-US" dirty="0"/>
              <a:t> </a:t>
            </a:r>
            <a:r>
              <a:rPr lang="en-US" dirty="0" err="1"/>
              <a:t>одинаково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у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вес</a:t>
            </a:r>
            <a:r>
              <a:rPr lang="en-US" dirty="0"/>
              <a:t> </a:t>
            </a:r>
            <a:r>
              <a:rPr lang="en-US" dirty="0" err="1"/>
              <a:t>выше</a:t>
            </a:r>
            <a:r>
              <a:rPr lang="en-US" dirty="0"/>
              <a:t>,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виртуальное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использовании</a:t>
            </a:r>
            <a:r>
              <a:rPr lang="en-US" dirty="0"/>
              <a:t> CPU </a:t>
            </a:r>
            <a:r>
              <a:rPr lang="en-US" dirty="0" err="1"/>
              <a:t>увеличивается</a:t>
            </a:r>
            <a:r>
              <a:rPr lang="en-US" dirty="0"/>
              <a:t> </a:t>
            </a:r>
            <a:r>
              <a:rPr lang="en-US" dirty="0" err="1"/>
              <a:t>медленнее</a:t>
            </a:r>
            <a:r>
              <a:rPr lang="en-US" dirty="0"/>
              <a:t>. </a:t>
            </a:r>
            <a:r>
              <a:rPr lang="en-US" dirty="0" err="1"/>
              <a:t>Благодаря</a:t>
            </a:r>
            <a:r>
              <a:rPr lang="en-US" dirty="0"/>
              <a:t> </a:t>
            </a:r>
            <a:r>
              <a:rPr lang="en-US" dirty="0" err="1"/>
              <a:t>этому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получать</a:t>
            </a:r>
            <a:r>
              <a:rPr lang="en-US" dirty="0"/>
              <a:t> </a:t>
            </a:r>
            <a:r>
              <a:rPr lang="en-US" dirty="0" err="1"/>
              <a:t>большую</a:t>
            </a:r>
            <a:r>
              <a:rPr lang="en-US" dirty="0"/>
              <a:t> </a:t>
            </a:r>
            <a:r>
              <a:rPr lang="en-US" dirty="0" err="1"/>
              <a:t>долю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упрощённый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готовые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: A, B и C.</a:t>
            </a:r>
          </a:p>
          <a:p>
            <a:r>
              <a:rPr lang="en-US" dirty="0" err="1"/>
              <a:t>Предположим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относительные</a:t>
            </a:r>
            <a:r>
              <a:rPr lang="en-US" dirty="0"/>
              <a:t> </a:t>
            </a:r>
            <a:r>
              <a:rPr lang="en-US" dirty="0" err="1"/>
              <a:t>виртуальные</a:t>
            </a:r>
            <a:r>
              <a:rPr lang="en-US" dirty="0"/>
              <a:t> </a:t>
            </a:r>
            <a:r>
              <a:rPr lang="en-US" dirty="0" err="1"/>
              <a:t>времена</a:t>
            </a:r>
            <a:r>
              <a:rPr lang="en-US" dirty="0"/>
              <a:t> </a:t>
            </a:r>
            <a:r>
              <a:rPr lang="en-US" dirty="0" err="1"/>
              <a:t>равны</a:t>
            </a:r>
            <a:r>
              <a:rPr lang="en-US" dirty="0"/>
              <a:t> 8, 4 и 6 </a:t>
            </a:r>
            <a:r>
              <a:rPr lang="en-US" dirty="0" err="1"/>
              <a:t>условным</a:t>
            </a:r>
            <a:r>
              <a:rPr lang="en-US" dirty="0"/>
              <a:t> </a:t>
            </a:r>
            <a:r>
              <a:rPr lang="en-US" dirty="0" err="1"/>
              <a:t>единицам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меньше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?</a:t>
            </a:r>
          </a:p>
          <a:p>
            <a:r>
              <a:rPr lang="en-US" dirty="0"/>
              <a:t>У B.</a:t>
            </a:r>
          </a:p>
          <a:p>
            <a:endParaRPr lang="ru-RU" dirty="0"/>
          </a:p>
          <a:p>
            <a:r>
              <a:rPr lang="en-US" dirty="0" err="1"/>
              <a:t>Следовательно</a:t>
            </a:r>
            <a:r>
              <a:rPr lang="en-US" dirty="0"/>
              <a:t>, </a:t>
            </a:r>
            <a:r>
              <a:rPr lang="en-US" dirty="0" err="1"/>
              <a:t>именно</a:t>
            </a:r>
            <a:r>
              <a:rPr lang="en-US" dirty="0"/>
              <a:t> B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преимущество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следующем</a:t>
            </a:r>
            <a:r>
              <a:rPr lang="en-US" dirty="0"/>
              <a:t> </a:t>
            </a:r>
            <a:r>
              <a:rPr lang="en-US" dirty="0" err="1"/>
              <a:t>выборе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B </a:t>
            </a:r>
            <a:r>
              <a:rPr lang="en-US" dirty="0" err="1"/>
              <a:t>поработает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процессоре</a:t>
            </a:r>
            <a:r>
              <a:rPr lang="en-US" dirty="0"/>
              <a:t>,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виртуальное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увеличится</a:t>
            </a:r>
            <a:r>
              <a:rPr lang="en-US" dirty="0"/>
              <a:t>.</a:t>
            </a:r>
          </a:p>
          <a:p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временем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выбрать</a:t>
            </a:r>
            <a:r>
              <a:rPr lang="en-US" dirty="0"/>
              <a:t> </a:t>
            </a:r>
            <a:r>
              <a:rPr lang="en-US" dirty="0" err="1"/>
              <a:t>другую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минимальное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стремятся</a:t>
            </a:r>
            <a:r>
              <a:rPr lang="en-US" dirty="0"/>
              <a:t> </a:t>
            </a:r>
            <a:r>
              <a:rPr lang="en-US" dirty="0" err="1"/>
              <a:t>приблизиться</a:t>
            </a:r>
            <a:r>
              <a:rPr lang="en-US" dirty="0"/>
              <a:t> к </a:t>
            </a:r>
            <a:r>
              <a:rPr lang="en-US" dirty="0" err="1"/>
              <a:t>справедливому</a:t>
            </a:r>
            <a:r>
              <a:rPr lang="en-US" dirty="0"/>
              <a:t> </a:t>
            </a:r>
            <a:r>
              <a:rPr lang="en-US" dirty="0" err="1"/>
              <a:t>распределению</a:t>
            </a:r>
            <a:r>
              <a:rPr lang="en-US" dirty="0"/>
              <a:t> </a:t>
            </a:r>
            <a:r>
              <a:rPr lang="en-US" dirty="0" err="1"/>
              <a:t>процессорного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эффективного</a:t>
            </a:r>
            <a:r>
              <a:rPr lang="en-US" dirty="0"/>
              <a:t> </a:t>
            </a:r>
            <a:r>
              <a:rPr lang="en-US" dirty="0" err="1"/>
              <a:t>выбора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CFS </a:t>
            </a:r>
            <a:r>
              <a:rPr lang="en-US" dirty="0" err="1"/>
              <a:t>использовал</a:t>
            </a:r>
            <a:r>
              <a:rPr lang="en-US" dirty="0"/>
              <a:t> </a:t>
            </a:r>
            <a:r>
              <a:rPr lang="en-US" dirty="0" err="1"/>
              <a:t>красно-чёрное</a:t>
            </a:r>
            <a:r>
              <a:rPr lang="en-US" dirty="0"/>
              <a:t> </a:t>
            </a:r>
            <a:r>
              <a:rPr lang="en-US" dirty="0" err="1"/>
              <a:t>дерево</a:t>
            </a:r>
            <a:r>
              <a:rPr lang="en-US" dirty="0"/>
              <a:t> — Red-Black Tree.</a:t>
            </a:r>
          </a:p>
          <a:p>
            <a:r>
              <a:rPr lang="en-US" dirty="0" err="1"/>
              <a:t>Задачи</a:t>
            </a:r>
            <a:r>
              <a:rPr lang="en-US" dirty="0"/>
              <a:t> в </a:t>
            </a:r>
            <a:r>
              <a:rPr lang="en-US" dirty="0" err="1"/>
              <a:t>нём</a:t>
            </a:r>
            <a:r>
              <a:rPr lang="en-US" dirty="0"/>
              <a:t> </a:t>
            </a:r>
            <a:r>
              <a:rPr lang="en-US" dirty="0" err="1"/>
              <a:t>упорядочивались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виртуальному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позволяло</a:t>
            </a:r>
            <a:r>
              <a:rPr lang="en-US" dirty="0"/>
              <a:t> </a:t>
            </a:r>
            <a:r>
              <a:rPr lang="en-US" dirty="0" err="1"/>
              <a:t>эффективно</a:t>
            </a:r>
            <a:r>
              <a:rPr lang="en-US" dirty="0"/>
              <a:t> </a:t>
            </a:r>
            <a:r>
              <a:rPr lang="en-US" dirty="0" err="1"/>
              <a:t>находить</a:t>
            </a:r>
            <a:r>
              <a:rPr lang="en-US" dirty="0"/>
              <a:t> </a:t>
            </a:r>
            <a:r>
              <a:rPr lang="en-US" dirty="0" err="1"/>
              <a:t>кандидата</a:t>
            </a:r>
            <a:r>
              <a:rPr lang="en-US" dirty="0"/>
              <a:t> с </a:t>
            </a:r>
            <a:r>
              <a:rPr lang="en-US" dirty="0" err="1"/>
              <a:t>минимальным</a:t>
            </a:r>
            <a:r>
              <a:rPr lang="en-US" dirty="0"/>
              <a:t> </a:t>
            </a:r>
            <a:r>
              <a:rPr lang="en-US" dirty="0" err="1"/>
              <a:t>значением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Разумеется</a:t>
            </a:r>
            <a:r>
              <a:rPr lang="en-US" dirty="0"/>
              <a:t>, </a:t>
            </a:r>
            <a:r>
              <a:rPr lang="en-US" dirty="0" err="1"/>
              <a:t>реальные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CFS </a:t>
            </a:r>
            <a:r>
              <a:rPr lang="en-US" dirty="0" err="1"/>
              <a:t>были</a:t>
            </a:r>
            <a:r>
              <a:rPr lang="en-US" dirty="0"/>
              <a:t> </a:t>
            </a:r>
            <a:r>
              <a:rPr lang="en-US" dirty="0" err="1"/>
              <a:t>сложнее</a:t>
            </a:r>
            <a:r>
              <a:rPr lang="en-US" dirty="0"/>
              <a:t> </a:t>
            </a:r>
            <a:r>
              <a:rPr lang="en-US" dirty="0" err="1"/>
              <a:t>простого</a:t>
            </a:r>
            <a:r>
              <a:rPr lang="en-US" dirty="0"/>
              <a:t> </a:t>
            </a:r>
            <a:r>
              <a:rPr lang="en-US" dirty="0" err="1"/>
              <a:t>выбора</a:t>
            </a:r>
            <a:r>
              <a:rPr lang="en-US" dirty="0"/>
              <a:t> </a:t>
            </a:r>
            <a:r>
              <a:rPr lang="en-US" dirty="0" err="1"/>
              <a:t>наименьшего</a:t>
            </a:r>
            <a:r>
              <a:rPr lang="en-US" dirty="0"/>
              <a:t> </a:t>
            </a:r>
            <a:r>
              <a:rPr lang="en-US" dirty="0" err="1"/>
              <a:t>числа</a:t>
            </a:r>
            <a:r>
              <a:rPr lang="en-US" dirty="0"/>
              <a:t>: </a:t>
            </a:r>
            <a:r>
              <a:rPr lang="en-US" dirty="0" err="1"/>
              <a:t>учитывались</a:t>
            </a:r>
            <a:r>
              <a:rPr lang="en-US" dirty="0"/>
              <a:t> </a:t>
            </a:r>
            <a:r>
              <a:rPr lang="en-US" dirty="0" err="1"/>
              <a:t>дополнительные</a:t>
            </a:r>
            <a:r>
              <a:rPr lang="en-US" dirty="0"/>
              <a:t> </a:t>
            </a:r>
            <a:r>
              <a:rPr lang="en-US" dirty="0" err="1"/>
              <a:t>параметры</a:t>
            </a:r>
            <a:r>
              <a:rPr lang="en-US" dirty="0"/>
              <a:t>, в </a:t>
            </a:r>
            <a:r>
              <a:rPr lang="en-US" dirty="0" err="1"/>
              <a:t>том</a:t>
            </a:r>
            <a:r>
              <a:rPr lang="en-US" dirty="0"/>
              <a:t> </a:t>
            </a:r>
            <a:r>
              <a:rPr lang="en-US" dirty="0" err="1"/>
              <a:t>числе</a:t>
            </a:r>
            <a:r>
              <a:rPr lang="en-US" dirty="0"/>
              <a:t> </a:t>
            </a:r>
            <a:r>
              <a:rPr lang="en-US" dirty="0" err="1"/>
              <a:t>гранулярность</a:t>
            </a:r>
            <a:r>
              <a:rPr lang="en-US" dirty="0"/>
              <a:t> </a:t>
            </a:r>
            <a:r>
              <a:rPr lang="en-US" dirty="0" err="1"/>
              <a:t>переключений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основная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 </a:t>
            </a:r>
            <a:r>
              <a:rPr lang="en-US" dirty="0" err="1"/>
              <a:t>оставалась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: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распределяется</a:t>
            </a:r>
            <a:r>
              <a:rPr lang="en-US" dirty="0"/>
              <a:t> с </a:t>
            </a:r>
            <a:r>
              <a:rPr lang="en-US" dirty="0" err="1"/>
              <a:t>учётом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насколько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соответствует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справедливой</a:t>
            </a:r>
            <a:r>
              <a:rPr lang="en-US" dirty="0"/>
              <a:t> </a:t>
            </a:r>
            <a:r>
              <a:rPr lang="en-US" dirty="0" err="1"/>
              <a:t>доле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 err="1"/>
              <a:t>Стоит</a:t>
            </a:r>
            <a:r>
              <a:rPr lang="en-US" dirty="0"/>
              <a:t> </a:t>
            </a:r>
            <a:r>
              <a:rPr lang="en-US" dirty="0" err="1"/>
              <a:t>отметить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CFS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исторический</a:t>
            </a:r>
            <a:r>
              <a:rPr lang="en-US" dirty="0"/>
              <a:t> </a:t>
            </a:r>
            <a:r>
              <a:rPr lang="en-US" dirty="0" err="1"/>
              <a:t>этап</a:t>
            </a:r>
            <a:r>
              <a:rPr lang="en-US" dirty="0"/>
              <a:t> </a:t>
            </a:r>
            <a:r>
              <a:rPr lang="en-US" dirty="0" err="1"/>
              <a:t>развития</a:t>
            </a:r>
            <a:r>
              <a:rPr lang="en-US" dirty="0"/>
              <a:t> </a:t>
            </a:r>
            <a:r>
              <a:rPr lang="en-US" dirty="0" err="1"/>
              <a:t>планировщика</a:t>
            </a:r>
            <a:r>
              <a:rPr lang="en-US" dirty="0"/>
              <a:t> Linux.</a:t>
            </a:r>
          </a:p>
          <a:p>
            <a:endParaRPr lang="ru-RU" dirty="0"/>
          </a:p>
          <a:p>
            <a:r>
              <a:rPr lang="en-US" dirty="0" err="1"/>
              <a:t>Начиная</a:t>
            </a:r>
            <a:r>
              <a:rPr lang="en-US" dirty="0"/>
              <a:t> с </a:t>
            </a:r>
            <a:r>
              <a:rPr lang="en-US" dirty="0" err="1"/>
              <a:t>версии</a:t>
            </a:r>
            <a:r>
              <a:rPr lang="en-US" dirty="0"/>
              <a:t> Linux 6.6 </a:t>
            </a:r>
            <a:r>
              <a:rPr lang="en-US" dirty="0" err="1"/>
              <a:t>начался</a:t>
            </a:r>
            <a:r>
              <a:rPr lang="en-US" dirty="0"/>
              <a:t> </a:t>
            </a:r>
            <a:r>
              <a:rPr lang="en-US" dirty="0" err="1"/>
              <a:t>переход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классической</a:t>
            </a:r>
            <a:r>
              <a:rPr lang="en-US" dirty="0"/>
              <a:t> </a:t>
            </a:r>
            <a:r>
              <a:rPr lang="en-US" dirty="0" err="1"/>
              <a:t>логики</a:t>
            </a:r>
            <a:r>
              <a:rPr lang="en-US" dirty="0"/>
              <a:t> CFS к </a:t>
            </a:r>
            <a:r>
              <a:rPr lang="en-US" dirty="0" err="1"/>
              <a:t>алгоритму</a:t>
            </a:r>
            <a:r>
              <a:rPr lang="en-US" dirty="0"/>
              <a:t> EEVDF. </a:t>
            </a:r>
          </a:p>
          <a:p>
            <a:r>
              <a:rPr lang="en-US" dirty="0"/>
              <a:t>В EEVDF </a:t>
            </a:r>
            <a:r>
              <a:rPr lang="en-US" dirty="0" err="1"/>
              <a:t>сохранились</a:t>
            </a:r>
            <a:r>
              <a:rPr lang="en-US" dirty="0"/>
              <a:t> </a:t>
            </a:r>
            <a:r>
              <a:rPr lang="en-US" dirty="0" err="1"/>
              <a:t>многие</a:t>
            </a:r>
            <a:r>
              <a:rPr lang="en-US" dirty="0"/>
              <a:t> </a:t>
            </a:r>
            <a:r>
              <a:rPr lang="en-US" dirty="0" err="1"/>
              <a:t>идеи</a:t>
            </a:r>
            <a:r>
              <a:rPr lang="en-US" dirty="0"/>
              <a:t> </a:t>
            </a:r>
            <a:r>
              <a:rPr lang="en-US" dirty="0" err="1"/>
              <a:t>справедливого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изменился</a:t>
            </a:r>
            <a:r>
              <a:rPr lang="en-US" dirty="0"/>
              <a:t> </a:t>
            </a:r>
            <a:r>
              <a:rPr lang="en-US" dirty="0" err="1"/>
              <a:t>принцип</a:t>
            </a:r>
            <a:r>
              <a:rPr lang="en-US" dirty="0"/>
              <a:t> </a:t>
            </a:r>
            <a:r>
              <a:rPr lang="en-US" dirty="0" err="1"/>
              <a:t>выбора</a:t>
            </a:r>
            <a:r>
              <a:rPr lang="en-US" dirty="0"/>
              <a:t> </a:t>
            </a:r>
            <a:r>
              <a:rPr lang="en-US" dirty="0" err="1"/>
              <a:t>следующей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понадобилось</a:t>
            </a:r>
            <a:r>
              <a:rPr lang="en-US" dirty="0"/>
              <a:t>?</a:t>
            </a:r>
          </a:p>
          <a:p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заключается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справедливость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длинном</a:t>
            </a:r>
            <a:r>
              <a:rPr lang="en-US" dirty="0"/>
              <a:t> </a:t>
            </a:r>
            <a:r>
              <a:rPr lang="en-US" dirty="0" err="1"/>
              <a:t>интервале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 </a:t>
            </a:r>
            <a:r>
              <a:rPr lang="en-US" dirty="0" err="1"/>
              <a:t>хороший</a:t>
            </a:r>
            <a:r>
              <a:rPr lang="en-US" dirty="0"/>
              <a:t> </a:t>
            </a:r>
            <a:r>
              <a:rPr lang="en-US" dirty="0" err="1"/>
              <a:t>отклик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коротком</a:t>
            </a:r>
            <a:r>
              <a:rPr lang="en-US" dirty="0"/>
              <a:t> </a:t>
            </a:r>
            <a:r>
              <a:rPr lang="en-US" dirty="0" err="1"/>
              <a:t>интервале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задача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обрабатывает</a:t>
            </a:r>
            <a:r>
              <a:rPr lang="en-US" dirty="0"/>
              <a:t> </a:t>
            </a:r>
            <a:r>
              <a:rPr lang="en-US" dirty="0" err="1"/>
              <a:t>пользовательский</a:t>
            </a:r>
            <a:r>
              <a:rPr lang="en-US" dirty="0"/>
              <a:t> </a:t>
            </a:r>
            <a:r>
              <a:rPr lang="en-US" dirty="0" err="1"/>
              <a:t>ввод</a:t>
            </a:r>
            <a:r>
              <a:rPr lang="en-US" dirty="0"/>
              <a:t>,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требовать</a:t>
            </a:r>
            <a:r>
              <a:rPr lang="en-US" dirty="0"/>
              <a:t> </a:t>
            </a:r>
            <a:r>
              <a:rPr lang="en-US" dirty="0" err="1"/>
              <a:t>совсем</a:t>
            </a:r>
            <a:r>
              <a:rPr lang="en-US" dirty="0"/>
              <a:t> </a:t>
            </a:r>
            <a:r>
              <a:rPr lang="en-US" dirty="0" err="1"/>
              <a:t>немного</a:t>
            </a:r>
            <a:r>
              <a:rPr lang="en-US" dirty="0"/>
              <a:t> CPU,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ей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быстро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современный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учитывать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распределение</a:t>
            </a:r>
            <a:r>
              <a:rPr lang="en-US" dirty="0"/>
              <a:t> </a:t>
            </a:r>
            <a:r>
              <a:rPr lang="en-US" dirty="0" err="1"/>
              <a:t>процессорных</a:t>
            </a:r>
            <a:r>
              <a:rPr lang="en-US" dirty="0"/>
              <a:t> </a:t>
            </a:r>
            <a:r>
              <a:rPr lang="en-US" dirty="0" err="1"/>
              <a:t>долей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требования</a:t>
            </a:r>
            <a:r>
              <a:rPr lang="en-US" dirty="0"/>
              <a:t> к </a:t>
            </a:r>
            <a:r>
              <a:rPr lang="en-US" dirty="0" err="1"/>
              <a:t>задержкам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177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познакомились</a:t>
            </a:r>
            <a:r>
              <a:rPr lang="en-US" dirty="0"/>
              <a:t> с </a:t>
            </a:r>
            <a:r>
              <a:rPr lang="en-US" dirty="0" err="1"/>
              <a:t>идеей</a:t>
            </a:r>
            <a:r>
              <a:rPr lang="en-US" dirty="0"/>
              <a:t> Completely Fair Scheduler.</a:t>
            </a:r>
          </a:p>
          <a:p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основу</a:t>
            </a:r>
            <a:r>
              <a:rPr lang="en-US" dirty="0"/>
              <a:t> </a:t>
            </a:r>
            <a:r>
              <a:rPr lang="en-US" dirty="0" err="1"/>
              <a:t>составляло</a:t>
            </a:r>
            <a:r>
              <a:rPr lang="en-US" dirty="0"/>
              <a:t> </a:t>
            </a:r>
            <a:r>
              <a:rPr lang="en-US" dirty="0" err="1"/>
              <a:t>стремление</a:t>
            </a:r>
            <a:r>
              <a:rPr lang="en-US" dirty="0"/>
              <a:t> </a:t>
            </a:r>
            <a:r>
              <a:rPr lang="en-US" dirty="0" err="1"/>
              <a:t>справедливо</a:t>
            </a:r>
            <a:r>
              <a:rPr lang="en-US" dirty="0"/>
              <a:t> </a:t>
            </a:r>
            <a:r>
              <a:rPr lang="en-US" dirty="0" err="1"/>
              <a:t>распределять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готовыми</a:t>
            </a:r>
            <a:r>
              <a:rPr lang="en-US" dirty="0"/>
              <a:t> </a:t>
            </a:r>
            <a:r>
              <a:rPr lang="en-US" dirty="0" err="1"/>
              <a:t>задачами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представим</a:t>
            </a:r>
            <a:r>
              <a:rPr lang="en-US" dirty="0"/>
              <a:t> </a:t>
            </a:r>
            <a:r>
              <a:rPr lang="en-US" dirty="0" err="1"/>
              <a:t>следующую</a:t>
            </a:r>
            <a:r>
              <a:rPr lang="en-US" dirty="0"/>
              <a:t> </a:t>
            </a:r>
            <a:r>
              <a:rPr lang="en-US" dirty="0" err="1"/>
              <a:t>ситуацию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компьютере</a:t>
            </a:r>
            <a:r>
              <a:rPr lang="en-US" dirty="0"/>
              <a:t> </a:t>
            </a:r>
            <a:r>
              <a:rPr lang="en-US" dirty="0" err="1"/>
              <a:t>выполняются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</a:p>
          <a:p>
            <a:r>
              <a:rPr lang="en-US" dirty="0" err="1"/>
              <a:t>Первая</a:t>
            </a:r>
            <a:r>
              <a:rPr lang="en-US" dirty="0"/>
              <a:t> </a:t>
            </a:r>
            <a:r>
              <a:rPr lang="en-US" dirty="0" err="1"/>
              <a:t>занимается</a:t>
            </a:r>
            <a:r>
              <a:rPr lang="en-US" dirty="0"/>
              <a:t> </a:t>
            </a:r>
            <a:r>
              <a:rPr lang="en-US" dirty="0" err="1"/>
              <a:t>длительными</a:t>
            </a:r>
            <a:r>
              <a:rPr lang="en-US" dirty="0"/>
              <a:t> </a:t>
            </a:r>
            <a:r>
              <a:rPr lang="en-US" dirty="0" err="1"/>
              <a:t>вычислениями</a:t>
            </a:r>
            <a:r>
              <a:rPr lang="en-US" dirty="0"/>
              <a:t> и </a:t>
            </a:r>
            <a:r>
              <a:rPr lang="en-US" dirty="0" err="1"/>
              <a:t>практически</a:t>
            </a:r>
            <a:r>
              <a:rPr lang="en-US" dirty="0"/>
              <a:t>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CPU.</a:t>
            </a:r>
          </a:p>
          <a:p>
            <a:r>
              <a:rPr lang="en-US" dirty="0" err="1"/>
              <a:t>Вторая</a:t>
            </a:r>
            <a:r>
              <a:rPr lang="en-US" dirty="0"/>
              <a:t> </a:t>
            </a:r>
            <a:r>
              <a:rPr lang="en-US" dirty="0" err="1"/>
              <a:t>периодически</a:t>
            </a:r>
            <a:r>
              <a:rPr lang="en-US" dirty="0"/>
              <a:t> </a:t>
            </a:r>
            <a:r>
              <a:rPr lang="en-US" dirty="0" err="1"/>
              <a:t>просыпается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быстро</a:t>
            </a:r>
            <a:r>
              <a:rPr lang="en-US" dirty="0"/>
              <a:t> </a:t>
            </a:r>
            <a:r>
              <a:rPr lang="en-US" dirty="0" err="1"/>
              <a:t>обработать</a:t>
            </a:r>
            <a:r>
              <a:rPr lang="en-US" dirty="0"/>
              <a:t> </a:t>
            </a:r>
            <a:r>
              <a:rPr lang="en-US" dirty="0" err="1"/>
              <a:t>пользовательское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,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чего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переходит</a:t>
            </a:r>
            <a:r>
              <a:rPr lang="en-US" dirty="0"/>
              <a:t> в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Вторая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сравнительно</a:t>
            </a:r>
            <a:r>
              <a:rPr lang="en-US" dirty="0"/>
              <a:t> </a:t>
            </a:r>
            <a:r>
              <a:rPr lang="en-US" dirty="0" err="1"/>
              <a:t>немного</a:t>
            </a:r>
            <a:r>
              <a:rPr lang="en-US" dirty="0"/>
              <a:t> </a:t>
            </a:r>
            <a:r>
              <a:rPr lang="en-US" dirty="0" err="1"/>
              <a:t>процессорного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неё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пробуждением</a:t>
            </a:r>
            <a:r>
              <a:rPr lang="en-US" dirty="0"/>
              <a:t> и </a:t>
            </a:r>
            <a:r>
              <a:rPr lang="en-US" dirty="0" err="1"/>
              <a:t>получением</a:t>
            </a:r>
            <a:r>
              <a:rPr lang="en-US" dirty="0"/>
              <a:t> CPU </a:t>
            </a:r>
            <a:r>
              <a:rPr lang="en-US" dirty="0" err="1"/>
              <a:t>проходило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меньше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учитывать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насколько</a:t>
            </a:r>
            <a:r>
              <a:rPr lang="en-US" dirty="0"/>
              <a:t> </a:t>
            </a:r>
            <a:r>
              <a:rPr lang="en-US" dirty="0" err="1"/>
              <a:t>справедливо</a:t>
            </a:r>
            <a:r>
              <a:rPr lang="en-US" dirty="0"/>
              <a:t> </a:t>
            </a:r>
            <a:r>
              <a:rPr lang="en-US" dirty="0" err="1"/>
              <a:t>распределилось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длинном</a:t>
            </a:r>
            <a:r>
              <a:rPr lang="en-US" dirty="0"/>
              <a:t> </a:t>
            </a:r>
            <a:r>
              <a:rPr lang="en-US" dirty="0" err="1"/>
              <a:t>интервале</a:t>
            </a:r>
            <a:r>
              <a:rPr lang="en-US" dirty="0"/>
              <a:t>,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оказаться</a:t>
            </a:r>
            <a:r>
              <a:rPr lang="en-US" dirty="0"/>
              <a:t> </a:t>
            </a:r>
            <a:r>
              <a:rPr lang="en-US" dirty="0" err="1"/>
              <a:t>недостаточно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хорошей</a:t>
            </a:r>
            <a:r>
              <a:rPr lang="en-US" dirty="0"/>
              <a:t> </a:t>
            </a:r>
            <a:r>
              <a:rPr lang="en-US" dirty="0" err="1"/>
              <a:t>отзывчивости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в </a:t>
            </a:r>
            <a:r>
              <a:rPr lang="en-US" dirty="0" err="1"/>
              <a:t>современных</a:t>
            </a:r>
            <a:r>
              <a:rPr lang="en-US" dirty="0"/>
              <a:t> </a:t>
            </a:r>
            <a:r>
              <a:rPr lang="en-US" dirty="0" err="1"/>
              <a:t>версиях</a:t>
            </a:r>
            <a:r>
              <a:rPr lang="en-US" dirty="0"/>
              <a:t> Linux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развитый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— EEVDF, Earliest Eligible Virtual Deadline First.</a:t>
            </a:r>
          </a:p>
          <a:p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основная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 </a:t>
            </a:r>
            <a:r>
              <a:rPr lang="en-US" dirty="0" err="1"/>
              <a:t>заключается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совместить</a:t>
            </a:r>
            <a:r>
              <a:rPr lang="en-US" dirty="0"/>
              <a:t> </a:t>
            </a:r>
            <a:r>
              <a:rPr lang="en-US" dirty="0" err="1"/>
              <a:t>справедливое</a:t>
            </a:r>
            <a:r>
              <a:rPr lang="en-US" dirty="0"/>
              <a:t> </a:t>
            </a:r>
            <a:r>
              <a:rPr lang="en-US" dirty="0" err="1"/>
              <a:t>распределение</a:t>
            </a:r>
            <a:r>
              <a:rPr lang="en-US" dirty="0"/>
              <a:t> CPU с </a:t>
            </a:r>
            <a:r>
              <a:rPr lang="en-US" dirty="0" err="1"/>
              <a:t>возможностью</a:t>
            </a:r>
            <a:r>
              <a:rPr lang="en-US" dirty="0"/>
              <a:t> </a:t>
            </a:r>
            <a:r>
              <a:rPr lang="en-US" dirty="0" err="1"/>
              <a:t>учитывать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к </a:t>
            </a:r>
            <a:r>
              <a:rPr lang="en-US" dirty="0" err="1"/>
              <a:t>задержкам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упрощённую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EEVDF.</a:t>
            </a:r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определяет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являются</a:t>
            </a:r>
            <a:r>
              <a:rPr lang="en-US" dirty="0"/>
              <a:t> </a:t>
            </a:r>
            <a:r>
              <a:rPr lang="en-US" dirty="0" err="1"/>
              <a:t>допустимыми</a:t>
            </a:r>
            <a:r>
              <a:rPr lang="en-US" dirty="0"/>
              <a:t> </a:t>
            </a:r>
            <a:r>
              <a:rPr lang="en-US" dirty="0" err="1"/>
              <a:t>кандидатами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показатель</a:t>
            </a:r>
            <a:r>
              <a:rPr lang="en-US" dirty="0"/>
              <a:t> Lag.</a:t>
            </a:r>
          </a:p>
          <a:p>
            <a:r>
              <a:rPr lang="en-US" dirty="0" err="1"/>
              <a:t>Упрощённо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разницу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процессорным</a:t>
            </a:r>
            <a:r>
              <a:rPr lang="en-US" dirty="0"/>
              <a:t> </a:t>
            </a:r>
            <a:r>
              <a:rPr lang="en-US" dirty="0" err="1"/>
              <a:t>временем</a:t>
            </a:r>
            <a:r>
              <a:rPr lang="en-US" dirty="0"/>
              <a:t>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была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согласно</a:t>
            </a:r>
            <a:r>
              <a:rPr lang="en-US" dirty="0"/>
              <a:t> </a:t>
            </a:r>
            <a:r>
              <a:rPr lang="en-US" dirty="0" err="1"/>
              <a:t>своей</a:t>
            </a:r>
            <a:r>
              <a:rPr lang="en-US" dirty="0"/>
              <a:t> </a:t>
            </a:r>
            <a:r>
              <a:rPr lang="en-US" dirty="0" err="1"/>
              <a:t>доле</a:t>
            </a:r>
            <a:r>
              <a:rPr lang="en-US" dirty="0"/>
              <a:t>, и </a:t>
            </a:r>
            <a:r>
              <a:rPr lang="en-US" dirty="0" err="1"/>
              <a:t>временем</a:t>
            </a:r>
            <a:r>
              <a:rPr lang="en-US" dirty="0"/>
              <a:t>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фактически</a:t>
            </a:r>
            <a:r>
              <a:rPr lang="en-US" dirty="0"/>
              <a:t> </a:t>
            </a:r>
            <a:r>
              <a:rPr lang="en-US" dirty="0" err="1"/>
              <a:t>получила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Lag </a:t>
            </a:r>
            <a:r>
              <a:rPr lang="en-US" dirty="0" err="1"/>
              <a:t>положительный</a:t>
            </a:r>
            <a:r>
              <a:rPr lang="en-US" dirty="0"/>
              <a:t>,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получила</a:t>
            </a:r>
            <a:r>
              <a:rPr lang="en-US" dirty="0"/>
              <a:t> </a:t>
            </a:r>
            <a:r>
              <a:rPr lang="en-US" dirty="0" err="1"/>
              <a:t>меньше</a:t>
            </a:r>
            <a:r>
              <a:rPr lang="en-US" dirty="0"/>
              <a:t> CPU,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ей</a:t>
            </a:r>
            <a:r>
              <a:rPr lang="en-US" dirty="0"/>
              <a:t> </a:t>
            </a:r>
            <a:r>
              <a:rPr lang="en-US" dirty="0" err="1"/>
              <a:t>положено</a:t>
            </a:r>
            <a:r>
              <a:rPr lang="en-US" dirty="0"/>
              <a:t> в </a:t>
            </a:r>
            <a:r>
              <a:rPr lang="en-US" dirty="0" err="1"/>
              <a:t>рамках</a:t>
            </a:r>
            <a:r>
              <a:rPr lang="en-US" dirty="0"/>
              <a:t> </a:t>
            </a:r>
            <a:r>
              <a:rPr lang="en-US" dirty="0" err="1"/>
              <a:t>рассматриваемой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справедливости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Lag </a:t>
            </a:r>
            <a:r>
              <a:rPr lang="en-US" dirty="0" err="1"/>
              <a:t>отрицательный</a:t>
            </a:r>
            <a:r>
              <a:rPr lang="en-US" dirty="0"/>
              <a:t>, </a:t>
            </a:r>
            <a:r>
              <a:rPr lang="en-US" dirty="0" err="1"/>
              <a:t>задача</a:t>
            </a:r>
            <a:r>
              <a:rPr lang="en-US" dirty="0"/>
              <a:t>, </a:t>
            </a:r>
            <a:r>
              <a:rPr lang="en-US" dirty="0" err="1"/>
              <a:t>наоборот</a:t>
            </a:r>
            <a:r>
              <a:rPr lang="en-US" dirty="0"/>
              <a:t>, </a:t>
            </a:r>
            <a:r>
              <a:rPr lang="en-US" dirty="0" err="1"/>
              <a:t>получила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своей</a:t>
            </a:r>
            <a:r>
              <a:rPr lang="en-US" dirty="0"/>
              <a:t> </a:t>
            </a:r>
            <a:r>
              <a:rPr lang="en-US" dirty="0" err="1"/>
              <a:t>текущей</a:t>
            </a:r>
            <a:r>
              <a:rPr lang="en-US" dirty="0"/>
              <a:t> </a:t>
            </a:r>
            <a:r>
              <a:rPr lang="en-US" dirty="0" err="1"/>
              <a:t>справедливой</a:t>
            </a:r>
            <a:r>
              <a:rPr lang="en-US" dirty="0"/>
              <a:t> </a:t>
            </a:r>
            <a:r>
              <a:rPr lang="en-US" dirty="0" err="1"/>
              <a:t>доли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первом</a:t>
            </a:r>
            <a:r>
              <a:rPr lang="en-US" dirty="0"/>
              <a:t> </a:t>
            </a:r>
            <a:r>
              <a:rPr lang="en-US" dirty="0" err="1"/>
              <a:t>этапе</a:t>
            </a:r>
            <a:r>
              <a:rPr lang="en-US" dirty="0"/>
              <a:t> EEVDF </a:t>
            </a:r>
            <a:r>
              <a:rPr lang="en-US" dirty="0" err="1"/>
              <a:t>рассматривает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с </a:t>
            </a:r>
            <a:r>
              <a:rPr lang="en-US" dirty="0" err="1"/>
              <a:t>неотрицательным</a:t>
            </a:r>
            <a:r>
              <a:rPr lang="en-US" dirty="0"/>
              <a:t> Lag.</a:t>
            </a:r>
          </a:p>
          <a:p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четыре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: A, B, C и D.</a:t>
            </a:r>
          </a:p>
          <a:p>
            <a:r>
              <a:rPr lang="en-US" dirty="0"/>
              <a:t>У C </a:t>
            </a:r>
            <a:r>
              <a:rPr lang="en-US" dirty="0" err="1"/>
              <a:t>отрицательное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Lag. </a:t>
            </a:r>
            <a:r>
              <a:rPr lang="en-US" dirty="0" err="1"/>
              <a:t>Значит</a:t>
            </a:r>
            <a:r>
              <a:rPr lang="en-US" dirty="0"/>
              <a:t>, в </a:t>
            </a:r>
            <a:r>
              <a:rPr lang="en-US" dirty="0" err="1"/>
              <a:t>данный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допустимым</a:t>
            </a:r>
            <a:r>
              <a:rPr lang="en-US" dirty="0"/>
              <a:t> </a:t>
            </a:r>
            <a:r>
              <a:rPr lang="en-US" dirty="0" err="1"/>
              <a:t>кандидатом</a:t>
            </a:r>
            <a:r>
              <a:rPr lang="en-US" dirty="0"/>
              <a:t>.</a:t>
            </a:r>
          </a:p>
          <a:p>
            <a:r>
              <a:rPr lang="en-US" dirty="0" err="1"/>
              <a:t>Остаются</a:t>
            </a:r>
            <a:r>
              <a:rPr lang="en-US" dirty="0"/>
              <a:t> A, B и D.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, </a:t>
            </a:r>
            <a:r>
              <a:rPr lang="en-US" dirty="0" err="1"/>
              <a:t>какую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запускать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Virtual Deadline — </a:t>
            </a:r>
            <a:r>
              <a:rPr lang="en-US" dirty="0" err="1"/>
              <a:t>виртуальный</a:t>
            </a:r>
            <a:r>
              <a:rPr lang="en-US" dirty="0"/>
              <a:t> </a:t>
            </a:r>
            <a:r>
              <a:rPr lang="en-US" dirty="0" err="1"/>
              <a:t>срок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связан</a:t>
            </a:r>
            <a:r>
              <a:rPr lang="en-US" dirty="0"/>
              <a:t> с </a:t>
            </a:r>
            <a:r>
              <a:rPr lang="en-US" dirty="0" err="1"/>
              <a:t>виртуальным</a:t>
            </a:r>
            <a:r>
              <a:rPr lang="en-US" dirty="0"/>
              <a:t> </a:t>
            </a:r>
            <a:r>
              <a:rPr lang="en-US" dirty="0" err="1"/>
              <a:t>временем</a:t>
            </a:r>
            <a:r>
              <a:rPr lang="en-US" dirty="0"/>
              <a:t> и </a:t>
            </a:r>
            <a:r>
              <a:rPr lang="en-US" dirty="0" err="1"/>
              <a:t>выделяемым</a:t>
            </a:r>
            <a:r>
              <a:rPr lang="en-US" dirty="0"/>
              <a:t> </a:t>
            </a:r>
            <a:r>
              <a:rPr lang="en-US" dirty="0" err="1"/>
              <a:t>задаче</a:t>
            </a:r>
            <a:r>
              <a:rPr lang="en-US" dirty="0"/>
              <a:t> </a:t>
            </a:r>
            <a:r>
              <a:rPr lang="en-US" dirty="0" err="1"/>
              <a:t>процессорным</a:t>
            </a:r>
            <a:r>
              <a:rPr lang="en-US" dirty="0"/>
              <a:t> </a:t>
            </a:r>
            <a:r>
              <a:rPr lang="en-US" dirty="0" err="1"/>
              <a:t>интервалом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Среди</a:t>
            </a:r>
            <a:r>
              <a:rPr lang="en-US" dirty="0"/>
              <a:t> </a:t>
            </a:r>
            <a:r>
              <a:rPr lang="en-US" dirty="0" err="1"/>
              <a:t>допустимых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EEVDF </a:t>
            </a:r>
            <a:r>
              <a:rPr lang="en-US" dirty="0" err="1"/>
              <a:t>отдаёт</a:t>
            </a:r>
            <a:r>
              <a:rPr lang="en-US" dirty="0"/>
              <a:t> </a:t>
            </a:r>
            <a:r>
              <a:rPr lang="en-US" dirty="0" err="1"/>
              <a:t>предпочтение</a:t>
            </a:r>
            <a:r>
              <a:rPr lang="en-US" dirty="0"/>
              <a:t> </a:t>
            </a:r>
            <a:r>
              <a:rPr lang="en-US" dirty="0" err="1"/>
              <a:t>той</a:t>
            </a:r>
            <a:r>
              <a:rPr lang="en-US" dirty="0"/>
              <a:t>, </a:t>
            </a:r>
            <a:r>
              <a:rPr lang="en-US" dirty="0" err="1"/>
              <a:t>чей</a:t>
            </a:r>
            <a:r>
              <a:rPr lang="en-US" dirty="0"/>
              <a:t> Virtual Deadline </a:t>
            </a:r>
            <a:r>
              <a:rPr lang="en-US" dirty="0" err="1"/>
              <a:t>наступает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примере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B.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CPU.</a:t>
            </a:r>
          </a:p>
          <a:p>
            <a:endParaRPr lang="ru-RU" dirty="0"/>
          </a:p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</a:t>
            </a:r>
            <a:r>
              <a:rPr lang="en-US" dirty="0" err="1"/>
              <a:t>интересен</a:t>
            </a:r>
            <a:r>
              <a:rPr lang="en-US" dirty="0"/>
              <a:t>?</a:t>
            </a:r>
          </a:p>
          <a:p>
            <a:r>
              <a:rPr lang="en-US" dirty="0" err="1"/>
              <a:t>Потому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учитывать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сколько</a:t>
            </a:r>
            <a:r>
              <a:rPr lang="en-US" dirty="0"/>
              <a:t> </a:t>
            </a:r>
            <a:r>
              <a:rPr lang="en-US" dirty="0" err="1"/>
              <a:t>процессорного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получила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насколько</a:t>
            </a:r>
            <a:r>
              <a:rPr lang="en-US" dirty="0"/>
              <a:t> </a:t>
            </a:r>
            <a:r>
              <a:rPr lang="en-US" dirty="0" err="1"/>
              <a:t>скоро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желательно</a:t>
            </a:r>
            <a:r>
              <a:rPr lang="en-US" dirty="0"/>
              <a:t> </a:t>
            </a:r>
            <a:r>
              <a:rPr lang="en-US" dirty="0" err="1"/>
              <a:t>обслужить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короткий</a:t>
            </a:r>
            <a:r>
              <a:rPr lang="en-US" dirty="0"/>
              <a:t> </a:t>
            </a:r>
            <a:r>
              <a:rPr lang="en-US" dirty="0" err="1"/>
              <a:t>запрашиваемый</a:t>
            </a:r>
            <a:r>
              <a:rPr lang="en-US" dirty="0"/>
              <a:t> </a:t>
            </a:r>
            <a:r>
              <a:rPr lang="en-US" dirty="0" err="1"/>
              <a:t>интервал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соответствовать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раннему</a:t>
            </a:r>
            <a:r>
              <a:rPr lang="en-US" dirty="0"/>
              <a:t> </a:t>
            </a:r>
            <a:r>
              <a:rPr lang="en-US" dirty="0" err="1"/>
              <a:t>виртуальному</a:t>
            </a:r>
            <a:r>
              <a:rPr lang="en-US" dirty="0"/>
              <a:t> </a:t>
            </a:r>
            <a:r>
              <a:rPr lang="en-US" dirty="0" err="1"/>
              <a:t>сроку</a:t>
            </a:r>
            <a:r>
              <a:rPr lang="en-US" dirty="0"/>
              <a:t>, </a:t>
            </a:r>
            <a:r>
              <a:rPr lang="en-US" dirty="0" err="1"/>
              <a:t>помогая</a:t>
            </a:r>
            <a:r>
              <a:rPr lang="en-US" dirty="0"/>
              <a:t> </a:t>
            </a:r>
            <a:r>
              <a:rPr lang="en-US" dirty="0" err="1"/>
              <a:t>задачам</a:t>
            </a:r>
            <a:r>
              <a:rPr lang="en-US" dirty="0"/>
              <a:t>, </a:t>
            </a:r>
            <a:r>
              <a:rPr lang="en-US" dirty="0" err="1"/>
              <a:t>чувствительным</a:t>
            </a:r>
            <a:r>
              <a:rPr lang="en-US" dirty="0"/>
              <a:t> к </a:t>
            </a:r>
            <a:r>
              <a:rPr lang="en-US" dirty="0" err="1"/>
              <a:t>задержкам</a:t>
            </a:r>
            <a:r>
              <a:rPr lang="en-US" dirty="0"/>
              <a:t>, </a:t>
            </a:r>
            <a:r>
              <a:rPr lang="en-US" dirty="0" err="1"/>
              <a:t>быстрее</a:t>
            </a:r>
            <a:r>
              <a:rPr lang="en-US" dirty="0"/>
              <a:t> </a:t>
            </a:r>
            <a:r>
              <a:rPr lang="en-US" dirty="0" err="1"/>
              <a:t>получать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Eligibility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полностью</a:t>
            </a:r>
            <a:r>
              <a:rPr lang="en-US" dirty="0"/>
              <a:t> </a:t>
            </a:r>
            <a:r>
              <a:rPr lang="en-US" dirty="0" err="1"/>
              <a:t>забыть</a:t>
            </a:r>
            <a:r>
              <a:rPr lang="en-US" dirty="0"/>
              <a:t> о </a:t>
            </a:r>
            <a:r>
              <a:rPr lang="en-US" dirty="0" err="1"/>
              <a:t>справедливости</a:t>
            </a:r>
            <a:r>
              <a:rPr lang="en-US" dirty="0"/>
              <a:t>.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учитывать</a:t>
            </a:r>
            <a:r>
              <a:rPr lang="en-US" dirty="0"/>
              <a:t> </a:t>
            </a:r>
            <a:r>
              <a:rPr lang="en-US" dirty="0" err="1"/>
              <a:t>разницу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полученными</a:t>
            </a:r>
            <a:r>
              <a:rPr lang="en-US" dirty="0"/>
              <a:t> и </a:t>
            </a:r>
            <a:r>
              <a:rPr lang="en-US" dirty="0" err="1"/>
              <a:t>положенными</a:t>
            </a:r>
            <a:r>
              <a:rPr lang="en-US" dirty="0"/>
              <a:t> </a:t>
            </a:r>
            <a:r>
              <a:rPr lang="en-US" dirty="0" err="1"/>
              <a:t>долями</a:t>
            </a:r>
            <a:r>
              <a:rPr lang="en-US" dirty="0"/>
              <a:t> CPU. </a:t>
            </a:r>
          </a:p>
          <a:p>
            <a:endParaRPr lang="ru-RU" dirty="0"/>
          </a:p>
          <a:p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путать</a:t>
            </a:r>
            <a:r>
              <a:rPr lang="en-US" dirty="0"/>
              <a:t> Virtual Deadline с </a:t>
            </a:r>
            <a:r>
              <a:rPr lang="en-US" dirty="0" err="1"/>
              <a:t>обычным</a:t>
            </a:r>
            <a:r>
              <a:rPr lang="en-US" dirty="0"/>
              <a:t> </a:t>
            </a:r>
            <a:r>
              <a:rPr lang="en-US" dirty="0" err="1"/>
              <a:t>дедлайном</a:t>
            </a:r>
            <a:r>
              <a:rPr lang="en-US" dirty="0"/>
              <a:t> в </a:t>
            </a:r>
            <a:r>
              <a:rPr lang="en-US" dirty="0" err="1"/>
              <a:t>системах</a:t>
            </a:r>
            <a:r>
              <a:rPr lang="en-US" dirty="0"/>
              <a:t> </a:t>
            </a:r>
            <a:r>
              <a:rPr lang="en-US" dirty="0" err="1"/>
              <a:t>реального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Название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впечатление</a:t>
            </a:r>
            <a:r>
              <a:rPr lang="en-US" dirty="0"/>
              <a:t>, </a:t>
            </a:r>
            <a:r>
              <a:rPr lang="en-US" dirty="0" err="1"/>
              <a:t>будто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гарантирует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определённого</a:t>
            </a:r>
            <a:r>
              <a:rPr lang="en-US" dirty="0"/>
              <a:t> </a:t>
            </a:r>
            <a:r>
              <a:rPr lang="en-US" dirty="0" err="1"/>
              <a:t>момента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Virtual Deadline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алгоритма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выбора</a:t>
            </a:r>
            <a:r>
              <a:rPr lang="en-US" dirty="0"/>
              <a:t> </a:t>
            </a:r>
            <a:r>
              <a:rPr lang="en-US" dirty="0" err="1"/>
              <a:t>следующей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гарантией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завершится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заданного</a:t>
            </a:r>
            <a:r>
              <a:rPr lang="en-US" dirty="0"/>
              <a:t> </a:t>
            </a:r>
            <a:r>
              <a:rPr lang="en-US" dirty="0" err="1"/>
              <a:t>реального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с </a:t>
            </a:r>
            <a:r>
              <a:rPr lang="en-US" dirty="0" err="1"/>
              <a:t>жёсткими</a:t>
            </a:r>
            <a:r>
              <a:rPr lang="en-US" dirty="0"/>
              <a:t> </a:t>
            </a:r>
            <a:r>
              <a:rPr lang="en-US" dirty="0" err="1"/>
              <a:t>временными</a:t>
            </a:r>
            <a:r>
              <a:rPr lang="en-US" dirty="0"/>
              <a:t> </a:t>
            </a:r>
            <a:r>
              <a:rPr lang="en-US" dirty="0" err="1"/>
              <a:t>ограничениями</a:t>
            </a:r>
            <a:r>
              <a:rPr lang="en-US" dirty="0"/>
              <a:t> </a:t>
            </a:r>
            <a:r>
              <a:rPr lang="en-US" dirty="0" err="1"/>
              <a:t>используются</a:t>
            </a:r>
            <a:r>
              <a:rPr lang="en-US" dirty="0"/>
              <a:t>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механизмы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позднее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Итак</a:t>
            </a:r>
            <a:r>
              <a:rPr lang="en-US" dirty="0"/>
              <a:t>, </a:t>
            </a:r>
            <a:r>
              <a:rPr lang="en-US" dirty="0" err="1"/>
              <a:t>начиная</a:t>
            </a:r>
            <a:r>
              <a:rPr lang="en-US" dirty="0"/>
              <a:t> с Linux 6.6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стала</a:t>
            </a:r>
            <a:r>
              <a:rPr lang="en-US" dirty="0"/>
              <a:t> </a:t>
            </a:r>
            <a:r>
              <a:rPr lang="en-US" dirty="0" err="1"/>
              <a:t>переходить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классического</a:t>
            </a:r>
            <a:r>
              <a:rPr lang="en-US" dirty="0"/>
              <a:t> </a:t>
            </a:r>
            <a:r>
              <a:rPr lang="en-US" dirty="0" err="1"/>
              <a:t>выбора</a:t>
            </a:r>
            <a:r>
              <a:rPr lang="en-US" dirty="0"/>
              <a:t> CFS к EEVDF, </a:t>
            </a:r>
            <a:r>
              <a:rPr lang="en-US" dirty="0" err="1"/>
              <a:t>сохраняя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идею</a:t>
            </a:r>
            <a:r>
              <a:rPr lang="en-US" dirty="0"/>
              <a:t> </a:t>
            </a:r>
            <a:r>
              <a:rPr lang="en-US" dirty="0" err="1"/>
              <a:t>справедливого</a:t>
            </a:r>
            <a:r>
              <a:rPr lang="en-US" dirty="0"/>
              <a:t> </a:t>
            </a:r>
            <a:r>
              <a:rPr lang="en-US" dirty="0" err="1"/>
              <a:t>распределения</a:t>
            </a:r>
            <a:r>
              <a:rPr lang="en-US" dirty="0"/>
              <a:t> </a:t>
            </a:r>
            <a:r>
              <a:rPr lang="en-US" dirty="0" err="1"/>
              <a:t>процессорного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  <a:p>
            <a:r>
              <a:rPr lang="en-US" dirty="0" err="1"/>
              <a:t>Главный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развития</a:t>
            </a:r>
            <a:r>
              <a:rPr lang="en-US" dirty="0"/>
              <a:t> —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лучше</a:t>
            </a:r>
            <a:r>
              <a:rPr lang="en-US" dirty="0"/>
              <a:t> </a:t>
            </a:r>
            <a:r>
              <a:rPr lang="en-US" dirty="0" err="1"/>
              <a:t>сочетать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цели</a:t>
            </a:r>
            <a:r>
              <a:rPr lang="en-US" dirty="0"/>
              <a:t>: </a:t>
            </a:r>
            <a:r>
              <a:rPr lang="en-US" dirty="0" err="1"/>
              <a:t>справедливость</a:t>
            </a:r>
            <a:r>
              <a:rPr lang="en-US" dirty="0"/>
              <a:t> и </a:t>
            </a:r>
            <a:r>
              <a:rPr lang="en-US" dirty="0" err="1"/>
              <a:t>отзывчивость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А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вернёмся</a:t>
            </a:r>
            <a:r>
              <a:rPr lang="en-US" dirty="0"/>
              <a:t> к </a:t>
            </a:r>
            <a:r>
              <a:rPr lang="en-US" dirty="0" err="1"/>
              <a:t>примеру</a:t>
            </a:r>
            <a:r>
              <a:rPr lang="en-US" dirty="0"/>
              <a:t>, с </a:t>
            </a:r>
            <a:r>
              <a:rPr lang="en-US" dirty="0" err="1"/>
              <a:t>которого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начали</a:t>
            </a:r>
            <a:r>
              <a:rPr lang="en-US" dirty="0"/>
              <a:t> </a:t>
            </a:r>
            <a:r>
              <a:rPr lang="en-US" dirty="0" err="1"/>
              <a:t>раздел</a:t>
            </a:r>
            <a:r>
              <a:rPr lang="en-US" dirty="0"/>
              <a:t>.</a:t>
            </a:r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компьютере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работают</a:t>
            </a:r>
            <a:r>
              <a:rPr lang="en-US" dirty="0"/>
              <a:t> </a:t>
            </a:r>
            <a:r>
              <a:rPr lang="en-US" dirty="0" err="1"/>
              <a:t>фоновая</a:t>
            </a:r>
            <a:r>
              <a:rPr lang="en-US" dirty="0"/>
              <a:t> </a:t>
            </a:r>
            <a:r>
              <a:rPr lang="en-US" dirty="0" err="1"/>
              <a:t>компиляция</a:t>
            </a:r>
            <a:r>
              <a:rPr lang="en-US" dirty="0"/>
              <a:t> и </a:t>
            </a:r>
            <a:r>
              <a:rPr lang="en-US" dirty="0" err="1"/>
              <a:t>интерактивное</a:t>
            </a:r>
            <a:r>
              <a:rPr lang="en-US" dirty="0"/>
              <a:t> </a:t>
            </a:r>
            <a:r>
              <a:rPr lang="en-US" dirty="0" err="1"/>
              <a:t>приложение</a:t>
            </a:r>
            <a:r>
              <a:rPr lang="en-US" dirty="0"/>
              <a:t>.</a:t>
            </a:r>
          </a:p>
          <a:p>
            <a:r>
              <a:rPr lang="en-US" dirty="0" err="1"/>
              <a:t>Компиляция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продолжать</a:t>
            </a:r>
            <a:r>
              <a:rPr lang="en-US" dirty="0"/>
              <a:t> </a:t>
            </a:r>
            <a:r>
              <a:rPr lang="en-US" dirty="0" err="1"/>
              <a:t>получать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, </a:t>
            </a:r>
            <a:r>
              <a:rPr lang="en-US" dirty="0" err="1"/>
              <a:t>иначе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никогда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завершится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взаимодействует</a:t>
            </a:r>
            <a:r>
              <a:rPr lang="en-US" dirty="0"/>
              <a:t> с </a:t>
            </a:r>
            <a:r>
              <a:rPr lang="en-US" dirty="0" err="1"/>
              <a:t>приложением</a:t>
            </a:r>
            <a:r>
              <a:rPr lang="en-US" dirty="0"/>
              <a:t>, </a:t>
            </a:r>
            <a:r>
              <a:rPr lang="en-US" dirty="0" err="1"/>
              <a:t>соответствующему</a:t>
            </a:r>
            <a:r>
              <a:rPr lang="en-US" dirty="0"/>
              <a:t> </a:t>
            </a:r>
            <a:r>
              <a:rPr lang="en-US" dirty="0" err="1"/>
              <a:t>потоку</a:t>
            </a:r>
            <a:r>
              <a:rPr lang="en-US" dirty="0"/>
              <a:t> </a:t>
            </a:r>
            <a:r>
              <a:rPr lang="en-US" dirty="0" err="1"/>
              <a:t>желательно</a:t>
            </a:r>
            <a:r>
              <a:rPr lang="en-US" dirty="0"/>
              <a:t> </a:t>
            </a:r>
            <a:r>
              <a:rPr lang="en-US" dirty="0" err="1"/>
              <a:t>быстро</a:t>
            </a:r>
            <a:r>
              <a:rPr lang="en-US" dirty="0"/>
              <a:t> </a:t>
            </a:r>
            <a:r>
              <a:rPr lang="en-US" dirty="0" err="1"/>
              <a:t>предоставить</a:t>
            </a:r>
            <a:r>
              <a:rPr lang="en-US" dirty="0"/>
              <a:t> CPU.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Современный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учитывать</a:t>
            </a:r>
            <a:r>
              <a:rPr lang="en-US" dirty="0"/>
              <a:t> </a:t>
            </a:r>
            <a:r>
              <a:rPr lang="en-US" dirty="0" err="1"/>
              <a:t>обе</a:t>
            </a:r>
            <a:r>
              <a:rPr lang="en-US" dirty="0"/>
              <a:t> </a:t>
            </a:r>
            <a:r>
              <a:rPr lang="en-US" dirty="0" err="1"/>
              <a:t>потребности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реальное</a:t>
            </a:r>
            <a:r>
              <a:rPr lang="en-US" dirty="0"/>
              <a:t> </a:t>
            </a:r>
            <a:r>
              <a:rPr lang="en-US" dirty="0" err="1"/>
              <a:t>планирование</a:t>
            </a:r>
            <a:r>
              <a:rPr lang="en-US" dirty="0"/>
              <a:t> </a:t>
            </a:r>
            <a:r>
              <a:rPr lang="en-US" dirty="0" err="1"/>
              <a:t>значительно</a:t>
            </a:r>
            <a:r>
              <a:rPr lang="en-US" dirty="0"/>
              <a:t> </a:t>
            </a:r>
            <a:r>
              <a:rPr lang="en-US" dirty="0" err="1"/>
              <a:t>сложнее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простое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в </a:t>
            </a:r>
            <a:r>
              <a:rPr lang="en-US" dirty="0" err="1"/>
              <a:t>порядке</a:t>
            </a:r>
            <a:r>
              <a:rPr lang="en-US" dirty="0"/>
              <a:t> </a:t>
            </a:r>
            <a:r>
              <a:rPr lang="en-US" dirty="0" err="1"/>
              <a:t>поступления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65932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предыдущих</a:t>
            </a:r>
            <a:r>
              <a:rPr lang="en-US" dirty="0"/>
              <a:t> </a:t>
            </a:r>
            <a:r>
              <a:rPr lang="en-US" dirty="0" err="1"/>
              <a:t>разделах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познакомились</a:t>
            </a:r>
            <a:r>
              <a:rPr lang="en-US" dirty="0"/>
              <a:t> с </a:t>
            </a:r>
            <a:r>
              <a:rPr lang="en-US" dirty="0" err="1"/>
              <a:t>классическими</a:t>
            </a:r>
            <a:r>
              <a:rPr lang="en-US" dirty="0"/>
              <a:t> </a:t>
            </a:r>
            <a:r>
              <a:rPr lang="en-US" dirty="0" err="1"/>
              <a:t>алгоритмами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, </a:t>
            </a:r>
            <a:r>
              <a:rPr lang="en-US" dirty="0" err="1"/>
              <a:t>приоритетами</a:t>
            </a:r>
            <a:r>
              <a:rPr lang="en-US" dirty="0"/>
              <a:t>, </a:t>
            </a:r>
            <a:r>
              <a:rPr lang="en-US" dirty="0" err="1"/>
              <a:t>справедливым</a:t>
            </a:r>
            <a:r>
              <a:rPr lang="en-US" dirty="0"/>
              <a:t> </a:t>
            </a:r>
            <a:r>
              <a:rPr lang="en-US" dirty="0" err="1"/>
              <a:t>распределением</a:t>
            </a:r>
            <a:r>
              <a:rPr lang="en-US" dirty="0"/>
              <a:t> CPU, CFS и EEVDF.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перейдём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теории</a:t>
            </a:r>
            <a:r>
              <a:rPr lang="en-US" dirty="0"/>
              <a:t> к </a:t>
            </a:r>
            <a:r>
              <a:rPr lang="en-US" dirty="0" err="1"/>
              <a:t>реализации</a:t>
            </a:r>
            <a:r>
              <a:rPr lang="en-US" dirty="0"/>
              <a:t>. </a:t>
            </a:r>
            <a:r>
              <a:rPr lang="en-US" dirty="0" err="1"/>
              <a:t>Разберём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 </a:t>
            </a:r>
            <a:r>
              <a:rPr lang="en-US" dirty="0" err="1"/>
              <a:t>предоставляет</a:t>
            </a:r>
            <a:r>
              <a:rPr lang="en-US" dirty="0"/>
              <a:t> Linux,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наблюдать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планировщика</a:t>
            </a:r>
            <a:r>
              <a:rPr lang="en-US" dirty="0"/>
              <a:t> и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дополнительные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r>
              <a:rPr lang="en-US" dirty="0"/>
              <a:t> </a:t>
            </a:r>
            <a:r>
              <a:rPr lang="en-US" dirty="0" err="1"/>
              <a:t>возникают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в </a:t>
            </a:r>
            <a:r>
              <a:rPr lang="en-US" dirty="0" err="1"/>
              <a:t>компьютере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процессорных</a:t>
            </a:r>
            <a:r>
              <a:rPr lang="en-US" dirty="0"/>
              <a:t> </a:t>
            </a:r>
            <a:r>
              <a:rPr lang="en-US" dirty="0" err="1"/>
              <a:t>ядер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3781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сих</a:t>
            </a:r>
            <a:r>
              <a:rPr lang="en-US" dirty="0"/>
              <a:t> </a:t>
            </a:r>
            <a:r>
              <a:rPr lang="en-US" dirty="0" err="1"/>
              <a:t>пор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рассматривали</a:t>
            </a:r>
            <a:r>
              <a:rPr lang="en-US" dirty="0"/>
              <a:t> </a:t>
            </a:r>
            <a:r>
              <a:rPr lang="en-US" dirty="0" err="1"/>
              <a:t>алгоритмы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отдельности</a:t>
            </a:r>
            <a:r>
              <a:rPr lang="en-US" dirty="0"/>
              <a:t>.</a:t>
            </a:r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изучили</a:t>
            </a:r>
            <a:r>
              <a:rPr lang="en-US" dirty="0"/>
              <a:t> FCFS, SJF и Round Robin.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познакомились</a:t>
            </a:r>
            <a:r>
              <a:rPr lang="en-US" dirty="0"/>
              <a:t> с </a:t>
            </a:r>
            <a:r>
              <a:rPr lang="en-US" dirty="0" err="1"/>
              <a:t>приоритетным</a:t>
            </a:r>
            <a:r>
              <a:rPr lang="en-US" dirty="0"/>
              <a:t> </a:t>
            </a:r>
            <a:r>
              <a:rPr lang="en-US" dirty="0" err="1"/>
              <a:t>планированием</a:t>
            </a:r>
            <a:r>
              <a:rPr lang="en-US" dirty="0"/>
              <a:t> и </a:t>
            </a:r>
            <a:r>
              <a:rPr lang="en-US" dirty="0" err="1"/>
              <a:t>справедливым</a:t>
            </a:r>
            <a:r>
              <a:rPr lang="en-US" dirty="0"/>
              <a:t> </a:t>
            </a:r>
            <a:r>
              <a:rPr lang="en-US" dirty="0" err="1"/>
              <a:t>распределением</a:t>
            </a:r>
            <a:r>
              <a:rPr lang="en-US" dirty="0"/>
              <a:t> </a:t>
            </a:r>
            <a:r>
              <a:rPr lang="en-US" dirty="0" err="1"/>
              <a:t>процессорного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в </a:t>
            </a:r>
            <a:r>
              <a:rPr lang="en-US" dirty="0" err="1"/>
              <a:t>реальной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?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Linux </a:t>
            </a:r>
            <a:r>
              <a:rPr lang="en-US" dirty="0" err="1"/>
              <a:t>какой-то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алгоритмов</a:t>
            </a:r>
            <a:r>
              <a:rPr lang="en-US" dirty="0"/>
              <a:t>?</a:t>
            </a:r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самом</a:t>
            </a:r>
            <a:r>
              <a:rPr lang="en-US" dirty="0"/>
              <a:t> </a:t>
            </a:r>
            <a:r>
              <a:rPr lang="en-US" dirty="0" err="1"/>
              <a:t>деле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сложнее</a:t>
            </a:r>
            <a:r>
              <a:rPr lang="en-US" dirty="0"/>
              <a:t>.</a:t>
            </a:r>
          </a:p>
          <a:p>
            <a:r>
              <a:rPr lang="en-US" dirty="0"/>
              <a:t>В Linux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политик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, </a:t>
            </a:r>
            <a:r>
              <a:rPr lang="en-US" dirty="0" err="1"/>
              <a:t>предназначенных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определённую</a:t>
            </a:r>
            <a:r>
              <a:rPr lang="en-US" dirty="0"/>
              <a:t> </a:t>
            </a:r>
            <a:r>
              <a:rPr lang="en-US" dirty="0" err="1"/>
              <a:t>политику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влияет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конкурирует</a:t>
            </a:r>
            <a:r>
              <a:rPr lang="en-US" dirty="0"/>
              <a:t> с </a:t>
            </a:r>
            <a:r>
              <a:rPr lang="en-US" dirty="0" err="1"/>
              <a:t>другими</a:t>
            </a:r>
            <a:r>
              <a:rPr lang="en-US" dirty="0"/>
              <a:t> </a:t>
            </a:r>
            <a:r>
              <a:rPr lang="en-US" dirty="0" err="1"/>
              <a:t>потоками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.</a:t>
            </a:r>
          </a:p>
          <a:p>
            <a:r>
              <a:rPr lang="en-US" dirty="0" err="1"/>
              <a:t>Начнём</a:t>
            </a:r>
            <a:r>
              <a:rPr lang="en-US" dirty="0"/>
              <a:t> с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SCHED_OTHER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стандартная</a:t>
            </a:r>
            <a:r>
              <a:rPr lang="en-US" dirty="0"/>
              <a:t> </a:t>
            </a:r>
            <a:r>
              <a:rPr lang="en-US" dirty="0" err="1"/>
              <a:t>политика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большинства</a:t>
            </a:r>
            <a:r>
              <a:rPr lang="en-US" dirty="0"/>
              <a:t> </a:t>
            </a:r>
            <a:r>
              <a:rPr lang="en-US" dirty="0" err="1"/>
              <a:t>обычных</a:t>
            </a:r>
            <a:r>
              <a:rPr lang="en-US" dirty="0"/>
              <a:t> </a:t>
            </a:r>
            <a:r>
              <a:rPr lang="en-US" dirty="0" err="1"/>
              <a:t>приложений</a:t>
            </a:r>
            <a:r>
              <a:rPr lang="en-US" dirty="0"/>
              <a:t>: </a:t>
            </a:r>
            <a:r>
              <a:rPr lang="en-US" dirty="0" err="1"/>
              <a:t>браузеров</a:t>
            </a:r>
            <a:r>
              <a:rPr lang="en-US" dirty="0"/>
              <a:t>, </a:t>
            </a:r>
            <a:r>
              <a:rPr lang="en-US" dirty="0" err="1"/>
              <a:t>редакторов</a:t>
            </a:r>
            <a:r>
              <a:rPr lang="en-US" dirty="0"/>
              <a:t>, </a:t>
            </a:r>
            <a:r>
              <a:rPr lang="en-US" dirty="0" err="1"/>
              <a:t>компиляторов</a:t>
            </a:r>
            <a:r>
              <a:rPr lang="en-US" dirty="0"/>
              <a:t> и </a:t>
            </a:r>
            <a:r>
              <a:rPr lang="en-US" dirty="0" err="1"/>
              <a:t>других</a:t>
            </a:r>
            <a:r>
              <a:rPr lang="en-US" dirty="0"/>
              <a:t> </a:t>
            </a:r>
            <a:r>
              <a:rPr lang="en-US" dirty="0" err="1"/>
              <a:t>программ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таких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Linux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справедливое</a:t>
            </a:r>
            <a:r>
              <a:rPr lang="en-US" dirty="0"/>
              <a:t> </a:t>
            </a:r>
            <a:r>
              <a:rPr lang="en-US" dirty="0" err="1"/>
              <a:t>планирование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разобрали</a:t>
            </a:r>
            <a:r>
              <a:rPr lang="en-US" dirty="0"/>
              <a:t> </a:t>
            </a:r>
            <a:r>
              <a:rPr lang="en-US" dirty="0" err="1"/>
              <a:t>исторический</a:t>
            </a:r>
            <a:r>
              <a:rPr lang="en-US" dirty="0"/>
              <a:t> CFS и </a:t>
            </a:r>
            <a:r>
              <a:rPr lang="en-US" dirty="0" err="1"/>
              <a:t>пришедший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смену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выбора</a:t>
            </a:r>
            <a:r>
              <a:rPr lang="en-US" dirty="0"/>
              <a:t> EEVDF.</a:t>
            </a:r>
          </a:p>
          <a:p>
            <a:endParaRPr lang="ru-RU" dirty="0"/>
          </a:p>
          <a:p>
            <a:r>
              <a:rPr lang="en-US" dirty="0" err="1"/>
              <a:t>Политика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SCHED_BATCH</a:t>
            </a:r>
            <a:r>
              <a:rPr lang="en-US" dirty="0"/>
              <a:t> </a:t>
            </a:r>
            <a:r>
              <a:rPr lang="en-US" dirty="0" err="1"/>
              <a:t>предназначена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преимущественно</a:t>
            </a:r>
            <a:r>
              <a:rPr lang="en-US" dirty="0"/>
              <a:t> </a:t>
            </a:r>
            <a:r>
              <a:rPr lang="en-US" dirty="0" err="1"/>
              <a:t>выполняют</a:t>
            </a:r>
            <a:r>
              <a:rPr lang="en-US" dirty="0"/>
              <a:t> </a:t>
            </a:r>
            <a:r>
              <a:rPr lang="en-US" dirty="0" err="1"/>
              <a:t>вычисления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требуют</a:t>
            </a:r>
            <a:r>
              <a:rPr lang="en-US" dirty="0"/>
              <a:t> </a:t>
            </a:r>
            <a:r>
              <a:rPr lang="en-US" dirty="0" err="1"/>
              <a:t>быстрого</a:t>
            </a:r>
            <a:r>
              <a:rPr lang="en-US" dirty="0"/>
              <a:t> </a:t>
            </a:r>
            <a:r>
              <a:rPr lang="en-US" dirty="0" err="1"/>
              <a:t>отклика</a:t>
            </a:r>
            <a:r>
              <a:rPr lang="en-US" dirty="0"/>
              <a:t>.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своей</a:t>
            </a:r>
            <a:r>
              <a:rPr lang="en-US" dirty="0"/>
              <a:t> </a:t>
            </a:r>
            <a:r>
              <a:rPr lang="en-US" dirty="0" err="1"/>
              <a:t>основе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близка</a:t>
            </a:r>
            <a:r>
              <a:rPr lang="en-US" dirty="0"/>
              <a:t> к </a:t>
            </a:r>
            <a:r>
              <a:rPr lang="en-US" dirty="0" err="1"/>
              <a:t>обычному</a:t>
            </a:r>
            <a:r>
              <a:rPr lang="en-US" dirty="0"/>
              <a:t> </a:t>
            </a:r>
            <a:r>
              <a:rPr lang="en-US" dirty="0" err="1"/>
              <a:t>справедливому</a:t>
            </a:r>
            <a:r>
              <a:rPr lang="en-US" dirty="0"/>
              <a:t> </a:t>
            </a:r>
            <a:r>
              <a:rPr lang="en-US" dirty="0" err="1"/>
              <a:t>планированию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предполагает</a:t>
            </a:r>
            <a:r>
              <a:rPr lang="en-US" dirty="0"/>
              <a:t> </a:t>
            </a:r>
            <a:r>
              <a:rPr lang="en-US" dirty="0" err="1"/>
              <a:t>менее</a:t>
            </a:r>
            <a:r>
              <a:rPr lang="en-US" dirty="0"/>
              <a:t> </a:t>
            </a:r>
            <a:r>
              <a:rPr lang="en-US" dirty="0" err="1"/>
              <a:t>благоприятное</a:t>
            </a:r>
            <a:r>
              <a:rPr lang="en-US" dirty="0"/>
              <a:t> </a:t>
            </a:r>
            <a:r>
              <a:rPr lang="en-US" dirty="0" err="1"/>
              <a:t>обслуживание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пробуждении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</a:t>
            </a:r>
          </a:p>
          <a:p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SCHED_IDLE</a:t>
            </a:r>
            <a:r>
              <a:rPr lang="en-US" dirty="0"/>
              <a:t> </a:t>
            </a:r>
            <a:r>
              <a:rPr lang="en-US" dirty="0" err="1"/>
              <a:t>предназначена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с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низким</a:t>
            </a:r>
            <a:r>
              <a:rPr lang="en-US" dirty="0"/>
              <a:t> </a:t>
            </a:r>
            <a:r>
              <a:rPr lang="en-US" dirty="0" err="1"/>
              <a:t>приоритетом</a:t>
            </a:r>
            <a:r>
              <a:rPr lang="en-US" dirty="0"/>
              <a:t>. Это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фоновых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желательно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занят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важными</a:t>
            </a:r>
            <a:r>
              <a:rPr lang="en-US" dirty="0"/>
              <a:t> </a:t>
            </a:r>
            <a:r>
              <a:rPr lang="en-US" dirty="0" err="1"/>
              <a:t>задачами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политики</a:t>
            </a:r>
            <a:r>
              <a:rPr lang="en-US" dirty="0"/>
              <a:t> </a:t>
            </a:r>
            <a:r>
              <a:rPr lang="en-US" dirty="0" err="1"/>
              <a:t>реального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SCHED_FIFO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фиксированные</a:t>
            </a:r>
            <a:r>
              <a:rPr lang="en-US" dirty="0"/>
              <a:t> </a:t>
            </a:r>
            <a:r>
              <a:rPr lang="en-US" dirty="0" err="1"/>
              <a:t>приоритеты</a:t>
            </a:r>
            <a:r>
              <a:rPr lang="en-US" dirty="0"/>
              <a:t>.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политики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продолжать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,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заблокируется</a:t>
            </a:r>
            <a:r>
              <a:rPr lang="en-US" dirty="0"/>
              <a:t>, </a:t>
            </a:r>
            <a:r>
              <a:rPr lang="en-US" dirty="0" err="1"/>
              <a:t>добровольно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уступит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вытеснен</a:t>
            </a:r>
            <a:r>
              <a:rPr lang="en-US" dirty="0"/>
              <a:t> </a:t>
            </a:r>
            <a:r>
              <a:rPr lang="en-US" dirty="0" err="1"/>
              <a:t>потоком</a:t>
            </a:r>
            <a:r>
              <a:rPr lang="en-US" dirty="0"/>
              <a:t> с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высоким</a:t>
            </a:r>
            <a:r>
              <a:rPr lang="en-US" dirty="0"/>
              <a:t> </a:t>
            </a:r>
            <a:r>
              <a:rPr lang="en-US" dirty="0" err="1"/>
              <a:t>приоритетом</a:t>
            </a:r>
            <a:r>
              <a:rPr lang="en-US" dirty="0"/>
              <a:t>. </a:t>
            </a:r>
            <a:r>
              <a:rPr lang="en-US" dirty="0" err="1"/>
              <a:t>Ограничения</a:t>
            </a:r>
            <a:r>
              <a:rPr lang="en-US" dirty="0"/>
              <a:t> </a:t>
            </a:r>
            <a:r>
              <a:rPr lang="en-US" dirty="0" err="1"/>
              <a:t>обычным</a:t>
            </a:r>
            <a:r>
              <a:rPr lang="en-US" dirty="0"/>
              <a:t> </a:t>
            </a:r>
            <a:r>
              <a:rPr lang="en-US" dirty="0" err="1"/>
              <a:t>квантом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уровня</a:t>
            </a:r>
            <a:r>
              <a:rPr lang="en-US" dirty="0"/>
              <a:t> </a:t>
            </a:r>
            <a:r>
              <a:rPr lang="en-US" dirty="0" err="1"/>
              <a:t>приоритета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.</a:t>
            </a:r>
          </a:p>
          <a:p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SCHED_RR</a:t>
            </a:r>
            <a:r>
              <a:rPr lang="en-US" dirty="0"/>
              <a:t> </a:t>
            </a:r>
            <a:r>
              <a:rPr lang="en-US" dirty="0" err="1"/>
              <a:t>похожа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SCHED_FIFO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добавляет</a:t>
            </a:r>
            <a:r>
              <a:rPr lang="en-US" dirty="0"/>
              <a:t> </a:t>
            </a:r>
            <a:r>
              <a:rPr lang="en-US" dirty="0" err="1"/>
              <a:t>циклическое</a:t>
            </a:r>
            <a:r>
              <a:rPr lang="en-US" dirty="0"/>
              <a:t> </a:t>
            </a:r>
            <a:r>
              <a:rPr lang="en-US" dirty="0" err="1"/>
              <a:t>обслуживание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с </a:t>
            </a:r>
            <a:r>
              <a:rPr lang="en-US" dirty="0" err="1"/>
              <a:t>одинаковым</a:t>
            </a:r>
            <a:r>
              <a:rPr lang="en-US" dirty="0"/>
              <a:t> </a:t>
            </a:r>
            <a:r>
              <a:rPr lang="en-US" dirty="0" err="1"/>
              <a:t>приоритетом</a:t>
            </a:r>
            <a:r>
              <a:rPr lang="en-US" dirty="0"/>
              <a:t>.</a:t>
            </a:r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: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самый</a:t>
            </a:r>
            <a:r>
              <a:rPr lang="en-US" dirty="0"/>
              <a:t> </a:t>
            </a:r>
            <a:r>
              <a:rPr lang="en-US" dirty="0" err="1"/>
              <a:t>принцип</a:t>
            </a:r>
            <a:r>
              <a:rPr lang="en-US" dirty="0"/>
              <a:t> Round Robin,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рассматривали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в </a:t>
            </a:r>
            <a:r>
              <a:rPr lang="en-US" dirty="0" err="1"/>
              <a:t>рамках</a:t>
            </a:r>
            <a:r>
              <a:rPr lang="en-US" dirty="0"/>
              <a:t> </a:t>
            </a:r>
            <a:r>
              <a:rPr lang="en-US" dirty="0" err="1"/>
              <a:t>определённого</a:t>
            </a:r>
            <a:r>
              <a:rPr lang="en-US" dirty="0"/>
              <a:t> </a:t>
            </a:r>
            <a:r>
              <a:rPr lang="en-US" dirty="0" err="1"/>
              <a:t>уровня</a:t>
            </a:r>
            <a:r>
              <a:rPr lang="en-US" dirty="0"/>
              <a:t> </a:t>
            </a:r>
            <a:r>
              <a:rPr lang="en-US" dirty="0" err="1"/>
              <a:t>приоритета</a:t>
            </a:r>
            <a:r>
              <a:rPr lang="en-US" dirty="0"/>
              <a:t> </a:t>
            </a:r>
            <a:r>
              <a:rPr lang="en-US" dirty="0" err="1"/>
              <a:t>реального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Наконец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SCHED_DEADLINE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задавать</a:t>
            </a:r>
            <a:r>
              <a:rPr lang="en-US" dirty="0"/>
              <a:t> </a:t>
            </a:r>
            <a:r>
              <a:rPr lang="en-US" dirty="0" err="1"/>
              <a:t>процессорный</a:t>
            </a:r>
            <a:r>
              <a:rPr lang="en-US" dirty="0"/>
              <a:t> </a:t>
            </a:r>
            <a:r>
              <a:rPr lang="en-US" dirty="0" err="1"/>
              <a:t>бюджет</a:t>
            </a:r>
            <a:r>
              <a:rPr lang="en-US" dirty="0"/>
              <a:t>, </a:t>
            </a:r>
            <a:r>
              <a:rPr lang="en-US" dirty="0" err="1"/>
              <a:t>относительный</a:t>
            </a:r>
            <a:r>
              <a:rPr lang="en-US" dirty="0"/>
              <a:t> deadline и </a:t>
            </a:r>
            <a:r>
              <a:rPr lang="en-US" dirty="0" err="1"/>
              <a:t>период</a:t>
            </a:r>
            <a:r>
              <a:rPr lang="en-US" dirty="0"/>
              <a:t>.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политика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с </a:t>
            </a:r>
            <a:r>
              <a:rPr lang="en-US" dirty="0" err="1"/>
              <a:t>определёнными</a:t>
            </a:r>
            <a:r>
              <a:rPr lang="en-US" dirty="0"/>
              <a:t> </a:t>
            </a:r>
            <a:r>
              <a:rPr lang="en-US" dirty="0" err="1"/>
              <a:t>временными</a:t>
            </a:r>
            <a:r>
              <a:rPr lang="en-US" dirty="0"/>
              <a:t> </a:t>
            </a:r>
            <a:r>
              <a:rPr lang="en-US" dirty="0" err="1"/>
              <a:t>требованиями</a:t>
            </a:r>
            <a:r>
              <a:rPr lang="en-US" dirty="0"/>
              <a:t>. </a:t>
            </a:r>
            <a:r>
              <a:rPr lang="en-US" dirty="0" err="1"/>
              <a:t>Подробнее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в </a:t>
            </a:r>
            <a:r>
              <a:rPr lang="en-US" dirty="0" err="1"/>
              <a:t>следующем</a:t>
            </a:r>
            <a:r>
              <a:rPr lang="en-US" dirty="0"/>
              <a:t> </a:t>
            </a:r>
            <a:r>
              <a:rPr lang="en-US" dirty="0" err="1"/>
              <a:t>разделе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SCHED_FIFO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SCHED_RR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высокое</a:t>
            </a:r>
            <a:r>
              <a:rPr lang="en-US" dirty="0"/>
              <a:t> </a:t>
            </a:r>
            <a:r>
              <a:rPr lang="en-US" dirty="0" err="1"/>
              <a:t>приоритетное</a:t>
            </a:r>
            <a:r>
              <a:rPr lang="en-US" dirty="0"/>
              <a:t> </a:t>
            </a:r>
            <a:r>
              <a:rPr lang="en-US" dirty="0" err="1"/>
              <a:t>положение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обычные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, а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SCHED_DEADLINE</a:t>
            </a:r>
            <a:r>
              <a:rPr lang="en-US" dirty="0"/>
              <a:t> </a:t>
            </a:r>
            <a:r>
              <a:rPr lang="en-US" dirty="0" err="1"/>
              <a:t>располагается</a:t>
            </a:r>
            <a:r>
              <a:rPr lang="en-US" dirty="0"/>
              <a:t> </a:t>
            </a:r>
            <a:r>
              <a:rPr lang="en-US" dirty="0" err="1"/>
              <a:t>выше</a:t>
            </a:r>
            <a:r>
              <a:rPr lang="en-US" dirty="0"/>
              <a:t> </a:t>
            </a:r>
            <a:r>
              <a:rPr lang="en-US" dirty="0" err="1"/>
              <a:t>остальных</a:t>
            </a:r>
            <a:r>
              <a:rPr lang="en-US" dirty="0"/>
              <a:t> </a:t>
            </a:r>
            <a:r>
              <a:rPr lang="en-US" dirty="0" err="1"/>
              <a:t>пользовательски</a:t>
            </a:r>
            <a:r>
              <a:rPr lang="en-US" dirty="0"/>
              <a:t> </a:t>
            </a:r>
            <a:r>
              <a:rPr lang="en-US" dirty="0" err="1"/>
              <a:t>настраиваемых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. </a:t>
            </a:r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соблюдение</a:t>
            </a:r>
            <a:r>
              <a:rPr lang="en-US" dirty="0"/>
              <a:t> </a:t>
            </a:r>
            <a:r>
              <a:rPr lang="en-US" dirty="0" err="1"/>
              <a:t>реальных</a:t>
            </a:r>
            <a:r>
              <a:rPr lang="en-US" dirty="0"/>
              <a:t> </a:t>
            </a:r>
            <a:r>
              <a:rPr lang="en-US" dirty="0" err="1"/>
              <a:t>сроков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названия</a:t>
            </a:r>
            <a:r>
              <a:rPr lang="en-US" dirty="0"/>
              <a:t> </a:t>
            </a:r>
            <a:r>
              <a:rPr lang="en-US" dirty="0" err="1"/>
              <a:t>политики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параметров</a:t>
            </a:r>
            <a:r>
              <a:rPr lang="en-US" dirty="0"/>
              <a:t> </a:t>
            </a:r>
            <a:r>
              <a:rPr lang="en-US" dirty="0" err="1"/>
              <a:t>нагрузки</a:t>
            </a:r>
            <a:r>
              <a:rPr lang="en-US" dirty="0"/>
              <a:t>, </a:t>
            </a:r>
            <a:r>
              <a:rPr lang="en-US" dirty="0" err="1"/>
              <a:t>допустимости</a:t>
            </a:r>
            <a:r>
              <a:rPr lang="en-US" dirty="0"/>
              <a:t> </a:t>
            </a:r>
            <a:r>
              <a:rPr lang="en-US" dirty="0" err="1"/>
              <a:t>конфигурации</a:t>
            </a:r>
            <a:r>
              <a:rPr lang="en-US" dirty="0"/>
              <a:t> и </a:t>
            </a:r>
            <a:r>
              <a:rPr lang="en-US" dirty="0" err="1"/>
              <a:t>других</a:t>
            </a:r>
            <a:r>
              <a:rPr lang="en-US" dirty="0"/>
              <a:t> </a:t>
            </a:r>
            <a:r>
              <a:rPr lang="en-US" dirty="0" err="1"/>
              <a:t>задержек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практический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: </a:t>
            </a:r>
            <a:r>
              <a:rPr lang="en-US" dirty="0" err="1"/>
              <a:t>обычный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произвольно</a:t>
            </a:r>
            <a:r>
              <a:rPr lang="en-US" dirty="0"/>
              <a:t> </a:t>
            </a:r>
            <a:r>
              <a:rPr lang="en-US" dirty="0" err="1"/>
              <a:t>назначать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</a:t>
            </a:r>
            <a:r>
              <a:rPr lang="en-US" dirty="0" err="1"/>
              <a:t>самые</a:t>
            </a:r>
            <a:r>
              <a:rPr lang="en-US" dirty="0"/>
              <a:t> </a:t>
            </a:r>
            <a:r>
              <a:rPr lang="en-US" dirty="0" err="1"/>
              <a:t>высокие</a:t>
            </a:r>
            <a:r>
              <a:rPr lang="en-US" dirty="0"/>
              <a:t> </a:t>
            </a:r>
            <a:r>
              <a:rPr lang="en-US" dirty="0" err="1"/>
              <a:t>приоритеты</a:t>
            </a:r>
            <a:r>
              <a:rPr lang="en-US" dirty="0"/>
              <a:t> </a:t>
            </a:r>
            <a:r>
              <a:rPr lang="en-US" dirty="0" err="1"/>
              <a:t>реального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требуются</a:t>
            </a:r>
            <a:r>
              <a:rPr lang="en-US" dirty="0"/>
              <a:t> </a:t>
            </a:r>
            <a:r>
              <a:rPr lang="en-US" dirty="0" err="1"/>
              <a:t>соответствующие</a:t>
            </a:r>
            <a:r>
              <a:rPr lang="en-US" dirty="0"/>
              <a:t> </a:t>
            </a:r>
            <a:r>
              <a:rPr lang="en-US" dirty="0" err="1"/>
              <a:t>привилегии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настроенные</a:t>
            </a:r>
            <a:r>
              <a:rPr lang="en-US" dirty="0"/>
              <a:t> </a:t>
            </a:r>
            <a:r>
              <a:rPr lang="en-US" dirty="0" err="1"/>
              <a:t>ограничения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Linux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политики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 </a:t>
            </a:r>
            <a:r>
              <a:rPr lang="en-US" dirty="0" err="1"/>
              <a:t>нагрузки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пытается</a:t>
            </a:r>
            <a:r>
              <a:rPr lang="en-US" dirty="0"/>
              <a:t> </a:t>
            </a:r>
            <a:r>
              <a:rPr lang="en-US" dirty="0" err="1"/>
              <a:t>применять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универсальный</a:t>
            </a:r>
            <a:r>
              <a:rPr lang="en-US" dirty="0"/>
              <a:t> </a:t>
            </a:r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ко</a:t>
            </a:r>
            <a:r>
              <a:rPr lang="en-US" dirty="0"/>
              <a:t> </a:t>
            </a:r>
            <a:r>
              <a:rPr lang="en-US" dirty="0" err="1"/>
              <a:t>всем</a:t>
            </a:r>
            <a:r>
              <a:rPr lang="en-US" dirty="0"/>
              <a:t> </a:t>
            </a:r>
            <a:r>
              <a:rPr lang="en-US" dirty="0" err="1"/>
              <a:t>задачам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1883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встречались</a:t>
            </a:r>
            <a:r>
              <a:rPr lang="en-US" dirty="0"/>
              <a:t> с </a:t>
            </a:r>
            <a:r>
              <a:rPr lang="en-US" dirty="0" err="1"/>
              <a:t>фундаментальным</a:t>
            </a:r>
            <a:r>
              <a:rPr lang="en-US" dirty="0"/>
              <a:t> </a:t>
            </a:r>
            <a:r>
              <a:rPr lang="en-US" dirty="0" err="1"/>
              <a:t>принципом</a:t>
            </a:r>
            <a:r>
              <a:rPr lang="en-US" dirty="0"/>
              <a:t> </a:t>
            </a:r>
            <a:r>
              <a:rPr lang="en-US" dirty="0" err="1"/>
              <a:t>проектирования</a:t>
            </a:r>
            <a:r>
              <a:rPr lang="en-US" dirty="0"/>
              <a:t> </a:t>
            </a:r>
            <a:r>
              <a:rPr lang="en-US" dirty="0" err="1"/>
              <a:t>операционных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 — </a:t>
            </a:r>
            <a:r>
              <a:rPr lang="en-US" dirty="0" err="1"/>
              <a:t>разделением</a:t>
            </a:r>
            <a:r>
              <a:rPr lang="en-US" dirty="0"/>
              <a:t> </a:t>
            </a:r>
            <a:r>
              <a:rPr lang="en-US" dirty="0" err="1"/>
              <a:t>политики</a:t>
            </a:r>
            <a:r>
              <a:rPr lang="en-US" dirty="0"/>
              <a:t> и </a:t>
            </a:r>
            <a:r>
              <a:rPr lang="en-US" dirty="0" err="1"/>
              <a:t>механизма</a:t>
            </a:r>
            <a:r>
              <a:rPr lang="en-US" dirty="0"/>
              <a:t>.</a:t>
            </a:r>
          </a:p>
          <a:p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проявляется</a:t>
            </a:r>
            <a:r>
              <a:rPr lang="en-US" dirty="0"/>
              <a:t> в </a:t>
            </a:r>
            <a:r>
              <a:rPr lang="en-US" dirty="0" err="1"/>
              <a:t>планировании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определяет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иную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умеет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готовые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в </a:t>
            </a:r>
            <a:r>
              <a:rPr lang="en-US" dirty="0" err="1"/>
              <a:t>структурах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, </a:t>
            </a:r>
            <a:r>
              <a:rPr lang="en-US" dirty="0" err="1"/>
              <a:t>выбирать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, </a:t>
            </a:r>
            <a:r>
              <a:rPr lang="en-US" dirty="0" err="1"/>
              <a:t>сохранять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контекст</a:t>
            </a:r>
            <a:r>
              <a:rPr lang="en-US" dirty="0"/>
              <a:t> и </a:t>
            </a:r>
            <a:r>
              <a:rPr lang="en-US" dirty="0" err="1"/>
              <a:t>передавать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.</a:t>
            </a:r>
          </a:p>
          <a:p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механизмы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А </a:t>
            </a:r>
            <a:r>
              <a:rPr lang="en-US" b="1" dirty="0" err="1"/>
              <a:t>политика</a:t>
            </a:r>
            <a:r>
              <a:rPr lang="en-US" dirty="0"/>
              <a:t> </a:t>
            </a:r>
            <a:r>
              <a:rPr lang="en-US" dirty="0" err="1"/>
              <a:t>определяет</a:t>
            </a:r>
            <a:r>
              <a:rPr lang="en-US" dirty="0"/>
              <a:t>, </a:t>
            </a:r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и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каким</a:t>
            </a:r>
            <a:r>
              <a:rPr lang="en-US" dirty="0"/>
              <a:t> </a:t>
            </a:r>
            <a:r>
              <a:rPr lang="en-US" dirty="0" err="1"/>
              <a:t>правилам</a:t>
            </a:r>
            <a:r>
              <a:rPr lang="en-US" dirty="0"/>
              <a:t> </a:t>
            </a:r>
            <a:r>
              <a:rPr lang="en-US" dirty="0" err="1"/>
              <a:t>выбирать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одним</a:t>
            </a:r>
            <a:r>
              <a:rPr lang="en-US" dirty="0"/>
              <a:t> </a:t>
            </a:r>
            <a:r>
              <a:rPr lang="en-US" dirty="0" err="1"/>
              <a:t>задачам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выделить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процессорного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, </a:t>
            </a:r>
            <a:r>
              <a:rPr lang="en-US" dirty="0" err="1"/>
              <a:t>другим</a:t>
            </a:r>
            <a:r>
              <a:rPr lang="en-US" dirty="0"/>
              <a:t> — </a:t>
            </a:r>
            <a:r>
              <a:rPr lang="en-US" dirty="0" err="1"/>
              <a:t>меньше</a:t>
            </a:r>
            <a:r>
              <a:rPr lang="en-US" dirty="0"/>
              <a:t>.</a:t>
            </a:r>
          </a:p>
          <a:p>
            <a:r>
              <a:rPr lang="ru-RU" dirty="0"/>
              <a:t>Но</a:t>
            </a:r>
            <a:r>
              <a:rPr lang="en-US" dirty="0"/>
              <a:t> </a:t>
            </a:r>
            <a:r>
              <a:rPr lang="en-US" dirty="0" err="1"/>
              <a:t>откуда</a:t>
            </a:r>
            <a:r>
              <a:rPr lang="en-US" dirty="0"/>
              <a:t>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узнаёт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 </a:t>
            </a:r>
            <a:r>
              <a:rPr lang="en-US" dirty="0" err="1"/>
              <a:t>важнее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 err="1"/>
              <a:t>Представим</a:t>
            </a:r>
            <a:r>
              <a:rPr lang="en-US" dirty="0"/>
              <a:t> </a:t>
            </a:r>
            <a:r>
              <a:rPr lang="en-US" dirty="0" err="1"/>
              <a:t>сервер</a:t>
            </a:r>
            <a:r>
              <a:rPr lang="en-US" dirty="0"/>
              <a:t> </a:t>
            </a:r>
            <a:r>
              <a:rPr lang="en-US" dirty="0" err="1"/>
              <a:t>базы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обрабатывает</a:t>
            </a:r>
            <a:r>
              <a:rPr lang="en-US" dirty="0"/>
              <a:t> </a:t>
            </a:r>
            <a:r>
              <a:rPr lang="en-US" dirty="0" err="1"/>
              <a:t>пользовательские</a:t>
            </a:r>
            <a:r>
              <a:rPr lang="en-US" dirty="0"/>
              <a:t> </a:t>
            </a:r>
            <a:r>
              <a:rPr lang="en-US" dirty="0" err="1"/>
              <a:t>запросы</a:t>
            </a:r>
            <a:r>
              <a:rPr lang="en-US" dirty="0"/>
              <a:t> и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фоновое</a:t>
            </a:r>
            <a:r>
              <a:rPr lang="en-US" dirty="0"/>
              <a:t> </a:t>
            </a:r>
            <a:r>
              <a:rPr lang="en-US" dirty="0" err="1"/>
              <a:t>обслуживание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сервера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быстро</a:t>
            </a:r>
            <a:r>
              <a:rPr lang="en-US" dirty="0"/>
              <a:t> </a:t>
            </a:r>
            <a:r>
              <a:rPr lang="en-US" dirty="0" err="1"/>
              <a:t>отвечать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запросы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фоновую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.</a:t>
            </a:r>
          </a:p>
          <a:p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всей</a:t>
            </a:r>
            <a:r>
              <a:rPr lang="en-US" dirty="0"/>
              <a:t> </a:t>
            </a:r>
            <a:r>
              <a:rPr lang="en-US" dirty="0" err="1"/>
              <a:t>бизнес-логики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Linux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dirty="0" err="1"/>
              <a:t>интерфейсы</a:t>
            </a:r>
            <a:r>
              <a:rPr lang="en-US" dirty="0"/>
              <a:t>,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приложение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администратор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влиять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параметры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Самый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 —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nice</a:t>
            </a:r>
            <a:r>
              <a:rPr lang="en-US" dirty="0"/>
              <a:t>.</a:t>
            </a:r>
          </a:p>
          <a:p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относительный</a:t>
            </a:r>
            <a:r>
              <a:rPr lang="en-US" dirty="0"/>
              <a:t> </a:t>
            </a:r>
            <a:r>
              <a:rPr lang="en-US" dirty="0" err="1"/>
              <a:t>вес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обычном</a:t>
            </a:r>
            <a:r>
              <a:rPr lang="en-US" dirty="0"/>
              <a:t> </a:t>
            </a:r>
            <a:r>
              <a:rPr lang="en-US" dirty="0" err="1"/>
              <a:t>справедливом</a:t>
            </a:r>
            <a:r>
              <a:rPr lang="en-US" dirty="0"/>
              <a:t> </a:t>
            </a:r>
            <a:r>
              <a:rPr lang="en-US" dirty="0" err="1"/>
              <a:t>планировании</a:t>
            </a:r>
            <a:r>
              <a:rPr lang="en-US" dirty="0"/>
              <a:t>.</a:t>
            </a:r>
          </a:p>
          <a:p>
            <a:r>
              <a:rPr lang="en-US" dirty="0"/>
              <a:t>В Linux </a:t>
            </a:r>
            <a:r>
              <a:rPr lang="en-US" dirty="0" err="1"/>
              <a:t>значения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nice</a:t>
            </a:r>
            <a:r>
              <a:rPr lang="en-US" dirty="0"/>
              <a:t> </a:t>
            </a:r>
            <a:r>
              <a:rPr lang="en-US" dirty="0" err="1"/>
              <a:t>находятся</a:t>
            </a:r>
            <a:r>
              <a:rPr lang="en-US" dirty="0"/>
              <a:t> в </a:t>
            </a:r>
            <a:r>
              <a:rPr lang="en-US" dirty="0" err="1"/>
              <a:t>диапазоне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−20 </a:t>
            </a:r>
            <a:r>
              <a:rPr lang="en-US" dirty="0" err="1"/>
              <a:t>до</a:t>
            </a:r>
            <a:r>
              <a:rPr lang="en-US" dirty="0"/>
              <a:t> +19.</a:t>
            </a:r>
            <a:endParaRPr lang="ru-RU" dirty="0"/>
          </a:p>
          <a:p>
            <a:endParaRPr lang="ru-RU" dirty="0"/>
          </a:p>
          <a:p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b="1" dirty="0" err="1"/>
              <a:t>меньше</a:t>
            </a:r>
            <a:r>
              <a:rPr lang="en-US" b="1" dirty="0"/>
              <a:t> </a:t>
            </a:r>
            <a:r>
              <a:rPr lang="en-US" b="1" dirty="0" err="1"/>
              <a:t>значение</a:t>
            </a:r>
            <a:r>
              <a:rPr lang="en-US" dirty="0"/>
              <a:t>,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b="1" dirty="0" err="1"/>
              <a:t>больше</a:t>
            </a:r>
            <a:r>
              <a:rPr lang="en-US" b="1" dirty="0"/>
              <a:t> </a:t>
            </a:r>
            <a:r>
              <a:rPr lang="en-US" b="1" dirty="0" err="1"/>
              <a:t>предпочтение</a:t>
            </a:r>
            <a:r>
              <a:rPr lang="en-US" dirty="0"/>
              <a:t>, </a:t>
            </a:r>
            <a:r>
              <a:rPr lang="en-US" dirty="0" err="1"/>
              <a:t>предоставляемое</a:t>
            </a:r>
            <a:r>
              <a:rPr lang="en-US" dirty="0"/>
              <a:t> </a:t>
            </a:r>
            <a:r>
              <a:rPr lang="en-US" dirty="0" err="1"/>
              <a:t>задаче</a:t>
            </a:r>
            <a:r>
              <a:rPr lang="en-US" dirty="0"/>
              <a:t>.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,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меньшую</a:t>
            </a:r>
            <a:r>
              <a:rPr lang="en-US" dirty="0"/>
              <a:t> </a:t>
            </a:r>
            <a:r>
              <a:rPr lang="en-US" dirty="0" err="1"/>
              <a:t>долю</a:t>
            </a:r>
            <a:r>
              <a:rPr lang="en-US" dirty="0"/>
              <a:t> CPU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конкуренции</a:t>
            </a:r>
            <a:r>
              <a:rPr lang="en-US" dirty="0"/>
              <a:t> с </a:t>
            </a:r>
            <a:r>
              <a:rPr lang="en-US" dirty="0" err="1"/>
              <a:t>другими</a:t>
            </a:r>
            <a:r>
              <a:rPr lang="en-US" dirty="0"/>
              <a:t> </a:t>
            </a:r>
            <a:r>
              <a:rPr lang="en-US" dirty="0" err="1"/>
              <a:t>задачами</a:t>
            </a:r>
            <a:r>
              <a:rPr lang="en-US" dirty="0"/>
              <a:t>. </a:t>
            </a:r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конкретная</a:t>
            </a:r>
            <a:r>
              <a:rPr lang="en-US" dirty="0"/>
              <a:t> </a:t>
            </a:r>
            <a:r>
              <a:rPr lang="en-US" dirty="0" err="1"/>
              <a:t>доля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остальных</a:t>
            </a:r>
            <a:r>
              <a:rPr lang="en-US" dirty="0"/>
              <a:t> </a:t>
            </a:r>
            <a:r>
              <a:rPr lang="en-US" dirty="0" err="1"/>
              <a:t>участников</a:t>
            </a:r>
            <a:r>
              <a:rPr lang="en-US" dirty="0"/>
              <a:t> </a:t>
            </a:r>
            <a:r>
              <a:rPr lang="en-US" dirty="0" err="1"/>
              <a:t>конкуренции</a:t>
            </a:r>
            <a:r>
              <a:rPr lang="en-US" dirty="0"/>
              <a:t> и </a:t>
            </a:r>
            <a:r>
              <a:rPr lang="en-US" dirty="0" err="1"/>
              <a:t>групповых</a:t>
            </a:r>
            <a:r>
              <a:rPr lang="en-US" dirty="0"/>
              <a:t> </a:t>
            </a:r>
            <a:r>
              <a:rPr lang="en-US" dirty="0" err="1"/>
              <a:t>настроек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— </a:t>
            </a:r>
            <a:r>
              <a:rPr lang="en-US" dirty="0" err="1"/>
              <a:t>системный</a:t>
            </a:r>
            <a:r>
              <a:rPr lang="en-US" dirty="0"/>
              <a:t> </a:t>
            </a:r>
            <a:r>
              <a:rPr lang="en-US" dirty="0" err="1"/>
              <a:t>вызов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sched_setscheduler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r>
              <a:rPr lang="en-US" dirty="0"/>
              <a:t>С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устанавливать</a:t>
            </a:r>
            <a:r>
              <a:rPr lang="en-US" dirty="0"/>
              <a:t> </a:t>
            </a:r>
            <a:r>
              <a:rPr lang="en-US" dirty="0" err="1"/>
              <a:t>поддерживаемую</a:t>
            </a:r>
            <a:r>
              <a:rPr lang="en-US" dirty="0"/>
              <a:t> </a:t>
            </a:r>
            <a:r>
              <a:rPr lang="en-US" dirty="0" err="1"/>
              <a:t>политику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 и </a:t>
            </a:r>
            <a:r>
              <a:rPr lang="en-US" dirty="0" err="1"/>
              <a:t>связанные</a:t>
            </a:r>
            <a:r>
              <a:rPr lang="en-US" dirty="0"/>
              <a:t> </a:t>
            </a:r>
            <a:r>
              <a:rPr lang="en-US" dirty="0" err="1"/>
              <a:t>параметры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выбирать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SCHED_FIFO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SCHED_RR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наличии</a:t>
            </a:r>
            <a:r>
              <a:rPr lang="en-US" dirty="0"/>
              <a:t> </a:t>
            </a:r>
            <a:r>
              <a:rPr lang="en-US" dirty="0" err="1"/>
              <a:t>необходимых</a:t>
            </a:r>
            <a:r>
              <a:rPr lang="en-US" dirty="0"/>
              <a:t> </a:t>
            </a:r>
            <a:r>
              <a:rPr lang="en-US" dirty="0" err="1"/>
              <a:t>прав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SCHED_DEADLINE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специализированный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sched_setattr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—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sched_setaffinity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определить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логических</a:t>
            </a:r>
            <a:r>
              <a:rPr lang="en-US" dirty="0"/>
              <a:t> </a:t>
            </a:r>
            <a:r>
              <a:rPr lang="en-US" dirty="0" err="1"/>
              <a:t>процессоров</a:t>
            </a:r>
            <a:r>
              <a:rPr lang="en-US" dirty="0"/>
              <a:t>,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которых</a:t>
            </a:r>
            <a:r>
              <a:rPr lang="en-US" dirty="0"/>
              <a:t> </a:t>
            </a:r>
            <a:r>
              <a:rPr lang="en-US" dirty="0" err="1"/>
              <a:t>разрешено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определённый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Наконец</a:t>
            </a:r>
            <a:r>
              <a:rPr lang="en-US" dirty="0"/>
              <a:t>,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dirty="0" err="1"/>
              <a:t>cgroups</a:t>
            </a:r>
            <a:r>
              <a:rPr lang="en-US" dirty="0"/>
              <a:t> </a:t>
            </a:r>
            <a:r>
              <a:rPr lang="en-US" dirty="0" err="1"/>
              <a:t>администратор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управлять</a:t>
            </a:r>
            <a:r>
              <a:rPr lang="en-US" dirty="0"/>
              <a:t> </a:t>
            </a:r>
            <a:r>
              <a:rPr lang="en-US" dirty="0" err="1"/>
              <a:t>распределением</a:t>
            </a:r>
            <a:r>
              <a:rPr lang="en-US" dirty="0"/>
              <a:t> </a:t>
            </a:r>
            <a:r>
              <a:rPr lang="en-US" dirty="0" err="1"/>
              <a:t>процессорных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группами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назначать</a:t>
            </a:r>
            <a:r>
              <a:rPr lang="en-US" dirty="0"/>
              <a:t> </a:t>
            </a:r>
            <a:r>
              <a:rPr lang="en-US" dirty="0" err="1"/>
              <a:t>группам</a:t>
            </a:r>
            <a:r>
              <a:rPr lang="en-US" dirty="0"/>
              <a:t> </a:t>
            </a:r>
            <a:r>
              <a:rPr lang="en-US" dirty="0" err="1"/>
              <a:t>относительные</a:t>
            </a:r>
            <a:r>
              <a:rPr lang="en-US" dirty="0"/>
              <a:t> </a:t>
            </a:r>
            <a:r>
              <a:rPr lang="en-US" dirty="0" err="1"/>
              <a:t>веса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устанавливать</a:t>
            </a:r>
            <a:r>
              <a:rPr lang="en-US" dirty="0"/>
              <a:t> </a:t>
            </a:r>
            <a:r>
              <a:rPr lang="en-US" dirty="0" err="1"/>
              <a:t>ограничения</a:t>
            </a:r>
            <a:r>
              <a:rPr lang="en-US" dirty="0"/>
              <a:t> </a:t>
            </a:r>
            <a:r>
              <a:rPr lang="en-US" dirty="0" err="1"/>
              <a:t>потребления</a:t>
            </a:r>
            <a:r>
              <a:rPr lang="en-US" dirty="0"/>
              <a:t> CPU.</a:t>
            </a:r>
          </a:p>
          <a:p>
            <a:endParaRPr lang="ru-RU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уточнение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Разделение</a:t>
            </a:r>
            <a:r>
              <a:rPr lang="en-US" dirty="0"/>
              <a:t> </a:t>
            </a:r>
            <a:r>
              <a:rPr lang="en-US" dirty="0" err="1"/>
              <a:t>политики</a:t>
            </a:r>
            <a:r>
              <a:rPr lang="en-US" dirty="0"/>
              <a:t> и </a:t>
            </a:r>
            <a:r>
              <a:rPr lang="en-US" dirty="0" err="1"/>
              <a:t>механизма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вся</a:t>
            </a:r>
            <a:r>
              <a:rPr lang="en-US" dirty="0"/>
              <a:t> </a:t>
            </a:r>
            <a:r>
              <a:rPr lang="en-US" dirty="0" err="1"/>
              <a:t>политика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в </a:t>
            </a:r>
            <a:r>
              <a:rPr lang="en-US" dirty="0" err="1"/>
              <a:t>приложении</a:t>
            </a:r>
            <a:r>
              <a:rPr lang="en-US" dirty="0"/>
              <a:t>, а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механически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реализует</a:t>
            </a:r>
            <a:r>
              <a:rPr lang="en-US" dirty="0"/>
              <a:t> </a:t>
            </a:r>
            <a:r>
              <a:rPr lang="en-US" dirty="0" err="1"/>
              <a:t>политики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, а </a:t>
            </a:r>
            <a:r>
              <a:rPr lang="en-US" dirty="0" err="1"/>
              <a:t>приложения</a:t>
            </a:r>
            <a:r>
              <a:rPr lang="en-US" dirty="0"/>
              <a:t> и </a:t>
            </a:r>
            <a:r>
              <a:rPr lang="en-US" dirty="0" err="1"/>
              <a:t>администраторы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выбирать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предоставленных</a:t>
            </a:r>
            <a:r>
              <a:rPr lang="en-US" dirty="0"/>
              <a:t> </a:t>
            </a:r>
            <a:r>
              <a:rPr lang="en-US" dirty="0" err="1"/>
              <a:t>возможностей</a:t>
            </a:r>
            <a:r>
              <a:rPr lang="en-US" dirty="0"/>
              <a:t> и </a:t>
            </a:r>
            <a:r>
              <a:rPr lang="en-US" dirty="0" err="1"/>
              <a:t>задавать</a:t>
            </a:r>
            <a:r>
              <a:rPr lang="en-US" dirty="0"/>
              <a:t> </a:t>
            </a:r>
            <a:r>
              <a:rPr lang="en-US" dirty="0" err="1"/>
              <a:t>параметры</a:t>
            </a:r>
            <a:r>
              <a:rPr lang="en-US" dirty="0"/>
              <a:t> в </a:t>
            </a:r>
            <a:r>
              <a:rPr lang="en-US" dirty="0" err="1"/>
              <a:t>пределах</a:t>
            </a:r>
            <a:r>
              <a:rPr lang="en-US" dirty="0"/>
              <a:t> </a:t>
            </a:r>
            <a:r>
              <a:rPr lang="en-US" dirty="0" err="1"/>
              <a:t>своих</a:t>
            </a:r>
            <a:r>
              <a:rPr lang="en-US" dirty="0"/>
              <a:t> </a:t>
            </a:r>
            <a:r>
              <a:rPr lang="en-US" dirty="0" err="1"/>
              <a:t>прав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Это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сохранять</a:t>
            </a:r>
            <a:r>
              <a:rPr lang="en-US" dirty="0"/>
              <a:t> </a:t>
            </a:r>
            <a:r>
              <a:rPr lang="en-US" dirty="0" err="1"/>
              <a:t>централизованный</a:t>
            </a:r>
            <a:r>
              <a:rPr lang="en-US" dirty="0"/>
              <a:t> </a:t>
            </a:r>
            <a:r>
              <a:rPr lang="en-US" dirty="0" err="1"/>
              <a:t>контроль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dirty="0" err="1"/>
              <a:t>ресурсами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адаптировать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к </a:t>
            </a:r>
            <a:r>
              <a:rPr lang="en-US" dirty="0" err="1"/>
              <a:t>требованиям</a:t>
            </a:r>
            <a:r>
              <a:rPr lang="en-US" dirty="0"/>
              <a:t> </a:t>
            </a:r>
            <a:r>
              <a:rPr lang="en-US" dirty="0" err="1"/>
              <a:t>конкретных</a:t>
            </a:r>
            <a:r>
              <a:rPr lang="en-US" dirty="0"/>
              <a:t> </a:t>
            </a:r>
            <a:r>
              <a:rPr lang="en-US" dirty="0" err="1"/>
              <a:t>приложений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29632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рассмотрели</a:t>
            </a:r>
            <a:r>
              <a:rPr lang="en-US" dirty="0"/>
              <a:t> </a:t>
            </a:r>
            <a:r>
              <a:rPr lang="en-US" dirty="0" err="1"/>
              <a:t>основные</a:t>
            </a:r>
            <a:r>
              <a:rPr lang="en-US" dirty="0"/>
              <a:t> </a:t>
            </a:r>
            <a:r>
              <a:rPr lang="en-US" dirty="0" err="1"/>
              <a:t>интерфейсы</a:t>
            </a:r>
            <a:r>
              <a:rPr lang="en-US" dirty="0"/>
              <a:t> </a:t>
            </a:r>
            <a:r>
              <a:rPr lang="en-US" dirty="0" err="1"/>
              <a:t>управления</a:t>
            </a:r>
            <a:r>
              <a:rPr lang="en-US" dirty="0"/>
              <a:t> </a:t>
            </a:r>
            <a:r>
              <a:rPr lang="en-US" dirty="0" err="1"/>
              <a:t>планированием</a:t>
            </a:r>
            <a:r>
              <a:rPr lang="en-US" dirty="0"/>
              <a:t> в Linux.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ими</a:t>
            </a:r>
            <a:r>
              <a:rPr lang="en-US" dirty="0"/>
              <a:t> </a:t>
            </a:r>
            <a:r>
              <a:rPr lang="en-US" dirty="0" err="1"/>
              <a:t>пользоваться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практике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начала</a:t>
            </a:r>
            <a:r>
              <a:rPr lang="en-US" dirty="0"/>
              <a:t> </a:t>
            </a:r>
            <a:r>
              <a:rPr lang="en-US" dirty="0" err="1"/>
              <a:t>откроем</a:t>
            </a:r>
            <a:r>
              <a:rPr lang="en-US" dirty="0"/>
              <a:t> </a:t>
            </a:r>
            <a:r>
              <a:rPr lang="en-US" dirty="0" err="1"/>
              <a:t>терминал</a:t>
            </a:r>
            <a:r>
              <a:rPr lang="en-US" dirty="0"/>
              <a:t> и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выполняются</a:t>
            </a:r>
            <a:r>
              <a:rPr lang="en-US" dirty="0"/>
              <a:t> в </a:t>
            </a:r>
            <a:r>
              <a:rPr lang="en-US" dirty="0" err="1"/>
              <a:t>системе</a:t>
            </a:r>
            <a:r>
              <a:rPr lang="en-US" dirty="0"/>
              <a:t>.</a:t>
            </a:r>
          </a:p>
          <a:p>
            <a:r>
              <a:rPr lang="en-US" dirty="0" err="1"/>
              <a:t>Воспользуемся</a:t>
            </a:r>
            <a:r>
              <a:rPr lang="en-US" dirty="0"/>
              <a:t> </a:t>
            </a:r>
            <a:r>
              <a:rPr lang="en-US" dirty="0" err="1"/>
              <a:t>командой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ps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данном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применяем</a:t>
            </a:r>
            <a:r>
              <a:rPr lang="en-US" dirty="0"/>
              <a:t> </a:t>
            </a:r>
            <a:r>
              <a:rPr lang="en-US" dirty="0" err="1"/>
              <a:t>параметры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показать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отдельные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.</a:t>
            </a:r>
          </a:p>
          <a:p>
            <a:r>
              <a:rPr lang="en-US" dirty="0"/>
              <a:t>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-o</a:t>
            </a:r>
            <a:r>
              <a:rPr lang="en-US" dirty="0"/>
              <a:t> </a:t>
            </a:r>
            <a:r>
              <a:rPr lang="en-US" dirty="0" err="1"/>
              <a:t>указываем</a:t>
            </a:r>
            <a:r>
              <a:rPr lang="en-US" dirty="0"/>
              <a:t> </a:t>
            </a:r>
            <a:r>
              <a:rPr lang="en-US" dirty="0" err="1"/>
              <a:t>интересующие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столбцы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</a:t>
            </a:r>
            <a:r>
              <a:rPr lang="en-US" dirty="0"/>
              <a:t> — </a:t>
            </a:r>
            <a:r>
              <a:rPr lang="en-US" dirty="0" err="1"/>
              <a:t>идентификатор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TID</a:t>
            </a:r>
            <a:r>
              <a:rPr lang="en-US" dirty="0"/>
              <a:t> — </a:t>
            </a:r>
            <a:r>
              <a:rPr lang="en-US" dirty="0" err="1"/>
              <a:t>идентификатор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. В </a:t>
            </a:r>
            <a:r>
              <a:rPr lang="en-US" dirty="0" err="1"/>
              <a:t>многопоточной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PID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соответствовать</a:t>
            </a:r>
            <a:r>
              <a:rPr lang="en-US" dirty="0"/>
              <a:t> </a:t>
            </a:r>
            <a:r>
              <a:rPr lang="en-US" dirty="0" err="1"/>
              <a:t>нескольким</a:t>
            </a:r>
            <a:r>
              <a:rPr lang="en-US" dirty="0"/>
              <a:t> </a:t>
            </a:r>
            <a:r>
              <a:rPr lang="en-US" dirty="0" err="1"/>
              <a:t>различным</a:t>
            </a:r>
            <a:r>
              <a:rPr lang="en-US" dirty="0"/>
              <a:t> TID.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CLS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NI</a:t>
            </a:r>
            <a:r>
              <a:rPr lang="en-US" dirty="0"/>
              <a:t> —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nice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PSR</a:t>
            </a:r>
            <a:r>
              <a:rPr lang="en-US" dirty="0"/>
              <a:t> — </a:t>
            </a:r>
            <a:r>
              <a:rPr lang="en-US" dirty="0" err="1"/>
              <a:t>номер</a:t>
            </a:r>
            <a:r>
              <a:rPr lang="en-US" dirty="0"/>
              <a:t> </a:t>
            </a:r>
            <a:r>
              <a:rPr lang="en-US" dirty="0" err="1"/>
              <a:t>логического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,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котором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выполнялся</a:t>
            </a:r>
            <a:r>
              <a:rPr lang="en-US" dirty="0"/>
              <a:t> в </a:t>
            </a:r>
            <a:r>
              <a:rPr lang="en-US" dirty="0" err="1"/>
              <a:t>последний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%CPU</a:t>
            </a:r>
            <a:r>
              <a:rPr lang="en-US" dirty="0"/>
              <a:t> — </a:t>
            </a:r>
            <a:r>
              <a:rPr lang="en-US" dirty="0" err="1"/>
              <a:t>показатель</a:t>
            </a:r>
            <a:r>
              <a:rPr lang="en-US" dirty="0"/>
              <a:t> </a:t>
            </a:r>
            <a:r>
              <a:rPr lang="en-US" dirty="0" err="1"/>
              <a:t>использования</a:t>
            </a:r>
            <a:r>
              <a:rPr lang="en-US" dirty="0"/>
              <a:t> </a:t>
            </a:r>
            <a:r>
              <a:rPr lang="en-US" dirty="0" err="1"/>
              <a:t>процессорного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ps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мгновенная</a:t>
            </a:r>
            <a:r>
              <a:rPr lang="en-US" dirty="0"/>
              <a:t> </a:t>
            </a:r>
            <a:r>
              <a:rPr lang="en-US" dirty="0" err="1"/>
              <a:t>нагрузка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удобнее</a:t>
            </a:r>
            <a:r>
              <a:rPr lang="en-US" dirty="0"/>
              <a:t> </a:t>
            </a:r>
            <a:r>
              <a:rPr lang="en-US" dirty="0" err="1"/>
              <a:t>наблюдать</a:t>
            </a:r>
            <a:r>
              <a:rPr lang="en-US" dirty="0"/>
              <a:t> в </a:t>
            </a:r>
            <a:r>
              <a:rPr lang="en-US" dirty="0" err="1"/>
              <a:t>динамике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попробуем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параметры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воспользуемся</a:t>
            </a:r>
            <a:r>
              <a:rPr lang="en-US" dirty="0"/>
              <a:t> </a:t>
            </a:r>
            <a:r>
              <a:rPr lang="en-US" dirty="0" err="1"/>
              <a:t>командой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nice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запустим</a:t>
            </a:r>
            <a:r>
              <a:rPr lang="en-US" dirty="0"/>
              <a:t> </a:t>
            </a:r>
            <a:r>
              <a:rPr lang="en-US" dirty="0" err="1"/>
              <a:t>вычислительную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значением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nice</a:t>
            </a:r>
            <a:r>
              <a:rPr lang="en-US" dirty="0"/>
              <a:t>, </a:t>
            </a:r>
            <a:r>
              <a:rPr lang="en-US" dirty="0" err="1"/>
              <a:t>равным</a:t>
            </a:r>
            <a:r>
              <a:rPr lang="en-US" dirty="0"/>
              <a:t> 10.</a:t>
            </a:r>
          </a:p>
          <a:p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умолчанию</a:t>
            </a:r>
            <a:r>
              <a:rPr lang="en-US" dirty="0"/>
              <a:t> </a:t>
            </a:r>
            <a:r>
              <a:rPr lang="en-US" dirty="0" err="1"/>
              <a:t>обычные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nice = 0</a:t>
            </a:r>
            <a:r>
              <a:rPr lang="en-US" dirty="0"/>
              <a:t>.</a:t>
            </a:r>
          </a:p>
          <a:p>
            <a:r>
              <a:rPr lang="en-US" dirty="0" err="1"/>
              <a:t>Повышая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nice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10,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уменьшаем</a:t>
            </a:r>
            <a:r>
              <a:rPr lang="en-US" dirty="0"/>
              <a:t> </a:t>
            </a:r>
            <a:r>
              <a:rPr lang="en-US" dirty="0" err="1"/>
              <a:t>относительный</a:t>
            </a:r>
            <a:r>
              <a:rPr lang="en-US" dirty="0"/>
              <a:t> </a:t>
            </a:r>
            <a:r>
              <a:rPr lang="en-US" dirty="0" err="1"/>
              <a:t>вес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в </a:t>
            </a:r>
            <a:r>
              <a:rPr lang="en-US" dirty="0" err="1"/>
              <a:t>справедливом</a:t>
            </a:r>
            <a:r>
              <a:rPr lang="en-US" dirty="0"/>
              <a:t> </a:t>
            </a:r>
            <a:r>
              <a:rPr lang="en-US" dirty="0" err="1"/>
              <a:t>планировании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увидеть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?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удобно</a:t>
            </a:r>
            <a:r>
              <a:rPr lang="en-US" dirty="0"/>
              <a:t> </a:t>
            </a:r>
            <a:r>
              <a:rPr lang="en-US" dirty="0" err="1"/>
              <a:t>запустить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выполняют</a:t>
            </a:r>
            <a:r>
              <a:rPr lang="en-US" dirty="0"/>
              <a:t> </a:t>
            </a:r>
            <a:r>
              <a:rPr lang="en-US" dirty="0" err="1"/>
              <a:t>вычисления</a:t>
            </a:r>
            <a:r>
              <a:rPr lang="en-US" dirty="0"/>
              <a:t> и </a:t>
            </a:r>
            <a:r>
              <a:rPr lang="en-US" dirty="0" err="1"/>
              <a:t>почти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блокируются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в </a:t>
            </a:r>
            <a:r>
              <a:rPr lang="en-US" dirty="0" err="1"/>
              <a:t>компьютере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 </a:t>
            </a:r>
            <a:r>
              <a:rPr lang="en-US" dirty="0" err="1"/>
              <a:t>ядер</a:t>
            </a:r>
            <a:r>
              <a:rPr lang="en-US" dirty="0"/>
              <a:t>,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отдельному</a:t>
            </a:r>
            <a:r>
              <a:rPr lang="en-US" dirty="0"/>
              <a:t> CPU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конкурировать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с </a:t>
            </a:r>
            <a:r>
              <a:rPr lang="en-US" dirty="0" err="1"/>
              <a:t>другом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в </a:t>
            </a:r>
            <a:r>
              <a:rPr lang="en-US" dirty="0" err="1"/>
              <a:t>компьютере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 </a:t>
            </a:r>
            <a:r>
              <a:rPr lang="en-US" dirty="0" err="1"/>
              <a:t>ядер</a:t>
            </a:r>
            <a:r>
              <a:rPr lang="en-US" dirty="0"/>
              <a:t>,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отдельному</a:t>
            </a:r>
            <a:r>
              <a:rPr lang="en-US" dirty="0"/>
              <a:t> CPU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конкурировать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с </a:t>
            </a:r>
            <a:r>
              <a:rPr lang="en-US" dirty="0" err="1"/>
              <a:t>другом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временно</a:t>
            </a:r>
            <a:r>
              <a:rPr lang="en-US" dirty="0"/>
              <a:t> </a:t>
            </a:r>
            <a:r>
              <a:rPr lang="en-US" dirty="0" err="1"/>
              <a:t>ограничим</a:t>
            </a:r>
            <a:r>
              <a:rPr lang="en-US" dirty="0"/>
              <a:t> </a:t>
            </a:r>
            <a:r>
              <a:rPr lang="en-US" dirty="0" err="1"/>
              <a:t>обе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одним</a:t>
            </a:r>
            <a:r>
              <a:rPr lang="en-US" dirty="0"/>
              <a:t> </a:t>
            </a:r>
            <a:r>
              <a:rPr lang="en-US" dirty="0" err="1"/>
              <a:t>логическим</a:t>
            </a:r>
            <a:r>
              <a:rPr lang="en-US" dirty="0"/>
              <a:t> </a:t>
            </a:r>
            <a:r>
              <a:rPr lang="en-US" dirty="0" err="1"/>
              <a:t>процессором</a:t>
            </a:r>
            <a:r>
              <a:rPr lang="en-US" dirty="0"/>
              <a:t>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taskset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Обе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конкурируют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CPU.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nice = 5</a:t>
            </a:r>
            <a:r>
              <a:rPr lang="en-US" dirty="0"/>
              <a:t>, а </a:t>
            </a:r>
            <a:r>
              <a:rPr lang="en-US" dirty="0" err="1"/>
              <a:t>другая</a:t>
            </a:r>
            <a:r>
              <a:rPr lang="en-US" dirty="0"/>
              <a:t> —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nice = 10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наблюдать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ними</a:t>
            </a:r>
            <a:r>
              <a:rPr lang="en-US" dirty="0"/>
              <a:t> </a:t>
            </a:r>
            <a:r>
              <a:rPr lang="en-US" dirty="0" err="1"/>
              <a:t>распределяется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увидеть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с </a:t>
            </a:r>
            <a:r>
              <a:rPr lang="en-US" dirty="0" err="1"/>
              <a:t>меньшим</a:t>
            </a:r>
            <a:r>
              <a:rPr lang="en-US" dirty="0"/>
              <a:t> </a:t>
            </a:r>
            <a:r>
              <a:rPr lang="en-US" dirty="0" err="1"/>
              <a:t>значением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nice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прочих</a:t>
            </a:r>
            <a:r>
              <a:rPr lang="en-US" dirty="0"/>
              <a:t> </a:t>
            </a:r>
            <a:r>
              <a:rPr lang="en-US" dirty="0" err="1"/>
              <a:t>равных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существенно</a:t>
            </a:r>
            <a:r>
              <a:rPr lang="en-US" dirty="0"/>
              <a:t> </a:t>
            </a:r>
            <a:r>
              <a:rPr lang="en-US" dirty="0" err="1"/>
              <a:t>большую</a:t>
            </a:r>
            <a:r>
              <a:rPr lang="en-US" dirty="0"/>
              <a:t> </a:t>
            </a:r>
            <a:r>
              <a:rPr lang="en-US" dirty="0" err="1"/>
              <a:t>долю</a:t>
            </a:r>
            <a:r>
              <a:rPr lang="en-US" dirty="0"/>
              <a:t> CPU.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25625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момента</a:t>
            </a:r>
            <a:r>
              <a:rPr lang="en-US" dirty="0"/>
              <a:t> </a:t>
            </a:r>
            <a:r>
              <a:rPr lang="en-US" dirty="0" err="1"/>
              <a:t>большинство</a:t>
            </a:r>
            <a:r>
              <a:rPr lang="en-US" dirty="0"/>
              <a:t> </a:t>
            </a:r>
            <a:r>
              <a:rPr lang="en-US" dirty="0" err="1"/>
              <a:t>наших</a:t>
            </a:r>
            <a:r>
              <a:rPr lang="en-US" dirty="0"/>
              <a:t> </a:t>
            </a:r>
            <a:r>
              <a:rPr lang="en-US" dirty="0" err="1"/>
              <a:t>примеров</a:t>
            </a:r>
            <a:r>
              <a:rPr lang="en-US" dirty="0"/>
              <a:t> </a:t>
            </a:r>
            <a:r>
              <a:rPr lang="en-US" dirty="0" err="1"/>
              <a:t>предполагало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у </a:t>
            </a:r>
            <a:r>
              <a:rPr lang="en-US" dirty="0" err="1"/>
              <a:t>компьютера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CPU.</a:t>
            </a:r>
          </a:p>
          <a:p>
            <a:endParaRPr lang="en-US" dirty="0"/>
          </a:p>
          <a:p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изучении</a:t>
            </a:r>
            <a:r>
              <a:rPr lang="en-US" dirty="0"/>
              <a:t> Round Robin и </a:t>
            </a:r>
            <a:r>
              <a:rPr lang="en-US" dirty="0" err="1"/>
              <a:t>справедливого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представляли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dirty="0" err="1"/>
              <a:t>готовых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и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,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которыми</a:t>
            </a:r>
            <a:r>
              <a:rPr lang="en-US" dirty="0"/>
              <a:t> </a:t>
            </a:r>
            <a:r>
              <a:rPr lang="en-US" dirty="0" err="1"/>
              <a:t>распределяется</a:t>
            </a:r>
            <a:r>
              <a:rPr lang="en-US" dirty="0"/>
              <a:t> </a:t>
            </a:r>
            <a:r>
              <a:rPr lang="en-US" dirty="0" err="1"/>
              <a:t>вычислительная</a:t>
            </a:r>
            <a:r>
              <a:rPr lang="en-US" dirty="0"/>
              <a:t> </a:t>
            </a:r>
            <a:r>
              <a:rPr lang="en-US" dirty="0" err="1"/>
              <a:t>работа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современные</a:t>
            </a:r>
            <a:r>
              <a:rPr lang="en-US" dirty="0"/>
              <a:t> </a:t>
            </a:r>
            <a:r>
              <a:rPr lang="en-US" dirty="0" err="1"/>
              <a:t>компьютеры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процессорных</a:t>
            </a:r>
            <a:r>
              <a:rPr lang="en-US" dirty="0"/>
              <a:t> </a:t>
            </a:r>
            <a:r>
              <a:rPr lang="en-US" dirty="0" err="1"/>
              <a:t>ядер</a:t>
            </a:r>
            <a:r>
              <a:rPr lang="en-US" dirty="0"/>
              <a:t>, а </a:t>
            </a:r>
            <a:r>
              <a:rPr lang="en-US" dirty="0" err="1"/>
              <a:t>некоторые</a:t>
            </a:r>
            <a:r>
              <a:rPr lang="en-US" dirty="0"/>
              <a:t> </a:t>
            </a:r>
            <a:r>
              <a:rPr lang="en-US" dirty="0" err="1"/>
              <a:t>процессоры</a:t>
            </a:r>
            <a:r>
              <a:rPr lang="en-US" dirty="0"/>
              <a:t>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поддерживают</a:t>
            </a:r>
            <a:r>
              <a:rPr lang="en-US" dirty="0"/>
              <a:t> </a:t>
            </a:r>
            <a:r>
              <a:rPr lang="en-US" dirty="0" err="1"/>
              <a:t>одновременное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аппаратных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ядре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результате</a:t>
            </a:r>
            <a:r>
              <a:rPr lang="en-US" dirty="0"/>
              <a:t>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видит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логических</a:t>
            </a:r>
            <a:r>
              <a:rPr lang="en-US" dirty="0"/>
              <a:t> CPU, </a:t>
            </a:r>
            <a:r>
              <a:rPr lang="en-US" dirty="0" err="1"/>
              <a:t>способных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программные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.</a:t>
            </a:r>
          </a:p>
          <a:p>
            <a:r>
              <a:rPr lang="en-US" dirty="0"/>
              <a:t>И у </a:t>
            </a:r>
            <a:r>
              <a:rPr lang="en-US" dirty="0" err="1"/>
              <a:t>планировщика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дополнительная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недостаточно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, </a:t>
            </a:r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 </a:t>
            </a:r>
            <a:r>
              <a:rPr lang="en-US" dirty="0" err="1"/>
              <a:t>следующим</a:t>
            </a:r>
            <a:r>
              <a:rPr lang="en-US" dirty="0"/>
              <a:t>.</a:t>
            </a:r>
          </a:p>
          <a:p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определить</a:t>
            </a:r>
            <a:r>
              <a:rPr lang="en-US" dirty="0"/>
              <a:t>,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каком</a:t>
            </a:r>
            <a:r>
              <a:rPr lang="en-US" dirty="0"/>
              <a:t> </a:t>
            </a:r>
            <a:r>
              <a:rPr lang="en-US" dirty="0" err="1"/>
              <a:t>логическом</a:t>
            </a:r>
            <a:r>
              <a:rPr lang="en-US" dirty="0"/>
              <a:t> </a:t>
            </a:r>
            <a:r>
              <a:rPr lang="en-US" dirty="0" err="1"/>
              <a:t>процессоре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следует</a:t>
            </a:r>
            <a:r>
              <a:rPr lang="en-US" dirty="0"/>
              <a:t> </a:t>
            </a:r>
            <a:r>
              <a:rPr lang="en-US" dirty="0" err="1"/>
              <a:t>запустить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Linux </a:t>
            </a:r>
            <a:r>
              <a:rPr lang="en-US" dirty="0" err="1"/>
              <a:t>планирование</a:t>
            </a:r>
            <a:r>
              <a:rPr lang="en-US" dirty="0"/>
              <a:t> </a:t>
            </a:r>
            <a:r>
              <a:rPr lang="en-US" dirty="0" err="1"/>
              <a:t>организовано</a:t>
            </a:r>
            <a:r>
              <a:rPr lang="en-US" dirty="0"/>
              <a:t> с </a:t>
            </a:r>
            <a:r>
              <a:rPr lang="en-US" dirty="0" err="1"/>
              <a:t>использованием</a:t>
            </a:r>
            <a:r>
              <a:rPr lang="en-US" dirty="0"/>
              <a:t> </a:t>
            </a:r>
            <a:r>
              <a:rPr lang="en-US" dirty="0" err="1"/>
              <a:t>отдельных</a:t>
            </a:r>
            <a:r>
              <a:rPr lang="en-US" dirty="0"/>
              <a:t> </a:t>
            </a:r>
            <a:r>
              <a:rPr lang="en-US" dirty="0" err="1"/>
              <a:t>структур</a:t>
            </a:r>
            <a:r>
              <a:rPr lang="en-US" dirty="0"/>
              <a:t> </a:t>
            </a:r>
            <a:r>
              <a:rPr lang="en-US" dirty="0" err="1"/>
              <a:t>очередей</a:t>
            </a:r>
            <a:r>
              <a:rPr lang="en-US" dirty="0"/>
              <a:t> </a:t>
            </a:r>
            <a:r>
              <a:rPr lang="en-US" dirty="0" err="1"/>
              <a:t>готовых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логического</a:t>
            </a:r>
            <a:r>
              <a:rPr lang="en-US" dirty="0"/>
              <a:t> CPU.</a:t>
            </a:r>
          </a:p>
          <a:p>
            <a:r>
              <a:rPr lang="en-US" dirty="0" err="1"/>
              <a:t>Упрощённо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представить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: у </a:t>
            </a:r>
            <a:r>
              <a:rPr lang="en-US" dirty="0" err="1"/>
              <a:t>каждого</a:t>
            </a:r>
            <a:r>
              <a:rPr lang="en-US" dirty="0"/>
              <a:t> CPU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своя</a:t>
            </a:r>
            <a:r>
              <a:rPr lang="en-US" dirty="0"/>
              <a:t>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,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выбирает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логических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 — CPU 0 и CPU 1.</a:t>
            </a:r>
          </a:p>
          <a:p>
            <a:r>
              <a:rPr lang="en-US" dirty="0" err="1"/>
              <a:t>На</a:t>
            </a:r>
            <a:r>
              <a:rPr lang="en-US" dirty="0"/>
              <a:t> CPU 0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A, а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, B и C, </a:t>
            </a:r>
            <a:r>
              <a:rPr lang="en-US" dirty="0" err="1"/>
              <a:t>ожидают</a:t>
            </a:r>
            <a:r>
              <a:rPr lang="en-US" dirty="0"/>
              <a:t> </a:t>
            </a:r>
            <a:r>
              <a:rPr lang="en-US" dirty="0" err="1"/>
              <a:t>процессорного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CPU 1 </a:t>
            </a:r>
            <a:r>
              <a:rPr lang="en-US" dirty="0" err="1"/>
              <a:t>простаивает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Очевидно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такая</a:t>
            </a:r>
            <a:r>
              <a:rPr lang="en-US" dirty="0"/>
              <a:t> </a:t>
            </a:r>
            <a:r>
              <a:rPr lang="en-US" dirty="0" err="1"/>
              <a:t>ситуация</a:t>
            </a:r>
            <a:r>
              <a:rPr lang="en-US" dirty="0"/>
              <a:t> </a:t>
            </a:r>
            <a:r>
              <a:rPr lang="en-US" dirty="0" err="1"/>
              <a:t>неэффективна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B и C </a:t>
            </a:r>
            <a:r>
              <a:rPr lang="en-US" dirty="0" err="1"/>
              <a:t>разрешено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втором</a:t>
            </a:r>
            <a:r>
              <a:rPr lang="en-US" dirty="0"/>
              <a:t> </a:t>
            </a:r>
            <a:r>
              <a:rPr lang="en-US" dirty="0" err="1"/>
              <a:t>процессоре</a:t>
            </a:r>
            <a:r>
              <a:rPr lang="en-US" dirty="0"/>
              <a:t>.</a:t>
            </a:r>
          </a:p>
          <a:p>
            <a:r>
              <a:rPr lang="en-US" dirty="0" err="1"/>
              <a:t>Зачем</a:t>
            </a:r>
            <a:r>
              <a:rPr lang="en-US" dirty="0"/>
              <a:t> </a:t>
            </a:r>
            <a:r>
              <a:rPr lang="en-US" dirty="0" err="1"/>
              <a:t>заставлять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готовых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</a:t>
            </a:r>
            <a:r>
              <a:rPr lang="en-US" dirty="0" err="1"/>
              <a:t>конкурировать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CPU 0, </a:t>
            </a:r>
            <a:r>
              <a:rPr lang="en-US" dirty="0" err="1"/>
              <a:t>когда</a:t>
            </a:r>
            <a:r>
              <a:rPr lang="en-US" dirty="0"/>
              <a:t> CPU 1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параллельно</a:t>
            </a:r>
            <a:r>
              <a:rPr lang="en-US" dirty="0"/>
              <a:t>?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современные</a:t>
            </a:r>
            <a:r>
              <a:rPr lang="en-US" dirty="0"/>
              <a:t> </a:t>
            </a:r>
            <a:r>
              <a:rPr lang="en-US" dirty="0" err="1"/>
              <a:t>планировщики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Load Balancing — </a:t>
            </a:r>
            <a:r>
              <a:rPr lang="en-US" dirty="0" err="1"/>
              <a:t>балансировку</a:t>
            </a:r>
            <a:r>
              <a:rPr lang="en-US" dirty="0"/>
              <a:t> </a:t>
            </a:r>
            <a:r>
              <a:rPr lang="en-US" dirty="0" err="1"/>
              <a:t>нагрузки</a:t>
            </a:r>
            <a:r>
              <a:rPr lang="en-US" dirty="0"/>
              <a:t>.</a:t>
            </a:r>
          </a:p>
          <a:p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перенести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готовых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с </a:t>
            </a:r>
            <a:r>
              <a:rPr lang="en-US" dirty="0" err="1"/>
              <a:t>перегруженного</a:t>
            </a:r>
            <a:r>
              <a:rPr lang="en-US" dirty="0"/>
              <a:t> CPU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менее</a:t>
            </a:r>
            <a:r>
              <a:rPr lang="en-US" dirty="0"/>
              <a:t> </a:t>
            </a:r>
            <a:r>
              <a:rPr lang="en-US" dirty="0" err="1"/>
              <a:t>загруженный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примере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 B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перенести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CPU 1.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A и B </a:t>
            </a:r>
            <a:r>
              <a:rPr lang="en-US" dirty="0" err="1"/>
              <a:t>будут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 </a:t>
            </a:r>
            <a:r>
              <a:rPr lang="en-US" dirty="0" err="1"/>
              <a:t>параллельно</a:t>
            </a:r>
            <a:r>
              <a:rPr lang="en-US" dirty="0"/>
              <a:t>, а C </a:t>
            </a:r>
            <a:r>
              <a:rPr lang="en-US" dirty="0" err="1"/>
              <a:t>продолжит</a:t>
            </a:r>
            <a:r>
              <a:rPr lang="en-US" dirty="0"/>
              <a:t> </a:t>
            </a:r>
            <a:r>
              <a:rPr lang="en-US" dirty="0" err="1"/>
              <a:t>ожидать</a:t>
            </a:r>
            <a:r>
              <a:rPr lang="en-US" dirty="0"/>
              <a:t> </a:t>
            </a:r>
            <a:r>
              <a:rPr lang="en-US" dirty="0" err="1"/>
              <a:t>процессорного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в </a:t>
            </a:r>
            <a:r>
              <a:rPr lang="en-US" dirty="0" err="1"/>
              <a:t>реальности</a:t>
            </a:r>
            <a:r>
              <a:rPr lang="en-US" dirty="0"/>
              <a:t> </a:t>
            </a:r>
            <a:r>
              <a:rPr lang="en-US" dirty="0" err="1"/>
              <a:t>балансировка</a:t>
            </a:r>
            <a:r>
              <a:rPr lang="en-US" dirty="0"/>
              <a:t> </a:t>
            </a:r>
            <a:r>
              <a:rPr lang="en-US" dirty="0" err="1"/>
              <a:t>значительно</a:t>
            </a:r>
            <a:r>
              <a:rPr lang="en-US" dirty="0"/>
              <a:t> </a:t>
            </a:r>
            <a:r>
              <a:rPr lang="en-US" dirty="0" err="1"/>
              <a:t>сложнее</a:t>
            </a:r>
            <a:r>
              <a:rPr lang="en-US" dirty="0"/>
              <a:t>.</a:t>
            </a:r>
          </a:p>
          <a:p>
            <a:r>
              <a:rPr lang="en-US" dirty="0" err="1"/>
              <a:t>Во-первых</a:t>
            </a:r>
            <a:r>
              <a:rPr lang="en-US" dirty="0"/>
              <a:t>, </a:t>
            </a:r>
            <a:r>
              <a:rPr lang="en-US" dirty="0" err="1"/>
              <a:t>процессорные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отличаться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производительности</a:t>
            </a:r>
            <a:r>
              <a:rPr lang="en-US" dirty="0"/>
              <a:t> и </a:t>
            </a:r>
            <a:r>
              <a:rPr lang="en-US" dirty="0" err="1"/>
              <a:t>энергопотреблению</a:t>
            </a:r>
            <a:r>
              <a:rPr lang="en-US" dirty="0"/>
              <a:t>.</a:t>
            </a:r>
          </a:p>
          <a:p>
            <a:r>
              <a:rPr lang="en-US" dirty="0" err="1"/>
              <a:t>Во-вторых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логические</a:t>
            </a:r>
            <a:r>
              <a:rPr lang="en-US" dirty="0"/>
              <a:t> CPU </a:t>
            </a:r>
            <a:r>
              <a:rPr lang="en-US" dirty="0" err="1"/>
              <a:t>независимы</a:t>
            </a:r>
            <a:r>
              <a:rPr lang="en-US" dirty="0"/>
              <a:t>: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аппаратные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физического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разделять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вычислительных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.</a:t>
            </a:r>
          </a:p>
          <a:p>
            <a:r>
              <a:rPr lang="en-US" dirty="0"/>
              <a:t>В-</a:t>
            </a:r>
            <a:r>
              <a:rPr lang="en-US" dirty="0" err="1"/>
              <a:t>третьих</a:t>
            </a:r>
            <a:r>
              <a:rPr lang="en-US" dirty="0"/>
              <a:t>, </a:t>
            </a:r>
            <a:r>
              <a:rPr lang="en-US" dirty="0" err="1"/>
              <a:t>перемещение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CPU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приводить</a:t>
            </a:r>
            <a:r>
              <a:rPr lang="en-US" dirty="0"/>
              <a:t> к </a:t>
            </a:r>
            <a:r>
              <a:rPr lang="en-US" dirty="0" err="1"/>
              <a:t>дополнительным</a:t>
            </a:r>
            <a:r>
              <a:rPr lang="en-US" dirty="0"/>
              <a:t> </a:t>
            </a:r>
            <a:r>
              <a:rPr lang="en-US" dirty="0" err="1"/>
              <a:t>расходам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с </a:t>
            </a:r>
            <a:r>
              <a:rPr lang="en-US" dirty="0" err="1"/>
              <a:t>кэшами</a:t>
            </a:r>
            <a:r>
              <a:rPr lang="en-US" dirty="0"/>
              <a:t> и </a:t>
            </a:r>
            <a:r>
              <a:rPr lang="en-US" dirty="0" err="1"/>
              <a:t>памятью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приложению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разрешено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определённых</a:t>
            </a:r>
            <a:r>
              <a:rPr lang="en-US" dirty="0"/>
              <a:t> CPU.</a:t>
            </a:r>
          </a:p>
          <a:p>
            <a:r>
              <a:rPr lang="en-US" dirty="0" err="1"/>
              <a:t>Поэтому</a:t>
            </a:r>
            <a:r>
              <a:rPr lang="en-US" dirty="0"/>
              <a:t> Linux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информацию</a:t>
            </a:r>
            <a:r>
              <a:rPr lang="en-US" dirty="0"/>
              <a:t> о </a:t>
            </a:r>
            <a:r>
              <a:rPr lang="en-US" dirty="0" err="1"/>
              <a:t>топологии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 и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называемые</a:t>
            </a:r>
            <a:r>
              <a:rPr lang="en-US" dirty="0"/>
              <a:t> Scheduling Domains — </a:t>
            </a:r>
            <a:r>
              <a:rPr lang="en-US" dirty="0" err="1"/>
              <a:t>группы</a:t>
            </a:r>
            <a:r>
              <a:rPr lang="en-US" dirty="0"/>
              <a:t> CPU,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которых</a:t>
            </a:r>
            <a:r>
              <a:rPr lang="en-US" dirty="0"/>
              <a:t> </a:t>
            </a:r>
            <a:r>
              <a:rPr lang="en-US" dirty="0" err="1"/>
              <a:t>организуется</a:t>
            </a:r>
            <a:r>
              <a:rPr lang="en-US" dirty="0"/>
              <a:t> </a:t>
            </a:r>
            <a:r>
              <a:rPr lang="en-US" dirty="0" err="1"/>
              <a:t>балансировка</a:t>
            </a:r>
            <a:r>
              <a:rPr lang="en-US" dirty="0"/>
              <a:t> </a:t>
            </a:r>
            <a:r>
              <a:rPr lang="en-US" dirty="0" err="1"/>
              <a:t>нагрузки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Перенос </a:t>
            </a:r>
            <a:r>
              <a:rPr lang="en-US" dirty="0" err="1"/>
              <a:t>задач</a:t>
            </a:r>
            <a:r>
              <a:rPr lang="en-US" dirty="0"/>
              <a:t> </a:t>
            </a:r>
            <a:r>
              <a:rPr lang="en-US" dirty="0" err="1"/>
              <a:t>возможен</a:t>
            </a:r>
            <a:r>
              <a:rPr lang="en-US" dirty="0"/>
              <a:t> в </a:t>
            </a:r>
            <a:r>
              <a:rPr lang="en-US" dirty="0" err="1"/>
              <a:t>пределах</a:t>
            </a:r>
            <a:r>
              <a:rPr lang="en-US" dirty="0"/>
              <a:t> </a:t>
            </a:r>
            <a:r>
              <a:rPr lang="en-US" dirty="0" err="1"/>
              <a:t>действующих</a:t>
            </a:r>
            <a:r>
              <a:rPr lang="en-US" dirty="0"/>
              <a:t> </a:t>
            </a:r>
            <a:r>
              <a:rPr lang="en-US" dirty="0" err="1"/>
              <a:t>ограничений</a:t>
            </a:r>
            <a:r>
              <a:rPr lang="en-US" dirty="0"/>
              <a:t>, </a:t>
            </a:r>
            <a:r>
              <a:rPr lang="en-US" dirty="0" err="1"/>
              <a:t>включая</a:t>
            </a:r>
            <a:r>
              <a:rPr lang="en-US" dirty="0"/>
              <a:t> CPU Affinity и </a:t>
            </a:r>
            <a:r>
              <a:rPr lang="en-US" dirty="0" err="1"/>
              <a:t>cpusets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многоядерное</a:t>
            </a:r>
            <a:r>
              <a:rPr lang="en-US" dirty="0"/>
              <a:t> </a:t>
            </a:r>
            <a:r>
              <a:rPr lang="en-US" dirty="0" err="1"/>
              <a:t>планирование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компромисс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равномерным</a:t>
            </a:r>
            <a:r>
              <a:rPr lang="en-US" dirty="0"/>
              <a:t> </a:t>
            </a:r>
            <a:r>
              <a:rPr lang="en-US" dirty="0" err="1"/>
              <a:t>распределением</a:t>
            </a:r>
            <a:r>
              <a:rPr lang="en-US" dirty="0"/>
              <a:t> </a:t>
            </a:r>
            <a:r>
              <a:rPr lang="en-US" dirty="0" err="1"/>
              <a:t>нагрузки</a:t>
            </a:r>
            <a:r>
              <a:rPr lang="en-US" dirty="0"/>
              <a:t> и </a:t>
            </a:r>
            <a:r>
              <a:rPr lang="en-US" dirty="0" err="1"/>
              <a:t>стоимостью</a:t>
            </a:r>
            <a:r>
              <a:rPr lang="en-US" dirty="0"/>
              <a:t> </a:t>
            </a:r>
            <a:r>
              <a:rPr lang="en-US" dirty="0" err="1"/>
              <a:t>перемещения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подробнее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выгоднее</a:t>
            </a:r>
            <a:r>
              <a:rPr lang="en-US" dirty="0"/>
              <a:t> </a:t>
            </a:r>
            <a:r>
              <a:rPr lang="en-US" dirty="0" err="1"/>
              <a:t>оставить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прежнем</a:t>
            </a:r>
            <a:r>
              <a:rPr lang="en-US" dirty="0"/>
              <a:t> </a:t>
            </a:r>
            <a:r>
              <a:rPr lang="en-US" dirty="0" err="1"/>
              <a:t>процессоре</a:t>
            </a:r>
            <a:r>
              <a:rPr lang="en-US" dirty="0"/>
              <a:t>,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CPU </a:t>
            </a:r>
            <a:r>
              <a:rPr lang="en-US" dirty="0" err="1"/>
              <a:t>свободен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64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выяснили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Linux </a:t>
            </a:r>
            <a:r>
              <a:rPr lang="en-US" dirty="0" err="1"/>
              <a:t>старается</a:t>
            </a:r>
            <a:r>
              <a:rPr lang="en-US" dirty="0"/>
              <a:t> </a:t>
            </a:r>
            <a:r>
              <a:rPr lang="en-US" dirty="0" err="1"/>
              <a:t>распределять</a:t>
            </a:r>
            <a:r>
              <a:rPr lang="en-US" dirty="0"/>
              <a:t> </a:t>
            </a:r>
            <a:r>
              <a:rPr lang="en-US" dirty="0" err="1"/>
              <a:t>нагрузку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доступными</a:t>
            </a:r>
            <a:r>
              <a:rPr lang="en-US" dirty="0"/>
              <a:t> CPU.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перемещать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любой</a:t>
            </a:r>
            <a:r>
              <a:rPr lang="en-US" dirty="0"/>
              <a:t> </a:t>
            </a:r>
            <a:r>
              <a:rPr lang="en-US" dirty="0" err="1"/>
              <a:t>свободный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?</a:t>
            </a:r>
          </a:p>
          <a:p>
            <a:r>
              <a:rPr lang="en-US" dirty="0" err="1"/>
              <a:t>Оказывается</a:t>
            </a:r>
            <a:r>
              <a:rPr lang="en-US" dirty="0"/>
              <a:t>,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эффективен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 </a:t>
            </a:r>
            <a:r>
              <a:rPr lang="en-US" dirty="0" err="1"/>
              <a:t>причину</a:t>
            </a:r>
            <a:r>
              <a:rPr lang="en-US" dirty="0"/>
              <a:t>, </a:t>
            </a:r>
            <a:r>
              <a:rPr lang="en-US" dirty="0" err="1"/>
              <a:t>вспомним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устроена</a:t>
            </a:r>
            <a:r>
              <a:rPr lang="en-US" dirty="0"/>
              <a:t> </a:t>
            </a:r>
            <a:r>
              <a:rPr lang="en-US" dirty="0" err="1"/>
              <a:t>процессорная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.</a:t>
            </a:r>
          </a:p>
          <a:p>
            <a:r>
              <a:rPr lang="en-US" dirty="0" err="1"/>
              <a:t>Современные</a:t>
            </a:r>
            <a:r>
              <a:rPr lang="en-US" dirty="0"/>
              <a:t> </a:t>
            </a:r>
            <a:r>
              <a:rPr lang="en-US" dirty="0" err="1"/>
              <a:t>процессоры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уровней</a:t>
            </a:r>
            <a:r>
              <a:rPr lang="en-US" dirty="0"/>
              <a:t> </a:t>
            </a:r>
            <a:r>
              <a:rPr lang="en-US" dirty="0" err="1"/>
              <a:t>кэш-памяти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определённом</a:t>
            </a:r>
            <a:r>
              <a:rPr lang="en-US" dirty="0"/>
              <a:t> </a:t>
            </a:r>
            <a:r>
              <a:rPr lang="en-US" dirty="0" err="1"/>
              <a:t>ядре</a:t>
            </a:r>
            <a:r>
              <a:rPr lang="en-US" dirty="0"/>
              <a:t>,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используемых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и </a:t>
            </a:r>
            <a:r>
              <a:rPr lang="en-US" dirty="0" err="1"/>
              <a:t>инструкций</a:t>
            </a:r>
            <a:r>
              <a:rPr lang="en-US" dirty="0"/>
              <a:t> </a:t>
            </a:r>
            <a:r>
              <a:rPr lang="en-US" dirty="0" err="1"/>
              <a:t>постепенно</a:t>
            </a:r>
            <a:r>
              <a:rPr lang="en-US" dirty="0"/>
              <a:t> </a:t>
            </a:r>
            <a:r>
              <a:rPr lang="en-US" dirty="0" err="1"/>
              <a:t>оказывается</a:t>
            </a:r>
            <a:r>
              <a:rPr lang="en-US" dirty="0"/>
              <a:t> в </a:t>
            </a:r>
            <a:r>
              <a:rPr lang="en-US" dirty="0" err="1"/>
              <a:t>кэшах</a:t>
            </a:r>
            <a:r>
              <a:rPr lang="en-US" dirty="0"/>
              <a:t>, </a:t>
            </a:r>
            <a:r>
              <a:rPr lang="en-US" dirty="0" err="1"/>
              <a:t>доступных</a:t>
            </a:r>
            <a:r>
              <a:rPr lang="en-US" dirty="0"/>
              <a:t> </a:t>
            </a:r>
            <a:r>
              <a:rPr lang="en-US" dirty="0" err="1"/>
              <a:t>этому</a:t>
            </a:r>
            <a:r>
              <a:rPr lang="en-US" dirty="0"/>
              <a:t> </a:t>
            </a:r>
            <a:r>
              <a:rPr lang="en-US" dirty="0" err="1"/>
              <a:t>ядру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A </a:t>
            </a:r>
            <a:r>
              <a:rPr lang="en-US" dirty="0" err="1"/>
              <a:t>долгое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выполнялся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CPU 0.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неоднократно</a:t>
            </a:r>
            <a:r>
              <a:rPr lang="en-US" dirty="0"/>
              <a:t> </a:t>
            </a:r>
            <a:r>
              <a:rPr lang="en-US" dirty="0" err="1"/>
              <a:t>обращался</a:t>
            </a:r>
            <a:r>
              <a:rPr lang="en-US" dirty="0"/>
              <a:t> к </a:t>
            </a:r>
            <a:r>
              <a:rPr lang="en-US" dirty="0" err="1"/>
              <a:t>одним</a:t>
            </a:r>
            <a:r>
              <a:rPr lang="en-US" dirty="0"/>
              <a:t> и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структурам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</a:p>
          <a:p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в </a:t>
            </a:r>
            <a:r>
              <a:rPr lang="en-US" dirty="0" err="1"/>
              <a:t>кэше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en-US" dirty="0"/>
              <a:t> </a:t>
            </a:r>
            <a:r>
              <a:rPr lang="en-US" dirty="0" err="1"/>
              <a:t>перенести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A </a:t>
            </a:r>
            <a:r>
              <a:rPr lang="en-US" dirty="0" err="1"/>
              <a:t>на</a:t>
            </a:r>
            <a:r>
              <a:rPr lang="en-US" dirty="0"/>
              <a:t> CPU 1.</a:t>
            </a:r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новом</a:t>
            </a:r>
            <a:r>
              <a:rPr lang="en-US" dirty="0"/>
              <a:t> </a:t>
            </a:r>
            <a:r>
              <a:rPr lang="en-US" dirty="0" err="1"/>
              <a:t>процессоре</a:t>
            </a:r>
            <a:r>
              <a:rPr lang="en-US" dirty="0"/>
              <a:t> </a:t>
            </a:r>
            <a:r>
              <a:rPr lang="en-US" dirty="0" err="1"/>
              <a:t>нужных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в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локальном</a:t>
            </a:r>
            <a:r>
              <a:rPr lang="en-US" dirty="0"/>
              <a:t> </a:t>
            </a:r>
            <a:r>
              <a:rPr lang="en-US" dirty="0" err="1"/>
              <a:t>кэше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оказаться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продолжении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dirty="0" err="1"/>
              <a:t>потоку</a:t>
            </a:r>
            <a:r>
              <a:rPr lang="en-US" dirty="0"/>
              <a:t> </a:t>
            </a:r>
            <a:r>
              <a:rPr lang="en-US" dirty="0" err="1"/>
              <a:t>потребуется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получать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других</a:t>
            </a:r>
            <a:r>
              <a:rPr lang="en-US" dirty="0"/>
              <a:t> </a:t>
            </a:r>
            <a:r>
              <a:rPr lang="en-US" dirty="0" err="1"/>
              <a:t>уровней</a:t>
            </a:r>
            <a:r>
              <a:rPr lang="en-US" dirty="0"/>
              <a:t> </a:t>
            </a:r>
            <a:r>
              <a:rPr lang="en-US" dirty="0" err="1"/>
              <a:t>кэш-памяти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оперативной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привести</a:t>
            </a:r>
            <a:r>
              <a:rPr lang="en-US" dirty="0"/>
              <a:t> к </a:t>
            </a:r>
            <a:r>
              <a:rPr lang="en-US" dirty="0" err="1"/>
              <a:t>дополнительным</a:t>
            </a:r>
            <a:r>
              <a:rPr lang="en-US" dirty="0"/>
              <a:t> </a:t>
            </a:r>
            <a:r>
              <a:rPr lang="en-US" dirty="0" err="1"/>
              <a:t>задержкам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миграция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приводит</a:t>
            </a:r>
            <a:r>
              <a:rPr lang="en-US" dirty="0"/>
              <a:t> к </a:t>
            </a:r>
            <a:r>
              <a:rPr lang="en-US" dirty="0" err="1"/>
              <a:t>физическому</a:t>
            </a:r>
            <a:r>
              <a:rPr lang="en-US" dirty="0"/>
              <a:t> </a:t>
            </a:r>
            <a:r>
              <a:rPr lang="en-US" dirty="0" err="1"/>
              <a:t>очищению</a:t>
            </a:r>
            <a:r>
              <a:rPr lang="en-US" dirty="0"/>
              <a:t> </a:t>
            </a:r>
            <a:r>
              <a:rPr lang="en-US" dirty="0" err="1"/>
              <a:t>кэша</a:t>
            </a:r>
            <a:r>
              <a:rPr lang="en-US" dirty="0"/>
              <a:t>.</a:t>
            </a:r>
          </a:p>
          <a:p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оставаться</a:t>
            </a:r>
            <a:r>
              <a:rPr lang="en-US" dirty="0"/>
              <a:t> в </a:t>
            </a:r>
            <a:r>
              <a:rPr lang="en-US" dirty="0" err="1"/>
              <a:t>кэше</a:t>
            </a:r>
            <a:r>
              <a:rPr lang="en-US" dirty="0"/>
              <a:t> </a:t>
            </a:r>
            <a:r>
              <a:rPr lang="en-US" dirty="0" err="1"/>
              <a:t>старого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, а </a:t>
            </a:r>
            <a:r>
              <a:rPr lang="en-US" dirty="0" err="1"/>
              <a:t>новый</a:t>
            </a:r>
            <a:r>
              <a:rPr lang="en-US" dirty="0"/>
              <a:t> CPU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общие</a:t>
            </a:r>
            <a:r>
              <a:rPr lang="en-US" dirty="0"/>
              <a:t> </a:t>
            </a:r>
            <a:r>
              <a:rPr lang="en-US" dirty="0" err="1"/>
              <a:t>уровни</a:t>
            </a:r>
            <a:r>
              <a:rPr lang="en-US" dirty="0"/>
              <a:t> </a:t>
            </a:r>
            <a:r>
              <a:rPr lang="en-US" dirty="0" err="1"/>
              <a:t>кэш-памяти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прежняя</a:t>
            </a:r>
            <a:r>
              <a:rPr lang="en-US" dirty="0"/>
              <a:t> </a:t>
            </a:r>
            <a:r>
              <a:rPr lang="en-US" dirty="0" err="1"/>
              <a:t>локальность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частично</a:t>
            </a:r>
            <a:r>
              <a:rPr lang="en-US" dirty="0"/>
              <a:t> </a:t>
            </a:r>
            <a:r>
              <a:rPr lang="en-US" dirty="0" err="1"/>
              <a:t>потеряна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многопроцессорных</a:t>
            </a:r>
            <a:r>
              <a:rPr lang="en-US" dirty="0"/>
              <a:t> </a:t>
            </a:r>
            <a:r>
              <a:rPr lang="en-US" dirty="0" err="1"/>
              <a:t>серверах</a:t>
            </a:r>
            <a:r>
              <a:rPr lang="en-US" dirty="0"/>
              <a:t> </a:t>
            </a:r>
            <a:r>
              <a:rPr lang="en-US" dirty="0" err="1"/>
              <a:t>добавляется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фактор</a:t>
            </a:r>
            <a:r>
              <a:rPr lang="en-US" dirty="0"/>
              <a:t> — NUMA, Non-Uniform Memory Access.</a:t>
            </a:r>
          </a:p>
          <a:p>
            <a:r>
              <a:rPr lang="en-US" dirty="0"/>
              <a:t>В </a:t>
            </a:r>
            <a:r>
              <a:rPr lang="en-US" dirty="0" err="1"/>
              <a:t>таких</a:t>
            </a:r>
            <a:r>
              <a:rPr lang="en-US" dirty="0"/>
              <a:t> </a:t>
            </a:r>
            <a:r>
              <a:rPr lang="en-US" dirty="0" err="1"/>
              <a:t>системах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 к </a:t>
            </a:r>
            <a:r>
              <a:rPr lang="en-US" dirty="0" err="1"/>
              <a:t>памяти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каком</a:t>
            </a:r>
            <a:r>
              <a:rPr lang="en-US" dirty="0"/>
              <a:t> </a:t>
            </a:r>
            <a:r>
              <a:rPr lang="en-US" dirty="0" err="1"/>
              <a:t>процессоре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и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физически</a:t>
            </a:r>
            <a:r>
              <a:rPr lang="en-US" dirty="0"/>
              <a:t> </a:t>
            </a:r>
            <a:r>
              <a:rPr lang="en-US" dirty="0" err="1"/>
              <a:t>расположены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перемещение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процессорами</a:t>
            </a:r>
            <a:r>
              <a:rPr lang="en-US" dirty="0"/>
              <a:t>, </a:t>
            </a:r>
            <a:r>
              <a:rPr lang="en-US" dirty="0" err="1"/>
              <a:t>принадлежащими</a:t>
            </a:r>
            <a:r>
              <a:rPr lang="en-US" dirty="0"/>
              <a:t> </a:t>
            </a:r>
            <a:r>
              <a:rPr lang="en-US" dirty="0" err="1"/>
              <a:t>разным</a:t>
            </a:r>
            <a:r>
              <a:rPr lang="en-US" dirty="0"/>
              <a:t> NUMA-</a:t>
            </a:r>
            <a:r>
              <a:rPr lang="en-US" dirty="0" err="1"/>
              <a:t>узлам</a:t>
            </a:r>
            <a:r>
              <a:rPr lang="en-US" dirty="0"/>
              <a:t>,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увеличить</a:t>
            </a:r>
            <a:r>
              <a:rPr lang="en-US" dirty="0"/>
              <a:t> </a:t>
            </a:r>
            <a:r>
              <a:rPr lang="en-US" dirty="0" err="1"/>
              <a:t>задержки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 к </a:t>
            </a:r>
            <a:r>
              <a:rPr lang="en-US" dirty="0" err="1"/>
              <a:t>памяти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Получается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учитывать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противоречащих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.</a:t>
            </a:r>
          </a:p>
          <a:p>
            <a:r>
              <a:rPr lang="en-US" dirty="0"/>
              <a:t>С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стороны</a:t>
            </a:r>
            <a:r>
              <a:rPr lang="en-US" dirty="0"/>
              <a:t>, </a:t>
            </a:r>
            <a:r>
              <a:rPr lang="en-US" dirty="0" err="1"/>
              <a:t>желательно</a:t>
            </a:r>
            <a:r>
              <a:rPr lang="en-US" dirty="0"/>
              <a:t> </a:t>
            </a:r>
            <a:r>
              <a:rPr lang="en-US" dirty="0" err="1"/>
              <a:t>равномерно</a:t>
            </a:r>
            <a:r>
              <a:rPr lang="en-US" dirty="0"/>
              <a:t> </a:t>
            </a:r>
            <a:r>
              <a:rPr lang="en-US" dirty="0" err="1"/>
              <a:t>загружать</a:t>
            </a:r>
            <a:r>
              <a:rPr lang="en-US" dirty="0"/>
              <a:t> </a:t>
            </a:r>
            <a:r>
              <a:rPr lang="en-US" dirty="0" err="1"/>
              <a:t>процессоры</a:t>
            </a:r>
            <a:r>
              <a:rPr lang="en-US" dirty="0"/>
              <a:t>.</a:t>
            </a:r>
          </a:p>
          <a:p>
            <a:r>
              <a:rPr lang="en-US" dirty="0"/>
              <a:t>С </a:t>
            </a:r>
            <a:r>
              <a:rPr lang="en-US" dirty="0" err="1"/>
              <a:t>другой</a:t>
            </a:r>
            <a:r>
              <a:rPr lang="en-US" dirty="0"/>
              <a:t> —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сохранять</a:t>
            </a:r>
            <a:r>
              <a:rPr lang="en-US" dirty="0"/>
              <a:t> </a:t>
            </a:r>
            <a:r>
              <a:rPr lang="en-US" dirty="0" err="1"/>
              <a:t>локальность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Linux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CPU Affinity.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задать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логических</a:t>
            </a:r>
            <a:r>
              <a:rPr lang="en-US" dirty="0"/>
              <a:t> CPU,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которых</a:t>
            </a:r>
            <a:r>
              <a:rPr lang="en-US" dirty="0"/>
              <a:t> </a:t>
            </a:r>
            <a:r>
              <a:rPr lang="en-US" dirty="0" err="1"/>
              <a:t>разрешено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taskset -c 0,1 ./app</a:t>
            </a:r>
          </a:p>
          <a:p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запускает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 с </a:t>
            </a:r>
            <a:r>
              <a:rPr lang="en-US" dirty="0" err="1"/>
              <a:t>ограничением</a:t>
            </a:r>
            <a:r>
              <a:rPr lang="en-US" dirty="0"/>
              <a:t> </a:t>
            </a:r>
            <a:r>
              <a:rPr lang="en-US" dirty="0" err="1"/>
              <a:t>допустимых</a:t>
            </a:r>
            <a:r>
              <a:rPr lang="en-US" dirty="0"/>
              <a:t> </a:t>
            </a:r>
            <a:r>
              <a:rPr lang="en-US" dirty="0" err="1"/>
              <a:t>логических</a:t>
            </a:r>
            <a:r>
              <a:rPr lang="en-US" dirty="0"/>
              <a:t> CPU </a:t>
            </a:r>
            <a:r>
              <a:rPr lang="en-US" dirty="0" err="1"/>
              <a:t>номерами</a:t>
            </a:r>
            <a:r>
              <a:rPr lang="en-US" dirty="0"/>
              <a:t> 0 и 1.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CPU 0,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CPU 1.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самостоятельно</a:t>
            </a:r>
            <a:r>
              <a:rPr lang="en-US" dirty="0"/>
              <a:t> </a:t>
            </a:r>
            <a:r>
              <a:rPr lang="en-US" dirty="0" err="1"/>
              <a:t>выбирает</a:t>
            </a:r>
            <a:r>
              <a:rPr lang="en-US" dirty="0"/>
              <a:t> CPU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разрешённого</a:t>
            </a:r>
            <a:r>
              <a:rPr lang="en-US" dirty="0"/>
              <a:t> </a:t>
            </a:r>
            <a:r>
              <a:rPr lang="en-US" dirty="0" err="1"/>
              <a:t>набора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разрешить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CPU 0,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указать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taskset -c 0 ./app</a:t>
            </a:r>
          </a:p>
          <a:p>
            <a:endParaRPr lang="en-US" dirty="0"/>
          </a:p>
          <a:p>
            <a:r>
              <a:rPr lang="en-US" dirty="0"/>
              <a:t>А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аналогичное</a:t>
            </a:r>
            <a:r>
              <a:rPr lang="en-US" dirty="0"/>
              <a:t> </a:t>
            </a:r>
            <a:r>
              <a:rPr lang="en-US" dirty="0" err="1"/>
              <a:t>ограничение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установить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системный</a:t>
            </a:r>
            <a:r>
              <a:rPr lang="en-US" dirty="0"/>
              <a:t> </a:t>
            </a:r>
            <a:r>
              <a:rPr lang="en-US" dirty="0" err="1"/>
              <a:t>вызов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sched_setaffinity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жёсткая</a:t>
            </a:r>
            <a:r>
              <a:rPr lang="en-US" dirty="0"/>
              <a:t> </a:t>
            </a:r>
            <a:r>
              <a:rPr lang="en-US" dirty="0" err="1"/>
              <a:t>привязка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улучшает</a:t>
            </a:r>
            <a:r>
              <a:rPr lang="en-US" dirty="0"/>
              <a:t> </a:t>
            </a:r>
            <a:r>
              <a:rPr lang="en-US" dirty="0" err="1"/>
              <a:t>производительность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Представьте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привязали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активно</a:t>
            </a:r>
            <a:r>
              <a:rPr lang="en-US" dirty="0"/>
              <a:t> </a:t>
            </a:r>
            <a:r>
              <a:rPr lang="en-US" dirty="0" err="1"/>
              <a:t>вычисляющих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к </a:t>
            </a:r>
            <a:r>
              <a:rPr lang="en-US" dirty="0" err="1"/>
              <a:t>одному</a:t>
            </a:r>
            <a:r>
              <a:rPr lang="en-US" dirty="0"/>
              <a:t> </a:t>
            </a:r>
            <a:r>
              <a:rPr lang="en-US" dirty="0" err="1"/>
              <a:t>ядру</a:t>
            </a:r>
            <a:r>
              <a:rPr lang="en-US" dirty="0"/>
              <a:t>.</a:t>
            </a:r>
          </a:p>
          <a:p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будут</a:t>
            </a:r>
            <a:r>
              <a:rPr lang="en-US" dirty="0"/>
              <a:t> </a:t>
            </a:r>
            <a:r>
              <a:rPr lang="en-US" dirty="0" err="1"/>
              <a:t>конкурировать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CPU,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разрешённые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 </a:t>
            </a:r>
            <a:r>
              <a:rPr lang="en-US" dirty="0" err="1"/>
              <a:t>простаивают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в </a:t>
            </a:r>
            <a:r>
              <a:rPr lang="en-US" dirty="0" err="1"/>
              <a:t>большинстве</a:t>
            </a:r>
            <a:r>
              <a:rPr lang="en-US" dirty="0"/>
              <a:t> </a:t>
            </a:r>
            <a:r>
              <a:rPr lang="en-US" dirty="0" err="1"/>
              <a:t>обычных</a:t>
            </a:r>
            <a:r>
              <a:rPr lang="en-US" dirty="0"/>
              <a:t> </a:t>
            </a:r>
            <a:r>
              <a:rPr lang="en-US" dirty="0" err="1"/>
              <a:t>приложений</a:t>
            </a:r>
            <a:r>
              <a:rPr lang="en-US" dirty="0"/>
              <a:t> </a:t>
            </a:r>
            <a:r>
              <a:rPr lang="en-US" dirty="0" err="1"/>
              <a:t>лучше</a:t>
            </a:r>
            <a:r>
              <a:rPr lang="en-US" dirty="0"/>
              <a:t> </a:t>
            </a:r>
            <a:r>
              <a:rPr lang="en-US" dirty="0" err="1"/>
              <a:t>позволять</a:t>
            </a:r>
            <a:r>
              <a:rPr lang="en-US" dirty="0"/>
              <a:t> </a:t>
            </a:r>
            <a:r>
              <a:rPr lang="en-US" dirty="0" err="1"/>
              <a:t>планировщику</a:t>
            </a:r>
            <a:r>
              <a:rPr lang="en-US" dirty="0"/>
              <a:t> </a:t>
            </a:r>
            <a:r>
              <a:rPr lang="en-US" dirty="0" err="1"/>
              <a:t>самостоятельно</a:t>
            </a:r>
            <a:r>
              <a:rPr lang="en-US" dirty="0"/>
              <a:t> </a:t>
            </a:r>
            <a:r>
              <a:rPr lang="en-US" dirty="0" err="1"/>
              <a:t>выбирать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Явное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 CPU Affinity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разработчик</a:t>
            </a:r>
            <a:r>
              <a:rPr lang="en-US" dirty="0"/>
              <a:t> </a:t>
            </a:r>
            <a:r>
              <a:rPr lang="en-US" dirty="0" err="1"/>
              <a:t>понимает</a:t>
            </a:r>
            <a:r>
              <a:rPr lang="en-US" dirty="0"/>
              <a:t> </a:t>
            </a:r>
            <a:r>
              <a:rPr lang="en-US" dirty="0" err="1"/>
              <a:t>особенности</a:t>
            </a:r>
            <a:r>
              <a:rPr lang="en-US" dirty="0"/>
              <a:t> </a:t>
            </a:r>
            <a:r>
              <a:rPr lang="en-US" dirty="0" err="1"/>
              <a:t>нагрузки</a:t>
            </a:r>
            <a:r>
              <a:rPr lang="en-US" dirty="0"/>
              <a:t> и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проверить</a:t>
            </a:r>
            <a:r>
              <a:rPr lang="en-US" dirty="0"/>
              <a:t> </a:t>
            </a:r>
            <a:r>
              <a:rPr lang="en-US" dirty="0" err="1"/>
              <a:t>эффективность</a:t>
            </a:r>
            <a:r>
              <a:rPr lang="en-US" dirty="0"/>
              <a:t> </a:t>
            </a:r>
            <a:r>
              <a:rPr lang="en-US" dirty="0" err="1"/>
              <a:t>выбранного</a:t>
            </a:r>
            <a:r>
              <a:rPr lang="en-US" dirty="0"/>
              <a:t> </a:t>
            </a:r>
            <a:r>
              <a:rPr lang="en-US" dirty="0" err="1"/>
              <a:t>размещения</a:t>
            </a:r>
            <a:r>
              <a:rPr lang="en-US" dirty="0"/>
              <a:t>.</a:t>
            </a:r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максимальная</a:t>
            </a:r>
            <a:r>
              <a:rPr lang="en-US" dirty="0"/>
              <a:t> </a:t>
            </a:r>
            <a:r>
              <a:rPr lang="en-US" dirty="0" err="1"/>
              <a:t>равномерность</a:t>
            </a:r>
            <a:r>
              <a:rPr lang="en-US" dirty="0"/>
              <a:t> </a:t>
            </a:r>
            <a:r>
              <a:rPr lang="en-US" dirty="0" err="1"/>
              <a:t>загрузки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 </a:t>
            </a:r>
            <a:r>
              <a:rPr lang="en-US" dirty="0" err="1"/>
              <a:t>максимальную</a:t>
            </a:r>
            <a:r>
              <a:rPr lang="en-US" dirty="0"/>
              <a:t> </a:t>
            </a:r>
            <a:r>
              <a:rPr lang="en-US" dirty="0" err="1"/>
              <a:t>производительность</a:t>
            </a:r>
            <a:r>
              <a:rPr lang="en-US" dirty="0"/>
              <a:t>.</a:t>
            </a:r>
          </a:p>
          <a:p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учитывать</a:t>
            </a:r>
            <a:r>
              <a:rPr lang="en-US" dirty="0"/>
              <a:t> </a:t>
            </a:r>
            <a:r>
              <a:rPr lang="en-US" dirty="0" err="1"/>
              <a:t>локальность</a:t>
            </a:r>
            <a:r>
              <a:rPr lang="en-US" dirty="0"/>
              <a:t> </a:t>
            </a:r>
            <a:r>
              <a:rPr lang="en-US" dirty="0" err="1"/>
              <a:t>кэшей</a:t>
            </a:r>
            <a:r>
              <a:rPr lang="en-US" dirty="0"/>
              <a:t>, </a:t>
            </a:r>
            <a:r>
              <a:rPr lang="en-US" dirty="0" err="1"/>
              <a:t>расположение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и </a:t>
            </a:r>
            <a:r>
              <a:rPr lang="en-US" dirty="0" err="1"/>
              <a:t>стоимость</a:t>
            </a:r>
            <a:r>
              <a:rPr lang="en-US" dirty="0"/>
              <a:t> </a:t>
            </a:r>
            <a:r>
              <a:rPr lang="en-US" dirty="0" err="1"/>
              <a:t>миграции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.</a:t>
            </a:r>
          </a:p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сих</a:t>
            </a:r>
            <a:r>
              <a:rPr lang="en-US" dirty="0"/>
              <a:t> </a:t>
            </a:r>
            <a:r>
              <a:rPr lang="en-US" dirty="0" err="1"/>
              <a:t>пор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говорили</a:t>
            </a:r>
            <a:r>
              <a:rPr lang="en-US" dirty="0"/>
              <a:t> о </a:t>
            </a:r>
            <a:r>
              <a:rPr lang="en-US" dirty="0" err="1"/>
              <a:t>планировании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ядром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произойдёт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приложение</a:t>
            </a:r>
            <a:r>
              <a:rPr lang="en-US" dirty="0"/>
              <a:t> </a:t>
            </a:r>
            <a:r>
              <a:rPr lang="en-US" dirty="0" err="1"/>
              <a:t>само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и </a:t>
            </a:r>
            <a:r>
              <a:rPr lang="en-US" dirty="0" err="1"/>
              <a:t>планирует</a:t>
            </a:r>
            <a:r>
              <a:rPr lang="en-US" dirty="0"/>
              <a:t> </a:t>
            </a:r>
            <a:r>
              <a:rPr lang="en-US" dirty="0" err="1"/>
              <a:t>собственные</a:t>
            </a:r>
            <a:r>
              <a:rPr lang="en-US" dirty="0"/>
              <a:t> </a:t>
            </a:r>
            <a:r>
              <a:rPr lang="en-US" dirty="0" err="1"/>
              <a:t>пользовательские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38033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</a:t>
            </a:r>
            <a:r>
              <a:rPr lang="en-US" dirty="0" err="1"/>
              <a:t>вернёмся</a:t>
            </a:r>
            <a:r>
              <a:rPr lang="en-US" dirty="0"/>
              <a:t> к </a:t>
            </a:r>
            <a:r>
              <a:rPr lang="en-US" dirty="0" err="1"/>
              <a:t>теме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, </a:t>
            </a:r>
            <a:r>
              <a:rPr lang="en-US" dirty="0" err="1"/>
              <a:t>которую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изучали</a:t>
            </a:r>
            <a:r>
              <a:rPr lang="en-US" dirty="0"/>
              <a:t> </a:t>
            </a:r>
            <a:r>
              <a:rPr lang="en-US" dirty="0" err="1"/>
              <a:t>ранее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знаем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существуют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уровня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 и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уровня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.</a:t>
            </a:r>
          </a:p>
          <a:p>
            <a:r>
              <a:rPr lang="ru-RU" dirty="0"/>
              <a:t>К</a:t>
            </a:r>
            <a:r>
              <a:rPr lang="en-US" dirty="0" err="1"/>
              <a:t>ак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планирование</a:t>
            </a:r>
            <a:r>
              <a:rPr lang="en-US" dirty="0"/>
              <a:t> </a:t>
            </a:r>
            <a:r>
              <a:rPr lang="en-US" dirty="0" err="1"/>
              <a:t>связано</a:t>
            </a:r>
            <a:r>
              <a:rPr lang="en-US" dirty="0"/>
              <a:t> с </a:t>
            </a:r>
            <a:r>
              <a:rPr lang="en-US" dirty="0" err="1"/>
              <a:t>тем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разобрали</a:t>
            </a:r>
            <a:r>
              <a:rPr lang="en-US" dirty="0"/>
              <a:t>?</a:t>
            </a:r>
          </a:p>
          <a:p>
            <a:endParaRPr lang="ru-RU" dirty="0"/>
          </a:p>
          <a:p>
            <a:r>
              <a:rPr lang="en-US" dirty="0" err="1"/>
              <a:t>Начнём</a:t>
            </a:r>
            <a:r>
              <a:rPr lang="en-US" dirty="0"/>
              <a:t> с </a:t>
            </a:r>
            <a:r>
              <a:rPr lang="en-US" dirty="0" err="1"/>
              <a:t>обычных</a:t>
            </a:r>
            <a:r>
              <a:rPr lang="en-US" dirty="0"/>
              <a:t> </a:t>
            </a:r>
            <a:r>
              <a:rPr lang="en-US" dirty="0" err="1"/>
              <a:t>системных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.</a:t>
            </a:r>
          </a:p>
          <a:p>
            <a:r>
              <a:rPr lang="en-US" dirty="0"/>
              <a:t>В Linux </a:t>
            </a:r>
            <a:r>
              <a:rPr lang="en-US" dirty="0" err="1"/>
              <a:t>стандартная</a:t>
            </a:r>
            <a:r>
              <a:rPr lang="en-US" dirty="0"/>
              <a:t> </a:t>
            </a:r>
            <a:r>
              <a:rPr lang="en-US" dirty="0" err="1"/>
              <a:t>реализация</a:t>
            </a:r>
            <a:r>
              <a:rPr lang="en-US" dirty="0"/>
              <a:t> POSIX Threads — NPTL (Native </a:t>
            </a:r>
            <a:r>
              <a:rPr lang="en-US" dirty="0" err="1"/>
              <a:t>Posix</a:t>
            </a:r>
            <a:r>
              <a:rPr lang="en-US" dirty="0"/>
              <a:t> Threads Library) —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1:1.</a:t>
            </a:r>
          </a:p>
          <a:p>
            <a:r>
              <a:rPr lang="en-US" dirty="0"/>
              <a:t>Это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каждому</a:t>
            </a:r>
            <a:r>
              <a:rPr lang="en-US" dirty="0"/>
              <a:t> </a:t>
            </a:r>
            <a:r>
              <a:rPr lang="en-US" dirty="0" err="1"/>
              <a:t>пользовательскому</a:t>
            </a:r>
            <a:r>
              <a:rPr lang="en-US" dirty="0"/>
              <a:t> </a:t>
            </a:r>
            <a:r>
              <a:rPr lang="en-US" dirty="0" err="1"/>
              <a:t>потоку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pthread</a:t>
            </a:r>
            <a:r>
              <a:rPr lang="en-US" dirty="0"/>
              <a:t> </a:t>
            </a:r>
            <a:r>
              <a:rPr lang="en-US" dirty="0" err="1"/>
              <a:t>соответствует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планируемый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создаём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std::thread</a:t>
            </a:r>
            <a:r>
              <a:rPr lang="en-US" dirty="0"/>
              <a:t> в </a:t>
            </a:r>
            <a:r>
              <a:rPr lang="en-US" dirty="0" err="1"/>
              <a:t>обычной</a:t>
            </a:r>
            <a:r>
              <a:rPr lang="en-US" dirty="0"/>
              <a:t> C++-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под</a:t>
            </a:r>
            <a:r>
              <a:rPr lang="en-US" dirty="0"/>
              <a:t> Linux,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реализуется</a:t>
            </a:r>
            <a:r>
              <a:rPr lang="en-US" dirty="0"/>
              <a:t> с </a:t>
            </a:r>
            <a:r>
              <a:rPr lang="en-US" dirty="0" err="1"/>
              <a:t>использованием</a:t>
            </a:r>
            <a:r>
              <a:rPr lang="en-US" dirty="0"/>
              <a:t> </a:t>
            </a:r>
            <a:r>
              <a:rPr lang="en-US" dirty="0" err="1"/>
              <a:t>системных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создала</a:t>
            </a:r>
            <a:r>
              <a:rPr lang="en-US" dirty="0"/>
              <a:t> </a:t>
            </a:r>
            <a:r>
              <a:rPr lang="en-US" dirty="0" err="1"/>
              <a:t>пять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std::thread</a:t>
            </a:r>
            <a:r>
              <a:rPr lang="en-US" dirty="0"/>
              <a:t>,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пять</a:t>
            </a:r>
            <a:r>
              <a:rPr lang="en-US" dirty="0"/>
              <a:t> </a:t>
            </a:r>
            <a:r>
              <a:rPr lang="en-US" dirty="0" err="1"/>
              <a:t>отдельных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 </a:t>
            </a:r>
            <a:r>
              <a:rPr lang="en-US" dirty="0" err="1"/>
              <a:t>распределять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CPU.</a:t>
            </a:r>
          </a:p>
          <a:p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собственное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, и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вытеснять</a:t>
            </a:r>
            <a:r>
              <a:rPr lang="en-US" dirty="0"/>
              <a:t>, </a:t>
            </a:r>
            <a:r>
              <a:rPr lang="en-US" dirty="0" err="1"/>
              <a:t>блокировать</a:t>
            </a:r>
            <a:r>
              <a:rPr lang="en-US" dirty="0"/>
              <a:t> и </a:t>
            </a:r>
            <a:r>
              <a:rPr lang="en-US" dirty="0" err="1"/>
              <a:t>возобновлять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вспомним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существуют</a:t>
            </a:r>
            <a:r>
              <a:rPr lang="en-US" dirty="0"/>
              <a:t> и </a:t>
            </a:r>
            <a:r>
              <a:rPr lang="en-US" dirty="0" err="1"/>
              <a:t>пользовательские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приложение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библиотеку</a:t>
            </a:r>
            <a:r>
              <a:rPr lang="en-US" dirty="0"/>
              <a:t> </a:t>
            </a:r>
            <a:r>
              <a:rPr lang="en-US" dirty="0" err="1"/>
              <a:t>корутин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переключения</a:t>
            </a:r>
            <a:r>
              <a:rPr lang="en-US" dirty="0"/>
              <a:t> </a:t>
            </a:r>
            <a:r>
              <a:rPr lang="en-US" dirty="0" err="1"/>
              <a:t>контекстов</a:t>
            </a:r>
            <a:r>
              <a:rPr lang="en-US" dirty="0"/>
              <a:t> в </a:t>
            </a:r>
            <a:r>
              <a:rPr lang="en-US" dirty="0" err="1"/>
              <a:t>пользовательском</a:t>
            </a:r>
            <a:r>
              <a:rPr lang="en-US" dirty="0"/>
              <a:t> </a:t>
            </a:r>
            <a:r>
              <a:rPr lang="en-US" dirty="0" err="1"/>
              <a:t>пространстве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о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задаче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наша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создала</a:t>
            </a:r>
            <a:r>
              <a:rPr lang="en-US" dirty="0"/>
              <a:t> </a:t>
            </a:r>
            <a:r>
              <a:rPr lang="en-US" dirty="0" err="1"/>
              <a:t>четыре</a:t>
            </a:r>
            <a:r>
              <a:rPr lang="en-US" dirty="0"/>
              <a:t> </a:t>
            </a:r>
            <a:r>
              <a:rPr lang="en-US" dirty="0" err="1"/>
              <a:t>пользовательских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— Fiber A, B, C и D.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системных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.</a:t>
            </a:r>
          </a:p>
          <a:p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собственный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en-US" dirty="0"/>
              <a:t>, </a:t>
            </a:r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пользовательский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каком</a:t>
            </a:r>
            <a:r>
              <a:rPr lang="en-US" dirty="0"/>
              <a:t> </a:t>
            </a:r>
            <a:r>
              <a:rPr lang="en-US" dirty="0" err="1"/>
              <a:t>системном</a:t>
            </a:r>
            <a:r>
              <a:rPr lang="en-US" dirty="0"/>
              <a:t> </a:t>
            </a:r>
            <a:r>
              <a:rPr lang="en-US" dirty="0" err="1"/>
              <a:t>рабочем</a:t>
            </a:r>
            <a:r>
              <a:rPr lang="en-US" dirty="0"/>
              <a:t> </a:t>
            </a:r>
            <a:r>
              <a:rPr lang="en-US" dirty="0" err="1"/>
              <a:t>потоке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планировщик</a:t>
            </a:r>
            <a:r>
              <a:rPr lang="en-US" dirty="0"/>
              <a:t> Linux </a:t>
            </a:r>
            <a:r>
              <a:rPr lang="en-US" dirty="0" err="1"/>
              <a:t>распределяет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процессорами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системных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уровня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.</a:t>
            </a:r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первом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 </a:t>
            </a:r>
            <a:r>
              <a:rPr lang="en-US" dirty="0" err="1"/>
              <a:t>выбирает</a:t>
            </a:r>
            <a:r>
              <a:rPr lang="en-US" dirty="0"/>
              <a:t> </a:t>
            </a:r>
            <a:r>
              <a:rPr lang="en-US" dirty="0" err="1"/>
              <a:t>пользовательскую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.</a:t>
            </a:r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втором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выбирает</a:t>
            </a:r>
            <a:r>
              <a:rPr lang="en-US" dirty="0"/>
              <a:t>, </a:t>
            </a:r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системный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получит</a:t>
            </a:r>
            <a:r>
              <a:rPr lang="en-US" dirty="0"/>
              <a:t> CPU.</a:t>
            </a:r>
          </a:p>
          <a:p>
            <a:endParaRPr lang="en-US" dirty="0"/>
          </a:p>
          <a:p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возможных</a:t>
            </a:r>
            <a:r>
              <a:rPr lang="en-US" dirty="0"/>
              <a:t> </a:t>
            </a:r>
            <a:r>
              <a:rPr lang="en-US" dirty="0" err="1"/>
              <a:t>вариантов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</a:t>
            </a:r>
            <a:r>
              <a:rPr lang="en-US" dirty="0" err="1"/>
              <a:t>называется</a:t>
            </a:r>
            <a:r>
              <a:rPr lang="en-US" dirty="0"/>
              <a:t> M:N — </a:t>
            </a:r>
            <a:r>
              <a:rPr lang="en-US" dirty="0" err="1"/>
              <a:t>множество</a:t>
            </a:r>
            <a:r>
              <a:rPr lang="en-US" dirty="0"/>
              <a:t> </a:t>
            </a:r>
            <a:r>
              <a:rPr lang="en-US" dirty="0" err="1"/>
              <a:t>пользовательских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поверх</a:t>
            </a:r>
            <a:r>
              <a:rPr lang="en-US" dirty="0"/>
              <a:t> </a:t>
            </a:r>
            <a:r>
              <a:rPr lang="en-US" dirty="0" err="1"/>
              <a:t>некоторого</a:t>
            </a:r>
            <a:r>
              <a:rPr lang="en-US" dirty="0"/>
              <a:t> </a:t>
            </a:r>
            <a:r>
              <a:rPr lang="en-US" dirty="0" err="1"/>
              <a:t>количества</a:t>
            </a:r>
            <a:r>
              <a:rPr lang="en-US" dirty="0"/>
              <a:t> </a:t>
            </a:r>
            <a:r>
              <a:rPr lang="en-US" dirty="0" err="1"/>
              <a:t>системных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полезно</a:t>
            </a:r>
            <a:r>
              <a:rPr lang="en-US" dirty="0"/>
              <a:t>?</a:t>
            </a:r>
          </a:p>
          <a:p>
            <a:r>
              <a:rPr lang="en-US" dirty="0" err="1"/>
              <a:t>Переключение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пользовательскими</a:t>
            </a:r>
            <a:r>
              <a:rPr lang="en-US" dirty="0"/>
              <a:t> </a:t>
            </a:r>
            <a:r>
              <a:rPr lang="en-US" dirty="0" err="1"/>
              <a:t>корутинами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fibers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обходится</a:t>
            </a:r>
            <a:r>
              <a:rPr lang="en-US" dirty="0"/>
              <a:t> </a:t>
            </a:r>
            <a:r>
              <a:rPr lang="en-US" dirty="0" err="1"/>
              <a:t>дешевле</a:t>
            </a:r>
            <a:r>
              <a:rPr lang="en-US" dirty="0"/>
              <a:t> </a:t>
            </a:r>
            <a:r>
              <a:rPr lang="en-US" dirty="0" err="1"/>
              <a:t>полноценного</a:t>
            </a:r>
            <a:r>
              <a:rPr lang="en-US" dirty="0"/>
              <a:t> </a:t>
            </a:r>
            <a:r>
              <a:rPr lang="en-US" dirty="0" err="1"/>
              <a:t>переключения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системными</a:t>
            </a:r>
            <a:r>
              <a:rPr lang="en-US" dirty="0"/>
              <a:t> </a:t>
            </a:r>
            <a:r>
              <a:rPr lang="en-US" dirty="0" err="1"/>
              <a:t>потоками</a:t>
            </a:r>
            <a:r>
              <a:rPr lang="en-US" dirty="0"/>
              <a:t>.</a:t>
            </a:r>
          </a:p>
          <a:p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приложение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собственную</a:t>
            </a:r>
            <a:r>
              <a:rPr lang="en-US" dirty="0"/>
              <a:t> </a:t>
            </a:r>
            <a:r>
              <a:rPr lang="en-US" dirty="0" err="1"/>
              <a:t>политику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сервер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отдавать</a:t>
            </a:r>
            <a:r>
              <a:rPr lang="en-US" dirty="0"/>
              <a:t> </a:t>
            </a:r>
            <a:r>
              <a:rPr lang="en-US" dirty="0" err="1"/>
              <a:t>предпочтение</a:t>
            </a:r>
            <a:r>
              <a:rPr lang="en-US" dirty="0"/>
              <a:t> </a:t>
            </a:r>
            <a:r>
              <a:rPr lang="en-US" dirty="0" err="1"/>
              <a:t>обработке</a:t>
            </a:r>
            <a:r>
              <a:rPr lang="en-US" dirty="0"/>
              <a:t> </a:t>
            </a:r>
            <a:r>
              <a:rPr lang="en-US" dirty="0" err="1"/>
              <a:t>определённых</a:t>
            </a:r>
            <a:r>
              <a:rPr lang="en-US" dirty="0"/>
              <a:t> </a:t>
            </a:r>
            <a:r>
              <a:rPr lang="en-US" dirty="0" err="1"/>
              <a:t>запросов</a:t>
            </a:r>
            <a:r>
              <a:rPr lang="en-US" dirty="0"/>
              <a:t>, </a:t>
            </a:r>
            <a:r>
              <a:rPr lang="en-US" dirty="0" err="1"/>
              <a:t>запускать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готовности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реализовать</a:t>
            </a:r>
            <a:r>
              <a:rPr lang="en-US" dirty="0"/>
              <a:t> </a:t>
            </a:r>
            <a:r>
              <a:rPr lang="en-US" dirty="0" err="1"/>
              <a:t>собственную</a:t>
            </a:r>
            <a:r>
              <a:rPr lang="en-US" dirty="0"/>
              <a:t>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dirty="0" err="1"/>
              <a:t>приоритетов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у </a:t>
            </a:r>
            <a:r>
              <a:rPr lang="en-US" dirty="0" err="1"/>
              <a:t>пользовательского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ограничения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приложение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кооперативное</a:t>
            </a:r>
            <a:r>
              <a:rPr lang="en-US" dirty="0"/>
              <a:t> </a:t>
            </a:r>
            <a:r>
              <a:rPr lang="en-US" dirty="0" err="1"/>
              <a:t>переключение</a:t>
            </a:r>
            <a:r>
              <a:rPr lang="en-US" dirty="0"/>
              <a:t>,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добровольно</a:t>
            </a:r>
            <a:r>
              <a:rPr lang="en-US" dirty="0"/>
              <a:t> </a:t>
            </a:r>
            <a:r>
              <a:rPr lang="en-US" dirty="0" err="1"/>
              <a:t>передавать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планировщику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такая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начнёт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бесконечный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передачи</a:t>
            </a:r>
            <a:r>
              <a:rPr lang="en-US" dirty="0"/>
              <a:t> </a:t>
            </a:r>
            <a:r>
              <a:rPr lang="en-US" dirty="0" err="1"/>
              <a:t>управления</a:t>
            </a:r>
            <a:r>
              <a:rPr lang="en-US" dirty="0"/>
              <a:t>,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пользовательские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, </a:t>
            </a:r>
            <a:r>
              <a:rPr lang="en-US" dirty="0" err="1"/>
              <a:t>назначенные</a:t>
            </a:r>
            <a:r>
              <a:rPr lang="en-US" dirty="0"/>
              <a:t> </a:t>
            </a:r>
            <a:r>
              <a:rPr lang="en-US" dirty="0" err="1"/>
              <a:t>тому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рабочему</a:t>
            </a:r>
            <a:r>
              <a:rPr lang="en-US" dirty="0"/>
              <a:t> </a:t>
            </a:r>
            <a:r>
              <a:rPr lang="en-US" dirty="0" err="1"/>
              <a:t>потоку</a:t>
            </a:r>
            <a:r>
              <a:rPr lang="en-US" dirty="0"/>
              <a:t>,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перестать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.</a:t>
            </a:r>
          </a:p>
          <a:p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блокирующий</a:t>
            </a:r>
            <a:r>
              <a:rPr lang="en-US" dirty="0"/>
              <a:t> </a:t>
            </a:r>
            <a:r>
              <a:rPr lang="en-US" dirty="0" err="1"/>
              <a:t>системный</a:t>
            </a:r>
            <a:r>
              <a:rPr lang="en-US" dirty="0"/>
              <a:t> </a:t>
            </a:r>
            <a:r>
              <a:rPr lang="en-US" dirty="0" err="1"/>
              <a:t>вызов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заблокировать</a:t>
            </a:r>
            <a:r>
              <a:rPr lang="en-US" dirty="0"/>
              <a:t> </a:t>
            </a:r>
            <a:r>
              <a:rPr lang="en-US" dirty="0" err="1"/>
              <a:t>весь</a:t>
            </a:r>
            <a:r>
              <a:rPr lang="en-US" dirty="0"/>
              <a:t> </a:t>
            </a:r>
            <a:r>
              <a:rPr lang="en-US" dirty="0" err="1"/>
              <a:t>системный</a:t>
            </a:r>
            <a:r>
              <a:rPr lang="en-US" dirty="0"/>
              <a:t> </a:t>
            </a:r>
            <a:r>
              <a:rPr lang="en-US" dirty="0" err="1"/>
              <a:t>рабочий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остановит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приложение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имеются</a:t>
            </a:r>
            <a:r>
              <a:rPr lang="en-US" dirty="0"/>
              <a:t>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системные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уменьшит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доступных</a:t>
            </a:r>
            <a:r>
              <a:rPr lang="en-US" dirty="0"/>
              <a:t> </a:t>
            </a:r>
            <a:r>
              <a:rPr lang="en-US" dirty="0" err="1"/>
              <a:t>исполнителей</a:t>
            </a:r>
            <a:r>
              <a:rPr lang="en-US" dirty="0"/>
              <a:t> </a:t>
            </a:r>
            <a:r>
              <a:rPr lang="en-US" dirty="0" err="1"/>
              <a:t>пользовательских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современные</a:t>
            </a:r>
            <a:r>
              <a:rPr lang="en-US" dirty="0"/>
              <a:t> </a:t>
            </a:r>
            <a:r>
              <a:rPr lang="en-US" dirty="0" err="1"/>
              <a:t>пользовательские</a:t>
            </a:r>
            <a:r>
              <a:rPr lang="en-US" dirty="0"/>
              <a:t> </a:t>
            </a:r>
            <a:r>
              <a:rPr lang="en-US" dirty="0" err="1"/>
              <a:t>планировщики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dirty="0" err="1"/>
              <a:t>неблокирующий</a:t>
            </a:r>
            <a:r>
              <a:rPr lang="en-US" dirty="0"/>
              <a:t> </a:t>
            </a:r>
            <a:r>
              <a:rPr lang="en-US" dirty="0" err="1"/>
              <a:t>ввод-вывод</a:t>
            </a:r>
            <a:r>
              <a:rPr lang="en-US" dirty="0"/>
              <a:t>, </a:t>
            </a:r>
            <a:r>
              <a:rPr lang="en-US" dirty="0" err="1"/>
              <a:t>механизмы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 и </a:t>
            </a:r>
            <a:r>
              <a:rPr lang="en-US" dirty="0" err="1"/>
              <a:t>пул</a:t>
            </a:r>
            <a:r>
              <a:rPr lang="en-US" dirty="0"/>
              <a:t> </a:t>
            </a:r>
            <a:r>
              <a:rPr lang="en-US" dirty="0" err="1"/>
              <a:t>системных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путать</a:t>
            </a:r>
            <a:r>
              <a:rPr lang="en-US" dirty="0"/>
              <a:t> </a:t>
            </a:r>
            <a:r>
              <a:rPr lang="en-US" dirty="0" err="1"/>
              <a:t>системные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и </a:t>
            </a:r>
            <a:r>
              <a:rPr lang="en-US" dirty="0" err="1"/>
              <a:t>корутины</a:t>
            </a:r>
            <a:r>
              <a:rPr lang="en-US" dirty="0"/>
              <a:t> C++.</a:t>
            </a:r>
          </a:p>
          <a:p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корутин</a:t>
            </a:r>
            <a:r>
              <a:rPr lang="en-US" dirty="0"/>
              <a:t> C++20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dirty="0" err="1"/>
              <a:t>готовый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приостанавливать</a:t>
            </a:r>
            <a:r>
              <a:rPr lang="en-US" dirty="0"/>
              <a:t> и </a:t>
            </a:r>
            <a:r>
              <a:rPr lang="en-US" dirty="0" err="1"/>
              <a:t>возобновлять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, а </a:t>
            </a:r>
            <a:r>
              <a:rPr lang="en-US" dirty="0" err="1"/>
              <a:t>решение</a:t>
            </a:r>
            <a:r>
              <a:rPr lang="en-US" dirty="0"/>
              <a:t> о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и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делать</a:t>
            </a:r>
            <a:r>
              <a:rPr lang="en-US" dirty="0"/>
              <a:t>, </a:t>
            </a:r>
            <a:r>
              <a:rPr lang="en-US" dirty="0" err="1"/>
              <a:t>принимает</a:t>
            </a:r>
            <a:r>
              <a:rPr lang="en-US" dirty="0"/>
              <a:t> </a:t>
            </a:r>
            <a:r>
              <a:rPr lang="en-US" dirty="0" err="1"/>
              <a:t>соответствующая</a:t>
            </a:r>
            <a:r>
              <a:rPr lang="en-US" dirty="0"/>
              <a:t> </a:t>
            </a:r>
            <a:r>
              <a:rPr lang="en-US" dirty="0" err="1"/>
              <a:t>библиотека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приложение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планирование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задачей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r>
              <a:rPr lang="en-US" dirty="0"/>
              <a:t>ОС </a:t>
            </a:r>
            <a:r>
              <a:rPr lang="en-US" dirty="0" err="1"/>
              <a:t>управляет</a:t>
            </a:r>
            <a:r>
              <a:rPr lang="en-US" dirty="0"/>
              <a:t> </a:t>
            </a:r>
            <a:r>
              <a:rPr lang="en-US" dirty="0" err="1"/>
              <a:t>выполнением</a:t>
            </a:r>
            <a:r>
              <a:rPr lang="en-US" dirty="0"/>
              <a:t> </a:t>
            </a:r>
            <a:r>
              <a:rPr lang="en-US" dirty="0" err="1"/>
              <a:t>системных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, а </a:t>
            </a:r>
            <a:r>
              <a:rPr lang="en-US" dirty="0" err="1"/>
              <a:t>приложение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дополнительно</a:t>
            </a:r>
            <a:r>
              <a:rPr lang="en-US" dirty="0"/>
              <a:t> </a:t>
            </a:r>
            <a:r>
              <a:rPr lang="en-US" dirty="0" err="1"/>
              <a:t>управлять</a:t>
            </a:r>
            <a:r>
              <a:rPr lang="en-US" dirty="0"/>
              <a:t> </a:t>
            </a:r>
            <a:r>
              <a:rPr lang="en-US" dirty="0" err="1"/>
              <a:t>собственными</a:t>
            </a:r>
            <a:r>
              <a:rPr lang="en-US" dirty="0"/>
              <a:t> </a:t>
            </a:r>
            <a:r>
              <a:rPr lang="en-US" dirty="0" err="1"/>
              <a:t>пользовательскими</a:t>
            </a:r>
            <a:r>
              <a:rPr lang="en-US" dirty="0"/>
              <a:t> </a:t>
            </a:r>
            <a:r>
              <a:rPr lang="en-US" dirty="0" err="1"/>
              <a:t>задачами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разработке</a:t>
            </a:r>
            <a:r>
              <a:rPr lang="en-US" dirty="0"/>
              <a:t> </a:t>
            </a:r>
            <a:r>
              <a:rPr lang="en-US" dirty="0" err="1"/>
              <a:t>высоконагруженных</a:t>
            </a:r>
            <a:r>
              <a:rPr lang="en-US" dirty="0"/>
              <a:t> </a:t>
            </a:r>
            <a:r>
              <a:rPr lang="en-US" dirty="0" err="1"/>
              <a:t>серверов</a:t>
            </a:r>
            <a:r>
              <a:rPr lang="en-US" dirty="0"/>
              <a:t>, </a:t>
            </a:r>
            <a:r>
              <a:rPr lang="en-US" dirty="0" err="1"/>
              <a:t>систем</a:t>
            </a:r>
            <a:r>
              <a:rPr lang="en-US" dirty="0"/>
              <a:t> с </a:t>
            </a:r>
            <a:r>
              <a:rPr lang="en-US" dirty="0" err="1"/>
              <a:t>большим</a:t>
            </a:r>
            <a:r>
              <a:rPr lang="en-US" dirty="0"/>
              <a:t> </a:t>
            </a:r>
            <a:r>
              <a:rPr lang="en-US" dirty="0" err="1"/>
              <a:t>количеством</a:t>
            </a:r>
            <a:r>
              <a:rPr lang="en-US" dirty="0"/>
              <a:t> </a:t>
            </a:r>
            <a:r>
              <a:rPr lang="en-US" dirty="0" err="1"/>
              <a:t>корутин</a:t>
            </a:r>
            <a:r>
              <a:rPr lang="en-US" dirty="0"/>
              <a:t> и </a:t>
            </a:r>
            <a:r>
              <a:rPr lang="en-US" dirty="0" err="1"/>
              <a:t>специализированных</a:t>
            </a:r>
            <a:r>
              <a:rPr lang="en-US" dirty="0"/>
              <a:t> </a:t>
            </a:r>
            <a:r>
              <a:rPr lang="en-US" dirty="0" err="1"/>
              <a:t>исполнительных</a:t>
            </a:r>
            <a:r>
              <a:rPr lang="en-US" dirty="0"/>
              <a:t> </a:t>
            </a:r>
            <a:r>
              <a:rPr lang="en-US" dirty="0" err="1"/>
              <a:t>сред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25629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предыдущих</a:t>
            </a:r>
            <a:r>
              <a:rPr lang="en-US" dirty="0"/>
              <a:t> </a:t>
            </a:r>
            <a:r>
              <a:rPr lang="en-US" dirty="0" err="1"/>
              <a:t>разделах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познакомились</a:t>
            </a:r>
            <a:r>
              <a:rPr lang="en-US" dirty="0"/>
              <a:t> с </a:t>
            </a:r>
            <a:r>
              <a:rPr lang="en-US" dirty="0" err="1"/>
              <a:t>алгоритмами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стремятся</a:t>
            </a:r>
            <a:r>
              <a:rPr lang="en-US" dirty="0"/>
              <a:t> </a:t>
            </a:r>
            <a:r>
              <a:rPr lang="en-US" dirty="0" err="1"/>
              <a:t>обеспечить</a:t>
            </a:r>
            <a:r>
              <a:rPr lang="en-US" dirty="0"/>
              <a:t> </a:t>
            </a:r>
            <a:r>
              <a:rPr lang="en-US" dirty="0" err="1"/>
              <a:t>быстрый</a:t>
            </a:r>
            <a:r>
              <a:rPr lang="en-US" dirty="0"/>
              <a:t> </a:t>
            </a:r>
            <a:r>
              <a:rPr lang="en-US" dirty="0" err="1"/>
              <a:t>отклик</a:t>
            </a:r>
            <a:r>
              <a:rPr lang="en-US" dirty="0"/>
              <a:t>, </a:t>
            </a:r>
            <a:r>
              <a:rPr lang="en-US" dirty="0" err="1"/>
              <a:t>справедливость</a:t>
            </a:r>
            <a:r>
              <a:rPr lang="en-US" dirty="0"/>
              <a:t> и </a:t>
            </a:r>
            <a:r>
              <a:rPr lang="en-US" dirty="0" err="1"/>
              <a:t>эффективное</a:t>
            </a:r>
            <a:r>
              <a:rPr lang="en-US" dirty="0"/>
              <a:t> </a:t>
            </a:r>
            <a:r>
              <a:rPr lang="en-US" dirty="0" err="1"/>
              <a:t>использование</a:t>
            </a:r>
            <a:r>
              <a:rPr lang="en-US" dirty="0"/>
              <a:t> CPU.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, в </a:t>
            </a:r>
            <a:r>
              <a:rPr lang="en-US" dirty="0" err="1"/>
              <a:t>которых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характеристик</a:t>
            </a:r>
            <a:r>
              <a:rPr lang="en-US" dirty="0"/>
              <a:t> </a:t>
            </a:r>
            <a:r>
              <a:rPr lang="en-US" dirty="0" err="1"/>
              <a:t>недостаточно</a:t>
            </a:r>
            <a:r>
              <a:rPr lang="en-US" dirty="0"/>
              <a:t>. В </a:t>
            </a:r>
            <a:r>
              <a:rPr lang="en-US" dirty="0" err="1"/>
              <a:t>некоторых</a:t>
            </a:r>
            <a:r>
              <a:rPr lang="en-US" dirty="0"/>
              <a:t> </a:t>
            </a:r>
            <a:r>
              <a:rPr lang="en-US" dirty="0" err="1"/>
              <a:t>задачах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вычисление</a:t>
            </a:r>
            <a:r>
              <a:rPr lang="en-US" dirty="0"/>
              <a:t> </a:t>
            </a:r>
            <a:r>
              <a:rPr lang="en-US" dirty="0" err="1"/>
              <a:t>быстро</a:t>
            </a:r>
            <a:r>
              <a:rPr lang="en-US" dirty="0"/>
              <a:t>, а </a:t>
            </a:r>
            <a:r>
              <a:rPr lang="en-US" dirty="0" err="1"/>
              <a:t>гарантированно</a:t>
            </a:r>
            <a:r>
              <a:rPr lang="en-US" dirty="0"/>
              <a:t> </a:t>
            </a:r>
            <a:r>
              <a:rPr lang="en-US" dirty="0" err="1"/>
              <a:t>завершить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определённого</a:t>
            </a:r>
            <a:r>
              <a:rPr lang="en-US" dirty="0"/>
              <a:t> </a:t>
            </a:r>
            <a:r>
              <a:rPr lang="en-US" dirty="0" err="1"/>
              <a:t>момента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4120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сих</a:t>
            </a:r>
            <a:r>
              <a:rPr lang="en-US" dirty="0"/>
              <a:t> </a:t>
            </a:r>
            <a:r>
              <a:rPr lang="en-US" dirty="0" err="1"/>
              <a:t>пор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рассматривали</a:t>
            </a:r>
            <a:r>
              <a:rPr lang="en-US" dirty="0"/>
              <a:t> </a:t>
            </a:r>
            <a:r>
              <a:rPr lang="en-US" dirty="0" err="1"/>
              <a:t>планирование</a:t>
            </a:r>
            <a:r>
              <a:rPr lang="en-US" dirty="0"/>
              <a:t>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скорости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,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отклика</a:t>
            </a:r>
            <a:r>
              <a:rPr lang="en-US" dirty="0"/>
              <a:t> и </a:t>
            </a:r>
            <a:r>
              <a:rPr lang="en-US" dirty="0" err="1"/>
              <a:t>справедливого</a:t>
            </a:r>
            <a:r>
              <a:rPr lang="en-US" dirty="0"/>
              <a:t> </a:t>
            </a:r>
            <a:r>
              <a:rPr lang="en-US" dirty="0" err="1"/>
              <a:t>распределения</a:t>
            </a:r>
            <a:r>
              <a:rPr lang="en-US" dirty="0"/>
              <a:t> </a:t>
            </a:r>
            <a:r>
              <a:rPr lang="en-US" dirty="0" err="1"/>
              <a:t>процессорного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хотелось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браузер</a:t>
            </a:r>
            <a:r>
              <a:rPr lang="en-US" dirty="0"/>
              <a:t> </a:t>
            </a:r>
            <a:r>
              <a:rPr lang="en-US" dirty="0" err="1"/>
              <a:t>быстро</a:t>
            </a:r>
            <a:r>
              <a:rPr lang="en-US" dirty="0"/>
              <a:t> </a:t>
            </a:r>
            <a:r>
              <a:rPr lang="en-US" dirty="0" err="1"/>
              <a:t>реагировал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, а </a:t>
            </a:r>
            <a:r>
              <a:rPr lang="en-US" dirty="0" err="1"/>
              <a:t>фоновая</a:t>
            </a:r>
            <a:r>
              <a:rPr lang="en-US" dirty="0"/>
              <a:t> </a:t>
            </a:r>
            <a:r>
              <a:rPr lang="en-US" dirty="0" err="1"/>
              <a:t>компиляция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занимала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r>
              <a:rPr lang="en-US" dirty="0"/>
              <a:t> </a:t>
            </a:r>
            <a:r>
              <a:rPr lang="en-US" dirty="0" err="1"/>
              <a:t>компьютера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существуют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, в </a:t>
            </a:r>
            <a:r>
              <a:rPr lang="en-US" dirty="0" err="1"/>
              <a:t>которых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</a:t>
            </a:r>
            <a:r>
              <a:rPr lang="en-US" dirty="0" err="1"/>
              <a:t>значительно</a:t>
            </a:r>
            <a:r>
              <a:rPr lang="en-US" dirty="0"/>
              <a:t> </a:t>
            </a:r>
            <a:r>
              <a:rPr lang="en-US" dirty="0" err="1"/>
              <a:t>строже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Представим</a:t>
            </a:r>
            <a:r>
              <a:rPr lang="en-US" dirty="0"/>
              <a:t> </a:t>
            </a:r>
            <a:r>
              <a:rPr lang="en-US" dirty="0" err="1"/>
              <a:t>контроллер</a:t>
            </a:r>
            <a:r>
              <a:rPr lang="en-US" dirty="0"/>
              <a:t> </a:t>
            </a:r>
            <a:r>
              <a:rPr lang="en-US" dirty="0" err="1"/>
              <a:t>промышленного</a:t>
            </a:r>
            <a:r>
              <a:rPr lang="en-US" dirty="0"/>
              <a:t> </a:t>
            </a:r>
            <a:r>
              <a:rPr lang="en-US" dirty="0" err="1"/>
              <a:t>оборудования</a:t>
            </a:r>
            <a:r>
              <a:rPr lang="en-US" dirty="0"/>
              <a:t>.</a:t>
            </a:r>
          </a:p>
          <a:p>
            <a:r>
              <a:rPr lang="en-US" dirty="0" err="1"/>
              <a:t>Каждые</a:t>
            </a:r>
            <a:r>
              <a:rPr lang="en-US" dirty="0"/>
              <a:t> 10 </a:t>
            </a:r>
            <a:r>
              <a:rPr lang="en-US" dirty="0" err="1"/>
              <a:t>миллисекунд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получать</a:t>
            </a:r>
            <a:r>
              <a:rPr lang="en-US" dirty="0"/>
              <a:t> </a:t>
            </a:r>
            <a:r>
              <a:rPr lang="en-US" dirty="0" err="1"/>
              <a:t>показания</a:t>
            </a:r>
            <a:r>
              <a:rPr lang="en-US" dirty="0"/>
              <a:t> </a:t>
            </a:r>
            <a:r>
              <a:rPr lang="en-US" dirty="0" err="1"/>
              <a:t>датчика</a:t>
            </a:r>
            <a:r>
              <a:rPr lang="en-US" dirty="0"/>
              <a:t>, </a:t>
            </a:r>
            <a:r>
              <a:rPr lang="en-US" dirty="0" err="1"/>
              <a:t>рассчитывать</a:t>
            </a:r>
            <a:r>
              <a:rPr lang="en-US" dirty="0"/>
              <a:t> </a:t>
            </a:r>
            <a:r>
              <a:rPr lang="en-US" dirty="0" err="1"/>
              <a:t>управляющее</a:t>
            </a:r>
            <a:r>
              <a:rPr lang="en-US" dirty="0"/>
              <a:t> </a:t>
            </a:r>
            <a:r>
              <a:rPr lang="en-US" dirty="0" err="1"/>
              <a:t>воздействие</a:t>
            </a:r>
            <a:r>
              <a:rPr lang="en-US" dirty="0"/>
              <a:t> и </a:t>
            </a:r>
            <a:r>
              <a:rPr lang="en-US" dirty="0" err="1"/>
              <a:t>передавать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 </a:t>
            </a:r>
            <a:r>
              <a:rPr lang="en-US" dirty="0" err="1"/>
              <a:t>исполнительному</a:t>
            </a:r>
            <a:r>
              <a:rPr lang="en-US" dirty="0"/>
              <a:t> </a:t>
            </a:r>
            <a:r>
              <a:rPr lang="en-US" dirty="0" err="1"/>
              <a:t>механизму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вычисление</a:t>
            </a:r>
            <a:r>
              <a:rPr lang="en-US" dirty="0"/>
              <a:t> </a:t>
            </a:r>
            <a:r>
              <a:rPr lang="en-US" dirty="0" err="1"/>
              <a:t>завершилось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миллисекунду</a:t>
            </a:r>
            <a:r>
              <a:rPr lang="en-US" dirty="0"/>
              <a:t>,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отлично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заняло</a:t>
            </a:r>
            <a:r>
              <a:rPr lang="en-US" dirty="0"/>
              <a:t> </a:t>
            </a:r>
            <a:r>
              <a:rPr lang="en-US" dirty="0" err="1"/>
              <a:t>пять</a:t>
            </a:r>
            <a:r>
              <a:rPr lang="en-US" dirty="0"/>
              <a:t> </a:t>
            </a:r>
            <a:r>
              <a:rPr lang="en-US" dirty="0" err="1"/>
              <a:t>миллисекунд</a:t>
            </a:r>
            <a:r>
              <a:rPr lang="en-US" dirty="0"/>
              <a:t>,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подходит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вычисление</a:t>
            </a:r>
            <a:r>
              <a:rPr lang="en-US" dirty="0"/>
              <a:t> </a:t>
            </a:r>
            <a:r>
              <a:rPr lang="en-US" dirty="0" err="1"/>
              <a:t>завершилось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15 </a:t>
            </a:r>
            <a:r>
              <a:rPr lang="en-US" dirty="0" err="1"/>
              <a:t>миллисекунд</a:t>
            </a:r>
            <a:r>
              <a:rPr lang="en-US" dirty="0"/>
              <a:t>,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оказаться</a:t>
            </a:r>
            <a:r>
              <a:rPr lang="en-US" dirty="0"/>
              <a:t>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поздним</a:t>
            </a:r>
            <a:r>
              <a:rPr lang="en-US" dirty="0"/>
              <a:t>,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математически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абсолютно</a:t>
            </a:r>
            <a:r>
              <a:rPr lang="en-US" dirty="0"/>
              <a:t> </a:t>
            </a:r>
            <a:r>
              <a:rPr lang="en-US" dirty="0" err="1"/>
              <a:t>правильный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Возможно</a:t>
            </a:r>
            <a:r>
              <a:rPr lang="en-US" dirty="0"/>
              <a:t>, </a:t>
            </a:r>
            <a:r>
              <a:rPr lang="en-US" dirty="0" err="1"/>
              <a:t>оборудование</a:t>
            </a:r>
            <a:r>
              <a:rPr lang="en-US" dirty="0"/>
              <a:t> к </a:t>
            </a:r>
            <a:r>
              <a:rPr lang="en-US" dirty="0" err="1"/>
              <a:t>этому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перешло</a:t>
            </a:r>
            <a:r>
              <a:rPr lang="en-US" dirty="0"/>
              <a:t> в </a:t>
            </a:r>
            <a:r>
              <a:rPr lang="en-US" dirty="0" err="1"/>
              <a:t>другое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корректной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dirty="0" err="1"/>
              <a:t>недостаточно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правильный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.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вовремя</a:t>
            </a:r>
            <a:r>
              <a:rPr lang="en-US" dirty="0"/>
              <a:t>.</a:t>
            </a:r>
          </a:p>
          <a:p>
            <a:r>
              <a:rPr lang="en-US" dirty="0" err="1"/>
              <a:t>Системы</a:t>
            </a:r>
            <a:r>
              <a:rPr lang="en-US" dirty="0"/>
              <a:t> с </a:t>
            </a:r>
            <a:r>
              <a:rPr lang="en-US" dirty="0" err="1"/>
              <a:t>подобными</a:t>
            </a:r>
            <a:r>
              <a:rPr lang="en-US" dirty="0"/>
              <a:t> </a:t>
            </a:r>
            <a:r>
              <a:rPr lang="en-US" dirty="0" err="1"/>
              <a:t>требованиями</a:t>
            </a:r>
            <a:r>
              <a:rPr lang="en-US" dirty="0"/>
              <a:t> </a:t>
            </a:r>
            <a:r>
              <a:rPr lang="en-US" dirty="0" err="1"/>
              <a:t>называются</a:t>
            </a:r>
            <a:r>
              <a:rPr lang="en-US" dirty="0"/>
              <a:t> </a:t>
            </a:r>
            <a:r>
              <a:rPr lang="en-US" dirty="0" err="1"/>
              <a:t>системами</a:t>
            </a:r>
            <a:r>
              <a:rPr lang="en-US" dirty="0"/>
              <a:t> </a:t>
            </a:r>
            <a:r>
              <a:rPr lang="en-US" dirty="0" err="1"/>
              <a:t>реального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— Real-Time Systems.</a:t>
            </a:r>
          </a:p>
          <a:p>
            <a:endParaRPr lang="en-US" dirty="0"/>
          </a:p>
          <a:p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центральных</a:t>
            </a:r>
            <a:r>
              <a:rPr lang="en-US" dirty="0"/>
              <a:t> </a:t>
            </a:r>
            <a:r>
              <a:rPr lang="en-US" dirty="0" err="1"/>
              <a:t>понятий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— Deadline,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крайний</a:t>
            </a:r>
            <a:r>
              <a:rPr lang="en-US" dirty="0"/>
              <a:t> </a:t>
            </a:r>
            <a:r>
              <a:rPr lang="en-US" dirty="0" err="1"/>
              <a:t>срок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отметить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Real-Time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 </a:t>
            </a:r>
            <a:r>
              <a:rPr lang="en-US" dirty="0" err="1"/>
              <a:t>максимальную</a:t>
            </a:r>
            <a:r>
              <a:rPr lang="en-US" dirty="0"/>
              <a:t> </a:t>
            </a:r>
            <a:r>
              <a:rPr lang="en-US" dirty="0" err="1"/>
              <a:t>производительность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вычисление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100 </a:t>
            </a:r>
            <a:r>
              <a:rPr lang="en-US" dirty="0" err="1"/>
              <a:t>микросекунд</a:t>
            </a:r>
            <a:r>
              <a:rPr lang="en-US" dirty="0"/>
              <a:t> в </a:t>
            </a:r>
            <a:r>
              <a:rPr lang="en-US" dirty="0" err="1"/>
              <a:t>среднем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задерживаться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20 </a:t>
            </a:r>
            <a:r>
              <a:rPr lang="en-US" dirty="0" err="1"/>
              <a:t>миллисекунд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Другая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500 </a:t>
            </a:r>
            <a:r>
              <a:rPr lang="en-US" dirty="0" err="1"/>
              <a:t>микросекунд</a:t>
            </a:r>
            <a:r>
              <a:rPr lang="en-US" dirty="0"/>
              <a:t>, </a:t>
            </a:r>
            <a:r>
              <a:rPr lang="en-US" dirty="0" err="1"/>
              <a:t>зато</a:t>
            </a:r>
            <a:r>
              <a:rPr lang="en-US" dirty="0"/>
              <a:t> </a:t>
            </a:r>
            <a:r>
              <a:rPr lang="en-US" dirty="0" err="1"/>
              <a:t>гарантированно</a:t>
            </a:r>
            <a:r>
              <a:rPr lang="en-US" dirty="0"/>
              <a:t> </a:t>
            </a:r>
            <a:r>
              <a:rPr lang="en-US" dirty="0" err="1"/>
              <a:t>укладывается</a:t>
            </a:r>
            <a:r>
              <a:rPr lang="en-US" dirty="0"/>
              <a:t> в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миллисекунду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заданных</a:t>
            </a:r>
            <a:r>
              <a:rPr lang="en-US" dirty="0"/>
              <a:t> </a:t>
            </a:r>
            <a:r>
              <a:rPr lang="en-US" dirty="0" err="1"/>
              <a:t>условиях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реального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оказаться</a:t>
            </a:r>
            <a:r>
              <a:rPr lang="en-US" dirty="0"/>
              <a:t> </a:t>
            </a:r>
            <a:r>
              <a:rPr lang="en-US" dirty="0" err="1"/>
              <a:t>предпочтительнее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выделяют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основных</a:t>
            </a:r>
            <a:r>
              <a:rPr lang="en-US" dirty="0"/>
              <a:t> </a:t>
            </a:r>
            <a:r>
              <a:rPr lang="en-US" dirty="0" err="1"/>
              <a:t>класса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 </a:t>
            </a:r>
            <a:r>
              <a:rPr lang="en-US" dirty="0" err="1"/>
              <a:t>реального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  <a:p>
            <a:r>
              <a:rPr lang="en-US" dirty="0" err="1"/>
              <a:t>Первый</a:t>
            </a:r>
            <a:r>
              <a:rPr lang="en-US" dirty="0"/>
              <a:t> — Hard Real-Time,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жёсткого</a:t>
            </a:r>
            <a:r>
              <a:rPr lang="en-US" dirty="0"/>
              <a:t> </a:t>
            </a:r>
            <a:r>
              <a:rPr lang="en-US" dirty="0" err="1"/>
              <a:t>реального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нарушение</a:t>
            </a:r>
            <a:r>
              <a:rPr lang="en-US" dirty="0"/>
              <a:t> </a:t>
            </a:r>
            <a:r>
              <a:rPr lang="en-US" dirty="0" err="1"/>
              <a:t>временного</a:t>
            </a:r>
            <a:r>
              <a:rPr lang="en-US" dirty="0"/>
              <a:t> </a:t>
            </a:r>
            <a:r>
              <a:rPr lang="en-US" dirty="0" err="1"/>
              <a:t>ограничения</a:t>
            </a:r>
            <a:r>
              <a:rPr lang="en-US" dirty="0"/>
              <a:t> </a:t>
            </a:r>
            <a:r>
              <a:rPr lang="en-US" dirty="0" err="1"/>
              <a:t>считается</a:t>
            </a:r>
            <a:r>
              <a:rPr lang="en-US" dirty="0"/>
              <a:t> </a:t>
            </a:r>
            <a:r>
              <a:rPr lang="en-US" dirty="0" err="1"/>
              <a:t>недопустимым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запоздалое</a:t>
            </a:r>
            <a:r>
              <a:rPr lang="en-US" dirty="0"/>
              <a:t> </a:t>
            </a:r>
            <a:r>
              <a:rPr lang="en-US" dirty="0" err="1"/>
              <a:t>управляющее</a:t>
            </a:r>
            <a:r>
              <a:rPr lang="en-US" dirty="0"/>
              <a:t> </a:t>
            </a:r>
            <a:r>
              <a:rPr lang="en-US" dirty="0" err="1"/>
              <a:t>воздействие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привести</a:t>
            </a:r>
            <a:r>
              <a:rPr lang="en-US" dirty="0"/>
              <a:t> к </a:t>
            </a:r>
            <a:r>
              <a:rPr lang="en-US" dirty="0" err="1"/>
              <a:t>некорректной</a:t>
            </a:r>
            <a:r>
              <a:rPr lang="en-US" dirty="0"/>
              <a:t> </a:t>
            </a:r>
            <a:r>
              <a:rPr lang="en-US" dirty="0" err="1"/>
              <a:t>работе</a:t>
            </a:r>
            <a:r>
              <a:rPr lang="en-US" dirty="0"/>
              <a:t> </a:t>
            </a:r>
            <a:r>
              <a:rPr lang="en-US" dirty="0" err="1"/>
              <a:t>промышленного</a:t>
            </a:r>
            <a:r>
              <a:rPr lang="en-US" dirty="0"/>
              <a:t> </a:t>
            </a:r>
            <a:r>
              <a:rPr lang="en-US" dirty="0" err="1"/>
              <a:t>оборудования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Второй</a:t>
            </a:r>
            <a:r>
              <a:rPr lang="en-US" dirty="0"/>
              <a:t> — Soft Real-Time,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мягкого</a:t>
            </a:r>
            <a:r>
              <a:rPr lang="en-US" dirty="0"/>
              <a:t> </a:t>
            </a:r>
            <a:r>
              <a:rPr lang="en-US" dirty="0" err="1"/>
              <a:t>реального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отдельные</a:t>
            </a:r>
            <a:r>
              <a:rPr lang="en-US" dirty="0"/>
              <a:t> </a:t>
            </a:r>
            <a:r>
              <a:rPr lang="en-US" dirty="0" err="1"/>
              <a:t>нарушения</a:t>
            </a:r>
            <a:r>
              <a:rPr lang="en-US" dirty="0"/>
              <a:t> </a:t>
            </a:r>
            <a:r>
              <a:rPr lang="en-US" dirty="0" err="1"/>
              <a:t>сроков</a:t>
            </a:r>
            <a:r>
              <a:rPr lang="en-US" dirty="0"/>
              <a:t> </a:t>
            </a:r>
            <a:r>
              <a:rPr lang="en-US" dirty="0" err="1"/>
              <a:t>допустимы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ухудшают</a:t>
            </a:r>
            <a:r>
              <a:rPr lang="en-US" dirty="0"/>
              <a:t> </a:t>
            </a:r>
            <a:r>
              <a:rPr lang="en-US" dirty="0" err="1"/>
              <a:t>качество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воспроизведении</a:t>
            </a:r>
            <a:r>
              <a:rPr lang="en-US" dirty="0"/>
              <a:t> </a:t>
            </a:r>
            <a:r>
              <a:rPr lang="en-US" dirty="0" err="1"/>
              <a:t>видео</a:t>
            </a:r>
            <a:r>
              <a:rPr lang="en-US" dirty="0"/>
              <a:t> </a:t>
            </a:r>
            <a:r>
              <a:rPr lang="en-US" dirty="0" err="1"/>
              <a:t>редкий</a:t>
            </a:r>
            <a:r>
              <a:rPr lang="en-US" dirty="0"/>
              <a:t> </a:t>
            </a:r>
            <a:r>
              <a:rPr lang="en-US" dirty="0" err="1"/>
              <a:t>пропуск</a:t>
            </a:r>
            <a:r>
              <a:rPr lang="en-US" dirty="0"/>
              <a:t> </a:t>
            </a:r>
            <a:r>
              <a:rPr lang="en-US" dirty="0" err="1"/>
              <a:t>кадра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допустим</a:t>
            </a:r>
            <a:r>
              <a:rPr lang="en-US" dirty="0"/>
              <a:t>, </a:t>
            </a:r>
            <a:r>
              <a:rPr lang="en-US" dirty="0" err="1"/>
              <a:t>хотя</a:t>
            </a:r>
            <a:r>
              <a:rPr lang="en-US" dirty="0"/>
              <a:t> </a:t>
            </a:r>
            <a:r>
              <a:rPr lang="en-US" dirty="0" err="1"/>
              <a:t>регулярные</a:t>
            </a:r>
            <a:r>
              <a:rPr lang="en-US" dirty="0"/>
              <a:t> </a:t>
            </a:r>
            <a:r>
              <a:rPr lang="en-US" dirty="0" err="1"/>
              <a:t>задержки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заметно</a:t>
            </a:r>
            <a:r>
              <a:rPr lang="en-US" dirty="0"/>
              <a:t> </a:t>
            </a:r>
            <a:r>
              <a:rPr lang="en-US" dirty="0" err="1"/>
              <a:t>мешают</a:t>
            </a:r>
            <a:r>
              <a:rPr lang="en-US" dirty="0"/>
              <a:t> </a:t>
            </a:r>
            <a:r>
              <a:rPr lang="en-US" dirty="0" err="1"/>
              <a:t>просмотру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воспроизведении</a:t>
            </a:r>
            <a:r>
              <a:rPr lang="en-US" dirty="0"/>
              <a:t> </a:t>
            </a:r>
            <a:r>
              <a:rPr lang="en-US" dirty="0" err="1"/>
              <a:t>звука</a:t>
            </a:r>
            <a:r>
              <a:rPr lang="en-US" dirty="0"/>
              <a:t> </a:t>
            </a:r>
            <a:r>
              <a:rPr lang="en-US" dirty="0" err="1"/>
              <a:t>задержка</a:t>
            </a:r>
            <a:r>
              <a:rPr lang="en-US" dirty="0"/>
              <a:t> </a:t>
            </a:r>
            <a:r>
              <a:rPr lang="en-US" dirty="0" err="1"/>
              <a:t>подготовки</a:t>
            </a:r>
            <a:r>
              <a:rPr lang="en-US" dirty="0"/>
              <a:t> </a:t>
            </a:r>
            <a:r>
              <a:rPr lang="en-US" dirty="0" err="1"/>
              <a:t>следующего</a:t>
            </a:r>
            <a:r>
              <a:rPr lang="en-US" dirty="0"/>
              <a:t> </a:t>
            </a:r>
            <a:r>
              <a:rPr lang="en-US" dirty="0" err="1"/>
              <a:t>блока</a:t>
            </a:r>
            <a:r>
              <a:rPr lang="en-US" dirty="0"/>
              <a:t> </a:t>
            </a:r>
            <a:r>
              <a:rPr lang="en-US" dirty="0" err="1"/>
              <a:t>аудиоданных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приводить</a:t>
            </a:r>
            <a:r>
              <a:rPr lang="en-US" dirty="0"/>
              <a:t> к </a:t>
            </a:r>
            <a:r>
              <a:rPr lang="en-US" dirty="0" err="1"/>
              <a:t>щелчкам</a:t>
            </a:r>
            <a:r>
              <a:rPr lang="en-US" dirty="0"/>
              <a:t> и </a:t>
            </a:r>
            <a:r>
              <a:rPr lang="en-US" dirty="0" err="1"/>
              <a:t>прерываниям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в </a:t>
            </a:r>
            <a:r>
              <a:rPr lang="en-US" dirty="0" err="1"/>
              <a:t>системах</a:t>
            </a:r>
            <a:r>
              <a:rPr lang="en-US" dirty="0"/>
              <a:t> </a:t>
            </a:r>
            <a:r>
              <a:rPr lang="en-US" dirty="0" err="1"/>
              <a:t>реального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учитывать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сколько</a:t>
            </a:r>
            <a:r>
              <a:rPr lang="en-US" dirty="0"/>
              <a:t> </a:t>
            </a:r>
            <a:r>
              <a:rPr lang="en-US" dirty="0" err="1"/>
              <a:t>процессорного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получают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успевают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завершить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заданного</a:t>
            </a:r>
            <a:r>
              <a:rPr lang="en-US" dirty="0"/>
              <a:t> </a:t>
            </a:r>
            <a:r>
              <a:rPr lang="en-US" dirty="0" err="1"/>
              <a:t>срока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описывать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, у </a:t>
            </a:r>
            <a:r>
              <a:rPr lang="en-US" dirty="0" err="1"/>
              <a:t>которых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строгие</a:t>
            </a:r>
            <a:r>
              <a:rPr lang="en-US" dirty="0"/>
              <a:t> </a:t>
            </a:r>
            <a:r>
              <a:rPr lang="en-US" dirty="0" err="1"/>
              <a:t>временные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45147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err="1"/>
                  <a:t>Для</a:t>
                </a:r>
                <a:r>
                  <a:rPr lang="en-US" dirty="0"/>
                  <a:t> </a:t>
                </a:r>
                <a:r>
                  <a:rPr lang="en-US" dirty="0" err="1"/>
                  <a:t>анализа</a:t>
                </a:r>
                <a:r>
                  <a:rPr lang="en-US" dirty="0"/>
                  <a:t> </a:t>
                </a:r>
                <a:r>
                  <a:rPr lang="en-US" dirty="0" err="1"/>
                  <a:t>планирования</a:t>
                </a:r>
                <a:r>
                  <a:rPr lang="en-US" dirty="0"/>
                  <a:t> </a:t>
                </a:r>
                <a:r>
                  <a:rPr lang="en-US" dirty="0" err="1"/>
                  <a:t>реального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 </a:t>
                </a:r>
                <a:r>
                  <a:rPr lang="en-US" dirty="0" err="1"/>
                  <a:t>нам</a:t>
                </a:r>
                <a:r>
                  <a:rPr lang="en-US" dirty="0"/>
                  <a:t> </a:t>
                </a:r>
                <a:r>
                  <a:rPr lang="en-US" dirty="0" err="1"/>
                  <a:t>понадобится</a:t>
                </a:r>
                <a:r>
                  <a:rPr lang="en-US" dirty="0"/>
                  <a:t> </a:t>
                </a:r>
                <a:r>
                  <a:rPr lang="en-US" dirty="0" err="1"/>
                  <a:t>более</a:t>
                </a:r>
                <a:r>
                  <a:rPr lang="en-US" dirty="0"/>
                  <a:t> </a:t>
                </a:r>
                <a:r>
                  <a:rPr lang="en-US" dirty="0" err="1"/>
                  <a:t>строгая</a:t>
                </a:r>
                <a:r>
                  <a:rPr lang="en-US" dirty="0"/>
                  <a:t> </a:t>
                </a:r>
                <a:r>
                  <a:rPr lang="en-US" dirty="0" err="1"/>
                  <a:t>модель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/>
                  <a:t>В </a:t>
                </a:r>
                <a:r>
                  <a:rPr lang="en-US" dirty="0" err="1"/>
                  <a:t>обычных</a:t>
                </a:r>
                <a:r>
                  <a:rPr lang="en-US" dirty="0"/>
                  <a:t> </a:t>
                </a:r>
                <a:r>
                  <a:rPr lang="en-US" dirty="0" err="1"/>
                  <a:t>алгоритмах</a:t>
                </a:r>
                <a:r>
                  <a:rPr lang="en-US" dirty="0"/>
                  <a:t> </a:t>
                </a:r>
                <a:r>
                  <a:rPr lang="en-US" dirty="0" err="1"/>
                  <a:t>мы</a:t>
                </a:r>
                <a:r>
                  <a:rPr lang="en-US" dirty="0"/>
                  <a:t> </a:t>
                </a:r>
                <a:r>
                  <a:rPr lang="en-US" dirty="0" err="1"/>
                  <a:t>часто</a:t>
                </a:r>
                <a:r>
                  <a:rPr lang="en-US" dirty="0"/>
                  <a:t> </a:t>
                </a:r>
                <a:r>
                  <a:rPr lang="en-US" dirty="0" err="1"/>
                  <a:t>просто</a:t>
                </a:r>
                <a:r>
                  <a:rPr lang="en-US" dirty="0"/>
                  <a:t> </a:t>
                </a:r>
                <a:r>
                  <a:rPr lang="en-US" dirty="0" err="1"/>
                  <a:t>говорили</a:t>
                </a:r>
                <a:r>
                  <a:rPr lang="en-US" dirty="0"/>
                  <a:t>,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задача</a:t>
                </a:r>
                <a:r>
                  <a:rPr lang="en-US" dirty="0"/>
                  <a:t> </a:t>
                </a:r>
                <a:r>
                  <a:rPr lang="en-US" dirty="0" err="1"/>
                  <a:t>поступила</a:t>
                </a:r>
                <a:r>
                  <a:rPr lang="en-US" dirty="0"/>
                  <a:t> в </a:t>
                </a:r>
                <a:r>
                  <a:rPr lang="en-US" dirty="0" err="1"/>
                  <a:t>определённый</a:t>
                </a:r>
                <a:r>
                  <a:rPr lang="en-US" dirty="0"/>
                  <a:t> </a:t>
                </a:r>
                <a:r>
                  <a:rPr lang="en-US" dirty="0" err="1"/>
                  <a:t>момент</a:t>
                </a:r>
                <a:r>
                  <a:rPr lang="en-US" dirty="0"/>
                  <a:t> и </a:t>
                </a:r>
                <a:r>
                  <a:rPr lang="en-US" dirty="0" err="1"/>
                  <a:t>должна</a:t>
                </a:r>
                <a:r>
                  <a:rPr lang="en-US" dirty="0"/>
                  <a:t> </a:t>
                </a:r>
                <a:r>
                  <a:rPr lang="en-US" dirty="0" err="1"/>
                  <a:t>выполнить</a:t>
                </a:r>
                <a:r>
                  <a:rPr lang="en-US" dirty="0"/>
                  <a:t> </a:t>
                </a:r>
                <a:r>
                  <a:rPr lang="en-US" dirty="0" err="1"/>
                  <a:t>некоторое</a:t>
                </a:r>
                <a:r>
                  <a:rPr lang="en-US" dirty="0"/>
                  <a:t> </a:t>
                </a:r>
                <a:r>
                  <a:rPr lang="en-US" dirty="0" err="1"/>
                  <a:t>количество</a:t>
                </a:r>
                <a:r>
                  <a:rPr lang="en-US" dirty="0"/>
                  <a:t> </a:t>
                </a:r>
                <a:r>
                  <a:rPr lang="en-US" dirty="0" err="1"/>
                  <a:t>вычислений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/>
                  <a:t>В </a:t>
                </a:r>
                <a:r>
                  <a:rPr lang="en-US" dirty="0" err="1"/>
                  <a:t>системах</a:t>
                </a:r>
                <a:r>
                  <a:rPr lang="en-US" dirty="0"/>
                  <a:t> </a:t>
                </a:r>
                <a:r>
                  <a:rPr lang="en-US" dirty="0" err="1"/>
                  <a:t>реального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 </a:t>
                </a:r>
                <a:r>
                  <a:rPr lang="en-US" dirty="0" err="1"/>
                  <a:t>этого</a:t>
                </a:r>
                <a:r>
                  <a:rPr lang="en-US" dirty="0"/>
                  <a:t> </a:t>
                </a:r>
                <a:r>
                  <a:rPr lang="en-US" dirty="0" err="1"/>
                  <a:t>недостаточно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Многие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 </a:t>
                </a:r>
                <a:r>
                  <a:rPr lang="en-US" dirty="0" err="1"/>
                  <a:t>выполняются</a:t>
                </a:r>
                <a:r>
                  <a:rPr lang="en-US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один</a:t>
                </a:r>
                <a:r>
                  <a:rPr lang="en-US" dirty="0"/>
                  <a:t> </a:t>
                </a:r>
                <a:r>
                  <a:rPr lang="en-US" dirty="0" err="1"/>
                  <a:t>раз</a:t>
                </a:r>
                <a:r>
                  <a:rPr lang="en-US" dirty="0"/>
                  <a:t>, а </a:t>
                </a:r>
                <a:r>
                  <a:rPr lang="en-US" dirty="0" err="1"/>
                  <a:t>регулярно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Например</a:t>
                </a:r>
                <a:r>
                  <a:rPr lang="en-US" dirty="0"/>
                  <a:t>, </a:t>
                </a:r>
                <a:r>
                  <a:rPr lang="en-US" dirty="0" err="1"/>
                  <a:t>контроллер</a:t>
                </a:r>
                <a:r>
                  <a:rPr lang="en-US" dirty="0"/>
                  <a:t> </a:t>
                </a:r>
                <a:r>
                  <a:rPr lang="en-US" dirty="0" err="1"/>
                  <a:t>каждые</a:t>
                </a:r>
                <a:r>
                  <a:rPr lang="en-US" dirty="0"/>
                  <a:t> 10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 </a:t>
                </a:r>
                <a:r>
                  <a:rPr lang="en-US" dirty="0" err="1"/>
                  <a:t>опрашивает</a:t>
                </a:r>
                <a:r>
                  <a:rPr lang="en-US" dirty="0"/>
                  <a:t> </a:t>
                </a:r>
                <a:r>
                  <a:rPr lang="en-US" dirty="0" err="1"/>
                  <a:t>датчик</a:t>
                </a:r>
                <a:r>
                  <a:rPr lang="en-US" dirty="0"/>
                  <a:t>, </a:t>
                </a:r>
                <a:r>
                  <a:rPr lang="en-US" dirty="0" err="1"/>
                  <a:t>вычисляет</a:t>
                </a:r>
                <a:r>
                  <a:rPr lang="en-US" dirty="0"/>
                  <a:t> </a:t>
                </a:r>
                <a:r>
                  <a:rPr lang="en-US" dirty="0" err="1"/>
                  <a:t>новое</a:t>
                </a:r>
                <a:r>
                  <a:rPr lang="en-US" dirty="0"/>
                  <a:t> </a:t>
                </a:r>
                <a:r>
                  <a:rPr lang="en-US" dirty="0" err="1"/>
                  <a:t>значение</a:t>
                </a:r>
                <a:r>
                  <a:rPr lang="en-US" dirty="0"/>
                  <a:t> </a:t>
                </a:r>
                <a:r>
                  <a:rPr lang="en-US" dirty="0" err="1"/>
                  <a:t>управляющего</a:t>
                </a:r>
                <a:r>
                  <a:rPr lang="en-US" dirty="0"/>
                  <a:t> </a:t>
                </a:r>
                <a:r>
                  <a:rPr lang="en-US" dirty="0" err="1"/>
                  <a:t>сигнала</a:t>
                </a:r>
                <a:r>
                  <a:rPr lang="en-US" dirty="0"/>
                  <a:t> и </a:t>
                </a:r>
                <a:r>
                  <a:rPr lang="en-US" dirty="0" err="1"/>
                  <a:t>передаёт</a:t>
                </a:r>
                <a:r>
                  <a:rPr lang="en-US" dirty="0"/>
                  <a:t> </a:t>
                </a:r>
                <a:r>
                  <a:rPr lang="en-US" dirty="0" err="1"/>
                  <a:t>его</a:t>
                </a:r>
                <a:r>
                  <a:rPr lang="en-US" dirty="0"/>
                  <a:t> </a:t>
                </a:r>
                <a:r>
                  <a:rPr lang="en-US" dirty="0" err="1"/>
                  <a:t>исполнительному</a:t>
                </a:r>
                <a:r>
                  <a:rPr lang="en-US" dirty="0"/>
                  <a:t> </a:t>
                </a:r>
                <a:r>
                  <a:rPr lang="en-US" dirty="0" err="1"/>
                  <a:t>устройству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Получается</a:t>
                </a:r>
                <a:r>
                  <a:rPr lang="en-US" dirty="0"/>
                  <a:t>,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одна</a:t>
                </a:r>
                <a:r>
                  <a:rPr lang="en-US" dirty="0"/>
                  <a:t> и </a:t>
                </a:r>
                <a:r>
                  <a:rPr lang="en-US" dirty="0" err="1"/>
                  <a:t>та</a:t>
                </a:r>
                <a:r>
                  <a:rPr lang="en-US" dirty="0"/>
                  <a:t> </a:t>
                </a:r>
                <a:r>
                  <a:rPr lang="en-US" dirty="0" err="1"/>
                  <a:t>же</a:t>
                </a:r>
                <a:r>
                  <a:rPr lang="en-US" dirty="0"/>
                  <a:t> </a:t>
                </a:r>
                <a:r>
                  <a:rPr lang="en-US" dirty="0" err="1"/>
                  <a:t>задача</a:t>
                </a:r>
                <a:r>
                  <a:rPr lang="en-US" dirty="0"/>
                  <a:t> </a:t>
                </a:r>
                <a:r>
                  <a:rPr lang="en-US" dirty="0" err="1"/>
                  <a:t>многократно</a:t>
                </a:r>
                <a:r>
                  <a:rPr lang="en-US" dirty="0"/>
                  <a:t> </a:t>
                </a:r>
                <a:r>
                  <a:rPr lang="en-US" dirty="0" err="1"/>
                  <a:t>порождает</a:t>
                </a:r>
                <a:r>
                  <a:rPr lang="en-US" dirty="0"/>
                  <a:t> </a:t>
                </a:r>
                <a:r>
                  <a:rPr lang="en-US" dirty="0" err="1"/>
                  <a:t>отдельные</a:t>
                </a:r>
                <a:r>
                  <a:rPr lang="en-US" dirty="0"/>
                  <a:t> </a:t>
                </a:r>
                <a:r>
                  <a:rPr lang="en-US" dirty="0" err="1"/>
                  <a:t>экземпляры</a:t>
                </a:r>
                <a:r>
                  <a:rPr lang="en-US" dirty="0"/>
                  <a:t> </a:t>
                </a:r>
                <a:r>
                  <a:rPr lang="en-US" dirty="0" err="1"/>
                  <a:t>работы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/>
                  <a:t>В </a:t>
                </a:r>
                <a:r>
                  <a:rPr lang="en-US" dirty="0" err="1"/>
                  <a:t>англоязычной</a:t>
                </a:r>
                <a:r>
                  <a:rPr lang="en-US" dirty="0"/>
                  <a:t> </a:t>
                </a:r>
                <a:r>
                  <a:rPr lang="en-US" dirty="0" err="1"/>
                  <a:t>литературе</a:t>
                </a:r>
                <a:r>
                  <a:rPr lang="en-US" dirty="0"/>
                  <a:t> </a:t>
                </a:r>
                <a:r>
                  <a:rPr lang="en-US" dirty="0" err="1"/>
                  <a:t>такой</a:t>
                </a:r>
                <a:r>
                  <a:rPr lang="en-US" dirty="0"/>
                  <a:t> </a:t>
                </a:r>
                <a:r>
                  <a:rPr lang="en-US" dirty="0" err="1"/>
                  <a:t>экземпляр</a:t>
                </a:r>
                <a:r>
                  <a:rPr lang="en-US" dirty="0"/>
                  <a:t> </a:t>
                </a:r>
                <a:r>
                  <a:rPr lang="en-US" dirty="0" err="1"/>
                  <a:t>часто</a:t>
                </a:r>
                <a:r>
                  <a:rPr lang="en-US" dirty="0"/>
                  <a:t> </a:t>
                </a:r>
                <a:r>
                  <a:rPr lang="en-US" dirty="0" err="1"/>
                  <a:t>называется</a:t>
                </a:r>
                <a:r>
                  <a:rPr lang="en-US" dirty="0"/>
                  <a:t> Job.</a:t>
                </a:r>
              </a:p>
              <a:p>
                <a:r>
                  <a:rPr lang="en-US" dirty="0" err="1"/>
                  <a:t>Для</a:t>
                </a:r>
                <a:r>
                  <a:rPr lang="en-US" dirty="0"/>
                  <a:t> </a:t>
                </a:r>
                <a:r>
                  <a:rPr lang="en-US" dirty="0" err="1"/>
                  <a:t>описания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 </a:t>
                </a:r>
                <a:r>
                  <a:rPr lang="en-US" dirty="0" err="1"/>
                  <a:t>введём</a:t>
                </a:r>
                <a:r>
                  <a:rPr lang="en-US" dirty="0"/>
                  <a:t> </a:t>
                </a:r>
                <a:r>
                  <a:rPr lang="en-US" dirty="0" err="1"/>
                  <a:t>три</a:t>
                </a:r>
                <a:r>
                  <a:rPr lang="en-US" dirty="0"/>
                  <a:t> </a:t>
                </a:r>
                <a:r>
                  <a:rPr lang="en-US" dirty="0" err="1"/>
                  <a:t>параметра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Первый</a:t>
                </a:r>
                <a:r>
                  <a:rPr lang="en-US" dirty="0"/>
                  <a:t> </a:t>
                </a:r>
                <a:r>
                  <a:rPr lang="en-US" dirty="0" err="1"/>
                  <a:t>параметр</a:t>
                </a:r>
                <a:r>
                  <a:rPr lang="en-US" dirty="0"/>
                  <a:t> —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процессорных</a:t>
                </a:r>
                <a:r>
                  <a:rPr lang="en-US" dirty="0"/>
                  <a:t> </a:t>
                </a:r>
                <a:r>
                  <a:rPr lang="en-US" dirty="0" err="1"/>
                  <a:t>вычислений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Для</a:t>
                </a:r>
                <a:r>
                  <a:rPr lang="en-US" dirty="0"/>
                  <a:t> </a:t>
                </a:r>
                <a:r>
                  <a:rPr lang="en-US" dirty="0" err="1"/>
                  <a:t>анализа</a:t>
                </a:r>
                <a:r>
                  <a:rPr lang="en-US" dirty="0"/>
                  <a:t> </a:t>
                </a:r>
                <a:r>
                  <a:rPr lang="en-US" dirty="0" err="1"/>
                  <a:t>жёстких</a:t>
                </a:r>
                <a:r>
                  <a:rPr lang="en-US" dirty="0"/>
                  <a:t> </a:t>
                </a:r>
                <a:r>
                  <a:rPr lang="en-US" dirty="0" err="1"/>
                  <a:t>временных</a:t>
                </a:r>
                <a:r>
                  <a:rPr lang="en-US" dirty="0"/>
                  <a:t> </a:t>
                </a:r>
                <a:r>
                  <a:rPr lang="en-US" dirty="0" err="1"/>
                  <a:t>ограничений</a:t>
                </a:r>
                <a:r>
                  <a:rPr lang="en-US" dirty="0"/>
                  <a:t> </a:t>
                </a:r>
                <a:r>
                  <a:rPr lang="en-US" dirty="0" err="1"/>
                  <a:t>нас</a:t>
                </a:r>
                <a:r>
                  <a:rPr lang="en-US" dirty="0"/>
                  <a:t> </a:t>
                </a:r>
                <a:r>
                  <a:rPr lang="en-US" dirty="0" err="1"/>
                  <a:t>интересует</a:t>
                </a:r>
                <a:r>
                  <a:rPr lang="en-US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среднее</a:t>
                </a:r>
                <a:r>
                  <a:rPr lang="en-US" dirty="0"/>
                  <a:t>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выполнения</a:t>
                </a:r>
                <a:r>
                  <a:rPr lang="en-US" dirty="0"/>
                  <a:t>, а </a:t>
                </a:r>
                <a:r>
                  <a:rPr lang="en-US" dirty="0" err="1"/>
                  <a:t>его</a:t>
                </a:r>
                <a:r>
                  <a:rPr lang="en-US" dirty="0"/>
                  <a:t> </a:t>
                </a:r>
                <a:r>
                  <a:rPr lang="en-US" dirty="0" err="1"/>
                  <a:t>верхняя</a:t>
                </a:r>
                <a:r>
                  <a:rPr lang="en-US" dirty="0"/>
                  <a:t> </a:t>
                </a:r>
                <a:r>
                  <a:rPr lang="en-US" dirty="0" err="1"/>
                  <a:t>оценка</a:t>
                </a:r>
                <a:r>
                  <a:rPr lang="en-US" dirty="0"/>
                  <a:t> — Worst-Case Execution Time, </a:t>
                </a:r>
                <a:r>
                  <a:rPr lang="en-US" dirty="0" err="1"/>
                  <a:t>или</a:t>
                </a:r>
                <a:r>
                  <a:rPr lang="en-US" dirty="0"/>
                  <a:t> WCET.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Например</a:t>
                </a:r>
                <a:r>
                  <a:rPr lang="en-US" dirty="0"/>
                  <a:t>, </a:t>
                </a:r>
                <a:r>
                  <a:rPr lang="en-US" dirty="0" err="1"/>
                  <a:t>если</a:t>
                </a:r>
                <a:r>
                  <a:rPr lang="en-US" dirty="0"/>
                  <a:t> </a:t>
                </a:r>
                <a:r>
                  <a:rPr lang="en-US" dirty="0" err="1"/>
                  <a:t>обычно</a:t>
                </a:r>
                <a:r>
                  <a:rPr lang="en-US" dirty="0"/>
                  <a:t> </a:t>
                </a:r>
                <a:r>
                  <a:rPr lang="en-US" dirty="0" err="1"/>
                  <a:t>обработка</a:t>
                </a:r>
                <a:r>
                  <a:rPr lang="en-US" dirty="0"/>
                  <a:t> </a:t>
                </a:r>
                <a:r>
                  <a:rPr lang="en-US" dirty="0" err="1"/>
                  <a:t>датчика</a:t>
                </a:r>
                <a:r>
                  <a:rPr lang="en-US" dirty="0"/>
                  <a:t> </a:t>
                </a:r>
                <a:r>
                  <a:rPr lang="en-US" dirty="0" err="1"/>
                  <a:t>занимает</a:t>
                </a:r>
                <a:r>
                  <a:rPr lang="en-US" dirty="0"/>
                  <a:t> 1 </a:t>
                </a:r>
                <a:r>
                  <a:rPr lang="en-US" dirty="0" err="1"/>
                  <a:t>миллисекунду</a:t>
                </a:r>
                <a:r>
                  <a:rPr lang="en-US" dirty="0"/>
                  <a:t>, </a:t>
                </a:r>
                <a:r>
                  <a:rPr lang="en-US" dirty="0" err="1"/>
                  <a:t>но</a:t>
                </a:r>
                <a:r>
                  <a:rPr lang="en-US" dirty="0"/>
                  <a:t> в </a:t>
                </a:r>
                <a:r>
                  <a:rPr lang="en-US" dirty="0" err="1"/>
                  <a:t>самом</a:t>
                </a:r>
                <a:r>
                  <a:rPr lang="en-US" dirty="0"/>
                  <a:t> </a:t>
                </a:r>
                <a:r>
                  <a:rPr lang="en-US" dirty="0" err="1"/>
                  <a:t>неблагоприятном</a:t>
                </a:r>
                <a:r>
                  <a:rPr lang="en-US" dirty="0"/>
                  <a:t> </a:t>
                </a:r>
                <a:r>
                  <a:rPr lang="en-US" dirty="0" err="1"/>
                  <a:t>предусмотренном</a:t>
                </a:r>
                <a:r>
                  <a:rPr lang="en-US" dirty="0"/>
                  <a:t> </a:t>
                </a:r>
                <a:r>
                  <a:rPr lang="en-US" dirty="0" err="1"/>
                  <a:t>случае</a:t>
                </a:r>
                <a:r>
                  <a:rPr lang="en-US" dirty="0"/>
                  <a:t> </a:t>
                </a:r>
                <a:r>
                  <a:rPr lang="en-US" dirty="0" err="1"/>
                  <a:t>может</a:t>
                </a:r>
                <a:r>
                  <a:rPr lang="en-US" dirty="0"/>
                  <a:t> </a:t>
                </a:r>
                <a:r>
                  <a:rPr lang="en-US" dirty="0" err="1"/>
                  <a:t>занять</a:t>
                </a:r>
                <a:r>
                  <a:rPr lang="en-US" dirty="0"/>
                  <a:t> 3 </a:t>
                </a:r>
                <a:r>
                  <a:rPr lang="en-US" dirty="0" err="1"/>
                  <a:t>миллисекунды</a:t>
                </a:r>
                <a:r>
                  <a:rPr lang="en-US" dirty="0"/>
                  <a:t>, </a:t>
                </a:r>
                <a:r>
                  <a:rPr lang="en-US" dirty="0" err="1"/>
                  <a:t>для</a:t>
                </a:r>
                <a:r>
                  <a:rPr lang="en-US" dirty="0"/>
                  <a:t> </a:t>
                </a:r>
                <a:r>
                  <a:rPr lang="en-US" dirty="0" err="1"/>
                  <a:t>анализа</a:t>
                </a:r>
                <a:r>
                  <a:rPr lang="en-US" dirty="0"/>
                  <a:t> </a:t>
                </a:r>
                <a:r>
                  <a:rPr lang="en-US" dirty="0" err="1"/>
                  <a:t>нужно</a:t>
                </a:r>
                <a:r>
                  <a:rPr lang="en-US" dirty="0"/>
                  <a:t> </a:t>
                </a:r>
                <a:r>
                  <a:rPr lang="en-US" dirty="0" err="1"/>
                  <a:t>использовать</a:t>
                </a:r>
                <a:r>
                  <a:rPr lang="en-US" dirty="0"/>
                  <a:t> 3 </a:t>
                </a:r>
                <a:r>
                  <a:rPr lang="en-US" dirty="0" err="1"/>
                  <a:t>миллисекунды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Второй</a:t>
                </a:r>
                <a:r>
                  <a:rPr lang="en-US" dirty="0"/>
                  <a:t> </a:t>
                </a:r>
                <a:r>
                  <a:rPr lang="en-US" dirty="0" err="1"/>
                  <a:t>параметр</a:t>
                </a:r>
                <a:r>
                  <a:rPr lang="en-US" dirty="0"/>
                  <a:t> —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период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Он</a:t>
                </a:r>
                <a:r>
                  <a:rPr lang="en-US" dirty="0"/>
                  <a:t> </a:t>
                </a:r>
                <a:r>
                  <a:rPr lang="en-US" dirty="0" err="1"/>
                  <a:t>показывает</a:t>
                </a:r>
                <a:r>
                  <a:rPr lang="en-US" dirty="0"/>
                  <a:t>, </a:t>
                </a:r>
                <a:r>
                  <a:rPr lang="en-US" dirty="0" err="1"/>
                  <a:t>как</a:t>
                </a:r>
                <a:r>
                  <a:rPr lang="en-US" dirty="0"/>
                  <a:t> </a:t>
                </a:r>
                <a:r>
                  <a:rPr lang="en-US" dirty="0" err="1"/>
                  <a:t>часто</a:t>
                </a:r>
                <a:r>
                  <a:rPr lang="en-US" dirty="0"/>
                  <a:t> </a:t>
                </a:r>
                <a:r>
                  <a:rPr lang="en-US" dirty="0" err="1"/>
                  <a:t>появляются</a:t>
                </a:r>
                <a:r>
                  <a:rPr lang="en-US" dirty="0"/>
                  <a:t> </a:t>
                </a:r>
                <a:r>
                  <a:rPr lang="en-US" dirty="0" err="1"/>
                  <a:t>новые</a:t>
                </a:r>
                <a:r>
                  <a:rPr lang="en-US" dirty="0"/>
                  <a:t> </a:t>
                </a:r>
                <a:r>
                  <a:rPr lang="en-US" dirty="0" err="1"/>
                  <a:t>экземпляры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Если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0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ru-RU" dirty="0"/>
                  <a:t>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, </a:t>
                </a:r>
                <a:r>
                  <a:rPr lang="en-US" dirty="0" err="1"/>
                  <a:t>новые</a:t>
                </a:r>
                <a:r>
                  <a:rPr lang="en-US" dirty="0"/>
                  <a:t> </a:t>
                </a:r>
                <a:r>
                  <a:rPr lang="en-US" dirty="0" err="1"/>
                  <a:t>экземпляры</a:t>
                </a:r>
                <a:r>
                  <a:rPr lang="en-US" dirty="0"/>
                  <a:t> </a:t>
                </a:r>
                <a:r>
                  <a:rPr lang="en-US" dirty="0" err="1"/>
                  <a:t>поступают</a:t>
                </a:r>
                <a:r>
                  <a:rPr lang="en-US" dirty="0"/>
                  <a:t> в </a:t>
                </a:r>
                <a:r>
                  <a:rPr lang="en-US" dirty="0" err="1"/>
                  <a:t>моменты</a:t>
                </a:r>
                <a:r>
                  <a:rPr lang="en-US" dirty="0"/>
                  <a:t> 0, 10, 20, 30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 и </a:t>
                </a:r>
                <a:r>
                  <a:rPr lang="en-US" dirty="0" err="1"/>
                  <a:t>так</a:t>
                </a:r>
                <a:r>
                  <a:rPr lang="en-US" dirty="0"/>
                  <a:t> </a:t>
                </a:r>
                <a:r>
                  <a:rPr lang="en-US" dirty="0" err="1"/>
                  <a:t>далее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Третий</a:t>
                </a:r>
                <a:r>
                  <a:rPr lang="en-US" dirty="0"/>
                  <a:t> </a:t>
                </a:r>
                <a:r>
                  <a:rPr lang="en-US" dirty="0" err="1"/>
                  <a:t>параметр</a:t>
                </a:r>
                <a:r>
                  <a:rPr lang="en-US" dirty="0"/>
                  <a:t> —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относительный</a:t>
                </a:r>
                <a:r>
                  <a:rPr lang="en-US" dirty="0"/>
                  <a:t> Deadline.</a:t>
                </a:r>
              </a:p>
              <a:p>
                <a:r>
                  <a:rPr lang="en-US" dirty="0" err="1"/>
                  <a:t>Он</a:t>
                </a:r>
                <a:r>
                  <a:rPr lang="en-US" dirty="0"/>
                  <a:t> </a:t>
                </a:r>
                <a:r>
                  <a:rPr lang="en-US" dirty="0" err="1"/>
                  <a:t>определяет</a:t>
                </a:r>
                <a:r>
                  <a:rPr lang="en-US" dirty="0"/>
                  <a:t>, </a:t>
                </a:r>
                <a:r>
                  <a:rPr lang="en-US" dirty="0" err="1"/>
                  <a:t>сколько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 </a:t>
                </a:r>
                <a:r>
                  <a:rPr lang="en-US" dirty="0" err="1"/>
                  <a:t>допускается</a:t>
                </a:r>
                <a:r>
                  <a:rPr lang="en-US" dirty="0"/>
                  <a:t> </a:t>
                </a:r>
                <a:r>
                  <a:rPr lang="en-US" dirty="0" err="1"/>
                  <a:t>между</a:t>
                </a:r>
                <a:r>
                  <a:rPr lang="en-US" dirty="0"/>
                  <a:t> </a:t>
                </a:r>
                <a:r>
                  <a:rPr lang="en-US" dirty="0" err="1"/>
                  <a:t>поступлением</a:t>
                </a:r>
                <a:r>
                  <a:rPr lang="en-US" dirty="0"/>
                  <a:t> </a:t>
                </a:r>
                <a:r>
                  <a:rPr lang="en-US" dirty="0" err="1"/>
                  <a:t>экземпляра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 и </a:t>
                </a:r>
                <a:r>
                  <a:rPr lang="en-US" dirty="0" err="1"/>
                  <a:t>его</a:t>
                </a:r>
                <a:r>
                  <a:rPr lang="en-US" dirty="0"/>
                  <a:t> </a:t>
                </a:r>
                <a:r>
                  <a:rPr lang="en-US" dirty="0" err="1"/>
                  <a:t>завершением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/>
                  <a:t>В </a:t>
                </a:r>
                <a:r>
                  <a:rPr lang="en-US" dirty="0" err="1"/>
                  <a:t>простейшем</a:t>
                </a:r>
                <a:r>
                  <a:rPr lang="en-US" dirty="0"/>
                  <a:t> </a:t>
                </a:r>
                <a:r>
                  <a:rPr lang="en-US" dirty="0" err="1"/>
                  <a:t>случае</a:t>
                </a:r>
                <a:r>
                  <a:rPr lang="en-US" dirty="0"/>
                  <a:t> </a:t>
                </a:r>
                <a:r>
                  <a:rPr lang="en-US" dirty="0" err="1"/>
                  <a:t>дедлайн</a:t>
                </a:r>
                <a:r>
                  <a:rPr lang="en-US" dirty="0"/>
                  <a:t> </a:t>
                </a:r>
                <a:r>
                  <a:rPr lang="en-US" dirty="0" err="1"/>
                  <a:t>совпадает</a:t>
                </a:r>
                <a:r>
                  <a:rPr lang="en-US" dirty="0"/>
                  <a:t> с </a:t>
                </a:r>
                <a:r>
                  <a:rPr lang="en-US" dirty="0" err="1"/>
                  <a:t>периодом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Например</a:t>
                </a:r>
                <a:r>
                  <a:rPr lang="en-US" dirty="0"/>
                  <a:t>, </a:t>
                </a:r>
                <a:r>
                  <a:rPr lang="en-US" dirty="0" err="1"/>
                  <a:t>задача</a:t>
                </a:r>
                <a:r>
                  <a:rPr lang="en-US" dirty="0"/>
                  <a:t> </a:t>
                </a:r>
                <a:r>
                  <a:rPr lang="en-US" dirty="0" err="1"/>
                  <a:t>поступила</a:t>
                </a:r>
                <a:r>
                  <a:rPr lang="en-US" dirty="0"/>
                  <a:t> в </a:t>
                </a:r>
                <a:r>
                  <a:rPr lang="en-US" dirty="0" err="1"/>
                  <a:t>момент</a:t>
                </a:r>
                <a:r>
                  <a:rPr lang="en-US" dirty="0"/>
                  <a:t> 0 и </a:t>
                </a:r>
                <a:r>
                  <a:rPr lang="en-US" dirty="0" err="1"/>
                  <a:t>должна</a:t>
                </a:r>
                <a:r>
                  <a:rPr lang="en-US" dirty="0"/>
                  <a:t> </a:t>
                </a:r>
                <a:r>
                  <a:rPr lang="en-US" dirty="0" err="1"/>
                  <a:t>завершиться</a:t>
                </a:r>
                <a:r>
                  <a:rPr lang="en-US" dirty="0"/>
                  <a:t> </a:t>
                </a:r>
                <a:r>
                  <a:rPr lang="en-US" dirty="0" err="1"/>
                  <a:t>до</a:t>
                </a:r>
                <a:r>
                  <a:rPr lang="en-US" dirty="0"/>
                  <a:t> </a:t>
                </a:r>
                <a:r>
                  <a:rPr lang="en-US" dirty="0" err="1"/>
                  <a:t>момента</a:t>
                </a:r>
                <a:r>
                  <a:rPr lang="en-US" dirty="0"/>
                  <a:t> 10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ru-RU" dirty="0"/>
              </a:p>
              <a:p>
                <a:r>
                  <a:rPr lang="en-US" dirty="0" err="1"/>
                  <a:t>Следующая</a:t>
                </a:r>
                <a:r>
                  <a:rPr lang="en-US" dirty="0"/>
                  <a:t> </a:t>
                </a:r>
                <a:r>
                  <a:rPr lang="en-US" dirty="0" err="1"/>
                  <a:t>поступит</a:t>
                </a:r>
                <a:r>
                  <a:rPr lang="en-US" dirty="0"/>
                  <a:t> в </a:t>
                </a:r>
                <a:r>
                  <a:rPr lang="en-US" dirty="0" err="1"/>
                  <a:t>момент</a:t>
                </a:r>
                <a:r>
                  <a:rPr lang="en-US" dirty="0"/>
                  <a:t> 10 и </a:t>
                </a:r>
                <a:r>
                  <a:rPr lang="en-US" dirty="0" err="1"/>
                  <a:t>должна</a:t>
                </a:r>
                <a:r>
                  <a:rPr lang="en-US" dirty="0"/>
                  <a:t> </a:t>
                </a:r>
                <a:r>
                  <a:rPr lang="en-US" dirty="0" err="1"/>
                  <a:t>завершиться</a:t>
                </a:r>
                <a:r>
                  <a:rPr lang="en-US" dirty="0"/>
                  <a:t> </a:t>
                </a:r>
                <a:r>
                  <a:rPr lang="en-US" dirty="0" err="1"/>
                  <a:t>до</a:t>
                </a:r>
                <a:r>
                  <a:rPr lang="en-US" dirty="0"/>
                  <a:t> </a:t>
                </a:r>
                <a:r>
                  <a:rPr lang="en-US" dirty="0" err="1"/>
                  <a:t>момента</a:t>
                </a:r>
                <a:r>
                  <a:rPr lang="en-US" dirty="0"/>
                  <a:t> 20.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Однако</a:t>
                </a:r>
                <a:r>
                  <a:rPr lang="en-US" dirty="0"/>
                  <a:t> в </a:t>
                </a:r>
                <a:r>
                  <a:rPr lang="en-US" dirty="0" err="1"/>
                  <a:t>общем</a:t>
                </a:r>
                <a:r>
                  <a:rPr lang="en-US" dirty="0"/>
                  <a:t> </a:t>
                </a:r>
                <a:r>
                  <a:rPr lang="en-US" dirty="0" err="1"/>
                  <a:t>случае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ru-RU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обязательно</a:t>
                </a:r>
                <a:r>
                  <a:rPr lang="en-US" dirty="0"/>
                  <a:t> </a:t>
                </a:r>
                <a:r>
                  <a:rPr lang="en-US" dirty="0" err="1"/>
                  <a:t>равно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 err="1"/>
                  <a:t>Например</a:t>
                </a:r>
                <a:r>
                  <a:rPr lang="en-US" dirty="0"/>
                  <a:t>, </a:t>
                </a:r>
                <a:r>
                  <a:rPr lang="en-US" dirty="0" err="1"/>
                  <a:t>датчик</a:t>
                </a:r>
                <a:r>
                  <a:rPr lang="en-US" dirty="0"/>
                  <a:t> </a:t>
                </a:r>
                <a:r>
                  <a:rPr lang="en-US" dirty="0" err="1"/>
                  <a:t>может</a:t>
                </a:r>
                <a:r>
                  <a:rPr lang="en-US" dirty="0"/>
                  <a:t> </a:t>
                </a:r>
                <a:r>
                  <a:rPr lang="en-US" dirty="0" err="1"/>
                  <a:t>опрашиваться</a:t>
                </a:r>
                <a:r>
                  <a:rPr lang="en-US" dirty="0"/>
                  <a:t> </a:t>
                </a:r>
                <a:r>
                  <a:rPr lang="en-US" dirty="0" err="1"/>
                  <a:t>каждые</a:t>
                </a:r>
                <a:r>
                  <a:rPr lang="en-US" dirty="0"/>
                  <a:t> 10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, </a:t>
                </a:r>
                <a:r>
                  <a:rPr lang="en-US" dirty="0" err="1"/>
                  <a:t>но</a:t>
                </a:r>
                <a:r>
                  <a:rPr lang="en-US" dirty="0"/>
                  <a:t> </a:t>
                </a:r>
                <a:r>
                  <a:rPr lang="en-US" dirty="0" err="1"/>
                  <a:t>обработать</a:t>
                </a:r>
                <a:r>
                  <a:rPr lang="en-US" dirty="0"/>
                  <a:t> </a:t>
                </a:r>
                <a:r>
                  <a:rPr lang="en-US" dirty="0" err="1"/>
                  <a:t>его</a:t>
                </a:r>
                <a:r>
                  <a:rPr lang="en-US" dirty="0"/>
                  <a:t> </a:t>
                </a:r>
                <a:r>
                  <a:rPr lang="en-US" dirty="0" err="1"/>
                  <a:t>показания</a:t>
                </a:r>
                <a:r>
                  <a:rPr lang="en-US" dirty="0"/>
                  <a:t> </a:t>
                </a:r>
                <a:r>
                  <a:rPr lang="en-US" dirty="0" err="1"/>
                  <a:t>необходимо</a:t>
                </a:r>
                <a:r>
                  <a:rPr lang="en-US" dirty="0"/>
                  <a:t> в </a:t>
                </a:r>
                <a:r>
                  <a:rPr lang="en-US" dirty="0" err="1"/>
                  <a:t>течение</a:t>
                </a:r>
                <a:r>
                  <a:rPr lang="en-US" dirty="0"/>
                  <a:t> </a:t>
                </a:r>
                <a:r>
                  <a:rPr lang="en-US" dirty="0" err="1"/>
                  <a:t>первых</a:t>
                </a:r>
                <a:r>
                  <a:rPr lang="en-US" dirty="0"/>
                  <a:t> 5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 </a:t>
                </a:r>
                <a:r>
                  <a:rPr lang="en-US" dirty="0" err="1"/>
                  <a:t>после</a:t>
                </a:r>
                <a:r>
                  <a:rPr lang="en-US" dirty="0"/>
                  <a:t> </a:t>
                </a:r>
                <a:r>
                  <a:rPr lang="en-US" dirty="0" err="1"/>
                  <a:t>опроса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Тогда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0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/>
                  <a:t>, а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0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 err="1"/>
                  <a:t>Обратите</a:t>
                </a:r>
                <a:r>
                  <a:rPr lang="en-US" dirty="0"/>
                  <a:t> </a:t>
                </a:r>
                <a:r>
                  <a:rPr lang="en-US" dirty="0" err="1"/>
                  <a:t>внимание</a:t>
                </a:r>
                <a:r>
                  <a:rPr lang="en-US" dirty="0"/>
                  <a:t>: </a:t>
                </a:r>
                <a:r>
                  <a:rPr lang="en-US" dirty="0" err="1"/>
                  <a:t>важно</a:t>
                </a:r>
                <a:r>
                  <a:rPr lang="en-US" dirty="0"/>
                  <a:t> </a:t>
                </a:r>
                <a:r>
                  <a:rPr lang="en-US" dirty="0" err="1"/>
                  <a:t>различать</a:t>
                </a:r>
                <a:r>
                  <a:rPr lang="en-US" dirty="0"/>
                  <a:t> </a:t>
                </a:r>
                <a:r>
                  <a:rPr lang="en-US" dirty="0" err="1"/>
                  <a:t>относительный</a:t>
                </a:r>
                <a:r>
                  <a:rPr lang="en-US" dirty="0"/>
                  <a:t> и </a:t>
                </a:r>
                <a:r>
                  <a:rPr lang="en-US" dirty="0" err="1"/>
                  <a:t>абсолютный</a:t>
                </a:r>
                <a:r>
                  <a:rPr lang="en-US" dirty="0"/>
                  <a:t> </a:t>
                </a:r>
                <a:r>
                  <a:rPr lang="en-US" dirty="0" err="1"/>
                  <a:t>дедлайн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Относительный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ru-RU" dirty="0"/>
                  <a:t> </a:t>
                </a:r>
                <a:r>
                  <a:rPr lang="en-US" dirty="0" err="1"/>
                  <a:t>задаёт</a:t>
                </a:r>
                <a:r>
                  <a:rPr lang="en-US" dirty="0"/>
                  <a:t> </a:t>
                </a:r>
                <a:r>
                  <a:rPr lang="en-US" dirty="0" err="1"/>
                  <a:t>допустимое</a:t>
                </a:r>
                <a:r>
                  <a:rPr lang="en-US" dirty="0"/>
                  <a:t>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выполнения</a:t>
                </a:r>
                <a:r>
                  <a:rPr lang="en-US" dirty="0"/>
                  <a:t> </a:t>
                </a:r>
                <a:r>
                  <a:rPr lang="en-US" dirty="0" err="1"/>
                  <a:t>после</a:t>
                </a:r>
                <a:r>
                  <a:rPr lang="en-US" dirty="0"/>
                  <a:t> </a:t>
                </a:r>
                <a:r>
                  <a:rPr lang="en-US" dirty="0" err="1"/>
                  <a:t>поступления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Абсолютный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— </a:t>
                </a:r>
                <a:r>
                  <a:rPr lang="en-US" dirty="0" err="1"/>
                  <a:t>конкретный</a:t>
                </a:r>
                <a:r>
                  <a:rPr lang="en-US" dirty="0"/>
                  <a:t> </a:t>
                </a:r>
                <a:r>
                  <a:rPr lang="en-US" dirty="0" err="1"/>
                  <a:t>момент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, к </a:t>
                </a:r>
                <a:r>
                  <a:rPr lang="en-US" dirty="0" err="1"/>
                  <a:t>которому</a:t>
                </a:r>
                <a:r>
                  <a:rPr lang="en-US" dirty="0"/>
                  <a:t> </a:t>
                </a:r>
                <a:r>
                  <a:rPr lang="en-US" dirty="0" err="1"/>
                  <a:t>должен</a:t>
                </a:r>
                <a:r>
                  <a:rPr lang="en-US" dirty="0"/>
                  <a:t> </a:t>
                </a:r>
                <a:r>
                  <a:rPr lang="en-US" dirty="0" err="1"/>
                  <a:t>завершиться</a:t>
                </a:r>
                <a:r>
                  <a:rPr lang="en-US" dirty="0"/>
                  <a:t> </a:t>
                </a:r>
                <a:r>
                  <a:rPr lang="en-US" dirty="0" err="1"/>
                  <a:t>определённый</a:t>
                </a:r>
                <a:r>
                  <a:rPr lang="en-US" dirty="0"/>
                  <a:t> </a:t>
                </a:r>
                <a:r>
                  <a:rPr lang="en-US" dirty="0" err="1"/>
                  <a:t>экземпляр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Если</a:t>
                </a:r>
                <a:r>
                  <a:rPr lang="en-US" dirty="0"/>
                  <a:t> </a:t>
                </a:r>
                <a:r>
                  <a:rPr lang="en-US" dirty="0" err="1"/>
                  <a:t>экземпляр</a:t>
                </a:r>
                <a:r>
                  <a:rPr lang="en-US" dirty="0"/>
                  <a:t> </a:t>
                </a:r>
                <a:r>
                  <a:rPr lang="en-US" dirty="0" err="1"/>
                  <a:t>поступил</a:t>
                </a:r>
                <a:r>
                  <a:rPr lang="en-US" dirty="0"/>
                  <a:t> в </a:t>
                </a:r>
                <a:r>
                  <a:rPr lang="en-US" dirty="0" err="1"/>
                  <a:t>момент</a:t>
                </a:r>
                <a:r>
                  <a:rPr lang="en-US" dirty="0"/>
                  <a:t> 20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, а </a:t>
                </a:r>
                <a:r>
                  <a:rPr lang="en-US" dirty="0" err="1"/>
                  <a:t>относительный</a:t>
                </a:r>
                <a:r>
                  <a:rPr lang="en-US" dirty="0"/>
                  <a:t> </a:t>
                </a:r>
                <a:r>
                  <a:rPr lang="en-US" dirty="0" err="1"/>
                  <a:t>дедлайн</a:t>
                </a:r>
                <a:r>
                  <a:rPr lang="en-US" dirty="0"/>
                  <a:t> </a:t>
                </a:r>
                <a:r>
                  <a:rPr lang="en-US" dirty="0" err="1"/>
                  <a:t>равен</a:t>
                </a:r>
                <a:r>
                  <a:rPr lang="en-US" dirty="0"/>
                  <a:t> 10 </a:t>
                </a:r>
                <a:r>
                  <a:rPr lang="en-US" dirty="0" err="1"/>
                  <a:t>миллисекундам</a:t>
                </a:r>
                <a:r>
                  <a:rPr lang="en-US" dirty="0"/>
                  <a:t>, </a:t>
                </a:r>
                <a:r>
                  <a:rPr lang="en-US" dirty="0" err="1"/>
                  <a:t>его</a:t>
                </a:r>
                <a:r>
                  <a:rPr lang="en-US" dirty="0"/>
                  <a:t> </a:t>
                </a:r>
                <a:r>
                  <a:rPr lang="en-US" dirty="0" err="1"/>
                  <a:t>абсолютный</a:t>
                </a:r>
                <a:r>
                  <a:rPr lang="en-US" dirty="0"/>
                  <a:t> </a:t>
                </a:r>
                <a:r>
                  <a:rPr lang="en-US" dirty="0" err="1"/>
                  <a:t>дедлайн</a:t>
                </a:r>
                <a:r>
                  <a:rPr lang="en-US" dirty="0"/>
                  <a:t> — 30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Кроме</a:t>
                </a:r>
                <a:r>
                  <a:rPr lang="en-US" dirty="0"/>
                  <a:t> </a:t>
                </a:r>
                <a:r>
                  <a:rPr lang="en-US" dirty="0" err="1"/>
                  <a:t>строго</a:t>
                </a:r>
                <a:r>
                  <a:rPr lang="en-US" dirty="0"/>
                  <a:t> </a:t>
                </a:r>
                <a:r>
                  <a:rPr lang="en-US" dirty="0" err="1"/>
                  <a:t>периодических</a:t>
                </a:r>
                <a:r>
                  <a:rPr lang="en-US" dirty="0"/>
                  <a:t> </a:t>
                </a:r>
                <a:r>
                  <a:rPr lang="en-US" dirty="0" err="1"/>
                  <a:t>задач</a:t>
                </a:r>
                <a:r>
                  <a:rPr lang="en-US" dirty="0"/>
                  <a:t> </a:t>
                </a:r>
                <a:r>
                  <a:rPr lang="en-US" dirty="0" err="1"/>
                  <a:t>существуют</a:t>
                </a:r>
                <a:r>
                  <a:rPr lang="en-US" dirty="0"/>
                  <a:t> </a:t>
                </a:r>
                <a:r>
                  <a:rPr lang="en-US" dirty="0" err="1"/>
                  <a:t>спорадические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, </a:t>
                </a:r>
                <a:r>
                  <a:rPr lang="en-US" dirty="0" err="1"/>
                  <a:t>которые</a:t>
                </a:r>
                <a:r>
                  <a:rPr lang="en-US" dirty="0"/>
                  <a:t> </a:t>
                </a:r>
                <a:r>
                  <a:rPr lang="en-US" dirty="0" err="1"/>
                  <a:t>возникают</a:t>
                </a:r>
                <a:r>
                  <a:rPr lang="en-US" dirty="0"/>
                  <a:t> </a:t>
                </a:r>
                <a:r>
                  <a:rPr lang="en-US" dirty="0" err="1"/>
                  <a:t>нерегулярно</a:t>
                </a:r>
                <a:r>
                  <a:rPr lang="en-US" dirty="0"/>
                  <a:t>, </a:t>
                </a:r>
                <a:r>
                  <a:rPr lang="en-US" dirty="0" err="1"/>
                  <a:t>но</a:t>
                </a:r>
                <a:r>
                  <a:rPr lang="en-US" dirty="0"/>
                  <a:t> </a:t>
                </a:r>
                <a:r>
                  <a:rPr lang="en-US" dirty="0" err="1"/>
                  <a:t>между</a:t>
                </a:r>
                <a:r>
                  <a:rPr lang="en-US" dirty="0"/>
                  <a:t> </a:t>
                </a:r>
                <a:r>
                  <a:rPr lang="en-US" dirty="0" err="1"/>
                  <a:t>их</a:t>
                </a:r>
                <a:r>
                  <a:rPr lang="en-US" dirty="0"/>
                  <a:t> </a:t>
                </a:r>
                <a:r>
                  <a:rPr lang="en-US" dirty="0" err="1"/>
                  <a:t>появлениями</a:t>
                </a:r>
                <a:r>
                  <a:rPr lang="en-US" dirty="0"/>
                  <a:t> </a:t>
                </a:r>
                <a:r>
                  <a:rPr lang="en-US" dirty="0" err="1"/>
                  <a:t>гарантируется</a:t>
                </a:r>
                <a:r>
                  <a:rPr lang="en-US" dirty="0"/>
                  <a:t> </a:t>
                </a:r>
                <a:r>
                  <a:rPr lang="en-US" dirty="0" err="1"/>
                  <a:t>определённый</a:t>
                </a:r>
                <a:r>
                  <a:rPr lang="en-US" dirty="0"/>
                  <a:t> </a:t>
                </a:r>
                <a:r>
                  <a:rPr lang="en-US" dirty="0" err="1"/>
                  <a:t>минимальный</a:t>
                </a:r>
                <a:r>
                  <a:rPr lang="en-US" dirty="0"/>
                  <a:t> </a:t>
                </a:r>
                <a:r>
                  <a:rPr lang="en-US" dirty="0" err="1"/>
                  <a:t>интервал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Например</a:t>
                </a:r>
                <a:r>
                  <a:rPr lang="en-US" dirty="0"/>
                  <a:t>, </a:t>
                </a:r>
                <a:r>
                  <a:rPr lang="en-US" dirty="0" err="1"/>
                  <a:t>система</a:t>
                </a:r>
                <a:r>
                  <a:rPr lang="en-US" dirty="0"/>
                  <a:t> </a:t>
                </a:r>
                <a:r>
                  <a:rPr lang="en-US" dirty="0" err="1"/>
                  <a:t>должна</a:t>
                </a:r>
                <a:r>
                  <a:rPr lang="en-US" dirty="0"/>
                  <a:t> </a:t>
                </a:r>
                <a:r>
                  <a:rPr lang="en-US" dirty="0" err="1"/>
                  <a:t>реагировать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тревожные</a:t>
                </a:r>
                <a:r>
                  <a:rPr lang="en-US" dirty="0"/>
                  <a:t> </a:t>
                </a:r>
                <a:r>
                  <a:rPr lang="en-US" dirty="0" err="1"/>
                  <a:t>сигналы</a:t>
                </a:r>
                <a:r>
                  <a:rPr lang="en-US" dirty="0"/>
                  <a:t>, </a:t>
                </a:r>
                <a:r>
                  <a:rPr lang="en-US" dirty="0" err="1"/>
                  <a:t>которые</a:t>
                </a:r>
                <a:r>
                  <a:rPr lang="en-US" dirty="0"/>
                  <a:t> </a:t>
                </a:r>
                <a:r>
                  <a:rPr lang="en-US" dirty="0" err="1"/>
                  <a:t>могут</a:t>
                </a:r>
                <a:r>
                  <a:rPr lang="en-US" dirty="0"/>
                  <a:t> </a:t>
                </a:r>
                <a:r>
                  <a:rPr lang="en-US" dirty="0" err="1"/>
                  <a:t>возникнуть</a:t>
                </a:r>
                <a:r>
                  <a:rPr lang="en-US" dirty="0"/>
                  <a:t> в </a:t>
                </a:r>
                <a:r>
                  <a:rPr lang="en-US" dirty="0" err="1"/>
                  <a:t>произвольный</a:t>
                </a:r>
                <a:r>
                  <a:rPr lang="en-US" dirty="0"/>
                  <a:t> </a:t>
                </a:r>
                <a:r>
                  <a:rPr lang="en-US" dirty="0" err="1"/>
                  <a:t>момент</a:t>
                </a:r>
                <a:r>
                  <a:rPr lang="en-US" dirty="0"/>
                  <a:t>, </a:t>
                </a:r>
                <a:r>
                  <a:rPr lang="en-US" dirty="0" err="1"/>
                  <a:t>но</a:t>
                </a:r>
                <a:r>
                  <a:rPr lang="en-US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чаще</a:t>
                </a:r>
                <a:r>
                  <a:rPr lang="en-US" dirty="0"/>
                  <a:t> </a:t>
                </a:r>
                <a:r>
                  <a:rPr lang="en-US" dirty="0" err="1"/>
                  <a:t>установленного</a:t>
                </a:r>
                <a:r>
                  <a:rPr lang="en-US" dirty="0"/>
                  <a:t> </a:t>
                </a:r>
                <a:r>
                  <a:rPr lang="en-US" dirty="0" err="1"/>
                  <a:t>ограничения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Есть</a:t>
                </a:r>
                <a:r>
                  <a:rPr lang="en-US" dirty="0"/>
                  <a:t> и </a:t>
                </a:r>
                <a:r>
                  <a:rPr lang="en-US" dirty="0" err="1"/>
                  <a:t>апериодические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 </a:t>
                </a:r>
                <a:r>
                  <a:rPr lang="en-US" dirty="0" err="1"/>
                  <a:t>без</a:t>
                </a:r>
                <a:r>
                  <a:rPr lang="en-US" dirty="0"/>
                  <a:t> </a:t>
                </a:r>
                <a:r>
                  <a:rPr lang="en-US" dirty="0" err="1"/>
                  <a:t>такого</a:t>
                </a:r>
                <a:r>
                  <a:rPr lang="en-US" dirty="0"/>
                  <a:t> </a:t>
                </a:r>
                <a:r>
                  <a:rPr lang="en-US" dirty="0" err="1"/>
                  <a:t>ограничения</a:t>
                </a:r>
                <a:r>
                  <a:rPr lang="en-US" dirty="0"/>
                  <a:t> </a:t>
                </a:r>
                <a:r>
                  <a:rPr lang="en-US" dirty="0" err="1"/>
                  <a:t>частоты</a:t>
                </a:r>
                <a:r>
                  <a:rPr lang="en-US" dirty="0"/>
                  <a:t> </a:t>
                </a:r>
                <a:r>
                  <a:rPr lang="en-US" dirty="0" err="1"/>
                  <a:t>поступления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В </a:t>
                </a:r>
                <a:r>
                  <a:rPr lang="en-US" dirty="0" err="1"/>
                  <a:t>следующих</a:t>
                </a:r>
                <a:r>
                  <a:rPr lang="en-US" dirty="0"/>
                  <a:t> </a:t>
                </a:r>
                <a:r>
                  <a:rPr lang="en-US" dirty="0" err="1"/>
                  <a:t>примерах</a:t>
                </a:r>
                <a:r>
                  <a:rPr lang="en-US" dirty="0"/>
                  <a:t> </a:t>
                </a:r>
                <a:r>
                  <a:rPr lang="en-US" dirty="0" err="1"/>
                  <a:t>мы</a:t>
                </a:r>
                <a:r>
                  <a:rPr lang="en-US" dirty="0"/>
                  <a:t> </a:t>
                </a:r>
                <a:r>
                  <a:rPr lang="en-US" dirty="0" err="1"/>
                  <a:t>сосредоточимся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периодических</a:t>
                </a:r>
                <a:r>
                  <a:rPr lang="en-US" dirty="0"/>
                  <a:t> </a:t>
                </a:r>
                <a:r>
                  <a:rPr lang="en-US" dirty="0" err="1"/>
                  <a:t>задачах</a:t>
                </a:r>
                <a:r>
                  <a:rPr lang="en-US" dirty="0"/>
                  <a:t> и </a:t>
                </a:r>
                <a:r>
                  <a:rPr lang="en-US" dirty="0" err="1"/>
                  <a:t>примем</a:t>
                </a:r>
                <a:r>
                  <a:rPr lang="en-US" dirty="0"/>
                  <a:t> </a:t>
                </a:r>
                <a:r>
                  <a:rPr lang="en-US" dirty="0" err="1"/>
                  <a:t>для</a:t>
                </a:r>
                <a:r>
                  <a:rPr lang="en-US" dirty="0"/>
                  <a:t> </a:t>
                </a:r>
                <a:r>
                  <a:rPr lang="en-US" dirty="0" err="1"/>
                  <a:t>простоты</a:t>
                </a:r>
                <a:r>
                  <a:rPr lang="en-US" dirty="0"/>
                  <a:t>, </a:t>
                </a:r>
                <a:r>
                  <a:rPr lang="en-US" dirty="0" err="1"/>
                  <a:t>что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 err="1"/>
                  <a:t>Также</a:t>
                </a:r>
                <a:r>
                  <a:rPr lang="en-US" dirty="0"/>
                  <a:t> </a:t>
                </a:r>
                <a:r>
                  <a:rPr lang="en-US" dirty="0" err="1"/>
                  <a:t>будем</a:t>
                </a:r>
                <a:r>
                  <a:rPr lang="en-US" dirty="0"/>
                  <a:t> </a:t>
                </a:r>
                <a:r>
                  <a:rPr lang="en-US" dirty="0" err="1"/>
                  <a:t>считать</a:t>
                </a:r>
                <a:r>
                  <a:rPr lang="en-US" dirty="0"/>
                  <a:t>,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один</a:t>
                </a:r>
                <a:r>
                  <a:rPr lang="en-US" dirty="0"/>
                  <a:t> CPU </a:t>
                </a:r>
                <a:r>
                  <a:rPr lang="en-US" dirty="0" err="1"/>
                  <a:t>выполняет</a:t>
                </a:r>
                <a:r>
                  <a:rPr lang="en-US" dirty="0"/>
                  <a:t> </a:t>
                </a:r>
                <a:r>
                  <a:rPr lang="en-US" dirty="0" err="1"/>
                  <a:t>независимые</a:t>
                </a:r>
                <a:r>
                  <a:rPr lang="en-US" dirty="0"/>
                  <a:t> </a:t>
                </a:r>
                <a:r>
                  <a:rPr lang="en-US" dirty="0" err="1"/>
                  <a:t>вытесняемые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 и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накладными</a:t>
                </a:r>
                <a:r>
                  <a:rPr lang="en-US" dirty="0"/>
                  <a:t> </a:t>
                </a:r>
                <a:r>
                  <a:rPr lang="en-US" dirty="0" err="1"/>
                  <a:t>расходами</a:t>
                </a:r>
                <a:r>
                  <a:rPr lang="en-US" dirty="0"/>
                  <a:t> </a:t>
                </a:r>
                <a:r>
                  <a:rPr lang="en-US" dirty="0" err="1"/>
                  <a:t>планирования</a:t>
                </a:r>
                <a:r>
                  <a:rPr lang="en-US" dirty="0"/>
                  <a:t> </a:t>
                </a:r>
                <a:r>
                  <a:rPr lang="en-US" dirty="0" err="1"/>
                  <a:t>можно</a:t>
                </a:r>
                <a:r>
                  <a:rPr lang="en-US" dirty="0"/>
                  <a:t> </a:t>
                </a:r>
                <a:r>
                  <a:rPr lang="en-US" dirty="0" err="1"/>
                  <a:t>пренебречь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 err="1"/>
                  <a:t>Эти</a:t>
                </a:r>
                <a:r>
                  <a:rPr lang="en-US" dirty="0"/>
                  <a:t> </a:t>
                </a:r>
                <a:r>
                  <a:rPr lang="en-US" dirty="0" err="1"/>
                  <a:t>предположения</a:t>
                </a:r>
                <a:r>
                  <a:rPr lang="en-US" dirty="0"/>
                  <a:t> </a:t>
                </a:r>
                <a:r>
                  <a:rPr lang="en-US" dirty="0" err="1"/>
                  <a:t>позволят</a:t>
                </a:r>
                <a:r>
                  <a:rPr lang="en-US" dirty="0"/>
                  <a:t> </a:t>
                </a:r>
                <a:r>
                  <a:rPr lang="en-US" dirty="0" err="1"/>
                  <a:t>нам</a:t>
                </a:r>
                <a:r>
                  <a:rPr lang="en-US" dirty="0"/>
                  <a:t> </a:t>
                </a:r>
                <a:r>
                  <a:rPr lang="en-US" dirty="0" err="1"/>
                  <a:t>разобраться</a:t>
                </a:r>
                <a:r>
                  <a:rPr lang="en-US" dirty="0"/>
                  <a:t> в </a:t>
                </a:r>
                <a:r>
                  <a:rPr lang="en-US" dirty="0" err="1"/>
                  <a:t>двух</a:t>
                </a:r>
                <a:r>
                  <a:rPr lang="en-US" dirty="0"/>
                  <a:t> </a:t>
                </a:r>
                <a:r>
                  <a:rPr lang="en-US" dirty="0" err="1"/>
                  <a:t>классических</a:t>
                </a:r>
                <a:r>
                  <a:rPr lang="en-US" dirty="0"/>
                  <a:t> </a:t>
                </a:r>
                <a:r>
                  <a:rPr lang="en-US" dirty="0" err="1"/>
                  <a:t>алгоритмах</a:t>
                </a:r>
                <a:r>
                  <a:rPr lang="en-US" dirty="0"/>
                  <a:t> </a:t>
                </a:r>
                <a:r>
                  <a:rPr lang="en-US" dirty="0" err="1"/>
                  <a:t>планирования</a:t>
                </a:r>
                <a:r>
                  <a:rPr lang="en-US" dirty="0"/>
                  <a:t> </a:t>
                </a:r>
                <a:r>
                  <a:rPr lang="en-US" dirty="0" err="1"/>
                  <a:t>реального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 — Rate Monotonic и Earliest Deadline First.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err="1"/>
                  <a:t>Для</a:t>
                </a:r>
                <a:r>
                  <a:rPr lang="en-US" dirty="0"/>
                  <a:t> </a:t>
                </a:r>
                <a:r>
                  <a:rPr lang="en-US" dirty="0" err="1"/>
                  <a:t>анализа</a:t>
                </a:r>
                <a:r>
                  <a:rPr lang="en-US" dirty="0"/>
                  <a:t> </a:t>
                </a:r>
                <a:r>
                  <a:rPr lang="en-US" dirty="0" err="1"/>
                  <a:t>планирования</a:t>
                </a:r>
                <a:r>
                  <a:rPr lang="en-US" dirty="0"/>
                  <a:t> </a:t>
                </a:r>
                <a:r>
                  <a:rPr lang="en-US" dirty="0" err="1"/>
                  <a:t>реального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 </a:t>
                </a:r>
                <a:r>
                  <a:rPr lang="en-US" dirty="0" err="1"/>
                  <a:t>нам</a:t>
                </a:r>
                <a:r>
                  <a:rPr lang="en-US" dirty="0"/>
                  <a:t> </a:t>
                </a:r>
                <a:r>
                  <a:rPr lang="en-US" dirty="0" err="1"/>
                  <a:t>понадобится</a:t>
                </a:r>
                <a:r>
                  <a:rPr lang="en-US" dirty="0"/>
                  <a:t> </a:t>
                </a:r>
                <a:r>
                  <a:rPr lang="en-US" dirty="0" err="1"/>
                  <a:t>более</a:t>
                </a:r>
                <a:r>
                  <a:rPr lang="en-US" dirty="0"/>
                  <a:t> </a:t>
                </a:r>
                <a:r>
                  <a:rPr lang="en-US" dirty="0" err="1"/>
                  <a:t>строгая</a:t>
                </a:r>
                <a:r>
                  <a:rPr lang="en-US" dirty="0"/>
                  <a:t> </a:t>
                </a:r>
                <a:r>
                  <a:rPr lang="en-US" dirty="0" err="1"/>
                  <a:t>модель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/>
                  <a:t>В </a:t>
                </a:r>
                <a:r>
                  <a:rPr lang="en-US" dirty="0" err="1"/>
                  <a:t>обычных</a:t>
                </a:r>
                <a:r>
                  <a:rPr lang="en-US" dirty="0"/>
                  <a:t> </a:t>
                </a:r>
                <a:r>
                  <a:rPr lang="en-US" dirty="0" err="1"/>
                  <a:t>алгоритмах</a:t>
                </a:r>
                <a:r>
                  <a:rPr lang="en-US" dirty="0"/>
                  <a:t> </a:t>
                </a:r>
                <a:r>
                  <a:rPr lang="en-US" dirty="0" err="1"/>
                  <a:t>мы</a:t>
                </a:r>
                <a:r>
                  <a:rPr lang="en-US" dirty="0"/>
                  <a:t> </a:t>
                </a:r>
                <a:r>
                  <a:rPr lang="en-US" dirty="0" err="1"/>
                  <a:t>часто</a:t>
                </a:r>
                <a:r>
                  <a:rPr lang="en-US" dirty="0"/>
                  <a:t> </a:t>
                </a:r>
                <a:r>
                  <a:rPr lang="en-US" dirty="0" err="1"/>
                  <a:t>просто</a:t>
                </a:r>
                <a:r>
                  <a:rPr lang="en-US" dirty="0"/>
                  <a:t> </a:t>
                </a:r>
                <a:r>
                  <a:rPr lang="en-US" dirty="0" err="1"/>
                  <a:t>говорили</a:t>
                </a:r>
                <a:r>
                  <a:rPr lang="en-US" dirty="0"/>
                  <a:t>,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задача</a:t>
                </a:r>
                <a:r>
                  <a:rPr lang="en-US" dirty="0"/>
                  <a:t> </a:t>
                </a:r>
                <a:r>
                  <a:rPr lang="en-US" dirty="0" err="1"/>
                  <a:t>поступила</a:t>
                </a:r>
                <a:r>
                  <a:rPr lang="en-US" dirty="0"/>
                  <a:t> в </a:t>
                </a:r>
                <a:r>
                  <a:rPr lang="en-US" dirty="0" err="1"/>
                  <a:t>определённый</a:t>
                </a:r>
                <a:r>
                  <a:rPr lang="en-US" dirty="0"/>
                  <a:t> </a:t>
                </a:r>
                <a:r>
                  <a:rPr lang="en-US" dirty="0" err="1"/>
                  <a:t>момент</a:t>
                </a:r>
                <a:r>
                  <a:rPr lang="en-US" dirty="0"/>
                  <a:t> и </a:t>
                </a:r>
                <a:r>
                  <a:rPr lang="en-US" dirty="0" err="1"/>
                  <a:t>должна</a:t>
                </a:r>
                <a:r>
                  <a:rPr lang="en-US" dirty="0"/>
                  <a:t> </a:t>
                </a:r>
                <a:r>
                  <a:rPr lang="en-US" dirty="0" err="1"/>
                  <a:t>выполнить</a:t>
                </a:r>
                <a:r>
                  <a:rPr lang="en-US" dirty="0"/>
                  <a:t> </a:t>
                </a:r>
                <a:r>
                  <a:rPr lang="en-US" dirty="0" err="1"/>
                  <a:t>некоторое</a:t>
                </a:r>
                <a:r>
                  <a:rPr lang="en-US" dirty="0"/>
                  <a:t> </a:t>
                </a:r>
                <a:r>
                  <a:rPr lang="en-US" dirty="0" err="1"/>
                  <a:t>количество</a:t>
                </a:r>
                <a:r>
                  <a:rPr lang="en-US" dirty="0"/>
                  <a:t> </a:t>
                </a:r>
                <a:r>
                  <a:rPr lang="en-US" dirty="0" err="1"/>
                  <a:t>вычислений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/>
                  <a:t>В </a:t>
                </a:r>
                <a:r>
                  <a:rPr lang="en-US" dirty="0" err="1"/>
                  <a:t>системах</a:t>
                </a:r>
                <a:r>
                  <a:rPr lang="en-US" dirty="0"/>
                  <a:t> </a:t>
                </a:r>
                <a:r>
                  <a:rPr lang="en-US" dirty="0" err="1"/>
                  <a:t>реального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 </a:t>
                </a:r>
                <a:r>
                  <a:rPr lang="en-US" dirty="0" err="1"/>
                  <a:t>этого</a:t>
                </a:r>
                <a:r>
                  <a:rPr lang="en-US" dirty="0"/>
                  <a:t> </a:t>
                </a:r>
                <a:r>
                  <a:rPr lang="en-US" dirty="0" err="1"/>
                  <a:t>недостаточно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Многие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 </a:t>
                </a:r>
                <a:r>
                  <a:rPr lang="en-US" dirty="0" err="1"/>
                  <a:t>выполняются</a:t>
                </a:r>
                <a:r>
                  <a:rPr lang="en-US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один</a:t>
                </a:r>
                <a:r>
                  <a:rPr lang="en-US" dirty="0"/>
                  <a:t> </a:t>
                </a:r>
                <a:r>
                  <a:rPr lang="en-US" dirty="0" err="1"/>
                  <a:t>раз</a:t>
                </a:r>
                <a:r>
                  <a:rPr lang="en-US" dirty="0"/>
                  <a:t>, а </a:t>
                </a:r>
                <a:r>
                  <a:rPr lang="en-US" dirty="0" err="1"/>
                  <a:t>регулярно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Например</a:t>
                </a:r>
                <a:r>
                  <a:rPr lang="en-US" dirty="0"/>
                  <a:t>, </a:t>
                </a:r>
                <a:r>
                  <a:rPr lang="en-US" dirty="0" err="1"/>
                  <a:t>контроллер</a:t>
                </a:r>
                <a:r>
                  <a:rPr lang="en-US" dirty="0"/>
                  <a:t> </a:t>
                </a:r>
                <a:r>
                  <a:rPr lang="en-US" dirty="0" err="1"/>
                  <a:t>каждые</a:t>
                </a:r>
                <a:r>
                  <a:rPr lang="en-US" dirty="0"/>
                  <a:t> 10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 </a:t>
                </a:r>
                <a:r>
                  <a:rPr lang="en-US" dirty="0" err="1"/>
                  <a:t>опрашивает</a:t>
                </a:r>
                <a:r>
                  <a:rPr lang="en-US" dirty="0"/>
                  <a:t> </a:t>
                </a:r>
                <a:r>
                  <a:rPr lang="en-US" dirty="0" err="1"/>
                  <a:t>датчик</a:t>
                </a:r>
                <a:r>
                  <a:rPr lang="en-US" dirty="0"/>
                  <a:t>, </a:t>
                </a:r>
                <a:r>
                  <a:rPr lang="en-US" dirty="0" err="1"/>
                  <a:t>вычисляет</a:t>
                </a:r>
                <a:r>
                  <a:rPr lang="en-US" dirty="0"/>
                  <a:t> </a:t>
                </a:r>
                <a:r>
                  <a:rPr lang="en-US" dirty="0" err="1"/>
                  <a:t>новое</a:t>
                </a:r>
                <a:r>
                  <a:rPr lang="en-US" dirty="0"/>
                  <a:t> </a:t>
                </a:r>
                <a:r>
                  <a:rPr lang="en-US" dirty="0" err="1"/>
                  <a:t>значение</a:t>
                </a:r>
                <a:r>
                  <a:rPr lang="en-US" dirty="0"/>
                  <a:t> </a:t>
                </a:r>
                <a:r>
                  <a:rPr lang="en-US" dirty="0" err="1"/>
                  <a:t>управляющего</a:t>
                </a:r>
                <a:r>
                  <a:rPr lang="en-US" dirty="0"/>
                  <a:t> </a:t>
                </a:r>
                <a:r>
                  <a:rPr lang="en-US" dirty="0" err="1"/>
                  <a:t>сигнала</a:t>
                </a:r>
                <a:r>
                  <a:rPr lang="en-US" dirty="0"/>
                  <a:t> и </a:t>
                </a:r>
                <a:r>
                  <a:rPr lang="en-US" dirty="0" err="1"/>
                  <a:t>передаёт</a:t>
                </a:r>
                <a:r>
                  <a:rPr lang="en-US" dirty="0"/>
                  <a:t> </a:t>
                </a:r>
                <a:r>
                  <a:rPr lang="en-US" dirty="0" err="1"/>
                  <a:t>его</a:t>
                </a:r>
                <a:r>
                  <a:rPr lang="en-US" dirty="0"/>
                  <a:t> </a:t>
                </a:r>
                <a:r>
                  <a:rPr lang="en-US" dirty="0" err="1"/>
                  <a:t>исполнительному</a:t>
                </a:r>
                <a:r>
                  <a:rPr lang="en-US" dirty="0"/>
                  <a:t> </a:t>
                </a:r>
                <a:r>
                  <a:rPr lang="en-US" dirty="0" err="1"/>
                  <a:t>устройству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Получается</a:t>
                </a:r>
                <a:r>
                  <a:rPr lang="en-US" dirty="0"/>
                  <a:t>,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одна</a:t>
                </a:r>
                <a:r>
                  <a:rPr lang="en-US" dirty="0"/>
                  <a:t> и </a:t>
                </a:r>
                <a:r>
                  <a:rPr lang="en-US" dirty="0" err="1"/>
                  <a:t>та</a:t>
                </a:r>
                <a:r>
                  <a:rPr lang="en-US" dirty="0"/>
                  <a:t> </a:t>
                </a:r>
                <a:r>
                  <a:rPr lang="en-US" dirty="0" err="1"/>
                  <a:t>же</a:t>
                </a:r>
                <a:r>
                  <a:rPr lang="en-US" dirty="0"/>
                  <a:t> </a:t>
                </a:r>
                <a:r>
                  <a:rPr lang="en-US" dirty="0" err="1"/>
                  <a:t>задача</a:t>
                </a:r>
                <a:r>
                  <a:rPr lang="en-US" dirty="0"/>
                  <a:t> </a:t>
                </a:r>
                <a:r>
                  <a:rPr lang="en-US" dirty="0" err="1"/>
                  <a:t>многократно</a:t>
                </a:r>
                <a:r>
                  <a:rPr lang="en-US" dirty="0"/>
                  <a:t> </a:t>
                </a:r>
                <a:r>
                  <a:rPr lang="en-US" dirty="0" err="1"/>
                  <a:t>порождает</a:t>
                </a:r>
                <a:r>
                  <a:rPr lang="en-US" dirty="0"/>
                  <a:t> </a:t>
                </a:r>
                <a:r>
                  <a:rPr lang="en-US" dirty="0" err="1"/>
                  <a:t>отдельные</a:t>
                </a:r>
                <a:r>
                  <a:rPr lang="en-US" dirty="0"/>
                  <a:t> </a:t>
                </a:r>
                <a:r>
                  <a:rPr lang="en-US" dirty="0" err="1"/>
                  <a:t>экземпляры</a:t>
                </a:r>
                <a:r>
                  <a:rPr lang="en-US" dirty="0"/>
                  <a:t> </a:t>
                </a:r>
                <a:r>
                  <a:rPr lang="en-US" dirty="0" err="1"/>
                  <a:t>работы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/>
                  <a:t>В </a:t>
                </a:r>
                <a:r>
                  <a:rPr lang="en-US" dirty="0" err="1"/>
                  <a:t>англоязычной</a:t>
                </a:r>
                <a:r>
                  <a:rPr lang="en-US" dirty="0"/>
                  <a:t> </a:t>
                </a:r>
                <a:r>
                  <a:rPr lang="en-US" dirty="0" err="1"/>
                  <a:t>литературе</a:t>
                </a:r>
                <a:r>
                  <a:rPr lang="en-US" dirty="0"/>
                  <a:t> </a:t>
                </a:r>
                <a:r>
                  <a:rPr lang="en-US" dirty="0" err="1"/>
                  <a:t>такой</a:t>
                </a:r>
                <a:r>
                  <a:rPr lang="en-US" dirty="0"/>
                  <a:t> </a:t>
                </a:r>
                <a:r>
                  <a:rPr lang="en-US" dirty="0" err="1"/>
                  <a:t>экземпляр</a:t>
                </a:r>
                <a:r>
                  <a:rPr lang="en-US" dirty="0"/>
                  <a:t> </a:t>
                </a:r>
                <a:r>
                  <a:rPr lang="en-US" dirty="0" err="1"/>
                  <a:t>часто</a:t>
                </a:r>
                <a:r>
                  <a:rPr lang="en-US" dirty="0"/>
                  <a:t> </a:t>
                </a:r>
                <a:r>
                  <a:rPr lang="en-US" dirty="0" err="1"/>
                  <a:t>называется</a:t>
                </a:r>
                <a:r>
                  <a:rPr lang="en-US" dirty="0"/>
                  <a:t> Job.</a:t>
                </a:r>
              </a:p>
              <a:p>
                <a:r>
                  <a:rPr lang="en-US" dirty="0" err="1"/>
                  <a:t>Для</a:t>
                </a:r>
                <a:r>
                  <a:rPr lang="en-US" dirty="0"/>
                  <a:t> </a:t>
                </a:r>
                <a:r>
                  <a:rPr lang="en-US" dirty="0" err="1"/>
                  <a:t>описания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 </a:t>
                </a:r>
                <a:r>
                  <a:rPr lang="en-US" dirty="0" err="1"/>
                  <a:t>введём</a:t>
                </a:r>
                <a:r>
                  <a:rPr lang="en-US" dirty="0"/>
                  <a:t> </a:t>
                </a:r>
                <a:r>
                  <a:rPr lang="en-US" dirty="0" err="1"/>
                  <a:t>три</a:t>
                </a:r>
                <a:r>
                  <a:rPr lang="en-US" dirty="0"/>
                  <a:t> </a:t>
                </a:r>
                <a:r>
                  <a:rPr lang="en-US" dirty="0" err="1"/>
                  <a:t>параметра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Первый</a:t>
                </a:r>
                <a:r>
                  <a:rPr lang="en-US" dirty="0"/>
                  <a:t> </a:t>
                </a:r>
                <a:r>
                  <a:rPr lang="en-US" dirty="0" err="1"/>
                  <a:t>параметр</a:t>
                </a:r>
                <a:r>
                  <a:rPr lang="en-US" dirty="0"/>
                  <a:t> —</a:t>
                </a:r>
                <a:r>
                  <a:rPr lang="ru-RU" dirty="0"/>
                  <a:t> </a:t>
                </a:r>
                <a:r>
                  <a:rPr lang="en-US" i="0">
                    <a:latin typeface="Cambria Math" panose="02040503050406030204" pitchFamily="18" charset="0"/>
                  </a:rPr>
                  <a:t>𝐶</a:t>
                </a:r>
                <a:r>
                  <a:rPr lang="en-US" dirty="0"/>
                  <a:t>,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процессорных</a:t>
                </a:r>
                <a:r>
                  <a:rPr lang="en-US" dirty="0"/>
                  <a:t> </a:t>
                </a:r>
                <a:r>
                  <a:rPr lang="en-US" dirty="0" err="1"/>
                  <a:t>вычислений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Для</a:t>
                </a:r>
                <a:r>
                  <a:rPr lang="en-US" dirty="0"/>
                  <a:t> </a:t>
                </a:r>
                <a:r>
                  <a:rPr lang="en-US" dirty="0" err="1"/>
                  <a:t>анализа</a:t>
                </a:r>
                <a:r>
                  <a:rPr lang="en-US" dirty="0"/>
                  <a:t> </a:t>
                </a:r>
                <a:r>
                  <a:rPr lang="en-US" dirty="0" err="1"/>
                  <a:t>жёстких</a:t>
                </a:r>
                <a:r>
                  <a:rPr lang="en-US" dirty="0"/>
                  <a:t> </a:t>
                </a:r>
                <a:r>
                  <a:rPr lang="en-US" dirty="0" err="1"/>
                  <a:t>временных</a:t>
                </a:r>
                <a:r>
                  <a:rPr lang="en-US" dirty="0"/>
                  <a:t> </a:t>
                </a:r>
                <a:r>
                  <a:rPr lang="en-US" dirty="0" err="1"/>
                  <a:t>ограничений</a:t>
                </a:r>
                <a:r>
                  <a:rPr lang="en-US" dirty="0"/>
                  <a:t> </a:t>
                </a:r>
                <a:r>
                  <a:rPr lang="en-US" dirty="0" err="1"/>
                  <a:t>нас</a:t>
                </a:r>
                <a:r>
                  <a:rPr lang="en-US" dirty="0"/>
                  <a:t> </a:t>
                </a:r>
                <a:r>
                  <a:rPr lang="en-US" dirty="0" err="1"/>
                  <a:t>интересует</a:t>
                </a:r>
                <a:r>
                  <a:rPr lang="en-US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среднее</a:t>
                </a:r>
                <a:r>
                  <a:rPr lang="en-US" dirty="0"/>
                  <a:t>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выполнения</a:t>
                </a:r>
                <a:r>
                  <a:rPr lang="en-US" dirty="0"/>
                  <a:t>, а </a:t>
                </a:r>
                <a:r>
                  <a:rPr lang="en-US" dirty="0" err="1"/>
                  <a:t>его</a:t>
                </a:r>
                <a:r>
                  <a:rPr lang="en-US" dirty="0"/>
                  <a:t> </a:t>
                </a:r>
                <a:r>
                  <a:rPr lang="en-US" dirty="0" err="1"/>
                  <a:t>верхняя</a:t>
                </a:r>
                <a:r>
                  <a:rPr lang="en-US" dirty="0"/>
                  <a:t> </a:t>
                </a:r>
                <a:r>
                  <a:rPr lang="en-US" dirty="0" err="1"/>
                  <a:t>оценка</a:t>
                </a:r>
                <a:r>
                  <a:rPr lang="en-US" dirty="0"/>
                  <a:t> — Worst-Case Execution Time, </a:t>
                </a:r>
                <a:r>
                  <a:rPr lang="en-US" dirty="0" err="1"/>
                  <a:t>или</a:t>
                </a:r>
                <a:r>
                  <a:rPr lang="en-US" dirty="0"/>
                  <a:t> WCET.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Например</a:t>
                </a:r>
                <a:r>
                  <a:rPr lang="en-US" dirty="0"/>
                  <a:t>, </a:t>
                </a:r>
                <a:r>
                  <a:rPr lang="en-US" dirty="0" err="1"/>
                  <a:t>если</a:t>
                </a:r>
                <a:r>
                  <a:rPr lang="en-US" dirty="0"/>
                  <a:t> </a:t>
                </a:r>
                <a:r>
                  <a:rPr lang="en-US" dirty="0" err="1"/>
                  <a:t>обычно</a:t>
                </a:r>
                <a:r>
                  <a:rPr lang="en-US" dirty="0"/>
                  <a:t> </a:t>
                </a:r>
                <a:r>
                  <a:rPr lang="en-US" dirty="0" err="1"/>
                  <a:t>обработка</a:t>
                </a:r>
                <a:r>
                  <a:rPr lang="en-US" dirty="0"/>
                  <a:t> </a:t>
                </a:r>
                <a:r>
                  <a:rPr lang="en-US" dirty="0" err="1"/>
                  <a:t>датчика</a:t>
                </a:r>
                <a:r>
                  <a:rPr lang="en-US" dirty="0"/>
                  <a:t> </a:t>
                </a:r>
                <a:r>
                  <a:rPr lang="en-US" dirty="0" err="1"/>
                  <a:t>занимает</a:t>
                </a:r>
                <a:r>
                  <a:rPr lang="en-US" dirty="0"/>
                  <a:t> 1 </a:t>
                </a:r>
                <a:r>
                  <a:rPr lang="en-US" dirty="0" err="1"/>
                  <a:t>миллисекунду</a:t>
                </a:r>
                <a:r>
                  <a:rPr lang="en-US" dirty="0"/>
                  <a:t>, </a:t>
                </a:r>
                <a:r>
                  <a:rPr lang="en-US" dirty="0" err="1"/>
                  <a:t>но</a:t>
                </a:r>
                <a:r>
                  <a:rPr lang="en-US" dirty="0"/>
                  <a:t> в </a:t>
                </a:r>
                <a:r>
                  <a:rPr lang="en-US" dirty="0" err="1"/>
                  <a:t>самом</a:t>
                </a:r>
                <a:r>
                  <a:rPr lang="en-US" dirty="0"/>
                  <a:t> </a:t>
                </a:r>
                <a:r>
                  <a:rPr lang="en-US" dirty="0" err="1"/>
                  <a:t>неблагоприятном</a:t>
                </a:r>
                <a:r>
                  <a:rPr lang="en-US" dirty="0"/>
                  <a:t> </a:t>
                </a:r>
                <a:r>
                  <a:rPr lang="en-US" dirty="0" err="1"/>
                  <a:t>предусмотренном</a:t>
                </a:r>
                <a:r>
                  <a:rPr lang="en-US" dirty="0"/>
                  <a:t> </a:t>
                </a:r>
                <a:r>
                  <a:rPr lang="en-US" dirty="0" err="1"/>
                  <a:t>случае</a:t>
                </a:r>
                <a:r>
                  <a:rPr lang="en-US" dirty="0"/>
                  <a:t> </a:t>
                </a:r>
                <a:r>
                  <a:rPr lang="en-US" dirty="0" err="1"/>
                  <a:t>может</a:t>
                </a:r>
                <a:r>
                  <a:rPr lang="en-US" dirty="0"/>
                  <a:t> </a:t>
                </a:r>
                <a:r>
                  <a:rPr lang="en-US" dirty="0" err="1"/>
                  <a:t>занять</a:t>
                </a:r>
                <a:r>
                  <a:rPr lang="en-US" dirty="0"/>
                  <a:t> 3 </a:t>
                </a:r>
                <a:r>
                  <a:rPr lang="en-US" dirty="0" err="1"/>
                  <a:t>миллисекунды</a:t>
                </a:r>
                <a:r>
                  <a:rPr lang="en-US" dirty="0"/>
                  <a:t>, </a:t>
                </a:r>
                <a:r>
                  <a:rPr lang="en-US" dirty="0" err="1"/>
                  <a:t>для</a:t>
                </a:r>
                <a:r>
                  <a:rPr lang="en-US" dirty="0"/>
                  <a:t> </a:t>
                </a:r>
                <a:r>
                  <a:rPr lang="en-US" dirty="0" err="1"/>
                  <a:t>анализа</a:t>
                </a:r>
                <a:r>
                  <a:rPr lang="en-US" dirty="0"/>
                  <a:t> </a:t>
                </a:r>
                <a:r>
                  <a:rPr lang="en-US" dirty="0" err="1"/>
                  <a:t>нужно</a:t>
                </a:r>
                <a:r>
                  <a:rPr lang="en-US" dirty="0"/>
                  <a:t> </a:t>
                </a:r>
                <a:r>
                  <a:rPr lang="en-US" dirty="0" err="1"/>
                  <a:t>использовать</a:t>
                </a:r>
                <a:r>
                  <a:rPr lang="en-US" dirty="0"/>
                  <a:t> 3 </a:t>
                </a:r>
                <a:r>
                  <a:rPr lang="en-US" dirty="0" err="1"/>
                  <a:t>миллисекунды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Второй</a:t>
                </a:r>
                <a:r>
                  <a:rPr lang="en-US" dirty="0"/>
                  <a:t> </a:t>
                </a:r>
                <a:r>
                  <a:rPr lang="en-US" dirty="0" err="1"/>
                  <a:t>параметр</a:t>
                </a:r>
                <a:r>
                  <a:rPr lang="en-US" dirty="0"/>
                  <a:t> —</a:t>
                </a:r>
                <a:r>
                  <a:rPr lang="ru-RU" dirty="0"/>
                  <a:t> </a:t>
                </a:r>
                <a:r>
                  <a:rPr lang="en-US" i="0">
                    <a:latin typeface="Cambria Math" panose="02040503050406030204" pitchFamily="18" charset="0"/>
                  </a:rPr>
                  <a:t>𝑇</a:t>
                </a:r>
                <a:r>
                  <a:rPr lang="en-US" dirty="0"/>
                  <a:t>, </a:t>
                </a:r>
                <a:r>
                  <a:rPr lang="en-US" dirty="0" err="1"/>
                  <a:t>период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Он</a:t>
                </a:r>
                <a:r>
                  <a:rPr lang="en-US" dirty="0"/>
                  <a:t> </a:t>
                </a:r>
                <a:r>
                  <a:rPr lang="en-US" dirty="0" err="1"/>
                  <a:t>показывает</a:t>
                </a:r>
                <a:r>
                  <a:rPr lang="en-US" dirty="0"/>
                  <a:t>, </a:t>
                </a:r>
                <a:r>
                  <a:rPr lang="en-US" dirty="0" err="1"/>
                  <a:t>как</a:t>
                </a:r>
                <a:r>
                  <a:rPr lang="en-US" dirty="0"/>
                  <a:t> </a:t>
                </a:r>
                <a:r>
                  <a:rPr lang="en-US" dirty="0" err="1"/>
                  <a:t>часто</a:t>
                </a:r>
                <a:r>
                  <a:rPr lang="en-US" dirty="0"/>
                  <a:t> </a:t>
                </a:r>
                <a:r>
                  <a:rPr lang="en-US" dirty="0" err="1"/>
                  <a:t>появляются</a:t>
                </a:r>
                <a:r>
                  <a:rPr lang="en-US" dirty="0"/>
                  <a:t> </a:t>
                </a:r>
                <a:r>
                  <a:rPr lang="en-US" dirty="0" err="1"/>
                  <a:t>новые</a:t>
                </a:r>
                <a:r>
                  <a:rPr lang="en-US" dirty="0"/>
                  <a:t> </a:t>
                </a:r>
                <a:r>
                  <a:rPr lang="en-US" dirty="0" err="1"/>
                  <a:t>экземпляры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Если</a:t>
                </a:r>
                <a:r>
                  <a:rPr lang="en-US" dirty="0"/>
                  <a:t> </a:t>
                </a:r>
                <a:r>
                  <a:rPr lang="en-US" i="0">
                    <a:latin typeface="Cambria Math" panose="02040503050406030204" pitchFamily="18" charset="0"/>
                  </a:rPr>
                  <a:t>𝑇=10</a:t>
                </a:r>
                <a:r>
                  <a:rPr lang="ru-RU" dirty="0"/>
                  <a:t>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, </a:t>
                </a:r>
                <a:r>
                  <a:rPr lang="en-US" dirty="0" err="1"/>
                  <a:t>новые</a:t>
                </a:r>
                <a:r>
                  <a:rPr lang="en-US" dirty="0"/>
                  <a:t> </a:t>
                </a:r>
                <a:r>
                  <a:rPr lang="en-US" dirty="0" err="1"/>
                  <a:t>экземпляры</a:t>
                </a:r>
                <a:r>
                  <a:rPr lang="en-US" dirty="0"/>
                  <a:t> </a:t>
                </a:r>
                <a:r>
                  <a:rPr lang="en-US" dirty="0" err="1"/>
                  <a:t>поступают</a:t>
                </a:r>
                <a:r>
                  <a:rPr lang="en-US" dirty="0"/>
                  <a:t> в </a:t>
                </a:r>
                <a:r>
                  <a:rPr lang="en-US" dirty="0" err="1"/>
                  <a:t>моменты</a:t>
                </a:r>
                <a:r>
                  <a:rPr lang="en-US" dirty="0"/>
                  <a:t> 0, 10, 20, 30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 и </a:t>
                </a:r>
                <a:r>
                  <a:rPr lang="en-US" dirty="0" err="1"/>
                  <a:t>так</a:t>
                </a:r>
                <a:r>
                  <a:rPr lang="en-US" dirty="0"/>
                  <a:t> </a:t>
                </a:r>
                <a:r>
                  <a:rPr lang="en-US" dirty="0" err="1"/>
                  <a:t>далее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Третий</a:t>
                </a:r>
                <a:r>
                  <a:rPr lang="en-US" dirty="0"/>
                  <a:t> </a:t>
                </a:r>
                <a:r>
                  <a:rPr lang="en-US" dirty="0" err="1"/>
                  <a:t>параметр</a:t>
                </a:r>
                <a:r>
                  <a:rPr lang="en-US" dirty="0"/>
                  <a:t> —</a:t>
                </a:r>
                <a:r>
                  <a:rPr lang="ru-RU" dirty="0"/>
                  <a:t> </a:t>
                </a:r>
                <a:r>
                  <a:rPr lang="en-US" i="0">
                    <a:latin typeface="Cambria Math" panose="02040503050406030204" pitchFamily="18" charset="0"/>
                  </a:rPr>
                  <a:t>𝐷</a:t>
                </a:r>
                <a:r>
                  <a:rPr lang="en-US" dirty="0"/>
                  <a:t>, </a:t>
                </a:r>
                <a:r>
                  <a:rPr lang="en-US" dirty="0" err="1"/>
                  <a:t>относительный</a:t>
                </a:r>
                <a:r>
                  <a:rPr lang="en-US" dirty="0"/>
                  <a:t> Deadline.</a:t>
                </a:r>
              </a:p>
              <a:p>
                <a:r>
                  <a:rPr lang="en-US" dirty="0" err="1"/>
                  <a:t>Он</a:t>
                </a:r>
                <a:r>
                  <a:rPr lang="en-US" dirty="0"/>
                  <a:t> </a:t>
                </a:r>
                <a:r>
                  <a:rPr lang="en-US" dirty="0" err="1"/>
                  <a:t>определяет</a:t>
                </a:r>
                <a:r>
                  <a:rPr lang="en-US" dirty="0"/>
                  <a:t>, </a:t>
                </a:r>
                <a:r>
                  <a:rPr lang="en-US" dirty="0" err="1"/>
                  <a:t>сколько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 </a:t>
                </a:r>
                <a:r>
                  <a:rPr lang="en-US" dirty="0" err="1"/>
                  <a:t>допускается</a:t>
                </a:r>
                <a:r>
                  <a:rPr lang="en-US" dirty="0"/>
                  <a:t> </a:t>
                </a:r>
                <a:r>
                  <a:rPr lang="en-US" dirty="0" err="1"/>
                  <a:t>между</a:t>
                </a:r>
                <a:r>
                  <a:rPr lang="en-US" dirty="0"/>
                  <a:t> </a:t>
                </a:r>
                <a:r>
                  <a:rPr lang="en-US" dirty="0" err="1"/>
                  <a:t>поступлением</a:t>
                </a:r>
                <a:r>
                  <a:rPr lang="en-US" dirty="0"/>
                  <a:t> </a:t>
                </a:r>
                <a:r>
                  <a:rPr lang="en-US" dirty="0" err="1"/>
                  <a:t>экземпляра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 и </a:t>
                </a:r>
                <a:r>
                  <a:rPr lang="en-US" dirty="0" err="1"/>
                  <a:t>его</a:t>
                </a:r>
                <a:r>
                  <a:rPr lang="en-US" dirty="0"/>
                  <a:t> </a:t>
                </a:r>
                <a:r>
                  <a:rPr lang="en-US" dirty="0" err="1"/>
                  <a:t>завершением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/>
                  <a:t>В </a:t>
                </a:r>
                <a:r>
                  <a:rPr lang="en-US" dirty="0" err="1"/>
                  <a:t>простейшем</a:t>
                </a:r>
                <a:r>
                  <a:rPr lang="en-US" dirty="0"/>
                  <a:t> </a:t>
                </a:r>
                <a:r>
                  <a:rPr lang="en-US" dirty="0" err="1"/>
                  <a:t>случае</a:t>
                </a:r>
                <a:r>
                  <a:rPr lang="en-US" dirty="0"/>
                  <a:t> </a:t>
                </a:r>
                <a:r>
                  <a:rPr lang="en-US" dirty="0" err="1"/>
                  <a:t>дедлайн</a:t>
                </a:r>
                <a:r>
                  <a:rPr lang="en-US" dirty="0"/>
                  <a:t> </a:t>
                </a:r>
                <a:r>
                  <a:rPr lang="en-US" dirty="0" err="1"/>
                  <a:t>совпадает</a:t>
                </a:r>
                <a:r>
                  <a:rPr lang="en-US" dirty="0"/>
                  <a:t> с </a:t>
                </a:r>
                <a:r>
                  <a:rPr lang="en-US" dirty="0" err="1"/>
                  <a:t>периодом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Например</a:t>
                </a:r>
                <a:r>
                  <a:rPr lang="en-US" dirty="0"/>
                  <a:t>, </a:t>
                </a:r>
                <a:r>
                  <a:rPr lang="en-US" dirty="0" err="1"/>
                  <a:t>задача</a:t>
                </a:r>
                <a:r>
                  <a:rPr lang="en-US" dirty="0"/>
                  <a:t> </a:t>
                </a:r>
                <a:r>
                  <a:rPr lang="en-US" dirty="0" err="1"/>
                  <a:t>поступила</a:t>
                </a:r>
                <a:r>
                  <a:rPr lang="en-US" dirty="0"/>
                  <a:t> в </a:t>
                </a:r>
                <a:r>
                  <a:rPr lang="en-US" dirty="0" err="1"/>
                  <a:t>момент</a:t>
                </a:r>
                <a:r>
                  <a:rPr lang="en-US" dirty="0"/>
                  <a:t> 0 и </a:t>
                </a:r>
                <a:r>
                  <a:rPr lang="en-US" dirty="0" err="1"/>
                  <a:t>должна</a:t>
                </a:r>
                <a:r>
                  <a:rPr lang="en-US" dirty="0"/>
                  <a:t> </a:t>
                </a:r>
                <a:r>
                  <a:rPr lang="en-US" dirty="0" err="1"/>
                  <a:t>завершиться</a:t>
                </a:r>
                <a:r>
                  <a:rPr lang="en-US" dirty="0"/>
                  <a:t> </a:t>
                </a:r>
                <a:r>
                  <a:rPr lang="en-US" dirty="0" err="1"/>
                  <a:t>до</a:t>
                </a:r>
                <a:r>
                  <a:rPr lang="en-US" dirty="0"/>
                  <a:t> </a:t>
                </a:r>
                <a:r>
                  <a:rPr lang="en-US" dirty="0" err="1"/>
                  <a:t>момента</a:t>
                </a:r>
                <a:r>
                  <a:rPr lang="en-US" dirty="0"/>
                  <a:t> 10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ru-RU" dirty="0"/>
              </a:p>
              <a:p>
                <a:r>
                  <a:rPr lang="en-US" dirty="0" err="1"/>
                  <a:t>Следующая</a:t>
                </a:r>
                <a:r>
                  <a:rPr lang="en-US" dirty="0"/>
                  <a:t> </a:t>
                </a:r>
                <a:r>
                  <a:rPr lang="en-US" dirty="0" err="1"/>
                  <a:t>поступит</a:t>
                </a:r>
                <a:r>
                  <a:rPr lang="en-US" dirty="0"/>
                  <a:t> в </a:t>
                </a:r>
                <a:r>
                  <a:rPr lang="en-US" dirty="0" err="1"/>
                  <a:t>момент</a:t>
                </a:r>
                <a:r>
                  <a:rPr lang="en-US" dirty="0"/>
                  <a:t> 10 и </a:t>
                </a:r>
                <a:r>
                  <a:rPr lang="en-US" dirty="0" err="1"/>
                  <a:t>должна</a:t>
                </a:r>
                <a:r>
                  <a:rPr lang="en-US" dirty="0"/>
                  <a:t> </a:t>
                </a:r>
                <a:r>
                  <a:rPr lang="en-US" dirty="0" err="1"/>
                  <a:t>завершиться</a:t>
                </a:r>
                <a:r>
                  <a:rPr lang="en-US" dirty="0"/>
                  <a:t> </a:t>
                </a:r>
                <a:r>
                  <a:rPr lang="en-US" dirty="0" err="1"/>
                  <a:t>до</a:t>
                </a:r>
                <a:r>
                  <a:rPr lang="en-US" dirty="0"/>
                  <a:t> </a:t>
                </a:r>
                <a:r>
                  <a:rPr lang="en-US" dirty="0" err="1"/>
                  <a:t>момента</a:t>
                </a:r>
                <a:r>
                  <a:rPr lang="en-US" dirty="0"/>
                  <a:t> 20.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Однако</a:t>
                </a:r>
                <a:r>
                  <a:rPr lang="en-US" dirty="0"/>
                  <a:t> в </a:t>
                </a:r>
                <a:r>
                  <a:rPr lang="en-US" dirty="0" err="1"/>
                  <a:t>общем</a:t>
                </a:r>
                <a:r>
                  <a:rPr lang="en-US" dirty="0"/>
                  <a:t> </a:t>
                </a:r>
                <a:r>
                  <a:rPr lang="en-US" dirty="0" err="1"/>
                  <a:t>случае</a:t>
                </a:r>
                <a:r>
                  <a:rPr lang="en-US" dirty="0"/>
                  <a:t> </a:t>
                </a:r>
                <a:r>
                  <a:rPr lang="en-US" i="0">
                    <a:latin typeface="Cambria Math" panose="02040503050406030204" pitchFamily="18" charset="0"/>
                  </a:rPr>
                  <a:t>𝐷</a:t>
                </a:r>
                <a:r>
                  <a:rPr lang="ru-RU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обязательно</a:t>
                </a:r>
                <a:r>
                  <a:rPr lang="en-US" dirty="0"/>
                  <a:t> </a:t>
                </a:r>
                <a:r>
                  <a:rPr lang="en-US" dirty="0" err="1"/>
                  <a:t>равно</a:t>
                </a:r>
                <a:r>
                  <a:rPr lang="ru-RU" dirty="0"/>
                  <a:t> </a:t>
                </a:r>
                <a:r>
                  <a:rPr lang="en-US" i="0">
                    <a:latin typeface="Cambria Math" panose="02040503050406030204" pitchFamily="18" charset="0"/>
                  </a:rPr>
                  <a:t>𝑇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Например</a:t>
                </a:r>
                <a:r>
                  <a:rPr lang="en-US" dirty="0"/>
                  <a:t>, </a:t>
                </a:r>
                <a:r>
                  <a:rPr lang="en-US" dirty="0" err="1"/>
                  <a:t>датчик</a:t>
                </a:r>
                <a:r>
                  <a:rPr lang="en-US" dirty="0"/>
                  <a:t> </a:t>
                </a:r>
                <a:r>
                  <a:rPr lang="en-US" dirty="0" err="1"/>
                  <a:t>может</a:t>
                </a:r>
                <a:r>
                  <a:rPr lang="en-US" dirty="0"/>
                  <a:t> </a:t>
                </a:r>
                <a:r>
                  <a:rPr lang="en-US" dirty="0" err="1"/>
                  <a:t>опрашиваться</a:t>
                </a:r>
                <a:r>
                  <a:rPr lang="en-US" dirty="0"/>
                  <a:t> </a:t>
                </a:r>
                <a:r>
                  <a:rPr lang="en-US" dirty="0" err="1"/>
                  <a:t>каждые</a:t>
                </a:r>
                <a:r>
                  <a:rPr lang="en-US" dirty="0"/>
                  <a:t> 10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, </a:t>
                </a:r>
                <a:r>
                  <a:rPr lang="en-US" dirty="0" err="1"/>
                  <a:t>но</a:t>
                </a:r>
                <a:r>
                  <a:rPr lang="en-US" dirty="0"/>
                  <a:t> </a:t>
                </a:r>
                <a:r>
                  <a:rPr lang="en-US" dirty="0" err="1"/>
                  <a:t>обработать</a:t>
                </a:r>
                <a:r>
                  <a:rPr lang="en-US" dirty="0"/>
                  <a:t> </a:t>
                </a:r>
                <a:r>
                  <a:rPr lang="en-US" dirty="0" err="1"/>
                  <a:t>его</a:t>
                </a:r>
                <a:r>
                  <a:rPr lang="en-US" dirty="0"/>
                  <a:t> </a:t>
                </a:r>
                <a:r>
                  <a:rPr lang="en-US" dirty="0" err="1"/>
                  <a:t>показания</a:t>
                </a:r>
                <a:r>
                  <a:rPr lang="en-US" dirty="0"/>
                  <a:t> </a:t>
                </a:r>
                <a:r>
                  <a:rPr lang="en-US" dirty="0" err="1"/>
                  <a:t>необходимо</a:t>
                </a:r>
                <a:r>
                  <a:rPr lang="en-US" dirty="0"/>
                  <a:t> в </a:t>
                </a:r>
                <a:r>
                  <a:rPr lang="en-US" dirty="0" err="1"/>
                  <a:t>течение</a:t>
                </a:r>
                <a:r>
                  <a:rPr lang="en-US" dirty="0"/>
                  <a:t> </a:t>
                </a:r>
                <a:r>
                  <a:rPr lang="en-US" dirty="0" err="1"/>
                  <a:t>первых</a:t>
                </a:r>
                <a:r>
                  <a:rPr lang="en-US" dirty="0"/>
                  <a:t> 5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 </a:t>
                </a:r>
                <a:r>
                  <a:rPr lang="en-US" dirty="0" err="1"/>
                  <a:t>после</a:t>
                </a:r>
                <a:r>
                  <a:rPr lang="en-US" dirty="0"/>
                  <a:t> </a:t>
                </a:r>
                <a:r>
                  <a:rPr lang="en-US" dirty="0" err="1"/>
                  <a:t>опроса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Тогда</a:t>
                </a:r>
                <a:r>
                  <a:rPr lang="ru-RU" dirty="0"/>
                  <a:t> </a:t>
                </a:r>
                <a:r>
                  <a:rPr lang="en-US" i="0">
                    <a:latin typeface="Cambria Math" panose="02040503050406030204" pitchFamily="18" charset="0"/>
                  </a:rPr>
                  <a:t>𝑇=10</a:t>
                </a:r>
                <a:r>
                  <a:rPr lang="en-US" dirty="0"/>
                  <a:t>, а</a:t>
                </a:r>
                <a:r>
                  <a:rPr lang="ru-RU" dirty="0"/>
                  <a:t> </a:t>
                </a:r>
                <a:r>
                  <a:rPr lang="en-US" i="0">
                    <a:latin typeface="Cambria Math" panose="02040503050406030204" pitchFamily="18" charset="0"/>
                  </a:rPr>
                  <a:t>𝐷=5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 err="1"/>
                  <a:t>Обратите</a:t>
                </a:r>
                <a:r>
                  <a:rPr lang="en-US" dirty="0"/>
                  <a:t> </a:t>
                </a:r>
                <a:r>
                  <a:rPr lang="en-US" dirty="0" err="1"/>
                  <a:t>внимание</a:t>
                </a:r>
                <a:r>
                  <a:rPr lang="en-US" dirty="0"/>
                  <a:t>: </a:t>
                </a:r>
                <a:r>
                  <a:rPr lang="en-US" dirty="0" err="1"/>
                  <a:t>важно</a:t>
                </a:r>
                <a:r>
                  <a:rPr lang="en-US" dirty="0"/>
                  <a:t> </a:t>
                </a:r>
                <a:r>
                  <a:rPr lang="en-US" dirty="0" err="1"/>
                  <a:t>различать</a:t>
                </a:r>
                <a:r>
                  <a:rPr lang="en-US" dirty="0"/>
                  <a:t> </a:t>
                </a:r>
                <a:r>
                  <a:rPr lang="en-US" dirty="0" err="1"/>
                  <a:t>относительный</a:t>
                </a:r>
                <a:r>
                  <a:rPr lang="en-US" dirty="0"/>
                  <a:t> и </a:t>
                </a:r>
                <a:r>
                  <a:rPr lang="en-US" dirty="0" err="1"/>
                  <a:t>абсолютный</a:t>
                </a:r>
                <a:r>
                  <a:rPr lang="en-US" dirty="0"/>
                  <a:t> </a:t>
                </a:r>
                <a:r>
                  <a:rPr lang="en-US" dirty="0" err="1"/>
                  <a:t>дедлайн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Относительный</a:t>
                </a:r>
                <a:r>
                  <a:rPr lang="en-US" dirty="0"/>
                  <a:t> </a:t>
                </a:r>
                <a:r>
                  <a:rPr lang="en-US" i="0">
                    <a:latin typeface="Cambria Math" panose="02040503050406030204" pitchFamily="18" charset="0"/>
                  </a:rPr>
                  <a:t>𝐷</a:t>
                </a:r>
                <a:r>
                  <a:rPr lang="ru-RU" dirty="0"/>
                  <a:t> </a:t>
                </a:r>
                <a:r>
                  <a:rPr lang="en-US" dirty="0" err="1"/>
                  <a:t>задаёт</a:t>
                </a:r>
                <a:r>
                  <a:rPr lang="en-US" dirty="0"/>
                  <a:t> </a:t>
                </a:r>
                <a:r>
                  <a:rPr lang="en-US" dirty="0" err="1"/>
                  <a:t>допустимое</a:t>
                </a:r>
                <a:r>
                  <a:rPr lang="en-US" dirty="0"/>
                  <a:t>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выполнения</a:t>
                </a:r>
                <a:r>
                  <a:rPr lang="en-US" dirty="0"/>
                  <a:t> </a:t>
                </a:r>
                <a:r>
                  <a:rPr lang="en-US" dirty="0" err="1"/>
                  <a:t>после</a:t>
                </a:r>
                <a:r>
                  <a:rPr lang="en-US" dirty="0"/>
                  <a:t> </a:t>
                </a:r>
                <a:r>
                  <a:rPr lang="en-US" dirty="0" err="1"/>
                  <a:t>поступления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Абсолютный</a:t>
                </a:r>
                <a:r>
                  <a:rPr lang="ru-RU" dirty="0"/>
                  <a:t> </a:t>
                </a:r>
                <a:r>
                  <a:rPr lang="en-US" i="0">
                    <a:latin typeface="Cambria Math" panose="02040503050406030204" pitchFamily="18" charset="0"/>
                  </a:rPr>
                  <a:t>𝑑_𝑘</a:t>
                </a:r>
                <a:r>
                  <a:rPr lang="en-US" dirty="0"/>
                  <a:t> — </a:t>
                </a:r>
                <a:r>
                  <a:rPr lang="en-US" dirty="0" err="1"/>
                  <a:t>конкретный</a:t>
                </a:r>
                <a:r>
                  <a:rPr lang="en-US" dirty="0"/>
                  <a:t> </a:t>
                </a:r>
                <a:r>
                  <a:rPr lang="en-US" dirty="0" err="1"/>
                  <a:t>момент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, к </a:t>
                </a:r>
                <a:r>
                  <a:rPr lang="en-US" dirty="0" err="1"/>
                  <a:t>которому</a:t>
                </a:r>
                <a:r>
                  <a:rPr lang="en-US" dirty="0"/>
                  <a:t> </a:t>
                </a:r>
                <a:r>
                  <a:rPr lang="en-US" dirty="0" err="1"/>
                  <a:t>должен</a:t>
                </a:r>
                <a:r>
                  <a:rPr lang="en-US" dirty="0"/>
                  <a:t> </a:t>
                </a:r>
                <a:r>
                  <a:rPr lang="en-US" dirty="0" err="1"/>
                  <a:t>завершиться</a:t>
                </a:r>
                <a:r>
                  <a:rPr lang="en-US" dirty="0"/>
                  <a:t> </a:t>
                </a:r>
                <a:r>
                  <a:rPr lang="en-US" dirty="0" err="1"/>
                  <a:t>определённый</a:t>
                </a:r>
                <a:r>
                  <a:rPr lang="en-US" dirty="0"/>
                  <a:t> </a:t>
                </a:r>
                <a:r>
                  <a:rPr lang="en-US" dirty="0" err="1"/>
                  <a:t>экземпляр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Если</a:t>
                </a:r>
                <a:r>
                  <a:rPr lang="en-US" dirty="0"/>
                  <a:t> </a:t>
                </a:r>
                <a:r>
                  <a:rPr lang="en-US" dirty="0" err="1"/>
                  <a:t>экземпляр</a:t>
                </a:r>
                <a:r>
                  <a:rPr lang="en-US" dirty="0"/>
                  <a:t> </a:t>
                </a:r>
                <a:r>
                  <a:rPr lang="en-US" dirty="0" err="1"/>
                  <a:t>поступил</a:t>
                </a:r>
                <a:r>
                  <a:rPr lang="en-US" dirty="0"/>
                  <a:t> в </a:t>
                </a:r>
                <a:r>
                  <a:rPr lang="en-US" dirty="0" err="1"/>
                  <a:t>момент</a:t>
                </a:r>
                <a:r>
                  <a:rPr lang="en-US" dirty="0"/>
                  <a:t> 20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, а </a:t>
                </a:r>
                <a:r>
                  <a:rPr lang="en-US" dirty="0" err="1"/>
                  <a:t>относительный</a:t>
                </a:r>
                <a:r>
                  <a:rPr lang="en-US" dirty="0"/>
                  <a:t> </a:t>
                </a:r>
                <a:r>
                  <a:rPr lang="en-US" dirty="0" err="1"/>
                  <a:t>дедлайн</a:t>
                </a:r>
                <a:r>
                  <a:rPr lang="en-US" dirty="0"/>
                  <a:t> </a:t>
                </a:r>
                <a:r>
                  <a:rPr lang="en-US" dirty="0" err="1"/>
                  <a:t>равен</a:t>
                </a:r>
                <a:r>
                  <a:rPr lang="en-US" dirty="0"/>
                  <a:t> 10 </a:t>
                </a:r>
                <a:r>
                  <a:rPr lang="en-US" dirty="0" err="1"/>
                  <a:t>миллисекундам</a:t>
                </a:r>
                <a:r>
                  <a:rPr lang="en-US" dirty="0"/>
                  <a:t>, </a:t>
                </a:r>
                <a:r>
                  <a:rPr lang="en-US" dirty="0" err="1"/>
                  <a:t>его</a:t>
                </a:r>
                <a:r>
                  <a:rPr lang="en-US" dirty="0"/>
                  <a:t> </a:t>
                </a:r>
                <a:r>
                  <a:rPr lang="en-US" dirty="0" err="1"/>
                  <a:t>абсолютный</a:t>
                </a:r>
                <a:r>
                  <a:rPr lang="en-US" dirty="0"/>
                  <a:t> </a:t>
                </a:r>
                <a:r>
                  <a:rPr lang="en-US" dirty="0" err="1"/>
                  <a:t>дедлайн</a:t>
                </a:r>
                <a:r>
                  <a:rPr lang="en-US" dirty="0"/>
                  <a:t> — 30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Кроме</a:t>
                </a:r>
                <a:r>
                  <a:rPr lang="en-US" dirty="0"/>
                  <a:t> </a:t>
                </a:r>
                <a:r>
                  <a:rPr lang="en-US" dirty="0" err="1"/>
                  <a:t>строго</a:t>
                </a:r>
                <a:r>
                  <a:rPr lang="en-US" dirty="0"/>
                  <a:t> </a:t>
                </a:r>
                <a:r>
                  <a:rPr lang="en-US" dirty="0" err="1"/>
                  <a:t>периодических</a:t>
                </a:r>
                <a:r>
                  <a:rPr lang="en-US" dirty="0"/>
                  <a:t> </a:t>
                </a:r>
                <a:r>
                  <a:rPr lang="en-US" dirty="0" err="1"/>
                  <a:t>задач</a:t>
                </a:r>
                <a:r>
                  <a:rPr lang="en-US" dirty="0"/>
                  <a:t> </a:t>
                </a:r>
                <a:r>
                  <a:rPr lang="en-US" dirty="0" err="1"/>
                  <a:t>существуют</a:t>
                </a:r>
                <a:r>
                  <a:rPr lang="en-US" dirty="0"/>
                  <a:t> </a:t>
                </a:r>
                <a:r>
                  <a:rPr lang="en-US" dirty="0" err="1"/>
                  <a:t>спорадические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, </a:t>
                </a:r>
                <a:r>
                  <a:rPr lang="en-US" dirty="0" err="1"/>
                  <a:t>которые</a:t>
                </a:r>
                <a:r>
                  <a:rPr lang="en-US" dirty="0"/>
                  <a:t> </a:t>
                </a:r>
                <a:r>
                  <a:rPr lang="en-US" dirty="0" err="1"/>
                  <a:t>возникают</a:t>
                </a:r>
                <a:r>
                  <a:rPr lang="en-US" dirty="0"/>
                  <a:t> </a:t>
                </a:r>
                <a:r>
                  <a:rPr lang="en-US" dirty="0" err="1"/>
                  <a:t>нерегулярно</a:t>
                </a:r>
                <a:r>
                  <a:rPr lang="en-US" dirty="0"/>
                  <a:t>, </a:t>
                </a:r>
                <a:r>
                  <a:rPr lang="en-US" dirty="0" err="1"/>
                  <a:t>но</a:t>
                </a:r>
                <a:r>
                  <a:rPr lang="en-US" dirty="0"/>
                  <a:t> </a:t>
                </a:r>
                <a:r>
                  <a:rPr lang="en-US" dirty="0" err="1"/>
                  <a:t>между</a:t>
                </a:r>
                <a:r>
                  <a:rPr lang="en-US" dirty="0"/>
                  <a:t> </a:t>
                </a:r>
                <a:r>
                  <a:rPr lang="en-US" dirty="0" err="1"/>
                  <a:t>их</a:t>
                </a:r>
                <a:r>
                  <a:rPr lang="en-US" dirty="0"/>
                  <a:t> </a:t>
                </a:r>
                <a:r>
                  <a:rPr lang="en-US" dirty="0" err="1"/>
                  <a:t>появлениями</a:t>
                </a:r>
                <a:r>
                  <a:rPr lang="en-US" dirty="0"/>
                  <a:t> </a:t>
                </a:r>
                <a:r>
                  <a:rPr lang="en-US" dirty="0" err="1"/>
                  <a:t>гарантируется</a:t>
                </a:r>
                <a:r>
                  <a:rPr lang="en-US" dirty="0"/>
                  <a:t> </a:t>
                </a:r>
                <a:r>
                  <a:rPr lang="en-US" dirty="0" err="1"/>
                  <a:t>определённый</a:t>
                </a:r>
                <a:r>
                  <a:rPr lang="en-US" dirty="0"/>
                  <a:t> </a:t>
                </a:r>
                <a:r>
                  <a:rPr lang="en-US" dirty="0" err="1"/>
                  <a:t>минимальный</a:t>
                </a:r>
                <a:r>
                  <a:rPr lang="en-US" dirty="0"/>
                  <a:t> </a:t>
                </a:r>
                <a:r>
                  <a:rPr lang="en-US" dirty="0" err="1"/>
                  <a:t>интервал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Например</a:t>
                </a:r>
                <a:r>
                  <a:rPr lang="en-US" dirty="0"/>
                  <a:t>, </a:t>
                </a:r>
                <a:r>
                  <a:rPr lang="en-US" dirty="0" err="1"/>
                  <a:t>система</a:t>
                </a:r>
                <a:r>
                  <a:rPr lang="en-US" dirty="0"/>
                  <a:t> </a:t>
                </a:r>
                <a:r>
                  <a:rPr lang="en-US" dirty="0" err="1"/>
                  <a:t>должна</a:t>
                </a:r>
                <a:r>
                  <a:rPr lang="en-US" dirty="0"/>
                  <a:t> </a:t>
                </a:r>
                <a:r>
                  <a:rPr lang="en-US" dirty="0" err="1"/>
                  <a:t>реагировать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тревожные</a:t>
                </a:r>
                <a:r>
                  <a:rPr lang="en-US" dirty="0"/>
                  <a:t> </a:t>
                </a:r>
                <a:r>
                  <a:rPr lang="en-US" dirty="0" err="1"/>
                  <a:t>сигналы</a:t>
                </a:r>
                <a:r>
                  <a:rPr lang="en-US" dirty="0"/>
                  <a:t>, </a:t>
                </a:r>
                <a:r>
                  <a:rPr lang="en-US" dirty="0" err="1"/>
                  <a:t>которые</a:t>
                </a:r>
                <a:r>
                  <a:rPr lang="en-US" dirty="0"/>
                  <a:t> </a:t>
                </a:r>
                <a:r>
                  <a:rPr lang="en-US" dirty="0" err="1"/>
                  <a:t>могут</a:t>
                </a:r>
                <a:r>
                  <a:rPr lang="en-US" dirty="0"/>
                  <a:t> </a:t>
                </a:r>
                <a:r>
                  <a:rPr lang="en-US" dirty="0" err="1"/>
                  <a:t>возникнуть</a:t>
                </a:r>
                <a:r>
                  <a:rPr lang="en-US" dirty="0"/>
                  <a:t> в </a:t>
                </a:r>
                <a:r>
                  <a:rPr lang="en-US" dirty="0" err="1"/>
                  <a:t>произвольный</a:t>
                </a:r>
                <a:r>
                  <a:rPr lang="en-US" dirty="0"/>
                  <a:t> </a:t>
                </a:r>
                <a:r>
                  <a:rPr lang="en-US" dirty="0" err="1"/>
                  <a:t>момент</a:t>
                </a:r>
                <a:r>
                  <a:rPr lang="en-US" dirty="0"/>
                  <a:t>, </a:t>
                </a:r>
                <a:r>
                  <a:rPr lang="en-US" dirty="0" err="1"/>
                  <a:t>но</a:t>
                </a:r>
                <a:r>
                  <a:rPr lang="en-US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чаще</a:t>
                </a:r>
                <a:r>
                  <a:rPr lang="en-US" dirty="0"/>
                  <a:t> </a:t>
                </a:r>
                <a:r>
                  <a:rPr lang="en-US" dirty="0" err="1"/>
                  <a:t>установленного</a:t>
                </a:r>
                <a:r>
                  <a:rPr lang="en-US" dirty="0"/>
                  <a:t> </a:t>
                </a:r>
                <a:r>
                  <a:rPr lang="en-US" dirty="0" err="1"/>
                  <a:t>ограничения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Есть</a:t>
                </a:r>
                <a:r>
                  <a:rPr lang="en-US" dirty="0"/>
                  <a:t> и </a:t>
                </a:r>
                <a:r>
                  <a:rPr lang="en-US" dirty="0" err="1"/>
                  <a:t>апериодические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 </a:t>
                </a:r>
                <a:r>
                  <a:rPr lang="en-US" dirty="0" err="1"/>
                  <a:t>без</a:t>
                </a:r>
                <a:r>
                  <a:rPr lang="en-US" dirty="0"/>
                  <a:t> </a:t>
                </a:r>
                <a:r>
                  <a:rPr lang="en-US" dirty="0" err="1"/>
                  <a:t>такого</a:t>
                </a:r>
                <a:r>
                  <a:rPr lang="en-US" dirty="0"/>
                  <a:t> </a:t>
                </a:r>
                <a:r>
                  <a:rPr lang="en-US" dirty="0" err="1"/>
                  <a:t>ограничения</a:t>
                </a:r>
                <a:r>
                  <a:rPr lang="en-US" dirty="0"/>
                  <a:t> </a:t>
                </a:r>
                <a:r>
                  <a:rPr lang="en-US" dirty="0" err="1"/>
                  <a:t>частоты</a:t>
                </a:r>
                <a:r>
                  <a:rPr lang="en-US" dirty="0"/>
                  <a:t> </a:t>
                </a:r>
                <a:r>
                  <a:rPr lang="en-US" dirty="0" err="1"/>
                  <a:t>поступления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В </a:t>
                </a:r>
                <a:r>
                  <a:rPr lang="en-US" dirty="0" err="1"/>
                  <a:t>следующих</a:t>
                </a:r>
                <a:r>
                  <a:rPr lang="en-US" dirty="0"/>
                  <a:t> </a:t>
                </a:r>
                <a:r>
                  <a:rPr lang="en-US" dirty="0" err="1"/>
                  <a:t>примерах</a:t>
                </a:r>
                <a:r>
                  <a:rPr lang="en-US" dirty="0"/>
                  <a:t> </a:t>
                </a:r>
                <a:r>
                  <a:rPr lang="en-US" dirty="0" err="1"/>
                  <a:t>мы</a:t>
                </a:r>
                <a:r>
                  <a:rPr lang="en-US" dirty="0"/>
                  <a:t> </a:t>
                </a:r>
                <a:r>
                  <a:rPr lang="en-US" dirty="0" err="1"/>
                  <a:t>сосредоточимся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периодических</a:t>
                </a:r>
                <a:r>
                  <a:rPr lang="en-US" dirty="0"/>
                  <a:t> </a:t>
                </a:r>
                <a:r>
                  <a:rPr lang="en-US" dirty="0" err="1"/>
                  <a:t>задачах</a:t>
                </a:r>
                <a:r>
                  <a:rPr lang="en-US" dirty="0"/>
                  <a:t> и </a:t>
                </a:r>
                <a:r>
                  <a:rPr lang="en-US" dirty="0" err="1"/>
                  <a:t>примем</a:t>
                </a:r>
                <a:r>
                  <a:rPr lang="en-US" dirty="0"/>
                  <a:t> </a:t>
                </a:r>
                <a:r>
                  <a:rPr lang="en-US" dirty="0" err="1"/>
                  <a:t>для</a:t>
                </a:r>
                <a:r>
                  <a:rPr lang="en-US" dirty="0"/>
                  <a:t> </a:t>
                </a:r>
                <a:r>
                  <a:rPr lang="en-US" dirty="0" err="1"/>
                  <a:t>простоты</a:t>
                </a:r>
                <a:r>
                  <a:rPr lang="en-US" dirty="0"/>
                  <a:t>, </a:t>
                </a:r>
                <a:r>
                  <a:rPr lang="en-US" dirty="0" err="1"/>
                  <a:t>что</a:t>
                </a:r>
                <a:r>
                  <a:rPr lang="ru-RU" dirty="0"/>
                  <a:t> </a:t>
                </a:r>
                <a:r>
                  <a:rPr lang="en-US" i="0">
                    <a:latin typeface="Cambria Math" panose="02040503050406030204" pitchFamily="18" charset="0"/>
                  </a:rPr>
                  <a:t>𝐷=𝑇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 err="1"/>
                  <a:t>Также</a:t>
                </a:r>
                <a:r>
                  <a:rPr lang="en-US" dirty="0"/>
                  <a:t> </a:t>
                </a:r>
                <a:r>
                  <a:rPr lang="en-US" dirty="0" err="1"/>
                  <a:t>будем</a:t>
                </a:r>
                <a:r>
                  <a:rPr lang="en-US" dirty="0"/>
                  <a:t> </a:t>
                </a:r>
                <a:r>
                  <a:rPr lang="en-US" dirty="0" err="1"/>
                  <a:t>считать</a:t>
                </a:r>
                <a:r>
                  <a:rPr lang="en-US" dirty="0"/>
                  <a:t>,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один</a:t>
                </a:r>
                <a:r>
                  <a:rPr lang="en-US" dirty="0"/>
                  <a:t> CPU </a:t>
                </a:r>
                <a:r>
                  <a:rPr lang="en-US" dirty="0" err="1"/>
                  <a:t>выполняет</a:t>
                </a:r>
                <a:r>
                  <a:rPr lang="en-US" dirty="0"/>
                  <a:t> </a:t>
                </a:r>
                <a:r>
                  <a:rPr lang="en-US" dirty="0" err="1"/>
                  <a:t>независимые</a:t>
                </a:r>
                <a:r>
                  <a:rPr lang="en-US" dirty="0"/>
                  <a:t> </a:t>
                </a:r>
                <a:r>
                  <a:rPr lang="en-US" dirty="0" err="1"/>
                  <a:t>вытесняемые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 и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накладными</a:t>
                </a:r>
                <a:r>
                  <a:rPr lang="en-US" dirty="0"/>
                  <a:t> </a:t>
                </a:r>
                <a:r>
                  <a:rPr lang="en-US" dirty="0" err="1"/>
                  <a:t>расходами</a:t>
                </a:r>
                <a:r>
                  <a:rPr lang="en-US" dirty="0"/>
                  <a:t> </a:t>
                </a:r>
                <a:r>
                  <a:rPr lang="en-US" dirty="0" err="1"/>
                  <a:t>планирования</a:t>
                </a:r>
                <a:r>
                  <a:rPr lang="en-US" dirty="0"/>
                  <a:t> </a:t>
                </a:r>
                <a:r>
                  <a:rPr lang="en-US" dirty="0" err="1"/>
                  <a:t>можно</a:t>
                </a:r>
                <a:r>
                  <a:rPr lang="en-US" dirty="0"/>
                  <a:t> </a:t>
                </a:r>
                <a:r>
                  <a:rPr lang="en-US" dirty="0" err="1"/>
                  <a:t>пренебречь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 err="1"/>
                  <a:t>Эти</a:t>
                </a:r>
                <a:r>
                  <a:rPr lang="en-US" dirty="0"/>
                  <a:t> </a:t>
                </a:r>
                <a:r>
                  <a:rPr lang="en-US" dirty="0" err="1"/>
                  <a:t>предположения</a:t>
                </a:r>
                <a:r>
                  <a:rPr lang="en-US" dirty="0"/>
                  <a:t> </a:t>
                </a:r>
                <a:r>
                  <a:rPr lang="en-US" dirty="0" err="1"/>
                  <a:t>позволят</a:t>
                </a:r>
                <a:r>
                  <a:rPr lang="en-US" dirty="0"/>
                  <a:t> </a:t>
                </a:r>
                <a:r>
                  <a:rPr lang="en-US" dirty="0" err="1"/>
                  <a:t>нам</a:t>
                </a:r>
                <a:r>
                  <a:rPr lang="en-US" dirty="0"/>
                  <a:t> </a:t>
                </a:r>
                <a:r>
                  <a:rPr lang="en-US" dirty="0" err="1"/>
                  <a:t>разобраться</a:t>
                </a:r>
                <a:r>
                  <a:rPr lang="en-US" dirty="0"/>
                  <a:t> в </a:t>
                </a:r>
                <a:r>
                  <a:rPr lang="en-US" dirty="0" err="1"/>
                  <a:t>двух</a:t>
                </a:r>
                <a:r>
                  <a:rPr lang="en-US" dirty="0"/>
                  <a:t> </a:t>
                </a:r>
                <a:r>
                  <a:rPr lang="en-US" dirty="0" err="1"/>
                  <a:t>классических</a:t>
                </a:r>
                <a:r>
                  <a:rPr lang="en-US" dirty="0"/>
                  <a:t> </a:t>
                </a:r>
                <a:r>
                  <a:rPr lang="en-US" dirty="0" err="1"/>
                  <a:t>алгоритмах</a:t>
                </a:r>
                <a:r>
                  <a:rPr lang="en-US" dirty="0"/>
                  <a:t> </a:t>
                </a:r>
                <a:r>
                  <a:rPr lang="en-US" dirty="0" err="1"/>
                  <a:t>планирования</a:t>
                </a:r>
                <a:r>
                  <a:rPr lang="en-US" dirty="0"/>
                  <a:t> </a:t>
                </a:r>
                <a:r>
                  <a:rPr lang="en-US" dirty="0" err="1"/>
                  <a:t>реального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 — Rate Monotonic и Earliest Deadline First.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7611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знакомы</a:t>
            </a:r>
            <a:r>
              <a:rPr lang="en-US" dirty="0"/>
              <a:t> с </a:t>
            </a:r>
            <a:r>
              <a:rPr lang="en-US" dirty="0" err="1"/>
              <a:t>приоритетным</a:t>
            </a:r>
            <a:r>
              <a:rPr lang="en-US" dirty="0"/>
              <a:t> </a:t>
            </a:r>
            <a:r>
              <a:rPr lang="en-US" dirty="0" err="1"/>
              <a:t>планированием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обычной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определяться</a:t>
            </a:r>
            <a:r>
              <a:rPr lang="en-US" dirty="0"/>
              <a:t> </a:t>
            </a:r>
            <a:r>
              <a:rPr lang="en-US" dirty="0" err="1"/>
              <a:t>важностью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,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поведением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настройками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системах</a:t>
            </a:r>
            <a:r>
              <a:rPr lang="en-US" dirty="0"/>
              <a:t> </a:t>
            </a:r>
            <a:r>
              <a:rPr lang="en-US" dirty="0" err="1"/>
              <a:t>реального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используются</a:t>
            </a:r>
            <a:r>
              <a:rPr lang="en-US" dirty="0"/>
              <a:t> </a:t>
            </a:r>
            <a:r>
              <a:rPr lang="en-US" dirty="0" err="1"/>
              <a:t>приоритеты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правильно</a:t>
            </a:r>
            <a:r>
              <a:rPr lang="en-US" dirty="0"/>
              <a:t> </a:t>
            </a:r>
            <a:r>
              <a:rPr lang="en-US" dirty="0" err="1"/>
              <a:t>назначить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успевали</a:t>
            </a:r>
            <a:r>
              <a:rPr lang="en-US" dirty="0"/>
              <a:t> </a:t>
            </a:r>
            <a:r>
              <a:rPr lang="en-US" dirty="0" err="1"/>
              <a:t>завершаться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своих</a:t>
            </a:r>
            <a:r>
              <a:rPr lang="en-US" dirty="0"/>
              <a:t> </a:t>
            </a:r>
            <a:r>
              <a:rPr lang="en-US" dirty="0" err="1"/>
              <a:t>дедлайнов</a:t>
            </a:r>
            <a:r>
              <a:rPr lang="en-US" dirty="0"/>
              <a:t>?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классических</a:t>
            </a:r>
            <a:r>
              <a:rPr lang="en-US" dirty="0"/>
              <a:t> </a:t>
            </a:r>
            <a:r>
              <a:rPr lang="en-US" dirty="0" err="1"/>
              <a:t>подходов</a:t>
            </a:r>
            <a:r>
              <a:rPr lang="en-US" dirty="0"/>
              <a:t> — Rate Monotonic Scheduling, </a:t>
            </a:r>
            <a:r>
              <a:rPr lang="en-US" dirty="0" err="1"/>
              <a:t>или</a:t>
            </a:r>
            <a:r>
              <a:rPr lang="en-US" dirty="0"/>
              <a:t> RM.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предназначен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 </a:t>
            </a:r>
            <a:r>
              <a:rPr lang="en-US" dirty="0" err="1"/>
              <a:t>периодических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.</a:t>
            </a:r>
          </a:p>
          <a:p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главная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проста</a:t>
            </a:r>
            <a:r>
              <a:rPr lang="en-US" dirty="0"/>
              <a:t>: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короче</a:t>
            </a:r>
            <a:r>
              <a:rPr lang="en-US" dirty="0"/>
              <a:t> </a:t>
            </a:r>
            <a:r>
              <a:rPr lang="en-US" dirty="0" err="1"/>
              <a:t>период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,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выше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?</a:t>
            </a:r>
          </a:p>
          <a:p>
            <a:r>
              <a:rPr lang="en-US" dirty="0" err="1"/>
              <a:t>Представим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Первая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запускаться</a:t>
            </a:r>
            <a:r>
              <a:rPr lang="en-US" dirty="0"/>
              <a:t> </a:t>
            </a:r>
            <a:r>
              <a:rPr lang="en-US" dirty="0" err="1"/>
              <a:t>каждые</a:t>
            </a:r>
            <a:r>
              <a:rPr lang="en-US" dirty="0"/>
              <a:t> 4 </a:t>
            </a:r>
            <a:r>
              <a:rPr lang="en-US" dirty="0" err="1"/>
              <a:t>миллисекунды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Вторая</a:t>
            </a:r>
            <a:r>
              <a:rPr lang="en-US" dirty="0"/>
              <a:t> </a:t>
            </a:r>
            <a:r>
              <a:rPr lang="en-US" dirty="0" err="1"/>
              <a:t>запускается</a:t>
            </a:r>
            <a:r>
              <a:rPr lang="en-US" dirty="0"/>
              <a:t> </a:t>
            </a:r>
            <a:r>
              <a:rPr lang="en-US" dirty="0" err="1"/>
              <a:t>каждые</a:t>
            </a:r>
            <a:r>
              <a:rPr lang="en-US" dirty="0"/>
              <a:t> 7 </a:t>
            </a:r>
            <a:r>
              <a:rPr lang="en-US" dirty="0" err="1"/>
              <a:t>миллисекунд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У </a:t>
            </a:r>
            <a:r>
              <a:rPr lang="en-US" dirty="0" err="1"/>
              <a:t>первой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экземпляры</a:t>
            </a:r>
            <a:r>
              <a:rPr lang="en-US" dirty="0"/>
              <a:t> </a:t>
            </a:r>
            <a:r>
              <a:rPr lang="en-US" dirty="0" err="1"/>
              <a:t>появляются</a:t>
            </a:r>
            <a:r>
              <a:rPr lang="en-US" dirty="0"/>
              <a:t> </a:t>
            </a:r>
            <a:r>
              <a:rPr lang="en-US" dirty="0" err="1"/>
              <a:t>чаще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в </a:t>
            </a:r>
            <a:r>
              <a:rPr lang="en-US" dirty="0" err="1"/>
              <a:t>модели</a:t>
            </a:r>
            <a:r>
              <a:rPr lang="en-US" dirty="0"/>
              <a:t> Rate Monotonic </a:t>
            </a:r>
            <a:r>
              <a:rPr lang="en-US" dirty="0" err="1"/>
              <a:t>ей</a:t>
            </a:r>
            <a:r>
              <a:rPr lang="en-US" dirty="0"/>
              <a:t> </a:t>
            </a:r>
            <a:r>
              <a:rPr lang="en-US" dirty="0" err="1"/>
              <a:t>назначается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высокий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.</a:t>
            </a:r>
          </a:p>
          <a:p>
            <a:r>
              <a:rPr lang="en-US" dirty="0" err="1"/>
              <a:t>Важно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 </a:t>
            </a:r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dirty="0" err="1"/>
              <a:t>постоянным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Rate Monotonic </a:t>
            </a:r>
            <a:r>
              <a:rPr lang="en-US" dirty="0" err="1"/>
              <a:t>относится</a:t>
            </a:r>
            <a:r>
              <a:rPr lang="en-US" dirty="0"/>
              <a:t> к </a:t>
            </a:r>
            <a:r>
              <a:rPr lang="en-US" dirty="0" err="1"/>
              <a:t>алгоритмам</a:t>
            </a:r>
            <a:r>
              <a:rPr lang="en-US" dirty="0"/>
              <a:t> с </a:t>
            </a:r>
            <a:r>
              <a:rPr lang="en-US" dirty="0" err="1"/>
              <a:t>фиксированными</a:t>
            </a:r>
            <a:r>
              <a:rPr lang="en-US" dirty="0"/>
              <a:t> </a:t>
            </a:r>
            <a:r>
              <a:rPr lang="en-US" dirty="0" err="1"/>
              <a:t>приоритетами</a:t>
            </a:r>
            <a:r>
              <a:rPr lang="en-US" dirty="0"/>
              <a:t> — Fixed-Priority Scheduling.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наш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.</a:t>
            </a:r>
          </a:p>
          <a:p>
            <a:r>
              <a:rPr lang="en-US" dirty="0" err="1"/>
              <a:t>Задача</a:t>
            </a:r>
            <a:r>
              <a:rPr lang="en-US" dirty="0"/>
              <a:t> A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период</a:t>
            </a:r>
            <a:r>
              <a:rPr lang="en-US" dirty="0"/>
              <a:t> 4 </a:t>
            </a:r>
            <a:r>
              <a:rPr lang="en-US" dirty="0" err="1"/>
              <a:t>миллисекунды</a:t>
            </a:r>
            <a:r>
              <a:rPr lang="en-US" dirty="0"/>
              <a:t> и </a:t>
            </a:r>
            <a:r>
              <a:rPr lang="en-US" dirty="0" err="1"/>
              <a:t>требует</a:t>
            </a:r>
            <a:r>
              <a:rPr lang="en-US" dirty="0"/>
              <a:t> 1 </a:t>
            </a:r>
            <a:r>
              <a:rPr lang="en-US" dirty="0" err="1"/>
              <a:t>миллисекунду</a:t>
            </a:r>
            <a:r>
              <a:rPr lang="en-US" dirty="0"/>
              <a:t> </a:t>
            </a:r>
            <a:r>
              <a:rPr lang="en-US" dirty="0" err="1"/>
              <a:t>процессорного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  <a:p>
            <a:r>
              <a:rPr lang="en-US" dirty="0" err="1"/>
              <a:t>Задача</a:t>
            </a:r>
            <a:r>
              <a:rPr lang="en-US" dirty="0"/>
              <a:t> B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период</a:t>
            </a:r>
            <a:r>
              <a:rPr lang="en-US" dirty="0"/>
              <a:t> 7 </a:t>
            </a:r>
            <a:r>
              <a:rPr lang="en-US" dirty="0" err="1"/>
              <a:t>миллисекунд</a:t>
            </a:r>
            <a:r>
              <a:rPr lang="en-US" dirty="0"/>
              <a:t> и </a:t>
            </a:r>
            <a:r>
              <a:rPr lang="en-US" dirty="0" err="1"/>
              <a:t>требует</a:t>
            </a:r>
            <a:r>
              <a:rPr lang="en-US" dirty="0"/>
              <a:t> 4 </a:t>
            </a:r>
            <a:r>
              <a:rPr lang="en-US" dirty="0" err="1"/>
              <a:t>миллисекунды</a:t>
            </a:r>
            <a:r>
              <a:rPr lang="en-US" dirty="0"/>
              <a:t> CPU.</a:t>
            </a:r>
          </a:p>
          <a:p>
            <a:endParaRPr lang="ru-RU" dirty="0"/>
          </a:p>
          <a:p>
            <a:r>
              <a:rPr lang="en-US" dirty="0" err="1"/>
              <a:t>Обе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впервые</a:t>
            </a:r>
            <a:r>
              <a:rPr lang="en-US" dirty="0"/>
              <a:t> </a:t>
            </a:r>
            <a:r>
              <a:rPr lang="en-US" dirty="0" err="1"/>
              <a:t>поступают</a:t>
            </a:r>
            <a:r>
              <a:rPr lang="en-US" dirty="0"/>
              <a:t> в </a:t>
            </a:r>
            <a:r>
              <a:rPr lang="en-US" dirty="0" err="1"/>
              <a:t>момент</a:t>
            </a:r>
            <a:r>
              <a:rPr lang="en-US" dirty="0"/>
              <a:t> 0.</a:t>
            </a:r>
          </a:p>
          <a:p>
            <a:r>
              <a:rPr lang="en-US" dirty="0" err="1"/>
              <a:t>Поскольку</a:t>
            </a:r>
            <a:r>
              <a:rPr lang="en-US" dirty="0"/>
              <a:t> A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высокий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,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с 0 </a:t>
            </a:r>
            <a:r>
              <a:rPr lang="en-US" dirty="0" err="1"/>
              <a:t>до</a:t>
            </a:r>
            <a:r>
              <a:rPr lang="en-US" dirty="0"/>
              <a:t> 1 </a:t>
            </a:r>
            <a:r>
              <a:rPr lang="en-US" dirty="0" err="1"/>
              <a:t>миллисекунды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A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выбирает</a:t>
            </a:r>
            <a:r>
              <a:rPr lang="en-US" dirty="0"/>
              <a:t> B.</a:t>
            </a:r>
          </a:p>
          <a:p>
            <a:r>
              <a:rPr lang="en-US" dirty="0"/>
              <a:t>B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 в </a:t>
            </a:r>
            <a:r>
              <a:rPr lang="en-US" dirty="0" err="1"/>
              <a:t>момент</a:t>
            </a:r>
            <a:r>
              <a:rPr lang="en-US" dirty="0"/>
              <a:t> 1 и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момента</a:t>
            </a:r>
            <a:r>
              <a:rPr lang="en-US" dirty="0"/>
              <a:t> 4.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успевает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3 </a:t>
            </a:r>
            <a:r>
              <a:rPr lang="en-US" dirty="0" err="1"/>
              <a:t>миллисекунды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необходимых</a:t>
            </a:r>
            <a:r>
              <a:rPr lang="en-US" dirty="0"/>
              <a:t> </a:t>
            </a:r>
            <a:r>
              <a:rPr lang="en-US" dirty="0" err="1"/>
              <a:t>четырёх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в </a:t>
            </a:r>
            <a:r>
              <a:rPr lang="en-US" dirty="0" err="1"/>
              <a:t>момент</a:t>
            </a:r>
            <a:r>
              <a:rPr lang="en-US" dirty="0"/>
              <a:t> 4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экземпляр</a:t>
            </a:r>
            <a:r>
              <a:rPr lang="en-US" dirty="0"/>
              <a:t> A.</a:t>
            </a:r>
          </a:p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?</a:t>
            </a:r>
          </a:p>
          <a:p>
            <a:endParaRPr lang="ru-RU" dirty="0"/>
          </a:p>
          <a:p>
            <a:r>
              <a:rPr lang="en-US" dirty="0" err="1"/>
              <a:t>Несмотря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B </a:t>
            </a:r>
            <a:r>
              <a:rPr lang="en-US" dirty="0" err="1"/>
              <a:t>осталось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миллисекунду</a:t>
            </a:r>
            <a:r>
              <a:rPr lang="en-US" dirty="0"/>
              <a:t>,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вытесняет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и </a:t>
            </a:r>
            <a:r>
              <a:rPr lang="en-US" dirty="0" err="1"/>
              <a:t>запускает</a:t>
            </a:r>
            <a:r>
              <a:rPr lang="en-US" dirty="0"/>
              <a:t> A.</a:t>
            </a:r>
          </a:p>
          <a:p>
            <a:r>
              <a:rPr lang="en-US" dirty="0" err="1"/>
              <a:t>Почему</a:t>
            </a:r>
            <a:r>
              <a:rPr lang="en-US" dirty="0"/>
              <a:t>?</a:t>
            </a:r>
            <a:r>
              <a:rPr lang="ru-RU" dirty="0"/>
              <a:t> </a:t>
            </a:r>
            <a:r>
              <a:rPr lang="en-US" dirty="0" err="1"/>
              <a:t>Потому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 A </a:t>
            </a:r>
            <a:r>
              <a:rPr lang="en-US" dirty="0" err="1"/>
              <a:t>выше</a:t>
            </a:r>
            <a:r>
              <a:rPr lang="en-US" dirty="0"/>
              <a:t>, а Rate Monotonic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изменяет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 в </a:t>
            </a:r>
            <a:r>
              <a:rPr lang="en-US" dirty="0" err="1"/>
              <a:t>зависимости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оставшегося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близости</a:t>
            </a:r>
            <a:r>
              <a:rPr lang="en-US" dirty="0"/>
              <a:t> </a:t>
            </a:r>
            <a:r>
              <a:rPr lang="en-US" dirty="0" err="1"/>
              <a:t>абсолютного</a:t>
            </a:r>
            <a:r>
              <a:rPr lang="en-US" dirty="0"/>
              <a:t> </a:t>
            </a:r>
            <a:r>
              <a:rPr lang="en-US" dirty="0" err="1"/>
              <a:t>дедлайна</a:t>
            </a:r>
            <a:r>
              <a:rPr lang="en-US" dirty="0"/>
              <a:t>.</a:t>
            </a:r>
          </a:p>
          <a:p>
            <a:r>
              <a:rPr lang="en-US" dirty="0"/>
              <a:t>A </a:t>
            </a:r>
            <a:r>
              <a:rPr lang="en-US" dirty="0" err="1"/>
              <a:t>выполняется</a:t>
            </a:r>
            <a:r>
              <a:rPr lang="en-US" dirty="0"/>
              <a:t> с 4 </a:t>
            </a:r>
            <a:r>
              <a:rPr lang="en-US" dirty="0" err="1"/>
              <a:t>до</a:t>
            </a:r>
            <a:r>
              <a:rPr lang="en-US" dirty="0"/>
              <a:t> 5 </a:t>
            </a:r>
            <a:r>
              <a:rPr lang="en-US" dirty="0" err="1"/>
              <a:t>миллисекунд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Затем</a:t>
            </a:r>
            <a:r>
              <a:rPr lang="en-US" dirty="0"/>
              <a:t> B </a:t>
            </a:r>
            <a:r>
              <a:rPr lang="en-US" dirty="0" err="1"/>
              <a:t>возобновляется</a:t>
            </a:r>
            <a:r>
              <a:rPr lang="en-US" dirty="0"/>
              <a:t>,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оставшуюся</a:t>
            </a:r>
            <a:r>
              <a:rPr lang="en-US" dirty="0"/>
              <a:t> </a:t>
            </a:r>
            <a:r>
              <a:rPr lang="en-US" dirty="0" err="1"/>
              <a:t>миллисекунду</a:t>
            </a:r>
            <a:r>
              <a:rPr lang="en-US" dirty="0"/>
              <a:t> и </a:t>
            </a:r>
            <a:r>
              <a:rPr lang="en-US" dirty="0" err="1"/>
              <a:t>завершается</a:t>
            </a:r>
            <a:r>
              <a:rPr lang="en-US" dirty="0"/>
              <a:t> в </a:t>
            </a:r>
            <a:r>
              <a:rPr lang="en-US" dirty="0" err="1"/>
              <a:t>момент</a:t>
            </a:r>
            <a:r>
              <a:rPr lang="en-US" dirty="0"/>
              <a:t> 6.</a:t>
            </a:r>
          </a:p>
          <a:p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дедлайн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в </a:t>
            </a:r>
            <a:r>
              <a:rPr lang="en-US" dirty="0" err="1"/>
              <a:t>момент</a:t>
            </a:r>
            <a:r>
              <a:rPr lang="en-US" dirty="0"/>
              <a:t> 7 </a:t>
            </a:r>
            <a:r>
              <a:rPr lang="en-US" dirty="0" err="1"/>
              <a:t>миллисекунд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успевает</a:t>
            </a:r>
            <a:r>
              <a:rPr lang="en-US" dirty="0"/>
              <a:t> </a:t>
            </a:r>
            <a:r>
              <a:rPr lang="en-US" dirty="0" err="1"/>
              <a:t>завершиться</a:t>
            </a:r>
            <a:r>
              <a:rPr lang="en-US" dirty="0"/>
              <a:t> </a:t>
            </a:r>
            <a:r>
              <a:rPr lang="en-US" dirty="0" err="1"/>
              <a:t>вовремя</a:t>
            </a:r>
            <a:r>
              <a:rPr lang="en-US" dirty="0"/>
              <a:t>.</a:t>
            </a:r>
          </a:p>
          <a:p>
            <a:r>
              <a:rPr lang="en-US" dirty="0" err="1"/>
              <a:t>Итак</a:t>
            </a:r>
            <a:r>
              <a:rPr lang="en-US" dirty="0"/>
              <a:t>, 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примере</a:t>
            </a:r>
            <a:r>
              <a:rPr lang="en-US" dirty="0"/>
              <a:t> </a:t>
            </a:r>
            <a:r>
              <a:rPr lang="en-US" dirty="0" err="1"/>
              <a:t>обе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соблюдают</a:t>
            </a:r>
            <a:r>
              <a:rPr lang="en-US" dirty="0"/>
              <a:t> </a:t>
            </a:r>
            <a:r>
              <a:rPr lang="en-US" dirty="0" err="1"/>
              <a:t>свои</a:t>
            </a:r>
            <a:r>
              <a:rPr lang="en-US" dirty="0"/>
              <a:t> </a:t>
            </a:r>
            <a:r>
              <a:rPr lang="en-US" dirty="0" err="1"/>
              <a:t>временные</a:t>
            </a:r>
            <a:r>
              <a:rPr lang="en-US" dirty="0"/>
              <a:t> </a:t>
            </a:r>
            <a:r>
              <a:rPr lang="en-US" dirty="0" err="1"/>
              <a:t>ограничения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Преимущество</a:t>
            </a:r>
            <a:r>
              <a:rPr lang="en-US" dirty="0"/>
              <a:t> Rate Monotonic </a:t>
            </a:r>
            <a:r>
              <a:rPr lang="en-US" dirty="0" err="1"/>
              <a:t>заключается</a:t>
            </a:r>
            <a:r>
              <a:rPr lang="en-US" dirty="0"/>
              <a:t> в </a:t>
            </a:r>
            <a:r>
              <a:rPr lang="en-US" dirty="0" err="1"/>
              <a:t>относительной</a:t>
            </a:r>
            <a:r>
              <a:rPr lang="en-US" dirty="0"/>
              <a:t> </a:t>
            </a:r>
            <a:r>
              <a:rPr lang="en-US" dirty="0" err="1"/>
              <a:t>простоте</a:t>
            </a:r>
            <a:r>
              <a:rPr lang="en-US" dirty="0"/>
              <a:t>.</a:t>
            </a:r>
          </a:p>
          <a:p>
            <a:r>
              <a:rPr lang="en-US" dirty="0" err="1"/>
              <a:t>Приоритеты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назначить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, </a:t>
            </a:r>
            <a:r>
              <a:rPr lang="en-US" dirty="0" err="1"/>
              <a:t>зная</a:t>
            </a:r>
            <a:r>
              <a:rPr lang="en-US" dirty="0"/>
              <a:t> </a:t>
            </a:r>
            <a:r>
              <a:rPr lang="en-US" dirty="0" err="1"/>
              <a:t>периоды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.</a:t>
            </a:r>
          </a:p>
          <a:p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пересчитывать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основе</a:t>
            </a:r>
            <a:r>
              <a:rPr lang="en-US" dirty="0"/>
              <a:t> </a:t>
            </a:r>
            <a:r>
              <a:rPr lang="en-US" dirty="0" err="1"/>
              <a:t>изменяющихся</a:t>
            </a:r>
            <a:r>
              <a:rPr lang="en-US" dirty="0"/>
              <a:t> </a:t>
            </a:r>
            <a:r>
              <a:rPr lang="en-US" dirty="0" err="1"/>
              <a:t>дедлайнов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, </a:t>
            </a:r>
            <a:r>
              <a:rPr lang="en-US" dirty="0" err="1"/>
              <a:t>суммарно</a:t>
            </a:r>
            <a:r>
              <a:rPr lang="en-US" dirty="0"/>
              <a:t> </a:t>
            </a:r>
            <a:r>
              <a:rPr lang="en-US" dirty="0" err="1"/>
              <a:t>требующий</a:t>
            </a:r>
            <a:r>
              <a:rPr lang="en-US" dirty="0"/>
              <a:t> </a:t>
            </a:r>
            <a:r>
              <a:rPr lang="en-US" dirty="0" err="1"/>
              <a:t>менее</a:t>
            </a:r>
            <a:r>
              <a:rPr lang="en-US" dirty="0"/>
              <a:t> 100% CPU,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успешно</a:t>
            </a:r>
            <a:r>
              <a:rPr lang="en-US" dirty="0"/>
              <a:t> </a:t>
            </a:r>
            <a:r>
              <a:rPr lang="en-US" dirty="0" err="1"/>
              <a:t>планироваться</a:t>
            </a:r>
            <a:r>
              <a:rPr lang="en-US" dirty="0"/>
              <a:t> </a:t>
            </a:r>
            <a:r>
              <a:rPr lang="en-US" dirty="0" err="1"/>
              <a:t>алгоритмом</a:t>
            </a:r>
            <a:r>
              <a:rPr lang="en-US" dirty="0"/>
              <a:t> Rate Monotonic.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некоторых</a:t>
            </a:r>
            <a:r>
              <a:rPr lang="en-US" dirty="0"/>
              <a:t> </a:t>
            </a:r>
            <a:r>
              <a:rPr lang="en-US" dirty="0" err="1"/>
              <a:t>сочетаниях</a:t>
            </a:r>
            <a:r>
              <a:rPr lang="en-US" dirty="0"/>
              <a:t> </a:t>
            </a:r>
            <a:r>
              <a:rPr lang="en-US" dirty="0" err="1"/>
              <a:t>периодов</a:t>
            </a:r>
            <a:r>
              <a:rPr lang="en-US" dirty="0"/>
              <a:t> и </a:t>
            </a:r>
            <a:r>
              <a:rPr lang="en-US" dirty="0" err="1"/>
              <a:t>длительностей</a:t>
            </a:r>
            <a:r>
              <a:rPr lang="en-US" dirty="0"/>
              <a:t> </a:t>
            </a:r>
            <a:r>
              <a:rPr lang="en-US" dirty="0" err="1"/>
              <a:t>низкоприоритетная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пропустить</a:t>
            </a:r>
            <a:r>
              <a:rPr lang="en-US" dirty="0"/>
              <a:t> </a:t>
            </a:r>
            <a:r>
              <a:rPr lang="en-US" dirty="0" err="1"/>
              <a:t>дедлайн</a:t>
            </a:r>
            <a:r>
              <a:rPr lang="en-US" dirty="0"/>
              <a:t> </a:t>
            </a:r>
            <a:r>
              <a:rPr lang="en-US" dirty="0" err="1"/>
              <a:t>из-за</a:t>
            </a:r>
            <a:r>
              <a:rPr lang="en-US" dirty="0"/>
              <a:t> </a:t>
            </a:r>
            <a:r>
              <a:rPr lang="en-US" dirty="0" err="1"/>
              <a:t>повторных</a:t>
            </a:r>
            <a:r>
              <a:rPr lang="en-US" dirty="0"/>
              <a:t> </a:t>
            </a:r>
            <a:r>
              <a:rPr lang="en-US" dirty="0" err="1"/>
              <a:t>вытеснений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Rate Monotonic </a:t>
            </a:r>
            <a:r>
              <a:rPr lang="en-US" dirty="0" err="1"/>
              <a:t>существуют</a:t>
            </a:r>
            <a:r>
              <a:rPr lang="en-US" dirty="0"/>
              <a:t> </a:t>
            </a:r>
            <a:r>
              <a:rPr lang="en-US" dirty="0" err="1"/>
              <a:t>специальные</a:t>
            </a:r>
            <a:r>
              <a:rPr lang="en-US" dirty="0"/>
              <a:t> </a:t>
            </a:r>
            <a:r>
              <a:rPr lang="en-US" dirty="0" err="1"/>
              <a:t>методы</a:t>
            </a:r>
            <a:r>
              <a:rPr lang="en-US" dirty="0"/>
              <a:t> </a:t>
            </a:r>
            <a:r>
              <a:rPr lang="en-US" dirty="0" err="1"/>
              <a:t>анализа</a:t>
            </a:r>
            <a:r>
              <a:rPr lang="en-US" dirty="0"/>
              <a:t> </a:t>
            </a:r>
            <a:r>
              <a:rPr lang="en-US" dirty="0" err="1"/>
              <a:t>планируемости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И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интересный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примере</a:t>
            </a:r>
            <a:r>
              <a:rPr lang="en-US" dirty="0"/>
              <a:t> в </a:t>
            </a:r>
            <a:r>
              <a:rPr lang="en-US" dirty="0" err="1"/>
              <a:t>момент</a:t>
            </a:r>
            <a:r>
              <a:rPr lang="en-US" dirty="0"/>
              <a:t> 4 </a:t>
            </a:r>
            <a:r>
              <a:rPr lang="en-US" dirty="0" err="1"/>
              <a:t>миллисекунды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B </a:t>
            </a:r>
            <a:r>
              <a:rPr lang="en-US" dirty="0" err="1"/>
              <a:t>имела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близкий</a:t>
            </a:r>
            <a:r>
              <a:rPr lang="en-US" dirty="0"/>
              <a:t> </a:t>
            </a:r>
            <a:r>
              <a:rPr lang="en-US" dirty="0" err="1"/>
              <a:t>дедлайн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экземпляр</a:t>
            </a:r>
            <a:r>
              <a:rPr lang="en-US" dirty="0"/>
              <a:t> A.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равно</a:t>
            </a:r>
            <a:r>
              <a:rPr lang="en-US" dirty="0"/>
              <a:t> </a:t>
            </a:r>
            <a:r>
              <a:rPr lang="en-US" dirty="0" err="1"/>
              <a:t>выбрал</a:t>
            </a:r>
            <a:r>
              <a:rPr lang="en-US" dirty="0"/>
              <a:t> A.</a:t>
            </a:r>
          </a:p>
          <a:p>
            <a:endParaRPr lang="ru-RU" dirty="0"/>
          </a:p>
          <a:p>
            <a:r>
              <a:rPr lang="en-US" dirty="0"/>
              <a:t>А </a:t>
            </a:r>
            <a:r>
              <a:rPr lang="en-US" dirty="0" err="1"/>
              <a:t>что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фиксированных</a:t>
            </a:r>
            <a:r>
              <a:rPr lang="en-US" dirty="0"/>
              <a:t> </a:t>
            </a:r>
            <a:r>
              <a:rPr lang="en-US" dirty="0" err="1"/>
              <a:t>приоритетов</a:t>
            </a:r>
            <a:r>
              <a:rPr lang="en-US" dirty="0"/>
              <a:t> </a:t>
            </a:r>
            <a:r>
              <a:rPr lang="en-US" dirty="0" err="1"/>
              <a:t>учитывать</a:t>
            </a:r>
            <a:r>
              <a:rPr lang="en-US" dirty="0"/>
              <a:t>, </a:t>
            </a:r>
            <a:r>
              <a:rPr lang="en-US" dirty="0" err="1"/>
              <a:t>чей</a:t>
            </a:r>
            <a:r>
              <a:rPr lang="en-US" dirty="0"/>
              <a:t> </a:t>
            </a:r>
            <a:r>
              <a:rPr lang="en-US" dirty="0" err="1"/>
              <a:t>дедлайн</a:t>
            </a:r>
            <a:r>
              <a:rPr lang="en-US" dirty="0"/>
              <a:t> </a:t>
            </a:r>
            <a:r>
              <a:rPr lang="en-US" dirty="0" err="1"/>
              <a:t>наступит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?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алгоритм</a:t>
            </a:r>
            <a:r>
              <a:rPr lang="en-US" dirty="0"/>
              <a:t> — Earliest Deadline First.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14590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рассмотрели</a:t>
            </a:r>
            <a:r>
              <a:rPr lang="en-US" dirty="0"/>
              <a:t> Rate Monotonic — </a:t>
            </a:r>
            <a:r>
              <a:rPr lang="en-US" dirty="0" err="1"/>
              <a:t>алгоритм</a:t>
            </a:r>
            <a:r>
              <a:rPr lang="en-US" dirty="0"/>
              <a:t> с </a:t>
            </a:r>
            <a:r>
              <a:rPr lang="en-US" dirty="0" err="1"/>
              <a:t>фиксированными</a:t>
            </a:r>
            <a:r>
              <a:rPr lang="en-US" dirty="0"/>
              <a:t> </a:t>
            </a:r>
            <a:r>
              <a:rPr lang="en-US" dirty="0" err="1"/>
              <a:t>приоритетами</a:t>
            </a:r>
            <a:r>
              <a:rPr lang="en-US" dirty="0"/>
              <a:t>.</a:t>
            </a:r>
          </a:p>
          <a:p>
            <a:r>
              <a:rPr lang="en-US" dirty="0" err="1"/>
              <a:t>Напомню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назначает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высокий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 </a:t>
            </a:r>
            <a:r>
              <a:rPr lang="en-US" dirty="0" err="1"/>
              <a:t>задачам</a:t>
            </a:r>
            <a:r>
              <a:rPr lang="en-US" dirty="0"/>
              <a:t> с </a:t>
            </a:r>
            <a:r>
              <a:rPr lang="en-US" dirty="0" err="1"/>
              <a:t>меньшим</a:t>
            </a:r>
            <a:r>
              <a:rPr lang="en-US" dirty="0"/>
              <a:t> </a:t>
            </a:r>
            <a:r>
              <a:rPr lang="en-US" dirty="0" err="1"/>
              <a:t>периодом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и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к </a:t>
            </a:r>
            <a:r>
              <a:rPr lang="en-US" dirty="0" err="1"/>
              <a:t>планированию</a:t>
            </a:r>
            <a:r>
              <a:rPr lang="en-US" dirty="0"/>
              <a:t> </a:t>
            </a:r>
            <a:r>
              <a:rPr lang="en-US" dirty="0" err="1"/>
              <a:t>реального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назначать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 в </a:t>
            </a:r>
            <a:r>
              <a:rPr lang="en-US" dirty="0" err="1"/>
              <a:t>зависимости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периода</a:t>
            </a:r>
            <a:r>
              <a:rPr lang="en-US" dirty="0"/>
              <a:t>,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смотреть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реальные</a:t>
            </a:r>
            <a:r>
              <a:rPr lang="en-US" dirty="0"/>
              <a:t> </a:t>
            </a:r>
            <a:r>
              <a:rPr lang="en-US" dirty="0" err="1"/>
              <a:t>сроки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конкретных</a:t>
            </a:r>
            <a:r>
              <a:rPr lang="en-US" dirty="0"/>
              <a:t> </a:t>
            </a:r>
            <a:r>
              <a:rPr lang="en-US" dirty="0" err="1"/>
              <a:t>экземпляров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.</a:t>
            </a:r>
          </a:p>
          <a:p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</a:t>
            </a:r>
            <a:r>
              <a:rPr lang="en-US" dirty="0" err="1"/>
              <a:t>называется</a:t>
            </a:r>
            <a:r>
              <a:rPr lang="en-US" dirty="0"/>
              <a:t> Earliest Deadline First, </a:t>
            </a:r>
            <a:r>
              <a:rPr lang="en-US" dirty="0" err="1"/>
              <a:t>или</a:t>
            </a:r>
            <a:r>
              <a:rPr lang="en-US" dirty="0"/>
              <a:t> EDF.</a:t>
            </a:r>
          </a:p>
          <a:p>
            <a:r>
              <a:rPr lang="en-US" dirty="0" err="1"/>
              <a:t>Название</a:t>
            </a:r>
            <a:r>
              <a:rPr lang="en-US" dirty="0"/>
              <a:t> </a:t>
            </a:r>
            <a:r>
              <a:rPr lang="en-US" dirty="0" err="1"/>
              <a:t>переводится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«</a:t>
            </a:r>
            <a:r>
              <a:rPr lang="en-US" dirty="0" err="1"/>
              <a:t>первым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, у </a:t>
            </a:r>
            <a:r>
              <a:rPr lang="en-US" dirty="0" err="1"/>
              <a:t>кого</a:t>
            </a:r>
            <a:r>
              <a:rPr lang="en-US" dirty="0"/>
              <a:t> </a:t>
            </a:r>
            <a:r>
              <a:rPr lang="en-US" dirty="0" err="1"/>
              <a:t>ближайший</a:t>
            </a:r>
            <a:r>
              <a:rPr lang="en-US" dirty="0"/>
              <a:t> </a:t>
            </a:r>
            <a:r>
              <a:rPr lang="en-US" dirty="0" err="1"/>
              <a:t>дедлайн</a:t>
            </a:r>
            <a:r>
              <a:rPr lang="en-US" dirty="0"/>
              <a:t>».</a:t>
            </a:r>
          </a:p>
          <a:p>
            <a:endParaRPr lang="ru-RU" dirty="0"/>
          </a:p>
          <a:p>
            <a:r>
              <a:rPr lang="en-US" dirty="0" err="1"/>
              <a:t>Главное</a:t>
            </a:r>
            <a:r>
              <a:rPr lang="en-US" dirty="0"/>
              <a:t> </a:t>
            </a:r>
            <a:r>
              <a:rPr lang="en-US" dirty="0" err="1"/>
              <a:t>правило</a:t>
            </a:r>
            <a:r>
              <a:rPr lang="en-US" dirty="0"/>
              <a:t> EDF </a:t>
            </a:r>
            <a:r>
              <a:rPr lang="en-US" dirty="0" err="1"/>
              <a:t>заключается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выбирает</a:t>
            </a:r>
            <a:r>
              <a:rPr lang="en-US" dirty="0"/>
              <a:t> </a:t>
            </a:r>
            <a:r>
              <a:rPr lang="en-US" dirty="0" err="1"/>
              <a:t>готовую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 с </a:t>
            </a:r>
            <a:r>
              <a:rPr lang="en-US" dirty="0" err="1"/>
              <a:t>наиболее</a:t>
            </a:r>
            <a:r>
              <a:rPr lang="en-US" dirty="0"/>
              <a:t> </a:t>
            </a:r>
            <a:r>
              <a:rPr lang="en-US" dirty="0" err="1"/>
              <a:t>ранним</a:t>
            </a:r>
            <a:r>
              <a:rPr lang="en-US" dirty="0"/>
              <a:t> </a:t>
            </a:r>
            <a:r>
              <a:rPr lang="en-US" dirty="0" err="1"/>
              <a:t>абсолютным</a:t>
            </a:r>
            <a:r>
              <a:rPr lang="en-US" dirty="0"/>
              <a:t> </a:t>
            </a:r>
            <a:r>
              <a:rPr lang="en-US" dirty="0" err="1"/>
              <a:t>дедлайном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отличие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Rate Monotonic,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приоритеты</a:t>
            </a:r>
            <a:r>
              <a:rPr lang="en-US" dirty="0"/>
              <a:t> </a:t>
            </a:r>
            <a:r>
              <a:rPr lang="en-US" dirty="0" err="1"/>
              <a:t>динамические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экземпляр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высокий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другая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, а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следующем</a:t>
            </a:r>
            <a:r>
              <a:rPr lang="en-US" dirty="0"/>
              <a:t> </a:t>
            </a:r>
            <a:r>
              <a:rPr lang="en-US" dirty="0" err="1"/>
              <a:t>появлении</a:t>
            </a:r>
            <a:r>
              <a:rPr lang="en-US" dirty="0"/>
              <a:t> </a:t>
            </a:r>
            <a:r>
              <a:rPr lang="en-US" dirty="0" err="1"/>
              <a:t>ситуация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измениться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Вернёмся</a:t>
            </a:r>
            <a:r>
              <a:rPr lang="en-US" dirty="0"/>
              <a:t> к </a:t>
            </a:r>
            <a:r>
              <a:rPr lang="en-US" dirty="0" err="1"/>
              <a:t>нашему</a:t>
            </a:r>
            <a:r>
              <a:rPr lang="en-US" dirty="0"/>
              <a:t> </a:t>
            </a:r>
            <a:r>
              <a:rPr lang="en-US" dirty="0" err="1"/>
              <a:t>примеру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периодические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</a:t>
            </a:r>
          </a:p>
          <a:p>
            <a:r>
              <a:rPr lang="en-US" dirty="0"/>
              <a:t>A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каждые</a:t>
            </a:r>
            <a:r>
              <a:rPr lang="en-US" dirty="0"/>
              <a:t> 4 </a:t>
            </a:r>
            <a:r>
              <a:rPr lang="en-US" dirty="0" err="1"/>
              <a:t>миллисекунды</a:t>
            </a:r>
            <a:r>
              <a:rPr lang="en-US" dirty="0"/>
              <a:t> и </a:t>
            </a:r>
            <a:r>
              <a:rPr lang="en-US" dirty="0" err="1"/>
              <a:t>требует</a:t>
            </a:r>
            <a:r>
              <a:rPr lang="en-US" dirty="0"/>
              <a:t> 1 </a:t>
            </a:r>
            <a:r>
              <a:rPr lang="en-US" dirty="0" err="1"/>
              <a:t>миллисекунду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B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каждые</a:t>
            </a:r>
            <a:r>
              <a:rPr lang="en-US" dirty="0"/>
              <a:t> 7 </a:t>
            </a:r>
            <a:r>
              <a:rPr lang="en-US" dirty="0" err="1"/>
              <a:t>миллисекунд</a:t>
            </a:r>
            <a:r>
              <a:rPr lang="en-US" dirty="0"/>
              <a:t> и </a:t>
            </a:r>
            <a:r>
              <a:rPr lang="en-US" dirty="0" err="1"/>
              <a:t>требует</a:t>
            </a:r>
            <a:r>
              <a:rPr lang="en-US" dirty="0"/>
              <a:t> 4 </a:t>
            </a:r>
            <a:r>
              <a:rPr lang="en-US" dirty="0" err="1"/>
              <a:t>миллисекунды</a:t>
            </a:r>
            <a:r>
              <a:rPr lang="en-US" dirty="0"/>
              <a:t> CPU.</a:t>
            </a:r>
          </a:p>
          <a:p>
            <a:r>
              <a:rPr lang="en-US" dirty="0" err="1"/>
              <a:t>Обе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впервые</a:t>
            </a:r>
            <a:r>
              <a:rPr lang="en-US" dirty="0"/>
              <a:t> </a:t>
            </a:r>
            <a:r>
              <a:rPr lang="en-US" dirty="0" err="1"/>
              <a:t>поступают</a:t>
            </a:r>
            <a:r>
              <a:rPr lang="en-US" dirty="0"/>
              <a:t> в </a:t>
            </a:r>
            <a:r>
              <a:rPr lang="en-US" dirty="0" err="1"/>
              <a:t>момент</a:t>
            </a:r>
            <a:r>
              <a:rPr lang="en-US" dirty="0"/>
              <a:t> 0.</a:t>
            </a:r>
          </a:p>
          <a:p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дедлайн</a:t>
            </a:r>
            <a:r>
              <a:rPr lang="en-US" dirty="0"/>
              <a:t> A </a:t>
            </a:r>
            <a:r>
              <a:rPr lang="en-US" dirty="0" err="1"/>
              <a:t>находится</a:t>
            </a:r>
            <a:r>
              <a:rPr lang="en-US" dirty="0"/>
              <a:t> в </a:t>
            </a:r>
            <a:r>
              <a:rPr lang="en-US" dirty="0" err="1"/>
              <a:t>момент</a:t>
            </a:r>
            <a:r>
              <a:rPr lang="en-US" dirty="0"/>
              <a:t> 4 </a:t>
            </a:r>
            <a:r>
              <a:rPr lang="en-US" dirty="0" err="1"/>
              <a:t>миллисекунды</a:t>
            </a:r>
            <a:r>
              <a:rPr lang="en-US" dirty="0"/>
              <a:t>, а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дедлайн</a:t>
            </a:r>
            <a:r>
              <a:rPr lang="en-US" dirty="0"/>
              <a:t> B — в </a:t>
            </a:r>
            <a:r>
              <a:rPr lang="en-US" dirty="0" err="1"/>
              <a:t>момент</a:t>
            </a:r>
            <a:r>
              <a:rPr lang="en-US" dirty="0"/>
              <a:t> 7.</a:t>
            </a:r>
          </a:p>
          <a:p>
            <a:r>
              <a:rPr lang="en-US" dirty="0" err="1"/>
              <a:t>Поэтому</a:t>
            </a:r>
            <a:r>
              <a:rPr lang="en-US" dirty="0"/>
              <a:t> EDF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запускает</a:t>
            </a:r>
            <a:r>
              <a:rPr lang="en-US" dirty="0"/>
              <a:t> A.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момент</a:t>
            </a:r>
            <a:r>
              <a:rPr lang="en-US" dirty="0"/>
              <a:t> 1 </a:t>
            </a:r>
            <a:r>
              <a:rPr lang="en-US" dirty="0" err="1"/>
              <a:t>задача</a:t>
            </a:r>
            <a:r>
              <a:rPr lang="en-US" dirty="0"/>
              <a:t> A </a:t>
            </a:r>
            <a:r>
              <a:rPr lang="en-US" dirty="0" err="1"/>
              <a:t>завершается</a:t>
            </a:r>
            <a:r>
              <a:rPr lang="en-US" dirty="0"/>
              <a:t>,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чего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B.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в </a:t>
            </a:r>
            <a:r>
              <a:rPr lang="en-US" dirty="0" err="1"/>
              <a:t>момент</a:t>
            </a:r>
            <a:r>
              <a:rPr lang="en-US" dirty="0"/>
              <a:t> 4.</a:t>
            </a:r>
          </a:p>
          <a:p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экземпляр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A.</a:t>
            </a:r>
          </a:p>
          <a:p>
            <a:r>
              <a:rPr lang="en-US" dirty="0" err="1"/>
              <a:t>При</a:t>
            </a:r>
            <a:r>
              <a:rPr lang="en-US" dirty="0"/>
              <a:t> Rate Monotonic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немедленно</a:t>
            </a:r>
            <a:r>
              <a:rPr lang="en-US" dirty="0"/>
              <a:t> </a:t>
            </a:r>
            <a:r>
              <a:rPr lang="en-US" dirty="0" err="1"/>
              <a:t>вытеснил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B, </a:t>
            </a:r>
            <a:r>
              <a:rPr lang="en-US" dirty="0" err="1"/>
              <a:t>поскольку</a:t>
            </a:r>
            <a:r>
              <a:rPr lang="en-US" dirty="0"/>
              <a:t> </a:t>
            </a:r>
            <a:r>
              <a:rPr lang="en-US" dirty="0" err="1"/>
              <a:t>период</a:t>
            </a:r>
            <a:r>
              <a:rPr lang="en-US" dirty="0"/>
              <a:t> A </a:t>
            </a:r>
            <a:r>
              <a:rPr lang="en-US" dirty="0" err="1"/>
              <a:t>меньше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EDF </a:t>
            </a:r>
            <a:r>
              <a:rPr lang="en-US" dirty="0" err="1"/>
              <a:t>принимает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иначе</a:t>
            </a:r>
            <a:r>
              <a:rPr lang="en-US" dirty="0"/>
              <a:t>.</a:t>
            </a:r>
          </a:p>
          <a:p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сравнивает</a:t>
            </a:r>
            <a:r>
              <a:rPr lang="en-US" dirty="0"/>
              <a:t> </a:t>
            </a:r>
            <a:r>
              <a:rPr lang="en-US" dirty="0" err="1"/>
              <a:t>абсолютные</a:t>
            </a:r>
            <a:r>
              <a:rPr lang="en-US" dirty="0"/>
              <a:t> </a:t>
            </a:r>
            <a:r>
              <a:rPr lang="en-US" dirty="0" err="1"/>
              <a:t>дедлайны</a:t>
            </a:r>
            <a:r>
              <a:rPr lang="en-US" dirty="0"/>
              <a:t> </a:t>
            </a:r>
            <a:r>
              <a:rPr lang="en-US" dirty="0" err="1"/>
              <a:t>готовых</a:t>
            </a:r>
            <a:r>
              <a:rPr lang="en-US" dirty="0"/>
              <a:t> </a:t>
            </a:r>
            <a:r>
              <a:rPr lang="en-US" dirty="0" err="1"/>
              <a:t>экземпляров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выполняющейся</a:t>
            </a:r>
            <a:r>
              <a:rPr lang="en-US" dirty="0"/>
              <a:t> B </a:t>
            </a:r>
            <a:r>
              <a:rPr lang="en-US" dirty="0" err="1"/>
              <a:t>дедлайн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в </a:t>
            </a:r>
            <a:r>
              <a:rPr lang="en-US" dirty="0" err="1"/>
              <a:t>момент</a:t>
            </a:r>
            <a:r>
              <a:rPr lang="en-US" dirty="0"/>
              <a:t> 7 </a:t>
            </a:r>
            <a:r>
              <a:rPr lang="en-US" dirty="0" err="1"/>
              <a:t>миллисекунд</a:t>
            </a:r>
            <a:r>
              <a:rPr lang="en-US" dirty="0"/>
              <a:t>.</a:t>
            </a:r>
          </a:p>
          <a:p>
            <a:r>
              <a:rPr lang="en-US" dirty="0"/>
              <a:t>А у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поступившего</a:t>
            </a:r>
            <a:r>
              <a:rPr lang="en-US" dirty="0"/>
              <a:t> </a:t>
            </a:r>
            <a:r>
              <a:rPr lang="en-US" dirty="0" err="1"/>
              <a:t>экземпляра</a:t>
            </a:r>
            <a:r>
              <a:rPr lang="en-US" dirty="0"/>
              <a:t> A </a:t>
            </a:r>
            <a:r>
              <a:rPr lang="en-US" dirty="0" err="1"/>
              <a:t>дедлайн</a:t>
            </a:r>
            <a:r>
              <a:rPr lang="en-US" dirty="0"/>
              <a:t> </a:t>
            </a:r>
            <a:r>
              <a:rPr lang="en-US" dirty="0" err="1"/>
              <a:t>наступит</a:t>
            </a:r>
            <a:r>
              <a:rPr lang="en-US" dirty="0"/>
              <a:t> в </a:t>
            </a:r>
            <a:r>
              <a:rPr lang="en-US" dirty="0" err="1"/>
              <a:t>момент</a:t>
            </a:r>
            <a:r>
              <a:rPr lang="en-US" dirty="0"/>
              <a:t> 8.</a:t>
            </a:r>
          </a:p>
          <a:p>
            <a:r>
              <a:rPr lang="en-US" dirty="0" err="1"/>
              <a:t>Следовательно</a:t>
            </a:r>
            <a:r>
              <a:rPr lang="en-US" dirty="0"/>
              <a:t>, B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завершиться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EDF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вытесняет</a:t>
            </a:r>
            <a:r>
              <a:rPr lang="en-US" dirty="0"/>
              <a:t> B.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и </a:t>
            </a:r>
            <a:r>
              <a:rPr lang="en-US" dirty="0" err="1"/>
              <a:t>завершается</a:t>
            </a:r>
            <a:r>
              <a:rPr lang="en-US" dirty="0"/>
              <a:t> в </a:t>
            </a:r>
            <a:r>
              <a:rPr lang="en-US" dirty="0" err="1"/>
              <a:t>момент</a:t>
            </a:r>
            <a:r>
              <a:rPr lang="en-US" dirty="0"/>
              <a:t> 5.</a:t>
            </a:r>
          </a:p>
          <a:p>
            <a:endParaRPr lang="ru-RU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запускает</a:t>
            </a:r>
            <a:r>
              <a:rPr lang="en-US" dirty="0"/>
              <a:t> A,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с 5 </a:t>
            </a:r>
            <a:r>
              <a:rPr lang="en-US" dirty="0" err="1"/>
              <a:t>до</a:t>
            </a:r>
            <a:r>
              <a:rPr lang="en-US" dirty="0"/>
              <a:t> 6 </a:t>
            </a:r>
            <a:r>
              <a:rPr lang="en-US" dirty="0" err="1"/>
              <a:t>миллисекунд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различие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Rate Monotonic </a:t>
            </a:r>
            <a:r>
              <a:rPr lang="en-US" dirty="0" err="1"/>
              <a:t>задача</a:t>
            </a:r>
            <a:r>
              <a:rPr lang="en-US" dirty="0"/>
              <a:t> B </a:t>
            </a:r>
            <a:r>
              <a:rPr lang="en-US" dirty="0" err="1"/>
              <a:t>была</a:t>
            </a:r>
            <a:r>
              <a:rPr lang="en-US" dirty="0"/>
              <a:t> </a:t>
            </a:r>
            <a:r>
              <a:rPr lang="en-US" dirty="0" err="1"/>
              <a:t>вытеснена</a:t>
            </a:r>
            <a:r>
              <a:rPr lang="en-US" dirty="0"/>
              <a:t> в </a:t>
            </a:r>
            <a:r>
              <a:rPr lang="en-US" dirty="0" err="1"/>
              <a:t>момент</a:t>
            </a:r>
            <a:r>
              <a:rPr lang="en-US" dirty="0"/>
              <a:t> 4 и </a:t>
            </a:r>
            <a:r>
              <a:rPr lang="en-US" dirty="0" err="1"/>
              <a:t>завершилась</a:t>
            </a:r>
            <a:r>
              <a:rPr lang="en-US" dirty="0"/>
              <a:t> в </a:t>
            </a:r>
            <a:r>
              <a:rPr lang="en-US" dirty="0" err="1"/>
              <a:t>момент</a:t>
            </a:r>
            <a:r>
              <a:rPr lang="en-US" dirty="0"/>
              <a:t> 6.</a:t>
            </a:r>
          </a:p>
          <a:p>
            <a:r>
              <a:rPr lang="en-US" dirty="0" err="1"/>
              <a:t>При</a:t>
            </a:r>
            <a:r>
              <a:rPr lang="en-US" dirty="0"/>
              <a:t> EDF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была</a:t>
            </a:r>
            <a:r>
              <a:rPr lang="en-US" dirty="0"/>
              <a:t> </a:t>
            </a:r>
            <a:r>
              <a:rPr lang="en-US" dirty="0" err="1"/>
              <a:t>вытеснена</a:t>
            </a:r>
            <a:r>
              <a:rPr lang="en-US" dirty="0"/>
              <a:t> и </a:t>
            </a:r>
            <a:r>
              <a:rPr lang="en-US" dirty="0" err="1"/>
              <a:t>завершилась</a:t>
            </a:r>
            <a:r>
              <a:rPr lang="en-US" dirty="0"/>
              <a:t> в </a:t>
            </a:r>
            <a:r>
              <a:rPr lang="en-US" dirty="0" err="1"/>
              <a:t>момент</a:t>
            </a:r>
            <a:r>
              <a:rPr lang="en-US" dirty="0"/>
              <a:t> 5.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алгоритма</a:t>
            </a:r>
            <a:r>
              <a:rPr lang="en-US" dirty="0"/>
              <a:t> в </a:t>
            </a:r>
            <a:r>
              <a:rPr lang="en-US" dirty="0" err="1"/>
              <a:t>данном</a:t>
            </a:r>
            <a:r>
              <a:rPr lang="en-US" dirty="0"/>
              <a:t> </a:t>
            </a:r>
            <a:r>
              <a:rPr lang="en-US" dirty="0" err="1"/>
              <a:t>примере</a:t>
            </a:r>
            <a:r>
              <a:rPr lang="en-US" dirty="0"/>
              <a:t> </a:t>
            </a:r>
            <a:r>
              <a:rPr lang="en-US" dirty="0" err="1"/>
              <a:t>соблюдают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дедлайны</a:t>
            </a:r>
            <a:r>
              <a:rPr lang="en-US" dirty="0"/>
              <a:t>. </a:t>
            </a:r>
            <a:r>
              <a:rPr lang="en-US" dirty="0" err="1"/>
              <a:t>Следовательно</a:t>
            </a:r>
            <a:r>
              <a:rPr lang="en-US" dirty="0"/>
              <a:t>,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раннее</a:t>
            </a:r>
            <a:r>
              <a:rPr lang="en-US" dirty="0"/>
              <a:t> </a:t>
            </a:r>
            <a:r>
              <a:rPr lang="en-US" dirty="0" err="1"/>
              <a:t>завершение</a:t>
            </a:r>
            <a:r>
              <a:rPr lang="en-US" dirty="0"/>
              <a:t> B </a:t>
            </a:r>
            <a:r>
              <a:rPr lang="en-US" dirty="0" err="1"/>
              <a:t>само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EDF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лучше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всем</a:t>
            </a:r>
            <a:r>
              <a:rPr lang="en-US" dirty="0"/>
              <a:t> </a:t>
            </a:r>
            <a:r>
              <a:rPr lang="en-US" dirty="0" err="1"/>
              <a:t>метрикам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Главное</a:t>
            </a:r>
            <a:r>
              <a:rPr lang="en-US" dirty="0"/>
              <a:t> </a:t>
            </a:r>
            <a:r>
              <a:rPr lang="en-US" dirty="0" err="1"/>
              <a:t>различие</a:t>
            </a:r>
            <a:r>
              <a:rPr lang="en-US" dirty="0"/>
              <a:t> </a:t>
            </a:r>
            <a:r>
              <a:rPr lang="en-US" dirty="0" err="1"/>
              <a:t>заключается</a:t>
            </a:r>
            <a:r>
              <a:rPr lang="en-US" dirty="0"/>
              <a:t> в </a:t>
            </a:r>
            <a:r>
              <a:rPr lang="en-US" dirty="0" err="1"/>
              <a:t>способе</a:t>
            </a:r>
            <a:r>
              <a:rPr lang="en-US" dirty="0"/>
              <a:t> </a:t>
            </a:r>
            <a:r>
              <a:rPr lang="en-US" dirty="0" err="1"/>
              <a:t>назначения</a:t>
            </a:r>
            <a:r>
              <a:rPr lang="en-US" dirty="0"/>
              <a:t> </a:t>
            </a:r>
            <a:r>
              <a:rPr lang="en-US" dirty="0" err="1"/>
              <a:t>приоритетов</a:t>
            </a:r>
            <a:r>
              <a:rPr lang="en-US" dirty="0"/>
              <a:t>.</a:t>
            </a:r>
          </a:p>
          <a:p>
            <a:r>
              <a:rPr lang="en-US" dirty="0"/>
              <a:t>Rate Monotonic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фиксированный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, </a:t>
            </a:r>
            <a:r>
              <a:rPr lang="en-US" dirty="0" err="1"/>
              <a:t>определяемый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периодами</a:t>
            </a:r>
            <a:r>
              <a:rPr lang="en-US" dirty="0"/>
              <a:t>.</a:t>
            </a:r>
          </a:p>
          <a:p>
            <a:r>
              <a:rPr lang="en-US" dirty="0"/>
              <a:t>EDF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динамический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, </a:t>
            </a:r>
            <a:r>
              <a:rPr lang="en-US" dirty="0" err="1"/>
              <a:t>зависящий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ближайших</a:t>
            </a:r>
            <a:r>
              <a:rPr lang="en-US" dirty="0"/>
              <a:t> </a:t>
            </a:r>
            <a:r>
              <a:rPr lang="en-US" dirty="0" err="1"/>
              <a:t>абсолютных</a:t>
            </a:r>
            <a:r>
              <a:rPr lang="en-US" dirty="0"/>
              <a:t> </a:t>
            </a:r>
            <a:r>
              <a:rPr lang="en-US" dirty="0" err="1"/>
              <a:t>дедлайнов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У EDF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теоретическое</a:t>
            </a:r>
            <a:r>
              <a:rPr lang="en-US" dirty="0"/>
              <a:t> </a:t>
            </a:r>
            <a:r>
              <a:rPr lang="en-US" dirty="0" err="1"/>
              <a:t>свойство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, </a:t>
            </a:r>
            <a:r>
              <a:rPr lang="en-US" dirty="0" err="1"/>
              <a:t>независимых</a:t>
            </a:r>
            <a:r>
              <a:rPr lang="en-US" dirty="0"/>
              <a:t> </a:t>
            </a:r>
            <a:r>
              <a:rPr lang="en-US" dirty="0" err="1"/>
              <a:t>вытесняемых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с </a:t>
            </a:r>
            <a:r>
              <a:rPr lang="en-US" dirty="0" err="1"/>
              <a:t>известными</a:t>
            </a:r>
            <a:r>
              <a:rPr lang="en-US" dirty="0"/>
              <a:t> </a:t>
            </a:r>
            <a:r>
              <a:rPr lang="en-US" dirty="0" err="1"/>
              <a:t>требованиями</a:t>
            </a:r>
            <a:r>
              <a:rPr lang="en-US" dirty="0"/>
              <a:t> к </a:t>
            </a:r>
            <a:r>
              <a:rPr lang="en-US" dirty="0" err="1"/>
              <a:t>вычислительным</a:t>
            </a:r>
            <a:r>
              <a:rPr lang="en-US" dirty="0"/>
              <a:t> </a:t>
            </a:r>
            <a:r>
              <a:rPr lang="en-US" dirty="0" err="1"/>
              <a:t>ресурсам</a:t>
            </a:r>
            <a:r>
              <a:rPr lang="en-US" dirty="0"/>
              <a:t> EDF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оптимальным</a:t>
            </a:r>
            <a:r>
              <a:rPr lang="en-US" dirty="0"/>
              <a:t> </a:t>
            </a:r>
            <a:r>
              <a:rPr lang="en-US" dirty="0" err="1"/>
              <a:t>алгоритмом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 </a:t>
            </a:r>
            <a:r>
              <a:rPr lang="en-US" dirty="0" err="1"/>
              <a:t>смысле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допустимое</a:t>
            </a:r>
            <a:r>
              <a:rPr lang="en-US" dirty="0"/>
              <a:t> </a:t>
            </a:r>
            <a:r>
              <a:rPr lang="en-US" dirty="0" err="1"/>
              <a:t>вытесняющее</a:t>
            </a:r>
            <a:r>
              <a:rPr lang="en-US" dirty="0"/>
              <a:t> </a:t>
            </a:r>
            <a:r>
              <a:rPr lang="en-US" dirty="0" err="1"/>
              <a:t>расписание</a:t>
            </a:r>
            <a:r>
              <a:rPr lang="en-US" dirty="0"/>
              <a:t>, </a:t>
            </a:r>
            <a:r>
              <a:rPr lang="en-US" dirty="0" err="1"/>
              <a:t>удовлетворяющее</a:t>
            </a:r>
            <a:r>
              <a:rPr lang="en-US" dirty="0"/>
              <a:t> </a:t>
            </a:r>
            <a:r>
              <a:rPr lang="en-US" dirty="0" err="1"/>
              <a:t>всем</a:t>
            </a:r>
            <a:r>
              <a:rPr lang="en-US" dirty="0"/>
              <a:t> </a:t>
            </a:r>
            <a:r>
              <a:rPr lang="en-US" dirty="0" err="1"/>
              <a:t>дедлайнам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EDF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соблюсти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соответствующих</a:t>
            </a:r>
            <a:r>
              <a:rPr lang="en-US" dirty="0"/>
              <a:t> </a:t>
            </a:r>
            <a:r>
              <a:rPr lang="en-US" dirty="0" err="1"/>
              <a:t>предпосылках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утверждение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EDF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гарантирует</a:t>
            </a:r>
            <a:r>
              <a:rPr lang="en-US" dirty="0"/>
              <a:t> </a:t>
            </a:r>
            <a:r>
              <a:rPr lang="en-US" dirty="0" err="1"/>
              <a:t>соблюдение</a:t>
            </a:r>
            <a:r>
              <a:rPr lang="en-US" dirty="0"/>
              <a:t> </a:t>
            </a:r>
            <a:r>
              <a:rPr lang="en-US" dirty="0" err="1"/>
              <a:t>сроков</a:t>
            </a:r>
            <a:r>
              <a:rPr lang="en-US" dirty="0"/>
              <a:t> в </a:t>
            </a:r>
            <a:r>
              <a:rPr lang="en-US" dirty="0" err="1"/>
              <a:t>любой</a:t>
            </a:r>
            <a:r>
              <a:rPr lang="en-US" dirty="0"/>
              <a:t> </a:t>
            </a:r>
            <a:r>
              <a:rPr lang="en-US" dirty="0" err="1"/>
              <a:t>реальной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, </a:t>
            </a:r>
            <a:r>
              <a:rPr lang="en-US" dirty="0" err="1"/>
              <a:t>вычисления</a:t>
            </a:r>
            <a:r>
              <a:rPr lang="en-US" dirty="0"/>
              <a:t> </a:t>
            </a:r>
            <a:r>
              <a:rPr lang="en-US" dirty="0" err="1"/>
              <a:t>занимают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предусмотренного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возникают</a:t>
            </a:r>
            <a:r>
              <a:rPr lang="en-US" dirty="0"/>
              <a:t> </a:t>
            </a:r>
            <a:r>
              <a:rPr lang="en-US" dirty="0" err="1"/>
              <a:t>дополнительные</a:t>
            </a:r>
            <a:r>
              <a:rPr lang="en-US" dirty="0"/>
              <a:t> </a:t>
            </a:r>
            <a:r>
              <a:rPr lang="en-US" dirty="0" err="1"/>
              <a:t>задержки</a:t>
            </a:r>
            <a:r>
              <a:rPr lang="en-US" dirty="0"/>
              <a:t>, </a:t>
            </a:r>
            <a:r>
              <a:rPr lang="en-US" dirty="0" err="1"/>
              <a:t>дедлайны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равно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нарушены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В Linux </a:t>
            </a:r>
            <a:r>
              <a:rPr lang="en-US" dirty="0" err="1"/>
              <a:t>политика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SCHED_DEADLINE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EDF </a:t>
            </a:r>
            <a:r>
              <a:rPr lang="en-US" dirty="0" err="1"/>
              <a:t>совместно</a:t>
            </a:r>
            <a:r>
              <a:rPr lang="en-US" dirty="0"/>
              <a:t> с </a:t>
            </a:r>
            <a:r>
              <a:rPr lang="en-US" b="1" dirty="0"/>
              <a:t>Constant Bandwidth Server</a:t>
            </a:r>
            <a:r>
              <a:rPr lang="en-US" dirty="0"/>
              <a:t>, </a:t>
            </a:r>
            <a:r>
              <a:rPr lang="en-US" dirty="0" err="1"/>
              <a:t>или</a:t>
            </a:r>
            <a:r>
              <a:rPr lang="en-US" dirty="0"/>
              <a:t> CBS.</a:t>
            </a:r>
            <a:endParaRPr lang="ru-RU" dirty="0"/>
          </a:p>
          <a:p>
            <a:endParaRPr lang="en-US" dirty="0"/>
          </a:p>
          <a:p>
            <a:r>
              <a:rPr lang="en-US" dirty="0"/>
              <a:t>CBS </a:t>
            </a:r>
            <a:r>
              <a:rPr lang="en-US" dirty="0" err="1"/>
              <a:t>помогает</a:t>
            </a:r>
            <a:r>
              <a:rPr lang="en-US" dirty="0"/>
              <a:t> </a:t>
            </a:r>
            <a:r>
              <a:rPr lang="en-US" dirty="0" err="1"/>
              <a:t>контролировать</a:t>
            </a:r>
            <a:r>
              <a:rPr lang="en-US" dirty="0"/>
              <a:t> </a:t>
            </a:r>
            <a:r>
              <a:rPr lang="en-US" dirty="0" err="1"/>
              <a:t>процессорный</a:t>
            </a:r>
            <a:r>
              <a:rPr lang="en-US" dirty="0"/>
              <a:t> </a:t>
            </a:r>
            <a:r>
              <a:rPr lang="en-US" dirty="0" err="1"/>
              <a:t>бюджет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и </a:t>
            </a:r>
            <a:r>
              <a:rPr lang="en-US" dirty="0" err="1"/>
              <a:t>ограничивать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взаимное</a:t>
            </a:r>
            <a:r>
              <a:rPr lang="en-US" dirty="0"/>
              <a:t> </a:t>
            </a:r>
            <a:r>
              <a:rPr lang="en-US" dirty="0" err="1"/>
              <a:t>влияние</a:t>
            </a:r>
            <a:r>
              <a:rPr lang="en-US" dirty="0"/>
              <a:t>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задаются</a:t>
            </a:r>
            <a:r>
              <a:rPr lang="en-US" dirty="0"/>
              <a:t> </a:t>
            </a:r>
            <a:r>
              <a:rPr lang="en-US" dirty="0" err="1"/>
              <a:t>параметры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runtime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deadline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period</a:t>
            </a:r>
            <a:r>
              <a:rPr lang="en-US" dirty="0"/>
              <a:t>, а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проверку</a:t>
            </a:r>
            <a:r>
              <a:rPr lang="en-US" dirty="0"/>
              <a:t> </a:t>
            </a:r>
            <a:r>
              <a:rPr lang="en-US" dirty="0" err="1"/>
              <a:t>допустимости</a:t>
            </a:r>
            <a:r>
              <a:rPr lang="en-US" dirty="0"/>
              <a:t> </a:t>
            </a:r>
            <a:r>
              <a:rPr lang="en-US" dirty="0" err="1"/>
              <a:t>выделения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идеи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 </a:t>
            </a:r>
            <a:r>
              <a:rPr lang="en-US" dirty="0" err="1"/>
              <a:t>реального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в </a:t>
            </a:r>
            <a:r>
              <a:rPr lang="en-US" dirty="0" err="1"/>
              <a:t>настоящей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.</a:t>
            </a:r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 </a:t>
            </a:r>
            <a:r>
              <a:rPr lang="en-US" dirty="0" err="1"/>
              <a:t>проверить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способен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периодические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к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дедлайнам</a:t>
            </a:r>
            <a:r>
              <a:rPr lang="en-US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86782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err="1"/>
                  <a:t>Мы</a:t>
                </a:r>
                <a:r>
                  <a:rPr lang="en-US" dirty="0"/>
                  <a:t> </a:t>
                </a:r>
                <a:r>
                  <a:rPr lang="en-US" dirty="0" err="1"/>
                  <a:t>познакомились</a:t>
                </a:r>
                <a:r>
                  <a:rPr lang="en-US" dirty="0"/>
                  <a:t> с </a:t>
                </a:r>
                <a:r>
                  <a:rPr lang="en-US" dirty="0" err="1"/>
                  <a:t>двумя</a:t>
                </a:r>
                <a:r>
                  <a:rPr lang="en-US" dirty="0"/>
                  <a:t> </a:t>
                </a:r>
                <a:r>
                  <a:rPr lang="en-US" dirty="0" err="1"/>
                  <a:t>классическими</a:t>
                </a:r>
                <a:r>
                  <a:rPr lang="en-US" dirty="0"/>
                  <a:t> </a:t>
                </a:r>
                <a:r>
                  <a:rPr lang="en-US" dirty="0" err="1"/>
                  <a:t>алгоритмами</a:t>
                </a:r>
                <a:r>
                  <a:rPr lang="en-US" dirty="0"/>
                  <a:t> </a:t>
                </a:r>
                <a:r>
                  <a:rPr lang="en-US" dirty="0" err="1"/>
                  <a:t>планирования</a:t>
                </a:r>
                <a:r>
                  <a:rPr lang="en-US" dirty="0"/>
                  <a:t> </a:t>
                </a:r>
                <a:r>
                  <a:rPr lang="en-US" dirty="0" err="1"/>
                  <a:t>реального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 — Rate Monotonic и Earliest Deadline First.</a:t>
                </a:r>
              </a:p>
              <a:p>
                <a:r>
                  <a:rPr lang="en-US" dirty="0" err="1"/>
                  <a:t>Но</a:t>
                </a:r>
                <a:r>
                  <a:rPr lang="en-US" dirty="0"/>
                  <a:t> </a:t>
                </a:r>
                <a:r>
                  <a:rPr lang="en-US" dirty="0" err="1"/>
                  <a:t>до</a:t>
                </a:r>
                <a:r>
                  <a:rPr lang="en-US" dirty="0"/>
                  <a:t> </a:t>
                </a:r>
                <a:r>
                  <a:rPr lang="en-US" dirty="0" err="1"/>
                  <a:t>сих</a:t>
                </a:r>
                <a:r>
                  <a:rPr lang="en-US" dirty="0"/>
                  <a:t> </a:t>
                </a:r>
                <a:r>
                  <a:rPr lang="en-US" dirty="0" err="1"/>
                  <a:t>пор</a:t>
                </a:r>
                <a:r>
                  <a:rPr lang="en-US" dirty="0"/>
                  <a:t> </a:t>
                </a:r>
                <a:r>
                  <a:rPr lang="en-US" dirty="0" err="1"/>
                  <a:t>мы</a:t>
                </a:r>
                <a:r>
                  <a:rPr lang="en-US" dirty="0"/>
                  <a:t> </a:t>
                </a:r>
                <a:r>
                  <a:rPr lang="en-US" dirty="0" err="1"/>
                  <a:t>рассматривали</a:t>
                </a:r>
                <a:r>
                  <a:rPr lang="en-US" dirty="0"/>
                  <a:t> </a:t>
                </a:r>
                <a:r>
                  <a:rPr lang="en-US" dirty="0" err="1"/>
                  <a:t>небольшие</a:t>
                </a:r>
                <a:r>
                  <a:rPr lang="en-US" dirty="0"/>
                  <a:t> </a:t>
                </a:r>
                <a:r>
                  <a:rPr lang="en-US" dirty="0" err="1"/>
                  <a:t>примеры</a:t>
                </a:r>
                <a:r>
                  <a:rPr lang="en-US" dirty="0"/>
                  <a:t> и </a:t>
                </a:r>
                <a:r>
                  <a:rPr lang="en-US" dirty="0" err="1"/>
                  <a:t>вручную</a:t>
                </a:r>
                <a:r>
                  <a:rPr lang="en-US" dirty="0"/>
                  <a:t> </a:t>
                </a:r>
                <a:r>
                  <a:rPr lang="en-US" dirty="0" err="1"/>
                  <a:t>строили</a:t>
                </a:r>
                <a:r>
                  <a:rPr lang="en-US" dirty="0"/>
                  <a:t> </a:t>
                </a:r>
                <a:r>
                  <a:rPr lang="en-US" dirty="0" err="1"/>
                  <a:t>временные</a:t>
                </a:r>
                <a:r>
                  <a:rPr lang="en-US" dirty="0"/>
                  <a:t> </a:t>
                </a:r>
                <a:r>
                  <a:rPr lang="en-US" dirty="0" err="1"/>
                  <a:t>диаграммы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/>
                  <a:t>А </a:t>
                </a:r>
                <a:r>
                  <a:rPr lang="en-US" dirty="0" err="1"/>
                  <a:t>можно</a:t>
                </a:r>
                <a:r>
                  <a:rPr lang="en-US" dirty="0"/>
                  <a:t> </a:t>
                </a:r>
                <a:r>
                  <a:rPr lang="en-US" dirty="0" err="1"/>
                  <a:t>ли</a:t>
                </a:r>
                <a:r>
                  <a:rPr lang="en-US" dirty="0"/>
                  <a:t> </a:t>
                </a:r>
                <a:r>
                  <a:rPr lang="en-US" dirty="0" err="1"/>
                  <a:t>заранее</a:t>
                </a:r>
                <a:r>
                  <a:rPr lang="en-US" dirty="0"/>
                  <a:t> </a:t>
                </a:r>
                <a:r>
                  <a:rPr lang="en-US" dirty="0" err="1"/>
                  <a:t>определить</a:t>
                </a:r>
                <a:r>
                  <a:rPr lang="en-US" dirty="0"/>
                  <a:t>, </a:t>
                </a:r>
                <a:r>
                  <a:rPr lang="en-US" dirty="0" err="1"/>
                  <a:t>успеет</a:t>
                </a:r>
                <a:r>
                  <a:rPr lang="en-US" dirty="0"/>
                  <a:t> </a:t>
                </a:r>
                <a:r>
                  <a:rPr lang="en-US" dirty="0" err="1"/>
                  <a:t>ли</a:t>
                </a:r>
                <a:r>
                  <a:rPr lang="en-US" dirty="0"/>
                  <a:t> </a:t>
                </a:r>
                <a:r>
                  <a:rPr lang="en-US" dirty="0" err="1"/>
                  <a:t>система</a:t>
                </a:r>
                <a:r>
                  <a:rPr lang="en-US" dirty="0"/>
                  <a:t> </a:t>
                </a:r>
                <a:r>
                  <a:rPr lang="en-US" dirty="0" err="1"/>
                  <a:t>выполнить</a:t>
                </a:r>
                <a:r>
                  <a:rPr lang="en-US" dirty="0"/>
                  <a:t> </a:t>
                </a:r>
                <a:r>
                  <a:rPr lang="en-US" dirty="0" err="1"/>
                  <a:t>множество</a:t>
                </a:r>
                <a:r>
                  <a:rPr lang="en-US" dirty="0"/>
                  <a:t> </a:t>
                </a:r>
                <a:r>
                  <a:rPr lang="en-US" dirty="0" err="1"/>
                  <a:t>периодических</a:t>
                </a:r>
                <a:r>
                  <a:rPr lang="en-US" dirty="0"/>
                  <a:t> </a:t>
                </a:r>
                <a:r>
                  <a:rPr lang="en-US" dirty="0" err="1"/>
                  <a:t>задач</a:t>
                </a:r>
                <a:r>
                  <a:rPr lang="en-US" dirty="0"/>
                  <a:t>?</a:t>
                </a:r>
              </a:p>
              <a:p>
                <a:r>
                  <a:rPr lang="en-US" dirty="0" err="1"/>
                  <a:t>Для</a:t>
                </a:r>
                <a:r>
                  <a:rPr lang="en-US" dirty="0"/>
                  <a:t> </a:t>
                </a:r>
                <a:r>
                  <a:rPr lang="en-US" dirty="0" err="1"/>
                  <a:t>начала</a:t>
                </a:r>
                <a:r>
                  <a:rPr lang="en-US" dirty="0"/>
                  <a:t> </a:t>
                </a:r>
                <a:r>
                  <a:rPr lang="en-US" dirty="0" err="1"/>
                  <a:t>давайте</a:t>
                </a:r>
                <a:r>
                  <a:rPr lang="en-US" dirty="0"/>
                  <a:t> </a:t>
                </a:r>
                <a:r>
                  <a:rPr lang="en-US" dirty="0" err="1"/>
                  <a:t>оценим</a:t>
                </a:r>
                <a:r>
                  <a:rPr lang="en-US" dirty="0"/>
                  <a:t>, </a:t>
                </a:r>
                <a:r>
                  <a:rPr lang="en-US" dirty="0" err="1"/>
                  <a:t>какую</a:t>
                </a:r>
                <a:r>
                  <a:rPr lang="en-US" dirty="0"/>
                  <a:t> </a:t>
                </a:r>
                <a:r>
                  <a:rPr lang="en-US" dirty="0" err="1"/>
                  <a:t>долю</a:t>
                </a:r>
                <a:r>
                  <a:rPr lang="en-US" dirty="0"/>
                  <a:t> </a:t>
                </a:r>
                <a:r>
                  <a:rPr lang="en-US" dirty="0" err="1"/>
                  <a:t>процессорного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 </a:t>
                </a:r>
                <a:r>
                  <a:rPr lang="en-US" dirty="0" err="1"/>
                  <a:t>они</a:t>
                </a:r>
                <a:r>
                  <a:rPr lang="en-US" dirty="0"/>
                  <a:t> </a:t>
                </a:r>
                <a:r>
                  <a:rPr lang="en-US" dirty="0" err="1"/>
                  <a:t>требуют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 err="1"/>
                  <a:t>Предположим</a:t>
                </a:r>
                <a:r>
                  <a:rPr lang="en-US" dirty="0"/>
                  <a:t>, </a:t>
                </a:r>
                <a:r>
                  <a:rPr lang="en-US" dirty="0" err="1"/>
                  <a:t>что</a:t>
                </a:r>
                <a:r>
                  <a:rPr lang="en-US" dirty="0"/>
                  <a:t> у </a:t>
                </a:r>
                <a:r>
                  <a:rPr lang="en-US" dirty="0" err="1"/>
                  <a:t>нас</a:t>
                </a:r>
                <a:r>
                  <a:rPr lang="en-US" dirty="0"/>
                  <a:t> </a:t>
                </a:r>
                <a:r>
                  <a:rPr lang="en-US" dirty="0" err="1"/>
                  <a:t>есть</a:t>
                </a:r>
                <a:r>
                  <a:rPr lang="en-US" dirty="0"/>
                  <a:t> </a:t>
                </a:r>
                <a:r>
                  <a:rPr lang="en-US" dirty="0" err="1"/>
                  <a:t>три</a:t>
                </a:r>
                <a:r>
                  <a:rPr lang="en-US" dirty="0"/>
                  <a:t> </a:t>
                </a:r>
                <a:r>
                  <a:rPr lang="en-US" dirty="0" err="1"/>
                  <a:t>периодические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Задача</a:t>
                </a:r>
                <a:r>
                  <a:rPr lang="en-US" dirty="0"/>
                  <a:t> A </a:t>
                </a:r>
                <a:r>
                  <a:rPr lang="en-US" dirty="0" err="1"/>
                  <a:t>выполняется</a:t>
                </a:r>
                <a:r>
                  <a:rPr lang="en-US" dirty="0"/>
                  <a:t> </a:t>
                </a:r>
                <a:r>
                  <a:rPr lang="en-US" dirty="0" err="1"/>
                  <a:t>каждые</a:t>
                </a:r>
                <a:r>
                  <a:rPr lang="en-US" dirty="0"/>
                  <a:t> 100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 и в </a:t>
                </a:r>
                <a:r>
                  <a:rPr lang="en-US" dirty="0" err="1"/>
                  <a:t>худшем</a:t>
                </a:r>
                <a:r>
                  <a:rPr lang="en-US" dirty="0"/>
                  <a:t> </a:t>
                </a:r>
                <a:r>
                  <a:rPr lang="en-US" dirty="0" err="1"/>
                  <a:t>случае</a:t>
                </a:r>
                <a:r>
                  <a:rPr lang="en-US" dirty="0"/>
                  <a:t> </a:t>
                </a:r>
                <a:r>
                  <a:rPr lang="en-US" dirty="0" err="1"/>
                  <a:t>требует</a:t>
                </a:r>
                <a:r>
                  <a:rPr lang="en-US" dirty="0"/>
                  <a:t> 50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 </a:t>
                </a:r>
                <a:r>
                  <a:rPr lang="en-US" dirty="0" err="1"/>
                  <a:t>процессорного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Это </a:t>
                </a:r>
                <a:r>
                  <a:rPr lang="en-US" dirty="0" err="1"/>
                  <a:t>означает</a:t>
                </a:r>
                <a:r>
                  <a:rPr lang="en-US" dirty="0"/>
                  <a:t>,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достаточно</a:t>
                </a:r>
                <a:r>
                  <a:rPr lang="en-US" dirty="0"/>
                  <a:t> </a:t>
                </a:r>
                <a:r>
                  <a:rPr lang="en-US" dirty="0" err="1"/>
                  <a:t>длинном</a:t>
                </a:r>
                <a:r>
                  <a:rPr lang="en-US" dirty="0"/>
                  <a:t> </a:t>
                </a:r>
                <a:r>
                  <a:rPr lang="en-US" dirty="0" err="1"/>
                  <a:t>интервале</a:t>
                </a:r>
                <a:r>
                  <a:rPr lang="en-US" dirty="0"/>
                  <a:t> </a:t>
                </a:r>
                <a:r>
                  <a:rPr lang="en-US" dirty="0" err="1"/>
                  <a:t>ей</a:t>
                </a:r>
                <a:r>
                  <a:rPr lang="en-US" dirty="0"/>
                  <a:t> </a:t>
                </a:r>
                <a:r>
                  <a:rPr lang="en-US" dirty="0" err="1"/>
                  <a:t>потребуется</a:t>
                </a:r>
                <a:r>
                  <a:rPr lang="en-US" dirty="0"/>
                  <a:t> </a:t>
                </a:r>
                <a:r>
                  <a:rPr lang="en-US" dirty="0" err="1"/>
                  <a:t>примерно</a:t>
                </a:r>
                <a:r>
                  <a:rPr lang="en-US" dirty="0"/>
                  <a:t> </a:t>
                </a:r>
                <a:r>
                  <a:rPr lang="en-US" dirty="0" err="1"/>
                  <a:t>половина</a:t>
                </a:r>
                <a:r>
                  <a:rPr lang="en-US" dirty="0"/>
                  <a:t> </a:t>
                </a:r>
                <a:r>
                  <a:rPr lang="en-US" dirty="0" err="1"/>
                  <a:t>доступного</a:t>
                </a:r>
                <a:r>
                  <a:rPr lang="en-US" dirty="0"/>
                  <a:t> CPU.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Задача</a:t>
                </a:r>
                <a:r>
                  <a:rPr lang="en-US" dirty="0"/>
                  <a:t> B </a:t>
                </a:r>
                <a:r>
                  <a:rPr lang="en-US" dirty="0" err="1"/>
                  <a:t>появляется</a:t>
                </a:r>
                <a:r>
                  <a:rPr lang="en-US" dirty="0"/>
                  <a:t> </a:t>
                </a:r>
                <a:r>
                  <a:rPr lang="en-US" dirty="0" err="1"/>
                  <a:t>каждые</a:t>
                </a:r>
                <a:r>
                  <a:rPr lang="en-US" dirty="0"/>
                  <a:t> 200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 и </a:t>
                </a:r>
                <a:r>
                  <a:rPr lang="en-US" dirty="0" err="1"/>
                  <a:t>требует</a:t>
                </a:r>
                <a:r>
                  <a:rPr lang="en-US" dirty="0"/>
                  <a:t> 30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 </a:t>
                </a:r>
                <a:r>
                  <a:rPr lang="en-US" dirty="0" err="1"/>
                  <a:t>вычислений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Её</a:t>
                </a:r>
                <a:r>
                  <a:rPr lang="en-US" dirty="0"/>
                  <a:t> </a:t>
                </a:r>
                <a:r>
                  <a:rPr lang="en-US" dirty="0" err="1"/>
                  <a:t>доля</a:t>
                </a:r>
                <a:r>
                  <a:rPr lang="en-US" dirty="0"/>
                  <a:t> </a:t>
                </a:r>
                <a:r>
                  <a:rPr lang="en-US" dirty="0" err="1"/>
                  <a:t>составляет</a:t>
                </a:r>
                <a:r>
                  <a:rPr lang="en-US" dirty="0"/>
                  <a:t> 30, </a:t>
                </a:r>
                <a:r>
                  <a:rPr lang="en-US" dirty="0" err="1"/>
                  <a:t>делённое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200, </a:t>
                </a:r>
                <a:r>
                  <a:rPr lang="en-US" dirty="0" err="1"/>
                  <a:t>то</a:t>
                </a:r>
                <a:r>
                  <a:rPr lang="en-US" dirty="0"/>
                  <a:t> </a:t>
                </a:r>
                <a:r>
                  <a:rPr lang="en-US" dirty="0" err="1"/>
                  <a:t>есть</a:t>
                </a:r>
                <a:r>
                  <a:rPr lang="en-US" dirty="0"/>
                  <a:t> 15%.</a:t>
                </a:r>
              </a:p>
              <a:p>
                <a:r>
                  <a:rPr lang="en-US" dirty="0" err="1"/>
                  <a:t>Наконец</a:t>
                </a:r>
                <a:r>
                  <a:rPr lang="en-US" dirty="0"/>
                  <a:t>, </a:t>
                </a:r>
                <a:r>
                  <a:rPr lang="en-US" dirty="0" err="1"/>
                  <a:t>задача</a:t>
                </a:r>
                <a:r>
                  <a:rPr lang="en-US" dirty="0"/>
                  <a:t> C </a:t>
                </a:r>
                <a:r>
                  <a:rPr lang="en-US" dirty="0" err="1"/>
                  <a:t>появляется</a:t>
                </a:r>
                <a:r>
                  <a:rPr lang="en-US" dirty="0"/>
                  <a:t> </a:t>
                </a:r>
                <a:r>
                  <a:rPr lang="en-US" dirty="0" err="1"/>
                  <a:t>каждые</a:t>
                </a:r>
                <a:r>
                  <a:rPr lang="en-US" dirty="0"/>
                  <a:t> 500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 и </a:t>
                </a:r>
                <a:r>
                  <a:rPr lang="en-US" dirty="0" err="1"/>
                  <a:t>требует</a:t>
                </a:r>
                <a:r>
                  <a:rPr lang="en-US" dirty="0"/>
                  <a:t> 100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 CPU.</a:t>
                </a:r>
              </a:p>
              <a:p>
                <a:r>
                  <a:rPr lang="en-US" dirty="0" err="1"/>
                  <a:t>Её</a:t>
                </a:r>
                <a:r>
                  <a:rPr lang="en-US" dirty="0"/>
                  <a:t> </a:t>
                </a:r>
                <a:r>
                  <a:rPr lang="en-US" dirty="0" err="1"/>
                  <a:t>доля</a:t>
                </a:r>
                <a:r>
                  <a:rPr lang="en-US" dirty="0"/>
                  <a:t> — 20%.</a:t>
                </a:r>
              </a:p>
              <a:p>
                <a:endParaRPr lang="ru-RU" dirty="0"/>
              </a:p>
              <a:p>
                <a:r>
                  <a:rPr lang="en-US" dirty="0" err="1"/>
                  <a:t>Теперь</a:t>
                </a:r>
                <a:r>
                  <a:rPr lang="en-US" dirty="0"/>
                  <a:t> </a:t>
                </a:r>
                <a:r>
                  <a:rPr lang="en-US" dirty="0" err="1"/>
                  <a:t>сложим</a:t>
                </a:r>
                <a:r>
                  <a:rPr lang="en-US" dirty="0"/>
                  <a:t> </a:t>
                </a:r>
                <a:r>
                  <a:rPr lang="en-US" dirty="0" err="1"/>
                  <a:t>требования</a:t>
                </a:r>
                <a:r>
                  <a:rPr lang="en-US" dirty="0"/>
                  <a:t> </a:t>
                </a:r>
                <a:r>
                  <a:rPr lang="en-US" dirty="0" err="1"/>
                  <a:t>всех</a:t>
                </a:r>
                <a:r>
                  <a:rPr lang="en-US" dirty="0"/>
                  <a:t> </a:t>
                </a:r>
                <a:r>
                  <a:rPr lang="en-US" dirty="0" err="1"/>
                  <a:t>задач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Получаем</a:t>
                </a:r>
                <a:r>
                  <a:rPr lang="en-US" dirty="0"/>
                  <a:t> 50% </a:t>
                </a:r>
                <a:r>
                  <a:rPr lang="en-US" dirty="0" err="1"/>
                  <a:t>плюс</a:t>
                </a:r>
                <a:r>
                  <a:rPr lang="en-US" dirty="0"/>
                  <a:t> 15% </a:t>
                </a:r>
                <a:r>
                  <a:rPr lang="en-US" dirty="0" err="1"/>
                  <a:t>плюс</a:t>
                </a:r>
                <a:r>
                  <a:rPr lang="en-US" dirty="0"/>
                  <a:t> 20%.</a:t>
                </a:r>
              </a:p>
              <a:p>
                <a:r>
                  <a:rPr lang="en-US" dirty="0" err="1"/>
                  <a:t>Итого</a:t>
                </a:r>
                <a:r>
                  <a:rPr lang="en-US" dirty="0"/>
                  <a:t> — 85% </a:t>
                </a:r>
                <a:r>
                  <a:rPr lang="en-US" dirty="0" err="1"/>
                  <a:t>процессорного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 err="1"/>
                  <a:t>Эта</a:t>
                </a:r>
                <a:r>
                  <a:rPr lang="en-US" dirty="0"/>
                  <a:t> </a:t>
                </a:r>
                <a:r>
                  <a:rPr lang="en-US" dirty="0" err="1"/>
                  <a:t>величина</a:t>
                </a:r>
                <a:r>
                  <a:rPr lang="en-US" dirty="0"/>
                  <a:t> </a:t>
                </a:r>
                <a:r>
                  <a:rPr lang="en-US" dirty="0" err="1"/>
                  <a:t>называется</a:t>
                </a:r>
                <a:r>
                  <a:rPr lang="en-US" dirty="0"/>
                  <a:t> </a:t>
                </a:r>
                <a:r>
                  <a:rPr lang="en-US" dirty="0" err="1"/>
                  <a:t>коэффициентом</a:t>
                </a:r>
                <a:r>
                  <a:rPr lang="en-US" dirty="0"/>
                  <a:t> </a:t>
                </a:r>
                <a:r>
                  <a:rPr lang="en-US" dirty="0" err="1"/>
                  <a:t>загрузки</a:t>
                </a:r>
                <a:r>
                  <a:rPr lang="en-US" dirty="0"/>
                  <a:t>, </a:t>
                </a:r>
                <a:r>
                  <a:rPr lang="en-US" dirty="0" err="1"/>
                  <a:t>или</a:t>
                </a:r>
                <a:r>
                  <a:rPr lang="en-US" dirty="0"/>
                  <a:t> Utilization.</a:t>
                </a:r>
              </a:p>
              <a:p>
                <a:r>
                  <a:rPr lang="en-US" dirty="0"/>
                  <a:t>В </a:t>
                </a:r>
                <a:r>
                  <a:rPr lang="en-US" dirty="0" err="1"/>
                  <a:t>нашем</a:t>
                </a:r>
                <a:r>
                  <a:rPr lang="en-US" dirty="0"/>
                  <a:t> </a:t>
                </a:r>
                <a:r>
                  <a:rPr lang="en-US" dirty="0" err="1"/>
                  <a:t>примере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 </a:t>
                </a:r>
                <a:r>
                  <a:rPr lang="en-US" dirty="0" err="1"/>
                  <a:t>суммарно</a:t>
                </a:r>
                <a:r>
                  <a:rPr lang="en-US" dirty="0"/>
                  <a:t> </a:t>
                </a:r>
                <a:r>
                  <a:rPr lang="en-US" dirty="0" err="1"/>
                  <a:t>требуют</a:t>
                </a:r>
                <a:r>
                  <a:rPr lang="en-US" dirty="0"/>
                  <a:t> 85% </a:t>
                </a:r>
                <a:r>
                  <a:rPr lang="en-US" dirty="0" err="1"/>
                  <a:t>вычислительной</a:t>
                </a:r>
                <a:r>
                  <a:rPr lang="en-US" dirty="0"/>
                  <a:t> </a:t>
                </a:r>
                <a:r>
                  <a:rPr lang="en-US" dirty="0" err="1"/>
                  <a:t>мощности</a:t>
                </a:r>
                <a:r>
                  <a:rPr lang="en-US" dirty="0"/>
                  <a:t> </a:t>
                </a:r>
                <a:r>
                  <a:rPr lang="en-US" dirty="0" err="1"/>
                  <a:t>одного</a:t>
                </a:r>
                <a:r>
                  <a:rPr lang="en-US" dirty="0"/>
                  <a:t> </a:t>
                </a:r>
                <a:r>
                  <a:rPr lang="en-US" dirty="0" err="1"/>
                  <a:t>процессора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Остаётся</a:t>
                </a:r>
                <a:r>
                  <a:rPr lang="en-US" dirty="0"/>
                  <a:t> 15% </a:t>
                </a:r>
                <a:r>
                  <a:rPr lang="en-US" dirty="0" err="1"/>
                  <a:t>времени</a:t>
                </a:r>
                <a:r>
                  <a:rPr lang="en-US" dirty="0"/>
                  <a:t>,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занятого</a:t>
                </a:r>
                <a:r>
                  <a:rPr lang="en-US" dirty="0"/>
                  <a:t> </a:t>
                </a:r>
                <a:r>
                  <a:rPr lang="en-US" dirty="0" err="1"/>
                  <a:t>предусмотренными</a:t>
                </a:r>
                <a:r>
                  <a:rPr lang="en-US" dirty="0"/>
                  <a:t> </a:t>
                </a:r>
                <a:r>
                  <a:rPr lang="en-US" dirty="0" err="1"/>
                  <a:t>вычислениями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 err="1"/>
                  <a:t>Но</a:t>
                </a:r>
                <a:r>
                  <a:rPr lang="en-US" dirty="0"/>
                  <a:t> </a:t>
                </a:r>
                <a:r>
                  <a:rPr lang="en-US" dirty="0" err="1"/>
                  <a:t>достаточно</a:t>
                </a:r>
                <a:r>
                  <a:rPr lang="en-US" dirty="0"/>
                  <a:t> </a:t>
                </a:r>
                <a:r>
                  <a:rPr lang="en-US" dirty="0" err="1"/>
                  <a:t>ли</a:t>
                </a:r>
                <a:r>
                  <a:rPr lang="en-US" dirty="0"/>
                  <a:t> </a:t>
                </a:r>
                <a:r>
                  <a:rPr lang="en-US" dirty="0" err="1"/>
                  <a:t>этого</a:t>
                </a:r>
                <a:r>
                  <a:rPr lang="en-US" dirty="0"/>
                  <a:t>, </a:t>
                </a:r>
                <a:r>
                  <a:rPr lang="en-US" dirty="0" err="1"/>
                  <a:t>чтобы</a:t>
                </a:r>
                <a:r>
                  <a:rPr lang="en-US" dirty="0"/>
                  <a:t> </a:t>
                </a:r>
                <a:r>
                  <a:rPr lang="en-US" dirty="0" err="1"/>
                  <a:t>утверждать</a:t>
                </a:r>
                <a:r>
                  <a:rPr lang="en-US" dirty="0"/>
                  <a:t>,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все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 </a:t>
                </a:r>
                <a:r>
                  <a:rPr lang="en-US" dirty="0" err="1"/>
                  <a:t>гарантированно</a:t>
                </a:r>
                <a:r>
                  <a:rPr lang="en-US" dirty="0"/>
                  <a:t> </a:t>
                </a:r>
                <a:r>
                  <a:rPr lang="en-US" dirty="0" err="1"/>
                  <a:t>выполнятся</a:t>
                </a:r>
                <a:r>
                  <a:rPr lang="en-US" dirty="0"/>
                  <a:t> к </a:t>
                </a:r>
                <a:r>
                  <a:rPr lang="en-US" dirty="0" err="1"/>
                  <a:t>своим</a:t>
                </a:r>
                <a:r>
                  <a:rPr lang="en-US" dirty="0"/>
                  <a:t> </a:t>
                </a:r>
                <a:r>
                  <a:rPr lang="en-US" dirty="0" err="1"/>
                  <a:t>дедлайнам</a:t>
                </a:r>
                <a:r>
                  <a:rPr lang="en-US" dirty="0"/>
                  <a:t>?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Ответ</a:t>
                </a:r>
                <a:r>
                  <a:rPr lang="en-US" dirty="0"/>
                  <a:t> </a:t>
                </a:r>
                <a:r>
                  <a:rPr lang="en-US" dirty="0" err="1"/>
                  <a:t>зависит</a:t>
                </a:r>
                <a:r>
                  <a:rPr lang="en-US" dirty="0"/>
                  <a:t> </a:t>
                </a:r>
                <a:r>
                  <a:rPr lang="en-US" dirty="0" err="1"/>
                  <a:t>от</a:t>
                </a:r>
                <a:r>
                  <a:rPr lang="en-US" dirty="0"/>
                  <a:t> </a:t>
                </a:r>
                <a:r>
                  <a:rPr lang="en-US" dirty="0" err="1"/>
                  <a:t>используемого</a:t>
                </a:r>
                <a:r>
                  <a:rPr lang="en-US" dirty="0"/>
                  <a:t> </a:t>
                </a:r>
                <a:r>
                  <a:rPr lang="en-US" dirty="0" err="1"/>
                  <a:t>алгоритма</a:t>
                </a:r>
                <a:r>
                  <a:rPr lang="en-US" dirty="0"/>
                  <a:t> </a:t>
                </a:r>
                <a:r>
                  <a:rPr lang="en-US" dirty="0" err="1"/>
                  <a:t>планирования</a:t>
                </a:r>
                <a:r>
                  <a:rPr lang="en-US" dirty="0"/>
                  <a:t> и </a:t>
                </a:r>
                <a:r>
                  <a:rPr lang="en-US" dirty="0" err="1"/>
                  <a:t>модели</a:t>
                </a:r>
                <a:r>
                  <a:rPr lang="en-US" dirty="0"/>
                  <a:t> </a:t>
                </a:r>
                <a:r>
                  <a:rPr lang="en-US" dirty="0" err="1"/>
                  <a:t>задач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 err="1"/>
                  <a:t>Для</a:t>
                </a:r>
                <a:r>
                  <a:rPr lang="en-US" dirty="0"/>
                  <a:t> EDF </a:t>
                </a:r>
                <a:r>
                  <a:rPr lang="en-US" dirty="0" err="1"/>
                  <a:t>существует</a:t>
                </a:r>
                <a:r>
                  <a:rPr lang="en-US" dirty="0"/>
                  <a:t> </a:t>
                </a:r>
                <a:r>
                  <a:rPr lang="en-US" dirty="0" err="1"/>
                  <a:t>важный</a:t>
                </a:r>
                <a:r>
                  <a:rPr lang="en-US" dirty="0"/>
                  <a:t> </a:t>
                </a:r>
                <a:r>
                  <a:rPr lang="en-US" dirty="0" err="1"/>
                  <a:t>теоретический</a:t>
                </a:r>
                <a:r>
                  <a:rPr lang="en-US" dirty="0"/>
                  <a:t> </a:t>
                </a:r>
                <a:r>
                  <a:rPr lang="en-US" dirty="0" err="1"/>
                  <a:t>результат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Если</a:t>
                </a:r>
                <a:r>
                  <a:rPr lang="en-US" dirty="0"/>
                  <a:t> у </a:t>
                </a:r>
                <a:r>
                  <a:rPr lang="en-US" dirty="0" err="1"/>
                  <a:t>нас</a:t>
                </a:r>
                <a:r>
                  <a:rPr lang="en-US" dirty="0"/>
                  <a:t> </a:t>
                </a:r>
                <a:r>
                  <a:rPr lang="en-US" dirty="0" err="1"/>
                  <a:t>один</a:t>
                </a:r>
                <a:r>
                  <a:rPr lang="en-US" dirty="0"/>
                  <a:t> </a:t>
                </a:r>
                <a:r>
                  <a:rPr lang="en-US" dirty="0" err="1"/>
                  <a:t>процессор</a:t>
                </a:r>
                <a:r>
                  <a:rPr lang="en-US" dirty="0"/>
                  <a:t>, </a:t>
                </a:r>
                <a:r>
                  <a:rPr lang="en-US" dirty="0" err="1"/>
                  <a:t>задачи</a:t>
                </a:r>
                <a:r>
                  <a:rPr lang="en-US" dirty="0"/>
                  <a:t> </a:t>
                </a:r>
                <a:r>
                  <a:rPr lang="en-US" dirty="0" err="1"/>
                  <a:t>независимы</a:t>
                </a:r>
                <a:r>
                  <a:rPr lang="en-US" dirty="0"/>
                  <a:t>, </a:t>
                </a:r>
                <a:r>
                  <a:rPr lang="en-US" dirty="0" err="1"/>
                  <a:t>допускают</a:t>
                </a:r>
                <a:r>
                  <a:rPr lang="en-US" dirty="0"/>
                  <a:t> </a:t>
                </a:r>
                <a:r>
                  <a:rPr lang="en-US" dirty="0" err="1"/>
                  <a:t>вытеснение</a:t>
                </a:r>
                <a:r>
                  <a:rPr lang="en-US" dirty="0"/>
                  <a:t>, </a:t>
                </a:r>
                <a:r>
                  <a:rPr lang="en-US" dirty="0" err="1"/>
                  <a:t>их</a:t>
                </a:r>
                <a:r>
                  <a:rPr lang="en-US" dirty="0"/>
                  <a:t> WCET </a:t>
                </a:r>
                <a:r>
                  <a:rPr lang="en-US" dirty="0" err="1"/>
                  <a:t>известны</a:t>
                </a:r>
                <a:r>
                  <a:rPr lang="en-US" dirty="0"/>
                  <a:t>, а </a:t>
                </a:r>
                <a:r>
                  <a:rPr lang="en-US" dirty="0" err="1"/>
                  <a:t>дедлайн</a:t>
                </a:r>
                <a:r>
                  <a:rPr lang="en-US" dirty="0"/>
                  <a:t> </a:t>
                </a:r>
                <a:r>
                  <a:rPr lang="en-US" dirty="0" err="1"/>
                  <a:t>каждого</a:t>
                </a:r>
                <a:r>
                  <a:rPr lang="en-US" dirty="0"/>
                  <a:t> </a:t>
                </a:r>
                <a:r>
                  <a:rPr lang="en-US" dirty="0" err="1"/>
                  <a:t>экземпляра</a:t>
                </a:r>
                <a:r>
                  <a:rPr lang="en-US" dirty="0"/>
                  <a:t> </a:t>
                </a:r>
                <a:r>
                  <a:rPr lang="en-US" dirty="0" err="1"/>
                  <a:t>совпадает</a:t>
                </a:r>
                <a:r>
                  <a:rPr lang="en-US" dirty="0"/>
                  <a:t> с </a:t>
                </a:r>
                <a:r>
                  <a:rPr lang="en-US" dirty="0" err="1"/>
                  <a:t>концом</a:t>
                </a:r>
                <a:r>
                  <a:rPr lang="en-US" dirty="0"/>
                  <a:t> </a:t>
                </a:r>
                <a:r>
                  <a:rPr lang="en-US" dirty="0" err="1"/>
                  <a:t>его</a:t>
                </a:r>
                <a:r>
                  <a:rPr lang="en-US" dirty="0"/>
                  <a:t> </a:t>
                </a:r>
                <a:r>
                  <a:rPr lang="en-US" dirty="0" err="1"/>
                  <a:t>периода</a:t>
                </a:r>
                <a:r>
                  <a:rPr lang="en-US" dirty="0"/>
                  <a:t>, </a:t>
                </a:r>
                <a:r>
                  <a:rPr lang="en-US" dirty="0" err="1"/>
                  <a:t>то</a:t>
                </a:r>
                <a:r>
                  <a:rPr lang="en-US" dirty="0"/>
                  <a:t> </a:t>
                </a:r>
                <a:r>
                  <a:rPr lang="en-US" dirty="0" err="1"/>
                  <a:t>условие</a:t>
                </a:r>
                <a:r>
                  <a:rPr lang="en-US" dirty="0"/>
                  <a:t> </a:t>
                </a:r>
                <a:r>
                  <a:rPr lang="en-US" dirty="0" err="1"/>
                  <a:t>суммарной</a:t>
                </a:r>
                <a:r>
                  <a:rPr lang="en-US" dirty="0"/>
                  <a:t> </a:t>
                </a:r>
                <a:r>
                  <a:rPr lang="en-US" dirty="0" err="1"/>
                  <a:t>загрузки</a:t>
                </a:r>
                <a:r>
                  <a:rPr lang="en-US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более</a:t>
                </a:r>
                <a:r>
                  <a:rPr lang="en-US" dirty="0"/>
                  <a:t> </a:t>
                </a:r>
                <a:r>
                  <a:rPr lang="en-US" dirty="0" err="1"/>
                  <a:t>единицы</a:t>
                </a:r>
                <a:r>
                  <a:rPr lang="en-US" dirty="0"/>
                  <a:t> </a:t>
                </a:r>
                <a:r>
                  <a:rPr lang="en-US" dirty="0" err="1"/>
                  <a:t>является</a:t>
                </a:r>
                <a:r>
                  <a:rPr lang="en-US" dirty="0"/>
                  <a:t> </a:t>
                </a:r>
                <a:r>
                  <a:rPr lang="en-US" dirty="0" err="1"/>
                  <a:t>необходимым</a:t>
                </a:r>
                <a:r>
                  <a:rPr lang="en-US" dirty="0"/>
                  <a:t> и </a:t>
                </a:r>
                <a:r>
                  <a:rPr lang="en-US" dirty="0" err="1"/>
                  <a:t>достаточным</a:t>
                </a:r>
                <a:r>
                  <a:rPr lang="en-US" dirty="0"/>
                  <a:t> </a:t>
                </a:r>
                <a:r>
                  <a:rPr lang="en-US" dirty="0" err="1"/>
                  <a:t>критерием</a:t>
                </a:r>
                <a:r>
                  <a:rPr lang="en-US" dirty="0"/>
                  <a:t> </a:t>
                </a:r>
                <a:r>
                  <a:rPr lang="en-US" dirty="0" err="1"/>
                  <a:t>планируемости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 err="1"/>
                  <a:t>Мы</a:t>
                </a:r>
                <a:r>
                  <a:rPr lang="en-US" dirty="0"/>
                  <a:t> </a:t>
                </a:r>
                <a:r>
                  <a:rPr lang="en-US" dirty="0" err="1"/>
                  <a:t>также</a:t>
                </a:r>
                <a:r>
                  <a:rPr lang="en-US" dirty="0"/>
                  <a:t> </a:t>
                </a:r>
                <a:r>
                  <a:rPr lang="en-US" dirty="0" err="1"/>
                  <a:t>пренебрегаем</a:t>
                </a:r>
                <a:r>
                  <a:rPr lang="en-US" dirty="0"/>
                  <a:t> </a:t>
                </a:r>
                <a:r>
                  <a:rPr lang="en-US" dirty="0" err="1"/>
                  <a:t>затратами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переключение</a:t>
                </a:r>
                <a:r>
                  <a:rPr lang="en-US" dirty="0"/>
                  <a:t> </a:t>
                </a:r>
                <a:r>
                  <a:rPr lang="en-US" dirty="0" err="1"/>
                  <a:t>контекста</a:t>
                </a:r>
                <a:r>
                  <a:rPr lang="en-US" dirty="0"/>
                  <a:t> и </a:t>
                </a:r>
                <a:r>
                  <a:rPr lang="en-US" dirty="0" err="1"/>
                  <a:t>другими</a:t>
                </a:r>
                <a:r>
                  <a:rPr lang="en-US" dirty="0"/>
                  <a:t> </a:t>
                </a:r>
                <a:r>
                  <a:rPr lang="en-US" dirty="0" err="1"/>
                  <a:t>дополнительными</a:t>
                </a:r>
                <a:r>
                  <a:rPr lang="en-US" dirty="0"/>
                  <a:t> </a:t>
                </a:r>
                <a:r>
                  <a:rPr lang="en-US" dirty="0" err="1"/>
                  <a:t>задержками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В </a:t>
                </a:r>
                <a:r>
                  <a:rPr lang="en-US" dirty="0" err="1"/>
                  <a:t>такой</a:t>
                </a:r>
                <a:r>
                  <a:rPr lang="en-US" dirty="0"/>
                  <a:t> </a:t>
                </a:r>
                <a:r>
                  <a:rPr lang="en-US" dirty="0" err="1"/>
                  <a:t>модели</a:t>
                </a:r>
                <a:r>
                  <a:rPr lang="en-US" dirty="0"/>
                  <a:t> </a:t>
                </a:r>
                <a:r>
                  <a:rPr lang="en-US" dirty="0" err="1"/>
                  <a:t>при</a:t>
                </a:r>
                <a:r>
                  <a:rPr lang="en-US" dirty="0"/>
                  <a:t> </a:t>
                </a:r>
                <a:r>
                  <a:rPr lang="en-US" dirty="0" err="1"/>
                  <a:t>загрузке</a:t>
                </a:r>
                <a:r>
                  <a:rPr lang="en-US" dirty="0"/>
                  <a:t> 85% EDF </a:t>
                </a:r>
                <a:r>
                  <a:rPr lang="en-US" dirty="0" err="1"/>
                  <a:t>способен</a:t>
                </a:r>
                <a:r>
                  <a:rPr lang="en-US" dirty="0"/>
                  <a:t> </a:t>
                </a:r>
                <a:r>
                  <a:rPr lang="en-US" dirty="0" err="1"/>
                  <a:t>обеспечить</a:t>
                </a:r>
                <a:r>
                  <a:rPr lang="en-US" dirty="0"/>
                  <a:t> </a:t>
                </a:r>
                <a:r>
                  <a:rPr lang="en-US" dirty="0" err="1"/>
                  <a:t>соблюдение</a:t>
                </a:r>
                <a:r>
                  <a:rPr lang="en-US" dirty="0"/>
                  <a:t> </a:t>
                </a:r>
                <a:r>
                  <a:rPr lang="en-US" dirty="0" err="1"/>
                  <a:t>всех</a:t>
                </a:r>
                <a:r>
                  <a:rPr lang="en-US" dirty="0"/>
                  <a:t> </a:t>
                </a:r>
                <a:r>
                  <a:rPr lang="en-US" dirty="0" err="1"/>
                  <a:t>дедлайнов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/>
                  <a:t>А </a:t>
                </a:r>
                <a:r>
                  <a:rPr lang="en-US" dirty="0" err="1"/>
                  <a:t>вот</a:t>
                </a:r>
                <a:r>
                  <a:rPr lang="en-US" dirty="0"/>
                  <a:t> </a:t>
                </a:r>
                <a:r>
                  <a:rPr lang="en-US" dirty="0" err="1"/>
                  <a:t>для</a:t>
                </a:r>
                <a:r>
                  <a:rPr lang="en-US" dirty="0"/>
                  <a:t> Rate Monotonic </a:t>
                </a:r>
                <a:r>
                  <a:rPr lang="en-US" dirty="0" err="1"/>
                  <a:t>ситуация</a:t>
                </a:r>
                <a:r>
                  <a:rPr lang="en-US" dirty="0"/>
                  <a:t> </a:t>
                </a:r>
                <a:r>
                  <a:rPr lang="en-US" dirty="0" err="1"/>
                  <a:t>другая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Даже</a:t>
                </a:r>
                <a:r>
                  <a:rPr lang="en-US" dirty="0"/>
                  <a:t> </a:t>
                </a:r>
                <a:r>
                  <a:rPr lang="en-US" dirty="0" err="1"/>
                  <a:t>если</a:t>
                </a:r>
                <a:r>
                  <a:rPr lang="en-US" dirty="0"/>
                  <a:t> </a:t>
                </a:r>
                <a:r>
                  <a:rPr lang="en-US" dirty="0" err="1"/>
                  <a:t>суммарная</a:t>
                </a:r>
                <a:r>
                  <a:rPr lang="en-US" dirty="0"/>
                  <a:t> </a:t>
                </a:r>
                <a:r>
                  <a:rPr lang="en-US" dirty="0" err="1"/>
                  <a:t>загрузка</a:t>
                </a:r>
                <a:r>
                  <a:rPr lang="en-US" dirty="0"/>
                  <a:t> </a:t>
                </a:r>
                <a:r>
                  <a:rPr lang="en-US" dirty="0" err="1"/>
                  <a:t>меньше</a:t>
                </a:r>
                <a:r>
                  <a:rPr lang="en-US" dirty="0"/>
                  <a:t> 100%, </a:t>
                </a:r>
                <a:r>
                  <a:rPr lang="en-US" dirty="0" err="1"/>
                  <a:t>задача</a:t>
                </a:r>
                <a:r>
                  <a:rPr lang="en-US" dirty="0"/>
                  <a:t> с </a:t>
                </a:r>
                <a:r>
                  <a:rPr lang="en-US" dirty="0" err="1"/>
                  <a:t>низким</a:t>
                </a:r>
                <a:r>
                  <a:rPr lang="en-US" dirty="0"/>
                  <a:t> </a:t>
                </a:r>
                <a:r>
                  <a:rPr lang="en-US" dirty="0" err="1"/>
                  <a:t>приоритетом</a:t>
                </a:r>
                <a:r>
                  <a:rPr lang="en-US" dirty="0"/>
                  <a:t> </a:t>
                </a:r>
                <a:r>
                  <a:rPr lang="en-US" dirty="0" err="1"/>
                  <a:t>может</a:t>
                </a:r>
                <a:r>
                  <a:rPr lang="en-US" dirty="0"/>
                  <a:t> </a:t>
                </a:r>
                <a:r>
                  <a:rPr lang="en-US" dirty="0" err="1"/>
                  <a:t>неоднократно</a:t>
                </a:r>
                <a:r>
                  <a:rPr lang="en-US" dirty="0"/>
                  <a:t> </a:t>
                </a:r>
                <a:r>
                  <a:rPr lang="en-US" dirty="0" err="1"/>
                  <a:t>вытесняться</a:t>
                </a:r>
                <a:r>
                  <a:rPr lang="en-US" dirty="0"/>
                  <a:t> и </a:t>
                </a:r>
                <a:r>
                  <a:rPr lang="en-US" dirty="0" err="1"/>
                  <a:t>пропустить</a:t>
                </a:r>
                <a:r>
                  <a:rPr lang="en-US" dirty="0"/>
                  <a:t> </a:t>
                </a:r>
                <a:r>
                  <a:rPr lang="en-US" dirty="0" err="1"/>
                  <a:t>свой</a:t>
                </a:r>
                <a:r>
                  <a:rPr lang="en-US" dirty="0"/>
                  <a:t> </a:t>
                </a:r>
                <a:r>
                  <a:rPr lang="en-US" dirty="0" err="1"/>
                  <a:t>дедлайн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Для</a:t>
                </a:r>
                <a:r>
                  <a:rPr lang="en-US" dirty="0"/>
                  <a:t> Rate Monotonic </a:t>
                </a:r>
                <a:r>
                  <a:rPr lang="en-US" dirty="0" err="1"/>
                  <a:t>существует</a:t>
                </a:r>
                <a:r>
                  <a:rPr lang="en-US" dirty="0"/>
                  <a:t> </a:t>
                </a:r>
                <a:r>
                  <a:rPr lang="en-US" dirty="0" err="1"/>
                  <a:t>классическая</a:t>
                </a:r>
                <a:r>
                  <a:rPr lang="en-US" dirty="0"/>
                  <a:t> </a:t>
                </a:r>
                <a:r>
                  <a:rPr lang="en-US" dirty="0" err="1"/>
                  <a:t>достаточная</a:t>
                </a:r>
                <a:r>
                  <a:rPr lang="en-US" dirty="0"/>
                  <a:t> </a:t>
                </a:r>
                <a:r>
                  <a:rPr lang="en-US" dirty="0" err="1"/>
                  <a:t>оценка</a:t>
                </a:r>
                <a:r>
                  <a:rPr lang="en-US" dirty="0"/>
                  <a:t> </a:t>
                </a:r>
                <a:r>
                  <a:rPr lang="en-US" dirty="0" err="1"/>
                  <a:t>загрузки</a:t>
                </a:r>
                <a:r>
                  <a:rPr lang="en-US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0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0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i="0" dirty="0" smtClean="0">
                                  <a:latin typeface="Cambria Math" panose="02040503050406030204" pitchFamily="18" charset="0"/>
                                </a:rPr>
                                <m:t>1/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i="0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ru-RU" dirty="0"/>
                  <a:t>г</a:t>
                </a:r>
                <a:r>
                  <a:rPr lang="en-US" dirty="0" err="1"/>
                  <a:t>де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— </a:t>
                </a:r>
                <a:r>
                  <a:rPr lang="en-US" dirty="0" err="1"/>
                  <a:t>количество</a:t>
                </a:r>
                <a:r>
                  <a:rPr lang="en-US" dirty="0"/>
                  <a:t> </a:t>
                </a:r>
                <a:r>
                  <a:rPr lang="en-US" dirty="0" err="1"/>
                  <a:t>периодических</a:t>
                </a:r>
                <a:r>
                  <a:rPr lang="en-US" dirty="0"/>
                  <a:t> </a:t>
                </a:r>
                <a:r>
                  <a:rPr lang="en-US" dirty="0" err="1"/>
                  <a:t>задач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 err="1"/>
                  <a:t>Например</a:t>
                </a:r>
                <a:r>
                  <a:rPr lang="en-US" dirty="0"/>
                  <a:t>, </a:t>
                </a:r>
                <a:r>
                  <a:rPr lang="en-US" dirty="0" err="1"/>
                  <a:t>для</a:t>
                </a:r>
                <a:r>
                  <a:rPr lang="en-US" dirty="0"/>
                  <a:t> </a:t>
                </a:r>
                <a:r>
                  <a:rPr lang="en-US" dirty="0" err="1"/>
                  <a:t>трёх</a:t>
                </a:r>
                <a:r>
                  <a:rPr lang="en-US" dirty="0"/>
                  <a:t> </a:t>
                </a:r>
                <a:r>
                  <a:rPr lang="en-US" dirty="0" err="1"/>
                  <a:t>задач</a:t>
                </a:r>
                <a:r>
                  <a:rPr lang="en-US" dirty="0"/>
                  <a:t> </a:t>
                </a:r>
                <a:r>
                  <a:rPr lang="en-US" dirty="0" err="1"/>
                  <a:t>эта</a:t>
                </a:r>
                <a:r>
                  <a:rPr lang="en-US" dirty="0"/>
                  <a:t> </a:t>
                </a:r>
                <a:r>
                  <a:rPr lang="en-US" dirty="0" err="1"/>
                  <a:t>граница</a:t>
                </a:r>
                <a:r>
                  <a:rPr lang="en-US" dirty="0"/>
                  <a:t> </a:t>
                </a:r>
                <a:r>
                  <a:rPr lang="en-US" dirty="0" err="1"/>
                  <a:t>составляет</a:t>
                </a:r>
                <a:r>
                  <a:rPr lang="en-US" dirty="0"/>
                  <a:t> </a:t>
                </a:r>
                <a:r>
                  <a:rPr lang="en-US" dirty="0" err="1"/>
                  <a:t>приблизительно</a:t>
                </a:r>
                <a:r>
                  <a:rPr lang="en-US" dirty="0"/>
                  <a:t> 0,78.</a:t>
                </a:r>
              </a:p>
              <a:p>
                <a:endParaRPr lang="ru-RU" dirty="0"/>
              </a:p>
              <a:p>
                <a:r>
                  <a:rPr lang="en-US" dirty="0"/>
                  <a:t>Это </a:t>
                </a:r>
                <a:r>
                  <a:rPr lang="en-US" dirty="0" err="1"/>
                  <a:t>означает</a:t>
                </a:r>
                <a:r>
                  <a:rPr lang="en-US" dirty="0"/>
                  <a:t>,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если</a:t>
                </a:r>
                <a:r>
                  <a:rPr lang="en-US" dirty="0"/>
                  <a:t> </a:t>
                </a:r>
                <a:r>
                  <a:rPr lang="en-US" dirty="0" err="1"/>
                  <a:t>загрузка</a:t>
                </a:r>
                <a:r>
                  <a:rPr lang="en-US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превышает</a:t>
                </a:r>
                <a:r>
                  <a:rPr lang="en-US" dirty="0"/>
                  <a:t> </a:t>
                </a:r>
                <a:r>
                  <a:rPr lang="en-US" dirty="0" err="1"/>
                  <a:t>эту</a:t>
                </a:r>
                <a:r>
                  <a:rPr lang="en-US" dirty="0"/>
                  <a:t> </a:t>
                </a:r>
                <a:r>
                  <a:rPr lang="en-US" dirty="0" err="1"/>
                  <a:t>величину</a:t>
                </a:r>
                <a:r>
                  <a:rPr lang="en-US" dirty="0"/>
                  <a:t> и </a:t>
                </a:r>
                <a:r>
                  <a:rPr lang="en-US" dirty="0" err="1"/>
                  <a:t>выполняются</a:t>
                </a:r>
                <a:r>
                  <a:rPr lang="en-US" dirty="0"/>
                  <a:t> </a:t>
                </a:r>
                <a:r>
                  <a:rPr lang="en-US" dirty="0" err="1"/>
                  <a:t>условия</a:t>
                </a:r>
                <a:r>
                  <a:rPr lang="en-US" dirty="0"/>
                  <a:t> </a:t>
                </a:r>
                <a:r>
                  <a:rPr lang="en-US" dirty="0" err="1"/>
                  <a:t>классической</a:t>
                </a:r>
                <a:r>
                  <a:rPr lang="en-US" dirty="0"/>
                  <a:t> </a:t>
                </a:r>
                <a:r>
                  <a:rPr lang="en-US" dirty="0" err="1"/>
                  <a:t>модели</a:t>
                </a:r>
                <a:r>
                  <a:rPr lang="en-US" dirty="0"/>
                  <a:t> RM, </a:t>
                </a:r>
                <a:r>
                  <a:rPr lang="en-US" dirty="0" err="1"/>
                  <a:t>мы</a:t>
                </a:r>
                <a:r>
                  <a:rPr lang="en-US" dirty="0"/>
                  <a:t> </a:t>
                </a:r>
                <a:r>
                  <a:rPr lang="en-US" dirty="0" err="1"/>
                  <a:t>можем</a:t>
                </a:r>
                <a:r>
                  <a:rPr lang="en-US" dirty="0"/>
                  <a:t> </a:t>
                </a:r>
                <a:r>
                  <a:rPr lang="en-US" dirty="0" err="1"/>
                  <a:t>гарантировать</a:t>
                </a:r>
                <a:r>
                  <a:rPr lang="en-US" dirty="0"/>
                  <a:t> </a:t>
                </a:r>
                <a:r>
                  <a:rPr lang="en-US" dirty="0" err="1"/>
                  <a:t>соблюдение</a:t>
                </a:r>
                <a:r>
                  <a:rPr lang="en-US" dirty="0"/>
                  <a:t> </a:t>
                </a:r>
                <a:r>
                  <a:rPr lang="en-US" dirty="0" err="1"/>
                  <a:t>дедлайнов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Но</a:t>
                </a:r>
                <a:r>
                  <a:rPr lang="en-US" dirty="0"/>
                  <a:t> </a:t>
                </a:r>
                <a:r>
                  <a:rPr lang="en-US" dirty="0" err="1"/>
                  <a:t>если</a:t>
                </a:r>
                <a:r>
                  <a:rPr lang="en-US" dirty="0"/>
                  <a:t> </a:t>
                </a:r>
                <a:r>
                  <a:rPr lang="en-US" dirty="0" err="1"/>
                  <a:t>загрузка</a:t>
                </a:r>
                <a:r>
                  <a:rPr lang="en-US" dirty="0"/>
                  <a:t> </a:t>
                </a:r>
                <a:r>
                  <a:rPr lang="en-US" dirty="0" err="1"/>
                  <a:t>превышает</a:t>
                </a:r>
                <a:r>
                  <a:rPr lang="en-US" dirty="0"/>
                  <a:t> </a:t>
                </a:r>
                <a:r>
                  <a:rPr lang="en-US" dirty="0" err="1"/>
                  <a:t>границу</a:t>
                </a:r>
                <a:r>
                  <a:rPr lang="en-US" dirty="0"/>
                  <a:t>, </a:t>
                </a:r>
                <a:r>
                  <a:rPr lang="en-US" dirty="0" err="1"/>
                  <a:t>это</a:t>
                </a:r>
                <a:r>
                  <a:rPr lang="en-US" dirty="0"/>
                  <a:t> </a:t>
                </a:r>
                <a:r>
                  <a:rPr lang="en-US" dirty="0" err="1"/>
                  <a:t>ещё</a:t>
                </a:r>
                <a:r>
                  <a:rPr lang="en-US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означает</a:t>
                </a:r>
                <a:r>
                  <a:rPr lang="en-US" dirty="0"/>
                  <a:t>,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система</a:t>
                </a:r>
                <a:r>
                  <a:rPr lang="en-US" dirty="0"/>
                  <a:t> </a:t>
                </a:r>
                <a:r>
                  <a:rPr lang="en-US" dirty="0" err="1"/>
                  <a:t>обязательно</a:t>
                </a:r>
                <a:r>
                  <a:rPr lang="en-US" dirty="0"/>
                  <a:t> </a:t>
                </a:r>
                <a:r>
                  <a:rPr lang="en-US" dirty="0" err="1"/>
                  <a:t>нарушит</a:t>
                </a:r>
                <a:r>
                  <a:rPr lang="en-US" dirty="0"/>
                  <a:t> </a:t>
                </a:r>
                <a:r>
                  <a:rPr lang="en-US" dirty="0" err="1"/>
                  <a:t>дедлайны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 err="1"/>
                  <a:t>Наш</a:t>
                </a:r>
                <a:r>
                  <a:rPr lang="en-US" dirty="0"/>
                  <a:t> </a:t>
                </a:r>
                <a:r>
                  <a:rPr lang="en-US" dirty="0" err="1"/>
                  <a:t>пример</a:t>
                </a:r>
                <a:r>
                  <a:rPr lang="en-US" dirty="0"/>
                  <a:t> с </a:t>
                </a:r>
                <a:r>
                  <a:rPr lang="en-US" dirty="0" err="1"/>
                  <a:t>загрузкой</a:t>
                </a:r>
                <a:r>
                  <a:rPr lang="en-US" dirty="0"/>
                  <a:t> 85% </a:t>
                </a:r>
                <a:r>
                  <a:rPr lang="en-US" dirty="0" err="1"/>
                  <a:t>выходит</a:t>
                </a:r>
                <a:r>
                  <a:rPr lang="en-US" dirty="0"/>
                  <a:t> </a:t>
                </a:r>
                <a:r>
                  <a:rPr lang="en-US" dirty="0" err="1"/>
                  <a:t>за</a:t>
                </a:r>
                <a:r>
                  <a:rPr lang="en-US" dirty="0"/>
                  <a:t> </a:t>
                </a:r>
                <a:r>
                  <a:rPr lang="en-US" dirty="0" err="1"/>
                  <a:t>пределы</a:t>
                </a:r>
                <a:r>
                  <a:rPr lang="en-US" dirty="0"/>
                  <a:t> </a:t>
                </a:r>
                <a:r>
                  <a:rPr lang="en-US" dirty="0" err="1"/>
                  <a:t>простой</a:t>
                </a:r>
                <a:r>
                  <a:rPr lang="en-US" dirty="0"/>
                  <a:t> </a:t>
                </a:r>
                <a:r>
                  <a:rPr lang="en-US" dirty="0" err="1"/>
                  <a:t>достаточной</a:t>
                </a:r>
                <a:r>
                  <a:rPr lang="en-US" dirty="0"/>
                  <a:t> </a:t>
                </a:r>
                <a:r>
                  <a:rPr lang="en-US" dirty="0" err="1"/>
                  <a:t>оценки</a:t>
                </a:r>
                <a:r>
                  <a:rPr lang="en-US" dirty="0"/>
                  <a:t> RM. </a:t>
                </a:r>
                <a:r>
                  <a:rPr lang="en-US" dirty="0" err="1"/>
                  <a:t>Однако</a:t>
                </a:r>
                <a:r>
                  <a:rPr lang="en-US" dirty="0"/>
                  <a:t> </a:t>
                </a:r>
                <a:r>
                  <a:rPr lang="en-US" dirty="0" err="1"/>
                  <a:t>такой</a:t>
                </a:r>
                <a:r>
                  <a:rPr lang="en-US" dirty="0"/>
                  <a:t> </a:t>
                </a:r>
                <a:r>
                  <a:rPr lang="en-US" dirty="0" err="1"/>
                  <a:t>набор</a:t>
                </a:r>
                <a:r>
                  <a:rPr lang="en-US" dirty="0"/>
                  <a:t> </a:t>
                </a:r>
                <a:r>
                  <a:rPr lang="en-US" dirty="0" err="1"/>
                  <a:t>задач</a:t>
                </a:r>
                <a:r>
                  <a:rPr lang="en-US" dirty="0"/>
                  <a:t> </a:t>
                </a:r>
                <a:r>
                  <a:rPr lang="en-US" dirty="0" err="1"/>
                  <a:t>может</a:t>
                </a:r>
                <a:r>
                  <a:rPr lang="en-US" dirty="0"/>
                  <a:t> </a:t>
                </a:r>
                <a:r>
                  <a:rPr lang="en-US" dirty="0" err="1"/>
                  <a:t>оказаться</a:t>
                </a:r>
                <a:r>
                  <a:rPr lang="en-US" dirty="0"/>
                  <a:t> </a:t>
                </a:r>
                <a:r>
                  <a:rPr lang="en-US" dirty="0" err="1"/>
                  <a:t>планируемым</a:t>
                </a:r>
                <a:r>
                  <a:rPr lang="en-US" dirty="0"/>
                  <a:t> — </a:t>
                </a:r>
                <a:r>
                  <a:rPr lang="en-US" dirty="0" err="1"/>
                  <a:t>для</a:t>
                </a:r>
                <a:r>
                  <a:rPr lang="en-US" dirty="0"/>
                  <a:t> </a:t>
                </a:r>
                <a:r>
                  <a:rPr lang="en-US" dirty="0" err="1"/>
                  <a:t>окончательного</a:t>
                </a:r>
                <a:r>
                  <a:rPr lang="en-US" dirty="0"/>
                  <a:t> </a:t>
                </a:r>
                <a:r>
                  <a:rPr lang="en-US" dirty="0" err="1"/>
                  <a:t>вывода</a:t>
                </a:r>
                <a:r>
                  <a:rPr lang="en-US" dirty="0"/>
                  <a:t> </a:t>
                </a:r>
                <a:r>
                  <a:rPr lang="en-US" dirty="0" err="1"/>
                  <a:t>потребуется</a:t>
                </a:r>
                <a:r>
                  <a:rPr lang="en-US" dirty="0"/>
                  <a:t> </a:t>
                </a:r>
                <a:r>
                  <a:rPr lang="en-US" dirty="0" err="1"/>
                  <a:t>более</a:t>
                </a:r>
                <a:r>
                  <a:rPr lang="en-US" dirty="0"/>
                  <a:t> </a:t>
                </a:r>
                <a:r>
                  <a:rPr lang="en-US" dirty="0" err="1"/>
                  <a:t>точный</a:t>
                </a:r>
                <a:r>
                  <a:rPr lang="en-US" dirty="0"/>
                  <a:t> </a:t>
                </a:r>
                <a:r>
                  <a:rPr lang="en-US" dirty="0" err="1"/>
                  <a:t>анализ</a:t>
                </a:r>
                <a:r>
                  <a:rPr lang="en-US" dirty="0"/>
                  <a:t>, </a:t>
                </a:r>
                <a:r>
                  <a:rPr lang="en-US" dirty="0" err="1"/>
                  <a:t>например</a:t>
                </a:r>
                <a:r>
                  <a:rPr lang="en-US" dirty="0"/>
                  <a:t> </a:t>
                </a:r>
                <a:r>
                  <a:rPr lang="en-US" dirty="0" err="1"/>
                  <a:t>анализ</a:t>
                </a:r>
                <a:r>
                  <a:rPr lang="en-US" dirty="0"/>
                  <a:t> </a:t>
                </a:r>
                <a:r>
                  <a:rPr lang="en-US" dirty="0" err="1"/>
                  <a:t>наихудшего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 </a:t>
                </a:r>
                <a:r>
                  <a:rPr lang="en-US" dirty="0" err="1"/>
                  <a:t>отклика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/>
                  <a:t>Это </a:t>
                </a:r>
                <a:r>
                  <a:rPr lang="en-US" dirty="0" err="1"/>
                  <a:t>важное</a:t>
                </a:r>
                <a:r>
                  <a:rPr lang="en-US" dirty="0"/>
                  <a:t> </a:t>
                </a:r>
                <a:r>
                  <a:rPr lang="en-US" dirty="0" err="1"/>
                  <a:t>различие</a:t>
                </a:r>
                <a:r>
                  <a:rPr lang="en-US" dirty="0"/>
                  <a:t> </a:t>
                </a:r>
                <a:r>
                  <a:rPr lang="en-US" dirty="0" err="1"/>
                  <a:t>между</a:t>
                </a:r>
                <a:r>
                  <a:rPr lang="en-US" dirty="0"/>
                  <a:t> </a:t>
                </a:r>
                <a:r>
                  <a:rPr lang="en-US" dirty="0" err="1"/>
                  <a:t>необходимым</a:t>
                </a:r>
                <a:r>
                  <a:rPr lang="en-US" dirty="0"/>
                  <a:t>, </a:t>
                </a:r>
                <a:r>
                  <a:rPr lang="en-US" dirty="0" err="1"/>
                  <a:t>достаточным</a:t>
                </a:r>
                <a:r>
                  <a:rPr lang="en-US" dirty="0"/>
                  <a:t> и </a:t>
                </a:r>
                <a:r>
                  <a:rPr lang="en-US" dirty="0" err="1"/>
                  <a:t>необходимым</a:t>
                </a:r>
                <a:r>
                  <a:rPr lang="en-US" dirty="0"/>
                  <a:t> и </a:t>
                </a:r>
                <a:r>
                  <a:rPr lang="en-US" dirty="0" err="1"/>
                  <a:t>достаточным</a:t>
                </a:r>
                <a:r>
                  <a:rPr lang="en-US" dirty="0"/>
                  <a:t> </a:t>
                </a:r>
                <a:r>
                  <a:rPr lang="en-US" dirty="0" err="1"/>
                  <a:t>условиями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Вернёмся</a:t>
                </a:r>
                <a:r>
                  <a:rPr lang="en-US" dirty="0"/>
                  <a:t> к EDF.</a:t>
                </a:r>
              </a:p>
              <a:p>
                <a:endParaRPr lang="ru-RU" dirty="0"/>
              </a:p>
              <a:p>
                <a:r>
                  <a:rPr lang="en-US" dirty="0" err="1"/>
                  <a:t>Предположим</a:t>
                </a:r>
                <a:r>
                  <a:rPr lang="en-US" dirty="0"/>
                  <a:t>,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мы</a:t>
                </a:r>
                <a:r>
                  <a:rPr lang="en-US" dirty="0"/>
                  <a:t> </a:t>
                </a:r>
                <a:r>
                  <a:rPr lang="en-US" dirty="0" err="1"/>
                  <a:t>хотим</a:t>
                </a:r>
                <a:r>
                  <a:rPr lang="en-US" dirty="0"/>
                  <a:t> </a:t>
                </a:r>
                <a:r>
                  <a:rPr lang="en-US" dirty="0" err="1"/>
                  <a:t>добавить</a:t>
                </a:r>
                <a:r>
                  <a:rPr lang="en-US" dirty="0"/>
                  <a:t> </a:t>
                </a:r>
                <a:r>
                  <a:rPr lang="en-US" dirty="0" err="1"/>
                  <a:t>ещё</a:t>
                </a:r>
                <a:r>
                  <a:rPr lang="en-US" dirty="0"/>
                  <a:t> </a:t>
                </a:r>
                <a:r>
                  <a:rPr lang="en-US" dirty="0" err="1"/>
                  <a:t>одну</a:t>
                </a:r>
                <a:r>
                  <a:rPr lang="en-US" dirty="0"/>
                  <a:t> </a:t>
                </a:r>
                <a:r>
                  <a:rPr lang="en-US" dirty="0" err="1"/>
                  <a:t>задачу</a:t>
                </a:r>
                <a:r>
                  <a:rPr lang="en-US" dirty="0"/>
                  <a:t>, </a:t>
                </a:r>
                <a:r>
                  <a:rPr lang="en-US" dirty="0" err="1"/>
                  <a:t>которая</a:t>
                </a:r>
                <a:r>
                  <a:rPr lang="en-US" dirty="0"/>
                  <a:t> </a:t>
                </a:r>
                <a:r>
                  <a:rPr lang="en-US" dirty="0" err="1"/>
                  <a:t>появляется</a:t>
                </a:r>
                <a:r>
                  <a:rPr lang="en-US" dirty="0"/>
                  <a:t> </a:t>
                </a:r>
                <a:r>
                  <a:rPr lang="en-US" dirty="0" err="1"/>
                  <a:t>раз</a:t>
                </a:r>
                <a:r>
                  <a:rPr lang="en-US" dirty="0"/>
                  <a:t> в </a:t>
                </a:r>
                <a:r>
                  <a:rPr lang="en-US" dirty="0" err="1"/>
                  <a:t>секунду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Сейчас</a:t>
                </a:r>
                <a:r>
                  <a:rPr lang="en-US" dirty="0"/>
                  <a:t> </a:t>
                </a:r>
                <a:r>
                  <a:rPr lang="en-US" dirty="0" err="1"/>
                  <a:t>суммарная</a:t>
                </a:r>
                <a:r>
                  <a:rPr lang="en-US" dirty="0"/>
                  <a:t> </a:t>
                </a:r>
                <a:r>
                  <a:rPr lang="en-US" dirty="0" err="1"/>
                  <a:t>загрузка</a:t>
                </a:r>
                <a:r>
                  <a:rPr lang="en-US" dirty="0"/>
                  <a:t> </a:t>
                </a:r>
                <a:r>
                  <a:rPr lang="en-US" dirty="0" err="1"/>
                  <a:t>составляет</a:t>
                </a:r>
                <a:r>
                  <a:rPr lang="en-US" dirty="0"/>
                  <a:t> 85%.</a:t>
                </a:r>
              </a:p>
              <a:p>
                <a:r>
                  <a:rPr lang="en-US" dirty="0" err="1"/>
                  <a:t>Теоретически</a:t>
                </a:r>
                <a:r>
                  <a:rPr lang="en-US" dirty="0"/>
                  <a:t> у </a:t>
                </a:r>
                <a:r>
                  <a:rPr lang="en-US" dirty="0" err="1"/>
                  <a:t>нас</a:t>
                </a:r>
                <a:r>
                  <a:rPr lang="en-US" dirty="0"/>
                  <a:t> </a:t>
                </a:r>
                <a:r>
                  <a:rPr lang="en-US" dirty="0" err="1"/>
                  <a:t>остаётся</a:t>
                </a:r>
                <a:r>
                  <a:rPr lang="en-US" dirty="0"/>
                  <a:t> 15% </a:t>
                </a:r>
                <a:r>
                  <a:rPr lang="en-US" dirty="0" err="1"/>
                  <a:t>процессорного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 err="1"/>
                  <a:t>Следовательно</a:t>
                </a:r>
                <a:r>
                  <a:rPr lang="en-US" dirty="0"/>
                  <a:t>, </a:t>
                </a:r>
                <a:r>
                  <a:rPr lang="en-US" dirty="0" err="1"/>
                  <a:t>новая</a:t>
                </a:r>
                <a:r>
                  <a:rPr lang="en-US" dirty="0"/>
                  <a:t> </a:t>
                </a:r>
                <a:r>
                  <a:rPr lang="en-US" dirty="0" err="1"/>
                  <a:t>периодическая</a:t>
                </a:r>
                <a:r>
                  <a:rPr lang="en-US" dirty="0"/>
                  <a:t> </a:t>
                </a:r>
                <a:r>
                  <a:rPr lang="en-US" dirty="0" err="1"/>
                  <a:t>задача</a:t>
                </a:r>
                <a:r>
                  <a:rPr lang="en-US" dirty="0"/>
                  <a:t> с </a:t>
                </a:r>
                <a:r>
                  <a:rPr lang="en-US" dirty="0" err="1"/>
                  <a:t>периодом</a:t>
                </a:r>
                <a:r>
                  <a:rPr lang="en-US" dirty="0"/>
                  <a:t> 1000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 </a:t>
                </a:r>
                <a:r>
                  <a:rPr lang="en-US" dirty="0" err="1"/>
                  <a:t>может</a:t>
                </a:r>
                <a:r>
                  <a:rPr lang="en-US" dirty="0"/>
                  <a:t> </a:t>
                </a:r>
                <a:r>
                  <a:rPr lang="en-US" dirty="0" err="1"/>
                  <a:t>требовать</a:t>
                </a:r>
                <a:r>
                  <a:rPr lang="en-US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более</a:t>
                </a:r>
                <a:r>
                  <a:rPr lang="en-US" dirty="0"/>
                  <a:t> 150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 CPU, </a:t>
                </a:r>
                <a:r>
                  <a:rPr lang="en-US" dirty="0" err="1"/>
                  <a:t>чтобы</a:t>
                </a:r>
                <a:r>
                  <a:rPr lang="en-US" dirty="0"/>
                  <a:t> </a:t>
                </a:r>
                <a:r>
                  <a:rPr lang="en-US" dirty="0" err="1"/>
                  <a:t>общая</a:t>
                </a:r>
                <a:r>
                  <a:rPr lang="en-US" dirty="0"/>
                  <a:t> </a:t>
                </a:r>
                <a:r>
                  <a:rPr lang="en-US" dirty="0" err="1"/>
                  <a:t>загрузка</a:t>
                </a:r>
                <a:r>
                  <a:rPr lang="en-US" dirty="0"/>
                  <a:t> </a:t>
                </a:r>
                <a:r>
                  <a:rPr lang="en-US" dirty="0" err="1"/>
                  <a:t>осталась</a:t>
                </a:r>
                <a:r>
                  <a:rPr lang="en-US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выше</a:t>
                </a:r>
                <a:r>
                  <a:rPr lang="en-US" dirty="0"/>
                  <a:t> 100%.</a:t>
                </a:r>
              </a:p>
              <a:p>
                <a:r>
                  <a:rPr lang="en-US" dirty="0" err="1"/>
                  <a:t>Но</a:t>
                </a:r>
                <a:r>
                  <a:rPr lang="en-US" dirty="0"/>
                  <a:t> </a:t>
                </a:r>
                <a:r>
                  <a:rPr lang="en-US" dirty="0" err="1"/>
                  <a:t>это</a:t>
                </a:r>
                <a:r>
                  <a:rPr lang="en-US" dirty="0"/>
                  <a:t> </a:t>
                </a:r>
                <a:r>
                  <a:rPr lang="en-US" dirty="0" err="1"/>
                  <a:t>справедливо</a:t>
                </a:r>
                <a:r>
                  <a:rPr lang="en-US" dirty="0"/>
                  <a:t> </a:t>
                </a:r>
                <a:r>
                  <a:rPr lang="en-US" dirty="0" err="1"/>
                  <a:t>только</a:t>
                </a:r>
                <a:r>
                  <a:rPr lang="en-US" dirty="0"/>
                  <a:t> в </a:t>
                </a:r>
                <a:r>
                  <a:rPr lang="en-US" dirty="0" err="1"/>
                  <a:t>рамках</a:t>
                </a:r>
                <a:r>
                  <a:rPr lang="en-US" dirty="0"/>
                  <a:t> </a:t>
                </a:r>
                <a:r>
                  <a:rPr lang="en-US" dirty="0" err="1"/>
                  <a:t>нашей</a:t>
                </a:r>
                <a:r>
                  <a:rPr lang="en-US" dirty="0"/>
                  <a:t> </a:t>
                </a:r>
                <a:r>
                  <a:rPr lang="en-US" dirty="0" err="1"/>
                  <a:t>идеализированной</a:t>
                </a:r>
                <a:r>
                  <a:rPr lang="en-US" dirty="0"/>
                  <a:t> </a:t>
                </a:r>
                <a:r>
                  <a:rPr lang="en-US" dirty="0" err="1"/>
                  <a:t>модели</a:t>
                </a:r>
                <a:r>
                  <a:rPr lang="en-US" dirty="0"/>
                  <a:t> и </a:t>
                </a:r>
                <a:r>
                  <a:rPr lang="en-US" dirty="0" err="1"/>
                  <a:t>при</a:t>
                </a:r>
                <a:r>
                  <a:rPr lang="en-US" dirty="0"/>
                  <a:t> </a:t>
                </a:r>
                <a:r>
                  <a:rPr lang="en-US" dirty="0" err="1"/>
                  <a:t>дедлайне</a:t>
                </a:r>
                <a:r>
                  <a:rPr lang="en-US" dirty="0"/>
                  <a:t>, </a:t>
                </a:r>
                <a:r>
                  <a:rPr lang="en-US" dirty="0" err="1"/>
                  <a:t>равном</a:t>
                </a:r>
                <a:r>
                  <a:rPr lang="en-US" dirty="0"/>
                  <a:t> </a:t>
                </a:r>
                <a:r>
                  <a:rPr lang="en-US" dirty="0" err="1"/>
                  <a:t>периоду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/>
                  <a:t>В </a:t>
                </a:r>
                <a:r>
                  <a:rPr lang="en-US" dirty="0" err="1"/>
                  <a:t>реальных</a:t>
                </a:r>
                <a:r>
                  <a:rPr lang="en-US" dirty="0"/>
                  <a:t> </a:t>
                </a:r>
                <a:r>
                  <a:rPr lang="en-US" dirty="0" err="1"/>
                  <a:t>системах</a:t>
                </a:r>
                <a:r>
                  <a:rPr lang="en-US" dirty="0"/>
                  <a:t> </a:t>
                </a:r>
                <a:r>
                  <a:rPr lang="en-US" dirty="0" err="1"/>
                  <a:t>использовать</a:t>
                </a:r>
                <a:r>
                  <a:rPr lang="en-US" dirty="0"/>
                  <a:t> </a:t>
                </a:r>
                <a:r>
                  <a:rPr lang="en-US" dirty="0" err="1"/>
                  <a:t>все</a:t>
                </a:r>
                <a:r>
                  <a:rPr lang="en-US" dirty="0"/>
                  <a:t> 100% </a:t>
                </a:r>
                <a:r>
                  <a:rPr lang="en-US" dirty="0" err="1"/>
                  <a:t>расчётной</a:t>
                </a:r>
                <a:r>
                  <a:rPr lang="en-US" dirty="0"/>
                  <a:t> </a:t>
                </a:r>
                <a:r>
                  <a:rPr lang="en-US" dirty="0" err="1"/>
                  <a:t>мощности</a:t>
                </a:r>
                <a:r>
                  <a:rPr lang="en-US" dirty="0"/>
                  <a:t> </a:t>
                </a:r>
                <a:r>
                  <a:rPr lang="en-US" dirty="0" err="1"/>
                  <a:t>без</a:t>
                </a:r>
                <a:r>
                  <a:rPr lang="en-US" dirty="0"/>
                  <a:t> </a:t>
                </a:r>
                <a:r>
                  <a:rPr lang="en-US" dirty="0" err="1"/>
                  <a:t>запаса</a:t>
                </a:r>
                <a:r>
                  <a:rPr lang="en-US" dirty="0"/>
                  <a:t> </a:t>
                </a:r>
                <a:r>
                  <a:rPr lang="en-US" dirty="0" err="1"/>
                  <a:t>рискованно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Переключение</a:t>
                </a:r>
                <a:r>
                  <a:rPr lang="en-US" dirty="0"/>
                  <a:t> </a:t>
                </a:r>
                <a:r>
                  <a:rPr lang="en-US" dirty="0" err="1"/>
                  <a:t>контекста</a:t>
                </a:r>
                <a:r>
                  <a:rPr lang="en-US" dirty="0"/>
                  <a:t>, </a:t>
                </a:r>
                <a:r>
                  <a:rPr lang="en-US" dirty="0" err="1"/>
                  <a:t>обработка</a:t>
                </a:r>
                <a:r>
                  <a:rPr lang="en-US" dirty="0"/>
                  <a:t> </a:t>
                </a:r>
                <a:r>
                  <a:rPr lang="en-US" dirty="0" err="1"/>
                  <a:t>прерываний</a:t>
                </a:r>
                <a:r>
                  <a:rPr lang="en-US" dirty="0"/>
                  <a:t>, </a:t>
                </a:r>
                <a:r>
                  <a:rPr lang="en-US" dirty="0" err="1"/>
                  <a:t>задержки</a:t>
                </a:r>
                <a:r>
                  <a:rPr lang="en-US" dirty="0"/>
                  <a:t> </a:t>
                </a:r>
                <a:r>
                  <a:rPr lang="en-US" dirty="0" err="1"/>
                  <a:t>памяти</a:t>
                </a:r>
                <a:r>
                  <a:rPr lang="en-US" dirty="0"/>
                  <a:t> и </a:t>
                </a:r>
                <a:r>
                  <a:rPr lang="en-US" dirty="0" err="1"/>
                  <a:t>другие</a:t>
                </a:r>
                <a:r>
                  <a:rPr lang="en-US" dirty="0"/>
                  <a:t> </a:t>
                </a:r>
                <a:r>
                  <a:rPr lang="en-US" dirty="0" err="1"/>
                  <a:t>накладные</a:t>
                </a:r>
                <a:r>
                  <a:rPr lang="en-US" dirty="0"/>
                  <a:t> </a:t>
                </a:r>
                <a:r>
                  <a:rPr lang="en-US" dirty="0" err="1"/>
                  <a:t>расходы</a:t>
                </a:r>
                <a:r>
                  <a:rPr lang="en-US" dirty="0"/>
                  <a:t> </a:t>
                </a:r>
                <a:r>
                  <a:rPr lang="en-US" dirty="0" err="1"/>
                  <a:t>тоже</a:t>
                </a:r>
                <a:r>
                  <a:rPr lang="en-US" dirty="0"/>
                  <a:t> </a:t>
                </a:r>
                <a:r>
                  <a:rPr lang="en-US" dirty="0" err="1"/>
                  <a:t>требуют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 err="1"/>
                  <a:t>Кроме</a:t>
                </a:r>
                <a:r>
                  <a:rPr lang="en-US" dirty="0"/>
                  <a:t> </a:t>
                </a:r>
                <a:r>
                  <a:rPr lang="en-US" dirty="0" err="1"/>
                  <a:t>того</a:t>
                </a:r>
                <a:r>
                  <a:rPr lang="en-US" dirty="0"/>
                  <a:t>, WCET </a:t>
                </a:r>
                <a:r>
                  <a:rPr lang="en-US" dirty="0" err="1"/>
                  <a:t>необходимо</a:t>
                </a:r>
                <a:r>
                  <a:rPr lang="en-US" dirty="0"/>
                  <a:t> </a:t>
                </a:r>
                <a:r>
                  <a:rPr lang="en-US" dirty="0" err="1"/>
                  <a:t>оценивать</a:t>
                </a:r>
                <a:r>
                  <a:rPr lang="en-US" dirty="0"/>
                  <a:t> </a:t>
                </a:r>
                <a:r>
                  <a:rPr lang="en-US" dirty="0" err="1"/>
                  <a:t>корректно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Таким</a:t>
                </a:r>
                <a:r>
                  <a:rPr lang="en-US" dirty="0"/>
                  <a:t> </a:t>
                </a:r>
                <a:r>
                  <a:rPr lang="en-US" dirty="0" err="1"/>
                  <a:t>образом</a:t>
                </a:r>
                <a:r>
                  <a:rPr lang="en-US" dirty="0"/>
                  <a:t>, </a:t>
                </a:r>
                <a:r>
                  <a:rPr lang="en-US" dirty="0" err="1"/>
                  <a:t>проверка</a:t>
                </a:r>
                <a:r>
                  <a:rPr lang="en-US" dirty="0"/>
                  <a:t> </a:t>
                </a:r>
                <a:r>
                  <a:rPr lang="en-US" dirty="0" err="1"/>
                  <a:t>загрузки</a:t>
                </a:r>
                <a:r>
                  <a:rPr lang="en-US" dirty="0"/>
                  <a:t> CPU — </a:t>
                </a:r>
                <a:r>
                  <a:rPr lang="en-US" dirty="0" err="1"/>
                  <a:t>важный</a:t>
                </a:r>
                <a:r>
                  <a:rPr lang="en-US" dirty="0"/>
                  <a:t> </a:t>
                </a:r>
                <a:r>
                  <a:rPr lang="en-US" dirty="0" err="1"/>
                  <a:t>первый</a:t>
                </a:r>
                <a:r>
                  <a:rPr lang="en-US" dirty="0"/>
                  <a:t> </a:t>
                </a:r>
                <a:r>
                  <a:rPr lang="en-US" dirty="0" err="1"/>
                  <a:t>шаг</a:t>
                </a:r>
                <a:r>
                  <a:rPr lang="en-US" dirty="0"/>
                  <a:t> в </a:t>
                </a:r>
                <a:r>
                  <a:rPr lang="en-US" dirty="0" err="1"/>
                  <a:t>анализе</a:t>
                </a:r>
                <a:r>
                  <a:rPr lang="en-US" dirty="0"/>
                  <a:t> </a:t>
                </a:r>
                <a:r>
                  <a:rPr lang="en-US" dirty="0" err="1"/>
                  <a:t>систем</a:t>
                </a:r>
                <a:r>
                  <a:rPr lang="en-US" dirty="0"/>
                  <a:t> </a:t>
                </a:r>
                <a:r>
                  <a:rPr lang="en-US" dirty="0" err="1"/>
                  <a:t>реального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, </a:t>
                </a:r>
                <a:r>
                  <a:rPr lang="en-US" dirty="0" err="1"/>
                  <a:t>но</a:t>
                </a:r>
                <a:r>
                  <a:rPr lang="en-US" dirty="0"/>
                  <a:t> </a:t>
                </a:r>
                <a:r>
                  <a:rPr lang="en-US" dirty="0" err="1"/>
                  <a:t>она</a:t>
                </a:r>
                <a:r>
                  <a:rPr lang="en-US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заменяет</a:t>
                </a:r>
                <a:r>
                  <a:rPr lang="en-US" dirty="0"/>
                  <a:t> </a:t>
                </a:r>
                <a:r>
                  <a:rPr lang="en-US" dirty="0" err="1"/>
                  <a:t>полноценного</a:t>
                </a:r>
                <a:r>
                  <a:rPr lang="en-US" dirty="0"/>
                  <a:t> </a:t>
                </a:r>
                <a:r>
                  <a:rPr lang="en-US" dirty="0" err="1"/>
                  <a:t>анализа</a:t>
                </a:r>
                <a:r>
                  <a:rPr lang="en-US" dirty="0"/>
                  <a:t> </a:t>
                </a:r>
                <a:r>
                  <a:rPr lang="en-US" dirty="0" err="1"/>
                  <a:t>временных</a:t>
                </a:r>
                <a:r>
                  <a:rPr lang="en-US" dirty="0"/>
                  <a:t> </a:t>
                </a:r>
                <a:r>
                  <a:rPr lang="en-US" dirty="0" err="1"/>
                  <a:t>ограничений</a:t>
                </a:r>
                <a:r>
                  <a:rPr lang="en-US" dirty="0"/>
                  <a:t>. </a:t>
                </a:r>
              </a:p>
              <a:p>
                <a:endParaRPr lang="ru-RU" dirty="0"/>
              </a:p>
              <a:p>
                <a:r>
                  <a:rPr lang="en-US" dirty="0"/>
                  <a:t>И </a:t>
                </a:r>
                <a:r>
                  <a:rPr lang="en-US" dirty="0" err="1"/>
                  <a:t>здесь</a:t>
                </a:r>
                <a:r>
                  <a:rPr lang="en-US" dirty="0"/>
                  <a:t> </a:t>
                </a:r>
                <a:r>
                  <a:rPr lang="en-US" dirty="0" err="1"/>
                  <a:t>мы</a:t>
                </a:r>
                <a:r>
                  <a:rPr lang="en-US" dirty="0"/>
                  <a:t> </a:t>
                </a:r>
                <a:r>
                  <a:rPr lang="en-US" dirty="0" err="1"/>
                  <a:t>подходим</a:t>
                </a:r>
                <a:r>
                  <a:rPr lang="en-US" dirty="0"/>
                  <a:t> к </a:t>
                </a:r>
                <a:r>
                  <a:rPr lang="en-US" dirty="0" err="1"/>
                  <a:t>последнему</a:t>
                </a:r>
                <a:r>
                  <a:rPr lang="en-US" dirty="0"/>
                  <a:t> </a:t>
                </a:r>
                <a:r>
                  <a:rPr lang="en-US" dirty="0" err="1"/>
                  <a:t>вопросу</a:t>
                </a:r>
                <a:r>
                  <a:rPr lang="en-US" dirty="0"/>
                  <a:t> </a:t>
                </a:r>
                <a:r>
                  <a:rPr lang="en-US" dirty="0" err="1"/>
                  <a:t>нашего</a:t>
                </a:r>
                <a:r>
                  <a:rPr lang="en-US" dirty="0"/>
                  <a:t> </a:t>
                </a:r>
                <a:r>
                  <a:rPr lang="en-US" dirty="0" err="1"/>
                  <a:t>раздела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Даже</a:t>
                </a:r>
                <a:r>
                  <a:rPr lang="en-US" dirty="0"/>
                  <a:t> </a:t>
                </a:r>
                <a:r>
                  <a:rPr lang="en-US" dirty="0" err="1"/>
                  <a:t>если</a:t>
                </a:r>
                <a:r>
                  <a:rPr lang="en-US" dirty="0"/>
                  <a:t> </a:t>
                </a:r>
                <a:r>
                  <a:rPr lang="en-US" dirty="0" err="1"/>
                  <a:t>теоретические</a:t>
                </a:r>
                <a:r>
                  <a:rPr lang="en-US" dirty="0"/>
                  <a:t> </a:t>
                </a:r>
                <a:r>
                  <a:rPr lang="en-US" dirty="0" err="1"/>
                  <a:t>расчёты</a:t>
                </a:r>
                <a:r>
                  <a:rPr lang="en-US" dirty="0"/>
                  <a:t> </a:t>
                </a:r>
                <a:r>
                  <a:rPr lang="en-US" dirty="0" err="1"/>
                  <a:t>показывают</a:t>
                </a:r>
                <a:r>
                  <a:rPr lang="en-US" dirty="0"/>
                  <a:t>,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все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 </a:t>
                </a:r>
                <a:r>
                  <a:rPr lang="en-US" dirty="0" err="1"/>
                  <a:t>должны</a:t>
                </a:r>
                <a:r>
                  <a:rPr lang="en-US" dirty="0"/>
                  <a:t> </a:t>
                </a:r>
                <a:r>
                  <a:rPr lang="en-US" dirty="0" err="1"/>
                  <a:t>успевать</a:t>
                </a:r>
                <a:r>
                  <a:rPr lang="en-US" dirty="0"/>
                  <a:t>,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может</a:t>
                </a:r>
                <a:r>
                  <a:rPr lang="en-US" dirty="0"/>
                  <a:t> </a:t>
                </a:r>
                <a:r>
                  <a:rPr lang="en-US" dirty="0" err="1"/>
                  <a:t>помешать</a:t>
                </a:r>
                <a:r>
                  <a:rPr lang="en-US" dirty="0"/>
                  <a:t> </a:t>
                </a:r>
                <a:r>
                  <a:rPr lang="en-US" dirty="0" err="1"/>
                  <a:t>этому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практике</a:t>
                </a:r>
                <a:r>
                  <a:rPr lang="en-US" dirty="0"/>
                  <a:t>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err="1"/>
                  <a:t>Мы</a:t>
                </a:r>
                <a:r>
                  <a:rPr lang="en-US" dirty="0"/>
                  <a:t> </a:t>
                </a:r>
                <a:r>
                  <a:rPr lang="en-US" dirty="0" err="1"/>
                  <a:t>познакомились</a:t>
                </a:r>
                <a:r>
                  <a:rPr lang="en-US" dirty="0"/>
                  <a:t> с </a:t>
                </a:r>
                <a:r>
                  <a:rPr lang="en-US" dirty="0" err="1"/>
                  <a:t>двумя</a:t>
                </a:r>
                <a:r>
                  <a:rPr lang="en-US" dirty="0"/>
                  <a:t> </a:t>
                </a:r>
                <a:r>
                  <a:rPr lang="en-US" dirty="0" err="1"/>
                  <a:t>классическими</a:t>
                </a:r>
                <a:r>
                  <a:rPr lang="en-US" dirty="0"/>
                  <a:t> </a:t>
                </a:r>
                <a:r>
                  <a:rPr lang="en-US" dirty="0" err="1"/>
                  <a:t>алгоритмами</a:t>
                </a:r>
                <a:r>
                  <a:rPr lang="en-US" dirty="0"/>
                  <a:t> </a:t>
                </a:r>
                <a:r>
                  <a:rPr lang="en-US" dirty="0" err="1"/>
                  <a:t>планирования</a:t>
                </a:r>
                <a:r>
                  <a:rPr lang="en-US" dirty="0"/>
                  <a:t> </a:t>
                </a:r>
                <a:r>
                  <a:rPr lang="en-US" dirty="0" err="1"/>
                  <a:t>реального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 — Rate Monotonic и Earliest Deadline First.</a:t>
                </a:r>
              </a:p>
              <a:p>
                <a:r>
                  <a:rPr lang="en-US" dirty="0" err="1"/>
                  <a:t>Но</a:t>
                </a:r>
                <a:r>
                  <a:rPr lang="en-US" dirty="0"/>
                  <a:t> </a:t>
                </a:r>
                <a:r>
                  <a:rPr lang="en-US" dirty="0" err="1"/>
                  <a:t>до</a:t>
                </a:r>
                <a:r>
                  <a:rPr lang="en-US" dirty="0"/>
                  <a:t> </a:t>
                </a:r>
                <a:r>
                  <a:rPr lang="en-US" dirty="0" err="1"/>
                  <a:t>сих</a:t>
                </a:r>
                <a:r>
                  <a:rPr lang="en-US" dirty="0"/>
                  <a:t> </a:t>
                </a:r>
                <a:r>
                  <a:rPr lang="en-US" dirty="0" err="1"/>
                  <a:t>пор</a:t>
                </a:r>
                <a:r>
                  <a:rPr lang="en-US" dirty="0"/>
                  <a:t> </a:t>
                </a:r>
                <a:r>
                  <a:rPr lang="en-US" dirty="0" err="1"/>
                  <a:t>мы</a:t>
                </a:r>
                <a:r>
                  <a:rPr lang="en-US" dirty="0"/>
                  <a:t> </a:t>
                </a:r>
                <a:r>
                  <a:rPr lang="en-US" dirty="0" err="1"/>
                  <a:t>рассматривали</a:t>
                </a:r>
                <a:r>
                  <a:rPr lang="en-US" dirty="0"/>
                  <a:t> </a:t>
                </a:r>
                <a:r>
                  <a:rPr lang="en-US" dirty="0" err="1"/>
                  <a:t>небольшие</a:t>
                </a:r>
                <a:r>
                  <a:rPr lang="en-US" dirty="0"/>
                  <a:t> </a:t>
                </a:r>
                <a:r>
                  <a:rPr lang="en-US" dirty="0" err="1"/>
                  <a:t>примеры</a:t>
                </a:r>
                <a:r>
                  <a:rPr lang="en-US" dirty="0"/>
                  <a:t> и </a:t>
                </a:r>
                <a:r>
                  <a:rPr lang="en-US" dirty="0" err="1"/>
                  <a:t>вручную</a:t>
                </a:r>
                <a:r>
                  <a:rPr lang="en-US" dirty="0"/>
                  <a:t> </a:t>
                </a:r>
                <a:r>
                  <a:rPr lang="en-US" dirty="0" err="1"/>
                  <a:t>строили</a:t>
                </a:r>
                <a:r>
                  <a:rPr lang="en-US" dirty="0"/>
                  <a:t> </a:t>
                </a:r>
                <a:r>
                  <a:rPr lang="en-US" dirty="0" err="1"/>
                  <a:t>временные</a:t>
                </a:r>
                <a:r>
                  <a:rPr lang="en-US" dirty="0"/>
                  <a:t> </a:t>
                </a:r>
                <a:r>
                  <a:rPr lang="en-US" dirty="0" err="1"/>
                  <a:t>диаграммы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/>
                  <a:t>А </a:t>
                </a:r>
                <a:r>
                  <a:rPr lang="en-US" dirty="0" err="1"/>
                  <a:t>можно</a:t>
                </a:r>
                <a:r>
                  <a:rPr lang="en-US" dirty="0"/>
                  <a:t> </a:t>
                </a:r>
                <a:r>
                  <a:rPr lang="en-US" dirty="0" err="1"/>
                  <a:t>ли</a:t>
                </a:r>
                <a:r>
                  <a:rPr lang="en-US" dirty="0"/>
                  <a:t> </a:t>
                </a:r>
                <a:r>
                  <a:rPr lang="en-US" dirty="0" err="1"/>
                  <a:t>заранее</a:t>
                </a:r>
                <a:r>
                  <a:rPr lang="en-US" dirty="0"/>
                  <a:t> </a:t>
                </a:r>
                <a:r>
                  <a:rPr lang="en-US" dirty="0" err="1"/>
                  <a:t>определить</a:t>
                </a:r>
                <a:r>
                  <a:rPr lang="en-US" dirty="0"/>
                  <a:t>, </a:t>
                </a:r>
                <a:r>
                  <a:rPr lang="en-US" dirty="0" err="1"/>
                  <a:t>успеет</a:t>
                </a:r>
                <a:r>
                  <a:rPr lang="en-US" dirty="0"/>
                  <a:t> </a:t>
                </a:r>
                <a:r>
                  <a:rPr lang="en-US" dirty="0" err="1"/>
                  <a:t>ли</a:t>
                </a:r>
                <a:r>
                  <a:rPr lang="en-US" dirty="0"/>
                  <a:t> </a:t>
                </a:r>
                <a:r>
                  <a:rPr lang="en-US" dirty="0" err="1"/>
                  <a:t>система</a:t>
                </a:r>
                <a:r>
                  <a:rPr lang="en-US" dirty="0"/>
                  <a:t> </a:t>
                </a:r>
                <a:r>
                  <a:rPr lang="en-US" dirty="0" err="1"/>
                  <a:t>выполнить</a:t>
                </a:r>
                <a:r>
                  <a:rPr lang="en-US" dirty="0"/>
                  <a:t> </a:t>
                </a:r>
                <a:r>
                  <a:rPr lang="en-US" dirty="0" err="1"/>
                  <a:t>множество</a:t>
                </a:r>
                <a:r>
                  <a:rPr lang="en-US" dirty="0"/>
                  <a:t> </a:t>
                </a:r>
                <a:r>
                  <a:rPr lang="en-US" dirty="0" err="1"/>
                  <a:t>периодических</a:t>
                </a:r>
                <a:r>
                  <a:rPr lang="en-US" dirty="0"/>
                  <a:t> </a:t>
                </a:r>
                <a:r>
                  <a:rPr lang="en-US" dirty="0" err="1"/>
                  <a:t>задач</a:t>
                </a:r>
                <a:r>
                  <a:rPr lang="en-US" dirty="0"/>
                  <a:t>?</a:t>
                </a:r>
              </a:p>
              <a:p>
                <a:r>
                  <a:rPr lang="en-US" dirty="0" err="1"/>
                  <a:t>Для</a:t>
                </a:r>
                <a:r>
                  <a:rPr lang="en-US" dirty="0"/>
                  <a:t> </a:t>
                </a:r>
                <a:r>
                  <a:rPr lang="en-US" dirty="0" err="1"/>
                  <a:t>начала</a:t>
                </a:r>
                <a:r>
                  <a:rPr lang="en-US" dirty="0"/>
                  <a:t> </a:t>
                </a:r>
                <a:r>
                  <a:rPr lang="en-US" dirty="0" err="1"/>
                  <a:t>давайте</a:t>
                </a:r>
                <a:r>
                  <a:rPr lang="en-US" dirty="0"/>
                  <a:t> </a:t>
                </a:r>
                <a:r>
                  <a:rPr lang="en-US" dirty="0" err="1"/>
                  <a:t>оценим</a:t>
                </a:r>
                <a:r>
                  <a:rPr lang="en-US" dirty="0"/>
                  <a:t>, </a:t>
                </a:r>
                <a:r>
                  <a:rPr lang="en-US" dirty="0" err="1"/>
                  <a:t>какую</a:t>
                </a:r>
                <a:r>
                  <a:rPr lang="en-US" dirty="0"/>
                  <a:t> </a:t>
                </a:r>
                <a:r>
                  <a:rPr lang="en-US" dirty="0" err="1"/>
                  <a:t>долю</a:t>
                </a:r>
                <a:r>
                  <a:rPr lang="en-US" dirty="0"/>
                  <a:t> </a:t>
                </a:r>
                <a:r>
                  <a:rPr lang="en-US" dirty="0" err="1"/>
                  <a:t>процессорного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 </a:t>
                </a:r>
                <a:r>
                  <a:rPr lang="en-US" dirty="0" err="1"/>
                  <a:t>они</a:t>
                </a:r>
                <a:r>
                  <a:rPr lang="en-US" dirty="0"/>
                  <a:t> </a:t>
                </a:r>
                <a:r>
                  <a:rPr lang="en-US" dirty="0" err="1"/>
                  <a:t>требуют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 err="1"/>
                  <a:t>Предположим</a:t>
                </a:r>
                <a:r>
                  <a:rPr lang="en-US" dirty="0"/>
                  <a:t>, </a:t>
                </a:r>
                <a:r>
                  <a:rPr lang="en-US" dirty="0" err="1"/>
                  <a:t>что</a:t>
                </a:r>
                <a:r>
                  <a:rPr lang="en-US" dirty="0"/>
                  <a:t> у </a:t>
                </a:r>
                <a:r>
                  <a:rPr lang="en-US" dirty="0" err="1"/>
                  <a:t>нас</a:t>
                </a:r>
                <a:r>
                  <a:rPr lang="en-US" dirty="0"/>
                  <a:t> </a:t>
                </a:r>
                <a:r>
                  <a:rPr lang="en-US" dirty="0" err="1"/>
                  <a:t>есть</a:t>
                </a:r>
                <a:r>
                  <a:rPr lang="en-US" dirty="0"/>
                  <a:t> </a:t>
                </a:r>
                <a:r>
                  <a:rPr lang="en-US" dirty="0" err="1"/>
                  <a:t>три</a:t>
                </a:r>
                <a:r>
                  <a:rPr lang="en-US" dirty="0"/>
                  <a:t> </a:t>
                </a:r>
                <a:r>
                  <a:rPr lang="en-US" dirty="0" err="1"/>
                  <a:t>периодические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Задача</a:t>
                </a:r>
                <a:r>
                  <a:rPr lang="en-US" dirty="0"/>
                  <a:t> A </a:t>
                </a:r>
                <a:r>
                  <a:rPr lang="en-US" dirty="0" err="1"/>
                  <a:t>выполняется</a:t>
                </a:r>
                <a:r>
                  <a:rPr lang="en-US" dirty="0"/>
                  <a:t> </a:t>
                </a:r>
                <a:r>
                  <a:rPr lang="en-US" dirty="0" err="1"/>
                  <a:t>каждые</a:t>
                </a:r>
                <a:r>
                  <a:rPr lang="en-US" dirty="0"/>
                  <a:t> 100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 и в </a:t>
                </a:r>
                <a:r>
                  <a:rPr lang="en-US" dirty="0" err="1"/>
                  <a:t>худшем</a:t>
                </a:r>
                <a:r>
                  <a:rPr lang="en-US" dirty="0"/>
                  <a:t> </a:t>
                </a:r>
                <a:r>
                  <a:rPr lang="en-US" dirty="0" err="1"/>
                  <a:t>случае</a:t>
                </a:r>
                <a:r>
                  <a:rPr lang="en-US" dirty="0"/>
                  <a:t> </a:t>
                </a:r>
                <a:r>
                  <a:rPr lang="en-US" dirty="0" err="1"/>
                  <a:t>требует</a:t>
                </a:r>
                <a:r>
                  <a:rPr lang="en-US" dirty="0"/>
                  <a:t> 50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 </a:t>
                </a:r>
                <a:r>
                  <a:rPr lang="en-US" dirty="0" err="1"/>
                  <a:t>процессорного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Это </a:t>
                </a:r>
                <a:r>
                  <a:rPr lang="en-US" dirty="0" err="1"/>
                  <a:t>означает</a:t>
                </a:r>
                <a:r>
                  <a:rPr lang="en-US" dirty="0"/>
                  <a:t>,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достаточно</a:t>
                </a:r>
                <a:r>
                  <a:rPr lang="en-US" dirty="0"/>
                  <a:t> </a:t>
                </a:r>
                <a:r>
                  <a:rPr lang="en-US" dirty="0" err="1"/>
                  <a:t>длинном</a:t>
                </a:r>
                <a:r>
                  <a:rPr lang="en-US" dirty="0"/>
                  <a:t> </a:t>
                </a:r>
                <a:r>
                  <a:rPr lang="en-US" dirty="0" err="1"/>
                  <a:t>интервале</a:t>
                </a:r>
                <a:r>
                  <a:rPr lang="en-US" dirty="0"/>
                  <a:t> </a:t>
                </a:r>
                <a:r>
                  <a:rPr lang="en-US" dirty="0" err="1"/>
                  <a:t>ей</a:t>
                </a:r>
                <a:r>
                  <a:rPr lang="en-US" dirty="0"/>
                  <a:t> </a:t>
                </a:r>
                <a:r>
                  <a:rPr lang="en-US" dirty="0" err="1"/>
                  <a:t>потребуется</a:t>
                </a:r>
                <a:r>
                  <a:rPr lang="en-US" dirty="0"/>
                  <a:t> </a:t>
                </a:r>
                <a:r>
                  <a:rPr lang="en-US" dirty="0" err="1"/>
                  <a:t>примерно</a:t>
                </a:r>
                <a:r>
                  <a:rPr lang="en-US" dirty="0"/>
                  <a:t> </a:t>
                </a:r>
                <a:r>
                  <a:rPr lang="en-US" dirty="0" err="1"/>
                  <a:t>половина</a:t>
                </a:r>
                <a:r>
                  <a:rPr lang="en-US" dirty="0"/>
                  <a:t> </a:t>
                </a:r>
                <a:r>
                  <a:rPr lang="en-US" dirty="0" err="1"/>
                  <a:t>доступного</a:t>
                </a:r>
                <a:r>
                  <a:rPr lang="en-US" dirty="0"/>
                  <a:t> CPU.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Задача</a:t>
                </a:r>
                <a:r>
                  <a:rPr lang="en-US" dirty="0"/>
                  <a:t> B </a:t>
                </a:r>
                <a:r>
                  <a:rPr lang="en-US" dirty="0" err="1"/>
                  <a:t>появляется</a:t>
                </a:r>
                <a:r>
                  <a:rPr lang="en-US" dirty="0"/>
                  <a:t> </a:t>
                </a:r>
                <a:r>
                  <a:rPr lang="en-US" dirty="0" err="1"/>
                  <a:t>каждые</a:t>
                </a:r>
                <a:r>
                  <a:rPr lang="en-US" dirty="0"/>
                  <a:t> 200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 и </a:t>
                </a:r>
                <a:r>
                  <a:rPr lang="en-US" dirty="0" err="1"/>
                  <a:t>требует</a:t>
                </a:r>
                <a:r>
                  <a:rPr lang="en-US" dirty="0"/>
                  <a:t> 30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 </a:t>
                </a:r>
                <a:r>
                  <a:rPr lang="en-US" dirty="0" err="1"/>
                  <a:t>вычислений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Её</a:t>
                </a:r>
                <a:r>
                  <a:rPr lang="en-US" dirty="0"/>
                  <a:t> </a:t>
                </a:r>
                <a:r>
                  <a:rPr lang="en-US" dirty="0" err="1"/>
                  <a:t>доля</a:t>
                </a:r>
                <a:r>
                  <a:rPr lang="en-US" dirty="0"/>
                  <a:t> </a:t>
                </a:r>
                <a:r>
                  <a:rPr lang="en-US" dirty="0" err="1"/>
                  <a:t>составляет</a:t>
                </a:r>
                <a:r>
                  <a:rPr lang="en-US" dirty="0"/>
                  <a:t> 30, </a:t>
                </a:r>
                <a:r>
                  <a:rPr lang="en-US" dirty="0" err="1"/>
                  <a:t>делённое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200, </a:t>
                </a:r>
                <a:r>
                  <a:rPr lang="en-US" dirty="0" err="1"/>
                  <a:t>то</a:t>
                </a:r>
                <a:r>
                  <a:rPr lang="en-US" dirty="0"/>
                  <a:t> </a:t>
                </a:r>
                <a:r>
                  <a:rPr lang="en-US" dirty="0" err="1"/>
                  <a:t>есть</a:t>
                </a:r>
                <a:r>
                  <a:rPr lang="en-US" dirty="0"/>
                  <a:t> 15%.</a:t>
                </a:r>
              </a:p>
              <a:p>
                <a:r>
                  <a:rPr lang="en-US" dirty="0" err="1"/>
                  <a:t>Наконец</a:t>
                </a:r>
                <a:r>
                  <a:rPr lang="en-US" dirty="0"/>
                  <a:t>, </a:t>
                </a:r>
                <a:r>
                  <a:rPr lang="en-US" dirty="0" err="1"/>
                  <a:t>задача</a:t>
                </a:r>
                <a:r>
                  <a:rPr lang="en-US" dirty="0"/>
                  <a:t> C </a:t>
                </a:r>
                <a:r>
                  <a:rPr lang="en-US" dirty="0" err="1"/>
                  <a:t>появляется</a:t>
                </a:r>
                <a:r>
                  <a:rPr lang="en-US" dirty="0"/>
                  <a:t> </a:t>
                </a:r>
                <a:r>
                  <a:rPr lang="en-US" dirty="0" err="1"/>
                  <a:t>каждые</a:t>
                </a:r>
                <a:r>
                  <a:rPr lang="en-US" dirty="0"/>
                  <a:t> 500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 и </a:t>
                </a:r>
                <a:r>
                  <a:rPr lang="en-US" dirty="0" err="1"/>
                  <a:t>требует</a:t>
                </a:r>
                <a:r>
                  <a:rPr lang="en-US" dirty="0"/>
                  <a:t> 100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 CPU.</a:t>
                </a:r>
              </a:p>
              <a:p>
                <a:r>
                  <a:rPr lang="en-US" dirty="0" err="1"/>
                  <a:t>Её</a:t>
                </a:r>
                <a:r>
                  <a:rPr lang="en-US" dirty="0"/>
                  <a:t> </a:t>
                </a:r>
                <a:r>
                  <a:rPr lang="en-US" dirty="0" err="1"/>
                  <a:t>доля</a:t>
                </a:r>
                <a:r>
                  <a:rPr lang="en-US" dirty="0"/>
                  <a:t> — 20%.</a:t>
                </a:r>
              </a:p>
              <a:p>
                <a:endParaRPr lang="ru-RU" dirty="0"/>
              </a:p>
              <a:p>
                <a:r>
                  <a:rPr lang="en-US" dirty="0" err="1"/>
                  <a:t>Теперь</a:t>
                </a:r>
                <a:r>
                  <a:rPr lang="en-US" dirty="0"/>
                  <a:t> </a:t>
                </a:r>
                <a:r>
                  <a:rPr lang="en-US" dirty="0" err="1"/>
                  <a:t>сложим</a:t>
                </a:r>
                <a:r>
                  <a:rPr lang="en-US" dirty="0"/>
                  <a:t> </a:t>
                </a:r>
                <a:r>
                  <a:rPr lang="en-US" dirty="0" err="1"/>
                  <a:t>требования</a:t>
                </a:r>
                <a:r>
                  <a:rPr lang="en-US" dirty="0"/>
                  <a:t> </a:t>
                </a:r>
                <a:r>
                  <a:rPr lang="en-US" dirty="0" err="1"/>
                  <a:t>всех</a:t>
                </a:r>
                <a:r>
                  <a:rPr lang="en-US" dirty="0"/>
                  <a:t> </a:t>
                </a:r>
                <a:r>
                  <a:rPr lang="en-US" dirty="0" err="1"/>
                  <a:t>задач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Получаем</a:t>
                </a:r>
                <a:r>
                  <a:rPr lang="en-US" dirty="0"/>
                  <a:t> 50% </a:t>
                </a:r>
                <a:r>
                  <a:rPr lang="en-US" dirty="0" err="1"/>
                  <a:t>плюс</a:t>
                </a:r>
                <a:r>
                  <a:rPr lang="en-US" dirty="0"/>
                  <a:t> 15% </a:t>
                </a:r>
                <a:r>
                  <a:rPr lang="en-US" dirty="0" err="1"/>
                  <a:t>плюс</a:t>
                </a:r>
                <a:r>
                  <a:rPr lang="en-US" dirty="0"/>
                  <a:t> 20%.</a:t>
                </a:r>
              </a:p>
              <a:p>
                <a:r>
                  <a:rPr lang="en-US" dirty="0" err="1"/>
                  <a:t>Итого</a:t>
                </a:r>
                <a:r>
                  <a:rPr lang="en-US" dirty="0"/>
                  <a:t> — 85% </a:t>
                </a:r>
                <a:r>
                  <a:rPr lang="en-US" dirty="0" err="1"/>
                  <a:t>процессорного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 err="1"/>
                  <a:t>Эта</a:t>
                </a:r>
                <a:r>
                  <a:rPr lang="en-US" dirty="0"/>
                  <a:t> </a:t>
                </a:r>
                <a:r>
                  <a:rPr lang="en-US" dirty="0" err="1"/>
                  <a:t>величина</a:t>
                </a:r>
                <a:r>
                  <a:rPr lang="en-US" dirty="0"/>
                  <a:t> </a:t>
                </a:r>
                <a:r>
                  <a:rPr lang="en-US" dirty="0" err="1"/>
                  <a:t>называется</a:t>
                </a:r>
                <a:r>
                  <a:rPr lang="en-US" dirty="0"/>
                  <a:t> </a:t>
                </a:r>
                <a:r>
                  <a:rPr lang="en-US" dirty="0" err="1"/>
                  <a:t>коэффициентом</a:t>
                </a:r>
                <a:r>
                  <a:rPr lang="en-US" dirty="0"/>
                  <a:t> </a:t>
                </a:r>
                <a:r>
                  <a:rPr lang="en-US" dirty="0" err="1"/>
                  <a:t>загрузки</a:t>
                </a:r>
                <a:r>
                  <a:rPr lang="en-US" dirty="0"/>
                  <a:t>, </a:t>
                </a:r>
                <a:r>
                  <a:rPr lang="en-US" dirty="0" err="1"/>
                  <a:t>или</a:t>
                </a:r>
                <a:r>
                  <a:rPr lang="en-US" dirty="0"/>
                  <a:t> Utilization.</a:t>
                </a:r>
              </a:p>
              <a:p>
                <a:r>
                  <a:rPr lang="en-US" dirty="0"/>
                  <a:t>В </a:t>
                </a:r>
                <a:r>
                  <a:rPr lang="en-US" dirty="0" err="1"/>
                  <a:t>нашем</a:t>
                </a:r>
                <a:r>
                  <a:rPr lang="en-US" dirty="0"/>
                  <a:t> </a:t>
                </a:r>
                <a:r>
                  <a:rPr lang="en-US" dirty="0" err="1"/>
                  <a:t>примере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 </a:t>
                </a:r>
                <a:r>
                  <a:rPr lang="en-US" dirty="0" err="1"/>
                  <a:t>суммарно</a:t>
                </a:r>
                <a:r>
                  <a:rPr lang="en-US" dirty="0"/>
                  <a:t> </a:t>
                </a:r>
                <a:r>
                  <a:rPr lang="en-US" dirty="0" err="1"/>
                  <a:t>требуют</a:t>
                </a:r>
                <a:r>
                  <a:rPr lang="en-US" dirty="0"/>
                  <a:t> 85% </a:t>
                </a:r>
                <a:r>
                  <a:rPr lang="en-US" dirty="0" err="1"/>
                  <a:t>вычислительной</a:t>
                </a:r>
                <a:r>
                  <a:rPr lang="en-US" dirty="0"/>
                  <a:t> </a:t>
                </a:r>
                <a:r>
                  <a:rPr lang="en-US" dirty="0" err="1"/>
                  <a:t>мощности</a:t>
                </a:r>
                <a:r>
                  <a:rPr lang="en-US" dirty="0"/>
                  <a:t> </a:t>
                </a:r>
                <a:r>
                  <a:rPr lang="en-US" dirty="0" err="1"/>
                  <a:t>одного</a:t>
                </a:r>
                <a:r>
                  <a:rPr lang="en-US" dirty="0"/>
                  <a:t> </a:t>
                </a:r>
                <a:r>
                  <a:rPr lang="en-US" dirty="0" err="1"/>
                  <a:t>процессора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Остаётся</a:t>
                </a:r>
                <a:r>
                  <a:rPr lang="en-US" dirty="0"/>
                  <a:t> 15% </a:t>
                </a:r>
                <a:r>
                  <a:rPr lang="en-US" dirty="0" err="1"/>
                  <a:t>времени</a:t>
                </a:r>
                <a:r>
                  <a:rPr lang="en-US" dirty="0"/>
                  <a:t>,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занятого</a:t>
                </a:r>
                <a:r>
                  <a:rPr lang="en-US" dirty="0"/>
                  <a:t> </a:t>
                </a:r>
                <a:r>
                  <a:rPr lang="en-US" dirty="0" err="1"/>
                  <a:t>предусмотренными</a:t>
                </a:r>
                <a:r>
                  <a:rPr lang="en-US" dirty="0"/>
                  <a:t> </a:t>
                </a:r>
                <a:r>
                  <a:rPr lang="en-US" dirty="0" err="1"/>
                  <a:t>вычислениями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 err="1"/>
                  <a:t>Но</a:t>
                </a:r>
                <a:r>
                  <a:rPr lang="en-US" dirty="0"/>
                  <a:t> </a:t>
                </a:r>
                <a:r>
                  <a:rPr lang="en-US" dirty="0" err="1"/>
                  <a:t>достаточно</a:t>
                </a:r>
                <a:r>
                  <a:rPr lang="en-US" dirty="0"/>
                  <a:t> </a:t>
                </a:r>
                <a:r>
                  <a:rPr lang="en-US" dirty="0" err="1"/>
                  <a:t>ли</a:t>
                </a:r>
                <a:r>
                  <a:rPr lang="en-US" dirty="0"/>
                  <a:t> </a:t>
                </a:r>
                <a:r>
                  <a:rPr lang="en-US" dirty="0" err="1"/>
                  <a:t>этого</a:t>
                </a:r>
                <a:r>
                  <a:rPr lang="en-US" dirty="0"/>
                  <a:t>, </a:t>
                </a:r>
                <a:r>
                  <a:rPr lang="en-US" dirty="0" err="1"/>
                  <a:t>чтобы</a:t>
                </a:r>
                <a:r>
                  <a:rPr lang="en-US" dirty="0"/>
                  <a:t> </a:t>
                </a:r>
                <a:r>
                  <a:rPr lang="en-US" dirty="0" err="1"/>
                  <a:t>утверждать</a:t>
                </a:r>
                <a:r>
                  <a:rPr lang="en-US" dirty="0"/>
                  <a:t>,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все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 </a:t>
                </a:r>
                <a:r>
                  <a:rPr lang="en-US" dirty="0" err="1"/>
                  <a:t>гарантированно</a:t>
                </a:r>
                <a:r>
                  <a:rPr lang="en-US" dirty="0"/>
                  <a:t> </a:t>
                </a:r>
                <a:r>
                  <a:rPr lang="en-US" dirty="0" err="1"/>
                  <a:t>выполнятся</a:t>
                </a:r>
                <a:r>
                  <a:rPr lang="en-US" dirty="0"/>
                  <a:t> к </a:t>
                </a:r>
                <a:r>
                  <a:rPr lang="en-US" dirty="0" err="1"/>
                  <a:t>своим</a:t>
                </a:r>
                <a:r>
                  <a:rPr lang="en-US" dirty="0"/>
                  <a:t> </a:t>
                </a:r>
                <a:r>
                  <a:rPr lang="en-US" dirty="0" err="1"/>
                  <a:t>дедлайнам</a:t>
                </a:r>
                <a:r>
                  <a:rPr lang="en-US" dirty="0"/>
                  <a:t>?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Ответ</a:t>
                </a:r>
                <a:r>
                  <a:rPr lang="en-US" dirty="0"/>
                  <a:t> </a:t>
                </a:r>
                <a:r>
                  <a:rPr lang="en-US" dirty="0" err="1"/>
                  <a:t>зависит</a:t>
                </a:r>
                <a:r>
                  <a:rPr lang="en-US" dirty="0"/>
                  <a:t> </a:t>
                </a:r>
                <a:r>
                  <a:rPr lang="en-US" dirty="0" err="1"/>
                  <a:t>от</a:t>
                </a:r>
                <a:r>
                  <a:rPr lang="en-US" dirty="0"/>
                  <a:t> </a:t>
                </a:r>
                <a:r>
                  <a:rPr lang="en-US" dirty="0" err="1"/>
                  <a:t>используемого</a:t>
                </a:r>
                <a:r>
                  <a:rPr lang="en-US" dirty="0"/>
                  <a:t> </a:t>
                </a:r>
                <a:r>
                  <a:rPr lang="en-US" dirty="0" err="1"/>
                  <a:t>алгоритма</a:t>
                </a:r>
                <a:r>
                  <a:rPr lang="en-US" dirty="0"/>
                  <a:t> </a:t>
                </a:r>
                <a:r>
                  <a:rPr lang="en-US" dirty="0" err="1"/>
                  <a:t>планирования</a:t>
                </a:r>
                <a:r>
                  <a:rPr lang="en-US" dirty="0"/>
                  <a:t> и </a:t>
                </a:r>
                <a:r>
                  <a:rPr lang="en-US" dirty="0" err="1"/>
                  <a:t>модели</a:t>
                </a:r>
                <a:r>
                  <a:rPr lang="en-US" dirty="0"/>
                  <a:t> </a:t>
                </a:r>
                <a:r>
                  <a:rPr lang="en-US" dirty="0" err="1"/>
                  <a:t>задач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 err="1"/>
                  <a:t>Для</a:t>
                </a:r>
                <a:r>
                  <a:rPr lang="en-US" dirty="0"/>
                  <a:t> EDF </a:t>
                </a:r>
                <a:r>
                  <a:rPr lang="en-US" dirty="0" err="1"/>
                  <a:t>существует</a:t>
                </a:r>
                <a:r>
                  <a:rPr lang="en-US" dirty="0"/>
                  <a:t> </a:t>
                </a:r>
                <a:r>
                  <a:rPr lang="en-US" dirty="0" err="1"/>
                  <a:t>важный</a:t>
                </a:r>
                <a:r>
                  <a:rPr lang="en-US" dirty="0"/>
                  <a:t> </a:t>
                </a:r>
                <a:r>
                  <a:rPr lang="en-US" dirty="0" err="1"/>
                  <a:t>теоретический</a:t>
                </a:r>
                <a:r>
                  <a:rPr lang="en-US" dirty="0"/>
                  <a:t> </a:t>
                </a:r>
                <a:r>
                  <a:rPr lang="en-US" dirty="0" err="1"/>
                  <a:t>результат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Если</a:t>
                </a:r>
                <a:r>
                  <a:rPr lang="en-US" dirty="0"/>
                  <a:t> у </a:t>
                </a:r>
                <a:r>
                  <a:rPr lang="en-US" dirty="0" err="1"/>
                  <a:t>нас</a:t>
                </a:r>
                <a:r>
                  <a:rPr lang="en-US" dirty="0"/>
                  <a:t> </a:t>
                </a:r>
                <a:r>
                  <a:rPr lang="en-US" dirty="0" err="1"/>
                  <a:t>один</a:t>
                </a:r>
                <a:r>
                  <a:rPr lang="en-US" dirty="0"/>
                  <a:t> </a:t>
                </a:r>
                <a:r>
                  <a:rPr lang="en-US" dirty="0" err="1"/>
                  <a:t>процессор</a:t>
                </a:r>
                <a:r>
                  <a:rPr lang="en-US" dirty="0"/>
                  <a:t>, </a:t>
                </a:r>
                <a:r>
                  <a:rPr lang="en-US" dirty="0" err="1"/>
                  <a:t>задачи</a:t>
                </a:r>
                <a:r>
                  <a:rPr lang="en-US" dirty="0"/>
                  <a:t> </a:t>
                </a:r>
                <a:r>
                  <a:rPr lang="en-US" dirty="0" err="1"/>
                  <a:t>независимы</a:t>
                </a:r>
                <a:r>
                  <a:rPr lang="en-US" dirty="0"/>
                  <a:t>, </a:t>
                </a:r>
                <a:r>
                  <a:rPr lang="en-US" dirty="0" err="1"/>
                  <a:t>допускают</a:t>
                </a:r>
                <a:r>
                  <a:rPr lang="en-US" dirty="0"/>
                  <a:t> </a:t>
                </a:r>
                <a:r>
                  <a:rPr lang="en-US" dirty="0" err="1"/>
                  <a:t>вытеснение</a:t>
                </a:r>
                <a:r>
                  <a:rPr lang="en-US" dirty="0"/>
                  <a:t>, </a:t>
                </a:r>
                <a:r>
                  <a:rPr lang="en-US" dirty="0" err="1"/>
                  <a:t>их</a:t>
                </a:r>
                <a:r>
                  <a:rPr lang="en-US" dirty="0"/>
                  <a:t> WCET </a:t>
                </a:r>
                <a:r>
                  <a:rPr lang="en-US" dirty="0" err="1"/>
                  <a:t>известны</a:t>
                </a:r>
                <a:r>
                  <a:rPr lang="en-US" dirty="0"/>
                  <a:t>, а </a:t>
                </a:r>
                <a:r>
                  <a:rPr lang="en-US" dirty="0" err="1"/>
                  <a:t>дедлайн</a:t>
                </a:r>
                <a:r>
                  <a:rPr lang="en-US" dirty="0"/>
                  <a:t> </a:t>
                </a:r>
                <a:r>
                  <a:rPr lang="en-US" dirty="0" err="1"/>
                  <a:t>каждого</a:t>
                </a:r>
                <a:r>
                  <a:rPr lang="en-US" dirty="0"/>
                  <a:t> </a:t>
                </a:r>
                <a:r>
                  <a:rPr lang="en-US" dirty="0" err="1"/>
                  <a:t>экземпляра</a:t>
                </a:r>
                <a:r>
                  <a:rPr lang="en-US" dirty="0"/>
                  <a:t> </a:t>
                </a:r>
                <a:r>
                  <a:rPr lang="en-US" dirty="0" err="1"/>
                  <a:t>совпадает</a:t>
                </a:r>
                <a:r>
                  <a:rPr lang="en-US" dirty="0"/>
                  <a:t> с </a:t>
                </a:r>
                <a:r>
                  <a:rPr lang="en-US" dirty="0" err="1"/>
                  <a:t>концом</a:t>
                </a:r>
                <a:r>
                  <a:rPr lang="en-US" dirty="0"/>
                  <a:t> </a:t>
                </a:r>
                <a:r>
                  <a:rPr lang="en-US" dirty="0" err="1"/>
                  <a:t>его</a:t>
                </a:r>
                <a:r>
                  <a:rPr lang="en-US" dirty="0"/>
                  <a:t> </a:t>
                </a:r>
                <a:r>
                  <a:rPr lang="en-US" dirty="0" err="1"/>
                  <a:t>периода</a:t>
                </a:r>
                <a:r>
                  <a:rPr lang="en-US" dirty="0"/>
                  <a:t>, </a:t>
                </a:r>
                <a:r>
                  <a:rPr lang="en-US" dirty="0" err="1"/>
                  <a:t>то</a:t>
                </a:r>
                <a:r>
                  <a:rPr lang="en-US" dirty="0"/>
                  <a:t> </a:t>
                </a:r>
                <a:r>
                  <a:rPr lang="en-US" dirty="0" err="1"/>
                  <a:t>условие</a:t>
                </a:r>
                <a:r>
                  <a:rPr lang="en-US" dirty="0"/>
                  <a:t> </a:t>
                </a:r>
                <a:r>
                  <a:rPr lang="en-US" dirty="0" err="1"/>
                  <a:t>суммарной</a:t>
                </a:r>
                <a:r>
                  <a:rPr lang="en-US" dirty="0"/>
                  <a:t> </a:t>
                </a:r>
                <a:r>
                  <a:rPr lang="en-US" dirty="0" err="1"/>
                  <a:t>загрузки</a:t>
                </a:r>
                <a:r>
                  <a:rPr lang="en-US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более</a:t>
                </a:r>
                <a:r>
                  <a:rPr lang="en-US" dirty="0"/>
                  <a:t> </a:t>
                </a:r>
                <a:r>
                  <a:rPr lang="en-US" dirty="0" err="1"/>
                  <a:t>единицы</a:t>
                </a:r>
                <a:r>
                  <a:rPr lang="en-US" dirty="0"/>
                  <a:t> </a:t>
                </a:r>
                <a:r>
                  <a:rPr lang="en-US" dirty="0" err="1"/>
                  <a:t>является</a:t>
                </a:r>
                <a:r>
                  <a:rPr lang="en-US" dirty="0"/>
                  <a:t> </a:t>
                </a:r>
                <a:r>
                  <a:rPr lang="en-US" dirty="0" err="1"/>
                  <a:t>необходимым</a:t>
                </a:r>
                <a:r>
                  <a:rPr lang="en-US" dirty="0"/>
                  <a:t> и </a:t>
                </a:r>
                <a:r>
                  <a:rPr lang="en-US" dirty="0" err="1"/>
                  <a:t>достаточным</a:t>
                </a:r>
                <a:r>
                  <a:rPr lang="en-US" dirty="0"/>
                  <a:t> </a:t>
                </a:r>
                <a:r>
                  <a:rPr lang="en-US" dirty="0" err="1"/>
                  <a:t>критерием</a:t>
                </a:r>
                <a:r>
                  <a:rPr lang="en-US" dirty="0"/>
                  <a:t> </a:t>
                </a:r>
                <a:r>
                  <a:rPr lang="en-US" dirty="0" err="1"/>
                  <a:t>планируемости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 err="1"/>
                  <a:t>Мы</a:t>
                </a:r>
                <a:r>
                  <a:rPr lang="en-US" dirty="0"/>
                  <a:t> </a:t>
                </a:r>
                <a:r>
                  <a:rPr lang="en-US" dirty="0" err="1"/>
                  <a:t>также</a:t>
                </a:r>
                <a:r>
                  <a:rPr lang="en-US" dirty="0"/>
                  <a:t> </a:t>
                </a:r>
                <a:r>
                  <a:rPr lang="en-US" dirty="0" err="1"/>
                  <a:t>пренебрегаем</a:t>
                </a:r>
                <a:r>
                  <a:rPr lang="en-US" dirty="0"/>
                  <a:t> </a:t>
                </a:r>
                <a:r>
                  <a:rPr lang="en-US" dirty="0" err="1"/>
                  <a:t>затратами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переключение</a:t>
                </a:r>
                <a:r>
                  <a:rPr lang="en-US" dirty="0"/>
                  <a:t> </a:t>
                </a:r>
                <a:r>
                  <a:rPr lang="en-US" dirty="0" err="1"/>
                  <a:t>контекста</a:t>
                </a:r>
                <a:r>
                  <a:rPr lang="en-US" dirty="0"/>
                  <a:t> и </a:t>
                </a:r>
                <a:r>
                  <a:rPr lang="en-US" dirty="0" err="1"/>
                  <a:t>другими</a:t>
                </a:r>
                <a:r>
                  <a:rPr lang="en-US" dirty="0"/>
                  <a:t> </a:t>
                </a:r>
                <a:r>
                  <a:rPr lang="en-US" dirty="0" err="1"/>
                  <a:t>дополнительными</a:t>
                </a:r>
                <a:r>
                  <a:rPr lang="en-US" dirty="0"/>
                  <a:t> </a:t>
                </a:r>
                <a:r>
                  <a:rPr lang="en-US" dirty="0" err="1"/>
                  <a:t>задержками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В </a:t>
                </a:r>
                <a:r>
                  <a:rPr lang="en-US" dirty="0" err="1"/>
                  <a:t>такой</a:t>
                </a:r>
                <a:r>
                  <a:rPr lang="en-US" dirty="0"/>
                  <a:t> </a:t>
                </a:r>
                <a:r>
                  <a:rPr lang="en-US" dirty="0" err="1"/>
                  <a:t>модели</a:t>
                </a:r>
                <a:r>
                  <a:rPr lang="en-US" dirty="0"/>
                  <a:t> </a:t>
                </a:r>
                <a:r>
                  <a:rPr lang="en-US" dirty="0" err="1"/>
                  <a:t>при</a:t>
                </a:r>
                <a:r>
                  <a:rPr lang="en-US" dirty="0"/>
                  <a:t> </a:t>
                </a:r>
                <a:r>
                  <a:rPr lang="en-US" dirty="0" err="1"/>
                  <a:t>загрузке</a:t>
                </a:r>
                <a:r>
                  <a:rPr lang="en-US" dirty="0"/>
                  <a:t> 85% EDF </a:t>
                </a:r>
                <a:r>
                  <a:rPr lang="en-US" dirty="0" err="1"/>
                  <a:t>способен</a:t>
                </a:r>
                <a:r>
                  <a:rPr lang="en-US" dirty="0"/>
                  <a:t> </a:t>
                </a:r>
                <a:r>
                  <a:rPr lang="en-US" dirty="0" err="1"/>
                  <a:t>обеспечить</a:t>
                </a:r>
                <a:r>
                  <a:rPr lang="en-US" dirty="0"/>
                  <a:t> </a:t>
                </a:r>
                <a:r>
                  <a:rPr lang="en-US" dirty="0" err="1"/>
                  <a:t>соблюдение</a:t>
                </a:r>
                <a:r>
                  <a:rPr lang="en-US" dirty="0"/>
                  <a:t> </a:t>
                </a:r>
                <a:r>
                  <a:rPr lang="en-US" dirty="0" err="1"/>
                  <a:t>всех</a:t>
                </a:r>
                <a:r>
                  <a:rPr lang="en-US" dirty="0"/>
                  <a:t> </a:t>
                </a:r>
                <a:r>
                  <a:rPr lang="en-US" dirty="0" err="1"/>
                  <a:t>дедлайнов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/>
                  <a:t>А </a:t>
                </a:r>
                <a:r>
                  <a:rPr lang="en-US" dirty="0" err="1"/>
                  <a:t>вот</a:t>
                </a:r>
                <a:r>
                  <a:rPr lang="en-US" dirty="0"/>
                  <a:t> </a:t>
                </a:r>
                <a:r>
                  <a:rPr lang="en-US" dirty="0" err="1"/>
                  <a:t>для</a:t>
                </a:r>
                <a:r>
                  <a:rPr lang="en-US" dirty="0"/>
                  <a:t> Rate Monotonic </a:t>
                </a:r>
                <a:r>
                  <a:rPr lang="en-US" dirty="0" err="1"/>
                  <a:t>ситуация</a:t>
                </a:r>
                <a:r>
                  <a:rPr lang="en-US" dirty="0"/>
                  <a:t> </a:t>
                </a:r>
                <a:r>
                  <a:rPr lang="en-US" dirty="0" err="1"/>
                  <a:t>другая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Даже</a:t>
                </a:r>
                <a:r>
                  <a:rPr lang="en-US" dirty="0"/>
                  <a:t> </a:t>
                </a:r>
                <a:r>
                  <a:rPr lang="en-US" dirty="0" err="1"/>
                  <a:t>если</a:t>
                </a:r>
                <a:r>
                  <a:rPr lang="en-US" dirty="0"/>
                  <a:t> </a:t>
                </a:r>
                <a:r>
                  <a:rPr lang="en-US" dirty="0" err="1"/>
                  <a:t>суммарная</a:t>
                </a:r>
                <a:r>
                  <a:rPr lang="en-US" dirty="0"/>
                  <a:t> </a:t>
                </a:r>
                <a:r>
                  <a:rPr lang="en-US" dirty="0" err="1"/>
                  <a:t>загрузка</a:t>
                </a:r>
                <a:r>
                  <a:rPr lang="en-US" dirty="0"/>
                  <a:t> </a:t>
                </a:r>
                <a:r>
                  <a:rPr lang="en-US" dirty="0" err="1"/>
                  <a:t>меньше</a:t>
                </a:r>
                <a:r>
                  <a:rPr lang="en-US" dirty="0"/>
                  <a:t> 100%, </a:t>
                </a:r>
                <a:r>
                  <a:rPr lang="en-US" dirty="0" err="1"/>
                  <a:t>задача</a:t>
                </a:r>
                <a:r>
                  <a:rPr lang="en-US" dirty="0"/>
                  <a:t> с </a:t>
                </a:r>
                <a:r>
                  <a:rPr lang="en-US" dirty="0" err="1"/>
                  <a:t>низким</a:t>
                </a:r>
                <a:r>
                  <a:rPr lang="en-US" dirty="0"/>
                  <a:t> </a:t>
                </a:r>
                <a:r>
                  <a:rPr lang="en-US" dirty="0" err="1"/>
                  <a:t>приоритетом</a:t>
                </a:r>
                <a:r>
                  <a:rPr lang="en-US" dirty="0"/>
                  <a:t> </a:t>
                </a:r>
                <a:r>
                  <a:rPr lang="en-US" dirty="0" err="1"/>
                  <a:t>может</a:t>
                </a:r>
                <a:r>
                  <a:rPr lang="en-US" dirty="0"/>
                  <a:t> </a:t>
                </a:r>
                <a:r>
                  <a:rPr lang="en-US" dirty="0" err="1"/>
                  <a:t>неоднократно</a:t>
                </a:r>
                <a:r>
                  <a:rPr lang="en-US" dirty="0"/>
                  <a:t> </a:t>
                </a:r>
                <a:r>
                  <a:rPr lang="en-US" dirty="0" err="1"/>
                  <a:t>вытесняться</a:t>
                </a:r>
                <a:r>
                  <a:rPr lang="en-US" dirty="0"/>
                  <a:t> и </a:t>
                </a:r>
                <a:r>
                  <a:rPr lang="en-US" dirty="0" err="1"/>
                  <a:t>пропустить</a:t>
                </a:r>
                <a:r>
                  <a:rPr lang="en-US" dirty="0"/>
                  <a:t> </a:t>
                </a:r>
                <a:r>
                  <a:rPr lang="en-US" dirty="0" err="1"/>
                  <a:t>свой</a:t>
                </a:r>
                <a:r>
                  <a:rPr lang="en-US" dirty="0"/>
                  <a:t> </a:t>
                </a:r>
                <a:r>
                  <a:rPr lang="en-US" dirty="0" err="1"/>
                  <a:t>дедлайн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Для</a:t>
                </a:r>
                <a:r>
                  <a:rPr lang="en-US" dirty="0"/>
                  <a:t> Rate Monotonic </a:t>
                </a:r>
                <a:r>
                  <a:rPr lang="en-US" dirty="0" err="1"/>
                  <a:t>существует</a:t>
                </a:r>
                <a:r>
                  <a:rPr lang="en-US" dirty="0"/>
                  <a:t> </a:t>
                </a:r>
                <a:r>
                  <a:rPr lang="en-US" dirty="0" err="1"/>
                  <a:t>классическая</a:t>
                </a:r>
                <a:r>
                  <a:rPr lang="en-US" dirty="0"/>
                  <a:t> </a:t>
                </a:r>
                <a:r>
                  <a:rPr lang="en-US" dirty="0" err="1"/>
                  <a:t>достаточная</a:t>
                </a:r>
                <a:r>
                  <a:rPr lang="en-US" dirty="0"/>
                  <a:t> </a:t>
                </a:r>
                <a:r>
                  <a:rPr lang="en-US" dirty="0" err="1"/>
                  <a:t>оценка</a:t>
                </a:r>
                <a:r>
                  <a:rPr lang="en-US" dirty="0"/>
                  <a:t> </a:t>
                </a:r>
                <a:r>
                  <a:rPr lang="en-US" dirty="0" err="1"/>
                  <a:t>загрузки</a:t>
                </a:r>
                <a:r>
                  <a:rPr lang="en-US" dirty="0"/>
                  <a:t>:</a:t>
                </a:r>
              </a:p>
              <a:p>
                <a:r>
                  <a:rPr lang="en-US" i="0" dirty="0">
                    <a:latin typeface="Cambria Math" panose="02040503050406030204" pitchFamily="18" charset="0"/>
                  </a:rPr>
                  <a:t>𝑈≤𝑛(2^(1/𝑛)−1)</a:t>
                </a:r>
                <a:endParaRPr lang="en-US" dirty="0"/>
              </a:p>
              <a:p>
                <a:r>
                  <a:rPr lang="ru-RU" dirty="0"/>
                  <a:t>г</a:t>
                </a:r>
                <a:r>
                  <a:rPr lang="en-US" dirty="0" err="1"/>
                  <a:t>де</a:t>
                </a:r>
                <a:r>
                  <a:rPr lang="ru-RU" dirty="0"/>
                  <a:t> </a:t>
                </a:r>
                <a:r>
                  <a:rPr lang="en-US" i="0">
                    <a:latin typeface="Cambria Math" panose="02040503050406030204" pitchFamily="18" charset="0"/>
                  </a:rPr>
                  <a:t>𝑛</a:t>
                </a:r>
                <a:r>
                  <a:rPr lang="en-US" dirty="0"/>
                  <a:t> — </a:t>
                </a:r>
                <a:r>
                  <a:rPr lang="en-US" dirty="0" err="1"/>
                  <a:t>количество</a:t>
                </a:r>
                <a:r>
                  <a:rPr lang="en-US" dirty="0"/>
                  <a:t> </a:t>
                </a:r>
                <a:r>
                  <a:rPr lang="en-US" dirty="0" err="1"/>
                  <a:t>периодических</a:t>
                </a:r>
                <a:r>
                  <a:rPr lang="en-US" dirty="0"/>
                  <a:t> </a:t>
                </a:r>
                <a:r>
                  <a:rPr lang="en-US" dirty="0" err="1"/>
                  <a:t>задач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 err="1"/>
                  <a:t>Например</a:t>
                </a:r>
                <a:r>
                  <a:rPr lang="en-US" dirty="0"/>
                  <a:t>, </a:t>
                </a:r>
                <a:r>
                  <a:rPr lang="en-US" dirty="0" err="1"/>
                  <a:t>для</a:t>
                </a:r>
                <a:r>
                  <a:rPr lang="en-US" dirty="0"/>
                  <a:t> </a:t>
                </a:r>
                <a:r>
                  <a:rPr lang="en-US" dirty="0" err="1"/>
                  <a:t>трёх</a:t>
                </a:r>
                <a:r>
                  <a:rPr lang="en-US" dirty="0"/>
                  <a:t> </a:t>
                </a:r>
                <a:r>
                  <a:rPr lang="en-US" dirty="0" err="1"/>
                  <a:t>задач</a:t>
                </a:r>
                <a:r>
                  <a:rPr lang="en-US" dirty="0"/>
                  <a:t> </a:t>
                </a:r>
                <a:r>
                  <a:rPr lang="en-US" dirty="0" err="1"/>
                  <a:t>эта</a:t>
                </a:r>
                <a:r>
                  <a:rPr lang="en-US" dirty="0"/>
                  <a:t> </a:t>
                </a:r>
                <a:r>
                  <a:rPr lang="en-US" dirty="0" err="1"/>
                  <a:t>граница</a:t>
                </a:r>
                <a:r>
                  <a:rPr lang="en-US" dirty="0"/>
                  <a:t> </a:t>
                </a:r>
                <a:r>
                  <a:rPr lang="en-US" dirty="0" err="1"/>
                  <a:t>составляет</a:t>
                </a:r>
                <a:r>
                  <a:rPr lang="en-US" dirty="0"/>
                  <a:t> </a:t>
                </a:r>
                <a:r>
                  <a:rPr lang="en-US" dirty="0" err="1"/>
                  <a:t>приблизительно</a:t>
                </a:r>
                <a:r>
                  <a:rPr lang="en-US" dirty="0"/>
                  <a:t> 0,78.</a:t>
                </a:r>
              </a:p>
              <a:p>
                <a:endParaRPr lang="ru-RU" dirty="0"/>
              </a:p>
              <a:p>
                <a:r>
                  <a:rPr lang="en-US" dirty="0"/>
                  <a:t>Это </a:t>
                </a:r>
                <a:r>
                  <a:rPr lang="en-US" dirty="0" err="1"/>
                  <a:t>означает</a:t>
                </a:r>
                <a:r>
                  <a:rPr lang="en-US" dirty="0"/>
                  <a:t>,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если</a:t>
                </a:r>
                <a:r>
                  <a:rPr lang="en-US" dirty="0"/>
                  <a:t> </a:t>
                </a:r>
                <a:r>
                  <a:rPr lang="en-US" dirty="0" err="1"/>
                  <a:t>загрузка</a:t>
                </a:r>
                <a:r>
                  <a:rPr lang="en-US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превышает</a:t>
                </a:r>
                <a:r>
                  <a:rPr lang="en-US" dirty="0"/>
                  <a:t> </a:t>
                </a:r>
                <a:r>
                  <a:rPr lang="en-US" dirty="0" err="1"/>
                  <a:t>эту</a:t>
                </a:r>
                <a:r>
                  <a:rPr lang="en-US" dirty="0"/>
                  <a:t> </a:t>
                </a:r>
                <a:r>
                  <a:rPr lang="en-US" dirty="0" err="1"/>
                  <a:t>величину</a:t>
                </a:r>
                <a:r>
                  <a:rPr lang="en-US" dirty="0"/>
                  <a:t> и </a:t>
                </a:r>
                <a:r>
                  <a:rPr lang="en-US" dirty="0" err="1"/>
                  <a:t>выполняются</a:t>
                </a:r>
                <a:r>
                  <a:rPr lang="en-US" dirty="0"/>
                  <a:t> </a:t>
                </a:r>
                <a:r>
                  <a:rPr lang="en-US" dirty="0" err="1"/>
                  <a:t>условия</a:t>
                </a:r>
                <a:r>
                  <a:rPr lang="en-US" dirty="0"/>
                  <a:t> </a:t>
                </a:r>
                <a:r>
                  <a:rPr lang="en-US" dirty="0" err="1"/>
                  <a:t>классической</a:t>
                </a:r>
                <a:r>
                  <a:rPr lang="en-US" dirty="0"/>
                  <a:t> </a:t>
                </a:r>
                <a:r>
                  <a:rPr lang="en-US" dirty="0" err="1"/>
                  <a:t>модели</a:t>
                </a:r>
                <a:r>
                  <a:rPr lang="en-US" dirty="0"/>
                  <a:t> RM, </a:t>
                </a:r>
                <a:r>
                  <a:rPr lang="en-US" dirty="0" err="1"/>
                  <a:t>мы</a:t>
                </a:r>
                <a:r>
                  <a:rPr lang="en-US" dirty="0"/>
                  <a:t> </a:t>
                </a:r>
                <a:r>
                  <a:rPr lang="en-US" dirty="0" err="1"/>
                  <a:t>можем</a:t>
                </a:r>
                <a:r>
                  <a:rPr lang="en-US" dirty="0"/>
                  <a:t> </a:t>
                </a:r>
                <a:r>
                  <a:rPr lang="en-US" dirty="0" err="1"/>
                  <a:t>гарантировать</a:t>
                </a:r>
                <a:r>
                  <a:rPr lang="en-US" dirty="0"/>
                  <a:t> </a:t>
                </a:r>
                <a:r>
                  <a:rPr lang="en-US" dirty="0" err="1"/>
                  <a:t>соблюдение</a:t>
                </a:r>
                <a:r>
                  <a:rPr lang="en-US" dirty="0"/>
                  <a:t> </a:t>
                </a:r>
                <a:r>
                  <a:rPr lang="en-US" dirty="0" err="1"/>
                  <a:t>дедлайнов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Но</a:t>
                </a:r>
                <a:r>
                  <a:rPr lang="en-US" dirty="0"/>
                  <a:t> </a:t>
                </a:r>
                <a:r>
                  <a:rPr lang="en-US" dirty="0" err="1"/>
                  <a:t>если</a:t>
                </a:r>
                <a:r>
                  <a:rPr lang="en-US" dirty="0"/>
                  <a:t> </a:t>
                </a:r>
                <a:r>
                  <a:rPr lang="en-US" dirty="0" err="1"/>
                  <a:t>загрузка</a:t>
                </a:r>
                <a:r>
                  <a:rPr lang="en-US" dirty="0"/>
                  <a:t> </a:t>
                </a:r>
                <a:r>
                  <a:rPr lang="en-US" dirty="0" err="1"/>
                  <a:t>превышает</a:t>
                </a:r>
                <a:r>
                  <a:rPr lang="en-US" dirty="0"/>
                  <a:t> </a:t>
                </a:r>
                <a:r>
                  <a:rPr lang="en-US" dirty="0" err="1"/>
                  <a:t>границу</a:t>
                </a:r>
                <a:r>
                  <a:rPr lang="en-US" dirty="0"/>
                  <a:t>, </a:t>
                </a:r>
                <a:r>
                  <a:rPr lang="en-US" dirty="0" err="1"/>
                  <a:t>это</a:t>
                </a:r>
                <a:r>
                  <a:rPr lang="en-US" dirty="0"/>
                  <a:t> </a:t>
                </a:r>
                <a:r>
                  <a:rPr lang="en-US" dirty="0" err="1"/>
                  <a:t>ещё</a:t>
                </a:r>
                <a:r>
                  <a:rPr lang="en-US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означает</a:t>
                </a:r>
                <a:r>
                  <a:rPr lang="en-US" dirty="0"/>
                  <a:t>,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система</a:t>
                </a:r>
                <a:r>
                  <a:rPr lang="en-US" dirty="0"/>
                  <a:t> </a:t>
                </a:r>
                <a:r>
                  <a:rPr lang="en-US" dirty="0" err="1"/>
                  <a:t>обязательно</a:t>
                </a:r>
                <a:r>
                  <a:rPr lang="en-US" dirty="0"/>
                  <a:t> </a:t>
                </a:r>
                <a:r>
                  <a:rPr lang="en-US" dirty="0" err="1"/>
                  <a:t>нарушит</a:t>
                </a:r>
                <a:r>
                  <a:rPr lang="en-US" dirty="0"/>
                  <a:t> </a:t>
                </a:r>
                <a:r>
                  <a:rPr lang="en-US" dirty="0" err="1"/>
                  <a:t>дедлайны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 err="1"/>
                  <a:t>Наш</a:t>
                </a:r>
                <a:r>
                  <a:rPr lang="en-US" dirty="0"/>
                  <a:t> </a:t>
                </a:r>
                <a:r>
                  <a:rPr lang="en-US" dirty="0" err="1"/>
                  <a:t>пример</a:t>
                </a:r>
                <a:r>
                  <a:rPr lang="en-US" dirty="0"/>
                  <a:t> с </a:t>
                </a:r>
                <a:r>
                  <a:rPr lang="en-US" dirty="0" err="1"/>
                  <a:t>загрузкой</a:t>
                </a:r>
                <a:r>
                  <a:rPr lang="en-US" dirty="0"/>
                  <a:t> 85% </a:t>
                </a:r>
                <a:r>
                  <a:rPr lang="en-US" dirty="0" err="1"/>
                  <a:t>выходит</a:t>
                </a:r>
                <a:r>
                  <a:rPr lang="en-US" dirty="0"/>
                  <a:t> </a:t>
                </a:r>
                <a:r>
                  <a:rPr lang="en-US" dirty="0" err="1"/>
                  <a:t>за</a:t>
                </a:r>
                <a:r>
                  <a:rPr lang="en-US" dirty="0"/>
                  <a:t> </a:t>
                </a:r>
                <a:r>
                  <a:rPr lang="en-US" dirty="0" err="1"/>
                  <a:t>пределы</a:t>
                </a:r>
                <a:r>
                  <a:rPr lang="en-US" dirty="0"/>
                  <a:t> </a:t>
                </a:r>
                <a:r>
                  <a:rPr lang="en-US" dirty="0" err="1"/>
                  <a:t>простой</a:t>
                </a:r>
                <a:r>
                  <a:rPr lang="en-US" dirty="0"/>
                  <a:t> </a:t>
                </a:r>
                <a:r>
                  <a:rPr lang="en-US" dirty="0" err="1"/>
                  <a:t>достаточной</a:t>
                </a:r>
                <a:r>
                  <a:rPr lang="en-US" dirty="0"/>
                  <a:t> </a:t>
                </a:r>
                <a:r>
                  <a:rPr lang="en-US" dirty="0" err="1"/>
                  <a:t>оценки</a:t>
                </a:r>
                <a:r>
                  <a:rPr lang="en-US" dirty="0"/>
                  <a:t> RM. </a:t>
                </a:r>
                <a:r>
                  <a:rPr lang="en-US" dirty="0" err="1"/>
                  <a:t>Однако</a:t>
                </a:r>
                <a:r>
                  <a:rPr lang="en-US" dirty="0"/>
                  <a:t> </a:t>
                </a:r>
                <a:r>
                  <a:rPr lang="en-US" dirty="0" err="1"/>
                  <a:t>такой</a:t>
                </a:r>
                <a:r>
                  <a:rPr lang="en-US" dirty="0"/>
                  <a:t> </a:t>
                </a:r>
                <a:r>
                  <a:rPr lang="en-US" dirty="0" err="1"/>
                  <a:t>набор</a:t>
                </a:r>
                <a:r>
                  <a:rPr lang="en-US" dirty="0"/>
                  <a:t> </a:t>
                </a:r>
                <a:r>
                  <a:rPr lang="en-US" dirty="0" err="1"/>
                  <a:t>задач</a:t>
                </a:r>
                <a:r>
                  <a:rPr lang="en-US" dirty="0"/>
                  <a:t> </a:t>
                </a:r>
                <a:r>
                  <a:rPr lang="en-US" dirty="0" err="1"/>
                  <a:t>может</a:t>
                </a:r>
                <a:r>
                  <a:rPr lang="en-US" dirty="0"/>
                  <a:t> </a:t>
                </a:r>
                <a:r>
                  <a:rPr lang="en-US" dirty="0" err="1"/>
                  <a:t>оказаться</a:t>
                </a:r>
                <a:r>
                  <a:rPr lang="en-US" dirty="0"/>
                  <a:t> </a:t>
                </a:r>
                <a:r>
                  <a:rPr lang="en-US" dirty="0" err="1"/>
                  <a:t>планируемым</a:t>
                </a:r>
                <a:r>
                  <a:rPr lang="en-US" dirty="0"/>
                  <a:t> — </a:t>
                </a:r>
                <a:r>
                  <a:rPr lang="en-US" dirty="0" err="1"/>
                  <a:t>для</a:t>
                </a:r>
                <a:r>
                  <a:rPr lang="en-US" dirty="0"/>
                  <a:t> </a:t>
                </a:r>
                <a:r>
                  <a:rPr lang="en-US" dirty="0" err="1"/>
                  <a:t>окончательного</a:t>
                </a:r>
                <a:r>
                  <a:rPr lang="en-US" dirty="0"/>
                  <a:t> </a:t>
                </a:r>
                <a:r>
                  <a:rPr lang="en-US" dirty="0" err="1"/>
                  <a:t>вывода</a:t>
                </a:r>
                <a:r>
                  <a:rPr lang="en-US" dirty="0"/>
                  <a:t> </a:t>
                </a:r>
                <a:r>
                  <a:rPr lang="en-US" dirty="0" err="1"/>
                  <a:t>потребуется</a:t>
                </a:r>
                <a:r>
                  <a:rPr lang="en-US" dirty="0"/>
                  <a:t> </a:t>
                </a:r>
                <a:r>
                  <a:rPr lang="en-US" dirty="0" err="1"/>
                  <a:t>более</a:t>
                </a:r>
                <a:r>
                  <a:rPr lang="en-US" dirty="0"/>
                  <a:t> </a:t>
                </a:r>
                <a:r>
                  <a:rPr lang="en-US" dirty="0" err="1"/>
                  <a:t>точный</a:t>
                </a:r>
                <a:r>
                  <a:rPr lang="en-US" dirty="0"/>
                  <a:t> </a:t>
                </a:r>
                <a:r>
                  <a:rPr lang="en-US" dirty="0" err="1"/>
                  <a:t>анализ</a:t>
                </a:r>
                <a:r>
                  <a:rPr lang="en-US" dirty="0"/>
                  <a:t>, </a:t>
                </a:r>
                <a:r>
                  <a:rPr lang="en-US" dirty="0" err="1"/>
                  <a:t>например</a:t>
                </a:r>
                <a:r>
                  <a:rPr lang="en-US" dirty="0"/>
                  <a:t> </a:t>
                </a:r>
                <a:r>
                  <a:rPr lang="en-US" dirty="0" err="1"/>
                  <a:t>анализ</a:t>
                </a:r>
                <a:r>
                  <a:rPr lang="en-US" dirty="0"/>
                  <a:t> </a:t>
                </a:r>
                <a:r>
                  <a:rPr lang="en-US" dirty="0" err="1"/>
                  <a:t>наихудшего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 </a:t>
                </a:r>
                <a:r>
                  <a:rPr lang="en-US" dirty="0" err="1"/>
                  <a:t>отклика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/>
                  <a:t>Это </a:t>
                </a:r>
                <a:r>
                  <a:rPr lang="en-US" dirty="0" err="1"/>
                  <a:t>важное</a:t>
                </a:r>
                <a:r>
                  <a:rPr lang="en-US" dirty="0"/>
                  <a:t> </a:t>
                </a:r>
                <a:r>
                  <a:rPr lang="en-US" dirty="0" err="1"/>
                  <a:t>различие</a:t>
                </a:r>
                <a:r>
                  <a:rPr lang="en-US" dirty="0"/>
                  <a:t> </a:t>
                </a:r>
                <a:r>
                  <a:rPr lang="en-US" dirty="0" err="1"/>
                  <a:t>между</a:t>
                </a:r>
                <a:r>
                  <a:rPr lang="en-US" dirty="0"/>
                  <a:t> </a:t>
                </a:r>
                <a:r>
                  <a:rPr lang="en-US" dirty="0" err="1"/>
                  <a:t>необходимым</a:t>
                </a:r>
                <a:r>
                  <a:rPr lang="en-US" dirty="0"/>
                  <a:t>, </a:t>
                </a:r>
                <a:r>
                  <a:rPr lang="en-US" dirty="0" err="1"/>
                  <a:t>достаточным</a:t>
                </a:r>
                <a:r>
                  <a:rPr lang="en-US" dirty="0"/>
                  <a:t> и </a:t>
                </a:r>
                <a:r>
                  <a:rPr lang="en-US" dirty="0" err="1"/>
                  <a:t>необходимым</a:t>
                </a:r>
                <a:r>
                  <a:rPr lang="en-US" dirty="0"/>
                  <a:t> и </a:t>
                </a:r>
                <a:r>
                  <a:rPr lang="en-US" dirty="0" err="1"/>
                  <a:t>достаточным</a:t>
                </a:r>
                <a:r>
                  <a:rPr lang="en-US" dirty="0"/>
                  <a:t> </a:t>
                </a:r>
                <a:r>
                  <a:rPr lang="en-US" dirty="0" err="1"/>
                  <a:t>условиями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Вернёмся</a:t>
                </a:r>
                <a:r>
                  <a:rPr lang="en-US" dirty="0"/>
                  <a:t> к EDF.</a:t>
                </a:r>
              </a:p>
              <a:p>
                <a:endParaRPr lang="ru-RU" dirty="0"/>
              </a:p>
              <a:p>
                <a:r>
                  <a:rPr lang="en-US" dirty="0" err="1"/>
                  <a:t>Предположим</a:t>
                </a:r>
                <a:r>
                  <a:rPr lang="en-US" dirty="0"/>
                  <a:t>,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мы</a:t>
                </a:r>
                <a:r>
                  <a:rPr lang="en-US" dirty="0"/>
                  <a:t> </a:t>
                </a:r>
                <a:r>
                  <a:rPr lang="en-US" dirty="0" err="1"/>
                  <a:t>хотим</a:t>
                </a:r>
                <a:r>
                  <a:rPr lang="en-US" dirty="0"/>
                  <a:t> </a:t>
                </a:r>
                <a:r>
                  <a:rPr lang="en-US" dirty="0" err="1"/>
                  <a:t>добавить</a:t>
                </a:r>
                <a:r>
                  <a:rPr lang="en-US" dirty="0"/>
                  <a:t> </a:t>
                </a:r>
                <a:r>
                  <a:rPr lang="en-US" dirty="0" err="1"/>
                  <a:t>ещё</a:t>
                </a:r>
                <a:r>
                  <a:rPr lang="en-US" dirty="0"/>
                  <a:t> </a:t>
                </a:r>
                <a:r>
                  <a:rPr lang="en-US" dirty="0" err="1"/>
                  <a:t>одну</a:t>
                </a:r>
                <a:r>
                  <a:rPr lang="en-US" dirty="0"/>
                  <a:t> </a:t>
                </a:r>
                <a:r>
                  <a:rPr lang="en-US" dirty="0" err="1"/>
                  <a:t>задачу</a:t>
                </a:r>
                <a:r>
                  <a:rPr lang="en-US" dirty="0"/>
                  <a:t>, </a:t>
                </a:r>
                <a:r>
                  <a:rPr lang="en-US" dirty="0" err="1"/>
                  <a:t>которая</a:t>
                </a:r>
                <a:r>
                  <a:rPr lang="en-US" dirty="0"/>
                  <a:t> </a:t>
                </a:r>
                <a:r>
                  <a:rPr lang="en-US" dirty="0" err="1"/>
                  <a:t>появляется</a:t>
                </a:r>
                <a:r>
                  <a:rPr lang="en-US" dirty="0"/>
                  <a:t> </a:t>
                </a:r>
                <a:r>
                  <a:rPr lang="en-US" dirty="0" err="1"/>
                  <a:t>раз</a:t>
                </a:r>
                <a:r>
                  <a:rPr lang="en-US" dirty="0"/>
                  <a:t> в </a:t>
                </a:r>
                <a:r>
                  <a:rPr lang="en-US" dirty="0" err="1"/>
                  <a:t>секунду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Сейчас</a:t>
                </a:r>
                <a:r>
                  <a:rPr lang="en-US" dirty="0"/>
                  <a:t> </a:t>
                </a:r>
                <a:r>
                  <a:rPr lang="en-US" dirty="0" err="1"/>
                  <a:t>суммарная</a:t>
                </a:r>
                <a:r>
                  <a:rPr lang="en-US" dirty="0"/>
                  <a:t> </a:t>
                </a:r>
                <a:r>
                  <a:rPr lang="en-US" dirty="0" err="1"/>
                  <a:t>загрузка</a:t>
                </a:r>
                <a:r>
                  <a:rPr lang="en-US" dirty="0"/>
                  <a:t> </a:t>
                </a:r>
                <a:r>
                  <a:rPr lang="en-US" dirty="0" err="1"/>
                  <a:t>составляет</a:t>
                </a:r>
                <a:r>
                  <a:rPr lang="en-US" dirty="0"/>
                  <a:t> 85%.</a:t>
                </a:r>
              </a:p>
              <a:p>
                <a:r>
                  <a:rPr lang="en-US" dirty="0" err="1"/>
                  <a:t>Теоретически</a:t>
                </a:r>
                <a:r>
                  <a:rPr lang="en-US" dirty="0"/>
                  <a:t> у </a:t>
                </a:r>
                <a:r>
                  <a:rPr lang="en-US" dirty="0" err="1"/>
                  <a:t>нас</a:t>
                </a:r>
                <a:r>
                  <a:rPr lang="en-US" dirty="0"/>
                  <a:t> </a:t>
                </a:r>
                <a:r>
                  <a:rPr lang="en-US" dirty="0" err="1"/>
                  <a:t>остаётся</a:t>
                </a:r>
                <a:r>
                  <a:rPr lang="en-US" dirty="0"/>
                  <a:t> 15% </a:t>
                </a:r>
                <a:r>
                  <a:rPr lang="en-US" dirty="0" err="1"/>
                  <a:t>процессорного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 err="1"/>
                  <a:t>Следовательно</a:t>
                </a:r>
                <a:r>
                  <a:rPr lang="en-US" dirty="0"/>
                  <a:t>, </a:t>
                </a:r>
                <a:r>
                  <a:rPr lang="en-US" dirty="0" err="1"/>
                  <a:t>новая</a:t>
                </a:r>
                <a:r>
                  <a:rPr lang="en-US" dirty="0"/>
                  <a:t> </a:t>
                </a:r>
                <a:r>
                  <a:rPr lang="en-US" dirty="0" err="1"/>
                  <a:t>периодическая</a:t>
                </a:r>
                <a:r>
                  <a:rPr lang="en-US" dirty="0"/>
                  <a:t> </a:t>
                </a:r>
                <a:r>
                  <a:rPr lang="en-US" dirty="0" err="1"/>
                  <a:t>задача</a:t>
                </a:r>
                <a:r>
                  <a:rPr lang="en-US" dirty="0"/>
                  <a:t> с </a:t>
                </a:r>
                <a:r>
                  <a:rPr lang="en-US" dirty="0" err="1"/>
                  <a:t>периодом</a:t>
                </a:r>
                <a:r>
                  <a:rPr lang="en-US" dirty="0"/>
                  <a:t> 1000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 </a:t>
                </a:r>
                <a:r>
                  <a:rPr lang="en-US" dirty="0" err="1"/>
                  <a:t>может</a:t>
                </a:r>
                <a:r>
                  <a:rPr lang="en-US" dirty="0"/>
                  <a:t> </a:t>
                </a:r>
                <a:r>
                  <a:rPr lang="en-US" dirty="0" err="1"/>
                  <a:t>требовать</a:t>
                </a:r>
                <a:r>
                  <a:rPr lang="en-US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более</a:t>
                </a:r>
                <a:r>
                  <a:rPr lang="en-US" dirty="0"/>
                  <a:t> 150 </a:t>
                </a:r>
                <a:r>
                  <a:rPr lang="en-US" dirty="0" err="1"/>
                  <a:t>миллисекунд</a:t>
                </a:r>
                <a:r>
                  <a:rPr lang="en-US" dirty="0"/>
                  <a:t> CPU, </a:t>
                </a:r>
                <a:r>
                  <a:rPr lang="en-US" dirty="0" err="1"/>
                  <a:t>чтобы</a:t>
                </a:r>
                <a:r>
                  <a:rPr lang="en-US" dirty="0"/>
                  <a:t> </a:t>
                </a:r>
                <a:r>
                  <a:rPr lang="en-US" dirty="0" err="1"/>
                  <a:t>общая</a:t>
                </a:r>
                <a:r>
                  <a:rPr lang="en-US" dirty="0"/>
                  <a:t> </a:t>
                </a:r>
                <a:r>
                  <a:rPr lang="en-US" dirty="0" err="1"/>
                  <a:t>загрузка</a:t>
                </a:r>
                <a:r>
                  <a:rPr lang="en-US" dirty="0"/>
                  <a:t> </a:t>
                </a:r>
                <a:r>
                  <a:rPr lang="en-US" dirty="0" err="1"/>
                  <a:t>осталась</a:t>
                </a:r>
                <a:r>
                  <a:rPr lang="en-US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выше</a:t>
                </a:r>
                <a:r>
                  <a:rPr lang="en-US" dirty="0"/>
                  <a:t> 100%.</a:t>
                </a:r>
              </a:p>
              <a:p>
                <a:r>
                  <a:rPr lang="en-US" dirty="0" err="1"/>
                  <a:t>Но</a:t>
                </a:r>
                <a:r>
                  <a:rPr lang="en-US" dirty="0"/>
                  <a:t> </a:t>
                </a:r>
                <a:r>
                  <a:rPr lang="en-US" dirty="0" err="1"/>
                  <a:t>это</a:t>
                </a:r>
                <a:r>
                  <a:rPr lang="en-US" dirty="0"/>
                  <a:t> </a:t>
                </a:r>
                <a:r>
                  <a:rPr lang="en-US" dirty="0" err="1"/>
                  <a:t>справедливо</a:t>
                </a:r>
                <a:r>
                  <a:rPr lang="en-US" dirty="0"/>
                  <a:t> </a:t>
                </a:r>
                <a:r>
                  <a:rPr lang="en-US" dirty="0" err="1"/>
                  <a:t>только</a:t>
                </a:r>
                <a:r>
                  <a:rPr lang="en-US" dirty="0"/>
                  <a:t> в </a:t>
                </a:r>
                <a:r>
                  <a:rPr lang="en-US" dirty="0" err="1"/>
                  <a:t>рамках</a:t>
                </a:r>
                <a:r>
                  <a:rPr lang="en-US" dirty="0"/>
                  <a:t> </a:t>
                </a:r>
                <a:r>
                  <a:rPr lang="en-US" dirty="0" err="1"/>
                  <a:t>нашей</a:t>
                </a:r>
                <a:r>
                  <a:rPr lang="en-US" dirty="0"/>
                  <a:t> </a:t>
                </a:r>
                <a:r>
                  <a:rPr lang="en-US" dirty="0" err="1"/>
                  <a:t>идеализированной</a:t>
                </a:r>
                <a:r>
                  <a:rPr lang="en-US" dirty="0"/>
                  <a:t> </a:t>
                </a:r>
                <a:r>
                  <a:rPr lang="en-US" dirty="0" err="1"/>
                  <a:t>модели</a:t>
                </a:r>
                <a:r>
                  <a:rPr lang="en-US" dirty="0"/>
                  <a:t> и </a:t>
                </a:r>
                <a:r>
                  <a:rPr lang="en-US" dirty="0" err="1"/>
                  <a:t>при</a:t>
                </a:r>
                <a:r>
                  <a:rPr lang="en-US" dirty="0"/>
                  <a:t> </a:t>
                </a:r>
                <a:r>
                  <a:rPr lang="en-US" dirty="0" err="1"/>
                  <a:t>дедлайне</a:t>
                </a:r>
                <a:r>
                  <a:rPr lang="en-US" dirty="0"/>
                  <a:t>, </a:t>
                </a:r>
                <a:r>
                  <a:rPr lang="en-US" dirty="0" err="1"/>
                  <a:t>равном</a:t>
                </a:r>
                <a:r>
                  <a:rPr lang="en-US" dirty="0"/>
                  <a:t> </a:t>
                </a:r>
                <a:r>
                  <a:rPr lang="en-US" dirty="0" err="1"/>
                  <a:t>периоду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/>
                  <a:t>В </a:t>
                </a:r>
                <a:r>
                  <a:rPr lang="en-US" dirty="0" err="1"/>
                  <a:t>реальных</a:t>
                </a:r>
                <a:r>
                  <a:rPr lang="en-US" dirty="0"/>
                  <a:t> </a:t>
                </a:r>
                <a:r>
                  <a:rPr lang="en-US" dirty="0" err="1"/>
                  <a:t>системах</a:t>
                </a:r>
                <a:r>
                  <a:rPr lang="en-US" dirty="0"/>
                  <a:t> </a:t>
                </a:r>
                <a:r>
                  <a:rPr lang="en-US" dirty="0" err="1"/>
                  <a:t>использовать</a:t>
                </a:r>
                <a:r>
                  <a:rPr lang="en-US" dirty="0"/>
                  <a:t> </a:t>
                </a:r>
                <a:r>
                  <a:rPr lang="en-US" dirty="0" err="1"/>
                  <a:t>все</a:t>
                </a:r>
                <a:r>
                  <a:rPr lang="en-US" dirty="0"/>
                  <a:t> 100% </a:t>
                </a:r>
                <a:r>
                  <a:rPr lang="en-US" dirty="0" err="1"/>
                  <a:t>расчётной</a:t>
                </a:r>
                <a:r>
                  <a:rPr lang="en-US" dirty="0"/>
                  <a:t> </a:t>
                </a:r>
                <a:r>
                  <a:rPr lang="en-US" dirty="0" err="1"/>
                  <a:t>мощности</a:t>
                </a:r>
                <a:r>
                  <a:rPr lang="en-US" dirty="0"/>
                  <a:t> </a:t>
                </a:r>
                <a:r>
                  <a:rPr lang="en-US" dirty="0" err="1"/>
                  <a:t>без</a:t>
                </a:r>
                <a:r>
                  <a:rPr lang="en-US" dirty="0"/>
                  <a:t> </a:t>
                </a:r>
                <a:r>
                  <a:rPr lang="en-US" dirty="0" err="1"/>
                  <a:t>запаса</a:t>
                </a:r>
                <a:r>
                  <a:rPr lang="en-US" dirty="0"/>
                  <a:t> </a:t>
                </a:r>
                <a:r>
                  <a:rPr lang="en-US" dirty="0" err="1"/>
                  <a:t>рискованно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Переключение</a:t>
                </a:r>
                <a:r>
                  <a:rPr lang="en-US" dirty="0"/>
                  <a:t> </a:t>
                </a:r>
                <a:r>
                  <a:rPr lang="en-US" dirty="0" err="1"/>
                  <a:t>контекста</a:t>
                </a:r>
                <a:r>
                  <a:rPr lang="en-US" dirty="0"/>
                  <a:t>, </a:t>
                </a:r>
                <a:r>
                  <a:rPr lang="en-US" dirty="0" err="1"/>
                  <a:t>обработка</a:t>
                </a:r>
                <a:r>
                  <a:rPr lang="en-US" dirty="0"/>
                  <a:t> </a:t>
                </a:r>
                <a:r>
                  <a:rPr lang="en-US" dirty="0" err="1"/>
                  <a:t>прерываний</a:t>
                </a:r>
                <a:r>
                  <a:rPr lang="en-US" dirty="0"/>
                  <a:t>, </a:t>
                </a:r>
                <a:r>
                  <a:rPr lang="en-US" dirty="0" err="1"/>
                  <a:t>задержки</a:t>
                </a:r>
                <a:r>
                  <a:rPr lang="en-US" dirty="0"/>
                  <a:t> </a:t>
                </a:r>
                <a:r>
                  <a:rPr lang="en-US" dirty="0" err="1"/>
                  <a:t>памяти</a:t>
                </a:r>
                <a:r>
                  <a:rPr lang="en-US" dirty="0"/>
                  <a:t> и </a:t>
                </a:r>
                <a:r>
                  <a:rPr lang="en-US" dirty="0" err="1"/>
                  <a:t>другие</a:t>
                </a:r>
                <a:r>
                  <a:rPr lang="en-US" dirty="0"/>
                  <a:t> </a:t>
                </a:r>
                <a:r>
                  <a:rPr lang="en-US" dirty="0" err="1"/>
                  <a:t>накладные</a:t>
                </a:r>
                <a:r>
                  <a:rPr lang="en-US" dirty="0"/>
                  <a:t> </a:t>
                </a:r>
                <a:r>
                  <a:rPr lang="en-US" dirty="0" err="1"/>
                  <a:t>расходы</a:t>
                </a:r>
                <a:r>
                  <a:rPr lang="en-US" dirty="0"/>
                  <a:t> </a:t>
                </a:r>
                <a:r>
                  <a:rPr lang="en-US" dirty="0" err="1"/>
                  <a:t>тоже</a:t>
                </a:r>
                <a:r>
                  <a:rPr lang="en-US" dirty="0"/>
                  <a:t> </a:t>
                </a:r>
                <a:r>
                  <a:rPr lang="en-US" dirty="0" err="1"/>
                  <a:t>требуют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 err="1"/>
                  <a:t>Кроме</a:t>
                </a:r>
                <a:r>
                  <a:rPr lang="en-US" dirty="0"/>
                  <a:t> </a:t>
                </a:r>
                <a:r>
                  <a:rPr lang="en-US" dirty="0" err="1"/>
                  <a:t>того</a:t>
                </a:r>
                <a:r>
                  <a:rPr lang="en-US" dirty="0"/>
                  <a:t>, WCET </a:t>
                </a:r>
                <a:r>
                  <a:rPr lang="en-US" dirty="0" err="1"/>
                  <a:t>необходимо</a:t>
                </a:r>
                <a:r>
                  <a:rPr lang="en-US" dirty="0"/>
                  <a:t> </a:t>
                </a:r>
                <a:r>
                  <a:rPr lang="en-US" dirty="0" err="1"/>
                  <a:t>оценивать</a:t>
                </a:r>
                <a:r>
                  <a:rPr lang="en-US" dirty="0"/>
                  <a:t> </a:t>
                </a:r>
                <a:r>
                  <a:rPr lang="en-US" dirty="0" err="1"/>
                  <a:t>корректно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Таким</a:t>
                </a:r>
                <a:r>
                  <a:rPr lang="en-US" dirty="0"/>
                  <a:t> </a:t>
                </a:r>
                <a:r>
                  <a:rPr lang="en-US" dirty="0" err="1"/>
                  <a:t>образом</a:t>
                </a:r>
                <a:r>
                  <a:rPr lang="en-US" dirty="0"/>
                  <a:t>, </a:t>
                </a:r>
                <a:r>
                  <a:rPr lang="en-US" dirty="0" err="1"/>
                  <a:t>проверка</a:t>
                </a:r>
                <a:r>
                  <a:rPr lang="en-US" dirty="0"/>
                  <a:t> </a:t>
                </a:r>
                <a:r>
                  <a:rPr lang="en-US" dirty="0" err="1"/>
                  <a:t>загрузки</a:t>
                </a:r>
                <a:r>
                  <a:rPr lang="en-US" dirty="0"/>
                  <a:t> CPU — </a:t>
                </a:r>
                <a:r>
                  <a:rPr lang="en-US" dirty="0" err="1"/>
                  <a:t>важный</a:t>
                </a:r>
                <a:r>
                  <a:rPr lang="en-US" dirty="0"/>
                  <a:t> </a:t>
                </a:r>
                <a:r>
                  <a:rPr lang="en-US" dirty="0" err="1"/>
                  <a:t>первый</a:t>
                </a:r>
                <a:r>
                  <a:rPr lang="en-US" dirty="0"/>
                  <a:t> </a:t>
                </a:r>
                <a:r>
                  <a:rPr lang="en-US" dirty="0" err="1"/>
                  <a:t>шаг</a:t>
                </a:r>
                <a:r>
                  <a:rPr lang="en-US" dirty="0"/>
                  <a:t> в </a:t>
                </a:r>
                <a:r>
                  <a:rPr lang="en-US" dirty="0" err="1"/>
                  <a:t>анализе</a:t>
                </a:r>
                <a:r>
                  <a:rPr lang="en-US" dirty="0"/>
                  <a:t> </a:t>
                </a:r>
                <a:r>
                  <a:rPr lang="en-US" dirty="0" err="1"/>
                  <a:t>систем</a:t>
                </a:r>
                <a:r>
                  <a:rPr lang="en-US" dirty="0"/>
                  <a:t> </a:t>
                </a:r>
                <a:r>
                  <a:rPr lang="en-US" dirty="0" err="1"/>
                  <a:t>реального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, </a:t>
                </a:r>
                <a:r>
                  <a:rPr lang="en-US" dirty="0" err="1"/>
                  <a:t>но</a:t>
                </a:r>
                <a:r>
                  <a:rPr lang="en-US" dirty="0"/>
                  <a:t> </a:t>
                </a:r>
                <a:r>
                  <a:rPr lang="en-US" dirty="0" err="1"/>
                  <a:t>она</a:t>
                </a:r>
                <a:r>
                  <a:rPr lang="en-US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заменяет</a:t>
                </a:r>
                <a:r>
                  <a:rPr lang="en-US" dirty="0"/>
                  <a:t> </a:t>
                </a:r>
                <a:r>
                  <a:rPr lang="en-US" dirty="0" err="1"/>
                  <a:t>полноценного</a:t>
                </a:r>
                <a:r>
                  <a:rPr lang="en-US" dirty="0"/>
                  <a:t> </a:t>
                </a:r>
                <a:r>
                  <a:rPr lang="en-US" dirty="0" err="1"/>
                  <a:t>анализа</a:t>
                </a:r>
                <a:r>
                  <a:rPr lang="en-US" dirty="0"/>
                  <a:t> </a:t>
                </a:r>
                <a:r>
                  <a:rPr lang="en-US" dirty="0" err="1"/>
                  <a:t>временных</a:t>
                </a:r>
                <a:r>
                  <a:rPr lang="en-US" dirty="0"/>
                  <a:t> </a:t>
                </a:r>
                <a:r>
                  <a:rPr lang="en-US" dirty="0" err="1"/>
                  <a:t>ограничений</a:t>
                </a:r>
                <a:r>
                  <a:rPr lang="en-US" dirty="0"/>
                  <a:t>. </a:t>
                </a:r>
              </a:p>
              <a:p>
                <a:endParaRPr lang="ru-RU" dirty="0"/>
              </a:p>
              <a:p>
                <a:r>
                  <a:rPr lang="en-US" dirty="0"/>
                  <a:t>И </a:t>
                </a:r>
                <a:r>
                  <a:rPr lang="en-US" dirty="0" err="1"/>
                  <a:t>здесь</a:t>
                </a:r>
                <a:r>
                  <a:rPr lang="en-US" dirty="0"/>
                  <a:t> </a:t>
                </a:r>
                <a:r>
                  <a:rPr lang="en-US" dirty="0" err="1"/>
                  <a:t>мы</a:t>
                </a:r>
                <a:r>
                  <a:rPr lang="en-US" dirty="0"/>
                  <a:t> </a:t>
                </a:r>
                <a:r>
                  <a:rPr lang="en-US" dirty="0" err="1"/>
                  <a:t>подходим</a:t>
                </a:r>
                <a:r>
                  <a:rPr lang="en-US" dirty="0"/>
                  <a:t> к </a:t>
                </a:r>
                <a:r>
                  <a:rPr lang="en-US" dirty="0" err="1"/>
                  <a:t>последнему</a:t>
                </a:r>
                <a:r>
                  <a:rPr lang="en-US" dirty="0"/>
                  <a:t> </a:t>
                </a:r>
                <a:r>
                  <a:rPr lang="en-US" dirty="0" err="1"/>
                  <a:t>вопросу</a:t>
                </a:r>
                <a:r>
                  <a:rPr lang="en-US" dirty="0"/>
                  <a:t> </a:t>
                </a:r>
                <a:r>
                  <a:rPr lang="en-US" dirty="0" err="1"/>
                  <a:t>нашего</a:t>
                </a:r>
                <a:r>
                  <a:rPr lang="en-US" dirty="0"/>
                  <a:t> </a:t>
                </a:r>
                <a:r>
                  <a:rPr lang="en-US" dirty="0" err="1"/>
                  <a:t>раздела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Даже</a:t>
                </a:r>
                <a:r>
                  <a:rPr lang="en-US" dirty="0"/>
                  <a:t> </a:t>
                </a:r>
                <a:r>
                  <a:rPr lang="en-US" dirty="0" err="1"/>
                  <a:t>если</a:t>
                </a:r>
                <a:r>
                  <a:rPr lang="en-US" dirty="0"/>
                  <a:t> </a:t>
                </a:r>
                <a:r>
                  <a:rPr lang="en-US" dirty="0" err="1"/>
                  <a:t>теоретические</a:t>
                </a:r>
                <a:r>
                  <a:rPr lang="en-US" dirty="0"/>
                  <a:t> </a:t>
                </a:r>
                <a:r>
                  <a:rPr lang="en-US" dirty="0" err="1"/>
                  <a:t>расчёты</a:t>
                </a:r>
                <a:r>
                  <a:rPr lang="en-US" dirty="0"/>
                  <a:t> </a:t>
                </a:r>
                <a:r>
                  <a:rPr lang="en-US" dirty="0" err="1"/>
                  <a:t>показывают</a:t>
                </a:r>
                <a:r>
                  <a:rPr lang="en-US" dirty="0"/>
                  <a:t>,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все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 </a:t>
                </a:r>
                <a:r>
                  <a:rPr lang="en-US" dirty="0" err="1"/>
                  <a:t>должны</a:t>
                </a:r>
                <a:r>
                  <a:rPr lang="en-US" dirty="0"/>
                  <a:t> </a:t>
                </a:r>
                <a:r>
                  <a:rPr lang="en-US" dirty="0" err="1"/>
                  <a:t>успевать</a:t>
                </a:r>
                <a:r>
                  <a:rPr lang="en-US" dirty="0"/>
                  <a:t>,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может</a:t>
                </a:r>
                <a:r>
                  <a:rPr lang="en-US" dirty="0"/>
                  <a:t> </a:t>
                </a:r>
                <a:r>
                  <a:rPr lang="en-US" dirty="0" err="1"/>
                  <a:t>помешать</a:t>
                </a:r>
                <a:r>
                  <a:rPr lang="en-US" dirty="0"/>
                  <a:t> </a:t>
                </a:r>
                <a:r>
                  <a:rPr lang="en-US" dirty="0" err="1"/>
                  <a:t>этому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практике</a:t>
                </a:r>
                <a:r>
                  <a:rPr lang="en-US" dirty="0"/>
                  <a:t>?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22742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разобрали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работают</a:t>
            </a:r>
            <a:r>
              <a:rPr lang="en-US" dirty="0"/>
              <a:t> Rate Monotonic и Earliest Deadline First, а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научились</a:t>
            </a:r>
            <a:r>
              <a:rPr lang="en-US" dirty="0"/>
              <a:t> </a:t>
            </a:r>
            <a:r>
              <a:rPr lang="en-US" dirty="0" err="1"/>
              <a:t>оценивать</a:t>
            </a:r>
            <a:r>
              <a:rPr lang="en-US" dirty="0"/>
              <a:t> </a:t>
            </a:r>
            <a:r>
              <a:rPr lang="en-US" dirty="0" err="1"/>
              <a:t>загрузку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показаться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выбрать</a:t>
            </a:r>
            <a:r>
              <a:rPr lang="en-US" dirty="0"/>
              <a:t> </a:t>
            </a:r>
            <a:r>
              <a:rPr lang="en-US" dirty="0" err="1"/>
              <a:t>хороший</a:t>
            </a:r>
            <a:r>
              <a:rPr lang="en-US" dirty="0"/>
              <a:t> </a:t>
            </a:r>
            <a:r>
              <a:rPr lang="en-US" dirty="0" err="1"/>
              <a:t>алгоритм</a:t>
            </a:r>
            <a:r>
              <a:rPr lang="en-US" dirty="0"/>
              <a:t>, </a:t>
            </a:r>
            <a:r>
              <a:rPr lang="en-US" dirty="0" err="1"/>
              <a:t>убедиться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загрузка</a:t>
            </a:r>
            <a:r>
              <a:rPr lang="en-US" dirty="0"/>
              <a:t> CPU </a:t>
            </a:r>
            <a:r>
              <a:rPr lang="en-US" dirty="0" err="1"/>
              <a:t>меньше</a:t>
            </a:r>
            <a:r>
              <a:rPr lang="en-US" dirty="0"/>
              <a:t> 100%, и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дедлайны</a:t>
            </a:r>
            <a:r>
              <a:rPr lang="en-US" dirty="0"/>
              <a:t> </a:t>
            </a:r>
            <a:r>
              <a:rPr lang="en-US" dirty="0" err="1"/>
              <a:t>будут</a:t>
            </a:r>
            <a:r>
              <a:rPr lang="en-US" dirty="0"/>
              <a:t> </a:t>
            </a:r>
            <a:r>
              <a:rPr lang="en-US" dirty="0" err="1"/>
              <a:t>соблюдаться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практике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значительно</a:t>
            </a:r>
            <a:r>
              <a:rPr lang="en-US" dirty="0"/>
              <a:t> </a:t>
            </a:r>
            <a:r>
              <a:rPr lang="en-US" dirty="0" err="1"/>
              <a:t>сложнее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Начнём</a:t>
            </a:r>
            <a:r>
              <a:rPr lang="en-US" dirty="0"/>
              <a:t> с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наших</a:t>
            </a:r>
            <a:r>
              <a:rPr lang="en-US" dirty="0"/>
              <a:t> </a:t>
            </a:r>
            <a:r>
              <a:rPr lang="en-US" dirty="0" err="1"/>
              <a:t>расчётах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использовали</a:t>
            </a:r>
            <a:r>
              <a:rPr lang="en-US" dirty="0"/>
              <a:t> WCET — Worst-Case Execution Time.</a:t>
            </a:r>
          </a:p>
          <a:p>
            <a:r>
              <a:rPr lang="en-US" dirty="0" err="1"/>
              <a:t>Предполагается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величина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ограничивает</a:t>
            </a:r>
            <a:r>
              <a:rPr lang="en-US" dirty="0"/>
              <a:t> </a:t>
            </a:r>
            <a:r>
              <a:rPr lang="en-US" dirty="0" err="1"/>
              <a:t>длительность</a:t>
            </a:r>
            <a:r>
              <a:rPr lang="en-US" dirty="0"/>
              <a:t> </a:t>
            </a:r>
            <a:r>
              <a:rPr lang="en-US" dirty="0" err="1"/>
              <a:t>процессорных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в </a:t>
            </a:r>
            <a:r>
              <a:rPr lang="en-US" dirty="0" err="1"/>
              <a:t>рассматриваемых</a:t>
            </a:r>
            <a:r>
              <a:rPr lang="en-US" dirty="0"/>
              <a:t> </a:t>
            </a:r>
            <a:r>
              <a:rPr lang="en-US" dirty="0" err="1"/>
              <a:t>условиях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произойдёт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ошиблись</a:t>
            </a:r>
            <a:r>
              <a:rPr lang="en-US" dirty="0"/>
              <a:t>?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предположили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максимум</a:t>
            </a:r>
            <a:r>
              <a:rPr lang="en-US" dirty="0"/>
              <a:t> 3 </a:t>
            </a:r>
            <a:r>
              <a:rPr lang="en-US" dirty="0" err="1"/>
              <a:t>миллисекунды</a:t>
            </a:r>
            <a:r>
              <a:rPr lang="en-US" dirty="0"/>
              <a:t> CPU, а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определённом</a:t>
            </a:r>
            <a:r>
              <a:rPr lang="en-US" dirty="0"/>
              <a:t> </a:t>
            </a:r>
            <a:r>
              <a:rPr lang="en-US" dirty="0" err="1"/>
              <a:t>сочетании</a:t>
            </a:r>
            <a:r>
              <a:rPr lang="en-US" dirty="0"/>
              <a:t> </a:t>
            </a:r>
            <a:r>
              <a:rPr lang="en-US" dirty="0" err="1"/>
              <a:t>входных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8 </a:t>
            </a:r>
            <a:r>
              <a:rPr lang="en-US" dirty="0" err="1"/>
              <a:t>миллисекунд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результате</a:t>
            </a:r>
            <a:r>
              <a:rPr lang="en-US" dirty="0"/>
              <a:t> </a:t>
            </a:r>
            <a:r>
              <a:rPr lang="en-US" dirty="0" err="1"/>
              <a:t>фактическая</a:t>
            </a:r>
            <a:r>
              <a:rPr lang="en-US" dirty="0"/>
              <a:t> </a:t>
            </a:r>
            <a:r>
              <a:rPr lang="en-US" dirty="0" err="1"/>
              <a:t>загрузка</a:t>
            </a:r>
            <a:r>
              <a:rPr lang="en-US" dirty="0"/>
              <a:t> и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оказаться</a:t>
            </a:r>
            <a:r>
              <a:rPr lang="en-US" dirty="0"/>
              <a:t> </a:t>
            </a:r>
            <a:r>
              <a:rPr lang="en-US" dirty="0" err="1"/>
              <a:t>значительно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расчётных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 </a:t>
            </a:r>
            <a:r>
              <a:rPr lang="en-US" dirty="0" err="1"/>
              <a:t>реального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анализировать</a:t>
            </a:r>
            <a:r>
              <a:rPr lang="en-US" dirty="0"/>
              <a:t> </a:t>
            </a:r>
            <a:r>
              <a:rPr lang="en-US" dirty="0" err="1"/>
              <a:t>наихудшие</a:t>
            </a:r>
            <a:r>
              <a:rPr lang="en-US" dirty="0"/>
              <a:t> </a:t>
            </a:r>
            <a:r>
              <a:rPr lang="en-US" dirty="0" err="1"/>
              <a:t>сценарии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среднюю</a:t>
            </a:r>
            <a:r>
              <a:rPr lang="en-US" dirty="0"/>
              <a:t> </a:t>
            </a:r>
            <a:r>
              <a:rPr lang="en-US" dirty="0" err="1"/>
              <a:t>производительность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Следующая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связана</a:t>
            </a:r>
            <a:r>
              <a:rPr lang="en-US" dirty="0"/>
              <a:t> с </a:t>
            </a:r>
            <a:r>
              <a:rPr lang="en-US" dirty="0" err="1"/>
              <a:t>синхронизацией</a:t>
            </a:r>
            <a:r>
              <a:rPr lang="en-US" dirty="0"/>
              <a:t>.</a:t>
            </a:r>
          </a:p>
          <a:p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высокоприоритетному</a:t>
            </a:r>
            <a:r>
              <a:rPr lang="en-US" dirty="0"/>
              <a:t> </a:t>
            </a:r>
            <a:r>
              <a:rPr lang="en-US" dirty="0" err="1"/>
              <a:t>потоку</a:t>
            </a:r>
            <a:r>
              <a:rPr lang="en-US" dirty="0"/>
              <a:t> H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захватить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удерживает</a:t>
            </a:r>
            <a:r>
              <a:rPr lang="en-US" dirty="0"/>
              <a:t> </a:t>
            </a:r>
            <a:r>
              <a:rPr lang="en-US" dirty="0" err="1"/>
              <a:t>низкоприоритетный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L.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Пока</a:t>
            </a:r>
            <a:r>
              <a:rPr lang="en-US" dirty="0"/>
              <a:t> L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освободит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, H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сможет</a:t>
            </a:r>
            <a:r>
              <a:rPr lang="en-US" dirty="0"/>
              <a:t>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тут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M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средним</a:t>
            </a:r>
            <a:r>
              <a:rPr lang="en-US" dirty="0"/>
              <a:t> </a:t>
            </a:r>
            <a:r>
              <a:rPr lang="en-US" dirty="0" err="1"/>
              <a:t>приоритетом</a:t>
            </a:r>
            <a:r>
              <a:rPr lang="en-US" dirty="0"/>
              <a:t>.</a:t>
            </a:r>
          </a:p>
          <a:p>
            <a:r>
              <a:rPr lang="en-US" dirty="0" err="1"/>
              <a:t>Поскольку</a:t>
            </a:r>
            <a:r>
              <a:rPr lang="en-US" dirty="0"/>
              <a:t> H </a:t>
            </a:r>
            <a:r>
              <a:rPr lang="en-US" dirty="0" err="1"/>
              <a:t>заблокирован</a:t>
            </a:r>
            <a:r>
              <a:rPr lang="en-US" dirty="0"/>
              <a:t>, а M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высокий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L,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запускает</a:t>
            </a:r>
            <a:r>
              <a:rPr lang="en-US" dirty="0"/>
              <a:t> M.</a:t>
            </a:r>
          </a:p>
          <a:p>
            <a:endParaRPr lang="ru-RU" dirty="0"/>
          </a:p>
          <a:p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парадоксальная</a:t>
            </a:r>
            <a:r>
              <a:rPr lang="en-US" dirty="0"/>
              <a:t> </a:t>
            </a:r>
            <a:r>
              <a:rPr lang="en-US" dirty="0" err="1"/>
              <a:t>ситуация</a:t>
            </a:r>
            <a:r>
              <a:rPr lang="en-US" dirty="0"/>
              <a:t>.</a:t>
            </a:r>
          </a:p>
          <a:p>
            <a:r>
              <a:rPr lang="en-US" dirty="0" err="1"/>
              <a:t>Высокоприоритетный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H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, </a:t>
            </a:r>
            <a:r>
              <a:rPr lang="en-US" dirty="0" err="1"/>
              <a:t>потому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ждёт</a:t>
            </a:r>
            <a:r>
              <a:rPr lang="en-US" dirty="0"/>
              <a:t> </a:t>
            </a:r>
            <a:r>
              <a:rPr lang="en-US" dirty="0" err="1"/>
              <a:t>низкоприоритетный</a:t>
            </a:r>
            <a:r>
              <a:rPr lang="en-US" dirty="0"/>
              <a:t> L.</a:t>
            </a:r>
          </a:p>
          <a:p>
            <a:r>
              <a:rPr lang="en-US" dirty="0" err="1"/>
              <a:t>Но</a:t>
            </a:r>
            <a:r>
              <a:rPr lang="en-US" dirty="0"/>
              <a:t> L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, </a:t>
            </a:r>
            <a:r>
              <a:rPr lang="en-US" dirty="0" err="1"/>
              <a:t>поскольку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вытесняет</a:t>
            </a:r>
            <a:r>
              <a:rPr lang="en-US" dirty="0"/>
              <a:t> M.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результате</a:t>
            </a:r>
            <a:r>
              <a:rPr lang="en-US" dirty="0"/>
              <a:t> </a:t>
            </a:r>
            <a:r>
              <a:rPr lang="en-US" dirty="0" err="1"/>
              <a:t>среднеприоритетный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косвенно</a:t>
            </a:r>
            <a:r>
              <a:rPr lang="en-US" dirty="0"/>
              <a:t> </a:t>
            </a:r>
            <a:r>
              <a:rPr lang="en-US" dirty="0" err="1"/>
              <a:t>задерживает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высокоприоритетного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сталкивались</a:t>
            </a:r>
            <a:r>
              <a:rPr lang="en-US" dirty="0"/>
              <a:t> с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проблемой</a:t>
            </a:r>
            <a:r>
              <a:rPr lang="en-US" dirty="0"/>
              <a:t> в </a:t>
            </a:r>
            <a:r>
              <a:rPr lang="en-US" dirty="0" err="1"/>
              <a:t>лекции</a:t>
            </a:r>
            <a:r>
              <a:rPr lang="en-US" dirty="0"/>
              <a:t> о </a:t>
            </a:r>
            <a:r>
              <a:rPr lang="en-US" dirty="0" err="1"/>
              <a:t>синхронизации</a:t>
            </a:r>
            <a:r>
              <a:rPr lang="en-US" dirty="0"/>
              <a:t>.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называется</a:t>
            </a:r>
            <a:r>
              <a:rPr lang="en-US" dirty="0"/>
              <a:t> </a:t>
            </a:r>
            <a:r>
              <a:rPr lang="en-US" dirty="0" err="1"/>
              <a:t>инверсией</a:t>
            </a:r>
            <a:r>
              <a:rPr lang="en-US" dirty="0"/>
              <a:t> </a:t>
            </a:r>
            <a:r>
              <a:rPr lang="en-US" dirty="0" err="1"/>
              <a:t>приоритетов</a:t>
            </a:r>
            <a:r>
              <a:rPr lang="en-US" dirty="0"/>
              <a:t> — Priority Inversion.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системах</a:t>
            </a:r>
            <a:r>
              <a:rPr lang="en-US" dirty="0"/>
              <a:t> </a:t>
            </a:r>
            <a:r>
              <a:rPr lang="en-US" dirty="0" err="1"/>
              <a:t>реального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такая</a:t>
            </a:r>
            <a:r>
              <a:rPr lang="en-US" dirty="0"/>
              <a:t> </a:t>
            </a:r>
            <a:r>
              <a:rPr lang="en-US" dirty="0" err="1"/>
              <a:t>ситуация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опасна</a:t>
            </a:r>
            <a:r>
              <a:rPr lang="en-US" dirty="0"/>
              <a:t>, </a:t>
            </a:r>
            <a:r>
              <a:rPr lang="en-US" dirty="0" err="1"/>
              <a:t>потому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задержка</a:t>
            </a:r>
            <a:r>
              <a:rPr lang="en-US" dirty="0"/>
              <a:t> H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привести</a:t>
            </a:r>
            <a:r>
              <a:rPr lang="en-US" dirty="0"/>
              <a:t> к </a:t>
            </a:r>
            <a:r>
              <a:rPr lang="en-US" dirty="0" err="1"/>
              <a:t>нарушению</a:t>
            </a:r>
            <a:r>
              <a:rPr lang="en-US" dirty="0"/>
              <a:t> </a:t>
            </a:r>
            <a:r>
              <a:rPr lang="en-US" dirty="0" err="1"/>
              <a:t>дедлайна</a:t>
            </a:r>
            <a:r>
              <a:rPr lang="en-US" dirty="0"/>
              <a:t>.</a:t>
            </a:r>
          </a:p>
          <a:p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способов</a:t>
            </a:r>
            <a:r>
              <a:rPr lang="en-US" dirty="0"/>
              <a:t> </a:t>
            </a:r>
            <a:r>
              <a:rPr lang="en-US" dirty="0" err="1"/>
              <a:t>уменьшить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— Priority Inheritance,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наследование</a:t>
            </a:r>
            <a:r>
              <a:rPr lang="en-US" dirty="0"/>
              <a:t> </a:t>
            </a:r>
            <a:r>
              <a:rPr lang="en-US" dirty="0" err="1"/>
              <a:t>приоритета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H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удерживает</a:t>
            </a:r>
            <a:r>
              <a:rPr lang="en-US" dirty="0"/>
              <a:t> L,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временно</a:t>
            </a:r>
            <a:r>
              <a:rPr lang="en-US" dirty="0"/>
              <a:t> </a:t>
            </a:r>
            <a:r>
              <a:rPr lang="en-US" dirty="0" err="1"/>
              <a:t>повышает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 L.</a:t>
            </a:r>
          </a:p>
          <a:p>
            <a:r>
              <a:rPr lang="en-US" dirty="0" err="1"/>
              <a:t>Теперь</a:t>
            </a:r>
            <a:r>
              <a:rPr lang="en-US" dirty="0"/>
              <a:t> M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сможет</a:t>
            </a:r>
            <a:r>
              <a:rPr lang="en-US" dirty="0"/>
              <a:t> </a:t>
            </a:r>
            <a:r>
              <a:rPr lang="en-US" dirty="0" err="1"/>
              <a:t>вытеснить</a:t>
            </a:r>
            <a:r>
              <a:rPr lang="en-US" dirty="0"/>
              <a:t> L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счёт</a:t>
            </a:r>
            <a:r>
              <a:rPr lang="en-US" dirty="0"/>
              <a:t> </a:t>
            </a:r>
            <a:r>
              <a:rPr lang="en-US" dirty="0" err="1"/>
              <a:t>своего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высокого</a:t>
            </a:r>
            <a:r>
              <a:rPr lang="en-US" dirty="0"/>
              <a:t> </a:t>
            </a:r>
            <a:r>
              <a:rPr lang="en-US" dirty="0" err="1"/>
              <a:t>исходного</a:t>
            </a:r>
            <a:r>
              <a:rPr lang="en-US" dirty="0"/>
              <a:t> </a:t>
            </a:r>
            <a:r>
              <a:rPr lang="en-US" dirty="0" err="1"/>
              <a:t>приоритета</a:t>
            </a:r>
            <a:r>
              <a:rPr lang="en-US" dirty="0"/>
              <a:t>.</a:t>
            </a:r>
          </a:p>
          <a:p>
            <a:r>
              <a:rPr lang="en-US" dirty="0"/>
              <a:t>L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завершить</a:t>
            </a:r>
            <a:r>
              <a:rPr lang="en-US" dirty="0"/>
              <a:t> </a:t>
            </a:r>
            <a:r>
              <a:rPr lang="en-US" dirty="0" err="1"/>
              <a:t>критическую</a:t>
            </a:r>
            <a:r>
              <a:rPr lang="en-US" dirty="0"/>
              <a:t> </a:t>
            </a:r>
            <a:r>
              <a:rPr lang="en-US" dirty="0" err="1"/>
              <a:t>секцию</a:t>
            </a:r>
            <a:r>
              <a:rPr lang="en-US" dirty="0"/>
              <a:t>, </a:t>
            </a:r>
            <a:r>
              <a:rPr lang="en-US" dirty="0" err="1"/>
              <a:t>освобождает</a:t>
            </a:r>
            <a:r>
              <a:rPr lang="en-US" dirty="0"/>
              <a:t> </a:t>
            </a:r>
            <a:r>
              <a:rPr lang="en-US" dirty="0" err="1"/>
              <a:t>мьютекс</a:t>
            </a:r>
            <a:r>
              <a:rPr lang="en-US" dirty="0"/>
              <a:t> и </a:t>
            </a:r>
            <a:r>
              <a:rPr lang="en-US" dirty="0" err="1"/>
              <a:t>возвращается</a:t>
            </a:r>
            <a:r>
              <a:rPr lang="en-US" dirty="0"/>
              <a:t> к </a:t>
            </a:r>
            <a:r>
              <a:rPr lang="en-US" dirty="0" err="1"/>
              <a:t>прежнему</a:t>
            </a:r>
            <a:r>
              <a:rPr lang="en-US" dirty="0"/>
              <a:t> </a:t>
            </a:r>
            <a:r>
              <a:rPr lang="en-US" dirty="0" err="1"/>
              <a:t>приоритету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H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Linux </a:t>
            </a:r>
            <a:r>
              <a:rPr lang="en-US" dirty="0" err="1"/>
              <a:t>подобный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в RT-mutex, а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пользовательских</a:t>
            </a:r>
            <a:r>
              <a:rPr lang="en-US" dirty="0"/>
              <a:t> POSIX-</a:t>
            </a:r>
            <a:r>
              <a:rPr lang="en-US" dirty="0" err="1"/>
              <a:t>мьютексов</a:t>
            </a:r>
            <a:r>
              <a:rPr lang="en-US" dirty="0"/>
              <a:t> </a:t>
            </a:r>
            <a:r>
              <a:rPr lang="en-US" dirty="0" err="1"/>
              <a:t>доступен</a:t>
            </a:r>
            <a:r>
              <a:rPr lang="en-US" dirty="0"/>
              <a:t> </a:t>
            </a:r>
            <a:r>
              <a:rPr lang="en-US" dirty="0" err="1"/>
              <a:t>протокол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PTHREAD_PRIO_INHERIT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блокировки</a:t>
            </a:r>
            <a:r>
              <a:rPr lang="en-US" dirty="0"/>
              <a:t>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единственная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.</a:t>
            </a:r>
          </a:p>
          <a:p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определённую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обрабатывает</a:t>
            </a:r>
            <a:r>
              <a:rPr lang="en-US" dirty="0"/>
              <a:t> </a:t>
            </a:r>
            <a:r>
              <a:rPr lang="en-US" dirty="0" err="1"/>
              <a:t>аппаратные</a:t>
            </a:r>
            <a:r>
              <a:rPr lang="en-US" dirty="0"/>
              <a:t> </a:t>
            </a:r>
            <a:r>
              <a:rPr lang="en-US" dirty="0" err="1"/>
              <a:t>прерывания</a:t>
            </a:r>
            <a:r>
              <a:rPr lang="en-US" dirty="0"/>
              <a:t>,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драйверов</a:t>
            </a:r>
            <a:r>
              <a:rPr lang="en-US" dirty="0"/>
              <a:t>, </a:t>
            </a:r>
            <a:r>
              <a:rPr lang="en-US" dirty="0" err="1"/>
              <a:t>переключает</a:t>
            </a:r>
            <a:r>
              <a:rPr lang="en-US" dirty="0"/>
              <a:t> </a:t>
            </a:r>
            <a:r>
              <a:rPr lang="en-US" dirty="0" err="1"/>
              <a:t>контексты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и </a:t>
            </a:r>
            <a:r>
              <a:rPr lang="en-US" dirty="0" err="1"/>
              <a:t>управляет</a:t>
            </a:r>
            <a:r>
              <a:rPr lang="en-US" dirty="0"/>
              <a:t> </a:t>
            </a:r>
            <a:r>
              <a:rPr lang="en-US" dirty="0" err="1"/>
              <a:t>памятью</a:t>
            </a:r>
            <a:r>
              <a:rPr lang="en-US" dirty="0"/>
              <a:t>.</a:t>
            </a:r>
            <a:endParaRPr lang="ru-RU" dirty="0"/>
          </a:p>
          <a:p>
            <a:endParaRPr lang="ru-RU" dirty="0"/>
          </a:p>
          <a:p>
            <a:r>
              <a:rPr lang="en-US" dirty="0" err="1"/>
              <a:t>Некоторые</a:t>
            </a:r>
            <a:r>
              <a:rPr lang="en-US" dirty="0"/>
              <a:t> </a:t>
            </a:r>
            <a:r>
              <a:rPr lang="en-US" dirty="0" err="1"/>
              <a:t>участки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временно</a:t>
            </a:r>
            <a:r>
              <a:rPr lang="en-US" dirty="0"/>
              <a:t> </a:t>
            </a:r>
            <a:r>
              <a:rPr lang="en-US" dirty="0" err="1"/>
              <a:t>ограничивать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вытеснения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высокоприоритетный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готовым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в </a:t>
            </a:r>
            <a:r>
              <a:rPr lang="en-US" dirty="0" err="1"/>
              <a:t>таком</a:t>
            </a:r>
            <a:r>
              <a:rPr lang="en-US" dirty="0"/>
              <a:t> </a:t>
            </a:r>
            <a:r>
              <a:rPr lang="en-US" dirty="0" err="1"/>
              <a:t>участке</a:t>
            </a:r>
            <a:r>
              <a:rPr lang="en-US" dirty="0"/>
              <a:t>,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запуск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задержаться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уменьшения</a:t>
            </a:r>
            <a:r>
              <a:rPr lang="en-US" dirty="0"/>
              <a:t> </a:t>
            </a:r>
            <a:r>
              <a:rPr lang="en-US" dirty="0" err="1"/>
              <a:t>подобных</a:t>
            </a:r>
            <a:r>
              <a:rPr lang="en-US" dirty="0"/>
              <a:t> </a:t>
            </a:r>
            <a:r>
              <a:rPr lang="en-US" dirty="0" err="1"/>
              <a:t>задержек</a:t>
            </a:r>
            <a:r>
              <a:rPr lang="en-US" dirty="0"/>
              <a:t> в Linux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конфигурация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 с </a:t>
            </a:r>
            <a:r>
              <a:rPr lang="en-US" dirty="0" err="1"/>
              <a:t>поддержкой</a:t>
            </a:r>
            <a:r>
              <a:rPr lang="en-US" dirty="0"/>
              <a:t> PREEMPT_RT.</a:t>
            </a:r>
          </a:p>
          <a:p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большую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 </a:t>
            </a:r>
            <a:r>
              <a:rPr lang="en-US" dirty="0" err="1"/>
              <a:t>вытесняемой</a:t>
            </a:r>
            <a:r>
              <a:rPr lang="en-US" dirty="0"/>
              <a:t>, а </a:t>
            </a:r>
            <a:r>
              <a:rPr lang="en-US" dirty="0" err="1"/>
              <a:t>многие</a:t>
            </a:r>
            <a:r>
              <a:rPr lang="en-US" dirty="0"/>
              <a:t> </a:t>
            </a:r>
            <a:r>
              <a:rPr lang="en-US" dirty="0" err="1"/>
              <a:t>обработчики</a:t>
            </a:r>
            <a:r>
              <a:rPr lang="en-US" dirty="0"/>
              <a:t> </a:t>
            </a:r>
            <a:r>
              <a:rPr lang="en-US" dirty="0" err="1"/>
              <a:t>прерываний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в </a:t>
            </a:r>
            <a:r>
              <a:rPr lang="en-US" dirty="0" err="1"/>
              <a:t>контексте</a:t>
            </a:r>
            <a:r>
              <a:rPr lang="en-US" dirty="0"/>
              <a:t> </a:t>
            </a:r>
            <a:r>
              <a:rPr lang="en-US" dirty="0" err="1"/>
              <a:t>планируемых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уменьшает</a:t>
            </a:r>
            <a:r>
              <a:rPr lang="en-US" dirty="0"/>
              <a:t> </a:t>
            </a:r>
            <a:r>
              <a:rPr lang="en-US" dirty="0" err="1"/>
              <a:t>наихудшие</a:t>
            </a:r>
            <a:r>
              <a:rPr lang="en-US" dirty="0"/>
              <a:t> </a:t>
            </a:r>
            <a:r>
              <a:rPr lang="en-US" dirty="0" err="1"/>
              <a:t>задержки</a:t>
            </a:r>
            <a:r>
              <a:rPr lang="en-US" dirty="0"/>
              <a:t> </a:t>
            </a:r>
            <a:r>
              <a:rPr lang="en-US" dirty="0" err="1"/>
              <a:t>реакции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, </a:t>
            </a:r>
            <a:r>
              <a:rPr lang="en-US" dirty="0" err="1"/>
              <a:t>хотя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устраняет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источники</a:t>
            </a:r>
            <a:r>
              <a:rPr lang="en-US" dirty="0"/>
              <a:t> </a:t>
            </a:r>
            <a:r>
              <a:rPr lang="en-US" dirty="0" err="1"/>
              <a:t>непредсказуемости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 err="1"/>
              <a:t>Наконец</a:t>
            </a:r>
            <a:r>
              <a:rPr lang="en-US" dirty="0"/>
              <a:t>,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учитывать</a:t>
            </a:r>
            <a:r>
              <a:rPr lang="en-US" dirty="0"/>
              <a:t> </a:t>
            </a:r>
            <a:r>
              <a:rPr lang="en-US" dirty="0" err="1"/>
              <a:t>аппаратные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r>
              <a:rPr lang="en-US" dirty="0"/>
              <a:t>.</a:t>
            </a:r>
          </a:p>
          <a:p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выполняются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ядрах</a:t>
            </a:r>
            <a:r>
              <a:rPr lang="en-US" dirty="0"/>
              <a:t>,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конкурировать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общие</a:t>
            </a:r>
            <a:r>
              <a:rPr lang="en-US" dirty="0"/>
              <a:t> </a:t>
            </a:r>
            <a:r>
              <a:rPr lang="en-US" dirty="0" err="1"/>
              <a:t>уровни</a:t>
            </a:r>
            <a:r>
              <a:rPr lang="en-US" dirty="0"/>
              <a:t> </a:t>
            </a:r>
            <a:r>
              <a:rPr lang="en-US" dirty="0" err="1"/>
              <a:t>кэш-памяти</a:t>
            </a:r>
            <a:r>
              <a:rPr lang="en-US" dirty="0"/>
              <a:t>, </a:t>
            </a:r>
            <a:r>
              <a:rPr lang="en-US" dirty="0" err="1"/>
              <a:t>пропускную</a:t>
            </a:r>
            <a:r>
              <a:rPr lang="en-US" dirty="0"/>
              <a:t> </a:t>
            </a:r>
            <a:r>
              <a:rPr lang="en-US" dirty="0" err="1"/>
              <a:t>способность</a:t>
            </a:r>
            <a:r>
              <a:rPr lang="en-US" dirty="0"/>
              <a:t> </a:t>
            </a:r>
            <a:r>
              <a:rPr lang="en-US" dirty="0" err="1"/>
              <a:t>оперативной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 к </a:t>
            </a:r>
            <a:r>
              <a:rPr lang="en-US" dirty="0" err="1"/>
              <a:t>устройствам</a:t>
            </a:r>
            <a:r>
              <a:rPr lang="en-US" dirty="0"/>
              <a:t> </a:t>
            </a:r>
            <a:r>
              <a:rPr lang="en-US" dirty="0" err="1"/>
              <a:t>ввода-вывода</a:t>
            </a:r>
            <a:r>
              <a:rPr lang="en-US" dirty="0"/>
              <a:t>.</a:t>
            </a:r>
          </a:p>
          <a:p>
            <a:r>
              <a:rPr lang="en-US" dirty="0" err="1"/>
              <a:t>Такая</a:t>
            </a:r>
            <a:r>
              <a:rPr lang="en-US" dirty="0"/>
              <a:t> </a:t>
            </a:r>
            <a:r>
              <a:rPr lang="en-US" dirty="0" err="1"/>
              <a:t>конкуренция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увеличивать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отдельных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Получается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гарантированного</a:t>
            </a:r>
            <a:r>
              <a:rPr lang="en-US" dirty="0"/>
              <a:t> </a:t>
            </a:r>
            <a:r>
              <a:rPr lang="en-US" dirty="0" err="1"/>
              <a:t>соблюдения</a:t>
            </a:r>
            <a:r>
              <a:rPr lang="en-US" dirty="0"/>
              <a:t> </a:t>
            </a:r>
            <a:r>
              <a:rPr lang="en-US" dirty="0" err="1"/>
              <a:t>дедлайнов</a:t>
            </a:r>
            <a:r>
              <a:rPr lang="en-US" dirty="0"/>
              <a:t> </a:t>
            </a:r>
            <a:r>
              <a:rPr lang="en-US" dirty="0" err="1"/>
              <a:t>недостаточно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выбрать</a:t>
            </a:r>
            <a:r>
              <a:rPr lang="en-US" dirty="0"/>
              <a:t> EDF </a:t>
            </a:r>
            <a:r>
              <a:rPr lang="en-US" dirty="0" err="1"/>
              <a:t>или</a:t>
            </a:r>
            <a:r>
              <a:rPr lang="en-US" dirty="0"/>
              <a:t> Rate Monotonic.</a:t>
            </a:r>
          </a:p>
          <a:p>
            <a:endParaRPr lang="ru-RU" dirty="0"/>
          </a:p>
          <a:p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учитывать</a:t>
            </a:r>
            <a:r>
              <a:rPr lang="en-US" dirty="0"/>
              <a:t> </a:t>
            </a:r>
            <a:r>
              <a:rPr lang="en-US" dirty="0" err="1"/>
              <a:t>максимальное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, </a:t>
            </a:r>
            <a:r>
              <a:rPr lang="en-US" dirty="0" err="1"/>
              <a:t>максимальные</a:t>
            </a:r>
            <a:r>
              <a:rPr lang="en-US" dirty="0"/>
              <a:t> </a:t>
            </a:r>
            <a:r>
              <a:rPr lang="en-US" dirty="0" err="1"/>
              <a:t>задержки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, </a:t>
            </a:r>
            <a:r>
              <a:rPr lang="en-US" dirty="0" err="1"/>
              <a:t>свойства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и </a:t>
            </a:r>
            <a:r>
              <a:rPr lang="en-US" dirty="0" err="1"/>
              <a:t>особенности</a:t>
            </a:r>
            <a:r>
              <a:rPr lang="en-US" dirty="0"/>
              <a:t> </a:t>
            </a:r>
            <a:r>
              <a:rPr lang="en-US" dirty="0" err="1"/>
              <a:t>аппаратной</a:t>
            </a:r>
            <a:r>
              <a:rPr lang="en-US" dirty="0"/>
              <a:t> </a:t>
            </a:r>
            <a:r>
              <a:rPr lang="en-US" dirty="0" err="1"/>
              <a:t>платформы</a:t>
            </a:r>
            <a:r>
              <a:rPr lang="en-US" dirty="0"/>
              <a:t>.</a:t>
            </a:r>
          </a:p>
          <a:p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проверять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наихудших</a:t>
            </a:r>
            <a:r>
              <a:rPr lang="en-US" dirty="0"/>
              <a:t> </a:t>
            </a:r>
            <a:r>
              <a:rPr lang="en-US" dirty="0" err="1"/>
              <a:t>предусмотренных</a:t>
            </a:r>
            <a:r>
              <a:rPr lang="en-US" dirty="0"/>
              <a:t> </a:t>
            </a:r>
            <a:r>
              <a:rPr lang="en-US" dirty="0" err="1"/>
              <a:t>нагрузках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Итак</a:t>
            </a:r>
            <a:r>
              <a:rPr lang="en-US" dirty="0"/>
              <a:t>, </a:t>
            </a:r>
            <a:r>
              <a:rPr lang="en-US" dirty="0" err="1"/>
              <a:t>главное</a:t>
            </a:r>
            <a:r>
              <a:rPr lang="en-US" dirty="0"/>
              <a:t> </a:t>
            </a:r>
            <a:r>
              <a:rPr lang="en-US" dirty="0" err="1"/>
              <a:t>отличие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 </a:t>
            </a:r>
            <a:r>
              <a:rPr lang="en-US" dirty="0" err="1"/>
              <a:t>реального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заключается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интересует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средняя</a:t>
            </a:r>
            <a:r>
              <a:rPr lang="en-US" dirty="0"/>
              <a:t> </a:t>
            </a:r>
            <a:r>
              <a:rPr lang="en-US" dirty="0" err="1"/>
              <a:t>скорость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, а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обоснованно</a:t>
            </a:r>
            <a:r>
              <a:rPr lang="en-US" dirty="0"/>
              <a:t> </a:t>
            </a:r>
            <a:r>
              <a:rPr lang="en-US" dirty="0" err="1"/>
              <a:t>утверждать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успеют</a:t>
            </a:r>
            <a:r>
              <a:rPr lang="en-US" dirty="0"/>
              <a:t> </a:t>
            </a:r>
            <a:r>
              <a:rPr lang="en-US" dirty="0" err="1"/>
              <a:t>завершиться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заданных</a:t>
            </a:r>
            <a:r>
              <a:rPr lang="en-US" dirty="0"/>
              <a:t> </a:t>
            </a:r>
            <a:r>
              <a:rPr lang="en-US" dirty="0" err="1"/>
              <a:t>сроков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Планирование</a:t>
            </a:r>
            <a:r>
              <a:rPr lang="en-US" dirty="0"/>
              <a:t> </a:t>
            </a:r>
            <a:r>
              <a:rPr lang="en-US" dirty="0" err="1"/>
              <a:t>реального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следующей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, а </a:t>
            </a:r>
            <a:r>
              <a:rPr lang="en-US" dirty="0" err="1"/>
              <a:t>обеспечение</a:t>
            </a:r>
            <a:r>
              <a:rPr lang="en-US" dirty="0"/>
              <a:t> </a:t>
            </a:r>
            <a:r>
              <a:rPr lang="en-US" dirty="0" err="1"/>
              <a:t>предсказуемого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в </a:t>
            </a:r>
            <a:r>
              <a:rPr lang="en-US" dirty="0" err="1"/>
              <a:t>рамках</a:t>
            </a:r>
            <a:r>
              <a:rPr lang="en-US" dirty="0"/>
              <a:t> </a:t>
            </a:r>
            <a:r>
              <a:rPr lang="en-US" dirty="0" err="1"/>
              <a:t>заданных</a:t>
            </a:r>
            <a:r>
              <a:rPr lang="en-US" dirty="0"/>
              <a:t> </a:t>
            </a:r>
            <a:r>
              <a:rPr lang="en-US" dirty="0" err="1"/>
              <a:t>временных</a:t>
            </a:r>
            <a:r>
              <a:rPr lang="en-US" dirty="0"/>
              <a:t> </a:t>
            </a:r>
            <a:r>
              <a:rPr lang="en-US" dirty="0" err="1"/>
              <a:t>ограничений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03035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</a:t>
            </a:r>
            <a:r>
              <a:rPr lang="en-US" dirty="0"/>
              <a:t>ы </a:t>
            </a:r>
            <a:r>
              <a:rPr lang="en-US" dirty="0" err="1"/>
              <a:t>познакомились</a:t>
            </a:r>
            <a:r>
              <a:rPr lang="en-US" dirty="0"/>
              <a:t> с </a:t>
            </a:r>
            <a:r>
              <a:rPr lang="ru-RU" dirty="0"/>
              <a:t>несколькими </a:t>
            </a:r>
            <a:r>
              <a:rPr lang="en-US" dirty="0" err="1"/>
              <a:t>алгоритм</a:t>
            </a:r>
            <a:r>
              <a:rPr lang="ru-RU" dirty="0" err="1"/>
              <a:t>ами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.</a:t>
            </a:r>
          </a:p>
          <a:p>
            <a:r>
              <a:rPr lang="en-US" dirty="0" err="1"/>
              <a:t>Начали</a:t>
            </a:r>
            <a:r>
              <a:rPr lang="en-US" dirty="0"/>
              <a:t> с </a:t>
            </a:r>
            <a:r>
              <a:rPr lang="en-US" dirty="0" err="1"/>
              <a:t>простейшего</a:t>
            </a:r>
            <a:r>
              <a:rPr lang="en-US" dirty="0"/>
              <a:t> FCFS,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рассмотрели</a:t>
            </a:r>
            <a:r>
              <a:rPr lang="en-US" dirty="0"/>
              <a:t> SJF, SRTF и Round Robin.</a:t>
            </a:r>
          </a:p>
          <a:p>
            <a:endParaRPr lang="ru-RU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изучили</a:t>
            </a:r>
            <a:r>
              <a:rPr lang="en-US" dirty="0"/>
              <a:t> </a:t>
            </a:r>
            <a:r>
              <a:rPr lang="en-US" dirty="0" err="1"/>
              <a:t>приоритетное</a:t>
            </a:r>
            <a:r>
              <a:rPr lang="en-US" dirty="0"/>
              <a:t> </a:t>
            </a:r>
            <a:r>
              <a:rPr lang="en-US" dirty="0" err="1"/>
              <a:t>планирование</a:t>
            </a:r>
            <a:r>
              <a:rPr lang="en-US" dirty="0"/>
              <a:t>, </a:t>
            </a:r>
            <a:r>
              <a:rPr lang="en-US" dirty="0" err="1"/>
              <a:t>проблему</a:t>
            </a:r>
            <a:r>
              <a:rPr lang="en-US" dirty="0"/>
              <a:t> </a:t>
            </a:r>
            <a:r>
              <a:rPr lang="en-US" dirty="0" err="1"/>
              <a:t>голодания</a:t>
            </a:r>
            <a:r>
              <a:rPr lang="en-US" dirty="0"/>
              <a:t>, </a:t>
            </a:r>
            <a:r>
              <a:rPr lang="en-US" dirty="0" err="1"/>
              <a:t>многоуровневые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, </a:t>
            </a:r>
            <a:r>
              <a:rPr lang="en-US" dirty="0" err="1"/>
              <a:t>справедливое</a:t>
            </a:r>
            <a:r>
              <a:rPr lang="en-US" dirty="0"/>
              <a:t> </a:t>
            </a:r>
            <a:r>
              <a:rPr lang="en-US" dirty="0" err="1"/>
              <a:t>распределение</a:t>
            </a:r>
            <a:r>
              <a:rPr lang="en-US" dirty="0"/>
              <a:t> CPU и </a:t>
            </a:r>
            <a:r>
              <a:rPr lang="en-US" dirty="0" err="1"/>
              <a:t>современные</a:t>
            </a:r>
            <a:r>
              <a:rPr lang="en-US" dirty="0"/>
              <a:t> </a:t>
            </a:r>
            <a:r>
              <a:rPr lang="en-US" dirty="0" err="1"/>
              <a:t>механизмы</a:t>
            </a:r>
            <a:r>
              <a:rPr lang="en-US" dirty="0"/>
              <a:t> Linux.</a:t>
            </a:r>
          </a:p>
          <a:p>
            <a:r>
              <a:rPr lang="en-US" dirty="0" err="1"/>
              <a:t>Наконец</a:t>
            </a:r>
            <a:r>
              <a:rPr lang="en-US" dirty="0"/>
              <a:t>, </a:t>
            </a:r>
            <a:r>
              <a:rPr lang="en-US" dirty="0" err="1"/>
              <a:t>познакомились</a:t>
            </a:r>
            <a:r>
              <a:rPr lang="en-US" dirty="0"/>
              <a:t> с </a:t>
            </a:r>
            <a:r>
              <a:rPr lang="en-US" dirty="0" err="1"/>
              <a:t>алгоритмами</a:t>
            </a:r>
            <a:r>
              <a:rPr lang="en-US" dirty="0"/>
              <a:t> </a:t>
            </a:r>
            <a:r>
              <a:rPr lang="en-US" dirty="0" err="1"/>
              <a:t>реального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— Rate Monotonic и Earliest Deadline First.</a:t>
            </a:r>
          </a:p>
          <a:p>
            <a:endParaRPr lang="ru-RU" dirty="0"/>
          </a:p>
          <a:p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закономерный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алгоритмов</a:t>
            </a:r>
            <a:r>
              <a:rPr lang="en-US" dirty="0"/>
              <a:t> </a:t>
            </a:r>
            <a:r>
              <a:rPr lang="en-US" dirty="0" err="1"/>
              <a:t>лучше</a:t>
            </a:r>
            <a:r>
              <a:rPr lang="en-US" dirty="0"/>
              <a:t>?</a:t>
            </a:r>
          </a:p>
          <a:p>
            <a:r>
              <a:rPr lang="en-US" dirty="0" err="1"/>
              <a:t>Ответ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</a:t>
            </a:r>
            <a:r>
              <a:rPr lang="en-US" dirty="0" err="1"/>
              <a:t>предъявляются</a:t>
            </a:r>
            <a:r>
              <a:rPr lang="en-US" dirty="0"/>
              <a:t> к </a:t>
            </a:r>
            <a:r>
              <a:rPr lang="en-US" dirty="0" err="1"/>
              <a:t>системе</a:t>
            </a:r>
            <a:r>
              <a:rPr lang="en-US" dirty="0"/>
              <a:t>.</a:t>
            </a:r>
          </a:p>
          <a:p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примеров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сценарий</a:t>
            </a:r>
            <a:r>
              <a:rPr lang="en-US" dirty="0"/>
              <a:t> — </a:t>
            </a:r>
            <a:r>
              <a:rPr lang="en-US" dirty="0" err="1"/>
              <a:t>пакетная</a:t>
            </a:r>
            <a:r>
              <a:rPr lang="en-US" dirty="0"/>
              <a:t> </a:t>
            </a:r>
            <a:r>
              <a:rPr lang="en-US" dirty="0" err="1"/>
              <a:t>обработка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</a:p>
          <a:p>
            <a:r>
              <a:rPr lang="en-US" dirty="0" err="1"/>
              <a:t>Предположим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вычислительных</a:t>
            </a:r>
            <a:r>
              <a:rPr lang="en-US" dirty="0"/>
              <a:t> </a:t>
            </a:r>
            <a:r>
              <a:rPr lang="en-US" dirty="0" err="1"/>
              <a:t>заданий</a:t>
            </a:r>
            <a:r>
              <a:rPr lang="en-US" dirty="0"/>
              <a:t>, и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быстрее</a:t>
            </a:r>
            <a:r>
              <a:rPr lang="en-US" dirty="0"/>
              <a:t> </a:t>
            </a:r>
            <a:r>
              <a:rPr lang="en-US" dirty="0" err="1"/>
              <a:t>завершить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в </a:t>
            </a:r>
            <a:r>
              <a:rPr lang="en-US" dirty="0" err="1"/>
              <a:t>среднем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продолжительность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</a:t>
            </a:r>
            <a:r>
              <a:rPr lang="en-US" dirty="0" err="1"/>
              <a:t>известна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полезен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Shortest Job First.</a:t>
            </a:r>
          </a:p>
          <a:p>
            <a:r>
              <a:rPr lang="en-US" dirty="0" err="1"/>
              <a:t>Выполняя</a:t>
            </a:r>
            <a:r>
              <a:rPr lang="en-US" dirty="0"/>
              <a:t> </a:t>
            </a:r>
            <a:r>
              <a:rPr lang="en-US" dirty="0" err="1"/>
              <a:t>короткие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первыми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уменьшаем</a:t>
            </a:r>
            <a:r>
              <a:rPr lang="en-US" dirty="0"/>
              <a:t> </a:t>
            </a:r>
            <a:r>
              <a:rPr lang="en-US" dirty="0" err="1"/>
              <a:t>среднее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и </a:t>
            </a:r>
            <a:r>
              <a:rPr lang="en-US" dirty="0" err="1"/>
              <a:t>завершения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поступают</a:t>
            </a:r>
            <a:r>
              <a:rPr lang="en-US" dirty="0"/>
              <a:t> в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моменты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, </a:t>
            </a:r>
            <a:r>
              <a:rPr lang="en-US" dirty="0" err="1"/>
              <a:t>вытесняющий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r>
              <a:rPr lang="en-US" dirty="0"/>
              <a:t> SRTF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дополнительно</a:t>
            </a:r>
            <a:r>
              <a:rPr lang="en-US" dirty="0"/>
              <a:t> </a:t>
            </a:r>
            <a:r>
              <a:rPr lang="en-US" dirty="0" err="1"/>
              <a:t>улучшать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показатели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в </a:t>
            </a:r>
            <a:r>
              <a:rPr lang="en-US" dirty="0" err="1"/>
              <a:t>реальной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 </a:t>
            </a:r>
            <a:r>
              <a:rPr lang="en-US" dirty="0" err="1"/>
              <a:t>длительность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невозможно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SJF и SRTF </a:t>
            </a:r>
            <a:r>
              <a:rPr lang="en-US" dirty="0" err="1"/>
              <a:t>скорее</a:t>
            </a:r>
            <a:r>
              <a:rPr lang="en-US" dirty="0"/>
              <a:t> </a:t>
            </a:r>
            <a:r>
              <a:rPr lang="en-US" dirty="0" err="1"/>
              <a:t>задают</a:t>
            </a:r>
            <a:r>
              <a:rPr lang="en-US" dirty="0"/>
              <a:t> </a:t>
            </a:r>
            <a:r>
              <a:rPr lang="en-US" dirty="0" err="1"/>
              <a:t>полезный</a:t>
            </a:r>
            <a:r>
              <a:rPr lang="en-US" dirty="0"/>
              <a:t> </a:t>
            </a:r>
            <a:r>
              <a:rPr lang="en-US" dirty="0" err="1"/>
              <a:t>ориентир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выступают</a:t>
            </a:r>
            <a:r>
              <a:rPr lang="en-US" dirty="0"/>
              <a:t> </a:t>
            </a:r>
            <a:r>
              <a:rPr lang="en-US" dirty="0" err="1"/>
              <a:t>универсальным</a:t>
            </a:r>
            <a:r>
              <a:rPr lang="en-US" dirty="0"/>
              <a:t> </a:t>
            </a:r>
            <a:r>
              <a:rPr lang="en-US" dirty="0" err="1"/>
              <a:t>готовым</a:t>
            </a:r>
            <a:r>
              <a:rPr lang="en-US" dirty="0"/>
              <a:t> </a:t>
            </a:r>
            <a:r>
              <a:rPr lang="en-US" dirty="0" err="1"/>
              <a:t>решением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сценарий</a:t>
            </a:r>
            <a:r>
              <a:rPr lang="en-US" dirty="0"/>
              <a:t> — </a:t>
            </a:r>
            <a:r>
              <a:rPr lang="en-US" dirty="0" err="1"/>
              <a:t>интерактивное</a:t>
            </a:r>
            <a:r>
              <a:rPr lang="en-US" dirty="0"/>
              <a:t> </a:t>
            </a:r>
            <a:r>
              <a:rPr lang="en-US" dirty="0" err="1"/>
              <a:t>приложение</a:t>
            </a:r>
            <a:r>
              <a:rPr lang="en-US" dirty="0"/>
              <a:t>.</a:t>
            </a:r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интересует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столько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окончательного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, </a:t>
            </a:r>
            <a:r>
              <a:rPr lang="en-US" dirty="0" err="1"/>
              <a:t>сколько</a:t>
            </a:r>
            <a:r>
              <a:rPr lang="en-US" dirty="0"/>
              <a:t> </a:t>
            </a:r>
            <a:r>
              <a:rPr lang="en-US" dirty="0" err="1"/>
              <a:t>скорость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реакции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текстовый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часов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нажимает</a:t>
            </a:r>
            <a:r>
              <a:rPr lang="en-US" dirty="0"/>
              <a:t> </a:t>
            </a:r>
            <a:r>
              <a:rPr lang="en-US" dirty="0" err="1"/>
              <a:t>клавишу</a:t>
            </a:r>
            <a:r>
              <a:rPr lang="en-US" dirty="0"/>
              <a:t>, </a:t>
            </a:r>
            <a:r>
              <a:rPr lang="en-US" dirty="0" err="1"/>
              <a:t>соответствующий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быстро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CPU.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таких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вытесняющее</a:t>
            </a:r>
            <a:r>
              <a:rPr lang="en-US" dirty="0"/>
              <a:t> </a:t>
            </a:r>
            <a:r>
              <a:rPr lang="en-US" dirty="0" err="1"/>
              <a:t>планирование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видели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Round Robin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обеспечивать</a:t>
            </a:r>
            <a:r>
              <a:rPr lang="en-US" dirty="0"/>
              <a:t> </a:t>
            </a:r>
            <a:r>
              <a:rPr lang="en-US" dirty="0" err="1"/>
              <a:t>быстрый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отклик</a:t>
            </a:r>
            <a:r>
              <a:rPr lang="en-US" dirty="0"/>
              <a:t>, </a:t>
            </a:r>
            <a:r>
              <a:rPr lang="en-US" dirty="0" err="1"/>
              <a:t>регулярно</a:t>
            </a:r>
            <a:r>
              <a:rPr lang="en-US" dirty="0"/>
              <a:t> </a:t>
            </a:r>
            <a:r>
              <a:rPr lang="en-US" dirty="0" err="1"/>
              <a:t>предоставляя</a:t>
            </a:r>
            <a:r>
              <a:rPr lang="en-US" dirty="0"/>
              <a:t> CPU </a:t>
            </a:r>
            <a:r>
              <a:rPr lang="en-US" dirty="0" err="1"/>
              <a:t>всем</a:t>
            </a:r>
            <a:r>
              <a:rPr lang="en-US" dirty="0"/>
              <a:t> </a:t>
            </a:r>
            <a:r>
              <a:rPr lang="en-US" dirty="0" err="1"/>
              <a:t>готовым</a:t>
            </a:r>
            <a:r>
              <a:rPr lang="en-US" dirty="0"/>
              <a:t> </a:t>
            </a:r>
            <a:r>
              <a:rPr lang="en-US" dirty="0" err="1"/>
              <a:t>задачам</a:t>
            </a:r>
            <a:r>
              <a:rPr lang="en-US" dirty="0"/>
              <a:t>.</a:t>
            </a:r>
          </a:p>
          <a:p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развитые</a:t>
            </a:r>
            <a:r>
              <a:rPr lang="en-US" dirty="0"/>
              <a:t> </a:t>
            </a:r>
            <a:r>
              <a:rPr lang="en-US" dirty="0" err="1"/>
              <a:t>алгоритмы</a:t>
            </a:r>
            <a:r>
              <a:rPr lang="en-US" dirty="0"/>
              <a:t>, </a:t>
            </a:r>
            <a:r>
              <a:rPr lang="en-US" dirty="0" err="1"/>
              <a:t>такие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MLFQ и EEVDF,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dirty="0" err="1"/>
              <a:t>дополнительные</a:t>
            </a:r>
            <a:r>
              <a:rPr lang="en-US" dirty="0"/>
              <a:t> </a:t>
            </a:r>
            <a:r>
              <a:rPr lang="en-US" dirty="0" err="1"/>
              <a:t>сведения</a:t>
            </a:r>
            <a:r>
              <a:rPr lang="en-US" dirty="0"/>
              <a:t> о </a:t>
            </a:r>
            <a:r>
              <a:rPr lang="en-US" dirty="0" err="1"/>
              <a:t>поведении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и </a:t>
            </a:r>
            <a:r>
              <a:rPr lang="en-US" dirty="0" err="1"/>
              <a:t>распределении</a:t>
            </a:r>
            <a:r>
              <a:rPr lang="en-US" dirty="0"/>
              <a:t> </a:t>
            </a:r>
            <a:r>
              <a:rPr lang="en-US" dirty="0" err="1"/>
              <a:t>процессорного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современные</a:t>
            </a:r>
            <a:r>
              <a:rPr lang="en-US" dirty="0"/>
              <a:t> </a:t>
            </a:r>
            <a:r>
              <a:rPr lang="en-US" dirty="0" err="1"/>
              <a:t>операционные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общего</a:t>
            </a:r>
            <a:r>
              <a:rPr lang="en-US" dirty="0"/>
              <a:t> </a:t>
            </a:r>
            <a:r>
              <a:rPr lang="en-US" dirty="0" err="1"/>
              <a:t>назначения</a:t>
            </a:r>
            <a:r>
              <a:rPr lang="en-US" dirty="0"/>
              <a:t> </a:t>
            </a:r>
            <a:r>
              <a:rPr lang="en-US" dirty="0" err="1"/>
              <a:t>стремятся</a:t>
            </a:r>
            <a:r>
              <a:rPr lang="en-US" dirty="0"/>
              <a:t> </a:t>
            </a:r>
            <a:r>
              <a:rPr lang="en-US" dirty="0" err="1"/>
              <a:t>сочетать</a:t>
            </a:r>
            <a:r>
              <a:rPr lang="en-US" dirty="0"/>
              <a:t> </a:t>
            </a:r>
            <a:r>
              <a:rPr lang="en-US" dirty="0" err="1"/>
              <a:t>справедливость</a:t>
            </a:r>
            <a:r>
              <a:rPr lang="en-US" dirty="0"/>
              <a:t> и </a:t>
            </a:r>
            <a:r>
              <a:rPr lang="en-US" dirty="0" err="1"/>
              <a:t>отзывчивость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сценарий</a:t>
            </a:r>
            <a:r>
              <a:rPr lang="en-US" dirty="0"/>
              <a:t> — </a:t>
            </a:r>
            <a:r>
              <a:rPr lang="en-US" dirty="0" err="1"/>
              <a:t>многопользовательский</a:t>
            </a:r>
            <a:r>
              <a:rPr lang="en-US" dirty="0"/>
              <a:t> </a:t>
            </a:r>
            <a:r>
              <a:rPr lang="en-US" dirty="0" err="1"/>
              <a:t>сервер</a:t>
            </a:r>
            <a:r>
              <a:rPr lang="en-US" dirty="0"/>
              <a:t>.</a:t>
            </a:r>
          </a:p>
          <a:p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сервере</a:t>
            </a:r>
            <a:r>
              <a:rPr lang="en-US" dirty="0"/>
              <a:t> </a:t>
            </a:r>
            <a:r>
              <a:rPr lang="en-US" dirty="0" err="1"/>
              <a:t>работают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пользователей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приложений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делить</a:t>
            </a:r>
            <a:r>
              <a:rPr lang="en-US" dirty="0"/>
              <a:t> CPU </a:t>
            </a:r>
            <a:r>
              <a:rPr lang="en-US" dirty="0" err="1"/>
              <a:t>поровну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процессами</a:t>
            </a:r>
            <a:r>
              <a:rPr lang="en-US" dirty="0"/>
              <a:t>, </a:t>
            </a:r>
            <a:r>
              <a:rPr lang="en-US" dirty="0" err="1"/>
              <a:t>пользователь</a:t>
            </a:r>
            <a:r>
              <a:rPr lang="en-US" dirty="0"/>
              <a:t>, </a:t>
            </a:r>
            <a:r>
              <a:rPr lang="en-US" dirty="0" err="1"/>
              <a:t>создавший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,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большую</a:t>
            </a:r>
            <a:r>
              <a:rPr lang="en-US" dirty="0"/>
              <a:t> </a:t>
            </a:r>
            <a:r>
              <a:rPr lang="en-US" dirty="0" err="1"/>
              <a:t>суммарную</a:t>
            </a:r>
            <a:r>
              <a:rPr lang="en-US" dirty="0"/>
              <a:t> </a:t>
            </a:r>
            <a:r>
              <a:rPr lang="en-US" dirty="0" err="1"/>
              <a:t>долю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в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потребоваться</a:t>
            </a:r>
            <a:r>
              <a:rPr lang="en-US" dirty="0"/>
              <a:t> Fair-Share Scheduling.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объединять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в </a:t>
            </a:r>
            <a:r>
              <a:rPr lang="en-US" dirty="0" err="1"/>
              <a:t>группы</a:t>
            </a:r>
            <a:r>
              <a:rPr lang="en-US" dirty="0"/>
              <a:t> и </a:t>
            </a:r>
            <a:r>
              <a:rPr lang="en-US" dirty="0" err="1"/>
              <a:t>назначать</a:t>
            </a:r>
            <a:r>
              <a:rPr lang="en-US" dirty="0"/>
              <a:t>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группе</a:t>
            </a:r>
            <a:r>
              <a:rPr lang="en-US" dirty="0"/>
              <a:t> </a:t>
            </a:r>
            <a:r>
              <a:rPr lang="en-US" dirty="0" err="1"/>
              <a:t>определённый</a:t>
            </a:r>
            <a:r>
              <a:rPr lang="en-US" dirty="0"/>
              <a:t> </a:t>
            </a:r>
            <a:r>
              <a:rPr lang="en-US" dirty="0" err="1"/>
              <a:t>вес</a:t>
            </a:r>
            <a:r>
              <a:rPr lang="en-US" dirty="0"/>
              <a:t>.</a:t>
            </a:r>
          </a:p>
          <a:p>
            <a:r>
              <a:rPr lang="en-US" dirty="0"/>
              <a:t>В Linux </a:t>
            </a:r>
            <a:r>
              <a:rPr lang="en-US" dirty="0" err="1"/>
              <a:t>подобный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</a:t>
            </a:r>
            <a:r>
              <a:rPr lang="en-US" dirty="0" err="1"/>
              <a:t>реализуется</a:t>
            </a:r>
            <a:r>
              <a:rPr lang="en-US" dirty="0"/>
              <a:t>, в </a:t>
            </a:r>
            <a:r>
              <a:rPr lang="en-US" dirty="0" err="1"/>
              <a:t>частности</a:t>
            </a:r>
            <a:r>
              <a:rPr lang="en-US" dirty="0"/>
              <a:t>,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dirty="0" err="1"/>
              <a:t>cgroups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И </a:t>
            </a:r>
            <a:r>
              <a:rPr lang="en-US" dirty="0" err="1"/>
              <a:t>наконец</a:t>
            </a:r>
            <a:r>
              <a:rPr lang="en-US" dirty="0"/>
              <a:t>, </a:t>
            </a:r>
            <a:r>
              <a:rPr lang="en-US" dirty="0" err="1"/>
              <a:t>четвёртый</a:t>
            </a:r>
            <a:r>
              <a:rPr lang="en-US" dirty="0"/>
              <a:t> </a:t>
            </a:r>
            <a:r>
              <a:rPr lang="en-US" dirty="0" err="1"/>
              <a:t>сценарий</a:t>
            </a:r>
            <a:r>
              <a:rPr lang="en-US" dirty="0"/>
              <a:t> —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реального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недостаточно</a:t>
            </a:r>
            <a:r>
              <a:rPr lang="en-US" dirty="0"/>
              <a:t> </a:t>
            </a:r>
            <a:r>
              <a:rPr lang="en-US" dirty="0" err="1"/>
              <a:t>обеспечить</a:t>
            </a:r>
            <a:r>
              <a:rPr lang="en-US" dirty="0"/>
              <a:t> </a:t>
            </a:r>
            <a:r>
              <a:rPr lang="en-US" dirty="0" err="1"/>
              <a:t>небольшое</a:t>
            </a:r>
            <a:r>
              <a:rPr lang="en-US" dirty="0"/>
              <a:t> </a:t>
            </a:r>
            <a:r>
              <a:rPr lang="en-US" dirty="0" err="1"/>
              <a:t>среднее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хороший</a:t>
            </a:r>
            <a:r>
              <a:rPr lang="en-US" dirty="0"/>
              <a:t> </a:t>
            </a:r>
            <a:r>
              <a:rPr lang="en-US" dirty="0" err="1"/>
              <a:t>отклик</a:t>
            </a:r>
            <a:r>
              <a:rPr lang="en-US" dirty="0"/>
              <a:t>.</a:t>
            </a:r>
          </a:p>
          <a:p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гарантировать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смогут</a:t>
            </a:r>
            <a:r>
              <a:rPr lang="en-US" dirty="0"/>
              <a:t> </a:t>
            </a:r>
            <a:r>
              <a:rPr lang="en-US" dirty="0" err="1"/>
              <a:t>завершиться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установленных</a:t>
            </a:r>
            <a:r>
              <a:rPr lang="en-US" dirty="0"/>
              <a:t> </a:t>
            </a:r>
            <a:r>
              <a:rPr lang="en-US" dirty="0" err="1"/>
              <a:t>сроков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заданных</a:t>
            </a:r>
            <a:r>
              <a:rPr lang="en-US" dirty="0"/>
              <a:t> </a:t>
            </a:r>
            <a:r>
              <a:rPr lang="en-US" dirty="0" err="1"/>
              <a:t>предпосылках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используются</a:t>
            </a:r>
            <a:r>
              <a:rPr lang="en-US" dirty="0"/>
              <a:t> </a:t>
            </a:r>
            <a:r>
              <a:rPr lang="en-US" dirty="0" err="1"/>
              <a:t>алгоритмы</a:t>
            </a:r>
            <a:r>
              <a:rPr lang="en-US" dirty="0"/>
              <a:t> с </a:t>
            </a:r>
            <a:r>
              <a:rPr lang="en-US" dirty="0" err="1"/>
              <a:t>анализируемыми</a:t>
            </a:r>
            <a:r>
              <a:rPr lang="en-US" dirty="0"/>
              <a:t> </a:t>
            </a:r>
            <a:r>
              <a:rPr lang="en-US" dirty="0" err="1"/>
              <a:t>временными</a:t>
            </a:r>
            <a:r>
              <a:rPr lang="en-US" dirty="0"/>
              <a:t> </a:t>
            </a:r>
            <a:r>
              <a:rPr lang="en-US" dirty="0" err="1"/>
              <a:t>свойствами</a:t>
            </a:r>
            <a:r>
              <a:rPr lang="en-US" dirty="0"/>
              <a:t> — </a:t>
            </a:r>
            <a:r>
              <a:rPr lang="en-US" dirty="0" err="1"/>
              <a:t>например</a:t>
            </a:r>
            <a:r>
              <a:rPr lang="en-US" dirty="0"/>
              <a:t>, Rate Monotonic и EDF.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правильно</a:t>
            </a:r>
            <a:r>
              <a:rPr lang="en-US" dirty="0"/>
              <a:t> </a:t>
            </a:r>
            <a:r>
              <a:rPr lang="en-US" dirty="0" err="1"/>
              <a:t>выбранный</a:t>
            </a:r>
            <a:r>
              <a:rPr lang="en-US" dirty="0"/>
              <a:t> </a:t>
            </a:r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заменяет</a:t>
            </a:r>
            <a:r>
              <a:rPr lang="en-US" dirty="0"/>
              <a:t> </a:t>
            </a:r>
            <a:r>
              <a:rPr lang="en-US" dirty="0" err="1"/>
              <a:t>анализ</a:t>
            </a:r>
            <a:r>
              <a:rPr lang="en-US" dirty="0"/>
              <a:t> WCET, </a:t>
            </a:r>
            <a:r>
              <a:rPr lang="en-US" dirty="0" err="1"/>
              <a:t>блокировок</a:t>
            </a:r>
            <a:r>
              <a:rPr lang="en-US" dirty="0"/>
              <a:t>, </a:t>
            </a:r>
            <a:r>
              <a:rPr lang="en-US" dirty="0" err="1"/>
              <a:t>допустимой</a:t>
            </a:r>
            <a:r>
              <a:rPr lang="en-US" dirty="0"/>
              <a:t> </a:t>
            </a:r>
            <a:r>
              <a:rPr lang="en-US" dirty="0" err="1"/>
              <a:t>загрузки</a:t>
            </a:r>
            <a:r>
              <a:rPr lang="en-US" dirty="0"/>
              <a:t> CPU и </a:t>
            </a:r>
            <a:r>
              <a:rPr lang="en-US" dirty="0" err="1"/>
              <a:t>других</a:t>
            </a:r>
            <a:r>
              <a:rPr lang="en-US" dirty="0"/>
              <a:t> </a:t>
            </a:r>
            <a:r>
              <a:rPr lang="en-US" dirty="0" err="1"/>
              <a:t>задержек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планировщика</a:t>
            </a:r>
            <a:r>
              <a:rPr lang="en-US" dirty="0"/>
              <a:t>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начинается</a:t>
            </a:r>
            <a:r>
              <a:rPr lang="en-US" dirty="0"/>
              <a:t> с </a:t>
            </a:r>
            <a:r>
              <a:rPr lang="en-US" dirty="0" err="1"/>
              <a:t>определения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.</a:t>
            </a:r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ответить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важнее</a:t>
            </a:r>
            <a:r>
              <a:rPr lang="en-US" dirty="0"/>
              <a:t> — </a:t>
            </a:r>
            <a:r>
              <a:rPr lang="en-US" dirty="0" err="1"/>
              <a:t>среднее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, </a:t>
            </a:r>
            <a:r>
              <a:rPr lang="en-US" dirty="0" err="1"/>
              <a:t>отзывчивость</a:t>
            </a:r>
            <a:r>
              <a:rPr lang="en-US" dirty="0"/>
              <a:t>, </a:t>
            </a:r>
            <a:r>
              <a:rPr lang="en-US" dirty="0" err="1"/>
              <a:t>справедливое</a:t>
            </a:r>
            <a:r>
              <a:rPr lang="en-US" dirty="0"/>
              <a:t> </a:t>
            </a:r>
            <a:r>
              <a:rPr lang="en-US" dirty="0" err="1"/>
              <a:t>распределение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соблюдение</a:t>
            </a:r>
            <a:r>
              <a:rPr lang="en-US" dirty="0"/>
              <a:t> </a:t>
            </a:r>
            <a:r>
              <a:rPr lang="en-US" dirty="0" err="1"/>
              <a:t>дедлайнов</a:t>
            </a:r>
            <a:r>
              <a:rPr lang="en-US" dirty="0"/>
              <a:t>?</a:t>
            </a:r>
          </a:p>
          <a:p>
            <a:r>
              <a:rPr lang="en-US" dirty="0"/>
              <a:t>И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выбирать</a:t>
            </a:r>
            <a:r>
              <a:rPr lang="en-US" dirty="0"/>
              <a:t> </a:t>
            </a:r>
            <a:r>
              <a:rPr lang="en-US" dirty="0" err="1"/>
              <a:t>подходящий</a:t>
            </a:r>
            <a:r>
              <a:rPr lang="en-US" dirty="0"/>
              <a:t> </a:t>
            </a:r>
            <a:r>
              <a:rPr lang="en-US" dirty="0" err="1"/>
              <a:t>алгоритм</a:t>
            </a:r>
            <a:r>
              <a:rPr lang="en-US" dirty="0"/>
              <a:t> и </a:t>
            </a:r>
            <a:r>
              <a:rPr lang="en-US" dirty="0" err="1"/>
              <a:t>проверять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характерной</a:t>
            </a:r>
            <a:r>
              <a:rPr lang="en-US" dirty="0"/>
              <a:t> </a:t>
            </a:r>
            <a:r>
              <a:rPr lang="en-US" dirty="0" err="1"/>
              <a:t>нагрузке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в </a:t>
            </a:r>
            <a:r>
              <a:rPr lang="en-US" dirty="0" err="1"/>
              <a:t>реальных</a:t>
            </a:r>
            <a:r>
              <a:rPr lang="en-US" dirty="0"/>
              <a:t> </a:t>
            </a:r>
            <a:r>
              <a:rPr lang="en-US" dirty="0" err="1"/>
              <a:t>операционных</a:t>
            </a:r>
            <a:r>
              <a:rPr lang="en-US" dirty="0"/>
              <a:t> </a:t>
            </a:r>
            <a:r>
              <a:rPr lang="en-US" dirty="0" err="1"/>
              <a:t>системах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подходы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сочетаться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Linux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поддерживает</a:t>
            </a:r>
            <a:r>
              <a:rPr lang="en-US" dirty="0"/>
              <a:t> </a:t>
            </a:r>
            <a:r>
              <a:rPr lang="en-US" dirty="0" err="1"/>
              <a:t>справедливое</a:t>
            </a:r>
            <a:r>
              <a:rPr lang="en-US" dirty="0"/>
              <a:t> </a:t>
            </a:r>
            <a:r>
              <a:rPr lang="en-US" dirty="0" err="1"/>
              <a:t>планирование</a:t>
            </a:r>
            <a:r>
              <a:rPr lang="en-US" dirty="0"/>
              <a:t> </a:t>
            </a:r>
            <a:r>
              <a:rPr lang="en-US" dirty="0" err="1"/>
              <a:t>обычных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и </a:t>
            </a:r>
            <a:r>
              <a:rPr lang="en-US" dirty="0" err="1"/>
              <a:t>отдельные</a:t>
            </a:r>
            <a:r>
              <a:rPr lang="en-US" dirty="0"/>
              <a:t> </a:t>
            </a:r>
            <a:r>
              <a:rPr lang="en-US" dirty="0" err="1"/>
              <a:t>политики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</a:t>
            </a:r>
            <a:r>
              <a:rPr lang="en-US" dirty="0" err="1"/>
              <a:t>реального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правильнее</a:t>
            </a:r>
            <a:r>
              <a:rPr lang="en-US" dirty="0"/>
              <a:t> </a:t>
            </a:r>
            <a:r>
              <a:rPr lang="en-US" dirty="0" err="1"/>
              <a:t>рассматривать</a:t>
            </a:r>
            <a:r>
              <a:rPr lang="en-US" dirty="0"/>
              <a:t> </a:t>
            </a:r>
            <a:r>
              <a:rPr lang="en-US" dirty="0" err="1"/>
              <a:t>перечисленные</a:t>
            </a:r>
            <a:r>
              <a:rPr lang="en-US" dirty="0"/>
              <a:t> </a:t>
            </a:r>
            <a:r>
              <a:rPr lang="en-US" dirty="0" err="1"/>
              <a:t>алгоритмы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принципов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помогают</a:t>
            </a:r>
            <a:r>
              <a:rPr lang="en-US" dirty="0"/>
              <a:t> </a:t>
            </a:r>
            <a:r>
              <a:rPr lang="en-US" dirty="0" err="1"/>
              <a:t>проектировать</a:t>
            </a:r>
            <a:r>
              <a:rPr lang="en-US" dirty="0"/>
              <a:t> </a:t>
            </a:r>
            <a:r>
              <a:rPr lang="en-US" dirty="0" err="1"/>
              <a:t>подходящую</a:t>
            </a:r>
            <a:r>
              <a:rPr lang="en-US" dirty="0"/>
              <a:t> </a:t>
            </a:r>
            <a:r>
              <a:rPr lang="en-US" dirty="0" err="1"/>
              <a:t>политику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9322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подведём</a:t>
            </a:r>
            <a:r>
              <a:rPr lang="en-US" dirty="0"/>
              <a:t> </a:t>
            </a:r>
            <a:r>
              <a:rPr lang="en-US" dirty="0" err="1"/>
              <a:t>итоги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создаём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,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немедленно</a:t>
            </a:r>
            <a:r>
              <a:rPr lang="en-US" dirty="0"/>
              <a:t> </a:t>
            </a:r>
            <a:r>
              <a:rPr lang="en-US" dirty="0" err="1"/>
              <a:t>начнёт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готовых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доступных</a:t>
            </a:r>
            <a:r>
              <a:rPr lang="en-US" dirty="0"/>
              <a:t> </a:t>
            </a:r>
            <a:r>
              <a:rPr lang="en-US" dirty="0" err="1"/>
              <a:t>логических</a:t>
            </a:r>
            <a:r>
              <a:rPr lang="en-US" dirty="0"/>
              <a:t> </a:t>
            </a:r>
            <a:r>
              <a:rPr lang="en-US" dirty="0" err="1"/>
              <a:t>процессоров</a:t>
            </a:r>
            <a:r>
              <a:rPr lang="en-US" dirty="0"/>
              <a:t>,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, </a:t>
            </a:r>
            <a:r>
              <a:rPr lang="en-US" dirty="0" err="1"/>
              <a:t>кому</a:t>
            </a:r>
            <a:r>
              <a:rPr lang="en-US" dirty="0"/>
              <a:t> </a:t>
            </a:r>
            <a:r>
              <a:rPr lang="en-US" dirty="0" err="1"/>
              <a:t>предоставить</a:t>
            </a:r>
            <a:r>
              <a:rPr lang="en-US" dirty="0"/>
              <a:t> CPU.</a:t>
            </a:r>
          </a:p>
          <a:p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познакомились</a:t>
            </a:r>
            <a:r>
              <a:rPr lang="en-US" dirty="0"/>
              <a:t> с </a:t>
            </a:r>
            <a:r>
              <a:rPr lang="en-US" dirty="0" err="1"/>
              <a:t>несколькими</a:t>
            </a:r>
            <a:r>
              <a:rPr lang="en-US" dirty="0"/>
              <a:t> </a:t>
            </a:r>
            <a:r>
              <a:rPr lang="en-US" dirty="0" err="1"/>
              <a:t>способами</a:t>
            </a:r>
            <a:r>
              <a:rPr lang="en-US" dirty="0"/>
              <a:t> </a:t>
            </a:r>
            <a:r>
              <a:rPr lang="en-US" dirty="0" err="1"/>
              <a:t>принятия</a:t>
            </a:r>
            <a:r>
              <a:rPr lang="en-US" dirty="0"/>
              <a:t>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.</a:t>
            </a:r>
          </a:p>
          <a:p>
            <a:r>
              <a:rPr lang="en-US" dirty="0" err="1"/>
              <a:t>Самый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—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в </a:t>
            </a:r>
            <a:r>
              <a:rPr lang="en-US" dirty="0" err="1"/>
              <a:t>порядке</a:t>
            </a:r>
            <a:r>
              <a:rPr lang="en-US" dirty="0"/>
              <a:t> </a:t>
            </a:r>
            <a:r>
              <a:rPr lang="en-US" dirty="0" err="1"/>
              <a:t>поступления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в FCFS.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увидели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длинная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задерживать</a:t>
            </a:r>
            <a:r>
              <a:rPr lang="en-US" dirty="0"/>
              <a:t> </a:t>
            </a:r>
            <a:r>
              <a:rPr lang="en-US" dirty="0" err="1"/>
              <a:t>множество</a:t>
            </a:r>
            <a:r>
              <a:rPr lang="en-US" dirty="0"/>
              <a:t> </a:t>
            </a:r>
            <a:r>
              <a:rPr lang="en-US" dirty="0" err="1"/>
              <a:t>коротких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SJF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уменьшить</a:t>
            </a:r>
            <a:r>
              <a:rPr lang="en-US" dirty="0"/>
              <a:t> </a:t>
            </a:r>
            <a:r>
              <a:rPr lang="en-US" dirty="0" err="1"/>
              <a:t>среднее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продолжительность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</a:t>
            </a:r>
            <a:r>
              <a:rPr lang="en-US" dirty="0" err="1"/>
              <a:t>известна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Round Robin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принцип</a:t>
            </a:r>
            <a:r>
              <a:rPr lang="en-US" dirty="0"/>
              <a:t> — </a:t>
            </a:r>
            <a:r>
              <a:rPr lang="en-US" dirty="0" err="1"/>
              <a:t>ограничивает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непрерывного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и </a:t>
            </a:r>
            <a:r>
              <a:rPr lang="en-US" dirty="0" err="1"/>
              <a:t>регулярно</a:t>
            </a:r>
            <a:r>
              <a:rPr lang="en-US" dirty="0"/>
              <a:t> </a:t>
            </a:r>
            <a:r>
              <a:rPr lang="en-US" dirty="0" err="1"/>
              <a:t>передаёт</a:t>
            </a:r>
            <a:r>
              <a:rPr lang="en-US" dirty="0"/>
              <a:t> CPU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готовыми</a:t>
            </a:r>
            <a:r>
              <a:rPr lang="en-US" dirty="0"/>
              <a:t> </a:t>
            </a:r>
            <a:r>
              <a:rPr lang="en-US" dirty="0" err="1"/>
              <a:t>задачами</a:t>
            </a:r>
            <a:r>
              <a:rPr lang="en-US" dirty="0"/>
              <a:t>.</a:t>
            </a:r>
          </a:p>
          <a:p>
            <a:r>
              <a:rPr lang="en-US" dirty="0" err="1"/>
              <a:t>Благодаря</a:t>
            </a:r>
            <a:r>
              <a:rPr lang="en-US" dirty="0"/>
              <a:t> </a:t>
            </a:r>
            <a:r>
              <a:rPr lang="en-US" dirty="0" err="1"/>
              <a:t>этому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улучшить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первого</a:t>
            </a:r>
            <a:r>
              <a:rPr lang="en-US" dirty="0"/>
              <a:t> </a:t>
            </a:r>
            <a:r>
              <a:rPr lang="en-US" dirty="0" err="1"/>
              <a:t>отклика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маленьком</a:t>
            </a:r>
            <a:r>
              <a:rPr lang="en-US" dirty="0"/>
              <a:t> </a:t>
            </a:r>
            <a:r>
              <a:rPr lang="en-US" dirty="0" err="1"/>
              <a:t>кванте</a:t>
            </a:r>
            <a:r>
              <a:rPr lang="en-US" dirty="0"/>
              <a:t> </a:t>
            </a:r>
            <a:r>
              <a:rPr lang="en-US" dirty="0" err="1"/>
              <a:t>увеличиваются</a:t>
            </a:r>
            <a:r>
              <a:rPr lang="en-US" dirty="0"/>
              <a:t> </a:t>
            </a:r>
            <a:r>
              <a:rPr lang="en-US" dirty="0" err="1"/>
              <a:t>расходы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переключения</a:t>
            </a:r>
            <a:r>
              <a:rPr lang="en-US" dirty="0"/>
              <a:t> </a:t>
            </a:r>
            <a:r>
              <a:rPr lang="en-US" dirty="0" err="1"/>
              <a:t>контекста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рассмотрели</a:t>
            </a:r>
            <a:r>
              <a:rPr lang="en-US" dirty="0"/>
              <a:t> </a:t>
            </a:r>
            <a:r>
              <a:rPr lang="en-US" dirty="0" err="1"/>
              <a:t>приоритетное</a:t>
            </a:r>
            <a:r>
              <a:rPr lang="en-US" dirty="0"/>
              <a:t> </a:t>
            </a:r>
            <a:r>
              <a:rPr lang="en-US" dirty="0" err="1"/>
              <a:t>планирование</a:t>
            </a:r>
            <a:r>
              <a:rPr lang="en-US" dirty="0"/>
              <a:t>.</a:t>
            </a:r>
          </a:p>
          <a:p>
            <a:r>
              <a:rPr lang="en-US" dirty="0" err="1"/>
              <a:t>Приоритеты</a:t>
            </a:r>
            <a:r>
              <a:rPr lang="en-US" dirty="0"/>
              <a:t> </a:t>
            </a:r>
            <a:r>
              <a:rPr lang="en-US" dirty="0" err="1"/>
              <a:t>позволяют</a:t>
            </a:r>
            <a:r>
              <a:rPr lang="en-US" dirty="0"/>
              <a:t> </a:t>
            </a:r>
            <a:r>
              <a:rPr lang="en-US" dirty="0" err="1"/>
              <a:t>быстрее</a:t>
            </a:r>
            <a:r>
              <a:rPr lang="en-US" dirty="0"/>
              <a:t> </a:t>
            </a:r>
            <a:r>
              <a:rPr lang="en-US" dirty="0" err="1"/>
              <a:t>обслуживать</a:t>
            </a:r>
            <a:r>
              <a:rPr lang="en-US" dirty="0"/>
              <a:t> </a:t>
            </a:r>
            <a:r>
              <a:rPr lang="en-US" dirty="0" err="1"/>
              <a:t>важные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строгом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соблюдении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риск</a:t>
            </a:r>
            <a:r>
              <a:rPr lang="en-US" dirty="0"/>
              <a:t> </a:t>
            </a:r>
            <a:r>
              <a:rPr lang="en-US" dirty="0" err="1"/>
              <a:t>голодания</a:t>
            </a:r>
            <a:r>
              <a:rPr lang="en-US" dirty="0"/>
              <a:t> </a:t>
            </a:r>
            <a:r>
              <a:rPr lang="en-US" dirty="0" err="1"/>
              <a:t>менее</a:t>
            </a:r>
            <a:r>
              <a:rPr lang="en-US" dirty="0"/>
              <a:t> </a:t>
            </a:r>
            <a:r>
              <a:rPr lang="en-US" dirty="0" err="1"/>
              <a:t>приоритетных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,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динамические</a:t>
            </a:r>
            <a:r>
              <a:rPr lang="en-US" dirty="0"/>
              <a:t> </a:t>
            </a:r>
            <a:r>
              <a:rPr lang="en-US" dirty="0" err="1"/>
              <a:t>приоритеты</a:t>
            </a:r>
            <a:r>
              <a:rPr lang="en-US" dirty="0"/>
              <a:t>, Aging и </a:t>
            </a:r>
            <a:r>
              <a:rPr lang="en-US" dirty="0" err="1"/>
              <a:t>многоуровневые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и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определять</a:t>
            </a:r>
            <a:r>
              <a:rPr lang="en-US" dirty="0"/>
              <a:t>, </a:t>
            </a:r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учитывать</a:t>
            </a:r>
            <a:r>
              <a:rPr lang="en-US" dirty="0"/>
              <a:t>, </a:t>
            </a:r>
            <a:r>
              <a:rPr lang="en-US" dirty="0" err="1"/>
              <a:t>какую</a:t>
            </a:r>
            <a:r>
              <a:rPr lang="en-US" dirty="0"/>
              <a:t> </a:t>
            </a:r>
            <a:r>
              <a:rPr lang="en-US" dirty="0" err="1"/>
              <a:t>долю</a:t>
            </a:r>
            <a:r>
              <a:rPr lang="en-US" dirty="0"/>
              <a:t> </a:t>
            </a:r>
            <a:r>
              <a:rPr lang="en-US" dirty="0" err="1"/>
              <a:t>процессорного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получать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пришли</a:t>
            </a:r>
            <a:r>
              <a:rPr lang="en-US" dirty="0"/>
              <a:t> к </a:t>
            </a:r>
            <a:r>
              <a:rPr lang="en-US" dirty="0" err="1"/>
              <a:t>справедливому</a:t>
            </a:r>
            <a:r>
              <a:rPr lang="en-US" dirty="0"/>
              <a:t> </a:t>
            </a:r>
            <a:r>
              <a:rPr lang="en-US" dirty="0" err="1"/>
              <a:t>планированию</a:t>
            </a:r>
            <a:r>
              <a:rPr lang="en-US" dirty="0"/>
              <a:t>.</a:t>
            </a:r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примере</a:t>
            </a:r>
            <a:r>
              <a:rPr lang="en-US" dirty="0"/>
              <a:t> CFS и EEVDF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увидели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идеи</a:t>
            </a:r>
            <a:r>
              <a:rPr lang="en-US" dirty="0"/>
              <a:t> </a:t>
            </a:r>
            <a:r>
              <a:rPr lang="en-US" dirty="0" err="1"/>
              <a:t>развивались</a:t>
            </a:r>
            <a:r>
              <a:rPr lang="en-US" dirty="0"/>
              <a:t> в Linux.</a:t>
            </a:r>
          </a:p>
          <a:p>
            <a:endParaRPr lang="ru-RU" dirty="0"/>
          </a:p>
          <a:p>
            <a:r>
              <a:rPr lang="en-US" dirty="0" err="1"/>
              <a:t>Отдельно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разобрали</a:t>
            </a:r>
            <a:r>
              <a:rPr lang="en-US" dirty="0"/>
              <a:t> </a:t>
            </a:r>
            <a:r>
              <a:rPr lang="en-US" dirty="0" err="1"/>
              <a:t>планирование</a:t>
            </a:r>
            <a:r>
              <a:rPr lang="en-US" dirty="0"/>
              <a:t> в </a:t>
            </a:r>
            <a:r>
              <a:rPr lang="en-US" dirty="0" err="1"/>
              <a:t>многоядерных</a:t>
            </a:r>
            <a:r>
              <a:rPr lang="en-US" dirty="0"/>
              <a:t> </a:t>
            </a:r>
            <a:r>
              <a:rPr lang="en-US" dirty="0" err="1"/>
              <a:t>системах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Оказалось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выбрать</a:t>
            </a:r>
            <a:r>
              <a:rPr lang="en-US" dirty="0"/>
              <a:t> </a:t>
            </a:r>
            <a:r>
              <a:rPr lang="en-US" dirty="0" err="1"/>
              <a:t>следующую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определить</a:t>
            </a:r>
            <a:r>
              <a:rPr lang="en-US" dirty="0"/>
              <a:t>,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каком</a:t>
            </a:r>
            <a:r>
              <a:rPr lang="en-US" dirty="0"/>
              <a:t> </a:t>
            </a:r>
            <a:r>
              <a:rPr lang="en-US" dirty="0" err="1"/>
              <a:t>процессоре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перенос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CPU </a:t>
            </a:r>
            <a:r>
              <a:rPr lang="en-US" dirty="0" err="1"/>
              <a:t>помогает</a:t>
            </a:r>
            <a:r>
              <a:rPr lang="en-US" dirty="0"/>
              <a:t> </a:t>
            </a:r>
            <a:r>
              <a:rPr lang="en-US" dirty="0" err="1"/>
              <a:t>балансировать</a:t>
            </a:r>
            <a:r>
              <a:rPr lang="en-US" dirty="0"/>
              <a:t> </a:t>
            </a:r>
            <a:r>
              <a:rPr lang="en-US" dirty="0" err="1"/>
              <a:t>нагрузку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ухудшать</a:t>
            </a:r>
            <a:r>
              <a:rPr lang="en-US" dirty="0"/>
              <a:t> </a:t>
            </a:r>
            <a:r>
              <a:rPr lang="en-US" dirty="0" err="1"/>
              <a:t>локальность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в </a:t>
            </a:r>
            <a:r>
              <a:rPr lang="en-US" dirty="0" err="1"/>
              <a:t>кэшах</a:t>
            </a:r>
            <a:r>
              <a:rPr lang="en-US" dirty="0"/>
              <a:t> и </a:t>
            </a:r>
            <a:r>
              <a:rPr lang="en-US" dirty="0" err="1"/>
              <a:t>памяти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Наконец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познакомились</a:t>
            </a:r>
            <a:r>
              <a:rPr lang="en-US" dirty="0"/>
              <a:t> с </a:t>
            </a:r>
            <a:r>
              <a:rPr lang="en-US" dirty="0" err="1"/>
              <a:t>планированием</a:t>
            </a:r>
            <a:r>
              <a:rPr lang="en-US" dirty="0"/>
              <a:t> </a:t>
            </a:r>
            <a:r>
              <a:rPr lang="en-US" dirty="0" err="1"/>
              <a:t>реального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строже</a:t>
            </a:r>
            <a:r>
              <a:rPr lang="en-US" dirty="0"/>
              <a:t>.</a:t>
            </a:r>
          </a:p>
          <a:p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интересует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хорошая</a:t>
            </a:r>
            <a:r>
              <a:rPr lang="en-US" dirty="0"/>
              <a:t> </a:t>
            </a:r>
            <a:r>
              <a:rPr lang="en-US" dirty="0" err="1"/>
              <a:t>средняя</a:t>
            </a:r>
            <a:r>
              <a:rPr lang="en-US" dirty="0"/>
              <a:t> </a:t>
            </a:r>
            <a:r>
              <a:rPr lang="en-US" dirty="0" err="1"/>
              <a:t>производительность</a:t>
            </a:r>
            <a:r>
              <a:rPr lang="en-US" dirty="0"/>
              <a:t>, а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завершать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заданных</a:t>
            </a:r>
            <a:r>
              <a:rPr lang="en-US" dirty="0"/>
              <a:t> </a:t>
            </a:r>
            <a:r>
              <a:rPr lang="en-US" dirty="0" err="1"/>
              <a:t>дедлайнов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используются</a:t>
            </a:r>
            <a:r>
              <a:rPr lang="en-US" dirty="0"/>
              <a:t> </a:t>
            </a:r>
            <a:r>
              <a:rPr lang="en-US" dirty="0" err="1"/>
              <a:t>алгоритмы</a:t>
            </a:r>
            <a:r>
              <a:rPr lang="en-US" dirty="0"/>
              <a:t> Rate Monotonic и EDF, а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методы</a:t>
            </a:r>
            <a:r>
              <a:rPr lang="en-US" dirty="0"/>
              <a:t> </a:t>
            </a:r>
            <a:r>
              <a:rPr lang="en-US" dirty="0" err="1"/>
              <a:t>анализа</a:t>
            </a:r>
            <a:r>
              <a:rPr lang="en-US" dirty="0"/>
              <a:t> </a:t>
            </a:r>
            <a:r>
              <a:rPr lang="en-US" dirty="0" err="1"/>
              <a:t>планируемости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И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вернёмся</a:t>
            </a:r>
            <a:r>
              <a:rPr lang="en-US" dirty="0"/>
              <a:t> к </a:t>
            </a:r>
            <a:r>
              <a:rPr lang="en-US" dirty="0" err="1"/>
              <a:t>вопросу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самого</a:t>
            </a:r>
            <a:r>
              <a:rPr lang="en-US" dirty="0"/>
              <a:t> </a:t>
            </a:r>
            <a:r>
              <a:rPr lang="en-US" dirty="0" err="1"/>
              <a:t>начала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.</a:t>
            </a:r>
          </a:p>
          <a:p>
            <a:r>
              <a:rPr lang="en-US" dirty="0" err="1"/>
              <a:t>Представьте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компьютере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выполняются</a:t>
            </a:r>
            <a:r>
              <a:rPr lang="en-US" dirty="0"/>
              <a:t> </a:t>
            </a:r>
            <a:r>
              <a:rPr lang="en-US" dirty="0" err="1"/>
              <a:t>компиляция</a:t>
            </a:r>
            <a:r>
              <a:rPr lang="en-US" dirty="0"/>
              <a:t> </a:t>
            </a:r>
            <a:r>
              <a:rPr lang="en-US" dirty="0" err="1"/>
              <a:t>большого</a:t>
            </a:r>
            <a:r>
              <a:rPr lang="en-US" dirty="0"/>
              <a:t> </a:t>
            </a:r>
            <a:r>
              <a:rPr lang="en-US" dirty="0" err="1"/>
              <a:t>проекта</a:t>
            </a:r>
            <a:r>
              <a:rPr lang="en-US" dirty="0"/>
              <a:t>, </a:t>
            </a:r>
            <a:r>
              <a:rPr lang="en-US" dirty="0" err="1"/>
              <a:t>браузер</a:t>
            </a:r>
            <a:r>
              <a:rPr lang="en-US" dirty="0"/>
              <a:t> и </a:t>
            </a:r>
            <a:r>
              <a:rPr lang="en-US" dirty="0" err="1"/>
              <a:t>музыкальный</a:t>
            </a:r>
            <a:r>
              <a:rPr lang="en-US" dirty="0"/>
              <a:t> </a:t>
            </a:r>
            <a:r>
              <a:rPr lang="en-US" dirty="0" err="1"/>
              <a:t>проигрыватель</a:t>
            </a:r>
            <a:r>
              <a:rPr lang="en-US" dirty="0"/>
              <a:t>.</a:t>
            </a:r>
          </a:p>
          <a:p>
            <a:r>
              <a:rPr lang="en-US" dirty="0" err="1"/>
              <a:t>Компилятор</a:t>
            </a:r>
            <a:r>
              <a:rPr lang="en-US" dirty="0"/>
              <a:t> </a:t>
            </a:r>
            <a:r>
              <a:rPr lang="en-US" dirty="0" err="1"/>
              <a:t>хочет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вычислительных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быстрее</a:t>
            </a:r>
            <a:r>
              <a:rPr lang="en-US" dirty="0"/>
              <a:t> </a:t>
            </a:r>
            <a:r>
              <a:rPr lang="en-US" dirty="0" err="1"/>
              <a:t>завершить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.</a:t>
            </a:r>
          </a:p>
          <a:p>
            <a:r>
              <a:rPr lang="en-US" dirty="0" err="1"/>
              <a:t>Браузеру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быстро</a:t>
            </a:r>
            <a:r>
              <a:rPr lang="en-US" dirty="0"/>
              <a:t> </a:t>
            </a:r>
            <a:r>
              <a:rPr lang="en-US" dirty="0" err="1"/>
              <a:t>реагировать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.</a:t>
            </a:r>
          </a:p>
          <a:p>
            <a:r>
              <a:rPr lang="en-US" dirty="0" err="1"/>
              <a:t>Аудиоподсистеме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регулярно</a:t>
            </a:r>
            <a:r>
              <a:rPr lang="en-US" dirty="0"/>
              <a:t> </a:t>
            </a:r>
            <a:r>
              <a:rPr lang="en-US" dirty="0" err="1"/>
              <a:t>подготавливать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порции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воспроизведение</a:t>
            </a:r>
            <a:r>
              <a:rPr lang="en-US" dirty="0"/>
              <a:t> </a:t>
            </a:r>
            <a:r>
              <a:rPr lang="en-US" dirty="0" err="1"/>
              <a:t>оставалось</a:t>
            </a:r>
            <a:r>
              <a:rPr lang="en-US" dirty="0"/>
              <a:t> </a:t>
            </a:r>
            <a:r>
              <a:rPr lang="en-US" dirty="0" err="1"/>
              <a:t>непрерывным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Получается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компонента</a:t>
            </a:r>
            <a:r>
              <a:rPr lang="en-US" dirty="0"/>
              <a:t> </a:t>
            </a:r>
            <a:r>
              <a:rPr lang="en-US" dirty="0" err="1"/>
              <a:t>предъявляют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к </a:t>
            </a:r>
            <a:r>
              <a:rPr lang="en-US" dirty="0" err="1"/>
              <a:t>планированию</a:t>
            </a:r>
            <a:r>
              <a:rPr lang="en-US" dirty="0"/>
              <a:t>.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выбрать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критерий</a:t>
            </a:r>
            <a:r>
              <a:rPr lang="en-US" dirty="0"/>
              <a:t> и </a:t>
            </a:r>
            <a:r>
              <a:rPr lang="en-US" dirty="0" err="1"/>
              <a:t>оптимизировать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стремиться</a:t>
            </a:r>
            <a:r>
              <a:rPr lang="en-US" dirty="0"/>
              <a:t> </a:t>
            </a:r>
            <a:r>
              <a:rPr lang="en-US" dirty="0" err="1"/>
              <a:t>исключительно</a:t>
            </a:r>
            <a:r>
              <a:rPr lang="en-US" dirty="0"/>
              <a:t> к </a:t>
            </a:r>
            <a:r>
              <a:rPr lang="en-US" dirty="0" err="1"/>
              <a:t>максимальной</a:t>
            </a:r>
            <a:r>
              <a:rPr lang="en-US" dirty="0"/>
              <a:t> </a:t>
            </a:r>
            <a:r>
              <a:rPr lang="en-US" dirty="0" err="1"/>
              <a:t>пропускной</a:t>
            </a:r>
            <a:r>
              <a:rPr lang="en-US" dirty="0"/>
              <a:t> </a:t>
            </a:r>
            <a:r>
              <a:rPr lang="en-US" dirty="0" err="1"/>
              <a:t>способности</a:t>
            </a:r>
            <a:r>
              <a:rPr lang="en-US" dirty="0"/>
              <a:t>,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пострадать</a:t>
            </a:r>
            <a:r>
              <a:rPr lang="en-US" dirty="0"/>
              <a:t> </a:t>
            </a:r>
            <a:r>
              <a:rPr lang="en-US" dirty="0" err="1"/>
              <a:t>отзывчивость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переключать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, </a:t>
            </a:r>
            <a:r>
              <a:rPr lang="en-US" dirty="0" err="1"/>
              <a:t>увеличим</a:t>
            </a:r>
            <a:r>
              <a:rPr lang="en-US" dirty="0"/>
              <a:t> </a:t>
            </a:r>
            <a:r>
              <a:rPr lang="en-US" dirty="0" err="1"/>
              <a:t>накладные</a:t>
            </a:r>
            <a:r>
              <a:rPr lang="en-US" dirty="0"/>
              <a:t> </a:t>
            </a:r>
            <a:r>
              <a:rPr lang="en-US" dirty="0" err="1"/>
              <a:t>расходы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предоставлять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самым</a:t>
            </a:r>
            <a:r>
              <a:rPr lang="en-US" dirty="0"/>
              <a:t> </a:t>
            </a:r>
            <a:r>
              <a:rPr lang="en-US" dirty="0" err="1"/>
              <a:t>приоритетным</a:t>
            </a:r>
            <a:r>
              <a:rPr lang="en-US" dirty="0"/>
              <a:t> </a:t>
            </a:r>
            <a:r>
              <a:rPr lang="en-US" dirty="0" err="1"/>
              <a:t>потокам</a:t>
            </a:r>
            <a:r>
              <a:rPr lang="en-US" dirty="0"/>
              <a:t>, </a:t>
            </a:r>
            <a:r>
              <a:rPr lang="en-US" dirty="0" err="1"/>
              <a:t>остальные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начать</a:t>
            </a:r>
            <a:r>
              <a:rPr lang="en-US" dirty="0"/>
              <a:t> </a:t>
            </a:r>
            <a:r>
              <a:rPr lang="en-US" dirty="0" err="1"/>
              <a:t>испытывать</a:t>
            </a:r>
            <a:r>
              <a:rPr lang="en-US" dirty="0"/>
              <a:t> </a:t>
            </a:r>
            <a:r>
              <a:rPr lang="en-US" dirty="0" err="1"/>
              <a:t>голодание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А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интересуют</a:t>
            </a:r>
            <a:r>
              <a:rPr lang="en-US" dirty="0"/>
              <a:t> </a:t>
            </a:r>
            <a:r>
              <a:rPr lang="en-US" dirty="0" err="1"/>
              <a:t>жёсткие</a:t>
            </a:r>
            <a:r>
              <a:rPr lang="en-US" dirty="0"/>
              <a:t> </a:t>
            </a:r>
            <a:r>
              <a:rPr lang="en-US" dirty="0" err="1"/>
              <a:t>временные</a:t>
            </a:r>
            <a:r>
              <a:rPr lang="en-US" dirty="0"/>
              <a:t> </a:t>
            </a:r>
            <a:r>
              <a:rPr lang="en-US" dirty="0" err="1"/>
              <a:t>ограничения</a:t>
            </a:r>
            <a:r>
              <a:rPr lang="en-US" dirty="0"/>
              <a:t>, </a:t>
            </a:r>
            <a:r>
              <a:rPr lang="en-US" dirty="0" err="1"/>
              <a:t>придётся</a:t>
            </a:r>
            <a:r>
              <a:rPr lang="en-US" dirty="0"/>
              <a:t> </a:t>
            </a:r>
            <a:r>
              <a:rPr lang="en-US" dirty="0" err="1"/>
              <a:t>анализировать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всю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основная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 — </a:t>
            </a:r>
            <a:r>
              <a:rPr lang="en-US" dirty="0" err="1"/>
              <a:t>находить</a:t>
            </a:r>
            <a:r>
              <a:rPr lang="en-US" dirty="0"/>
              <a:t> </a:t>
            </a:r>
            <a:r>
              <a:rPr lang="en-US" dirty="0" err="1"/>
              <a:t>разумный</a:t>
            </a:r>
            <a:r>
              <a:rPr lang="en-US" dirty="0"/>
              <a:t> </a:t>
            </a:r>
            <a:r>
              <a:rPr lang="en-US" dirty="0" err="1"/>
              <a:t>компромисс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требованиями</a:t>
            </a:r>
            <a:r>
              <a:rPr lang="en-US" dirty="0"/>
              <a:t> </a:t>
            </a:r>
            <a:r>
              <a:rPr lang="en-US" dirty="0" err="1"/>
              <a:t>приложений</a:t>
            </a:r>
            <a:r>
              <a:rPr lang="en-US" dirty="0"/>
              <a:t> и </a:t>
            </a:r>
            <a:r>
              <a:rPr lang="en-US" dirty="0" err="1"/>
              <a:t>ограничениями</a:t>
            </a:r>
            <a:r>
              <a:rPr lang="en-US" dirty="0"/>
              <a:t> </a:t>
            </a:r>
            <a:r>
              <a:rPr lang="en-US" dirty="0" err="1"/>
              <a:t>аппаратных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Хороший</a:t>
            </a:r>
            <a:r>
              <a:rPr lang="en-US" dirty="0"/>
              <a:t> </a:t>
            </a:r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алгоритм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быстрее</a:t>
            </a:r>
            <a:r>
              <a:rPr lang="en-US" dirty="0"/>
              <a:t> </a:t>
            </a:r>
            <a:r>
              <a:rPr lang="en-US" dirty="0" err="1"/>
              <a:t>остальных</a:t>
            </a:r>
            <a:r>
              <a:rPr lang="en-US" dirty="0"/>
              <a:t>, а </a:t>
            </a:r>
            <a:r>
              <a:rPr lang="en-US" dirty="0" err="1"/>
              <a:t>алгоритм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обеспечивает</a:t>
            </a:r>
            <a:r>
              <a:rPr lang="en-US" dirty="0"/>
              <a:t> </a:t>
            </a:r>
            <a:r>
              <a:rPr lang="en-US" dirty="0" err="1"/>
              <a:t>нужные</a:t>
            </a:r>
            <a:r>
              <a:rPr lang="en-US" dirty="0"/>
              <a:t> </a:t>
            </a:r>
            <a:r>
              <a:rPr lang="en-US" dirty="0" err="1"/>
              <a:t>характеристики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в </a:t>
            </a:r>
            <a:r>
              <a:rPr lang="en-US" dirty="0" err="1"/>
              <a:t>конкретных</a:t>
            </a:r>
            <a:r>
              <a:rPr lang="en-US" dirty="0"/>
              <a:t> </a:t>
            </a:r>
            <a:r>
              <a:rPr lang="en-US" dirty="0" err="1"/>
              <a:t>условиях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005B4-F216-4788-933A-81F72935BDB0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690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4290-46E1-A589-EA74-C802D61496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D0AD67-C0D2-07F4-D641-CF83C3B7DA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AF0A5-DD58-B78A-F041-B277D663F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7604-CC30-4CB1-A026-20828BA6A76B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AA1BF-A2B1-D895-9486-DA1B28368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02AE0-8C9B-540B-5C0B-5A56542F2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182C1-4820-4458-970C-EB1B5DD2C9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782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0D6CE-2DCA-C59F-C312-C6CEE22F8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AD8AE-E928-FA5A-84AA-3D759126E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4B453-7329-DED3-F5FB-913A09A1B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7604-CC30-4CB1-A026-20828BA6A76B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C9CE3-77B0-29A0-A9AB-111528228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FFEC2-6658-123F-5282-5B7DD7E58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182C1-4820-4458-970C-EB1B5DD2C9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356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7C005-7EB2-5845-BFF8-02A66B176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F9199-C7F4-618A-62DD-0A1DF6F78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7B47E-E911-E7AF-B079-0DAC020E0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7604-CC30-4CB1-A026-20828BA6A76B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2E8F7-F722-BC1A-E6AD-8C480DFA5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67C93-BDE6-2195-0FA2-FA5AA4AED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182C1-4820-4458-970C-EB1B5DD2C9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903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ABA07-131B-EEBC-EE29-23C790AE4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A32D2-7641-6DB4-49C5-08268D0412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50DBD-61A1-0B99-2936-57A2AD90FC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179D78-257B-6D7D-16EE-65895ED66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7604-CC30-4CB1-A026-20828BA6A76B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C4D7F-3F42-FF4E-873E-9CAF56575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667D1C-ABED-C0D6-500B-E6C6938FE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182C1-4820-4458-970C-EB1B5DD2C9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21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ABA07-131B-EEBC-EE29-23C790AE4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A32D2-7641-6DB4-49C5-08268D0412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051629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50DBD-61A1-0B99-2936-57A2AD90FC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38600" y="1825625"/>
            <a:ext cx="41148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179D78-257B-6D7D-16EE-65895ED66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7604-CC30-4CB1-A026-20828BA6A76B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C4D7F-3F42-FF4E-873E-9CAF56575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667D1C-ABED-C0D6-500B-E6C6938FE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182C1-4820-4458-970C-EB1B5DD2C9C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2819FA2-9C44-F056-84F1-4435C892842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02171" y="1847850"/>
            <a:ext cx="3204029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10836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5EEA9-2867-A131-7CFE-B391FCF6E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A31A8-F6C4-4184-32A7-4B6D9127F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A17A9A-31E4-788C-96C2-13645B518B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52D86-F5ED-6C97-E08E-94B8BFC1DB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E9E315-1879-4667-57C6-AF5E5EC5A1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CFD54B-0294-6B06-2947-87A51AF14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7604-CC30-4CB1-A026-20828BA6A76B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9C614B-5893-EB32-7ACA-EFF698187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B828B2-75F7-DE01-F9DF-4EE670B39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182C1-4820-4458-970C-EB1B5DD2C9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469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E3A3D-EDCA-8364-B65C-3E6BBEBF1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04A95B-5C08-0BDC-572A-85D6BE5F4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7604-CC30-4CB1-A026-20828BA6A76B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872738-06E8-33EA-59C7-1E7468628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2EF11F-0FB2-EE28-A6EF-FA89A9230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182C1-4820-4458-970C-EB1B5DD2C9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893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C57D4F-8E5E-5561-AD00-14F663BC0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7604-CC30-4CB1-A026-20828BA6A76B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84FE85-972A-08C4-10F5-47D010337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CF1B-C8EC-C632-D17A-1DE4B52EC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182C1-4820-4458-970C-EB1B5DD2C9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061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08429-70A1-D078-49B9-35960DD2A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3C5F7-52D3-4048-469D-F2FAF1A1F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8BFB8-A5BE-CAA5-79B4-4C5FCAD9D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77674D-ACB8-BACF-2EF0-E7F04C178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7604-CC30-4CB1-A026-20828BA6A76B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2B25E7-FC41-E28D-4796-171A363FB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C330C7-C89E-C7F4-AFB8-0CA2A27F8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182C1-4820-4458-970C-EB1B5DD2C9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5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D1500-3B26-3A27-DA36-063A5B04E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F7EFE7-5BC2-A091-89C0-6B9FC4E579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A97556-D1F6-6359-4B20-2A07B7A385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2C011F-7E53-2BB6-CDBA-3B0D8DB15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7604-CC30-4CB1-A026-20828BA6A76B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B425F-4FA9-5719-11BC-50A16A0E2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333FB1-B26B-E609-FA51-7BD068D76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182C1-4820-4458-970C-EB1B5DD2C9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22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CEF2B-6071-0C40-AFE2-B81A2CE34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BCEA90-46C9-22C2-859C-98CB7C0191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C32D3-C788-0AC5-1689-1DB1D03D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7604-CC30-4CB1-A026-20828BA6A76B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64066-1494-4C97-CAE4-225866951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363A4-4EAA-B7D3-B877-548483D8E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182C1-4820-4458-970C-EB1B5DD2C9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647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5F1F7B-EE5B-CE64-EB0A-6820D06960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91F73-1665-635C-D539-0CD883FA8D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14522-BF7A-9554-45AB-F1D8DF0CC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7604-CC30-4CB1-A026-20828BA6A76B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E2461-8AD0-A9FC-290D-C7C3B2B5D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E88E6-02E1-94E5-6F65-358E8DDEA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182C1-4820-4458-970C-EB1B5DD2C9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018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F232C3-452B-BE0F-2715-A23C96733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E6155C-9DDA-7CE8-57B4-074786395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6772A-81D3-3EB1-EAA0-C7CEBC3FCC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347604-CC30-4CB1-A026-20828BA6A76B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AC9A08-D3DA-2D90-C366-F34AE72B85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FEDC5-6058-9006-8FD4-230B792B8A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3182C1-4820-4458-970C-EB1B5DD2C9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98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man7.org/linux/man-pages/man7/sched.7.html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man7.org/linux/man-pages/man2/nice.2.html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an7.org/linux/man-pages/man7/cgroups.7.html" TargetMode="External"/><Relationship Id="rId5" Type="http://schemas.openxmlformats.org/officeDocument/2006/relationships/hyperlink" Target="https://man7.org/linux/man-pages/man2/sched_setaffinity.2.html" TargetMode="External"/><Relationship Id="rId4" Type="http://schemas.openxmlformats.org/officeDocument/2006/relationships/hyperlink" Target="https://man7.org/linux/man-pages/man2/sched_setscheduler.2.html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23ED0-3E48-3D66-4B02-BCE7211722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333727"/>
          </a:xfrm>
        </p:spPr>
        <p:txBody>
          <a:bodyPr/>
          <a:lstStyle/>
          <a:p>
            <a:r>
              <a:rPr lang="ru-RU" dirty="0"/>
              <a:t>Планирование задач (</a:t>
            </a:r>
            <a:r>
              <a:rPr lang="en-US" dirty="0"/>
              <a:t>Scheduling)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ED9E21-3F39-21F1-FC4B-083A4A78A3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576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DC31B-0EE4-8552-2A2D-FE590BE34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Планирование задач: кому достанется CPU?</a:t>
            </a:r>
            <a:endParaRPr lang="en-US" dirty="0"/>
          </a:p>
        </p:txBody>
      </p:sp>
      <p:pic>
        <p:nvPicPr>
          <p:cNvPr id="10" name="Content Placeholder 5">
            <a:extLst>
              <a:ext uri="{FF2B5EF4-FFF2-40B4-BE49-F238E27FC236}">
                <a16:creationId xmlns:a16="http://schemas.microsoft.com/office/drawing/2014/main" id="{EA122C93-F841-A289-38EE-870342163E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7553" y="1621106"/>
            <a:ext cx="5236894" cy="523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547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4AB7F-6E6D-AB46-B70A-77864997F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 многозадачности к планированию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AD494-3518-78CE-356B-D9B90D259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err="1"/>
              <a:t>Современная</a:t>
            </a:r>
            <a:r>
              <a:rPr lang="en-US" dirty="0"/>
              <a:t> ОС </a:t>
            </a:r>
            <a:r>
              <a:rPr lang="en-US" dirty="0" err="1"/>
              <a:t>поддерживает</a:t>
            </a:r>
            <a:r>
              <a:rPr lang="en-US" dirty="0"/>
              <a:t> </a:t>
            </a:r>
            <a:r>
              <a:rPr lang="ru-RU" dirty="0"/>
              <a:t>работу </a:t>
            </a:r>
            <a:r>
              <a:rPr lang="en-US" dirty="0" err="1"/>
              <a:t>множеств</a:t>
            </a:r>
            <a:r>
              <a:rPr lang="ru-RU" dirty="0"/>
              <a:t>а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 и </a:t>
            </a:r>
            <a:r>
              <a:rPr lang="en-US" dirty="0" err="1"/>
              <a:t>потоков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готовых</a:t>
            </a:r>
            <a:r>
              <a:rPr lang="en-US" dirty="0"/>
              <a:t> к </a:t>
            </a:r>
            <a:r>
              <a:rPr lang="en-US" dirty="0" err="1"/>
              <a:t>выполнению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превышать</a:t>
            </a:r>
            <a:r>
              <a:rPr lang="en-US" dirty="0"/>
              <a:t> </a:t>
            </a:r>
            <a:r>
              <a:rPr lang="en-US" dirty="0" err="1"/>
              <a:t>число</a:t>
            </a:r>
            <a:r>
              <a:rPr lang="en-US" dirty="0"/>
              <a:t> </a:t>
            </a:r>
            <a:r>
              <a:rPr lang="en-US" dirty="0" err="1"/>
              <a:t>доступных</a:t>
            </a:r>
            <a:r>
              <a:rPr lang="en-US" dirty="0"/>
              <a:t> </a:t>
            </a:r>
            <a:r>
              <a:rPr lang="en-US" dirty="0" err="1"/>
              <a:t>логических</a:t>
            </a:r>
            <a:r>
              <a:rPr lang="en-US" dirty="0"/>
              <a:t> CPU.</a:t>
            </a:r>
          </a:p>
          <a:p>
            <a:pPr lvl="1"/>
            <a:r>
              <a:rPr lang="en-US" dirty="0" err="1"/>
              <a:t>Создание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немедленно</a:t>
            </a:r>
            <a:r>
              <a:rPr lang="en-US" dirty="0"/>
              <a:t> </a:t>
            </a:r>
            <a:r>
              <a:rPr lang="en-US" dirty="0" err="1"/>
              <a:t>начнёт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Планирование</a:t>
            </a:r>
            <a:r>
              <a:rPr lang="en-US" dirty="0"/>
              <a:t> (CPU Scheduling) — </a:t>
            </a:r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, </a:t>
            </a:r>
            <a:r>
              <a:rPr lang="en-US" dirty="0" err="1"/>
              <a:t>которым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предоставлено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.</a:t>
            </a:r>
          </a:p>
          <a:p>
            <a:r>
              <a:rPr lang="en-US" dirty="0" err="1"/>
              <a:t>Главная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: </a:t>
            </a:r>
            <a:r>
              <a:rPr lang="en-US" dirty="0" err="1"/>
              <a:t>эффективно</a:t>
            </a:r>
            <a:r>
              <a:rPr lang="en-US" dirty="0"/>
              <a:t> </a:t>
            </a:r>
            <a:r>
              <a:rPr lang="en-US" dirty="0" err="1"/>
              <a:t>распределять</a:t>
            </a:r>
            <a:r>
              <a:rPr lang="en-US" dirty="0"/>
              <a:t> </a:t>
            </a:r>
            <a:r>
              <a:rPr lang="en-US" dirty="0" err="1"/>
              <a:t>ограниченные</a:t>
            </a:r>
            <a:r>
              <a:rPr lang="en-US" dirty="0"/>
              <a:t> </a:t>
            </a:r>
            <a:r>
              <a:rPr lang="en-US" dirty="0" err="1"/>
              <a:t>вычислительные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812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0EA73-B2A3-E737-A758-B7DBEAB72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Зачем нужен планировщик?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23608-660F-F88C-E270-B1DBE8E444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6"/>
            <a:ext cx="11017665" cy="2501676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 err="1"/>
              <a:t>Планировщик</a:t>
            </a:r>
            <a:r>
              <a:rPr lang="en-US" dirty="0"/>
              <a:t> (Scheduler) </a:t>
            </a:r>
            <a:r>
              <a:rPr lang="en-US" dirty="0" err="1"/>
              <a:t>выбирает</a:t>
            </a:r>
            <a:r>
              <a:rPr lang="en-US" dirty="0"/>
              <a:t> </a:t>
            </a:r>
            <a:r>
              <a:rPr lang="en-US" dirty="0" err="1"/>
              <a:t>следующую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Готовые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ожидают</a:t>
            </a:r>
            <a:r>
              <a:rPr lang="en-US" dirty="0"/>
              <a:t> </a:t>
            </a:r>
            <a:r>
              <a:rPr lang="en-US" dirty="0" err="1"/>
              <a:t>процессорного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в </a:t>
            </a:r>
            <a:r>
              <a:rPr lang="en-US" dirty="0" err="1"/>
              <a:t>очередях</a:t>
            </a:r>
            <a:r>
              <a:rPr lang="en-US" dirty="0"/>
              <a:t> </a:t>
            </a:r>
            <a:r>
              <a:rPr lang="en-US" dirty="0" err="1"/>
              <a:t>готовности</a:t>
            </a:r>
            <a:r>
              <a:rPr lang="en-US" dirty="0"/>
              <a:t> (Run Queues).</a:t>
            </a:r>
          </a:p>
          <a:p>
            <a:pPr lvl="1"/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выбирает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согласно</a:t>
            </a:r>
            <a:r>
              <a:rPr lang="en-US" dirty="0"/>
              <a:t> </a:t>
            </a:r>
            <a:r>
              <a:rPr lang="en-US" dirty="0" err="1"/>
              <a:t>алгоритму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.</a:t>
            </a:r>
          </a:p>
          <a:p>
            <a:pPr lvl="1"/>
            <a:r>
              <a:rPr lang="en-US" b="1" dirty="0" err="1"/>
              <a:t>Диспетчер</a:t>
            </a:r>
            <a:r>
              <a:rPr lang="en-US" dirty="0"/>
              <a:t> (Dispatcher) </a:t>
            </a:r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выбранному</a:t>
            </a:r>
            <a:r>
              <a:rPr lang="en-US" dirty="0"/>
              <a:t> </a:t>
            </a:r>
            <a:r>
              <a:rPr lang="en-US" dirty="0" err="1"/>
              <a:t>потоку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В </a:t>
            </a:r>
            <a:r>
              <a:rPr lang="en-US" dirty="0" err="1"/>
              <a:t>современных</a:t>
            </a:r>
            <a:r>
              <a:rPr lang="en-US" dirty="0"/>
              <a:t> ОС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планирует</a:t>
            </a:r>
            <a:r>
              <a:rPr lang="en-US" dirty="0"/>
              <a:t> </a:t>
            </a:r>
            <a:r>
              <a:rPr lang="en-US" dirty="0" err="1"/>
              <a:t>отдельные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процессы</a:t>
            </a:r>
            <a:r>
              <a:rPr lang="en-US" dirty="0"/>
              <a:t> </a:t>
            </a:r>
            <a:r>
              <a:rPr lang="en-US" dirty="0" err="1"/>
              <a:t>целиком</a:t>
            </a:r>
            <a:r>
              <a:rPr lang="en-US" dirty="0"/>
              <a:t>.</a:t>
            </a:r>
          </a:p>
          <a:p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выбирает</a:t>
            </a:r>
            <a:r>
              <a:rPr lang="en-US" dirty="0"/>
              <a:t>. </a:t>
            </a:r>
            <a:r>
              <a:rPr lang="en-US" dirty="0" err="1"/>
              <a:t>Диспетчер</a:t>
            </a:r>
            <a:r>
              <a:rPr lang="en-US" dirty="0"/>
              <a:t> </a:t>
            </a:r>
            <a:r>
              <a:rPr lang="en-US" dirty="0" err="1"/>
              <a:t>запускает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93171F0-FC50-2359-F206-1108271A88B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8762" y="4597758"/>
            <a:ext cx="5094476" cy="207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832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E5607-C31D-89EC-92DC-A24633991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и </a:t>
            </a:r>
            <a:r>
              <a:rPr lang="en-US" dirty="0" err="1"/>
              <a:t>освобождает</a:t>
            </a:r>
            <a:r>
              <a:rPr lang="en-US" dirty="0"/>
              <a:t> CPU?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C28115-ECF0-E229-B3CD-1C525428D4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906" y="1388436"/>
            <a:ext cx="6714188" cy="5225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709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19CF6-3DB0-C4CD-77E6-D9C057E43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CPU-bound </a:t>
            </a:r>
            <a:r>
              <a:rPr lang="ru-RU" dirty="0"/>
              <a:t>и </a:t>
            </a:r>
            <a:r>
              <a:rPr lang="en-US" dirty="0"/>
              <a:t>I/O-bound </a:t>
            </a:r>
            <a:r>
              <a:rPr lang="ru-RU" dirty="0"/>
              <a:t>задачи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3959E-B59C-A0BD-0F68-568BF042C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68675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Работа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состоит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чередующихся</a:t>
            </a:r>
            <a:r>
              <a:rPr lang="en-US" dirty="0"/>
              <a:t> </a:t>
            </a:r>
            <a:r>
              <a:rPr lang="en-US" dirty="0" err="1"/>
              <a:t>периодов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CPU Burst —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инструкций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процессоре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I/O Burst —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ожидание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ввода-вывода</a:t>
            </a:r>
            <a:r>
              <a:rPr lang="en-US" dirty="0"/>
              <a:t>.</a:t>
            </a:r>
          </a:p>
          <a:p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характерных</a:t>
            </a:r>
            <a:r>
              <a:rPr lang="en-US" dirty="0"/>
              <a:t> </a:t>
            </a:r>
            <a:r>
              <a:rPr lang="en-US" dirty="0" err="1"/>
              <a:t>типа</a:t>
            </a:r>
            <a:r>
              <a:rPr lang="en-US" dirty="0"/>
              <a:t> </a:t>
            </a:r>
            <a:r>
              <a:rPr lang="en-US" dirty="0" err="1"/>
              <a:t>нагрузки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CPU-bound: </a:t>
            </a:r>
            <a:r>
              <a:rPr lang="en-US" dirty="0" err="1"/>
              <a:t>длительные</a:t>
            </a:r>
            <a:r>
              <a:rPr lang="en-US" dirty="0"/>
              <a:t> </a:t>
            </a:r>
            <a:r>
              <a:rPr lang="en-US" dirty="0" err="1"/>
              <a:t>вычисления</a:t>
            </a:r>
            <a:r>
              <a:rPr lang="en-US" dirty="0"/>
              <a:t>, </a:t>
            </a:r>
            <a:r>
              <a:rPr lang="en-US" dirty="0" err="1"/>
              <a:t>редкие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I/O</a:t>
            </a:r>
            <a:endParaRPr lang="ru-RU" dirty="0"/>
          </a:p>
          <a:p>
            <a:pPr lvl="2"/>
            <a:r>
              <a:rPr lang="ru-RU" dirty="0"/>
              <a:t>К</a:t>
            </a:r>
            <a:r>
              <a:rPr lang="en-US" dirty="0" err="1"/>
              <a:t>омпиляция</a:t>
            </a:r>
            <a:r>
              <a:rPr lang="en-US" dirty="0"/>
              <a:t>, </a:t>
            </a:r>
            <a:r>
              <a:rPr lang="en-US" dirty="0" err="1"/>
              <a:t>обработка</a:t>
            </a:r>
            <a:r>
              <a:rPr lang="en-US" dirty="0"/>
              <a:t> </a:t>
            </a:r>
            <a:r>
              <a:rPr lang="en-US" dirty="0" err="1"/>
              <a:t>видео</a:t>
            </a:r>
            <a:r>
              <a:rPr lang="en-US" dirty="0"/>
              <a:t>, </a:t>
            </a:r>
            <a:r>
              <a:rPr lang="en-US" dirty="0" err="1"/>
              <a:t>математические</a:t>
            </a:r>
            <a:r>
              <a:rPr lang="en-US" dirty="0"/>
              <a:t> </a:t>
            </a:r>
            <a:r>
              <a:rPr lang="en-US" dirty="0" err="1"/>
              <a:t>расчёты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I/O-bound: </a:t>
            </a:r>
            <a:r>
              <a:rPr lang="en-US" dirty="0" err="1"/>
              <a:t>короткие</a:t>
            </a:r>
            <a:r>
              <a:rPr lang="en-US" dirty="0"/>
              <a:t> </a:t>
            </a:r>
            <a:r>
              <a:rPr lang="en-US" dirty="0" err="1"/>
              <a:t>вычисления</a:t>
            </a:r>
            <a:r>
              <a:rPr lang="en-US" dirty="0"/>
              <a:t>, </a:t>
            </a:r>
            <a:r>
              <a:rPr lang="en-US" dirty="0" err="1"/>
              <a:t>частые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I/O.</a:t>
            </a:r>
            <a:endParaRPr lang="ru-RU" dirty="0"/>
          </a:p>
          <a:p>
            <a:pPr lvl="2"/>
            <a:r>
              <a:rPr lang="ru-RU" dirty="0"/>
              <a:t>С</a:t>
            </a:r>
            <a:r>
              <a:rPr lang="en-US" dirty="0" err="1"/>
              <a:t>етевые</a:t>
            </a:r>
            <a:r>
              <a:rPr lang="en-US" dirty="0"/>
              <a:t> </a:t>
            </a:r>
            <a:r>
              <a:rPr lang="en-US" dirty="0" err="1"/>
              <a:t>сервисы</a:t>
            </a:r>
            <a:r>
              <a:rPr lang="en-US" dirty="0"/>
              <a:t>,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чтения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блокируется</a:t>
            </a:r>
            <a:r>
              <a:rPr lang="en-US" dirty="0"/>
              <a:t>, CPU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другую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BC5C399-9153-970F-1715-6AAD80172F00}"/>
              </a:ext>
            </a:extLst>
          </p:cNvPr>
          <p:cNvGrpSpPr/>
          <p:nvPr/>
        </p:nvGrpSpPr>
        <p:grpSpPr>
          <a:xfrm>
            <a:off x="2596471" y="5187529"/>
            <a:ext cx="6999058" cy="1408268"/>
            <a:chOff x="1892390" y="4726547"/>
            <a:chExt cx="8407220" cy="1691603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D402BF0-BA70-ECBE-B91D-2E35ECBC418B}"/>
                </a:ext>
              </a:extLst>
            </p:cNvPr>
            <p:cNvCxnSpPr>
              <a:cxnSpLocks/>
              <a:stCxn id="5" idx="1"/>
            </p:cNvCxnSpPr>
            <p:nvPr/>
          </p:nvCxnSpPr>
          <p:spPr>
            <a:xfrm>
              <a:off x="1892390" y="4848391"/>
              <a:ext cx="840722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184552C-A55D-C681-D6D0-287BC4C87A83}"/>
                </a:ext>
              </a:extLst>
            </p:cNvPr>
            <p:cNvSpPr/>
            <p:nvPr/>
          </p:nvSpPr>
          <p:spPr>
            <a:xfrm>
              <a:off x="1892390" y="4726547"/>
              <a:ext cx="812292" cy="2436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AD89EA9-F64B-77DB-5D70-25CF91FE8A34}"/>
                </a:ext>
              </a:extLst>
            </p:cNvPr>
            <p:cNvSpPr/>
            <p:nvPr/>
          </p:nvSpPr>
          <p:spPr>
            <a:xfrm>
              <a:off x="3105025" y="4726547"/>
              <a:ext cx="1960379" cy="2436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413BCAD-E25A-54E5-E2D0-E0B4F086628E}"/>
                </a:ext>
              </a:extLst>
            </p:cNvPr>
            <p:cNvSpPr/>
            <p:nvPr/>
          </p:nvSpPr>
          <p:spPr>
            <a:xfrm>
              <a:off x="5628931" y="4726547"/>
              <a:ext cx="1960379" cy="2436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DA19F5-057D-581B-96EF-1FC806B047F3}"/>
                </a:ext>
              </a:extLst>
            </p:cNvPr>
            <p:cNvSpPr/>
            <p:nvPr/>
          </p:nvSpPr>
          <p:spPr>
            <a:xfrm>
              <a:off x="8339231" y="4743953"/>
              <a:ext cx="1960379" cy="2436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ABEA520-A031-1343-D1EB-F5442F2D6B96}"/>
                </a:ext>
              </a:extLst>
            </p:cNvPr>
            <p:cNvCxnSpPr>
              <a:cxnSpLocks/>
            </p:cNvCxnSpPr>
            <p:nvPr/>
          </p:nvCxnSpPr>
          <p:spPr>
            <a:xfrm>
              <a:off x="1892390" y="5780251"/>
              <a:ext cx="840722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CDCC92C-25E5-B7F0-DBBB-54C41AA06827}"/>
                </a:ext>
              </a:extLst>
            </p:cNvPr>
            <p:cNvSpPr/>
            <p:nvPr/>
          </p:nvSpPr>
          <p:spPr>
            <a:xfrm>
              <a:off x="1892390" y="5658407"/>
              <a:ext cx="231503" cy="2436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7AA5EC6-27B5-FEC7-7715-2CC353020459}"/>
                </a:ext>
              </a:extLst>
            </p:cNvPr>
            <p:cNvSpPr/>
            <p:nvPr/>
          </p:nvSpPr>
          <p:spPr>
            <a:xfrm>
              <a:off x="3433714" y="5658407"/>
              <a:ext cx="231503" cy="2436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54707A-B9BC-0C9F-5161-2B37F8374263}"/>
                </a:ext>
              </a:extLst>
            </p:cNvPr>
            <p:cNvSpPr/>
            <p:nvPr/>
          </p:nvSpPr>
          <p:spPr>
            <a:xfrm>
              <a:off x="6327504" y="5658407"/>
              <a:ext cx="316794" cy="2436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6417E6A-3408-0359-2CBB-D9559045D452}"/>
                </a:ext>
              </a:extLst>
            </p:cNvPr>
            <p:cNvSpPr/>
            <p:nvPr/>
          </p:nvSpPr>
          <p:spPr>
            <a:xfrm>
              <a:off x="7312993" y="5658407"/>
              <a:ext cx="382206" cy="2436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C43D03E-82A0-985A-0137-F30BC54254AB}"/>
                </a:ext>
              </a:extLst>
            </p:cNvPr>
            <p:cNvSpPr/>
            <p:nvPr/>
          </p:nvSpPr>
          <p:spPr>
            <a:xfrm>
              <a:off x="4647506" y="5658407"/>
              <a:ext cx="231503" cy="2436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C196573-3B7C-C39D-3899-DB4277C59DAC}"/>
                </a:ext>
              </a:extLst>
            </p:cNvPr>
            <p:cNvSpPr/>
            <p:nvPr/>
          </p:nvSpPr>
          <p:spPr>
            <a:xfrm>
              <a:off x="9917404" y="5658407"/>
              <a:ext cx="382206" cy="2436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CF7919A-2FA1-2F1E-0F2B-D6DC64058719}"/>
                </a:ext>
              </a:extLst>
            </p:cNvPr>
            <p:cNvSpPr txBox="1"/>
            <p:nvPr/>
          </p:nvSpPr>
          <p:spPr>
            <a:xfrm>
              <a:off x="3409705" y="5166680"/>
              <a:ext cx="1801495" cy="4436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CPU Burst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D317EC4-61B1-5703-4FCC-B7CBDE4975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76187" y="4987640"/>
              <a:ext cx="157527" cy="18696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842E120-DAE2-06EF-BB56-C3B25CEB0D2C}"/>
                </a:ext>
              </a:extLst>
            </p:cNvPr>
            <p:cNvSpPr txBox="1"/>
            <p:nvPr/>
          </p:nvSpPr>
          <p:spPr>
            <a:xfrm>
              <a:off x="5810393" y="6122869"/>
              <a:ext cx="1351015" cy="295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I/O Burst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AC57971-3D4F-A153-65F2-5C390C9C7A75}"/>
                </a:ext>
              </a:extLst>
            </p:cNvPr>
            <p:cNvCxnSpPr>
              <a:cxnSpLocks/>
              <a:stCxn id="18" idx="1"/>
            </p:cNvCxnSpPr>
            <p:nvPr/>
          </p:nvCxnSpPr>
          <p:spPr>
            <a:xfrm flipH="1" flipV="1">
              <a:off x="5524857" y="5902095"/>
              <a:ext cx="285536" cy="36841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95061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90F78-4E7F-8274-DFAC-99E4908B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Когда ОС принимает решение о планировании?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510C7-9A72-FBDC-3EBE-B71DB2CC3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Основные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, </a:t>
            </a:r>
            <a:r>
              <a:rPr lang="en-US" dirty="0" err="1"/>
              <a:t>вызывающие</a:t>
            </a:r>
            <a:r>
              <a:rPr lang="en-US" dirty="0"/>
              <a:t> </a:t>
            </a:r>
            <a:r>
              <a:rPr lang="en-US" dirty="0" err="1"/>
              <a:t>необходимость</a:t>
            </a:r>
            <a:r>
              <a:rPr lang="en-US" dirty="0"/>
              <a:t> </a:t>
            </a:r>
            <a:r>
              <a:rPr lang="en-US" dirty="0" err="1"/>
              <a:t>пересмотреть</a:t>
            </a:r>
            <a:r>
              <a:rPr lang="en-US" dirty="0"/>
              <a:t> </a:t>
            </a:r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Создание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пробуждение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Блокировка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завершение</a:t>
            </a:r>
            <a:r>
              <a:rPr lang="en-US" dirty="0"/>
              <a:t> </a:t>
            </a:r>
            <a:r>
              <a:rPr lang="en-US" dirty="0" err="1"/>
              <a:t>выполняющегося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Добровольная</a:t>
            </a:r>
            <a:r>
              <a:rPr lang="en-US" dirty="0"/>
              <a:t> </a:t>
            </a:r>
            <a:r>
              <a:rPr lang="en-US" dirty="0" err="1"/>
              <a:t>передача</a:t>
            </a:r>
            <a:r>
              <a:rPr lang="en-US" dirty="0"/>
              <a:t> CPU (yield).</a:t>
            </a:r>
          </a:p>
          <a:p>
            <a:pPr lvl="1"/>
            <a:r>
              <a:rPr lang="en-US" dirty="0" err="1"/>
              <a:t>Истечение</a:t>
            </a:r>
            <a:r>
              <a:rPr lang="en-US" dirty="0"/>
              <a:t> </a:t>
            </a:r>
            <a:r>
              <a:rPr lang="en-US" dirty="0" err="1"/>
              <a:t>выделенного</a:t>
            </a:r>
            <a:r>
              <a:rPr lang="en-US" dirty="0"/>
              <a:t> </a:t>
            </a:r>
            <a:r>
              <a:rPr lang="en-US" dirty="0" err="1"/>
              <a:t>кванта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Появление</a:t>
            </a:r>
            <a:r>
              <a:rPr lang="en-US" dirty="0"/>
              <a:t> </a:t>
            </a:r>
            <a:r>
              <a:rPr lang="en-US" dirty="0" err="1"/>
              <a:t>готового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с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высоким</a:t>
            </a:r>
            <a:r>
              <a:rPr lang="en-US" dirty="0"/>
              <a:t> </a:t>
            </a:r>
            <a:r>
              <a:rPr lang="en-US" dirty="0" err="1"/>
              <a:t>приоритетом</a:t>
            </a:r>
            <a:r>
              <a:rPr lang="en-US" dirty="0"/>
              <a:t>.</a:t>
            </a:r>
          </a:p>
          <a:p>
            <a:r>
              <a:rPr lang="ru-RU" dirty="0"/>
              <a:t>Со</a:t>
            </a:r>
            <a:r>
              <a:rPr lang="en-US" dirty="0" err="1"/>
              <a:t>бытие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приводит</a:t>
            </a:r>
            <a:r>
              <a:rPr lang="en-US" dirty="0"/>
              <a:t> к </a:t>
            </a:r>
            <a:r>
              <a:rPr lang="en-US" dirty="0" err="1"/>
              <a:t>переключению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840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4BAF-63C3-9D57-D8CA-406F34E40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Вытесняющее и </a:t>
            </a:r>
            <a:r>
              <a:rPr lang="ru-RU" dirty="0" err="1"/>
              <a:t>невытесняющее</a:t>
            </a:r>
            <a:r>
              <a:rPr lang="ru-RU" dirty="0"/>
              <a:t> планирование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8469D-FDB3-3BCB-6065-CCB79CF54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 err="1"/>
              <a:t>Nonpreemptive</a:t>
            </a:r>
            <a:r>
              <a:rPr lang="en-US" dirty="0"/>
              <a:t> — </a:t>
            </a:r>
            <a:r>
              <a:rPr lang="en-US" dirty="0" err="1"/>
              <a:t>невытесняющее</a:t>
            </a:r>
            <a:r>
              <a:rPr lang="en-US" dirty="0"/>
              <a:t> </a:t>
            </a:r>
            <a:r>
              <a:rPr lang="en-US" dirty="0" err="1"/>
              <a:t>планирование</a:t>
            </a:r>
            <a:endParaRPr lang="en-US" dirty="0"/>
          </a:p>
          <a:p>
            <a:pPr lvl="1"/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, </a:t>
            </a:r>
            <a:r>
              <a:rPr lang="en-US" dirty="0" err="1"/>
              <a:t>блокировки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добровольной</a:t>
            </a:r>
            <a:r>
              <a:rPr lang="en-US" dirty="0"/>
              <a:t> </a:t>
            </a:r>
            <a:r>
              <a:rPr lang="en-US" dirty="0" err="1"/>
              <a:t>передачи</a:t>
            </a:r>
            <a:r>
              <a:rPr lang="en-US" dirty="0"/>
              <a:t> CPU.</a:t>
            </a:r>
          </a:p>
          <a:p>
            <a:pPr lvl="1"/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отбирает</a:t>
            </a:r>
            <a:r>
              <a:rPr lang="en-US" dirty="0"/>
              <a:t> CPU у </a:t>
            </a:r>
            <a:r>
              <a:rPr lang="en-US" dirty="0" err="1"/>
              <a:t>готового</a:t>
            </a:r>
            <a:r>
              <a:rPr lang="en-US" dirty="0"/>
              <a:t> </a:t>
            </a:r>
            <a:r>
              <a:rPr lang="en-US" dirty="0" err="1"/>
              <a:t>продолжать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Длительные</a:t>
            </a:r>
            <a:r>
              <a:rPr lang="en-US" dirty="0"/>
              <a:t> </a:t>
            </a:r>
            <a:r>
              <a:rPr lang="en-US" dirty="0" err="1"/>
              <a:t>вычисления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задерживать</a:t>
            </a:r>
            <a:r>
              <a:rPr lang="en-US" dirty="0"/>
              <a:t>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</a:t>
            </a:r>
          </a:p>
          <a:p>
            <a:r>
              <a:rPr lang="en-US" dirty="0"/>
              <a:t>Preemptive — </a:t>
            </a:r>
            <a:r>
              <a:rPr lang="en-US" dirty="0" err="1"/>
              <a:t>вытесняющее</a:t>
            </a:r>
            <a:r>
              <a:rPr lang="en-US" dirty="0"/>
              <a:t> </a:t>
            </a:r>
            <a:r>
              <a:rPr lang="en-US" dirty="0" err="1"/>
              <a:t>планирование</a:t>
            </a:r>
            <a:endParaRPr lang="en-US" dirty="0"/>
          </a:p>
          <a:p>
            <a:pPr lvl="1"/>
            <a:r>
              <a:rPr lang="en-US" dirty="0"/>
              <a:t>ОС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принудительно</a:t>
            </a:r>
            <a:r>
              <a:rPr lang="en-US" dirty="0"/>
              <a:t> </a:t>
            </a:r>
            <a:r>
              <a:rPr lang="en-US" dirty="0" err="1"/>
              <a:t>приостановить</a:t>
            </a:r>
            <a:r>
              <a:rPr lang="en-US" dirty="0"/>
              <a:t> </a:t>
            </a:r>
            <a:r>
              <a:rPr lang="en-US" dirty="0" err="1"/>
              <a:t>выполняющийся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Вытеснение</a:t>
            </a:r>
            <a:r>
              <a:rPr lang="en-US" dirty="0"/>
              <a:t> </a:t>
            </a:r>
            <a:r>
              <a:rPr lang="en-US" dirty="0" err="1"/>
              <a:t>возможно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истечении</a:t>
            </a:r>
            <a:r>
              <a:rPr lang="en-US" dirty="0"/>
              <a:t> </a:t>
            </a:r>
            <a:r>
              <a:rPr lang="en-US" dirty="0" err="1"/>
              <a:t>кванта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появлении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приоритетной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Повышает</a:t>
            </a:r>
            <a:r>
              <a:rPr lang="en-US" dirty="0"/>
              <a:t> </a:t>
            </a:r>
            <a:r>
              <a:rPr lang="en-US" dirty="0" err="1"/>
              <a:t>отзывчивость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добавляет</a:t>
            </a:r>
            <a:r>
              <a:rPr lang="en-US" dirty="0"/>
              <a:t> </a:t>
            </a:r>
            <a:r>
              <a:rPr lang="en-US" dirty="0" err="1"/>
              <a:t>накладные</a:t>
            </a:r>
            <a:r>
              <a:rPr lang="en-US" dirty="0"/>
              <a:t> </a:t>
            </a:r>
            <a:r>
              <a:rPr lang="en-US" dirty="0" err="1"/>
              <a:t>расходы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215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7B025C4-8C03-E8BE-59B8-AEE5CC5F87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105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5E993-414A-BFFB-D17B-D347FBE8C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Переключение контекста: почему планирование имеет цену?</a:t>
            </a:r>
            <a:endParaRPr lang="en-US" dirty="0"/>
          </a:p>
        </p:txBody>
      </p:sp>
      <p:pic>
        <p:nvPicPr>
          <p:cNvPr id="9" name="Content Placeholder 5">
            <a:extLst>
              <a:ext uri="{FF2B5EF4-FFF2-40B4-BE49-F238E27FC236}">
                <a16:creationId xmlns:a16="http://schemas.microsoft.com/office/drawing/2014/main" id="{061FE340-B550-79FD-4A0B-B19B1EDE43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170" y="1671560"/>
            <a:ext cx="7779660" cy="518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209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7E1A13-C069-234D-CD25-FE03B7AA3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Классические</a:t>
            </a:r>
            <a:r>
              <a:rPr lang="en-US" dirty="0"/>
              <a:t> </a:t>
            </a:r>
            <a:r>
              <a:rPr lang="en-US" dirty="0" err="1"/>
              <a:t>алгоритмы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B57EAD-3C25-EBA8-6E82-283B7E4141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676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559650-23C0-506C-E78C-11291BB88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оценить</a:t>
            </a:r>
            <a:r>
              <a:rPr lang="en-US" dirty="0"/>
              <a:t> </a:t>
            </a:r>
            <a:r>
              <a:rPr lang="en-US" dirty="0" err="1"/>
              <a:t>качество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A1DA9F-DA40-D417-4F0C-C56E610043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8581572" cy="2862489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Основные</a:t>
            </a:r>
            <a:r>
              <a:rPr lang="en-US" dirty="0"/>
              <a:t> </a:t>
            </a:r>
            <a:r>
              <a:rPr lang="en-US" dirty="0" err="1"/>
              <a:t>метрики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Waiting Time</a:t>
            </a:r>
            <a:r>
              <a:rPr lang="en-US" dirty="0"/>
              <a:t> — </a:t>
            </a:r>
            <a:r>
              <a:rPr lang="en-US" dirty="0" err="1"/>
              <a:t>суммарное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CPU.</a:t>
            </a:r>
          </a:p>
          <a:p>
            <a:pPr lvl="1"/>
            <a:r>
              <a:rPr lang="en-US" b="1" dirty="0"/>
              <a:t>Turnaround Time</a:t>
            </a:r>
            <a:r>
              <a:rPr lang="en-US" dirty="0"/>
              <a:t> —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поступления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Response Time</a:t>
            </a:r>
            <a:r>
              <a:rPr lang="en-US" dirty="0"/>
              <a:t> —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поступления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первого</a:t>
            </a:r>
            <a:r>
              <a:rPr lang="en-US" dirty="0"/>
              <a:t> </a:t>
            </a:r>
            <a:r>
              <a:rPr lang="en-US" dirty="0" err="1"/>
              <a:t>получения</a:t>
            </a:r>
            <a:r>
              <a:rPr lang="en-US" dirty="0"/>
              <a:t> CPU.</a:t>
            </a:r>
          </a:p>
          <a:p>
            <a:pPr lvl="1"/>
            <a:r>
              <a:rPr lang="en-US" b="1" dirty="0"/>
              <a:t>Throughput</a:t>
            </a:r>
            <a:r>
              <a:rPr lang="en-US" dirty="0"/>
              <a:t> —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завершённых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единицу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CPU Utilization</a:t>
            </a:r>
            <a:r>
              <a:rPr lang="en-US" dirty="0"/>
              <a:t> — </a:t>
            </a:r>
            <a:r>
              <a:rPr lang="en-US" dirty="0" err="1"/>
              <a:t>доля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полезной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CPU.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468D504-A2DA-3F76-84FF-E2CB3483E64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2229" y="4532539"/>
            <a:ext cx="6703042" cy="232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698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DB1D8-7114-4988-B38F-FC5A94BD9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 разных систем разные цели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853CC93-1451-D40A-C494-3233880DC1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5048292"/>
              </p:ext>
            </p:extLst>
          </p:nvPr>
        </p:nvGraphicFramePr>
        <p:xfrm>
          <a:off x="838200" y="1825625"/>
          <a:ext cx="105156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4657">
                  <a:extLst>
                    <a:ext uri="{9D8B030D-6E8A-4147-A177-3AD203B41FA5}">
                      <a16:colId xmlns:a16="http://schemas.microsoft.com/office/drawing/2014/main" val="734946509"/>
                    </a:ext>
                  </a:extLst>
                </a:gridCol>
                <a:gridCol w="5910943">
                  <a:extLst>
                    <a:ext uri="{9D8B030D-6E8A-4147-A177-3AD203B41FA5}">
                      <a16:colId xmlns:a16="http://schemas.microsoft.com/office/drawing/2014/main" val="8705186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Тип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системы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Основные цели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3141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Batch — пакетная обработка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Высокая пропускная способность, малое время завершения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7828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Interactive — интерактивная система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Быстрый отклик, справедливое распределение CPU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145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Real-Time — система реального времени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Соблюдение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временных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ограничений</a:t>
                      </a:r>
                      <a:r>
                        <a:rPr lang="en-US" dirty="0"/>
                        <a:t> (Deadlines)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36506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9F89770-C3A1-2013-D086-0A401EDC7913}"/>
              </a:ext>
            </a:extLst>
          </p:cNvPr>
          <p:cNvSpPr txBox="1"/>
          <p:nvPr/>
        </p:nvSpPr>
        <p:spPr>
          <a:xfrm>
            <a:off x="838200" y="4081920"/>
            <a:ext cx="871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универсального</a:t>
            </a:r>
            <a:r>
              <a:rPr lang="en-US" dirty="0"/>
              <a:t> </a:t>
            </a:r>
            <a:r>
              <a:rPr lang="en-US" dirty="0" err="1"/>
              <a:t>алгоритма</a:t>
            </a:r>
            <a:r>
              <a:rPr lang="en-US" dirty="0"/>
              <a:t>, </a:t>
            </a:r>
            <a:r>
              <a:rPr lang="en-US" dirty="0" err="1"/>
              <a:t>оптимального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 </a:t>
            </a:r>
            <a:r>
              <a:rPr lang="en-US" dirty="0" err="1"/>
              <a:t>нагрузки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9669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54936-6F03-4B8A-0220-5DD615C9D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Учебная задача: четыре процесса конкурируют за CPU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1C7CF-335F-CFA4-82EC-31F1D718BC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2746375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Четыре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поступают</a:t>
            </a:r>
            <a:r>
              <a:rPr lang="en-US" dirty="0"/>
              <a:t> в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dirty="0" err="1"/>
              <a:t>готовых</a:t>
            </a:r>
            <a:endParaRPr lang="ru-RU" dirty="0"/>
          </a:p>
          <a:p>
            <a:r>
              <a:rPr lang="en-US" dirty="0" err="1"/>
              <a:t>Условия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Один</a:t>
            </a:r>
            <a:r>
              <a:rPr lang="en-US" dirty="0"/>
              <a:t> CPU,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готовы</a:t>
            </a:r>
            <a:r>
              <a:rPr lang="en-US" dirty="0"/>
              <a:t> к </a:t>
            </a:r>
            <a:r>
              <a:rPr lang="en-US" dirty="0" err="1"/>
              <a:t>выполнению</a:t>
            </a:r>
            <a:r>
              <a:rPr lang="en-US" dirty="0"/>
              <a:t> с </a:t>
            </a:r>
            <a:r>
              <a:rPr lang="en-US" dirty="0" err="1"/>
              <a:t>момента</a:t>
            </a:r>
            <a:r>
              <a:rPr lang="en-US" dirty="0"/>
              <a:t> 0.</a:t>
            </a:r>
          </a:p>
          <a:p>
            <a:pPr lvl="1"/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блокируются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 I/O.</a:t>
            </a:r>
          </a:p>
          <a:p>
            <a:pPr lvl="1"/>
            <a:r>
              <a:rPr lang="en-US" dirty="0" err="1"/>
              <a:t>Затраты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переключение</a:t>
            </a:r>
            <a:r>
              <a:rPr lang="en-US" dirty="0"/>
              <a:t> </a:t>
            </a:r>
            <a:r>
              <a:rPr lang="en-US" dirty="0" err="1"/>
              <a:t>контекста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учитываются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Начальный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: A → B → C → D.</a:t>
            </a:r>
          </a:p>
          <a:p>
            <a:r>
              <a:rPr lang="en-US" dirty="0" err="1"/>
              <a:t>Вопрос</a:t>
            </a:r>
            <a:r>
              <a:rPr lang="en-US" dirty="0"/>
              <a:t>: в </a:t>
            </a:r>
            <a:r>
              <a:rPr lang="en-US" dirty="0" err="1"/>
              <a:t>каком</a:t>
            </a:r>
            <a:r>
              <a:rPr lang="en-US" dirty="0"/>
              <a:t> </a:t>
            </a:r>
            <a:r>
              <a:rPr lang="en-US" dirty="0" err="1"/>
              <a:t>порядке</a:t>
            </a:r>
            <a:r>
              <a:rPr lang="en-US" dirty="0"/>
              <a:t> </a:t>
            </a:r>
            <a:r>
              <a:rPr lang="en-US" dirty="0" err="1"/>
              <a:t>выгоднее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429B786-6B9E-CC86-AD40-5C18AE61B6F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6419821"/>
              </p:ext>
            </p:extLst>
          </p:nvPr>
        </p:nvGraphicFramePr>
        <p:xfrm>
          <a:off x="876300" y="4572000"/>
          <a:ext cx="104394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317347326"/>
                    </a:ext>
                  </a:extLst>
                </a:gridCol>
                <a:gridCol w="4216400">
                  <a:extLst>
                    <a:ext uri="{9D8B030D-6E8A-4147-A177-3AD203B41FA5}">
                      <a16:colId xmlns:a16="http://schemas.microsoft.com/office/drawing/2014/main" val="2001351173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10617944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Задача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Время поступления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CPU Burst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0096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 мс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 мс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3612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 </a:t>
                      </a:r>
                      <a:r>
                        <a:rPr lang="en-US" dirty="0" err="1"/>
                        <a:t>мс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 мс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4173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 мс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 мс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6746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 мс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 </a:t>
                      </a:r>
                      <a:r>
                        <a:rPr lang="en-US" dirty="0" err="1"/>
                        <a:t>мс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4921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50557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BA1E0-03B7-8328-E8F4-F499BBC75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FCFS: первым пришёл — первым обслужен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7C9ED2-5292-09E6-8C95-2BA3123815E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1825625"/>
                <a:ext cx="10515599" cy="2746375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dirty="0"/>
                  <a:t>First Come, First Served (FCFS) — </a:t>
                </a:r>
                <a:r>
                  <a:rPr lang="en-US" dirty="0" err="1"/>
                  <a:t>задачи</a:t>
                </a:r>
                <a:r>
                  <a:rPr lang="en-US" dirty="0"/>
                  <a:t> </a:t>
                </a:r>
                <a:r>
                  <a:rPr lang="en-US" dirty="0" err="1"/>
                  <a:t>выполняются</a:t>
                </a:r>
                <a:r>
                  <a:rPr lang="en-US" dirty="0"/>
                  <a:t> в </a:t>
                </a:r>
                <a:r>
                  <a:rPr lang="en-US" dirty="0" err="1"/>
                  <a:t>порядке</a:t>
                </a:r>
                <a:r>
                  <a:rPr lang="en-US" dirty="0"/>
                  <a:t> </a:t>
                </a:r>
                <a:r>
                  <a:rPr lang="en-US" dirty="0" err="1"/>
                  <a:t>поступления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 err="1"/>
                  <a:t>Тип</a:t>
                </a:r>
                <a:r>
                  <a:rPr lang="en-US" dirty="0"/>
                  <a:t>: </a:t>
                </a:r>
                <a:r>
                  <a:rPr lang="en-US" dirty="0" err="1"/>
                  <a:t>невытесняющий</a:t>
                </a:r>
                <a:r>
                  <a:rPr lang="en-US" dirty="0"/>
                  <a:t> (</a:t>
                </a:r>
                <a:r>
                  <a:rPr lang="en-US" dirty="0" err="1"/>
                  <a:t>Nonpreemptive</a:t>
                </a:r>
                <a:r>
                  <a:rPr lang="en-US" dirty="0"/>
                  <a:t>).</a:t>
                </a:r>
              </a:p>
              <a:p>
                <a:pPr lvl="1"/>
                <a:r>
                  <a:rPr lang="en-US" dirty="0" err="1"/>
                  <a:t>Реализация</a:t>
                </a:r>
                <a:r>
                  <a:rPr lang="en-US" dirty="0"/>
                  <a:t>: </a:t>
                </a:r>
                <a:r>
                  <a:rPr lang="en-US" dirty="0" err="1"/>
                  <a:t>очередь</a:t>
                </a:r>
                <a:r>
                  <a:rPr lang="en-US" dirty="0"/>
                  <a:t> FIFO.</a:t>
                </a:r>
              </a:p>
              <a:p>
                <a:pPr lvl="1"/>
                <a:r>
                  <a:rPr lang="en-US" dirty="0" err="1"/>
                  <a:t>Преимущество</a:t>
                </a:r>
                <a:r>
                  <a:rPr lang="en-US" dirty="0"/>
                  <a:t>: </a:t>
                </a:r>
                <a:r>
                  <a:rPr lang="en-US" dirty="0" err="1"/>
                  <a:t>простота</a:t>
                </a:r>
                <a:r>
                  <a:rPr lang="en-US" dirty="0"/>
                  <a:t> </a:t>
                </a:r>
                <a:r>
                  <a:rPr lang="en-US" dirty="0" err="1"/>
                  <a:t>реализации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 err="1"/>
                  <a:t>Недостаток</a:t>
                </a:r>
                <a:r>
                  <a:rPr lang="en-US" dirty="0"/>
                  <a:t>: </a:t>
                </a:r>
                <a:r>
                  <a:rPr lang="en-US" dirty="0" err="1"/>
                  <a:t>длительная</a:t>
                </a:r>
                <a:r>
                  <a:rPr lang="en-US" dirty="0"/>
                  <a:t> </a:t>
                </a:r>
                <a:r>
                  <a:rPr lang="en-US" dirty="0" err="1"/>
                  <a:t>задача</a:t>
                </a:r>
                <a:r>
                  <a:rPr lang="en-US" dirty="0"/>
                  <a:t> </a:t>
                </a:r>
                <a:r>
                  <a:rPr lang="en-US" dirty="0" err="1"/>
                  <a:t>может</a:t>
                </a:r>
                <a:r>
                  <a:rPr lang="en-US" dirty="0"/>
                  <a:t> </a:t>
                </a:r>
                <a:r>
                  <a:rPr lang="en-US" dirty="0" err="1"/>
                  <a:t>задерживать</a:t>
                </a:r>
                <a:r>
                  <a:rPr lang="en-US" dirty="0"/>
                  <a:t> </a:t>
                </a:r>
                <a:r>
                  <a:rPr lang="en-US" dirty="0" err="1"/>
                  <a:t>все</a:t>
                </a:r>
                <a:r>
                  <a:rPr lang="en-US" dirty="0"/>
                  <a:t> </a:t>
                </a:r>
                <a:r>
                  <a:rPr lang="en-US" dirty="0" err="1"/>
                  <a:t>последующие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Эффект</a:t>
                </a:r>
                <a:r>
                  <a:rPr lang="en-US" dirty="0"/>
                  <a:t> </a:t>
                </a:r>
                <a:r>
                  <a:rPr lang="en-US" dirty="0" err="1"/>
                  <a:t>конвоя</a:t>
                </a:r>
                <a:r>
                  <a:rPr lang="en-US" dirty="0"/>
                  <a:t> (Convoy Effect) — </a:t>
                </a:r>
                <a:r>
                  <a:rPr lang="en-US" dirty="0" err="1"/>
                  <a:t>короткие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 </a:t>
                </a:r>
                <a:r>
                  <a:rPr lang="en-US" dirty="0" err="1"/>
                  <a:t>вынуждены</a:t>
                </a:r>
                <a:r>
                  <a:rPr lang="en-US" dirty="0"/>
                  <a:t> </a:t>
                </a:r>
                <a:r>
                  <a:rPr lang="en-US" dirty="0" err="1"/>
                  <a:t>ожидать</a:t>
                </a:r>
                <a:r>
                  <a:rPr lang="en-US" dirty="0"/>
                  <a:t> </a:t>
                </a:r>
                <a:r>
                  <a:rPr lang="en-US" dirty="0" err="1"/>
                  <a:t>завершения</a:t>
                </a:r>
                <a:r>
                  <a:rPr lang="en-US" dirty="0"/>
                  <a:t> </a:t>
                </a:r>
                <a:r>
                  <a:rPr lang="en-US" dirty="0" err="1"/>
                  <a:t>длинной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Для</a:t>
                </a:r>
                <a:r>
                  <a:rPr lang="en-US" dirty="0"/>
                  <a:t> </a:t>
                </a:r>
                <a:r>
                  <a:rPr lang="en-US" dirty="0" err="1"/>
                  <a:t>нашего</a:t>
                </a:r>
                <a:r>
                  <a:rPr lang="en-US" dirty="0"/>
                  <a:t> </a:t>
                </a:r>
                <a:r>
                  <a:rPr lang="en-US" dirty="0" err="1"/>
                  <a:t>примера</a:t>
                </a:r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ba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𝑤𝑎𝑖𝑡𝑖𝑛𝑔</m:t>
                        </m:r>
                      </m:sub>
                    </m:sSub>
                    <m:r>
                      <a:rPr lang="en-US" i="0" smtClean="0">
                        <a:latin typeface="Cambria Math" panose="02040503050406030204" pitchFamily="18" charset="0"/>
                      </a:rPr>
                      <m:t>=9</m:t>
                    </m:r>
                    <m:r>
                      <m:rPr>
                        <m:nor/>
                      </m:rPr>
                      <a:rPr lang="en-US" i="0" smtClean="0">
                        <a:latin typeface="Cambria Math" panose="02040503050406030204" pitchFamily="18" charset="0"/>
                      </a:rPr>
                      <m:t> мс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ba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𝑡𝑢𝑟𝑛𝑎𝑟𝑜𝑢𝑛𝑑</m:t>
                        </m:r>
                      </m:sub>
                    </m:sSub>
                    <m:r>
                      <a:rPr lang="en-US" i="0" dirty="0">
                        <a:latin typeface="Cambria Math" panose="02040503050406030204" pitchFamily="18" charset="0"/>
                      </a:rPr>
                      <m:t>=14</m:t>
                    </m:r>
                    <m:r>
                      <m:rPr>
                        <m:nor/>
                      </m:rPr>
                      <a:rPr lang="en-US" i="0" dirty="0">
                        <a:latin typeface="Cambria Math" panose="02040503050406030204" pitchFamily="18" charset="0"/>
                      </a:rPr>
                      <m:t> мс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7C9ED2-5292-09E6-8C95-2BA3123815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1825625"/>
                <a:ext cx="10515599" cy="2746375"/>
              </a:xfrm>
              <a:blipFill>
                <a:blip r:embed="rId3"/>
                <a:stretch>
                  <a:fillRect l="-348" t="-3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34E8C5A-F7D5-2301-B511-61DD3C12EF5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31744287"/>
              </p:ext>
            </p:extLst>
          </p:nvPr>
        </p:nvGraphicFramePr>
        <p:xfrm>
          <a:off x="838200" y="4513945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89479311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4255363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19117805"/>
                    </a:ext>
                  </a:extLst>
                </a:gridCol>
              </a:tblGrid>
              <a:tr h="3271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Задача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Waiting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Turnaround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3252644"/>
                  </a:ext>
                </a:extLst>
              </a:tr>
              <a:tr h="3271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6173222"/>
                  </a:ext>
                </a:extLst>
              </a:tr>
              <a:tr h="3271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9584"/>
                  </a:ext>
                </a:extLst>
              </a:tr>
              <a:tr h="3271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4471112"/>
                  </a:ext>
                </a:extLst>
              </a:tr>
              <a:tr h="3271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5314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9871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F6D25-95B9-D161-8FBE-91F896FD4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SJF: почему короткие задачи выгодно выполнять первыми?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DE9310-BB2F-8F58-DCBF-E73AEBC071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Shortest Job First (SJF) — </a:t>
                </a:r>
                <a:r>
                  <a:rPr lang="en-US" dirty="0" err="1"/>
                  <a:t>первой</a:t>
                </a:r>
                <a:r>
                  <a:rPr lang="en-US" dirty="0"/>
                  <a:t> </a:t>
                </a:r>
                <a:r>
                  <a:rPr lang="en-US" dirty="0" err="1"/>
                  <a:t>выполняется</a:t>
                </a:r>
                <a:r>
                  <a:rPr lang="en-US" dirty="0"/>
                  <a:t> </a:t>
                </a:r>
                <a:r>
                  <a:rPr lang="en-US" dirty="0" err="1"/>
                  <a:t>задача</a:t>
                </a:r>
                <a:r>
                  <a:rPr lang="en-US" dirty="0"/>
                  <a:t> с </a:t>
                </a:r>
                <a:r>
                  <a:rPr lang="en-US" dirty="0" err="1"/>
                  <a:t>наименьшим</a:t>
                </a:r>
                <a:r>
                  <a:rPr lang="en-US" dirty="0"/>
                  <a:t> CPU Burst.</a:t>
                </a:r>
              </a:p>
              <a:p>
                <a:pPr lvl="0"/>
                <a:r>
                  <a:rPr lang="en-US" dirty="0" err="1"/>
                  <a:t>Тип</a:t>
                </a:r>
                <a:r>
                  <a:rPr lang="en-US" dirty="0"/>
                  <a:t>: </a:t>
                </a:r>
                <a:r>
                  <a:rPr lang="en-US" dirty="0" err="1"/>
                  <a:t>невытесняющий</a:t>
                </a:r>
                <a:r>
                  <a:rPr lang="en-US" dirty="0"/>
                  <a:t> (</a:t>
                </a:r>
                <a:r>
                  <a:rPr lang="en-US" dirty="0" err="1"/>
                  <a:t>Nonpreemptive</a:t>
                </a:r>
                <a:r>
                  <a:rPr lang="en-US" dirty="0"/>
                  <a:t>).</a:t>
                </a:r>
              </a:p>
              <a:p>
                <a:pPr lvl="1"/>
                <a:r>
                  <a:rPr lang="en-US" dirty="0" err="1"/>
                  <a:t>При</a:t>
                </a:r>
                <a:r>
                  <a:rPr lang="en-US" dirty="0"/>
                  <a:t> </a:t>
                </a:r>
                <a:r>
                  <a:rPr lang="en-US" dirty="0" err="1"/>
                  <a:t>одновременном</a:t>
                </a:r>
                <a:r>
                  <a:rPr lang="en-US" dirty="0"/>
                  <a:t> </a:t>
                </a:r>
                <a:r>
                  <a:rPr lang="en-US" dirty="0" err="1"/>
                  <a:t>поступлении</a:t>
                </a:r>
                <a:r>
                  <a:rPr lang="en-US" dirty="0"/>
                  <a:t> </a:t>
                </a:r>
                <a:r>
                  <a:rPr lang="en-US" dirty="0" err="1"/>
                  <a:t>задач</a:t>
                </a:r>
                <a:r>
                  <a:rPr lang="en-US" dirty="0"/>
                  <a:t> </a:t>
                </a:r>
                <a:r>
                  <a:rPr lang="en-US" dirty="0" err="1"/>
                  <a:t>минимизирует</a:t>
                </a:r>
                <a:r>
                  <a:rPr lang="en-US" dirty="0"/>
                  <a:t> </a:t>
                </a:r>
                <a:r>
                  <a:rPr lang="en-US" dirty="0" err="1"/>
                  <a:t>среднее</a:t>
                </a:r>
                <a:r>
                  <a:rPr lang="en-US" dirty="0"/>
                  <a:t> Waiting Time.</a:t>
                </a:r>
              </a:p>
              <a:p>
                <a:pPr lvl="1"/>
                <a:r>
                  <a:rPr lang="en-US" dirty="0"/>
                  <a:t>Короткие </a:t>
                </a:r>
                <a:r>
                  <a:rPr lang="en-US" dirty="0" err="1"/>
                  <a:t>задачи</a:t>
                </a:r>
                <a:r>
                  <a:rPr lang="en-US" dirty="0"/>
                  <a:t> </a:t>
                </a:r>
                <a:r>
                  <a:rPr lang="en-US" dirty="0" err="1"/>
                  <a:t>быстрее</a:t>
                </a:r>
                <a:r>
                  <a:rPr lang="en-US" dirty="0"/>
                  <a:t> </a:t>
                </a:r>
                <a:r>
                  <a:rPr lang="en-US" dirty="0" err="1"/>
                  <a:t>освобождают</a:t>
                </a:r>
                <a:r>
                  <a:rPr lang="en-US" dirty="0"/>
                  <a:t> </a:t>
                </a:r>
                <a:r>
                  <a:rPr lang="en-US" dirty="0" err="1"/>
                  <a:t>очередь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 err="1"/>
                  <a:t>Недостаток</a:t>
                </a:r>
                <a:r>
                  <a:rPr lang="en-US" dirty="0"/>
                  <a:t>: </a:t>
                </a:r>
                <a:r>
                  <a:rPr lang="en-US" dirty="0" err="1"/>
                  <a:t>необходимо</a:t>
                </a:r>
                <a:r>
                  <a:rPr lang="en-US" dirty="0"/>
                  <a:t> </a:t>
                </a:r>
                <a:r>
                  <a:rPr lang="en-US" dirty="0" err="1"/>
                  <a:t>заранее</a:t>
                </a:r>
                <a:r>
                  <a:rPr lang="en-US" dirty="0"/>
                  <a:t> </a:t>
                </a:r>
                <a:r>
                  <a:rPr lang="en-US" dirty="0" err="1"/>
                  <a:t>знать</a:t>
                </a:r>
                <a:r>
                  <a:rPr lang="en-US" dirty="0"/>
                  <a:t> </a:t>
                </a:r>
                <a:r>
                  <a:rPr lang="en-US" dirty="0" err="1"/>
                  <a:t>или</a:t>
                </a:r>
                <a:r>
                  <a:rPr lang="en-US" dirty="0"/>
                  <a:t> </a:t>
                </a:r>
                <a:r>
                  <a:rPr lang="en-US" dirty="0" err="1"/>
                  <a:t>оценивать</a:t>
                </a:r>
                <a:r>
                  <a:rPr lang="en-US" dirty="0"/>
                  <a:t> </a:t>
                </a:r>
                <a:r>
                  <a:rPr lang="en-US" dirty="0" err="1"/>
                  <a:t>длительность</a:t>
                </a:r>
                <a:r>
                  <a:rPr lang="en-US" dirty="0"/>
                  <a:t> CPU Burst.</a:t>
                </a:r>
              </a:p>
              <a:p>
                <a:pPr lvl="1"/>
                <a:r>
                  <a:rPr lang="en-US" dirty="0" err="1"/>
                  <a:t>Длинные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 </a:t>
                </a:r>
                <a:r>
                  <a:rPr lang="en-US" dirty="0" err="1"/>
                  <a:t>могут</a:t>
                </a:r>
                <a:r>
                  <a:rPr lang="en-US" dirty="0"/>
                  <a:t> </a:t>
                </a:r>
                <a:r>
                  <a:rPr lang="en-US" dirty="0" err="1"/>
                  <a:t>долго</a:t>
                </a:r>
                <a:r>
                  <a:rPr lang="en-US" dirty="0"/>
                  <a:t> </a:t>
                </a:r>
                <a:r>
                  <a:rPr lang="en-US" dirty="0" err="1"/>
                  <a:t>ожидать</a:t>
                </a:r>
                <a:r>
                  <a:rPr lang="en-US" dirty="0"/>
                  <a:t> </a:t>
                </a:r>
                <a:r>
                  <a:rPr lang="en-US" dirty="0" err="1"/>
                  <a:t>при</a:t>
                </a:r>
                <a:r>
                  <a:rPr lang="en-US" dirty="0"/>
                  <a:t> </a:t>
                </a:r>
                <a:r>
                  <a:rPr lang="en-US" dirty="0" err="1"/>
                  <a:t>постоянном</a:t>
                </a:r>
                <a:r>
                  <a:rPr lang="en-US" dirty="0"/>
                  <a:t> </a:t>
                </a:r>
                <a:r>
                  <a:rPr lang="en-US" dirty="0" err="1"/>
                  <a:t>поступлении</a:t>
                </a:r>
                <a:r>
                  <a:rPr lang="en-US" dirty="0"/>
                  <a:t> </a:t>
                </a:r>
                <a:r>
                  <a:rPr lang="en-US" dirty="0" err="1"/>
                  <a:t>коротких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В </a:t>
                </a:r>
                <a:r>
                  <a:rPr lang="en-US" dirty="0" err="1"/>
                  <a:t>нашем</a:t>
                </a:r>
                <a:r>
                  <a:rPr lang="en-US" dirty="0"/>
                  <a:t> </a:t>
                </a:r>
                <a:r>
                  <a:rPr lang="en-US" dirty="0" err="1"/>
                  <a:t>примере</a:t>
                </a:r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ba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𝑤𝑎𝑖𝑡𝑖𝑛𝑔</m:t>
                        </m:r>
                      </m:sub>
                    </m:sSub>
                    <m:r>
                      <a:rPr lang="en-US" i="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0+4+8+12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nor/>
                      </m:rPr>
                      <a:rPr lang="en-US" i="0" dirty="0">
                        <a:latin typeface="Cambria Math" panose="02040503050406030204" pitchFamily="18" charset="0"/>
                      </a:rPr>
                      <m:t> мс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ba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𝑡𝑢𝑟𝑛𝑎𝑟𝑜𝑢𝑛𝑑</m:t>
                        </m:r>
                      </m:sub>
                    </m:sSub>
                    <m:r>
                      <a:rPr lang="en-US" i="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4+8+12+20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nor/>
                      </m:rPr>
                      <a:rPr lang="en-US" i="0" dirty="0">
                        <a:latin typeface="Cambria Math" panose="02040503050406030204" pitchFamily="18" charset="0"/>
                      </a:rPr>
                      <m:t> мс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DE9310-BB2F-8F58-DCBF-E73AEBC071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t="-3501" r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9836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0E573-695C-EE14-EA23-26C7426B7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SRTF: что произойдёт, если придёт новая короткая задача?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52575-91ED-7C4F-133F-C3F14A686D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257801" cy="435133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Shortest Remaining Time First (SRTF)</a:t>
            </a:r>
            <a:endParaRPr lang="ru-RU" dirty="0"/>
          </a:p>
          <a:p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с </a:t>
            </a:r>
            <a:r>
              <a:rPr lang="en-US" dirty="0" err="1"/>
              <a:t>наименьшим</a:t>
            </a:r>
            <a:r>
              <a:rPr lang="en-US" dirty="0"/>
              <a:t> </a:t>
            </a:r>
            <a:r>
              <a:rPr lang="en-US" b="1" dirty="0" err="1"/>
              <a:t>оставшимся</a:t>
            </a:r>
            <a:r>
              <a:rPr lang="en-US" dirty="0"/>
              <a:t> </a:t>
            </a:r>
            <a:r>
              <a:rPr lang="en-US" dirty="0" err="1"/>
              <a:t>временем</a:t>
            </a:r>
            <a:r>
              <a:rPr lang="en-US" dirty="0"/>
              <a:t> CPU.</a:t>
            </a:r>
          </a:p>
          <a:p>
            <a:pPr lvl="1"/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короткая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вытеснить</a:t>
            </a:r>
            <a:r>
              <a:rPr lang="en-US" dirty="0"/>
              <a:t> </a:t>
            </a:r>
            <a:r>
              <a:rPr lang="en-US" dirty="0" err="1"/>
              <a:t>текущую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быстрее</a:t>
            </a:r>
            <a:r>
              <a:rPr lang="en-US" dirty="0"/>
              <a:t> </a:t>
            </a:r>
            <a:r>
              <a:rPr lang="en-US" dirty="0" err="1"/>
              <a:t>завершать</a:t>
            </a:r>
            <a:r>
              <a:rPr lang="en-US" dirty="0"/>
              <a:t> </a:t>
            </a:r>
            <a:r>
              <a:rPr lang="en-US" dirty="0" err="1"/>
              <a:t>короткие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, </a:t>
            </a:r>
            <a:r>
              <a:rPr lang="en-US" dirty="0" err="1"/>
              <a:t>появившиеся</a:t>
            </a:r>
            <a:r>
              <a:rPr lang="en-US" dirty="0"/>
              <a:t> </a:t>
            </a:r>
            <a:r>
              <a:rPr lang="en-US" dirty="0" err="1"/>
              <a:t>позже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знания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оценки</a:t>
            </a:r>
            <a:r>
              <a:rPr lang="en-US" dirty="0"/>
              <a:t> </a:t>
            </a:r>
            <a:r>
              <a:rPr lang="en-US" dirty="0" err="1"/>
              <a:t>оставшегося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.</a:t>
            </a:r>
          </a:p>
          <a:p>
            <a:r>
              <a:rPr lang="ru-RU" dirty="0"/>
              <a:t>В</a:t>
            </a:r>
            <a:r>
              <a:rPr lang="en-US" dirty="0" err="1"/>
              <a:t>озможно</a:t>
            </a:r>
            <a:r>
              <a:rPr lang="en-US" dirty="0"/>
              <a:t> </a:t>
            </a:r>
            <a:r>
              <a:rPr lang="en-US" dirty="0" err="1"/>
              <a:t>голодание</a:t>
            </a:r>
            <a:r>
              <a:rPr lang="en-US" dirty="0"/>
              <a:t> </a:t>
            </a:r>
            <a:r>
              <a:rPr lang="en-US" dirty="0" err="1"/>
              <a:t>длинных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и </a:t>
            </a:r>
            <a:r>
              <a:rPr lang="en-US" dirty="0" err="1"/>
              <a:t>дополнительные</a:t>
            </a:r>
            <a:r>
              <a:rPr lang="en-US" dirty="0"/>
              <a:t> </a:t>
            </a:r>
            <a:r>
              <a:rPr lang="en-US" dirty="0" err="1"/>
              <a:t>переключения</a:t>
            </a:r>
            <a:r>
              <a:rPr lang="en-US" dirty="0"/>
              <a:t> </a:t>
            </a:r>
            <a:r>
              <a:rPr lang="en-US" dirty="0" err="1"/>
              <a:t>контекста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0822F9C-8A2D-4E97-078F-0AE8148532E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8018" y="1825625"/>
            <a:ext cx="5811496" cy="3270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3642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AAD80-35E6-9A77-5FAF-49FE09520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Round</a:t>
            </a:r>
            <a:r>
              <a:rPr lang="ru-RU" dirty="0"/>
              <a:t> </a:t>
            </a:r>
            <a:r>
              <a:rPr lang="ru-RU" dirty="0" err="1"/>
              <a:t>Robin</a:t>
            </a:r>
            <a:r>
              <a:rPr lang="ru-RU" dirty="0"/>
              <a:t>: каждому по кванту времени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883F8-D9EE-568E-4449-8A0D913AF8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632454" cy="4351338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Ц</a:t>
            </a:r>
            <a:r>
              <a:rPr lang="en-US" dirty="0" err="1"/>
              <a:t>иклическое</a:t>
            </a:r>
            <a:r>
              <a:rPr lang="en-US" dirty="0"/>
              <a:t> </a:t>
            </a:r>
            <a:r>
              <a:rPr lang="en-US" dirty="0" err="1"/>
              <a:t>планирование</a:t>
            </a:r>
            <a:r>
              <a:rPr lang="en-US" dirty="0"/>
              <a:t> с </a:t>
            </a:r>
            <a:r>
              <a:rPr lang="en-US" dirty="0" err="1"/>
              <a:t>ограничением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квант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endParaRPr lang="ru-RU" dirty="0"/>
          </a:p>
          <a:p>
            <a:pPr lvl="1"/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квант</a:t>
            </a:r>
            <a:r>
              <a:rPr lang="en-US" dirty="0"/>
              <a:t> </a:t>
            </a:r>
            <a:r>
              <a:rPr lang="en-US" dirty="0" err="1"/>
              <a:t>истёк</a:t>
            </a:r>
            <a:r>
              <a:rPr lang="en-US" dirty="0"/>
              <a:t>, </a:t>
            </a:r>
            <a:r>
              <a:rPr lang="en-US" dirty="0" err="1"/>
              <a:t>незавершённая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перемещается</a:t>
            </a:r>
            <a:r>
              <a:rPr lang="en-US" dirty="0"/>
              <a:t> в </a:t>
            </a:r>
            <a:r>
              <a:rPr lang="en-US" dirty="0" err="1"/>
              <a:t>конец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завершилась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заблокировалась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, CPU </a:t>
            </a:r>
            <a:r>
              <a:rPr lang="en-US" dirty="0" err="1"/>
              <a:t>передаётся</a:t>
            </a:r>
            <a:r>
              <a:rPr lang="en-US" dirty="0"/>
              <a:t> </a:t>
            </a:r>
            <a:r>
              <a:rPr lang="en-US" dirty="0" err="1"/>
              <a:t>следующей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Готовые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регулярно</a:t>
            </a:r>
            <a:r>
              <a:rPr lang="en-US" dirty="0"/>
              <a:t> </a:t>
            </a:r>
            <a:r>
              <a:rPr lang="en-US" dirty="0" err="1"/>
              <a:t>получают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.</a:t>
            </a:r>
          </a:p>
          <a:p>
            <a:r>
              <a:rPr lang="en-US" dirty="0" err="1"/>
              <a:t>Преимущество</a:t>
            </a:r>
            <a:r>
              <a:rPr lang="ru-RU" dirty="0"/>
              <a:t>: </a:t>
            </a:r>
            <a:r>
              <a:rPr lang="en-US" dirty="0" err="1"/>
              <a:t>быстрое</a:t>
            </a:r>
            <a:r>
              <a:rPr lang="en-US" dirty="0"/>
              <a:t> </a:t>
            </a:r>
            <a:r>
              <a:rPr lang="en-US" dirty="0" err="1"/>
              <a:t>предоставление</a:t>
            </a:r>
            <a:r>
              <a:rPr lang="en-US" dirty="0"/>
              <a:t> CPU </a:t>
            </a:r>
            <a:r>
              <a:rPr lang="en-US" dirty="0" err="1"/>
              <a:t>нескольким</a:t>
            </a:r>
            <a:r>
              <a:rPr lang="en-US" dirty="0"/>
              <a:t> </a:t>
            </a:r>
            <a:r>
              <a:rPr lang="en-US" dirty="0" err="1"/>
              <a:t>конкурирующим</a:t>
            </a:r>
            <a:r>
              <a:rPr lang="en-US" dirty="0"/>
              <a:t> </a:t>
            </a:r>
            <a:r>
              <a:rPr lang="en-US" dirty="0" err="1"/>
              <a:t>задачам</a:t>
            </a:r>
            <a:r>
              <a:rPr lang="en-US" dirty="0"/>
              <a:t>.</a:t>
            </a:r>
          </a:p>
          <a:p>
            <a:r>
              <a:rPr lang="en-US" dirty="0" err="1"/>
              <a:t>Недостаток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размера</a:t>
            </a:r>
            <a:r>
              <a:rPr lang="en-US" dirty="0"/>
              <a:t> </a:t>
            </a:r>
            <a:r>
              <a:rPr lang="en-US" dirty="0" err="1"/>
              <a:t>кванта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253BB75-33CC-924C-4F14-3554915175C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460896"/>
            <a:ext cx="6096000" cy="3031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9826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4A561-22DE-C7BD-2E23-9A8C5A088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размер кванта имеет значение?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8349B-313A-7AED-4199-E96DDCDCB7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3002915"/>
          </a:xfrm>
        </p:spPr>
        <p:txBody>
          <a:bodyPr>
            <a:normAutofit/>
          </a:bodyPr>
          <a:lstStyle/>
          <a:p>
            <a:r>
              <a:rPr lang="en-US" dirty="0"/>
              <a:t>Time Quantum </a:t>
            </a:r>
            <a:r>
              <a:rPr lang="en-US" dirty="0" err="1"/>
              <a:t>определяет</a:t>
            </a:r>
            <a:r>
              <a:rPr lang="en-US" dirty="0"/>
              <a:t> </a:t>
            </a:r>
            <a:r>
              <a:rPr lang="en-US" dirty="0" err="1"/>
              <a:t>частоту</a:t>
            </a:r>
            <a:r>
              <a:rPr lang="en-US" dirty="0"/>
              <a:t> </a:t>
            </a:r>
            <a:r>
              <a:rPr lang="en-US" dirty="0" err="1"/>
              <a:t>переключения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Маленький</a:t>
            </a:r>
            <a:r>
              <a:rPr lang="en-US" dirty="0"/>
              <a:t> </a:t>
            </a:r>
            <a:r>
              <a:rPr lang="en-US" dirty="0" err="1"/>
              <a:t>квант</a:t>
            </a:r>
            <a:r>
              <a:rPr lang="en-US" dirty="0"/>
              <a:t>: </a:t>
            </a:r>
            <a:r>
              <a:rPr lang="en-US" dirty="0" err="1"/>
              <a:t>быстрый</a:t>
            </a:r>
            <a:r>
              <a:rPr lang="en-US" dirty="0"/>
              <a:t> </a:t>
            </a:r>
            <a:r>
              <a:rPr lang="en-US" dirty="0" err="1"/>
              <a:t>отклик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 </a:t>
            </a:r>
            <a:r>
              <a:rPr lang="en-US" dirty="0" err="1"/>
              <a:t>переключений</a:t>
            </a:r>
            <a:r>
              <a:rPr lang="en-US" dirty="0"/>
              <a:t> </a:t>
            </a:r>
            <a:r>
              <a:rPr lang="en-US" dirty="0" err="1"/>
              <a:t>контекста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Большой</a:t>
            </a:r>
            <a:r>
              <a:rPr lang="en-US" dirty="0"/>
              <a:t> </a:t>
            </a:r>
            <a:r>
              <a:rPr lang="en-US" dirty="0" err="1"/>
              <a:t>квант</a:t>
            </a:r>
            <a:r>
              <a:rPr lang="en-US" dirty="0"/>
              <a:t>: </a:t>
            </a:r>
            <a:r>
              <a:rPr lang="en-US" dirty="0" err="1"/>
              <a:t>меньше</a:t>
            </a:r>
            <a:r>
              <a:rPr lang="en-US" dirty="0"/>
              <a:t> </a:t>
            </a:r>
            <a:r>
              <a:rPr lang="en-US" dirty="0" err="1"/>
              <a:t>переключений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возможны</a:t>
            </a:r>
            <a:r>
              <a:rPr lang="en-US" dirty="0"/>
              <a:t> </a:t>
            </a:r>
            <a:r>
              <a:rPr lang="en-US" dirty="0" err="1"/>
              <a:t>длительные</a:t>
            </a:r>
            <a:r>
              <a:rPr lang="en-US" dirty="0"/>
              <a:t> </a:t>
            </a:r>
            <a:r>
              <a:rPr lang="en-US" dirty="0" err="1"/>
              <a:t>задержки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большой</a:t>
            </a:r>
            <a:r>
              <a:rPr lang="en-US" dirty="0"/>
              <a:t> </a:t>
            </a:r>
            <a:r>
              <a:rPr lang="en-US" dirty="0" err="1"/>
              <a:t>квант</a:t>
            </a:r>
            <a:r>
              <a:rPr lang="en-US" dirty="0"/>
              <a:t>: Round Robin </a:t>
            </a:r>
            <a:r>
              <a:rPr lang="en-US" dirty="0" err="1"/>
              <a:t>приближается</a:t>
            </a:r>
            <a:r>
              <a:rPr lang="en-US" dirty="0"/>
              <a:t> к FCFS.</a:t>
            </a:r>
          </a:p>
          <a:p>
            <a:r>
              <a:rPr lang="en-US" dirty="0" err="1"/>
              <a:t>Компромисс</a:t>
            </a:r>
            <a:r>
              <a:rPr lang="en-US" dirty="0"/>
              <a:t> </a:t>
            </a:r>
            <a:r>
              <a:rPr lang="ru-RU" dirty="0"/>
              <a:t>между</a:t>
            </a:r>
            <a:r>
              <a:rPr lang="en-US" dirty="0"/>
              <a:t> </a:t>
            </a:r>
            <a:r>
              <a:rPr lang="en-US" dirty="0" err="1"/>
              <a:t>отзывчивость</a:t>
            </a:r>
            <a:r>
              <a:rPr lang="ru-RU" dirty="0"/>
              <a:t>ю и </a:t>
            </a:r>
            <a:r>
              <a:rPr lang="en-US" dirty="0" err="1"/>
              <a:t>накладны</a:t>
            </a:r>
            <a:r>
              <a:rPr lang="ru-RU" dirty="0"/>
              <a:t>ми</a:t>
            </a:r>
            <a:r>
              <a:rPr lang="en-US" dirty="0"/>
              <a:t> </a:t>
            </a:r>
            <a:r>
              <a:rPr lang="en-US" dirty="0" err="1"/>
              <a:t>расход</a:t>
            </a:r>
            <a:r>
              <a:rPr lang="ru-RU" dirty="0" err="1"/>
              <a:t>ами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4D7C77C-C29D-352C-75CB-D084E404CC8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94143839"/>
              </p:ext>
            </p:extLst>
          </p:nvPr>
        </p:nvGraphicFramePr>
        <p:xfrm>
          <a:off x="914399" y="4828540"/>
          <a:ext cx="104393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726">
                  <a:extLst>
                    <a:ext uri="{9D8B030D-6E8A-4147-A177-3AD203B41FA5}">
                      <a16:colId xmlns:a16="http://schemas.microsoft.com/office/drawing/2014/main" val="1004197697"/>
                    </a:ext>
                  </a:extLst>
                </a:gridCol>
                <a:gridCol w="4737206">
                  <a:extLst>
                    <a:ext uri="{9D8B030D-6E8A-4147-A177-3AD203B41FA5}">
                      <a16:colId xmlns:a16="http://schemas.microsoft.com/office/drawing/2014/main" val="2215857669"/>
                    </a:ext>
                  </a:extLst>
                </a:gridCol>
                <a:gridCol w="4013467">
                  <a:extLst>
                    <a:ext uri="{9D8B030D-6E8A-4147-A177-3AD203B41FA5}">
                      <a16:colId xmlns:a16="http://schemas.microsoft.com/office/drawing/2014/main" val="550875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Квант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Средний Response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Переключений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6299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 мс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1,5 мс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9359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 мс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 мс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0999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 мс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 мс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3421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9330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78B20-210E-FA53-BDCC-14DABD569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</a:t>
            </a:r>
            <a:r>
              <a:rPr lang="en-US" dirty="0"/>
              <a:t>FCFS, SJF, SRTF </a:t>
            </a:r>
            <a:r>
              <a:rPr lang="ru-RU" dirty="0"/>
              <a:t>и </a:t>
            </a:r>
            <a:r>
              <a:rPr lang="en-US" dirty="0"/>
              <a:t>Round Robin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0A398-6B07-D62D-855D-C7BE1FEC12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91802" cy="2336823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Основные</a:t>
            </a:r>
            <a:r>
              <a:rPr lang="en-US" dirty="0"/>
              <a:t> </a:t>
            </a:r>
            <a:r>
              <a:rPr lang="en-US" dirty="0" err="1"/>
              <a:t>выводы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FCFS: </a:t>
            </a:r>
            <a:r>
              <a:rPr lang="en-US" dirty="0" err="1"/>
              <a:t>простота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возможен</a:t>
            </a:r>
            <a:r>
              <a:rPr lang="en-US" dirty="0"/>
              <a:t> </a:t>
            </a:r>
            <a:r>
              <a:rPr lang="en-US" dirty="0" err="1"/>
              <a:t>эффект</a:t>
            </a:r>
            <a:r>
              <a:rPr lang="en-US" dirty="0"/>
              <a:t> </a:t>
            </a:r>
            <a:r>
              <a:rPr lang="en-US" dirty="0" err="1"/>
              <a:t>конвоя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SJF / SRTF: </a:t>
            </a:r>
            <a:r>
              <a:rPr lang="en-US" dirty="0" err="1"/>
              <a:t>сокращение</a:t>
            </a:r>
            <a:r>
              <a:rPr lang="en-US" dirty="0"/>
              <a:t> </a:t>
            </a:r>
            <a:r>
              <a:rPr lang="en-US" dirty="0" err="1"/>
              <a:t>среднего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известных</a:t>
            </a:r>
            <a:r>
              <a:rPr lang="en-US" dirty="0"/>
              <a:t> </a:t>
            </a:r>
            <a:r>
              <a:rPr lang="en-US" dirty="0" err="1"/>
              <a:t>длительностях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Round Robin: </a:t>
            </a:r>
            <a:r>
              <a:rPr lang="en-US" dirty="0" err="1"/>
              <a:t>быстрый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отклик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зависимость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кванта</a:t>
            </a:r>
            <a:r>
              <a:rPr lang="en-US" dirty="0"/>
              <a:t>.</a:t>
            </a:r>
          </a:p>
          <a:p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алгоритма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целей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5E0B2CA-CB60-A1FF-AAF2-713F91CB5FC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30782342"/>
              </p:ext>
            </p:extLst>
          </p:nvPr>
        </p:nvGraphicFramePr>
        <p:xfrm>
          <a:off x="838200" y="4343423"/>
          <a:ext cx="10515600" cy="1921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8805615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0654608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0673913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97743474"/>
                    </a:ext>
                  </a:extLst>
                </a:gridCol>
              </a:tblGrid>
              <a:tr h="412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Алгоритм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Avg. Waiting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Avg. Response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Avg. Turnaround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5954325"/>
                  </a:ext>
                </a:extLst>
              </a:tr>
              <a:tr h="1671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FCFS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 мс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 мс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14 мс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6053796"/>
                  </a:ext>
                </a:extLst>
              </a:tr>
              <a:tr h="1671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SJF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 мс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 мс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11 мс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3125320"/>
                  </a:ext>
                </a:extLst>
              </a:tr>
              <a:tr h="1671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SRTF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 мс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 мс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11 мс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9044837"/>
                  </a:ext>
                </a:extLst>
              </a:tr>
              <a:tr h="412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Round Robin (q = 2 мс)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10,5 мс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 мс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15,5 </a:t>
                      </a:r>
                      <a:r>
                        <a:rPr lang="en-US" dirty="0" err="1"/>
                        <a:t>мс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48877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11541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D506C2D-CCDC-F17E-5FB3-AE5274AAB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Приоритеты и справедливое планирование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313BC1-4841-A8C8-6E2F-4477C88CA4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4853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DF9BB-1BCB-F388-24B1-26ECF6958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/>
              <a:t>Приоритетное планирование: не все задачи одинаково важны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123E7-A127-D2EB-6508-0E0DFF51E0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2068458"/>
          </a:xfrm>
        </p:spPr>
        <p:txBody>
          <a:bodyPr>
            <a:normAutofit fontScale="92500"/>
          </a:bodyPr>
          <a:lstStyle/>
          <a:p>
            <a:r>
              <a:rPr lang="en-US" dirty="0"/>
              <a:t>Priority Scheduling —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отдаёт</a:t>
            </a:r>
            <a:r>
              <a:rPr lang="en-US" dirty="0"/>
              <a:t> </a:t>
            </a:r>
            <a:r>
              <a:rPr lang="en-US" dirty="0" err="1"/>
              <a:t>предпочтение</a:t>
            </a:r>
            <a:r>
              <a:rPr lang="en-US" dirty="0"/>
              <a:t> </a:t>
            </a:r>
            <a:r>
              <a:rPr lang="en-US" dirty="0" err="1"/>
              <a:t>задачам</a:t>
            </a:r>
            <a:r>
              <a:rPr lang="en-US" dirty="0"/>
              <a:t> с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высоким</a:t>
            </a:r>
            <a:r>
              <a:rPr lang="en-US" dirty="0"/>
              <a:t> </a:t>
            </a:r>
            <a:r>
              <a:rPr lang="en-US" dirty="0" err="1"/>
              <a:t>приоритетом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задаче</a:t>
            </a:r>
            <a:r>
              <a:rPr lang="en-US" dirty="0"/>
              <a:t> </a:t>
            </a:r>
            <a:r>
              <a:rPr lang="en-US" dirty="0" err="1"/>
              <a:t>назначается</a:t>
            </a:r>
            <a:r>
              <a:rPr lang="en-US" dirty="0"/>
              <a:t> </a:t>
            </a:r>
            <a:r>
              <a:rPr lang="ru-RU" dirty="0"/>
              <a:t>приоритет (статический или динамический)</a:t>
            </a:r>
            <a:endParaRPr lang="en-US" dirty="0"/>
          </a:p>
          <a:p>
            <a:pPr lvl="1"/>
            <a:r>
              <a:rPr lang="ru-RU" dirty="0"/>
              <a:t>Б</a:t>
            </a:r>
            <a:r>
              <a:rPr lang="en-US" dirty="0" err="1"/>
              <a:t>олее</a:t>
            </a:r>
            <a:r>
              <a:rPr lang="en-US" dirty="0"/>
              <a:t> </a:t>
            </a:r>
            <a:r>
              <a:rPr lang="en-US" dirty="0" err="1"/>
              <a:t>приоритетн</a:t>
            </a:r>
            <a:r>
              <a:rPr lang="ru-RU" dirty="0" err="1"/>
              <a:t>ая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ru-RU" dirty="0"/>
              <a:t>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вытесн</a:t>
            </a:r>
            <a:r>
              <a:rPr lang="ru-RU" dirty="0"/>
              <a:t>ить</a:t>
            </a:r>
            <a:r>
              <a:rPr lang="en-US" dirty="0"/>
              <a:t> </a:t>
            </a:r>
            <a:r>
              <a:rPr lang="en-US" dirty="0" err="1"/>
              <a:t>текущ</a:t>
            </a:r>
            <a:r>
              <a:rPr lang="ru-RU" dirty="0"/>
              <a:t>ую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Задачи</a:t>
            </a:r>
            <a:r>
              <a:rPr lang="en-US" dirty="0"/>
              <a:t> с </a:t>
            </a:r>
            <a:r>
              <a:rPr lang="en-US" dirty="0" err="1"/>
              <a:t>одинаковым</a:t>
            </a:r>
            <a:r>
              <a:rPr lang="en-US" dirty="0"/>
              <a:t> </a:t>
            </a:r>
            <a:r>
              <a:rPr lang="en-US" dirty="0" err="1"/>
              <a:t>приоритетом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Round Robin.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C1068DB-376A-0BB9-6351-95DBD8246D5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2069" y="4029020"/>
            <a:ext cx="6647862" cy="2793082"/>
          </a:xfrm>
        </p:spPr>
      </p:pic>
    </p:spTree>
    <p:extLst>
      <p:ext uri="{BB962C8B-B14F-4D97-AF65-F5344CB8AC3E}">
        <p14:creationId xmlns:p14="http://schemas.microsoft.com/office/powerpoint/2010/main" val="7783999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874D6-19CD-D618-DAD7-B09186DCD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Starvation</a:t>
            </a:r>
            <a:r>
              <a:rPr lang="ru-RU" dirty="0"/>
              <a:t>: когда задача никогда не получает CPU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3E7690-6C17-5DDB-0DFC-B2D5A8692D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257800" cy="4464816"/>
          </a:xfrm>
        </p:spPr>
        <p:txBody>
          <a:bodyPr>
            <a:normAutofit lnSpcReduction="10000"/>
          </a:bodyPr>
          <a:lstStyle/>
          <a:p>
            <a:r>
              <a:rPr lang="ru-RU" dirty="0" err="1"/>
              <a:t>Starvation</a:t>
            </a:r>
            <a:r>
              <a:rPr lang="ru-RU" dirty="0"/>
              <a:t> —готовая задача слишком долго ожидает </a:t>
            </a:r>
            <a:r>
              <a:rPr lang="en-US" dirty="0"/>
              <a:t>CPU</a:t>
            </a:r>
            <a:endParaRPr lang="ru-RU" dirty="0"/>
          </a:p>
          <a:p>
            <a:pPr lvl="1"/>
            <a:r>
              <a:rPr lang="ru-RU" dirty="0"/>
              <a:t>Ее постоянно вытесняют задачи с более высоким приоритетом.</a:t>
            </a:r>
          </a:p>
          <a:p>
            <a:r>
              <a:rPr lang="ru-RU" dirty="0"/>
              <a:t>Решение — </a:t>
            </a:r>
            <a:r>
              <a:rPr lang="ru-RU" dirty="0" err="1"/>
              <a:t>Aging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Приоритет ожидающей задачи постепенно повышается.</a:t>
            </a:r>
          </a:p>
          <a:p>
            <a:pPr lvl="1"/>
            <a:r>
              <a:rPr lang="ru-RU" dirty="0"/>
              <a:t>Длительное ожидание повышает её шансы получить CPU.</a:t>
            </a:r>
          </a:p>
          <a:p>
            <a:pPr lvl="1"/>
            <a:r>
              <a:rPr lang="ru-RU" dirty="0"/>
              <a:t>Снижает риск голодания низкоприоритетных задач.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9E57F442-C78B-8E76-F6B2-CD48AC1A2A5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7404" y="1958949"/>
            <a:ext cx="6124596" cy="294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6754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C65D5-142A-8BA2-E3F4-01A703B85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Multilevel Feedback Queue (MLFQ)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F8D2-7FBC-D942-3179-BC59E3B8AC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Multilevel Feedback Queue (MLFQ) — </a:t>
            </a:r>
            <a:r>
              <a:rPr lang="en-US" dirty="0" err="1"/>
              <a:t>планирование</a:t>
            </a:r>
            <a:r>
              <a:rPr lang="en-US" dirty="0"/>
              <a:t> с </a:t>
            </a:r>
            <a:r>
              <a:rPr lang="en-US" dirty="0" err="1"/>
              <a:t>динамическим</a:t>
            </a:r>
            <a:r>
              <a:rPr lang="en-US" dirty="0"/>
              <a:t> </a:t>
            </a:r>
            <a:r>
              <a:rPr lang="en-US" dirty="0" err="1"/>
              <a:t>изменением</a:t>
            </a:r>
            <a:r>
              <a:rPr lang="en-US" dirty="0"/>
              <a:t> </a:t>
            </a:r>
            <a:r>
              <a:rPr lang="en-US" dirty="0" err="1"/>
              <a:t>приоритетов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основе</a:t>
            </a:r>
            <a:r>
              <a:rPr lang="en-US" dirty="0"/>
              <a:t> </a:t>
            </a:r>
            <a:r>
              <a:rPr lang="en-US" dirty="0" err="1"/>
              <a:t>поведения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очередей</a:t>
            </a:r>
            <a:r>
              <a:rPr lang="en-US" dirty="0"/>
              <a:t> с </a:t>
            </a:r>
            <a:r>
              <a:rPr lang="en-US" dirty="0" err="1"/>
              <a:t>разными</a:t>
            </a:r>
            <a:r>
              <a:rPr lang="en-US" dirty="0"/>
              <a:t> </a:t>
            </a:r>
            <a:r>
              <a:rPr lang="en-US" dirty="0" err="1"/>
              <a:t>приоритетами</a:t>
            </a:r>
            <a:r>
              <a:rPr lang="en-US" dirty="0"/>
              <a:t> и </a:t>
            </a:r>
            <a:r>
              <a:rPr lang="en-US" dirty="0" err="1"/>
              <a:t>квантами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начинают</a:t>
            </a:r>
            <a:r>
              <a:rPr lang="en-US" dirty="0"/>
              <a:t> с </a:t>
            </a:r>
            <a:r>
              <a:rPr lang="en-US" dirty="0" err="1"/>
              <a:t>высокого</a:t>
            </a:r>
            <a:r>
              <a:rPr lang="en-US" dirty="0"/>
              <a:t> </a:t>
            </a:r>
            <a:r>
              <a:rPr lang="en-US" dirty="0" err="1"/>
              <a:t>приоритета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Длительное</a:t>
            </a:r>
            <a:r>
              <a:rPr lang="en-US" dirty="0"/>
              <a:t> </a:t>
            </a:r>
            <a:r>
              <a:rPr lang="en-US" dirty="0" err="1"/>
              <a:t>использование</a:t>
            </a:r>
            <a:r>
              <a:rPr lang="en-US" dirty="0"/>
              <a:t> CPU </a:t>
            </a:r>
            <a:r>
              <a:rPr lang="en-US" dirty="0" err="1"/>
              <a:t>приводит</a:t>
            </a:r>
            <a:r>
              <a:rPr lang="en-US" dirty="0"/>
              <a:t> к </a:t>
            </a:r>
            <a:r>
              <a:rPr lang="en-US" dirty="0" err="1"/>
              <a:t>понижению</a:t>
            </a:r>
            <a:r>
              <a:rPr lang="en-US" dirty="0"/>
              <a:t> </a:t>
            </a:r>
            <a:r>
              <a:rPr lang="en-US" dirty="0" err="1"/>
              <a:t>приоритета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Короткие </a:t>
            </a:r>
            <a:r>
              <a:rPr lang="en-US" dirty="0" err="1"/>
              <a:t>вычислительные</a:t>
            </a:r>
            <a:r>
              <a:rPr lang="en-US" dirty="0"/>
              <a:t> </a:t>
            </a:r>
            <a:r>
              <a:rPr lang="en-US" dirty="0" err="1"/>
              <a:t>участки</a:t>
            </a:r>
            <a:r>
              <a:rPr lang="en-US" dirty="0"/>
              <a:t> </a:t>
            </a:r>
            <a:r>
              <a:rPr lang="en-US" dirty="0" err="1"/>
              <a:t>позволяют</a:t>
            </a:r>
            <a:r>
              <a:rPr lang="en-US" dirty="0"/>
              <a:t> </a:t>
            </a:r>
            <a:r>
              <a:rPr lang="en-US" dirty="0" err="1"/>
              <a:t>задачам</a:t>
            </a:r>
            <a:r>
              <a:rPr lang="en-US" dirty="0"/>
              <a:t> </a:t>
            </a:r>
            <a:r>
              <a:rPr lang="en-US" dirty="0" err="1"/>
              <a:t>дольше</a:t>
            </a:r>
            <a:r>
              <a:rPr lang="en-US" dirty="0"/>
              <a:t> </a:t>
            </a:r>
            <a:r>
              <a:rPr lang="en-US" dirty="0" err="1"/>
              <a:t>сохранять</a:t>
            </a:r>
            <a:r>
              <a:rPr lang="en-US" dirty="0"/>
              <a:t> </a:t>
            </a:r>
            <a:r>
              <a:rPr lang="en-US" dirty="0" err="1"/>
              <a:t>высокий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Периодическое</a:t>
            </a:r>
            <a:r>
              <a:rPr lang="en-US" dirty="0"/>
              <a:t> </a:t>
            </a:r>
            <a:r>
              <a:rPr lang="en-US" dirty="0" err="1"/>
              <a:t>повышение</a:t>
            </a:r>
            <a:r>
              <a:rPr lang="en-US" dirty="0"/>
              <a:t> </a:t>
            </a:r>
            <a:r>
              <a:rPr lang="en-US" dirty="0" err="1"/>
              <a:t>приоритетов</a:t>
            </a:r>
            <a:r>
              <a:rPr lang="en-US" dirty="0"/>
              <a:t> (Priority Boost) </a:t>
            </a:r>
            <a:r>
              <a:rPr lang="en-US" dirty="0" err="1"/>
              <a:t>предотвращает</a:t>
            </a:r>
            <a:r>
              <a:rPr lang="en-US" dirty="0"/>
              <a:t> </a:t>
            </a:r>
            <a:r>
              <a:rPr lang="en-US" dirty="0" err="1"/>
              <a:t>длительное</a:t>
            </a:r>
            <a:r>
              <a:rPr lang="en-US" dirty="0"/>
              <a:t> </a:t>
            </a:r>
            <a:r>
              <a:rPr lang="en-US" dirty="0" err="1"/>
              <a:t>голодание</a:t>
            </a:r>
            <a:r>
              <a:rPr lang="en-US" dirty="0"/>
              <a:t>.</a:t>
            </a:r>
          </a:p>
          <a:p>
            <a:r>
              <a:rPr lang="en-US" dirty="0"/>
              <a:t>MLFQ </a:t>
            </a:r>
            <a:r>
              <a:rPr lang="en-US" dirty="0" err="1"/>
              <a:t>адаптируется</a:t>
            </a:r>
            <a:r>
              <a:rPr lang="en-US" dirty="0"/>
              <a:t> к </a:t>
            </a:r>
            <a:r>
              <a:rPr lang="en-US" dirty="0" err="1"/>
              <a:t>поведению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зная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 </a:t>
            </a:r>
            <a:r>
              <a:rPr lang="en-US" dirty="0" err="1"/>
              <a:t>длительность</a:t>
            </a:r>
            <a:r>
              <a:rPr lang="en-US" dirty="0"/>
              <a:t> CPU Burst.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88FDD4E-C99B-4DC0-6703-1116A10A6C9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125"/>
          <a:stretch>
            <a:fillRect/>
          </a:stretch>
        </p:blipFill>
        <p:spPr>
          <a:xfrm>
            <a:off x="6262519" y="1876022"/>
            <a:ext cx="5531770" cy="282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3851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5830F-4D41-403B-3532-2197931C9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справедливость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планировании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00CB8-B6ED-CE8C-CE81-CA59D7641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288314" cy="435133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Fair Scheduling — </a:t>
            </a:r>
            <a:r>
              <a:rPr lang="en-US" dirty="0" err="1"/>
              <a:t>распределение</a:t>
            </a:r>
            <a:r>
              <a:rPr lang="en-US" dirty="0"/>
              <a:t> </a:t>
            </a:r>
            <a:r>
              <a:rPr lang="en-US" dirty="0" err="1"/>
              <a:t>процессорного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задачами</a:t>
            </a:r>
            <a:r>
              <a:rPr lang="en-US" dirty="0"/>
              <a:t> в </a:t>
            </a:r>
            <a:r>
              <a:rPr lang="en-US" dirty="0" err="1"/>
              <a:t>соответствии</a:t>
            </a:r>
            <a:r>
              <a:rPr lang="en-US" dirty="0"/>
              <a:t> с </a:t>
            </a:r>
            <a:r>
              <a:rPr lang="en-US" dirty="0" err="1"/>
              <a:t>назначенными</a:t>
            </a:r>
            <a:r>
              <a:rPr lang="en-US" dirty="0"/>
              <a:t> </a:t>
            </a:r>
            <a:r>
              <a:rPr lang="en-US" dirty="0" err="1"/>
              <a:t>им</a:t>
            </a:r>
            <a:r>
              <a:rPr lang="en-US" dirty="0"/>
              <a:t> </a:t>
            </a:r>
            <a:r>
              <a:rPr lang="en-US" dirty="0" err="1"/>
              <a:t>долями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равных</a:t>
            </a:r>
            <a:r>
              <a:rPr lang="en-US" dirty="0"/>
              <a:t> </a:t>
            </a:r>
            <a:r>
              <a:rPr lang="en-US" dirty="0" err="1"/>
              <a:t>весах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получают</a:t>
            </a:r>
            <a:r>
              <a:rPr lang="en-US" dirty="0"/>
              <a:t> </a:t>
            </a:r>
            <a:r>
              <a:rPr lang="en-US" dirty="0" err="1"/>
              <a:t>примерно</a:t>
            </a:r>
            <a:r>
              <a:rPr lang="en-US" dirty="0"/>
              <a:t> </a:t>
            </a:r>
            <a:r>
              <a:rPr lang="en-US" dirty="0" err="1"/>
              <a:t>равные</a:t>
            </a:r>
            <a:r>
              <a:rPr lang="en-US" dirty="0"/>
              <a:t> </a:t>
            </a:r>
            <a:r>
              <a:rPr lang="en-US" dirty="0" err="1"/>
              <a:t>доли</a:t>
            </a:r>
            <a:r>
              <a:rPr lang="en-US" dirty="0"/>
              <a:t> CPU.</a:t>
            </a:r>
          </a:p>
          <a:p>
            <a:pPr lvl="1"/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весах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распределяется</a:t>
            </a:r>
            <a:r>
              <a:rPr lang="en-US" dirty="0"/>
              <a:t> </a:t>
            </a:r>
            <a:r>
              <a:rPr lang="en-US" dirty="0" err="1"/>
              <a:t>пропорционально</a:t>
            </a:r>
            <a:r>
              <a:rPr lang="en-US" dirty="0"/>
              <a:t> </a:t>
            </a:r>
            <a:r>
              <a:rPr lang="en-US" dirty="0" err="1"/>
              <a:t>весам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Учитывается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очередность</a:t>
            </a:r>
            <a:r>
              <a:rPr lang="en-US" dirty="0"/>
              <a:t> </a:t>
            </a:r>
            <a:r>
              <a:rPr lang="en-US" dirty="0" err="1"/>
              <a:t>запуска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полученное</a:t>
            </a:r>
            <a:r>
              <a:rPr lang="en-US" dirty="0"/>
              <a:t> </a:t>
            </a:r>
            <a:r>
              <a:rPr lang="en-US" dirty="0" err="1"/>
              <a:t>процессорное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Справедливость</a:t>
            </a:r>
            <a:r>
              <a:rPr lang="en-US" dirty="0"/>
              <a:t> </a:t>
            </a:r>
            <a:r>
              <a:rPr lang="en-US" dirty="0" err="1"/>
              <a:t>оценивается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некотором</a:t>
            </a:r>
            <a:r>
              <a:rPr lang="en-US" dirty="0"/>
              <a:t> </a:t>
            </a:r>
            <a:r>
              <a:rPr lang="en-US" dirty="0" err="1"/>
              <a:t>интервале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переключения</a:t>
            </a:r>
            <a:r>
              <a:rPr lang="en-US" dirty="0"/>
              <a:t>.</a:t>
            </a:r>
          </a:p>
          <a:p>
            <a:r>
              <a:rPr lang="en-US" dirty="0" err="1"/>
              <a:t>Справедливость</a:t>
            </a:r>
            <a:r>
              <a:rPr lang="en-US" dirty="0"/>
              <a:t> ≠ </a:t>
            </a:r>
            <a:r>
              <a:rPr lang="en-US" dirty="0" err="1"/>
              <a:t>одинаковый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одинаковое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отклика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2298664-7A5D-B8CB-5A8E-2DC711073D3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1656" y="1825625"/>
            <a:ext cx="4920343" cy="228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1698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EC3A9-8A2F-FFB1-6391-D12A245CC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Fair-Share: </a:t>
            </a:r>
            <a:r>
              <a:rPr lang="en-US" dirty="0" err="1"/>
              <a:t>справедливость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пользователями</a:t>
            </a:r>
            <a:r>
              <a:rPr lang="en-US" dirty="0"/>
              <a:t> и </a:t>
            </a:r>
            <a:r>
              <a:rPr lang="en-US" dirty="0" err="1"/>
              <a:t>группами</a:t>
            </a:r>
            <a:endParaRPr lang="en-US" dirty="0"/>
          </a:p>
        </p:txBody>
      </p:sp>
      <p:pic>
        <p:nvPicPr>
          <p:cNvPr id="9" name="Content Placeholder 5">
            <a:extLst>
              <a:ext uri="{FF2B5EF4-FFF2-40B4-BE49-F238E27FC236}">
                <a16:creationId xmlns:a16="http://schemas.microsoft.com/office/drawing/2014/main" id="{40151744-3E55-2288-BB03-6E28DD8B55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792" y="1690688"/>
            <a:ext cx="9452416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184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72C3B-7F08-D5C2-9473-014276B6B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CFS: </a:t>
            </a:r>
            <a:r>
              <a:rPr lang="en-US" dirty="0" err="1"/>
              <a:t>идея</a:t>
            </a:r>
            <a:r>
              <a:rPr lang="en-US" dirty="0"/>
              <a:t> </a:t>
            </a:r>
            <a:r>
              <a:rPr lang="en-US" dirty="0" err="1"/>
              <a:t>виртуального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2F2E6-EA89-7F3C-BCFA-7974176F09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Completely Fair Scheduler (CFS) — </a:t>
            </a:r>
            <a:r>
              <a:rPr lang="en-US" dirty="0" err="1"/>
              <a:t>классический</a:t>
            </a:r>
            <a:r>
              <a:rPr lang="en-US" dirty="0"/>
              <a:t> </a:t>
            </a:r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справедливого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 Linux.</a:t>
            </a:r>
          </a:p>
          <a:p>
            <a:r>
              <a:rPr lang="ru-RU" dirty="0"/>
              <a:t>И</a:t>
            </a:r>
            <a:r>
              <a:rPr lang="en-US" dirty="0" err="1"/>
              <a:t>дея</a:t>
            </a:r>
            <a:r>
              <a:rPr lang="en-US" dirty="0"/>
              <a:t>: </a:t>
            </a:r>
            <a:r>
              <a:rPr lang="en-US" dirty="0" err="1"/>
              <a:t>процессор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делит</a:t>
            </a:r>
            <a:r>
              <a:rPr lang="en-US" dirty="0"/>
              <a:t> </a:t>
            </a:r>
            <a:r>
              <a:rPr lang="en-US" dirty="0" err="1"/>
              <a:t>свою</a:t>
            </a:r>
            <a:r>
              <a:rPr lang="en-US" dirty="0"/>
              <a:t> </a:t>
            </a:r>
            <a:r>
              <a:rPr lang="en-US" dirty="0" err="1"/>
              <a:t>мощность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всеми</a:t>
            </a:r>
            <a:r>
              <a:rPr lang="en-US" dirty="0"/>
              <a:t> </a:t>
            </a:r>
            <a:r>
              <a:rPr lang="en-US" dirty="0" err="1"/>
              <a:t>готовыми</a:t>
            </a:r>
            <a:r>
              <a:rPr lang="en-US" dirty="0"/>
              <a:t> </a:t>
            </a:r>
            <a:r>
              <a:rPr lang="en-US" dirty="0" err="1"/>
              <a:t>задачами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учитывается</a:t>
            </a:r>
            <a:r>
              <a:rPr lang="en-US" dirty="0"/>
              <a:t> </a:t>
            </a:r>
            <a:r>
              <a:rPr lang="en-US" dirty="0" err="1"/>
              <a:t>виртуальное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— </a:t>
            </a:r>
            <a:r>
              <a:rPr lang="en-US" dirty="0" err="1"/>
              <a:t>vruntime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vruntime</a:t>
            </a:r>
            <a:r>
              <a:rPr lang="en-US" dirty="0"/>
              <a:t> </a:t>
            </a:r>
            <a:r>
              <a:rPr lang="en-US" dirty="0" err="1"/>
              <a:t>увеличивается</a:t>
            </a:r>
            <a:r>
              <a:rPr lang="en-US" dirty="0"/>
              <a:t> с </a:t>
            </a:r>
            <a:r>
              <a:rPr lang="en-US" dirty="0" err="1"/>
              <a:t>учётом</a:t>
            </a:r>
            <a:r>
              <a:rPr lang="en-US" dirty="0"/>
              <a:t> </a:t>
            </a:r>
            <a:r>
              <a:rPr lang="en-US" dirty="0" err="1"/>
              <a:t>использованного</a:t>
            </a:r>
            <a:r>
              <a:rPr lang="en-US" dirty="0"/>
              <a:t> CPU и </a:t>
            </a:r>
            <a:r>
              <a:rPr lang="en-US" dirty="0" err="1"/>
              <a:t>веса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стремится</a:t>
            </a:r>
            <a:r>
              <a:rPr lang="en-US" dirty="0"/>
              <a:t> </a:t>
            </a:r>
            <a:r>
              <a:rPr lang="en-US" dirty="0" err="1"/>
              <a:t>выбирать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 с </a:t>
            </a:r>
            <a:r>
              <a:rPr lang="en-US" dirty="0" err="1"/>
              <a:t>наименьшим</a:t>
            </a:r>
            <a:r>
              <a:rPr lang="en-US" dirty="0"/>
              <a:t> </a:t>
            </a:r>
            <a:r>
              <a:rPr lang="en-US" dirty="0" err="1"/>
              <a:t>vruntime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эффективного</a:t>
            </a:r>
            <a:r>
              <a:rPr lang="en-US" dirty="0"/>
              <a:t> </a:t>
            </a:r>
            <a:r>
              <a:rPr lang="en-US" dirty="0" err="1"/>
              <a:t>поиска</a:t>
            </a:r>
            <a:r>
              <a:rPr lang="en-US" dirty="0"/>
              <a:t> </a:t>
            </a:r>
            <a:r>
              <a:rPr lang="en-US" dirty="0" err="1"/>
              <a:t>использовалось</a:t>
            </a:r>
            <a:r>
              <a:rPr lang="en-US" dirty="0"/>
              <a:t> </a:t>
            </a:r>
            <a:r>
              <a:rPr lang="en-US" dirty="0" err="1"/>
              <a:t>красно-чёрное</a:t>
            </a:r>
            <a:r>
              <a:rPr lang="en-US" dirty="0"/>
              <a:t> </a:t>
            </a:r>
            <a:r>
              <a:rPr lang="en-US" dirty="0" err="1"/>
              <a:t>дерево</a:t>
            </a:r>
            <a:r>
              <a:rPr lang="en-US" dirty="0"/>
              <a:t> (Red-Black Tree).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6E7A8B5-0062-E331-A03B-26F9870CC53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1924050"/>
            <a:ext cx="6019800" cy="3009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927AEE-EBDC-BDC3-5BC9-9DD9D6F5AA59}"/>
              </a:ext>
            </a:extLst>
          </p:cNvPr>
          <p:cNvSpPr txBox="1"/>
          <p:nvPr/>
        </p:nvSpPr>
        <p:spPr>
          <a:xfrm>
            <a:off x="838199" y="5892800"/>
            <a:ext cx="105155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/>
              <a:t>Задача</a:t>
            </a:r>
            <a:r>
              <a:rPr lang="en-US" sz="2000" dirty="0"/>
              <a:t>, </a:t>
            </a:r>
            <a:r>
              <a:rPr lang="en-US" sz="2000" dirty="0" err="1"/>
              <a:t>получившая</a:t>
            </a:r>
            <a:r>
              <a:rPr lang="en-US" sz="2000" dirty="0"/>
              <a:t> </a:t>
            </a:r>
            <a:r>
              <a:rPr lang="en-US" sz="2000" dirty="0" err="1"/>
              <a:t>меньше</a:t>
            </a:r>
            <a:r>
              <a:rPr lang="en-US" sz="2000" dirty="0"/>
              <a:t> </a:t>
            </a:r>
            <a:r>
              <a:rPr lang="en-US" sz="2000" dirty="0" err="1"/>
              <a:t>своей</a:t>
            </a:r>
            <a:r>
              <a:rPr lang="en-US" sz="2000" dirty="0"/>
              <a:t> </a:t>
            </a:r>
            <a:r>
              <a:rPr lang="en-US" sz="2000" dirty="0" err="1"/>
              <a:t>справедливой</a:t>
            </a:r>
            <a:r>
              <a:rPr lang="en-US" sz="2000" dirty="0"/>
              <a:t> </a:t>
            </a:r>
            <a:r>
              <a:rPr lang="en-US" sz="2000" dirty="0" err="1"/>
              <a:t>доли</a:t>
            </a:r>
            <a:r>
              <a:rPr lang="en-US" sz="2000" dirty="0"/>
              <a:t> CPU, </a:t>
            </a:r>
            <a:r>
              <a:rPr lang="en-US" sz="2000" dirty="0" err="1"/>
              <a:t>должна</a:t>
            </a:r>
            <a:r>
              <a:rPr lang="en-US" sz="2000" dirty="0"/>
              <a:t> </a:t>
            </a:r>
            <a:r>
              <a:rPr lang="en-US" sz="2000" dirty="0" err="1"/>
              <a:t>иметь</a:t>
            </a:r>
            <a:r>
              <a:rPr lang="en-US" sz="2000" dirty="0"/>
              <a:t> </a:t>
            </a:r>
            <a:r>
              <a:rPr lang="en-US" sz="2000" dirty="0" err="1"/>
              <a:t>возможность</a:t>
            </a:r>
            <a:r>
              <a:rPr lang="en-US" sz="2000" dirty="0"/>
              <a:t> </a:t>
            </a:r>
            <a:r>
              <a:rPr lang="en-US" sz="2000" dirty="0" err="1"/>
              <a:t>наверстать</a:t>
            </a:r>
            <a:r>
              <a:rPr lang="en-US" sz="2000" dirty="0"/>
              <a:t> </a:t>
            </a:r>
            <a:r>
              <a:rPr lang="en-US" sz="2000" dirty="0" err="1"/>
              <a:t>отставание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672282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C189C-4E77-73DC-9F0B-114EF07A4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EEVDF: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совместить</a:t>
            </a:r>
            <a:r>
              <a:rPr lang="en-US" dirty="0"/>
              <a:t> </a:t>
            </a:r>
            <a:r>
              <a:rPr lang="en-US" dirty="0" err="1"/>
              <a:t>справедливость</a:t>
            </a:r>
            <a:r>
              <a:rPr lang="en-US" dirty="0"/>
              <a:t> и </a:t>
            </a:r>
            <a:r>
              <a:rPr lang="en-US" dirty="0" err="1"/>
              <a:t>отзывчивость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F6738-C856-FB5D-5342-15D9D2EFDF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686144" cy="189003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Earliest Eligible Virtual Deadline First (EEVDF) — </a:t>
            </a:r>
            <a:r>
              <a:rPr lang="en-US" dirty="0" err="1"/>
              <a:t>развитие</a:t>
            </a:r>
            <a:r>
              <a:rPr lang="en-US" dirty="0"/>
              <a:t> </a:t>
            </a:r>
            <a:r>
              <a:rPr lang="en-US" dirty="0" err="1"/>
              <a:t>справедливого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 в Linux.</a:t>
            </a:r>
            <a:endParaRPr lang="ru-RU" dirty="0"/>
          </a:p>
          <a:p>
            <a:r>
              <a:rPr lang="en-US" dirty="0" err="1"/>
              <a:t>Преимущества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Распределение</a:t>
            </a:r>
            <a:r>
              <a:rPr lang="en-US" dirty="0"/>
              <a:t> CPU с </a:t>
            </a:r>
            <a:r>
              <a:rPr lang="en-US" dirty="0" err="1"/>
              <a:t>учётом</a:t>
            </a:r>
            <a:r>
              <a:rPr lang="en-US" dirty="0"/>
              <a:t> </a:t>
            </a:r>
            <a:r>
              <a:rPr lang="en-US" dirty="0" err="1"/>
              <a:t>весов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улучшить</a:t>
            </a:r>
            <a:r>
              <a:rPr lang="en-US" dirty="0"/>
              <a:t> </a:t>
            </a:r>
            <a:r>
              <a:rPr lang="en-US" dirty="0" err="1"/>
              <a:t>отклик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, </a:t>
            </a:r>
            <a:r>
              <a:rPr lang="en-US" dirty="0" err="1"/>
              <a:t>чувствительных</a:t>
            </a:r>
            <a:r>
              <a:rPr lang="en-US" dirty="0"/>
              <a:t> к </a:t>
            </a:r>
            <a:r>
              <a:rPr lang="en-US" dirty="0" err="1"/>
              <a:t>задержкам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Учет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полученного</a:t>
            </a:r>
            <a:r>
              <a:rPr lang="en-US" dirty="0"/>
              <a:t> </a:t>
            </a:r>
            <a:r>
              <a:rPr lang="en-US" dirty="0" err="1"/>
              <a:t>процессорного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1B6FDCD-9253-79E7-A12F-4E1DDD6E538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228" y="3825268"/>
            <a:ext cx="6259286" cy="303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0032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30C4E-2802-FB1C-78BD-6D5FE3E70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планирование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в Linux и </a:t>
            </a:r>
            <a:r>
              <a:rPr lang="en-US" dirty="0" err="1"/>
              <a:t>многоядерных</a:t>
            </a:r>
            <a:r>
              <a:rPr lang="en-US" dirty="0"/>
              <a:t> </a:t>
            </a:r>
            <a:r>
              <a:rPr lang="en-US" dirty="0" err="1"/>
              <a:t>системах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4DA269-97D2-4454-6352-FA10F3CCBD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7191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4661A1-9780-52BB-9E59-E88547BBF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Политики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 в Linux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43EE836-9A10-2D25-A4AD-76BC7881E4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4254275"/>
              </p:ext>
            </p:extLst>
          </p:nvPr>
        </p:nvGraphicFramePr>
        <p:xfrm>
          <a:off x="838200" y="1825625"/>
          <a:ext cx="10515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7171">
                  <a:extLst>
                    <a:ext uri="{9D8B030D-6E8A-4147-A177-3AD203B41FA5}">
                      <a16:colId xmlns:a16="http://schemas.microsoft.com/office/drawing/2014/main" val="2934255213"/>
                    </a:ext>
                  </a:extLst>
                </a:gridCol>
                <a:gridCol w="7928429">
                  <a:extLst>
                    <a:ext uri="{9D8B030D-6E8A-4147-A177-3AD203B41FA5}">
                      <a16:colId xmlns:a16="http://schemas.microsoft.com/office/drawing/2014/main" val="35710407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Политика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Назначение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1925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SCHED_OTHER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Обычные задачи, справедливое распределение CPU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9137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SCHED_BATCH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Пакетные вычисления без требований к быстрому отклику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0041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SCHED_IDLE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Фоновые задачи с очень низким приоритетом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9193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SCHED_FIFO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Real-Time: фиксированные приоритеты, без кванта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2678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SCHED_RR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Real-Time: Round Robin внутри одного приоритета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446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SCHED_DEADLINE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Планирование</a:t>
                      </a:r>
                      <a:r>
                        <a:rPr lang="en-US" dirty="0"/>
                        <a:t> с </a:t>
                      </a:r>
                      <a:r>
                        <a:rPr lang="en-US" dirty="0" err="1"/>
                        <a:t>учётом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временных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ограничений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866136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9C1E655-32CF-27D7-6DB7-AB1404B5D242}"/>
              </a:ext>
            </a:extLst>
          </p:cNvPr>
          <p:cNvSpPr txBox="1"/>
          <p:nvPr/>
        </p:nvSpPr>
        <p:spPr>
          <a:xfrm>
            <a:off x="838200" y="4967292"/>
            <a:ext cx="10101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 err="1"/>
              <a:t>Политика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 </a:t>
            </a:r>
            <a:r>
              <a:rPr lang="en-US" dirty="0" err="1"/>
              <a:t>определяет</a:t>
            </a:r>
            <a:r>
              <a:rPr lang="en-US" dirty="0"/>
              <a:t>,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каким</a:t>
            </a:r>
            <a:r>
              <a:rPr lang="en-US" dirty="0"/>
              <a:t> </a:t>
            </a:r>
            <a:r>
              <a:rPr lang="en-US" dirty="0" err="1"/>
              <a:t>правилам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конкурирует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CPU.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4483F9-0590-E098-F02F-6B0654AD1CF7}"/>
              </a:ext>
            </a:extLst>
          </p:cNvPr>
          <p:cNvSpPr txBox="1"/>
          <p:nvPr/>
        </p:nvSpPr>
        <p:spPr>
          <a:xfrm>
            <a:off x="838200" y="588241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https://man7.org/linux/man-pages/man7/sched.7.html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5633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F1BDF-3484-D459-88FB-0A27DD888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Политика</a:t>
            </a:r>
            <a:r>
              <a:rPr lang="en-US" dirty="0"/>
              <a:t> и </a:t>
            </a:r>
            <a:r>
              <a:rPr lang="en-US" dirty="0" err="1"/>
              <a:t>механизм</a:t>
            </a:r>
            <a:r>
              <a:rPr lang="en-US" dirty="0"/>
              <a:t>: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управлять</a:t>
            </a:r>
            <a:r>
              <a:rPr lang="en-US" dirty="0"/>
              <a:t> </a:t>
            </a:r>
            <a:r>
              <a:rPr lang="en-US" dirty="0" err="1"/>
              <a:t>приложение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58E89-8B6F-95CB-543C-854CA47C3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err="1"/>
              <a:t>Механизм</a:t>
            </a:r>
            <a:r>
              <a:rPr lang="en-US" dirty="0"/>
              <a:t> (Mechanism) — </a:t>
            </a:r>
            <a:r>
              <a:rPr lang="en-US" dirty="0" err="1"/>
              <a:t>как</a:t>
            </a:r>
            <a:r>
              <a:rPr lang="en-US" dirty="0"/>
              <a:t> ОС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планирование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Очереди</a:t>
            </a:r>
            <a:r>
              <a:rPr lang="en-US" dirty="0"/>
              <a:t> </a:t>
            </a:r>
            <a:r>
              <a:rPr lang="en-US" dirty="0" err="1"/>
              <a:t>готовых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Вытеснение</a:t>
            </a:r>
            <a:r>
              <a:rPr lang="en-US" dirty="0"/>
              <a:t> и </a:t>
            </a:r>
            <a:r>
              <a:rPr lang="en-US" dirty="0" err="1"/>
              <a:t>переключение</a:t>
            </a:r>
            <a:r>
              <a:rPr lang="en-US" dirty="0"/>
              <a:t> </a:t>
            </a:r>
            <a:r>
              <a:rPr lang="en-US" dirty="0" err="1"/>
              <a:t>контекста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Учёт</a:t>
            </a:r>
            <a:r>
              <a:rPr lang="en-US" dirty="0"/>
              <a:t> </a:t>
            </a:r>
            <a:r>
              <a:rPr lang="en-US" dirty="0" err="1"/>
              <a:t>использованного</a:t>
            </a:r>
            <a:r>
              <a:rPr lang="en-US" dirty="0"/>
              <a:t> </a:t>
            </a:r>
            <a:r>
              <a:rPr lang="en-US" dirty="0" err="1"/>
              <a:t>процессорного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  <a:p>
            <a:r>
              <a:rPr lang="en-US" b="1" dirty="0" err="1"/>
              <a:t>Политика</a:t>
            </a:r>
            <a:r>
              <a:rPr lang="en-US" dirty="0"/>
              <a:t> (Policy) —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каким</a:t>
            </a:r>
            <a:r>
              <a:rPr lang="en-US" dirty="0"/>
              <a:t> </a:t>
            </a:r>
            <a:r>
              <a:rPr lang="en-US" dirty="0" err="1"/>
              <a:t>правилам</a:t>
            </a:r>
            <a:r>
              <a:rPr lang="en-US" dirty="0"/>
              <a:t> </a:t>
            </a:r>
            <a:r>
              <a:rPr lang="en-US" dirty="0" err="1"/>
              <a:t>распределяется</a:t>
            </a:r>
            <a:r>
              <a:rPr lang="en-US" dirty="0"/>
              <a:t> CPU.</a:t>
            </a:r>
          </a:p>
          <a:p>
            <a:r>
              <a:rPr lang="en-US" dirty="0" err="1"/>
              <a:t>Приложение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администратор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влиять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планирование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hlinkClick r:id="rId3"/>
              </a:rPr>
              <a:t>nice</a:t>
            </a:r>
            <a:r>
              <a:rPr lang="en-US" dirty="0"/>
              <a:t> — </a:t>
            </a:r>
            <a:r>
              <a:rPr lang="en-US" dirty="0" err="1"/>
              <a:t>относительный</a:t>
            </a:r>
            <a:r>
              <a:rPr lang="en-US" dirty="0"/>
              <a:t> </a:t>
            </a:r>
            <a:r>
              <a:rPr lang="en-US" dirty="0" err="1"/>
              <a:t>вес</a:t>
            </a:r>
            <a:r>
              <a:rPr lang="en-US" dirty="0"/>
              <a:t> </a:t>
            </a:r>
            <a:r>
              <a:rPr lang="en-US" dirty="0" err="1"/>
              <a:t>обычных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.</a:t>
            </a:r>
          </a:p>
          <a:p>
            <a:pPr lvl="1"/>
            <a:r>
              <a:rPr lang="en-US" dirty="0" err="1">
                <a:hlinkClick r:id="rId4"/>
              </a:rPr>
              <a:t>sched_setscheduler</a:t>
            </a:r>
            <a:r>
              <a:rPr lang="en-US" dirty="0"/>
              <a:t>() — </a:t>
            </a:r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политики</a:t>
            </a:r>
            <a:r>
              <a:rPr lang="en-US" dirty="0"/>
              <a:t> и </a:t>
            </a:r>
            <a:r>
              <a:rPr lang="en-US" dirty="0" err="1"/>
              <a:t>параметров</a:t>
            </a:r>
            <a:r>
              <a:rPr lang="en-US" dirty="0"/>
              <a:t>.</a:t>
            </a:r>
          </a:p>
          <a:p>
            <a:pPr lvl="1"/>
            <a:r>
              <a:rPr lang="en-US" dirty="0" err="1">
                <a:hlinkClick r:id="rId5"/>
              </a:rPr>
              <a:t>sched_setaffinity</a:t>
            </a:r>
            <a:r>
              <a:rPr lang="en-US" dirty="0"/>
              <a:t>() — </a:t>
            </a:r>
            <a:r>
              <a:rPr lang="en-US" dirty="0" err="1"/>
              <a:t>допустимые</a:t>
            </a:r>
            <a:r>
              <a:rPr lang="en-US" dirty="0"/>
              <a:t> CPU.</a:t>
            </a:r>
          </a:p>
          <a:p>
            <a:pPr lvl="1"/>
            <a:r>
              <a:rPr lang="en-US" dirty="0" err="1">
                <a:hlinkClick r:id="rId6"/>
              </a:rPr>
              <a:t>cgroups</a:t>
            </a:r>
            <a:r>
              <a:rPr lang="en-US" dirty="0"/>
              <a:t> — </a:t>
            </a:r>
            <a:r>
              <a:rPr lang="en-US" dirty="0" err="1"/>
              <a:t>распределение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группами</a:t>
            </a:r>
            <a:r>
              <a:rPr lang="en-US" dirty="0"/>
              <a:t>.</a:t>
            </a:r>
          </a:p>
          <a:p>
            <a:r>
              <a:rPr lang="en-US" dirty="0" err="1"/>
              <a:t>Приложение</a:t>
            </a:r>
            <a:r>
              <a:rPr lang="en-US" dirty="0"/>
              <a:t> </a:t>
            </a:r>
            <a:r>
              <a:rPr lang="en-US" dirty="0" err="1"/>
              <a:t>задаёт</a:t>
            </a:r>
            <a:r>
              <a:rPr lang="en-US" dirty="0"/>
              <a:t> </a:t>
            </a:r>
            <a:r>
              <a:rPr lang="en-US" dirty="0" err="1"/>
              <a:t>ограничения</a:t>
            </a:r>
            <a:r>
              <a:rPr lang="en-US" dirty="0"/>
              <a:t> и </a:t>
            </a:r>
            <a:r>
              <a:rPr lang="en-US" dirty="0" err="1"/>
              <a:t>предпочтения</a:t>
            </a:r>
            <a:r>
              <a:rPr lang="en-US" dirty="0"/>
              <a:t>, а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принимает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о </a:t>
            </a:r>
            <a:r>
              <a:rPr lang="en-US" dirty="0" err="1"/>
              <a:t>выполнении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3883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B76BB-44E5-A079-2515-EF2A2C8C0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Практика</a:t>
            </a:r>
            <a:r>
              <a:rPr lang="en-US" dirty="0"/>
              <a:t>: </a:t>
            </a:r>
            <a:r>
              <a:rPr lang="en-US" dirty="0" err="1"/>
              <a:t>наблюдаем</a:t>
            </a:r>
            <a:r>
              <a:rPr lang="en-US" dirty="0"/>
              <a:t> </a:t>
            </a:r>
            <a:r>
              <a:rPr lang="en-US" dirty="0" err="1"/>
              <a:t>планирование</a:t>
            </a:r>
            <a:r>
              <a:rPr lang="en-US" dirty="0"/>
              <a:t> в Linux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EEF9BB-54AB-4F9E-9566-B17FC6269618}"/>
              </a:ext>
            </a:extLst>
          </p:cNvPr>
          <p:cNvSpPr txBox="1"/>
          <p:nvPr/>
        </p:nvSpPr>
        <p:spPr>
          <a:xfrm>
            <a:off x="217714" y="1690688"/>
            <a:ext cx="6607629" cy="313932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# </a:t>
            </a:r>
            <a:r>
              <a:rPr lang="en-US" dirty="0" err="1">
                <a:latin typeface="Consolas" panose="020B0609020204030204" pitchFamily="49" charset="0"/>
              </a:rPr>
              <a:t>Посмотреть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потоки</a:t>
            </a:r>
            <a:r>
              <a:rPr lang="en-US" dirty="0">
                <a:latin typeface="Consolas" panose="020B0609020204030204" pitchFamily="49" charset="0"/>
              </a:rPr>
              <a:t> и </a:t>
            </a:r>
            <a:r>
              <a:rPr lang="en-US" dirty="0" err="1">
                <a:latin typeface="Consolas" panose="020B0609020204030204" pitchFamily="49" charset="0"/>
              </a:rPr>
              <a:t>параметры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планирования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ps</a:t>
            </a:r>
            <a:r>
              <a:rPr lang="en-US" dirty="0">
                <a:latin typeface="Consolas" panose="020B0609020204030204" pitchFamily="49" charset="0"/>
              </a:rPr>
              <a:t> -</a:t>
            </a:r>
            <a:r>
              <a:rPr lang="en-US" dirty="0" err="1">
                <a:latin typeface="Consolas" panose="020B0609020204030204" pitchFamily="49" charset="0"/>
              </a:rPr>
              <a:t>eLo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pid,tid,cls,ni,psr,pcpu,comm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# </a:t>
            </a:r>
            <a:r>
              <a:rPr lang="en-US" dirty="0" err="1">
                <a:latin typeface="Consolas" panose="020B0609020204030204" pitchFamily="49" charset="0"/>
              </a:rPr>
              <a:t>Запустить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задачу</a:t>
            </a:r>
            <a:r>
              <a:rPr lang="en-US" dirty="0">
                <a:latin typeface="Consolas" panose="020B0609020204030204" pitchFamily="49" charset="0"/>
              </a:rPr>
              <a:t> с </a:t>
            </a:r>
            <a:r>
              <a:rPr lang="en-US" dirty="0" err="1">
                <a:latin typeface="Consolas" panose="020B0609020204030204" pitchFamily="49" charset="0"/>
              </a:rPr>
              <a:t>пониженным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приоритетом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nice -n 10 ./</a:t>
            </a:r>
            <a:r>
              <a:rPr lang="en-US" dirty="0" err="1">
                <a:latin typeface="Consolas" panose="020B0609020204030204" pitchFamily="49" charset="0"/>
              </a:rPr>
              <a:t>cpu</a:t>
            </a:r>
            <a:r>
              <a:rPr lang="en-US" dirty="0">
                <a:latin typeface="Consolas" panose="020B0609020204030204" pitchFamily="49" charset="0"/>
              </a:rPr>
              <a:t>-bound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# </a:t>
            </a:r>
            <a:r>
              <a:rPr lang="en-US" dirty="0" err="1">
                <a:latin typeface="Consolas" panose="020B0609020204030204" pitchFamily="49" charset="0"/>
              </a:rPr>
              <a:t>Ограничить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выполнение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одним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логическим</a:t>
            </a:r>
            <a:r>
              <a:rPr lang="en-US" dirty="0">
                <a:latin typeface="Consolas" panose="020B0609020204030204" pitchFamily="49" charset="0"/>
              </a:rPr>
              <a:t> CPU</a:t>
            </a:r>
          </a:p>
          <a:p>
            <a:r>
              <a:rPr lang="en-US" dirty="0">
                <a:latin typeface="Consolas" panose="020B0609020204030204" pitchFamily="49" charset="0"/>
              </a:rPr>
              <a:t>taskset -c 0 ./</a:t>
            </a:r>
            <a:r>
              <a:rPr lang="en-US" dirty="0" err="1">
                <a:latin typeface="Consolas" panose="020B0609020204030204" pitchFamily="49" charset="0"/>
              </a:rPr>
              <a:t>cpu</a:t>
            </a:r>
            <a:r>
              <a:rPr lang="en-US" dirty="0">
                <a:latin typeface="Consolas" panose="020B0609020204030204" pitchFamily="49" charset="0"/>
              </a:rPr>
              <a:t>-bound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# </a:t>
            </a:r>
            <a:r>
              <a:rPr lang="en-US" dirty="0" err="1">
                <a:latin typeface="Consolas" panose="020B0609020204030204" pitchFamily="49" charset="0"/>
              </a:rPr>
              <a:t>Посмотреть</a:t>
            </a:r>
            <a:r>
              <a:rPr lang="en-US" dirty="0">
                <a:latin typeface="Consolas" panose="020B0609020204030204" pitchFamily="49" charset="0"/>
              </a:rPr>
              <a:t> CPU Affinity </a:t>
            </a:r>
            <a:r>
              <a:rPr lang="en-US" dirty="0" err="1">
                <a:latin typeface="Consolas" panose="020B0609020204030204" pitchFamily="49" charset="0"/>
              </a:rPr>
              <a:t>существующего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процесса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taskset -pc &lt;PID&gt;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16A7DE-3A90-03F9-7473-C5A968802F95}"/>
              </a:ext>
            </a:extLst>
          </p:cNvPr>
          <p:cNvSpPr txBox="1"/>
          <p:nvPr/>
        </p:nvSpPr>
        <p:spPr>
          <a:xfrm>
            <a:off x="7445829" y="2329448"/>
            <a:ext cx="4528457" cy="6463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nice -n 10 taskset -c 0 ./</a:t>
            </a:r>
            <a:r>
              <a:rPr lang="en-US" dirty="0" err="1">
                <a:latin typeface="Consolas" panose="020B0609020204030204" pitchFamily="49" charset="0"/>
              </a:rPr>
              <a:t>a.out</a:t>
            </a:r>
            <a:r>
              <a:rPr lang="en-US" dirty="0">
                <a:latin typeface="Consolas" panose="020B0609020204030204" pitchFamily="49" charset="0"/>
              </a:rPr>
              <a:t> &amp;</a:t>
            </a:r>
          </a:p>
          <a:p>
            <a:r>
              <a:rPr lang="en-US" dirty="0">
                <a:latin typeface="Consolas" panose="020B0609020204030204" pitchFamily="49" charset="0"/>
              </a:rPr>
              <a:t>nice -n 5 taskset -c 0 ./</a:t>
            </a:r>
            <a:r>
              <a:rPr lang="en-US" dirty="0" err="1">
                <a:latin typeface="Consolas" panose="020B0609020204030204" pitchFamily="49" charset="0"/>
              </a:rPr>
              <a:t>a.out</a:t>
            </a:r>
            <a:r>
              <a:rPr lang="en-US" dirty="0">
                <a:latin typeface="Consolas" panose="020B0609020204030204" pitchFamily="49" charset="0"/>
              </a:rPr>
              <a:t> &amp;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09696E-1E4D-DF6E-A11A-600E64420BEE}"/>
              </a:ext>
            </a:extLst>
          </p:cNvPr>
          <p:cNvSpPr txBox="1"/>
          <p:nvPr/>
        </p:nvSpPr>
        <p:spPr>
          <a:xfrm>
            <a:off x="838200" y="5555407"/>
            <a:ext cx="10874828" cy="92333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    PID USER      PR  NI    VIRT    RES    SHR S  %CPU  %MEM     TIME+ COMMAND</a:t>
            </a:r>
          </a:p>
          <a:p>
            <a:r>
              <a:rPr lang="en-US" dirty="0">
                <a:latin typeface="Consolas" panose="020B0609020204030204" pitchFamily="49" charset="0"/>
              </a:rPr>
              <a:t>   5403 vivid     25   5    2644    984    892 R  75.3   0.0   0:15.60 </a:t>
            </a:r>
            <a:r>
              <a:rPr lang="en-US" dirty="0" err="1">
                <a:latin typeface="Consolas" panose="020B0609020204030204" pitchFamily="49" charset="0"/>
              </a:rPr>
              <a:t>a.out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5402 vivid     30  10    2644    956    868 R  24.7   0.0   0:05.12 </a:t>
            </a:r>
            <a:r>
              <a:rPr lang="en-US" dirty="0" err="1">
                <a:latin typeface="Consolas" panose="020B0609020204030204" pitchFamily="49" charset="0"/>
              </a:rPr>
              <a:t>a.out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0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8DB8F-DADF-42E8-5E98-2018DF99F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Многоядерное</a:t>
            </a:r>
            <a:r>
              <a:rPr lang="en-US" dirty="0"/>
              <a:t> </a:t>
            </a:r>
            <a:r>
              <a:rPr lang="en-US" dirty="0" err="1"/>
              <a:t>планирование</a:t>
            </a:r>
            <a:r>
              <a:rPr lang="en-US" dirty="0"/>
              <a:t>: </a:t>
            </a:r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выбрать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BCE0D-DA7C-6A77-5705-F6A9A1E2AB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628086" cy="209323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В </a:t>
            </a:r>
            <a:r>
              <a:rPr lang="en-US" dirty="0" err="1"/>
              <a:t>многоядерной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запустить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каком</a:t>
            </a:r>
            <a:r>
              <a:rPr lang="en-US" dirty="0"/>
              <a:t> </a:t>
            </a:r>
            <a:r>
              <a:rPr lang="en-US" dirty="0" err="1"/>
              <a:t>логическом</a:t>
            </a:r>
            <a:r>
              <a:rPr lang="en-US" dirty="0"/>
              <a:t> CPU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?</a:t>
            </a:r>
          </a:p>
          <a:p>
            <a:r>
              <a:rPr lang="en-US" dirty="0"/>
              <a:t>У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логического</a:t>
            </a:r>
            <a:r>
              <a:rPr lang="en-US" dirty="0"/>
              <a:t> CPU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собственная</a:t>
            </a:r>
            <a:r>
              <a:rPr lang="en-US" dirty="0"/>
              <a:t>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dirty="0" err="1"/>
              <a:t>готовых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(Run Queue).</a:t>
            </a:r>
          </a:p>
          <a:p>
            <a:pPr lvl="1"/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старается</a:t>
            </a:r>
            <a:r>
              <a:rPr lang="en-US" dirty="0"/>
              <a:t> </a:t>
            </a:r>
            <a:r>
              <a:rPr lang="en-US" dirty="0" err="1"/>
              <a:t>распределять</a:t>
            </a:r>
            <a:r>
              <a:rPr lang="en-US" dirty="0"/>
              <a:t> </a:t>
            </a:r>
            <a:r>
              <a:rPr lang="en-US" dirty="0" err="1"/>
              <a:t>нагрузку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доступными</a:t>
            </a:r>
            <a:r>
              <a:rPr lang="en-US" dirty="0"/>
              <a:t> CPU.</a:t>
            </a:r>
          </a:p>
          <a:p>
            <a:r>
              <a:rPr lang="en-US" dirty="0"/>
              <a:t>Load Balancing — </a:t>
            </a:r>
            <a:r>
              <a:rPr lang="en-US" dirty="0" err="1"/>
              <a:t>перенос</a:t>
            </a:r>
            <a:r>
              <a:rPr lang="en-US" dirty="0"/>
              <a:t> </a:t>
            </a:r>
            <a:r>
              <a:rPr lang="en-US" dirty="0" err="1"/>
              <a:t>готовых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CPU.</a:t>
            </a:r>
          </a:p>
          <a:p>
            <a:pPr lvl="1"/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выборе</a:t>
            </a:r>
            <a:r>
              <a:rPr lang="en-US" dirty="0"/>
              <a:t> </a:t>
            </a:r>
            <a:r>
              <a:rPr lang="en-US" dirty="0" err="1"/>
              <a:t>учитываются</a:t>
            </a:r>
            <a:r>
              <a:rPr lang="en-US" dirty="0"/>
              <a:t> </a:t>
            </a:r>
            <a:r>
              <a:rPr lang="en-US" dirty="0" err="1"/>
              <a:t>загрузка</a:t>
            </a:r>
            <a:r>
              <a:rPr lang="en-US" dirty="0"/>
              <a:t>, </a:t>
            </a:r>
            <a:r>
              <a:rPr lang="en-US" dirty="0" err="1"/>
              <a:t>ограничения</a:t>
            </a:r>
            <a:r>
              <a:rPr lang="en-US" dirty="0"/>
              <a:t> </a:t>
            </a:r>
            <a:r>
              <a:rPr lang="en-US" dirty="0" err="1"/>
              <a:t>размещения</a:t>
            </a:r>
            <a:r>
              <a:rPr lang="en-US" dirty="0"/>
              <a:t> и </a:t>
            </a:r>
            <a:r>
              <a:rPr lang="en-US" dirty="0" err="1"/>
              <a:t>топология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764B6A18-D157-E466-2E52-EA07370C176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6343" y="4053794"/>
            <a:ext cx="5399314" cy="2699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7309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BF806-7A93-E4EF-210D-D2287B5D1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 Affinity: </a:t>
            </a:r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выгодно</a:t>
            </a:r>
            <a:r>
              <a:rPr lang="en-US" dirty="0"/>
              <a:t> </a:t>
            </a:r>
            <a:r>
              <a:rPr lang="en-US" dirty="0" err="1"/>
              <a:t>переносить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5FDF4-B992-D953-A7B2-44B5547939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181601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CPU Affinity — </a:t>
            </a:r>
            <a:r>
              <a:rPr lang="ru-RU" dirty="0"/>
              <a:t>привязка потоков к 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ru-RU" dirty="0"/>
              <a:t>у</a:t>
            </a:r>
            <a:r>
              <a:rPr lang="en-US" dirty="0"/>
              <a:t> </a:t>
            </a:r>
            <a:r>
              <a:rPr lang="en-US" dirty="0" err="1"/>
              <a:t>логических</a:t>
            </a:r>
            <a:r>
              <a:rPr lang="en-US" dirty="0"/>
              <a:t> </a:t>
            </a:r>
            <a:r>
              <a:rPr lang="en-US" dirty="0" err="1"/>
              <a:t>процессоров</a:t>
            </a:r>
            <a:r>
              <a:rPr lang="en-US" dirty="0"/>
              <a:t>.</a:t>
            </a:r>
          </a:p>
          <a:p>
            <a:r>
              <a:rPr lang="ru-RU" dirty="0"/>
              <a:t>Стоимость миграции потока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Данные</a:t>
            </a:r>
            <a:r>
              <a:rPr lang="en-US" dirty="0"/>
              <a:t> и </a:t>
            </a:r>
            <a:r>
              <a:rPr lang="en-US" dirty="0" err="1"/>
              <a:t>инструкции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находиться</a:t>
            </a:r>
            <a:r>
              <a:rPr lang="en-US" dirty="0"/>
              <a:t> в </a:t>
            </a:r>
            <a:r>
              <a:rPr lang="en-US" dirty="0" err="1"/>
              <a:t>кэше</a:t>
            </a:r>
            <a:r>
              <a:rPr lang="en-US" dirty="0"/>
              <a:t> </a:t>
            </a:r>
            <a:r>
              <a:rPr lang="en-US" dirty="0" err="1"/>
              <a:t>текущего</a:t>
            </a:r>
            <a:r>
              <a:rPr lang="en-US" dirty="0"/>
              <a:t> CPU.</a:t>
            </a:r>
          </a:p>
          <a:p>
            <a:pPr lvl="2"/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миграции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потребоваться</a:t>
            </a:r>
            <a:r>
              <a:rPr lang="en-US" dirty="0"/>
              <a:t> </a:t>
            </a:r>
            <a:r>
              <a:rPr lang="en-US" dirty="0" err="1"/>
              <a:t>повторная</a:t>
            </a:r>
            <a:r>
              <a:rPr lang="en-US" dirty="0"/>
              <a:t> </a:t>
            </a:r>
            <a:r>
              <a:rPr lang="en-US" dirty="0" err="1"/>
              <a:t>загрузка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в </a:t>
            </a:r>
            <a:r>
              <a:rPr lang="en-US" dirty="0" err="1"/>
              <a:t>кэш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Доступ</a:t>
            </a:r>
            <a:r>
              <a:rPr lang="en-US" dirty="0"/>
              <a:t> к </a:t>
            </a:r>
            <a:r>
              <a:rPr lang="en-US" dirty="0" err="1"/>
              <a:t>памяти</a:t>
            </a:r>
            <a:r>
              <a:rPr lang="en-US" dirty="0"/>
              <a:t> </a:t>
            </a:r>
            <a:r>
              <a:rPr lang="en-US" dirty="0" err="1"/>
              <a:t>другого</a:t>
            </a:r>
            <a:r>
              <a:rPr lang="en-US" dirty="0"/>
              <a:t> NUMA-</a:t>
            </a:r>
            <a:r>
              <a:rPr lang="en-US" dirty="0" err="1"/>
              <a:t>узла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медленнее</a:t>
            </a:r>
            <a:r>
              <a:rPr lang="en-US" dirty="0"/>
              <a:t>.</a:t>
            </a:r>
          </a:p>
          <a:p>
            <a:r>
              <a:rPr lang="en-US" dirty="0" err="1"/>
              <a:t>Управление</a:t>
            </a:r>
            <a:r>
              <a:rPr lang="en-US" dirty="0"/>
              <a:t> в Linux:</a:t>
            </a:r>
          </a:p>
          <a:p>
            <a:pPr lvl="1"/>
            <a:r>
              <a:rPr lang="en-US" dirty="0"/>
              <a:t>taskset —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командной</a:t>
            </a:r>
            <a:r>
              <a:rPr lang="en-US" dirty="0"/>
              <a:t> </a:t>
            </a:r>
            <a:r>
              <a:rPr lang="en-US" dirty="0" err="1"/>
              <a:t>строки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sched_setaffinity</a:t>
            </a:r>
            <a:r>
              <a:rPr lang="en-US" dirty="0"/>
              <a:t>() —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</a:p>
          <a:p>
            <a:r>
              <a:rPr lang="en-US" dirty="0" err="1"/>
              <a:t>Компромисс</a:t>
            </a:r>
            <a:r>
              <a:rPr lang="en-US" dirty="0"/>
              <a:t>: </a:t>
            </a:r>
            <a:r>
              <a:rPr lang="en-US" dirty="0" err="1"/>
              <a:t>локальность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↔ </a:t>
            </a:r>
            <a:r>
              <a:rPr lang="en-US" dirty="0" err="1"/>
              <a:t>балансировка</a:t>
            </a:r>
            <a:r>
              <a:rPr lang="en-US" dirty="0"/>
              <a:t> </a:t>
            </a:r>
            <a:r>
              <a:rPr lang="en-US" dirty="0" err="1"/>
              <a:t>нагрузки</a:t>
            </a:r>
            <a:endParaRPr lang="en-US" dirty="0"/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E70CF25-8F22-F62D-DE9F-6DCABF02046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286794"/>
            <a:ext cx="601980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3029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02A77-5F61-0E1B-6221-2602FCCCA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планирует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: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приложение</a:t>
            </a:r>
            <a:r>
              <a:rPr lang="en-US" dirty="0"/>
              <a:t>?</a:t>
            </a:r>
          </a:p>
        </p:txBody>
      </p:sp>
      <p:pic>
        <p:nvPicPr>
          <p:cNvPr id="9" name="Content Placeholder 5">
            <a:extLst>
              <a:ext uri="{FF2B5EF4-FFF2-40B4-BE49-F238E27FC236}">
                <a16:creationId xmlns:a16="http://schemas.microsoft.com/office/drawing/2014/main" id="{DD63D1DC-488F-B4AB-5648-83C8E64C63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856" y="1690688"/>
            <a:ext cx="9954288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3947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ECCF9B-B8E7-FC98-A903-98703CF40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Планирование</a:t>
            </a:r>
            <a:r>
              <a:rPr lang="en-US" dirty="0"/>
              <a:t> в </a:t>
            </a:r>
            <a:r>
              <a:rPr lang="en-US" dirty="0" err="1"/>
              <a:t>системах</a:t>
            </a:r>
            <a:r>
              <a:rPr lang="en-US" dirty="0"/>
              <a:t> </a:t>
            </a:r>
            <a:r>
              <a:rPr lang="en-US" dirty="0" err="1"/>
              <a:t>реального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FBDE27-EF0B-AAD7-F467-2358EB3CA5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8151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29C3C9-0289-6645-401C-0CFECC5F7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Real-Time: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важен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определённого</a:t>
            </a:r>
            <a:r>
              <a:rPr lang="en-US" dirty="0"/>
              <a:t> </a:t>
            </a:r>
            <a:r>
              <a:rPr lang="en-US" dirty="0" err="1"/>
              <a:t>момента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370EFC-05D9-CABD-8836-A070131DE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Real-Time System </a:t>
            </a:r>
            <a:r>
              <a:rPr lang="en-US" dirty="0"/>
              <a:t>— </a:t>
            </a:r>
            <a:r>
              <a:rPr lang="en-US" dirty="0" err="1"/>
              <a:t>система</a:t>
            </a:r>
            <a:r>
              <a:rPr lang="en-US" dirty="0"/>
              <a:t>, в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корректность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результата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получения</a:t>
            </a:r>
            <a:r>
              <a:rPr lang="en-US" dirty="0"/>
              <a:t>.</a:t>
            </a:r>
          </a:p>
          <a:p>
            <a:r>
              <a:rPr lang="en-US" b="1" dirty="0"/>
              <a:t>Deadline</a:t>
            </a:r>
            <a:r>
              <a:rPr lang="en-US" dirty="0"/>
              <a:t> — </a:t>
            </a:r>
            <a:r>
              <a:rPr lang="en-US" dirty="0" err="1"/>
              <a:t>крайний</a:t>
            </a:r>
            <a:r>
              <a:rPr lang="en-US" dirty="0"/>
              <a:t> </a:t>
            </a:r>
            <a:r>
              <a:rPr lang="en-US" dirty="0" err="1"/>
              <a:t>срок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</a:t>
            </a:r>
          </a:p>
          <a:p>
            <a:r>
              <a:rPr lang="en-US" dirty="0" err="1"/>
              <a:t>Типы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 </a:t>
            </a:r>
            <a:r>
              <a:rPr lang="en-US" dirty="0" err="1"/>
              <a:t>реального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Hard Real-Time </a:t>
            </a:r>
            <a:r>
              <a:rPr lang="en-US" dirty="0"/>
              <a:t>— </a:t>
            </a:r>
            <a:r>
              <a:rPr lang="en-US" dirty="0" err="1"/>
              <a:t>нарушение</a:t>
            </a:r>
            <a:r>
              <a:rPr lang="en-US" dirty="0"/>
              <a:t> </a:t>
            </a:r>
            <a:r>
              <a:rPr lang="en-US" dirty="0" err="1"/>
              <a:t>дедлайна</a:t>
            </a:r>
            <a:r>
              <a:rPr lang="en-US" dirty="0"/>
              <a:t> </a:t>
            </a:r>
            <a:r>
              <a:rPr lang="en-US" dirty="0" err="1"/>
              <a:t>недопустимо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Soft Real-Time </a:t>
            </a:r>
            <a:r>
              <a:rPr lang="en-US" dirty="0"/>
              <a:t>— </a:t>
            </a:r>
            <a:r>
              <a:rPr lang="en-US" dirty="0" err="1"/>
              <a:t>отдельные</a:t>
            </a:r>
            <a:r>
              <a:rPr lang="en-US" dirty="0"/>
              <a:t> </a:t>
            </a:r>
            <a:r>
              <a:rPr lang="en-US" dirty="0" err="1"/>
              <a:t>нарушения</a:t>
            </a:r>
            <a:r>
              <a:rPr lang="en-US" dirty="0"/>
              <a:t> </a:t>
            </a:r>
            <a:r>
              <a:rPr lang="en-US" dirty="0" err="1"/>
              <a:t>допустимы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ухудшают</a:t>
            </a:r>
            <a:r>
              <a:rPr lang="en-US" dirty="0"/>
              <a:t> </a:t>
            </a:r>
            <a:r>
              <a:rPr lang="en-US" dirty="0" err="1"/>
              <a:t>качество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.</a:t>
            </a:r>
          </a:p>
          <a:p>
            <a:r>
              <a:rPr lang="en-US" dirty="0" err="1"/>
              <a:t>Примеры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промышленным</a:t>
            </a:r>
            <a:r>
              <a:rPr lang="en-US" dirty="0"/>
              <a:t> </a:t>
            </a:r>
            <a:r>
              <a:rPr lang="en-US" dirty="0" err="1"/>
              <a:t>оборудованием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Обработка</a:t>
            </a:r>
            <a:r>
              <a:rPr lang="en-US" dirty="0"/>
              <a:t> </a:t>
            </a:r>
            <a:r>
              <a:rPr lang="en-US" dirty="0" err="1"/>
              <a:t>сигналов</a:t>
            </a:r>
            <a:r>
              <a:rPr lang="en-US" dirty="0"/>
              <a:t> </a:t>
            </a:r>
            <a:r>
              <a:rPr lang="en-US" dirty="0" err="1"/>
              <a:t>датчиков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Воспроизведение</a:t>
            </a:r>
            <a:r>
              <a:rPr lang="en-US" dirty="0"/>
              <a:t> </a:t>
            </a:r>
            <a:r>
              <a:rPr lang="en-US" dirty="0" err="1"/>
              <a:t>аудио</a:t>
            </a:r>
            <a:r>
              <a:rPr lang="en-US" dirty="0"/>
              <a:t> и </a:t>
            </a:r>
            <a:r>
              <a:rPr lang="en-US" dirty="0" err="1"/>
              <a:t>видео</a:t>
            </a:r>
            <a:r>
              <a:rPr lang="en-US" dirty="0"/>
              <a:t>.</a:t>
            </a:r>
          </a:p>
          <a:p>
            <a:r>
              <a:rPr lang="en-US" dirty="0"/>
              <a:t>Real-Time ≠ </a:t>
            </a:r>
            <a:r>
              <a:rPr lang="en-US" dirty="0" err="1"/>
              <a:t>максимально</a:t>
            </a:r>
            <a:r>
              <a:rPr lang="en-US" dirty="0"/>
              <a:t> </a:t>
            </a:r>
            <a:r>
              <a:rPr lang="en-US" dirty="0" err="1"/>
              <a:t>быстро</a:t>
            </a:r>
            <a:r>
              <a:rPr lang="en-US" dirty="0"/>
              <a:t>. </a:t>
            </a:r>
            <a:r>
              <a:rPr lang="en-US" dirty="0" err="1"/>
              <a:t>Главное</a:t>
            </a:r>
            <a:r>
              <a:rPr lang="en-US" dirty="0"/>
              <a:t> — </a:t>
            </a:r>
            <a:r>
              <a:rPr lang="en-US" dirty="0" err="1"/>
              <a:t>предсказуемо</a:t>
            </a:r>
            <a:r>
              <a:rPr lang="en-US" dirty="0"/>
              <a:t> и </a:t>
            </a:r>
            <a:r>
              <a:rPr lang="en-US" dirty="0" err="1"/>
              <a:t>вовремя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0031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B091B-EAC4-0F38-0577-DDEEE0A54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</a:t>
            </a:r>
            <a:r>
              <a:rPr lang="en-US" dirty="0" err="1"/>
              <a:t>реального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F8C129-D306-6D7F-B4EA-00F742C550A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5334000" cy="4425546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Задачи </a:t>
                </a:r>
                <a:r>
                  <a:rPr lang="en-US" dirty="0" err="1"/>
                  <a:t>реального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 </a:t>
                </a:r>
                <a:r>
                  <a:rPr lang="en-US" dirty="0" err="1"/>
                  <a:t>часто</a:t>
                </a:r>
                <a:r>
                  <a:rPr lang="en-US" dirty="0"/>
                  <a:t> </a:t>
                </a:r>
                <a:r>
                  <a:rPr lang="en-US" dirty="0" err="1"/>
                  <a:t>выполняются</a:t>
                </a:r>
                <a:r>
                  <a:rPr lang="en-US" dirty="0"/>
                  <a:t> </a:t>
                </a:r>
                <a:r>
                  <a:rPr lang="en-US" dirty="0" err="1"/>
                  <a:t>периодически</a:t>
                </a:r>
                <a:r>
                  <a:rPr lang="en-US" dirty="0"/>
                  <a:t> </a:t>
                </a:r>
                <a:r>
                  <a:rPr lang="en-US" dirty="0" err="1"/>
                  <a:t>или</a:t>
                </a:r>
                <a:r>
                  <a:rPr lang="en-US" dirty="0"/>
                  <a:t> в </a:t>
                </a:r>
                <a:r>
                  <a:rPr lang="en-US" dirty="0" err="1"/>
                  <a:t>ответ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внешние</a:t>
                </a:r>
                <a:r>
                  <a:rPr lang="en-US" dirty="0"/>
                  <a:t> </a:t>
                </a:r>
                <a:r>
                  <a:rPr lang="en-US" dirty="0" err="1"/>
                  <a:t>события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Основные</a:t>
                </a:r>
                <a:r>
                  <a:rPr lang="en-US" dirty="0"/>
                  <a:t> </a:t>
                </a:r>
                <a:r>
                  <a:rPr lang="en-US" dirty="0" err="1"/>
                  <a:t>параметры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— Worst-Case Execution Time (WCET): </a:t>
                </a:r>
                <a:r>
                  <a:rPr lang="en-US" dirty="0" err="1"/>
                  <a:t>верхняя</a:t>
                </a:r>
                <a:r>
                  <a:rPr lang="en-US" dirty="0"/>
                  <a:t> </a:t>
                </a:r>
                <a:r>
                  <a:rPr lang="en-US" dirty="0" err="1"/>
                  <a:t>оценка</a:t>
                </a:r>
                <a:r>
                  <a:rPr lang="en-US" dirty="0"/>
                  <a:t> </a:t>
                </a:r>
                <a:r>
                  <a:rPr lang="en-US" dirty="0" err="1"/>
                  <a:t>необходимого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 CPU.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— Period: </a:t>
                </a:r>
                <a:r>
                  <a:rPr lang="en-US" dirty="0" err="1"/>
                  <a:t>период</a:t>
                </a:r>
                <a:r>
                  <a:rPr lang="en-US" dirty="0"/>
                  <a:t> </a:t>
                </a:r>
                <a:r>
                  <a:rPr lang="en-US" dirty="0" err="1"/>
                  <a:t>появления</a:t>
                </a:r>
                <a:r>
                  <a:rPr lang="en-US" dirty="0"/>
                  <a:t> </a:t>
                </a:r>
                <a:r>
                  <a:rPr lang="en-US" dirty="0" err="1"/>
                  <a:t>новых</a:t>
                </a:r>
                <a:r>
                  <a:rPr lang="en-US" dirty="0"/>
                  <a:t> </a:t>
                </a:r>
                <a:r>
                  <a:rPr lang="en-US" dirty="0" err="1"/>
                  <a:t>экземпляров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— Relative Deadline: </a:t>
                </a:r>
                <a:r>
                  <a:rPr lang="en-US" dirty="0" err="1"/>
                  <a:t>время</a:t>
                </a:r>
                <a:r>
                  <a:rPr lang="en-US" dirty="0"/>
                  <a:t> </a:t>
                </a:r>
                <a:r>
                  <a:rPr lang="en-US" dirty="0" err="1"/>
                  <a:t>от</a:t>
                </a:r>
                <a:r>
                  <a:rPr lang="en-US" dirty="0"/>
                  <a:t> </a:t>
                </a:r>
                <a:r>
                  <a:rPr lang="en-US" dirty="0" err="1"/>
                  <a:t>поступления</a:t>
                </a:r>
                <a:r>
                  <a:rPr lang="en-US" dirty="0"/>
                  <a:t> </a:t>
                </a:r>
                <a:r>
                  <a:rPr lang="en-US" dirty="0" err="1"/>
                  <a:t>задания</a:t>
                </a:r>
                <a:r>
                  <a:rPr lang="en-US" dirty="0"/>
                  <a:t> </a:t>
                </a:r>
                <a:r>
                  <a:rPr lang="en-US" dirty="0" err="1"/>
                  <a:t>до</a:t>
                </a:r>
                <a:r>
                  <a:rPr lang="en-US" dirty="0"/>
                  <a:t> </a:t>
                </a:r>
                <a:r>
                  <a:rPr lang="en-US" dirty="0" err="1"/>
                  <a:t>крайнего</a:t>
                </a:r>
                <a:r>
                  <a:rPr lang="en-US" dirty="0"/>
                  <a:t> </a:t>
                </a:r>
                <a:r>
                  <a:rPr lang="en-US" dirty="0" err="1"/>
                  <a:t>срока</a:t>
                </a:r>
                <a:r>
                  <a:rPr lang="en-US" dirty="0"/>
                  <a:t> </a:t>
                </a:r>
                <a:r>
                  <a:rPr lang="en-US" dirty="0" err="1"/>
                  <a:t>завершения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Абсолютный</a:t>
                </a:r>
                <a:r>
                  <a:rPr lang="en-US" dirty="0"/>
                  <a:t> </a:t>
                </a:r>
                <a:r>
                  <a:rPr lang="en-US" dirty="0" err="1"/>
                  <a:t>дедлайн</a:t>
                </a:r>
                <a:r>
                  <a:rPr lang="en-US" dirty="0"/>
                  <a:t> </a:t>
                </a:r>
                <a:r>
                  <a:rPr lang="en-US" dirty="0" err="1"/>
                  <a:t>экземпляра</a:t>
                </a:r>
                <a:r>
                  <a:rPr lang="en-US" dirty="0"/>
                  <a:t> </a:t>
                </a:r>
                <a:r>
                  <a:rPr lang="en-US" dirty="0" err="1"/>
                  <a:t>задачи</a:t>
                </a:r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0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ru-RU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— </a:t>
                </a:r>
                <a:r>
                  <a:rPr lang="en-US" dirty="0" err="1"/>
                  <a:t>момент</a:t>
                </a:r>
                <a:r>
                  <a:rPr lang="en-US" dirty="0"/>
                  <a:t> </a:t>
                </a:r>
                <a:r>
                  <a:rPr lang="en-US" dirty="0" err="1"/>
                  <a:t>поступления</a:t>
                </a:r>
                <a:r>
                  <a:rPr lang="en-US" dirty="0"/>
                  <a:t> </a:t>
                </a:r>
                <a:r>
                  <a:rPr lang="en-US" dirty="0" err="1"/>
                  <a:t>экземпляра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Пример</a:t>
                </a:r>
                <a:r>
                  <a:rPr lang="en-US" dirty="0"/>
                  <a:t>:</a:t>
                </a:r>
                <a:endParaRPr lang="ru-RU" dirty="0"/>
              </a:p>
              <a:p>
                <a:pPr lvl="1"/>
                <a:r>
                  <a:rPr lang="en-US" dirty="0" err="1"/>
                  <a:t>каждые</a:t>
                </a:r>
                <a:r>
                  <a:rPr lang="en-US" dirty="0"/>
                  <a:t> 10 </a:t>
                </a:r>
                <a:r>
                  <a:rPr lang="en-US" dirty="0" err="1"/>
                  <a:t>мс</a:t>
                </a:r>
                <a:r>
                  <a:rPr lang="en-US" dirty="0"/>
                  <a:t> </a:t>
                </a:r>
                <a:r>
                  <a:rPr lang="en-US" dirty="0" err="1"/>
                  <a:t>поступает</a:t>
                </a:r>
                <a:r>
                  <a:rPr lang="en-US" dirty="0"/>
                  <a:t> </a:t>
                </a:r>
                <a:r>
                  <a:rPr lang="en-US" dirty="0" err="1"/>
                  <a:t>задача</a:t>
                </a:r>
                <a:r>
                  <a:rPr lang="en-US" dirty="0"/>
                  <a:t>, </a:t>
                </a:r>
                <a:r>
                  <a:rPr lang="en-US" dirty="0" err="1"/>
                  <a:t>которой</a:t>
                </a:r>
                <a:r>
                  <a:rPr lang="en-US" dirty="0"/>
                  <a:t> </a:t>
                </a:r>
                <a:r>
                  <a:rPr lang="en-US" dirty="0" err="1"/>
                  <a:t>необходимо</a:t>
                </a:r>
                <a:r>
                  <a:rPr lang="en-US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более</a:t>
                </a:r>
                <a:r>
                  <a:rPr lang="en-US" dirty="0"/>
                  <a:t> 3 </a:t>
                </a:r>
                <a:r>
                  <a:rPr lang="en-US" dirty="0" err="1"/>
                  <a:t>мс</a:t>
                </a:r>
                <a:r>
                  <a:rPr lang="en-US" dirty="0"/>
                  <a:t> CPU и </a:t>
                </a:r>
                <a:r>
                  <a:rPr lang="en-US" dirty="0" err="1"/>
                  <a:t>которую</a:t>
                </a:r>
                <a:r>
                  <a:rPr lang="en-US" dirty="0"/>
                  <a:t> </a:t>
                </a:r>
                <a:r>
                  <a:rPr lang="en-US" dirty="0" err="1"/>
                  <a:t>требуется</a:t>
                </a:r>
                <a:r>
                  <a:rPr lang="en-US" dirty="0"/>
                  <a:t> </a:t>
                </a:r>
                <a:r>
                  <a:rPr lang="en-US" dirty="0" err="1"/>
                  <a:t>завершить</a:t>
                </a:r>
                <a:r>
                  <a:rPr lang="en-US" dirty="0"/>
                  <a:t> в </a:t>
                </a:r>
                <a:r>
                  <a:rPr lang="en-US" dirty="0" err="1"/>
                  <a:t>течение</a:t>
                </a:r>
                <a:r>
                  <a:rPr lang="en-US" dirty="0"/>
                  <a:t> 10 </a:t>
                </a:r>
                <a:r>
                  <a:rPr lang="en-US" dirty="0" err="1"/>
                  <a:t>мс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F8C129-D306-6D7F-B4EA-00F742C550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5334000" cy="4425546"/>
              </a:xfrm>
              <a:blipFill>
                <a:blip r:embed="rId3"/>
                <a:stretch>
                  <a:fillRect l="-1029" t="-2342" r="-1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90A98B5-6AE5-1D26-C737-DD2E6BC1559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286794"/>
            <a:ext cx="601980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9286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86C6E-BC60-E5F8-37E0-22248B33C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Rate Monotonic: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короче</a:t>
            </a:r>
            <a:r>
              <a:rPr lang="en-US" dirty="0"/>
              <a:t> </a:t>
            </a:r>
            <a:r>
              <a:rPr lang="en-US" dirty="0" err="1"/>
              <a:t>период</a:t>
            </a:r>
            <a:r>
              <a:rPr lang="en-US" dirty="0"/>
              <a:t>,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выше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815DE-B014-BFE6-A083-695E3742C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3128760"/>
          </a:xfrm>
        </p:spPr>
        <p:txBody>
          <a:bodyPr>
            <a:normAutofit fontScale="92500"/>
          </a:bodyPr>
          <a:lstStyle/>
          <a:p>
            <a:r>
              <a:rPr lang="en-US" dirty="0"/>
              <a:t>Rate Monotonic Scheduling (RM) — </a:t>
            </a:r>
            <a:r>
              <a:rPr lang="en-US" dirty="0" err="1"/>
              <a:t>вытесняющее</a:t>
            </a:r>
            <a:r>
              <a:rPr lang="en-US" dirty="0"/>
              <a:t> </a:t>
            </a:r>
            <a:r>
              <a:rPr lang="en-US" dirty="0" err="1"/>
              <a:t>планирование</a:t>
            </a:r>
            <a:r>
              <a:rPr lang="en-US" dirty="0"/>
              <a:t> </a:t>
            </a:r>
            <a:r>
              <a:rPr lang="en-US" dirty="0" err="1"/>
              <a:t>периодических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с </a:t>
            </a:r>
            <a:r>
              <a:rPr lang="en-US" dirty="0" err="1"/>
              <a:t>фиксированными</a:t>
            </a:r>
            <a:r>
              <a:rPr lang="en-US" dirty="0"/>
              <a:t> </a:t>
            </a:r>
            <a:r>
              <a:rPr lang="en-US" dirty="0" err="1"/>
              <a:t>приоритетами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Приоритет </a:t>
            </a:r>
            <a:r>
              <a:rPr lang="en-US" dirty="0" err="1"/>
              <a:t>определяется</a:t>
            </a:r>
            <a:r>
              <a:rPr lang="en-US" dirty="0"/>
              <a:t> </a:t>
            </a:r>
            <a:r>
              <a:rPr lang="en-US" dirty="0" err="1"/>
              <a:t>периодом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</a:t>
            </a:r>
          </a:p>
          <a:p>
            <a:pPr lvl="1"/>
            <a:r>
              <a:rPr lang="ru-RU" dirty="0"/>
              <a:t>Чем м</a:t>
            </a:r>
            <a:r>
              <a:rPr lang="en-US" dirty="0" err="1"/>
              <a:t>еньше</a:t>
            </a:r>
            <a:r>
              <a:rPr lang="en-US" dirty="0"/>
              <a:t> </a:t>
            </a:r>
            <a:r>
              <a:rPr lang="en-US" dirty="0" err="1"/>
              <a:t>период</a:t>
            </a:r>
            <a:r>
              <a:rPr lang="en-US" dirty="0"/>
              <a:t> </a:t>
            </a:r>
            <a:r>
              <a:rPr lang="ru-RU" dirty="0"/>
              <a:t>, тем</a:t>
            </a:r>
            <a:r>
              <a:rPr lang="en-US" dirty="0"/>
              <a:t> </a:t>
            </a:r>
            <a:r>
              <a:rPr lang="en-US" dirty="0" err="1"/>
              <a:t>выше</a:t>
            </a:r>
            <a:r>
              <a:rPr lang="en-US" dirty="0"/>
              <a:t> </a:t>
            </a:r>
            <a:r>
              <a:rPr lang="en-US" dirty="0" err="1"/>
              <a:t>приоритет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Приоритет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изменяется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экземпляра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к </a:t>
            </a:r>
            <a:r>
              <a:rPr lang="en-US" dirty="0" err="1"/>
              <a:t>другому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приоритетная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вытеснить</a:t>
            </a:r>
            <a:r>
              <a:rPr lang="en-US" dirty="0"/>
              <a:t> </a:t>
            </a:r>
            <a:r>
              <a:rPr lang="en-US" dirty="0" err="1"/>
              <a:t>менее</a:t>
            </a:r>
            <a:r>
              <a:rPr lang="en-US" dirty="0"/>
              <a:t> </a:t>
            </a:r>
            <a:r>
              <a:rPr lang="en-US" dirty="0" err="1"/>
              <a:t>приоритетную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 err="1"/>
              <a:t>Преимущество</a:t>
            </a:r>
            <a:r>
              <a:rPr lang="en-US" dirty="0"/>
              <a:t>: </a:t>
            </a:r>
            <a:r>
              <a:rPr lang="en-US" dirty="0" err="1"/>
              <a:t>простота</a:t>
            </a:r>
            <a:r>
              <a:rPr lang="en-US" dirty="0"/>
              <a:t> и </a:t>
            </a:r>
            <a:r>
              <a:rPr lang="en-US" dirty="0" err="1"/>
              <a:t>предсказуемость</a:t>
            </a:r>
            <a:r>
              <a:rPr lang="en-US" dirty="0"/>
              <a:t> </a:t>
            </a:r>
            <a:r>
              <a:rPr lang="en-US" dirty="0" err="1"/>
              <a:t>фиксированных</a:t>
            </a:r>
            <a:r>
              <a:rPr lang="en-US" dirty="0"/>
              <a:t> </a:t>
            </a:r>
            <a:r>
              <a:rPr lang="en-US" dirty="0" err="1"/>
              <a:t>приоритетов</a:t>
            </a:r>
            <a:r>
              <a:rPr lang="en-US" dirty="0"/>
              <a:t>.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53C3761E-32F3-D9C2-58B7-58265F0F7CDA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1911424938"/>
                  </p:ext>
                </p:extLst>
              </p:nvPr>
            </p:nvGraphicFramePr>
            <p:xfrm>
              <a:off x="838200" y="5089322"/>
              <a:ext cx="4865914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05114">
                      <a:extLst>
                        <a:ext uri="{9D8B030D-6E8A-4147-A177-3AD203B41FA5}">
                          <a16:colId xmlns:a16="http://schemas.microsoft.com/office/drawing/2014/main" val="3273132368"/>
                        </a:ext>
                      </a:extLst>
                    </a:gridCol>
                    <a:gridCol w="1306286">
                      <a:extLst>
                        <a:ext uri="{9D8B030D-6E8A-4147-A177-3AD203B41FA5}">
                          <a16:colId xmlns:a16="http://schemas.microsoft.com/office/drawing/2014/main" val="3678448409"/>
                        </a:ext>
                      </a:extLst>
                    </a:gridCol>
                    <a:gridCol w="1074057">
                      <a:extLst>
                        <a:ext uri="{9D8B030D-6E8A-4147-A177-3AD203B41FA5}">
                          <a16:colId xmlns:a16="http://schemas.microsoft.com/office/drawing/2014/main" val="1671032504"/>
                        </a:ext>
                      </a:extLst>
                    </a:gridCol>
                    <a:gridCol w="1480457">
                      <a:extLst>
                        <a:ext uri="{9D8B030D-6E8A-4147-A177-3AD203B41FA5}">
                          <a16:colId xmlns:a16="http://schemas.microsoft.com/office/drawing/2014/main" val="1601954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 err="1"/>
                            <a:t>Задача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 err="1"/>
                            <a:t>Период</a:t>
                          </a:r>
                          <a:r>
                            <a:rPr lang="ru-RU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oMath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WCET</a:t>
                          </a:r>
                          <a:r>
                            <a:rPr lang="ru-RU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oMath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Приоритет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932395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4 мс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1 </a:t>
                          </a:r>
                          <a:r>
                            <a:rPr lang="en-US" dirty="0" err="1"/>
                            <a:t>мс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 err="1"/>
                            <a:t>Высокий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723083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7 мс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4 мс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 err="1"/>
                            <a:t>Низкий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579666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53C3761E-32F3-D9C2-58B7-58265F0F7CDA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1911424938"/>
                  </p:ext>
                </p:extLst>
              </p:nvPr>
            </p:nvGraphicFramePr>
            <p:xfrm>
              <a:off x="838200" y="5089322"/>
              <a:ext cx="4865914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05114">
                      <a:extLst>
                        <a:ext uri="{9D8B030D-6E8A-4147-A177-3AD203B41FA5}">
                          <a16:colId xmlns:a16="http://schemas.microsoft.com/office/drawing/2014/main" val="3273132368"/>
                        </a:ext>
                      </a:extLst>
                    </a:gridCol>
                    <a:gridCol w="1306286">
                      <a:extLst>
                        <a:ext uri="{9D8B030D-6E8A-4147-A177-3AD203B41FA5}">
                          <a16:colId xmlns:a16="http://schemas.microsoft.com/office/drawing/2014/main" val="3678448409"/>
                        </a:ext>
                      </a:extLst>
                    </a:gridCol>
                    <a:gridCol w="1074057">
                      <a:extLst>
                        <a:ext uri="{9D8B030D-6E8A-4147-A177-3AD203B41FA5}">
                          <a16:colId xmlns:a16="http://schemas.microsoft.com/office/drawing/2014/main" val="1671032504"/>
                        </a:ext>
                      </a:extLst>
                    </a:gridCol>
                    <a:gridCol w="1480457">
                      <a:extLst>
                        <a:ext uri="{9D8B030D-6E8A-4147-A177-3AD203B41FA5}">
                          <a16:colId xmlns:a16="http://schemas.microsoft.com/office/drawing/2014/main" val="1601954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 err="1"/>
                            <a:t>Задача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7209" t="-4918" r="-196744" b="-227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6477" t="-4918" r="-140341" b="-227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Приоритет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932395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4 мс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1 </a:t>
                          </a:r>
                          <a:r>
                            <a:rPr lang="en-US" dirty="0" err="1"/>
                            <a:t>мс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 err="1"/>
                            <a:t>Высокий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723083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7 мс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4 мс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 err="1"/>
                            <a:t>Низкий</a:t>
                          </a:r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5796663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CD49A48F-B3EB-91C7-03A8-2CF139BCE8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885" y="4798272"/>
            <a:ext cx="6212115" cy="1804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8813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7E448-915E-871B-7D6A-6DDB8C408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EDF: </a:t>
            </a:r>
            <a:r>
              <a:rPr lang="en-US" dirty="0" err="1"/>
              <a:t>первым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ближайший</a:t>
            </a:r>
            <a:r>
              <a:rPr lang="en-US" dirty="0"/>
              <a:t> deadline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268B9-88A6-4885-A5B3-7AE1E3046A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245608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Earliest Deadline First (EDF) — </a:t>
            </a:r>
            <a:r>
              <a:rPr lang="en-US" dirty="0" err="1"/>
              <a:t>вытесняющее</a:t>
            </a:r>
            <a:r>
              <a:rPr lang="en-US" dirty="0"/>
              <a:t> </a:t>
            </a:r>
            <a:r>
              <a:rPr lang="en-US" dirty="0" err="1"/>
              <a:t>планирование</a:t>
            </a:r>
            <a:r>
              <a:rPr lang="en-US" dirty="0"/>
              <a:t> с </a:t>
            </a:r>
            <a:r>
              <a:rPr lang="en-US" dirty="0" err="1"/>
              <a:t>динамическими</a:t>
            </a:r>
            <a:r>
              <a:rPr lang="en-US" dirty="0"/>
              <a:t> </a:t>
            </a:r>
            <a:r>
              <a:rPr lang="en-US" dirty="0" err="1"/>
              <a:t>приоритетами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Кажд</a:t>
            </a:r>
            <a:r>
              <a:rPr lang="ru-RU" dirty="0"/>
              <a:t>ой </a:t>
            </a:r>
            <a:r>
              <a:rPr lang="en-US" dirty="0" err="1"/>
              <a:t>задач</a:t>
            </a:r>
            <a:r>
              <a:rPr lang="ru-RU" dirty="0"/>
              <a:t>е</a:t>
            </a:r>
            <a:r>
              <a:rPr lang="en-US" dirty="0"/>
              <a:t> </a:t>
            </a:r>
            <a:r>
              <a:rPr lang="en-US" dirty="0" err="1"/>
              <a:t>соответствует</a:t>
            </a:r>
            <a:r>
              <a:rPr lang="en-US" dirty="0"/>
              <a:t> </a:t>
            </a:r>
            <a:r>
              <a:rPr lang="en-US" dirty="0" err="1"/>
              <a:t>абсолютный</a:t>
            </a:r>
            <a:r>
              <a:rPr lang="en-US" dirty="0"/>
              <a:t> </a:t>
            </a:r>
            <a:r>
              <a:rPr lang="en-US" dirty="0" err="1"/>
              <a:t>дедлайн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готовая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с </a:t>
            </a:r>
            <a:r>
              <a:rPr lang="en-US" dirty="0" err="1"/>
              <a:t>наиболее</a:t>
            </a:r>
            <a:r>
              <a:rPr lang="en-US" dirty="0"/>
              <a:t> </a:t>
            </a:r>
            <a:r>
              <a:rPr lang="en-US" dirty="0" err="1"/>
              <a:t>ранним</a:t>
            </a:r>
            <a:r>
              <a:rPr lang="en-US" dirty="0"/>
              <a:t> </a:t>
            </a:r>
            <a:r>
              <a:rPr lang="en-US" dirty="0" err="1"/>
              <a:t>дедлайном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Приоритеты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изменяться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появлении</a:t>
            </a:r>
            <a:r>
              <a:rPr lang="en-US" dirty="0"/>
              <a:t> </a:t>
            </a:r>
            <a:r>
              <a:rPr lang="en-US" dirty="0" err="1"/>
              <a:t>новых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Задача</a:t>
            </a:r>
            <a:r>
              <a:rPr lang="en-US" dirty="0"/>
              <a:t> с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близким</a:t>
            </a:r>
            <a:r>
              <a:rPr lang="en-US" dirty="0"/>
              <a:t> </a:t>
            </a:r>
            <a:r>
              <a:rPr lang="en-US" dirty="0" err="1"/>
              <a:t>дедлайном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вытеснить</a:t>
            </a:r>
            <a:r>
              <a:rPr lang="en-US" dirty="0"/>
              <a:t> </a:t>
            </a:r>
            <a:r>
              <a:rPr lang="en-US" dirty="0" err="1"/>
              <a:t>текущую</a:t>
            </a:r>
            <a:r>
              <a:rPr lang="en-US" dirty="0"/>
              <a:t>.</a:t>
            </a:r>
          </a:p>
          <a:p>
            <a:r>
              <a:rPr lang="en-US" dirty="0"/>
              <a:t>EDF </a:t>
            </a:r>
            <a:r>
              <a:rPr lang="en-US" dirty="0" err="1"/>
              <a:t>учитывает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период</a:t>
            </a:r>
            <a:r>
              <a:rPr lang="en-US" dirty="0"/>
              <a:t>, а </a:t>
            </a:r>
            <a:r>
              <a:rPr lang="en-US" dirty="0" err="1"/>
              <a:t>ближайший</a:t>
            </a:r>
            <a:r>
              <a:rPr lang="en-US" dirty="0"/>
              <a:t> </a:t>
            </a:r>
            <a:r>
              <a:rPr lang="en-US" dirty="0" err="1"/>
              <a:t>абсолютный</a:t>
            </a:r>
            <a:r>
              <a:rPr lang="en-US" dirty="0"/>
              <a:t> </a:t>
            </a:r>
            <a:r>
              <a:rPr lang="en-US" dirty="0" err="1"/>
              <a:t>срок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.</a:t>
            </a:r>
          </a:p>
          <a:p>
            <a:r>
              <a:rPr lang="en-US" dirty="0"/>
              <a:t>В Linux </a:t>
            </a:r>
            <a:r>
              <a:rPr lang="en-US" dirty="0" err="1"/>
              <a:t>идея</a:t>
            </a:r>
            <a:r>
              <a:rPr lang="en-US" dirty="0"/>
              <a:t> EDF </a:t>
            </a:r>
            <a:r>
              <a:rPr lang="en-US" dirty="0" err="1"/>
              <a:t>используется</a:t>
            </a:r>
            <a:r>
              <a:rPr lang="en-US" dirty="0"/>
              <a:t> в </a:t>
            </a:r>
            <a:r>
              <a:rPr lang="en-US" dirty="0" err="1"/>
              <a:t>политике</a:t>
            </a:r>
            <a:r>
              <a:rPr lang="en-US" dirty="0"/>
              <a:t> SCHED_DEADLINE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408C78E-BA8C-A7D8-99F0-3D9ED2A31AA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400" y="4395205"/>
            <a:ext cx="6299200" cy="2482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0362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3A65F-5384-079A-CADB-B4FFAA121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проверить, сможет ли система выполнить все задачи?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7754B0-98E2-A06E-97DA-B819CF07869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6"/>
                <a:ext cx="5098144" cy="1752602"/>
              </a:xfrm>
            </p:spPr>
            <p:txBody>
              <a:bodyPr/>
              <a:lstStyle/>
              <a:p>
                <a:r>
                  <a:rPr lang="en-US" dirty="0" err="1"/>
                  <a:t>Коэффициент</a:t>
                </a:r>
                <a:r>
                  <a:rPr lang="en-US" dirty="0"/>
                  <a:t> </a:t>
                </a:r>
                <a:r>
                  <a:rPr lang="en-US" dirty="0" err="1"/>
                  <a:t>загрузки</a:t>
                </a:r>
                <a:r>
                  <a:rPr lang="en-US" dirty="0"/>
                  <a:t> CPU: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ru-RU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 </a:t>
                </a:r>
                <a:r>
                  <a:rPr lang="en-US" dirty="0"/>
                  <a:t>— WCET </a:t>
                </a:r>
                <a:r>
                  <a:rPr lang="en-US" dirty="0" err="1"/>
                  <a:t>задачи</a:t>
                </a:r>
                <a:r>
                  <a:rPr lang="en-US" dirty="0"/>
                  <a:t>,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— </a:t>
                </a:r>
                <a:r>
                  <a:rPr lang="en-US" dirty="0" err="1"/>
                  <a:t>её</a:t>
                </a:r>
                <a:r>
                  <a:rPr lang="en-US" dirty="0"/>
                  <a:t> </a:t>
                </a:r>
                <a:r>
                  <a:rPr lang="en-US" dirty="0" err="1"/>
                  <a:t>период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7754B0-98E2-A06E-97DA-B819CF0786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6"/>
                <a:ext cx="5098144" cy="1752602"/>
              </a:xfrm>
              <a:blipFill>
                <a:blip r:embed="rId3"/>
                <a:stretch>
                  <a:fillRect l="-2153" t="-5903"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D5FD0058-858C-382D-53AD-088C26161861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3728315422"/>
                  </p:ext>
                </p:extLst>
              </p:nvPr>
            </p:nvGraphicFramePr>
            <p:xfrm>
              <a:off x="6255657" y="1851480"/>
              <a:ext cx="5250544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2636">
                      <a:extLst>
                        <a:ext uri="{9D8B030D-6E8A-4147-A177-3AD203B41FA5}">
                          <a16:colId xmlns:a16="http://schemas.microsoft.com/office/drawing/2014/main" val="1184593065"/>
                        </a:ext>
                      </a:extLst>
                    </a:gridCol>
                    <a:gridCol w="1312636">
                      <a:extLst>
                        <a:ext uri="{9D8B030D-6E8A-4147-A177-3AD203B41FA5}">
                          <a16:colId xmlns:a16="http://schemas.microsoft.com/office/drawing/2014/main" val="2387422117"/>
                        </a:ext>
                      </a:extLst>
                    </a:gridCol>
                    <a:gridCol w="1312636">
                      <a:extLst>
                        <a:ext uri="{9D8B030D-6E8A-4147-A177-3AD203B41FA5}">
                          <a16:colId xmlns:a16="http://schemas.microsoft.com/office/drawing/2014/main" val="3633703960"/>
                        </a:ext>
                      </a:extLst>
                    </a:gridCol>
                    <a:gridCol w="1312636">
                      <a:extLst>
                        <a:ext uri="{9D8B030D-6E8A-4147-A177-3AD203B41FA5}">
                          <a16:colId xmlns:a16="http://schemas.microsoft.com/office/drawing/2014/main" val="400262989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 err="1"/>
                            <a:t>Задача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WCET</a:t>
                          </a:r>
                          <a:r>
                            <a:rPr lang="ru-RU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oMath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 err="1"/>
                            <a:t>Период</a:t>
                          </a:r>
                          <a:r>
                            <a:rPr lang="ru-RU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oMath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 err="1"/>
                            <a:t>Доля</a:t>
                          </a:r>
                          <a:r>
                            <a:rPr lang="en-US" dirty="0"/>
                            <a:t> CPU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914920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50 мс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100 мс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50%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071011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30 мс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200 мс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15%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823137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100 мс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500 мс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20%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787037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D5FD0058-858C-382D-53AD-088C26161861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3728315422"/>
                  </p:ext>
                </p:extLst>
              </p:nvPr>
            </p:nvGraphicFramePr>
            <p:xfrm>
              <a:off x="6255657" y="1851480"/>
              <a:ext cx="5250544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12636">
                      <a:extLst>
                        <a:ext uri="{9D8B030D-6E8A-4147-A177-3AD203B41FA5}">
                          <a16:colId xmlns:a16="http://schemas.microsoft.com/office/drawing/2014/main" val="1184593065"/>
                        </a:ext>
                      </a:extLst>
                    </a:gridCol>
                    <a:gridCol w="1312636">
                      <a:extLst>
                        <a:ext uri="{9D8B030D-6E8A-4147-A177-3AD203B41FA5}">
                          <a16:colId xmlns:a16="http://schemas.microsoft.com/office/drawing/2014/main" val="2387422117"/>
                        </a:ext>
                      </a:extLst>
                    </a:gridCol>
                    <a:gridCol w="1312636">
                      <a:extLst>
                        <a:ext uri="{9D8B030D-6E8A-4147-A177-3AD203B41FA5}">
                          <a16:colId xmlns:a16="http://schemas.microsoft.com/office/drawing/2014/main" val="3633703960"/>
                        </a:ext>
                      </a:extLst>
                    </a:gridCol>
                    <a:gridCol w="1312636">
                      <a:extLst>
                        <a:ext uri="{9D8B030D-6E8A-4147-A177-3AD203B41FA5}">
                          <a16:colId xmlns:a16="http://schemas.microsoft.com/office/drawing/2014/main" val="400262989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 err="1"/>
                            <a:t>Задача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930" t="-4918" r="-202326" b="-327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0000" t="-4918" r="-101389" b="-327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 err="1"/>
                            <a:t>Доля</a:t>
                          </a:r>
                          <a:r>
                            <a:rPr lang="en-US" dirty="0"/>
                            <a:t> CPU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914920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50 мс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100 мс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50%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071011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30 мс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200 мс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15%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823137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100 мс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500 мс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20%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7870376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19B9F5B-6D44-3D02-EE00-C0D1910E76B2}"/>
                  </a:ext>
                </a:extLst>
              </p:cNvPr>
              <p:cNvSpPr>
                <a:spLocks noGrp="1"/>
              </p:cNvSpPr>
              <p:nvPr>
                <p:ph sz="half" idx="13"/>
              </p:nvPr>
            </p:nvSpPr>
            <p:spPr>
              <a:xfrm>
                <a:off x="990601" y="3739020"/>
                <a:ext cx="10515600" cy="2460167"/>
              </a:xfrm>
            </p:spPr>
            <p:txBody>
              <a:bodyPr>
                <a:normAutofit fontScale="85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=0,5+0,15+0,2=</m:t>
                    </m:r>
                    <m:borderBox>
                      <m:borderBoxPr>
                        <m:ctrlPr>
                          <a:rPr lang="en-US" i="0" dirty="0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0,85</m:t>
                        </m:r>
                      </m:e>
                    </m:borderBox>
                  </m:oMath>
                </a14:m>
                <a:endParaRPr lang="ru-RU" dirty="0"/>
              </a:p>
              <a:p>
                <a:r>
                  <a:rPr lang="en-US" dirty="0" err="1"/>
                  <a:t>Для</a:t>
                </a:r>
                <a:r>
                  <a:rPr lang="en-US" dirty="0"/>
                  <a:t> EDF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одном</a:t>
                </a:r>
                <a:r>
                  <a:rPr lang="en-US" dirty="0"/>
                  <a:t> CPU </a:t>
                </a:r>
                <a:r>
                  <a:rPr lang="en-US" dirty="0" err="1"/>
                  <a:t>при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 </a:t>
                </a:r>
                <a:r>
                  <a:rPr lang="en-US" dirty="0"/>
                  <a:t>и </a:t>
                </a:r>
                <a:r>
                  <a:rPr lang="en-US" dirty="0" err="1"/>
                  <a:t>стандартных</a:t>
                </a:r>
                <a:r>
                  <a:rPr lang="en-US" dirty="0"/>
                  <a:t> </a:t>
                </a:r>
                <a:r>
                  <a:rPr lang="en-US" dirty="0" err="1"/>
                  <a:t>идеализированных</a:t>
                </a:r>
                <a:r>
                  <a:rPr lang="en-US" dirty="0"/>
                  <a:t> </a:t>
                </a:r>
                <a:r>
                  <a:rPr lang="en-US" dirty="0" err="1"/>
                  <a:t>предпосылках</a:t>
                </a:r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≤1 ⟺ </m:t>
                    </m:r>
                    <m:r>
                      <m:rPr>
                        <m:nor/>
                      </m:rPr>
                      <a:rPr lang="en-US" i="0" dirty="0">
                        <a:latin typeface="Cambria Math" panose="02040503050406030204" pitchFamily="18" charset="0"/>
                      </a:rPr>
                      <m:t>задачи планируемы</m:t>
                    </m:r>
                  </m:oMath>
                </a14:m>
                <a:endParaRPr lang="en-US" dirty="0"/>
              </a:p>
              <a:p>
                <a:r>
                  <a:rPr lang="ru-RU" dirty="0"/>
                  <a:t>Д</a:t>
                </a:r>
                <a:r>
                  <a:rPr lang="en-US" dirty="0" err="1"/>
                  <a:t>ля</a:t>
                </a:r>
                <a:r>
                  <a:rPr lang="en-US" dirty="0"/>
                  <a:t> RM и </a:t>
                </a:r>
                <a:r>
                  <a:rPr lang="en-US" dirty="0" err="1"/>
                  <a:t>более</a:t>
                </a:r>
                <a:r>
                  <a:rPr lang="en-US" dirty="0"/>
                  <a:t> </a:t>
                </a:r>
                <a:r>
                  <a:rPr lang="en-US" dirty="0" err="1"/>
                  <a:t>сложных</a:t>
                </a:r>
                <a:r>
                  <a:rPr lang="en-US" dirty="0"/>
                  <a:t> </a:t>
                </a:r>
                <a:r>
                  <a:rPr lang="en-US" dirty="0" err="1"/>
                  <a:t>моделей</a:t>
                </a:r>
                <a:r>
                  <a:rPr lang="en-US" dirty="0"/>
                  <a:t> </a:t>
                </a:r>
                <a:r>
                  <a:rPr lang="en-US" dirty="0" err="1"/>
                  <a:t>задач</a:t>
                </a:r>
                <a:r>
                  <a:rPr lang="en-US" dirty="0"/>
                  <a:t> </a:t>
                </a:r>
                <a:r>
                  <a:rPr lang="en-US" dirty="0" err="1"/>
                  <a:t>одного</a:t>
                </a:r>
                <a:r>
                  <a:rPr lang="en-US" dirty="0"/>
                  <a:t> </a:t>
                </a:r>
                <a:r>
                  <a:rPr lang="en-US" dirty="0" err="1"/>
                  <a:t>условия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0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недостаточно</a:t>
                </a:r>
                <a:r>
                  <a:rPr lang="en-US" dirty="0"/>
                  <a:t>.</a:t>
                </a:r>
                <a:endParaRPr lang="ru-RU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1/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dirty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ru-RU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— </a:t>
                </a:r>
                <a:r>
                  <a:rPr lang="en-US" dirty="0" err="1"/>
                  <a:t>количество</a:t>
                </a:r>
                <a:r>
                  <a:rPr lang="en-US" dirty="0"/>
                  <a:t> </a:t>
                </a:r>
                <a:r>
                  <a:rPr lang="en-US" dirty="0" err="1"/>
                  <a:t>периодических</a:t>
                </a:r>
                <a:r>
                  <a:rPr lang="en-US" dirty="0"/>
                  <a:t> </a:t>
                </a:r>
                <a:r>
                  <a:rPr lang="en-US" dirty="0" err="1"/>
                  <a:t>задач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19B9F5B-6D44-3D02-EE00-C0D1910E76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3"/>
              </p:nvPr>
            </p:nvSpPr>
            <p:spPr>
              <a:xfrm>
                <a:off x="990601" y="3739020"/>
                <a:ext cx="10515600" cy="2460167"/>
              </a:xfrm>
              <a:blipFill>
                <a:blip r:embed="rId5"/>
                <a:stretch>
                  <a:fillRect l="-812" b="-49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15292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17103-8F87-92A6-EF9A-0F99B0955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мешает</a:t>
            </a:r>
            <a:r>
              <a:rPr lang="en-US" dirty="0"/>
              <a:t> </a:t>
            </a:r>
            <a:r>
              <a:rPr lang="en-US" dirty="0" err="1"/>
              <a:t>соблюдению</a:t>
            </a:r>
            <a:r>
              <a:rPr lang="en-US" dirty="0"/>
              <a:t> deadlines?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A109A-D293-574F-D301-D6BDEAEE2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027057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Основные</a:t>
            </a:r>
            <a:r>
              <a:rPr lang="en-US" dirty="0"/>
              <a:t> </a:t>
            </a:r>
            <a:r>
              <a:rPr lang="en-US" dirty="0" err="1"/>
              <a:t>причины</a:t>
            </a:r>
            <a:r>
              <a:rPr lang="en-US" dirty="0"/>
              <a:t> </a:t>
            </a:r>
            <a:r>
              <a:rPr lang="en-US" dirty="0" err="1"/>
              <a:t>задержек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Недооценённый</a:t>
            </a:r>
            <a:r>
              <a:rPr lang="en-US" dirty="0"/>
              <a:t> WCET.</a:t>
            </a:r>
          </a:p>
          <a:p>
            <a:pPr lvl="1"/>
            <a:r>
              <a:rPr lang="en-US" dirty="0" err="1"/>
              <a:t>Блокировки</a:t>
            </a:r>
            <a:r>
              <a:rPr lang="en-US" dirty="0"/>
              <a:t>: </a:t>
            </a:r>
            <a:r>
              <a:rPr lang="en-US" dirty="0" err="1"/>
              <a:t>ожидание</a:t>
            </a:r>
            <a:r>
              <a:rPr lang="en-US" dirty="0"/>
              <a:t> </a:t>
            </a:r>
            <a:r>
              <a:rPr lang="en-US" dirty="0" err="1"/>
              <a:t>мьютексов</a:t>
            </a:r>
            <a:r>
              <a:rPr lang="en-US" dirty="0"/>
              <a:t> и </a:t>
            </a:r>
            <a:r>
              <a:rPr lang="en-US" dirty="0" err="1"/>
              <a:t>других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Инверсия</a:t>
            </a:r>
            <a:r>
              <a:rPr lang="en-US" dirty="0"/>
              <a:t> </a:t>
            </a:r>
            <a:r>
              <a:rPr lang="en-US" dirty="0" err="1"/>
              <a:t>приоритетов</a:t>
            </a:r>
            <a:endParaRPr lang="ru-RU" dirty="0"/>
          </a:p>
          <a:p>
            <a:pPr lvl="1"/>
            <a:r>
              <a:rPr lang="en-US" dirty="0" err="1"/>
              <a:t>Системные</a:t>
            </a:r>
            <a:r>
              <a:rPr lang="en-US" dirty="0"/>
              <a:t> </a:t>
            </a:r>
            <a:r>
              <a:rPr lang="en-US" dirty="0" err="1"/>
              <a:t>задержки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Конкуренция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ru-RU" dirty="0"/>
              <a:t>аппаратные </a:t>
            </a:r>
            <a:r>
              <a:rPr lang="en-US" dirty="0" err="1"/>
              <a:t>ресурсы</a:t>
            </a:r>
            <a:endParaRPr lang="en-US" dirty="0"/>
          </a:p>
          <a:p>
            <a:r>
              <a:rPr lang="en-US" dirty="0" err="1"/>
              <a:t>Способы</a:t>
            </a:r>
            <a:r>
              <a:rPr lang="en-US" dirty="0"/>
              <a:t> </a:t>
            </a:r>
            <a:r>
              <a:rPr lang="en-US" dirty="0" err="1"/>
              <a:t>уменьшения</a:t>
            </a:r>
            <a:r>
              <a:rPr lang="en-US" dirty="0"/>
              <a:t> </a:t>
            </a:r>
            <a:r>
              <a:rPr lang="en-US" dirty="0" err="1"/>
              <a:t>задержек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Анализ</a:t>
            </a:r>
            <a:r>
              <a:rPr lang="en-US" dirty="0"/>
              <a:t> WCET и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блокировок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Priority Inheritance.</a:t>
            </a:r>
          </a:p>
          <a:p>
            <a:pPr lvl="1"/>
            <a:r>
              <a:rPr lang="ru-RU" dirty="0"/>
              <a:t>Сокращение </a:t>
            </a:r>
            <a:r>
              <a:rPr lang="en-US" dirty="0" err="1"/>
              <a:t>критических</a:t>
            </a:r>
            <a:r>
              <a:rPr lang="en-US" dirty="0"/>
              <a:t> </a:t>
            </a:r>
            <a:r>
              <a:rPr lang="en-US" dirty="0" err="1"/>
              <a:t>секций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Контроль</a:t>
            </a:r>
            <a:r>
              <a:rPr lang="en-US" dirty="0"/>
              <a:t> </a:t>
            </a:r>
            <a:r>
              <a:rPr lang="en-US" dirty="0" err="1"/>
              <a:t>нагрузки</a:t>
            </a:r>
            <a:r>
              <a:rPr lang="en-US" dirty="0"/>
              <a:t> и </a:t>
            </a:r>
            <a:r>
              <a:rPr lang="en-US" dirty="0" err="1"/>
              <a:t>проверка</a:t>
            </a:r>
            <a:r>
              <a:rPr lang="en-US" dirty="0"/>
              <a:t> </a:t>
            </a:r>
            <a:r>
              <a:rPr lang="en-US" dirty="0" err="1"/>
              <a:t>временных</a:t>
            </a:r>
            <a:r>
              <a:rPr lang="en-US" dirty="0"/>
              <a:t> </a:t>
            </a:r>
            <a:r>
              <a:rPr lang="en-US" dirty="0" err="1"/>
              <a:t>характеристик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C8F07B4-6CBB-1DA7-E038-199896F3761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5257" y="2222965"/>
            <a:ext cx="5181600" cy="2412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9684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75C389C-6C30-6FD0-8F26-2636505FB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03AFBC8-CA01-1721-9CC0-40C333F520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658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24F66A-986A-2FAA-F6BC-9D3E6EE91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 </a:t>
            </a:r>
            <a:r>
              <a:rPr lang="en-US" dirty="0" err="1"/>
              <a:t>выбрать</a:t>
            </a:r>
            <a:r>
              <a:rPr lang="en-US" dirty="0"/>
              <a:t>?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2B65C66-92B5-C4B7-70A2-111D60D3AF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1934169"/>
              </p:ext>
            </p:extLst>
          </p:nvPr>
        </p:nvGraphicFramePr>
        <p:xfrm>
          <a:off x="838200" y="1825625"/>
          <a:ext cx="10515597" cy="266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1286">
                  <a:extLst>
                    <a:ext uri="{9D8B030D-6E8A-4147-A177-3AD203B41FA5}">
                      <a16:colId xmlns:a16="http://schemas.microsoft.com/office/drawing/2014/main" val="2187977337"/>
                    </a:ext>
                  </a:extLst>
                </a:gridCol>
                <a:gridCol w="2859314">
                  <a:extLst>
                    <a:ext uri="{9D8B030D-6E8A-4147-A177-3AD203B41FA5}">
                      <a16:colId xmlns:a16="http://schemas.microsoft.com/office/drawing/2014/main" val="3015546438"/>
                    </a:ext>
                  </a:extLst>
                </a:gridCol>
                <a:gridCol w="4444997">
                  <a:extLst>
                    <a:ext uri="{9D8B030D-6E8A-4147-A177-3AD203B41FA5}">
                      <a16:colId xmlns:a16="http://schemas.microsoft.com/office/drawing/2014/main" val="11806224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Сценарий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Главное требование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Подход к планированию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1776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Пакетная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обработка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Малое среднее время завершения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SJF / SRTF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6570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Интерактивные приложения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Быстрый отклик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Вытеснение, адаптивные приоритеты, EEVDF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1746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Многопользовательский сервер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Справедливое распределение CPU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Fair-Share, взвешенное планирование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062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Система реального времени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Соблюдение дедлайнов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RM / EDF с </a:t>
                      </a:r>
                      <a:r>
                        <a:rPr lang="en-US" dirty="0" err="1"/>
                        <a:t>анализом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планируемости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382695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EEFB31E-946E-014A-C0F3-9F5207EDDD51}"/>
              </a:ext>
            </a:extLst>
          </p:cNvPr>
          <p:cNvSpPr txBox="1"/>
          <p:nvPr/>
        </p:nvSpPr>
        <p:spPr>
          <a:xfrm>
            <a:off x="838199" y="4880205"/>
            <a:ext cx="96991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Универсального</a:t>
            </a:r>
            <a:r>
              <a:rPr lang="en-US" dirty="0"/>
              <a:t> </a:t>
            </a:r>
            <a:r>
              <a:rPr lang="en-US" dirty="0" err="1"/>
              <a:t>алгоритма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—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</a:t>
            </a:r>
            <a:r>
              <a:rPr lang="en-US" dirty="0" err="1"/>
              <a:t>приводят</a:t>
            </a:r>
            <a:r>
              <a:rPr lang="en-US" dirty="0"/>
              <a:t> к </a:t>
            </a:r>
            <a:r>
              <a:rPr lang="en-US" dirty="0" err="1"/>
              <a:t>разным</a:t>
            </a:r>
            <a:r>
              <a:rPr lang="en-US" dirty="0"/>
              <a:t> </a:t>
            </a:r>
            <a:r>
              <a:rPr lang="en-US" dirty="0" err="1"/>
              <a:t>решениям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86011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56E15-28BA-E805-879C-A5ED235B2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Итоги</a:t>
            </a:r>
            <a:r>
              <a:rPr lang="en-US" dirty="0"/>
              <a:t>: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делать</a:t>
            </a:r>
            <a:r>
              <a:rPr lang="en-US" dirty="0"/>
              <a:t> </a:t>
            </a:r>
            <a:r>
              <a:rPr lang="en-US" dirty="0" err="1"/>
              <a:t>хороший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56C29-5D6A-A56E-8EC2-E4B6BC005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определяет</a:t>
            </a:r>
            <a:r>
              <a:rPr lang="en-US" dirty="0"/>
              <a:t>, </a:t>
            </a:r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и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каком</a:t>
            </a:r>
            <a:r>
              <a:rPr lang="en-US" dirty="0"/>
              <a:t> CPU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.</a:t>
            </a:r>
          </a:p>
          <a:p>
            <a:r>
              <a:rPr lang="en-US" dirty="0" err="1"/>
              <a:t>Главные</a:t>
            </a:r>
            <a:r>
              <a:rPr lang="en-US" dirty="0"/>
              <a:t> </a:t>
            </a:r>
            <a:r>
              <a:rPr lang="en-US" dirty="0" err="1"/>
              <a:t>выводы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Алгоритмы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 </a:t>
            </a:r>
            <a:r>
              <a:rPr lang="en-US" dirty="0" err="1"/>
              <a:t>отличаются</a:t>
            </a:r>
            <a:r>
              <a:rPr lang="en-US" dirty="0"/>
              <a:t> </a:t>
            </a:r>
            <a:r>
              <a:rPr lang="en-US" dirty="0" err="1"/>
              <a:t>целями</a:t>
            </a:r>
            <a:r>
              <a:rPr lang="en-US" dirty="0"/>
              <a:t> и </a:t>
            </a:r>
            <a:r>
              <a:rPr lang="en-US" dirty="0" err="1"/>
              <a:t>компромиссами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Отзывчивость</a:t>
            </a:r>
            <a:r>
              <a:rPr lang="en-US" dirty="0"/>
              <a:t>, </a:t>
            </a:r>
            <a:r>
              <a:rPr lang="en-US" dirty="0" err="1"/>
              <a:t>справедливость</a:t>
            </a:r>
            <a:r>
              <a:rPr lang="en-US" dirty="0"/>
              <a:t> и </a:t>
            </a:r>
            <a:r>
              <a:rPr lang="en-US" dirty="0" err="1"/>
              <a:t>пропускная</a:t>
            </a:r>
            <a:r>
              <a:rPr lang="en-US" dirty="0"/>
              <a:t> </a:t>
            </a:r>
            <a:r>
              <a:rPr lang="en-US" dirty="0" err="1"/>
              <a:t>способность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улучшаются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Вытеснение</a:t>
            </a:r>
            <a:r>
              <a:rPr lang="en-US" dirty="0"/>
              <a:t> </a:t>
            </a:r>
            <a:r>
              <a:rPr lang="en-US" dirty="0" err="1"/>
              <a:t>повышает</a:t>
            </a:r>
            <a:r>
              <a:rPr lang="en-US" dirty="0"/>
              <a:t> </a:t>
            </a:r>
            <a:r>
              <a:rPr lang="en-US" dirty="0" err="1"/>
              <a:t>отзывчивость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переключения</a:t>
            </a:r>
            <a:r>
              <a:rPr lang="en-US" dirty="0"/>
              <a:t> </a:t>
            </a:r>
            <a:r>
              <a:rPr lang="en-US" dirty="0" err="1"/>
              <a:t>контекста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цену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Современные</a:t>
            </a:r>
            <a:r>
              <a:rPr lang="en-US" dirty="0"/>
              <a:t> ОС </a:t>
            </a:r>
            <a:r>
              <a:rPr lang="en-US" dirty="0" err="1"/>
              <a:t>учитывают</a:t>
            </a:r>
            <a:r>
              <a:rPr lang="en-US" dirty="0"/>
              <a:t> </a:t>
            </a:r>
            <a:r>
              <a:rPr lang="en-US" dirty="0" err="1"/>
              <a:t>приоритеты</a:t>
            </a:r>
            <a:r>
              <a:rPr lang="en-US" dirty="0"/>
              <a:t>, </a:t>
            </a:r>
            <a:r>
              <a:rPr lang="en-US" dirty="0" err="1"/>
              <a:t>доли</a:t>
            </a:r>
            <a:r>
              <a:rPr lang="en-US" dirty="0"/>
              <a:t> CPU, </a:t>
            </a:r>
            <a:r>
              <a:rPr lang="en-US" dirty="0" err="1"/>
              <a:t>характер</a:t>
            </a:r>
            <a:r>
              <a:rPr lang="en-US" dirty="0"/>
              <a:t> </a:t>
            </a:r>
            <a:r>
              <a:rPr lang="en-US" dirty="0" err="1"/>
              <a:t>нагрузки</a:t>
            </a:r>
            <a:r>
              <a:rPr lang="en-US" dirty="0"/>
              <a:t> и </a:t>
            </a:r>
            <a:r>
              <a:rPr lang="en-US" dirty="0" err="1"/>
              <a:t>архитектуру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В </a:t>
            </a:r>
            <a:r>
              <a:rPr lang="en-US" dirty="0" err="1"/>
              <a:t>системах</a:t>
            </a:r>
            <a:r>
              <a:rPr lang="en-US" dirty="0"/>
              <a:t> </a:t>
            </a:r>
            <a:r>
              <a:rPr lang="en-US" dirty="0" err="1"/>
              <a:t>реального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важны</a:t>
            </a:r>
            <a:r>
              <a:rPr lang="en-US" dirty="0"/>
              <a:t> </a:t>
            </a:r>
            <a:r>
              <a:rPr lang="en-US" dirty="0" err="1"/>
              <a:t>гарантии</a:t>
            </a:r>
            <a:r>
              <a:rPr lang="en-US" dirty="0"/>
              <a:t> </a:t>
            </a:r>
            <a:r>
              <a:rPr lang="en-US" dirty="0" err="1"/>
              <a:t>соблюдения</a:t>
            </a:r>
            <a:r>
              <a:rPr lang="en-US" dirty="0"/>
              <a:t> </a:t>
            </a:r>
            <a:r>
              <a:rPr lang="en-US" dirty="0" err="1"/>
              <a:t>дедлайнов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средняя</a:t>
            </a:r>
            <a:r>
              <a:rPr lang="en-US" dirty="0"/>
              <a:t> </a:t>
            </a:r>
            <a:r>
              <a:rPr lang="en-US" dirty="0" err="1"/>
              <a:t>скорость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.</a:t>
            </a:r>
          </a:p>
          <a:p>
            <a:r>
              <a:rPr lang="en-US" dirty="0" err="1"/>
              <a:t>Хороший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самый</a:t>
            </a:r>
            <a:r>
              <a:rPr lang="en-US" dirty="0"/>
              <a:t> </a:t>
            </a:r>
            <a:r>
              <a:rPr lang="en-US" dirty="0" err="1"/>
              <a:t>быстрый</a:t>
            </a:r>
            <a:r>
              <a:rPr lang="en-US" dirty="0"/>
              <a:t>, а </a:t>
            </a:r>
            <a:r>
              <a:rPr lang="en-US" dirty="0" err="1"/>
              <a:t>соответствующий</a:t>
            </a:r>
            <a:r>
              <a:rPr lang="en-US" dirty="0"/>
              <a:t> </a:t>
            </a:r>
            <a:r>
              <a:rPr lang="en-US" dirty="0" err="1"/>
              <a:t>требованиям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03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964</TotalTime>
  <Words>17651</Words>
  <Application>Microsoft Office PowerPoint</Application>
  <PresentationFormat>Widescreen</PresentationFormat>
  <Paragraphs>1933</Paragraphs>
  <Slides>45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Aptos</vt:lpstr>
      <vt:lpstr>Aptos Display</vt:lpstr>
      <vt:lpstr>Arial</vt:lpstr>
      <vt:lpstr>Cambria Math</vt:lpstr>
      <vt:lpstr>Consolas</vt:lpstr>
      <vt:lpstr>Courier New</vt:lpstr>
      <vt:lpstr>Office Theme</vt:lpstr>
      <vt:lpstr>Планирование задач (Scheduling)</vt:lpstr>
      <vt:lpstr>Планирование задач: кому достанется CPU?</vt:lpstr>
      <vt:lpstr>От многозадачности к планированию</vt:lpstr>
      <vt:lpstr>Зачем нужен планировщик?</vt:lpstr>
      <vt:lpstr>Как задача получает и освобождает CPU?</vt:lpstr>
      <vt:lpstr>CPU-bound и I/O-bound задачи</vt:lpstr>
      <vt:lpstr>Когда ОС принимает решение о планировании?</vt:lpstr>
      <vt:lpstr>Вытесняющее и невытесняющее планирование</vt:lpstr>
      <vt:lpstr>PowerPoint Presentation</vt:lpstr>
      <vt:lpstr>Переключение контекста: почему планирование имеет цену?</vt:lpstr>
      <vt:lpstr>Классические алгоритмы планирования</vt:lpstr>
      <vt:lpstr>Как оценить качество планирования?</vt:lpstr>
      <vt:lpstr>У разных систем разные цели</vt:lpstr>
      <vt:lpstr>Учебная задача: четыре процесса конкурируют за CPU</vt:lpstr>
      <vt:lpstr>FCFS: первым пришёл — первым обслужен</vt:lpstr>
      <vt:lpstr>SJF: почему короткие задачи выгодно выполнять первыми?</vt:lpstr>
      <vt:lpstr>SRTF: что произойдёт, если придёт новая короткая задача?</vt:lpstr>
      <vt:lpstr>Round Robin: каждому по кванту времени</vt:lpstr>
      <vt:lpstr>Почему размер кванта имеет значение?</vt:lpstr>
      <vt:lpstr>Сравнение FCFS, SJF, SRTF и Round Robin</vt:lpstr>
      <vt:lpstr>Приоритеты и справедливое планирование</vt:lpstr>
      <vt:lpstr>Приоритетное планирование: не все задачи одинаково важны</vt:lpstr>
      <vt:lpstr>Starvation: когда задача никогда не получает CPU</vt:lpstr>
      <vt:lpstr>Multilevel Feedback Queue (MLFQ)</vt:lpstr>
      <vt:lpstr>Что такое справедливость при планировании?</vt:lpstr>
      <vt:lpstr>Fair-Share: справедливость между пользователями и группами</vt:lpstr>
      <vt:lpstr>CFS: идея виртуального времени выполнения</vt:lpstr>
      <vt:lpstr>EEVDF: как совместить справедливость и отзывчивость?</vt:lpstr>
      <vt:lpstr>Как планирование работает в Linux и многоядерных системах</vt:lpstr>
      <vt:lpstr>Политики планирования в Linux</vt:lpstr>
      <vt:lpstr>Политика и механизм: чем может управлять приложение?</vt:lpstr>
      <vt:lpstr>Практика: наблюдаем планирование в Linux</vt:lpstr>
      <vt:lpstr>Многоядерное планирование: какой процессор выбрать?</vt:lpstr>
      <vt:lpstr>CPU Affinity: почему не всегда выгодно переносить задачи?</vt:lpstr>
      <vt:lpstr>Кто планирует потоки: ядро или приложение?</vt:lpstr>
      <vt:lpstr>Планирование в системах реального времени</vt:lpstr>
      <vt:lpstr>Real-Time: когда результат важен только до определённого момента</vt:lpstr>
      <vt:lpstr>Модель задач реального времени</vt:lpstr>
      <vt:lpstr>Rate Monotonic: чем короче период, тем выше приоритет</vt:lpstr>
      <vt:lpstr>EDF: первым выполняется ближайший deadline</vt:lpstr>
      <vt:lpstr>Как проверить, сможет ли система выполнить все задачи?</vt:lpstr>
      <vt:lpstr>Что мешает соблюдению deadlines?</vt:lpstr>
      <vt:lpstr>Заключение</vt:lpstr>
      <vt:lpstr>Какой алгоритм планирования выбрать?</vt:lpstr>
      <vt:lpstr>Итоги: что должен делать хороший планировщик?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Алексей Малов</cp:lastModifiedBy>
  <cp:revision>17</cp:revision>
  <dcterms:created xsi:type="dcterms:W3CDTF">2025-10-16T20:28:03Z</dcterms:created>
  <dcterms:modified xsi:type="dcterms:W3CDTF">2026-10-26T22:23:57Z</dcterms:modified>
</cp:coreProperties>
</file>